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84" r:id="rId1"/>
  </p:sldMasterIdLst>
  <p:notesMasterIdLst>
    <p:notesMasterId r:id="rId50"/>
  </p:notesMasterIdLst>
  <p:sldIdLst>
    <p:sldId id="256" r:id="rId2"/>
    <p:sldId id="259" r:id="rId3"/>
    <p:sldId id="261" r:id="rId4"/>
    <p:sldId id="612" r:id="rId5"/>
    <p:sldId id="613" r:id="rId6"/>
    <p:sldId id="611" r:id="rId7"/>
    <p:sldId id="902" r:id="rId8"/>
    <p:sldId id="303" r:id="rId9"/>
    <p:sldId id="301" r:id="rId10"/>
    <p:sldId id="614" r:id="rId11"/>
    <p:sldId id="907" r:id="rId12"/>
    <p:sldId id="906" r:id="rId13"/>
    <p:sldId id="616" r:id="rId14"/>
    <p:sldId id="617" r:id="rId15"/>
    <p:sldId id="615" r:id="rId16"/>
    <p:sldId id="619" r:id="rId17"/>
    <p:sldId id="618" r:id="rId18"/>
    <p:sldId id="621" r:id="rId19"/>
    <p:sldId id="623" r:id="rId20"/>
    <p:sldId id="622" r:id="rId21"/>
    <p:sldId id="624" r:id="rId22"/>
    <p:sldId id="632" r:id="rId23"/>
    <p:sldId id="633" r:id="rId24"/>
    <p:sldId id="620" r:id="rId25"/>
    <p:sldId id="625" r:id="rId26"/>
    <p:sldId id="626" r:id="rId27"/>
    <p:sldId id="627" r:id="rId28"/>
    <p:sldId id="629" r:id="rId29"/>
    <p:sldId id="628" r:id="rId30"/>
    <p:sldId id="631" r:id="rId31"/>
    <p:sldId id="630" r:id="rId32"/>
    <p:sldId id="634" r:id="rId33"/>
    <p:sldId id="635" r:id="rId34"/>
    <p:sldId id="636" r:id="rId35"/>
    <p:sldId id="639" r:id="rId36"/>
    <p:sldId id="637" r:id="rId37"/>
    <p:sldId id="640" r:id="rId38"/>
    <p:sldId id="638" r:id="rId39"/>
    <p:sldId id="641" r:id="rId40"/>
    <p:sldId id="642" r:id="rId41"/>
    <p:sldId id="643" r:id="rId42"/>
    <p:sldId id="644" r:id="rId43"/>
    <p:sldId id="645" r:id="rId44"/>
    <p:sldId id="646" r:id="rId45"/>
    <p:sldId id="647" r:id="rId46"/>
    <p:sldId id="648" r:id="rId47"/>
    <p:sldId id="649" r:id="rId48"/>
    <p:sldId id="650" r:id="rId49"/>
  </p:sldIdLst>
  <p:sldSz cx="10160000" cy="5715000"/>
  <p:notesSz cx="6858000" cy="9144000"/>
  <p:embeddedFontLst>
    <p:embeddedFont>
      <p:font typeface="Calibri" panose="020F0502020204030204" pitchFamily="34" charset="0"/>
      <p:regular r:id="rId51"/>
      <p:bold r:id="rId52"/>
      <p:italic r:id="rId53"/>
      <p:boldItalic r:id="rId54"/>
    </p:embeddedFont>
    <p:embeddedFont>
      <p:font typeface="Calibri Light" panose="020F0302020204030204" pitchFamily="34" charset="0"/>
      <p:regular r:id="rId55"/>
      <p:italic r:id="rId56"/>
    </p:embeddedFont>
    <p:embeddedFont>
      <p:font typeface="DejaVu Sans" panose="020B0604020202020204" charset="0"/>
      <p:regular r:id="rId57"/>
      <p:bold r:id="rId58"/>
      <p:italic r:id="rId59"/>
      <p:boldItalic r:id="rId60"/>
    </p:embeddedFont>
    <p:embeddedFont>
      <p:font typeface="Inconsolata" panose="020B0609030003000000" charset="0"/>
      <p:regular r:id="rId61"/>
    </p:embeddedFont>
    <p:embeddedFont>
      <p:font typeface="Lato" panose="020F0502020204030203" pitchFamily="34" charset="0"/>
      <p:regular r:id="rId62"/>
      <p:bold r:id="rId63"/>
      <p:italic r:id="rId64"/>
      <p:boldItalic r:id="rId65"/>
    </p:embeddedFont>
    <p:embeddedFont>
      <p:font typeface="Lato Black" panose="020B0604020202020204" charset="0"/>
      <p:bold r:id="rId66"/>
      <p:boldItalic r:id="rId67"/>
    </p:embeddedFont>
    <p:embeddedFont>
      <p:font typeface="Lato Hairline" panose="020F0502020204030203" pitchFamily="34" charset="0"/>
      <p:regular r:id="rId68"/>
      <p:italic r:id="rId69"/>
    </p:embeddedFont>
    <p:embeddedFont>
      <p:font typeface="Lato Heavy" panose="020F0502020204030203" pitchFamily="34" charset="0"/>
      <p:bold r:id="rId70"/>
      <p:boldItalic r:id="rId71"/>
    </p:embeddedFont>
    <p:embeddedFont>
      <p:font typeface="Lato Light" panose="020F0502020204030203" pitchFamily="34" charset="0"/>
      <p:regular r:id="rId72"/>
      <p:italic r:id="rId73"/>
    </p:embeddedFont>
    <p:embeddedFont>
      <p:font typeface="Lato Semibold" panose="020F0502020204030203" pitchFamily="34" charset="0"/>
      <p:bold r:id="rId74"/>
      <p:boldItalic r:id="rId75"/>
    </p:embeddedFont>
    <p:embeddedFont>
      <p:font typeface="Marcellus SC" panose="020E0602050203020307" pitchFamily="34" charset="0"/>
      <p:regular r:id="rId76"/>
    </p:embeddedFont>
    <p:embeddedFont>
      <p:font typeface="Segoe UI" panose="020B0502040204020203" pitchFamily="34" charset="0"/>
      <p:regular r:id="rId77"/>
      <p:bold r:id="rId78"/>
      <p:italic r:id="rId79"/>
      <p:boldItalic r:id="rId80"/>
    </p:embeddedFont>
  </p:embeddedFont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A1986F10-A11B-4F85-9CEF-6E3EA8151F82}">
          <p14:sldIdLst>
            <p14:sldId id="256"/>
          </p14:sldIdLst>
        </p14:section>
        <p14:section name="Going with the Flow" id="{262D39B8-1B04-47B5-B397-CFF80E4C15F7}">
          <p14:sldIdLst>
            <p14:sldId id="259"/>
            <p14:sldId id="261"/>
            <p14:sldId id="612"/>
            <p14:sldId id="613"/>
            <p14:sldId id="611"/>
            <p14:sldId id="902"/>
            <p14:sldId id="303"/>
            <p14:sldId id="301"/>
            <p14:sldId id="614"/>
            <p14:sldId id="907"/>
            <p14:sldId id="906"/>
            <p14:sldId id="616"/>
            <p14:sldId id="617"/>
            <p14:sldId id="615"/>
            <p14:sldId id="619"/>
            <p14:sldId id="618"/>
            <p14:sldId id="621"/>
            <p14:sldId id="623"/>
            <p14:sldId id="622"/>
            <p14:sldId id="624"/>
            <p14:sldId id="632"/>
            <p14:sldId id="633"/>
            <p14:sldId id="620"/>
            <p14:sldId id="625"/>
            <p14:sldId id="626"/>
            <p14:sldId id="627"/>
            <p14:sldId id="629"/>
            <p14:sldId id="628"/>
            <p14:sldId id="631"/>
            <p14:sldId id="630"/>
            <p14:sldId id="634"/>
            <p14:sldId id="635"/>
            <p14:sldId id="636"/>
            <p14:sldId id="639"/>
            <p14:sldId id="637"/>
            <p14:sldId id="640"/>
            <p14:sldId id="638"/>
            <p14:sldId id="641"/>
            <p14:sldId id="642"/>
            <p14:sldId id="643"/>
            <p14:sldId id="644"/>
            <p14:sldId id="645"/>
            <p14:sldId id="646"/>
            <p14:sldId id="647"/>
            <p14:sldId id="648"/>
            <p14:sldId id="649"/>
            <p14:sldId id="650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AB5DA5"/>
    <a:srgbClr val="0B2144"/>
    <a:srgbClr val="4C6FA3"/>
    <a:srgbClr val="C288BE"/>
    <a:srgbClr val="2F528F"/>
    <a:srgbClr val="0C2348"/>
    <a:srgbClr val="F4B183"/>
    <a:srgbClr val="EDF1F9"/>
    <a:srgbClr val="355482"/>
    <a:srgbClr val="091C3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 varScale="1">
        <p:scale>
          <a:sx n="69" d="100"/>
          <a:sy n="69" d="100"/>
        </p:scale>
        <p:origin x="72" y="123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notesMaster" Target="notesMasters/notesMaster1.xml"/><Relationship Id="rId55" Type="http://schemas.openxmlformats.org/officeDocument/2006/relationships/font" Target="fonts/font5.fntdata"/><Relationship Id="rId63" Type="http://schemas.openxmlformats.org/officeDocument/2006/relationships/font" Target="fonts/font13.fntdata"/><Relationship Id="rId68" Type="http://schemas.openxmlformats.org/officeDocument/2006/relationships/font" Target="fonts/font18.fntdata"/><Relationship Id="rId76" Type="http://schemas.openxmlformats.org/officeDocument/2006/relationships/font" Target="fonts/font26.fntdata"/><Relationship Id="rId84" Type="http://schemas.openxmlformats.org/officeDocument/2006/relationships/tableStyles" Target="tableStyles.xml"/><Relationship Id="rId7" Type="http://schemas.openxmlformats.org/officeDocument/2006/relationships/slide" Target="slides/slide6.xml"/><Relationship Id="rId71" Type="http://schemas.openxmlformats.org/officeDocument/2006/relationships/font" Target="fonts/font21.fntdata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font" Target="fonts/font3.fntdata"/><Relationship Id="rId58" Type="http://schemas.openxmlformats.org/officeDocument/2006/relationships/font" Target="fonts/font8.fntdata"/><Relationship Id="rId66" Type="http://schemas.openxmlformats.org/officeDocument/2006/relationships/font" Target="fonts/font16.fntdata"/><Relationship Id="rId74" Type="http://schemas.openxmlformats.org/officeDocument/2006/relationships/font" Target="fonts/font24.fntdata"/><Relationship Id="rId79" Type="http://schemas.openxmlformats.org/officeDocument/2006/relationships/font" Target="fonts/font29.fntdata"/><Relationship Id="rId5" Type="http://schemas.openxmlformats.org/officeDocument/2006/relationships/slide" Target="slides/slide4.xml"/><Relationship Id="rId61" Type="http://schemas.openxmlformats.org/officeDocument/2006/relationships/font" Target="fonts/font11.fntdata"/><Relationship Id="rId82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font" Target="fonts/font2.fntdata"/><Relationship Id="rId60" Type="http://schemas.openxmlformats.org/officeDocument/2006/relationships/font" Target="fonts/font10.fntdata"/><Relationship Id="rId65" Type="http://schemas.openxmlformats.org/officeDocument/2006/relationships/font" Target="fonts/font15.fntdata"/><Relationship Id="rId73" Type="http://schemas.openxmlformats.org/officeDocument/2006/relationships/font" Target="fonts/font23.fntdata"/><Relationship Id="rId78" Type="http://schemas.openxmlformats.org/officeDocument/2006/relationships/font" Target="fonts/font28.fntdata"/><Relationship Id="rId81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font" Target="fonts/font6.fntdata"/><Relationship Id="rId64" Type="http://schemas.openxmlformats.org/officeDocument/2006/relationships/font" Target="fonts/font14.fntdata"/><Relationship Id="rId69" Type="http://schemas.openxmlformats.org/officeDocument/2006/relationships/font" Target="fonts/font19.fntdata"/><Relationship Id="rId77" Type="http://schemas.openxmlformats.org/officeDocument/2006/relationships/font" Target="fonts/font27.fntdata"/><Relationship Id="rId8" Type="http://schemas.openxmlformats.org/officeDocument/2006/relationships/slide" Target="slides/slide7.xml"/><Relationship Id="rId51" Type="http://schemas.openxmlformats.org/officeDocument/2006/relationships/font" Target="fonts/font1.fntdata"/><Relationship Id="rId72" Type="http://schemas.openxmlformats.org/officeDocument/2006/relationships/font" Target="fonts/font22.fntdata"/><Relationship Id="rId80" Type="http://schemas.openxmlformats.org/officeDocument/2006/relationships/font" Target="fonts/font30.fntdata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font" Target="fonts/font9.fntdata"/><Relationship Id="rId67" Type="http://schemas.openxmlformats.org/officeDocument/2006/relationships/font" Target="fonts/font17.fntdata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font" Target="fonts/font4.fntdata"/><Relationship Id="rId62" Type="http://schemas.openxmlformats.org/officeDocument/2006/relationships/font" Target="fonts/font12.fntdata"/><Relationship Id="rId70" Type="http://schemas.openxmlformats.org/officeDocument/2006/relationships/font" Target="fonts/font20.fntdata"/><Relationship Id="rId75" Type="http://schemas.openxmlformats.org/officeDocument/2006/relationships/font" Target="fonts/font25.fntdata"/><Relationship Id="rId83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font" Target="fonts/font7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26BA9B7-7D99-4E20-A7FC-B03DC55845BF}" type="datetimeFigureOut">
              <a:rPr lang="en-US" smtClean="0"/>
              <a:t>7/8/2021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6E20D02-945A-4687-A093-D2FB919C61C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998498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713232" rtl="0" eaLnBrk="1" latinLnBrk="0" hangingPunct="1">
      <a:defRPr sz="936" kern="1200">
        <a:solidFill>
          <a:schemeClr val="tx1"/>
        </a:solidFill>
        <a:latin typeface="+mn-lt"/>
        <a:ea typeface="+mn-ea"/>
        <a:cs typeface="+mn-cs"/>
      </a:defRPr>
    </a:lvl1pPr>
    <a:lvl2pPr marL="356616" algn="l" defTabSz="713232" rtl="0" eaLnBrk="1" latinLnBrk="0" hangingPunct="1">
      <a:defRPr sz="936" kern="1200">
        <a:solidFill>
          <a:schemeClr val="tx1"/>
        </a:solidFill>
        <a:latin typeface="+mn-lt"/>
        <a:ea typeface="+mn-ea"/>
        <a:cs typeface="+mn-cs"/>
      </a:defRPr>
    </a:lvl2pPr>
    <a:lvl3pPr marL="713232" algn="l" defTabSz="713232" rtl="0" eaLnBrk="1" latinLnBrk="0" hangingPunct="1">
      <a:defRPr sz="936" kern="1200">
        <a:solidFill>
          <a:schemeClr val="tx1"/>
        </a:solidFill>
        <a:latin typeface="+mn-lt"/>
        <a:ea typeface="+mn-ea"/>
        <a:cs typeface="+mn-cs"/>
      </a:defRPr>
    </a:lvl3pPr>
    <a:lvl4pPr marL="1069848" algn="l" defTabSz="713232" rtl="0" eaLnBrk="1" latinLnBrk="0" hangingPunct="1">
      <a:defRPr sz="936" kern="1200">
        <a:solidFill>
          <a:schemeClr val="tx1"/>
        </a:solidFill>
        <a:latin typeface="+mn-lt"/>
        <a:ea typeface="+mn-ea"/>
        <a:cs typeface="+mn-cs"/>
      </a:defRPr>
    </a:lvl4pPr>
    <a:lvl5pPr marL="1426464" algn="l" defTabSz="713232" rtl="0" eaLnBrk="1" latinLnBrk="0" hangingPunct="1">
      <a:defRPr sz="936" kern="1200">
        <a:solidFill>
          <a:schemeClr val="tx1"/>
        </a:solidFill>
        <a:latin typeface="+mn-lt"/>
        <a:ea typeface="+mn-ea"/>
        <a:cs typeface="+mn-cs"/>
      </a:defRPr>
    </a:lvl5pPr>
    <a:lvl6pPr marL="1783080" algn="l" defTabSz="713232" rtl="0" eaLnBrk="1" latinLnBrk="0" hangingPunct="1">
      <a:defRPr sz="936" kern="1200">
        <a:solidFill>
          <a:schemeClr val="tx1"/>
        </a:solidFill>
        <a:latin typeface="+mn-lt"/>
        <a:ea typeface="+mn-ea"/>
        <a:cs typeface="+mn-cs"/>
      </a:defRPr>
    </a:lvl6pPr>
    <a:lvl7pPr marL="2139696" algn="l" defTabSz="713232" rtl="0" eaLnBrk="1" latinLnBrk="0" hangingPunct="1">
      <a:defRPr sz="936" kern="1200">
        <a:solidFill>
          <a:schemeClr val="tx1"/>
        </a:solidFill>
        <a:latin typeface="+mn-lt"/>
        <a:ea typeface="+mn-ea"/>
        <a:cs typeface="+mn-cs"/>
      </a:defRPr>
    </a:lvl7pPr>
    <a:lvl8pPr marL="2496312" algn="l" defTabSz="713232" rtl="0" eaLnBrk="1" latinLnBrk="0" hangingPunct="1">
      <a:defRPr sz="936" kern="1200">
        <a:solidFill>
          <a:schemeClr val="tx1"/>
        </a:solidFill>
        <a:latin typeface="+mn-lt"/>
        <a:ea typeface="+mn-ea"/>
        <a:cs typeface="+mn-cs"/>
      </a:defRPr>
    </a:lvl8pPr>
    <a:lvl9pPr marL="2852928" algn="l" defTabSz="713232" rtl="0" eaLnBrk="1" latinLnBrk="0" hangingPunct="1">
      <a:defRPr sz="936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5" name="Google Shape;835;p4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836" name="Google Shape;836;p4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112145833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sv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sv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svg"/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sv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Graphic 6">
            <a:extLst>
              <a:ext uri="{FF2B5EF4-FFF2-40B4-BE49-F238E27FC236}">
                <a16:creationId xmlns:a16="http://schemas.microsoft.com/office/drawing/2014/main" id="{EA1F3BB5-BC4A-4839-A1EA-891B9EBDAAC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0" y="6351"/>
            <a:ext cx="9142928" cy="5714999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270000" y="1724260"/>
            <a:ext cx="4104163" cy="1989667"/>
          </a:xfrm>
        </p:spPr>
        <p:txBody>
          <a:bodyPr anchor="b"/>
          <a:lstStyle>
            <a:lvl1pPr algn="ctr">
              <a:defRPr lang="en-US" sz="4900" b="1" kern="1200" smtClean="0">
                <a:solidFill>
                  <a:schemeClr val="bg1"/>
                </a:solidFill>
                <a:latin typeface="Marcellus SC" panose="020E0602050203020307" pitchFamily="34" charset="0"/>
                <a:ea typeface="+mj-ea"/>
                <a:cs typeface="+mj-cs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385EFFD-917D-4236-9D14-8AF8A7C90942}"/>
              </a:ext>
            </a:extLst>
          </p:cNvPr>
          <p:cNvSpPr txBox="1"/>
          <p:nvPr/>
        </p:nvSpPr>
        <p:spPr>
          <a:xfrm>
            <a:off x="6596103" y="3669976"/>
            <a:ext cx="3087705" cy="5078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>
              <a:defRPr/>
            </a:pPr>
            <a:r>
              <a:rPr lang="en-US" dirty="0">
                <a:solidFill>
                  <a:prstClr val="black">
                    <a:lumMod val="75000"/>
                    <a:lumOff val="25000"/>
                  </a:prstClr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Luis Oliveira</a:t>
            </a:r>
          </a:p>
          <a:p>
            <a:pPr algn="ctr">
              <a:defRPr/>
            </a:pPr>
            <a:r>
              <a:rPr lang="en-US" sz="900" dirty="0">
                <a:solidFill>
                  <a:prstClr val="black">
                    <a:lumMod val="75000"/>
                    <a:lumOff val="25000"/>
                  </a:prstClr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(with content borrowed from </a:t>
            </a:r>
            <a:r>
              <a:rPr lang="en-US" sz="900" dirty="0" err="1">
                <a:solidFill>
                  <a:prstClr val="black">
                    <a:lumMod val="75000"/>
                    <a:lumOff val="25000"/>
                  </a:prstClr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wilkie</a:t>
            </a:r>
            <a:r>
              <a:rPr lang="en-US" sz="900" dirty="0">
                <a:solidFill>
                  <a:prstClr val="black">
                    <a:lumMod val="75000"/>
                    <a:lumOff val="25000"/>
                  </a:prstClr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and Vinicius Petrucci)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726EEB7A-8A20-4678-935F-818D978F6F14}"/>
              </a:ext>
            </a:extLst>
          </p:cNvPr>
          <p:cNvSpPr txBox="1"/>
          <p:nvPr/>
        </p:nvSpPr>
        <p:spPr>
          <a:xfrm>
            <a:off x="7217263" y="2093391"/>
            <a:ext cx="2002472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>
                <a:solidFill>
                  <a:schemeClr val="tx1">
                    <a:lumMod val="75000"/>
                    <a:lumOff val="25000"/>
                  </a:schemeClr>
                </a:solidFill>
                <a:latin typeface="Lato Light" panose="020F0502020204030203" pitchFamily="34" charset="0"/>
                <a:ea typeface="Lato Light" panose="020F0502020204030203" pitchFamily="34" charset="0"/>
                <a:cs typeface="Lato Light" panose="020F0502020204030203" pitchFamily="34" charset="0"/>
              </a:rPr>
              <a:t>CS/COE 0449</a:t>
            </a:r>
            <a:br>
              <a:rPr lang="en-US" dirty="0">
                <a:solidFill>
                  <a:schemeClr val="tx1">
                    <a:lumMod val="75000"/>
                    <a:lumOff val="25000"/>
                  </a:schemeClr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</a:br>
            <a:r>
              <a:rPr lang="en-US" dirty="0">
                <a:solidFill>
                  <a:schemeClr val="tx1">
                    <a:lumMod val="75000"/>
                    <a:lumOff val="25000"/>
                  </a:schemeClr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Introduction to</a:t>
            </a:r>
            <a:br>
              <a:rPr lang="en-US" dirty="0">
                <a:solidFill>
                  <a:schemeClr val="tx1">
                    <a:lumMod val="75000"/>
                    <a:lumOff val="25000"/>
                  </a:schemeClr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</a:br>
            <a:r>
              <a:rPr lang="en-US" dirty="0">
                <a:solidFill>
                  <a:schemeClr val="tx1">
                    <a:lumMod val="75000"/>
                    <a:lumOff val="25000"/>
                  </a:schemeClr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Systems Software</a:t>
            </a:r>
            <a:endParaRPr lang="en-US" sz="900" dirty="0">
              <a:solidFill>
                <a:schemeClr val="tx1">
                  <a:lumMod val="75000"/>
                  <a:lumOff val="25000"/>
                </a:schemeClr>
              </a:solidFill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03D9EB0A-CCD6-414E-A988-4BF9D78A9357}"/>
              </a:ext>
            </a:extLst>
          </p:cNvPr>
          <p:cNvSpPr/>
          <p:nvPr/>
        </p:nvSpPr>
        <p:spPr>
          <a:xfrm>
            <a:off x="7924054" y="547210"/>
            <a:ext cx="900953" cy="900953"/>
          </a:xfrm>
          <a:prstGeom prst="ellipse">
            <a:avLst/>
          </a:prstGeom>
          <a:noFill/>
          <a:ln w="57150"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800" b="1" dirty="0">
              <a:solidFill>
                <a:schemeClr val="bg1">
                  <a:lumMod val="85000"/>
                </a:schemeClr>
              </a:solidFill>
              <a:latin typeface="Segoe UI" panose="020B0502040204020203" pitchFamily="34" charset="0"/>
              <a:ea typeface="Lato Black" panose="020F0502020204030203" pitchFamily="34" charset="0"/>
              <a:cs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38870311"/>
      </p:ext>
    </p:extLst>
  </p:cSld>
  <p:clrMapOvr>
    <a:masterClrMapping/>
  </p:clrMapOvr>
  <p:hf hd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Graphic 6">
            <a:extLst>
              <a:ext uri="{FF2B5EF4-FFF2-40B4-BE49-F238E27FC236}">
                <a16:creationId xmlns:a16="http://schemas.microsoft.com/office/drawing/2014/main" id="{1AE47FCC-710E-4B5B-A89C-F9677EB450E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594" y="0"/>
            <a:ext cx="10158809" cy="5715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42900" y="15213"/>
            <a:ext cx="8763000" cy="552318"/>
          </a:xfrm>
        </p:spPr>
        <p:txBody>
          <a:bodyPr>
            <a:normAutofit/>
          </a:bodyPr>
          <a:lstStyle>
            <a:lvl1pPr algn="l" defTabSz="685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3300" kern="1200" dirty="0">
                <a:solidFill>
                  <a:schemeClr val="bg1"/>
                </a:solidFill>
                <a:latin typeface="Lato Heavy" panose="020F0502020204030203" pitchFamily="34" charset="0"/>
                <a:ea typeface="Lato Heavy" panose="020F0502020204030203" pitchFamily="34" charset="0"/>
                <a:cs typeface="Lato Heavy" panose="020F0502020204030203" pitchFamily="34" charset="0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664050D8-538C-4555-A908-78AE7C9CC8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230136" y="5335060"/>
            <a:ext cx="684742" cy="304271"/>
          </a:xfrm>
        </p:spPr>
        <p:txBody>
          <a:bodyPr/>
          <a:lstStyle>
            <a:lvl1pPr>
              <a:defRPr sz="1800">
                <a:solidFill>
                  <a:schemeClr val="bg1">
                    <a:lumMod val="50000"/>
                  </a:schemeClr>
                </a:solidFill>
                <a:latin typeface="DejaVu Sans" panose="020B0603030804020204" pitchFamily="34" charset="0"/>
                <a:ea typeface="DejaVu Sans" panose="020B0603030804020204" pitchFamily="34" charset="0"/>
                <a:cs typeface="DejaVu Sans" panose="020B0603030804020204" pitchFamily="34" charset="0"/>
              </a:defRPr>
            </a:lvl1pPr>
          </a:lstStyle>
          <a:p>
            <a:fld id="{B4AAD609-F83C-4414-814B-B5A2DF99692C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6" name="Graphic 5">
            <a:extLst>
              <a:ext uri="{FF2B5EF4-FFF2-40B4-BE49-F238E27FC236}">
                <a16:creationId xmlns:a16="http://schemas.microsoft.com/office/drawing/2014/main" id="{E2805A1D-146B-4C19-BFD9-10E6294AC61E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594" y="0"/>
            <a:ext cx="10158809" cy="5715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9001900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Graphic 6">
            <a:extLst>
              <a:ext uri="{FF2B5EF4-FFF2-40B4-BE49-F238E27FC236}">
                <a16:creationId xmlns:a16="http://schemas.microsoft.com/office/drawing/2014/main" id="{3FA6F06A-FE39-444F-9CB8-3F66E2F5688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594" y="0"/>
            <a:ext cx="10158809" cy="5715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93208" y="1424782"/>
            <a:ext cx="8763000" cy="2377281"/>
          </a:xfrm>
        </p:spPr>
        <p:txBody>
          <a:bodyPr anchor="b">
            <a:normAutofit/>
          </a:bodyPr>
          <a:lstStyle>
            <a:lvl1pPr algn="ctr" defTabSz="685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4500" kern="1200" dirty="0">
                <a:solidFill>
                  <a:schemeClr val="tx2">
                    <a:lumMod val="50000"/>
                  </a:schemeClr>
                </a:solidFill>
                <a:latin typeface="Marcellus SC" panose="020E0602050203020307" pitchFamily="34" charset="0"/>
                <a:ea typeface="+mj-ea"/>
                <a:cs typeface="+mj-cs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93208" y="3824553"/>
            <a:ext cx="8763000" cy="1250156"/>
          </a:xfrm>
        </p:spPr>
        <p:txBody>
          <a:bodyPr>
            <a:normAutofit/>
          </a:bodyPr>
          <a:lstStyle>
            <a:lvl1pPr marL="0" indent="0" algn="ctr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None/>
              <a:defRPr lang="en-US" sz="1800" kern="1200" dirty="0" smtClean="0">
                <a:solidFill>
                  <a:schemeClr val="tx1">
                    <a:tint val="75000"/>
                  </a:schemeClr>
                </a:solidFill>
                <a:latin typeface="Lato Light" panose="020F0502020204030203" pitchFamily="34" charset="0"/>
                <a:ea typeface="Lato Light" panose="020F0502020204030203" pitchFamily="34" charset="0"/>
                <a:cs typeface="Lato Light" panose="020F0502020204030203" pitchFamily="34" charset="0"/>
              </a:defRPr>
            </a:lvl1pPr>
            <a:lvl2pPr marL="380985" indent="0">
              <a:buNone/>
              <a:defRPr sz="1667">
                <a:solidFill>
                  <a:schemeClr val="tx1">
                    <a:tint val="75000"/>
                  </a:schemeClr>
                </a:solidFill>
              </a:defRPr>
            </a:lvl2pPr>
            <a:lvl3pPr marL="76197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3pPr>
            <a:lvl4pPr marL="1142954" indent="0">
              <a:buNone/>
              <a:defRPr sz="1333">
                <a:solidFill>
                  <a:schemeClr val="tx1">
                    <a:tint val="75000"/>
                  </a:schemeClr>
                </a:solidFill>
              </a:defRPr>
            </a:lvl4pPr>
            <a:lvl5pPr marL="1523939" indent="0">
              <a:buNone/>
              <a:defRPr sz="1333">
                <a:solidFill>
                  <a:schemeClr val="tx1">
                    <a:tint val="75000"/>
                  </a:schemeClr>
                </a:solidFill>
              </a:defRPr>
            </a:lvl5pPr>
            <a:lvl6pPr marL="1904924" indent="0">
              <a:buNone/>
              <a:defRPr sz="1333">
                <a:solidFill>
                  <a:schemeClr val="tx1">
                    <a:tint val="75000"/>
                  </a:schemeClr>
                </a:solidFill>
              </a:defRPr>
            </a:lvl6pPr>
            <a:lvl7pPr marL="2285909" indent="0">
              <a:buNone/>
              <a:defRPr sz="1333">
                <a:solidFill>
                  <a:schemeClr val="tx1">
                    <a:tint val="75000"/>
                  </a:schemeClr>
                </a:solidFill>
              </a:defRPr>
            </a:lvl7pPr>
            <a:lvl8pPr marL="2666893" indent="0">
              <a:buNone/>
              <a:defRPr sz="1333">
                <a:solidFill>
                  <a:schemeClr val="tx1">
                    <a:tint val="75000"/>
                  </a:schemeClr>
                </a:solidFill>
              </a:defRPr>
            </a:lvl8pPr>
            <a:lvl9pPr marL="3047878" indent="0">
              <a:buNone/>
              <a:defRPr sz="1333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Slide Number Placeholder 5">
            <a:extLst>
              <a:ext uri="{FF2B5EF4-FFF2-40B4-BE49-F238E27FC236}">
                <a16:creationId xmlns:a16="http://schemas.microsoft.com/office/drawing/2014/main" id="{BC2887AB-88A2-4598-9B4C-279CFF0C24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230136" y="5335060"/>
            <a:ext cx="684742" cy="304271"/>
          </a:xfrm>
        </p:spPr>
        <p:txBody>
          <a:bodyPr/>
          <a:lstStyle>
            <a:lvl1pPr>
              <a:defRPr sz="1800">
                <a:solidFill>
                  <a:schemeClr val="bg1"/>
                </a:solidFill>
                <a:latin typeface="DejaVu Sans" panose="020B0603030804020204" pitchFamily="34" charset="0"/>
                <a:ea typeface="DejaVu Sans" panose="020B0603030804020204" pitchFamily="34" charset="0"/>
                <a:cs typeface="DejaVu Sans" panose="020B0603030804020204" pitchFamily="34" charset="0"/>
              </a:defRPr>
            </a:lvl1pPr>
          </a:lstStyle>
          <a:p>
            <a:fld id="{B4AAD609-F83C-4414-814B-B5A2DF99692C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6" name="Graphic 5">
            <a:extLst>
              <a:ext uri="{FF2B5EF4-FFF2-40B4-BE49-F238E27FC236}">
                <a16:creationId xmlns:a16="http://schemas.microsoft.com/office/drawing/2014/main" id="{19B843B7-3B4C-42D4-B995-B6C0665B91B4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594" y="0"/>
            <a:ext cx="10158809" cy="5715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0425310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Graphic 5">
            <a:extLst>
              <a:ext uri="{FF2B5EF4-FFF2-40B4-BE49-F238E27FC236}">
                <a16:creationId xmlns:a16="http://schemas.microsoft.com/office/drawing/2014/main" id="{238D35E4-92F4-4E3B-8507-19E6FB2C25B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594" y="0"/>
            <a:ext cx="10158809" cy="5715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05900" cy="351367"/>
          </a:xfrm>
        </p:spPr>
        <p:txBody>
          <a:bodyPr>
            <a:normAutofit/>
          </a:bodyPr>
          <a:lstStyle>
            <a:lvl1pPr marL="0" algn="l" defTabSz="685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kern="1200" dirty="0">
                <a:solidFill>
                  <a:schemeClr val="accent1">
                    <a:lumMod val="50000"/>
                  </a:schemeClr>
                </a:solidFill>
                <a:latin typeface="Marcellus SC" panose="020E0602050203020307" pitchFamily="34" charset="0"/>
                <a:ea typeface="Lato Heavy" panose="020F0502020204030203" pitchFamily="34" charset="0"/>
                <a:cs typeface="Lato Heavy" panose="020F0502020204030203" pitchFamily="34" charset="0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D30D1C1C-0332-4442-9439-B3DDD1971C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230136" y="5335060"/>
            <a:ext cx="684742" cy="304271"/>
          </a:xfrm>
        </p:spPr>
        <p:txBody>
          <a:bodyPr/>
          <a:lstStyle>
            <a:lvl1pPr>
              <a:defRPr sz="1800">
                <a:solidFill>
                  <a:schemeClr val="bg1"/>
                </a:solidFill>
                <a:latin typeface="DejaVu Sans" panose="020B0603030804020204" pitchFamily="34" charset="0"/>
                <a:ea typeface="DejaVu Sans" panose="020B0603030804020204" pitchFamily="34" charset="0"/>
                <a:cs typeface="DejaVu Sans" panose="020B0603030804020204" pitchFamily="34" charset="0"/>
              </a:defRPr>
            </a:lvl1pPr>
          </a:lstStyle>
          <a:p>
            <a:fld id="{B4AAD609-F83C-4414-814B-B5A2DF99692C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143FD7C-4BDB-43C3-BEC9-77DB981DC677}"/>
              </a:ext>
            </a:extLst>
          </p:cNvPr>
          <p:cNvSpPr txBox="1">
            <a:spLocks/>
          </p:cNvSpPr>
          <p:nvPr userDrawn="1"/>
        </p:nvSpPr>
        <p:spPr>
          <a:xfrm>
            <a:off x="183444" y="5274259"/>
            <a:ext cx="3429000" cy="30427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457200" rtl="0" eaLnBrk="1" latinLnBrk="0" hangingPunct="1">
              <a:defRPr sz="900" kern="1200">
                <a:solidFill>
                  <a:schemeClr val="tx1">
                    <a:tint val="75000"/>
                  </a:schemeClr>
                </a:solidFill>
                <a:latin typeface="Lato Hairline" panose="020F0502020204030203" pitchFamily="34" charset="0"/>
                <a:ea typeface="Lato Hairline" panose="020F0502020204030203" pitchFamily="34" charset="0"/>
                <a:cs typeface="Lato Hairline" panose="020F0502020204030203" pitchFamily="34" charset="0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900"/>
              <a:t>CS/COE 0449 – Spring 2019/2020</a:t>
            </a:r>
            <a:endParaRPr lang="en-US" sz="900" dirty="0"/>
          </a:p>
        </p:txBody>
      </p:sp>
      <p:pic>
        <p:nvPicPr>
          <p:cNvPr id="8" name="Graphic 7">
            <a:extLst>
              <a:ext uri="{FF2B5EF4-FFF2-40B4-BE49-F238E27FC236}">
                <a16:creationId xmlns:a16="http://schemas.microsoft.com/office/drawing/2014/main" id="{CCEBE463-34B4-497E-9601-7B0D9D5DCEAF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594" y="0"/>
            <a:ext cx="10158809" cy="5715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0059653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Graphic 8">
            <a:extLst>
              <a:ext uri="{FF2B5EF4-FFF2-40B4-BE49-F238E27FC236}">
                <a16:creationId xmlns:a16="http://schemas.microsoft.com/office/drawing/2014/main" id="{7169D404-C6B3-441F-AFE8-5D94549B5AA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594" y="0"/>
            <a:ext cx="10158809" cy="5715000"/>
          </a:xfrm>
          <a:prstGeom prst="rect">
            <a:avLst/>
          </a:prstGeom>
        </p:spPr>
      </p:pic>
      <p:sp>
        <p:nvSpPr>
          <p:cNvPr id="11" name="Title 1">
            <a:extLst>
              <a:ext uri="{FF2B5EF4-FFF2-40B4-BE49-F238E27FC236}">
                <a16:creationId xmlns:a16="http://schemas.microsoft.com/office/drawing/2014/main" id="{69D825A9-FB59-4202-9485-533A57E6F3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22861"/>
            <a:ext cx="10261600" cy="304272"/>
          </a:xfrm>
        </p:spPr>
        <p:txBody>
          <a:bodyPr>
            <a:noAutofit/>
          </a:bodyPr>
          <a:lstStyle>
            <a:lvl1pPr>
              <a:defRPr sz="1800">
                <a:solidFill>
                  <a:schemeClr val="accent1">
                    <a:lumMod val="50000"/>
                  </a:schemeClr>
                </a:solidFill>
                <a:latin typeface="Marcellus SC" panose="020E0602050203020307" pitchFamily="34" charset="0"/>
                <a:ea typeface="Lato Heavy" panose="020F0502020204030203" pitchFamily="34" charset="0"/>
                <a:cs typeface="Lato Heavy" panose="020F0502020204030203" pitchFamily="34" charset="0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Slide Number Placeholder 5">
            <a:extLst>
              <a:ext uri="{FF2B5EF4-FFF2-40B4-BE49-F238E27FC236}">
                <a16:creationId xmlns:a16="http://schemas.microsoft.com/office/drawing/2014/main" id="{44603BD3-B0D4-478A-9A0E-6BF89FA653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230136" y="5335060"/>
            <a:ext cx="684742" cy="304271"/>
          </a:xfrm>
        </p:spPr>
        <p:txBody>
          <a:bodyPr/>
          <a:lstStyle>
            <a:lvl1pPr>
              <a:defRPr sz="1800">
                <a:solidFill>
                  <a:schemeClr val="bg1"/>
                </a:solidFill>
                <a:latin typeface="DejaVu Sans" panose="020B0603030804020204" pitchFamily="34" charset="0"/>
                <a:ea typeface="DejaVu Sans" panose="020B0603030804020204" pitchFamily="34" charset="0"/>
                <a:cs typeface="DejaVu Sans" panose="020B0603030804020204" pitchFamily="34" charset="0"/>
              </a:defRPr>
            </a:lvl1pPr>
          </a:lstStyle>
          <a:p>
            <a:fld id="{B4AAD609-F83C-4414-814B-B5A2DF99692C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F5B50B2-2870-4418-B9C6-77C2F58FE093}"/>
              </a:ext>
            </a:extLst>
          </p:cNvPr>
          <p:cNvSpPr txBox="1">
            <a:spLocks/>
          </p:cNvSpPr>
          <p:nvPr userDrawn="1"/>
        </p:nvSpPr>
        <p:spPr>
          <a:xfrm>
            <a:off x="183444" y="5274259"/>
            <a:ext cx="3429000" cy="30427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457200" rtl="0" eaLnBrk="1" latinLnBrk="0" hangingPunct="1">
              <a:defRPr sz="900" kern="1200">
                <a:solidFill>
                  <a:schemeClr val="tx1">
                    <a:tint val="75000"/>
                  </a:schemeClr>
                </a:solidFill>
                <a:latin typeface="Lato Hairline" panose="020F0502020204030203" pitchFamily="34" charset="0"/>
                <a:ea typeface="Lato Hairline" panose="020F0502020204030203" pitchFamily="34" charset="0"/>
                <a:cs typeface="Lato Hairline" panose="020F0502020204030203" pitchFamily="34" charset="0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900"/>
              <a:t>CS/COE 0449 – Spring 2019/2020</a:t>
            </a:r>
            <a:endParaRPr lang="en-US" sz="900" dirty="0"/>
          </a:p>
        </p:txBody>
      </p:sp>
      <p:pic>
        <p:nvPicPr>
          <p:cNvPr id="6" name="Graphic 5">
            <a:extLst>
              <a:ext uri="{FF2B5EF4-FFF2-40B4-BE49-F238E27FC236}">
                <a16:creationId xmlns:a16="http://schemas.microsoft.com/office/drawing/2014/main" id="{5BC45FAF-006D-4AB1-BBC0-C5A64FB38058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594" y="0"/>
            <a:ext cx="10158809" cy="5715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7817659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>
  <p:cSld name="1_Section Head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Graphic 8">
            <a:extLst>
              <a:ext uri="{FF2B5EF4-FFF2-40B4-BE49-F238E27FC236}">
                <a16:creationId xmlns:a16="http://schemas.microsoft.com/office/drawing/2014/main" id="{4338196D-6433-4096-891C-BD8AE50D72C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057" y="0"/>
            <a:ext cx="10155888" cy="5715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62000" y="1714506"/>
            <a:ext cx="8636000" cy="1225021"/>
          </a:xfrm>
        </p:spPr>
        <p:txBody>
          <a:bodyPr anchor="b">
            <a:noAutofit/>
          </a:bodyPr>
          <a:lstStyle>
            <a:lvl1pPr algn="ctr">
              <a:defRPr sz="4320">
                <a:solidFill>
                  <a:schemeClr val="accent1">
                    <a:lumMod val="75000"/>
                  </a:schemeClr>
                </a:solidFill>
                <a:latin typeface="Lato Hairline" panose="020F0502020204030203" pitchFamily="34" charset="0"/>
                <a:ea typeface="Lato Hairline" panose="020F0502020204030203" pitchFamily="34" charset="0"/>
                <a:cs typeface="Lato Hairline" panose="020F0502020204030203" pitchFamily="34" charset="0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AAD609-F83C-4414-814B-B5A2DF99692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68880763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transition/>
  <p:hf hd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270000" y="935302"/>
            <a:ext cx="7620000" cy="1989667"/>
          </a:xfrm>
        </p:spPr>
        <p:txBody>
          <a:bodyPr anchor="b"/>
          <a:lstStyle>
            <a:lvl1pPr algn="ctr">
              <a:defRPr sz="5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270000" y="3001698"/>
            <a:ext cx="7620000" cy="1379802"/>
          </a:xfrm>
        </p:spPr>
        <p:txBody>
          <a:bodyPr/>
          <a:lstStyle>
            <a:lvl1pPr marL="0" indent="0" algn="ctr">
              <a:buNone/>
              <a:defRPr sz="2000"/>
            </a:lvl1pPr>
            <a:lvl2pPr marL="380985" indent="0" algn="ctr">
              <a:buNone/>
              <a:defRPr sz="1667"/>
            </a:lvl2pPr>
            <a:lvl3pPr marL="761970" indent="0" algn="ctr">
              <a:buNone/>
              <a:defRPr sz="1500"/>
            </a:lvl3pPr>
            <a:lvl4pPr marL="1142954" indent="0" algn="ctr">
              <a:buNone/>
              <a:defRPr sz="1333"/>
            </a:lvl4pPr>
            <a:lvl5pPr marL="1523939" indent="0" algn="ctr">
              <a:buNone/>
              <a:defRPr sz="1333"/>
            </a:lvl5pPr>
            <a:lvl6pPr marL="1904924" indent="0" algn="ctr">
              <a:buNone/>
              <a:defRPr sz="1333"/>
            </a:lvl6pPr>
            <a:lvl7pPr marL="2285909" indent="0" algn="ctr">
              <a:buNone/>
              <a:defRPr sz="1333"/>
            </a:lvl7pPr>
            <a:lvl8pPr marL="2666893" indent="0" algn="ctr">
              <a:buNone/>
              <a:defRPr sz="1333"/>
            </a:lvl8pPr>
            <a:lvl9pPr marL="3047878" indent="0" algn="ctr">
              <a:buNone/>
              <a:defRPr sz="1333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nb-NO"/>
              <a:t>CS/COE 0449 – Spring 2019/2020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AAD609-F83C-4414-814B-B5A2DF99692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1756299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6705B74C-4229-4378-B896-B906620C8485}"/>
              </a:ext>
            </a:extLst>
          </p:cNvPr>
          <p:cNvSpPr txBox="1">
            <a:spLocks/>
          </p:cNvSpPr>
          <p:nvPr userDrawn="1"/>
        </p:nvSpPr>
        <p:spPr>
          <a:xfrm>
            <a:off x="183444" y="5274259"/>
            <a:ext cx="3429000" cy="30427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457200" rtl="0" eaLnBrk="1" latinLnBrk="0" hangingPunct="1">
              <a:defRPr sz="900" kern="1200">
                <a:solidFill>
                  <a:schemeClr val="tx1">
                    <a:tint val="75000"/>
                  </a:schemeClr>
                </a:solidFill>
                <a:latin typeface="Lato Hairline" panose="020F0502020204030203" pitchFamily="34" charset="0"/>
                <a:ea typeface="Lato Hairline" panose="020F0502020204030203" pitchFamily="34" charset="0"/>
                <a:cs typeface="Lato Hairline" panose="020F0502020204030203" pitchFamily="34" charset="0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900"/>
              <a:t>CS/COE 0449 – Spring 2019/2020</a:t>
            </a:r>
            <a:endParaRPr lang="en-US" sz="900" dirty="0"/>
          </a:p>
        </p:txBody>
      </p:sp>
      <p:pic>
        <p:nvPicPr>
          <p:cNvPr id="9" name="Graphic 8">
            <a:extLst>
              <a:ext uri="{FF2B5EF4-FFF2-40B4-BE49-F238E27FC236}">
                <a16:creationId xmlns:a16="http://schemas.microsoft.com/office/drawing/2014/main" id="{7169D404-C6B3-441F-AFE8-5D94549B5AA1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594" y="0"/>
            <a:ext cx="10158809" cy="5715000"/>
          </a:xfrm>
          <a:prstGeom prst="rect">
            <a:avLst/>
          </a:prstGeom>
        </p:spPr>
      </p:pic>
      <p:sp>
        <p:nvSpPr>
          <p:cNvPr id="11" name="Title 1">
            <a:extLst>
              <a:ext uri="{FF2B5EF4-FFF2-40B4-BE49-F238E27FC236}">
                <a16:creationId xmlns:a16="http://schemas.microsoft.com/office/drawing/2014/main" id="{69D825A9-FB59-4202-9485-533A57E6F3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22861"/>
            <a:ext cx="10261600" cy="304272"/>
          </a:xfrm>
        </p:spPr>
        <p:txBody>
          <a:bodyPr>
            <a:noAutofit/>
          </a:bodyPr>
          <a:lstStyle>
            <a:lvl1pPr>
              <a:defRPr sz="1800">
                <a:solidFill>
                  <a:schemeClr val="accent1">
                    <a:lumMod val="50000"/>
                  </a:schemeClr>
                </a:solidFill>
                <a:latin typeface="Marcellus SC" panose="020E0602050203020307" pitchFamily="34" charset="0"/>
                <a:ea typeface="Lato Heavy" panose="020F0502020204030203" pitchFamily="34" charset="0"/>
                <a:cs typeface="Lato Heavy" panose="020F0502020204030203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2" name="Slide Number Placeholder 5">
            <a:extLst>
              <a:ext uri="{FF2B5EF4-FFF2-40B4-BE49-F238E27FC236}">
                <a16:creationId xmlns:a16="http://schemas.microsoft.com/office/drawing/2014/main" id="{44603BD3-B0D4-478A-9A0E-6BF89FA653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326563" y="5335060"/>
            <a:ext cx="684742" cy="304271"/>
          </a:xfrm>
        </p:spPr>
        <p:txBody>
          <a:bodyPr/>
          <a:lstStyle>
            <a:lvl1pPr>
              <a:defRPr sz="1800">
                <a:solidFill>
                  <a:schemeClr val="bg1"/>
                </a:solidFill>
                <a:latin typeface="DejaVu Sans" panose="020B0603030804020204" pitchFamily="34" charset="0"/>
                <a:ea typeface="DejaVu Sans" panose="020B0603030804020204" pitchFamily="34" charset="0"/>
                <a:cs typeface="DejaVu Sans" panose="020B0603030804020204" pitchFamily="34" charset="0"/>
              </a:defRPr>
            </a:lvl1pPr>
          </a:lstStyle>
          <a:p>
            <a:fld id="{B4AAD609-F83C-4414-814B-B5A2DF99692C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0951099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9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98500" y="304271"/>
            <a:ext cx="8763000" cy="110463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98500" y="1521354"/>
            <a:ext cx="8763000" cy="362611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98500" y="5296959"/>
            <a:ext cx="2286000" cy="30427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365500" y="5296959"/>
            <a:ext cx="3429000" cy="30427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nb-NO"/>
              <a:t>CS/COE 0449 – Spring 2019/2020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175500" y="5296959"/>
            <a:ext cx="2286000" cy="30427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4AAD609-F83C-4414-814B-B5A2DF99692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0908008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  <p:sldLayoutId id="2147483686" r:id="rId2"/>
    <p:sldLayoutId id="2147483687" r:id="rId3"/>
    <p:sldLayoutId id="2147483688" r:id="rId4"/>
    <p:sldLayoutId id="2147483689" r:id="rId5"/>
    <p:sldLayoutId id="2147483690" r:id="rId6"/>
    <p:sldLayoutId id="2147483691" r:id="rId7"/>
    <p:sldLayoutId id="2147483666" r:id="rId8"/>
  </p:sldLayoutIdLst>
  <p:hf hdr="0" dt="0"/>
  <p:txStyles>
    <p:titleStyle>
      <a:lvl1pPr algn="l" defTabSz="761970" rtl="0" eaLnBrk="1" latinLnBrk="0" hangingPunct="1">
        <a:lnSpc>
          <a:spcPct val="90000"/>
        </a:lnSpc>
        <a:spcBef>
          <a:spcPct val="0"/>
        </a:spcBef>
        <a:buNone/>
        <a:defRPr sz="3667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90492" indent="-190492" algn="l" defTabSz="761970" rtl="0" eaLnBrk="1" latinLnBrk="0" hangingPunct="1">
        <a:lnSpc>
          <a:spcPct val="90000"/>
        </a:lnSpc>
        <a:spcBef>
          <a:spcPts val="833"/>
        </a:spcBef>
        <a:buFont typeface="Arial" panose="020B0604020202020204" pitchFamily="34" charset="0"/>
        <a:buChar char="•"/>
        <a:defRPr sz="2333" kern="1200">
          <a:solidFill>
            <a:schemeClr val="tx1"/>
          </a:solidFill>
          <a:latin typeface="+mn-lt"/>
          <a:ea typeface="+mn-ea"/>
          <a:cs typeface="+mn-cs"/>
        </a:defRPr>
      </a:lvl1pPr>
      <a:lvl2pPr marL="571477" indent="-190492" algn="l" defTabSz="761970" rtl="0" eaLnBrk="1" latinLnBrk="0" hangingPunct="1">
        <a:lnSpc>
          <a:spcPct val="90000"/>
        </a:lnSpc>
        <a:spcBef>
          <a:spcPts val="417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952462" indent="-190492" algn="l" defTabSz="761970" rtl="0" eaLnBrk="1" latinLnBrk="0" hangingPunct="1">
        <a:lnSpc>
          <a:spcPct val="90000"/>
        </a:lnSpc>
        <a:spcBef>
          <a:spcPts val="417"/>
        </a:spcBef>
        <a:buFont typeface="Arial" panose="020B0604020202020204" pitchFamily="34" charset="0"/>
        <a:buChar char="•"/>
        <a:defRPr sz="1667" kern="1200">
          <a:solidFill>
            <a:schemeClr val="tx1"/>
          </a:solidFill>
          <a:latin typeface="+mn-lt"/>
          <a:ea typeface="+mn-ea"/>
          <a:cs typeface="+mn-cs"/>
        </a:defRPr>
      </a:lvl3pPr>
      <a:lvl4pPr marL="1333447" indent="-190492" algn="l" defTabSz="761970" rtl="0" eaLnBrk="1" latinLnBrk="0" hangingPunct="1">
        <a:lnSpc>
          <a:spcPct val="90000"/>
        </a:lnSpc>
        <a:spcBef>
          <a:spcPts val="417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4pPr>
      <a:lvl5pPr marL="1714431" indent="-190492" algn="l" defTabSz="761970" rtl="0" eaLnBrk="1" latinLnBrk="0" hangingPunct="1">
        <a:lnSpc>
          <a:spcPct val="90000"/>
        </a:lnSpc>
        <a:spcBef>
          <a:spcPts val="417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5pPr>
      <a:lvl6pPr marL="2095416" indent="-190492" algn="l" defTabSz="761970" rtl="0" eaLnBrk="1" latinLnBrk="0" hangingPunct="1">
        <a:lnSpc>
          <a:spcPct val="90000"/>
        </a:lnSpc>
        <a:spcBef>
          <a:spcPts val="417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6pPr>
      <a:lvl7pPr marL="2476401" indent="-190492" algn="l" defTabSz="761970" rtl="0" eaLnBrk="1" latinLnBrk="0" hangingPunct="1">
        <a:lnSpc>
          <a:spcPct val="90000"/>
        </a:lnSpc>
        <a:spcBef>
          <a:spcPts val="417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7pPr>
      <a:lvl8pPr marL="2857386" indent="-190492" algn="l" defTabSz="761970" rtl="0" eaLnBrk="1" latinLnBrk="0" hangingPunct="1">
        <a:lnSpc>
          <a:spcPct val="90000"/>
        </a:lnSpc>
        <a:spcBef>
          <a:spcPts val="417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8pPr>
      <a:lvl9pPr marL="3238370" indent="-190492" algn="l" defTabSz="761970" rtl="0" eaLnBrk="1" latinLnBrk="0" hangingPunct="1">
        <a:lnSpc>
          <a:spcPct val="90000"/>
        </a:lnSpc>
        <a:spcBef>
          <a:spcPts val="417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761970" rtl="0" eaLnBrk="1" latinLnBrk="0" hangingPunct="1">
        <a:defRPr sz="1500" kern="1200">
          <a:solidFill>
            <a:schemeClr val="tx1"/>
          </a:solidFill>
          <a:latin typeface="+mn-lt"/>
          <a:ea typeface="+mn-ea"/>
          <a:cs typeface="+mn-cs"/>
        </a:defRPr>
      </a:lvl1pPr>
      <a:lvl2pPr marL="380985" algn="l" defTabSz="761970" rtl="0" eaLnBrk="1" latinLnBrk="0" hangingPunct="1">
        <a:defRPr sz="1500" kern="1200">
          <a:solidFill>
            <a:schemeClr val="tx1"/>
          </a:solidFill>
          <a:latin typeface="+mn-lt"/>
          <a:ea typeface="+mn-ea"/>
          <a:cs typeface="+mn-cs"/>
        </a:defRPr>
      </a:lvl2pPr>
      <a:lvl3pPr marL="761970" algn="l" defTabSz="761970" rtl="0" eaLnBrk="1" latinLnBrk="0" hangingPunct="1"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142954" algn="l" defTabSz="761970" rtl="0" eaLnBrk="1" latinLnBrk="0" hangingPunct="1">
        <a:defRPr sz="1500" kern="1200">
          <a:solidFill>
            <a:schemeClr val="tx1"/>
          </a:solidFill>
          <a:latin typeface="+mn-lt"/>
          <a:ea typeface="+mn-ea"/>
          <a:cs typeface="+mn-cs"/>
        </a:defRPr>
      </a:lvl4pPr>
      <a:lvl5pPr marL="1523939" algn="l" defTabSz="761970" rtl="0" eaLnBrk="1" latinLnBrk="0" hangingPunct="1">
        <a:defRPr sz="1500" kern="1200">
          <a:solidFill>
            <a:schemeClr val="tx1"/>
          </a:solidFill>
          <a:latin typeface="+mn-lt"/>
          <a:ea typeface="+mn-ea"/>
          <a:cs typeface="+mn-cs"/>
        </a:defRPr>
      </a:lvl5pPr>
      <a:lvl6pPr marL="1904924" algn="l" defTabSz="761970" rtl="0" eaLnBrk="1" latinLnBrk="0" hangingPunct="1">
        <a:defRPr sz="1500" kern="1200">
          <a:solidFill>
            <a:schemeClr val="tx1"/>
          </a:solidFill>
          <a:latin typeface="+mn-lt"/>
          <a:ea typeface="+mn-ea"/>
          <a:cs typeface="+mn-cs"/>
        </a:defRPr>
      </a:lvl6pPr>
      <a:lvl7pPr marL="2285909" algn="l" defTabSz="761970" rtl="0" eaLnBrk="1" latinLnBrk="0" hangingPunct="1">
        <a:defRPr sz="1500" kern="1200">
          <a:solidFill>
            <a:schemeClr val="tx1"/>
          </a:solidFill>
          <a:latin typeface="+mn-lt"/>
          <a:ea typeface="+mn-ea"/>
          <a:cs typeface="+mn-cs"/>
        </a:defRPr>
      </a:lvl7pPr>
      <a:lvl8pPr marL="2666893" algn="l" defTabSz="761970" rtl="0" eaLnBrk="1" latinLnBrk="0" hangingPunct="1">
        <a:defRPr sz="1500" kern="1200">
          <a:solidFill>
            <a:schemeClr val="tx1"/>
          </a:solidFill>
          <a:latin typeface="+mn-lt"/>
          <a:ea typeface="+mn-ea"/>
          <a:cs typeface="+mn-cs"/>
        </a:defRPr>
      </a:lvl8pPr>
      <a:lvl9pPr marL="3047878" algn="l" defTabSz="761970" rtl="0" eaLnBrk="1" latinLnBrk="0" hangingPunct="1">
        <a:defRPr sz="15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e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hyperlink" Target="https://gcc.gnu.org/onlinedocs/gcc/Optimize-Options.html" TargetMode="External"/><Relationship Id="rId2" Type="http://schemas.openxmlformats.org/officeDocument/2006/relationships/hyperlink" Target="http://tigcc.ticalc.org/doc/cpp.html" TargetMode="Externa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hyperlink" Target="http://www.sigbus.info/how-i-wrote-a-self-hosting-c-compiler-in-40-days.html" TargetMode="Externa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4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hyperlink" Target="http://www.skyfree.org/linux/references/ELF_Format.pdf" TargetMode="Externa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4.png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jpeg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jpeg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jpeg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sv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F694F1-53D4-4D25-8D15-347ECE3A3B1B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 anchor="ctr">
            <a:normAutofit/>
          </a:bodyPr>
          <a:lstStyle/>
          <a:p>
            <a:r>
              <a:rPr lang="en-US" sz="4900" b="1" dirty="0">
                <a:solidFill>
                  <a:schemeClr val="bg1"/>
                </a:solidFill>
                <a:latin typeface="Marcellus SC" panose="020E0602050203020307" pitchFamily="34" charset="0"/>
              </a:rPr>
              <a:t>How Programs</a:t>
            </a:r>
            <a:endParaRPr lang="en-US" sz="4400" b="1" dirty="0">
              <a:solidFill>
                <a:schemeClr val="bg1"/>
              </a:solidFill>
              <a:latin typeface="Marcellus SC" panose="020E0602050203020307" pitchFamily="34" charset="0"/>
            </a:endParaRPr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30339BB2-67E1-49D6-BCE0-83D58A439833}"/>
              </a:ext>
            </a:extLst>
          </p:cNvPr>
          <p:cNvSpPr txBox="1">
            <a:spLocks/>
          </p:cNvSpPr>
          <p:nvPr/>
        </p:nvSpPr>
        <p:spPr>
          <a:xfrm>
            <a:off x="108235" y="3377635"/>
            <a:ext cx="6427691" cy="672583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7500" lnSpcReduction="10000"/>
          </a:bodyPr>
          <a:lstStyle>
            <a:lvl1pPr algn="ctr" defTabSz="685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5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4400" b="1" dirty="0">
                <a:solidFill>
                  <a:schemeClr val="bg1"/>
                </a:solidFill>
                <a:latin typeface="Marcellus SC" panose="020E0602050203020307" pitchFamily="34" charset="0"/>
              </a:rPr>
              <a:t>Are Made</a:t>
            </a:r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0E3DC9A2-907A-40B2-AE7B-0ABCE81E9716}"/>
              </a:ext>
            </a:extLst>
          </p:cNvPr>
          <p:cNvSpPr/>
          <p:nvPr/>
        </p:nvSpPr>
        <p:spPr>
          <a:xfrm>
            <a:off x="7924054" y="547210"/>
            <a:ext cx="900953" cy="900953"/>
          </a:xfrm>
          <a:prstGeom prst="ellipse">
            <a:avLst/>
          </a:prstGeom>
          <a:noFill/>
          <a:ln w="57150"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b="1" dirty="0">
                <a:solidFill>
                  <a:schemeClr val="bg1">
                    <a:lumMod val="85000"/>
                  </a:schemeClr>
                </a:solidFill>
                <a:latin typeface="Segoe UI" panose="020B0502040204020203" pitchFamily="34" charset="0"/>
                <a:ea typeface="Lato Black" panose="020F0502020204030203" pitchFamily="34" charset="0"/>
                <a:cs typeface="Segoe UI" panose="020B0502040204020203" pitchFamily="34" charset="0"/>
              </a:rPr>
              <a:t>10</a:t>
            </a:r>
          </a:p>
        </p:txBody>
      </p:sp>
    </p:spTree>
    <p:extLst>
      <p:ext uri="{BB962C8B-B14F-4D97-AF65-F5344CB8AC3E}">
        <p14:creationId xmlns:p14="http://schemas.microsoft.com/office/powerpoint/2010/main" val="125014073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D1B8F34B-9879-4ED6-8262-C374882F62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Linkers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1E5C3491-9EDE-4827-9E04-6B7AAED5A1F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Filling in the blanks.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90B9094-285F-4E64-A4C1-AE1C5A8D6C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AAD609-F83C-4414-814B-B5A2DF99692C}" type="slidenum">
              <a:rPr lang="en-US" smtClean="0"/>
              <a:pPr/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2833508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8A9F95-AD36-458D-9522-A89655EDF6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Compilation: Simple Overview – Step 1</a:t>
            </a:r>
          </a:p>
        </p:txBody>
      </p:sp>
      <p:sp>
        <p:nvSpPr>
          <p:cNvPr id="20" name="Content Placeholder 2">
            <a:extLst>
              <a:ext uri="{FF2B5EF4-FFF2-40B4-BE49-F238E27FC236}">
                <a16:creationId xmlns:a16="http://schemas.microsoft.com/office/drawing/2014/main" id="{4DC874B5-F1F0-4F39-B824-A6A606227C6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12329" y="967740"/>
            <a:ext cx="6232215" cy="4518660"/>
          </a:xfrm>
        </p:spPr>
        <p:txBody>
          <a:bodyPr>
            <a:normAutofit/>
          </a:bodyPr>
          <a:lstStyle/>
          <a:p>
            <a:r>
              <a:rPr lang="en-US" dirty="0"/>
              <a:t>The compiler takes source code (</a:t>
            </a:r>
            <a:r>
              <a:rPr lang="en-US" dirty="0">
                <a:latin typeface="Inconsolata" panose="020B0609030003000000" pitchFamily="49" charset="0"/>
              </a:rPr>
              <a:t>*.c</a:t>
            </a:r>
            <a:r>
              <a:rPr lang="en-US" dirty="0"/>
              <a:t> files) and translates them into machine code.</a:t>
            </a:r>
          </a:p>
          <a:p>
            <a:endParaRPr lang="en-US" dirty="0"/>
          </a:p>
          <a:p>
            <a:r>
              <a:rPr lang="en-US" dirty="0"/>
              <a:t>This file is called an “</a:t>
            </a:r>
            <a:r>
              <a:rPr lang="en-US" i="1" dirty="0">
                <a:solidFill>
                  <a:schemeClr val="accent1"/>
                </a:solidFill>
                <a:latin typeface="Lato Black" panose="020F0502020204030203" pitchFamily="34" charset="0"/>
                <a:ea typeface="Lato Black" panose="020F0502020204030203" pitchFamily="34" charset="0"/>
                <a:cs typeface="Lato Black" panose="020F0502020204030203" pitchFamily="34" charset="0"/>
              </a:rPr>
              <a:t>object file</a:t>
            </a:r>
            <a:r>
              <a:rPr lang="en-US" dirty="0"/>
              <a:t>” and is just potentially one part of your overall project.</a:t>
            </a:r>
          </a:p>
          <a:p>
            <a:endParaRPr lang="en-US" dirty="0"/>
          </a:p>
          <a:p>
            <a:r>
              <a:rPr lang="en-US" dirty="0"/>
              <a:t>The machine code is not quite an executable.</a:t>
            </a:r>
          </a:p>
          <a:p>
            <a:pPr lvl="1"/>
            <a:r>
              <a:rPr lang="en-US" dirty="0"/>
              <a:t>This object file is JUST representing the code for that particular source file.</a:t>
            </a:r>
          </a:p>
          <a:p>
            <a:pPr lvl="1"/>
            <a:r>
              <a:rPr lang="en-US" dirty="0"/>
              <a:t>You may require extra stuff provided by the system elsewhere.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E045AC2-2BBD-4DBE-B367-03C82632A1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AAD609-F83C-4414-814B-B5A2DF99692C}" type="slidenum">
              <a:rPr lang="en-US" smtClean="0"/>
              <a:pPr/>
              <a:t>3</a:t>
            </a:fld>
            <a:endParaRPr lang="en-US" dirty="0"/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DD94508A-C70E-4600-BD11-F69C45240C94}"/>
              </a:ext>
            </a:extLst>
          </p:cNvPr>
          <p:cNvGrpSpPr/>
          <p:nvPr/>
        </p:nvGrpSpPr>
        <p:grpSpPr>
          <a:xfrm>
            <a:off x="342900" y="986116"/>
            <a:ext cx="1219200" cy="1893332"/>
            <a:chOff x="304800" y="1104900"/>
            <a:chExt cx="1219200" cy="1893332"/>
          </a:xfrm>
        </p:grpSpPr>
        <p:sp>
          <p:nvSpPr>
            <p:cNvPr id="9" name="Card 6">
              <a:extLst>
                <a:ext uri="{FF2B5EF4-FFF2-40B4-BE49-F238E27FC236}">
                  <a16:creationId xmlns:a16="http://schemas.microsoft.com/office/drawing/2014/main" id="{9457BEF4-7B0C-4ECC-BF72-553AA6700449}"/>
                </a:ext>
              </a:extLst>
            </p:cNvPr>
            <p:cNvSpPr/>
            <p:nvPr/>
          </p:nvSpPr>
          <p:spPr>
            <a:xfrm>
              <a:off x="304800" y="1104900"/>
              <a:ext cx="1219200" cy="1524000"/>
            </a:xfrm>
            <a:prstGeom prst="flowChartPunchedCard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bIns="274320" rtlCol="0" anchor="ctr"/>
            <a:lstStyle/>
            <a:p>
              <a:pPr algn="ctr" defTabSz="713232">
                <a:defRPr/>
              </a:pPr>
              <a:endParaRPr lang="en-US" sz="700" dirty="0">
                <a:solidFill>
                  <a:srgbClr val="000000"/>
                </a:solidFill>
                <a:latin typeface="Inconsolata" panose="020B0609030003000000" pitchFamily="49" charset="0"/>
                <a:ea typeface="Lato Light" panose="020F0502020204030203" pitchFamily="34" charset="0"/>
                <a:cs typeface="Lato Light" panose="020F0502020204030203" pitchFamily="34" charset="0"/>
              </a:endParaRPr>
            </a:p>
            <a:p>
              <a:pPr algn="ctr" defTabSz="713232">
                <a:defRPr/>
              </a:pPr>
              <a:r>
                <a:rPr lang="en-US" sz="700" dirty="0">
                  <a:solidFill>
                    <a:srgbClr val="000000"/>
                  </a:solidFill>
                  <a:latin typeface="Inconsolata" panose="020B0609030003000000" pitchFamily="49" charset="0"/>
                  <a:ea typeface="Lato Light" panose="020F0502020204030203" pitchFamily="34" charset="0"/>
                  <a:cs typeface="Lato Light" panose="020F0502020204030203" pitchFamily="34" charset="0"/>
                </a:rPr>
                <a:t>/\/\/\/\/\/\/\/\/\/\/\/\/\/\/\/\/\/\/\/\/\/\/\/\/\/\/\/\/\/\/\/\/\/\/\/\/\/\/\/\/\/\/\/\/\/\/\/\/\/\/\/\/\/\/\/\/\/\/\/\/\/\/\/\/\/\/\/\/\/\/\/\/\/\/\/\/\/\/\/\/\/\/\/\/\/\/\/\/\/\/\/\/\/\/\/\/\/\/\/\/\/\/\/\/\/\/\/\/\/\/\/\/\/\/\/\/\/\/\/\/\/\/\/\/\/\/</a:t>
              </a:r>
            </a:p>
          </p:txBody>
        </p:sp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BDB9E568-6D6C-4ABE-AF68-E48F4C02317E}"/>
                </a:ext>
              </a:extLst>
            </p:cNvPr>
            <p:cNvSpPr txBox="1"/>
            <p:nvPr/>
          </p:nvSpPr>
          <p:spPr>
            <a:xfrm>
              <a:off x="467001" y="2628900"/>
              <a:ext cx="894797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defTabSz="713232">
                <a:defRPr/>
              </a:pPr>
              <a:r>
                <a:rPr lang="en-US" b="1" dirty="0" err="1">
                  <a:solidFill>
                    <a:srgbClr val="000000"/>
                  </a:solidFill>
                  <a:latin typeface="Lato Black" panose="020F0502020204030203" pitchFamily="34" charset="0"/>
                  <a:ea typeface="Lato Black" panose="020F0502020204030203" pitchFamily="34" charset="0"/>
                  <a:cs typeface="Lato Black" panose="020F0502020204030203" pitchFamily="34" charset="0"/>
                </a:rPr>
                <a:t>hello.c</a:t>
              </a:r>
              <a:endParaRPr lang="en-US" b="1" dirty="0">
                <a:solidFill>
                  <a:srgbClr val="000000"/>
                </a:solidFill>
                <a:latin typeface="Lato Black" panose="020F0502020204030203" pitchFamily="34" charset="0"/>
                <a:ea typeface="Lato Black" panose="020F0502020204030203" pitchFamily="34" charset="0"/>
                <a:cs typeface="Lato Black" panose="020F0502020204030203" pitchFamily="34" charset="0"/>
              </a:endParaRPr>
            </a:p>
          </p:txBody>
        </p:sp>
      </p:grpSp>
      <p:grpSp>
        <p:nvGrpSpPr>
          <p:cNvPr id="11" name="Group 10">
            <a:extLst>
              <a:ext uri="{FF2B5EF4-FFF2-40B4-BE49-F238E27FC236}">
                <a16:creationId xmlns:a16="http://schemas.microsoft.com/office/drawing/2014/main" id="{205CC648-FE79-47FD-8B81-B05F4B72E47C}"/>
              </a:ext>
            </a:extLst>
          </p:cNvPr>
          <p:cNvGrpSpPr/>
          <p:nvPr/>
        </p:nvGrpSpPr>
        <p:grpSpPr>
          <a:xfrm flipV="1">
            <a:off x="1475530" y="2439089"/>
            <a:ext cx="1063517" cy="1026848"/>
            <a:chOff x="1837928" y="1030692"/>
            <a:chExt cx="1063517" cy="1029620"/>
          </a:xfrm>
        </p:grpSpPr>
        <p:sp>
          <p:nvSpPr>
            <p:cNvPr id="12" name="Bent Arrow 11">
              <a:extLst>
                <a:ext uri="{FF2B5EF4-FFF2-40B4-BE49-F238E27FC236}">
                  <a16:creationId xmlns:a16="http://schemas.microsoft.com/office/drawing/2014/main" id="{4C4791CE-044C-4FA8-96D4-B9FDB7900C43}"/>
                </a:ext>
              </a:extLst>
            </p:cNvPr>
            <p:cNvSpPr/>
            <p:nvPr/>
          </p:nvSpPr>
          <p:spPr>
            <a:xfrm rot="2902855">
              <a:off x="1771189" y="1097431"/>
              <a:ext cx="1029620" cy="896141"/>
            </a:xfrm>
            <a:prstGeom prst="bentArrow">
              <a:avLst>
                <a:gd name="adj1" fmla="val 25000"/>
                <a:gd name="adj2" fmla="val 25000"/>
                <a:gd name="adj3" fmla="val 25000"/>
                <a:gd name="adj4" fmla="val 87500"/>
              </a:avLst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713232">
                <a:defRPr/>
              </a:pPr>
              <a:endParaRPr lang="en-US" sz="1404" dirty="0">
                <a:solidFill>
                  <a:srgbClr val="000000"/>
                </a:solidFill>
                <a:latin typeface="Segoe UI"/>
              </a:endParaRPr>
            </a:p>
          </p:txBody>
        </p: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F4BC3ECD-ECAA-4EB8-A534-59F4FCD2DBDD}"/>
                </a:ext>
              </a:extLst>
            </p:cNvPr>
            <p:cNvSpPr txBox="1"/>
            <p:nvPr/>
          </p:nvSpPr>
          <p:spPr>
            <a:xfrm rot="13362312">
              <a:off x="2202215" y="1412181"/>
              <a:ext cx="699230" cy="27774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defTabSz="713232">
                <a:defRPr/>
              </a:pPr>
              <a:r>
                <a:rPr lang="en-US" sz="1200" dirty="0">
                  <a:solidFill>
                    <a:srgbClr val="FFFFFF"/>
                  </a:solidFill>
                  <a:latin typeface="Lato Light" panose="020F0502020204030203" pitchFamily="34" charset="0"/>
                  <a:ea typeface="Lato Light" panose="020F0502020204030203" pitchFamily="34" charset="0"/>
                  <a:cs typeface="Lato Light" panose="020F0502020204030203" pitchFamily="34" charset="0"/>
                </a:rPr>
                <a:t>compile</a:t>
              </a:r>
              <a:endParaRPr lang="en-US" sz="1100" dirty="0">
                <a:solidFill>
                  <a:srgbClr val="FFFFFF"/>
                </a:solidFill>
                <a:latin typeface="Lato Light" panose="020F0502020204030203" pitchFamily="34" charset="0"/>
                <a:ea typeface="Lato Light" panose="020F0502020204030203" pitchFamily="34" charset="0"/>
                <a:cs typeface="Lato Light" panose="020F0502020204030203" pitchFamily="34" charset="0"/>
              </a:endParaRPr>
            </a:p>
          </p:txBody>
        </p:sp>
      </p:grpSp>
      <p:grpSp>
        <p:nvGrpSpPr>
          <p:cNvPr id="17" name="Group 16">
            <a:extLst>
              <a:ext uri="{FF2B5EF4-FFF2-40B4-BE49-F238E27FC236}">
                <a16:creationId xmlns:a16="http://schemas.microsoft.com/office/drawing/2014/main" id="{6B85C865-099A-42B5-B228-A77F189E1AB5}"/>
              </a:ext>
            </a:extLst>
          </p:cNvPr>
          <p:cNvGrpSpPr/>
          <p:nvPr/>
        </p:nvGrpSpPr>
        <p:grpSpPr>
          <a:xfrm>
            <a:off x="2430928" y="986116"/>
            <a:ext cx="1219200" cy="1893332"/>
            <a:chOff x="304800" y="1104900"/>
            <a:chExt cx="1219200" cy="1893332"/>
          </a:xfrm>
        </p:grpSpPr>
        <p:sp>
          <p:nvSpPr>
            <p:cNvPr id="18" name="Card 6">
              <a:extLst>
                <a:ext uri="{FF2B5EF4-FFF2-40B4-BE49-F238E27FC236}">
                  <a16:creationId xmlns:a16="http://schemas.microsoft.com/office/drawing/2014/main" id="{F32DCA46-3BF9-404C-A9EA-1B3CFC1967A6}"/>
                </a:ext>
              </a:extLst>
            </p:cNvPr>
            <p:cNvSpPr/>
            <p:nvPr/>
          </p:nvSpPr>
          <p:spPr>
            <a:xfrm>
              <a:off x="304800" y="1104900"/>
              <a:ext cx="1219200" cy="1524000"/>
            </a:xfrm>
            <a:prstGeom prst="flowChartPunchedCard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bIns="274320" rtlCol="0" anchor="ctr"/>
            <a:lstStyle/>
            <a:p>
              <a:pPr algn="ctr" defTabSz="713232">
                <a:defRPr/>
              </a:pPr>
              <a:endParaRPr lang="en-US" sz="700" dirty="0">
                <a:solidFill>
                  <a:srgbClr val="000000"/>
                </a:solidFill>
                <a:latin typeface="Inconsolata" panose="020B0609030003000000" pitchFamily="49" charset="0"/>
                <a:ea typeface="Lato Light" panose="020F0502020204030203" pitchFamily="34" charset="0"/>
                <a:cs typeface="Lato Light" panose="020F0502020204030203" pitchFamily="34" charset="0"/>
              </a:endParaRPr>
            </a:p>
            <a:p>
              <a:pPr algn="ctr" defTabSz="713232">
                <a:defRPr/>
              </a:pPr>
              <a:r>
                <a:rPr lang="en-US" sz="700" dirty="0">
                  <a:solidFill>
                    <a:srgbClr val="000000"/>
                  </a:solidFill>
                  <a:latin typeface="Inconsolata" panose="020B0609030003000000" pitchFamily="49" charset="0"/>
                  <a:ea typeface="Lato Light" panose="020F0502020204030203" pitchFamily="34" charset="0"/>
                  <a:cs typeface="Lato Light" panose="020F0502020204030203" pitchFamily="34" charset="0"/>
                </a:rPr>
                <a:t>01010101010001010010010100101001010010010010100101011010100101010111010101111110100101010010101000101001010100100101001011010100101100101010010101001010010101000101010010101001010001010101110101010100111010011101001000101011101010</a:t>
              </a:r>
            </a:p>
          </p:txBody>
        </p:sp>
        <p:sp>
          <p:nvSpPr>
            <p:cNvPr id="19" name="TextBox 18">
              <a:extLst>
                <a:ext uri="{FF2B5EF4-FFF2-40B4-BE49-F238E27FC236}">
                  <a16:creationId xmlns:a16="http://schemas.microsoft.com/office/drawing/2014/main" id="{3E460958-3282-45A4-B77A-5014DD16EBF8}"/>
                </a:ext>
              </a:extLst>
            </p:cNvPr>
            <p:cNvSpPr txBox="1"/>
            <p:nvPr/>
          </p:nvSpPr>
          <p:spPr>
            <a:xfrm>
              <a:off x="467001" y="2628900"/>
              <a:ext cx="883575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defTabSz="713232">
                <a:defRPr/>
              </a:pPr>
              <a:r>
                <a:rPr lang="en-US" b="1" dirty="0" err="1">
                  <a:solidFill>
                    <a:srgbClr val="000000"/>
                  </a:solidFill>
                  <a:latin typeface="Lato Black" panose="020F0502020204030203" pitchFamily="34" charset="0"/>
                  <a:ea typeface="Lato Black" panose="020F0502020204030203" pitchFamily="34" charset="0"/>
                  <a:cs typeface="Lato Black" panose="020F0502020204030203" pitchFamily="34" charset="0"/>
                </a:rPr>
                <a:t>hello.o</a:t>
              </a:r>
              <a:endParaRPr lang="en-US" b="1" dirty="0">
                <a:solidFill>
                  <a:srgbClr val="000000"/>
                </a:solidFill>
                <a:latin typeface="Lato Black" panose="020F0502020204030203" pitchFamily="34" charset="0"/>
                <a:ea typeface="Lato Black" panose="020F0502020204030203" pitchFamily="34" charset="0"/>
                <a:cs typeface="Lato Black" panose="020F0502020204030203" pitchFamily="34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82932310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8A9F95-AD36-458D-9522-A89655EDF6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Compilation: Simple Overview – Step 2</a:t>
            </a:r>
          </a:p>
        </p:txBody>
      </p:sp>
      <p:sp>
        <p:nvSpPr>
          <p:cNvPr id="20" name="Content Placeholder 2">
            <a:extLst>
              <a:ext uri="{FF2B5EF4-FFF2-40B4-BE49-F238E27FC236}">
                <a16:creationId xmlns:a16="http://schemas.microsoft.com/office/drawing/2014/main" id="{4DC874B5-F1F0-4F39-B824-A6A606227C6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12331" y="967740"/>
            <a:ext cx="6347669" cy="4518660"/>
          </a:xfrm>
        </p:spPr>
        <p:txBody>
          <a:bodyPr>
            <a:normAutofit/>
          </a:bodyPr>
          <a:lstStyle/>
          <a:p>
            <a:r>
              <a:rPr lang="en-US" dirty="0"/>
              <a:t>You may have multiple files.</a:t>
            </a:r>
          </a:p>
          <a:p>
            <a:r>
              <a:rPr lang="en-US" dirty="0"/>
              <a:t>They may reference each other.</a:t>
            </a:r>
          </a:p>
          <a:p>
            <a:pPr lvl="1"/>
            <a:r>
              <a:rPr lang="en-US" dirty="0"/>
              <a:t>For instance, one file may contain certain common functionality and then this is invoked by your program elsewhere.</a:t>
            </a:r>
          </a:p>
          <a:p>
            <a:pPr lvl="1"/>
            <a:endParaRPr lang="en-US" dirty="0"/>
          </a:p>
          <a:p>
            <a:r>
              <a:rPr lang="en-US" dirty="0"/>
              <a:t>You break your project up into pieces similarly to your Java programs.</a:t>
            </a:r>
          </a:p>
          <a:p>
            <a:endParaRPr lang="en-US" dirty="0"/>
          </a:p>
          <a:p>
            <a:r>
              <a:rPr lang="en-US" dirty="0"/>
              <a:t>The compiler treats them independently.</a:t>
            </a:r>
          </a:p>
          <a:p>
            <a:pPr lvl="1"/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E045AC2-2BBD-4DBE-B367-03C82632A1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AAD609-F83C-4414-814B-B5A2DF99692C}" type="slidenum">
              <a:rPr lang="en-US" smtClean="0"/>
              <a:pPr/>
              <a:t>4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EDB7D77-1D21-4A1E-B21B-7F70B7C77F46}"/>
              </a:ext>
            </a:extLst>
          </p:cNvPr>
          <p:cNvSpPr>
            <a:spLocks noGrp="1"/>
          </p:cNvSpPr>
          <p:nvPr>
            <p:ph type="ftr" sz="quarter" idx="4294967295"/>
          </p:nvPr>
        </p:nvSpPr>
        <p:spPr>
          <a:xfrm>
            <a:off x="-469900" y="5255299"/>
            <a:ext cx="3086100" cy="304800"/>
          </a:xfrm>
        </p:spPr>
        <p:txBody>
          <a:bodyPr/>
          <a:lstStyle/>
          <a:p>
            <a:r>
              <a:rPr lang="en-US" dirty="0">
                <a:solidFill>
                  <a:schemeClr val="bg1">
                    <a:lumMod val="95000"/>
                  </a:schemeClr>
                </a:solidFill>
              </a:rPr>
              <a:t>CS/COE 0449 – Spring 2019/2020</a:t>
            </a:r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DD94508A-C70E-4600-BD11-F69C45240C94}"/>
              </a:ext>
            </a:extLst>
          </p:cNvPr>
          <p:cNvGrpSpPr/>
          <p:nvPr/>
        </p:nvGrpSpPr>
        <p:grpSpPr>
          <a:xfrm>
            <a:off x="342900" y="967740"/>
            <a:ext cx="1219200" cy="1893332"/>
            <a:chOff x="304800" y="1104900"/>
            <a:chExt cx="1219200" cy="1893332"/>
          </a:xfrm>
        </p:grpSpPr>
        <p:sp>
          <p:nvSpPr>
            <p:cNvPr id="9" name="Card 6">
              <a:extLst>
                <a:ext uri="{FF2B5EF4-FFF2-40B4-BE49-F238E27FC236}">
                  <a16:creationId xmlns:a16="http://schemas.microsoft.com/office/drawing/2014/main" id="{9457BEF4-7B0C-4ECC-BF72-553AA6700449}"/>
                </a:ext>
              </a:extLst>
            </p:cNvPr>
            <p:cNvSpPr/>
            <p:nvPr/>
          </p:nvSpPr>
          <p:spPr>
            <a:xfrm>
              <a:off x="304800" y="1104900"/>
              <a:ext cx="1219200" cy="1524000"/>
            </a:xfrm>
            <a:prstGeom prst="flowChartPunchedCard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bIns="274320" rtlCol="0" anchor="ctr"/>
            <a:lstStyle/>
            <a:p>
              <a:pPr algn="ctr" defTabSz="713232">
                <a:defRPr/>
              </a:pPr>
              <a:endParaRPr lang="en-US" sz="700" dirty="0">
                <a:solidFill>
                  <a:srgbClr val="000000"/>
                </a:solidFill>
                <a:latin typeface="Inconsolata" panose="020B0609030003000000" pitchFamily="49" charset="0"/>
                <a:ea typeface="Lato Light" panose="020F0502020204030203" pitchFamily="34" charset="0"/>
                <a:cs typeface="Lato Light" panose="020F0502020204030203" pitchFamily="34" charset="0"/>
              </a:endParaRPr>
            </a:p>
            <a:p>
              <a:pPr algn="ctr" defTabSz="713232">
                <a:defRPr/>
              </a:pPr>
              <a:r>
                <a:rPr lang="en-US" sz="700" dirty="0">
                  <a:solidFill>
                    <a:srgbClr val="000000"/>
                  </a:solidFill>
                  <a:latin typeface="Inconsolata" panose="020B0609030003000000" pitchFamily="49" charset="0"/>
                  <a:ea typeface="Lato Light" panose="020F0502020204030203" pitchFamily="34" charset="0"/>
                  <a:cs typeface="Lato Light" panose="020F0502020204030203" pitchFamily="34" charset="0"/>
                </a:rPr>
                <a:t>/\/\/\/\/\/\/\/\/\/\/\/\/\/\/\/\/\/\/\/\/\/\/\/\/\/\/\/\/\/\/\/\/\/\/\/\/\/\/\/\/\/\/\/\/\/\/\/\/\/\/\/\/\/\/\/\/\/\/\/\/\/\/\/\/\/\/\/\/\/\/\/\/\/\/\/\/\/\/\/\/\/\/\/\/\/\/\/\/\/\/\/\/\/\/\/\/\/\/\/\/\/\/\/\/\/\/\/\/\/\/\/\/\/\/\/\/\/\/\/\/\/\/\/\/\/\/</a:t>
              </a:r>
            </a:p>
          </p:txBody>
        </p:sp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BDB9E568-6D6C-4ABE-AF68-E48F4C02317E}"/>
                </a:ext>
              </a:extLst>
            </p:cNvPr>
            <p:cNvSpPr txBox="1"/>
            <p:nvPr/>
          </p:nvSpPr>
          <p:spPr>
            <a:xfrm>
              <a:off x="467001" y="2628900"/>
              <a:ext cx="894797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defTabSz="713232">
                <a:defRPr/>
              </a:pPr>
              <a:r>
                <a:rPr lang="en-US" b="1" dirty="0" err="1">
                  <a:solidFill>
                    <a:srgbClr val="000000"/>
                  </a:solidFill>
                  <a:latin typeface="Lato Black" panose="020F0502020204030203" pitchFamily="34" charset="0"/>
                  <a:ea typeface="Lato Black" panose="020F0502020204030203" pitchFamily="34" charset="0"/>
                  <a:cs typeface="Lato Black" panose="020F0502020204030203" pitchFamily="34" charset="0"/>
                </a:rPr>
                <a:t>hello.c</a:t>
              </a:r>
              <a:endParaRPr lang="en-US" b="1" dirty="0">
                <a:solidFill>
                  <a:srgbClr val="000000"/>
                </a:solidFill>
                <a:latin typeface="Lato Black" panose="020F0502020204030203" pitchFamily="34" charset="0"/>
                <a:ea typeface="Lato Black" panose="020F0502020204030203" pitchFamily="34" charset="0"/>
                <a:cs typeface="Lato Black" panose="020F0502020204030203" pitchFamily="34" charset="0"/>
              </a:endParaRPr>
            </a:p>
          </p:txBody>
        </p:sp>
      </p:grpSp>
      <p:grpSp>
        <p:nvGrpSpPr>
          <p:cNvPr id="11" name="Group 10">
            <a:extLst>
              <a:ext uri="{FF2B5EF4-FFF2-40B4-BE49-F238E27FC236}">
                <a16:creationId xmlns:a16="http://schemas.microsoft.com/office/drawing/2014/main" id="{205CC648-FE79-47FD-8B81-B05F4B72E47C}"/>
              </a:ext>
            </a:extLst>
          </p:cNvPr>
          <p:cNvGrpSpPr/>
          <p:nvPr/>
        </p:nvGrpSpPr>
        <p:grpSpPr>
          <a:xfrm flipV="1">
            <a:off x="1475532" y="2420713"/>
            <a:ext cx="1063517" cy="1026848"/>
            <a:chOff x="1837928" y="1030692"/>
            <a:chExt cx="1063517" cy="1029620"/>
          </a:xfrm>
        </p:grpSpPr>
        <p:sp>
          <p:nvSpPr>
            <p:cNvPr id="12" name="Bent Arrow 11">
              <a:extLst>
                <a:ext uri="{FF2B5EF4-FFF2-40B4-BE49-F238E27FC236}">
                  <a16:creationId xmlns:a16="http://schemas.microsoft.com/office/drawing/2014/main" id="{4C4791CE-044C-4FA8-96D4-B9FDB7900C43}"/>
                </a:ext>
              </a:extLst>
            </p:cNvPr>
            <p:cNvSpPr/>
            <p:nvPr/>
          </p:nvSpPr>
          <p:spPr>
            <a:xfrm rot="2902855">
              <a:off x="1771189" y="1097431"/>
              <a:ext cx="1029620" cy="896141"/>
            </a:xfrm>
            <a:prstGeom prst="bentArrow">
              <a:avLst>
                <a:gd name="adj1" fmla="val 25000"/>
                <a:gd name="adj2" fmla="val 25000"/>
                <a:gd name="adj3" fmla="val 25000"/>
                <a:gd name="adj4" fmla="val 87500"/>
              </a:avLst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713232">
                <a:defRPr/>
              </a:pPr>
              <a:endParaRPr lang="en-US" sz="1404" dirty="0">
                <a:solidFill>
                  <a:srgbClr val="000000"/>
                </a:solidFill>
                <a:latin typeface="Segoe UI"/>
              </a:endParaRPr>
            </a:p>
          </p:txBody>
        </p: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F4BC3ECD-ECAA-4EB8-A534-59F4FCD2DBDD}"/>
                </a:ext>
              </a:extLst>
            </p:cNvPr>
            <p:cNvSpPr txBox="1"/>
            <p:nvPr/>
          </p:nvSpPr>
          <p:spPr>
            <a:xfrm rot="13362312">
              <a:off x="2202215" y="1412181"/>
              <a:ext cx="699230" cy="27774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defTabSz="713232">
                <a:defRPr/>
              </a:pPr>
              <a:r>
                <a:rPr lang="en-US" sz="1200" dirty="0">
                  <a:solidFill>
                    <a:srgbClr val="FFFFFF"/>
                  </a:solidFill>
                  <a:latin typeface="Lato Light" panose="020F0502020204030203" pitchFamily="34" charset="0"/>
                  <a:ea typeface="Lato Light" panose="020F0502020204030203" pitchFamily="34" charset="0"/>
                  <a:cs typeface="Lato Light" panose="020F0502020204030203" pitchFamily="34" charset="0"/>
                </a:rPr>
                <a:t>compile</a:t>
              </a:r>
              <a:endParaRPr lang="en-US" sz="1100" dirty="0">
                <a:solidFill>
                  <a:srgbClr val="FFFFFF"/>
                </a:solidFill>
                <a:latin typeface="Lato Light" panose="020F0502020204030203" pitchFamily="34" charset="0"/>
                <a:ea typeface="Lato Light" panose="020F0502020204030203" pitchFamily="34" charset="0"/>
                <a:cs typeface="Lato Light" panose="020F0502020204030203" pitchFamily="34" charset="0"/>
              </a:endParaRPr>
            </a:p>
          </p:txBody>
        </p:sp>
      </p:grpSp>
      <p:grpSp>
        <p:nvGrpSpPr>
          <p:cNvPr id="17" name="Group 16">
            <a:extLst>
              <a:ext uri="{FF2B5EF4-FFF2-40B4-BE49-F238E27FC236}">
                <a16:creationId xmlns:a16="http://schemas.microsoft.com/office/drawing/2014/main" id="{6B85C865-099A-42B5-B228-A77F189E1AB5}"/>
              </a:ext>
            </a:extLst>
          </p:cNvPr>
          <p:cNvGrpSpPr/>
          <p:nvPr/>
        </p:nvGrpSpPr>
        <p:grpSpPr>
          <a:xfrm>
            <a:off x="2430930" y="967740"/>
            <a:ext cx="1219200" cy="1893332"/>
            <a:chOff x="304800" y="1104900"/>
            <a:chExt cx="1219200" cy="1893332"/>
          </a:xfrm>
        </p:grpSpPr>
        <p:sp>
          <p:nvSpPr>
            <p:cNvPr id="18" name="Card 6">
              <a:extLst>
                <a:ext uri="{FF2B5EF4-FFF2-40B4-BE49-F238E27FC236}">
                  <a16:creationId xmlns:a16="http://schemas.microsoft.com/office/drawing/2014/main" id="{F32DCA46-3BF9-404C-A9EA-1B3CFC1967A6}"/>
                </a:ext>
              </a:extLst>
            </p:cNvPr>
            <p:cNvSpPr/>
            <p:nvPr/>
          </p:nvSpPr>
          <p:spPr>
            <a:xfrm>
              <a:off x="304800" y="1104900"/>
              <a:ext cx="1219200" cy="1524000"/>
            </a:xfrm>
            <a:prstGeom prst="flowChartPunchedCard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bIns="274320" rtlCol="0" anchor="ctr"/>
            <a:lstStyle/>
            <a:p>
              <a:pPr algn="ctr" defTabSz="713232">
                <a:defRPr/>
              </a:pPr>
              <a:endParaRPr lang="en-US" sz="700" dirty="0">
                <a:solidFill>
                  <a:srgbClr val="000000"/>
                </a:solidFill>
                <a:latin typeface="Inconsolata" panose="020B0609030003000000" pitchFamily="49" charset="0"/>
                <a:ea typeface="Lato Light" panose="020F0502020204030203" pitchFamily="34" charset="0"/>
                <a:cs typeface="Lato Light" panose="020F0502020204030203" pitchFamily="34" charset="0"/>
              </a:endParaRPr>
            </a:p>
            <a:p>
              <a:pPr algn="ctr" defTabSz="713232">
                <a:defRPr/>
              </a:pPr>
              <a:r>
                <a:rPr lang="en-US" sz="700" dirty="0">
                  <a:solidFill>
                    <a:srgbClr val="000000"/>
                  </a:solidFill>
                  <a:latin typeface="Inconsolata" panose="020B0609030003000000" pitchFamily="49" charset="0"/>
                  <a:ea typeface="Lato Light" panose="020F0502020204030203" pitchFamily="34" charset="0"/>
                  <a:cs typeface="Lato Light" panose="020F0502020204030203" pitchFamily="34" charset="0"/>
                </a:rPr>
                <a:t>01010101010001010010010100101001010010010010100101011010100101010111010101111110100101010010101000101001010100100101001011010100101100101010010101001010010101000101010010101001010001010101110101010100111010011101001000101011101010</a:t>
              </a:r>
            </a:p>
          </p:txBody>
        </p:sp>
        <p:sp>
          <p:nvSpPr>
            <p:cNvPr id="19" name="TextBox 18">
              <a:extLst>
                <a:ext uri="{FF2B5EF4-FFF2-40B4-BE49-F238E27FC236}">
                  <a16:creationId xmlns:a16="http://schemas.microsoft.com/office/drawing/2014/main" id="{3E460958-3282-45A4-B77A-5014DD16EBF8}"/>
                </a:ext>
              </a:extLst>
            </p:cNvPr>
            <p:cNvSpPr txBox="1"/>
            <p:nvPr/>
          </p:nvSpPr>
          <p:spPr>
            <a:xfrm>
              <a:off x="467001" y="2628900"/>
              <a:ext cx="883575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defTabSz="713232">
                <a:defRPr/>
              </a:pPr>
              <a:r>
                <a:rPr lang="en-US" b="1" dirty="0" err="1">
                  <a:solidFill>
                    <a:srgbClr val="000000"/>
                  </a:solidFill>
                  <a:latin typeface="Lato Black" panose="020F0502020204030203" pitchFamily="34" charset="0"/>
                  <a:ea typeface="Lato Black" panose="020F0502020204030203" pitchFamily="34" charset="0"/>
                  <a:cs typeface="Lato Black" panose="020F0502020204030203" pitchFamily="34" charset="0"/>
                </a:rPr>
                <a:t>hello.o</a:t>
              </a:r>
              <a:endParaRPr lang="en-US" b="1" dirty="0">
                <a:solidFill>
                  <a:srgbClr val="000000"/>
                </a:solidFill>
                <a:latin typeface="Lato Black" panose="020F0502020204030203" pitchFamily="34" charset="0"/>
                <a:ea typeface="Lato Black" panose="020F0502020204030203" pitchFamily="34" charset="0"/>
                <a:cs typeface="Lato Black" panose="020F0502020204030203" pitchFamily="34" charset="0"/>
              </a:endParaRPr>
            </a:p>
          </p:txBody>
        </p:sp>
      </p:grpSp>
      <p:grpSp>
        <p:nvGrpSpPr>
          <p:cNvPr id="28" name="Group 27">
            <a:extLst>
              <a:ext uri="{FF2B5EF4-FFF2-40B4-BE49-F238E27FC236}">
                <a16:creationId xmlns:a16="http://schemas.microsoft.com/office/drawing/2014/main" id="{20538E65-AB05-4857-8767-0971B9197A79}"/>
              </a:ext>
            </a:extLst>
          </p:cNvPr>
          <p:cNvGrpSpPr/>
          <p:nvPr/>
        </p:nvGrpSpPr>
        <p:grpSpPr>
          <a:xfrm>
            <a:off x="342900" y="3362550"/>
            <a:ext cx="1219200" cy="1893332"/>
            <a:chOff x="304800" y="1104900"/>
            <a:chExt cx="1219200" cy="1893332"/>
          </a:xfrm>
        </p:grpSpPr>
        <p:sp>
          <p:nvSpPr>
            <p:cNvPr id="29" name="Card 6">
              <a:extLst>
                <a:ext uri="{FF2B5EF4-FFF2-40B4-BE49-F238E27FC236}">
                  <a16:creationId xmlns:a16="http://schemas.microsoft.com/office/drawing/2014/main" id="{8A5F265B-76AD-438D-B234-CBC830D1316E}"/>
                </a:ext>
              </a:extLst>
            </p:cNvPr>
            <p:cNvSpPr/>
            <p:nvPr/>
          </p:nvSpPr>
          <p:spPr>
            <a:xfrm>
              <a:off x="304800" y="1104900"/>
              <a:ext cx="1219200" cy="1524000"/>
            </a:xfrm>
            <a:prstGeom prst="flowChartPunchedCard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bIns="274320" rtlCol="0" anchor="ctr"/>
            <a:lstStyle/>
            <a:p>
              <a:pPr algn="ctr" defTabSz="713232">
                <a:defRPr/>
              </a:pPr>
              <a:endParaRPr lang="en-US" sz="700" dirty="0">
                <a:solidFill>
                  <a:srgbClr val="000000"/>
                </a:solidFill>
                <a:latin typeface="Inconsolata" panose="020B0609030003000000" pitchFamily="49" charset="0"/>
                <a:ea typeface="Lato Light" panose="020F0502020204030203" pitchFamily="34" charset="0"/>
                <a:cs typeface="Lato Light" panose="020F0502020204030203" pitchFamily="34" charset="0"/>
              </a:endParaRPr>
            </a:p>
            <a:p>
              <a:pPr algn="ctr" defTabSz="713232">
                <a:defRPr/>
              </a:pPr>
              <a:r>
                <a:rPr lang="en-US" sz="700" dirty="0">
                  <a:solidFill>
                    <a:srgbClr val="000000"/>
                  </a:solidFill>
                  <a:latin typeface="Inconsolata" panose="020B0609030003000000" pitchFamily="49" charset="0"/>
                  <a:ea typeface="Lato Light" panose="020F0502020204030203" pitchFamily="34" charset="0"/>
                  <a:cs typeface="Lato Light" panose="020F0502020204030203" pitchFamily="34" charset="0"/>
                </a:rPr>
                <a:t>/\/\/\/\/\/\/\/\/\/\/\/\/\/\/\/\/\/\/\/\/\/\/\/\/\/\/\/\/\/\/\/\/\/\/\/\/\/\/\/\/\/\/\/\/\/\/\/\/\/\/\/\/\/\/\/\/\/\/\/\/\/\/\/\/\/\/\/\/\/\/\/\/\/\/\/\/\/\/\/\/\/\/\/\/\/\/\/\/\/\/\/\/\/\/\/\/\/\/\/\/\/\/\/\/\/\/\/\/\/\/\/\/\/\/\/\/\/\/\/\/\/\/\/\/\/\/</a:t>
              </a:r>
            </a:p>
          </p:txBody>
        </p:sp>
        <p:sp>
          <p:nvSpPr>
            <p:cNvPr id="30" name="TextBox 29">
              <a:extLst>
                <a:ext uri="{FF2B5EF4-FFF2-40B4-BE49-F238E27FC236}">
                  <a16:creationId xmlns:a16="http://schemas.microsoft.com/office/drawing/2014/main" id="{A9D21B70-5BE6-440E-9790-17E240A69261}"/>
                </a:ext>
              </a:extLst>
            </p:cNvPr>
            <p:cNvSpPr txBox="1"/>
            <p:nvPr/>
          </p:nvSpPr>
          <p:spPr>
            <a:xfrm>
              <a:off x="554409" y="2628900"/>
              <a:ext cx="691215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defTabSz="713232">
                <a:defRPr/>
              </a:pPr>
              <a:r>
                <a:rPr lang="en-US" b="1" dirty="0" err="1">
                  <a:solidFill>
                    <a:srgbClr val="000000"/>
                  </a:solidFill>
                  <a:latin typeface="Lato Black" panose="020F0502020204030203" pitchFamily="34" charset="0"/>
                  <a:ea typeface="Lato Black" panose="020F0502020204030203" pitchFamily="34" charset="0"/>
                  <a:cs typeface="Lato Black" panose="020F0502020204030203" pitchFamily="34" charset="0"/>
                </a:rPr>
                <a:t>util.c</a:t>
              </a:r>
              <a:endParaRPr lang="en-US" b="1" dirty="0">
                <a:solidFill>
                  <a:srgbClr val="000000"/>
                </a:solidFill>
                <a:latin typeface="Lato Black" panose="020F0502020204030203" pitchFamily="34" charset="0"/>
                <a:ea typeface="Lato Black" panose="020F0502020204030203" pitchFamily="34" charset="0"/>
                <a:cs typeface="Lato Black" panose="020F0502020204030203" pitchFamily="34" charset="0"/>
              </a:endParaRPr>
            </a:p>
          </p:txBody>
        </p:sp>
      </p:grpSp>
      <p:grpSp>
        <p:nvGrpSpPr>
          <p:cNvPr id="31" name="Group 30">
            <a:extLst>
              <a:ext uri="{FF2B5EF4-FFF2-40B4-BE49-F238E27FC236}">
                <a16:creationId xmlns:a16="http://schemas.microsoft.com/office/drawing/2014/main" id="{A2605B91-87ED-4FAA-9106-515F6AA1573B}"/>
              </a:ext>
            </a:extLst>
          </p:cNvPr>
          <p:cNvGrpSpPr/>
          <p:nvPr/>
        </p:nvGrpSpPr>
        <p:grpSpPr>
          <a:xfrm flipV="1">
            <a:off x="1448636" y="4815523"/>
            <a:ext cx="1063517" cy="1026848"/>
            <a:chOff x="1837928" y="1030692"/>
            <a:chExt cx="1063517" cy="1029620"/>
          </a:xfrm>
        </p:grpSpPr>
        <p:sp>
          <p:nvSpPr>
            <p:cNvPr id="32" name="Bent Arrow 11">
              <a:extLst>
                <a:ext uri="{FF2B5EF4-FFF2-40B4-BE49-F238E27FC236}">
                  <a16:creationId xmlns:a16="http://schemas.microsoft.com/office/drawing/2014/main" id="{8EE8924D-9F28-4367-9328-124417B12176}"/>
                </a:ext>
              </a:extLst>
            </p:cNvPr>
            <p:cNvSpPr/>
            <p:nvPr/>
          </p:nvSpPr>
          <p:spPr>
            <a:xfrm rot="2902855">
              <a:off x="1771189" y="1097431"/>
              <a:ext cx="1029620" cy="896141"/>
            </a:xfrm>
            <a:prstGeom prst="bentArrow">
              <a:avLst>
                <a:gd name="adj1" fmla="val 25000"/>
                <a:gd name="adj2" fmla="val 25000"/>
                <a:gd name="adj3" fmla="val 25000"/>
                <a:gd name="adj4" fmla="val 87500"/>
              </a:avLst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713232">
                <a:defRPr/>
              </a:pPr>
              <a:endParaRPr lang="en-US" sz="1404" dirty="0">
                <a:solidFill>
                  <a:srgbClr val="000000"/>
                </a:solidFill>
                <a:latin typeface="Segoe UI"/>
              </a:endParaRPr>
            </a:p>
          </p:txBody>
        </p:sp>
        <p:sp>
          <p:nvSpPr>
            <p:cNvPr id="33" name="TextBox 32">
              <a:extLst>
                <a:ext uri="{FF2B5EF4-FFF2-40B4-BE49-F238E27FC236}">
                  <a16:creationId xmlns:a16="http://schemas.microsoft.com/office/drawing/2014/main" id="{1CA8DDAD-7B16-46D5-B09E-BAA433BAB039}"/>
                </a:ext>
              </a:extLst>
            </p:cNvPr>
            <p:cNvSpPr txBox="1"/>
            <p:nvPr/>
          </p:nvSpPr>
          <p:spPr>
            <a:xfrm rot="13362312">
              <a:off x="2202215" y="1412181"/>
              <a:ext cx="699230" cy="27774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defTabSz="713232">
                <a:defRPr/>
              </a:pPr>
              <a:r>
                <a:rPr lang="en-US" sz="1200" dirty="0">
                  <a:solidFill>
                    <a:srgbClr val="FFFFFF"/>
                  </a:solidFill>
                  <a:latin typeface="Lato Light" panose="020F0502020204030203" pitchFamily="34" charset="0"/>
                  <a:ea typeface="Lato Light" panose="020F0502020204030203" pitchFamily="34" charset="0"/>
                  <a:cs typeface="Lato Light" panose="020F0502020204030203" pitchFamily="34" charset="0"/>
                </a:rPr>
                <a:t>compile</a:t>
              </a:r>
              <a:endParaRPr lang="en-US" sz="1100" dirty="0">
                <a:solidFill>
                  <a:srgbClr val="FFFFFF"/>
                </a:solidFill>
                <a:latin typeface="Lato Light" panose="020F0502020204030203" pitchFamily="34" charset="0"/>
                <a:ea typeface="Lato Light" panose="020F0502020204030203" pitchFamily="34" charset="0"/>
                <a:cs typeface="Lato Light" panose="020F0502020204030203" pitchFamily="34" charset="0"/>
              </a:endParaRPr>
            </a:p>
          </p:txBody>
        </p:sp>
      </p:grpSp>
      <p:grpSp>
        <p:nvGrpSpPr>
          <p:cNvPr id="34" name="Group 33">
            <a:extLst>
              <a:ext uri="{FF2B5EF4-FFF2-40B4-BE49-F238E27FC236}">
                <a16:creationId xmlns:a16="http://schemas.microsoft.com/office/drawing/2014/main" id="{04C6ADDF-19B0-4157-A3A7-82F530F33227}"/>
              </a:ext>
            </a:extLst>
          </p:cNvPr>
          <p:cNvGrpSpPr/>
          <p:nvPr/>
        </p:nvGrpSpPr>
        <p:grpSpPr>
          <a:xfrm>
            <a:off x="2430930" y="3362550"/>
            <a:ext cx="1219200" cy="1893332"/>
            <a:chOff x="304800" y="1104900"/>
            <a:chExt cx="1219200" cy="1893332"/>
          </a:xfrm>
        </p:grpSpPr>
        <p:sp>
          <p:nvSpPr>
            <p:cNvPr id="35" name="Card 6">
              <a:extLst>
                <a:ext uri="{FF2B5EF4-FFF2-40B4-BE49-F238E27FC236}">
                  <a16:creationId xmlns:a16="http://schemas.microsoft.com/office/drawing/2014/main" id="{CBDA10E0-DBFB-438C-A41F-AA8F4CABEDA0}"/>
                </a:ext>
              </a:extLst>
            </p:cNvPr>
            <p:cNvSpPr/>
            <p:nvPr/>
          </p:nvSpPr>
          <p:spPr>
            <a:xfrm>
              <a:off x="304800" y="1104900"/>
              <a:ext cx="1219200" cy="1524000"/>
            </a:xfrm>
            <a:prstGeom prst="flowChartPunchedCard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bIns="274320" rtlCol="0" anchor="ctr"/>
            <a:lstStyle/>
            <a:p>
              <a:pPr algn="ctr" defTabSz="713232">
                <a:defRPr/>
              </a:pPr>
              <a:endParaRPr lang="en-US" sz="700" dirty="0">
                <a:solidFill>
                  <a:srgbClr val="000000"/>
                </a:solidFill>
                <a:latin typeface="Inconsolata" panose="020B0609030003000000" pitchFamily="49" charset="0"/>
                <a:ea typeface="Lato Light" panose="020F0502020204030203" pitchFamily="34" charset="0"/>
                <a:cs typeface="Lato Light" panose="020F0502020204030203" pitchFamily="34" charset="0"/>
              </a:endParaRPr>
            </a:p>
            <a:p>
              <a:pPr algn="ctr" defTabSz="713232">
                <a:defRPr/>
              </a:pPr>
              <a:r>
                <a:rPr lang="en-US" sz="700" dirty="0">
                  <a:solidFill>
                    <a:srgbClr val="000000"/>
                  </a:solidFill>
                  <a:latin typeface="Inconsolata" panose="020B0609030003000000" pitchFamily="49" charset="0"/>
                  <a:ea typeface="Lato Light" panose="020F0502020204030203" pitchFamily="34" charset="0"/>
                  <a:cs typeface="Lato Light" panose="020F0502020204030203" pitchFamily="34" charset="0"/>
                </a:rPr>
                <a:t>10010101000101010010101001010001010101110101010100111010011101001000101011101010010101010100010100100101001010010100100100101001010110101001010101110101011111101001010100101010001010010101001001010010110101001011001010100101010010</a:t>
              </a:r>
            </a:p>
          </p:txBody>
        </p:sp>
        <p:sp>
          <p:nvSpPr>
            <p:cNvPr id="36" name="TextBox 35">
              <a:extLst>
                <a:ext uri="{FF2B5EF4-FFF2-40B4-BE49-F238E27FC236}">
                  <a16:creationId xmlns:a16="http://schemas.microsoft.com/office/drawing/2014/main" id="{45A9EAC4-FEF1-4880-BD5E-8D2F5F8B06DC}"/>
                </a:ext>
              </a:extLst>
            </p:cNvPr>
            <p:cNvSpPr txBox="1"/>
            <p:nvPr/>
          </p:nvSpPr>
          <p:spPr>
            <a:xfrm>
              <a:off x="601476" y="2628900"/>
              <a:ext cx="713657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defTabSz="713232">
                <a:defRPr/>
              </a:pPr>
              <a:r>
                <a:rPr lang="en-US" b="1" dirty="0" err="1">
                  <a:solidFill>
                    <a:srgbClr val="000000"/>
                  </a:solidFill>
                  <a:latin typeface="Lato Black" panose="020F0502020204030203" pitchFamily="34" charset="0"/>
                  <a:ea typeface="Lato Black" panose="020F0502020204030203" pitchFamily="34" charset="0"/>
                  <a:cs typeface="Lato Black" panose="020F0502020204030203" pitchFamily="34" charset="0"/>
                </a:rPr>
                <a:t>util.o</a:t>
              </a:r>
              <a:endParaRPr lang="en-US" b="1" dirty="0">
                <a:solidFill>
                  <a:srgbClr val="000000"/>
                </a:solidFill>
                <a:latin typeface="Lato Black" panose="020F0502020204030203" pitchFamily="34" charset="0"/>
                <a:ea typeface="Lato Black" panose="020F0502020204030203" pitchFamily="34" charset="0"/>
                <a:cs typeface="Lato Black" panose="020F0502020204030203" pitchFamily="34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33136136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Bent Arrow 11">
            <a:extLst>
              <a:ext uri="{FF2B5EF4-FFF2-40B4-BE49-F238E27FC236}">
                <a16:creationId xmlns:a16="http://schemas.microsoft.com/office/drawing/2014/main" id="{A6B56CAB-1CB8-4ECE-9277-0003F1E02AD3}"/>
              </a:ext>
            </a:extLst>
          </p:cNvPr>
          <p:cNvSpPr/>
          <p:nvPr/>
        </p:nvSpPr>
        <p:spPr>
          <a:xfrm rot="19102855">
            <a:off x="3987471" y="2975848"/>
            <a:ext cx="802814" cy="784123"/>
          </a:xfrm>
          <a:custGeom>
            <a:avLst/>
            <a:gdLst>
              <a:gd name="connsiteX0" fmla="*/ 0 w 1026849"/>
              <a:gd name="connsiteY0" fmla="*/ 896141 h 896141"/>
              <a:gd name="connsiteX1" fmla="*/ 0 w 1026849"/>
              <a:gd name="connsiteY1" fmla="*/ 896141 h 896141"/>
              <a:gd name="connsiteX2" fmla="*/ 784123 w 1026849"/>
              <a:gd name="connsiteY2" fmla="*/ 112018 h 896141"/>
              <a:gd name="connsiteX3" fmla="*/ 802814 w 1026849"/>
              <a:gd name="connsiteY3" fmla="*/ 112018 h 896141"/>
              <a:gd name="connsiteX4" fmla="*/ 802814 w 1026849"/>
              <a:gd name="connsiteY4" fmla="*/ 0 h 896141"/>
              <a:gd name="connsiteX5" fmla="*/ 1026849 w 1026849"/>
              <a:gd name="connsiteY5" fmla="*/ 224035 h 896141"/>
              <a:gd name="connsiteX6" fmla="*/ 802814 w 1026849"/>
              <a:gd name="connsiteY6" fmla="*/ 448071 h 896141"/>
              <a:gd name="connsiteX7" fmla="*/ 802814 w 1026849"/>
              <a:gd name="connsiteY7" fmla="*/ 336053 h 896141"/>
              <a:gd name="connsiteX8" fmla="*/ 784123 w 1026849"/>
              <a:gd name="connsiteY8" fmla="*/ 336053 h 896141"/>
              <a:gd name="connsiteX9" fmla="*/ 224035 w 1026849"/>
              <a:gd name="connsiteY9" fmla="*/ 896141 h 896141"/>
              <a:gd name="connsiteX10" fmla="*/ 224035 w 1026849"/>
              <a:gd name="connsiteY10" fmla="*/ 896141 h 896141"/>
              <a:gd name="connsiteX11" fmla="*/ 0 w 1026849"/>
              <a:gd name="connsiteY11" fmla="*/ 896141 h 896141"/>
              <a:gd name="connsiteX0" fmla="*/ 0 w 1026849"/>
              <a:gd name="connsiteY0" fmla="*/ 784123 h 784123"/>
              <a:gd name="connsiteX1" fmla="*/ 0 w 1026849"/>
              <a:gd name="connsiteY1" fmla="*/ 784123 h 784123"/>
              <a:gd name="connsiteX2" fmla="*/ 784123 w 1026849"/>
              <a:gd name="connsiteY2" fmla="*/ 0 h 784123"/>
              <a:gd name="connsiteX3" fmla="*/ 802814 w 1026849"/>
              <a:gd name="connsiteY3" fmla="*/ 0 h 784123"/>
              <a:gd name="connsiteX4" fmla="*/ 795354 w 1026849"/>
              <a:gd name="connsiteY4" fmla="*/ 104324 h 784123"/>
              <a:gd name="connsiteX5" fmla="*/ 1026849 w 1026849"/>
              <a:gd name="connsiteY5" fmla="*/ 112017 h 784123"/>
              <a:gd name="connsiteX6" fmla="*/ 802814 w 1026849"/>
              <a:gd name="connsiteY6" fmla="*/ 336053 h 784123"/>
              <a:gd name="connsiteX7" fmla="*/ 802814 w 1026849"/>
              <a:gd name="connsiteY7" fmla="*/ 224035 h 784123"/>
              <a:gd name="connsiteX8" fmla="*/ 784123 w 1026849"/>
              <a:gd name="connsiteY8" fmla="*/ 224035 h 784123"/>
              <a:gd name="connsiteX9" fmla="*/ 224035 w 1026849"/>
              <a:gd name="connsiteY9" fmla="*/ 784123 h 784123"/>
              <a:gd name="connsiteX10" fmla="*/ 224035 w 1026849"/>
              <a:gd name="connsiteY10" fmla="*/ 784123 h 784123"/>
              <a:gd name="connsiteX11" fmla="*/ 0 w 1026849"/>
              <a:gd name="connsiteY11" fmla="*/ 784123 h 784123"/>
              <a:gd name="connsiteX0" fmla="*/ 0 w 1026849"/>
              <a:gd name="connsiteY0" fmla="*/ 784123 h 784123"/>
              <a:gd name="connsiteX1" fmla="*/ 0 w 1026849"/>
              <a:gd name="connsiteY1" fmla="*/ 784123 h 784123"/>
              <a:gd name="connsiteX2" fmla="*/ 784123 w 1026849"/>
              <a:gd name="connsiteY2" fmla="*/ 0 h 784123"/>
              <a:gd name="connsiteX3" fmla="*/ 802814 w 1026849"/>
              <a:gd name="connsiteY3" fmla="*/ 0 h 784123"/>
              <a:gd name="connsiteX4" fmla="*/ 795354 w 1026849"/>
              <a:gd name="connsiteY4" fmla="*/ 104324 h 784123"/>
              <a:gd name="connsiteX5" fmla="*/ 1026849 w 1026849"/>
              <a:gd name="connsiteY5" fmla="*/ 112017 h 784123"/>
              <a:gd name="connsiteX6" fmla="*/ 795643 w 1026849"/>
              <a:gd name="connsiteY6" fmla="*/ 129009 h 784123"/>
              <a:gd name="connsiteX7" fmla="*/ 802814 w 1026849"/>
              <a:gd name="connsiteY7" fmla="*/ 224035 h 784123"/>
              <a:gd name="connsiteX8" fmla="*/ 784123 w 1026849"/>
              <a:gd name="connsiteY8" fmla="*/ 224035 h 784123"/>
              <a:gd name="connsiteX9" fmla="*/ 224035 w 1026849"/>
              <a:gd name="connsiteY9" fmla="*/ 784123 h 784123"/>
              <a:gd name="connsiteX10" fmla="*/ 224035 w 1026849"/>
              <a:gd name="connsiteY10" fmla="*/ 784123 h 784123"/>
              <a:gd name="connsiteX11" fmla="*/ 0 w 1026849"/>
              <a:gd name="connsiteY11" fmla="*/ 784123 h 784123"/>
              <a:gd name="connsiteX0" fmla="*/ 0 w 802814"/>
              <a:gd name="connsiteY0" fmla="*/ 784123 h 784123"/>
              <a:gd name="connsiteX1" fmla="*/ 0 w 802814"/>
              <a:gd name="connsiteY1" fmla="*/ 784123 h 784123"/>
              <a:gd name="connsiteX2" fmla="*/ 784123 w 802814"/>
              <a:gd name="connsiteY2" fmla="*/ 0 h 784123"/>
              <a:gd name="connsiteX3" fmla="*/ 802814 w 802814"/>
              <a:gd name="connsiteY3" fmla="*/ 0 h 784123"/>
              <a:gd name="connsiteX4" fmla="*/ 795354 w 802814"/>
              <a:gd name="connsiteY4" fmla="*/ 104324 h 784123"/>
              <a:gd name="connsiteX5" fmla="*/ 792912 w 802814"/>
              <a:gd name="connsiteY5" fmla="*/ 120777 h 784123"/>
              <a:gd name="connsiteX6" fmla="*/ 795643 w 802814"/>
              <a:gd name="connsiteY6" fmla="*/ 129009 h 784123"/>
              <a:gd name="connsiteX7" fmla="*/ 802814 w 802814"/>
              <a:gd name="connsiteY7" fmla="*/ 224035 h 784123"/>
              <a:gd name="connsiteX8" fmla="*/ 784123 w 802814"/>
              <a:gd name="connsiteY8" fmla="*/ 224035 h 784123"/>
              <a:gd name="connsiteX9" fmla="*/ 224035 w 802814"/>
              <a:gd name="connsiteY9" fmla="*/ 784123 h 784123"/>
              <a:gd name="connsiteX10" fmla="*/ 224035 w 802814"/>
              <a:gd name="connsiteY10" fmla="*/ 784123 h 784123"/>
              <a:gd name="connsiteX11" fmla="*/ 0 w 802814"/>
              <a:gd name="connsiteY11" fmla="*/ 784123 h 78412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802814" h="784123">
                <a:moveTo>
                  <a:pt x="0" y="784123"/>
                </a:moveTo>
                <a:lnTo>
                  <a:pt x="0" y="784123"/>
                </a:lnTo>
                <a:cubicBezTo>
                  <a:pt x="0" y="351064"/>
                  <a:pt x="351064" y="0"/>
                  <a:pt x="784123" y="0"/>
                </a:cubicBezTo>
                <a:lnTo>
                  <a:pt x="802814" y="0"/>
                </a:lnTo>
                <a:lnTo>
                  <a:pt x="795354" y="104324"/>
                </a:lnTo>
                <a:lnTo>
                  <a:pt x="792912" y="120777"/>
                </a:lnTo>
                <a:lnTo>
                  <a:pt x="795643" y="129009"/>
                </a:lnTo>
                <a:lnTo>
                  <a:pt x="802814" y="224035"/>
                </a:lnTo>
                <a:lnTo>
                  <a:pt x="784123" y="224035"/>
                </a:lnTo>
                <a:cubicBezTo>
                  <a:pt x="474795" y="224035"/>
                  <a:pt x="224035" y="474795"/>
                  <a:pt x="224035" y="784123"/>
                </a:cubicBezTo>
                <a:lnTo>
                  <a:pt x="224035" y="784123"/>
                </a:lnTo>
                <a:lnTo>
                  <a:pt x="0" y="784123"/>
                </a:lnTo>
                <a:close/>
              </a:path>
            </a:pathLst>
          </a:cu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713232">
              <a:defRPr/>
            </a:pPr>
            <a:endParaRPr lang="en-US" sz="1404" dirty="0">
              <a:solidFill>
                <a:srgbClr val="000000"/>
              </a:solidFill>
              <a:latin typeface="Segoe UI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78A9F95-AD36-458D-9522-A89655EDF6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Compilation: Simple Overview – Step 3</a:t>
            </a:r>
          </a:p>
        </p:txBody>
      </p:sp>
      <p:sp>
        <p:nvSpPr>
          <p:cNvPr id="20" name="Content Placeholder 2">
            <a:extLst>
              <a:ext uri="{FF2B5EF4-FFF2-40B4-BE49-F238E27FC236}">
                <a16:creationId xmlns:a16="http://schemas.microsoft.com/office/drawing/2014/main" id="{4DC874B5-F1F0-4F39-B824-A6A606227C6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985277" y="806825"/>
            <a:ext cx="4174723" cy="4873857"/>
          </a:xfrm>
        </p:spPr>
        <p:txBody>
          <a:bodyPr>
            <a:normAutofit/>
          </a:bodyPr>
          <a:lstStyle/>
          <a:p>
            <a:r>
              <a:rPr lang="en-US" dirty="0"/>
              <a:t>Then, each piece is merged together to form the executable.</a:t>
            </a:r>
          </a:p>
          <a:p>
            <a:r>
              <a:rPr lang="en-US" dirty="0"/>
              <a:t>This process is done by a </a:t>
            </a:r>
            <a:r>
              <a:rPr lang="en-US" i="1" dirty="0">
                <a:solidFill>
                  <a:srgbClr val="4C6FA3"/>
                </a:solidFill>
                <a:latin typeface="Lato Black" panose="020F0502020204030203" pitchFamily="34" charset="0"/>
                <a:ea typeface="Lato Black" panose="020F0502020204030203" pitchFamily="34" charset="0"/>
                <a:cs typeface="Lato Black" panose="020F0502020204030203" pitchFamily="34" charset="0"/>
              </a:rPr>
              <a:t>linker</a:t>
            </a:r>
            <a:r>
              <a:rPr lang="en-US" dirty="0"/>
              <a:t> and is called </a:t>
            </a:r>
            <a:r>
              <a:rPr lang="en-US" i="1" dirty="0">
                <a:solidFill>
                  <a:srgbClr val="4C6FA3"/>
                </a:solidFill>
                <a:latin typeface="Lato Black" panose="020F0502020204030203" pitchFamily="34" charset="0"/>
                <a:ea typeface="Lato Black" panose="020F0502020204030203" pitchFamily="34" charset="0"/>
                <a:cs typeface="Lato Black" panose="020F0502020204030203" pitchFamily="34" charset="0"/>
              </a:rPr>
              <a:t>linking</a:t>
            </a:r>
            <a:r>
              <a:rPr lang="en-US" dirty="0"/>
              <a:t>.</a:t>
            </a:r>
          </a:p>
          <a:p>
            <a:endParaRPr lang="en-US" dirty="0"/>
          </a:p>
          <a:p>
            <a:pPr lvl="1"/>
            <a:r>
              <a:rPr lang="en-US" dirty="0"/>
              <a:t>The name refers to how the references to functions, </a:t>
            </a:r>
            <a:r>
              <a:rPr lang="en-US" dirty="0" err="1"/>
              <a:t>etc</a:t>
            </a:r>
            <a:r>
              <a:rPr lang="en-US" dirty="0"/>
              <a:t>, between files are now filled in.</a:t>
            </a:r>
          </a:p>
          <a:p>
            <a:pPr lvl="1"/>
            <a:endParaRPr lang="en-US" dirty="0"/>
          </a:p>
          <a:p>
            <a:pPr lvl="1"/>
            <a:r>
              <a:rPr lang="en-US" dirty="0"/>
              <a:t>Before this step… it is unclear </a:t>
            </a:r>
            <a:r>
              <a:rPr lang="en-US" i="1" dirty="0"/>
              <a:t>where</a:t>
            </a:r>
            <a:r>
              <a:rPr lang="en-US" dirty="0"/>
              <a:t> functions will end up in the final executable.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E045AC2-2BBD-4DBE-B367-03C82632A1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AAD609-F83C-4414-814B-B5A2DF99692C}" type="slidenum">
              <a:rPr lang="en-US" smtClean="0"/>
              <a:pPr/>
              <a:t>5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EDB7D77-1D21-4A1E-B21B-7F70B7C77F46}"/>
              </a:ext>
            </a:extLst>
          </p:cNvPr>
          <p:cNvSpPr>
            <a:spLocks noGrp="1"/>
          </p:cNvSpPr>
          <p:nvPr>
            <p:ph type="ftr" sz="quarter" idx="4294967295"/>
          </p:nvPr>
        </p:nvSpPr>
        <p:spPr>
          <a:xfrm>
            <a:off x="-370482" y="5297488"/>
            <a:ext cx="3429000" cy="303212"/>
          </a:xfrm>
        </p:spPr>
        <p:txBody>
          <a:bodyPr/>
          <a:lstStyle/>
          <a:p>
            <a:r>
              <a:rPr lang="en-US" dirty="0">
                <a:solidFill>
                  <a:schemeClr val="bg1">
                    <a:lumMod val="95000"/>
                  </a:schemeClr>
                </a:solidFill>
              </a:rPr>
              <a:t>CS/COE 0449 – Spring 2019/2020</a:t>
            </a:r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DD94508A-C70E-4600-BD11-F69C45240C94}"/>
              </a:ext>
            </a:extLst>
          </p:cNvPr>
          <p:cNvGrpSpPr/>
          <p:nvPr/>
        </p:nvGrpSpPr>
        <p:grpSpPr>
          <a:xfrm>
            <a:off x="442318" y="986116"/>
            <a:ext cx="1219200" cy="1893332"/>
            <a:chOff x="304800" y="1104900"/>
            <a:chExt cx="1219200" cy="1893332"/>
          </a:xfrm>
        </p:grpSpPr>
        <p:sp>
          <p:nvSpPr>
            <p:cNvPr id="9" name="Card 6">
              <a:extLst>
                <a:ext uri="{FF2B5EF4-FFF2-40B4-BE49-F238E27FC236}">
                  <a16:creationId xmlns:a16="http://schemas.microsoft.com/office/drawing/2014/main" id="{9457BEF4-7B0C-4ECC-BF72-553AA6700449}"/>
                </a:ext>
              </a:extLst>
            </p:cNvPr>
            <p:cNvSpPr/>
            <p:nvPr/>
          </p:nvSpPr>
          <p:spPr>
            <a:xfrm>
              <a:off x="304800" y="1104900"/>
              <a:ext cx="1219200" cy="1524000"/>
            </a:xfrm>
            <a:prstGeom prst="flowChartPunchedCard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bIns="274320" rtlCol="0" anchor="ctr"/>
            <a:lstStyle/>
            <a:p>
              <a:pPr algn="ctr" defTabSz="713232">
                <a:defRPr/>
              </a:pPr>
              <a:endParaRPr lang="en-US" sz="700" dirty="0">
                <a:solidFill>
                  <a:srgbClr val="000000"/>
                </a:solidFill>
                <a:latin typeface="Inconsolata" panose="020B0609030003000000" pitchFamily="49" charset="0"/>
                <a:ea typeface="Lato Light" panose="020F0502020204030203" pitchFamily="34" charset="0"/>
                <a:cs typeface="Lato Light" panose="020F0502020204030203" pitchFamily="34" charset="0"/>
              </a:endParaRPr>
            </a:p>
            <a:p>
              <a:pPr algn="ctr" defTabSz="713232">
                <a:defRPr/>
              </a:pPr>
              <a:r>
                <a:rPr lang="en-US" sz="700" dirty="0">
                  <a:solidFill>
                    <a:srgbClr val="000000"/>
                  </a:solidFill>
                  <a:latin typeface="Inconsolata" panose="020B0609030003000000" pitchFamily="49" charset="0"/>
                  <a:ea typeface="Lato Light" panose="020F0502020204030203" pitchFamily="34" charset="0"/>
                  <a:cs typeface="Lato Light" panose="020F0502020204030203" pitchFamily="34" charset="0"/>
                </a:rPr>
                <a:t>/\/\/\/\/\/\/\/\/\/\/\/\/\/\/\/\/\/\/\/\/\/\/\/\/\/\/\/\/\/\/\/\/\/\/\/\/\/\/\/\/\/\/\/\/\/\/\/\/\/\/\/\/\/\/\/\/\/\/\/\/\/\/\/\/\/\/\/\/\/\/\/\/\/\/\/\/\/\/\/\/\/\/\/\/\/\/\/\/\/\/\/\/\/\/\/\/\/\/\/\/\/\/\/\/\/\/\/\/\/\/\/\/\/\/\/\/\/\/\/\/\/\/\/\/\/\/</a:t>
              </a:r>
            </a:p>
          </p:txBody>
        </p:sp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BDB9E568-6D6C-4ABE-AF68-E48F4C02317E}"/>
                </a:ext>
              </a:extLst>
            </p:cNvPr>
            <p:cNvSpPr txBox="1"/>
            <p:nvPr/>
          </p:nvSpPr>
          <p:spPr>
            <a:xfrm>
              <a:off x="467001" y="2628900"/>
              <a:ext cx="894797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defTabSz="713232">
                <a:defRPr/>
              </a:pPr>
              <a:r>
                <a:rPr lang="en-US" b="1" dirty="0" err="1">
                  <a:solidFill>
                    <a:srgbClr val="000000"/>
                  </a:solidFill>
                  <a:latin typeface="Lato Black" panose="020F0502020204030203" pitchFamily="34" charset="0"/>
                  <a:ea typeface="Lato Black" panose="020F0502020204030203" pitchFamily="34" charset="0"/>
                  <a:cs typeface="Lato Black" panose="020F0502020204030203" pitchFamily="34" charset="0"/>
                </a:rPr>
                <a:t>hello.c</a:t>
              </a:r>
              <a:endParaRPr lang="en-US" b="1" dirty="0">
                <a:solidFill>
                  <a:srgbClr val="000000"/>
                </a:solidFill>
                <a:latin typeface="Lato Black" panose="020F0502020204030203" pitchFamily="34" charset="0"/>
                <a:ea typeface="Lato Black" panose="020F0502020204030203" pitchFamily="34" charset="0"/>
                <a:cs typeface="Lato Black" panose="020F0502020204030203" pitchFamily="34" charset="0"/>
              </a:endParaRPr>
            </a:p>
          </p:txBody>
        </p:sp>
      </p:grpSp>
      <p:grpSp>
        <p:nvGrpSpPr>
          <p:cNvPr id="11" name="Group 10">
            <a:extLst>
              <a:ext uri="{FF2B5EF4-FFF2-40B4-BE49-F238E27FC236}">
                <a16:creationId xmlns:a16="http://schemas.microsoft.com/office/drawing/2014/main" id="{205CC648-FE79-47FD-8B81-B05F4B72E47C}"/>
              </a:ext>
            </a:extLst>
          </p:cNvPr>
          <p:cNvGrpSpPr/>
          <p:nvPr/>
        </p:nvGrpSpPr>
        <p:grpSpPr>
          <a:xfrm flipV="1">
            <a:off x="1574949" y="2439089"/>
            <a:ext cx="1063517" cy="1026848"/>
            <a:chOff x="1837928" y="1030692"/>
            <a:chExt cx="1063517" cy="1029620"/>
          </a:xfrm>
        </p:grpSpPr>
        <p:sp>
          <p:nvSpPr>
            <p:cNvPr id="12" name="Bent Arrow 11">
              <a:extLst>
                <a:ext uri="{FF2B5EF4-FFF2-40B4-BE49-F238E27FC236}">
                  <a16:creationId xmlns:a16="http://schemas.microsoft.com/office/drawing/2014/main" id="{4C4791CE-044C-4FA8-96D4-B9FDB7900C43}"/>
                </a:ext>
              </a:extLst>
            </p:cNvPr>
            <p:cNvSpPr/>
            <p:nvPr/>
          </p:nvSpPr>
          <p:spPr>
            <a:xfrm rot="2902855">
              <a:off x="1771189" y="1097431"/>
              <a:ext cx="1029620" cy="896141"/>
            </a:xfrm>
            <a:prstGeom prst="bentArrow">
              <a:avLst>
                <a:gd name="adj1" fmla="val 25000"/>
                <a:gd name="adj2" fmla="val 25000"/>
                <a:gd name="adj3" fmla="val 25000"/>
                <a:gd name="adj4" fmla="val 87500"/>
              </a:avLst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713232">
                <a:defRPr/>
              </a:pPr>
              <a:endParaRPr lang="en-US" sz="1404" dirty="0">
                <a:solidFill>
                  <a:srgbClr val="000000"/>
                </a:solidFill>
                <a:latin typeface="Segoe UI"/>
              </a:endParaRPr>
            </a:p>
          </p:txBody>
        </p: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F4BC3ECD-ECAA-4EB8-A534-59F4FCD2DBDD}"/>
                </a:ext>
              </a:extLst>
            </p:cNvPr>
            <p:cNvSpPr txBox="1"/>
            <p:nvPr/>
          </p:nvSpPr>
          <p:spPr>
            <a:xfrm rot="13362312">
              <a:off x="2202215" y="1412181"/>
              <a:ext cx="699230" cy="27774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defTabSz="713232">
                <a:defRPr/>
              </a:pPr>
              <a:r>
                <a:rPr lang="en-US" sz="1200" dirty="0">
                  <a:solidFill>
                    <a:srgbClr val="FFFFFF"/>
                  </a:solidFill>
                  <a:latin typeface="Lato Light" panose="020F0502020204030203" pitchFamily="34" charset="0"/>
                  <a:ea typeface="Lato Light" panose="020F0502020204030203" pitchFamily="34" charset="0"/>
                  <a:cs typeface="Lato Light" panose="020F0502020204030203" pitchFamily="34" charset="0"/>
                </a:rPr>
                <a:t>compile</a:t>
              </a:r>
              <a:endParaRPr lang="en-US" sz="1100" dirty="0">
                <a:solidFill>
                  <a:srgbClr val="FFFFFF"/>
                </a:solidFill>
                <a:latin typeface="Lato Light" panose="020F0502020204030203" pitchFamily="34" charset="0"/>
                <a:ea typeface="Lato Light" panose="020F0502020204030203" pitchFamily="34" charset="0"/>
                <a:cs typeface="Lato Light" panose="020F0502020204030203" pitchFamily="34" charset="0"/>
              </a:endParaRPr>
            </a:p>
          </p:txBody>
        </p:sp>
      </p:grpSp>
      <p:grpSp>
        <p:nvGrpSpPr>
          <p:cNvPr id="17" name="Group 16">
            <a:extLst>
              <a:ext uri="{FF2B5EF4-FFF2-40B4-BE49-F238E27FC236}">
                <a16:creationId xmlns:a16="http://schemas.microsoft.com/office/drawing/2014/main" id="{6B85C865-099A-42B5-B228-A77F189E1AB5}"/>
              </a:ext>
            </a:extLst>
          </p:cNvPr>
          <p:cNvGrpSpPr/>
          <p:nvPr/>
        </p:nvGrpSpPr>
        <p:grpSpPr>
          <a:xfrm>
            <a:off x="2530347" y="986116"/>
            <a:ext cx="1219200" cy="1893332"/>
            <a:chOff x="304800" y="1104900"/>
            <a:chExt cx="1219200" cy="1893332"/>
          </a:xfrm>
        </p:grpSpPr>
        <p:sp>
          <p:nvSpPr>
            <p:cNvPr id="18" name="Card 6">
              <a:extLst>
                <a:ext uri="{FF2B5EF4-FFF2-40B4-BE49-F238E27FC236}">
                  <a16:creationId xmlns:a16="http://schemas.microsoft.com/office/drawing/2014/main" id="{F32DCA46-3BF9-404C-A9EA-1B3CFC1967A6}"/>
                </a:ext>
              </a:extLst>
            </p:cNvPr>
            <p:cNvSpPr/>
            <p:nvPr/>
          </p:nvSpPr>
          <p:spPr>
            <a:xfrm>
              <a:off x="304800" y="1104900"/>
              <a:ext cx="1219200" cy="1524000"/>
            </a:xfrm>
            <a:prstGeom prst="flowChartPunchedCard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bIns="274320" rtlCol="0" anchor="ctr"/>
            <a:lstStyle/>
            <a:p>
              <a:pPr algn="ctr" defTabSz="713232">
                <a:defRPr/>
              </a:pPr>
              <a:endParaRPr lang="en-US" sz="700" dirty="0">
                <a:solidFill>
                  <a:srgbClr val="000000"/>
                </a:solidFill>
                <a:latin typeface="Inconsolata" panose="020B0609030003000000" pitchFamily="49" charset="0"/>
                <a:ea typeface="Lato Light" panose="020F0502020204030203" pitchFamily="34" charset="0"/>
                <a:cs typeface="Lato Light" panose="020F0502020204030203" pitchFamily="34" charset="0"/>
              </a:endParaRPr>
            </a:p>
            <a:p>
              <a:pPr algn="ctr" defTabSz="713232">
                <a:defRPr/>
              </a:pPr>
              <a:r>
                <a:rPr lang="en-US" sz="700" dirty="0">
                  <a:solidFill>
                    <a:srgbClr val="000000"/>
                  </a:solidFill>
                  <a:latin typeface="Inconsolata" panose="020B0609030003000000" pitchFamily="49" charset="0"/>
                  <a:ea typeface="Lato Light" panose="020F0502020204030203" pitchFamily="34" charset="0"/>
                  <a:cs typeface="Lato Light" panose="020F0502020204030203" pitchFamily="34" charset="0"/>
                </a:rPr>
                <a:t>01010101010001010010010100101001010010010010100101011010100101010111010101111110100101010010101000101001010100100101001011010100101100101010010101001010010101000101010010101001010001010101110101010100111010011101001000101011101010</a:t>
              </a:r>
            </a:p>
          </p:txBody>
        </p:sp>
        <p:sp>
          <p:nvSpPr>
            <p:cNvPr id="19" name="TextBox 18">
              <a:extLst>
                <a:ext uri="{FF2B5EF4-FFF2-40B4-BE49-F238E27FC236}">
                  <a16:creationId xmlns:a16="http://schemas.microsoft.com/office/drawing/2014/main" id="{3E460958-3282-45A4-B77A-5014DD16EBF8}"/>
                </a:ext>
              </a:extLst>
            </p:cNvPr>
            <p:cNvSpPr txBox="1"/>
            <p:nvPr/>
          </p:nvSpPr>
          <p:spPr>
            <a:xfrm>
              <a:off x="467001" y="2628900"/>
              <a:ext cx="883575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defTabSz="713232">
                <a:defRPr/>
              </a:pPr>
              <a:r>
                <a:rPr lang="en-US" b="1" dirty="0" err="1">
                  <a:solidFill>
                    <a:srgbClr val="000000"/>
                  </a:solidFill>
                  <a:latin typeface="Lato Black" panose="020F0502020204030203" pitchFamily="34" charset="0"/>
                  <a:ea typeface="Lato Black" panose="020F0502020204030203" pitchFamily="34" charset="0"/>
                  <a:cs typeface="Lato Black" panose="020F0502020204030203" pitchFamily="34" charset="0"/>
                </a:rPr>
                <a:t>hello.o</a:t>
              </a:r>
              <a:endParaRPr lang="en-US" b="1" dirty="0">
                <a:solidFill>
                  <a:srgbClr val="000000"/>
                </a:solidFill>
                <a:latin typeface="Lato Black" panose="020F0502020204030203" pitchFamily="34" charset="0"/>
                <a:ea typeface="Lato Black" panose="020F0502020204030203" pitchFamily="34" charset="0"/>
                <a:cs typeface="Lato Black" panose="020F0502020204030203" pitchFamily="34" charset="0"/>
              </a:endParaRPr>
            </a:p>
          </p:txBody>
        </p:sp>
      </p:grpSp>
      <p:grpSp>
        <p:nvGrpSpPr>
          <p:cNvPr id="28" name="Group 27">
            <a:extLst>
              <a:ext uri="{FF2B5EF4-FFF2-40B4-BE49-F238E27FC236}">
                <a16:creationId xmlns:a16="http://schemas.microsoft.com/office/drawing/2014/main" id="{20538E65-AB05-4857-8767-0971B9197A79}"/>
              </a:ext>
            </a:extLst>
          </p:cNvPr>
          <p:cNvGrpSpPr/>
          <p:nvPr/>
        </p:nvGrpSpPr>
        <p:grpSpPr>
          <a:xfrm>
            <a:off x="442318" y="3380926"/>
            <a:ext cx="1219200" cy="1893332"/>
            <a:chOff x="304800" y="1104900"/>
            <a:chExt cx="1219200" cy="1893332"/>
          </a:xfrm>
        </p:grpSpPr>
        <p:sp>
          <p:nvSpPr>
            <p:cNvPr id="29" name="Card 6">
              <a:extLst>
                <a:ext uri="{FF2B5EF4-FFF2-40B4-BE49-F238E27FC236}">
                  <a16:creationId xmlns:a16="http://schemas.microsoft.com/office/drawing/2014/main" id="{8A5F265B-76AD-438D-B234-CBC830D1316E}"/>
                </a:ext>
              </a:extLst>
            </p:cNvPr>
            <p:cNvSpPr/>
            <p:nvPr/>
          </p:nvSpPr>
          <p:spPr>
            <a:xfrm>
              <a:off x="304800" y="1104900"/>
              <a:ext cx="1219200" cy="1524000"/>
            </a:xfrm>
            <a:prstGeom prst="flowChartPunchedCard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bIns="274320" rtlCol="0" anchor="ctr"/>
            <a:lstStyle/>
            <a:p>
              <a:pPr algn="ctr" defTabSz="713232">
                <a:defRPr/>
              </a:pPr>
              <a:endParaRPr lang="en-US" sz="700" dirty="0">
                <a:solidFill>
                  <a:srgbClr val="000000"/>
                </a:solidFill>
                <a:latin typeface="Inconsolata" panose="020B0609030003000000" pitchFamily="49" charset="0"/>
                <a:ea typeface="Lato Light" panose="020F0502020204030203" pitchFamily="34" charset="0"/>
                <a:cs typeface="Lato Light" panose="020F0502020204030203" pitchFamily="34" charset="0"/>
              </a:endParaRPr>
            </a:p>
            <a:p>
              <a:pPr algn="ctr" defTabSz="713232">
                <a:defRPr/>
              </a:pPr>
              <a:r>
                <a:rPr lang="en-US" sz="700" dirty="0">
                  <a:solidFill>
                    <a:srgbClr val="000000"/>
                  </a:solidFill>
                  <a:latin typeface="Inconsolata" panose="020B0609030003000000" pitchFamily="49" charset="0"/>
                  <a:ea typeface="Lato Light" panose="020F0502020204030203" pitchFamily="34" charset="0"/>
                  <a:cs typeface="Lato Light" panose="020F0502020204030203" pitchFamily="34" charset="0"/>
                </a:rPr>
                <a:t>/\/\/\/\/\/\/\/\/\/\/\/\/\/\/\/\/\/\/\/\/\/\/\/\/\/\/\/\/\/\/\/\/\/\/\/\/\/\/\/\/\/\/\/\/\/\/\/\/\/\/\/\/\/\/\/\/\/\/\/\/\/\/\/\/\/\/\/\/\/\/\/\/\/\/\/\/\/\/\/\/\/\/\/\/\/\/\/\/\/\/\/\/\/\/\/\/\/\/\/\/\/\/\/\/\/\/\/\/\/\/\/\/\/\/\/\/\/\/\/\/\/\/\/\/\/\/</a:t>
              </a:r>
            </a:p>
          </p:txBody>
        </p:sp>
        <p:sp>
          <p:nvSpPr>
            <p:cNvPr id="30" name="TextBox 29">
              <a:extLst>
                <a:ext uri="{FF2B5EF4-FFF2-40B4-BE49-F238E27FC236}">
                  <a16:creationId xmlns:a16="http://schemas.microsoft.com/office/drawing/2014/main" id="{A9D21B70-5BE6-440E-9790-17E240A69261}"/>
                </a:ext>
              </a:extLst>
            </p:cNvPr>
            <p:cNvSpPr txBox="1"/>
            <p:nvPr/>
          </p:nvSpPr>
          <p:spPr>
            <a:xfrm>
              <a:off x="554409" y="2628900"/>
              <a:ext cx="691215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defTabSz="713232">
                <a:defRPr/>
              </a:pPr>
              <a:r>
                <a:rPr lang="en-US" b="1" dirty="0" err="1">
                  <a:solidFill>
                    <a:srgbClr val="000000"/>
                  </a:solidFill>
                  <a:latin typeface="Lato Black" panose="020F0502020204030203" pitchFamily="34" charset="0"/>
                  <a:ea typeface="Lato Black" panose="020F0502020204030203" pitchFamily="34" charset="0"/>
                  <a:cs typeface="Lato Black" panose="020F0502020204030203" pitchFamily="34" charset="0"/>
                </a:rPr>
                <a:t>util.c</a:t>
              </a:r>
              <a:endParaRPr lang="en-US" b="1" dirty="0">
                <a:solidFill>
                  <a:srgbClr val="000000"/>
                </a:solidFill>
                <a:latin typeface="Lato Black" panose="020F0502020204030203" pitchFamily="34" charset="0"/>
                <a:ea typeface="Lato Black" panose="020F0502020204030203" pitchFamily="34" charset="0"/>
                <a:cs typeface="Lato Black" panose="020F0502020204030203" pitchFamily="34" charset="0"/>
              </a:endParaRPr>
            </a:p>
          </p:txBody>
        </p:sp>
      </p:grpSp>
      <p:grpSp>
        <p:nvGrpSpPr>
          <p:cNvPr id="31" name="Group 30">
            <a:extLst>
              <a:ext uri="{FF2B5EF4-FFF2-40B4-BE49-F238E27FC236}">
                <a16:creationId xmlns:a16="http://schemas.microsoft.com/office/drawing/2014/main" id="{A2605B91-87ED-4FAA-9106-515F6AA1573B}"/>
              </a:ext>
            </a:extLst>
          </p:cNvPr>
          <p:cNvGrpSpPr/>
          <p:nvPr/>
        </p:nvGrpSpPr>
        <p:grpSpPr>
          <a:xfrm flipV="1">
            <a:off x="1548053" y="4833899"/>
            <a:ext cx="1063517" cy="1026848"/>
            <a:chOff x="1837928" y="1030692"/>
            <a:chExt cx="1063517" cy="1029620"/>
          </a:xfrm>
        </p:grpSpPr>
        <p:sp>
          <p:nvSpPr>
            <p:cNvPr id="32" name="Bent Arrow 11">
              <a:extLst>
                <a:ext uri="{FF2B5EF4-FFF2-40B4-BE49-F238E27FC236}">
                  <a16:creationId xmlns:a16="http://schemas.microsoft.com/office/drawing/2014/main" id="{8EE8924D-9F28-4367-9328-124417B12176}"/>
                </a:ext>
              </a:extLst>
            </p:cNvPr>
            <p:cNvSpPr/>
            <p:nvPr/>
          </p:nvSpPr>
          <p:spPr>
            <a:xfrm rot="2902855">
              <a:off x="1771189" y="1097431"/>
              <a:ext cx="1029620" cy="896141"/>
            </a:xfrm>
            <a:prstGeom prst="bentArrow">
              <a:avLst>
                <a:gd name="adj1" fmla="val 25000"/>
                <a:gd name="adj2" fmla="val 25000"/>
                <a:gd name="adj3" fmla="val 25000"/>
                <a:gd name="adj4" fmla="val 87500"/>
              </a:avLst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713232">
                <a:defRPr/>
              </a:pPr>
              <a:endParaRPr lang="en-US" sz="1404" dirty="0">
                <a:solidFill>
                  <a:srgbClr val="000000"/>
                </a:solidFill>
                <a:latin typeface="Segoe UI"/>
              </a:endParaRPr>
            </a:p>
          </p:txBody>
        </p:sp>
        <p:sp>
          <p:nvSpPr>
            <p:cNvPr id="33" name="TextBox 32">
              <a:extLst>
                <a:ext uri="{FF2B5EF4-FFF2-40B4-BE49-F238E27FC236}">
                  <a16:creationId xmlns:a16="http://schemas.microsoft.com/office/drawing/2014/main" id="{1CA8DDAD-7B16-46D5-B09E-BAA433BAB039}"/>
                </a:ext>
              </a:extLst>
            </p:cNvPr>
            <p:cNvSpPr txBox="1"/>
            <p:nvPr/>
          </p:nvSpPr>
          <p:spPr>
            <a:xfrm rot="13362312">
              <a:off x="2202215" y="1412181"/>
              <a:ext cx="699230" cy="27774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defTabSz="713232">
                <a:defRPr/>
              </a:pPr>
              <a:r>
                <a:rPr lang="en-US" sz="1200" dirty="0">
                  <a:solidFill>
                    <a:srgbClr val="FFFFFF"/>
                  </a:solidFill>
                  <a:latin typeface="Lato Light" panose="020F0502020204030203" pitchFamily="34" charset="0"/>
                  <a:ea typeface="Lato Light" panose="020F0502020204030203" pitchFamily="34" charset="0"/>
                  <a:cs typeface="Lato Light" panose="020F0502020204030203" pitchFamily="34" charset="0"/>
                </a:rPr>
                <a:t>compile</a:t>
              </a:r>
              <a:endParaRPr lang="en-US" sz="1100" dirty="0">
                <a:solidFill>
                  <a:srgbClr val="FFFFFF"/>
                </a:solidFill>
                <a:latin typeface="Lato Light" panose="020F0502020204030203" pitchFamily="34" charset="0"/>
                <a:ea typeface="Lato Light" panose="020F0502020204030203" pitchFamily="34" charset="0"/>
                <a:cs typeface="Lato Light" panose="020F0502020204030203" pitchFamily="34" charset="0"/>
              </a:endParaRPr>
            </a:p>
          </p:txBody>
        </p:sp>
      </p:grpSp>
      <p:sp>
        <p:nvSpPr>
          <p:cNvPr id="35" name="Card 6">
            <a:extLst>
              <a:ext uri="{FF2B5EF4-FFF2-40B4-BE49-F238E27FC236}">
                <a16:creationId xmlns:a16="http://schemas.microsoft.com/office/drawing/2014/main" id="{CBDA10E0-DBFB-438C-A41F-AA8F4CABEDA0}"/>
              </a:ext>
            </a:extLst>
          </p:cNvPr>
          <p:cNvSpPr/>
          <p:nvPr/>
        </p:nvSpPr>
        <p:spPr>
          <a:xfrm>
            <a:off x="2530347" y="3380926"/>
            <a:ext cx="1219200" cy="1524000"/>
          </a:xfrm>
          <a:prstGeom prst="flowChartPunchedCard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bIns="274320" rtlCol="0" anchor="ctr"/>
          <a:lstStyle/>
          <a:p>
            <a:pPr algn="ctr" defTabSz="713232">
              <a:defRPr/>
            </a:pPr>
            <a:endParaRPr lang="en-US" sz="700" dirty="0">
              <a:solidFill>
                <a:srgbClr val="000000"/>
              </a:solidFill>
              <a:latin typeface="Inconsolata" panose="020B0609030003000000" pitchFamily="49" charset="0"/>
              <a:ea typeface="Lato Light" panose="020F0502020204030203" pitchFamily="34" charset="0"/>
              <a:cs typeface="Lato Light" panose="020F0502020204030203" pitchFamily="34" charset="0"/>
            </a:endParaRPr>
          </a:p>
          <a:p>
            <a:pPr algn="ctr" defTabSz="713232">
              <a:defRPr/>
            </a:pPr>
            <a:r>
              <a:rPr lang="en-US" sz="700" dirty="0">
                <a:solidFill>
                  <a:srgbClr val="000000"/>
                </a:solidFill>
                <a:latin typeface="Inconsolata" panose="020B0609030003000000" pitchFamily="49" charset="0"/>
                <a:ea typeface="Lato Light" panose="020F0502020204030203" pitchFamily="34" charset="0"/>
                <a:cs typeface="Lato Light" panose="020F0502020204030203" pitchFamily="34" charset="0"/>
              </a:rPr>
              <a:t>10010101000101010010101001010001010101110101010100111010011101001000101011101010010101010100010100100101001010010100100100101001010110101001010101110101011111101001010100101010001010010101001001010010110101001011001010100101010010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45A9EAC4-FEF1-4880-BD5E-8D2F5F8B06DC}"/>
              </a:ext>
            </a:extLst>
          </p:cNvPr>
          <p:cNvSpPr txBox="1"/>
          <p:nvPr/>
        </p:nvSpPr>
        <p:spPr>
          <a:xfrm>
            <a:off x="2827024" y="4904926"/>
            <a:ext cx="71365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713232">
              <a:defRPr/>
            </a:pPr>
            <a:r>
              <a:rPr lang="en-US" b="1" dirty="0" err="1">
                <a:solidFill>
                  <a:srgbClr val="000000"/>
                </a:solidFill>
                <a:latin typeface="Lato Black" panose="020F0502020204030203" pitchFamily="34" charset="0"/>
                <a:ea typeface="Lato Black" panose="020F0502020204030203" pitchFamily="34" charset="0"/>
                <a:cs typeface="Lato Black" panose="020F0502020204030203" pitchFamily="34" charset="0"/>
              </a:rPr>
              <a:t>util.o</a:t>
            </a:r>
            <a:endParaRPr lang="en-US" b="1" dirty="0">
              <a:solidFill>
                <a:srgbClr val="000000"/>
              </a:solidFill>
              <a:latin typeface="Lato Black" panose="020F0502020204030203" pitchFamily="34" charset="0"/>
              <a:ea typeface="Lato Black" panose="020F0502020204030203" pitchFamily="34" charset="0"/>
              <a:cs typeface="Lato Black" panose="020F0502020204030203" pitchFamily="34" charset="0"/>
            </a:endParaRPr>
          </a:p>
        </p:txBody>
      </p:sp>
      <p:sp>
        <p:nvSpPr>
          <p:cNvPr id="41" name="Card 6">
            <a:extLst>
              <a:ext uri="{FF2B5EF4-FFF2-40B4-BE49-F238E27FC236}">
                <a16:creationId xmlns:a16="http://schemas.microsoft.com/office/drawing/2014/main" id="{B8371FE0-CAAE-42CC-8420-AEA2C4B1D785}"/>
              </a:ext>
            </a:extLst>
          </p:cNvPr>
          <p:cNvSpPr/>
          <p:nvPr/>
        </p:nvSpPr>
        <p:spPr>
          <a:xfrm>
            <a:off x="4274067" y="3380926"/>
            <a:ext cx="1219200" cy="1524000"/>
          </a:xfrm>
          <a:prstGeom prst="flowChartPunchedCard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bIns="274320" rtlCol="0" anchor="ctr"/>
          <a:lstStyle/>
          <a:p>
            <a:pPr algn="ctr" defTabSz="713232">
              <a:defRPr/>
            </a:pPr>
            <a:endParaRPr lang="en-US" sz="700" dirty="0">
              <a:solidFill>
                <a:srgbClr val="000000"/>
              </a:solidFill>
              <a:latin typeface="Inconsolata" panose="020B0609030003000000" pitchFamily="49" charset="0"/>
              <a:ea typeface="Lato Light" panose="020F0502020204030203" pitchFamily="34" charset="0"/>
              <a:cs typeface="Lato Light" panose="020F0502020204030203" pitchFamily="34" charset="0"/>
            </a:endParaRPr>
          </a:p>
          <a:p>
            <a:pPr algn="ctr" defTabSz="713232">
              <a:defRPr/>
            </a:pPr>
            <a:r>
              <a:rPr lang="en-US" sz="700" dirty="0">
                <a:solidFill>
                  <a:srgbClr val="000000"/>
                </a:solidFill>
                <a:latin typeface="Inconsolata" panose="020B0609030003000000" pitchFamily="49" charset="0"/>
                <a:ea typeface="Lato Light" panose="020F0502020204030203" pitchFamily="34" charset="0"/>
                <a:cs typeface="Lato Light" panose="020F0502020204030203" pitchFamily="34" charset="0"/>
              </a:rPr>
              <a:t>10010101000101010010101001010001010101110101010100111010011101001000101011101010010101010100010100100101001010010100100100101001010110101001010101110101011111101001010100101010001010010101001001010010110101001011001010100101010010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22F6C9DC-D455-415E-8BAC-3CBA51BE041D}"/>
              </a:ext>
            </a:extLst>
          </p:cNvPr>
          <p:cNvSpPr txBox="1"/>
          <p:nvPr/>
        </p:nvSpPr>
        <p:spPr>
          <a:xfrm>
            <a:off x="4433149" y="4904926"/>
            <a:ext cx="105768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713232">
              <a:defRPr/>
            </a:pPr>
            <a:r>
              <a:rPr lang="en-US" b="1" dirty="0" err="1">
                <a:solidFill>
                  <a:srgbClr val="000000"/>
                </a:solidFill>
                <a:latin typeface="Lato Black" panose="020F0502020204030203" pitchFamily="34" charset="0"/>
                <a:ea typeface="Lato Black" panose="020F0502020204030203" pitchFamily="34" charset="0"/>
                <a:cs typeface="Lato Black" panose="020F0502020204030203" pitchFamily="34" charset="0"/>
              </a:rPr>
              <a:t>stdio</a:t>
            </a:r>
            <a:r>
              <a:rPr lang="en-US" b="1" dirty="0">
                <a:solidFill>
                  <a:srgbClr val="000000"/>
                </a:solidFill>
                <a:latin typeface="Lato Black" panose="020F0502020204030203" pitchFamily="34" charset="0"/>
                <a:ea typeface="Lato Black" panose="020F0502020204030203" pitchFamily="34" charset="0"/>
                <a:cs typeface="Lato Black" panose="020F0502020204030203" pitchFamily="34" charset="0"/>
              </a:rPr>
              <a:t>.o</a:t>
            </a:r>
          </a:p>
        </p:txBody>
      </p:sp>
      <p:grpSp>
        <p:nvGrpSpPr>
          <p:cNvPr id="24" name="Group 23">
            <a:extLst>
              <a:ext uri="{FF2B5EF4-FFF2-40B4-BE49-F238E27FC236}">
                <a16:creationId xmlns:a16="http://schemas.microsoft.com/office/drawing/2014/main" id="{FCC78896-275D-4EF4-950C-AC0DBB80493C}"/>
              </a:ext>
            </a:extLst>
          </p:cNvPr>
          <p:cNvGrpSpPr/>
          <p:nvPr/>
        </p:nvGrpSpPr>
        <p:grpSpPr>
          <a:xfrm flipV="1">
            <a:off x="3750378" y="2387185"/>
            <a:ext cx="925971" cy="1026849"/>
            <a:chOff x="1837928" y="1030692"/>
            <a:chExt cx="925971" cy="1029620"/>
          </a:xfrm>
        </p:grpSpPr>
        <p:sp>
          <p:nvSpPr>
            <p:cNvPr id="25" name="Bent Arrow 11">
              <a:extLst>
                <a:ext uri="{FF2B5EF4-FFF2-40B4-BE49-F238E27FC236}">
                  <a16:creationId xmlns:a16="http://schemas.microsoft.com/office/drawing/2014/main" id="{05DC74A4-B42D-4ACA-A9E8-103818956689}"/>
                </a:ext>
              </a:extLst>
            </p:cNvPr>
            <p:cNvSpPr/>
            <p:nvPr/>
          </p:nvSpPr>
          <p:spPr>
            <a:xfrm rot="2902855">
              <a:off x="1771189" y="1097431"/>
              <a:ext cx="1029620" cy="896141"/>
            </a:xfrm>
            <a:prstGeom prst="bentArrow">
              <a:avLst>
                <a:gd name="adj1" fmla="val 25000"/>
                <a:gd name="adj2" fmla="val 25000"/>
                <a:gd name="adj3" fmla="val 25000"/>
                <a:gd name="adj4" fmla="val 87500"/>
              </a:avLst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713232">
                <a:defRPr/>
              </a:pPr>
              <a:endParaRPr lang="en-US" sz="1404" dirty="0">
                <a:solidFill>
                  <a:srgbClr val="000000"/>
                </a:solidFill>
                <a:latin typeface="Segoe UI"/>
              </a:endParaRPr>
            </a:p>
          </p:txBody>
        </p:sp>
        <p:sp>
          <p:nvSpPr>
            <p:cNvPr id="26" name="TextBox 25">
              <a:extLst>
                <a:ext uri="{FF2B5EF4-FFF2-40B4-BE49-F238E27FC236}">
                  <a16:creationId xmlns:a16="http://schemas.microsoft.com/office/drawing/2014/main" id="{F2F5646C-D981-4792-84C7-9A89C40B9A1C}"/>
                </a:ext>
              </a:extLst>
            </p:cNvPr>
            <p:cNvSpPr txBox="1"/>
            <p:nvPr/>
          </p:nvSpPr>
          <p:spPr>
            <a:xfrm rot="13362312">
              <a:off x="2353209" y="1405439"/>
              <a:ext cx="410690" cy="27774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defTabSz="713232">
                <a:defRPr/>
              </a:pPr>
              <a:r>
                <a:rPr lang="en-US" sz="1200" dirty="0">
                  <a:solidFill>
                    <a:srgbClr val="FFFFFF"/>
                  </a:solidFill>
                  <a:latin typeface="Lato Light" panose="020F0502020204030203" pitchFamily="34" charset="0"/>
                  <a:ea typeface="Lato Light" panose="020F0502020204030203" pitchFamily="34" charset="0"/>
                  <a:cs typeface="Lato Light" panose="020F0502020204030203" pitchFamily="34" charset="0"/>
                </a:rPr>
                <a:t>link</a:t>
              </a:r>
              <a:endParaRPr lang="en-US" sz="1100" dirty="0">
                <a:solidFill>
                  <a:srgbClr val="FFFFFF"/>
                </a:solidFill>
                <a:latin typeface="Lato Light" panose="020F0502020204030203" pitchFamily="34" charset="0"/>
                <a:ea typeface="Lato Light" panose="020F0502020204030203" pitchFamily="34" charset="0"/>
                <a:cs typeface="Lato Light" panose="020F0502020204030203" pitchFamily="34" charset="0"/>
              </a:endParaRPr>
            </a:p>
          </p:txBody>
        </p:sp>
      </p:grpSp>
      <p:sp>
        <p:nvSpPr>
          <p:cNvPr id="3" name="Rectangle 2">
            <a:extLst>
              <a:ext uri="{FF2B5EF4-FFF2-40B4-BE49-F238E27FC236}">
                <a16:creationId xmlns:a16="http://schemas.microsoft.com/office/drawing/2014/main" id="{1D146D6A-9ACC-41FD-A93C-6F8E054C8F18}"/>
              </a:ext>
            </a:extLst>
          </p:cNvPr>
          <p:cNvSpPr/>
          <p:nvPr/>
        </p:nvSpPr>
        <p:spPr>
          <a:xfrm rot="19097237">
            <a:off x="3822616" y="3089854"/>
            <a:ext cx="660538" cy="215153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37" name="Group 36">
            <a:extLst>
              <a:ext uri="{FF2B5EF4-FFF2-40B4-BE49-F238E27FC236}">
                <a16:creationId xmlns:a16="http://schemas.microsoft.com/office/drawing/2014/main" id="{D8BC81C7-9F78-4978-88CD-704EAE4B844D}"/>
              </a:ext>
            </a:extLst>
          </p:cNvPr>
          <p:cNvGrpSpPr/>
          <p:nvPr/>
        </p:nvGrpSpPr>
        <p:grpSpPr>
          <a:xfrm>
            <a:off x="4597353" y="986116"/>
            <a:ext cx="1219200" cy="1893332"/>
            <a:chOff x="304800" y="1104900"/>
            <a:chExt cx="1219200" cy="1893332"/>
          </a:xfrm>
        </p:grpSpPr>
        <p:sp>
          <p:nvSpPr>
            <p:cNvPr id="38" name="Card 6">
              <a:extLst>
                <a:ext uri="{FF2B5EF4-FFF2-40B4-BE49-F238E27FC236}">
                  <a16:creationId xmlns:a16="http://schemas.microsoft.com/office/drawing/2014/main" id="{7A1AF6FC-4C17-455E-A16B-A4BB06EBD9DC}"/>
                </a:ext>
              </a:extLst>
            </p:cNvPr>
            <p:cNvSpPr/>
            <p:nvPr/>
          </p:nvSpPr>
          <p:spPr>
            <a:xfrm>
              <a:off x="304800" y="1104900"/>
              <a:ext cx="1219200" cy="1524000"/>
            </a:xfrm>
            <a:prstGeom prst="flowChartPunchedCard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bIns="274320" rtlCol="0" anchor="ctr"/>
            <a:lstStyle/>
            <a:p>
              <a:pPr algn="ctr" defTabSz="713232">
                <a:defRPr/>
              </a:pPr>
              <a:endParaRPr lang="en-US" sz="700" dirty="0">
                <a:solidFill>
                  <a:srgbClr val="000000"/>
                </a:solidFill>
                <a:latin typeface="Inconsolata" panose="020B0609030003000000" pitchFamily="49" charset="0"/>
                <a:ea typeface="Lato Light" panose="020F0502020204030203" pitchFamily="34" charset="0"/>
                <a:cs typeface="Lato Light" panose="020F0502020204030203" pitchFamily="34" charset="0"/>
              </a:endParaRPr>
            </a:p>
            <a:p>
              <a:pPr algn="ctr" defTabSz="713232">
                <a:defRPr/>
              </a:pPr>
              <a:r>
                <a:rPr lang="en-US" sz="700" dirty="0">
                  <a:solidFill>
                    <a:srgbClr val="000000"/>
                  </a:solidFill>
                  <a:latin typeface="Inconsolata" panose="020B0609030003000000" pitchFamily="49" charset="0"/>
                  <a:ea typeface="Lato Light" panose="020F0502020204030203" pitchFamily="34" charset="0"/>
                  <a:cs typeface="Lato Light" panose="020F0502020204030203" pitchFamily="34" charset="0"/>
                </a:rPr>
                <a:t>11101001010100101010001010010101001001010010110101001011001010100101010010100101010001010100101010010100010101011101010101001110100111010010001010111010100101010101000101001001010010100101001001001010010101101010010101011101010111</a:t>
              </a:r>
            </a:p>
          </p:txBody>
        </p:sp>
        <p:sp>
          <p:nvSpPr>
            <p:cNvPr id="39" name="TextBox 38">
              <a:extLst>
                <a:ext uri="{FF2B5EF4-FFF2-40B4-BE49-F238E27FC236}">
                  <a16:creationId xmlns:a16="http://schemas.microsoft.com/office/drawing/2014/main" id="{157DE61B-2F87-4FD0-9B15-A506F3114C17}"/>
                </a:ext>
              </a:extLst>
            </p:cNvPr>
            <p:cNvSpPr txBox="1"/>
            <p:nvPr/>
          </p:nvSpPr>
          <p:spPr>
            <a:xfrm>
              <a:off x="567850" y="2628900"/>
              <a:ext cx="694421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defTabSz="713232">
                <a:defRPr/>
              </a:pPr>
              <a:r>
                <a:rPr lang="en-US" b="1" dirty="0">
                  <a:solidFill>
                    <a:srgbClr val="000000"/>
                  </a:solidFill>
                  <a:latin typeface="Lato Black" panose="020F0502020204030203" pitchFamily="34" charset="0"/>
                  <a:ea typeface="Lato Black" panose="020F0502020204030203" pitchFamily="34" charset="0"/>
                  <a:cs typeface="Lato Black" panose="020F0502020204030203" pitchFamily="34" charset="0"/>
                </a:rPr>
                <a:t>hello</a:t>
              </a:r>
            </a:p>
          </p:txBody>
        </p:sp>
      </p:grpSp>
      <p:sp>
        <p:nvSpPr>
          <p:cNvPr id="6" name="TextBox 5">
            <a:extLst>
              <a:ext uri="{FF2B5EF4-FFF2-40B4-BE49-F238E27FC236}">
                <a16:creationId xmlns:a16="http://schemas.microsoft.com/office/drawing/2014/main" id="{821B3337-3B72-453C-8FFE-53651D2DA0F9}"/>
              </a:ext>
            </a:extLst>
          </p:cNvPr>
          <p:cNvSpPr txBox="1"/>
          <p:nvPr/>
        </p:nvSpPr>
        <p:spPr>
          <a:xfrm>
            <a:off x="3935198" y="5221809"/>
            <a:ext cx="194316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External Libraries</a:t>
            </a:r>
          </a:p>
        </p:txBody>
      </p:sp>
    </p:spTree>
    <p:extLst>
      <p:ext uri="{BB962C8B-B14F-4D97-AF65-F5344CB8AC3E}">
        <p14:creationId xmlns:p14="http://schemas.microsoft.com/office/powerpoint/2010/main" val="20361536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4" grpId="0" animBg="1"/>
      <p:bldP spid="35" grpId="0" animBg="1"/>
      <p:bldP spid="36" grpId="0"/>
      <p:bldP spid="41" grpId="0" animBg="1"/>
      <p:bldP spid="42" grpId="0"/>
      <p:bldP spid="3" grpId="0" animBg="1"/>
      <p:bldP spid="6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" name="Picture 2" descr="mage result for sausage links clipart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3665" t="40990" b="40636"/>
          <a:stretch/>
        </p:blipFill>
        <p:spPr bwMode="auto">
          <a:xfrm rot="16200000">
            <a:off x="3695216" y="3048265"/>
            <a:ext cx="4115331" cy="9906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It's just a grinder.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40068" y="758628"/>
            <a:ext cx="8383283" cy="4388842"/>
          </a:xfrm>
        </p:spPr>
        <p:txBody>
          <a:bodyPr/>
          <a:lstStyle/>
          <a:p>
            <a:r>
              <a:rPr lang="en-US" dirty="0"/>
              <a:t>In summary: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defTabSz="713232">
              <a:defRPr/>
            </a:pPr>
            <a:fld id="{3552B95B-556F-44BD-91A5-D80C1B9E2BB3}" type="slidenum">
              <a:rPr lang="en-US" sz="1200">
                <a:solidFill>
                  <a:srgbClr val="000000">
                    <a:tint val="75000"/>
                  </a:srgbClr>
                </a:solidFill>
                <a:latin typeface="Segoe UI"/>
                <a:ea typeface="+mn-ea"/>
                <a:cs typeface="+mn-cs"/>
              </a:rPr>
              <a:pPr defTabSz="713232">
                <a:defRPr/>
              </a:pPr>
              <a:t>6</a:t>
            </a:fld>
            <a:endParaRPr lang="en-US" sz="1200">
              <a:solidFill>
                <a:srgbClr val="000000">
                  <a:tint val="75000"/>
                </a:srgbClr>
              </a:solidFill>
              <a:latin typeface="Segoe UI"/>
              <a:ea typeface="+mn-ea"/>
              <a:cs typeface="+mn-cs"/>
            </a:endParaRPr>
          </a:p>
        </p:txBody>
      </p:sp>
      <p:grpSp>
        <p:nvGrpSpPr>
          <p:cNvPr id="9" name="Group 8"/>
          <p:cNvGrpSpPr/>
          <p:nvPr/>
        </p:nvGrpSpPr>
        <p:grpSpPr>
          <a:xfrm>
            <a:off x="812800" y="1181100"/>
            <a:ext cx="1219200" cy="1893332"/>
            <a:chOff x="304800" y="1104900"/>
            <a:chExt cx="1219200" cy="1893332"/>
          </a:xfrm>
        </p:grpSpPr>
        <p:sp>
          <p:nvSpPr>
            <p:cNvPr id="7" name="Card 6"/>
            <p:cNvSpPr/>
            <p:nvPr/>
          </p:nvSpPr>
          <p:spPr>
            <a:xfrm>
              <a:off x="304800" y="1104900"/>
              <a:ext cx="1219200" cy="1524000"/>
            </a:xfrm>
            <a:prstGeom prst="flowChartPunchedCard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bIns="274320" rtlCol="0" anchor="ctr"/>
            <a:lstStyle/>
            <a:p>
              <a:pPr algn="ctr" defTabSz="713232">
                <a:defRPr/>
              </a:pPr>
              <a:endParaRPr lang="en-US" sz="700" dirty="0">
                <a:solidFill>
                  <a:srgbClr val="000000"/>
                </a:solidFill>
                <a:latin typeface="Inconsolata" panose="020B0609030003000000" pitchFamily="49" charset="0"/>
                <a:ea typeface="Lato Light" panose="020F0502020204030203" pitchFamily="34" charset="0"/>
                <a:cs typeface="Lato Light" panose="020F0502020204030203" pitchFamily="34" charset="0"/>
              </a:endParaRPr>
            </a:p>
            <a:p>
              <a:pPr algn="ctr" defTabSz="713232">
                <a:defRPr/>
              </a:pPr>
              <a:r>
                <a:rPr lang="en-US" sz="700" dirty="0">
                  <a:solidFill>
                    <a:srgbClr val="000000"/>
                  </a:solidFill>
                  <a:latin typeface="Inconsolata" panose="020B0609030003000000" pitchFamily="49" charset="0"/>
                  <a:ea typeface="Lato Light" panose="020F0502020204030203" pitchFamily="34" charset="0"/>
                  <a:cs typeface="Lato Light" panose="020F0502020204030203" pitchFamily="34" charset="0"/>
                </a:rPr>
                <a:t>/\/\/\/\/\/\/\/\/\/\/\/\/\/\/\/\/\/\/\/\/\/\/\/\/\/\/\/\/\/\/\/\/\/\/\/\/\/\/\/\/\/\/\/\/\/\/\/\/\/\/\/\/\/\/\/\/\/\/\/\/\/\/\/\/\/\/\/\/\/\/\/\/\/\/\/\/\/\/\/\/\/\/\/\/\/\/\/\/\/\/\/\/\/\/\/\/\/\/\/\/\/\/\/\/\/\/\/\/\/\/\/\/\/\/\/\/\/\/\/\/\/\/\/\/\/\/</a:t>
              </a:r>
            </a:p>
          </p:txBody>
        </p:sp>
        <p:sp>
          <p:nvSpPr>
            <p:cNvPr id="8" name="TextBox 7"/>
            <p:cNvSpPr txBox="1"/>
            <p:nvPr/>
          </p:nvSpPr>
          <p:spPr>
            <a:xfrm>
              <a:off x="467001" y="2628900"/>
              <a:ext cx="894797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defTabSz="713232">
                <a:defRPr/>
              </a:pPr>
              <a:r>
                <a:rPr lang="en-US" b="1" dirty="0" err="1">
                  <a:solidFill>
                    <a:srgbClr val="000000"/>
                  </a:solidFill>
                  <a:latin typeface="Lato Black" panose="020F0502020204030203" pitchFamily="34" charset="0"/>
                  <a:ea typeface="Lato Black" panose="020F0502020204030203" pitchFamily="34" charset="0"/>
                  <a:cs typeface="Lato Black" panose="020F0502020204030203" pitchFamily="34" charset="0"/>
                </a:rPr>
                <a:t>hello.c</a:t>
              </a:r>
              <a:endParaRPr lang="en-US" b="1" dirty="0">
                <a:solidFill>
                  <a:srgbClr val="000000"/>
                </a:solidFill>
                <a:latin typeface="Lato Black" panose="020F0502020204030203" pitchFamily="34" charset="0"/>
                <a:ea typeface="Lato Black" panose="020F0502020204030203" pitchFamily="34" charset="0"/>
                <a:cs typeface="Lato Black" panose="020F0502020204030203" pitchFamily="34" charset="0"/>
              </a:endParaRPr>
            </a:p>
          </p:txBody>
        </p:sp>
      </p:grpSp>
      <p:sp>
        <p:nvSpPr>
          <p:cNvPr id="10" name="Cloud 9"/>
          <p:cNvSpPr/>
          <p:nvPr/>
        </p:nvSpPr>
        <p:spPr>
          <a:xfrm rot="20109993">
            <a:off x="2435549" y="1177942"/>
            <a:ext cx="2413510" cy="1892597"/>
          </a:xfrm>
          <a:prstGeom prst="cloud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713232">
              <a:defRPr/>
            </a:pPr>
            <a:r>
              <a:rPr lang="en-US" sz="2000" b="1" dirty="0">
                <a:solidFill>
                  <a:srgbClr val="FFFFFF"/>
                </a:solidFill>
                <a:latin typeface="Lato Black" panose="020F0502020204030203" pitchFamily="34" charset="0"/>
                <a:ea typeface="Lato Black" panose="020F0502020204030203" pitchFamily="34" charset="0"/>
                <a:cs typeface="Lato Black" panose="020F0502020204030203" pitchFamily="34" charset="0"/>
              </a:rPr>
              <a:t>c</a:t>
            </a:r>
            <a:r>
              <a:rPr lang="en-US" sz="2000" b="1" dirty="0" err="1">
                <a:solidFill>
                  <a:srgbClr val="FFFFFF"/>
                </a:solidFill>
                <a:latin typeface="Lato Black" panose="020F0502020204030203" pitchFamily="34" charset="0"/>
                <a:ea typeface="Lato Black" panose="020F0502020204030203" pitchFamily="34" charset="0"/>
                <a:cs typeface="Lato Black" panose="020F0502020204030203" pitchFamily="34" charset="0"/>
              </a:rPr>
              <a:t>ompiler</a:t>
            </a:r>
            <a:r>
              <a:rPr lang="en-US" sz="2000" b="1" dirty="0">
                <a:solidFill>
                  <a:srgbClr val="FFFFFF"/>
                </a:solidFill>
                <a:latin typeface="Lato Black" panose="020F0502020204030203" pitchFamily="34" charset="0"/>
                <a:ea typeface="Lato Black" panose="020F0502020204030203" pitchFamily="34" charset="0"/>
                <a:cs typeface="Lato Black" panose="020F0502020204030203" pitchFamily="34" charset="0"/>
              </a:rPr>
              <a:t> !!!</a:t>
            </a:r>
          </a:p>
        </p:txBody>
      </p:sp>
      <p:grpSp>
        <p:nvGrpSpPr>
          <p:cNvPr id="11" name="Group 10"/>
          <p:cNvGrpSpPr/>
          <p:nvPr/>
        </p:nvGrpSpPr>
        <p:grpSpPr>
          <a:xfrm flipV="1">
            <a:off x="1737527" y="2688195"/>
            <a:ext cx="994587" cy="1026848"/>
            <a:chOff x="1837928" y="1030692"/>
            <a:chExt cx="994587" cy="1029620"/>
          </a:xfrm>
        </p:grpSpPr>
        <p:sp>
          <p:nvSpPr>
            <p:cNvPr id="12" name="Bent Arrow 11"/>
            <p:cNvSpPr/>
            <p:nvPr/>
          </p:nvSpPr>
          <p:spPr>
            <a:xfrm rot="2902855">
              <a:off x="1771189" y="1097431"/>
              <a:ext cx="1029620" cy="896141"/>
            </a:xfrm>
            <a:prstGeom prst="bentArrow">
              <a:avLst>
                <a:gd name="adj1" fmla="val 25000"/>
                <a:gd name="adj2" fmla="val 25000"/>
                <a:gd name="adj3" fmla="val 25000"/>
                <a:gd name="adj4" fmla="val 87500"/>
              </a:avLst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713232">
                <a:defRPr/>
              </a:pPr>
              <a:endParaRPr lang="en-US" sz="1404" dirty="0">
                <a:solidFill>
                  <a:srgbClr val="000000"/>
                </a:solidFill>
                <a:latin typeface="Segoe UI"/>
              </a:endParaRPr>
            </a:p>
          </p:txBody>
        </p:sp>
        <p:sp>
          <p:nvSpPr>
            <p:cNvPr id="13" name="TextBox 12"/>
            <p:cNvSpPr txBox="1"/>
            <p:nvPr/>
          </p:nvSpPr>
          <p:spPr>
            <a:xfrm rot="13362312">
              <a:off x="2271143" y="1412181"/>
              <a:ext cx="561372" cy="27774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defTabSz="713232">
                <a:defRPr/>
              </a:pPr>
              <a:r>
                <a:rPr lang="en-US" sz="1200" dirty="0" err="1">
                  <a:solidFill>
                    <a:srgbClr val="FFFFFF"/>
                  </a:solidFill>
                  <a:latin typeface="Lato Light" panose="020F0502020204030203" pitchFamily="34" charset="0"/>
                  <a:ea typeface="Lato Light" panose="020F0502020204030203" pitchFamily="34" charset="0"/>
                  <a:cs typeface="Lato Light" panose="020F0502020204030203" pitchFamily="34" charset="0"/>
                </a:rPr>
                <a:t>bloop</a:t>
              </a:r>
              <a:endParaRPr lang="en-US" sz="1100" dirty="0">
                <a:solidFill>
                  <a:srgbClr val="FFFFFF"/>
                </a:solidFill>
                <a:latin typeface="Lato Light" panose="020F0502020204030203" pitchFamily="34" charset="0"/>
                <a:ea typeface="Lato Light" panose="020F0502020204030203" pitchFamily="34" charset="0"/>
                <a:cs typeface="Lato Light" panose="020F0502020204030203" pitchFamily="34" charset="0"/>
              </a:endParaRPr>
            </a:p>
          </p:txBody>
        </p:sp>
      </p:grpSp>
      <p:grpSp>
        <p:nvGrpSpPr>
          <p:cNvPr id="14" name="Group 13"/>
          <p:cNvGrpSpPr/>
          <p:nvPr/>
        </p:nvGrpSpPr>
        <p:grpSpPr>
          <a:xfrm rot="498519">
            <a:off x="4783340" y="839594"/>
            <a:ext cx="957612" cy="994256"/>
            <a:chOff x="1837928" y="1030692"/>
            <a:chExt cx="957612" cy="1029620"/>
          </a:xfrm>
        </p:grpSpPr>
        <p:sp>
          <p:nvSpPr>
            <p:cNvPr id="15" name="Bent Arrow 14"/>
            <p:cNvSpPr/>
            <p:nvPr/>
          </p:nvSpPr>
          <p:spPr>
            <a:xfrm rot="2902855">
              <a:off x="1771189" y="1097431"/>
              <a:ext cx="1029620" cy="896141"/>
            </a:xfrm>
            <a:prstGeom prst="bentArrow">
              <a:avLst>
                <a:gd name="adj1" fmla="val 25000"/>
                <a:gd name="adj2" fmla="val 25000"/>
                <a:gd name="adj3" fmla="val 25000"/>
                <a:gd name="adj4" fmla="val 87500"/>
              </a:avLst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713232">
                <a:defRPr/>
              </a:pPr>
              <a:endParaRPr lang="en-US" sz="1404" dirty="0">
                <a:solidFill>
                  <a:srgbClr val="000000"/>
                </a:solidFill>
                <a:latin typeface="Segoe UI"/>
              </a:endParaRPr>
            </a:p>
          </p:txBody>
        </p:sp>
        <p:sp>
          <p:nvSpPr>
            <p:cNvPr id="16" name="TextBox 15"/>
            <p:cNvSpPr txBox="1"/>
            <p:nvPr/>
          </p:nvSpPr>
          <p:spPr>
            <a:xfrm rot="2476332">
              <a:off x="2320730" y="1374371"/>
              <a:ext cx="474810" cy="28685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defTabSz="713232">
                <a:defRPr/>
              </a:pPr>
              <a:r>
                <a:rPr lang="en-US" sz="1200" dirty="0">
                  <a:solidFill>
                    <a:srgbClr val="FFFFFF"/>
                  </a:solidFill>
                  <a:latin typeface="Lato Light" panose="020F0502020204030203" pitchFamily="34" charset="0"/>
                  <a:ea typeface="Lato Light" panose="020F0502020204030203" pitchFamily="34" charset="0"/>
                  <a:cs typeface="Lato Light" panose="020F0502020204030203" pitchFamily="34" charset="0"/>
                </a:rPr>
                <a:t>plop</a:t>
              </a:r>
              <a:endParaRPr lang="en-US" sz="1100" dirty="0">
                <a:solidFill>
                  <a:srgbClr val="FFFFFF"/>
                </a:solidFill>
                <a:latin typeface="Lato Light" panose="020F0502020204030203" pitchFamily="34" charset="0"/>
                <a:ea typeface="Lato Light" panose="020F0502020204030203" pitchFamily="34" charset="0"/>
                <a:cs typeface="Lato Light" panose="020F0502020204030203" pitchFamily="34" charset="0"/>
              </a:endParaRPr>
            </a:p>
          </p:txBody>
        </p:sp>
      </p:grpSp>
      <p:sp>
        <p:nvSpPr>
          <p:cNvPr id="18" name="TextBox 17"/>
          <p:cNvSpPr txBox="1"/>
          <p:nvPr/>
        </p:nvSpPr>
        <p:spPr>
          <a:xfrm>
            <a:off x="1559639" y="3647810"/>
            <a:ext cx="373380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713232">
              <a:defRPr/>
            </a:pPr>
            <a:r>
              <a:rPr lang="en-US" sz="2200" dirty="0">
                <a:solidFill>
                  <a:srgbClr val="000000"/>
                </a:solidFill>
                <a:latin typeface="Lato Semibold" panose="020F0502020204030203" pitchFamily="34" charset="0"/>
                <a:ea typeface="Lato Semibold" panose="020F0502020204030203" pitchFamily="34" charset="0"/>
                <a:cs typeface="Lato Semibold" panose="020F0502020204030203" pitchFamily="34" charset="0"/>
              </a:rPr>
              <a:t>code goes in, </a:t>
            </a:r>
            <a:r>
              <a:rPr lang="en-US" sz="2200" strike="sngStrike" dirty="0">
                <a:solidFill>
                  <a:srgbClr val="000000"/>
                </a:solidFill>
                <a:latin typeface="Lato Semibold" panose="020F0502020204030203" pitchFamily="34" charset="0"/>
                <a:ea typeface="Lato Semibold" panose="020F0502020204030203" pitchFamily="34" charset="0"/>
                <a:cs typeface="Lato Semibold" panose="020F0502020204030203" pitchFamily="34" charset="0"/>
              </a:rPr>
              <a:t>sausage</a:t>
            </a:r>
            <a:r>
              <a:rPr lang="en-US" sz="2200" dirty="0">
                <a:solidFill>
                  <a:srgbClr val="000000"/>
                </a:solidFill>
                <a:latin typeface="Lato Semibold" panose="020F0502020204030203" pitchFamily="34" charset="0"/>
                <a:ea typeface="Lato Semibold" panose="020F0502020204030203" pitchFamily="34" charset="0"/>
                <a:cs typeface="Lato Semibold" panose="020F0502020204030203" pitchFamily="34" charset="0"/>
              </a:rPr>
              <a:t> object files come out</a:t>
            </a:r>
            <a:endParaRPr lang="en-US" sz="2200" b="1" dirty="0">
              <a:solidFill>
                <a:srgbClr val="000000"/>
              </a:solidFill>
              <a:latin typeface="Lato Semibold" panose="020F0502020204030203" pitchFamily="34" charset="0"/>
              <a:ea typeface="Lato Semibold" panose="020F0502020204030203" pitchFamily="34" charset="0"/>
              <a:cs typeface="Lato Semibold" panose="020F0502020204030203" pitchFamily="34" charset="0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6146801" y="907981"/>
            <a:ext cx="3373133" cy="14465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713232">
              <a:defRPr/>
            </a:pPr>
            <a:r>
              <a:rPr lang="en-US" sz="2200" dirty="0">
                <a:solidFill>
                  <a:srgbClr val="000000"/>
                </a:solidFill>
                <a:latin typeface="Lato Semibold" panose="020F0502020204030203" pitchFamily="34" charset="0"/>
                <a:ea typeface="Lato Semibold" panose="020F0502020204030203" pitchFamily="34" charset="0"/>
                <a:cs typeface="Lato Semibold" panose="020F0502020204030203" pitchFamily="34" charset="0"/>
              </a:rPr>
              <a:t>Some compilers output assembly and rely on an assembler to produce machine code</a:t>
            </a:r>
            <a:endParaRPr lang="en-US" sz="2200" b="1" dirty="0">
              <a:solidFill>
                <a:srgbClr val="000000"/>
              </a:solidFill>
              <a:latin typeface="Lato Semibold" panose="020F0502020204030203" pitchFamily="34" charset="0"/>
              <a:ea typeface="Lato Semibold" panose="020F0502020204030203" pitchFamily="34" charset="0"/>
              <a:cs typeface="Lato Semibold" panose="020F0502020204030203" pitchFamily="34" charset="0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6201709" y="2700868"/>
            <a:ext cx="3263315" cy="246221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713232">
              <a:defRPr/>
            </a:pPr>
            <a:r>
              <a:rPr lang="en-US" sz="2200" dirty="0">
                <a:solidFill>
                  <a:srgbClr val="000000"/>
                </a:solidFill>
                <a:latin typeface="Lato Semibold" panose="020F0502020204030203" pitchFamily="34" charset="0"/>
                <a:ea typeface="Lato Semibold" panose="020F0502020204030203" pitchFamily="34" charset="0"/>
                <a:cs typeface="Lato Semibold" panose="020F0502020204030203" pitchFamily="34" charset="0"/>
              </a:rPr>
              <a:t>These days, it's common for the compiler itself to produce machine code, or some kind of platform-independent assembly code</a:t>
            </a:r>
          </a:p>
          <a:p>
            <a:pPr algn="ctr" defTabSz="713232">
              <a:defRPr/>
            </a:pPr>
            <a:r>
              <a:rPr lang="en-US" sz="2200" dirty="0">
                <a:solidFill>
                  <a:srgbClr val="000000"/>
                </a:solidFill>
                <a:latin typeface="Lato Semibold" panose="020F0502020204030203" pitchFamily="34" charset="0"/>
                <a:ea typeface="Lato Semibold" panose="020F0502020204030203" pitchFamily="34" charset="0"/>
                <a:cs typeface="Lato Semibold" panose="020F0502020204030203" pitchFamily="34" charset="0"/>
              </a:rPr>
              <a:t>(typically: a bytecode)</a:t>
            </a:r>
            <a:endParaRPr lang="en-US" sz="2200" b="1" dirty="0">
              <a:solidFill>
                <a:srgbClr val="000000"/>
              </a:solidFill>
              <a:latin typeface="Lato Semibold" panose="020F0502020204030203" pitchFamily="34" charset="0"/>
              <a:ea typeface="Lato Semibold" panose="020F0502020204030203" pitchFamily="34" charset="0"/>
              <a:cs typeface="Lato Semibold" panose="020F0502020204030203" pitchFamily="34" charset="0"/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6CAC675C-3768-4795-80BC-26A733F61594}"/>
              </a:ext>
            </a:extLst>
          </p:cNvPr>
          <p:cNvSpPr txBox="1"/>
          <p:nvPr/>
        </p:nvSpPr>
        <p:spPr>
          <a:xfrm>
            <a:off x="1559639" y="4468916"/>
            <a:ext cx="3733800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713232">
              <a:defRPr/>
            </a:pPr>
            <a:r>
              <a:rPr lang="en-US" sz="2200" dirty="0">
                <a:solidFill>
                  <a:srgbClr val="000000"/>
                </a:solidFill>
                <a:latin typeface="Lato Semibold" panose="020F0502020204030203" pitchFamily="34" charset="0"/>
                <a:ea typeface="Lato Semibold" panose="020F0502020204030203" pitchFamily="34" charset="0"/>
                <a:cs typeface="Lato Semibold" panose="020F0502020204030203" pitchFamily="34" charset="0"/>
              </a:rPr>
              <a:t>The executable is produced by a </a:t>
            </a:r>
            <a:r>
              <a:rPr lang="en-US" sz="2200" i="1" dirty="0">
                <a:solidFill>
                  <a:srgbClr val="000000"/>
                </a:solidFill>
                <a:latin typeface="Lato Black" panose="020F0502020204030203" pitchFamily="34" charset="0"/>
                <a:ea typeface="Lato Black" panose="020F0502020204030203" pitchFamily="34" charset="0"/>
                <a:cs typeface="Lato Black" panose="020F0502020204030203" pitchFamily="34" charset="0"/>
              </a:rPr>
              <a:t>linker</a:t>
            </a:r>
            <a:r>
              <a:rPr lang="en-US" sz="2200" dirty="0">
                <a:solidFill>
                  <a:srgbClr val="000000"/>
                </a:solidFill>
                <a:latin typeface="Lato Semibold" panose="020F0502020204030203" pitchFamily="34" charset="0"/>
                <a:ea typeface="Lato Semibold" panose="020F0502020204030203" pitchFamily="34" charset="0"/>
                <a:cs typeface="Lato Semibold" panose="020F0502020204030203" pitchFamily="34" charset="0"/>
              </a:rPr>
              <a:t>, which merges code together.</a:t>
            </a:r>
            <a:endParaRPr lang="en-US" sz="2200" b="1" dirty="0">
              <a:solidFill>
                <a:srgbClr val="000000"/>
              </a:solidFill>
              <a:latin typeface="Lato Semibold" panose="020F0502020204030203" pitchFamily="34" charset="0"/>
              <a:ea typeface="Lato Semibold" panose="020F0502020204030203" pitchFamily="34" charset="0"/>
              <a:cs typeface="Lato Semibold" panose="020F050202020403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4258938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  <p:bldP spid="18" grpId="0"/>
      <p:bldP spid="19" grpId="0"/>
      <p:bldP spid="20" grpId="0"/>
      <p:bldP spid="21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342900" y="15213"/>
            <a:ext cx="8763000" cy="552318"/>
          </a:xfrm>
        </p:spPr>
        <p:txBody>
          <a:bodyPr/>
          <a:lstStyle/>
          <a:p>
            <a:r>
              <a:rPr lang="en-US" dirty="0"/>
              <a:t>Compiler</a:t>
            </a:r>
          </a:p>
        </p:txBody>
      </p:sp>
      <p:sp>
        <p:nvSpPr>
          <p:cNvPr id="2269187" name="Rectangle 3"/>
          <p:cNvSpPr>
            <a:spLocks noGrp="1" noChangeArrowheads="1"/>
          </p:cNvSpPr>
          <p:nvPr>
            <p:ph idx="1"/>
          </p:nvPr>
        </p:nvSpPr>
        <p:spPr>
          <a:xfrm>
            <a:off x="554182" y="886691"/>
            <a:ext cx="8907318" cy="4261572"/>
          </a:xfrm>
        </p:spPr>
        <p:txBody>
          <a:bodyPr>
            <a:normAutofit/>
          </a:bodyPr>
          <a:lstStyle/>
          <a:p>
            <a:r>
              <a:rPr lang="en-US" dirty="0"/>
              <a:t>Input: Higher-level language code (e.g. C, Java)</a:t>
            </a:r>
          </a:p>
          <a:p>
            <a:pPr lvl="1"/>
            <a:r>
              <a:rPr lang="en-US" dirty="0" err="1"/>
              <a:t>foo.c</a:t>
            </a:r>
            <a:endParaRPr lang="en-US" dirty="0"/>
          </a:p>
          <a:p>
            <a:r>
              <a:rPr lang="en-US" dirty="0"/>
              <a:t>Output: Assembly language code (e.g. x86, ARM, MIPS)</a:t>
            </a:r>
          </a:p>
          <a:p>
            <a:pPr lvl="1"/>
            <a:r>
              <a:rPr lang="en-US" dirty="0" err="1"/>
              <a:t>foo.s</a:t>
            </a:r>
            <a:endParaRPr lang="en-US" dirty="0"/>
          </a:p>
          <a:p>
            <a:pPr lvl="2"/>
            <a:endParaRPr lang="en-US" dirty="0"/>
          </a:p>
          <a:p>
            <a:r>
              <a:rPr lang="en-US" dirty="0"/>
              <a:t>First there’s a preprocessor step to handle #directives</a:t>
            </a:r>
          </a:p>
          <a:p>
            <a:pPr lvl="1"/>
            <a:r>
              <a:rPr lang="en-US" dirty="0"/>
              <a:t>Macro substitution, plus other specialty directives</a:t>
            </a:r>
          </a:p>
          <a:p>
            <a:pPr lvl="1"/>
            <a:r>
              <a:rPr lang="en-US" dirty="0"/>
              <a:t>If curious/interested:  </a:t>
            </a:r>
            <a:r>
              <a:rPr lang="en-US" dirty="0">
                <a:hlinkClick r:id="rId2"/>
              </a:rPr>
              <a:t>http://tigcc.ticalc.org/doc/cpp.html</a:t>
            </a:r>
            <a:r>
              <a:rPr lang="en-US" dirty="0"/>
              <a:t> </a:t>
            </a:r>
            <a:br>
              <a:rPr lang="en-US" dirty="0"/>
            </a:br>
            <a:endParaRPr lang="en-US" dirty="0"/>
          </a:p>
          <a:p>
            <a:r>
              <a:rPr lang="en-US" dirty="0"/>
              <a:t>Compiler optimizations</a:t>
            </a:r>
          </a:p>
          <a:p>
            <a:pPr lvl="1"/>
            <a:r>
              <a:rPr lang="en-US" dirty="0"/>
              <a:t>“Level” of optimization specified by capital ‘O’ flag (e.g. -</a:t>
            </a:r>
            <a:r>
              <a:rPr lang="en-US" dirty="0" err="1"/>
              <a:t>Og</a:t>
            </a:r>
            <a:r>
              <a:rPr lang="en-US" dirty="0"/>
              <a:t>, -O3)</a:t>
            </a:r>
          </a:p>
          <a:p>
            <a:pPr lvl="1"/>
            <a:r>
              <a:rPr lang="en-US" dirty="0"/>
              <a:t>Options:  </a:t>
            </a:r>
            <a:r>
              <a:rPr lang="en-US" dirty="0">
                <a:hlinkClick r:id="rId3"/>
              </a:rPr>
              <a:t>https://gcc.gnu.org/onlinedocs/gcc/Optimize-Options.html</a:t>
            </a:r>
            <a:r>
              <a:rPr lang="en-US" dirty="0"/>
              <a:t> </a:t>
            </a:r>
          </a:p>
        </p:txBody>
      </p:sp>
      <p:sp>
        <p:nvSpPr>
          <p:cNvPr id="5" name="Rectangle 6">
            <a:extLst>
              <a:ext uri="{FF2B5EF4-FFF2-40B4-BE49-F238E27FC236}">
                <a16:creationId xmlns:a16="http://schemas.microsoft.com/office/drawing/2014/main" id="{64B681FD-B742-A840-9385-149B21230A83}"/>
              </a:ext>
            </a:extLst>
          </p:cNvPr>
          <p:cNvSpPr>
            <a:spLocks noGrp="1" noChangeArrowheads="1"/>
          </p:cNvSpPr>
          <p:nvPr>
            <p:ph type="sldNum" sz="quarter" idx="4294967295"/>
          </p:nvPr>
        </p:nvSpPr>
        <p:spPr bwMode="auto">
          <a:xfrm>
            <a:off x="8153400" y="5239616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algn="r" rtl="0" eaLnBrk="0" fontAlgn="base" hangingPunct="0">
              <a:spcBef>
                <a:spcPct val="0"/>
              </a:spcBef>
              <a:spcAft>
                <a:spcPct val="0"/>
              </a:spcAft>
              <a:defRPr sz="1400" kern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  <a:cs typeface="+mn-cs"/>
              </a:defRPr>
            </a:lvl5pPr>
            <a:lvl6pPr marL="2286000" algn="l" defTabSz="914400" rtl="0" eaLnBrk="1" latinLnBrk="0" hangingPunct="1">
              <a:defRPr sz="2400" kern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  <a:cs typeface="+mn-cs"/>
              </a:defRPr>
            </a:lvl6pPr>
            <a:lvl7pPr marL="2743200" algn="l" defTabSz="914400" rtl="0" eaLnBrk="1" latinLnBrk="0" hangingPunct="1">
              <a:defRPr sz="2400" kern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  <a:cs typeface="+mn-cs"/>
              </a:defRPr>
            </a:lvl7pPr>
            <a:lvl8pPr marL="3200400" algn="l" defTabSz="914400" rtl="0" eaLnBrk="1" latinLnBrk="0" hangingPunct="1">
              <a:defRPr sz="2400" kern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  <a:cs typeface="+mn-cs"/>
              </a:defRPr>
            </a:lvl8pPr>
            <a:lvl9pPr marL="3657600" algn="l" defTabSz="914400" rtl="0" eaLnBrk="1" latinLnBrk="0" hangingPunct="1">
              <a:defRPr sz="2400" kern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  <a:cs typeface="+mn-cs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B155CD39-130E-C347-A052-A70699A3F890}" type="slidenum">
              <a:rPr lang="en-US" altLang="en-US" smtClean="0"/>
              <a:pPr/>
              <a:t>7</a:t>
            </a:fld>
            <a:endParaRPr lang="en-US" altLang="en-US" sz="1167" dirty="0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1964962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6918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6918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6918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6918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6918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6918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6918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6918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69187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69187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69187" grpId="0" uiExpand="1" build="p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8" name="Google Shape;838;p48"/>
          <p:cNvSpPr txBox="1">
            <a:spLocks noGrp="1"/>
          </p:cNvSpPr>
          <p:nvPr>
            <p:ph type="title"/>
          </p:nvPr>
        </p:nvSpPr>
        <p:spPr/>
        <p:txBody>
          <a:bodyPr/>
          <a:lstStyle/>
          <a:p>
            <a:pPr lvl="0"/>
            <a:r>
              <a:rPr lang="en-US">
                <a:sym typeface="Calibri"/>
              </a:rPr>
              <a:t>Compilers Are Non-Trivial</a:t>
            </a:r>
          </a:p>
        </p:txBody>
      </p:sp>
      <p:sp>
        <p:nvSpPr>
          <p:cNvPr id="839" name="Google Shape;839;p48"/>
          <p:cNvSpPr txBox="1">
            <a:spLocks noGrp="1"/>
          </p:cNvSpPr>
          <p:nvPr>
            <p:ph type="body" idx="1"/>
          </p:nvPr>
        </p:nvSpPr>
        <p:spPr>
          <a:xfrm>
            <a:off x="342899" y="886691"/>
            <a:ext cx="8762999" cy="4696691"/>
          </a:xfrm>
        </p:spPr>
        <p:txBody>
          <a:bodyPr>
            <a:normAutofit/>
          </a:bodyPr>
          <a:lstStyle/>
          <a:p>
            <a:pPr lvl="0"/>
            <a:r>
              <a:rPr lang="en-US" dirty="0">
                <a:sym typeface="Calibri"/>
              </a:rPr>
              <a:t>There’s a whole course about them – </a:t>
            </a:r>
            <a:r>
              <a:rPr lang="en-US" b="1" dirty="0">
                <a:sym typeface="Calibri"/>
              </a:rPr>
              <a:t>CS 1622</a:t>
            </a:r>
            <a:endParaRPr lang="en-US" b="1" dirty="0"/>
          </a:p>
          <a:p>
            <a:pPr lvl="1"/>
            <a:r>
              <a:rPr lang="en-US" dirty="0">
                <a:sym typeface="Calibri"/>
              </a:rPr>
              <a:t>We won’t go into much detail in this course</a:t>
            </a:r>
            <a:endParaRPr lang="en-US" dirty="0"/>
          </a:p>
          <a:p>
            <a:pPr lvl="1"/>
            <a:r>
              <a:rPr lang="en-US" dirty="0">
                <a:sym typeface="Calibri"/>
              </a:rPr>
              <a:t>For the very curious: </a:t>
            </a:r>
            <a:r>
              <a:rPr lang="en-US" dirty="0">
                <a:sym typeface="Calibri"/>
                <a:hlinkClick r:id="rId3"/>
              </a:rPr>
              <a:t>http://www.sigbus.info/how-i-wrote-a-self-hosting-c-compiler-in-40-days.html</a:t>
            </a:r>
            <a:endParaRPr lang="en-US" dirty="0">
              <a:sym typeface="Calibri"/>
            </a:endParaRPr>
          </a:p>
          <a:p>
            <a:pPr lvl="0"/>
            <a:r>
              <a:rPr lang="en-US" dirty="0">
                <a:sym typeface="Calibri"/>
              </a:rPr>
              <a:t>Some examples of the task’s complexity:</a:t>
            </a:r>
            <a:endParaRPr lang="en-US" dirty="0"/>
          </a:p>
          <a:p>
            <a:pPr lvl="1"/>
            <a:r>
              <a:rPr lang="en-US" dirty="0">
                <a:sym typeface="Calibri"/>
              </a:rPr>
              <a:t>Operator precedence:  2 + 3 * 4</a:t>
            </a:r>
            <a:endParaRPr lang="en-US" dirty="0"/>
          </a:p>
          <a:p>
            <a:pPr lvl="1"/>
            <a:r>
              <a:rPr lang="en-US" dirty="0">
                <a:sym typeface="Calibri"/>
              </a:rPr>
              <a:t>Operator associativity:  a = b = c;</a:t>
            </a:r>
            <a:endParaRPr lang="en-US" dirty="0"/>
          </a:p>
          <a:p>
            <a:pPr lvl="1"/>
            <a:r>
              <a:rPr lang="en-US" dirty="0">
                <a:sym typeface="Calibri"/>
              </a:rPr>
              <a:t>Determining locally whether a program is valid</a:t>
            </a:r>
            <a:endParaRPr lang="en-US" dirty="0"/>
          </a:p>
          <a:p>
            <a:pPr marL="95246" indent="0">
              <a:buNone/>
            </a:pPr>
            <a:r>
              <a:rPr lang="en-US" sz="1417" dirty="0">
                <a:latin typeface="Courier New" panose="02070309020205020404" pitchFamily="49" charset="0"/>
                <a:cs typeface="Courier New" panose="02070309020205020404" pitchFamily="49" charset="0"/>
                <a:sym typeface="Calibri"/>
              </a:rPr>
              <a:t>if (a) { if (b) { … /*long distance*/ … } } }//extra bracket</a:t>
            </a:r>
            <a:endParaRPr lang="en-US" sz="1417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11" name="Rectangle 6">
            <a:extLst>
              <a:ext uri="{FF2B5EF4-FFF2-40B4-BE49-F238E27FC236}">
                <a16:creationId xmlns:a16="http://schemas.microsoft.com/office/drawing/2014/main" id="{6612E8E8-06FC-FC46-9E4C-750DEEB62BA8}"/>
              </a:ext>
            </a:extLst>
          </p:cNvPr>
          <p:cNvSpPr>
            <a:spLocks noGrp="1" noChangeArrowheads="1"/>
          </p:cNvSpPr>
          <p:nvPr>
            <p:ph type="sldNum" sz="quarter" idx="11"/>
          </p:nvPr>
        </p:nvSpPr>
        <p:spPr bwMode="auto">
          <a:xfrm>
            <a:off x="8028709" y="5242587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algn="r" rtl="0" eaLnBrk="0" fontAlgn="base" hangingPunct="0">
              <a:spcBef>
                <a:spcPct val="0"/>
              </a:spcBef>
              <a:spcAft>
                <a:spcPct val="0"/>
              </a:spcAft>
              <a:defRPr sz="1400" kern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  <a:cs typeface="+mn-cs"/>
              </a:defRPr>
            </a:lvl5pPr>
            <a:lvl6pPr marL="2286000" algn="l" defTabSz="914400" rtl="0" eaLnBrk="1" latinLnBrk="0" hangingPunct="1">
              <a:defRPr sz="2400" kern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  <a:cs typeface="+mn-cs"/>
              </a:defRPr>
            </a:lvl6pPr>
            <a:lvl7pPr marL="2743200" algn="l" defTabSz="914400" rtl="0" eaLnBrk="1" latinLnBrk="0" hangingPunct="1">
              <a:defRPr sz="2400" kern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  <a:cs typeface="+mn-cs"/>
              </a:defRPr>
            </a:lvl7pPr>
            <a:lvl8pPr marL="3200400" algn="l" defTabSz="914400" rtl="0" eaLnBrk="1" latinLnBrk="0" hangingPunct="1">
              <a:defRPr sz="2400" kern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  <a:cs typeface="+mn-cs"/>
              </a:defRPr>
            </a:lvl8pPr>
            <a:lvl9pPr marL="3657600" algn="l" defTabSz="914400" rtl="0" eaLnBrk="1" latinLnBrk="0" hangingPunct="1">
              <a:defRPr sz="2400" kern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  <a:cs typeface="+mn-cs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B155CD39-130E-C347-A052-A70699A3F890}" type="slidenum">
              <a:rPr lang="en-US" altLang="en-US" smtClean="0"/>
              <a:pPr/>
              <a:t>8</a:t>
            </a:fld>
            <a:endParaRPr lang="en-US" altLang="en-US" sz="1167" dirty="0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243334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39" grpId="0" build="p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03D438F0-40B3-4A6B-A140-F6F5AAE0BD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 need for the linker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C8A7BDF1-9F6D-4285-941D-12E3CEC1D8A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96620" y="967740"/>
            <a:ext cx="8343900" cy="4606066"/>
          </a:xfrm>
        </p:spPr>
        <p:txBody>
          <a:bodyPr>
            <a:normAutofit lnSpcReduction="10000"/>
          </a:bodyPr>
          <a:lstStyle/>
          <a:p>
            <a:r>
              <a:rPr lang="en-US" dirty="0"/>
              <a:t>A</a:t>
            </a:r>
            <a:r>
              <a:rPr lang="en-US" dirty="0">
                <a:solidFill>
                  <a:schemeClr val="accent1">
                    <a:lumMod val="75000"/>
                  </a:schemeClr>
                </a:solidFill>
                <a:latin typeface="Lato Black" panose="020F0502020204030203" pitchFamily="34" charset="0"/>
                <a:ea typeface="Lato Black" panose="020F0502020204030203" pitchFamily="34" charset="0"/>
                <a:cs typeface="Lato Black" panose="020F0502020204030203" pitchFamily="34" charset="0"/>
              </a:rPr>
              <a:t> compiler </a:t>
            </a:r>
            <a:r>
              <a:rPr lang="en-US" dirty="0"/>
              <a:t>converts source code into machine code.</a:t>
            </a:r>
          </a:p>
          <a:p>
            <a:r>
              <a:rPr lang="en-US" dirty="0"/>
              <a:t>A</a:t>
            </a:r>
            <a:r>
              <a:rPr lang="en-US" dirty="0">
                <a:solidFill>
                  <a:schemeClr val="accent1">
                    <a:lumMod val="75000"/>
                  </a:schemeClr>
                </a:solidFill>
                <a:latin typeface="Lato Black" panose="020F0502020204030203" pitchFamily="34" charset="0"/>
                <a:ea typeface="Lato Black" panose="020F0502020204030203" pitchFamily="34" charset="0"/>
                <a:cs typeface="Lato Black" panose="020F0502020204030203" pitchFamily="34" charset="0"/>
              </a:rPr>
              <a:t> linker </a:t>
            </a:r>
            <a:r>
              <a:rPr lang="en-US" dirty="0"/>
              <a:t>merges pieces of machine code into an executable.</a:t>
            </a:r>
          </a:p>
          <a:p>
            <a:endParaRPr lang="en-US" dirty="0"/>
          </a:p>
          <a:p>
            <a:r>
              <a:rPr lang="en-US" dirty="0"/>
              <a:t>Why have a separate tool for creating executables?</a:t>
            </a:r>
          </a:p>
          <a:p>
            <a:pPr lvl="1"/>
            <a:endParaRPr lang="en-US" dirty="0"/>
          </a:p>
          <a:p>
            <a:pPr lvl="1"/>
            <a:r>
              <a:rPr lang="en-US" dirty="0"/>
              <a:t>Mixing different languages together (C, C++, Python, Rust, Go…)</a:t>
            </a:r>
          </a:p>
          <a:p>
            <a:pPr lvl="2"/>
            <a:r>
              <a:rPr lang="en-US" dirty="0"/>
              <a:t>Lot’s of complications we won’t get to here.</a:t>
            </a:r>
          </a:p>
          <a:p>
            <a:pPr lvl="2"/>
            <a:r>
              <a:rPr lang="en-US" dirty="0"/>
              <a:t>Assembly is the glue… all high-level languages have to get there.</a:t>
            </a:r>
          </a:p>
          <a:p>
            <a:pPr lvl="2"/>
            <a:endParaRPr lang="en-US" dirty="0"/>
          </a:p>
          <a:p>
            <a:pPr lvl="1"/>
            <a:r>
              <a:rPr lang="en-US" dirty="0"/>
              <a:t>Let’s us break large programs up into smaller pieces.</a:t>
            </a:r>
          </a:p>
          <a:p>
            <a:pPr lvl="2"/>
            <a:r>
              <a:rPr lang="en-US" dirty="0"/>
              <a:t>And we only have to recompile files that changed! (Faster)</a:t>
            </a:r>
          </a:p>
          <a:p>
            <a:pPr lvl="2"/>
            <a:endParaRPr lang="en-US" dirty="0"/>
          </a:p>
          <a:p>
            <a:pPr lvl="1"/>
            <a:r>
              <a:rPr lang="en-US" dirty="0"/>
              <a:t>Those small pieces can come from others. Code reuse!</a:t>
            </a:r>
          </a:p>
          <a:p>
            <a:pPr lvl="2"/>
            <a:r>
              <a:rPr lang="en-US" dirty="0"/>
              <a:t>We can share executable code among many running programs. (</a:t>
            </a:r>
            <a:r>
              <a:rPr lang="en-US" i="1" dirty="0"/>
              <a:t>Shared Libraries</a:t>
            </a:r>
            <a:r>
              <a:rPr lang="en-US" dirty="0"/>
              <a:t>)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81D4D40-90EE-4B2D-B01B-C39E7C96A1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AAD609-F83C-4414-814B-B5A2DF99692C}" type="slidenum">
              <a:rPr lang="en-US" smtClean="0"/>
              <a:pPr/>
              <a:t>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473403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ED488A-09DC-46DE-9769-B41C4ADABB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is inside that box?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D03D52F-1FB8-487B-A955-82A6FB3AD54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96620" y="967741"/>
            <a:ext cx="4667475" cy="4179729"/>
          </a:xfrm>
        </p:spPr>
        <p:txBody>
          <a:bodyPr/>
          <a:lstStyle/>
          <a:p>
            <a:r>
              <a:rPr lang="en-US" dirty="0"/>
              <a:t>To understand what linkers do, we need to see what an executable is made out of.</a:t>
            </a:r>
            <a:br>
              <a:rPr lang="en-US" dirty="0"/>
            </a:br>
            <a:r>
              <a:rPr lang="en-US" dirty="0"/>
              <a:t>(Spoilers: it is not just code/data)</a:t>
            </a:r>
          </a:p>
          <a:p>
            <a:endParaRPr lang="en-US" dirty="0"/>
          </a:p>
          <a:p>
            <a:r>
              <a:rPr lang="en-US" dirty="0"/>
              <a:t>A Linux executable is defined by the </a:t>
            </a:r>
            <a:r>
              <a:rPr lang="en-US" dirty="0">
                <a:solidFill>
                  <a:srgbClr val="2F528F"/>
                </a:solidFill>
                <a:latin typeface="Lato Black" panose="020F0502020204030203" pitchFamily="34" charset="0"/>
                <a:ea typeface="Lato Black" panose="020F0502020204030203" pitchFamily="34" charset="0"/>
                <a:cs typeface="Lato Black" panose="020F0502020204030203" pitchFamily="34" charset="0"/>
              </a:rPr>
              <a:t>Executable and Linkable Format </a:t>
            </a:r>
            <a:r>
              <a:rPr lang="en-US" dirty="0"/>
              <a:t>(ELF) standard.</a:t>
            </a:r>
          </a:p>
          <a:p>
            <a:pPr lvl="1"/>
            <a:r>
              <a:rPr lang="en-US" dirty="0"/>
              <a:t>Used for</a:t>
            </a:r>
            <a:r>
              <a:rPr lang="en-US" dirty="0">
                <a:latin typeface="Inconsolata" panose="020B0609030003000000" pitchFamily="49" charset="0"/>
              </a:rPr>
              <a:t> *.o </a:t>
            </a:r>
            <a:r>
              <a:rPr lang="en-US" dirty="0"/>
              <a:t>files</a:t>
            </a:r>
          </a:p>
          <a:p>
            <a:pPr lvl="1"/>
            <a:r>
              <a:rPr lang="en-US" dirty="0"/>
              <a:t>And executables</a:t>
            </a:r>
          </a:p>
          <a:p>
            <a:pPr lvl="1"/>
            <a:r>
              <a:rPr lang="en-US" dirty="0"/>
              <a:t>And</a:t>
            </a:r>
            <a:r>
              <a:rPr lang="en-US" dirty="0">
                <a:latin typeface="Inconsolata" panose="020B0609030003000000" pitchFamily="49" charset="0"/>
              </a:rPr>
              <a:t> *.so </a:t>
            </a:r>
            <a:r>
              <a:rPr lang="en-US" dirty="0"/>
              <a:t>(shared objects; soon!)</a:t>
            </a:r>
          </a:p>
          <a:p>
            <a:pPr lvl="1"/>
            <a:endParaRPr lang="en-US" dirty="0"/>
          </a:p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2C3FA13-8067-4A21-8E0C-CDB2585651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AAD609-F83C-4414-814B-B5A2DF99692C}" type="slidenum">
              <a:rPr lang="en-US" smtClean="0"/>
              <a:pPr/>
              <a:t>10</a:t>
            </a:fld>
            <a:endParaRPr lang="en-US" dirty="0"/>
          </a:p>
        </p:txBody>
      </p:sp>
      <p:pic>
        <p:nvPicPr>
          <p:cNvPr id="7" name="Picture 6" descr="A picture containing table, sitting, room, white&#10;&#10;Description automatically generated">
            <a:extLst>
              <a:ext uri="{FF2B5EF4-FFF2-40B4-BE49-F238E27FC236}">
                <a16:creationId xmlns:a16="http://schemas.microsoft.com/office/drawing/2014/main" id="{7B96C66A-4E57-4513-9E9D-85F0D494C2A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80001" y="1889435"/>
            <a:ext cx="5005681" cy="3325203"/>
          </a:xfrm>
          <a:prstGeom prst="rect">
            <a:avLst/>
          </a:prstGeom>
        </p:spPr>
      </p:pic>
      <p:pic>
        <p:nvPicPr>
          <p:cNvPr id="10" name="Picture 9" descr="A person posing for the camera&#10;&#10;Description automatically generated">
            <a:extLst>
              <a:ext uri="{FF2B5EF4-FFF2-40B4-BE49-F238E27FC236}">
                <a16:creationId xmlns:a16="http://schemas.microsoft.com/office/drawing/2014/main" id="{158E2354-B68C-4E9C-8DFB-B88E9FCE546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69064" y="2857500"/>
            <a:ext cx="2227552" cy="1389071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59D84275-91A1-4FBC-A8C6-F4F79ED4052C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5080000" y="1889434"/>
            <a:ext cx="5005682" cy="33252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9794895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1.11111E-6 1.11111E-6 L -1.11111E-6 -0.23195 " pathEditMode="relative" rAng="0" ptsTypes="AA">
                                      <p:cBhvr>
                                        <p:cTn id="6" dur="2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11611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342900" y="15213"/>
            <a:ext cx="8763000" cy="552318"/>
          </a:xfrm>
        </p:spPr>
        <p:txBody>
          <a:bodyPr/>
          <a:lstStyle/>
          <a:p>
            <a:r>
              <a:rPr lang="en-US" dirty="0"/>
              <a:t>Object File Format</a:t>
            </a:r>
          </a:p>
        </p:txBody>
      </p:sp>
      <p:sp>
        <p:nvSpPr>
          <p:cNvPr id="2281475" name="Rectangle 3"/>
          <p:cNvSpPr>
            <a:spLocks noGrp="1" noChangeArrowheads="1"/>
          </p:cNvSpPr>
          <p:nvPr>
            <p:ph idx="1"/>
          </p:nvPr>
        </p:nvSpPr>
        <p:spPr>
          <a:xfrm>
            <a:off x="342900" y="928255"/>
            <a:ext cx="9118600" cy="4220008"/>
          </a:xfrm>
        </p:spPr>
        <p:txBody>
          <a:bodyPr>
            <a:normAutofit/>
          </a:bodyPr>
          <a:lstStyle/>
          <a:p>
            <a:pPr marL="457200" indent="-457200">
              <a:buFont typeface="+mj-lt"/>
              <a:buAutoNum type="arabicPeriod"/>
            </a:pPr>
            <a:r>
              <a:rPr lang="en-US" u="sng" dirty="0"/>
              <a:t>object file header</a:t>
            </a:r>
            <a:r>
              <a:rPr lang="en-US" dirty="0"/>
              <a:t>: size and position of the other pieces of the object file</a:t>
            </a:r>
          </a:p>
          <a:p>
            <a:pPr marL="457200" indent="-457200">
              <a:buFont typeface="+mj-lt"/>
              <a:buAutoNum type="arabicPeriod"/>
            </a:pPr>
            <a:r>
              <a:rPr lang="en-US" u="sng" dirty="0"/>
              <a:t>text segment</a:t>
            </a:r>
            <a:r>
              <a:rPr lang="en-US" dirty="0"/>
              <a:t>: the machine code</a:t>
            </a:r>
          </a:p>
          <a:p>
            <a:pPr marL="457200" indent="-457200">
              <a:buFont typeface="+mj-lt"/>
              <a:buAutoNum type="arabicPeriod"/>
            </a:pPr>
            <a:r>
              <a:rPr lang="en-US" u="sng" dirty="0"/>
              <a:t>data segment</a:t>
            </a:r>
            <a:r>
              <a:rPr lang="en-US" dirty="0"/>
              <a:t>: data in the source file (binary)</a:t>
            </a:r>
          </a:p>
          <a:p>
            <a:pPr marL="457200" indent="-457200">
              <a:buFont typeface="+mj-lt"/>
              <a:buAutoNum type="arabicPeriod"/>
            </a:pPr>
            <a:r>
              <a:rPr lang="en-US" u="sng" dirty="0"/>
              <a:t>relocation table</a:t>
            </a:r>
            <a:r>
              <a:rPr lang="en-US" dirty="0"/>
              <a:t>: identifies lines of code that need to be “handled”</a:t>
            </a:r>
          </a:p>
          <a:p>
            <a:pPr marL="457200" indent="-457200">
              <a:buFont typeface="+mj-lt"/>
              <a:buAutoNum type="arabicPeriod"/>
            </a:pPr>
            <a:r>
              <a:rPr lang="en-US" u="sng" dirty="0"/>
              <a:t>symbol table</a:t>
            </a:r>
            <a:r>
              <a:rPr lang="en-US" dirty="0"/>
              <a:t>: list of this file’s labels and data that can be referenced</a:t>
            </a:r>
          </a:p>
          <a:p>
            <a:pPr marL="457200" indent="-457200">
              <a:buFont typeface="+mj-lt"/>
              <a:buAutoNum type="arabicPeriod"/>
            </a:pPr>
            <a:r>
              <a:rPr lang="en-US" u="sng" dirty="0"/>
              <a:t>debugging information</a:t>
            </a:r>
            <a:br>
              <a:rPr lang="en-US" dirty="0"/>
            </a:br>
            <a:endParaRPr lang="en-US" dirty="0"/>
          </a:p>
          <a:p>
            <a:r>
              <a:rPr lang="en-US" dirty="0"/>
              <a:t>A standard format is ELF (except MS)</a:t>
            </a:r>
          </a:p>
          <a:p>
            <a:pPr lvl="1"/>
            <a:r>
              <a:rPr lang="en-US" dirty="0">
                <a:hlinkClick r:id="rId2"/>
              </a:rPr>
              <a:t>http://www.skyfree.org/linux/references/ELF_Format.pdf</a:t>
            </a:r>
            <a:r>
              <a:rPr lang="en-US" dirty="0"/>
              <a:t> </a:t>
            </a:r>
          </a:p>
        </p:txBody>
      </p:sp>
      <p:sp>
        <p:nvSpPr>
          <p:cNvPr id="5" name="Rectangle 6">
            <a:extLst>
              <a:ext uri="{FF2B5EF4-FFF2-40B4-BE49-F238E27FC236}">
                <a16:creationId xmlns:a16="http://schemas.microsoft.com/office/drawing/2014/main" id="{BDA647F9-DA31-304A-920B-C173964A3A3D}"/>
              </a:ext>
            </a:extLst>
          </p:cNvPr>
          <p:cNvSpPr>
            <a:spLocks noGrp="1" noChangeArrowheads="1"/>
          </p:cNvSpPr>
          <p:nvPr>
            <p:ph type="sldNum" sz="quarter" idx="4294967295"/>
          </p:nvPr>
        </p:nvSpPr>
        <p:spPr bwMode="auto">
          <a:xfrm>
            <a:off x="8255000" y="61722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algn="r" rtl="0" eaLnBrk="0" fontAlgn="base" hangingPunct="0">
              <a:spcBef>
                <a:spcPct val="0"/>
              </a:spcBef>
              <a:spcAft>
                <a:spcPct val="0"/>
              </a:spcAft>
              <a:defRPr sz="1400" kern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  <a:cs typeface="+mn-cs"/>
              </a:defRPr>
            </a:lvl5pPr>
            <a:lvl6pPr marL="2286000" algn="l" defTabSz="914400" rtl="0" eaLnBrk="1" latinLnBrk="0" hangingPunct="1">
              <a:defRPr sz="2400" kern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  <a:cs typeface="+mn-cs"/>
              </a:defRPr>
            </a:lvl6pPr>
            <a:lvl7pPr marL="2743200" algn="l" defTabSz="914400" rtl="0" eaLnBrk="1" latinLnBrk="0" hangingPunct="1">
              <a:defRPr sz="2400" kern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  <a:cs typeface="+mn-cs"/>
              </a:defRPr>
            </a:lvl7pPr>
            <a:lvl8pPr marL="3200400" algn="l" defTabSz="914400" rtl="0" eaLnBrk="1" latinLnBrk="0" hangingPunct="1">
              <a:defRPr sz="2400" kern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  <a:cs typeface="+mn-cs"/>
              </a:defRPr>
            </a:lvl8pPr>
            <a:lvl9pPr marL="3657600" algn="l" defTabSz="914400" rtl="0" eaLnBrk="1" latinLnBrk="0" hangingPunct="1">
              <a:defRPr sz="2400" kern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  <a:cs typeface="+mn-cs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B155CD39-130E-C347-A052-A70699A3F890}" type="slidenum">
              <a:rPr lang="en-US" altLang="en-US" smtClean="0"/>
              <a:pPr/>
              <a:t>11</a:t>
            </a:fld>
            <a:endParaRPr lang="en-US" altLang="en-US" sz="1167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6508896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8147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8147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8147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8147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8147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8147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8147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8147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81475" grpId="0" build="p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Object File Information Tables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98500" y="1052946"/>
            <a:ext cx="8763000" cy="4094524"/>
          </a:xfrm>
        </p:spPr>
        <p:txBody>
          <a:bodyPr/>
          <a:lstStyle/>
          <a:p>
            <a:r>
              <a:rPr lang="en-US" sz="2000" b="1" dirty="0">
                <a:solidFill>
                  <a:srgbClr val="AB5DA5"/>
                </a:solidFill>
              </a:rPr>
              <a:t>Symbol Table</a:t>
            </a:r>
            <a:r>
              <a:rPr lang="en-US" sz="2000" dirty="0">
                <a:solidFill>
                  <a:srgbClr val="AB5DA5"/>
                </a:solidFill>
              </a:rPr>
              <a:t> </a:t>
            </a:r>
            <a:r>
              <a:rPr lang="en-US" sz="2000" dirty="0"/>
              <a:t>holds list of “items” that may be used by other files</a:t>
            </a:r>
          </a:p>
          <a:p>
            <a:pPr lvl="1"/>
            <a:r>
              <a:rPr lang="en-US" sz="1667" i="1" dirty="0"/>
              <a:t>Non-local labels</a:t>
            </a:r>
            <a:r>
              <a:rPr lang="en-US" sz="1667" dirty="0"/>
              <a:t> – function names for </a:t>
            </a:r>
            <a:r>
              <a:rPr lang="en-US" sz="1667" dirty="0">
                <a:latin typeface="Courier New" panose="02070309020205020404" pitchFamily="49" charset="0"/>
                <a:cs typeface="Courier New" panose="02070309020205020404" pitchFamily="49" charset="0"/>
              </a:rPr>
              <a:t>call</a:t>
            </a:r>
          </a:p>
          <a:p>
            <a:pPr lvl="1"/>
            <a:r>
              <a:rPr lang="en-US" sz="1667" i="1" dirty="0"/>
              <a:t>Static Data</a:t>
            </a:r>
            <a:r>
              <a:rPr lang="en-US" sz="1667" dirty="0"/>
              <a:t> – variables &amp; literals that might be accessed across files</a:t>
            </a:r>
          </a:p>
          <a:p>
            <a:pPr lvl="2"/>
            <a:endParaRPr lang="en-US" sz="1500" dirty="0"/>
          </a:p>
          <a:p>
            <a:r>
              <a:rPr lang="en-US" sz="2000" b="1" dirty="0">
                <a:solidFill>
                  <a:srgbClr val="AB5DA5"/>
                </a:solidFill>
              </a:rPr>
              <a:t>Relocation Table </a:t>
            </a:r>
            <a:r>
              <a:rPr lang="en-US" sz="2000" dirty="0"/>
              <a:t>holds list of “items” that this file needs the address of later (currently undetermined)</a:t>
            </a:r>
          </a:p>
          <a:p>
            <a:pPr lvl="1"/>
            <a:r>
              <a:rPr lang="en-US" sz="1667" dirty="0"/>
              <a:t>Any </a:t>
            </a:r>
            <a:r>
              <a:rPr lang="en-US" sz="1667" i="1" dirty="0"/>
              <a:t>label</a:t>
            </a:r>
            <a:r>
              <a:rPr lang="en-US" sz="1667" dirty="0"/>
              <a:t> or piece of </a:t>
            </a:r>
            <a:r>
              <a:rPr lang="en-US" sz="1667" i="1" dirty="0"/>
              <a:t>static data</a:t>
            </a:r>
            <a:r>
              <a:rPr lang="en-US" sz="1667" dirty="0"/>
              <a:t> referenced in an instruction in this file</a:t>
            </a:r>
          </a:p>
          <a:p>
            <a:pPr lvl="2"/>
            <a:r>
              <a:rPr lang="en-US" sz="1500" dirty="0"/>
              <a:t>Both internal and external</a:t>
            </a:r>
          </a:p>
          <a:p>
            <a:pPr lvl="2"/>
            <a:endParaRPr lang="en-US" sz="1500" dirty="0"/>
          </a:p>
          <a:p>
            <a:r>
              <a:rPr lang="en-US" sz="2000" dirty="0"/>
              <a:t>Each file has its own </a:t>
            </a:r>
            <a:r>
              <a:rPr lang="en-US" sz="2000" i="1" dirty="0"/>
              <a:t>symbol</a:t>
            </a:r>
            <a:r>
              <a:rPr lang="en-US" sz="2000" dirty="0"/>
              <a:t> and </a:t>
            </a:r>
            <a:r>
              <a:rPr lang="en-US" sz="2000" i="1" dirty="0"/>
              <a:t>relocation</a:t>
            </a:r>
            <a:r>
              <a:rPr lang="en-US" sz="2000" dirty="0"/>
              <a:t> tables</a:t>
            </a:r>
          </a:p>
        </p:txBody>
      </p:sp>
      <p:sp>
        <p:nvSpPr>
          <p:cNvPr id="4" name="Rectangle 6">
            <a:extLst>
              <a:ext uri="{FF2B5EF4-FFF2-40B4-BE49-F238E27FC236}">
                <a16:creationId xmlns:a16="http://schemas.microsoft.com/office/drawing/2014/main" id="{58C84787-D33C-4D4C-9367-2B5D79568600}"/>
              </a:ext>
            </a:extLst>
          </p:cNvPr>
          <p:cNvSpPr>
            <a:spLocks noGrp="1" noChangeArrowheads="1"/>
          </p:cNvSpPr>
          <p:nvPr>
            <p:ph type="sldNum" sz="quarter" idx="11"/>
          </p:nvPr>
        </p:nvSpPr>
        <p:spPr bwMode="auto">
          <a:xfrm>
            <a:off x="8170718" y="5175685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algn="r" rtl="0" eaLnBrk="0" fontAlgn="base" hangingPunct="0">
              <a:spcBef>
                <a:spcPct val="0"/>
              </a:spcBef>
              <a:spcAft>
                <a:spcPct val="0"/>
              </a:spcAft>
              <a:defRPr sz="1400" kern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  <a:cs typeface="+mn-cs"/>
              </a:defRPr>
            </a:lvl5pPr>
            <a:lvl6pPr marL="2286000" algn="l" defTabSz="914400" rtl="0" eaLnBrk="1" latinLnBrk="0" hangingPunct="1">
              <a:defRPr sz="2400" kern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  <a:cs typeface="+mn-cs"/>
              </a:defRPr>
            </a:lvl6pPr>
            <a:lvl7pPr marL="2743200" algn="l" defTabSz="914400" rtl="0" eaLnBrk="1" latinLnBrk="0" hangingPunct="1">
              <a:defRPr sz="2400" kern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  <a:cs typeface="+mn-cs"/>
              </a:defRPr>
            </a:lvl7pPr>
            <a:lvl8pPr marL="3200400" algn="l" defTabSz="914400" rtl="0" eaLnBrk="1" latinLnBrk="0" hangingPunct="1">
              <a:defRPr sz="2400" kern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  <a:cs typeface="+mn-cs"/>
              </a:defRPr>
            </a:lvl8pPr>
            <a:lvl9pPr marL="3657600" algn="l" defTabSz="914400" rtl="0" eaLnBrk="1" latinLnBrk="0" hangingPunct="1">
              <a:defRPr sz="2400" kern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  <a:cs typeface="+mn-cs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B155CD39-130E-C347-A052-A70699A3F890}" type="slidenum">
              <a:rPr lang="en-US" altLang="en-US" smtClean="0"/>
              <a:pPr/>
              <a:t>12</a:t>
            </a:fld>
            <a:endParaRPr lang="en-US" altLang="en-US" sz="1167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5710180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B384B5-75D0-47F6-818C-8008DF06B3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the ELF ??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764E316-D0BA-4864-AD53-05D51E0638E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98500" y="997528"/>
            <a:ext cx="8763000" cy="4149942"/>
          </a:xfrm>
        </p:spPr>
        <p:txBody>
          <a:bodyPr/>
          <a:lstStyle/>
          <a:p>
            <a:r>
              <a:rPr lang="en-US" dirty="0"/>
              <a:t>Contains all of the segments and data sections defining a program.</a:t>
            </a:r>
          </a:p>
          <a:p>
            <a:r>
              <a:rPr lang="en-US" dirty="0"/>
              <a:t>The ELF executable has roughly the following structure:</a:t>
            </a:r>
          </a:p>
          <a:p>
            <a:endParaRPr lang="en-US" dirty="0"/>
          </a:p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06207FC-A6B8-4114-843E-215A4E3E75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AAD609-F83C-4414-814B-B5A2DF99692C}" type="slidenum">
              <a:rPr lang="en-US" smtClean="0"/>
              <a:pPr/>
              <a:t>13</a:t>
            </a:fld>
            <a:endParaRPr lang="en-US" dirty="0"/>
          </a:p>
        </p:txBody>
      </p:sp>
      <p:graphicFrame>
        <p:nvGraphicFramePr>
          <p:cNvPr id="6" name="Table 6">
            <a:extLst>
              <a:ext uri="{FF2B5EF4-FFF2-40B4-BE49-F238E27FC236}">
                <a16:creationId xmlns:a16="http://schemas.microsoft.com/office/drawing/2014/main" id="{25094497-0861-4F55-B499-8C3C8DC0C14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99215652"/>
              </p:ext>
            </p:extLst>
          </p:nvPr>
        </p:nvGraphicFramePr>
        <p:xfrm>
          <a:off x="985371" y="1983442"/>
          <a:ext cx="8343900" cy="340883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50960">
                  <a:extLst>
                    <a:ext uri="{9D8B030D-6E8A-4147-A177-3AD203B41FA5}">
                      <a16:colId xmlns:a16="http://schemas.microsoft.com/office/drawing/2014/main" val="3593834148"/>
                    </a:ext>
                  </a:extLst>
                </a:gridCol>
                <a:gridCol w="1582887">
                  <a:extLst>
                    <a:ext uri="{9D8B030D-6E8A-4147-A177-3AD203B41FA5}">
                      <a16:colId xmlns:a16="http://schemas.microsoft.com/office/drawing/2014/main" val="945154468"/>
                    </a:ext>
                  </a:extLst>
                </a:gridCol>
                <a:gridCol w="5810053">
                  <a:extLst>
                    <a:ext uri="{9D8B030D-6E8A-4147-A177-3AD203B41FA5}">
                      <a16:colId xmlns:a16="http://schemas.microsoft.com/office/drawing/2014/main" val="2414127038"/>
                    </a:ext>
                  </a:extLst>
                </a:gridCol>
              </a:tblGrid>
              <a:tr h="486976">
                <a:tc>
                  <a:txBody>
                    <a:bodyPr/>
                    <a:lstStyle/>
                    <a:p>
                      <a:r>
                        <a:rPr lang="en-US" dirty="0">
                          <a:latin typeface="Lato Black" panose="020F0502020204030203" pitchFamily="34" charset="0"/>
                          <a:ea typeface="Lato Black" panose="020F0502020204030203" pitchFamily="34" charset="0"/>
                          <a:cs typeface="Lato Black" panose="020F0502020204030203" pitchFamily="34" charset="0"/>
                        </a:rPr>
                        <a:t>Offset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Lato Black" panose="020F0502020204030203" pitchFamily="34" charset="0"/>
                          <a:ea typeface="Lato Black" panose="020F0502020204030203" pitchFamily="34" charset="0"/>
                          <a:cs typeface="Lato Black" panose="020F0502020204030203" pitchFamily="34" charset="0"/>
                        </a:rPr>
                        <a:t>Name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Lato Black" panose="020F0502020204030203" pitchFamily="34" charset="0"/>
                          <a:ea typeface="Lato Black" panose="020F0502020204030203" pitchFamily="34" charset="0"/>
                          <a:cs typeface="Lato Black" panose="020F0502020204030203" pitchFamily="34" charset="0"/>
                        </a:rPr>
                        <a:t>Description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76533691"/>
                  </a:ext>
                </a:extLst>
              </a:tr>
              <a:tr h="486976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latin typeface="Inconsolata" panose="020B0609030003000000" pitchFamily="49" charset="0"/>
                          <a:ea typeface="Lato Semibold" panose="020F0502020204030203" pitchFamily="34" charset="0"/>
                          <a:cs typeface="Lato Semibold" panose="020F0502020204030203" pitchFamily="34" charset="0"/>
                        </a:rPr>
                        <a:t>0x00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Lato Semibold" panose="020F0502020204030203" pitchFamily="34" charset="0"/>
                          <a:ea typeface="Lato Semibold" panose="020F0502020204030203" pitchFamily="34" charset="0"/>
                          <a:cs typeface="Lato Semibold" panose="020F0502020204030203" pitchFamily="34" charset="0"/>
                        </a:rPr>
                        <a:t>Magic Number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Lato Semibold" panose="020F0502020204030203" pitchFamily="34" charset="0"/>
                          <a:ea typeface="Lato Semibold" panose="020F0502020204030203" pitchFamily="34" charset="0"/>
                          <a:cs typeface="Lato Semibold" panose="020F0502020204030203" pitchFamily="34" charset="0"/>
                        </a:rPr>
                        <a:t>4 bytes: A</a:t>
                      </a:r>
                      <a:r>
                        <a:rPr lang="en-US" dirty="0">
                          <a:latin typeface="Inconsolata" panose="020B0609030003000000" pitchFamily="49" charset="0"/>
                          <a:ea typeface="Lato Semibold" panose="020F0502020204030203" pitchFamily="34" charset="0"/>
                          <a:cs typeface="Lato Semibold" panose="020F0502020204030203" pitchFamily="34" charset="0"/>
                        </a:rPr>
                        <a:t> 0x7F </a:t>
                      </a:r>
                      <a:r>
                        <a:rPr lang="en-US" dirty="0">
                          <a:latin typeface="Lato Semibold" panose="020F0502020204030203" pitchFamily="34" charset="0"/>
                          <a:ea typeface="Lato Semibold" panose="020F0502020204030203" pitchFamily="34" charset="0"/>
                          <a:cs typeface="Lato Semibold" panose="020F0502020204030203" pitchFamily="34" charset="0"/>
                        </a:rPr>
                        <a:t>byte followed by “</a:t>
                      </a:r>
                      <a:r>
                        <a:rPr lang="en-US" dirty="0">
                          <a:latin typeface="Inconsolata" panose="020B0609030003000000" pitchFamily="49" charset="0"/>
                          <a:ea typeface="Lato Semibold" panose="020F0502020204030203" pitchFamily="34" charset="0"/>
                          <a:cs typeface="Lato Semibold" panose="020F0502020204030203" pitchFamily="34" charset="0"/>
                        </a:rPr>
                        <a:t>ELF</a:t>
                      </a:r>
                      <a:r>
                        <a:rPr lang="en-US" dirty="0">
                          <a:latin typeface="Lato Semibold" panose="020F0502020204030203" pitchFamily="34" charset="0"/>
                          <a:ea typeface="Lato Semibold" panose="020F0502020204030203" pitchFamily="34" charset="0"/>
                          <a:cs typeface="Lato Semibold" panose="020F0502020204030203" pitchFamily="34" charset="0"/>
                        </a:rPr>
                        <a:t>” in ASCII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66279366"/>
                  </a:ext>
                </a:extLst>
              </a:tr>
              <a:tr h="486976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latin typeface="Inconsolata" panose="020B0609030003000000" pitchFamily="49" charset="0"/>
                          <a:ea typeface="Lato Semibold" panose="020F0502020204030203" pitchFamily="34" charset="0"/>
                          <a:cs typeface="Lato Semibold" panose="020F0502020204030203" pitchFamily="34" charset="0"/>
                        </a:rPr>
                        <a:t>0x04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Lato Semibold" panose="020F0502020204030203" pitchFamily="34" charset="0"/>
                          <a:ea typeface="Lato Semibold" panose="020F0502020204030203" pitchFamily="34" charset="0"/>
                          <a:cs typeface="Lato Semibold" panose="020F0502020204030203" pitchFamily="34" charset="0"/>
                        </a:rPr>
                        <a:t>Class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Lato Semibold" panose="020F0502020204030203" pitchFamily="34" charset="0"/>
                          <a:ea typeface="Lato Semibold" panose="020F0502020204030203" pitchFamily="34" charset="0"/>
                          <a:cs typeface="Lato Semibold" panose="020F0502020204030203" pitchFamily="34" charset="0"/>
                        </a:rPr>
                        <a:t>1 byte:</a:t>
                      </a:r>
                      <a:r>
                        <a:rPr lang="en-US" dirty="0">
                          <a:latin typeface="Inconsolata" panose="020B0609030003000000" pitchFamily="49" charset="0"/>
                          <a:ea typeface="Lato Semibold" panose="020F0502020204030203" pitchFamily="34" charset="0"/>
                          <a:cs typeface="Lato Semibold" panose="020F0502020204030203" pitchFamily="34" charset="0"/>
                        </a:rPr>
                        <a:t> 0x1 </a:t>
                      </a:r>
                      <a:r>
                        <a:rPr lang="en-US" dirty="0">
                          <a:latin typeface="Lato Semibold" panose="020F0502020204030203" pitchFamily="34" charset="0"/>
                          <a:ea typeface="Lato Semibold" panose="020F0502020204030203" pitchFamily="34" charset="0"/>
                          <a:cs typeface="Lato Semibold" panose="020F0502020204030203" pitchFamily="34" charset="0"/>
                        </a:rPr>
                        <a:t>if 32-bit, 0x2 if 64-bit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28489376"/>
                  </a:ext>
                </a:extLst>
              </a:tr>
              <a:tr h="486976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latin typeface="Inconsolata" panose="020B0609030003000000" pitchFamily="49" charset="0"/>
                          <a:ea typeface="Lato Semibold" panose="020F0502020204030203" pitchFamily="34" charset="0"/>
                          <a:cs typeface="Lato Semibold" panose="020F0502020204030203" pitchFamily="34" charset="0"/>
                        </a:rPr>
                        <a:t>0x05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Lato Semibold" panose="020F0502020204030203" pitchFamily="34" charset="0"/>
                          <a:ea typeface="Lato Semibold" panose="020F0502020204030203" pitchFamily="34" charset="0"/>
                          <a:cs typeface="Lato Semibold" panose="020F0502020204030203" pitchFamily="34" charset="0"/>
                        </a:rPr>
                        <a:t>Data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Lato Semibold" panose="020F0502020204030203" pitchFamily="34" charset="0"/>
                          <a:ea typeface="Lato Semibold" panose="020F0502020204030203" pitchFamily="34" charset="0"/>
                          <a:cs typeface="Lato Semibold" panose="020F0502020204030203" pitchFamily="34" charset="0"/>
                        </a:rPr>
                        <a:t>1 byte:</a:t>
                      </a:r>
                      <a:r>
                        <a:rPr lang="en-US" dirty="0">
                          <a:latin typeface="Inconsolata" panose="020B0609030003000000" pitchFamily="49" charset="0"/>
                          <a:ea typeface="Lato Semibold" panose="020F0502020204030203" pitchFamily="34" charset="0"/>
                          <a:cs typeface="Lato Semibold" panose="020F0502020204030203" pitchFamily="34" charset="0"/>
                        </a:rPr>
                        <a:t> 0x1 </a:t>
                      </a:r>
                      <a:r>
                        <a:rPr lang="en-US" dirty="0">
                          <a:latin typeface="Lato Semibold" panose="020F0502020204030203" pitchFamily="34" charset="0"/>
                          <a:ea typeface="Lato Semibold" panose="020F0502020204030203" pitchFamily="34" charset="0"/>
                          <a:cs typeface="Lato Semibold" panose="020F0502020204030203" pitchFamily="34" charset="0"/>
                        </a:rPr>
                        <a:t>if little-endian, 0x2 if big-endian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19511690"/>
                  </a:ext>
                </a:extLst>
              </a:tr>
              <a:tr h="486976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latin typeface="Inconsolata" panose="020B0609030003000000" pitchFamily="49" charset="0"/>
                          <a:ea typeface="Lato Semibold" panose="020F0502020204030203" pitchFamily="34" charset="0"/>
                          <a:cs typeface="Lato Semibold" panose="020F0502020204030203" pitchFamily="34" charset="0"/>
                        </a:rPr>
                        <a:t>0x06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Lato Semibold" panose="020F0502020204030203" pitchFamily="34" charset="0"/>
                          <a:ea typeface="Lato Semibold" panose="020F0502020204030203" pitchFamily="34" charset="0"/>
                          <a:cs typeface="Lato Semibold" panose="020F0502020204030203" pitchFamily="34" charset="0"/>
                        </a:rPr>
                        <a:t>Version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Lato Semibold" panose="020F0502020204030203" pitchFamily="34" charset="0"/>
                          <a:ea typeface="Lato Semibold" panose="020F0502020204030203" pitchFamily="34" charset="0"/>
                          <a:cs typeface="Lato Semibold" panose="020F0502020204030203" pitchFamily="34" charset="0"/>
                        </a:rPr>
                        <a:t>1 byte:</a:t>
                      </a:r>
                      <a:r>
                        <a:rPr lang="en-US" dirty="0">
                          <a:latin typeface="Inconsolata" panose="020B0609030003000000" pitchFamily="49" charset="0"/>
                          <a:ea typeface="Lato Semibold" panose="020F0502020204030203" pitchFamily="34" charset="0"/>
                          <a:cs typeface="Lato Semibold" panose="020F0502020204030203" pitchFamily="34" charset="0"/>
                        </a:rPr>
                        <a:t> 0x1 </a:t>
                      </a:r>
                      <a:r>
                        <a:rPr lang="en-US" dirty="0">
                          <a:latin typeface="Lato Semibold" panose="020F0502020204030203" pitchFamily="34" charset="0"/>
                          <a:ea typeface="Lato Semibold" panose="020F0502020204030203" pitchFamily="34" charset="0"/>
                          <a:cs typeface="Lato Semibold" panose="020F0502020204030203" pitchFamily="34" charset="0"/>
                        </a:rPr>
                        <a:t>for the current version.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84243298"/>
                  </a:ext>
                </a:extLst>
              </a:tr>
              <a:tr h="486976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latin typeface="Inconsolata" panose="020B0609030003000000" pitchFamily="49" charset="0"/>
                          <a:ea typeface="Lato Semibold" panose="020F0502020204030203" pitchFamily="34" charset="0"/>
                          <a:cs typeface="Lato Semibold" panose="020F0502020204030203" pitchFamily="34" charset="0"/>
                        </a:rPr>
                        <a:t>0x07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Lato Semibold" panose="020F0502020204030203" pitchFamily="34" charset="0"/>
                          <a:ea typeface="Lato Semibold" panose="020F0502020204030203" pitchFamily="34" charset="0"/>
                          <a:cs typeface="Lato Semibold" panose="020F0502020204030203" pitchFamily="34" charset="0"/>
                        </a:rPr>
                        <a:t>ABI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Lato Semibold" panose="020F0502020204030203" pitchFamily="34" charset="0"/>
                          <a:ea typeface="Lato Semibold" panose="020F0502020204030203" pitchFamily="34" charset="0"/>
                          <a:cs typeface="Lato Semibold" panose="020F0502020204030203" pitchFamily="34" charset="0"/>
                        </a:rPr>
                        <a:t>1 byte:</a:t>
                      </a:r>
                      <a:r>
                        <a:rPr lang="en-US" dirty="0">
                          <a:latin typeface="Inconsolata" panose="020B0609030003000000" pitchFamily="49" charset="0"/>
                          <a:ea typeface="Lato Semibold" panose="020F0502020204030203" pitchFamily="34" charset="0"/>
                          <a:cs typeface="Lato Semibold" panose="020F0502020204030203" pitchFamily="34" charset="0"/>
                        </a:rPr>
                        <a:t> 0x0 </a:t>
                      </a:r>
                      <a:r>
                        <a:rPr lang="en-US" dirty="0">
                          <a:latin typeface="Lato Semibold" panose="020F0502020204030203" pitchFamily="34" charset="0"/>
                          <a:ea typeface="Lato Semibold" panose="020F0502020204030203" pitchFamily="34" charset="0"/>
                          <a:cs typeface="Lato Semibold" panose="020F0502020204030203" pitchFamily="34" charset="0"/>
                        </a:rPr>
                        <a:t>for System V (our C ABI)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02739043"/>
                  </a:ext>
                </a:extLst>
              </a:tr>
              <a:tr h="486976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latin typeface="Inconsolata" panose="020B0609030003000000" pitchFamily="49" charset="0"/>
                          <a:ea typeface="Lato Semibold" panose="020F0502020204030203" pitchFamily="34" charset="0"/>
                          <a:cs typeface="Lato Semibold" panose="020F0502020204030203" pitchFamily="34" charset="0"/>
                        </a:rPr>
                        <a:t>0x12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Lato Semibold" panose="020F0502020204030203" pitchFamily="34" charset="0"/>
                          <a:ea typeface="Lato Semibold" panose="020F0502020204030203" pitchFamily="34" charset="0"/>
                          <a:cs typeface="Lato Semibold" panose="020F0502020204030203" pitchFamily="34" charset="0"/>
                        </a:rPr>
                        <a:t>Machine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Lato Semibold" panose="020F0502020204030203" pitchFamily="34" charset="0"/>
                          <a:ea typeface="Lato Semibold" panose="020F0502020204030203" pitchFamily="34" charset="0"/>
                          <a:cs typeface="Lato Semibold" panose="020F0502020204030203" pitchFamily="34" charset="0"/>
                        </a:rPr>
                        <a:t>2 bytes:</a:t>
                      </a:r>
                      <a:r>
                        <a:rPr lang="en-US" dirty="0">
                          <a:latin typeface="Inconsolata" panose="020B0609030003000000" pitchFamily="49" charset="0"/>
                          <a:ea typeface="Lato Semibold" panose="020F0502020204030203" pitchFamily="34" charset="0"/>
                          <a:cs typeface="Lato Semibold" panose="020F0502020204030203" pitchFamily="34" charset="0"/>
                        </a:rPr>
                        <a:t> 0x03 </a:t>
                      </a:r>
                      <a:r>
                        <a:rPr lang="en-US" dirty="0">
                          <a:latin typeface="Lato Semibold" panose="020F0502020204030203" pitchFamily="34" charset="0"/>
                          <a:ea typeface="Lato Semibold" panose="020F0502020204030203" pitchFamily="34" charset="0"/>
                          <a:cs typeface="Lato Semibold" panose="020F0502020204030203" pitchFamily="34" charset="0"/>
                        </a:rPr>
                        <a:t>is x86,</a:t>
                      </a:r>
                      <a:r>
                        <a:rPr lang="en-US" dirty="0">
                          <a:latin typeface="Inconsolata" panose="020B0609030003000000" pitchFamily="49" charset="0"/>
                          <a:ea typeface="Lato Semibold" panose="020F0502020204030203" pitchFamily="34" charset="0"/>
                          <a:cs typeface="Lato Semibold" panose="020F0502020204030203" pitchFamily="34" charset="0"/>
                        </a:rPr>
                        <a:t> 0x08 </a:t>
                      </a:r>
                      <a:r>
                        <a:rPr lang="en-US" dirty="0">
                          <a:latin typeface="Lato Semibold" panose="020F0502020204030203" pitchFamily="34" charset="0"/>
                          <a:ea typeface="Lato Semibold" panose="020F0502020204030203" pitchFamily="34" charset="0"/>
                          <a:cs typeface="Lato Semibold" panose="020F0502020204030203" pitchFamily="34" charset="0"/>
                        </a:rPr>
                        <a:t>is MIPS,</a:t>
                      </a:r>
                      <a:r>
                        <a:rPr lang="en-US" dirty="0">
                          <a:latin typeface="Inconsolata" panose="020B0609030003000000" pitchFamily="49" charset="0"/>
                          <a:ea typeface="Lato Semibold" panose="020F0502020204030203" pitchFamily="34" charset="0"/>
                          <a:cs typeface="Lato Semibold" panose="020F0502020204030203" pitchFamily="34" charset="0"/>
                        </a:rPr>
                        <a:t> 0xF3 </a:t>
                      </a:r>
                      <a:r>
                        <a:rPr lang="en-US" dirty="0">
                          <a:latin typeface="Lato Semibold" panose="020F0502020204030203" pitchFamily="34" charset="0"/>
                          <a:ea typeface="Lato Semibold" panose="020F0502020204030203" pitchFamily="34" charset="0"/>
                          <a:cs typeface="Lato Semibold" panose="020F0502020204030203" pitchFamily="34" charset="0"/>
                        </a:rPr>
                        <a:t>is RISC-V, </a:t>
                      </a:r>
                      <a:r>
                        <a:rPr lang="en-US" dirty="0" err="1">
                          <a:latin typeface="Lato Semibold" panose="020F0502020204030203" pitchFamily="34" charset="0"/>
                          <a:ea typeface="Lato Semibold" panose="020F0502020204030203" pitchFamily="34" charset="0"/>
                          <a:cs typeface="Lato Semibold" panose="020F0502020204030203" pitchFamily="34" charset="0"/>
                        </a:rPr>
                        <a:t>etc</a:t>
                      </a:r>
                      <a:endParaRPr lang="en-US" dirty="0">
                        <a:latin typeface="Lato Semibold" panose="020F0502020204030203" pitchFamily="34" charset="0"/>
                        <a:ea typeface="Lato Semibold" panose="020F0502020204030203" pitchFamily="34" charset="0"/>
                        <a:cs typeface="Lato Semibold" panose="020F0502020204030203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5600378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66194069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708C98-F7C2-42BC-ADE2-ABE43BFE22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the ELF ??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AB10EC8-7A6D-46B0-BC89-59AA259F6F8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96620" y="967740"/>
            <a:ext cx="8343900" cy="4557078"/>
          </a:xfrm>
        </p:spPr>
        <p:txBody>
          <a:bodyPr>
            <a:normAutofit lnSpcReduction="10000"/>
          </a:bodyPr>
          <a:lstStyle/>
          <a:p>
            <a:r>
              <a:rPr lang="en-US" dirty="0"/>
              <a:t>The remaining fields indicate where certain sections start.</a:t>
            </a:r>
          </a:p>
          <a:p>
            <a:r>
              <a:rPr lang="en-US" dirty="0"/>
              <a:t>An ELF executable contains these sections:</a:t>
            </a:r>
          </a:p>
          <a:p>
            <a:pPr lvl="1"/>
            <a:r>
              <a:rPr lang="en-US" dirty="0"/>
              <a:t>Segment Headers (where .text, .data, .</a:t>
            </a:r>
            <a:r>
              <a:rPr lang="en-US" dirty="0" err="1"/>
              <a:t>bss</a:t>
            </a:r>
            <a:r>
              <a:rPr lang="en-US" dirty="0"/>
              <a:t>, </a:t>
            </a:r>
            <a:r>
              <a:rPr lang="en-US" dirty="0" err="1"/>
              <a:t>etc</a:t>
            </a:r>
            <a:r>
              <a:rPr lang="en-US" dirty="0"/>
              <a:t>, exist in the executable)</a:t>
            </a:r>
          </a:p>
          <a:p>
            <a:pPr lvl="2"/>
            <a:r>
              <a:rPr lang="en-US" dirty="0"/>
              <a:t>The initial data for each memory segment in the memory layout!</a:t>
            </a:r>
          </a:p>
          <a:p>
            <a:pPr lvl="2"/>
            <a:r>
              <a:rPr lang="en-US" dirty="0"/>
              <a:t>We will look at these again when we look at </a:t>
            </a:r>
            <a:r>
              <a:rPr lang="en-US" i="1" dirty="0"/>
              <a:t>loading</a:t>
            </a:r>
            <a:r>
              <a:rPr lang="en-US" dirty="0"/>
              <a:t>.</a:t>
            </a:r>
          </a:p>
          <a:p>
            <a:pPr lvl="1"/>
            <a:r>
              <a:rPr lang="en-US" dirty="0"/>
              <a:t>The Symbol Table</a:t>
            </a:r>
          </a:p>
          <a:p>
            <a:pPr lvl="2"/>
            <a:r>
              <a:rPr lang="en-US" dirty="0"/>
              <a:t>All of the “names” that may be referenced by other code.</a:t>
            </a:r>
          </a:p>
          <a:p>
            <a:pPr lvl="2"/>
            <a:endParaRPr lang="en-US" dirty="0"/>
          </a:p>
          <a:p>
            <a:r>
              <a:rPr lang="en-US" dirty="0"/>
              <a:t>Symbols can consist of:</a:t>
            </a:r>
          </a:p>
          <a:p>
            <a:pPr lvl="1"/>
            <a:r>
              <a:rPr lang="en-US" dirty="0"/>
              <a:t>Functions</a:t>
            </a:r>
          </a:p>
          <a:p>
            <a:pPr lvl="1"/>
            <a:r>
              <a:rPr lang="en-US" dirty="0"/>
              <a:t>Global variables</a:t>
            </a:r>
          </a:p>
          <a:p>
            <a:pPr lvl="1"/>
            <a:r>
              <a:rPr lang="en-US" dirty="0"/>
              <a:t>Special sections (special compiler or OS areas)</a:t>
            </a:r>
          </a:p>
          <a:p>
            <a:pPr lvl="1"/>
            <a:endParaRPr lang="en-US" dirty="0"/>
          </a:p>
          <a:p>
            <a:r>
              <a:rPr lang="en-US" dirty="0"/>
              <a:t>We will focus on function/variable symbols.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FBB55CF-9769-40B5-BC36-082197AB1B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AAD609-F83C-4414-814B-B5A2DF99692C}" type="slidenum">
              <a:rPr lang="en-US" smtClean="0"/>
              <a:pPr/>
              <a:t>14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9995949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6F66D4-CB7D-4E57-96F6-A70B460D0D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>
                <a:latin typeface="Inconsolata" panose="020B0609030003000000" pitchFamily="49" charset="0"/>
              </a:rPr>
              <a:t>readelf</a:t>
            </a:r>
            <a:r>
              <a:rPr lang="en-US" dirty="0"/>
              <a:t> – Viewing the symbol table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13C4CC3-669C-4566-A31F-B9739034F32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96620" y="967741"/>
            <a:ext cx="8343900" cy="1069489"/>
          </a:xfrm>
        </p:spPr>
        <p:txBody>
          <a:bodyPr/>
          <a:lstStyle/>
          <a:p>
            <a:r>
              <a:rPr lang="en-US" dirty="0"/>
              <a:t>You can investigate the symbols that are part of any object file using the</a:t>
            </a:r>
            <a:r>
              <a:rPr lang="en-US" dirty="0">
                <a:latin typeface="Inconsolata" panose="020B0609030003000000" pitchFamily="49" charset="0"/>
              </a:rPr>
              <a:t> </a:t>
            </a:r>
            <a:r>
              <a:rPr lang="en-US" dirty="0" err="1">
                <a:latin typeface="Inconsolata" panose="020B0609030003000000" pitchFamily="49" charset="0"/>
              </a:rPr>
              <a:t>readelf</a:t>
            </a:r>
            <a:r>
              <a:rPr lang="en-US" dirty="0">
                <a:latin typeface="Inconsolata" panose="020B0609030003000000" pitchFamily="49" charset="0"/>
              </a:rPr>
              <a:t> -s </a:t>
            </a:r>
            <a:r>
              <a:rPr lang="en-US" dirty="0"/>
              <a:t>command on Linux/UNIX.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7A1567A-60A4-4BEA-AED4-5948BCE5C2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AAD609-F83C-4414-814B-B5A2DF99692C}" type="slidenum">
              <a:rPr lang="en-US" smtClean="0"/>
              <a:pPr/>
              <a:t>15</a:t>
            </a:fld>
            <a:endParaRPr lang="en-US" dirty="0"/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1C943DBF-6558-4EB2-91D9-664BC24F07BA}"/>
              </a:ext>
            </a:extLst>
          </p:cNvPr>
          <p:cNvSpPr txBox="1">
            <a:spLocks/>
          </p:cNvSpPr>
          <p:nvPr/>
        </p:nvSpPr>
        <p:spPr>
          <a:xfrm>
            <a:off x="5000441" y="2576527"/>
            <a:ext cx="4585721" cy="307233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Clr>
                <a:schemeClr val="accent1">
                  <a:lumMod val="75000"/>
                </a:schemeClr>
              </a:buClr>
              <a:buFont typeface="Arial" panose="020B0604020202020204" pitchFamily="34" charset="0"/>
              <a:buChar char="•"/>
              <a:defRPr sz="2100" kern="1200">
                <a:solidFill>
                  <a:schemeClr val="tx1"/>
                </a:solidFill>
                <a:latin typeface="Lato Semibold" panose="020F0502020204030203" pitchFamily="34" charset="0"/>
                <a:ea typeface="Lato Semibold" panose="020F0502020204030203" pitchFamily="34" charset="0"/>
                <a:cs typeface="Lato Semibold" panose="020F0502020204030203" pitchFamily="34" charset="0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Clr>
                <a:schemeClr val="accent1">
                  <a:lumMod val="75000"/>
                </a:schemeClr>
              </a:buClr>
              <a:buFont typeface="Wingdings" panose="05000000000000000000" pitchFamily="2" charset="2"/>
              <a:buChar char="§"/>
              <a:defRPr sz="1800" kern="1200">
                <a:solidFill>
                  <a:schemeClr val="tx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Clr>
                <a:srgbClr val="FF0000"/>
              </a:buClr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Lato Light" panose="020F0502020204030203" pitchFamily="34" charset="0"/>
                <a:ea typeface="Lato Light" panose="020F0502020204030203" pitchFamily="34" charset="0"/>
                <a:cs typeface="Lato Light" panose="020F0502020204030203" pitchFamily="34" charset="0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Lato Light" panose="020F0502020204030203" pitchFamily="34" charset="0"/>
                <a:ea typeface="Lato Light" panose="020F0502020204030203" pitchFamily="34" charset="0"/>
                <a:cs typeface="Lato Light" panose="020F0502020204030203" pitchFamily="34" charset="0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1000" dirty="0">
                <a:latin typeface="Inconsolata" panose="020B0609030003000000" pitchFamily="49" charset="0"/>
              </a:rPr>
              <a:t>Symbol table '.</a:t>
            </a:r>
            <a:r>
              <a:rPr lang="en-US" sz="1000" dirty="0" err="1">
                <a:latin typeface="Inconsolata" panose="020B0609030003000000" pitchFamily="49" charset="0"/>
              </a:rPr>
              <a:t>symtab</a:t>
            </a:r>
            <a:r>
              <a:rPr lang="en-US" sz="1000" dirty="0">
                <a:latin typeface="Inconsolata" panose="020B0609030003000000" pitchFamily="49" charset="0"/>
              </a:rPr>
              <a:t>' contains 13 entries: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1000" dirty="0">
                <a:latin typeface="Inconsolata" panose="020B0609030003000000" pitchFamily="49" charset="0"/>
              </a:rPr>
              <a:t>   Num: Value    </a:t>
            </a:r>
            <a:r>
              <a:rPr lang="en-US" sz="1000" dirty="0" err="1">
                <a:latin typeface="Inconsolata" panose="020B0609030003000000" pitchFamily="49" charset="0"/>
              </a:rPr>
              <a:t>Sz</a:t>
            </a:r>
            <a:r>
              <a:rPr lang="en-US" sz="1000" dirty="0">
                <a:latin typeface="Inconsolata" panose="020B0609030003000000" pitchFamily="49" charset="0"/>
              </a:rPr>
              <a:t> Type    Bind   Vis      </a:t>
            </a:r>
            <a:r>
              <a:rPr lang="en-US" sz="1000" dirty="0" err="1">
                <a:latin typeface="Inconsolata" panose="020B0609030003000000" pitchFamily="49" charset="0"/>
              </a:rPr>
              <a:t>Ndx</a:t>
            </a:r>
            <a:r>
              <a:rPr lang="en-US" sz="1000" dirty="0">
                <a:latin typeface="Inconsolata" panose="020B0609030003000000" pitchFamily="49" charset="0"/>
              </a:rPr>
              <a:t> Name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1000" dirty="0">
                <a:latin typeface="Inconsolata" panose="020B0609030003000000" pitchFamily="49" charset="0"/>
              </a:rPr>
              <a:t>     0: 00000000  0 NOTYPE  LOCAL  DEFAULT  UND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1000" dirty="0">
                <a:latin typeface="Inconsolata" panose="020B0609030003000000" pitchFamily="49" charset="0"/>
              </a:rPr>
              <a:t>     1: 00000000  0 FILE    LOCAL  DEFAULT  ABS </a:t>
            </a:r>
            <a:r>
              <a:rPr lang="en-US" sz="1000" dirty="0" err="1">
                <a:latin typeface="Inconsolata" panose="020B0609030003000000" pitchFamily="49" charset="0"/>
              </a:rPr>
              <a:t>pirate.c</a:t>
            </a:r>
            <a:endParaRPr lang="en-US" sz="1000" dirty="0">
              <a:latin typeface="Inconsolata" panose="020B0609030003000000" pitchFamily="49" charset="0"/>
            </a:endParaRP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1000" dirty="0">
                <a:latin typeface="Inconsolata" panose="020B0609030003000000" pitchFamily="49" charset="0"/>
              </a:rPr>
              <a:t>     2: 00000000  0 SECTION LOCAL  DEFAULT    1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1000" dirty="0">
                <a:latin typeface="Inconsolata" panose="020B0609030003000000" pitchFamily="49" charset="0"/>
              </a:rPr>
              <a:t>     3: 00000000  0 SECTION LOCAL  DEFAULT    3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1000" dirty="0">
                <a:latin typeface="Inconsolata" panose="020B0609030003000000" pitchFamily="49" charset="0"/>
              </a:rPr>
              <a:t>     4: 00000000  0 SECTION LOCAL  DEFAULT    4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1000" dirty="0">
                <a:latin typeface="Inconsolata" panose="020B0609030003000000" pitchFamily="49" charset="0"/>
              </a:rPr>
              <a:t>     5: 00000000  0 SECTION LOCAL  DEFAULT    5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1000" dirty="0">
                <a:latin typeface="Inconsolata" panose="020B0609030003000000" pitchFamily="49" charset="0"/>
              </a:rPr>
              <a:t>     6: 00000000  0 SECTION LOCAL  DEFAULT    7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1000" dirty="0">
                <a:latin typeface="Inconsolata" panose="020B0609030003000000" pitchFamily="49" charset="0"/>
              </a:rPr>
              <a:t>     7: 00000000  0 SECTION LOCAL  DEFAULT    8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1000" dirty="0">
                <a:latin typeface="Inconsolata" panose="020B0609030003000000" pitchFamily="49" charset="0"/>
              </a:rPr>
              <a:t>     8: 00000000  0 SECTION LOCAL  DEFAULT    6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1000" dirty="0">
                <a:latin typeface="Inconsolata" panose="020B0609030003000000" pitchFamily="49" charset="0"/>
              </a:rPr>
              <a:t>     9: 00000000 39 FUNC    GLOBAL DEFAULT    1 </a:t>
            </a:r>
            <a:r>
              <a:rPr lang="en-US" sz="1000" dirty="0" err="1">
                <a:latin typeface="Inconsolata" panose="020B0609030003000000" pitchFamily="49" charset="0"/>
              </a:rPr>
              <a:t>speak_like_pirate</a:t>
            </a:r>
            <a:endParaRPr lang="en-US" sz="1000" dirty="0">
              <a:latin typeface="Inconsolata" panose="020B0609030003000000" pitchFamily="49" charset="0"/>
            </a:endParaRP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1000" dirty="0">
                <a:latin typeface="Inconsolata" panose="020B0609030003000000" pitchFamily="49" charset="0"/>
              </a:rPr>
              <a:t>    10: 00000000  0 NOTYPE  GLOBAL DEFAULT  UND _GLOBAL_OFFSET_TABLE_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1000" dirty="0">
                <a:latin typeface="Inconsolata" panose="020B0609030003000000" pitchFamily="49" charset="0"/>
              </a:rPr>
              <a:t>    11: 00000000  0 NOTYPE  GLOBAL DEFAULT  UND </a:t>
            </a:r>
            <a:r>
              <a:rPr lang="en-US" sz="1000" dirty="0" err="1">
                <a:latin typeface="Inconsolata" panose="020B0609030003000000" pitchFamily="49" charset="0"/>
              </a:rPr>
              <a:t>printf</a:t>
            </a:r>
            <a:endParaRPr lang="en-US" sz="1000" dirty="0">
              <a:latin typeface="Inconsolata" panose="020B0609030003000000" pitchFamily="49" charset="0"/>
            </a:endParaRP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1000" dirty="0">
                <a:latin typeface="Inconsolata" panose="020B0609030003000000" pitchFamily="49" charset="0"/>
              </a:rPr>
              <a:t>    12: 00000027 23 FUNC    GLOBAL DEFAULT    1 main</a:t>
            </a:r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7DE4FC95-1FE6-43A1-8DAE-C0365B75A8D3}"/>
              </a:ext>
            </a:extLst>
          </p:cNvPr>
          <p:cNvSpPr txBox="1">
            <a:spLocks/>
          </p:cNvSpPr>
          <p:nvPr/>
        </p:nvSpPr>
        <p:spPr>
          <a:xfrm>
            <a:off x="601906" y="2576527"/>
            <a:ext cx="4398537" cy="310090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Clr>
                <a:schemeClr val="accent1">
                  <a:lumMod val="75000"/>
                </a:schemeClr>
              </a:buClr>
              <a:buFont typeface="Arial" panose="020B0604020202020204" pitchFamily="34" charset="0"/>
              <a:buChar char="•"/>
              <a:defRPr sz="2100" kern="1200">
                <a:solidFill>
                  <a:schemeClr val="tx1"/>
                </a:solidFill>
                <a:latin typeface="Lato Semibold" panose="020F0502020204030203" pitchFamily="34" charset="0"/>
                <a:ea typeface="Lato Semibold" panose="020F0502020204030203" pitchFamily="34" charset="0"/>
                <a:cs typeface="Lato Semibold" panose="020F0502020204030203" pitchFamily="34" charset="0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Clr>
                <a:schemeClr val="accent1">
                  <a:lumMod val="75000"/>
                </a:schemeClr>
              </a:buClr>
              <a:buFont typeface="Wingdings" panose="05000000000000000000" pitchFamily="2" charset="2"/>
              <a:buChar char="§"/>
              <a:defRPr sz="1800" kern="1200">
                <a:solidFill>
                  <a:schemeClr val="tx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Clr>
                <a:srgbClr val="FF0000"/>
              </a:buClr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Lato Light" panose="020F0502020204030203" pitchFamily="34" charset="0"/>
                <a:ea typeface="Lato Light" panose="020F0502020204030203" pitchFamily="34" charset="0"/>
                <a:cs typeface="Lato Light" panose="020F0502020204030203" pitchFamily="34" charset="0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Lato Light" panose="020F0502020204030203" pitchFamily="34" charset="0"/>
                <a:ea typeface="Lato Light" panose="020F0502020204030203" pitchFamily="34" charset="0"/>
                <a:cs typeface="Lato Light" panose="020F0502020204030203" pitchFamily="34" charset="0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1600" dirty="0">
                <a:solidFill>
                  <a:srgbClr val="7030A0"/>
                </a:solidFill>
                <a:latin typeface="Inconsolata" panose="020B0609030003000000" pitchFamily="49" charset="0"/>
              </a:rPr>
              <a:t>#include</a:t>
            </a:r>
            <a:r>
              <a:rPr lang="en-US" sz="1600" dirty="0">
                <a:latin typeface="Inconsolata" panose="020B0609030003000000" pitchFamily="49" charset="0"/>
              </a:rPr>
              <a:t> </a:t>
            </a:r>
            <a:r>
              <a:rPr lang="en-US" sz="1600" dirty="0">
                <a:solidFill>
                  <a:schemeClr val="accent2">
                    <a:lumMod val="75000"/>
                  </a:schemeClr>
                </a:solidFill>
                <a:latin typeface="Inconsolata" panose="020B0609030003000000" pitchFamily="49" charset="0"/>
              </a:rPr>
              <a:t>&lt;</a:t>
            </a:r>
            <a:r>
              <a:rPr lang="en-US" sz="1600" dirty="0" err="1">
                <a:solidFill>
                  <a:schemeClr val="accent2">
                    <a:lumMod val="75000"/>
                  </a:schemeClr>
                </a:solidFill>
                <a:latin typeface="Inconsolata" panose="020B0609030003000000" pitchFamily="49" charset="0"/>
              </a:rPr>
              <a:t>stdio.h</a:t>
            </a:r>
            <a:r>
              <a:rPr lang="en-US" sz="1600" dirty="0">
                <a:solidFill>
                  <a:schemeClr val="accent2">
                    <a:lumMod val="75000"/>
                  </a:schemeClr>
                </a:solidFill>
                <a:latin typeface="Inconsolata" panose="020B0609030003000000" pitchFamily="49" charset="0"/>
              </a:rPr>
              <a:t>&gt;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endParaRPr lang="en-US" sz="1600" dirty="0">
              <a:latin typeface="Inconsolata" panose="020B0609030003000000" pitchFamily="49" charset="0"/>
            </a:endParaRP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1600" dirty="0">
                <a:solidFill>
                  <a:schemeClr val="accent1">
                    <a:lumMod val="75000"/>
                  </a:schemeClr>
                </a:solidFill>
                <a:latin typeface="Inconsolata" panose="020B0609030003000000" pitchFamily="49" charset="0"/>
              </a:rPr>
              <a:t>void</a:t>
            </a:r>
            <a:r>
              <a:rPr lang="en-US" sz="1600" dirty="0">
                <a:latin typeface="Inconsolata" panose="020B0609030003000000" pitchFamily="49" charset="0"/>
              </a:rPr>
              <a:t> </a:t>
            </a:r>
            <a:r>
              <a:rPr lang="en-US" sz="1600" dirty="0" err="1">
                <a:latin typeface="Inconsolata" panose="020B0609030003000000" pitchFamily="49" charset="0"/>
              </a:rPr>
              <a:t>speak_like_pirate</a:t>
            </a:r>
            <a:r>
              <a:rPr lang="en-US" sz="1600" dirty="0">
                <a:latin typeface="Inconsolata" panose="020B0609030003000000" pitchFamily="49" charset="0"/>
              </a:rPr>
              <a:t>(</a:t>
            </a:r>
            <a:r>
              <a:rPr lang="en-US" sz="1600" dirty="0">
                <a:solidFill>
                  <a:schemeClr val="accent1">
                    <a:lumMod val="75000"/>
                  </a:schemeClr>
                </a:solidFill>
                <a:latin typeface="Inconsolata" panose="020B0609030003000000" pitchFamily="49" charset="0"/>
              </a:rPr>
              <a:t>const char</a:t>
            </a:r>
            <a:r>
              <a:rPr lang="en-US" sz="1600" dirty="0">
                <a:latin typeface="Inconsolata" panose="020B0609030003000000" pitchFamily="49" charset="0"/>
              </a:rPr>
              <a:t>* foo) {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1600" dirty="0">
                <a:latin typeface="Inconsolata" panose="020B0609030003000000" pitchFamily="49" charset="0"/>
              </a:rPr>
              <a:t>  </a:t>
            </a:r>
            <a:r>
              <a:rPr lang="en-US" sz="1600" dirty="0" err="1">
                <a:latin typeface="Inconsolata" panose="020B0609030003000000" pitchFamily="49" charset="0"/>
              </a:rPr>
              <a:t>printf</a:t>
            </a:r>
            <a:r>
              <a:rPr lang="en-US" sz="1600" dirty="0">
                <a:latin typeface="Inconsolata" panose="020B0609030003000000" pitchFamily="49" charset="0"/>
              </a:rPr>
              <a:t>(</a:t>
            </a:r>
            <a:r>
              <a:rPr lang="en-US" sz="1600" dirty="0">
                <a:solidFill>
                  <a:schemeClr val="accent2">
                    <a:lumMod val="75000"/>
                  </a:schemeClr>
                </a:solidFill>
                <a:latin typeface="Inconsolata" panose="020B0609030003000000" pitchFamily="49" charset="0"/>
              </a:rPr>
              <a:t>"</a:t>
            </a:r>
            <a:r>
              <a:rPr lang="en-US" sz="1600" dirty="0" err="1">
                <a:solidFill>
                  <a:schemeClr val="accent2">
                    <a:lumMod val="75000"/>
                  </a:schemeClr>
                </a:solidFill>
                <a:latin typeface="Inconsolata" panose="020B0609030003000000" pitchFamily="49" charset="0"/>
              </a:rPr>
              <a:t>Arr</a:t>
            </a:r>
            <a:r>
              <a:rPr lang="en-US" sz="1600" dirty="0">
                <a:solidFill>
                  <a:schemeClr val="accent2">
                    <a:lumMod val="75000"/>
                  </a:schemeClr>
                </a:solidFill>
                <a:latin typeface="Inconsolata" panose="020B0609030003000000" pitchFamily="49" charset="0"/>
              </a:rPr>
              <a:t> </a:t>
            </a:r>
            <a:r>
              <a:rPr lang="en-US" sz="1600" dirty="0" err="1">
                <a:solidFill>
                  <a:schemeClr val="accent2">
                    <a:lumMod val="75000"/>
                  </a:schemeClr>
                </a:solidFill>
                <a:latin typeface="Inconsolata" panose="020B0609030003000000" pitchFamily="49" charset="0"/>
              </a:rPr>
              <a:t>matey</a:t>
            </a:r>
            <a:r>
              <a:rPr lang="en-US" sz="1600" dirty="0">
                <a:solidFill>
                  <a:schemeClr val="accent2">
                    <a:lumMod val="75000"/>
                  </a:schemeClr>
                </a:solidFill>
                <a:latin typeface="Inconsolata" panose="020B0609030003000000" pitchFamily="49" charset="0"/>
              </a:rPr>
              <a:t>! %s\n"</a:t>
            </a:r>
            <a:r>
              <a:rPr lang="en-US" sz="1600" dirty="0">
                <a:latin typeface="Inconsolata" panose="020B0609030003000000" pitchFamily="49" charset="0"/>
              </a:rPr>
              <a:t>, foo);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1600" dirty="0">
                <a:latin typeface="Inconsolata" panose="020B0609030003000000" pitchFamily="49" charset="0"/>
              </a:rPr>
              <a:t>}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endParaRPr lang="en-US" sz="1600" dirty="0">
              <a:latin typeface="Inconsolata" panose="020B0609030003000000" pitchFamily="49" charset="0"/>
            </a:endParaRP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1600" dirty="0">
                <a:solidFill>
                  <a:schemeClr val="accent1">
                    <a:lumMod val="75000"/>
                  </a:schemeClr>
                </a:solidFill>
                <a:latin typeface="Inconsolata" panose="020B0609030003000000" pitchFamily="49" charset="0"/>
              </a:rPr>
              <a:t>int</a:t>
            </a:r>
            <a:r>
              <a:rPr lang="en-US" sz="1600" dirty="0">
                <a:latin typeface="Inconsolata" panose="020B0609030003000000" pitchFamily="49" charset="0"/>
              </a:rPr>
              <a:t> main(</a:t>
            </a:r>
            <a:r>
              <a:rPr lang="en-US" sz="1600" dirty="0">
                <a:solidFill>
                  <a:schemeClr val="accent1">
                    <a:lumMod val="75000"/>
                  </a:schemeClr>
                </a:solidFill>
                <a:latin typeface="Inconsolata" panose="020B0609030003000000" pitchFamily="49" charset="0"/>
              </a:rPr>
              <a:t>void</a:t>
            </a:r>
            <a:r>
              <a:rPr lang="en-US" sz="1600" dirty="0">
                <a:latin typeface="Inconsolata" panose="020B0609030003000000" pitchFamily="49" charset="0"/>
              </a:rPr>
              <a:t>) {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1600" dirty="0">
                <a:latin typeface="Inconsolata" panose="020B0609030003000000" pitchFamily="49" charset="0"/>
              </a:rPr>
              <a:t>  </a:t>
            </a:r>
            <a:r>
              <a:rPr lang="en-US" sz="1600" dirty="0" err="1">
                <a:latin typeface="Inconsolata" panose="020B0609030003000000" pitchFamily="49" charset="0"/>
              </a:rPr>
              <a:t>speak_like_pirate</a:t>
            </a:r>
            <a:r>
              <a:rPr lang="en-US" sz="1600" dirty="0">
                <a:latin typeface="Inconsolata" panose="020B0609030003000000" pitchFamily="49" charset="0"/>
              </a:rPr>
              <a:t>(</a:t>
            </a:r>
            <a:r>
              <a:rPr lang="en-US" sz="1600" dirty="0">
                <a:solidFill>
                  <a:schemeClr val="accent2">
                    <a:lumMod val="75000"/>
                  </a:schemeClr>
                </a:solidFill>
                <a:latin typeface="Inconsolata" panose="020B0609030003000000" pitchFamily="49" charset="0"/>
              </a:rPr>
              <a:t>"Hello World!"</a:t>
            </a:r>
            <a:r>
              <a:rPr lang="en-US" sz="1600" dirty="0">
                <a:latin typeface="Inconsolata" panose="020B0609030003000000" pitchFamily="49" charset="0"/>
              </a:rPr>
              <a:t>);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1600" dirty="0">
                <a:latin typeface="Inconsolata" panose="020B0609030003000000" pitchFamily="49" charset="0"/>
              </a:rPr>
              <a:t>  </a:t>
            </a:r>
            <a:r>
              <a:rPr lang="en-US" sz="1600" dirty="0">
                <a:solidFill>
                  <a:schemeClr val="accent1">
                    <a:lumMod val="75000"/>
                  </a:schemeClr>
                </a:solidFill>
                <a:latin typeface="Inconsolata" panose="020B0609030003000000" pitchFamily="49" charset="0"/>
              </a:rPr>
              <a:t>return</a:t>
            </a:r>
            <a:r>
              <a:rPr lang="en-US" sz="1600" dirty="0">
                <a:latin typeface="Inconsolata" panose="020B0609030003000000" pitchFamily="49" charset="0"/>
              </a:rPr>
              <a:t> 0;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1600" dirty="0">
                <a:latin typeface="Inconsolata" panose="020B0609030003000000" pitchFamily="49" charset="0"/>
              </a:rPr>
              <a:t>}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B6BFAE1-51F2-47FF-B94D-399141362EA3}"/>
              </a:ext>
            </a:extLst>
          </p:cNvPr>
          <p:cNvSpPr txBox="1"/>
          <p:nvPr/>
        </p:nvSpPr>
        <p:spPr>
          <a:xfrm>
            <a:off x="573836" y="2213094"/>
            <a:ext cx="442660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Lato Black" panose="020F0502020204030203" pitchFamily="34" charset="0"/>
                <a:ea typeface="Lato Black" panose="020F0502020204030203" pitchFamily="34" charset="0"/>
                <a:cs typeface="Lato Black" panose="020F0502020204030203" pitchFamily="34" charset="0"/>
              </a:rPr>
              <a:t>C</a:t>
            </a:r>
            <a:r>
              <a:rPr lang="en-US" dirty="0">
                <a:latin typeface="Lato Light" panose="020F0502020204030203" pitchFamily="34" charset="0"/>
                <a:ea typeface="Lato Light" panose="020F0502020204030203" pitchFamily="34" charset="0"/>
                <a:cs typeface="Lato Light" panose="020F0502020204030203" pitchFamily="34" charset="0"/>
              </a:rPr>
              <a:t> (</a:t>
            </a:r>
            <a:r>
              <a:rPr lang="en-US" dirty="0" err="1">
                <a:latin typeface="Inconsolata" panose="020B0609030003000000" pitchFamily="49" charset="0"/>
                <a:ea typeface="Lato Light" panose="020F0502020204030203" pitchFamily="34" charset="0"/>
                <a:cs typeface="Lato Light" panose="020F0502020204030203" pitchFamily="34" charset="0"/>
              </a:rPr>
              <a:t>gcc</a:t>
            </a:r>
            <a:r>
              <a:rPr lang="en-US" dirty="0">
                <a:latin typeface="Inconsolata" panose="020B0609030003000000" pitchFamily="49" charset="0"/>
                <a:ea typeface="Lato Light" panose="020F0502020204030203" pitchFamily="34" charset="0"/>
                <a:cs typeface="Lato Light" panose="020F0502020204030203" pitchFamily="34" charset="0"/>
              </a:rPr>
              <a:t> -c </a:t>
            </a:r>
            <a:r>
              <a:rPr lang="en-US" dirty="0" err="1">
                <a:latin typeface="Inconsolata" panose="020B0609030003000000" pitchFamily="49" charset="0"/>
                <a:ea typeface="Lato Light" panose="020F0502020204030203" pitchFamily="34" charset="0"/>
                <a:cs typeface="Lato Light" panose="020F0502020204030203" pitchFamily="34" charset="0"/>
              </a:rPr>
              <a:t>pirate.c</a:t>
            </a:r>
            <a:r>
              <a:rPr lang="en-US" dirty="0">
                <a:latin typeface="Lato Light" panose="020F0502020204030203" pitchFamily="34" charset="0"/>
                <a:ea typeface="Lato Light" panose="020F0502020204030203" pitchFamily="34" charset="0"/>
                <a:cs typeface="Lato Light" panose="020F0502020204030203" pitchFamily="34" charset="0"/>
              </a:rPr>
              <a:t>)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0A8C54A5-303C-41FE-B330-EEECBC40AFDE}"/>
              </a:ext>
            </a:extLst>
          </p:cNvPr>
          <p:cNvSpPr txBox="1"/>
          <p:nvPr/>
        </p:nvSpPr>
        <p:spPr>
          <a:xfrm>
            <a:off x="5000440" y="2207195"/>
            <a:ext cx="400976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>
                <a:latin typeface="Inconsolata" panose="020B0609030003000000" pitchFamily="49" charset="0"/>
                <a:ea typeface="Lato Light" panose="020F0502020204030203" pitchFamily="34" charset="0"/>
                <a:cs typeface="Lato Light" panose="020F0502020204030203" pitchFamily="34" charset="0"/>
              </a:rPr>
              <a:t>readelf</a:t>
            </a:r>
            <a:r>
              <a:rPr lang="en-US" dirty="0">
                <a:latin typeface="Inconsolata" panose="020B0609030003000000" pitchFamily="49" charset="0"/>
                <a:ea typeface="Lato Light" panose="020F0502020204030203" pitchFamily="34" charset="0"/>
                <a:cs typeface="Lato Light" panose="020F0502020204030203" pitchFamily="34" charset="0"/>
              </a:rPr>
              <a:t> -s </a:t>
            </a:r>
            <a:r>
              <a:rPr lang="en-US" dirty="0" err="1">
                <a:latin typeface="Inconsolata" panose="020B0609030003000000" pitchFamily="49" charset="0"/>
                <a:ea typeface="Lato Light" panose="020F0502020204030203" pitchFamily="34" charset="0"/>
                <a:cs typeface="Lato Light" panose="020F0502020204030203" pitchFamily="34" charset="0"/>
              </a:rPr>
              <a:t>pirate.o</a:t>
            </a:r>
            <a:endParaRPr lang="en-US" dirty="0">
              <a:latin typeface="Lato Light" panose="020F0502020204030203" pitchFamily="34" charset="0"/>
              <a:ea typeface="Lato Light" panose="020F0502020204030203" pitchFamily="34" charset="0"/>
              <a:cs typeface="Lato Light" panose="020F0502020204030203" pitchFamily="34" charset="0"/>
            </a:endParaRPr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D57DAC13-7A3F-4460-B6A6-4A88CB4E63CF}"/>
              </a:ext>
            </a:extLst>
          </p:cNvPr>
          <p:cNvCxnSpPr>
            <a:cxnSpLocks/>
          </p:cNvCxnSpPr>
          <p:nvPr/>
        </p:nvCxnSpPr>
        <p:spPr>
          <a:xfrm>
            <a:off x="4941007" y="2284056"/>
            <a:ext cx="0" cy="3335352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EEA2A693-92E3-4214-B0C6-9DD44DC37A09}"/>
              </a:ext>
            </a:extLst>
          </p:cNvPr>
          <p:cNvCxnSpPr>
            <a:cxnSpLocks/>
          </p:cNvCxnSpPr>
          <p:nvPr/>
        </p:nvCxnSpPr>
        <p:spPr>
          <a:xfrm>
            <a:off x="4968797" y="2284056"/>
            <a:ext cx="0" cy="3335352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TextBox 11">
            <a:extLst>
              <a:ext uri="{FF2B5EF4-FFF2-40B4-BE49-F238E27FC236}">
                <a16:creationId xmlns:a16="http://schemas.microsoft.com/office/drawing/2014/main" id="{41761026-7422-4B9F-839E-17F70FD72510}"/>
              </a:ext>
            </a:extLst>
          </p:cNvPr>
          <p:cNvSpPr txBox="1"/>
          <p:nvPr/>
        </p:nvSpPr>
        <p:spPr>
          <a:xfrm>
            <a:off x="1391188" y="4108186"/>
            <a:ext cx="3235181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>
                <a:solidFill>
                  <a:srgbClr val="7030A0"/>
                </a:solidFill>
                <a:latin typeface="Lato Black" panose="020B0604020202020204" charset="0"/>
                <a:ea typeface="Lato Black" panose="020B0604020202020204" charset="0"/>
                <a:cs typeface="Lato Black" panose="020B0604020202020204" charset="0"/>
              </a:rPr>
              <a:t>This is a symbol. It has a location.</a:t>
            </a:r>
            <a:endParaRPr lang="en-US" sz="1600" dirty="0">
              <a:solidFill>
                <a:srgbClr val="7030A0"/>
              </a:solidFill>
              <a:latin typeface="Inconsolata" panose="020B0609030003000000" pitchFamily="49" charset="0"/>
              <a:ea typeface="Lato Black" panose="020B0604020202020204" charset="0"/>
              <a:cs typeface="Lato Black" panose="020B0604020202020204" charset="0"/>
            </a:endParaRPr>
          </a:p>
        </p:txBody>
      </p: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9A32F509-6EC3-46E9-994E-FA17AF1BCE47}"/>
              </a:ext>
            </a:extLst>
          </p:cNvPr>
          <p:cNvCxnSpPr>
            <a:cxnSpLocks/>
          </p:cNvCxnSpPr>
          <p:nvPr/>
        </p:nvCxnSpPr>
        <p:spPr>
          <a:xfrm rot="10800000" flipV="1">
            <a:off x="1258910" y="4302072"/>
            <a:ext cx="169566" cy="144668"/>
          </a:xfrm>
          <a:prstGeom prst="straightConnector1">
            <a:avLst/>
          </a:prstGeom>
          <a:ln w="38100">
            <a:solidFill>
              <a:srgbClr val="7030A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TextBox 14">
            <a:extLst>
              <a:ext uri="{FF2B5EF4-FFF2-40B4-BE49-F238E27FC236}">
                <a16:creationId xmlns:a16="http://schemas.microsoft.com/office/drawing/2014/main" id="{B8F4E5EB-4CCB-4163-867C-399D70E90821}"/>
              </a:ext>
            </a:extLst>
          </p:cNvPr>
          <p:cNvSpPr txBox="1"/>
          <p:nvPr/>
        </p:nvSpPr>
        <p:spPr>
          <a:xfrm>
            <a:off x="5959231" y="5378971"/>
            <a:ext cx="2874505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>
                <a:solidFill>
                  <a:srgbClr val="7030A0"/>
                </a:solidFill>
                <a:latin typeface="Lato Black" panose="020B0604020202020204" charset="0"/>
                <a:ea typeface="Lato Black" panose="020B0604020202020204" charset="0"/>
                <a:cs typeface="Lato Black" panose="020B0604020202020204" charset="0"/>
              </a:rPr>
              <a:t>Here it is! At 0x27 (39) bytes.</a:t>
            </a:r>
            <a:endParaRPr lang="en-US" sz="1600" dirty="0">
              <a:solidFill>
                <a:srgbClr val="7030A0"/>
              </a:solidFill>
              <a:latin typeface="Inconsolata" panose="020B0609030003000000" pitchFamily="49" charset="0"/>
              <a:ea typeface="Lato Black" panose="020B0604020202020204" charset="0"/>
              <a:cs typeface="Lato Black" panose="020B0604020202020204" charset="0"/>
            </a:endParaRPr>
          </a:p>
        </p:txBody>
      </p: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B2570BFE-D34D-4B26-9D69-7733F050BE81}"/>
              </a:ext>
            </a:extLst>
          </p:cNvPr>
          <p:cNvCxnSpPr>
            <a:cxnSpLocks/>
          </p:cNvCxnSpPr>
          <p:nvPr/>
        </p:nvCxnSpPr>
        <p:spPr>
          <a:xfrm rot="16200000" flipV="1">
            <a:off x="5802113" y="5379685"/>
            <a:ext cx="169566" cy="144668"/>
          </a:xfrm>
          <a:prstGeom prst="straightConnector1">
            <a:avLst/>
          </a:prstGeom>
          <a:ln w="38100">
            <a:solidFill>
              <a:srgbClr val="7030A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7947045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/>
      <p:bldP spid="15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4C7292-B8E9-4C65-8071-B401ACA282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Inconsolata" panose="020B0609030003000000" pitchFamily="49" charset="0"/>
              </a:rPr>
              <a:t>static</a:t>
            </a:r>
            <a:r>
              <a:rPr lang="en-US" dirty="0"/>
              <a:t>; Controlling the symbols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CCA24D6-F049-4A23-A4D4-5C973D2A332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98500" y="1052946"/>
            <a:ext cx="8763000" cy="4094524"/>
          </a:xfrm>
        </p:spPr>
        <p:txBody>
          <a:bodyPr>
            <a:normAutofit lnSpcReduction="10000"/>
          </a:bodyPr>
          <a:lstStyle/>
          <a:p>
            <a:r>
              <a:rPr lang="en-US" dirty="0"/>
              <a:t>Remember the</a:t>
            </a:r>
            <a:r>
              <a:rPr lang="en-US" dirty="0">
                <a:latin typeface="Inconsolata" panose="020B0609030003000000" pitchFamily="49" charset="0"/>
              </a:rPr>
              <a:t> </a:t>
            </a:r>
            <a:r>
              <a:rPr lang="en-US" dirty="0">
                <a:solidFill>
                  <a:schemeClr val="accent1">
                    <a:lumMod val="75000"/>
                  </a:schemeClr>
                </a:solidFill>
                <a:latin typeface="Inconsolata" panose="020B0609030003000000" pitchFamily="49" charset="0"/>
              </a:rPr>
              <a:t>static</a:t>
            </a:r>
            <a:r>
              <a:rPr lang="en-US" dirty="0">
                <a:latin typeface="Inconsolata" panose="020B0609030003000000" pitchFamily="49" charset="0"/>
              </a:rPr>
              <a:t> </a:t>
            </a:r>
            <a:r>
              <a:rPr lang="en-US" dirty="0"/>
              <a:t>keyword?</a:t>
            </a:r>
          </a:p>
          <a:p>
            <a:endParaRPr lang="en-US" dirty="0"/>
          </a:p>
          <a:p>
            <a:r>
              <a:rPr lang="en-US" dirty="0"/>
              <a:t>This forces any symbol to be </a:t>
            </a:r>
            <a:r>
              <a:rPr lang="en-US" i="1" dirty="0"/>
              <a:t>local</a:t>
            </a:r>
            <a:r>
              <a:rPr lang="en-US" dirty="0"/>
              <a:t> to the current file. That is, it can not be referenced by an outside function.</a:t>
            </a:r>
          </a:p>
          <a:p>
            <a:pPr lvl="1"/>
            <a:r>
              <a:rPr lang="en-US" dirty="0"/>
              <a:t>This is because the symbol will not be included in the symbol table!</a:t>
            </a:r>
          </a:p>
          <a:p>
            <a:pPr lvl="1"/>
            <a:r>
              <a:rPr lang="en-US" dirty="0"/>
              <a:t>The linker will not be able to see it.</a:t>
            </a:r>
          </a:p>
          <a:p>
            <a:pPr lvl="1"/>
            <a:endParaRPr lang="en-US" dirty="0"/>
          </a:p>
          <a:p>
            <a:r>
              <a:rPr lang="en-US" dirty="0"/>
              <a:t>This is useful for avoiding </a:t>
            </a:r>
            <a:r>
              <a:rPr lang="en-US" i="1" dirty="0">
                <a:solidFill>
                  <a:schemeClr val="accent1">
                    <a:lumMod val="75000"/>
                  </a:schemeClr>
                </a:solidFill>
                <a:latin typeface="Lato Black" panose="020F0502020204030203" pitchFamily="34" charset="0"/>
                <a:ea typeface="Lato Black" panose="020F0502020204030203" pitchFamily="34" charset="0"/>
                <a:cs typeface="Lato Black" panose="020F0502020204030203" pitchFamily="34" charset="0"/>
              </a:rPr>
              <a:t>name collisions</a:t>
            </a:r>
            <a:r>
              <a:rPr lang="en-US" dirty="0"/>
              <a:t>, when two functions have the same name.</a:t>
            </a:r>
          </a:p>
          <a:p>
            <a:pPr lvl="1"/>
            <a:r>
              <a:rPr lang="en-US" dirty="0"/>
              <a:t>This normally would make using multiple files and other people’s code troublesome.</a:t>
            </a:r>
          </a:p>
          <a:p>
            <a:pPr lvl="1"/>
            <a:r>
              <a:rPr lang="en-US" dirty="0"/>
              <a:t>Using </a:t>
            </a:r>
            <a:r>
              <a:rPr lang="en-US" dirty="0">
                <a:solidFill>
                  <a:schemeClr val="accent1">
                    <a:lumMod val="75000"/>
                  </a:schemeClr>
                </a:solidFill>
                <a:latin typeface="Inconsolata" panose="020B0609030003000000" pitchFamily="49" charset="0"/>
              </a:rPr>
              <a:t>static</a:t>
            </a:r>
            <a:r>
              <a:rPr lang="en-US" dirty="0"/>
              <a:t> helps because it will not pollute the symbol table.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A3A627C-6C95-4D6D-B518-F53FBD1C86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AAD609-F83C-4414-814B-B5A2DF99692C}" type="slidenum">
              <a:rPr lang="en-US" smtClean="0"/>
              <a:pPr/>
              <a:t>16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1409307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6F66D4-CB7D-4E57-96F6-A70B460D0D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Controlled the symbols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13C4CC3-669C-4566-A31F-B9739034F32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96620" y="967741"/>
            <a:ext cx="8343900" cy="1069489"/>
          </a:xfrm>
        </p:spPr>
        <p:txBody>
          <a:bodyPr/>
          <a:lstStyle/>
          <a:p>
            <a:r>
              <a:rPr lang="en-US" dirty="0"/>
              <a:t>You can investigate the impact of using </a:t>
            </a:r>
            <a:r>
              <a:rPr lang="en-US" dirty="0">
                <a:solidFill>
                  <a:schemeClr val="accent1">
                    <a:lumMod val="75000"/>
                  </a:schemeClr>
                </a:solidFill>
                <a:latin typeface="Inconsolata" panose="020B0609030003000000" pitchFamily="49" charset="0"/>
              </a:rPr>
              <a:t>static</a:t>
            </a:r>
            <a:r>
              <a:rPr lang="en-US" dirty="0"/>
              <a:t> by again using the</a:t>
            </a:r>
            <a:r>
              <a:rPr lang="en-US" dirty="0">
                <a:latin typeface="Inconsolata" panose="020B0609030003000000" pitchFamily="49" charset="0"/>
              </a:rPr>
              <a:t> </a:t>
            </a:r>
            <a:r>
              <a:rPr lang="en-US" dirty="0" err="1">
                <a:latin typeface="Inconsolata" panose="020B0609030003000000" pitchFamily="49" charset="0"/>
              </a:rPr>
              <a:t>readelf</a:t>
            </a:r>
            <a:r>
              <a:rPr lang="en-US" dirty="0">
                <a:latin typeface="Inconsolata" panose="020B0609030003000000" pitchFamily="49" charset="0"/>
              </a:rPr>
              <a:t> -s </a:t>
            </a:r>
            <a:r>
              <a:rPr lang="en-US" dirty="0"/>
              <a:t>command on Linux/UNIX.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7A1567A-60A4-4BEA-AED4-5948BCE5C2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AAD609-F83C-4414-814B-B5A2DF99692C}" type="slidenum">
              <a:rPr lang="en-US" smtClean="0"/>
              <a:pPr/>
              <a:t>17</a:t>
            </a:fld>
            <a:endParaRPr lang="en-US" dirty="0"/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1C943DBF-6558-4EB2-91D9-664BC24F07BA}"/>
              </a:ext>
            </a:extLst>
          </p:cNvPr>
          <p:cNvSpPr txBox="1">
            <a:spLocks/>
          </p:cNvSpPr>
          <p:nvPr/>
        </p:nvSpPr>
        <p:spPr>
          <a:xfrm>
            <a:off x="5000441" y="2576527"/>
            <a:ext cx="4585721" cy="307233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Clr>
                <a:schemeClr val="accent1">
                  <a:lumMod val="75000"/>
                </a:schemeClr>
              </a:buClr>
              <a:buFont typeface="Arial" panose="020B0604020202020204" pitchFamily="34" charset="0"/>
              <a:buChar char="•"/>
              <a:defRPr sz="2100" kern="1200">
                <a:solidFill>
                  <a:schemeClr val="tx1"/>
                </a:solidFill>
                <a:latin typeface="Lato Semibold" panose="020F0502020204030203" pitchFamily="34" charset="0"/>
                <a:ea typeface="Lato Semibold" panose="020F0502020204030203" pitchFamily="34" charset="0"/>
                <a:cs typeface="Lato Semibold" panose="020F0502020204030203" pitchFamily="34" charset="0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Clr>
                <a:schemeClr val="accent1">
                  <a:lumMod val="75000"/>
                </a:schemeClr>
              </a:buClr>
              <a:buFont typeface="Wingdings" panose="05000000000000000000" pitchFamily="2" charset="2"/>
              <a:buChar char="§"/>
              <a:defRPr sz="1800" kern="1200">
                <a:solidFill>
                  <a:schemeClr val="tx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Clr>
                <a:srgbClr val="FF0000"/>
              </a:buClr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Lato Light" panose="020F0502020204030203" pitchFamily="34" charset="0"/>
                <a:ea typeface="Lato Light" panose="020F0502020204030203" pitchFamily="34" charset="0"/>
                <a:cs typeface="Lato Light" panose="020F0502020204030203" pitchFamily="34" charset="0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Lato Light" panose="020F0502020204030203" pitchFamily="34" charset="0"/>
                <a:ea typeface="Lato Light" panose="020F0502020204030203" pitchFamily="34" charset="0"/>
                <a:cs typeface="Lato Light" panose="020F0502020204030203" pitchFamily="34" charset="0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1000" dirty="0">
                <a:latin typeface="Inconsolata" panose="020B0609030003000000" pitchFamily="49" charset="0"/>
              </a:rPr>
              <a:t>Symbol table '.</a:t>
            </a:r>
            <a:r>
              <a:rPr lang="en-US" sz="1000" dirty="0" err="1">
                <a:latin typeface="Inconsolata" panose="020B0609030003000000" pitchFamily="49" charset="0"/>
              </a:rPr>
              <a:t>symtab</a:t>
            </a:r>
            <a:r>
              <a:rPr lang="en-US" sz="1000" dirty="0">
                <a:latin typeface="Inconsolata" panose="020B0609030003000000" pitchFamily="49" charset="0"/>
              </a:rPr>
              <a:t>' contains 13 entries: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1000" dirty="0">
                <a:latin typeface="Inconsolata" panose="020B0609030003000000" pitchFamily="49" charset="0"/>
              </a:rPr>
              <a:t>   Num: Value    </a:t>
            </a:r>
            <a:r>
              <a:rPr lang="en-US" sz="1000" dirty="0" err="1">
                <a:latin typeface="Inconsolata" panose="020B0609030003000000" pitchFamily="49" charset="0"/>
              </a:rPr>
              <a:t>Sz</a:t>
            </a:r>
            <a:r>
              <a:rPr lang="en-US" sz="1000" dirty="0">
                <a:latin typeface="Inconsolata" panose="020B0609030003000000" pitchFamily="49" charset="0"/>
              </a:rPr>
              <a:t> Type    Bind   Vis      </a:t>
            </a:r>
            <a:r>
              <a:rPr lang="en-US" sz="1000" dirty="0" err="1">
                <a:latin typeface="Inconsolata" panose="020B0609030003000000" pitchFamily="49" charset="0"/>
              </a:rPr>
              <a:t>Ndx</a:t>
            </a:r>
            <a:r>
              <a:rPr lang="en-US" sz="1000" dirty="0">
                <a:latin typeface="Inconsolata" panose="020B0609030003000000" pitchFamily="49" charset="0"/>
              </a:rPr>
              <a:t> Name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1000" dirty="0">
                <a:latin typeface="Inconsolata" panose="020B0609030003000000" pitchFamily="49" charset="0"/>
              </a:rPr>
              <a:t>     0: 00000000  0 NOTYPE  LOCAL  DEFAULT  UND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1000" dirty="0">
                <a:latin typeface="Inconsolata" panose="020B0609030003000000" pitchFamily="49" charset="0"/>
              </a:rPr>
              <a:t>     1: 00000000  0 FILE    LOCAL  DEFAULT  ABS </a:t>
            </a:r>
            <a:r>
              <a:rPr lang="en-US" sz="1000" dirty="0" err="1">
                <a:latin typeface="Inconsolata" panose="020B0609030003000000" pitchFamily="49" charset="0"/>
              </a:rPr>
              <a:t>pirate.c</a:t>
            </a:r>
            <a:endParaRPr lang="en-US" sz="1000" dirty="0">
              <a:latin typeface="Inconsolata" panose="020B0609030003000000" pitchFamily="49" charset="0"/>
            </a:endParaRP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1000" dirty="0">
                <a:latin typeface="Inconsolata" panose="020B0609030003000000" pitchFamily="49" charset="0"/>
              </a:rPr>
              <a:t>     2: 00000000  0 SECTION LOCAL  DEFAULT    1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1000" dirty="0">
                <a:latin typeface="Inconsolata" panose="020B0609030003000000" pitchFamily="49" charset="0"/>
              </a:rPr>
              <a:t>     3: 00000000  0 SECTION LOCAL  DEFAULT    3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1000" dirty="0">
                <a:latin typeface="Inconsolata" panose="020B0609030003000000" pitchFamily="49" charset="0"/>
              </a:rPr>
              <a:t>     4: 00000000  0 SECTION LOCAL  DEFAULT    4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1000" dirty="0">
                <a:latin typeface="Inconsolata" panose="020B0609030003000000" pitchFamily="49" charset="0"/>
              </a:rPr>
              <a:t>     5: 00000000  0 SECTION LOCAL  DEFAULT    5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1000" dirty="0">
                <a:latin typeface="Inconsolata" panose="020B0609030003000000" pitchFamily="49" charset="0"/>
              </a:rPr>
              <a:t>     </a:t>
            </a:r>
            <a:r>
              <a:rPr lang="en-US" sz="1000" dirty="0">
                <a:solidFill>
                  <a:srgbClr val="7030A0"/>
                </a:solidFill>
                <a:latin typeface="Inconsolata" panose="020B0609030003000000" pitchFamily="49" charset="0"/>
              </a:rPr>
              <a:t>6: 00000000 39 SECTION </a:t>
            </a:r>
            <a:r>
              <a:rPr lang="en-US" sz="1000" u="sng" dirty="0">
                <a:solidFill>
                  <a:srgbClr val="7030A0"/>
                </a:solidFill>
                <a:latin typeface="Inconsolata" panose="020B0609030003000000" pitchFamily="49" charset="0"/>
              </a:rPr>
              <a:t>LOCAL</a:t>
            </a:r>
            <a:r>
              <a:rPr lang="en-US" sz="1000" dirty="0">
                <a:solidFill>
                  <a:srgbClr val="7030A0"/>
                </a:solidFill>
                <a:latin typeface="Inconsolata" panose="020B0609030003000000" pitchFamily="49" charset="0"/>
              </a:rPr>
              <a:t>  DEFAULT    1 </a:t>
            </a:r>
            <a:r>
              <a:rPr lang="en-US" sz="1000" dirty="0" err="1">
                <a:solidFill>
                  <a:srgbClr val="7030A0"/>
                </a:solidFill>
                <a:latin typeface="Inconsolata" panose="020B0609030003000000" pitchFamily="49" charset="0"/>
              </a:rPr>
              <a:t>speak_like_pirate</a:t>
            </a:r>
            <a:endParaRPr lang="en-US" sz="1000" dirty="0">
              <a:solidFill>
                <a:srgbClr val="7030A0"/>
              </a:solidFill>
              <a:latin typeface="Inconsolata" panose="020B0609030003000000" pitchFamily="49" charset="0"/>
            </a:endParaRP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1000" dirty="0">
                <a:latin typeface="Inconsolata" panose="020B0609030003000000" pitchFamily="49" charset="0"/>
              </a:rPr>
              <a:t>     7: 00000000  0 SECTION LOCAL  DEFAULT    7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1000" dirty="0">
                <a:latin typeface="Inconsolata" panose="020B0609030003000000" pitchFamily="49" charset="0"/>
              </a:rPr>
              <a:t>     8: 00000000  0 SECTION LOCAL  DEFAULT    8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1000" dirty="0">
                <a:latin typeface="Inconsolata" panose="020B0609030003000000" pitchFamily="49" charset="0"/>
              </a:rPr>
              <a:t>     9: 00000000  0 SECTION LOCAL  DEFAULT    6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1000" dirty="0">
                <a:latin typeface="Inconsolata" panose="020B0609030003000000" pitchFamily="49" charset="0"/>
              </a:rPr>
              <a:t>    10: 00000000  0 NOTYPE  GLOBAL DEFAULT  UND _GLOBAL_OFFSET_TABLE_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1000" dirty="0">
                <a:latin typeface="Inconsolata" panose="020B0609030003000000" pitchFamily="49" charset="0"/>
              </a:rPr>
              <a:t>    11: 00000000  0 NOTYPE  GLOBAL DEFAULT  UND </a:t>
            </a:r>
            <a:r>
              <a:rPr lang="en-US" sz="1000" dirty="0" err="1">
                <a:latin typeface="Inconsolata" panose="020B0609030003000000" pitchFamily="49" charset="0"/>
              </a:rPr>
              <a:t>printf</a:t>
            </a:r>
            <a:endParaRPr lang="en-US" sz="1000" dirty="0">
              <a:latin typeface="Inconsolata" panose="020B0609030003000000" pitchFamily="49" charset="0"/>
            </a:endParaRP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1000" dirty="0">
                <a:latin typeface="Inconsolata" panose="020B0609030003000000" pitchFamily="49" charset="0"/>
              </a:rPr>
              <a:t>    12: 00000027 23 FUNC    GLOBAL DEFAULT    1 main</a:t>
            </a:r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7DE4FC95-1FE6-43A1-8DAE-C0365B75A8D3}"/>
              </a:ext>
            </a:extLst>
          </p:cNvPr>
          <p:cNvSpPr txBox="1">
            <a:spLocks/>
          </p:cNvSpPr>
          <p:nvPr/>
        </p:nvSpPr>
        <p:spPr>
          <a:xfrm>
            <a:off x="601906" y="2576527"/>
            <a:ext cx="4398537" cy="3100903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Clr>
                <a:schemeClr val="accent1">
                  <a:lumMod val="75000"/>
                </a:schemeClr>
              </a:buClr>
              <a:buFont typeface="Arial" panose="020B0604020202020204" pitchFamily="34" charset="0"/>
              <a:buChar char="•"/>
              <a:defRPr sz="2100" kern="1200">
                <a:solidFill>
                  <a:schemeClr val="tx1"/>
                </a:solidFill>
                <a:latin typeface="Lato Semibold" panose="020F0502020204030203" pitchFamily="34" charset="0"/>
                <a:ea typeface="Lato Semibold" panose="020F0502020204030203" pitchFamily="34" charset="0"/>
                <a:cs typeface="Lato Semibold" panose="020F0502020204030203" pitchFamily="34" charset="0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Clr>
                <a:schemeClr val="accent1">
                  <a:lumMod val="75000"/>
                </a:schemeClr>
              </a:buClr>
              <a:buFont typeface="Wingdings" panose="05000000000000000000" pitchFamily="2" charset="2"/>
              <a:buChar char="§"/>
              <a:defRPr sz="1800" kern="1200">
                <a:solidFill>
                  <a:schemeClr val="tx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Clr>
                <a:srgbClr val="FF0000"/>
              </a:buClr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Lato Light" panose="020F0502020204030203" pitchFamily="34" charset="0"/>
                <a:ea typeface="Lato Light" panose="020F0502020204030203" pitchFamily="34" charset="0"/>
                <a:cs typeface="Lato Light" panose="020F0502020204030203" pitchFamily="34" charset="0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Lato Light" panose="020F0502020204030203" pitchFamily="34" charset="0"/>
                <a:ea typeface="Lato Light" panose="020F0502020204030203" pitchFamily="34" charset="0"/>
                <a:cs typeface="Lato Light" panose="020F0502020204030203" pitchFamily="34" charset="0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1600" dirty="0">
                <a:solidFill>
                  <a:srgbClr val="7030A0"/>
                </a:solidFill>
                <a:latin typeface="Inconsolata" panose="020B0609030003000000" pitchFamily="49" charset="0"/>
              </a:rPr>
              <a:t>#include</a:t>
            </a:r>
            <a:r>
              <a:rPr lang="en-US" sz="1600" dirty="0">
                <a:latin typeface="Inconsolata" panose="020B0609030003000000" pitchFamily="49" charset="0"/>
              </a:rPr>
              <a:t> </a:t>
            </a:r>
            <a:r>
              <a:rPr lang="en-US" sz="1600" dirty="0">
                <a:solidFill>
                  <a:schemeClr val="accent2">
                    <a:lumMod val="75000"/>
                  </a:schemeClr>
                </a:solidFill>
                <a:latin typeface="Inconsolata" panose="020B0609030003000000" pitchFamily="49" charset="0"/>
              </a:rPr>
              <a:t>&lt;</a:t>
            </a:r>
            <a:r>
              <a:rPr lang="en-US" sz="1600" dirty="0" err="1">
                <a:solidFill>
                  <a:schemeClr val="accent2">
                    <a:lumMod val="75000"/>
                  </a:schemeClr>
                </a:solidFill>
                <a:latin typeface="Inconsolata" panose="020B0609030003000000" pitchFamily="49" charset="0"/>
              </a:rPr>
              <a:t>stdio.h</a:t>
            </a:r>
            <a:r>
              <a:rPr lang="en-US" sz="1600" dirty="0">
                <a:solidFill>
                  <a:schemeClr val="accent2">
                    <a:lumMod val="75000"/>
                  </a:schemeClr>
                </a:solidFill>
                <a:latin typeface="Inconsolata" panose="020B0609030003000000" pitchFamily="49" charset="0"/>
              </a:rPr>
              <a:t>&gt;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endParaRPr lang="en-US" sz="1600" dirty="0">
              <a:latin typeface="Inconsolata" panose="020B0609030003000000" pitchFamily="49" charset="0"/>
            </a:endParaRP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1600" dirty="0">
                <a:solidFill>
                  <a:schemeClr val="accent1">
                    <a:lumMod val="75000"/>
                  </a:schemeClr>
                </a:solidFill>
                <a:latin typeface="Inconsolata" panose="020B0609030003000000" pitchFamily="49" charset="0"/>
              </a:rPr>
              <a:t>static void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1600" dirty="0" err="1">
                <a:latin typeface="Inconsolata" panose="020B0609030003000000" pitchFamily="49" charset="0"/>
              </a:rPr>
              <a:t>speak_like_pirate</a:t>
            </a:r>
            <a:r>
              <a:rPr lang="en-US" sz="1600" dirty="0">
                <a:latin typeface="Inconsolata" panose="020B0609030003000000" pitchFamily="49" charset="0"/>
              </a:rPr>
              <a:t>(</a:t>
            </a:r>
            <a:r>
              <a:rPr lang="en-US" sz="1600" dirty="0">
                <a:solidFill>
                  <a:schemeClr val="accent1">
                    <a:lumMod val="75000"/>
                  </a:schemeClr>
                </a:solidFill>
                <a:latin typeface="Inconsolata" panose="020B0609030003000000" pitchFamily="49" charset="0"/>
              </a:rPr>
              <a:t>const char</a:t>
            </a:r>
            <a:r>
              <a:rPr lang="en-US" sz="1600" dirty="0">
                <a:latin typeface="Inconsolata" panose="020B0609030003000000" pitchFamily="49" charset="0"/>
              </a:rPr>
              <a:t>* foo) {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1600" dirty="0">
                <a:latin typeface="Inconsolata" panose="020B0609030003000000" pitchFamily="49" charset="0"/>
              </a:rPr>
              <a:t>  </a:t>
            </a:r>
            <a:r>
              <a:rPr lang="en-US" sz="1600" dirty="0" err="1">
                <a:latin typeface="Inconsolata" panose="020B0609030003000000" pitchFamily="49" charset="0"/>
              </a:rPr>
              <a:t>printf</a:t>
            </a:r>
            <a:r>
              <a:rPr lang="en-US" sz="1600" dirty="0">
                <a:latin typeface="Inconsolata" panose="020B0609030003000000" pitchFamily="49" charset="0"/>
              </a:rPr>
              <a:t>(</a:t>
            </a:r>
            <a:r>
              <a:rPr lang="en-US" sz="1600" dirty="0">
                <a:solidFill>
                  <a:schemeClr val="accent2">
                    <a:lumMod val="75000"/>
                  </a:schemeClr>
                </a:solidFill>
                <a:latin typeface="Inconsolata" panose="020B0609030003000000" pitchFamily="49" charset="0"/>
              </a:rPr>
              <a:t>"</a:t>
            </a:r>
            <a:r>
              <a:rPr lang="en-US" sz="1600" dirty="0" err="1">
                <a:solidFill>
                  <a:schemeClr val="accent2">
                    <a:lumMod val="75000"/>
                  </a:schemeClr>
                </a:solidFill>
                <a:latin typeface="Inconsolata" panose="020B0609030003000000" pitchFamily="49" charset="0"/>
              </a:rPr>
              <a:t>Arr</a:t>
            </a:r>
            <a:r>
              <a:rPr lang="en-US" sz="1600" dirty="0">
                <a:solidFill>
                  <a:schemeClr val="accent2">
                    <a:lumMod val="75000"/>
                  </a:schemeClr>
                </a:solidFill>
                <a:latin typeface="Inconsolata" panose="020B0609030003000000" pitchFamily="49" charset="0"/>
              </a:rPr>
              <a:t> </a:t>
            </a:r>
            <a:r>
              <a:rPr lang="en-US" sz="1600" dirty="0" err="1">
                <a:solidFill>
                  <a:schemeClr val="accent2">
                    <a:lumMod val="75000"/>
                  </a:schemeClr>
                </a:solidFill>
                <a:latin typeface="Inconsolata" panose="020B0609030003000000" pitchFamily="49" charset="0"/>
              </a:rPr>
              <a:t>matey</a:t>
            </a:r>
            <a:r>
              <a:rPr lang="en-US" sz="1600" dirty="0">
                <a:solidFill>
                  <a:schemeClr val="accent2">
                    <a:lumMod val="75000"/>
                  </a:schemeClr>
                </a:solidFill>
                <a:latin typeface="Inconsolata" panose="020B0609030003000000" pitchFamily="49" charset="0"/>
              </a:rPr>
              <a:t>! %s\n"</a:t>
            </a:r>
            <a:r>
              <a:rPr lang="en-US" sz="1600" dirty="0">
                <a:latin typeface="Inconsolata" panose="020B0609030003000000" pitchFamily="49" charset="0"/>
              </a:rPr>
              <a:t>, foo);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1600" dirty="0">
                <a:latin typeface="Inconsolata" panose="020B0609030003000000" pitchFamily="49" charset="0"/>
              </a:rPr>
              <a:t>}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endParaRPr lang="en-US" sz="1600" dirty="0">
              <a:latin typeface="Inconsolata" panose="020B0609030003000000" pitchFamily="49" charset="0"/>
            </a:endParaRP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1600" dirty="0">
                <a:solidFill>
                  <a:schemeClr val="accent1">
                    <a:lumMod val="75000"/>
                  </a:schemeClr>
                </a:solidFill>
                <a:latin typeface="Inconsolata" panose="020B0609030003000000" pitchFamily="49" charset="0"/>
              </a:rPr>
              <a:t>int</a:t>
            </a:r>
            <a:r>
              <a:rPr lang="en-US" sz="1600" dirty="0">
                <a:latin typeface="Inconsolata" panose="020B0609030003000000" pitchFamily="49" charset="0"/>
              </a:rPr>
              <a:t> main(</a:t>
            </a:r>
            <a:r>
              <a:rPr lang="en-US" sz="1600" dirty="0">
                <a:solidFill>
                  <a:schemeClr val="accent1">
                    <a:lumMod val="75000"/>
                  </a:schemeClr>
                </a:solidFill>
                <a:latin typeface="Inconsolata" panose="020B0609030003000000" pitchFamily="49" charset="0"/>
              </a:rPr>
              <a:t>void</a:t>
            </a:r>
            <a:r>
              <a:rPr lang="en-US" sz="1600" dirty="0">
                <a:latin typeface="Inconsolata" panose="020B0609030003000000" pitchFamily="49" charset="0"/>
              </a:rPr>
              <a:t>) {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1600" dirty="0">
                <a:latin typeface="Inconsolata" panose="020B0609030003000000" pitchFamily="49" charset="0"/>
              </a:rPr>
              <a:t>  </a:t>
            </a:r>
            <a:r>
              <a:rPr lang="en-US" sz="1600" dirty="0" err="1">
                <a:latin typeface="Inconsolata" panose="020B0609030003000000" pitchFamily="49" charset="0"/>
              </a:rPr>
              <a:t>speak_like_pirate</a:t>
            </a:r>
            <a:r>
              <a:rPr lang="en-US" sz="1600" dirty="0">
                <a:latin typeface="Inconsolata" panose="020B0609030003000000" pitchFamily="49" charset="0"/>
              </a:rPr>
              <a:t>(</a:t>
            </a:r>
            <a:r>
              <a:rPr lang="en-US" sz="1600" dirty="0">
                <a:solidFill>
                  <a:schemeClr val="accent2">
                    <a:lumMod val="75000"/>
                  </a:schemeClr>
                </a:solidFill>
                <a:latin typeface="Inconsolata" panose="020B0609030003000000" pitchFamily="49" charset="0"/>
              </a:rPr>
              <a:t>"Hello World!"</a:t>
            </a:r>
            <a:r>
              <a:rPr lang="en-US" sz="1600" dirty="0">
                <a:latin typeface="Inconsolata" panose="020B0609030003000000" pitchFamily="49" charset="0"/>
              </a:rPr>
              <a:t>);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1600" dirty="0">
                <a:latin typeface="Inconsolata" panose="020B0609030003000000" pitchFamily="49" charset="0"/>
              </a:rPr>
              <a:t>  </a:t>
            </a:r>
            <a:r>
              <a:rPr lang="en-US" sz="1600" dirty="0">
                <a:solidFill>
                  <a:schemeClr val="accent1">
                    <a:lumMod val="75000"/>
                  </a:schemeClr>
                </a:solidFill>
                <a:latin typeface="Inconsolata" panose="020B0609030003000000" pitchFamily="49" charset="0"/>
              </a:rPr>
              <a:t>return</a:t>
            </a:r>
            <a:r>
              <a:rPr lang="en-US" sz="1600" dirty="0">
                <a:latin typeface="Inconsolata" panose="020B0609030003000000" pitchFamily="49" charset="0"/>
              </a:rPr>
              <a:t> 0;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1600" dirty="0">
                <a:latin typeface="Inconsolata" panose="020B0609030003000000" pitchFamily="49" charset="0"/>
              </a:rPr>
              <a:t>}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B6BFAE1-51F2-47FF-B94D-399141362EA3}"/>
              </a:ext>
            </a:extLst>
          </p:cNvPr>
          <p:cNvSpPr txBox="1"/>
          <p:nvPr/>
        </p:nvSpPr>
        <p:spPr>
          <a:xfrm>
            <a:off x="573836" y="2213094"/>
            <a:ext cx="442660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Lato Black" panose="020F0502020204030203" pitchFamily="34" charset="0"/>
                <a:ea typeface="Lato Black" panose="020F0502020204030203" pitchFamily="34" charset="0"/>
                <a:cs typeface="Lato Black" panose="020F0502020204030203" pitchFamily="34" charset="0"/>
              </a:rPr>
              <a:t>C</a:t>
            </a:r>
            <a:r>
              <a:rPr lang="en-US" dirty="0">
                <a:latin typeface="Lato Light" panose="020F0502020204030203" pitchFamily="34" charset="0"/>
                <a:ea typeface="Lato Light" panose="020F0502020204030203" pitchFamily="34" charset="0"/>
                <a:cs typeface="Lato Light" panose="020F0502020204030203" pitchFamily="34" charset="0"/>
              </a:rPr>
              <a:t> (</a:t>
            </a:r>
            <a:r>
              <a:rPr lang="en-US" dirty="0" err="1">
                <a:latin typeface="Inconsolata" panose="020B0609030003000000" pitchFamily="49" charset="0"/>
                <a:ea typeface="Lato Light" panose="020F0502020204030203" pitchFamily="34" charset="0"/>
                <a:cs typeface="Lato Light" panose="020F0502020204030203" pitchFamily="34" charset="0"/>
              </a:rPr>
              <a:t>gcc</a:t>
            </a:r>
            <a:r>
              <a:rPr lang="en-US" dirty="0">
                <a:latin typeface="Inconsolata" panose="020B0609030003000000" pitchFamily="49" charset="0"/>
                <a:ea typeface="Lato Light" panose="020F0502020204030203" pitchFamily="34" charset="0"/>
                <a:cs typeface="Lato Light" panose="020F0502020204030203" pitchFamily="34" charset="0"/>
              </a:rPr>
              <a:t> -c pirate-</a:t>
            </a:r>
            <a:r>
              <a:rPr lang="en-US" dirty="0" err="1">
                <a:latin typeface="Inconsolata" panose="020B0609030003000000" pitchFamily="49" charset="0"/>
                <a:ea typeface="Lato Light" panose="020F0502020204030203" pitchFamily="34" charset="0"/>
                <a:cs typeface="Lato Light" panose="020F0502020204030203" pitchFamily="34" charset="0"/>
              </a:rPr>
              <a:t>static.c</a:t>
            </a:r>
            <a:r>
              <a:rPr lang="en-US" dirty="0">
                <a:latin typeface="Lato Light" panose="020F0502020204030203" pitchFamily="34" charset="0"/>
                <a:ea typeface="Lato Light" panose="020F0502020204030203" pitchFamily="34" charset="0"/>
                <a:cs typeface="Lato Light" panose="020F0502020204030203" pitchFamily="34" charset="0"/>
              </a:rPr>
              <a:t>)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0A8C54A5-303C-41FE-B330-EEECBC40AFDE}"/>
              </a:ext>
            </a:extLst>
          </p:cNvPr>
          <p:cNvSpPr txBox="1"/>
          <p:nvPr/>
        </p:nvSpPr>
        <p:spPr>
          <a:xfrm>
            <a:off x="5000440" y="2207195"/>
            <a:ext cx="400976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>
                <a:latin typeface="Inconsolata" panose="020B0609030003000000" pitchFamily="49" charset="0"/>
                <a:ea typeface="Lato Light" panose="020F0502020204030203" pitchFamily="34" charset="0"/>
                <a:cs typeface="Lato Light" panose="020F0502020204030203" pitchFamily="34" charset="0"/>
              </a:rPr>
              <a:t>readelf</a:t>
            </a:r>
            <a:r>
              <a:rPr lang="en-US" dirty="0">
                <a:latin typeface="Inconsolata" panose="020B0609030003000000" pitchFamily="49" charset="0"/>
                <a:ea typeface="Lato Light" panose="020F0502020204030203" pitchFamily="34" charset="0"/>
                <a:cs typeface="Lato Light" panose="020F0502020204030203" pitchFamily="34" charset="0"/>
              </a:rPr>
              <a:t> -s pirate-</a:t>
            </a:r>
            <a:r>
              <a:rPr lang="en-US" dirty="0" err="1">
                <a:latin typeface="Inconsolata" panose="020B0609030003000000" pitchFamily="49" charset="0"/>
                <a:ea typeface="Lato Light" panose="020F0502020204030203" pitchFamily="34" charset="0"/>
                <a:cs typeface="Lato Light" panose="020F0502020204030203" pitchFamily="34" charset="0"/>
              </a:rPr>
              <a:t>static.o</a:t>
            </a:r>
            <a:endParaRPr lang="en-US" dirty="0">
              <a:latin typeface="Lato Light" panose="020F0502020204030203" pitchFamily="34" charset="0"/>
              <a:ea typeface="Lato Light" panose="020F0502020204030203" pitchFamily="34" charset="0"/>
              <a:cs typeface="Lato Light" panose="020F0502020204030203" pitchFamily="34" charset="0"/>
            </a:endParaRPr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D57DAC13-7A3F-4460-B6A6-4A88CB4E63CF}"/>
              </a:ext>
            </a:extLst>
          </p:cNvPr>
          <p:cNvCxnSpPr>
            <a:cxnSpLocks/>
          </p:cNvCxnSpPr>
          <p:nvPr/>
        </p:nvCxnSpPr>
        <p:spPr>
          <a:xfrm>
            <a:off x="4941007" y="2284056"/>
            <a:ext cx="0" cy="3335352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EEA2A693-92E3-4214-B0C6-9DD44DC37A09}"/>
              </a:ext>
            </a:extLst>
          </p:cNvPr>
          <p:cNvCxnSpPr>
            <a:cxnSpLocks/>
          </p:cNvCxnSpPr>
          <p:nvPr/>
        </p:nvCxnSpPr>
        <p:spPr>
          <a:xfrm>
            <a:off x="4968797" y="2284056"/>
            <a:ext cx="0" cy="3335352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TextBox 11">
            <a:extLst>
              <a:ext uri="{FF2B5EF4-FFF2-40B4-BE49-F238E27FC236}">
                <a16:creationId xmlns:a16="http://schemas.microsoft.com/office/drawing/2014/main" id="{41761026-7422-4B9F-839E-17F70FD72510}"/>
              </a:ext>
            </a:extLst>
          </p:cNvPr>
          <p:cNvSpPr txBox="1"/>
          <p:nvPr/>
        </p:nvSpPr>
        <p:spPr>
          <a:xfrm>
            <a:off x="1220005" y="2866356"/>
            <a:ext cx="3833101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>
                <a:solidFill>
                  <a:srgbClr val="7030A0"/>
                </a:solidFill>
                <a:latin typeface="Lato Black" panose="020B0604020202020204" charset="0"/>
                <a:ea typeface="Lato Black" panose="020B0604020202020204" charset="0"/>
                <a:cs typeface="Lato Black" panose="020B0604020202020204" charset="0"/>
              </a:rPr>
              <a:t>This symbol has a location… but it can</a:t>
            </a:r>
          </a:p>
          <a:p>
            <a:r>
              <a:rPr lang="en-US" sz="1600" dirty="0">
                <a:solidFill>
                  <a:srgbClr val="7030A0"/>
                </a:solidFill>
                <a:latin typeface="Lato Black" panose="020B0604020202020204" charset="0"/>
                <a:ea typeface="Lato Black" panose="020B0604020202020204" charset="0"/>
                <a:cs typeface="Lato Black" panose="020B0604020202020204" charset="0"/>
              </a:rPr>
              <a:t>                only be referenced in this file.</a:t>
            </a:r>
            <a:endParaRPr lang="en-US" sz="1600" dirty="0">
              <a:solidFill>
                <a:srgbClr val="7030A0"/>
              </a:solidFill>
              <a:latin typeface="Inconsolata" panose="020B0609030003000000" pitchFamily="49" charset="0"/>
              <a:ea typeface="Lato Black" panose="020B0604020202020204" charset="0"/>
              <a:cs typeface="Lato Black" panose="020B0604020202020204" charset="0"/>
            </a:endParaRPr>
          </a:p>
        </p:txBody>
      </p: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9A32F509-6EC3-46E9-994E-FA17AF1BCE47}"/>
              </a:ext>
            </a:extLst>
          </p:cNvPr>
          <p:cNvCxnSpPr>
            <a:cxnSpLocks/>
          </p:cNvCxnSpPr>
          <p:nvPr/>
        </p:nvCxnSpPr>
        <p:spPr>
          <a:xfrm rot="10800000" flipV="1">
            <a:off x="1087727" y="3060241"/>
            <a:ext cx="169566" cy="144668"/>
          </a:xfrm>
          <a:prstGeom prst="straightConnector1">
            <a:avLst/>
          </a:prstGeom>
          <a:ln w="38100">
            <a:solidFill>
              <a:srgbClr val="7030A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TextBox 14">
            <a:extLst>
              <a:ext uri="{FF2B5EF4-FFF2-40B4-BE49-F238E27FC236}">
                <a16:creationId xmlns:a16="http://schemas.microsoft.com/office/drawing/2014/main" id="{B8F4E5EB-4CCB-4163-867C-399D70E90821}"/>
              </a:ext>
            </a:extLst>
          </p:cNvPr>
          <p:cNvSpPr txBox="1"/>
          <p:nvPr/>
        </p:nvSpPr>
        <p:spPr>
          <a:xfrm>
            <a:off x="5555412" y="5376446"/>
            <a:ext cx="345479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>
                <a:solidFill>
                  <a:srgbClr val="7030A0"/>
                </a:solidFill>
                <a:latin typeface="Lato Black" panose="020B0604020202020204" charset="0"/>
                <a:ea typeface="Lato Black" panose="020B0604020202020204" charset="0"/>
                <a:cs typeface="Lato Black" panose="020B0604020202020204" charset="0"/>
              </a:rPr>
              <a:t>Our static function is now “LOCAL”</a:t>
            </a:r>
            <a:endParaRPr lang="en-US" sz="1600" dirty="0">
              <a:solidFill>
                <a:srgbClr val="7030A0"/>
              </a:solidFill>
              <a:latin typeface="Inconsolata" panose="020B0609030003000000" pitchFamily="49" charset="0"/>
              <a:ea typeface="Lato Black" panose="020B0604020202020204" charset="0"/>
              <a:cs typeface="Lato Black" panose="020B0604020202020204" charset="0"/>
            </a:endParaRPr>
          </a:p>
        </p:txBody>
      </p: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B2570BFE-D34D-4B26-9D69-7733F050BE81}"/>
              </a:ext>
            </a:extLst>
          </p:cNvPr>
          <p:cNvCxnSpPr>
            <a:cxnSpLocks/>
          </p:cNvCxnSpPr>
          <p:nvPr/>
        </p:nvCxnSpPr>
        <p:spPr>
          <a:xfrm rot="16200000" flipV="1">
            <a:off x="5398295" y="5377160"/>
            <a:ext cx="169566" cy="144668"/>
          </a:xfrm>
          <a:prstGeom prst="straightConnector1">
            <a:avLst/>
          </a:prstGeom>
          <a:ln w="38100">
            <a:solidFill>
              <a:srgbClr val="7030A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91155760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/>
      <p:bldP spid="15" grpId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364935-BD9A-4004-A389-FAFBB816AE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Inconsolata" panose="020B0609030003000000" pitchFamily="49" charset="0"/>
              </a:rPr>
              <a:t>extern</a:t>
            </a:r>
            <a:r>
              <a:rPr lang="en-US" dirty="0"/>
              <a:t>; when you used to be an intern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923EFA9-8746-45AE-BC09-6894385F2EB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98500" y="930964"/>
            <a:ext cx="8763000" cy="4216506"/>
          </a:xfrm>
        </p:spPr>
        <p:txBody>
          <a:bodyPr/>
          <a:lstStyle/>
          <a:p>
            <a:r>
              <a:rPr lang="en-US" dirty="0"/>
              <a:t>The other side of the coin is the</a:t>
            </a:r>
            <a:r>
              <a:rPr lang="en-US" dirty="0">
                <a:solidFill>
                  <a:schemeClr val="accent1">
                    <a:lumMod val="75000"/>
                  </a:schemeClr>
                </a:solidFill>
                <a:latin typeface="Inconsolata" panose="020B0609030003000000" pitchFamily="49" charset="0"/>
              </a:rPr>
              <a:t> extern </a:t>
            </a:r>
            <a:r>
              <a:rPr lang="en-US" dirty="0"/>
              <a:t>keyword.</a:t>
            </a:r>
          </a:p>
          <a:p>
            <a:r>
              <a:rPr lang="en-US" dirty="0"/>
              <a:t>This tells the linker that it should expect the symbol to be found elsewhere.</a:t>
            </a:r>
          </a:p>
          <a:p>
            <a:endParaRPr lang="en-US" dirty="0"/>
          </a:p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2E788DC-F87A-416F-90DE-8165C45957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AAD609-F83C-4414-814B-B5A2DF99692C}" type="slidenum">
              <a:rPr lang="en-US" smtClean="0"/>
              <a:pPr/>
              <a:t>18</a:t>
            </a:fld>
            <a:endParaRPr lang="en-US" dirty="0"/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8F75D260-B555-470D-854D-1F79B6156B5C}"/>
              </a:ext>
            </a:extLst>
          </p:cNvPr>
          <p:cNvSpPr txBox="1">
            <a:spLocks/>
          </p:cNvSpPr>
          <p:nvPr/>
        </p:nvSpPr>
        <p:spPr>
          <a:xfrm>
            <a:off x="5000441" y="2576527"/>
            <a:ext cx="4585721" cy="307233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Clr>
                <a:schemeClr val="accent1">
                  <a:lumMod val="75000"/>
                </a:schemeClr>
              </a:buClr>
              <a:buFont typeface="Arial" panose="020B0604020202020204" pitchFamily="34" charset="0"/>
              <a:buChar char="•"/>
              <a:defRPr sz="2100" kern="1200">
                <a:solidFill>
                  <a:schemeClr val="tx1"/>
                </a:solidFill>
                <a:latin typeface="Lato Semibold" panose="020F0502020204030203" pitchFamily="34" charset="0"/>
                <a:ea typeface="Lato Semibold" panose="020F0502020204030203" pitchFamily="34" charset="0"/>
                <a:cs typeface="Lato Semibold" panose="020F0502020204030203" pitchFamily="34" charset="0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Clr>
                <a:schemeClr val="accent1">
                  <a:lumMod val="75000"/>
                </a:schemeClr>
              </a:buClr>
              <a:buFont typeface="Wingdings" panose="05000000000000000000" pitchFamily="2" charset="2"/>
              <a:buChar char="§"/>
              <a:defRPr sz="1800" kern="1200">
                <a:solidFill>
                  <a:schemeClr val="tx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Clr>
                <a:srgbClr val="FF0000"/>
              </a:buClr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Lato Light" panose="020F0502020204030203" pitchFamily="34" charset="0"/>
                <a:ea typeface="Lato Light" panose="020F0502020204030203" pitchFamily="34" charset="0"/>
                <a:cs typeface="Lato Light" panose="020F0502020204030203" pitchFamily="34" charset="0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Lato Light" panose="020F0502020204030203" pitchFamily="34" charset="0"/>
                <a:ea typeface="Lato Light" panose="020F0502020204030203" pitchFamily="34" charset="0"/>
                <a:cs typeface="Lato Light" panose="020F0502020204030203" pitchFamily="34" charset="0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1600" dirty="0">
                <a:solidFill>
                  <a:schemeClr val="accent1">
                    <a:lumMod val="75000"/>
                  </a:schemeClr>
                </a:solidFill>
                <a:latin typeface="Inconsolata" panose="020B0609030003000000" pitchFamily="49" charset="0"/>
              </a:rPr>
              <a:t>const char</a:t>
            </a:r>
            <a:r>
              <a:rPr lang="en-US" sz="1600" dirty="0">
                <a:latin typeface="Inconsolata" panose="020B0609030003000000" pitchFamily="49" charset="0"/>
              </a:rPr>
              <a:t>* </a:t>
            </a:r>
            <a:r>
              <a:rPr lang="en-US" sz="1600" dirty="0" err="1">
                <a:latin typeface="Inconsolata" panose="020B0609030003000000" pitchFamily="49" charset="0"/>
              </a:rPr>
              <a:t>pirate_greet</a:t>
            </a:r>
            <a:r>
              <a:rPr lang="en-US" sz="1600" dirty="0">
                <a:latin typeface="Inconsolata" panose="020B0609030003000000" pitchFamily="49" charset="0"/>
              </a:rPr>
              <a:t> = </a:t>
            </a:r>
            <a:r>
              <a:rPr lang="en-US" sz="1600" dirty="0">
                <a:solidFill>
                  <a:schemeClr val="accent2">
                    <a:lumMod val="75000"/>
                  </a:schemeClr>
                </a:solidFill>
                <a:latin typeface="Inconsolata" panose="020B0609030003000000" pitchFamily="49" charset="0"/>
              </a:rPr>
              <a:t>"</a:t>
            </a:r>
            <a:r>
              <a:rPr lang="en-US" sz="1600" dirty="0" err="1">
                <a:solidFill>
                  <a:schemeClr val="accent2">
                    <a:lumMod val="75000"/>
                  </a:schemeClr>
                </a:solidFill>
                <a:latin typeface="Inconsolata" panose="020B0609030003000000" pitchFamily="49" charset="0"/>
              </a:rPr>
              <a:t>Arr</a:t>
            </a:r>
            <a:r>
              <a:rPr lang="en-US" sz="1600" dirty="0">
                <a:solidFill>
                  <a:schemeClr val="accent2">
                    <a:lumMod val="75000"/>
                  </a:schemeClr>
                </a:solidFill>
                <a:latin typeface="Inconsolata" panose="020B0609030003000000" pitchFamily="49" charset="0"/>
              </a:rPr>
              <a:t> </a:t>
            </a:r>
            <a:r>
              <a:rPr lang="en-US" sz="1600" dirty="0" err="1">
                <a:solidFill>
                  <a:schemeClr val="accent2">
                    <a:lumMod val="75000"/>
                  </a:schemeClr>
                </a:solidFill>
                <a:latin typeface="Inconsolata" panose="020B0609030003000000" pitchFamily="49" charset="0"/>
              </a:rPr>
              <a:t>matey</a:t>
            </a:r>
            <a:r>
              <a:rPr lang="en-US" sz="1600" dirty="0">
                <a:solidFill>
                  <a:schemeClr val="accent2">
                    <a:lumMod val="75000"/>
                  </a:schemeClr>
                </a:solidFill>
                <a:latin typeface="Inconsolata" panose="020B0609030003000000" pitchFamily="49" charset="0"/>
              </a:rPr>
              <a:t>!"</a:t>
            </a:r>
            <a:r>
              <a:rPr lang="en-US" sz="1600" dirty="0">
                <a:latin typeface="Inconsolata" panose="020B0609030003000000" pitchFamily="49" charset="0"/>
              </a:rPr>
              <a:t>;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endParaRPr lang="en-US" sz="1600" dirty="0">
              <a:latin typeface="Inconsolata" panose="020B0609030003000000" pitchFamily="49" charset="0"/>
            </a:endParaRP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1600" dirty="0">
                <a:solidFill>
                  <a:schemeClr val="accent6">
                    <a:lumMod val="50000"/>
                  </a:schemeClr>
                </a:solidFill>
                <a:latin typeface="Inconsolata" panose="020B0609030003000000" pitchFamily="49" charset="0"/>
              </a:rPr>
              <a:t>// Declare the function (implicitly extern)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1600" dirty="0">
                <a:solidFill>
                  <a:schemeClr val="accent1">
                    <a:lumMod val="75000"/>
                  </a:schemeClr>
                </a:solidFill>
                <a:latin typeface="Inconsolata" panose="020B0609030003000000" pitchFamily="49" charset="0"/>
              </a:rPr>
              <a:t>void </a:t>
            </a:r>
            <a:r>
              <a:rPr lang="en-US" sz="1600" dirty="0" err="1">
                <a:latin typeface="Inconsolata" panose="020B0609030003000000" pitchFamily="49" charset="0"/>
              </a:rPr>
              <a:t>speak_like_pirate</a:t>
            </a:r>
            <a:r>
              <a:rPr lang="en-US" sz="1600" dirty="0">
                <a:latin typeface="Inconsolata" panose="020B0609030003000000" pitchFamily="49" charset="0"/>
              </a:rPr>
              <a:t>(</a:t>
            </a:r>
            <a:r>
              <a:rPr lang="en-US" sz="1600" dirty="0">
                <a:solidFill>
                  <a:schemeClr val="accent1">
                    <a:lumMod val="75000"/>
                  </a:schemeClr>
                </a:solidFill>
                <a:latin typeface="Inconsolata" panose="020B0609030003000000" pitchFamily="49" charset="0"/>
              </a:rPr>
              <a:t>const char</a:t>
            </a:r>
            <a:r>
              <a:rPr lang="en-US" sz="1600" dirty="0">
                <a:latin typeface="Inconsolata" panose="020B0609030003000000" pitchFamily="49" charset="0"/>
              </a:rPr>
              <a:t>*);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endParaRPr lang="en-US" sz="1600" dirty="0">
              <a:latin typeface="Inconsolata" panose="020B0609030003000000" pitchFamily="49" charset="0"/>
            </a:endParaRP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1600" dirty="0">
                <a:solidFill>
                  <a:schemeClr val="accent1">
                    <a:lumMod val="75000"/>
                  </a:schemeClr>
                </a:solidFill>
                <a:latin typeface="Inconsolata" panose="020B0609030003000000" pitchFamily="49" charset="0"/>
              </a:rPr>
              <a:t>int</a:t>
            </a:r>
            <a:r>
              <a:rPr lang="en-US" sz="1600" dirty="0">
                <a:latin typeface="Inconsolata" panose="020B0609030003000000" pitchFamily="49" charset="0"/>
              </a:rPr>
              <a:t> main(</a:t>
            </a:r>
            <a:r>
              <a:rPr lang="en-US" sz="1600" dirty="0">
                <a:solidFill>
                  <a:schemeClr val="accent1">
                    <a:lumMod val="75000"/>
                  </a:schemeClr>
                </a:solidFill>
                <a:latin typeface="Inconsolata" panose="020B0609030003000000" pitchFamily="49" charset="0"/>
              </a:rPr>
              <a:t>void</a:t>
            </a:r>
            <a:r>
              <a:rPr lang="en-US" sz="1600" dirty="0">
                <a:latin typeface="Inconsolata" panose="020B0609030003000000" pitchFamily="49" charset="0"/>
              </a:rPr>
              <a:t>) {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1600" dirty="0">
                <a:latin typeface="Inconsolata" panose="020B0609030003000000" pitchFamily="49" charset="0"/>
              </a:rPr>
              <a:t>  </a:t>
            </a:r>
            <a:r>
              <a:rPr lang="en-US" sz="1600" dirty="0" err="1">
                <a:latin typeface="Inconsolata" panose="020B0609030003000000" pitchFamily="49" charset="0"/>
              </a:rPr>
              <a:t>speak_like_pirate</a:t>
            </a:r>
            <a:r>
              <a:rPr lang="en-US" sz="1600" dirty="0">
                <a:latin typeface="Inconsolata" panose="020B0609030003000000" pitchFamily="49" charset="0"/>
              </a:rPr>
              <a:t>(</a:t>
            </a:r>
            <a:r>
              <a:rPr lang="en-US" sz="1600" dirty="0">
                <a:solidFill>
                  <a:schemeClr val="accent2">
                    <a:lumMod val="75000"/>
                  </a:schemeClr>
                </a:solidFill>
                <a:latin typeface="Inconsolata" panose="020B0609030003000000" pitchFamily="49" charset="0"/>
              </a:rPr>
              <a:t>"Hello World!"</a:t>
            </a:r>
            <a:r>
              <a:rPr lang="en-US" sz="1600" dirty="0">
                <a:latin typeface="Inconsolata" panose="020B0609030003000000" pitchFamily="49" charset="0"/>
              </a:rPr>
              <a:t>);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1600" dirty="0">
                <a:latin typeface="Inconsolata" panose="020B0609030003000000" pitchFamily="49" charset="0"/>
              </a:rPr>
              <a:t>  </a:t>
            </a:r>
            <a:r>
              <a:rPr lang="en-US" sz="1600" dirty="0">
                <a:solidFill>
                  <a:schemeClr val="accent1">
                    <a:lumMod val="75000"/>
                  </a:schemeClr>
                </a:solidFill>
                <a:latin typeface="Inconsolata" panose="020B0609030003000000" pitchFamily="49" charset="0"/>
              </a:rPr>
              <a:t>return</a:t>
            </a:r>
            <a:r>
              <a:rPr lang="en-US" sz="1600" dirty="0">
                <a:latin typeface="Inconsolata" panose="020B0609030003000000" pitchFamily="49" charset="0"/>
              </a:rPr>
              <a:t> 0;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1600" dirty="0">
                <a:latin typeface="Inconsolata" panose="020B0609030003000000" pitchFamily="49" charset="0"/>
              </a:rPr>
              <a:t>}</a:t>
            </a:r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5F27F07E-4754-4D31-9116-5F35B22F8D95}"/>
              </a:ext>
            </a:extLst>
          </p:cNvPr>
          <p:cNvSpPr txBox="1">
            <a:spLocks/>
          </p:cNvSpPr>
          <p:nvPr/>
        </p:nvSpPr>
        <p:spPr>
          <a:xfrm>
            <a:off x="601906" y="2576527"/>
            <a:ext cx="4398537" cy="310090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Clr>
                <a:schemeClr val="accent1">
                  <a:lumMod val="75000"/>
                </a:schemeClr>
              </a:buClr>
              <a:buFont typeface="Arial" panose="020B0604020202020204" pitchFamily="34" charset="0"/>
              <a:buChar char="•"/>
              <a:defRPr sz="2100" kern="1200">
                <a:solidFill>
                  <a:schemeClr val="tx1"/>
                </a:solidFill>
                <a:latin typeface="Lato Semibold" panose="020F0502020204030203" pitchFamily="34" charset="0"/>
                <a:ea typeface="Lato Semibold" panose="020F0502020204030203" pitchFamily="34" charset="0"/>
                <a:cs typeface="Lato Semibold" panose="020F0502020204030203" pitchFamily="34" charset="0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Clr>
                <a:schemeClr val="accent1">
                  <a:lumMod val="75000"/>
                </a:schemeClr>
              </a:buClr>
              <a:buFont typeface="Wingdings" panose="05000000000000000000" pitchFamily="2" charset="2"/>
              <a:buChar char="§"/>
              <a:defRPr sz="1800" kern="1200">
                <a:solidFill>
                  <a:schemeClr val="tx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Clr>
                <a:srgbClr val="FF0000"/>
              </a:buClr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Lato Light" panose="020F0502020204030203" pitchFamily="34" charset="0"/>
                <a:ea typeface="Lato Light" panose="020F0502020204030203" pitchFamily="34" charset="0"/>
                <a:cs typeface="Lato Light" panose="020F0502020204030203" pitchFamily="34" charset="0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Lato Light" panose="020F0502020204030203" pitchFamily="34" charset="0"/>
                <a:ea typeface="Lato Light" panose="020F0502020204030203" pitchFamily="34" charset="0"/>
                <a:cs typeface="Lato Light" panose="020F0502020204030203" pitchFamily="34" charset="0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1600" dirty="0">
                <a:solidFill>
                  <a:srgbClr val="7030A0"/>
                </a:solidFill>
                <a:latin typeface="Inconsolata" panose="020B0609030003000000" pitchFamily="49" charset="0"/>
              </a:rPr>
              <a:t>#include</a:t>
            </a:r>
            <a:r>
              <a:rPr lang="en-US" sz="1600" dirty="0">
                <a:latin typeface="Inconsolata" panose="020B0609030003000000" pitchFamily="49" charset="0"/>
              </a:rPr>
              <a:t> </a:t>
            </a:r>
            <a:r>
              <a:rPr lang="en-US" sz="1600" dirty="0">
                <a:solidFill>
                  <a:schemeClr val="accent2">
                    <a:lumMod val="75000"/>
                  </a:schemeClr>
                </a:solidFill>
                <a:latin typeface="Inconsolata" panose="020B0609030003000000" pitchFamily="49" charset="0"/>
              </a:rPr>
              <a:t>&lt;</a:t>
            </a:r>
            <a:r>
              <a:rPr lang="en-US" sz="1600" dirty="0" err="1">
                <a:solidFill>
                  <a:schemeClr val="accent2">
                    <a:lumMod val="75000"/>
                  </a:schemeClr>
                </a:solidFill>
                <a:latin typeface="Inconsolata" panose="020B0609030003000000" pitchFamily="49" charset="0"/>
              </a:rPr>
              <a:t>stdio.h</a:t>
            </a:r>
            <a:r>
              <a:rPr lang="en-US" sz="1600" dirty="0">
                <a:solidFill>
                  <a:schemeClr val="accent2">
                    <a:lumMod val="75000"/>
                  </a:schemeClr>
                </a:solidFill>
                <a:latin typeface="Inconsolata" panose="020B0609030003000000" pitchFamily="49" charset="0"/>
              </a:rPr>
              <a:t>&gt;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endParaRPr lang="en-US" sz="1600" dirty="0">
              <a:latin typeface="Inconsolata" panose="020B0609030003000000" pitchFamily="49" charset="0"/>
            </a:endParaRP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endParaRPr lang="en-US" sz="1600" dirty="0">
              <a:latin typeface="Inconsolata" panose="020B0609030003000000" pitchFamily="49" charset="0"/>
            </a:endParaRP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1600" dirty="0">
                <a:solidFill>
                  <a:schemeClr val="accent1">
                    <a:lumMod val="75000"/>
                  </a:schemeClr>
                </a:solidFill>
                <a:latin typeface="Inconsolata" panose="020B0609030003000000" pitchFamily="49" charset="0"/>
              </a:rPr>
              <a:t>extern const char</a:t>
            </a:r>
            <a:r>
              <a:rPr lang="en-US" sz="1600" dirty="0">
                <a:latin typeface="Inconsolata" panose="020B0609030003000000" pitchFamily="49" charset="0"/>
              </a:rPr>
              <a:t>* </a:t>
            </a:r>
            <a:r>
              <a:rPr lang="en-US" sz="1600" dirty="0" err="1">
                <a:latin typeface="Inconsolata" panose="020B0609030003000000" pitchFamily="49" charset="0"/>
              </a:rPr>
              <a:t>pirate_greet</a:t>
            </a:r>
            <a:r>
              <a:rPr lang="en-US" sz="1600" dirty="0">
                <a:latin typeface="Inconsolata" panose="020B0609030003000000" pitchFamily="49" charset="0"/>
              </a:rPr>
              <a:t>;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1600" dirty="0">
                <a:solidFill>
                  <a:schemeClr val="accent6">
                    <a:lumMod val="50000"/>
                  </a:schemeClr>
                </a:solidFill>
                <a:latin typeface="Inconsolata" panose="020B0609030003000000" pitchFamily="49" charset="0"/>
              </a:rPr>
              <a:t>// </a:t>
            </a:r>
            <a:r>
              <a:rPr lang="en-US" sz="1600" dirty="0" err="1">
                <a:solidFill>
                  <a:schemeClr val="accent6">
                    <a:lumMod val="50000"/>
                  </a:schemeClr>
                </a:solidFill>
                <a:latin typeface="Inconsolata" panose="020B0609030003000000" pitchFamily="49" charset="0"/>
              </a:rPr>
              <a:t>pirate_greet</a:t>
            </a:r>
            <a:r>
              <a:rPr lang="en-US" sz="1600" dirty="0">
                <a:solidFill>
                  <a:schemeClr val="accent6">
                    <a:lumMod val="50000"/>
                  </a:schemeClr>
                </a:solidFill>
                <a:latin typeface="Inconsolata" panose="020B0609030003000000" pitchFamily="49" charset="0"/>
              </a:rPr>
              <a:t> is explicitly extern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endParaRPr lang="en-US" sz="1600" dirty="0">
              <a:solidFill>
                <a:schemeClr val="accent1">
                  <a:lumMod val="75000"/>
                </a:schemeClr>
              </a:solidFill>
              <a:latin typeface="Inconsolata" panose="020B0609030003000000" pitchFamily="49" charset="0"/>
            </a:endParaRP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1600" dirty="0">
                <a:solidFill>
                  <a:schemeClr val="accent1">
                    <a:lumMod val="75000"/>
                  </a:schemeClr>
                </a:solidFill>
                <a:latin typeface="Inconsolata" panose="020B0609030003000000" pitchFamily="49" charset="0"/>
              </a:rPr>
              <a:t>void </a:t>
            </a:r>
            <a:r>
              <a:rPr lang="en-US" sz="1600" dirty="0" err="1">
                <a:latin typeface="Inconsolata" panose="020B0609030003000000" pitchFamily="49" charset="0"/>
              </a:rPr>
              <a:t>speak_like_pirate</a:t>
            </a:r>
            <a:r>
              <a:rPr lang="en-US" sz="1600" dirty="0">
                <a:latin typeface="Inconsolata" panose="020B0609030003000000" pitchFamily="49" charset="0"/>
              </a:rPr>
              <a:t>(</a:t>
            </a:r>
            <a:r>
              <a:rPr lang="en-US" sz="1600" dirty="0">
                <a:solidFill>
                  <a:schemeClr val="accent1">
                    <a:lumMod val="75000"/>
                  </a:schemeClr>
                </a:solidFill>
                <a:latin typeface="Inconsolata" panose="020B0609030003000000" pitchFamily="49" charset="0"/>
              </a:rPr>
              <a:t>const char</a:t>
            </a:r>
            <a:r>
              <a:rPr lang="en-US" sz="1600" dirty="0">
                <a:latin typeface="Inconsolata" panose="020B0609030003000000" pitchFamily="49" charset="0"/>
              </a:rPr>
              <a:t>* foo) {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1600" dirty="0">
                <a:latin typeface="Inconsolata" panose="020B0609030003000000" pitchFamily="49" charset="0"/>
              </a:rPr>
              <a:t>  </a:t>
            </a:r>
            <a:r>
              <a:rPr lang="en-US" sz="1600" dirty="0" err="1">
                <a:latin typeface="Inconsolata" panose="020B0609030003000000" pitchFamily="49" charset="0"/>
              </a:rPr>
              <a:t>printf</a:t>
            </a:r>
            <a:r>
              <a:rPr lang="en-US" sz="1600" dirty="0">
                <a:latin typeface="Inconsolata" panose="020B0609030003000000" pitchFamily="49" charset="0"/>
              </a:rPr>
              <a:t>(</a:t>
            </a:r>
            <a:r>
              <a:rPr lang="en-US" sz="1600" dirty="0">
                <a:solidFill>
                  <a:schemeClr val="accent2">
                    <a:lumMod val="75000"/>
                  </a:schemeClr>
                </a:solidFill>
                <a:latin typeface="Inconsolata" panose="020B0609030003000000" pitchFamily="49" charset="0"/>
              </a:rPr>
              <a:t>"%s %s\n"</a:t>
            </a:r>
            <a:r>
              <a:rPr lang="en-US" sz="1600" dirty="0">
                <a:latin typeface="Inconsolata" panose="020B0609030003000000" pitchFamily="49" charset="0"/>
              </a:rPr>
              <a:t>, </a:t>
            </a:r>
            <a:r>
              <a:rPr lang="en-US" sz="1600" dirty="0" err="1">
                <a:latin typeface="Inconsolata" panose="020B0609030003000000" pitchFamily="49" charset="0"/>
              </a:rPr>
              <a:t>pirate_greet</a:t>
            </a:r>
            <a:r>
              <a:rPr lang="en-US" sz="1600" dirty="0">
                <a:latin typeface="Inconsolata" panose="020B0609030003000000" pitchFamily="49" charset="0"/>
              </a:rPr>
              <a:t>, foo);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1600" dirty="0">
                <a:latin typeface="Inconsolata" panose="020B0609030003000000" pitchFamily="49" charset="0"/>
              </a:rPr>
              <a:t>}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8FF75F71-4107-447C-9505-1A1639F573CE}"/>
              </a:ext>
            </a:extLst>
          </p:cNvPr>
          <p:cNvSpPr txBox="1"/>
          <p:nvPr/>
        </p:nvSpPr>
        <p:spPr>
          <a:xfrm>
            <a:off x="573836" y="2213094"/>
            <a:ext cx="442660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Lato Black" panose="020F0502020204030203" pitchFamily="34" charset="0"/>
                <a:ea typeface="Lato Black" panose="020F0502020204030203" pitchFamily="34" charset="0"/>
                <a:cs typeface="Lato Black" panose="020F0502020204030203" pitchFamily="34" charset="0"/>
              </a:rPr>
              <a:t>C</a:t>
            </a:r>
            <a:r>
              <a:rPr lang="en-US" dirty="0">
                <a:latin typeface="Lato Light" panose="020F0502020204030203" pitchFamily="34" charset="0"/>
                <a:ea typeface="Lato Light" panose="020F0502020204030203" pitchFamily="34" charset="0"/>
                <a:cs typeface="Lato Light" panose="020F0502020204030203" pitchFamily="34" charset="0"/>
              </a:rPr>
              <a:t> (</a:t>
            </a:r>
            <a:r>
              <a:rPr lang="en-US" dirty="0" err="1">
                <a:latin typeface="Inconsolata" panose="020B0609030003000000" pitchFamily="49" charset="0"/>
                <a:ea typeface="Lato Light" panose="020F0502020204030203" pitchFamily="34" charset="0"/>
                <a:cs typeface="Lato Light" panose="020F0502020204030203" pitchFamily="34" charset="0"/>
              </a:rPr>
              <a:t>pirate.c</a:t>
            </a:r>
            <a:r>
              <a:rPr lang="en-US" dirty="0">
                <a:latin typeface="Lato Light" panose="020F0502020204030203" pitchFamily="34" charset="0"/>
                <a:ea typeface="Lato Light" panose="020F0502020204030203" pitchFamily="34" charset="0"/>
                <a:cs typeface="Lato Light" panose="020F0502020204030203" pitchFamily="34" charset="0"/>
              </a:rPr>
              <a:t>)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729D06C5-6B37-4DAB-852A-F9DC8569F132}"/>
              </a:ext>
            </a:extLst>
          </p:cNvPr>
          <p:cNvSpPr txBox="1"/>
          <p:nvPr/>
        </p:nvSpPr>
        <p:spPr>
          <a:xfrm>
            <a:off x="5000440" y="2207195"/>
            <a:ext cx="400976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Lato Black" panose="020F0502020204030203" pitchFamily="34" charset="0"/>
                <a:ea typeface="Lato Black" panose="020F0502020204030203" pitchFamily="34" charset="0"/>
                <a:cs typeface="Lato Black" panose="020F0502020204030203" pitchFamily="34" charset="0"/>
              </a:rPr>
              <a:t>C</a:t>
            </a:r>
            <a:r>
              <a:rPr lang="en-US" dirty="0">
                <a:latin typeface="Lato Light" panose="020F0502020204030203" pitchFamily="34" charset="0"/>
                <a:ea typeface="Lato Light" panose="020F0502020204030203" pitchFamily="34" charset="0"/>
                <a:cs typeface="Lato Light" panose="020F0502020204030203" pitchFamily="34" charset="0"/>
              </a:rPr>
              <a:t> (</a:t>
            </a:r>
            <a:r>
              <a:rPr lang="en-US" dirty="0" err="1">
                <a:latin typeface="Inconsolata" panose="020B0609030003000000" pitchFamily="49" charset="0"/>
                <a:ea typeface="Lato Light" panose="020F0502020204030203" pitchFamily="34" charset="0"/>
                <a:cs typeface="Lato Light" panose="020F0502020204030203" pitchFamily="34" charset="0"/>
              </a:rPr>
              <a:t>main.c</a:t>
            </a:r>
            <a:r>
              <a:rPr lang="en-US" dirty="0">
                <a:latin typeface="Lato Light" panose="020F0502020204030203" pitchFamily="34" charset="0"/>
                <a:ea typeface="Lato Light" panose="020F0502020204030203" pitchFamily="34" charset="0"/>
                <a:cs typeface="Lato Light" panose="020F0502020204030203" pitchFamily="34" charset="0"/>
              </a:rPr>
              <a:t>)</a:t>
            </a:r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81DE9267-E8B2-4119-B4DC-FC4463E6F180}"/>
              </a:ext>
            </a:extLst>
          </p:cNvPr>
          <p:cNvCxnSpPr>
            <a:cxnSpLocks/>
          </p:cNvCxnSpPr>
          <p:nvPr/>
        </p:nvCxnSpPr>
        <p:spPr>
          <a:xfrm>
            <a:off x="4941007" y="2284056"/>
            <a:ext cx="0" cy="3335352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26F2BDA0-E66D-4297-8B65-01AC283CE773}"/>
              </a:ext>
            </a:extLst>
          </p:cNvPr>
          <p:cNvCxnSpPr>
            <a:cxnSpLocks/>
          </p:cNvCxnSpPr>
          <p:nvPr/>
        </p:nvCxnSpPr>
        <p:spPr>
          <a:xfrm>
            <a:off x="4968797" y="2284056"/>
            <a:ext cx="0" cy="3335352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TextBox 11">
            <a:extLst>
              <a:ext uri="{FF2B5EF4-FFF2-40B4-BE49-F238E27FC236}">
                <a16:creationId xmlns:a16="http://schemas.microsoft.com/office/drawing/2014/main" id="{3B7612E3-E747-4166-8351-D241D87567AA}"/>
              </a:ext>
            </a:extLst>
          </p:cNvPr>
          <p:cNvSpPr txBox="1"/>
          <p:nvPr/>
        </p:nvSpPr>
        <p:spPr>
          <a:xfrm>
            <a:off x="1114827" y="3194229"/>
            <a:ext cx="2868093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>
                <a:solidFill>
                  <a:srgbClr val="7030A0"/>
                </a:solidFill>
                <a:latin typeface="Lato Black" panose="020B0604020202020204" charset="0"/>
                <a:ea typeface="Lato Black" panose="020B0604020202020204" charset="0"/>
                <a:cs typeface="Lato Black" panose="020B0604020202020204" charset="0"/>
              </a:rPr>
              <a:t>This symbol is… somewhere.</a:t>
            </a:r>
            <a:endParaRPr lang="en-US" sz="1600" dirty="0">
              <a:solidFill>
                <a:srgbClr val="7030A0"/>
              </a:solidFill>
              <a:latin typeface="Inconsolata" panose="020B0609030003000000" pitchFamily="49" charset="0"/>
              <a:ea typeface="Lato Black" panose="020B0604020202020204" charset="0"/>
              <a:cs typeface="Lato Black" panose="020B0604020202020204" charset="0"/>
            </a:endParaRPr>
          </a:p>
        </p:txBody>
      </p: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22D69953-6A26-425A-B453-5343960F8BD1}"/>
              </a:ext>
            </a:extLst>
          </p:cNvPr>
          <p:cNvCxnSpPr>
            <a:cxnSpLocks/>
          </p:cNvCxnSpPr>
          <p:nvPr/>
        </p:nvCxnSpPr>
        <p:spPr>
          <a:xfrm rot="10800000" flipV="1">
            <a:off x="982549" y="3388115"/>
            <a:ext cx="169566" cy="144668"/>
          </a:xfrm>
          <a:prstGeom prst="straightConnector1">
            <a:avLst/>
          </a:prstGeom>
          <a:ln w="38100">
            <a:solidFill>
              <a:srgbClr val="7030A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TextBox 15">
            <a:extLst>
              <a:ext uri="{FF2B5EF4-FFF2-40B4-BE49-F238E27FC236}">
                <a16:creationId xmlns:a16="http://schemas.microsoft.com/office/drawing/2014/main" id="{7F3FF2F1-BF56-41D2-A53F-7F90AEBBC181}"/>
              </a:ext>
            </a:extLst>
          </p:cNvPr>
          <p:cNvSpPr txBox="1"/>
          <p:nvPr/>
        </p:nvSpPr>
        <p:spPr>
          <a:xfrm>
            <a:off x="6711728" y="2307159"/>
            <a:ext cx="113685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>
                <a:solidFill>
                  <a:srgbClr val="7030A0"/>
                </a:solidFill>
                <a:latin typeface="Lato Black" panose="020B0604020202020204" charset="0"/>
                <a:ea typeface="Lato Black" panose="020B0604020202020204" charset="0"/>
                <a:cs typeface="Lato Black" panose="020B0604020202020204" charset="0"/>
              </a:rPr>
              <a:t>Here it is!!</a:t>
            </a:r>
            <a:endParaRPr lang="en-US" sz="1600" dirty="0">
              <a:solidFill>
                <a:srgbClr val="7030A0"/>
              </a:solidFill>
              <a:latin typeface="Inconsolata" panose="020B0609030003000000" pitchFamily="49" charset="0"/>
              <a:ea typeface="Lato Black" panose="020B0604020202020204" charset="0"/>
              <a:cs typeface="Lato Black" panose="020B0604020202020204" charset="0"/>
            </a:endParaRPr>
          </a:p>
        </p:txBody>
      </p: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54F91AD4-60AE-4623-BD07-C32DA2A10950}"/>
              </a:ext>
            </a:extLst>
          </p:cNvPr>
          <p:cNvCxnSpPr>
            <a:cxnSpLocks/>
          </p:cNvCxnSpPr>
          <p:nvPr/>
        </p:nvCxnSpPr>
        <p:spPr>
          <a:xfrm rot="10800000" flipV="1">
            <a:off x="6579451" y="2501045"/>
            <a:ext cx="169566" cy="144668"/>
          </a:xfrm>
          <a:prstGeom prst="straightConnector1">
            <a:avLst/>
          </a:prstGeom>
          <a:ln w="38100">
            <a:solidFill>
              <a:srgbClr val="7030A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78583412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/>
      <p:bldP spid="16" grpId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70FE8F-A7A5-44FF-A47A-847C34A3A6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Final thoughts of global variables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DB02820-BAE2-4F24-9DD8-C87D617D638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96620" y="967740"/>
            <a:ext cx="8343900" cy="4671590"/>
          </a:xfrm>
        </p:spPr>
        <p:txBody>
          <a:bodyPr>
            <a:normAutofit lnSpcReduction="10000"/>
          </a:bodyPr>
          <a:lstStyle/>
          <a:p>
            <a:r>
              <a:rPr lang="en-US" dirty="0"/>
              <a:t>You should always avoid global variables.</a:t>
            </a:r>
          </a:p>
          <a:p>
            <a:endParaRPr lang="en-US" dirty="0"/>
          </a:p>
          <a:p>
            <a:r>
              <a:rPr lang="en-US" dirty="0"/>
              <a:t>However, if you are using them, make sure to liberally use </a:t>
            </a:r>
            <a:r>
              <a:rPr lang="en-US" dirty="0">
                <a:solidFill>
                  <a:schemeClr val="accent1">
                    <a:lumMod val="75000"/>
                  </a:schemeClr>
                </a:solidFill>
                <a:latin typeface="Inconsolata" panose="020B0609030003000000" pitchFamily="49" charset="0"/>
              </a:rPr>
              <a:t>static</a:t>
            </a:r>
          </a:p>
          <a:p>
            <a:pPr lvl="1"/>
            <a:r>
              <a:rPr lang="en-US" dirty="0"/>
              <a:t>This will stop the names of variables from polluting the symbol table.</a:t>
            </a:r>
          </a:p>
          <a:p>
            <a:pPr lvl="1"/>
            <a:r>
              <a:rPr lang="en-US" dirty="0"/>
              <a:t>The use of</a:t>
            </a:r>
            <a:r>
              <a:rPr lang="en-US" dirty="0">
                <a:solidFill>
                  <a:schemeClr val="accent1">
                    <a:lumMod val="75000"/>
                  </a:schemeClr>
                </a:solidFill>
                <a:latin typeface="Inconsolata" panose="020B0609030003000000" pitchFamily="49" charset="0"/>
              </a:rPr>
              <a:t> extern </a:t>
            </a:r>
            <a:r>
              <a:rPr lang="en-US" dirty="0"/>
              <a:t>is likely indicating a poor design.</a:t>
            </a:r>
          </a:p>
          <a:p>
            <a:pPr lvl="1"/>
            <a:endParaRPr lang="en-US" dirty="0"/>
          </a:p>
          <a:p>
            <a:r>
              <a:rPr lang="en-US" dirty="0"/>
              <a:t>This is also true for functions, too.</a:t>
            </a:r>
          </a:p>
          <a:p>
            <a:pPr lvl="1"/>
            <a:r>
              <a:rPr lang="en-US" dirty="0"/>
              <a:t>Generally declare them </a:t>
            </a:r>
            <a:r>
              <a:rPr lang="en-US" dirty="0">
                <a:solidFill>
                  <a:schemeClr val="accent1">
                    <a:lumMod val="75000"/>
                  </a:schemeClr>
                </a:solidFill>
                <a:latin typeface="Inconsolata" panose="020B0609030003000000" pitchFamily="49" charset="0"/>
              </a:rPr>
              <a:t>static</a:t>
            </a:r>
            <a:r>
              <a:rPr lang="en-US" dirty="0"/>
              <a:t> unless you need</a:t>
            </a:r>
            <a:br>
              <a:rPr lang="en-US" dirty="0"/>
            </a:br>
            <a:r>
              <a:rPr lang="en-US" dirty="0"/>
              <a:t>them from within another file.</a:t>
            </a:r>
          </a:p>
          <a:p>
            <a:pPr lvl="1"/>
            <a:r>
              <a:rPr lang="en-US" dirty="0"/>
              <a:t>Helps make it clear what functions are important</a:t>
            </a:r>
            <a:br>
              <a:rPr lang="en-US" dirty="0"/>
            </a:br>
            <a:r>
              <a:rPr lang="en-US" dirty="0"/>
              <a:t>and which can be deleted or refactored.</a:t>
            </a:r>
          </a:p>
          <a:p>
            <a:pPr lvl="1"/>
            <a:r>
              <a:rPr lang="en-US" dirty="0"/>
              <a:t>(Much like private functions in classes)</a:t>
            </a:r>
          </a:p>
          <a:p>
            <a:pPr lvl="1"/>
            <a:endParaRPr lang="en-US" dirty="0"/>
          </a:p>
          <a:p>
            <a:r>
              <a:rPr lang="en-US" dirty="0"/>
              <a:t>Always initialize your global variables!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57DEF2E-8CCA-4F14-B9DC-0B103D7A5F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AAD609-F83C-4414-814B-B5A2DF99692C}" type="slidenum">
              <a:rPr lang="en-US" smtClean="0"/>
              <a:pPr/>
              <a:t>19</a:t>
            </a:fld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D55DF469-CC7F-45A8-B1D0-5BCFF511995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60008" y="3160994"/>
            <a:ext cx="1846185" cy="18461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4489839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1000"/>
                            </p:stCondLst>
                            <p:childTnLst>
                              <p:par>
                                <p:cTn id="12" presetID="32" presetClass="emph" presetSubtype="0" repeatCount="indefinite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Rot by="120000">
                                      <p:cBhvr>
                                        <p:cTn id="13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14" dur="200" fill="hold">
                                          <p:stCondLst>
                                            <p:cond delay="20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240000">
                                      <p:cBhvr>
                                        <p:cTn id="15" dur="200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16" dur="200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20000">
                                      <p:cBhvr>
                                        <p:cTn id="17" dur="2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BEF638-EBCC-4013-A2BE-13AF832557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Seeing through the linker’s eyes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74BB5CC-F476-429B-9B61-368DA02339A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96620" y="784277"/>
            <a:ext cx="8343900" cy="1219335"/>
          </a:xfrm>
        </p:spPr>
        <p:txBody>
          <a:bodyPr>
            <a:normAutofit lnSpcReduction="10000"/>
          </a:bodyPr>
          <a:lstStyle/>
          <a:p>
            <a:r>
              <a:rPr lang="en-US" dirty="0"/>
              <a:t>Which symbols are part of each file?</a:t>
            </a:r>
          </a:p>
          <a:p>
            <a:r>
              <a:rPr lang="en-US" dirty="0"/>
              <a:t>Which are local and which are global?</a:t>
            </a:r>
          </a:p>
          <a:p>
            <a:r>
              <a:rPr lang="en-US" dirty="0"/>
              <a:t>Which symbols are satisfied by the other file?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24AA20A-2441-4851-AFBC-736DEA6D59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AAD609-F83C-4414-814B-B5A2DF99692C}" type="slidenum">
              <a:rPr lang="en-US" smtClean="0"/>
              <a:pPr/>
              <a:t>20</a:t>
            </a:fld>
            <a:endParaRPr lang="en-US" dirty="0"/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66C90E84-3298-4898-B41E-BA46549B66A2}"/>
              </a:ext>
            </a:extLst>
          </p:cNvPr>
          <p:cNvSpPr txBox="1">
            <a:spLocks/>
          </p:cNvSpPr>
          <p:nvPr/>
        </p:nvSpPr>
        <p:spPr>
          <a:xfrm>
            <a:off x="5000441" y="2576527"/>
            <a:ext cx="4585721" cy="307233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Clr>
                <a:schemeClr val="accent1">
                  <a:lumMod val="75000"/>
                </a:schemeClr>
              </a:buClr>
              <a:buFont typeface="Arial" panose="020B0604020202020204" pitchFamily="34" charset="0"/>
              <a:buChar char="•"/>
              <a:defRPr sz="2100" kern="1200">
                <a:solidFill>
                  <a:schemeClr val="tx1"/>
                </a:solidFill>
                <a:latin typeface="Lato Semibold" panose="020F0502020204030203" pitchFamily="34" charset="0"/>
                <a:ea typeface="Lato Semibold" panose="020F0502020204030203" pitchFamily="34" charset="0"/>
                <a:cs typeface="Lato Semibold" panose="020F0502020204030203" pitchFamily="34" charset="0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Clr>
                <a:schemeClr val="accent1">
                  <a:lumMod val="75000"/>
                </a:schemeClr>
              </a:buClr>
              <a:buFont typeface="Wingdings" panose="05000000000000000000" pitchFamily="2" charset="2"/>
              <a:buChar char="§"/>
              <a:defRPr sz="1800" kern="1200">
                <a:solidFill>
                  <a:schemeClr val="tx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Clr>
                <a:srgbClr val="FF0000"/>
              </a:buClr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Lato Light" panose="020F0502020204030203" pitchFamily="34" charset="0"/>
                <a:ea typeface="Lato Light" panose="020F0502020204030203" pitchFamily="34" charset="0"/>
                <a:cs typeface="Lato Light" panose="020F0502020204030203" pitchFamily="34" charset="0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Lato Light" panose="020F0502020204030203" pitchFamily="34" charset="0"/>
                <a:ea typeface="Lato Light" panose="020F0502020204030203" pitchFamily="34" charset="0"/>
                <a:cs typeface="Lato Light" panose="020F0502020204030203" pitchFamily="34" charset="0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1600" dirty="0">
                <a:solidFill>
                  <a:schemeClr val="accent1">
                    <a:lumMod val="75000"/>
                  </a:schemeClr>
                </a:solidFill>
                <a:latin typeface="Inconsolata" panose="020B0609030003000000" pitchFamily="49" charset="0"/>
              </a:rPr>
              <a:t>int </a:t>
            </a:r>
            <a:r>
              <a:rPr lang="en-US" sz="1600" dirty="0" err="1">
                <a:latin typeface="Inconsolata" panose="020B0609030003000000" pitchFamily="49" charset="0"/>
              </a:rPr>
              <a:t>fibonacci</a:t>
            </a:r>
            <a:r>
              <a:rPr lang="en-US" sz="1600" dirty="0">
                <a:latin typeface="Inconsolata" panose="020B0609030003000000" pitchFamily="49" charset="0"/>
              </a:rPr>
              <a:t>(</a:t>
            </a:r>
            <a:r>
              <a:rPr lang="en-US" sz="1600" dirty="0">
                <a:solidFill>
                  <a:schemeClr val="accent1">
                    <a:lumMod val="75000"/>
                  </a:schemeClr>
                </a:solidFill>
                <a:latin typeface="Inconsolata" panose="020B0609030003000000" pitchFamily="49" charset="0"/>
              </a:rPr>
              <a:t>int</a:t>
            </a:r>
            <a:r>
              <a:rPr lang="en-US" sz="1600" dirty="0">
                <a:latin typeface="Inconsolata" panose="020B0609030003000000" pitchFamily="49" charset="0"/>
              </a:rPr>
              <a:t>);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endParaRPr lang="en-US" sz="1600" dirty="0">
              <a:latin typeface="Inconsolata" panose="020B0609030003000000" pitchFamily="49" charset="0"/>
            </a:endParaRP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1600" dirty="0">
                <a:solidFill>
                  <a:schemeClr val="accent1">
                    <a:lumMod val="75000"/>
                  </a:schemeClr>
                </a:solidFill>
                <a:latin typeface="Inconsolata" panose="020B0609030003000000" pitchFamily="49" charset="0"/>
              </a:rPr>
              <a:t>int</a:t>
            </a:r>
            <a:r>
              <a:rPr lang="en-US" sz="1600" dirty="0">
                <a:latin typeface="Inconsolata" panose="020B0609030003000000" pitchFamily="49" charset="0"/>
              </a:rPr>
              <a:t> main(</a:t>
            </a:r>
            <a:r>
              <a:rPr lang="en-US" sz="1600" dirty="0">
                <a:solidFill>
                  <a:schemeClr val="accent1">
                    <a:lumMod val="75000"/>
                  </a:schemeClr>
                </a:solidFill>
                <a:latin typeface="Inconsolata" panose="020B0609030003000000" pitchFamily="49" charset="0"/>
              </a:rPr>
              <a:t>void</a:t>
            </a:r>
            <a:r>
              <a:rPr lang="en-US" sz="1600" dirty="0">
                <a:latin typeface="Inconsolata" panose="020B0609030003000000" pitchFamily="49" charset="0"/>
              </a:rPr>
              <a:t>) {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1600" dirty="0">
                <a:latin typeface="Inconsolata" panose="020B0609030003000000" pitchFamily="49" charset="0"/>
              </a:rPr>
              <a:t>  </a:t>
            </a:r>
            <a:r>
              <a:rPr lang="en-US" sz="1600" dirty="0">
                <a:solidFill>
                  <a:schemeClr val="accent1">
                    <a:lumMod val="75000"/>
                  </a:schemeClr>
                </a:solidFill>
                <a:latin typeface="Inconsolata" panose="020B0609030003000000" pitchFamily="49" charset="0"/>
              </a:rPr>
              <a:t>int</a:t>
            </a:r>
            <a:r>
              <a:rPr lang="en-US" sz="1600" dirty="0">
                <a:latin typeface="Inconsolata" panose="020B0609030003000000" pitchFamily="49" charset="0"/>
              </a:rPr>
              <a:t> product = 1;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1600" dirty="0">
                <a:latin typeface="Inconsolata" panose="020B0609030003000000" pitchFamily="49" charset="0"/>
              </a:rPr>
              <a:t>  </a:t>
            </a:r>
            <a:r>
              <a:rPr lang="en-US" sz="1600" dirty="0">
                <a:solidFill>
                  <a:schemeClr val="accent1">
                    <a:lumMod val="75000"/>
                  </a:schemeClr>
                </a:solidFill>
                <a:latin typeface="Inconsolata" panose="020B0609030003000000" pitchFamily="49" charset="0"/>
              </a:rPr>
              <a:t>for </a:t>
            </a:r>
            <a:r>
              <a:rPr lang="en-US" sz="1600" dirty="0">
                <a:latin typeface="Inconsolata" panose="020B0609030003000000" pitchFamily="49" charset="0"/>
              </a:rPr>
              <a:t>(</a:t>
            </a:r>
            <a:r>
              <a:rPr lang="en-US" sz="1600" dirty="0">
                <a:solidFill>
                  <a:schemeClr val="accent1">
                    <a:lumMod val="75000"/>
                  </a:schemeClr>
                </a:solidFill>
                <a:latin typeface="Inconsolata" panose="020B0609030003000000" pitchFamily="49" charset="0"/>
              </a:rPr>
              <a:t>int</a:t>
            </a:r>
            <a:r>
              <a:rPr lang="en-US" sz="1600" dirty="0">
                <a:latin typeface="Inconsolata" panose="020B0609030003000000" pitchFamily="49" charset="0"/>
              </a:rPr>
              <a:t> </a:t>
            </a:r>
            <a:r>
              <a:rPr lang="en-US" sz="1600" dirty="0" err="1">
                <a:latin typeface="Inconsolata" panose="020B0609030003000000" pitchFamily="49" charset="0"/>
              </a:rPr>
              <a:t>i</a:t>
            </a:r>
            <a:r>
              <a:rPr lang="en-US" sz="1600" dirty="0">
                <a:latin typeface="Inconsolata" panose="020B0609030003000000" pitchFamily="49" charset="0"/>
              </a:rPr>
              <a:t> = 0; </a:t>
            </a:r>
            <a:r>
              <a:rPr lang="en-US" sz="1600" dirty="0" err="1">
                <a:latin typeface="Inconsolata" panose="020B0609030003000000" pitchFamily="49" charset="0"/>
              </a:rPr>
              <a:t>i</a:t>
            </a:r>
            <a:r>
              <a:rPr lang="en-US" sz="1600" dirty="0">
                <a:latin typeface="Inconsolata" panose="020B0609030003000000" pitchFamily="49" charset="0"/>
              </a:rPr>
              <a:t> &lt; 25; </a:t>
            </a:r>
            <a:r>
              <a:rPr lang="en-US" sz="1600" dirty="0" err="1">
                <a:latin typeface="Inconsolata" panose="020B0609030003000000" pitchFamily="49" charset="0"/>
              </a:rPr>
              <a:t>i</a:t>
            </a:r>
            <a:r>
              <a:rPr lang="en-US" sz="1600" dirty="0">
                <a:latin typeface="Inconsolata" panose="020B0609030003000000" pitchFamily="49" charset="0"/>
              </a:rPr>
              <a:t>++) {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1600" dirty="0">
                <a:latin typeface="Inconsolata" panose="020B0609030003000000" pitchFamily="49" charset="0"/>
              </a:rPr>
              <a:t>    product *= </a:t>
            </a:r>
            <a:r>
              <a:rPr lang="en-US" sz="1600" dirty="0" err="1">
                <a:latin typeface="Inconsolata" panose="020B0609030003000000" pitchFamily="49" charset="0"/>
              </a:rPr>
              <a:t>fibonacci</a:t>
            </a:r>
            <a:r>
              <a:rPr lang="en-US" sz="1600" dirty="0">
                <a:latin typeface="Inconsolata" panose="020B0609030003000000" pitchFamily="49" charset="0"/>
              </a:rPr>
              <a:t>(</a:t>
            </a:r>
            <a:r>
              <a:rPr lang="en-US" sz="1600" dirty="0" err="1">
                <a:latin typeface="Inconsolata" panose="020B0609030003000000" pitchFamily="49" charset="0"/>
              </a:rPr>
              <a:t>i</a:t>
            </a:r>
            <a:r>
              <a:rPr lang="en-US" sz="1600" dirty="0">
                <a:latin typeface="Inconsolata" panose="020B0609030003000000" pitchFamily="49" charset="0"/>
              </a:rPr>
              <a:t>);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1600" dirty="0">
                <a:latin typeface="Inconsolata" panose="020B0609030003000000" pitchFamily="49" charset="0"/>
              </a:rPr>
              <a:t>  }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endParaRPr lang="en-US" sz="1600" dirty="0">
              <a:latin typeface="Inconsolata" panose="020B0609030003000000" pitchFamily="49" charset="0"/>
            </a:endParaRP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1600" dirty="0">
                <a:solidFill>
                  <a:schemeClr val="accent1">
                    <a:lumMod val="75000"/>
                  </a:schemeClr>
                </a:solidFill>
                <a:latin typeface="Inconsolata" panose="020B0609030003000000" pitchFamily="49" charset="0"/>
              </a:rPr>
              <a:t>  return</a:t>
            </a:r>
            <a:r>
              <a:rPr lang="en-US" sz="1600" dirty="0">
                <a:latin typeface="Inconsolata" panose="020B0609030003000000" pitchFamily="49" charset="0"/>
              </a:rPr>
              <a:t> product;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1600" dirty="0">
                <a:latin typeface="Inconsolata" panose="020B0609030003000000" pitchFamily="49" charset="0"/>
              </a:rPr>
              <a:t>}</a:t>
            </a:r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3BB2F4D7-3FEB-47FF-B8BC-B7CD2B02A309}"/>
              </a:ext>
            </a:extLst>
          </p:cNvPr>
          <p:cNvSpPr txBox="1">
            <a:spLocks/>
          </p:cNvSpPr>
          <p:nvPr/>
        </p:nvSpPr>
        <p:spPr>
          <a:xfrm>
            <a:off x="601906" y="2576527"/>
            <a:ext cx="4398537" cy="310090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Clr>
                <a:schemeClr val="accent1">
                  <a:lumMod val="75000"/>
                </a:schemeClr>
              </a:buClr>
              <a:buFont typeface="Arial" panose="020B0604020202020204" pitchFamily="34" charset="0"/>
              <a:buChar char="•"/>
              <a:defRPr sz="2100" kern="1200">
                <a:solidFill>
                  <a:schemeClr val="tx1"/>
                </a:solidFill>
                <a:latin typeface="Lato Semibold" panose="020F0502020204030203" pitchFamily="34" charset="0"/>
                <a:ea typeface="Lato Semibold" panose="020F0502020204030203" pitchFamily="34" charset="0"/>
                <a:cs typeface="Lato Semibold" panose="020F0502020204030203" pitchFamily="34" charset="0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Clr>
                <a:schemeClr val="accent1">
                  <a:lumMod val="75000"/>
                </a:schemeClr>
              </a:buClr>
              <a:buFont typeface="Wingdings" panose="05000000000000000000" pitchFamily="2" charset="2"/>
              <a:buChar char="§"/>
              <a:defRPr sz="1800" kern="1200">
                <a:solidFill>
                  <a:schemeClr val="tx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Clr>
                <a:srgbClr val="FF0000"/>
              </a:buClr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Lato Light" panose="020F0502020204030203" pitchFamily="34" charset="0"/>
                <a:ea typeface="Lato Light" panose="020F0502020204030203" pitchFamily="34" charset="0"/>
                <a:cs typeface="Lato Light" panose="020F0502020204030203" pitchFamily="34" charset="0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Lato Light" panose="020F0502020204030203" pitchFamily="34" charset="0"/>
                <a:ea typeface="Lato Light" panose="020F0502020204030203" pitchFamily="34" charset="0"/>
                <a:cs typeface="Lato Light" panose="020F0502020204030203" pitchFamily="34" charset="0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1600" dirty="0">
                <a:solidFill>
                  <a:schemeClr val="accent1">
                    <a:lumMod val="75000"/>
                  </a:schemeClr>
                </a:solidFill>
                <a:latin typeface="Inconsolata" panose="020B0609030003000000" pitchFamily="49" charset="0"/>
              </a:rPr>
              <a:t>static int </a:t>
            </a:r>
            <a:r>
              <a:rPr lang="en-US" sz="1600" dirty="0" err="1">
                <a:latin typeface="Inconsolata" panose="020B0609030003000000" pitchFamily="49" charset="0"/>
              </a:rPr>
              <a:t>memoized</a:t>
            </a:r>
            <a:r>
              <a:rPr lang="en-US" sz="1600" dirty="0">
                <a:latin typeface="Inconsolata" panose="020B0609030003000000" pitchFamily="49" charset="0"/>
              </a:rPr>
              <a:t>[100] = {1, 1, 0};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endParaRPr lang="en-US" sz="1600" dirty="0">
              <a:solidFill>
                <a:schemeClr val="accent1">
                  <a:lumMod val="75000"/>
                </a:schemeClr>
              </a:solidFill>
              <a:latin typeface="Inconsolata" panose="020B0609030003000000" pitchFamily="49" charset="0"/>
            </a:endParaRP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1600" dirty="0">
                <a:solidFill>
                  <a:schemeClr val="accent1">
                    <a:lumMod val="75000"/>
                  </a:schemeClr>
                </a:solidFill>
                <a:latin typeface="Inconsolata" panose="020B0609030003000000" pitchFamily="49" charset="0"/>
              </a:rPr>
              <a:t>int </a:t>
            </a:r>
            <a:r>
              <a:rPr lang="en-US" sz="1600" dirty="0" err="1">
                <a:latin typeface="Inconsolata" panose="020B0609030003000000" pitchFamily="49" charset="0"/>
              </a:rPr>
              <a:t>fibonacci</a:t>
            </a:r>
            <a:r>
              <a:rPr lang="en-US" sz="1600" dirty="0">
                <a:latin typeface="Inconsolata" panose="020B0609030003000000" pitchFamily="49" charset="0"/>
              </a:rPr>
              <a:t>(</a:t>
            </a:r>
            <a:r>
              <a:rPr lang="en-US" sz="1600" dirty="0">
                <a:solidFill>
                  <a:schemeClr val="accent1">
                    <a:lumMod val="75000"/>
                  </a:schemeClr>
                </a:solidFill>
                <a:latin typeface="Inconsolata" panose="020B0609030003000000" pitchFamily="49" charset="0"/>
              </a:rPr>
              <a:t>int</a:t>
            </a:r>
            <a:r>
              <a:rPr lang="en-US" sz="1600" dirty="0">
                <a:latin typeface="Inconsolata" panose="020B0609030003000000" pitchFamily="49" charset="0"/>
              </a:rPr>
              <a:t> n) {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1600" dirty="0">
                <a:solidFill>
                  <a:schemeClr val="accent1">
                    <a:lumMod val="75000"/>
                  </a:schemeClr>
                </a:solidFill>
                <a:latin typeface="Inconsolata" panose="020B0609030003000000" pitchFamily="49" charset="0"/>
              </a:rPr>
              <a:t>  if</a:t>
            </a:r>
            <a:r>
              <a:rPr lang="en-US" sz="1600" dirty="0">
                <a:latin typeface="Inconsolata" panose="020B0609030003000000" pitchFamily="49" charset="0"/>
              </a:rPr>
              <a:t> (!</a:t>
            </a:r>
            <a:r>
              <a:rPr lang="en-US" sz="1600" dirty="0" err="1">
                <a:latin typeface="Inconsolata" panose="020B0609030003000000" pitchFamily="49" charset="0"/>
              </a:rPr>
              <a:t>memoized</a:t>
            </a:r>
            <a:r>
              <a:rPr lang="en-US" sz="1600" dirty="0">
                <a:latin typeface="Inconsolata" panose="020B0609030003000000" pitchFamily="49" charset="0"/>
              </a:rPr>
              <a:t>[n]) {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1600" dirty="0">
                <a:solidFill>
                  <a:schemeClr val="accent1">
                    <a:lumMod val="75000"/>
                  </a:schemeClr>
                </a:solidFill>
                <a:latin typeface="Inconsolata" panose="020B0609030003000000" pitchFamily="49" charset="0"/>
              </a:rPr>
              <a:t>    int</a:t>
            </a:r>
            <a:r>
              <a:rPr lang="en-US" sz="1600" dirty="0">
                <a:latin typeface="Inconsolata" panose="020B0609030003000000" pitchFamily="49" charset="0"/>
              </a:rPr>
              <a:t> </a:t>
            </a:r>
            <a:r>
              <a:rPr lang="en-US" sz="1600" dirty="0" err="1">
                <a:latin typeface="Inconsolata" panose="020B0609030003000000" pitchFamily="49" charset="0"/>
              </a:rPr>
              <a:t>tmp</a:t>
            </a:r>
            <a:r>
              <a:rPr lang="en-US" sz="1600" dirty="0">
                <a:latin typeface="Inconsolata" panose="020B0609030003000000" pitchFamily="49" charset="0"/>
              </a:rPr>
              <a:t> = </a:t>
            </a:r>
            <a:r>
              <a:rPr lang="en-US" sz="1600" dirty="0" err="1">
                <a:latin typeface="Inconsolata" panose="020B0609030003000000" pitchFamily="49" charset="0"/>
              </a:rPr>
              <a:t>fibonacci</a:t>
            </a:r>
            <a:r>
              <a:rPr lang="en-US" sz="1600" dirty="0">
                <a:latin typeface="Inconsolata" panose="020B0609030003000000" pitchFamily="49" charset="0"/>
              </a:rPr>
              <a:t>(n - 1);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1600" dirty="0">
                <a:latin typeface="Inconsolata" panose="020B0609030003000000" pitchFamily="49" charset="0"/>
              </a:rPr>
              <a:t>    </a:t>
            </a:r>
            <a:r>
              <a:rPr lang="en-US" sz="1600" dirty="0" err="1">
                <a:latin typeface="Inconsolata" panose="020B0609030003000000" pitchFamily="49" charset="0"/>
              </a:rPr>
              <a:t>memoized</a:t>
            </a:r>
            <a:r>
              <a:rPr lang="en-US" sz="1600" dirty="0">
                <a:latin typeface="Inconsolata" panose="020B0609030003000000" pitchFamily="49" charset="0"/>
              </a:rPr>
              <a:t>[n] = </a:t>
            </a:r>
            <a:r>
              <a:rPr lang="en-US" sz="1600" dirty="0" err="1">
                <a:latin typeface="Inconsolata" panose="020B0609030003000000" pitchFamily="49" charset="0"/>
              </a:rPr>
              <a:t>tmp</a:t>
            </a:r>
            <a:r>
              <a:rPr lang="en-US" sz="1600" dirty="0">
                <a:latin typeface="Inconsolata" panose="020B0609030003000000" pitchFamily="49" charset="0"/>
              </a:rPr>
              <a:t> + </a:t>
            </a:r>
            <a:r>
              <a:rPr lang="en-US" sz="1600" dirty="0" err="1">
                <a:latin typeface="Inconsolata" panose="020B0609030003000000" pitchFamily="49" charset="0"/>
              </a:rPr>
              <a:t>fibonacci</a:t>
            </a:r>
            <a:r>
              <a:rPr lang="en-US" sz="1600" dirty="0">
                <a:latin typeface="Inconsolata" panose="020B0609030003000000" pitchFamily="49" charset="0"/>
              </a:rPr>
              <a:t>(n - 2);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1600" dirty="0">
                <a:latin typeface="Inconsolata" panose="020B0609030003000000" pitchFamily="49" charset="0"/>
              </a:rPr>
              <a:t>  }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endParaRPr lang="en-US" sz="1600" dirty="0">
              <a:latin typeface="Inconsolata" panose="020B0609030003000000" pitchFamily="49" charset="0"/>
            </a:endParaRP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1600" dirty="0">
                <a:solidFill>
                  <a:schemeClr val="accent1">
                    <a:lumMod val="75000"/>
                  </a:schemeClr>
                </a:solidFill>
                <a:latin typeface="Inconsolata" panose="020B0609030003000000" pitchFamily="49" charset="0"/>
              </a:rPr>
              <a:t>  return</a:t>
            </a:r>
            <a:r>
              <a:rPr lang="en-US" sz="1600" dirty="0">
                <a:latin typeface="Inconsolata" panose="020B0609030003000000" pitchFamily="49" charset="0"/>
              </a:rPr>
              <a:t> </a:t>
            </a:r>
            <a:r>
              <a:rPr lang="en-US" sz="1600" dirty="0" err="1">
                <a:latin typeface="Inconsolata" panose="020B0609030003000000" pitchFamily="49" charset="0"/>
              </a:rPr>
              <a:t>memoized</a:t>
            </a:r>
            <a:r>
              <a:rPr lang="en-US" sz="1600" dirty="0">
                <a:latin typeface="Inconsolata" panose="020B0609030003000000" pitchFamily="49" charset="0"/>
              </a:rPr>
              <a:t>[n];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1600" dirty="0">
                <a:latin typeface="Inconsolata" panose="020B0609030003000000" pitchFamily="49" charset="0"/>
              </a:rPr>
              <a:t>}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4DA3D62-FD24-4803-925F-55C79467FE60}"/>
              </a:ext>
            </a:extLst>
          </p:cNvPr>
          <p:cNvSpPr txBox="1"/>
          <p:nvPr/>
        </p:nvSpPr>
        <p:spPr>
          <a:xfrm>
            <a:off x="573836" y="2213094"/>
            <a:ext cx="442660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Lato Black" panose="020F0502020204030203" pitchFamily="34" charset="0"/>
                <a:ea typeface="Lato Black" panose="020F0502020204030203" pitchFamily="34" charset="0"/>
                <a:cs typeface="Lato Black" panose="020F0502020204030203" pitchFamily="34" charset="0"/>
              </a:rPr>
              <a:t>C</a:t>
            </a:r>
            <a:r>
              <a:rPr lang="en-US" dirty="0">
                <a:latin typeface="Lato Light" panose="020F0502020204030203" pitchFamily="34" charset="0"/>
                <a:ea typeface="Lato Light" panose="020F0502020204030203" pitchFamily="34" charset="0"/>
                <a:cs typeface="Lato Light" panose="020F0502020204030203" pitchFamily="34" charset="0"/>
              </a:rPr>
              <a:t> (</a:t>
            </a:r>
            <a:r>
              <a:rPr lang="en-US" dirty="0" err="1">
                <a:latin typeface="Inconsolata" panose="020B0609030003000000" pitchFamily="49" charset="0"/>
                <a:ea typeface="Lato Light" panose="020F0502020204030203" pitchFamily="34" charset="0"/>
                <a:cs typeface="Lato Light" panose="020F0502020204030203" pitchFamily="34" charset="0"/>
              </a:rPr>
              <a:t>fibonacci.c</a:t>
            </a:r>
            <a:r>
              <a:rPr lang="en-US" dirty="0">
                <a:latin typeface="Lato Light" panose="020F0502020204030203" pitchFamily="34" charset="0"/>
                <a:ea typeface="Lato Light" panose="020F0502020204030203" pitchFamily="34" charset="0"/>
                <a:cs typeface="Lato Light" panose="020F0502020204030203" pitchFamily="34" charset="0"/>
              </a:rPr>
              <a:t>)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5010CA3-00FD-4460-8188-C870FF599AFC}"/>
              </a:ext>
            </a:extLst>
          </p:cNvPr>
          <p:cNvSpPr txBox="1"/>
          <p:nvPr/>
        </p:nvSpPr>
        <p:spPr>
          <a:xfrm>
            <a:off x="5000440" y="2207195"/>
            <a:ext cx="400976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Lato Black" panose="020F0502020204030203" pitchFamily="34" charset="0"/>
                <a:ea typeface="Lato Black" panose="020F0502020204030203" pitchFamily="34" charset="0"/>
                <a:cs typeface="Lato Black" panose="020F0502020204030203" pitchFamily="34" charset="0"/>
              </a:rPr>
              <a:t>C</a:t>
            </a:r>
            <a:r>
              <a:rPr lang="en-US" dirty="0">
                <a:latin typeface="Lato Light" panose="020F0502020204030203" pitchFamily="34" charset="0"/>
                <a:ea typeface="Lato Light" panose="020F0502020204030203" pitchFamily="34" charset="0"/>
                <a:cs typeface="Lato Light" panose="020F0502020204030203" pitchFamily="34" charset="0"/>
              </a:rPr>
              <a:t> (</a:t>
            </a:r>
            <a:r>
              <a:rPr lang="en-US" dirty="0" err="1">
                <a:latin typeface="Inconsolata" panose="020B0609030003000000" pitchFamily="49" charset="0"/>
                <a:ea typeface="Lato Light" panose="020F0502020204030203" pitchFamily="34" charset="0"/>
                <a:cs typeface="Lato Light" panose="020F0502020204030203" pitchFamily="34" charset="0"/>
              </a:rPr>
              <a:t>main.c</a:t>
            </a:r>
            <a:r>
              <a:rPr lang="en-US" dirty="0">
                <a:latin typeface="Lato Light" panose="020F0502020204030203" pitchFamily="34" charset="0"/>
                <a:ea typeface="Lato Light" panose="020F0502020204030203" pitchFamily="34" charset="0"/>
                <a:cs typeface="Lato Light" panose="020F0502020204030203" pitchFamily="34" charset="0"/>
              </a:rPr>
              <a:t>)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1AAAC041-97C6-4F56-9A5B-4A9E29050750}"/>
              </a:ext>
            </a:extLst>
          </p:cNvPr>
          <p:cNvSpPr txBox="1"/>
          <p:nvPr/>
        </p:nvSpPr>
        <p:spPr>
          <a:xfrm>
            <a:off x="2563311" y="2322105"/>
            <a:ext cx="1572866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>
                <a:solidFill>
                  <a:srgbClr val="7030A0"/>
                </a:solidFill>
                <a:latin typeface="Lato Black" panose="020B0604020202020204" charset="0"/>
                <a:ea typeface="Lato Black" panose="020B0604020202020204" charset="0"/>
                <a:cs typeface="Lato Black" panose="020B0604020202020204" charset="0"/>
              </a:rPr>
              <a:t>A local symbol.</a:t>
            </a:r>
            <a:endParaRPr lang="en-US" sz="1600" dirty="0">
              <a:solidFill>
                <a:srgbClr val="7030A0"/>
              </a:solidFill>
              <a:latin typeface="Inconsolata" panose="020B0609030003000000" pitchFamily="49" charset="0"/>
              <a:ea typeface="Lato Black" panose="020B0604020202020204" charset="0"/>
              <a:cs typeface="Lato Black" panose="020B0604020202020204" charset="0"/>
            </a:endParaRPr>
          </a:p>
        </p:txBody>
      </p: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DF765CB0-7D1E-4F6B-BE89-2E1366DEA1BE}"/>
              </a:ext>
            </a:extLst>
          </p:cNvPr>
          <p:cNvCxnSpPr>
            <a:cxnSpLocks/>
          </p:cNvCxnSpPr>
          <p:nvPr/>
        </p:nvCxnSpPr>
        <p:spPr>
          <a:xfrm rot="10800000" flipV="1">
            <a:off x="2431034" y="2515991"/>
            <a:ext cx="169566" cy="144668"/>
          </a:xfrm>
          <a:prstGeom prst="straightConnector1">
            <a:avLst/>
          </a:prstGeom>
          <a:ln w="38100">
            <a:solidFill>
              <a:srgbClr val="7030A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TextBox 13">
            <a:extLst>
              <a:ext uri="{FF2B5EF4-FFF2-40B4-BE49-F238E27FC236}">
                <a16:creationId xmlns:a16="http://schemas.microsoft.com/office/drawing/2014/main" id="{A5CD49C2-3588-4F09-BD86-438F5E11C9F8}"/>
              </a:ext>
            </a:extLst>
          </p:cNvPr>
          <p:cNvSpPr txBox="1"/>
          <p:nvPr/>
        </p:nvSpPr>
        <p:spPr>
          <a:xfrm>
            <a:off x="1837170" y="4392952"/>
            <a:ext cx="176522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>
                <a:solidFill>
                  <a:srgbClr val="7030A0"/>
                </a:solidFill>
                <a:latin typeface="Lato Black" panose="020B0604020202020204" charset="0"/>
                <a:ea typeface="Lato Black" panose="020B0604020202020204" charset="0"/>
                <a:cs typeface="Lato Black" panose="020B0604020202020204" charset="0"/>
              </a:rPr>
              <a:t>Referenced here.</a:t>
            </a:r>
            <a:endParaRPr lang="en-US" sz="1600" dirty="0">
              <a:solidFill>
                <a:srgbClr val="7030A0"/>
              </a:solidFill>
              <a:latin typeface="Inconsolata" panose="020B0609030003000000" pitchFamily="49" charset="0"/>
              <a:ea typeface="Lato Black" panose="020B0604020202020204" charset="0"/>
              <a:cs typeface="Lato Black" panose="020B0604020202020204" charset="0"/>
            </a:endParaRPr>
          </a:p>
        </p:txBody>
      </p: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FB2B06FF-57C3-4C88-9538-4A0F7C65F892}"/>
              </a:ext>
            </a:extLst>
          </p:cNvPr>
          <p:cNvCxnSpPr>
            <a:cxnSpLocks/>
          </p:cNvCxnSpPr>
          <p:nvPr/>
        </p:nvCxnSpPr>
        <p:spPr>
          <a:xfrm rot="16200000" flipV="1">
            <a:off x="1705434" y="4379391"/>
            <a:ext cx="169566" cy="144668"/>
          </a:xfrm>
          <a:prstGeom prst="straightConnector1">
            <a:avLst/>
          </a:prstGeom>
          <a:ln w="38100">
            <a:solidFill>
              <a:srgbClr val="7030A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TextBox 15">
            <a:extLst>
              <a:ext uri="{FF2B5EF4-FFF2-40B4-BE49-F238E27FC236}">
                <a16:creationId xmlns:a16="http://schemas.microsoft.com/office/drawing/2014/main" id="{71669F85-D0C0-4D5B-865D-A3D5CD130320}"/>
              </a:ext>
            </a:extLst>
          </p:cNvPr>
          <p:cNvSpPr txBox="1"/>
          <p:nvPr/>
        </p:nvSpPr>
        <p:spPr>
          <a:xfrm>
            <a:off x="1850160" y="2963234"/>
            <a:ext cx="170271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>
                <a:solidFill>
                  <a:schemeClr val="accent2">
                    <a:lumMod val="75000"/>
                  </a:schemeClr>
                </a:solidFill>
                <a:latin typeface="Lato Black" panose="020B0604020202020204" charset="0"/>
                <a:ea typeface="Lato Black" panose="020B0604020202020204" charset="0"/>
                <a:cs typeface="Lato Black" panose="020B0604020202020204" charset="0"/>
              </a:rPr>
              <a:t>A global symbol.</a:t>
            </a:r>
            <a:endParaRPr lang="en-US" sz="1600" dirty="0">
              <a:solidFill>
                <a:schemeClr val="accent2">
                  <a:lumMod val="75000"/>
                </a:schemeClr>
              </a:solidFill>
              <a:latin typeface="Inconsolata" panose="020B0609030003000000" pitchFamily="49" charset="0"/>
              <a:ea typeface="Lato Black" panose="020B0604020202020204" charset="0"/>
              <a:cs typeface="Lato Black" panose="020B0604020202020204" charset="0"/>
            </a:endParaRPr>
          </a:p>
        </p:txBody>
      </p: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5942F3FF-9B05-4F32-BDDC-164BD7F5D653}"/>
              </a:ext>
            </a:extLst>
          </p:cNvPr>
          <p:cNvCxnSpPr>
            <a:cxnSpLocks/>
          </p:cNvCxnSpPr>
          <p:nvPr/>
        </p:nvCxnSpPr>
        <p:spPr>
          <a:xfrm rot="10800000" flipV="1">
            <a:off x="1717883" y="3157120"/>
            <a:ext cx="169566" cy="144668"/>
          </a:xfrm>
          <a:prstGeom prst="straightConnector1">
            <a:avLst/>
          </a:prstGeom>
          <a:ln w="38100">
            <a:solidFill>
              <a:schemeClr val="accent2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TextBox 17">
            <a:extLst>
              <a:ext uri="{FF2B5EF4-FFF2-40B4-BE49-F238E27FC236}">
                <a16:creationId xmlns:a16="http://schemas.microsoft.com/office/drawing/2014/main" id="{37E4C520-B50F-4C0B-9D86-22688C3743AE}"/>
              </a:ext>
            </a:extLst>
          </p:cNvPr>
          <p:cNvSpPr txBox="1"/>
          <p:nvPr/>
        </p:nvSpPr>
        <p:spPr>
          <a:xfrm>
            <a:off x="7149577" y="4393386"/>
            <a:ext cx="176522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>
                <a:solidFill>
                  <a:schemeClr val="accent2">
                    <a:lumMod val="75000"/>
                  </a:schemeClr>
                </a:solidFill>
                <a:latin typeface="Lato Black" panose="020B0604020202020204" charset="0"/>
                <a:ea typeface="Lato Black" panose="020B0604020202020204" charset="0"/>
                <a:cs typeface="Lato Black" panose="020B0604020202020204" charset="0"/>
              </a:rPr>
              <a:t>Referenced here.</a:t>
            </a:r>
            <a:endParaRPr lang="en-US" sz="1600" dirty="0">
              <a:solidFill>
                <a:schemeClr val="accent2">
                  <a:lumMod val="75000"/>
                </a:schemeClr>
              </a:solidFill>
              <a:latin typeface="Inconsolata" panose="020B0609030003000000" pitchFamily="49" charset="0"/>
              <a:ea typeface="Lato Black" panose="020B0604020202020204" charset="0"/>
              <a:cs typeface="Lato Black" panose="020B0604020202020204" charset="0"/>
            </a:endParaRPr>
          </a:p>
        </p:txBody>
      </p: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A7F9FD12-048E-4375-962B-086174FCFE37}"/>
              </a:ext>
            </a:extLst>
          </p:cNvPr>
          <p:cNvCxnSpPr>
            <a:cxnSpLocks/>
          </p:cNvCxnSpPr>
          <p:nvPr/>
        </p:nvCxnSpPr>
        <p:spPr>
          <a:xfrm rot="16200000" flipV="1">
            <a:off x="7030157" y="4377263"/>
            <a:ext cx="169566" cy="144668"/>
          </a:xfrm>
          <a:prstGeom prst="straightConnector1">
            <a:avLst/>
          </a:prstGeom>
          <a:ln w="38100">
            <a:solidFill>
              <a:schemeClr val="accent2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TextBox 19">
            <a:extLst>
              <a:ext uri="{FF2B5EF4-FFF2-40B4-BE49-F238E27FC236}">
                <a16:creationId xmlns:a16="http://schemas.microsoft.com/office/drawing/2014/main" id="{309EA486-A795-4DFD-88D5-482082FFD250}"/>
              </a:ext>
            </a:extLst>
          </p:cNvPr>
          <p:cNvSpPr txBox="1"/>
          <p:nvPr/>
        </p:nvSpPr>
        <p:spPr>
          <a:xfrm>
            <a:off x="6933148" y="3181677"/>
            <a:ext cx="2412840" cy="584775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r>
              <a:rPr lang="en-US" sz="1600" dirty="0">
                <a:solidFill>
                  <a:schemeClr val="accent1">
                    <a:lumMod val="75000"/>
                  </a:schemeClr>
                </a:solidFill>
                <a:latin typeface="Lato Black" panose="020B0604020202020204" charset="0"/>
                <a:ea typeface="Lato Black" panose="020B0604020202020204" charset="0"/>
                <a:cs typeface="Lato Black" panose="020B0604020202020204" charset="0"/>
              </a:rPr>
              <a:t>Linker doesn’t see these</a:t>
            </a:r>
          </a:p>
          <a:p>
            <a:r>
              <a:rPr lang="en-US" sz="1600" dirty="0">
                <a:solidFill>
                  <a:schemeClr val="accent1">
                    <a:lumMod val="75000"/>
                  </a:schemeClr>
                </a:solidFill>
                <a:latin typeface="Lato Black" panose="020B0604020202020204" charset="0"/>
                <a:ea typeface="Lato Black" panose="020B0604020202020204" charset="0"/>
                <a:cs typeface="Lato Black" panose="020B0604020202020204" charset="0"/>
              </a:rPr>
              <a:t>temporary variables.</a:t>
            </a:r>
            <a:endParaRPr lang="en-US" sz="1600" dirty="0">
              <a:solidFill>
                <a:schemeClr val="accent1">
                  <a:lumMod val="75000"/>
                </a:schemeClr>
              </a:solidFill>
              <a:latin typeface="Inconsolata" panose="020B0609030003000000" pitchFamily="49" charset="0"/>
              <a:ea typeface="Lato Black" panose="020B0604020202020204" charset="0"/>
              <a:cs typeface="Lato Black" panose="020B0604020202020204" charset="0"/>
            </a:endParaRPr>
          </a:p>
        </p:txBody>
      </p: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F70DB1FF-0917-4FC5-B303-5173E772531A}"/>
              </a:ext>
            </a:extLst>
          </p:cNvPr>
          <p:cNvCxnSpPr>
            <a:cxnSpLocks/>
          </p:cNvCxnSpPr>
          <p:nvPr/>
        </p:nvCxnSpPr>
        <p:spPr>
          <a:xfrm rot="10800000" flipV="1">
            <a:off x="6800871" y="3375562"/>
            <a:ext cx="169566" cy="144668"/>
          </a:xfrm>
          <a:prstGeom prst="straightConnector1">
            <a:avLst/>
          </a:prstGeom>
          <a:ln w="38100">
            <a:solidFill>
              <a:schemeClr val="accent1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TextBox 21">
            <a:extLst>
              <a:ext uri="{FF2B5EF4-FFF2-40B4-BE49-F238E27FC236}">
                <a16:creationId xmlns:a16="http://schemas.microsoft.com/office/drawing/2014/main" id="{706E3219-9581-45A7-A943-B3EF27B25594}"/>
              </a:ext>
            </a:extLst>
          </p:cNvPr>
          <p:cNvSpPr txBox="1"/>
          <p:nvPr/>
        </p:nvSpPr>
        <p:spPr>
          <a:xfrm>
            <a:off x="5827416" y="2935455"/>
            <a:ext cx="170271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>
                <a:solidFill>
                  <a:schemeClr val="accent6">
                    <a:lumMod val="75000"/>
                  </a:schemeClr>
                </a:solidFill>
                <a:latin typeface="Lato Black" panose="020B0604020202020204" charset="0"/>
                <a:ea typeface="Lato Black" panose="020B0604020202020204" charset="0"/>
                <a:cs typeface="Lato Black" panose="020B0604020202020204" charset="0"/>
              </a:rPr>
              <a:t>A global symbol.</a:t>
            </a:r>
            <a:endParaRPr lang="en-US" sz="1600" dirty="0">
              <a:solidFill>
                <a:schemeClr val="accent6">
                  <a:lumMod val="75000"/>
                </a:schemeClr>
              </a:solidFill>
              <a:latin typeface="Inconsolata" panose="020B0609030003000000" pitchFamily="49" charset="0"/>
              <a:ea typeface="Lato Black" panose="020B0604020202020204" charset="0"/>
              <a:cs typeface="Lato Black" panose="020B0604020202020204" charset="0"/>
            </a:endParaRPr>
          </a:p>
        </p:txBody>
      </p: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B78077E2-31E8-4F42-A8CB-2C5FE983C7ED}"/>
              </a:ext>
            </a:extLst>
          </p:cNvPr>
          <p:cNvCxnSpPr>
            <a:cxnSpLocks/>
          </p:cNvCxnSpPr>
          <p:nvPr/>
        </p:nvCxnSpPr>
        <p:spPr>
          <a:xfrm rot="10800000" flipV="1">
            <a:off x="5695139" y="3129341"/>
            <a:ext cx="169566" cy="144668"/>
          </a:xfrm>
          <a:prstGeom prst="straightConnector1">
            <a:avLst/>
          </a:prstGeom>
          <a:ln w="38100">
            <a:solidFill>
              <a:schemeClr val="accent6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TextBox 23">
            <a:extLst>
              <a:ext uri="{FF2B5EF4-FFF2-40B4-BE49-F238E27FC236}">
                <a16:creationId xmlns:a16="http://schemas.microsoft.com/office/drawing/2014/main" id="{9A2AAE7C-28DC-4769-AC86-802F69E8D204}"/>
              </a:ext>
            </a:extLst>
          </p:cNvPr>
          <p:cNvSpPr txBox="1"/>
          <p:nvPr/>
        </p:nvSpPr>
        <p:spPr>
          <a:xfrm>
            <a:off x="7103731" y="904657"/>
            <a:ext cx="2414444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>
                <a:solidFill>
                  <a:schemeClr val="accent6">
                    <a:lumMod val="75000"/>
                  </a:schemeClr>
                </a:solidFill>
                <a:latin typeface="Lato Black" panose="020B0604020202020204" charset="0"/>
                <a:ea typeface="Lato Black" panose="020B0604020202020204" charset="0"/>
                <a:cs typeface="Lato Black" panose="020B0604020202020204" charset="0"/>
              </a:rPr>
              <a:t>The linker references</a:t>
            </a:r>
          </a:p>
          <a:p>
            <a:r>
              <a:rPr lang="en-US" sz="1600" dirty="0">
                <a:solidFill>
                  <a:schemeClr val="accent6">
                    <a:lumMod val="75000"/>
                  </a:schemeClr>
                </a:solidFill>
                <a:latin typeface="Lato Black" panose="020B0604020202020204" charset="0"/>
                <a:ea typeface="Lato Black" panose="020B0604020202020204" charset="0"/>
                <a:cs typeface="Lato Black" panose="020B0604020202020204" charset="0"/>
              </a:rPr>
              <a:t>“main” when it compiles</a:t>
            </a:r>
          </a:p>
          <a:p>
            <a:r>
              <a:rPr lang="en-US" sz="1600" dirty="0">
                <a:solidFill>
                  <a:schemeClr val="accent6">
                    <a:lumMod val="75000"/>
                  </a:schemeClr>
                </a:solidFill>
                <a:latin typeface="Lato Black" panose="020B0604020202020204" charset="0"/>
                <a:ea typeface="Lato Black" panose="020B0604020202020204" charset="0"/>
                <a:cs typeface="Lato Black" panose="020B0604020202020204" charset="0"/>
              </a:rPr>
              <a:t>the executable.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4C1B7636-273A-432F-B79D-D38E2F9407A7}"/>
              </a:ext>
            </a:extLst>
          </p:cNvPr>
          <p:cNvSpPr txBox="1"/>
          <p:nvPr/>
        </p:nvSpPr>
        <p:spPr>
          <a:xfrm>
            <a:off x="6448013" y="2147802"/>
            <a:ext cx="3066865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>
                <a:solidFill>
                  <a:schemeClr val="accent2">
                    <a:lumMod val="75000"/>
                  </a:schemeClr>
                </a:solidFill>
                <a:latin typeface="Lato Black" panose="020B0604020202020204" charset="0"/>
                <a:ea typeface="Lato Black" panose="020B0604020202020204" charset="0"/>
                <a:cs typeface="Lato Black" panose="020B0604020202020204" charset="0"/>
              </a:rPr>
              <a:t>We need to tell the compiler</a:t>
            </a:r>
          </a:p>
          <a:p>
            <a:r>
              <a:rPr lang="en-US" sz="1600" dirty="0">
                <a:solidFill>
                  <a:schemeClr val="accent2">
                    <a:lumMod val="75000"/>
                  </a:schemeClr>
                </a:solidFill>
                <a:latin typeface="Lato Black" panose="020B0604020202020204" charset="0"/>
                <a:ea typeface="Lato Black" panose="020B0604020202020204" charset="0"/>
                <a:cs typeface="Lato Black" panose="020B0604020202020204" charset="0"/>
              </a:rPr>
              <a:t>that we are linking to a symbol.</a:t>
            </a:r>
            <a:endParaRPr lang="en-US" sz="1600" dirty="0">
              <a:solidFill>
                <a:schemeClr val="accent2">
                  <a:lumMod val="75000"/>
                </a:schemeClr>
              </a:solidFill>
              <a:latin typeface="Inconsolata" panose="020B0609030003000000" pitchFamily="49" charset="0"/>
              <a:ea typeface="Lato Black" panose="020B0604020202020204" charset="0"/>
              <a:cs typeface="Lato Black" panose="020B0604020202020204" charset="0"/>
            </a:endParaRPr>
          </a:p>
        </p:txBody>
      </p:sp>
      <p:cxnSp>
        <p:nvCxnSpPr>
          <p:cNvPr id="26" name="Straight Arrow Connector 25">
            <a:extLst>
              <a:ext uri="{FF2B5EF4-FFF2-40B4-BE49-F238E27FC236}">
                <a16:creationId xmlns:a16="http://schemas.microsoft.com/office/drawing/2014/main" id="{78B24433-50E3-4A8F-B03C-F17E8657F537}"/>
              </a:ext>
            </a:extLst>
          </p:cNvPr>
          <p:cNvCxnSpPr>
            <a:cxnSpLocks/>
          </p:cNvCxnSpPr>
          <p:nvPr/>
        </p:nvCxnSpPr>
        <p:spPr>
          <a:xfrm rot="10800000" flipV="1">
            <a:off x="6313703" y="2482636"/>
            <a:ext cx="169566" cy="144668"/>
          </a:xfrm>
          <a:prstGeom prst="straightConnector1">
            <a:avLst/>
          </a:prstGeom>
          <a:ln w="38100">
            <a:solidFill>
              <a:schemeClr val="accent2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1266192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/>
      <p:bldP spid="14" grpId="0"/>
      <p:bldP spid="16" grpId="0"/>
      <p:bldP spid="18" grpId="0"/>
      <p:bldP spid="20" grpId="0"/>
      <p:bldP spid="22" grpId="0"/>
      <p:bldP spid="24" grpId="0"/>
      <p:bldP spid="25" grpId="0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41A3FC-01D5-4110-A9C8-8AD7976FCC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Summing it up: Playing mad-libs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F26E1D7-2D26-4A5C-B602-8D2D21846C6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50085" y="967740"/>
            <a:ext cx="2790435" cy="4557078"/>
          </a:xfrm>
        </p:spPr>
        <p:txBody>
          <a:bodyPr/>
          <a:lstStyle/>
          <a:p>
            <a:r>
              <a:rPr lang="en-US" dirty="0"/>
              <a:t>The compiler hands off object files with blanks where referenced symbols reside.</a:t>
            </a:r>
          </a:p>
          <a:p>
            <a:endParaRPr lang="en-US" dirty="0"/>
          </a:p>
          <a:p>
            <a:r>
              <a:rPr lang="en-US" dirty="0"/>
              <a:t>The linker’s job is to fill in those blanks with the location of the symbol in the final executable.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064B6C8-84C1-417F-A874-57ED6C325B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AAD609-F83C-4414-814B-B5A2DF99692C}" type="slidenum">
              <a:rPr lang="en-US" smtClean="0"/>
              <a:pPr/>
              <a:t>21</a:t>
            </a:fld>
            <a:endParaRPr lang="en-US" dirty="0"/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9859CA51-ED76-4A38-BBC4-E9FD3FFE78CE}"/>
              </a:ext>
            </a:extLst>
          </p:cNvPr>
          <p:cNvGrpSpPr/>
          <p:nvPr/>
        </p:nvGrpSpPr>
        <p:grpSpPr>
          <a:xfrm>
            <a:off x="775398" y="986116"/>
            <a:ext cx="1501563" cy="1893332"/>
            <a:chOff x="267397" y="1104900"/>
            <a:chExt cx="1501563" cy="1893332"/>
          </a:xfrm>
        </p:grpSpPr>
        <p:sp>
          <p:nvSpPr>
            <p:cNvPr id="8" name="Card 6">
              <a:extLst>
                <a:ext uri="{FF2B5EF4-FFF2-40B4-BE49-F238E27FC236}">
                  <a16:creationId xmlns:a16="http://schemas.microsoft.com/office/drawing/2014/main" id="{37A2E7DC-0176-4A88-971B-15B1B4993B9C}"/>
                </a:ext>
              </a:extLst>
            </p:cNvPr>
            <p:cNvSpPr/>
            <p:nvPr/>
          </p:nvSpPr>
          <p:spPr>
            <a:xfrm>
              <a:off x="304800" y="1104900"/>
              <a:ext cx="1219200" cy="1524000"/>
            </a:xfrm>
            <a:prstGeom prst="flowChartPunchedCard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bIns="274320" rtlCol="0" anchor="ctr"/>
            <a:lstStyle/>
            <a:p>
              <a:pPr algn="ctr" defTabSz="713232">
                <a:defRPr/>
              </a:pPr>
              <a:endParaRPr lang="en-US" sz="700" dirty="0">
                <a:solidFill>
                  <a:srgbClr val="000000"/>
                </a:solidFill>
                <a:latin typeface="Inconsolata" panose="020B0609030003000000" pitchFamily="49" charset="0"/>
                <a:ea typeface="Lato Light" panose="020F0502020204030203" pitchFamily="34" charset="0"/>
                <a:cs typeface="Lato Light" panose="020F0502020204030203" pitchFamily="34" charset="0"/>
              </a:endParaRPr>
            </a:p>
            <a:p>
              <a:pPr algn="ctr" defTabSz="713232">
                <a:defRPr/>
              </a:pPr>
              <a:r>
                <a:rPr lang="en-US" sz="700" dirty="0">
                  <a:solidFill>
                    <a:srgbClr val="000000"/>
                  </a:solidFill>
                  <a:latin typeface="Inconsolata" panose="020B0609030003000000" pitchFamily="49" charset="0"/>
                  <a:ea typeface="Lato Light" panose="020F0502020204030203" pitchFamily="34" charset="0"/>
                  <a:cs typeface="Lato Light" panose="020F0502020204030203" pitchFamily="34" charset="0"/>
                </a:rPr>
                <a:t>/\/\/\/\/\/\/\/\/\/\/\/\/\/\/\/\/\/\/\/\/\/\/\/\/\/\/\/\/\/\/\/\/\/\/\/\/\/\/\/\/\/\/\/\/\/\/\/\/\/\/\/\/\/\/\/\/\/\/\/\/\/\/\/\/\/\/\/\/\/\/\/\/\/\/\/\/\/\/\/\/\/\/\/\/\/\/\/\/\/\/\/\/\/\/\/\/\/\/\/\/\/\/\/\/\/\/\/\/\/\/\/\/\/\/\/\/\/\/\/\/\/\/\/\/\/\/</a:t>
              </a:r>
            </a:p>
          </p:txBody>
        </p:sp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2811F468-685E-4EE2-85D2-A2B58E06BCBC}"/>
                </a:ext>
              </a:extLst>
            </p:cNvPr>
            <p:cNvSpPr txBox="1"/>
            <p:nvPr/>
          </p:nvSpPr>
          <p:spPr>
            <a:xfrm>
              <a:off x="267397" y="2628900"/>
              <a:ext cx="1501563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defTabSz="713232">
                <a:defRPr/>
              </a:pPr>
              <a:r>
                <a:rPr lang="en-US" b="1" dirty="0" err="1">
                  <a:solidFill>
                    <a:srgbClr val="000000"/>
                  </a:solidFill>
                  <a:latin typeface="Lato Black" panose="020F0502020204030203" pitchFamily="34" charset="0"/>
                  <a:ea typeface="Lato Black" panose="020F0502020204030203" pitchFamily="34" charset="0"/>
                  <a:cs typeface="Lato Black" panose="020F0502020204030203" pitchFamily="34" charset="0"/>
                </a:rPr>
                <a:t>fibonacci.c</a:t>
              </a:r>
              <a:endParaRPr lang="en-US" b="1" dirty="0">
                <a:solidFill>
                  <a:srgbClr val="000000"/>
                </a:solidFill>
                <a:latin typeface="Lato Black" panose="020F0502020204030203" pitchFamily="34" charset="0"/>
                <a:ea typeface="Lato Black" panose="020F0502020204030203" pitchFamily="34" charset="0"/>
                <a:cs typeface="Lato Black" panose="020F0502020204030203" pitchFamily="34" charset="0"/>
              </a:endParaRPr>
            </a:p>
          </p:txBody>
        </p:sp>
      </p:grpSp>
      <p:grpSp>
        <p:nvGrpSpPr>
          <p:cNvPr id="10" name="Group 9">
            <a:extLst>
              <a:ext uri="{FF2B5EF4-FFF2-40B4-BE49-F238E27FC236}">
                <a16:creationId xmlns:a16="http://schemas.microsoft.com/office/drawing/2014/main" id="{720E7752-4D66-49EB-B7A4-6B0F06E796BD}"/>
              </a:ext>
            </a:extLst>
          </p:cNvPr>
          <p:cNvGrpSpPr/>
          <p:nvPr/>
        </p:nvGrpSpPr>
        <p:grpSpPr>
          <a:xfrm flipV="1">
            <a:off x="1945431" y="2439089"/>
            <a:ext cx="1063517" cy="1026848"/>
            <a:chOff x="1837928" y="1030692"/>
            <a:chExt cx="1063517" cy="1029620"/>
          </a:xfrm>
        </p:grpSpPr>
        <p:sp>
          <p:nvSpPr>
            <p:cNvPr id="11" name="Bent Arrow 11">
              <a:extLst>
                <a:ext uri="{FF2B5EF4-FFF2-40B4-BE49-F238E27FC236}">
                  <a16:creationId xmlns:a16="http://schemas.microsoft.com/office/drawing/2014/main" id="{6065787A-4E65-4448-9D00-F26831B8A298}"/>
                </a:ext>
              </a:extLst>
            </p:cNvPr>
            <p:cNvSpPr/>
            <p:nvPr/>
          </p:nvSpPr>
          <p:spPr>
            <a:xfrm rot="2902855">
              <a:off x="1771189" y="1097431"/>
              <a:ext cx="1029620" cy="896141"/>
            </a:xfrm>
            <a:prstGeom prst="bentArrow">
              <a:avLst>
                <a:gd name="adj1" fmla="val 25000"/>
                <a:gd name="adj2" fmla="val 25000"/>
                <a:gd name="adj3" fmla="val 25000"/>
                <a:gd name="adj4" fmla="val 87500"/>
              </a:avLst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713232">
                <a:defRPr/>
              </a:pPr>
              <a:endParaRPr lang="en-US" sz="1404" dirty="0">
                <a:solidFill>
                  <a:srgbClr val="000000"/>
                </a:solidFill>
                <a:latin typeface="Segoe UI"/>
              </a:endParaRPr>
            </a:p>
          </p:txBody>
        </p:sp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B307BB27-A1EA-4F23-8851-2879079C9105}"/>
                </a:ext>
              </a:extLst>
            </p:cNvPr>
            <p:cNvSpPr txBox="1"/>
            <p:nvPr/>
          </p:nvSpPr>
          <p:spPr>
            <a:xfrm rot="13362312">
              <a:off x="2202215" y="1412181"/>
              <a:ext cx="699230" cy="27774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defTabSz="713232">
                <a:defRPr/>
              </a:pPr>
              <a:r>
                <a:rPr lang="en-US" sz="1200" dirty="0">
                  <a:solidFill>
                    <a:srgbClr val="FFFFFF"/>
                  </a:solidFill>
                  <a:latin typeface="Lato Light" panose="020F0502020204030203" pitchFamily="34" charset="0"/>
                  <a:ea typeface="Lato Light" panose="020F0502020204030203" pitchFamily="34" charset="0"/>
                  <a:cs typeface="Lato Light" panose="020F0502020204030203" pitchFamily="34" charset="0"/>
                </a:rPr>
                <a:t>compile</a:t>
              </a:r>
              <a:endParaRPr lang="en-US" sz="1100" dirty="0">
                <a:solidFill>
                  <a:srgbClr val="FFFFFF"/>
                </a:solidFill>
                <a:latin typeface="Lato Light" panose="020F0502020204030203" pitchFamily="34" charset="0"/>
                <a:ea typeface="Lato Light" panose="020F0502020204030203" pitchFamily="34" charset="0"/>
                <a:cs typeface="Lato Light" panose="020F0502020204030203" pitchFamily="34" charset="0"/>
              </a:endParaRPr>
            </a:p>
          </p:txBody>
        </p:sp>
      </p:grpSp>
      <p:grpSp>
        <p:nvGrpSpPr>
          <p:cNvPr id="16" name="Group 15">
            <a:extLst>
              <a:ext uri="{FF2B5EF4-FFF2-40B4-BE49-F238E27FC236}">
                <a16:creationId xmlns:a16="http://schemas.microsoft.com/office/drawing/2014/main" id="{6128CE5C-AFDA-495F-AB0E-EDA5B21D3BCE}"/>
              </a:ext>
            </a:extLst>
          </p:cNvPr>
          <p:cNvGrpSpPr/>
          <p:nvPr/>
        </p:nvGrpSpPr>
        <p:grpSpPr>
          <a:xfrm>
            <a:off x="812800" y="3380926"/>
            <a:ext cx="1219200" cy="1893332"/>
            <a:chOff x="304800" y="1104900"/>
            <a:chExt cx="1219200" cy="1893332"/>
          </a:xfrm>
        </p:grpSpPr>
        <p:sp>
          <p:nvSpPr>
            <p:cNvPr id="17" name="Card 6">
              <a:extLst>
                <a:ext uri="{FF2B5EF4-FFF2-40B4-BE49-F238E27FC236}">
                  <a16:creationId xmlns:a16="http://schemas.microsoft.com/office/drawing/2014/main" id="{E8FFC00A-CC61-4E13-85A6-63C06E8E111F}"/>
                </a:ext>
              </a:extLst>
            </p:cNvPr>
            <p:cNvSpPr/>
            <p:nvPr/>
          </p:nvSpPr>
          <p:spPr>
            <a:xfrm>
              <a:off x="304800" y="1104900"/>
              <a:ext cx="1219200" cy="1524000"/>
            </a:xfrm>
            <a:prstGeom prst="flowChartPunchedCard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bIns="274320" rtlCol="0" anchor="ctr"/>
            <a:lstStyle/>
            <a:p>
              <a:pPr algn="ctr" defTabSz="713232">
                <a:defRPr/>
              </a:pPr>
              <a:endParaRPr lang="en-US" sz="700" dirty="0">
                <a:solidFill>
                  <a:srgbClr val="000000"/>
                </a:solidFill>
                <a:latin typeface="Inconsolata" panose="020B0609030003000000" pitchFamily="49" charset="0"/>
                <a:ea typeface="Lato Light" panose="020F0502020204030203" pitchFamily="34" charset="0"/>
                <a:cs typeface="Lato Light" panose="020F0502020204030203" pitchFamily="34" charset="0"/>
              </a:endParaRPr>
            </a:p>
            <a:p>
              <a:pPr algn="ctr" defTabSz="713232">
                <a:defRPr/>
              </a:pPr>
              <a:r>
                <a:rPr lang="en-US" sz="700" dirty="0">
                  <a:solidFill>
                    <a:srgbClr val="000000"/>
                  </a:solidFill>
                  <a:latin typeface="Inconsolata" panose="020B0609030003000000" pitchFamily="49" charset="0"/>
                  <a:ea typeface="Lato Light" panose="020F0502020204030203" pitchFamily="34" charset="0"/>
                  <a:cs typeface="Lato Light" panose="020F0502020204030203" pitchFamily="34" charset="0"/>
                </a:rPr>
                <a:t>/\/\/\/\/\/\/\/\/\/\/\/\/\/\/\/\/\/\/\/\/\/\/\/\/\/\/\/\/\/\/\/\/\/\/\/\/\/\/\/\/\/\/\/\/\/\/\/\/\/\/\/\/\/\/\/\/\/\/\/\/\/\/\/\/\/\/\/\/\/\/\/\/\/\/\/\/\/\/\/\/\/\/\/\/\/\/\/\/\/\/\/\/\/\/\/\/\/\/\/\/\/\/\/\/\/\/\/\/\/\/\/\/\/\/\/\/\/\/\/\/\/\/\/\/\/\/</a:t>
              </a:r>
            </a:p>
          </p:txBody>
        </p:sp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C8A89505-FCF1-4B47-B22F-6657B03B55C3}"/>
                </a:ext>
              </a:extLst>
            </p:cNvPr>
            <p:cNvSpPr txBox="1"/>
            <p:nvPr/>
          </p:nvSpPr>
          <p:spPr>
            <a:xfrm>
              <a:off x="449247" y="2628900"/>
              <a:ext cx="966295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defTabSz="713232">
                <a:defRPr/>
              </a:pPr>
              <a:r>
                <a:rPr lang="en-US" b="1" dirty="0" err="1">
                  <a:solidFill>
                    <a:srgbClr val="000000"/>
                  </a:solidFill>
                  <a:latin typeface="Lato Black" panose="020F0502020204030203" pitchFamily="34" charset="0"/>
                  <a:ea typeface="Lato Black" panose="020F0502020204030203" pitchFamily="34" charset="0"/>
                  <a:cs typeface="Lato Black" panose="020F0502020204030203" pitchFamily="34" charset="0"/>
                </a:rPr>
                <a:t>main.c</a:t>
              </a:r>
              <a:endParaRPr lang="en-US" b="1" dirty="0">
                <a:solidFill>
                  <a:srgbClr val="000000"/>
                </a:solidFill>
                <a:latin typeface="Lato Black" panose="020F0502020204030203" pitchFamily="34" charset="0"/>
                <a:ea typeface="Lato Black" panose="020F0502020204030203" pitchFamily="34" charset="0"/>
                <a:cs typeface="Lato Black" panose="020F0502020204030203" pitchFamily="34" charset="0"/>
              </a:endParaRPr>
            </a:p>
          </p:txBody>
        </p:sp>
      </p:grpSp>
      <p:grpSp>
        <p:nvGrpSpPr>
          <p:cNvPr id="19" name="Group 18">
            <a:extLst>
              <a:ext uri="{FF2B5EF4-FFF2-40B4-BE49-F238E27FC236}">
                <a16:creationId xmlns:a16="http://schemas.microsoft.com/office/drawing/2014/main" id="{7EDD6E89-82A3-4783-88C4-07E35D1E15E9}"/>
              </a:ext>
            </a:extLst>
          </p:cNvPr>
          <p:cNvGrpSpPr/>
          <p:nvPr/>
        </p:nvGrpSpPr>
        <p:grpSpPr>
          <a:xfrm flipV="1">
            <a:off x="1918535" y="4833899"/>
            <a:ext cx="1063517" cy="1026848"/>
            <a:chOff x="1837928" y="1030692"/>
            <a:chExt cx="1063517" cy="1029620"/>
          </a:xfrm>
        </p:grpSpPr>
        <p:sp>
          <p:nvSpPr>
            <p:cNvPr id="20" name="Bent Arrow 11">
              <a:extLst>
                <a:ext uri="{FF2B5EF4-FFF2-40B4-BE49-F238E27FC236}">
                  <a16:creationId xmlns:a16="http://schemas.microsoft.com/office/drawing/2014/main" id="{E1C59B7B-44DB-4952-AC7E-33491A94F57A}"/>
                </a:ext>
              </a:extLst>
            </p:cNvPr>
            <p:cNvSpPr/>
            <p:nvPr/>
          </p:nvSpPr>
          <p:spPr>
            <a:xfrm rot="2902855">
              <a:off x="1771189" y="1097431"/>
              <a:ext cx="1029620" cy="896141"/>
            </a:xfrm>
            <a:prstGeom prst="bentArrow">
              <a:avLst>
                <a:gd name="adj1" fmla="val 25000"/>
                <a:gd name="adj2" fmla="val 25000"/>
                <a:gd name="adj3" fmla="val 25000"/>
                <a:gd name="adj4" fmla="val 87500"/>
              </a:avLst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713232">
                <a:defRPr/>
              </a:pPr>
              <a:endParaRPr lang="en-US" sz="1404" dirty="0">
                <a:solidFill>
                  <a:srgbClr val="000000"/>
                </a:solidFill>
                <a:latin typeface="Segoe UI"/>
              </a:endParaRPr>
            </a:p>
          </p:txBody>
        </p:sp>
        <p:sp>
          <p:nvSpPr>
            <p:cNvPr id="21" name="TextBox 20">
              <a:extLst>
                <a:ext uri="{FF2B5EF4-FFF2-40B4-BE49-F238E27FC236}">
                  <a16:creationId xmlns:a16="http://schemas.microsoft.com/office/drawing/2014/main" id="{2DAE92D5-C598-470B-BA4B-5EFF0E4B1F36}"/>
                </a:ext>
              </a:extLst>
            </p:cNvPr>
            <p:cNvSpPr txBox="1"/>
            <p:nvPr/>
          </p:nvSpPr>
          <p:spPr>
            <a:xfrm rot="13362312">
              <a:off x="2202215" y="1412181"/>
              <a:ext cx="699230" cy="27774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defTabSz="713232">
                <a:defRPr/>
              </a:pPr>
              <a:r>
                <a:rPr lang="en-US" sz="1200" dirty="0">
                  <a:solidFill>
                    <a:srgbClr val="FFFFFF"/>
                  </a:solidFill>
                  <a:latin typeface="Lato Light" panose="020F0502020204030203" pitchFamily="34" charset="0"/>
                  <a:ea typeface="Lato Light" panose="020F0502020204030203" pitchFamily="34" charset="0"/>
                  <a:cs typeface="Lato Light" panose="020F0502020204030203" pitchFamily="34" charset="0"/>
                </a:rPr>
                <a:t>compile</a:t>
              </a:r>
              <a:endParaRPr lang="en-US" sz="1100" dirty="0">
                <a:solidFill>
                  <a:srgbClr val="FFFFFF"/>
                </a:solidFill>
                <a:latin typeface="Lato Light" panose="020F0502020204030203" pitchFamily="34" charset="0"/>
                <a:ea typeface="Lato Light" panose="020F0502020204030203" pitchFamily="34" charset="0"/>
                <a:cs typeface="Lato Light" panose="020F0502020204030203" pitchFamily="34" charset="0"/>
              </a:endParaRPr>
            </a:p>
          </p:txBody>
        </p:sp>
      </p:grpSp>
      <p:sp>
        <p:nvSpPr>
          <p:cNvPr id="22" name="Card 6">
            <a:extLst>
              <a:ext uri="{FF2B5EF4-FFF2-40B4-BE49-F238E27FC236}">
                <a16:creationId xmlns:a16="http://schemas.microsoft.com/office/drawing/2014/main" id="{BBBF358F-0637-4379-86C0-2D27F1FC1BAB}"/>
              </a:ext>
            </a:extLst>
          </p:cNvPr>
          <p:cNvSpPr/>
          <p:nvPr/>
        </p:nvSpPr>
        <p:spPr>
          <a:xfrm>
            <a:off x="2900829" y="3380926"/>
            <a:ext cx="1219200" cy="1524000"/>
          </a:xfrm>
          <a:prstGeom prst="flowChartPunchedCard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bIns="274320" rtlCol="0" anchor="ctr"/>
          <a:lstStyle/>
          <a:p>
            <a:pPr algn="ctr" defTabSz="713232">
              <a:defRPr/>
            </a:pPr>
            <a:endParaRPr lang="en-US" sz="700" dirty="0">
              <a:solidFill>
                <a:srgbClr val="000000"/>
              </a:solidFill>
              <a:latin typeface="Inconsolata" panose="020B0609030003000000" pitchFamily="49" charset="0"/>
              <a:ea typeface="Lato Light" panose="020F0502020204030203" pitchFamily="34" charset="0"/>
              <a:cs typeface="Lato Light" panose="020F0502020204030203" pitchFamily="34" charset="0"/>
            </a:endParaRPr>
          </a:p>
          <a:p>
            <a:pPr algn="ctr" defTabSz="713232">
              <a:defRPr/>
            </a:pPr>
            <a:r>
              <a:rPr lang="en-US" sz="700" dirty="0">
                <a:solidFill>
                  <a:srgbClr val="000000"/>
                </a:solidFill>
                <a:latin typeface="Inconsolata" panose="020B0609030003000000" pitchFamily="49" charset="0"/>
                <a:ea typeface="Lato Light" panose="020F0502020204030203" pitchFamily="34" charset="0"/>
                <a:cs typeface="Lato Light" panose="020F0502020204030203" pitchFamily="34" charset="0"/>
              </a:rPr>
              <a:t>10010101000101010010101001010001010101110101010100111010011101001000101011101010010101010100010100100101001010010100100100101001010110101001010101110101011111101001010100101010001010010101001001010010110101001011001010100101010010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1CD16CBA-9DE1-4739-A5FF-BD6A1A51AC0E}"/>
              </a:ext>
            </a:extLst>
          </p:cNvPr>
          <p:cNvSpPr txBox="1"/>
          <p:nvPr/>
        </p:nvSpPr>
        <p:spPr>
          <a:xfrm>
            <a:off x="3053786" y="4904926"/>
            <a:ext cx="102729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713232">
              <a:defRPr/>
            </a:pPr>
            <a:r>
              <a:rPr lang="en-US" b="1" dirty="0" err="1">
                <a:solidFill>
                  <a:srgbClr val="000000"/>
                </a:solidFill>
                <a:latin typeface="Lato Black" panose="020F0502020204030203" pitchFamily="34" charset="0"/>
                <a:ea typeface="Lato Black" panose="020F0502020204030203" pitchFamily="34" charset="0"/>
                <a:cs typeface="Lato Black" panose="020F0502020204030203" pitchFamily="34" charset="0"/>
              </a:rPr>
              <a:t>main.o</a:t>
            </a:r>
            <a:endParaRPr lang="en-US" b="1" dirty="0">
              <a:solidFill>
                <a:srgbClr val="000000"/>
              </a:solidFill>
              <a:latin typeface="Lato Black" panose="020F0502020204030203" pitchFamily="34" charset="0"/>
              <a:ea typeface="Lato Black" panose="020F0502020204030203" pitchFamily="34" charset="0"/>
              <a:cs typeface="Lato Black" panose="020F0502020204030203" pitchFamily="34" charset="0"/>
            </a:endParaRPr>
          </a:p>
        </p:txBody>
      </p:sp>
      <p:grpSp>
        <p:nvGrpSpPr>
          <p:cNvPr id="30" name="Group 29">
            <a:extLst>
              <a:ext uri="{FF2B5EF4-FFF2-40B4-BE49-F238E27FC236}">
                <a16:creationId xmlns:a16="http://schemas.microsoft.com/office/drawing/2014/main" id="{56A6EA39-7BCF-4EB7-84EF-F38D64E90EE9}"/>
              </a:ext>
            </a:extLst>
          </p:cNvPr>
          <p:cNvGrpSpPr/>
          <p:nvPr/>
        </p:nvGrpSpPr>
        <p:grpSpPr>
          <a:xfrm>
            <a:off x="4967836" y="986116"/>
            <a:ext cx="1398297" cy="1893332"/>
            <a:chOff x="304800" y="1104900"/>
            <a:chExt cx="1398297" cy="1893332"/>
          </a:xfrm>
        </p:grpSpPr>
        <p:sp>
          <p:nvSpPr>
            <p:cNvPr id="31" name="Card 6">
              <a:extLst>
                <a:ext uri="{FF2B5EF4-FFF2-40B4-BE49-F238E27FC236}">
                  <a16:creationId xmlns:a16="http://schemas.microsoft.com/office/drawing/2014/main" id="{271216CE-009F-4AC8-B19D-A4E089F9946E}"/>
                </a:ext>
              </a:extLst>
            </p:cNvPr>
            <p:cNvSpPr/>
            <p:nvPr/>
          </p:nvSpPr>
          <p:spPr>
            <a:xfrm>
              <a:off x="304800" y="1104900"/>
              <a:ext cx="1219200" cy="1524000"/>
            </a:xfrm>
            <a:prstGeom prst="flowChartPunchedCard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bIns="274320" rtlCol="0" anchor="ctr"/>
            <a:lstStyle/>
            <a:p>
              <a:pPr algn="ctr" defTabSz="713232">
                <a:defRPr/>
              </a:pPr>
              <a:endParaRPr lang="en-US" sz="700" dirty="0">
                <a:solidFill>
                  <a:srgbClr val="000000"/>
                </a:solidFill>
                <a:latin typeface="Inconsolata" panose="020B0609030003000000" pitchFamily="49" charset="0"/>
                <a:ea typeface="Lato Light" panose="020F0502020204030203" pitchFamily="34" charset="0"/>
                <a:cs typeface="Lato Light" panose="020F0502020204030203" pitchFamily="34" charset="0"/>
              </a:endParaRPr>
            </a:p>
            <a:p>
              <a:pPr algn="ctr" defTabSz="713232">
                <a:defRPr/>
              </a:pPr>
              <a:r>
                <a:rPr lang="en-US" sz="700" dirty="0">
                  <a:solidFill>
                    <a:srgbClr val="000000"/>
                  </a:solidFill>
                  <a:latin typeface="Inconsolata" panose="020B0609030003000000" pitchFamily="49" charset="0"/>
                  <a:ea typeface="Lato Light" panose="020F0502020204030203" pitchFamily="34" charset="0"/>
                  <a:cs typeface="Lato Light" panose="020F0502020204030203" pitchFamily="34" charset="0"/>
                </a:rPr>
                <a:t>11101001010100101010001010010101001001010010110101001011001010100101010010100101010001010100101010010100010101011101010101001110100111010010001010111010100101010101000101001001010010100101001001001010010101101010010101011101010111</a:t>
              </a:r>
            </a:p>
          </p:txBody>
        </p:sp>
        <p:sp>
          <p:nvSpPr>
            <p:cNvPr id="32" name="TextBox 31">
              <a:extLst>
                <a:ext uri="{FF2B5EF4-FFF2-40B4-BE49-F238E27FC236}">
                  <a16:creationId xmlns:a16="http://schemas.microsoft.com/office/drawing/2014/main" id="{11CC84A3-5690-4CB2-990F-F1229BB85F3D}"/>
                </a:ext>
              </a:extLst>
            </p:cNvPr>
            <p:cNvSpPr txBox="1"/>
            <p:nvPr/>
          </p:nvSpPr>
          <p:spPr>
            <a:xfrm>
              <a:off x="416965" y="2628900"/>
              <a:ext cx="1286132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defTabSz="713232">
                <a:defRPr/>
              </a:pPr>
              <a:r>
                <a:rPr lang="en-US" b="1" dirty="0" err="1">
                  <a:solidFill>
                    <a:srgbClr val="000000"/>
                  </a:solidFill>
                  <a:latin typeface="Lato Black" panose="020F0502020204030203" pitchFamily="34" charset="0"/>
                  <a:ea typeface="Lato Black" panose="020F0502020204030203" pitchFamily="34" charset="0"/>
                  <a:cs typeface="Lato Black" panose="020F0502020204030203" pitchFamily="34" charset="0"/>
                </a:rPr>
                <a:t>fibonacci</a:t>
              </a:r>
              <a:endParaRPr lang="en-US" b="1" dirty="0">
                <a:solidFill>
                  <a:srgbClr val="000000"/>
                </a:solidFill>
                <a:latin typeface="Lato Black" panose="020F0502020204030203" pitchFamily="34" charset="0"/>
                <a:ea typeface="Lato Black" panose="020F0502020204030203" pitchFamily="34" charset="0"/>
                <a:cs typeface="Lato Black" panose="020F0502020204030203" pitchFamily="34" charset="0"/>
              </a:endParaRPr>
            </a:p>
          </p:txBody>
        </p:sp>
      </p:grpSp>
      <p:sp>
        <p:nvSpPr>
          <p:cNvPr id="34" name="TextBox 33">
            <a:extLst>
              <a:ext uri="{FF2B5EF4-FFF2-40B4-BE49-F238E27FC236}">
                <a16:creationId xmlns:a16="http://schemas.microsoft.com/office/drawing/2014/main" id="{E6F4AAEC-4335-4EB2-8B76-199DA63B8815}"/>
              </a:ext>
            </a:extLst>
          </p:cNvPr>
          <p:cNvSpPr txBox="1"/>
          <p:nvPr/>
        </p:nvSpPr>
        <p:spPr>
          <a:xfrm>
            <a:off x="4218716" y="3599947"/>
            <a:ext cx="2121409" cy="33855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sz="1600" dirty="0">
                <a:solidFill>
                  <a:schemeClr val="accent1">
                    <a:lumMod val="75000"/>
                  </a:schemeClr>
                </a:solidFill>
                <a:latin typeface="Inconsolata" panose="020B0609030003000000" pitchFamily="49" charset="0"/>
              </a:rPr>
              <a:t>int </a:t>
            </a:r>
            <a:r>
              <a:rPr lang="en-US" sz="1600" dirty="0" err="1">
                <a:latin typeface="Inconsolata" panose="020B0609030003000000" pitchFamily="49" charset="0"/>
              </a:rPr>
              <a:t>fibonacci</a:t>
            </a:r>
            <a:r>
              <a:rPr lang="en-US" sz="1600" dirty="0">
                <a:latin typeface="Inconsolata" panose="020B0609030003000000" pitchFamily="49" charset="0"/>
              </a:rPr>
              <a:t>(</a:t>
            </a:r>
            <a:r>
              <a:rPr lang="en-US" sz="1600" dirty="0">
                <a:solidFill>
                  <a:schemeClr val="accent1">
                    <a:lumMod val="75000"/>
                  </a:schemeClr>
                </a:solidFill>
                <a:latin typeface="Inconsolata" panose="020B0609030003000000" pitchFamily="49" charset="0"/>
              </a:rPr>
              <a:t>int</a:t>
            </a:r>
            <a:r>
              <a:rPr lang="en-US" sz="1600" dirty="0">
                <a:latin typeface="Inconsolata" panose="020B0609030003000000" pitchFamily="49" charset="0"/>
              </a:rPr>
              <a:t>);</a:t>
            </a:r>
            <a:endParaRPr lang="en-US" sz="1600" dirty="0"/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1466D1D8-AE5E-4B06-AD2F-A58BEB331B6E}"/>
              </a:ext>
            </a:extLst>
          </p:cNvPr>
          <p:cNvSpPr txBox="1"/>
          <p:nvPr/>
        </p:nvSpPr>
        <p:spPr>
          <a:xfrm>
            <a:off x="4218716" y="3904924"/>
            <a:ext cx="2121409" cy="338554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600" dirty="0"/>
              <a:t>???</a:t>
            </a:r>
          </a:p>
        </p:txBody>
      </p:sp>
      <p:sp>
        <p:nvSpPr>
          <p:cNvPr id="36" name="Freeform: Shape 35">
            <a:extLst>
              <a:ext uri="{FF2B5EF4-FFF2-40B4-BE49-F238E27FC236}">
                <a16:creationId xmlns:a16="http://schemas.microsoft.com/office/drawing/2014/main" id="{800C1376-8B5E-4439-8BE7-13BAC52D37FB}"/>
              </a:ext>
            </a:extLst>
          </p:cNvPr>
          <p:cNvSpPr/>
          <p:nvPr/>
        </p:nvSpPr>
        <p:spPr>
          <a:xfrm>
            <a:off x="4094044" y="1748117"/>
            <a:ext cx="1446328" cy="1850745"/>
          </a:xfrm>
          <a:custGeom>
            <a:avLst/>
            <a:gdLst>
              <a:gd name="connsiteX0" fmla="*/ 0 w 1446328"/>
              <a:gd name="connsiteY0" fmla="*/ 0 h 1850745"/>
              <a:gd name="connsiteX1" fmla="*/ 453542 w 1446328"/>
              <a:gd name="connsiteY1" fmla="*/ 833932 h 1850745"/>
              <a:gd name="connsiteX2" fmla="*/ 1367942 w 1446328"/>
              <a:gd name="connsiteY2" fmla="*/ 1382572 h 1850745"/>
              <a:gd name="connsiteX3" fmla="*/ 1397203 w 1446328"/>
              <a:gd name="connsiteY3" fmla="*/ 1850745 h 185074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446328" h="1850745">
                <a:moveTo>
                  <a:pt x="0" y="0"/>
                </a:moveTo>
                <a:cubicBezTo>
                  <a:pt x="112776" y="301751"/>
                  <a:pt x="225552" y="603503"/>
                  <a:pt x="453542" y="833932"/>
                </a:cubicBezTo>
                <a:cubicBezTo>
                  <a:pt x="681532" y="1064361"/>
                  <a:pt x="1210665" y="1213103"/>
                  <a:pt x="1367942" y="1382572"/>
                </a:cubicBezTo>
                <a:cubicBezTo>
                  <a:pt x="1525219" y="1552041"/>
                  <a:pt x="1397203" y="1850745"/>
                  <a:pt x="1397203" y="1850745"/>
                </a:cubicBezTo>
              </a:path>
            </a:pathLst>
          </a:custGeom>
          <a:noFill/>
          <a:ln w="57150">
            <a:solidFill>
              <a:srgbClr val="7030A0"/>
            </a:solidFill>
            <a:headEnd type="none" w="med" len="med"/>
            <a:tailEnd type="triangl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7030A0"/>
              </a:solidFill>
            </a:endParaRPr>
          </a:p>
        </p:txBody>
      </p:sp>
      <p:grpSp>
        <p:nvGrpSpPr>
          <p:cNvPr id="26" name="Group 25">
            <a:extLst>
              <a:ext uri="{FF2B5EF4-FFF2-40B4-BE49-F238E27FC236}">
                <a16:creationId xmlns:a16="http://schemas.microsoft.com/office/drawing/2014/main" id="{943F3B8E-7A6E-4CC0-AC79-E18834C2E0C7}"/>
              </a:ext>
            </a:extLst>
          </p:cNvPr>
          <p:cNvGrpSpPr/>
          <p:nvPr/>
        </p:nvGrpSpPr>
        <p:grpSpPr>
          <a:xfrm flipV="1">
            <a:off x="4120860" y="2387185"/>
            <a:ext cx="925971" cy="1026849"/>
            <a:chOff x="1837928" y="1030692"/>
            <a:chExt cx="925971" cy="1029620"/>
          </a:xfrm>
        </p:grpSpPr>
        <p:sp>
          <p:nvSpPr>
            <p:cNvPr id="27" name="Bent Arrow 11">
              <a:extLst>
                <a:ext uri="{FF2B5EF4-FFF2-40B4-BE49-F238E27FC236}">
                  <a16:creationId xmlns:a16="http://schemas.microsoft.com/office/drawing/2014/main" id="{D7D4E596-7652-4703-9BBB-A6DFD6A88CBA}"/>
                </a:ext>
              </a:extLst>
            </p:cNvPr>
            <p:cNvSpPr/>
            <p:nvPr/>
          </p:nvSpPr>
          <p:spPr>
            <a:xfrm rot="2902855">
              <a:off x="1771189" y="1097431"/>
              <a:ext cx="1029620" cy="896141"/>
            </a:xfrm>
            <a:prstGeom prst="bentArrow">
              <a:avLst>
                <a:gd name="adj1" fmla="val 25000"/>
                <a:gd name="adj2" fmla="val 25000"/>
                <a:gd name="adj3" fmla="val 25000"/>
                <a:gd name="adj4" fmla="val 87500"/>
              </a:avLst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713232">
                <a:defRPr/>
              </a:pPr>
              <a:endParaRPr lang="en-US" sz="1404" dirty="0">
                <a:solidFill>
                  <a:srgbClr val="000000"/>
                </a:solidFill>
                <a:latin typeface="Segoe UI"/>
              </a:endParaRPr>
            </a:p>
          </p:txBody>
        </p:sp>
        <p:sp>
          <p:nvSpPr>
            <p:cNvPr id="28" name="TextBox 27">
              <a:extLst>
                <a:ext uri="{FF2B5EF4-FFF2-40B4-BE49-F238E27FC236}">
                  <a16:creationId xmlns:a16="http://schemas.microsoft.com/office/drawing/2014/main" id="{0F390883-E1D4-4B2B-ABD9-457CFC257558}"/>
                </a:ext>
              </a:extLst>
            </p:cNvPr>
            <p:cNvSpPr txBox="1"/>
            <p:nvPr/>
          </p:nvSpPr>
          <p:spPr>
            <a:xfrm rot="13362312">
              <a:off x="2353209" y="1405439"/>
              <a:ext cx="410690" cy="27774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defTabSz="713232">
                <a:defRPr/>
              </a:pPr>
              <a:r>
                <a:rPr lang="en-US" sz="1200" dirty="0">
                  <a:solidFill>
                    <a:srgbClr val="FFFFFF"/>
                  </a:solidFill>
                  <a:latin typeface="Lato Light" panose="020F0502020204030203" pitchFamily="34" charset="0"/>
                  <a:ea typeface="Lato Light" panose="020F0502020204030203" pitchFamily="34" charset="0"/>
                  <a:cs typeface="Lato Light" panose="020F0502020204030203" pitchFamily="34" charset="0"/>
                </a:rPr>
                <a:t>link</a:t>
              </a:r>
              <a:endParaRPr lang="en-US" sz="1100" dirty="0">
                <a:solidFill>
                  <a:srgbClr val="FFFFFF"/>
                </a:solidFill>
                <a:latin typeface="Lato Light" panose="020F0502020204030203" pitchFamily="34" charset="0"/>
                <a:ea typeface="Lato Light" panose="020F0502020204030203" pitchFamily="34" charset="0"/>
                <a:cs typeface="Lato Light" panose="020F0502020204030203" pitchFamily="34" charset="0"/>
              </a:endParaRPr>
            </a:p>
          </p:txBody>
        </p:sp>
      </p:grpSp>
      <p:sp>
        <p:nvSpPr>
          <p:cNvPr id="29" name="Rectangle 28">
            <a:extLst>
              <a:ext uri="{FF2B5EF4-FFF2-40B4-BE49-F238E27FC236}">
                <a16:creationId xmlns:a16="http://schemas.microsoft.com/office/drawing/2014/main" id="{9350E85C-A4C1-4FEF-A385-CC689E3F9265}"/>
              </a:ext>
            </a:extLst>
          </p:cNvPr>
          <p:cNvSpPr/>
          <p:nvPr/>
        </p:nvSpPr>
        <p:spPr>
          <a:xfrm rot="19097237">
            <a:off x="4193098" y="3089854"/>
            <a:ext cx="660538" cy="215153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3" name="Group 12">
            <a:extLst>
              <a:ext uri="{FF2B5EF4-FFF2-40B4-BE49-F238E27FC236}">
                <a16:creationId xmlns:a16="http://schemas.microsoft.com/office/drawing/2014/main" id="{B1ECBD1D-6E4A-48A6-9F27-22286AEC38F6}"/>
              </a:ext>
            </a:extLst>
          </p:cNvPr>
          <p:cNvGrpSpPr/>
          <p:nvPr/>
        </p:nvGrpSpPr>
        <p:grpSpPr>
          <a:xfrm>
            <a:off x="2863296" y="986116"/>
            <a:ext cx="1524137" cy="1893332"/>
            <a:chOff x="267266" y="1104900"/>
            <a:chExt cx="1524137" cy="1893332"/>
          </a:xfrm>
        </p:grpSpPr>
        <p:sp>
          <p:nvSpPr>
            <p:cNvPr id="14" name="Card 6">
              <a:extLst>
                <a:ext uri="{FF2B5EF4-FFF2-40B4-BE49-F238E27FC236}">
                  <a16:creationId xmlns:a16="http://schemas.microsoft.com/office/drawing/2014/main" id="{B6C60E61-631A-4441-A53B-76B8BBE9E9BE}"/>
                </a:ext>
              </a:extLst>
            </p:cNvPr>
            <p:cNvSpPr/>
            <p:nvPr/>
          </p:nvSpPr>
          <p:spPr>
            <a:xfrm>
              <a:off x="304800" y="1104900"/>
              <a:ext cx="1219200" cy="1524000"/>
            </a:xfrm>
            <a:prstGeom prst="flowChartPunchedCard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bIns="274320" rtlCol="0" anchor="ctr"/>
            <a:lstStyle/>
            <a:p>
              <a:pPr algn="ctr" defTabSz="713232">
                <a:defRPr/>
              </a:pPr>
              <a:endParaRPr lang="en-US" sz="700" dirty="0">
                <a:solidFill>
                  <a:srgbClr val="000000"/>
                </a:solidFill>
                <a:latin typeface="Inconsolata" panose="020B0609030003000000" pitchFamily="49" charset="0"/>
                <a:ea typeface="Lato Light" panose="020F0502020204030203" pitchFamily="34" charset="0"/>
                <a:cs typeface="Lato Light" panose="020F0502020204030203" pitchFamily="34" charset="0"/>
              </a:endParaRPr>
            </a:p>
            <a:p>
              <a:pPr algn="ctr" defTabSz="713232">
                <a:defRPr/>
              </a:pPr>
              <a:r>
                <a:rPr lang="en-US" sz="700" dirty="0">
                  <a:solidFill>
                    <a:srgbClr val="000000"/>
                  </a:solidFill>
                  <a:latin typeface="Inconsolata" panose="020B0609030003000000" pitchFamily="49" charset="0"/>
                  <a:ea typeface="Lato Light" panose="020F0502020204030203" pitchFamily="34" charset="0"/>
                  <a:cs typeface="Lato Light" panose="020F0502020204030203" pitchFamily="34" charset="0"/>
                </a:rPr>
                <a:t>01010101010001010010010100101001010010010010100101011010100101010111010101111110100101010010101000101001010100100101001011010100101100101010010101001010010101000101010010101001010001010101110101010100111010011101001000101011101010</a:t>
              </a:r>
            </a:p>
          </p:txBody>
        </p:sp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76CB390D-5BF1-41FB-A320-2A67E1E67477}"/>
                </a:ext>
              </a:extLst>
            </p:cNvPr>
            <p:cNvSpPr txBox="1"/>
            <p:nvPr/>
          </p:nvSpPr>
          <p:spPr>
            <a:xfrm>
              <a:off x="267266" y="2628900"/>
              <a:ext cx="1524137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defTabSz="713232">
                <a:defRPr/>
              </a:pPr>
              <a:r>
                <a:rPr lang="en-US" b="1" dirty="0" err="1">
                  <a:solidFill>
                    <a:srgbClr val="000000"/>
                  </a:solidFill>
                  <a:latin typeface="Lato Black" panose="020F0502020204030203" pitchFamily="34" charset="0"/>
                  <a:ea typeface="Lato Black" panose="020F0502020204030203" pitchFamily="34" charset="0"/>
                  <a:cs typeface="Lato Black" panose="020F0502020204030203" pitchFamily="34" charset="0"/>
                </a:rPr>
                <a:t>fibonacci.o</a:t>
              </a:r>
              <a:endParaRPr lang="en-US" b="1" dirty="0">
                <a:solidFill>
                  <a:srgbClr val="000000"/>
                </a:solidFill>
                <a:latin typeface="Lato Black" panose="020F0502020204030203" pitchFamily="34" charset="0"/>
                <a:ea typeface="Lato Black" panose="020F0502020204030203" pitchFamily="34" charset="0"/>
                <a:cs typeface="Lato Black" panose="020F0502020204030203" pitchFamily="34" charset="0"/>
              </a:endParaRPr>
            </a:p>
          </p:txBody>
        </p:sp>
      </p:grpSp>
      <p:sp>
        <p:nvSpPr>
          <p:cNvPr id="37" name="TextBox 36">
            <a:extLst>
              <a:ext uri="{FF2B5EF4-FFF2-40B4-BE49-F238E27FC236}">
                <a16:creationId xmlns:a16="http://schemas.microsoft.com/office/drawing/2014/main" id="{5E23CC13-C5F3-4313-8E5E-D8F0D48F8382}"/>
              </a:ext>
            </a:extLst>
          </p:cNvPr>
          <p:cNvSpPr txBox="1"/>
          <p:nvPr/>
        </p:nvSpPr>
        <p:spPr>
          <a:xfrm>
            <a:off x="4218715" y="3904924"/>
            <a:ext cx="2121409" cy="338554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600" dirty="0"/>
              <a:t>0x007c0e10</a:t>
            </a:r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2D1B4077-F0C8-43CA-BE88-AF521FF2F87B}"/>
              </a:ext>
            </a:extLst>
          </p:cNvPr>
          <p:cNvSpPr/>
          <p:nvPr/>
        </p:nvSpPr>
        <p:spPr>
          <a:xfrm>
            <a:off x="2983286" y="3818535"/>
            <a:ext cx="1097794" cy="10048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C15D5E98-1388-47C8-858F-B14CB94B5885}"/>
              </a:ext>
            </a:extLst>
          </p:cNvPr>
          <p:cNvSpPr/>
          <p:nvPr/>
        </p:nvSpPr>
        <p:spPr>
          <a:xfrm>
            <a:off x="2941713" y="3938502"/>
            <a:ext cx="192445" cy="7557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F6318120-BA90-4098-A424-1F951D185827}"/>
              </a:ext>
            </a:extLst>
          </p:cNvPr>
          <p:cNvSpPr txBox="1"/>
          <p:nvPr/>
        </p:nvSpPr>
        <p:spPr>
          <a:xfrm>
            <a:off x="2900828" y="3766901"/>
            <a:ext cx="12192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700" dirty="0">
                <a:solidFill>
                  <a:srgbClr val="FF0000"/>
                </a:solidFill>
                <a:latin typeface="Inconsolata" panose="020B0609030003000000" pitchFamily="49" charset="0"/>
                <a:ea typeface="Lato Light" panose="020F0502020204030203" pitchFamily="34" charset="0"/>
                <a:cs typeface="Lato Light" panose="020F0502020204030203" pitchFamily="34" charset="0"/>
              </a:rPr>
              <a:t>11101001110100100101010101</a:t>
            </a:r>
            <a:endParaRPr lang="en-US" sz="1600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9236283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 animBg="1"/>
      <p:bldP spid="23" grpId="0"/>
      <p:bldP spid="34" grpId="0" animBg="1"/>
      <p:bldP spid="35" grpId="0" animBg="1"/>
      <p:bldP spid="36" grpId="0" animBg="1"/>
      <p:bldP spid="29" grpId="0" animBg="1"/>
      <p:bldP spid="37" grpId="0" animBg="1"/>
      <p:bldP spid="39" grpId="0" animBg="1"/>
      <p:bldP spid="40" grpId="0" animBg="1"/>
      <p:bldP spid="38" grpId="0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Rectangle 28">
            <a:extLst>
              <a:ext uri="{FF2B5EF4-FFF2-40B4-BE49-F238E27FC236}">
                <a16:creationId xmlns:a16="http://schemas.microsoft.com/office/drawing/2014/main" id="{9350E85C-A4C1-4FEF-A385-CC689E3F9265}"/>
              </a:ext>
            </a:extLst>
          </p:cNvPr>
          <p:cNvSpPr/>
          <p:nvPr/>
        </p:nvSpPr>
        <p:spPr>
          <a:xfrm rot="19097237">
            <a:off x="4193098" y="3089854"/>
            <a:ext cx="660538" cy="215153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C41A3FC-01D5-4110-A9C8-8AD7976FCC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Static Libraries (</a:t>
            </a:r>
            <a:r>
              <a:rPr lang="en-US" dirty="0">
                <a:latin typeface="Inconsolata" panose="020B0609030003000000" pitchFamily="49" charset="0"/>
              </a:rPr>
              <a:t>*.a </a:t>
            </a:r>
            <a:r>
              <a:rPr lang="en-US" dirty="0"/>
              <a:t>files)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F26E1D7-2D26-4A5C-B602-8D2D21846C6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50084" y="967740"/>
            <a:ext cx="3125716" cy="4557078"/>
          </a:xfrm>
        </p:spPr>
        <p:txBody>
          <a:bodyPr>
            <a:normAutofit lnSpcReduction="10000"/>
          </a:bodyPr>
          <a:lstStyle/>
          <a:p>
            <a:r>
              <a:rPr lang="en-US" dirty="0"/>
              <a:t>If you want to share your library with others…</a:t>
            </a:r>
          </a:p>
          <a:p>
            <a:endParaRPr lang="en-US" dirty="0"/>
          </a:p>
          <a:p>
            <a:r>
              <a:rPr lang="en-US" dirty="0"/>
              <a:t>Instead of creating an executable, you can package together all of the</a:t>
            </a:r>
            <a:r>
              <a:rPr lang="en-US" dirty="0">
                <a:latin typeface="Inconsolata" panose="020B0609030003000000" pitchFamily="49" charset="0"/>
              </a:rPr>
              <a:t> *.o </a:t>
            </a:r>
            <a:r>
              <a:rPr lang="en-US" dirty="0"/>
              <a:t>files into a single archive (</a:t>
            </a:r>
            <a:r>
              <a:rPr lang="en-US" dirty="0">
                <a:latin typeface="Inconsolata" panose="020B0609030003000000" pitchFamily="49" charset="0"/>
              </a:rPr>
              <a:t>.a </a:t>
            </a:r>
            <a:r>
              <a:rPr lang="en-US" dirty="0"/>
              <a:t>file)</a:t>
            </a:r>
          </a:p>
          <a:p>
            <a:endParaRPr lang="en-US" dirty="0"/>
          </a:p>
          <a:p>
            <a:r>
              <a:rPr lang="en-US" dirty="0"/>
              <a:t>You can use the</a:t>
            </a:r>
            <a:r>
              <a:rPr lang="en-US" dirty="0">
                <a:latin typeface="Inconsolata" panose="020B0609030003000000" pitchFamily="49" charset="0"/>
              </a:rPr>
              <a:t> </a:t>
            </a:r>
            <a:r>
              <a:rPr lang="en-US" dirty="0" err="1">
                <a:latin typeface="Inconsolata" panose="020B0609030003000000" pitchFamily="49" charset="0"/>
              </a:rPr>
              <a:t>ar</a:t>
            </a:r>
            <a:r>
              <a:rPr lang="en-US" dirty="0">
                <a:latin typeface="Inconsolata" panose="020B0609030003000000" pitchFamily="49" charset="0"/>
              </a:rPr>
              <a:t> </a:t>
            </a:r>
            <a:r>
              <a:rPr lang="en-US" dirty="0"/>
              <a:t>program on Linux for this.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064B6C8-84C1-417F-A874-57ED6C325B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AAD609-F83C-4414-814B-B5A2DF99692C}" type="slidenum">
              <a:rPr lang="en-US" smtClean="0"/>
              <a:pPr/>
              <a:t>22</a:t>
            </a:fld>
            <a:endParaRPr lang="en-US" dirty="0"/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9859CA51-ED76-4A38-BBC4-E9FD3FFE78CE}"/>
              </a:ext>
            </a:extLst>
          </p:cNvPr>
          <p:cNvGrpSpPr/>
          <p:nvPr/>
        </p:nvGrpSpPr>
        <p:grpSpPr>
          <a:xfrm>
            <a:off x="812800" y="986116"/>
            <a:ext cx="1464160" cy="1893332"/>
            <a:chOff x="304800" y="1104900"/>
            <a:chExt cx="1464160" cy="1893332"/>
          </a:xfrm>
        </p:grpSpPr>
        <p:sp>
          <p:nvSpPr>
            <p:cNvPr id="8" name="Card 6">
              <a:extLst>
                <a:ext uri="{FF2B5EF4-FFF2-40B4-BE49-F238E27FC236}">
                  <a16:creationId xmlns:a16="http://schemas.microsoft.com/office/drawing/2014/main" id="{37A2E7DC-0176-4A88-971B-15B1B4993B9C}"/>
                </a:ext>
              </a:extLst>
            </p:cNvPr>
            <p:cNvSpPr/>
            <p:nvPr/>
          </p:nvSpPr>
          <p:spPr>
            <a:xfrm>
              <a:off x="304800" y="1104900"/>
              <a:ext cx="1219200" cy="1524000"/>
            </a:xfrm>
            <a:prstGeom prst="flowChartPunchedCard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bIns="274320" rtlCol="0" anchor="ctr"/>
            <a:lstStyle/>
            <a:p>
              <a:pPr algn="ctr" defTabSz="713232">
                <a:defRPr/>
              </a:pPr>
              <a:endParaRPr lang="en-US" sz="700" dirty="0">
                <a:solidFill>
                  <a:srgbClr val="000000"/>
                </a:solidFill>
                <a:latin typeface="Inconsolata" panose="020B0609030003000000" pitchFamily="49" charset="0"/>
                <a:ea typeface="Lato Light" panose="020F0502020204030203" pitchFamily="34" charset="0"/>
                <a:cs typeface="Lato Light" panose="020F0502020204030203" pitchFamily="34" charset="0"/>
              </a:endParaRPr>
            </a:p>
            <a:p>
              <a:pPr algn="ctr" defTabSz="713232">
                <a:defRPr/>
              </a:pPr>
              <a:r>
                <a:rPr lang="en-US" sz="700" dirty="0">
                  <a:solidFill>
                    <a:srgbClr val="000000"/>
                  </a:solidFill>
                  <a:latin typeface="Inconsolata" panose="020B0609030003000000" pitchFamily="49" charset="0"/>
                  <a:ea typeface="Lato Light" panose="020F0502020204030203" pitchFamily="34" charset="0"/>
                  <a:cs typeface="Lato Light" panose="020F0502020204030203" pitchFamily="34" charset="0"/>
                </a:rPr>
                <a:t>/\/\/\/\/\/\/\/\/\/\/\/\/\/\/\/\/\/\/\/\/\/\/\/\/\/\/\/\/\/\/\/\/\/\/\/\/\/\/\/\/\/\/\/\/\/\/\/\/\/\/\/\/\/\/\/\/\/\/\/\/\/\/\/\/\/\/\/\/\/\/\/\/\/\/\/\/\/\/\/\/\/\/\/\/\/\/\/\/\/\/\/\/\/\/\/\/\/\/\/\/\/\/\/\/\/\/\/\/\/\/\/\/\/\/\/\/\/\/\/\/\/\/\/\/\/\/</a:t>
              </a:r>
            </a:p>
          </p:txBody>
        </p:sp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2811F468-685E-4EE2-85D2-A2B58E06BCBC}"/>
                </a:ext>
              </a:extLst>
            </p:cNvPr>
            <p:cNvSpPr txBox="1"/>
            <p:nvPr/>
          </p:nvSpPr>
          <p:spPr>
            <a:xfrm>
              <a:off x="549760" y="2628900"/>
              <a:ext cx="121920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defTabSz="713232">
                <a:defRPr/>
              </a:pPr>
              <a:r>
                <a:rPr lang="en-US" b="1" dirty="0" err="1">
                  <a:solidFill>
                    <a:srgbClr val="000000"/>
                  </a:solidFill>
                  <a:latin typeface="Lato Black" panose="020F0502020204030203" pitchFamily="34" charset="0"/>
                  <a:ea typeface="Lato Black" panose="020F0502020204030203" pitchFamily="34" charset="0"/>
                  <a:cs typeface="Lato Black" panose="020F0502020204030203" pitchFamily="34" charset="0"/>
                </a:rPr>
                <a:t>util.c</a:t>
              </a:r>
              <a:endParaRPr lang="en-US" b="1" dirty="0">
                <a:solidFill>
                  <a:srgbClr val="000000"/>
                </a:solidFill>
                <a:latin typeface="Lato Black" panose="020F0502020204030203" pitchFamily="34" charset="0"/>
                <a:ea typeface="Lato Black" panose="020F0502020204030203" pitchFamily="34" charset="0"/>
                <a:cs typeface="Lato Black" panose="020F0502020204030203" pitchFamily="34" charset="0"/>
              </a:endParaRPr>
            </a:p>
          </p:txBody>
        </p:sp>
      </p:grpSp>
      <p:grpSp>
        <p:nvGrpSpPr>
          <p:cNvPr id="10" name="Group 9">
            <a:extLst>
              <a:ext uri="{FF2B5EF4-FFF2-40B4-BE49-F238E27FC236}">
                <a16:creationId xmlns:a16="http://schemas.microsoft.com/office/drawing/2014/main" id="{720E7752-4D66-49EB-B7A4-6B0F06E796BD}"/>
              </a:ext>
            </a:extLst>
          </p:cNvPr>
          <p:cNvGrpSpPr/>
          <p:nvPr/>
        </p:nvGrpSpPr>
        <p:grpSpPr>
          <a:xfrm flipV="1">
            <a:off x="1945431" y="2439089"/>
            <a:ext cx="1063517" cy="1026848"/>
            <a:chOff x="1837928" y="1030692"/>
            <a:chExt cx="1063517" cy="1029620"/>
          </a:xfrm>
        </p:grpSpPr>
        <p:sp>
          <p:nvSpPr>
            <p:cNvPr id="11" name="Bent Arrow 11">
              <a:extLst>
                <a:ext uri="{FF2B5EF4-FFF2-40B4-BE49-F238E27FC236}">
                  <a16:creationId xmlns:a16="http://schemas.microsoft.com/office/drawing/2014/main" id="{6065787A-4E65-4448-9D00-F26831B8A298}"/>
                </a:ext>
              </a:extLst>
            </p:cNvPr>
            <p:cNvSpPr/>
            <p:nvPr/>
          </p:nvSpPr>
          <p:spPr>
            <a:xfrm rot="2902855">
              <a:off x="1771189" y="1097431"/>
              <a:ext cx="1029620" cy="896141"/>
            </a:xfrm>
            <a:prstGeom prst="bentArrow">
              <a:avLst>
                <a:gd name="adj1" fmla="val 25000"/>
                <a:gd name="adj2" fmla="val 25000"/>
                <a:gd name="adj3" fmla="val 25000"/>
                <a:gd name="adj4" fmla="val 87500"/>
              </a:avLst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713232">
                <a:defRPr/>
              </a:pPr>
              <a:endParaRPr lang="en-US" sz="1404" dirty="0">
                <a:solidFill>
                  <a:srgbClr val="000000"/>
                </a:solidFill>
                <a:latin typeface="Segoe UI"/>
              </a:endParaRPr>
            </a:p>
          </p:txBody>
        </p:sp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B307BB27-A1EA-4F23-8851-2879079C9105}"/>
                </a:ext>
              </a:extLst>
            </p:cNvPr>
            <p:cNvSpPr txBox="1"/>
            <p:nvPr/>
          </p:nvSpPr>
          <p:spPr>
            <a:xfrm rot="13362312">
              <a:off x="2202215" y="1412181"/>
              <a:ext cx="699230" cy="27774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defTabSz="713232">
                <a:defRPr/>
              </a:pPr>
              <a:r>
                <a:rPr lang="en-US" sz="1200" dirty="0">
                  <a:solidFill>
                    <a:srgbClr val="FFFFFF"/>
                  </a:solidFill>
                  <a:latin typeface="Lato Light" panose="020F0502020204030203" pitchFamily="34" charset="0"/>
                  <a:ea typeface="Lato Light" panose="020F0502020204030203" pitchFamily="34" charset="0"/>
                  <a:cs typeface="Lato Light" panose="020F0502020204030203" pitchFamily="34" charset="0"/>
                </a:rPr>
                <a:t>compile</a:t>
              </a:r>
              <a:endParaRPr lang="en-US" sz="1100" dirty="0">
                <a:solidFill>
                  <a:srgbClr val="FFFFFF"/>
                </a:solidFill>
                <a:latin typeface="Lato Light" panose="020F0502020204030203" pitchFamily="34" charset="0"/>
                <a:ea typeface="Lato Light" panose="020F0502020204030203" pitchFamily="34" charset="0"/>
                <a:cs typeface="Lato Light" panose="020F0502020204030203" pitchFamily="34" charset="0"/>
              </a:endParaRPr>
            </a:p>
          </p:txBody>
        </p:sp>
      </p:grpSp>
      <p:grpSp>
        <p:nvGrpSpPr>
          <p:cNvPr id="16" name="Group 15">
            <a:extLst>
              <a:ext uri="{FF2B5EF4-FFF2-40B4-BE49-F238E27FC236}">
                <a16:creationId xmlns:a16="http://schemas.microsoft.com/office/drawing/2014/main" id="{6128CE5C-AFDA-495F-AB0E-EDA5B21D3BCE}"/>
              </a:ext>
            </a:extLst>
          </p:cNvPr>
          <p:cNvGrpSpPr/>
          <p:nvPr/>
        </p:nvGrpSpPr>
        <p:grpSpPr>
          <a:xfrm>
            <a:off x="812800" y="3380926"/>
            <a:ext cx="1219200" cy="1893332"/>
            <a:chOff x="304800" y="1104900"/>
            <a:chExt cx="1219200" cy="1893332"/>
          </a:xfrm>
        </p:grpSpPr>
        <p:sp>
          <p:nvSpPr>
            <p:cNvPr id="17" name="Card 6">
              <a:extLst>
                <a:ext uri="{FF2B5EF4-FFF2-40B4-BE49-F238E27FC236}">
                  <a16:creationId xmlns:a16="http://schemas.microsoft.com/office/drawing/2014/main" id="{E8FFC00A-CC61-4E13-85A6-63C06E8E111F}"/>
                </a:ext>
              </a:extLst>
            </p:cNvPr>
            <p:cNvSpPr/>
            <p:nvPr/>
          </p:nvSpPr>
          <p:spPr>
            <a:xfrm>
              <a:off x="304800" y="1104900"/>
              <a:ext cx="1219200" cy="1524000"/>
            </a:xfrm>
            <a:prstGeom prst="flowChartPunchedCard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bIns="274320" rtlCol="0" anchor="ctr"/>
            <a:lstStyle/>
            <a:p>
              <a:pPr algn="ctr" defTabSz="713232">
                <a:defRPr/>
              </a:pPr>
              <a:endParaRPr lang="en-US" sz="700" dirty="0">
                <a:solidFill>
                  <a:srgbClr val="000000"/>
                </a:solidFill>
                <a:latin typeface="Inconsolata" panose="020B0609030003000000" pitchFamily="49" charset="0"/>
                <a:ea typeface="Lato Light" panose="020F0502020204030203" pitchFamily="34" charset="0"/>
                <a:cs typeface="Lato Light" panose="020F0502020204030203" pitchFamily="34" charset="0"/>
              </a:endParaRPr>
            </a:p>
            <a:p>
              <a:pPr algn="ctr" defTabSz="713232">
                <a:defRPr/>
              </a:pPr>
              <a:r>
                <a:rPr lang="en-US" sz="700" dirty="0">
                  <a:solidFill>
                    <a:srgbClr val="000000"/>
                  </a:solidFill>
                  <a:latin typeface="Inconsolata" panose="020B0609030003000000" pitchFamily="49" charset="0"/>
                  <a:ea typeface="Lato Light" panose="020F0502020204030203" pitchFamily="34" charset="0"/>
                  <a:cs typeface="Lato Light" panose="020F0502020204030203" pitchFamily="34" charset="0"/>
                </a:rPr>
                <a:t>/\/\/\/\/\/\/\/\/\/\/\/\/\/\/\/\/\/\/\/\/\/\/\/\/\/\/\/\/\/\/\/\/\/\/\/\/\/\/\/\/\/\/\/\/\/\/\/\/\/\/\/\/\/\/\/\/\/\/\/\/\/\/\/\/\/\/\/\/\/\/\/\/\/\/\/\/\/\/\/\/\/\/\/\/\/\/\/\/\/\/\/\/\/\/\/\/\/\/\/\/\/\/\/\/\/\/\/\/\/\/\/\/\/\/\/\/\/\/\/\/\/\/\/\/\/\/</a:t>
              </a:r>
            </a:p>
          </p:txBody>
        </p:sp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C8A89505-FCF1-4B47-B22F-6657B03B55C3}"/>
                </a:ext>
              </a:extLst>
            </p:cNvPr>
            <p:cNvSpPr txBox="1"/>
            <p:nvPr/>
          </p:nvSpPr>
          <p:spPr>
            <a:xfrm>
              <a:off x="449247" y="2628900"/>
              <a:ext cx="966295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defTabSz="713232">
                <a:defRPr/>
              </a:pPr>
              <a:r>
                <a:rPr lang="en-US" b="1" dirty="0" err="1">
                  <a:solidFill>
                    <a:srgbClr val="000000"/>
                  </a:solidFill>
                  <a:latin typeface="Lato Black" panose="020F0502020204030203" pitchFamily="34" charset="0"/>
                  <a:ea typeface="Lato Black" panose="020F0502020204030203" pitchFamily="34" charset="0"/>
                  <a:cs typeface="Lato Black" panose="020F0502020204030203" pitchFamily="34" charset="0"/>
                </a:rPr>
                <a:t>tree.c</a:t>
              </a:r>
              <a:endParaRPr lang="en-US" b="1" dirty="0">
                <a:solidFill>
                  <a:srgbClr val="000000"/>
                </a:solidFill>
                <a:latin typeface="Lato Black" panose="020F0502020204030203" pitchFamily="34" charset="0"/>
                <a:ea typeface="Lato Black" panose="020F0502020204030203" pitchFamily="34" charset="0"/>
                <a:cs typeface="Lato Black" panose="020F0502020204030203" pitchFamily="34" charset="0"/>
              </a:endParaRPr>
            </a:p>
          </p:txBody>
        </p:sp>
      </p:grpSp>
      <p:grpSp>
        <p:nvGrpSpPr>
          <p:cNvPr id="19" name="Group 18">
            <a:extLst>
              <a:ext uri="{FF2B5EF4-FFF2-40B4-BE49-F238E27FC236}">
                <a16:creationId xmlns:a16="http://schemas.microsoft.com/office/drawing/2014/main" id="{7EDD6E89-82A3-4783-88C4-07E35D1E15E9}"/>
              </a:ext>
            </a:extLst>
          </p:cNvPr>
          <p:cNvGrpSpPr/>
          <p:nvPr/>
        </p:nvGrpSpPr>
        <p:grpSpPr>
          <a:xfrm flipV="1">
            <a:off x="1918535" y="4833899"/>
            <a:ext cx="1063517" cy="1026848"/>
            <a:chOff x="1837928" y="1030692"/>
            <a:chExt cx="1063517" cy="1029620"/>
          </a:xfrm>
        </p:grpSpPr>
        <p:sp>
          <p:nvSpPr>
            <p:cNvPr id="20" name="Bent Arrow 11">
              <a:extLst>
                <a:ext uri="{FF2B5EF4-FFF2-40B4-BE49-F238E27FC236}">
                  <a16:creationId xmlns:a16="http://schemas.microsoft.com/office/drawing/2014/main" id="{E1C59B7B-44DB-4952-AC7E-33491A94F57A}"/>
                </a:ext>
              </a:extLst>
            </p:cNvPr>
            <p:cNvSpPr/>
            <p:nvPr/>
          </p:nvSpPr>
          <p:spPr>
            <a:xfrm rot="2902855">
              <a:off x="1771189" y="1097431"/>
              <a:ext cx="1029620" cy="896141"/>
            </a:xfrm>
            <a:prstGeom prst="bentArrow">
              <a:avLst>
                <a:gd name="adj1" fmla="val 25000"/>
                <a:gd name="adj2" fmla="val 25000"/>
                <a:gd name="adj3" fmla="val 25000"/>
                <a:gd name="adj4" fmla="val 87500"/>
              </a:avLst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713232">
                <a:defRPr/>
              </a:pPr>
              <a:endParaRPr lang="en-US" sz="1404" dirty="0">
                <a:solidFill>
                  <a:srgbClr val="000000"/>
                </a:solidFill>
                <a:latin typeface="Segoe UI"/>
              </a:endParaRPr>
            </a:p>
          </p:txBody>
        </p:sp>
        <p:sp>
          <p:nvSpPr>
            <p:cNvPr id="21" name="TextBox 20">
              <a:extLst>
                <a:ext uri="{FF2B5EF4-FFF2-40B4-BE49-F238E27FC236}">
                  <a16:creationId xmlns:a16="http://schemas.microsoft.com/office/drawing/2014/main" id="{2DAE92D5-C598-470B-BA4B-5EFF0E4B1F36}"/>
                </a:ext>
              </a:extLst>
            </p:cNvPr>
            <p:cNvSpPr txBox="1"/>
            <p:nvPr/>
          </p:nvSpPr>
          <p:spPr>
            <a:xfrm rot="13362312">
              <a:off x="2202215" y="1412181"/>
              <a:ext cx="699230" cy="27774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defTabSz="713232">
                <a:defRPr/>
              </a:pPr>
              <a:r>
                <a:rPr lang="en-US" sz="1200" dirty="0">
                  <a:solidFill>
                    <a:srgbClr val="FFFFFF"/>
                  </a:solidFill>
                  <a:latin typeface="Lato Light" panose="020F0502020204030203" pitchFamily="34" charset="0"/>
                  <a:ea typeface="Lato Light" panose="020F0502020204030203" pitchFamily="34" charset="0"/>
                  <a:cs typeface="Lato Light" panose="020F0502020204030203" pitchFamily="34" charset="0"/>
                </a:rPr>
                <a:t>compile</a:t>
              </a:r>
              <a:endParaRPr lang="en-US" sz="1100" dirty="0">
                <a:solidFill>
                  <a:srgbClr val="FFFFFF"/>
                </a:solidFill>
                <a:latin typeface="Lato Light" panose="020F0502020204030203" pitchFamily="34" charset="0"/>
                <a:ea typeface="Lato Light" panose="020F0502020204030203" pitchFamily="34" charset="0"/>
                <a:cs typeface="Lato Light" panose="020F0502020204030203" pitchFamily="34" charset="0"/>
              </a:endParaRPr>
            </a:p>
          </p:txBody>
        </p:sp>
      </p:grpSp>
      <p:sp>
        <p:nvSpPr>
          <p:cNvPr id="22" name="Card 6">
            <a:extLst>
              <a:ext uri="{FF2B5EF4-FFF2-40B4-BE49-F238E27FC236}">
                <a16:creationId xmlns:a16="http://schemas.microsoft.com/office/drawing/2014/main" id="{BBBF358F-0637-4379-86C0-2D27F1FC1BAB}"/>
              </a:ext>
            </a:extLst>
          </p:cNvPr>
          <p:cNvSpPr/>
          <p:nvPr/>
        </p:nvSpPr>
        <p:spPr>
          <a:xfrm>
            <a:off x="2900829" y="3380926"/>
            <a:ext cx="1219200" cy="1524000"/>
          </a:xfrm>
          <a:prstGeom prst="flowChartPunchedCard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bIns="274320" rtlCol="0" anchor="ctr"/>
          <a:lstStyle/>
          <a:p>
            <a:pPr algn="ctr" defTabSz="713232">
              <a:defRPr/>
            </a:pPr>
            <a:endParaRPr lang="en-US" sz="700" dirty="0">
              <a:solidFill>
                <a:srgbClr val="000000"/>
              </a:solidFill>
              <a:latin typeface="Inconsolata" panose="020B0609030003000000" pitchFamily="49" charset="0"/>
              <a:ea typeface="Lato Light" panose="020F0502020204030203" pitchFamily="34" charset="0"/>
              <a:cs typeface="Lato Light" panose="020F0502020204030203" pitchFamily="34" charset="0"/>
            </a:endParaRPr>
          </a:p>
          <a:p>
            <a:pPr algn="ctr" defTabSz="713232">
              <a:defRPr/>
            </a:pPr>
            <a:r>
              <a:rPr lang="en-US" sz="700" dirty="0">
                <a:solidFill>
                  <a:srgbClr val="000000"/>
                </a:solidFill>
                <a:latin typeface="Inconsolata" panose="020B0609030003000000" pitchFamily="49" charset="0"/>
                <a:ea typeface="Lato Light" panose="020F0502020204030203" pitchFamily="34" charset="0"/>
                <a:cs typeface="Lato Light" panose="020F0502020204030203" pitchFamily="34" charset="0"/>
              </a:rPr>
              <a:t>10010101000101010010101001010001010101110101010100111010011101001000101011101010010101010100010100100101001010010100100100101001010110101001010101110101011111101001010100101010001010010101001001010010110101001011001010100101010010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1CD16CBA-9DE1-4739-A5FF-BD6A1A51AC0E}"/>
              </a:ext>
            </a:extLst>
          </p:cNvPr>
          <p:cNvSpPr txBox="1"/>
          <p:nvPr/>
        </p:nvSpPr>
        <p:spPr>
          <a:xfrm>
            <a:off x="3053786" y="4904926"/>
            <a:ext cx="102729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713232">
              <a:defRPr/>
            </a:pPr>
            <a:r>
              <a:rPr lang="en-US" b="1" dirty="0" err="1">
                <a:solidFill>
                  <a:srgbClr val="000000"/>
                </a:solidFill>
                <a:latin typeface="Lato Black" panose="020F0502020204030203" pitchFamily="34" charset="0"/>
                <a:ea typeface="Lato Black" panose="020F0502020204030203" pitchFamily="34" charset="0"/>
                <a:cs typeface="Lato Black" panose="020F0502020204030203" pitchFamily="34" charset="0"/>
              </a:rPr>
              <a:t>tree.o</a:t>
            </a:r>
            <a:endParaRPr lang="en-US" b="1" dirty="0">
              <a:solidFill>
                <a:srgbClr val="000000"/>
              </a:solidFill>
              <a:latin typeface="Lato Black" panose="020F0502020204030203" pitchFamily="34" charset="0"/>
              <a:ea typeface="Lato Black" panose="020F0502020204030203" pitchFamily="34" charset="0"/>
              <a:cs typeface="Lato Black" panose="020F0502020204030203" pitchFamily="34" charset="0"/>
            </a:endParaRPr>
          </a:p>
        </p:txBody>
      </p:sp>
      <p:grpSp>
        <p:nvGrpSpPr>
          <p:cNvPr id="30" name="Group 29">
            <a:extLst>
              <a:ext uri="{FF2B5EF4-FFF2-40B4-BE49-F238E27FC236}">
                <a16:creationId xmlns:a16="http://schemas.microsoft.com/office/drawing/2014/main" id="{56A6EA39-7BCF-4EB7-84EF-F38D64E90EE9}"/>
              </a:ext>
            </a:extLst>
          </p:cNvPr>
          <p:cNvGrpSpPr/>
          <p:nvPr/>
        </p:nvGrpSpPr>
        <p:grpSpPr>
          <a:xfrm>
            <a:off x="4967836" y="986116"/>
            <a:ext cx="1398297" cy="1893332"/>
            <a:chOff x="304800" y="1104900"/>
            <a:chExt cx="1398297" cy="1893332"/>
          </a:xfrm>
        </p:grpSpPr>
        <p:sp>
          <p:nvSpPr>
            <p:cNvPr id="31" name="Card 6">
              <a:extLst>
                <a:ext uri="{FF2B5EF4-FFF2-40B4-BE49-F238E27FC236}">
                  <a16:creationId xmlns:a16="http://schemas.microsoft.com/office/drawing/2014/main" id="{271216CE-009F-4AC8-B19D-A4E089F9946E}"/>
                </a:ext>
              </a:extLst>
            </p:cNvPr>
            <p:cNvSpPr/>
            <p:nvPr/>
          </p:nvSpPr>
          <p:spPr>
            <a:xfrm>
              <a:off x="304800" y="1104900"/>
              <a:ext cx="1219200" cy="1524000"/>
            </a:xfrm>
            <a:prstGeom prst="flowChartPunchedCard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bIns="274320" rtlCol="0" anchor="ctr"/>
            <a:lstStyle/>
            <a:p>
              <a:pPr algn="ctr" defTabSz="713232">
                <a:defRPr/>
              </a:pPr>
              <a:endParaRPr lang="en-US" sz="700" dirty="0">
                <a:solidFill>
                  <a:srgbClr val="000000"/>
                </a:solidFill>
                <a:latin typeface="Inconsolata" panose="020B0609030003000000" pitchFamily="49" charset="0"/>
                <a:ea typeface="Lato Light" panose="020F0502020204030203" pitchFamily="34" charset="0"/>
                <a:cs typeface="Lato Light" panose="020F0502020204030203" pitchFamily="34" charset="0"/>
              </a:endParaRPr>
            </a:p>
            <a:p>
              <a:pPr algn="ctr" defTabSz="713232">
                <a:defRPr/>
              </a:pPr>
              <a:r>
                <a:rPr lang="en-US" sz="700" dirty="0">
                  <a:solidFill>
                    <a:srgbClr val="000000"/>
                  </a:solidFill>
                  <a:latin typeface="Inconsolata" panose="020B0609030003000000" pitchFamily="49" charset="0"/>
                  <a:ea typeface="Lato Light" panose="020F0502020204030203" pitchFamily="34" charset="0"/>
                  <a:cs typeface="Lato Light" panose="020F0502020204030203" pitchFamily="34" charset="0"/>
                </a:rPr>
                <a:t>11101001010100101010001010010101001001010010110101001011001010100101010010100101010001010100101010010100010101011101010101001110100111010010001010111010100101010101000101001001010010100101001001001010010101101010010101011101010111</a:t>
              </a:r>
            </a:p>
          </p:txBody>
        </p:sp>
        <p:sp>
          <p:nvSpPr>
            <p:cNvPr id="32" name="TextBox 31">
              <a:extLst>
                <a:ext uri="{FF2B5EF4-FFF2-40B4-BE49-F238E27FC236}">
                  <a16:creationId xmlns:a16="http://schemas.microsoft.com/office/drawing/2014/main" id="{11CC84A3-5690-4CB2-990F-F1229BB85F3D}"/>
                </a:ext>
              </a:extLst>
            </p:cNvPr>
            <p:cNvSpPr txBox="1"/>
            <p:nvPr/>
          </p:nvSpPr>
          <p:spPr>
            <a:xfrm>
              <a:off x="416965" y="2628900"/>
              <a:ext cx="1286132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defTabSz="713232">
                <a:defRPr/>
              </a:pPr>
              <a:r>
                <a:rPr lang="en-US" b="1" dirty="0">
                  <a:solidFill>
                    <a:srgbClr val="000000"/>
                  </a:solidFill>
                  <a:latin typeface="Lato Black" panose="020F0502020204030203" pitchFamily="34" charset="0"/>
                  <a:ea typeface="Lato Black" panose="020F0502020204030203" pitchFamily="34" charset="0"/>
                  <a:cs typeface="Lato Black" panose="020F0502020204030203" pitchFamily="34" charset="0"/>
                </a:rPr>
                <a:t>my-</a:t>
              </a:r>
              <a:r>
                <a:rPr lang="en-US" b="1" dirty="0" err="1">
                  <a:solidFill>
                    <a:srgbClr val="000000"/>
                  </a:solidFill>
                  <a:latin typeface="Lato Black" panose="020F0502020204030203" pitchFamily="34" charset="0"/>
                  <a:ea typeface="Lato Black" panose="020F0502020204030203" pitchFamily="34" charset="0"/>
                  <a:cs typeface="Lato Black" panose="020F0502020204030203" pitchFamily="34" charset="0"/>
                </a:rPr>
                <a:t>lib.a</a:t>
              </a:r>
              <a:endParaRPr lang="en-US" b="1" dirty="0">
                <a:solidFill>
                  <a:srgbClr val="000000"/>
                </a:solidFill>
                <a:latin typeface="Lato Black" panose="020F0502020204030203" pitchFamily="34" charset="0"/>
                <a:ea typeface="Lato Black" panose="020F0502020204030203" pitchFamily="34" charset="0"/>
                <a:cs typeface="Lato Black" panose="020F0502020204030203" pitchFamily="34" charset="0"/>
              </a:endParaRPr>
            </a:p>
          </p:txBody>
        </p:sp>
      </p:grpSp>
      <p:grpSp>
        <p:nvGrpSpPr>
          <p:cNvPr id="26" name="Group 25">
            <a:extLst>
              <a:ext uri="{FF2B5EF4-FFF2-40B4-BE49-F238E27FC236}">
                <a16:creationId xmlns:a16="http://schemas.microsoft.com/office/drawing/2014/main" id="{943F3B8E-7A6E-4CC0-AC79-E18834C2E0C7}"/>
              </a:ext>
            </a:extLst>
          </p:cNvPr>
          <p:cNvGrpSpPr/>
          <p:nvPr/>
        </p:nvGrpSpPr>
        <p:grpSpPr>
          <a:xfrm flipV="1">
            <a:off x="4120860" y="2387185"/>
            <a:ext cx="1051005" cy="1026849"/>
            <a:chOff x="1837928" y="1030692"/>
            <a:chExt cx="1051005" cy="1029620"/>
          </a:xfrm>
        </p:grpSpPr>
        <p:sp>
          <p:nvSpPr>
            <p:cNvPr id="27" name="Bent Arrow 11">
              <a:extLst>
                <a:ext uri="{FF2B5EF4-FFF2-40B4-BE49-F238E27FC236}">
                  <a16:creationId xmlns:a16="http://schemas.microsoft.com/office/drawing/2014/main" id="{D7D4E596-7652-4703-9BBB-A6DFD6A88CBA}"/>
                </a:ext>
              </a:extLst>
            </p:cNvPr>
            <p:cNvSpPr/>
            <p:nvPr/>
          </p:nvSpPr>
          <p:spPr>
            <a:xfrm rot="2902855">
              <a:off x="1771189" y="1097431"/>
              <a:ext cx="1029620" cy="896141"/>
            </a:xfrm>
            <a:prstGeom prst="bentArrow">
              <a:avLst>
                <a:gd name="adj1" fmla="val 25000"/>
                <a:gd name="adj2" fmla="val 25000"/>
                <a:gd name="adj3" fmla="val 25000"/>
                <a:gd name="adj4" fmla="val 87500"/>
              </a:avLst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713232">
                <a:defRPr/>
              </a:pPr>
              <a:endParaRPr lang="en-US" sz="1404" dirty="0">
                <a:solidFill>
                  <a:srgbClr val="000000"/>
                </a:solidFill>
                <a:latin typeface="Segoe UI"/>
              </a:endParaRPr>
            </a:p>
          </p:txBody>
        </p:sp>
        <p:sp>
          <p:nvSpPr>
            <p:cNvPr id="28" name="TextBox 27">
              <a:extLst>
                <a:ext uri="{FF2B5EF4-FFF2-40B4-BE49-F238E27FC236}">
                  <a16:creationId xmlns:a16="http://schemas.microsoft.com/office/drawing/2014/main" id="{0F390883-E1D4-4B2B-ABD9-457CFC257558}"/>
                </a:ext>
              </a:extLst>
            </p:cNvPr>
            <p:cNvSpPr txBox="1"/>
            <p:nvPr/>
          </p:nvSpPr>
          <p:spPr>
            <a:xfrm rot="13362312">
              <a:off x="2228175" y="1405440"/>
              <a:ext cx="660758" cy="27774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defTabSz="713232">
                <a:defRPr/>
              </a:pPr>
              <a:r>
                <a:rPr lang="en-US" sz="1200" dirty="0">
                  <a:solidFill>
                    <a:srgbClr val="FFFFFF"/>
                  </a:solidFill>
                  <a:latin typeface="Lato Light" panose="020F0502020204030203" pitchFamily="34" charset="0"/>
                  <a:ea typeface="Lato Light" panose="020F0502020204030203" pitchFamily="34" charset="0"/>
                  <a:cs typeface="Lato Light" panose="020F0502020204030203" pitchFamily="34" charset="0"/>
                </a:rPr>
                <a:t>archive</a:t>
              </a:r>
              <a:endParaRPr lang="en-US" sz="1100" dirty="0">
                <a:solidFill>
                  <a:srgbClr val="FFFFFF"/>
                </a:solidFill>
                <a:latin typeface="Lato Light" panose="020F0502020204030203" pitchFamily="34" charset="0"/>
                <a:ea typeface="Lato Light" panose="020F0502020204030203" pitchFamily="34" charset="0"/>
                <a:cs typeface="Lato Light" panose="020F0502020204030203" pitchFamily="34" charset="0"/>
              </a:endParaRPr>
            </a:p>
          </p:txBody>
        </p:sp>
      </p:grpSp>
      <p:grpSp>
        <p:nvGrpSpPr>
          <p:cNvPr id="13" name="Group 12">
            <a:extLst>
              <a:ext uri="{FF2B5EF4-FFF2-40B4-BE49-F238E27FC236}">
                <a16:creationId xmlns:a16="http://schemas.microsoft.com/office/drawing/2014/main" id="{B1ECBD1D-6E4A-48A6-9F27-22286AEC38F6}"/>
              </a:ext>
            </a:extLst>
          </p:cNvPr>
          <p:cNvGrpSpPr/>
          <p:nvPr/>
        </p:nvGrpSpPr>
        <p:grpSpPr>
          <a:xfrm>
            <a:off x="2900830" y="986116"/>
            <a:ext cx="1486603" cy="1893332"/>
            <a:chOff x="304800" y="1104900"/>
            <a:chExt cx="1486603" cy="1893332"/>
          </a:xfrm>
        </p:grpSpPr>
        <p:sp>
          <p:nvSpPr>
            <p:cNvPr id="14" name="Card 6">
              <a:extLst>
                <a:ext uri="{FF2B5EF4-FFF2-40B4-BE49-F238E27FC236}">
                  <a16:creationId xmlns:a16="http://schemas.microsoft.com/office/drawing/2014/main" id="{B6C60E61-631A-4441-A53B-76B8BBE9E9BE}"/>
                </a:ext>
              </a:extLst>
            </p:cNvPr>
            <p:cNvSpPr/>
            <p:nvPr/>
          </p:nvSpPr>
          <p:spPr>
            <a:xfrm>
              <a:off x="304800" y="1104900"/>
              <a:ext cx="1219200" cy="1524000"/>
            </a:xfrm>
            <a:prstGeom prst="flowChartPunchedCard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bIns="274320" rtlCol="0" anchor="ctr"/>
            <a:lstStyle/>
            <a:p>
              <a:pPr algn="ctr" defTabSz="713232">
                <a:defRPr/>
              </a:pPr>
              <a:endParaRPr lang="en-US" sz="700" dirty="0">
                <a:solidFill>
                  <a:srgbClr val="000000"/>
                </a:solidFill>
                <a:latin typeface="Inconsolata" panose="020B0609030003000000" pitchFamily="49" charset="0"/>
                <a:ea typeface="Lato Light" panose="020F0502020204030203" pitchFamily="34" charset="0"/>
                <a:cs typeface="Lato Light" panose="020F0502020204030203" pitchFamily="34" charset="0"/>
              </a:endParaRPr>
            </a:p>
            <a:p>
              <a:pPr algn="ctr" defTabSz="713232">
                <a:defRPr/>
              </a:pPr>
              <a:r>
                <a:rPr lang="en-US" sz="700" dirty="0">
                  <a:solidFill>
                    <a:srgbClr val="000000"/>
                  </a:solidFill>
                  <a:latin typeface="Inconsolata" panose="020B0609030003000000" pitchFamily="49" charset="0"/>
                  <a:ea typeface="Lato Light" panose="020F0502020204030203" pitchFamily="34" charset="0"/>
                  <a:cs typeface="Lato Light" panose="020F0502020204030203" pitchFamily="34" charset="0"/>
                </a:rPr>
                <a:t>01010101010001010010010100101001010010010010100101011010100101010111010101111110100101010010101000101001010100100101001011010100101100101010010101001010010101000101010010101001010001010101110101010100111010011101001000101011101010</a:t>
              </a:r>
            </a:p>
          </p:txBody>
        </p:sp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76CB390D-5BF1-41FB-A320-2A67E1E67477}"/>
                </a:ext>
              </a:extLst>
            </p:cNvPr>
            <p:cNvSpPr txBox="1"/>
            <p:nvPr/>
          </p:nvSpPr>
          <p:spPr>
            <a:xfrm>
              <a:off x="557395" y="2628900"/>
              <a:ext cx="123400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defTabSz="713232">
                <a:defRPr/>
              </a:pPr>
              <a:r>
                <a:rPr lang="en-US" b="1" dirty="0" err="1">
                  <a:solidFill>
                    <a:srgbClr val="000000"/>
                  </a:solidFill>
                  <a:latin typeface="Lato Black" panose="020F0502020204030203" pitchFamily="34" charset="0"/>
                  <a:ea typeface="Lato Black" panose="020F0502020204030203" pitchFamily="34" charset="0"/>
                  <a:cs typeface="Lato Black" panose="020F0502020204030203" pitchFamily="34" charset="0"/>
                </a:rPr>
                <a:t>util.o</a:t>
              </a:r>
              <a:endParaRPr lang="en-US" b="1" dirty="0">
                <a:solidFill>
                  <a:srgbClr val="000000"/>
                </a:solidFill>
                <a:latin typeface="Lato Black" panose="020F0502020204030203" pitchFamily="34" charset="0"/>
                <a:ea typeface="Lato Black" panose="020F0502020204030203" pitchFamily="34" charset="0"/>
                <a:cs typeface="Lato Black" panose="020F0502020204030203" pitchFamily="34" charset="0"/>
              </a:endParaRPr>
            </a:p>
          </p:txBody>
        </p:sp>
      </p:grpSp>
      <p:sp>
        <p:nvSpPr>
          <p:cNvPr id="6" name="TextBox 5">
            <a:extLst>
              <a:ext uri="{FF2B5EF4-FFF2-40B4-BE49-F238E27FC236}">
                <a16:creationId xmlns:a16="http://schemas.microsoft.com/office/drawing/2014/main" id="{E1EB73C4-2561-4FD3-B6F4-AD019E1E4FAC}"/>
              </a:ext>
            </a:extLst>
          </p:cNvPr>
          <p:cNvSpPr txBox="1"/>
          <p:nvPr/>
        </p:nvSpPr>
        <p:spPr>
          <a:xfrm>
            <a:off x="3062567" y="5282699"/>
            <a:ext cx="341632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>
                <a:latin typeface="Inconsolata" panose="020B0609030003000000" pitchFamily="49" charset="0"/>
              </a:rPr>
              <a:t>ar</a:t>
            </a:r>
            <a:r>
              <a:rPr lang="en-US" dirty="0">
                <a:latin typeface="Inconsolata" panose="020B0609030003000000" pitchFamily="49" charset="0"/>
              </a:rPr>
              <a:t> </a:t>
            </a:r>
            <a:r>
              <a:rPr lang="en-US" dirty="0" err="1">
                <a:latin typeface="Inconsolata" panose="020B0609030003000000" pitchFamily="49" charset="0"/>
              </a:rPr>
              <a:t>rs</a:t>
            </a:r>
            <a:r>
              <a:rPr lang="en-US" dirty="0">
                <a:latin typeface="Inconsolata" panose="020B0609030003000000" pitchFamily="49" charset="0"/>
              </a:rPr>
              <a:t> my-</a:t>
            </a:r>
            <a:r>
              <a:rPr lang="en-US" dirty="0" err="1">
                <a:latin typeface="Inconsolata" panose="020B0609030003000000" pitchFamily="49" charset="0"/>
              </a:rPr>
              <a:t>lib.a</a:t>
            </a:r>
            <a:r>
              <a:rPr lang="en-US" dirty="0">
                <a:latin typeface="Inconsolata" panose="020B0609030003000000" pitchFamily="49" charset="0"/>
              </a:rPr>
              <a:t> </a:t>
            </a:r>
            <a:r>
              <a:rPr lang="en-US" dirty="0" err="1">
                <a:latin typeface="Inconsolata" panose="020B0609030003000000" pitchFamily="49" charset="0"/>
              </a:rPr>
              <a:t>util.o</a:t>
            </a:r>
            <a:r>
              <a:rPr lang="en-US" dirty="0">
                <a:latin typeface="Inconsolata" panose="020B0609030003000000" pitchFamily="49" charset="0"/>
              </a:rPr>
              <a:t> </a:t>
            </a:r>
            <a:r>
              <a:rPr lang="en-US" dirty="0" err="1">
                <a:latin typeface="Inconsolata" panose="020B0609030003000000" pitchFamily="49" charset="0"/>
              </a:rPr>
              <a:t>tree.o</a:t>
            </a:r>
            <a:endParaRPr lang="en-US" dirty="0">
              <a:latin typeface="Inconsolata" panose="020B0609030003000000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9862025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9" grpId="0" animBg="1"/>
      <p:bldP spid="22" grpId="0" animBg="1"/>
      <p:bldP spid="23" grpId="0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Bent Arrow 11">
            <a:extLst>
              <a:ext uri="{FF2B5EF4-FFF2-40B4-BE49-F238E27FC236}">
                <a16:creationId xmlns:a16="http://schemas.microsoft.com/office/drawing/2014/main" id="{A6B56CAB-1CB8-4ECE-9277-0003F1E02AD3}"/>
              </a:ext>
            </a:extLst>
          </p:cNvPr>
          <p:cNvSpPr/>
          <p:nvPr/>
        </p:nvSpPr>
        <p:spPr>
          <a:xfrm rot="19102855">
            <a:off x="4357953" y="2975848"/>
            <a:ext cx="802814" cy="784123"/>
          </a:xfrm>
          <a:custGeom>
            <a:avLst/>
            <a:gdLst>
              <a:gd name="connsiteX0" fmla="*/ 0 w 1026849"/>
              <a:gd name="connsiteY0" fmla="*/ 896141 h 896141"/>
              <a:gd name="connsiteX1" fmla="*/ 0 w 1026849"/>
              <a:gd name="connsiteY1" fmla="*/ 896141 h 896141"/>
              <a:gd name="connsiteX2" fmla="*/ 784123 w 1026849"/>
              <a:gd name="connsiteY2" fmla="*/ 112018 h 896141"/>
              <a:gd name="connsiteX3" fmla="*/ 802814 w 1026849"/>
              <a:gd name="connsiteY3" fmla="*/ 112018 h 896141"/>
              <a:gd name="connsiteX4" fmla="*/ 802814 w 1026849"/>
              <a:gd name="connsiteY4" fmla="*/ 0 h 896141"/>
              <a:gd name="connsiteX5" fmla="*/ 1026849 w 1026849"/>
              <a:gd name="connsiteY5" fmla="*/ 224035 h 896141"/>
              <a:gd name="connsiteX6" fmla="*/ 802814 w 1026849"/>
              <a:gd name="connsiteY6" fmla="*/ 448071 h 896141"/>
              <a:gd name="connsiteX7" fmla="*/ 802814 w 1026849"/>
              <a:gd name="connsiteY7" fmla="*/ 336053 h 896141"/>
              <a:gd name="connsiteX8" fmla="*/ 784123 w 1026849"/>
              <a:gd name="connsiteY8" fmla="*/ 336053 h 896141"/>
              <a:gd name="connsiteX9" fmla="*/ 224035 w 1026849"/>
              <a:gd name="connsiteY9" fmla="*/ 896141 h 896141"/>
              <a:gd name="connsiteX10" fmla="*/ 224035 w 1026849"/>
              <a:gd name="connsiteY10" fmla="*/ 896141 h 896141"/>
              <a:gd name="connsiteX11" fmla="*/ 0 w 1026849"/>
              <a:gd name="connsiteY11" fmla="*/ 896141 h 896141"/>
              <a:gd name="connsiteX0" fmla="*/ 0 w 1026849"/>
              <a:gd name="connsiteY0" fmla="*/ 784123 h 784123"/>
              <a:gd name="connsiteX1" fmla="*/ 0 w 1026849"/>
              <a:gd name="connsiteY1" fmla="*/ 784123 h 784123"/>
              <a:gd name="connsiteX2" fmla="*/ 784123 w 1026849"/>
              <a:gd name="connsiteY2" fmla="*/ 0 h 784123"/>
              <a:gd name="connsiteX3" fmla="*/ 802814 w 1026849"/>
              <a:gd name="connsiteY3" fmla="*/ 0 h 784123"/>
              <a:gd name="connsiteX4" fmla="*/ 795354 w 1026849"/>
              <a:gd name="connsiteY4" fmla="*/ 104324 h 784123"/>
              <a:gd name="connsiteX5" fmla="*/ 1026849 w 1026849"/>
              <a:gd name="connsiteY5" fmla="*/ 112017 h 784123"/>
              <a:gd name="connsiteX6" fmla="*/ 802814 w 1026849"/>
              <a:gd name="connsiteY6" fmla="*/ 336053 h 784123"/>
              <a:gd name="connsiteX7" fmla="*/ 802814 w 1026849"/>
              <a:gd name="connsiteY7" fmla="*/ 224035 h 784123"/>
              <a:gd name="connsiteX8" fmla="*/ 784123 w 1026849"/>
              <a:gd name="connsiteY8" fmla="*/ 224035 h 784123"/>
              <a:gd name="connsiteX9" fmla="*/ 224035 w 1026849"/>
              <a:gd name="connsiteY9" fmla="*/ 784123 h 784123"/>
              <a:gd name="connsiteX10" fmla="*/ 224035 w 1026849"/>
              <a:gd name="connsiteY10" fmla="*/ 784123 h 784123"/>
              <a:gd name="connsiteX11" fmla="*/ 0 w 1026849"/>
              <a:gd name="connsiteY11" fmla="*/ 784123 h 784123"/>
              <a:gd name="connsiteX0" fmla="*/ 0 w 1026849"/>
              <a:gd name="connsiteY0" fmla="*/ 784123 h 784123"/>
              <a:gd name="connsiteX1" fmla="*/ 0 w 1026849"/>
              <a:gd name="connsiteY1" fmla="*/ 784123 h 784123"/>
              <a:gd name="connsiteX2" fmla="*/ 784123 w 1026849"/>
              <a:gd name="connsiteY2" fmla="*/ 0 h 784123"/>
              <a:gd name="connsiteX3" fmla="*/ 802814 w 1026849"/>
              <a:gd name="connsiteY3" fmla="*/ 0 h 784123"/>
              <a:gd name="connsiteX4" fmla="*/ 795354 w 1026849"/>
              <a:gd name="connsiteY4" fmla="*/ 104324 h 784123"/>
              <a:gd name="connsiteX5" fmla="*/ 1026849 w 1026849"/>
              <a:gd name="connsiteY5" fmla="*/ 112017 h 784123"/>
              <a:gd name="connsiteX6" fmla="*/ 795643 w 1026849"/>
              <a:gd name="connsiteY6" fmla="*/ 129009 h 784123"/>
              <a:gd name="connsiteX7" fmla="*/ 802814 w 1026849"/>
              <a:gd name="connsiteY7" fmla="*/ 224035 h 784123"/>
              <a:gd name="connsiteX8" fmla="*/ 784123 w 1026849"/>
              <a:gd name="connsiteY8" fmla="*/ 224035 h 784123"/>
              <a:gd name="connsiteX9" fmla="*/ 224035 w 1026849"/>
              <a:gd name="connsiteY9" fmla="*/ 784123 h 784123"/>
              <a:gd name="connsiteX10" fmla="*/ 224035 w 1026849"/>
              <a:gd name="connsiteY10" fmla="*/ 784123 h 784123"/>
              <a:gd name="connsiteX11" fmla="*/ 0 w 1026849"/>
              <a:gd name="connsiteY11" fmla="*/ 784123 h 784123"/>
              <a:gd name="connsiteX0" fmla="*/ 0 w 802814"/>
              <a:gd name="connsiteY0" fmla="*/ 784123 h 784123"/>
              <a:gd name="connsiteX1" fmla="*/ 0 w 802814"/>
              <a:gd name="connsiteY1" fmla="*/ 784123 h 784123"/>
              <a:gd name="connsiteX2" fmla="*/ 784123 w 802814"/>
              <a:gd name="connsiteY2" fmla="*/ 0 h 784123"/>
              <a:gd name="connsiteX3" fmla="*/ 802814 w 802814"/>
              <a:gd name="connsiteY3" fmla="*/ 0 h 784123"/>
              <a:gd name="connsiteX4" fmla="*/ 795354 w 802814"/>
              <a:gd name="connsiteY4" fmla="*/ 104324 h 784123"/>
              <a:gd name="connsiteX5" fmla="*/ 792912 w 802814"/>
              <a:gd name="connsiteY5" fmla="*/ 120777 h 784123"/>
              <a:gd name="connsiteX6" fmla="*/ 795643 w 802814"/>
              <a:gd name="connsiteY6" fmla="*/ 129009 h 784123"/>
              <a:gd name="connsiteX7" fmla="*/ 802814 w 802814"/>
              <a:gd name="connsiteY7" fmla="*/ 224035 h 784123"/>
              <a:gd name="connsiteX8" fmla="*/ 784123 w 802814"/>
              <a:gd name="connsiteY8" fmla="*/ 224035 h 784123"/>
              <a:gd name="connsiteX9" fmla="*/ 224035 w 802814"/>
              <a:gd name="connsiteY9" fmla="*/ 784123 h 784123"/>
              <a:gd name="connsiteX10" fmla="*/ 224035 w 802814"/>
              <a:gd name="connsiteY10" fmla="*/ 784123 h 784123"/>
              <a:gd name="connsiteX11" fmla="*/ 0 w 802814"/>
              <a:gd name="connsiteY11" fmla="*/ 784123 h 78412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802814" h="784123">
                <a:moveTo>
                  <a:pt x="0" y="784123"/>
                </a:moveTo>
                <a:lnTo>
                  <a:pt x="0" y="784123"/>
                </a:lnTo>
                <a:cubicBezTo>
                  <a:pt x="0" y="351064"/>
                  <a:pt x="351064" y="0"/>
                  <a:pt x="784123" y="0"/>
                </a:cubicBezTo>
                <a:lnTo>
                  <a:pt x="802814" y="0"/>
                </a:lnTo>
                <a:lnTo>
                  <a:pt x="795354" y="104324"/>
                </a:lnTo>
                <a:lnTo>
                  <a:pt x="792912" y="120777"/>
                </a:lnTo>
                <a:lnTo>
                  <a:pt x="795643" y="129009"/>
                </a:lnTo>
                <a:lnTo>
                  <a:pt x="802814" y="224035"/>
                </a:lnTo>
                <a:lnTo>
                  <a:pt x="784123" y="224035"/>
                </a:lnTo>
                <a:cubicBezTo>
                  <a:pt x="474795" y="224035"/>
                  <a:pt x="224035" y="474795"/>
                  <a:pt x="224035" y="784123"/>
                </a:cubicBezTo>
                <a:lnTo>
                  <a:pt x="224035" y="784123"/>
                </a:lnTo>
                <a:lnTo>
                  <a:pt x="0" y="784123"/>
                </a:lnTo>
                <a:close/>
              </a:path>
            </a:pathLst>
          </a:cu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713232">
              <a:defRPr/>
            </a:pPr>
            <a:endParaRPr lang="en-US" sz="1404" dirty="0">
              <a:solidFill>
                <a:srgbClr val="000000"/>
              </a:solidFill>
              <a:latin typeface="Segoe UI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78A9F95-AD36-458D-9522-A89655EDF6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Compilation: Simple Overview – Redux</a:t>
            </a:r>
          </a:p>
        </p:txBody>
      </p:sp>
      <p:sp>
        <p:nvSpPr>
          <p:cNvPr id="20" name="Content Placeholder 2">
            <a:extLst>
              <a:ext uri="{FF2B5EF4-FFF2-40B4-BE49-F238E27FC236}">
                <a16:creationId xmlns:a16="http://schemas.microsoft.com/office/drawing/2014/main" id="{4DC874B5-F1F0-4F39-B824-A6A606227C6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331603" y="806825"/>
            <a:ext cx="3179905" cy="4873857"/>
          </a:xfrm>
        </p:spPr>
        <p:txBody>
          <a:bodyPr>
            <a:normAutofit lnSpcReduction="10000"/>
          </a:bodyPr>
          <a:lstStyle/>
          <a:p>
            <a:r>
              <a:rPr lang="en-US" dirty="0"/>
              <a:t>We can use my-</a:t>
            </a:r>
            <a:r>
              <a:rPr lang="en-US" dirty="0" err="1"/>
              <a:t>lib.a</a:t>
            </a:r>
            <a:r>
              <a:rPr lang="en-US" dirty="0"/>
              <a:t> in place of the object files we need.</a:t>
            </a:r>
          </a:p>
          <a:p>
            <a:endParaRPr lang="en-US" dirty="0"/>
          </a:p>
          <a:p>
            <a:r>
              <a:rPr lang="en-US" dirty="0"/>
              <a:t>The</a:t>
            </a:r>
            <a:r>
              <a:rPr lang="en-US" dirty="0">
                <a:latin typeface="Inconsolata" panose="020B0609030003000000" pitchFamily="49" charset="0"/>
              </a:rPr>
              <a:t> *.a </a:t>
            </a:r>
            <a:r>
              <a:rPr lang="en-US" dirty="0"/>
              <a:t>file is just a container for a set of object files. Essentially, it is just a kind of zip file of object files.</a:t>
            </a:r>
          </a:p>
          <a:p>
            <a:endParaRPr lang="en-US" dirty="0"/>
          </a:p>
          <a:p>
            <a:r>
              <a:rPr lang="en-US" dirty="0"/>
              <a:t>These object files get copied into our executable… not very efficient! Hmm!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E045AC2-2BBD-4DBE-B367-03C82632A1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AAD609-F83C-4414-814B-B5A2DF99692C}" type="slidenum">
              <a:rPr lang="en-US" smtClean="0"/>
              <a:pPr/>
              <a:t>23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EDB7D77-1D21-4A1E-B21B-7F70B7C77F46}"/>
              </a:ext>
            </a:extLst>
          </p:cNvPr>
          <p:cNvSpPr>
            <a:spLocks noGrp="1"/>
          </p:cNvSpPr>
          <p:nvPr>
            <p:ph type="ftr" sz="quarter" idx="4294967295"/>
          </p:nvPr>
        </p:nvSpPr>
        <p:spPr>
          <a:xfrm>
            <a:off x="0" y="5297488"/>
            <a:ext cx="3429000" cy="303212"/>
          </a:xfrm>
        </p:spPr>
        <p:txBody>
          <a:bodyPr/>
          <a:lstStyle/>
          <a:p>
            <a:r>
              <a:rPr lang="en-US" dirty="0">
                <a:solidFill>
                  <a:schemeClr val="bg1">
                    <a:lumMod val="95000"/>
                  </a:schemeClr>
                </a:solidFill>
              </a:rPr>
              <a:t>CS/COE 0449 – Spring 2019/2020</a:t>
            </a:r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DD94508A-C70E-4600-BD11-F69C45240C94}"/>
              </a:ext>
            </a:extLst>
          </p:cNvPr>
          <p:cNvGrpSpPr/>
          <p:nvPr/>
        </p:nvGrpSpPr>
        <p:grpSpPr>
          <a:xfrm>
            <a:off x="812800" y="986116"/>
            <a:ext cx="1219200" cy="1893332"/>
            <a:chOff x="304800" y="1104900"/>
            <a:chExt cx="1219200" cy="1893332"/>
          </a:xfrm>
        </p:grpSpPr>
        <p:sp>
          <p:nvSpPr>
            <p:cNvPr id="9" name="Card 6">
              <a:extLst>
                <a:ext uri="{FF2B5EF4-FFF2-40B4-BE49-F238E27FC236}">
                  <a16:creationId xmlns:a16="http://schemas.microsoft.com/office/drawing/2014/main" id="{9457BEF4-7B0C-4ECC-BF72-553AA6700449}"/>
                </a:ext>
              </a:extLst>
            </p:cNvPr>
            <p:cNvSpPr/>
            <p:nvPr/>
          </p:nvSpPr>
          <p:spPr>
            <a:xfrm>
              <a:off x="304800" y="1104900"/>
              <a:ext cx="1219200" cy="1524000"/>
            </a:xfrm>
            <a:prstGeom prst="flowChartPunchedCard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bIns="274320" rtlCol="0" anchor="ctr"/>
            <a:lstStyle/>
            <a:p>
              <a:pPr algn="ctr" defTabSz="713232">
                <a:defRPr/>
              </a:pPr>
              <a:endParaRPr lang="en-US" sz="700" dirty="0">
                <a:solidFill>
                  <a:srgbClr val="000000"/>
                </a:solidFill>
                <a:latin typeface="Inconsolata" panose="020B0609030003000000" pitchFamily="49" charset="0"/>
                <a:ea typeface="Lato Light" panose="020F0502020204030203" pitchFamily="34" charset="0"/>
                <a:cs typeface="Lato Light" panose="020F0502020204030203" pitchFamily="34" charset="0"/>
              </a:endParaRPr>
            </a:p>
            <a:p>
              <a:pPr algn="ctr" defTabSz="713232">
                <a:defRPr/>
              </a:pPr>
              <a:r>
                <a:rPr lang="en-US" sz="700" dirty="0">
                  <a:solidFill>
                    <a:srgbClr val="000000"/>
                  </a:solidFill>
                  <a:latin typeface="Inconsolata" panose="020B0609030003000000" pitchFamily="49" charset="0"/>
                  <a:ea typeface="Lato Light" panose="020F0502020204030203" pitchFamily="34" charset="0"/>
                  <a:cs typeface="Lato Light" panose="020F0502020204030203" pitchFamily="34" charset="0"/>
                </a:rPr>
                <a:t>/\/\/\/\/\/\/\/\/\/\/\/\/\/\/\/\/\/\/\/\/\/\/\/\/\/\/\/\/\/\/\/\/\/\/\/\/\/\/\/\/\/\/\/\/\/\/\/\/\/\/\/\/\/\/\/\/\/\/\/\/\/\/\/\/\/\/\/\/\/\/\/\/\/\/\/\/\/\/\/\/\/\/\/\/\/\/\/\/\/\/\/\/\/\/\/\/\/\/\/\/\/\/\/\/\/\/\/\/\/\/\/\/\/\/\/\/\/\/\/\/\/\/\/\/\/\/</a:t>
              </a:r>
            </a:p>
          </p:txBody>
        </p:sp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BDB9E568-6D6C-4ABE-AF68-E48F4C02317E}"/>
                </a:ext>
              </a:extLst>
            </p:cNvPr>
            <p:cNvSpPr txBox="1"/>
            <p:nvPr/>
          </p:nvSpPr>
          <p:spPr>
            <a:xfrm>
              <a:off x="467001" y="2628900"/>
              <a:ext cx="894797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defTabSz="713232">
                <a:defRPr/>
              </a:pPr>
              <a:r>
                <a:rPr lang="en-US" b="1" dirty="0" err="1">
                  <a:solidFill>
                    <a:srgbClr val="000000"/>
                  </a:solidFill>
                  <a:latin typeface="Lato Black" panose="020F0502020204030203" pitchFamily="34" charset="0"/>
                  <a:ea typeface="Lato Black" panose="020F0502020204030203" pitchFamily="34" charset="0"/>
                  <a:cs typeface="Lato Black" panose="020F0502020204030203" pitchFamily="34" charset="0"/>
                </a:rPr>
                <a:t>hello.c</a:t>
              </a:r>
              <a:endParaRPr lang="en-US" b="1" dirty="0">
                <a:solidFill>
                  <a:srgbClr val="000000"/>
                </a:solidFill>
                <a:latin typeface="Lato Black" panose="020F0502020204030203" pitchFamily="34" charset="0"/>
                <a:ea typeface="Lato Black" panose="020F0502020204030203" pitchFamily="34" charset="0"/>
                <a:cs typeface="Lato Black" panose="020F0502020204030203" pitchFamily="34" charset="0"/>
              </a:endParaRPr>
            </a:p>
          </p:txBody>
        </p:sp>
      </p:grpSp>
      <p:grpSp>
        <p:nvGrpSpPr>
          <p:cNvPr id="11" name="Group 10">
            <a:extLst>
              <a:ext uri="{FF2B5EF4-FFF2-40B4-BE49-F238E27FC236}">
                <a16:creationId xmlns:a16="http://schemas.microsoft.com/office/drawing/2014/main" id="{205CC648-FE79-47FD-8B81-B05F4B72E47C}"/>
              </a:ext>
            </a:extLst>
          </p:cNvPr>
          <p:cNvGrpSpPr/>
          <p:nvPr/>
        </p:nvGrpSpPr>
        <p:grpSpPr>
          <a:xfrm flipV="1">
            <a:off x="1945431" y="2439089"/>
            <a:ext cx="1063517" cy="1026848"/>
            <a:chOff x="1837928" y="1030692"/>
            <a:chExt cx="1063517" cy="1029620"/>
          </a:xfrm>
        </p:grpSpPr>
        <p:sp>
          <p:nvSpPr>
            <p:cNvPr id="12" name="Bent Arrow 11">
              <a:extLst>
                <a:ext uri="{FF2B5EF4-FFF2-40B4-BE49-F238E27FC236}">
                  <a16:creationId xmlns:a16="http://schemas.microsoft.com/office/drawing/2014/main" id="{4C4791CE-044C-4FA8-96D4-B9FDB7900C43}"/>
                </a:ext>
              </a:extLst>
            </p:cNvPr>
            <p:cNvSpPr/>
            <p:nvPr/>
          </p:nvSpPr>
          <p:spPr>
            <a:xfrm rot="2902855">
              <a:off x="1771189" y="1097431"/>
              <a:ext cx="1029620" cy="896141"/>
            </a:xfrm>
            <a:prstGeom prst="bentArrow">
              <a:avLst>
                <a:gd name="adj1" fmla="val 25000"/>
                <a:gd name="adj2" fmla="val 25000"/>
                <a:gd name="adj3" fmla="val 25000"/>
                <a:gd name="adj4" fmla="val 87500"/>
              </a:avLst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713232">
                <a:defRPr/>
              </a:pPr>
              <a:endParaRPr lang="en-US" sz="1404" dirty="0">
                <a:solidFill>
                  <a:srgbClr val="000000"/>
                </a:solidFill>
                <a:latin typeface="Segoe UI"/>
              </a:endParaRPr>
            </a:p>
          </p:txBody>
        </p: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F4BC3ECD-ECAA-4EB8-A534-59F4FCD2DBDD}"/>
                </a:ext>
              </a:extLst>
            </p:cNvPr>
            <p:cNvSpPr txBox="1"/>
            <p:nvPr/>
          </p:nvSpPr>
          <p:spPr>
            <a:xfrm rot="13362312">
              <a:off x="2202215" y="1412181"/>
              <a:ext cx="699230" cy="27774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defTabSz="713232">
                <a:defRPr/>
              </a:pPr>
              <a:r>
                <a:rPr lang="en-US" sz="1200" dirty="0">
                  <a:solidFill>
                    <a:srgbClr val="FFFFFF"/>
                  </a:solidFill>
                  <a:latin typeface="Lato Light" panose="020F0502020204030203" pitchFamily="34" charset="0"/>
                  <a:ea typeface="Lato Light" panose="020F0502020204030203" pitchFamily="34" charset="0"/>
                  <a:cs typeface="Lato Light" panose="020F0502020204030203" pitchFamily="34" charset="0"/>
                </a:rPr>
                <a:t>compile</a:t>
              </a:r>
              <a:endParaRPr lang="en-US" sz="1100" dirty="0">
                <a:solidFill>
                  <a:srgbClr val="FFFFFF"/>
                </a:solidFill>
                <a:latin typeface="Lato Light" panose="020F0502020204030203" pitchFamily="34" charset="0"/>
                <a:ea typeface="Lato Light" panose="020F0502020204030203" pitchFamily="34" charset="0"/>
                <a:cs typeface="Lato Light" panose="020F0502020204030203" pitchFamily="34" charset="0"/>
              </a:endParaRPr>
            </a:p>
          </p:txBody>
        </p:sp>
      </p:grpSp>
      <p:grpSp>
        <p:nvGrpSpPr>
          <p:cNvPr id="17" name="Group 16">
            <a:extLst>
              <a:ext uri="{FF2B5EF4-FFF2-40B4-BE49-F238E27FC236}">
                <a16:creationId xmlns:a16="http://schemas.microsoft.com/office/drawing/2014/main" id="{6B85C865-099A-42B5-B228-A77F189E1AB5}"/>
              </a:ext>
            </a:extLst>
          </p:cNvPr>
          <p:cNvGrpSpPr/>
          <p:nvPr/>
        </p:nvGrpSpPr>
        <p:grpSpPr>
          <a:xfrm>
            <a:off x="2900829" y="986116"/>
            <a:ext cx="1219200" cy="1893332"/>
            <a:chOff x="304800" y="1104900"/>
            <a:chExt cx="1219200" cy="1893332"/>
          </a:xfrm>
        </p:grpSpPr>
        <p:sp>
          <p:nvSpPr>
            <p:cNvPr id="18" name="Card 6">
              <a:extLst>
                <a:ext uri="{FF2B5EF4-FFF2-40B4-BE49-F238E27FC236}">
                  <a16:creationId xmlns:a16="http://schemas.microsoft.com/office/drawing/2014/main" id="{F32DCA46-3BF9-404C-A9EA-1B3CFC1967A6}"/>
                </a:ext>
              </a:extLst>
            </p:cNvPr>
            <p:cNvSpPr/>
            <p:nvPr/>
          </p:nvSpPr>
          <p:spPr>
            <a:xfrm>
              <a:off x="304800" y="1104900"/>
              <a:ext cx="1219200" cy="1524000"/>
            </a:xfrm>
            <a:prstGeom prst="flowChartPunchedCard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bIns="274320" rtlCol="0" anchor="ctr"/>
            <a:lstStyle/>
            <a:p>
              <a:pPr algn="ctr" defTabSz="713232">
                <a:defRPr/>
              </a:pPr>
              <a:endParaRPr lang="en-US" sz="700" dirty="0">
                <a:solidFill>
                  <a:srgbClr val="000000"/>
                </a:solidFill>
                <a:latin typeface="Inconsolata" panose="020B0609030003000000" pitchFamily="49" charset="0"/>
                <a:ea typeface="Lato Light" panose="020F0502020204030203" pitchFamily="34" charset="0"/>
                <a:cs typeface="Lato Light" panose="020F0502020204030203" pitchFamily="34" charset="0"/>
              </a:endParaRPr>
            </a:p>
            <a:p>
              <a:pPr algn="ctr" defTabSz="713232">
                <a:defRPr/>
              </a:pPr>
              <a:r>
                <a:rPr lang="en-US" sz="700" dirty="0">
                  <a:solidFill>
                    <a:srgbClr val="000000"/>
                  </a:solidFill>
                  <a:latin typeface="Inconsolata" panose="020B0609030003000000" pitchFamily="49" charset="0"/>
                  <a:ea typeface="Lato Light" panose="020F0502020204030203" pitchFamily="34" charset="0"/>
                  <a:cs typeface="Lato Light" panose="020F0502020204030203" pitchFamily="34" charset="0"/>
                </a:rPr>
                <a:t>01010101010001010010010100101001010010010010100101011010100101010111010101111110100101010010101000101001010100100101001011010100101100101010010101001010010101000101010010101001010001010101110101010100111010011101001000101011101010</a:t>
              </a:r>
            </a:p>
          </p:txBody>
        </p:sp>
        <p:sp>
          <p:nvSpPr>
            <p:cNvPr id="19" name="TextBox 18">
              <a:extLst>
                <a:ext uri="{FF2B5EF4-FFF2-40B4-BE49-F238E27FC236}">
                  <a16:creationId xmlns:a16="http://schemas.microsoft.com/office/drawing/2014/main" id="{3E460958-3282-45A4-B77A-5014DD16EBF8}"/>
                </a:ext>
              </a:extLst>
            </p:cNvPr>
            <p:cNvSpPr txBox="1"/>
            <p:nvPr/>
          </p:nvSpPr>
          <p:spPr>
            <a:xfrm>
              <a:off x="467001" y="2628900"/>
              <a:ext cx="883575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defTabSz="713232">
                <a:defRPr/>
              </a:pPr>
              <a:r>
                <a:rPr lang="en-US" b="1" dirty="0" err="1">
                  <a:solidFill>
                    <a:srgbClr val="000000"/>
                  </a:solidFill>
                  <a:latin typeface="Lato Black" panose="020F0502020204030203" pitchFamily="34" charset="0"/>
                  <a:ea typeface="Lato Black" panose="020F0502020204030203" pitchFamily="34" charset="0"/>
                  <a:cs typeface="Lato Black" panose="020F0502020204030203" pitchFamily="34" charset="0"/>
                </a:rPr>
                <a:t>hello.o</a:t>
              </a:r>
              <a:endParaRPr lang="en-US" b="1" dirty="0">
                <a:solidFill>
                  <a:srgbClr val="000000"/>
                </a:solidFill>
                <a:latin typeface="Lato Black" panose="020F0502020204030203" pitchFamily="34" charset="0"/>
                <a:ea typeface="Lato Black" panose="020F0502020204030203" pitchFamily="34" charset="0"/>
                <a:cs typeface="Lato Black" panose="020F0502020204030203" pitchFamily="34" charset="0"/>
              </a:endParaRPr>
            </a:p>
          </p:txBody>
        </p:sp>
      </p:grpSp>
      <p:grpSp>
        <p:nvGrpSpPr>
          <p:cNvPr id="28" name="Group 27">
            <a:extLst>
              <a:ext uri="{FF2B5EF4-FFF2-40B4-BE49-F238E27FC236}">
                <a16:creationId xmlns:a16="http://schemas.microsoft.com/office/drawing/2014/main" id="{20538E65-AB05-4857-8767-0971B9197A79}"/>
              </a:ext>
            </a:extLst>
          </p:cNvPr>
          <p:cNvGrpSpPr/>
          <p:nvPr/>
        </p:nvGrpSpPr>
        <p:grpSpPr>
          <a:xfrm>
            <a:off x="812800" y="3380926"/>
            <a:ext cx="1219200" cy="1893332"/>
            <a:chOff x="304800" y="1104900"/>
            <a:chExt cx="1219200" cy="1893332"/>
          </a:xfrm>
        </p:grpSpPr>
        <p:sp>
          <p:nvSpPr>
            <p:cNvPr id="29" name="Card 6">
              <a:extLst>
                <a:ext uri="{FF2B5EF4-FFF2-40B4-BE49-F238E27FC236}">
                  <a16:creationId xmlns:a16="http://schemas.microsoft.com/office/drawing/2014/main" id="{8A5F265B-76AD-438D-B234-CBC830D1316E}"/>
                </a:ext>
              </a:extLst>
            </p:cNvPr>
            <p:cNvSpPr/>
            <p:nvPr/>
          </p:nvSpPr>
          <p:spPr>
            <a:xfrm>
              <a:off x="304800" y="1104900"/>
              <a:ext cx="1219200" cy="1524000"/>
            </a:xfrm>
            <a:prstGeom prst="flowChartPunchedCard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bIns="274320" rtlCol="0" anchor="ctr"/>
            <a:lstStyle/>
            <a:p>
              <a:pPr algn="ctr" defTabSz="713232">
                <a:defRPr/>
              </a:pPr>
              <a:endParaRPr lang="en-US" sz="700" dirty="0">
                <a:solidFill>
                  <a:srgbClr val="000000"/>
                </a:solidFill>
                <a:latin typeface="Inconsolata" panose="020B0609030003000000" pitchFamily="49" charset="0"/>
                <a:ea typeface="Lato Light" panose="020F0502020204030203" pitchFamily="34" charset="0"/>
                <a:cs typeface="Lato Light" panose="020F0502020204030203" pitchFamily="34" charset="0"/>
              </a:endParaRPr>
            </a:p>
            <a:p>
              <a:pPr algn="ctr" defTabSz="713232">
                <a:defRPr/>
              </a:pPr>
              <a:r>
                <a:rPr lang="en-US" sz="700" dirty="0">
                  <a:solidFill>
                    <a:srgbClr val="000000"/>
                  </a:solidFill>
                  <a:latin typeface="Inconsolata" panose="020B0609030003000000" pitchFamily="49" charset="0"/>
                  <a:ea typeface="Lato Light" panose="020F0502020204030203" pitchFamily="34" charset="0"/>
                  <a:cs typeface="Lato Light" panose="020F0502020204030203" pitchFamily="34" charset="0"/>
                </a:rPr>
                <a:t>/\/\/\/\/\/\/\/\/\/\/\/\/\/\/\/\/\/\/\/\/\/\/\/\/\/\/\/\/\/\/\/\/\/\/\/\/\/\/\/\/\/\/\/\/\/\/\/\/\/\/\/\/\/\/\/\/\/\/\/\/\/\/\/\/\/\/\/\/\/\/\/\/\/\/\/\/\/\/\/\/\/\/\/\/\/\/\/\/\/\/\/\/\/\/\/\/\/\/\/\/\/\/\/\/\/\/\/\/\/\/\/\/\/\/\/\/\/\/\/\/\/\/\/\/\/\/</a:t>
              </a:r>
            </a:p>
          </p:txBody>
        </p:sp>
        <p:sp>
          <p:nvSpPr>
            <p:cNvPr id="30" name="TextBox 29">
              <a:extLst>
                <a:ext uri="{FF2B5EF4-FFF2-40B4-BE49-F238E27FC236}">
                  <a16:creationId xmlns:a16="http://schemas.microsoft.com/office/drawing/2014/main" id="{A9D21B70-5BE6-440E-9790-17E240A69261}"/>
                </a:ext>
              </a:extLst>
            </p:cNvPr>
            <p:cNvSpPr txBox="1"/>
            <p:nvPr/>
          </p:nvSpPr>
          <p:spPr>
            <a:xfrm>
              <a:off x="554409" y="2628900"/>
              <a:ext cx="691215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defTabSz="713232">
                <a:defRPr/>
              </a:pPr>
              <a:r>
                <a:rPr lang="en-US" b="1" dirty="0" err="1">
                  <a:solidFill>
                    <a:srgbClr val="000000"/>
                  </a:solidFill>
                  <a:latin typeface="Lato Black" panose="020F0502020204030203" pitchFamily="34" charset="0"/>
                  <a:ea typeface="Lato Black" panose="020F0502020204030203" pitchFamily="34" charset="0"/>
                  <a:cs typeface="Lato Black" panose="020F0502020204030203" pitchFamily="34" charset="0"/>
                </a:rPr>
                <a:t>util.c</a:t>
              </a:r>
              <a:endParaRPr lang="en-US" b="1" dirty="0">
                <a:solidFill>
                  <a:srgbClr val="000000"/>
                </a:solidFill>
                <a:latin typeface="Lato Black" panose="020F0502020204030203" pitchFamily="34" charset="0"/>
                <a:ea typeface="Lato Black" panose="020F0502020204030203" pitchFamily="34" charset="0"/>
                <a:cs typeface="Lato Black" panose="020F0502020204030203" pitchFamily="34" charset="0"/>
              </a:endParaRPr>
            </a:p>
          </p:txBody>
        </p:sp>
      </p:grpSp>
      <p:grpSp>
        <p:nvGrpSpPr>
          <p:cNvPr id="31" name="Group 30">
            <a:extLst>
              <a:ext uri="{FF2B5EF4-FFF2-40B4-BE49-F238E27FC236}">
                <a16:creationId xmlns:a16="http://schemas.microsoft.com/office/drawing/2014/main" id="{A2605B91-87ED-4FAA-9106-515F6AA1573B}"/>
              </a:ext>
            </a:extLst>
          </p:cNvPr>
          <p:cNvGrpSpPr/>
          <p:nvPr/>
        </p:nvGrpSpPr>
        <p:grpSpPr>
          <a:xfrm flipV="1">
            <a:off x="1918535" y="4833899"/>
            <a:ext cx="1063517" cy="1026848"/>
            <a:chOff x="1837928" y="1030692"/>
            <a:chExt cx="1063517" cy="1029620"/>
          </a:xfrm>
        </p:grpSpPr>
        <p:sp>
          <p:nvSpPr>
            <p:cNvPr id="32" name="Bent Arrow 11">
              <a:extLst>
                <a:ext uri="{FF2B5EF4-FFF2-40B4-BE49-F238E27FC236}">
                  <a16:creationId xmlns:a16="http://schemas.microsoft.com/office/drawing/2014/main" id="{8EE8924D-9F28-4367-9328-124417B12176}"/>
                </a:ext>
              </a:extLst>
            </p:cNvPr>
            <p:cNvSpPr/>
            <p:nvPr/>
          </p:nvSpPr>
          <p:spPr>
            <a:xfrm rot="2902855">
              <a:off x="1771189" y="1097431"/>
              <a:ext cx="1029620" cy="896141"/>
            </a:xfrm>
            <a:prstGeom prst="bentArrow">
              <a:avLst>
                <a:gd name="adj1" fmla="val 25000"/>
                <a:gd name="adj2" fmla="val 25000"/>
                <a:gd name="adj3" fmla="val 25000"/>
                <a:gd name="adj4" fmla="val 87500"/>
              </a:avLst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713232">
                <a:defRPr/>
              </a:pPr>
              <a:endParaRPr lang="en-US" sz="1404" dirty="0">
                <a:solidFill>
                  <a:srgbClr val="000000"/>
                </a:solidFill>
                <a:latin typeface="Segoe UI"/>
              </a:endParaRPr>
            </a:p>
          </p:txBody>
        </p:sp>
        <p:sp>
          <p:nvSpPr>
            <p:cNvPr id="33" name="TextBox 32">
              <a:extLst>
                <a:ext uri="{FF2B5EF4-FFF2-40B4-BE49-F238E27FC236}">
                  <a16:creationId xmlns:a16="http://schemas.microsoft.com/office/drawing/2014/main" id="{1CA8DDAD-7B16-46D5-B09E-BAA433BAB039}"/>
                </a:ext>
              </a:extLst>
            </p:cNvPr>
            <p:cNvSpPr txBox="1"/>
            <p:nvPr/>
          </p:nvSpPr>
          <p:spPr>
            <a:xfrm rot="13362312">
              <a:off x="2202215" y="1412181"/>
              <a:ext cx="699230" cy="27774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defTabSz="713232">
                <a:defRPr/>
              </a:pPr>
              <a:r>
                <a:rPr lang="en-US" sz="1200" dirty="0">
                  <a:solidFill>
                    <a:srgbClr val="FFFFFF"/>
                  </a:solidFill>
                  <a:latin typeface="Lato Light" panose="020F0502020204030203" pitchFamily="34" charset="0"/>
                  <a:ea typeface="Lato Light" panose="020F0502020204030203" pitchFamily="34" charset="0"/>
                  <a:cs typeface="Lato Light" panose="020F0502020204030203" pitchFamily="34" charset="0"/>
                </a:rPr>
                <a:t>compile</a:t>
              </a:r>
              <a:endParaRPr lang="en-US" sz="1100" dirty="0">
                <a:solidFill>
                  <a:srgbClr val="FFFFFF"/>
                </a:solidFill>
                <a:latin typeface="Lato Light" panose="020F0502020204030203" pitchFamily="34" charset="0"/>
                <a:ea typeface="Lato Light" panose="020F0502020204030203" pitchFamily="34" charset="0"/>
                <a:cs typeface="Lato Light" panose="020F0502020204030203" pitchFamily="34" charset="0"/>
              </a:endParaRPr>
            </a:p>
          </p:txBody>
        </p:sp>
      </p:grpSp>
      <p:sp>
        <p:nvSpPr>
          <p:cNvPr id="35" name="Card 6">
            <a:extLst>
              <a:ext uri="{FF2B5EF4-FFF2-40B4-BE49-F238E27FC236}">
                <a16:creationId xmlns:a16="http://schemas.microsoft.com/office/drawing/2014/main" id="{CBDA10E0-DBFB-438C-A41F-AA8F4CABEDA0}"/>
              </a:ext>
            </a:extLst>
          </p:cNvPr>
          <p:cNvSpPr/>
          <p:nvPr/>
        </p:nvSpPr>
        <p:spPr>
          <a:xfrm>
            <a:off x="2900829" y="3380926"/>
            <a:ext cx="1219200" cy="1524000"/>
          </a:xfrm>
          <a:prstGeom prst="flowChartPunchedCard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bIns="274320" rtlCol="0" anchor="ctr"/>
          <a:lstStyle/>
          <a:p>
            <a:pPr algn="ctr" defTabSz="713232">
              <a:defRPr/>
            </a:pPr>
            <a:endParaRPr lang="en-US" sz="700" dirty="0">
              <a:solidFill>
                <a:srgbClr val="000000"/>
              </a:solidFill>
              <a:latin typeface="Inconsolata" panose="020B0609030003000000" pitchFamily="49" charset="0"/>
              <a:ea typeface="Lato Light" panose="020F0502020204030203" pitchFamily="34" charset="0"/>
              <a:cs typeface="Lato Light" panose="020F0502020204030203" pitchFamily="34" charset="0"/>
            </a:endParaRPr>
          </a:p>
          <a:p>
            <a:pPr algn="ctr" defTabSz="713232">
              <a:defRPr/>
            </a:pPr>
            <a:r>
              <a:rPr lang="en-US" sz="700" dirty="0">
                <a:solidFill>
                  <a:srgbClr val="000000"/>
                </a:solidFill>
                <a:latin typeface="Inconsolata" panose="020B0609030003000000" pitchFamily="49" charset="0"/>
                <a:ea typeface="Lato Light" panose="020F0502020204030203" pitchFamily="34" charset="0"/>
                <a:cs typeface="Lato Light" panose="020F0502020204030203" pitchFamily="34" charset="0"/>
              </a:rPr>
              <a:t>10010101000101010010101001010001010101110101010100111010011101001000101011101010010101010100010100100101001010010100100100101001010110101001010101110101011111101001010100101010001010010101001001010010110101001011001010100101010010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45A9EAC4-FEF1-4880-BD5E-8D2F5F8B06DC}"/>
              </a:ext>
            </a:extLst>
          </p:cNvPr>
          <p:cNvSpPr txBox="1"/>
          <p:nvPr/>
        </p:nvSpPr>
        <p:spPr>
          <a:xfrm>
            <a:off x="3197506" y="4904926"/>
            <a:ext cx="71365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713232">
              <a:defRPr/>
            </a:pPr>
            <a:r>
              <a:rPr lang="en-US" b="1" dirty="0" err="1">
                <a:solidFill>
                  <a:srgbClr val="000000"/>
                </a:solidFill>
                <a:latin typeface="Lato Black" panose="020F0502020204030203" pitchFamily="34" charset="0"/>
                <a:ea typeface="Lato Black" panose="020F0502020204030203" pitchFamily="34" charset="0"/>
                <a:cs typeface="Lato Black" panose="020F0502020204030203" pitchFamily="34" charset="0"/>
              </a:rPr>
              <a:t>util.o</a:t>
            </a:r>
            <a:endParaRPr lang="en-US" b="1" dirty="0">
              <a:solidFill>
                <a:srgbClr val="000000"/>
              </a:solidFill>
              <a:latin typeface="Lato Black" panose="020F0502020204030203" pitchFamily="34" charset="0"/>
              <a:ea typeface="Lato Black" panose="020F0502020204030203" pitchFamily="34" charset="0"/>
              <a:cs typeface="Lato Black" panose="020F0502020204030203" pitchFamily="34" charset="0"/>
            </a:endParaRPr>
          </a:p>
        </p:txBody>
      </p:sp>
      <p:sp>
        <p:nvSpPr>
          <p:cNvPr id="41" name="Card 6">
            <a:extLst>
              <a:ext uri="{FF2B5EF4-FFF2-40B4-BE49-F238E27FC236}">
                <a16:creationId xmlns:a16="http://schemas.microsoft.com/office/drawing/2014/main" id="{B8371FE0-CAAE-42CC-8420-AEA2C4B1D785}"/>
              </a:ext>
            </a:extLst>
          </p:cNvPr>
          <p:cNvSpPr/>
          <p:nvPr/>
        </p:nvSpPr>
        <p:spPr>
          <a:xfrm>
            <a:off x="4644549" y="3380926"/>
            <a:ext cx="1219200" cy="1524000"/>
          </a:xfrm>
          <a:prstGeom prst="flowChartPunchedCard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bIns="274320" rtlCol="0" anchor="ctr"/>
          <a:lstStyle/>
          <a:p>
            <a:pPr algn="ctr" defTabSz="713232">
              <a:defRPr/>
            </a:pPr>
            <a:endParaRPr lang="en-US" sz="700" dirty="0">
              <a:solidFill>
                <a:srgbClr val="000000"/>
              </a:solidFill>
              <a:latin typeface="Inconsolata" panose="020B0609030003000000" pitchFamily="49" charset="0"/>
              <a:ea typeface="Lato Light" panose="020F0502020204030203" pitchFamily="34" charset="0"/>
              <a:cs typeface="Lato Light" panose="020F0502020204030203" pitchFamily="34" charset="0"/>
            </a:endParaRPr>
          </a:p>
          <a:p>
            <a:pPr algn="ctr" defTabSz="713232">
              <a:defRPr/>
            </a:pPr>
            <a:r>
              <a:rPr lang="en-US" sz="700" dirty="0">
                <a:solidFill>
                  <a:srgbClr val="000000"/>
                </a:solidFill>
                <a:latin typeface="Inconsolata" panose="020B0609030003000000" pitchFamily="49" charset="0"/>
                <a:ea typeface="Lato Light" panose="020F0502020204030203" pitchFamily="34" charset="0"/>
                <a:cs typeface="Lato Light" panose="020F0502020204030203" pitchFamily="34" charset="0"/>
              </a:rPr>
              <a:t>10010101000101010010101001010001010101110101010100111010011101001000101011101010010101010100010100100101001010010100100100101001010110101001010101110101011111101001010100101010001010010101001001010010110101001011001010100101010010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22F6C9DC-D455-415E-8BAC-3CBA51BE041D}"/>
              </a:ext>
            </a:extLst>
          </p:cNvPr>
          <p:cNvSpPr txBox="1"/>
          <p:nvPr/>
        </p:nvSpPr>
        <p:spPr>
          <a:xfrm>
            <a:off x="4803631" y="4904926"/>
            <a:ext cx="105768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713232">
              <a:defRPr/>
            </a:pPr>
            <a:r>
              <a:rPr lang="en-US" b="1" dirty="0">
                <a:solidFill>
                  <a:srgbClr val="000000"/>
                </a:solidFill>
                <a:latin typeface="Lato Black" panose="020F0502020204030203" pitchFamily="34" charset="0"/>
                <a:ea typeface="Lato Black" panose="020F0502020204030203" pitchFamily="34" charset="0"/>
                <a:cs typeface="Lato Black" panose="020F0502020204030203" pitchFamily="34" charset="0"/>
              </a:rPr>
              <a:t>my-lib.a</a:t>
            </a:r>
          </a:p>
        </p:txBody>
      </p:sp>
      <p:grpSp>
        <p:nvGrpSpPr>
          <p:cNvPr id="24" name="Group 23">
            <a:extLst>
              <a:ext uri="{FF2B5EF4-FFF2-40B4-BE49-F238E27FC236}">
                <a16:creationId xmlns:a16="http://schemas.microsoft.com/office/drawing/2014/main" id="{FCC78896-275D-4EF4-950C-AC0DBB80493C}"/>
              </a:ext>
            </a:extLst>
          </p:cNvPr>
          <p:cNvGrpSpPr/>
          <p:nvPr/>
        </p:nvGrpSpPr>
        <p:grpSpPr>
          <a:xfrm flipV="1">
            <a:off x="4120860" y="2387185"/>
            <a:ext cx="925971" cy="1026849"/>
            <a:chOff x="1837928" y="1030692"/>
            <a:chExt cx="925971" cy="1029620"/>
          </a:xfrm>
        </p:grpSpPr>
        <p:sp>
          <p:nvSpPr>
            <p:cNvPr id="25" name="Bent Arrow 11">
              <a:extLst>
                <a:ext uri="{FF2B5EF4-FFF2-40B4-BE49-F238E27FC236}">
                  <a16:creationId xmlns:a16="http://schemas.microsoft.com/office/drawing/2014/main" id="{05DC74A4-B42D-4ACA-A9E8-103818956689}"/>
                </a:ext>
              </a:extLst>
            </p:cNvPr>
            <p:cNvSpPr/>
            <p:nvPr/>
          </p:nvSpPr>
          <p:spPr>
            <a:xfrm rot="2902855">
              <a:off x="1771189" y="1097431"/>
              <a:ext cx="1029620" cy="896141"/>
            </a:xfrm>
            <a:prstGeom prst="bentArrow">
              <a:avLst>
                <a:gd name="adj1" fmla="val 25000"/>
                <a:gd name="adj2" fmla="val 25000"/>
                <a:gd name="adj3" fmla="val 25000"/>
                <a:gd name="adj4" fmla="val 87500"/>
              </a:avLst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713232">
                <a:defRPr/>
              </a:pPr>
              <a:endParaRPr lang="en-US" sz="1404" dirty="0">
                <a:solidFill>
                  <a:srgbClr val="000000"/>
                </a:solidFill>
                <a:latin typeface="Segoe UI"/>
              </a:endParaRPr>
            </a:p>
          </p:txBody>
        </p:sp>
        <p:sp>
          <p:nvSpPr>
            <p:cNvPr id="26" name="TextBox 25">
              <a:extLst>
                <a:ext uri="{FF2B5EF4-FFF2-40B4-BE49-F238E27FC236}">
                  <a16:creationId xmlns:a16="http://schemas.microsoft.com/office/drawing/2014/main" id="{F2F5646C-D981-4792-84C7-9A89C40B9A1C}"/>
                </a:ext>
              </a:extLst>
            </p:cNvPr>
            <p:cNvSpPr txBox="1"/>
            <p:nvPr/>
          </p:nvSpPr>
          <p:spPr>
            <a:xfrm rot="13362312">
              <a:off x="2353209" y="1405439"/>
              <a:ext cx="410690" cy="27774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defTabSz="713232">
                <a:defRPr/>
              </a:pPr>
              <a:r>
                <a:rPr lang="en-US" sz="1200" dirty="0">
                  <a:solidFill>
                    <a:srgbClr val="FFFFFF"/>
                  </a:solidFill>
                  <a:latin typeface="Lato Light" panose="020F0502020204030203" pitchFamily="34" charset="0"/>
                  <a:ea typeface="Lato Light" panose="020F0502020204030203" pitchFamily="34" charset="0"/>
                  <a:cs typeface="Lato Light" panose="020F0502020204030203" pitchFamily="34" charset="0"/>
                </a:rPr>
                <a:t>link</a:t>
              </a:r>
              <a:endParaRPr lang="en-US" sz="1100" dirty="0">
                <a:solidFill>
                  <a:srgbClr val="FFFFFF"/>
                </a:solidFill>
                <a:latin typeface="Lato Light" panose="020F0502020204030203" pitchFamily="34" charset="0"/>
                <a:ea typeface="Lato Light" panose="020F0502020204030203" pitchFamily="34" charset="0"/>
                <a:cs typeface="Lato Light" panose="020F0502020204030203" pitchFamily="34" charset="0"/>
              </a:endParaRPr>
            </a:p>
          </p:txBody>
        </p:sp>
      </p:grpSp>
      <p:sp>
        <p:nvSpPr>
          <p:cNvPr id="3" name="Rectangle 2">
            <a:extLst>
              <a:ext uri="{FF2B5EF4-FFF2-40B4-BE49-F238E27FC236}">
                <a16:creationId xmlns:a16="http://schemas.microsoft.com/office/drawing/2014/main" id="{1D146D6A-9ACC-41FD-A93C-6F8E054C8F18}"/>
              </a:ext>
            </a:extLst>
          </p:cNvPr>
          <p:cNvSpPr/>
          <p:nvPr/>
        </p:nvSpPr>
        <p:spPr>
          <a:xfrm rot="19097237">
            <a:off x="4193098" y="3089854"/>
            <a:ext cx="660538" cy="215153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37" name="Group 36">
            <a:extLst>
              <a:ext uri="{FF2B5EF4-FFF2-40B4-BE49-F238E27FC236}">
                <a16:creationId xmlns:a16="http://schemas.microsoft.com/office/drawing/2014/main" id="{D8BC81C7-9F78-4978-88CD-704EAE4B844D}"/>
              </a:ext>
            </a:extLst>
          </p:cNvPr>
          <p:cNvGrpSpPr/>
          <p:nvPr/>
        </p:nvGrpSpPr>
        <p:grpSpPr>
          <a:xfrm>
            <a:off x="4967835" y="986116"/>
            <a:ext cx="1219200" cy="1893332"/>
            <a:chOff x="304800" y="1104900"/>
            <a:chExt cx="1219200" cy="1893332"/>
          </a:xfrm>
        </p:grpSpPr>
        <p:sp>
          <p:nvSpPr>
            <p:cNvPr id="38" name="Card 6">
              <a:extLst>
                <a:ext uri="{FF2B5EF4-FFF2-40B4-BE49-F238E27FC236}">
                  <a16:creationId xmlns:a16="http://schemas.microsoft.com/office/drawing/2014/main" id="{7A1AF6FC-4C17-455E-A16B-A4BB06EBD9DC}"/>
                </a:ext>
              </a:extLst>
            </p:cNvPr>
            <p:cNvSpPr/>
            <p:nvPr/>
          </p:nvSpPr>
          <p:spPr>
            <a:xfrm>
              <a:off x="304800" y="1104900"/>
              <a:ext cx="1219200" cy="1524000"/>
            </a:xfrm>
            <a:prstGeom prst="flowChartPunchedCard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bIns="274320" rtlCol="0" anchor="ctr"/>
            <a:lstStyle/>
            <a:p>
              <a:pPr algn="ctr" defTabSz="713232">
                <a:defRPr/>
              </a:pPr>
              <a:endParaRPr lang="en-US" sz="700" dirty="0">
                <a:solidFill>
                  <a:srgbClr val="000000"/>
                </a:solidFill>
                <a:latin typeface="Inconsolata" panose="020B0609030003000000" pitchFamily="49" charset="0"/>
                <a:ea typeface="Lato Light" panose="020F0502020204030203" pitchFamily="34" charset="0"/>
                <a:cs typeface="Lato Light" panose="020F0502020204030203" pitchFamily="34" charset="0"/>
              </a:endParaRPr>
            </a:p>
            <a:p>
              <a:pPr algn="ctr" defTabSz="713232">
                <a:defRPr/>
              </a:pPr>
              <a:r>
                <a:rPr lang="en-US" sz="700" dirty="0">
                  <a:solidFill>
                    <a:srgbClr val="000000"/>
                  </a:solidFill>
                  <a:latin typeface="Inconsolata" panose="020B0609030003000000" pitchFamily="49" charset="0"/>
                  <a:ea typeface="Lato Light" panose="020F0502020204030203" pitchFamily="34" charset="0"/>
                  <a:cs typeface="Lato Light" panose="020F0502020204030203" pitchFamily="34" charset="0"/>
                </a:rPr>
                <a:t>11101001010100101010001010010101001001010010110101001011001010100101010010100101010001010100101010010100010101011101010101001110100111010010001010111010100101010101000101001001010010100101001001001010010101101010010101011101010111</a:t>
              </a:r>
            </a:p>
          </p:txBody>
        </p:sp>
        <p:sp>
          <p:nvSpPr>
            <p:cNvPr id="39" name="TextBox 38">
              <a:extLst>
                <a:ext uri="{FF2B5EF4-FFF2-40B4-BE49-F238E27FC236}">
                  <a16:creationId xmlns:a16="http://schemas.microsoft.com/office/drawing/2014/main" id="{157DE61B-2F87-4FD0-9B15-A506F3114C17}"/>
                </a:ext>
              </a:extLst>
            </p:cNvPr>
            <p:cNvSpPr txBox="1"/>
            <p:nvPr/>
          </p:nvSpPr>
          <p:spPr>
            <a:xfrm>
              <a:off x="567850" y="2628900"/>
              <a:ext cx="694421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defTabSz="713232">
                <a:defRPr/>
              </a:pPr>
              <a:r>
                <a:rPr lang="en-US" b="1" dirty="0">
                  <a:solidFill>
                    <a:srgbClr val="000000"/>
                  </a:solidFill>
                  <a:latin typeface="Lato Black" panose="020F0502020204030203" pitchFamily="34" charset="0"/>
                  <a:ea typeface="Lato Black" panose="020F0502020204030203" pitchFamily="34" charset="0"/>
                  <a:cs typeface="Lato Black" panose="020F0502020204030203" pitchFamily="34" charset="0"/>
                </a:rPr>
                <a:t>hello</a:t>
              </a:r>
            </a:p>
          </p:txBody>
        </p:sp>
      </p:grpSp>
      <p:sp>
        <p:nvSpPr>
          <p:cNvPr id="6" name="TextBox 5">
            <a:extLst>
              <a:ext uri="{FF2B5EF4-FFF2-40B4-BE49-F238E27FC236}">
                <a16:creationId xmlns:a16="http://schemas.microsoft.com/office/drawing/2014/main" id="{821B3337-3B72-453C-8FFE-53651D2DA0F9}"/>
              </a:ext>
            </a:extLst>
          </p:cNvPr>
          <p:cNvSpPr txBox="1"/>
          <p:nvPr/>
        </p:nvSpPr>
        <p:spPr>
          <a:xfrm>
            <a:off x="4305680" y="5221809"/>
            <a:ext cx="194316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External Libraries</a:t>
            </a:r>
          </a:p>
        </p:txBody>
      </p:sp>
    </p:spTree>
    <p:extLst>
      <p:ext uri="{BB962C8B-B14F-4D97-AF65-F5344CB8AC3E}">
        <p14:creationId xmlns:p14="http://schemas.microsoft.com/office/powerpoint/2010/main" val="87726998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4" grpId="0" animBg="1"/>
      <p:bldP spid="35" grpId="0" animBg="1"/>
      <p:bldP spid="36" grpId="0"/>
      <p:bldP spid="41" grpId="0" animBg="1"/>
      <p:bldP spid="42" grpId="0"/>
      <p:bldP spid="3" grpId="0" animBg="1"/>
      <p:bldP spid="6" grpId="0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599A8DA0-FDA7-4982-B397-FE0677F5B8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Loaders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6EC9E36B-AB3F-4080-A677-4A3030635A0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You should always stretch before you run – OSes do this, too.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39ABD6E-CFC3-4D76-A5B1-F828BDC2D1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AAD609-F83C-4414-814B-B5A2DF99692C}" type="slidenum">
              <a:rPr lang="en-US" smtClean="0"/>
              <a:pPr/>
              <a:t>24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65713220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380774AF-34BE-41E3-99F0-A1E2BA012E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 Operating System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ECE1EF98-13A6-4E52-A02E-BE7A7E7CCC0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4691" y="967741"/>
            <a:ext cx="5613844" cy="4179729"/>
          </a:xfrm>
        </p:spPr>
        <p:txBody>
          <a:bodyPr/>
          <a:lstStyle/>
          <a:p>
            <a:r>
              <a:rPr lang="en-US" dirty="0"/>
              <a:t>How does your ELF executable actually run?</a:t>
            </a:r>
          </a:p>
          <a:p>
            <a:endParaRPr lang="en-US" dirty="0"/>
          </a:p>
          <a:p>
            <a:r>
              <a:rPr lang="en-US" dirty="0"/>
              <a:t>There needs to be some system software to unpack the executable into memory.</a:t>
            </a:r>
          </a:p>
          <a:p>
            <a:endParaRPr lang="en-US" dirty="0"/>
          </a:p>
          <a:p>
            <a:r>
              <a:rPr lang="en-US" dirty="0"/>
              <a:t>That system software is a </a:t>
            </a:r>
            <a:r>
              <a:rPr lang="en-US" dirty="0">
                <a:solidFill>
                  <a:schemeClr val="accent1">
                    <a:lumMod val="75000"/>
                  </a:schemeClr>
                </a:solidFill>
                <a:latin typeface="Lato Black" panose="020F0502020204030203" pitchFamily="34" charset="0"/>
                <a:ea typeface="Lato Black" panose="020F0502020204030203" pitchFamily="34" charset="0"/>
                <a:cs typeface="Lato Black" panose="020F0502020204030203" pitchFamily="34" charset="0"/>
              </a:rPr>
              <a:t>loader</a:t>
            </a:r>
            <a:r>
              <a:rPr lang="en-US" dirty="0"/>
              <a:t> and it is part of an </a:t>
            </a:r>
            <a:r>
              <a:rPr lang="en-US" dirty="0">
                <a:solidFill>
                  <a:schemeClr val="accent1">
                    <a:lumMod val="75000"/>
                  </a:schemeClr>
                </a:solidFill>
                <a:latin typeface="Lato Black" panose="020F0502020204030203" pitchFamily="34" charset="0"/>
                <a:ea typeface="Lato Black" panose="020F0502020204030203" pitchFamily="34" charset="0"/>
                <a:cs typeface="Lato Black" panose="020F0502020204030203" pitchFamily="34" charset="0"/>
              </a:rPr>
              <a:t>operating system</a:t>
            </a:r>
            <a:r>
              <a:rPr lang="en-US" dirty="0"/>
              <a:t>.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95761E8-44D7-4221-AF60-0011DDEADF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AAD609-F83C-4414-814B-B5A2DF99692C}" type="slidenum">
              <a:rPr lang="en-US" smtClean="0"/>
              <a:pPr/>
              <a:t>25</a:t>
            </a:fld>
            <a:endParaRPr lang="en-US" dirty="0"/>
          </a:p>
        </p:txBody>
      </p:sp>
      <p:pic>
        <p:nvPicPr>
          <p:cNvPr id="12" name="Picture 11" descr="A close up of a device&#10;&#10;Description automatically generated">
            <a:extLst>
              <a:ext uri="{FF2B5EF4-FFF2-40B4-BE49-F238E27FC236}">
                <a16:creationId xmlns:a16="http://schemas.microsoft.com/office/drawing/2014/main" id="{FC261588-6BE3-42D2-9E1B-84AEB16C7E5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98276" y="1813168"/>
            <a:ext cx="3861724" cy="3125582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C9D37D80-A892-4207-9301-92545A718E4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6290856" y="2335999"/>
            <a:ext cx="1468230" cy="2366821"/>
          </a:xfrm>
          <a:prstGeom prst="rect">
            <a:avLst/>
          </a:prstGeom>
        </p:spPr>
      </p:pic>
      <p:pic>
        <p:nvPicPr>
          <p:cNvPr id="8" name="Picture 7" descr="A picture containing table, sitting, room, white&#10;&#10;Description automatically generated">
            <a:extLst>
              <a:ext uri="{FF2B5EF4-FFF2-40B4-BE49-F238E27FC236}">
                <a16:creationId xmlns:a16="http://schemas.microsoft.com/office/drawing/2014/main" id="{464A856F-4CC9-4606-AA37-9375888EC0F2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33715" y="2871380"/>
            <a:ext cx="2777692" cy="1845180"/>
          </a:xfrm>
          <a:prstGeom prst="rect">
            <a:avLst/>
          </a:prstGeom>
        </p:spPr>
      </p:pic>
      <p:pic>
        <p:nvPicPr>
          <p:cNvPr id="9" name="Picture 8" descr="A person posing for the camera&#10;&#10;Description automatically generated">
            <a:extLst>
              <a:ext uri="{FF2B5EF4-FFF2-40B4-BE49-F238E27FC236}">
                <a16:creationId xmlns:a16="http://schemas.microsoft.com/office/drawing/2014/main" id="{811B75A7-9913-4AD5-A805-35AE659D546E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04517" y="3408566"/>
            <a:ext cx="1236086" cy="770806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7C59C324-1F8A-40B7-91FD-A98DC4F214E0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5533715" y="2871379"/>
            <a:ext cx="2777692" cy="18451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036001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1.94444E-6 1.11111E-6 L 1.94444E-6 -0.28167 " pathEditMode="relative" rAng="0" ptsTypes="AA">
                                      <p:cBhvr>
                                        <p:cTn id="6" dur="2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14083"/>
                                    </p:animMotion>
                                  </p:childTnLst>
                                </p:cTn>
                              </p:par>
                              <p:par>
                                <p:cTn id="7" presetID="42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1.94444E-6 1.11111E-6 L 1.94444E-6 -0.16139 " pathEditMode="relative" rAng="0" ptsTypes="AA">
                                      <p:cBhvr>
                                        <p:cTn id="8" dur="2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8083"/>
                                    </p:animMotion>
                                  </p:childTnLst>
                                </p:cTn>
                              </p:par>
                              <p:par>
                                <p:cTn id="9" presetID="42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8.33333E-7 4.44444E-6 L 8.33333E-7 -0.17389 " pathEditMode="relative" rAng="0" ptsTypes="AA">
                                      <p:cBhvr>
                                        <p:cTn id="10" dur="2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8694"/>
                                    </p:animMotion>
                                  </p:childTnLst>
                                </p:cTn>
                              </p:par>
                              <p:par>
                                <p:cTn id="11" presetID="42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1.94444E-6 1.11111E-6 L 1.94444E-6 -0.16139 " pathEditMode="relative" rAng="0" ptsTypes="AA">
                                      <p:cBhvr>
                                        <p:cTn id="12" dur="2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8083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E7EDF1-D54F-4266-AD97-70CF246E1D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Memory Segments – Deeper dive!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643D170-908C-437A-885B-8EB942EB83D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967741"/>
            <a:ext cx="6695440" cy="4179729"/>
          </a:xfrm>
        </p:spPr>
        <p:txBody>
          <a:bodyPr>
            <a:normAutofit fontScale="92500" lnSpcReduction="10000"/>
          </a:bodyPr>
          <a:lstStyle/>
          <a:p>
            <a:r>
              <a:rPr lang="en-US" dirty="0"/>
              <a:t>The ELF executable defines several segments:</a:t>
            </a:r>
          </a:p>
          <a:p>
            <a:pPr lvl="1"/>
            <a:r>
              <a:rPr lang="en-US" dirty="0">
                <a:latin typeface="Inconsolata" panose="020B0609030003000000" pitchFamily="49" charset="0"/>
              </a:rPr>
              <a:t>.text</a:t>
            </a:r>
            <a:r>
              <a:rPr lang="en-US" dirty="0"/>
              <a:t> – The code segment (machine code)</a:t>
            </a:r>
          </a:p>
          <a:p>
            <a:pPr lvl="1"/>
            <a:r>
              <a:rPr lang="en-US" dirty="0">
                <a:latin typeface="Inconsolata" panose="020B0609030003000000" pitchFamily="49" charset="0"/>
              </a:rPr>
              <a:t>.data</a:t>
            </a:r>
            <a:r>
              <a:rPr lang="en-US" dirty="0"/>
              <a:t> – The data segment (program data)</a:t>
            </a:r>
          </a:p>
          <a:p>
            <a:pPr lvl="1"/>
            <a:r>
              <a:rPr lang="en-US" dirty="0">
                <a:latin typeface="Inconsolata" panose="020B0609030003000000" pitchFamily="49" charset="0"/>
              </a:rPr>
              <a:t>.</a:t>
            </a:r>
            <a:r>
              <a:rPr lang="en-US" dirty="0" err="1">
                <a:latin typeface="Inconsolata" panose="020B0609030003000000" pitchFamily="49" charset="0"/>
              </a:rPr>
              <a:t>rodata</a:t>
            </a:r>
            <a:r>
              <a:rPr lang="en-US" dirty="0"/>
              <a:t> – The read-only data segment (constants)</a:t>
            </a:r>
          </a:p>
          <a:p>
            <a:pPr lvl="1"/>
            <a:r>
              <a:rPr lang="en-US" dirty="0">
                <a:latin typeface="Inconsolata" panose="020B0609030003000000" pitchFamily="49" charset="0"/>
              </a:rPr>
              <a:t>.</a:t>
            </a:r>
            <a:r>
              <a:rPr lang="en-US" dirty="0" err="1">
                <a:latin typeface="Inconsolata" panose="020B0609030003000000" pitchFamily="49" charset="0"/>
              </a:rPr>
              <a:t>bss</a:t>
            </a:r>
            <a:r>
              <a:rPr lang="en-US" dirty="0"/>
              <a:t> – Uninitialized data segment (“zero” data)</a:t>
            </a:r>
          </a:p>
          <a:p>
            <a:pPr lvl="1"/>
            <a:endParaRPr lang="en-US" dirty="0"/>
          </a:p>
          <a:p>
            <a:r>
              <a:rPr lang="en-US" dirty="0"/>
              <a:t>The</a:t>
            </a:r>
            <a:r>
              <a:rPr lang="en-US" dirty="0">
                <a:latin typeface="Inconsolata" panose="020B0609030003000000" pitchFamily="49" charset="0"/>
              </a:rPr>
              <a:t> .</a:t>
            </a:r>
            <a:r>
              <a:rPr lang="en-US" dirty="0" err="1">
                <a:latin typeface="Inconsolata" panose="020B0609030003000000" pitchFamily="49" charset="0"/>
              </a:rPr>
              <a:t>bss</a:t>
            </a:r>
            <a:r>
              <a:rPr lang="en-US" dirty="0">
                <a:latin typeface="Inconsolata" panose="020B0609030003000000" pitchFamily="49" charset="0"/>
              </a:rPr>
              <a:t> </a:t>
            </a:r>
            <a:r>
              <a:rPr lang="en-US" dirty="0"/>
              <a:t>segment is a special segment for all data that starts as</a:t>
            </a:r>
            <a:r>
              <a:rPr lang="en-US" dirty="0">
                <a:latin typeface="Inconsolata" panose="020B0609030003000000" pitchFamily="49" charset="0"/>
              </a:rPr>
              <a:t> 0 </a:t>
            </a:r>
            <a:r>
              <a:rPr lang="en-US" dirty="0"/>
              <a:t>or</a:t>
            </a:r>
            <a:r>
              <a:rPr lang="en-US" dirty="0">
                <a:latin typeface="Inconsolata" panose="020B0609030003000000" pitchFamily="49" charset="0"/>
              </a:rPr>
              <a:t> NULL</a:t>
            </a:r>
            <a:r>
              <a:rPr lang="en-US" dirty="0"/>
              <a:t>.</a:t>
            </a:r>
          </a:p>
          <a:p>
            <a:pPr lvl="1"/>
            <a:r>
              <a:rPr lang="en-US" dirty="0"/>
              <a:t>(Its name is Block Started by Symbol which is a historic name.)</a:t>
            </a:r>
          </a:p>
          <a:p>
            <a:pPr lvl="1"/>
            <a:r>
              <a:rPr lang="en-US" dirty="0"/>
              <a:t>It is often an optimization: the executable does not need to store a whole bunch of zeros.</a:t>
            </a:r>
          </a:p>
          <a:p>
            <a:pPr lvl="1"/>
            <a:r>
              <a:rPr lang="en-US" dirty="0"/>
              <a:t>Hmm… the operating system must then allocate a bunch of zeros. Is that fast?? (We’ll get there)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13AAC80-C6BA-4054-8301-8E55A7DF86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AAD609-F83C-4414-814B-B5A2DF99692C}" type="slidenum">
              <a:rPr lang="en-US" smtClean="0"/>
              <a:pPr/>
              <a:t>26</a:t>
            </a:fld>
            <a:endParaRPr lang="en-US" dirty="0"/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43BCA79D-5BFB-41B3-96B8-4CD8145856C2}"/>
              </a:ext>
            </a:extLst>
          </p:cNvPr>
          <p:cNvGrpSpPr/>
          <p:nvPr/>
        </p:nvGrpSpPr>
        <p:grpSpPr>
          <a:xfrm>
            <a:off x="6922654" y="592672"/>
            <a:ext cx="2453931" cy="5078526"/>
            <a:chOff x="6400799" y="-88054"/>
            <a:chExt cx="2453931" cy="6771366"/>
          </a:xfrm>
        </p:grpSpPr>
        <p:sp>
          <p:nvSpPr>
            <p:cNvPr id="27" name="Rectangle 26">
              <a:extLst>
                <a:ext uri="{FF2B5EF4-FFF2-40B4-BE49-F238E27FC236}">
                  <a16:creationId xmlns:a16="http://schemas.microsoft.com/office/drawing/2014/main" id="{7F443094-D751-4E7A-AC8F-5C524E6C4EA0}"/>
                </a:ext>
              </a:extLst>
            </p:cNvPr>
            <p:cNvSpPr/>
            <p:nvPr/>
          </p:nvSpPr>
          <p:spPr>
            <a:xfrm>
              <a:off x="6412523" y="401769"/>
              <a:ext cx="2438400" cy="854874"/>
            </a:xfrm>
            <a:prstGeom prst="rect">
              <a:avLst/>
            </a:prstGeom>
            <a:solidFill>
              <a:srgbClr val="C288BE"/>
            </a:solidFill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buClrTx/>
              </a:pPr>
              <a:endParaRPr lang="en-US" dirty="0">
                <a:solidFill>
                  <a:prstClr val="white"/>
                </a:solidFill>
                <a:latin typeface="Calibri"/>
              </a:endParaRPr>
            </a:p>
          </p:txBody>
        </p:sp>
        <p:sp>
          <p:nvSpPr>
            <p:cNvPr id="25" name="Rectangle 24">
              <a:extLst>
                <a:ext uri="{FF2B5EF4-FFF2-40B4-BE49-F238E27FC236}">
                  <a16:creationId xmlns:a16="http://schemas.microsoft.com/office/drawing/2014/main" id="{4A51DEFD-DA95-4F29-B021-D391450E4E5A}"/>
                </a:ext>
              </a:extLst>
            </p:cNvPr>
            <p:cNvSpPr/>
            <p:nvPr/>
          </p:nvSpPr>
          <p:spPr>
            <a:xfrm>
              <a:off x="6416330" y="3302557"/>
              <a:ext cx="2438400" cy="678501"/>
            </a:xfrm>
            <a:prstGeom prst="rect">
              <a:avLst/>
            </a:prstGeom>
            <a:solidFill>
              <a:schemeClr val="accent6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buClrTx/>
                <a:defRPr/>
              </a:pPr>
              <a:r>
                <a:rPr lang="en-US" sz="2400" dirty="0">
                  <a:solidFill>
                    <a:prstClr val="black"/>
                  </a:solidFill>
                  <a:latin typeface="Lato" panose="020F0502020204030203" pitchFamily="34" charset="0"/>
                  <a:ea typeface="Lato" panose="020F0502020204030203" pitchFamily="34" charset="0"/>
                  <a:cs typeface="Lato" panose="020F0502020204030203" pitchFamily="34" charset="0"/>
                </a:rPr>
                <a:t>heap</a:t>
              </a:r>
            </a:p>
          </p:txBody>
        </p:sp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C72D159B-33DA-46CB-B82C-8CA13F8D5C78}"/>
                </a:ext>
              </a:extLst>
            </p:cNvPr>
            <p:cNvSpPr/>
            <p:nvPr/>
          </p:nvSpPr>
          <p:spPr>
            <a:xfrm>
              <a:off x="6412523" y="3978275"/>
              <a:ext cx="2438400" cy="678501"/>
            </a:xfrm>
            <a:prstGeom prst="rect">
              <a:avLst/>
            </a:prstGeom>
            <a:solidFill>
              <a:schemeClr val="bg1">
                <a:lumMod val="65000"/>
              </a:schemeClr>
            </a:solidFill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buClrTx/>
              </a:pPr>
              <a:endParaRPr lang="en-US" dirty="0">
                <a:solidFill>
                  <a:prstClr val="white"/>
                </a:solidFill>
                <a:latin typeface="Calibri"/>
              </a:endParaRPr>
            </a:p>
          </p:txBody>
        </p:sp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7723490A-26DD-44B8-B08C-FA910161016C}"/>
                </a:ext>
              </a:extLst>
            </p:cNvPr>
            <p:cNvSpPr/>
            <p:nvPr/>
          </p:nvSpPr>
          <p:spPr>
            <a:xfrm>
              <a:off x="6400799" y="1269158"/>
              <a:ext cx="2438400" cy="608856"/>
            </a:xfrm>
            <a:prstGeom prst="rect">
              <a:avLst/>
            </a:prstGeom>
            <a:solidFill>
              <a:schemeClr val="accent2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buClrTx/>
              </a:pPr>
              <a:endParaRPr lang="en-US">
                <a:solidFill>
                  <a:prstClr val="white"/>
                </a:solidFill>
                <a:latin typeface="Calibri"/>
              </a:endParaRPr>
            </a:p>
          </p:txBody>
        </p:sp>
        <p:grpSp>
          <p:nvGrpSpPr>
            <p:cNvPr id="9" name="Group 8">
              <a:extLst>
                <a:ext uri="{FF2B5EF4-FFF2-40B4-BE49-F238E27FC236}">
                  <a16:creationId xmlns:a16="http://schemas.microsoft.com/office/drawing/2014/main" id="{045AAB53-7EA0-49F6-97C3-23FD0495B27E}"/>
                </a:ext>
              </a:extLst>
            </p:cNvPr>
            <p:cNvGrpSpPr/>
            <p:nvPr/>
          </p:nvGrpSpPr>
          <p:grpSpPr>
            <a:xfrm>
              <a:off x="6400799" y="-88054"/>
              <a:ext cx="2450124" cy="6771366"/>
              <a:chOff x="6400799" y="-88054"/>
              <a:chExt cx="2450124" cy="6771366"/>
            </a:xfrm>
          </p:grpSpPr>
          <p:sp>
            <p:nvSpPr>
              <p:cNvPr id="10" name="Rectangle 2" descr="Wide upward diagonal">
                <a:extLst>
                  <a:ext uri="{FF2B5EF4-FFF2-40B4-BE49-F238E27FC236}">
                    <a16:creationId xmlns:a16="http://schemas.microsoft.com/office/drawing/2014/main" id="{4CAA74A7-5885-4D61-B104-AAEF8897305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412523" y="1878013"/>
                <a:ext cx="2438400" cy="1421750"/>
              </a:xfrm>
              <a:prstGeom prst="rect">
                <a:avLst/>
              </a:prstGeom>
              <a:pattFill prst="wdUpDiag">
                <a:fgClr>
                  <a:schemeClr val="bg2"/>
                </a:fgClr>
                <a:bgClr>
                  <a:srgbClr val="FFFFFF"/>
                </a:bgClr>
              </a:pattFill>
              <a:ln w="12700">
                <a:solidFill>
                  <a:schemeClr val="bg1"/>
                </a:solidFill>
                <a:miter lim="800000"/>
                <a:headEnd/>
                <a:tailEnd/>
              </a:ln>
            </p:spPr>
            <p:txBody>
              <a:bodyPr wrap="none" anchor="ctr">
                <a:prstTxWarp prst="textNoShape">
                  <a:avLst/>
                </a:prstTxWarp>
              </a:bodyPr>
              <a:lstStyle/>
              <a:p>
                <a:pPr algn="ctr">
                  <a:buClrTx/>
                  <a:defRPr/>
                </a:pPr>
                <a:r>
                  <a:rPr lang="en-US" dirty="0">
                    <a:solidFill>
                      <a:prstClr val="black"/>
                    </a:solidFill>
                    <a:latin typeface="Lato" panose="020F0502020204030203" pitchFamily="34" charset="0"/>
                    <a:ea typeface="Lato" panose="020F0502020204030203" pitchFamily="34" charset="0"/>
                    <a:cs typeface="Lato" panose="020F0502020204030203" pitchFamily="34" charset="0"/>
                  </a:rPr>
                  <a:t>currently unused but </a:t>
                </a:r>
              </a:p>
              <a:p>
                <a:pPr algn="ctr">
                  <a:buClrTx/>
                  <a:defRPr/>
                </a:pPr>
                <a:r>
                  <a:rPr lang="en-US" dirty="0">
                    <a:solidFill>
                      <a:prstClr val="black"/>
                    </a:solidFill>
                    <a:latin typeface="Lato" panose="020F0502020204030203" pitchFamily="34" charset="0"/>
                    <a:ea typeface="Lato" panose="020F0502020204030203" pitchFamily="34" charset="0"/>
                    <a:cs typeface="Lato" panose="020F0502020204030203" pitchFamily="34" charset="0"/>
                  </a:rPr>
                  <a:t>available memory</a:t>
                </a:r>
              </a:p>
            </p:txBody>
          </p:sp>
          <p:sp>
            <p:nvSpPr>
              <p:cNvPr id="11" name="Rectangle 5">
                <a:extLst>
                  <a:ext uri="{FF2B5EF4-FFF2-40B4-BE49-F238E27FC236}">
                    <a16:creationId xmlns:a16="http://schemas.microsoft.com/office/drawing/2014/main" id="{172FEEC9-2DD4-440D-9803-57E5FF10F4F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412523" y="412037"/>
                <a:ext cx="2438400" cy="5776040"/>
              </a:xfrm>
              <a:prstGeom prst="rect">
                <a:avLst/>
              </a:prstGeom>
              <a:noFill/>
              <a:ln w="3810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>
                <a:prstTxWarp prst="textNoShape">
                  <a:avLst/>
                </a:prstTxWarp>
              </a:bodyPr>
              <a:lstStyle/>
              <a:p>
                <a:pPr>
                  <a:buClrTx/>
                  <a:defRPr/>
                </a:pPr>
                <a:endParaRPr lang="en-US">
                  <a:solidFill>
                    <a:prstClr val="black"/>
                  </a:solidFill>
                  <a:latin typeface="Calibri"/>
                  <a:ea typeface="ＭＳ Ｐゴシック" charset="-128"/>
                  <a:cs typeface="ＭＳ Ｐゴシック" charset="-128"/>
                </a:endParaRPr>
              </a:p>
            </p:txBody>
          </p:sp>
          <p:sp>
            <p:nvSpPr>
              <p:cNvPr id="12" name="Rectangle 6">
                <a:extLst>
                  <a:ext uri="{FF2B5EF4-FFF2-40B4-BE49-F238E27FC236}">
                    <a16:creationId xmlns:a16="http://schemas.microsoft.com/office/drawing/2014/main" id="{421D7654-62E2-47D8-ABCA-CCD08CD4948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412523" y="5349876"/>
                <a:ext cx="2438400" cy="838200"/>
              </a:xfrm>
              <a:prstGeom prst="rect">
                <a:avLst/>
              </a:prstGeom>
              <a:solidFill>
                <a:srgbClr val="FFFF00"/>
              </a:solidFill>
              <a:ln w="3810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>
                <a:prstTxWarp prst="textNoShape">
                  <a:avLst/>
                </a:prstTxWarp>
              </a:bodyPr>
              <a:lstStyle/>
              <a:p>
                <a:pPr>
                  <a:buClrTx/>
                  <a:defRPr/>
                </a:pPr>
                <a:endParaRPr lang="en-US">
                  <a:solidFill>
                    <a:prstClr val="black"/>
                  </a:solidFill>
                  <a:latin typeface="Calibri"/>
                  <a:ea typeface="ＭＳ Ｐゴシック" charset="-128"/>
                  <a:cs typeface="ＭＳ Ｐゴシック" charset="-128"/>
                </a:endParaRPr>
              </a:p>
            </p:txBody>
          </p:sp>
          <p:sp>
            <p:nvSpPr>
              <p:cNvPr id="13" name="Rectangle 7">
                <a:extLst>
                  <a:ext uri="{FF2B5EF4-FFF2-40B4-BE49-F238E27FC236}">
                    <a16:creationId xmlns:a16="http://schemas.microsoft.com/office/drawing/2014/main" id="{F60FBE20-C13F-4D55-AC21-ABD78E36F66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412523" y="4664077"/>
                <a:ext cx="2438400" cy="685800"/>
              </a:xfrm>
              <a:prstGeom prst="rect">
                <a:avLst/>
              </a:prstGeom>
              <a:solidFill>
                <a:srgbClr val="00B0F0"/>
              </a:solidFill>
              <a:ln w="3810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>
                <a:prstTxWarp prst="textNoShape">
                  <a:avLst/>
                </a:prstTxWarp>
              </a:bodyPr>
              <a:lstStyle/>
              <a:p>
                <a:pPr>
                  <a:buClrTx/>
                  <a:defRPr/>
                </a:pPr>
                <a:endParaRPr lang="en-US">
                  <a:solidFill>
                    <a:prstClr val="black"/>
                  </a:solidFill>
                  <a:latin typeface="Calibri"/>
                  <a:ea typeface="ＭＳ Ｐゴシック" charset="-128"/>
                  <a:cs typeface="ＭＳ Ｐゴシック" charset="-128"/>
                </a:endParaRPr>
              </a:p>
            </p:txBody>
          </p:sp>
          <p:sp>
            <p:nvSpPr>
              <p:cNvPr id="15" name="Line 9">
                <a:extLst>
                  <a:ext uri="{FF2B5EF4-FFF2-40B4-BE49-F238E27FC236}">
                    <a16:creationId xmlns:a16="http://schemas.microsoft.com/office/drawing/2014/main" id="{35E9F0E8-5D43-4CC7-823F-0EF328D31735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6412523" y="1881815"/>
                <a:ext cx="2438400" cy="0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prstDash val="lgDash"/>
                <a:round/>
                <a:headEnd/>
                <a:tailEnd/>
              </a:ln>
            </p:spPr>
            <p:txBody>
              <a:bodyPr>
                <a:prstTxWarp prst="textNoShape">
                  <a:avLst/>
                </a:prstTxWarp>
              </a:bodyPr>
              <a:lstStyle/>
              <a:p>
                <a:pPr>
                  <a:buClrTx/>
                  <a:defRPr/>
                </a:pPr>
                <a:endParaRPr lang="en-US" dirty="0">
                  <a:solidFill>
                    <a:prstClr val="black"/>
                  </a:solidFill>
                  <a:latin typeface="Calibri"/>
                  <a:ea typeface="ＭＳ Ｐゴシック" charset="-128"/>
                  <a:cs typeface="ＭＳ Ｐゴシック" charset="-128"/>
                </a:endParaRPr>
              </a:p>
            </p:txBody>
          </p:sp>
          <p:sp>
            <p:nvSpPr>
              <p:cNvPr id="16" name="Text Box 10">
                <a:extLst>
                  <a:ext uri="{FF2B5EF4-FFF2-40B4-BE49-F238E27FC236}">
                    <a16:creationId xmlns:a16="http://schemas.microsoft.com/office/drawing/2014/main" id="{199C8562-9A18-45FF-A1EE-439274E25653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7223097" y="5440678"/>
                <a:ext cx="793807" cy="615553"/>
              </a:xfrm>
              <a:prstGeom prst="rect">
                <a:avLst/>
              </a:prstGeom>
              <a:noFill/>
              <a:ln w="12700">
                <a:noFill/>
                <a:miter lim="800000"/>
                <a:headEnd/>
                <a:tailEnd/>
              </a:ln>
            </p:spPr>
            <p:txBody>
              <a:bodyPr wrap="none">
                <a:prstTxWarp prst="textNoShape">
                  <a:avLst/>
                </a:prstTxWarp>
                <a:spAutoFit/>
              </a:bodyPr>
              <a:lstStyle/>
              <a:p>
                <a:pPr algn="ctr">
                  <a:buClrTx/>
                  <a:defRPr/>
                </a:pPr>
                <a:r>
                  <a:rPr lang="en-US" sz="2400" dirty="0">
                    <a:solidFill>
                      <a:prstClr val="black"/>
                    </a:solidFill>
                    <a:latin typeface="Lato" panose="020F0502020204030203" pitchFamily="34" charset="0"/>
                    <a:ea typeface="Lato" panose="020F0502020204030203" pitchFamily="34" charset="0"/>
                    <a:cs typeface="Lato" panose="020F0502020204030203" pitchFamily="34" charset="0"/>
                  </a:rPr>
                  <a:t>.text</a:t>
                </a:r>
              </a:p>
            </p:txBody>
          </p:sp>
          <p:sp>
            <p:nvSpPr>
              <p:cNvPr id="17" name="Text Box 11">
                <a:extLst>
                  <a:ext uri="{FF2B5EF4-FFF2-40B4-BE49-F238E27FC236}">
                    <a16:creationId xmlns:a16="http://schemas.microsoft.com/office/drawing/2014/main" id="{2C00A605-DB82-4309-BE9B-97C42F562AE9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7228223" y="4676777"/>
                <a:ext cx="845104" cy="615553"/>
              </a:xfrm>
              <a:prstGeom prst="rect">
                <a:avLst/>
              </a:prstGeom>
              <a:noFill/>
              <a:ln w="12700">
                <a:noFill/>
                <a:miter lim="800000"/>
                <a:headEnd/>
                <a:tailEnd/>
              </a:ln>
            </p:spPr>
            <p:txBody>
              <a:bodyPr wrap="none">
                <a:prstTxWarp prst="textNoShape">
                  <a:avLst/>
                </a:prstTxWarp>
                <a:spAutoFit/>
              </a:bodyPr>
              <a:lstStyle/>
              <a:p>
                <a:pPr algn="ctr">
                  <a:buClrTx/>
                  <a:defRPr/>
                </a:pPr>
                <a:r>
                  <a:rPr lang="en-US" sz="2400" dirty="0">
                    <a:solidFill>
                      <a:prstClr val="black"/>
                    </a:solidFill>
                    <a:latin typeface="Lato" panose="020F0502020204030203" pitchFamily="34" charset="0"/>
                    <a:ea typeface="Lato" panose="020F0502020204030203" pitchFamily="34" charset="0"/>
                    <a:cs typeface="Lato" panose="020F0502020204030203" pitchFamily="34" charset="0"/>
                  </a:rPr>
                  <a:t>.data</a:t>
                </a:r>
              </a:p>
            </p:txBody>
          </p:sp>
          <p:sp>
            <p:nvSpPr>
              <p:cNvPr id="18" name="Text Box 12">
                <a:extLst>
                  <a:ext uri="{FF2B5EF4-FFF2-40B4-BE49-F238E27FC236}">
                    <a16:creationId xmlns:a16="http://schemas.microsoft.com/office/drawing/2014/main" id="{262CC615-A936-48BD-86B9-B879E2FA4637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7302762" y="3990975"/>
                <a:ext cx="696024" cy="615553"/>
              </a:xfrm>
              <a:prstGeom prst="rect">
                <a:avLst/>
              </a:prstGeom>
              <a:noFill/>
              <a:ln w="12700">
                <a:noFill/>
                <a:miter lim="800000"/>
                <a:headEnd/>
                <a:tailEnd/>
              </a:ln>
            </p:spPr>
            <p:txBody>
              <a:bodyPr wrap="none">
                <a:prstTxWarp prst="textNoShape">
                  <a:avLst/>
                </a:prstTxWarp>
                <a:spAutoFit/>
              </a:bodyPr>
              <a:lstStyle/>
              <a:p>
                <a:pPr algn="ctr">
                  <a:buClrTx/>
                  <a:defRPr/>
                </a:pPr>
                <a:r>
                  <a:rPr lang="en-US" sz="2400" dirty="0">
                    <a:solidFill>
                      <a:prstClr val="black"/>
                    </a:solidFill>
                    <a:latin typeface="Lato" panose="020F0502020204030203" pitchFamily="34" charset="0"/>
                    <a:ea typeface="Lato" panose="020F0502020204030203" pitchFamily="34" charset="0"/>
                    <a:cs typeface="Lato" panose="020F0502020204030203" pitchFamily="34" charset="0"/>
                  </a:rPr>
                  <a:t>.</a:t>
                </a:r>
                <a:r>
                  <a:rPr lang="en-US" sz="2400" dirty="0" err="1">
                    <a:solidFill>
                      <a:prstClr val="black"/>
                    </a:solidFill>
                    <a:latin typeface="Lato" panose="020F0502020204030203" pitchFamily="34" charset="0"/>
                    <a:ea typeface="Lato" panose="020F0502020204030203" pitchFamily="34" charset="0"/>
                    <a:cs typeface="Lato" panose="020F0502020204030203" pitchFamily="34" charset="0"/>
                  </a:rPr>
                  <a:t>bss</a:t>
                </a:r>
                <a:endParaRPr lang="en-US" sz="2400" dirty="0">
                  <a:solidFill>
                    <a:prstClr val="black"/>
                  </a:solidFill>
                  <a:latin typeface="Lato" panose="020F0502020204030203" pitchFamily="34" charset="0"/>
                  <a:ea typeface="Lato" panose="020F0502020204030203" pitchFamily="34" charset="0"/>
                  <a:cs typeface="Lato" panose="020F0502020204030203" pitchFamily="34" charset="0"/>
                </a:endParaRPr>
              </a:p>
            </p:txBody>
          </p:sp>
          <p:sp>
            <p:nvSpPr>
              <p:cNvPr id="19" name="Text Box 13">
                <a:extLst>
                  <a:ext uri="{FF2B5EF4-FFF2-40B4-BE49-F238E27FC236}">
                    <a16:creationId xmlns:a16="http://schemas.microsoft.com/office/drawing/2014/main" id="{5C0DACD6-E5D5-482B-B5E7-C001A697D856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7208180" y="1250920"/>
                <a:ext cx="885179" cy="615553"/>
              </a:xfrm>
              <a:prstGeom prst="rect">
                <a:avLst/>
              </a:prstGeom>
              <a:noFill/>
              <a:ln w="12700">
                <a:noFill/>
                <a:miter lim="800000"/>
                <a:headEnd/>
                <a:tailEnd/>
              </a:ln>
            </p:spPr>
            <p:txBody>
              <a:bodyPr wrap="none">
                <a:prstTxWarp prst="textNoShape">
                  <a:avLst/>
                </a:prstTxWarp>
                <a:spAutoFit/>
              </a:bodyPr>
              <a:lstStyle/>
              <a:p>
                <a:pPr algn="ctr">
                  <a:buClrTx/>
                  <a:defRPr/>
                </a:pPr>
                <a:r>
                  <a:rPr lang="en-US" sz="2400" dirty="0">
                    <a:solidFill>
                      <a:prstClr val="black"/>
                    </a:solidFill>
                    <a:latin typeface="Lato" panose="020F0502020204030203" pitchFamily="34" charset="0"/>
                    <a:ea typeface="Lato" panose="020F0502020204030203" pitchFamily="34" charset="0"/>
                    <a:cs typeface="Lato" panose="020F0502020204030203" pitchFamily="34" charset="0"/>
                  </a:rPr>
                  <a:t>stack</a:t>
                </a:r>
              </a:p>
            </p:txBody>
          </p:sp>
          <p:sp>
            <p:nvSpPr>
              <p:cNvPr id="21" name="Line 15">
                <a:extLst>
                  <a:ext uri="{FF2B5EF4-FFF2-40B4-BE49-F238E27FC236}">
                    <a16:creationId xmlns:a16="http://schemas.microsoft.com/office/drawing/2014/main" id="{1C3A2F04-4A9E-4ED7-9CDB-74252981D56D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7662203" y="1864996"/>
                <a:ext cx="0" cy="381000"/>
              </a:xfrm>
              <a:prstGeom prst="line">
                <a:avLst/>
              </a:prstGeom>
              <a:noFill/>
              <a:ln w="31750">
                <a:solidFill>
                  <a:schemeClr val="tx1"/>
                </a:solidFill>
                <a:round/>
                <a:headEnd/>
                <a:tailEnd type="triangle" w="med" len="med"/>
              </a:ln>
            </p:spPr>
            <p:txBody>
              <a:bodyPr>
                <a:prstTxWarp prst="textNoShape">
                  <a:avLst/>
                </a:prstTxWarp>
              </a:bodyPr>
              <a:lstStyle/>
              <a:p>
                <a:pPr>
                  <a:buClrTx/>
                  <a:defRPr/>
                </a:pPr>
                <a:endParaRPr lang="en-US" dirty="0">
                  <a:solidFill>
                    <a:prstClr val="black"/>
                  </a:solidFill>
                  <a:latin typeface="Calibri"/>
                  <a:ea typeface="ＭＳ Ｐゴシック" charset="-128"/>
                  <a:cs typeface="ＭＳ Ｐゴシック" charset="-128"/>
                </a:endParaRPr>
              </a:p>
            </p:txBody>
          </p:sp>
          <p:sp>
            <p:nvSpPr>
              <p:cNvPr id="22" name="Text Box 17">
                <a:extLst>
                  <a:ext uri="{FF2B5EF4-FFF2-40B4-BE49-F238E27FC236}">
                    <a16:creationId xmlns:a16="http://schemas.microsoft.com/office/drawing/2014/main" id="{5AFAA52D-0B88-451A-812F-6064873E8D8C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6796697" y="-88054"/>
                <a:ext cx="1646605" cy="492443"/>
              </a:xfrm>
              <a:prstGeom prst="rect">
                <a:avLst/>
              </a:prstGeom>
              <a:noFill/>
              <a:ln w="12700">
                <a:noFill/>
                <a:miter lim="800000"/>
                <a:headEnd/>
                <a:tailEnd/>
              </a:ln>
            </p:spPr>
            <p:txBody>
              <a:bodyPr wrap="none">
                <a:prstTxWarp prst="textNoShape">
                  <a:avLst/>
                </a:prstTxWarp>
                <a:spAutoFit/>
              </a:bodyPr>
              <a:lstStyle/>
              <a:p>
                <a:pPr>
                  <a:buClrTx/>
                  <a:defRPr/>
                </a:pPr>
                <a:r>
                  <a:rPr lang="en-US" b="1" dirty="0">
                    <a:solidFill>
                      <a:prstClr val="black"/>
                    </a:solidFill>
                    <a:latin typeface="Inconsolata" panose="020B0609030003000000" pitchFamily="49" charset="0"/>
                    <a:ea typeface="ＭＳ Ｐゴシック" charset="-128"/>
                    <a:cs typeface="Courier"/>
                  </a:rPr>
                  <a:t>~ 0xFFFFFFFF</a:t>
                </a:r>
                <a:endParaRPr lang="en-US" sz="1600" b="1" dirty="0">
                  <a:solidFill>
                    <a:prstClr val="black"/>
                  </a:solidFill>
                  <a:latin typeface="Inconsolata" panose="020B0609030003000000" pitchFamily="49" charset="0"/>
                  <a:ea typeface="ＭＳ Ｐゴシック" charset="-128"/>
                  <a:cs typeface="Courier"/>
                </a:endParaRPr>
              </a:p>
            </p:txBody>
          </p:sp>
          <p:sp>
            <p:nvSpPr>
              <p:cNvPr id="23" name="Text Box 18">
                <a:extLst>
                  <a:ext uri="{FF2B5EF4-FFF2-40B4-BE49-F238E27FC236}">
                    <a16:creationId xmlns:a16="http://schemas.microsoft.com/office/drawing/2014/main" id="{BAAE370D-1368-4BCE-B6FC-7AE0DA7A318C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6827468" y="6190869"/>
                <a:ext cx="1646605" cy="492443"/>
              </a:xfrm>
              <a:prstGeom prst="rect">
                <a:avLst/>
              </a:prstGeom>
              <a:noFill/>
              <a:ln w="12700">
                <a:noFill/>
                <a:miter lim="800000"/>
                <a:headEnd/>
                <a:tailEnd/>
              </a:ln>
            </p:spPr>
            <p:txBody>
              <a:bodyPr wrap="none">
                <a:prstTxWarp prst="textNoShape">
                  <a:avLst/>
                </a:prstTxWarp>
                <a:spAutoFit/>
              </a:bodyPr>
              <a:lstStyle/>
              <a:p>
                <a:pPr>
                  <a:buClrTx/>
                  <a:defRPr/>
                </a:pPr>
                <a:r>
                  <a:rPr lang="en-US" b="1" dirty="0">
                    <a:solidFill>
                      <a:prstClr val="black"/>
                    </a:solidFill>
                    <a:latin typeface="Inconsolata" panose="020B0609030003000000" pitchFamily="49" charset="0"/>
                    <a:ea typeface="ＭＳ Ｐゴシック" charset="-128"/>
                    <a:cs typeface="Courier"/>
                  </a:rPr>
                  <a:t>~ 0x00000000</a:t>
                </a:r>
                <a:endParaRPr lang="en-US" sz="1600" b="1" dirty="0">
                  <a:solidFill>
                    <a:prstClr val="black"/>
                  </a:solidFill>
                  <a:latin typeface="Inconsolata" panose="020B0609030003000000" pitchFamily="49" charset="0"/>
                  <a:ea typeface="ＭＳ Ｐゴシック" charset="-128"/>
                  <a:cs typeface="Courier"/>
                </a:endParaRPr>
              </a:p>
            </p:txBody>
          </p:sp>
          <p:sp>
            <p:nvSpPr>
              <p:cNvPr id="14" name="Line 8">
                <a:extLst>
                  <a:ext uri="{FF2B5EF4-FFF2-40B4-BE49-F238E27FC236}">
                    <a16:creationId xmlns:a16="http://schemas.microsoft.com/office/drawing/2014/main" id="{F21891D6-9866-4FC3-87C4-A0357E0C54E0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6400799" y="3290041"/>
                <a:ext cx="2438400" cy="0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prstDash val="lgDash"/>
                <a:round/>
                <a:headEnd/>
                <a:tailEnd/>
              </a:ln>
            </p:spPr>
            <p:txBody>
              <a:bodyPr>
                <a:prstTxWarp prst="textNoShape">
                  <a:avLst/>
                </a:prstTxWarp>
              </a:bodyPr>
              <a:lstStyle/>
              <a:p>
                <a:pPr>
                  <a:buClrTx/>
                  <a:defRPr/>
                </a:pPr>
                <a:endParaRPr lang="en-US" dirty="0">
                  <a:solidFill>
                    <a:prstClr val="black"/>
                  </a:solidFill>
                  <a:latin typeface="Calibri"/>
                  <a:ea typeface="ＭＳ Ｐゴシック" charset="-128"/>
                  <a:cs typeface="ＭＳ Ｐゴシック" charset="-128"/>
                </a:endParaRPr>
              </a:p>
            </p:txBody>
          </p:sp>
          <p:sp>
            <p:nvSpPr>
              <p:cNvPr id="26" name="Line 15">
                <a:extLst>
                  <a:ext uri="{FF2B5EF4-FFF2-40B4-BE49-F238E27FC236}">
                    <a16:creationId xmlns:a16="http://schemas.microsoft.com/office/drawing/2014/main" id="{2F985029-400B-4ED6-BB0C-263463FCE777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7662203" y="2931716"/>
                <a:ext cx="0" cy="381000"/>
              </a:xfrm>
              <a:prstGeom prst="line">
                <a:avLst/>
              </a:prstGeom>
              <a:noFill/>
              <a:ln w="31750">
                <a:solidFill>
                  <a:schemeClr val="tx1"/>
                </a:solidFill>
                <a:round/>
                <a:headEnd/>
                <a:tailEnd type="triangle" w="med" len="med"/>
              </a:ln>
            </p:spPr>
            <p:txBody>
              <a:bodyPr>
                <a:prstTxWarp prst="textNoShape">
                  <a:avLst/>
                </a:prstTxWarp>
              </a:bodyPr>
              <a:lstStyle/>
              <a:p>
                <a:pPr>
                  <a:buClrTx/>
                  <a:defRPr/>
                </a:pPr>
                <a:endParaRPr lang="en-US" dirty="0">
                  <a:solidFill>
                    <a:prstClr val="black"/>
                  </a:solidFill>
                  <a:latin typeface="Calibri"/>
                  <a:ea typeface="ＭＳ Ｐゴシック" charset="-128"/>
                  <a:cs typeface="ＭＳ Ｐゴシック" charset="-128"/>
                </a:endParaRPr>
              </a:p>
            </p:txBody>
          </p:sp>
          <p:sp>
            <p:nvSpPr>
              <p:cNvPr id="28" name="Text Box 13">
                <a:extLst>
                  <a:ext uri="{FF2B5EF4-FFF2-40B4-BE49-F238E27FC236}">
                    <a16:creationId xmlns:a16="http://schemas.microsoft.com/office/drawing/2014/main" id="{C7B9B9CD-5BE8-4242-82DE-52E2DC94C7CA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6504463" y="519774"/>
                <a:ext cx="2292615" cy="615553"/>
              </a:xfrm>
              <a:prstGeom prst="rect">
                <a:avLst/>
              </a:prstGeom>
              <a:noFill/>
              <a:ln w="12700">
                <a:noFill/>
                <a:miter lim="800000"/>
                <a:headEnd/>
                <a:tailEnd/>
              </a:ln>
            </p:spPr>
            <p:txBody>
              <a:bodyPr wrap="none">
                <a:prstTxWarp prst="textNoShape">
                  <a:avLst/>
                </a:prstTxWarp>
                <a:spAutoFit/>
              </a:bodyPr>
              <a:lstStyle/>
              <a:p>
                <a:pPr algn="ctr">
                  <a:buClrTx/>
                  <a:defRPr/>
                </a:pPr>
                <a:r>
                  <a:rPr lang="en-US" sz="2400" dirty="0">
                    <a:solidFill>
                      <a:prstClr val="black"/>
                    </a:solidFill>
                    <a:latin typeface="Lato" panose="020F0502020204030203" pitchFamily="34" charset="0"/>
                    <a:ea typeface="Lato" panose="020F0502020204030203" pitchFamily="34" charset="0"/>
                    <a:cs typeface="Lato" panose="020F0502020204030203" pitchFamily="34" charset="0"/>
                  </a:rPr>
                  <a:t>Kernel Memory</a:t>
                </a: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185560102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BD9156-F3C5-4FF6-8A99-4CDCF0A18D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Running a program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88E3368-96FE-4DA2-A7AB-F917C72CF36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45122" y="967740"/>
            <a:ext cx="5825394" cy="4557072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dirty="0"/>
              <a:t>1. Take the ELF executable.</a:t>
            </a:r>
          </a:p>
          <a:p>
            <a:pPr lvl="1"/>
            <a:r>
              <a:rPr lang="en-US" dirty="0"/>
              <a:t>This defines each segment and where in memory it should go.</a:t>
            </a:r>
          </a:p>
          <a:p>
            <a:pPr marL="0" indent="0">
              <a:buNone/>
            </a:pPr>
            <a:r>
              <a:rPr lang="en-US" dirty="0"/>
              <a:t>2. Place the</a:t>
            </a:r>
            <a:r>
              <a:rPr lang="en-US" dirty="0">
                <a:latin typeface="Inconsolata" panose="020B0609030003000000" pitchFamily="49" charset="0"/>
              </a:rPr>
              <a:t> .text </a:t>
            </a:r>
            <a:r>
              <a:rPr lang="en-US" dirty="0"/>
              <a:t>segment into memory.</a:t>
            </a:r>
          </a:p>
          <a:p>
            <a:pPr marL="0" indent="0">
              <a:buNone/>
            </a:pPr>
            <a:r>
              <a:rPr lang="en-US" dirty="0"/>
              <a:t>3. Place the</a:t>
            </a:r>
            <a:r>
              <a:rPr lang="en-US" dirty="0">
                <a:latin typeface="Inconsolata" panose="020B0609030003000000" pitchFamily="49" charset="0"/>
              </a:rPr>
              <a:t> .data </a:t>
            </a:r>
            <a:r>
              <a:rPr lang="en-US" dirty="0"/>
              <a:t>segment into memory.</a:t>
            </a:r>
          </a:p>
          <a:p>
            <a:pPr marL="0" indent="0">
              <a:buNone/>
            </a:pPr>
            <a:r>
              <a:rPr lang="en-US" dirty="0"/>
              <a:t>4. Write the number of zeroes specified to the </a:t>
            </a:r>
            <a:r>
              <a:rPr lang="en-US" dirty="0">
                <a:latin typeface="Inconsolata" panose="020B0609030003000000" pitchFamily="49" charset="0"/>
              </a:rPr>
              <a:t>.</a:t>
            </a:r>
            <a:r>
              <a:rPr lang="en-US" dirty="0" err="1">
                <a:latin typeface="Inconsolata" panose="020B0609030003000000" pitchFamily="49" charset="0"/>
              </a:rPr>
              <a:t>bss</a:t>
            </a:r>
            <a:r>
              <a:rPr lang="en-US" dirty="0">
                <a:latin typeface="Inconsolata" panose="020B0609030003000000" pitchFamily="49" charset="0"/>
              </a:rPr>
              <a:t> </a:t>
            </a:r>
            <a:r>
              <a:rPr lang="en-US" dirty="0"/>
              <a:t>segment.</a:t>
            </a:r>
          </a:p>
          <a:p>
            <a:pPr marL="0" indent="0">
              <a:buNone/>
            </a:pPr>
            <a:r>
              <a:rPr lang="en-US" dirty="0"/>
              <a:t>5. Allocate the stack and assign the stack pointer (</a:t>
            </a:r>
            <a:r>
              <a:rPr lang="en-US" dirty="0">
                <a:solidFill>
                  <a:srgbClr val="7030A0"/>
                </a:solidFill>
                <a:latin typeface="Inconsolata" panose="020B0609030003000000" pitchFamily="49" charset="0"/>
              </a:rPr>
              <a:t>%</a:t>
            </a:r>
            <a:r>
              <a:rPr lang="en-US" dirty="0" err="1">
                <a:solidFill>
                  <a:srgbClr val="7030A0"/>
                </a:solidFill>
                <a:latin typeface="Inconsolata" panose="020B0609030003000000" pitchFamily="49" charset="0"/>
              </a:rPr>
              <a:t>rsp</a:t>
            </a:r>
            <a:r>
              <a:rPr lang="en-US" dirty="0"/>
              <a:t>)</a:t>
            </a:r>
          </a:p>
          <a:p>
            <a:pPr marL="0" indent="0">
              <a:buNone/>
            </a:pPr>
            <a:r>
              <a:rPr lang="en-US" dirty="0"/>
              <a:t>6. Jump to the entry point address (the location of the</a:t>
            </a:r>
            <a:r>
              <a:rPr lang="en-US" dirty="0">
                <a:latin typeface="Inconsolata" panose="020B0609030003000000" pitchFamily="49" charset="0"/>
              </a:rPr>
              <a:t> _start </a:t>
            </a:r>
            <a:r>
              <a:rPr lang="en-US" dirty="0"/>
              <a:t>symbol)</a:t>
            </a:r>
          </a:p>
          <a:p>
            <a:pPr lvl="1"/>
            <a:r>
              <a:rPr lang="en-US" dirty="0">
                <a:latin typeface="Inconsolata" panose="020B0609030003000000" pitchFamily="49" charset="0"/>
              </a:rPr>
              <a:t>_start </a:t>
            </a:r>
            <a:r>
              <a:rPr lang="en-US" dirty="0"/>
              <a:t>will call main after initializing the C runtime and the heap.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A3A20EB-D2A5-4612-8DFA-EEDEDD514E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AAD609-F83C-4414-814B-B5A2DF99692C}" type="slidenum">
              <a:rPr lang="en-US" smtClean="0"/>
              <a:pPr/>
              <a:t>27</a:t>
            </a:fld>
            <a:endParaRPr lang="en-US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FF0191A9-9B38-4929-A78A-99657E1A79D6}"/>
              </a:ext>
            </a:extLst>
          </p:cNvPr>
          <p:cNvSpPr/>
          <p:nvPr/>
        </p:nvSpPr>
        <p:spPr>
          <a:xfrm>
            <a:off x="6934377" y="960039"/>
            <a:ext cx="2438400" cy="641156"/>
          </a:xfrm>
          <a:prstGeom prst="rect">
            <a:avLst/>
          </a:prstGeom>
          <a:solidFill>
            <a:srgbClr val="C288BE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buClrTx/>
            </a:pPr>
            <a:endParaRPr lang="en-US" dirty="0">
              <a:solidFill>
                <a:prstClr val="white"/>
              </a:solidFill>
              <a:latin typeface="Calibri"/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BF433987-1543-481D-821C-BB021D501A9C}"/>
              </a:ext>
            </a:extLst>
          </p:cNvPr>
          <p:cNvSpPr/>
          <p:nvPr/>
        </p:nvSpPr>
        <p:spPr>
          <a:xfrm>
            <a:off x="6938184" y="3135631"/>
            <a:ext cx="2438400" cy="508876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buClrTx/>
              <a:defRPr/>
            </a:pPr>
            <a:r>
              <a:rPr lang="en-US" sz="2400" dirty="0">
                <a:solidFill>
                  <a:prstClr val="black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heap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06205FFD-BB12-4EB5-AC1F-C61E601DACB9}"/>
              </a:ext>
            </a:extLst>
          </p:cNvPr>
          <p:cNvSpPr/>
          <p:nvPr/>
        </p:nvSpPr>
        <p:spPr>
          <a:xfrm>
            <a:off x="6934377" y="3642420"/>
            <a:ext cx="2438400" cy="508876"/>
          </a:xfrm>
          <a:prstGeom prst="rect">
            <a:avLst/>
          </a:prstGeom>
          <a:solidFill>
            <a:schemeClr val="bg1">
              <a:lumMod val="65000"/>
            </a:schemeClr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buClrTx/>
            </a:pPr>
            <a:endParaRPr lang="en-US" dirty="0">
              <a:solidFill>
                <a:prstClr val="white"/>
              </a:solidFill>
              <a:latin typeface="Calibri"/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24F90F24-8A7A-49F7-81A8-9B1BFC85C957}"/>
              </a:ext>
            </a:extLst>
          </p:cNvPr>
          <p:cNvSpPr/>
          <p:nvPr/>
        </p:nvSpPr>
        <p:spPr>
          <a:xfrm>
            <a:off x="6922653" y="1610581"/>
            <a:ext cx="2438400" cy="456642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buClrTx/>
            </a:pPr>
            <a:endParaRPr lang="en-US">
              <a:solidFill>
                <a:prstClr val="white"/>
              </a:solidFill>
              <a:latin typeface="Calibri"/>
            </a:endParaRPr>
          </a:p>
        </p:txBody>
      </p:sp>
      <p:sp>
        <p:nvSpPr>
          <p:cNvPr id="12" name="Rectangle 2" descr="Wide upward diagonal">
            <a:extLst>
              <a:ext uri="{FF2B5EF4-FFF2-40B4-BE49-F238E27FC236}">
                <a16:creationId xmlns:a16="http://schemas.microsoft.com/office/drawing/2014/main" id="{945C2625-2A92-44A6-A828-CCEC672004D7}"/>
              </a:ext>
            </a:extLst>
          </p:cNvPr>
          <p:cNvSpPr>
            <a:spLocks noChangeArrowheads="1"/>
          </p:cNvSpPr>
          <p:nvPr/>
        </p:nvSpPr>
        <p:spPr bwMode="auto">
          <a:xfrm>
            <a:off x="6934377" y="2067224"/>
            <a:ext cx="2438400" cy="1066313"/>
          </a:xfrm>
          <a:prstGeom prst="rect">
            <a:avLst/>
          </a:prstGeom>
          <a:pattFill prst="wdUpDiag">
            <a:fgClr>
              <a:schemeClr val="bg2"/>
            </a:fgClr>
            <a:bgClr>
              <a:srgbClr val="FFFFFF"/>
            </a:bgClr>
          </a:pattFill>
          <a:ln w="12700">
            <a:solidFill>
              <a:schemeClr val="bg1"/>
            </a:solidFill>
            <a:miter lim="800000"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pPr algn="ctr">
              <a:buClrTx/>
              <a:defRPr/>
            </a:pPr>
            <a:r>
              <a:rPr lang="en-US" dirty="0">
                <a:solidFill>
                  <a:prstClr val="black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currently unused but </a:t>
            </a:r>
          </a:p>
          <a:p>
            <a:pPr algn="ctr">
              <a:buClrTx/>
              <a:defRPr/>
            </a:pPr>
            <a:r>
              <a:rPr lang="en-US" dirty="0">
                <a:solidFill>
                  <a:prstClr val="black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available memory</a:t>
            </a:r>
          </a:p>
        </p:txBody>
      </p:sp>
      <p:sp>
        <p:nvSpPr>
          <p:cNvPr id="13" name="Rectangle 5">
            <a:extLst>
              <a:ext uri="{FF2B5EF4-FFF2-40B4-BE49-F238E27FC236}">
                <a16:creationId xmlns:a16="http://schemas.microsoft.com/office/drawing/2014/main" id="{E7BCF285-4679-4683-B5E7-A71F2260FC6C}"/>
              </a:ext>
            </a:extLst>
          </p:cNvPr>
          <p:cNvSpPr>
            <a:spLocks noChangeArrowheads="1"/>
          </p:cNvSpPr>
          <p:nvPr/>
        </p:nvSpPr>
        <p:spPr bwMode="auto">
          <a:xfrm>
            <a:off x="6934377" y="967741"/>
            <a:ext cx="2438400" cy="4332031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pPr>
              <a:buClrTx/>
              <a:defRPr/>
            </a:pPr>
            <a:endParaRPr lang="en-US">
              <a:solidFill>
                <a:prstClr val="black"/>
              </a:solidFill>
              <a:latin typeface="Calibri"/>
              <a:ea typeface="ＭＳ Ｐゴシック" charset="-128"/>
              <a:cs typeface="ＭＳ Ｐゴシック" charset="-128"/>
            </a:endParaRPr>
          </a:p>
        </p:txBody>
      </p:sp>
      <p:sp>
        <p:nvSpPr>
          <p:cNvPr id="14" name="Rectangle 6">
            <a:extLst>
              <a:ext uri="{FF2B5EF4-FFF2-40B4-BE49-F238E27FC236}">
                <a16:creationId xmlns:a16="http://schemas.microsoft.com/office/drawing/2014/main" id="{2D099CD4-C10A-427A-8EC9-D443B819EE16}"/>
              </a:ext>
            </a:extLst>
          </p:cNvPr>
          <p:cNvSpPr>
            <a:spLocks noChangeArrowheads="1"/>
          </p:cNvSpPr>
          <p:nvPr/>
        </p:nvSpPr>
        <p:spPr bwMode="auto">
          <a:xfrm>
            <a:off x="6934377" y="4671121"/>
            <a:ext cx="2438400" cy="628650"/>
          </a:xfrm>
          <a:prstGeom prst="rect">
            <a:avLst/>
          </a:prstGeom>
          <a:solidFill>
            <a:srgbClr val="FFFF00"/>
          </a:solidFill>
          <a:ln w="381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pPr>
              <a:buClrTx/>
              <a:defRPr/>
            </a:pPr>
            <a:endParaRPr lang="en-US" dirty="0">
              <a:solidFill>
                <a:prstClr val="black"/>
              </a:solidFill>
              <a:latin typeface="Calibri"/>
              <a:ea typeface="ＭＳ Ｐゴシック" charset="-128"/>
              <a:cs typeface="ＭＳ Ｐゴシック" charset="-128"/>
            </a:endParaRPr>
          </a:p>
        </p:txBody>
      </p:sp>
      <p:sp>
        <p:nvSpPr>
          <p:cNvPr id="15" name="Rectangle 7">
            <a:extLst>
              <a:ext uri="{FF2B5EF4-FFF2-40B4-BE49-F238E27FC236}">
                <a16:creationId xmlns:a16="http://schemas.microsoft.com/office/drawing/2014/main" id="{01F30E31-DF7B-4103-8DE6-8389CAC2EC8A}"/>
              </a:ext>
            </a:extLst>
          </p:cNvPr>
          <p:cNvSpPr>
            <a:spLocks noChangeArrowheads="1"/>
          </p:cNvSpPr>
          <p:nvPr/>
        </p:nvSpPr>
        <p:spPr bwMode="auto">
          <a:xfrm>
            <a:off x="6934377" y="4156771"/>
            <a:ext cx="2438400" cy="514350"/>
          </a:xfrm>
          <a:prstGeom prst="rect">
            <a:avLst/>
          </a:prstGeom>
          <a:solidFill>
            <a:srgbClr val="00B0F0"/>
          </a:solidFill>
          <a:ln w="381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pPr>
              <a:buClrTx/>
              <a:defRPr/>
            </a:pPr>
            <a:endParaRPr lang="en-US" dirty="0">
              <a:solidFill>
                <a:prstClr val="black"/>
              </a:solidFill>
              <a:latin typeface="Calibri"/>
              <a:ea typeface="ＭＳ Ｐゴシック" charset="-128"/>
              <a:cs typeface="ＭＳ Ｐゴシック" charset="-128"/>
            </a:endParaRPr>
          </a:p>
        </p:txBody>
      </p:sp>
      <p:sp>
        <p:nvSpPr>
          <p:cNvPr id="16" name="Line 9">
            <a:extLst>
              <a:ext uri="{FF2B5EF4-FFF2-40B4-BE49-F238E27FC236}">
                <a16:creationId xmlns:a16="http://schemas.microsoft.com/office/drawing/2014/main" id="{9B6100E8-0C3B-4998-B2C4-1D423855C782}"/>
              </a:ext>
            </a:extLst>
          </p:cNvPr>
          <p:cNvSpPr>
            <a:spLocks noChangeShapeType="1"/>
          </p:cNvSpPr>
          <p:nvPr/>
        </p:nvSpPr>
        <p:spPr bwMode="auto">
          <a:xfrm>
            <a:off x="6934377" y="2070074"/>
            <a:ext cx="2438400" cy="0"/>
          </a:xfrm>
          <a:prstGeom prst="line">
            <a:avLst/>
          </a:prstGeom>
          <a:noFill/>
          <a:ln w="38100">
            <a:solidFill>
              <a:schemeClr val="tx1"/>
            </a:solidFill>
            <a:prstDash val="lgDash"/>
            <a:round/>
            <a:headEnd/>
            <a:tailEnd/>
          </a:ln>
        </p:spPr>
        <p:txBody>
          <a:bodyPr>
            <a:prstTxWarp prst="textNoShape">
              <a:avLst/>
            </a:prstTxWarp>
          </a:bodyPr>
          <a:lstStyle/>
          <a:p>
            <a:pPr>
              <a:buClrTx/>
              <a:defRPr/>
            </a:pPr>
            <a:endParaRPr lang="en-US" dirty="0">
              <a:solidFill>
                <a:prstClr val="black"/>
              </a:solidFill>
              <a:latin typeface="Calibri"/>
              <a:ea typeface="ＭＳ Ｐゴシック" charset="-128"/>
              <a:cs typeface="ＭＳ Ｐゴシック" charset="-128"/>
            </a:endParaRPr>
          </a:p>
        </p:txBody>
      </p:sp>
      <p:sp>
        <p:nvSpPr>
          <p:cNvPr id="17" name="Text Box 10">
            <a:extLst>
              <a:ext uri="{FF2B5EF4-FFF2-40B4-BE49-F238E27FC236}">
                <a16:creationId xmlns:a16="http://schemas.microsoft.com/office/drawing/2014/main" id="{57171F64-19C2-45F7-B670-93F0F06A548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744952" y="4739223"/>
            <a:ext cx="793807" cy="461665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wrap="none">
            <a:prstTxWarp prst="textNoShape">
              <a:avLst/>
            </a:prstTxWarp>
            <a:spAutoFit/>
          </a:bodyPr>
          <a:lstStyle/>
          <a:p>
            <a:pPr algn="ctr">
              <a:buClrTx/>
              <a:defRPr/>
            </a:pPr>
            <a:r>
              <a:rPr lang="en-US" sz="2400" dirty="0">
                <a:solidFill>
                  <a:prstClr val="black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.text</a:t>
            </a:r>
          </a:p>
        </p:txBody>
      </p:sp>
      <p:sp>
        <p:nvSpPr>
          <p:cNvPr id="18" name="Text Box 11">
            <a:extLst>
              <a:ext uri="{FF2B5EF4-FFF2-40B4-BE49-F238E27FC236}">
                <a16:creationId xmlns:a16="http://schemas.microsoft.com/office/drawing/2014/main" id="{450A619D-6B0B-461F-89B7-BF04B8EB897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750077" y="4166297"/>
            <a:ext cx="845104" cy="461665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wrap="none">
            <a:prstTxWarp prst="textNoShape">
              <a:avLst/>
            </a:prstTxWarp>
            <a:spAutoFit/>
          </a:bodyPr>
          <a:lstStyle/>
          <a:p>
            <a:pPr algn="ctr">
              <a:buClrTx/>
              <a:defRPr/>
            </a:pPr>
            <a:r>
              <a:rPr lang="en-US" sz="2400" dirty="0">
                <a:solidFill>
                  <a:prstClr val="black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.data</a:t>
            </a:r>
          </a:p>
        </p:txBody>
      </p:sp>
      <p:sp>
        <p:nvSpPr>
          <p:cNvPr id="19" name="Text Box 12">
            <a:extLst>
              <a:ext uri="{FF2B5EF4-FFF2-40B4-BE49-F238E27FC236}">
                <a16:creationId xmlns:a16="http://schemas.microsoft.com/office/drawing/2014/main" id="{CEF1FF23-E83C-4FB8-9A31-E25E2D254D4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824616" y="3651946"/>
            <a:ext cx="696024" cy="461665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wrap="none">
            <a:prstTxWarp prst="textNoShape">
              <a:avLst/>
            </a:prstTxWarp>
            <a:spAutoFit/>
          </a:bodyPr>
          <a:lstStyle/>
          <a:p>
            <a:pPr algn="ctr">
              <a:buClrTx/>
              <a:defRPr/>
            </a:pPr>
            <a:r>
              <a:rPr lang="en-US" sz="2400" dirty="0">
                <a:solidFill>
                  <a:prstClr val="black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.</a:t>
            </a:r>
            <a:r>
              <a:rPr lang="en-US" sz="2400" dirty="0" err="1">
                <a:solidFill>
                  <a:prstClr val="black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bss</a:t>
            </a:r>
            <a:endParaRPr lang="en-US" sz="2400" dirty="0">
              <a:solidFill>
                <a:prstClr val="black"/>
              </a:solidFill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</p:txBody>
      </p:sp>
      <p:sp>
        <p:nvSpPr>
          <p:cNvPr id="20" name="Text Box 13">
            <a:extLst>
              <a:ext uri="{FF2B5EF4-FFF2-40B4-BE49-F238E27FC236}">
                <a16:creationId xmlns:a16="http://schemas.microsoft.com/office/drawing/2014/main" id="{71302CE1-6A93-4718-9AD2-869FE93456D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730035" y="1596904"/>
            <a:ext cx="885179" cy="461665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wrap="none">
            <a:prstTxWarp prst="textNoShape">
              <a:avLst/>
            </a:prstTxWarp>
            <a:spAutoFit/>
          </a:bodyPr>
          <a:lstStyle/>
          <a:p>
            <a:pPr algn="ctr">
              <a:buClrTx/>
              <a:defRPr/>
            </a:pPr>
            <a:r>
              <a:rPr lang="en-US" sz="2400" dirty="0">
                <a:solidFill>
                  <a:prstClr val="black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stack</a:t>
            </a:r>
          </a:p>
        </p:txBody>
      </p:sp>
      <p:sp>
        <p:nvSpPr>
          <p:cNvPr id="21" name="Line 15">
            <a:extLst>
              <a:ext uri="{FF2B5EF4-FFF2-40B4-BE49-F238E27FC236}">
                <a16:creationId xmlns:a16="http://schemas.microsoft.com/office/drawing/2014/main" id="{E2CB7F7A-BE63-4141-A30B-9640FE3008CC}"/>
              </a:ext>
            </a:extLst>
          </p:cNvPr>
          <p:cNvSpPr>
            <a:spLocks noChangeShapeType="1"/>
          </p:cNvSpPr>
          <p:nvPr/>
        </p:nvSpPr>
        <p:spPr bwMode="auto">
          <a:xfrm>
            <a:off x="8184057" y="2057460"/>
            <a:ext cx="0" cy="285750"/>
          </a:xfrm>
          <a:prstGeom prst="line">
            <a:avLst/>
          </a:prstGeom>
          <a:noFill/>
          <a:ln w="31750">
            <a:solidFill>
              <a:schemeClr val="tx1"/>
            </a:solidFill>
            <a:round/>
            <a:headEnd/>
            <a:tailEnd type="triangle" w="med" len="med"/>
          </a:ln>
        </p:spPr>
        <p:txBody>
          <a:bodyPr>
            <a:prstTxWarp prst="textNoShape">
              <a:avLst/>
            </a:prstTxWarp>
          </a:bodyPr>
          <a:lstStyle/>
          <a:p>
            <a:pPr>
              <a:buClrTx/>
              <a:defRPr/>
            </a:pPr>
            <a:endParaRPr lang="en-US" dirty="0">
              <a:solidFill>
                <a:prstClr val="black"/>
              </a:solidFill>
              <a:latin typeface="Calibri"/>
              <a:ea typeface="ＭＳ Ｐゴシック" charset="-128"/>
              <a:cs typeface="ＭＳ Ｐゴシック" charset="-128"/>
            </a:endParaRPr>
          </a:p>
        </p:txBody>
      </p:sp>
      <p:sp>
        <p:nvSpPr>
          <p:cNvPr id="22" name="Text Box 17">
            <a:extLst>
              <a:ext uri="{FF2B5EF4-FFF2-40B4-BE49-F238E27FC236}">
                <a16:creationId xmlns:a16="http://schemas.microsoft.com/office/drawing/2014/main" id="{6E71037A-46E2-4E75-9061-3D4D41490D4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318552" y="592672"/>
            <a:ext cx="1646605" cy="369332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wrap="none">
            <a:prstTxWarp prst="textNoShape">
              <a:avLst/>
            </a:prstTxWarp>
            <a:spAutoFit/>
          </a:bodyPr>
          <a:lstStyle/>
          <a:p>
            <a:pPr>
              <a:buClrTx/>
              <a:defRPr/>
            </a:pPr>
            <a:r>
              <a:rPr lang="en-US" b="1" dirty="0">
                <a:solidFill>
                  <a:prstClr val="black"/>
                </a:solidFill>
                <a:latin typeface="Inconsolata" panose="020B0609030003000000" pitchFamily="49" charset="0"/>
                <a:ea typeface="ＭＳ Ｐゴシック" charset="-128"/>
                <a:cs typeface="Courier"/>
              </a:rPr>
              <a:t>~ 0xFFFFFFFF</a:t>
            </a:r>
            <a:endParaRPr lang="en-US" sz="1600" b="1" dirty="0">
              <a:solidFill>
                <a:prstClr val="black"/>
              </a:solidFill>
              <a:latin typeface="Inconsolata" panose="020B0609030003000000" pitchFamily="49" charset="0"/>
              <a:ea typeface="ＭＳ Ｐゴシック" charset="-128"/>
              <a:cs typeface="Courier"/>
            </a:endParaRPr>
          </a:p>
        </p:txBody>
      </p:sp>
      <p:sp>
        <p:nvSpPr>
          <p:cNvPr id="23" name="Text Box 18">
            <a:extLst>
              <a:ext uri="{FF2B5EF4-FFF2-40B4-BE49-F238E27FC236}">
                <a16:creationId xmlns:a16="http://schemas.microsoft.com/office/drawing/2014/main" id="{67366EFE-B024-4ED1-9AF7-3A1CB51F7D6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349323" y="5301866"/>
            <a:ext cx="1646605" cy="369332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wrap="none">
            <a:prstTxWarp prst="textNoShape">
              <a:avLst/>
            </a:prstTxWarp>
            <a:spAutoFit/>
          </a:bodyPr>
          <a:lstStyle/>
          <a:p>
            <a:pPr>
              <a:buClrTx/>
              <a:defRPr/>
            </a:pPr>
            <a:r>
              <a:rPr lang="en-US" b="1" dirty="0">
                <a:solidFill>
                  <a:prstClr val="black"/>
                </a:solidFill>
                <a:latin typeface="Inconsolata" panose="020B0609030003000000" pitchFamily="49" charset="0"/>
                <a:ea typeface="ＭＳ Ｐゴシック" charset="-128"/>
                <a:cs typeface="Courier"/>
              </a:rPr>
              <a:t>~ 0x00000000</a:t>
            </a:r>
            <a:endParaRPr lang="en-US" sz="1600" b="1" dirty="0">
              <a:solidFill>
                <a:prstClr val="black"/>
              </a:solidFill>
              <a:latin typeface="Inconsolata" panose="020B0609030003000000" pitchFamily="49" charset="0"/>
              <a:ea typeface="ＭＳ Ｐゴシック" charset="-128"/>
              <a:cs typeface="Courier"/>
            </a:endParaRPr>
          </a:p>
        </p:txBody>
      </p:sp>
      <p:sp>
        <p:nvSpPr>
          <p:cNvPr id="24" name="Line 8">
            <a:extLst>
              <a:ext uri="{FF2B5EF4-FFF2-40B4-BE49-F238E27FC236}">
                <a16:creationId xmlns:a16="http://schemas.microsoft.com/office/drawing/2014/main" id="{DD961D10-D64E-4CBF-ABDF-C66E6EC43E40}"/>
              </a:ext>
            </a:extLst>
          </p:cNvPr>
          <p:cNvSpPr>
            <a:spLocks noChangeShapeType="1"/>
          </p:cNvSpPr>
          <p:nvPr/>
        </p:nvSpPr>
        <p:spPr bwMode="auto">
          <a:xfrm>
            <a:off x="6922653" y="3126244"/>
            <a:ext cx="2438400" cy="0"/>
          </a:xfrm>
          <a:prstGeom prst="line">
            <a:avLst/>
          </a:prstGeom>
          <a:noFill/>
          <a:ln w="38100">
            <a:solidFill>
              <a:schemeClr val="tx1"/>
            </a:solidFill>
            <a:prstDash val="lgDash"/>
            <a:round/>
            <a:headEnd/>
            <a:tailEnd/>
          </a:ln>
        </p:spPr>
        <p:txBody>
          <a:bodyPr>
            <a:prstTxWarp prst="textNoShape">
              <a:avLst/>
            </a:prstTxWarp>
          </a:bodyPr>
          <a:lstStyle/>
          <a:p>
            <a:pPr>
              <a:buClrTx/>
              <a:defRPr/>
            </a:pPr>
            <a:endParaRPr lang="en-US" dirty="0">
              <a:solidFill>
                <a:prstClr val="black"/>
              </a:solidFill>
              <a:latin typeface="Calibri"/>
              <a:ea typeface="ＭＳ Ｐゴシック" charset="-128"/>
              <a:cs typeface="ＭＳ Ｐゴシック" charset="-128"/>
            </a:endParaRPr>
          </a:p>
        </p:txBody>
      </p:sp>
      <p:sp>
        <p:nvSpPr>
          <p:cNvPr id="25" name="Line 15">
            <a:extLst>
              <a:ext uri="{FF2B5EF4-FFF2-40B4-BE49-F238E27FC236}">
                <a16:creationId xmlns:a16="http://schemas.microsoft.com/office/drawing/2014/main" id="{3059F8FB-1B23-466A-B7CD-C1034F90045D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8184057" y="2857500"/>
            <a:ext cx="0" cy="285750"/>
          </a:xfrm>
          <a:prstGeom prst="line">
            <a:avLst/>
          </a:prstGeom>
          <a:noFill/>
          <a:ln w="31750">
            <a:solidFill>
              <a:schemeClr val="tx1"/>
            </a:solidFill>
            <a:round/>
            <a:headEnd/>
            <a:tailEnd type="triangle" w="med" len="med"/>
          </a:ln>
        </p:spPr>
        <p:txBody>
          <a:bodyPr>
            <a:prstTxWarp prst="textNoShape">
              <a:avLst/>
            </a:prstTxWarp>
          </a:bodyPr>
          <a:lstStyle/>
          <a:p>
            <a:pPr>
              <a:buClrTx/>
              <a:defRPr/>
            </a:pPr>
            <a:endParaRPr lang="en-US" dirty="0">
              <a:solidFill>
                <a:prstClr val="black"/>
              </a:solidFill>
              <a:latin typeface="Calibri"/>
              <a:ea typeface="ＭＳ Ｐゴシック" charset="-128"/>
              <a:cs typeface="ＭＳ Ｐゴシック" charset="-128"/>
            </a:endParaRPr>
          </a:p>
        </p:txBody>
      </p:sp>
      <p:sp>
        <p:nvSpPr>
          <p:cNvPr id="26" name="Text Box 13">
            <a:extLst>
              <a:ext uri="{FF2B5EF4-FFF2-40B4-BE49-F238E27FC236}">
                <a16:creationId xmlns:a16="http://schemas.microsoft.com/office/drawing/2014/main" id="{F12A1417-BF54-45F7-82B8-0D9BD4385F5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026318" y="1048544"/>
            <a:ext cx="2292615" cy="461665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wrap="none">
            <a:prstTxWarp prst="textNoShape">
              <a:avLst/>
            </a:prstTxWarp>
            <a:spAutoFit/>
          </a:bodyPr>
          <a:lstStyle/>
          <a:p>
            <a:pPr algn="ctr">
              <a:buClrTx/>
              <a:defRPr/>
            </a:pPr>
            <a:r>
              <a:rPr lang="en-US" sz="2400" dirty="0">
                <a:solidFill>
                  <a:prstClr val="black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Kernel Memory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C2D19B8B-1793-4C3C-9BAE-8C5979E5BE1C}"/>
              </a:ext>
            </a:extLst>
          </p:cNvPr>
          <p:cNvSpPr txBox="1"/>
          <p:nvPr/>
        </p:nvSpPr>
        <p:spPr>
          <a:xfrm>
            <a:off x="5987632" y="4800780"/>
            <a:ext cx="6463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7030A0"/>
                </a:solidFill>
                <a:latin typeface="Inconsolata" panose="020B0609030003000000" pitchFamily="49" charset="0"/>
              </a:rPr>
              <a:t>%rip</a:t>
            </a:r>
            <a:endParaRPr lang="en-US" dirty="0"/>
          </a:p>
        </p:txBody>
      </p:sp>
      <p:cxnSp>
        <p:nvCxnSpPr>
          <p:cNvPr id="28" name="Straight Arrow Connector 27">
            <a:extLst>
              <a:ext uri="{FF2B5EF4-FFF2-40B4-BE49-F238E27FC236}">
                <a16:creationId xmlns:a16="http://schemas.microsoft.com/office/drawing/2014/main" id="{3C773979-4ABF-4344-8BE3-F392F65A6A8B}"/>
              </a:ext>
            </a:extLst>
          </p:cNvPr>
          <p:cNvCxnSpPr>
            <a:cxnSpLocks/>
          </p:cNvCxnSpPr>
          <p:nvPr/>
        </p:nvCxnSpPr>
        <p:spPr>
          <a:xfrm>
            <a:off x="6603482" y="5015926"/>
            <a:ext cx="216836" cy="0"/>
          </a:xfrm>
          <a:prstGeom prst="straightConnector1">
            <a:avLst/>
          </a:prstGeom>
          <a:ln w="38100">
            <a:solidFill>
              <a:srgbClr val="7030A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TextBox 28">
            <a:extLst>
              <a:ext uri="{FF2B5EF4-FFF2-40B4-BE49-F238E27FC236}">
                <a16:creationId xmlns:a16="http://schemas.microsoft.com/office/drawing/2014/main" id="{6623B89E-6545-485A-A0B4-6522AC09C042}"/>
              </a:ext>
            </a:extLst>
          </p:cNvPr>
          <p:cNvSpPr txBox="1"/>
          <p:nvPr/>
        </p:nvSpPr>
        <p:spPr>
          <a:xfrm>
            <a:off x="4722630" y="619882"/>
            <a:ext cx="2430474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>
                <a:solidFill>
                  <a:srgbClr val="7030A0"/>
                </a:solidFill>
                <a:latin typeface="Lato Black" panose="020B0604020202020204" charset="0"/>
                <a:ea typeface="Lato Black" panose="020B0604020202020204" charset="0"/>
                <a:cs typeface="Lato Black" panose="020B0604020202020204" charset="0"/>
              </a:rPr>
              <a:t>Our lie starts to unravel!</a:t>
            </a:r>
          </a:p>
          <a:p>
            <a:r>
              <a:rPr lang="en-US" sz="1600" dirty="0">
                <a:solidFill>
                  <a:srgbClr val="7030A0"/>
                </a:solidFill>
                <a:latin typeface="Lato Black" panose="020B0604020202020204" charset="0"/>
                <a:ea typeface="Lato Black" panose="020B0604020202020204" charset="0"/>
                <a:cs typeface="Lato Black" panose="020B0604020202020204" charset="0"/>
              </a:rPr>
              <a:t>We have a kernel…</a:t>
            </a:r>
            <a:endParaRPr lang="en-US" sz="1600" dirty="0">
              <a:solidFill>
                <a:srgbClr val="7030A0"/>
              </a:solidFill>
              <a:latin typeface="Inconsolata" panose="020B0609030003000000" pitchFamily="49" charset="0"/>
              <a:ea typeface="Lato Black" panose="020B0604020202020204" charset="0"/>
              <a:cs typeface="Lato Black" panose="020B0604020202020204" charset="0"/>
            </a:endParaRPr>
          </a:p>
        </p:txBody>
      </p:sp>
      <p:cxnSp>
        <p:nvCxnSpPr>
          <p:cNvPr id="30" name="Straight Arrow Connector 29">
            <a:extLst>
              <a:ext uri="{FF2B5EF4-FFF2-40B4-BE49-F238E27FC236}">
                <a16:creationId xmlns:a16="http://schemas.microsoft.com/office/drawing/2014/main" id="{75A1C06C-5BC8-43A6-95EF-C26A3AF6BB2C}"/>
              </a:ext>
            </a:extLst>
          </p:cNvPr>
          <p:cNvCxnSpPr>
            <a:cxnSpLocks/>
          </p:cNvCxnSpPr>
          <p:nvPr/>
        </p:nvCxnSpPr>
        <p:spPr>
          <a:xfrm rot="10800000" flipH="1" flipV="1">
            <a:off x="6674041" y="976209"/>
            <a:ext cx="169566" cy="144668"/>
          </a:xfrm>
          <a:prstGeom prst="straightConnector1">
            <a:avLst/>
          </a:prstGeom>
          <a:ln w="38100">
            <a:solidFill>
              <a:srgbClr val="7030A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36001273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  <p:bldP spid="8" grpId="0" animBg="1"/>
      <p:bldP spid="9" grpId="0" animBg="1"/>
      <p:bldP spid="10" grpId="0" animBg="1"/>
      <p:bldP spid="12" grpId="0" animBg="1"/>
      <p:bldP spid="14" grpId="0" animBg="1"/>
      <p:bldP spid="15" grpId="0" animBg="1"/>
      <p:bldP spid="16" grpId="0" animBg="1"/>
      <p:bldP spid="17" grpId="0"/>
      <p:bldP spid="18" grpId="0"/>
      <p:bldP spid="19" grpId="0"/>
      <p:bldP spid="20" grpId="0"/>
      <p:bldP spid="21" grpId="0" animBg="1"/>
      <p:bldP spid="24" grpId="0" animBg="1"/>
      <p:bldP spid="25" grpId="0" animBg="1"/>
      <p:bldP spid="27" grpId="0"/>
      <p:bldP spid="29" grpId="0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CB4382-D0F2-4494-B0D0-A7318C60F1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Some .</a:t>
            </a:r>
            <a:r>
              <a:rPr lang="en-US" dirty="0" err="1"/>
              <a:t>bss</a:t>
            </a:r>
            <a:r>
              <a:rPr lang="en-US" dirty="0"/>
              <a:t> BS I’ve dealt with…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267836C-CAAF-49A6-BA84-31531F0B494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98500" y="1039092"/>
            <a:ext cx="8763000" cy="4108378"/>
          </a:xfrm>
        </p:spPr>
        <p:txBody>
          <a:bodyPr/>
          <a:lstStyle/>
          <a:p>
            <a:r>
              <a:rPr lang="en-US" dirty="0"/>
              <a:t>Forgetting to zero the .</a:t>
            </a:r>
            <a:r>
              <a:rPr lang="en-US" dirty="0" err="1"/>
              <a:t>bss</a:t>
            </a:r>
            <a:r>
              <a:rPr lang="en-US" dirty="0"/>
              <a:t> segment is… very interesting.</a:t>
            </a:r>
          </a:p>
          <a:p>
            <a:pPr lvl="1"/>
            <a:r>
              <a:rPr lang="en-US" dirty="0"/>
              <a:t>If you write an OS, and forget this, then you get loops that don’t work write.</a:t>
            </a:r>
          </a:p>
          <a:p>
            <a:pPr lvl="1"/>
            <a:r>
              <a:rPr lang="en-US" dirty="0"/>
              <a:t>Because now variables that were equal to</a:t>
            </a:r>
            <a:r>
              <a:rPr lang="en-US" dirty="0">
                <a:latin typeface="Inconsolata" panose="020B0609030003000000" pitchFamily="49" charset="0"/>
              </a:rPr>
              <a:t> 0 </a:t>
            </a:r>
            <a:r>
              <a:rPr lang="en-US" dirty="0"/>
              <a:t>are now random garbage.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1FFA23A-D300-4FE1-B91A-1E8D0E06AE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AAD609-F83C-4414-814B-B5A2DF99692C}" type="slidenum">
              <a:rPr lang="en-US" smtClean="0"/>
              <a:pPr/>
              <a:t>28</a:t>
            </a:fld>
            <a:endParaRPr lang="en-US" dirty="0"/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FBA9D323-49E7-4875-A691-FA97F8221041}"/>
              </a:ext>
            </a:extLst>
          </p:cNvPr>
          <p:cNvSpPr txBox="1">
            <a:spLocks/>
          </p:cNvSpPr>
          <p:nvPr/>
        </p:nvSpPr>
        <p:spPr>
          <a:xfrm>
            <a:off x="1744906" y="2576527"/>
            <a:ext cx="4398537" cy="310090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Clr>
                <a:schemeClr val="accent1">
                  <a:lumMod val="75000"/>
                </a:schemeClr>
              </a:buClr>
              <a:buFont typeface="Arial" panose="020B0604020202020204" pitchFamily="34" charset="0"/>
              <a:buChar char="•"/>
              <a:defRPr sz="2100" kern="1200">
                <a:solidFill>
                  <a:schemeClr val="tx1"/>
                </a:solidFill>
                <a:latin typeface="Lato Semibold" panose="020F0502020204030203" pitchFamily="34" charset="0"/>
                <a:ea typeface="Lato Semibold" panose="020F0502020204030203" pitchFamily="34" charset="0"/>
                <a:cs typeface="Lato Semibold" panose="020F0502020204030203" pitchFamily="34" charset="0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Clr>
                <a:schemeClr val="accent1">
                  <a:lumMod val="75000"/>
                </a:schemeClr>
              </a:buClr>
              <a:buFont typeface="Wingdings" panose="05000000000000000000" pitchFamily="2" charset="2"/>
              <a:buChar char="§"/>
              <a:defRPr sz="1800" kern="1200">
                <a:solidFill>
                  <a:schemeClr val="tx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Clr>
                <a:srgbClr val="FF0000"/>
              </a:buClr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Lato Light" panose="020F0502020204030203" pitchFamily="34" charset="0"/>
                <a:ea typeface="Lato Light" panose="020F0502020204030203" pitchFamily="34" charset="0"/>
                <a:cs typeface="Lato Light" panose="020F0502020204030203" pitchFamily="34" charset="0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Lato Light" panose="020F0502020204030203" pitchFamily="34" charset="0"/>
                <a:ea typeface="Lato Light" panose="020F0502020204030203" pitchFamily="34" charset="0"/>
                <a:cs typeface="Lato Light" panose="020F0502020204030203" pitchFamily="34" charset="0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1600" dirty="0">
                <a:solidFill>
                  <a:schemeClr val="accent1">
                    <a:lumMod val="75000"/>
                  </a:schemeClr>
                </a:solidFill>
                <a:latin typeface="Inconsolata" panose="020B0609030003000000" pitchFamily="49" charset="0"/>
              </a:rPr>
              <a:t>static int </a:t>
            </a:r>
            <a:r>
              <a:rPr lang="en-US" sz="1600" dirty="0">
                <a:latin typeface="Inconsolata" panose="020B0609030003000000" pitchFamily="49" charset="0"/>
              </a:rPr>
              <a:t>count = 0;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1600" dirty="0">
                <a:solidFill>
                  <a:schemeClr val="accent1">
                    <a:lumMod val="75000"/>
                  </a:schemeClr>
                </a:solidFill>
                <a:latin typeface="Inconsolata" panose="020B0609030003000000" pitchFamily="49" charset="0"/>
              </a:rPr>
              <a:t>static int </a:t>
            </a:r>
            <a:r>
              <a:rPr lang="en-US" sz="1600" dirty="0">
                <a:latin typeface="Inconsolata" panose="020B0609030003000000" pitchFamily="49" charset="0"/>
              </a:rPr>
              <a:t>things[10] = {0};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endParaRPr lang="en-US" sz="1600" dirty="0">
              <a:solidFill>
                <a:schemeClr val="accent1">
                  <a:lumMod val="75000"/>
                </a:schemeClr>
              </a:solidFill>
              <a:latin typeface="Inconsolata" panose="020B0609030003000000" pitchFamily="49" charset="0"/>
            </a:endParaRP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1600" dirty="0">
                <a:solidFill>
                  <a:schemeClr val="accent1">
                    <a:lumMod val="75000"/>
                  </a:schemeClr>
                </a:solidFill>
                <a:latin typeface="Inconsolata" panose="020B0609030003000000" pitchFamily="49" charset="0"/>
              </a:rPr>
              <a:t>int </a:t>
            </a:r>
            <a:r>
              <a:rPr lang="en-US" sz="1600" dirty="0" err="1">
                <a:latin typeface="Inconsolata" panose="020B0609030003000000" pitchFamily="49" charset="0"/>
              </a:rPr>
              <a:t>sumThings</a:t>
            </a:r>
            <a:r>
              <a:rPr lang="en-US" sz="1600" dirty="0">
                <a:latin typeface="Inconsolata" panose="020B0609030003000000" pitchFamily="49" charset="0"/>
              </a:rPr>
              <a:t>() {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1600" dirty="0">
                <a:latin typeface="Inconsolata" panose="020B0609030003000000" pitchFamily="49" charset="0"/>
              </a:rPr>
              <a:t>  </a:t>
            </a:r>
            <a:r>
              <a:rPr lang="en-US" sz="1600" dirty="0">
                <a:solidFill>
                  <a:schemeClr val="accent1">
                    <a:lumMod val="75000"/>
                  </a:schemeClr>
                </a:solidFill>
                <a:latin typeface="Inconsolata" panose="020B0609030003000000" pitchFamily="49" charset="0"/>
              </a:rPr>
              <a:t>int</a:t>
            </a:r>
            <a:r>
              <a:rPr lang="en-US" sz="1600" dirty="0">
                <a:latin typeface="Inconsolata" panose="020B0609030003000000" pitchFamily="49" charset="0"/>
              </a:rPr>
              <a:t> ret = 0;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1600" dirty="0">
                <a:latin typeface="Inconsolata" panose="020B0609030003000000" pitchFamily="49" charset="0"/>
              </a:rPr>
              <a:t>  </a:t>
            </a:r>
            <a:r>
              <a:rPr lang="en-US" sz="1600" dirty="0">
                <a:solidFill>
                  <a:schemeClr val="accent1">
                    <a:lumMod val="75000"/>
                  </a:schemeClr>
                </a:solidFill>
                <a:latin typeface="Inconsolata" panose="020B0609030003000000" pitchFamily="49" charset="0"/>
              </a:rPr>
              <a:t>for</a:t>
            </a:r>
            <a:r>
              <a:rPr lang="en-US" sz="1600" dirty="0">
                <a:latin typeface="Inconsolata" panose="020B0609030003000000" pitchFamily="49" charset="0"/>
              </a:rPr>
              <a:t> (</a:t>
            </a:r>
            <a:r>
              <a:rPr lang="en-US" sz="1600" dirty="0">
                <a:solidFill>
                  <a:schemeClr val="accent1">
                    <a:lumMod val="75000"/>
                  </a:schemeClr>
                </a:solidFill>
                <a:latin typeface="Inconsolata" panose="020B0609030003000000" pitchFamily="49" charset="0"/>
              </a:rPr>
              <a:t>int</a:t>
            </a:r>
            <a:r>
              <a:rPr lang="en-US" sz="1600" dirty="0">
                <a:latin typeface="Inconsolata" panose="020B0609030003000000" pitchFamily="49" charset="0"/>
              </a:rPr>
              <a:t> </a:t>
            </a:r>
            <a:r>
              <a:rPr lang="en-US" sz="1600" dirty="0" err="1">
                <a:latin typeface="Inconsolata" panose="020B0609030003000000" pitchFamily="49" charset="0"/>
              </a:rPr>
              <a:t>i</a:t>
            </a:r>
            <a:r>
              <a:rPr lang="en-US" sz="1600" dirty="0">
                <a:latin typeface="Inconsolata" panose="020B0609030003000000" pitchFamily="49" charset="0"/>
              </a:rPr>
              <a:t> = 0; </a:t>
            </a:r>
            <a:r>
              <a:rPr lang="en-US" sz="1600" dirty="0" err="1">
                <a:latin typeface="Inconsolata" panose="020B0609030003000000" pitchFamily="49" charset="0"/>
              </a:rPr>
              <a:t>i</a:t>
            </a:r>
            <a:r>
              <a:rPr lang="en-US" sz="1600" dirty="0">
                <a:latin typeface="Inconsolata" panose="020B0609030003000000" pitchFamily="49" charset="0"/>
              </a:rPr>
              <a:t> &lt; counter; </a:t>
            </a:r>
            <a:r>
              <a:rPr lang="en-US" sz="1600" dirty="0" err="1">
                <a:latin typeface="Inconsolata" panose="020B0609030003000000" pitchFamily="49" charset="0"/>
              </a:rPr>
              <a:t>i</a:t>
            </a:r>
            <a:r>
              <a:rPr lang="en-US" sz="1600" dirty="0">
                <a:latin typeface="Inconsolata" panose="020B0609030003000000" pitchFamily="49" charset="0"/>
              </a:rPr>
              <a:t>++) {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1600" dirty="0">
                <a:latin typeface="Inconsolata" panose="020B0609030003000000" pitchFamily="49" charset="0"/>
              </a:rPr>
              <a:t>    ret += things[</a:t>
            </a:r>
            <a:r>
              <a:rPr lang="en-US" sz="1600" dirty="0" err="1">
                <a:latin typeface="Inconsolata" panose="020B0609030003000000" pitchFamily="49" charset="0"/>
              </a:rPr>
              <a:t>i</a:t>
            </a:r>
            <a:r>
              <a:rPr lang="en-US" sz="1600" dirty="0">
                <a:latin typeface="Inconsolata" panose="020B0609030003000000" pitchFamily="49" charset="0"/>
              </a:rPr>
              <a:t>];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1600" dirty="0">
                <a:latin typeface="Inconsolata" panose="020B0609030003000000" pitchFamily="49" charset="0"/>
              </a:rPr>
              <a:t>  }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1600" dirty="0">
                <a:solidFill>
                  <a:schemeClr val="accent1">
                    <a:lumMod val="75000"/>
                  </a:schemeClr>
                </a:solidFill>
                <a:latin typeface="Inconsolata" panose="020B0609030003000000" pitchFamily="49" charset="0"/>
              </a:rPr>
              <a:t>  return</a:t>
            </a:r>
            <a:r>
              <a:rPr lang="en-US" sz="1600" dirty="0">
                <a:latin typeface="Inconsolata" panose="020B0609030003000000" pitchFamily="49" charset="0"/>
              </a:rPr>
              <a:t> ret;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1600" dirty="0">
                <a:latin typeface="Inconsolata" panose="020B0609030003000000" pitchFamily="49" charset="0"/>
              </a:rPr>
              <a:t>}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BF909FB-6ADD-4426-8EE4-FEA8C4020B0C}"/>
              </a:ext>
            </a:extLst>
          </p:cNvPr>
          <p:cNvSpPr txBox="1"/>
          <p:nvPr/>
        </p:nvSpPr>
        <p:spPr>
          <a:xfrm>
            <a:off x="1716836" y="2213094"/>
            <a:ext cx="442660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Lato Black" panose="020F0502020204030203" pitchFamily="34" charset="0"/>
                <a:ea typeface="Lato Black" panose="020F0502020204030203" pitchFamily="34" charset="0"/>
                <a:cs typeface="Lato Black" panose="020F0502020204030203" pitchFamily="34" charset="0"/>
              </a:rPr>
              <a:t>C</a:t>
            </a:r>
            <a:r>
              <a:rPr lang="en-US" dirty="0">
                <a:latin typeface="Lato Light" panose="020F0502020204030203" pitchFamily="34" charset="0"/>
                <a:ea typeface="Lato Light" panose="020F0502020204030203" pitchFamily="34" charset="0"/>
                <a:cs typeface="Lato Light" panose="020F0502020204030203" pitchFamily="34" charset="0"/>
              </a:rPr>
              <a:t> (</a:t>
            </a:r>
            <a:r>
              <a:rPr lang="en-US" dirty="0" err="1">
                <a:latin typeface="Inconsolata" panose="020B0609030003000000" pitchFamily="49" charset="0"/>
                <a:ea typeface="Lato Light" panose="020F0502020204030203" pitchFamily="34" charset="0"/>
                <a:cs typeface="Lato Light" panose="020F0502020204030203" pitchFamily="34" charset="0"/>
              </a:rPr>
              <a:t>main.c</a:t>
            </a:r>
            <a:r>
              <a:rPr lang="en-US" dirty="0">
                <a:latin typeface="Lato Light" panose="020F0502020204030203" pitchFamily="34" charset="0"/>
                <a:ea typeface="Lato Light" panose="020F0502020204030203" pitchFamily="34" charset="0"/>
                <a:cs typeface="Lato Light" panose="020F0502020204030203" pitchFamily="34" charset="0"/>
              </a:rPr>
              <a:t>)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4B572D9-BD11-4967-8FA4-A5BB874A832D}"/>
              </a:ext>
            </a:extLst>
          </p:cNvPr>
          <p:cNvSpPr txBox="1"/>
          <p:nvPr/>
        </p:nvSpPr>
        <p:spPr>
          <a:xfrm>
            <a:off x="3706311" y="2322105"/>
            <a:ext cx="3850734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>
                <a:solidFill>
                  <a:srgbClr val="7030A0"/>
                </a:solidFill>
                <a:latin typeface="Lato Black" panose="020B0604020202020204" charset="0"/>
                <a:ea typeface="Lato Black" panose="020B0604020202020204" charset="0"/>
                <a:cs typeface="Lato Black" panose="020B0604020202020204" charset="0"/>
              </a:rPr>
              <a:t>This goes into the .</a:t>
            </a:r>
            <a:r>
              <a:rPr lang="en-US" sz="1600" dirty="0" err="1">
                <a:solidFill>
                  <a:srgbClr val="7030A0"/>
                </a:solidFill>
                <a:latin typeface="Lato Black" panose="020B0604020202020204" charset="0"/>
                <a:ea typeface="Lato Black" panose="020B0604020202020204" charset="0"/>
                <a:cs typeface="Lato Black" panose="020B0604020202020204" charset="0"/>
              </a:rPr>
              <a:t>bss</a:t>
            </a:r>
            <a:r>
              <a:rPr lang="en-US" sz="1600" dirty="0">
                <a:solidFill>
                  <a:srgbClr val="7030A0"/>
                </a:solidFill>
                <a:latin typeface="Lato Black" panose="020B0604020202020204" charset="0"/>
                <a:ea typeface="Lato Black" panose="020B0604020202020204" charset="0"/>
                <a:cs typeface="Lato Black" panose="020B0604020202020204" charset="0"/>
              </a:rPr>
              <a:t> because it is zero</a:t>
            </a:r>
            <a:endParaRPr lang="en-US" sz="1600" dirty="0">
              <a:solidFill>
                <a:srgbClr val="7030A0"/>
              </a:solidFill>
              <a:latin typeface="Inconsolata" panose="020B0609030003000000" pitchFamily="49" charset="0"/>
              <a:ea typeface="Lato Black" panose="020B0604020202020204" charset="0"/>
              <a:cs typeface="Lato Black" panose="020B0604020202020204" charset="0"/>
            </a:endParaRPr>
          </a:p>
        </p:txBody>
      </p: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08EDA65B-95DC-4934-8927-5DB51F2D3AD2}"/>
              </a:ext>
            </a:extLst>
          </p:cNvPr>
          <p:cNvCxnSpPr>
            <a:cxnSpLocks/>
          </p:cNvCxnSpPr>
          <p:nvPr/>
        </p:nvCxnSpPr>
        <p:spPr>
          <a:xfrm rot="10800000" flipV="1">
            <a:off x="3574034" y="2515991"/>
            <a:ext cx="169566" cy="144668"/>
          </a:xfrm>
          <a:prstGeom prst="straightConnector1">
            <a:avLst/>
          </a:prstGeom>
          <a:ln w="38100">
            <a:solidFill>
              <a:srgbClr val="7030A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TextBox 13">
            <a:extLst>
              <a:ext uri="{FF2B5EF4-FFF2-40B4-BE49-F238E27FC236}">
                <a16:creationId xmlns:a16="http://schemas.microsoft.com/office/drawing/2014/main" id="{AD6BC144-63C8-4BB3-97AB-134FDADEADD3}"/>
              </a:ext>
            </a:extLst>
          </p:cNvPr>
          <p:cNvSpPr txBox="1"/>
          <p:nvPr/>
        </p:nvSpPr>
        <p:spPr>
          <a:xfrm>
            <a:off x="3434892" y="3561560"/>
            <a:ext cx="527740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>
                <a:solidFill>
                  <a:srgbClr val="7030A0"/>
                </a:solidFill>
                <a:latin typeface="Lato Black" panose="020B0604020202020204" charset="0"/>
                <a:ea typeface="Lato Black" panose="020B0604020202020204" charset="0"/>
                <a:cs typeface="Lato Black" panose="020B0604020202020204" charset="0"/>
              </a:rPr>
              <a:t>This does not go into the .</a:t>
            </a:r>
            <a:r>
              <a:rPr lang="en-US" sz="1600" dirty="0" err="1">
                <a:solidFill>
                  <a:srgbClr val="7030A0"/>
                </a:solidFill>
                <a:latin typeface="Lato Black" panose="020B0604020202020204" charset="0"/>
                <a:ea typeface="Lato Black" panose="020B0604020202020204" charset="0"/>
                <a:cs typeface="Lato Black" panose="020B0604020202020204" charset="0"/>
              </a:rPr>
              <a:t>bss</a:t>
            </a:r>
            <a:r>
              <a:rPr lang="en-US" sz="1600" dirty="0">
                <a:solidFill>
                  <a:srgbClr val="7030A0"/>
                </a:solidFill>
                <a:latin typeface="Lato Black" panose="020B0604020202020204" charset="0"/>
                <a:ea typeface="Lato Black" panose="020B0604020202020204" charset="0"/>
                <a:cs typeface="Lato Black" panose="020B0604020202020204" charset="0"/>
              </a:rPr>
              <a:t> because it is not a symbol.</a:t>
            </a:r>
            <a:endParaRPr lang="en-US" sz="1600" dirty="0">
              <a:solidFill>
                <a:srgbClr val="7030A0"/>
              </a:solidFill>
              <a:latin typeface="Inconsolata" panose="020B0609030003000000" pitchFamily="49" charset="0"/>
              <a:ea typeface="Lato Black" panose="020B0604020202020204" charset="0"/>
              <a:cs typeface="Lato Black" panose="020B0604020202020204" charset="0"/>
            </a:endParaRPr>
          </a:p>
        </p:txBody>
      </p: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06652D42-4122-4708-9371-3692B65DC283}"/>
              </a:ext>
            </a:extLst>
          </p:cNvPr>
          <p:cNvCxnSpPr>
            <a:cxnSpLocks/>
          </p:cNvCxnSpPr>
          <p:nvPr/>
        </p:nvCxnSpPr>
        <p:spPr>
          <a:xfrm rot="10800000" flipV="1">
            <a:off x="3302614" y="3755446"/>
            <a:ext cx="169566" cy="144668"/>
          </a:xfrm>
          <a:prstGeom prst="straightConnector1">
            <a:avLst/>
          </a:prstGeom>
          <a:ln w="38100">
            <a:solidFill>
              <a:srgbClr val="7030A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81418839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14" grpId="0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958AE0-F30B-47DB-A3AF-DE93B74EFD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That’s it???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8BA9557-2218-430A-AD2D-8346185F49E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96620" y="967740"/>
            <a:ext cx="8343900" cy="4472940"/>
          </a:xfrm>
        </p:spPr>
        <p:txBody>
          <a:bodyPr>
            <a:normAutofit lnSpcReduction="10000"/>
          </a:bodyPr>
          <a:lstStyle/>
          <a:p>
            <a:r>
              <a:rPr lang="en-US" dirty="0"/>
              <a:t>Pretty much! However, let’s make it more flexible.</a:t>
            </a:r>
          </a:p>
          <a:p>
            <a:endParaRPr lang="en-US" dirty="0"/>
          </a:p>
          <a:p>
            <a:r>
              <a:rPr lang="en-US" dirty="0"/>
              <a:t>Our linking so far is</a:t>
            </a:r>
            <a:r>
              <a:rPr lang="en-US" dirty="0">
                <a:solidFill>
                  <a:schemeClr val="accent1">
                    <a:lumMod val="75000"/>
                  </a:schemeClr>
                </a:solidFill>
              </a:rPr>
              <a:t> </a:t>
            </a:r>
            <a:r>
              <a:rPr lang="en-US" dirty="0">
                <a:solidFill>
                  <a:schemeClr val="accent1">
                    <a:lumMod val="75000"/>
                  </a:schemeClr>
                </a:solidFill>
                <a:latin typeface="Lato Black" panose="020F0502020204030203" pitchFamily="34" charset="0"/>
                <a:ea typeface="Lato Black" panose="020F0502020204030203" pitchFamily="34" charset="0"/>
                <a:cs typeface="Lato Black" panose="020F0502020204030203" pitchFamily="34" charset="0"/>
              </a:rPr>
              <a:t>static linking</a:t>
            </a:r>
            <a:r>
              <a:rPr lang="en-US" dirty="0">
                <a:solidFill>
                  <a:schemeClr val="accent1">
                    <a:lumMod val="75000"/>
                  </a:schemeClr>
                </a:solidFill>
              </a:rPr>
              <a:t> </a:t>
            </a:r>
            <a:r>
              <a:rPr lang="en-US" dirty="0"/>
              <a:t>where all of the code goes into the executable. Duplicate code from </a:t>
            </a:r>
            <a:r>
              <a:rPr lang="en-US" dirty="0">
                <a:solidFill>
                  <a:schemeClr val="accent1">
                    <a:lumMod val="75000"/>
                  </a:schemeClr>
                </a:solidFill>
                <a:latin typeface="Lato Black" panose="020F0502020204030203" pitchFamily="34" charset="0"/>
                <a:ea typeface="Lato Black" panose="020F0502020204030203" pitchFamily="34" charset="0"/>
                <a:cs typeface="Lato Black" panose="020F0502020204030203" pitchFamily="34" charset="0"/>
              </a:rPr>
              <a:t>static libraries </a:t>
            </a:r>
            <a:r>
              <a:rPr lang="en-US" dirty="0"/>
              <a:t>is copied in.</a:t>
            </a:r>
          </a:p>
          <a:p>
            <a:pPr lvl="1"/>
            <a:r>
              <a:rPr lang="en-US" dirty="0"/>
              <a:t>Not very space efficient. Duplicates code most programs are using! (</a:t>
            </a:r>
            <a:r>
              <a:rPr lang="en-US" dirty="0" err="1"/>
              <a:t>libc</a:t>
            </a:r>
            <a:r>
              <a:rPr lang="en-US" dirty="0"/>
              <a:t>)</a:t>
            </a:r>
          </a:p>
          <a:p>
            <a:pPr lvl="1"/>
            <a:r>
              <a:rPr lang="en-US" dirty="0"/>
              <a:t>What if we “shared” the code external to the executable?</a:t>
            </a:r>
          </a:p>
          <a:p>
            <a:pPr lvl="1"/>
            <a:endParaRPr lang="en-US" dirty="0"/>
          </a:p>
          <a:p>
            <a:r>
              <a:rPr lang="en-US" dirty="0"/>
              <a:t>For</a:t>
            </a:r>
            <a:r>
              <a:rPr lang="en-US" dirty="0">
                <a:solidFill>
                  <a:schemeClr val="accent1">
                    <a:lumMod val="75000"/>
                  </a:schemeClr>
                </a:solidFill>
              </a:rPr>
              <a:t> </a:t>
            </a:r>
            <a:r>
              <a:rPr lang="en-US" dirty="0">
                <a:solidFill>
                  <a:schemeClr val="accent1">
                    <a:lumMod val="75000"/>
                  </a:schemeClr>
                </a:solidFill>
                <a:latin typeface="Lato Black" panose="020F0502020204030203" pitchFamily="34" charset="0"/>
                <a:ea typeface="Lato Black" panose="020F0502020204030203" pitchFamily="34" charset="0"/>
                <a:cs typeface="Lato Black" panose="020F0502020204030203" pitchFamily="34" charset="0"/>
              </a:rPr>
              <a:t>dynamic linking</a:t>
            </a:r>
            <a:r>
              <a:rPr lang="en-US" dirty="0">
                <a:solidFill>
                  <a:schemeClr val="accent1">
                    <a:lumMod val="75000"/>
                  </a:schemeClr>
                </a:solidFill>
              </a:rPr>
              <a:t> </a:t>
            </a:r>
            <a:r>
              <a:rPr lang="en-US" dirty="0"/>
              <a:t>we will think about loading not just the executable, but library code as well. A </a:t>
            </a:r>
            <a:r>
              <a:rPr lang="en-US" dirty="0">
                <a:solidFill>
                  <a:schemeClr val="accent1">
                    <a:lumMod val="75000"/>
                  </a:schemeClr>
                </a:solidFill>
                <a:latin typeface="Lato Black" panose="020F0502020204030203" pitchFamily="34" charset="0"/>
                <a:ea typeface="Lato Black" panose="020F0502020204030203" pitchFamily="34" charset="0"/>
                <a:cs typeface="Lato Black" panose="020F0502020204030203" pitchFamily="34" charset="0"/>
              </a:rPr>
              <a:t>shared library</a:t>
            </a:r>
            <a:r>
              <a:rPr lang="en-US" dirty="0"/>
              <a:t>.</a:t>
            </a:r>
          </a:p>
          <a:p>
            <a:pPr lvl="1"/>
            <a:r>
              <a:rPr lang="en-US" dirty="0"/>
              <a:t>The OS loader must load the program into memory and also take on the task of loading library code.</a:t>
            </a:r>
          </a:p>
          <a:p>
            <a:pPr lvl="1"/>
            <a:r>
              <a:rPr lang="en-US" dirty="0"/>
              <a:t>It then must do the “mad-libs” replacing references in the program to point to where in memory the library code was loaded. Tricky!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9A4A99A-188C-40D3-8D65-4734EF8257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AAD609-F83C-4414-814B-B5A2DF99692C}" type="slidenum">
              <a:rPr lang="en-US" smtClean="0"/>
              <a:pPr/>
              <a:t>29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9779846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44E03B2F-E0C8-4A2A-B52D-C037DC13C1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Dynamic Linking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D4B1A4BB-B6E4-40E3-9C09-DEE11331965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Linking but… </a:t>
            </a:r>
            <a:r>
              <a:rPr lang="en-US" dirty="0" err="1"/>
              <a:t>yanno</a:t>
            </a:r>
            <a:r>
              <a:rPr lang="en-US" dirty="0"/>
              <a:t>… animated.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380CFD8-0BC6-4D90-A995-AE74330F0D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AAD609-F83C-4414-814B-B5A2DF99692C}" type="slidenum">
              <a:rPr lang="en-US" smtClean="0"/>
              <a:pPr/>
              <a:t>30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44036035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2" descr="Wide upward diagonal">
            <a:extLst>
              <a:ext uri="{FF2B5EF4-FFF2-40B4-BE49-F238E27FC236}">
                <a16:creationId xmlns:a16="http://schemas.microsoft.com/office/drawing/2014/main" id="{DCB412B6-E3F5-4849-B14C-60B0C988ED20}"/>
              </a:ext>
            </a:extLst>
          </p:cNvPr>
          <p:cNvSpPr>
            <a:spLocks noChangeArrowheads="1"/>
          </p:cNvSpPr>
          <p:nvPr/>
        </p:nvSpPr>
        <p:spPr bwMode="auto">
          <a:xfrm>
            <a:off x="6934377" y="995197"/>
            <a:ext cx="2438400" cy="4304574"/>
          </a:xfrm>
          <a:prstGeom prst="rect">
            <a:avLst/>
          </a:prstGeom>
          <a:pattFill prst="wdUpDiag">
            <a:fgClr>
              <a:schemeClr val="bg2"/>
            </a:fgClr>
            <a:bgClr>
              <a:srgbClr val="FFFFFF"/>
            </a:bgClr>
          </a:pattFill>
          <a:ln w="12700">
            <a:solidFill>
              <a:schemeClr val="bg1"/>
            </a:solidFill>
            <a:miter lim="800000"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pPr algn="ctr">
              <a:buClrTx/>
              <a:defRPr/>
            </a:pPr>
            <a:endParaRPr lang="en-US" dirty="0">
              <a:solidFill>
                <a:prstClr val="black"/>
              </a:solidFill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FEE276A-0D77-473A-8229-4833A1D467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Code that can be loaded… anywhere?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82D9296-7906-4140-A7A4-777DE5EAFF0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96620" y="967741"/>
            <a:ext cx="5547360" cy="4179729"/>
          </a:xfrm>
        </p:spPr>
        <p:txBody>
          <a:bodyPr>
            <a:normAutofit fontScale="92500" lnSpcReduction="10000"/>
          </a:bodyPr>
          <a:lstStyle/>
          <a:p>
            <a:r>
              <a:rPr lang="en-US" dirty="0"/>
              <a:t>The main problem is this:</a:t>
            </a:r>
          </a:p>
          <a:p>
            <a:pPr lvl="1"/>
            <a:r>
              <a:rPr lang="en-US" dirty="0"/>
              <a:t>Programs generally need to assume where in memory they live.</a:t>
            </a:r>
          </a:p>
          <a:p>
            <a:pPr lvl="1"/>
            <a:endParaRPr lang="en-US" dirty="0"/>
          </a:p>
          <a:p>
            <a:r>
              <a:rPr lang="en-US" dirty="0"/>
              <a:t>They refer to functions and data at particular addresses.</a:t>
            </a:r>
          </a:p>
          <a:p>
            <a:pPr lvl="1"/>
            <a:r>
              <a:rPr lang="en-US" dirty="0"/>
              <a:t>The linker decides where those are, but they are then hard-coded in.</a:t>
            </a:r>
          </a:p>
          <a:p>
            <a:pPr lvl="1"/>
            <a:endParaRPr lang="en-US" dirty="0"/>
          </a:p>
          <a:p>
            <a:r>
              <a:rPr lang="en-US" dirty="0"/>
              <a:t>We want to provide a single software library to multiple executables…</a:t>
            </a:r>
          </a:p>
          <a:p>
            <a:pPr lvl="1"/>
            <a:r>
              <a:rPr lang="en-US" dirty="0"/>
              <a:t>We can’t know ahead of time where that library </a:t>
            </a:r>
            <a:r>
              <a:rPr lang="en-US" i="1" dirty="0"/>
              <a:t>can</a:t>
            </a:r>
            <a:r>
              <a:rPr lang="en-US" dirty="0"/>
              <a:t> go in memory since programs are different sizes… they might need multiple libraries… etc.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C440193-E49F-44C2-88BD-5BA3EA2D87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AAD609-F83C-4414-814B-B5A2DF99692C}" type="slidenum">
              <a:rPr lang="en-US" smtClean="0"/>
              <a:pPr/>
              <a:t>31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09B65BD-1C3E-4C7D-B480-29B3BAA55EDD}"/>
              </a:ext>
            </a:extLst>
          </p:cNvPr>
          <p:cNvSpPr>
            <a:spLocks noGrp="1"/>
          </p:cNvSpPr>
          <p:nvPr>
            <p:ph type="ftr" sz="quarter" idx="4294967295"/>
          </p:nvPr>
        </p:nvSpPr>
        <p:spPr>
          <a:xfrm>
            <a:off x="0" y="5297488"/>
            <a:ext cx="3429000" cy="303212"/>
          </a:xfrm>
        </p:spPr>
        <p:txBody>
          <a:bodyPr/>
          <a:lstStyle/>
          <a:p>
            <a:r>
              <a:rPr lang="en-US"/>
              <a:t>CS/COE 0449 – Spring 2019/2020</a:t>
            </a:r>
            <a:endParaRPr lang="en-US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63271D41-368A-4D9D-8941-C61D9E587A9E}"/>
              </a:ext>
            </a:extLst>
          </p:cNvPr>
          <p:cNvSpPr/>
          <p:nvPr/>
        </p:nvSpPr>
        <p:spPr>
          <a:xfrm>
            <a:off x="6934377" y="960039"/>
            <a:ext cx="2438400" cy="641156"/>
          </a:xfrm>
          <a:prstGeom prst="rect">
            <a:avLst/>
          </a:prstGeom>
          <a:solidFill>
            <a:srgbClr val="C288BE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buClrTx/>
            </a:pPr>
            <a:endParaRPr lang="en-US" dirty="0">
              <a:solidFill>
                <a:prstClr val="white"/>
              </a:solidFill>
              <a:latin typeface="Calibri"/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2A13CB3D-EEE3-49D2-8451-6DA787226A0E}"/>
              </a:ext>
            </a:extLst>
          </p:cNvPr>
          <p:cNvSpPr/>
          <p:nvPr/>
        </p:nvSpPr>
        <p:spPr>
          <a:xfrm>
            <a:off x="6934377" y="3642420"/>
            <a:ext cx="2438400" cy="508876"/>
          </a:xfrm>
          <a:prstGeom prst="rect">
            <a:avLst/>
          </a:prstGeom>
          <a:solidFill>
            <a:schemeClr val="bg1">
              <a:lumMod val="65000"/>
            </a:schemeClr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buClrTx/>
            </a:pPr>
            <a:endParaRPr lang="en-US" dirty="0">
              <a:solidFill>
                <a:prstClr val="white"/>
              </a:solidFill>
              <a:latin typeface="Calibri"/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CA8C0AB8-0087-4D3E-9877-1FE25B42DFB6}"/>
              </a:ext>
            </a:extLst>
          </p:cNvPr>
          <p:cNvSpPr/>
          <p:nvPr/>
        </p:nvSpPr>
        <p:spPr>
          <a:xfrm>
            <a:off x="6922653" y="1610581"/>
            <a:ext cx="2438400" cy="421354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buClrTx/>
            </a:pPr>
            <a:endParaRPr lang="en-US">
              <a:solidFill>
                <a:prstClr val="white"/>
              </a:solidFill>
              <a:latin typeface="Calibri"/>
            </a:endParaRPr>
          </a:p>
        </p:txBody>
      </p:sp>
      <p:sp>
        <p:nvSpPr>
          <p:cNvPr id="13" name="Rectangle 5">
            <a:extLst>
              <a:ext uri="{FF2B5EF4-FFF2-40B4-BE49-F238E27FC236}">
                <a16:creationId xmlns:a16="http://schemas.microsoft.com/office/drawing/2014/main" id="{47319F13-1117-42DA-89D6-D90E836E2CDA}"/>
              </a:ext>
            </a:extLst>
          </p:cNvPr>
          <p:cNvSpPr>
            <a:spLocks noChangeArrowheads="1"/>
          </p:cNvSpPr>
          <p:nvPr/>
        </p:nvSpPr>
        <p:spPr bwMode="auto">
          <a:xfrm>
            <a:off x="6934377" y="967741"/>
            <a:ext cx="2438400" cy="4332031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pPr>
              <a:buClrTx/>
              <a:defRPr/>
            </a:pPr>
            <a:endParaRPr lang="en-US">
              <a:solidFill>
                <a:prstClr val="black"/>
              </a:solidFill>
              <a:latin typeface="Calibri"/>
              <a:ea typeface="ＭＳ Ｐゴシック" charset="-128"/>
              <a:cs typeface="ＭＳ Ｐゴシック" charset="-128"/>
            </a:endParaRPr>
          </a:p>
        </p:txBody>
      </p:sp>
      <p:sp>
        <p:nvSpPr>
          <p:cNvPr id="14" name="Rectangle 6">
            <a:extLst>
              <a:ext uri="{FF2B5EF4-FFF2-40B4-BE49-F238E27FC236}">
                <a16:creationId xmlns:a16="http://schemas.microsoft.com/office/drawing/2014/main" id="{D1751D29-E490-46B7-B269-3A3F1B81F55B}"/>
              </a:ext>
            </a:extLst>
          </p:cNvPr>
          <p:cNvSpPr>
            <a:spLocks noChangeArrowheads="1"/>
          </p:cNvSpPr>
          <p:nvPr/>
        </p:nvSpPr>
        <p:spPr bwMode="auto">
          <a:xfrm>
            <a:off x="6934377" y="4671121"/>
            <a:ext cx="2438400" cy="628650"/>
          </a:xfrm>
          <a:prstGeom prst="rect">
            <a:avLst/>
          </a:prstGeom>
          <a:solidFill>
            <a:srgbClr val="FFFF00"/>
          </a:solidFill>
          <a:ln w="381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pPr>
              <a:buClrTx/>
              <a:defRPr/>
            </a:pPr>
            <a:endParaRPr lang="en-US">
              <a:solidFill>
                <a:prstClr val="black"/>
              </a:solidFill>
              <a:latin typeface="Calibri"/>
              <a:ea typeface="ＭＳ Ｐゴシック" charset="-128"/>
              <a:cs typeface="ＭＳ Ｐゴシック" charset="-128"/>
            </a:endParaRPr>
          </a:p>
        </p:txBody>
      </p:sp>
      <p:sp>
        <p:nvSpPr>
          <p:cNvPr id="15" name="Rectangle 7">
            <a:extLst>
              <a:ext uri="{FF2B5EF4-FFF2-40B4-BE49-F238E27FC236}">
                <a16:creationId xmlns:a16="http://schemas.microsoft.com/office/drawing/2014/main" id="{FD70E85F-23AE-45CA-AFD5-6D86A6E183CC}"/>
              </a:ext>
            </a:extLst>
          </p:cNvPr>
          <p:cNvSpPr>
            <a:spLocks noChangeArrowheads="1"/>
          </p:cNvSpPr>
          <p:nvPr/>
        </p:nvSpPr>
        <p:spPr bwMode="auto">
          <a:xfrm>
            <a:off x="6934377" y="4156771"/>
            <a:ext cx="2438400" cy="514350"/>
          </a:xfrm>
          <a:prstGeom prst="rect">
            <a:avLst/>
          </a:prstGeom>
          <a:solidFill>
            <a:srgbClr val="00B0F0"/>
          </a:solidFill>
          <a:ln w="381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pPr>
              <a:buClrTx/>
              <a:defRPr/>
            </a:pPr>
            <a:endParaRPr lang="en-US">
              <a:solidFill>
                <a:prstClr val="black"/>
              </a:solidFill>
              <a:latin typeface="Calibri"/>
              <a:ea typeface="ＭＳ Ｐゴシック" charset="-128"/>
              <a:cs typeface="ＭＳ Ｐゴシック" charset="-128"/>
            </a:endParaRPr>
          </a:p>
        </p:txBody>
      </p:sp>
      <p:sp>
        <p:nvSpPr>
          <p:cNvPr id="17" name="Text Box 10">
            <a:extLst>
              <a:ext uri="{FF2B5EF4-FFF2-40B4-BE49-F238E27FC236}">
                <a16:creationId xmlns:a16="http://schemas.microsoft.com/office/drawing/2014/main" id="{0C162979-5F9C-4010-B5F1-92A5A002327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744952" y="4739223"/>
            <a:ext cx="793807" cy="461665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wrap="none">
            <a:prstTxWarp prst="textNoShape">
              <a:avLst/>
            </a:prstTxWarp>
            <a:spAutoFit/>
          </a:bodyPr>
          <a:lstStyle/>
          <a:p>
            <a:pPr algn="ctr">
              <a:buClrTx/>
              <a:defRPr/>
            </a:pPr>
            <a:r>
              <a:rPr lang="en-US" sz="2400" dirty="0">
                <a:solidFill>
                  <a:prstClr val="black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.text</a:t>
            </a:r>
          </a:p>
        </p:txBody>
      </p:sp>
      <p:sp>
        <p:nvSpPr>
          <p:cNvPr id="18" name="Text Box 11">
            <a:extLst>
              <a:ext uri="{FF2B5EF4-FFF2-40B4-BE49-F238E27FC236}">
                <a16:creationId xmlns:a16="http://schemas.microsoft.com/office/drawing/2014/main" id="{CC4E9859-835E-4670-95A4-DB5F87F2D13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750077" y="4166297"/>
            <a:ext cx="845104" cy="461665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wrap="none">
            <a:prstTxWarp prst="textNoShape">
              <a:avLst/>
            </a:prstTxWarp>
            <a:spAutoFit/>
          </a:bodyPr>
          <a:lstStyle/>
          <a:p>
            <a:pPr algn="ctr">
              <a:buClrTx/>
              <a:defRPr/>
            </a:pPr>
            <a:r>
              <a:rPr lang="en-US" sz="2400" dirty="0">
                <a:solidFill>
                  <a:prstClr val="black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.data</a:t>
            </a:r>
          </a:p>
        </p:txBody>
      </p:sp>
      <p:sp>
        <p:nvSpPr>
          <p:cNvPr id="19" name="Text Box 12">
            <a:extLst>
              <a:ext uri="{FF2B5EF4-FFF2-40B4-BE49-F238E27FC236}">
                <a16:creationId xmlns:a16="http://schemas.microsoft.com/office/drawing/2014/main" id="{AF258DAD-205F-4092-AEBF-11070787ECA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824616" y="3651946"/>
            <a:ext cx="696024" cy="461665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wrap="none">
            <a:prstTxWarp prst="textNoShape">
              <a:avLst/>
            </a:prstTxWarp>
            <a:spAutoFit/>
          </a:bodyPr>
          <a:lstStyle/>
          <a:p>
            <a:pPr algn="ctr">
              <a:buClrTx/>
              <a:defRPr/>
            </a:pPr>
            <a:r>
              <a:rPr lang="en-US" sz="2400" dirty="0">
                <a:solidFill>
                  <a:prstClr val="black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.</a:t>
            </a:r>
            <a:r>
              <a:rPr lang="en-US" sz="2400" dirty="0" err="1">
                <a:solidFill>
                  <a:prstClr val="black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bss</a:t>
            </a:r>
            <a:endParaRPr lang="en-US" sz="2400" dirty="0">
              <a:solidFill>
                <a:prstClr val="black"/>
              </a:solidFill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</p:txBody>
      </p:sp>
      <p:sp>
        <p:nvSpPr>
          <p:cNvPr id="20" name="Text Box 13">
            <a:extLst>
              <a:ext uri="{FF2B5EF4-FFF2-40B4-BE49-F238E27FC236}">
                <a16:creationId xmlns:a16="http://schemas.microsoft.com/office/drawing/2014/main" id="{D6E82C84-8191-41A2-891F-3A5999C7FB3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730035" y="1596904"/>
            <a:ext cx="885179" cy="461665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wrap="none">
            <a:prstTxWarp prst="textNoShape">
              <a:avLst/>
            </a:prstTxWarp>
            <a:spAutoFit/>
          </a:bodyPr>
          <a:lstStyle/>
          <a:p>
            <a:pPr algn="ctr">
              <a:buClrTx/>
              <a:defRPr/>
            </a:pPr>
            <a:r>
              <a:rPr lang="en-US" sz="2400" dirty="0">
                <a:solidFill>
                  <a:prstClr val="black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stack</a:t>
            </a:r>
          </a:p>
        </p:txBody>
      </p:sp>
      <p:sp>
        <p:nvSpPr>
          <p:cNvPr id="22" name="Text Box 17">
            <a:extLst>
              <a:ext uri="{FF2B5EF4-FFF2-40B4-BE49-F238E27FC236}">
                <a16:creationId xmlns:a16="http://schemas.microsoft.com/office/drawing/2014/main" id="{AA16F513-986A-4035-97FF-E747362B951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318552" y="592672"/>
            <a:ext cx="1646605" cy="369332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wrap="none">
            <a:prstTxWarp prst="textNoShape">
              <a:avLst/>
            </a:prstTxWarp>
            <a:spAutoFit/>
          </a:bodyPr>
          <a:lstStyle/>
          <a:p>
            <a:pPr>
              <a:buClrTx/>
              <a:defRPr/>
            </a:pPr>
            <a:r>
              <a:rPr lang="en-US" b="1" dirty="0">
                <a:solidFill>
                  <a:prstClr val="black"/>
                </a:solidFill>
                <a:latin typeface="Inconsolata" panose="020B0609030003000000" pitchFamily="49" charset="0"/>
                <a:ea typeface="ＭＳ Ｐゴシック" charset="-128"/>
                <a:cs typeface="Courier"/>
              </a:rPr>
              <a:t>~ 0xFFFFFFFF</a:t>
            </a:r>
            <a:endParaRPr lang="en-US" sz="1600" b="1" dirty="0">
              <a:solidFill>
                <a:prstClr val="black"/>
              </a:solidFill>
              <a:latin typeface="Inconsolata" panose="020B0609030003000000" pitchFamily="49" charset="0"/>
              <a:ea typeface="ＭＳ Ｐゴシック" charset="-128"/>
              <a:cs typeface="Courier"/>
            </a:endParaRPr>
          </a:p>
        </p:txBody>
      </p:sp>
      <p:sp>
        <p:nvSpPr>
          <p:cNvPr id="23" name="Text Box 18">
            <a:extLst>
              <a:ext uri="{FF2B5EF4-FFF2-40B4-BE49-F238E27FC236}">
                <a16:creationId xmlns:a16="http://schemas.microsoft.com/office/drawing/2014/main" id="{3321DA8B-6649-4387-807B-B7CC784DE39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349323" y="5301866"/>
            <a:ext cx="1646605" cy="369332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wrap="none">
            <a:prstTxWarp prst="textNoShape">
              <a:avLst/>
            </a:prstTxWarp>
            <a:spAutoFit/>
          </a:bodyPr>
          <a:lstStyle/>
          <a:p>
            <a:pPr>
              <a:buClrTx/>
              <a:defRPr/>
            </a:pPr>
            <a:r>
              <a:rPr lang="en-US" b="1" dirty="0">
                <a:solidFill>
                  <a:prstClr val="black"/>
                </a:solidFill>
                <a:latin typeface="Inconsolata" panose="020B0609030003000000" pitchFamily="49" charset="0"/>
                <a:ea typeface="ＭＳ Ｐゴシック" charset="-128"/>
                <a:cs typeface="Courier"/>
              </a:rPr>
              <a:t>~ 0x00000000</a:t>
            </a:r>
            <a:endParaRPr lang="en-US" sz="1600" b="1" dirty="0">
              <a:solidFill>
                <a:prstClr val="black"/>
              </a:solidFill>
              <a:latin typeface="Inconsolata" panose="020B0609030003000000" pitchFamily="49" charset="0"/>
              <a:ea typeface="ＭＳ Ｐゴシック" charset="-128"/>
              <a:cs typeface="Courier"/>
            </a:endParaRPr>
          </a:p>
        </p:txBody>
      </p:sp>
      <p:sp>
        <p:nvSpPr>
          <p:cNvPr id="26" name="Text Box 13">
            <a:extLst>
              <a:ext uri="{FF2B5EF4-FFF2-40B4-BE49-F238E27FC236}">
                <a16:creationId xmlns:a16="http://schemas.microsoft.com/office/drawing/2014/main" id="{52F5C7FB-011A-4B7A-9855-74BF5166F8C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026318" y="1048544"/>
            <a:ext cx="2292615" cy="461665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wrap="none">
            <a:prstTxWarp prst="textNoShape">
              <a:avLst/>
            </a:prstTxWarp>
            <a:spAutoFit/>
          </a:bodyPr>
          <a:lstStyle/>
          <a:p>
            <a:pPr algn="ctr">
              <a:buClrTx/>
              <a:defRPr/>
            </a:pPr>
            <a:r>
              <a:rPr lang="en-US" sz="2400" dirty="0">
                <a:solidFill>
                  <a:prstClr val="black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Kernel Memory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6A68EC11-B5B8-421C-B791-6E66700FDB5B}"/>
              </a:ext>
            </a:extLst>
          </p:cNvPr>
          <p:cNvSpPr/>
          <p:nvPr/>
        </p:nvSpPr>
        <p:spPr>
          <a:xfrm>
            <a:off x="6934377" y="2494748"/>
            <a:ext cx="2438400" cy="362753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buClrTx/>
            </a:pPr>
            <a:endParaRPr lang="en-US" dirty="0">
              <a:solidFill>
                <a:prstClr val="white"/>
              </a:solidFill>
              <a:latin typeface="Calibri"/>
            </a:endParaRP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9B1B1206-90AA-443A-8E7C-B3CDEFECF501}"/>
              </a:ext>
            </a:extLst>
          </p:cNvPr>
          <p:cNvSpPr/>
          <p:nvPr/>
        </p:nvSpPr>
        <p:spPr>
          <a:xfrm>
            <a:off x="6934377" y="2850642"/>
            <a:ext cx="2438400" cy="362753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buClrTx/>
            </a:pPr>
            <a:endParaRPr lang="en-US" dirty="0">
              <a:solidFill>
                <a:prstClr val="white"/>
              </a:solidFill>
              <a:latin typeface="Calibri"/>
            </a:endParaRPr>
          </a:p>
        </p:txBody>
      </p:sp>
      <p:sp>
        <p:nvSpPr>
          <p:cNvPr id="29" name="Text Box 10">
            <a:extLst>
              <a:ext uri="{FF2B5EF4-FFF2-40B4-BE49-F238E27FC236}">
                <a16:creationId xmlns:a16="http://schemas.microsoft.com/office/drawing/2014/main" id="{F8099C20-A8DD-454F-80FA-CC7559DC2AF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475645" y="2867025"/>
            <a:ext cx="1332416" cy="369332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wrap="none">
            <a:prstTxWarp prst="textNoShape">
              <a:avLst/>
            </a:prstTxWarp>
            <a:spAutoFit/>
          </a:bodyPr>
          <a:lstStyle/>
          <a:p>
            <a:pPr algn="ctr">
              <a:buClrTx/>
              <a:defRPr/>
            </a:pPr>
            <a:r>
              <a:rPr lang="en-US" dirty="0">
                <a:solidFill>
                  <a:prstClr val="black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libz.so .text</a:t>
            </a:r>
          </a:p>
        </p:txBody>
      </p:sp>
      <p:sp>
        <p:nvSpPr>
          <p:cNvPr id="30" name="Text Box 11">
            <a:extLst>
              <a:ext uri="{FF2B5EF4-FFF2-40B4-BE49-F238E27FC236}">
                <a16:creationId xmlns:a16="http://schemas.microsoft.com/office/drawing/2014/main" id="{021380EC-27CD-4934-97EE-931B36D2491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467331" y="2467846"/>
            <a:ext cx="1372492" cy="369332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wrap="none">
            <a:prstTxWarp prst="textNoShape">
              <a:avLst/>
            </a:prstTxWarp>
            <a:spAutoFit/>
          </a:bodyPr>
          <a:lstStyle/>
          <a:p>
            <a:pPr algn="ctr">
              <a:buClrTx/>
              <a:defRPr/>
            </a:pPr>
            <a:r>
              <a:rPr lang="en-US" dirty="0">
                <a:solidFill>
                  <a:prstClr val="black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libz.so .data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18E8D379-E7E4-46A6-8BCE-948279E59224}"/>
              </a:ext>
            </a:extLst>
          </p:cNvPr>
          <p:cNvSpPr txBox="1"/>
          <p:nvPr/>
        </p:nvSpPr>
        <p:spPr>
          <a:xfrm>
            <a:off x="4384030" y="3040957"/>
            <a:ext cx="2342308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>
                <a:solidFill>
                  <a:srgbClr val="7030A0"/>
                </a:solidFill>
                <a:latin typeface="Lato Black" panose="020B0604020202020204" charset="0"/>
                <a:ea typeface="Lato Black" panose="020B0604020202020204" charset="0"/>
                <a:cs typeface="Lato Black" panose="020B0604020202020204" charset="0"/>
              </a:rPr>
              <a:t>Where should this go??</a:t>
            </a:r>
            <a:endParaRPr lang="en-US" sz="1600" dirty="0">
              <a:solidFill>
                <a:srgbClr val="7030A0"/>
              </a:solidFill>
              <a:latin typeface="Inconsolata" panose="020B0609030003000000" pitchFamily="49" charset="0"/>
              <a:ea typeface="Lato Black" panose="020B0604020202020204" charset="0"/>
              <a:cs typeface="Lato Black" panose="020B0604020202020204" charset="0"/>
            </a:endParaRPr>
          </a:p>
        </p:txBody>
      </p:sp>
      <p:cxnSp>
        <p:nvCxnSpPr>
          <p:cNvPr id="32" name="Straight Arrow Connector 31">
            <a:extLst>
              <a:ext uri="{FF2B5EF4-FFF2-40B4-BE49-F238E27FC236}">
                <a16:creationId xmlns:a16="http://schemas.microsoft.com/office/drawing/2014/main" id="{CB248529-7040-4566-A74C-8956A5772AC9}"/>
              </a:ext>
            </a:extLst>
          </p:cNvPr>
          <p:cNvCxnSpPr>
            <a:cxnSpLocks/>
          </p:cNvCxnSpPr>
          <p:nvPr/>
        </p:nvCxnSpPr>
        <p:spPr>
          <a:xfrm flipV="1">
            <a:off x="6698497" y="2968623"/>
            <a:ext cx="169566" cy="144668"/>
          </a:xfrm>
          <a:prstGeom prst="straightConnector1">
            <a:avLst/>
          </a:prstGeom>
          <a:ln w="38100">
            <a:solidFill>
              <a:srgbClr val="7030A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03859580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1" grpId="0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20C8DF-E6BA-4E35-9626-4C297904BF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Solution: relocatable code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CB39651-4027-4C0F-865C-879B4BA6E46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98500" y="774858"/>
            <a:ext cx="8763000" cy="4372611"/>
          </a:xfrm>
        </p:spPr>
        <p:txBody>
          <a:bodyPr/>
          <a:lstStyle/>
          <a:p>
            <a:r>
              <a:rPr lang="en-US" dirty="0"/>
              <a:t>Let’s allow code to refer to functions and/or data that may move.</a:t>
            </a:r>
          </a:p>
          <a:p>
            <a:r>
              <a:rPr lang="en-US" dirty="0"/>
              <a:t>Essentially, the operating system plays the mad-lib game.</a:t>
            </a:r>
          </a:p>
          <a:p>
            <a:pPr lvl="1"/>
            <a:r>
              <a:rPr lang="en-US" dirty="0"/>
              <a:t>The ELF executable has a list of “relocatable entries”</a:t>
            </a:r>
          </a:p>
          <a:p>
            <a:pPr lvl="1"/>
            <a:r>
              <a:rPr lang="en-US" dirty="0"/>
              <a:t>The OS goes through them and fills them in according to where the external symbols are.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4346CAE-4818-4A8E-9BDB-5A08999957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AAD609-F83C-4414-814B-B5A2DF99692C}" type="slidenum">
              <a:rPr lang="en-US" smtClean="0"/>
              <a:pPr/>
              <a:t>32</a:t>
            </a:fld>
            <a:endParaRPr lang="en-US" dirty="0"/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8DE377AD-6A23-41E9-AAF3-581901A84B89}"/>
              </a:ext>
            </a:extLst>
          </p:cNvPr>
          <p:cNvSpPr txBox="1">
            <a:spLocks/>
          </p:cNvSpPr>
          <p:nvPr/>
        </p:nvSpPr>
        <p:spPr>
          <a:xfrm>
            <a:off x="1173406" y="3125168"/>
            <a:ext cx="5819215" cy="196499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Clr>
                <a:schemeClr val="accent1">
                  <a:lumMod val="75000"/>
                </a:schemeClr>
              </a:buClr>
              <a:buFont typeface="Arial" panose="020B0604020202020204" pitchFamily="34" charset="0"/>
              <a:buChar char="•"/>
              <a:defRPr sz="2100" kern="1200">
                <a:solidFill>
                  <a:schemeClr val="tx1"/>
                </a:solidFill>
                <a:latin typeface="Lato Semibold" panose="020F0502020204030203" pitchFamily="34" charset="0"/>
                <a:ea typeface="Lato Semibold" panose="020F0502020204030203" pitchFamily="34" charset="0"/>
                <a:cs typeface="Lato Semibold" panose="020F0502020204030203" pitchFamily="34" charset="0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Clr>
                <a:schemeClr val="accent1">
                  <a:lumMod val="75000"/>
                </a:schemeClr>
              </a:buClr>
              <a:buFont typeface="Wingdings" panose="05000000000000000000" pitchFamily="2" charset="2"/>
              <a:buChar char="§"/>
              <a:defRPr sz="1800" kern="1200">
                <a:solidFill>
                  <a:schemeClr val="tx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Clr>
                <a:srgbClr val="FF0000"/>
              </a:buClr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Lato Light" panose="020F0502020204030203" pitchFamily="34" charset="0"/>
                <a:ea typeface="Lato Light" panose="020F0502020204030203" pitchFamily="34" charset="0"/>
                <a:cs typeface="Lato Light" panose="020F0502020204030203" pitchFamily="34" charset="0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Lato Light" panose="020F0502020204030203" pitchFamily="34" charset="0"/>
                <a:ea typeface="Lato Light" panose="020F0502020204030203" pitchFamily="34" charset="0"/>
                <a:cs typeface="Lato Light" panose="020F0502020204030203" pitchFamily="34" charset="0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1600" dirty="0">
                <a:solidFill>
                  <a:srgbClr val="7030A0"/>
                </a:solidFill>
                <a:latin typeface="Inconsolata" panose="020B0609030003000000" pitchFamily="49" charset="0"/>
              </a:rPr>
              <a:t>#include</a:t>
            </a:r>
            <a:r>
              <a:rPr lang="en-US" sz="1600" dirty="0">
                <a:solidFill>
                  <a:schemeClr val="accent2">
                    <a:lumMod val="75000"/>
                  </a:schemeClr>
                </a:solidFill>
                <a:latin typeface="Inconsolata" panose="020B0609030003000000" pitchFamily="49" charset="0"/>
              </a:rPr>
              <a:t> &lt;</a:t>
            </a:r>
            <a:r>
              <a:rPr lang="en-US" sz="1600" dirty="0" err="1">
                <a:solidFill>
                  <a:schemeClr val="accent2">
                    <a:lumMod val="75000"/>
                  </a:schemeClr>
                </a:solidFill>
                <a:latin typeface="Inconsolata" panose="020B0609030003000000" pitchFamily="49" charset="0"/>
              </a:rPr>
              <a:t>zlib.h</a:t>
            </a:r>
            <a:r>
              <a:rPr lang="en-US" sz="1600" dirty="0">
                <a:solidFill>
                  <a:schemeClr val="accent2">
                    <a:lumMod val="75000"/>
                  </a:schemeClr>
                </a:solidFill>
                <a:latin typeface="Inconsolata" panose="020B0609030003000000" pitchFamily="49" charset="0"/>
              </a:rPr>
              <a:t>&gt;</a:t>
            </a:r>
            <a:r>
              <a:rPr lang="en-US" sz="1600" dirty="0">
                <a:solidFill>
                  <a:schemeClr val="accent6">
                    <a:lumMod val="50000"/>
                  </a:schemeClr>
                </a:solidFill>
                <a:latin typeface="Inconsolata" panose="020B0609030003000000" pitchFamily="49" charset="0"/>
              </a:rPr>
              <a:t> // provides </a:t>
            </a:r>
            <a:r>
              <a:rPr lang="en-US" sz="1600" dirty="0" err="1">
                <a:solidFill>
                  <a:schemeClr val="accent6">
                    <a:lumMod val="50000"/>
                  </a:schemeClr>
                </a:solidFill>
                <a:latin typeface="Inconsolata" panose="020B0609030003000000" pitchFamily="49" charset="0"/>
              </a:rPr>
              <a:t>compressBound</a:t>
            </a:r>
            <a:endParaRPr lang="en-US" sz="1600" dirty="0">
              <a:solidFill>
                <a:schemeClr val="accent6">
                  <a:lumMod val="50000"/>
                </a:schemeClr>
              </a:solidFill>
              <a:latin typeface="Inconsolata" panose="020B0609030003000000" pitchFamily="49" charset="0"/>
            </a:endParaRP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endParaRPr lang="en-US" sz="1600" dirty="0">
              <a:solidFill>
                <a:schemeClr val="accent1">
                  <a:lumMod val="75000"/>
                </a:schemeClr>
              </a:solidFill>
              <a:latin typeface="Inconsolata" panose="020B0609030003000000" pitchFamily="49" charset="0"/>
            </a:endParaRP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1600" dirty="0">
                <a:solidFill>
                  <a:schemeClr val="accent1">
                    <a:lumMod val="75000"/>
                  </a:schemeClr>
                </a:solidFill>
                <a:latin typeface="Inconsolata" panose="020B0609030003000000" pitchFamily="49" charset="0"/>
              </a:rPr>
              <a:t>int </a:t>
            </a:r>
            <a:r>
              <a:rPr lang="en-US" sz="1600" dirty="0">
                <a:latin typeface="Inconsolata" panose="020B0609030003000000" pitchFamily="49" charset="0"/>
              </a:rPr>
              <a:t>main(</a:t>
            </a:r>
            <a:r>
              <a:rPr lang="en-US" sz="1600" dirty="0">
                <a:solidFill>
                  <a:schemeClr val="accent1">
                    <a:lumMod val="75000"/>
                  </a:schemeClr>
                </a:solidFill>
                <a:latin typeface="Inconsolata" panose="020B0609030003000000" pitchFamily="49" charset="0"/>
              </a:rPr>
              <a:t>void</a:t>
            </a:r>
            <a:r>
              <a:rPr lang="en-US" sz="1600" dirty="0">
                <a:latin typeface="Inconsolata" panose="020B0609030003000000" pitchFamily="49" charset="0"/>
              </a:rPr>
              <a:t>) {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1600" dirty="0">
                <a:latin typeface="Inconsolata" panose="020B0609030003000000" pitchFamily="49" charset="0"/>
              </a:rPr>
              <a:t>  </a:t>
            </a:r>
            <a:r>
              <a:rPr lang="en-US" sz="1600" dirty="0">
                <a:solidFill>
                  <a:schemeClr val="accent1">
                    <a:lumMod val="75000"/>
                  </a:schemeClr>
                </a:solidFill>
                <a:latin typeface="Inconsolata" panose="020B0609030003000000" pitchFamily="49" charset="0"/>
              </a:rPr>
              <a:t>long</a:t>
            </a:r>
            <a:r>
              <a:rPr lang="en-US" sz="1600" dirty="0">
                <a:latin typeface="Inconsolata" panose="020B0609030003000000" pitchFamily="49" charset="0"/>
              </a:rPr>
              <a:t> </a:t>
            </a:r>
            <a:r>
              <a:rPr lang="en-US" sz="1600" dirty="0" err="1">
                <a:latin typeface="Inconsolata" panose="020B0609030003000000" pitchFamily="49" charset="0"/>
              </a:rPr>
              <a:t>bufferSize</a:t>
            </a:r>
            <a:r>
              <a:rPr lang="en-US" sz="1600" dirty="0">
                <a:latin typeface="Inconsolata" panose="020B0609030003000000" pitchFamily="49" charset="0"/>
              </a:rPr>
              <a:t> = </a:t>
            </a:r>
            <a:r>
              <a:rPr lang="en-US" sz="1600" dirty="0" err="1">
                <a:latin typeface="Inconsolata" panose="020B0609030003000000" pitchFamily="49" charset="0"/>
              </a:rPr>
              <a:t>compressBound</a:t>
            </a:r>
            <a:r>
              <a:rPr lang="en-US" sz="1600" dirty="0">
                <a:latin typeface="Inconsolata" panose="020B0609030003000000" pitchFamily="49" charset="0"/>
              </a:rPr>
              <a:t>(10000);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1600" dirty="0">
                <a:solidFill>
                  <a:schemeClr val="accent1">
                    <a:lumMod val="75000"/>
                  </a:schemeClr>
                </a:solidFill>
                <a:latin typeface="Inconsolata" panose="020B0609030003000000" pitchFamily="49" charset="0"/>
              </a:rPr>
              <a:t>  return</a:t>
            </a:r>
            <a:r>
              <a:rPr lang="en-US" sz="1600" dirty="0">
                <a:latin typeface="Inconsolata" panose="020B0609030003000000" pitchFamily="49" charset="0"/>
              </a:rPr>
              <a:t> 0;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1600" dirty="0">
                <a:latin typeface="Inconsolata" panose="020B0609030003000000" pitchFamily="49" charset="0"/>
              </a:rPr>
              <a:t>}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DF95FA9-8786-4252-B37D-582568BCF927}"/>
              </a:ext>
            </a:extLst>
          </p:cNvPr>
          <p:cNvSpPr txBox="1"/>
          <p:nvPr/>
        </p:nvSpPr>
        <p:spPr>
          <a:xfrm>
            <a:off x="1145336" y="2761734"/>
            <a:ext cx="442660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Lato Black" panose="020F0502020204030203" pitchFamily="34" charset="0"/>
                <a:ea typeface="Lato Black" panose="020F0502020204030203" pitchFamily="34" charset="0"/>
                <a:cs typeface="Lato Black" panose="020F0502020204030203" pitchFamily="34" charset="0"/>
              </a:rPr>
              <a:t>C</a:t>
            </a:r>
            <a:r>
              <a:rPr lang="en-US" dirty="0">
                <a:latin typeface="Lato Light" panose="020F0502020204030203" pitchFamily="34" charset="0"/>
                <a:ea typeface="Lato Light" panose="020F0502020204030203" pitchFamily="34" charset="0"/>
                <a:cs typeface="Lato Light" panose="020F0502020204030203" pitchFamily="34" charset="0"/>
              </a:rPr>
              <a:t> (</a:t>
            </a:r>
            <a:r>
              <a:rPr lang="en-US" dirty="0" err="1">
                <a:latin typeface="Inconsolata" panose="020B0609030003000000" pitchFamily="49" charset="0"/>
                <a:ea typeface="Lato Light" panose="020F0502020204030203" pitchFamily="34" charset="0"/>
                <a:cs typeface="Lato Light" panose="020F0502020204030203" pitchFamily="34" charset="0"/>
              </a:rPr>
              <a:t>gcc</a:t>
            </a:r>
            <a:r>
              <a:rPr lang="en-US" dirty="0">
                <a:latin typeface="Inconsolata" panose="020B0609030003000000" pitchFamily="49" charset="0"/>
                <a:ea typeface="Lato Light" panose="020F0502020204030203" pitchFamily="34" charset="0"/>
                <a:cs typeface="Lato Light" panose="020F0502020204030203" pitchFamily="34" charset="0"/>
              </a:rPr>
              <a:t> -o compressor </a:t>
            </a:r>
            <a:r>
              <a:rPr lang="en-US" dirty="0" err="1">
                <a:latin typeface="Inconsolata" panose="020B0609030003000000" pitchFamily="49" charset="0"/>
                <a:ea typeface="Lato Light" panose="020F0502020204030203" pitchFamily="34" charset="0"/>
                <a:cs typeface="Lato Light" panose="020F0502020204030203" pitchFamily="34" charset="0"/>
              </a:rPr>
              <a:t>compressor.c</a:t>
            </a:r>
            <a:r>
              <a:rPr lang="en-US" dirty="0">
                <a:latin typeface="Inconsolata" panose="020B0609030003000000" pitchFamily="49" charset="0"/>
                <a:ea typeface="Lato Light" panose="020F0502020204030203" pitchFamily="34" charset="0"/>
                <a:cs typeface="Lato Light" panose="020F0502020204030203" pitchFamily="34" charset="0"/>
              </a:rPr>
              <a:t> -</a:t>
            </a:r>
            <a:r>
              <a:rPr lang="en-US" dirty="0" err="1">
                <a:latin typeface="Inconsolata" panose="020B0609030003000000" pitchFamily="49" charset="0"/>
                <a:ea typeface="Lato Light" panose="020F0502020204030203" pitchFamily="34" charset="0"/>
                <a:cs typeface="Lato Light" panose="020F0502020204030203" pitchFamily="34" charset="0"/>
              </a:rPr>
              <a:t>lz</a:t>
            </a:r>
            <a:r>
              <a:rPr lang="en-US" dirty="0">
                <a:latin typeface="Lato Light" panose="020F0502020204030203" pitchFamily="34" charset="0"/>
                <a:ea typeface="Lato Light" panose="020F0502020204030203" pitchFamily="34" charset="0"/>
                <a:cs typeface="Lato Light" panose="020F0502020204030203" pitchFamily="34" charset="0"/>
              </a:rPr>
              <a:t>)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637FF10-1E10-4267-BED6-1282CAB47C4E}"/>
              </a:ext>
            </a:extLst>
          </p:cNvPr>
          <p:cNvSpPr txBox="1"/>
          <p:nvPr/>
        </p:nvSpPr>
        <p:spPr>
          <a:xfrm>
            <a:off x="5420266" y="2454894"/>
            <a:ext cx="356540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>
                <a:solidFill>
                  <a:srgbClr val="7030A0"/>
                </a:solidFill>
                <a:latin typeface="Lato Black" panose="020B0604020202020204" charset="0"/>
                <a:ea typeface="Lato Black" panose="020B0604020202020204" charset="0"/>
                <a:cs typeface="Lato Black" panose="020B0604020202020204" charset="0"/>
              </a:rPr>
              <a:t>Linking to the libz.so dynamic library</a:t>
            </a:r>
            <a:endParaRPr lang="en-US" sz="1600" dirty="0">
              <a:solidFill>
                <a:srgbClr val="7030A0"/>
              </a:solidFill>
              <a:latin typeface="Inconsolata" panose="020B0609030003000000" pitchFamily="49" charset="0"/>
              <a:ea typeface="Lato Black" panose="020B0604020202020204" charset="0"/>
              <a:cs typeface="Lato Black" panose="020B0604020202020204" charset="0"/>
            </a:endParaRPr>
          </a:p>
        </p:txBody>
      </p: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2E83F073-F513-4C56-B01A-ECFB1B9AE0F7}"/>
              </a:ext>
            </a:extLst>
          </p:cNvPr>
          <p:cNvCxnSpPr>
            <a:cxnSpLocks/>
          </p:cNvCxnSpPr>
          <p:nvPr/>
        </p:nvCxnSpPr>
        <p:spPr>
          <a:xfrm rot="10800000" flipV="1">
            <a:off x="5287989" y="2648780"/>
            <a:ext cx="169566" cy="144668"/>
          </a:xfrm>
          <a:prstGeom prst="straightConnector1">
            <a:avLst/>
          </a:prstGeom>
          <a:ln w="38100">
            <a:solidFill>
              <a:srgbClr val="7030A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TextBox 9">
            <a:extLst>
              <a:ext uri="{FF2B5EF4-FFF2-40B4-BE49-F238E27FC236}">
                <a16:creationId xmlns:a16="http://schemas.microsoft.com/office/drawing/2014/main" id="{9CD8E39B-CFF7-4CD0-A0F7-98BD473AA9B8}"/>
              </a:ext>
            </a:extLst>
          </p:cNvPr>
          <p:cNvSpPr txBox="1"/>
          <p:nvPr/>
        </p:nvSpPr>
        <p:spPr>
          <a:xfrm>
            <a:off x="4361086" y="3747450"/>
            <a:ext cx="4782078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>
                <a:solidFill>
                  <a:srgbClr val="7030A0"/>
                </a:solidFill>
                <a:latin typeface="Lato Black" panose="020B0604020202020204" charset="0"/>
                <a:ea typeface="Lato Black" panose="020B0604020202020204" charset="0"/>
                <a:cs typeface="Lato Black" panose="020B0604020202020204" charset="0"/>
              </a:rPr>
              <a:t>We don’t know where this function ultimately is…</a:t>
            </a:r>
            <a:endParaRPr lang="en-US" sz="1600" dirty="0">
              <a:solidFill>
                <a:srgbClr val="7030A0"/>
              </a:solidFill>
              <a:latin typeface="Inconsolata" panose="020B0609030003000000" pitchFamily="49" charset="0"/>
              <a:ea typeface="Lato Black" panose="020B0604020202020204" charset="0"/>
              <a:cs typeface="Lato Black" panose="020B0604020202020204" charset="0"/>
            </a:endParaRPr>
          </a:p>
        </p:txBody>
      </p: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05E7B2CA-56C7-49BC-AF51-E25ADBF71424}"/>
              </a:ext>
            </a:extLst>
          </p:cNvPr>
          <p:cNvCxnSpPr>
            <a:cxnSpLocks/>
          </p:cNvCxnSpPr>
          <p:nvPr/>
        </p:nvCxnSpPr>
        <p:spPr>
          <a:xfrm rot="10800000" flipV="1">
            <a:off x="4228809" y="3941336"/>
            <a:ext cx="169566" cy="144668"/>
          </a:xfrm>
          <a:prstGeom prst="straightConnector1">
            <a:avLst/>
          </a:prstGeom>
          <a:ln w="38100">
            <a:solidFill>
              <a:srgbClr val="7030A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50656958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10" grpId="0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20C8DF-E6BA-4E35-9626-4C297904BF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Solution: relocatable code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CB39651-4027-4C0F-865C-879B4BA6E46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734292"/>
            <a:ext cx="10160000" cy="4413178"/>
          </a:xfrm>
        </p:spPr>
        <p:txBody>
          <a:bodyPr/>
          <a:lstStyle/>
          <a:p>
            <a:r>
              <a:rPr lang="en-US" dirty="0"/>
              <a:t>Let’s allow code to refer to functions and/or data that may move.</a:t>
            </a:r>
          </a:p>
          <a:p>
            <a:r>
              <a:rPr lang="en-US" dirty="0"/>
              <a:t>Essentially, the operating system plays the mad-lib game.</a:t>
            </a:r>
          </a:p>
          <a:p>
            <a:pPr lvl="1"/>
            <a:r>
              <a:rPr lang="en-US" dirty="0"/>
              <a:t>The ELF executable has a list of “relocatable entries”</a:t>
            </a:r>
          </a:p>
          <a:p>
            <a:pPr lvl="1"/>
            <a:r>
              <a:rPr lang="en-US" dirty="0"/>
              <a:t>The OS goes through them and fills them in according to where the external symbols are.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4346CAE-4818-4A8E-9BDB-5A08999957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AAD609-F83C-4414-814B-B5A2DF99692C}" type="slidenum">
              <a:rPr lang="en-US" smtClean="0"/>
              <a:pPr/>
              <a:t>33</a:t>
            </a:fld>
            <a:endParaRPr lang="en-US" dirty="0"/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8DE377AD-6A23-41E9-AAF3-581901A84B89}"/>
              </a:ext>
            </a:extLst>
          </p:cNvPr>
          <p:cNvSpPr txBox="1">
            <a:spLocks/>
          </p:cNvSpPr>
          <p:nvPr/>
        </p:nvSpPr>
        <p:spPr>
          <a:xfrm>
            <a:off x="597031" y="2901861"/>
            <a:ext cx="4577155" cy="196499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Clr>
                <a:schemeClr val="accent1">
                  <a:lumMod val="75000"/>
                </a:schemeClr>
              </a:buClr>
              <a:buFont typeface="Arial" panose="020B0604020202020204" pitchFamily="34" charset="0"/>
              <a:buChar char="•"/>
              <a:defRPr sz="2100" kern="1200">
                <a:solidFill>
                  <a:schemeClr val="tx1"/>
                </a:solidFill>
                <a:latin typeface="Lato Semibold" panose="020F0502020204030203" pitchFamily="34" charset="0"/>
                <a:ea typeface="Lato Semibold" panose="020F0502020204030203" pitchFamily="34" charset="0"/>
                <a:cs typeface="Lato Semibold" panose="020F0502020204030203" pitchFamily="34" charset="0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Clr>
                <a:schemeClr val="accent1">
                  <a:lumMod val="75000"/>
                </a:schemeClr>
              </a:buClr>
              <a:buFont typeface="Wingdings" panose="05000000000000000000" pitchFamily="2" charset="2"/>
              <a:buChar char="§"/>
              <a:defRPr sz="1800" kern="1200">
                <a:solidFill>
                  <a:schemeClr val="tx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Clr>
                <a:srgbClr val="FF0000"/>
              </a:buClr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Lato Light" panose="020F0502020204030203" pitchFamily="34" charset="0"/>
                <a:ea typeface="Lato Light" panose="020F0502020204030203" pitchFamily="34" charset="0"/>
                <a:cs typeface="Lato Light" panose="020F0502020204030203" pitchFamily="34" charset="0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Lato Light" panose="020F0502020204030203" pitchFamily="34" charset="0"/>
                <a:ea typeface="Lato Light" panose="020F0502020204030203" pitchFamily="34" charset="0"/>
                <a:cs typeface="Lato Light" panose="020F0502020204030203" pitchFamily="34" charset="0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1600" dirty="0">
                <a:solidFill>
                  <a:srgbClr val="7030A0"/>
                </a:solidFill>
                <a:latin typeface="Inconsolata" panose="020B0609030003000000" pitchFamily="49" charset="0"/>
              </a:rPr>
              <a:t>#include</a:t>
            </a:r>
            <a:r>
              <a:rPr lang="en-US" sz="1600" dirty="0">
                <a:solidFill>
                  <a:schemeClr val="accent2">
                    <a:lumMod val="75000"/>
                  </a:schemeClr>
                </a:solidFill>
                <a:latin typeface="Inconsolata" panose="020B0609030003000000" pitchFamily="49" charset="0"/>
              </a:rPr>
              <a:t> &lt;</a:t>
            </a:r>
            <a:r>
              <a:rPr lang="en-US" sz="1600" dirty="0" err="1">
                <a:solidFill>
                  <a:schemeClr val="accent2">
                    <a:lumMod val="75000"/>
                  </a:schemeClr>
                </a:solidFill>
                <a:latin typeface="Inconsolata" panose="020B0609030003000000" pitchFamily="49" charset="0"/>
              </a:rPr>
              <a:t>zlib.h</a:t>
            </a:r>
            <a:r>
              <a:rPr lang="en-US" sz="1600" dirty="0">
                <a:solidFill>
                  <a:schemeClr val="accent2">
                    <a:lumMod val="75000"/>
                  </a:schemeClr>
                </a:solidFill>
                <a:latin typeface="Inconsolata" panose="020B0609030003000000" pitchFamily="49" charset="0"/>
              </a:rPr>
              <a:t>&gt;</a:t>
            </a:r>
            <a:r>
              <a:rPr lang="en-US" sz="1600" dirty="0">
                <a:solidFill>
                  <a:schemeClr val="accent6">
                    <a:lumMod val="50000"/>
                  </a:schemeClr>
                </a:solidFill>
                <a:latin typeface="Inconsolata" panose="020B0609030003000000" pitchFamily="49" charset="0"/>
              </a:rPr>
              <a:t> // provides </a:t>
            </a:r>
            <a:r>
              <a:rPr lang="en-US" sz="1600" dirty="0" err="1">
                <a:solidFill>
                  <a:schemeClr val="accent6">
                    <a:lumMod val="50000"/>
                  </a:schemeClr>
                </a:solidFill>
                <a:latin typeface="Inconsolata" panose="020B0609030003000000" pitchFamily="49" charset="0"/>
              </a:rPr>
              <a:t>compressBound</a:t>
            </a:r>
            <a:endParaRPr lang="en-US" sz="1600" dirty="0">
              <a:solidFill>
                <a:schemeClr val="accent6">
                  <a:lumMod val="50000"/>
                </a:schemeClr>
              </a:solidFill>
              <a:latin typeface="Inconsolata" panose="020B0609030003000000" pitchFamily="49" charset="0"/>
            </a:endParaRP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endParaRPr lang="en-US" sz="1600" dirty="0">
              <a:solidFill>
                <a:schemeClr val="accent1">
                  <a:lumMod val="75000"/>
                </a:schemeClr>
              </a:solidFill>
              <a:latin typeface="Inconsolata" panose="020B0609030003000000" pitchFamily="49" charset="0"/>
            </a:endParaRP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1600" dirty="0">
                <a:solidFill>
                  <a:schemeClr val="accent1">
                    <a:lumMod val="75000"/>
                  </a:schemeClr>
                </a:solidFill>
                <a:latin typeface="Inconsolata" panose="020B0609030003000000" pitchFamily="49" charset="0"/>
              </a:rPr>
              <a:t>int </a:t>
            </a:r>
            <a:r>
              <a:rPr lang="en-US" sz="1600" dirty="0">
                <a:latin typeface="Inconsolata" panose="020B0609030003000000" pitchFamily="49" charset="0"/>
              </a:rPr>
              <a:t>main(</a:t>
            </a:r>
            <a:r>
              <a:rPr lang="en-US" sz="1600" dirty="0">
                <a:solidFill>
                  <a:schemeClr val="accent1">
                    <a:lumMod val="75000"/>
                  </a:schemeClr>
                </a:solidFill>
                <a:latin typeface="Inconsolata" panose="020B0609030003000000" pitchFamily="49" charset="0"/>
              </a:rPr>
              <a:t>void</a:t>
            </a:r>
            <a:r>
              <a:rPr lang="en-US" sz="1600" dirty="0">
                <a:latin typeface="Inconsolata" panose="020B0609030003000000" pitchFamily="49" charset="0"/>
              </a:rPr>
              <a:t>) {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1600" dirty="0">
                <a:latin typeface="Inconsolata" panose="020B0609030003000000" pitchFamily="49" charset="0"/>
              </a:rPr>
              <a:t>  </a:t>
            </a:r>
            <a:r>
              <a:rPr lang="en-US" sz="1600" dirty="0">
                <a:solidFill>
                  <a:schemeClr val="accent1">
                    <a:lumMod val="75000"/>
                  </a:schemeClr>
                </a:solidFill>
                <a:latin typeface="Inconsolata" panose="020B0609030003000000" pitchFamily="49" charset="0"/>
              </a:rPr>
              <a:t>long</a:t>
            </a:r>
            <a:r>
              <a:rPr lang="en-US" sz="1600" dirty="0">
                <a:latin typeface="Inconsolata" panose="020B0609030003000000" pitchFamily="49" charset="0"/>
              </a:rPr>
              <a:t> </a:t>
            </a:r>
            <a:r>
              <a:rPr lang="en-US" sz="1600" dirty="0" err="1">
                <a:latin typeface="Inconsolata" panose="020B0609030003000000" pitchFamily="49" charset="0"/>
              </a:rPr>
              <a:t>bufferSize</a:t>
            </a:r>
            <a:r>
              <a:rPr lang="en-US" sz="1600" dirty="0">
                <a:latin typeface="Inconsolata" panose="020B0609030003000000" pitchFamily="49" charset="0"/>
              </a:rPr>
              <a:t> = </a:t>
            </a:r>
            <a:r>
              <a:rPr lang="en-US" sz="1600" dirty="0" err="1">
                <a:latin typeface="Inconsolata" panose="020B0609030003000000" pitchFamily="49" charset="0"/>
              </a:rPr>
              <a:t>compressBound</a:t>
            </a:r>
            <a:r>
              <a:rPr lang="en-US" sz="1600" dirty="0">
                <a:latin typeface="Inconsolata" panose="020B0609030003000000" pitchFamily="49" charset="0"/>
              </a:rPr>
              <a:t>(10000);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1600" dirty="0">
                <a:solidFill>
                  <a:schemeClr val="accent1">
                    <a:lumMod val="75000"/>
                  </a:schemeClr>
                </a:solidFill>
                <a:latin typeface="Inconsolata" panose="020B0609030003000000" pitchFamily="49" charset="0"/>
              </a:rPr>
              <a:t>  return</a:t>
            </a:r>
            <a:r>
              <a:rPr lang="en-US" sz="1600" dirty="0">
                <a:latin typeface="Inconsolata" panose="020B0609030003000000" pitchFamily="49" charset="0"/>
              </a:rPr>
              <a:t> 0;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1600" dirty="0">
                <a:latin typeface="Inconsolata" panose="020B0609030003000000" pitchFamily="49" charset="0"/>
              </a:rPr>
              <a:t>}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DF95FA9-8786-4252-B37D-582568BCF927}"/>
              </a:ext>
            </a:extLst>
          </p:cNvPr>
          <p:cNvSpPr txBox="1"/>
          <p:nvPr/>
        </p:nvSpPr>
        <p:spPr>
          <a:xfrm>
            <a:off x="568961" y="2538427"/>
            <a:ext cx="442660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Lato Black" panose="020F0502020204030203" pitchFamily="34" charset="0"/>
                <a:ea typeface="Lato Black" panose="020F0502020204030203" pitchFamily="34" charset="0"/>
                <a:cs typeface="Lato Black" panose="020F0502020204030203" pitchFamily="34" charset="0"/>
              </a:rPr>
              <a:t>C</a:t>
            </a:r>
            <a:r>
              <a:rPr lang="en-US" dirty="0">
                <a:latin typeface="Lato Light" panose="020F0502020204030203" pitchFamily="34" charset="0"/>
                <a:ea typeface="Lato Light" panose="020F0502020204030203" pitchFamily="34" charset="0"/>
                <a:cs typeface="Lato Light" panose="020F0502020204030203" pitchFamily="34" charset="0"/>
              </a:rPr>
              <a:t> (</a:t>
            </a:r>
            <a:r>
              <a:rPr lang="en-US" dirty="0" err="1">
                <a:latin typeface="Inconsolata" panose="020B0609030003000000" pitchFamily="49" charset="0"/>
                <a:ea typeface="Lato Light" panose="020F0502020204030203" pitchFamily="34" charset="0"/>
                <a:cs typeface="Lato Light" panose="020F0502020204030203" pitchFamily="34" charset="0"/>
              </a:rPr>
              <a:t>gcc</a:t>
            </a:r>
            <a:r>
              <a:rPr lang="en-US" dirty="0">
                <a:latin typeface="Inconsolata" panose="020B0609030003000000" pitchFamily="49" charset="0"/>
                <a:ea typeface="Lato Light" panose="020F0502020204030203" pitchFamily="34" charset="0"/>
                <a:cs typeface="Lato Light" panose="020F0502020204030203" pitchFamily="34" charset="0"/>
              </a:rPr>
              <a:t> -o compressor </a:t>
            </a:r>
            <a:r>
              <a:rPr lang="en-US" dirty="0" err="1">
                <a:latin typeface="Inconsolata" panose="020B0609030003000000" pitchFamily="49" charset="0"/>
                <a:ea typeface="Lato Light" panose="020F0502020204030203" pitchFamily="34" charset="0"/>
                <a:cs typeface="Lato Light" panose="020F0502020204030203" pitchFamily="34" charset="0"/>
              </a:rPr>
              <a:t>compressor.c</a:t>
            </a:r>
            <a:r>
              <a:rPr lang="en-US" dirty="0">
                <a:latin typeface="Inconsolata" panose="020B0609030003000000" pitchFamily="49" charset="0"/>
                <a:ea typeface="Lato Light" panose="020F0502020204030203" pitchFamily="34" charset="0"/>
                <a:cs typeface="Lato Light" panose="020F0502020204030203" pitchFamily="34" charset="0"/>
              </a:rPr>
              <a:t> -</a:t>
            </a:r>
            <a:r>
              <a:rPr lang="en-US" dirty="0" err="1">
                <a:latin typeface="Inconsolata" panose="020B0609030003000000" pitchFamily="49" charset="0"/>
                <a:ea typeface="Lato Light" panose="020F0502020204030203" pitchFamily="34" charset="0"/>
                <a:cs typeface="Lato Light" panose="020F0502020204030203" pitchFamily="34" charset="0"/>
              </a:rPr>
              <a:t>lz</a:t>
            </a:r>
            <a:r>
              <a:rPr lang="en-US" dirty="0">
                <a:latin typeface="Lato Light" panose="020F0502020204030203" pitchFamily="34" charset="0"/>
                <a:ea typeface="Lato Light" panose="020F0502020204030203" pitchFamily="34" charset="0"/>
                <a:cs typeface="Lato Light" panose="020F0502020204030203" pitchFamily="34" charset="0"/>
              </a:rPr>
              <a:t>)</a:t>
            </a:r>
          </a:p>
        </p:txBody>
      </p:sp>
      <p:sp>
        <p:nvSpPr>
          <p:cNvPr id="12" name="Content Placeholder 2">
            <a:extLst>
              <a:ext uri="{FF2B5EF4-FFF2-40B4-BE49-F238E27FC236}">
                <a16:creationId xmlns:a16="http://schemas.microsoft.com/office/drawing/2014/main" id="{CCCB3911-D1C3-4823-AE8F-877A489E67EE}"/>
              </a:ext>
            </a:extLst>
          </p:cNvPr>
          <p:cNvSpPr txBox="1">
            <a:spLocks/>
          </p:cNvSpPr>
          <p:nvPr/>
        </p:nvSpPr>
        <p:spPr>
          <a:xfrm>
            <a:off x="4897121" y="2901860"/>
            <a:ext cx="4693919" cy="270889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Clr>
                <a:schemeClr val="accent1">
                  <a:lumMod val="75000"/>
                </a:schemeClr>
              </a:buClr>
              <a:buFont typeface="Arial" panose="020B0604020202020204" pitchFamily="34" charset="0"/>
              <a:buChar char="•"/>
              <a:defRPr sz="2100" kern="1200">
                <a:solidFill>
                  <a:schemeClr val="tx1"/>
                </a:solidFill>
                <a:latin typeface="Lato Semibold" panose="020F0502020204030203" pitchFamily="34" charset="0"/>
                <a:ea typeface="Lato Semibold" panose="020F0502020204030203" pitchFamily="34" charset="0"/>
                <a:cs typeface="Lato Semibold" panose="020F0502020204030203" pitchFamily="34" charset="0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Clr>
                <a:schemeClr val="accent1">
                  <a:lumMod val="75000"/>
                </a:schemeClr>
              </a:buClr>
              <a:buFont typeface="Wingdings" panose="05000000000000000000" pitchFamily="2" charset="2"/>
              <a:buChar char="§"/>
              <a:defRPr sz="1800" kern="1200">
                <a:solidFill>
                  <a:schemeClr val="tx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Clr>
                <a:srgbClr val="FF0000"/>
              </a:buClr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Lato Light" panose="020F0502020204030203" pitchFamily="34" charset="0"/>
                <a:ea typeface="Lato Light" panose="020F0502020204030203" pitchFamily="34" charset="0"/>
                <a:cs typeface="Lato Light" panose="020F0502020204030203" pitchFamily="34" charset="0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Lato Light" panose="020F0502020204030203" pitchFamily="34" charset="0"/>
                <a:ea typeface="Lato Light" panose="020F0502020204030203" pitchFamily="34" charset="0"/>
                <a:cs typeface="Lato Light" panose="020F0502020204030203" pitchFamily="34" charset="0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1400" dirty="0">
                <a:latin typeface="Inconsolata" panose="020B0609030003000000" pitchFamily="49" charset="0"/>
              </a:rPr>
              <a:t>   0000000000001139 &lt;main&gt;: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1400" dirty="0">
                <a:latin typeface="Inconsolata" panose="020B0609030003000000" pitchFamily="49" charset="0"/>
              </a:rPr>
              <a:t>    1139: 55               push   %</a:t>
            </a:r>
            <a:r>
              <a:rPr lang="en-US" sz="1400" dirty="0" err="1">
                <a:latin typeface="Inconsolata" panose="020B0609030003000000" pitchFamily="49" charset="0"/>
              </a:rPr>
              <a:t>rbp</a:t>
            </a:r>
            <a:endParaRPr lang="en-US" sz="1400" dirty="0">
              <a:latin typeface="Inconsolata" panose="020B0609030003000000" pitchFamily="49" charset="0"/>
            </a:endParaRP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1400" dirty="0">
                <a:latin typeface="Inconsolata" panose="020B0609030003000000" pitchFamily="49" charset="0"/>
              </a:rPr>
              <a:t>    113a: 48 89 e5         mov    %</a:t>
            </a:r>
            <a:r>
              <a:rPr lang="en-US" sz="1400" dirty="0" err="1">
                <a:latin typeface="Inconsolata" panose="020B0609030003000000" pitchFamily="49" charset="0"/>
              </a:rPr>
              <a:t>rsp</a:t>
            </a:r>
            <a:r>
              <a:rPr lang="en-US" sz="1400" dirty="0">
                <a:latin typeface="Inconsolata" panose="020B0609030003000000" pitchFamily="49" charset="0"/>
              </a:rPr>
              <a:t>,%</a:t>
            </a:r>
            <a:r>
              <a:rPr lang="en-US" sz="1400" dirty="0" err="1">
                <a:latin typeface="Inconsolata" panose="020B0609030003000000" pitchFamily="49" charset="0"/>
              </a:rPr>
              <a:t>rbp</a:t>
            </a:r>
            <a:endParaRPr lang="en-US" sz="1400" dirty="0">
              <a:latin typeface="Inconsolata" panose="020B0609030003000000" pitchFamily="49" charset="0"/>
            </a:endParaRP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1400" dirty="0">
                <a:latin typeface="Inconsolata" panose="020B0609030003000000" pitchFamily="49" charset="0"/>
              </a:rPr>
              <a:t>    113d: 48 83 </a:t>
            </a:r>
            <a:r>
              <a:rPr lang="en-US" sz="1400" dirty="0" err="1">
                <a:latin typeface="Inconsolata" panose="020B0609030003000000" pitchFamily="49" charset="0"/>
              </a:rPr>
              <a:t>ec</a:t>
            </a:r>
            <a:r>
              <a:rPr lang="en-US" sz="1400" dirty="0">
                <a:latin typeface="Inconsolata" panose="020B0609030003000000" pitchFamily="49" charset="0"/>
              </a:rPr>
              <a:t> 10      sub    $0x10,%rsp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1400" dirty="0">
                <a:latin typeface="Inconsolata" panose="020B0609030003000000" pitchFamily="49" charset="0"/>
              </a:rPr>
              <a:t>    1141: bf 10 27 00 00   mov    $0x2710,%edi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1400" dirty="0">
                <a:latin typeface="Inconsolata" panose="020B0609030003000000" pitchFamily="49" charset="0"/>
              </a:rPr>
              <a:t>    </a:t>
            </a:r>
            <a:r>
              <a:rPr lang="en-US" sz="1400" dirty="0">
                <a:solidFill>
                  <a:srgbClr val="7030A0"/>
                </a:solidFill>
                <a:latin typeface="Inconsolata" panose="020B0609030003000000" pitchFamily="49" charset="0"/>
              </a:rPr>
              <a:t>1146: e8 00 00 00 00   </a:t>
            </a:r>
            <a:r>
              <a:rPr lang="en-US" sz="1400" dirty="0" err="1">
                <a:solidFill>
                  <a:srgbClr val="7030A0"/>
                </a:solidFill>
                <a:latin typeface="Inconsolata" panose="020B0609030003000000" pitchFamily="49" charset="0"/>
              </a:rPr>
              <a:t>callq</a:t>
            </a:r>
            <a:r>
              <a:rPr lang="en-US" sz="1400" dirty="0">
                <a:solidFill>
                  <a:srgbClr val="7030A0"/>
                </a:solidFill>
                <a:latin typeface="Inconsolata" panose="020B0609030003000000" pitchFamily="49" charset="0"/>
              </a:rPr>
              <a:t>  ??? &lt;???&gt;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1400" dirty="0">
                <a:latin typeface="Inconsolata" panose="020B0609030003000000" pitchFamily="49" charset="0"/>
              </a:rPr>
              <a:t>    114b: 48 89 45 f8      mov    %rax,-0x8(%</a:t>
            </a:r>
            <a:r>
              <a:rPr lang="en-US" sz="1400" dirty="0" err="1">
                <a:latin typeface="Inconsolata" panose="020B0609030003000000" pitchFamily="49" charset="0"/>
              </a:rPr>
              <a:t>rbp</a:t>
            </a:r>
            <a:r>
              <a:rPr lang="en-US" sz="1400" dirty="0">
                <a:latin typeface="Inconsolata" panose="020B0609030003000000" pitchFamily="49" charset="0"/>
              </a:rPr>
              <a:t>)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1400" dirty="0">
                <a:latin typeface="Inconsolata" panose="020B0609030003000000" pitchFamily="49" charset="0"/>
              </a:rPr>
              <a:t>    114f: b8 00 00 00 00   mov    $0x0,%eax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1400" dirty="0">
                <a:latin typeface="Inconsolata" panose="020B0609030003000000" pitchFamily="49" charset="0"/>
              </a:rPr>
              <a:t>    1154: c9               </a:t>
            </a:r>
            <a:r>
              <a:rPr lang="en-US" sz="1400" dirty="0" err="1">
                <a:latin typeface="Inconsolata" panose="020B0609030003000000" pitchFamily="49" charset="0"/>
              </a:rPr>
              <a:t>leaveq</a:t>
            </a:r>
            <a:endParaRPr lang="en-US" sz="1400" dirty="0">
              <a:latin typeface="Inconsolata" panose="020B0609030003000000" pitchFamily="49" charset="0"/>
            </a:endParaRP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1400" dirty="0">
                <a:latin typeface="Inconsolata" panose="020B0609030003000000" pitchFamily="49" charset="0"/>
              </a:rPr>
              <a:t>    1155: c3               </a:t>
            </a:r>
            <a:r>
              <a:rPr lang="en-US" sz="1400" dirty="0" err="1">
                <a:latin typeface="Inconsolata" panose="020B0609030003000000" pitchFamily="49" charset="0"/>
              </a:rPr>
              <a:t>retq</a:t>
            </a:r>
            <a:endParaRPr lang="en-US" sz="1400" dirty="0">
              <a:latin typeface="Inconsolata" panose="020B0609030003000000" pitchFamily="49" charset="0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3A0E29ED-C2E3-4F78-AAD5-87FD1470C2B8}"/>
              </a:ext>
            </a:extLst>
          </p:cNvPr>
          <p:cNvSpPr txBox="1"/>
          <p:nvPr/>
        </p:nvSpPr>
        <p:spPr>
          <a:xfrm>
            <a:off x="5202254" y="2538427"/>
            <a:ext cx="442660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Lato Black" panose="020F0502020204030203" pitchFamily="34" charset="0"/>
                <a:ea typeface="Lato Black" panose="020F0502020204030203" pitchFamily="34" charset="0"/>
                <a:cs typeface="Lato Black" panose="020F0502020204030203" pitchFamily="34" charset="0"/>
              </a:rPr>
              <a:t>x86-64</a:t>
            </a:r>
            <a:r>
              <a:rPr lang="en-US" dirty="0">
                <a:latin typeface="Lato Light" panose="020F0502020204030203" pitchFamily="34" charset="0"/>
                <a:ea typeface="Lato Light" panose="020F0502020204030203" pitchFamily="34" charset="0"/>
                <a:cs typeface="Lato Light" panose="020F0502020204030203" pitchFamily="34" charset="0"/>
              </a:rPr>
              <a:t> (</a:t>
            </a:r>
            <a:r>
              <a:rPr lang="en-US" dirty="0" err="1">
                <a:latin typeface="Inconsolata" panose="020B0609030003000000" pitchFamily="49" charset="0"/>
                <a:ea typeface="Lato Light" panose="020F0502020204030203" pitchFamily="34" charset="0"/>
                <a:cs typeface="Lato Light" panose="020F0502020204030203" pitchFamily="34" charset="0"/>
              </a:rPr>
              <a:t>objdump</a:t>
            </a:r>
            <a:r>
              <a:rPr lang="en-US" dirty="0">
                <a:latin typeface="Inconsolata" panose="020B0609030003000000" pitchFamily="49" charset="0"/>
                <a:ea typeface="Lato Light" panose="020F0502020204030203" pitchFamily="34" charset="0"/>
                <a:cs typeface="Lato Light" panose="020F0502020204030203" pitchFamily="34" charset="0"/>
              </a:rPr>
              <a:t> -d compressor</a:t>
            </a:r>
            <a:r>
              <a:rPr lang="en-US" dirty="0">
                <a:latin typeface="Lato Light" panose="020F0502020204030203" pitchFamily="34" charset="0"/>
                <a:ea typeface="Lato Light" panose="020F0502020204030203" pitchFamily="34" charset="0"/>
                <a:cs typeface="Lato Light" panose="020F0502020204030203" pitchFamily="34" charset="0"/>
              </a:rPr>
              <a:t>)</a:t>
            </a:r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A963EEFE-F999-4CE2-9A07-7AD4B1A354A1}"/>
              </a:ext>
            </a:extLst>
          </p:cNvPr>
          <p:cNvCxnSpPr>
            <a:cxnSpLocks/>
          </p:cNvCxnSpPr>
          <p:nvPr/>
        </p:nvCxnSpPr>
        <p:spPr>
          <a:xfrm>
            <a:off x="5174186" y="2598420"/>
            <a:ext cx="279" cy="3012336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ED82E07E-B5D0-41C2-8147-8A1C447F041D}"/>
              </a:ext>
            </a:extLst>
          </p:cNvPr>
          <p:cNvCxnSpPr>
            <a:cxnSpLocks/>
          </p:cNvCxnSpPr>
          <p:nvPr/>
        </p:nvCxnSpPr>
        <p:spPr>
          <a:xfrm>
            <a:off x="5202254" y="2598420"/>
            <a:ext cx="0" cy="3012336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270974954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20C8DF-E6BA-4E35-9626-4C297904BF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Solution: relocatable code: Loading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CB39651-4027-4C0F-865C-879B4BA6E46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42900" y="924975"/>
            <a:ext cx="9534546" cy="4222496"/>
          </a:xfrm>
        </p:spPr>
        <p:txBody>
          <a:bodyPr/>
          <a:lstStyle/>
          <a:p>
            <a:r>
              <a:rPr lang="en-US" dirty="0"/>
              <a:t>When the OS loads this executable… it will have a relocation entry that tells it to overwrite at byte</a:t>
            </a:r>
            <a:r>
              <a:rPr lang="en-US" dirty="0">
                <a:latin typeface="Inconsolata" panose="020B0609030003000000" pitchFamily="49" charset="0"/>
              </a:rPr>
              <a:t> 0x1147 </a:t>
            </a:r>
            <a:r>
              <a:rPr lang="en-US" dirty="0"/>
              <a:t>the relative address of “</a:t>
            </a:r>
            <a:r>
              <a:rPr lang="en-US" dirty="0" err="1"/>
              <a:t>compressBound</a:t>
            </a:r>
            <a:r>
              <a:rPr lang="en-US" dirty="0"/>
              <a:t>”</a:t>
            </a:r>
          </a:p>
          <a:p>
            <a:r>
              <a:rPr lang="en-US" dirty="0"/>
              <a:t>With this extra step, the OS loader is also providing dynamic linking.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4346CAE-4818-4A8E-9BDB-5A08999957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AAD609-F83C-4414-814B-B5A2DF99692C}" type="slidenum">
              <a:rPr lang="en-US" smtClean="0"/>
              <a:pPr/>
              <a:t>34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71F89F2-8FC0-45A6-B0EB-66F9CFA5481B}"/>
              </a:ext>
            </a:extLst>
          </p:cNvPr>
          <p:cNvSpPr>
            <a:spLocks noGrp="1"/>
          </p:cNvSpPr>
          <p:nvPr>
            <p:ph type="ftr" sz="quarter" idx="4294967295"/>
          </p:nvPr>
        </p:nvSpPr>
        <p:spPr>
          <a:xfrm>
            <a:off x="0" y="5297488"/>
            <a:ext cx="3429000" cy="303212"/>
          </a:xfrm>
        </p:spPr>
        <p:txBody>
          <a:bodyPr/>
          <a:lstStyle/>
          <a:p>
            <a:r>
              <a:rPr lang="en-US"/>
              <a:t>CS/COE 0449 – Spring 2019/2020</a:t>
            </a:r>
            <a:endParaRPr lang="en-US" dirty="0"/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8DE377AD-6A23-41E9-AAF3-581901A84B89}"/>
              </a:ext>
            </a:extLst>
          </p:cNvPr>
          <p:cNvSpPr txBox="1">
            <a:spLocks/>
          </p:cNvSpPr>
          <p:nvPr/>
        </p:nvSpPr>
        <p:spPr>
          <a:xfrm>
            <a:off x="597031" y="2901861"/>
            <a:ext cx="4577155" cy="196499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Clr>
                <a:schemeClr val="accent1">
                  <a:lumMod val="75000"/>
                </a:schemeClr>
              </a:buClr>
              <a:buFont typeface="Arial" panose="020B0604020202020204" pitchFamily="34" charset="0"/>
              <a:buChar char="•"/>
              <a:defRPr sz="2100" kern="1200">
                <a:solidFill>
                  <a:schemeClr val="tx1"/>
                </a:solidFill>
                <a:latin typeface="Lato Semibold" panose="020F0502020204030203" pitchFamily="34" charset="0"/>
                <a:ea typeface="Lato Semibold" panose="020F0502020204030203" pitchFamily="34" charset="0"/>
                <a:cs typeface="Lato Semibold" panose="020F0502020204030203" pitchFamily="34" charset="0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Clr>
                <a:schemeClr val="accent1">
                  <a:lumMod val="75000"/>
                </a:schemeClr>
              </a:buClr>
              <a:buFont typeface="Wingdings" panose="05000000000000000000" pitchFamily="2" charset="2"/>
              <a:buChar char="§"/>
              <a:defRPr sz="1800" kern="1200">
                <a:solidFill>
                  <a:schemeClr val="tx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Clr>
                <a:srgbClr val="FF0000"/>
              </a:buClr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Lato Light" panose="020F0502020204030203" pitchFamily="34" charset="0"/>
                <a:ea typeface="Lato Light" panose="020F0502020204030203" pitchFamily="34" charset="0"/>
                <a:cs typeface="Lato Light" panose="020F0502020204030203" pitchFamily="34" charset="0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Lato Light" panose="020F0502020204030203" pitchFamily="34" charset="0"/>
                <a:ea typeface="Lato Light" panose="020F0502020204030203" pitchFamily="34" charset="0"/>
                <a:cs typeface="Lato Light" panose="020F0502020204030203" pitchFamily="34" charset="0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1600" dirty="0">
                <a:solidFill>
                  <a:srgbClr val="7030A0"/>
                </a:solidFill>
                <a:latin typeface="Inconsolata" panose="020B0609030003000000" pitchFamily="49" charset="0"/>
              </a:rPr>
              <a:t>#include</a:t>
            </a:r>
            <a:r>
              <a:rPr lang="en-US" sz="1600" dirty="0">
                <a:solidFill>
                  <a:schemeClr val="accent2">
                    <a:lumMod val="75000"/>
                  </a:schemeClr>
                </a:solidFill>
                <a:latin typeface="Inconsolata" panose="020B0609030003000000" pitchFamily="49" charset="0"/>
              </a:rPr>
              <a:t> &lt;</a:t>
            </a:r>
            <a:r>
              <a:rPr lang="en-US" sz="1600" dirty="0" err="1">
                <a:solidFill>
                  <a:schemeClr val="accent2">
                    <a:lumMod val="75000"/>
                  </a:schemeClr>
                </a:solidFill>
                <a:latin typeface="Inconsolata" panose="020B0609030003000000" pitchFamily="49" charset="0"/>
              </a:rPr>
              <a:t>zlib.h</a:t>
            </a:r>
            <a:r>
              <a:rPr lang="en-US" sz="1600" dirty="0">
                <a:solidFill>
                  <a:schemeClr val="accent2">
                    <a:lumMod val="75000"/>
                  </a:schemeClr>
                </a:solidFill>
                <a:latin typeface="Inconsolata" panose="020B0609030003000000" pitchFamily="49" charset="0"/>
              </a:rPr>
              <a:t>&gt;</a:t>
            </a:r>
            <a:r>
              <a:rPr lang="en-US" sz="1600" dirty="0">
                <a:solidFill>
                  <a:schemeClr val="accent6">
                    <a:lumMod val="50000"/>
                  </a:schemeClr>
                </a:solidFill>
                <a:latin typeface="Inconsolata" panose="020B0609030003000000" pitchFamily="49" charset="0"/>
              </a:rPr>
              <a:t> // provides </a:t>
            </a:r>
            <a:r>
              <a:rPr lang="en-US" sz="1600" dirty="0" err="1">
                <a:solidFill>
                  <a:schemeClr val="accent6">
                    <a:lumMod val="50000"/>
                  </a:schemeClr>
                </a:solidFill>
                <a:latin typeface="Inconsolata" panose="020B0609030003000000" pitchFamily="49" charset="0"/>
              </a:rPr>
              <a:t>compressBound</a:t>
            </a:r>
            <a:endParaRPr lang="en-US" sz="1600" dirty="0">
              <a:solidFill>
                <a:schemeClr val="accent6">
                  <a:lumMod val="50000"/>
                </a:schemeClr>
              </a:solidFill>
              <a:latin typeface="Inconsolata" panose="020B0609030003000000" pitchFamily="49" charset="0"/>
            </a:endParaRP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endParaRPr lang="en-US" sz="1600" dirty="0">
              <a:solidFill>
                <a:schemeClr val="accent1">
                  <a:lumMod val="75000"/>
                </a:schemeClr>
              </a:solidFill>
              <a:latin typeface="Inconsolata" panose="020B0609030003000000" pitchFamily="49" charset="0"/>
            </a:endParaRP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1600" dirty="0">
                <a:solidFill>
                  <a:schemeClr val="accent1">
                    <a:lumMod val="75000"/>
                  </a:schemeClr>
                </a:solidFill>
                <a:latin typeface="Inconsolata" panose="020B0609030003000000" pitchFamily="49" charset="0"/>
              </a:rPr>
              <a:t>int </a:t>
            </a:r>
            <a:r>
              <a:rPr lang="en-US" sz="1600" dirty="0">
                <a:latin typeface="Inconsolata" panose="020B0609030003000000" pitchFamily="49" charset="0"/>
              </a:rPr>
              <a:t>main(</a:t>
            </a:r>
            <a:r>
              <a:rPr lang="en-US" sz="1600" dirty="0">
                <a:solidFill>
                  <a:schemeClr val="accent1">
                    <a:lumMod val="75000"/>
                  </a:schemeClr>
                </a:solidFill>
                <a:latin typeface="Inconsolata" panose="020B0609030003000000" pitchFamily="49" charset="0"/>
              </a:rPr>
              <a:t>void</a:t>
            </a:r>
            <a:r>
              <a:rPr lang="en-US" sz="1600" dirty="0">
                <a:latin typeface="Inconsolata" panose="020B0609030003000000" pitchFamily="49" charset="0"/>
              </a:rPr>
              <a:t>) {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1600" dirty="0">
                <a:latin typeface="Inconsolata" panose="020B0609030003000000" pitchFamily="49" charset="0"/>
              </a:rPr>
              <a:t>  </a:t>
            </a:r>
            <a:r>
              <a:rPr lang="en-US" sz="1600" dirty="0">
                <a:solidFill>
                  <a:schemeClr val="accent1">
                    <a:lumMod val="75000"/>
                  </a:schemeClr>
                </a:solidFill>
                <a:latin typeface="Inconsolata" panose="020B0609030003000000" pitchFamily="49" charset="0"/>
              </a:rPr>
              <a:t>long</a:t>
            </a:r>
            <a:r>
              <a:rPr lang="en-US" sz="1600" dirty="0">
                <a:latin typeface="Inconsolata" panose="020B0609030003000000" pitchFamily="49" charset="0"/>
              </a:rPr>
              <a:t> </a:t>
            </a:r>
            <a:r>
              <a:rPr lang="en-US" sz="1600" dirty="0" err="1">
                <a:latin typeface="Inconsolata" panose="020B0609030003000000" pitchFamily="49" charset="0"/>
              </a:rPr>
              <a:t>bufferSize</a:t>
            </a:r>
            <a:r>
              <a:rPr lang="en-US" sz="1600" dirty="0">
                <a:latin typeface="Inconsolata" panose="020B0609030003000000" pitchFamily="49" charset="0"/>
              </a:rPr>
              <a:t> = </a:t>
            </a:r>
            <a:r>
              <a:rPr lang="en-US" sz="1600" dirty="0" err="1">
                <a:latin typeface="Inconsolata" panose="020B0609030003000000" pitchFamily="49" charset="0"/>
              </a:rPr>
              <a:t>compressBound</a:t>
            </a:r>
            <a:r>
              <a:rPr lang="en-US" sz="1600" dirty="0">
                <a:latin typeface="Inconsolata" panose="020B0609030003000000" pitchFamily="49" charset="0"/>
              </a:rPr>
              <a:t>(10000);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1600" dirty="0">
                <a:solidFill>
                  <a:schemeClr val="accent1">
                    <a:lumMod val="75000"/>
                  </a:schemeClr>
                </a:solidFill>
                <a:latin typeface="Inconsolata" panose="020B0609030003000000" pitchFamily="49" charset="0"/>
              </a:rPr>
              <a:t>  return</a:t>
            </a:r>
            <a:r>
              <a:rPr lang="en-US" sz="1600" dirty="0">
                <a:latin typeface="Inconsolata" panose="020B0609030003000000" pitchFamily="49" charset="0"/>
              </a:rPr>
              <a:t> 0;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1600" dirty="0">
                <a:latin typeface="Inconsolata" panose="020B0609030003000000" pitchFamily="49" charset="0"/>
              </a:rPr>
              <a:t>}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DF95FA9-8786-4252-B37D-582568BCF927}"/>
              </a:ext>
            </a:extLst>
          </p:cNvPr>
          <p:cNvSpPr txBox="1"/>
          <p:nvPr/>
        </p:nvSpPr>
        <p:spPr>
          <a:xfrm>
            <a:off x="568961" y="2538427"/>
            <a:ext cx="442660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Lato Black" panose="020F0502020204030203" pitchFamily="34" charset="0"/>
                <a:ea typeface="Lato Black" panose="020F0502020204030203" pitchFamily="34" charset="0"/>
                <a:cs typeface="Lato Black" panose="020F0502020204030203" pitchFamily="34" charset="0"/>
              </a:rPr>
              <a:t>C</a:t>
            </a:r>
            <a:r>
              <a:rPr lang="en-US" dirty="0">
                <a:latin typeface="Lato Light" panose="020F0502020204030203" pitchFamily="34" charset="0"/>
                <a:ea typeface="Lato Light" panose="020F0502020204030203" pitchFamily="34" charset="0"/>
                <a:cs typeface="Lato Light" panose="020F0502020204030203" pitchFamily="34" charset="0"/>
              </a:rPr>
              <a:t> (</a:t>
            </a:r>
            <a:r>
              <a:rPr lang="en-US" dirty="0" err="1">
                <a:latin typeface="Inconsolata" panose="020B0609030003000000" pitchFamily="49" charset="0"/>
                <a:ea typeface="Lato Light" panose="020F0502020204030203" pitchFamily="34" charset="0"/>
                <a:cs typeface="Lato Light" panose="020F0502020204030203" pitchFamily="34" charset="0"/>
              </a:rPr>
              <a:t>gcc</a:t>
            </a:r>
            <a:r>
              <a:rPr lang="en-US" dirty="0">
                <a:latin typeface="Inconsolata" panose="020B0609030003000000" pitchFamily="49" charset="0"/>
                <a:ea typeface="Lato Light" panose="020F0502020204030203" pitchFamily="34" charset="0"/>
                <a:cs typeface="Lato Light" panose="020F0502020204030203" pitchFamily="34" charset="0"/>
              </a:rPr>
              <a:t> -o compressor </a:t>
            </a:r>
            <a:r>
              <a:rPr lang="en-US" dirty="0" err="1">
                <a:latin typeface="Inconsolata" panose="020B0609030003000000" pitchFamily="49" charset="0"/>
                <a:ea typeface="Lato Light" panose="020F0502020204030203" pitchFamily="34" charset="0"/>
                <a:cs typeface="Lato Light" panose="020F0502020204030203" pitchFamily="34" charset="0"/>
              </a:rPr>
              <a:t>compressor.c</a:t>
            </a:r>
            <a:r>
              <a:rPr lang="en-US" dirty="0">
                <a:latin typeface="Inconsolata" panose="020B0609030003000000" pitchFamily="49" charset="0"/>
                <a:ea typeface="Lato Light" panose="020F0502020204030203" pitchFamily="34" charset="0"/>
                <a:cs typeface="Lato Light" panose="020F0502020204030203" pitchFamily="34" charset="0"/>
              </a:rPr>
              <a:t> -</a:t>
            </a:r>
            <a:r>
              <a:rPr lang="en-US" dirty="0" err="1">
                <a:latin typeface="Inconsolata" panose="020B0609030003000000" pitchFamily="49" charset="0"/>
                <a:ea typeface="Lato Light" panose="020F0502020204030203" pitchFamily="34" charset="0"/>
                <a:cs typeface="Lato Light" panose="020F0502020204030203" pitchFamily="34" charset="0"/>
              </a:rPr>
              <a:t>lz</a:t>
            </a:r>
            <a:r>
              <a:rPr lang="en-US" dirty="0">
                <a:latin typeface="Lato Light" panose="020F0502020204030203" pitchFamily="34" charset="0"/>
                <a:ea typeface="Lato Light" panose="020F0502020204030203" pitchFamily="34" charset="0"/>
                <a:cs typeface="Lato Light" panose="020F0502020204030203" pitchFamily="34" charset="0"/>
              </a:rPr>
              <a:t>)</a:t>
            </a:r>
          </a:p>
        </p:txBody>
      </p:sp>
      <p:sp>
        <p:nvSpPr>
          <p:cNvPr id="12" name="Content Placeholder 2">
            <a:extLst>
              <a:ext uri="{FF2B5EF4-FFF2-40B4-BE49-F238E27FC236}">
                <a16:creationId xmlns:a16="http://schemas.microsoft.com/office/drawing/2014/main" id="{CCCB3911-D1C3-4823-AE8F-877A489E67EE}"/>
              </a:ext>
            </a:extLst>
          </p:cNvPr>
          <p:cNvSpPr txBox="1">
            <a:spLocks/>
          </p:cNvSpPr>
          <p:nvPr/>
        </p:nvSpPr>
        <p:spPr>
          <a:xfrm>
            <a:off x="4897121" y="2901860"/>
            <a:ext cx="4693919" cy="270889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Clr>
                <a:schemeClr val="accent1">
                  <a:lumMod val="75000"/>
                </a:schemeClr>
              </a:buClr>
              <a:buFont typeface="Arial" panose="020B0604020202020204" pitchFamily="34" charset="0"/>
              <a:buChar char="•"/>
              <a:defRPr sz="2100" kern="1200">
                <a:solidFill>
                  <a:schemeClr val="tx1"/>
                </a:solidFill>
                <a:latin typeface="Lato Semibold" panose="020F0502020204030203" pitchFamily="34" charset="0"/>
                <a:ea typeface="Lato Semibold" panose="020F0502020204030203" pitchFamily="34" charset="0"/>
                <a:cs typeface="Lato Semibold" panose="020F0502020204030203" pitchFamily="34" charset="0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Clr>
                <a:schemeClr val="accent1">
                  <a:lumMod val="75000"/>
                </a:schemeClr>
              </a:buClr>
              <a:buFont typeface="Wingdings" panose="05000000000000000000" pitchFamily="2" charset="2"/>
              <a:buChar char="§"/>
              <a:defRPr sz="1800" kern="1200">
                <a:solidFill>
                  <a:schemeClr val="tx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Clr>
                <a:srgbClr val="FF0000"/>
              </a:buClr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Lato Light" panose="020F0502020204030203" pitchFamily="34" charset="0"/>
                <a:ea typeface="Lato Light" panose="020F0502020204030203" pitchFamily="34" charset="0"/>
                <a:cs typeface="Lato Light" panose="020F0502020204030203" pitchFamily="34" charset="0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Lato Light" panose="020F0502020204030203" pitchFamily="34" charset="0"/>
                <a:ea typeface="Lato Light" panose="020F0502020204030203" pitchFamily="34" charset="0"/>
                <a:cs typeface="Lato Light" panose="020F0502020204030203" pitchFamily="34" charset="0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1400" dirty="0">
                <a:latin typeface="Inconsolata" panose="020B0609030003000000" pitchFamily="49" charset="0"/>
              </a:rPr>
              <a:t>   0000000000001139 &lt;main&gt;: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1400" dirty="0">
                <a:latin typeface="Inconsolata" panose="020B0609030003000000" pitchFamily="49" charset="0"/>
              </a:rPr>
              <a:t>    1139: 55               push   %</a:t>
            </a:r>
            <a:r>
              <a:rPr lang="en-US" sz="1400" dirty="0" err="1">
                <a:latin typeface="Inconsolata" panose="020B0609030003000000" pitchFamily="49" charset="0"/>
              </a:rPr>
              <a:t>rbp</a:t>
            </a:r>
            <a:endParaRPr lang="en-US" sz="1400" dirty="0">
              <a:latin typeface="Inconsolata" panose="020B0609030003000000" pitchFamily="49" charset="0"/>
            </a:endParaRP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1400" dirty="0">
                <a:latin typeface="Inconsolata" panose="020B0609030003000000" pitchFamily="49" charset="0"/>
              </a:rPr>
              <a:t>    113a: 48 89 e5         mov    %</a:t>
            </a:r>
            <a:r>
              <a:rPr lang="en-US" sz="1400" dirty="0" err="1">
                <a:latin typeface="Inconsolata" panose="020B0609030003000000" pitchFamily="49" charset="0"/>
              </a:rPr>
              <a:t>rsp</a:t>
            </a:r>
            <a:r>
              <a:rPr lang="en-US" sz="1400" dirty="0">
                <a:latin typeface="Inconsolata" panose="020B0609030003000000" pitchFamily="49" charset="0"/>
              </a:rPr>
              <a:t>,%</a:t>
            </a:r>
            <a:r>
              <a:rPr lang="en-US" sz="1400" dirty="0" err="1">
                <a:latin typeface="Inconsolata" panose="020B0609030003000000" pitchFamily="49" charset="0"/>
              </a:rPr>
              <a:t>rbp</a:t>
            </a:r>
            <a:endParaRPr lang="en-US" sz="1400" dirty="0">
              <a:latin typeface="Inconsolata" panose="020B0609030003000000" pitchFamily="49" charset="0"/>
            </a:endParaRP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1400" dirty="0">
                <a:latin typeface="Inconsolata" panose="020B0609030003000000" pitchFamily="49" charset="0"/>
              </a:rPr>
              <a:t>    113d: 48 83 </a:t>
            </a:r>
            <a:r>
              <a:rPr lang="en-US" sz="1400" dirty="0" err="1">
                <a:latin typeface="Inconsolata" panose="020B0609030003000000" pitchFamily="49" charset="0"/>
              </a:rPr>
              <a:t>ec</a:t>
            </a:r>
            <a:r>
              <a:rPr lang="en-US" sz="1400" dirty="0">
                <a:latin typeface="Inconsolata" panose="020B0609030003000000" pitchFamily="49" charset="0"/>
              </a:rPr>
              <a:t> 10      sub    $0x10,%rsp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1400" dirty="0">
                <a:latin typeface="Inconsolata" panose="020B0609030003000000" pitchFamily="49" charset="0"/>
              </a:rPr>
              <a:t>    1141: bf 10 27 00 00   mov    $0x2710,%edi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1400" dirty="0">
                <a:latin typeface="Inconsolata" panose="020B0609030003000000" pitchFamily="49" charset="0"/>
              </a:rPr>
              <a:t>    </a:t>
            </a:r>
            <a:r>
              <a:rPr lang="en-US" sz="1400" dirty="0">
                <a:solidFill>
                  <a:srgbClr val="7030A0"/>
                </a:solidFill>
                <a:latin typeface="Inconsolata" panose="020B0609030003000000" pitchFamily="49" charset="0"/>
              </a:rPr>
              <a:t>1146: e8 </a:t>
            </a:r>
            <a:r>
              <a:rPr lang="en-US" sz="1400" u="sng" dirty="0" err="1">
                <a:solidFill>
                  <a:srgbClr val="FF0000"/>
                </a:solidFill>
                <a:latin typeface="Inconsolata" panose="020B0609030003000000" pitchFamily="49" charset="0"/>
              </a:rPr>
              <a:t>fe</a:t>
            </a:r>
            <a:r>
              <a:rPr lang="en-US" sz="1400" u="sng" dirty="0">
                <a:solidFill>
                  <a:srgbClr val="FF0000"/>
                </a:solidFill>
                <a:latin typeface="Inconsolata" panose="020B0609030003000000" pitchFamily="49" charset="0"/>
              </a:rPr>
              <a:t> 05 00 00</a:t>
            </a:r>
            <a:r>
              <a:rPr lang="en-US" sz="1400" dirty="0">
                <a:solidFill>
                  <a:srgbClr val="7030A0"/>
                </a:solidFill>
                <a:latin typeface="Inconsolata" panose="020B0609030003000000" pitchFamily="49" charset="0"/>
              </a:rPr>
              <a:t>   </a:t>
            </a:r>
            <a:r>
              <a:rPr lang="en-US" sz="1400" dirty="0" err="1">
                <a:solidFill>
                  <a:srgbClr val="7030A0"/>
                </a:solidFill>
                <a:latin typeface="Inconsolata" panose="020B0609030003000000" pitchFamily="49" charset="0"/>
              </a:rPr>
              <a:t>callq</a:t>
            </a:r>
            <a:r>
              <a:rPr lang="en-US" sz="1400" dirty="0">
                <a:solidFill>
                  <a:srgbClr val="7030A0"/>
                </a:solidFill>
                <a:latin typeface="Inconsolata" panose="020B0609030003000000" pitchFamily="49" charset="0"/>
              </a:rPr>
              <a:t>  </a:t>
            </a:r>
            <a:r>
              <a:rPr lang="en-US" sz="1400" dirty="0">
                <a:solidFill>
                  <a:srgbClr val="FF0000"/>
                </a:solidFill>
                <a:latin typeface="Inconsolata" panose="020B0609030003000000" pitchFamily="49" charset="0"/>
              </a:rPr>
              <a:t>1749</a:t>
            </a:r>
            <a:r>
              <a:rPr lang="en-US" sz="1400" dirty="0">
                <a:solidFill>
                  <a:srgbClr val="7030A0"/>
                </a:solidFill>
                <a:latin typeface="Inconsolata" panose="020B0609030003000000" pitchFamily="49" charset="0"/>
              </a:rPr>
              <a:t> &lt;</a:t>
            </a:r>
            <a:r>
              <a:rPr lang="en-US" sz="1000" dirty="0" err="1">
                <a:solidFill>
                  <a:srgbClr val="7030A0"/>
                </a:solidFill>
                <a:latin typeface="Inconsolata" panose="020B0609030003000000" pitchFamily="49" charset="0"/>
              </a:rPr>
              <a:t>compressBound</a:t>
            </a:r>
            <a:r>
              <a:rPr lang="en-US" sz="1400" dirty="0">
                <a:solidFill>
                  <a:srgbClr val="7030A0"/>
                </a:solidFill>
                <a:latin typeface="Inconsolata" panose="020B0609030003000000" pitchFamily="49" charset="0"/>
              </a:rPr>
              <a:t>&gt;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1400" dirty="0">
                <a:latin typeface="Inconsolata" panose="020B0609030003000000" pitchFamily="49" charset="0"/>
              </a:rPr>
              <a:t>    114b: 48 89 45 f8      mov    %rax,-0x8(%</a:t>
            </a:r>
            <a:r>
              <a:rPr lang="en-US" sz="1400" dirty="0" err="1">
                <a:latin typeface="Inconsolata" panose="020B0609030003000000" pitchFamily="49" charset="0"/>
              </a:rPr>
              <a:t>rbp</a:t>
            </a:r>
            <a:r>
              <a:rPr lang="en-US" sz="1400" dirty="0">
                <a:latin typeface="Inconsolata" panose="020B0609030003000000" pitchFamily="49" charset="0"/>
              </a:rPr>
              <a:t>)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1400" dirty="0">
                <a:latin typeface="Inconsolata" panose="020B0609030003000000" pitchFamily="49" charset="0"/>
              </a:rPr>
              <a:t>    114f: b8 00 00 00 00   mov    $0x0,%eax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1400" dirty="0">
                <a:latin typeface="Inconsolata" panose="020B0609030003000000" pitchFamily="49" charset="0"/>
              </a:rPr>
              <a:t>    1154: c9               </a:t>
            </a:r>
            <a:r>
              <a:rPr lang="en-US" sz="1400" dirty="0" err="1">
                <a:latin typeface="Inconsolata" panose="020B0609030003000000" pitchFamily="49" charset="0"/>
              </a:rPr>
              <a:t>leaveq</a:t>
            </a:r>
            <a:endParaRPr lang="en-US" sz="1400" dirty="0">
              <a:latin typeface="Inconsolata" panose="020B0609030003000000" pitchFamily="49" charset="0"/>
            </a:endParaRP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1400" dirty="0">
                <a:latin typeface="Inconsolata" panose="020B0609030003000000" pitchFamily="49" charset="0"/>
              </a:rPr>
              <a:t>    1155: c3               </a:t>
            </a:r>
            <a:r>
              <a:rPr lang="en-US" sz="1400" dirty="0" err="1">
                <a:latin typeface="Inconsolata" panose="020B0609030003000000" pitchFamily="49" charset="0"/>
              </a:rPr>
              <a:t>retq</a:t>
            </a:r>
            <a:endParaRPr lang="en-US" sz="1400" dirty="0">
              <a:latin typeface="Inconsolata" panose="020B0609030003000000" pitchFamily="49" charset="0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3A0E29ED-C2E3-4F78-AAD5-87FD1470C2B8}"/>
              </a:ext>
            </a:extLst>
          </p:cNvPr>
          <p:cNvSpPr txBox="1"/>
          <p:nvPr/>
        </p:nvSpPr>
        <p:spPr>
          <a:xfrm>
            <a:off x="5202254" y="2538427"/>
            <a:ext cx="442660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Lato Black" panose="020F0502020204030203" pitchFamily="34" charset="0"/>
                <a:ea typeface="Lato Black" panose="020F0502020204030203" pitchFamily="34" charset="0"/>
                <a:cs typeface="Lato Black" panose="020F0502020204030203" pitchFamily="34" charset="0"/>
              </a:rPr>
              <a:t>x86-64</a:t>
            </a:r>
            <a:r>
              <a:rPr lang="en-US" dirty="0">
                <a:latin typeface="Lato Light" panose="020F0502020204030203" pitchFamily="34" charset="0"/>
                <a:ea typeface="Lato Light" panose="020F0502020204030203" pitchFamily="34" charset="0"/>
                <a:cs typeface="Lato Light" panose="020F0502020204030203" pitchFamily="34" charset="0"/>
              </a:rPr>
              <a:t> (</a:t>
            </a:r>
            <a:r>
              <a:rPr lang="en-US" dirty="0" err="1">
                <a:latin typeface="Inconsolata" panose="020B0609030003000000" pitchFamily="49" charset="0"/>
                <a:ea typeface="Lato Light" panose="020F0502020204030203" pitchFamily="34" charset="0"/>
                <a:cs typeface="Lato Light" panose="020F0502020204030203" pitchFamily="34" charset="0"/>
              </a:rPr>
              <a:t>objdump</a:t>
            </a:r>
            <a:r>
              <a:rPr lang="en-US" dirty="0">
                <a:latin typeface="Inconsolata" panose="020B0609030003000000" pitchFamily="49" charset="0"/>
                <a:ea typeface="Lato Light" panose="020F0502020204030203" pitchFamily="34" charset="0"/>
                <a:cs typeface="Lato Light" panose="020F0502020204030203" pitchFamily="34" charset="0"/>
              </a:rPr>
              <a:t> -d compressor</a:t>
            </a:r>
            <a:r>
              <a:rPr lang="en-US" dirty="0">
                <a:latin typeface="Lato Light" panose="020F0502020204030203" pitchFamily="34" charset="0"/>
                <a:ea typeface="Lato Light" panose="020F0502020204030203" pitchFamily="34" charset="0"/>
                <a:cs typeface="Lato Light" panose="020F0502020204030203" pitchFamily="34" charset="0"/>
              </a:rPr>
              <a:t>)</a:t>
            </a:r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A963EEFE-F999-4CE2-9A07-7AD4B1A354A1}"/>
              </a:ext>
            </a:extLst>
          </p:cNvPr>
          <p:cNvCxnSpPr>
            <a:cxnSpLocks/>
          </p:cNvCxnSpPr>
          <p:nvPr/>
        </p:nvCxnSpPr>
        <p:spPr>
          <a:xfrm>
            <a:off x="5174186" y="2598420"/>
            <a:ext cx="279" cy="3012336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ED82E07E-B5D0-41C2-8147-8A1C447F041D}"/>
              </a:ext>
            </a:extLst>
          </p:cNvPr>
          <p:cNvCxnSpPr>
            <a:cxnSpLocks/>
          </p:cNvCxnSpPr>
          <p:nvPr/>
        </p:nvCxnSpPr>
        <p:spPr>
          <a:xfrm>
            <a:off x="5202254" y="2598420"/>
            <a:ext cx="0" cy="3012336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TextBox 15">
            <a:extLst>
              <a:ext uri="{FF2B5EF4-FFF2-40B4-BE49-F238E27FC236}">
                <a16:creationId xmlns:a16="http://schemas.microsoft.com/office/drawing/2014/main" id="{0DC96533-0DE7-43A2-B059-000EC0687517}"/>
              </a:ext>
            </a:extLst>
          </p:cNvPr>
          <p:cNvSpPr txBox="1"/>
          <p:nvPr/>
        </p:nvSpPr>
        <p:spPr>
          <a:xfrm>
            <a:off x="2570937" y="4274631"/>
            <a:ext cx="256031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>
                <a:solidFill>
                  <a:srgbClr val="7030A0"/>
                </a:solidFill>
                <a:latin typeface="Lato Black" panose="020B0604020202020204" charset="0"/>
                <a:ea typeface="Lato Black" panose="020B0604020202020204" charset="0"/>
                <a:cs typeface="Lato Black" panose="020B0604020202020204" charset="0"/>
              </a:rPr>
              <a:t>0x114b + 0x5fe = 0x1749</a:t>
            </a:r>
          </a:p>
          <a:p>
            <a:r>
              <a:rPr lang="en-US" sz="1600" dirty="0">
                <a:solidFill>
                  <a:srgbClr val="7030A0"/>
                </a:solidFill>
                <a:latin typeface="Lato Black" panose="020B0604020202020204" charset="0"/>
                <a:ea typeface="Lato Black" panose="020B0604020202020204" charset="0"/>
                <a:cs typeface="Lato Black" panose="020B0604020202020204" charset="0"/>
              </a:rPr>
              <a:t>(</a:t>
            </a:r>
            <a:r>
              <a:rPr lang="en-US" sz="1600" dirty="0" err="1">
                <a:solidFill>
                  <a:srgbClr val="7030A0"/>
                </a:solidFill>
                <a:latin typeface="Inconsolata" panose="020B0609030003000000" pitchFamily="49" charset="0"/>
                <a:ea typeface="Lato Black" panose="020B0604020202020204" charset="0"/>
                <a:cs typeface="Lato Black" panose="020B0604020202020204" charset="0"/>
              </a:rPr>
              <a:t>callq</a:t>
            </a:r>
            <a:r>
              <a:rPr lang="en-US" sz="1600" dirty="0">
                <a:solidFill>
                  <a:srgbClr val="7030A0"/>
                </a:solidFill>
                <a:latin typeface="Inconsolata" panose="020B0609030003000000" pitchFamily="49" charset="0"/>
                <a:ea typeface="Lato Black" panose="020B0604020202020204" charset="0"/>
                <a:cs typeface="Lato Black" panose="020B0604020202020204" charset="0"/>
              </a:rPr>
              <a:t> </a:t>
            </a:r>
            <a:r>
              <a:rPr lang="en-US" sz="1600" dirty="0">
                <a:solidFill>
                  <a:srgbClr val="7030A0"/>
                </a:solidFill>
                <a:latin typeface="Lato Black" panose="020B0604020202020204" charset="0"/>
                <a:ea typeface="Lato Black" panose="020B0604020202020204" charset="0"/>
                <a:cs typeface="Lato Black" panose="020B0604020202020204" charset="0"/>
              </a:rPr>
              <a:t>is relative to</a:t>
            </a:r>
            <a:r>
              <a:rPr lang="en-US" sz="1600" dirty="0">
                <a:solidFill>
                  <a:srgbClr val="7030A0"/>
                </a:solidFill>
                <a:latin typeface="Inconsolata" panose="020B0609030003000000" pitchFamily="49" charset="0"/>
                <a:ea typeface="Lato Black" panose="020B0604020202020204" charset="0"/>
                <a:cs typeface="Lato Black" panose="020B0604020202020204" charset="0"/>
              </a:rPr>
              <a:t> %rip</a:t>
            </a:r>
            <a:r>
              <a:rPr lang="en-US" sz="1600" dirty="0">
                <a:solidFill>
                  <a:srgbClr val="7030A0"/>
                </a:solidFill>
                <a:latin typeface="Lato Black" panose="020B0604020202020204" charset="0"/>
                <a:ea typeface="Lato Black" panose="020B0604020202020204" charset="0"/>
                <a:cs typeface="Lato Black" panose="020B0604020202020204" charset="0"/>
              </a:rPr>
              <a:t>)</a:t>
            </a:r>
            <a:endParaRPr lang="en-US" sz="1600" dirty="0">
              <a:solidFill>
                <a:srgbClr val="7030A0"/>
              </a:solidFill>
              <a:latin typeface="Inconsolata" panose="020B0609030003000000" pitchFamily="49" charset="0"/>
              <a:ea typeface="Lato Black" panose="020B0604020202020204" charset="0"/>
              <a:cs typeface="Lato Black" panose="020B0604020202020204" charset="0"/>
            </a:endParaRPr>
          </a:p>
        </p:txBody>
      </p: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00777247-B089-4292-8727-5737F01D20E8}"/>
              </a:ext>
            </a:extLst>
          </p:cNvPr>
          <p:cNvCxnSpPr>
            <a:cxnSpLocks/>
          </p:cNvCxnSpPr>
          <p:nvPr/>
        </p:nvCxnSpPr>
        <p:spPr>
          <a:xfrm flipV="1">
            <a:off x="5075621" y="4419799"/>
            <a:ext cx="169566" cy="144668"/>
          </a:xfrm>
          <a:prstGeom prst="straightConnector1">
            <a:avLst/>
          </a:prstGeom>
          <a:ln w="38100">
            <a:solidFill>
              <a:srgbClr val="7030A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TextBox 17">
            <a:extLst>
              <a:ext uri="{FF2B5EF4-FFF2-40B4-BE49-F238E27FC236}">
                <a16:creationId xmlns:a16="http://schemas.microsoft.com/office/drawing/2014/main" id="{1B973AC2-B9A5-458E-85B1-8D7C0DCFB6BB}"/>
              </a:ext>
            </a:extLst>
          </p:cNvPr>
          <p:cNvSpPr txBox="1"/>
          <p:nvPr/>
        </p:nvSpPr>
        <p:spPr>
          <a:xfrm>
            <a:off x="568961" y="4940044"/>
            <a:ext cx="456407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>
                <a:solidFill>
                  <a:srgbClr val="7030A0"/>
                </a:solidFill>
                <a:latin typeface="Lato Black" panose="020B0604020202020204" charset="0"/>
                <a:ea typeface="Lato Black" panose="020B0604020202020204" charset="0"/>
                <a:cs typeface="Lato Black" panose="020B0604020202020204" charset="0"/>
              </a:rPr>
              <a:t>In modern times, this makes use of a jump table</a:t>
            </a:r>
          </a:p>
          <a:p>
            <a:r>
              <a:rPr lang="en-US" sz="1600" dirty="0">
                <a:solidFill>
                  <a:srgbClr val="7030A0"/>
                </a:solidFill>
                <a:latin typeface="Lato Black" panose="020B0604020202020204" charset="0"/>
                <a:ea typeface="Lato Black" panose="020B0604020202020204" charset="0"/>
                <a:cs typeface="Lato Black" panose="020B0604020202020204" charset="0"/>
              </a:rPr>
              <a:t>called a Procedure Linkage Table (PLT).</a:t>
            </a:r>
          </a:p>
        </p:txBody>
      </p:sp>
    </p:spTree>
    <p:extLst>
      <p:ext uri="{BB962C8B-B14F-4D97-AF65-F5344CB8AC3E}">
        <p14:creationId xmlns:p14="http://schemas.microsoft.com/office/powerpoint/2010/main" val="198300425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18" grpId="0"/>
    </p:bld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AA312C-9023-4C5B-B71C-70402C8261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sz="2800" dirty="0"/>
              <a:t>Taking a PIC, eating some PIE – Avoiding relocations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467B574-F583-473F-BF63-52D9B8E4241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42900" y="967740"/>
            <a:ext cx="4988560" cy="4557078"/>
          </a:xfrm>
        </p:spPr>
        <p:txBody>
          <a:bodyPr>
            <a:normAutofit fontScale="92500" lnSpcReduction="20000"/>
          </a:bodyPr>
          <a:lstStyle/>
          <a:p>
            <a:r>
              <a:rPr lang="en-US" dirty="0"/>
              <a:t>In order to allow code to be resident anywhere in memory, the compiler must emit machine code that </a:t>
            </a:r>
            <a:r>
              <a:rPr lang="en-US" u="sng" dirty="0"/>
              <a:t>always uses relative addresses</a:t>
            </a:r>
            <a:r>
              <a:rPr lang="en-US" dirty="0"/>
              <a:t>!</a:t>
            </a:r>
          </a:p>
          <a:p>
            <a:endParaRPr lang="en-US" dirty="0"/>
          </a:p>
          <a:p>
            <a:r>
              <a:rPr lang="en-US" dirty="0"/>
              <a:t>This is called </a:t>
            </a:r>
            <a:r>
              <a:rPr lang="en-US" dirty="0">
                <a:solidFill>
                  <a:schemeClr val="accent1">
                    <a:lumMod val="75000"/>
                  </a:schemeClr>
                </a:solidFill>
                <a:latin typeface="Lato Black" panose="020F0502020204030203" pitchFamily="34" charset="0"/>
                <a:ea typeface="Lato Black" panose="020F0502020204030203" pitchFamily="34" charset="0"/>
                <a:cs typeface="Lato Black" panose="020F0502020204030203" pitchFamily="34" charset="0"/>
              </a:rPr>
              <a:t>position independent code </a:t>
            </a:r>
            <a:r>
              <a:rPr lang="en-US" dirty="0"/>
              <a:t>(or PIC).</a:t>
            </a:r>
          </a:p>
          <a:p>
            <a:r>
              <a:rPr lang="en-US" dirty="0"/>
              <a:t>When your entire executable is made out of PIC, it is a </a:t>
            </a:r>
            <a:r>
              <a:rPr lang="en-US" dirty="0">
                <a:solidFill>
                  <a:schemeClr val="accent1">
                    <a:lumMod val="75000"/>
                  </a:schemeClr>
                </a:solidFill>
                <a:latin typeface="Lato Black" panose="020F0502020204030203" pitchFamily="34" charset="0"/>
                <a:ea typeface="Lato Black" panose="020F0502020204030203" pitchFamily="34" charset="0"/>
                <a:cs typeface="Lato Black" panose="020F0502020204030203" pitchFamily="34" charset="0"/>
              </a:rPr>
              <a:t>position independent executable </a:t>
            </a:r>
            <a:r>
              <a:rPr lang="en-US" dirty="0"/>
              <a:t>(or PIE)</a:t>
            </a:r>
          </a:p>
          <a:p>
            <a:endParaRPr lang="en-US" dirty="0"/>
          </a:p>
          <a:p>
            <a:r>
              <a:rPr lang="en-US" dirty="0" err="1">
                <a:latin typeface="Inconsolata" panose="020B0609030003000000" pitchFamily="49" charset="0"/>
              </a:rPr>
              <a:t>gcc</a:t>
            </a:r>
            <a:r>
              <a:rPr lang="en-US" dirty="0">
                <a:latin typeface="Inconsolata" panose="020B0609030003000000" pitchFamily="49" charset="0"/>
              </a:rPr>
              <a:t> </a:t>
            </a:r>
            <a:r>
              <a:rPr lang="en-US" dirty="0"/>
              <a:t>will compile code this way when you specify the</a:t>
            </a:r>
            <a:r>
              <a:rPr lang="en-US" dirty="0">
                <a:latin typeface="Inconsolata" panose="020B0609030003000000" pitchFamily="49" charset="0"/>
              </a:rPr>
              <a:t> -</a:t>
            </a:r>
            <a:r>
              <a:rPr lang="en-US" dirty="0" err="1">
                <a:latin typeface="Inconsolata" panose="020B0609030003000000" pitchFamily="49" charset="0"/>
              </a:rPr>
              <a:t>fPIC</a:t>
            </a:r>
            <a:r>
              <a:rPr lang="en-US" dirty="0">
                <a:latin typeface="Inconsolata" panose="020B0609030003000000" pitchFamily="49" charset="0"/>
              </a:rPr>
              <a:t> </a:t>
            </a:r>
            <a:r>
              <a:rPr lang="en-US" dirty="0"/>
              <a:t>flag.</a:t>
            </a:r>
          </a:p>
          <a:p>
            <a:pPr lvl="1"/>
            <a:r>
              <a:rPr lang="en-US" dirty="0"/>
              <a:t>You generally need this when creating dynamic libraries.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F8A3EAB-5475-4A96-B1AC-2C1024899D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AAD609-F83C-4414-814B-B5A2DF99692C}" type="slidenum">
              <a:rPr lang="en-US" smtClean="0"/>
              <a:pPr/>
              <a:t>35</a:t>
            </a:fld>
            <a:endParaRPr lang="en-US" dirty="0"/>
          </a:p>
        </p:txBody>
      </p:sp>
      <p:pic>
        <p:nvPicPr>
          <p:cNvPr id="3074" name="Picture 2" descr="Image result for pie">
            <a:extLst>
              <a:ext uri="{FF2B5EF4-FFF2-40B4-BE49-F238E27FC236}">
                <a16:creationId xmlns:a16="http://schemas.microsoft.com/office/drawing/2014/main" id="{77F29DA0-0D33-4E93-801C-FA7E03942D2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20253" y="1307192"/>
            <a:ext cx="3325495" cy="270854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0238A3F6-388A-409E-B72E-C34B597D56B1}"/>
              </a:ext>
            </a:extLst>
          </p:cNvPr>
          <p:cNvSpPr txBox="1"/>
          <p:nvPr/>
        </p:nvSpPr>
        <p:spPr>
          <a:xfrm>
            <a:off x="6224481" y="4121401"/>
            <a:ext cx="251703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Lato Light" panose="020F0502020204030203" pitchFamily="34" charset="0"/>
                <a:ea typeface="Lato Light" panose="020F0502020204030203" pitchFamily="34" charset="0"/>
                <a:cs typeface="Lato Light" panose="020F0502020204030203" pitchFamily="34" charset="0"/>
              </a:rPr>
              <a:t>Who doesn’t like pie???</a:t>
            </a:r>
          </a:p>
        </p:txBody>
      </p:sp>
    </p:spTree>
    <p:extLst>
      <p:ext uri="{BB962C8B-B14F-4D97-AF65-F5344CB8AC3E}">
        <p14:creationId xmlns:p14="http://schemas.microsoft.com/office/powerpoint/2010/main" val="715823967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BD9156-F3C5-4FF6-8A99-4CDCF0A18D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Running a program - Redux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88E3368-96FE-4DA2-A7AB-F917C72CF36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42900" y="967740"/>
            <a:ext cx="6260582" cy="4557072"/>
          </a:xfrm>
        </p:spPr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en-US" dirty="0"/>
              <a:t>1. Take the ELF executable.</a:t>
            </a:r>
          </a:p>
          <a:p>
            <a:pPr marL="0" indent="0">
              <a:buNone/>
            </a:pPr>
            <a:r>
              <a:rPr lang="en-US" dirty="0"/>
              <a:t>2. Place and initially prepare the</a:t>
            </a:r>
            <a:r>
              <a:rPr lang="en-US" dirty="0">
                <a:latin typeface="Inconsolata" panose="020B0609030003000000" pitchFamily="49" charset="0"/>
              </a:rPr>
              <a:t> .text, .data, .</a:t>
            </a:r>
            <a:r>
              <a:rPr lang="en-US" dirty="0" err="1">
                <a:latin typeface="Inconsolata" panose="020B0609030003000000" pitchFamily="49" charset="0"/>
              </a:rPr>
              <a:t>bss</a:t>
            </a:r>
            <a:r>
              <a:rPr lang="en-US" dirty="0">
                <a:latin typeface="Inconsolata" panose="020B0609030003000000" pitchFamily="49" charset="0"/>
              </a:rPr>
              <a:t> </a:t>
            </a:r>
            <a:r>
              <a:rPr lang="en-US" dirty="0"/>
              <a:t>segments into memory.</a:t>
            </a:r>
          </a:p>
          <a:p>
            <a:pPr marL="0" indent="0">
              <a:buNone/>
            </a:pPr>
            <a:r>
              <a:rPr lang="en-US" dirty="0"/>
              <a:t>5. Allocate the stack and assign the stack pointer (</a:t>
            </a:r>
            <a:r>
              <a:rPr lang="en-US" dirty="0">
                <a:solidFill>
                  <a:srgbClr val="7030A0"/>
                </a:solidFill>
                <a:latin typeface="Inconsolata" panose="020B0609030003000000" pitchFamily="49" charset="0"/>
              </a:rPr>
              <a:t>%</a:t>
            </a:r>
            <a:r>
              <a:rPr lang="en-US" dirty="0" err="1">
                <a:solidFill>
                  <a:srgbClr val="7030A0"/>
                </a:solidFill>
                <a:latin typeface="Inconsolata" panose="020B0609030003000000" pitchFamily="49" charset="0"/>
              </a:rPr>
              <a:t>rsp</a:t>
            </a:r>
            <a:r>
              <a:rPr lang="en-US" dirty="0"/>
              <a:t>)</a:t>
            </a:r>
          </a:p>
          <a:p>
            <a:pPr marL="0" indent="0">
              <a:buNone/>
            </a:pPr>
            <a:r>
              <a:rPr lang="en-US" dirty="0"/>
              <a:t>6. Repeatably load each required shared library.</a:t>
            </a:r>
          </a:p>
          <a:p>
            <a:pPr marL="0" indent="0">
              <a:buNone/>
            </a:pPr>
            <a:r>
              <a:rPr lang="en-US" dirty="0"/>
              <a:t>    6a. Place .text and .data in memory</a:t>
            </a:r>
          </a:p>
          <a:p>
            <a:pPr marL="0" indent="0">
              <a:buNone/>
            </a:pPr>
            <a:r>
              <a:rPr lang="en-US" dirty="0"/>
              <a:t>    6b. Rewrite .text sections by looking at the</a:t>
            </a:r>
          </a:p>
          <a:p>
            <a:pPr marL="0" indent="0">
              <a:buNone/>
            </a:pPr>
            <a:r>
              <a:rPr lang="en-US" dirty="0"/>
              <a:t>           relocatable entries</a:t>
            </a:r>
          </a:p>
          <a:p>
            <a:pPr marL="0" indent="0">
              <a:buNone/>
            </a:pPr>
            <a:r>
              <a:rPr lang="en-US" dirty="0"/>
              <a:t>    6c. Repeat for each library.</a:t>
            </a:r>
          </a:p>
          <a:p>
            <a:pPr marL="0" indent="0">
              <a:buNone/>
            </a:pPr>
            <a:r>
              <a:rPr lang="en-US" dirty="0"/>
              <a:t>7. Jump to the entry point address (the location of the</a:t>
            </a:r>
            <a:r>
              <a:rPr lang="en-US" dirty="0">
                <a:latin typeface="Inconsolata" panose="020B0609030003000000" pitchFamily="49" charset="0"/>
              </a:rPr>
              <a:t> _start </a:t>
            </a:r>
            <a:r>
              <a:rPr lang="en-US" dirty="0"/>
              <a:t>symbol)</a:t>
            </a:r>
          </a:p>
          <a:p>
            <a:pPr lvl="1"/>
            <a:r>
              <a:rPr lang="en-US" dirty="0">
                <a:latin typeface="Inconsolata" panose="020B0609030003000000" pitchFamily="49" charset="0"/>
              </a:rPr>
              <a:t>_start </a:t>
            </a:r>
            <a:r>
              <a:rPr lang="en-US" dirty="0"/>
              <a:t>will call main after initializing the C</a:t>
            </a:r>
            <a:br>
              <a:rPr lang="en-US" dirty="0"/>
            </a:br>
            <a:r>
              <a:rPr lang="en-US" dirty="0"/>
              <a:t>runtime and the heap.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A3A20EB-D2A5-4612-8DFA-EEDEDD514E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AAD609-F83C-4414-814B-B5A2DF99692C}" type="slidenum">
              <a:rPr lang="en-US" smtClean="0"/>
              <a:pPr/>
              <a:t>36</a:t>
            </a:fld>
            <a:endParaRPr lang="en-US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FF0191A9-9B38-4929-A78A-99657E1A79D6}"/>
              </a:ext>
            </a:extLst>
          </p:cNvPr>
          <p:cNvSpPr/>
          <p:nvPr/>
        </p:nvSpPr>
        <p:spPr>
          <a:xfrm>
            <a:off x="6934377" y="960039"/>
            <a:ext cx="2438400" cy="641156"/>
          </a:xfrm>
          <a:prstGeom prst="rect">
            <a:avLst/>
          </a:prstGeom>
          <a:solidFill>
            <a:srgbClr val="C288BE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buClrTx/>
            </a:pPr>
            <a:endParaRPr lang="en-US" dirty="0">
              <a:solidFill>
                <a:prstClr val="white"/>
              </a:solidFill>
              <a:latin typeface="Calibri"/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BF433987-1543-481D-821C-BB021D501A9C}"/>
              </a:ext>
            </a:extLst>
          </p:cNvPr>
          <p:cNvSpPr/>
          <p:nvPr/>
        </p:nvSpPr>
        <p:spPr>
          <a:xfrm>
            <a:off x="6938184" y="3135631"/>
            <a:ext cx="2438400" cy="508876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buClrTx/>
              <a:defRPr/>
            </a:pPr>
            <a:r>
              <a:rPr lang="en-US" sz="2400" dirty="0">
                <a:solidFill>
                  <a:prstClr val="black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heap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06205FFD-BB12-4EB5-AC1F-C61E601DACB9}"/>
              </a:ext>
            </a:extLst>
          </p:cNvPr>
          <p:cNvSpPr/>
          <p:nvPr/>
        </p:nvSpPr>
        <p:spPr>
          <a:xfrm>
            <a:off x="6934377" y="3642420"/>
            <a:ext cx="2438400" cy="508876"/>
          </a:xfrm>
          <a:prstGeom prst="rect">
            <a:avLst/>
          </a:prstGeom>
          <a:solidFill>
            <a:schemeClr val="bg1">
              <a:lumMod val="65000"/>
            </a:schemeClr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buClrTx/>
            </a:pPr>
            <a:endParaRPr lang="en-US" dirty="0">
              <a:solidFill>
                <a:prstClr val="white"/>
              </a:solidFill>
              <a:latin typeface="Calibri"/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24F90F24-8A7A-49F7-81A8-9B1BFC85C957}"/>
              </a:ext>
            </a:extLst>
          </p:cNvPr>
          <p:cNvSpPr/>
          <p:nvPr/>
        </p:nvSpPr>
        <p:spPr>
          <a:xfrm>
            <a:off x="6922653" y="1610581"/>
            <a:ext cx="2438400" cy="456642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buClrTx/>
            </a:pPr>
            <a:endParaRPr lang="en-US">
              <a:solidFill>
                <a:prstClr val="white"/>
              </a:solidFill>
              <a:latin typeface="Calibri"/>
            </a:endParaRPr>
          </a:p>
        </p:txBody>
      </p:sp>
      <p:sp>
        <p:nvSpPr>
          <p:cNvPr id="12" name="Rectangle 2" descr="Wide upward diagonal">
            <a:extLst>
              <a:ext uri="{FF2B5EF4-FFF2-40B4-BE49-F238E27FC236}">
                <a16:creationId xmlns:a16="http://schemas.microsoft.com/office/drawing/2014/main" id="{945C2625-2A92-44A6-A828-CCEC672004D7}"/>
              </a:ext>
            </a:extLst>
          </p:cNvPr>
          <p:cNvSpPr>
            <a:spLocks noChangeArrowheads="1"/>
          </p:cNvSpPr>
          <p:nvPr/>
        </p:nvSpPr>
        <p:spPr bwMode="auto">
          <a:xfrm>
            <a:off x="6934377" y="2067224"/>
            <a:ext cx="2438400" cy="1066313"/>
          </a:xfrm>
          <a:prstGeom prst="rect">
            <a:avLst/>
          </a:prstGeom>
          <a:pattFill prst="wdUpDiag">
            <a:fgClr>
              <a:schemeClr val="bg2"/>
            </a:fgClr>
            <a:bgClr>
              <a:srgbClr val="FFFFFF"/>
            </a:bgClr>
          </a:pattFill>
          <a:ln w="12700">
            <a:solidFill>
              <a:schemeClr val="bg1"/>
            </a:solidFill>
            <a:miter lim="800000"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pPr algn="ctr">
              <a:buClrTx/>
              <a:defRPr/>
            </a:pPr>
            <a:endParaRPr lang="en-US" dirty="0">
              <a:solidFill>
                <a:prstClr val="black"/>
              </a:solidFill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</p:txBody>
      </p:sp>
      <p:sp>
        <p:nvSpPr>
          <p:cNvPr id="13" name="Rectangle 5">
            <a:extLst>
              <a:ext uri="{FF2B5EF4-FFF2-40B4-BE49-F238E27FC236}">
                <a16:creationId xmlns:a16="http://schemas.microsoft.com/office/drawing/2014/main" id="{E7BCF285-4679-4683-B5E7-A71F2260FC6C}"/>
              </a:ext>
            </a:extLst>
          </p:cNvPr>
          <p:cNvSpPr>
            <a:spLocks noChangeArrowheads="1"/>
          </p:cNvSpPr>
          <p:nvPr/>
        </p:nvSpPr>
        <p:spPr bwMode="auto">
          <a:xfrm>
            <a:off x="6934377" y="967741"/>
            <a:ext cx="2438400" cy="4332031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pPr>
              <a:buClrTx/>
              <a:defRPr/>
            </a:pPr>
            <a:endParaRPr lang="en-US">
              <a:solidFill>
                <a:prstClr val="black"/>
              </a:solidFill>
              <a:latin typeface="Calibri"/>
              <a:ea typeface="ＭＳ Ｐゴシック" charset="-128"/>
              <a:cs typeface="ＭＳ Ｐゴシック" charset="-128"/>
            </a:endParaRPr>
          </a:p>
        </p:txBody>
      </p:sp>
      <p:sp>
        <p:nvSpPr>
          <p:cNvPr id="14" name="Rectangle 6">
            <a:extLst>
              <a:ext uri="{FF2B5EF4-FFF2-40B4-BE49-F238E27FC236}">
                <a16:creationId xmlns:a16="http://schemas.microsoft.com/office/drawing/2014/main" id="{2D099CD4-C10A-427A-8EC9-D443B819EE16}"/>
              </a:ext>
            </a:extLst>
          </p:cNvPr>
          <p:cNvSpPr>
            <a:spLocks noChangeArrowheads="1"/>
          </p:cNvSpPr>
          <p:nvPr/>
        </p:nvSpPr>
        <p:spPr bwMode="auto">
          <a:xfrm>
            <a:off x="6934377" y="4671121"/>
            <a:ext cx="2438400" cy="628650"/>
          </a:xfrm>
          <a:prstGeom prst="rect">
            <a:avLst/>
          </a:prstGeom>
          <a:solidFill>
            <a:srgbClr val="FFFF00"/>
          </a:solidFill>
          <a:ln w="381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pPr>
              <a:buClrTx/>
              <a:defRPr/>
            </a:pPr>
            <a:endParaRPr lang="en-US" dirty="0">
              <a:solidFill>
                <a:prstClr val="black"/>
              </a:solidFill>
              <a:latin typeface="Calibri"/>
              <a:ea typeface="ＭＳ Ｐゴシック" charset="-128"/>
              <a:cs typeface="ＭＳ Ｐゴシック" charset="-128"/>
            </a:endParaRPr>
          </a:p>
        </p:txBody>
      </p:sp>
      <p:sp>
        <p:nvSpPr>
          <p:cNvPr id="15" name="Rectangle 7">
            <a:extLst>
              <a:ext uri="{FF2B5EF4-FFF2-40B4-BE49-F238E27FC236}">
                <a16:creationId xmlns:a16="http://schemas.microsoft.com/office/drawing/2014/main" id="{01F30E31-DF7B-4103-8DE6-8389CAC2EC8A}"/>
              </a:ext>
            </a:extLst>
          </p:cNvPr>
          <p:cNvSpPr>
            <a:spLocks noChangeArrowheads="1"/>
          </p:cNvSpPr>
          <p:nvPr/>
        </p:nvSpPr>
        <p:spPr bwMode="auto">
          <a:xfrm>
            <a:off x="6934377" y="4156771"/>
            <a:ext cx="2438400" cy="514350"/>
          </a:xfrm>
          <a:prstGeom prst="rect">
            <a:avLst/>
          </a:prstGeom>
          <a:solidFill>
            <a:srgbClr val="00B0F0"/>
          </a:solidFill>
          <a:ln w="381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pPr>
              <a:buClrTx/>
              <a:defRPr/>
            </a:pPr>
            <a:endParaRPr lang="en-US" dirty="0">
              <a:solidFill>
                <a:prstClr val="black"/>
              </a:solidFill>
              <a:latin typeface="Calibri"/>
              <a:ea typeface="ＭＳ Ｐゴシック" charset="-128"/>
              <a:cs typeface="ＭＳ Ｐゴシック" charset="-128"/>
            </a:endParaRPr>
          </a:p>
        </p:txBody>
      </p:sp>
      <p:sp>
        <p:nvSpPr>
          <p:cNvPr id="16" name="Line 9">
            <a:extLst>
              <a:ext uri="{FF2B5EF4-FFF2-40B4-BE49-F238E27FC236}">
                <a16:creationId xmlns:a16="http://schemas.microsoft.com/office/drawing/2014/main" id="{9B6100E8-0C3B-4998-B2C4-1D423855C782}"/>
              </a:ext>
            </a:extLst>
          </p:cNvPr>
          <p:cNvSpPr>
            <a:spLocks noChangeShapeType="1"/>
          </p:cNvSpPr>
          <p:nvPr/>
        </p:nvSpPr>
        <p:spPr bwMode="auto">
          <a:xfrm>
            <a:off x="6934377" y="2070074"/>
            <a:ext cx="2438400" cy="0"/>
          </a:xfrm>
          <a:prstGeom prst="line">
            <a:avLst/>
          </a:prstGeom>
          <a:noFill/>
          <a:ln w="38100">
            <a:solidFill>
              <a:schemeClr val="tx1"/>
            </a:solidFill>
            <a:prstDash val="lgDash"/>
            <a:round/>
            <a:headEnd/>
            <a:tailEnd/>
          </a:ln>
        </p:spPr>
        <p:txBody>
          <a:bodyPr>
            <a:prstTxWarp prst="textNoShape">
              <a:avLst/>
            </a:prstTxWarp>
          </a:bodyPr>
          <a:lstStyle/>
          <a:p>
            <a:pPr>
              <a:buClrTx/>
              <a:defRPr/>
            </a:pPr>
            <a:endParaRPr lang="en-US" dirty="0">
              <a:solidFill>
                <a:prstClr val="black"/>
              </a:solidFill>
              <a:latin typeface="Calibri"/>
              <a:ea typeface="ＭＳ Ｐゴシック" charset="-128"/>
              <a:cs typeface="ＭＳ Ｐゴシック" charset="-128"/>
            </a:endParaRPr>
          </a:p>
        </p:txBody>
      </p:sp>
      <p:sp>
        <p:nvSpPr>
          <p:cNvPr id="17" name="Text Box 10">
            <a:extLst>
              <a:ext uri="{FF2B5EF4-FFF2-40B4-BE49-F238E27FC236}">
                <a16:creationId xmlns:a16="http://schemas.microsoft.com/office/drawing/2014/main" id="{57171F64-19C2-45F7-B670-93F0F06A548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744952" y="4739223"/>
            <a:ext cx="793807" cy="461665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wrap="none">
            <a:prstTxWarp prst="textNoShape">
              <a:avLst/>
            </a:prstTxWarp>
            <a:spAutoFit/>
          </a:bodyPr>
          <a:lstStyle/>
          <a:p>
            <a:pPr algn="ctr">
              <a:buClrTx/>
              <a:defRPr/>
            </a:pPr>
            <a:r>
              <a:rPr lang="en-US" sz="2400" dirty="0">
                <a:solidFill>
                  <a:prstClr val="black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.text</a:t>
            </a:r>
          </a:p>
        </p:txBody>
      </p:sp>
      <p:sp>
        <p:nvSpPr>
          <p:cNvPr id="18" name="Text Box 11">
            <a:extLst>
              <a:ext uri="{FF2B5EF4-FFF2-40B4-BE49-F238E27FC236}">
                <a16:creationId xmlns:a16="http://schemas.microsoft.com/office/drawing/2014/main" id="{450A619D-6B0B-461F-89B7-BF04B8EB897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750077" y="4166297"/>
            <a:ext cx="845104" cy="461665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wrap="none">
            <a:prstTxWarp prst="textNoShape">
              <a:avLst/>
            </a:prstTxWarp>
            <a:spAutoFit/>
          </a:bodyPr>
          <a:lstStyle/>
          <a:p>
            <a:pPr algn="ctr">
              <a:buClrTx/>
              <a:defRPr/>
            </a:pPr>
            <a:r>
              <a:rPr lang="en-US" sz="2400" dirty="0">
                <a:solidFill>
                  <a:prstClr val="black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.data</a:t>
            </a:r>
          </a:p>
        </p:txBody>
      </p:sp>
      <p:sp>
        <p:nvSpPr>
          <p:cNvPr id="19" name="Text Box 12">
            <a:extLst>
              <a:ext uri="{FF2B5EF4-FFF2-40B4-BE49-F238E27FC236}">
                <a16:creationId xmlns:a16="http://schemas.microsoft.com/office/drawing/2014/main" id="{CEF1FF23-E83C-4FB8-9A31-E25E2D254D4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824616" y="3651946"/>
            <a:ext cx="696024" cy="461665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wrap="none">
            <a:prstTxWarp prst="textNoShape">
              <a:avLst/>
            </a:prstTxWarp>
            <a:spAutoFit/>
          </a:bodyPr>
          <a:lstStyle/>
          <a:p>
            <a:pPr algn="ctr">
              <a:buClrTx/>
              <a:defRPr/>
            </a:pPr>
            <a:r>
              <a:rPr lang="en-US" sz="2400" dirty="0">
                <a:solidFill>
                  <a:prstClr val="black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.</a:t>
            </a:r>
            <a:r>
              <a:rPr lang="en-US" sz="2400" dirty="0" err="1">
                <a:solidFill>
                  <a:prstClr val="black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bss</a:t>
            </a:r>
            <a:endParaRPr lang="en-US" sz="2400" dirty="0">
              <a:solidFill>
                <a:prstClr val="black"/>
              </a:solidFill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</p:txBody>
      </p:sp>
      <p:sp>
        <p:nvSpPr>
          <p:cNvPr id="20" name="Text Box 13">
            <a:extLst>
              <a:ext uri="{FF2B5EF4-FFF2-40B4-BE49-F238E27FC236}">
                <a16:creationId xmlns:a16="http://schemas.microsoft.com/office/drawing/2014/main" id="{71302CE1-6A93-4718-9AD2-869FE93456D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730035" y="1596904"/>
            <a:ext cx="885179" cy="461665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wrap="none">
            <a:prstTxWarp prst="textNoShape">
              <a:avLst/>
            </a:prstTxWarp>
            <a:spAutoFit/>
          </a:bodyPr>
          <a:lstStyle/>
          <a:p>
            <a:pPr algn="ctr">
              <a:buClrTx/>
              <a:defRPr/>
            </a:pPr>
            <a:r>
              <a:rPr lang="en-US" sz="2400" dirty="0">
                <a:solidFill>
                  <a:prstClr val="black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stack</a:t>
            </a:r>
          </a:p>
        </p:txBody>
      </p:sp>
      <p:sp>
        <p:nvSpPr>
          <p:cNvPr id="21" name="Line 15">
            <a:extLst>
              <a:ext uri="{FF2B5EF4-FFF2-40B4-BE49-F238E27FC236}">
                <a16:creationId xmlns:a16="http://schemas.microsoft.com/office/drawing/2014/main" id="{E2CB7F7A-BE63-4141-A30B-9640FE3008CC}"/>
              </a:ext>
            </a:extLst>
          </p:cNvPr>
          <p:cNvSpPr>
            <a:spLocks noChangeShapeType="1"/>
          </p:cNvSpPr>
          <p:nvPr/>
        </p:nvSpPr>
        <p:spPr bwMode="auto">
          <a:xfrm>
            <a:off x="8184057" y="2057460"/>
            <a:ext cx="0" cy="285750"/>
          </a:xfrm>
          <a:prstGeom prst="line">
            <a:avLst/>
          </a:prstGeom>
          <a:noFill/>
          <a:ln w="31750">
            <a:solidFill>
              <a:schemeClr val="tx1"/>
            </a:solidFill>
            <a:round/>
            <a:headEnd/>
            <a:tailEnd type="triangle" w="med" len="med"/>
          </a:ln>
        </p:spPr>
        <p:txBody>
          <a:bodyPr>
            <a:prstTxWarp prst="textNoShape">
              <a:avLst/>
            </a:prstTxWarp>
          </a:bodyPr>
          <a:lstStyle/>
          <a:p>
            <a:pPr>
              <a:buClrTx/>
              <a:defRPr/>
            </a:pPr>
            <a:endParaRPr lang="en-US" dirty="0">
              <a:solidFill>
                <a:prstClr val="black"/>
              </a:solidFill>
              <a:latin typeface="Calibri"/>
              <a:ea typeface="ＭＳ Ｐゴシック" charset="-128"/>
              <a:cs typeface="ＭＳ Ｐゴシック" charset="-128"/>
            </a:endParaRPr>
          </a:p>
        </p:txBody>
      </p:sp>
      <p:sp>
        <p:nvSpPr>
          <p:cNvPr id="22" name="Text Box 17">
            <a:extLst>
              <a:ext uri="{FF2B5EF4-FFF2-40B4-BE49-F238E27FC236}">
                <a16:creationId xmlns:a16="http://schemas.microsoft.com/office/drawing/2014/main" id="{6E71037A-46E2-4E75-9061-3D4D41490D4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318552" y="592672"/>
            <a:ext cx="1646605" cy="369332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wrap="none">
            <a:prstTxWarp prst="textNoShape">
              <a:avLst/>
            </a:prstTxWarp>
            <a:spAutoFit/>
          </a:bodyPr>
          <a:lstStyle/>
          <a:p>
            <a:pPr>
              <a:buClrTx/>
              <a:defRPr/>
            </a:pPr>
            <a:r>
              <a:rPr lang="en-US" b="1" dirty="0">
                <a:solidFill>
                  <a:prstClr val="black"/>
                </a:solidFill>
                <a:latin typeface="Inconsolata" panose="020B0609030003000000" pitchFamily="49" charset="0"/>
                <a:ea typeface="ＭＳ Ｐゴシック" charset="-128"/>
                <a:cs typeface="Courier"/>
              </a:rPr>
              <a:t>~ 0xFFFFFFFF</a:t>
            </a:r>
            <a:endParaRPr lang="en-US" sz="1600" b="1" dirty="0">
              <a:solidFill>
                <a:prstClr val="black"/>
              </a:solidFill>
              <a:latin typeface="Inconsolata" panose="020B0609030003000000" pitchFamily="49" charset="0"/>
              <a:ea typeface="ＭＳ Ｐゴシック" charset="-128"/>
              <a:cs typeface="Courier"/>
            </a:endParaRPr>
          </a:p>
        </p:txBody>
      </p:sp>
      <p:sp>
        <p:nvSpPr>
          <p:cNvPr id="23" name="Text Box 18">
            <a:extLst>
              <a:ext uri="{FF2B5EF4-FFF2-40B4-BE49-F238E27FC236}">
                <a16:creationId xmlns:a16="http://schemas.microsoft.com/office/drawing/2014/main" id="{67366EFE-B024-4ED1-9AF7-3A1CB51F7D6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349323" y="5301866"/>
            <a:ext cx="1646605" cy="369332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wrap="none">
            <a:prstTxWarp prst="textNoShape">
              <a:avLst/>
            </a:prstTxWarp>
            <a:spAutoFit/>
          </a:bodyPr>
          <a:lstStyle/>
          <a:p>
            <a:pPr>
              <a:buClrTx/>
              <a:defRPr/>
            </a:pPr>
            <a:r>
              <a:rPr lang="en-US" b="1" dirty="0">
                <a:solidFill>
                  <a:prstClr val="black"/>
                </a:solidFill>
                <a:latin typeface="Inconsolata" panose="020B0609030003000000" pitchFamily="49" charset="0"/>
                <a:ea typeface="ＭＳ Ｐゴシック" charset="-128"/>
                <a:cs typeface="Courier"/>
              </a:rPr>
              <a:t>~ 0x00000000</a:t>
            </a:r>
            <a:endParaRPr lang="en-US" sz="1600" b="1" dirty="0">
              <a:solidFill>
                <a:prstClr val="black"/>
              </a:solidFill>
              <a:latin typeface="Inconsolata" panose="020B0609030003000000" pitchFamily="49" charset="0"/>
              <a:ea typeface="ＭＳ Ｐゴシック" charset="-128"/>
              <a:cs typeface="Courier"/>
            </a:endParaRPr>
          </a:p>
        </p:txBody>
      </p:sp>
      <p:sp>
        <p:nvSpPr>
          <p:cNvPr id="24" name="Line 8">
            <a:extLst>
              <a:ext uri="{FF2B5EF4-FFF2-40B4-BE49-F238E27FC236}">
                <a16:creationId xmlns:a16="http://schemas.microsoft.com/office/drawing/2014/main" id="{DD961D10-D64E-4CBF-ABDF-C66E6EC43E40}"/>
              </a:ext>
            </a:extLst>
          </p:cNvPr>
          <p:cNvSpPr>
            <a:spLocks noChangeShapeType="1"/>
          </p:cNvSpPr>
          <p:nvPr/>
        </p:nvSpPr>
        <p:spPr bwMode="auto">
          <a:xfrm>
            <a:off x="6922653" y="3126244"/>
            <a:ext cx="2438400" cy="0"/>
          </a:xfrm>
          <a:prstGeom prst="line">
            <a:avLst/>
          </a:prstGeom>
          <a:noFill/>
          <a:ln w="38100">
            <a:solidFill>
              <a:schemeClr val="tx1"/>
            </a:solidFill>
            <a:prstDash val="lgDash"/>
            <a:round/>
            <a:headEnd/>
            <a:tailEnd/>
          </a:ln>
        </p:spPr>
        <p:txBody>
          <a:bodyPr>
            <a:prstTxWarp prst="textNoShape">
              <a:avLst/>
            </a:prstTxWarp>
          </a:bodyPr>
          <a:lstStyle/>
          <a:p>
            <a:pPr>
              <a:buClrTx/>
              <a:defRPr/>
            </a:pPr>
            <a:endParaRPr lang="en-US" dirty="0">
              <a:solidFill>
                <a:prstClr val="black"/>
              </a:solidFill>
              <a:latin typeface="Calibri"/>
              <a:ea typeface="ＭＳ Ｐゴシック" charset="-128"/>
              <a:cs typeface="ＭＳ Ｐゴシック" charset="-128"/>
            </a:endParaRPr>
          </a:p>
        </p:txBody>
      </p:sp>
      <p:sp>
        <p:nvSpPr>
          <p:cNvPr id="25" name="Line 15">
            <a:extLst>
              <a:ext uri="{FF2B5EF4-FFF2-40B4-BE49-F238E27FC236}">
                <a16:creationId xmlns:a16="http://schemas.microsoft.com/office/drawing/2014/main" id="{3059F8FB-1B23-466A-B7CD-C1034F90045D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8184057" y="2857500"/>
            <a:ext cx="0" cy="285750"/>
          </a:xfrm>
          <a:prstGeom prst="line">
            <a:avLst/>
          </a:prstGeom>
          <a:noFill/>
          <a:ln w="31750">
            <a:solidFill>
              <a:schemeClr val="tx1"/>
            </a:solidFill>
            <a:round/>
            <a:headEnd/>
            <a:tailEnd type="triangle" w="med" len="med"/>
          </a:ln>
        </p:spPr>
        <p:txBody>
          <a:bodyPr>
            <a:prstTxWarp prst="textNoShape">
              <a:avLst/>
            </a:prstTxWarp>
          </a:bodyPr>
          <a:lstStyle/>
          <a:p>
            <a:pPr>
              <a:buClrTx/>
              <a:defRPr/>
            </a:pPr>
            <a:endParaRPr lang="en-US" dirty="0">
              <a:solidFill>
                <a:prstClr val="black"/>
              </a:solidFill>
              <a:latin typeface="Calibri"/>
              <a:ea typeface="ＭＳ Ｐゴシック" charset="-128"/>
              <a:cs typeface="ＭＳ Ｐゴシック" charset="-128"/>
            </a:endParaRPr>
          </a:p>
        </p:txBody>
      </p:sp>
      <p:sp>
        <p:nvSpPr>
          <p:cNvPr id="26" name="Text Box 13">
            <a:extLst>
              <a:ext uri="{FF2B5EF4-FFF2-40B4-BE49-F238E27FC236}">
                <a16:creationId xmlns:a16="http://schemas.microsoft.com/office/drawing/2014/main" id="{F12A1417-BF54-45F7-82B8-0D9BD4385F5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026318" y="1048544"/>
            <a:ext cx="2292615" cy="461665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wrap="none">
            <a:prstTxWarp prst="textNoShape">
              <a:avLst/>
            </a:prstTxWarp>
            <a:spAutoFit/>
          </a:bodyPr>
          <a:lstStyle/>
          <a:p>
            <a:pPr algn="ctr">
              <a:buClrTx/>
              <a:defRPr/>
            </a:pPr>
            <a:r>
              <a:rPr lang="en-US" sz="2400" dirty="0">
                <a:solidFill>
                  <a:prstClr val="black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Kernel Memory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C2D19B8B-1793-4C3C-9BAE-8C5979E5BE1C}"/>
              </a:ext>
            </a:extLst>
          </p:cNvPr>
          <p:cNvSpPr txBox="1"/>
          <p:nvPr/>
        </p:nvSpPr>
        <p:spPr>
          <a:xfrm>
            <a:off x="5987632" y="4800780"/>
            <a:ext cx="6463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7030A0"/>
                </a:solidFill>
                <a:latin typeface="Inconsolata" panose="020B0609030003000000" pitchFamily="49" charset="0"/>
              </a:rPr>
              <a:t>%rip</a:t>
            </a:r>
            <a:endParaRPr lang="en-US" dirty="0"/>
          </a:p>
        </p:txBody>
      </p:sp>
      <p:cxnSp>
        <p:nvCxnSpPr>
          <p:cNvPr id="28" name="Straight Arrow Connector 27">
            <a:extLst>
              <a:ext uri="{FF2B5EF4-FFF2-40B4-BE49-F238E27FC236}">
                <a16:creationId xmlns:a16="http://schemas.microsoft.com/office/drawing/2014/main" id="{3C773979-4ABF-4344-8BE3-F392F65A6A8B}"/>
              </a:ext>
            </a:extLst>
          </p:cNvPr>
          <p:cNvCxnSpPr>
            <a:cxnSpLocks/>
          </p:cNvCxnSpPr>
          <p:nvPr/>
        </p:nvCxnSpPr>
        <p:spPr>
          <a:xfrm>
            <a:off x="6603482" y="5015926"/>
            <a:ext cx="216836" cy="0"/>
          </a:xfrm>
          <a:prstGeom prst="straightConnector1">
            <a:avLst/>
          </a:prstGeom>
          <a:ln w="38100">
            <a:solidFill>
              <a:srgbClr val="7030A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Rectangle 30">
            <a:extLst>
              <a:ext uri="{FF2B5EF4-FFF2-40B4-BE49-F238E27FC236}">
                <a16:creationId xmlns:a16="http://schemas.microsoft.com/office/drawing/2014/main" id="{FAD6861E-34E4-4E89-9702-F126781B74F7}"/>
              </a:ext>
            </a:extLst>
          </p:cNvPr>
          <p:cNvSpPr/>
          <p:nvPr/>
        </p:nvSpPr>
        <p:spPr>
          <a:xfrm>
            <a:off x="6930394" y="2235340"/>
            <a:ext cx="2438400" cy="362753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buClrTx/>
            </a:pPr>
            <a:endParaRPr lang="en-US" dirty="0">
              <a:solidFill>
                <a:prstClr val="white"/>
              </a:solidFill>
              <a:latin typeface="Calibri"/>
            </a:endParaRP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CF85014F-E283-43BE-AD3B-B9DE1ACB0BA6}"/>
              </a:ext>
            </a:extLst>
          </p:cNvPr>
          <p:cNvSpPr/>
          <p:nvPr/>
        </p:nvSpPr>
        <p:spPr>
          <a:xfrm>
            <a:off x="6930394" y="2591234"/>
            <a:ext cx="2438400" cy="362753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buClrTx/>
            </a:pPr>
            <a:endParaRPr lang="en-US" dirty="0">
              <a:solidFill>
                <a:prstClr val="white"/>
              </a:solidFill>
              <a:latin typeface="Calibri"/>
            </a:endParaRPr>
          </a:p>
        </p:txBody>
      </p:sp>
      <p:sp>
        <p:nvSpPr>
          <p:cNvPr id="33" name="Text Box 10">
            <a:extLst>
              <a:ext uri="{FF2B5EF4-FFF2-40B4-BE49-F238E27FC236}">
                <a16:creationId xmlns:a16="http://schemas.microsoft.com/office/drawing/2014/main" id="{965B6CAE-096B-4EE6-9C71-F03B737D3D9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471662" y="2607617"/>
            <a:ext cx="1332416" cy="369332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wrap="none">
            <a:prstTxWarp prst="textNoShape">
              <a:avLst/>
            </a:prstTxWarp>
            <a:spAutoFit/>
          </a:bodyPr>
          <a:lstStyle/>
          <a:p>
            <a:pPr algn="ctr">
              <a:buClrTx/>
              <a:defRPr/>
            </a:pPr>
            <a:r>
              <a:rPr lang="en-US" dirty="0">
                <a:solidFill>
                  <a:prstClr val="black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libz.so .text</a:t>
            </a:r>
          </a:p>
        </p:txBody>
      </p:sp>
      <p:sp>
        <p:nvSpPr>
          <p:cNvPr id="34" name="Text Box 11">
            <a:extLst>
              <a:ext uri="{FF2B5EF4-FFF2-40B4-BE49-F238E27FC236}">
                <a16:creationId xmlns:a16="http://schemas.microsoft.com/office/drawing/2014/main" id="{CE5F1DC9-7C5C-42A9-9906-0815B282507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463348" y="2208438"/>
            <a:ext cx="1372492" cy="369332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wrap="none">
            <a:prstTxWarp prst="textNoShape">
              <a:avLst/>
            </a:prstTxWarp>
            <a:spAutoFit/>
          </a:bodyPr>
          <a:lstStyle/>
          <a:p>
            <a:pPr algn="ctr">
              <a:buClrTx/>
              <a:defRPr/>
            </a:pPr>
            <a:r>
              <a:rPr lang="en-US" dirty="0">
                <a:solidFill>
                  <a:prstClr val="black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libz.so .data</a:t>
            </a:r>
          </a:p>
        </p:txBody>
      </p:sp>
      <p:pic>
        <p:nvPicPr>
          <p:cNvPr id="11" name="Picture 10" descr="A close up of a device&#10;&#10;Description automatically generated">
            <a:extLst>
              <a:ext uri="{FF2B5EF4-FFF2-40B4-BE49-F238E27FC236}">
                <a16:creationId xmlns:a16="http://schemas.microsoft.com/office/drawing/2014/main" id="{57FA0AEE-A57F-44D2-AE46-FDCDCF8C8A5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2432145">
            <a:off x="6628843" y="4890378"/>
            <a:ext cx="1036322" cy="335281"/>
          </a:xfrm>
          <a:prstGeom prst="rect">
            <a:avLst/>
          </a:prstGeom>
        </p:spPr>
      </p:pic>
      <p:pic>
        <p:nvPicPr>
          <p:cNvPr id="35" name="Picture 34" descr="A close up of a device&#10;&#10;Description automatically generated">
            <a:extLst>
              <a:ext uri="{FF2B5EF4-FFF2-40B4-BE49-F238E27FC236}">
                <a16:creationId xmlns:a16="http://schemas.microsoft.com/office/drawing/2014/main" id="{3E999F99-973A-44A3-BB20-6AD6E3495D5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0428212">
            <a:off x="8285916" y="4913139"/>
            <a:ext cx="1036322" cy="335281"/>
          </a:xfrm>
          <a:prstGeom prst="rect">
            <a:avLst/>
          </a:prstGeom>
        </p:spPr>
      </p:pic>
      <p:pic>
        <p:nvPicPr>
          <p:cNvPr id="36" name="Picture 35" descr="A close up of a device&#10;&#10;Description automatically generated">
            <a:extLst>
              <a:ext uri="{FF2B5EF4-FFF2-40B4-BE49-F238E27FC236}">
                <a16:creationId xmlns:a16="http://schemas.microsoft.com/office/drawing/2014/main" id="{37FCDB33-0A34-4424-A6E8-5CE3E50DCE8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1385000">
            <a:off x="7009542" y="4623102"/>
            <a:ext cx="1036322" cy="3352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4244144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7" fill="hold">
                      <p:stCondLst>
                        <p:cond delay="indefinite"/>
                      </p:stCondLst>
                      <p:childTnLst>
                        <p:par>
                          <p:cTn id="78" fill="hold">
                            <p:stCondLst>
                              <p:cond delay="0"/>
                            </p:stCondLst>
                            <p:childTnLst>
                              <p:par>
                                <p:cTn id="7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1" fill="hold">
                      <p:stCondLst>
                        <p:cond delay="indefinite"/>
                      </p:stCondLst>
                      <p:childTnLst>
                        <p:par>
                          <p:cTn id="82" fill="hold">
                            <p:stCondLst>
                              <p:cond delay="0"/>
                            </p:stCondLst>
                            <p:childTnLst>
                              <p:par>
                                <p:cTn id="8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5" fill="hold">
                      <p:stCondLst>
                        <p:cond delay="indefinite"/>
                      </p:stCondLst>
                      <p:childTnLst>
                        <p:par>
                          <p:cTn id="86" fill="hold">
                            <p:stCondLst>
                              <p:cond delay="0"/>
                            </p:stCondLst>
                            <p:childTnLst>
                              <p:par>
                                <p:cTn id="8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1" fill="hold">
                      <p:stCondLst>
                        <p:cond delay="indefinite"/>
                      </p:stCondLst>
                      <p:childTnLst>
                        <p:par>
                          <p:cTn id="92" fill="hold">
                            <p:stCondLst>
                              <p:cond delay="0"/>
                            </p:stCondLst>
                            <p:childTnLst>
                              <p:par>
                                <p:cTn id="9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7" fill="hold">
                      <p:stCondLst>
                        <p:cond delay="indefinite"/>
                      </p:stCondLst>
                      <p:childTnLst>
                        <p:par>
                          <p:cTn id="98" fill="hold">
                            <p:stCondLst>
                              <p:cond delay="0"/>
                            </p:stCondLst>
                            <p:childTnLst>
                              <p:par>
                                <p:cTn id="9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  <p:bldP spid="8" grpId="0" animBg="1"/>
      <p:bldP spid="9" grpId="0" animBg="1"/>
      <p:bldP spid="10" grpId="0" animBg="1"/>
      <p:bldP spid="12" grpId="0" animBg="1"/>
      <p:bldP spid="14" grpId="0" animBg="1"/>
      <p:bldP spid="15" grpId="0" animBg="1"/>
      <p:bldP spid="16" grpId="0" animBg="1"/>
      <p:bldP spid="17" grpId="0"/>
      <p:bldP spid="18" grpId="0"/>
      <p:bldP spid="19" grpId="0"/>
      <p:bldP spid="20" grpId="0"/>
      <p:bldP spid="21" grpId="0" animBg="1"/>
      <p:bldP spid="24" grpId="0" animBg="1"/>
      <p:bldP spid="25" grpId="0" animBg="1"/>
      <p:bldP spid="27" grpId="0"/>
      <p:bldP spid="31" grpId="0" animBg="1"/>
      <p:bldP spid="32" grpId="0" animBg="1"/>
      <p:bldP spid="33" grpId="0"/>
      <p:bldP spid="34" grpId="0"/>
    </p:bld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2533F2-D207-4061-ABF6-789C79320E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Being lazy – Run-time loading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6E568C3-9C85-4136-ADF6-87E756BFF34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45122" y="975360"/>
            <a:ext cx="4552939" cy="4739640"/>
          </a:xfrm>
        </p:spPr>
        <p:txBody>
          <a:bodyPr>
            <a:normAutofit lnSpcReduction="10000"/>
          </a:bodyPr>
          <a:lstStyle/>
          <a:p>
            <a:r>
              <a:rPr lang="en-US" dirty="0"/>
              <a:t>Having the OS load every library at the start can delay the execution of a program.</a:t>
            </a:r>
          </a:p>
          <a:p>
            <a:pPr lvl="1"/>
            <a:r>
              <a:rPr lang="en-US" dirty="0"/>
              <a:t>What if your program rarely uses a library?</a:t>
            </a:r>
          </a:p>
          <a:p>
            <a:pPr lvl="1"/>
            <a:r>
              <a:rPr lang="en-US" dirty="0"/>
              <a:t>What if you want to expand the program while it is running?</a:t>
            </a:r>
          </a:p>
          <a:p>
            <a:pPr lvl="2"/>
            <a:r>
              <a:rPr lang="en-US" dirty="0"/>
              <a:t>Plugins are a good example.</a:t>
            </a:r>
          </a:p>
          <a:p>
            <a:pPr lvl="2"/>
            <a:endParaRPr lang="en-US" dirty="0"/>
          </a:p>
          <a:p>
            <a:r>
              <a:rPr lang="en-US" dirty="0"/>
              <a:t>We can make use of an OS service to dynamically load libraries.</a:t>
            </a:r>
          </a:p>
          <a:p>
            <a:pPr lvl="1"/>
            <a:r>
              <a:rPr lang="en-US" dirty="0"/>
              <a:t>On Linux we have the</a:t>
            </a:r>
            <a:r>
              <a:rPr lang="en-US" dirty="0">
                <a:latin typeface="Inconsolata" panose="020B0609030003000000" pitchFamily="49" charset="0"/>
              </a:rPr>
              <a:t> </a:t>
            </a:r>
            <a:r>
              <a:rPr lang="en-US" dirty="0" err="1">
                <a:latin typeface="Inconsolata" panose="020B0609030003000000" pitchFamily="49" charset="0"/>
              </a:rPr>
              <a:t>dlopen</a:t>
            </a:r>
            <a:r>
              <a:rPr lang="en-US" dirty="0">
                <a:latin typeface="Inconsolata" panose="020B0609030003000000" pitchFamily="49" charset="0"/>
              </a:rPr>
              <a:t> </a:t>
            </a:r>
            <a:r>
              <a:rPr lang="en-US" dirty="0"/>
              <a:t>and</a:t>
            </a:r>
            <a:r>
              <a:rPr lang="en-US" dirty="0">
                <a:latin typeface="Inconsolata" panose="020B0609030003000000" pitchFamily="49" charset="0"/>
              </a:rPr>
              <a:t> </a:t>
            </a:r>
            <a:r>
              <a:rPr lang="en-US" dirty="0" err="1">
                <a:latin typeface="Inconsolata" panose="020B0609030003000000" pitchFamily="49" charset="0"/>
              </a:rPr>
              <a:t>dlsym</a:t>
            </a:r>
            <a:r>
              <a:rPr lang="en-US" dirty="0">
                <a:latin typeface="Inconsolata" panose="020B0609030003000000" pitchFamily="49" charset="0"/>
              </a:rPr>
              <a:t> </a:t>
            </a:r>
            <a:r>
              <a:rPr lang="en-US" dirty="0"/>
              <a:t>system functions.</a:t>
            </a:r>
          </a:p>
          <a:p>
            <a:pPr lvl="1"/>
            <a:r>
              <a:rPr lang="en-US" dirty="0"/>
              <a:t>Look at the documentation online and refer to examples.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03B974D-C27D-47B3-A649-60F5D6D3A0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AAD609-F83C-4414-814B-B5A2DF99692C}" type="slidenum">
              <a:rPr lang="en-US" smtClean="0"/>
              <a:pPr/>
              <a:t>37</a:t>
            </a:fld>
            <a:endParaRPr lang="en-US" dirty="0"/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49424A63-08BC-455A-8C07-2601F5439BC5}"/>
              </a:ext>
            </a:extLst>
          </p:cNvPr>
          <p:cNvSpPr txBox="1">
            <a:spLocks/>
          </p:cNvSpPr>
          <p:nvPr/>
        </p:nvSpPr>
        <p:spPr>
          <a:xfrm>
            <a:off x="4691381" y="1040170"/>
            <a:ext cx="4826795" cy="4674831"/>
          </a:xfrm>
          <a:prstGeom prst="rect">
            <a:avLst/>
          </a:prstGeom>
        </p:spPr>
        <p:txBody>
          <a:bodyPr vert="horz" lIns="91440" tIns="45720" rIns="91440" bIns="45720" rtlCol="0">
            <a:normAutofit fontScale="77500" lnSpcReduction="20000"/>
          </a:bodyPr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Clr>
                <a:schemeClr val="accent1">
                  <a:lumMod val="75000"/>
                </a:schemeClr>
              </a:buClr>
              <a:buFont typeface="Arial" panose="020B0604020202020204" pitchFamily="34" charset="0"/>
              <a:buChar char="•"/>
              <a:defRPr sz="2100" kern="1200">
                <a:solidFill>
                  <a:schemeClr val="tx1"/>
                </a:solidFill>
                <a:latin typeface="Lato Semibold" panose="020F0502020204030203" pitchFamily="34" charset="0"/>
                <a:ea typeface="Lato Semibold" panose="020F0502020204030203" pitchFamily="34" charset="0"/>
                <a:cs typeface="Lato Semibold" panose="020F0502020204030203" pitchFamily="34" charset="0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Clr>
                <a:schemeClr val="accent1">
                  <a:lumMod val="75000"/>
                </a:schemeClr>
              </a:buClr>
              <a:buFont typeface="Wingdings" panose="05000000000000000000" pitchFamily="2" charset="2"/>
              <a:buChar char="§"/>
              <a:defRPr sz="1800" kern="1200">
                <a:solidFill>
                  <a:schemeClr val="tx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Clr>
                <a:srgbClr val="FF0000"/>
              </a:buClr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Lato Light" panose="020F0502020204030203" pitchFamily="34" charset="0"/>
                <a:ea typeface="Lato Light" panose="020F0502020204030203" pitchFamily="34" charset="0"/>
                <a:cs typeface="Lato Light" panose="020F0502020204030203" pitchFamily="34" charset="0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Lato Light" panose="020F0502020204030203" pitchFamily="34" charset="0"/>
                <a:ea typeface="Lato Light" panose="020F0502020204030203" pitchFamily="34" charset="0"/>
                <a:cs typeface="Lato Light" panose="020F0502020204030203" pitchFamily="34" charset="0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1600" dirty="0">
                <a:solidFill>
                  <a:srgbClr val="7030A0"/>
                </a:solidFill>
                <a:latin typeface="Inconsolata" panose="020B0609030003000000" pitchFamily="49" charset="0"/>
              </a:rPr>
              <a:t>#include</a:t>
            </a:r>
            <a:r>
              <a:rPr lang="en-US" sz="1600" dirty="0">
                <a:solidFill>
                  <a:schemeClr val="accent2">
                    <a:lumMod val="75000"/>
                  </a:schemeClr>
                </a:solidFill>
                <a:latin typeface="Inconsolata" panose="020B0609030003000000" pitchFamily="49" charset="0"/>
              </a:rPr>
              <a:t> &lt;</a:t>
            </a:r>
            <a:r>
              <a:rPr lang="en-US" sz="1600" dirty="0" err="1">
                <a:solidFill>
                  <a:schemeClr val="accent2">
                    <a:lumMod val="75000"/>
                  </a:schemeClr>
                </a:solidFill>
                <a:latin typeface="Inconsolata" panose="020B0609030003000000" pitchFamily="49" charset="0"/>
              </a:rPr>
              <a:t>zlib.h</a:t>
            </a:r>
            <a:r>
              <a:rPr lang="en-US" sz="1600" dirty="0">
                <a:solidFill>
                  <a:schemeClr val="accent2">
                    <a:lumMod val="75000"/>
                  </a:schemeClr>
                </a:solidFill>
                <a:latin typeface="Inconsolata" panose="020B0609030003000000" pitchFamily="49" charset="0"/>
              </a:rPr>
              <a:t>&gt; </a:t>
            </a:r>
            <a:r>
              <a:rPr lang="en-US" sz="1600" dirty="0">
                <a:solidFill>
                  <a:schemeClr val="accent6">
                    <a:lumMod val="50000"/>
                  </a:schemeClr>
                </a:solidFill>
                <a:latin typeface="Inconsolata" panose="020B0609030003000000" pitchFamily="49" charset="0"/>
              </a:rPr>
              <a:t> // provides </a:t>
            </a:r>
            <a:r>
              <a:rPr lang="en-US" sz="1600" dirty="0" err="1">
                <a:solidFill>
                  <a:schemeClr val="accent6">
                    <a:lumMod val="50000"/>
                  </a:schemeClr>
                </a:solidFill>
                <a:latin typeface="Inconsolata" panose="020B0609030003000000" pitchFamily="49" charset="0"/>
              </a:rPr>
              <a:t>compressBound</a:t>
            </a:r>
            <a:endParaRPr lang="en-US" sz="1600" dirty="0">
              <a:solidFill>
                <a:schemeClr val="accent6">
                  <a:lumMod val="50000"/>
                </a:schemeClr>
              </a:solidFill>
              <a:latin typeface="Inconsolata" panose="020B0609030003000000" pitchFamily="49" charset="0"/>
            </a:endParaRP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1600" dirty="0">
                <a:solidFill>
                  <a:srgbClr val="7030A0"/>
                </a:solidFill>
                <a:latin typeface="Inconsolata" panose="020B0609030003000000" pitchFamily="49" charset="0"/>
              </a:rPr>
              <a:t>#include </a:t>
            </a:r>
            <a:r>
              <a:rPr lang="en-US" sz="1600" dirty="0">
                <a:solidFill>
                  <a:schemeClr val="accent2">
                    <a:lumMod val="75000"/>
                  </a:schemeClr>
                </a:solidFill>
                <a:latin typeface="Inconsolata" panose="020B0609030003000000" pitchFamily="49" charset="0"/>
              </a:rPr>
              <a:t>&lt;</a:t>
            </a:r>
            <a:r>
              <a:rPr lang="en-US" sz="1600" dirty="0" err="1">
                <a:solidFill>
                  <a:schemeClr val="accent2">
                    <a:lumMod val="75000"/>
                  </a:schemeClr>
                </a:solidFill>
                <a:latin typeface="Inconsolata" panose="020B0609030003000000" pitchFamily="49" charset="0"/>
              </a:rPr>
              <a:t>dlfcn.h</a:t>
            </a:r>
            <a:r>
              <a:rPr lang="en-US" sz="1600" dirty="0">
                <a:solidFill>
                  <a:schemeClr val="accent2">
                    <a:lumMod val="75000"/>
                  </a:schemeClr>
                </a:solidFill>
                <a:latin typeface="Inconsolata" panose="020B0609030003000000" pitchFamily="49" charset="0"/>
              </a:rPr>
              <a:t>&gt;</a:t>
            </a:r>
            <a:r>
              <a:rPr lang="en-US" sz="1600" dirty="0">
                <a:solidFill>
                  <a:schemeClr val="accent6">
                    <a:lumMod val="50000"/>
                  </a:schemeClr>
                </a:solidFill>
                <a:latin typeface="Inconsolata" panose="020B0609030003000000" pitchFamily="49" charset="0"/>
              </a:rPr>
              <a:t> // provides </a:t>
            </a:r>
            <a:r>
              <a:rPr lang="en-US" sz="1600" dirty="0" err="1">
                <a:solidFill>
                  <a:schemeClr val="accent6">
                    <a:lumMod val="50000"/>
                  </a:schemeClr>
                </a:solidFill>
                <a:latin typeface="Inconsolata" panose="020B0609030003000000" pitchFamily="49" charset="0"/>
              </a:rPr>
              <a:t>dlopen</a:t>
            </a:r>
            <a:r>
              <a:rPr lang="en-US" sz="1600" dirty="0">
                <a:solidFill>
                  <a:schemeClr val="accent6">
                    <a:lumMod val="50000"/>
                  </a:schemeClr>
                </a:solidFill>
                <a:latin typeface="Inconsolata" panose="020B0609030003000000" pitchFamily="49" charset="0"/>
              </a:rPr>
              <a:t>, </a:t>
            </a:r>
            <a:r>
              <a:rPr lang="en-US" sz="1600" dirty="0" err="1">
                <a:solidFill>
                  <a:schemeClr val="accent6">
                    <a:lumMod val="50000"/>
                  </a:schemeClr>
                </a:solidFill>
                <a:latin typeface="Inconsolata" panose="020B0609030003000000" pitchFamily="49" charset="0"/>
              </a:rPr>
              <a:t>etc</a:t>
            </a:r>
            <a:endParaRPr lang="en-US" sz="1600" dirty="0">
              <a:solidFill>
                <a:schemeClr val="accent6">
                  <a:lumMod val="50000"/>
                </a:schemeClr>
              </a:solidFill>
              <a:latin typeface="Inconsolata" panose="020B0609030003000000" pitchFamily="49" charset="0"/>
            </a:endParaRP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1600" dirty="0">
                <a:solidFill>
                  <a:srgbClr val="7030A0"/>
                </a:solidFill>
                <a:latin typeface="Inconsolata" panose="020B0609030003000000" pitchFamily="49" charset="0"/>
              </a:rPr>
              <a:t>#include </a:t>
            </a:r>
            <a:r>
              <a:rPr lang="en-US" sz="1600" dirty="0">
                <a:solidFill>
                  <a:schemeClr val="accent2">
                    <a:lumMod val="75000"/>
                  </a:schemeClr>
                </a:solidFill>
                <a:latin typeface="Inconsolata" panose="020B0609030003000000" pitchFamily="49" charset="0"/>
              </a:rPr>
              <a:t>&lt;</a:t>
            </a:r>
            <a:r>
              <a:rPr lang="en-US" sz="1600" dirty="0" err="1">
                <a:solidFill>
                  <a:schemeClr val="accent2">
                    <a:lumMod val="75000"/>
                  </a:schemeClr>
                </a:solidFill>
                <a:latin typeface="Inconsolata" panose="020B0609030003000000" pitchFamily="49" charset="0"/>
              </a:rPr>
              <a:t>stdio.h</a:t>
            </a:r>
            <a:r>
              <a:rPr lang="en-US" sz="1600" dirty="0">
                <a:solidFill>
                  <a:schemeClr val="accent2">
                    <a:lumMod val="75000"/>
                  </a:schemeClr>
                </a:solidFill>
                <a:latin typeface="Inconsolata" panose="020B0609030003000000" pitchFamily="49" charset="0"/>
              </a:rPr>
              <a:t>&gt;</a:t>
            </a:r>
            <a:r>
              <a:rPr lang="en-US" sz="1600" dirty="0">
                <a:solidFill>
                  <a:schemeClr val="accent6">
                    <a:lumMod val="50000"/>
                  </a:schemeClr>
                </a:solidFill>
                <a:latin typeface="Inconsolata" panose="020B0609030003000000" pitchFamily="49" charset="0"/>
              </a:rPr>
              <a:t> // provides </a:t>
            </a:r>
            <a:r>
              <a:rPr lang="en-US" sz="1600" dirty="0" err="1">
                <a:solidFill>
                  <a:schemeClr val="accent6">
                    <a:lumMod val="50000"/>
                  </a:schemeClr>
                </a:solidFill>
                <a:latin typeface="Inconsolata" panose="020B0609030003000000" pitchFamily="49" charset="0"/>
              </a:rPr>
              <a:t>fprintf</a:t>
            </a:r>
            <a:r>
              <a:rPr lang="en-US" sz="1600" dirty="0">
                <a:solidFill>
                  <a:schemeClr val="accent6">
                    <a:lumMod val="50000"/>
                  </a:schemeClr>
                </a:solidFill>
                <a:latin typeface="Inconsolata" panose="020B0609030003000000" pitchFamily="49" charset="0"/>
              </a:rPr>
              <a:t> and stderr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endParaRPr lang="en-US" sz="1600" dirty="0">
              <a:solidFill>
                <a:schemeClr val="accent6">
                  <a:lumMod val="50000"/>
                </a:schemeClr>
              </a:solidFill>
              <a:latin typeface="Inconsolata" panose="020B0609030003000000" pitchFamily="49" charset="0"/>
            </a:endParaRP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1600" dirty="0">
                <a:solidFill>
                  <a:schemeClr val="accent6">
                    <a:lumMod val="50000"/>
                  </a:schemeClr>
                </a:solidFill>
                <a:latin typeface="Inconsolata" panose="020B0609030003000000" pitchFamily="49" charset="0"/>
              </a:rPr>
              <a:t>// Declares a pointer to a function that</a:t>
            </a:r>
            <a:br>
              <a:rPr lang="en-US" sz="1600" dirty="0">
                <a:solidFill>
                  <a:schemeClr val="accent6">
                    <a:lumMod val="50000"/>
                  </a:schemeClr>
                </a:solidFill>
                <a:latin typeface="Inconsolata" panose="020B0609030003000000" pitchFamily="49" charset="0"/>
              </a:rPr>
            </a:br>
            <a:r>
              <a:rPr lang="en-US" sz="1600" dirty="0">
                <a:solidFill>
                  <a:schemeClr val="accent6">
                    <a:lumMod val="50000"/>
                  </a:schemeClr>
                </a:solidFill>
                <a:latin typeface="Inconsolata" panose="020B0609030003000000" pitchFamily="49" charset="0"/>
              </a:rPr>
              <a:t>// returns an int and takes an int as an argument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1600" dirty="0">
                <a:solidFill>
                  <a:schemeClr val="accent1">
                    <a:lumMod val="75000"/>
                  </a:schemeClr>
                </a:solidFill>
                <a:latin typeface="Inconsolata" panose="020B0609030003000000" pitchFamily="49" charset="0"/>
              </a:rPr>
              <a:t>static int </a:t>
            </a:r>
            <a:r>
              <a:rPr lang="en-US" sz="1600" dirty="0">
                <a:latin typeface="Inconsolata" panose="020B0609030003000000" pitchFamily="49" charset="0"/>
              </a:rPr>
              <a:t>(*</a:t>
            </a:r>
            <a:r>
              <a:rPr lang="en-US" sz="1600" dirty="0" err="1">
                <a:latin typeface="Inconsolata" panose="020B0609030003000000" pitchFamily="49" charset="0"/>
              </a:rPr>
              <a:t>compressBound</a:t>
            </a:r>
            <a:r>
              <a:rPr lang="en-US" sz="1600" dirty="0">
                <a:latin typeface="Inconsolata" panose="020B0609030003000000" pitchFamily="49" charset="0"/>
              </a:rPr>
              <a:t>)(</a:t>
            </a:r>
            <a:r>
              <a:rPr lang="en-US" sz="1600" dirty="0">
                <a:solidFill>
                  <a:schemeClr val="accent1">
                    <a:lumMod val="75000"/>
                  </a:schemeClr>
                </a:solidFill>
                <a:latin typeface="Inconsolata" panose="020B0609030003000000" pitchFamily="49" charset="0"/>
              </a:rPr>
              <a:t>int</a:t>
            </a:r>
            <a:r>
              <a:rPr lang="en-US" sz="1600" dirty="0">
                <a:latin typeface="Inconsolata" panose="020B0609030003000000" pitchFamily="49" charset="0"/>
              </a:rPr>
              <a:t>);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endParaRPr lang="en-US" sz="1600" dirty="0">
              <a:solidFill>
                <a:schemeClr val="accent1">
                  <a:lumMod val="75000"/>
                </a:schemeClr>
              </a:solidFill>
              <a:latin typeface="Inconsolata" panose="020B0609030003000000" pitchFamily="49" charset="0"/>
            </a:endParaRP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1600" dirty="0">
                <a:solidFill>
                  <a:schemeClr val="accent1">
                    <a:lumMod val="75000"/>
                  </a:schemeClr>
                </a:solidFill>
                <a:latin typeface="Inconsolata" panose="020B0609030003000000" pitchFamily="49" charset="0"/>
              </a:rPr>
              <a:t>int </a:t>
            </a:r>
            <a:r>
              <a:rPr lang="en-US" sz="1600" dirty="0">
                <a:latin typeface="Inconsolata" panose="020B0609030003000000" pitchFamily="49" charset="0"/>
              </a:rPr>
              <a:t>main(</a:t>
            </a:r>
            <a:r>
              <a:rPr lang="en-US" sz="1600" dirty="0">
                <a:solidFill>
                  <a:schemeClr val="accent1">
                    <a:lumMod val="75000"/>
                  </a:schemeClr>
                </a:solidFill>
                <a:latin typeface="Inconsolata" panose="020B0609030003000000" pitchFamily="49" charset="0"/>
              </a:rPr>
              <a:t>void</a:t>
            </a:r>
            <a:r>
              <a:rPr lang="en-US" sz="1600" dirty="0">
                <a:latin typeface="Inconsolata" panose="020B0609030003000000" pitchFamily="49" charset="0"/>
              </a:rPr>
              <a:t>) {char* error = NULL;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1600" dirty="0">
                <a:latin typeface="Inconsolata" panose="020B0609030003000000" pitchFamily="49" charset="0"/>
              </a:rPr>
              <a:t>  </a:t>
            </a:r>
            <a:r>
              <a:rPr lang="en-US" sz="1600" dirty="0">
                <a:solidFill>
                  <a:schemeClr val="accent1">
                    <a:lumMod val="75000"/>
                  </a:schemeClr>
                </a:solidFill>
                <a:latin typeface="Inconsolata" panose="020B0609030003000000" pitchFamily="49" charset="0"/>
              </a:rPr>
              <a:t>void</a:t>
            </a:r>
            <a:r>
              <a:rPr lang="en-US" sz="1600" dirty="0">
                <a:latin typeface="Inconsolata" panose="020B0609030003000000" pitchFamily="49" charset="0"/>
              </a:rPr>
              <a:t>* handle = </a:t>
            </a:r>
            <a:r>
              <a:rPr lang="en-US" sz="1600" dirty="0" err="1">
                <a:latin typeface="Inconsolata" panose="020B0609030003000000" pitchFamily="49" charset="0"/>
              </a:rPr>
              <a:t>dlopen</a:t>
            </a:r>
            <a:r>
              <a:rPr lang="en-US" sz="1600" dirty="0">
                <a:latin typeface="Inconsolata" panose="020B0609030003000000" pitchFamily="49" charset="0"/>
              </a:rPr>
              <a:t>(</a:t>
            </a:r>
            <a:r>
              <a:rPr lang="en-US" sz="1600" dirty="0">
                <a:solidFill>
                  <a:schemeClr val="accent2">
                    <a:lumMod val="75000"/>
                  </a:schemeClr>
                </a:solidFill>
                <a:latin typeface="Inconsolata" panose="020B0609030003000000" pitchFamily="49" charset="0"/>
              </a:rPr>
              <a:t>"libz.so"</a:t>
            </a:r>
            <a:r>
              <a:rPr lang="en-US" sz="1600" dirty="0">
                <a:latin typeface="Inconsolata" panose="020B0609030003000000" pitchFamily="49" charset="0"/>
              </a:rPr>
              <a:t>, RTLD_LAZY);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1600" dirty="0">
                <a:latin typeface="Inconsolata" panose="020B0609030003000000" pitchFamily="49" charset="0"/>
              </a:rPr>
              <a:t>  if (!handle) {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1600" dirty="0">
                <a:latin typeface="Inconsolata" panose="020B0609030003000000" pitchFamily="49" charset="0"/>
              </a:rPr>
              <a:t>    </a:t>
            </a:r>
            <a:r>
              <a:rPr lang="en-US" sz="1600" dirty="0" err="1">
                <a:latin typeface="Inconsolata" panose="020B0609030003000000" pitchFamily="49" charset="0"/>
              </a:rPr>
              <a:t>fprintf</a:t>
            </a:r>
            <a:r>
              <a:rPr lang="en-US" sz="1600" dirty="0">
                <a:latin typeface="Inconsolata" panose="020B0609030003000000" pitchFamily="49" charset="0"/>
              </a:rPr>
              <a:t>(stderr, </a:t>
            </a:r>
            <a:r>
              <a:rPr lang="en-US" sz="1600" dirty="0">
                <a:solidFill>
                  <a:schemeClr val="accent2">
                    <a:lumMod val="75000"/>
                  </a:schemeClr>
                </a:solidFill>
                <a:latin typeface="Inconsolata" panose="020B0609030003000000" pitchFamily="49" charset="0"/>
              </a:rPr>
              <a:t>"%s\n"</a:t>
            </a:r>
            <a:r>
              <a:rPr lang="en-US" sz="1600" dirty="0">
                <a:latin typeface="Inconsolata" panose="020B0609030003000000" pitchFamily="49" charset="0"/>
              </a:rPr>
              <a:t>, </a:t>
            </a:r>
            <a:r>
              <a:rPr lang="en-US" sz="1600" dirty="0" err="1">
                <a:latin typeface="Inconsolata" panose="020B0609030003000000" pitchFamily="49" charset="0"/>
              </a:rPr>
              <a:t>dlerror</a:t>
            </a:r>
            <a:r>
              <a:rPr lang="en-US" sz="1600" dirty="0">
                <a:latin typeface="Inconsolata" panose="020B0609030003000000" pitchFamily="49" charset="0"/>
              </a:rPr>
              <a:t>());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1600" dirty="0">
                <a:latin typeface="Inconsolata" panose="020B0609030003000000" pitchFamily="49" charset="0"/>
              </a:rPr>
              <a:t>    </a:t>
            </a:r>
            <a:r>
              <a:rPr lang="en-US" sz="1600" dirty="0">
                <a:solidFill>
                  <a:schemeClr val="accent1">
                    <a:lumMod val="75000"/>
                  </a:schemeClr>
                </a:solidFill>
                <a:latin typeface="Inconsolata" panose="020B0609030003000000" pitchFamily="49" charset="0"/>
              </a:rPr>
              <a:t>return</a:t>
            </a:r>
            <a:r>
              <a:rPr lang="en-US" sz="1600" dirty="0">
                <a:latin typeface="Inconsolata" panose="020B0609030003000000" pitchFamily="49" charset="0"/>
              </a:rPr>
              <a:t> 1;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1600" dirty="0">
                <a:latin typeface="Inconsolata" panose="020B0609030003000000" pitchFamily="49" charset="0"/>
              </a:rPr>
              <a:t>  }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endParaRPr lang="en-US" sz="1600" dirty="0">
              <a:latin typeface="Inconsolata" panose="020B0609030003000000" pitchFamily="49" charset="0"/>
            </a:endParaRP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1600" dirty="0">
                <a:latin typeface="Inconsolata" panose="020B0609030003000000" pitchFamily="49" charset="0"/>
              </a:rPr>
              <a:t>  </a:t>
            </a:r>
            <a:r>
              <a:rPr lang="en-US" sz="1600" dirty="0" err="1">
                <a:latin typeface="Inconsolata" panose="020B0609030003000000" pitchFamily="49" charset="0"/>
              </a:rPr>
              <a:t>lazyCompressBound</a:t>
            </a:r>
            <a:r>
              <a:rPr lang="en-US" sz="1600" dirty="0">
                <a:latin typeface="Inconsolata" panose="020B0609030003000000" pitchFamily="49" charset="0"/>
              </a:rPr>
              <a:t> = </a:t>
            </a:r>
            <a:r>
              <a:rPr lang="en-US" sz="1600" dirty="0" err="1">
                <a:latin typeface="Inconsolata" panose="020B0609030003000000" pitchFamily="49" charset="0"/>
              </a:rPr>
              <a:t>dlsym</a:t>
            </a:r>
            <a:r>
              <a:rPr lang="en-US" sz="1600" dirty="0">
                <a:latin typeface="Inconsolata" panose="020B0609030003000000" pitchFamily="49" charset="0"/>
              </a:rPr>
              <a:t>(handle, </a:t>
            </a:r>
            <a:r>
              <a:rPr lang="en-US" sz="1600" dirty="0">
                <a:solidFill>
                  <a:schemeClr val="accent2">
                    <a:lumMod val="75000"/>
                  </a:schemeClr>
                </a:solidFill>
                <a:latin typeface="Inconsolata" panose="020B0609030003000000" pitchFamily="49" charset="0"/>
              </a:rPr>
              <a:t>"</a:t>
            </a:r>
            <a:r>
              <a:rPr lang="en-US" sz="1600" dirty="0" err="1">
                <a:solidFill>
                  <a:schemeClr val="accent2">
                    <a:lumMod val="75000"/>
                  </a:schemeClr>
                </a:solidFill>
                <a:latin typeface="Inconsolata" panose="020B0609030003000000" pitchFamily="49" charset="0"/>
              </a:rPr>
              <a:t>compressBound</a:t>
            </a:r>
            <a:r>
              <a:rPr lang="en-US" sz="1600" dirty="0">
                <a:solidFill>
                  <a:schemeClr val="accent2">
                    <a:lumMod val="75000"/>
                  </a:schemeClr>
                </a:solidFill>
                <a:latin typeface="Inconsolata" panose="020B0609030003000000" pitchFamily="49" charset="0"/>
              </a:rPr>
              <a:t>"</a:t>
            </a:r>
            <a:r>
              <a:rPr lang="en-US" sz="1600" dirty="0">
                <a:latin typeface="Inconsolata" panose="020B0609030003000000" pitchFamily="49" charset="0"/>
              </a:rPr>
              <a:t>);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1600" dirty="0">
                <a:latin typeface="Inconsolata" panose="020B0609030003000000" pitchFamily="49" charset="0"/>
              </a:rPr>
              <a:t>  error = </a:t>
            </a:r>
            <a:r>
              <a:rPr lang="en-US" sz="1600" dirty="0" err="1">
                <a:latin typeface="Inconsolata" panose="020B0609030003000000" pitchFamily="49" charset="0"/>
              </a:rPr>
              <a:t>dlerror</a:t>
            </a:r>
            <a:r>
              <a:rPr lang="en-US" sz="1600" dirty="0">
                <a:latin typeface="Inconsolata" panose="020B0609030003000000" pitchFamily="49" charset="0"/>
              </a:rPr>
              <a:t>();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1600" dirty="0">
                <a:latin typeface="Inconsolata" panose="020B0609030003000000" pitchFamily="49" charset="0"/>
              </a:rPr>
              <a:t>  </a:t>
            </a:r>
            <a:r>
              <a:rPr lang="en-US" sz="1600" dirty="0">
                <a:solidFill>
                  <a:schemeClr val="accent1">
                    <a:lumMod val="75000"/>
                  </a:schemeClr>
                </a:solidFill>
                <a:latin typeface="Inconsolata" panose="020B0609030003000000" pitchFamily="49" charset="0"/>
              </a:rPr>
              <a:t>if</a:t>
            </a:r>
            <a:r>
              <a:rPr lang="en-US" sz="1600" dirty="0">
                <a:latin typeface="Inconsolata" panose="020B0609030003000000" pitchFamily="49" charset="0"/>
              </a:rPr>
              <a:t> (error) {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1600" dirty="0">
                <a:latin typeface="Inconsolata" panose="020B0609030003000000" pitchFamily="49" charset="0"/>
              </a:rPr>
              <a:t>    </a:t>
            </a:r>
            <a:r>
              <a:rPr lang="en-US" sz="1600" dirty="0" err="1">
                <a:latin typeface="Inconsolata" panose="020B0609030003000000" pitchFamily="49" charset="0"/>
              </a:rPr>
              <a:t>fprintf</a:t>
            </a:r>
            <a:r>
              <a:rPr lang="en-US" sz="1600" dirty="0">
                <a:latin typeface="Inconsolata" panose="020B0609030003000000" pitchFamily="49" charset="0"/>
              </a:rPr>
              <a:t>(stderr, </a:t>
            </a:r>
            <a:r>
              <a:rPr lang="en-US" sz="1600" dirty="0">
                <a:solidFill>
                  <a:schemeClr val="accent2">
                    <a:lumMod val="75000"/>
                  </a:schemeClr>
                </a:solidFill>
                <a:latin typeface="Inconsolata" panose="020B0609030003000000" pitchFamily="49" charset="0"/>
              </a:rPr>
              <a:t>"%s\n"</a:t>
            </a:r>
            <a:r>
              <a:rPr lang="en-US" sz="1600" dirty="0">
                <a:latin typeface="Inconsolata" panose="020B0609030003000000" pitchFamily="49" charset="0"/>
              </a:rPr>
              <a:t>, error);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1600" dirty="0">
                <a:latin typeface="Inconsolata" panose="020B0609030003000000" pitchFamily="49" charset="0"/>
              </a:rPr>
              <a:t>    </a:t>
            </a:r>
            <a:r>
              <a:rPr lang="en-US" sz="1600" dirty="0">
                <a:solidFill>
                  <a:schemeClr val="accent1">
                    <a:lumMod val="75000"/>
                  </a:schemeClr>
                </a:solidFill>
                <a:latin typeface="Inconsolata" panose="020B0609030003000000" pitchFamily="49" charset="0"/>
              </a:rPr>
              <a:t>return</a:t>
            </a:r>
            <a:r>
              <a:rPr lang="en-US" sz="1600" dirty="0">
                <a:latin typeface="Inconsolata" panose="020B0609030003000000" pitchFamily="49" charset="0"/>
              </a:rPr>
              <a:t> 1;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1600" dirty="0">
                <a:latin typeface="Inconsolata" panose="020B0609030003000000" pitchFamily="49" charset="0"/>
              </a:rPr>
              <a:t>  }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endParaRPr lang="en-US" sz="1600" dirty="0">
              <a:latin typeface="Inconsolata" panose="020B0609030003000000" pitchFamily="49" charset="0"/>
            </a:endParaRP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1600" dirty="0">
                <a:latin typeface="Inconsolata" panose="020B0609030003000000" pitchFamily="49" charset="0"/>
              </a:rPr>
              <a:t>  </a:t>
            </a:r>
            <a:r>
              <a:rPr lang="en-US" sz="1600" dirty="0">
                <a:solidFill>
                  <a:schemeClr val="accent1">
                    <a:lumMod val="75000"/>
                  </a:schemeClr>
                </a:solidFill>
                <a:latin typeface="Inconsolata" panose="020B0609030003000000" pitchFamily="49" charset="0"/>
              </a:rPr>
              <a:t>long</a:t>
            </a:r>
            <a:r>
              <a:rPr lang="en-US" sz="1600" dirty="0">
                <a:latin typeface="Inconsolata" panose="020B0609030003000000" pitchFamily="49" charset="0"/>
              </a:rPr>
              <a:t> </a:t>
            </a:r>
            <a:r>
              <a:rPr lang="en-US" sz="1600" dirty="0" err="1">
                <a:latin typeface="Inconsolata" panose="020B0609030003000000" pitchFamily="49" charset="0"/>
              </a:rPr>
              <a:t>bufferSize</a:t>
            </a:r>
            <a:r>
              <a:rPr lang="en-US" sz="1600" dirty="0">
                <a:latin typeface="Inconsolata" panose="020B0609030003000000" pitchFamily="49" charset="0"/>
              </a:rPr>
              <a:t> = </a:t>
            </a:r>
            <a:r>
              <a:rPr lang="en-US" sz="1600" dirty="0" err="1">
                <a:latin typeface="Inconsolata" panose="020B0609030003000000" pitchFamily="49" charset="0"/>
              </a:rPr>
              <a:t>lazyCompressBound</a:t>
            </a:r>
            <a:r>
              <a:rPr lang="en-US" sz="1600" dirty="0">
                <a:latin typeface="Inconsolata" panose="020B0609030003000000" pitchFamily="49" charset="0"/>
              </a:rPr>
              <a:t>(10000);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1600" dirty="0">
                <a:latin typeface="Inconsolata" panose="020B0609030003000000" pitchFamily="49" charset="0"/>
              </a:rPr>
              <a:t>  </a:t>
            </a:r>
            <a:r>
              <a:rPr lang="en-US" sz="1600" dirty="0">
                <a:solidFill>
                  <a:schemeClr val="accent1">
                    <a:lumMod val="75000"/>
                  </a:schemeClr>
                </a:solidFill>
                <a:latin typeface="Inconsolata" panose="020B0609030003000000" pitchFamily="49" charset="0"/>
              </a:rPr>
              <a:t>return</a:t>
            </a:r>
            <a:r>
              <a:rPr lang="en-US" sz="1600" dirty="0">
                <a:latin typeface="Inconsolata" panose="020B0609030003000000" pitchFamily="49" charset="0"/>
              </a:rPr>
              <a:t> 0;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1600" dirty="0">
                <a:latin typeface="Inconsolata" panose="020B0609030003000000" pitchFamily="49" charset="0"/>
              </a:rPr>
              <a:t>}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431D397-96FC-478B-A698-CF12D94ECE78}"/>
              </a:ext>
            </a:extLst>
          </p:cNvPr>
          <p:cNvSpPr txBox="1"/>
          <p:nvPr/>
        </p:nvSpPr>
        <p:spPr>
          <a:xfrm>
            <a:off x="4691381" y="670837"/>
            <a:ext cx="482679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Lato Black" panose="020F0502020204030203" pitchFamily="34" charset="0"/>
                <a:ea typeface="Lato Black" panose="020F0502020204030203" pitchFamily="34" charset="0"/>
                <a:cs typeface="Lato Black" panose="020F0502020204030203" pitchFamily="34" charset="0"/>
              </a:rPr>
              <a:t>C</a:t>
            </a:r>
            <a:r>
              <a:rPr lang="en-US" dirty="0">
                <a:latin typeface="Lato Light" panose="020F0502020204030203" pitchFamily="34" charset="0"/>
                <a:ea typeface="Lato Light" panose="020F0502020204030203" pitchFamily="34" charset="0"/>
                <a:cs typeface="Lato Light" panose="020F0502020204030203" pitchFamily="34" charset="0"/>
              </a:rPr>
              <a:t> (</a:t>
            </a:r>
            <a:r>
              <a:rPr lang="en-US" dirty="0" err="1">
                <a:latin typeface="Inconsolata" panose="020B0609030003000000" pitchFamily="49" charset="0"/>
                <a:ea typeface="Lato Light" panose="020F0502020204030203" pitchFamily="34" charset="0"/>
                <a:cs typeface="Lato Light" panose="020F0502020204030203" pitchFamily="34" charset="0"/>
              </a:rPr>
              <a:t>gcc</a:t>
            </a:r>
            <a:r>
              <a:rPr lang="en-US" dirty="0">
                <a:latin typeface="Inconsolata" panose="020B0609030003000000" pitchFamily="49" charset="0"/>
                <a:ea typeface="Lato Light" panose="020F0502020204030203" pitchFamily="34" charset="0"/>
                <a:cs typeface="Lato Light" panose="020F0502020204030203" pitchFamily="34" charset="0"/>
              </a:rPr>
              <a:t> -o compressor </a:t>
            </a:r>
            <a:r>
              <a:rPr lang="en-US" dirty="0" err="1">
                <a:latin typeface="Inconsolata" panose="020B0609030003000000" pitchFamily="49" charset="0"/>
                <a:ea typeface="Lato Light" panose="020F0502020204030203" pitchFamily="34" charset="0"/>
                <a:cs typeface="Lato Light" panose="020F0502020204030203" pitchFamily="34" charset="0"/>
              </a:rPr>
              <a:t>compressor.c</a:t>
            </a:r>
            <a:r>
              <a:rPr lang="en-US" dirty="0">
                <a:latin typeface="Inconsolata" panose="020B0609030003000000" pitchFamily="49" charset="0"/>
                <a:ea typeface="Lato Light" panose="020F0502020204030203" pitchFamily="34" charset="0"/>
                <a:cs typeface="Lato Light" panose="020F0502020204030203" pitchFamily="34" charset="0"/>
              </a:rPr>
              <a:t> -</a:t>
            </a:r>
            <a:r>
              <a:rPr lang="en-US" dirty="0" err="1">
                <a:latin typeface="Inconsolata" panose="020B0609030003000000" pitchFamily="49" charset="0"/>
                <a:ea typeface="Lato Light" panose="020F0502020204030203" pitchFamily="34" charset="0"/>
                <a:cs typeface="Lato Light" panose="020F0502020204030203" pitchFamily="34" charset="0"/>
              </a:rPr>
              <a:t>ldl</a:t>
            </a:r>
            <a:r>
              <a:rPr lang="en-US" dirty="0">
                <a:latin typeface="Lato Light" panose="020F0502020204030203" pitchFamily="34" charset="0"/>
                <a:ea typeface="Lato Light" panose="020F0502020204030203" pitchFamily="34" charset="0"/>
                <a:cs typeface="Lato Light" panose="020F0502020204030203" pitchFamily="34" charset="0"/>
              </a:rPr>
              <a:t>)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C11CE3AD-51C4-43A4-84D1-2BE2DE0578A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41843" y="1859280"/>
            <a:ext cx="468198" cy="468198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FD8C80E7-7372-4DFC-BA66-B37B8F6BE0C2}"/>
              </a:ext>
            </a:extLst>
          </p:cNvPr>
          <p:cNvSpPr txBox="1"/>
          <p:nvPr/>
        </p:nvSpPr>
        <p:spPr>
          <a:xfrm>
            <a:off x="7447428" y="2392288"/>
            <a:ext cx="2185214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>
                <a:solidFill>
                  <a:srgbClr val="7030A0"/>
                </a:solidFill>
                <a:latin typeface="Lato Black" panose="020B0604020202020204" charset="0"/>
                <a:ea typeface="Lato Black" panose="020B0604020202020204" charset="0"/>
                <a:cs typeface="Lato Black" panose="020B0604020202020204" charset="0"/>
              </a:rPr>
              <a:t>Function pointers are</a:t>
            </a:r>
          </a:p>
          <a:p>
            <a:r>
              <a:rPr lang="en-US" sz="1600" dirty="0">
                <a:solidFill>
                  <a:srgbClr val="7030A0"/>
                </a:solidFill>
                <a:latin typeface="Lato Black" panose="020B0604020202020204" charset="0"/>
                <a:ea typeface="Lato Black" panose="020B0604020202020204" charset="0"/>
                <a:cs typeface="Lato Black" panose="020B0604020202020204" charset="0"/>
              </a:rPr>
              <a:t>                   very messy.</a:t>
            </a:r>
            <a:endParaRPr lang="en-US" sz="1600" dirty="0">
              <a:solidFill>
                <a:srgbClr val="7030A0"/>
              </a:solidFill>
              <a:latin typeface="Inconsolata" panose="020B0609030003000000" pitchFamily="49" charset="0"/>
              <a:ea typeface="Lato Black" panose="020B0604020202020204" charset="0"/>
              <a:cs typeface="Lato Black" panose="020B0604020202020204" charset="0"/>
            </a:endParaRPr>
          </a:p>
        </p:txBody>
      </p: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214EC011-4E29-458B-A2C7-DA17EAE8BE57}"/>
              </a:ext>
            </a:extLst>
          </p:cNvPr>
          <p:cNvCxnSpPr>
            <a:cxnSpLocks/>
          </p:cNvCxnSpPr>
          <p:nvPr/>
        </p:nvCxnSpPr>
        <p:spPr>
          <a:xfrm rot="16200000" flipV="1">
            <a:off x="7290311" y="2358874"/>
            <a:ext cx="169566" cy="144668"/>
          </a:xfrm>
          <a:prstGeom prst="straightConnector1">
            <a:avLst/>
          </a:prstGeom>
          <a:ln w="38100">
            <a:solidFill>
              <a:srgbClr val="7030A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TextBox 12">
            <a:extLst>
              <a:ext uri="{FF2B5EF4-FFF2-40B4-BE49-F238E27FC236}">
                <a16:creationId xmlns:a16="http://schemas.microsoft.com/office/drawing/2014/main" id="{786A3352-A3D9-45D9-A431-30CFBB071C52}"/>
              </a:ext>
            </a:extLst>
          </p:cNvPr>
          <p:cNvSpPr txBox="1"/>
          <p:nvPr/>
        </p:nvSpPr>
        <p:spPr>
          <a:xfrm>
            <a:off x="6067653" y="3417442"/>
            <a:ext cx="348044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>
                <a:solidFill>
                  <a:srgbClr val="7030A0"/>
                </a:solidFill>
                <a:latin typeface="Lato Black" panose="020B0604020202020204" charset="0"/>
                <a:ea typeface="Lato Black" panose="020B0604020202020204" charset="0"/>
                <a:cs typeface="Lato Black" panose="020B0604020202020204" charset="0"/>
              </a:rPr>
              <a:t>Prints to the screen’s “error” buffer.</a:t>
            </a:r>
          </a:p>
        </p:txBody>
      </p: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C2A986D7-177C-46AF-B65D-951B703252BF}"/>
              </a:ext>
            </a:extLst>
          </p:cNvPr>
          <p:cNvCxnSpPr>
            <a:cxnSpLocks/>
          </p:cNvCxnSpPr>
          <p:nvPr/>
        </p:nvCxnSpPr>
        <p:spPr>
          <a:xfrm rot="16200000" flipV="1">
            <a:off x="5910536" y="3384029"/>
            <a:ext cx="169566" cy="144668"/>
          </a:xfrm>
          <a:prstGeom prst="straightConnector1">
            <a:avLst/>
          </a:prstGeom>
          <a:ln w="38100">
            <a:solidFill>
              <a:srgbClr val="7030A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TextBox 14">
            <a:extLst>
              <a:ext uri="{FF2B5EF4-FFF2-40B4-BE49-F238E27FC236}">
                <a16:creationId xmlns:a16="http://schemas.microsoft.com/office/drawing/2014/main" id="{DE22E0E1-0565-4139-9AAE-B59E9A481D38}"/>
              </a:ext>
            </a:extLst>
          </p:cNvPr>
          <p:cNvSpPr txBox="1"/>
          <p:nvPr/>
        </p:nvSpPr>
        <p:spPr>
          <a:xfrm>
            <a:off x="6616294" y="4814681"/>
            <a:ext cx="297709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>
                <a:solidFill>
                  <a:srgbClr val="7030A0"/>
                </a:solidFill>
                <a:latin typeface="Lato Black" panose="020B0604020202020204" charset="0"/>
                <a:ea typeface="Lato Black" panose="020B0604020202020204" charset="0"/>
                <a:cs typeface="Lato Black" panose="020B0604020202020204" charset="0"/>
              </a:rPr>
              <a:t>Uses the lazy-loaded function.</a:t>
            </a:r>
          </a:p>
        </p:txBody>
      </p: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8F2A9829-E9D1-4CF8-9BA8-077C8B7B586C}"/>
              </a:ext>
            </a:extLst>
          </p:cNvPr>
          <p:cNvCxnSpPr>
            <a:cxnSpLocks/>
          </p:cNvCxnSpPr>
          <p:nvPr/>
        </p:nvCxnSpPr>
        <p:spPr>
          <a:xfrm rot="5400000">
            <a:off x="6459176" y="4996118"/>
            <a:ext cx="169566" cy="144668"/>
          </a:xfrm>
          <a:prstGeom prst="straightConnector1">
            <a:avLst/>
          </a:prstGeom>
          <a:ln w="38100">
            <a:solidFill>
              <a:srgbClr val="7030A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37999692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1000"/>
                            </p:stCondLst>
                            <p:childTnLst>
                              <p:par>
                                <p:cTn id="12" presetID="32" presetClass="emph" presetSubtype="0" repeatCount="indefinite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Rot by="120000">
                                      <p:cBhvr>
                                        <p:cTn id="13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14" dur="200" fill="hold">
                                          <p:stCondLst>
                                            <p:cond delay="20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240000">
                                      <p:cBhvr>
                                        <p:cTn id="15" dur="200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16" dur="200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20000">
                                      <p:cBhvr>
                                        <p:cTn id="17" dur="2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2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8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4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/>
      <p:bldP spid="13" grpId="0"/>
      <p:bldP spid="15" grpId="0"/>
    </p:bld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19BF18-CFF2-4D29-983E-A78AFBE05F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Investigating dynamic libraries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1AFFA45-B1EF-4B37-B030-841084702A0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If you would like to see what dynamic libraries a program uses, you can use</a:t>
            </a:r>
            <a:r>
              <a:rPr lang="en-US" dirty="0">
                <a:latin typeface="Inconsolata" panose="020B0609030003000000" pitchFamily="49" charset="0"/>
              </a:rPr>
              <a:t> </a:t>
            </a:r>
            <a:r>
              <a:rPr lang="en-US" dirty="0" err="1">
                <a:latin typeface="Inconsolata" panose="020B0609030003000000" pitchFamily="49" charset="0"/>
              </a:rPr>
              <a:t>readelf</a:t>
            </a:r>
            <a:r>
              <a:rPr lang="en-US" dirty="0">
                <a:latin typeface="Inconsolata" panose="020B0609030003000000" pitchFamily="49" charset="0"/>
              </a:rPr>
              <a:t> </a:t>
            </a:r>
            <a:r>
              <a:rPr lang="en-US" dirty="0"/>
              <a:t>or the</a:t>
            </a:r>
            <a:r>
              <a:rPr lang="en-US" dirty="0">
                <a:latin typeface="Inconsolata" panose="020B0609030003000000" pitchFamily="49" charset="0"/>
              </a:rPr>
              <a:t> </a:t>
            </a:r>
            <a:r>
              <a:rPr lang="en-US" dirty="0" err="1">
                <a:latin typeface="Inconsolata" panose="020B0609030003000000" pitchFamily="49" charset="0"/>
              </a:rPr>
              <a:t>ldd</a:t>
            </a:r>
            <a:r>
              <a:rPr lang="en-US" dirty="0">
                <a:latin typeface="Inconsolata" panose="020B0609030003000000" pitchFamily="49" charset="0"/>
              </a:rPr>
              <a:t> </a:t>
            </a:r>
            <a:r>
              <a:rPr lang="en-US" dirty="0"/>
              <a:t>command.</a:t>
            </a:r>
          </a:p>
          <a:p>
            <a:pPr lvl="1"/>
            <a:r>
              <a:rPr lang="en-US" dirty="0"/>
              <a:t>Cannot see the</a:t>
            </a:r>
            <a:r>
              <a:rPr lang="en-US" dirty="0">
                <a:latin typeface="Inconsolata" panose="020B0609030003000000" pitchFamily="49" charset="0"/>
              </a:rPr>
              <a:t> </a:t>
            </a:r>
            <a:r>
              <a:rPr lang="en-US" dirty="0" err="1">
                <a:latin typeface="Inconsolata" panose="020B0609030003000000" pitchFamily="49" charset="0"/>
              </a:rPr>
              <a:t>dlopen</a:t>
            </a:r>
            <a:r>
              <a:rPr lang="en-US" dirty="0">
                <a:latin typeface="Inconsolata" panose="020B0609030003000000" pitchFamily="49" charset="0"/>
              </a:rPr>
              <a:t> </a:t>
            </a:r>
            <a:r>
              <a:rPr lang="en-US" dirty="0"/>
              <a:t>/</a:t>
            </a:r>
            <a:r>
              <a:rPr lang="en-US" dirty="0">
                <a:latin typeface="Inconsolata" panose="020B0609030003000000" pitchFamily="49" charset="0"/>
              </a:rPr>
              <a:t> </a:t>
            </a:r>
            <a:r>
              <a:rPr lang="en-US" dirty="0" err="1">
                <a:latin typeface="Inconsolata" panose="020B0609030003000000" pitchFamily="49" charset="0"/>
              </a:rPr>
              <a:t>dlsym</a:t>
            </a:r>
            <a:r>
              <a:rPr lang="en-US" dirty="0">
                <a:latin typeface="Inconsolata" panose="020B0609030003000000" pitchFamily="49" charset="0"/>
              </a:rPr>
              <a:t> </a:t>
            </a:r>
            <a:r>
              <a:rPr lang="en-US" dirty="0"/>
              <a:t>lazy loaded libraries.</a:t>
            </a:r>
          </a:p>
          <a:p>
            <a:pPr lvl="1"/>
            <a:endParaRPr lang="en-US" dirty="0"/>
          </a:p>
          <a:p>
            <a:r>
              <a:rPr lang="en-US" dirty="0" err="1">
                <a:latin typeface="Inconsolata" panose="020B0609030003000000" pitchFamily="49" charset="0"/>
              </a:rPr>
              <a:t>ldd</a:t>
            </a:r>
            <a:r>
              <a:rPr lang="en-US" dirty="0">
                <a:latin typeface="Inconsolata" panose="020B0609030003000000" pitchFamily="49" charset="0"/>
              </a:rPr>
              <a:t> ./my-program</a:t>
            </a:r>
          </a:p>
          <a:p>
            <a:endParaRPr lang="en-US" dirty="0">
              <a:latin typeface="Inconsolata" panose="020B0609030003000000" pitchFamily="49" charset="0"/>
            </a:endParaRPr>
          </a:p>
          <a:p>
            <a:r>
              <a:rPr lang="en-US" dirty="0" err="1">
                <a:latin typeface="Inconsolata" panose="020B0609030003000000" pitchFamily="49" charset="0"/>
              </a:rPr>
              <a:t>readelf</a:t>
            </a:r>
            <a:r>
              <a:rPr lang="en-US" dirty="0">
                <a:latin typeface="Inconsolata" panose="020B0609030003000000" pitchFamily="49" charset="0"/>
              </a:rPr>
              <a:t> -d ./my-program</a:t>
            </a:r>
          </a:p>
          <a:p>
            <a:endParaRPr lang="en-US" dirty="0"/>
          </a:p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FAE4621-8ACF-47DB-A5ED-4FD9E06BD6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AAD609-F83C-4414-814B-B5A2DF99692C}" type="slidenum">
              <a:rPr lang="en-US" smtClean="0"/>
              <a:pPr/>
              <a:t>38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42779931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741F32-0946-4343-BA6F-0C3BA8A08B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Linking, loading; static and dynamic… Whew!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FC28FF6-6905-4582-9FD3-2B817969300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dirty="0"/>
              <a:t>Linking is when we merge multiple pieces of executable code into one logical program.</a:t>
            </a:r>
          </a:p>
          <a:p>
            <a:endParaRPr lang="en-US" dirty="0"/>
          </a:p>
          <a:p>
            <a:r>
              <a:rPr lang="en-US" dirty="0"/>
              <a:t>We link at various times:</a:t>
            </a:r>
          </a:p>
          <a:p>
            <a:endParaRPr lang="en-US" dirty="0"/>
          </a:p>
          <a:p>
            <a:pPr lvl="1"/>
            <a:r>
              <a:rPr lang="en-US" dirty="0"/>
              <a:t>At </a:t>
            </a:r>
            <a:r>
              <a:rPr lang="en-US" dirty="0">
                <a:latin typeface="Lato Black" panose="020F0502020204030203" pitchFamily="34" charset="0"/>
                <a:ea typeface="Lato Black" panose="020F0502020204030203" pitchFamily="34" charset="0"/>
                <a:cs typeface="Lato Black" panose="020F0502020204030203" pitchFamily="34" charset="0"/>
              </a:rPr>
              <a:t>compile-time</a:t>
            </a:r>
            <a:r>
              <a:rPr lang="en-US" dirty="0"/>
              <a:t>: using our normal</a:t>
            </a:r>
            <a:r>
              <a:rPr lang="en-US" dirty="0">
                <a:latin typeface="Inconsolata" panose="020B0609030003000000" pitchFamily="49" charset="0"/>
              </a:rPr>
              <a:t> *.o </a:t>
            </a:r>
            <a:r>
              <a:rPr lang="en-US" dirty="0"/>
              <a:t>files and static libraries (</a:t>
            </a:r>
            <a:r>
              <a:rPr lang="en-US" dirty="0">
                <a:latin typeface="Inconsolata" panose="020B0609030003000000" pitchFamily="49" charset="0"/>
              </a:rPr>
              <a:t>*.a</a:t>
            </a:r>
            <a:r>
              <a:rPr lang="en-US" dirty="0"/>
              <a:t>)</a:t>
            </a:r>
          </a:p>
          <a:p>
            <a:pPr lvl="1"/>
            <a:endParaRPr lang="en-US" dirty="0"/>
          </a:p>
          <a:p>
            <a:pPr lvl="1"/>
            <a:r>
              <a:rPr lang="en-US" dirty="0"/>
              <a:t>At </a:t>
            </a:r>
            <a:r>
              <a:rPr lang="en-US" dirty="0">
                <a:latin typeface="Lato Black" panose="020F0502020204030203" pitchFamily="34" charset="0"/>
                <a:ea typeface="Lato Black" panose="020F0502020204030203" pitchFamily="34" charset="0"/>
                <a:cs typeface="Lato Black" panose="020F0502020204030203" pitchFamily="34" charset="0"/>
              </a:rPr>
              <a:t>load-time</a:t>
            </a:r>
            <a:r>
              <a:rPr lang="en-US" dirty="0"/>
              <a:t>: our OS reads and loads the executable and loads dynamic libraries (</a:t>
            </a:r>
            <a:r>
              <a:rPr lang="en-US" dirty="0">
                <a:latin typeface="Inconsolata" panose="020B0609030003000000" pitchFamily="49" charset="0"/>
              </a:rPr>
              <a:t>*.so</a:t>
            </a:r>
            <a:r>
              <a:rPr lang="en-US" dirty="0"/>
              <a:t>) at the same time, rewriting relocatable sections.</a:t>
            </a:r>
          </a:p>
          <a:p>
            <a:pPr lvl="1"/>
            <a:endParaRPr lang="en-US" dirty="0"/>
          </a:p>
          <a:p>
            <a:pPr lvl="1"/>
            <a:r>
              <a:rPr lang="en-US" dirty="0"/>
              <a:t>At </a:t>
            </a:r>
            <a:r>
              <a:rPr lang="en-US" dirty="0">
                <a:latin typeface="Lato Black" panose="020F0502020204030203" pitchFamily="34" charset="0"/>
                <a:ea typeface="Lato Black" panose="020F0502020204030203" pitchFamily="34" charset="0"/>
                <a:cs typeface="Lato Black" panose="020F0502020204030203" pitchFamily="34" charset="0"/>
              </a:rPr>
              <a:t>run-time</a:t>
            </a:r>
            <a:r>
              <a:rPr lang="en-US" dirty="0"/>
              <a:t>: our program uses system services (</a:t>
            </a:r>
            <a:r>
              <a:rPr lang="en-US" dirty="0" err="1">
                <a:latin typeface="Inconsolata" panose="020B0609030003000000" pitchFamily="49" charset="0"/>
              </a:rPr>
              <a:t>dlopen</a:t>
            </a:r>
            <a:r>
              <a:rPr lang="en-US" dirty="0"/>
              <a:t>) to load dynamic libraries lazily.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D6A55CC-67A2-4202-8384-AF50BB5002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AAD609-F83C-4414-814B-B5A2DF99692C}" type="slidenum">
              <a:rPr lang="en-US" smtClean="0"/>
              <a:pPr/>
              <a:t>39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47635415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3F38FAD3-5344-47EF-ADB3-F32DAD0199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Software Licensing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C8774E2E-0F32-4D18-99E0-705872E21A9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Combining code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51D9298-7D84-4EA2-AC59-7E28D048C1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AAD609-F83C-4414-814B-B5A2DF99692C}" type="slidenum">
              <a:rPr lang="en-US" smtClean="0"/>
              <a:pPr/>
              <a:t>40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90386493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209457F7-5E1F-4E50-B6D7-4A401B86A0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So derivative…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8AA132A1-EDC8-42DA-934F-6A958980649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Software is generally built from existing software.</a:t>
            </a:r>
          </a:p>
          <a:p>
            <a:pPr lvl="1"/>
            <a:r>
              <a:rPr lang="en-US" dirty="0"/>
              <a:t>Only building bespoke programs would be impractical.</a:t>
            </a:r>
          </a:p>
          <a:p>
            <a:pPr lvl="1"/>
            <a:endParaRPr lang="en-US" dirty="0"/>
          </a:p>
          <a:p>
            <a:r>
              <a:rPr lang="en-US" dirty="0"/>
              <a:t>However, how do we negotiate such usage of software?</a:t>
            </a:r>
          </a:p>
          <a:p>
            <a:pPr lvl="1"/>
            <a:r>
              <a:rPr lang="en-US" dirty="0"/>
              <a:t>And how does this impact the design of systems?</a:t>
            </a:r>
          </a:p>
          <a:p>
            <a:pPr lvl="1"/>
            <a:endParaRPr lang="en-US" dirty="0"/>
          </a:p>
          <a:p>
            <a:r>
              <a:rPr lang="en-US" dirty="0"/>
              <a:t>Disclaimer: I am not a lawyer.</a:t>
            </a:r>
          </a:p>
          <a:p>
            <a:pPr lvl="1"/>
            <a:r>
              <a:rPr lang="en-US" dirty="0"/>
              <a:t>But… neither will you be one…</a:t>
            </a:r>
          </a:p>
          <a:p>
            <a:pPr lvl="2"/>
            <a:r>
              <a:rPr lang="en-US" dirty="0"/>
              <a:t>And yet, we often find the need to be.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A8AD9D6-FF5D-4614-B597-81E5FBCB24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AAD609-F83C-4414-814B-B5A2DF99692C}" type="slidenum">
              <a:rPr lang="en-US" smtClean="0"/>
              <a:pPr/>
              <a:t>41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42719798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FFE6067C-D964-45C6-A097-4EFE4967D7B0}"/>
              </a:ext>
            </a:extLst>
          </p:cNvPr>
          <p:cNvSpPr/>
          <p:nvPr/>
        </p:nvSpPr>
        <p:spPr>
          <a:xfrm>
            <a:off x="5834380" y="2567524"/>
            <a:ext cx="3954780" cy="3227485"/>
          </a:xfrm>
          <a:prstGeom prst="rect">
            <a:avLst/>
          </a:prstGeom>
          <a:solidFill>
            <a:srgbClr val="0B214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F1E963C9-F53C-4E7A-83A5-41C8B48030B6}"/>
              </a:ext>
            </a:extLst>
          </p:cNvPr>
          <p:cNvSpPr/>
          <p:nvPr/>
        </p:nvSpPr>
        <p:spPr>
          <a:xfrm>
            <a:off x="5758180" y="2647535"/>
            <a:ext cx="3954780" cy="3227485"/>
          </a:xfrm>
          <a:prstGeom prst="rect">
            <a:avLst/>
          </a:prstGeom>
          <a:solidFill>
            <a:srgbClr val="4C6FA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2C8AE67-8C0F-4C51-AB7C-69661B1F5E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UNIX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513B40D-A7AF-48DB-A923-27441B7293F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45122" y="723900"/>
            <a:ext cx="8995398" cy="4991100"/>
          </a:xfrm>
        </p:spPr>
        <p:txBody>
          <a:bodyPr>
            <a:normAutofit lnSpcReduction="10000"/>
          </a:bodyPr>
          <a:lstStyle/>
          <a:p>
            <a:r>
              <a:rPr lang="en-US" dirty="0"/>
              <a:t>The UNIX system, which Linux is somewhat modeled after, was originally from American Telephone &amp; Telegraph (AT&amp;T). </a:t>
            </a:r>
          </a:p>
          <a:p>
            <a:pPr lvl="1"/>
            <a:r>
              <a:rPr lang="en-US" dirty="0"/>
              <a:t>Hence lots of AT&amp;T intellectual residue</a:t>
            </a:r>
          </a:p>
          <a:p>
            <a:endParaRPr lang="en-US" dirty="0"/>
          </a:p>
          <a:p>
            <a:r>
              <a:rPr lang="en-US" dirty="0"/>
              <a:t>Because of an anti-trust case from 1956, they entered a “consent decree” with the government.</a:t>
            </a:r>
          </a:p>
          <a:p>
            <a:pPr lvl="1"/>
            <a:r>
              <a:rPr lang="en-US" dirty="0"/>
              <a:t>AT&amp;T could not sell anything that does</a:t>
            </a:r>
            <a:br>
              <a:rPr lang="en-US" dirty="0"/>
            </a:br>
            <a:r>
              <a:rPr lang="en-US" dirty="0"/>
              <a:t>not pertain to “common carrier</a:t>
            </a:r>
            <a:br>
              <a:rPr lang="en-US" dirty="0"/>
            </a:br>
            <a:r>
              <a:rPr lang="en-US" dirty="0"/>
              <a:t>communications services” (telephony)</a:t>
            </a:r>
          </a:p>
          <a:p>
            <a:pPr lvl="1"/>
            <a:r>
              <a:rPr lang="en-US" dirty="0"/>
              <a:t>Therefore, UNIX, their product, could</a:t>
            </a:r>
            <a:br>
              <a:rPr lang="en-US" dirty="0"/>
            </a:br>
            <a:r>
              <a:rPr lang="en-US" dirty="0"/>
              <a:t>not be profitable</a:t>
            </a:r>
          </a:p>
          <a:p>
            <a:pPr lvl="2"/>
            <a:r>
              <a:rPr lang="en-US" dirty="0"/>
              <a:t>ANTI-TRUST WORKING?? WHAT A TIME!</a:t>
            </a:r>
          </a:p>
          <a:p>
            <a:pPr lvl="2"/>
            <a:endParaRPr lang="en-US" dirty="0"/>
          </a:p>
          <a:p>
            <a:r>
              <a:rPr lang="en-US" dirty="0"/>
              <a:t>Due to this, UNIX was shipped out</a:t>
            </a:r>
            <a:br>
              <a:rPr lang="en-US" dirty="0"/>
            </a:br>
            <a:r>
              <a:rPr lang="en-US" dirty="0"/>
              <a:t>mostly for a low cost; with source!</a:t>
            </a:r>
          </a:p>
          <a:p>
            <a:pPr lvl="1"/>
            <a:r>
              <a:rPr lang="en-US" dirty="0"/>
              <a:t>Hardware was the money maker.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4F425B9-BBCD-4214-8267-BBE6523569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AAD609-F83C-4414-814B-B5A2DF99692C}" type="slidenum">
              <a:rPr lang="en-US" smtClean="0">
                <a:solidFill>
                  <a:schemeClr val="bg1"/>
                </a:solidFill>
              </a:rPr>
              <a:pPr/>
              <a:t>42</a:t>
            </a:fld>
            <a:endParaRPr lang="en-US" dirty="0">
              <a:solidFill>
                <a:schemeClr val="bg1"/>
              </a:solidFill>
            </a:endParaRPr>
          </a:p>
        </p:txBody>
      </p:sp>
      <p:pic>
        <p:nvPicPr>
          <p:cNvPr id="4098" name="Picture 2">
            <a:extLst>
              <a:ext uri="{FF2B5EF4-FFF2-40B4-BE49-F238E27FC236}">
                <a16:creationId xmlns:a16="http://schemas.microsoft.com/office/drawing/2014/main" id="{C8C8F291-AD22-4C4E-8D60-5E092EB256D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53330" y="2673361"/>
            <a:ext cx="3798670" cy="304163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639333719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D656CB-6918-4B41-A122-00B9D4ABD5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 bell tolls…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1519E46-52D2-442C-9C0C-FE17DF8BF71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98500" y="914400"/>
            <a:ext cx="8763000" cy="4233069"/>
          </a:xfrm>
        </p:spPr>
        <p:txBody>
          <a:bodyPr/>
          <a:lstStyle/>
          <a:p>
            <a:r>
              <a:rPr lang="en-US" dirty="0"/>
              <a:t>AT&amp;T often flirted with what they could get away with, yet in 1983, the U.S. government broke up the “Bells” that made up AT&amp;T.</a:t>
            </a:r>
          </a:p>
          <a:p>
            <a:pPr lvl="1"/>
            <a:r>
              <a:rPr lang="en-US" dirty="0"/>
              <a:t>This freed AT&amp;T from the decree.</a:t>
            </a:r>
          </a:p>
          <a:p>
            <a:pPr lvl="1"/>
            <a:r>
              <a:rPr lang="en-US" dirty="0"/>
              <a:t>And allowed them to commercialize UNIX.</a:t>
            </a:r>
          </a:p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0F287AF-8C94-43E0-A2E4-765A4DEDD0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AAD609-F83C-4414-814B-B5A2DF99692C}" type="slidenum">
              <a:rPr lang="en-US" smtClean="0"/>
              <a:pPr/>
              <a:t>43</a:t>
            </a:fld>
            <a:endParaRPr lang="en-US" dirty="0"/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77315351-ACC5-4EDA-97A3-4DF65B8FC1B9}"/>
              </a:ext>
            </a:extLst>
          </p:cNvPr>
          <p:cNvSpPr txBox="1">
            <a:spLocks/>
          </p:cNvSpPr>
          <p:nvPr/>
        </p:nvSpPr>
        <p:spPr>
          <a:xfrm>
            <a:off x="4257040" y="2857500"/>
            <a:ext cx="5168900" cy="259842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Clr>
                <a:schemeClr val="accent1">
                  <a:lumMod val="75000"/>
                </a:schemeClr>
              </a:buClr>
              <a:buFont typeface="Arial" panose="020B0604020202020204" pitchFamily="34" charset="0"/>
              <a:buChar char="•"/>
              <a:defRPr sz="2100" kern="1200">
                <a:solidFill>
                  <a:schemeClr val="tx1"/>
                </a:solidFill>
                <a:latin typeface="Lato Semibold" panose="020F0502020204030203" pitchFamily="34" charset="0"/>
                <a:ea typeface="Lato Semibold" panose="020F0502020204030203" pitchFamily="34" charset="0"/>
                <a:cs typeface="Lato Semibold" panose="020F0502020204030203" pitchFamily="34" charset="0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Clr>
                <a:schemeClr val="accent1">
                  <a:lumMod val="75000"/>
                </a:schemeClr>
              </a:buClr>
              <a:buFont typeface="Wingdings" panose="05000000000000000000" pitchFamily="2" charset="2"/>
              <a:buChar char="§"/>
              <a:defRPr sz="1800" kern="1200">
                <a:solidFill>
                  <a:schemeClr val="tx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Clr>
                <a:srgbClr val="FF0000"/>
              </a:buClr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Lato Light" panose="020F0502020204030203" pitchFamily="34" charset="0"/>
                <a:ea typeface="Lato Light" panose="020F0502020204030203" pitchFamily="34" charset="0"/>
                <a:cs typeface="Lato Light" panose="020F0502020204030203" pitchFamily="34" charset="0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Lato Light" panose="020F0502020204030203" pitchFamily="34" charset="0"/>
                <a:ea typeface="Lato Light" panose="020F0502020204030203" pitchFamily="34" charset="0"/>
                <a:cs typeface="Lato Light" panose="020F0502020204030203" pitchFamily="34" charset="0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The source code for UNIX became less and less available.</a:t>
            </a:r>
          </a:p>
          <a:p>
            <a:pPr lvl="1"/>
            <a:r>
              <a:rPr lang="en-US" dirty="0"/>
              <a:t>It came at a high cost… and not available to the average user.</a:t>
            </a:r>
          </a:p>
          <a:p>
            <a:pPr lvl="1"/>
            <a:r>
              <a:rPr lang="en-US" dirty="0"/>
              <a:t>This motivated many engineers/researchers to organize.</a:t>
            </a:r>
          </a:p>
          <a:p>
            <a:pPr lvl="1"/>
            <a:endParaRPr lang="en-US" dirty="0"/>
          </a:p>
          <a:p>
            <a:endParaRPr lang="en-US" dirty="0"/>
          </a:p>
        </p:txBody>
      </p:sp>
      <p:pic>
        <p:nvPicPr>
          <p:cNvPr id="5122" name="Picture 2">
            <a:extLst>
              <a:ext uri="{FF2B5EF4-FFF2-40B4-BE49-F238E27FC236}">
                <a16:creationId xmlns:a16="http://schemas.microsoft.com/office/drawing/2014/main" id="{8DAF88A1-1B47-4899-9987-C92ABCE520F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09980" y="2627604"/>
            <a:ext cx="2613660" cy="261366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042785643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95A82B-2336-4F4C-AC02-F4152BEF7E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 GNU world…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498D4BA-0B61-421E-BE46-963BCB5FEEF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45122" y="739140"/>
            <a:ext cx="8995398" cy="4785678"/>
          </a:xfrm>
        </p:spPr>
        <p:txBody>
          <a:bodyPr>
            <a:normAutofit lnSpcReduction="10000"/>
          </a:bodyPr>
          <a:lstStyle/>
          <a:p>
            <a:r>
              <a:rPr lang="en-US" dirty="0"/>
              <a:t>Researchers, lulled into a world where systems software was open-source, felt disenfranchised by such new corporate policies.</a:t>
            </a:r>
          </a:p>
          <a:p>
            <a:pPr lvl="1"/>
            <a:r>
              <a:rPr lang="en-US" dirty="0"/>
              <a:t>Quite hard to research system design without easy access to the system.</a:t>
            </a:r>
          </a:p>
          <a:p>
            <a:pPr lvl="1"/>
            <a:endParaRPr lang="en-US" dirty="0"/>
          </a:p>
          <a:p>
            <a:r>
              <a:rPr lang="en-US" dirty="0"/>
              <a:t>Richard Stallman created the GNU </a:t>
            </a:r>
            <a:br>
              <a:rPr lang="en-US" dirty="0"/>
            </a:br>
            <a:r>
              <a:rPr lang="en-US" dirty="0"/>
              <a:t>(GNU is Not Unix) Project.</a:t>
            </a:r>
          </a:p>
          <a:p>
            <a:pPr lvl="1"/>
            <a:r>
              <a:rPr lang="en-US" dirty="0"/>
              <a:t>An effort to replace UNIX and other systems</a:t>
            </a:r>
            <a:br>
              <a:rPr lang="en-US" dirty="0"/>
            </a:br>
            <a:r>
              <a:rPr lang="en-US" dirty="0"/>
              <a:t>software with community-built versions.</a:t>
            </a:r>
          </a:p>
          <a:p>
            <a:pPr lvl="1"/>
            <a:r>
              <a:rPr lang="en-US" dirty="0"/>
              <a:t>He creates the GNU C Compiler (</a:t>
            </a:r>
            <a:r>
              <a:rPr lang="en-US" dirty="0" err="1"/>
              <a:t>gcc</a:t>
            </a:r>
            <a:r>
              <a:rPr lang="en-US" dirty="0"/>
              <a:t>)</a:t>
            </a:r>
          </a:p>
          <a:p>
            <a:pPr lvl="1"/>
            <a:r>
              <a:rPr lang="en-US" dirty="0"/>
              <a:t>Organized around the Free Software</a:t>
            </a:r>
            <a:br>
              <a:rPr lang="en-US" dirty="0"/>
            </a:br>
            <a:r>
              <a:rPr lang="en-US" dirty="0"/>
              <a:t>Foundation (FSF)</a:t>
            </a:r>
          </a:p>
          <a:p>
            <a:pPr lvl="1"/>
            <a:endParaRPr lang="en-US" dirty="0"/>
          </a:p>
          <a:p>
            <a:r>
              <a:rPr lang="en-US" dirty="0"/>
              <a:t>He licenses the work under the GPL.</a:t>
            </a:r>
          </a:p>
          <a:p>
            <a:pPr lvl="1"/>
            <a:r>
              <a:rPr lang="en-US" dirty="0"/>
              <a:t>GNU Public License later GNU General</a:t>
            </a:r>
            <a:br>
              <a:rPr lang="en-US" dirty="0"/>
            </a:br>
            <a:r>
              <a:rPr lang="en-US" dirty="0"/>
              <a:t>Public License</a:t>
            </a:r>
          </a:p>
          <a:p>
            <a:pPr lvl="1"/>
            <a:endParaRPr lang="en-US" dirty="0"/>
          </a:p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BAF3578-5478-4B92-88BD-4572B689E6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AAD609-F83C-4414-814B-B5A2DF99692C}" type="slidenum">
              <a:rPr lang="en-US" smtClean="0"/>
              <a:pPr/>
              <a:t>44</a:t>
            </a:fld>
            <a:endParaRPr lang="en-US" dirty="0"/>
          </a:p>
        </p:txBody>
      </p:sp>
      <p:pic>
        <p:nvPicPr>
          <p:cNvPr id="6146" name="Picture 2">
            <a:extLst>
              <a:ext uri="{FF2B5EF4-FFF2-40B4-BE49-F238E27FC236}">
                <a16:creationId xmlns:a16="http://schemas.microsoft.com/office/drawing/2014/main" id="{9D4FF350-298E-4579-8644-08BDCA63D6E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17680" y="1943100"/>
            <a:ext cx="4225761" cy="367102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763364417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C4DCCA-B363-4958-81B7-C097F464DF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GPL: Free Software Movement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011EF88-56D6-4C78-A54C-9CE019F2999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96620" y="838201"/>
            <a:ext cx="8343900" cy="4865238"/>
          </a:xfrm>
        </p:spPr>
        <p:txBody>
          <a:bodyPr>
            <a:normAutofit lnSpcReduction="10000"/>
          </a:bodyPr>
          <a:lstStyle/>
          <a:p>
            <a:r>
              <a:rPr lang="en-US" dirty="0"/>
              <a:t>The GPL has evolved over time to legally enforce several things:</a:t>
            </a:r>
          </a:p>
          <a:p>
            <a:pPr lvl="1"/>
            <a:r>
              <a:rPr lang="en-US" dirty="0"/>
              <a:t>The work can be freely studied. (open source)</a:t>
            </a:r>
          </a:p>
          <a:p>
            <a:pPr lvl="1"/>
            <a:r>
              <a:rPr lang="en-US" dirty="0"/>
              <a:t>The work can be freely modified.</a:t>
            </a:r>
          </a:p>
          <a:p>
            <a:pPr lvl="1"/>
            <a:r>
              <a:rPr lang="en-US" dirty="0"/>
              <a:t>The work can be freely copied/distributed with/without changes.</a:t>
            </a:r>
          </a:p>
          <a:p>
            <a:pPr lvl="1"/>
            <a:endParaRPr lang="en-US" dirty="0"/>
          </a:p>
          <a:p>
            <a:r>
              <a:rPr lang="en-US" dirty="0"/>
              <a:t>These rules apply to all derivative versions. (All modifications)</a:t>
            </a:r>
          </a:p>
          <a:p>
            <a:pPr lvl="1"/>
            <a:r>
              <a:rPr lang="en-US" dirty="0"/>
              <a:t>Your modifications require you to distribute the source with your program.</a:t>
            </a:r>
          </a:p>
          <a:p>
            <a:pPr lvl="1"/>
            <a:r>
              <a:rPr lang="en-US" dirty="0"/>
              <a:t>Prevents others from adding substantive changes to divide userbases.</a:t>
            </a:r>
          </a:p>
          <a:p>
            <a:pPr lvl="1"/>
            <a:r>
              <a:rPr lang="en-US" dirty="0"/>
              <a:t>Known colloquially as a “copyleft” license or “viral” license.</a:t>
            </a:r>
          </a:p>
          <a:p>
            <a:pPr lvl="1"/>
            <a:endParaRPr lang="en-US" dirty="0"/>
          </a:p>
          <a:p>
            <a:r>
              <a:rPr lang="en-US" dirty="0"/>
              <a:t>This contract is enforced by U.S. and international copyright law.</a:t>
            </a:r>
          </a:p>
          <a:p>
            <a:pPr lvl="1"/>
            <a:r>
              <a:rPr lang="en-US" dirty="0"/>
              <a:t>By not using a software license, technically nobody can modify or distribute your code!</a:t>
            </a:r>
          </a:p>
          <a:p>
            <a:pPr lvl="1"/>
            <a:r>
              <a:rPr lang="en-US" dirty="0"/>
              <a:t>Current copyright law lasts the life of the author + 70 years.</a:t>
            </a:r>
          </a:p>
          <a:p>
            <a:pPr lvl="2"/>
            <a:r>
              <a:rPr lang="en-US" dirty="0"/>
              <a:t>Yikes.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F35E69D-5E3D-4DD7-B288-418A2D7001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AAD609-F83C-4414-814B-B5A2DF99692C}" type="slidenum">
              <a:rPr lang="en-US" smtClean="0"/>
              <a:pPr/>
              <a:t>45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83609150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A13470-206B-4045-9837-94EFCA987E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is derivative?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5E89A86-A7E9-4B29-B184-3230F3E6C9B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45122" y="786700"/>
            <a:ext cx="6336018" cy="4827429"/>
          </a:xfrm>
        </p:spPr>
        <p:txBody>
          <a:bodyPr>
            <a:normAutofit fontScale="92500" lnSpcReduction="10000"/>
          </a:bodyPr>
          <a:lstStyle/>
          <a:p>
            <a:r>
              <a:rPr lang="en-US" dirty="0"/>
              <a:t>Copyright interacts heavily with systems software.</a:t>
            </a:r>
            <a:br>
              <a:rPr lang="en-US" dirty="0"/>
            </a:br>
            <a:endParaRPr lang="en-US" dirty="0"/>
          </a:p>
          <a:p>
            <a:r>
              <a:rPr lang="en-US" dirty="0"/>
              <a:t>When your program calls a system call, it executes code written by somebody else.</a:t>
            </a:r>
          </a:p>
          <a:p>
            <a:pPr lvl="1"/>
            <a:r>
              <a:rPr lang="en-US" dirty="0"/>
              <a:t>Is this copyrighted? (Yes. Everything is.)</a:t>
            </a:r>
          </a:p>
          <a:p>
            <a:pPr lvl="1"/>
            <a:r>
              <a:rPr lang="en-US" dirty="0"/>
              <a:t>If it is GPL, does it make your program a derivative?</a:t>
            </a:r>
          </a:p>
          <a:p>
            <a:pPr lvl="1"/>
            <a:r>
              <a:rPr lang="en-US" dirty="0"/>
              <a:t>AHHHHH.</a:t>
            </a:r>
            <a:br>
              <a:rPr lang="en-US" dirty="0"/>
            </a:br>
            <a:endParaRPr lang="en-US" dirty="0"/>
          </a:p>
          <a:p>
            <a:r>
              <a:rPr lang="en-US" dirty="0"/>
              <a:t>If your compiler, like GCC, is copyleft, is your program derivative?</a:t>
            </a:r>
          </a:p>
          <a:p>
            <a:pPr lvl="1"/>
            <a:r>
              <a:rPr lang="en-US" dirty="0"/>
              <a:t>Generally, no, but runtime code and C standard library are GPL.</a:t>
            </a:r>
            <a:br>
              <a:rPr lang="en-US" dirty="0"/>
            </a:br>
            <a:endParaRPr lang="en-US" dirty="0"/>
          </a:p>
          <a:p>
            <a:r>
              <a:rPr lang="en-US" dirty="0"/>
              <a:t>Special exceptions must exist for these blurry lines between systems software and application software.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D5334C8-519C-4149-A592-5FEB79DB7C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AAD609-F83C-4414-814B-B5A2DF99692C}" type="slidenum">
              <a:rPr lang="en-US" smtClean="0"/>
              <a:pPr/>
              <a:t>46</a:t>
            </a:fld>
            <a:endParaRPr lang="en-US" dirty="0"/>
          </a:p>
        </p:txBody>
      </p:sp>
      <p:pic>
        <p:nvPicPr>
          <p:cNvPr id="6" name="Graphic 5">
            <a:extLst>
              <a:ext uri="{FF2B5EF4-FFF2-40B4-BE49-F238E27FC236}">
                <a16:creationId xmlns:a16="http://schemas.microsoft.com/office/drawing/2014/main" id="{26DC0B17-679D-41A1-945A-71F0BC6B479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6492240" y="1028637"/>
            <a:ext cx="2789966" cy="3307207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2FF47A95-8F23-4EC1-A896-93DA3DDB1957}"/>
              </a:ext>
            </a:extLst>
          </p:cNvPr>
          <p:cNvSpPr txBox="1"/>
          <p:nvPr/>
        </p:nvSpPr>
        <p:spPr>
          <a:xfrm>
            <a:off x="6990984" y="4512286"/>
            <a:ext cx="1792478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>
                <a:latin typeface="Lato Light" panose="020F0502020204030203" pitchFamily="34" charset="0"/>
                <a:ea typeface="Lato Light" panose="020F0502020204030203" pitchFamily="34" charset="0"/>
                <a:cs typeface="Lato Light" panose="020F0502020204030203" pitchFamily="34" charset="0"/>
              </a:rPr>
              <a:t>Linux is licensed</a:t>
            </a:r>
            <a:br>
              <a:rPr lang="en-US" dirty="0">
                <a:latin typeface="Lato Light" panose="020F0502020204030203" pitchFamily="34" charset="0"/>
                <a:ea typeface="Lato Light" panose="020F0502020204030203" pitchFamily="34" charset="0"/>
                <a:cs typeface="Lato Light" panose="020F0502020204030203" pitchFamily="34" charset="0"/>
              </a:rPr>
            </a:br>
            <a:r>
              <a:rPr lang="en-US" dirty="0">
                <a:latin typeface="Lato Light" panose="020F0502020204030203" pitchFamily="34" charset="0"/>
                <a:ea typeface="Lato Light" panose="020F0502020204030203" pitchFamily="34" charset="0"/>
                <a:cs typeface="Lato Light" panose="020F0502020204030203" pitchFamily="34" charset="0"/>
              </a:rPr>
              <a:t>under the GPL</a:t>
            </a:r>
          </a:p>
        </p:txBody>
      </p:sp>
    </p:spTree>
    <p:extLst>
      <p:ext uri="{BB962C8B-B14F-4D97-AF65-F5344CB8AC3E}">
        <p14:creationId xmlns:p14="http://schemas.microsoft.com/office/powerpoint/2010/main" val="3446639683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8333D0-3E14-4D7C-BC55-DFB48DA95A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Operating Systems and Copyright Law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BA7D782-049A-40E0-96F2-985982EBE76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42900" y="967740"/>
            <a:ext cx="8897620" cy="4747260"/>
          </a:xfrm>
        </p:spPr>
        <p:txBody>
          <a:bodyPr>
            <a:normAutofit/>
          </a:bodyPr>
          <a:lstStyle/>
          <a:p>
            <a:r>
              <a:rPr lang="en-US" dirty="0"/>
              <a:t>We’ve seen an executable loader in this lecture.</a:t>
            </a:r>
          </a:p>
          <a:p>
            <a:pPr lvl="1"/>
            <a:r>
              <a:rPr lang="en-US" dirty="0"/>
              <a:t>Part of the OS! Obviously derivative to the OS.</a:t>
            </a:r>
          </a:p>
          <a:p>
            <a:pPr lvl="1"/>
            <a:endParaRPr lang="en-US" dirty="0"/>
          </a:p>
          <a:p>
            <a:r>
              <a:rPr lang="en-US" dirty="0"/>
              <a:t>User programs are not considered “derivative” to the OS.</a:t>
            </a:r>
          </a:p>
          <a:p>
            <a:pPr lvl="1"/>
            <a:r>
              <a:rPr lang="en-US" dirty="0"/>
              <a:t>They aren’t operating systems… just enabled by them.</a:t>
            </a:r>
          </a:p>
          <a:p>
            <a:pPr lvl="1"/>
            <a:r>
              <a:rPr lang="en-US" dirty="0"/>
              <a:t>THANK GOODNESS.</a:t>
            </a:r>
          </a:p>
          <a:p>
            <a:pPr lvl="1"/>
            <a:endParaRPr lang="en-US" dirty="0"/>
          </a:p>
          <a:p>
            <a:r>
              <a:rPr lang="en-US" dirty="0"/>
              <a:t>Linux has a “system call” exception.</a:t>
            </a:r>
          </a:p>
          <a:p>
            <a:pPr lvl="1"/>
            <a:r>
              <a:rPr lang="en-US" dirty="0"/>
              <a:t>Use of system calls is never considered “derivative”</a:t>
            </a:r>
          </a:p>
          <a:p>
            <a:pPr lvl="1"/>
            <a:r>
              <a:rPr lang="en-US" dirty="0"/>
              <a:t>THANK GOODNESS.</a:t>
            </a:r>
          </a:p>
          <a:p>
            <a:pPr lvl="1"/>
            <a:endParaRPr lang="en-US" dirty="0"/>
          </a:p>
          <a:p>
            <a:r>
              <a:rPr lang="en-US" dirty="0"/>
              <a:t>But some other parts are left very </a:t>
            </a:r>
            <a:r>
              <a:rPr lang="en-US" dirty="0" err="1"/>
              <a:t>very</a:t>
            </a:r>
            <a:r>
              <a:rPr lang="en-US" dirty="0"/>
              <a:t> unclear.</a:t>
            </a:r>
          </a:p>
          <a:p>
            <a:pPr lvl="1"/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DE0580B-3EB8-4E00-86E2-9F1561B63A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AAD609-F83C-4414-814B-B5A2DF99692C}" type="slidenum">
              <a:rPr lang="en-US" smtClean="0"/>
              <a:pPr/>
              <a:t>47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64252605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A412B0-6BC8-4044-9771-EEE00D5336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 Problem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D9EA195-41AB-4C74-A1FA-B86B97596F6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42900" y="789709"/>
            <a:ext cx="8897620" cy="4849621"/>
          </a:xfrm>
        </p:spPr>
        <p:txBody>
          <a:bodyPr>
            <a:normAutofit/>
          </a:bodyPr>
          <a:lstStyle/>
          <a:p>
            <a:r>
              <a:rPr lang="en-US" dirty="0"/>
              <a:t>What about device drivers??</a:t>
            </a:r>
          </a:p>
          <a:p>
            <a:pPr lvl="1"/>
            <a:r>
              <a:rPr lang="en-US" dirty="0"/>
              <a:t>Device drivers are small libraries the implement interactions with hardware.</a:t>
            </a:r>
          </a:p>
          <a:p>
            <a:pPr lvl="1"/>
            <a:r>
              <a:rPr lang="en-US" dirty="0"/>
              <a:t>They typically run in the operating system’s space.</a:t>
            </a:r>
          </a:p>
          <a:p>
            <a:pPr lvl="1"/>
            <a:r>
              <a:rPr lang="en-US" dirty="0"/>
              <a:t>Do they “derive” the OS? (They cannot co-exist… they extend…)</a:t>
            </a:r>
          </a:p>
          <a:p>
            <a:pPr lvl="1"/>
            <a:endParaRPr lang="en-US" dirty="0"/>
          </a:p>
          <a:p>
            <a:r>
              <a:rPr lang="en-US" dirty="0"/>
              <a:t>This is a difficult problem that plagues Linux…</a:t>
            </a:r>
          </a:p>
          <a:p>
            <a:pPr lvl="1"/>
            <a:r>
              <a:rPr lang="en-US" dirty="0"/>
              <a:t>They need to support proprietary hardware…</a:t>
            </a:r>
          </a:p>
          <a:p>
            <a:pPr lvl="2"/>
            <a:r>
              <a:rPr lang="en-US" dirty="0"/>
              <a:t>At least, not allow large companies software/hardware exclusivity</a:t>
            </a:r>
          </a:p>
          <a:p>
            <a:pPr lvl="2"/>
            <a:endParaRPr lang="en-US" dirty="0"/>
          </a:p>
          <a:p>
            <a:pPr lvl="1"/>
            <a:r>
              <a:rPr lang="en-US" dirty="0"/>
              <a:t>So they then need to wedge in proprietary code…</a:t>
            </a:r>
          </a:p>
          <a:p>
            <a:pPr lvl="2"/>
            <a:r>
              <a:rPr lang="en-US" dirty="0"/>
              <a:t>They can’t because it needs to be under the GPL…</a:t>
            </a:r>
          </a:p>
          <a:p>
            <a:pPr lvl="2"/>
            <a:r>
              <a:rPr lang="en-US" dirty="0"/>
              <a:t>This is antagonistic to culture… the source cannot be read or modified.</a:t>
            </a:r>
          </a:p>
          <a:p>
            <a:pPr lvl="2"/>
            <a:endParaRPr lang="en-US" dirty="0"/>
          </a:p>
          <a:p>
            <a:pPr lvl="1"/>
            <a:r>
              <a:rPr lang="en-US" dirty="0"/>
              <a:t>Are we willing to wait 70-90 years for a device driver’s copyright to lapse?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A818976-14EC-4BCA-9610-87473D0690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AAD609-F83C-4414-814B-B5A2DF99692C}" type="slidenum">
              <a:rPr lang="en-US" smtClean="0"/>
              <a:pPr/>
              <a:t>48</a:t>
            </a:fld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A2CC1EA0-0928-4F48-A950-BE28AE90FF0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21945" y="2020085"/>
            <a:ext cx="2592933" cy="25929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97495884"/>
      </p:ext>
    </p:extLst>
  </p:cSld>
  <p:clrMapOvr>
    <a:masterClrMapping/>
  </p:clrMapOvr>
</p:sld>
</file>

<file path=ppt/theme/theme1.xml><?xml version="1.0" encoding="utf-8"?>
<a:theme xmlns:a="http://schemas.openxmlformats.org/drawingml/2006/main" name="CS449_Templat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resentation1" id="{E7BC6BCD-614E-41BE-9378-C7E28C307EF7}" vid="{D7833C4A-9AFD-4CDB-9FE0-1B7F5499B86D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CS449_Template</Template>
  <TotalTime>37964</TotalTime>
  <Words>5322</Words>
  <Application>Microsoft Office PowerPoint</Application>
  <PresentationFormat>Custom</PresentationFormat>
  <Paragraphs>809</Paragraphs>
  <Slides>48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16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48</vt:i4>
      </vt:variant>
    </vt:vector>
  </HeadingPairs>
  <TitlesOfParts>
    <vt:vector size="65" baseType="lpstr">
      <vt:lpstr>DejaVu Sans</vt:lpstr>
      <vt:lpstr>Segoe UI</vt:lpstr>
      <vt:lpstr>Lato Heavy</vt:lpstr>
      <vt:lpstr>Marcellus SC</vt:lpstr>
      <vt:lpstr>Lato</vt:lpstr>
      <vt:lpstr>Times New Roman</vt:lpstr>
      <vt:lpstr>Lato Hairline</vt:lpstr>
      <vt:lpstr>Courier New</vt:lpstr>
      <vt:lpstr>Lato Semibold</vt:lpstr>
      <vt:lpstr>Arial</vt:lpstr>
      <vt:lpstr>Wingdings</vt:lpstr>
      <vt:lpstr>Calibri Light</vt:lpstr>
      <vt:lpstr>Inconsolata</vt:lpstr>
      <vt:lpstr>Lato Black</vt:lpstr>
      <vt:lpstr>Calibri</vt:lpstr>
      <vt:lpstr>Lato Light</vt:lpstr>
      <vt:lpstr>CS449_Template</vt:lpstr>
      <vt:lpstr>How Programs</vt:lpstr>
      <vt:lpstr>Linkers</vt:lpstr>
      <vt:lpstr>Compilation: Simple Overview – Step 1</vt:lpstr>
      <vt:lpstr>Compilation: Simple Overview – Step 2</vt:lpstr>
      <vt:lpstr>Compilation: Simple Overview – Step 3</vt:lpstr>
      <vt:lpstr>It's just a grinder.</vt:lpstr>
      <vt:lpstr>Compiler</vt:lpstr>
      <vt:lpstr>Compilers Are Non-Trivial</vt:lpstr>
      <vt:lpstr>The need for the linker</vt:lpstr>
      <vt:lpstr>What is inside that box?</vt:lpstr>
      <vt:lpstr>Object File Format</vt:lpstr>
      <vt:lpstr>Object File Information Tables</vt:lpstr>
      <vt:lpstr>What the ELF ??</vt:lpstr>
      <vt:lpstr>What the ELF ??</vt:lpstr>
      <vt:lpstr>readelf – Viewing the symbol table</vt:lpstr>
      <vt:lpstr>static; Controlling the symbols</vt:lpstr>
      <vt:lpstr>Controlled the symbols</vt:lpstr>
      <vt:lpstr>extern; when you used to be an intern</vt:lpstr>
      <vt:lpstr>Final thoughts of global variables</vt:lpstr>
      <vt:lpstr>Seeing through the linker’s eyes</vt:lpstr>
      <vt:lpstr>Summing it up: Playing mad-libs</vt:lpstr>
      <vt:lpstr>Static Libraries (*.a files)</vt:lpstr>
      <vt:lpstr>Compilation: Simple Overview – Redux</vt:lpstr>
      <vt:lpstr>Loaders</vt:lpstr>
      <vt:lpstr>The Operating System</vt:lpstr>
      <vt:lpstr>Memory Segments – Deeper dive!</vt:lpstr>
      <vt:lpstr>Running a program</vt:lpstr>
      <vt:lpstr>Some .bss BS I’ve dealt with…</vt:lpstr>
      <vt:lpstr>That’s it???</vt:lpstr>
      <vt:lpstr>Dynamic Linking</vt:lpstr>
      <vt:lpstr>Code that can be loaded… anywhere?</vt:lpstr>
      <vt:lpstr>Solution: relocatable code</vt:lpstr>
      <vt:lpstr>Solution: relocatable code</vt:lpstr>
      <vt:lpstr>Solution: relocatable code: Loading</vt:lpstr>
      <vt:lpstr>Taking a PIC, eating some PIE – Avoiding relocations</vt:lpstr>
      <vt:lpstr>Running a program - Redux</vt:lpstr>
      <vt:lpstr>Being lazy – Run-time loading</vt:lpstr>
      <vt:lpstr>Investigating dynamic libraries</vt:lpstr>
      <vt:lpstr>Linking, loading; static and dynamic… Whew!</vt:lpstr>
      <vt:lpstr>Software Licensing</vt:lpstr>
      <vt:lpstr>So derivative…</vt:lpstr>
      <vt:lpstr>UNIX</vt:lpstr>
      <vt:lpstr>The bell tolls…</vt:lpstr>
      <vt:lpstr>A GNU world…</vt:lpstr>
      <vt:lpstr>GPL: Free Software Movement</vt:lpstr>
      <vt:lpstr>What is derivative?</vt:lpstr>
      <vt:lpstr>Operating Systems and Copyright Law</vt:lpstr>
      <vt:lpstr>The Problem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Wilkinson II, David W</dc:creator>
  <cp:lastModifiedBy>Luis Oliveira</cp:lastModifiedBy>
  <cp:revision>511</cp:revision>
  <dcterms:created xsi:type="dcterms:W3CDTF">2020-01-05T03:35:10Z</dcterms:created>
  <dcterms:modified xsi:type="dcterms:W3CDTF">2021-07-08T16:33:56Z</dcterms:modified>
</cp:coreProperties>
</file>