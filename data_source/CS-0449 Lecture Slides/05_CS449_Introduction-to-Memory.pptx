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60"/>
  </p:notesMasterIdLst>
  <p:sldIdLst>
    <p:sldId id="256" r:id="rId2"/>
    <p:sldId id="259" r:id="rId3"/>
    <p:sldId id="262" r:id="rId4"/>
    <p:sldId id="294" r:id="rId5"/>
    <p:sldId id="263" r:id="rId6"/>
    <p:sldId id="264" r:id="rId7"/>
    <p:sldId id="265" r:id="rId8"/>
    <p:sldId id="292" r:id="rId9"/>
    <p:sldId id="295" r:id="rId10"/>
    <p:sldId id="640" r:id="rId11"/>
    <p:sldId id="293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5" r:id="rId20"/>
    <p:sldId id="641" r:id="rId21"/>
    <p:sldId id="308" r:id="rId22"/>
    <p:sldId id="309" r:id="rId23"/>
    <p:sldId id="306" r:id="rId24"/>
    <p:sldId id="260" r:id="rId25"/>
    <p:sldId id="303" r:id="rId26"/>
    <p:sldId id="311" r:id="rId27"/>
    <p:sldId id="312" r:id="rId28"/>
    <p:sldId id="313" r:id="rId29"/>
    <p:sldId id="314" r:id="rId30"/>
    <p:sldId id="624" r:id="rId31"/>
    <p:sldId id="307" r:id="rId32"/>
    <p:sldId id="315" r:id="rId33"/>
    <p:sldId id="310" r:id="rId34"/>
    <p:sldId id="261" r:id="rId35"/>
    <p:sldId id="304" r:id="rId36"/>
    <p:sldId id="316" r:id="rId37"/>
    <p:sldId id="317" r:id="rId38"/>
    <p:sldId id="320" r:id="rId39"/>
    <p:sldId id="318" r:id="rId40"/>
    <p:sldId id="319" r:id="rId41"/>
    <p:sldId id="625" r:id="rId42"/>
    <p:sldId id="626" r:id="rId43"/>
    <p:sldId id="627" r:id="rId44"/>
    <p:sldId id="321" r:id="rId45"/>
    <p:sldId id="622" r:id="rId46"/>
    <p:sldId id="623" r:id="rId47"/>
    <p:sldId id="629" r:id="rId48"/>
    <p:sldId id="628" r:id="rId49"/>
    <p:sldId id="630" r:id="rId50"/>
    <p:sldId id="631" r:id="rId51"/>
    <p:sldId id="632" r:id="rId52"/>
    <p:sldId id="634" r:id="rId53"/>
    <p:sldId id="633" r:id="rId54"/>
    <p:sldId id="635" r:id="rId55"/>
    <p:sldId id="636" r:id="rId56"/>
    <p:sldId id="637" r:id="rId57"/>
    <p:sldId id="638" r:id="rId58"/>
    <p:sldId id="639" r:id="rId59"/>
  </p:sldIdLst>
  <p:sldSz cx="10160000" cy="5715000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Calibri Light" panose="020F0302020204030204" pitchFamily="34" charset="0"/>
      <p:regular r:id="rId65"/>
      <p:italic r:id="rId66"/>
    </p:embeddedFont>
    <p:embeddedFont>
      <p:font typeface="Cambria Math" panose="02040503050406030204" pitchFamily="18" charset="0"/>
      <p:regular r:id="rId67"/>
    </p:embeddedFont>
    <p:embeddedFont>
      <p:font typeface="Consolas" panose="020B0609020204030204" pitchFamily="49" charset="0"/>
      <p:regular r:id="rId68"/>
      <p:bold r:id="rId69"/>
      <p:italic r:id="rId70"/>
      <p:boldItalic r:id="rId71"/>
    </p:embeddedFont>
    <p:embeddedFont>
      <p:font typeface="DejaVu Sans" panose="020B0604020202020204" charset="0"/>
      <p:regular r:id="rId72"/>
      <p:bold r:id="rId73"/>
      <p:italic r:id="rId74"/>
      <p:boldItalic r:id="rId75"/>
    </p:embeddedFont>
    <p:embeddedFont>
      <p:font typeface="Inconsolata" panose="020B0609030003000000" charset="0"/>
      <p:regular r:id="rId76"/>
    </p:embeddedFont>
    <p:embeddedFont>
      <p:font typeface="Lato" panose="020F0502020204030203" pitchFamily="34" charset="0"/>
      <p:regular r:id="rId77"/>
      <p:bold r:id="rId78"/>
      <p:italic r:id="rId79"/>
      <p:boldItalic r:id="rId80"/>
    </p:embeddedFont>
    <p:embeddedFont>
      <p:font typeface="Lato Black" panose="020B0604020202020204" charset="0"/>
      <p:bold r:id="rId81"/>
      <p:boldItalic r:id="rId82"/>
    </p:embeddedFont>
    <p:embeddedFont>
      <p:font typeface="Lato Hairline" panose="020F0502020204030203" pitchFamily="34" charset="0"/>
      <p:regular r:id="rId83"/>
      <p:italic r:id="rId84"/>
    </p:embeddedFont>
    <p:embeddedFont>
      <p:font typeface="Lato Heavy" panose="020F0502020204030203" pitchFamily="34" charset="0"/>
      <p:bold r:id="rId85"/>
      <p:boldItalic r:id="rId86"/>
    </p:embeddedFont>
    <p:embeddedFont>
      <p:font typeface="Lato Light" panose="020F0502020204030203" pitchFamily="34" charset="0"/>
      <p:regular r:id="rId87"/>
      <p:italic r:id="rId88"/>
    </p:embeddedFont>
    <p:embeddedFont>
      <p:font typeface="Lato Semibold" panose="020F0502020204030203" pitchFamily="34" charset="0"/>
      <p:bold r:id="rId89"/>
      <p:boldItalic r:id="rId90"/>
    </p:embeddedFont>
    <p:embeddedFont>
      <p:font typeface="Marcellus SC" panose="020E0602050203020307" pitchFamily="34" charset="0"/>
      <p:regular r:id="rId91"/>
    </p:embeddedFont>
    <p:embeddedFont>
      <p:font typeface="Segoe UI" panose="020B0502040204020203" pitchFamily="34" charset="0"/>
      <p:regular r:id="rId92"/>
      <p:bold r:id="rId93"/>
      <p:italic r:id="rId94"/>
      <p:boldItalic r:id="rId95"/>
    </p:embeddedFont>
    <p:embeddedFont>
      <p:font typeface="Walbaum Display Heavy" panose="02070A03090703020303" pitchFamily="18" charset="0"/>
      <p:bold r:id="rId96"/>
      <p:boldItalic r:id="rId9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The Memory Model" id="{262D39B8-1B04-47B5-B397-CFF80E4C15F7}">
          <p14:sldIdLst>
            <p14:sldId id="259"/>
            <p14:sldId id="262"/>
            <p14:sldId id="294"/>
            <p14:sldId id="263"/>
            <p14:sldId id="264"/>
            <p14:sldId id="265"/>
            <p14:sldId id="292"/>
            <p14:sldId id="295"/>
            <p14:sldId id="640"/>
            <p14:sldId id="293"/>
            <p14:sldId id="296"/>
            <p14:sldId id="297"/>
            <p14:sldId id="298"/>
            <p14:sldId id="299"/>
            <p14:sldId id="300"/>
            <p14:sldId id="301"/>
            <p14:sldId id="302"/>
            <p14:sldId id="305"/>
            <p14:sldId id="641"/>
            <p14:sldId id="308"/>
            <p14:sldId id="309"/>
            <p14:sldId id="306"/>
            <p14:sldId id="260"/>
            <p14:sldId id="303"/>
            <p14:sldId id="311"/>
            <p14:sldId id="312"/>
            <p14:sldId id="313"/>
            <p14:sldId id="314"/>
            <p14:sldId id="624"/>
            <p14:sldId id="307"/>
            <p14:sldId id="315"/>
            <p14:sldId id="310"/>
            <p14:sldId id="261"/>
            <p14:sldId id="304"/>
            <p14:sldId id="316"/>
            <p14:sldId id="317"/>
            <p14:sldId id="320"/>
            <p14:sldId id="318"/>
            <p14:sldId id="319"/>
            <p14:sldId id="625"/>
            <p14:sldId id="626"/>
            <p14:sldId id="627"/>
            <p14:sldId id="321"/>
            <p14:sldId id="622"/>
            <p14:sldId id="623"/>
            <p14:sldId id="629"/>
            <p14:sldId id="628"/>
            <p14:sldId id="630"/>
            <p14:sldId id="631"/>
            <p14:sldId id="632"/>
            <p14:sldId id="634"/>
            <p14:sldId id="633"/>
            <p14:sldId id="635"/>
            <p14:sldId id="636"/>
            <p14:sldId id="637"/>
            <p14:sldId id="638"/>
            <p14:sldId id="6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A5"/>
    <a:srgbClr val="355482"/>
    <a:srgbClr val="091C3B"/>
    <a:srgbClr val="6A6A6A"/>
    <a:srgbClr val="4C6FA3"/>
    <a:srgbClr val="0B2043"/>
    <a:srgbClr val="FF4F4F"/>
    <a:srgbClr val="E27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8" y="1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6" Type="http://schemas.openxmlformats.org/officeDocument/2006/relationships/font" Target="fonts/font16.fntdata"/><Relationship Id="rId84" Type="http://schemas.openxmlformats.org/officeDocument/2006/relationships/font" Target="fonts/font24.fntdata"/><Relationship Id="rId89" Type="http://schemas.openxmlformats.org/officeDocument/2006/relationships/font" Target="fonts/font29.fntdata"/><Relationship Id="rId97" Type="http://schemas.openxmlformats.org/officeDocument/2006/relationships/font" Target="fonts/font37.fntdata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92" Type="http://schemas.openxmlformats.org/officeDocument/2006/relationships/font" Target="fonts/font3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font" Target="fonts/font14.fntdata"/><Relationship Id="rId79" Type="http://schemas.openxmlformats.org/officeDocument/2006/relationships/font" Target="fonts/font19.fntdata"/><Relationship Id="rId87" Type="http://schemas.openxmlformats.org/officeDocument/2006/relationships/font" Target="fonts/font27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82" Type="http://schemas.openxmlformats.org/officeDocument/2006/relationships/font" Target="fonts/font22.fntdata"/><Relationship Id="rId90" Type="http://schemas.openxmlformats.org/officeDocument/2006/relationships/font" Target="fonts/font30.fntdata"/><Relationship Id="rId95" Type="http://schemas.openxmlformats.org/officeDocument/2006/relationships/font" Target="fonts/font3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font" Target="fonts/font17.fntdata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80" Type="http://schemas.openxmlformats.org/officeDocument/2006/relationships/font" Target="fonts/font20.fntdata"/><Relationship Id="rId85" Type="http://schemas.openxmlformats.org/officeDocument/2006/relationships/font" Target="fonts/font25.fntdata"/><Relationship Id="rId93" Type="http://schemas.openxmlformats.org/officeDocument/2006/relationships/font" Target="fonts/font33.fntdata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83" Type="http://schemas.openxmlformats.org/officeDocument/2006/relationships/font" Target="fonts/font23.fntdata"/><Relationship Id="rId88" Type="http://schemas.openxmlformats.org/officeDocument/2006/relationships/font" Target="fonts/font28.fntdata"/><Relationship Id="rId91" Type="http://schemas.openxmlformats.org/officeDocument/2006/relationships/font" Target="fonts/font31.fntdata"/><Relationship Id="rId96" Type="http://schemas.openxmlformats.org/officeDocument/2006/relationships/font" Target="fonts/font3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font" Target="fonts/font18.fntdata"/><Relationship Id="rId81" Type="http://schemas.openxmlformats.org/officeDocument/2006/relationships/font" Target="fonts/font21.fntdata"/><Relationship Id="rId86" Type="http://schemas.openxmlformats.org/officeDocument/2006/relationships/font" Target="fonts/font26.fntdata"/><Relationship Id="rId94" Type="http://schemas.openxmlformats.org/officeDocument/2006/relationships/font" Target="fonts/font34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6/1/2021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16760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9C3E36D-C5D8-46D5-BEDA-FE7A1DE0D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8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BC62584-EB34-4A7C-ACCA-1A397D7BE0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3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C089-0469-4B7F-859C-946C51639BA7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C6595B-EBAC-43C8-94E2-6D92D55008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56883-EF35-45B8-83F4-707064B3B437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481112-CD77-4644-8762-B7B82BE36F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9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1" r:id="rId6"/>
    <p:sldLayoutId id="2147483666" r:id="rId7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855" y="1278431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Introduction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20134-B7EB-4F92-B7B8-01035C88D329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78090" y="2680429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to Memory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forget how addressing works, I have a few pointers for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CAF232-634D-49EC-85F2-9F4C994D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9816C0-9CCC-486E-B310-616F0BDB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5964985" cy="47034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Memory is a continuous series of bits.</a:t>
            </a:r>
          </a:p>
          <a:p>
            <a:pPr lvl="1"/>
            <a:r>
              <a:rPr lang="en-US" dirty="0"/>
              <a:t>It can be logically divided into bytes or words.</a:t>
            </a:r>
          </a:p>
          <a:p>
            <a:endParaRPr lang="en-US" dirty="0"/>
          </a:p>
          <a:p>
            <a:r>
              <a:rPr lang="en-US" dirty="0"/>
              <a:t>We will treat it as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byte-addressable</a:t>
            </a:r>
            <a:r>
              <a:rPr lang="en-US" dirty="0"/>
              <a:t> which means individual bytes can be read.</a:t>
            </a:r>
          </a:p>
          <a:p>
            <a:pPr lvl="1"/>
            <a:r>
              <a:rPr lang="en-US" dirty="0"/>
              <a:t>This is not always the case!!</a:t>
            </a:r>
          </a:p>
          <a:p>
            <a:pPr lvl="1"/>
            <a:r>
              <a:rPr lang="en-US" dirty="0"/>
              <a:t>Consider masking and shifting to know the workaround!</a:t>
            </a:r>
          </a:p>
          <a:p>
            <a:pPr lvl="1"/>
            <a:endParaRPr lang="en-US" dirty="0"/>
          </a:p>
          <a:p>
            <a:r>
              <a:rPr lang="en-US" dirty="0"/>
              <a:t>With byte-addressable memory, each and every byte (8 bits) has its own unique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It’s the place it lives!! Memory is JUST LIKE US!</a:t>
            </a:r>
          </a:p>
          <a:p>
            <a:pPr lvl="1"/>
            <a:r>
              <a:rPr lang="en-US" dirty="0"/>
              <a:t>Address starts at 0, second byte is at address 1, and increases (“upward”) as you add new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146B2-84DB-4480-89DE-02562555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44B78-48A9-4353-999B-61892D932820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548C2A-DFCB-47BD-90D0-232EEC7CE77B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D64F4D-3664-4E51-BA4D-D091F1671F43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7EE9B4-0308-441B-91BE-B302C12F8172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2" name="Rectangle 2" descr="Wide upward diagonal">
                <a:extLst>
                  <a:ext uri="{FF2B5EF4-FFF2-40B4-BE49-F238E27FC236}">
                    <a16:creationId xmlns:a16="http://schemas.microsoft.com/office/drawing/2014/main" id="{D388CCDB-70F5-49EE-9C9E-3FBFC6338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24FB210-97A6-4CC3-B526-E82B9D511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F438C486-1A84-442A-BA7D-2063F4275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2AD88CF5-1615-4CC1-9D21-B6CC211E6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Line 8">
                <a:extLst>
                  <a:ext uri="{FF2B5EF4-FFF2-40B4-BE49-F238E27FC236}">
                    <a16:creationId xmlns:a16="http://schemas.microsoft.com/office/drawing/2014/main" id="{F202476A-11A9-4679-B40D-975419C2E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7" name="Line 9">
                <a:extLst>
                  <a:ext uri="{FF2B5EF4-FFF2-40B4-BE49-F238E27FC236}">
                    <a16:creationId xmlns:a16="http://schemas.microsoft.com/office/drawing/2014/main" id="{2321A98D-FE58-48A4-B281-E498B9C03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41A997A6-164F-4BD2-BA0C-2F918096A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31ED87B4-5544-452F-B6D3-960374A41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20" name="Text Box 12">
                <a:extLst>
                  <a:ext uri="{FF2B5EF4-FFF2-40B4-BE49-F238E27FC236}">
                    <a16:creationId xmlns:a16="http://schemas.microsoft.com/office/drawing/2014/main" id="{449871CF-16A3-471A-9317-FC3B596FD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022" y="3990975"/>
                <a:ext cx="84350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heap</a:t>
                </a:r>
              </a:p>
            </p:txBody>
          </p:sp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283462D4-BC88-4968-9628-67A4243DD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984E180F-B02B-4C4B-B0BB-A4B2F4F99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3" name="Line 15">
                <a:extLst>
                  <a:ext uri="{FF2B5EF4-FFF2-40B4-BE49-F238E27FC236}">
                    <a16:creationId xmlns:a16="http://schemas.microsoft.com/office/drawing/2014/main" id="{F9A24A27-B8A2-4348-BC00-FE9B751A4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4" name="Text Box 17">
                <a:extLst>
                  <a:ext uri="{FF2B5EF4-FFF2-40B4-BE49-F238E27FC236}">
                    <a16:creationId xmlns:a16="http://schemas.microsoft.com/office/drawing/2014/main" id="{B8DE2855-F887-4591-9F8E-702F572BE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5" name="Text Box 18">
                <a:extLst>
                  <a:ext uri="{FF2B5EF4-FFF2-40B4-BE49-F238E27FC236}">
                    <a16:creationId xmlns:a16="http://schemas.microsoft.com/office/drawing/2014/main" id="{D46E1BD5-52E8-4E23-99D4-9E9E77557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947EFF-0927-4683-A922-FCB1D49A26D1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900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CAF232-634D-49EC-85F2-9F4C994D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9816C0-9CCC-486E-B310-616F0BDB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4973089" cy="4179729"/>
          </a:xfrm>
        </p:spPr>
        <p:txBody>
          <a:bodyPr/>
          <a:lstStyle/>
          <a:p>
            <a:r>
              <a:rPr lang="en-US" dirty="0"/>
              <a:t>There are two main parts of a program: </a:t>
            </a:r>
            <a:r>
              <a:rPr lang="en-US" i="1" dirty="0"/>
              <a:t>code </a:t>
            </a:r>
            <a:r>
              <a:rPr lang="en-US" dirty="0"/>
              <a:t>and </a:t>
            </a:r>
            <a:r>
              <a:rPr lang="en-US" i="1" dirty="0"/>
              <a:t>data</a:t>
            </a:r>
          </a:p>
          <a:p>
            <a:pPr lvl="1"/>
            <a:r>
              <a:rPr lang="en-US" dirty="0"/>
              <a:t>“code” is sometimes called “text”</a:t>
            </a:r>
          </a:p>
          <a:p>
            <a:endParaRPr lang="en-US" dirty="0"/>
          </a:p>
          <a:p>
            <a:r>
              <a:rPr lang="en-US" dirty="0"/>
              <a:t>Where in memory should each go?</a:t>
            </a:r>
          </a:p>
          <a:p>
            <a:pPr lvl="1"/>
            <a:r>
              <a:rPr lang="en-US" dirty="0"/>
              <a:t>Should we interleave them?</a:t>
            </a:r>
          </a:p>
          <a:p>
            <a:pPr lvl="1"/>
            <a:r>
              <a:rPr lang="en-US" dirty="0"/>
              <a:t>Which do you think is usually largest?</a:t>
            </a:r>
          </a:p>
          <a:p>
            <a:pPr lvl="1"/>
            <a:endParaRPr lang="en-US" dirty="0"/>
          </a:p>
          <a:p>
            <a:r>
              <a:rPr lang="en-US" dirty="0"/>
              <a:t>How do we use memory dynamically?</a:t>
            </a:r>
          </a:p>
          <a:p>
            <a:pPr lvl="1"/>
            <a:r>
              <a:rPr lang="en-US" dirty="0"/>
              <a:t>That is, only when we know we need it, in the moment.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146B2-84DB-4480-89DE-02562555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44B78-48A9-4353-999B-61892D932820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548C2A-DFCB-47BD-90D0-232EEC7CE77B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D64F4D-3664-4E51-BA4D-D091F1671F43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7EE9B4-0308-441B-91BE-B302C12F8172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2" name="Rectangle 2" descr="Wide upward diagonal">
                <a:extLst>
                  <a:ext uri="{FF2B5EF4-FFF2-40B4-BE49-F238E27FC236}">
                    <a16:creationId xmlns:a16="http://schemas.microsoft.com/office/drawing/2014/main" id="{D388CCDB-70F5-49EE-9C9E-3FBFC6338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24FB210-97A6-4CC3-B526-E82B9D511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F438C486-1A84-442A-BA7D-2063F4275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2AD88CF5-1615-4CC1-9D21-B6CC211E6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Line 8">
                <a:extLst>
                  <a:ext uri="{FF2B5EF4-FFF2-40B4-BE49-F238E27FC236}">
                    <a16:creationId xmlns:a16="http://schemas.microsoft.com/office/drawing/2014/main" id="{F202476A-11A9-4679-B40D-975419C2E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7" name="Line 9">
                <a:extLst>
                  <a:ext uri="{FF2B5EF4-FFF2-40B4-BE49-F238E27FC236}">
                    <a16:creationId xmlns:a16="http://schemas.microsoft.com/office/drawing/2014/main" id="{2321A98D-FE58-48A4-B281-E498B9C03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41A997A6-164F-4BD2-BA0C-2F918096A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31ED87B4-5544-452F-B6D3-960374A41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20" name="Text Box 12">
                <a:extLst>
                  <a:ext uri="{FF2B5EF4-FFF2-40B4-BE49-F238E27FC236}">
                    <a16:creationId xmlns:a16="http://schemas.microsoft.com/office/drawing/2014/main" id="{449871CF-16A3-471A-9317-FC3B596FD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022" y="3990975"/>
                <a:ext cx="84350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heap</a:t>
                </a:r>
              </a:p>
            </p:txBody>
          </p:sp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283462D4-BC88-4968-9628-67A4243DD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984E180F-B02B-4C4B-B0BB-A4B2F4F99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3" name="Line 15">
                <a:extLst>
                  <a:ext uri="{FF2B5EF4-FFF2-40B4-BE49-F238E27FC236}">
                    <a16:creationId xmlns:a16="http://schemas.microsoft.com/office/drawing/2014/main" id="{F9A24A27-B8A2-4348-BC00-FE9B751A4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4" name="Text Box 17">
                <a:extLst>
                  <a:ext uri="{FF2B5EF4-FFF2-40B4-BE49-F238E27FC236}">
                    <a16:creationId xmlns:a16="http://schemas.microsoft.com/office/drawing/2014/main" id="{B8DE2855-F887-4591-9F8E-702F572BE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5" name="Text Box 18">
                <a:extLst>
                  <a:ext uri="{FF2B5EF4-FFF2-40B4-BE49-F238E27FC236}">
                    <a16:creationId xmlns:a16="http://schemas.microsoft.com/office/drawing/2014/main" id="{D46E1BD5-52E8-4E23-99D4-9E9E77557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947EFF-0927-4683-A922-FCB1D49A26D1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29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05398"/>
            <a:ext cx="5446234" cy="4179729"/>
          </a:xfrm>
        </p:spPr>
        <p:txBody>
          <a:bodyPr/>
          <a:lstStyle/>
          <a:p>
            <a:r>
              <a:rPr lang="en-US" dirty="0"/>
              <a:t>Code has a few known properties:</a:t>
            </a:r>
          </a:p>
          <a:p>
            <a:pPr lvl="1"/>
            <a:r>
              <a:rPr lang="en-US" dirty="0"/>
              <a:t>It </a:t>
            </a:r>
            <a:r>
              <a:rPr lang="en-US" i="1" dirty="0"/>
              <a:t>likely</a:t>
            </a:r>
            <a:r>
              <a:rPr lang="en-US" dirty="0"/>
              <a:t> should not change.</a:t>
            </a:r>
          </a:p>
          <a:p>
            <a:pPr lvl="1"/>
            <a:r>
              <a:rPr lang="en-US" dirty="0"/>
              <a:t>It must be loaded before a program can start.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2639" y="5440678"/>
                <a:ext cx="854722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022" y="3990975"/>
                <a:ext cx="84350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DE333B7-E6E3-4B42-ACD8-1BDBF58E58B4}"/>
              </a:ext>
            </a:extLst>
          </p:cNvPr>
          <p:cNvSpPr txBox="1">
            <a:spLocks/>
          </p:cNvSpPr>
          <p:nvPr/>
        </p:nvSpPr>
        <p:spPr>
          <a:xfrm>
            <a:off x="673102" y="2179320"/>
            <a:ext cx="5960491" cy="3524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factorial(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(n &lt;= 1) {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;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n * factorial(n - 1);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factorial(5);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94F8DC-F2DE-47A8-8A5A-4F6C1A79589D}"/>
              </a:ext>
            </a:extLst>
          </p:cNvPr>
          <p:cNvSpPr/>
          <p:nvPr/>
        </p:nvSpPr>
        <p:spPr>
          <a:xfrm>
            <a:off x="673102" y="3172690"/>
            <a:ext cx="5876009" cy="763200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91BE86-EEF7-4C92-830F-E3F974F58AE4}"/>
              </a:ext>
            </a:extLst>
          </p:cNvPr>
          <p:cNvSpPr/>
          <p:nvPr/>
        </p:nvSpPr>
        <p:spPr>
          <a:xfrm>
            <a:off x="697021" y="4897581"/>
            <a:ext cx="5876009" cy="419052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2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Static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20" y="683673"/>
            <a:ext cx="6961922" cy="4346034"/>
          </a:xfrm>
        </p:spPr>
        <p:txBody>
          <a:bodyPr/>
          <a:lstStyle/>
          <a:p>
            <a:r>
              <a:rPr lang="en-US" dirty="0"/>
              <a:t>Static Data is an oft forgotten but useful section.</a:t>
            </a:r>
          </a:p>
          <a:p>
            <a:pPr lvl="1"/>
            <a:r>
              <a:rPr lang="en-US" dirty="0"/>
              <a:t>It </a:t>
            </a:r>
            <a:r>
              <a:rPr lang="en-US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does</a:t>
            </a:r>
            <a:r>
              <a:rPr lang="en-US" dirty="0"/>
              <a:t> change. (contrary to its name)</a:t>
            </a:r>
          </a:p>
          <a:p>
            <a:pPr lvl="1"/>
            <a:r>
              <a:rPr lang="en-US" dirty="0"/>
              <a:t>It generally must be loaded before a program starts.</a:t>
            </a:r>
          </a:p>
          <a:p>
            <a:pPr lvl="1"/>
            <a:r>
              <a:rPr lang="en-US" dirty="0"/>
              <a:t>The size of the data and section is fixed.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4685" y="4676777"/>
                <a:ext cx="16321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022" y="3990975"/>
                <a:ext cx="84350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D3DC64F-2EE7-4967-82A3-E0C0484B23A3}"/>
              </a:ext>
            </a:extLst>
          </p:cNvPr>
          <p:cNvSpPr txBox="1">
            <a:spLocks/>
          </p:cNvSpPr>
          <p:nvPr/>
        </p:nvSpPr>
        <p:spPr>
          <a:xfrm>
            <a:off x="673102" y="2179320"/>
            <a:ext cx="5960491" cy="3524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factorial(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(n &lt;= 1) {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;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n * factorial(n - 1);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factorial(5);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E807B-538A-4498-990C-CDBA04C23B98}"/>
              </a:ext>
            </a:extLst>
          </p:cNvPr>
          <p:cNvSpPr/>
          <p:nvPr/>
        </p:nvSpPr>
        <p:spPr>
          <a:xfrm>
            <a:off x="673102" y="2112819"/>
            <a:ext cx="3450935" cy="5056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5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The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34" y="744945"/>
            <a:ext cx="6936808" cy="4284761"/>
          </a:xfrm>
        </p:spPr>
        <p:txBody>
          <a:bodyPr/>
          <a:lstStyle/>
          <a:p>
            <a:r>
              <a:rPr lang="en-US" dirty="0"/>
              <a:t>The Stack is a space for temporary dynamic data.</a:t>
            </a:r>
          </a:p>
          <a:p>
            <a:pPr lvl="1"/>
            <a:r>
              <a:rPr lang="en-US" dirty="0"/>
              <a:t>Holds local variables and function arguments.</a:t>
            </a:r>
          </a:p>
          <a:p>
            <a:pPr lvl="1"/>
            <a:r>
              <a:rPr lang="en-US" dirty="0"/>
              <a:t>Allocated when functions are called. Freed on return.</a:t>
            </a:r>
          </a:p>
          <a:p>
            <a:pPr lvl="1"/>
            <a:r>
              <a:rPr lang="en-US" dirty="0"/>
              <a:t>Grows “downward”! (Allocates lower addresses)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022" y="3990975"/>
                <a:ext cx="84350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0550" y="1616076"/>
                <a:ext cx="920445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D3DC64F-2EE7-4967-82A3-E0C0484B23A3}"/>
              </a:ext>
            </a:extLst>
          </p:cNvPr>
          <p:cNvSpPr txBox="1">
            <a:spLocks/>
          </p:cNvSpPr>
          <p:nvPr/>
        </p:nvSpPr>
        <p:spPr>
          <a:xfrm>
            <a:off x="673102" y="2179320"/>
            <a:ext cx="5960491" cy="3524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factorial(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(n &lt;= 1) {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my_static_var</a:t>
            </a:r>
            <a:r>
              <a:rPr lang="en-US" sz="2400" dirty="0">
                <a:latin typeface="Inconsolata" panose="020B0609030003000000" pitchFamily="49" charset="0"/>
              </a:rPr>
              <a:t>;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latin typeface="Inconsolata" panose="020B0609030003000000" pitchFamily="49" charset="0"/>
              </a:rPr>
              <a:t> n * factorial(n - 1);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factorial(5);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E807B-538A-4498-990C-CDBA04C23B98}"/>
              </a:ext>
            </a:extLst>
          </p:cNvPr>
          <p:cNvSpPr/>
          <p:nvPr/>
        </p:nvSpPr>
        <p:spPr>
          <a:xfrm>
            <a:off x="2576498" y="2796398"/>
            <a:ext cx="1020932" cy="5056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D428E823-1D12-4D80-9A21-993E4AD649F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20053" y="3433953"/>
            <a:ext cx="1920811" cy="1151392"/>
          </a:xfrm>
          <a:prstGeom prst="curvedConnector4">
            <a:avLst>
              <a:gd name="adj1" fmla="val 39487"/>
              <a:gd name="adj2" fmla="val 130054"/>
            </a:avLst>
          </a:prstGeom>
          <a:ln w="57150">
            <a:solidFill>
              <a:schemeClr val="accent2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401FC57-85A6-4F61-8B11-FC9E99BC7385}"/>
              </a:ext>
            </a:extLst>
          </p:cNvPr>
          <p:cNvSpPr/>
          <p:nvPr/>
        </p:nvSpPr>
        <p:spPr>
          <a:xfrm>
            <a:off x="3797940" y="3503959"/>
            <a:ext cx="1020932" cy="5056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EDEACD-E9E3-457B-AAD9-D01297BCD75C}"/>
              </a:ext>
            </a:extLst>
          </p:cNvPr>
          <p:cNvSpPr txBox="1"/>
          <p:nvPr/>
        </p:nvSpPr>
        <p:spPr>
          <a:xfrm>
            <a:off x="3190041" y="4385282"/>
            <a:ext cx="37208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Stack Allocation allows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recursion. However, the more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you recurse, the more you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use! (Stack is only freed on return)</a:t>
            </a:r>
          </a:p>
        </p:txBody>
      </p:sp>
    </p:spTree>
    <p:extLst>
      <p:ext uri="{BB962C8B-B14F-4D97-AF65-F5344CB8AC3E}">
        <p14:creationId xmlns:p14="http://schemas.microsoft.com/office/powerpoint/2010/main" val="83037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1" grpId="0" animBg="1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59A4-F7E9-418C-898E-B9F94C9E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our past troubles: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B5D43-29D8-4111-AD6F-92785CD7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26" y="678180"/>
            <a:ext cx="8845075" cy="5120640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000" dirty="0">
                <a:latin typeface="Inconsolata" panose="020B0609030003000000" pitchFamily="49" charset="0"/>
              </a:rPr>
              <a:t>&lt;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000" dirty="0">
                <a:latin typeface="Inconsolata" panose="020B0609030003000000" pitchFamily="49" charset="0"/>
              </a:rPr>
              <a:t>&gt;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Gives us '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000" dirty="0">
                <a:latin typeface="Inconsolata" panose="020B0609030003000000" pitchFamily="49" charset="0"/>
              </a:rPr>
              <a:t>&lt;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000" dirty="0">
                <a:latin typeface="Inconsolata" panose="020B0609030003000000" pitchFamily="49" charset="0"/>
              </a:rPr>
              <a:t>&gt;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Gives us 'rand' which returns a random-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ish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int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000" dirty="0" err="1">
                <a:latin typeface="Inconsolata" panose="020B0609030003000000" pitchFamily="49" charset="0"/>
              </a:rPr>
              <a:t>undefined_local</a:t>
            </a:r>
            <a:r>
              <a:rPr lang="en-US" sz="2000" dirty="0">
                <a:latin typeface="Inconsolata" panose="020B0609030003000000" pitchFamily="49" charset="0"/>
              </a:rPr>
              <a:t>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000" dirty="0">
                <a:latin typeface="Inconsolata" panose="020B0609030003000000" pitchFamily="49" charset="0"/>
              </a:rPr>
              <a:t>x;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latin typeface="Inconsolata" panose="020B0609030003000000" pitchFamily="49" charset="0"/>
              </a:rPr>
              <a:t>printf</a:t>
            </a:r>
            <a:r>
              <a:rPr lang="en-US" sz="2000" dirty="0">
                <a:latin typeface="Inconsolata" panose="020B0609030003000000" pitchFamily="49" charset="0"/>
              </a:rPr>
              <a:t>(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"x = %d\n"</a:t>
            </a:r>
            <a:r>
              <a:rPr lang="en-US" sz="2000" dirty="0">
                <a:latin typeface="Inconsolata" panose="020B0609030003000000" pitchFamily="49" charset="0"/>
              </a:rPr>
              <a:t>, x);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000" dirty="0">
                <a:latin typeface="Inconsolata" panose="020B0609030003000000" pitchFamily="49" charset="0"/>
              </a:rPr>
              <a:t> </a:t>
            </a:r>
            <a:r>
              <a:rPr lang="en-US" sz="2000" dirty="0" err="1">
                <a:latin typeface="Inconsolata" panose="020B0609030003000000" pitchFamily="49" charset="0"/>
              </a:rPr>
              <a:t>some_calc</a:t>
            </a:r>
            <a:r>
              <a:rPr lang="en-US" sz="2000" dirty="0">
                <a:latin typeface="Inconsolata" panose="020B0609030003000000" pitchFamily="49" charset="0"/>
              </a:rPr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000" dirty="0">
                <a:latin typeface="Inconsolata" panose="020B0609030003000000" pitchFamily="49" charset="0"/>
              </a:rPr>
              <a:t> a)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a = a % 2 ? rand() : -a;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000" dirty="0">
                <a:latin typeface="Inconsolata" panose="020B0609030003000000" pitchFamily="49" charset="0"/>
              </a:rPr>
              <a:t> main(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0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000" dirty="0">
                <a:latin typeface="Inconsolata" panose="020B0609030003000000" pitchFamily="49" charset="0"/>
              </a:rPr>
              <a:t>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000" dirty="0">
                <a:latin typeface="Inconsolata" panose="020B0609030003000000" pitchFamily="49" charset="0"/>
              </a:rPr>
              <a:t> </a:t>
            </a:r>
            <a:r>
              <a:rPr lang="en-US" sz="2000" dirty="0" err="1">
                <a:latin typeface="Inconsolata" panose="020B0609030003000000" pitchFamily="49" charset="0"/>
              </a:rPr>
              <a:t>i</a:t>
            </a:r>
            <a:r>
              <a:rPr lang="en-US" sz="2000" dirty="0">
                <a:latin typeface="Inconsolata" panose="020B0609030003000000" pitchFamily="49" charset="0"/>
              </a:rPr>
              <a:t> = 0; </a:t>
            </a:r>
            <a:r>
              <a:rPr lang="en-US" sz="2000" dirty="0" err="1">
                <a:latin typeface="Inconsolata" panose="020B0609030003000000" pitchFamily="49" charset="0"/>
              </a:rPr>
              <a:t>i</a:t>
            </a:r>
            <a:r>
              <a:rPr lang="en-US" sz="2000" dirty="0">
                <a:latin typeface="Inconsolata" panose="020B0609030003000000" pitchFamily="49" charset="0"/>
              </a:rPr>
              <a:t> &lt; 5; </a:t>
            </a:r>
            <a:r>
              <a:rPr lang="en-US" sz="2000" dirty="0" err="1">
                <a:latin typeface="Inconsolata" panose="020B0609030003000000" pitchFamily="49" charset="0"/>
              </a:rPr>
              <a:t>i</a:t>
            </a:r>
            <a:r>
              <a:rPr lang="en-US" sz="20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  </a:t>
            </a:r>
            <a:r>
              <a:rPr lang="en-US" sz="2000" dirty="0" err="1">
                <a:latin typeface="Inconsolata" panose="020B0609030003000000" pitchFamily="49" charset="0"/>
              </a:rPr>
              <a:t>some_calc</a:t>
            </a:r>
            <a:r>
              <a:rPr lang="en-US" sz="2000" dirty="0">
                <a:latin typeface="Inconsolata" panose="020B0609030003000000" pitchFamily="49" charset="0"/>
              </a:rPr>
              <a:t>(</a:t>
            </a:r>
            <a:r>
              <a:rPr lang="en-US" sz="2000" dirty="0" err="1">
                <a:latin typeface="Inconsolata" panose="020B0609030003000000" pitchFamily="49" charset="0"/>
              </a:rPr>
              <a:t>i</a:t>
            </a:r>
            <a:r>
              <a:rPr lang="en-US" sz="2000" dirty="0">
                <a:latin typeface="Inconsolata" panose="020B0609030003000000" pitchFamily="49" charset="0"/>
              </a:rPr>
              <a:t> * </a:t>
            </a:r>
            <a:r>
              <a:rPr lang="en-US" sz="2000" dirty="0" err="1">
                <a:latin typeface="Inconsolata" panose="020B0609030003000000" pitchFamily="49" charset="0"/>
              </a:rPr>
              <a:t>i</a:t>
            </a:r>
            <a:r>
              <a:rPr lang="en-US" sz="20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  </a:t>
            </a:r>
            <a:r>
              <a:rPr lang="en-US" sz="2000" dirty="0" err="1">
                <a:latin typeface="Inconsolata" panose="020B0609030003000000" pitchFamily="49" charset="0"/>
              </a:rPr>
              <a:t>undefined_local</a:t>
            </a:r>
            <a:r>
              <a:rPr lang="en-US" sz="2000" dirty="0">
                <a:latin typeface="Inconsolata" panose="020B0609030003000000" pitchFamily="49" charset="0"/>
              </a:rPr>
              <a:t>();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20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AB91D-1CF8-4CA4-AA63-D03224A7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C282D-C5DB-444B-8B2E-443C3DDCFA8C}"/>
              </a:ext>
            </a:extLst>
          </p:cNvPr>
          <p:cNvSpPr txBox="1"/>
          <p:nvPr/>
        </p:nvSpPr>
        <p:spPr>
          <a:xfrm>
            <a:off x="3314363" y="5209197"/>
            <a:ext cx="5774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Hmm. Where is the value for ‘x’ coming from? Why?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8C75AA-85A4-42FD-B06C-B64BE9F0A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00994" y="755118"/>
            <a:ext cx="759633" cy="11489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B237C0-D828-4120-B825-E505447E969F}"/>
              </a:ext>
            </a:extLst>
          </p:cNvPr>
          <p:cNvSpPr/>
          <p:nvPr/>
        </p:nvSpPr>
        <p:spPr>
          <a:xfrm>
            <a:off x="7717815" y="2114203"/>
            <a:ext cx="1836420" cy="2324100"/>
          </a:xfrm>
          <a:prstGeom prst="rect">
            <a:avLst/>
          </a:prstGeom>
          <a:solidFill>
            <a:srgbClr val="091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833251-C250-4081-8A31-9A1CF4D751A4}"/>
              </a:ext>
            </a:extLst>
          </p:cNvPr>
          <p:cNvSpPr/>
          <p:nvPr/>
        </p:nvSpPr>
        <p:spPr>
          <a:xfrm>
            <a:off x="7533741" y="2060942"/>
            <a:ext cx="1836420" cy="2324100"/>
          </a:xfrm>
          <a:prstGeom prst="rect">
            <a:avLst/>
          </a:prstGeom>
          <a:solidFill>
            <a:srgbClr val="35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F3605-741C-4182-8841-617D5DA068BD}"/>
              </a:ext>
            </a:extLst>
          </p:cNvPr>
          <p:cNvSpPr txBox="1"/>
          <p:nvPr/>
        </p:nvSpPr>
        <p:spPr>
          <a:xfrm>
            <a:off x="7633199" y="2084338"/>
            <a:ext cx="181395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Output:</a:t>
            </a:r>
          </a:p>
          <a:p>
            <a:endParaRPr lang="en-US" dirty="0">
              <a:latin typeface="Inconsolata" panose="020B0609030003000000" pitchFamily="49" charset="0"/>
            </a:endParaRPr>
          </a:p>
          <a:p>
            <a:r>
              <a:rPr lang="en-US" dirty="0">
                <a:latin typeface="Inconsolata" panose="020B0609030003000000" pitchFamily="49" charset="0"/>
              </a:rPr>
              <a:t>x = 0</a:t>
            </a:r>
          </a:p>
          <a:p>
            <a:r>
              <a:rPr lang="en-US" dirty="0">
                <a:latin typeface="Inconsolata" panose="020B0609030003000000" pitchFamily="49" charset="0"/>
              </a:rPr>
              <a:t>x = 1804289383</a:t>
            </a:r>
          </a:p>
          <a:p>
            <a:r>
              <a:rPr lang="en-US" dirty="0">
                <a:latin typeface="Inconsolata" panose="020B0609030003000000" pitchFamily="49" charset="0"/>
              </a:rPr>
              <a:t>x = -4</a:t>
            </a:r>
          </a:p>
          <a:p>
            <a:r>
              <a:rPr lang="en-US" dirty="0">
                <a:latin typeface="Inconsolata" panose="020B0609030003000000" pitchFamily="49" charset="0"/>
              </a:rPr>
              <a:t>x = 846930886</a:t>
            </a:r>
          </a:p>
          <a:p>
            <a:r>
              <a:rPr lang="en-US" dirty="0">
                <a:latin typeface="Inconsolata" panose="020B0609030003000000" pitchFamily="49" charset="0"/>
              </a:rPr>
              <a:t>x = -16</a:t>
            </a:r>
          </a:p>
          <a:p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E28580-CC71-4A59-B97A-9C0802DD8E47}"/>
              </a:ext>
            </a:extLst>
          </p:cNvPr>
          <p:cNvSpPr/>
          <p:nvPr/>
        </p:nvSpPr>
        <p:spPr>
          <a:xfrm>
            <a:off x="2200987" y="2682892"/>
            <a:ext cx="867759" cy="34921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EB07D-37E8-43A9-9E29-4EA68F969137}"/>
              </a:ext>
            </a:extLst>
          </p:cNvPr>
          <p:cNvSpPr txBox="1"/>
          <p:nvPr/>
        </p:nvSpPr>
        <p:spPr>
          <a:xfrm>
            <a:off x="3447935" y="2682892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Stack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571D1-5381-4F07-B141-8A0816D0B1D5}"/>
              </a:ext>
            </a:extLst>
          </p:cNvPr>
          <p:cNvSpPr txBox="1"/>
          <p:nvPr/>
        </p:nvSpPr>
        <p:spPr>
          <a:xfrm rot="19674074">
            <a:off x="7597200" y="1106444"/>
            <a:ext cx="207578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Walbaum Display Heavy" panose="020B0604020202020204" pitchFamily="18" charset="0"/>
                <a:ea typeface="Lato Black" panose="020F0502020204030203" pitchFamily="34" charset="0"/>
                <a:cs typeface="Lato Black" panose="020F0502020204030203" pitchFamily="34" charset="0"/>
              </a:rPr>
              <a:t>SERIOUS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40D76-543C-4FDC-A4B8-B0194570E235}"/>
              </a:ext>
            </a:extLst>
          </p:cNvPr>
          <p:cNvSpPr txBox="1"/>
          <p:nvPr/>
        </p:nvSpPr>
        <p:spPr>
          <a:xfrm>
            <a:off x="3447934" y="1628679"/>
            <a:ext cx="427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 Stack Allocation (No initialization!)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1DB2E-90B3-4380-98E4-2E2BC8A104DE}"/>
              </a:ext>
            </a:extLst>
          </p:cNvPr>
          <p:cNvSpPr/>
          <p:nvPr/>
        </p:nvSpPr>
        <p:spPr>
          <a:xfrm>
            <a:off x="810477" y="1638737"/>
            <a:ext cx="867759" cy="34921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4C0E45-83C2-4669-9020-C7DDA2C16F0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068746" y="2857500"/>
            <a:ext cx="379189" cy="10058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335A20-A81A-4E35-9711-49548E6C33C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678235" y="1813345"/>
            <a:ext cx="1769698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39ECF1-32CF-452C-9A21-BACEF1804FAA}"/>
              </a:ext>
            </a:extLst>
          </p:cNvPr>
          <p:cNvSpPr txBox="1"/>
          <p:nvPr/>
        </p:nvSpPr>
        <p:spPr>
          <a:xfrm>
            <a:off x="3600335" y="4224820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Function Call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9E49FF-9C2A-4856-A2DC-5A92C14B8FB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221146" y="4399428"/>
            <a:ext cx="379189" cy="10058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B41877-9D5F-4F24-9B84-CC0B2B58367B}"/>
              </a:ext>
            </a:extLst>
          </p:cNvPr>
          <p:cNvSpPr txBox="1"/>
          <p:nvPr/>
        </p:nvSpPr>
        <p:spPr>
          <a:xfrm>
            <a:off x="3600335" y="4550155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Function Call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1A826E-B90B-4365-B745-80239F8D1DF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221146" y="4724763"/>
            <a:ext cx="379189" cy="10058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219F66-02A6-40F9-A058-710561BA3E2E}"/>
              </a:ext>
            </a:extLst>
          </p:cNvPr>
          <p:cNvSpPr txBox="1"/>
          <p:nvPr/>
        </p:nvSpPr>
        <p:spPr>
          <a:xfrm>
            <a:off x="3447934" y="2014126"/>
            <a:ext cx="427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   It reuses what is already there!!</a:t>
            </a:r>
          </a:p>
        </p:txBody>
      </p:sp>
    </p:spTree>
    <p:extLst>
      <p:ext uri="{BB962C8B-B14F-4D97-AF65-F5344CB8AC3E}">
        <p14:creationId xmlns:p14="http://schemas.microsoft.com/office/powerpoint/2010/main" val="284615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7" grpId="0" animBg="1"/>
      <p:bldP spid="11" grpId="0" animBg="1"/>
      <p:bldP spid="4" grpId="0"/>
      <p:bldP spid="12" grpId="0" animBg="1"/>
      <p:bldP spid="13" grpId="0"/>
      <p:bldP spid="14" grpId="0" animBg="1"/>
      <p:bldP spid="22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49977"/>
            <a:ext cx="6150721" cy="4179729"/>
          </a:xfrm>
        </p:spPr>
        <p:txBody>
          <a:bodyPr/>
          <a:lstStyle/>
          <a:p>
            <a:r>
              <a:rPr lang="en-US" dirty="0"/>
              <a:t>The Heap is the dynamic data section!</a:t>
            </a:r>
          </a:p>
          <a:p>
            <a:pPr lvl="1"/>
            <a:r>
              <a:rPr lang="en-US" dirty="0"/>
              <a:t>Managing this memory can be very complex.</a:t>
            </a:r>
          </a:p>
          <a:p>
            <a:pPr lvl="1"/>
            <a:r>
              <a:rPr lang="en-US" dirty="0"/>
              <a:t>No garbage collection provided!!</a:t>
            </a:r>
          </a:p>
          <a:p>
            <a:pPr lvl="1"/>
            <a:r>
              <a:rPr lang="en-US" dirty="0"/>
              <a:t>We will revisit it in greater detail very soon.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007" y="3990975"/>
                <a:ext cx="85953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D3DC64F-2EE7-4967-82A3-E0C0484B23A3}"/>
              </a:ext>
            </a:extLst>
          </p:cNvPr>
          <p:cNvSpPr txBox="1">
            <a:spLocks/>
          </p:cNvSpPr>
          <p:nvPr/>
        </p:nvSpPr>
        <p:spPr>
          <a:xfrm>
            <a:off x="673101" y="2270760"/>
            <a:ext cx="7072776" cy="3524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'malloc'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 want 10 integers in my array.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malloc returns the address in the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heap. But, wait, what’s that 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??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  <a:r>
              <a:rPr lang="en-US" sz="2400" dirty="0">
                <a:latin typeface="Inconsolata" panose="020B0609030003000000" pitchFamily="49" charset="0"/>
              </a:rPr>
              <a:t> data = 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 * 10);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  <a:r>
              <a:rPr lang="en-GB" sz="2000" b="1" dirty="0"/>
              <a:t> 😱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B6C471-50D4-436A-8EDE-8B441902EDE2}"/>
              </a:ext>
            </a:extLst>
          </p:cNvPr>
          <p:cNvSpPr/>
          <p:nvPr/>
        </p:nvSpPr>
        <p:spPr>
          <a:xfrm>
            <a:off x="2782807" y="4685496"/>
            <a:ext cx="4021110" cy="50569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E4A2-5902-4A37-B7AF-4AEB72B4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Can an emoji be a variable name?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3567A30-43E6-48FD-9C8F-2D5A4E087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404511"/>
              </p:ext>
            </p:extLst>
          </p:nvPr>
        </p:nvGraphicFramePr>
        <p:xfrm>
          <a:off x="608065" y="1510777"/>
          <a:ext cx="35052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498">
                  <a:extLst>
                    <a:ext uri="{9D8B030D-6E8A-4147-A177-3AD203B41FA5}">
                      <a16:colId xmlns:a16="http://schemas.microsoft.com/office/drawing/2014/main" val="2764868368"/>
                    </a:ext>
                  </a:extLst>
                </a:gridCol>
                <a:gridCol w="1294702">
                  <a:extLst>
                    <a:ext uri="{9D8B030D-6E8A-4147-A177-3AD203B41FA5}">
                      <a16:colId xmlns:a16="http://schemas.microsoft.com/office/drawing/2014/main" val="9515658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Compiler and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0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gcc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74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gcc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46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gcc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5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clang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clang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😃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44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clang </a:t>
                      </a:r>
                      <a:r>
                        <a:rPr lang="en-GB" dirty="0" err="1"/>
                        <a:t>main.c</a:t>
                      </a:r>
                      <a:r>
                        <a:rPr lang="en-GB" dirty="0"/>
                        <a:t> -std=c18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😃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0816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A6133-A5B9-4A1E-AED7-E2352FEF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FD146-E896-452A-A264-073458556EFB}"/>
              </a:ext>
            </a:extLst>
          </p:cNvPr>
          <p:cNvSpPr txBox="1"/>
          <p:nvPr/>
        </p:nvSpPr>
        <p:spPr>
          <a:xfrm>
            <a:off x="5466304" y="1510777"/>
            <a:ext cx="3989195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GB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😱 = </a:t>
            </a:r>
            <a:r>
              <a:rPr lang="en-GB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"😱 is %d</a:t>
            </a:r>
            <a:r>
              <a:rPr lang="en-GB" b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😱);</a:t>
            </a:r>
          </a:p>
          <a:p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EC7AB-71A2-4567-BE9C-7CE8B0CFABBF}"/>
              </a:ext>
            </a:extLst>
          </p:cNvPr>
          <p:cNvSpPr txBox="1"/>
          <p:nvPr/>
        </p:nvSpPr>
        <p:spPr>
          <a:xfrm>
            <a:off x="2867160" y="969367"/>
            <a:ext cx="379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questions that really matter </a:t>
            </a:r>
            <a:r>
              <a:rPr lang="en-GB" dirty="0"/>
              <a:t>😃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29DCC-95E2-4355-96A6-4E042586871D}"/>
              </a:ext>
            </a:extLst>
          </p:cNvPr>
          <p:cNvSpPr txBox="1"/>
          <p:nvPr/>
        </p:nvSpPr>
        <p:spPr>
          <a:xfrm>
            <a:off x="5466304" y="3572940"/>
            <a:ext cx="3989195" cy="6463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lun8@thoth:~/code_449$ ./Hello</a:t>
            </a:r>
          </a:p>
          <a:p>
            <a:r>
              <a:rPr lang="en-GB" dirty="0">
                <a:solidFill>
                  <a:schemeClr val="bg1"/>
                </a:solidFill>
              </a:rPr>
              <a:t>😱 is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3765D-CA2E-4049-A479-71B072B7A903}"/>
              </a:ext>
            </a:extLst>
          </p:cNvPr>
          <p:cNvSpPr txBox="1"/>
          <p:nvPr/>
        </p:nvSpPr>
        <p:spPr>
          <a:xfrm>
            <a:off x="1882115" y="4680571"/>
            <a:ext cx="568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Answer: So… Not really, so avoid it (unless it’s for fun)!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7266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B6149D-62C5-4C69-98B4-005DE7B0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E449B4-00A8-4FEE-9BB3-C7A7F1E42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point to things. They are not the things. But they are things!?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0CAF1-76A7-4866-B0F9-D33E44FD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2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75CF79-4FE8-4F47-83BB-3982558E8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“Memory Address” Variable Type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5595C1-7597-49B7-A80A-EE7A767F8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50" y="742950"/>
            <a:ext cx="9226550" cy="4404519"/>
          </a:xfrm>
        </p:spPr>
        <p:txBody>
          <a:bodyPr/>
          <a:lstStyle/>
          <a:p>
            <a:r>
              <a:rPr lang="en-US" dirty="0"/>
              <a:t>In C, we have integer types, floating point types…</a:t>
            </a:r>
          </a:p>
          <a:p>
            <a:r>
              <a:rPr lang="en-US" dirty="0"/>
              <a:t>Now we introduce our dedicated address type!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pointer</a:t>
            </a:r>
            <a:r>
              <a:rPr lang="en-US" dirty="0"/>
              <a:t> is a specific variable type that holds a memory address.</a:t>
            </a:r>
          </a:p>
          <a:p>
            <a:endParaRPr lang="en-US" dirty="0"/>
          </a:p>
          <a:p>
            <a:r>
              <a:rPr lang="en-US" dirty="0"/>
              <a:t>You can create a pointer that </a:t>
            </a:r>
            <a:r>
              <a:rPr lang="en-US" i="1" dirty="0"/>
              <a:t>points</a:t>
            </a:r>
            <a:r>
              <a:rPr lang="en-US" dirty="0"/>
              <a:t> to any address in memory.</a:t>
            </a:r>
          </a:p>
          <a:p>
            <a:r>
              <a:rPr lang="en-US" dirty="0"/>
              <a:t>Furthermore, you can tell it what type of data it should interpret that memory to be:  Just place that</a:t>
            </a:r>
            <a:r>
              <a:rPr lang="en-US" dirty="0">
                <a:latin typeface="Inconsolata" panose="020B0609030003000000" pitchFamily="49" charset="0"/>
              </a:rPr>
              <a:t> * </a:t>
            </a:r>
            <a:r>
              <a:rPr lang="en-US" dirty="0"/>
              <a:t>at the end.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BF9EE-B8CB-42A5-BDD6-953FB65B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F21382-2B57-4D40-84B0-F010507B7C53}"/>
              </a:ext>
            </a:extLst>
          </p:cNvPr>
          <p:cNvSpPr txBox="1">
            <a:spLocks/>
          </p:cNvSpPr>
          <p:nvPr/>
        </p:nvSpPr>
        <p:spPr>
          <a:xfrm>
            <a:off x="1038492" y="4160171"/>
            <a:ext cx="8564647" cy="1543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my_integer_somewhere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float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hey_its_a_float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Song* </a:t>
            </a:r>
            <a:r>
              <a:rPr lang="en-US" sz="2400" dirty="0" err="1">
                <a:latin typeface="Inconsolata" panose="020B0609030003000000" pitchFamily="49" charset="0"/>
              </a:rPr>
              <a:t>ah_our_trusty_song_type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0264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E536DCE-FFDD-438C-AB08-AF5479661A0A}"/>
              </a:ext>
            </a:extLst>
          </p:cNvPr>
          <p:cNvSpPr txBox="1"/>
          <p:nvPr/>
        </p:nvSpPr>
        <p:spPr>
          <a:xfrm>
            <a:off x="6934378" y="3755324"/>
            <a:ext cx="2438399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B2D27-89F9-4710-8FE9-6E5A3276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Pointers: Basics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BDC3387-79AF-4575-B895-17905E7C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1" y="4314415"/>
            <a:ext cx="6282800" cy="1210403"/>
          </a:xfrm>
        </p:spPr>
        <p:txBody>
          <a:bodyPr/>
          <a:lstStyle/>
          <a:p>
            <a:r>
              <a:rPr lang="en-US" dirty="0"/>
              <a:t>Pointers can pointer to individual sections of memory.</a:t>
            </a:r>
          </a:p>
          <a:p>
            <a:pPr lvl="1"/>
            <a:r>
              <a:rPr lang="en-US" dirty="0"/>
              <a:t>They interpret whatever binary information is there.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34D44-AC0B-4329-8909-A68A57FA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C4CF66-B5AB-4981-A0A4-B483696846E5}"/>
              </a:ext>
            </a:extLst>
          </p:cNvPr>
          <p:cNvSpPr txBox="1">
            <a:spLocks/>
          </p:cNvSpPr>
          <p:nvPr/>
        </p:nvSpPr>
        <p:spPr>
          <a:xfrm>
            <a:off x="641826" y="760838"/>
            <a:ext cx="8564647" cy="457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_int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0x20000000;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float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_float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0xB804524C;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8E68795-6485-4B00-B9D7-0E81281B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A7CA5F2A-BC1C-4483-8465-744B504CD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67CB2AD3-C984-4727-A08F-8DE56115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7461BC-8E06-47F0-9FBD-E68C1F1B0451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FF0ED15-3426-4AEE-A3C7-379BD5BF5538}"/>
              </a:ext>
            </a:extLst>
          </p:cNvPr>
          <p:cNvSpPr/>
          <p:nvPr/>
        </p:nvSpPr>
        <p:spPr>
          <a:xfrm>
            <a:off x="2839372" y="1142734"/>
            <a:ext cx="4076409" cy="2882143"/>
          </a:xfrm>
          <a:custGeom>
            <a:avLst/>
            <a:gdLst>
              <a:gd name="connsiteX0" fmla="*/ 0 w 4076409"/>
              <a:gd name="connsiteY0" fmla="*/ 218397 h 2882143"/>
              <a:gd name="connsiteX1" fmla="*/ 1033063 w 4076409"/>
              <a:gd name="connsiteY1" fmla="*/ 239337 h 2882143"/>
              <a:gd name="connsiteX2" fmla="*/ 1305289 w 4076409"/>
              <a:gd name="connsiteY2" fmla="*/ 2654470 h 2882143"/>
              <a:gd name="connsiteX3" fmla="*/ 4076409 w 4076409"/>
              <a:gd name="connsiteY3" fmla="*/ 2787093 h 288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6409" h="2882143">
                <a:moveTo>
                  <a:pt x="0" y="218397"/>
                </a:moveTo>
                <a:cubicBezTo>
                  <a:pt x="407757" y="25861"/>
                  <a:pt x="815515" y="-166675"/>
                  <a:pt x="1033063" y="239337"/>
                </a:cubicBezTo>
                <a:cubicBezTo>
                  <a:pt x="1250611" y="645349"/>
                  <a:pt x="798065" y="2229844"/>
                  <a:pt x="1305289" y="2654470"/>
                </a:cubicBezTo>
                <a:cubicBezTo>
                  <a:pt x="1812513" y="3079096"/>
                  <a:pt x="3623863" y="2777786"/>
                  <a:pt x="4076409" y="2787093"/>
                </a:cubicBezTo>
              </a:path>
            </a:pathLst>
          </a:custGeom>
          <a:noFill/>
          <a:ln w="57150"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2402F1-16E8-46E4-9F0B-D13831D17990}"/>
              </a:ext>
            </a:extLst>
          </p:cNvPr>
          <p:cNvSpPr txBox="1"/>
          <p:nvPr/>
        </p:nvSpPr>
        <p:spPr>
          <a:xfrm>
            <a:off x="6934378" y="2646360"/>
            <a:ext cx="243839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3.14159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91A18FA-347E-43C4-A986-FBDD784D6C05}"/>
              </a:ext>
            </a:extLst>
          </p:cNvPr>
          <p:cNvSpPr/>
          <p:nvPr/>
        </p:nvSpPr>
        <p:spPr>
          <a:xfrm>
            <a:off x="3160459" y="2561976"/>
            <a:ext cx="3720421" cy="959471"/>
          </a:xfrm>
          <a:custGeom>
            <a:avLst/>
            <a:gdLst>
              <a:gd name="connsiteX0" fmla="*/ 0 w 3720421"/>
              <a:gd name="connsiteY0" fmla="*/ 453451 h 959471"/>
              <a:gd name="connsiteX1" fmla="*/ 1738058 w 3720421"/>
              <a:gd name="connsiteY1" fmla="*/ 949042 h 959471"/>
              <a:gd name="connsiteX2" fmla="*/ 2910724 w 3720421"/>
              <a:gd name="connsiteY2" fmla="*/ 41622 h 959471"/>
              <a:gd name="connsiteX3" fmla="*/ 3720421 w 3720421"/>
              <a:gd name="connsiteY3" fmla="*/ 237066 h 95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0421" h="959471">
                <a:moveTo>
                  <a:pt x="0" y="453451"/>
                </a:moveTo>
                <a:cubicBezTo>
                  <a:pt x="626468" y="735565"/>
                  <a:pt x="1252937" y="1017680"/>
                  <a:pt x="1738058" y="949042"/>
                </a:cubicBezTo>
                <a:cubicBezTo>
                  <a:pt x="2223179" y="880404"/>
                  <a:pt x="2580330" y="160285"/>
                  <a:pt x="2910724" y="41622"/>
                </a:cubicBezTo>
                <a:cubicBezTo>
                  <a:pt x="3241118" y="-77041"/>
                  <a:pt x="3480769" y="80012"/>
                  <a:pt x="3720421" y="237066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65295897-A326-4256-AD58-6DCF4568B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2274933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  0xB804524C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2EABE7EC-138A-49F8-9FD6-8258F019D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3396420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  0x20000000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8359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E536DCE-FFDD-438C-AB08-AF5479661A0A}"/>
              </a:ext>
            </a:extLst>
          </p:cNvPr>
          <p:cNvSpPr txBox="1"/>
          <p:nvPr/>
        </p:nvSpPr>
        <p:spPr>
          <a:xfrm>
            <a:off x="6934378" y="3755324"/>
            <a:ext cx="2438399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42 or 0.1543e10(-8) 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B2D27-89F9-4710-8FE9-6E5A3276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Pointers: Hmm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BDC3387-79AF-4575-B895-17905E7C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1" y="4314415"/>
            <a:ext cx="6282800" cy="12104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Pointers can refer to the same address as other pointers just fine.</a:t>
            </a:r>
          </a:p>
          <a:p>
            <a:pPr lvl="1"/>
            <a:r>
              <a:rPr lang="en-US" i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They interpret whatever binary information is there</a:t>
            </a:r>
            <a:r>
              <a:rPr lang="en-US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34D44-AC0B-4329-8909-A68A57FA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C4CF66-B5AB-4981-A0A4-B483696846E5}"/>
              </a:ext>
            </a:extLst>
          </p:cNvPr>
          <p:cNvSpPr txBox="1">
            <a:spLocks/>
          </p:cNvSpPr>
          <p:nvPr/>
        </p:nvSpPr>
        <p:spPr>
          <a:xfrm>
            <a:off x="641826" y="760838"/>
            <a:ext cx="8564647" cy="457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_int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0x20000000;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float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_float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0x20000000;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8E68795-6485-4B00-B9D7-0E81281B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A7CA5F2A-BC1C-4483-8465-744B504CD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67CB2AD3-C984-4727-A08F-8DE56115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7461BC-8E06-47F0-9FBD-E68C1F1B0451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FF0ED15-3426-4AEE-A3C7-379BD5BF5538}"/>
              </a:ext>
            </a:extLst>
          </p:cNvPr>
          <p:cNvSpPr/>
          <p:nvPr/>
        </p:nvSpPr>
        <p:spPr>
          <a:xfrm>
            <a:off x="2839372" y="1142734"/>
            <a:ext cx="4076409" cy="2882143"/>
          </a:xfrm>
          <a:custGeom>
            <a:avLst/>
            <a:gdLst>
              <a:gd name="connsiteX0" fmla="*/ 0 w 4076409"/>
              <a:gd name="connsiteY0" fmla="*/ 218397 h 2882143"/>
              <a:gd name="connsiteX1" fmla="*/ 1033063 w 4076409"/>
              <a:gd name="connsiteY1" fmla="*/ 239337 h 2882143"/>
              <a:gd name="connsiteX2" fmla="*/ 1305289 w 4076409"/>
              <a:gd name="connsiteY2" fmla="*/ 2654470 h 2882143"/>
              <a:gd name="connsiteX3" fmla="*/ 4076409 w 4076409"/>
              <a:gd name="connsiteY3" fmla="*/ 2787093 h 288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6409" h="2882143">
                <a:moveTo>
                  <a:pt x="0" y="218397"/>
                </a:moveTo>
                <a:cubicBezTo>
                  <a:pt x="407757" y="25861"/>
                  <a:pt x="815515" y="-166675"/>
                  <a:pt x="1033063" y="239337"/>
                </a:cubicBezTo>
                <a:cubicBezTo>
                  <a:pt x="1250611" y="645349"/>
                  <a:pt x="798065" y="2229844"/>
                  <a:pt x="1305289" y="2654470"/>
                </a:cubicBezTo>
                <a:cubicBezTo>
                  <a:pt x="1812513" y="3079096"/>
                  <a:pt x="3623863" y="2777786"/>
                  <a:pt x="4076409" y="2787093"/>
                </a:cubicBezTo>
              </a:path>
            </a:pathLst>
          </a:custGeom>
          <a:noFill/>
          <a:ln w="57150"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2402F1-16E8-46E4-9F0B-D13831D17990}"/>
              </a:ext>
            </a:extLst>
          </p:cNvPr>
          <p:cNvSpPr txBox="1"/>
          <p:nvPr/>
        </p:nvSpPr>
        <p:spPr>
          <a:xfrm>
            <a:off x="6934378" y="2646360"/>
            <a:ext cx="243839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3.14159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96340E2-82DD-436F-8932-D68B080BEC97}"/>
              </a:ext>
            </a:extLst>
          </p:cNvPr>
          <p:cNvSpPr/>
          <p:nvPr/>
        </p:nvSpPr>
        <p:spPr>
          <a:xfrm>
            <a:off x="3136900" y="1908032"/>
            <a:ext cx="3714750" cy="2413196"/>
          </a:xfrm>
          <a:custGeom>
            <a:avLst/>
            <a:gdLst>
              <a:gd name="connsiteX0" fmla="*/ 0 w 3714750"/>
              <a:gd name="connsiteY0" fmla="*/ 1082818 h 2413196"/>
              <a:gd name="connsiteX1" fmla="*/ 1933575 w 3714750"/>
              <a:gd name="connsiteY1" fmla="*/ 35068 h 2413196"/>
              <a:gd name="connsiteX2" fmla="*/ 2076450 w 3714750"/>
              <a:gd name="connsiteY2" fmla="*/ 2225818 h 2413196"/>
              <a:gd name="connsiteX3" fmla="*/ 3714750 w 3714750"/>
              <a:gd name="connsiteY3" fmla="*/ 2149618 h 241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4750" h="2413196">
                <a:moveTo>
                  <a:pt x="0" y="1082818"/>
                </a:moveTo>
                <a:cubicBezTo>
                  <a:pt x="793750" y="463693"/>
                  <a:pt x="1587500" y="-155432"/>
                  <a:pt x="1933575" y="35068"/>
                </a:cubicBezTo>
                <a:cubicBezTo>
                  <a:pt x="2279650" y="225568"/>
                  <a:pt x="1779588" y="1873393"/>
                  <a:pt x="2076450" y="2225818"/>
                </a:cubicBezTo>
                <a:cubicBezTo>
                  <a:pt x="2373312" y="2578243"/>
                  <a:pt x="3044031" y="2363930"/>
                  <a:pt x="3714750" y="2149618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19DB62ED-ABB3-4F36-B27D-F2B88C04D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2274933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  0xB804524C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F39982E3-EA9A-44E3-B556-093739407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3396420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  0x20000000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2304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E536DCE-FFDD-438C-AB08-AF5479661A0A}"/>
              </a:ext>
            </a:extLst>
          </p:cNvPr>
          <p:cNvSpPr txBox="1"/>
          <p:nvPr/>
        </p:nvSpPr>
        <p:spPr>
          <a:xfrm>
            <a:off x="6934378" y="3755324"/>
            <a:ext cx="2438399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42 or 0.1543e10(-8) 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B2D27-89F9-4710-8FE9-6E5A3276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Interpreting Pointers: A Sign of Trouble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BDC3387-79AF-4575-B895-17905E7C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1" y="4314415"/>
            <a:ext cx="6282800" cy="1210403"/>
          </a:xfrm>
        </p:spPr>
        <p:txBody>
          <a:bodyPr/>
          <a:lstStyle/>
          <a:p>
            <a:r>
              <a:rPr lang="en-US" dirty="0"/>
              <a:t>Without the pointer, allocated data may linger forever without a way to reference it again!</a:t>
            </a:r>
          </a:p>
          <a:p>
            <a:pPr lvl="1"/>
            <a:r>
              <a:rPr lang="en-US" i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does not manage freeing memory for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34D44-AC0B-4329-8909-A68A57FA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C4CF66-B5AB-4981-A0A4-B483696846E5}"/>
              </a:ext>
            </a:extLst>
          </p:cNvPr>
          <p:cNvSpPr txBox="1">
            <a:spLocks/>
          </p:cNvSpPr>
          <p:nvPr/>
        </p:nvSpPr>
        <p:spPr>
          <a:xfrm>
            <a:off x="641826" y="760838"/>
            <a:ext cx="8564647" cy="457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_int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0x20000000;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float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_float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= 0x20000000;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8E68795-6485-4B00-B9D7-0E81281B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A7CA5F2A-BC1C-4483-8465-744B504CD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67CB2AD3-C984-4727-A08F-8DE56115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7461BC-8E06-47F0-9FBD-E68C1F1B0451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FF0ED15-3426-4AEE-A3C7-379BD5BF5538}"/>
              </a:ext>
            </a:extLst>
          </p:cNvPr>
          <p:cNvSpPr/>
          <p:nvPr/>
        </p:nvSpPr>
        <p:spPr>
          <a:xfrm>
            <a:off x="2839372" y="1142734"/>
            <a:ext cx="4076409" cy="2882143"/>
          </a:xfrm>
          <a:custGeom>
            <a:avLst/>
            <a:gdLst>
              <a:gd name="connsiteX0" fmla="*/ 0 w 4076409"/>
              <a:gd name="connsiteY0" fmla="*/ 218397 h 2882143"/>
              <a:gd name="connsiteX1" fmla="*/ 1033063 w 4076409"/>
              <a:gd name="connsiteY1" fmla="*/ 239337 h 2882143"/>
              <a:gd name="connsiteX2" fmla="*/ 1305289 w 4076409"/>
              <a:gd name="connsiteY2" fmla="*/ 2654470 h 2882143"/>
              <a:gd name="connsiteX3" fmla="*/ 4076409 w 4076409"/>
              <a:gd name="connsiteY3" fmla="*/ 2787093 h 288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6409" h="2882143">
                <a:moveTo>
                  <a:pt x="0" y="218397"/>
                </a:moveTo>
                <a:cubicBezTo>
                  <a:pt x="407757" y="25861"/>
                  <a:pt x="815515" y="-166675"/>
                  <a:pt x="1033063" y="239337"/>
                </a:cubicBezTo>
                <a:cubicBezTo>
                  <a:pt x="1250611" y="645349"/>
                  <a:pt x="798065" y="2229844"/>
                  <a:pt x="1305289" y="2654470"/>
                </a:cubicBezTo>
                <a:cubicBezTo>
                  <a:pt x="1812513" y="3079096"/>
                  <a:pt x="3623863" y="2777786"/>
                  <a:pt x="4076409" y="2787093"/>
                </a:cubicBezTo>
              </a:path>
            </a:pathLst>
          </a:custGeom>
          <a:noFill/>
          <a:ln w="57150"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2402F1-16E8-46E4-9F0B-D13831D17990}"/>
              </a:ext>
            </a:extLst>
          </p:cNvPr>
          <p:cNvSpPr txBox="1"/>
          <p:nvPr/>
        </p:nvSpPr>
        <p:spPr>
          <a:xfrm>
            <a:off x="6934378" y="2646360"/>
            <a:ext cx="243839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3.14159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96340E2-82DD-436F-8932-D68B080BEC97}"/>
              </a:ext>
            </a:extLst>
          </p:cNvPr>
          <p:cNvSpPr/>
          <p:nvPr/>
        </p:nvSpPr>
        <p:spPr>
          <a:xfrm>
            <a:off x="3136900" y="1908032"/>
            <a:ext cx="3714750" cy="2413196"/>
          </a:xfrm>
          <a:custGeom>
            <a:avLst/>
            <a:gdLst>
              <a:gd name="connsiteX0" fmla="*/ 0 w 3714750"/>
              <a:gd name="connsiteY0" fmla="*/ 1082818 h 2413196"/>
              <a:gd name="connsiteX1" fmla="*/ 1933575 w 3714750"/>
              <a:gd name="connsiteY1" fmla="*/ 35068 h 2413196"/>
              <a:gd name="connsiteX2" fmla="*/ 2076450 w 3714750"/>
              <a:gd name="connsiteY2" fmla="*/ 2225818 h 2413196"/>
              <a:gd name="connsiteX3" fmla="*/ 3714750 w 3714750"/>
              <a:gd name="connsiteY3" fmla="*/ 2149618 h 241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4750" h="2413196">
                <a:moveTo>
                  <a:pt x="0" y="1082818"/>
                </a:moveTo>
                <a:cubicBezTo>
                  <a:pt x="793750" y="463693"/>
                  <a:pt x="1587500" y="-155432"/>
                  <a:pt x="1933575" y="35068"/>
                </a:cubicBezTo>
                <a:cubicBezTo>
                  <a:pt x="2279650" y="225568"/>
                  <a:pt x="1779588" y="1873393"/>
                  <a:pt x="2076450" y="2225818"/>
                </a:cubicBezTo>
                <a:cubicBezTo>
                  <a:pt x="2373312" y="2578243"/>
                  <a:pt x="3044031" y="2363930"/>
                  <a:pt x="3714750" y="2149618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AE7DB-59F1-43B9-8D18-35D36243FA98}"/>
              </a:ext>
            </a:extLst>
          </p:cNvPr>
          <p:cNvSpPr txBox="1"/>
          <p:nvPr/>
        </p:nvSpPr>
        <p:spPr>
          <a:xfrm>
            <a:off x="8565946" y="2016942"/>
            <a:ext cx="7073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1C1AF-FABE-4077-9CB5-B8BBA31F3466}"/>
              </a:ext>
            </a:extLst>
          </p:cNvPr>
          <p:cNvSpPr/>
          <p:nvPr/>
        </p:nvSpPr>
        <p:spPr>
          <a:xfrm>
            <a:off x="6940335" y="2310222"/>
            <a:ext cx="1677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Help I’m Lost! </a:t>
            </a:r>
            <a:endParaRPr lang="en-US" dirty="0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CB8A9BFF-7EDB-4920-B71C-FF6DA617C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3396420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  0x20000000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558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5A5-2AF8-4077-B048-70275D2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Dereferencing Pointers: A Star is 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D75B-77BE-4CEA-BE26-E49AB1B2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60289"/>
            <a:ext cx="8343900" cy="4387181"/>
          </a:xfrm>
        </p:spPr>
        <p:txBody>
          <a:bodyPr/>
          <a:lstStyle/>
          <a:p>
            <a:r>
              <a:rPr lang="en-US" dirty="0"/>
              <a:t>So, we have some ambiguity in our language.</a:t>
            </a:r>
          </a:p>
          <a:p>
            <a:r>
              <a:rPr lang="en-US" dirty="0"/>
              <a:t>If we have a </a:t>
            </a:r>
            <a:r>
              <a:rPr lang="en-US" dirty="0"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variable that holds an address</a:t>
            </a:r>
            <a:r>
              <a:rPr lang="en-US" dirty="0"/>
              <a:t>, normal operations </a:t>
            </a:r>
            <a:r>
              <a:rPr lang="en-US" i="1" dirty="0"/>
              <a:t>change the address not the value</a:t>
            </a:r>
            <a:r>
              <a:rPr lang="en-US" dirty="0"/>
              <a:t> referenced by the pointer.</a:t>
            </a:r>
          </a:p>
          <a:p>
            <a:endParaRPr lang="en-US" i="1" dirty="0"/>
          </a:p>
          <a:p>
            <a:r>
              <a:rPr lang="en-US" dirty="0"/>
              <a:t>We use the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dereference operator </a:t>
            </a:r>
            <a:r>
              <a:rPr lang="en-US" dirty="0"/>
              <a:t>(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* 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245B-42F9-4CE6-86A3-F02C67CE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1E24B2-27D9-43F3-83B3-AEE54AE2AA33}"/>
              </a:ext>
            </a:extLst>
          </p:cNvPr>
          <p:cNvSpPr txBox="1">
            <a:spLocks/>
          </p:cNvSpPr>
          <p:nvPr/>
        </p:nvSpPr>
        <p:spPr>
          <a:xfrm>
            <a:off x="673101" y="2857500"/>
            <a:ext cx="8845074" cy="2845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0x00800000;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address is arbitrary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0xffffffff;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Reassigns the ADDRESS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42;     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Reassigns the VALUE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>
                <a:latin typeface="Inconsolata" panose="020B0609030003000000" pitchFamily="49" charset="0"/>
              </a:rPr>
              <a:t>data = 0xc0de;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		// Initializes a new variable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data = 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 // Assigns VALUE from pointer</a:t>
            </a:r>
          </a:p>
        </p:txBody>
      </p:sp>
    </p:spTree>
    <p:extLst>
      <p:ext uri="{BB962C8B-B14F-4D97-AF65-F5344CB8AC3E}">
        <p14:creationId xmlns:p14="http://schemas.microsoft.com/office/powerpoint/2010/main" val="11368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5A5-2AF8-4077-B048-70275D2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Dereferencing Pointers: A Star is 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D75B-77BE-4CEA-BE26-E49AB1B2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23901"/>
            <a:ext cx="9398793" cy="4423570"/>
          </a:xfrm>
        </p:spPr>
        <p:txBody>
          <a:bodyPr/>
          <a:lstStyle/>
          <a:p>
            <a:r>
              <a:rPr lang="en-US" dirty="0"/>
              <a:t>Remember: C implicitly coerces whatever values you throw at it…</a:t>
            </a:r>
            <a:endParaRPr lang="en-US" i="1" dirty="0"/>
          </a:p>
          <a:p>
            <a:r>
              <a:rPr lang="en-US" dirty="0"/>
              <a:t>Incorrectly assigning a value to an address or vice versa will be…</a:t>
            </a:r>
          </a:p>
          <a:p>
            <a:pPr lvl="1"/>
            <a:r>
              <a:rPr lang="en-US" dirty="0"/>
              <a:t>… Well … It will be surprising to say the least.</a:t>
            </a:r>
          </a:p>
          <a:p>
            <a:r>
              <a:rPr lang="en-US" dirty="0"/>
              <a:t>Generally, compilers will issue a warning.</a:t>
            </a:r>
          </a:p>
          <a:p>
            <a:pPr lvl="1"/>
            <a:r>
              <a:rPr lang="en-US" dirty="0"/>
              <a:t>But warnings mean it still compiles!! (You should eliminate warnings in practice)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245B-42F9-4CE6-86A3-F02C67CE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1E24B2-27D9-43F3-83B3-AEE54AE2AA33}"/>
              </a:ext>
            </a:extLst>
          </p:cNvPr>
          <p:cNvSpPr txBox="1">
            <a:spLocks/>
          </p:cNvSpPr>
          <p:nvPr/>
        </p:nvSpPr>
        <p:spPr>
          <a:xfrm>
            <a:off x="245122" y="2732926"/>
            <a:ext cx="9622777" cy="2970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0x00800000;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address is arbitrary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another_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Assigns ADDRESS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int* 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</a:t>
            </a:r>
            <a:r>
              <a:rPr lang="en-GB" sz="2400" dirty="0"/>
              <a:t>🤔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 = *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_data; 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VALUE casted to ADDRESS?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7030A0"/>
                </a:solidFill>
                <a:latin typeface="Inconsolata" panose="020B0609030003000000" pitchFamily="49" charset="0"/>
              </a:rPr>
              <a:t>example.c:4:17: warning: initialization of 'int *' from 'int' makes pointer from integer without a cast</a:t>
            </a:r>
          </a:p>
        </p:txBody>
      </p:sp>
    </p:spTree>
    <p:extLst>
      <p:ext uri="{BB962C8B-B14F-4D97-AF65-F5344CB8AC3E}">
        <p14:creationId xmlns:p14="http://schemas.microsoft.com/office/powerpoint/2010/main" val="243430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5A5-2AF8-4077-B048-70275D2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Data: An… &amp;… is Born?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D75B-77BE-4CEA-BE26-E49AB1B2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60289"/>
            <a:ext cx="8343900" cy="4387181"/>
          </a:xfrm>
        </p:spPr>
        <p:txBody>
          <a:bodyPr/>
          <a:lstStyle/>
          <a:p>
            <a:r>
              <a:rPr lang="en-US" dirty="0"/>
              <a:t>Again… ambiguity. When do you want the address or the data?</a:t>
            </a:r>
          </a:p>
          <a:p>
            <a:r>
              <a:rPr lang="en-US" dirty="0"/>
              <a:t>We can pull out the address to data and assign that to a pointer.</a:t>
            </a:r>
          </a:p>
          <a:p>
            <a:pPr lvl="1"/>
            <a:r>
              <a:rPr lang="en-US" i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Sometimes we refer to pointers as ‘references’ to data.</a:t>
            </a:r>
          </a:p>
          <a:p>
            <a:endParaRPr lang="en-US" i="1" dirty="0"/>
          </a:p>
          <a:p>
            <a:r>
              <a:rPr lang="en-US" dirty="0"/>
              <a:t>We use the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reference operator </a:t>
            </a:r>
            <a:r>
              <a:rPr lang="en-US" dirty="0"/>
              <a:t>(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&amp; 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245B-42F9-4CE6-86A3-F02C67CE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1E24B2-27D9-43F3-83B3-AEE54AE2AA33}"/>
              </a:ext>
            </a:extLst>
          </p:cNvPr>
          <p:cNvSpPr txBox="1">
            <a:spLocks/>
          </p:cNvSpPr>
          <p:nvPr/>
        </p:nvSpPr>
        <p:spPr>
          <a:xfrm>
            <a:off x="673101" y="3010328"/>
            <a:ext cx="8845074" cy="2693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0x00800000;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address is arbitrary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>
                <a:latin typeface="Inconsolata" panose="020B0609030003000000" pitchFamily="49" charset="0"/>
              </a:rPr>
              <a:t>data = 0xc0de;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		// Initializes a new variable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&amp;</a:t>
            </a:r>
            <a:r>
              <a:rPr lang="en-US" sz="2400" dirty="0">
                <a:latin typeface="Inconsolata" panose="020B0609030003000000" pitchFamily="49" charset="0"/>
              </a:rPr>
              <a:t>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 // Assigns ADDRESS to pointer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*</a:t>
            </a:r>
            <a:r>
              <a:rPr lang="en-GB" sz="2400" dirty="0">
                <a:solidFill>
                  <a:srgbClr val="D4D4D4"/>
                </a:solidFill>
                <a:latin typeface="Consolas" panose="020B0609020204030204" pitchFamily="49" charset="0"/>
              </a:rPr>
              <a:t>👉</a:t>
            </a:r>
            <a:r>
              <a:rPr lang="en-US" sz="2400" dirty="0">
                <a:latin typeface="Inconsolata" panose="020B0609030003000000" pitchFamily="49" charset="0"/>
              </a:rPr>
              <a:t>_data = 42;     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Assigns 42 to memory!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data);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Prints 42!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0D0E1-0AB4-415D-BDCD-F9DF708F8B49}"/>
              </a:ext>
            </a:extLst>
          </p:cNvPr>
          <p:cNvSpPr txBox="1"/>
          <p:nvPr/>
        </p:nvSpPr>
        <p:spPr>
          <a:xfrm rot="19127016">
            <a:off x="3374490" y="3878565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reference!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C5F40-EEB1-46A1-AD98-BEDC77AB3577}"/>
              </a:ext>
            </a:extLst>
          </p:cNvPr>
          <p:cNvSpPr txBox="1"/>
          <p:nvPr/>
        </p:nvSpPr>
        <p:spPr>
          <a:xfrm rot="19127016">
            <a:off x="3371898" y="4273351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dereference!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77D705-B3C3-4AEA-92A1-0BD7B327ACFF}"/>
              </a:ext>
            </a:extLst>
          </p:cNvPr>
          <p:cNvCxnSpPr/>
          <p:nvPr/>
        </p:nvCxnSpPr>
        <p:spPr>
          <a:xfrm flipH="1">
            <a:off x="3330050" y="444774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122B1-C036-4D38-9594-366785172FE2}"/>
              </a:ext>
            </a:extLst>
          </p:cNvPr>
          <p:cNvCxnSpPr/>
          <p:nvPr/>
        </p:nvCxnSpPr>
        <p:spPr>
          <a:xfrm flipH="1">
            <a:off x="3330050" y="488781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7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5A5-2AF8-4077-B048-70275D2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Turtles all the way down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245B-42F9-4CE6-86A3-F02C67CE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1E24B2-27D9-43F3-83B3-AEE54AE2AA33}"/>
              </a:ext>
            </a:extLst>
          </p:cNvPr>
          <p:cNvSpPr txBox="1">
            <a:spLocks/>
          </p:cNvSpPr>
          <p:nvPr/>
        </p:nvSpPr>
        <p:spPr>
          <a:xfrm>
            <a:off x="184150" y="827180"/>
            <a:ext cx="9334025" cy="4876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400" dirty="0">
                <a:latin typeface="Inconsolata" panose="020B0609030003000000" pitchFamily="49" charset="0"/>
              </a:rPr>
              <a:t>data = 42;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GB" dirty="0"/>
              <a:t>👉_</a:t>
            </a:r>
            <a:r>
              <a:rPr lang="en-US" sz="2400" dirty="0">
                <a:latin typeface="Inconsolata" panose="020B0609030003000000" pitchFamily="49" charset="0"/>
              </a:rPr>
              <a:t>data = &amp;data;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// store address of data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pointer to a pointer of an int: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** </a:t>
            </a:r>
            <a:r>
              <a:rPr lang="en-GB" dirty="0"/>
              <a:t>👉_👉_</a:t>
            </a:r>
            <a:r>
              <a:rPr lang="en-US" sz="2400" dirty="0">
                <a:latin typeface="Inconsolata" panose="020B0609030003000000" pitchFamily="49" charset="0"/>
              </a:rPr>
              <a:t>data = &amp;</a:t>
            </a:r>
            <a:r>
              <a:rPr lang="en-GB" dirty="0"/>
              <a:t>👉_</a:t>
            </a:r>
            <a:r>
              <a:rPr lang="en-US" sz="2400" dirty="0">
                <a:latin typeface="Inconsolata" panose="020B0609030003000000" pitchFamily="49" charset="0"/>
              </a:rPr>
              <a:t>data;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store address of </a:t>
            </a:r>
            <a:r>
              <a:rPr lang="en-GB" dirty="0"/>
              <a:t>👉_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data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dereference </a:t>
            </a:r>
            <a:r>
              <a:rPr lang="en-GB" sz="2400" dirty="0"/>
              <a:t>👉_👉_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data... then dereference that...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*(*</a:t>
            </a:r>
            <a:r>
              <a:rPr lang="en-GB" dirty="0"/>
              <a:t>👉_👉_</a:t>
            </a:r>
            <a:r>
              <a:rPr lang="en-US" sz="2400" dirty="0">
                <a:latin typeface="Inconsolata" panose="020B0609030003000000" pitchFamily="49" charset="0"/>
              </a:rPr>
              <a:t>data) = -64;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store VALUE into 'data'</a:t>
            </a:r>
          </a:p>
        </p:txBody>
      </p:sp>
    </p:spTree>
    <p:extLst>
      <p:ext uri="{BB962C8B-B14F-4D97-AF65-F5344CB8AC3E}">
        <p14:creationId xmlns:p14="http://schemas.microsoft.com/office/powerpoint/2010/main" val="384060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5A5-2AF8-4077-B048-70275D2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the emoji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245B-42F9-4CE6-86A3-F02C67CE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1E24B2-27D9-43F3-83B3-AEE54AE2AA33}"/>
              </a:ext>
            </a:extLst>
          </p:cNvPr>
          <p:cNvSpPr txBox="1">
            <a:spLocks/>
          </p:cNvSpPr>
          <p:nvPr/>
        </p:nvSpPr>
        <p:spPr>
          <a:xfrm>
            <a:off x="184150" y="827180"/>
            <a:ext cx="9334025" cy="4876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2400" dirty="0">
                <a:latin typeface="Inconsolata" panose="020B0609030003000000" pitchFamily="49" charset="0"/>
              </a:rPr>
              <a:t>data = 42;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 = &amp;data;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// store address of data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pointer to a pointer of an int: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** </a:t>
            </a:r>
            <a:r>
              <a:rPr lang="en-US" sz="2400" dirty="0" err="1"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latin typeface="Inconsolata" panose="020B0609030003000000" pitchFamily="49" charset="0"/>
              </a:rPr>
              <a:t> = &amp;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store address of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dataptr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dereference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... then dereference that...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*(*</a:t>
            </a:r>
            <a:r>
              <a:rPr lang="en-US" sz="2400" dirty="0" err="1"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latin typeface="Inconsolata" panose="020B0609030003000000" pitchFamily="49" charset="0"/>
              </a:rPr>
              <a:t>) = -64;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store VALUE into 'data'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EE6D38-FF60-4145-8BC0-CC7A26FD9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90" y="4090128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DD7-3A0E-45AF-A6AE-3001F1D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skipping rocks on the lake…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78E69-8F71-43B4-A453-BE3733D4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E3A071F-37C2-44B7-B609-F6E9AF43C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45461"/>
              </p:ext>
            </p:extLst>
          </p:nvPr>
        </p:nvGraphicFramePr>
        <p:xfrm>
          <a:off x="896620" y="4033914"/>
          <a:ext cx="83667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38">
                  <a:extLst>
                    <a:ext uri="{9D8B030D-6E8A-4147-A177-3AD203B41FA5}">
                      <a16:colId xmlns:a16="http://schemas.microsoft.com/office/drawing/2014/main" val="717366788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231748242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826408916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561082267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8513771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31939854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06902285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753056946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27829292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00347833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886334093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483156908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29559699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16058185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7643951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431632720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726299615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8279277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539214974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27237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1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69702"/>
                  </a:ext>
                </a:extLst>
              </a:tr>
            </a:tbl>
          </a:graphicData>
        </a:graphic>
      </p:graphicFrame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724DAA-FAE1-4D61-8AA0-EBE1C74E2126}"/>
              </a:ext>
            </a:extLst>
          </p:cNvPr>
          <p:cNvSpPr/>
          <p:nvPr/>
        </p:nvSpPr>
        <p:spPr>
          <a:xfrm>
            <a:off x="2594040" y="4835555"/>
            <a:ext cx="4747989" cy="559505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4747989 w 4747989"/>
              <a:gd name="connsiteY0" fmla="*/ 0 h 559505"/>
              <a:gd name="connsiteX1" fmla="*/ 899010 w 4747989"/>
              <a:gd name="connsiteY1" fmla="*/ 559505 h 559505"/>
              <a:gd name="connsiteX2" fmla="*/ 142371 w 4747989"/>
              <a:gd name="connsiteY2" fmla="*/ 0 h 5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47989" h="559505">
                <a:moveTo>
                  <a:pt x="4747989" y="0"/>
                </a:moveTo>
                <a:cubicBezTo>
                  <a:pt x="2852514" y="437029"/>
                  <a:pt x="1666613" y="559505"/>
                  <a:pt x="899010" y="559505"/>
                </a:cubicBezTo>
                <a:cubicBezTo>
                  <a:pt x="131407" y="559505"/>
                  <a:pt x="-217898" y="437029"/>
                  <a:pt x="142371" y="0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55E93F2-B0E8-490F-B6A0-AF28718F793A}"/>
              </a:ext>
            </a:extLst>
          </p:cNvPr>
          <p:cNvSpPr txBox="1">
            <a:spLocks/>
          </p:cNvSpPr>
          <p:nvPr/>
        </p:nvSpPr>
        <p:spPr>
          <a:xfrm>
            <a:off x="673101" y="865524"/>
            <a:ext cx="8845074" cy="3213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>
                <a:latin typeface="Inconsolata" panose="020B0609030003000000" pitchFamily="49" charset="0"/>
              </a:rPr>
              <a:t>data = 42;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   // Initializes a new variable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 = &amp;data;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// Assigns ADDRESS to pointer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data);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Prints 42!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*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);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Prints 42!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"%p\n"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);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Prints the ADDRESS of data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// However, 'data' could be ANYWHERE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9474C-E349-4064-B205-B29EAE9BBBD6}"/>
              </a:ext>
            </a:extLst>
          </p:cNvPr>
          <p:cNvSpPr txBox="1"/>
          <p:nvPr/>
        </p:nvSpPr>
        <p:spPr>
          <a:xfrm>
            <a:off x="3011420" y="47755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9833F-E9B3-4FCF-A0AE-79BA4A64C49C}"/>
              </a:ext>
            </a:extLst>
          </p:cNvPr>
          <p:cNvSpPr txBox="1"/>
          <p:nvPr/>
        </p:nvSpPr>
        <p:spPr>
          <a:xfrm>
            <a:off x="7607723" y="4775594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dataptr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D70D1F-5168-4316-B423-C157C98EB1BE}"/>
              </a:ext>
            </a:extLst>
          </p:cNvPr>
          <p:cNvCxnSpPr>
            <a:cxnSpLocks/>
          </p:cNvCxnSpPr>
          <p:nvPr/>
        </p:nvCxnSpPr>
        <p:spPr>
          <a:xfrm rot="2472984" flipH="1">
            <a:off x="2903542" y="485630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FE7CBE-EA5C-4BA4-B66D-C08165D5FF5B}"/>
              </a:ext>
            </a:extLst>
          </p:cNvPr>
          <p:cNvCxnSpPr>
            <a:cxnSpLocks/>
          </p:cNvCxnSpPr>
          <p:nvPr/>
        </p:nvCxnSpPr>
        <p:spPr>
          <a:xfrm rot="2472984" flipH="1">
            <a:off x="7493121" y="485630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5D24BC-D4B3-4FD0-9C0D-00E6F94DB043}"/>
              </a:ext>
            </a:extLst>
          </p:cNvPr>
          <p:cNvSpPr txBox="1"/>
          <p:nvPr/>
        </p:nvSpPr>
        <p:spPr>
          <a:xfrm>
            <a:off x="2557449" y="44014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D9BF1-FAEA-4317-AA64-9E2689B6B7FB}"/>
              </a:ext>
            </a:extLst>
          </p:cNvPr>
          <p:cNvSpPr txBox="1"/>
          <p:nvPr/>
        </p:nvSpPr>
        <p:spPr>
          <a:xfrm>
            <a:off x="7150650" y="4411075"/>
            <a:ext cx="45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B5DA5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6EF22D-C230-4DB9-959D-F01046DD2907}"/>
              </a:ext>
            </a:extLst>
          </p:cNvPr>
          <p:cNvSpPr txBox="1"/>
          <p:nvPr/>
        </p:nvSpPr>
        <p:spPr>
          <a:xfrm>
            <a:off x="2711337" y="49873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CEFBADF-F99B-405B-B153-562DEF00BD3D}"/>
              </a:ext>
            </a:extLst>
          </p:cNvPr>
          <p:cNvSpPr/>
          <p:nvPr/>
        </p:nvSpPr>
        <p:spPr>
          <a:xfrm rot="10800000">
            <a:off x="2930271" y="3604913"/>
            <a:ext cx="4747989" cy="559505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4747989 w 4747989"/>
              <a:gd name="connsiteY0" fmla="*/ 0 h 559505"/>
              <a:gd name="connsiteX1" fmla="*/ 899010 w 4747989"/>
              <a:gd name="connsiteY1" fmla="*/ 559505 h 559505"/>
              <a:gd name="connsiteX2" fmla="*/ 142371 w 4747989"/>
              <a:gd name="connsiteY2" fmla="*/ 0 h 5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47989" h="559505">
                <a:moveTo>
                  <a:pt x="4747989" y="0"/>
                </a:moveTo>
                <a:cubicBezTo>
                  <a:pt x="2852514" y="437029"/>
                  <a:pt x="1666613" y="559505"/>
                  <a:pt x="899010" y="559505"/>
                </a:cubicBezTo>
                <a:cubicBezTo>
                  <a:pt x="131407" y="559505"/>
                  <a:pt x="-217898" y="437029"/>
                  <a:pt x="142371" y="0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9CEC68-B7E0-4AC9-A818-56DCCC011364}"/>
              </a:ext>
            </a:extLst>
          </p:cNvPr>
          <p:cNvSpPr txBox="1"/>
          <p:nvPr/>
        </p:nvSpPr>
        <p:spPr>
          <a:xfrm>
            <a:off x="7159585" y="36428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302753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8" grpId="0"/>
      <p:bldP spid="25" grpId="0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DD7-3A0E-45AF-A6AE-3001F1D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skipping rocks on the lake…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78E69-8F71-43B4-A453-BE3733D4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E3A071F-37C2-44B7-B609-F6E9AF43C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035063"/>
              </p:ext>
            </p:extLst>
          </p:nvPr>
        </p:nvGraphicFramePr>
        <p:xfrm>
          <a:off x="896620" y="4033919"/>
          <a:ext cx="83667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38">
                  <a:extLst>
                    <a:ext uri="{9D8B030D-6E8A-4147-A177-3AD203B41FA5}">
                      <a16:colId xmlns:a16="http://schemas.microsoft.com/office/drawing/2014/main" val="717366788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231748242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826408916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561082267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8513771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31939854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06902285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753056946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27829292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00347833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886334093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483156908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29559699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116058185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976439511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431632720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3726299615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08279277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539214974"/>
                    </a:ext>
                  </a:extLst>
                </a:gridCol>
                <a:gridCol w="418338">
                  <a:extLst>
                    <a:ext uri="{9D8B030D-6E8A-4147-A177-3AD203B41FA5}">
                      <a16:colId xmlns:a16="http://schemas.microsoft.com/office/drawing/2014/main" val="227237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0F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1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AB5DA5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69702"/>
                  </a:ext>
                </a:extLst>
              </a:tr>
            </a:tbl>
          </a:graphicData>
        </a:graphic>
      </p:graphicFrame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724DAA-FAE1-4D61-8AA0-EBE1C74E2126}"/>
              </a:ext>
            </a:extLst>
          </p:cNvPr>
          <p:cNvSpPr/>
          <p:nvPr/>
        </p:nvSpPr>
        <p:spPr>
          <a:xfrm>
            <a:off x="2639409" y="4772087"/>
            <a:ext cx="2647048" cy="574379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647048 w 2647048"/>
              <a:gd name="connsiteY0" fmla="*/ 0 h 644668"/>
              <a:gd name="connsiteX1" fmla="*/ 890217 w 2647048"/>
              <a:gd name="connsiteY1" fmla="*/ 574136 h 644668"/>
              <a:gd name="connsiteX2" fmla="*/ 97001 w 2647048"/>
              <a:gd name="connsiteY2" fmla="*/ 36576 h 644668"/>
              <a:gd name="connsiteX0" fmla="*/ 2647048 w 2647048"/>
              <a:gd name="connsiteY0" fmla="*/ 0 h 574379"/>
              <a:gd name="connsiteX1" fmla="*/ 890217 w 2647048"/>
              <a:gd name="connsiteY1" fmla="*/ 574136 h 574379"/>
              <a:gd name="connsiteX2" fmla="*/ 97001 w 2647048"/>
              <a:gd name="connsiteY2" fmla="*/ 36576 h 57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048" h="574379">
                <a:moveTo>
                  <a:pt x="2647048" y="0"/>
                </a:moveTo>
                <a:cubicBezTo>
                  <a:pt x="2470645" y="568703"/>
                  <a:pt x="1315225" y="568040"/>
                  <a:pt x="890217" y="574136"/>
                </a:cubicBezTo>
                <a:cubicBezTo>
                  <a:pt x="465209" y="580232"/>
                  <a:pt x="-263268" y="473605"/>
                  <a:pt x="97001" y="36576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55E93F2-B0E8-490F-B6A0-AF28718F793A}"/>
              </a:ext>
            </a:extLst>
          </p:cNvPr>
          <p:cNvSpPr txBox="1">
            <a:spLocks/>
          </p:cNvSpPr>
          <p:nvPr/>
        </p:nvSpPr>
        <p:spPr>
          <a:xfrm>
            <a:off x="673101" y="865524"/>
            <a:ext cx="8978899" cy="3213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>
                <a:latin typeface="Inconsolata" panose="020B0609030003000000" pitchFamily="49" charset="0"/>
              </a:rPr>
              <a:t>data = 42;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    // Initializes a new variable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 = &amp;data;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// Assigns ADDRESS to pointer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** </a:t>
            </a:r>
            <a:r>
              <a:rPr lang="en-US" sz="2400" dirty="0" err="1"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latin typeface="Inconsolata" panose="020B0609030003000000" pitchFamily="49" charset="0"/>
              </a:rPr>
              <a:t> = &amp;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"%p\n"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dataptr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"%p\n"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**</a:t>
            </a:r>
            <a:r>
              <a:rPr lang="en-US" sz="2400" dirty="0" err="1">
                <a:latin typeface="Inconsolata" panose="020B0609030003000000" pitchFamily="49" charset="0"/>
              </a:rPr>
              <a:t>dataptrptr</a:t>
            </a:r>
            <a:r>
              <a:rPr lang="en-US" sz="2400" dirty="0">
                <a:latin typeface="Inconsolata" panose="020B0609030003000000" pitchFamily="49" charset="0"/>
              </a:rPr>
              <a:t>);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Prints "42"!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9474C-E349-4064-B205-B29EAE9BBBD6}"/>
              </a:ext>
            </a:extLst>
          </p:cNvPr>
          <p:cNvSpPr txBox="1"/>
          <p:nvPr/>
        </p:nvSpPr>
        <p:spPr>
          <a:xfrm>
            <a:off x="3011420" y="47755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9833F-E9B3-4FCF-A0AE-79BA4A64C49C}"/>
              </a:ext>
            </a:extLst>
          </p:cNvPr>
          <p:cNvSpPr txBox="1"/>
          <p:nvPr/>
        </p:nvSpPr>
        <p:spPr>
          <a:xfrm>
            <a:off x="8024688" y="4775599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dataptrptr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D70D1F-5168-4316-B423-C157C98EB1BE}"/>
              </a:ext>
            </a:extLst>
          </p:cNvPr>
          <p:cNvCxnSpPr>
            <a:cxnSpLocks/>
          </p:cNvCxnSpPr>
          <p:nvPr/>
        </p:nvCxnSpPr>
        <p:spPr>
          <a:xfrm rot="2472984" flipH="1">
            <a:off x="2903542" y="485630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FE7CBE-EA5C-4BA4-B66D-C08165D5FF5B}"/>
              </a:ext>
            </a:extLst>
          </p:cNvPr>
          <p:cNvCxnSpPr>
            <a:cxnSpLocks/>
          </p:cNvCxnSpPr>
          <p:nvPr/>
        </p:nvCxnSpPr>
        <p:spPr>
          <a:xfrm rot="2472984" flipH="1">
            <a:off x="7910087" y="485630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5D24BC-D4B3-4FD0-9C0D-00E6F94DB043}"/>
              </a:ext>
            </a:extLst>
          </p:cNvPr>
          <p:cNvSpPr txBox="1"/>
          <p:nvPr/>
        </p:nvSpPr>
        <p:spPr>
          <a:xfrm>
            <a:off x="2557449" y="440145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D9BF1-FAEA-4317-AA64-9E2689B6B7FB}"/>
              </a:ext>
            </a:extLst>
          </p:cNvPr>
          <p:cNvSpPr txBox="1"/>
          <p:nvPr/>
        </p:nvSpPr>
        <p:spPr>
          <a:xfrm>
            <a:off x="7569863" y="4411080"/>
            <a:ext cx="45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B5DA5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0858AC-2623-4382-BBCF-613DE0D6AF44}"/>
              </a:ext>
            </a:extLst>
          </p:cNvPr>
          <p:cNvSpPr txBox="1"/>
          <p:nvPr/>
        </p:nvSpPr>
        <p:spPr>
          <a:xfrm>
            <a:off x="5070244" y="4411080"/>
            <a:ext cx="45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B5DA5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4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B5B6E0A-ECBE-4F07-A367-409D7F3828F8}"/>
              </a:ext>
            </a:extLst>
          </p:cNvPr>
          <p:cNvSpPr/>
          <p:nvPr/>
        </p:nvSpPr>
        <p:spPr>
          <a:xfrm>
            <a:off x="5380128" y="4770786"/>
            <a:ext cx="2425694" cy="534942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610150 w 2610150"/>
              <a:gd name="connsiteY0" fmla="*/ 0 h 910697"/>
              <a:gd name="connsiteX1" fmla="*/ 107168 w 2610150"/>
              <a:gd name="connsiteY1" fmla="*/ 910635 h 910697"/>
              <a:gd name="connsiteX2" fmla="*/ 638003 w 2610150"/>
              <a:gd name="connsiteY2" fmla="*/ 36576 h 910697"/>
              <a:gd name="connsiteX0" fmla="*/ 2039665 w 2039665"/>
              <a:gd name="connsiteY0" fmla="*/ 0 h 910697"/>
              <a:gd name="connsiteX1" fmla="*/ 1219179 w 2039665"/>
              <a:gd name="connsiteY1" fmla="*/ 910635 h 910697"/>
              <a:gd name="connsiteX2" fmla="*/ 67518 w 2039665"/>
              <a:gd name="connsiteY2" fmla="*/ 36576 h 910697"/>
              <a:gd name="connsiteX0" fmla="*/ 1941478 w 1941478"/>
              <a:gd name="connsiteY0" fmla="*/ 0 h 910697"/>
              <a:gd name="connsiteX1" fmla="*/ 1120992 w 1941478"/>
              <a:gd name="connsiteY1" fmla="*/ 910635 h 910697"/>
              <a:gd name="connsiteX2" fmla="*/ 71743 w 1941478"/>
              <a:gd name="connsiteY2" fmla="*/ 36576 h 910697"/>
              <a:gd name="connsiteX0" fmla="*/ 1869735 w 1869735"/>
              <a:gd name="connsiteY0" fmla="*/ 0 h 910687"/>
              <a:gd name="connsiteX1" fmla="*/ 1049249 w 1869735"/>
              <a:gd name="connsiteY1" fmla="*/ 910635 h 910687"/>
              <a:gd name="connsiteX2" fmla="*/ 0 w 1869735"/>
              <a:gd name="connsiteY2" fmla="*/ 36576 h 910687"/>
              <a:gd name="connsiteX0" fmla="*/ 1891681 w 1891681"/>
              <a:gd name="connsiteY0" fmla="*/ 0 h 910643"/>
              <a:gd name="connsiteX1" fmla="*/ 1071195 w 1891681"/>
              <a:gd name="connsiteY1" fmla="*/ 910635 h 910643"/>
              <a:gd name="connsiteX2" fmla="*/ 0 w 1891681"/>
              <a:gd name="connsiteY2" fmla="*/ 14630 h 910643"/>
              <a:gd name="connsiteX0" fmla="*/ 1891681 w 1891681"/>
              <a:gd name="connsiteY0" fmla="*/ 0 h 789765"/>
              <a:gd name="connsiteX1" fmla="*/ 1261390 w 1891681"/>
              <a:gd name="connsiteY1" fmla="*/ 778962 h 789765"/>
              <a:gd name="connsiteX2" fmla="*/ 0 w 1891681"/>
              <a:gd name="connsiteY2" fmla="*/ 14630 h 789765"/>
              <a:gd name="connsiteX0" fmla="*/ 2008724 w 2008724"/>
              <a:gd name="connsiteY0" fmla="*/ 0 h 789765"/>
              <a:gd name="connsiteX1" fmla="*/ 1378433 w 2008724"/>
              <a:gd name="connsiteY1" fmla="*/ 778962 h 789765"/>
              <a:gd name="connsiteX2" fmla="*/ 0 w 2008724"/>
              <a:gd name="connsiteY2" fmla="*/ 14630 h 789765"/>
              <a:gd name="connsiteX0" fmla="*/ 2010120 w 2010120"/>
              <a:gd name="connsiteY0" fmla="*/ 0 h 789765"/>
              <a:gd name="connsiteX1" fmla="*/ 1379829 w 2010120"/>
              <a:gd name="connsiteY1" fmla="*/ 778962 h 789765"/>
              <a:gd name="connsiteX2" fmla="*/ 1396 w 2010120"/>
              <a:gd name="connsiteY2" fmla="*/ 14630 h 789765"/>
              <a:gd name="connsiteX0" fmla="*/ 2010527 w 2010527"/>
              <a:gd name="connsiteY0" fmla="*/ 0 h 819045"/>
              <a:gd name="connsiteX1" fmla="*/ 1380236 w 2010527"/>
              <a:gd name="connsiteY1" fmla="*/ 778962 h 819045"/>
              <a:gd name="connsiteX2" fmla="*/ 1803 w 2010527"/>
              <a:gd name="connsiteY2" fmla="*/ 14630 h 819045"/>
              <a:gd name="connsiteX0" fmla="*/ 2010305 w 2010305"/>
              <a:gd name="connsiteY0" fmla="*/ 0 h 934693"/>
              <a:gd name="connsiteX1" fmla="*/ 1380014 w 2010305"/>
              <a:gd name="connsiteY1" fmla="*/ 778962 h 934693"/>
              <a:gd name="connsiteX2" fmla="*/ 1581 w 2010305"/>
              <a:gd name="connsiteY2" fmla="*/ 14630 h 934693"/>
              <a:gd name="connsiteX0" fmla="*/ 2427180 w 2427180"/>
              <a:gd name="connsiteY0" fmla="*/ 0 h 795350"/>
              <a:gd name="connsiteX1" fmla="*/ 1379922 w 2427180"/>
              <a:gd name="connsiteY1" fmla="*/ 786278 h 795350"/>
              <a:gd name="connsiteX2" fmla="*/ 1489 w 2427180"/>
              <a:gd name="connsiteY2" fmla="*/ 21946 h 795350"/>
              <a:gd name="connsiteX0" fmla="*/ 2426857 w 2426857"/>
              <a:gd name="connsiteY0" fmla="*/ 0 h 789243"/>
              <a:gd name="connsiteX1" fmla="*/ 1672207 w 2426857"/>
              <a:gd name="connsiteY1" fmla="*/ 778963 h 789243"/>
              <a:gd name="connsiteX2" fmla="*/ 1166 w 2426857"/>
              <a:gd name="connsiteY2" fmla="*/ 21946 h 789243"/>
              <a:gd name="connsiteX0" fmla="*/ 2426881 w 2426881"/>
              <a:gd name="connsiteY0" fmla="*/ 0 h 846593"/>
              <a:gd name="connsiteX1" fmla="*/ 1672231 w 2426881"/>
              <a:gd name="connsiteY1" fmla="*/ 778963 h 846593"/>
              <a:gd name="connsiteX2" fmla="*/ 1190 w 2426881"/>
              <a:gd name="connsiteY2" fmla="*/ 21946 h 846593"/>
              <a:gd name="connsiteX0" fmla="*/ 2426958 w 2426958"/>
              <a:gd name="connsiteY0" fmla="*/ 0 h 811558"/>
              <a:gd name="connsiteX1" fmla="*/ 1672308 w 2426958"/>
              <a:gd name="connsiteY1" fmla="*/ 778963 h 811558"/>
              <a:gd name="connsiteX2" fmla="*/ 1267 w 2426958"/>
              <a:gd name="connsiteY2" fmla="*/ 21946 h 811558"/>
              <a:gd name="connsiteX0" fmla="*/ 2427725 w 2427725"/>
              <a:gd name="connsiteY0" fmla="*/ 0 h 637325"/>
              <a:gd name="connsiteX1" fmla="*/ 1204902 w 2427725"/>
              <a:gd name="connsiteY1" fmla="*/ 552192 h 637325"/>
              <a:gd name="connsiteX2" fmla="*/ 2034 w 2427725"/>
              <a:gd name="connsiteY2" fmla="*/ 21946 h 637325"/>
              <a:gd name="connsiteX0" fmla="*/ 2427213 w 2427213"/>
              <a:gd name="connsiteY0" fmla="*/ 0 h 659985"/>
              <a:gd name="connsiteX1" fmla="*/ 1204390 w 2427213"/>
              <a:gd name="connsiteY1" fmla="*/ 552192 h 659985"/>
              <a:gd name="connsiteX2" fmla="*/ 1522 w 2427213"/>
              <a:gd name="connsiteY2" fmla="*/ 21946 h 659985"/>
              <a:gd name="connsiteX0" fmla="*/ 2427490 w 2427490"/>
              <a:gd name="connsiteY0" fmla="*/ 0 h 630086"/>
              <a:gd name="connsiteX1" fmla="*/ 1204667 w 2427490"/>
              <a:gd name="connsiteY1" fmla="*/ 552192 h 630086"/>
              <a:gd name="connsiteX2" fmla="*/ 1799 w 2427490"/>
              <a:gd name="connsiteY2" fmla="*/ 21946 h 630086"/>
              <a:gd name="connsiteX0" fmla="*/ 2427490 w 2427490"/>
              <a:gd name="connsiteY0" fmla="*/ 0 h 605790"/>
              <a:gd name="connsiteX1" fmla="*/ 1204667 w 2427490"/>
              <a:gd name="connsiteY1" fmla="*/ 552192 h 605790"/>
              <a:gd name="connsiteX2" fmla="*/ 1799 w 2427490"/>
              <a:gd name="connsiteY2" fmla="*/ 21946 h 605790"/>
              <a:gd name="connsiteX0" fmla="*/ 2427490 w 2427490"/>
              <a:gd name="connsiteY0" fmla="*/ 0 h 592174"/>
              <a:gd name="connsiteX1" fmla="*/ 1204667 w 2427490"/>
              <a:gd name="connsiteY1" fmla="*/ 530247 h 592174"/>
              <a:gd name="connsiteX2" fmla="*/ 1799 w 2427490"/>
              <a:gd name="connsiteY2" fmla="*/ 21946 h 592174"/>
              <a:gd name="connsiteX0" fmla="*/ 2427171 w 2427171"/>
              <a:gd name="connsiteY0" fmla="*/ 0 h 579934"/>
              <a:gd name="connsiteX1" fmla="*/ 1204348 w 2427171"/>
              <a:gd name="connsiteY1" fmla="*/ 530247 h 579934"/>
              <a:gd name="connsiteX2" fmla="*/ 1480 w 2427171"/>
              <a:gd name="connsiteY2" fmla="*/ 21946 h 579934"/>
              <a:gd name="connsiteX0" fmla="*/ 2426106 w 2426106"/>
              <a:gd name="connsiteY0" fmla="*/ 0 h 534942"/>
              <a:gd name="connsiteX1" fmla="*/ 1203283 w 2426106"/>
              <a:gd name="connsiteY1" fmla="*/ 530247 h 534942"/>
              <a:gd name="connsiteX2" fmla="*/ 415 w 2426106"/>
              <a:gd name="connsiteY2" fmla="*/ 21946 h 534942"/>
              <a:gd name="connsiteX0" fmla="*/ 2425694 w 2425694"/>
              <a:gd name="connsiteY0" fmla="*/ 0 h 534942"/>
              <a:gd name="connsiteX1" fmla="*/ 1202871 w 2425694"/>
              <a:gd name="connsiteY1" fmla="*/ 530247 h 534942"/>
              <a:gd name="connsiteX2" fmla="*/ 3 w 2425694"/>
              <a:gd name="connsiteY2" fmla="*/ 21946 h 53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5694" h="534942">
                <a:moveTo>
                  <a:pt x="2425694" y="0"/>
                </a:moveTo>
                <a:cubicBezTo>
                  <a:pt x="2278552" y="539442"/>
                  <a:pt x="1424273" y="548535"/>
                  <a:pt x="1202871" y="530247"/>
                </a:cubicBezTo>
                <a:cubicBezTo>
                  <a:pt x="981469" y="511959"/>
                  <a:pt x="-1821" y="641855"/>
                  <a:pt x="3" y="21946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D6CCE-82A9-421B-9660-72A49D7B5076}"/>
              </a:ext>
            </a:extLst>
          </p:cNvPr>
          <p:cNvSpPr txBox="1"/>
          <p:nvPr/>
        </p:nvSpPr>
        <p:spPr>
          <a:xfrm>
            <a:off x="5522145" y="4780412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dataptr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C0F487-EECE-47DD-9365-D1B900C99B1B}"/>
              </a:ext>
            </a:extLst>
          </p:cNvPr>
          <p:cNvCxnSpPr>
            <a:cxnSpLocks/>
          </p:cNvCxnSpPr>
          <p:nvPr/>
        </p:nvCxnSpPr>
        <p:spPr>
          <a:xfrm rot="2472984" flipH="1">
            <a:off x="5407543" y="486111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3D9B795-2324-467D-9384-4CCF73699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612" y="1741018"/>
            <a:ext cx="388533" cy="388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E2B81-2462-48DF-B70B-26D170A68D2F}"/>
              </a:ext>
            </a:extLst>
          </p:cNvPr>
          <p:cNvSpPr txBox="1"/>
          <p:nvPr/>
        </p:nvSpPr>
        <p:spPr>
          <a:xfrm>
            <a:off x="5944630" y="49749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FCD898-EA60-4B94-9733-3928C2796088}"/>
              </a:ext>
            </a:extLst>
          </p:cNvPr>
          <p:cNvSpPr txBox="1"/>
          <p:nvPr/>
        </p:nvSpPr>
        <p:spPr>
          <a:xfrm>
            <a:off x="2843122" y="49650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*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BF1340F-F0A5-4C4D-827D-CFF0076022EA}"/>
              </a:ext>
            </a:extLst>
          </p:cNvPr>
          <p:cNvSpPr/>
          <p:nvPr/>
        </p:nvSpPr>
        <p:spPr>
          <a:xfrm rot="11102158">
            <a:off x="2877014" y="3688361"/>
            <a:ext cx="2647048" cy="574379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647048 w 2647048"/>
              <a:gd name="connsiteY0" fmla="*/ 0 h 644668"/>
              <a:gd name="connsiteX1" fmla="*/ 890217 w 2647048"/>
              <a:gd name="connsiteY1" fmla="*/ 574136 h 644668"/>
              <a:gd name="connsiteX2" fmla="*/ 97001 w 2647048"/>
              <a:gd name="connsiteY2" fmla="*/ 36576 h 644668"/>
              <a:gd name="connsiteX0" fmla="*/ 2647048 w 2647048"/>
              <a:gd name="connsiteY0" fmla="*/ 0 h 574379"/>
              <a:gd name="connsiteX1" fmla="*/ 890217 w 2647048"/>
              <a:gd name="connsiteY1" fmla="*/ 574136 h 574379"/>
              <a:gd name="connsiteX2" fmla="*/ 97001 w 2647048"/>
              <a:gd name="connsiteY2" fmla="*/ 36576 h 57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048" h="574379">
                <a:moveTo>
                  <a:pt x="2647048" y="0"/>
                </a:moveTo>
                <a:cubicBezTo>
                  <a:pt x="2470645" y="568703"/>
                  <a:pt x="1315225" y="568040"/>
                  <a:pt x="890217" y="574136"/>
                </a:cubicBezTo>
                <a:cubicBezTo>
                  <a:pt x="465209" y="580232"/>
                  <a:pt x="-263268" y="473605"/>
                  <a:pt x="97001" y="36576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EC30E9-A6D5-47EE-85F8-BBB0F1184B6E}"/>
              </a:ext>
            </a:extLst>
          </p:cNvPr>
          <p:cNvSpPr txBox="1"/>
          <p:nvPr/>
        </p:nvSpPr>
        <p:spPr>
          <a:xfrm>
            <a:off x="4959102" y="37884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&amp;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30BD10C-F4D7-464F-8FD4-27F4BFB89E3B}"/>
              </a:ext>
            </a:extLst>
          </p:cNvPr>
          <p:cNvSpPr/>
          <p:nvPr/>
        </p:nvSpPr>
        <p:spPr>
          <a:xfrm rot="11102158">
            <a:off x="5414232" y="3715195"/>
            <a:ext cx="2647048" cy="574379"/>
          </a:xfrm>
          <a:custGeom>
            <a:avLst/>
            <a:gdLst>
              <a:gd name="connsiteX0" fmla="*/ 5012848 w 5012848"/>
              <a:gd name="connsiteY0" fmla="*/ 0 h 874059"/>
              <a:gd name="connsiteX1" fmla="*/ 454295 w 5012848"/>
              <a:gd name="connsiteY1" fmla="*/ 874059 h 874059"/>
              <a:gd name="connsiteX2" fmla="*/ 407230 w 5012848"/>
              <a:gd name="connsiteY2" fmla="*/ 0 h 874059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821097 w 2821097"/>
              <a:gd name="connsiteY0" fmla="*/ 0 h 910697"/>
              <a:gd name="connsiteX1" fmla="*/ 318115 w 2821097"/>
              <a:gd name="connsiteY1" fmla="*/ 910635 h 910697"/>
              <a:gd name="connsiteX2" fmla="*/ 271050 w 2821097"/>
              <a:gd name="connsiteY2" fmla="*/ 36576 h 910697"/>
              <a:gd name="connsiteX0" fmla="*/ 2647048 w 2647048"/>
              <a:gd name="connsiteY0" fmla="*/ 0 h 644668"/>
              <a:gd name="connsiteX1" fmla="*/ 890217 w 2647048"/>
              <a:gd name="connsiteY1" fmla="*/ 574136 h 644668"/>
              <a:gd name="connsiteX2" fmla="*/ 97001 w 2647048"/>
              <a:gd name="connsiteY2" fmla="*/ 36576 h 644668"/>
              <a:gd name="connsiteX0" fmla="*/ 2647048 w 2647048"/>
              <a:gd name="connsiteY0" fmla="*/ 0 h 574379"/>
              <a:gd name="connsiteX1" fmla="*/ 890217 w 2647048"/>
              <a:gd name="connsiteY1" fmla="*/ 574136 h 574379"/>
              <a:gd name="connsiteX2" fmla="*/ 97001 w 2647048"/>
              <a:gd name="connsiteY2" fmla="*/ 36576 h 57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048" h="574379">
                <a:moveTo>
                  <a:pt x="2647048" y="0"/>
                </a:moveTo>
                <a:cubicBezTo>
                  <a:pt x="2470645" y="568703"/>
                  <a:pt x="1315225" y="568040"/>
                  <a:pt x="890217" y="574136"/>
                </a:cubicBezTo>
                <a:cubicBezTo>
                  <a:pt x="465209" y="580232"/>
                  <a:pt x="-263268" y="473605"/>
                  <a:pt x="97001" y="36576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23714E-17B7-437D-9F22-766224D0FF22}"/>
              </a:ext>
            </a:extLst>
          </p:cNvPr>
          <p:cNvSpPr txBox="1"/>
          <p:nvPr/>
        </p:nvSpPr>
        <p:spPr>
          <a:xfrm>
            <a:off x="7496320" y="38152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333865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8" grpId="0"/>
      <p:bldP spid="25" grpId="0"/>
      <p:bldP spid="26" grpId="0"/>
      <p:bldP spid="15" grpId="0"/>
      <p:bldP spid="16" grpId="0" animBg="1"/>
      <p:bldP spid="21" grpId="0"/>
      <p:bldP spid="3" grpId="0"/>
      <p:bldP spid="24" grpId="0"/>
      <p:bldP spid="27" grpId="0" animBg="1"/>
      <p:bldP spid="28" grpId="0"/>
      <p:bldP spid="29" grpId="0" animBg="1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49977"/>
            <a:ext cx="6150721" cy="4179729"/>
          </a:xfrm>
        </p:spPr>
        <p:txBody>
          <a:bodyPr/>
          <a:lstStyle/>
          <a:p>
            <a:r>
              <a:rPr lang="en-US" dirty="0"/>
              <a:t>The Heap is the dynamic data section!</a:t>
            </a:r>
          </a:p>
          <a:p>
            <a:pPr lvl="1"/>
            <a:r>
              <a:rPr lang="en-US" dirty="0"/>
              <a:t>You interact with the heap entirely with pointers.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malloc </a:t>
            </a:r>
            <a:r>
              <a:rPr lang="en-US" dirty="0"/>
              <a:t>returns the address to the heap with at least the number of bytes requested. Or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AB5DA5"/>
                </a:solidFill>
                <a:latin typeface="Inconsolata" panose="020B0609030003000000" pitchFamily="49" charset="0"/>
              </a:rPr>
              <a:t>NULL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on error.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</a:t>
                </a:r>
                <a:r>
                  <a:rPr lang="en-US" dirty="0">
                    <a:solidFill>
                      <a:prstClr val="black"/>
                    </a:solidFill>
                    <a:latin typeface="Calibri"/>
                    <a:ea typeface="ＭＳ Ｐゴシック" charset="-128"/>
                    <a:cs typeface="ＭＳ Ｐゴシック" charset="-128"/>
                  </a:rPr>
                  <a:t>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/>
                    <a:ea typeface="ＭＳ Ｐゴシック" charset="-128"/>
                    <a:cs typeface="ＭＳ Ｐゴシック" charset="-128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4685" y="4676777"/>
                <a:ext cx="16321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007" y="3990975"/>
                <a:ext cx="85953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D3DC64F-2EE7-4967-82A3-E0C0484B23A3}"/>
              </a:ext>
            </a:extLst>
          </p:cNvPr>
          <p:cNvSpPr txBox="1">
            <a:spLocks/>
          </p:cNvSpPr>
          <p:nvPr/>
        </p:nvSpPr>
        <p:spPr>
          <a:xfrm>
            <a:off x="673101" y="2270760"/>
            <a:ext cx="7072776" cy="3524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'malloc'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 want 10 integers in my array.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malloc returns the address in the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heap. WAIT, that’s an </a:t>
            </a:r>
            <a:r>
              <a:rPr lang="en-US" sz="2400" dirty="0">
                <a:solidFill>
                  <a:srgbClr val="FF0000"/>
                </a:solidFill>
                <a:latin typeface="Inconsolata" panose="020B0609030003000000" pitchFamily="49" charset="0"/>
              </a:rPr>
              <a:t>array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??!?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data = 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 * 10);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9901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CF97-0CE1-4F74-831F-21F670FD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47F34-6C59-4FCB-91F8-386EAD40E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what all my fellow teachers desperately need: Arrays.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CF4D7-892F-467F-BED1-8E581271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375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C20198-763D-4094-B3B0-AEAC3B52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ducks lined up in a row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9F2546-7FD8-4911-A4F3-31E6F26F2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698500"/>
            <a:ext cx="9056370" cy="4940830"/>
          </a:xfrm>
        </p:spPr>
        <p:txBody>
          <a:bodyPr/>
          <a:lstStyle/>
          <a:p>
            <a:r>
              <a:rPr lang="en-US" dirty="0"/>
              <a:t>An array is simply a continuous span of memory.</a:t>
            </a:r>
          </a:p>
          <a:p>
            <a:endParaRPr lang="en-US" dirty="0"/>
          </a:p>
          <a:p>
            <a:r>
              <a:rPr lang="en-US" dirty="0"/>
              <a:t>You can declare an array on the stack: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declare an array on the heap: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9283C-EC9E-4A6D-949F-AE606AA9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DBE84C8-8A45-456A-BA43-6307F5F0795E}"/>
              </a:ext>
            </a:extLst>
          </p:cNvPr>
          <p:cNvSpPr txBox="1">
            <a:spLocks/>
          </p:cNvSpPr>
          <p:nvPr/>
        </p:nvSpPr>
        <p:spPr>
          <a:xfrm>
            <a:off x="1174275" y="2077013"/>
            <a:ext cx="8343900" cy="147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>
                <a:latin typeface="Inconsolata" panose="020B0609030003000000" pitchFamily="49" charset="0"/>
              </a:rPr>
              <a:t>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 array[5];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5 integers... with garbage in them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78B41C-93E0-4F50-A7A9-0F9E16AA942A}"/>
              </a:ext>
            </a:extLst>
          </p:cNvPr>
          <p:cNvSpPr txBox="1">
            <a:spLocks/>
          </p:cNvSpPr>
          <p:nvPr/>
        </p:nvSpPr>
        <p:spPr>
          <a:xfrm>
            <a:off x="1174275" y="3984699"/>
            <a:ext cx="8343900" cy="1571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>
                <a:latin typeface="Inconsolata" panose="020B0609030003000000" pitchFamily="49" charset="0"/>
              </a:rPr>
              <a:t>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5 integers... with garbage in them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* array =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*)malloc(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 * 5);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14DC0-2389-4581-95EA-8FC6E66ED2F2}"/>
              </a:ext>
            </a:extLst>
          </p:cNvPr>
          <p:cNvSpPr txBox="1"/>
          <p:nvPr/>
        </p:nvSpPr>
        <p:spPr>
          <a:xfrm>
            <a:off x="4253479" y="5059024"/>
            <a:ext cx="3352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writing in a pedantic style, you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would write the cast here.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D02804-0AD5-4BC6-B091-C7D0BB3255A4}"/>
              </a:ext>
            </a:extLst>
          </p:cNvPr>
          <p:cNvCxnSpPr>
            <a:cxnSpLocks/>
          </p:cNvCxnSpPr>
          <p:nvPr/>
        </p:nvCxnSpPr>
        <p:spPr>
          <a:xfrm rot="2472984" flipH="1">
            <a:off x="4122742" y="5124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8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0FC5-653F-4B74-86AE-E4EFB545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238152E-7141-4E01-AC78-C1DB91870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723900"/>
            <a:ext cx="9100820" cy="4915430"/>
          </a:xfrm>
        </p:spPr>
        <p:txBody>
          <a:bodyPr/>
          <a:lstStyle/>
          <a:p>
            <a:r>
              <a:rPr lang="en-US" dirty="0"/>
              <a:t>You can initialize them depending on how they are allocated:</a:t>
            </a:r>
          </a:p>
          <a:p>
            <a:endParaRPr lang="en-US" dirty="0"/>
          </a:p>
          <a:p>
            <a:r>
              <a:rPr lang="en-US" dirty="0"/>
              <a:t>You can initialize an array as it is allocated on the stack: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heap (for values other than 0, you’ll need a loop):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EC323-7AB6-4CE0-8293-4E06F21E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8CBEF4-6A9E-480F-850D-1EEA98CD4CBB}"/>
              </a:ext>
            </a:extLst>
          </p:cNvPr>
          <p:cNvSpPr txBox="1">
            <a:spLocks/>
          </p:cNvSpPr>
          <p:nvPr/>
        </p:nvSpPr>
        <p:spPr>
          <a:xfrm>
            <a:off x="1174275" y="2077013"/>
            <a:ext cx="8343900" cy="147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>
                <a:latin typeface="Inconsolata" panose="020B0609030003000000" pitchFamily="49" charset="0"/>
              </a:rPr>
              <a:t>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Unspecified values default to 0: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 array[5] = {1, 42, -3};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[1, 42, -3, 0, 0]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E583A5-9415-4730-9904-8FAF147DC439}"/>
              </a:ext>
            </a:extLst>
          </p:cNvPr>
          <p:cNvSpPr txBox="1">
            <a:spLocks/>
          </p:cNvSpPr>
          <p:nvPr/>
        </p:nvSpPr>
        <p:spPr>
          <a:xfrm>
            <a:off x="1174275" y="3984699"/>
            <a:ext cx="8343900" cy="1571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>
                <a:latin typeface="Inconsolata" panose="020B0609030003000000" pitchFamily="49" charset="0"/>
              </a:rPr>
              <a:t>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5 integers...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sets the memory to 0.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* array =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*)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(5,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076B5-1417-4F59-AAB2-E67ABF25E05F}"/>
              </a:ext>
            </a:extLst>
          </p:cNvPr>
          <p:cNvSpPr txBox="1"/>
          <p:nvPr/>
        </p:nvSpPr>
        <p:spPr>
          <a:xfrm>
            <a:off x="4766685" y="5283161"/>
            <a:ext cx="432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Why is using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sizeof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here?</a:t>
            </a:r>
          </a:p>
        </p:txBody>
      </p:sp>
    </p:spTree>
    <p:extLst>
      <p:ext uri="{BB962C8B-B14F-4D97-AF65-F5344CB8AC3E}">
        <p14:creationId xmlns:p14="http://schemas.microsoft.com/office/powerpoint/2010/main" val="67598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AD96-62E6-4007-9D56-77093ADA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Carelessness means the Stack; Can stab you in the back!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DA1F7-B363-4479-8F21-047CC9A6B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917566"/>
            <a:ext cx="9737078" cy="46072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Remember: Variables declared on the stack are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temporary</a:t>
            </a:r>
            <a:r>
              <a:rPr lang="en-US" dirty="0"/>
              <a:t>.</a:t>
            </a:r>
          </a:p>
          <a:p>
            <a:r>
              <a:rPr lang="en-US" dirty="0"/>
              <a:t>All arrays can be considered pointers, but addresses to the stack are not reliable: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may work sometimes.</a:t>
            </a:r>
          </a:p>
          <a:p>
            <a:pPr lvl="1"/>
            <a:r>
              <a:rPr lang="en-US" dirty="0"/>
              <a:t>However calling a new function will overwrite the array. </a:t>
            </a:r>
            <a:r>
              <a:rPr lang="en-US" i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Don’t trust it!!</a:t>
            </a:r>
          </a:p>
          <a:p>
            <a:r>
              <a:rPr lang="en-US" dirty="0"/>
              <a:t>Instead: Allocate on the heap and pass in a buffer. (next slide)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C868B-58D2-4DB0-AD3C-7E296FB5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E2A71F-CC47-4D5D-B66C-9C5182F9D7CB}"/>
              </a:ext>
            </a:extLst>
          </p:cNvPr>
          <p:cNvSpPr txBox="1">
            <a:spLocks/>
          </p:cNvSpPr>
          <p:nvPr/>
        </p:nvSpPr>
        <p:spPr>
          <a:xfrm>
            <a:off x="1174275" y="2258551"/>
            <a:ext cx="8343900" cy="175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 array[5] = {1, 2, 4, 8, 16};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>
                <a:latin typeface="Inconsolata" panose="020B0609030003000000" pitchFamily="49" charset="0"/>
              </a:rPr>
              <a:t>array;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E2D92-5273-4125-BBBB-7E6FDC85D3C7}"/>
              </a:ext>
            </a:extLst>
          </p:cNvPr>
          <p:cNvSpPr txBox="1"/>
          <p:nvPr/>
        </p:nvSpPr>
        <p:spPr>
          <a:xfrm>
            <a:off x="2895329" y="3458607"/>
            <a:ext cx="6627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Arrays are indeed just pointers! This is an address on the stack.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2FB0A7-E2AC-4067-81CF-872B024F2CE5}"/>
              </a:ext>
            </a:extLst>
          </p:cNvPr>
          <p:cNvCxnSpPr>
            <a:cxnSpLocks/>
          </p:cNvCxnSpPr>
          <p:nvPr/>
        </p:nvCxnSpPr>
        <p:spPr>
          <a:xfrm rot="2472984" flipH="1">
            <a:off x="2764591" y="352407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514F72-68F8-4D1E-9BC3-6E58CA134732}"/>
              </a:ext>
            </a:extLst>
          </p:cNvPr>
          <p:cNvSpPr txBox="1"/>
          <p:nvPr/>
        </p:nvSpPr>
        <p:spPr>
          <a:xfrm>
            <a:off x="1570412" y="3827939"/>
            <a:ext cx="292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Stack deallocation (oh no!)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553FA1-BFE2-4551-96C9-CE2C84433F61}"/>
              </a:ext>
            </a:extLst>
          </p:cNvPr>
          <p:cNvCxnSpPr>
            <a:cxnSpLocks/>
          </p:cNvCxnSpPr>
          <p:nvPr/>
        </p:nvCxnSpPr>
        <p:spPr>
          <a:xfrm rot="2472984" flipH="1">
            <a:off x="1439675" y="389340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6C9F44-62AC-41E4-8B58-050315350DB3}"/>
              </a:ext>
            </a:extLst>
          </p:cNvPr>
          <p:cNvSpPr txBox="1"/>
          <p:nvPr/>
        </p:nvSpPr>
        <p:spPr>
          <a:xfrm>
            <a:off x="6297054" y="3088073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Stack allocation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C3282D-964D-44FA-B69E-494E6E45FAD3}"/>
              </a:ext>
            </a:extLst>
          </p:cNvPr>
          <p:cNvCxnSpPr>
            <a:cxnSpLocks/>
          </p:cNvCxnSpPr>
          <p:nvPr/>
        </p:nvCxnSpPr>
        <p:spPr>
          <a:xfrm rot="2472984" flipH="1">
            <a:off x="6166316" y="315354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6AAD3E-AC5F-45DF-BCEF-64727480FDA0}"/>
              </a:ext>
            </a:extLst>
          </p:cNvPr>
          <p:cNvSpPr txBox="1"/>
          <p:nvPr/>
        </p:nvSpPr>
        <p:spPr>
          <a:xfrm>
            <a:off x="7066036" y="640567"/>
            <a:ext cx="2585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— “A poem about betrayal” by wilkie</a:t>
            </a:r>
          </a:p>
        </p:txBody>
      </p:sp>
    </p:spTree>
    <p:extLst>
      <p:ext uri="{BB962C8B-B14F-4D97-AF65-F5344CB8AC3E}">
        <p14:creationId xmlns:p14="http://schemas.microsoft.com/office/powerpoint/2010/main" val="29162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A7D1-2A42-4E19-9B37-42D492EC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Appropriate use of arrays. </a:t>
            </a:r>
            <a:r>
              <a:rPr lang="en-US" dirty="0" err="1"/>
              <a:t>Approp</a:t>
            </a:r>
            <a:r>
              <a:rPr lang="en-US" dirty="0"/>
              <a:t>-array-</a:t>
            </a:r>
            <a:r>
              <a:rPr lang="en-US" dirty="0" err="1"/>
              <a:t>te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1C350-1C09-4394-9DAF-9BEA13D5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F3876E-D377-4C20-851D-FDC9D3CEDE31}"/>
              </a:ext>
            </a:extLst>
          </p:cNvPr>
          <p:cNvSpPr txBox="1">
            <a:spLocks/>
          </p:cNvSpPr>
          <p:nvPr/>
        </p:nvSpPr>
        <p:spPr>
          <a:xfrm>
            <a:off x="871071" y="716254"/>
            <a:ext cx="8647104" cy="4862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'malloc',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', and 'free'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buffer,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latin typeface="Inconsolata" panose="020B0609030003000000" pitchFamily="49" charset="0"/>
              </a:rPr>
              <a:t> length)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value =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length;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buffer[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 = value;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value *= 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buffer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(10,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(buffer, 10);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10;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buffer[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free(buffer);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Make sure you free any memory you use!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00590-2C08-4DA2-87D3-221AE440A911}"/>
              </a:ext>
            </a:extLst>
          </p:cNvPr>
          <p:cNvSpPr txBox="1"/>
          <p:nvPr/>
        </p:nvSpPr>
        <p:spPr>
          <a:xfrm>
            <a:off x="2336533" y="5283161"/>
            <a:ext cx="6752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happens if we pass 20 instead of 10 to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powers_of_two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E304A-78D1-46BC-B5DC-0D5FE736C0EC}"/>
              </a:ext>
            </a:extLst>
          </p:cNvPr>
          <p:cNvSpPr txBox="1"/>
          <p:nvPr/>
        </p:nvSpPr>
        <p:spPr>
          <a:xfrm>
            <a:off x="3184438" y="2627568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Pointers can indeed be array-like!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BC6862-8415-4DB7-B1D9-BA3F1C4FFAB5}"/>
              </a:ext>
            </a:extLst>
          </p:cNvPr>
          <p:cNvCxnSpPr>
            <a:cxnSpLocks/>
          </p:cNvCxnSpPr>
          <p:nvPr/>
        </p:nvCxnSpPr>
        <p:spPr>
          <a:xfrm rot="2472984" flipH="1">
            <a:off x="3053701" y="269303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CFE1DA-AA8C-42B5-8B43-7C67AE385CA3}"/>
              </a:ext>
            </a:extLst>
          </p:cNvPr>
          <p:cNvSpPr txBox="1"/>
          <p:nvPr/>
        </p:nvSpPr>
        <p:spPr>
          <a:xfrm>
            <a:off x="4034758" y="1867808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Pointers allow for passing arguments “by reference”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1333ED-40F2-45CD-82DB-E31919271D90}"/>
              </a:ext>
            </a:extLst>
          </p:cNvPr>
          <p:cNvCxnSpPr>
            <a:cxnSpLocks/>
          </p:cNvCxnSpPr>
          <p:nvPr/>
        </p:nvCxnSpPr>
        <p:spPr>
          <a:xfrm rot="2472984" flipH="1">
            <a:off x="3904020" y="193327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891C30-802C-4D76-9F53-827114AA3D61}"/>
              </a:ext>
            </a:extLst>
          </p:cNvPr>
          <p:cNvSpPr txBox="1"/>
          <p:nvPr/>
        </p:nvSpPr>
        <p:spPr>
          <a:xfrm>
            <a:off x="4334163" y="4011907"/>
            <a:ext cx="51860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Heap allocation!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Although we overwrite all values, using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calloc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to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initialize array elements to 0 reduces surprises.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3F6579-DD58-4F13-B6D4-15C598F410CE}"/>
              </a:ext>
            </a:extLst>
          </p:cNvPr>
          <p:cNvCxnSpPr>
            <a:cxnSpLocks/>
          </p:cNvCxnSpPr>
          <p:nvPr/>
        </p:nvCxnSpPr>
        <p:spPr>
          <a:xfrm rot="2472984" flipH="1">
            <a:off x="4203425" y="407737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D2371-5845-4C3B-A18F-7D7E3908D0A9}"/>
              </a:ext>
            </a:extLst>
          </p:cNvPr>
          <p:cNvSpPr txBox="1"/>
          <p:nvPr/>
        </p:nvSpPr>
        <p:spPr>
          <a:xfrm>
            <a:off x="4982776" y="1213602"/>
            <a:ext cx="44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Arrays don’t store length.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Gotta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pass it in.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BACCC7-C317-4140-B746-9A3A213A7590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4845259" y="157430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86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63F3-1F71-4FF5-A48B-65A9DD6C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notes on function arguments, 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700C-A006-4BA2-BDCE-DDED5C37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12800"/>
            <a:ext cx="8897620" cy="4334670"/>
          </a:xfrm>
        </p:spPr>
        <p:txBody>
          <a:bodyPr/>
          <a:lstStyle/>
          <a:p>
            <a:r>
              <a:rPr lang="en-US" dirty="0"/>
              <a:t>All arguments are passed “by value” in C.</a:t>
            </a:r>
          </a:p>
          <a:p>
            <a:pPr lvl="1"/>
            <a:r>
              <a:rPr lang="en-US" dirty="0"/>
              <a:t>This means the values are copied into temporary space (the stack, usually) when the functions are called.</a:t>
            </a:r>
          </a:p>
          <a:p>
            <a:pPr lvl="1"/>
            <a:r>
              <a:rPr lang="en-US" dirty="0"/>
              <a:t>This means changing those values does not change their original sources.</a:t>
            </a:r>
          </a:p>
          <a:p>
            <a:r>
              <a:rPr lang="en-US" dirty="0"/>
              <a:t>However, we can pass “by reference” indirectly using pointers:</a:t>
            </a:r>
          </a:p>
          <a:p>
            <a:pPr lvl="1"/>
            <a:r>
              <a:rPr lang="en-US" dirty="0"/>
              <a:t>Similar to how you pass “by reference” in Java by using arrays.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D0E78-9CA7-4610-98ED-58081C67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BE2ADD-D800-411C-AA9C-212DC5A7BFA7}"/>
              </a:ext>
            </a:extLst>
          </p:cNvPr>
          <p:cNvSpPr txBox="1">
            <a:spLocks/>
          </p:cNvSpPr>
          <p:nvPr/>
        </p:nvSpPr>
        <p:spPr>
          <a:xfrm>
            <a:off x="866141" y="3057604"/>
            <a:ext cx="8343900" cy="2480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b="1" dirty="0">
                <a:solidFill>
                  <a:srgbClr val="7030A0"/>
                </a:solidFill>
                <a:latin typeface="Inconsolata" panose="020B0609030003000000" pitchFamily="49" charset="0"/>
              </a:rPr>
              <a:t>int* buffer</a:t>
            </a:r>
            <a:r>
              <a:rPr lang="en-US" sz="2400" dirty="0">
                <a:latin typeface="Inconsolata" panose="020B0609030003000000" pitchFamily="49" charset="0"/>
              </a:rPr>
              <a:t>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latin typeface="Inconsolata" panose="020B0609030003000000" pitchFamily="49" charset="0"/>
              </a:rPr>
              <a:t> length)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value =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length;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b="1" dirty="0">
                <a:solidFill>
                  <a:srgbClr val="7030A0"/>
                </a:solidFill>
                <a:latin typeface="Inconsolata" panose="020B0609030003000000" pitchFamily="49" charset="0"/>
              </a:rPr>
              <a:t>buffer[</a:t>
            </a:r>
            <a:r>
              <a:rPr lang="en-US" sz="2400" b="1" dirty="0" err="1">
                <a:solidFill>
                  <a:srgbClr val="7030A0"/>
                </a:solidFill>
                <a:latin typeface="Inconsolata" panose="020B0609030003000000" pitchFamily="49" charset="0"/>
              </a:rPr>
              <a:t>i</a:t>
            </a:r>
            <a:r>
              <a:rPr lang="en-US" sz="2400" b="1" dirty="0">
                <a:solidFill>
                  <a:srgbClr val="7030A0"/>
                </a:solidFill>
                <a:latin typeface="Inconsolata" panose="020B0609030003000000" pitchFamily="49" charset="0"/>
              </a:rPr>
              <a:t>] = value</a:t>
            </a: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Changes the value in the array.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value *= 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2C189-7FB0-406B-AC52-285005A9CC1C}"/>
              </a:ext>
            </a:extLst>
          </p:cNvPr>
          <p:cNvSpPr txBox="1"/>
          <p:nvPr/>
        </p:nvSpPr>
        <p:spPr>
          <a:xfrm>
            <a:off x="4589658" y="3407498"/>
            <a:ext cx="46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“value” of the argument is the address.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AFE3A5-1B6E-4682-ACF5-24776E87C6D0}"/>
              </a:ext>
            </a:extLst>
          </p:cNvPr>
          <p:cNvCxnSpPr>
            <a:cxnSpLocks/>
          </p:cNvCxnSpPr>
          <p:nvPr/>
        </p:nvCxnSpPr>
        <p:spPr>
          <a:xfrm rot="2472984" flipH="1">
            <a:off x="4438749" y="342589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98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63F3-1F71-4FF5-A48B-65A9DD6C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Careful! No guard rails… You might run off the edge…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700C-A006-4BA2-BDCE-DDED5C37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57250"/>
            <a:ext cx="8897620" cy="4290220"/>
          </a:xfrm>
        </p:spPr>
        <p:txBody>
          <a:bodyPr/>
          <a:lstStyle/>
          <a:p>
            <a:r>
              <a:rPr lang="en-US" dirty="0"/>
              <a:t>Since arrays are just pointers… and the length is not known…</a:t>
            </a:r>
          </a:p>
          <a:p>
            <a:pPr lvl="1"/>
            <a:r>
              <a:rPr lang="en-US" dirty="0"/>
              <a:t>Accessing any element is correct regardless of actual intended length!</a:t>
            </a:r>
          </a:p>
          <a:p>
            <a:pPr lvl="1"/>
            <a:r>
              <a:rPr lang="en-US" dirty="0"/>
              <a:t>No array bounds checking is the source of many very serious bugs!</a:t>
            </a:r>
          </a:p>
          <a:p>
            <a:pPr lvl="2"/>
            <a:r>
              <a:rPr lang="en-US" dirty="0"/>
              <a:t>Can pull out and leak arbitrary memory.</a:t>
            </a:r>
          </a:p>
          <a:p>
            <a:pPr lvl="2"/>
            <a:r>
              <a:rPr lang="en-US" dirty="0"/>
              <a:t>Can potentially cause the program to execute arbitrarily code.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D0E78-9CA7-4610-98ED-58081C67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BE2ADD-D800-411C-AA9C-212DC5A7BFA7}"/>
              </a:ext>
            </a:extLst>
          </p:cNvPr>
          <p:cNvSpPr txBox="1">
            <a:spLocks/>
          </p:cNvSpPr>
          <p:nvPr/>
        </p:nvSpPr>
        <p:spPr>
          <a:xfrm>
            <a:off x="866141" y="2560320"/>
            <a:ext cx="8778544" cy="2978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buffer,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latin typeface="Inconsolata" panose="020B0609030003000000" pitchFamily="49" charset="0"/>
              </a:rPr>
              <a:t> length)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value =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&lt;= length;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buffer[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 = value;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Does exactly what you say.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value *= 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2C189-7FB0-406B-AC52-285005A9CC1C}"/>
              </a:ext>
            </a:extLst>
          </p:cNvPr>
          <p:cNvSpPr txBox="1"/>
          <p:nvPr/>
        </p:nvSpPr>
        <p:spPr>
          <a:xfrm>
            <a:off x="4377517" y="3056368"/>
            <a:ext cx="5133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simple mistake, but it will gleefully write to it!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AFE3A5-1B6E-4682-ACF5-24776E87C6D0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4226608" y="340395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719642-2835-4A7C-9EE4-7F0E9EB43F9B}"/>
              </a:ext>
            </a:extLst>
          </p:cNvPr>
          <p:cNvSpPr txBox="1"/>
          <p:nvPr/>
        </p:nvSpPr>
        <p:spPr>
          <a:xfrm>
            <a:off x="7134061" y="2156285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What if this is too big?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480367-14BF-4813-8F89-D58984C8E718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6983152" y="250386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15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F699-1E98-4190-BB92-DFEE711A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(Warning: it’s wacky)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CEB24-B615-43E5-A9FE-E0F42146B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8755380" cy="3281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Because pointers and arrays are essentially the same concept in C…</a:t>
            </a:r>
          </a:p>
          <a:p>
            <a:pPr lvl="1"/>
            <a:r>
              <a:rPr lang="en-US" dirty="0"/>
              <a:t>Pointers have some strange interactions with math operations.</a:t>
            </a:r>
          </a:p>
          <a:p>
            <a:pPr lvl="1"/>
            <a:endParaRPr lang="en-US" dirty="0"/>
          </a:p>
          <a:p>
            <a:r>
              <a:rPr lang="en-US" dirty="0"/>
              <a:t>Ideally pointers should “align” to their values in memory.</a:t>
            </a:r>
          </a:p>
          <a:p>
            <a:pPr lvl="1"/>
            <a:r>
              <a:rPr lang="en-US" dirty="0"/>
              <a:t>Goal: Incrementing 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int </a:t>
            </a:r>
            <a:r>
              <a:rPr lang="en-US" dirty="0"/>
              <a:t>pointer should go to the next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int </a:t>
            </a:r>
            <a:r>
              <a:rPr lang="en-US" dirty="0"/>
              <a:t>in memory.</a:t>
            </a:r>
          </a:p>
          <a:p>
            <a:pPr lvl="1"/>
            <a:r>
              <a:rPr lang="en-US" dirty="0"/>
              <a:t>That is, not part way between two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int </a:t>
            </a:r>
            <a:r>
              <a:rPr lang="en-US" dirty="0"/>
              <a:t>values.</a:t>
            </a:r>
          </a:p>
          <a:p>
            <a:pPr lvl="1"/>
            <a:endParaRPr lang="en-US" dirty="0"/>
          </a:p>
          <a:p>
            <a:r>
              <a:rPr lang="en-US" dirty="0"/>
              <a:t>Therefore, pointer sum is scaled to the element size.</a:t>
            </a:r>
          </a:p>
          <a:p>
            <a:pPr lvl="1"/>
            <a:r>
              <a:rPr lang="en-US" dirty="0"/>
              <a:t>Multiplication and other operators are undefined and result in a compiler error.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B0DE3-F2CC-4915-B38F-19487FD4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0E6C25-FF95-4D8F-B6CE-ED76E147D03A}"/>
              </a:ext>
            </a:extLst>
          </p:cNvPr>
          <p:cNvSpPr txBox="1">
            <a:spLocks/>
          </p:cNvSpPr>
          <p:nvPr/>
        </p:nvSpPr>
        <p:spPr>
          <a:xfrm>
            <a:off x="866141" y="4129079"/>
            <a:ext cx="8711900" cy="140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ptr</a:t>
            </a:r>
            <a:r>
              <a:rPr lang="en-US" sz="2400" dirty="0">
                <a:latin typeface="Inconsolata" panose="020B0609030003000000" pitchFamily="49" charset="0"/>
              </a:rPr>
              <a:t> =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*)0x400;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Arbitrary for illustration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latin typeface="Inconsolata" panose="020B0609030003000000" pitchFamily="49" charset="0"/>
              </a:rPr>
              <a:t>ptr</a:t>
            </a:r>
            <a:r>
              <a:rPr lang="en-US" sz="2400" dirty="0">
                <a:latin typeface="Inconsolata" panose="020B0609030003000000" pitchFamily="49" charset="0"/>
              </a:rPr>
              <a:t>++;    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is 0x404 (assuming 32-bit int)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C00000"/>
                </a:solidFill>
                <a:latin typeface="Inconsolata" panose="020B0609030003000000" pitchFamily="49" charset="0"/>
              </a:rPr>
              <a:t>ptr</a:t>
            </a:r>
            <a:r>
              <a:rPr lang="en-US" sz="2400" dirty="0">
                <a:solidFill>
                  <a:srgbClr val="C00000"/>
                </a:solidFill>
                <a:latin typeface="Inconsolata" panose="020B0609030003000000" pitchFamily="49" charset="0"/>
              </a:rPr>
              <a:t> *= 2;</a:t>
            </a:r>
            <a:r>
              <a:rPr lang="en-US" sz="2400" dirty="0">
                <a:latin typeface="Inconsolata" panose="020B0609030003000000" pitchFamily="49" charset="0"/>
              </a:rPr>
              <a:t> 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Error: multiplication not valid!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9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F699-1E98-4190-BB92-DFEE711A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in practice: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B0DE3-F2CC-4915-B38F-19487FD4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D3EA32-1831-42AB-9CF8-D856DBCB7158}"/>
              </a:ext>
            </a:extLst>
          </p:cNvPr>
          <p:cNvSpPr txBox="1">
            <a:spLocks/>
          </p:cNvSpPr>
          <p:nvPr/>
        </p:nvSpPr>
        <p:spPr>
          <a:xfrm>
            <a:off x="871071" y="716254"/>
            <a:ext cx="8647104" cy="5059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'malloc',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', and 'free'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buffer[],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size_t</a:t>
            </a:r>
            <a:r>
              <a:rPr lang="en-US" sz="2400" dirty="0">
                <a:latin typeface="Inconsolata" panose="020B0609030003000000" pitchFamily="49" charset="0"/>
              </a:rPr>
              <a:t> length)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value =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length;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*buffer++ = value;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Assigns and then moves the pointer to the next item.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value *= 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buffer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(10,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powers_of_two</a:t>
            </a:r>
            <a:r>
              <a:rPr lang="en-US" sz="2400" dirty="0">
                <a:latin typeface="Inconsolata" panose="020B0609030003000000" pitchFamily="49" charset="0"/>
              </a:rPr>
              <a:t>(buffer, 10);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10;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"%d\n"</a:t>
            </a:r>
            <a:r>
              <a:rPr lang="en-US" sz="2400" dirty="0">
                <a:latin typeface="Inconsolata" panose="020B0609030003000000" pitchFamily="49" charset="0"/>
              </a:rPr>
              <a:t>, buffer[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free(buffer);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Make sure you free any memory you use!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E1192D-E5D2-44E9-B5E6-329783232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947" y="1997818"/>
            <a:ext cx="753594" cy="753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467788-700E-481F-A963-CFBD789A0614}"/>
              </a:ext>
            </a:extLst>
          </p:cNvPr>
          <p:cNvSpPr txBox="1"/>
          <p:nvPr/>
        </p:nvSpPr>
        <p:spPr>
          <a:xfrm>
            <a:off x="2502594" y="2661931"/>
            <a:ext cx="7102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++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(postfix-increment) happens AFTER the dereference.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is defined by the C language and is really confusing in practice.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				(but you’ll see it. often.)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92B337-0845-4443-AF32-8957C4C78608}"/>
              </a:ext>
            </a:extLst>
          </p:cNvPr>
          <p:cNvCxnSpPr>
            <a:cxnSpLocks/>
          </p:cNvCxnSpPr>
          <p:nvPr/>
        </p:nvCxnSpPr>
        <p:spPr>
          <a:xfrm rot="2472984" flipH="1">
            <a:off x="2351684" y="268033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21523F-5C89-42F8-85FA-CDA66DED3479}"/>
              </a:ext>
            </a:extLst>
          </p:cNvPr>
          <p:cNvSpPr txBox="1"/>
          <p:nvPr/>
        </p:nvSpPr>
        <p:spPr>
          <a:xfrm>
            <a:off x="3353801" y="1224854"/>
            <a:ext cx="624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Alternative (and less common) way of expressing a pointer.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1FE43F-14A4-49BA-B131-0CA94C628968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216284" y="158555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37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7221-CBA2-44F1-9627-6DC83F0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Memory Model: 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DE8B-4B2F-4309-85FF-B75961CD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736601"/>
            <a:ext cx="6939391" cy="4293106"/>
          </a:xfrm>
        </p:spPr>
        <p:txBody>
          <a:bodyPr/>
          <a:lstStyle/>
          <a:p>
            <a:r>
              <a:rPr lang="en-US" dirty="0"/>
              <a:t>The Heap is the dynamic data section!</a:t>
            </a:r>
          </a:p>
          <a:p>
            <a:pPr lvl="1"/>
            <a:r>
              <a:rPr lang="en-US" dirty="0"/>
              <a:t>You interact with the heap entirely with pointers.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malloc </a:t>
            </a:r>
            <a:r>
              <a:rPr lang="en-US" dirty="0"/>
              <a:t>returns the address to the heap with at least the number of bytes requested. Or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AB5DA5"/>
                </a:solidFill>
                <a:latin typeface="Inconsolata" panose="020B0609030003000000" pitchFamily="49" charset="0"/>
              </a:rPr>
              <a:t>NULL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on error.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F057-96DF-4582-829B-AF2EBBBD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ACE726-71C5-49EA-A32C-479F03944A61}"/>
              </a:ext>
            </a:extLst>
          </p:cNvPr>
          <p:cNvGrpSpPr/>
          <p:nvPr/>
        </p:nvGrpSpPr>
        <p:grpSpPr>
          <a:xfrm>
            <a:off x="6934377" y="683672"/>
            <a:ext cx="2438400" cy="4987526"/>
            <a:chOff x="6412523" y="33279"/>
            <a:chExt cx="2438400" cy="6650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2BE7DC-AD9B-46EF-97C0-0F87D163C3FE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563B32-4308-47E5-A7BE-47606EE6BF09}"/>
                </a:ext>
              </a:extLst>
            </p:cNvPr>
            <p:cNvSpPr/>
            <p:nvPr/>
          </p:nvSpPr>
          <p:spPr>
            <a:xfrm>
              <a:off x="6412523" y="1616076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84F583-59DE-4BAB-9878-22F9709D9B56}"/>
                </a:ext>
              </a:extLst>
            </p:cNvPr>
            <p:cNvGrpSpPr/>
            <p:nvPr/>
          </p:nvGrpSpPr>
          <p:grpSpPr>
            <a:xfrm>
              <a:off x="6412523" y="33279"/>
              <a:ext cx="2438400" cy="6650033"/>
              <a:chOff x="6412523" y="33279"/>
              <a:chExt cx="2438400" cy="6650033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625129B2-AD96-4E17-B046-ED56938F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2149476"/>
                <a:ext cx="2438400" cy="182880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0D02588-F064-4073-B951-2EAE293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616076"/>
                <a:ext cx="2438400" cy="4572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AC11BD0E-3151-4222-A367-E45185417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4D4A2B38-D5CD-4DE4-9ACE-3D038890A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6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4AA1C-9688-48BE-B5DB-2168EA489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3978276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9843321-BC10-4D8B-AEEF-2248F6B98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2143037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28DA90-E7F1-4FA8-BBBC-DF3A2BC86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99051" y="5440678"/>
                <a:ext cx="84189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code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DBDA8B76-611E-4377-B143-3C934C1E8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35" y="4676777"/>
                <a:ext cx="1579278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static 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FD25621F-D910-49C8-A5FF-1DDD7B60F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1007" y="3990975"/>
                <a:ext cx="859531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heap</a:t>
                </a: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D35B3FD6-7FE6-433F-8074-AA4FAD15A5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3" y="1616076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B4574225-9E7D-4EDA-A276-6548CAB7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31723" y="35972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61125FE8-F924-41C8-BACF-9549560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1723" y="214947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3737F842-965E-46AB-B02F-31CFEC209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108860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6211A7D5-4041-46D1-BC6B-471CEF0F7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56699C-614A-465F-92BE-2E32A812EE8B}"/>
                  </a:ext>
                </a:extLst>
              </p:cNvPr>
              <p:cNvSpPr txBox="1"/>
              <p:nvPr/>
            </p:nvSpPr>
            <p:spPr>
              <a:xfrm>
                <a:off x="6655946" y="33279"/>
                <a:ext cx="19896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Layout</a:t>
                </a:r>
              </a:p>
              <a:p>
                <a:pPr algn="ctr">
                  <a:buClrTx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(32-bit addresses)</a:t>
                </a:r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D3DC64F-2EE7-4967-82A3-E0C0484B23A3}"/>
              </a:ext>
            </a:extLst>
          </p:cNvPr>
          <p:cNvSpPr txBox="1">
            <a:spLocks/>
          </p:cNvSpPr>
          <p:nvPr/>
        </p:nvSpPr>
        <p:spPr>
          <a:xfrm>
            <a:off x="673101" y="2270760"/>
            <a:ext cx="7072776" cy="35241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'malloc'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 want 10 integers in my array.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malloc returns the address in the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heap. This can be used as an array.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data = 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 * 10);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data[5] = 42;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free(data);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Good to free memory!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0357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094B-8F13-41BE-ADA3-AC38B37B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2CFF7-CB87-4A6D-8750-909F67F42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longer just for cats!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22E9D-8888-49A9-AA7F-F156B4B7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77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5451FD-FE32-4908-A7A3-E4EEAA52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7EE4EF-9E1B-447C-ACF4-97F426E5B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6715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They are arrays and, as such, inherit all their limitations/issues.</a:t>
            </a:r>
          </a:p>
          <a:p>
            <a:pPr lvl="1"/>
            <a:r>
              <a:rPr lang="en-US" dirty="0"/>
              <a:t>The size is not stored.</a:t>
            </a:r>
          </a:p>
          <a:p>
            <a:pPr lvl="1"/>
            <a:r>
              <a:rPr lang="en-US" dirty="0"/>
              <a:t>They are essentially just pointers to memory.</a:t>
            </a:r>
          </a:p>
          <a:p>
            <a:pPr lvl="1"/>
            <a:endParaRPr lang="en-US" dirty="0"/>
          </a:p>
          <a:p>
            <a:r>
              <a:rPr lang="en-US" dirty="0"/>
              <a:t>Text is represented as an array of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char </a:t>
            </a:r>
            <a:r>
              <a:rPr lang="en-US" dirty="0"/>
              <a:t>elements.</a:t>
            </a:r>
          </a:p>
          <a:p>
            <a:endParaRPr lang="en-US" dirty="0"/>
          </a:p>
          <a:p>
            <a:r>
              <a:rPr lang="en-US" dirty="0"/>
              <a:t>Representing text is hard!!!</a:t>
            </a:r>
          </a:p>
          <a:p>
            <a:pPr lvl="1"/>
            <a:r>
              <a:rPr lang="en-US" dirty="0"/>
              <a:t>Understatement of the dang century.</a:t>
            </a:r>
          </a:p>
          <a:p>
            <a:pPr lvl="1"/>
            <a:r>
              <a:rPr lang="en-US" dirty="0"/>
              <a:t>Original ASCII is 7-bit, encodes Latin and Greek</a:t>
            </a:r>
          </a:p>
          <a:p>
            <a:pPr lvl="2"/>
            <a:r>
              <a:rPr lang="en-US" dirty="0"/>
              <a:t>Hence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char </a:t>
            </a:r>
            <a:r>
              <a:rPr lang="en-US" dirty="0"/>
              <a:t>being the C integer byte type.</a:t>
            </a:r>
          </a:p>
          <a:p>
            <a:pPr lvl="1"/>
            <a:r>
              <a:rPr lang="en-US" dirty="0"/>
              <a:t>Extended for various locales haphazardly.</a:t>
            </a:r>
          </a:p>
          <a:p>
            <a:pPr lvl="2"/>
            <a:r>
              <a:rPr lang="en-US" dirty="0"/>
              <a:t>7-bits woefully inadequate for certain languages.</a:t>
            </a:r>
          </a:p>
          <a:p>
            <a:pPr lvl="1"/>
            <a:r>
              <a:rPr lang="en-US" dirty="0"/>
              <a:t>Unicode mostly successfully unifies a variety of glyphs.</a:t>
            </a:r>
          </a:p>
          <a:p>
            <a:pPr lvl="2"/>
            <a:r>
              <a:rPr lang="en-US" dirty="0"/>
              <a:t>Tens of thousands of different characters! More than a byte!!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71565-D132-463A-BA48-97958290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B5AC9A-EEA2-46FB-B350-38820AE6E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642" y="1704774"/>
            <a:ext cx="1106862" cy="135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l Sprite">
            <a:extLst>
              <a:ext uri="{FF2B5EF4-FFF2-40B4-BE49-F238E27FC236}">
                <a16:creationId xmlns:a16="http://schemas.microsoft.com/office/drawing/2014/main" id="{7B831F15-B7E5-43EA-B880-32E0195C2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117" y="3423557"/>
            <a:ext cx="1723913" cy="172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34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BDB5-2316-4127-B5E5-20B30AEE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is your string?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BDCF7-04F5-432C-B2A0-A630514CD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6620" y="967740"/>
                <a:ext cx="8343900" cy="44967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Arrays in C are just pointers and as such </a:t>
                </a:r>
                <a:r>
                  <a:rPr lang="en-US" u="sng" dirty="0"/>
                  <a:t>do not store their length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They are simply continuous sections of memory!</a:t>
                </a:r>
              </a:p>
              <a:p>
                <a:pPr lvl="1"/>
                <a:r>
                  <a:rPr lang="en-US" dirty="0"/>
                  <a:t>Up to you to figure out how long it is!</a:t>
                </a:r>
              </a:p>
              <a:p>
                <a:pPr lvl="2"/>
                <a:r>
                  <a:rPr lang="en-US" dirty="0"/>
                  <a:t>Misreporting or assuming length is often a big source of bugs!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So, there are two common ways of expressing length:</a:t>
                </a:r>
              </a:p>
              <a:p>
                <a:pPr lvl="1"/>
                <a:r>
                  <a:rPr lang="en-US" dirty="0"/>
                  <a:t>Storing the length alongside the array.</a:t>
                </a:r>
              </a:p>
              <a:p>
                <a:pPr lvl="1"/>
                <a:r>
                  <a:rPr lang="en-US" dirty="0"/>
                  <a:t>Storing a special value within the array to mark the end. (A </a:t>
                </a:r>
                <a:r>
                  <a:rPr lang="en-US" dirty="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sentinel</a:t>
                </a:r>
                <a:r>
                  <a:rPr lang="en-US" dirty="0"/>
                  <a:t> value)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Strings in C commonly employ a sentinel value.</a:t>
                </a:r>
              </a:p>
              <a:p>
                <a:pPr lvl="1"/>
                <a:r>
                  <a:rPr lang="en-US" dirty="0"/>
                  <a:t>Such a value must be something considered invalid for actual data.</a:t>
                </a:r>
              </a:p>
              <a:p>
                <a:pPr lvl="1"/>
                <a:r>
                  <a:rPr lang="en-US" dirty="0"/>
                  <a:t>How do you know how long such an array is?</a:t>
                </a:r>
              </a:p>
              <a:p>
                <a:pPr lvl="2"/>
                <a:r>
                  <a:rPr lang="en-US" dirty="0"/>
                  <a:t>You will have to search for the sentinel value! Incurring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cost.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BDCF7-04F5-432C-B2A0-A630514CD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620" y="967740"/>
                <a:ext cx="8343900" cy="4496714"/>
              </a:xfrm>
              <a:blipFill>
                <a:blip r:embed="rId2"/>
                <a:stretch>
                  <a:fillRect l="-877" t="-25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662B5-EE99-4CBB-9551-41F2C413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1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3431-271E-4940-BFE6-B4739A27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string literal.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9D88-E7FF-405B-8E8A-0EEC4DB1B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1" y="738835"/>
            <a:ext cx="8679589" cy="4408635"/>
          </a:xfrm>
        </p:spPr>
        <p:txBody>
          <a:bodyPr/>
          <a:lstStyle/>
          <a:p>
            <a:r>
              <a:rPr lang="en-US" dirty="0"/>
              <a:t>String literals should be familiar from Java.</a:t>
            </a:r>
          </a:p>
          <a:p>
            <a:pPr lvl="1"/>
            <a:r>
              <a:rPr lang="en-US" dirty="0"/>
              <a:t>However, in C, they are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char </a:t>
            </a:r>
            <a:r>
              <a:rPr lang="en-US" dirty="0"/>
              <a:t>pointers. (That is: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contents of the literal are read-only (immutable) so it is a: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const char</a:t>
            </a:r>
            <a:r>
              <a:rPr lang="en-US" dirty="0">
                <a:latin typeface="Inconsolata" panose="020B0609030003000000" pitchFamily="49" charset="0"/>
              </a:rPr>
              <a:t>*</a:t>
            </a:r>
            <a:endParaRPr lang="en-US" dirty="0"/>
          </a:p>
          <a:p>
            <a:pPr lvl="2"/>
            <a:r>
              <a:rPr lang="en-US" dirty="0"/>
              <a:t>Modifying it crashes your program!!</a:t>
            </a:r>
          </a:p>
          <a:p>
            <a:pPr lvl="2"/>
            <a:r>
              <a:rPr lang="en-US" dirty="0"/>
              <a:t>A pointer that can’t change pointing to an immutable string is 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const 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017F3-9F5F-4F6D-B624-441D500A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6479DE-8F14-4C89-9D71-0ECC1F778FB8}"/>
              </a:ext>
            </a:extLst>
          </p:cNvPr>
          <p:cNvSpPr txBox="1">
            <a:spLocks/>
          </p:cNvSpPr>
          <p:nvPr/>
        </p:nvSpPr>
        <p:spPr>
          <a:xfrm>
            <a:off x="764541" y="2311600"/>
            <a:ext cx="8602167" cy="3380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You could specify it as: char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[] = "...";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But that would allocate the string on the stack!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const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World."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6B32B-7FCE-472E-89F2-D6FB2C9312D9}"/>
              </a:ext>
            </a:extLst>
          </p:cNvPr>
          <p:cNvSpPr txBox="1"/>
          <p:nvPr/>
        </p:nvSpPr>
        <p:spPr>
          <a:xfrm>
            <a:off x="5510673" y="4811308"/>
            <a:ext cx="40655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variable is allocated on the stack,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which is a pointer. The string itself is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likely in the static data segment!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DBF6D3-949A-45B9-938B-2E8B421A5C5A}"/>
              </a:ext>
            </a:extLst>
          </p:cNvPr>
          <p:cNvCxnSpPr>
            <a:cxnSpLocks/>
          </p:cNvCxnSpPr>
          <p:nvPr/>
        </p:nvCxnSpPr>
        <p:spPr>
          <a:xfrm rot="2472984" flipH="1">
            <a:off x="5379935" y="483288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6D43220-9722-4E68-995A-51AFBFE45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394" y="1934803"/>
            <a:ext cx="376797" cy="3767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4206EF-2587-4026-BD23-17ABC5D4E4CD}"/>
              </a:ext>
            </a:extLst>
          </p:cNvPr>
          <p:cNvSpPr txBox="1"/>
          <p:nvPr/>
        </p:nvSpPr>
        <p:spPr>
          <a:xfrm>
            <a:off x="7543441" y="2366861"/>
            <a:ext cx="2141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Let’s ignore this!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Wingdings" panose="05000000000000000000" pitchFamily="2" charset="2"/>
              </a:rPr>
              <a:t>        (for now)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872369-D3F2-4E92-85EF-4E5CFDF560CB}"/>
              </a:ext>
            </a:extLst>
          </p:cNvPr>
          <p:cNvCxnSpPr>
            <a:cxnSpLocks/>
          </p:cNvCxnSpPr>
          <p:nvPr/>
        </p:nvCxnSpPr>
        <p:spPr>
          <a:xfrm rot="2472984" flipH="1">
            <a:off x="7407860" y="237138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68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8775-35B5-4DC7-B653-FA2ED449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is your string? Let’s find out.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AFA65-2925-45C9-AA2E-E85DF8BBF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749301"/>
                <a:ext cx="8897620" cy="4398170"/>
              </a:xfrm>
            </p:spPr>
            <p:txBody>
              <a:bodyPr/>
              <a:lstStyle/>
              <a:p>
                <a:r>
                  <a:rPr lang="en-US" dirty="0"/>
                  <a:t>The</a:t>
                </a:r>
                <a:r>
                  <a:rPr lang="en-US" dirty="0">
                    <a:latin typeface="Inconsolata" panose="020B0609030003000000" pitchFamily="49" charset="0"/>
                  </a:rPr>
                  <a:t> </a:t>
                </a:r>
                <a:r>
                  <a:rPr lang="en-US" dirty="0" err="1">
                    <a:latin typeface="Inconsolata" panose="020B0609030003000000" pitchFamily="49" charset="0"/>
                  </a:rPr>
                  <a:t>strlen</a:t>
                </a:r>
                <a:r>
                  <a:rPr lang="en-US" dirty="0">
                    <a:latin typeface="Inconsolata" panose="020B0609030003000000" pitchFamily="49" charset="0"/>
                  </a:rPr>
                  <a:t> </a:t>
                </a:r>
                <a:r>
                  <a:rPr lang="en-US" dirty="0"/>
                  <a:t>standard library function reports the length of a string.</a:t>
                </a:r>
              </a:p>
              <a:p>
                <a:pPr lvl="1"/>
                <a:r>
                  <a:rPr lang="en-US" dirty="0"/>
                  <a:t>This is done in roughly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as it must find the sentinel.</a:t>
                </a:r>
              </a:p>
              <a:p>
                <a:pPr lvl="1"/>
                <a:r>
                  <a:rPr lang="en-US" dirty="0"/>
                  <a:t>The following code investigates and prints out the sentinel: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AFA65-2925-45C9-AA2E-E85DF8BBF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749301"/>
                <a:ext cx="8897620" cy="4398170"/>
              </a:xfrm>
              <a:blipFill>
                <a:blip r:embed="rId2"/>
                <a:stretch>
                  <a:fillRect l="-822" t="-2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95401-6C98-466C-BD74-3760E626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D5AEA5-898B-40B2-85A8-B17C663E3EE9}"/>
              </a:ext>
            </a:extLst>
          </p:cNvPr>
          <p:cNvSpPr txBox="1">
            <a:spLocks/>
          </p:cNvSpPr>
          <p:nvPr/>
        </p:nvSpPr>
        <p:spPr>
          <a:xfrm>
            <a:off x="764541" y="1865376"/>
            <a:ext cx="8602167" cy="3929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strlen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const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World."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length = </a:t>
            </a:r>
            <a:r>
              <a:rPr lang="en-US" sz="2400" dirty="0" err="1">
                <a:latin typeface="Inconsolata" panose="020B0609030003000000" pitchFamily="49" charset="0"/>
              </a:rPr>
              <a:t>strlen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"length: %d\n"</a:t>
            </a:r>
            <a:r>
              <a:rPr lang="en-US" sz="2400" dirty="0">
                <a:latin typeface="Inconsolata" panose="020B0609030003000000" pitchFamily="49" charset="0"/>
              </a:rPr>
              <a:t>, length);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"sentinel: %x\n"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[length]);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3749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0638-D7EE-407C-9A20-52F31B34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good strings go bad.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4D4F-EE4E-4BCA-9F11-24ED767E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50900"/>
            <a:ext cx="9118600" cy="4296569"/>
          </a:xfrm>
        </p:spPr>
        <p:txBody>
          <a:bodyPr/>
          <a:lstStyle/>
          <a:p>
            <a:r>
              <a:rPr lang="en-US" dirty="0"/>
              <a:t>What happens if that sentinel… was not there?</a:t>
            </a:r>
          </a:p>
          <a:p>
            <a:pPr lvl="1"/>
            <a:r>
              <a:rPr lang="en-US" dirty="0"/>
              <a:t>Well… it would keep counting garbage memory until it sees a 0.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F11FF-36C6-4F9A-A375-64860E54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D2D1D5-5D06-4367-B438-56007759D75B}"/>
              </a:ext>
            </a:extLst>
          </p:cNvPr>
          <p:cNvSpPr txBox="1">
            <a:spLocks/>
          </p:cNvSpPr>
          <p:nvPr/>
        </p:nvSpPr>
        <p:spPr>
          <a:xfrm>
            <a:off x="764541" y="1872692"/>
            <a:ext cx="8602167" cy="392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strlen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[]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World."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length = </a:t>
            </a:r>
            <a:r>
              <a:rPr lang="en-US" sz="2400" dirty="0" err="1">
                <a:latin typeface="Inconsolata" panose="020B0609030003000000" pitchFamily="49" charset="0"/>
              </a:rPr>
              <a:t>strlen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[length] = 42;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Corrupt the sentinel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400" dirty="0">
                <a:latin typeface="Inconsolata" panose="020B0609030003000000" pitchFamily="49" charset="0"/>
              </a:rPr>
              <a:t>length = </a:t>
            </a:r>
            <a:r>
              <a:rPr lang="en-US" sz="2400" dirty="0" err="1">
                <a:latin typeface="Inconsolata" panose="020B0609030003000000" pitchFamily="49" charset="0"/>
              </a:rPr>
              <a:t>strlen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Uh oh.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625E9-DCEF-449B-B3E0-B424423ECE75}"/>
              </a:ext>
            </a:extLst>
          </p:cNvPr>
          <p:cNvSpPr txBox="1"/>
          <p:nvPr/>
        </p:nvSpPr>
        <p:spPr>
          <a:xfrm>
            <a:off x="1865643" y="5147469"/>
            <a:ext cx="653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length here depends on the state of memory in the stack.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E5B4CA-EA32-44E5-B2A6-EAA8A51CA3D5}"/>
              </a:ext>
            </a:extLst>
          </p:cNvPr>
          <p:cNvCxnSpPr>
            <a:cxnSpLocks/>
          </p:cNvCxnSpPr>
          <p:nvPr/>
        </p:nvCxnSpPr>
        <p:spPr>
          <a:xfrm rot="2472984" flipH="1">
            <a:off x="1734906" y="516904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781E975-49CB-41AC-A185-F2C0DCF7E9E1}"/>
              </a:ext>
            </a:extLst>
          </p:cNvPr>
          <p:cNvSpPr txBox="1"/>
          <p:nvPr/>
        </p:nvSpPr>
        <p:spPr>
          <a:xfrm>
            <a:off x="3822757" y="2839503"/>
            <a:ext cx="5758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syntax copies the string literal on to the stack.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allows us to modify it. (otherwise, it is immutable)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F87D21-F0AA-4E99-87F6-CAF546513C88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677157" y="348798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79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E876-D549-4EB6-80A4-CBDBC43D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stronger strings. A… rope… perhaps.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BF95-AAB0-410F-9668-39E22D85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00100"/>
            <a:ext cx="9118600" cy="4347369"/>
          </a:xfrm>
        </p:spPr>
        <p:txBody>
          <a:bodyPr/>
          <a:lstStyle/>
          <a:p>
            <a:r>
              <a:rPr lang="en-US" dirty="0"/>
              <a:t>To ensure that malicious input is less likely to be disastrous…</a:t>
            </a:r>
          </a:p>
          <a:p>
            <a:pPr lvl="1"/>
            <a:r>
              <a:rPr lang="en-US" dirty="0"/>
              <a:t>We have alternative standard functions that set a maximum length.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CED24-58C5-4DE0-92FE-0A00E0C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F8FEA1-F7B2-4AC7-A38C-3C7B17D3F671}"/>
              </a:ext>
            </a:extLst>
          </p:cNvPr>
          <p:cNvSpPr txBox="1">
            <a:spLocks/>
          </p:cNvSpPr>
          <p:nvPr/>
        </p:nvSpPr>
        <p:spPr>
          <a:xfrm>
            <a:off x="764541" y="1872692"/>
            <a:ext cx="8602167" cy="392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strnlen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[]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World."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length = </a:t>
            </a:r>
            <a:r>
              <a:rPr lang="en-US" sz="2400" dirty="0" err="1">
                <a:latin typeface="Inconsolata" panose="020B0609030003000000" pitchFamily="49" charset="0"/>
              </a:rPr>
              <a:t>strlen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[length] = 42;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Corrupt the sentinel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400" dirty="0">
                <a:latin typeface="Inconsolata" panose="020B0609030003000000" pitchFamily="49" charset="0"/>
              </a:rPr>
              <a:t>length = </a:t>
            </a:r>
            <a:r>
              <a:rPr lang="en-US" sz="2400" dirty="0" err="1">
                <a:latin typeface="Inconsolata" panose="020B0609030003000000" pitchFamily="49" charset="0"/>
              </a:rPr>
              <a:t>strnlen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my_string</a:t>
            </a:r>
            <a:r>
              <a:rPr lang="en-US" sz="2400" dirty="0">
                <a:latin typeface="Inconsolata" panose="020B0609030003000000" pitchFamily="49" charset="0"/>
              </a:rPr>
              <a:t>, 12);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That's fine.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9E737-055D-48D8-8170-0E83171774A9}"/>
              </a:ext>
            </a:extLst>
          </p:cNvPr>
          <p:cNvSpPr txBox="1"/>
          <p:nvPr/>
        </p:nvSpPr>
        <p:spPr>
          <a:xfrm>
            <a:off x="1865644" y="5147469"/>
            <a:ext cx="7116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strnlen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will stop after the 12</a:t>
            </a:r>
            <a:r>
              <a:rPr lang="en-US" baseline="300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character if it does not see a sentinel.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A4B5BD-E03C-4175-B669-C7FA8F234BAD}"/>
              </a:ext>
            </a:extLst>
          </p:cNvPr>
          <p:cNvCxnSpPr>
            <a:cxnSpLocks/>
          </p:cNvCxnSpPr>
          <p:nvPr/>
        </p:nvCxnSpPr>
        <p:spPr>
          <a:xfrm rot="2472984" flipH="1">
            <a:off x="1734906" y="516904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6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E876-D549-4EB6-80A4-CBDBC43D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“Apples” to “Oranges”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BF95-AAB0-410F-9668-39E22D85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5651"/>
            <a:ext cx="8897620" cy="4391820"/>
          </a:xfrm>
        </p:spPr>
        <p:txBody>
          <a:bodyPr/>
          <a:lstStyle/>
          <a:p>
            <a:r>
              <a:rPr lang="en-US" dirty="0"/>
              <a:t>When you compare strings using</a:t>
            </a:r>
            <a:r>
              <a:rPr lang="en-US" dirty="0">
                <a:latin typeface="Inconsolata" panose="020B0609030003000000" pitchFamily="49" charset="0"/>
              </a:rPr>
              <a:t> == </a:t>
            </a:r>
            <a:r>
              <a:rPr lang="en-US" dirty="0"/>
              <a:t>it compares the addresses!</a:t>
            </a:r>
          </a:p>
          <a:p>
            <a:pPr lvl="1"/>
            <a:r>
              <a:rPr lang="en-US" dirty="0"/>
              <a:t>Since string literals are constant, they only exist in the executable once.</a:t>
            </a:r>
          </a:p>
          <a:p>
            <a:pPr lvl="1"/>
            <a:r>
              <a:rPr lang="en-US" dirty="0"/>
              <a:t>All references will refer to the same string!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CED24-58C5-4DE0-92FE-0A00E0C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F8FEA1-F7B2-4AC7-A38C-3C7B17D3F671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602167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strncmp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* string1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* string2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(string1 == string2)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"same\n"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runs!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809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E876-D549-4EB6-80A4-CBDBC43D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“Apples” to “Oranges”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BF95-AAB0-410F-9668-39E22D85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71" y="730251"/>
            <a:ext cx="9024149" cy="4417220"/>
          </a:xfrm>
        </p:spPr>
        <p:txBody>
          <a:bodyPr/>
          <a:lstStyle/>
          <a:p>
            <a:r>
              <a:rPr lang="en-US" dirty="0"/>
              <a:t>When the addresses differ, they are not equal.</a:t>
            </a:r>
          </a:p>
          <a:p>
            <a:pPr lvl="1"/>
            <a:r>
              <a:rPr lang="en-US" dirty="0"/>
              <a:t>So, you have to be careful when comparing them.</a:t>
            </a:r>
          </a:p>
          <a:p>
            <a:pPr lvl="1"/>
            <a:r>
              <a:rPr lang="en-US" dirty="0"/>
              <a:t>This is similar to Java when considering</a:t>
            </a:r>
            <a:r>
              <a:rPr lang="en-US" dirty="0">
                <a:latin typeface="Inconsolata" panose="020B0609030003000000" pitchFamily="49" charset="0"/>
              </a:rPr>
              <a:t> == </a:t>
            </a:r>
            <a:r>
              <a:rPr lang="en-US" dirty="0"/>
              <a:t>versus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String.equals</a:t>
            </a:r>
            <a:r>
              <a:rPr lang="en-US" dirty="0">
                <a:latin typeface="Inconsolata" panose="020B0609030003000000" pitchFamily="49" charset="0"/>
              </a:rPr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CED24-58C5-4DE0-92FE-0A00E0C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249768-7897-4126-B659-2E41BAFF5B27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602167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strncmp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 string1[]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 string2[]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(string1 == string2)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"same\n"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does not run!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949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E876-D549-4EB6-80A4-CBDBC43D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“Apples” to “Oranges”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1BF95-AAB0-410F-9668-39E22D85B1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711201"/>
                <a:ext cx="8897620" cy="4436270"/>
              </a:xfrm>
            </p:spPr>
            <p:txBody>
              <a:bodyPr/>
              <a:lstStyle/>
              <a:p>
                <a:r>
                  <a:rPr lang="en-US" dirty="0"/>
                  <a:t>To compare values instead, use the standard library’s</a:t>
                </a:r>
                <a:r>
                  <a:rPr lang="en-US" dirty="0">
                    <a:latin typeface="Inconsolata" panose="020B0609030003000000" pitchFamily="49" charset="0"/>
                  </a:rPr>
                  <a:t> </a:t>
                </a:r>
                <a:r>
                  <a:rPr lang="en-US" dirty="0" err="1">
                    <a:latin typeface="Inconsolata" panose="020B0609030003000000" pitchFamily="49" charset="0"/>
                  </a:rPr>
                  <a:t>strcmp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This will perform a byte-by-byte comparison of the string.</a:t>
                </a:r>
              </a:p>
              <a:p>
                <a:pPr lvl="2"/>
                <a:r>
                  <a:rPr lang="en-US" dirty="0"/>
                  <a:t>Upon finding a difference, it returns rough difference between those contrary bytes.</a:t>
                </a:r>
              </a:p>
              <a:p>
                <a:pPr lvl="2"/>
                <a:r>
                  <a:rPr lang="en-US" dirty="0"/>
                  <a:t>When they are the same, then the difference is 0!</a:t>
                </a:r>
              </a:p>
              <a:p>
                <a:pPr lvl="1"/>
                <a:r>
                  <a:rPr lang="en-US" dirty="0"/>
                  <a:t>Therefore, it is case sensitive! It also has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time complexity.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1BF95-AAB0-410F-9668-39E22D85B1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711201"/>
                <a:ext cx="8897620" cy="4436270"/>
              </a:xfrm>
              <a:blipFill>
                <a:blip r:embed="rId2"/>
                <a:stretch>
                  <a:fillRect l="-822" t="-22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CED24-58C5-4DE0-92FE-0A00E0C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F8FEA1-F7B2-4AC7-A38C-3C7B17D3F671}"/>
              </a:ext>
            </a:extLst>
          </p:cNvPr>
          <p:cNvSpPr txBox="1">
            <a:spLocks/>
          </p:cNvSpPr>
          <p:nvPr/>
        </p:nvSpPr>
        <p:spPr>
          <a:xfrm>
            <a:off x="764541" y="2362810"/>
            <a:ext cx="8602167" cy="3276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strncmp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* string1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* string2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"apples"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strcmp</a:t>
            </a: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(string1, string2) == 0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"same\n"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This runs!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You could write it as: if(!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strcmp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(string1, string2))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BF0FA-4B7A-4579-B596-E2CE13E5F82A}"/>
              </a:ext>
            </a:extLst>
          </p:cNvPr>
          <p:cNvSpPr txBox="1"/>
          <p:nvPr/>
        </p:nvSpPr>
        <p:spPr>
          <a:xfrm>
            <a:off x="5406997" y="3978358"/>
            <a:ext cx="4092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strcmp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will return 0 when the strings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are equal.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D5EF06-CFF9-4E37-B1B5-946A7C2135B9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5227577" y="427008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89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EE77-8779-4402-A25D-2AEB0E82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Appropriate string construction. A-rope-</a:t>
            </a:r>
            <a:r>
              <a:rPr lang="en-US" dirty="0" err="1"/>
              <a:t>riate</a:t>
            </a:r>
            <a:r>
              <a:rPr lang="en-US" dirty="0"/>
              <a:t>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98383A1-6584-4609-B4F5-7F6E8125C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3991" y="832295"/>
            <a:ext cx="4080053" cy="533476"/>
          </a:xfrm>
        </p:spPr>
        <p:txBody>
          <a:bodyPr>
            <a:normAutofit fontScale="92500"/>
          </a:bodyPr>
          <a:lstStyle/>
          <a:p>
            <a:r>
              <a:rPr lang="en-US" dirty="0"/>
              <a:t>C is a very deliberate language.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EA809-BF07-43D5-8DBC-0E8D0290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2A7762-BE55-4904-92B5-1FE01E01C423}"/>
              </a:ext>
            </a:extLst>
          </p:cNvPr>
          <p:cNvSpPr txBox="1">
            <a:spLocks/>
          </p:cNvSpPr>
          <p:nvPr/>
        </p:nvSpPr>
        <p:spPr>
          <a:xfrm>
            <a:off x="764541" y="768096"/>
            <a:ext cx="8753635" cy="494690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scanf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strnlen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etc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'free’</a:t>
            </a:r>
          </a:p>
          <a:p>
            <a:pPr marL="0" indent="0">
              <a:spcBef>
                <a:spcPts val="200"/>
              </a:spcBef>
              <a:buNone/>
            </a:pP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#define MAX_STRING 100</a:t>
            </a:r>
          </a:p>
          <a:p>
            <a:pPr marL="0" indent="0">
              <a:spcBef>
                <a:spcPts val="2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const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str_start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const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str_end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"!"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str_name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(MAX_STRING + 1,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(MAX_STRING + 1,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"Type in your name: "</a:t>
            </a:r>
            <a:r>
              <a:rPr lang="en-US" sz="2400" dirty="0">
                <a:latin typeface="Inconsolata" panose="020B0609030003000000" pitchFamily="49" charset="0"/>
              </a:rPr>
              <a:t>);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Let someone type in their name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scanf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"%100s"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str_name</a:t>
            </a:r>
            <a:r>
              <a:rPr lang="en-US" sz="2400" dirty="0">
                <a:latin typeface="Inconsolata" panose="020B0609030003000000" pitchFamily="49" charset="0"/>
              </a:rPr>
              <a:t>);      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The term %100s has it record at most 100 characters to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str_name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strncpy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str_start</a:t>
            </a:r>
            <a:r>
              <a:rPr lang="en-US" sz="2400" dirty="0">
                <a:latin typeface="Inconsolata" panose="020B0609030003000000" pitchFamily="49" charset="0"/>
              </a:rPr>
              <a:t>, MAX_STRING);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strncat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str_name</a:t>
            </a:r>
            <a:r>
              <a:rPr lang="en-US" sz="2400" dirty="0">
                <a:latin typeface="Inconsolata" panose="020B0609030003000000" pitchFamily="49" charset="0"/>
              </a:rPr>
              <a:t>, MAX_STRING);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strncat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str_end</a:t>
            </a:r>
            <a:r>
              <a:rPr lang="en-US" sz="2400" dirty="0">
                <a:latin typeface="Inconsolata" panose="020B0609030003000000" pitchFamily="49" charset="0"/>
              </a:rPr>
              <a:t>, MAX_STRING);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str_name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my_buffer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Prints "Hello, wilkie!" depending on what you’ve typed in.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C6E39-B9F8-4A5E-81BF-F699EBE1ECCB}"/>
              </a:ext>
            </a:extLst>
          </p:cNvPr>
          <p:cNvSpPr txBox="1"/>
          <p:nvPr/>
        </p:nvSpPr>
        <p:spPr>
          <a:xfrm>
            <a:off x="3425616" y="4577574"/>
            <a:ext cx="4336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strncat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the bounded form of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strcat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Concatenates to end of existing string.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0D07C5-CAED-43DA-8D73-A92B2672768B}"/>
              </a:ext>
            </a:extLst>
          </p:cNvPr>
          <p:cNvCxnSpPr>
            <a:cxnSpLocks/>
          </p:cNvCxnSpPr>
          <p:nvPr/>
        </p:nvCxnSpPr>
        <p:spPr>
          <a:xfrm rot="2472984" flipH="1">
            <a:off x="3294879" y="459915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75D7F4-FF4F-42E8-8EEF-2EB722E0F98F}"/>
              </a:ext>
            </a:extLst>
          </p:cNvPr>
          <p:cNvSpPr txBox="1"/>
          <p:nvPr/>
        </p:nvSpPr>
        <p:spPr>
          <a:xfrm>
            <a:off x="4683839" y="3502870"/>
            <a:ext cx="4336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strncpy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the bounded form of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strcpy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Overwrites string.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D26379-FA32-4306-A69B-3107D1502E7A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4504420" y="379459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3CBAAC3-C22C-4135-A6BA-9DA8BAA57C8B}"/>
              </a:ext>
            </a:extLst>
          </p:cNvPr>
          <p:cNvSpPr txBox="1"/>
          <p:nvPr/>
        </p:nvSpPr>
        <p:spPr>
          <a:xfrm>
            <a:off x="4787822" y="1664023"/>
            <a:ext cx="4830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calloc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important here! Ensures string has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length of 0. (is initially empty, not garbage!)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E00AF2-42D9-4392-963B-89264E805E3E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4631284" y="231688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B28D4E-438D-4D89-96F5-511B8B4D3D67}"/>
              </a:ext>
            </a:extLst>
          </p:cNvPr>
          <p:cNvSpPr txBox="1"/>
          <p:nvPr/>
        </p:nvSpPr>
        <p:spPr>
          <a:xfrm>
            <a:off x="5593839" y="2368834"/>
            <a:ext cx="402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Like a ballroom. Empty, but </a:t>
            </a:r>
            <a:r>
              <a:rPr lang="en-US" u="sng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spacious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5A5C57-9BDB-4AAB-8157-B0474A0E46B4}"/>
              </a:ext>
            </a:extLst>
          </p:cNvPr>
          <p:cNvCxnSpPr>
            <a:cxnSpLocks/>
          </p:cNvCxnSpPr>
          <p:nvPr/>
        </p:nvCxnSpPr>
        <p:spPr>
          <a:xfrm rot="2472984" flipH="1">
            <a:off x="5471331" y="236883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51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7" grpId="0"/>
      <p:bldP spid="9" grpId="0"/>
      <p:bldP spid="11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0EDC-3388-44B2-B71E-921C49E6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Memory/Strings: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1D75-1395-481B-B4E8-5CB7D847B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74700"/>
            <a:ext cx="9309100" cy="48646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Memory Allocation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dirty="0">
                <a:latin typeface="Inconsolata" panose="020B0609030003000000" pitchFamily="49" charset="0"/>
              </a:rPr>
              <a:t>&gt;</a:t>
            </a:r>
            <a:endParaRPr lang="en-US" i="1" dirty="0">
              <a:latin typeface="Inconsolata" panose="020B0609030003000000" pitchFamily="49" charset="0"/>
            </a:endParaRPr>
          </a:p>
          <a:p>
            <a:pPr lvl="1"/>
            <a:r>
              <a:rPr lang="en-US" dirty="0">
                <a:latin typeface="Inconsolata" panose="020B0609030003000000" pitchFamily="49" charset="0"/>
              </a:rPr>
              <a:t>malloc(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length)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Returns pointer to length bytes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calloc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count, 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size)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Returns pointer to (count*size) bytes, zeros them</a:t>
            </a:r>
            <a:endParaRPr lang="en-US" dirty="0">
              <a:latin typeface="Inconsolata" panose="020B0609030003000000" pitchFamily="49" charset="0"/>
            </a:endParaRPr>
          </a:p>
          <a:p>
            <a:pPr lvl="1"/>
            <a:r>
              <a:rPr lang="en-US" dirty="0">
                <a:latin typeface="Inconsolata" panose="020B0609030003000000" pitchFamily="49" charset="0"/>
              </a:rPr>
              <a:t>free(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Deallocates memory at ‘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ptr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’ so it can be allocated elsewhere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Strings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dirty="0">
                <a:latin typeface="Inconsolata" panose="020B0609030003000000" pitchFamily="49" charset="0"/>
              </a:rPr>
              <a:t>&gt;</a:t>
            </a:r>
            <a:endParaRPr lang="en-US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latin typeface="Inconsolata" panose="020B0609030003000000" pitchFamily="49" charset="0"/>
              </a:rPr>
              <a:t>strcpy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dst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src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src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to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dst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overwriting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dst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strncpy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dst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src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max)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up to ‘max’ to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dst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  <a:endParaRPr lang="en-US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latin typeface="Inconsolata" panose="020B0609030003000000" pitchFamily="49" charset="0"/>
              </a:rPr>
              <a:t>strcat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dst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src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string from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src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to end of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dst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strncat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dst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</a:rPr>
              <a:t>src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max)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up to ‘max’ to end of </a:t>
            </a:r>
            <a:r>
              <a:rPr lang="en-US" sz="14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dst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latin typeface="Inconsolata" panose="020B0609030003000000" pitchFamily="49" charset="0"/>
              </a:rPr>
              <a:t>strcmp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char* a,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dirty="0">
                <a:latin typeface="Inconsolata" panose="020B0609030003000000" pitchFamily="49" charset="0"/>
              </a:rPr>
              <a:t>* b)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Returns difference between strings. (0 if equal)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strncmp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</a:t>
            </a:r>
            <a:r>
              <a:rPr lang="en-US" dirty="0">
                <a:latin typeface="Inconsolata" panose="020B0609030003000000" pitchFamily="49" charset="0"/>
              </a:rPr>
              <a:t> char* a,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dirty="0">
                <a:latin typeface="Inconsolata" panose="020B0609030003000000" pitchFamily="49" charset="0"/>
              </a:rPr>
              <a:t>* b, 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max) 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Compares up to ‘max’ bytes.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/>
              <a:t>Generally safer to use the bounded forms.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CED66-7342-448E-ADBC-3B38A6EC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61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0EDC-3388-44B2-B71E-921C49E6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1D75-1395-481B-B4E8-5CB7D847B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8343900" cy="46715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Input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dirty="0">
                <a:latin typeface="Inconsolata" panose="020B0609030003000000" pitchFamily="49" charset="0"/>
              </a:rPr>
              <a:t>&gt;</a:t>
            </a:r>
            <a:endParaRPr lang="en-US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scanf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my_buffer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string input by user into buffer (unsafe!)</a:t>
            </a:r>
            <a:endParaRPr lang="en-US" sz="1500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scanf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"%10s"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my_buffer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Copies up to 10 chars into buffer</a:t>
            </a:r>
            <a:b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                                                    (</a:t>
            </a:r>
            <a:r>
              <a:rPr lang="en-US" sz="15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my_buffer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needs to be &gt;= 11 bytes for sentinel)</a:t>
            </a:r>
            <a:endParaRPr lang="en-US" sz="1500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scanf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"%d"</a:t>
            </a:r>
            <a:r>
              <a:rPr lang="en-US" dirty="0">
                <a:latin typeface="Inconsolata" panose="020B0609030003000000" pitchFamily="49" charset="0"/>
              </a:rPr>
              <a:t>, &amp;</a:t>
            </a:r>
            <a:r>
              <a:rPr lang="en-US" dirty="0" err="1">
                <a:latin typeface="Inconsolata" panose="020B0609030003000000" pitchFamily="49" charset="0"/>
              </a:rPr>
              <a:t>my_int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Interprets input and places value into int variable.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Output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dirty="0">
                <a:latin typeface="Inconsolata" panose="020B0609030003000000" pitchFamily="49" charset="0"/>
              </a:rPr>
              <a:t>&gt;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my_buffer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string. (technically unsafe)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"%10s"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my_buffer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up to 10 chars from string.</a:t>
            </a:r>
            <a:b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                                                      (safe as long as </a:t>
            </a:r>
            <a:r>
              <a:rPr lang="en-US" sz="15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my_buffer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is &gt;= 10 bytes)</a:t>
            </a:r>
            <a:endParaRPr lang="en-US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int variable. (d for decimal, unfortunately)</a:t>
            </a:r>
            <a:endParaRPr lang="en-US" sz="1500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"%x"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int variable in hexadecimal. (x for hex)</a:t>
            </a:r>
            <a:endParaRPr lang="en-US" sz="1500" i="1" dirty="0">
              <a:latin typeface="Inconsolata" panose="020B0609030003000000" pitchFamily="49" charset="0"/>
            </a:endParaRP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"%l"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long variable.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"%ul"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my_int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sz="15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Prints unsigned long variable.</a:t>
            </a:r>
          </a:p>
          <a:p>
            <a:pPr lvl="1"/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r>
              <a:rPr lang="en-US" dirty="0"/>
              <a:t>Lots more variations! Generally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scanf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and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share terms. Look them up!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CED66-7342-448E-ADBC-3B38A6EC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0F907-7810-4CC0-80EA-41FF60B01630}"/>
              </a:ext>
            </a:extLst>
          </p:cNvPr>
          <p:cNvSpPr txBox="1"/>
          <p:nvPr/>
        </p:nvSpPr>
        <p:spPr>
          <a:xfrm>
            <a:off x="3024982" y="2393074"/>
            <a:ext cx="6769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scanf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updates your variable, so you need to pass the address.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	     (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my_buffer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does not need it. Strings are already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char*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A54D67-53A3-481E-86D1-69F393083CFC}"/>
              </a:ext>
            </a:extLst>
          </p:cNvPr>
          <p:cNvCxnSpPr>
            <a:cxnSpLocks/>
          </p:cNvCxnSpPr>
          <p:nvPr/>
        </p:nvCxnSpPr>
        <p:spPr>
          <a:xfrm rot="2472984" flipH="1">
            <a:off x="2909790" y="245159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80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0A58EE-0475-4417-8720-3B996306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DA41BD-F361-48A0-B5D7-FA0A4EA03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may not have class, but it has style.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F9346-113E-4DAC-B678-462E5B52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832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4AFC-972F-4C51-9B0B-7F1E5380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note on allocated structures…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31A5-834B-45C7-9E93-18DB6DBAA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19303"/>
            <a:ext cx="8343900" cy="4328167"/>
          </a:xfrm>
        </p:spPr>
        <p:txBody>
          <a:bodyPr/>
          <a:lstStyle/>
          <a:p>
            <a:r>
              <a:rPr lang="en-US" dirty="0"/>
              <a:t>You are </a:t>
            </a:r>
            <a:r>
              <a:rPr lang="en-US" dirty="0" err="1"/>
              <a:t>gonna</a:t>
            </a:r>
            <a:r>
              <a:rPr lang="en-US" dirty="0"/>
              <a:t> allocate a lot of structures…</a:t>
            </a:r>
          </a:p>
          <a:p>
            <a:pPr lvl="1"/>
            <a:r>
              <a:rPr lang="en-US" dirty="0"/>
              <a:t>They are big… you want them around… therefore, not good on the stack.</a:t>
            </a:r>
          </a:p>
          <a:p>
            <a:pPr lvl="1"/>
            <a:r>
              <a:rPr lang="en-US" dirty="0"/>
              <a:t>You could make them </a:t>
            </a:r>
            <a:r>
              <a:rPr lang="en-US" dirty="0" err="1"/>
              <a:t>globals</a:t>
            </a:r>
            <a:r>
              <a:rPr lang="en-US" dirty="0"/>
              <a:t>… except when you want them dynamically.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A001A-A4EB-4CA6-B44B-6F79E712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87E914-8FA7-482C-AE77-2A931ECD7791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602167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(*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).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 = 248;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(*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).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 = 2011;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Remember to free data when you are done!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838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EDC1-3F65-4912-A2C7-9221A898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Pointing to structure fields…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C963-F3D4-43AE-98D4-0E768CDC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889000"/>
            <a:ext cx="9182100" cy="4258469"/>
          </a:xfrm>
        </p:spPr>
        <p:txBody>
          <a:bodyPr/>
          <a:lstStyle/>
          <a:p>
            <a:r>
              <a:rPr lang="en-US" dirty="0"/>
              <a:t>A shorthand for</a:t>
            </a:r>
            <a:r>
              <a:rPr lang="en-US" dirty="0">
                <a:latin typeface="Inconsolata" panose="020B0609030003000000" pitchFamily="49" charset="0"/>
              </a:rPr>
              <a:t> (*</a:t>
            </a:r>
            <a:r>
              <a:rPr lang="en-US" dirty="0" err="1">
                <a:latin typeface="Inconsolata" panose="020B0609030003000000" pitchFamily="49" charset="0"/>
              </a:rPr>
              <a:t>p_song</a:t>
            </a:r>
            <a:r>
              <a:rPr lang="en-US" dirty="0">
                <a:latin typeface="Inconsolata" panose="020B0609030003000000" pitchFamily="49" charset="0"/>
              </a:rPr>
              <a:t>).field </a:t>
            </a:r>
            <a:r>
              <a:rPr lang="en-US" dirty="0"/>
              <a:t>is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p_song</a:t>
            </a:r>
            <a:r>
              <a:rPr lang="en-US" dirty="0">
                <a:latin typeface="Inconsolata" panose="020B0609030003000000" pitchFamily="49" charset="0"/>
              </a:rPr>
              <a:t>-&gt;field</a:t>
            </a:r>
          </a:p>
          <a:p>
            <a:pPr lvl="1"/>
            <a:r>
              <a:rPr lang="en-US" dirty="0"/>
              <a:t>The “arrow” syntax works only 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struct </a:t>
            </a:r>
            <a:r>
              <a:rPr lang="en-US" dirty="0"/>
              <a:t>pointers and dereferences a field.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C69BB-40B4-467B-8982-188C9244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80CEBD-938D-4331-81DC-910DA1A0D37E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602167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Song));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-&gt;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 = 248;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Compare with last slide.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-&gt;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 = 2011;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Remember to free data when you are done!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872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EDC1-3F65-4912-A2C7-9221A898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Pointing to structure fields…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C963-F3D4-43AE-98D4-0E768CDC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50" y="812800"/>
            <a:ext cx="9239250" cy="4334669"/>
          </a:xfrm>
        </p:spPr>
        <p:txBody>
          <a:bodyPr/>
          <a:lstStyle/>
          <a:p>
            <a:r>
              <a:rPr lang="en-US" dirty="0"/>
              <a:t>Recall that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typedef </a:t>
            </a:r>
            <a:r>
              <a:rPr lang="en-US" dirty="0"/>
              <a:t>is what names types.</a:t>
            </a:r>
          </a:p>
          <a:p>
            <a:pPr lvl="1"/>
            <a:r>
              <a:rPr lang="en-US" dirty="0"/>
              <a:t>If you want a</a:t>
            </a:r>
            <a:r>
              <a:rPr lang="en-US" dirty="0">
                <a:latin typeface="Inconsolata" panose="020B0609030003000000" pitchFamily="49" charset="0"/>
              </a:rPr>
              <a:t> Song </a:t>
            </a:r>
            <a:r>
              <a:rPr lang="en-US" dirty="0"/>
              <a:t>data type, you can use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typedef </a:t>
            </a:r>
            <a:r>
              <a:rPr lang="en-US" dirty="0"/>
              <a:t>to do so: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C69BB-40B4-467B-8982-188C9244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80CEBD-938D-4331-81DC-910DA1A0D37E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753635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typedef struct</a:t>
            </a:r>
            <a:r>
              <a:rPr lang="en-US" sz="2400" dirty="0">
                <a:latin typeface="Inconsolata" panose="020B0609030003000000" pitchFamily="49" charset="0"/>
              </a:rPr>
              <a:t> _Song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Song;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(Song));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Compare with last slide.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-&gt;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 = 248;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-&gt;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 = 2011;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Remember to free data when you are done!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5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9A8C-397B-4D5D-AC5A-65310334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It took humanity thousands of years to discover the NULL pointer error.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5004-D1E0-462A-8130-C257AE308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" y="787400"/>
            <a:ext cx="9119870" cy="4360070"/>
          </a:xfrm>
        </p:spPr>
        <p:txBody>
          <a:bodyPr/>
          <a:lstStyle/>
          <a:p>
            <a:r>
              <a:rPr lang="en-US" dirty="0"/>
              <a:t>So, what do we use to denote that we are not pointing to anything?</a:t>
            </a:r>
          </a:p>
          <a:p>
            <a:pPr lvl="1"/>
            <a:r>
              <a:rPr lang="en-US" dirty="0"/>
              <a:t>Same as Java… we use a Null value and we hope nobody dereferences it.</a:t>
            </a:r>
          </a:p>
          <a:p>
            <a:pPr lvl="1"/>
            <a:r>
              <a:rPr lang="en-US" dirty="0"/>
              <a:t>It is not a built-in thing! We have to include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to use it.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9C55B-55BB-4979-A5AE-26DDE08C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81CC37-56A6-4DCB-894E-9ACF2B8670EE}"/>
              </a:ext>
            </a:extLst>
          </p:cNvPr>
          <p:cNvSpPr txBox="1">
            <a:spLocks/>
          </p:cNvSpPr>
          <p:nvPr/>
        </p:nvSpPr>
        <p:spPr>
          <a:xfrm>
            <a:off x="764541" y="2004365"/>
            <a:ext cx="8602167" cy="3634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'free'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'NULL'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typedef struct</a:t>
            </a:r>
            <a:r>
              <a:rPr lang="en-US" sz="2400" dirty="0">
                <a:latin typeface="Inconsolata" panose="020B0609030003000000" pitchFamily="49" charset="0"/>
              </a:rPr>
              <a:t> _Song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Song;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NULL;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solidFill>
                  <a:srgbClr val="C00000"/>
                </a:solidFill>
                <a:latin typeface="Inconsolata" panose="020B0609030003000000" pitchFamily="49" charset="0"/>
              </a:rPr>
              <a:t>p_song</a:t>
            </a:r>
            <a:r>
              <a:rPr lang="en-US" sz="2400" dirty="0">
                <a:solidFill>
                  <a:srgbClr val="C00000"/>
                </a:solidFill>
                <a:latin typeface="Inconsolata" panose="020B0609030003000000" pitchFamily="49" charset="0"/>
              </a:rPr>
              <a:t>-&gt;</a:t>
            </a:r>
            <a:r>
              <a:rPr lang="en-US" sz="2400" dirty="0" err="1">
                <a:solidFill>
                  <a:srgbClr val="C00000"/>
                </a:solidFill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solidFill>
                  <a:srgbClr val="C00000"/>
                </a:solidFill>
                <a:latin typeface="Inconsolata" panose="020B0609030003000000" pitchFamily="49" charset="0"/>
              </a:rPr>
              <a:t> = 248;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Uh oh.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Can’t free nothing...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Inconsolata" panose="020B0609030003000000" pitchFamily="49" charset="0"/>
              </a:rPr>
              <a:t>// Segmentation fault (core dumped)</a:t>
            </a:r>
          </a:p>
        </p:txBody>
      </p:sp>
    </p:spTree>
    <p:extLst>
      <p:ext uri="{BB962C8B-B14F-4D97-AF65-F5344CB8AC3E}">
        <p14:creationId xmlns:p14="http://schemas.microsoft.com/office/powerpoint/2010/main" val="402053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3209-D510-4123-8B67-22352CD6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malloc … goes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BC21-80AC-4046-86D8-821CF973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87401"/>
            <a:ext cx="9365775" cy="4360070"/>
          </a:xfrm>
        </p:spPr>
        <p:txBody>
          <a:bodyPr/>
          <a:lstStyle/>
          <a:p>
            <a:r>
              <a:rPr lang="en-US" dirty="0"/>
              <a:t>When your request for memory cannot be made, malloc returns </a:t>
            </a:r>
            <a:r>
              <a:rPr lang="en-US" dirty="0">
                <a:latin typeface="Inconsolata" panose="020B0609030003000000" pitchFamily="49" charset="0"/>
              </a:rPr>
              <a:t>NULL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 your perfect program, you would always check for this.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CEDF0-041A-4BCB-8DB1-9ACE745A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7AE6DC-1714-4800-83C7-E104ED6D5FDF}"/>
              </a:ext>
            </a:extLst>
          </p:cNvPr>
          <p:cNvSpPr txBox="1">
            <a:spLocks/>
          </p:cNvSpPr>
          <p:nvPr/>
        </p:nvSpPr>
        <p:spPr>
          <a:xfrm>
            <a:off x="764541" y="1967790"/>
            <a:ext cx="8753635" cy="36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'NULL'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typedef struct</a:t>
            </a:r>
            <a:r>
              <a:rPr lang="en-US" sz="2400" dirty="0">
                <a:latin typeface="Inconsolata" panose="020B0609030003000000" pitchFamily="49" charset="0"/>
              </a:rPr>
              <a:t> _Song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Song;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(Song));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== NULL)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"cannot allocate memory!\n"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05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3209-D510-4123-8B67-22352CD6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malloc … goes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BC21-80AC-4046-86D8-821CF973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72999"/>
            <a:ext cx="8897620" cy="4474471"/>
          </a:xfrm>
        </p:spPr>
        <p:txBody>
          <a:bodyPr/>
          <a:lstStyle/>
          <a:p>
            <a:r>
              <a:rPr lang="en-US" dirty="0"/>
              <a:t>You can check if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is null with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dirty="0">
                <a:latin typeface="Inconsolata" panose="020B0609030003000000" pitchFamily="49" charset="0"/>
              </a:rPr>
              <a:t>(!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</a:t>
            </a:r>
          </a:p>
          <a:p>
            <a:pPr lvl="1"/>
            <a:r>
              <a:rPr lang="en-US" dirty="0"/>
              <a:t>You might say, “hey!</a:t>
            </a:r>
            <a:r>
              <a:rPr lang="en-US" dirty="0">
                <a:latin typeface="Inconsolata" panose="020B0609030003000000" pitchFamily="49" charset="0"/>
              </a:rPr>
              <a:t> NULL </a:t>
            </a:r>
            <a:r>
              <a:rPr lang="en-US" dirty="0"/>
              <a:t>is not defined as</a:t>
            </a:r>
            <a:r>
              <a:rPr lang="en-US" dirty="0">
                <a:latin typeface="Inconsolata" panose="020B0609030003000000" pitchFamily="49" charset="0"/>
              </a:rPr>
              <a:t> 0 </a:t>
            </a:r>
            <a:r>
              <a:rPr lang="en-US" dirty="0"/>
              <a:t>by the C standard!”</a:t>
            </a:r>
          </a:p>
          <a:p>
            <a:pPr lvl="1"/>
            <a:r>
              <a:rPr lang="en-US" dirty="0"/>
              <a:t>Yet, C specifically considers any </a:t>
            </a:r>
            <a:r>
              <a:rPr lang="en-US" u="sng" dirty="0"/>
              <a:t>pointer</a:t>
            </a:r>
            <a:r>
              <a:rPr lang="en-US" dirty="0"/>
              <a:t> equal to</a:t>
            </a:r>
            <a:r>
              <a:rPr lang="en-US" dirty="0">
                <a:latin typeface="Inconsolata" panose="020B0609030003000000" pitchFamily="49" charset="0"/>
              </a:rPr>
              <a:t> NULL </a:t>
            </a:r>
            <a:r>
              <a:rPr lang="en-US" dirty="0"/>
              <a:t>to be a false value.</a:t>
            </a:r>
          </a:p>
          <a:p>
            <a:pPr lvl="2"/>
            <a:r>
              <a:rPr lang="en-US" dirty="0"/>
              <a:t>Regardless of the value of</a:t>
            </a:r>
            <a:r>
              <a:rPr lang="en-US" dirty="0">
                <a:latin typeface="Inconsolata" panose="020B0609030003000000" pitchFamily="49" charset="0"/>
              </a:rPr>
              <a:t> NULL </a:t>
            </a:r>
            <a:r>
              <a:rPr lang="en-US" dirty="0"/>
              <a:t>which is usually</a:t>
            </a:r>
            <a:r>
              <a:rPr lang="en-US" dirty="0">
                <a:latin typeface="Inconsolata" panose="020B0609030003000000" pitchFamily="49" charset="0"/>
              </a:rPr>
              <a:t> (void*)0 </a:t>
            </a:r>
            <a:r>
              <a:rPr lang="en-US" dirty="0"/>
              <a:t>anyway.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CEDF0-041A-4BCB-8DB1-9ACE745A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7AE6DC-1714-4800-83C7-E104ED6D5FDF}"/>
              </a:ext>
            </a:extLst>
          </p:cNvPr>
          <p:cNvSpPr txBox="1">
            <a:spLocks/>
          </p:cNvSpPr>
          <p:nvPr/>
        </p:nvSpPr>
        <p:spPr>
          <a:xfrm>
            <a:off x="764541" y="2026024"/>
            <a:ext cx="8753635" cy="3613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stddef.h</a:t>
            </a:r>
            <a:r>
              <a:rPr lang="en-US" sz="2400" dirty="0">
                <a:latin typeface="Inconsolata" panose="020B0609030003000000" pitchFamily="49" charset="0"/>
              </a:rPr>
              <a:t>&gt;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'NULL'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typedef struct</a:t>
            </a:r>
            <a:r>
              <a:rPr lang="en-US" sz="2400" dirty="0">
                <a:latin typeface="Inconsolata" panose="020B0609030003000000" pitchFamily="49" charset="0"/>
              </a:rPr>
              <a:t> _Song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lengthInSeconds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yearRecorded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Song;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Song* 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 = 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(Song));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400" dirty="0">
                <a:latin typeface="Inconsolata" panose="020B0609030003000000" pitchFamily="49" charset="0"/>
              </a:rPr>
              <a:t> (!</a:t>
            </a:r>
            <a:r>
              <a:rPr lang="en-US" sz="2400" dirty="0" err="1">
                <a:latin typeface="Inconsolata" panose="020B0609030003000000" pitchFamily="49" charset="0"/>
              </a:rPr>
              <a:t>p_song</a:t>
            </a:r>
            <a:r>
              <a:rPr lang="en-US" sz="2400" dirty="0">
                <a:latin typeface="Inconsolata" panose="020B0609030003000000" pitchFamily="49" charset="0"/>
              </a:rPr>
              <a:t>) {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Alternative (works with modern C just fine)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"cannot allocate memory!\n"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549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B934A7-7B0C-47BB-91F5-C0C2EF1F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9BAFAF-2302-4A85-AD25-864C7057E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nice examples that address addressing!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A723E-6C89-4AF3-8EBA-A4741FDE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8237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CAC894-6E79-47B1-96CE-187D45F6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it all up.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232B-D77C-44DB-ABB0-D92EF27B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FDF331-DBCE-4306-9F4D-D0FA9504334E}"/>
              </a:ext>
            </a:extLst>
          </p:cNvPr>
          <p:cNvSpPr txBox="1">
            <a:spLocks/>
          </p:cNvSpPr>
          <p:nvPr/>
        </p:nvSpPr>
        <p:spPr>
          <a:xfrm>
            <a:off x="764541" y="768096"/>
            <a:ext cx="8753635" cy="487123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scanf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'free'</a:t>
            </a:r>
          </a:p>
          <a:p>
            <a:pPr marL="0" indent="0">
              <a:spcBef>
                <a:spcPts val="2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sum = 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(5,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i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5;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"Enter a number: 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scanf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"%d"</a:t>
            </a:r>
            <a:r>
              <a:rPr lang="en-US" sz="2400" dirty="0">
                <a:latin typeface="Inconsolata" panose="020B0609030003000000" pitchFamily="49" charset="0"/>
              </a:rPr>
              <a:t>, &amp;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5;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sum += 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"The sum of all numbers is: %d\n"</a:t>
            </a:r>
            <a:r>
              <a:rPr lang="en-US" sz="2400" dirty="0">
                <a:latin typeface="Inconsolata" panose="020B0609030003000000" pitchFamily="49" charset="0"/>
              </a:rPr>
              <a:t>, sum);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72605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CAC894-6E79-47B1-96CE-187D45F6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for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232B-D77C-44DB-ABB0-D92EF27B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FDF331-DBCE-4306-9F4D-D0FA9504334E}"/>
              </a:ext>
            </a:extLst>
          </p:cNvPr>
          <p:cNvSpPr txBox="1">
            <a:spLocks/>
          </p:cNvSpPr>
          <p:nvPr/>
        </p:nvSpPr>
        <p:spPr>
          <a:xfrm>
            <a:off x="764541" y="699247"/>
            <a:ext cx="8753635" cy="5004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scanf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'free'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limits.h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INT_MIN and INT_MAX</a:t>
            </a:r>
          </a:p>
          <a:p>
            <a:pPr marL="0" indent="0">
              <a:spcBef>
                <a:spcPts val="2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min = INT_MAX, max = INT_MIN;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(5,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i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5;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"Enter a number: 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scanf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"%d"</a:t>
            </a:r>
            <a:r>
              <a:rPr lang="en-US" sz="2400" dirty="0">
                <a:latin typeface="Inconsolata" panose="020B0609030003000000" pitchFamily="49" charset="0"/>
              </a:rPr>
              <a:t>, &amp;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5;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if (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 &lt; min)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  min = 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if (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 &gt; max)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  max = 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my_array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"The min is: %d and max is: %d\n"</a:t>
            </a:r>
            <a:r>
              <a:rPr lang="en-US" sz="2400" dirty="0">
                <a:latin typeface="Inconsolata" panose="020B0609030003000000" pitchFamily="49" charset="0"/>
              </a:rPr>
              <a:t>, min, max);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F6FA8-0E8E-4230-8546-D88984BCFB28}"/>
              </a:ext>
            </a:extLst>
          </p:cNvPr>
          <p:cNvSpPr txBox="1"/>
          <p:nvPr/>
        </p:nvSpPr>
        <p:spPr>
          <a:xfrm>
            <a:off x="2970207" y="2702861"/>
            <a:ext cx="500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Remember that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scanf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wants pointers to data.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060C63-E547-4CCD-9C25-7C87D1FAB871}"/>
              </a:ext>
            </a:extLst>
          </p:cNvPr>
          <p:cNvCxnSpPr>
            <a:cxnSpLocks/>
          </p:cNvCxnSpPr>
          <p:nvPr/>
        </p:nvCxnSpPr>
        <p:spPr>
          <a:xfrm rot="2472984" flipH="1">
            <a:off x="2781179" y="275639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06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CAC894-6E79-47B1-96CE-187D45F6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Paving a new path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232B-D77C-44DB-ABB0-D92EF27B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FDF331-DBCE-4306-9F4D-D0FA9504334E}"/>
              </a:ext>
            </a:extLst>
          </p:cNvPr>
          <p:cNvSpPr txBox="1">
            <a:spLocks/>
          </p:cNvSpPr>
          <p:nvPr/>
        </p:nvSpPr>
        <p:spPr>
          <a:xfrm>
            <a:off x="764541" y="699247"/>
            <a:ext cx="8753635" cy="5004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scanf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string routines</a:t>
            </a: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'free'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 main(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400" dirty="0">
                <a:latin typeface="Inconsolata" panose="020B0609030003000000" pitchFamily="49" charset="0"/>
              </a:rPr>
              <a:t>) {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my_input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(21,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 = </a:t>
            </a:r>
            <a:r>
              <a:rPr lang="en-US" sz="2400" dirty="0" err="1">
                <a:latin typeface="Inconsolata" panose="020B0609030003000000" pitchFamily="49" charset="0"/>
              </a:rPr>
              <a:t>calloc</a:t>
            </a:r>
            <a:r>
              <a:rPr lang="en-US" sz="2400" dirty="0">
                <a:latin typeface="Inconsolata" panose="020B0609030003000000" pitchFamily="49" charset="0"/>
              </a:rPr>
              <a:t>(106,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strcpy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"/"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2400" dirty="0">
                <a:latin typeface="Inconsolata" panose="020B0609030003000000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 i = 0;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 &lt; 5; </a:t>
            </a:r>
            <a:r>
              <a:rPr lang="en-US" sz="2400" dirty="0" err="1">
                <a:latin typeface="Inconsolata" panose="020B0609030003000000" pitchFamily="49" charset="0"/>
              </a:rPr>
              <a:t>i</a:t>
            </a:r>
            <a:r>
              <a:rPr lang="en-US" sz="24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"Enter a directory name: 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scanf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"%20s"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my_input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strcat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my_input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  </a:t>
            </a:r>
            <a:r>
              <a:rPr lang="en-US" sz="2400" dirty="0" err="1">
                <a:latin typeface="Inconsolata" panose="020B0609030003000000" pitchFamily="49" charset="0"/>
              </a:rPr>
              <a:t>strcat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"/"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my_input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// Remove tailing slash!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[</a:t>
            </a:r>
            <a:r>
              <a:rPr lang="en-US" sz="2400" dirty="0" err="1">
                <a:latin typeface="Inconsolata" panose="020B0609030003000000" pitchFamily="49" charset="0"/>
              </a:rPr>
              <a:t>strlen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) - 1] = 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Inconsolata" panose="020B0609030003000000" pitchFamily="49" charset="0"/>
              </a:rPr>
              <a:t>'\0'</a:t>
            </a:r>
            <a:r>
              <a:rPr lang="en-US" sz="2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 err="1">
                <a:latin typeface="Inconsolata" panose="020B0609030003000000" pitchFamily="49" charset="0"/>
              </a:rPr>
              <a:t>printf</a:t>
            </a:r>
            <a:r>
              <a:rPr lang="en-US" sz="2400" dirty="0">
                <a:latin typeface="Inconsolata" panose="020B0609030003000000" pitchFamily="49" charset="0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"The path you have built is: %s\n"</a:t>
            </a:r>
            <a:r>
              <a:rPr lang="en-US" sz="2400" dirty="0">
                <a:latin typeface="Inconsolata" panose="020B0609030003000000" pitchFamily="49" charset="0"/>
              </a:rPr>
              <a:t>, 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free(</a:t>
            </a:r>
            <a:r>
              <a:rPr lang="en-US" sz="2400" dirty="0" err="1">
                <a:latin typeface="Inconsolata" panose="020B0609030003000000" pitchFamily="49" charset="0"/>
              </a:rPr>
              <a:t>my_path</a:t>
            </a:r>
            <a:r>
              <a:rPr lang="en-US" sz="2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7CA82-A72F-4539-AFCA-5CEEAA0C3CE9}"/>
              </a:ext>
            </a:extLst>
          </p:cNvPr>
          <p:cNvSpPr txBox="1"/>
          <p:nvPr/>
        </p:nvSpPr>
        <p:spPr>
          <a:xfrm>
            <a:off x="3355689" y="3025592"/>
            <a:ext cx="51571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Remember that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scanf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wants pointers to data.</a:t>
            </a:r>
          </a:p>
          <a:p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When it sees more than 20 characters… what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will it do? (What will the next call to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scanf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do?)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834859-8BAE-4F52-80EC-C7F480536587}"/>
              </a:ext>
            </a:extLst>
          </p:cNvPr>
          <p:cNvCxnSpPr>
            <a:cxnSpLocks/>
          </p:cNvCxnSpPr>
          <p:nvPr/>
        </p:nvCxnSpPr>
        <p:spPr>
          <a:xfrm rot="2472984" flipH="1">
            <a:off x="3166661" y="307912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57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CAC894-6E79-47B1-96CE-187D45F6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Paving a new path (arbitrary number of directories!)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232B-D77C-44DB-ABB0-D92EF27B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FDF331-DBCE-4306-9F4D-D0FA9504334E}"/>
              </a:ext>
            </a:extLst>
          </p:cNvPr>
          <p:cNvSpPr txBox="1">
            <a:spLocks/>
          </p:cNvSpPr>
          <p:nvPr/>
        </p:nvSpPr>
        <p:spPr>
          <a:xfrm>
            <a:off x="764541" y="699247"/>
            <a:ext cx="8753635" cy="5015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2400" dirty="0">
                <a:latin typeface="Inconsolata" panose="020B0609030003000000" pitchFamily="49" charset="0"/>
              </a:rPr>
              <a:t>&gt; 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scanf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string routines</a:t>
            </a:r>
            <a:endParaRPr lang="en-US" sz="24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400" dirty="0">
                <a:latin typeface="Inconsolata" panose="020B0609030003000000" pitchFamily="49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2400" dirty="0">
                <a:latin typeface="Inconsolata" panose="020B0609030003000000" pitchFamily="49" charset="0"/>
              </a:rPr>
              <a:t>&gt;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For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’ '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realloc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' and 'free'</a:t>
            </a:r>
          </a:p>
          <a:p>
            <a:pPr marL="0" indent="0">
              <a:spcBef>
                <a:spcPts val="600"/>
              </a:spcBef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800" dirty="0">
                <a:latin typeface="Inconsolata" panose="020B0609030003000000" pitchFamily="49" charset="0"/>
              </a:rPr>
              <a:t> main(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28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int </a:t>
            </a:r>
            <a:r>
              <a:rPr lang="en-US" sz="2800" dirty="0" err="1">
                <a:latin typeface="Inconsolata" panose="020B0609030003000000" pitchFamily="49" charset="0"/>
              </a:rPr>
              <a:t>buffer_size</a:t>
            </a:r>
            <a:r>
              <a:rPr lang="en-US" sz="2800" dirty="0">
                <a:latin typeface="Inconsolata" panose="020B0609030003000000" pitchFamily="49" charset="0"/>
              </a:rPr>
              <a:t> = 20;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800" dirty="0">
                <a:latin typeface="Inconsolata" panose="020B0609030003000000" pitchFamily="49" charset="0"/>
              </a:rPr>
              <a:t>* 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 = </a:t>
            </a:r>
            <a:r>
              <a:rPr lang="en-US" sz="2800" dirty="0" err="1">
                <a:latin typeface="Inconsolata" panose="020B0609030003000000" pitchFamily="49" charset="0"/>
              </a:rPr>
              <a:t>calloc</a:t>
            </a:r>
            <a:r>
              <a:rPr lang="en-US" sz="2800" dirty="0">
                <a:latin typeface="Inconsolata" panose="020B0609030003000000" pitchFamily="49" charset="0"/>
              </a:rPr>
              <a:t>(21,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8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char</a:t>
            </a:r>
            <a:r>
              <a:rPr lang="en-US" sz="2800" dirty="0">
                <a:latin typeface="Inconsolata" panose="020B0609030003000000" pitchFamily="49" charset="0"/>
              </a:rPr>
              <a:t>* 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 = </a:t>
            </a:r>
            <a:r>
              <a:rPr lang="en-US" sz="2800" dirty="0" err="1">
                <a:latin typeface="Inconsolata" panose="020B0609030003000000" pitchFamily="49" charset="0"/>
              </a:rPr>
              <a:t>calloc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buffer_size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8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do</a:t>
            </a:r>
            <a:r>
              <a:rPr lang="en-US" sz="28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</a:t>
            </a:r>
            <a:r>
              <a:rPr lang="en-US" sz="2800" dirty="0" err="1">
                <a:latin typeface="Inconsolata" panose="020B0609030003000000" pitchFamily="49" charset="0"/>
              </a:rPr>
              <a:t>printf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"Enter a directory name ('stop' will stop): "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</a:t>
            </a:r>
            <a:r>
              <a:rPr lang="en-US" sz="2800" dirty="0" err="1">
                <a:latin typeface="Inconsolata" panose="020B0609030003000000" pitchFamily="49" charset="0"/>
              </a:rPr>
              <a:t>scanf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"%20s"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800" dirty="0">
                <a:latin typeface="Inconsolata" panose="020B0609030003000000" pitchFamily="49" charset="0"/>
              </a:rPr>
              <a:t> (</a:t>
            </a:r>
            <a:r>
              <a:rPr lang="en-US" sz="2800" dirty="0" err="1">
                <a:latin typeface="Inconsolata" panose="020B0609030003000000" pitchFamily="49" charset="0"/>
              </a:rPr>
              <a:t>strlen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) + </a:t>
            </a:r>
            <a:r>
              <a:rPr lang="en-US" sz="2800" dirty="0" err="1">
                <a:latin typeface="Inconsolata" panose="020B0609030003000000" pitchFamily="49" charset="0"/>
              </a:rPr>
              <a:t>strlen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) + 1 &gt; </a:t>
            </a:r>
            <a:r>
              <a:rPr lang="en-US" sz="2800" dirty="0" err="1">
                <a:latin typeface="Inconsolata" panose="020B0609030003000000" pitchFamily="49" charset="0"/>
              </a:rPr>
              <a:t>buffer_size</a:t>
            </a:r>
            <a:r>
              <a:rPr lang="en-US" sz="28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  </a:t>
            </a:r>
            <a:r>
              <a:rPr lang="en-US" sz="2800" dirty="0" err="1">
                <a:latin typeface="Inconsolata" panose="020B0609030003000000" pitchFamily="49" charset="0"/>
              </a:rPr>
              <a:t>printf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"reallocating buffer!\n"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  </a:t>
            </a:r>
            <a:r>
              <a:rPr lang="en-US" sz="2800" dirty="0" err="1">
                <a:latin typeface="Inconsolata" panose="020B0609030003000000" pitchFamily="49" charset="0"/>
              </a:rPr>
              <a:t>buffer_size</a:t>
            </a:r>
            <a:r>
              <a:rPr lang="en-US" sz="2800" dirty="0">
                <a:latin typeface="Inconsolata" panose="020B0609030003000000" pitchFamily="49" charset="0"/>
              </a:rPr>
              <a:t> += 20;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  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 = </a:t>
            </a:r>
            <a:r>
              <a:rPr lang="en-US" sz="2800" dirty="0" err="1">
                <a:latin typeface="Inconsolata" panose="020B0609030003000000" pitchFamily="49" charset="0"/>
              </a:rPr>
              <a:t>realloc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 err="1">
                <a:latin typeface="Inconsolata" panose="020B0609030003000000" pitchFamily="49" charset="0"/>
              </a:rPr>
              <a:t>buffer_size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2800" dirty="0">
                <a:latin typeface="Inconsolata" panose="020B0609030003000000" pitchFamily="49" charset="0"/>
              </a:rPr>
              <a:t> (</a:t>
            </a:r>
            <a:r>
              <a:rPr lang="en-US" sz="2800" dirty="0" err="1">
                <a:latin typeface="Inconsolata" panose="020B0609030003000000" pitchFamily="49" charset="0"/>
              </a:rPr>
              <a:t>strcmp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"stop"</a:t>
            </a:r>
            <a:r>
              <a:rPr lang="en-US" sz="2800" dirty="0">
                <a:latin typeface="Inconsolata" panose="020B0609030003000000" pitchFamily="49" charset="0"/>
              </a:rPr>
              <a:t>))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  </a:t>
            </a:r>
            <a:r>
              <a:rPr lang="en-US" sz="2800" dirty="0" err="1">
                <a:latin typeface="Inconsolata" panose="020B0609030003000000" pitchFamily="49" charset="0"/>
              </a:rPr>
              <a:t>strcat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"/"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  </a:t>
            </a:r>
            <a:r>
              <a:rPr lang="en-US" sz="2800" dirty="0" err="1">
                <a:latin typeface="Inconsolata" panose="020B0609030003000000" pitchFamily="49" charset="0"/>
              </a:rPr>
              <a:t>strcat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}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strcmp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"stop"</a:t>
            </a:r>
            <a:r>
              <a:rPr lang="en-US" sz="28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free(</a:t>
            </a:r>
            <a:r>
              <a:rPr lang="en-US" sz="2800" dirty="0" err="1">
                <a:latin typeface="Inconsolata" panose="020B0609030003000000" pitchFamily="49" charset="0"/>
              </a:rPr>
              <a:t>my_input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US" sz="28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</a:t>
            </a:r>
            <a:r>
              <a:rPr lang="en-US" sz="2800" dirty="0" err="1">
                <a:latin typeface="Inconsolata" panose="020B0609030003000000" pitchFamily="49" charset="0"/>
              </a:rPr>
              <a:t>printf</a:t>
            </a:r>
            <a:r>
              <a:rPr lang="en-US" sz="2800" dirty="0">
                <a:latin typeface="Inconsolata" panose="020B0609030003000000" pitchFamily="49" charset="0"/>
              </a:rPr>
              <a:t>(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"The path you have built is: %s\n"</a:t>
            </a:r>
            <a:r>
              <a:rPr lang="en-US" sz="2800" dirty="0">
                <a:latin typeface="Inconsolata" panose="020B0609030003000000" pitchFamily="49" charset="0"/>
              </a:rPr>
              <a:t>, 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  free(</a:t>
            </a:r>
            <a:r>
              <a:rPr lang="en-US" sz="2800" dirty="0" err="1">
                <a:latin typeface="Inconsolata" panose="020B0609030003000000" pitchFamily="49" charset="0"/>
              </a:rPr>
              <a:t>my_path</a:t>
            </a:r>
            <a:r>
              <a:rPr lang="en-US" sz="28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F2C77-1685-4895-B40D-BA3DBAAC48C1}"/>
              </a:ext>
            </a:extLst>
          </p:cNvPr>
          <p:cNvSpPr txBox="1"/>
          <p:nvPr/>
        </p:nvSpPr>
        <p:spPr>
          <a:xfrm>
            <a:off x="3452183" y="3540556"/>
            <a:ext cx="5892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realloc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will resize the allocated space, copying the old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value to a new chunk of memory if necessary.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  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                        Look it up on your own!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FAD0C4-1F4F-456B-81C3-6159717F583E}"/>
              </a:ext>
            </a:extLst>
          </p:cNvPr>
          <p:cNvCxnSpPr>
            <a:cxnSpLocks/>
          </p:cNvCxnSpPr>
          <p:nvPr/>
        </p:nvCxnSpPr>
        <p:spPr>
          <a:xfrm rot="2472984" flipH="1">
            <a:off x="3336991" y="359907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99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18968</TotalTime>
  <Words>7394</Words>
  <Application>Microsoft Office PowerPoint</Application>
  <PresentationFormat>Custom</PresentationFormat>
  <Paragraphs>1072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5" baseType="lpstr">
      <vt:lpstr>Segoe UI</vt:lpstr>
      <vt:lpstr>Calibri</vt:lpstr>
      <vt:lpstr>Lato Hairline</vt:lpstr>
      <vt:lpstr>Lato Black</vt:lpstr>
      <vt:lpstr>Lato Semibold</vt:lpstr>
      <vt:lpstr>Arial</vt:lpstr>
      <vt:lpstr>Lato Light</vt:lpstr>
      <vt:lpstr>Lato Heavy</vt:lpstr>
      <vt:lpstr>Marcellus SC</vt:lpstr>
      <vt:lpstr>Cambria Math</vt:lpstr>
      <vt:lpstr>Walbaum Display Heavy</vt:lpstr>
      <vt:lpstr>Consolas</vt:lpstr>
      <vt:lpstr>Lato</vt:lpstr>
      <vt:lpstr>Inconsolata</vt:lpstr>
      <vt:lpstr>Calibri Light</vt:lpstr>
      <vt:lpstr>DejaVu Sans</vt:lpstr>
      <vt:lpstr>CS449_Template</vt:lpstr>
      <vt:lpstr>Introduction</vt:lpstr>
      <vt:lpstr>The Memory Model</vt:lpstr>
      <vt:lpstr>The C Memory Model</vt:lpstr>
      <vt:lpstr>The C Memory Model</vt:lpstr>
      <vt:lpstr>The C Memory Model: Code</vt:lpstr>
      <vt:lpstr>The C Memory Model: Static Data</vt:lpstr>
      <vt:lpstr>The C Memory Model: The Stack</vt:lpstr>
      <vt:lpstr>Revisiting our past troubles:</vt:lpstr>
      <vt:lpstr>The C Memory Model: The Heap</vt:lpstr>
      <vt:lpstr>Can an emoji be a variable name?</vt:lpstr>
      <vt:lpstr>Pointers</vt:lpstr>
      <vt:lpstr>The “Memory Address” Variable Type</vt:lpstr>
      <vt:lpstr>Interpreting Pointers: Basics</vt:lpstr>
      <vt:lpstr>Interpreting Pointers: Hmm</vt:lpstr>
      <vt:lpstr>Interpreting Pointers: A Sign of Trouble</vt:lpstr>
      <vt:lpstr>Dereferencing Pointers: A Star is Born</vt:lpstr>
      <vt:lpstr>Dereferencing Pointers: A Star is Born</vt:lpstr>
      <vt:lpstr>Referencing Data: An… &amp;… is Born?</vt:lpstr>
      <vt:lpstr>Turtles all the way down</vt:lpstr>
      <vt:lpstr>Removing the emoji</vt:lpstr>
      <vt:lpstr>Like skipping rocks on the lake…</vt:lpstr>
      <vt:lpstr>Like skipping rocks on the lake…</vt:lpstr>
      <vt:lpstr>The C Memory Model: The Heap</vt:lpstr>
      <vt:lpstr>Arrays</vt:lpstr>
      <vt:lpstr>Many ducks lined up in a row</vt:lpstr>
      <vt:lpstr>Initialization</vt:lpstr>
      <vt:lpstr>Carelessness means the Stack; Can stab you in the back!</vt:lpstr>
      <vt:lpstr>Appropriate use of arrays. Approp-array-te.</vt:lpstr>
      <vt:lpstr>Quick notes on function arguments, here…</vt:lpstr>
      <vt:lpstr>Careful! No guard rails… You might run off the edge…</vt:lpstr>
      <vt:lpstr>Pointer arithmetic (Warning: it’s wacky)</vt:lpstr>
      <vt:lpstr>Pointer arithmetic in practice:</vt:lpstr>
      <vt:lpstr>The C Memory Model: The Heap</vt:lpstr>
      <vt:lpstr>Strings</vt:lpstr>
      <vt:lpstr>Strings</vt:lpstr>
      <vt:lpstr>How long is your string?</vt:lpstr>
      <vt:lpstr>The string literal.</vt:lpstr>
      <vt:lpstr>How long is your string? Let’s find out.</vt:lpstr>
      <vt:lpstr>When good strings go bad.</vt:lpstr>
      <vt:lpstr>Using stronger strings. A… rope… perhaps.</vt:lpstr>
      <vt:lpstr>Comparing “Apples” to “Oranges”</vt:lpstr>
      <vt:lpstr>Comparing “Apples” to “Oranges”</vt:lpstr>
      <vt:lpstr>Comparing “Apples” to “Oranges”</vt:lpstr>
      <vt:lpstr>Appropriate string construction. A-rope-riate.</vt:lpstr>
      <vt:lpstr>Memory/Strings: Summary</vt:lpstr>
      <vt:lpstr>Input/Output: Summary</vt:lpstr>
      <vt:lpstr>Structures</vt:lpstr>
      <vt:lpstr>Quick note on allocated structures…</vt:lpstr>
      <vt:lpstr>Pointing to structure fields…</vt:lpstr>
      <vt:lpstr>Pointing to structure fields…</vt:lpstr>
      <vt:lpstr>It took humanity thousands of years to discover the NULL pointer error.</vt:lpstr>
      <vt:lpstr>When malloc … goes bad</vt:lpstr>
      <vt:lpstr>When malloc … goes bad</vt:lpstr>
      <vt:lpstr>Examples</vt:lpstr>
      <vt:lpstr>Summing it all up.</vt:lpstr>
      <vt:lpstr>Searching for values</vt:lpstr>
      <vt:lpstr>Paving a new path</vt:lpstr>
      <vt:lpstr>Paving a new path (arbitrary number of directories!)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342</cp:revision>
  <dcterms:created xsi:type="dcterms:W3CDTF">2020-01-05T03:35:10Z</dcterms:created>
  <dcterms:modified xsi:type="dcterms:W3CDTF">2021-06-01T15:21:48Z</dcterms:modified>
</cp:coreProperties>
</file>