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4" r:id="rId1"/>
  </p:sldMasterIdLst>
  <p:notesMasterIdLst>
    <p:notesMasterId r:id="rId52"/>
  </p:notesMasterIdLst>
  <p:sldIdLst>
    <p:sldId id="256" r:id="rId2"/>
    <p:sldId id="257" r:id="rId3"/>
    <p:sldId id="574" r:id="rId4"/>
    <p:sldId id="575" r:id="rId5"/>
    <p:sldId id="535" r:id="rId6"/>
    <p:sldId id="554" r:id="rId7"/>
    <p:sldId id="536" r:id="rId8"/>
    <p:sldId id="555" r:id="rId9"/>
    <p:sldId id="556" r:id="rId10"/>
    <p:sldId id="559" r:id="rId11"/>
    <p:sldId id="538" r:id="rId12"/>
    <p:sldId id="547" r:id="rId13"/>
    <p:sldId id="647" r:id="rId14"/>
    <p:sldId id="541" r:id="rId15"/>
    <p:sldId id="570" r:id="rId16"/>
    <p:sldId id="571" r:id="rId17"/>
    <p:sldId id="258" r:id="rId18"/>
    <p:sldId id="573" r:id="rId19"/>
    <p:sldId id="510" r:id="rId20"/>
    <p:sldId id="267" r:id="rId21"/>
    <p:sldId id="270" r:id="rId22"/>
    <p:sldId id="283" r:id="rId23"/>
    <p:sldId id="560" r:id="rId24"/>
    <p:sldId id="561" r:id="rId25"/>
    <p:sldId id="266" r:id="rId26"/>
    <p:sldId id="519" r:id="rId27"/>
    <p:sldId id="621" r:id="rId28"/>
    <p:sldId id="622" r:id="rId29"/>
    <p:sldId id="284" r:id="rId30"/>
    <p:sldId id="644" r:id="rId31"/>
    <p:sldId id="602" r:id="rId32"/>
    <p:sldId id="286" r:id="rId33"/>
    <p:sldId id="287" r:id="rId34"/>
    <p:sldId id="285" r:id="rId35"/>
    <p:sldId id="292" r:id="rId36"/>
    <p:sldId id="288" r:id="rId37"/>
    <p:sldId id="289" r:id="rId38"/>
    <p:sldId id="291" r:id="rId39"/>
    <p:sldId id="290" r:id="rId40"/>
    <p:sldId id="616" r:id="rId41"/>
    <p:sldId id="625" r:id="rId42"/>
    <p:sldId id="617" r:id="rId43"/>
    <p:sldId id="618" r:id="rId44"/>
    <p:sldId id="619" r:id="rId45"/>
    <p:sldId id="620" r:id="rId46"/>
    <p:sldId id="645" r:id="rId47"/>
    <p:sldId id="646" r:id="rId48"/>
    <p:sldId id="623" r:id="rId49"/>
    <p:sldId id="624" r:id="rId50"/>
    <p:sldId id="626" r:id="rId51"/>
  </p:sldIdLst>
  <p:sldSz cx="10160000" cy="5715000"/>
  <p:notesSz cx="6858000" cy="9144000"/>
  <p:embeddedFontLst>
    <p:embeddedFont>
      <p:font typeface="Calibri" panose="020F0502020204030204" pitchFamily="34" charset="0"/>
      <p:regular r:id="rId53"/>
      <p:bold r:id="rId54"/>
      <p:italic r:id="rId55"/>
      <p:boldItalic r:id="rId56"/>
    </p:embeddedFont>
    <p:embeddedFont>
      <p:font typeface="Calibri Light" panose="020F0302020204030204" pitchFamily="34" charset="0"/>
      <p:regular r:id="rId57"/>
      <p:italic r:id="rId58"/>
    </p:embeddedFont>
    <p:embeddedFont>
      <p:font typeface="Cambria Math" panose="02040503050406030204" pitchFamily="18" charset="0"/>
      <p:regular r:id="rId59"/>
    </p:embeddedFont>
    <p:embeddedFont>
      <p:font typeface="Consolas" panose="020B0609020204030204" pitchFamily="49" charset="0"/>
      <p:regular r:id="rId60"/>
      <p:bold r:id="rId61"/>
      <p:italic r:id="rId62"/>
      <p:boldItalic r:id="rId63"/>
    </p:embeddedFont>
    <p:embeddedFont>
      <p:font typeface="DejaVu Sans" panose="020B0604020202020204" charset="0"/>
      <p:regular r:id="rId64"/>
      <p:bold r:id="rId65"/>
      <p:italic r:id="rId66"/>
      <p:boldItalic r:id="rId67"/>
    </p:embeddedFont>
    <p:embeddedFont>
      <p:font typeface="Helvetica" panose="020B0604020202020204" pitchFamily="34" charset="0"/>
      <p:regular r:id="rId68"/>
      <p:bold r:id="rId69"/>
      <p:italic r:id="rId70"/>
      <p:boldItalic r:id="rId71"/>
    </p:embeddedFont>
    <p:embeddedFont>
      <p:font typeface="Inconsolata" panose="020B0609030003000000" charset="0"/>
      <p:regular r:id="rId72"/>
    </p:embeddedFont>
    <p:embeddedFont>
      <p:font typeface="Lato" panose="020F0502020204030203" pitchFamily="34" charset="0"/>
      <p:regular r:id="rId73"/>
      <p:bold r:id="rId74"/>
      <p:italic r:id="rId75"/>
      <p:boldItalic r:id="rId76"/>
    </p:embeddedFont>
    <p:embeddedFont>
      <p:font typeface="Lato Black" panose="020B0604020202020204" charset="0"/>
      <p:bold r:id="rId77"/>
      <p:boldItalic r:id="rId78"/>
    </p:embeddedFont>
    <p:embeddedFont>
      <p:font typeface="Lato Hairline" panose="020F0502020204030203" pitchFamily="34" charset="0"/>
      <p:regular r:id="rId79"/>
      <p:italic r:id="rId80"/>
    </p:embeddedFont>
    <p:embeddedFont>
      <p:font typeface="Lato Heavy" panose="020F0502020204030203" pitchFamily="34" charset="0"/>
      <p:bold r:id="rId81"/>
    </p:embeddedFont>
    <p:embeddedFont>
      <p:font typeface="Lato Light" panose="020F0502020204030203" pitchFamily="34" charset="0"/>
      <p:regular r:id="rId82"/>
      <p:italic r:id="rId83"/>
    </p:embeddedFont>
    <p:embeddedFont>
      <p:font typeface="Lato Semibold" panose="020F0502020204030203" pitchFamily="34" charset="0"/>
      <p:bold r:id="rId84"/>
      <p:boldItalic r:id="rId85"/>
    </p:embeddedFont>
    <p:embeddedFont>
      <p:font typeface="Marcellus SC" panose="020E0602050203020307" pitchFamily="34" charset="0"/>
      <p:regular r:id="rId86"/>
    </p:embeddedFont>
    <p:embeddedFont>
      <p:font typeface="Segoe UI" panose="020B0502040204020203" pitchFamily="34" charset="0"/>
      <p:regular r:id="rId87"/>
      <p:bold r:id="rId88"/>
      <p:italic r:id="rId89"/>
      <p:boldItalic r:id="rId90"/>
    </p:embeddedFont>
    <p:embeddedFont>
      <p:font typeface="Trebuchet MS" panose="020B0603020202020204" pitchFamily="34" charset="0"/>
      <p:regular r:id="rId91"/>
      <p:bold r:id="rId92"/>
      <p:italic r:id="rId93"/>
      <p:boldItalic r:id="rId9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1986F10-A11B-4F85-9CEF-6E3EA8151F82}">
          <p14:sldIdLst>
            <p14:sldId id="256"/>
          </p14:sldIdLst>
        </p14:section>
        <p14:section name="Binary Encoding" id="{81603AF8-D11E-42E4-8501-7502C1432EF9}">
          <p14:sldIdLst>
            <p14:sldId id="257"/>
            <p14:sldId id="574"/>
            <p14:sldId id="575"/>
            <p14:sldId id="535"/>
            <p14:sldId id="554"/>
            <p14:sldId id="536"/>
            <p14:sldId id="555"/>
            <p14:sldId id="556"/>
            <p14:sldId id="559"/>
            <p14:sldId id="538"/>
            <p14:sldId id="547"/>
            <p14:sldId id="647"/>
            <p14:sldId id="541"/>
            <p14:sldId id="570"/>
            <p14:sldId id="571"/>
            <p14:sldId id="258"/>
            <p14:sldId id="573"/>
            <p14:sldId id="510"/>
            <p14:sldId id="267"/>
            <p14:sldId id="270"/>
            <p14:sldId id="283"/>
            <p14:sldId id="560"/>
            <p14:sldId id="561"/>
          </p14:sldIdLst>
        </p14:section>
        <p14:section name="Integer" id="{262D39B8-1B04-47B5-B397-CFF80E4C15F7}">
          <p14:sldIdLst>
            <p14:sldId id="266"/>
            <p14:sldId id="519"/>
            <p14:sldId id="621"/>
            <p14:sldId id="622"/>
            <p14:sldId id="284"/>
            <p14:sldId id="644"/>
            <p14:sldId id="602"/>
            <p14:sldId id="286"/>
            <p14:sldId id="287"/>
            <p14:sldId id="285"/>
            <p14:sldId id="292"/>
            <p14:sldId id="288"/>
            <p14:sldId id="289"/>
            <p14:sldId id="291"/>
            <p14:sldId id="290"/>
            <p14:sldId id="616"/>
            <p14:sldId id="625"/>
            <p14:sldId id="617"/>
            <p14:sldId id="618"/>
            <p14:sldId id="619"/>
            <p14:sldId id="620"/>
            <p14:sldId id="645"/>
            <p14:sldId id="646"/>
            <p14:sldId id="623"/>
            <p14:sldId id="624"/>
            <p14:sldId id="62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5DA5"/>
    <a:srgbClr val="4C6FA3"/>
    <a:srgbClr val="0B2043"/>
    <a:srgbClr val="FF4F4F"/>
    <a:srgbClr val="E27B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1" autoAdjust="0"/>
    <p:restoredTop sz="94660"/>
  </p:normalViewPr>
  <p:slideViewPr>
    <p:cSldViewPr snapToGrid="0">
      <p:cViewPr>
        <p:scale>
          <a:sx n="100" d="100"/>
          <a:sy n="100" d="100"/>
        </p:scale>
        <p:origin x="76" y="1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3.fntdata"/><Relationship Id="rId63" Type="http://schemas.openxmlformats.org/officeDocument/2006/relationships/font" Target="fonts/font11.fntdata"/><Relationship Id="rId68" Type="http://schemas.openxmlformats.org/officeDocument/2006/relationships/font" Target="fonts/font16.fntdata"/><Relationship Id="rId76" Type="http://schemas.openxmlformats.org/officeDocument/2006/relationships/font" Target="fonts/font24.fntdata"/><Relationship Id="rId84" Type="http://schemas.openxmlformats.org/officeDocument/2006/relationships/font" Target="fonts/font32.fntdata"/><Relationship Id="rId89" Type="http://schemas.openxmlformats.org/officeDocument/2006/relationships/font" Target="fonts/font37.fntdata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font" Target="fonts/font19.fntdata"/><Relationship Id="rId92" Type="http://schemas.openxmlformats.org/officeDocument/2006/relationships/font" Target="fonts/font40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66" Type="http://schemas.openxmlformats.org/officeDocument/2006/relationships/font" Target="fonts/font14.fntdata"/><Relationship Id="rId74" Type="http://schemas.openxmlformats.org/officeDocument/2006/relationships/font" Target="fonts/font22.fntdata"/><Relationship Id="rId79" Type="http://schemas.openxmlformats.org/officeDocument/2006/relationships/font" Target="fonts/font27.fntdata"/><Relationship Id="rId87" Type="http://schemas.openxmlformats.org/officeDocument/2006/relationships/font" Target="fonts/font35.fntdata"/><Relationship Id="rId5" Type="http://schemas.openxmlformats.org/officeDocument/2006/relationships/slide" Target="slides/slide4.xml"/><Relationship Id="rId61" Type="http://schemas.openxmlformats.org/officeDocument/2006/relationships/font" Target="fonts/font9.fntdata"/><Relationship Id="rId82" Type="http://schemas.openxmlformats.org/officeDocument/2006/relationships/font" Target="fonts/font30.fntdata"/><Relationship Id="rId90" Type="http://schemas.openxmlformats.org/officeDocument/2006/relationships/font" Target="fonts/font38.fntdata"/><Relationship Id="rId95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64" Type="http://schemas.openxmlformats.org/officeDocument/2006/relationships/font" Target="fonts/font12.fntdata"/><Relationship Id="rId69" Type="http://schemas.openxmlformats.org/officeDocument/2006/relationships/font" Target="fonts/font17.fntdata"/><Relationship Id="rId77" Type="http://schemas.openxmlformats.org/officeDocument/2006/relationships/font" Target="fonts/font25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20.fntdata"/><Relationship Id="rId80" Type="http://schemas.openxmlformats.org/officeDocument/2006/relationships/font" Target="fonts/font28.fntdata"/><Relationship Id="rId85" Type="http://schemas.openxmlformats.org/officeDocument/2006/relationships/font" Target="fonts/font33.fntdata"/><Relationship Id="rId93" Type="http://schemas.openxmlformats.org/officeDocument/2006/relationships/font" Target="fonts/font41.fntdata"/><Relationship Id="rId98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7.fntdata"/><Relationship Id="rId67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62" Type="http://schemas.openxmlformats.org/officeDocument/2006/relationships/font" Target="fonts/font10.fntdata"/><Relationship Id="rId70" Type="http://schemas.openxmlformats.org/officeDocument/2006/relationships/font" Target="fonts/font18.fntdata"/><Relationship Id="rId75" Type="http://schemas.openxmlformats.org/officeDocument/2006/relationships/font" Target="fonts/font23.fntdata"/><Relationship Id="rId83" Type="http://schemas.openxmlformats.org/officeDocument/2006/relationships/font" Target="fonts/font31.fntdata"/><Relationship Id="rId88" Type="http://schemas.openxmlformats.org/officeDocument/2006/relationships/font" Target="fonts/font36.fntdata"/><Relationship Id="rId91" Type="http://schemas.openxmlformats.org/officeDocument/2006/relationships/font" Target="fonts/font39.fntdata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0" Type="http://schemas.openxmlformats.org/officeDocument/2006/relationships/font" Target="fonts/font8.fntdata"/><Relationship Id="rId65" Type="http://schemas.openxmlformats.org/officeDocument/2006/relationships/font" Target="fonts/font13.fntdata"/><Relationship Id="rId73" Type="http://schemas.openxmlformats.org/officeDocument/2006/relationships/font" Target="fonts/font21.fntdata"/><Relationship Id="rId78" Type="http://schemas.openxmlformats.org/officeDocument/2006/relationships/font" Target="fonts/font26.fntdata"/><Relationship Id="rId81" Type="http://schemas.openxmlformats.org/officeDocument/2006/relationships/font" Target="fonts/font29.fntdata"/><Relationship Id="rId86" Type="http://schemas.openxmlformats.org/officeDocument/2006/relationships/font" Target="fonts/font34.fntdata"/><Relationship Id="rId94" Type="http://schemas.openxmlformats.org/officeDocument/2006/relationships/font" Target="fonts/font4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6BA9B7-7D99-4E20-A7FC-B03DC55845BF}" type="datetimeFigureOut">
              <a:rPr lang="en-US" smtClean="0"/>
              <a:t>5/20/2021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E20D02-945A-4687-A093-D2FB919C61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4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Shape 8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67529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Shape 8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32938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GB" dirty="0"/>
              <a:t>How do you calculate the number of elements in a range? max-min+1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4707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Shape 11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74842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2 bits -&gt; 0-3</a:t>
            </a:r>
          </a:p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3 bits -&gt; 0-7</a:t>
            </a:r>
          </a:p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4 bits -&gt; 0-15</a:t>
            </a:r>
          </a:p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5 bits -&gt; 0-31</a:t>
            </a:r>
          </a:p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6 bits -&gt; 0-63</a:t>
            </a:r>
          </a:p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7 bits -&gt; 0-127</a:t>
            </a:r>
          </a:p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8 bits -&gt; 0-255</a:t>
            </a:r>
          </a:p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10 bits -&gt; 0-1023</a:t>
            </a:r>
          </a:p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16 bits -&gt; 0-65535</a:t>
            </a:r>
          </a:p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32 bits -&gt; 4 Gi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8481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12364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Shape 19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78988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Shape 19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83291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4462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Do example in board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3940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309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A1F3BB5-BC4A-4839-A1EA-891B9EBDAA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6351"/>
            <a:ext cx="9142928" cy="5714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0000" y="1724260"/>
            <a:ext cx="4104163" cy="1989667"/>
          </a:xfrm>
        </p:spPr>
        <p:txBody>
          <a:bodyPr anchor="b"/>
          <a:lstStyle>
            <a:lvl1pPr algn="ctr">
              <a:defRPr lang="en-US" sz="4900" b="1" kern="1200" smtClean="0">
                <a:solidFill>
                  <a:schemeClr val="bg1"/>
                </a:solidFill>
                <a:latin typeface="Marcellus SC" panose="020E0602050203020307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85EFFD-917D-4236-9D14-8AF8A7C90942}"/>
              </a:ext>
            </a:extLst>
          </p:cNvPr>
          <p:cNvSpPr txBox="1"/>
          <p:nvPr userDrawn="1"/>
        </p:nvSpPr>
        <p:spPr>
          <a:xfrm>
            <a:off x="6596103" y="3669976"/>
            <a:ext cx="308770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Luis Oliveira</a:t>
            </a:r>
          </a:p>
          <a:p>
            <a:pPr algn="ctr">
              <a:defRPr/>
            </a:pPr>
            <a:r>
              <a:rPr lang="en-US" sz="900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(with content borrowed from </a:t>
            </a:r>
            <a:r>
              <a:rPr lang="en-US" sz="9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wilkie</a:t>
            </a:r>
            <a:r>
              <a:rPr lang="en-US" sz="900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and Vinicius Petrucci)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6EEB7A-8A20-4678-935F-818D978F6F14}"/>
              </a:ext>
            </a:extLst>
          </p:cNvPr>
          <p:cNvSpPr txBox="1"/>
          <p:nvPr userDrawn="1"/>
        </p:nvSpPr>
        <p:spPr>
          <a:xfrm>
            <a:off x="7217263" y="2093391"/>
            <a:ext cx="20024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CS/COE 0449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Introduction to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Systems Software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3D9EB0A-CCD6-414E-A988-4BF9D78A9357}"/>
              </a:ext>
            </a:extLst>
          </p:cNvPr>
          <p:cNvSpPr/>
          <p:nvPr userDrawn="1"/>
        </p:nvSpPr>
        <p:spPr>
          <a:xfrm>
            <a:off x="7924054" y="547210"/>
            <a:ext cx="900953" cy="90095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ea typeface="Lato Black" panose="020F050202020403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89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1AE47FCC-710E-4B5B-A89C-F9677EB450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15213"/>
            <a:ext cx="8763000" cy="552318"/>
          </a:xfr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300" kern="1200" dirty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64050D8-538C-4555-A908-78AE7C9CC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8291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3FA6F06A-FE39-444F-9CB8-3F66E2F568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208" y="1424782"/>
            <a:ext cx="8763000" cy="2377281"/>
          </a:xfrm>
        </p:spPr>
        <p:txBody>
          <a:bodyPr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500" kern="1200" dirty="0">
                <a:solidFill>
                  <a:schemeClr val="tx2">
                    <a:lumMod val="50000"/>
                  </a:schemeClr>
                </a:solidFill>
                <a:latin typeface="Marcellus SC" panose="020E0602050203020307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208" y="3824553"/>
            <a:ext cx="8763000" cy="1250156"/>
          </a:xfrm>
        </p:spPr>
        <p:txBody>
          <a:bodyPr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800" kern="1200" dirty="0" smtClean="0">
                <a:solidFill>
                  <a:schemeClr val="tx1">
                    <a:tint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  <a:lvl2pPr marL="380985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2pPr>
            <a:lvl3pPr marL="76197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142954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4pPr>
            <a:lvl5pPr marL="1523939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5pPr>
            <a:lvl6pPr marL="1904924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6pPr>
            <a:lvl7pPr marL="2285909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7pPr>
            <a:lvl8pPr marL="2666893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8pPr>
            <a:lvl9pPr marL="3047878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C2887AB-88A2-4598-9B4C-279CFF0C2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976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238D35E4-92F4-4E3B-8507-19E6FB2C25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05900" cy="351367"/>
          </a:xfrm>
        </p:spPr>
        <p:txBody>
          <a:bodyPr>
            <a:normAutofit/>
          </a:bodyPr>
          <a:lstStyle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kern="1200" dirty="0">
                <a:solidFill>
                  <a:schemeClr val="accent1">
                    <a:lumMod val="50000"/>
                  </a:schemeClr>
                </a:solidFill>
                <a:latin typeface="Marcellus SC" panose="020E0602050203020307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30D1C1C-0332-4442-9439-B3DDD1971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803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7169D404-C6B3-441F-AFE8-5D94549B5A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9D825A9-FB59-4202-9485-533A57E6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1"/>
            <a:ext cx="10261600" cy="304272"/>
          </a:xfrm>
        </p:spPr>
        <p:txBody>
          <a:bodyPr>
            <a:noAutofit/>
          </a:bodyPr>
          <a:lstStyle>
            <a:lvl1pPr>
              <a:defRPr sz="1800">
                <a:solidFill>
                  <a:schemeClr val="accent1">
                    <a:lumMod val="50000"/>
                  </a:schemeClr>
                </a:solidFill>
                <a:latin typeface="Marcellus SC" panose="020E0602050203020307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4603BD3-B0D4-478A-9A0E-6BF89FA65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510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4338196D-6433-4096-891C-BD8AE50D72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7" y="0"/>
            <a:ext cx="10155888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714506"/>
            <a:ext cx="8636000" cy="1225021"/>
          </a:xfrm>
        </p:spPr>
        <p:txBody>
          <a:bodyPr anchor="b">
            <a:noAutofit/>
          </a:bodyPr>
          <a:lstStyle>
            <a:lvl1pPr algn="ctr">
              <a:defRPr sz="4320">
                <a:solidFill>
                  <a:schemeClr val="accent1">
                    <a:lumMod val="75000"/>
                  </a:schemeClr>
                </a:solidFill>
                <a:latin typeface="Lato Hairline" panose="020F0502020204030203" pitchFamily="34" charset="0"/>
                <a:ea typeface="Lato Hairline" panose="020F0502020204030203" pitchFamily="34" charset="0"/>
                <a:cs typeface="Lato Hairline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5530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8500" y="304271"/>
            <a:ext cx="87630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8500" y="1521354"/>
            <a:ext cx="87630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8500" y="5296959"/>
            <a:ext cx="2286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65500" y="5296959"/>
            <a:ext cx="3429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nb-NO"/>
              <a:t>CS/COE 0449 – Spring 2019/2020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00" y="5296959"/>
            <a:ext cx="2286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AD609-F83C-4414-814B-B5A2DF99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6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80" r:id="rId4"/>
    <p:sldLayoutId id="2147483666" r:id="rId5"/>
    <p:sldLayoutId id="2147483681" r:id="rId6"/>
  </p:sldLayoutIdLst>
  <p:hf hdr="0" dt="0"/>
  <p:txStyles>
    <p:titleStyle>
      <a:lvl1pPr algn="l" defTabSz="761970" rtl="0" eaLnBrk="1" latinLnBrk="0" hangingPunct="1">
        <a:lnSpc>
          <a:spcPct val="90000"/>
        </a:lnSpc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0492" indent="-190492" algn="l" defTabSz="761970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2333" kern="1200">
          <a:solidFill>
            <a:schemeClr val="tx1"/>
          </a:solidFill>
          <a:latin typeface="+mn-lt"/>
          <a:ea typeface="+mn-ea"/>
          <a:cs typeface="+mn-cs"/>
        </a:defRPr>
      </a:lvl1pPr>
      <a:lvl2pPr marL="571477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5" Type="http://schemas.openxmlformats.org/officeDocument/2006/relationships/image" Target="../media/image29.png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pubs.opengroup.org/onlinepubs/009695399/basedefs/limits.h.html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91CBFEE-2E6F-4B8A-9629-748A4B419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2863" y="1354312"/>
            <a:ext cx="4339106" cy="1989667"/>
          </a:xfrm>
        </p:spPr>
        <p:txBody>
          <a:bodyPr>
            <a:normAutofit fontScale="90000"/>
          </a:bodyPr>
          <a:lstStyle/>
          <a:p>
            <a:r>
              <a:rPr lang="en-GB" dirty="0"/>
              <a:t>Data </a:t>
            </a:r>
            <a:br>
              <a:rPr lang="en-GB" dirty="0"/>
            </a:br>
            <a:r>
              <a:rPr lang="en-GB" dirty="0"/>
              <a:t>Representation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9AAE2A-3C8D-4C75-B517-8B220DB60CE8}"/>
              </a:ext>
            </a:extLst>
          </p:cNvPr>
          <p:cNvSpPr txBox="1"/>
          <p:nvPr/>
        </p:nvSpPr>
        <p:spPr>
          <a:xfrm>
            <a:off x="8131878" y="749640"/>
            <a:ext cx="4645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Lato Black" panose="020F0502020204030203" pitchFamily="34" charset="0"/>
                <a:cs typeface="Segoe UI" panose="020B0502040204020203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50140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01589-CDA1-4519-A5B9-9EDC65542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Encoding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EDFC88-6D2A-4453-8E3F-77C281C94F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Bits, Bytes, and </a:t>
            </a:r>
            <a:r>
              <a:rPr lang="en-US" dirty="0" err="1"/>
              <a:t>Nybbles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9D06B-8847-425F-92C0-F387F7850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14AC660-026B-48EA-8C21-6B1B7E11F862}"/>
              </a:ext>
            </a:extLst>
          </p:cNvPr>
          <p:cNvCxnSpPr>
            <a:cxnSpLocks/>
          </p:cNvCxnSpPr>
          <p:nvPr/>
        </p:nvCxnSpPr>
        <p:spPr>
          <a:xfrm flipV="1">
            <a:off x="5601401" y="3908667"/>
            <a:ext cx="145247" cy="19806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63B4667-127B-425A-A122-496C1037BAC5}"/>
              </a:ext>
            </a:extLst>
          </p:cNvPr>
          <p:cNvSpPr txBox="1"/>
          <p:nvPr/>
        </p:nvSpPr>
        <p:spPr>
          <a:xfrm>
            <a:off x="5576642" y="3639887"/>
            <a:ext cx="1452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>
                    <a:tint val="75000"/>
                  </a:prstClr>
                </a:solidFill>
                <a:latin typeface="Lato Light" panose="020F0502020204030203" pitchFamily="34" charset="0"/>
                <a:cs typeface="Lato Light" panose="020F0502020204030203" pitchFamily="34" charset="0"/>
              </a:rPr>
              <a:t>i</a:t>
            </a:r>
            <a:endParaRPr lang="en-GB" dirty="0"/>
          </a:p>
        </p:txBody>
      </p:sp>
      <p:pic>
        <p:nvPicPr>
          <p:cNvPr id="1026" name="Picture 2" descr="Nibbles (video game) - Wikipedia">
            <a:extLst>
              <a:ext uri="{FF2B5EF4-FFF2-40B4-BE49-F238E27FC236}">
                <a16:creationId xmlns:a16="http://schemas.microsoft.com/office/drawing/2014/main" id="{E85C13FE-D12D-444B-AA40-249F0C8BAE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7"/>
          <a:stretch/>
        </p:blipFill>
        <p:spPr bwMode="auto">
          <a:xfrm>
            <a:off x="3884083" y="1424782"/>
            <a:ext cx="2381250" cy="1434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3630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/>
              <a:t>Positional number systems</a:t>
            </a:r>
          </a:p>
        </p:txBody>
      </p:sp>
      <p:sp>
        <p:nvSpPr>
          <p:cNvPr id="111" name="Shape 111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</a:t>
            </a:fld>
            <a:endParaRPr lang="en"/>
          </a:p>
        </p:txBody>
      </p:sp>
      <p:sp>
        <p:nvSpPr>
          <p:cNvPr id="83" name="Shape 83"/>
          <p:cNvSpPr txBox="1">
            <a:spLocks noGrp="1"/>
          </p:cNvSpPr>
          <p:nvPr>
            <p:ph idx="4294967295"/>
          </p:nvPr>
        </p:nvSpPr>
        <p:spPr>
          <a:xfrm>
            <a:off x="0" y="495300"/>
            <a:ext cx="8763000" cy="833438"/>
          </a:xfrm>
        </p:spPr>
        <p:txBody>
          <a:bodyPr/>
          <a:lstStyle/>
          <a:p>
            <a:r>
              <a:rPr lang="en" dirty="0"/>
              <a:t>The numbers we use are written </a:t>
            </a:r>
            <a:r>
              <a:rPr lang="en" b="1" dirty="0"/>
              <a:t>positionally</a:t>
            </a:r>
            <a:r>
              <a:rPr lang="en" dirty="0"/>
              <a:t>: the position of a digit within the number has a meaning</a:t>
            </a:r>
            <a:r>
              <a:rPr lang="en-US" dirty="0"/>
              <a:t>.</a:t>
            </a:r>
            <a:endParaRPr lang="en" dirty="0"/>
          </a:p>
        </p:txBody>
      </p:sp>
      <p:sp>
        <p:nvSpPr>
          <p:cNvPr id="38" name="Shape 85">
            <a:extLst>
              <a:ext uri="{FF2B5EF4-FFF2-40B4-BE49-F238E27FC236}">
                <a16:creationId xmlns:a16="http://schemas.microsoft.com/office/drawing/2014/main" id="{22B30D54-6BE0-46FE-9F06-4DCD727D8E4F}"/>
              </a:ext>
            </a:extLst>
          </p:cNvPr>
          <p:cNvSpPr txBox="1"/>
          <p:nvPr/>
        </p:nvSpPr>
        <p:spPr>
          <a:xfrm>
            <a:off x="3708402" y="1346079"/>
            <a:ext cx="2381250" cy="8332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sz="5400" dirty="0">
                <a:solidFill>
                  <a:schemeClr val="accent1">
                    <a:lumMod val="75000"/>
                  </a:schemeClr>
                </a:solidFill>
                <a:latin typeface="Segoe UI" charset="0"/>
                <a:ea typeface="Segoe UI" charset="0"/>
                <a:cs typeface="Segoe UI" charset="0"/>
                <a:sym typeface="Trebuchet MS"/>
              </a:rPr>
              <a:t>2 0 0 0</a:t>
            </a:r>
          </a:p>
        </p:txBody>
      </p:sp>
      <p:sp>
        <p:nvSpPr>
          <p:cNvPr id="40" name="Shape 85">
            <a:extLst>
              <a:ext uri="{FF2B5EF4-FFF2-40B4-BE49-F238E27FC236}">
                <a16:creationId xmlns:a16="http://schemas.microsoft.com/office/drawing/2014/main" id="{83BC5440-C84E-4A39-86E8-E080606AB0DD}"/>
              </a:ext>
            </a:extLst>
          </p:cNvPr>
          <p:cNvSpPr txBox="1"/>
          <p:nvPr/>
        </p:nvSpPr>
        <p:spPr>
          <a:xfrm>
            <a:off x="3708402" y="2098227"/>
            <a:ext cx="2381250" cy="8332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sz="5400" dirty="0">
                <a:solidFill>
                  <a:schemeClr val="accent2">
                    <a:lumMod val="75000"/>
                  </a:schemeClr>
                </a:solidFill>
                <a:latin typeface="Segoe UI" charset="0"/>
                <a:ea typeface="Segoe UI" charset="0"/>
                <a:cs typeface="Segoe UI" charset="0"/>
                <a:sym typeface="Trebuchet MS"/>
              </a:rPr>
              <a:t>   0 0 0</a:t>
            </a:r>
          </a:p>
        </p:txBody>
      </p:sp>
      <p:sp>
        <p:nvSpPr>
          <p:cNvPr id="41" name="Shape 85">
            <a:extLst>
              <a:ext uri="{FF2B5EF4-FFF2-40B4-BE49-F238E27FC236}">
                <a16:creationId xmlns:a16="http://schemas.microsoft.com/office/drawing/2014/main" id="{373EA41D-10E7-4B4B-A39E-C97A7540F1BC}"/>
              </a:ext>
            </a:extLst>
          </p:cNvPr>
          <p:cNvSpPr txBox="1"/>
          <p:nvPr/>
        </p:nvSpPr>
        <p:spPr>
          <a:xfrm>
            <a:off x="3708402" y="2931501"/>
            <a:ext cx="2381250" cy="8332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sz="5400" dirty="0">
                <a:solidFill>
                  <a:schemeClr val="accent3">
                    <a:lumMod val="75000"/>
                  </a:schemeClr>
                </a:solidFill>
                <a:latin typeface="Segoe UI" charset="0"/>
                <a:ea typeface="Segoe UI" charset="0"/>
                <a:cs typeface="Segoe UI" charset="0"/>
                <a:sym typeface="Trebuchet MS"/>
              </a:rPr>
              <a:t>      2 0</a:t>
            </a:r>
          </a:p>
        </p:txBody>
      </p:sp>
      <p:sp>
        <p:nvSpPr>
          <p:cNvPr id="42" name="Shape 85">
            <a:extLst>
              <a:ext uri="{FF2B5EF4-FFF2-40B4-BE49-F238E27FC236}">
                <a16:creationId xmlns:a16="http://schemas.microsoft.com/office/drawing/2014/main" id="{BF67A5A6-C4B9-44D6-97CD-5199C3B767A7}"/>
              </a:ext>
            </a:extLst>
          </p:cNvPr>
          <p:cNvSpPr txBox="1"/>
          <p:nvPr/>
        </p:nvSpPr>
        <p:spPr>
          <a:xfrm>
            <a:off x="3708402" y="3764775"/>
            <a:ext cx="2381250" cy="8332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charset="0"/>
                <a:ea typeface="Segoe UI" charset="0"/>
                <a:cs typeface="Segoe UI" charset="0"/>
                <a:sym typeface="Trebuchet MS"/>
              </a:rPr>
              <a:t>+       1</a:t>
            </a:r>
          </a:p>
        </p:txBody>
      </p:sp>
      <p:sp>
        <p:nvSpPr>
          <p:cNvPr id="43" name="Shape 85">
            <a:extLst>
              <a:ext uri="{FF2B5EF4-FFF2-40B4-BE49-F238E27FC236}">
                <a16:creationId xmlns:a16="http://schemas.microsoft.com/office/drawing/2014/main" id="{5888FCDA-3136-4907-A182-00E831629BFE}"/>
              </a:ext>
            </a:extLst>
          </p:cNvPr>
          <p:cNvSpPr txBox="1"/>
          <p:nvPr/>
        </p:nvSpPr>
        <p:spPr>
          <a:xfrm>
            <a:off x="631825" y="2493053"/>
            <a:ext cx="3352800" cy="990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sz="5400" dirty="0">
                <a:solidFill>
                  <a:schemeClr val="accent1">
                    <a:lumMod val="75000"/>
                  </a:schemeClr>
                </a:solidFill>
                <a:latin typeface="Segoe UI" charset="0"/>
                <a:ea typeface="Segoe UI" charset="0"/>
                <a:cs typeface="Segoe UI" charset="0"/>
                <a:sym typeface="Trebuchet MS"/>
              </a:rPr>
              <a:t>2</a:t>
            </a:r>
            <a:r>
              <a:rPr lang="en" sz="5400" dirty="0">
                <a:latin typeface="Segoe UI" charset="0"/>
                <a:ea typeface="Segoe UI" charset="0"/>
                <a:cs typeface="Segoe UI" charset="0"/>
                <a:sym typeface="Trebuchet MS"/>
              </a:rPr>
              <a:t> </a:t>
            </a:r>
            <a:r>
              <a:rPr lang="en" sz="5400" dirty="0">
                <a:solidFill>
                  <a:schemeClr val="accent2">
                    <a:lumMod val="75000"/>
                  </a:schemeClr>
                </a:solidFill>
                <a:latin typeface="Segoe UI" charset="0"/>
                <a:ea typeface="Segoe UI" charset="0"/>
                <a:cs typeface="Segoe UI" charset="0"/>
                <a:sym typeface="Trebuchet MS"/>
              </a:rPr>
              <a:t>0</a:t>
            </a:r>
            <a:r>
              <a:rPr lang="en" sz="5400" dirty="0">
                <a:latin typeface="Segoe UI" charset="0"/>
                <a:ea typeface="Segoe UI" charset="0"/>
                <a:cs typeface="Segoe UI" charset="0"/>
                <a:sym typeface="Trebuchet MS"/>
              </a:rPr>
              <a:t> </a:t>
            </a:r>
            <a:r>
              <a:rPr lang="en" sz="5400" dirty="0">
                <a:solidFill>
                  <a:schemeClr val="accent3">
                    <a:lumMod val="75000"/>
                  </a:schemeClr>
                </a:solidFill>
                <a:latin typeface="Segoe UI" charset="0"/>
                <a:ea typeface="Segoe UI" charset="0"/>
                <a:cs typeface="Segoe UI" charset="0"/>
                <a:sym typeface="Trebuchet MS"/>
              </a:rPr>
              <a:t>2</a:t>
            </a:r>
            <a:r>
              <a:rPr lang="en" sz="5400" dirty="0">
                <a:latin typeface="Segoe UI" charset="0"/>
                <a:ea typeface="Segoe UI" charset="0"/>
                <a:cs typeface="Segoe UI" charset="0"/>
                <a:sym typeface="Trebuchet MS"/>
              </a:rPr>
              <a:t> </a:t>
            </a:r>
            <a:r>
              <a:rPr lang="en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charset="0"/>
                <a:ea typeface="Segoe UI" charset="0"/>
                <a:cs typeface="Segoe UI" charset="0"/>
                <a:sym typeface="Trebuchet MS"/>
              </a:rPr>
              <a:t>1</a:t>
            </a:r>
            <a:r>
              <a:rPr lang="en" sz="5400" dirty="0">
                <a:latin typeface="Segoe UI" charset="0"/>
                <a:ea typeface="Segoe UI" charset="0"/>
                <a:cs typeface="Segoe UI" charset="0"/>
                <a:sym typeface="Trebuchet MS"/>
              </a:rPr>
              <a:t> =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28EDFEA-63EF-4998-AF4D-F824F722B3F4}"/>
              </a:ext>
            </a:extLst>
          </p:cNvPr>
          <p:cNvGrpSpPr/>
          <p:nvPr/>
        </p:nvGrpSpPr>
        <p:grpSpPr>
          <a:xfrm>
            <a:off x="6680200" y="1346079"/>
            <a:ext cx="2381250" cy="3251970"/>
            <a:chOff x="3200402" y="1346079"/>
            <a:chExt cx="2381250" cy="3251970"/>
          </a:xfrm>
        </p:grpSpPr>
        <p:sp>
          <p:nvSpPr>
            <p:cNvPr id="46" name="Shape 85">
              <a:extLst>
                <a:ext uri="{FF2B5EF4-FFF2-40B4-BE49-F238E27FC236}">
                  <a16:creationId xmlns:a16="http://schemas.microsoft.com/office/drawing/2014/main" id="{DEC1FAF3-436D-4E3F-AD4C-5037D7DBE08A}"/>
                </a:ext>
              </a:extLst>
            </p:cNvPr>
            <p:cNvSpPr txBox="1"/>
            <p:nvPr/>
          </p:nvSpPr>
          <p:spPr>
            <a:xfrm>
              <a:off x="3200402" y="1346079"/>
              <a:ext cx="2381250" cy="833274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en" sz="5400" dirty="0">
                  <a:solidFill>
                    <a:schemeClr val="accent1">
                      <a:lumMod val="75000"/>
                    </a:schemeClr>
                  </a:solidFill>
                  <a:latin typeface="Segoe UI" charset="0"/>
                  <a:ea typeface="Segoe UI" charset="0"/>
                  <a:cs typeface="Segoe UI" charset="0"/>
                  <a:sym typeface="Trebuchet MS"/>
                </a:rPr>
                <a:t>2 </a:t>
              </a:r>
              <a:r>
                <a:rPr lang="en-GB" sz="5400" dirty="0">
                  <a:solidFill>
                    <a:schemeClr val="accent1">
                      <a:lumMod val="75000"/>
                    </a:schemeClr>
                  </a:solidFill>
                  <a:latin typeface="Segoe UI" charset="0"/>
                  <a:ea typeface="Segoe UI" charset="0"/>
                  <a:cs typeface="Segoe UI" charset="0"/>
                  <a:sym typeface="Trebuchet MS"/>
                </a:rPr>
                <a:t>x 10</a:t>
              </a:r>
              <a:r>
                <a:rPr lang="en-GB" sz="5400" baseline="30000" dirty="0">
                  <a:solidFill>
                    <a:schemeClr val="accent1">
                      <a:lumMod val="75000"/>
                    </a:schemeClr>
                  </a:solidFill>
                  <a:latin typeface="Segoe UI" charset="0"/>
                  <a:ea typeface="Segoe UI" charset="0"/>
                  <a:cs typeface="Segoe UI" charset="0"/>
                  <a:sym typeface="Trebuchet MS"/>
                </a:rPr>
                <a:t>3</a:t>
              </a:r>
              <a:endParaRPr lang="en" sz="5400" baseline="30000" dirty="0">
                <a:solidFill>
                  <a:schemeClr val="accent1">
                    <a:lumMod val="75000"/>
                  </a:schemeClr>
                </a:solidFill>
                <a:latin typeface="Segoe UI" charset="0"/>
                <a:ea typeface="Segoe UI" charset="0"/>
                <a:cs typeface="Segoe UI" charset="0"/>
                <a:sym typeface="Trebuchet MS"/>
              </a:endParaRPr>
            </a:p>
          </p:txBody>
        </p:sp>
        <p:sp>
          <p:nvSpPr>
            <p:cNvPr id="47" name="Shape 85">
              <a:extLst>
                <a:ext uri="{FF2B5EF4-FFF2-40B4-BE49-F238E27FC236}">
                  <a16:creationId xmlns:a16="http://schemas.microsoft.com/office/drawing/2014/main" id="{2A355871-D557-4800-8753-4257CFAD18CF}"/>
                </a:ext>
              </a:extLst>
            </p:cNvPr>
            <p:cNvSpPr txBox="1"/>
            <p:nvPr/>
          </p:nvSpPr>
          <p:spPr>
            <a:xfrm>
              <a:off x="3200402" y="2098227"/>
              <a:ext cx="2381250" cy="833274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en" sz="5400" dirty="0">
                  <a:solidFill>
                    <a:schemeClr val="accent2">
                      <a:lumMod val="75000"/>
                    </a:schemeClr>
                  </a:solidFill>
                  <a:latin typeface="Segoe UI" charset="0"/>
                  <a:ea typeface="Segoe UI" charset="0"/>
                  <a:cs typeface="Segoe UI" charset="0"/>
                  <a:sym typeface="Trebuchet MS"/>
                </a:rPr>
                <a:t>0 </a:t>
              </a:r>
              <a:r>
                <a:rPr lang="en-GB" sz="5400" dirty="0">
                  <a:solidFill>
                    <a:schemeClr val="accent2">
                      <a:lumMod val="75000"/>
                    </a:schemeClr>
                  </a:solidFill>
                  <a:latin typeface="Segoe UI" charset="0"/>
                  <a:ea typeface="Segoe UI" charset="0"/>
                  <a:cs typeface="Segoe UI" charset="0"/>
                  <a:sym typeface="Trebuchet MS"/>
                </a:rPr>
                <a:t>x 10</a:t>
              </a:r>
              <a:r>
                <a:rPr lang="en-GB" sz="5400" baseline="30000" dirty="0">
                  <a:solidFill>
                    <a:schemeClr val="accent2">
                      <a:lumMod val="75000"/>
                    </a:schemeClr>
                  </a:solidFill>
                  <a:latin typeface="Segoe UI" charset="0"/>
                  <a:ea typeface="Segoe UI" charset="0"/>
                  <a:cs typeface="Segoe UI" charset="0"/>
                  <a:sym typeface="Trebuchet MS"/>
                </a:rPr>
                <a:t>2</a:t>
              </a:r>
              <a:endParaRPr lang="en" sz="5400" baseline="30000" dirty="0">
                <a:solidFill>
                  <a:schemeClr val="accent2">
                    <a:lumMod val="75000"/>
                  </a:schemeClr>
                </a:solidFill>
                <a:latin typeface="Segoe UI" charset="0"/>
                <a:ea typeface="Segoe UI" charset="0"/>
                <a:cs typeface="Segoe UI" charset="0"/>
                <a:sym typeface="Trebuchet MS"/>
              </a:endParaRPr>
            </a:p>
          </p:txBody>
        </p:sp>
        <p:sp>
          <p:nvSpPr>
            <p:cNvPr id="48" name="Shape 85">
              <a:extLst>
                <a:ext uri="{FF2B5EF4-FFF2-40B4-BE49-F238E27FC236}">
                  <a16:creationId xmlns:a16="http://schemas.microsoft.com/office/drawing/2014/main" id="{BD771AAC-05AB-4CCF-9CE7-C9773EE4BE26}"/>
                </a:ext>
              </a:extLst>
            </p:cNvPr>
            <p:cNvSpPr txBox="1"/>
            <p:nvPr/>
          </p:nvSpPr>
          <p:spPr>
            <a:xfrm>
              <a:off x="3200402" y="2931501"/>
              <a:ext cx="2381250" cy="833274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en" sz="5400" dirty="0">
                  <a:solidFill>
                    <a:schemeClr val="accent3">
                      <a:lumMod val="75000"/>
                    </a:schemeClr>
                  </a:solidFill>
                  <a:latin typeface="Segoe UI" charset="0"/>
                  <a:ea typeface="Segoe UI" charset="0"/>
                  <a:cs typeface="Segoe UI" charset="0"/>
                  <a:sym typeface="Trebuchet MS"/>
                </a:rPr>
                <a:t>2 </a:t>
              </a:r>
              <a:r>
                <a:rPr lang="en-GB" sz="5400" dirty="0">
                  <a:solidFill>
                    <a:schemeClr val="accent3">
                      <a:lumMod val="75000"/>
                    </a:schemeClr>
                  </a:solidFill>
                  <a:latin typeface="Segoe UI" charset="0"/>
                  <a:ea typeface="Segoe UI" charset="0"/>
                  <a:cs typeface="Segoe UI" charset="0"/>
                  <a:sym typeface="Trebuchet MS"/>
                </a:rPr>
                <a:t>x 10</a:t>
              </a:r>
              <a:r>
                <a:rPr lang="en-GB" sz="5400" baseline="30000" dirty="0">
                  <a:solidFill>
                    <a:schemeClr val="accent3">
                      <a:lumMod val="75000"/>
                    </a:schemeClr>
                  </a:solidFill>
                  <a:latin typeface="Segoe UI" charset="0"/>
                  <a:ea typeface="Segoe UI" charset="0"/>
                  <a:cs typeface="Segoe UI" charset="0"/>
                  <a:sym typeface="Trebuchet MS"/>
                </a:rPr>
                <a:t>1</a:t>
              </a:r>
              <a:endParaRPr lang="en" sz="5400" baseline="30000" dirty="0">
                <a:solidFill>
                  <a:schemeClr val="accent3">
                    <a:lumMod val="75000"/>
                  </a:schemeClr>
                </a:solidFill>
                <a:latin typeface="Segoe UI" charset="0"/>
                <a:ea typeface="Segoe UI" charset="0"/>
                <a:cs typeface="Segoe UI" charset="0"/>
                <a:sym typeface="Trebuchet MS"/>
              </a:endParaRPr>
            </a:p>
          </p:txBody>
        </p:sp>
        <p:sp>
          <p:nvSpPr>
            <p:cNvPr id="49" name="Shape 85">
              <a:extLst>
                <a:ext uri="{FF2B5EF4-FFF2-40B4-BE49-F238E27FC236}">
                  <a16:creationId xmlns:a16="http://schemas.microsoft.com/office/drawing/2014/main" id="{F1755651-9063-4AD3-B85F-A2A60EA79A99}"/>
                </a:ext>
              </a:extLst>
            </p:cNvPr>
            <p:cNvSpPr txBox="1"/>
            <p:nvPr/>
          </p:nvSpPr>
          <p:spPr>
            <a:xfrm>
              <a:off x="3200402" y="3764775"/>
              <a:ext cx="2381250" cy="833274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en" sz="5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charset="0"/>
                  <a:ea typeface="Segoe UI" charset="0"/>
                  <a:cs typeface="Segoe UI" charset="0"/>
                  <a:sym typeface="Trebuchet MS"/>
                </a:rPr>
                <a:t>1 </a:t>
              </a:r>
              <a:r>
                <a:rPr lang="en-GB" sz="5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charset="0"/>
                  <a:ea typeface="Segoe UI" charset="0"/>
                  <a:cs typeface="Segoe UI" charset="0"/>
                  <a:sym typeface="Trebuchet MS"/>
                </a:rPr>
                <a:t>x 10</a:t>
              </a:r>
              <a:r>
                <a:rPr lang="en-GB" sz="5400" baseline="30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charset="0"/>
                  <a:ea typeface="Segoe UI" charset="0"/>
                  <a:cs typeface="Segoe UI" charset="0"/>
                  <a:sym typeface="Trebuchet MS"/>
                </a:rPr>
                <a:t>0</a:t>
              </a:r>
              <a:endParaRPr lang="en" sz="540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charset="0"/>
                <a:ea typeface="Segoe UI" charset="0"/>
                <a:cs typeface="Segoe UI" charset="0"/>
                <a:sym typeface="Trebuchet MS"/>
              </a:endParaRPr>
            </a:p>
            <a:p>
              <a:pPr algn="ctr"/>
              <a:endParaRPr lang="en" sz="5400" dirty="0">
                <a:latin typeface="Segoe UI" charset="0"/>
                <a:ea typeface="Segoe UI" charset="0"/>
                <a:cs typeface="Segoe UI" charset="0"/>
                <a:sym typeface="Trebuchet M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6ED7FAB-7D41-48B1-9B88-10A7C4A0917D}"/>
              </a:ext>
            </a:extLst>
          </p:cNvPr>
          <p:cNvGrpSpPr/>
          <p:nvPr/>
        </p:nvGrpSpPr>
        <p:grpSpPr>
          <a:xfrm>
            <a:off x="7889875" y="1451028"/>
            <a:ext cx="809627" cy="3252624"/>
            <a:chOff x="7381874" y="1451028"/>
            <a:chExt cx="809627" cy="3252624"/>
          </a:xfrm>
        </p:grpSpPr>
        <p:sp>
          <p:nvSpPr>
            <p:cNvPr id="51" name="Shape 105">
              <a:extLst>
                <a:ext uri="{FF2B5EF4-FFF2-40B4-BE49-F238E27FC236}">
                  <a16:creationId xmlns:a16="http://schemas.microsoft.com/office/drawing/2014/main" id="{EBD21137-BF0D-48DD-922C-21B17F57CFB4}"/>
                </a:ext>
              </a:extLst>
            </p:cNvPr>
            <p:cNvSpPr/>
            <p:nvPr/>
          </p:nvSpPr>
          <p:spPr>
            <a:xfrm>
              <a:off x="7381874" y="1451028"/>
              <a:ext cx="809627" cy="833274"/>
            </a:xfrm>
            <a:prstGeom prst="ellipse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 dirty="0">
                <a:latin typeface="Segoe UI" charset="0"/>
                <a:ea typeface="Segoe UI" charset="0"/>
                <a:cs typeface="Segoe UI" charset="0"/>
              </a:endParaRPr>
            </a:p>
          </p:txBody>
        </p:sp>
        <p:sp>
          <p:nvSpPr>
            <p:cNvPr id="52" name="Shape 105">
              <a:extLst>
                <a:ext uri="{FF2B5EF4-FFF2-40B4-BE49-F238E27FC236}">
                  <a16:creationId xmlns:a16="http://schemas.microsoft.com/office/drawing/2014/main" id="{CFDD3AC8-B963-4AEC-8557-F416C1D3B589}"/>
                </a:ext>
              </a:extLst>
            </p:cNvPr>
            <p:cNvSpPr/>
            <p:nvPr/>
          </p:nvSpPr>
          <p:spPr>
            <a:xfrm>
              <a:off x="7381874" y="2213028"/>
              <a:ext cx="809627" cy="833274"/>
            </a:xfrm>
            <a:prstGeom prst="ellipse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 dirty="0">
                <a:latin typeface="Segoe UI" charset="0"/>
                <a:ea typeface="Segoe UI" charset="0"/>
                <a:cs typeface="Segoe UI" charset="0"/>
              </a:endParaRPr>
            </a:p>
          </p:txBody>
        </p:sp>
        <p:sp>
          <p:nvSpPr>
            <p:cNvPr id="59" name="Shape 105">
              <a:extLst>
                <a:ext uri="{FF2B5EF4-FFF2-40B4-BE49-F238E27FC236}">
                  <a16:creationId xmlns:a16="http://schemas.microsoft.com/office/drawing/2014/main" id="{26586215-8A98-469C-860F-7504DC0A3377}"/>
                </a:ext>
              </a:extLst>
            </p:cNvPr>
            <p:cNvSpPr/>
            <p:nvPr/>
          </p:nvSpPr>
          <p:spPr>
            <a:xfrm>
              <a:off x="7381874" y="3032178"/>
              <a:ext cx="809627" cy="833274"/>
            </a:xfrm>
            <a:prstGeom prst="ellipse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 dirty="0">
                <a:latin typeface="Segoe UI" charset="0"/>
                <a:ea typeface="Segoe UI" charset="0"/>
                <a:cs typeface="Segoe UI" charset="0"/>
              </a:endParaRPr>
            </a:p>
          </p:txBody>
        </p:sp>
        <p:sp>
          <p:nvSpPr>
            <p:cNvPr id="60" name="Shape 105">
              <a:extLst>
                <a:ext uri="{FF2B5EF4-FFF2-40B4-BE49-F238E27FC236}">
                  <a16:creationId xmlns:a16="http://schemas.microsoft.com/office/drawing/2014/main" id="{9FEF2AA6-48E3-4297-A2C6-779C537F551B}"/>
                </a:ext>
              </a:extLst>
            </p:cNvPr>
            <p:cNvSpPr/>
            <p:nvPr/>
          </p:nvSpPr>
          <p:spPr>
            <a:xfrm>
              <a:off x="7381874" y="3870378"/>
              <a:ext cx="809627" cy="833274"/>
            </a:xfrm>
            <a:prstGeom prst="ellipse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 dirty="0">
                <a:latin typeface="Segoe UI" charset="0"/>
                <a:ea typeface="Segoe UI" charset="0"/>
                <a:cs typeface="Segoe UI" charset="0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F4713D7F-8DCC-4CDA-B871-24D0C48EF4BE}"/>
              </a:ext>
            </a:extLst>
          </p:cNvPr>
          <p:cNvSpPr/>
          <p:nvPr/>
        </p:nvSpPr>
        <p:spPr>
          <a:xfrm>
            <a:off x="6055350" y="2526688"/>
            <a:ext cx="65915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sz="5400" dirty="0">
                <a:solidFill>
                  <a:prstClr val="black"/>
                </a:solidFill>
                <a:latin typeface="Segoe UI" charset="0"/>
                <a:ea typeface="Segoe UI" charset="0"/>
                <a:cs typeface="Segoe UI" charset="0"/>
                <a:sym typeface="Trebuchet MS"/>
              </a:rPr>
              <a:t>=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3868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build="p" bldLvl="5"/>
      <p:bldP spid="38" grpId="0"/>
      <p:bldP spid="40" grpId="0"/>
      <p:bldP spid="41" grpId="0"/>
      <p:bldP spid="42" grpId="0"/>
      <p:bldP spid="43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/>
              <a:t>Positional number systems</a:t>
            </a:r>
          </a:p>
        </p:txBody>
      </p:sp>
      <p:sp>
        <p:nvSpPr>
          <p:cNvPr id="83" name="Shape 83"/>
          <p:cNvSpPr txBox="1">
            <a:spLocks noGrp="1"/>
          </p:cNvSpPr>
          <p:nvPr>
            <p:ph idx="1"/>
          </p:nvPr>
        </p:nvSpPr>
        <p:spPr>
          <a:xfrm>
            <a:off x="698500" y="717021"/>
            <a:ext cx="8763000" cy="3626115"/>
          </a:xfrm>
        </p:spPr>
        <p:txBody>
          <a:bodyPr/>
          <a:lstStyle/>
          <a:p>
            <a:pPr marL="231455" marR="0" lvl="0" indent="-231455" algn="l" defTabSz="7406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Trebuchet MS" pitchFamily="34" charset="0"/>
              <a:buChar char="●"/>
              <a:tabLst/>
              <a:defRPr/>
            </a:pPr>
            <a:r>
              <a:rPr kumimoji="0" lang="en" sz="198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The numbers we use are written </a:t>
            </a:r>
            <a:r>
              <a:rPr kumimoji="0" lang="en-GB" sz="198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positionally</a:t>
            </a:r>
            <a:r>
              <a:rPr kumimoji="0" lang="en" sz="198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: the position of a digit within the number has a meaning</a:t>
            </a:r>
            <a:r>
              <a:rPr kumimoji="0" lang="en-US" sz="198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.</a:t>
            </a:r>
            <a:endParaRPr kumimoji="0" lang="en" sz="19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11" name="Shape 111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4</a:t>
            </a:fld>
            <a:endParaRPr lang="en"/>
          </a:p>
        </p:txBody>
      </p:sp>
      <p:sp>
        <p:nvSpPr>
          <p:cNvPr id="85" name="Shape 85"/>
          <p:cNvSpPr txBox="1"/>
          <p:nvPr/>
        </p:nvSpPr>
        <p:spPr>
          <a:xfrm>
            <a:off x="3007925" y="1614686"/>
            <a:ext cx="4144150" cy="1488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sz="9600" dirty="0">
                <a:latin typeface="Segoe UI" charset="0"/>
                <a:ea typeface="Segoe UI" charset="0"/>
                <a:cs typeface="Segoe UI" charset="0"/>
                <a:sym typeface="Trebuchet MS"/>
              </a:rPr>
              <a:t>2 0 2 1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B246B54-D545-4F6F-BC44-EA59D25AE5DE}"/>
              </a:ext>
            </a:extLst>
          </p:cNvPr>
          <p:cNvGrpSpPr/>
          <p:nvPr/>
        </p:nvGrpSpPr>
        <p:grpSpPr>
          <a:xfrm>
            <a:off x="3198947" y="3031811"/>
            <a:ext cx="3762106" cy="517800"/>
            <a:chOff x="2325749" y="2723575"/>
            <a:chExt cx="3762106" cy="517800"/>
          </a:xfrm>
        </p:grpSpPr>
        <p:sp>
          <p:nvSpPr>
            <p:cNvPr id="87" name="Shape 87"/>
            <p:cNvSpPr txBox="1"/>
            <p:nvPr/>
          </p:nvSpPr>
          <p:spPr>
            <a:xfrm>
              <a:off x="5393955" y="2723575"/>
              <a:ext cx="693900" cy="5178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en" sz="2200">
                  <a:latin typeface="Segoe UI" charset="0"/>
                  <a:ea typeface="Segoe UI" charset="0"/>
                  <a:cs typeface="Segoe UI" charset="0"/>
                  <a:sym typeface="Trebuchet MS"/>
                </a:rPr>
                <a:t>1s</a:t>
              </a:r>
            </a:p>
          </p:txBody>
        </p:sp>
        <p:sp>
          <p:nvSpPr>
            <p:cNvPr id="88" name="Shape 88"/>
            <p:cNvSpPr txBox="1"/>
            <p:nvPr/>
          </p:nvSpPr>
          <p:spPr>
            <a:xfrm>
              <a:off x="4472825" y="2723575"/>
              <a:ext cx="693900" cy="5178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en" sz="2200">
                  <a:latin typeface="Segoe UI" charset="0"/>
                  <a:ea typeface="Segoe UI" charset="0"/>
                  <a:cs typeface="Segoe UI" charset="0"/>
                  <a:sym typeface="Trebuchet MS"/>
                </a:rPr>
                <a:t>10s</a:t>
              </a:r>
            </a:p>
          </p:txBody>
        </p:sp>
        <p:sp>
          <p:nvSpPr>
            <p:cNvPr id="89" name="Shape 89"/>
            <p:cNvSpPr txBox="1"/>
            <p:nvPr/>
          </p:nvSpPr>
          <p:spPr>
            <a:xfrm>
              <a:off x="3381207" y="2723575"/>
              <a:ext cx="771900" cy="5178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en" sz="2200">
                  <a:latin typeface="Segoe UI" charset="0"/>
                  <a:ea typeface="Segoe UI" charset="0"/>
                  <a:cs typeface="Segoe UI" charset="0"/>
                  <a:sym typeface="Trebuchet MS"/>
                </a:rPr>
                <a:t>100s</a:t>
              </a:r>
            </a:p>
          </p:txBody>
        </p:sp>
        <p:sp>
          <p:nvSpPr>
            <p:cNvPr id="90" name="Shape 90"/>
            <p:cNvSpPr txBox="1"/>
            <p:nvPr/>
          </p:nvSpPr>
          <p:spPr>
            <a:xfrm>
              <a:off x="2325749" y="2723575"/>
              <a:ext cx="912600" cy="5178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en" sz="2200" dirty="0">
                  <a:latin typeface="Segoe UI" charset="0"/>
                  <a:ea typeface="Segoe UI" charset="0"/>
                  <a:cs typeface="Segoe UI" charset="0"/>
                  <a:sym typeface="Trebuchet MS"/>
                </a:rPr>
                <a:t>1000s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6A6DA46-C0E3-41C7-8B48-AB4E63B2B5B9}"/>
              </a:ext>
            </a:extLst>
          </p:cNvPr>
          <p:cNvGrpSpPr/>
          <p:nvPr/>
        </p:nvGrpSpPr>
        <p:grpSpPr>
          <a:xfrm>
            <a:off x="3249786" y="3471911"/>
            <a:ext cx="3660431" cy="414000"/>
            <a:chOff x="2432875" y="3163675"/>
            <a:chExt cx="3660431" cy="414000"/>
          </a:xfrm>
        </p:grpSpPr>
        <p:sp>
          <p:nvSpPr>
            <p:cNvPr id="92" name="Shape 92"/>
            <p:cNvSpPr txBox="1"/>
            <p:nvPr/>
          </p:nvSpPr>
          <p:spPr>
            <a:xfrm>
              <a:off x="5399406" y="3163675"/>
              <a:ext cx="693900" cy="4140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en" sz="2200" dirty="0">
                  <a:latin typeface="Segoe UI" charset="0"/>
                  <a:ea typeface="Segoe UI" charset="0"/>
                  <a:cs typeface="Segoe UI" charset="0"/>
                  <a:sym typeface="Trebuchet MS"/>
                </a:rPr>
                <a:t>10</a:t>
              </a:r>
              <a:r>
                <a:rPr lang="en" sz="2200" baseline="30000" dirty="0">
                  <a:latin typeface="Segoe UI" charset="0"/>
                  <a:ea typeface="Segoe UI" charset="0"/>
                  <a:cs typeface="Segoe UI" charset="0"/>
                  <a:sym typeface="Trebuchet MS"/>
                </a:rPr>
                <a:t>0</a:t>
              </a:r>
            </a:p>
          </p:txBody>
        </p:sp>
        <p:sp>
          <p:nvSpPr>
            <p:cNvPr id="93" name="Shape 93"/>
            <p:cNvSpPr txBox="1"/>
            <p:nvPr/>
          </p:nvSpPr>
          <p:spPr>
            <a:xfrm>
              <a:off x="4478276" y="3163675"/>
              <a:ext cx="693900" cy="4140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en" sz="2200">
                  <a:latin typeface="Segoe UI" charset="0"/>
                  <a:ea typeface="Segoe UI" charset="0"/>
                  <a:cs typeface="Segoe UI" charset="0"/>
                  <a:sym typeface="Trebuchet MS"/>
                </a:rPr>
                <a:t>10</a:t>
              </a:r>
              <a:r>
                <a:rPr lang="en" sz="2200" baseline="30000">
                  <a:latin typeface="Segoe UI" charset="0"/>
                  <a:ea typeface="Segoe UI" charset="0"/>
                  <a:cs typeface="Segoe UI" charset="0"/>
                  <a:sym typeface="Trebuchet MS"/>
                </a:rPr>
                <a:t>1</a:t>
              </a:r>
            </a:p>
          </p:txBody>
        </p:sp>
        <p:sp>
          <p:nvSpPr>
            <p:cNvPr id="94" name="Shape 94"/>
            <p:cNvSpPr txBox="1"/>
            <p:nvPr/>
          </p:nvSpPr>
          <p:spPr>
            <a:xfrm>
              <a:off x="3386658" y="3163675"/>
              <a:ext cx="718200" cy="4140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en" sz="2200">
                  <a:latin typeface="Segoe UI" charset="0"/>
                  <a:ea typeface="Segoe UI" charset="0"/>
                  <a:cs typeface="Segoe UI" charset="0"/>
                  <a:sym typeface="Trebuchet MS"/>
                </a:rPr>
                <a:t>10</a:t>
              </a:r>
              <a:r>
                <a:rPr lang="en" sz="2200" baseline="30000">
                  <a:latin typeface="Segoe UI" charset="0"/>
                  <a:ea typeface="Segoe UI" charset="0"/>
                  <a:cs typeface="Segoe UI" charset="0"/>
                  <a:sym typeface="Trebuchet MS"/>
                </a:rPr>
                <a:t>2</a:t>
              </a:r>
            </a:p>
          </p:txBody>
        </p:sp>
        <p:sp>
          <p:nvSpPr>
            <p:cNvPr id="95" name="Shape 95"/>
            <p:cNvSpPr txBox="1"/>
            <p:nvPr/>
          </p:nvSpPr>
          <p:spPr>
            <a:xfrm>
              <a:off x="2432875" y="3163675"/>
              <a:ext cx="771900" cy="4140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en" sz="2200" dirty="0">
                  <a:latin typeface="Segoe UI" charset="0"/>
                  <a:ea typeface="Segoe UI" charset="0"/>
                  <a:cs typeface="Segoe UI" charset="0"/>
                  <a:sym typeface="Trebuchet MS"/>
                </a:rPr>
                <a:t>10</a:t>
              </a:r>
              <a:r>
                <a:rPr lang="en" sz="2200" baseline="30000" dirty="0">
                  <a:latin typeface="Segoe UI" charset="0"/>
                  <a:ea typeface="Segoe UI" charset="0"/>
                  <a:cs typeface="Segoe UI" charset="0"/>
                  <a:sym typeface="Trebuchet MS"/>
                </a:rPr>
                <a:t>3</a:t>
              </a:r>
            </a:p>
          </p:txBody>
        </p:sp>
      </p:grpSp>
      <p:sp>
        <p:nvSpPr>
          <p:cNvPr id="96" name="Shape 96"/>
          <p:cNvSpPr txBox="1"/>
          <p:nvPr/>
        </p:nvSpPr>
        <p:spPr>
          <a:xfrm>
            <a:off x="508000" y="4396011"/>
            <a:ext cx="8439300" cy="83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indent="-368300">
              <a:buSzPct val="100000"/>
              <a:buFont typeface="Trebuchet MS"/>
              <a:buChar char="●"/>
            </a:pPr>
            <a:r>
              <a:rPr lang="en" sz="2200" dirty="0">
                <a:latin typeface="Segoe UI" charset="0"/>
                <a:ea typeface="Segoe UI" charset="0"/>
                <a:cs typeface="Segoe UI" charset="0"/>
                <a:sym typeface="Trebuchet MS"/>
              </a:rPr>
              <a:t>How many (digits) </a:t>
            </a:r>
            <a:r>
              <a:rPr lang="en" sz="2200" b="1" dirty="0">
                <a:latin typeface="Segoe UI" charset="0"/>
                <a:ea typeface="Segoe UI" charset="0"/>
                <a:cs typeface="Segoe UI" charset="0"/>
                <a:sym typeface="Trebuchet MS"/>
              </a:rPr>
              <a:t>symbols</a:t>
            </a:r>
            <a:r>
              <a:rPr lang="en" sz="2200" dirty="0">
                <a:latin typeface="Segoe UI" charset="0"/>
                <a:ea typeface="Segoe UI" charset="0"/>
                <a:cs typeface="Segoe UI" charset="0"/>
                <a:sym typeface="Trebuchet MS"/>
              </a:rPr>
              <a:t> do we have in our number system?</a:t>
            </a:r>
          </a:p>
          <a:p>
            <a:pPr marL="914400" lvl="1" indent="-368300">
              <a:buSzPct val="100000"/>
              <a:buFont typeface="Trebuchet MS"/>
              <a:buChar char="○"/>
            </a:pPr>
            <a:r>
              <a:rPr lang="en" sz="2200" dirty="0">
                <a:latin typeface="Segoe UI" charset="0"/>
                <a:ea typeface="Segoe UI" charset="0"/>
                <a:cs typeface="Segoe UI" charset="0"/>
                <a:sym typeface="Trebuchet MS"/>
              </a:rPr>
              <a:t>10: 0, 1, 2, 3, 4, 5 ,6 ,7, 8, 9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93BB5F2-E9CF-4061-8FDD-B6E25A18EDCF}"/>
              </a:ext>
            </a:extLst>
          </p:cNvPr>
          <p:cNvGrpSpPr/>
          <p:nvPr/>
        </p:nvGrpSpPr>
        <p:grpSpPr>
          <a:xfrm>
            <a:off x="1422401" y="3431161"/>
            <a:ext cx="5415913" cy="1841768"/>
            <a:chOff x="579717" y="3140456"/>
            <a:chExt cx="5415913" cy="1841768"/>
          </a:xfrm>
        </p:grpSpPr>
        <p:sp>
          <p:nvSpPr>
            <p:cNvPr id="101" name="Shape 101"/>
            <p:cNvSpPr/>
            <p:nvPr/>
          </p:nvSpPr>
          <p:spPr>
            <a:xfrm>
              <a:off x="2511303" y="3149002"/>
              <a:ext cx="547094" cy="546698"/>
            </a:xfrm>
            <a:prstGeom prst="ellipse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>
                <a:latin typeface="Segoe UI" charset="0"/>
                <a:ea typeface="Segoe UI" charset="0"/>
                <a:cs typeface="Segoe UI" charset="0"/>
              </a:endParaRPr>
            </a:p>
          </p:txBody>
        </p:sp>
        <p:sp>
          <p:nvSpPr>
            <p:cNvPr id="102" name="Shape 102"/>
            <p:cNvSpPr/>
            <p:nvPr/>
          </p:nvSpPr>
          <p:spPr>
            <a:xfrm>
              <a:off x="3447386" y="3149002"/>
              <a:ext cx="547094" cy="546698"/>
            </a:xfrm>
            <a:prstGeom prst="ellipse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>
                <a:latin typeface="Segoe UI" charset="0"/>
                <a:ea typeface="Segoe UI" charset="0"/>
                <a:cs typeface="Segoe UI" charset="0"/>
              </a:endParaRPr>
            </a:p>
          </p:txBody>
        </p:sp>
        <p:sp>
          <p:nvSpPr>
            <p:cNvPr id="103" name="Shape 103"/>
            <p:cNvSpPr/>
            <p:nvPr/>
          </p:nvSpPr>
          <p:spPr>
            <a:xfrm>
              <a:off x="4508227" y="3140456"/>
              <a:ext cx="564198" cy="563790"/>
            </a:xfrm>
            <a:prstGeom prst="ellipse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>
                <a:latin typeface="Segoe UI" charset="0"/>
                <a:ea typeface="Segoe UI" charset="0"/>
                <a:cs typeface="Segoe UI" charset="0"/>
              </a:endParaRPr>
            </a:p>
          </p:txBody>
        </p:sp>
        <p:sp>
          <p:nvSpPr>
            <p:cNvPr id="104" name="Shape 104"/>
            <p:cNvSpPr/>
            <p:nvPr/>
          </p:nvSpPr>
          <p:spPr>
            <a:xfrm>
              <a:off x="5431432" y="3140456"/>
              <a:ext cx="564198" cy="563790"/>
            </a:xfrm>
            <a:prstGeom prst="ellipse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>
                <a:latin typeface="Segoe UI" charset="0"/>
                <a:ea typeface="Segoe UI" charset="0"/>
                <a:cs typeface="Segoe UI" charset="0"/>
              </a:endParaRPr>
            </a:p>
          </p:txBody>
        </p:sp>
        <p:sp>
          <p:nvSpPr>
            <p:cNvPr id="105" name="Shape 105"/>
            <p:cNvSpPr/>
            <p:nvPr/>
          </p:nvSpPr>
          <p:spPr>
            <a:xfrm>
              <a:off x="579717" y="4432324"/>
              <a:ext cx="550298" cy="549900"/>
            </a:xfrm>
            <a:prstGeom prst="ellipse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 dirty="0">
                <a:latin typeface="Segoe UI" charset="0"/>
                <a:ea typeface="Segoe UI" charset="0"/>
                <a:cs typeface="Segoe UI" charset="0"/>
              </a:endParaRPr>
            </a:p>
          </p:txBody>
        </p:sp>
      </p:grpSp>
      <p:grpSp>
        <p:nvGrpSpPr>
          <p:cNvPr id="106" name="Shape 106"/>
          <p:cNvGrpSpPr/>
          <p:nvPr/>
        </p:nvGrpSpPr>
        <p:grpSpPr>
          <a:xfrm>
            <a:off x="1758844" y="1565536"/>
            <a:ext cx="6642312" cy="917150"/>
            <a:chOff x="777448" y="1530000"/>
            <a:chExt cx="6642312" cy="917150"/>
          </a:xfrm>
        </p:grpSpPr>
        <p:sp>
          <p:nvSpPr>
            <p:cNvPr id="107" name="Shape 107"/>
            <p:cNvSpPr txBox="1"/>
            <p:nvPr/>
          </p:nvSpPr>
          <p:spPr>
            <a:xfrm>
              <a:off x="777448" y="1530000"/>
              <a:ext cx="2228400" cy="5178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r>
                <a:rPr lang="en" sz="2200" dirty="0">
                  <a:latin typeface="Segoe UI" charset="0"/>
                  <a:ea typeface="Segoe UI" charset="0"/>
                  <a:cs typeface="Segoe UI" charset="0"/>
                  <a:sym typeface="Trebuchet MS"/>
                </a:rPr>
                <a:t>Most Significant</a:t>
              </a:r>
            </a:p>
          </p:txBody>
        </p:sp>
        <p:sp>
          <p:nvSpPr>
            <p:cNvPr id="108" name="Shape 108"/>
            <p:cNvSpPr txBox="1"/>
            <p:nvPr/>
          </p:nvSpPr>
          <p:spPr>
            <a:xfrm>
              <a:off x="5136760" y="1530000"/>
              <a:ext cx="2283000" cy="5178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r>
                <a:rPr lang="en" sz="2200" dirty="0">
                  <a:latin typeface="Segoe UI" charset="0"/>
                  <a:ea typeface="Segoe UI" charset="0"/>
                  <a:cs typeface="Segoe UI" charset="0"/>
                  <a:sym typeface="Trebuchet MS"/>
                </a:rPr>
                <a:t>Least Significant</a:t>
              </a:r>
            </a:p>
          </p:txBody>
        </p:sp>
        <p:sp>
          <p:nvSpPr>
            <p:cNvPr id="109" name="Shape 109"/>
            <p:cNvSpPr/>
            <p:nvPr/>
          </p:nvSpPr>
          <p:spPr>
            <a:xfrm>
              <a:off x="1564428" y="2000625"/>
              <a:ext cx="550050" cy="446525"/>
            </a:xfrm>
            <a:custGeom>
              <a:avLst/>
              <a:gdLst/>
              <a:ahLst/>
              <a:cxnLst/>
              <a:rect l="0" t="0" r="0" b="0"/>
              <a:pathLst>
                <a:path w="22002" h="17861" extrusionOk="0">
                  <a:moveTo>
                    <a:pt x="0" y="0"/>
                  </a:moveTo>
                  <a:cubicBezTo>
                    <a:pt x="776" y="2372"/>
                    <a:pt x="992" y="11260"/>
                    <a:pt x="4659" y="14237"/>
                  </a:cubicBezTo>
                  <a:cubicBezTo>
                    <a:pt x="8326" y="17213"/>
                    <a:pt x="19111" y="17257"/>
                    <a:pt x="22002" y="17861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110" name="Shape 110"/>
            <p:cNvSpPr/>
            <p:nvPr/>
          </p:nvSpPr>
          <p:spPr>
            <a:xfrm flipH="1">
              <a:off x="5875967" y="1941400"/>
              <a:ext cx="463032" cy="319225"/>
            </a:xfrm>
            <a:custGeom>
              <a:avLst/>
              <a:gdLst/>
              <a:ahLst/>
              <a:cxnLst/>
              <a:rect l="0" t="0" r="0" b="0"/>
              <a:pathLst>
                <a:path w="22002" h="17861" extrusionOk="0">
                  <a:moveTo>
                    <a:pt x="0" y="0"/>
                  </a:moveTo>
                  <a:cubicBezTo>
                    <a:pt x="776" y="2372"/>
                    <a:pt x="992" y="11260"/>
                    <a:pt x="4659" y="14237"/>
                  </a:cubicBezTo>
                  <a:cubicBezTo>
                    <a:pt x="8326" y="17213"/>
                    <a:pt x="19111" y="17257"/>
                    <a:pt x="22002" y="17861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lg" len="lg"/>
              <a:tailEnd type="triangle" w="lg" len="lg"/>
            </a:ln>
          </p:spPr>
        </p:sp>
      </p:grpSp>
    </p:spTree>
    <p:extLst>
      <p:ext uri="{BB962C8B-B14F-4D97-AF65-F5344CB8AC3E}">
        <p14:creationId xmlns:p14="http://schemas.microsoft.com/office/powerpoint/2010/main" val="2463353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Range of numbers</a:t>
            </a:r>
          </a:p>
        </p:txBody>
      </p:sp>
      <p:sp>
        <p:nvSpPr>
          <p:cNvPr id="67" name="Shape 67"/>
          <p:cNvSpPr txBox="1"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" dirty="0"/>
              <a:t>Suppose we have a 4-digit numeric display.</a:t>
            </a:r>
            <a:endParaRPr lang="en-US" dirty="0"/>
          </a:p>
          <a:p>
            <a:endParaRPr lang="en" dirty="0"/>
          </a:p>
          <a:p>
            <a:r>
              <a:rPr lang="en" dirty="0"/>
              <a:t>What is the smallest number it can show?</a:t>
            </a:r>
            <a:endParaRPr lang="en-US" dirty="0"/>
          </a:p>
          <a:p>
            <a:endParaRPr lang="en" dirty="0"/>
          </a:p>
          <a:p>
            <a:r>
              <a:rPr lang="en" dirty="0"/>
              <a:t>What is the biggest number it can show?</a:t>
            </a:r>
          </a:p>
          <a:p>
            <a:endParaRPr lang="en" dirty="0"/>
          </a:p>
          <a:p>
            <a:r>
              <a:rPr lang="en" dirty="0"/>
              <a:t>How many </a:t>
            </a:r>
            <a:r>
              <a:rPr lang="en" i="1" dirty="0"/>
              <a:t>different</a:t>
            </a:r>
            <a:r>
              <a:rPr lang="en" dirty="0"/>
              <a:t> numbers can it show?</a:t>
            </a:r>
          </a:p>
          <a:p>
            <a:pPr lvl="1"/>
            <a:r>
              <a:rPr lang="en" dirty="0"/>
              <a:t>9999 - 0 + 1 = 10,000</a:t>
            </a:r>
          </a:p>
          <a:p>
            <a:pPr lvl="1"/>
            <a:r>
              <a:rPr lang="en" dirty="0"/>
              <a:t>What power of 10 is 10,000?</a:t>
            </a:r>
          </a:p>
          <a:p>
            <a:pPr lvl="2"/>
            <a:r>
              <a:rPr lang="en" dirty="0"/>
              <a:t>10</a:t>
            </a:r>
            <a:r>
              <a:rPr lang="en" baseline="30000" dirty="0"/>
              <a:t>4</a:t>
            </a:r>
          </a:p>
          <a:p>
            <a:pPr marL="0" indent="0">
              <a:buNone/>
            </a:pPr>
            <a:endParaRPr lang="en" dirty="0"/>
          </a:p>
        </p:txBody>
      </p:sp>
      <p:sp>
        <p:nvSpPr>
          <p:cNvPr id="74" name="Shape 74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5</a:t>
            </a:fld>
            <a:endParaRPr lang="en"/>
          </a:p>
        </p:txBody>
      </p:sp>
      <p:pic>
        <p:nvPicPr>
          <p:cNvPr id="70" name="Shape 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3439" y="571500"/>
            <a:ext cx="2688525" cy="112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Shape 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3412" y="1858013"/>
            <a:ext cx="2688560" cy="112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Shape 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23412" y="3169388"/>
            <a:ext cx="2688560" cy="11251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93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uiExpand="1" build="p" bldLvl="5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3069E-FFEB-4D15-8F8D-B35C0316C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So… with the numbers we use every day…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101815-C589-4561-88FC-FB0A4D11F1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0400" y="952500"/>
                <a:ext cx="8991600" cy="4762501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0"/>
                  </a:spcBef>
                </a:pPr>
                <a:r>
                  <a:rPr lang="en-GB" b="0" dirty="0"/>
                  <a:t>A number represented by the digits</a:t>
                </a:r>
                <a:br>
                  <a:rPr lang="en-GB" b="0" dirty="0"/>
                </a:br>
                <a:br>
                  <a:rPr lang="en-GB" b="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GB" b="0" i="1" dirty="0">
                  <a:latin typeface="Cambria Math" panose="02040503050406030204" pitchFamily="18" charset="0"/>
                </a:endParaRPr>
              </a:p>
              <a:p>
                <a:pPr>
                  <a:spcBef>
                    <a:spcPts val="0"/>
                  </a:spcBef>
                </a:pPr>
                <a:r>
                  <a:rPr lang="en-GB" dirty="0">
                    <a:latin typeface="Cambria Math" panose="02040503050406030204" pitchFamily="18" charset="0"/>
                  </a:rPr>
                  <a:t>Has the value</a:t>
                </a:r>
                <a:br>
                  <a:rPr lang="en-GB" dirty="0">
                    <a:latin typeface="Cambria Math" panose="02040503050406030204" pitchFamily="18" charset="0"/>
                  </a:rPr>
                </a:br>
                <a:br>
                  <a:rPr lang="en-GB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…+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en-GB" dirty="0">
                  <a:latin typeface="Cambria Math" panose="02040503050406030204" pitchFamily="18" charset="0"/>
                </a:endParaRPr>
              </a:p>
              <a:p>
                <a:pPr>
                  <a:spcBef>
                    <a:spcPts val="0"/>
                  </a:spcBef>
                </a:pPr>
                <a:endParaRPr lang="en-GB" dirty="0"/>
              </a:p>
              <a:p>
                <a:pPr>
                  <a:spcBef>
                    <a:spcPts val="0"/>
                  </a:spcBef>
                </a:pPr>
                <a:r>
                  <a:rPr lang="en-GB" dirty="0"/>
                  <a:t>Using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digits we can represent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dirty="0"/>
                  <a:t> different numbers</a:t>
                </a:r>
              </a:p>
              <a:p>
                <a:pPr>
                  <a:spcBef>
                    <a:spcPts val="0"/>
                  </a:spcBef>
                </a:pPr>
                <a:endParaRPr lang="en-GB" dirty="0"/>
              </a:p>
              <a:p>
                <a:pPr>
                  <a:spcBef>
                    <a:spcPts val="0"/>
                  </a:spcBef>
                </a:pPr>
                <a:r>
                  <a:rPr lang="en-GB" dirty="0"/>
                  <a:t>The smallest non-negative number representable with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digits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dirty="0"/>
              </a:p>
              <a:p>
                <a:pPr>
                  <a:spcBef>
                    <a:spcPts val="0"/>
                  </a:spcBef>
                </a:pPr>
                <a:endParaRPr lang="en-GB" dirty="0"/>
              </a:p>
              <a:p>
                <a:pPr>
                  <a:spcBef>
                    <a:spcPts val="0"/>
                  </a:spcBef>
                </a:pPr>
                <a:r>
                  <a:rPr lang="en-GB" dirty="0"/>
                  <a:t>The largest number representable with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digits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GB" dirty="0"/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GB" dirty="0"/>
              </a:p>
              <a:p>
                <a:pPr>
                  <a:spcBef>
                    <a:spcPts val="0"/>
                  </a:spcBef>
                </a:pPr>
                <a:r>
                  <a:rPr lang="en-GB" dirty="0"/>
                  <a:t>Using 10 symbols: 0, 1, 2, 3, 4, 5, 6, 7, 8, 9</a:t>
                </a:r>
              </a:p>
              <a:p>
                <a:pPr>
                  <a:spcBef>
                    <a:spcPts val="0"/>
                  </a:spcBef>
                </a:pPr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101815-C589-4561-88FC-FB0A4D11F1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0400" y="952500"/>
                <a:ext cx="8991600" cy="4762501"/>
              </a:xfrm>
              <a:blipFill>
                <a:blip r:embed="rId2"/>
                <a:stretch>
                  <a:fillRect l="-814" t="-16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686A5-8D10-4C29-B673-AD37C62D4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161CA76-D2D2-4430-BD96-50934D614692}"/>
              </a:ext>
            </a:extLst>
          </p:cNvPr>
          <p:cNvGrpSpPr/>
          <p:nvPr/>
        </p:nvGrpSpPr>
        <p:grpSpPr>
          <a:xfrm>
            <a:off x="1547516" y="2442633"/>
            <a:ext cx="6918271" cy="3174322"/>
            <a:chOff x="1151466" y="1425956"/>
            <a:chExt cx="6918271" cy="3174322"/>
          </a:xfrm>
        </p:grpSpPr>
        <p:sp>
          <p:nvSpPr>
            <p:cNvPr id="6" name="Shape 104">
              <a:extLst>
                <a:ext uri="{FF2B5EF4-FFF2-40B4-BE49-F238E27FC236}">
                  <a16:creationId xmlns:a16="http://schemas.microsoft.com/office/drawing/2014/main" id="{0A732B3E-4B13-490D-BBAC-23310779D4B4}"/>
                </a:ext>
              </a:extLst>
            </p:cNvPr>
            <p:cNvSpPr/>
            <p:nvPr/>
          </p:nvSpPr>
          <p:spPr>
            <a:xfrm>
              <a:off x="1927380" y="1425956"/>
              <a:ext cx="564198" cy="563790"/>
            </a:xfrm>
            <a:prstGeom prst="ellipse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 dirty="0">
                <a:latin typeface="Segoe UI" charset="0"/>
                <a:ea typeface="Segoe UI" charset="0"/>
                <a:cs typeface="Segoe UI" charset="0"/>
              </a:endParaRPr>
            </a:p>
          </p:txBody>
        </p:sp>
        <p:sp>
          <p:nvSpPr>
            <p:cNvPr id="7" name="Shape 104">
              <a:extLst>
                <a:ext uri="{FF2B5EF4-FFF2-40B4-BE49-F238E27FC236}">
                  <a16:creationId xmlns:a16="http://schemas.microsoft.com/office/drawing/2014/main" id="{7C15C73F-8446-46D5-A6EB-918F5F397A54}"/>
                </a:ext>
              </a:extLst>
            </p:cNvPr>
            <p:cNvSpPr/>
            <p:nvPr/>
          </p:nvSpPr>
          <p:spPr>
            <a:xfrm>
              <a:off x="3718240" y="1425956"/>
              <a:ext cx="564198" cy="563790"/>
            </a:xfrm>
            <a:prstGeom prst="ellipse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>
                <a:latin typeface="Segoe UI" charset="0"/>
                <a:ea typeface="Segoe UI" charset="0"/>
                <a:cs typeface="Segoe UI" charset="0"/>
              </a:endParaRPr>
            </a:p>
          </p:txBody>
        </p:sp>
        <p:sp>
          <p:nvSpPr>
            <p:cNvPr id="8" name="Shape 104">
              <a:extLst>
                <a:ext uri="{FF2B5EF4-FFF2-40B4-BE49-F238E27FC236}">
                  <a16:creationId xmlns:a16="http://schemas.microsoft.com/office/drawing/2014/main" id="{08D63F5A-D1ED-4E8C-ABED-496E6D9F3DB6}"/>
                </a:ext>
              </a:extLst>
            </p:cNvPr>
            <p:cNvSpPr/>
            <p:nvPr/>
          </p:nvSpPr>
          <p:spPr>
            <a:xfrm>
              <a:off x="6038291" y="1425956"/>
              <a:ext cx="564198" cy="563790"/>
            </a:xfrm>
            <a:prstGeom prst="ellipse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 dirty="0">
                <a:latin typeface="Segoe UI" charset="0"/>
                <a:ea typeface="Segoe UI" charset="0"/>
                <a:cs typeface="Segoe UI" charset="0"/>
              </a:endParaRPr>
            </a:p>
          </p:txBody>
        </p:sp>
        <p:sp>
          <p:nvSpPr>
            <p:cNvPr id="9" name="Shape 104">
              <a:extLst>
                <a:ext uri="{FF2B5EF4-FFF2-40B4-BE49-F238E27FC236}">
                  <a16:creationId xmlns:a16="http://schemas.microsoft.com/office/drawing/2014/main" id="{934E019C-3101-4676-8520-E8C6F5E36C3D}"/>
                </a:ext>
              </a:extLst>
            </p:cNvPr>
            <p:cNvSpPr/>
            <p:nvPr/>
          </p:nvSpPr>
          <p:spPr>
            <a:xfrm>
              <a:off x="7505539" y="1425956"/>
              <a:ext cx="564198" cy="563790"/>
            </a:xfrm>
            <a:prstGeom prst="ellipse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>
                <a:latin typeface="Segoe UI" charset="0"/>
                <a:ea typeface="Segoe UI" charset="0"/>
                <a:cs typeface="Segoe UI" charset="0"/>
              </a:endParaRPr>
            </a:p>
          </p:txBody>
        </p:sp>
        <p:sp>
          <p:nvSpPr>
            <p:cNvPr id="10" name="Shape 104">
              <a:extLst>
                <a:ext uri="{FF2B5EF4-FFF2-40B4-BE49-F238E27FC236}">
                  <a16:creationId xmlns:a16="http://schemas.microsoft.com/office/drawing/2014/main" id="{22ED77B3-03D1-4B4D-A733-DCC05D8231A7}"/>
                </a:ext>
              </a:extLst>
            </p:cNvPr>
            <p:cNvSpPr/>
            <p:nvPr/>
          </p:nvSpPr>
          <p:spPr>
            <a:xfrm>
              <a:off x="4332583" y="2092327"/>
              <a:ext cx="564198" cy="563790"/>
            </a:xfrm>
            <a:prstGeom prst="ellipse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 dirty="0">
                <a:latin typeface="Segoe UI" charset="0"/>
                <a:ea typeface="Segoe UI" charset="0"/>
                <a:cs typeface="Segoe UI" charset="0"/>
              </a:endParaRPr>
            </a:p>
          </p:txBody>
        </p:sp>
        <p:sp>
          <p:nvSpPr>
            <p:cNvPr id="11" name="Shape 104">
              <a:extLst>
                <a:ext uri="{FF2B5EF4-FFF2-40B4-BE49-F238E27FC236}">
                  <a16:creationId xmlns:a16="http://schemas.microsoft.com/office/drawing/2014/main" id="{C130BAA3-E224-4880-B239-3CB2D98713A0}"/>
                </a:ext>
              </a:extLst>
            </p:cNvPr>
            <p:cNvSpPr/>
            <p:nvPr/>
          </p:nvSpPr>
          <p:spPr>
            <a:xfrm>
              <a:off x="6460065" y="3352123"/>
              <a:ext cx="564198" cy="563790"/>
            </a:xfrm>
            <a:prstGeom prst="ellipse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>
                <a:latin typeface="Segoe UI" charset="0"/>
                <a:ea typeface="Segoe UI" charset="0"/>
                <a:cs typeface="Segoe UI" charset="0"/>
              </a:endParaRPr>
            </a:p>
          </p:txBody>
        </p:sp>
        <p:sp>
          <p:nvSpPr>
            <p:cNvPr id="13" name="Shape 104">
              <a:extLst>
                <a:ext uri="{FF2B5EF4-FFF2-40B4-BE49-F238E27FC236}">
                  <a16:creationId xmlns:a16="http://schemas.microsoft.com/office/drawing/2014/main" id="{E0255F96-EBB7-4982-94EB-40ED81235208}"/>
                </a:ext>
              </a:extLst>
            </p:cNvPr>
            <p:cNvSpPr/>
            <p:nvPr/>
          </p:nvSpPr>
          <p:spPr>
            <a:xfrm>
              <a:off x="1151466" y="4036488"/>
              <a:ext cx="564198" cy="563790"/>
            </a:xfrm>
            <a:prstGeom prst="ellipse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>
                <a:latin typeface="Segoe UI" charset="0"/>
                <a:ea typeface="Segoe UI" charset="0"/>
                <a:cs typeface="Segoe U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3475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/>
              <a:t>Numeric Bases</a:t>
            </a:r>
          </a:p>
        </p:txBody>
      </p:sp>
      <p:sp>
        <p:nvSpPr>
          <p:cNvPr id="117" name="Shape 117"/>
          <p:cNvSpPr txBox="1">
            <a:spLocks noGrp="1"/>
          </p:cNvSpPr>
          <p:nvPr>
            <p:ph idx="1"/>
          </p:nvPr>
        </p:nvSpPr>
        <p:spPr>
          <a:xfrm>
            <a:off x="169333" y="876300"/>
            <a:ext cx="9990667" cy="4420662"/>
          </a:xfrm>
        </p:spPr>
        <p:txBody>
          <a:bodyPr/>
          <a:lstStyle/>
          <a:p>
            <a:r>
              <a:rPr lang="en" dirty="0"/>
              <a:t>These 10s keep popping up… and for good reason</a:t>
            </a:r>
          </a:p>
          <a:p>
            <a:r>
              <a:rPr lang="en" dirty="0"/>
              <a:t>We use a </a:t>
            </a:r>
            <a:r>
              <a:rPr lang="en" b="1" dirty="0"/>
              <a:t>base-10 (decimal)</a:t>
            </a:r>
            <a:r>
              <a:rPr lang="en" dirty="0"/>
              <a:t> numbering system</a:t>
            </a:r>
          </a:p>
          <a:p>
            <a:pPr lvl="1"/>
            <a:r>
              <a:rPr lang="en" dirty="0"/>
              <a:t>10 different </a:t>
            </a:r>
            <a:r>
              <a:rPr lang="en" b="1" dirty="0"/>
              <a:t>symbols</a:t>
            </a:r>
            <a:r>
              <a:rPr lang="en" dirty="0"/>
              <a:t>, and each place is a power of 10</a:t>
            </a:r>
          </a:p>
          <a:p>
            <a:r>
              <a:rPr lang="en" dirty="0"/>
              <a:t>But we can use (almost) any number as a base!</a:t>
            </a:r>
          </a:p>
          <a:p>
            <a:r>
              <a:rPr lang="en" dirty="0"/>
              <a:t>The most common bases when dealing with computers are </a:t>
            </a:r>
            <a:r>
              <a:rPr lang="en" b="1" dirty="0"/>
              <a:t>base-2 (binary)</a:t>
            </a:r>
            <a:r>
              <a:rPr lang="en" dirty="0"/>
              <a:t>, </a:t>
            </a:r>
            <a:r>
              <a:rPr lang="en" b="1" dirty="0"/>
              <a:t>base-16 (hexadecimal)</a:t>
            </a:r>
            <a:r>
              <a:rPr lang="en" dirty="0"/>
              <a:t>, and (rarely) </a:t>
            </a:r>
            <a:r>
              <a:rPr lang="en" b="1" dirty="0"/>
              <a:t>base-8 (octal)</a:t>
            </a:r>
          </a:p>
          <a:p>
            <a:r>
              <a:rPr lang="en" dirty="0"/>
              <a:t>When dealing with multiple bases, you can write the base as a subscript to be explicit about it</a:t>
            </a:r>
            <a:r>
              <a:rPr lang="en-US" dirty="0"/>
              <a:t>:</a:t>
            </a:r>
          </a:p>
          <a:p>
            <a:pPr marL="0" indent="0" algn="ctr">
              <a:buNone/>
            </a:pPr>
            <a:r>
              <a:rPr lang="en" sz="4000" dirty="0"/>
              <a:t>5</a:t>
            </a:r>
            <a:r>
              <a:rPr lang="en" sz="4000" baseline="-25000" dirty="0"/>
              <a:t>10</a:t>
            </a:r>
            <a:r>
              <a:rPr lang="en" sz="4000" dirty="0"/>
              <a:t> = 101</a:t>
            </a:r>
            <a:r>
              <a:rPr lang="en" sz="4000" baseline="-25000" dirty="0"/>
              <a:t>2</a:t>
            </a:r>
          </a:p>
        </p:txBody>
      </p:sp>
      <p:sp>
        <p:nvSpPr>
          <p:cNvPr id="118" name="Shape 118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56546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3069E-FFEB-4D15-8F8D-B35C0316C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a number system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101815-C589-4561-88FC-FB0A4D11F1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0400" y="876300"/>
                <a:ext cx="8991600" cy="4838701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0"/>
                  </a:spcBef>
                  <a:buNone/>
                </a:pPr>
                <a:r>
                  <a:rPr lang="en-GB" sz="2000" dirty="0"/>
                  <a:t>Using base </a:t>
                </a:r>
                <a:r>
                  <a:rPr lang="en-GB" sz="2000" b="1" dirty="0"/>
                  <a:t>B</a:t>
                </a:r>
              </a:p>
              <a:p>
                <a:pPr>
                  <a:spcBef>
                    <a:spcPts val="0"/>
                  </a:spcBef>
                </a:pPr>
                <a:r>
                  <a:rPr lang="en-GB" sz="2000" b="0" dirty="0"/>
                  <a:t>A number represented by the digits</a:t>
                </a:r>
                <a:br>
                  <a:rPr lang="en-GB" sz="2000" b="0" dirty="0"/>
                </a:br>
                <a:br>
                  <a:rPr lang="en-GB" sz="2000" b="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GB" sz="2000" b="0" i="1" dirty="0">
                  <a:latin typeface="Cambria Math" panose="02040503050406030204" pitchFamily="18" charset="0"/>
                </a:endParaRPr>
              </a:p>
              <a:p>
                <a:pPr>
                  <a:spcBef>
                    <a:spcPts val="0"/>
                  </a:spcBef>
                </a:pPr>
                <a:r>
                  <a:rPr lang="en-GB" sz="2000" dirty="0">
                    <a:latin typeface="Cambria Math" panose="02040503050406030204" pitchFamily="18" charset="0"/>
                  </a:rPr>
                  <a:t>Has the value</a:t>
                </a:r>
                <a:br>
                  <a:rPr lang="en-GB" sz="2000" dirty="0">
                    <a:latin typeface="Cambria Math" panose="02040503050406030204" pitchFamily="18" charset="0"/>
                  </a:rPr>
                </a:br>
                <a:br>
                  <a:rPr lang="en-GB" sz="2000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sz="2000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GB" sz="2000" b="1" dirty="0"/>
                          <m:t>B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GB" sz="2000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GB" sz="2000" b="1" dirty="0"/>
                          <m:t>B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…+</m:t>
                    </m:r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000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GB" sz="2000" b="1" dirty="0"/>
                          <m:t>B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2000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GB" sz="2000" b="1" dirty="0"/>
                          <m:t>B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en-GB" sz="2000" dirty="0">
                  <a:latin typeface="Cambria Math" panose="02040503050406030204" pitchFamily="18" charset="0"/>
                </a:endParaRPr>
              </a:p>
              <a:p>
                <a:pPr>
                  <a:spcBef>
                    <a:spcPts val="0"/>
                  </a:spcBef>
                </a:pPr>
                <a:endParaRPr lang="en-GB" sz="2000" dirty="0"/>
              </a:p>
              <a:p>
                <a:pPr>
                  <a:spcBef>
                    <a:spcPts val="0"/>
                  </a:spcBef>
                </a:pPr>
                <a:r>
                  <a:rPr lang="en-GB" sz="2000" dirty="0"/>
                  <a:t>Using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000" dirty="0"/>
                  <a:t> digits we can represent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GB" sz="2000" b="1" dirty="0"/>
                          <m:t>B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sz="2000" dirty="0"/>
                  <a:t> different numbers</a:t>
                </a:r>
              </a:p>
              <a:p>
                <a:pPr>
                  <a:spcBef>
                    <a:spcPts val="0"/>
                  </a:spcBef>
                </a:pPr>
                <a:endParaRPr lang="en-GB" sz="2000" dirty="0"/>
              </a:p>
              <a:p>
                <a:pPr>
                  <a:spcBef>
                    <a:spcPts val="0"/>
                  </a:spcBef>
                </a:pPr>
                <a:r>
                  <a:rPr lang="en-GB" sz="2000" dirty="0"/>
                  <a:t>The smallest non-negative number representable with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000" dirty="0"/>
                  <a:t> digits is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2000" dirty="0"/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GB" sz="2000" dirty="0"/>
              </a:p>
              <a:p>
                <a:pPr>
                  <a:spcBef>
                    <a:spcPts val="0"/>
                  </a:spcBef>
                </a:pPr>
                <a:r>
                  <a:rPr lang="en-GB" sz="2000" dirty="0"/>
                  <a:t>The largest number representable with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000" dirty="0"/>
                  <a:t> digits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GB" sz="2000" b="1" dirty="0"/>
                          <m:t>B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GB" sz="2000" dirty="0"/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GB" sz="2000" dirty="0"/>
              </a:p>
              <a:p>
                <a:pPr>
                  <a:spcBef>
                    <a:spcPts val="0"/>
                  </a:spcBef>
                </a:pPr>
                <a:r>
                  <a:rPr lang="en-GB" sz="2000" dirty="0"/>
                  <a:t>Using </a:t>
                </a:r>
                <a:r>
                  <a:rPr lang="en-GB" sz="2000" b="1" dirty="0"/>
                  <a:t>B</a:t>
                </a:r>
                <a:r>
                  <a:rPr lang="en-GB" sz="2000" dirty="0"/>
                  <a:t> symbols</a:t>
                </a:r>
              </a:p>
              <a:p>
                <a:pPr>
                  <a:spcBef>
                    <a:spcPts val="0"/>
                  </a:spcBef>
                </a:pPr>
                <a:endParaRPr lang="en-GB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101815-C589-4561-88FC-FB0A4D11F1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0400" y="876300"/>
                <a:ext cx="8991600" cy="4838701"/>
              </a:xfrm>
              <a:blipFill>
                <a:blip r:embed="rId2"/>
                <a:stretch>
                  <a:fillRect l="-678" t="-13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686A5-8D10-4C29-B673-AD37C62D4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8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1250736-8608-49B0-9A7D-C938F0D06E41}"/>
              </a:ext>
            </a:extLst>
          </p:cNvPr>
          <p:cNvGrpSpPr/>
          <p:nvPr/>
        </p:nvGrpSpPr>
        <p:grpSpPr>
          <a:xfrm>
            <a:off x="5918200" y="4825900"/>
            <a:ext cx="3945466" cy="923330"/>
            <a:chOff x="5410200" y="4825900"/>
            <a:chExt cx="3945466" cy="923330"/>
          </a:xfrm>
        </p:grpSpPr>
        <p:pic>
          <p:nvPicPr>
            <p:cNvPr id="14" name="Picture 13" descr="A picture containing person, man, building, outdoor&#10;&#10;Description automatically generated">
              <a:extLst>
                <a:ext uri="{FF2B5EF4-FFF2-40B4-BE49-F238E27FC236}">
                  <a16:creationId xmlns:a16="http://schemas.microsoft.com/office/drawing/2014/main" id="{FB791037-F1EB-4D98-99F0-FAF50A5F78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0200" y="4825900"/>
              <a:ext cx="1400175" cy="787598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4631076-C294-41C2-B7C3-2BE76C4B507B}"/>
                </a:ext>
              </a:extLst>
            </p:cNvPr>
            <p:cNvSpPr/>
            <p:nvPr/>
          </p:nvSpPr>
          <p:spPr>
            <a:xfrm>
              <a:off x="6800849" y="4825900"/>
              <a:ext cx="2554817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dirty="0"/>
                <a:t>If you use base 0 you don’t need to remember any symbols</a:t>
              </a:r>
              <a:endParaRPr lang="en-GB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999859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– Base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5CEE45-6F5B-48F8-8B3D-969EDA57D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175500" y="5296959"/>
            <a:ext cx="2286000" cy="304271"/>
          </a:xfrm>
        </p:spPr>
        <p:txBody>
          <a:bodyPr/>
          <a:lstStyle/>
          <a:p>
            <a:fld id="{3552B95B-556F-44BD-91A5-D80C1B9E2BB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37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3069E-FFEB-4D15-8F8D-B35C0316C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Let's make a base-2 number system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101815-C589-4561-88FC-FB0A4D11F1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02360" y="1074421"/>
                <a:ext cx="8092440" cy="4354831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Using base </a:t>
                </a:r>
                <a:r>
                  <a:rPr lang="en-GB" b="1" dirty="0"/>
                  <a:t>2</a:t>
                </a:r>
              </a:p>
              <a:p>
                <a:r>
                  <a:rPr lang="en-GB" b="0" dirty="0"/>
                  <a:t>A number represented by the digits</a:t>
                </a:r>
                <a:br>
                  <a:rPr lang="en-GB" b="0" dirty="0"/>
                </a:br>
                <a:br>
                  <a:rPr lang="en-GB" b="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GB" b="0" i="1" dirty="0">
                  <a:latin typeface="Cambria Math" panose="02040503050406030204" pitchFamily="18" charset="0"/>
                </a:endParaRPr>
              </a:p>
              <a:p>
                <a:r>
                  <a:rPr lang="en-GB" dirty="0">
                    <a:latin typeface="Cambria Math" panose="02040503050406030204" pitchFamily="18" charset="0"/>
                  </a:rPr>
                  <a:t>Has the value</a:t>
                </a:r>
                <a:br>
                  <a:rPr lang="en-GB" dirty="0">
                    <a:latin typeface="Cambria Math" panose="02040503050406030204" pitchFamily="18" charset="0"/>
                  </a:rPr>
                </a:br>
                <a:br>
                  <a:rPr lang="en-GB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GB" b="1" i="0" dirty="0" smtClean="0"/>
                          <m:t>2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GB" b="1" i="0" dirty="0" smtClean="0"/>
                          <m:t>2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…+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GB" b="1" i="0" dirty="0" smtClean="0"/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GB" b="1" i="0" dirty="0" smtClean="0"/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en-GB" dirty="0">
                  <a:latin typeface="Cambria Math" panose="02040503050406030204" pitchFamily="18" charset="0"/>
                </a:endParaRPr>
              </a:p>
              <a:p>
                <a:endParaRPr lang="en-GB" dirty="0"/>
              </a:p>
              <a:p>
                <a:r>
                  <a:rPr lang="en-GB" dirty="0"/>
                  <a:t>Using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digits we can represent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GB" b="1" i="0" dirty="0" smtClean="0"/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dirty="0"/>
                  <a:t> different numbers</a:t>
                </a:r>
              </a:p>
              <a:p>
                <a:endParaRPr lang="en-GB" dirty="0"/>
              </a:p>
              <a:p>
                <a:r>
                  <a:rPr lang="en-GB" dirty="0"/>
                  <a:t>The smallest non-negative number representable with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digits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The largest number representable with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digits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GB" b="1" i="0" dirty="0" smtClean="0"/>
                          <m:t>2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r>
                  <a:rPr lang="en-GB" dirty="0"/>
                  <a:t>Using </a:t>
                </a:r>
                <a:r>
                  <a:rPr lang="en-GB" b="1" dirty="0"/>
                  <a:t>2</a:t>
                </a:r>
                <a:r>
                  <a:rPr lang="en-GB" dirty="0"/>
                  <a:t> symbols: 0, 1</a:t>
                </a:r>
              </a:p>
              <a:p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101815-C589-4561-88FC-FB0A4D11F1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2360" y="1074421"/>
                <a:ext cx="8092440" cy="4354831"/>
              </a:xfrm>
              <a:blipFill>
                <a:blip r:embed="rId3"/>
                <a:stretch>
                  <a:fillRect l="-829" t="-2517" b="-16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686A5-8D10-4C29-B673-AD37C62D4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75500" y="5296959"/>
            <a:ext cx="2286000" cy="304271"/>
          </a:xfrm>
        </p:spPr>
        <p:txBody>
          <a:bodyPr/>
          <a:lstStyle/>
          <a:p>
            <a:fld id="{3552B95B-556F-44BD-91A5-D80C1B9E2BB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398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/>
              <a:t>Binary (base-2)</a:t>
            </a:r>
          </a:p>
        </p:txBody>
      </p:sp>
      <p:sp>
        <p:nvSpPr>
          <p:cNvPr id="146" name="Shape 146"/>
          <p:cNvSpPr txBox="1">
            <a:spLocks noGrp="1"/>
          </p:cNvSpPr>
          <p:nvPr>
            <p:ph type="sldNum" sz="quarter" idx="12"/>
          </p:nvPr>
        </p:nvSpPr>
        <p:spPr>
          <a:xfrm>
            <a:off x="7514659" y="5313585"/>
            <a:ext cx="2286000" cy="304271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11</a:t>
            </a:fld>
            <a:endParaRPr lang="en"/>
          </a:p>
        </p:txBody>
      </p:sp>
      <p:sp>
        <p:nvSpPr>
          <p:cNvPr id="137" name="Shape 137"/>
          <p:cNvSpPr txBox="1">
            <a:spLocks noGrp="1"/>
          </p:cNvSpPr>
          <p:nvPr>
            <p:ph idx="4294967295"/>
          </p:nvPr>
        </p:nvSpPr>
        <p:spPr>
          <a:xfrm>
            <a:off x="0" y="731838"/>
            <a:ext cx="7886700" cy="747712"/>
          </a:xfrm>
        </p:spPr>
        <p:txBody>
          <a:bodyPr>
            <a:normAutofit fontScale="92500" lnSpcReduction="10000"/>
          </a:bodyPr>
          <a:lstStyle/>
          <a:p>
            <a:r>
              <a:rPr lang="en" dirty="0"/>
              <a:t>We call </a:t>
            </a:r>
            <a:r>
              <a:rPr lang="en-US" dirty="0"/>
              <a:t>a </a:t>
            </a:r>
            <a:r>
              <a:rPr lang="en-US" b="1" dirty="0"/>
              <a:t>B</a:t>
            </a:r>
            <a:r>
              <a:rPr lang="en-US" dirty="0"/>
              <a:t>inary </a:t>
            </a:r>
            <a:r>
              <a:rPr lang="en-US" dirty="0" err="1"/>
              <a:t>dig</a:t>
            </a:r>
            <a:r>
              <a:rPr lang="en-US" b="1" dirty="0" err="1"/>
              <a:t>IT</a:t>
            </a:r>
            <a:r>
              <a:rPr lang="en-US" dirty="0"/>
              <a:t> a </a:t>
            </a:r>
            <a:r>
              <a:rPr lang="en-US" b="1" dirty="0"/>
              <a:t>bit</a:t>
            </a:r>
            <a:r>
              <a:rPr lang="en-US" dirty="0"/>
              <a:t> </a:t>
            </a:r>
            <a:r>
              <a:rPr lang="mr-IN" dirty="0"/>
              <a:t>–</a:t>
            </a:r>
            <a:r>
              <a:rPr lang="en-US" dirty="0"/>
              <a:t> a single 1 or 0</a:t>
            </a:r>
          </a:p>
          <a:p>
            <a:r>
              <a:rPr lang="en-US" dirty="0"/>
              <a:t>When we say an </a:t>
            </a:r>
            <a:r>
              <a:rPr lang="en-US" i="1" dirty="0"/>
              <a:t>n</a:t>
            </a:r>
            <a:r>
              <a:rPr lang="en-US" dirty="0"/>
              <a:t>-bit number, we mean one with </a:t>
            </a:r>
            <a:r>
              <a:rPr lang="en-US" i="1" dirty="0"/>
              <a:t>n</a:t>
            </a:r>
            <a:r>
              <a:rPr lang="en-US" dirty="0"/>
              <a:t> binary digits</a:t>
            </a:r>
            <a:endParaRPr lang="en" dirty="0"/>
          </a:p>
        </p:txBody>
      </p:sp>
      <p:sp>
        <p:nvSpPr>
          <p:cNvPr id="138" name="Shape 138"/>
          <p:cNvSpPr txBox="1"/>
          <p:nvPr/>
        </p:nvSpPr>
        <p:spPr>
          <a:xfrm>
            <a:off x="1433269" y="2808023"/>
            <a:ext cx="5466005" cy="372600"/>
          </a:xfrm>
          <a:prstGeom prst="rect">
            <a:avLst/>
          </a:prstGeom>
          <a:noFill/>
          <a:ln>
            <a:noFill/>
          </a:ln>
        </p:spPr>
        <p:txBody>
          <a:bodyPr lIns="82283" tIns="82283" rIns="82283" bIns="82283" anchor="t" anchorCtr="0">
            <a:noAutofit/>
          </a:bodyPr>
          <a:lstStyle/>
          <a:p>
            <a:r>
              <a:rPr lang="en" sz="1980" dirty="0">
                <a:ea typeface="Trebuchet MS"/>
                <a:cs typeface="Trebuchet MS"/>
                <a:sym typeface="Trebuchet MS"/>
              </a:rPr>
              <a:t>  2</a:t>
            </a:r>
            <a:r>
              <a:rPr lang="en" sz="1980" baseline="30000" dirty="0">
                <a:ea typeface="Trebuchet MS"/>
                <a:cs typeface="Trebuchet MS"/>
                <a:sym typeface="Trebuchet MS"/>
              </a:rPr>
              <a:t>7</a:t>
            </a:r>
            <a:r>
              <a:rPr lang="en" sz="1980" dirty="0">
                <a:ea typeface="Trebuchet MS"/>
                <a:cs typeface="Trebuchet MS"/>
                <a:sym typeface="Trebuchet MS"/>
              </a:rPr>
              <a:t>      2</a:t>
            </a:r>
            <a:r>
              <a:rPr lang="en" sz="1980" baseline="30000" dirty="0">
                <a:ea typeface="Trebuchet MS"/>
                <a:cs typeface="Trebuchet MS"/>
                <a:sym typeface="Trebuchet MS"/>
              </a:rPr>
              <a:t>6</a:t>
            </a:r>
            <a:r>
              <a:rPr lang="en" sz="1980" dirty="0">
                <a:ea typeface="Trebuchet MS"/>
                <a:cs typeface="Trebuchet MS"/>
                <a:sym typeface="Trebuchet MS"/>
              </a:rPr>
              <a:t>       2</a:t>
            </a:r>
            <a:r>
              <a:rPr lang="en" sz="1980" baseline="30000" dirty="0">
                <a:ea typeface="Trebuchet MS"/>
                <a:cs typeface="Trebuchet MS"/>
                <a:sym typeface="Trebuchet MS"/>
              </a:rPr>
              <a:t>5</a:t>
            </a:r>
            <a:r>
              <a:rPr lang="en" sz="1980" dirty="0">
                <a:ea typeface="Trebuchet MS"/>
                <a:cs typeface="Trebuchet MS"/>
                <a:sym typeface="Trebuchet MS"/>
              </a:rPr>
              <a:t>      2</a:t>
            </a:r>
            <a:r>
              <a:rPr lang="en" sz="1980" baseline="30000" dirty="0">
                <a:ea typeface="Trebuchet MS"/>
                <a:cs typeface="Trebuchet MS"/>
                <a:sym typeface="Trebuchet MS"/>
              </a:rPr>
              <a:t>4</a:t>
            </a:r>
            <a:r>
              <a:rPr lang="en" sz="1980" dirty="0">
                <a:ea typeface="Trebuchet MS"/>
                <a:cs typeface="Trebuchet MS"/>
                <a:sym typeface="Trebuchet MS"/>
              </a:rPr>
              <a:t>          2</a:t>
            </a:r>
            <a:r>
              <a:rPr lang="en" sz="1980" baseline="30000" dirty="0">
                <a:ea typeface="Trebuchet MS"/>
                <a:cs typeface="Trebuchet MS"/>
                <a:sym typeface="Trebuchet MS"/>
              </a:rPr>
              <a:t>3</a:t>
            </a:r>
            <a:r>
              <a:rPr lang="en" sz="1980" dirty="0">
                <a:ea typeface="Trebuchet MS"/>
                <a:cs typeface="Trebuchet MS"/>
                <a:sym typeface="Trebuchet MS"/>
              </a:rPr>
              <a:t>       2</a:t>
            </a:r>
            <a:r>
              <a:rPr lang="en" sz="1980" baseline="30000" dirty="0">
                <a:ea typeface="Trebuchet MS"/>
                <a:cs typeface="Trebuchet MS"/>
                <a:sym typeface="Trebuchet MS"/>
              </a:rPr>
              <a:t>2</a:t>
            </a:r>
            <a:r>
              <a:rPr lang="en" sz="1980" dirty="0">
                <a:ea typeface="Trebuchet MS"/>
                <a:cs typeface="Trebuchet MS"/>
                <a:sym typeface="Trebuchet MS"/>
              </a:rPr>
              <a:t>      2</a:t>
            </a:r>
            <a:r>
              <a:rPr lang="en" sz="1980" baseline="30000" dirty="0">
                <a:ea typeface="Trebuchet MS"/>
                <a:cs typeface="Trebuchet MS"/>
                <a:sym typeface="Trebuchet MS"/>
              </a:rPr>
              <a:t>1</a:t>
            </a:r>
            <a:r>
              <a:rPr lang="en" sz="1980" dirty="0">
                <a:ea typeface="Trebuchet MS"/>
                <a:cs typeface="Trebuchet MS"/>
                <a:sym typeface="Trebuchet MS"/>
              </a:rPr>
              <a:t>      2</a:t>
            </a:r>
            <a:r>
              <a:rPr lang="en" sz="1980" baseline="30000" dirty="0">
                <a:ea typeface="Trebuchet MS"/>
                <a:cs typeface="Trebuchet MS"/>
                <a:sym typeface="Trebuchet MS"/>
              </a:rPr>
              <a:t>0</a:t>
            </a:r>
          </a:p>
        </p:txBody>
      </p:sp>
      <p:sp>
        <p:nvSpPr>
          <p:cNvPr id="140" name="Shape 140"/>
          <p:cNvSpPr txBox="1"/>
          <p:nvPr/>
        </p:nvSpPr>
        <p:spPr>
          <a:xfrm>
            <a:off x="845684" y="1532610"/>
            <a:ext cx="5431163" cy="1339470"/>
          </a:xfrm>
          <a:prstGeom prst="rect">
            <a:avLst/>
          </a:prstGeom>
          <a:noFill/>
          <a:ln>
            <a:noFill/>
          </a:ln>
        </p:spPr>
        <p:txBody>
          <a:bodyPr lIns="82283" tIns="82283" rIns="82283" bIns="82283" anchor="t" anchorCtr="0">
            <a:noAutofit/>
          </a:bodyPr>
          <a:lstStyle/>
          <a:p>
            <a:pPr algn="r"/>
            <a:r>
              <a:rPr lang="en" sz="8800" dirty="0">
                <a:ea typeface="Trebuchet MS"/>
                <a:cs typeface="Trebuchet MS"/>
                <a:sym typeface="Trebuchet MS"/>
              </a:rPr>
              <a:t>1001 0110</a:t>
            </a:r>
          </a:p>
        </p:txBody>
      </p:sp>
      <p:sp>
        <p:nvSpPr>
          <p:cNvPr id="141" name="Shape 141"/>
          <p:cNvSpPr txBox="1"/>
          <p:nvPr/>
        </p:nvSpPr>
        <p:spPr>
          <a:xfrm>
            <a:off x="1408024" y="3180623"/>
            <a:ext cx="5466005" cy="466020"/>
          </a:xfrm>
          <a:prstGeom prst="rect">
            <a:avLst/>
          </a:prstGeom>
          <a:noFill/>
          <a:ln>
            <a:noFill/>
          </a:ln>
        </p:spPr>
        <p:txBody>
          <a:bodyPr lIns="82283" tIns="82283" rIns="82283" bIns="82283" anchor="t" anchorCtr="0">
            <a:noAutofit/>
          </a:bodyPr>
          <a:lstStyle/>
          <a:p>
            <a:r>
              <a:rPr lang="en" sz="1980" dirty="0">
                <a:ea typeface="Trebuchet MS"/>
                <a:cs typeface="Trebuchet MS"/>
                <a:sym typeface="Trebuchet MS"/>
              </a:rPr>
              <a:t>128s   64s    32s    16s        8s       4s      </a:t>
            </a:r>
            <a:r>
              <a:rPr lang="en" sz="1980">
                <a:ea typeface="Trebuchet MS"/>
                <a:cs typeface="Trebuchet MS"/>
                <a:sym typeface="Trebuchet MS"/>
              </a:rPr>
              <a:t>2s     </a:t>
            </a:r>
            <a:r>
              <a:rPr lang="en" sz="1980" dirty="0">
                <a:ea typeface="Trebuchet MS"/>
                <a:cs typeface="Trebuchet MS"/>
                <a:sym typeface="Trebuchet MS"/>
              </a:rPr>
              <a:t>1s</a:t>
            </a:r>
          </a:p>
        </p:txBody>
      </p:sp>
      <p:sp>
        <p:nvSpPr>
          <p:cNvPr id="142" name="Shape 142"/>
          <p:cNvSpPr txBox="1"/>
          <p:nvPr/>
        </p:nvSpPr>
        <p:spPr>
          <a:xfrm>
            <a:off x="7685784" y="1074420"/>
            <a:ext cx="1678590" cy="2987820"/>
          </a:xfrm>
          <a:prstGeom prst="rect">
            <a:avLst/>
          </a:prstGeom>
          <a:noFill/>
          <a:ln>
            <a:noFill/>
          </a:ln>
        </p:spPr>
        <p:txBody>
          <a:bodyPr lIns="82283" tIns="82283" rIns="82283" bIns="82283" anchor="t" anchorCtr="0">
            <a:noAutofit/>
          </a:bodyPr>
          <a:lstStyle/>
          <a:p>
            <a:r>
              <a:rPr lang="en" sz="1980" dirty="0">
                <a:ea typeface="Trebuchet MS"/>
                <a:cs typeface="Trebuchet MS"/>
                <a:sym typeface="Trebuchet MS"/>
              </a:rPr>
              <a:t>1 × </a:t>
            </a:r>
            <a:r>
              <a:rPr lang="en-US" sz="1980" dirty="0">
                <a:ea typeface="Trebuchet MS"/>
                <a:cs typeface="Trebuchet MS"/>
                <a:sym typeface="Trebuchet MS"/>
              </a:rPr>
              <a:t>128</a:t>
            </a:r>
            <a:r>
              <a:rPr lang="en" sz="1980" dirty="0">
                <a:ea typeface="Trebuchet MS"/>
                <a:cs typeface="Trebuchet MS"/>
                <a:sym typeface="Trebuchet MS"/>
              </a:rPr>
              <a:t> +</a:t>
            </a:r>
          </a:p>
          <a:p>
            <a:r>
              <a:rPr lang="en" sz="1980" dirty="0">
                <a:ea typeface="Trebuchet MS"/>
                <a:cs typeface="Trebuchet MS"/>
                <a:sym typeface="Trebuchet MS"/>
              </a:rPr>
              <a:t>0 × </a:t>
            </a:r>
            <a:r>
              <a:rPr lang="en-US" sz="1980" dirty="0">
                <a:ea typeface="Trebuchet MS"/>
                <a:cs typeface="Trebuchet MS"/>
                <a:sym typeface="Trebuchet MS"/>
              </a:rPr>
              <a:t>64</a:t>
            </a:r>
            <a:r>
              <a:rPr lang="en" sz="1980" dirty="0">
                <a:ea typeface="Trebuchet MS"/>
                <a:cs typeface="Trebuchet MS"/>
                <a:sym typeface="Trebuchet MS"/>
              </a:rPr>
              <a:t> + </a:t>
            </a:r>
          </a:p>
          <a:p>
            <a:r>
              <a:rPr lang="en" sz="1980" dirty="0">
                <a:ea typeface="Trebuchet MS"/>
                <a:cs typeface="Trebuchet MS"/>
                <a:sym typeface="Trebuchet MS"/>
              </a:rPr>
              <a:t>0 × </a:t>
            </a:r>
            <a:r>
              <a:rPr lang="en-US" sz="1980" dirty="0">
                <a:ea typeface="Trebuchet MS"/>
                <a:cs typeface="Trebuchet MS"/>
                <a:sym typeface="Trebuchet MS"/>
              </a:rPr>
              <a:t>32</a:t>
            </a:r>
            <a:r>
              <a:rPr lang="en" sz="1980" dirty="0">
                <a:ea typeface="Trebuchet MS"/>
                <a:cs typeface="Trebuchet MS"/>
                <a:sym typeface="Trebuchet MS"/>
              </a:rPr>
              <a:t> + </a:t>
            </a:r>
          </a:p>
          <a:p>
            <a:r>
              <a:rPr lang="en" sz="1980" dirty="0">
                <a:ea typeface="Trebuchet MS"/>
                <a:cs typeface="Trebuchet MS"/>
                <a:sym typeface="Trebuchet MS"/>
              </a:rPr>
              <a:t>1 × </a:t>
            </a:r>
            <a:r>
              <a:rPr lang="en-US" sz="1980" dirty="0">
                <a:ea typeface="Trebuchet MS"/>
                <a:cs typeface="Trebuchet MS"/>
                <a:sym typeface="Trebuchet MS"/>
              </a:rPr>
              <a:t>16</a:t>
            </a:r>
            <a:r>
              <a:rPr lang="en" sz="1980" dirty="0">
                <a:ea typeface="Trebuchet MS"/>
                <a:cs typeface="Trebuchet MS"/>
                <a:sym typeface="Trebuchet MS"/>
              </a:rPr>
              <a:t> +</a:t>
            </a:r>
          </a:p>
          <a:p>
            <a:r>
              <a:rPr lang="en" sz="1980" dirty="0">
                <a:ea typeface="Trebuchet MS"/>
                <a:cs typeface="Trebuchet MS"/>
                <a:sym typeface="Trebuchet MS"/>
              </a:rPr>
              <a:t>0 × </a:t>
            </a:r>
            <a:r>
              <a:rPr lang="en-US" sz="1980" dirty="0">
                <a:ea typeface="Trebuchet MS"/>
                <a:cs typeface="Trebuchet MS"/>
                <a:sym typeface="Trebuchet MS"/>
              </a:rPr>
              <a:t>8</a:t>
            </a:r>
            <a:r>
              <a:rPr lang="en" sz="1980" dirty="0">
                <a:ea typeface="Trebuchet MS"/>
                <a:cs typeface="Trebuchet MS"/>
                <a:sym typeface="Trebuchet MS"/>
              </a:rPr>
              <a:t> +</a:t>
            </a:r>
          </a:p>
          <a:p>
            <a:r>
              <a:rPr lang="en" sz="1980" dirty="0">
                <a:ea typeface="Trebuchet MS"/>
                <a:cs typeface="Trebuchet MS"/>
                <a:sym typeface="Trebuchet MS"/>
              </a:rPr>
              <a:t>1 × </a:t>
            </a:r>
            <a:r>
              <a:rPr lang="en-US" sz="1980" dirty="0">
                <a:ea typeface="Trebuchet MS"/>
                <a:cs typeface="Trebuchet MS"/>
                <a:sym typeface="Trebuchet MS"/>
              </a:rPr>
              <a:t>4</a:t>
            </a:r>
            <a:r>
              <a:rPr lang="en" sz="1980" dirty="0">
                <a:ea typeface="Trebuchet MS"/>
                <a:cs typeface="Trebuchet MS"/>
                <a:sym typeface="Trebuchet MS"/>
              </a:rPr>
              <a:t> + </a:t>
            </a:r>
          </a:p>
          <a:p>
            <a:r>
              <a:rPr lang="en" sz="1980" dirty="0">
                <a:ea typeface="Trebuchet MS"/>
                <a:cs typeface="Trebuchet MS"/>
                <a:sym typeface="Trebuchet MS"/>
              </a:rPr>
              <a:t>1 × 2 + </a:t>
            </a:r>
          </a:p>
          <a:p>
            <a:r>
              <a:rPr lang="en" sz="1980" dirty="0">
                <a:ea typeface="Trebuchet MS"/>
                <a:cs typeface="Trebuchet MS"/>
                <a:sym typeface="Trebuchet MS"/>
              </a:rPr>
              <a:t>0 × </a:t>
            </a:r>
            <a:r>
              <a:rPr lang="en-US" sz="1980" dirty="0">
                <a:ea typeface="Trebuchet MS"/>
                <a:cs typeface="Trebuchet MS"/>
                <a:sym typeface="Trebuchet MS"/>
              </a:rPr>
              <a:t>1</a:t>
            </a:r>
            <a:endParaRPr lang="en" sz="1980" baseline="30000" dirty="0">
              <a:ea typeface="Trebuchet MS"/>
              <a:cs typeface="Trebuchet MS"/>
              <a:sym typeface="Trebuchet MS"/>
            </a:endParaRPr>
          </a:p>
          <a:p>
            <a:r>
              <a:rPr lang="en" sz="3240" dirty="0">
                <a:ea typeface="Trebuchet MS"/>
                <a:cs typeface="Trebuchet MS"/>
                <a:sym typeface="Trebuchet MS"/>
              </a:rPr>
              <a:t>= 150</a:t>
            </a:r>
            <a:r>
              <a:rPr lang="en" sz="3240" baseline="-25000" dirty="0">
                <a:ea typeface="Trebuchet MS"/>
                <a:cs typeface="Trebuchet MS"/>
                <a:sym typeface="Trebuchet MS"/>
              </a:rPr>
              <a:t>10</a:t>
            </a:r>
          </a:p>
        </p:txBody>
      </p:sp>
      <p:sp>
        <p:nvSpPr>
          <p:cNvPr id="143" name="Shape 143"/>
          <p:cNvSpPr txBox="1"/>
          <p:nvPr/>
        </p:nvSpPr>
        <p:spPr>
          <a:xfrm>
            <a:off x="6611411" y="1532610"/>
            <a:ext cx="624510" cy="1198260"/>
          </a:xfrm>
          <a:prstGeom prst="rect">
            <a:avLst/>
          </a:prstGeom>
          <a:noFill/>
          <a:ln>
            <a:noFill/>
          </a:ln>
        </p:spPr>
        <p:txBody>
          <a:bodyPr lIns="82283" tIns="82283" rIns="82283" bIns="82283" anchor="t" anchorCtr="0">
            <a:noAutofit/>
          </a:bodyPr>
          <a:lstStyle/>
          <a:p>
            <a:r>
              <a:rPr lang="en" sz="8640" dirty="0">
                <a:ea typeface="Trebuchet MS"/>
                <a:cs typeface="Trebuchet MS"/>
                <a:sym typeface="Trebuchet MS"/>
              </a:rPr>
              <a:t>=</a:t>
            </a:r>
          </a:p>
        </p:txBody>
      </p:sp>
      <p:sp>
        <p:nvSpPr>
          <p:cNvPr id="144" name="Shape 144"/>
          <p:cNvSpPr txBox="1"/>
          <p:nvPr/>
        </p:nvSpPr>
        <p:spPr>
          <a:xfrm>
            <a:off x="1433268" y="3592395"/>
            <a:ext cx="5181300" cy="887220"/>
          </a:xfrm>
          <a:prstGeom prst="rect">
            <a:avLst/>
          </a:prstGeom>
          <a:noFill/>
          <a:ln>
            <a:noFill/>
          </a:ln>
        </p:spPr>
        <p:txBody>
          <a:bodyPr lIns="82283" tIns="82283" rIns="82283" bIns="82283" anchor="t" anchorCtr="0">
            <a:noAutofit/>
          </a:bodyPr>
          <a:lstStyle/>
          <a:p>
            <a:r>
              <a:rPr lang="en" sz="1980" b="1" dirty="0">
                <a:ea typeface="Trebuchet MS"/>
                <a:cs typeface="Trebuchet MS"/>
                <a:sym typeface="Trebuchet MS"/>
              </a:rPr>
              <a:t>To convert binary to decimal: </a:t>
            </a:r>
            <a:r>
              <a:rPr lang="en" sz="1980" dirty="0">
                <a:ea typeface="Trebuchet MS"/>
                <a:cs typeface="Trebuchet MS"/>
                <a:sym typeface="Trebuchet MS"/>
              </a:rPr>
              <a:t>ignore 0s, add up place values wherever you see a 1</a:t>
            </a:r>
            <a:r>
              <a:rPr lang="en-US" sz="1980" dirty="0">
                <a:ea typeface="Trebuchet MS"/>
                <a:cs typeface="Trebuchet MS"/>
                <a:sym typeface="Trebuchet MS"/>
              </a:rPr>
              <a:t>.</a:t>
            </a:r>
            <a:endParaRPr lang="en" sz="1980" dirty="0">
              <a:ea typeface="Trebuchet MS"/>
              <a:cs typeface="Trebuchet MS"/>
              <a:sym typeface="Trebuchet MS"/>
            </a:endParaRPr>
          </a:p>
        </p:txBody>
      </p:sp>
      <p:sp>
        <p:nvSpPr>
          <p:cNvPr id="145" name="Shape 145"/>
          <p:cNvSpPr txBox="1"/>
          <p:nvPr/>
        </p:nvSpPr>
        <p:spPr>
          <a:xfrm>
            <a:off x="1372900" y="1485900"/>
            <a:ext cx="5183460" cy="273780"/>
          </a:xfrm>
          <a:prstGeom prst="rect">
            <a:avLst/>
          </a:prstGeom>
          <a:noFill/>
          <a:ln>
            <a:noFill/>
          </a:ln>
        </p:spPr>
        <p:txBody>
          <a:bodyPr lIns="82283" tIns="82283" rIns="82283" bIns="82283" anchor="t" anchorCtr="0">
            <a:noAutofit/>
          </a:bodyPr>
          <a:lstStyle/>
          <a:p>
            <a:r>
              <a:rPr lang="en" sz="1980" dirty="0">
                <a:ea typeface="Trebuchet MS"/>
                <a:cs typeface="Trebuchet MS"/>
                <a:sym typeface="Trebuchet MS"/>
              </a:rPr>
              <a:t>MSB                                                                     LSB</a:t>
            </a:r>
          </a:p>
        </p:txBody>
      </p:sp>
      <p:grpSp>
        <p:nvGrpSpPr>
          <p:cNvPr id="147" name="Shape 147"/>
          <p:cNvGrpSpPr/>
          <p:nvPr/>
        </p:nvGrpSpPr>
        <p:grpSpPr>
          <a:xfrm>
            <a:off x="7634734" y="1458836"/>
            <a:ext cx="1087853" cy="2090813"/>
            <a:chOff x="6769025" y="1391350"/>
            <a:chExt cx="1208725" cy="2323125"/>
          </a:xfrm>
        </p:grpSpPr>
        <p:sp>
          <p:nvSpPr>
            <p:cNvPr id="148" name="Shape 148"/>
            <p:cNvSpPr/>
            <p:nvPr/>
          </p:nvSpPr>
          <p:spPr>
            <a:xfrm>
              <a:off x="6769025" y="1391350"/>
              <a:ext cx="1152000" cy="666600"/>
            </a:xfrm>
            <a:prstGeom prst="rect">
              <a:avLst/>
            </a:prstGeom>
            <a:solidFill>
              <a:srgbClr val="FFFFFF">
                <a:alpha val="85770"/>
              </a:srgbClr>
            </a:solidFill>
            <a:ln>
              <a:noFill/>
            </a:ln>
          </p:spPr>
          <p:txBody>
            <a:bodyPr lIns="82283" tIns="82283" rIns="82283" bIns="82283" anchor="ctr" anchorCtr="0">
              <a:noAutofit/>
            </a:bodyPr>
            <a:lstStyle/>
            <a:p>
              <a:endParaRPr sz="1620"/>
            </a:p>
          </p:txBody>
        </p:sp>
        <p:sp>
          <p:nvSpPr>
            <p:cNvPr id="149" name="Shape 149"/>
            <p:cNvSpPr/>
            <p:nvPr/>
          </p:nvSpPr>
          <p:spPr>
            <a:xfrm>
              <a:off x="6825750" y="2374350"/>
              <a:ext cx="1152000" cy="304200"/>
            </a:xfrm>
            <a:prstGeom prst="rect">
              <a:avLst/>
            </a:prstGeom>
            <a:solidFill>
              <a:srgbClr val="FFFFFF">
                <a:alpha val="85770"/>
              </a:srgbClr>
            </a:solidFill>
            <a:ln>
              <a:noFill/>
            </a:ln>
          </p:spPr>
          <p:txBody>
            <a:bodyPr lIns="82283" tIns="82283" rIns="82283" bIns="82283" anchor="ctr" anchorCtr="0">
              <a:noAutofit/>
            </a:bodyPr>
            <a:lstStyle/>
            <a:p>
              <a:endParaRPr sz="1620"/>
            </a:p>
          </p:txBody>
        </p:sp>
        <p:sp>
          <p:nvSpPr>
            <p:cNvPr id="150" name="Shape 150"/>
            <p:cNvSpPr/>
            <p:nvPr/>
          </p:nvSpPr>
          <p:spPr>
            <a:xfrm>
              <a:off x="6825750" y="3410275"/>
              <a:ext cx="1152000" cy="304200"/>
            </a:xfrm>
            <a:prstGeom prst="rect">
              <a:avLst/>
            </a:prstGeom>
            <a:solidFill>
              <a:srgbClr val="FFFFFF">
                <a:alpha val="85770"/>
              </a:srgbClr>
            </a:solidFill>
            <a:ln>
              <a:noFill/>
            </a:ln>
          </p:spPr>
          <p:txBody>
            <a:bodyPr lIns="82283" tIns="82283" rIns="82283" bIns="82283" anchor="ctr" anchorCtr="0">
              <a:noAutofit/>
            </a:bodyPr>
            <a:lstStyle/>
            <a:p>
              <a:endParaRPr sz="1620"/>
            </a:p>
          </p:txBody>
        </p:sp>
      </p:grpSp>
      <p:sp>
        <p:nvSpPr>
          <p:cNvPr id="151" name="Shape 151"/>
          <p:cNvSpPr/>
          <p:nvPr/>
        </p:nvSpPr>
        <p:spPr>
          <a:xfrm>
            <a:off x="7731706" y="1185053"/>
            <a:ext cx="421470" cy="2050110"/>
          </a:xfrm>
          <a:prstGeom prst="rect">
            <a:avLst/>
          </a:prstGeom>
          <a:solidFill>
            <a:srgbClr val="FFFFFF">
              <a:alpha val="85770"/>
            </a:srgbClr>
          </a:solidFill>
          <a:ln>
            <a:noFill/>
          </a:ln>
        </p:spPr>
        <p:txBody>
          <a:bodyPr lIns="82283" tIns="82283" rIns="82283" bIns="82283" anchor="ctr" anchorCtr="0">
            <a:noAutofit/>
          </a:bodyPr>
          <a:lstStyle/>
          <a:p>
            <a:endParaRPr sz="162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E62CDEB-0E97-43BF-A0DA-E407C5085EC0}"/>
              </a:ext>
            </a:extLst>
          </p:cNvPr>
          <p:cNvSpPr/>
          <p:nvPr/>
        </p:nvSpPr>
        <p:spPr>
          <a:xfrm>
            <a:off x="5760558" y="3200403"/>
            <a:ext cx="411480" cy="41177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62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6E0457A-FF37-4494-A106-1CBB9CB6F0B3}"/>
              </a:ext>
            </a:extLst>
          </p:cNvPr>
          <p:cNvCxnSpPr>
            <a:cxnSpLocks/>
            <a:stCxn id="2" idx="5"/>
          </p:cNvCxnSpPr>
          <p:nvPr/>
        </p:nvCxnSpPr>
        <p:spPr>
          <a:xfrm>
            <a:off x="6111780" y="3551873"/>
            <a:ext cx="224245" cy="33408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CF57E92-29AB-4AA5-8FFC-0B1EC3D57928}"/>
              </a:ext>
            </a:extLst>
          </p:cNvPr>
          <p:cNvSpPr txBox="1"/>
          <p:nvPr/>
        </p:nvSpPr>
        <p:spPr>
          <a:xfrm>
            <a:off x="6160609" y="3845252"/>
            <a:ext cx="1106070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20" dirty="0">
                <a:solidFill>
                  <a:srgbClr val="FF0000"/>
                </a:solidFill>
              </a:rPr>
              <a:t>It’s the only odd number!</a:t>
            </a:r>
          </a:p>
        </p:txBody>
      </p:sp>
    </p:spTree>
    <p:extLst>
      <p:ext uri="{BB962C8B-B14F-4D97-AF65-F5344CB8AC3E}">
        <p14:creationId xmlns:p14="http://schemas.microsoft.com/office/powerpoint/2010/main" val="1062886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" grpId="0" build="p" bldLvl="5"/>
      <p:bldP spid="140" grpId="0"/>
      <p:bldP spid="2" grpId="0" animBg="1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Converting the other way around</a:t>
            </a:r>
            <a:endParaRPr lang="en" dirty="0"/>
          </a:p>
        </p:txBody>
      </p:sp>
      <p:sp>
        <p:nvSpPr>
          <p:cNvPr id="218" name="Shape 218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12</a:t>
            </a:fld>
            <a:endParaRPr lang="en"/>
          </a:p>
        </p:txBody>
      </p:sp>
      <p:sp>
        <p:nvSpPr>
          <p:cNvPr id="193" name="Shape 193"/>
          <p:cNvSpPr txBox="1">
            <a:spLocks noGrp="1"/>
          </p:cNvSpPr>
          <p:nvPr>
            <p:ph idx="4294967295"/>
          </p:nvPr>
        </p:nvSpPr>
        <p:spPr>
          <a:xfrm>
            <a:off x="169863" y="495300"/>
            <a:ext cx="9990137" cy="4802188"/>
          </a:xfrm>
        </p:spPr>
        <p:txBody>
          <a:bodyPr/>
          <a:lstStyle/>
          <a:p>
            <a:r>
              <a:rPr lang="en-GB" dirty="0"/>
              <a:t>Ok! then. Let’s go back to decimal for a </a:t>
            </a:r>
            <a:r>
              <a:rPr lang="en-GB" b="1" dirty="0"/>
              <a:t>bit</a:t>
            </a:r>
            <a:r>
              <a:rPr lang="en-GB" dirty="0"/>
              <a:t> </a:t>
            </a:r>
          </a:p>
          <a:p>
            <a:pPr marL="258605" lvl="1" indent="0">
              <a:buNone/>
            </a:pPr>
            <a:endParaRPr lang="en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D0AC4BA-F9DA-4DEC-9E0B-799B7AA1A634}"/>
              </a:ext>
            </a:extLst>
          </p:cNvPr>
          <p:cNvGrpSpPr/>
          <p:nvPr/>
        </p:nvGrpSpPr>
        <p:grpSpPr>
          <a:xfrm>
            <a:off x="2838867" y="629194"/>
            <a:ext cx="6101931" cy="1512472"/>
            <a:chOff x="381000" y="1181100"/>
            <a:chExt cx="6101931" cy="1512472"/>
          </a:xfrm>
        </p:grpSpPr>
        <p:sp>
          <p:nvSpPr>
            <p:cNvPr id="54" name="Shape 140">
              <a:extLst>
                <a:ext uri="{FF2B5EF4-FFF2-40B4-BE49-F238E27FC236}">
                  <a16:creationId xmlns:a16="http://schemas.microsoft.com/office/drawing/2014/main" id="{6EEE4A26-91CF-4D5C-B9A8-899CA62842D9}"/>
                </a:ext>
              </a:extLst>
            </p:cNvPr>
            <p:cNvSpPr txBox="1"/>
            <p:nvPr/>
          </p:nvSpPr>
          <p:spPr>
            <a:xfrm>
              <a:off x="381000" y="1181100"/>
              <a:ext cx="3650400" cy="14883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r"/>
              <a:r>
                <a:rPr lang="en-US" sz="8800" dirty="0">
                  <a:ea typeface="Segoe UI" charset="0"/>
                  <a:cs typeface="Segoe UI" charset="0"/>
                  <a:sym typeface="Trebuchet MS"/>
                </a:rPr>
                <a:t>2 0 2 1</a:t>
              </a:r>
              <a:endParaRPr lang="en" sz="8800" dirty="0">
                <a:ea typeface="Segoe UI" charset="0"/>
                <a:cs typeface="Segoe UI" charset="0"/>
                <a:sym typeface="Trebuchet MS"/>
              </a:endParaRPr>
            </a:p>
          </p:txBody>
        </p: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3A4EAA05-7893-4A78-8BFE-1214695343A4}"/>
                </a:ext>
              </a:extLst>
            </p:cNvPr>
            <p:cNvSpPr/>
            <p:nvPr/>
          </p:nvSpPr>
          <p:spPr>
            <a:xfrm>
              <a:off x="3149600" y="1205272"/>
              <a:ext cx="990600" cy="14883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F0DB42FA-E9E5-44A7-ADAB-804D06C1F52E}"/>
                </a:ext>
              </a:extLst>
            </p:cNvPr>
            <p:cNvCxnSpPr>
              <a:cxnSpLocks/>
              <a:stCxn id="2" idx="6"/>
              <a:endCxn id="6" idx="1"/>
            </p:cNvCxnSpPr>
            <p:nvPr/>
          </p:nvCxnSpPr>
          <p:spPr>
            <a:xfrm flipV="1">
              <a:off x="4140200" y="1866900"/>
              <a:ext cx="671286" cy="8252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E879805-CB97-4EA3-95E8-3EEE9BFBEC38}"/>
                </a:ext>
              </a:extLst>
            </p:cNvPr>
            <p:cNvSpPr/>
            <p:nvPr/>
          </p:nvSpPr>
          <p:spPr>
            <a:xfrm>
              <a:off x="4811486" y="1409700"/>
              <a:ext cx="1671445" cy="914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How would you extract this number???</a:t>
              </a:r>
            </a:p>
          </p:txBody>
        </p:sp>
      </p:grp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7F08A55-0D33-40E6-B45E-A94D31530C86}"/>
              </a:ext>
            </a:extLst>
          </p:cNvPr>
          <p:cNvCxnSpPr>
            <a:cxnSpLocks/>
            <a:stCxn id="101" idx="1"/>
            <a:endCxn id="62" idx="3"/>
          </p:cNvCxnSpPr>
          <p:nvPr/>
        </p:nvCxnSpPr>
        <p:spPr>
          <a:xfrm flipH="1" flipV="1">
            <a:off x="3926967" y="4178928"/>
            <a:ext cx="1107907" cy="4166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3D0E4544-09D5-46C9-81CA-51D4DF89D4F4}"/>
              </a:ext>
            </a:extLst>
          </p:cNvPr>
          <p:cNvSpPr/>
          <p:nvPr/>
        </p:nvSpPr>
        <p:spPr>
          <a:xfrm>
            <a:off x="2352167" y="3721728"/>
            <a:ext cx="1574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Just divide by 10!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4CD092-74CF-4A23-A865-C6CBA8846E56}"/>
              </a:ext>
            </a:extLst>
          </p:cNvPr>
          <p:cNvSpPr/>
          <p:nvPr/>
        </p:nvSpPr>
        <p:spPr>
          <a:xfrm>
            <a:off x="5721416" y="4311731"/>
            <a:ext cx="11560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sz="2800" dirty="0">
                <a:solidFill>
                  <a:prstClr val="black"/>
                </a:solidFill>
                <a:ea typeface="Segoe UI" charset="0"/>
                <a:cs typeface="Segoe UI" charset="0"/>
                <a:sym typeface="Trebuchet MS"/>
              </a:rPr>
              <a:t>2 0 21</a:t>
            </a:r>
            <a:endParaRPr lang="en" sz="2800" dirty="0">
              <a:solidFill>
                <a:prstClr val="black"/>
              </a:solidFill>
              <a:ea typeface="Segoe UI" charset="0"/>
              <a:cs typeface="Segoe UI" charset="0"/>
              <a:sym typeface="Trebuchet MS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FAB9236-CA9D-49B2-AF6C-6FEDDC2C1870}"/>
              </a:ext>
            </a:extLst>
          </p:cNvPr>
          <p:cNvGrpSpPr/>
          <p:nvPr/>
        </p:nvGrpSpPr>
        <p:grpSpPr>
          <a:xfrm>
            <a:off x="5611650" y="4347016"/>
            <a:ext cx="1706429" cy="461894"/>
            <a:chOff x="4648200" y="3086100"/>
            <a:chExt cx="3657600" cy="1169194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B227CC1-1A30-4768-B882-544E7E510FF6}"/>
                </a:ext>
              </a:extLst>
            </p:cNvPr>
            <p:cNvCxnSpPr>
              <a:cxnSpLocks/>
            </p:cNvCxnSpPr>
            <p:nvPr/>
          </p:nvCxnSpPr>
          <p:spPr>
            <a:xfrm>
              <a:off x="4648200" y="3086100"/>
              <a:ext cx="0" cy="116919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C43A3EB5-AC45-40F9-A1AB-FB8187A5BF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8200" y="3086100"/>
              <a:ext cx="3657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1EEF4E7-5D46-46A0-8453-1130A7F9AC42}"/>
              </a:ext>
            </a:extLst>
          </p:cNvPr>
          <p:cNvSpPr/>
          <p:nvPr/>
        </p:nvSpPr>
        <p:spPr>
          <a:xfrm>
            <a:off x="5034874" y="4333986"/>
            <a:ext cx="5725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sz="2800" dirty="0">
                <a:solidFill>
                  <a:prstClr val="black"/>
                </a:solidFill>
                <a:ea typeface="Segoe UI" charset="0"/>
                <a:cs typeface="Segoe UI" charset="0"/>
                <a:sym typeface="Trebuchet MS"/>
              </a:rPr>
              <a:t>10</a:t>
            </a:r>
            <a:endParaRPr lang="en" sz="2800" dirty="0">
              <a:solidFill>
                <a:prstClr val="black"/>
              </a:solidFill>
              <a:ea typeface="Segoe UI" charset="0"/>
              <a:cs typeface="Segoe UI" charset="0"/>
              <a:sym typeface="Trebuchet MS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F0D010D3-2C5E-4B6E-B1DE-72400AA6800D}"/>
              </a:ext>
            </a:extLst>
          </p:cNvPr>
          <p:cNvSpPr/>
          <p:nvPr/>
        </p:nvSpPr>
        <p:spPr>
          <a:xfrm>
            <a:off x="5756069" y="3814445"/>
            <a:ext cx="9621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sz="2800" dirty="0">
                <a:solidFill>
                  <a:prstClr val="black"/>
                </a:solidFill>
                <a:ea typeface="Segoe UI" charset="0"/>
                <a:cs typeface="Segoe UI" charset="0"/>
                <a:sym typeface="Trebuchet MS"/>
              </a:rPr>
              <a:t>2 0 2</a:t>
            </a:r>
            <a:endParaRPr lang="en" sz="2800" dirty="0">
              <a:solidFill>
                <a:prstClr val="black"/>
              </a:solidFill>
              <a:ea typeface="Segoe UI" charset="0"/>
              <a:cs typeface="Segoe UI" charset="0"/>
              <a:sym typeface="Trebuchet MS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CC51BE2F-D506-43A3-96FB-F2555C3FC292}"/>
              </a:ext>
            </a:extLst>
          </p:cNvPr>
          <p:cNvSpPr/>
          <p:nvPr/>
        </p:nvSpPr>
        <p:spPr>
          <a:xfrm>
            <a:off x="6624204" y="3814445"/>
            <a:ext cx="6912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sz="2800" dirty="0">
                <a:ea typeface="Segoe UI" charset="0"/>
                <a:cs typeface="Segoe UI" charset="0"/>
                <a:sym typeface="Trebuchet MS"/>
              </a:rPr>
              <a:t>R</a:t>
            </a:r>
            <a:r>
              <a:rPr lang="en-US" sz="2800" dirty="0">
                <a:solidFill>
                  <a:srgbClr val="FF0000"/>
                </a:solidFill>
                <a:ea typeface="Segoe UI" charset="0"/>
                <a:cs typeface="Segoe UI" charset="0"/>
                <a:sym typeface="Trebuchet MS"/>
              </a:rPr>
              <a:t> 1</a:t>
            </a:r>
            <a:endParaRPr lang="en" sz="2800" dirty="0">
              <a:solidFill>
                <a:srgbClr val="FF0000"/>
              </a:solidFill>
              <a:ea typeface="Segoe UI" charset="0"/>
              <a:cs typeface="Segoe UI" charset="0"/>
              <a:sym typeface="Trebuchet MS"/>
            </a:endParaRP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BD801149-A65B-4ED5-A722-8E1E845C55AD}"/>
              </a:ext>
            </a:extLst>
          </p:cNvPr>
          <p:cNvGrpSpPr/>
          <p:nvPr/>
        </p:nvGrpSpPr>
        <p:grpSpPr>
          <a:xfrm>
            <a:off x="5611650" y="3791831"/>
            <a:ext cx="1706429" cy="461894"/>
            <a:chOff x="4648200" y="3086100"/>
            <a:chExt cx="3657600" cy="1169194"/>
          </a:xfrm>
        </p:grpSpPr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45595C4F-39F9-4D3D-A180-4E7E2A7A999A}"/>
                </a:ext>
              </a:extLst>
            </p:cNvPr>
            <p:cNvCxnSpPr>
              <a:cxnSpLocks/>
            </p:cNvCxnSpPr>
            <p:nvPr/>
          </p:nvCxnSpPr>
          <p:spPr>
            <a:xfrm>
              <a:off x="4648200" y="3086100"/>
              <a:ext cx="0" cy="116919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AC64424-EC54-48F3-882D-F81CEA0445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8200" y="3086100"/>
              <a:ext cx="3657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F30B44A-0ABA-4EFC-9A81-6079145A050F}"/>
              </a:ext>
            </a:extLst>
          </p:cNvPr>
          <p:cNvSpPr/>
          <p:nvPr/>
        </p:nvSpPr>
        <p:spPr>
          <a:xfrm>
            <a:off x="5034873" y="3756033"/>
            <a:ext cx="5725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sz="2800" dirty="0">
                <a:solidFill>
                  <a:prstClr val="black"/>
                </a:solidFill>
                <a:ea typeface="Segoe UI" charset="0"/>
                <a:cs typeface="Segoe UI" charset="0"/>
                <a:sym typeface="Trebuchet MS"/>
              </a:rPr>
              <a:t>10</a:t>
            </a:r>
            <a:endParaRPr lang="en" sz="2800" dirty="0">
              <a:solidFill>
                <a:prstClr val="black"/>
              </a:solidFill>
              <a:ea typeface="Segoe UI" charset="0"/>
              <a:cs typeface="Segoe UI" charset="0"/>
              <a:sym typeface="Trebuchet MS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0F97F218-F8A8-4D8E-B7C3-BB2831998DD6}"/>
              </a:ext>
            </a:extLst>
          </p:cNvPr>
          <p:cNvSpPr/>
          <p:nvPr/>
        </p:nvSpPr>
        <p:spPr>
          <a:xfrm>
            <a:off x="5756069" y="3268610"/>
            <a:ext cx="6703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sz="2800" dirty="0">
                <a:solidFill>
                  <a:prstClr val="black"/>
                </a:solidFill>
                <a:ea typeface="Segoe UI" charset="0"/>
                <a:cs typeface="Segoe UI" charset="0"/>
                <a:sym typeface="Trebuchet MS"/>
              </a:rPr>
              <a:t>2 0</a:t>
            </a:r>
            <a:endParaRPr lang="en" sz="2800" dirty="0">
              <a:solidFill>
                <a:prstClr val="black"/>
              </a:solidFill>
              <a:ea typeface="Segoe UI" charset="0"/>
              <a:cs typeface="Segoe UI" charset="0"/>
              <a:sym typeface="Trebuchet MS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BBA389E6-CB46-4FC1-8870-E06342D17DC4}"/>
              </a:ext>
            </a:extLst>
          </p:cNvPr>
          <p:cNvSpPr/>
          <p:nvPr/>
        </p:nvSpPr>
        <p:spPr>
          <a:xfrm>
            <a:off x="6629639" y="3266952"/>
            <a:ext cx="6912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sz="2800" dirty="0">
                <a:ea typeface="Segoe UI" charset="0"/>
                <a:cs typeface="Segoe UI" charset="0"/>
                <a:sym typeface="Trebuchet MS"/>
              </a:rPr>
              <a:t>R</a:t>
            </a:r>
            <a:r>
              <a:rPr lang="en-US" sz="2800" dirty="0">
                <a:solidFill>
                  <a:srgbClr val="FF0000"/>
                </a:solidFill>
                <a:ea typeface="Segoe UI" charset="0"/>
                <a:cs typeface="Segoe UI" charset="0"/>
                <a:sym typeface="Trebuchet MS"/>
              </a:rPr>
              <a:t> 2</a:t>
            </a:r>
            <a:endParaRPr lang="en" sz="2800" dirty="0">
              <a:solidFill>
                <a:srgbClr val="FF0000"/>
              </a:solidFill>
              <a:ea typeface="Segoe UI" charset="0"/>
              <a:cs typeface="Segoe UI" charset="0"/>
              <a:sym typeface="Trebuchet MS"/>
            </a:endParaRP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699B3D54-D1BC-465B-9F24-D15A807CE471}"/>
              </a:ext>
            </a:extLst>
          </p:cNvPr>
          <p:cNvGrpSpPr/>
          <p:nvPr/>
        </p:nvGrpSpPr>
        <p:grpSpPr>
          <a:xfrm>
            <a:off x="5611649" y="3245781"/>
            <a:ext cx="1706429" cy="461894"/>
            <a:chOff x="4648200" y="3086100"/>
            <a:chExt cx="3657600" cy="1169194"/>
          </a:xfrm>
        </p:grpSpPr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B6AC0FD-5D25-4CA8-A569-0EBB0016B1D7}"/>
                </a:ext>
              </a:extLst>
            </p:cNvPr>
            <p:cNvCxnSpPr>
              <a:cxnSpLocks/>
            </p:cNvCxnSpPr>
            <p:nvPr/>
          </p:nvCxnSpPr>
          <p:spPr>
            <a:xfrm>
              <a:off x="4648200" y="3086100"/>
              <a:ext cx="0" cy="116919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75E050BD-4E96-4F5C-9EAA-6C1B016331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8200" y="3119189"/>
              <a:ext cx="3657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" name="Rectangle 112">
            <a:extLst>
              <a:ext uri="{FF2B5EF4-FFF2-40B4-BE49-F238E27FC236}">
                <a16:creationId xmlns:a16="http://schemas.microsoft.com/office/drawing/2014/main" id="{72EBDF2C-126D-4A9D-8951-B7D6C1EF8A51}"/>
              </a:ext>
            </a:extLst>
          </p:cNvPr>
          <p:cNvSpPr/>
          <p:nvPr/>
        </p:nvSpPr>
        <p:spPr>
          <a:xfrm>
            <a:off x="5042798" y="3294139"/>
            <a:ext cx="5725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sz="2800" dirty="0">
                <a:solidFill>
                  <a:prstClr val="black"/>
                </a:solidFill>
                <a:ea typeface="Segoe UI" charset="0"/>
                <a:cs typeface="Segoe UI" charset="0"/>
                <a:sym typeface="Trebuchet MS"/>
              </a:rPr>
              <a:t>10</a:t>
            </a:r>
            <a:endParaRPr lang="en" sz="2800" dirty="0">
              <a:solidFill>
                <a:prstClr val="black"/>
              </a:solidFill>
              <a:ea typeface="Segoe UI" charset="0"/>
              <a:cs typeface="Segoe UI" charset="0"/>
              <a:sym typeface="Trebuchet MS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7F27A032-4C07-4EB8-8A37-9B4689288A55}"/>
              </a:ext>
            </a:extLst>
          </p:cNvPr>
          <p:cNvSpPr/>
          <p:nvPr/>
        </p:nvSpPr>
        <p:spPr>
          <a:xfrm>
            <a:off x="5775119" y="2720519"/>
            <a:ext cx="3786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sz="2800" dirty="0">
                <a:solidFill>
                  <a:srgbClr val="FF0000"/>
                </a:solidFill>
                <a:ea typeface="Segoe UI" charset="0"/>
                <a:cs typeface="Segoe UI" charset="0"/>
                <a:sym typeface="Trebuchet MS"/>
              </a:rPr>
              <a:t>2</a:t>
            </a:r>
            <a:endParaRPr lang="en" sz="2800" dirty="0">
              <a:solidFill>
                <a:srgbClr val="FF0000"/>
              </a:solidFill>
              <a:ea typeface="Segoe UI" charset="0"/>
              <a:cs typeface="Segoe UI" charset="0"/>
              <a:sym typeface="Trebuchet MS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F668ACB8-097F-4DB4-AD40-F331DF688317}"/>
              </a:ext>
            </a:extLst>
          </p:cNvPr>
          <p:cNvSpPr/>
          <p:nvPr/>
        </p:nvSpPr>
        <p:spPr>
          <a:xfrm>
            <a:off x="6624204" y="2723159"/>
            <a:ext cx="6912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sz="2800" dirty="0">
                <a:ea typeface="Segoe UI" charset="0"/>
                <a:cs typeface="Segoe UI" charset="0"/>
                <a:sym typeface="Trebuchet MS"/>
              </a:rPr>
              <a:t>R</a:t>
            </a:r>
            <a:r>
              <a:rPr lang="en-US" sz="2800" dirty="0">
                <a:solidFill>
                  <a:srgbClr val="FF0000"/>
                </a:solidFill>
                <a:ea typeface="Segoe UI" charset="0"/>
                <a:cs typeface="Segoe UI" charset="0"/>
                <a:sym typeface="Trebuchet MS"/>
              </a:rPr>
              <a:t> 0</a:t>
            </a:r>
            <a:endParaRPr lang="en" sz="2800" dirty="0">
              <a:solidFill>
                <a:srgbClr val="FF0000"/>
              </a:solidFill>
              <a:ea typeface="Segoe UI" charset="0"/>
              <a:cs typeface="Segoe UI" charset="0"/>
              <a:sym typeface="Trebuchet MS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A692B4E-D261-4CA2-96D3-3D664413EDD0}"/>
              </a:ext>
            </a:extLst>
          </p:cNvPr>
          <p:cNvCxnSpPr>
            <a:cxnSpLocks/>
            <a:stCxn id="114" idx="0"/>
          </p:cNvCxnSpPr>
          <p:nvPr/>
        </p:nvCxnSpPr>
        <p:spPr>
          <a:xfrm>
            <a:off x="5964434" y="2720519"/>
            <a:ext cx="1582242" cy="863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0DF495B-0AAA-4C24-BBEA-D371B69635A2}"/>
              </a:ext>
            </a:extLst>
          </p:cNvPr>
          <p:cNvCxnSpPr>
            <a:cxnSpLocks/>
          </p:cNvCxnSpPr>
          <p:nvPr/>
        </p:nvCxnSpPr>
        <p:spPr>
          <a:xfrm>
            <a:off x="7546676" y="2728886"/>
            <a:ext cx="0" cy="16583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34AE2B0-AE2B-492C-AFC4-8D0EA34AE764}"/>
              </a:ext>
            </a:extLst>
          </p:cNvPr>
          <p:cNvSpPr/>
          <p:nvPr/>
        </p:nvSpPr>
        <p:spPr>
          <a:xfrm>
            <a:off x="340503" y="2315393"/>
            <a:ext cx="3854110" cy="132225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rgbClr val="FF0000"/>
                </a:solidFill>
              </a:rPr>
              <a:t>When you divide by the BASE you are moving the decimal point in that BASE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74AF2CE-EA87-47F4-971D-1B59060B25C8}"/>
              </a:ext>
            </a:extLst>
          </p:cNvPr>
          <p:cNvSpPr/>
          <p:nvPr/>
        </p:nvSpPr>
        <p:spPr>
          <a:xfrm>
            <a:off x="64714" y="1921246"/>
            <a:ext cx="4405686" cy="416668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rgbClr val="FF0000"/>
                </a:solidFill>
              </a:rPr>
              <a:t>How I like to think of it:</a:t>
            </a:r>
          </a:p>
        </p:txBody>
      </p:sp>
    </p:spTree>
    <p:extLst>
      <p:ext uri="{BB962C8B-B14F-4D97-AF65-F5344CB8AC3E}">
        <p14:creationId xmlns:p14="http://schemas.microsoft.com/office/powerpoint/2010/main" val="2100530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17" grpId="0"/>
      <p:bldP spid="101" grpId="0"/>
      <p:bldP spid="102" grpId="0"/>
      <p:bldP spid="103" grpId="0"/>
      <p:bldP spid="107" grpId="0"/>
      <p:bldP spid="108" grpId="0"/>
      <p:bldP spid="109" grpId="0"/>
      <p:bldP spid="113" grpId="0"/>
      <p:bldP spid="114" grpId="0"/>
      <p:bldP spid="1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happens when you divide by 10?</a:t>
            </a:r>
            <a:endParaRPr lang="en" dirty="0"/>
          </a:p>
        </p:txBody>
      </p:sp>
      <p:sp>
        <p:nvSpPr>
          <p:cNvPr id="218" name="Shape 218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13</a:t>
            </a:fld>
            <a:endParaRPr lang="en"/>
          </a:p>
        </p:txBody>
      </p:sp>
      <p:sp>
        <p:nvSpPr>
          <p:cNvPr id="193" name="Shape 193"/>
          <p:cNvSpPr txBox="1">
            <a:spLocks noGrp="1"/>
          </p:cNvSpPr>
          <p:nvPr>
            <p:ph idx="4294967295"/>
          </p:nvPr>
        </p:nvSpPr>
        <p:spPr>
          <a:xfrm>
            <a:off x="169863" y="495300"/>
            <a:ext cx="9990137" cy="4802188"/>
          </a:xfrm>
        </p:spPr>
        <p:txBody>
          <a:bodyPr/>
          <a:lstStyle/>
          <a:p>
            <a:r>
              <a:rPr lang="en-GB" dirty="0"/>
              <a:t>Turns out that dividing by 10 in any base has the same outcome</a:t>
            </a:r>
            <a:endParaRPr lang="e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209D85-0599-4BFD-AB4D-5E8F9D868369}"/>
              </a:ext>
            </a:extLst>
          </p:cNvPr>
          <p:cNvSpPr/>
          <p:nvPr/>
        </p:nvSpPr>
        <p:spPr>
          <a:xfrm>
            <a:off x="257560" y="3869460"/>
            <a:ext cx="3666066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8800" dirty="0">
                <a:solidFill>
                  <a:schemeClr val="accent1"/>
                </a:solidFill>
                <a:ea typeface="Segoe UI" charset="0"/>
                <a:cs typeface="Segoe UI" charset="0"/>
                <a:sym typeface="Trebuchet MS"/>
              </a:rPr>
              <a:t>11001</a:t>
            </a:r>
            <a:r>
              <a:rPr lang="en-US" sz="8800" baseline="-25000" dirty="0">
                <a:solidFill>
                  <a:schemeClr val="accent1"/>
                </a:solidFill>
                <a:ea typeface="Segoe UI" charset="0"/>
                <a:cs typeface="Segoe UI" charset="0"/>
                <a:sym typeface="Trebuchet MS"/>
              </a:rPr>
              <a:t>2</a:t>
            </a:r>
            <a:endParaRPr lang="en" sz="8800" baseline="-25000" dirty="0">
              <a:solidFill>
                <a:schemeClr val="accent1"/>
              </a:solidFill>
              <a:ea typeface="Segoe UI" charset="0"/>
              <a:cs typeface="Segoe UI" charset="0"/>
              <a:sym typeface="Trebuchet M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2C1B681-59F5-4702-B209-575ABF8BACAD}"/>
              </a:ext>
            </a:extLst>
          </p:cNvPr>
          <p:cNvSpPr/>
          <p:nvPr/>
        </p:nvSpPr>
        <p:spPr>
          <a:xfrm>
            <a:off x="368192" y="1104900"/>
            <a:ext cx="3719157" cy="129521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AE4DDDB-C83B-479F-9C4E-DF5B1AE09940}"/>
              </a:ext>
            </a:extLst>
          </p:cNvPr>
          <p:cNvGrpSpPr/>
          <p:nvPr/>
        </p:nvGrpSpPr>
        <p:grpSpPr>
          <a:xfrm>
            <a:off x="378265" y="1319825"/>
            <a:ext cx="3610327" cy="923330"/>
            <a:chOff x="7769478" y="-231524"/>
            <a:chExt cx="3610327" cy="92333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E298394-C406-4C70-9095-19C689E74048}"/>
                </a:ext>
              </a:extLst>
            </p:cNvPr>
            <p:cNvSpPr/>
            <p:nvPr/>
          </p:nvSpPr>
          <p:spPr>
            <a:xfrm>
              <a:off x="7769478" y="-231524"/>
              <a:ext cx="1712328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r"/>
              <a:r>
                <a:rPr lang="en-US" sz="5400" dirty="0">
                  <a:solidFill>
                    <a:prstClr val="black"/>
                  </a:solidFill>
                  <a:ea typeface="Segoe UI" charset="0"/>
                  <a:cs typeface="Segoe UI" charset="0"/>
                  <a:sym typeface="Trebuchet MS"/>
                </a:rPr>
                <a:t>0b10</a:t>
              </a:r>
              <a:endParaRPr lang="en" sz="5400" baseline="-25000" dirty="0">
                <a:solidFill>
                  <a:prstClr val="black"/>
                </a:solidFill>
                <a:ea typeface="Segoe UI" charset="0"/>
                <a:cs typeface="Segoe UI" charset="0"/>
                <a:sym typeface="Trebuchet MS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025C1F7-BF37-46B1-AA85-56E2D2224ADA}"/>
                </a:ext>
              </a:extLst>
            </p:cNvPr>
            <p:cNvSpPr/>
            <p:nvPr/>
          </p:nvSpPr>
          <p:spPr>
            <a:xfrm>
              <a:off x="10324709" y="-231524"/>
              <a:ext cx="1055096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r"/>
              <a:r>
                <a:rPr lang="en-US" sz="5400" dirty="0">
                  <a:solidFill>
                    <a:prstClr val="black"/>
                  </a:solidFill>
                  <a:ea typeface="Segoe UI" charset="0"/>
                  <a:cs typeface="Segoe UI" charset="0"/>
                  <a:sym typeface="Trebuchet MS"/>
                </a:rPr>
                <a:t>2</a:t>
              </a:r>
              <a:r>
                <a:rPr lang="en-US" sz="5400" baseline="-25000" dirty="0">
                  <a:solidFill>
                    <a:prstClr val="black"/>
                  </a:solidFill>
                  <a:ea typeface="Segoe UI" charset="0"/>
                  <a:cs typeface="Segoe UI" charset="0"/>
                  <a:sym typeface="Trebuchet MS"/>
                </a:rPr>
                <a:t>10</a:t>
              </a:r>
              <a:endParaRPr lang="en" sz="5400" baseline="-25000" dirty="0">
                <a:solidFill>
                  <a:prstClr val="black"/>
                </a:solidFill>
                <a:ea typeface="Segoe UI" charset="0"/>
                <a:cs typeface="Segoe UI" charset="0"/>
                <a:sym typeface="Trebuchet MS"/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FFCFAF9-FD62-46FB-B514-7FCBE66AB952}"/>
                </a:ext>
              </a:extLst>
            </p:cNvPr>
            <p:cNvCxnSpPr>
              <a:cxnSpLocks/>
              <a:stCxn id="31" idx="3"/>
              <a:endCxn id="33" idx="1"/>
            </p:cNvCxnSpPr>
            <p:nvPr/>
          </p:nvCxnSpPr>
          <p:spPr>
            <a:xfrm>
              <a:off x="9481806" y="230141"/>
              <a:ext cx="842903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F06B3B4B-6311-4ECF-8270-84CFF8E16141}"/>
              </a:ext>
            </a:extLst>
          </p:cNvPr>
          <p:cNvSpPr/>
          <p:nvPr/>
        </p:nvSpPr>
        <p:spPr>
          <a:xfrm>
            <a:off x="6472369" y="3869460"/>
            <a:ext cx="5725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sz="2800" dirty="0">
                <a:ea typeface="Segoe UI" charset="0"/>
                <a:cs typeface="Segoe UI" charset="0"/>
                <a:sym typeface="Trebuchet MS"/>
              </a:rPr>
              <a:t>25</a:t>
            </a:r>
            <a:endParaRPr lang="en" sz="2800" dirty="0">
              <a:solidFill>
                <a:prstClr val="black"/>
              </a:solidFill>
              <a:ea typeface="Segoe UI" charset="0"/>
              <a:cs typeface="Segoe UI" charset="0"/>
              <a:sym typeface="Trebuchet M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1069863-54BE-4175-962F-490736BBAE74}"/>
              </a:ext>
            </a:extLst>
          </p:cNvPr>
          <p:cNvSpPr/>
          <p:nvPr/>
        </p:nvSpPr>
        <p:spPr>
          <a:xfrm>
            <a:off x="6472369" y="3303771"/>
            <a:ext cx="5725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sz="2800" dirty="0">
                <a:solidFill>
                  <a:prstClr val="black"/>
                </a:solidFill>
                <a:ea typeface="Segoe UI" charset="0"/>
                <a:cs typeface="Segoe UI" charset="0"/>
                <a:sym typeface="Trebuchet MS"/>
              </a:rPr>
              <a:t>12</a:t>
            </a:r>
            <a:endParaRPr lang="en" sz="2800" dirty="0">
              <a:solidFill>
                <a:prstClr val="black"/>
              </a:solidFill>
              <a:ea typeface="Segoe UI" charset="0"/>
              <a:cs typeface="Segoe UI" charset="0"/>
              <a:sym typeface="Trebuchet M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3A8A3A5-66A2-4C32-9EE2-AF687BBC339B}"/>
              </a:ext>
            </a:extLst>
          </p:cNvPr>
          <p:cNvSpPr/>
          <p:nvPr/>
        </p:nvSpPr>
        <p:spPr>
          <a:xfrm>
            <a:off x="7849456" y="3291911"/>
            <a:ext cx="69120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2800" dirty="0">
                <a:ea typeface="Segoe UI" charset="0"/>
                <a:cs typeface="Segoe UI" charset="0"/>
                <a:sym typeface="Trebuchet MS"/>
              </a:rPr>
              <a:t>R</a:t>
            </a:r>
            <a:r>
              <a:rPr lang="en-US" sz="2800" dirty="0">
                <a:solidFill>
                  <a:srgbClr val="FF0000"/>
                </a:solidFill>
                <a:ea typeface="Segoe UI" charset="0"/>
                <a:cs typeface="Segoe UI" charset="0"/>
                <a:sym typeface="Trebuchet MS"/>
              </a:rPr>
              <a:t> 1</a:t>
            </a:r>
            <a:endParaRPr lang="en" sz="2800" dirty="0">
              <a:solidFill>
                <a:srgbClr val="FF0000"/>
              </a:solidFill>
              <a:ea typeface="Segoe UI" charset="0"/>
              <a:cs typeface="Segoe UI" charset="0"/>
              <a:sym typeface="Trebuchet M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6E6DD10-8120-4EC5-8F76-0D9F312B667E}"/>
              </a:ext>
            </a:extLst>
          </p:cNvPr>
          <p:cNvSpPr/>
          <p:nvPr/>
        </p:nvSpPr>
        <p:spPr>
          <a:xfrm>
            <a:off x="6496053" y="2768365"/>
            <a:ext cx="3786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sz="2800" dirty="0">
                <a:solidFill>
                  <a:prstClr val="black"/>
                </a:solidFill>
                <a:ea typeface="Segoe UI" charset="0"/>
                <a:cs typeface="Segoe UI" charset="0"/>
                <a:sym typeface="Trebuchet MS"/>
              </a:rPr>
              <a:t>6</a:t>
            </a:r>
            <a:endParaRPr lang="en" sz="2800" dirty="0">
              <a:solidFill>
                <a:prstClr val="black"/>
              </a:solidFill>
              <a:ea typeface="Segoe UI" charset="0"/>
              <a:cs typeface="Segoe UI" charset="0"/>
              <a:sym typeface="Trebuchet M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5E17604-4324-40E2-9D04-958DB5039E2D}"/>
              </a:ext>
            </a:extLst>
          </p:cNvPr>
          <p:cNvSpPr/>
          <p:nvPr/>
        </p:nvSpPr>
        <p:spPr>
          <a:xfrm>
            <a:off x="7849456" y="2767524"/>
            <a:ext cx="6912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sz="2800" dirty="0">
                <a:ea typeface="Segoe UI" charset="0"/>
                <a:cs typeface="Segoe UI" charset="0"/>
                <a:sym typeface="Trebuchet MS"/>
              </a:rPr>
              <a:t>R</a:t>
            </a:r>
            <a:r>
              <a:rPr lang="en-US" sz="2800" dirty="0">
                <a:solidFill>
                  <a:srgbClr val="FF0000"/>
                </a:solidFill>
                <a:ea typeface="Segoe UI" charset="0"/>
                <a:cs typeface="Segoe UI" charset="0"/>
                <a:sym typeface="Trebuchet MS"/>
              </a:rPr>
              <a:t> 0</a:t>
            </a:r>
            <a:endParaRPr lang="en" sz="2800" dirty="0">
              <a:solidFill>
                <a:srgbClr val="FF0000"/>
              </a:solidFill>
              <a:ea typeface="Segoe UI" charset="0"/>
              <a:cs typeface="Segoe UI" charset="0"/>
              <a:sym typeface="Trebuchet M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3252A80-3089-4E6B-91E8-62396603922B}"/>
              </a:ext>
            </a:extLst>
          </p:cNvPr>
          <p:cNvSpPr/>
          <p:nvPr/>
        </p:nvSpPr>
        <p:spPr>
          <a:xfrm>
            <a:off x="7848560" y="2166804"/>
            <a:ext cx="6912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sz="2800" dirty="0">
                <a:ea typeface="Segoe UI" charset="0"/>
                <a:cs typeface="Segoe UI" charset="0"/>
                <a:sym typeface="Trebuchet MS"/>
              </a:rPr>
              <a:t>R</a:t>
            </a:r>
            <a:r>
              <a:rPr lang="en-US" sz="2800" dirty="0">
                <a:solidFill>
                  <a:srgbClr val="FF0000"/>
                </a:solidFill>
                <a:ea typeface="Segoe UI" charset="0"/>
                <a:cs typeface="Segoe UI" charset="0"/>
                <a:sym typeface="Trebuchet MS"/>
              </a:rPr>
              <a:t> 0</a:t>
            </a:r>
            <a:endParaRPr lang="en" sz="2800" dirty="0">
              <a:solidFill>
                <a:srgbClr val="FF0000"/>
              </a:solidFill>
              <a:ea typeface="Segoe UI" charset="0"/>
              <a:cs typeface="Segoe UI" charset="0"/>
              <a:sym typeface="Trebuchet MS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C2E241E-6F35-4736-9259-D5AF5986B001}"/>
              </a:ext>
            </a:extLst>
          </p:cNvPr>
          <p:cNvCxnSpPr>
            <a:cxnSpLocks/>
          </p:cNvCxnSpPr>
          <p:nvPr/>
        </p:nvCxnSpPr>
        <p:spPr>
          <a:xfrm>
            <a:off x="6597470" y="1678221"/>
            <a:ext cx="228563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FE9F3249-B128-4CB5-AFFC-30D5BA416981}"/>
              </a:ext>
            </a:extLst>
          </p:cNvPr>
          <p:cNvSpPr/>
          <p:nvPr/>
        </p:nvSpPr>
        <p:spPr>
          <a:xfrm>
            <a:off x="5687965" y="3853505"/>
            <a:ext cx="6351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sz="2800" dirty="0">
                <a:solidFill>
                  <a:prstClr val="black"/>
                </a:solidFill>
                <a:ea typeface="Segoe UI" charset="0"/>
                <a:cs typeface="Segoe UI" charset="0"/>
                <a:sym typeface="Trebuchet MS"/>
              </a:rPr>
              <a:t>2</a:t>
            </a:r>
            <a:r>
              <a:rPr lang="en-US" sz="2800" baseline="-25000" dirty="0">
                <a:solidFill>
                  <a:prstClr val="black"/>
                </a:solidFill>
                <a:ea typeface="Segoe UI" charset="0"/>
                <a:cs typeface="Segoe UI" charset="0"/>
                <a:sym typeface="Trebuchet MS"/>
              </a:rPr>
              <a:t>10</a:t>
            </a:r>
            <a:endParaRPr lang="en" sz="2800" baseline="-25000" dirty="0">
              <a:solidFill>
                <a:prstClr val="black"/>
              </a:solidFill>
              <a:ea typeface="Segoe UI" charset="0"/>
              <a:cs typeface="Segoe UI" charset="0"/>
              <a:sym typeface="Trebuchet M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8A5BD65-D35D-465E-8930-BFF64BC8A576}"/>
              </a:ext>
            </a:extLst>
          </p:cNvPr>
          <p:cNvSpPr/>
          <p:nvPr/>
        </p:nvSpPr>
        <p:spPr>
          <a:xfrm>
            <a:off x="6499417" y="2198252"/>
            <a:ext cx="3786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sz="2800" dirty="0">
                <a:solidFill>
                  <a:prstClr val="black"/>
                </a:solidFill>
                <a:ea typeface="Segoe UI" charset="0"/>
                <a:cs typeface="Segoe UI" charset="0"/>
                <a:sym typeface="Trebuchet MS"/>
              </a:rPr>
              <a:t>3</a:t>
            </a:r>
            <a:endParaRPr lang="en" sz="2800" dirty="0">
              <a:solidFill>
                <a:prstClr val="black"/>
              </a:solidFill>
              <a:ea typeface="Segoe UI" charset="0"/>
              <a:cs typeface="Segoe UI" charset="0"/>
              <a:sym typeface="Trebuchet M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5BCF82C-9A1D-4E50-970F-6EFB4CEBEF8F}"/>
              </a:ext>
            </a:extLst>
          </p:cNvPr>
          <p:cNvSpPr/>
          <p:nvPr/>
        </p:nvSpPr>
        <p:spPr>
          <a:xfrm>
            <a:off x="6493444" y="1653954"/>
            <a:ext cx="3786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sz="2800" dirty="0">
                <a:solidFill>
                  <a:srgbClr val="FF0000"/>
                </a:solidFill>
                <a:ea typeface="Segoe UI" charset="0"/>
                <a:cs typeface="Segoe UI" charset="0"/>
                <a:sym typeface="Trebuchet MS"/>
              </a:rPr>
              <a:t>1</a:t>
            </a:r>
            <a:endParaRPr lang="en" sz="2800" dirty="0">
              <a:solidFill>
                <a:srgbClr val="FF0000"/>
              </a:solidFill>
              <a:ea typeface="Segoe UI" charset="0"/>
              <a:cs typeface="Segoe UI" charset="0"/>
              <a:sym typeface="Trebuchet M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D45BA13-FF90-4A33-846A-478465C8EC02}"/>
              </a:ext>
            </a:extLst>
          </p:cNvPr>
          <p:cNvSpPr/>
          <p:nvPr/>
        </p:nvSpPr>
        <p:spPr>
          <a:xfrm>
            <a:off x="7848560" y="1618837"/>
            <a:ext cx="6912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sz="2800" dirty="0">
                <a:ea typeface="Segoe UI" charset="0"/>
                <a:cs typeface="Segoe UI" charset="0"/>
                <a:sym typeface="Trebuchet MS"/>
              </a:rPr>
              <a:t>R</a:t>
            </a:r>
            <a:r>
              <a:rPr lang="en-US" sz="2800" dirty="0">
                <a:solidFill>
                  <a:srgbClr val="FF0000"/>
                </a:solidFill>
                <a:ea typeface="Segoe UI" charset="0"/>
                <a:cs typeface="Segoe UI" charset="0"/>
                <a:sym typeface="Trebuchet MS"/>
              </a:rPr>
              <a:t> 1</a:t>
            </a:r>
            <a:endParaRPr lang="en" sz="2800" dirty="0">
              <a:solidFill>
                <a:srgbClr val="FF0000"/>
              </a:solidFill>
              <a:ea typeface="Segoe UI" charset="0"/>
              <a:cs typeface="Segoe UI" charset="0"/>
              <a:sym typeface="Trebuchet MS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30E99A6-3105-4954-ABD7-EB2F6D94567F}"/>
              </a:ext>
            </a:extLst>
          </p:cNvPr>
          <p:cNvGrpSpPr/>
          <p:nvPr/>
        </p:nvGrpSpPr>
        <p:grpSpPr>
          <a:xfrm>
            <a:off x="6399163" y="3869460"/>
            <a:ext cx="1706429" cy="461894"/>
            <a:chOff x="4648200" y="3086100"/>
            <a:chExt cx="3657600" cy="1169194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117FA63-75D6-499B-9240-BB412B62DC51}"/>
                </a:ext>
              </a:extLst>
            </p:cNvPr>
            <p:cNvCxnSpPr>
              <a:cxnSpLocks/>
            </p:cNvCxnSpPr>
            <p:nvPr/>
          </p:nvCxnSpPr>
          <p:spPr>
            <a:xfrm>
              <a:off x="4648200" y="3086100"/>
              <a:ext cx="0" cy="116919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8B199337-F2EF-4E4F-BCE9-2034B6F1F0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8200" y="3086100"/>
              <a:ext cx="3657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E9ECB595-D9A3-4859-9951-204AE05E8494}"/>
              </a:ext>
            </a:extLst>
          </p:cNvPr>
          <p:cNvSpPr/>
          <p:nvPr/>
        </p:nvSpPr>
        <p:spPr>
          <a:xfrm>
            <a:off x="5681277" y="3287338"/>
            <a:ext cx="6351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sz="2800" dirty="0">
                <a:solidFill>
                  <a:prstClr val="black"/>
                </a:solidFill>
                <a:ea typeface="Segoe UI" charset="0"/>
                <a:cs typeface="Segoe UI" charset="0"/>
                <a:sym typeface="Trebuchet MS"/>
              </a:rPr>
              <a:t>2</a:t>
            </a:r>
            <a:r>
              <a:rPr lang="en-US" sz="2800" baseline="-25000" dirty="0">
                <a:solidFill>
                  <a:prstClr val="black"/>
                </a:solidFill>
                <a:ea typeface="Segoe UI" charset="0"/>
                <a:cs typeface="Segoe UI" charset="0"/>
                <a:sym typeface="Trebuchet MS"/>
              </a:rPr>
              <a:t>10</a:t>
            </a:r>
            <a:endParaRPr lang="en" sz="2800" baseline="-25000" dirty="0">
              <a:solidFill>
                <a:prstClr val="black"/>
              </a:solidFill>
              <a:ea typeface="Segoe UI" charset="0"/>
              <a:cs typeface="Segoe UI" charset="0"/>
              <a:sym typeface="Trebuchet MS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93C0B0C-CF97-4E44-927E-337BA7BE61AD}"/>
              </a:ext>
            </a:extLst>
          </p:cNvPr>
          <p:cNvGrpSpPr/>
          <p:nvPr/>
        </p:nvGrpSpPr>
        <p:grpSpPr>
          <a:xfrm>
            <a:off x="6399163" y="3318001"/>
            <a:ext cx="1706429" cy="461894"/>
            <a:chOff x="4648200" y="3086100"/>
            <a:chExt cx="3657600" cy="1169194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1DE0335-673E-4025-B007-EA8A576407B7}"/>
                </a:ext>
              </a:extLst>
            </p:cNvPr>
            <p:cNvCxnSpPr>
              <a:cxnSpLocks/>
            </p:cNvCxnSpPr>
            <p:nvPr/>
          </p:nvCxnSpPr>
          <p:spPr>
            <a:xfrm>
              <a:off x="4648200" y="3086100"/>
              <a:ext cx="0" cy="116919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D41BEA1-B537-478F-985C-7BCE506506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8200" y="3086100"/>
              <a:ext cx="3657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Rectangle 56">
            <a:extLst>
              <a:ext uri="{FF2B5EF4-FFF2-40B4-BE49-F238E27FC236}">
                <a16:creationId xmlns:a16="http://schemas.microsoft.com/office/drawing/2014/main" id="{4F0B390A-D41F-4DDD-998F-66D097C08B64}"/>
              </a:ext>
            </a:extLst>
          </p:cNvPr>
          <p:cNvSpPr/>
          <p:nvPr/>
        </p:nvSpPr>
        <p:spPr>
          <a:xfrm>
            <a:off x="5687965" y="2752506"/>
            <a:ext cx="6351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sz="2800" dirty="0">
                <a:solidFill>
                  <a:prstClr val="black"/>
                </a:solidFill>
                <a:ea typeface="Segoe UI" charset="0"/>
                <a:cs typeface="Segoe UI" charset="0"/>
                <a:sym typeface="Trebuchet MS"/>
              </a:rPr>
              <a:t>2</a:t>
            </a:r>
            <a:r>
              <a:rPr lang="en-US" sz="2800" baseline="-25000" dirty="0">
                <a:solidFill>
                  <a:prstClr val="black"/>
                </a:solidFill>
                <a:ea typeface="Segoe UI" charset="0"/>
                <a:cs typeface="Segoe UI" charset="0"/>
                <a:sym typeface="Trebuchet MS"/>
              </a:rPr>
              <a:t>10</a:t>
            </a:r>
            <a:endParaRPr lang="en" sz="2800" baseline="-25000" dirty="0">
              <a:solidFill>
                <a:prstClr val="black"/>
              </a:solidFill>
              <a:ea typeface="Segoe UI" charset="0"/>
              <a:cs typeface="Segoe UI" charset="0"/>
              <a:sym typeface="Trebuchet MS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774A804-B1B2-426B-BA7F-8BEC63BA086B}"/>
              </a:ext>
            </a:extLst>
          </p:cNvPr>
          <p:cNvGrpSpPr/>
          <p:nvPr/>
        </p:nvGrpSpPr>
        <p:grpSpPr>
          <a:xfrm>
            <a:off x="6399163" y="2780403"/>
            <a:ext cx="1706429" cy="461894"/>
            <a:chOff x="4648200" y="3086100"/>
            <a:chExt cx="3657600" cy="1169194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710AA5B-5ACE-4D38-B9B9-D0D289FBC681}"/>
                </a:ext>
              </a:extLst>
            </p:cNvPr>
            <p:cNvCxnSpPr>
              <a:cxnSpLocks/>
            </p:cNvCxnSpPr>
            <p:nvPr/>
          </p:nvCxnSpPr>
          <p:spPr>
            <a:xfrm>
              <a:off x="4648200" y="3086100"/>
              <a:ext cx="0" cy="116919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5266655D-3D03-489E-9044-F917646F95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8200" y="3086100"/>
              <a:ext cx="3657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21E389DA-9131-49AC-A1A7-A875E5991374}"/>
              </a:ext>
            </a:extLst>
          </p:cNvPr>
          <p:cNvSpPr/>
          <p:nvPr/>
        </p:nvSpPr>
        <p:spPr>
          <a:xfrm>
            <a:off x="5687965" y="2241608"/>
            <a:ext cx="6351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sz="2800" dirty="0">
                <a:solidFill>
                  <a:prstClr val="black"/>
                </a:solidFill>
                <a:ea typeface="Segoe UI" charset="0"/>
                <a:cs typeface="Segoe UI" charset="0"/>
                <a:sym typeface="Trebuchet MS"/>
              </a:rPr>
              <a:t>2</a:t>
            </a:r>
            <a:r>
              <a:rPr lang="en-US" sz="2800" baseline="-25000" dirty="0">
                <a:solidFill>
                  <a:prstClr val="black"/>
                </a:solidFill>
                <a:ea typeface="Segoe UI" charset="0"/>
                <a:cs typeface="Segoe UI" charset="0"/>
                <a:sym typeface="Trebuchet MS"/>
              </a:rPr>
              <a:t>10</a:t>
            </a:r>
            <a:endParaRPr lang="en" sz="2800" baseline="-25000" dirty="0">
              <a:solidFill>
                <a:prstClr val="black"/>
              </a:solidFill>
              <a:ea typeface="Segoe UI" charset="0"/>
              <a:cs typeface="Segoe UI" charset="0"/>
              <a:sym typeface="Trebuchet MS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51057EF-E83B-4DA7-BEA0-C7F99FFCC6E5}"/>
              </a:ext>
            </a:extLst>
          </p:cNvPr>
          <p:cNvGrpSpPr/>
          <p:nvPr/>
        </p:nvGrpSpPr>
        <p:grpSpPr>
          <a:xfrm>
            <a:off x="6399163" y="2233867"/>
            <a:ext cx="1706429" cy="461894"/>
            <a:chOff x="4648200" y="3086100"/>
            <a:chExt cx="3657600" cy="1169194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96B2A351-84A8-4B76-97AB-736A7783CE15}"/>
                </a:ext>
              </a:extLst>
            </p:cNvPr>
            <p:cNvCxnSpPr>
              <a:cxnSpLocks/>
            </p:cNvCxnSpPr>
            <p:nvPr/>
          </p:nvCxnSpPr>
          <p:spPr>
            <a:xfrm>
              <a:off x="4648200" y="3086100"/>
              <a:ext cx="0" cy="116919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94863AB8-3EB8-4A1C-B270-7574E327BF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8200" y="3086100"/>
              <a:ext cx="3657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A367043-DA17-4CBB-958B-B800FDCC5D32}"/>
              </a:ext>
            </a:extLst>
          </p:cNvPr>
          <p:cNvCxnSpPr>
            <a:cxnSpLocks/>
          </p:cNvCxnSpPr>
          <p:nvPr/>
        </p:nvCxnSpPr>
        <p:spPr>
          <a:xfrm>
            <a:off x="8883107" y="1714696"/>
            <a:ext cx="0" cy="21122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880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Bits, bytes, nibbles, and 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400" y="868680"/>
            <a:ext cx="8991600" cy="452628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</a:t>
            </a:r>
            <a:r>
              <a:rPr lang="en-US" b="1" i="1" dirty="0"/>
              <a:t>bit</a:t>
            </a:r>
            <a:r>
              <a:rPr lang="en-US" dirty="0"/>
              <a:t> is one binary digit, and its unit is </a:t>
            </a:r>
            <a:r>
              <a:rPr lang="en-US" b="1" dirty="0"/>
              <a:t>lowercase</a:t>
            </a:r>
            <a:r>
              <a:rPr lang="en-US" dirty="0"/>
              <a:t> b.</a:t>
            </a:r>
            <a:br>
              <a:rPr lang="en-US" dirty="0"/>
            </a:br>
            <a:endParaRPr lang="en-US" dirty="0"/>
          </a:p>
          <a:p>
            <a:r>
              <a:rPr lang="en-US" dirty="0"/>
              <a:t>A </a:t>
            </a:r>
            <a:r>
              <a:rPr lang="en-US" b="1" i="1" dirty="0"/>
              <a:t>byte</a:t>
            </a:r>
            <a:r>
              <a:rPr lang="en-US" i="1" dirty="0"/>
              <a:t> </a:t>
            </a:r>
            <a:r>
              <a:rPr lang="en-US" dirty="0"/>
              <a:t>is an 8-bit value, and its unit is </a:t>
            </a:r>
            <a:r>
              <a:rPr lang="en-US" b="1" dirty="0"/>
              <a:t>UPPERCASE </a:t>
            </a:r>
            <a:r>
              <a:rPr lang="en-US" dirty="0"/>
              <a:t>B.</a:t>
            </a:r>
          </a:p>
          <a:p>
            <a:pPr lvl="1"/>
            <a:r>
              <a:rPr lang="en-US" dirty="0"/>
              <a:t>This is (partially) why your 30 mega</a:t>
            </a:r>
            <a:r>
              <a:rPr lang="en-US" i="1" dirty="0"/>
              <a:t>bit </a:t>
            </a:r>
            <a:r>
              <a:rPr lang="en-US" dirty="0"/>
              <a:t>(Mbps) internet connection can only give you at most 3.57 mega</a:t>
            </a:r>
            <a:r>
              <a:rPr lang="en-US" i="1" dirty="0"/>
              <a:t>bytes </a:t>
            </a:r>
            <a:r>
              <a:rPr lang="en-US" dirty="0"/>
              <a:t>(MB) per second!</a:t>
            </a:r>
            <a:br>
              <a:rPr lang="en-US" dirty="0"/>
            </a:br>
            <a:endParaRPr lang="en-US" dirty="0"/>
          </a:p>
          <a:p>
            <a:r>
              <a:rPr lang="en-US" dirty="0"/>
              <a:t>A </a:t>
            </a:r>
            <a:r>
              <a:rPr lang="en-US" b="1" i="1" dirty="0"/>
              <a:t>nibble</a:t>
            </a:r>
            <a:r>
              <a:rPr lang="en-US" dirty="0"/>
              <a:t> (also </a:t>
            </a:r>
            <a:r>
              <a:rPr lang="en-US" dirty="0" err="1"/>
              <a:t>nybble</a:t>
            </a:r>
            <a:r>
              <a:rPr lang="en-US" dirty="0"/>
              <a:t>) is 4 bits</a:t>
            </a:r>
          </a:p>
          <a:p>
            <a:pPr lvl="1"/>
            <a:r>
              <a:rPr lang="en-US" dirty="0"/>
              <a:t>Corresponds nicely to a single hex digit.</a:t>
            </a:r>
          </a:p>
          <a:p>
            <a:pPr lvl="1"/>
            <a:endParaRPr lang="en-US" dirty="0"/>
          </a:p>
          <a:p>
            <a:r>
              <a:rPr lang="en-US" dirty="0"/>
              <a:t>A </a:t>
            </a:r>
            <a:r>
              <a:rPr lang="en-US" b="1" i="1" dirty="0"/>
              <a:t>word</a:t>
            </a:r>
            <a:r>
              <a:rPr lang="en-US" dirty="0"/>
              <a:t> is the "most comfortable size" of number for a CPU.</a:t>
            </a:r>
          </a:p>
          <a:p>
            <a:r>
              <a:rPr lang="en-US" dirty="0"/>
              <a:t>When we say "32-bit CPU," we mean its </a:t>
            </a:r>
            <a:r>
              <a:rPr lang="en-US" b="1" i="1" dirty="0"/>
              <a:t>word</a:t>
            </a:r>
            <a:r>
              <a:rPr lang="en-US" dirty="0"/>
              <a:t> size is 32 bits.</a:t>
            </a:r>
          </a:p>
          <a:p>
            <a:pPr lvl="1"/>
            <a:r>
              <a:rPr lang="en-US" dirty="0"/>
              <a:t>This means it can, for example, add two 32-bit numbers at once.</a:t>
            </a:r>
          </a:p>
          <a:p>
            <a:pPr lvl="1"/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BUT WATCH OUT:</a:t>
            </a:r>
          </a:p>
          <a:p>
            <a:pPr lvl="1"/>
            <a:r>
              <a:rPr lang="en-US" dirty="0"/>
              <a:t>Some things (Windows, x86) use </a:t>
            </a:r>
            <a:r>
              <a:rPr lang="en-US" b="1" dirty="0"/>
              <a:t>word</a:t>
            </a:r>
            <a:r>
              <a:rPr lang="en-US" dirty="0"/>
              <a:t> to mean </a:t>
            </a:r>
            <a:r>
              <a:rPr lang="en-US" b="1" dirty="0"/>
              <a:t>16 bits </a:t>
            </a:r>
            <a:r>
              <a:rPr lang="en-US" dirty="0"/>
              <a:t>and </a:t>
            </a:r>
            <a:r>
              <a:rPr lang="en-US" b="1" dirty="0"/>
              <a:t>double word </a:t>
            </a:r>
            <a:r>
              <a:rPr lang="en-US" dirty="0"/>
              <a:t>(or </a:t>
            </a:r>
            <a:r>
              <a:rPr lang="en-US" b="1" dirty="0" err="1"/>
              <a:t>dword</a:t>
            </a:r>
            <a:r>
              <a:rPr lang="en-US" dirty="0"/>
              <a:t>) to mean </a:t>
            </a:r>
            <a:r>
              <a:rPr lang="en-US" b="1" dirty="0"/>
              <a:t>32 bits.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75500" y="5296959"/>
            <a:ext cx="2286000" cy="304271"/>
          </a:xfrm>
        </p:spPr>
        <p:txBody>
          <a:bodyPr/>
          <a:lstStyle/>
          <a:p>
            <a:fld id="{3552B95B-556F-44BD-91A5-D80C1B9E2BB3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0307E8-64DF-4309-A88C-A91B35C1E31D}"/>
              </a:ext>
            </a:extLst>
          </p:cNvPr>
          <p:cNvSpPr/>
          <p:nvPr/>
        </p:nvSpPr>
        <p:spPr>
          <a:xfrm>
            <a:off x="4266148" y="2356784"/>
            <a:ext cx="1780103" cy="3970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980" dirty="0">
                <a:solidFill>
                  <a:srgbClr val="000000"/>
                </a:solidFill>
              </a:rPr>
              <a:t> </a:t>
            </a:r>
            <a:r>
              <a:rPr lang="mr-IN" sz="1980" dirty="0">
                <a:solidFill>
                  <a:srgbClr val="000000"/>
                </a:solidFill>
              </a:rPr>
              <a:t>–</a:t>
            </a:r>
            <a:r>
              <a:rPr lang="en-US" sz="1980" dirty="0">
                <a:solidFill>
                  <a:srgbClr val="000000"/>
                </a:solidFill>
              </a:rPr>
              <a:t> half of a byte</a:t>
            </a:r>
            <a:endParaRPr lang="en-GB" sz="1620" dirty="0"/>
          </a:p>
        </p:txBody>
      </p:sp>
    </p:spTree>
    <p:extLst>
      <p:ext uri="{BB962C8B-B14F-4D97-AF65-F5344CB8AC3E}">
        <p14:creationId xmlns:p14="http://schemas.microsoft.com/office/powerpoint/2010/main" val="1281760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binary? </a:t>
            </a:r>
            <a:r>
              <a:rPr lang="en-US" i="1" dirty="0" err="1"/>
              <a:t>Whynary</a:t>
            </a:r>
            <a:r>
              <a:rPr lang="en-US" i="1" dirty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500" y="690034"/>
            <a:ext cx="8763000" cy="4457436"/>
          </a:xfrm>
        </p:spPr>
        <p:txBody>
          <a:bodyPr>
            <a:normAutofit/>
          </a:bodyPr>
          <a:lstStyle/>
          <a:p>
            <a:r>
              <a:rPr lang="en-US" dirty="0"/>
              <a:t>Why indeed?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color is this?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175500" y="5296959"/>
            <a:ext cx="2286000" cy="304271"/>
          </a:xfrm>
        </p:spPr>
        <p:txBody>
          <a:bodyPr/>
          <a:lstStyle/>
          <a:p>
            <a:fld id="{3552B95B-556F-44BD-91A5-D80C1B9E2BB3}" type="slidenum">
              <a:rPr lang="en-US" smtClean="0"/>
              <a:pPr/>
              <a:t>15</a:t>
            </a:fld>
            <a:endParaRPr lang="en-US"/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2C327FEA-7E79-4E2A-923C-9D9D1F37FBA8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1378458"/>
          <a:ext cx="6096000" cy="333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403685291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977174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62012526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68481931"/>
                    </a:ext>
                  </a:extLst>
                </a:gridCol>
                <a:gridCol w="609602">
                  <a:extLst>
                    <a:ext uri="{9D8B030D-6E8A-4147-A177-3AD203B41FA5}">
                      <a16:colId xmlns:a16="http://schemas.microsoft.com/office/drawing/2014/main" val="2497379737"/>
                    </a:ext>
                  </a:extLst>
                </a:gridCol>
                <a:gridCol w="609598">
                  <a:extLst>
                    <a:ext uri="{9D8B030D-6E8A-4147-A177-3AD203B41FA5}">
                      <a16:colId xmlns:a16="http://schemas.microsoft.com/office/drawing/2014/main" val="140015599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8827747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8119533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982861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65874673"/>
                    </a:ext>
                  </a:extLst>
                </a:gridCol>
              </a:tblGrid>
              <a:tr h="333756">
                <a:tc>
                  <a:txBody>
                    <a:bodyPr/>
                    <a:lstStyle/>
                    <a:p>
                      <a:r>
                        <a:rPr lang="en-GB" sz="1200" dirty="0"/>
                        <a:t>0</a:t>
                      </a:r>
                    </a:p>
                  </a:txBody>
                  <a:tcPr marL="82296" marR="82296" marT="41148" marB="41148">
                    <a:solidFill>
                      <a:srgbClr val="DBC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 marL="82296" marR="82296" marT="41148" marB="41148">
                    <a:solidFill>
                      <a:srgbClr val="C59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2</a:t>
                      </a:r>
                    </a:p>
                  </a:txBody>
                  <a:tcPr marL="82296" marR="82296" marT="41148" marB="41148">
                    <a:solidFill>
                      <a:srgbClr val="BC9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3</a:t>
                      </a:r>
                    </a:p>
                  </a:txBody>
                  <a:tcPr marL="82296" marR="82296" marT="41148" marB="41148">
                    <a:solidFill>
                      <a:srgbClr val="AD7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4</a:t>
                      </a:r>
                    </a:p>
                  </a:txBody>
                  <a:tcPr marL="82296" marR="82296" marT="41148" marB="41148">
                    <a:solidFill>
                      <a:srgbClr val="A86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5</a:t>
                      </a:r>
                    </a:p>
                  </a:txBody>
                  <a:tcPr marL="82296" marR="82296" marT="41148" marB="41148">
                    <a:solidFill>
                      <a:srgbClr val="9C5A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6</a:t>
                      </a:r>
                    </a:p>
                  </a:txBody>
                  <a:tcPr marL="82296" marR="82296" marT="41148" marB="41148">
                    <a:solidFill>
                      <a:srgbClr val="9853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7</a:t>
                      </a:r>
                    </a:p>
                  </a:txBody>
                  <a:tcPr marL="82296" marR="82296" marT="41148" marB="41148">
                    <a:solidFill>
                      <a:srgbClr val="8A3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8</a:t>
                      </a:r>
                    </a:p>
                  </a:txBody>
                  <a:tcPr marL="82296" marR="82296" marT="41148" marB="41148">
                    <a:solidFill>
                      <a:srgbClr val="792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9</a:t>
                      </a:r>
                    </a:p>
                  </a:txBody>
                  <a:tcPr marL="82296" marR="82296" marT="41148" marB="41148">
                    <a:solidFill>
                      <a:srgbClr val="651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264594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BF7C8A5C-24AB-41C6-9015-482B6A6D9F7C}"/>
              </a:ext>
            </a:extLst>
          </p:cNvPr>
          <p:cNvSpPr/>
          <p:nvPr/>
        </p:nvSpPr>
        <p:spPr>
          <a:xfrm>
            <a:off x="4494784" y="3472434"/>
            <a:ext cx="868680" cy="864108"/>
          </a:xfrm>
          <a:prstGeom prst="rect">
            <a:avLst/>
          </a:prstGeom>
          <a:solidFill>
            <a:srgbClr val="9C5AE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20"/>
          </a:p>
        </p:txBody>
      </p:sp>
    </p:spTree>
    <p:extLst>
      <p:ext uri="{BB962C8B-B14F-4D97-AF65-F5344CB8AC3E}">
        <p14:creationId xmlns:p14="http://schemas.microsoft.com/office/powerpoint/2010/main" val="15572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binary? </a:t>
            </a:r>
            <a:r>
              <a:rPr lang="en-US" i="1" dirty="0" err="1"/>
              <a:t>Whynary</a:t>
            </a:r>
            <a:r>
              <a:rPr lang="en-US" i="1" dirty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500" y="715434"/>
            <a:ext cx="8763000" cy="4432036"/>
          </a:xfrm>
        </p:spPr>
        <p:txBody>
          <a:bodyPr>
            <a:normAutofit/>
          </a:bodyPr>
          <a:lstStyle/>
          <a:p>
            <a:r>
              <a:rPr lang="en-US" dirty="0"/>
              <a:t>Why indeed?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color is this?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175500" y="5296959"/>
            <a:ext cx="2286000" cy="304271"/>
          </a:xfrm>
        </p:spPr>
        <p:txBody>
          <a:bodyPr/>
          <a:lstStyle/>
          <a:p>
            <a:fld id="{3552B95B-556F-44BD-91A5-D80C1B9E2BB3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2C327FEA-7E79-4E2A-923C-9D9D1F37FBA8}"/>
              </a:ext>
            </a:extLst>
          </p:cNvPr>
          <p:cNvGraphicFramePr>
            <a:graphicFrameLocks noGrp="1"/>
          </p:cNvGraphicFramePr>
          <p:nvPr/>
        </p:nvGraphicFramePr>
        <p:xfrm>
          <a:off x="4319525" y="1393504"/>
          <a:ext cx="1219200" cy="333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403685291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65874673"/>
                    </a:ext>
                  </a:extLst>
                </a:gridCol>
              </a:tblGrid>
              <a:tr h="333756">
                <a:tc>
                  <a:txBody>
                    <a:bodyPr/>
                    <a:lstStyle/>
                    <a:p>
                      <a:r>
                        <a:rPr lang="en-GB" sz="1200" dirty="0"/>
                        <a:t>0</a:t>
                      </a:r>
                    </a:p>
                  </a:txBody>
                  <a:tcPr marL="82296" marR="82296" marT="41148" marB="41148">
                    <a:solidFill>
                      <a:srgbClr val="DBC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 marL="82296" marR="82296" marT="41148" marB="41148">
                    <a:solidFill>
                      <a:srgbClr val="651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264594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BF7C8A5C-24AB-41C6-9015-482B6A6D9F7C}"/>
              </a:ext>
            </a:extLst>
          </p:cNvPr>
          <p:cNvSpPr/>
          <p:nvPr/>
        </p:nvSpPr>
        <p:spPr>
          <a:xfrm>
            <a:off x="4494784" y="3457388"/>
            <a:ext cx="868680" cy="864108"/>
          </a:xfrm>
          <a:prstGeom prst="rect">
            <a:avLst/>
          </a:prstGeom>
          <a:solidFill>
            <a:srgbClr val="651CB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20"/>
          </a:p>
        </p:txBody>
      </p:sp>
    </p:spTree>
    <p:extLst>
      <p:ext uri="{BB962C8B-B14F-4D97-AF65-F5344CB8AC3E}">
        <p14:creationId xmlns:p14="http://schemas.microsoft.com/office/powerpoint/2010/main" val="1381164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6654E9-DD9B-4875-82DF-9EAE5088D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Representation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3C4BF5-6F07-48CD-90D4-C0AA4B521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541" y="967740"/>
            <a:ext cx="2994660" cy="445814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Computers translate electrical signals to either 0 or 1.</a:t>
            </a:r>
          </a:p>
          <a:p>
            <a:endParaRPr lang="en-US" dirty="0"/>
          </a:p>
          <a:p>
            <a:r>
              <a:rPr lang="en-US" dirty="0"/>
              <a:t>It is relatively easy to devise electronics that operate this way.</a:t>
            </a:r>
          </a:p>
          <a:p>
            <a:endParaRPr lang="en-US" dirty="0"/>
          </a:p>
          <a:p>
            <a:r>
              <a:rPr lang="en-US" dirty="0"/>
              <a:t>In reality, there is no such thing as “binary” so we often have to approximate and mitigate error.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D328AF-D999-4D65-AC55-587CF88E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75500" y="5296959"/>
            <a:ext cx="2286000" cy="304271"/>
          </a:xfrm>
        </p:spPr>
        <p:txBody>
          <a:bodyPr/>
          <a:lstStyle/>
          <a:p>
            <a:fld id="{B4AAD609-F83C-4414-814B-B5A2DF99692C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B66B3F5C-360F-4DEF-8C53-545ADB2D2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443" y="967741"/>
            <a:ext cx="5479732" cy="4109799"/>
          </a:xfrm>
          <a:prstGeom prst="rect">
            <a:avLst/>
          </a:prstGeom>
          <a:noFill/>
          <a:ln w="38100">
            <a:solidFill>
              <a:srgbClr val="4C6FA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57B6642F-C2DD-4945-8B42-A790A9D8D94C}"/>
              </a:ext>
            </a:extLst>
          </p:cNvPr>
          <p:cNvSpPr txBox="1">
            <a:spLocks/>
          </p:cNvSpPr>
          <p:nvPr/>
        </p:nvSpPr>
        <p:spPr>
          <a:xfrm>
            <a:off x="4139847" y="5111471"/>
            <a:ext cx="5276924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Lato Hairline" panose="020F0502020204030203" pitchFamily="34" charset="0"/>
                <a:ea typeface="Lato Hairline" panose="020F0502020204030203" pitchFamily="34" charset="0"/>
                <a:cs typeface="Lato Hairline" panose="020F0502020204030203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Oscilloscope visualization of several digital wires. From @</a:t>
            </a:r>
            <a:r>
              <a:rPr lang="en-US" dirty="0" err="1"/>
              <a:t>computerfact</a:t>
            </a:r>
            <a:r>
              <a:rPr lang="en-US" dirty="0"/>
              <a:t> on Twitter.</a:t>
            </a:r>
          </a:p>
        </p:txBody>
      </p:sp>
    </p:spTree>
    <p:extLst>
      <p:ext uri="{BB962C8B-B14F-4D97-AF65-F5344CB8AC3E}">
        <p14:creationId xmlns:p14="http://schemas.microsoft.com/office/powerpoint/2010/main" val="36165873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85FC0-708F-44E8-B7C5-6179292E9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Everything in a computer is a number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147FC7-87D2-479B-A596-8F547ABC6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500" y="808568"/>
            <a:ext cx="8763000" cy="433890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So, everything on a computer is represented in binary.</a:t>
            </a:r>
          </a:p>
          <a:p>
            <a:pPr lvl="1"/>
            <a:r>
              <a:rPr lang="en-US" b="1" dirty="0"/>
              <a:t>everything.</a:t>
            </a:r>
          </a:p>
          <a:p>
            <a:pPr marL="470631" lvl="2" indent="0">
              <a:buNone/>
            </a:pPr>
            <a:r>
              <a:rPr lang="en-US" b="1" dirty="0"/>
              <a:t>01100101 01110110 01100101 01110010 01111001 01110100 01101000 01101001 01101110 01100111 00001010 00000000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Java strings are encoded using </a:t>
            </a:r>
            <a:r>
              <a:rPr lang="en-US" b="1" dirty="0"/>
              <a:t>UTF-16</a:t>
            </a:r>
          </a:p>
          <a:p>
            <a:pPr lvl="1"/>
            <a:r>
              <a:rPr lang="en-GB" dirty="0"/>
              <a:t>Most letters and numbers in the English alphabet are &lt; 128.</a:t>
            </a:r>
          </a:p>
          <a:p>
            <a:pPr lvl="1"/>
            <a:r>
              <a:rPr lang="en-GB" dirty="0"/>
              <a:t>“Strings are numbers”</a:t>
            </a:r>
          </a:p>
          <a:p>
            <a:pPr lvl="2"/>
            <a:r>
              <a:rPr lang="en-GB" b="1" dirty="0"/>
              <a:t>83 116 114 105 110 103 115 32 97 114 101 32 110 117 109 98 101 114 115 0</a:t>
            </a:r>
            <a:br>
              <a:rPr lang="en-GB" b="1" dirty="0"/>
            </a:br>
            <a:endParaRPr lang="en-GB" b="1" dirty="0"/>
          </a:p>
          <a:p>
            <a:r>
              <a:rPr lang="en-GB" b="1" dirty="0"/>
              <a:t>ASCII </a:t>
            </a:r>
            <a:r>
              <a:rPr lang="en-GB" dirty="0"/>
              <a:t>is also pretty common (the best kind of common)</a:t>
            </a:r>
          </a:p>
          <a:p>
            <a:pPr lvl="1"/>
            <a:r>
              <a:rPr lang="en-GB" dirty="0"/>
              <a:t>That’s what we will be using </a:t>
            </a:r>
            <a:r>
              <a:rPr lang="en-GB" dirty="0">
                <a:sym typeface="Wingdings" panose="05000000000000000000" pitchFamily="2" charset="2"/>
              </a:rPr>
              <a:t> 8 bit numbers represent characters</a:t>
            </a:r>
          </a:p>
          <a:p>
            <a:pPr lvl="1"/>
            <a:r>
              <a:rPr lang="en-GB" dirty="0"/>
              <a:t>Letters and numbers (and most/all ascii characters) have the same value as UTF-16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C9105B-20B2-4060-86EE-2FB41C0FE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75500" y="5296959"/>
            <a:ext cx="2286000" cy="304271"/>
          </a:xfrm>
        </p:spPr>
        <p:txBody>
          <a:bodyPr/>
          <a:lstStyle/>
          <a:p>
            <a:fld id="{B4AAD609-F83C-4414-814B-B5A2DF99692C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362C7FB-9911-4E53-8F6A-0A5B45A7875D}"/>
              </a:ext>
            </a:extLst>
          </p:cNvPr>
          <p:cNvSpPr txBox="1">
            <a:spLocks/>
          </p:cNvSpPr>
          <p:nvPr/>
        </p:nvSpPr>
        <p:spPr>
          <a:xfrm>
            <a:off x="4737100" y="4983813"/>
            <a:ext cx="6007608" cy="626292"/>
          </a:xfrm>
          <a:prstGeom prst="rect">
            <a:avLst/>
          </a:prstGeom>
        </p:spPr>
        <p:txBody>
          <a:bodyPr vert="horz" lIns="82296" tIns="41148" rIns="82296" bIns="41148" rtlCol="0">
            <a:normAutofit fontScale="92500" lnSpcReduction="20000"/>
          </a:bodyPr>
          <a:lstStyle>
            <a:lvl1pPr marL="190492" indent="-190492" algn="l" defTabSz="761970" rtl="0" eaLnBrk="1" latinLnBrk="0" hangingPunct="1">
              <a:lnSpc>
                <a:spcPct val="90000"/>
              </a:lnSpc>
              <a:spcBef>
                <a:spcPts val="833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333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761970" rtl="0" eaLnBrk="1" latinLnBrk="0" hangingPunct="1">
              <a:lnSpc>
                <a:spcPct val="90000"/>
              </a:lnSpc>
              <a:spcBef>
                <a:spcPts val="417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952462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667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333447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714431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2095416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76401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57386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38370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100" b="1" dirty="0"/>
              <a:t>Do try this at home: what does this mean? </a:t>
            </a:r>
          </a:p>
          <a:p>
            <a:r>
              <a:rPr lang="en-GB" sz="2100" b="1" dirty="0"/>
              <a:t>71 111 111 100 32 74 111 98 0</a:t>
            </a:r>
          </a:p>
        </p:txBody>
      </p:sp>
    </p:spTree>
    <p:extLst>
      <p:ext uri="{BB962C8B-B14F-4D97-AF65-F5344CB8AC3E}">
        <p14:creationId xmlns:p14="http://schemas.microsoft.com/office/powerpoint/2010/main" val="37913094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Hexadecimal – Base 16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B45BAF-914E-447F-835F-6EF7A9626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binary shorthand</a:t>
            </a:r>
          </a:p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7713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68DEA-2498-480D-8140-14E3642E3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Hexadecimal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7FE981-AB3B-477F-957E-55E8AC824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75500" y="5296959"/>
            <a:ext cx="2286000" cy="304271"/>
          </a:xfrm>
        </p:spPr>
        <p:txBody>
          <a:bodyPr/>
          <a:lstStyle/>
          <a:p>
            <a:fld id="{B4AAD609-F83C-4414-814B-B5A2DF99692C}" type="slidenum">
              <a:rPr lang="en-US" smtClean="0"/>
              <a:pPr/>
              <a:t>20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E09703E-EE2E-4140-AEBD-C9912BBDF82C}"/>
              </a:ext>
            </a:extLst>
          </p:cNvPr>
          <p:cNvGrpSpPr>
            <a:grpSpLocks/>
          </p:cNvGrpSpPr>
          <p:nvPr/>
        </p:nvGrpSpPr>
        <p:grpSpPr bwMode="auto">
          <a:xfrm>
            <a:off x="6787256" y="794425"/>
            <a:ext cx="2253222" cy="4691719"/>
            <a:chOff x="0" y="206"/>
            <a:chExt cx="1139" cy="268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4BAB06C-5F4F-45B1-8621-E996AA90F1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511"/>
              <a:ext cx="1104" cy="2377"/>
              <a:chOff x="0" y="4"/>
              <a:chExt cx="1104" cy="2377"/>
            </a:xfrm>
          </p:grpSpPr>
          <p:grpSp>
            <p:nvGrpSpPr>
              <p:cNvPr id="11" name="Group 7">
                <a:extLst>
                  <a:ext uri="{FF2B5EF4-FFF2-40B4-BE49-F238E27FC236}">
                    <a16:creationId xmlns:a16="http://schemas.microsoft.com/office/drawing/2014/main" id="{0DD7E056-D2CE-4CCC-8C0D-8474DD3664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"/>
                <a:ext cx="288" cy="217"/>
                <a:chOff x="0" y="4"/>
                <a:chExt cx="288" cy="217"/>
              </a:xfrm>
            </p:grpSpPr>
            <p:sp>
              <p:nvSpPr>
                <p:cNvPr id="153" name="Rectangle 8">
                  <a:extLst>
                    <a:ext uri="{FF2B5EF4-FFF2-40B4-BE49-F238E27FC236}">
                      <a16:creationId xmlns:a16="http://schemas.microsoft.com/office/drawing/2014/main" id="{3E5E0E25-1055-4721-BE03-5BB5E9B7B0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54" name="Rectangle 9">
                  <a:extLst>
                    <a:ext uri="{FF2B5EF4-FFF2-40B4-BE49-F238E27FC236}">
                      <a16:creationId xmlns:a16="http://schemas.microsoft.com/office/drawing/2014/main" id="{C658553A-08F0-4969-9889-EC57FBF775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" y="4"/>
                  <a:ext cx="134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 dirty="0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</a:t>
                  </a:r>
                </a:p>
              </p:txBody>
            </p:sp>
          </p:grpSp>
          <p:grpSp>
            <p:nvGrpSpPr>
              <p:cNvPr id="12" name="Group 10">
                <a:extLst>
                  <a:ext uri="{FF2B5EF4-FFF2-40B4-BE49-F238E27FC236}">
                    <a16:creationId xmlns:a16="http://schemas.microsoft.com/office/drawing/2014/main" id="{1C7599A3-8DD2-424D-B520-C5C28EC0B5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" y="4"/>
                <a:ext cx="288" cy="217"/>
                <a:chOff x="0" y="4"/>
                <a:chExt cx="288" cy="217"/>
              </a:xfrm>
            </p:grpSpPr>
            <p:sp>
              <p:nvSpPr>
                <p:cNvPr id="151" name="Rectangle 11">
                  <a:extLst>
                    <a:ext uri="{FF2B5EF4-FFF2-40B4-BE49-F238E27FC236}">
                      <a16:creationId xmlns:a16="http://schemas.microsoft.com/office/drawing/2014/main" id="{C3784332-CF72-42D2-9438-12278DA1FB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52" name="Rectangle 12">
                  <a:extLst>
                    <a:ext uri="{FF2B5EF4-FFF2-40B4-BE49-F238E27FC236}">
                      <a16:creationId xmlns:a16="http://schemas.microsoft.com/office/drawing/2014/main" id="{693152FA-B890-4F19-8B4B-F59DB61D8B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" y="4"/>
                  <a:ext cx="134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 dirty="0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</a:t>
                  </a:r>
                </a:p>
              </p:txBody>
            </p:sp>
          </p:grpSp>
          <p:grpSp>
            <p:nvGrpSpPr>
              <p:cNvPr id="13" name="Group 13">
                <a:extLst>
                  <a:ext uri="{FF2B5EF4-FFF2-40B4-BE49-F238E27FC236}">
                    <a16:creationId xmlns:a16="http://schemas.microsoft.com/office/drawing/2014/main" id="{7F6AF181-E51C-418B-BFDA-A2F4F22AD7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6" y="4"/>
                <a:ext cx="528" cy="217"/>
                <a:chOff x="0" y="4"/>
                <a:chExt cx="528" cy="217"/>
              </a:xfrm>
            </p:grpSpPr>
            <p:sp>
              <p:nvSpPr>
                <p:cNvPr id="149" name="Rectangle 14">
                  <a:extLst>
                    <a:ext uri="{FF2B5EF4-FFF2-40B4-BE49-F238E27FC236}">
                      <a16:creationId xmlns:a16="http://schemas.microsoft.com/office/drawing/2014/main" id="{D76CBF54-5556-45AB-AA0D-9B79E5A8F2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50" name="Rectangle 15">
                  <a:extLst>
                    <a:ext uri="{FF2B5EF4-FFF2-40B4-BE49-F238E27FC236}">
                      <a16:creationId xmlns:a16="http://schemas.microsoft.com/office/drawing/2014/main" id="{222D4A3A-722C-41E4-AFBD-FED516FD4E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5" y="4"/>
                  <a:ext cx="319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 dirty="0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0000</a:t>
                  </a:r>
                </a:p>
              </p:txBody>
            </p:sp>
          </p:grpSp>
          <p:grpSp>
            <p:nvGrpSpPr>
              <p:cNvPr id="14" name="Group 16">
                <a:extLst>
                  <a:ext uri="{FF2B5EF4-FFF2-40B4-BE49-F238E27FC236}">
                    <a16:creationId xmlns:a16="http://schemas.microsoft.com/office/drawing/2014/main" id="{AF0D3174-77BB-444E-9178-5B381888802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48"/>
                <a:ext cx="288" cy="217"/>
                <a:chOff x="0" y="4"/>
                <a:chExt cx="288" cy="217"/>
              </a:xfrm>
            </p:grpSpPr>
            <p:sp>
              <p:nvSpPr>
                <p:cNvPr id="147" name="Rectangle 17">
                  <a:extLst>
                    <a:ext uri="{FF2B5EF4-FFF2-40B4-BE49-F238E27FC236}">
                      <a16:creationId xmlns:a16="http://schemas.microsoft.com/office/drawing/2014/main" id="{3A54BF6C-853E-4005-AADD-0BCB547172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48" name="Rectangle 18">
                  <a:extLst>
                    <a:ext uri="{FF2B5EF4-FFF2-40B4-BE49-F238E27FC236}">
                      <a16:creationId xmlns:a16="http://schemas.microsoft.com/office/drawing/2014/main" id="{756DD3B3-A2D1-4D67-BE09-5190A36396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" y="4"/>
                  <a:ext cx="134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 dirty="0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</a:t>
                  </a:r>
                </a:p>
              </p:txBody>
            </p:sp>
          </p:grpSp>
          <p:grpSp>
            <p:nvGrpSpPr>
              <p:cNvPr id="15" name="Group 19">
                <a:extLst>
                  <a:ext uri="{FF2B5EF4-FFF2-40B4-BE49-F238E27FC236}">
                    <a16:creationId xmlns:a16="http://schemas.microsoft.com/office/drawing/2014/main" id="{5205739F-F3FA-4068-BC7F-7693474F2D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" y="148"/>
                <a:ext cx="288" cy="217"/>
                <a:chOff x="0" y="4"/>
                <a:chExt cx="288" cy="217"/>
              </a:xfrm>
            </p:grpSpPr>
            <p:sp>
              <p:nvSpPr>
                <p:cNvPr id="145" name="Rectangle 20">
                  <a:extLst>
                    <a:ext uri="{FF2B5EF4-FFF2-40B4-BE49-F238E27FC236}">
                      <a16:creationId xmlns:a16="http://schemas.microsoft.com/office/drawing/2014/main" id="{9395033F-0695-43AA-A259-3D06648C30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46" name="Rectangle 21">
                  <a:extLst>
                    <a:ext uri="{FF2B5EF4-FFF2-40B4-BE49-F238E27FC236}">
                      <a16:creationId xmlns:a16="http://schemas.microsoft.com/office/drawing/2014/main" id="{7B2203A5-B425-4F4F-8093-C6FCCD3926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" y="4"/>
                  <a:ext cx="134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</a:t>
                  </a:r>
                </a:p>
              </p:txBody>
            </p:sp>
          </p:grpSp>
          <p:grpSp>
            <p:nvGrpSpPr>
              <p:cNvPr id="16" name="Group 22">
                <a:extLst>
                  <a:ext uri="{FF2B5EF4-FFF2-40B4-BE49-F238E27FC236}">
                    <a16:creationId xmlns:a16="http://schemas.microsoft.com/office/drawing/2014/main" id="{40A2EA43-96F9-4B04-9D46-B4F55009E1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6" y="148"/>
                <a:ext cx="528" cy="217"/>
                <a:chOff x="0" y="4"/>
                <a:chExt cx="528" cy="217"/>
              </a:xfrm>
            </p:grpSpPr>
            <p:sp>
              <p:nvSpPr>
                <p:cNvPr id="143" name="Rectangle 23">
                  <a:extLst>
                    <a:ext uri="{FF2B5EF4-FFF2-40B4-BE49-F238E27FC236}">
                      <a16:creationId xmlns:a16="http://schemas.microsoft.com/office/drawing/2014/main" id="{C90CB9EB-621C-4F07-B3C9-E6AF6A0614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44" name="Rectangle 24">
                  <a:extLst>
                    <a:ext uri="{FF2B5EF4-FFF2-40B4-BE49-F238E27FC236}">
                      <a16:creationId xmlns:a16="http://schemas.microsoft.com/office/drawing/2014/main" id="{667D8C07-970A-43D0-88FA-E43BBE3095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5" y="4"/>
                  <a:ext cx="319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0001</a:t>
                  </a:r>
                </a:p>
              </p:txBody>
            </p:sp>
          </p:grpSp>
          <p:grpSp>
            <p:nvGrpSpPr>
              <p:cNvPr id="17" name="Group 25">
                <a:extLst>
                  <a:ext uri="{FF2B5EF4-FFF2-40B4-BE49-F238E27FC236}">
                    <a16:creationId xmlns:a16="http://schemas.microsoft.com/office/drawing/2014/main" id="{3B8DA7F7-61AC-47B0-8E5F-CC6D10962A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92"/>
                <a:ext cx="288" cy="217"/>
                <a:chOff x="0" y="4"/>
                <a:chExt cx="288" cy="217"/>
              </a:xfrm>
            </p:grpSpPr>
            <p:sp>
              <p:nvSpPr>
                <p:cNvPr id="141" name="Rectangle 26">
                  <a:extLst>
                    <a:ext uri="{FF2B5EF4-FFF2-40B4-BE49-F238E27FC236}">
                      <a16:creationId xmlns:a16="http://schemas.microsoft.com/office/drawing/2014/main" id="{40877DBD-8357-4AB8-8542-730AC7B1FE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42" name="Rectangle 27">
                  <a:extLst>
                    <a:ext uri="{FF2B5EF4-FFF2-40B4-BE49-F238E27FC236}">
                      <a16:creationId xmlns:a16="http://schemas.microsoft.com/office/drawing/2014/main" id="{533DAC09-162E-4101-9BE0-FAEB101880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" y="4"/>
                  <a:ext cx="134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 dirty="0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2</a:t>
                  </a:r>
                </a:p>
              </p:txBody>
            </p:sp>
          </p:grpSp>
          <p:grpSp>
            <p:nvGrpSpPr>
              <p:cNvPr id="18" name="Group 28">
                <a:extLst>
                  <a:ext uri="{FF2B5EF4-FFF2-40B4-BE49-F238E27FC236}">
                    <a16:creationId xmlns:a16="http://schemas.microsoft.com/office/drawing/2014/main" id="{2FC40279-3B5B-444D-8691-5BC911835B1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" y="292"/>
                <a:ext cx="288" cy="217"/>
                <a:chOff x="0" y="4"/>
                <a:chExt cx="288" cy="217"/>
              </a:xfrm>
            </p:grpSpPr>
            <p:sp>
              <p:nvSpPr>
                <p:cNvPr id="139" name="Rectangle 29">
                  <a:extLst>
                    <a:ext uri="{FF2B5EF4-FFF2-40B4-BE49-F238E27FC236}">
                      <a16:creationId xmlns:a16="http://schemas.microsoft.com/office/drawing/2014/main" id="{3330880D-9AC2-4E66-8CC7-83DD52F11C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40" name="Rectangle 30">
                  <a:extLst>
                    <a:ext uri="{FF2B5EF4-FFF2-40B4-BE49-F238E27FC236}">
                      <a16:creationId xmlns:a16="http://schemas.microsoft.com/office/drawing/2014/main" id="{BBE40A4C-F9E8-4377-AC02-9FE7B84C00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" y="4"/>
                  <a:ext cx="134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2</a:t>
                  </a:r>
                </a:p>
              </p:txBody>
            </p:sp>
          </p:grpSp>
          <p:grpSp>
            <p:nvGrpSpPr>
              <p:cNvPr id="19" name="Group 31">
                <a:extLst>
                  <a:ext uri="{FF2B5EF4-FFF2-40B4-BE49-F238E27FC236}">
                    <a16:creationId xmlns:a16="http://schemas.microsoft.com/office/drawing/2014/main" id="{52F0DCE4-ECDC-465B-85F9-1732FFAD0B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6" y="292"/>
                <a:ext cx="528" cy="217"/>
                <a:chOff x="0" y="4"/>
                <a:chExt cx="528" cy="217"/>
              </a:xfrm>
            </p:grpSpPr>
            <p:sp>
              <p:nvSpPr>
                <p:cNvPr id="137" name="Rectangle 32">
                  <a:extLst>
                    <a:ext uri="{FF2B5EF4-FFF2-40B4-BE49-F238E27FC236}">
                      <a16:creationId xmlns:a16="http://schemas.microsoft.com/office/drawing/2014/main" id="{E7B6A017-5574-4BD3-B4F5-D23DCA23F6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38" name="Rectangle 33">
                  <a:extLst>
                    <a:ext uri="{FF2B5EF4-FFF2-40B4-BE49-F238E27FC236}">
                      <a16:creationId xmlns:a16="http://schemas.microsoft.com/office/drawing/2014/main" id="{F86F32F9-2D7C-4068-8660-528B1A201B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5" y="4"/>
                  <a:ext cx="319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0010</a:t>
                  </a:r>
                </a:p>
              </p:txBody>
            </p:sp>
          </p:grpSp>
          <p:grpSp>
            <p:nvGrpSpPr>
              <p:cNvPr id="20" name="Group 34">
                <a:extLst>
                  <a:ext uri="{FF2B5EF4-FFF2-40B4-BE49-F238E27FC236}">
                    <a16:creationId xmlns:a16="http://schemas.microsoft.com/office/drawing/2014/main" id="{7DD6EE8B-321E-4B88-8E81-209C2D4985F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36"/>
                <a:ext cx="288" cy="217"/>
                <a:chOff x="0" y="4"/>
                <a:chExt cx="288" cy="217"/>
              </a:xfrm>
            </p:grpSpPr>
            <p:sp>
              <p:nvSpPr>
                <p:cNvPr id="135" name="Rectangle 35">
                  <a:extLst>
                    <a:ext uri="{FF2B5EF4-FFF2-40B4-BE49-F238E27FC236}">
                      <a16:creationId xmlns:a16="http://schemas.microsoft.com/office/drawing/2014/main" id="{520A7D7D-E410-4104-B2A0-43784495DA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36" name="Rectangle 36">
                  <a:extLst>
                    <a:ext uri="{FF2B5EF4-FFF2-40B4-BE49-F238E27FC236}">
                      <a16:creationId xmlns:a16="http://schemas.microsoft.com/office/drawing/2014/main" id="{13996FCC-4D71-4A0C-B0D3-5AB4FB050E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" y="4"/>
                  <a:ext cx="134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 dirty="0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3</a:t>
                  </a:r>
                </a:p>
              </p:txBody>
            </p:sp>
          </p:grpSp>
          <p:grpSp>
            <p:nvGrpSpPr>
              <p:cNvPr id="21" name="Group 37">
                <a:extLst>
                  <a:ext uri="{FF2B5EF4-FFF2-40B4-BE49-F238E27FC236}">
                    <a16:creationId xmlns:a16="http://schemas.microsoft.com/office/drawing/2014/main" id="{579ABB30-F524-4D15-9AD9-8017B1F400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" y="436"/>
                <a:ext cx="288" cy="217"/>
                <a:chOff x="0" y="4"/>
                <a:chExt cx="288" cy="217"/>
              </a:xfrm>
            </p:grpSpPr>
            <p:sp>
              <p:nvSpPr>
                <p:cNvPr id="133" name="Rectangle 38">
                  <a:extLst>
                    <a:ext uri="{FF2B5EF4-FFF2-40B4-BE49-F238E27FC236}">
                      <a16:creationId xmlns:a16="http://schemas.microsoft.com/office/drawing/2014/main" id="{2AAF7BCB-EBB8-4D13-BC1B-9B1423FF9D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34" name="Rectangle 39">
                  <a:extLst>
                    <a:ext uri="{FF2B5EF4-FFF2-40B4-BE49-F238E27FC236}">
                      <a16:creationId xmlns:a16="http://schemas.microsoft.com/office/drawing/2014/main" id="{C89B5CA1-1DC5-4C9B-800F-5B75094F95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" y="4"/>
                  <a:ext cx="134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3</a:t>
                  </a:r>
                </a:p>
              </p:txBody>
            </p:sp>
          </p:grpSp>
          <p:grpSp>
            <p:nvGrpSpPr>
              <p:cNvPr id="22" name="Group 40">
                <a:extLst>
                  <a:ext uri="{FF2B5EF4-FFF2-40B4-BE49-F238E27FC236}">
                    <a16:creationId xmlns:a16="http://schemas.microsoft.com/office/drawing/2014/main" id="{F9127D6B-CE3B-4F03-AD25-C54690E15F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6" y="436"/>
                <a:ext cx="528" cy="217"/>
                <a:chOff x="0" y="4"/>
                <a:chExt cx="528" cy="217"/>
              </a:xfrm>
            </p:grpSpPr>
            <p:sp>
              <p:nvSpPr>
                <p:cNvPr id="131" name="Rectangle 41">
                  <a:extLst>
                    <a:ext uri="{FF2B5EF4-FFF2-40B4-BE49-F238E27FC236}">
                      <a16:creationId xmlns:a16="http://schemas.microsoft.com/office/drawing/2014/main" id="{A5A447BD-8D24-4FE8-90D6-EE4A1E3AE9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32" name="Rectangle 42">
                  <a:extLst>
                    <a:ext uri="{FF2B5EF4-FFF2-40B4-BE49-F238E27FC236}">
                      <a16:creationId xmlns:a16="http://schemas.microsoft.com/office/drawing/2014/main" id="{6A6A5C96-E3A4-439C-B052-8FA98E5720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5" y="4"/>
                  <a:ext cx="319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 dirty="0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0011</a:t>
                  </a:r>
                </a:p>
              </p:txBody>
            </p:sp>
          </p:grpSp>
          <p:grpSp>
            <p:nvGrpSpPr>
              <p:cNvPr id="23" name="Group 43">
                <a:extLst>
                  <a:ext uri="{FF2B5EF4-FFF2-40B4-BE49-F238E27FC236}">
                    <a16:creationId xmlns:a16="http://schemas.microsoft.com/office/drawing/2014/main" id="{13A8BB02-A18D-4BD5-ABC2-B2BB0ADD47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580"/>
                <a:ext cx="288" cy="217"/>
                <a:chOff x="0" y="4"/>
                <a:chExt cx="288" cy="217"/>
              </a:xfrm>
            </p:grpSpPr>
            <p:sp>
              <p:nvSpPr>
                <p:cNvPr id="129" name="Rectangle 44">
                  <a:extLst>
                    <a:ext uri="{FF2B5EF4-FFF2-40B4-BE49-F238E27FC236}">
                      <a16:creationId xmlns:a16="http://schemas.microsoft.com/office/drawing/2014/main" id="{79A00FF3-A4D8-4FD6-AEB8-25BB5E90D4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30" name="Rectangle 45">
                  <a:extLst>
                    <a:ext uri="{FF2B5EF4-FFF2-40B4-BE49-F238E27FC236}">
                      <a16:creationId xmlns:a16="http://schemas.microsoft.com/office/drawing/2014/main" id="{0DFACE7B-998F-4C48-A624-349B059A75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" y="4"/>
                  <a:ext cx="134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 dirty="0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4</a:t>
                  </a:r>
                </a:p>
              </p:txBody>
            </p:sp>
          </p:grpSp>
          <p:grpSp>
            <p:nvGrpSpPr>
              <p:cNvPr id="24" name="Group 46">
                <a:extLst>
                  <a:ext uri="{FF2B5EF4-FFF2-40B4-BE49-F238E27FC236}">
                    <a16:creationId xmlns:a16="http://schemas.microsoft.com/office/drawing/2014/main" id="{A17FFCFD-7C53-4B0D-A169-9ECED0A34C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" y="580"/>
                <a:ext cx="288" cy="217"/>
                <a:chOff x="0" y="4"/>
                <a:chExt cx="288" cy="217"/>
              </a:xfrm>
            </p:grpSpPr>
            <p:sp>
              <p:nvSpPr>
                <p:cNvPr id="127" name="Rectangle 47">
                  <a:extLst>
                    <a:ext uri="{FF2B5EF4-FFF2-40B4-BE49-F238E27FC236}">
                      <a16:creationId xmlns:a16="http://schemas.microsoft.com/office/drawing/2014/main" id="{4853FCF4-A8C6-46EC-8777-FFD669A2B4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28" name="Rectangle 48">
                  <a:extLst>
                    <a:ext uri="{FF2B5EF4-FFF2-40B4-BE49-F238E27FC236}">
                      <a16:creationId xmlns:a16="http://schemas.microsoft.com/office/drawing/2014/main" id="{D137A54E-6424-4858-A99C-0D6F7CEE63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" y="4"/>
                  <a:ext cx="134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4</a:t>
                  </a:r>
                </a:p>
              </p:txBody>
            </p:sp>
          </p:grpSp>
          <p:grpSp>
            <p:nvGrpSpPr>
              <p:cNvPr id="25" name="Group 49">
                <a:extLst>
                  <a:ext uri="{FF2B5EF4-FFF2-40B4-BE49-F238E27FC236}">
                    <a16:creationId xmlns:a16="http://schemas.microsoft.com/office/drawing/2014/main" id="{8A3DFD97-4D4E-4B9C-8990-BCF711FC12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6" y="580"/>
                <a:ext cx="528" cy="217"/>
                <a:chOff x="0" y="4"/>
                <a:chExt cx="528" cy="217"/>
              </a:xfrm>
            </p:grpSpPr>
            <p:sp>
              <p:nvSpPr>
                <p:cNvPr id="125" name="Rectangle 50">
                  <a:extLst>
                    <a:ext uri="{FF2B5EF4-FFF2-40B4-BE49-F238E27FC236}">
                      <a16:creationId xmlns:a16="http://schemas.microsoft.com/office/drawing/2014/main" id="{74257B3C-B1F7-4752-9FEA-9876127330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26" name="Rectangle 51">
                  <a:extLst>
                    <a:ext uri="{FF2B5EF4-FFF2-40B4-BE49-F238E27FC236}">
                      <a16:creationId xmlns:a16="http://schemas.microsoft.com/office/drawing/2014/main" id="{8E5FA458-6A51-42CE-BF9C-7CF734011C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5" y="4"/>
                  <a:ext cx="319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0100</a:t>
                  </a:r>
                </a:p>
              </p:txBody>
            </p:sp>
          </p:grpSp>
          <p:grpSp>
            <p:nvGrpSpPr>
              <p:cNvPr id="26" name="Group 52">
                <a:extLst>
                  <a:ext uri="{FF2B5EF4-FFF2-40B4-BE49-F238E27FC236}">
                    <a16:creationId xmlns:a16="http://schemas.microsoft.com/office/drawing/2014/main" id="{C2C2EC79-9EA8-4779-9828-1500B6971D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724"/>
                <a:ext cx="288" cy="217"/>
                <a:chOff x="0" y="4"/>
                <a:chExt cx="288" cy="217"/>
              </a:xfrm>
            </p:grpSpPr>
            <p:sp>
              <p:nvSpPr>
                <p:cNvPr id="123" name="Rectangle 53">
                  <a:extLst>
                    <a:ext uri="{FF2B5EF4-FFF2-40B4-BE49-F238E27FC236}">
                      <a16:creationId xmlns:a16="http://schemas.microsoft.com/office/drawing/2014/main" id="{CE3C582E-AACF-4207-A15B-65D39F456F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24" name="Rectangle 54">
                  <a:extLst>
                    <a:ext uri="{FF2B5EF4-FFF2-40B4-BE49-F238E27FC236}">
                      <a16:creationId xmlns:a16="http://schemas.microsoft.com/office/drawing/2014/main" id="{2F36EB9F-FFB8-4C8B-8AF0-95D440CF16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" y="4"/>
                  <a:ext cx="134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 dirty="0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5</a:t>
                  </a:r>
                </a:p>
              </p:txBody>
            </p:sp>
          </p:grpSp>
          <p:grpSp>
            <p:nvGrpSpPr>
              <p:cNvPr id="27" name="Group 55">
                <a:extLst>
                  <a:ext uri="{FF2B5EF4-FFF2-40B4-BE49-F238E27FC236}">
                    <a16:creationId xmlns:a16="http://schemas.microsoft.com/office/drawing/2014/main" id="{34ADC7E8-25C4-4B71-87C3-8AA625308B5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" y="724"/>
                <a:ext cx="288" cy="217"/>
                <a:chOff x="0" y="4"/>
                <a:chExt cx="288" cy="217"/>
              </a:xfrm>
            </p:grpSpPr>
            <p:sp>
              <p:nvSpPr>
                <p:cNvPr id="121" name="Rectangle 56">
                  <a:extLst>
                    <a:ext uri="{FF2B5EF4-FFF2-40B4-BE49-F238E27FC236}">
                      <a16:creationId xmlns:a16="http://schemas.microsoft.com/office/drawing/2014/main" id="{F9921825-CAAB-4F79-9DE8-064A0668AA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22" name="Rectangle 57">
                  <a:extLst>
                    <a:ext uri="{FF2B5EF4-FFF2-40B4-BE49-F238E27FC236}">
                      <a16:creationId xmlns:a16="http://schemas.microsoft.com/office/drawing/2014/main" id="{E2DF1058-9D6F-418C-8903-47F8BA3D11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" y="4"/>
                  <a:ext cx="134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5</a:t>
                  </a:r>
                </a:p>
              </p:txBody>
            </p:sp>
          </p:grpSp>
          <p:grpSp>
            <p:nvGrpSpPr>
              <p:cNvPr id="28" name="Group 58">
                <a:extLst>
                  <a:ext uri="{FF2B5EF4-FFF2-40B4-BE49-F238E27FC236}">
                    <a16:creationId xmlns:a16="http://schemas.microsoft.com/office/drawing/2014/main" id="{F500C5F7-5C35-4E9A-9A95-076AE04AFD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6" y="724"/>
                <a:ext cx="528" cy="217"/>
                <a:chOff x="0" y="4"/>
                <a:chExt cx="528" cy="217"/>
              </a:xfrm>
            </p:grpSpPr>
            <p:sp>
              <p:nvSpPr>
                <p:cNvPr id="119" name="Rectangle 59">
                  <a:extLst>
                    <a:ext uri="{FF2B5EF4-FFF2-40B4-BE49-F238E27FC236}">
                      <a16:creationId xmlns:a16="http://schemas.microsoft.com/office/drawing/2014/main" id="{49E4EFDD-87E1-4BB2-832F-07F5D00B8D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20" name="Rectangle 60">
                  <a:extLst>
                    <a:ext uri="{FF2B5EF4-FFF2-40B4-BE49-F238E27FC236}">
                      <a16:creationId xmlns:a16="http://schemas.microsoft.com/office/drawing/2014/main" id="{47FC037D-1C8C-4F37-B8F7-22E0ACFAD3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5" y="4"/>
                  <a:ext cx="319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0101</a:t>
                  </a:r>
                </a:p>
              </p:txBody>
            </p:sp>
          </p:grpSp>
          <p:grpSp>
            <p:nvGrpSpPr>
              <p:cNvPr id="29" name="Group 61">
                <a:extLst>
                  <a:ext uri="{FF2B5EF4-FFF2-40B4-BE49-F238E27FC236}">
                    <a16:creationId xmlns:a16="http://schemas.microsoft.com/office/drawing/2014/main" id="{EB0C3B2F-5C69-4CF2-99D7-1C3725D6CA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868"/>
                <a:ext cx="288" cy="217"/>
                <a:chOff x="0" y="4"/>
                <a:chExt cx="288" cy="217"/>
              </a:xfrm>
            </p:grpSpPr>
            <p:sp>
              <p:nvSpPr>
                <p:cNvPr id="117" name="Rectangle 62">
                  <a:extLst>
                    <a:ext uri="{FF2B5EF4-FFF2-40B4-BE49-F238E27FC236}">
                      <a16:creationId xmlns:a16="http://schemas.microsoft.com/office/drawing/2014/main" id="{4524A362-4C78-4998-9A1C-FB760A11AA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18" name="Rectangle 63">
                  <a:extLst>
                    <a:ext uri="{FF2B5EF4-FFF2-40B4-BE49-F238E27FC236}">
                      <a16:creationId xmlns:a16="http://schemas.microsoft.com/office/drawing/2014/main" id="{B30DC95A-90FD-4156-820B-BB6BACA153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" y="4"/>
                  <a:ext cx="134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 dirty="0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6</a:t>
                  </a:r>
                </a:p>
              </p:txBody>
            </p:sp>
          </p:grpSp>
          <p:grpSp>
            <p:nvGrpSpPr>
              <p:cNvPr id="30" name="Group 64">
                <a:extLst>
                  <a:ext uri="{FF2B5EF4-FFF2-40B4-BE49-F238E27FC236}">
                    <a16:creationId xmlns:a16="http://schemas.microsoft.com/office/drawing/2014/main" id="{63E2C45C-C12E-4C9F-941D-AE5C003766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" y="868"/>
                <a:ext cx="288" cy="217"/>
                <a:chOff x="0" y="4"/>
                <a:chExt cx="288" cy="217"/>
              </a:xfrm>
            </p:grpSpPr>
            <p:sp>
              <p:nvSpPr>
                <p:cNvPr id="115" name="Rectangle 65">
                  <a:extLst>
                    <a:ext uri="{FF2B5EF4-FFF2-40B4-BE49-F238E27FC236}">
                      <a16:creationId xmlns:a16="http://schemas.microsoft.com/office/drawing/2014/main" id="{42C6CC02-D0A6-486F-8016-12D3E78128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16" name="Rectangle 66">
                  <a:extLst>
                    <a:ext uri="{FF2B5EF4-FFF2-40B4-BE49-F238E27FC236}">
                      <a16:creationId xmlns:a16="http://schemas.microsoft.com/office/drawing/2014/main" id="{C583F54F-CD18-4EF2-8478-9FC2546A43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" y="4"/>
                  <a:ext cx="134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6</a:t>
                  </a:r>
                </a:p>
              </p:txBody>
            </p:sp>
          </p:grpSp>
          <p:grpSp>
            <p:nvGrpSpPr>
              <p:cNvPr id="31" name="Group 67">
                <a:extLst>
                  <a:ext uri="{FF2B5EF4-FFF2-40B4-BE49-F238E27FC236}">
                    <a16:creationId xmlns:a16="http://schemas.microsoft.com/office/drawing/2014/main" id="{80104442-873F-4438-B15F-0D2C581E90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6" y="868"/>
                <a:ext cx="528" cy="217"/>
                <a:chOff x="0" y="4"/>
                <a:chExt cx="528" cy="217"/>
              </a:xfrm>
            </p:grpSpPr>
            <p:sp>
              <p:nvSpPr>
                <p:cNvPr id="113" name="Rectangle 68">
                  <a:extLst>
                    <a:ext uri="{FF2B5EF4-FFF2-40B4-BE49-F238E27FC236}">
                      <a16:creationId xmlns:a16="http://schemas.microsoft.com/office/drawing/2014/main" id="{B318164B-E50E-4C56-B649-13EBB35386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14" name="Rectangle 69">
                  <a:extLst>
                    <a:ext uri="{FF2B5EF4-FFF2-40B4-BE49-F238E27FC236}">
                      <a16:creationId xmlns:a16="http://schemas.microsoft.com/office/drawing/2014/main" id="{AA416479-EDEF-4E86-882C-102F8CDCF7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5" y="4"/>
                  <a:ext cx="319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0110</a:t>
                  </a:r>
                </a:p>
              </p:txBody>
            </p:sp>
          </p:grpSp>
          <p:grpSp>
            <p:nvGrpSpPr>
              <p:cNvPr id="32" name="Group 70">
                <a:extLst>
                  <a:ext uri="{FF2B5EF4-FFF2-40B4-BE49-F238E27FC236}">
                    <a16:creationId xmlns:a16="http://schemas.microsoft.com/office/drawing/2014/main" id="{0D485013-7FDE-476B-AB0C-D1CD7E3FB7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012"/>
                <a:ext cx="288" cy="217"/>
                <a:chOff x="0" y="4"/>
                <a:chExt cx="288" cy="217"/>
              </a:xfrm>
            </p:grpSpPr>
            <p:sp>
              <p:nvSpPr>
                <p:cNvPr id="111" name="Rectangle 71">
                  <a:extLst>
                    <a:ext uri="{FF2B5EF4-FFF2-40B4-BE49-F238E27FC236}">
                      <a16:creationId xmlns:a16="http://schemas.microsoft.com/office/drawing/2014/main" id="{B240F953-6E89-48CE-80A5-2C96F6D65D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12" name="Rectangle 72">
                  <a:extLst>
                    <a:ext uri="{FF2B5EF4-FFF2-40B4-BE49-F238E27FC236}">
                      <a16:creationId xmlns:a16="http://schemas.microsoft.com/office/drawing/2014/main" id="{0BAA13CC-5853-46D7-9715-58772F396E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" y="4"/>
                  <a:ext cx="134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7</a:t>
                  </a:r>
                </a:p>
              </p:txBody>
            </p:sp>
          </p:grpSp>
          <p:grpSp>
            <p:nvGrpSpPr>
              <p:cNvPr id="33" name="Group 73">
                <a:extLst>
                  <a:ext uri="{FF2B5EF4-FFF2-40B4-BE49-F238E27FC236}">
                    <a16:creationId xmlns:a16="http://schemas.microsoft.com/office/drawing/2014/main" id="{86E4C7E5-C6D1-4C51-B3D9-9A23F1C29F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" y="1012"/>
                <a:ext cx="288" cy="217"/>
                <a:chOff x="0" y="4"/>
                <a:chExt cx="288" cy="217"/>
              </a:xfrm>
            </p:grpSpPr>
            <p:sp>
              <p:nvSpPr>
                <p:cNvPr id="109" name="Rectangle 74">
                  <a:extLst>
                    <a:ext uri="{FF2B5EF4-FFF2-40B4-BE49-F238E27FC236}">
                      <a16:creationId xmlns:a16="http://schemas.microsoft.com/office/drawing/2014/main" id="{1C9455E6-DA27-422D-B2B8-EB66DF5E43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10" name="Rectangle 75">
                  <a:extLst>
                    <a:ext uri="{FF2B5EF4-FFF2-40B4-BE49-F238E27FC236}">
                      <a16:creationId xmlns:a16="http://schemas.microsoft.com/office/drawing/2014/main" id="{C8CD86F3-5269-4404-812B-2DEF11ABFD9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" y="4"/>
                  <a:ext cx="134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7</a:t>
                  </a:r>
                </a:p>
              </p:txBody>
            </p:sp>
          </p:grpSp>
          <p:grpSp>
            <p:nvGrpSpPr>
              <p:cNvPr id="34" name="Group 76">
                <a:extLst>
                  <a:ext uri="{FF2B5EF4-FFF2-40B4-BE49-F238E27FC236}">
                    <a16:creationId xmlns:a16="http://schemas.microsoft.com/office/drawing/2014/main" id="{0CE029FB-EBB2-4E30-896E-4361A74D1F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6" y="1012"/>
                <a:ext cx="528" cy="217"/>
                <a:chOff x="0" y="4"/>
                <a:chExt cx="528" cy="217"/>
              </a:xfrm>
            </p:grpSpPr>
            <p:sp>
              <p:nvSpPr>
                <p:cNvPr id="107" name="Rectangle 77">
                  <a:extLst>
                    <a:ext uri="{FF2B5EF4-FFF2-40B4-BE49-F238E27FC236}">
                      <a16:creationId xmlns:a16="http://schemas.microsoft.com/office/drawing/2014/main" id="{B43B44F8-425F-460C-805B-A25753AC6A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08" name="Rectangle 78">
                  <a:extLst>
                    <a:ext uri="{FF2B5EF4-FFF2-40B4-BE49-F238E27FC236}">
                      <a16:creationId xmlns:a16="http://schemas.microsoft.com/office/drawing/2014/main" id="{99E59DCD-E37C-43BB-84F5-3DF1AE3A81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5" y="4"/>
                  <a:ext cx="319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 dirty="0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0111</a:t>
                  </a:r>
                </a:p>
              </p:txBody>
            </p:sp>
          </p:grpSp>
          <p:grpSp>
            <p:nvGrpSpPr>
              <p:cNvPr id="35" name="Group 79">
                <a:extLst>
                  <a:ext uri="{FF2B5EF4-FFF2-40B4-BE49-F238E27FC236}">
                    <a16:creationId xmlns:a16="http://schemas.microsoft.com/office/drawing/2014/main" id="{60CFD81D-1A01-4CB3-97FD-ECAC690378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156"/>
                <a:ext cx="288" cy="217"/>
                <a:chOff x="0" y="4"/>
                <a:chExt cx="288" cy="217"/>
              </a:xfrm>
            </p:grpSpPr>
            <p:sp>
              <p:nvSpPr>
                <p:cNvPr id="105" name="Rectangle 80">
                  <a:extLst>
                    <a:ext uri="{FF2B5EF4-FFF2-40B4-BE49-F238E27FC236}">
                      <a16:creationId xmlns:a16="http://schemas.microsoft.com/office/drawing/2014/main" id="{5146153B-B61C-4AE9-8A3A-D44436ECF1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06" name="Rectangle 81">
                  <a:extLst>
                    <a:ext uri="{FF2B5EF4-FFF2-40B4-BE49-F238E27FC236}">
                      <a16:creationId xmlns:a16="http://schemas.microsoft.com/office/drawing/2014/main" id="{8E665FAD-5088-48F3-AF0F-017BA08E0D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" y="4"/>
                  <a:ext cx="134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8</a:t>
                  </a:r>
                </a:p>
              </p:txBody>
            </p:sp>
          </p:grpSp>
          <p:grpSp>
            <p:nvGrpSpPr>
              <p:cNvPr id="36" name="Group 82">
                <a:extLst>
                  <a:ext uri="{FF2B5EF4-FFF2-40B4-BE49-F238E27FC236}">
                    <a16:creationId xmlns:a16="http://schemas.microsoft.com/office/drawing/2014/main" id="{21C1FE1C-5C7C-4000-BBEF-A5F2AEED5E1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" y="1156"/>
                <a:ext cx="288" cy="217"/>
                <a:chOff x="0" y="4"/>
                <a:chExt cx="288" cy="217"/>
              </a:xfrm>
            </p:grpSpPr>
            <p:sp>
              <p:nvSpPr>
                <p:cNvPr id="103" name="Rectangle 83">
                  <a:extLst>
                    <a:ext uri="{FF2B5EF4-FFF2-40B4-BE49-F238E27FC236}">
                      <a16:creationId xmlns:a16="http://schemas.microsoft.com/office/drawing/2014/main" id="{733E173B-FEA1-4C84-BB82-208D6E082A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04" name="Rectangle 84">
                  <a:extLst>
                    <a:ext uri="{FF2B5EF4-FFF2-40B4-BE49-F238E27FC236}">
                      <a16:creationId xmlns:a16="http://schemas.microsoft.com/office/drawing/2014/main" id="{0BF45402-8219-418D-BA75-0836D033FB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" y="4"/>
                  <a:ext cx="134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8</a:t>
                  </a:r>
                </a:p>
              </p:txBody>
            </p:sp>
          </p:grpSp>
          <p:grpSp>
            <p:nvGrpSpPr>
              <p:cNvPr id="37" name="Group 85">
                <a:extLst>
                  <a:ext uri="{FF2B5EF4-FFF2-40B4-BE49-F238E27FC236}">
                    <a16:creationId xmlns:a16="http://schemas.microsoft.com/office/drawing/2014/main" id="{80FFB70D-2520-4351-A78A-CE2DD1D47D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6" y="1156"/>
                <a:ext cx="528" cy="217"/>
                <a:chOff x="0" y="4"/>
                <a:chExt cx="528" cy="217"/>
              </a:xfrm>
            </p:grpSpPr>
            <p:sp>
              <p:nvSpPr>
                <p:cNvPr id="101" name="Rectangle 86">
                  <a:extLst>
                    <a:ext uri="{FF2B5EF4-FFF2-40B4-BE49-F238E27FC236}">
                      <a16:creationId xmlns:a16="http://schemas.microsoft.com/office/drawing/2014/main" id="{B4B7C813-1956-44D8-A325-4059BBE402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02" name="Rectangle 87">
                  <a:extLst>
                    <a:ext uri="{FF2B5EF4-FFF2-40B4-BE49-F238E27FC236}">
                      <a16:creationId xmlns:a16="http://schemas.microsoft.com/office/drawing/2014/main" id="{0C8BD580-0F57-4107-8481-F17C619FC8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5" y="4"/>
                  <a:ext cx="319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1000</a:t>
                  </a:r>
                </a:p>
              </p:txBody>
            </p:sp>
          </p:grpSp>
          <p:grpSp>
            <p:nvGrpSpPr>
              <p:cNvPr id="38" name="Group 88">
                <a:extLst>
                  <a:ext uri="{FF2B5EF4-FFF2-40B4-BE49-F238E27FC236}">
                    <a16:creationId xmlns:a16="http://schemas.microsoft.com/office/drawing/2014/main" id="{298FFDE1-AD27-44A9-8884-F1D1F4C20E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300"/>
                <a:ext cx="288" cy="217"/>
                <a:chOff x="0" y="4"/>
                <a:chExt cx="288" cy="217"/>
              </a:xfrm>
            </p:grpSpPr>
            <p:sp>
              <p:nvSpPr>
                <p:cNvPr id="99" name="Rectangle 89">
                  <a:extLst>
                    <a:ext uri="{FF2B5EF4-FFF2-40B4-BE49-F238E27FC236}">
                      <a16:creationId xmlns:a16="http://schemas.microsoft.com/office/drawing/2014/main" id="{6BBF65EB-C2A1-455D-A190-A5FAF71261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00" name="Rectangle 90">
                  <a:extLst>
                    <a:ext uri="{FF2B5EF4-FFF2-40B4-BE49-F238E27FC236}">
                      <a16:creationId xmlns:a16="http://schemas.microsoft.com/office/drawing/2014/main" id="{82CFA0BB-CE6B-43E0-8A62-19B7F06B5F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" y="4"/>
                  <a:ext cx="134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9</a:t>
                  </a:r>
                </a:p>
              </p:txBody>
            </p:sp>
          </p:grpSp>
          <p:grpSp>
            <p:nvGrpSpPr>
              <p:cNvPr id="39" name="Group 91">
                <a:extLst>
                  <a:ext uri="{FF2B5EF4-FFF2-40B4-BE49-F238E27FC236}">
                    <a16:creationId xmlns:a16="http://schemas.microsoft.com/office/drawing/2014/main" id="{B3738222-FAA3-46A5-AE4C-C95A4FF6C8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" y="1300"/>
                <a:ext cx="288" cy="217"/>
                <a:chOff x="0" y="4"/>
                <a:chExt cx="288" cy="217"/>
              </a:xfrm>
            </p:grpSpPr>
            <p:sp>
              <p:nvSpPr>
                <p:cNvPr id="97" name="Rectangle 92">
                  <a:extLst>
                    <a:ext uri="{FF2B5EF4-FFF2-40B4-BE49-F238E27FC236}">
                      <a16:creationId xmlns:a16="http://schemas.microsoft.com/office/drawing/2014/main" id="{F07ED52C-E988-4416-BA85-A20A56A9AB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98" name="Rectangle 93">
                  <a:extLst>
                    <a:ext uri="{FF2B5EF4-FFF2-40B4-BE49-F238E27FC236}">
                      <a16:creationId xmlns:a16="http://schemas.microsoft.com/office/drawing/2014/main" id="{66FBE92C-45D0-4699-87B9-DC595EA5B4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" y="4"/>
                  <a:ext cx="134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9</a:t>
                  </a:r>
                </a:p>
              </p:txBody>
            </p:sp>
          </p:grpSp>
          <p:grpSp>
            <p:nvGrpSpPr>
              <p:cNvPr id="40" name="Group 94">
                <a:extLst>
                  <a:ext uri="{FF2B5EF4-FFF2-40B4-BE49-F238E27FC236}">
                    <a16:creationId xmlns:a16="http://schemas.microsoft.com/office/drawing/2014/main" id="{12389ECD-8611-4998-9A18-C7C8E0DF15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6" y="1300"/>
                <a:ext cx="528" cy="217"/>
                <a:chOff x="0" y="4"/>
                <a:chExt cx="528" cy="217"/>
              </a:xfrm>
            </p:grpSpPr>
            <p:sp>
              <p:nvSpPr>
                <p:cNvPr id="95" name="Rectangle 95">
                  <a:extLst>
                    <a:ext uri="{FF2B5EF4-FFF2-40B4-BE49-F238E27FC236}">
                      <a16:creationId xmlns:a16="http://schemas.microsoft.com/office/drawing/2014/main" id="{58EB8FD1-53E5-4EE4-A1DF-FFE2EB5425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96" name="Rectangle 96">
                  <a:extLst>
                    <a:ext uri="{FF2B5EF4-FFF2-40B4-BE49-F238E27FC236}">
                      <a16:creationId xmlns:a16="http://schemas.microsoft.com/office/drawing/2014/main" id="{6921BF8C-3E42-4950-9D5A-E1641E18EE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5" y="4"/>
                  <a:ext cx="319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1001</a:t>
                  </a:r>
                </a:p>
              </p:txBody>
            </p:sp>
          </p:grpSp>
          <p:grpSp>
            <p:nvGrpSpPr>
              <p:cNvPr id="41" name="Group 97">
                <a:extLst>
                  <a:ext uri="{FF2B5EF4-FFF2-40B4-BE49-F238E27FC236}">
                    <a16:creationId xmlns:a16="http://schemas.microsoft.com/office/drawing/2014/main" id="{58CEA4FC-7A1C-4377-A34F-DD9B8016EC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444"/>
                <a:ext cx="288" cy="217"/>
                <a:chOff x="0" y="4"/>
                <a:chExt cx="288" cy="217"/>
              </a:xfrm>
            </p:grpSpPr>
            <p:sp>
              <p:nvSpPr>
                <p:cNvPr id="93" name="Rectangle 98">
                  <a:extLst>
                    <a:ext uri="{FF2B5EF4-FFF2-40B4-BE49-F238E27FC236}">
                      <a16:creationId xmlns:a16="http://schemas.microsoft.com/office/drawing/2014/main" id="{E0D74031-C75F-4CD9-A646-41085D0413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94" name="Rectangle 99">
                  <a:extLst>
                    <a:ext uri="{FF2B5EF4-FFF2-40B4-BE49-F238E27FC236}">
                      <a16:creationId xmlns:a16="http://schemas.microsoft.com/office/drawing/2014/main" id="{25FE44E0-2F24-4432-BE89-3679E9E231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" y="4"/>
                  <a:ext cx="134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A</a:t>
                  </a:r>
                </a:p>
              </p:txBody>
            </p:sp>
          </p:grpSp>
          <p:grpSp>
            <p:nvGrpSpPr>
              <p:cNvPr id="42" name="Group 100">
                <a:extLst>
                  <a:ext uri="{FF2B5EF4-FFF2-40B4-BE49-F238E27FC236}">
                    <a16:creationId xmlns:a16="http://schemas.microsoft.com/office/drawing/2014/main" id="{A8287A9F-8236-483E-9312-A4689E923E8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" y="1444"/>
                <a:ext cx="288" cy="217"/>
                <a:chOff x="0" y="4"/>
                <a:chExt cx="288" cy="217"/>
              </a:xfrm>
            </p:grpSpPr>
            <p:sp>
              <p:nvSpPr>
                <p:cNvPr id="91" name="Rectangle 101">
                  <a:extLst>
                    <a:ext uri="{FF2B5EF4-FFF2-40B4-BE49-F238E27FC236}">
                      <a16:creationId xmlns:a16="http://schemas.microsoft.com/office/drawing/2014/main" id="{D9A9FEC8-7C40-4290-9CF5-B420BC6A65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92" name="Rectangle 102">
                  <a:extLst>
                    <a:ext uri="{FF2B5EF4-FFF2-40B4-BE49-F238E27FC236}">
                      <a16:creationId xmlns:a16="http://schemas.microsoft.com/office/drawing/2014/main" id="{9A9D34AB-0F8B-4437-AD3A-21EF49C3FF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" y="4"/>
                  <a:ext cx="196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10</a:t>
                  </a:r>
                </a:p>
              </p:txBody>
            </p:sp>
          </p:grpSp>
          <p:grpSp>
            <p:nvGrpSpPr>
              <p:cNvPr id="43" name="Group 103">
                <a:extLst>
                  <a:ext uri="{FF2B5EF4-FFF2-40B4-BE49-F238E27FC236}">
                    <a16:creationId xmlns:a16="http://schemas.microsoft.com/office/drawing/2014/main" id="{80E5587E-946C-4137-9579-7737A6F676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6" y="1444"/>
                <a:ext cx="528" cy="217"/>
                <a:chOff x="0" y="4"/>
                <a:chExt cx="528" cy="217"/>
              </a:xfrm>
            </p:grpSpPr>
            <p:sp>
              <p:nvSpPr>
                <p:cNvPr id="89" name="Rectangle 104">
                  <a:extLst>
                    <a:ext uri="{FF2B5EF4-FFF2-40B4-BE49-F238E27FC236}">
                      <a16:creationId xmlns:a16="http://schemas.microsoft.com/office/drawing/2014/main" id="{752FDA61-B54C-4D44-959E-9755218210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90" name="Rectangle 105">
                  <a:extLst>
                    <a:ext uri="{FF2B5EF4-FFF2-40B4-BE49-F238E27FC236}">
                      <a16:creationId xmlns:a16="http://schemas.microsoft.com/office/drawing/2014/main" id="{EF573496-AEB5-418B-A2D1-167725FE6E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5" y="4"/>
                  <a:ext cx="319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1010</a:t>
                  </a:r>
                </a:p>
              </p:txBody>
            </p:sp>
          </p:grpSp>
          <p:grpSp>
            <p:nvGrpSpPr>
              <p:cNvPr id="44" name="Group 106">
                <a:extLst>
                  <a:ext uri="{FF2B5EF4-FFF2-40B4-BE49-F238E27FC236}">
                    <a16:creationId xmlns:a16="http://schemas.microsoft.com/office/drawing/2014/main" id="{1F038715-5546-4D84-BD16-4AC0BDD921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588"/>
                <a:ext cx="288" cy="217"/>
                <a:chOff x="0" y="4"/>
                <a:chExt cx="288" cy="217"/>
              </a:xfrm>
            </p:grpSpPr>
            <p:sp>
              <p:nvSpPr>
                <p:cNvPr id="87" name="Rectangle 107">
                  <a:extLst>
                    <a:ext uri="{FF2B5EF4-FFF2-40B4-BE49-F238E27FC236}">
                      <a16:creationId xmlns:a16="http://schemas.microsoft.com/office/drawing/2014/main" id="{F547EB3D-F362-40B1-964D-EED1AE084A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88" name="Rectangle 108">
                  <a:extLst>
                    <a:ext uri="{FF2B5EF4-FFF2-40B4-BE49-F238E27FC236}">
                      <a16:creationId xmlns:a16="http://schemas.microsoft.com/office/drawing/2014/main" id="{35C7CA54-FBCF-4578-8C28-A59B881D06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" y="4"/>
                  <a:ext cx="134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B</a:t>
                  </a:r>
                </a:p>
              </p:txBody>
            </p:sp>
          </p:grpSp>
          <p:grpSp>
            <p:nvGrpSpPr>
              <p:cNvPr id="45" name="Group 109">
                <a:extLst>
                  <a:ext uri="{FF2B5EF4-FFF2-40B4-BE49-F238E27FC236}">
                    <a16:creationId xmlns:a16="http://schemas.microsoft.com/office/drawing/2014/main" id="{28BB35A0-11DD-4F1D-AE26-E8193D82027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" y="1588"/>
                <a:ext cx="288" cy="217"/>
                <a:chOff x="0" y="4"/>
                <a:chExt cx="288" cy="217"/>
              </a:xfrm>
            </p:grpSpPr>
            <p:sp>
              <p:nvSpPr>
                <p:cNvPr id="85" name="Rectangle 110">
                  <a:extLst>
                    <a:ext uri="{FF2B5EF4-FFF2-40B4-BE49-F238E27FC236}">
                      <a16:creationId xmlns:a16="http://schemas.microsoft.com/office/drawing/2014/main" id="{1B1CC0A7-B8F6-4982-947B-4D688FB42B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86" name="Rectangle 111">
                  <a:extLst>
                    <a:ext uri="{FF2B5EF4-FFF2-40B4-BE49-F238E27FC236}">
                      <a16:creationId xmlns:a16="http://schemas.microsoft.com/office/drawing/2014/main" id="{19CB94EE-4571-4130-AA0B-F8A9B9194B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" y="4"/>
                  <a:ext cx="196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11</a:t>
                  </a:r>
                </a:p>
              </p:txBody>
            </p:sp>
          </p:grpSp>
          <p:grpSp>
            <p:nvGrpSpPr>
              <p:cNvPr id="46" name="Group 112">
                <a:extLst>
                  <a:ext uri="{FF2B5EF4-FFF2-40B4-BE49-F238E27FC236}">
                    <a16:creationId xmlns:a16="http://schemas.microsoft.com/office/drawing/2014/main" id="{BE6F6132-0E2E-40D3-B72A-FA855C865FF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6" y="1588"/>
                <a:ext cx="528" cy="217"/>
                <a:chOff x="0" y="4"/>
                <a:chExt cx="528" cy="217"/>
              </a:xfrm>
            </p:grpSpPr>
            <p:sp>
              <p:nvSpPr>
                <p:cNvPr id="83" name="Rectangle 113">
                  <a:extLst>
                    <a:ext uri="{FF2B5EF4-FFF2-40B4-BE49-F238E27FC236}">
                      <a16:creationId xmlns:a16="http://schemas.microsoft.com/office/drawing/2014/main" id="{A8117B82-DE0B-423F-86AF-BA25FED35C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84" name="Rectangle 114">
                  <a:extLst>
                    <a:ext uri="{FF2B5EF4-FFF2-40B4-BE49-F238E27FC236}">
                      <a16:creationId xmlns:a16="http://schemas.microsoft.com/office/drawing/2014/main" id="{85F3D1BF-F174-46B0-8A82-42ECF8069A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5" y="4"/>
                  <a:ext cx="319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1011</a:t>
                  </a:r>
                </a:p>
              </p:txBody>
            </p:sp>
          </p:grpSp>
          <p:grpSp>
            <p:nvGrpSpPr>
              <p:cNvPr id="47" name="Group 115">
                <a:extLst>
                  <a:ext uri="{FF2B5EF4-FFF2-40B4-BE49-F238E27FC236}">
                    <a16:creationId xmlns:a16="http://schemas.microsoft.com/office/drawing/2014/main" id="{CDDC987D-9AAA-417F-9718-894886DAC5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732"/>
                <a:ext cx="288" cy="217"/>
                <a:chOff x="0" y="4"/>
                <a:chExt cx="288" cy="217"/>
              </a:xfrm>
            </p:grpSpPr>
            <p:sp>
              <p:nvSpPr>
                <p:cNvPr id="81" name="Rectangle 116">
                  <a:extLst>
                    <a:ext uri="{FF2B5EF4-FFF2-40B4-BE49-F238E27FC236}">
                      <a16:creationId xmlns:a16="http://schemas.microsoft.com/office/drawing/2014/main" id="{C15A9033-5030-418A-B106-38FD376A61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82" name="Rectangle 117">
                  <a:extLst>
                    <a:ext uri="{FF2B5EF4-FFF2-40B4-BE49-F238E27FC236}">
                      <a16:creationId xmlns:a16="http://schemas.microsoft.com/office/drawing/2014/main" id="{927857A3-A43C-4D50-B863-9A8AAC3366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" y="4"/>
                  <a:ext cx="134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C</a:t>
                  </a:r>
                </a:p>
              </p:txBody>
            </p:sp>
          </p:grpSp>
          <p:grpSp>
            <p:nvGrpSpPr>
              <p:cNvPr id="48" name="Group 118">
                <a:extLst>
                  <a:ext uri="{FF2B5EF4-FFF2-40B4-BE49-F238E27FC236}">
                    <a16:creationId xmlns:a16="http://schemas.microsoft.com/office/drawing/2014/main" id="{D4D06485-6C5B-4B7D-9DEB-122D17C271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" y="1732"/>
                <a:ext cx="288" cy="217"/>
                <a:chOff x="0" y="4"/>
                <a:chExt cx="288" cy="217"/>
              </a:xfrm>
            </p:grpSpPr>
            <p:sp>
              <p:nvSpPr>
                <p:cNvPr id="79" name="Rectangle 119">
                  <a:extLst>
                    <a:ext uri="{FF2B5EF4-FFF2-40B4-BE49-F238E27FC236}">
                      <a16:creationId xmlns:a16="http://schemas.microsoft.com/office/drawing/2014/main" id="{EDB0AB1A-5EF7-45ED-8A1A-EA335250B6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80" name="Rectangle 120">
                  <a:extLst>
                    <a:ext uri="{FF2B5EF4-FFF2-40B4-BE49-F238E27FC236}">
                      <a16:creationId xmlns:a16="http://schemas.microsoft.com/office/drawing/2014/main" id="{FCF802D4-B1C5-4140-8E9A-0699DFD712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" y="4"/>
                  <a:ext cx="196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12</a:t>
                  </a:r>
                </a:p>
              </p:txBody>
            </p:sp>
          </p:grpSp>
          <p:grpSp>
            <p:nvGrpSpPr>
              <p:cNvPr id="49" name="Group 121">
                <a:extLst>
                  <a:ext uri="{FF2B5EF4-FFF2-40B4-BE49-F238E27FC236}">
                    <a16:creationId xmlns:a16="http://schemas.microsoft.com/office/drawing/2014/main" id="{6DC2E1C4-9F8B-4AED-8A32-96FBCEBB3D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6" y="1732"/>
                <a:ext cx="528" cy="217"/>
                <a:chOff x="0" y="4"/>
                <a:chExt cx="528" cy="217"/>
              </a:xfrm>
            </p:grpSpPr>
            <p:sp>
              <p:nvSpPr>
                <p:cNvPr id="77" name="Rectangle 122">
                  <a:extLst>
                    <a:ext uri="{FF2B5EF4-FFF2-40B4-BE49-F238E27FC236}">
                      <a16:creationId xmlns:a16="http://schemas.microsoft.com/office/drawing/2014/main" id="{65E2AAF5-0DD9-49A7-B7CD-332E8F8F5F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78" name="Rectangle 123">
                  <a:extLst>
                    <a:ext uri="{FF2B5EF4-FFF2-40B4-BE49-F238E27FC236}">
                      <a16:creationId xmlns:a16="http://schemas.microsoft.com/office/drawing/2014/main" id="{34261A6A-9952-441D-A719-5F95B0FB4F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5" y="4"/>
                  <a:ext cx="319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1100</a:t>
                  </a:r>
                </a:p>
              </p:txBody>
            </p:sp>
          </p:grpSp>
          <p:grpSp>
            <p:nvGrpSpPr>
              <p:cNvPr id="50" name="Group 124">
                <a:extLst>
                  <a:ext uri="{FF2B5EF4-FFF2-40B4-BE49-F238E27FC236}">
                    <a16:creationId xmlns:a16="http://schemas.microsoft.com/office/drawing/2014/main" id="{7FB0FBDC-7BE5-4DFB-8773-DB9413BA48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876"/>
                <a:ext cx="288" cy="217"/>
                <a:chOff x="0" y="4"/>
                <a:chExt cx="288" cy="217"/>
              </a:xfrm>
            </p:grpSpPr>
            <p:sp>
              <p:nvSpPr>
                <p:cNvPr id="75" name="Rectangle 125">
                  <a:extLst>
                    <a:ext uri="{FF2B5EF4-FFF2-40B4-BE49-F238E27FC236}">
                      <a16:creationId xmlns:a16="http://schemas.microsoft.com/office/drawing/2014/main" id="{DEC27923-014B-4DD7-A648-E9C0211B56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76" name="Rectangle 126">
                  <a:extLst>
                    <a:ext uri="{FF2B5EF4-FFF2-40B4-BE49-F238E27FC236}">
                      <a16:creationId xmlns:a16="http://schemas.microsoft.com/office/drawing/2014/main" id="{10A6C805-F787-49A2-8CA3-93385BDC98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" y="4"/>
                  <a:ext cx="134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D</a:t>
                  </a:r>
                </a:p>
              </p:txBody>
            </p:sp>
          </p:grpSp>
          <p:grpSp>
            <p:nvGrpSpPr>
              <p:cNvPr id="51" name="Group 127">
                <a:extLst>
                  <a:ext uri="{FF2B5EF4-FFF2-40B4-BE49-F238E27FC236}">
                    <a16:creationId xmlns:a16="http://schemas.microsoft.com/office/drawing/2014/main" id="{A8E48343-4EA3-4FB0-886B-402146CDF5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" y="1876"/>
                <a:ext cx="288" cy="217"/>
                <a:chOff x="0" y="4"/>
                <a:chExt cx="288" cy="217"/>
              </a:xfrm>
            </p:grpSpPr>
            <p:sp>
              <p:nvSpPr>
                <p:cNvPr id="73" name="Rectangle 128">
                  <a:extLst>
                    <a:ext uri="{FF2B5EF4-FFF2-40B4-BE49-F238E27FC236}">
                      <a16:creationId xmlns:a16="http://schemas.microsoft.com/office/drawing/2014/main" id="{C87A54C0-278B-4492-B226-6E838BA23C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74" name="Rectangle 129">
                  <a:extLst>
                    <a:ext uri="{FF2B5EF4-FFF2-40B4-BE49-F238E27FC236}">
                      <a16:creationId xmlns:a16="http://schemas.microsoft.com/office/drawing/2014/main" id="{78CB3BE0-1E93-4831-8ADB-9E42A973B7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" y="4"/>
                  <a:ext cx="196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13</a:t>
                  </a:r>
                </a:p>
              </p:txBody>
            </p:sp>
          </p:grpSp>
          <p:grpSp>
            <p:nvGrpSpPr>
              <p:cNvPr id="52" name="Group 130">
                <a:extLst>
                  <a:ext uri="{FF2B5EF4-FFF2-40B4-BE49-F238E27FC236}">
                    <a16:creationId xmlns:a16="http://schemas.microsoft.com/office/drawing/2014/main" id="{173A277C-DF0D-493D-B566-1EB36E13EAF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6" y="1876"/>
                <a:ext cx="528" cy="217"/>
                <a:chOff x="0" y="4"/>
                <a:chExt cx="528" cy="217"/>
              </a:xfrm>
            </p:grpSpPr>
            <p:sp>
              <p:nvSpPr>
                <p:cNvPr id="71" name="Rectangle 131">
                  <a:extLst>
                    <a:ext uri="{FF2B5EF4-FFF2-40B4-BE49-F238E27FC236}">
                      <a16:creationId xmlns:a16="http://schemas.microsoft.com/office/drawing/2014/main" id="{9BC5BC8A-BD66-4199-8ABC-ED4D114B28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72" name="Rectangle 132">
                  <a:extLst>
                    <a:ext uri="{FF2B5EF4-FFF2-40B4-BE49-F238E27FC236}">
                      <a16:creationId xmlns:a16="http://schemas.microsoft.com/office/drawing/2014/main" id="{EE28835A-960E-496B-AFD3-E72B72BF17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5" y="4"/>
                  <a:ext cx="319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1101</a:t>
                  </a:r>
                </a:p>
              </p:txBody>
            </p:sp>
          </p:grpSp>
          <p:grpSp>
            <p:nvGrpSpPr>
              <p:cNvPr id="53" name="Group 133">
                <a:extLst>
                  <a:ext uri="{FF2B5EF4-FFF2-40B4-BE49-F238E27FC236}">
                    <a16:creationId xmlns:a16="http://schemas.microsoft.com/office/drawing/2014/main" id="{BE51D6AD-2F0E-4704-958E-0181C89175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020"/>
                <a:ext cx="288" cy="217"/>
                <a:chOff x="0" y="4"/>
                <a:chExt cx="288" cy="217"/>
              </a:xfrm>
            </p:grpSpPr>
            <p:sp>
              <p:nvSpPr>
                <p:cNvPr id="69" name="Rectangle 134">
                  <a:extLst>
                    <a:ext uri="{FF2B5EF4-FFF2-40B4-BE49-F238E27FC236}">
                      <a16:creationId xmlns:a16="http://schemas.microsoft.com/office/drawing/2014/main" id="{0CEA5456-F6E1-47A4-B480-659B0FA630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70" name="Rectangle 135">
                  <a:extLst>
                    <a:ext uri="{FF2B5EF4-FFF2-40B4-BE49-F238E27FC236}">
                      <a16:creationId xmlns:a16="http://schemas.microsoft.com/office/drawing/2014/main" id="{A17FCCA9-5647-49E4-8FD5-62E366858B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" y="4"/>
                  <a:ext cx="134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E</a:t>
                  </a:r>
                </a:p>
              </p:txBody>
            </p:sp>
          </p:grpSp>
          <p:grpSp>
            <p:nvGrpSpPr>
              <p:cNvPr id="54" name="Group 136">
                <a:extLst>
                  <a:ext uri="{FF2B5EF4-FFF2-40B4-BE49-F238E27FC236}">
                    <a16:creationId xmlns:a16="http://schemas.microsoft.com/office/drawing/2014/main" id="{8C28FE87-0AA2-49A3-90B2-33C5934C64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" y="2020"/>
                <a:ext cx="288" cy="217"/>
                <a:chOff x="0" y="4"/>
                <a:chExt cx="288" cy="217"/>
              </a:xfrm>
            </p:grpSpPr>
            <p:sp>
              <p:nvSpPr>
                <p:cNvPr id="67" name="Rectangle 137">
                  <a:extLst>
                    <a:ext uri="{FF2B5EF4-FFF2-40B4-BE49-F238E27FC236}">
                      <a16:creationId xmlns:a16="http://schemas.microsoft.com/office/drawing/2014/main" id="{2D32D203-309A-4C59-A373-ECADCCA24F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68" name="Rectangle 138">
                  <a:extLst>
                    <a:ext uri="{FF2B5EF4-FFF2-40B4-BE49-F238E27FC236}">
                      <a16:creationId xmlns:a16="http://schemas.microsoft.com/office/drawing/2014/main" id="{E0615C65-9B59-4B63-A3CF-F6ED2AC068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" y="4"/>
                  <a:ext cx="196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14</a:t>
                  </a:r>
                </a:p>
              </p:txBody>
            </p:sp>
          </p:grpSp>
          <p:grpSp>
            <p:nvGrpSpPr>
              <p:cNvPr id="55" name="Group 139">
                <a:extLst>
                  <a:ext uri="{FF2B5EF4-FFF2-40B4-BE49-F238E27FC236}">
                    <a16:creationId xmlns:a16="http://schemas.microsoft.com/office/drawing/2014/main" id="{154077BA-3592-476C-BD18-49ABAE3179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6" y="2020"/>
                <a:ext cx="528" cy="217"/>
                <a:chOff x="0" y="4"/>
                <a:chExt cx="528" cy="217"/>
              </a:xfrm>
            </p:grpSpPr>
            <p:sp>
              <p:nvSpPr>
                <p:cNvPr id="65" name="Rectangle 140">
                  <a:extLst>
                    <a:ext uri="{FF2B5EF4-FFF2-40B4-BE49-F238E27FC236}">
                      <a16:creationId xmlns:a16="http://schemas.microsoft.com/office/drawing/2014/main" id="{017A84AC-1DDA-463E-A4EE-B3C40FACCC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66" name="Rectangle 141">
                  <a:extLst>
                    <a:ext uri="{FF2B5EF4-FFF2-40B4-BE49-F238E27FC236}">
                      <a16:creationId xmlns:a16="http://schemas.microsoft.com/office/drawing/2014/main" id="{36D6458F-C03C-4E19-8589-356DECD0A8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5" y="4"/>
                  <a:ext cx="319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1110</a:t>
                  </a:r>
                </a:p>
              </p:txBody>
            </p:sp>
          </p:grpSp>
          <p:grpSp>
            <p:nvGrpSpPr>
              <p:cNvPr id="56" name="Group 142">
                <a:extLst>
                  <a:ext uri="{FF2B5EF4-FFF2-40B4-BE49-F238E27FC236}">
                    <a16:creationId xmlns:a16="http://schemas.microsoft.com/office/drawing/2014/main" id="{C97279B9-6464-4F99-B598-4F2743D230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164"/>
                <a:ext cx="288" cy="217"/>
                <a:chOff x="0" y="4"/>
                <a:chExt cx="288" cy="217"/>
              </a:xfrm>
            </p:grpSpPr>
            <p:sp>
              <p:nvSpPr>
                <p:cNvPr id="63" name="Rectangle 143">
                  <a:extLst>
                    <a:ext uri="{FF2B5EF4-FFF2-40B4-BE49-F238E27FC236}">
                      <a16:creationId xmlns:a16="http://schemas.microsoft.com/office/drawing/2014/main" id="{1D341797-EA49-4A53-81AD-893F7199B6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64" name="Rectangle 144">
                  <a:extLst>
                    <a:ext uri="{FF2B5EF4-FFF2-40B4-BE49-F238E27FC236}">
                      <a16:creationId xmlns:a16="http://schemas.microsoft.com/office/drawing/2014/main" id="{1A4C6050-702E-4181-A731-68D42EB6EA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" y="4"/>
                  <a:ext cx="134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F</a:t>
                  </a:r>
                </a:p>
              </p:txBody>
            </p:sp>
          </p:grpSp>
          <p:grpSp>
            <p:nvGrpSpPr>
              <p:cNvPr id="57" name="Group 145">
                <a:extLst>
                  <a:ext uri="{FF2B5EF4-FFF2-40B4-BE49-F238E27FC236}">
                    <a16:creationId xmlns:a16="http://schemas.microsoft.com/office/drawing/2014/main" id="{AF6C8D3F-71FC-42ED-A7AC-1F573B13DB6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" y="2164"/>
                <a:ext cx="288" cy="217"/>
                <a:chOff x="0" y="4"/>
                <a:chExt cx="288" cy="217"/>
              </a:xfrm>
            </p:grpSpPr>
            <p:sp>
              <p:nvSpPr>
                <p:cNvPr id="61" name="Rectangle 146">
                  <a:extLst>
                    <a:ext uri="{FF2B5EF4-FFF2-40B4-BE49-F238E27FC236}">
                      <a16:creationId xmlns:a16="http://schemas.microsoft.com/office/drawing/2014/main" id="{3CC8D0D3-E930-431A-8FB4-C76F1563BE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62" name="Rectangle 147">
                  <a:extLst>
                    <a:ext uri="{FF2B5EF4-FFF2-40B4-BE49-F238E27FC236}">
                      <a16:creationId xmlns:a16="http://schemas.microsoft.com/office/drawing/2014/main" id="{D6BB8EF0-835E-417F-9C5F-EA047629BE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" y="4"/>
                  <a:ext cx="196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15</a:t>
                  </a:r>
                </a:p>
              </p:txBody>
            </p:sp>
          </p:grpSp>
          <p:grpSp>
            <p:nvGrpSpPr>
              <p:cNvPr id="58" name="Group 148">
                <a:extLst>
                  <a:ext uri="{FF2B5EF4-FFF2-40B4-BE49-F238E27FC236}">
                    <a16:creationId xmlns:a16="http://schemas.microsoft.com/office/drawing/2014/main" id="{34FA5B34-72F6-4276-9242-5BF9B1CEF8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6" y="2164"/>
                <a:ext cx="528" cy="217"/>
                <a:chOff x="0" y="4"/>
                <a:chExt cx="528" cy="217"/>
              </a:xfrm>
            </p:grpSpPr>
            <p:sp>
              <p:nvSpPr>
                <p:cNvPr id="59" name="Rectangle 149">
                  <a:extLst>
                    <a:ext uri="{FF2B5EF4-FFF2-40B4-BE49-F238E27FC236}">
                      <a16:creationId xmlns:a16="http://schemas.microsoft.com/office/drawing/2014/main" id="{062E5477-35FB-4803-A001-4B6A3C6243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C6FA3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1">
                    <a:solidFill>
                      <a:srgbClr val="000000"/>
                    </a:solidFill>
                    <a:latin typeface="Inconsolata" panose="020B0609030003000000" pitchFamily="49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60" name="Rectangle 150">
                  <a:extLst>
                    <a:ext uri="{FF2B5EF4-FFF2-40B4-BE49-F238E27FC236}">
                      <a16:creationId xmlns:a16="http://schemas.microsoft.com/office/drawing/2014/main" id="{BEDC652B-4D4A-430D-B7CC-5F507573EA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5" y="4"/>
                  <a:ext cx="319" cy="21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b="1" dirty="0">
                      <a:solidFill>
                        <a:srgbClr val="7030A0"/>
                      </a:solidFill>
                      <a:latin typeface="Inconsolata" panose="020B0609030003000000" pitchFamily="49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1111</a:t>
                  </a:r>
                </a:p>
              </p:txBody>
            </p:sp>
          </p:grpSp>
        </p:grpSp>
        <p:sp>
          <p:nvSpPr>
            <p:cNvPr id="8" name="Rectangle 151">
              <a:extLst>
                <a:ext uri="{FF2B5EF4-FFF2-40B4-BE49-F238E27FC236}">
                  <a16:creationId xmlns:a16="http://schemas.microsoft.com/office/drawing/2014/main" id="{FD440780-5D10-4040-87C8-7C5CB98FCC04}"/>
                </a:ext>
              </a:extLst>
            </p:cNvPr>
            <p:cNvSpPr>
              <a:spLocks/>
            </p:cNvSpPr>
            <p:nvPr/>
          </p:nvSpPr>
          <p:spPr bwMode="auto">
            <a:xfrm rot="19260000">
              <a:off x="72" y="280"/>
              <a:ext cx="287" cy="21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b="1" dirty="0">
                  <a:solidFill>
                    <a:schemeClr val="tx2">
                      <a:lumMod val="50000"/>
                    </a:schemeClr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Hex</a:t>
              </a:r>
            </a:p>
          </p:txBody>
        </p:sp>
        <p:sp>
          <p:nvSpPr>
            <p:cNvPr id="9" name="Rectangle 152">
              <a:extLst>
                <a:ext uri="{FF2B5EF4-FFF2-40B4-BE49-F238E27FC236}">
                  <a16:creationId xmlns:a16="http://schemas.microsoft.com/office/drawing/2014/main" id="{32D12FD4-F0D0-49D0-BFE4-87DFA787C027}"/>
                </a:ext>
              </a:extLst>
            </p:cNvPr>
            <p:cNvSpPr>
              <a:spLocks/>
            </p:cNvSpPr>
            <p:nvPr/>
          </p:nvSpPr>
          <p:spPr bwMode="auto">
            <a:xfrm rot="19260000">
              <a:off x="320" y="206"/>
              <a:ext cx="520" cy="21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b="1" dirty="0">
                  <a:solidFill>
                    <a:schemeClr val="tx2">
                      <a:lumMod val="50000"/>
                    </a:schemeClr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Decimal</a:t>
              </a:r>
            </a:p>
          </p:txBody>
        </p:sp>
        <p:sp>
          <p:nvSpPr>
            <p:cNvPr id="10" name="Rectangle 153">
              <a:extLst>
                <a:ext uri="{FF2B5EF4-FFF2-40B4-BE49-F238E27FC236}">
                  <a16:creationId xmlns:a16="http://schemas.microsoft.com/office/drawing/2014/main" id="{80AE7CB0-8116-4DEC-82A5-52DF5B866A44}"/>
                </a:ext>
              </a:extLst>
            </p:cNvPr>
            <p:cNvSpPr>
              <a:spLocks/>
            </p:cNvSpPr>
            <p:nvPr/>
          </p:nvSpPr>
          <p:spPr bwMode="auto">
            <a:xfrm rot="19260000">
              <a:off x="703" y="238"/>
              <a:ext cx="436" cy="21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b="1" dirty="0">
                  <a:solidFill>
                    <a:schemeClr val="tx2">
                      <a:lumMod val="50000"/>
                    </a:schemeClr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Binary</a:t>
              </a:r>
            </a:p>
          </p:txBody>
        </p:sp>
      </p:grpSp>
      <p:sp>
        <p:nvSpPr>
          <p:cNvPr id="155" name="Shape 236">
            <a:extLst>
              <a:ext uri="{FF2B5EF4-FFF2-40B4-BE49-F238E27FC236}">
                <a16:creationId xmlns:a16="http://schemas.microsoft.com/office/drawing/2014/main" id="{295916A6-53CA-446E-A1A1-3E0BE34E22D3}"/>
              </a:ext>
            </a:extLst>
          </p:cNvPr>
          <p:cNvSpPr txBox="1">
            <a:spLocks/>
          </p:cNvSpPr>
          <p:nvPr/>
        </p:nvSpPr>
        <p:spPr>
          <a:xfrm>
            <a:off x="673101" y="870509"/>
            <a:ext cx="5955537" cy="4472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dirty="0"/>
              <a:t>Binary </a:t>
            </a:r>
            <a:r>
              <a:rPr lang="en-US" dirty="0"/>
              <a:t>numbers can get really long, </a:t>
            </a:r>
            <a:r>
              <a:rPr lang="en" dirty="0"/>
              <a:t>quickly</a:t>
            </a:r>
            <a:r>
              <a:rPr lang="en-US" dirty="0"/>
              <a:t>.</a:t>
            </a:r>
            <a:endParaRPr lang="en" dirty="0"/>
          </a:p>
          <a:p>
            <a:pPr lvl="1"/>
            <a:r>
              <a:rPr lang="en" b="1" dirty="0"/>
              <a:t>3,927,664</a:t>
            </a:r>
            <a:r>
              <a:rPr lang="en" b="1" baseline="-25000" dirty="0"/>
              <a:t>10</a:t>
            </a:r>
            <a:r>
              <a:rPr lang="en" b="1" dirty="0"/>
              <a:t> = 11</a:t>
            </a:r>
            <a:r>
              <a:rPr lang="en-US" b="1" dirty="0"/>
              <a:t> </a:t>
            </a:r>
            <a:r>
              <a:rPr lang="en" b="1" dirty="0"/>
              <a:t>1011</a:t>
            </a:r>
            <a:r>
              <a:rPr lang="en-US" b="1" dirty="0"/>
              <a:t> </a:t>
            </a:r>
            <a:r>
              <a:rPr lang="en" b="1" dirty="0"/>
              <a:t>1110</a:t>
            </a:r>
            <a:r>
              <a:rPr lang="en-US" b="1" dirty="0"/>
              <a:t> </a:t>
            </a:r>
            <a:r>
              <a:rPr lang="en" b="1" dirty="0"/>
              <a:t>1110</a:t>
            </a:r>
            <a:r>
              <a:rPr lang="en-US" b="1" dirty="0"/>
              <a:t> </a:t>
            </a:r>
            <a:r>
              <a:rPr lang="en" b="1" dirty="0"/>
              <a:t>0111</a:t>
            </a:r>
            <a:r>
              <a:rPr lang="en-US" b="1" dirty="0"/>
              <a:t> </a:t>
            </a:r>
            <a:r>
              <a:rPr lang="en" b="1" dirty="0"/>
              <a:t>0000</a:t>
            </a:r>
            <a:r>
              <a:rPr lang="en" b="1" baseline="-25000" dirty="0"/>
              <a:t>2</a:t>
            </a:r>
          </a:p>
          <a:p>
            <a:r>
              <a:rPr lang="en" dirty="0"/>
              <a:t>But nice </a:t>
            </a:r>
            <a:r>
              <a:rPr lang="en-US" dirty="0"/>
              <a:t>"</a:t>
            </a:r>
            <a:r>
              <a:rPr lang="en" dirty="0"/>
              <a:t>round</a:t>
            </a:r>
            <a:r>
              <a:rPr lang="en-US" dirty="0"/>
              <a:t>"</a:t>
            </a:r>
            <a:r>
              <a:rPr lang="en" dirty="0"/>
              <a:t> numbers in binary look arbitrary in decimal</a:t>
            </a:r>
            <a:r>
              <a:rPr lang="en-US" dirty="0"/>
              <a:t>.</a:t>
            </a:r>
            <a:endParaRPr lang="en" dirty="0"/>
          </a:p>
          <a:p>
            <a:pPr lvl="1"/>
            <a:r>
              <a:rPr lang="en" b="1" dirty="0"/>
              <a:t>1000000000000000</a:t>
            </a:r>
            <a:r>
              <a:rPr lang="en" b="1" baseline="-25000" dirty="0"/>
              <a:t>2</a:t>
            </a:r>
            <a:r>
              <a:rPr lang="en" b="1" dirty="0"/>
              <a:t> = 32,768</a:t>
            </a:r>
            <a:r>
              <a:rPr lang="en" b="1" baseline="-25000" dirty="0"/>
              <a:t>10</a:t>
            </a:r>
          </a:p>
          <a:p>
            <a:r>
              <a:rPr lang="en" dirty="0"/>
              <a:t>This is because 10 is not a power of 2!</a:t>
            </a:r>
          </a:p>
          <a:p>
            <a:r>
              <a:rPr lang="en" dirty="0"/>
              <a:t>We could use base-4, base-8,</a:t>
            </a:r>
            <a:br>
              <a:rPr lang="en" dirty="0"/>
            </a:br>
            <a:r>
              <a:rPr lang="en" dirty="0"/>
              <a:t>base-16, base-3</a:t>
            </a:r>
            <a:r>
              <a:rPr lang="en-US" dirty="0"/>
              <a:t>2, etc.</a:t>
            </a:r>
            <a:endParaRPr lang="en" dirty="0"/>
          </a:p>
          <a:p>
            <a:pPr lvl="1"/>
            <a:r>
              <a:rPr lang="en" dirty="0"/>
              <a:t>Base-4 </a:t>
            </a:r>
            <a:r>
              <a:rPr lang="en-US" dirty="0"/>
              <a:t>is not much denser than binary</a:t>
            </a:r>
          </a:p>
          <a:p>
            <a:pPr lvl="2"/>
            <a:r>
              <a:rPr lang="en" dirty="0"/>
              <a:t>e.g. </a:t>
            </a:r>
            <a:r>
              <a:rPr lang="en" b="1" dirty="0"/>
              <a:t>3,927,664</a:t>
            </a:r>
            <a:r>
              <a:rPr lang="en" b="1" baseline="-25000" dirty="0"/>
              <a:t>10</a:t>
            </a:r>
            <a:r>
              <a:rPr lang="en" b="1" dirty="0"/>
              <a:t> = 120</a:t>
            </a:r>
            <a:r>
              <a:rPr lang="en-US" b="1" dirty="0"/>
              <a:t> </a:t>
            </a:r>
            <a:r>
              <a:rPr lang="en" b="1" dirty="0"/>
              <a:t>3331</a:t>
            </a:r>
            <a:r>
              <a:rPr lang="en-US" b="1" dirty="0"/>
              <a:t> </a:t>
            </a:r>
            <a:r>
              <a:rPr lang="en" b="1" dirty="0"/>
              <a:t>2323</a:t>
            </a:r>
            <a:r>
              <a:rPr lang="en-US" b="1" dirty="0"/>
              <a:t> </a:t>
            </a:r>
            <a:r>
              <a:rPr lang="en" b="1" dirty="0"/>
              <a:t>0000</a:t>
            </a:r>
            <a:r>
              <a:rPr lang="en" b="1" baseline="-25000" dirty="0"/>
              <a:t>4</a:t>
            </a:r>
            <a:endParaRPr lang="en-US" b="1" baseline="-25000" dirty="0"/>
          </a:p>
          <a:p>
            <a:pPr lvl="1"/>
            <a:r>
              <a:rPr lang="en" dirty="0"/>
              <a:t>Base-32 would require 32 digit symbols</a:t>
            </a:r>
            <a:r>
              <a:rPr lang="en-US" dirty="0"/>
              <a:t>. Yeesh.</a:t>
            </a:r>
          </a:p>
          <a:p>
            <a:pPr lvl="2"/>
            <a:r>
              <a:rPr lang="en-US" dirty="0"/>
              <a:t>They do, oddly, have their place… but not really in this context.</a:t>
            </a:r>
            <a:endParaRPr lang="en" dirty="0"/>
          </a:p>
          <a:p>
            <a:pPr lvl="1"/>
            <a:r>
              <a:rPr lang="en" b="1" dirty="0"/>
              <a:t>Base-8</a:t>
            </a:r>
            <a:r>
              <a:rPr lang="en" dirty="0"/>
              <a:t> and </a:t>
            </a:r>
            <a:r>
              <a:rPr lang="en" b="1" dirty="0"/>
              <a:t>base-16</a:t>
            </a:r>
            <a:r>
              <a:rPr lang="en" dirty="0"/>
              <a:t> look promis</a:t>
            </a:r>
            <a:r>
              <a:rPr lang="en-US" dirty="0" err="1"/>
              <a:t>i</a:t>
            </a:r>
            <a:r>
              <a:rPr lang="en" dirty="0"/>
              <a:t>n</a:t>
            </a:r>
            <a:r>
              <a:rPr lang="en-US" dirty="0"/>
              <a:t>g!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2014169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003CB-59AF-4952-9B34-D478C2B58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Hexadecimal or “hex” (base-16)</a:t>
            </a:r>
          </a:p>
        </p:txBody>
      </p:sp>
      <p:sp>
        <p:nvSpPr>
          <p:cNvPr id="5" name="Shape 137">
            <a:extLst>
              <a:ext uri="{FF2B5EF4-FFF2-40B4-BE49-F238E27FC236}">
                <a16:creationId xmlns:a16="http://schemas.microsoft.com/office/drawing/2014/main" id="{B41CB8C5-66CA-4BD2-BDBC-C2E71246FB8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60400" y="740966"/>
            <a:ext cx="8763000" cy="83237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Digit symbols after 9 are A-F, meaning 10-15 respectively.</a:t>
            </a:r>
          </a:p>
          <a:p>
            <a:r>
              <a:rPr lang="en-US" dirty="0"/>
              <a:t>Usually we call one hexadecimal digit a </a:t>
            </a:r>
            <a:r>
              <a:rPr lang="en-US" i="1" dirty="0"/>
              <a:t>hex digit</a:t>
            </a:r>
            <a:r>
              <a:rPr lang="en-US" dirty="0"/>
              <a:t>. No fancy name :(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27FD7-D832-4D43-AD7A-8E8B802FF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75500" y="5296959"/>
            <a:ext cx="2286000" cy="304271"/>
          </a:xfrm>
        </p:spPr>
        <p:txBody>
          <a:bodyPr/>
          <a:lstStyle/>
          <a:p>
            <a:fld id="{8228C0A2-10A0-40F7-BAE1-3BE620EEA294}" type="slidenum">
              <a:rPr lang="en-US" smtClean="0"/>
              <a:t>21</a:t>
            </a:fld>
            <a:endParaRPr lang="en-US" dirty="0"/>
          </a:p>
        </p:txBody>
      </p:sp>
      <p:sp>
        <p:nvSpPr>
          <p:cNvPr id="6" name="Shape 138">
            <a:extLst>
              <a:ext uri="{FF2B5EF4-FFF2-40B4-BE49-F238E27FC236}">
                <a16:creationId xmlns:a16="http://schemas.microsoft.com/office/drawing/2014/main" id="{F90F87C0-6603-4CF1-9C73-9642348BD021}"/>
              </a:ext>
            </a:extLst>
          </p:cNvPr>
          <p:cNvSpPr txBox="1"/>
          <p:nvPr/>
        </p:nvSpPr>
        <p:spPr>
          <a:xfrm>
            <a:off x="990624" y="2877614"/>
            <a:ext cx="5550000" cy="41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2200" dirty="0">
                <a:ea typeface="Segoe UI" charset="0"/>
                <a:cs typeface="Segoe UI" charset="0"/>
                <a:sym typeface="Trebuchet MS"/>
              </a:rPr>
              <a:t>  </a:t>
            </a:r>
            <a:r>
              <a:rPr lang="en-US" sz="2200" dirty="0">
                <a:ea typeface="Segoe UI" charset="0"/>
                <a:cs typeface="Segoe UI" charset="0"/>
                <a:sym typeface="Trebuchet MS"/>
              </a:rPr>
              <a:t>        16</a:t>
            </a:r>
            <a:r>
              <a:rPr lang="en" sz="2200" baseline="30000" dirty="0">
                <a:ea typeface="Segoe UI" charset="0"/>
                <a:cs typeface="Segoe UI" charset="0"/>
                <a:sym typeface="Trebuchet MS"/>
              </a:rPr>
              <a:t>7</a:t>
            </a:r>
            <a:r>
              <a:rPr lang="en" sz="2200" dirty="0">
                <a:ea typeface="Segoe UI" charset="0"/>
                <a:cs typeface="Segoe UI" charset="0"/>
                <a:sym typeface="Trebuchet MS"/>
              </a:rPr>
              <a:t>   </a:t>
            </a:r>
            <a:r>
              <a:rPr lang="en-US" sz="2200" dirty="0">
                <a:ea typeface="Segoe UI" charset="0"/>
                <a:cs typeface="Segoe UI" charset="0"/>
                <a:sym typeface="Trebuchet MS"/>
              </a:rPr>
              <a:t>16</a:t>
            </a:r>
            <a:r>
              <a:rPr lang="en" sz="2200" baseline="30000" dirty="0">
                <a:ea typeface="Segoe UI" charset="0"/>
                <a:cs typeface="Segoe UI" charset="0"/>
                <a:sym typeface="Trebuchet MS"/>
              </a:rPr>
              <a:t>6</a:t>
            </a:r>
            <a:r>
              <a:rPr lang="en" sz="2200" dirty="0">
                <a:ea typeface="Segoe UI" charset="0"/>
                <a:cs typeface="Segoe UI" charset="0"/>
                <a:sym typeface="Trebuchet MS"/>
              </a:rPr>
              <a:t>  </a:t>
            </a:r>
            <a:r>
              <a:rPr lang="en-US" sz="2200" dirty="0">
                <a:ea typeface="Segoe UI" charset="0"/>
                <a:cs typeface="Segoe UI" charset="0"/>
                <a:sym typeface="Trebuchet MS"/>
              </a:rPr>
              <a:t> 16</a:t>
            </a:r>
            <a:r>
              <a:rPr lang="en" sz="2200" baseline="30000" dirty="0">
                <a:ea typeface="Segoe UI" charset="0"/>
                <a:cs typeface="Segoe UI" charset="0"/>
                <a:sym typeface="Trebuchet MS"/>
              </a:rPr>
              <a:t>5</a:t>
            </a:r>
            <a:r>
              <a:rPr lang="en" sz="2200" dirty="0">
                <a:ea typeface="Segoe UI" charset="0"/>
                <a:cs typeface="Segoe UI" charset="0"/>
                <a:sym typeface="Trebuchet MS"/>
              </a:rPr>
              <a:t>   </a:t>
            </a:r>
            <a:r>
              <a:rPr lang="en-US" sz="2200" dirty="0">
                <a:ea typeface="Segoe UI" charset="0"/>
                <a:cs typeface="Segoe UI" charset="0"/>
                <a:sym typeface="Trebuchet MS"/>
              </a:rPr>
              <a:t>16</a:t>
            </a:r>
            <a:r>
              <a:rPr lang="en" sz="2200" baseline="30000" dirty="0">
                <a:ea typeface="Segoe UI" charset="0"/>
                <a:cs typeface="Segoe UI" charset="0"/>
                <a:sym typeface="Trebuchet MS"/>
              </a:rPr>
              <a:t>4</a:t>
            </a:r>
            <a:r>
              <a:rPr lang="en" sz="2200" dirty="0">
                <a:ea typeface="Segoe UI" charset="0"/>
                <a:cs typeface="Segoe UI" charset="0"/>
                <a:sym typeface="Trebuchet MS"/>
              </a:rPr>
              <a:t>        </a:t>
            </a:r>
            <a:r>
              <a:rPr lang="en-US" sz="2200" dirty="0">
                <a:ea typeface="Segoe UI" charset="0"/>
                <a:cs typeface="Segoe UI" charset="0"/>
                <a:sym typeface="Trebuchet MS"/>
              </a:rPr>
              <a:t>16</a:t>
            </a:r>
            <a:r>
              <a:rPr lang="en" sz="2200" baseline="30000" dirty="0">
                <a:ea typeface="Segoe UI" charset="0"/>
                <a:cs typeface="Segoe UI" charset="0"/>
                <a:sym typeface="Trebuchet MS"/>
              </a:rPr>
              <a:t>3</a:t>
            </a:r>
            <a:r>
              <a:rPr lang="en" sz="2200" dirty="0">
                <a:ea typeface="Segoe UI" charset="0"/>
                <a:cs typeface="Segoe UI" charset="0"/>
                <a:sym typeface="Trebuchet MS"/>
              </a:rPr>
              <a:t>  </a:t>
            </a:r>
            <a:r>
              <a:rPr lang="en-US" sz="2200" dirty="0">
                <a:ea typeface="Segoe UI" charset="0"/>
                <a:cs typeface="Segoe UI" charset="0"/>
                <a:sym typeface="Trebuchet MS"/>
              </a:rPr>
              <a:t> 16</a:t>
            </a:r>
            <a:r>
              <a:rPr lang="en" sz="2200" baseline="30000" dirty="0">
                <a:ea typeface="Segoe UI" charset="0"/>
                <a:cs typeface="Segoe UI" charset="0"/>
                <a:sym typeface="Trebuchet MS"/>
              </a:rPr>
              <a:t>2</a:t>
            </a:r>
            <a:r>
              <a:rPr lang="en" sz="2200" dirty="0">
                <a:ea typeface="Segoe UI" charset="0"/>
                <a:cs typeface="Segoe UI" charset="0"/>
                <a:sym typeface="Trebuchet MS"/>
              </a:rPr>
              <a:t>  </a:t>
            </a:r>
            <a:r>
              <a:rPr lang="en-US" sz="2200" dirty="0">
                <a:ea typeface="Segoe UI" charset="0"/>
                <a:cs typeface="Segoe UI" charset="0"/>
                <a:sym typeface="Trebuchet MS"/>
              </a:rPr>
              <a:t>16</a:t>
            </a:r>
            <a:r>
              <a:rPr lang="en" sz="2200" baseline="30000" dirty="0">
                <a:ea typeface="Segoe UI" charset="0"/>
                <a:cs typeface="Segoe UI" charset="0"/>
                <a:sym typeface="Trebuchet MS"/>
              </a:rPr>
              <a:t>1</a:t>
            </a:r>
            <a:r>
              <a:rPr lang="en" sz="2200" dirty="0">
                <a:ea typeface="Segoe UI" charset="0"/>
                <a:cs typeface="Segoe UI" charset="0"/>
                <a:sym typeface="Trebuchet MS"/>
              </a:rPr>
              <a:t>   </a:t>
            </a:r>
            <a:r>
              <a:rPr lang="en-US" sz="2200" dirty="0">
                <a:ea typeface="Segoe UI" charset="0"/>
                <a:cs typeface="Segoe UI" charset="0"/>
                <a:sym typeface="Trebuchet MS"/>
              </a:rPr>
              <a:t>16</a:t>
            </a:r>
            <a:r>
              <a:rPr lang="en" sz="2200" baseline="30000" dirty="0">
                <a:ea typeface="Segoe UI" charset="0"/>
                <a:cs typeface="Segoe UI" charset="0"/>
                <a:sym typeface="Trebuchet MS"/>
              </a:rPr>
              <a:t>0</a:t>
            </a:r>
          </a:p>
        </p:txBody>
      </p:sp>
      <p:sp>
        <p:nvSpPr>
          <p:cNvPr id="7" name="Shape 140">
            <a:extLst>
              <a:ext uri="{FF2B5EF4-FFF2-40B4-BE49-F238E27FC236}">
                <a16:creationId xmlns:a16="http://schemas.microsoft.com/office/drawing/2014/main" id="{79018011-5B5D-4267-95E6-0E06F9F312D6}"/>
              </a:ext>
            </a:extLst>
          </p:cNvPr>
          <p:cNvSpPr txBox="1"/>
          <p:nvPr/>
        </p:nvSpPr>
        <p:spPr>
          <a:xfrm>
            <a:off x="794699" y="1657471"/>
            <a:ext cx="5707800" cy="1488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r"/>
            <a:r>
              <a:rPr lang="en-US" sz="8800" dirty="0">
                <a:ea typeface="Segoe UI" charset="0"/>
                <a:cs typeface="Segoe UI" charset="0"/>
                <a:sym typeface="Trebuchet MS"/>
              </a:rPr>
              <a:t>003B EE70</a:t>
            </a:r>
            <a:endParaRPr lang="en" sz="8800" dirty="0">
              <a:ea typeface="Segoe UI" charset="0"/>
              <a:cs typeface="Segoe UI" charset="0"/>
              <a:sym typeface="Trebuchet MS"/>
            </a:endParaRPr>
          </a:p>
        </p:txBody>
      </p:sp>
      <p:sp>
        <p:nvSpPr>
          <p:cNvPr id="8" name="Shape 142">
            <a:extLst>
              <a:ext uri="{FF2B5EF4-FFF2-40B4-BE49-F238E27FC236}">
                <a16:creationId xmlns:a16="http://schemas.microsoft.com/office/drawing/2014/main" id="{FF740D49-880B-4A05-B139-D5FEC371DA1A}"/>
              </a:ext>
            </a:extLst>
          </p:cNvPr>
          <p:cNvSpPr txBox="1"/>
          <p:nvPr/>
        </p:nvSpPr>
        <p:spPr>
          <a:xfrm>
            <a:off x="6299200" y="1573338"/>
            <a:ext cx="2870176" cy="3319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r"/>
            <a:r>
              <a:rPr lang="en-US" sz="2200" dirty="0">
                <a:ea typeface="Segoe UI" charset="0"/>
                <a:cs typeface="Segoe UI" charset="0"/>
                <a:sym typeface="Trebuchet MS"/>
              </a:rPr>
              <a:t>  0</a:t>
            </a:r>
            <a:r>
              <a:rPr lang="en" sz="2200" dirty="0">
                <a:ea typeface="Segoe UI" charset="0"/>
                <a:cs typeface="Segoe UI" charset="0"/>
                <a:sym typeface="Trebuchet MS"/>
              </a:rPr>
              <a:t> × </a:t>
            </a:r>
            <a:r>
              <a:rPr lang="en-US" sz="2200" dirty="0">
                <a:ea typeface="Segoe UI" charset="0"/>
                <a:cs typeface="Segoe UI" charset="0"/>
                <a:sym typeface="Trebuchet MS"/>
              </a:rPr>
              <a:t>16</a:t>
            </a:r>
            <a:r>
              <a:rPr lang="en-US" sz="2200" baseline="30000" dirty="0">
                <a:ea typeface="Segoe UI" charset="0"/>
                <a:cs typeface="Segoe UI" charset="0"/>
                <a:sym typeface="Trebuchet MS"/>
              </a:rPr>
              <a:t>7</a:t>
            </a:r>
            <a:r>
              <a:rPr lang="en" sz="2200" baseline="30000" dirty="0">
                <a:ea typeface="Segoe UI" charset="0"/>
                <a:cs typeface="Segoe UI" charset="0"/>
                <a:sym typeface="Trebuchet MS"/>
              </a:rPr>
              <a:t> </a:t>
            </a:r>
            <a:r>
              <a:rPr lang="en" sz="2200" dirty="0">
                <a:ea typeface="Segoe UI" charset="0"/>
                <a:cs typeface="Segoe UI" charset="0"/>
                <a:sym typeface="Trebuchet MS"/>
              </a:rPr>
              <a:t>+</a:t>
            </a:r>
          </a:p>
          <a:p>
            <a:pPr algn="r"/>
            <a:r>
              <a:rPr lang="en-US" sz="2200" dirty="0">
                <a:ea typeface="Segoe UI" charset="0"/>
                <a:cs typeface="Segoe UI" charset="0"/>
                <a:sym typeface="Trebuchet MS"/>
              </a:rPr>
              <a:t>  0</a:t>
            </a:r>
            <a:r>
              <a:rPr lang="en" sz="2200" dirty="0">
                <a:ea typeface="Segoe UI" charset="0"/>
                <a:cs typeface="Segoe UI" charset="0"/>
                <a:sym typeface="Trebuchet MS"/>
              </a:rPr>
              <a:t> × </a:t>
            </a:r>
            <a:r>
              <a:rPr lang="en-US" sz="2200" dirty="0">
                <a:ea typeface="Segoe UI" charset="0"/>
                <a:cs typeface="Segoe UI" charset="0"/>
                <a:sym typeface="Trebuchet MS"/>
              </a:rPr>
              <a:t>16</a:t>
            </a:r>
            <a:r>
              <a:rPr lang="en-US" sz="2200" baseline="30000" dirty="0">
                <a:ea typeface="Segoe UI" charset="0"/>
                <a:cs typeface="Segoe UI" charset="0"/>
                <a:sym typeface="Trebuchet MS"/>
              </a:rPr>
              <a:t>6</a:t>
            </a:r>
            <a:r>
              <a:rPr lang="en" sz="2200" baseline="30000" dirty="0">
                <a:ea typeface="Segoe UI" charset="0"/>
                <a:cs typeface="Segoe UI" charset="0"/>
                <a:sym typeface="Trebuchet MS"/>
              </a:rPr>
              <a:t> </a:t>
            </a:r>
            <a:r>
              <a:rPr lang="en" sz="2200" dirty="0">
                <a:ea typeface="Segoe UI" charset="0"/>
                <a:cs typeface="Segoe UI" charset="0"/>
                <a:sym typeface="Trebuchet MS"/>
              </a:rPr>
              <a:t>+ </a:t>
            </a:r>
          </a:p>
          <a:p>
            <a:pPr algn="r"/>
            <a:r>
              <a:rPr lang="en-US" sz="2200" dirty="0">
                <a:ea typeface="Segoe UI" charset="0"/>
                <a:cs typeface="Segoe UI" charset="0"/>
                <a:sym typeface="Trebuchet MS"/>
              </a:rPr>
              <a:t>  3</a:t>
            </a:r>
            <a:r>
              <a:rPr lang="en" sz="2200" dirty="0">
                <a:ea typeface="Segoe UI" charset="0"/>
                <a:cs typeface="Segoe UI" charset="0"/>
                <a:sym typeface="Trebuchet MS"/>
              </a:rPr>
              <a:t> × </a:t>
            </a:r>
            <a:r>
              <a:rPr lang="en-US" sz="2200" dirty="0">
                <a:ea typeface="Segoe UI" charset="0"/>
                <a:cs typeface="Segoe UI" charset="0"/>
                <a:sym typeface="Trebuchet MS"/>
              </a:rPr>
              <a:t>16</a:t>
            </a:r>
            <a:r>
              <a:rPr lang="en-US" sz="2200" baseline="30000" dirty="0">
                <a:ea typeface="Segoe UI" charset="0"/>
                <a:cs typeface="Segoe UI" charset="0"/>
                <a:sym typeface="Trebuchet MS"/>
              </a:rPr>
              <a:t>5</a:t>
            </a:r>
            <a:r>
              <a:rPr lang="en" sz="2200" baseline="30000" dirty="0">
                <a:ea typeface="Segoe UI" charset="0"/>
                <a:cs typeface="Segoe UI" charset="0"/>
                <a:sym typeface="Trebuchet MS"/>
              </a:rPr>
              <a:t> </a:t>
            </a:r>
            <a:r>
              <a:rPr lang="en" sz="2200" dirty="0">
                <a:ea typeface="Segoe UI" charset="0"/>
                <a:cs typeface="Segoe UI" charset="0"/>
                <a:sym typeface="Trebuchet MS"/>
              </a:rPr>
              <a:t>+ </a:t>
            </a:r>
          </a:p>
          <a:p>
            <a:pPr algn="r"/>
            <a:r>
              <a:rPr lang="en" sz="2200" dirty="0">
                <a:ea typeface="Segoe UI" charset="0"/>
                <a:cs typeface="Segoe UI" charset="0"/>
                <a:sym typeface="Trebuchet MS"/>
              </a:rPr>
              <a:t>1</a:t>
            </a:r>
            <a:r>
              <a:rPr lang="en-US" sz="2200" dirty="0">
                <a:ea typeface="Segoe UI" charset="0"/>
                <a:cs typeface="Segoe UI" charset="0"/>
                <a:sym typeface="Trebuchet MS"/>
              </a:rPr>
              <a:t>1 </a:t>
            </a:r>
            <a:r>
              <a:rPr lang="en" sz="2200" dirty="0">
                <a:ea typeface="Segoe UI" charset="0"/>
                <a:cs typeface="Segoe UI" charset="0"/>
                <a:sym typeface="Trebuchet MS"/>
              </a:rPr>
              <a:t>× </a:t>
            </a:r>
            <a:r>
              <a:rPr lang="en-US" sz="2200" dirty="0">
                <a:ea typeface="Segoe UI" charset="0"/>
                <a:cs typeface="Segoe UI" charset="0"/>
                <a:sym typeface="Trebuchet MS"/>
              </a:rPr>
              <a:t>16</a:t>
            </a:r>
            <a:r>
              <a:rPr lang="en-US" sz="2200" baseline="30000" dirty="0">
                <a:ea typeface="Segoe UI" charset="0"/>
                <a:cs typeface="Segoe UI" charset="0"/>
                <a:sym typeface="Trebuchet MS"/>
              </a:rPr>
              <a:t>4</a:t>
            </a:r>
            <a:r>
              <a:rPr lang="en" sz="2200" baseline="30000" dirty="0">
                <a:ea typeface="Segoe UI" charset="0"/>
                <a:cs typeface="Segoe UI" charset="0"/>
                <a:sym typeface="Trebuchet MS"/>
              </a:rPr>
              <a:t> </a:t>
            </a:r>
            <a:r>
              <a:rPr lang="en" sz="2200" dirty="0">
                <a:ea typeface="Segoe UI" charset="0"/>
                <a:cs typeface="Segoe UI" charset="0"/>
                <a:sym typeface="Trebuchet MS"/>
              </a:rPr>
              <a:t>+</a:t>
            </a:r>
            <a:endParaRPr lang="en-US" sz="2200" dirty="0">
              <a:ea typeface="Segoe UI" charset="0"/>
              <a:cs typeface="Segoe UI" charset="0"/>
              <a:sym typeface="Trebuchet MS"/>
            </a:endParaRPr>
          </a:p>
          <a:p>
            <a:pPr algn="r"/>
            <a:r>
              <a:rPr lang="en-US" sz="2200" dirty="0">
                <a:ea typeface="Segoe UI" charset="0"/>
                <a:cs typeface="Segoe UI" charset="0"/>
                <a:sym typeface="Trebuchet MS"/>
              </a:rPr>
              <a:t>14 </a:t>
            </a:r>
            <a:r>
              <a:rPr lang="en" sz="2200" dirty="0">
                <a:ea typeface="Segoe UI" charset="0"/>
                <a:cs typeface="Segoe UI" charset="0"/>
                <a:sym typeface="Trebuchet MS"/>
              </a:rPr>
              <a:t>× </a:t>
            </a:r>
            <a:r>
              <a:rPr lang="en-US" sz="2200" dirty="0">
                <a:ea typeface="Segoe UI" charset="0"/>
                <a:cs typeface="Segoe UI" charset="0"/>
                <a:sym typeface="Trebuchet MS"/>
              </a:rPr>
              <a:t>16</a:t>
            </a:r>
            <a:r>
              <a:rPr lang="en-US" sz="2200" baseline="30000" dirty="0">
                <a:ea typeface="Segoe UI" charset="0"/>
                <a:cs typeface="Segoe UI" charset="0"/>
                <a:sym typeface="Trebuchet MS"/>
              </a:rPr>
              <a:t>3</a:t>
            </a:r>
            <a:r>
              <a:rPr lang="en" sz="2200" baseline="30000" dirty="0">
                <a:ea typeface="Segoe UI" charset="0"/>
                <a:cs typeface="Segoe UI" charset="0"/>
                <a:sym typeface="Trebuchet MS"/>
              </a:rPr>
              <a:t> </a:t>
            </a:r>
            <a:r>
              <a:rPr lang="en" sz="2200" dirty="0">
                <a:ea typeface="Segoe UI" charset="0"/>
                <a:cs typeface="Segoe UI" charset="0"/>
                <a:sym typeface="Trebuchet MS"/>
              </a:rPr>
              <a:t>+</a:t>
            </a:r>
          </a:p>
          <a:p>
            <a:pPr algn="r"/>
            <a:r>
              <a:rPr lang="en-US" sz="2200" dirty="0">
                <a:ea typeface="Segoe UI" charset="0"/>
                <a:cs typeface="Segoe UI" charset="0"/>
                <a:sym typeface="Trebuchet MS"/>
              </a:rPr>
              <a:t>14</a:t>
            </a:r>
            <a:r>
              <a:rPr lang="en" sz="2200" dirty="0">
                <a:ea typeface="Segoe UI" charset="0"/>
                <a:cs typeface="Segoe UI" charset="0"/>
                <a:sym typeface="Trebuchet MS"/>
              </a:rPr>
              <a:t> × </a:t>
            </a:r>
            <a:r>
              <a:rPr lang="en-US" sz="2200" dirty="0">
                <a:ea typeface="Segoe UI" charset="0"/>
                <a:cs typeface="Segoe UI" charset="0"/>
                <a:sym typeface="Trebuchet MS"/>
              </a:rPr>
              <a:t>16</a:t>
            </a:r>
            <a:r>
              <a:rPr lang="en-US" sz="2200" baseline="30000" dirty="0">
                <a:ea typeface="Segoe UI" charset="0"/>
                <a:cs typeface="Segoe UI" charset="0"/>
                <a:sym typeface="Trebuchet MS"/>
              </a:rPr>
              <a:t>2</a:t>
            </a:r>
            <a:r>
              <a:rPr lang="en" sz="2200" baseline="30000" dirty="0">
                <a:ea typeface="Segoe UI" charset="0"/>
                <a:cs typeface="Segoe UI" charset="0"/>
                <a:sym typeface="Trebuchet MS"/>
              </a:rPr>
              <a:t> </a:t>
            </a:r>
            <a:r>
              <a:rPr lang="en" sz="2200" dirty="0">
                <a:ea typeface="Segoe UI" charset="0"/>
                <a:cs typeface="Segoe UI" charset="0"/>
                <a:sym typeface="Trebuchet MS"/>
              </a:rPr>
              <a:t>+ </a:t>
            </a:r>
          </a:p>
          <a:p>
            <a:pPr algn="r"/>
            <a:r>
              <a:rPr lang="en-US" sz="2200" dirty="0">
                <a:ea typeface="Segoe UI" charset="0"/>
                <a:cs typeface="Segoe UI" charset="0"/>
                <a:sym typeface="Trebuchet MS"/>
              </a:rPr>
              <a:t>  7</a:t>
            </a:r>
            <a:r>
              <a:rPr lang="en" sz="2200" dirty="0">
                <a:ea typeface="Segoe UI" charset="0"/>
                <a:cs typeface="Segoe UI" charset="0"/>
                <a:sym typeface="Trebuchet MS"/>
              </a:rPr>
              <a:t> × </a:t>
            </a:r>
            <a:r>
              <a:rPr lang="en-US" sz="2200" dirty="0">
                <a:ea typeface="Segoe UI" charset="0"/>
                <a:cs typeface="Segoe UI" charset="0"/>
                <a:sym typeface="Trebuchet MS"/>
              </a:rPr>
              <a:t>16</a:t>
            </a:r>
            <a:r>
              <a:rPr lang="en-US" sz="2200" baseline="30000" dirty="0">
                <a:ea typeface="Segoe UI" charset="0"/>
                <a:cs typeface="Segoe UI" charset="0"/>
                <a:sym typeface="Trebuchet MS"/>
              </a:rPr>
              <a:t>1</a:t>
            </a:r>
            <a:r>
              <a:rPr lang="en" sz="2200" baseline="30000" dirty="0">
                <a:ea typeface="Segoe UI" charset="0"/>
                <a:cs typeface="Segoe UI" charset="0"/>
                <a:sym typeface="Trebuchet MS"/>
              </a:rPr>
              <a:t> </a:t>
            </a:r>
            <a:r>
              <a:rPr lang="en" sz="2200" dirty="0">
                <a:ea typeface="Segoe UI" charset="0"/>
                <a:cs typeface="Segoe UI" charset="0"/>
                <a:sym typeface="Trebuchet MS"/>
              </a:rPr>
              <a:t>+ </a:t>
            </a:r>
          </a:p>
          <a:p>
            <a:pPr algn="r"/>
            <a:r>
              <a:rPr lang="en-US" sz="2200" dirty="0">
                <a:ea typeface="Segoe UI" charset="0"/>
                <a:cs typeface="Segoe UI" charset="0"/>
                <a:sym typeface="Trebuchet MS"/>
              </a:rPr>
              <a:t>  0</a:t>
            </a:r>
            <a:r>
              <a:rPr lang="en" sz="2200" dirty="0">
                <a:ea typeface="Segoe UI" charset="0"/>
                <a:cs typeface="Segoe UI" charset="0"/>
                <a:sym typeface="Trebuchet MS"/>
              </a:rPr>
              <a:t> × </a:t>
            </a:r>
            <a:r>
              <a:rPr lang="en-US" sz="2200" dirty="0">
                <a:ea typeface="Segoe UI" charset="0"/>
                <a:cs typeface="Segoe UI" charset="0"/>
                <a:sym typeface="Trebuchet MS"/>
              </a:rPr>
              <a:t>16</a:t>
            </a:r>
            <a:r>
              <a:rPr lang="en-US" sz="2200" baseline="30000" dirty="0">
                <a:ea typeface="Segoe UI" charset="0"/>
                <a:cs typeface="Segoe UI" charset="0"/>
                <a:sym typeface="Trebuchet MS"/>
              </a:rPr>
              <a:t>0 </a:t>
            </a:r>
            <a:r>
              <a:rPr lang="en" sz="2200" dirty="0">
                <a:ea typeface="Segoe UI" charset="0"/>
                <a:cs typeface="Segoe UI" charset="0"/>
                <a:sym typeface="Trebuchet MS"/>
              </a:rPr>
              <a:t>=</a:t>
            </a:r>
            <a:endParaRPr lang="en-US" sz="3600" dirty="0">
              <a:ea typeface="Segoe UI" charset="0"/>
              <a:cs typeface="Segoe UI" charset="0"/>
              <a:sym typeface="Trebuchet MS"/>
            </a:endParaRPr>
          </a:p>
          <a:p>
            <a:pPr algn="r"/>
            <a:r>
              <a:rPr lang="en-US" sz="3600" dirty="0">
                <a:ea typeface="Segoe UI" charset="0"/>
                <a:cs typeface="Segoe UI" charset="0"/>
                <a:sym typeface="Trebuchet MS"/>
              </a:rPr>
              <a:t>3,927,664</a:t>
            </a:r>
            <a:r>
              <a:rPr lang="en" sz="3600" baseline="-25000" dirty="0">
                <a:ea typeface="Segoe UI" charset="0"/>
                <a:cs typeface="Segoe UI" charset="0"/>
                <a:sym typeface="Trebuchet MS"/>
              </a:rPr>
              <a:t>10</a:t>
            </a:r>
          </a:p>
        </p:txBody>
      </p:sp>
      <p:sp>
        <p:nvSpPr>
          <p:cNvPr id="9" name="Shape 143">
            <a:extLst>
              <a:ext uri="{FF2B5EF4-FFF2-40B4-BE49-F238E27FC236}">
                <a16:creationId xmlns:a16="http://schemas.microsoft.com/office/drawing/2014/main" id="{169688BC-5000-4A4B-8EFF-4E7661E716BB}"/>
              </a:ext>
            </a:extLst>
          </p:cNvPr>
          <p:cNvSpPr txBox="1"/>
          <p:nvPr/>
        </p:nvSpPr>
        <p:spPr>
          <a:xfrm>
            <a:off x="6443925" y="1631064"/>
            <a:ext cx="693900" cy="1331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9600">
                <a:ea typeface="Segoe UI" charset="0"/>
                <a:cs typeface="Segoe UI" charset="0"/>
                <a:sym typeface="Trebuchet MS"/>
              </a:rPr>
              <a:t>=</a:t>
            </a:r>
          </a:p>
        </p:txBody>
      </p:sp>
      <p:sp>
        <p:nvSpPr>
          <p:cNvPr id="10" name="Shape 144">
            <a:extLst>
              <a:ext uri="{FF2B5EF4-FFF2-40B4-BE49-F238E27FC236}">
                <a16:creationId xmlns:a16="http://schemas.microsoft.com/office/drawing/2014/main" id="{F2A4E3D9-2EA8-42DE-B34F-BC025044EE33}"/>
              </a:ext>
            </a:extLst>
          </p:cNvPr>
          <p:cNvSpPr txBox="1"/>
          <p:nvPr/>
        </p:nvSpPr>
        <p:spPr>
          <a:xfrm>
            <a:off x="1167989" y="3560364"/>
            <a:ext cx="5757000" cy="985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2200" b="1" dirty="0">
                <a:ea typeface="Trebuchet MS"/>
                <a:cs typeface="Trebuchet MS"/>
                <a:sym typeface="Trebuchet MS"/>
              </a:rPr>
              <a:t>To convert </a:t>
            </a:r>
            <a:r>
              <a:rPr lang="en-US" sz="2200" b="1" dirty="0">
                <a:ea typeface="Trebuchet MS"/>
                <a:cs typeface="Trebuchet MS"/>
                <a:sym typeface="Trebuchet MS"/>
              </a:rPr>
              <a:t>hex </a:t>
            </a:r>
            <a:r>
              <a:rPr lang="en" sz="2200" b="1" dirty="0">
                <a:ea typeface="Trebuchet MS"/>
                <a:cs typeface="Trebuchet MS"/>
                <a:sym typeface="Trebuchet MS"/>
              </a:rPr>
              <a:t>to decimal: </a:t>
            </a:r>
            <a:r>
              <a:rPr lang="en-US" sz="2200" dirty="0">
                <a:ea typeface="Trebuchet MS"/>
                <a:cs typeface="Trebuchet MS"/>
                <a:sym typeface="Trebuchet MS"/>
              </a:rPr>
              <a:t>use a dang calculator lol</a:t>
            </a:r>
            <a:endParaRPr lang="en" sz="2200" dirty="0"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156618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F9D6D-2BA5-400C-9F23-29961B934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to Hex                                                  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(animated)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492B2B-F2F4-4BF5-A92C-F572F9999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75500" y="5296959"/>
            <a:ext cx="2286000" cy="304271"/>
          </a:xfrm>
        </p:spPr>
        <p:txBody>
          <a:bodyPr/>
          <a:lstStyle/>
          <a:p>
            <a:fld id="{8228C0A2-10A0-40F7-BAE1-3BE620EEA294}" type="slidenum">
              <a:rPr lang="en-US" smtClean="0"/>
              <a:t>22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743851-6817-4E13-B3D2-6C25BFC89032}"/>
              </a:ext>
            </a:extLst>
          </p:cNvPr>
          <p:cNvSpPr txBox="1"/>
          <p:nvPr/>
        </p:nvSpPr>
        <p:spPr>
          <a:xfrm>
            <a:off x="1840356" y="1758389"/>
            <a:ext cx="1120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1100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C8189A-86F0-4259-91BA-F9B814EB298F}"/>
              </a:ext>
            </a:extLst>
          </p:cNvPr>
          <p:cNvSpPr txBox="1"/>
          <p:nvPr/>
        </p:nvSpPr>
        <p:spPr>
          <a:xfrm>
            <a:off x="2950155" y="1758389"/>
            <a:ext cx="1120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1010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4DBDEE-E0E5-452A-B783-5C5DAF0EECAE}"/>
              </a:ext>
            </a:extLst>
          </p:cNvPr>
          <p:cNvSpPr txBox="1"/>
          <p:nvPr/>
        </p:nvSpPr>
        <p:spPr>
          <a:xfrm>
            <a:off x="4022373" y="1758389"/>
            <a:ext cx="1120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0010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33162A-21B5-4F4C-A01A-AB6D0D29C57E}"/>
              </a:ext>
            </a:extLst>
          </p:cNvPr>
          <p:cNvSpPr txBox="1"/>
          <p:nvPr/>
        </p:nvSpPr>
        <p:spPr>
          <a:xfrm>
            <a:off x="5052039" y="1758389"/>
            <a:ext cx="1120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0000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5705CE-099D-4A83-94AC-BD39424679E3}"/>
              </a:ext>
            </a:extLst>
          </p:cNvPr>
          <p:cNvSpPr txBox="1"/>
          <p:nvPr/>
        </p:nvSpPr>
        <p:spPr>
          <a:xfrm>
            <a:off x="6147745" y="1758389"/>
            <a:ext cx="1120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0010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F755B6-0A16-43B6-9F57-D319032497EC}"/>
              </a:ext>
            </a:extLst>
          </p:cNvPr>
          <p:cNvSpPr txBox="1"/>
          <p:nvPr/>
        </p:nvSpPr>
        <p:spPr>
          <a:xfrm>
            <a:off x="8323917" y="1758389"/>
            <a:ext cx="1120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0001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B2098D-4BA6-4A98-9B8E-C6F282A24884}"/>
              </a:ext>
            </a:extLst>
          </p:cNvPr>
          <p:cNvSpPr txBox="1"/>
          <p:nvPr/>
        </p:nvSpPr>
        <p:spPr>
          <a:xfrm>
            <a:off x="7238371" y="1758389"/>
            <a:ext cx="1120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0110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96DBE88-1327-4AB2-992C-6173F29A4D91}"/>
              </a:ext>
            </a:extLst>
          </p:cNvPr>
          <p:cNvSpPr txBox="1"/>
          <p:nvPr/>
        </p:nvSpPr>
        <p:spPr>
          <a:xfrm>
            <a:off x="773207" y="1758389"/>
            <a:ext cx="1120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0100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89CB1CF-250A-40D2-80F7-0F44767B02E2}"/>
              </a:ext>
            </a:extLst>
          </p:cNvPr>
          <p:cNvCxnSpPr/>
          <p:nvPr/>
        </p:nvCxnSpPr>
        <p:spPr>
          <a:xfrm>
            <a:off x="1885875" y="1303020"/>
            <a:ext cx="0" cy="1447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3C1057A-7E8F-4EC2-AFCA-50C364F3F012}"/>
              </a:ext>
            </a:extLst>
          </p:cNvPr>
          <p:cNvCxnSpPr/>
          <p:nvPr/>
        </p:nvCxnSpPr>
        <p:spPr>
          <a:xfrm>
            <a:off x="2960317" y="1303020"/>
            <a:ext cx="0" cy="1447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5F43B41-0A42-4784-B5A6-94BF771BCC1E}"/>
              </a:ext>
            </a:extLst>
          </p:cNvPr>
          <p:cNvCxnSpPr/>
          <p:nvPr/>
        </p:nvCxnSpPr>
        <p:spPr>
          <a:xfrm>
            <a:off x="4034759" y="1303020"/>
            <a:ext cx="0" cy="1447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A77F296-7D7E-4E81-817C-57C82BB652B5}"/>
              </a:ext>
            </a:extLst>
          </p:cNvPr>
          <p:cNvCxnSpPr/>
          <p:nvPr/>
        </p:nvCxnSpPr>
        <p:spPr>
          <a:xfrm>
            <a:off x="5109201" y="1303020"/>
            <a:ext cx="0" cy="1447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F2606C9-22F2-49D4-8322-718420031E7A}"/>
              </a:ext>
            </a:extLst>
          </p:cNvPr>
          <p:cNvCxnSpPr/>
          <p:nvPr/>
        </p:nvCxnSpPr>
        <p:spPr>
          <a:xfrm>
            <a:off x="6183643" y="1303020"/>
            <a:ext cx="0" cy="1447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3DA847E-0DA4-4461-BA5D-ED3D71DBB8AD}"/>
              </a:ext>
            </a:extLst>
          </p:cNvPr>
          <p:cNvCxnSpPr/>
          <p:nvPr/>
        </p:nvCxnSpPr>
        <p:spPr>
          <a:xfrm>
            <a:off x="7258085" y="1303020"/>
            <a:ext cx="0" cy="1447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8F080D2-D43F-4DA1-B5B4-E177BBCBA19B}"/>
              </a:ext>
            </a:extLst>
          </p:cNvPr>
          <p:cNvCxnSpPr/>
          <p:nvPr/>
        </p:nvCxnSpPr>
        <p:spPr>
          <a:xfrm>
            <a:off x="8332524" y="1303020"/>
            <a:ext cx="0" cy="1447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2487B20-F065-4821-8095-1258940528E9}"/>
              </a:ext>
            </a:extLst>
          </p:cNvPr>
          <p:cNvSpPr txBox="1"/>
          <p:nvPr/>
        </p:nvSpPr>
        <p:spPr>
          <a:xfrm>
            <a:off x="1105150" y="2750821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A816C5-2373-4EC9-AF61-F4F14DF93369}"/>
              </a:ext>
            </a:extLst>
          </p:cNvPr>
          <p:cNvSpPr txBox="1"/>
          <p:nvPr/>
        </p:nvSpPr>
        <p:spPr>
          <a:xfrm>
            <a:off x="2117984" y="2750820"/>
            <a:ext cx="59503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C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C1F9F1-F804-4027-A798-D6A920807CCA}"/>
              </a:ext>
            </a:extLst>
          </p:cNvPr>
          <p:cNvSpPr txBox="1"/>
          <p:nvPr/>
        </p:nvSpPr>
        <p:spPr>
          <a:xfrm>
            <a:off x="3192422" y="2750814"/>
            <a:ext cx="63030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B0EBB97-0CEC-4D12-A6D3-497882C61F10}"/>
              </a:ext>
            </a:extLst>
          </p:cNvPr>
          <p:cNvSpPr txBox="1"/>
          <p:nvPr/>
        </p:nvSpPr>
        <p:spPr>
          <a:xfrm>
            <a:off x="4260034" y="2750814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740E631-568D-4B27-9527-644813D7707D}"/>
              </a:ext>
            </a:extLst>
          </p:cNvPr>
          <p:cNvSpPr txBox="1"/>
          <p:nvPr/>
        </p:nvSpPr>
        <p:spPr>
          <a:xfrm>
            <a:off x="5338616" y="2750814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E863000-07DD-4DBA-B2B1-9A3DAFFDDE82}"/>
              </a:ext>
            </a:extLst>
          </p:cNvPr>
          <p:cNvSpPr txBox="1"/>
          <p:nvPr/>
        </p:nvSpPr>
        <p:spPr>
          <a:xfrm>
            <a:off x="6370951" y="2750814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A652581-2723-44E8-B1D8-28608C9BF997}"/>
              </a:ext>
            </a:extLst>
          </p:cNvPr>
          <p:cNvSpPr txBox="1"/>
          <p:nvPr/>
        </p:nvSpPr>
        <p:spPr>
          <a:xfrm>
            <a:off x="7483360" y="2750814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AFE4B87-4E02-4B29-8B45-FC44210E0CC2}"/>
              </a:ext>
            </a:extLst>
          </p:cNvPr>
          <p:cNvSpPr txBox="1"/>
          <p:nvPr/>
        </p:nvSpPr>
        <p:spPr>
          <a:xfrm>
            <a:off x="8517675" y="2750814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B9182A1-CDC3-4767-B5BF-983D6A06A356}"/>
              </a:ext>
            </a:extLst>
          </p:cNvPr>
          <p:cNvSpPr txBox="1"/>
          <p:nvPr/>
        </p:nvSpPr>
        <p:spPr>
          <a:xfrm>
            <a:off x="3346722" y="4058037"/>
            <a:ext cx="27959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0x4CA20261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2A96461-CF16-41CB-A6FA-733EF271FB98}"/>
              </a:ext>
            </a:extLst>
          </p:cNvPr>
          <p:cNvSpPr txBox="1"/>
          <p:nvPr/>
        </p:nvSpPr>
        <p:spPr>
          <a:xfrm>
            <a:off x="3265770" y="4765924"/>
            <a:ext cx="2969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32-bits! (Not so bad…)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37AC892-9B3F-440F-9D0B-12C9BBF431FF}"/>
              </a:ext>
            </a:extLst>
          </p:cNvPr>
          <p:cNvSpPr txBox="1"/>
          <p:nvPr/>
        </p:nvSpPr>
        <p:spPr>
          <a:xfrm>
            <a:off x="4221663" y="5209197"/>
            <a:ext cx="4867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AB5DA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Q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Create a random binary string and practice!</a:t>
            </a:r>
          </a:p>
        </p:txBody>
      </p:sp>
    </p:spTree>
    <p:extLst>
      <p:ext uri="{BB962C8B-B14F-4D97-AF65-F5344CB8AC3E}">
        <p14:creationId xmlns:p14="http://schemas.microsoft.com/office/powerpoint/2010/main" val="2990999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4.44444E-6 L -0.09132 4.44444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66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44444E-6 L -0.04861 4.44444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31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87 4.44444E-6 L -0.01441 -0.00084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77" y="-56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4.44444E-6 L 0.03177 0.00027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80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4.44444E-6 L 0.06944 0.0002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72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4.44444E-6 L 0.13959 0.00166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79" y="83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4.44444E-6 L 0.0974 0.00027 " pathEditMode="fixed" rAng="0" ptsTypes="AA">
                                      <p:cBhvr>
                                        <p:cTn id="1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61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4.44444E-6 L -0.11754 4.44444E-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8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23" grpId="0"/>
      <p:bldP spid="24" grpId="0"/>
      <p:bldP spid="25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3069E-FFEB-4D15-8F8D-B35C0316C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Let's make a base-16  number system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101815-C589-4561-88FC-FB0A4D11F1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0400" y="876300"/>
                <a:ext cx="8991600" cy="483870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spcBef>
                    <a:spcPts val="0"/>
                  </a:spcBef>
                  <a:buNone/>
                </a:pPr>
                <a:r>
                  <a:rPr lang="en-GB" dirty="0"/>
                  <a:t>Using base </a:t>
                </a:r>
                <a:r>
                  <a:rPr lang="en-GB" b="1" dirty="0"/>
                  <a:t>16</a:t>
                </a:r>
              </a:p>
              <a:p>
                <a:pPr>
                  <a:spcBef>
                    <a:spcPts val="0"/>
                  </a:spcBef>
                </a:pPr>
                <a:r>
                  <a:rPr lang="en-GB" b="0" dirty="0"/>
                  <a:t>A number represented by the digits</a:t>
                </a:r>
                <a:br>
                  <a:rPr lang="en-GB" b="0" dirty="0"/>
                </a:br>
                <a:br>
                  <a:rPr lang="en-GB" b="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GB" b="0" i="1" dirty="0">
                  <a:latin typeface="Cambria Math" panose="02040503050406030204" pitchFamily="18" charset="0"/>
                </a:endParaRPr>
              </a:p>
              <a:p>
                <a:pPr>
                  <a:spcBef>
                    <a:spcPts val="0"/>
                  </a:spcBef>
                </a:pPr>
                <a:r>
                  <a:rPr lang="en-GB" dirty="0">
                    <a:latin typeface="Cambria Math" panose="02040503050406030204" pitchFamily="18" charset="0"/>
                  </a:rPr>
                  <a:t>Has the value</a:t>
                </a:r>
                <a:br>
                  <a:rPr lang="en-GB" dirty="0">
                    <a:latin typeface="Cambria Math" panose="02040503050406030204" pitchFamily="18" charset="0"/>
                  </a:rPr>
                </a:br>
                <a:br>
                  <a:rPr lang="en-GB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GB" b="1" i="0" dirty="0" smtClean="0"/>
                          <m:t>16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GB" b="1" i="0" dirty="0" smtClean="0"/>
                          <m:t>16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…+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GB" b="1" i="0" dirty="0" smtClean="0"/>
                          <m:t>16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GB" b="1" i="0" dirty="0" smtClean="0"/>
                          <m:t>16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en-GB" dirty="0">
                  <a:latin typeface="Cambria Math" panose="02040503050406030204" pitchFamily="18" charset="0"/>
                </a:endParaRPr>
              </a:p>
              <a:p>
                <a:pPr>
                  <a:spcBef>
                    <a:spcPts val="0"/>
                  </a:spcBef>
                </a:pPr>
                <a:endParaRPr lang="en-GB" dirty="0"/>
              </a:p>
              <a:p>
                <a:pPr>
                  <a:spcBef>
                    <a:spcPts val="0"/>
                  </a:spcBef>
                </a:pPr>
                <a:r>
                  <a:rPr lang="en-GB" dirty="0"/>
                  <a:t>Using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digits we can represent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𝟏𝟔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dirty="0"/>
                  <a:t> different numbers</a:t>
                </a:r>
              </a:p>
              <a:p>
                <a:pPr>
                  <a:spcBef>
                    <a:spcPts val="0"/>
                  </a:spcBef>
                </a:pPr>
                <a:endParaRPr lang="en-GB" dirty="0"/>
              </a:p>
              <a:p>
                <a:pPr>
                  <a:spcBef>
                    <a:spcPts val="0"/>
                  </a:spcBef>
                </a:pPr>
                <a:r>
                  <a:rPr lang="en-GB" dirty="0"/>
                  <a:t>The smallest non-negative number representable with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digits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dirty="0"/>
              </a:p>
              <a:p>
                <a:pPr>
                  <a:spcBef>
                    <a:spcPts val="0"/>
                  </a:spcBef>
                </a:pPr>
                <a:endParaRPr lang="en-GB" dirty="0"/>
              </a:p>
              <a:p>
                <a:pPr>
                  <a:spcBef>
                    <a:spcPts val="0"/>
                  </a:spcBef>
                </a:pPr>
                <a:r>
                  <a:rPr lang="en-GB" dirty="0"/>
                  <a:t>The largest number representable with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digits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GB" b="1" i="0" dirty="0" smtClean="0"/>
                          <m:t>16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GB" dirty="0"/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GB" dirty="0"/>
              </a:p>
              <a:p>
                <a:pPr>
                  <a:spcBef>
                    <a:spcPts val="0"/>
                  </a:spcBef>
                </a:pPr>
                <a:r>
                  <a:rPr lang="en-GB" dirty="0"/>
                  <a:t>Using </a:t>
                </a:r>
                <a:r>
                  <a:rPr lang="en-GB" b="1" dirty="0"/>
                  <a:t>16</a:t>
                </a:r>
                <a:r>
                  <a:rPr lang="en-GB" dirty="0"/>
                  <a:t> symbols: 0, 1, 2, 3, 4, 5, 6, 7, 8, 9, A, B, C, D, E, F</a:t>
                </a:r>
              </a:p>
              <a:p>
                <a:pPr>
                  <a:spcBef>
                    <a:spcPts val="0"/>
                  </a:spcBef>
                </a:pPr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101815-C589-4561-88FC-FB0A4D11F1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0400" y="876300"/>
                <a:ext cx="8991600" cy="4838701"/>
              </a:xfrm>
              <a:blipFill>
                <a:blip r:embed="rId2"/>
                <a:stretch>
                  <a:fillRect l="-1017" t="-23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686A5-8D10-4C29-B673-AD37C62D4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4184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003300" y="419100"/>
            <a:ext cx="8140700" cy="2743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latin typeface="Segoe UI" charset="0"/>
                <a:ea typeface="Segoe UI" charset="0"/>
                <a:cs typeface="Segoe UI" charset="0"/>
              </a:rPr>
              <a:t>1111 1111</a:t>
            </a:r>
          </a:p>
          <a:p>
            <a:pPr marL="0" indent="0" algn="ctr">
              <a:buNone/>
            </a:pPr>
            <a:r>
              <a:rPr lang="en-US" sz="3200" b="1" dirty="0">
                <a:latin typeface="Segoe UI" charset="0"/>
                <a:ea typeface="Segoe UI" charset="0"/>
                <a:cs typeface="Segoe UI" charset="0"/>
              </a:rPr>
              <a:t>  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23BF9E9-DE63-4B45-A0F9-8FB51292A044}"/>
              </a:ext>
            </a:extLst>
          </p:cNvPr>
          <p:cNvCxnSpPr>
            <a:cxnSpLocks/>
          </p:cNvCxnSpPr>
          <p:nvPr/>
        </p:nvCxnSpPr>
        <p:spPr>
          <a:xfrm>
            <a:off x="5080000" y="419100"/>
            <a:ext cx="0" cy="6096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CC46D6D-6944-4960-9410-CE2E6F34AB8A}"/>
              </a:ext>
            </a:extLst>
          </p:cNvPr>
          <p:cNvSpPr txBox="1"/>
          <p:nvPr/>
        </p:nvSpPr>
        <p:spPr>
          <a:xfrm>
            <a:off x="4500836" y="4455711"/>
            <a:ext cx="425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/>
              <a:t>F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333103-0A10-47E4-9380-BF7980A179B8}"/>
              </a:ext>
            </a:extLst>
          </p:cNvPr>
          <p:cNvSpPr txBox="1"/>
          <p:nvPr/>
        </p:nvSpPr>
        <p:spPr>
          <a:xfrm>
            <a:off x="5230752" y="4455711"/>
            <a:ext cx="425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/>
              <a:t>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BFA74CE-6229-4DBE-88EB-7ABD3F5E9624}"/>
                  </a:ext>
                </a:extLst>
              </p:cNvPr>
              <p:cNvSpPr/>
              <p:nvPr/>
            </p:nvSpPr>
            <p:spPr>
              <a:xfrm>
                <a:off x="734131" y="1270564"/>
                <a:ext cx="8753358" cy="4347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1×</m:t>
                      </m:r>
                      <m:sSup>
                        <m:sSupPr>
                          <m:ctrlPr>
                            <a:rPr lang="en-GB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  <m:r>
                        <a:rPr lang="en-GB" sz="2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+1×</m:t>
                      </m:r>
                      <m:sSup>
                        <m:sSupPr>
                          <m:ctrlPr>
                            <a:rPr lang="en-GB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GB" sz="2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+1×</m:t>
                      </m:r>
                      <m:sSup>
                        <m:sSupPr>
                          <m:ctrlPr>
                            <a:rPr lang="en-GB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GB" sz="2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+1×</m:t>
                      </m:r>
                      <m:sSup>
                        <m:sSupPr>
                          <m:ctrlPr>
                            <a:rPr lang="en-GB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GB" sz="2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20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1×</m:t>
                      </m:r>
                      <m:sSup>
                        <m:sSupPr>
                          <m:ctrlPr>
                            <a:rPr lang="en-GB" sz="22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22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2200" i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+1×</m:t>
                      </m:r>
                      <m:sSup>
                        <m:sSupPr>
                          <m:ctrlPr>
                            <a:rPr lang="en-GB" sz="22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22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200" i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+1×</m:t>
                      </m:r>
                      <m:sSup>
                        <m:sSupPr>
                          <m:ctrlPr>
                            <a:rPr lang="en-GB" sz="22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22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GB" sz="2200" i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+1×</m:t>
                      </m:r>
                      <m:sSup>
                        <m:sSupPr>
                          <m:ctrlPr>
                            <a:rPr lang="en-GB" sz="22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22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BFA74CE-6229-4DBE-88EB-7ABD3F5E96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131" y="1270564"/>
                <a:ext cx="8753358" cy="4347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FBE36CE9-D7C5-4D38-AA23-3050327EE692}"/>
                  </a:ext>
                </a:extLst>
              </p:cNvPr>
              <p:cNvSpPr/>
              <p:nvPr/>
            </p:nvSpPr>
            <p:spPr>
              <a:xfrm>
                <a:off x="5003801" y="1712511"/>
                <a:ext cx="4526381" cy="1107996"/>
              </a:xfrm>
              <a:prstGeom prst="rect">
                <a:avLst/>
              </a:prstGeom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GB" sz="220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1×</m:t>
                      </m:r>
                      <m:sSup>
                        <m:sSupPr>
                          <m:ctrlPr>
                            <a:rPr lang="en-GB" sz="22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22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2200" i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+1×</m:t>
                      </m:r>
                      <m:sSup>
                        <m:sSupPr>
                          <m:ctrlPr>
                            <a:rPr lang="en-GB" sz="22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22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200" i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+1×</m:t>
                      </m:r>
                      <m:sSup>
                        <m:sSupPr>
                          <m:ctrlPr>
                            <a:rPr lang="en-GB" sz="22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22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GB" sz="2200" i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+1×</m:t>
                      </m:r>
                      <m:sSup>
                        <m:sSupPr>
                          <m:ctrlPr>
                            <a:rPr lang="en-GB" sz="22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22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GB" sz="2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20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GB" sz="2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8+4+2+1=</m:t>
                      </m:r>
                    </m:oMath>
                  </m:oMathPara>
                </a14:m>
                <a:endParaRPr lang="en-GB" sz="220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GB" sz="220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GB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FBE36CE9-D7C5-4D38-AA23-3050327EE6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801" y="1712511"/>
                <a:ext cx="4526381" cy="11079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F643B157-4707-41F3-9A3F-2BE484E473E2}"/>
                  </a:ext>
                </a:extLst>
              </p:cNvPr>
              <p:cNvSpPr/>
              <p:nvPr/>
            </p:nvSpPr>
            <p:spPr>
              <a:xfrm>
                <a:off x="2143364" y="2960024"/>
                <a:ext cx="5915529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20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1×</m:t>
                          </m:r>
                          <m:sSup>
                            <m:sSupPr>
                              <m:ctrlPr>
                                <a:rPr lang="en-GB" sz="22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2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sz="22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GB" sz="22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+1×</m:t>
                          </m:r>
                          <m:sSup>
                            <m:sSupPr>
                              <m:ctrlPr>
                                <a:rPr lang="en-GB" sz="22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2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sz="22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2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+1×</m:t>
                          </m:r>
                          <m:sSup>
                            <m:sSupPr>
                              <m:ctrlPr>
                                <a:rPr lang="en-GB" sz="22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2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sz="22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GB" sz="22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+1×</m:t>
                          </m:r>
                          <m:sSup>
                            <m:sSupPr>
                              <m:ctrlPr>
                                <a:rPr lang="en-GB" sz="22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2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sz="22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GB" sz="2400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</a:rPr>
                            <m:t> </m:t>
                          </m:r>
                        </m:e>
                      </m:d>
                      <m:r>
                        <a:rPr lang="en-GB" sz="2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200" i="1">
                              <a:solidFill>
                                <a:srgbClr val="482CB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i="1">
                              <a:solidFill>
                                <a:srgbClr val="482CBC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2200" i="1">
                              <a:solidFill>
                                <a:srgbClr val="482CBC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GB" sz="2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20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F643B157-4707-41F3-9A3F-2BE484E473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364" y="2960024"/>
                <a:ext cx="5915529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6796C8AC-1830-46F3-BAF3-D328FFCCDAA1}"/>
                  </a:ext>
                </a:extLst>
              </p:cNvPr>
              <p:cNvSpPr/>
              <p:nvPr/>
            </p:nvSpPr>
            <p:spPr>
              <a:xfrm>
                <a:off x="8305037" y="4305301"/>
                <a:ext cx="1225144" cy="430887"/>
              </a:xfrm>
              <a:prstGeom prst="rect">
                <a:avLst/>
              </a:prstGeom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200" i="1">
                              <a:solidFill>
                                <a:srgbClr val="482CB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i="1">
                              <a:solidFill>
                                <a:srgbClr val="482CBC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2200" i="1">
                              <a:solidFill>
                                <a:srgbClr val="482CBC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GB" sz="2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200" i="1">
                          <a:solidFill>
                            <a:srgbClr val="482CBC"/>
                          </a:solidFill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6796C8AC-1830-46F3-BAF3-D328FFCCDA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5037" y="4305301"/>
                <a:ext cx="122514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3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485C68E-D7B9-4B69-81C9-06762EA48699}"/>
              </a:ext>
            </a:extLst>
          </p:cNvPr>
          <p:cNvCxnSpPr>
            <a:cxnSpLocks/>
          </p:cNvCxnSpPr>
          <p:nvPr/>
        </p:nvCxnSpPr>
        <p:spPr>
          <a:xfrm>
            <a:off x="5080000" y="4455710"/>
            <a:ext cx="0" cy="6096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C298F7D4-FB5F-4EC6-9AEE-43EA0A9C932E}"/>
                  </a:ext>
                </a:extLst>
              </p:cNvPr>
              <p:cNvSpPr/>
              <p:nvPr/>
            </p:nvSpPr>
            <p:spPr>
              <a:xfrm>
                <a:off x="3704784" y="3874414"/>
                <a:ext cx="2750433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en-GB" sz="2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200" i="1">
                              <a:solidFill>
                                <a:srgbClr val="482CB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i="1">
                              <a:solidFill>
                                <a:srgbClr val="482CBC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e>
                        <m:sup>
                          <m:r>
                            <a:rPr lang="en-GB" sz="2200" i="1">
                              <a:solidFill>
                                <a:srgbClr val="482CBC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GB" sz="2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20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en-GB" sz="2200" i="1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i="1">
                              <a:latin typeface="Cambria Math" panose="02040503050406030204" pitchFamily="18" charset="0"/>
                            </a:rPr>
                            <m:t>16</m:t>
                          </m:r>
                        </m:e>
                        <m:sup>
                          <m:r>
                            <a:rPr lang="en-GB" sz="2200" i="1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C298F7D4-FB5F-4EC6-9AEE-43EA0A9C93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4784" y="3874414"/>
                <a:ext cx="2750433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allout: Line 11">
            <a:extLst>
              <a:ext uri="{FF2B5EF4-FFF2-40B4-BE49-F238E27FC236}">
                <a16:creationId xmlns:a16="http://schemas.microsoft.com/office/drawing/2014/main" id="{12F295FD-9862-4137-897A-7148ABCCB958}"/>
              </a:ext>
            </a:extLst>
          </p:cNvPr>
          <p:cNvSpPr/>
          <p:nvPr/>
        </p:nvSpPr>
        <p:spPr>
          <a:xfrm>
            <a:off x="8158581" y="3507776"/>
            <a:ext cx="1371600" cy="797524"/>
          </a:xfrm>
          <a:prstGeom prst="borderCallout1">
            <a:avLst>
              <a:gd name="adj1" fmla="val 50363"/>
              <a:gd name="adj2" fmla="val -8059"/>
              <a:gd name="adj3" fmla="val -21028"/>
              <a:gd name="adj4" fmla="val -62750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Factoring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4A0A0C-E8B4-4593-A0A3-E60F65864AF5}"/>
              </a:ext>
            </a:extLst>
          </p:cNvPr>
          <p:cNvSpPr/>
          <p:nvPr/>
        </p:nvSpPr>
        <p:spPr>
          <a:xfrm>
            <a:off x="84295" y="3630224"/>
            <a:ext cx="2364653" cy="1258364"/>
          </a:xfrm>
          <a:prstGeom prst="rect">
            <a:avLst/>
          </a:prstGeom>
          <a:solidFill>
            <a:srgbClr val="FFC0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This works with any base that is a power of 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9E401F-8F50-47C0-86E4-0E34DC232C4E}"/>
              </a:ext>
            </a:extLst>
          </p:cNvPr>
          <p:cNvSpPr/>
          <p:nvPr/>
        </p:nvSpPr>
        <p:spPr>
          <a:xfrm>
            <a:off x="1987266" y="4417026"/>
            <a:ext cx="2364653" cy="1258364"/>
          </a:xfrm>
          <a:prstGeom prst="rect">
            <a:avLst/>
          </a:prstGeom>
          <a:solidFill>
            <a:srgbClr val="FFC0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E.g. Base 4=2</a:t>
            </a:r>
            <a:r>
              <a:rPr lang="en-GB" sz="2000" b="1" baseline="30000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lang="en-GB" sz="2000" b="1" dirty="0">
                <a:solidFill>
                  <a:schemeClr val="tx1"/>
                </a:solidFill>
              </a:rPr>
              <a:t>Split into groups of 2 bits</a:t>
            </a:r>
            <a:endParaRPr lang="en-GB" sz="2000" b="1" baseline="30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42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8" grpId="0"/>
      <p:bldP spid="38" grpId="0" animBg="1"/>
      <p:bldP spid="39" grpId="0"/>
      <p:bldP spid="40" grpId="0" animBg="1"/>
      <p:bldP spid="42" grpId="0"/>
      <p:bldP spid="12" grpId="0" animBg="1"/>
      <p:bldP spid="4" grpId="0" animBg="1"/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8B9538C-77C0-4232-8C47-A3A373010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Integer Encoding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5452F44-9407-4813-9D40-64614FB068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Casting is Not Just a Witch or Wizard Thing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B991D2-CC76-4272-A721-20C216C9C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75500" y="5296959"/>
            <a:ext cx="2286000" cy="304271"/>
          </a:xfrm>
        </p:spPr>
        <p:txBody>
          <a:bodyPr/>
          <a:lstStyle/>
          <a:p>
            <a:fld id="{B4AAD609-F83C-4414-814B-B5A2DF99692C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653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433" y="770468"/>
            <a:ext cx="9381067" cy="4377002"/>
          </a:xfrm>
        </p:spPr>
        <p:txBody>
          <a:bodyPr>
            <a:normAutofit/>
          </a:bodyPr>
          <a:lstStyle/>
          <a:p>
            <a:r>
              <a:rPr lang="en-US" dirty="0"/>
              <a:t>In computers, </a:t>
            </a:r>
            <a:r>
              <a:rPr lang="en-US" b="1" dirty="0"/>
              <a:t>numbers are finite.</a:t>
            </a:r>
            <a:endParaRPr lang="en-US" dirty="0"/>
          </a:p>
          <a:p>
            <a:r>
              <a:rPr lang="en-US" dirty="0"/>
              <a:t>Let's say our 4-digit display was counting up: </a:t>
            </a:r>
            <a:br>
              <a:rPr lang="en-US" dirty="0"/>
            </a:br>
            <a:r>
              <a:rPr lang="en-US" dirty="0"/>
              <a:t>9997, 9998, 9999</a:t>
            </a:r>
            <a:r>
              <a:rPr lang="mr-IN" dirty="0"/>
              <a:t>…</a:t>
            </a:r>
            <a:endParaRPr lang="en-US" dirty="0"/>
          </a:p>
          <a:p>
            <a:r>
              <a:rPr lang="en-US" dirty="0"/>
              <a:t>What comes "next"?</a:t>
            </a:r>
          </a:p>
          <a:p>
            <a:pPr lvl="1"/>
            <a:r>
              <a:rPr lang="en-US" dirty="0"/>
              <a:t>What does this "0000" </a:t>
            </a:r>
            <a:r>
              <a:rPr lang="en-US" i="1" dirty="0"/>
              <a:t>really mean?</a:t>
            </a:r>
          </a:p>
          <a:p>
            <a:pPr lvl="1"/>
            <a:r>
              <a:rPr lang="en-US" dirty="0"/>
              <a:t>It </a:t>
            </a:r>
            <a:r>
              <a:rPr lang="en-US" b="1" dirty="0"/>
              <a:t>wrapped around. </a:t>
            </a:r>
            <a:endParaRPr lang="en-US" dirty="0"/>
          </a:p>
          <a:p>
            <a:r>
              <a:rPr lang="en-US" dirty="0"/>
              <a:t>This is </a:t>
            </a:r>
            <a:r>
              <a:rPr lang="en-US" b="1" dirty="0"/>
              <a:t>overflow:</a:t>
            </a:r>
            <a:r>
              <a:rPr lang="en-US" dirty="0"/>
              <a:t> the number you are </a:t>
            </a:r>
            <a:r>
              <a:rPr lang="en-US" i="1" dirty="0"/>
              <a:t>trying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to represent is </a:t>
            </a:r>
            <a:r>
              <a:rPr lang="en-US" b="1" dirty="0"/>
              <a:t>too big to be represented.</a:t>
            </a:r>
          </a:p>
          <a:p>
            <a:r>
              <a:rPr lang="en-US" dirty="0"/>
              <a:t>Essentially, </a:t>
            </a:r>
            <a:r>
              <a:rPr lang="en-US" b="1" dirty="0"/>
              <a:t>all arithmetic on the computer is modular arithmetic!</a:t>
            </a:r>
          </a:p>
          <a:p>
            <a:pPr lvl="1"/>
            <a:r>
              <a:rPr lang="en-US" dirty="0"/>
              <a:t>This causes a </a:t>
            </a:r>
            <a:r>
              <a:rPr lang="en-US" i="1" dirty="0"/>
              <a:t>lot</a:t>
            </a:r>
            <a:r>
              <a:rPr lang="en-US" dirty="0"/>
              <a:t> of software bugs.</a:t>
            </a:r>
          </a:p>
          <a:p>
            <a:pPr lvl="1"/>
            <a:r>
              <a:rPr lang="en-US" dirty="0"/>
              <a:t>https://en.wikipedia.org/wiki/Pac-Man#Level_256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7" name="Shape 3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40587" y="571500"/>
            <a:ext cx="2688560" cy="112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Shape 3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0587" y="1732350"/>
            <a:ext cx="2688560" cy="11251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26551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4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carrousel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008F93-CE9B-4CBC-810C-1BF727F5B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300" y="880534"/>
            <a:ext cx="9220200" cy="4266936"/>
          </a:xfrm>
        </p:spPr>
        <p:txBody>
          <a:bodyPr/>
          <a:lstStyle/>
          <a:p>
            <a:r>
              <a:rPr lang="en-GB" dirty="0"/>
              <a:t>Computers perform modulus arithmetic</a:t>
            </a:r>
          </a:p>
          <a:p>
            <a:pPr lvl="1"/>
            <a:r>
              <a:rPr lang="en-GB" dirty="0"/>
              <a:t>Meaning: it goes around!</a:t>
            </a:r>
          </a:p>
          <a:p>
            <a:pPr lvl="1"/>
            <a:r>
              <a:rPr lang="en-GB" dirty="0"/>
              <a:t>E.g. in a 4-bit computer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27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1B8B6D3-DAFA-4876-AEBE-27D7C1086A54}"/>
              </a:ext>
            </a:extLst>
          </p:cNvPr>
          <p:cNvGrpSpPr/>
          <p:nvPr/>
        </p:nvGrpSpPr>
        <p:grpSpPr>
          <a:xfrm>
            <a:off x="4647113" y="1311721"/>
            <a:ext cx="3020628" cy="2961564"/>
            <a:chOff x="583683" y="1841268"/>
            <a:chExt cx="3020628" cy="2961564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8D73084-D41E-422D-94BB-3AC65EC0922F}"/>
                </a:ext>
              </a:extLst>
            </p:cNvPr>
            <p:cNvSpPr/>
            <p:nvPr/>
          </p:nvSpPr>
          <p:spPr>
            <a:xfrm>
              <a:off x="1062567" y="2225384"/>
              <a:ext cx="2133600" cy="212776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A464051-90E9-41EF-B997-519DD8F29BF8}"/>
                </a:ext>
              </a:extLst>
            </p:cNvPr>
            <p:cNvSpPr txBox="1"/>
            <p:nvPr/>
          </p:nvSpPr>
          <p:spPr>
            <a:xfrm>
              <a:off x="1948869" y="1841268"/>
              <a:ext cx="360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latin typeface="Consolas" charset="0"/>
                  <a:ea typeface="Consolas" charset="0"/>
                  <a:cs typeface="Consolas" charset="0"/>
                </a:rPr>
                <a:t>0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8BDA6AE-BFD1-4F43-A0E8-5649CA9CC0F6}"/>
                </a:ext>
              </a:extLst>
            </p:cNvPr>
            <p:cNvSpPr txBox="1"/>
            <p:nvPr/>
          </p:nvSpPr>
          <p:spPr>
            <a:xfrm>
              <a:off x="2438400" y="1896301"/>
              <a:ext cx="360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latin typeface="Consolas" charset="0"/>
                  <a:ea typeface="Consolas" charset="0"/>
                  <a:cs typeface="Consolas" charset="0"/>
                </a:rPr>
                <a:t>1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8A1815B-CE0A-4FC5-91C1-5842C250FB35}"/>
                </a:ext>
              </a:extLst>
            </p:cNvPr>
            <p:cNvSpPr txBox="1"/>
            <p:nvPr/>
          </p:nvSpPr>
          <p:spPr>
            <a:xfrm>
              <a:off x="2895600" y="2212568"/>
              <a:ext cx="360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latin typeface="Consolas" charset="0"/>
                  <a:ea typeface="Consolas" charset="0"/>
                  <a:cs typeface="Consolas" charset="0"/>
                </a:rPr>
                <a:t>2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F6D6B57-C7B6-4496-A463-88FDD32D4C14}"/>
                </a:ext>
              </a:extLst>
            </p:cNvPr>
            <p:cNvSpPr txBox="1"/>
            <p:nvPr/>
          </p:nvSpPr>
          <p:spPr>
            <a:xfrm>
              <a:off x="3160183" y="2607733"/>
              <a:ext cx="360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latin typeface="Consolas" charset="0"/>
                  <a:ea typeface="Consolas" charset="0"/>
                  <a:cs typeface="Consolas" charset="0"/>
                </a:rPr>
                <a:t>3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0BD4F69-87C1-4F3F-82BB-36221A8F4BA8}"/>
                </a:ext>
              </a:extLst>
            </p:cNvPr>
            <p:cNvSpPr txBox="1"/>
            <p:nvPr/>
          </p:nvSpPr>
          <p:spPr>
            <a:xfrm>
              <a:off x="3243315" y="3091636"/>
              <a:ext cx="360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latin typeface="Consolas" charset="0"/>
                  <a:ea typeface="Consolas" charset="0"/>
                  <a:cs typeface="Consolas" charset="0"/>
                </a:rPr>
                <a:t>4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0B3C6C6-7668-47FA-86E2-94E66EB748F7}"/>
                </a:ext>
              </a:extLst>
            </p:cNvPr>
            <p:cNvSpPr txBox="1"/>
            <p:nvPr/>
          </p:nvSpPr>
          <p:spPr>
            <a:xfrm>
              <a:off x="3139017" y="3553301"/>
              <a:ext cx="360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latin typeface="Consolas" charset="0"/>
                  <a:ea typeface="Consolas" charset="0"/>
                  <a:cs typeface="Consolas" charset="0"/>
                </a:rPr>
                <a:t>5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FA9446-9466-4F39-BBBE-C903AD32EEC6}"/>
                </a:ext>
              </a:extLst>
            </p:cNvPr>
            <p:cNvSpPr txBox="1"/>
            <p:nvPr/>
          </p:nvSpPr>
          <p:spPr>
            <a:xfrm>
              <a:off x="2871735" y="3948466"/>
              <a:ext cx="360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latin typeface="Consolas" charset="0"/>
                  <a:ea typeface="Consolas" charset="0"/>
                  <a:cs typeface="Consolas" charset="0"/>
                </a:rPr>
                <a:t>6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3ECA0A3-7060-4D02-9AFA-5DDAA15429CF}"/>
                </a:ext>
              </a:extLst>
            </p:cNvPr>
            <p:cNvSpPr txBox="1"/>
            <p:nvPr/>
          </p:nvSpPr>
          <p:spPr>
            <a:xfrm>
              <a:off x="2463591" y="4275596"/>
              <a:ext cx="360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latin typeface="Consolas" charset="0"/>
                  <a:ea typeface="Consolas" charset="0"/>
                  <a:cs typeface="Consolas" charset="0"/>
                </a:rPr>
                <a:t>7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91A9DFC-2162-4E2E-87EA-DF599ACD9CE7}"/>
                </a:ext>
              </a:extLst>
            </p:cNvPr>
            <p:cNvSpPr txBox="1"/>
            <p:nvPr/>
          </p:nvSpPr>
          <p:spPr>
            <a:xfrm>
              <a:off x="1975595" y="4341167"/>
              <a:ext cx="360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latin typeface="Consolas" charset="0"/>
                  <a:ea typeface="Consolas" charset="0"/>
                  <a:cs typeface="Consolas" charset="0"/>
                </a:rPr>
                <a:t>8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1F72EBF-AA24-45BB-833F-29B63D651BD8}"/>
                </a:ext>
              </a:extLst>
            </p:cNvPr>
            <p:cNvSpPr txBox="1"/>
            <p:nvPr/>
          </p:nvSpPr>
          <p:spPr>
            <a:xfrm>
              <a:off x="1496490" y="4219399"/>
              <a:ext cx="360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latin typeface="Consolas" charset="0"/>
                  <a:ea typeface="Consolas" charset="0"/>
                  <a:cs typeface="Consolas" charset="0"/>
                </a:rPr>
                <a:t>9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5510411-13D5-44CF-B997-FF6D6D7FAADE}"/>
                </a:ext>
              </a:extLst>
            </p:cNvPr>
            <p:cNvSpPr txBox="1"/>
            <p:nvPr/>
          </p:nvSpPr>
          <p:spPr>
            <a:xfrm>
              <a:off x="950022" y="3979332"/>
              <a:ext cx="5245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latin typeface="Consolas" charset="0"/>
                  <a:ea typeface="Consolas" charset="0"/>
                  <a:cs typeface="Consolas" charset="0"/>
                </a:rPr>
                <a:t>10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35CE3FC-10CA-4069-82FE-8C4FEAD18B6D}"/>
                </a:ext>
              </a:extLst>
            </p:cNvPr>
            <p:cNvSpPr txBox="1"/>
            <p:nvPr/>
          </p:nvSpPr>
          <p:spPr>
            <a:xfrm>
              <a:off x="665805" y="3517667"/>
              <a:ext cx="5245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latin typeface="Consolas" charset="0"/>
                  <a:ea typeface="Consolas" charset="0"/>
                  <a:cs typeface="Consolas" charset="0"/>
                </a:rPr>
                <a:t>11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EF0D711-5230-4ECB-9F47-7F8B6D2DC91F}"/>
                </a:ext>
              </a:extLst>
            </p:cNvPr>
            <p:cNvSpPr txBox="1"/>
            <p:nvPr/>
          </p:nvSpPr>
          <p:spPr>
            <a:xfrm>
              <a:off x="583683" y="3065748"/>
              <a:ext cx="5245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latin typeface="Consolas" charset="0"/>
                  <a:ea typeface="Consolas" charset="0"/>
                  <a:cs typeface="Consolas" charset="0"/>
                </a:rPr>
                <a:t>12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DF2663E-7DA2-471C-A654-156C809B3AC1}"/>
                </a:ext>
              </a:extLst>
            </p:cNvPr>
            <p:cNvSpPr txBox="1"/>
            <p:nvPr/>
          </p:nvSpPr>
          <p:spPr>
            <a:xfrm>
              <a:off x="665804" y="2594337"/>
              <a:ext cx="5245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latin typeface="Consolas" charset="0"/>
                  <a:ea typeface="Consolas" charset="0"/>
                  <a:cs typeface="Consolas" charset="0"/>
                </a:rPr>
                <a:t>13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8234746-EBD1-4893-89C4-3F4342B1A12F}"/>
                </a:ext>
              </a:extLst>
            </p:cNvPr>
            <p:cNvSpPr txBox="1"/>
            <p:nvPr/>
          </p:nvSpPr>
          <p:spPr>
            <a:xfrm>
              <a:off x="935464" y="2176102"/>
              <a:ext cx="5245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latin typeface="Consolas" charset="0"/>
                  <a:ea typeface="Consolas" charset="0"/>
                  <a:cs typeface="Consolas" charset="0"/>
                </a:rPr>
                <a:t>14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7B4D7A7-B3E4-409D-BA4B-8470CC2FF3EF}"/>
                </a:ext>
              </a:extLst>
            </p:cNvPr>
            <p:cNvSpPr txBox="1"/>
            <p:nvPr/>
          </p:nvSpPr>
          <p:spPr>
            <a:xfrm>
              <a:off x="1404362" y="1906699"/>
              <a:ext cx="5245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latin typeface="Consolas" charset="0"/>
                  <a:ea typeface="Consolas" charset="0"/>
                  <a:cs typeface="Consolas" charset="0"/>
                </a:rPr>
                <a:t>15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2F16C09-5370-4188-B029-7A1AD8210500}"/>
                </a:ext>
              </a:extLst>
            </p:cNvPr>
            <p:cNvSpPr txBox="1"/>
            <p:nvPr/>
          </p:nvSpPr>
          <p:spPr>
            <a:xfrm>
              <a:off x="1883146" y="2230864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dirty="0">
                  <a:latin typeface="Consolas" charset="0"/>
                  <a:ea typeface="Consolas" charset="0"/>
                  <a:cs typeface="Consolas" charset="0"/>
                </a:rPr>
                <a:t>0000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AF3DC8B-E077-40F2-9DF9-D41B2F2E2859}"/>
                </a:ext>
              </a:extLst>
            </p:cNvPr>
            <p:cNvSpPr txBox="1"/>
            <p:nvPr/>
          </p:nvSpPr>
          <p:spPr>
            <a:xfrm>
              <a:off x="2503558" y="2515890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dirty="0">
                  <a:latin typeface="Consolas" charset="0"/>
                  <a:ea typeface="Consolas" charset="0"/>
                  <a:cs typeface="Consolas" charset="0"/>
                </a:rPr>
                <a:t>0010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2EA3125-53BB-4D60-8B1E-F5B3CB030E41}"/>
                </a:ext>
              </a:extLst>
            </p:cNvPr>
            <p:cNvSpPr txBox="1"/>
            <p:nvPr/>
          </p:nvSpPr>
          <p:spPr>
            <a:xfrm>
              <a:off x="2741940" y="3183211"/>
              <a:ext cx="49244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dirty="0">
                  <a:latin typeface="Consolas" charset="0"/>
                  <a:ea typeface="Consolas" charset="0"/>
                  <a:cs typeface="Consolas" charset="0"/>
                </a:rPr>
                <a:t>0100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D706A1B-B667-4219-B6CA-8A395059494D}"/>
                </a:ext>
              </a:extLst>
            </p:cNvPr>
            <p:cNvSpPr txBox="1"/>
            <p:nvPr/>
          </p:nvSpPr>
          <p:spPr>
            <a:xfrm>
              <a:off x="2696547" y="2800386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dirty="0">
                  <a:latin typeface="Consolas" charset="0"/>
                  <a:ea typeface="Consolas" charset="0"/>
                  <a:cs typeface="Consolas" charset="0"/>
                </a:rPr>
                <a:t>0011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07755CF-81AE-4BF2-A57B-54C238F54F34}"/>
                </a:ext>
              </a:extLst>
            </p:cNvPr>
            <p:cNvSpPr txBox="1"/>
            <p:nvPr/>
          </p:nvSpPr>
          <p:spPr>
            <a:xfrm>
              <a:off x="2215566" y="2304484"/>
              <a:ext cx="49244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dirty="0">
                  <a:latin typeface="Consolas" charset="0"/>
                  <a:ea typeface="Consolas" charset="0"/>
                  <a:cs typeface="Consolas" charset="0"/>
                </a:rPr>
                <a:t>0001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C4DDC59-EEDB-4EB2-AF69-B767015503CB}"/>
                </a:ext>
              </a:extLst>
            </p:cNvPr>
            <p:cNvSpPr txBox="1"/>
            <p:nvPr/>
          </p:nvSpPr>
          <p:spPr>
            <a:xfrm>
              <a:off x="2683645" y="3512294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dirty="0">
                  <a:latin typeface="Consolas" charset="0"/>
                  <a:ea typeface="Consolas" charset="0"/>
                  <a:cs typeface="Consolas" charset="0"/>
                </a:rPr>
                <a:t>0101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6F40C59-73C9-4F7A-9E7D-896DAE36E8AB}"/>
                </a:ext>
              </a:extLst>
            </p:cNvPr>
            <p:cNvSpPr txBox="1"/>
            <p:nvPr/>
          </p:nvSpPr>
          <p:spPr>
            <a:xfrm>
              <a:off x="2466576" y="3770433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dirty="0">
                  <a:latin typeface="Consolas" charset="0"/>
                  <a:ea typeface="Consolas" charset="0"/>
                  <a:cs typeface="Consolas" charset="0"/>
                </a:rPr>
                <a:t>0110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03E33D3-93FE-4871-978D-87C05868EB4B}"/>
                </a:ext>
              </a:extLst>
            </p:cNvPr>
            <p:cNvSpPr txBox="1"/>
            <p:nvPr/>
          </p:nvSpPr>
          <p:spPr>
            <a:xfrm>
              <a:off x="2301858" y="3984405"/>
              <a:ext cx="49244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dirty="0">
                  <a:latin typeface="Consolas" charset="0"/>
                  <a:ea typeface="Consolas" charset="0"/>
                  <a:cs typeface="Consolas" charset="0"/>
                </a:rPr>
                <a:t>0111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6F165B5-26BC-4C84-ABD2-15807EE3DAA5}"/>
                </a:ext>
              </a:extLst>
            </p:cNvPr>
            <p:cNvSpPr txBox="1"/>
            <p:nvPr/>
          </p:nvSpPr>
          <p:spPr>
            <a:xfrm>
              <a:off x="1907596" y="4108125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dirty="0">
                  <a:latin typeface="Consolas" charset="0"/>
                  <a:ea typeface="Consolas" charset="0"/>
                  <a:cs typeface="Consolas" charset="0"/>
                </a:rPr>
                <a:t>1000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6343FF5-B572-4844-AC3D-BA9F86F5272D}"/>
                </a:ext>
              </a:extLst>
            </p:cNvPr>
            <p:cNvSpPr txBox="1"/>
            <p:nvPr/>
          </p:nvSpPr>
          <p:spPr>
            <a:xfrm>
              <a:off x="1498408" y="3975458"/>
              <a:ext cx="49244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dirty="0">
                  <a:latin typeface="Consolas" charset="0"/>
                  <a:ea typeface="Consolas" charset="0"/>
                  <a:cs typeface="Consolas" charset="0"/>
                </a:rPr>
                <a:t>1001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7F2AD66-122F-4167-9B41-8439B2D32611}"/>
                </a:ext>
              </a:extLst>
            </p:cNvPr>
            <p:cNvSpPr txBox="1"/>
            <p:nvPr/>
          </p:nvSpPr>
          <p:spPr>
            <a:xfrm>
              <a:off x="1261737" y="3733747"/>
              <a:ext cx="49244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dirty="0">
                  <a:latin typeface="Consolas" charset="0"/>
                  <a:ea typeface="Consolas" charset="0"/>
                  <a:cs typeface="Consolas" charset="0"/>
                </a:rPr>
                <a:t>1010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E8E71E58-D227-492F-AA34-B79943F8CFF6}"/>
                </a:ext>
              </a:extLst>
            </p:cNvPr>
            <p:cNvSpPr txBox="1"/>
            <p:nvPr/>
          </p:nvSpPr>
          <p:spPr>
            <a:xfrm>
              <a:off x="1091467" y="3503963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dirty="0">
                  <a:latin typeface="Consolas" charset="0"/>
                  <a:ea typeface="Consolas" charset="0"/>
                  <a:cs typeface="Consolas" charset="0"/>
                </a:rPr>
                <a:t>1011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1EA75E0-F301-43EA-A9ED-78B2A01292B2}"/>
                </a:ext>
              </a:extLst>
            </p:cNvPr>
            <p:cNvSpPr txBox="1"/>
            <p:nvPr/>
          </p:nvSpPr>
          <p:spPr>
            <a:xfrm>
              <a:off x="1050836" y="3183211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dirty="0">
                  <a:latin typeface="Consolas" charset="0"/>
                  <a:ea typeface="Consolas" charset="0"/>
                  <a:cs typeface="Consolas" charset="0"/>
                </a:rPr>
                <a:t>1100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225386FA-51F5-473E-BC51-A8EA6FD6EFE4}"/>
                </a:ext>
              </a:extLst>
            </p:cNvPr>
            <p:cNvSpPr txBox="1"/>
            <p:nvPr/>
          </p:nvSpPr>
          <p:spPr>
            <a:xfrm>
              <a:off x="1129677" y="2823915"/>
              <a:ext cx="49244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dirty="0">
                  <a:latin typeface="Consolas" charset="0"/>
                  <a:ea typeface="Consolas" charset="0"/>
                  <a:cs typeface="Consolas" charset="0"/>
                </a:rPr>
                <a:t>1101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AEDA98E-F339-47CF-A182-1BABAD62F4B7}"/>
                </a:ext>
              </a:extLst>
            </p:cNvPr>
            <p:cNvSpPr txBox="1"/>
            <p:nvPr/>
          </p:nvSpPr>
          <p:spPr>
            <a:xfrm>
              <a:off x="1272791" y="2503121"/>
              <a:ext cx="49244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dirty="0">
                  <a:latin typeface="Consolas" charset="0"/>
                  <a:ea typeface="Consolas" charset="0"/>
                  <a:cs typeface="Consolas" charset="0"/>
                </a:rPr>
                <a:t>1110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F09EF8AF-FD5C-49F5-9DFB-A1112DCB124E}"/>
                </a:ext>
              </a:extLst>
            </p:cNvPr>
            <p:cNvSpPr txBox="1"/>
            <p:nvPr/>
          </p:nvSpPr>
          <p:spPr>
            <a:xfrm>
              <a:off x="1543279" y="2304484"/>
              <a:ext cx="49244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dirty="0">
                  <a:latin typeface="Consolas" charset="0"/>
                  <a:ea typeface="Consolas" charset="0"/>
                  <a:cs typeface="Consolas" charset="0"/>
                </a:rPr>
                <a:t>1111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5610F474-BA73-42F0-90A1-83C1575E356C}"/>
              </a:ext>
            </a:extLst>
          </p:cNvPr>
          <p:cNvSpPr txBox="1"/>
          <p:nvPr/>
        </p:nvSpPr>
        <p:spPr>
          <a:xfrm>
            <a:off x="4864409" y="4660467"/>
            <a:ext cx="26567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what is 0 - 1?</a:t>
            </a: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5BFE20B9-9316-4E04-B205-2C917FB110B8}"/>
              </a:ext>
            </a:extLst>
          </p:cNvPr>
          <p:cNvSpPr/>
          <p:nvPr/>
        </p:nvSpPr>
        <p:spPr>
          <a:xfrm>
            <a:off x="4628146" y="1183635"/>
            <a:ext cx="3141634" cy="3141634"/>
          </a:xfrm>
          <a:prstGeom prst="arc">
            <a:avLst>
              <a:gd name="adj1" fmla="val 14806488"/>
              <a:gd name="adj2" fmla="val 16251443"/>
            </a:avLst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8453624-76BB-457F-9054-AD0D0CA1D63C}"/>
              </a:ext>
            </a:extLst>
          </p:cNvPr>
          <p:cNvSpPr txBox="1"/>
          <p:nvPr/>
        </p:nvSpPr>
        <p:spPr>
          <a:xfrm>
            <a:off x="7061200" y="3428334"/>
            <a:ext cx="296091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onsolas" charset="0"/>
                <a:ea typeface="Consolas" charset="0"/>
                <a:cs typeface="Consolas" charset="0"/>
              </a:rPr>
              <a:t> 0000</a:t>
            </a:r>
          </a:p>
          <a:p>
            <a:r>
              <a:rPr lang="en-US" sz="3600" b="1" u="sng" dirty="0">
                <a:latin typeface="Consolas" charset="0"/>
                <a:ea typeface="Consolas" charset="0"/>
                <a:cs typeface="Consolas" charset="0"/>
              </a:rPr>
              <a:t>-0001</a:t>
            </a:r>
          </a:p>
          <a:p>
            <a:r>
              <a:rPr lang="en-US" sz="3600" b="1" dirty="0">
                <a:latin typeface="Consolas" charset="0"/>
                <a:ea typeface="Consolas" charset="0"/>
                <a:cs typeface="Consolas" charset="0"/>
              </a:rPr>
              <a:t> 1111</a:t>
            </a:r>
          </a:p>
        </p:txBody>
      </p:sp>
    </p:spTree>
    <p:extLst>
      <p:ext uri="{BB962C8B-B14F-4D97-AF65-F5344CB8AC3E}">
        <p14:creationId xmlns:p14="http://schemas.microsoft.com/office/powerpoint/2010/main" val="121956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 animBg="1"/>
      <p:bldP spid="10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negative carrousels?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008F93-CE9B-4CBC-810C-1BF727F5B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300" y="880534"/>
            <a:ext cx="9220200" cy="4266936"/>
          </a:xfrm>
        </p:spPr>
        <p:txBody>
          <a:bodyPr/>
          <a:lstStyle/>
          <a:p>
            <a:r>
              <a:rPr lang="en-GB" dirty="0"/>
              <a:t>How much is 0 – 1?</a:t>
            </a:r>
          </a:p>
          <a:p>
            <a:pPr lvl="1"/>
            <a:r>
              <a:rPr lang="en-GB" dirty="0"/>
              <a:t>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8D73084-D41E-422D-94BB-3AC65EC0922F}"/>
              </a:ext>
            </a:extLst>
          </p:cNvPr>
          <p:cNvSpPr/>
          <p:nvPr/>
        </p:nvSpPr>
        <p:spPr>
          <a:xfrm>
            <a:off x="5125997" y="1695837"/>
            <a:ext cx="2133600" cy="212776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464051-90E9-41EF-B997-519DD8F29BF8}"/>
              </a:ext>
            </a:extLst>
          </p:cNvPr>
          <p:cNvSpPr txBox="1"/>
          <p:nvPr/>
        </p:nvSpPr>
        <p:spPr>
          <a:xfrm>
            <a:off x="6012299" y="1311721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BDA6AE-BFD1-4F43-A0E8-5649CA9CC0F6}"/>
              </a:ext>
            </a:extLst>
          </p:cNvPr>
          <p:cNvSpPr txBox="1"/>
          <p:nvPr/>
        </p:nvSpPr>
        <p:spPr>
          <a:xfrm>
            <a:off x="6501830" y="1366754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A1815B-CE0A-4FC5-91C1-5842C250FB35}"/>
              </a:ext>
            </a:extLst>
          </p:cNvPr>
          <p:cNvSpPr txBox="1"/>
          <p:nvPr/>
        </p:nvSpPr>
        <p:spPr>
          <a:xfrm>
            <a:off x="6959030" y="1683021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6D6B57-C7B6-4496-A463-88FDD32D4C14}"/>
              </a:ext>
            </a:extLst>
          </p:cNvPr>
          <p:cNvSpPr txBox="1"/>
          <p:nvPr/>
        </p:nvSpPr>
        <p:spPr>
          <a:xfrm>
            <a:off x="7223613" y="2078186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BD4F69-87C1-4F3F-82BB-36221A8F4BA8}"/>
              </a:ext>
            </a:extLst>
          </p:cNvPr>
          <p:cNvSpPr txBox="1"/>
          <p:nvPr/>
        </p:nvSpPr>
        <p:spPr>
          <a:xfrm>
            <a:off x="7306745" y="2562089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B3C6C6-7668-47FA-86E2-94E66EB748F7}"/>
              </a:ext>
            </a:extLst>
          </p:cNvPr>
          <p:cNvSpPr txBox="1"/>
          <p:nvPr/>
        </p:nvSpPr>
        <p:spPr>
          <a:xfrm>
            <a:off x="7202447" y="3023754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FA9446-9466-4F39-BBBE-C903AD32EEC6}"/>
              </a:ext>
            </a:extLst>
          </p:cNvPr>
          <p:cNvSpPr txBox="1"/>
          <p:nvPr/>
        </p:nvSpPr>
        <p:spPr>
          <a:xfrm>
            <a:off x="6935165" y="3418919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ECA0A3-7060-4D02-9AFA-5DDAA15429CF}"/>
              </a:ext>
            </a:extLst>
          </p:cNvPr>
          <p:cNvSpPr txBox="1"/>
          <p:nvPr/>
        </p:nvSpPr>
        <p:spPr>
          <a:xfrm>
            <a:off x="6527021" y="3746049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1A9DFC-2162-4E2E-87EA-DF599ACD9CE7}"/>
              </a:ext>
            </a:extLst>
          </p:cNvPr>
          <p:cNvSpPr txBox="1"/>
          <p:nvPr/>
        </p:nvSpPr>
        <p:spPr>
          <a:xfrm>
            <a:off x="5957272" y="3811620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-8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F72EBF-AA24-45BB-833F-29B63D651BD8}"/>
              </a:ext>
            </a:extLst>
          </p:cNvPr>
          <p:cNvSpPr txBox="1"/>
          <p:nvPr/>
        </p:nvSpPr>
        <p:spPr>
          <a:xfrm>
            <a:off x="5478167" y="3689852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-7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510411-13D5-44CF-B997-FF6D6D7FAADE}"/>
              </a:ext>
            </a:extLst>
          </p:cNvPr>
          <p:cNvSpPr txBox="1"/>
          <p:nvPr/>
        </p:nvSpPr>
        <p:spPr>
          <a:xfrm>
            <a:off x="5013452" y="3449785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-6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5CE3FC-10CA-4069-82FE-8C4FEAD18B6D}"/>
              </a:ext>
            </a:extLst>
          </p:cNvPr>
          <p:cNvSpPr txBox="1"/>
          <p:nvPr/>
        </p:nvSpPr>
        <p:spPr>
          <a:xfrm>
            <a:off x="4729235" y="2988120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-5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F0D711-5230-4ECB-9F47-7F8B6D2DC91F}"/>
              </a:ext>
            </a:extLst>
          </p:cNvPr>
          <p:cNvSpPr txBox="1"/>
          <p:nvPr/>
        </p:nvSpPr>
        <p:spPr>
          <a:xfrm>
            <a:off x="4647113" y="2536201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-4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F2663E-7DA2-471C-A654-156C809B3AC1}"/>
              </a:ext>
            </a:extLst>
          </p:cNvPr>
          <p:cNvSpPr txBox="1"/>
          <p:nvPr/>
        </p:nvSpPr>
        <p:spPr>
          <a:xfrm>
            <a:off x="4729234" y="2064790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-3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234746-EBD1-4893-89C4-3F4342B1A12F}"/>
              </a:ext>
            </a:extLst>
          </p:cNvPr>
          <p:cNvSpPr txBox="1"/>
          <p:nvPr/>
        </p:nvSpPr>
        <p:spPr>
          <a:xfrm>
            <a:off x="4998894" y="1646555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-2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7B4D7A7-B3E4-409D-BA4B-8470CC2FF3EF}"/>
              </a:ext>
            </a:extLst>
          </p:cNvPr>
          <p:cNvSpPr txBox="1"/>
          <p:nvPr/>
        </p:nvSpPr>
        <p:spPr>
          <a:xfrm>
            <a:off x="5467792" y="1377152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-1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2F16C09-5370-4188-B029-7A1AD8210500}"/>
              </a:ext>
            </a:extLst>
          </p:cNvPr>
          <p:cNvSpPr txBox="1"/>
          <p:nvPr/>
        </p:nvSpPr>
        <p:spPr>
          <a:xfrm>
            <a:off x="5946576" y="1701317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0000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AF3DC8B-E077-40F2-9DF9-D41B2F2E2859}"/>
              </a:ext>
            </a:extLst>
          </p:cNvPr>
          <p:cNvSpPr txBox="1"/>
          <p:nvPr/>
        </p:nvSpPr>
        <p:spPr>
          <a:xfrm>
            <a:off x="6566988" y="1986343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0010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2EA3125-53BB-4D60-8B1E-F5B3CB030E41}"/>
              </a:ext>
            </a:extLst>
          </p:cNvPr>
          <p:cNvSpPr txBox="1"/>
          <p:nvPr/>
        </p:nvSpPr>
        <p:spPr>
          <a:xfrm>
            <a:off x="6805370" y="2653664"/>
            <a:ext cx="4924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0100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D706A1B-B667-4219-B6CA-8A395059494D}"/>
              </a:ext>
            </a:extLst>
          </p:cNvPr>
          <p:cNvSpPr txBox="1"/>
          <p:nvPr/>
        </p:nvSpPr>
        <p:spPr>
          <a:xfrm>
            <a:off x="6759977" y="2270839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0011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07755CF-81AE-4BF2-A57B-54C238F54F34}"/>
              </a:ext>
            </a:extLst>
          </p:cNvPr>
          <p:cNvSpPr txBox="1"/>
          <p:nvPr/>
        </p:nvSpPr>
        <p:spPr>
          <a:xfrm>
            <a:off x="6278996" y="1774937"/>
            <a:ext cx="4924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0001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C4DDC59-EEDB-4EB2-AF69-B767015503CB}"/>
              </a:ext>
            </a:extLst>
          </p:cNvPr>
          <p:cNvSpPr txBox="1"/>
          <p:nvPr/>
        </p:nvSpPr>
        <p:spPr>
          <a:xfrm>
            <a:off x="6747075" y="2982747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0101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6F40C59-73C9-4F7A-9E7D-896DAE36E8AB}"/>
              </a:ext>
            </a:extLst>
          </p:cNvPr>
          <p:cNvSpPr txBox="1"/>
          <p:nvPr/>
        </p:nvSpPr>
        <p:spPr>
          <a:xfrm>
            <a:off x="6530006" y="3240886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0110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03E33D3-93FE-4871-978D-87C05868EB4B}"/>
              </a:ext>
            </a:extLst>
          </p:cNvPr>
          <p:cNvSpPr txBox="1"/>
          <p:nvPr/>
        </p:nvSpPr>
        <p:spPr>
          <a:xfrm>
            <a:off x="6365288" y="3454858"/>
            <a:ext cx="4924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0111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6F165B5-26BC-4C84-ABD2-15807EE3DAA5}"/>
              </a:ext>
            </a:extLst>
          </p:cNvPr>
          <p:cNvSpPr txBox="1"/>
          <p:nvPr/>
        </p:nvSpPr>
        <p:spPr>
          <a:xfrm>
            <a:off x="5971026" y="3578578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1000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6343FF5-B572-4844-AC3D-BA9F86F5272D}"/>
              </a:ext>
            </a:extLst>
          </p:cNvPr>
          <p:cNvSpPr txBox="1"/>
          <p:nvPr/>
        </p:nvSpPr>
        <p:spPr>
          <a:xfrm>
            <a:off x="5561838" y="3445911"/>
            <a:ext cx="4924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1001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7F2AD66-122F-4167-9B41-8439B2D32611}"/>
              </a:ext>
            </a:extLst>
          </p:cNvPr>
          <p:cNvSpPr txBox="1"/>
          <p:nvPr/>
        </p:nvSpPr>
        <p:spPr>
          <a:xfrm>
            <a:off x="5325167" y="3204200"/>
            <a:ext cx="4924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1010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8E71E58-D227-492F-AA34-B79943F8CFF6}"/>
              </a:ext>
            </a:extLst>
          </p:cNvPr>
          <p:cNvSpPr txBox="1"/>
          <p:nvPr/>
        </p:nvSpPr>
        <p:spPr>
          <a:xfrm>
            <a:off x="5154897" y="2974416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1011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1EA75E0-F301-43EA-A9ED-78B2A01292B2}"/>
              </a:ext>
            </a:extLst>
          </p:cNvPr>
          <p:cNvSpPr txBox="1"/>
          <p:nvPr/>
        </p:nvSpPr>
        <p:spPr>
          <a:xfrm>
            <a:off x="5114266" y="2653664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1100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25386FA-51F5-473E-BC51-A8EA6FD6EFE4}"/>
              </a:ext>
            </a:extLst>
          </p:cNvPr>
          <p:cNvSpPr txBox="1"/>
          <p:nvPr/>
        </p:nvSpPr>
        <p:spPr>
          <a:xfrm>
            <a:off x="5193107" y="2294368"/>
            <a:ext cx="4924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1101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AEDA98E-F339-47CF-A182-1BABAD62F4B7}"/>
              </a:ext>
            </a:extLst>
          </p:cNvPr>
          <p:cNvSpPr txBox="1"/>
          <p:nvPr/>
        </p:nvSpPr>
        <p:spPr>
          <a:xfrm>
            <a:off x="5336221" y="1973574"/>
            <a:ext cx="4924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1110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09EF8AF-FD5C-49F5-9DFB-A1112DCB124E}"/>
              </a:ext>
            </a:extLst>
          </p:cNvPr>
          <p:cNvSpPr txBox="1"/>
          <p:nvPr/>
        </p:nvSpPr>
        <p:spPr>
          <a:xfrm>
            <a:off x="5606709" y="1774937"/>
            <a:ext cx="4924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>
                <a:latin typeface="Consolas" charset="0"/>
                <a:ea typeface="Consolas" charset="0"/>
                <a:cs typeface="Consolas" charset="0"/>
              </a:rPr>
              <a:t>1111</a:t>
            </a: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5BFE20B9-9316-4E04-B205-2C917FB110B8}"/>
              </a:ext>
            </a:extLst>
          </p:cNvPr>
          <p:cNvSpPr/>
          <p:nvPr/>
        </p:nvSpPr>
        <p:spPr>
          <a:xfrm>
            <a:off x="4628146" y="1183635"/>
            <a:ext cx="3141634" cy="3141634"/>
          </a:xfrm>
          <a:prstGeom prst="arc">
            <a:avLst>
              <a:gd name="adj1" fmla="val 14806488"/>
              <a:gd name="adj2" fmla="val 16251443"/>
            </a:avLst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allout: Line 42">
            <a:extLst>
              <a:ext uri="{FF2B5EF4-FFF2-40B4-BE49-F238E27FC236}">
                <a16:creationId xmlns:a16="http://schemas.microsoft.com/office/drawing/2014/main" id="{FF43A1E2-BAC0-4414-BE0E-F1F5A69116C1}"/>
              </a:ext>
            </a:extLst>
          </p:cNvPr>
          <p:cNvSpPr/>
          <p:nvPr/>
        </p:nvSpPr>
        <p:spPr>
          <a:xfrm>
            <a:off x="7323533" y="3967514"/>
            <a:ext cx="1371600" cy="797524"/>
          </a:xfrm>
          <a:prstGeom prst="borderCallout1">
            <a:avLst>
              <a:gd name="adj1" fmla="val 50363"/>
              <a:gd name="adj2" fmla="val -8059"/>
              <a:gd name="adj3" fmla="val -21028"/>
              <a:gd name="adj4" fmla="val -62750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Why did we stop here?</a:t>
            </a:r>
          </a:p>
        </p:txBody>
      </p:sp>
    </p:spTree>
    <p:extLst>
      <p:ext uri="{BB962C8B-B14F-4D97-AF65-F5344CB8AC3E}">
        <p14:creationId xmlns:p14="http://schemas.microsoft.com/office/powerpoint/2010/main" val="482519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4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6B619-C205-49E1-9DF7-D3994551D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Signed Numbers (2’s Complement)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5953D-9F4E-434B-9536-6494A16AA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700" y="699256"/>
            <a:ext cx="8610600" cy="4955232"/>
          </a:xfrm>
        </p:spPr>
        <p:txBody>
          <a:bodyPr>
            <a:normAutofit/>
          </a:bodyPr>
          <a:lstStyle/>
          <a:p>
            <a:r>
              <a:rPr lang="en-US" dirty="0"/>
              <a:t>Representing negative numbers.</a:t>
            </a:r>
          </a:p>
          <a:p>
            <a:pPr lvl="1"/>
            <a:r>
              <a:rPr lang="en-US" dirty="0"/>
              <a:t>But it’s a little strange!</a:t>
            </a:r>
          </a:p>
          <a:p>
            <a:r>
              <a:rPr lang="en-US" dirty="0"/>
              <a:t>Hmm, it’s a little lopsided: -4 </a:t>
            </a:r>
            <a:r>
              <a:rPr lang="en-US" b="1" dirty="0"/>
              <a:t>doesn’t have a valid positive number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 can tell it’s negative if it starts with a 1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  <a:p>
            <a:pPr lvl="1"/>
            <a:r>
              <a:rPr lang="en-US" dirty="0"/>
              <a:t>And if it’s positive, then I can clearly see how much it’s worth!</a:t>
            </a:r>
          </a:p>
          <a:p>
            <a:r>
              <a:rPr lang="en-US" dirty="0"/>
              <a:t>But how exactly… can we tell the value of a negative number?</a:t>
            </a:r>
          </a:p>
          <a:p>
            <a:pPr lvl="1"/>
            <a:r>
              <a:rPr lang="en-US" dirty="0"/>
              <a:t>We need to negate (flip the sign) negative numbers</a:t>
            </a:r>
          </a:p>
          <a:p>
            <a:pPr lvl="2"/>
            <a:r>
              <a:rPr lang="en-US" dirty="0"/>
              <a:t>But HOW????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07976F-1AB7-4231-BFCE-CFAC1BBCB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75500" y="5296959"/>
            <a:ext cx="2286000" cy="304271"/>
          </a:xfrm>
        </p:spPr>
        <p:txBody>
          <a:bodyPr/>
          <a:lstStyle/>
          <a:p>
            <a:fld id="{8228C0A2-10A0-40F7-BAE1-3BE620EEA294}" type="slidenum">
              <a:rPr lang="en-US" smtClean="0"/>
              <a:t>29</a:t>
            </a:fld>
            <a:endParaRPr lang="en-US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4C8130F-B40A-4149-8958-CDC755B56721}"/>
              </a:ext>
            </a:extLst>
          </p:cNvPr>
          <p:cNvGrpSpPr/>
          <p:nvPr/>
        </p:nvGrpSpPr>
        <p:grpSpPr>
          <a:xfrm>
            <a:off x="2343330" y="1975686"/>
            <a:ext cx="4783911" cy="1371410"/>
            <a:chOff x="1835329" y="1992619"/>
            <a:chExt cx="4783911" cy="137141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2F8BE94-5E8C-4695-B1A5-A1E0A80E25FE}"/>
                </a:ext>
              </a:extLst>
            </p:cNvPr>
            <p:cNvGrpSpPr/>
            <p:nvPr/>
          </p:nvGrpSpPr>
          <p:grpSpPr>
            <a:xfrm>
              <a:off x="2944222" y="1992620"/>
              <a:ext cx="1066800" cy="1371409"/>
              <a:chOff x="5240382" y="2324100"/>
              <a:chExt cx="1066800" cy="1371409"/>
            </a:xfrm>
          </p:grpSpPr>
          <p:sp>
            <p:nvSpPr>
              <p:cNvPr id="32" name="TextBox 27">
                <a:extLst>
                  <a:ext uri="{FF2B5EF4-FFF2-40B4-BE49-F238E27FC236}">
                    <a16:creationId xmlns:a16="http://schemas.microsoft.com/office/drawing/2014/main" id="{2F0327A2-2452-4DF2-91B8-A908981FEDC1}"/>
                  </a:ext>
                </a:extLst>
              </p:cNvPr>
              <p:cNvSpPr txBox="1"/>
              <p:nvPr/>
            </p:nvSpPr>
            <p:spPr>
              <a:xfrm>
                <a:off x="5240382" y="2324100"/>
                <a:ext cx="1066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56616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13232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69848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426464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83080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139696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96312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852928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2400" b="1" dirty="0">
                    <a:solidFill>
                      <a:srgbClr val="FF0000"/>
                    </a:solidFill>
                    <a:latin typeface="Consolas" charset="0"/>
                    <a:ea typeface="Consolas" charset="0"/>
                    <a:cs typeface="Consolas" charset="0"/>
                  </a:rPr>
                  <a:t>1</a:t>
                </a:r>
                <a:r>
                  <a:rPr lang="en-US" sz="2400" b="1" dirty="0">
                    <a:latin typeface="Consolas" charset="0"/>
                    <a:ea typeface="Consolas" charset="0"/>
                    <a:cs typeface="Consolas" charset="0"/>
                  </a:rPr>
                  <a:t>10</a:t>
                </a:r>
              </a:p>
            </p:txBody>
          </p:sp>
          <p:sp>
            <p:nvSpPr>
              <p:cNvPr id="33" name="TextBox 28">
                <a:extLst>
                  <a:ext uri="{FF2B5EF4-FFF2-40B4-BE49-F238E27FC236}">
                    <a16:creationId xmlns:a16="http://schemas.microsoft.com/office/drawing/2014/main" id="{A6242EEA-F787-4B0B-802B-59626161358C}"/>
                  </a:ext>
                </a:extLst>
              </p:cNvPr>
              <p:cNvSpPr txBox="1"/>
              <p:nvPr/>
            </p:nvSpPr>
            <p:spPr>
              <a:xfrm>
                <a:off x="5369558" y="3172289"/>
                <a:ext cx="62048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56616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13232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69848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426464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83080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139696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96312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852928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2800" b="1" dirty="0">
                    <a:latin typeface="Consolas" charset="0"/>
                    <a:ea typeface="Consolas" charset="0"/>
                    <a:cs typeface="Consolas" charset="0"/>
                  </a:rPr>
                  <a:t>-2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7C07024-A498-4A00-A61F-183743A348F2}"/>
                </a:ext>
              </a:extLst>
            </p:cNvPr>
            <p:cNvGrpSpPr/>
            <p:nvPr/>
          </p:nvGrpSpPr>
          <p:grpSpPr>
            <a:xfrm>
              <a:off x="2362924" y="2292955"/>
              <a:ext cx="1066800" cy="1071074"/>
              <a:chOff x="4659084" y="2624435"/>
              <a:chExt cx="1066800" cy="1071074"/>
            </a:xfrm>
          </p:grpSpPr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4AB4AD06-C3CA-4C82-ABDF-7FAABB742EB3}"/>
                  </a:ext>
                </a:extLst>
              </p:cNvPr>
              <p:cNvSpPr txBox="1"/>
              <p:nvPr/>
            </p:nvSpPr>
            <p:spPr>
              <a:xfrm>
                <a:off x="4659084" y="2624435"/>
                <a:ext cx="1066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56616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13232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69848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426464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83080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139696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96312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852928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2400" b="1" dirty="0">
                    <a:solidFill>
                      <a:srgbClr val="FF0000"/>
                    </a:solidFill>
                    <a:latin typeface="Consolas" charset="0"/>
                    <a:ea typeface="Consolas" charset="0"/>
                    <a:cs typeface="Consolas" charset="0"/>
                  </a:rPr>
                  <a:t>1</a:t>
                </a:r>
                <a:r>
                  <a:rPr lang="en-US" sz="2400" b="1" dirty="0">
                    <a:latin typeface="Consolas" charset="0"/>
                    <a:ea typeface="Consolas" charset="0"/>
                    <a:cs typeface="Consolas" charset="0"/>
                  </a:rPr>
                  <a:t>01</a:t>
                </a:r>
              </a:p>
            </p:txBody>
          </p:sp>
          <p:sp>
            <p:nvSpPr>
              <p:cNvPr id="31" name="TextBox 31">
                <a:extLst>
                  <a:ext uri="{FF2B5EF4-FFF2-40B4-BE49-F238E27FC236}">
                    <a16:creationId xmlns:a16="http://schemas.microsoft.com/office/drawing/2014/main" id="{0A39316B-CF87-43BF-A1B1-504B206DDFC7}"/>
                  </a:ext>
                </a:extLst>
              </p:cNvPr>
              <p:cNvSpPr txBox="1"/>
              <p:nvPr/>
            </p:nvSpPr>
            <p:spPr>
              <a:xfrm>
                <a:off x="4814025" y="3172289"/>
                <a:ext cx="62048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56616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13232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69848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426464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83080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139696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96312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852928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2800" b="1" dirty="0">
                    <a:latin typeface="Consolas" charset="0"/>
                    <a:ea typeface="Consolas" charset="0"/>
                    <a:cs typeface="Consolas" charset="0"/>
                  </a:rPr>
                  <a:t>-3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9EA793C-04E0-4310-8699-C34D79131FEB}"/>
                </a:ext>
              </a:extLst>
            </p:cNvPr>
            <p:cNvGrpSpPr/>
            <p:nvPr/>
          </p:nvGrpSpPr>
          <p:grpSpPr>
            <a:xfrm>
              <a:off x="2428240" y="2450879"/>
              <a:ext cx="3657600" cy="457200"/>
              <a:chOff x="4724400" y="2782359"/>
              <a:chExt cx="3657600" cy="457200"/>
            </a:xfrm>
          </p:grpSpPr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FBC733CC-B123-4C04-A643-128B052D5A15}"/>
                  </a:ext>
                </a:extLst>
              </p:cNvPr>
              <p:cNvCxnSpPr/>
              <p:nvPr/>
            </p:nvCxnSpPr>
            <p:spPr>
              <a:xfrm>
                <a:off x="4724400" y="3010959"/>
                <a:ext cx="36576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BFCB7AB2-AC55-4D1B-86DF-C714E5CC372B}"/>
                  </a:ext>
                </a:extLst>
              </p:cNvPr>
              <p:cNvCxnSpPr/>
              <p:nvPr/>
            </p:nvCxnSpPr>
            <p:spPr>
              <a:xfrm>
                <a:off x="4724400" y="3005487"/>
                <a:ext cx="0" cy="2286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26E8346F-9E95-4DD7-A7FF-F7AD26037A15}"/>
                  </a:ext>
                </a:extLst>
              </p:cNvPr>
              <p:cNvCxnSpPr/>
              <p:nvPr/>
            </p:nvCxnSpPr>
            <p:spPr>
              <a:xfrm>
                <a:off x="8382000" y="3005487"/>
                <a:ext cx="0" cy="2286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08615E17-0E14-4889-A8C3-3C2FEBED1E7A}"/>
                  </a:ext>
                </a:extLst>
              </p:cNvPr>
              <p:cNvCxnSpPr/>
              <p:nvPr/>
            </p:nvCxnSpPr>
            <p:spPr>
              <a:xfrm>
                <a:off x="6768737" y="2782359"/>
                <a:ext cx="0" cy="4572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30081A5-FC6F-446B-BA95-11A45A89E0F1}"/>
                </a:ext>
              </a:extLst>
            </p:cNvPr>
            <p:cNvGrpSpPr/>
            <p:nvPr/>
          </p:nvGrpSpPr>
          <p:grpSpPr>
            <a:xfrm>
              <a:off x="3963125" y="1992620"/>
              <a:ext cx="1066800" cy="1371409"/>
              <a:chOff x="6259285" y="2324100"/>
              <a:chExt cx="1066800" cy="1371409"/>
            </a:xfrm>
          </p:grpSpPr>
          <p:sp>
            <p:nvSpPr>
              <p:cNvPr id="24" name="TextBox 12">
                <a:extLst>
                  <a:ext uri="{FF2B5EF4-FFF2-40B4-BE49-F238E27FC236}">
                    <a16:creationId xmlns:a16="http://schemas.microsoft.com/office/drawing/2014/main" id="{E863DF15-74A1-48C6-B76C-958FA207CB78}"/>
                  </a:ext>
                </a:extLst>
              </p:cNvPr>
              <p:cNvSpPr txBox="1"/>
              <p:nvPr/>
            </p:nvSpPr>
            <p:spPr>
              <a:xfrm>
                <a:off x="6609081" y="3172289"/>
                <a:ext cx="33092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56616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13232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69848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426464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83080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139696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96312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852928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2800" b="1" dirty="0">
                    <a:latin typeface="Consolas" charset="0"/>
                    <a:ea typeface="Consolas" charset="0"/>
                    <a:cs typeface="Consolas" charset="0"/>
                  </a:rPr>
                  <a:t>0</a:t>
                </a:r>
              </a:p>
            </p:txBody>
          </p:sp>
          <p:sp>
            <p:nvSpPr>
              <p:cNvPr id="25" name="TextBox 13">
                <a:extLst>
                  <a:ext uri="{FF2B5EF4-FFF2-40B4-BE49-F238E27FC236}">
                    <a16:creationId xmlns:a16="http://schemas.microsoft.com/office/drawing/2014/main" id="{6ED96417-D390-4C75-B535-76593FDA7283}"/>
                  </a:ext>
                </a:extLst>
              </p:cNvPr>
              <p:cNvSpPr txBox="1"/>
              <p:nvPr/>
            </p:nvSpPr>
            <p:spPr>
              <a:xfrm>
                <a:off x="6259285" y="2324100"/>
                <a:ext cx="1066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56616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13232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69848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426464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83080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139696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96312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852928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2400" b="1" dirty="0">
                    <a:solidFill>
                      <a:srgbClr val="FF0000"/>
                    </a:solidFill>
                    <a:latin typeface="Consolas" charset="0"/>
                    <a:ea typeface="Consolas" charset="0"/>
                    <a:cs typeface="Consolas" charset="0"/>
                  </a:rPr>
                  <a:t>0</a:t>
                </a:r>
                <a:r>
                  <a:rPr lang="en-US" sz="2400" b="1" dirty="0">
                    <a:latin typeface="Consolas" charset="0"/>
                    <a:ea typeface="Consolas" charset="0"/>
                    <a:cs typeface="Consolas" charset="0"/>
                  </a:rPr>
                  <a:t>00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6669DF4-C571-4DCD-90D7-D0DF68EF07E4}"/>
                </a:ext>
              </a:extLst>
            </p:cNvPr>
            <p:cNvGrpSpPr/>
            <p:nvPr/>
          </p:nvGrpSpPr>
          <p:grpSpPr>
            <a:xfrm>
              <a:off x="4452980" y="2292955"/>
              <a:ext cx="1066800" cy="1071074"/>
              <a:chOff x="6749140" y="2624435"/>
              <a:chExt cx="1066800" cy="1071074"/>
            </a:xfrm>
          </p:grpSpPr>
          <p:sp>
            <p:nvSpPr>
              <p:cNvPr id="22" name="TextBox 15">
                <a:extLst>
                  <a:ext uri="{FF2B5EF4-FFF2-40B4-BE49-F238E27FC236}">
                    <a16:creationId xmlns:a16="http://schemas.microsoft.com/office/drawing/2014/main" id="{B78331E8-E384-4B1C-B3CE-1616F63B3064}"/>
                  </a:ext>
                </a:extLst>
              </p:cNvPr>
              <p:cNvSpPr txBox="1"/>
              <p:nvPr/>
            </p:nvSpPr>
            <p:spPr>
              <a:xfrm>
                <a:off x="6749140" y="2624435"/>
                <a:ext cx="1066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56616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13232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69848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426464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83080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139696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96312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852928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2400" b="1" dirty="0">
                    <a:solidFill>
                      <a:srgbClr val="FF0000"/>
                    </a:solidFill>
                    <a:latin typeface="Consolas" charset="0"/>
                    <a:ea typeface="Consolas" charset="0"/>
                    <a:cs typeface="Consolas" charset="0"/>
                  </a:rPr>
                  <a:t>0</a:t>
                </a:r>
                <a:r>
                  <a:rPr lang="en-US" sz="2400" b="1" dirty="0">
                    <a:latin typeface="Consolas" charset="0"/>
                    <a:ea typeface="Consolas" charset="0"/>
                    <a:cs typeface="Consolas" charset="0"/>
                  </a:rPr>
                  <a:t>01</a:t>
                </a:r>
              </a:p>
            </p:txBody>
          </p:sp>
          <p:sp>
            <p:nvSpPr>
              <p:cNvPr id="23" name="TextBox 16">
                <a:extLst>
                  <a:ext uri="{FF2B5EF4-FFF2-40B4-BE49-F238E27FC236}">
                    <a16:creationId xmlns:a16="http://schemas.microsoft.com/office/drawing/2014/main" id="{499C8F26-AF06-44CC-9445-BD14FFEAB1B9}"/>
                  </a:ext>
                </a:extLst>
              </p:cNvPr>
              <p:cNvSpPr txBox="1"/>
              <p:nvPr/>
            </p:nvSpPr>
            <p:spPr>
              <a:xfrm>
                <a:off x="6923314" y="3172289"/>
                <a:ext cx="62048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56616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13232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69848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426464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83080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139696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96312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852928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2800" b="1" dirty="0">
                    <a:latin typeface="Consolas" charset="0"/>
                    <a:ea typeface="Consolas" charset="0"/>
                    <a:cs typeface="Consolas" charset="0"/>
                  </a:rPr>
                  <a:t>+1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B46F52B-B102-4A8D-B31F-760427CB6939}"/>
                </a:ext>
              </a:extLst>
            </p:cNvPr>
            <p:cNvGrpSpPr/>
            <p:nvPr/>
          </p:nvGrpSpPr>
          <p:grpSpPr>
            <a:xfrm>
              <a:off x="4986380" y="1992620"/>
              <a:ext cx="1066800" cy="1371409"/>
              <a:chOff x="7282540" y="2324100"/>
              <a:chExt cx="1066800" cy="1371409"/>
            </a:xfrm>
          </p:grpSpPr>
          <p:sp>
            <p:nvSpPr>
              <p:cNvPr id="20" name="TextBox 18">
                <a:extLst>
                  <a:ext uri="{FF2B5EF4-FFF2-40B4-BE49-F238E27FC236}">
                    <a16:creationId xmlns:a16="http://schemas.microsoft.com/office/drawing/2014/main" id="{E1EDA177-0276-4665-BE99-E8B3D2BD4556}"/>
                  </a:ext>
                </a:extLst>
              </p:cNvPr>
              <p:cNvSpPr txBox="1"/>
              <p:nvPr/>
            </p:nvSpPr>
            <p:spPr>
              <a:xfrm>
                <a:off x="7282540" y="2324100"/>
                <a:ext cx="1066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56616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13232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69848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426464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83080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139696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96312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852928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2400" b="1" dirty="0">
                    <a:solidFill>
                      <a:srgbClr val="FF0000"/>
                    </a:solidFill>
                    <a:latin typeface="Consolas" charset="0"/>
                    <a:ea typeface="Consolas" charset="0"/>
                    <a:cs typeface="Consolas" charset="0"/>
                  </a:rPr>
                  <a:t>0</a:t>
                </a:r>
                <a:r>
                  <a:rPr lang="en-US" sz="2400" b="1" dirty="0">
                    <a:latin typeface="Consolas" charset="0"/>
                    <a:ea typeface="Consolas" charset="0"/>
                    <a:cs typeface="Consolas" charset="0"/>
                  </a:rPr>
                  <a:t>10</a:t>
                </a:r>
              </a:p>
            </p:txBody>
          </p:sp>
          <p:sp>
            <p:nvSpPr>
              <p:cNvPr id="21" name="TextBox 19">
                <a:extLst>
                  <a:ext uri="{FF2B5EF4-FFF2-40B4-BE49-F238E27FC236}">
                    <a16:creationId xmlns:a16="http://schemas.microsoft.com/office/drawing/2014/main" id="{F3E804F9-7F30-4B7B-9B56-D36A31E7BD10}"/>
                  </a:ext>
                </a:extLst>
              </p:cNvPr>
              <p:cNvSpPr txBox="1"/>
              <p:nvPr/>
            </p:nvSpPr>
            <p:spPr>
              <a:xfrm>
                <a:off x="7473406" y="3172289"/>
                <a:ext cx="62048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56616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13232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69848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426464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83080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139696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96312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852928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2800" b="1" dirty="0">
                    <a:latin typeface="Consolas" charset="0"/>
                    <a:ea typeface="Consolas" charset="0"/>
                    <a:cs typeface="Consolas" charset="0"/>
                  </a:rPr>
                  <a:t>+2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0EB3E69-8314-44D7-ABE0-CED6484C250D}"/>
                </a:ext>
              </a:extLst>
            </p:cNvPr>
            <p:cNvGrpSpPr/>
            <p:nvPr/>
          </p:nvGrpSpPr>
          <p:grpSpPr>
            <a:xfrm>
              <a:off x="5552440" y="2292955"/>
              <a:ext cx="1066800" cy="1071074"/>
              <a:chOff x="7848600" y="2624435"/>
              <a:chExt cx="1066800" cy="1071074"/>
            </a:xfrm>
          </p:grpSpPr>
          <p:sp>
            <p:nvSpPr>
              <p:cNvPr id="18" name="TextBox 21">
                <a:extLst>
                  <a:ext uri="{FF2B5EF4-FFF2-40B4-BE49-F238E27FC236}">
                    <a16:creationId xmlns:a16="http://schemas.microsoft.com/office/drawing/2014/main" id="{E84E92BD-2DC1-4730-AFAB-62551EFC329E}"/>
                  </a:ext>
                </a:extLst>
              </p:cNvPr>
              <p:cNvSpPr txBox="1"/>
              <p:nvPr/>
            </p:nvSpPr>
            <p:spPr>
              <a:xfrm>
                <a:off x="7848600" y="2624435"/>
                <a:ext cx="1066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56616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13232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69848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426464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83080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139696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96312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852928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2400" b="1" dirty="0">
                    <a:solidFill>
                      <a:srgbClr val="FF0000"/>
                    </a:solidFill>
                    <a:latin typeface="Consolas" charset="0"/>
                    <a:ea typeface="Consolas" charset="0"/>
                    <a:cs typeface="Consolas" charset="0"/>
                  </a:rPr>
                  <a:t>0</a:t>
                </a:r>
                <a:r>
                  <a:rPr lang="en-US" sz="2400" b="1" dirty="0">
                    <a:latin typeface="Consolas" charset="0"/>
                    <a:ea typeface="Consolas" charset="0"/>
                    <a:cs typeface="Consolas" charset="0"/>
                  </a:rPr>
                  <a:t>11</a:t>
                </a:r>
              </a:p>
            </p:txBody>
          </p:sp>
          <p:sp>
            <p:nvSpPr>
              <p:cNvPr id="19" name="TextBox 22">
                <a:extLst>
                  <a:ext uri="{FF2B5EF4-FFF2-40B4-BE49-F238E27FC236}">
                    <a16:creationId xmlns:a16="http://schemas.microsoft.com/office/drawing/2014/main" id="{E7E4D3EC-3ACF-439E-BACA-84B8EBBC6A14}"/>
                  </a:ext>
                </a:extLst>
              </p:cNvPr>
              <p:cNvSpPr txBox="1"/>
              <p:nvPr/>
            </p:nvSpPr>
            <p:spPr>
              <a:xfrm>
                <a:off x="8071757" y="3172289"/>
                <a:ext cx="62048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56616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13232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69848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426464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83080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139696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96312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852928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2800" b="1" dirty="0">
                    <a:latin typeface="Consolas" charset="0"/>
                    <a:ea typeface="Consolas" charset="0"/>
                    <a:cs typeface="Consolas" charset="0"/>
                  </a:rPr>
                  <a:t>+3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0175F4-A9F5-407C-875A-A78BB51633C7}"/>
                </a:ext>
              </a:extLst>
            </p:cNvPr>
            <p:cNvGrpSpPr/>
            <p:nvPr/>
          </p:nvGrpSpPr>
          <p:grpSpPr>
            <a:xfrm>
              <a:off x="3477623" y="2292955"/>
              <a:ext cx="1066800" cy="1071074"/>
              <a:chOff x="5773783" y="2624435"/>
              <a:chExt cx="1066800" cy="1071074"/>
            </a:xfrm>
          </p:grpSpPr>
          <p:sp>
            <p:nvSpPr>
              <p:cNvPr id="16" name="TextBox 24">
                <a:extLst>
                  <a:ext uri="{FF2B5EF4-FFF2-40B4-BE49-F238E27FC236}">
                    <a16:creationId xmlns:a16="http://schemas.microsoft.com/office/drawing/2014/main" id="{C37A3C09-118F-44FF-8DD0-435AFCE8E66A}"/>
                  </a:ext>
                </a:extLst>
              </p:cNvPr>
              <p:cNvSpPr txBox="1"/>
              <p:nvPr/>
            </p:nvSpPr>
            <p:spPr>
              <a:xfrm>
                <a:off x="5773783" y="2624435"/>
                <a:ext cx="1066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56616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13232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69848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426464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83080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139696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96312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852928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2400" b="1" dirty="0">
                    <a:solidFill>
                      <a:srgbClr val="FF0000"/>
                    </a:solidFill>
                    <a:latin typeface="Consolas" charset="0"/>
                    <a:ea typeface="Consolas" charset="0"/>
                    <a:cs typeface="Consolas" charset="0"/>
                  </a:rPr>
                  <a:t>1</a:t>
                </a:r>
                <a:r>
                  <a:rPr lang="en-US" sz="2400" b="1" dirty="0">
                    <a:latin typeface="Consolas" charset="0"/>
                    <a:ea typeface="Consolas" charset="0"/>
                    <a:cs typeface="Consolas" charset="0"/>
                  </a:rPr>
                  <a:t>11</a:t>
                </a:r>
              </a:p>
            </p:txBody>
          </p:sp>
          <p:sp>
            <p:nvSpPr>
              <p:cNvPr id="17" name="TextBox 25">
                <a:extLst>
                  <a:ext uri="{FF2B5EF4-FFF2-40B4-BE49-F238E27FC236}">
                    <a16:creationId xmlns:a16="http://schemas.microsoft.com/office/drawing/2014/main" id="{E230BA27-7F34-46D0-BC5E-CA54D496A5A7}"/>
                  </a:ext>
                </a:extLst>
              </p:cNvPr>
              <p:cNvSpPr txBox="1"/>
              <p:nvPr/>
            </p:nvSpPr>
            <p:spPr>
              <a:xfrm>
                <a:off x="5967910" y="3172289"/>
                <a:ext cx="62048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56616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13232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69848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426464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83080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139696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96312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852928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2800" b="1" dirty="0">
                    <a:latin typeface="Consolas" charset="0"/>
                    <a:ea typeface="Consolas" charset="0"/>
                    <a:cs typeface="Consolas" charset="0"/>
                  </a:rPr>
                  <a:t>-1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FBA56A9-34F3-4812-9E44-4116294EF71A}"/>
                </a:ext>
              </a:extLst>
            </p:cNvPr>
            <p:cNvGrpSpPr/>
            <p:nvPr/>
          </p:nvGrpSpPr>
          <p:grpSpPr>
            <a:xfrm>
              <a:off x="1835329" y="1992619"/>
              <a:ext cx="1066800" cy="1366798"/>
              <a:chOff x="4659084" y="2328711"/>
              <a:chExt cx="1066800" cy="1366798"/>
            </a:xfrm>
          </p:grpSpPr>
          <p:sp>
            <p:nvSpPr>
              <p:cNvPr id="14" name="TextBox 34">
                <a:extLst>
                  <a:ext uri="{FF2B5EF4-FFF2-40B4-BE49-F238E27FC236}">
                    <a16:creationId xmlns:a16="http://schemas.microsoft.com/office/drawing/2014/main" id="{928B411E-6E20-47D3-AB99-85567D1C4A1F}"/>
                  </a:ext>
                </a:extLst>
              </p:cNvPr>
              <p:cNvSpPr txBox="1"/>
              <p:nvPr/>
            </p:nvSpPr>
            <p:spPr>
              <a:xfrm>
                <a:off x="4659084" y="2328711"/>
                <a:ext cx="1066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56616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13232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69848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426464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83080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139696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96312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852928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2400" b="1" dirty="0">
                    <a:solidFill>
                      <a:srgbClr val="FF0000"/>
                    </a:solidFill>
                    <a:latin typeface="Consolas" charset="0"/>
                    <a:ea typeface="Consolas" charset="0"/>
                    <a:cs typeface="Consolas" charset="0"/>
                  </a:rPr>
                  <a:t>1</a:t>
                </a:r>
                <a:r>
                  <a:rPr lang="en-US" sz="2400" b="1" dirty="0">
                    <a:latin typeface="Consolas" charset="0"/>
                    <a:ea typeface="Consolas" charset="0"/>
                    <a:cs typeface="Consolas" charset="0"/>
                  </a:rPr>
                  <a:t>00</a:t>
                </a:r>
              </a:p>
            </p:txBody>
          </p:sp>
          <p:sp>
            <p:nvSpPr>
              <p:cNvPr id="15" name="TextBox 35">
                <a:extLst>
                  <a:ext uri="{FF2B5EF4-FFF2-40B4-BE49-F238E27FC236}">
                    <a16:creationId xmlns:a16="http://schemas.microsoft.com/office/drawing/2014/main" id="{D5345F49-46A4-4072-8EA9-B88DC187A580}"/>
                  </a:ext>
                </a:extLst>
              </p:cNvPr>
              <p:cNvSpPr txBox="1"/>
              <p:nvPr/>
            </p:nvSpPr>
            <p:spPr>
              <a:xfrm>
                <a:off x="4814025" y="3172289"/>
                <a:ext cx="62048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56616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13232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69848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426464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83080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139696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96312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852928" algn="l" defTabSz="713232" rtl="0" eaLnBrk="1" latinLnBrk="0" hangingPunct="1">
                  <a:defRPr sz="140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2800" b="1" dirty="0">
                    <a:latin typeface="Consolas" charset="0"/>
                    <a:ea typeface="Consolas" charset="0"/>
                    <a:cs typeface="Consolas" charset="0"/>
                  </a:rPr>
                  <a:t>-4</a:t>
                </a:r>
              </a:p>
            </p:txBody>
          </p:sp>
        </p:grp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9DBD99EB-CBB4-42C3-BCA3-E243782E4FB1}"/>
              </a:ext>
            </a:extLst>
          </p:cNvPr>
          <p:cNvSpPr txBox="1"/>
          <p:nvPr/>
        </p:nvSpPr>
        <p:spPr>
          <a:xfrm>
            <a:off x="4168548" y="3302635"/>
            <a:ext cx="1724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98399D"/>
                </a:solidFill>
              </a:rPr>
              <a:t>2’s Complement</a:t>
            </a:r>
          </a:p>
        </p:txBody>
      </p:sp>
    </p:spTree>
    <p:extLst>
      <p:ext uri="{BB962C8B-B14F-4D97-AF65-F5344CB8AC3E}">
        <p14:creationId xmlns:p14="http://schemas.microsoft.com/office/powerpoint/2010/main" val="1069078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900000">
                                      <p:cBhvr>
                                        <p:cTn id="27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Two’s complement arithmetic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096757-2449-4750-826F-19473F1B7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333" y="645456"/>
            <a:ext cx="9990667" cy="4649262"/>
          </a:xfrm>
        </p:spPr>
        <p:txBody>
          <a:bodyPr/>
          <a:lstStyle/>
          <a:p>
            <a:r>
              <a:rPr lang="en-GB" dirty="0"/>
              <a:t>Negation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You don’t need to subtract!!</a:t>
            </a:r>
          </a:p>
          <a:p>
            <a:pPr lvl="1"/>
            <a:r>
              <a:rPr lang="en-GB" dirty="0"/>
              <a:t>flip(k)+1 == flip(k-1)</a:t>
            </a:r>
          </a:p>
          <a:p>
            <a:pPr lvl="2"/>
            <a:r>
              <a:rPr lang="en-GB" dirty="0"/>
              <a:t>If you ignore the carry! </a:t>
            </a:r>
            <a:r>
              <a:rPr lang="en-GB" dirty="0">
                <a:sym typeface="Wingdings" pitchFamily="2" charset="2"/>
              </a:rPr>
              <a:t>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38C86E-0A95-584B-833C-C63450541155}"/>
              </a:ext>
            </a:extLst>
          </p:cNvPr>
          <p:cNvSpPr txBox="1"/>
          <p:nvPr/>
        </p:nvSpPr>
        <p:spPr>
          <a:xfrm>
            <a:off x="2536424" y="759133"/>
            <a:ext cx="10787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nsolas" charset="0"/>
                <a:ea typeface="Consolas" charset="0"/>
                <a:cs typeface="Consolas" charset="0"/>
              </a:rPr>
              <a:t>-(3)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6E769FC-3F31-7F48-AA3D-B5037BAC5C1B}"/>
              </a:ext>
            </a:extLst>
          </p:cNvPr>
          <p:cNvSpPr txBox="1"/>
          <p:nvPr/>
        </p:nvSpPr>
        <p:spPr>
          <a:xfrm>
            <a:off x="5411686" y="775864"/>
            <a:ext cx="137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1</a:t>
            </a:r>
            <a:r>
              <a:rPr lang="en-US" sz="3200" b="1" dirty="0">
                <a:latin typeface="Consolas" charset="0"/>
                <a:ea typeface="Consolas" charset="0"/>
                <a:cs typeface="Consolas" charset="0"/>
              </a:rPr>
              <a:t>100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7B8CA3-DE2A-E443-B93A-AF8A4C953E15}"/>
              </a:ext>
            </a:extLst>
          </p:cNvPr>
          <p:cNvSpPr txBox="1"/>
          <p:nvPr/>
        </p:nvSpPr>
        <p:spPr>
          <a:xfrm>
            <a:off x="5103204" y="1175682"/>
            <a:ext cx="12664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Segoe UI" charset="0"/>
                <a:ea typeface="Segoe UI" charset="0"/>
                <a:cs typeface="Segoe UI" charset="0"/>
              </a:rPr>
              <a:t>flip!</a:t>
            </a:r>
          </a:p>
        </p:txBody>
      </p:sp>
      <p:sp>
        <p:nvSpPr>
          <p:cNvPr id="36" name="Right Arrow 53">
            <a:extLst>
              <a:ext uri="{FF2B5EF4-FFF2-40B4-BE49-F238E27FC236}">
                <a16:creationId xmlns:a16="http://schemas.microsoft.com/office/drawing/2014/main" id="{1CA33BC0-B009-CA46-B07F-5BC5DE4D600C}"/>
              </a:ext>
            </a:extLst>
          </p:cNvPr>
          <p:cNvSpPr/>
          <p:nvPr/>
        </p:nvSpPr>
        <p:spPr>
          <a:xfrm>
            <a:off x="3542717" y="929415"/>
            <a:ext cx="397166" cy="277671"/>
          </a:xfrm>
          <a:prstGeom prst="rightArrow">
            <a:avLst>
              <a:gd name="adj1" fmla="val 18336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03BA24-B12A-4341-937F-9005DFE36CC3}"/>
              </a:ext>
            </a:extLst>
          </p:cNvPr>
          <p:cNvSpPr txBox="1"/>
          <p:nvPr/>
        </p:nvSpPr>
        <p:spPr>
          <a:xfrm>
            <a:off x="3098800" y="1189538"/>
            <a:ext cx="21189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Segoe UI" charset="0"/>
                <a:ea typeface="Segoe UI" charset="0"/>
                <a:cs typeface="Segoe UI" charset="0"/>
              </a:rPr>
              <a:t>bit pattern for positive 3?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6D3B3D2-DBB7-2049-91C7-2696269F86BA}"/>
              </a:ext>
            </a:extLst>
          </p:cNvPr>
          <p:cNvSpPr txBox="1"/>
          <p:nvPr/>
        </p:nvSpPr>
        <p:spPr>
          <a:xfrm>
            <a:off x="4011793" y="775865"/>
            <a:ext cx="137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nsolas" charset="0"/>
                <a:ea typeface="Consolas" charset="0"/>
                <a:cs typeface="Consolas" charset="0"/>
              </a:rPr>
              <a:t>0011 </a:t>
            </a:r>
          </a:p>
        </p:txBody>
      </p:sp>
      <p:sp>
        <p:nvSpPr>
          <p:cNvPr id="40" name="Right Arrow 53">
            <a:extLst>
              <a:ext uri="{FF2B5EF4-FFF2-40B4-BE49-F238E27FC236}">
                <a16:creationId xmlns:a16="http://schemas.microsoft.com/office/drawing/2014/main" id="{49B1FC96-ADB5-2145-A181-E831E2B440F3}"/>
              </a:ext>
            </a:extLst>
          </p:cNvPr>
          <p:cNvSpPr/>
          <p:nvPr/>
        </p:nvSpPr>
        <p:spPr>
          <a:xfrm>
            <a:off x="5159461" y="933707"/>
            <a:ext cx="397166" cy="277671"/>
          </a:xfrm>
          <a:prstGeom prst="rightArrow">
            <a:avLst>
              <a:gd name="adj1" fmla="val 18336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089DBC-EADF-E143-B239-05F9FA2FACF1}"/>
              </a:ext>
            </a:extLst>
          </p:cNvPr>
          <p:cNvSpPr txBox="1"/>
          <p:nvPr/>
        </p:nvSpPr>
        <p:spPr>
          <a:xfrm>
            <a:off x="2243525" y="1719209"/>
            <a:ext cx="137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nsolas" charset="0"/>
                <a:ea typeface="Consolas" charset="0"/>
                <a:cs typeface="Consolas" charset="0"/>
              </a:rPr>
              <a:t>-(-3)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B49FD93-5D6C-4547-939B-7D15DF2B748A}"/>
              </a:ext>
            </a:extLst>
          </p:cNvPr>
          <p:cNvSpPr txBox="1"/>
          <p:nvPr/>
        </p:nvSpPr>
        <p:spPr>
          <a:xfrm>
            <a:off x="5411686" y="1735940"/>
            <a:ext cx="137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nsolas" charset="0"/>
                <a:ea typeface="Consolas" charset="0"/>
                <a:cs typeface="Consolas" charset="0"/>
              </a:rPr>
              <a:t> 0010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5AB14FD-D134-194F-8BCD-03C33CBA6FB2}"/>
              </a:ext>
            </a:extLst>
          </p:cNvPr>
          <p:cNvSpPr txBox="1"/>
          <p:nvPr/>
        </p:nvSpPr>
        <p:spPr>
          <a:xfrm>
            <a:off x="5156201" y="2135758"/>
            <a:ext cx="12664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Segoe UI" charset="0"/>
                <a:ea typeface="Segoe UI" charset="0"/>
                <a:cs typeface="Segoe UI" charset="0"/>
              </a:rPr>
              <a:t>flip!</a:t>
            </a:r>
          </a:p>
        </p:txBody>
      </p:sp>
      <p:sp>
        <p:nvSpPr>
          <p:cNvPr id="46" name="Right Arrow 53">
            <a:extLst>
              <a:ext uri="{FF2B5EF4-FFF2-40B4-BE49-F238E27FC236}">
                <a16:creationId xmlns:a16="http://schemas.microsoft.com/office/drawing/2014/main" id="{5BCA9F89-F993-2A40-A10D-69FF553A7445}"/>
              </a:ext>
            </a:extLst>
          </p:cNvPr>
          <p:cNvSpPr/>
          <p:nvPr/>
        </p:nvSpPr>
        <p:spPr>
          <a:xfrm>
            <a:off x="3542717" y="1889491"/>
            <a:ext cx="397166" cy="277671"/>
          </a:xfrm>
          <a:prstGeom prst="rightArrow">
            <a:avLst>
              <a:gd name="adj1" fmla="val 18336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7CBF5A-19FE-8B45-A03A-9485022E5807}"/>
              </a:ext>
            </a:extLst>
          </p:cNvPr>
          <p:cNvSpPr txBox="1"/>
          <p:nvPr/>
        </p:nvSpPr>
        <p:spPr>
          <a:xfrm>
            <a:off x="3098800" y="2149614"/>
            <a:ext cx="21189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Segoe UI" charset="0"/>
                <a:ea typeface="Segoe UI" charset="0"/>
                <a:cs typeface="Segoe UI" charset="0"/>
              </a:rPr>
              <a:t>bit pattern for negative 3?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ED11CEF-9EE7-0048-8ECC-73715D04F4C5}"/>
              </a:ext>
            </a:extLst>
          </p:cNvPr>
          <p:cNvSpPr txBox="1"/>
          <p:nvPr/>
        </p:nvSpPr>
        <p:spPr>
          <a:xfrm>
            <a:off x="4011793" y="1735941"/>
            <a:ext cx="137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1</a:t>
            </a:r>
            <a:r>
              <a:rPr lang="en-US" sz="3200" b="1" dirty="0">
                <a:latin typeface="Consolas" charset="0"/>
                <a:ea typeface="Consolas" charset="0"/>
                <a:cs typeface="Consolas" charset="0"/>
              </a:rPr>
              <a:t>101 </a:t>
            </a:r>
          </a:p>
        </p:txBody>
      </p:sp>
      <p:sp>
        <p:nvSpPr>
          <p:cNvPr id="49" name="Right Arrow 53">
            <a:extLst>
              <a:ext uri="{FF2B5EF4-FFF2-40B4-BE49-F238E27FC236}">
                <a16:creationId xmlns:a16="http://schemas.microsoft.com/office/drawing/2014/main" id="{B8C68A58-A7A5-CD45-971A-EEEF7E7C01E3}"/>
              </a:ext>
            </a:extLst>
          </p:cNvPr>
          <p:cNvSpPr/>
          <p:nvPr/>
        </p:nvSpPr>
        <p:spPr>
          <a:xfrm>
            <a:off x="5159461" y="1893783"/>
            <a:ext cx="397166" cy="277671"/>
          </a:xfrm>
          <a:prstGeom prst="rightArrow">
            <a:avLst>
              <a:gd name="adj1" fmla="val 18336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A81827-7A48-9F42-B661-BAC509915A80}"/>
              </a:ext>
            </a:extLst>
          </p:cNvPr>
          <p:cNvSpPr txBox="1"/>
          <p:nvPr/>
        </p:nvSpPr>
        <p:spPr>
          <a:xfrm>
            <a:off x="6704296" y="1175682"/>
            <a:ext cx="12664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Segoe UI" charset="0"/>
                <a:ea typeface="Segoe UI" charset="0"/>
                <a:cs typeface="Segoe UI" charset="0"/>
              </a:rPr>
              <a:t>Add 1!</a:t>
            </a:r>
          </a:p>
        </p:txBody>
      </p:sp>
      <p:sp>
        <p:nvSpPr>
          <p:cNvPr id="20" name="Right Arrow 53">
            <a:extLst>
              <a:ext uri="{FF2B5EF4-FFF2-40B4-BE49-F238E27FC236}">
                <a16:creationId xmlns:a16="http://schemas.microsoft.com/office/drawing/2014/main" id="{A1CF60B1-83F0-D54F-89DC-563DA660075D}"/>
              </a:ext>
            </a:extLst>
          </p:cNvPr>
          <p:cNvSpPr/>
          <p:nvPr/>
        </p:nvSpPr>
        <p:spPr>
          <a:xfrm>
            <a:off x="6760553" y="933707"/>
            <a:ext cx="397166" cy="277671"/>
          </a:xfrm>
          <a:prstGeom prst="rightArrow">
            <a:avLst>
              <a:gd name="adj1" fmla="val 18336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7DB877-7286-FC4D-AF28-490956D0AD75}"/>
              </a:ext>
            </a:extLst>
          </p:cNvPr>
          <p:cNvSpPr txBox="1"/>
          <p:nvPr/>
        </p:nvSpPr>
        <p:spPr>
          <a:xfrm>
            <a:off x="6990045" y="759133"/>
            <a:ext cx="137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1</a:t>
            </a:r>
            <a:r>
              <a:rPr lang="en-US" sz="3200" b="1" dirty="0">
                <a:latin typeface="Consolas" charset="0"/>
                <a:ea typeface="Consolas" charset="0"/>
                <a:cs typeface="Consolas" charset="0"/>
              </a:rPr>
              <a:t>101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EC8D25-9207-E847-AF4C-255EE79956D5}"/>
              </a:ext>
            </a:extLst>
          </p:cNvPr>
          <p:cNvSpPr txBox="1"/>
          <p:nvPr/>
        </p:nvSpPr>
        <p:spPr>
          <a:xfrm>
            <a:off x="6753339" y="2133949"/>
            <a:ext cx="12664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Segoe UI" charset="0"/>
                <a:ea typeface="Segoe UI" charset="0"/>
                <a:cs typeface="Segoe UI" charset="0"/>
              </a:rPr>
              <a:t>Add 1!</a:t>
            </a:r>
          </a:p>
        </p:txBody>
      </p:sp>
      <p:sp>
        <p:nvSpPr>
          <p:cNvPr id="23" name="Right Arrow 53">
            <a:extLst>
              <a:ext uri="{FF2B5EF4-FFF2-40B4-BE49-F238E27FC236}">
                <a16:creationId xmlns:a16="http://schemas.microsoft.com/office/drawing/2014/main" id="{CDB22FAB-400E-2A49-8C84-FC1366E33EAD}"/>
              </a:ext>
            </a:extLst>
          </p:cNvPr>
          <p:cNvSpPr/>
          <p:nvPr/>
        </p:nvSpPr>
        <p:spPr>
          <a:xfrm>
            <a:off x="6809596" y="1891974"/>
            <a:ext cx="397166" cy="277671"/>
          </a:xfrm>
          <a:prstGeom prst="rightArrow">
            <a:avLst>
              <a:gd name="adj1" fmla="val 18336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E73595-5198-F242-A912-2F0DDB22C13B}"/>
              </a:ext>
            </a:extLst>
          </p:cNvPr>
          <p:cNvSpPr txBox="1"/>
          <p:nvPr/>
        </p:nvSpPr>
        <p:spPr>
          <a:xfrm>
            <a:off x="7039088" y="1717400"/>
            <a:ext cx="137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nsolas" charset="0"/>
                <a:ea typeface="Consolas" charset="0"/>
                <a:cs typeface="Consolas" charset="0"/>
              </a:rPr>
              <a:t> 0011</a:t>
            </a:r>
          </a:p>
        </p:txBody>
      </p:sp>
    </p:spTree>
    <p:extLst>
      <p:ext uri="{BB962C8B-B14F-4D97-AF65-F5344CB8AC3E}">
        <p14:creationId xmlns:p14="http://schemas.microsoft.com/office/powerpoint/2010/main" val="261022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6" grpId="0" animBg="1"/>
      <p:bldP spid="37" grpId="0"/>
      <p:bldP spid="39" grpId="0"/>
      <p:bldP spid="40" grpId="0" animBg="1"/>
      <p:bldP spid="43" grpId="0"/>
      <p:bldP spid="44" grpId="0"/>
      <p:bldP spid="45" grpId="0"/>
      <p:bldP spid="46" grpId="0" animBg="1"/>
      <p:bldP spid="47" grpId="0"/>
      <p:bldP spid="48" grpId="0"/>
      <p:bldP spid="49" grpId="0" animBg="1"/>
      <p:bldP spid="19" grpId="0"/>
      <p:bldP spid="20" grpId="0" animBg="1"/>
      <p:bldP spid="21" grpId="0"/>
      <p:bldP spid="22" grpId="0"/>
      <p:bldP spid="23" grpId="0" animBg="1"/>
      <p:bldP spid="2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032000" y="3059673"/>
            <a:ext cx="137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nsolas" charset="0"/>
                <a:ea typeface="Consolas" charset="0"/>
                <a:cs typeface="Consolas" charset="0"/>
              </a:rPr>
              <a:t> 1010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61579" y="2074787"/>
            <a:ext cx="10850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nsolas" charset="0"/>
                <a:ea typeface="Consolas" charset="0"/>
                <a:cs typeface="Consolas" charset="0"/>
              </a:rPr>
              <a:t>  3</a:t>
            </a:r>
          </a:p>
          <a:p>
            <a:r>
              <a:rPr lang="en-US" sz="3200" b="1" u="sng" dirty="0">
                <a:latin typeface="Consolas" charset="0"/>
                <a:ea typeface="Consolas" charset="0"/>
                <a:cs typeface="Consolas" charset="0"/>
              </a:rPr>
              <a:t>+-7</a:t>
            </a:r>
          </a:p>
          <a:p>
            <a:r>
              <a:rPr lang="en-US" sz="3200" b="1" dirty="0">
                <a:latin typeface="Consolas" charset="0"/>
                <a:ea typeface="Consolas" charset="0"/>
                <a:cs typeface="Consolas" charset="0"/>
              </a:rPr>
              <a:t> -4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Two's complement addition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367" y="618068"/>
            <a:ext cx="9965266" cy="4529402"/>
          </a:xfrm>
        </p:spPr>
        <p:txBody>
          <a:bodyPr/>
          <a:lstStyle/>
          <a:p>
            <a:r>
              <a:rPr lang="en-US" dirty="0"/>
              <a:t>the great thing is: you can add numbers of either sign </a:t>
            </a:r>
            <a:r>
              <a:rPr lang="en-US" b="1" dirty="0"/>
              <a:t>without having to do anything special!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12800" y="2074787"/>
            <a:ext cx="104335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nsolas" charset="0"/>
                <a:ea typeface="Consolas" charset="0"/>
                <a:cs typeface="Consolas" charset="0"/>
              </a:rPr>
              <a:t>  3</a:t>
            </a:r>
          </a:p>
          <a:p>
            <a:r>
              <a:rPr lang="en-US" sz="3200" b="1" u="sng" dirty="0">
                <a:latin typeface="Consolas" charset="0"/>
                <a:ea typeface="Consolas" charset="0"/>
                <a:cs typeface="Consolas" charset="0"/>
              </a:rPr>
              <a:t>+ 7</a:t>
            </a:r>
          </a:p>
          <a:p>
            <a:r>
              <a:rPr lang="en-US" sz="3200" b="1" dirty="0">
                <a:latin typeface="Consolas" charset="0"/>
                <a:ea typeface="Consolas" charset="0"/>
                <a:cs typeface="Consolas" charset="0"/>
              </a:rPr>
              <a:t>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32000" y="1703109"/>
            <a:ext cx="137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nsolas" charset="0"/>
                <a:ea typeface="Consolas" charset="0"/>
                <a:cs typeface="Consolas" charset="0"/>
              </a:rPr>
              <a:t>0</a:t>
            </a:r>
            <a:r>
              <a:rPr lang="en-US" sz="32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111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32000" y="2565555"/>
            <a:ext cx="137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latin typeface="Consolas" charset="0"/>
                <a:ea typeface="Consolas" charset="0"/>
                <a:cs typeface="Consolas" charset="0"/>
              </a:rPr>
              <a:t>+0111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32000" y="2069073"/>
            <a:ext cx="137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nsolas" charset="0"/>
                <a:ea typeface="Consolas" charset="0"/>
                <a:cs typeface="Consolas" charset="0"/>
              </a:rPr>
              <a:t> 0011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6392" y="2126182"/>
            <a:ext cx="114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0111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6392" y="2959146"/>
            <a:ext cx="114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1000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3000" y="3059673"/>
            <a:ext cx="137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1</a:t>
            </a:r>
            <a:r>
              <a:rPr lang="en-US" sz="3200" b="1" dirty="0">
                <a:latin typeface="Consolas" charset="0"/>
                <a:ea typeface="Consolas" charset="0"/>
                <a:cs typeface="Consolas" charset="0"/>
              </a:rPr>
              <a:t>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23000" y="1703109"/>
            <a:ext cx="137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nsolas" charset="0"/>
                <a:ea typeface="Consolas" charset="0"/>
                <a:cs typeface="Consolas" charset="0"/>
              </a:rPr>
              <a:t>00</a:t>
            </a:r>
            <a:r>
              <a:rPr lang="en-US" sz="32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3000" y="2565555"/>
            <a:ext cx="137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latin typeface="Consolas" charset="0"/>
                <a:ea typeface="Consolas" charset="0"/>
                <a:cs typeface="Consolas" charset="0"/>
              </a:rPr>
              <a:t>+</a:t>
            </a:r>
            <a:r>
              <a:rPr lang="en-US" sz="3200" b="1" u="sng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1</a:t>
            </a:r>
            <a:r>
              <a:rPr lang="en-US" sz="3200" b="1" u="sng" dirty="0">
                <a:latin typeface="Consolas" charset="0"/>
                <a:ea typeface="Consolas" charset="0"/>
                <a:cs typeface="Consolas" charset="0"/>
              </a:rPr>
              <a:t>001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23000" y="2069073"/>
            <a:ext cx="137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nsolas" charset="0"/>
                <a:ea typeface="Consolas" charset="0"/>
                <a:cs typeface="Consolas" charset="0"/>
              </a:rPr>
              <a:t> 0011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674446" y="2717925"/>
            <a:ext cx="433754" cy="277671"/>
          </a:xfrm>
          <a:prstGeom prst="rightArrow">
            <a:avLst>
              <a:gd name="adj1" fmla="val 18336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6448914" y="3978254"/>
            <a:ext cx="114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0011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61156" y="3251533"/>
            <a:ext cx="114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0100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812469" y="1816146"/>
            <a:ext cx="1325371" cy="684149"/>
            <a:chOff x="304468" y="1485900"/>
            <a:chExt cx="1325371" cy="684149"/>
          </a:xfrm>
        </p:grpSpPr>
        <p:sp>
          <p:nvSpPr>
            <p:cNvPr id="29" name="Right Arrow 28"/>
            <p:cNvSpPr/>
            <p:nvPr/>
          </p:nvSpPr>
          <p:spPr>
            <a:xfrm>
              <a:off x="1166446" y="1892378"/>
              <a:ext cx="433754" cy="277671"/>
            </a:xfrm>
            <a:prstGeom prst="rightArrow">
              <a:avLst>
                <a:gd name="adj1" fmla="val 18336"/>
                <a:gd name="adj2" fmla="val 50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04468" y="1485900"/>
              <a:ext cx="13253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i="1" dirty="0">
                  <a:solidFill>
                    <a:schemeClr val="bg1">
                      <a:lumMod val="50000"/>
                    </a:schemeClr>
                  </a:solidFill>
                  <a:latin typeface="Segoe UI" charset="0"/>
                  <a:ea typeface="Segoe UI" charset="0"/>
                  <a:cs typeface="Segoe UI" charset="0"/>
                </a:rPr>
                <a:t>to binary?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3403600" y="1538002"/>
            <a:ext cx="2118946" cy="1304494"/>
            <a:chOff x="2895600" y="1207757"/>
            <a:chExt cx="2118946" cy="1304494"/>
          </a:xfrm>
        </p:grpSpPr>
        <p:sp>
          <p:nvSpPr>
            <p:cNvPr id="33" name="Right Arrow 32"/>
            <p:cNvSpPr/>
            <p:nvPr/>
          </p:nvSpPr>
          <p:spPr>
            <a:xfrm rot="19633716">
              <a:off x="3938538" y="2234580"/>
              <a:ext cx="609769" cy="277671"/>
            </a:xfrm>
            <a:prstGeom prst="rightArrow">
              <a:avLst>
                <a:gd name="adj1" fmla="val 18336"/>
                <a:gd name="adj2" fmla="val 50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895600" y="1207757"/>
              <a:ext cx="211894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i="1" dirty="0">
                  <a:solidFill>
                    <a:schemeClr val="bg1">
                      <a:lumMod val="50000"/>
                    </a:schemeClr>
                  </a:solidFill>
                  <a:latin typeface="Segoe UI" charset="0"/>
                  <a:ea typeface="Segoe UI" charset="0"/>
                  <a:cs typeface="Segoe UI" charset="0"/>
                </a:rPr>
                <a:t>bit pattern for</a:t>
              </a:r>
              <a:br>
                <a:rPr lang="en-US" sz="2000" i="1" dirty="0">
                  <a:solidFill>
                    <a:schemeClr val="bg1">
                      <a:lumMod val="50000"/>
                    </a:schemeClr>
                  </a:solidFill>
                  <a:latin typeface="Segoe UI" charset="0"/>
                  <a:ea typeface="Segoe UI" charset="0"/>
                  <a:cs typeface="Segoe UI" charset="0"/>
                </a:rPr>
              </a:br>
              <a:r>
                <a:rPr lang="en-US" sz="2000" i="1" dirty="0">
                  <a:solidFill>
                    <a:schemeClr val="bg1">
                      <a:lumMod val="50000"/>
                    </a:schemeClr>
                  </a:solidFill>
                  <a:latin typeface="Segoe UI" charset="0"/>
                  <a:ea typeface="Segoe UI" charset="0"/>
                  <a:cs typeface="Segoe UI" charset="0"/>
                </a:rPr>
                <a:t>-7</a:t>
              </a:r>
              <a:r>
                <a:rPr lang="mr-IN" sz="2000" i="1" dirty="0">
                  <a:solidFill>
                    <a:schemeClr val="bg1">
                      <a:lumMod val="50000"/>
                    </a:schemeClr>
                  </a:solidFill>
                  <a:latin typeface="Segoe UI" charset="0"/>
                  <a:ea typeface="Segoe UI" charset="0"/>
                  <a:cs typeface="Segoe UI" charset="0"/>
                </a:rPr>
                <a:t>…</a:t>
              </a:r>
              <a:r>
                <a:rPr lang="en-US" sz="2000" i="1" dirty="0">
                  <a:solidFill>
                    <a:schemeClr val="bg1">
                      <a:lumMod val="50000"/>
                    </a:schemeClr>
                  </a:solidFill>
                  <a:latin typeface="Segoe UI" charset="0"/>
                  <a:ea typeface="Segoe UI" charset="0"/>
                  <a:cs typeface="Segoe UI" charset="0"/>
                </a:rPr>
                <a:t> positive 7?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4811365" y="2576989"/>
            <a:ext cx="813006" cy="503384"/>
            <a:chOff x="4303365" y="2246744"/>
            <a:chExt cx="813006" cy="503384"/>
          </a:xfrm>
        </p:grpSpPr>
        <p:sp>
          <p:nvSpPr>
            <p:cNvPr id="34" name="Right Arrow 33"/>
            <p:cNvSpPr/>
            <p:nvPr/>
          </p:nvSpPr>
          <p:spPr>
            <a:xfrm rot="5400000">
              <a:off x="4746222" y="2339222"/>
              <a:ext cx="462627" cy="277671"/>
            </a:xfrm>
            <a:prstGeom prst="rightArrow">
              <a:avLst>
                <a:gd name="adj1" fmla="val 18336"/>
                <a:gd name="adj2" fmla="val 50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303365" y="2350018"/>
              <a:ext cx="6766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i="1" dirty="0">
                  <a:solidFill>
                    <a:schemeClr val="bg1">
                      <a:lumMod val="50000"/>
                    </a:schemeClr>
                  </a:solidFill>
                  <a:latin typeface="Segoe UI" charset="0"/>
                  <a:ea typeface="Segoe UI" charset="0"/>
                  <a:cs typeface="Segoe UI" charset="0"/>
                </a:rPr>
                <a:t>flip!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5651334" y="2691545"/>
            <a:ext cx="676676" cy="478185"/>
            <a:chOff x="5143334" y="2361299"/>
            <a:chExt cx="676676" cy="478185"/>
          </a:xfrm>
        </p:grpSpPr>
        <p:sp>
          <p:nvSpPr>
            <p:cNvPr id="35" name="Right Arrow 34"/>
            <p:cNvSpPr/>
            <p:nvPr/>
          </p:nvSpPr>
          <p:spPr>
            <a:xfrm rot="19437222">
              <a:off x="5347300" y="2561813"/>
              <a:ext cx="462627" cy="277671"/>
            </a:xfrm>
            <a:prstGeom prst="rightArrow">
              <a:avLst>
                <a:gd name="adj1" fmla="val 18336"/>
                <a:gd name="adj2" fmla="val 50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143334" y="2361299"/>
              <a:ext cx="6766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i="1" dirty="0">
                  <a:solidFill>
                    <a:schemeClr val="bg1">
                      <a:lumMod val="50000"/>
                    </a:schemeClr>
                  </a:solidFill>
                  <a:latin typeface="Segoe UI" charset="0"/>
                  <a:ea typeface="Segoe UI" charset="0"/>
                  <a:cs typeface="Segoe UI" charset="0"/>
                </a:rPr>
                <a:t>+1</a:t>
              </a: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4493395" y="3465160"/>
            <a:ext cx="2654860" cy="707886"/>
            <a:chOff x="2461511" y="2133401"/>
            <a:chExt cx="2654860" cy="707886"/>
          </a:xfrm>
        </p:grpSpPr>
        <p:sp>
          <p:nvSpPr>
            <p:cNvPr id="51" name="Right Arrow 50"/>
            <p:cNvSpPr/>
            <p:nvPr/>
          </p:nvSpPr>
          <p:spPr>
            <a:xfrm rot="5400000">
              <a:off x="4746222" y="2339222"/>
              <a:ext cx="462627" cy="277671"/>
            </a:xfrm>
            <a:prstGeom prst="rightArrow">
              <a:avLst>
                <a:gd name="adj1" fmla="val 18336"/>
                <a:gd name="adj2" fmla="val 50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461511" y="2133401"/>
              <a:ext cx="231921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i="1" dirty="0">
                  <a:solidFill>
                    <a:schemeClr val="bg1">
                      <a:lumMod val="50000"/>
                    </a:schemeClr>
                  </a:solidFill>
                  <a:latin typeface="Segoe UI" charset="0"/>
                  <a:ea typeface="Segoe UI" charset="0"/>
                  <a:cs typeface="Segoe UI" charset="0"/>
                </a:rPr>
                <a:t>this is negative, so what is it? flip!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7920277" y="2889433"/>
            <a:ext cx="1779115" cy="480181"/>
            <a:chOff x="5193546" y="2477384"/>
            <a:chExt cx="1779115" cy="480181"/>
          </a:xfrm>
        </p:grpSpPr>
        <p:sp>
          <p:nvSpPr>
            <p:cNvPr id="54" name="Right Arrow 53"/>
            <p:cNvSpPr/>
            <p:nvPr/>
          </p:nvSpPr>
          <p:spPr>
            <a:xfrm rot="16200000">
              <a:off x="5101068" y="2569862"/>
              <a:ext cx="462627" cy="277671"/>
            </a:xfrm>
            <a:prstGeom prst="rightArrow">
              <a:avLst>
                <a:gd name="adj1" fmla="val 18336"/>
                <a:gd name="adj2" fmla="val 50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404201" y="2557455"/>
              <a:ext cx="15684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i="1" dirty="0">
                  <a:solidFill>
                    <a:schemeClr val="bg1">
                      <a:lumMod val="50000"/>
                    </a:schemeClr>
                  </a:solidFill>
                  <a:latin typeface="Segoe UI" charset="0"/>
                  <a:ea typeface="Segoe UI" charset="0"/>
                  <a:cs typeface="Segoe UI" charset="0"/>
                </a:rPr>
                <a:t>to decimal?</a:t>
              </a: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7354208" y="3708554"/>
            <a:ext cx="676676" cy="481292"/>
            <a:chOff x="5142433" y="2358192"/>
            <a:chExt cx="676676" cy="481292"/>
          </a:xfrm>
        </p:grpSpPr>
        <p:sp>
          <p:nvSpPr>
            <p:cNvPr id="57" name="Right Arrow 56"/>
            <p:cNvSpPr/>
            <p:nvPr/>
          </p:nvSpPr>
          <p:spPr>
            <a:xfrm rot="19437222">
              <a:off x="5347300" y="2561813"/>
              <a:ext cx="462627" cy="277671"/>
            </a:xfrm>
            <a:prstGeom prst="rightArrow">
              <a:avLst>
                <a:gd name="adj1" fmla="val 18336"/>
                <a:gd name="adj2" fmla="val 50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142433" y="2358192"/>
              <a:ext cx="6766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i="1">
                  <a:solidFill>
                    <a:schemeClr val="bg1">
                      <a:lumMod val="50000"/>
                    </a:schemeClr>
                  </a:solidFill>
                  <a:latin typeface="Segoe UI" charset="0"/>
                  <a:ea typeface="Segoe UI" charset="0"/>
                  <a:cs typeface="Segoe UI" charset="0"/>
                </a:rPr>
                <a:t>+1</a:t>
              </a:r>
              <a:endParaRPr lang="en-US" sz="2000" i="1" dirty="0">
                <a:solidFill>
                  <a:schemeClr val="bg1">
                    <a:lumMod val="50000"/>
                  </a:schemeClr>
                </a:solidFill>
                <a:latin typeface="Segoe UI" charset="0"/>
                <a:ea typeface="Segoe UI" charset="0"/>
                <a:cs typeface="Segoe UI" charset="0"/>
              </a:endParaRPr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7888214" y="2347995"/>
            <a:ext cx="4444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7330" y="4270642"/>
            <a:ext cx="547419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the actual patterns of bits are the same.</a:t>
            </a:r>
            <a:br>
              <a:rPr lang="en-US" sz="2000" dirty="0"/>
            </a:br>
            <a:r>
              <a:rPr lang="en-US" sz="2000" dirty="0"/>
              <a:t>so how does the computer "know" whether it's</a:t>
            </a:r>
          </a:p>
          <a:p>
            <a:pPr algn="ctr"/>
            <a:r>
              <a:rPr lang="en-US" sz="2000" dirty="0"/>
              <a:t>doing signed or unsigned addition?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40566" y="2342317"/>
            <a:ext cx="4444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-</a:t>
            </a:r>
          </a:p>
        </p:txBody>
      </p:sp>
      <p:sp>
        <p:nvSpPr>
          <p:cNvPr id="45" name="Right Arrow 44">
            <a:extLst>
              <a:ext uri="{FF2B5EF4-FFF2-40B4-BE49-F238E27FC236}">
                <a16:creationId xmlns:a16="http://schemas.microsoft.com/office/drawing/2014/main" id="{AB310CE3-E1CE-7C42-8749-7FA86067BF27}"/>
              </a:ext>
            </a:extLst>
          </p:cNvPr>
          <p:cNvSpPr/>
          <p:nvPr/>
        </p:nvSpPr>
        <p:spPr>
          <a:xfrm rot="8311652">
            <a:off x="6436578" y="1500167"/>
            <a:ext cx="462627" cy="277671"/>
          </a:xfrm>
          <a:prstGeom prst="rightArrow">
            <a:avLst>
              <a:gd name="adj1" fmla="val 18336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E640073-A6C2-764B-A90C-2BA71B9B30CD}"/>
              </a:ext>
            </a:extLst>
          </p:cNvPr>
          <p:cNvSpPr txBox="1"/>
          <p:nvPr/>
        </p:nvSpPr>
        <p:spPr>
          <a:xfrm>
            <a:off x="6788307" y="1276591"/>
            <a:ext cx="19448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Segoe UI" charset="0"/>
                <a:ea typeface="Segoe UI" charset="0"/>
                <a:cs typeface="Segoe UI" charset="0"/>
              </a:rPr>
              <a:t>Ignore the carry</a:t>
            </a:r>
          </a:p>
        </p:txBody>
      </p:sp>
    </p:spTree>
    <p:extLst>
      <p:ext uri="{BB962C8B-B14F-4D97-AF65-F5344CB8AC3E}">
        <p14:creationId xmlns:p14="http://schemas.microsoft.com/office/powerpoint/2010/main" val="2764386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7" grpId="0"/>
      <p:bldP spid="16" grpId="0"/>
      <p:bldP spid="17" grpId="0"/>
      <p:bldP spid="18" grpId="0"/>
      <p:bldP spid="20" grpId="0"/>
      <p:bldP spid="21" grpId="0"/>
      <p:bldP spid="25" grpId="0"/>
      <p:bldP spid="26" grpId="0"/>
      <p:bldP spid="27" grpId="0"/>
      <p:bldP spid="28" grpId="0"/>
      <p:bldP spid="30" grpId="0" animBg="1"/>
      <p:bldP spid="31" grpId="0"/>
      <p:bldP spid="32" grpId="0"/>
      <p:bldP spid="59" grpId="0"/>
      <p:bldP spid="60" grpId="0"/>
      <p:bldP spid="61" grpId="0"/>
      <p:bldP spid="45" grpId="0" animBg="1"/>
      <p:bldP spid="4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95DDF-00E2-4782-BC61-6BE42E4D8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Signed Numbers (2’s Complement)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7857E-87FD-424B-BDC1-AFBB6F6CE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650" y="895350"/>
            <a:ext cx="7886700" cy="470588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Let’s look some examples: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If the MSB is 1</a:t>
            </a:r>
            <a:r>
              <a:rPr lang="en-US" dirty="0"/>
              <a:t>: Flip! Add one!</a:t>
            </a:r>
          </a:p>
          <a:p>
            <a:r>
              <a:rPr lang="en-US" b="1" dirty="0"/>
              <a:t>Otherwise</a:t>
            </a:r>
            <a:r>
              <a:rPr lang="en-US" dirty="0"/>
              <a:t>: Do nothing! It’s the same!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1B05EC-095B-47AE-BE7D-999837811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75500" y="5296959"/>
            <a:ext cx="2286000" cy="304271"/>
          </a:xfrm>
        </p:spPr>
        <p:txBody>
          <a:bodyPr/>
          <a:lstStyle/>
          <a:p>
            <a:fld id="{8228C0A2-10A0-40F7-BAE1-3BE620EEA294}" type="slidenum">
              <a:rPr lang="en-US" smtClean="0"/>
              <a:t>32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DB1916-7B1A-483D-8FD9-123225C66FD9}"/>
              </a:ext>
            </a:extLst>
          </p:cNvPr>
          <p:cNvSpPr txBox="1"/>
          <p:nvPr/>
        </p:nvSpPr>
        <p:spPr>
          <a:xfrm>
            <a:off x="271322" y="1608910"/>
            <a:ext cx="441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11010100</a:t>
            </a:r>
            <a:r>
              <a:rPr lang="en-US" sz="3600" b="1" dirty="0">
                <a:latin typeface="Consolas" charset="0"/>
                <a:ea typeface="Consolas" charset="0"/>
                <a:cs typeface="Consolas" charset="0"/>
                <a:sym typeface="Wingdings" panose="05000000000000000000" pitchFamily="2" charset="2"/>
              </a:rPr>
              <a:t></a:t>
            </a:r>
            <a:endParaRPr lang="en-US" sz="3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F387B9-E5BF-466A-9031-6636CFD5A293}"/>
              </a:ext>
            </a:extLst>
          </p:cNvPr>
          <p:cNvSpPr txBox="1"/>
          <p:nvPr/>
        </p:nvSpPr>
        <p:spPr>
          <a:xfrm>
            <a:off x="2771760" y="1606668"/>
            <a:ext cx="68929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-</a:t>
            </a:r>
            <a:r>
              <a:rPr lang="en-US" sz="3600" b="1" dirty="0">
                <a:latin typeface="Consolas" charset="0"/>
                <a:ea typeface="Consolas" charset="0"/>
                <a:cs typeface="Consolas" charset="0"/>
              </a:rPr>
              <a:t>(00101011+1)</a:t>
            </a:r>
            <a:r>
              <a:rPr lang="en-US" sz="3600" b="1" dirty="0">
                <a:latin typeface="Consolas" charset="0"/>
                <a:ea typeface="Consolas" charset="0"/>
                <a:cs typeface="Consolas" charset="0"/>
                <a:sym typeface="Wingdings" panose="05000000000000000000" pitchFamily="2" charset="2"/>
              </a:rPr>
              <a:t></a:t>
            </a:r>
            <a:r>
              <a:rPr lang="en-US" sz="36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-</a:t>
            </a:r>
            <a:r>
              <a:rPr lang="en-US" sz="3600" b="1" dirty="0">
                <a:latin typeface="Consolas" charset="0"/>
                <a:ea typeface="Consolas" charset="0"/>
                <a:cs typeface="Consolas" charset="0"/>
              </a:rPr>
              <a:t>(43+1)=</a:t>
            </a:r>
            <a:r>
              <a:rPr lang="en-US" sz="36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-</a:t>
            </a:r>
            <a:r>
              <a:rPr lang="en-US" sz="3600" b="1" dirty="0">
                <a:latin typeface="Consolas" charset="0"/>
                <a:ea typeface="Consolas" charset="0"/>
                <a:cs typeface="Consolas" charset="0"/>
              </a:rPr>
              <a:t>44</a:t>
            </a:r>
            <a:endParaRPr lang="en-US" sz="3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47F04CBA-5554-42B1-AAEC-CBF34238C914}"/>
              </a:ext>
            </a:extLst>
          </p:cNvPr>
          <p:cNvSpPr/>
          <p:nvPr/>
        </p:nvSpPr>
        <p:spPr>
          <a:xfrm rot="16200000">
            <a:off x="7274421" y="1986897"/>
            <a:ext cx="209602" cy="517510"/>
          </a:xfrm>
          <a:prstGeom prst="leftBrace">
            <a:avLst>
              <a:gd name="adj1" fmla="val 90618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2207D1A9-A985-46D3-96CC-5FBB2F74254F}"/>
              </a:ext>
            </a:extLst>
          </p:cNvPr>
          <p:cNvSpPr/>
          <p:nvPr/>
        </p:nvSpPr>
        <p:spPr>
          <a:xfrm rot="16200000">
            <a:off x="4531621" y="879207"/>
            <a:ext cx="151855" cy="2790637"/>
          </a:xfrm>
          <a:prstGeom prst="leftBrace">
            <a:avLst>
              <a:gd name="adj1" fmla="val 90618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67E220-BD00-45EA-8881-75F9DE410410}"/>
              </a:ext>
            </a:extLst>
          </p:cNvPr>
          <p:cNvSpPr txBox="1"/>
          <p:nvPr/>
        </p:nvSpPr>
        <p:spPr>
          <a:xfrm>
            <a:off x="271322" y="3030965"/>
            <a:ext cx="441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00000000 </a:t>
            </a:r>
            <a:r>
              <a:rPr lang="en-US" sz="3600" b="1" dirty="0">
                <a:latin typeface="Consolas" charset="0"/>
                <a:ea typeface="Consolas" charset="0"/>
                <a:cs typeface="Consolas" charset="0"/>
              </a:rPr>
              <a:t>=</a:t>
            </a:r>
            <a:endParaRPr lang="en-US" sz="3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6E0D7D-C66F-4A7A-B810-8BD205CB71BA}"/>
              </a:ext>
            </a:extLst>
          </p:cNvPr>
          <p:cNvSpPr txBox="1"/>
          <p:nvPr/>
        </p:nvSpPr>
        <p:spPr>
          <a:xfrm>
            <a:off x="2704489" y="3028723"/>
            <a:ext cx="5613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3600" b="1" dirty="0">
                <a:latin typeface="Consolas" charset="0"/>
                <a:ea typeface="Consolas" charset="0"/>
                <a:cs typeface="Consolas" charset="0"/>
              </a:rPr>
              <a:t>00000000=</a:t>
            </a:r>
            <a:r>
              <a:rPr lang="en-US" sz="36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3600" b="1" dirty="0">
                <a:latin typeface="Consolas" charset="0"/>
                <a:ea typeface="Consolas" charset="0"/>
                <a:cs typeface="Consolas" charset="0"/>
              </a:rPr>
              <a:t>0</a:t>
            </a:r>
            <a:endParaRPr lang="en-US" sz="3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DEC50B15-862C-415E-90B2-2F76F157248A}"/>
              </a:ext>
            </a:extLst>
          </p:cNvPr>
          <p:cNvSpPr/>
          <p:nvPr/>
        </p:nvSpPr>
        <p:spPr>
          <a:xfrm rot="16200000">
            <a:off x="3941174" y="2670014"/>
            <a:ext cx="141957" cy="2063033"/>
          </a:xfrm>
          <a:prstGeom prst="leftBrace">
            <a:avLst>
              <a:gd name="adj1" fmla="val 90618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52986C-7D6E-4CAD-B831-C9E0CF5A383C}"/>
              </a:ext>
            </a:extLst>
          </p:cNvPr>
          <p:cNvSpPr txBox="1"/>
          <p:nvPr/>
        </p:nvSpPr>
        <p:spPr>
          <a:xfrm>
            <a:off x="271322" y="3764998"/>
            <a:ext cx="441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11111111</a:t>
            </a:r>
            <a:r>
              <a:rPr lang="en-US" sz="3600" b="1" dirty="0">
                <a:latin typeface="Consolas" charset="0"/>
                <a:ea typeface="Consolas" charset="0"/>
                <a:cs typeface="Consolas" charset="0"/>
              </a:rPr>
              <a:t>=</a:t>
            </a:r>
            <a:endParaRPr lang="en-US" sz="3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2F440E-6DA5-4603-B611-6FECF21186DE}"/>
              </a:ext>
            </a:extLst>
          </p:cNvPr>
          <p:cNvSpPr txBox="1"/>
          <p:nvPr/>
        </p:nvSpPr>
        <p:spPr>
          <a:xfrm>
            <a:off x="2560094" y="3762756"/>
            <a:ext cx="58925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-</a:t>
            </a:r>
            <a:r>
              <a:rPr lang="en-US" sz="3600" b="1" dirty="0">
                <a:latin typeface="Consolas" charset="0"/>
                <a:ea typeface="Consolas" charset="0"/>
                <a:cs typeface="Consolas" charset="0"/>
              </a:rPr>
              <a:t>00000000=</a:t>
            </a:r>
            <a:r>
              <a:rPr lang="en-US" sz="36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-</a:t>
            </a:r>
            <a:r>
              <a:rPr lang="en-US" sz="3600" b="1" dirty="0">
                <a:latin typeface="Consolas" charset="0"/>
                <a:ea typeface="Consolas" charset="0"/>
                <a:cs typeface="Consolas" charset="0"/>
              </a:rPr>
              <a:t>(0+1) =</a:t>
            </a:r>
            <a:r>
              <a:rPr lang="en-US" sz="36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-</a:t>
            </a:r>
            <a:r>
              <a:rPr lang="en-US" sz="3600" b="1" dirty="0">
                <a:latin typeface="Consolas" charset="0"/>
                <a:ea typeface="Consolas" charset="0"/>
                <a:cs typeface="Consolas" charset="0"/>
              </a:rPr>
              <a:t>1</a:t>
            </a:r>
            <a:endParaRPr lang="en-US" sz="3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F16A682B-3B78-49F4-8E94-6B3156DB40F2}"/>
              </a:ext>
            </a:extLst>
          </p:cNvPr>
          <p:cNvSpPr/>
          <p:nvPr/>
        </p:nvSpPr>
        <p:spPr>
          <a:xfrm rot="16200000">
            <a:off x="5767298" y="4314803"/>
            <a:ext cx="97454" cy="226968"/>
          </a:xfrm>
          <a:prstGeom prst="leftBrace">
            <a:avLst>
              <a:gd name="adj1" fmla="val 90618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B4ED6B31-FA20-43D9-87C2-1A34BE828A35}"/>
              </a:ext>
            </a:extLst>
          </p:cNvPr>
          <p:cNvSpPr/>
          <p:nvPr/>
        </p:nvSpPr>
        <p:spPr>
          <a:xfrm rot="16200000">
            <a:off x="3847236" y="3404047"/>
            <a:ext cx="141957" cy="2063033"/>
          </a:xfrm>
          <a:prstGeom prst="leftBrace">
            <a:avLst>
              <a:gd name="adj1" fmla="val 90618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5DDA56-DD13-4504-9512-C33FD73A5EC8}"/>
              </a:ext>
            </a:extLst>
          </p:cNvPr>
          <p:cNvSpPr txBox="1"/>
          <p:nvPr/>
        </p:nvSpPr>
        <p:spPr>
          <a:xfrm>
            <a:off x="271322" y="2298296"/>
            <a:ext cx="441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00100110 </a:t>
            </a:r>
            <a:r>
              <a:rPr lang="en-US" sz="3600" b="1" dirty="0">
                <a:latin typeface="Consolas" charset="0"/>
                <a:ea typeface="Consolas" charset="0"/>
                <a:cs typeface="Consolas" charset="0"/>
              </a:rPr>
              <a:t>=</a:t>
            </a:r>
            <a:endParaRPr lang="en-US" sz="3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57E944-7C8D-433E-A5E8-B2394636BD72}"/>
              </a:ext>
            </a:extLst>
          </p:cNvPr>
          <p:cNvSpPr txBox="1"/>
          <p:nvPr/>
        </p:nvSpPr>
        <p:spPr>
          <a:xfrm>
            <a:off x="2560094" y="2296054"/>
            <a:ext cx="5737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onsolas" charset="0"/>
                <a:ea typeface="Consolas" charset="0"/>
                <a:cs typeface="Consolas" charset="0"/>
              </a:rPr>
              <a:t>  00100110 = 38</a:t>
            </a:r>
            <a:endParaRPr lang="en-US" sz="3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17AB4E1C-7CE0-4404-A411-D3B0115C2415}"/>
              </a:ext>
            </a:extLst>
          </p:cNvPr>
          <p:cNvSpPr/>
          <p:nvPr/>
        </p:nvSpPr>
        <p:spPr>
          <a:xfrm rot="16200000">
            <a:off x="4063136" y="1937345"/>
            <a:ext cx="141957" cy="2063033"/>
          </a:xfrm>
          <a:prstGeom prst="leftBrace">
            <a:avLst>
              <a:gd name="adj1" fmla="val 90618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B7B1965D-50F4-421D-8A65-01F28FD6515C}"/>
              </a:ext>
            </a:extLst>
          </p:cNvPr>
          <p:cNvSpPr/>
          <p:nvPr/>
        </p:nvSpPr>
        <p:spPr>
          <a:xfrm rot="16200000">
            <a:off x="1276938" y="1986539"/>
            <a:ext cx="141957" cy="2063033"/>
          </a:xfrm>
          <a:prstGeom prst="leftBrace">
            <a:avLst>
              <a:gd name="adj1" fmla="val 90618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CB9810B9-DB33-4611-9452-81BCE32CA148}"/>
              </a:ext>
            </a:extLst>
          </p:cNvPr>
          <p:cNvSpPr/>
          <p:nvPr/>
        </p:nvSpPr>
        <p:spPr>
          <a:xfrm rot="16200000">
            <a:off x="1287904" y="2670014"/>
            <a:ext cx="141957" cy="2063033"/>
          </a:xfrm>
          <a:prstGeom prst="leftBrace">
            <a:avLst>
              <a:gd name="adj1" fmla="val 90618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23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 animBg="1"/>
      <p:bldP spid="9" grpId="0"/>
      <p:bldP spid="10" grpId="0"/>
      <p:bldP spid="11" grpId="0" animBg="1"/>
      <p:bldP spid="12" grpId="0"/>
      <p:bldP spid="13" grpId="0"/>
      <p:bldP spid="14" grpId="0" animBg="1"/>
      <p:bldP spid="15" grpId="0" animBg="1"/>
      <p:bldP spid="16" grpId="0"/>
      <p:bldP spid="17" grpId="0"/>
      <p:bldP spid="18" grpId="0" animBg="1"/>
      <p:bldP spid="19" grpId="0" animBg="1"/>
      <p:bldP spid="2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DB970-22D1-49FA-8801-A03188F7D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Signed Numbers (2’s Complement)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CFB20-A622-4742-A993-A3539EECD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922868"/>
            <a:ext cx="9309100" cy="4224602"/>
          </a:xfrm>
        </p:spPr>
        <p:txBody>
          <a:bodyPr/>
          <a:lstStyle/>
          <a:p>
            <a:r>
              <a:rPr lang="en-US" dirty="0"/>
              <a:t>What happens when we add zeros to a positive number: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happens when we add ones to a negative number: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6E3A9-B808-47CC-8ADE-62A787D6A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75500" y="5296959"/>
            <a:ext cx="2286000" cy="304271"/>
          </a:xfrm>
        </p:spPr>
        <p:txBody>
          <a:bodyPr/>
          <a:lstStyle/>
          <a:p>
            <a:fld id="{8228C0A2-10A0-40F7-BAE1-3BE620EEA294}" type="slidenum">
              <a:rPr lang="en-US" smtClean="0"/>
              <a:t>33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07647F-444E-4DF1-A0CD-11E1A8C4D011}"/>
              </a:ext>
            </a:extLst>
          </p:cNvPr>
          <p:cNvSpPr txBox="1"/>
          <p:nvPr/>
        </p:nvSpPr>
        <p:spPr>
          <a:xfrm>
            <a:off x="3589577" y="1582557"/>
            <a:ext cx="4017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3600" b="1" dirty="0">
                <a:latin typeface="Consolas" charset="0"/>
                <a:ea typeface="Consolas" charset="0"/>
                <a:cs typeface="Consolas" charset="0"/>
              </a:rPr>
              <a:t>00100110 = 38</a:t>
            </a:r>
            <a:endParaRPr lang="en-US" sz="3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98B9B3-E739-48D2-A563-13EAFBC8085E}"/>
              </a:ext>
            </a:extLst>
          </p:cNvPr>
          <p:cNvSpPr txBox="1"/>
          <p:nvPr/>
        </p:nvSpPr>
        <p:spPr>
          <a:xfrm>
            <a:off x="1586173" y="2155708"/>
            <a:ext cx="60212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 00000000</a:t>
            </a:r>
            <a:r>
              <a:rPr lang="en-US" sz="3600" b="1" dirty="0">
                <a:latin typeface="Consolas" charset="0"/>
                <a:ea typeface="Consolas" charset="0"/>
                <a:cs typeface="Consolas" charset="0"/>
              </a:rPr>
              <a:t>00100110 =  ? </a:t>
            </a:r>
            <a:endParaRPr lang="en-US" sz="3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F26AC6-C4BE-46CA-810C-D6C7DCE7D742}"/>
              </a:ext>
            </a:extLst>
          </p:cNvPr>
          <p:cNvSpPr txBox="1"/>
          <p:nvPr/>
        </p:nvSpPr>
        <p:spPr>
          <a:xfrm>
            <a:off x="3589577" y="3799187"/>
            <a:ext cx="4017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3600" b="1" dirty="0">
                <a:latin typeface="Consolas" charset="0"/>
                <a:ea typeface="Consolas" charset="0"/>
                <a:cs typeface="Consolas" charset="0"/>
              </a:rPr>
              <a:t>10100110 =  ?</a:t>
            </a:r>
            <a:endParaRPr lang="en-US" sz="3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9E9398-6F70-47FA-A9A2-34C8D0954142}"/>
              </a:ext>
            </a:extLst>
          </p:cNvPr>
          <p:cNvSpPr txBox="1"/>
          <p:nvPr/>
        </p:nvSpPr>
        <p:spPr>
          <a:xfrm>
            <a:off x="1348441" y="4372338"/>
            <a:ext cx="62589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 111111111</a:t>
            </a:r>
            <a:r>
              <a:rPr lang="en-US" sz="3600" b="1" dirty="0">
                <a:latin typeface="Consolas" charset="0"/>
                <a:ea typeface="Consolas" charset="0"/>
                <a:cs typeface="Consolas" charset="0"/>
              </a:rPr>
              <a:t>10100110 =</a:t>
            </a:r>
          </a:p>
          <a:p>
            <a:r>
              <a:rPr lang="en-US" sz="36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-</a:t>
            </a:r>
            <a:r>
              <a:rPr lang="en-US" sz="3600" b="1" dirty="0">
                <a:latin typeface="Consolas" charset="0"/>
                <a:ea typeface="Consolas" charset="0"/>
                <a:cs typeface="Consolas" charset="0"/>
              </a:rPr>
              <a:t>00000000001011001 =  ? </a:t>
            </a:r>
            <a:endParaRPr lang="en-US" sz="3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4297C8-43BF-44D1-83AD-70D66BAC8B93}"/>
              </a:ext>
            </a:extLst>
          </p:cNvPr>
          <p:cNvSpPr txBox="1"/>
          <p:nvPr/>
        </p:nvSpPr>
        <p:spPr>
          <a:xfrm>
            <a:off x="6607425" y="3799187"/>
            <a:ext cx="133860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onsolas" charset="0"/>
                <a:ea typeface="Consolas" charset="0"/>
                <a:cs typeface="Consolas" charset="0"/>
              </a:rPr>
              <a:t>-90</a:t>
            </a:r>
            <a:endParaRPr lang="en-US" sz="3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BBF433-79DD-4251-8B72-EB8C90D155B4}"/>
              </a:ext>
            </a:extLst>
          </p:cNvPr>
          <p:cNvSpPr txBox="1"/>
          <p:nvPr/>
        </p:nvSpPr>
        <p:spPr>
          <a:xfrm>
            <a:off x="6571126" y="2198670"/>
            <a:ext cx="71705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onsolas" charset="0"/>
                <a:ea typeface="Consolas" charset="0"/>
                <a:cs typeface="Consolas" charset="0"/>
              </a:rPr>
              <a:t>38</a:t>
            </a:r>
            <a:endParaRPr lang="en-US" sz="3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9ECDCC-64FC-48E4-85C5-A3F0EB27115B}"/>
              </a:ext>
            </a:extLst>
          </p:cNvPr>
          <p:cNvSpPr txBox="1"/>
          <p:nvPr/>
        </p:nvSpPr>
        <p:spPr>
          <a:xfrm>
            <a:off x="6607425" y="4891391"/>
            <a:ext cx="133860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onsolas" charset="0"/>
                <a:ea typeface="Consolas" charset="0"/>
                <a:cs typeface="Consolas" charset="0"/>
              </a:rPr>
              <a:t>-90</a:t>
            </a:r>
            <a:endParaRPr lang="en-US" sz="3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BF1D6D-7E6B-4AAE-B3B2-84A46A417FC3}"/>
              </a:ext>
            </a:extLst>
          </p:cNvPr>
          <p:cNvSpPr txBox="1"/>
          <p:nvPr/>
        </p:nvSpPr>
        <p:spPr>
          <a:xfrm rot="18965013">
            <a:off x="7341152" y="4136997"/>
            <a:ext cx="2336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Dang that’s cool!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337292-0AFA-4BF6-9B6C-A6FFEE7D9842}"/>
              </a:ext>
            </a:extLst>
          </p:cNvPr>
          <p:cNvSpPr/>
          <p:nvPr/>
        </p:nvSpPr>
        <p:spPr>
          <a:xfrm>
            <a:off x="2195096" y="1296356"/>
            <a:ext cx="5160304" cy="2056958"/>
          </a:xfrm>
          <a:prstGeom prst="rect">
            <a:avLst/>
          </a:prstGeom>
          <a:solidFill>
            <a:srgbClr val="E9D4E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D7FEA6-9096-45F5-9D03-ED4E4BD7C821}"/>
              </a:ext>
            </a:extLst>
          </p:cNvPr>
          <p:cNvSpPr txBox="1"/>
          <p:nvPr/>
        </p:nvSpPr>
        <p:spPr>
          <a:xfrm>
            <a:off x="2267889" y="1303025"/>
            <a:ext cx="5087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     </a:t>
            </a:r>
            <a:r>
              <a:rPr lang="en-US" sz="3600" b="1" dirty="0">
                <a:latin typeface="Consolas" charset="0"/>
                <a:ea typeface="Consolas" charset="0"/>
                <a:cs typeface="Consolas" charset="0"/>
              </a:rPr>
              <a:t>10100110 =  ?</a:t>
            </a:r>
            <a:endParaRPr lang="en-US" sz="3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5D39EF-D6D1-428F-A311-B34E0B9A6E0C}"/>
              </a:ext>
            </a:extLst>
          </p:cNvPr>
          <p:cNvSpPr txBox="1"/>
          <p:nvPr/>
        </p:nvSpPr>
        <p:spPr>
          <a:xfrm>
            <a:off x="2273707" y="1885411"/>
            <a:ext cx="4846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-</a:t>
            </a:r>
            <a:r>
              <a:rPr lang="en-US" sz="3600" b="1" dirty="0">
                <a:latin typeface="Consolas" charset="0"/>
                <a:ea typeface="Consolas" charset="0"/>
                <a:cs typeface="Consolas" charset="0"/>
              </a:rPr>
              <a:t>(01011001+1) =  ?</a:t>
            </a:r>
            <a:endParaRPr lang="en-US" sz="3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540CD5-A1AF-4D95-9D79-0C35FFF99C96}"/>
              </a:ext>
            </a:extLst>
          </p:cNvPr>
          <p:cNvSpPr txBox="1"/>
          <p:nvPr/>
        </p:nvSpPr>
        <p:spPr>
          <a:xfrm>
            <a:off x="2273707" y="2458979"/>
            <a:ext cx="4846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    -</a:t>
            </a:r>
            <a:r>
              <a:rPr lang="en-US" sz="3600" b="1" dirty="0">
                <a:latin typeface="Consolas" charset="0"/>
                <a:ea typeface="Consolas" charset="0"/>
                <a:cs typeface="Consolas" charset="0"/>
              </a:rPr>
              <a:t>01011010 =  ?</a:t>
            </a:r>
            <a:endParaRPr lang="en-US" sz="3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1897CF-A8CC-431D-A97E-EDAC43B8087C}"/>
              </a:ext>
            </a:extLst>
          </p:cNvPr>
          <p:cNvSpPr txBox="1"/>
          <p:nvPr/>
        </p:nvSpPr>
        <p:spPr>
          <a:xfrm>
            <a:off x="6213652" y="2467654"/>
            <a:ext cx="985037" cy="646331"/>
          </a:xfrm>
          <a:prstGeom prst="rect">
            <a:avLst/>
          </a:prstGeom>
          <a:solidFill>
            <a:srgbClr val="E9D4E9"/>
          </a:solidFill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onsolas" charset="0"/>
                <a:ea typeface="Consolas" charset="0"/>
                <a:cs typeface="Consolas" charset="0"/>
              </a:rPr>
              <a:t>-90</a:t>
            </a:r>
            <a:endParaRPr lang="en-US" sz="36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4995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 animBg="1"/>
      <p:bldP spid="11" grpId="0" animBg="1"/>
      <p:bldP spid="12" grpId="0" animBg="1"/>
      <p:bldP spid="13" grpId="0"/>
      <p:bldP spid="9" grpId="0" animBg="1"/>
      <p:bldP spid="9" grpId="1" animBg="1"/>
      <p:bldP spid="14" grpId="0"/>
      <p:bldP spid="14" grpId="1"/>
      <p:bldP spid="15" grpId="0"/>
      <p:bldP spid="15" grpId="1"/>
      <p:bldP spid="16" grpId="0"/>
      <p:bldP spid="16" grpId="1"/>
      <p:bldP spid="18" grpId="0" animBg="1"/>
      <p:bldP spid="18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64A57-1FB7-4077-A84B-B9E5FFFDA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I Get an Extension?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4D3A0-2D8C-4DB7-81B7-B080230F6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650" y="895351"/>
            <a:ext cx="7886700" cy="4570879"/>
          </a:xfrm>
        </p:spPr>
        <p:txBody>
          <a:bodyPr>
            <a:normAutofit/>
          </a:bodyPr>
          <a:lstStyle/>
          <a:p>
            <a:r>
              <a:rPr lang="en-US" dirty="0"/>
              <a:t>Sometimes you need to </a:t>
            </a:r>
            <a:r>
              <a:rPr lang="en-US" i="1" dirty="0"/>
              <a:t>widen</a:t>
            </a:r>
            <a:r>
              <a:rPr lang="en-US" dirty="0"/>
              <a:t> a number with fewer bits to more</a:t>
            </a:r>
          </a:p>
          <a:p>
            <a:r>
              <a:rPr lang="en-US" b="1" i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zero extension</a:t>
            </a:r>
            <a:r>
              <a:rPr lang="en-US" i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</a:t>
            </a:r>
            <a:r>
              <a:rPr lang="en-US" dirty="0"/>
              <a:t>is easy: </a:t>
            </a:r>
            <a:r>
              <a:rPr lang="en-US" b="1" dirty="0"/>
              <a:t>put 0s at the beginning.</a:t>
            </a:r>
            <a:endParaRPr lang="en-US" dirty="0"/>
          </a:p>
          <a:p>
            <a:pPr marL="0" indent="0" algn="ctr">
              <a:buNone/>
            </a:pPr>
            <a:r>
              <a:rPr lang="en-US" sz="2800" dirty="0">
                <a:latin typeface="Consolas" charset="0"/>
                <a:ea typeface="Consolas" charset="0"/>
                <a:cs typeface="Consolas" charset="0"/>
              </a:rPr>
              <a:t>1001</a:t>
            </a:r>
            <a:r>
              <a:rPr lang="en-US" sz="2800" baseline="-25000" dirty="0">
                <a:latin typeface="Consolas" charset="0"/>
                <a:ea typeface="Consolas" charset="0"/>
                <a:cs typeface="Consolas" charset="0"/>
              </a:rPr>
              <a:t>2</a:t>
            </a:r>
            <a:r>
              <a:rPr lang="en-US" sz="2800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2800" i="1" dirty="0">
                <a:latin typeface="Consolas" charset="0"/>
                <a:ea typeface="Consolas" charset="0"/>
                <a:cs typeface="Consolas" charset="0"/>
                <a:sym typeface="Wingdings"/>
              </a:rPr>
              <a:t> to 8 bits  </a:t>
            </a:r>
            <a:r>
              <a:rPr lang="en-US" sz="2800" dirty="0">
                <a:latin typeface="Consolas" charset="0"/>
                <a:ea typeface="Consolas" charset="0"/>
                <a:cs typeface="Consolas" charset="0"/>
                <a:sym typeface="Wingdings"/>
              </a:rPr>
              <a:t>0000 1001</a:t>
            </a:r>
            <a:r>
              <a:rPr lang="en-US" sz="2800" baseline="-25000" dirty="0">
                <a:latin typeface="Consolas" charset="0"/>
                <a:ea typeface="Consolas" charset="0"/>
                <a:cs typeface="Consolas" charset="0"/>
              </a:rPr>
              <a:t>2</a:t>
            </a:r>
          </a:p>
          <a:p>
            <a:pPr marL="0" indent="0" algn="ctr">
              <a:buNone/>
            </a:pPr>
            <a:endParaRPr lang="en-US" sz="2800" dirty="0">
              <a:latin typeface="Consolas" charset="0"/>
              <a:ea typeface="Consolas" charset="0"/>
              <a:cs typeface="Consolas" charset="0"/>
            </a:endParaRPr>
          </a:p>
          <a:p>
            <a:r>
              <a:rPr lang="en-US" dirty="0"/>
              <a:t>But there are also </a:t>
            </a:r>
            <a:r>
              <a:rPr lang="en-US" b="1" dirty="0"/>
              <a:t>signed numbers… what about those?</a:t>
            </a:r>
            <a:endParaRPr lang="en-US" dirty="0"/>
          </a:p>
          <a:p>
            <a:pPr lvl="1"/>
            <a:r>
              <a:rPr lang="en-US" dirty="0"/>
              <a:t>The </a:t>
            </a:r>
            <a:r>
              <a:rPr lang="en-US" b="1" dirty="0"/>
              <a:t>top bit (MSB) </a:t>
            </a:r>
            <a:r>
              <a:rPr lang="en-US" dirty="0"/>
              <a:t>of signed numbers determines </a:t>
            </a:r>
            <a:r>
              <a:rPr lang="en-US" b="1" dirty="0"/>
              <a:t>the sign (+/-)</a:t>
            </a:r>
            <a:endParaRPr lang="en-US" dirty="0"/>
          </a:p>
          <a:p>
            <a:r>
              <a:rPr lang="en-US" b="1" i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sign extension</a:t>
            </a:r>
            <a:r>
              <a:rPr lang="en-US" i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</a:t>
            </a:r>
            <a:r>
              <a:rPr lang="en-US" dirty="0"/>
              <a:t>puts </a:t>
            </a:r>
            <a:r>
              <a:rPr lang="en-US" b="1" i="1" dirty="0"/>
              <a:t>copies of the sign bit </a:t>
            </a:r>
            <a:r>
              <a:rPr lang="en-US" dirty="0"/>
              <a:t>at the beginning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1</a:t>
            </a:r>
            <a:r>
              <a:rPr lang="en-US" sz="2800" dirty="0">
                <a:latin typeface="Consolas" charset="0"/>
                <a:ea typeface="Consolas" charset="0"/>
                <a:cs typeface="Consolas" charset="0"/>
              </a:rPr>
              <a:t>001</a:t>
            </a:r>
            <a:r>
              <a:rPr lang="en-US" sz="2800" baseline="-25000" dirty="0">
                <a:latin typeface="Consolas" charset="0"/>
                <a:ea typeface="Consolas" charset="0"/>
                <a:cs typeface="Consolas" charset="0"/>
              </a:rPr>
              <a:t>2</a:t>
            </a:r>
            <a:r>
              <a:rPr lang="en-US" sz="2800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2800" i="1" dirty="0">
                <a:solidFill>
                  <a:schemeClr val="bg1">
                    <a:lumMod val="50000"/>
                  </a:schemeClr>
                </a:solidFill>
                <a:latin typeface="Consolas" charset="0"/>
                <a:ea typeface="Consolas" charset="0"/>
                <a:cs typeface="Consolas" charset="0"/>
                <a:sym typeface="Wingdings"/>
              </a:rPr>
              <a:t> to 8 bits  </a:t>
            </a:r>
            <a:r>
              <a:rPr lang="en-US" sz="2800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  <a:sym typeface="Wingdings"/>
              </a:rPr>
              <a:t>1111</a:t>
            </a:r>
            <a:r>
              <a:rPr lang="en-US" sz="2800" dirty="0">
                <a:latin typeface="Consolas" charset="0"/>
                <a:ea typeface="Consolas" charset="0"/>
                <a:cs typeface="Consolas" charset="0"/>
                <a:sym typeface="Wingdings"/>
              </a:rPr>
              <a:t> 1001</a:t>
            </a:r>
            <a:r>
              <a:rPr lang="en-US" sz="2800" baseline="-25000" dirty="0">
                <a:latin typeface="Consolas" charset="0"/>
                <a:ea typeface="Consolas" charset="0"/>
                <a:cs typeface="Consolas" charset="0"/>
              </a:rPr>
              <a:t>2</a:t>
            </a:r>
            <a:endParaRPr lang="en-US" sz="2800" dirty="0">
              <a:latin typeface="Consolas" charset="0"/>
              <a:ea typeface="Consolas" charset="0"/>
              <a:cs typeface="Consolas" charset="0"/>
              <a:sym typeface="Wingdings"/>
            </a:endParaRPr>
          </a:p>
          <a:p>
            <a:pPr marL="0" indent="0" algn="ctr">
              <a:buNone/>
            </a:pPr>
            <a:r>
              <a:rPr lang="en-US" sz="2800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0</a:t>
            </a:r>
            <a:r>
              <a:rPr lang="en-US" sz="2800" dirty="0">
                <a:latin typeface="Consolas" charset="0"/>
                <a:ea typeface="Consolas" charset="0"/>
                <a:cs typeface="Consolas" charset="0"/>
              </a:rPr>
              <a:t>010</a:t>
            </a:r>
            <a:r>
              <a:rPr lang="en-US" sz="2800" baseline="-25000" dirty="0">
                <a:latin typeface="Consolas" charset="0"/>
                <a:ea typeface="Consolas" charset="0"/>
                <a:cs typeface="Consolas" charset="0"/>
              </a:rPr>
              <a:t>2</a:t>
            </a:r>
            <a:r>
              <a:rPr lang="en-US" sz="2800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2800" i="1" dirty="0">
                <a:solidFill>
                  <a:schemeClr val="bg1">
                    <a:lumMod val="50000"/>
                  </a:schemeClr>
                </a:solidFill>
                <a:latin typeface="Consolas" charset="0"/>
                <a:ea typeface="Consolas" charset="0"/>
                <a:cs typeface="Consolas" charset="0"/>
                <a:sym typeface="Wingdings"/>
              </a:rPr>
              <a:t> to 8 bits  </a:t>
            </a:r>
            <a:r>
              <a:rPr lang="en-US" sz="2800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  <a:sym typeface="Wingdings"/>
              </a:rPr>
              <a:t>0000 </a:t>
            </a:r>
            <a:r>
              <a:rPr lang="en-US" sz="2800" dirty="0">
                <a:latin typeface="Consolas" charset="0"/>
                <a:ea typeface="Consolas" charset="0"/>
                <a:cs typeface="Consolas" charset="0"/>
                <a:sym typeface="Wingdings"/>
              </a:rPr>
              <a:t>0010</a:t>
            </a:r>
            <a:r>
              <a:rPr lang="en-US" sz="2800" baseline="-25000" dirty="0">
                <a:latin typeface="Consolas" charset="0"/>
                <a:ea typeface="Consolas" charset="0"/>
                <a:cs typeface="Consolas" charset="0"/>
              </a:rPr>
              <a:t>2</a:t>
            </a:r>
            <a:endParaRPr lang="en-US" sz="2800" dirty="0">
              <a:latin typeface="Consolas" charset="0"/>
              <a:ea typeface="Consolas" charset="0"/>
              <a:cs typeface="Consolas" charset="0"/>
              <a:sym typeface="Wingding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BB006-D72B-4C68-BED4-97ED5A46E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75500" y="5296959"/>
            <a:ext cx="2286000" cy="304271"/>
          </a:xfrm>
        </p:spPr>
        <p:txBody>
          <a:bodyPr/>
          <a:lstStyle/>
          <a:p>
            <a:fld id="{8228C0A2-10A0-40F7-BAE1-3BE620EEA294}" type="slidenum">
              <a:rPr lang="en-US" smtClean="0"/>
              <a:t>34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01620D-952C-40CD-A1CC-DC5636776E75}"/>
              </a:ext>
            </a:extLst>
          </p:cNvPr>
          <p:cNvSpPr txBox="1"/>
          <p:nvPr/>
        </p:nvSpPr>
        <p:spPr>
          <a:xfrm>
            <a:off x="2039977" y="5209197"/>
            <a:ext cx="7048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AB5DA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Q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What happens when you sign extend the largest unsigned value?</a:t>
            </a:r>
          </a:p>
        </p:txBody>
      </p:sp>
    </p:spTree>
    <p:extLst>
      <p:ext uri="{BB962C8B-B14F-4D97-AF65-F5344CB8AC3E}">
        <p14:creationId xmlns:p14="http://schemas.microsoft.com/office/powerpoint/2010/main" val="1944347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F59A4-F7E9-418C-898E-B9F94C9EE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Absolutely Bonkers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B5D43-29D8-4111-AD6F-92785CD75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26" y="967740"/>
            <a:ext cx="8845075" cy="430651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Inconsolata" panose="020B0609030003000000" pitchFamily="49" charset="0"/>
              </a:rPr>
              <a:t>public class </a:t>
            </a:r>
            <a:r>
              <a:rPr lang="en-US" dirty="0" err="1">
                <a:latin typeface="Inconsolata" panose="020B0609030003000000" pitchFamily="49" charset="0"/>
              </a:rPr>
              <a:t>AbsTest</a:t>
            </a:r>
            <a:r>
              <a:rPr lang="en-US" dirty="0">
                <a:latin typeface="Inconsolata" panose="020B0609030003000000" pitchFamily="49" charset="0"/>
              </a:rPr>
              <a:t> {</a:t>
            </a:r>
          </a:p>
          <a:p>
            <a:pPr marL="0" indent="0"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Inconsolata" panose="020B0609030003000000" pitchFamily="49" charset="0"/>
              </a:rPr>
              <a:t>public static int</a:t>
            </a:r>
            <a:r>
              <a:rPr lang="en-US" dirty="0">
                <a:latin typeface="Inconsolata" panose="020B0609030003000000" pitchFamily="49" charset="0"/>
              </a:rPr>
              <a:t> abs(</a:t>
            </a:r>
            <a:r>
              <a:rPr lang="en-US" dirty="0">
                <a:solidFill>
                  <a:srgbClr val="0070C0"/>
                </a:solidFill>
                <a:latin typeface="Inconsolata" panose="020B0609030003000000" pitchFamily="49" charset="0"/>
              </a:rPr>
              <a:t>int</a:t>
            </a:r>
            <a:r>
              <a:rPr lang="en-US" dirty="0">
                <a:latin typeface="Inconsolata" panose="020B0609030003000000" pitchFamily="49" charset="0"/>
              </a:rPr>
              <a:t> x) {</a:t>
            </a:r>
          </a:p>
          <a:p>
            <a:pPr marL="0" indent="0">
              <a:buNone/>
            </a:pPr>
            <a:r>
              <a:rPr lang="en-US" dirty="0">
                <a:latin typeface="Inconsolata" panose="020B0609030003000000" pitchFamily="49" charset="0"/>
              </a:rPr>
              <a:t>    </a:t>
            </a:r>
            <a:r>
              <a:rPr lang="en-US" dirty="0">
                <a:solidFill>
                  <a:srgbClr val="0070C0"/>
                </a:solidFill>
                <a:latin typeface="Inconsolata" panose="020B0609030003000000" pitchFamily="49" charset="0"/>
              </a:rPr>
              <a:t>if</a:t>
            </a:r>
            <a:r>
              <a:rPr lang="en-US" dirty="0">
                <a:latin typeface="Inconsolata" panose="020B0609030003000000" pitchFamily="49" charset="0"/>
              </a:rPr>
              <a:t> (x &lt; 0) {</a:t>
            </a:r>
          </a:p>
          <a:p>
            <a:pPr marL="0" indent="0">
              <a:buNone/>
            </a:pPr>
            <a:r>
              <a:rPr lang="en-US" dirty="0">
                <a:latin typeface="Inconsolata" panose="020B0609030003000000" pitchFamily="49" charset="0"/>
              </a:rPr>
              <a:t>      x = -x;</a:t>
            </a:r>
          </a:p>
          <a:p>
            <a:pPr marL="0" indent="0">
              <a:buNone/>
            </a:pPr>
            <a:r>
              <a:rPr lang="en-US" dirty="0">
                <a:latin typeface="Inconsolata" panose="020B0609030003000000" pitchFamily="49" charset="0"/>
              </a:rPr>
              <a:t>    }</a:t>
            </a:r>
          </a:p>
          <a:p>
            <a:pPr marL="0" indent="0">
              <a:buNone/>
            </a:pPr>
            <a:endParaRPr lang="en-US" dirty="0">
              <a:latin typeface="Inconsolata" panose="020B0609030003000000" pitchFamily="49" charset="0"/>
            </a:endParaRPr>
          </a:p>
          <a:p>
            <a:pPr marL="0" indent="0">
              <a:buNone/>
            </a:pPr>
            <a:r>
              <a:rPr lang="en-US" dirty="0">
                <a:latin typeface="Inconsolata" panose="020B0609030003000000" pitchFamily="49" charset="0"/>
              </a:rPr>
              <a:t>    </a:t>
            </a:r>
            <a:r>
              <a:rPr lang="en-US" dirty="0">
                <a:solidFill>
                  <a:srgbClr val="0070C0"/>
                </a:solidFill>
                <a:latin typeface="Inconsolata" panose="020B0609030003000000" pitchFamily="49" charset="0"/>
              </a:rPr>
              <a:t>return</a:t>
            </a:r>
            <a:r>
              <a:rPr lang="en-US" dirty="0">
                <a:latin typeface="Inconsolata" panose="020B0609030003000000" pitchFamily="49" charset="0"/>
              </a:rPr>
              <a:t> x;</a:t>
            </a:r>
          </a:p>
          <a:p>
            <a:pPr marL="0" indent="0">
              <a:buNone/>
            </a:pPr>
            <a:r>
              <a:rPr lang="en-US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buNone/>
            </a:pPr>
            <a:endParaRPr lang="en-US" dirty="0">
              <a:latin typeface="Inconsolata" panose="020B0609030003000000" pitchFamily="49" charset="0"/>
            </a:endParaRPr>
          </a:p>
          <a:p>
            <a:pPr marL="0" indent="0"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Inconsolata" panose="020B0609030003000000" pitchFamily="49" charset="0"/>
              </a:rPr>
              <a:t>public static void </a:t>
            </a:r>
            <a:r>
              <a:rPr lang="en-US" dirty="0">
                <a:latin typeface="Inconsolata" panose="020B0609030003000000" pitchFamily="49" charset="0"/>
              </a:rPr>
              <a:t>main(String[] </a:t>
            </a:r>
            <a:r>
              <a:rPr lang="en-US" dirty="0" err="1">
                <a:latin typeface="Inconsolata" panose="020B0609030003000000" pitchFamily="49" charset="0"/>
              </a:rPr>
              <a:t>args</a:t>
            </a:r>
            <a:r>
              <a:rPr lang="en-US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buNone/>
            </a:pPr>
            <a:r>
              <a:rPr lang="en-US" dirty="0">
                <a:latin typeface="Inconsolata" panose="020B0609030003000000" pitchFamily="49" charset="0"/>
              </a:rPr>
              <a:t>    </a:t>
            </a:r>
            <a:r>
              <a:rPr lang="en-US" dirty="0" err="1">
                <a:latin typeface="Inconsolata" panose="020B0609030003000000" pitchFamily="49" charset="0"/>
              </a:rPr>
              <a:t>System.out.println</a:t>
            </a:r>
            <a:r>
              <a:rPr lang="en-US" dirty="0">
                <a:latin typeface="Inconsolata" panose="020B0609030003000000" pitchFamily="49" charset="0"/>
              </a:rPr>
              <a:t>(</a:t>
            </a:r>
          </a:p>
          <a:p>
            <a:pPr marL="0" indent="0">
              <a:buNone/>
            </a:pPr>
            <a:r>
              <a:rPr lang="en-US" dirty="0">
                <a:latin typeface="Inconsolata" panose="020B0609030003000000" pitchFamily="49" charset="0"/>
              </a:rPr>
              <a:t>      </a:t>
            </a:r>
            <a:r>
              <a:rPr lang="en-US" dirty="0" err="1">
                <a:latin typeface="Inconsolata" panose="020B0609030003000000" pitchFamily="49" charset="0"/>
              </a:rPr>
              <a:t>String.format</a:t>
            </a:r>
            <a:r>
              <a:rPr lang="en-US" dirty="0">
                <a:latin typeface="Inconsolata" panose="020B0609030003000000" pitchFamily="49" charset="0"/>
              </a:rPr>
              <a:t>(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"|%d| = %d"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 err="1">
                <a:latin typeface="Inconsolata" panose="020B0609030003000000" pitchFamily="49" charset="0"/>
              </a:rPr>
              <a:t>Integer.MIN_VALUE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 err="1">
                <a:latin typeface="Inconsolata" panose="020B0609030003000000" pitchFamily="49" charset="0"/>
              </a:rPr>
              <a:t>AbsTest.abs</a:t>
            </a:r>
            <a:r>
              <a:rPr lang="en-US" dirty="0">
                <a:latin typeface="Inconsolata" panose="020B0609030003000000" pitchFamily="49" charset="0"/>
              </a:rPr>
              <a:t>(</a:t>
            </a:r>
            <a:r>
              <a:rPr lang="en-US" dirty="0" err="1">
                <a:latin typeface="Inconsolata" panose="020B0609030003000000" pitchFamily="49" charset="0"/>
              </a:rPr>
              <a:t>Integer.MIN_VALUE</a:t>
            </a:r>
            <a:r>
              <a:rPr lang="en-US" dirty="0">
                <a:latin typeface="Inconsolata" panose="020B0609030003000000" pitchFamily="49" charset="0"/>
              </a:rPr>
              <a:t>))</a:t>
            </a:r>
          </a:p>
          <a:p>
            <a:pPr marL="0" indent="0">
              <a:buNone/>
            </a:pPr>
            <a:r>
              <a:rPr lang="en-US" dirty="0">
                <a:latin typeface="Inconsolata" panose="020B0609030003000000" pitchFamily="49" charset="0"/>
              </a:rPr>
              <a:t>    );</a:t>
            </a:r>
          </a:p>
          <a:p>
            <a:pPr marL="0" indent="0">
              <a:buNone/>
            </a:pPr>
            <a:r>
              <a:rPr lang="en-US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buNone/>
            </a:pPr>
            <a:r>
              <a:rPr lang="en-US" dirty="0">
                <a:latin typeface="Inconsolata" panose="020B0609030003000000" pitchFamily="49" charset="0"/>
              </a:rPr>
              <a:t>}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Inconsolata" panose="020B0609030003000000" pitchFamily="49" charset="0"/>
              </a:rPr>
              <a:t>						// Outputs: |-2147483648| = -2147483648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0AB91D-1CF8-4CA4-AA63-D03224A74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75500" y="5296959"/>
            <a:ext cx="2286000" cy="304271"/>
          </a:xfrm>
        </p:spPr>
        <p:txBody>
          <a:bodyPr/>
          <a:lstStyle/>
          <a:p>
            <a:fld id="{B4AAD609-F83C-4414-814B-B5A2DF99692C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AC282D-C5DB-444B-8B2E-443C3DDCFA8C}"/>
              </a:ext>
            </a:extLst>
          </p:cNvPr>
          <p:cNvSpPr txBox="1"/>
          <p:nvPr/>
        </p:nvSpPr>
        <p:spPr>
          <a:xfrm>
            <a:off x="3269479" y="5209197"/>
            <a:ext cx="5819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AB5DA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Q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How many bits is a Java </a:t>
            </a:r>
            <a:r>
              <a:rPr lang="en-US" dirty="0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int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? What happened here?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C8C75AA-85A4-42FD-B06C-B64BE9F0AF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700578" y="786653"/>
            <a:ext cx="1490770" cy="2254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154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0AB07-4AA8-49CD-89AF-3D70FA4B9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Integer Ranges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A4089-6E59-4F85-BCA6-8673C388D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Recall:</a:t>
            </a:r>
          </a:p>
          <a:p>
            <a:pPr lvl="1"/>
            <a:r>
              <a:rPr lang="en-US" dirty="0"/>
              <a:t>The range of an unsigned integer is 0 to </a:t>
            </a:r>
            <a:r>
              <a:rPr lang="en" dirty="0">
                <a:ea typeface="Trebuchet MS"/>
                <a:cs typeface="Trebuchet MS"/>
                <a:sym typeface="Trebuchet MS"/>
              </a:rPr>
              <a:t>2</a:t>
            </a:r>
            <a:r>
              <a:rPr lang="en-US" baseline="30000" dirty="0">
                <a:ea typeface="Trebuchet MS"/>
                <a:cs typeface="Trebuchet MS"/>
                <a:sym typeface="Trebuchet MS"/>
              </a:rPr>
              <a:t>n</a:t>
            </a:r>
            <a:r>
              <a:rPr lang="en-US" dirty="0"/>
              <a:t> – 1</a:t>
            </a:r>
          </a:p>
          <a:p>
            <a:pPr lvl="1"/>
            <a:r>
              <a:rPr lang="en-US" dirty="0">
                <a:solidFill>
                  <a:srgbClr val="AB5DA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Q</a:t>
            </a:r>
            <a:r>
              <a:rPr lang="en-US" dirty="0"/>
              <a:t>: Why do we subtract 1?</a:t>
            </a:r>
          </a:p>
          <a:p>
            <a:pPr lvl="1"/>
            <a:endParaRPr lang="en-US" dirty="0"/>
          </a:p>
          <a:p>
            <a:r>
              <a:rPr lang="en-US" dirty="0"/>
              <a:t>What is the range of a 2’s complement number?</a:t>
            </a:r>
          </a:p>
          <a:p>
            <a:pPr lvl="1"/>
            <a:r>
              <a:rPr lang="en-US" dirty="0"/>
              <a:t>Consider the sign bit, how many negative integers?</a:t>
            </a:r>
          </a:p>
          <a:p>
            <a:pPr lvl="1"/>
            <a:r>
              <a:rPr lang="en-US" dirty="0"/>
              <a:t>Consider, now, the positive integers.</a:t>
            </a:r>
          </a:p>
          <a:p>
            <a:pPr lvl="1"/>
            <a:r>
              <a:rPr lang="en-US" dirty="0"/>
              <a:t>Remember 0.</a:t>
            </a:r>
          </a:p>
          <a:p>
            <a:pPr lvl="1"/>
            <a:endParaRPr lang="en-US" dirty="0"/>
          </a:p>
          <a:p>
            <a:pPr marL="0" indent="0" algn="ctr">
              <a:buNone/>
            </a:pPr>
            <a:r>
              <a:rPr lang="en-US" dirty="0"/>
              <a:t>-2</a:t>
            </a:r>
            <a:r>
              <a:rPr lang="en-US" baseline="30000" dirty="0">
                <a:ea typeface="Trebuchet MS"/>
                <a:cs typeface="Trebuchet MS"/>
                <a:sym typeface="Trebuchet MS"/>
              </a:rPr>
              <a:t>n-1</a:t>
            </a:r>
            <a:r>
              <a:rPr lang="en-US" dirty="0"/>
              <a:t> to </a:t>
            </a:r>
            <a:r>
              <a:rPr lang="en" dirty="0">
                <a:ea typeface="Trebuchet MS"/>
                <a:cs typeface="Trebuchet MS"/>
                <a:sym typeface="Trebuchet MS"/>
              </a:rPr>
              <a:t>2</a:t>
            </a:r>
            <a:r>
              <a:rPr lang="en-US" baseline="30000" dirty="0">
                <a:ea typeface="Trebuchet MS"/>
                <a:cs typeface="Trebuchet MS"/>
                <a:sym typeface="Trebuchet MS"/>
              </a:rPr>
              <a:t>n-1</a:t>
            </a:r>
            <a:r>
              <a:rPr lang="en-US" dirty="0"/>
              <a:t> – 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C0E1FB-747C-4794-8476-15F2E8BD719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365500" y="5296959"/>
            <a:ext cx="3429000" cy="304271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CS/COE 0449 – Spring 2019/2020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14D43A-6208-42C0-9783-D85846377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75500" y="5296959"/>
            <a:ext cx="2286000" cy="304271"/>
          </a:xfrm>
        </p:spPr>
        <p:txBody>
          <a:bodyPr/>
          <a:lstStyle/>
          <a:p>
            <a:fld id="{B4AAD609-F83C-4414-814B-B5A2DF99692C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88B899-607A-45B7-B5A4-10BE7642C4BB}"/>
              </a:ext>
            </a:extLst>
          </p:cNvPr>
          <p:cNvSpPr txBox="1"/>
          <p:nvPr/>
        </p:nvSpPr>
        <p:spPr>
          <a:xfrm>
            <a:off x="1756245" y="5209197"/>
            <a:ext cx="7332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AB5DA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Q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What if you needed a range with far more negatives than positives?</a:t>
            </a:r>
          </a:p>
        </p:txBody>
      </p:sp>
    </p:spTree>
    <p:extLst>
      <p:ext uri="{BB962C8B-B14F-4D97-AF65-F5344CB8AC3E}">
        <p14:creationId xmlns:p14="http://schemas.microsoft.com/office/powerpoint/2010/main" val="3870584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4A164-B9EC-4788-AC73-CDA22E5F2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Integers in  Java 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54F94-EC10-4BF8-A5A3-AD396CFAA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499" y="846668"/>
            <a:ext cx="8906933" cy="430080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 allows for variables to be declared as either signed or unsigned.</a:t>
            </a:r>
          </a:p>
          <a:p>
            <a:pPr lvl="1"/>
            <a:r>
              <a:rPr lang="en-US" dirty="0"/>
              <a:t>Remember: “signed” does not mean “negative” just that it </a:t>
            </a:r>
            <a:r>
              <a:rPr lang="en-US" i="1" dirty="0"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can</a:t>
            </a:r>
            <a:r>
              <a:rPr lang="en-US" dirty="0"/>
              <a:t> be negative.</a:t>
            </a:r>
          </a:p>
          <a:p>
            <a:pPr lvl="1"/>
            <a:endParaRPr lang="en-US" dirty="0"/>
          </a:p>
          <a:p>
            <a:r>
              <a:rPr lang="en-US" dirty="0"/>
              <a:t>An unsigned integer variable has a range from 0 to </a:t>
            </a:r>
            <a:r>
              <a:rPr lang="en" dirty="0">
                <a:ea typeface="Trebuchet MS"/>
                <a:cs typeface="Trebuchet MS"/>
                <a:sym typeface="Trebuchet MS"/>
              </a:rPr>
              <a:t>2</a:t>
            </a:r>
            <a:r>
              <a:rPr lang="en-US" baseline="30000" dirty="0">
                <a:ea typeface="Trebuchet MS"/>
                <a:cs typeface="Trebuchet MS"/>
                <a:sym typeface="Trebuchet MS"/>
              </a:rPr>
              <a:t>n</a:t>
            </a:r>
            <a:r>
              <a:rPr lang="en-US" dirty="0"/>
              <a:t> – 1</a:t>
            </a:r>
          </a:p>
          <a:p>
            <a:r>
              <a:rPr lang="en-US" dirty="0"/>
              <a:t>And signed integers are usually 2’s complement: </a:t>
            </a:r>
            <a:r>
              <a:rPr lang="en" dirty="0">
                <a:ea typeface="Trebuchet MS"/>
                <a:cs typeface="Trebuchet MS"/>
                <a:sym typeface="Trebuchet MS"/>
              </a:rPr>
              <a:t>2</a:t>
            </a:r>
            <a:r>
              <a:rPr lang="en-US" baseline="30000" dirty="0">
                <a:ea typeface="Trebuchet MS"/>
                <a:cs typeface="Trebuchet MS"/>
                <a:sym typeface="Trebuchet MS"/>
              </a:rPr>
              <a:t>n-1</a:t>
            </a:r>
            <a:r>
              <a:rPr lang="en-US" dirty="0"/>
              <a:t> to </a:t>
            </a:r>
            <a:r>
              <a:rPr lang="en" dirty="0">
                <a:ea typeface="Trebuchet MS"/>
                <a:cs typeface="Trebuchet MS"/>
                <a:sym typeface="Trebuchet MS"/>
              </a:rPr>
              <a:t>2</a:t>
            </a:r>
            <a:r>
              <a:rPr lang="en-US" baseline="30000" dirty="0">
                <a:ea typeface="Trebuchet MS"/>
                <a:cs typeface="Trebuchet MS"/>
                <a:sym typeface="Trebuchet MS"/>
              </a:rPr>
              <a:t>n-1</a:t>
            </a:r>
            <a:r>
              <a:rPr lang="en-US" dirty="0"/>
              <a:t> – 1</a:t>
            </a:r>
          </a:p>
          <a:p>
            <a:pPr lvl="1"/>
            <a:r>
              <a:rPr lang="en-US" dirty="0"/>
              <a:t>Where “n” is determined by the variable’s size in bits.</a:t>
            </a:r>
          </a:p>
          <a:p>
            <a:pPr lvl="1"/>
            <a:endParaRPr lang="en-US" dirty="0"/>
          </a:p>
          <a:p>
            <a:r>
              <a:rPr lang="en-US" dirty="0"/>
              <a:t>Integer Types: (signed by default, their sizes are arbitrary!!)</a:t>
            </a:r>
          </a:p>
          <a:p>
            <a:pPr lvl="1"/>
            <a:r>
              <a:rPr lang="en-US" dirty="0">
                <a:latin typeface="Inconsolata" panose="020B0609030003000000" pitchFamily="49" charset="0"/>
              </a:rPr>
              <a:t>char			unsigned char		 8 bits (byte)</a:t>
            </a:r>
          </a:p>
          <a:p>
            <a:pPr lvl="1"/>
            <a:r>
              <a:rPr lang="en-US" dirty="0">
                <a:latin typeface="Inconsolata" panose="020B0609030003000000" pitchFamily="49" charset="0"/>
              </a:rPr>
              <a:t>short int		unsigned short int		16 bits (half-word)</a:t>
            </a:r>
          </a:p>
          <a:p>
            <a:pPr lvl="1"/>
            <a:r>
              <a:rPr lang="en-US" dirty="0">
                <a:latin typeface="Inconsolata" panose="020B0609030003000000" pitchFamily="49" charset="0"/>
              </a:rPr>
              <a:t>int			unsigned int			32 bits (word)</a:t>
            </a:r>
          </a:p>
          <a:p>
            <a:pPr lvl="1"/>
            <a:r>
              <a:rPr lang="en-US" dirty="0">
                <a:latin typeface="Inconsolata" panose="020B0609030003000000" pitchFamily="49" charset="0"/>
              </a:rPr>
              <a:t>long int		unsigned long int		64 bits (double-word)</a:t>
            </a:r>
            <a:br>
              <a:rPr lang="en-US" dirty="0">
                <a:latin typeface="Inconsolata" panose="020B0609030003000000" pitchFamily="49" charset="0"/>
              </a:rPr>
            </a:br>
            <a:endParaRPr lang="en-US" dirty="0">
              <a:latin typeface="Inconsolata" panose="020B0609030003000000" pitchFamily="49" charset="0"/>
            </a:endParaRPr>
          </a:p>
          <a:p>
            <a:r>
              <a:rPr lang="en-US" dirty="0"/>
              <a:t>Usually no strong reason to use anything other than (un)signed int.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05E3F2-BFC7-4876-BF19-CC793D038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75500" y="5296959"/>
            <a:ext cx="2286000" cy="304271"/>
          </a:xfrm>
        </p:spPr>
        <p:txBody>
          <a:bodyPr/>
          <a:lstStyle/>
          <a:p>
            <a:fld id="{B4AAD609-F83C-4414-814B-B5A2DF99692C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8318A4-2314-4E5A-ABFF-CF4B05BD9B26}"/>
              </a:ext>
            </a:extLst>
          </p:cNvPr>
          <p:cNvSpPr txBox="1"/>
          <p:nvPr/>
        </p:nvSpPr>
        <p:spPr>
          <a:xfrm>
            <a:off x="4920573" y="5209197"/>
            <a:ext cx="4168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AB5DA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Q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What is the range of a </a:t>
            </a:r>
            <a:r>
              <a:rPr lang="en-US" dirty="0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signed char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03849DB-8A43-4E21-8535-A9DF5F3A5AFB}"/>
              </a:ext>
            </a:extLst>
          </p:cNvPr>
          <p:cNvCxnSpPr>
            <a:cxnSpLocks/>
          </p:cNvCxnSpPr>
          <p:nvPr/>
        </p:nvCxnSpPr>
        <p:spPr>
          <a:xfrm flipV="1">
            <a:off x="2672140" y="56320"/>
            <a:ext cx="925770" cy="48183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4091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A6D95-1259-4DF6-ADC4-3189B2429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Integers in C: Limits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B1501-BD74-40CB-8CF7-625799A7F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500" y="965200"/>
            <a:ext cx="8763000" cy="418226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Since sizes of integers are technically arbitrary…</a:t>
            </a:r>
          </a:p>
          <a:p>
            <a:pPr lvl="1"/>
            <a:r>
              <a:rPr lang="en-US" dirty="0"/>
              <a:t>They are usually based on the underlying architecture.</a:t>
            </a:r>
          </a:p>
          <a:p>
            <a:pPr lvl="1"/>
            <a:endParaRPr lang="en-US" dirty="0"/>
          </a:p>
          <a:p>
            <a:r>
              <a:rPr lang="en-US" dirty="0"/>
              <a:t>… C provides standard library constants defining the ranges.</a:t>
            </a:r>
          </a:p>
          <a:p>
            <a:pPr lvl="1"/>
            <a:r>
              <a:rPr lang="en-US" dirty="0">
                <a:hlinkClick r:id="rId2"/>
              </a:rPr>
              <a:t>https://pubs.opengroup.org/onlinepubs/009695399/basedefs/limits.h.html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dirty="0">
                <a:latin typeface="Inconsolata" panose="020B0609030003000000" pitchFamily="49" charset="0"/>
              </a:rPr>
              <a:t>&lt;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limits.h</a:t>
            </a:r>
            <a:r>
              <a:rPr lang="en-US" dirty="0">
                <a:latin typeface="Inconsolata" panose="020B0609030003000000" pitchFamily="49" charset="0"/>
              </a:rPr>
              <a:t>&gt;		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Provides INT_MAX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etc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dirty="0">
                <a:latin typeface="Inconsolata" panose="020B0609030003000000" pitchFamily="49" charset="0"/>
              </a:rPr>
              <a:t>&lt;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dirty="0">
                <a:latin typeface="Inconsolata" panose="020B0609030003000000" pitchFamily="49" charset="0"/>
              </a:rPr>
              <a:t>&gt;		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Provides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printf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buNone/>
            </a:pPr>
            <a:endParaRPr lang="en-US" dirty="0">
              <a:latin typeface="Inconsolata" panose="020B0609030003000000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Inconsolata" panose="020B0609030003000000" pitchFamily="49" charset="0"/>
              </a:rPr>
              <a:t>int</a:t>
            </a:r>
            <a:r>
              <a:rPr lang="en-US" dirty="0">
                <a:latin typeface="Inconsolata" panose="020B0609030003000000" pitchFamily="49" charset="0"/>
              </a:rPr>
              <a:t> main() {</a:t>
            </a:r>
          </a:p>
          <a:p>
            <a:pPr marL="0" indent="0"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 err="1">
                <a:latin typeface="Inconsolata" panose="020B0609030003000000" pitchFamily="49" charset="0"/>
              </a:rPr>
              <a:t>printf</a:t>
            </a:r>
            <a:r>
              <a:rPr lang="en-US" dirty="0">
                <a:latin typeface="Inconsolata" panose="020B0609030003000000" pitchFamily="49" charset="0"/>
              </a:rPr>
              <a:t>(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"%d "</a:t>
            </a:r>
            <a:r>
              <a:rPr lang="en-US" dirty="0">
                <a:latin typeface="Inconsolata" panose="020B0609030003000000" pitchFamily="49" charset="0"/>
              </a:rPr>
              <a:t>,  INT_MAX);	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Print the maximum signed int</a:t>
            </a:r>
          </a:p>
          <a:p>
            <a:pPr marL="0" indent="0"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 err="1">
                <a:latin typeface="Inconsolata" panose="020B0609030003000000" pitchFamily="49" charset="0"/>
              </a:rPr>
              <a:t>printf</a:t>
            </a:r>
            <a:r>
              <a:rPr lang="en-US" dirty="0">
                <a:latin typeface="Inconsolata" panose="020B0609030003000000" pitchFamily="49" charset="0"/>
              </a:rPr>
              <a:t>(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"%u\n"</a:t>
            </a:r>
            <a:r>
              <a:rPr lang="en-US" dirty="0">
                <a:latin typeface="Inconsolata" panose="020B0609030003000000" pitchFamily="49" charset="0"/>
              </a:rPr>
              <a:t>, UINT_MAX);	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Print the maximum unsigned int</a:t>
            </a:r>
          </a:p>
          <a:p>
            <a:pPr marL="0" indent="0"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chemeClr val="accent1"/>
                </a:solidFill>
                <a:latin typeface="Inconsolata" panose="020B0609030003000000" pitchFamily="49" charset="0"/>
              </a:rPr>
              <a:t>return</a:t>
            </a:r>
            <a:r>
              <a:rPr lang="en-US" dirty="0">
                <a:latin typeface="Inconsolata" panose="020B0609030003000000" pitchFamily="49" charset="0"/>
              </a:rPr>
              <a:t> 0;</a:t>
            </a:r>
          </a:p>
          <a:p>
            <a:pPr marL="0" indent="0">
              <a:buNone/>
            </a:pPr>
            <a:r>
              <a:rPr lang="en-US" dirty="0">
                <a:latin typeface="Inconsolata" panose="020B0609030003000000" pitchFamily="49" charset="0"/>
              </a:rPr>
              <a:t>}		 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Output: 2147483647 4294967295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14955B-AD29-4FE5-B8E0-A297F52C390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365500" y="5296959"/>
            <a:ext cx="3429000" cy="304271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CS/COE 0449 – Spring 2019/2020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920D89-294A-43F6-A6EB-6C019DF62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75500" y="5296959"/>
            <a:ext cx="2286000" cy="304271"/>
          </a:xfrm>
        </p:spPr>
        <p:txBody>
          <a:bodyPr/>
          <a:lstStyle/>
          <a:p>
            <a:fld id="{B4AAD609-F83C-4414-814B-B5A2DF99692C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73F6B5-50DF-4958-894E-D9F33B2A0255}"/>
              </a:ext>
            </a:extLst>
          </p:cNvPr>
          <p:cNvSpPr txBox="1"/>
          <p:nvPr/>
        </p:nvSpPr>
        <p:spPr>
          <a:xfrm>
            <a:off x="2887965" y="5209197"/>
            <a:ext cx="6200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AB5DA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Q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Experiment with using </a:t>
            </a:r>
            <a:r>
              <a:rPr lang="en-US" dirty="0">
                <a:latin typeface="Inconsolata" panose="020B0609030003000000" pitchFamily="49" charset="0"/>
              </a:rPr>
              <a:t>"</a:t>
            </a:r>
            <a:r>
              <a:rPr lang="en-US" dirty="0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%d</a:t>
            </a:r>
            <a:r>
              <a:rPr lang="en-US" dirty="0">
                <a:latin typeface="Inconsolata" panose="020B0609030003000000" pitchFamily="49" charset="0"/>
              </a:rPr>
              <a:t>"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for both. What is the result?</a:t>
            </a:r>
          </a:p>
        </p:txBody>
      </p:sp>
    </p:spTree>
    <p:extLst>
      <p:ext uri="{BB962C8B-B14F-4D97-AF65-F5344CB8AC3E}">
        <p14:creationId xmlns:p14="http://schemas.microsoft.com/office/powerpoint/2010/main" val="3410095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4379E-1173-4C4F-834B-D3AEBA4DE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D52CF-DD58-4B07-A898-5A34AD962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500" y="914400"/>
            <a:ext cx="8763000" cy="423306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 lets you move a value from an unsigned integer variable to a signed integer variable. (and vice versa)</a:t>
            </a:r>
          </a:p>
          <a:p>
            <a:endParaRPr lang="en-US" dirty="0"/>
          </a:p>
          <a:p>
            <a:r>
              <a:rPr lang="en-US" dirty="0"/>
              <a:t>However, this is not always valid! Yet, it will do it anyway.</a:t>
            </a:r>
          </a:p>
          <a:p>
            <a:pPr lvl="1"/>
            <a:r>
              <a:rPr lang="en-US" dirty="0"/>
              <a:t>The binary value is the same, </a:t>
            </a:r>
            <a:r>
              <a:rPr lang="en-US" i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its interpretation is not</a:t>
            </a:r>
            <a:r>
              <a:rPr lang="en-US" dirty="0"/>
              <a:t>!</a:t>
            </a:r>
          </a:p>
          <a:p>
            <a:pPr lvl="2"/>
            <a:r>
              <a:rPr lang="en-US" dirty="0"/>
              <a:t>This is called </a:t>
            </a:r>
            <a:r>
              <a:rPr lang="en-US" i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coercion</a:t>
            </a:r>
            <a:r>
              <a:rPr lang="en-US" dirty="0"/>
              <a:t>, and this is a relatively simple case of it.</a:t>
            </a:r>
          </a:p>
          <a:p>
            <a:pPr lvl="1"/>
            <a:r>
              <a:rPr lang="en-US" dirty="0"/>
              <a:t>Since it ignores obvious invalid operations this is sometimes referred to as “weak” typing.</a:t>
            </a:r>
          </a:p>
          <a:p>
            <a:pPr lvl="1"/>
            <a:r>
              <a:rPr lang="en-US" dirty="0"/>
              <a:t>The strong/weak terminology has had very fragile definitions over the years and are arguably useless in our context. Let’s ignore them.</a:t>
            </a:r>
          </a:p>
          <a:p>
            <a:pPr lvl="1"/>
            <a:endParaRPr lang="en-US" dirty="0"/>
          </a:p>
          <a:p>
            <a:r>
              <a:rPr lang="en-US" dirty="0"/>
              <a:t>Moving values between different types is called </a:t>
            </a:r>
            <a:r>
              <a:rPr lang="en-US" i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casting</a:t>
            </a:r>
            <a:endParaRPr lang="en-US" dirty="0"/>
          </a:p>
          <a:p>
            <a:pPr lvl="1"/>
            <a:r>
              <a:rPr lang="en-US" dirty="0"/>
              <a:t>Which sounds magical and it sometimes is.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619138-6599-4D0B-AF40-C93104427AE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365500" y="5296959"/>
            <a:ext cx="3429000" cy="304271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CS/COE 0449 – Spring 2019/2020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12F13-3248-4D13-96A0-C870FA955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75500" y="5296959"/>
            <a:ext cx="2286000" cy="304271"/>
          </a:xfrm>
        </p:spPr>
        <p:txBody>
          <a:bodyPr/>
          <a:lstStyle/>
          <a:p>
            <a:fld id="{B4AAD609-F83C-4414-814B-B5A2DF99692C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ECB080-9600-4399-B9A0-1158880C7179}"/>
              </a:ext>
            </a:extLst>
          </p:cNvPr>
          <p:cNvSpPr txBox="1"/>
          <p:nvPr/>
        </p:nvSpPr>
        <p:spPr>
          <a:xfrm>
            <a:off x="1631211" y="5209197"/>
            <a:ext cx="7457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AB5DA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Q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What is true of the result of casting the value -1 to an unsigned type?</a:t>
            </a:r>
          </a:p>
        </p:txBody>
      </p:sp>
    </p:spTree>
    <p:extLst>
      <p:ext uri="{BB962C8B-B14F-4D97-AF65-F5344CB8AC3E}">
        <p14:creationId xmlns:p14="http://schemas.microsoft.com/office/powerpoint/2010/main" val="2172948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98E5E56-FEE0-334F-86DB-FB7000887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Fractional Binary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E0CDF74-61BC-4D5B-AFEE-A4BF14967D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F1F2A-9761-2845-831B-5021C529C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9564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8D4DD9-3E24-6843-9192-3770DE0CD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Fractional numbers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3025D0-2EF6-424F-B643-E139F6493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736601"/>
            <a:ext cx="9118600" cy="441087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Up to this point we have been working with integer numbers.</a:t>
            </a:r>
          </a:p>
          <a:p>
            <a:pPr lvl="1"/>
            <a:r>
              <a:rPr lang="en-US" dirty="0"/>
              <a:t>Unsigned and signed!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However, Real world numbers are… Real numbers. Like so: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That create new challenges!</a:t>
            </a:r>
          </a:p>
          <a:p>
            <a:pPr lvl="1"/>
            <a:r>
              <a:rPr lang="en-US" dirty="0"/>
              <a:t>Let’s start by taking a look at them.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75FE80-02DC-2347-A8E3-698175B34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32F9D6-CFBA-1D48-AB2B-D72A9CEDA83B}"/>
              </a:ext>
            </a:extLst>
          </p:cNvPr>
          <p:cNvSpPr/>
          <p:nvPr/>
        </p:nvSpPr>
        <p:spPr>
          <a:xfrm>
            <a:off x="2855887" y="1028700"/>
            <a:ext cx="3849132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" sz="9600" dirty="0">
                <a:solidFill>
                  <a:prstClr val="black"/>
                </a:solidFill>
                <a:latin typeface="Segoe UI" charset="0"/>
                <a:ea typeface="Segoe UI" charset="0"/>
                <a:cs typeface="Segoe UI" charset="0"/>
                <a:sym typeface="Trebuchet MS"/>
              </a:rPr>
              <a:t>2 0 1 9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077860-EA27-514E-AF48-DC36BB7EC838}"/>
              </a:ext>
            </a:extLst>
          </p:cNvPr>
          <p:cNvSpPr/>
          <p:nvPr/>
        </p:nvSpPr>
        <p:spPr>
          <a:xfrm>
            <a:off x="1726573" y="2705100"/>
            <a:ext cx="6107762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" sz="9600" dirty="0">
                <a:solidFill>
                  <a:prstClr val="black"/>
                </a:solidFill>
                <a:latin typeface="Segoe UI" charset="0"/>
                <a:ea typeface="Segoe UI" charset="0"/>
                <a:cs typeface="Segoe UI" charset="0"/>
                <a:sym typeface="Trebuchet MS"/>
              </a:rPr>
              <a:t>2 0 1 9.320</a:t>
            </a:r>
          </a:p>
        </p:txBody>
      </p:sp>
    </p:spTree>
    <p:extLst>
      <p:ext uri="{BB962C8B-B14F-4D97-AF65-F5344CB8AC3E}">
        <p14:creationId xmlns:p14="http://schemas.microsoft.com/office/powerpoint/2010/main" val="2004019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079A58-3178-D241-8809-B66B983E9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Just a fraction of a number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8ACEE1-DBA4-414D-8B68-6F468FC6A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690426"/>
            <a:ext cx="9118600" cy="4457044"/>
          </a:xfrm>
        </p:spPr>
        <p:txBody>
          <a:bodyPr/>
          <a:lstStyle/>
          <a:p>
            <a:r>
              <a:rPr lang="en" dirty="0"/>
              <a:t>The numbers we use are written </a:t>
            </a:r>
            <a:r>
              <a:rPr lang="en" b="1" dirty="0"/>
              <a:t>positionally</a:t>
            </a:r>
            <a:r>
              <a:rPr lang="en" dirty="0"/>
              <a:t>: the position of a digit within the number has a meaning</a:t>
            </a:r>
            <a:r>
              <a:rPr lang="en-US" dirty="0"/>
              <a:t>.</a:t>
            </a:r>
            <a:endParaRPr lang="en" dirty="0"/>
          </a:p>
          <a:p>
            <a:r>
              <a:rPr lang="en-US" dirty="0"/>
              <a:t>What about when the numbers go over the </a:t>
            </a:r>
            <a:r>
              <a:rPr lang="en-US" b="1" dirty="0"/>
              <a:t>decimal point</a:t>
            </a:r>
            <a:r>
              <a:rPr lang="en-US" dirty="0"/>
              <a:t>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BC58B6-A789-F34C-A73D-E76D0A805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6" name="Shape 85">
            <a:extLst>
              <a:ext uri="{FF2B5EF4-FFF2-40B4-BE49-F238E27FC236}">
                <a16:creationId xmlns:a16="http://schemas.microsoft.com/office/drawing/2014/main" id="{A8868074-3F15-9E41-8608-2D2DE7D4592D}"/>
              </a:ext>
            </a:extLst>
          </p:cNvPr>
          <p:cNvSpPr txBox="1"/>
          <p:nvPr/>
        </p:nvSpPr>
        <p:spPr>
          <a:xfrm>
            <a:off x="1193800" y="1668975"/>
            <a:ext cx="3886200" cy="1488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sz="9600" dirty="0">
                <a:latin typeface="Segoe UI" charset="0"/>
                <a:ea typeface="Segoe UI" charset="0"/>
                <a:cs typeface="Segoe UI" charset="0"/>
                <a:sym typeface="Trebuchet MS"/>
              </a:rPr>
              <a:t>2 0 1 9</a:t>
            </a:r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2F76E613-22F1-994E-AAFA-3FA0D4BDDA33}"/>
              </a:ext>
            </a:extLst>
          </p:cNvPr>
          <p:cNvSpPr txBox="1"/>
          <p:nvPr/>
        </p:nvSpPr>
        <p:spPr>
          <a:xfrm>
            <a:off x="4257200" y="3086100"/>
            <a:ext cx="693900" cy="517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sz="2200" dirty="0">
                <a:latin typeface="Segoe UI" charset="0"/>
                <a:ea typeface="Segoe UI" charset="0"/>
                <a:cs typeface="Segoe UI" charset="0"/>
                <a:sym typeface="Trebuchet MS"/>
              </a:rPr>
              <a:t>1s</a:t>
            </a:r>
          </a:p>
        </p:txBody>
      </p:sp>
      <p:sp>
        <p:nvSpPr>
          <p:cNvPr id="9" name="Shape 88">
            <a:extLst>
              <a:ext uri="{FF2B5EF4-FFF2-40B4-BE49-F238E27FC236}">
                <a16:creationId xmlns:a16="http://schemas.microsoft.com/office/drawing/2014/main" id="{0CD5FF1A-D0D7-764A-BD56-999854C7481E}"/>
              </a:ext>
            </a:extLst>
          </p:cNvPr>
          <p:cNvSpPr txBox="1"/>
          <p:nvPr/>
        </p:nvSpPr>
        <p:spPr>
          <a:xfrm>
            <a:off x="3336070" y="3086100"/>
            <a:ext cx="693900" cy="517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sz="2200">
                <a:latin typeface="Segoe UI" charset="0"/>
                <a:ea typeface="Segoe UI" charset="0"/>
                <a:cs typeface="Segoe UI" charset="0"/>
                <a:sym typeface="Trebuchet MS"/>
              </a:rPr>
              <a:t>10s</a:t>
            </a:r>
          </a:p>
        </p:txBody>
      </p:sp>
      <p:sp>
        <p:nvSpPr>
          <p:cNvPr id="10" name="Shape 89">
            <a:extLst>
              <a:ext uri="{FF2B5EF4-FFF2-40B4-BE49-F238E27FC236}">
                <a16:creationId xmlns:a16="http://schemas.microsoft.com/office/drawing/2014/main" id="{D66E16AA-5805-4441-B70C-B04BAB93E073}"/>
              </a:ext>
            </a:extLst>
          </p:cNvPr>
          <p:cNvSpPr txBox="1"/>
          <p:nvPr/>
        </p:nvSpPr>
        <p:spPr>
          <a:xfrm>
            <a:off x="2244452" y="3086100"/>
            <a:ext cx="771900" cy="517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sz="2200">
                <a:latin typeface="Segoe UI" charset="0"/>
                <a:ea typeface="Segoe UI" charset="0"/>
                <a:cs typeface="Segoe UI" charset="0"/>
                <a:sym typeface="Trebuchet MS"/>
              </a:rPr>
              <a:t>100s</a:t>
            </a:r>
          </a:p>
        </p:txBody>
      </p:sp>
      <p:sp>
        <p:nvSpPr>
          <p:cNvPr id="11" name="Shape 90">
            <a:extLst>
              <a:ext uri="{FF2B5EF4-FFF2-40B4-BE49-F238E27FC236}">
                <a16:creationId xmlns:a16="http://schemas.microsoft.com/office/drawing/2014/main" id="{0E8292A1-1FA7-B241-A931-53A7CD009E60}"/>
              </a:ext>
            </a:extLst>
          </p:cNvPr>
          <p:cNvSpPr txBox="1"/>
          <p:nvPr/>
        </p:nvSpPr>
        <p:spPr>
          <a:xfrm>
            <a:off x="1188994" y="3086100"/>
            <a:ext cx="912600" cy="517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sz="2200" dirty="0">
                <a:latin typeface="Segoe UI" charset="0"/>
                <a:ea typeface="Segoe UI" charset="0"/>
                <a:cs typeface="Segoe UI" charset="0"/>
                <a:sym typeface="Trebuchet MS"/>
              </a:rPr>
              <a:t>1000s</a:t>
            </a:r>
          </a:p>
        </p:txBody>
      </p:sp>
      <p:sp>
        <p:nvSpPr>
          <p:cNvPr id="13" name="Shape 92">
            <a:extLst>
              <a:ext uri="{FF2B5EF4-FFF2-40B4-BE49-F238E27FC236}">
                <a16:creationId xmlns:a16="http://schemas.microsoft.com/office/drawing/2014/main" id="{A46C0953-8212-9F4C-AF99-2BC411AC0935}"/>
              </a:ext>
            </a:extLst>
          </p:cNvPr>
          <p:cNvSpPr txBox="1"/>
          <p:nvPr/>
        </p:nvSpPr>
        <p:spPr>
          <a:xfrm>
            <a:off x="4206363" y="3526200"/>
            <a:ext cx="693900" cy="41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sz="2200" dirty="0">
                <a:latin typeface="Segoe UI" charset="0"/>
                <a:ea typeface="Segoe UI" charset="0"/>
                <a:cs typeface="Segoe UI" charset="0"/>
                <a:sym typeface="Trebuchet MS"/>
              </a:rPr>
              <a:t>10</a:t>
            </a:r>
            <a:r>
              <a:rPr lang="en" sz="2200" baseline="30000" dirty="0">
                <a:latin typeface="Segoe UI" charset="0"/>
                <a:ea typeface="Segoe UI" charset="0"/>
                <a:cs typeface="Segoe UI" charset="0"/>
                <a:sym typeface="Trebuchet MS"/>
              </a:rPr>
              <a:t>0</a:t>
            </a:r>
          </a:p>
        </p:txBody>
      </p:sp>
      <p:sp>
        <p:nvSpPr>
          <p:cNvPr id="14" name="Shape 93">
            <a:extLst>
              <a:ext uri="{FF2B5EF4-FFF2-40B4-BE49-F238E27FC236}">
                <a16:creationId xmlns:a16="http://schemas.microsoft.com/office/drawing/2014/main" id="{EABD4A15-9721-7049-B4F4-6A6709D24386}"/>
              </a:ext>
            </a:extLst>
          </p:cNvPr>
          <p:cNvSpPr txBox="1"/>
          <p:nvPr/>
        </p:nvSpPr>
        <p:spPr>
          <a:xfrm>
            <a:off x="3285233" y="3526200"/>
            <a:ext cx="693900" cy="41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sz="2200">
                <a:latin typeface="Segoe UI" charset="0"/>
                <a:ea typeface="Segoe UI" charset="0"/>
                <a:cs typeface="Segoe UI" charset="0"/>
                <a:sym typeface="Trebuchet MS"/>
              </a:rPr>
              <a:t>10</a:t>
            </a:r>
            <a:r>
              <a:rPr lang="en" sz="2200" baseline="30000">
                <a:latin typeface="Segoe UI" charset="0"/>
                <a:ea typeface="Segoe UI" charset="0"/>
                <a:cs typeface="Segoe UI" charset="0"/>
                <a:sym typeface="Trebuchet MS"/>
              </a:rPr>
              <a:t>1</a:t>
            </a:r>
          </a:p>
        </p:txBody>
      </p:sp>
      <p:sp>
        <p:nvSpPr>
          <p:cNvPr id="15" name="Shape 94">
            <a:extLst>
              <a:ext uri="{FF2B5EF4-FFF2-40B4-BE49-F238E27FC236}">
                <a16:creationId xmlns:a16="http://schemas.microsoft.com/office/drawing/2014/main" id="{6865D913-9F73-2740-93F3-3D4AC6C39192}"/>
              </a:ext>
            </a:extLst>
          </p:cNvPr>
          <p:cNvSpPr txBox="1"/>
          <p:nvPr/>
        </p:nvSpPr>
        <p:spPr>
          <a:xfrm>
            <a:off x="2193615" y="3526200"/>
            <a:ext cx="718200" cy="41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sz="2200">
                <a:latin typeface="Segoe UI" charset="0"/>
                <a:ea typeface="Segoe UI" charset="0"/>
                <a:cs typeface="Segoe UI" charset="0"/>
                <a:sym typeface="Trebuchet MS"/>
              </a:rPr>
              <a:t>10</a:t>
            </a:r>
            <a:r>
              <a:rPr lang="en" sz="2200" baseline="30000">
                <a:latin typeface="Segoe UI" charset="0"/>
                <a:ea typeface="Segoe UI" charset="0"/>
                <a:cs typeface="Segoe UI" charset="0"/>
                <a:sym typeface="Trebuchet MS"/>
              </a:rPr>
              <a:t>2</a:t>
            </a:r>
          </a:p>
        </p:txBody>
      </p:sp>
      <p:sp>
        <p:nvSpPr>
          <p:cNvPr id="16" name="Shape 95">
            <a:extLst>
              <a:ext uri="{FF2B5EF4-FFF2-40B4-BE49-F238E27FC236}">
                <a16:creationId xmlns:a16="http://schemas.microsoft.com/office/drawing/2014/main" id="{04EAB552-A6A5-8745-A6D7-39D8940048E4}"/>
              </a:ext>
            </a:extLst>
          </p:cNvPr>
          <p:cNvSpPr txBox="1"/>
          <p:nvPr/>
        </p:nvSpPr>
        <p:spPr>
          <a:xfrm>
            <a:off x="1239832" y="3526200"/>
            <a:ext cx="771900" cy="41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sz="2200" dirty="0">
                <a:latin typeface="Segoe UI" charset="0"/>
                <a:ea typeface="Segoe UI" charset="0"/>
                <a:cs typeface="Segoe UI" charset="0"/>
                <a:sym typeface="Trebuchet MS"/>
              </a:rPr>
              <a:t>10</a:t>
            </a:r>
            <a:r>
              <a:rPr lang="en" sz="2200" baseline="30000" dirty="0">
                <a:latin typeface="Segoe UI" charset="0"/>
                <a:ea typeface="Segoe UI" charset="0"/>
                <a:cs typeface="Segoe UI" charset="0"/>
                <a:sym typeface="Trebuchet MS"/>
              </a:rPr>
              <a:t>3</a:t>
            </a:r>
          </a:p>
        </p:txBody>
      </p:sp>
      <p:sp>
        <p:nvSpPr>
          <p:cNvPr id="17" name="Shape 87">
            <a:extLst>
              <a:ext uri="{FF2B5EF4-FFF2-40B4-BE49-F238E27FC236}">
                <a16:creationId xmlns:a16="http://schemas.microsoft.com/office/drawing/2014/main" id="{492668CC-92F9-CF4B-8111-92335B6D5CED}"/>
              </a:ext>
            </a:extLst>
          </p:cNvPr>
          <p:cNvSpPr txBox="1"/>
          <p:nvPr/>
        </p:nvSpPr>
        <p:spPr>
          <a:xfrm>
            <a:off x="5484500" y="3086100"/>
            <a:ext cx="922866" cy="517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sz="2200" dirty="0">
                <a:latin typeface="Segoe UI" charset="0"/>
                <a:ea typeface="Segoe UI" charset="0"/>
                <a:cs typeface="Segoe UI" charset="0"/>
                <a:sym typeface="Trebuchet MS"/>
              </a:rPr>
              <a:t>10ths</a:t>
            </a:r>
          </a:p>
        </p:txBody>
      </p:sp>
      <p:sp>
        <p:nvSpPr>
          <p:cNvPr id="18" name="Shape 92">
            <a:extLst>
              <a:ext uri="{FF2B5EF4-FFF2-40B4-BE49-F238E27FC236}">
                <a16:creationId xmlns:a16="http://schemas.microsoft.com/office/drawing/2014/main" id="{01EDC1C8-CB94-4046-8776-15E808E10C94}"/>
              </a:ext>
            </a:extLst>
          </p:cNvPr>
          <p:cNvSpPr txBox="1"/>
          <p:nvPr/>
        </p:nvSpPr>
        <p:spPr>
          <a:xfrm>
            <a:off x="5548146" y="3526200"/>
            <a:ext cx="693900" cy="41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sz="2200" dirty="0">
                <a:latin typeface="Segoe UI" charset="0"/>
                <a:ea typeface="Segoe UI" charset="0"/>
                <a:cs typeface="Segoe UI" charset="0"/>
                <a:sym typeface="Trebuchet MS"/>
              </a:rPr>
              <a:t>10</a:t>
            </a:r>
            <a:r>
              <a:rPr lang="en" sz="2200" baseline="30000" dirty="0">
                <a:latin typeface="Segoe UI" charset="0"/>
                <a:ea typeface="Segoe UI" charset="0"/>
                <a:cs typeface="Segoe UI" charset="0"/>
                <a:sym typeface="Trebuchet MS"/>
              </a:rPr>
              <a:t>-1</a:t>
            </a:r>
          </a:p>
        </p:txBody>
      </p:sp>
      <p:sp>
        <p:nvSpPr>
          <p:cNvPr id="19" name="Shape 87">
            <a:extLst>
              <a:ext uri="{FF2B5EF4-FFF2-40B4-BE49-F238E27FC236}">
                <a16:creationId xmlns:a16="http://schemas.microsoft.com/office/drawing/2014/main" id="{A8573E10-995D-4F41-B2CB-7AE3B45DBD9E}"/>
              </a:ext>
            </a:extLst>
          </p:cNvPr>
          <p:cNvSpPr txBox="1"/>
          <p:nvPr/>
        </p:nvSpPr>
        <p:spPr>
          <a:xfrm>
            <a:off x="6311057" y="3086100"/>
            <a:ext cx="1159350" cy="517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sz="2200" dirty="0">
                <a:latin typeface="Segoe UI" charset="0"/>
                <a:ea typeface="Segoe UI" charset="0"/>
                <a:cs typeface="Segoe UI" charset="0"/>
                <a:sym typeface="Trebuchet MS"/>
              </a:rPr>
              <a:t>100ths</a:t>
            </a:r>
          </a:p>
        </p:txBody>
      </p:sp>
      <p:sp>
        <p:nvSpPr>
          <p:cNvPr id="20" name="Shape 92">
            <a:extLst>
              <a:ext uri="{FF2B5EF4-FFF2-40B4-BE49-F238E27FC236}">
                <a16:creationId xmlns:a16="http://schemas.microsoft.com/office/drawing/2014/main" id="{6D70424A-C3AE-5640-97E3-FB3CA57F87CD}"/>
              </a:ext>
            </a:extLst>
          </p:cNvPr>
          <p:cNvSpPr txBox="1"/>
          <p:nvPr/>
        </p:nvSpPr>
        <p:spPr>
          <a:xfrm>
            <a:off x="6492945" y="3526200"/>
            <a:ext cx="693900" cy="41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sz="2200" dirty="0">
                <a:latin typeface="Segoe UI" charset="0"/>
                <a:ea typeface="Segoe UI" charset="0"/>
                <a:cs typeface="Segoe UI" charset="0"/>
                <a:sym typeface="Trebuchet MS"/>
              </a:rPr>
              <a:t>10</a:t>
            </a:r>
            <a:r>
              <a:rPr lang="en" sz="2200" baseline="30000" dirty="0">
                <a:latin typeface="Segoe UI" charset="0"/>
                <a:ea typeface="Segoe UI" charset="0"/>
                <a:cs typeface="Segoe UI" charset="0"/>
                <a:sym typeface="Trebuchet MS"/>
              </a:rPr>
              <a:t>-2</a:t>
            </a:r>
          </a:p>
        </p:txBody>
      </p:sp>
      <p:sp>
        <p:nvSpPr>
          <p:cNvPr id="21" name="Shape 87">
            <a:extLst>
              <a:ext uri="{FF2B5EF4-FFF2-40B4-BE49-F238E27FC236}">
                <a16:creationId xmlns:a16="http://schemas.microsoft.com/office/drawing/2014/main" id="{064793C1-112D-C540-B954-F2ED4AC8F3DB}"/>
              </a:ext>
            </a:extLst>
          </p:cNvPr>
          <p:cNvSpPr txBox="1"/>
          <p:nvPr/>
        </p:nvSpPr>
        <p:spPr>
          <a:xfrm>
            <a:off x="7288519" y="3086100"/>
            <a:ext cx="1220481" cy="517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sz="2200" dirty="0">
                <a:latin typeface="Segoe UI" charset="0"/>
                <a:ea typeface="Segoe UI" charset="0"/>
                <a:cs typeface="Segoe UI" charset="0"/>
                <a:sym typeface="Trebuchet MS"/>
              </a:rPr>
              <a:t>1000ths</a:t>
            </a:r>
          </a:p>
        </p:txBody>
      </p:sp>
      <p:sp>
        <p:nvSpPr>
          <p:cNvPr id="22" name="Shape 92">
            <a:extLst>
              <a:ext uri="{FF2B5EF4-FFF2-40B4-BE49-F238E27FC236}">
                <a16:creationId xmlns:a16="http://schemas.microsoft.com/office/drawing/2014/main" id="{99E9DF2B-8530-F34D-B3FC-9BE4A373E4F7}"/>
              </a:ext>
            </a:extLst>
          </p:cNvPr>
          <p:cNvSpPr txBox="1"/>
          <p:nvPr/>
        </p:nvSpPr>
        <p:spPr>
          <a:xfrm>
            <a:off x="7450191" y="3526200"/>
            <a:ext cx="693900" cy="41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sz="2200" dirty="0">
                <a:latin typeface="Segoe UI" charset="0"/>
                <a:ea typeface="Segoe UI" charset="0"/>
                <a:cs typeface="Segoe UI" charset="0"/>
                <a:sym typeface="Trebuchet MS"/>
              </a:rPr>
              <a:t>10</a:t>
            </a:r>
            <a:r>
              <a:rPr lang="en" sz="2200" baseline="30000" dirty="0">
                <a:latin typeface="Segoe UI" charset="0"/>
                <a:ea typeface="Segoe UI" charset="0"/>
                <a:cs typeface="Segoe UI" charset="0"/>
                <a:sym typeface="Trebuchet MS"/>
              </a:rPr>
              <a:t>-3</a:t>
            </a:r>
          </a:p>
        </p:txBody>
      </p:sp>
      <p:sp>
        <p:nvSpPr>
          <p:cNvPr id="25" name="Shape 85">
            <a:extLst>
              <a:ext uri="{FF2B5EF4-FFF2-40B4-BE49-F238E27FC236}">
                <a16:creationId xmlns:a16="http://schemas.microsoft.com/office/drawing/2014/main" id="{8825A09E-FBA9-3248-9BC1-9DC5BBE89ECA}"/>
              </a:ext>
            </a:extLst>
          </p:cNvPr>
          <p:cNvSpPr txBox="1"/>
          <p:nvPr/>
        </p:nvSpPr>
        <p:spPr>
          <a:xfrm>
            <a:off x="4643970" y="1668975"/>
            <a:ext cx="3886200" cy="1488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sz="9600" dirty="0">
                <a:latin typeface="Segoe UI" charset="0"/>
                <a:ea typeface="Segoe UI" charset="0"/>
                <a:cs typeface="Segoe UI" charset="0"/>
                <a:sym typeface="Trebuchet MS"/>
              </a:rPr>
              <a:t>. 3 2 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DDEDF38-8F57-BA46-B606-5DCA6E331FD7}"/>
              </a:ext>
            </a:extLst>
          </p:cNvPr>
          <p:cNvSpPr/>
          <p:nvPr/>
        </p:nvSpPr>
        <p:spPr>
          <a:xfrm rot="1791300">
            <a:off x="8398768" y="774275"/>
            <a:ext cx="755335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latin typeface="Segoe UI" charset="0"/>
                <a:ea typeface="Segoe UI" charset="0"/>
                <a:cs typeface="Segoe UI" charset="0"/>
                <a:sym typeface="Trebuchet MS"/>
              </a:rPr>
              <a:t>?</a:t>
            </a: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C40E4A1-65C9-2240-8E65-12B8965EFAF6}"/>
              </a:ext>
            </a:extLst>
          </p:cNvPr>
          <p:cNvSpPr/>
          <p:nvPr/>
        </p:nvSpPr>
        <p:spPr>
          <a:xfrm>
            <a:off x="8628187" y="1507882"/>
            <a:ext cx="755335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latin typeface="Segoe UI" charset="0"/>
                <a:ea typeface="Segoe UI" charset="0"/>
                <a:cs typeface="Segoe UI" charset="0"/>
                <a:sym typeface="Trebuchet MS"/>
              </a:rPr>
              <a:t>?</a:t>
            </a:r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019327-A84C-AF41-8ABA-9689C3128328}"/>
              </a:ext>
            </a:extLst>
          </p:cNvPr>
          <p:cNvSpPr/>
          <p:nvPr/>
        </p:nvSpPr>
        <p:spPr>
          <a:xfrm rot="19160997">
            <a:off x="7870329" y="1100604"/>
            <a:ext cx="755335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latin typeface="Segoe UI" charset="0"/>
                <a:ea typeface="Segoe UI" charset="0"/>
                <a:cs typeface="Segoe UI" charset="0"/>
                <a:sym typeface="Trebuchet MS"/>
              </a:rPr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203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5" grpId="0"/>
      <p:bldP spid="26" grpId="0"/>
      <p:bldP spid="27" grpId="0"/>
      <p:bldP spid="2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CDA41-886F-E545-8CCA-7DF9BC7B3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fraction of a bit?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E22FA-056C-A347-A39F-4348D66D3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33" y="778934"/>
            <a:ext cx="8961967" cy="4368536"/>
          </a:xfrm>
        </p:spPr>
        <p:txBody>
          <a:bodyPr/>
          <a:lstStyle/>
          <a:p>
            <a:r>
              <a:rPr lang="en-US" dirty="0"/>
              <a:t>Binary is the same! </a:t>
            </a:r>
          </a:p>
          <a:p>
            <a:r>
              <a:rPr lang="en-US" dirty="0"/>
              <a:t>Just replace 10s with 2s.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365097-21A5-114B-A445-C6050BF7C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5" name="Shape 138">
            <a:extLst>
              <a:ext uri="{FF2B5EF4-FFF2-40B4-BE49-F238E27FC236}">
                <a16:creationId xmlns:a16="http://schemas.microsoft.com/office/drawing/2014/main" id="{CA1C9EA4-7DE5-1440-9A72-9E0CC84CB256}"/>
              </a:ext>
            </a:extLst>
          </p:cNvPr>
          <p:cNvSpPr txBox="1"/>
          <p:nvPr/>
        </p:nvSpPr>
        <p:spPr>
          <a:xfrm>
            <a:off x="1270000" y="2802525"/>
            <a:ext cx="3570896" cy="41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2200" dirty="0">
                <a:ea typeface="Trebuchet MS"/>
                <a:cs typeface="Trebuchet MS"/>
                <a:sym typeface="Trebuchet MS"/>
              </a:rPr>
              <a:t>2</a:t>
            </a:r>
            <a:r>
              <a:rPr lang="en" sz="2200" baseline="30000" dirty="0">
                <a:ea typeface="Trebuchet MS"/>
                <a:cs typeface="Trebuchet MS"/>
                <a:sym typeface="Trebuchet MS"/>
              </a:rPr>
              <a:t>3</a:t>
            </a:r>
            <a:r>
              <a:rPr lang="en" sz="2200" dirty="0">
                <a:ea typeface="Trebuchet MS"/>
                <a:cs typeface="Trebuchet MS"/>
                <a:sym typeface="Trebuchet MS"/>
              </a:rPr>
              <a:t>          2</a:t>
            </a:r>
            <a:r>
              <a:rPr lang="en" sz="2200" baseline="30000" dirty="0">
                <a:ea typeface="Trebuchet MS"/>
                <a:cs typeface="Trebuchet MS"/>
                <a:sym typeface="Trebuchet MS"/>
              </a:rPr>
              <a:t>2</a:t>
            </a:r>
            <a:r>
              <a:rPr lang="en" sz="2200" dirty="0">
                <a:ea typeface="Trebuchet MS"/>
                <a:cs typeface="Trebuchet MS"/>
                <a:sym typeface="Trebuchet MS"/>
              </a:rPr>
              <a:t>           2</a:t>
            </a:r>
            <a:r>
              <a:rPr lang="en" sz="2200" baseline="30000" dirty="0">
                <a:ea typeface="Trebuchet MS"/>
                <a:cs typeface="Trebuchet MS"/>
                <a:sym typeface="Trebuchet MS"/>
              </a:rPr>
              <a:t>1</a:t>
            </a:r>
            <a:r>
              <a:rPr lang="en" sz="2200" dirty="0">
                <a:ea typeface="Trebuchet MS"/>
                <a:cs typeface="Trebuchet MS"/>
                <a:sym typeface="Trebuchet MS"/>
              </a:rPr>
              <a:t>          2</a:t>
            </a:r>
            <a:r>
              <a:rPr lang="en" sz="2200" baseline="30000" dirty="0">
                <a:ea typeface="Trebuchet MS"/>
                <a:cs typeface="Trebuchet MS"/>
                <a:sym typeface="Trebuchet MS"/>
              </a:rPr>
              <a:t>0</a:t>
            </a:r>
          </a:p>
        </p:txBody>
      </p:sp>
      <p:sp>
        <p:nvSpPr>
          <p:cNvPr id="6" name="Shape 140">
            <a:extLst>
              <a:ext uri="{FF2B5EF4-FFF2-40B4-BE49-F238E27FC236}">
                <a16:creationId xmlns:a16="http://schemas.microsoft.com/office/drawing/2014/main" id="{5A1CF54D-AD07-9B47-9CF4-67CCD5A6CDA9}"/>
              </a:ext>
            </a:extLst>
          </p:cNvPr>
          <p:cNvSpPr txBox="1"/>
          <p:nvPr/>
        </p:nvSpPr>
        <p:spPr>
          <a:xfrm>
            <a:off x="977050" y="1385400"/>
            <a:ext cx="3863846" cy="1488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r"/>
            <a:r>
              <a:rPr lang="en" sz="9600" dirty="0">
                <a:ea typeface="Trebuchet MS"/>
                <a:cs typeface="Trebuchet MS"/>
                <a:sym typeface="Trebuchet MS"/>
              </a:rPr>
              <a:t>0 1 1 0</a:t>
            </a:r>
          </a:p>
        </p:txBody>
      </p:sp>
      <p:sp>
        <p:nvSpPr>
          <p:cNvPr id="7" name="Shape 141">
            <a:extLst>
              <a:ext uri="{FF2B5EF4-FFF2-40B4-BE49-F238E27FC236}">
                <a16:creationId xmlns:a16="http://schemas.microsoft.com/office/drawing/2014/main" id="{ABE4DB13-AE6D-184D-B9CD-DC28114D3E2F}"/>
              </a:ext>
            </a:extLst>
          </p:cNvPr>
          <p:cNvSpPr txBox="1"/>
          <p:nvPr/>
        </p:nvSpPr>
        <p:spPr>
          <a:xfrm>
            <a:off x="1298050" y="3216525"/>
            <a:ext cx="3649723" cy="517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2200" dirty="0">
                <a:ea typeface="Trebuchet MS"/>
                <a:cs typeface="Trebuchet MS"/>
                <a:sym typeface="Trebuchet MS"/>
              </a:rPr>
              <a:t>8s         4s           2s          1s</a:t>
            </a:r>
          </a:p>
        </p:txBody>
      </p:sp>
      <p:sp>
        <p:nvSpPr>
          <p:cNvPr id="11" name="Shape 151">
            <a:extLst>
              <a:ext uri="{FF2B5EF4-FFF2-40B4-BE49-F238E27FC236}">
                <a16:creationId xmlns:a16="http://schemas.microsoft.com/office/drawing/2014/main" id="{4DE453ED-4465-784E-B41C-70C5CC37FF62}"/>
              </a:ext>
            </a:extLst>
          </p:cNvPr>
          <p:cNvSpPr/>
          <p:nvPr/>
        </p:nvSpPr>
        <p:spPr>
          <a:xfrm>
            <a:off x="8039712" y="1372900"/>
            <a:ext cx="468300" cy="2277900"/>
          </a:xfrm>
          <a:prstGeom prst="rect">
            <a:avLst/>
          </a:prstGeom>
          <a:solidFill>
            <a:srgbClr val="FFFFFF">
              <a:alpha val="85770"/>
            </a:srgbClr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5" name="Shape 138">
            <a:extLst>
              <a:ext uri="{FF2B5EF4-FFF2-40B4-BE49-F238E27FC236}">
                <a16:creationId xmlns:a16="http://schemas.microsoft.com/office/drawing/2014/main" id="{ED9950DB-AEDF-AA42-833B-32913A981192}"/>
              </a:ext>
            </a:extLst>
          </p:cNvPr>
          <p:cNvSpPr txBox="1"/>
          <p:nvPr/>
        </p:nvSpPr>
        <p:spPr>
          <a:xfrm>
            <a:off x="5389511" y="2802525"/>
            <a:ext cx="3672910" cy="41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2200" dirty="0">
                <a:ea typeface="Trebuchet MS"/>
                <a:cs typeface="Trebuchet MS"/>
                <a:sym typeface="Trebuchet MS"/>
              </a:rPr>
              <a:t>2</a:t>
            </a:r>
            <a:r>
              <a:rPr lang="en" sz="2200" baseline="30000" dirty="0">
                <a:ea typeface="Trebuchet MS"/>
                <a:cs typeface="Trebuchet MS"/>
                <a:sym typeface="Trebuchet MS"/>
              </a:rPr>
              <a:t>-1</a:t>
            </a:r>
            <a:r>
              <a:rPr lang="en" sz="2200" dirty="0">
                <a:ea typeface="Trebuchet MS"/>
                <a:cs typeface="Trebuchet MS"/>
                <a:sym typeface="Trebuchet MS"/>
              </a:rPr>
              <a:t>         2</a:t>
            </a:r>
            <a:r>
              <a:rPr lang="en" sz="2200" baseline="30000" dirty="0">
                <a:ea typeface="Trebuchet MS"/>
                <a:cs typeface="Trebuchet MS"/>
                <a:sym typeface="Trebuchet MS"/>
              </a:rPr>
              <a:t>-2</a:t>
            </a:r>
            <a:r>
              <a:rPr lang="en" sz="2200" dirty="0">
                <a:ea typeface="Trebuchet MS"/>
                <a:cs typeface="Trebuchet MS"/>
                <a:sym typeface="Trebuchet MS"/>
              </a:rPr>
              <a:t>         2</a:t>
            </a:r>
            <a:r>
              <a:rPr lang="en" sz="2200" baseline="30000" dirty="0">
                <a:ea typeface="Trebuchet MS"/>
                <a:cs typeface="Trebuchet MS"/>
                <a:sym typeface="Trebuchet MS"/>
              </a:rPr>
              <a:t>-3</a:t>
            </a:r>
            <a:r>
              <a:rPr lang="en" sz="2200" dirty="0">
                <a:ea typeface="Trebuchet MS"/>
                <a:cs typeface="Trebuchet MS"/>
                <a:sym typeface="Trebuchet MS"/>
              </a:rPr>
              <a:t>         2</a:t>
            </a:r>
            <a:r>
              <a:rPr lang="en" sz="2200" baseline="30000" dirty="0">
                <a:ea typeface="Trebuchet MS"/>
                <a:cs typeface="Trebuchet MS"/>
                <a:sym typeface="Trebuchet MS"/>
              </a:rPr>
              <a:t>-4</a:t>
            </a:r>
          </a:p>
        </p:txBody>
      </p:sp>
      <p:sp>
        <p:nvSpPr>
          <p:cNvPr id="16" name="Shape 140">
            <a:extLst>
              <a:ext uri="{FF2B5EF4-FFF2-40B4-BE49-F238E27FC236}">
                <a16:creationId xmlns:a16="http://schemas.microsoft.com/office/drawing/2014/main" id="{7E6BC288-F354-F847-858F-1DE18807C8B1}"/>
              </a:ext>
            </a:extLst>
          </p:cNvPr>
          <p:cNvSpPr txBox="1"/>
          <p:nvPr/>
        </p:nvSpPr>
        <p:spPr>
          <a:xfrm>
            <a:off x="4515737" y="1385400"/>
            <a:ext cx="4455175" cy="1488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r"/>
            <a:r>
              <a:rPr lang="en" sz="9600" dirty="0">
                <a:ea typeface="Trebuchet MS"/>
                <a:cs typeface="Trebuchet MS"/>
                <a:sym typeface="Trebuchet MS"/>
              </a:rPr>
              <a:t>.1 1 0 1</a:t>
            </a:r>
          </a:p>
        </p:txBody>
      </p:sp>
      <p:sp>
        <p:nvSpPr>
          <p:cNvPr id="17" name="Shape 141">
            <a:extLst>
              <a:ext uri="{FF2B5EF4-FFF2-40B4-BE49-F238E27FC236}">
                <a16:creationId xmlns:a16="http://schemas.microsoft.com/office/drawing/2014/main" id="{13A2BAF7-6397-BD4D-ACDA-E5DA20DECD5B}"/>
              </a:ext>
            </a:extLst>
          </p:cNvPr>
          <p:cNvSpPr txBox="1"/>
          <p:nvPr/>
        </p:nvSpPr>
        <p:spPr>
          <a:xfrm>
            <a:off x="5133846" y="3216525"/>
            <a:ext cx="4218066" cy="517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2200" dirty="0">
                <a:ea typeface="Trebuchet MS"/>
                <a:cs typeface="Trebuchet MS"/>
                <a:sym typeface="Trebuchet MS"/>
              </a:rPr>
              <a:t>  2ths</a:t>
            </a:r>
            <a:r>
              <a:rPr lang="en" sz="800" dirty="0">
                <a:ea typeface="Trebuchet MS"/>
                <a:cs typeface="Trebuchet MS"/>
                <a:sym typeface="Trebuchet MS"/>
              </a:rPr>
              <a:t>?</a:t>
            </a:r>
            <a:r>
              <a:rPr lang="en" sz="2200" dirty="0">
                <a:ea typeface="Trebuchet MS"/>
                <a:cs typeface="Trebuchet MS"/>
                <a:sym typeface="Trebuchet MS"/>
              </a:rPr>
              <a:t>      4ths       8ths      16ths</a:t>
            </a:r>
          </a:p>
        </p:txBody>
      </p:sp>
    </p:spTree>
    <p:extLst>
      <p:ext uri="{BB962C8B-B14F-4D97-AF65-F5344CB8AC3E}">
        <p14:creationId xmlns:p14="http://schemas.microsoft.com/office/powerpoint/2010/main" val="2293200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5" grpId="0"/>
      <p:bldP spid="1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BCA04-FE91-7849-B9E9-A3312A411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convert into decimal, just add stuff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C33644-F8DF-D342-8DFB-9972A196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5" name="Shape 138">
            <a:extLst>
              <a:ext uri="{FF2B5EF4-FFF2-40B4-BE49-F238E27FC236}">
                <a16:creationId xmlns:a16="http://schemas.microsoft.com/office/drawing/2014/main" id="{C8F88975-55E8-5C43-B293-172909AFDA6D}"/>
              </a:ext>
            </a:extLst>
          </p:cNvPr>
          <p:cNvSpPr txBox="1"/>
          <p:nvPr/>
        </p:nvSpPr>
        <p:spPr>
          <a:xfrm>
            <a:off x="1041401" y="1910100"/>
            <a:ext cx="3581399" cy="41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2200" dirty="0">
                <a:ea typeface="Trebuchet MS"/>
                <a:cs typeface="Trebuchet MS"/>
                <a:sym typeface="Trebuchet MS"/>
              </a:rPr>
              <a:t>2</a:t>
            </a:r>
            <a:r>
              <a:rPr lang="en" sz="2200" baseline="30000" dirty="0">
                <a:ea typeface="Trebuchet MS"/>
                <a:cs typeface="Trebuchet MS"/>
                <a:sym typeface="Trebuchet MS"/>
              </a:rPr>
              <a:t>3</a:t>
            </a:r>
            <a:r>
              <a:rPr lang="en" sz="2200" dirty="0">
                <a:ea typeface="Trebuchet MS"/>
                <a:cs typeface="Trebuchet MS"/>
                <a:sym typeface="Trebuchet MS"/>
              </a:rPr>
              <a:t>          2</a:t>
            </a:r>
            <a:r>
              <a:rPr lang="en" sz="2200" baseline="30000" dirty="0">
                <a:ea typeface="Trebuchet MS"/>
                <a:cs typeface="Trebuchet MS"/>
                <a:sym typeface="Trebuchet MS"/>
              </a:rPr>
              <a:t>2</a:t>
            </a:r>
            <a:r>
              <a:rPr lang="en" sz="2200" dirty="0">
                <a:ea typeface="Trebuchet MS"/>
                <a:cs typeface="Trebuchet MS"/>
                <a:sym typeface="Trebuchet MS"/>
              </a:rPr>
              <a:t>           2</a:t>
            </a:r>
            <a:r>
              <a:rPr lang="en" sz="2200" baseline="30000" dirty="0">
                <a:ea typeface="Trebuchet MS"/>
                <a:cs typeface="Trebuchet MS"/>
                <a:sym typeface="Trebuchet MS"/>
              </a:rPr>
              <a:t>1</a:t>
            </a:r>
            <a:r>
              <a:rPr lang="en" sz="2200" dirty="0">
                <a:ea typeface="Trebuchet MS"/>
                <a:cs typeface="Trebuchet MS"/>
                <a:sym typeface="Trebuchet MS"/>
              </a:rPr>
              <a:t>        2</a:t>
            </a:r>
            <a:r>
              <a:rPr lang="en" sz="2200" baseline="30000" dirty="0">
                <a:ea typeface="Trebuchet MS"/>
                <a:cs typeface="Trebuchet MS"/>
                <a:sym typeface="Trebuchet MS"/>
              </a:rPr>
              <a:t>0</a:t>
            </a:r>
          </a:p>
        </p:txBody>
      </p:sp>
      <p:sp>
        <p:nvSpPr>
          <p:cNvPr id="6" name="Shape 140">
            <a:extLst>
              <a:ext uri="{FF2B5EF4-FFF2-40B4-BE49-F238E27FC236}">
                <a16:creationId xmlns:a16="http://schemas.microsoft.com/office/drawing/2014/main" id="{10A231A5-1C31-F440-875E-F7466755D35C}"/>
              </a:ext>
            </a:extLst>
          </p:cNvPr>
          <p:cNvSpPr txBox="1"/>
          <p:nvPr/>
        </p:nvSpPr>
        <p:spPr>
          <a:xfrm>
            <a:off x="435477" y="492975"/>
            <a:ext cx="4187323" cy="1488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r"/>
            <a:r>
              <a:rPr lang="en" sz="9600" dirty="0">
                <a:ea typeface="Trebuchet MS"/>
                <a:cs typeface="Trebuchet MS"/>
                <a:sym typeface="Trebuchet MS"/>
              </a:rPr>
              <a:t>0 1 1 0</a:t>
            </a:r>
          </a:p>
        </p:txBody>
      </p:sp>
      <p:sp>
        <p:nvSpPr>
          <p:cNvPr id="8" name="Shape 151">
            <a:extLst>
              <a:ext uri="{FF2B5EF4-FFF2-40B4-BE49-F238E27FC236}">
                <a16:creationId xmlns:a16="http://schemas.microsoft.com/office/drawing/2014/main" id="{67F979D7-DE2C-A84F-82EC-9E4B10B98639}"/>
              </a:ext>
            </a:extLst>
          </p:cNvPr>
          <p:cNvSpPr/>
          <p:nvPr/>
        </p:nvSpPr>
        <p:spPr>
          <a:xfrm>
            <a:off x="7384775" y="1372900"/>
            <a:ext cx="468300" cy="2277900"/>
          </a:xfrm>
          <a:prstGeom prst="rect">
            <a:avLst/>
          </a:prstGeom>
          <a:solidFill>
            <a:srgbClr val="FFFFFF">
              <a:alpha val="85770"/>
            </a:srgbClr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Shape 138">
            <a:extLst>
              <a:ext uri="{FF2B5EF4-FFF2-40B4-BE49-F238E27FC236}">
                <a16:creationId xmlns:a16="http://schemas.microsoft.com/office/drawing/2014/main" id="{A293D613-1C5E-4347-BB81-29E3AA7AEED6}"/>
              </a:ext>
            </a:extLst>
          </p:cNvPr>
          <p:cNvSpPr txBox="1"/>
          <p:nvPr/>
        </p:nvSpPr>
        <p:spPr>
          <a:xfrm>
            <a:off x="5023224" y="1910100"/>
            <a:ext cx="4285876" cy="41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2200" dirty="0">
                <a:ea typeface="Trebuchet MS"/>
                <a:cs typeface="Trebuchet MS"/>
                <a:sym typeface="Trebuchet MS"/>
              </a:rPr>
              <a:t>2</a:t>
            </a:r>
            <a:r>
              <a:rPr lang="en" sz="2200" baseline="30000" dirty="0">
                <a:ea typeface="Trebuchet MS"/>
                <a:cs typeface="Trebuchet MS"/>
                <a:sym typeface="Trebuchet MS"/>
              </a:rPr>
              <a:t>-1</a:t>
            </a:r>
            <a:r>
              <a:rPr lang="en" sz="2200" dirty="0">
                <a:ea typeface="Trebuchet MS"/>
                <a:cs typeface="Trebuchet MS"/>
                <a:sym typeface="Trebuchet MS"/>
              </a:rPr>
              <a:t>          2-</a:t>
            </a:r>
            <a:r>
              <a:rPr lang="en" sz="2200" baseline="30000" dirty="0">
                <a:ea typeface="Trebuchet MS"/>
                <a:cs typeface="Trebuchet MS"/>
                <a:sym typeface="Trebuchet MS"/>
              </a:rPr>
              <a:t>2</a:t>
            </a:r>
            <a:r>
              <a:rPr lang="en" sz="2200" dirty="0">
                <a:ea typeface="Trebuchet MS"/>
                <a:cs typeface="Trebuchet MS"/>
                <a:sym typeface="Trebuchet MS"/>
              </a:rPr>
              <a:t>       2</a:t>
            </a:r>
            <a:r>
              <a:rPr lang="en" sz="2200" baseline="30000" dirty="0">
                <a:ea typeface="Trebuchet MS"/>
                <a:cs typeface="Trebuchet MS"/>
                <a:sym typeface="Trebuchet MS"/>
              </a:rPr>
              <a:t>-3</a:t>
            </a:r>
            <a:r>
              <a:rPr lang="en" sz="2200" dirty="0">
                <a:ea typeface="Trebuchet MS"/>
                <a:cs typeface="Trebuchet MS"/>
                <a:sym typeface="Trebuchet MS"/>
              </a:rPr>
              <a:t>          2</a:t>
            </a:r>
            <a:r>
              <a:rPr lang="en" sz="2200" baseline="30000" dirty="0">
                <a:ea typeface="Trebuchet MS"/>
                <a:cs typeface="Trebuchet MS"/>
                <a:sym typeface="Trebuchet MS"/>
              </a:rPr>
              <a:t>-4</a:t>
            </a:r>
          </a:p>
        </p:txBody>
      </p:sp>
      <p:sp>
        <p:nvSpPr>
          <p:cNvPr id="10" name="Shape 140">
            <a:extLst>
              <a:ext uri="{FF2B5EF4-FFF2-40B4-BE49-F238E27FC236}">
                <a16:creationId xmlns:a16="http://schemas.microsoft.com/office/drawing/2014/main" id="{7A76EF15-8C53-6C4E-83A0-E5C6BB38B179}"/>
              </a:ext>
            </a:extLst>
          </p:cNvPr>
          <p:cNvSpPr txBox="1"/>
          <p:nvPr/>
        </p:nvSpPr>
        <p:spPr>
          <a:xfrm>
            <a:off x="3752702" y="492975"/>
            <a:ext cx="4832498" cy="1488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r"/>
            <a:r>
              <a:rPr lang="en" sz="9600" dirty="0">
                <a:ea typeface="Trebuchet MS"/>
                <a:cs typeface="Trebuchet MS"/>
                <a:sym typeface="Trebuchet MS"/>
              </a:rPr>
              <a:t>.1 1 0 1</a:t>
            </a:r>
          </a:p>
        </p:txBody>
      </p:sp>
      <p:sp>
        <p:nvSpPr>
          <p:cNvPr id="12" name="Shape 142">
            <a:extLst>
              <a:ext uri="{FF2B5EF4-FFF2-40B4-BE49-F238E27FC236}">
                <a16:creationId xmlns:a16="http://schemas.microsoft.com/office/drawing/2014/main" id="{45EE476C-0600-2748-86FA-0B2BA972E069}"/>
              </a:ext>
            </a:extLst>
          </p:cNvPr>
          <p:cNvSpPr txBox="1"/>
          <p:nvPr/>
        </p:nvSpPr>
        <p:spPr>
          <a:xfrm>
            <a:off x="3089001" y="2585700"/>
            <a:ext cx="1865100" cy="3319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2200" dirty="0">
                <a:ea typeface="Trebuchet MS"/>
                <a:cs typeface="Trebuchet MS"/>
                <a:sym typeface="Trebuchet MS"/>
              </a:rPr>
              <a:t>0 × </a:t>
            </a:r>
            <a:r>
              <a:rPr lang="en-US" sz="2200" dirty="0">
                <a:ea typeface="Trebuchet MS"/>
                <a:cs typeface="Trebuchet MS"/>
                <a:sym typeface="Trebuchet MS"/>
              </a:rPr>
              <a:t>8</a:t>
            </a:r>
            <a:r>
              <a:rPr lang="en" sz="2200" dirty="0">
                <a:ea typeface="Trebuchet MS"/>
                <a:cs typeface="Trebuchet MS"/>
                <a:sym typeface="Trebuchet MS"/>
              </a:rPr>
              <a:t> +</a:t>
            </a:r>
          </a:p>
          <a:p>
            <a:r>
              <a:rPr lang="en" sz="2200" dirty="0">
                <a:ea typeface="Trebuchet MS"/>
                <a:cs typeface="Trebuchet MS"/>
                <a:sym typeface="Trebuchet MS"/>
              </a:rPr>
              <a:t>1 × </a:t>
            </a:r>
            <a:r>
              <a:rPr lang="en-US" sz="2200" dirty="0">
                <a:ea typeface="Trebuchet MS"/>
                <a:cs typeface="Trebuchet MS"/>
                <a:sym typeface="Trebuchet MS"/>
              </a:rPr>
              <a:t>4</a:t>
            </a:r>
            <a:r>
              <a:rPr lang="en" sz="2200" dirty="0">
                <a:ea typeface="Trebuchet MS"/>
                <a:cs typeface="Trebuchet MS"/>
                <a:sym typeface="Trebuchet MS"/>
              </a:rPr>
              <a:t> + </a:t>
            </a:r>
          </a:p>
          <a:p>
            <a:r>
              <a:rPr lang="en" sz="2200" dirty="0">
                <a:ea typeface="Trebuchet MS"/>
                <a:cs typeface="Trebuchet MS"/>
                <a:sym typeface="Trebuchet MS"/>
              </a:rPr>
              <a:t>1 × 2 + </a:t>
            </a:r>
          </a:p>
          <a:p>
            <a:r>
              <a:rPr lang="en" sz="2200" dirty="0">
                <a:ea typeface="Trebuchet MS"/>
                <a:cs typeface="Trebuchet MS"/>
                <a:sym typeface="Trebuchet MS"/>
              </a:rPr>
              <a:t>0 × </a:t>
            </a:r>
            <a:r>
              <a:rPr lang="en-US" sz="2200" dirty="0">
                <a:ea typeface="Trebuchet MS"/>
                <a:cs typeface="Trebuchet MS"/>
                <a:sym typeface="Trebuchet MS"/>
              </a:rPr>
              <a:t>1 +</a:t>
            </a:r>
          </a:p>
          <a:p>
            <a:r>
              <a:rPr lang="en" sz="2200" dirty="0">
                <a:ea typeface="Trebuchet MS"/>
                <a:cs typeface="Trebuchet MS"/>
                <a:sym typeface="Trebuchet MS"/>
              </a:rPr>
              <a:t>1 × .5 +</a:t>
            </a:r>
          </a:p>
          <a:p>
            <a:r>
              <a:rPr lang="en" sz="2200" dirty="0">
                <a:ea typeface="Trebuchet MS"/>
                <a:cs typeface="Trebuchet MS"/>
                <a:sym typeface="Trebuchet MS"/>
              </a:rPr>
              <a:t>1 × .25 + </a:t>
            </a:r>
          </a:p>
          <a:p>
            <a:r>
              <a:rPr lang="en" sz="2200" dirty="0">
                <a:ea typeface="Trebuchet MS"/>
                <a:cs typeface="Trebuchet MS"/>
                <a:sym typeface="Trebuchet MS"/>
              </a:rPr>
              <a:t>0 × </a:t>
            </a:r>
            <a:r>
              <a:rPr lang="en-US" sz="2200" dirty="0">
                <a:ea typeface="Trebuchet MS"/>
                <a:cs typeface="Trebuchet MS"/>
                <a:sym typeface="Trebuchet MS"/>
              </a:rPr>
              <a:t>.125</a:t>
            </a:r>
            <a:r>
              <a:rPr lang="en" sz="2200" dirty="0">
                <a:ea typeface="Trebuchet MS"/>
                <a:cs typeface="Trebuchet MS"/>
                <a:sym typeface="Trebuchet MS"/>
              </a:rPr>
              <a:t> + </a:t>
            </a:r>
          </a:p>
          <a:p>
            <a:r>
              <a:rPr lang="en" sz="2200" dirty="0">
                <a:ea typeface="Trebuchet MS"/>
                <a:cs typeface="Trebuchet MS"/>
                <a:sym typeface="Trebuchet MS"/>
              </a:rPr>
              <a:t>1 × </a:t>
            </a:r>
            <a:r>
              <a:rPr lang="en-US" sz="2200" dirty="0">
                <a:ea typeface="Trebuchet MS"/>
                <a:cs typeface="Trebuchet MS"/>
                <a:sym typeface="Trebuchet MS"/>
              </a:rPr>
              <a:t>.0625</a:t>
            </a:r>
            <a:endParaRPr lang="en" sz="2200" baseline="30000" dirty="0">
              <a:ea typeface="Trebuchet MS"/>
              <a:cs typeface="Trebuchet MS"/>
              <a:sym typeface="Trebuchet MS"/>
            </a:endParaRPr>
          </a:p>
        </p:txBody>
      </p:sp>
      <p:sp>
        <p:nvSpPr>
          <p:cNvPr id="13" name="Shape 143">
            <a:extLst>
              <a:ext uri="{FF2B5EF4-FFF2-40B4-BE49-F238E27FC236}">
                <a16:creationId xmlns:a16="http://schemas.microsoft.com/office/drawing/2014/main" id="{8A68320C-5CA6-E247-8125-5BDAD9E6D555}"/>
              </a:ext>
            </a:extLst>
          </p:cNvPr>
          <p:cNvSpPr txBox="1"/>
          <p:nvPr/>
        </p:nvSpPr>
        <p:spPr>
          <a:xfrm>
            <a:off x="8424700" y="418462"/>
            <a:ext cx="693900" cy="1331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9600" dirty="0">
                <a:ea typeface="Trebuchet MS"/>
                <a:cs typeface="Trebuchet MS"/>
                <a:sym typeface="Trebuchet MS"/>
              </a:rPr>
              <a:t>=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3EEA4E-D299-8645-AD3B-76BBF256A6A9}"/>
              </a:ext>
            </a:extLst>
          </p:cNvPr>
          <p:cNvSpPr/>
          <p:nvPr/>
        </p:nvSpPr>
        <p:spPr>
          <a:xfrm>
            <a:off x="5268491" y="3599270"/>
            <a:ext cx="23022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3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= 6.</a:t>
            </a:r>
            <a:r>
              <a:rPr lang="en-US" sz="3600" dirty="0">
                <a:solidFill>
                  <a:prstClr val="black"/>
                </a:solidFill>
              </a:rPr>
              <a:t>8125</a:t>
            </a:r>
            <a:r>
              <a:rPr lang="en" sz="36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236251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allAtOnce"/>
      <p:bldP spid="13" grpId="0"/>
      <p:bldP spid="1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0FF4A-AD51-3149-9523-7F29628EE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decimal to binary? Tricky?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1EA16-9EDF-BB49-B92B-0104F6D2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F15C0F-BB47-9C42-9278-881147F5CCCC}"/>
              </a:ext>
            </a:extLst>
          </p:cNvPr>
          <p:cNvSpPr/>
          <p:nvPr/>
        </p:nvSpPr>
        <p:spPr>
          <a:xfrm>
            <a:off x="4188571" y="923983"/>
            <a:ext cx="19447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3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6.</a:t>
            </a:r>
            <a:r>
              <a:rPr lang="en-US" sz="3600" dirty="0">
                <a:solidFill>
                  <a:prstClr val="black"/>
                </a:solidFill>
              </a:rPr>
              <a:t>8125</a:t>
            </a:r>
            <a:r>
              <a:rPr lang="en" sz="36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6DF436-D17D-0E4D-975D-329026766BDC}"/>
              </a:ext>
            </a:extLst>
          </p:cNvPr>
          <p:cNvSpPr/>
          <p:nvPr/>
        </p:nvSpPr>
        <p:spPr>
          <a:xfrm>
            <a:off x="7526240" y="646985"/>
            <a:ext cx="130676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</a:t>
            </a:r>
            <a:r>
              <a:rPr lang="en-US" sz="2400" dirty="0">
                <a:solidFill>
                  <a:prstClr val="black"/>
                </a:solidFill>
              </a:rPr>
              <a:t>8125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    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1.6250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C8E098-F995-E94F-88CD-C08FA1777A87}"/>
              </a:ext>
            </a:extLst>
          </p:cNvPr>
          <p:cNvSpPr/>
          <p:nvPr/>
        </p:nvSpPr>
        <p:spPr>
          <a:xfrm>
            <a:off x="7526240" y="1847314"/>
            <a:ext cx="130676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</a:t>
            </a:r>
            <a:r>
              <a:rPr lang="en-US" sz="2400" dirty="0">
                <a:solidFill>
                  <a:prstClr val="black"/>
                </a:solidFill>
              </a:rPr>
              <a:t>6250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    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1.2500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3BC082-0388-714A-9FFC-A7709A8544DB}"/>
              </a:ext>
            </a:extLst>
          </p:cNvPr>
          <p:cNvSpPr/>
          <p:nvPr/>
        </p:nvSpPr>
        <p:spPr>
          <a:xfrm>
            <a:off x="7526240" y="3047642"/>
            <a:ext cx="130676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0.2</a:t>
            </a:r>
            <a:r>
              <a:rPr lang="en-US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50</a:t>
            </a:r>
            <a:r>
              <a:rPr lang="en-US" sz="2400" dirty="0">
                <a:solidFill>
                  <a:prstClr val="black"/>
                </a:solidFill>
              </a:rPr>
              <a:t>0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    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0.5000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7919E5-86BB-D442-9779-B3411AD86410}"/>
              </a:ext>
            </a:extLst>
          </p:cNvPr>
          <p:cNvSpPr/>
          <p:nvPr/>
        </p:nvSpPr>
        <p:spPr>
          <a:xfrm>
            <a:off x="7526240" y="4247971"/>
            <a:ext cx="130676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0.50</a:t>
            </a:r>
            <a:r>
              <a:rPr lang="en-US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</a:t>
            </a:r>
            <a:r>
              <a:rPr lang="en-US" sz="2400" dirty="0">
                <a:solidFill>
                  <a:prstClr val="black"/>
                </a:solidFill>
              </a:rPr>
              <a:t>0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    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1.0000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3490C2-296B-014E-8AFA-2C0FE9AC1F72}"/>
              </a:ext>
            </a:extLst>
          </p:cNvPr>
          <p:cNvSpPr/>
          <p:nvPr/>
        </p:nvSpPr>
        <p:spPr>
          <a:xfrm>
            <a:off x="990282" y="1521916"/>
            <a:ext cx="17988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GB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6÷2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  <a:r>
              <a:rPr lang="en-GB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 = 3R0</a:t>
            </a:r>
            <a:endParaRPr lang="en" sz="2400" baseline="-25000" dirty="0">
              <a:solidFill>
                <a:prstClr val="black"/>
              </a:solidFill>
              <a:ea typeface="Trebuchet MS"/>
              <a:cs typeface="Trebuchet MS"/>
              <a:sym typeface="Trebuchet M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56D8D1-1C37-1F4E-B8CA-3E982AD996EF}"/>
              </a:ext>
            </a:extLst>
          </p:cNvPr>
          <p:cNvSpPr/>
          <p:nvPr/>
        </p:nvSpPr>
        <p:spPr>
          <a:xfrm>
            <a:off x="1024707" y="2094785"/>
            <a:ext cx="17988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GB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3÷2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  <a:r>
              <a:rPr lang="en-GB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 = 1R1</a:t>
            </a:r>
            <a:endParaRPr lang="en" sz="2400" baseline="-25000" dirty="0">
              <a:solidFill>
                <a:prstClr val="black"/>
              </a:solidFill>
              <a:ea typeface="Trebuchet MS"/>
              <a:cs typeface="Trebuchet MS"/>
              <a:sym typeface="Trebuchet M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4851501-1EA5-894F-858C-F9D988F6470B}"/>
              </a:ext>
            </a:extLst>
          </p:cNvPr>
          <p:cNvSpPr/>
          <p:nvPr/>
        </p:nvSpPr>
        <p:spPr>
          <a:xfrm>
            <a:off x="2332400" y="1579919"/>
            <a:ext cx="247012" cy="3456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C36805B-F2E2-B648-9AC1-75BD25EAD942}"/>
              </a:ext>
            </a:extLst>
          </p:cNvPr>
          <p:cNvSpPr/>
          <p:nvPr/>
        </p:nvSpPr>
        <p:spPr>
          <a:xfrm>
            <a:off x="2352867" y="2160554"/>
            <a:ext cx="247012" cy="3456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06C808F-622C-DC49-81E2-EADDC7DEAB83}"/>
              </a:ext>
            </a:extLst>
          </p:cNvPr>
          <p:cNvSpPr/>
          <p:nvPr/>
        </p:nvSpPr>
        <p:spPr>
          <a:xfrm>
            <a:off x="2048637" y="2163283"/>
            <a:ext cx="247012" cy="3456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21E0B7DA-3680-E847-BC68-3207BA6C5DD8}"/>
              </a:ext>
            </a:extLst>
          </p:cNvPr>
          <p:cNvCxnSpPr>
            <a:cxnSpLocks/>
            <a:stCxn id="14" idx="6"/>
            <a:endCxn id="39" idx="0"/>
          </p:cNvCxnSpPr>
          <p:nvPr/>
        </p:nvCxnSpPr>
        <p:spPr>
          <a:xfrm>
            <a:off x="2579412" y="1752747"/>
            <a:ext cx="1099656" cy="1669716"/>
          </a:xfrm>
          <a:prstGeom prst="curved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0BFAB838-C0C0-194B-B2B2-8A96DB3899EF}"/>
              </a:ext>
            </a:extLst>
          </p:cNvPr>
          <p:cNvCxnSpPr>
            <a:cxnSpLocks/>
            <a:stCxn id="16" idx="4"/>
            <a:endCxn id="32" idx="0"/>
          </p:cNvCxnSpPr>
          <p:nvPr/>
        </p:nvCxnSpPr>
        <p:spPr>
          <a:xfrm rot="5400000">
            <a:off x="1583433" y="2833753"/>
            <a:ext cx="913524" cy="263897"/>
          </a:xfrm>
          <a:prstGeom prst="curved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D003C945-3AF4-7F44-98B2-107E44A60FBB}"/>
              </a:ext>
            </a:extLst>
          </p:cNvPr>
          <p:cNvCxnSpPr>
            <a:cxnSpLocks/>
            <a:stCxn id="15" idx="6"/>
            <a:endCxn id="34" idx="0"/>
          </p:cNvCxnSpPr>
          <p:nvPr/>
        </p:nvCxnSpPr>
        <p:spPr>
          <a:xfrm>
            <a:off x="2599879" y="2333382"/>
            <a:ext cx="185376" cy="1089081"/>
          </a:xfrm>
          <a:prstGeom prst="curved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0C7CAF82-0908-0648-9412-20D70138283A}"/>
              </a:ext>
            </a:extLst>
          </p:cNvPr>
          <p:cNvSpPr/>
          <p:nvPr/>
        </p:nvSpPr>
        <p:spPr>
          <a:xfrm>
            <a:off x="7547294" y="1425626"/>
            <a:ext cx="247012" cy="3456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6AB5C18-F997-7F4B-ACEF-43D9A4EEE525}"/>
              </a:ext>
            </a:extLst>
          </p:cNvPr>
          <p:cNvSpPr/>
          <p:nvPr/>
        </p:nvSpPr>
        <p:spPr>
          <a:xfrm>
            <a:off x="7547294" y="2663528"/>
            <a:ext cx="247012" cy="3456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BB29C17-59C3-4F49-8790-B7801ECB3AF3}"/>
              </a:ext>
            </a:extLst>
          </p:cNvPr>
          <p:cNvSpPr/>
          <p:nvPr/>
        </p:nvSpPr>
        <p:spPr>
          <a:xfrm>
            <a:off x="7547294" y="3861637"/>
            <a:ext cx="247012" cy="3456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41EF5FA-5E8A-8345-8C54-3507836F076A}"/>
              </a:ext>
            </a:extLst>
          </p:cNvPr>
          <p:cNvSpPr/>
          <p:nvPr/>
        </p:nvSpPr>
        <p:spPr>
          <a:xfrm>
            <a:off x="7547294" y="5061965"/>
            <a:ext cx="247012" cy="3456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F29F3390-783D-8245-91E1-434C70DE3F45}"/>
              </a:ext>
            </a:extLst>
          </p:cNvPr>
          <p:cNvCxnSpPr>
            <a:cxnSpLocks/>
            <a:stCxn id="25" idx="2"/>
            <a:endCxn id="35" idx="0"/>
          </p:cNvCxnSpPr>
          <p:nvPr/>
        </p:nvCxnSpPr>
        <p:spPr>
          <a:xfrm rot="10800000" flipV="1">
            <a:off x="4612727" y="1598454"/>
            <a:ext cx="2934569" cy="1824009"/>
          </a:xfrm>
          <a:prstGeom prst="curved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BD65CBC2-79F8-1943-99D9-EA3B6048C77A}"/>
              </a:ext>
            </a:extLst>
          </p:cNvPr>
          <p:cNvSpPr/>
          <p:nvPr/>
        </p:nvSpPr>
        <p:spPr>
          <a:xfrm>
            <a:off x="1484091" y="3422463"/>
            <a:ext cx="848309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</a:t>
            </a:r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8C070D9-65BA-A541-9CC5-1601360C73CF}"/>
              </a:ext>
            </a:extLst>
          </p:cNvPr>
          <p:cNvSpPr/>
          <p:nvPr/>
        </p:nvSpPr>
        <p:spPr>
          <a:xfrm>
            <a:off x="2361100" y="3422463"/>
            <a:ext cx="848309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</a:t>
            </a:r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2F9D5A3-191B-5B4E-A3E7-17342B01BBF7}"/>
              </a:ext>
            </a:extLst>
          </p:cNvPr>
          <p:cNvSpPr/>
          <p:nvPr/>
        </p:nvSpPr>
        <p:spPr>
          <a:xfrm>
            <a:off x="4188571" y="3422463"/>
            <a:ext cx="848309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</a:t>
            </a:r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FA3FD28-603C-8547-B615-FF08C92EAD11}"/>
              </a:ext>
            </a:extLst>
          </p:cNvPr>
          <p:cNvSpPr/>
          <p:nvPr/>
        </p:nvSpPr>
        <p:spPr>
          <a:xfrm>
            <a:off x="4788817" y="3422463"/>
            <a:ext cx="848309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</a:t>
            </a:r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AC5841D-444F-A441-9459-7258C4FFF09F}"/>
              </a:ext>
            </a:extLst>
          </p:cNvPr>
          <p:cNvSpPr/>
          <p:nvPr/>
        </p:nvSpPr>
        <p:spPr>
          <a:xfrm>
            <a:off x="6026477" y="3422463"/>
            <a:ext cx="848309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</a:t>
            </a:r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4026133-043B-6345-9F3D-C2539769C363}"/>
              </a:ext>
            </a:extLst>
          </p:cNvPr>
          <p:cNvSpPr/>
          <p:nvPr/>
        </p:nvSpPr>
        <p:spPr>
          <a:xfrm>
            <a:off x="5407646" y="3422463"/>
            <a:ext cx="848309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</a:t>
            </a:r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7AD4925-36C9-7843-9D33-42909B5051FC}"/>
              </a:ext>
            </a:extLst>
          </p:cNvPr>
          <p:cNvSpPr/>
          <p:nvPr/>
        </p:nvSpPr>
        <p:spPr>
          <a:xfrm>
            <a:off x="3254913" y="3422463"/>
            <a:ext cx="848309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</a:t>
            </a:r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76085B9-F0D9-C143-B1C0-812F49378F09}"/>
              </a:ext>
            </a:extLst>
          </p:cNvPr>
          <p:cNvSpPr/>
          <p:nvPr/>
        </p:nvSpPr>
        <p:spPr>
          <a:xfrm>
            <a:off x="3854695" y="3422463"/>
            <a:ext cx="452368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.</a:t>
            </a:r>
            <a:endParaRPr lang="en-US" dirty="0"/>
          </a:p>
        </p:txBody>
      </p:sp>
      <p:cxnSp>
        <p:nvCxnSpPr>
          <p:cNvPr id="48" name="Curved Connector 47">
            <a:extLst>
              <a:ext uri="{FF2B5EF4-FFF2-40B4-BE49-F238E27FC236}">
                <a16:creationId xmlns:a16="http://schemas.microsoft.com/office/drawing/2014/main" id="{02DD5272-4B46-5749-9FC8-EA7194788D70}"/>
              </a:ext>
            </a:extLst>
          </p:cNvPr>
          <p:cNvCxnSpPr>
            <a:cxnSpLocks/>
            <a:stCxn id="26" idx="2"/>
            <a:endCxn id="36" idx="0"/>
          </p:cNvCxnSpPr>
          <p:nvPr/>
        </p:nvCxnSpPr>
        <p:spPr>
          <a:xfrm rot="10800000" flipV="1">
            <a:off x="5212973" y="2836356"/>
            <a:ext cx="2334323" cy="586107"/>
          </a:xfrm>
          <a:prstGeom prst="curved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urved Connector 50">
            <a:extLst>
              <a:ext uri="{FF2B5EF4-FFF2-40B4-BE49-F238E27FC236}">
                <a16:creationId xmlns:a16="http://schemas.microsoft.com/office/drawing/2014/main" id="{71A84D71-0B62-BF47-AE45-1FB54B5FA96B}"/>
              </a:ext>
            </a:extLst>
          </p:cNvPr>
          <p:cNvCxnSpPr>
            <a:cxnSpLocks/>
            <a:stCxn id="27" idx="2"/>
            <a:endCxn id="38" idx="0"/>
          </p:cNvCxnSpPr>
          <p:nvPr/>
        </p:nvCxnSpPr>
        <p:spPr>
          <a:xfrm rot="10800000">
            <a:off x="5831800" y="3422463"/>
            <a:ext cx="1715494" cy="612002"/>
          </a:xfrm>
          <a:prstGeom prst="curvedConnector4">
            <a:avLst>
              <a:gd name="adj1" fmla="val 37638"/>
              <a:gd name="adj2" fmla="val 137353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urved Connector 53">
            <a:extLst>
              <a:ext uri="{FF2B5EF4-FFF2-40B4-BE49-F238E27FC236}">
                <a16:creationId xmlns:a16="http://schemas.microsoft.com/office/drawing/2014/main" id="{4B275DA8-3066-5F48-AD4F-779E3F5F1FDA}"/>
              </a:ext>
            </a:extLst>
          </p:cNvPr>
          <p:cNvCxnSpPr>
            <a:cxnSpLocks/>
            <a:stCxn id="28" idx="2"/>
            <a:endCxn id="37" idx="3"/>
          </p:cNvCxnSpPr>
          <p:nvPr/>
        </p:nvCxnSpPr>
        <p:spPr>
          <a:xfrm rot="10800000">
            <a:off x="6874787" y="4207293"/>
            <a:ext cx="672509" cy="1027500"/>
          </a:xfrm>
          <a:prstGeom prst="curved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1E89704-91A5-9845-A8FE-BD5A077AB757}"/>
              </a:ext>
            </a:extLst>
          </p:cNvPr>
          <p:cNvCxnSpPr/>
          <p:nvPr/>
        </p:nvCxnSpPr>
        <p:spPr>
          <a:xfrm>
            <a:off x="4254109" y="1425626"/>
            <a:ext cx="260728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1142697-EDF8-B641-9B43-3DA57D2AD750}"/>
              </a:ext>
            </a:extLst>
          </p:cNvPr>
          <p:cNvCxnSpPr>
            <a:cxnSpLocks/>
          </p:cNvCxnSpPr>
          <p:nvPr/>
        </p:nvCxnSpPr>
        <p:spPr>
          <a:xfrm>
            <a:off x="4651295" y="1425626"/>
            <a:ext cx="945757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urved Connector 62">
            <a:extLst>
              <a:ext uri="{FF2B5EF4-FFF2-40B4-BE49-F238E27FC236}">
                <a16:creationId xmlns:a16="http://schemas.microsoft.com/office/drawing/2014/main" id="{BD055F0B-C65F-774A-9B71-873224657306}"/>
              </a:ext>
            </a:extLst>
          </p:cNvPr>
          <p:cNvCxnSpPr>
            <a:cxnSpLocks/>
            <a:stCxn id="5" idx="1"/>
            <a:endCxn id="10" idx="0"/>
          </p:cNvCxnSpPr>
          <p:nvPr/>
        </p:nvCxnSpPr>
        <p:spPr>
          <a:xfrm rot="10800000" flipV="1">
            <a:off x="1889729" y="1247148"/>
            <a:ext cx="2298843" cy="274767"/>
          </a:xfrm>
          <a:prstGeom prst="curvedConnector2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urved Connector 66">
            <a:extLst>
              <a:ext uri="{FF2B5EF4-FFF2-40B4-BE49-F238E27FC236}">
                <a16:creationId xmlns:a16="http://schemas.microsoft.com/office/drawing/2014/main" id="{5D4538EA-5C93-334C-89CA-77FDF407E1A1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6133334" y="1247149"/>
            <a:ext cx="1392907" cy="1"/>
          </a:xfrm>
          <a:prstGeom prst="curvedConnector3">
            <a:avLst>
              <a:gd name="adj1" fmla="val 50000"/>
            </a:avLst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79B8DA4E-D12B-9D47-83DD-801CF9BCED22}"/>
              </a:ext>
            </a:extLst>
          </p:cNvPr>
          <p:cNvCxnSpPr>
            <a:cxnSpLocks/>
          </p:cNvCxnSpPr>
          <p:nvPr/>
        </p:nvCxnSpPr>
        <p:spPr>
          <a:xfrm>
            <a:off x="8966200" y="1425627"/>
            <a:ext cx="0" cy="398199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44EBB1F7-9A74-4D4E-8D9E-4BA8A2D7D9CD}"/>
              </a:ext>
            </a:extLst>
          </p:cNvPr>
          <p:cNvSpPr/>
          <p:nvPr/>
        </p:nvSpPr>
        <p:spPr>
          <a:xfrm>
            <a:off x="8961252" y="1429176"/>
            <a:ext cx="62869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</a:rPr>
              <a:t>MSB</a:t>
            </a:r>
            <a:endParaRPr lang="en-US" b="1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9078813C-C35C-6A45-81B8-2D2C98F9C2BF}"/>
              </a:ext>
            </a:extLst>
          </p:cNvPr>
          <p:cNvSpPr/>
          <p:nvPr/>
        </p:nvSpPr>
        <p:spPr>
          <a:xfrm>
            <a:off x="8961252" y="4978306"/>
            <a:ext cx="53572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</a:rPr>
              <a:t>LSB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66871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4" grpId="0" animBg="1"/>
      <p:bldP spid="15" grpId="0" animBg="1"/>
      <p:bldP spid="16" grpId="0" animBg="1"/>
      <p:bldP spid="25" grpId="0" animBg="1"/>
      <p:bldP spid="26" grpId="0" animBg="1"/>
      <p:bldP spid="27" grpId="0" animBg="1"/>
      <p:bldP spid="28" grpId="0" animBg="1"/>
      <p:bldP spid="32" grpId="0"/>
      <p:bldP spid="34" grpId="0"/>
      <p:bldP spid="35" grpId="0"/>
      <p:bldP spid="36" grpId="0"/>
      <p:bldP spid="37" grpId="0"/>
      <p:bldP spid="38" grpId="0"/>
      <p:bldP spid="39" grpId="0"/>
      <p:bldP spid="85" grpId="0"/>
      <p:bldP spid="8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0FF4A-AD51-3149-9523-7F29628EE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So, it’s easy right? Well…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1EA16-9EDF-BB49-B92B-0104F6D2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F15C0F-BB47-9C42-9278-881147F5CCCC}"/>
              </a:ext>
            </a:extLst>
          </p:cNvPr>
          <p:cNvSpPr/>
          <p:nvPr/>
        </p:nvSpPr>
        <p:spPr>
          <a:xfrm>
            <a:off x="1068600" y="586871"/>
            <a:ext cx="383310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3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What about: 0.</a:t>
            </a:r>
            <a:r>
              <a:rPr lang="en-US" sz="3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</a:t>
            </a:r>
            <a:r>
              <a:rPr lang="en" sz="36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6DF436-D17D-0E4D-975D-329026766BDC}"/>
              </a:ext>
            </a:extLst>
          </p:cNvPr>
          <p:cNvSpPr/>
          <p:nvPr/>
        </p:nvSpPr>
        <p:spPr>
          <a:xfrm>
            <a:off x="8289507" y="633037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</a:t>
            </a:r>
            <a:r>
              <a:rPr lang="en-US" sz="2400" dirty="0">
                <a:solidFill>
                  <a:prstClr val="black"/>
                </a:solidFill>
              </a:rPr>
              <a:t>1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0.2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C8E098-F995-E94F-88CD-C08FA1777A87}"/>
              </a:ext>
            </a:extLst>
          </p:cNvPr>
          <p:cNvSpPr/>
          <p:nvPr/>
        </p:nvSpPr>
        <p:spPr>
          <a:xfrm>
            <a:off x="8289507" y="1833366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0.2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0.4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3BC082-0388-714A-9FFC-A7709A8544DB}"/>
              </a:ext>
            </a:extLst>
          </p:cNvPr>
          <p:cNvSpPr/>
          <p:nvPr/>
        </p:nvSpPr>
        <p:spPr>
          <a:xfrm>
            <a:off x="8289507" y="3033694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0.4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0.8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7919E5-86BB-D442-9779-B3411AD86410}"/>
              </a:ext>
            </a:extLst>
          </p:cNvPr>
          <p:cNvSpPr/>
          <p:nvPr/>
        </p:nvSpPr>
        <p:spPr>
          <a:xfrm>
            <a:off x="8289507" y="4234023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0.8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1.6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C7CAF82-0908-0648-9412-20D70138283A}"/>
              </a:ext>
            </a:extLst>
          </p:cNvPr>
          <p:cNvSpPr/>
          <p:nvPr/>
        </p:nvSpPr>
        <p:spPr>
          <a:xfrm>
            <a:off x="8310560" y="1411678"/>
            <a:ext cx="247012" cy="3456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6AB5C18-F997-7F4B-ACEF-43D9A4EEE525}"/>
              </a:ext>
            </a:extLst>
          </p:cNvPr>
          <p:cNvSpPr/>
          <p:nvPr/>
        </p:nvSpPr>
        <p:spPr>
          <a:xfrm>
            <a:off x="8310560" y="2649580"/>
            <a:ext cx="247012" cy="3456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BB29C17-59C3-4F49-8790-B7801ECB3AF3}"/>
              </a:ext>
            </a:extLst>
          </p:cNvPr>
          <p:cNvSpPr/>
          <p:nvPr/>
        </p:nvSpPr>
        <p:spPr>
          <a:xfrm>
            <a:off x="8310560" y="3847689"/>
            <a:ext cx="247012" cy="3456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41EF5FA-5E8A-8345-8C54-3507836F076A}"/>
              </a:ext>
            </a:extLst>
          </p:cNvPr>
          <p:cNvSpPr/>
          <p:nvPr/>
        </p:nvSpPr>
        <p:spPr>
          <a:xfrm>
            <a:off x="8310560" y="5048017"/>
            <a:ext cx="247012" cy="3456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F29F3390-783D-8245-91E1-434C70DE3F45}"/>
              </a:ext>
            </a:extLst>
          </p:cNvPr>
          <p:cNvCxnSpPr>
            <a:cxnSpLocks/>
            <a:stCxn id="25" idx="2"/>
            <a:endCxn id="35" idx="0"/>
          </p:cNvCxnSpPr>
          <p:nvPr/>
        </p:nvCxnSpPr>
        <p:spPr>
          <a:xfrm rot="10800000" flipV="1">
            <a:off x="2274612" y="1584506"/>
            <a:ext cx="6035948" cy="1686273"/>
          </a:xfrm>
          <a:prstGeom prst="curved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D2F9D5A3-191B-5B4E-A3E7-17342B01BBF7}"/>
              </a:ext>
            </a:extLst>
          </p:cNvPr>
          <p:cNvSpPr/>
          <p:nvPr/>
        </p:nvSpPr>
        <p:spPr>
          <a:xfrm>
            <a:off x="1870495" y="3270779"/>
            <a:ext cx="808235" cy="156966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</a:t>
            </a:r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FA3FD28-603C-8547-B615-FF08C92EAD11}"/>
              </a:ext>
            </a:extLst>
          </p:cNvPr>
          <p:cNvSpPr/>
          <p:nvPr/>
        </p:nvSpPr>
        <p:spPr>
          <a:xfrm>
            <a:off x="2470741" y="3270779"/>
            <a:ext cx="848309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</a:t>
            </a:r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AC5841D-444F-A441-9459-7258C4FFF09F}"/>
              </a:ext>
            </a:extLst>
          </p:cNvPr>
          <p:cNvSpPr/>
          <p:nvPr/>
        </p:nvSpPr>
        <p:spPr>
          <a:xfrm>
            <a:off x="3708401" y="3270779"/>
            <a:ext cx="848309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</a:t>
            </a:r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4026133-043B-6345-9F3D-C2539769C363}"/>
              </a:ext>
            </a:extLst>
          </p:cNvPr>
          <p:cNvSpPr/>
          <p:nvPr/>
        </p:nvSpPr>
        <p:spPr>
          <a:xfrm>
            <a:off x="3089570" y="3270779"/>
            <a:ext cx="848309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</a:t>
            </a:r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76085B9-F0D9-C143-B1C0-812F49378F09}"/>
              </a:ext>
            </a:extLst>
          </p:cNvPr>
          <p:cNvSpPr/>
          <p:nvPr/>
        </p:nvSpPr>
        <p:spPr>
          <a:xfrm>
            <a:off x="1536619" y="3270779"/>
            <a:ext cx="452368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.</a:t>
            </a:r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5B779CC-CBB6-994C-AAB3-FE89B2191239}"/>
              </a:ext>
            </a:extLst>
          </p:cNvPr>
          <p:cNvSpPr/>
          <p:nvPr/>
        </p:nvSpPr>
        <p:spPr>
          <a:xfrm>
            <a:off x="941088" y="3270779"/>
            <a:ext cx="848309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</a:t>
            </a:r>
            <a:endParaRPr lang="en-US" dirty="0"/>
          </a:p>
        </p:txBody>
      </p:sp>
      <p:cxnSp>
        <p:nvCxnSpPr>
          <p:cNvPr id="46" name="Curved Connector 45">
            <a:extLst>
              <a:ext uri="{FF2B5EF4-FFF2-40B4-BE49-F238E27FC236}">
                <a16:creationId xmlns:a16="http://schemas.microsoft.com/office/drawing/2014/main" id="{3C76599A-9C47-264A-AE48-D8075C9E0185}"/>
              </a:ext>
            </a:extLst>
          </p:cNvPr>
          <p:cNvCxnSpPr>
            <a:cxnSpLocks/>
            <a:stCxn id="26" idx="2"/>
            <a:endCxn id="36" idx="0"/>
          </p:cNvCxnSpPr>
          <p:nvPr/>
        </p:nvCxnSpPr>
        <p:spPr>
          <a:xfrm rot="10800000" flipV="1">
            <a:off x="2894897" y="2822408"/>
            <a:ext cx="5415665" cy="448371"/>
          </a:xfrm>
          <a:prstGeom prst="curved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urved Connector 48">
            <a:extLst>
              <a:ext uri="{FF2B5EF4-FFF2-40B4-BE49-F238E27FC236}">
                <a16:creationId xmlns:a16="http://schemas.microsoft.com/office/drawing/2014/main" id="{50BF80A3-D44A-C74C-AC32-DC1F3DE9D35D}"/>
              </a:ext>
            </a:extLst>
          </p:cNvPr>
          <p:cNvCxnSpPr>
            <a:cxnSpLocks/>
            <a:stCxn id="27" idx="2"/>
            <a:endCxn id="38" idx="0"/>
          </p:cNvCxnSpPr>
          <p:nvPr/>
        </p:nvCxnSpPr>
        <p:spPr>
          <a:xfrm rot="10800000">
            <a:off x="3513724" y="3270779"/>
            <a:ext cx="4796836" cy="749738"/>
          </a:xfrm>
          <a:prstGeom prst="curvedConnector4">
            <a:avLst>
              <a:gd name="adj1" fmla="val 45579"/>
              <a:gd name="adj2" fmla="val 130491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urved Connector 51">
            <a:extLst>
              <a:ext uri="{FF2B5EF4-FFF2-40B4-BE49-F238E27FC236}">
                <a16:creationId xmlns:a16="http://schemas.microsoft.com/office/drawing/2014/main" id="{BB69FEF2-E5AD-624E-9747-E684F0922741}"/>
              </a:ext>
            </a:extLst>
          </p:cNvPr>
          <p:cNvCxnSpPr>
            <a:cxnSpLocks/>
            <a:stCxn id="28" idx="2"/>
            <a:endCxn id="37" idx="3"/>
          </p:cNvCxnSpPr>
          <p:nvPr/>
        </p:nvCxnSpPr>
        <p:spPr>
          <a:xfrm rot="10800000">
            <a:off x="4556711" y="4055609"/>
            <a:ext cx="3753851" cy="1165236"/>
          </a:xfrm>
          <a:prstGeom prst="curved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043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4.44444E-6 L 4.44444E-6 -0.35611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7806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4.44444E-6 L -5.55556E-7 -0.35611 " pathEditMode="relative" rAng="0" ptsTypes="AA">
                                      <p:cBhvr>
                                        <p:cTn id="7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7806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4.44444E-6 L 2.77778E-6 -0.35611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7806"/>
                                    </p:animMotion>
                                  </p:childTnLst>
                                </p:cTn>
                              </p:par>
                              <p:par>
                                <p:cTn id="7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-4.44444E-6 L 1.11111E-6 -0.35611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7806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44444E-6 L -3.33333E-6 -0.35611 " pathEditMode="relative" rAng="0" ptsTypes="AA">
                                      <p:cBhvr>
                                        <p:cTn id="82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7806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4.44444E-6 L -3.05556E-6 -0.35611 " pathEditMode="relative" rAng="0" ptsTypes="AA">
                                      <p:cBhvr>
                                        <p:cTn id="84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78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25" grpId="0" animBg="1"/>
      <p:bldP spid="26" grpId="0" animBg="1"/>
      <p:bldP spid="27" grpId="0" animBg="1"/>
      <p:bldP spid="28" grpId="0" animBg="1"/>
      <p:bldP spid="35" grpId="0"/>
      <p:bldP spid="35" grpId="1"/>
      <p:bldP spid="36" grpId="0"/>
      <p:bldP spid="36" grpId="1"/>
      <p:bldP spid="37" grpId="0"/>
      <p:bldP spid="37" grpId="1"/>
      <p:bldP spid="38" grpId="0"/>
      <p:bldP spid="38" grpId="1"/>
      <p:bldP spid="40" grpId="0"/>
      <p:bldP spid="4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0FF4A-AD51-3149-9523-7F29628EE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So, it’s easy right? Well……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1EA16-9EDF-BB49-B92B-0104F6D2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F15C0F-BB47-9C42-9278-881147F5CCCC}"/>
              </a:ext>
            </a:extLst>
          </p:cNvPr>
          <p:cNvSpPr/>
          <p:nvPr/>
        </p:nvSpPr>
        <p:spPr>
          <a:xfrm>
            <a:off x="1068600" y="586871"/>
            <a:ext cx="383310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3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What about: 0.</a:t>
            </a:r>
            <a:r>
              <a:rPr lang="en-US" sz="3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</a:t>
            </a:r>
            <a:r>
              <a:rPr lang="en" sz="36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6DF436-D17D-0E4D-975D-329026766BDC}"/>
              </a:ext>
            </a:extLst>
          </p:cNvPr>
          <p:cNvSpPr/>
          <p:nvPr/>
        </p:nvSpPr>
        <p:spPr>
          <a:xfrm>
            <a:off x="7120629" y="633037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0.6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1.2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C8E098-F995-E94F-88CD-C08FA1777A87}"/>
              </a:ext>
            </a:extLst>
          </p:cNvPr>
          <p:cNvSpPr/>
          <p:nvPr/>
        </p:nvSpPr>
        <p:spPr>
          <a:xfrm>
            <a:off x="7120629" y="1833366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0.2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0.4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3BC082-0388-714A-9FFC-A7709A8544DB}"/>
              </a:ext>
            </a:extLst>
          </p:cNvPr>
          <p:cNvSpPr/>
          <p:nvPr/>
        </p:nvSpPr>
        <p:spPr>
          <a:xfrm>
            <a:off x="7120629" y="3033694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0.4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0.8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7919E5-86BB-D442-9779-B3411AD86410}"/>
              </a:ext>
            </a:extLst>
          </p:cNvPr>
          <p:cNvSpPr/>
          <p:nvPr/>
        </p:nvSpPr>
        <p:spPr>
          <a:xfrm>
            <a:off x="7120629" y="4234023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0.8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1.6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C7CAF82-0908-0648-9412-20D70138283A}"/>
              </a:ext>
            </a:extLst>
          </p:cNvPr>
          <p:cNvSpPr/>
          <p:nvPr/>
        </p:nvSpPr>
        <p:spPr>
          <a:xfrm>
            <a:off x="7141682" y="1411678"/>
            <a:ext cx="247012" cy="3456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6AB5C18-F997-7F4B-ACEF-43D9A4EEE525}"/>
              </a:ext>
            </a:extLst>
          </p:cNvPr>
          <p:cNvSpPr/>
          <p:nvPr/>
        </p:nvSpPr>
        <p:spPr>
          <a:xfrm>
            <a:off x="7141682" y="2649580"/>
            <a:ext cx="247012" cy="3456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BB29C17-59C3-4F49-8790-B7801ECB3AF3}"/>
              </a:ext>
            </a:extLst>
          </p:cNvPr>
          <p:cNvSpPr/>
          <p:nvPr/>
        </p:nvSpPr>
        <p:spPr>
          <a:xfrm>
            <a:off x="7141682" y="3847689"/>
            <a:ext cx="247012" cy="3456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41EF5FA-5E8A-8345-8C54-3507836F076A}"/>
              </a:ext>
            </a:extLst>
          </p:cNvPr>
          <p:cNvSpPr/>
          <p:nvPr/>
        </p:nvSpPr>
        <p:spPr>
          <a:xfrm>
            <a:off x="7141682" y="5048017"/>
            <a:ext cx="247012" cy="3456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F29F3390-783D-8245-91E1-434C70DE3F45}"/>
              </a:ext>
            </a:extLst>
          </p:cNvPr>
          <p:cNvCxnSpPr>
            <a:cxnSpLocks/>
            <a:stCxn id="25" idx="2"/>
            <a:endCxn id="44" idx="0"/>
          </p:cNvCxnSpPr>
          <p:nvPr/>
        </p:nvCxnSpPr>
        <p:spPr>
          <a:xfrm rot="10800000" flipV="1">
            <a:off x="2295666" y="1584506"/>
            <a:ext cx="4846016" cy="2112463"/>
          </a:xfrm>
          <a:prstGeom prst="curved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735DB07-3F0D-7C4B-90B6-E2E52B9E6735}"/>
              </a:ext>
            </a:extLst>
          </p:cNvPr>
          <p:cNvGrpSpPr/>
          <p:nvPr/>
        </p:nvGrpSpPr>
        <p:grpSpPr>
          <a:xfrm>
            <a:off x="941087" y="1233201"/>
            <a:ext cx="3615622" cy="1569660"/>
            <a:chOff x="433087" y="1333500"/>
            <a:chExt cx="3615622" cy="156966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2F9D5A3-191B-5B4E-A3E7-17342B01BBF7}"/>
                </a:ext>
              </a:extLst>
            </p:cNvPr>
            <p:cNvSpPr/>
            <p:nvPr/>
          </p:nvSpPr>
          <p:spPr>
            <a:xfrm>
              <a:off x="1362494" y="1333500"/>
              <a:ext cx="808235" cy="156966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en" sz="9600" dirty="0">
                  <a:solidFill>
                    <a:prstClr val="black"/>
                  </a:solidFill>
                  <a:ea typeface="Trebuchet MS"/>
                  <a:cs typeface="Trebuchet MS"/>
                  <a:sym typeface="Trebuchet MS"/>
                </a:rPr>
                <a:t>0</a:t>
              </a:r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FA3FD28-603C-8547-B615-FF08C92EAD11}"/>
                </a:ext>
              </a:extLst>
            </p:cNvPr>
            <p:cNvSpPr/>
            <p:nvPr/>
          </p:nvSpPr>
          <p:spPr>
            <a:xfrm>
              <a:off x="1962740" y="1333500"/>
              <a:ext cx="848309" cy="1569660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" sz="9600" dirty="0">
                  <a:solidFill>
                    <a:prstClr val="black"/>
                  </a:solidFill>
                  <a:ea typeface="Trebuchet MS"/>
                  <a:cs typeface="Trebuchet MS"/>
                  <a:sym typeface="Trebuchet MS"/>
                </a:rPr>
                <a:t>0</a:t>
              </a:r>
              <a:endParaRPr lang="en-US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AC5841D-444F-A441-9459-7258C4FFF09F}"/>
                </a:ext>
              </a:extLst>
            </p:cNvPr>
            <p:cNvSpPr/>
            <p:nvPr/>
          </p:nvSpPr>
          <p:spPr>
            <a:xfrm>
              <a:off x="3200400" y="1333500"/>
              <a:ext cx="848309" cy="1569660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" sz="9600" dirty="0">
                  <a:solidFill>
                    <a:prstClr val="black"/>
                  </a:solidFill>
                  <a:ea typeface="Trebuchet MS"/>
                  <a:cs typeface="Trebuchet MS"/>
                  <a:sym typeface="Trebuchet MS"/>
                </a:rPr>
                <a:t>1</a:t>
              </a:r>
              <a:endParaRPr lang="en-US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4026133-043B-6345-9F3D-C2539769C363}"/>
                </a:ext>
              </a:extLst>
            </p:cNvPr>
            <p:cNvSpPr/>
            <p:nvPr/>
          </p:nvSpPr>
          <p:spPr>
            <a:xfrm>
              <a:off x="2581569" y="1333500"/>
              <a:ext cx="848309" cy="1569660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" sz="9600" dirty="0">
                  <a:solidFill>
                    <a:prstClr val="black"/>
                  </a:solidFill>
                  <a:ea typeface="Trebuchet MS"/>
                  <a:cs typeface="Trebuchet MS"/>
                  <a:sym typeface="Trebuchet MS"/>
                </a:rPr>
                <a:t>0</a:t>
              </a:r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76085B9-F0D9-C143-B1C0-812F49378F09}"/>
                </a:ext>
              </a:extLst>
            </p:cNvPr>
            <p:cNvSpPr/>
            <p:nvPr/>
          </p:nvSpPr>
          <p:spPr>
            <a:xfrm>
              <a:off x="1028619" y="1333500"/>
              <a:ext cx="452368" cy="1569660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" sz="9600" dirty="0">
                  <a:solidFill>
                    <a:prstClr val="black"/>
                  </a:solidFill>
                  <a:ea typeface="Trebuchet MS"/>
                  <a:cs typeface="Trebuchet MS"/>
                  <a:sym typeface="Trebuchet MS"/>
                </a:rPr>
                <a:t>.</a:t>
              </a:r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5B779CC-CBB6-994C-AAB3-FE89B2191239}"/>
                </a:ext>
              </a:extLst>
            </p:cNvPr>
            <p:cNvSpPr/>
            <p:nvPr/>
          </p:nvSpPr>
          <p:spPr>
            <a:xfrm>
              <a:off x="433087" y="1333500"/>
              <a:ext cx="848309" cy="1569660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" sz="9600" dirty="0">
                  <a:solidFill>
                    <a:prstClr val="black"/>
                  </a:solidFill>
                  <a:ea typeface="Trebuchet MS"/>
                  <a:cs typeface="Trebuchet MS"/>
                  <a:sym typeface="Trebuchet MS"/>
                </a:rPr>
                <a:t>0</a:t>
              </a:r>
              <a:endParaRPr lang="en-US" dirty="0"/>
            </a:p>
          </p:txBody>
        </p:sp>
      </p:grpSp>
      <p:cxnSp>
        <p:nvCxnSpPr>
          <p:cNvPr id="46" name="Curved Connector 45">
            <a:extLst>
              <a:ext uri="{FF2B5EF4-FFF2-40B4-BE49-F238E27FC236}">
                <a16:creationId xmlns:a16="http://schemas.microsoft.com/office/drawing/2014/main" id="{3C76599A-9C47-264A-AE48-D8075C9E0185}"/>
              </a:ext>
            </a:extLst>
          </p:cNvPr>
          <p:cNvCxnSpPr>
            <a:cxnSpLocks/>
            <a:stCxn id="26" idx="2"/>
            <a:endCxn id="45" idx="0"/>
          </p:cNvCxnSpPr>
          <p:nvPr/>
        </p:nvCxnSpPr>
        <p:spPr>
          <a:xfrm rot="10800000" flipV="1">
            <a:off x="2915951" y="2822408"/>
            <a:ext cx="4225733" cy="874561"/>
          </a:xfrm>
          <a:prstGeom prst="curved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urved Connector 48">
            <a:extLst>
              <a:ext uri="{FF2B5EF4-FFF2-40B4-BE49-F238E27FC236}">
                <a16:creationId xmlns:a16="http://schemas.microsoft.com/office/drawing/2014/main" id="{50BF80A3-D44A-C74C-AC32-DC1F3DE9D35D}"/>
              </a:ext>
            </a:extLst>
          </p:cNvPr>
          <p:cNvCxnSpPr>
            <a:cxnSpLocks/>
            <a:stCxn id="27" idx="2"/>
            <a:endCxn id="48" idx="0"/>
          </p:cNvCxnSpPr>
          <p:nvPr/>
        </p:nvCxnSpPr>
        <p:spPr>
          <a:xfrm rot="10800000">
            <a:off x="3534778" y="3696969"/>
            <a:ext cx="3606904" cy="323548"/>
          </a:xfrm>
          <a:prstGeom prst="curvedConnector4">
            <a:avLst>
              <a:gd name="adj1" fmla="val 44120"/>
              <a:gd name="adj2" fmla="val 170654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urved Connector 51">
            <a:extLst>
              <a:ext uri="{FF2B5EF4-FFF2-40B4-BE49-F238E27FC236}">
                <a16:creationId xmlns:a16="http://schemas.microsoft.com/office/drawing/2014/main" id="{BB69FEF2-E5AD-624E-9747-E684F0922741}"/>
              </a:ext>
            </a:extLst>
          </p:cNvPr>
          <p:cNvCxnSpPr>
            <a:cxnSpLocks/>
            <a:stCxn id="28" idx="2"/>
            <a:endCxn id="47" idx="3"/>
          </p:cNvCxnSpPr>
          <p:nvPr/>
        </p:nvCxnSpPr>
        <p:spPr>
          <a:xfrm rot="10800000">
            <a:off x="4577765" y="4481799"/>
            <a:ext cx="2563919" cy="739046"/>
          </a:xfrm>
          <a:prstGeom prst="curved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0B43500B-26D3-2A48-B1D4-7FAC293B3245}"/>
              </a:ext>
            </a:extLst>
          </p:cNvPr>
          <p:cNvSpPr/>
          <p:nvPr/>
        </p:nvSpPr>
        <p:spPr>
          <a:xfrm>
            <a:off x="8289507" y="633037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</a:t>
            </a:r>
            <a:r>
              <a:rPr lang="en-US" sz="2400" dirty="0">
                <a:solidFill>
                  <a:prstClr val="black"/>
                </a:solidFill>
              </a:rPr>
              <a:t>1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0.2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78D33CC-3DBE-F748-9B1D-B73A06B7FC18}"/>
              </a:ext>
            </a:extLst>
          </p:cNvPr>
          <p:cNvSpPr/>
          <p:nvPr/>
        </p:nvSpPr>
        <p:spPr>
          <a:xfrm>
            <a:off x="8289507" y="1833366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0.2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0.4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2A7D56E-A759-F04E-9AC6-2736459628CE}"/>
              </a:ext>
            </a:extLst>
          </p:cNvPr>
          <p:cNvSpPr/>
          <p:nvPr/>
        </p:nvSpPr>
        <p:spPr>
          <a:xfrm>
            <a:off x="8289507" y="3033694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0.4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0.8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31357A2-49A9-9149-A845-08BEB7386B4E}"/>
              </a:ext>
            </a:extLst>
          </p:cNvPr>
          <p:cNvSpPr/>
          <p:nvPr/>
        </p:nvSpPr>
        <p:spPr>
          <a:xfrm>
            <a:off x="8289507" y="4234023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0.8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1.6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83C87DB-B0CB-E945-A5FC-850D33DC864C}"/>
              </a:ext>
            </a:extLst>
          </p:cNvPr>
          <p:cNvSpPr/>
          <p:nvPr/>
        </p:nvSpPr>
        <p:spPr>
          <a:xfrm>
            <a:off x="1891549" y="3696969"/>
            <a:ext cx="808235" cy="156966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</a:t>
            </a:r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7FEDF19-63A4-EF42-AF3C-1F7BD43160C9}"/>
              </a:ext>
            </a:extLst>
          </p:cNvPr>
          <p:cNvSpPr/>
          <p:nvPr/>
        </p:nvSpPr>
        <p:spPr>
          <a:xfrm>
            <a:off x="2491795" y="3696969"/>
            <a:ext cx="848309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</a:t>
            </a:r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0312B5E-5872-7243-9790-C7398A2ADA6D}"/>
              </a:ext>
            </a:extLst>
          </p:cNvPr>
          <p:cNvSpPr/>
          <p:nvPr/>
        </p:nvSpPr>
        <p:spPr>
          <a:xfrm>
            <a:off x="3729455" y="3696969"/>
            <a:ext cx="848309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</a:t>
            </a:r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804DF5B-8852-974A-B749-0B1C66087371}"/>
              </a:ext>
            </a:extLst>
          </p:cNvPr>
          <p:cNvSpPr/>
          <p:nvPr/>
        </p:nvSpPr>
        <p:spPr>
          <a:xfrm>
            <a:off x="3110624" y="3696969"/>
            <a:ext cx="848309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705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3.33333E-6 L 3.88889E-6 -0.25334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667"/>
                                    </p:animMotion>
                                  </p:childTnLst>
                                </p:cTn>
                              </p:par>
                              <p:par>
                                <p:cTn id="7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3.33333E-6 L -1.11111E-6 -0.25334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667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3.33333E-6 L -4.16667E-6 -0.25334 " pathEditMode="relative" rAng="0" ptsTypes="AA">
                                      <p:cBhvr>
                                        <p:cTn id="82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667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3.33333E-6 L 5.55556E-7 -0.25334 " pathEditMode="relative" rAng="0" ptsTypes="AA">
                                      <p:cBhvr>
                                        <p:cTn id="84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25" grpId="0" animBg="1"/>
      <p:bldP spid="26" grpId="0" animBg="1"/>
      <p:bldP spid="27" grpId="0" animBg="1"/>
      <p:bldP spid="28" grpId="0" animBg="1"/>
      <p:bldP spid="44" grpId="0"/>
      <p:bldP spid="44" grpId="1"/>
      <p:bldP spid="45" grpId="0"/>
      <p:bldP spid="45" grpId="1"/>
      <p:bldP spid="47" grpId="0"/>
      <p:bldP spid="47" grpId="1"/>
      <p:bldP spid="48" grpId="0"/>
      <p:bldP spid="48" grpId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0FF4A-AD51-3149-9523-7F29628EE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So, it’s easy right? Well………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1EA16-9EDF-BB49-B92B-0104F6D2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F15C0F-BB47-9C42-9278-881147F5CCCC}"/>
              </a:ext>
            </a:extLst>
          </p:cNvPr>
          <p:cNvSpPr/>
          <p:nvPr/>
        </p:nvSpPr>
        <p:spPr>
          <a:xfrm>
            <a:off x="1068600" y="586871"/>
            <a:ext cx="383310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3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What about: 0.</a:t>
            </a:r>
            <a:r>
              <a:rPr lang="en-US" sz="3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</a:t>
            </a:r>
            <a:r>
              <a:rPr lang="en" sz="36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6DF436-D17D-0E4D-975D-329026766BDC}"/>
              </a:ext>
            </a:extLst>
          </p:cNvPr>
          <p:cNvSpPr/>
          <p:nvPr/>
        </p:nvSpPr>
        <p:spPr>
          <a:xfrm>
            <a:off x="6001299" y="633037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0.6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1.2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C8E098-F995-E94F-88CD-C08FA1777A87}"/>
              </a:ext>
            </a:extLst>
          </p:cNvPr>
          <p:cNvSpPr/>
          <p:nvPr/>
        </p:nvSpPr>
        <p:spPr>
          <a:xfrm>
            <a:off x="6001299" y="1833366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0.2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0.4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3BC082-0388-714A-9FFC-A7709A8544DB}"/>
              </a:ext>
            </a:extLst>
          </p:cNvPr>
          <p:cNvSpPr/>
          <p:nvPr/>
        </p:nvSpPr>
        <p:spPr>
          <a:xfrm>
            <a:off x="6001299" y="3033694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0.4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0.8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7919E5-86BB-D442-9779-B3411AD86410}"/>
              </a:ext>
            </a:extLst>
          </p:cNvPr>
          <p:cNvSpPr/>
          <p:nvPr/>
        </p:nvSpPr>
        <p:spPr>
          <a:xfrm>
            <a:off x="6001299" y="4234023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0.8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1.6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C7CAF82-0908-0648-9412-20D70138283A}"/>
              </a:ext>
            </a:extLst>
          </p:cNvPr>
          <p:cNvSpPr/>
          <p:nvPr/>
        </p:nvSpPr>
        <p:spPr>
          <a:xfrm>
            <a:off x="6022352" y="1411678"/>
            <a:ext cx="247012" cy="3456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6AB5C18-F997-7F4B-ACEF-43D9A4EEE525}"/>
              </a:ext>
            </a:extLst>
          </p:cNvPr>
          <p:cNvSpPr/>
          <p:nvPr/>
        </p:nvSpPr>
        <p:spPr>
          <a:xfrm>
            <a:off x="6022352" y="2649580"/>
            <a:ext cx="247012" cy="3456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BB29C17-59C3-4F49-8790-B7801ECB3AF3}"/>
              </a:ext>
            </a:extLst>
          </p:cNvPr>
          <p:cNvSpPr/>
          <p:nvPr/>
        </p:nvSpPr>
        <p:spPr>
          <a:xfrm>
            <a:off x="6022352" y="3847689"/>
            <a:ext cx="247012" cy="3456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41EF5FA-5E8A-8345-8C54-3507836F076A}"/>
              </a:ext>
            </a:extLst>
          </p:cNvPr>
          <p:cNvSpPr/>
          <p:nvPr/>
        </p:nvSpPr>
        <p:spPr>
          <a:xfrm>
            <a:off x="6022352" y="5048017"/>
            <a:ext cx="247012" cy="3456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F29F3390-783D-8245-91E1-434C70DE3F45}"/>
              </a:ext>
            </a:extLst>
          </p:cNvPr>
          <p:cNvCxnSpPr>
            <a:cxnSpLocks/>
            <a:stCxn id="25" idx="2"/>
            <a:endCxn id="44" idx="0"/>
          </p:cNvCxnSpPr>
          <p:nvPr/>
        </p:nvCxnSpPr>
        <p:spPr>
          <a:xfrm rot="10800000" flipV="1">
            <a:off x="2295666" y="1584506"/>
            <a:ext cx="3726686" cy="2112463"/>
          </a:xfrm>
          <a:prstGeom prst="curved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735DB07-3F0D-7C4B-90B6-E2E52B9E6735}"/>
              </a:ext>
            </a:extLst>
          </p:cNvPr>
          <p:cNvGrpSpPr/>
          <p:nvPr/>
        </p:nvGrpSpPr>
        <p:grpSpPr>
          <a:xfrm>
            <a:off x="941087" y="1233201"/>
            <a:ext cx="3615622" cy="1569660"/>
            <a:chOff x="433087" y="1333500"/>
            <a:chExt cx="3615622" cy="156966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2F9D5A3-191B-5B4E-A3E7-17342B01BBF7}"/>
                </a:ext>
              </a:extLst>
            </p:cNvPr>
            <p:cNvSpPr/>
            <p:nvPr/>
          </p:nvSpPr>
          <p:spPr>
            <a:xfrm>
              <a:off x="1362494" y="1333500"/>
              <a:ext cx="808235" cy="156966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en" sz="9600" dirty="0">
                  <a:solidFill>
                    <a:prstClr val="black"/>
                  </a:solidFill>
                  <a:ea typeface="Trebuchet MS"/>
                  <a:cs typeface="Trebuchet MS"/>
                  <a:sym typeface="Trebuchet MS"/>
                </a:rPr>
                <a:t>0</a:t>
              </a:r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FA3FD28-603C-8547-B615-FF08C92EAD11}"/>
                </a:ext>
              </a:extLst>
            </p:cNvPr>
            <p:cNvSpPr/>
            <p:nvPr/>
          </p:nvSpPr>
          <p:spPr>
            <a:xfrm>
              <a:off x="1962740" y="1333500"/>
              <a:ext cx="848309" cy="1569660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" sz="9600" dirty="0">
                  <a:solidFill>
                    <a:prstClr val="black"/>
                  </a:solidFill>
                  <a:ea typeface="Trebuchet MS"/>
                  <a:cs typeface="Trebuchet MS"/>
                  <a:sym typeface="Trebuchet MS"/>
                </a:rPr>
                <a:t>0</a:t>
              </a:r>
              <a:endParaRPr lang="en-US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AC5841D-444F-A441-9459-7258C4FFF09F}"/>
                </a:ext>
              </a:extLst>
            </p:cNvPr>
            <p:cNvSpPr/>
            <p:nvPr/>
          </p:nvSpPr>
          <p:spPr>
            <a:xfrm>
              <a:off x="3200400" y="1333500"/>
              <a:ext cx="848309" cy="1569660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" sz="9600" dirty="0">
                  <a:solidFill>
                    <a:prstClr val="black"/>
                  </a:solidFill>
                  <a:ea typeface="Trebuchet MS"/>
                  <a:cs typeface="Trebuchet MS"/>
                  <a:sym typeface="Trebuchet MS"/>
                </a:rPr>
                <a:t>1</a:t>
              </a:r>
              <a:endParaRPr lang="en-US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4026133-043B-6345-9F3D-C2539769C363}"/>
                </a:ext>
              </a:extLst>
            </p:cNvPr>
            <p:cNvSpPr/>
            <p:nvPr/>
          </p:nvSpPr>
          <p:spPr>
            <a:xfrm>
              <a:off x="2581569" y="1333500"/>
              <a:ext cx="848309" cy="1569660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" sz="9600" dirty="0">
                  <a:solidFill>
                    <a:prstClr val="black"/>
                  </a:solidFill>
                  <a:ea typeface="Trebuchet MS"/>
                  <a:cs typeface="Trebuchet MS"/>
                  <a:sym typeface="Trebuchet MS"/>
                </a:rPr>
                <a:t>0</a:t>
              </a:r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76085B9-F0D9-C143-B1C0-812F49378F09}"/>
                </a:ext>
              </a:extLst>
            </p:cNvPr>
            <p:cNvSpPr/>
            <p:nvPr/>
          </p:nvSpPr>
          <p:spPr>
            <a:xfrm>
              <a:off x="1028619" y="1333500"/>
              <a:ext cx="452368" cy="1569660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" sz="9600" dirty="0">
                  <a:solidFill>
                    <a:prstClr val="black"/>
                  </a:solidFill>
                  <a:ea typeface="Trebuchet MS"/>
                  <a:cs typeface="Trebuchet MS"/>
                  <a:sym typeface="Trebuchet MS"/>
                </a:rPr>
                <a:t>.</a:t>
              </a:r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5B779CC-CBB6-994C-AAB3-FE89B2191239}"/>
                </a:ext>
              </a:extLst>
            </p:cNvPr>
            <p:cNvSpPr/>
            <p:nvPr/>
          </p:nvSpPr>
          <p:spPr>
            <a:xfrm>
              <a:off x="433087" y="1333500"/>
              <a:ext cx="848309" cy="1569660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" sz="9600" dirty="0">
                  <a:solidFill>
                    <a:prstClr val="black"/>
                  </a:solidFill>
                  <a:ea typeface="Trebuchet MS"/>
                  <a:cs typeface="Trebuchet MS"/>
                  <a:sym typeface="Trebuchet MS"/>
                </a:rPr>
                <a:t>0</a:t>
              </a:r>
              <a:endParaRPr lang="en-US" dirty="0"/>
            </a:p>
          </p:txBody>
        </p:sp>
      </p:grpSp>
      <p:cxnSp>
        <p:nvCxnSpPr>
          <p:cNvPr id="46" name="Curved Connector 45">
            <a:extLst>
              <a:ext uri="{FF2B5EF4-FFF2-40B4-BE49-F238E27FC236}">
                <a16:creationId xmlns:a16="http://schemas.microsoft.com/office/drawing/2014/main" id="{3C76599A-9C47-264A-AE48-D8075C9E0185}"/>
              </a:ext>
            </a:extLst>
          </p:cNvPr>
          <p:cNvCxnSpPr>
            <a:cxnSpLocks/>
            <a:stCxn id="26" idx="2"/>
            <a:endCxn id="45" idx="0"/>
          </p:cNvCxnSpPr>
          <p:nvPr/>
        </p:nvCxnSpPr>
        <p:spPr>
          <a:xfrm rot="10800000" flipV="1">
            <a:off x="2915951" y="2822408"/>
            <a:ext cx="3106403" cy="874561"/>
          </a:xfrm>
          <a:prstGeom prst="curved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urved Connector 48">
            <a:extLst>
              <a:ext uri="{FF2B5EF4-FFF2-40B4-BE49-F238E27FC236}">
                <a16:creationId xmlns:a16="http://schemas.microsoft.com/office/drawing/2014/main" id="{50BF80A3-D44A-C74C-AC32-DC1F3DE9D35D}"/>
              </a:ext>
            </a:extLst>
          </p:cNvPr>
          <p:cNvCxnSpPr>
            <a:cxnSpLocks/>
            <a:stCxn id="27" idx="2"/>
            <a:endCxn id="48" idx="0"/>
          </p:cNvCxnSpPr>
          <p:nvPr/>
        </p:nvCxnSpPr>
        <p:spPr>
          <a:xfrm rot="10800000">
            <a:off x="3534778" y="3696969"/>
            <a:ext cx="2487574" cy="323548"/>
          </a:xfrm>
          <a:prstGeom prst="curvedConnector4">
            <a:avLst>
              <a:gd name="adj1" fmla="val 41475"/>
              <a:gd name="adj2" fmla="val 170654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urved Connector 51">
            <a:extLst>
              <a:ext uri="{FF2B5EF4-FFF2-40B4-BE49-F238E27FC236}">
                <a16:creationId xmlns:a16="http://schemas.microsoft.com/office/drawing/2014/main" id="{BB69FEF2-E5AD-624E-9747-E684F0922741}"/>
              </a:ext>
            </a:extLst>
          </p:cNvPr>
          <p:cNvCxnSpPr>
            <a:cxnSpLocks/>
            <a:stCxn id="28" idx="2"/>
            <a:endCxn id="47" idx="3"/>
          </p:cNvCxnSpPr>
          <p:nvPr/>
        </p:nvCxnSpPr>
        <p:spPr>
          <a:xfrm rot="10800000">
            <a:off x="4577765" y="4481799"/>
            <a:ext cx="1444589" cy="739046"/>
          </a:xfrm>
          <a:prstGeom prst="curved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0B43500B-26D3-2A48-B1D4-7FAC293B3245}"/>
              </a:ext>
            </a:extLst>
          </p:cNvPr>
          <p:cNvSpPr/>
          <p:nvPr/>
        </p:nvSpPr>
        <p:spPr>
          <a:xfrm>
            <a:off x="8289507" y="633037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</a:t>
            </a:r>
            <a:r>
              <a:rPr lang="en-US" sz="2400" dirty="0">
                <a:solidFill>
                  <a:prstClr val="black"/>
                </a:solidFill>
              </a:rPr>
              <a:t>1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0.2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78D33CC-3DBE-F748-9B1D-B73A06B7FC18}"/>
              </a:ext>
            </a:extLst>
          </p:cNvPr>
          <p:cNvSpPr/>
          <p:nvPr/>
        </p:nvSpPr>
        <p:spPr>
          <a:xfrm>
            <a:off x="8289507" y="1833366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0.2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0.4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2A7D56E-A759-F04E-9AC6-2736459628CE}"/>
              </a:ext>
            </a:extLst>
          </p:cNvPr>
          <p:cNvSpPr/>
          <p:nvPr/>
        </p:nvSpPr>
        <p:spPr>
          <a:xfrm>
            <a:off x="8289507" y="3033694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0.4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0.8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31357A2-49A9-9149-A845-08BEB7386B4E}"/>
              </a:ext>
            </a:extLst>
          </p:cNvPr>
          <p:cNvSpPr/>
          <p:nvPr/>
        </p:nvSpPr>
        <p:spPr>
          <a:xfrm>
            <a:off x="8289507" y="4234023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0.8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1.6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83C87DB-B0CB-E945-A5FC-850D33DC864C}"/>
              </a:ext>
            </a:extLst>
          </p:cNvPr>
          <p:cNvSpPr/>
          <p:nvPr/>
        </p:nvSpPr>
        <p:spPr>
          <a:xfrm>
            <a:off x="1891549" y="3696969"/>
            <a:ext cx="808235" cy="156966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</a:t>
            </a:r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7FEDF19-63A4-EF42-AF3C-1F7BD43160C9}"/>
              </a:ext>
            </a:extLst>
          </p:cNvPr>
          <p:cNvSpPr/>
          <p:nvPr/>
        </p:nvSpPr>
        <p:spPr>
          <a:xfrm>
            <a:off x="2491795" y="3696969"/>
            <a:ext cx="848309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</a:t>
            </a:r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0312B5E-5872-7243-9790-C7398A2ADA6D}"/>
              </a:ext>
            </a:extLst>
          </p:cNvPr>
          <p:cNvSpPr/>
          <p:nvPr/>
        </p:nvSpPr>
        <p:spPr>
          <a:xfrm>
            <a:off x="3729455" y="3696969"/>
            <a:ext cx="848309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</a:t>
            </a:r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804DF5B-8852-974A-B749-0B1C66087371}"/>
              </a:ext>
            </a:extLst>
          </p:cNvPr>
          <p:cNvSpPr/>
          <p:nvPr/>
        </p:nvSpPr>
        <p:spPr>
          <a:xfrm>
            <a:off x="3110624" y="3696969"/>
            <a:ext cx="848309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FCD2182-6544-F044-930B-4FC808FEC24F}"/>
              </a:ext>
            </a:extLst>
          </p:cNvPr>
          <p:cNvGrpSpPr/>
          <p:nvPr/>
        </p:nvGrpSpPr>
        <p:grpSpPr>
          <a:xfrm>
            <a:off x="1891549" y="2212125"/>
            <a:ext cx="2686215" cy="1569660"/>
            <a:chOff x="1535948" y="3849369"/>
            <a:chExt cx="2686215" cy="156966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52DF848-F355-0A44-9EC9-719BF381A1F8}"/>
                </a:ext>
              </a:extLst>
            </p:cNvPr>
            <p:cNvSpPr/>
            <p:nvPr/>
          </p:nvSpPr>
          <p:spPr>
            <a:xfrm>
              <a:off x="1535948" y="3849369"/>
              <a:ext cx="808235" cy="156966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en" sz="9600" dirty="0">
                  <a:solidFill>
                    <a:prstClr val="black"/>
                  </a:solidFill>
                  <a:ea typeface="Trebuchet MS"/>
                  <a:cs typeface="Trebuchet MS"/>
                  <a:sym typeface="Trebuchet MS"/>
                </a:rPr>
                <a:t>1</a:t>
              </a:r>
              <a:endParaRPr lang="en-US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E47D255-BF78-3549-9129-A68D296ECF13}"/>
                </a:ext>
              </a:extLst>
            </p:cNvPr>
            <p:cNvSpPr/>
            <p:nvPr/>
          </p:nvSpPr>
          <p:spPr>
            <a:xfrm>
              <a:off x="2136194" y="3849369"/>
              <a:ext cx="848309" cy="1569660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" sz="9600" dirty="0">
                  <a:solidFill>
                    <a:prstClr val="black"/>
                  </a:solidFill>
                  <a:ea typeface="Trebuchet MS"/>
                  <a:cs typeface="Trebuchet MS"/>
                  <a:sym typeface="Trebuchet MS"/>
                </a:rPr>
                <a:t>0</a:t>
              </a:r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3A021CD-1438-E74B-B0B9-AACFF6316742}"/>
                </a:ext>
              </a:extLst>
            </p:cNvPr>
            <p:cNvSpPr/>
            <p:nvPr/>
          </p:nvSpPr>
          <p:spPr>
            <a:xfrm>
              <a:off x="3373854" y="3849369"/>
              <a:ext cx="848309" cy="1569660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" sz="9600" dirty="0">
                  <a:solidFill>
                    <a:prstClr val="black"/>
                  </a:solidFill>
                  <a:ea typeface="Trebuchet MS"/>
                  <a:cs typeface="Trebuchet MS"/>
                  <a:sym typeface="Trebuchet MS"/>
                </a:rPr>
                <a:t>1</a:t>
              </a:r>
              <a:endParaRPr lang="en-US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DBF42C3-EABB-FB40-B44E-ECF876C7DDB3}"/>
                </a:ext>
              </a:extLst>
            </p:cNvPr>
            <p:cNvSpPr/>
            <p:nvPr/>
          </p:nvSpPr>
          <p:spPr>
            <a:xfrm>
              <a:off x="2755023" y="3849369"/>
              <a:ext cx="848309" cy="1569660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" sz="9600" dirty="0">
                  <a:solidFill>
                    <a:prstClr val="black"/>
                  </a:solidFill>
                  <a:ea typeface="Trebuchet MS"/>
                  <a:cs typeface="Trebuchet MS"/>
                  <a:sym typeface="Trebuchet MS"/>
                </a:rPr>
                <a:t>0</a:t>
              </a:r>
              <a:endParaRPr lang="en-US" dirty="0"/>
            </a:p>
          </p:txBody>
        </p: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6384E4BF-7C14-CD47-92A2-F1B17A590B23}"/>
              </a:ext>
            </a:extLst>
          </p:cNvPr>
          <p:cNvSpPr/>
          <p:nvPr/>
        </p:nvSpPr>
        <p:spPr>
          <a:xfrm>
            <a:off x="7120629" y="633037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0.6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1.2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B44F1AD-A845-3540-BD46-7952F11E8428}"/>
              </a:ext>
            </a:extLst>
          </p:cNvPr>
          <p:cNvSpPr/>
          <p:nvPr/>
        </p:nvSpPr>
        <p:spPr>
          <a:xfrm>
            <a:off x="7120629" y="1833366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0.2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0.4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A6E49BE-F54D-894E-BA89-549255E4F972}"/>
              </a:ext>
            </a:extLst>
          </p:cNvPr>
          <p:cNvSpPr/>
          <p:nvPr/>
        </p:nvSpPr>
        <p:spPr>
          <a:xfrm>
            <a:off x="7120629" y="3033694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0.4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0.8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68EA6A6-7590-D14E-8C42-3022BB5CC9D7}"/>
              </a:ext>
            </a:extLst>
          </p:cNvPr>
          <p:cNvSpPr/>
          <p:nvPr/>
        </p:nvSpPr>
        <p:spPr>
          <a:xfrm>
            <a:off x="7120629" y="4234023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0.8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1.6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3A9D6E8-DF90-CE4B-9F19-78E90BCD8768}"/>
              </a:ext>
            </a:extLst>
          </p:cNvPr>
          <p:cNvSpPr/>
          <p:nvPr/>
        </p:nvSpPr>
        <p:spPr>
          <a:xfrm>
            <a:off x="2430904" y="4048273"/>
            <a:ext cx="452368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.</a:t>
            </a:r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A6A6E02-FFA5-E949-A4DA-CB2CF7F7AC34}"/>
              </a:ext>
            </a:extLst>
          </p:cNvPr>
          <p:cNvSpPr/>
          <p:nvPr/>
        </p:nvSpPr>
        <p:spPr>
          <a:xfrm>
            <a:off x="2914494" y="4048273"/>
            <a:ext cx="452368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.</a:t>
            </a:r>
            <a:endParaRPr lang="en-US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FB5D24F-5D27-664F-8623-0D776FC0DC83}"/>
              </a:ext>
            </a:extLst>
          </p:cNvPr>
          <p:cNvSpPr/>
          <p:nvPr/>
        </p:nvSpPr>
        <p:spPr>
          <a:xfrm>
            <a:off x="3434530" y="4048273"/>
            <a:ext cx="452368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601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3.33333E-6 L 3.88889E-6 -0.07084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556"/>
                                    </p:animMotion>
                                  </p:childTnLst>
                                </p:cTn>
                              </p:par>
                              <p:par>
                                <p:cTn id="7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3.33333E-6 L -1.11111E-6 -0.07084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556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3.33333E-6 L -4.16667E-6 -0.07084 " pathEditMode="relative" rAng="0" ptsTypes="AA">
                                      <p:cBhvr>
                                        <p:cTn id="82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556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3.33333E-6 L 5.55556E-7 -0.07084 " pathEditMode="relative" rAng="0" ptsTypes="AA">
                                      <p:cBhvr>
                                        <p:cTn id="84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000"/>
                            </p:stCondLst>
                            <p:childTnLst>
                              <p:par>
                                <p:cTn id="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25" grpId="0" animBg="1"/>
      <p:bldP spid="26" grpId="0" animBg="1"/>
      <p:bldP spid="27" grpId="0" animBg="1"/>
      <p:bldP spid="28" grpId="0" animBg="1"/>
      <p:bldP spid="44" grpId="0"/>
      <p:bldP spid="44" grpId="1"/>
      <p:bldP spid="45" grpId="0"/>
      <p:bldP spid="45" grpId="1"/>
      <p:bldP spid="47" grpId="0"/>
      <p:bldP spid="47" grpId="1"/>
      <p:bldP spid="48" grpId="0"/>
      <p:bldP spid="48" grpId="1"/>
      <p:bldP spid="61" grpId="0"/>
      <p:bldP spid="62" grpId="0"/>
      <p:bldP spid="6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0FF4A-AD51-3149-9523-7F29628EE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much is it worth?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1EA16-9EDF-BB49-B92B-0104F6D2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F15C0F-BB47-9C42-9278-881147F5CCCC}"/>
              </a:ext>
            </a:extLst>
          </p:cNvPr>
          <p:cNvSpPr/>
          <p:nvPr/>
        </p:nvSpPr>
        <p:spPr>
          <a:xfrm>
            <a:off x="812800" y="667860"/>
            <a:ext cx="768171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n-GB" sz="3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Well, it depends on where you stop!</a:t>
            </a:r>
            <a:endParaRPr lang="en" sz="3600" baseline="-25000" dirty="0">
              <a:solidFill>
                <a:prstClr val="black"/>
              </a:solidFill>
              <a:ea typeface="Trebuchet MS"/>
              <a:cs typeface="Trebuchet MS"/>
              <a:sym typeface="Trebuchet MS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D5D0006-7B13-7A49-9958-C81E331104E5}"/>
              </a:ext>
            </a:extLst>
          </p:cNvPr>
          <p:cNvSpPr/>
          <p:nvPr/>
        </p:nvSpPr>
        <p:spPr>
          <a:xfrm>
            <a:off x="6907620" y="1556364"/>
            <a:ext cx="2668016" cy="92333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en" sz="5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0.0625</a:t>
            </a:r>
            <a:endParaRPr lang="en-US" sz="900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1FF4195-6EB6-8C4E-8E16-D7B7DF6E23A7}"/>
              </a:ext>
            </a:extLst>
          </p:cNvPr>
          <p:cNvSpPr/>
          <p:nvPr/>
        </p:nvSpPr>
        <p:spPr>
          <a:xfrm>
            <a:off x="622074" y="1556364"/>
            <a:ext cx="2480166" cy="92333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5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0.0001</a:t>
            </a:r>
            <a:r>
              <a:rPr lang="en" sz="40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 2</a:t>
            </a:r>
            <a:endParaRPr lang="en-US" sz="9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B946436-C50F-E444-8ED8-33CF90229610}"/>
              </a:ext>
            </a:extLst>
          </p:cNvPr>
          <p:cNvSpPr/>
          <p:nvPr/>
        </p:nvSpPr>
        <p:spPr>
          <a:xfrm>
            <a:off x="6907016" y="2636351"/>
            <a:ext cx="2744984" cy="92333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en" sz="5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0.0976…</a:t>
            </a:r>
            <a:endParaRPr lang="en-US" sz="900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EC7CAD4-9026-6E44-8EEE-DB3996456DD4}"/>
              </a:ext>
            </a:extLst>
          </p:cNvPr>
          <p:cNvSpPr/>
          <p:nvPr/>
        </p:nvSpPr>
        <p:spPr>
          <a:xfrm>
            <a:off x="622074" y="2636351"/>
            <a:ext cx="4011034" cy="92333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5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0.00011001</a:t>
            </a:r>
            <a:r>
              <a:rPr lang="en" sz="40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 2</a:t>
            </a:r>
            <a:r>
              <a:rPr lang="en" sz="16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 </a:t>
            </a:r>
            <a:endParaRPr lang="en-US" sz="900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5FCD451-CC9E-E348-9629-350242F2BE01}"/>
              </a:ext>
            </a:extLst>
          </p:cNvPr>
          <p:cNvSpPr/>
          <p:nvPr/>
        </p:nvSpPr>
        <p:spPr>
          <a:xfrm>
            <a:off x="6951712" y="3924300"/>
            <a:ext cx="2700289" cy="92333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en" sz="5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0.0998…</a:t>
            </a:r>
            <a:endParaRPr lang="en-US" sz="900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A5C9ED6-E3B9-A144-989F-17CC1B311A3C}"/>
              </a:ext>
            </a:extLst>
          </p:cNvPr>
          <p:cNvSpPr/>
          <p:nvPr/>
        </p:nvSpPr>
        <p:spPr>
          <a:xfrm>
            <a:off x="622172" y="3924300"/>
            <a:ext cx="5468164" cy="92333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5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0.000110011001</a:t>
            </a:r>
            <a:r>
              <a:rPr lang="en" sz="40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 2</a:t>
            </a:r>
            <a:endParaRPr lang="en-US" sz="1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B9B807-B1D7-A34D-B202-20A6BEAD49AC}"/>
              </a:ext>
            </a:extLst>
          </p:cNvPr>
          <p:cNvSpPr/>
          <p:nvPr/>
        </p:nvSpPr>
        <p:spPr>
          <a:xfrm>
            <a:off x="6048746" y="1556364"/>
            <a:ext cx="65915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sz="5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=</a:t>
            </a:r>
            <a:endParaRPr lang="en-US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82580F5-D6DA-164A-9F03-10C211678B20}"/>
              </a:ext>
            </a:extLst>
          </p:cNvPr>
          <p:cNvSpPr/>
          <p:nvPr/>
        </p:nvSpPr>
        <p:spPr>
          <a:xfrm>
            <a:off x="6048746" y="2636351"/>
            <a:ext cx="65915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sz="5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=</a:t>
            </a:r>
            <a:endParaRPr lang="en-US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286D115-31B1-FF48-8F1B-FBE2BE1334A5}"/>
              </a:ext>
            </a:extLst>
          </p:cNvPr>
          <p:cNvSpPr/>
          <p:nvPr/>
        </p:nvSpPr>
        <p:spPr>
          <a:xfrm>
            <a:off x="6048746" y="3924300"/>
            <a:ext cx="65915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sz="5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=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388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64" grpId="0"/>
      <p:bldP spid="65" grpId="0"/>
      <p:bldP spid="66" grpId="0"/>
      <p:bldP spid="67" grpId="0"/>
      <p:bldP spid="68" grpId="0"/>
      <p:bldP spid="10" grpId="0"/>
      <p:bldP spid="69" grpId="0"/>
      <p:bldP spid="7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2FC82-4420-6C49-ABDF-03E661C68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Limited space!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41597-A569-6F45-8E3B-57DC921DB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450" y="749300"/>
            <a:ext cx="9036050" cy="4398169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How much should we store?</a:t>
            </a:r>
          </a:p>
          <a:p>
            <a:pPr lvl="1"/>
            <a:r>
              <a:rPr lang="en-US" dirty="0"/>
              <a:t>We have 32-bit registers, so 32-bits?</a:t>
            </a:r>
          </a:p>
          <a:p>
            <a:pPr lvl="2"/>
            <a:r>
              <a:rPr lang="en-US" dirty="0"/>
              <a:t>Let’s say we do!</a:t>
            </a:r>
          </a:p>
          <a:p>
            <a:endParaRPr lang="en-US" dirty="0"/>
          </a:p>
          <a:p>
            <a:r>
              <a:rPr lang="en-US" dirty="0"/>
              <a:t>How many bits are used to store the integer part?</a:t>
            </a:r>
          </a:p>
          <a:p>
            <a:r>
              <a:rPr lang="en-US" dirty="0"/>
              <a:t>How many bits are used to store the fractional part?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are the tradeoffs?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E3239-A45D-CB42-86E5-59D09978D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50</a:t>
            </a:fld>
            <a:endParaRPr lang="en-US"/>
          </a:p>
        </p:txBody>
      </p:sp>
      <p:pic>
        <p:nvPicPr>
          <p:cNvPr id="9218" name="Picture 2" descr="Image result for scream painting">
            <a:extLst>
              <a:ext uri="{FF2B5EF4-FFF2-40B4-BE49-F238E27FC236}">
                <a16:creationId xmlns:a16="http://schemas.microsoft.com/office/drawing/2014/main" id="{3767E2E6-872C-C04A-B03D-AE4BD8EC2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7900" y="2628900"/>
            <a:ext cx="812798" cy="457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4488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3830</TotalTime>
  <Words>3778</Words>
  <Application>Microsoft Office PowerPoint</Application>
  <PresentationFormat>Custom</PresentationFormat>
  <Paragraphs>926</Paragraphs>
  <Slides>50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9" baseType="lpstr">
      <vt:lpstr>Arial</vt:lpstr>
      <vt:lpstr>DejaVu Sans</vt:lpstr>
      <vt:lpstr>Lato Heavy</vt:lpstr>
      <vt:lpstr>Marcellus SC</vt:lpstr>
      <vt:lpstr>Wingdings</vt:lpstr>
      <vt:lpstr>Lato</vt:lpstr>
      <vt:lpstr>Lato Hairline</vt:lpstr>
      <vt:lpstr>Lato Semibold</vt:lpstr>
      <vt:lpstr>Segoe UI</vt:lpstr>
      <vt:lpstr>Trebuchet MS</vt:lpstr>
      <vt:lpstr>Inconsolata</vt:lpstr>
      <vt:lpstr>Lato Black</vt:lpstr>
      <vt:lpstr>Helvetica</vt:lpstr>
      <vt:lpstr>Calibri</vt:lpstr>
      <vt:lpstr>Lato Light</vt:lpstr>
      <vt:lpstr>Cambria Math</vt:lpstr>
      <vt:lpstr>Consolas</vt:lpstr>
      <vt:lpstr>Calibri Light</vt:lpstr>
      <vt:lpstr>Office Theme</vt:lpstr>
      <vt:lpstr>Data  Representation</vt:lpstr>
      <vt:lpstr>Binary Encoding</vt:lpstr>
      <vt:lpstr>Positional number systems</vt:lpstr>
      <vt:lpstr>Positional number systems</vt:lpstr>
      <vt:lpstr>Range of numbers</vt:lpstr>
      <vt:lpstr>So… with the numbers we use every day…</vt:lpstr>
      <vt:lpstr>Numeric Bases</vt:lpstr>
      <vt:lpstr>Making a number system</vt:lpstr>
      <vt:lpstr>Binary – Base 2</vt:lpstr>
      <vt:lpstr>Let's make a base-2 number system</vt:lpstr>
      <vt:lpstr>Binary (base-2)</vt:lpstr>
      <vt:lpstr>Converting the other way around</vt:lpstr>
      <vt:lpstr>What happens when you divide by 10?</vt:lpstr>
      <vt:lpstr>Bits, bytes, nibbles, and words</vt:lpstr>
      <vt:lpstr>Why binary? Whynary?</vt:lpstr>
      <vt:lpstr>Why binary? Whynary?</vt:lpstr>
      <vt:lpstr>Binary Representation</vt:lpstr>
      <vt:lpstr>Everything in a computer is a number</vt:lpstr>
      <vt:lpstr>Hexadecimal – Base 16</vt:lpstr>
      <vt:lpstr>Hexadecimal</vt:lpstr>
      <vt:lpstr>Hexadecimal or “hex” (base-16)</vt:lpstr>
      <vt:lpstr>Binary to Hex                                                  (animated)</vt:lpstr>
      <vt:lpstr>Let's make a base-16  number system</vt:lpstr>
      <vt:lpstr>Why?</vt:lpstr>
      <vt:lpstr>Integer Encoding</vt:lpstr>
      <vt:lpstr>Finite numbers</vt:lpstr>
      <vt:lpstr>Number carrousel </vt:lpstr>
      <vt:lpstr>What about negative carrousels?</vt:lpstr>
      <vt:lpstr>Signed Numbers (2’s Complement)</vt:lpstr>
      <vt:lpstr>Two’s complement arithmetic</vt:lpstr>
      <vt:lpstr>Two's complement addition</vt:lpstr>
      <vt:lpstr>Signed Numbers (2’s Complement)</vt:lpstr>
      <vt:lpstr>Signed Numbers (2’s Complement)</vt:lpstr>
      <vt:lpstr>Can I Get an Extension?</vt:lpstr>
      <vt:lpstr>Absolutely Bonkers</vt:lpstr>
      <vt:lpstr>Integer Ranges</vt:lpstr>
      <vt:lpstr>Integers in  Java C</vt:lpstr>
      <vt:lpstr>Integers in C: Limits</vt:lpstr>
      <vt:lpstr>Casting</vt:lpstr>
      <vt:lpstr>Fractional Binary</vt:lpstr>
      <vt:lpstr>Fractional numbers</vt:lpstr>
      <vt:lpstr>Just a fraction of a number</vt:lpstr>
      <vt:lpstr>A fraction of a bit?</vt:lpstr>
      <vt:lpstr>To convert into decimal, just add stuff</vt:lpstr>
      <vt:lpstr>From decimal to binary? Tricky?</vt:lpstr>
      <vt:lpstr>So, it’s easy right? Well…</vt:lpstr>
      <vt:lpstr>So, it’s easy right? Well……</vt:lpstr>
      <vt:lpstr>So, it’s easy right? Well………</vt:lpstr>
      <vt:lpstr>How much is it worth?</vt:lpstr>
      <vt:lpstr>Limited space!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Wilkinson II, David W</dc:creator>
  <cp:lastModifiedBy>Luis Oliveira</cp:lastModifiedBy>
  <cp:revision>160</cp:revision>
  <dcterms:created xsi:type="dcterms:W3CDTF">2020-01-05T03:35:10Z</dcterms:created>
  <dcterms:modified xsi:type="dcterms:W3CDTF">2021-05-20T18:13:49Z</dcterms:modified>
</cp:coreProperties>
</file>