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2" r:id="rId1"/>
  </p:sldMasterIdLst>
  <p:notesMasterIdLst>
    <p:notesMasterId r:id="rId101"/>
  </p:notesMasterIdLst>
  <p:handoutMasterIdLst>
    <p:handoutMasterId r:id="rId102"/>
  </p:handoutMasterIdLst>
  <p:sldIdLst>
    <p:sldId id="338" r:id="rId2"/>
    <p:sldId id="1529" r:id="rId3"/>
    <p:sldId id="1530" r:id="rId4"/>
    <p:sldId id="1531" r:id="rId5"/>
    <p:sldId id="1536" r:id="rId6"/>
    <p:sldId id="1537" r:id="rId7"/>
    <p:sldId id="1538" r:id="rId8"/>
    <p:sldId id="1541" r:id="rId9"/>
    <p:sldId id="1542" r:id="rId10"/>
    <p:sldId id="1552" r:id="rId11"/>
    <p:sldId id="1553" r:id="rId12"/>
    <p:sldId id="1571" r:id="rId13"/>
    <p:sldId id="1556" r:id="rId14"/>
    <p:sldId id="1557" r:id="rId15"/>
    <p:sldId id="1558" r:id="rId16"/>
    <p:sldId id="1579" r:id="rId17"/>
    <p:sldId id="1578" r:id="rId18"/>
    <p:sldId id="1589" r:id="rId19"/>
    <p:sldId id="1591" r:id="rId20"/>
    <p:sldId id="1590" r:id="rId21"/>
    <p:sldId id="1581" r:id="rId22"/>
    <p:sldId id="1584" r:id="rId23"/>
    <p:sldId id="1585" r:id="rId24"/>
    <p:sldId id="1631" r:id="rId25"/>
    <p:sldId id="1632" r:id="rId26"/>
    <p:sldId id="1633" r:id="rId27"/>
    <p:sldId id="1637" r:id="rId28"/>
    <p:sldId id="1635" r:id="rId29"/>
    <p:sldId id="1706" r:id="rId30"/>
    <p:sldId id="1634" r:id="rId31"/>
    <p:sldId id="1639" r:id="rId32"/>
    <p:sldId id="1690" r:id="rId33"/>
    <p:sldId id="1686" r:id="rId34"/>
    <p:sldId id="1687" r:id="rId35"/>
    <p:sldId id="1704" r:id="rId36"/>
    <p:sldId id="1705" r:id="rId37"/>
    <p:sldId id="1621" r:id="rId38"/>
    <p:sldId id="1622" r:id="rId39"/>
    <p:sldId id="1623" r:id="rId40"/>
    <p:sldId id="1624" r:id="rId41"/>
    <p:sldId id="1627" r:id="rId42"/>
    <p:sldId id="1630" r:id="rId43"/>
    <p:sldId id="1625" r:id="rId44"/>
    <p:sldId id="1626" r:id="rId45"/>
    <p:sldId id="1691" r:id="rId46"/>
    <p:sldId id="1692" r:id="rId47"/>
    <p:sldId id="1676" r:id="rId48"/>
    <p:sldId id="1677" r:id="rId49"/>
    <p:sldId id="1678" r:id="rId50"/>
    <p:sldId id="1679" r:id="rId51"/>
    <p:sldId id="1680" r:id="rId52"/>
    <p:sldId id="1681" r:id="rId53"/>
    <p:sldId id="1682" r:id="rId54"/>
    <p:sldId id="1683" r:id="rId55"/>
    <p:sldId id="1684" r:id="rId56"/>
    <p:sldId id="1685" r:id="rId57"/>
    <p:sldId id="1702" r:id="rId58"/>
    <p:sldId id="1665" r:id="rId59"/>
    <p:sldId id="1663" r:id="rId60"/>
    <p:sldId id="1703" r:id="rId61"/>
    <p:sldId id="1664" r:id="rId62"/>
    <p:sldId id="1667" r:id="rId63"/>
    <p:sldId id="1666" r:id="rId64"/>
    <p:sldId id="1668" r:id="rId65"/>
    <p:sldId id="1669" r:id="rId66"/>
    <p:sldId id="1693" r:id="rId67"/>
    <p:sldId id="1694" r:id="rId68"/>
    <p:sldId id="1695" r:id="rId69"/>
    <p:sldId id="1696" r:id="rId70"/>
    <p:sldId id="1638" r:id="rId71"/>
    <p:sldId id="1697" r:id="rId72"/>
    <p:sldId id="1698" r:id="rId73"/>
    <p:sldId id="1699" r:id="rId74"/>
    <p:sldId id="1642" r:id="rId75"/>
    <p:sldId id="1643" r:id="rId76"/>
    <p:sldId id="1644" r:id="rId77"/>
    <p:sldId id="1645" r:id="rId78"/>
    <p:sldId id="1646" r:id="rId79"/>
    <p:sldId id="1649" r:id="rId80"/>
    <p:sldId id="1651" r:id="rId81"/>
    <p:sldId id="1650" r:id="rId82"/>
    <p:sldId id="1700" r:id="rId83"/>
    <p:sldId id="914" r:id="rId84"/>
    <p:sldId id="1532" r:id="rId85"/>
    <p:sldId id="1533" r:id="rId86"/>
    <p:sldId id="1534" r:id="rId87"/>
    <p:sldId id="1535" r:id="rId88"/>
    <p:sldId id="1539" r:id="rId89"/>
    <p:sldId id="1580" r:id="rId90"/>
    <p:sldId id="1587" r:id="rId91"/>
    <p:sldId id="1588" r:id="rId92"/>
    <p:sldId id="1606" r:id="rId93"/>
    <p:sldId id="1607" r:id="rId94"/>
    <p:sldId id="1608" r:id="rId95"/>
    <p:sldId id="1609" r:id="rId96"/>
    <p:sldId id="1610" r:id="rId97"/>
    <p:sldId id="1611" r:id="rId98"/>
    <p:sldId id="1612" r:id="rId99"/>
    <p:sldId id="1613" r:id="rId10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5"/>
    <a:srgbClr val="D5F1CF"/>
    <a:srgbClr val="F6F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60" autoAdjust="0"/>
    <p:restoredTop sz="85885" autoAdjust="0"/>
  </p:normalViewPr>
  <p:slideViewPr>
    <p:cSldViewPr snapToGrid="0">
      <p:cViewPr>
        <p:scale>
          <a:sx n="125" d="100"/>
          <a:sy n="125" d="100"/>
        </p:scale>
        <p:origin x="108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90" d="100"/>
          <a:sy n="190" d="100"/>
        </p:scale>
        <p:origin x="88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11/15/2017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2CFCB-345E-4169-9503-35EC0C2F5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1783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11/15/2017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68134-1695-4AE0-8CF5-B09B014F7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3525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4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09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2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98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04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01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00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64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24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17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30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32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10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37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85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67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70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69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60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43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48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084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72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63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8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48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83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51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09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0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97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05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1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521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1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27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1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637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063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388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189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here </a:t>
            </a:r>
            <a:r>
              <a:rPr lang="en-US"/>
              <a:t>on Tuesday</a:t>
            </a:r>
          </a:p>
        </p:txBody>
      </p:sp>
    </p:spTree>
    <p:extLst>
      <p:ext uri="{BB962C8B-B14F-4D97-AF65-F5344CB8AC3E}">
        <p14:creationId xmlns:p14="http://schemas.microsoft.com/office/powerpoint/2010/main" val="23275575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156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43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084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205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439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345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784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594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306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086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11/15/2017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68134-1695-4AE0-8CF5-B09B014F764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722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907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191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339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719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832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555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41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719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3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330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881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051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92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7108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1937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4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6186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80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8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076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36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0486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094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236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6155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5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7622"/>
            <a:ext cx="10971514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69113"/>
            <a:ext cx="4924996" cy="2387600"/>
          </a:xfrm>
        </p:spPr>
        <p:txBody>
          <a:bodyPr anchor="b"/>
          <a:lstStyle>
            <a:lvl1pPr algn="ctr">
              <a:defRPr lang="en-US" sz="588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7929944" y="4403972"/>
            <a:ext cx="367600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216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108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108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108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8677421" y="2512070"/>
            <a:ext cx="2369559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6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sz="216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16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sz="216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16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108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9508865" y="656652"/>
            <a:ext cx="1081144" cy="1081144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6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8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55"/>
            <a:ext cx="10515600" cy="662782"/>
          </a:xfrm>
        </p:spPr>
        <p:txBody>
          <a:bodyPr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96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7099CA6F-E293-804D-B97D-D11B2095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2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216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7099CA6F-E293-804D-B97D-D11B2095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9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927080" cy="421640"/>
          </a:xfrm>
        </p:spPr>
        <p:txBody>
          <a:bodyPr>
            <a:normAutofit/>
          </a:bodyPr>
          <a:lstStyle>
            <a:lvl1pPr marL="0"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6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7099CA6F-E293-804D-B97D-D11B2095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5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33"/>
            <a:ext cx="12313920" cy="365126"/>
          </a:xfrm>
        </p:spPr>
        <p:txBody>
          <a:bodyPr>
            <a:noAutofit/>
          </a:bodyPr>
          <a:lstStyle>
            <a:lvl1pPr>
              <a:defRPr sz="216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7099CA6F-E293-804D-B97D-D11B2095D6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1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8" y="0"/>
            <a:ext cx="1218706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57408"/>
            <a:ext cx="10363200" cy="1470025"/>
          </a:xfrm>
        </p:spPr>
        <p:txBody>
          <a:bodyPr anchor="b">
            <a:noAutofit/>
          </a:bodyPr>
          <a:lstStyle>
            <a:lvl1pPr algn="ctr">
              <a:defRPr sz="5184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CA6F-E293-804D-B97D-D11B2095D6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93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24D50-A960-9A4C-83BD-C4B443DB212F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CA6F-E293-804D-B97D-D11B2095D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2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F98E-7979-9B44-BF06-4E0D060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00F7E-9252-7744-A4D3-8B7611E1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24D50-A960-9A4C-83BD-C4B443DB212F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1CF1A-6CF5-F34C-89B0-FB2C3CCE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A397C-3E57-DA4E-B113-08E2BB01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CA6F-E293-804D-B97D-D11B2095D6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6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24D50-A960-9A4C-83BD-C4B443DB212F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9CA6F-E293-804D-B97D-D11B2095D6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0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09" r:id="rId8"/>
  </p:sldLayoutIdLst>
  <p:txStyles>
    <p:titleStyle>
      <a:lvl1pPr algn="l" defTabSz="91436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2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etf.org/rfc/rfc2396.txt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D71718-C196-4917-8842-0E9FD48FF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5280" y="1738913"/>
            <a:ext cx="4924996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Network Programming</a:t>
            </a:r>
          </a:p>
        </p:txBody>
      </p:sp>
    </p:spTree>
    <p:extLst>
      <p:ext uri="{BB962C8B-B14F-4D97-AF65-F5344CB8AC3E}">
        <p14:creationId xmlns:p14="http://schemas.microsoft.com/office/powerpoint/2010/main" val="254582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68" y="0"/>
            <a:ext cx="10515600" cy="805247"/>
          </a:xfrm>
        </p:spPr>
        <p:txBody>
          <a:bodyPr>
            <a:noAutofit/>
          </a:bodyPr>
          <a:lstStyle/>
          <a:p>
            <a:r>
              <a:rPr lang="en-US" sz="4000" dirty="0"/>
              <a:t>A Client-Server Transaction</a:t>
            </a:r>
          </a:p>
        </p:txBody>
      </p:sp>
      <p:sp>
        <p:nvSpPr>
          <p:cNvPr id="678925" name="Rectangle 13"/>
          <p:cNvSpPr>
            <a:spLocks noGrp="1" noChangeArrowheads="1"/>
          </p:cNvSpPr>
          <p:nvPr>
            <p:ph idx="1"/>
          </p:nvPr>
        </p:nvSpPr>
        <p:spPr>
          <a:xfrm>
            <a:off x="1951684" y="1165609"/>
            <a:ext cx="8087667" cy="26127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Most network applications are based on the </a:t>
            </a:r>
            <a:r>
              <a:rPr lang="en-US" i="1" dirty="0"/>
              <a:t>client-server model</a:t>
            </a:r>
            <a:r>
              <a:rPr lang="en-US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</a:t>
            </a:r>
            <a:r>
              <a:rPr lang="en-US" b="1" i="1" dirty="0">
                <a:solidFill>
                  <a:srgbClr val="C00000"/>
                </a:solidFill>
              </a:rPr>
              <a:t>server</a:t>
            </a:r>
            <a:r>
              <a:rPr lang="en-US" dirty="0"/>
              <a:t> process and one or more </a:t>
            </a:r>
            <a:r>
              <a:rPr lang="en-US" b="1" i="1" dirty="0">
                <a:solidFill>
                  <a:srgbClr val="C00000"/>
                </a:solidFill>
              </a:rPr>
              <a:t>client</a:t>
            </a:r>
            <a:r>
              <a:rPr lang="en-US" i="1" dirty="0"/>
              <a:t> </a:t>
            </a:r>
            <a:r>
              <a:rPr lang="en-US" dirty="0"/>
              <a:t>processes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Server manages some </a:t>
            </a:r>
            <a:r>
              <a:rPr lang="en-US" b="1" i="1" dirty="0">
                <a:solidFill>
                  <a:srgbClr val="C00000"/>
                </a:solidFill>
              </a:rPr>
              <a:t>resource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Server provides</a:t>
            </a:r>
            <a:r>
              <a:rPr lang="en-US" i="1" dirty="0"/>
              <a:t> </a:t>
            </a:r>
            <a:r>
              <a:rPr lang="en-US" b="1" i="1" dirty="0">
                <a:solidFill>
                  <a:srgbClr val="C00000"/>
                </a:solidFill>
              </a:rPr>
              <a:t>service</a:t>
            </a:r>
            <a:r>
              <a:rPr lang="en-US" dirty="0"/>
              <a:t> by manipulating resource for clients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Server activated by request from client (vending machine analogy)</a:t>
            </a:r>
          </a:p>
        </p:txBody>
      </p:sp>
      <p:sp>
        <p:nvSpPr>
          <p:cNvPr id="678915" name="Oval 3"/>
          <p:cNvSpPr>
            <a:spLocks noChangeArrowheads="1"/>
          </p:cNvSpPr>
          <p:nvPr/>
        </p:nvSpPr>
        <p:spPr bwMode="auto">
          <a:xfrm>
            <a:off x="3184843" y="4037073"/>
            <a:ext cx="1203325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>
                <a:latin typeface="Calibri" pitchFamily="34" charset="0"/>
              </a:rPr>
              <a:t>Client</a:t>
            </a:r>
          </a:p>
          <a:p>
            <a:pPr algn="ctr" defTabSz="912813"/>
            <a:r>
              <a:rPr lang="en-US" dirty="0">
                <a:latin typeface="Calibri" pitchFamily="34" charset="0"/>
              </a:rPr>
              <a:t>process</a:t>
            </a:r>
          </a:p>
        </p:txBody>
      </p:sp>
      <p:sp>
        <p:nvSpPr>
          <p:cNvPr id="678917" name="Oval 5"/>
          <p:cNvSpPr>
            <a:spLocks noChangeArrowheads="1"/>
          </p:cNvSpPr>
          <p:nvPr/>
        </p:nvSpPr>
        <p:spPr bwMode="auto">
          <a:xfrm>
            <a:off x="6766243" y="4037073"/>
            <a:ext cx="1203325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>
                <a:latin typeface="Calibri" pitchFamily="34" charset="0"/>
              </a:rPr>
              <a:t>Server</a:t>
            </a:r>
          </a:p>
          <a:p>
            <a:pPr algn="ctr" defTabSz="912813"/>
            <a:r>
              <a:rPr lang="en-US" dirty="0">
                <a:latin typeface="Calibri" pitchFamily="34" charset="0"/>
              </a:rPr>
              <a:t>process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81806" y="3868797"/>
            <a:ext cx="2560637" cy="369332"/>
            <a:chOff x="2689225" y="3994527"/>
            <a:chExt cx="2560637" cy="369332"/>
          </a:xfrm>
        </p:grpSpPr>
        <p:sp>
          <p:nvSpPr>
            <p:cNvPr id="678916" name="Line 4"/>
            <p:cNvSpPr>
              <a:spLocks noChangeShapeType="1"/>
            </p:cNvSpPr>
            <p:nvPr/>
          </p:nvSpPr>
          <p:spPr bwMode="auto">
            <a:xfrm flipH="1">
              <a:off x="2689225" y="4348539"/>
              <a:ext cx="25606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lIns="91577" tIns="45789" rIns="91577" bIns="45789"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78918" name="Text Box 6"/>
            <p:cNvSpPr txBox="1">
              <a:spLocks noChangeArrowheads="1"/>
            </p:cNvSpPr>
            <p:nvPr/>
          </p:nvSpPr>
          <p:spPr bwMode="auto">
            <a:xfrm>
              <a:off x="2811645" y="3994527"/>
              <a:ext cx="2329484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i="1" dirty="0">
                  <a:latin typeface="Calibri" pitchFamily="34" charset="0"/>
                </a:rPr>
                <a:t>1. Client sends request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294506" y="4667309"/>
            <a:ext cx="2632075" cy="382032"/>
            <a:chOff x="2701925" y="4793039"/>
            <a:chExt cx="2632075" cy="382032"/>
          </a:xfrm>
        </p:grpSpPr>
        <p:sp>
          <p:nvSpPr>
            <p:cNvPr id="678920" name="Line 8"/>
            <p:cNvSpPr>
              <a:spLocks noChangeShapeType="1"/>
            </p:cNvSpPr>
            <p:nvPr/>
          </p:nvSpPr>
          <p:spPr bwMode="auto">
            <a:xfrm flipH="1">
              <a:off x="2701925" y="4793039"/>
              <a:ext cx="25606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1577" tIns="45789" rIns="91577" bIns="45789"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78921" name="Text Box 9"/>
            <p:cNvSpPr txBox="1">
              <a:spLocks noChangeArrowheads="1"/>
            </p:cNvSpPr>
            <p:nvPr/>
          </p:nvSpPr>
          <p:spPr bwMode="auto">
            <a:xfrm>
              <a:off x="2805295" y="4805739"/>
              <a:ext cx="2528705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i="1" dirty="0">
                  <a:latin typeface="Calibri" pitchFamily="34" charset="0"/>
                </a:rPr>
                <a:t>3. Server sends response</a:t>
              </a:r>
            </a:p>
          </p:txBody>
        </p:sp>
      </p:grpSp>
      <p:sp>
        <p:nvSpPr>
          <p:cNvPr id="678922" name="Text Box 10"/>
          <p:cNvSpPr txBox="1">
            <a:spLocks noChangeArrowheads="1"/>
          </p:cNvSpPr>
          <p:nvPr/>
        </p:nvSpPr>
        <p:spPr bwMode="auto">
          <a:xfrm>
            <a:off x="2202181" y="4619684"/>
            <a:ext cx="1042273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latin typeface="Calibri" pitchFamily="34" charset="0"/>
              </a:rPr>
              <a:t>4. Client </a:t>
            </a:r>
          </a:p>
          <a:p>
            <a:pPr algn="ctr"/>
            <a:r>
              <a:rPr lang="en-US" i="1" dirty="0">
                <a:latin typeface="Calibri" pitchFamily="34" charset="0"/>
              </a:rPr>
              <a:t>handles</a:t>
            </a:r>
          </a:p>
          <a:p>
            <a:pPr algn="ctr"/>
            <a:r>
              <a:rPr lang="en-US" i="1" dirty="0">
                <a:latin typeface="Calibri" pitchFamily="34" charset="0"/>
              </a:rPr>
              <a:t>response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812406" y="4441885"/>
            <a:ext cx="1077987" cy="1110655"/>
            <a:chOff x="6219825" y="4567614"/>
            <a:chExt cx="1077987" cy="1110655"/>
          </a:xfrm>
        </p:grpSpPr>
        <p:sp>
          <p:nvSpPr>
            <p:cNvPr id="678919" name="Text Box 7"/>
            <p:cNvSpPr txBox="1">
              <a:spLocks noChangeArrowheads="1"/>
            </p:cNvSpPr>
            <p:nvPr/>
          </p:nvSpPr>
          <p:spPr bwMode="auto">
            <a:xfrm>
              <a:off x="6219825" y="4754939"/>
              <a:ext cx="1077987" cy="923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i="1" dirty="0">
                  <a:latin typeface="Calibri" pitchFamily="34" charset="0"/>
                </a:rPr>
                <a:t>2. Server </a:t>
              </a:r>
            </a:p>
            <a:p>
              <a:pPr algn="ctr"/>
              <a:r>
                <a:rPr lang="en-US" i="1" dirty="0">
                  <a:latin typeface="Calibri" pitchFamily="34" charset="0"/>
                </a:rPr>
                <a:t>handles</a:t>
              </a:r>
            </a:p>
            <a:p>
              <a:pPr algn="ctr"/>
              <a:r>
                <a:rPr lang="en-US" i="1" dirty="0">
                  <a:latin typeface="Calibri" pitchFamily="34" charset="0"/>
                </a:rPr>
                <a:t>request</a:t>
              </a:r>
            </a:p>
          </p:txBody>
        </p:sp>
        <p:sp>
          <p:nvSpPr>
            <p:cNvPr id="678923" name="Line 11"/>
            <p:cNvSpPr>
              <a:spLocks noChangeShapeType="1"/>
            </p:cNvSpPr>
            <p:nvPr/>
          </p:nvSpPr>
          <p:spPr bwMode="auto">
            <a:xfrm>
              <a:off x="6380162" y="4567614"/>
              <a:ext cx="8366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678924" name="AutoShape 12"/>
          <p:cNvSpPr>
            <a:spLocks noChangeArrowheads="1"/>
          </p:cNvSpPr>
          <p:nvPr/>
        </p:nvSpPr>
        <p:spPr bwMode="auto">
          <a:xfrm>
            <a:off x="8809356" y="4138672"/>
            <a:ext cx="1089025" cy="569912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>
                <a:latin typeface="Calibri" pitchFamily="34" charset="0"/>
              </a:rPr>
              <a:t>Resource</a:t>
            </a:r>
          </a:p>
        </p:txBody>
      </p:sp>
      <p:sp>
        <p:nvSpPr>
          <p:cNvPr id="678926" name="Text Box 14"/>
          <p:cNvSpPr txBox="1">
            <a:spLocks noChangeArrowheads="1"/>
          </p:cNvSpPr>
          <p:nvPr/>
        </p:nvSpPr>
        <p:spPr bwMode="auto">
          <a:xfrm>
            <a:off x="3330282" y="5906870"/>
            <a:ext cx="5585119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Note: clients and servers are processes running on hosts </a:t>
            </a:r>
          </a:p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(can be the same or different hosts)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19537D1-FB0D-BB41-90CB-E7A7584386C6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5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25" grpId="0" uiExpand="1" build="p"/>
      <p:bldP spid="678915" grpId="0" animBg="1"/>
      <p:bldP spid="678917" grpId="0" animBg="1"/>
      <p:bldP spid="678922" grpId="0"/>
      <p:bldP spid="678924" grpId="0" animBg="1"/>
      <p:bldP spid="6789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9" name="Rectangle 19"/>
          <p:cNvSpPr>
            <a:spLocks noChangeArrowheads="1"/>
          </p:cNvSpPr>
          <p:nvPr/>
        </p:nvSpPr>
        <p:spPr bwMode="auto">
          <a:xfrm>
            <a:off x="2590800" y="1295400"/>
            <a:ext cx="2971800" cy="24384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62" name="AutoShape 2"/>
          <p:cNvSpPr>
            <a:spLocks noChangeArrowheads="1"/>
          </p:cNvSpPr>
          <p:nvPr/>
        </p:nvSpPr>
        <p:spPr bwMode="auto">
          <a:xfrm flipV="1">
            <a:off x="7302500" y="4394200"/>
            <a:ext cx="495300" cy="711200"/>
          </a:xfrm>
          <a:prstGeom prst="upArrow">
            <a:avLst>
              <a:gd name="adj1" fmla="val 36667"/>
              <a:gd name="adj2" fmla="val 4487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12" name="Rectangle 52"/>
          <p:cNvSpPr>
            <a:spLocks noGrp="1" noChangeArrowheads="1"/>
          </p:cNvSpPr>
          <p:nvPr>
            <p:ph type="title"/>
          </p:nvPr>
        </p:nvSpPr>
        <p:spPr>
          <a:xfrm>
            <a:off x="440944" y="92273"/>
            <a:ext cx="9405112" cy="62966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Hardware Organization of a Network Host</a:t>
            </a:r>
          </a:p>
        </p:txBody>
      </p:sp>
      <p:sp>
        <p:nvSpPr>
          <p:cNvPr id="706564" name="Rectangle 4"/>
          <p:cNvSpPr>
            <a:spLocks noChangeArrowheads="1"/>
          </p:cNvSpPr>
          <p:nvPr/>
        </p:nvSpPr>
        <p:spPr bwMode="auto">
          <a:xfrm>
            <a:off x="8539164" y="2819400"/>
            <a:ext cx="909637" cy="914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main</a:t>
            </a:r>
          </a:p>
          <a:p>
            <a:pPr algn="ctr"/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706565" name="AutoShape 5"/>
          <p:cNvSpPr>
            <a:spLocks noChangeArrowheads="1"/>
          </p:cNvSpPr>
          <p:nvPr/>
        </p:nvSpPr>
        <p:spPr bwMode="auto">
          <a:xfrm>
            <a:off x="7015163" y="3021228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66" name="Rectangle 6"/>
          <p:cNvSpPr>
            <a:spLocks noChangeArrowheads="1"/>
          </p:cNvSpPr>
          <p:nvPr/>
        </p:nvSpPr>
        <p:spPr bwMode="auto">
          <a:xfrm>
            <a:off x="6100764" y="3003550"/>
            <a:ext cx="909637" cy="577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I/O </a:t>
            </a:r>
          </a:p>
          <a:p>
            <a:pPr algn="ctr"/>
            <a:r>
              <a:rPr lang="en-US" dirty="0">
                <a:latin typeface="Calibri" pitchFamily="34" charset="0"/>
              </a:rPr>
              <a:t>bridge</a:t>
            </a:r>
          </a:p>
        </p:txBody>
      </p:sp>
      <p:sp>
        <p:nvSpPr>
          <p:cNvPr id="706567" name="AutoShape 7"/>
          <p:cNvSpPr>
            <a:spLocks noChangeArrowheads="1"/>
          </p:cNvSpPr>
          <p:nvPr/>
        </p:nvSpPr>
        <p:spPr bwMode="auto">
          <a:xfrm>
            <a:off x="4616450" y="3021228"/>
            <a:ext cx="1479550" cy="533400"/>
          </a:xfrm>
          <a:prstGeom prst="leftRightArrow">
            <a:avLst>
              <a:gd name="adj1" fmla="val 50000"/>
              <a:gd name="adj2" fmla="val 5446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68" name="Rectangle 8"/>
          <p:cNvSpPr>
            <a:spLocks noChangeArrowheads="1"/>
          </p:cNvSpPr>
          <p:nvPr/>
        </p:nvSpPr>
        <p:spPr bwMode="auto">
          <a:xfrm>
            <a:off x="2743200" y="3003550"/>
            <a:ext cx="1873250" cy="577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MI</a:t>
            </a:r>
          </a:p>
        </p:txBody>
      </p:sp>
      <p:sp>
        <p:nvSpPr>
          <p:cNvPr id="706569" name="Rectangle 9"/>
          <p:cNvSpPr>
            <a:spLocks noChangeArrowheads="1"/>
          </p:cNvSpPr>
          <p:nvPr/>
        </p:nvSpPr>
        <p:spPr bwMode="auto">
          <a:xfrm>
            <a:off x="3659188" y="1676400"/>
            <a:ext cx="684212" cy="15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0" name="Rectangle 10"/>
          <p:cNvSpPr>
            <a:spLocks noChangeArrowheads="1"/>
          </p:cNvSpPr>
          <p:nvPr/>
        </p:nvSpPr>
        <p:spPr bwMode="auto">
          <a:xfrm>
            <a:off x="3659188" y="1828800"/>
            <a:ext cx="684212" cy="15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1" name="Rectangle 11"/>
          <p:cNvSpPr>
            <a:spLocks noChangeArrowheads="1"/>
          </p:cNvSpPr>
          <p:nvPr/>
        </p:nvSpPr>
        <p:spPr bwMode="auto">
          <a:xfrm>
            <a:off x="3659188" y="1981200"/>
            <a:ext cx="684212" cy="15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2" name="Rectangle 12"/>
          <p:cNvSpPr>
            <a:spLocks noChangeArrowheads="1"/>
          </p:cNvSpPr>
          <p:nvPr/>
        </p:nvSpPr>
        <p:spPr bwMode="auto">
          <a:xfrm>
            <a:off x="3659188" y="2133600"/>
            <a:ext cx="684212" cy="15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3" name="Rectangle 13"/>
          <p:cNvSpPr>
            <a:spLocks noChangeArrowheads="1"/>
          </p:cNvSpPr>
          <p:nvPr/>
        </p:nvSpPr>
        <p:spPr bwMode="auto">
          <a:xfrm>
            <a:off x="3659188" y="2286000"/>
            <a:ext cx="684212" cy="15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4" name="AutoShape 14"/>
          <p:cNvSpPr>
            <a:spLocks noChangeArrowheads="1"/>
          </p:cNvSpPr>
          <p:nvPr/>
        </p:nvSpPr>
        <p:spPr bwMode="auto">
          <a:xfrm>
            <a:off x="4387850" y="16764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5" name="AutoShape 15"/>
          <p:cNvSpPr>
            <a:spLocks noChangeArrowheads="1"/>
          </p:cNvSpPr>
          <p:nvPr/>
        </p:nvSpPr>
        <p:spPr bwMode="auto">
          <a:xfrm flipH="1">
            <a:off x="4387850" y="20574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76" name="Rectangle 16"/>
          <p:cNvSpPr>
            <a:spLocks noChangeArrowheads="1"/>
          </p:cNvSpPr>
          <p:nvPr/>
        </p:nvSpPr>
        <p:spPr bwMode="auto">
          <a:xfrm>
            <a:off x="4876800" y="1524000"/>
            <a:ext cx="533400" cy="1066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ALU</a:t>
            </a:r>
          </a:p>
        </p:txBody>
      </p:sp>
      <p:sp>
        <p:nvSpPr>
          <p:cNvPr id="706577" name="Text Box 17"/>
          <p:cNvSpPr txBox="1">
            <a:spLocks noChangeArrowheads="1"/>
          </p:cNvSpPr>
          <p:nvPr/>
        </p:nvSpPr>
        <p:spPr bwMode="auto">
          <a:xfrm>
            <a:off x="3376614" y="1355725"/>
            <a:ext cx="126194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register file</a:t>
            </a:r>
          </a:p>
        </p:txBody>
      </p:sp>
      <p:sp>
        <p:nvSpPr>
          <p:cNvPr id="706578" name="AutoShape 18"/>
          <p:cNvSpPr>
            <a:spLocks noChangeArrowheads="1"/>
          </p:cNvSpPr>
          <p:nvPr/>
        </p:nvSpPr>
        <p:spPr bwMode="auto">
          <a:xfrm>
            <a:off x="3690552" y="2489886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0" name="Text Box 20"/>
          <p:cNvSpPr txBox="1">
            <a:spLocks noChangeArrowheads="1"/>
          </p:cNvSpPr>
          <p:nvPr/>
        </p:nvSpPr>
        <p:spPr bwMode="auto">
          <a:xfrm>
            <a:off x="2492376" y="990600"/>
            <a:ext cx="103265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CPU chip</a:t>
            </a:r>
          </a:p>
        </p:txBody>
      </p:sp>
      <p:sp>
        <p:nvSpPr>
          <p:cNvPr id="706581" name="Text Box 21"/>
          <p:cNvSpPr txBox="1">
            <a:spLocks noChangeArrowheads="1"/>
          </p:cNvSpPr>
          <p:nvPr/>
        </p:nvSpPr>
        <p:spPr bwMode="auto">
          <a:xfrm>
            <a:off x="5524500" y="2286000"/>
            <a:ext cx="124034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system bus</a:t>
            </a:r>
          </a:p>
        </p:txBody>
      </p:sp>
      <p:sp>
        <p:nvSpPr>
          <p:cNvPr id="706582" name="Line 22"/>
          <p:cNvSpPr>
            <a:spLocks noChangeShapeType="1"/>
          </p:cNvSpPr>
          <p:nvPr/>
        </p:nvSpPr>
        <p:spPr bwMode="auto">
          <a:xfrm flipH="1">
            <a:off x="5410200" y="25908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3" name="Text Box 23"/>
          <p:cNvSpPr txBox="1">
            <a:spLocks noChangeArrowheads="1"/>
          </p:cNvSpPr>
          <p:nvPr/>
        </p:nvSpPr>
        <p:spPr bwMode="auto">
          <a:xfrm>
            <a:off x="7045325" y="2286000"/>
            <a:ext cx="138153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memory bus</a:t>
            </a:r>
          </a:p>
        </p:txBody>
      </p:sp>
      <p:sp>
        <p:nvSpPr>
          <p:cNvPr id="706584" name="Line 24"/>
          <p:cNvSpPr>
            <a:spLocks noChangeShapeType="1"/>
          </p:cNvSpPr>
          <p:nvPr/>
        </p:nvSpPr>
        <p:spPr bwMode="auto">
          <a:xfrm>
            <a:off x="7696200" y="2590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5" name="AutoShape 25"/>
          <p:cNvSpPr>
            <a:spLocks noChangeArrowheads="1"/>
          </p:cNvSpPr>
          <p:nvPr/>
        </p:nvSpPr>
        <p:spPr bwMode="auto">
          <a:xfrm>
            <a:off x="6324600" y="3581400"/>
            <a:ext cx="495300" cy="762000"/>
          </a:xfrm>
          <a:prstGeom prst="upArrow">
            <a:avLst>
              <a:gd name="adj1" fmla="val 36667"/>
              <a:gd name="adj2" fmla="val 4487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6" name="Rectangle 26"/>
          <p:cNvSpPr>
            <a:spLocks noChangeArrowheads="1"/>
          </p:cNvSpPr>
          <p:nvPr/>
        </p:nvSpPr>
        <p:spPr bwMode="auto">
          <a:xfrm>
            <a:off x="6883400" y="5118100"/>
            <a:ext cx="1295400" cy="5207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disk </a:t>
            </a:r>
          </a:p>
          <a:p>
            <a:pPr algn="ctr"/>
            <a:r>
              <a:rPr lang="en-US" dirty="0">
                <a:latin typeface="Calibri" pitchFamily="34" charset="0"/>
              </a:rPr>
              <a:t>controller</a:t>
            </a:r>
          </a:p>
        </p:txBody>
      </p:sp>
      <p:sp>
        <p:nvSpPr>
          <p:cNvPr id="706587" name="AutoShape 27"/>
          <p:cNvSpPr>
            <a:spLocks noChangeArrowheads="1"/>
          </p:cNvSpPr>
          <p:nvPr/>
        </p:nvSpPr>
        <p:spPr bwMode="auto">
          <a:xfrm flipV="1">
            <a:off x="5099050" y="4394200"/>
            <a:ext cx="495300" cy="711200"/>
          </a:xfrm>
          <a:prstGeom prst="upArrow">
            <a:avLst>
              <a:gd name="adj1" fmla="val 36667"/>
              <a:gd name="adj2" fmla="val 4487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8" name="Rectangle 28"/>
          <p:cNvSpPr>
            <a:spLocks noChangeArrowheads="1"/>
          </p:cNvSpPr>
          <p:nvPr/>
        </p:nvSpPr>
        <p:spPr bwMode="auto">
          <a:xfrm>
            <a:off x="4679950" y="5118100"/>
            <a:ext cx="1295400" cy="5207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graphics</a:t>
            </a:r>
          </a:p>
          <a:p>
            <a:pPr algn="ctr"/>
            <a:r>
              <a:rPr lang="en-US" dirty="0">
                <a:latin typeface="Calibri" pitchFamily="34" charset="0"/>
              </a:rPr>
              <a:t>adapter</a:t>
            </a:r>
          </a:p>
        </p:txBody>
      </p:sp>
      <p:sp>
        <p:nvSpPr>
          <p:cNvPr id="706589" name="AutoShape 29"/>
          <p:cNvSpPr>
            <a:spLocks noChangeArrowheads="1"/>
          </p:cNvSpPr>
          <p:nvPr/>
        </p:nvSpPr>
        <p:spPr bwMode="auto">
          <a:xfrm flipV="1">
            <a:off x="3422650" y="4377724"/>
            <a:ext cx="495300" cy="719438"/>
          </a:xfrm>
          <a:prstGeom prst="upArrow">
            <a:avLst>
              <a:gd name="adj1" fmla="val 36667"/>
              <a:gd name="adj2" fmla="val 4487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90" name="Rectangle 30"/>
          <p:cNvSpPr>
            <a:spLocks noChangeArrowheads="1"/>
          </p:cNvSpPr>
          <p:nvPr/>
        </p:nvSpPr>
        <p:spPr bwMode="auto">
          <a:xfrm>
            <a:off x="3079750" y="5105400"/>
            <a:ext cx="1143000" cy="5207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USB</a:t>
            </a:r>
          </a:p>
          <a:p>
            <a:pPr algn="ctr"/>
            <a:r>
              <a:rPr lang="en-US" dirty="0">
                <a:latin typeface="Calibri" pitchFamily="34" charset="0"/>
              </a:rPr>
              <a:t>controller</a:t>
            </a:r>
          </a:p>
        </p:txBody>
      </p:sp>
      <p:sp>
        <p:nvSpPr>
          <p:cNvPr id="706591" name="Line 31"/>
          <p:cNvSpPr>
            <a:spLocks noChangeShapeType="1"/>
          </p:cNvSpPr>
          <p:nvPr/>
        </p:nvSpPr>
        <p:spPr bwMode="auto">
          <a:xfrm>
            <a:off x="3308350" y="5638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92" name="Line 32"/>
          <p:cNvSpPr>
            <a:spLocks noChangeShapeType="1"/>
          </p:cNvSpPr>
          <p:nvPr/>
        </p:nvSpPr>
        <p:spPr bwMode="auto">
          <a:xfrm>
            <a:off x="4070350" y="5638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93" name="Text Box 33"/>
          <p:cNvSpPr txBox="1">
            <a:spLocks noChangeArrowheads="1"/>
          </p:cNvSpPr>
          <p:nvPr/>
        </p:nvSpPr>
        <p:spPr bwMode="auto">
          <a:xfrm>
            <a:off x="2873376" y="5867400"/>
            <a:ext cx="82586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mouse</a:t>
            </a:r>
          </a:p>
        </p:txBody>
      </p:sp>
      <p:sp>
        <p:nvSpPr>
          <p:cNvPr id="706594" name="Text Box 34"/>
          <p:cNvSpPr txBox="1">
            <a:spLocks noChangeArrowheads="1"/>
          </p:cNvSpPr>
          <p:nvPr/>
        </p:nvSpPr>
        <p:spPr bwMode="auto">
          <a:xfrm>
            <a:off x="3551238" y="5867400"/>
            <a:ext cx="107433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keyboard</a:t>
            </a:r>
          </a:p>
        </p:txBody>
      </p:sp>
      <p:sp>
        <p:nvSpPr>
          <p:cNvPr id="706595" name="Line 35"/>
          <p:cNvSpPr>
            <a:spLocks noChangeShapeType="1"/>
          </p:cNvSpPr>
          <p:nvPr/>
        </p:nvSpPr>
        <p:spPr bwMode="auto">
          <a:xfrm>
            <a:off x="5365750" y="5638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96" name="Text Box 36"/>
          <p:cNvSpPr txBox="1">
            <a:spLocks noChangeArrowheads="1"/>
          </p:cNvSpPr>
          <p:nvPr/>
        </p:nvSpPr>
        <p:spPr bwMode="auto">
          <a:xfrm>
            <a:off x="4868864" y="5867400"/>
            <a:ext cx="95827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monitor</a:t>
            </a:r>
          </a:p>
        </p:txBody>
      </p:sp>
      <p:sp>
        <p:nvSpPr>
          <p:cNvPr id="706597" name="Line 37"/>
          <p:cNvSpPr>
            <a:spLocks noChangeShapeType="1"/>
          </p:cNvSpPr>
          <p:nvPr/>
        </p:nvSpPr>
        <p:spPr bwMode="auto">
          <a:xfrm>
            <a:off x="7543800" y="5638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98" name="AutoShape 38"/>
          <p:cNvSpPr>
            <a:spLocks noChangeArrowheads="1"/>
          </p:cNvSpPr>
          <p:nvPr/>
        </p:nvSpPr>
        <p:spPr bwMode="auto">
          <a:xfrm>
            <a:off x="7239000" y="6019800"/>
            <a:ext cx="609600" cy="609600"/>
          </a:xfrm>
          <a:prstGeom prst="can">
            <a:avLst>
              <a:gd name="adj" fmla="val 25000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disk</a:t>
            </a:r>
          </a:p>
        </p:txBody>
      </p:sp>
      <p:sp>
        <p:nvSpPr>
          <p:cNvPr id="706599" name="AutoShape 39"/>
          <p:cNvSpPr>
            <a:spLocks noChangeArrowheads="1"/>
          </p:cNvSpPr>
          <p:nvPr/>
        </p:nvSpPr>
        <p:spPr bwMode="auto">
          <a:xfrm>
            <a:off x="2514600" y="4178300"/>
            <a:ext cx="7277100" cy="393700"/>
          </a:xfrm>
          <a:prstGeom prst="leftRightArrow">
            <a:avLst>
              <a:gd name="adj1" fmla="val 48611"/>
              <a:gd name="adj2" fmla="val 955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0" name="Rectangle 40"/>
          <p:cNvSpPr>
            <a:spLocks noChangeArrowheads="1"/>
          </p:cNvSpPr>
          <p:nvPr/>
        </p:nvSpPr>
        <p:spPr bwMode="auto">
          <a:xfrm>
            <a:off x="3590925" y="4348163"/>
            <a:ext cx="166688" cy="152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1" name="Rectangle 41"/>
          <p:cNvSpPr>
            <a:spLocks noChangeArrowheads="1"/>
          </p:cNvSpPr>
          <p:nvPr/>
        </p:nvSpPr>
        <p:spPr bwMode="auto">
          <a:xfrm>
            <a:off x="5267325" y="4338638"/>
            <a:ext cx="166688" cy="152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2" name="Rectangle 42"/>
          <p:cNvSpPr>
            <a:spLocks noChangeArrowheads="1"/>
          </p:cNvSpPr>
          <p:nvPr/>
        </p:nvSpPr>
        <p:spPr bwMode="auto">
          <a:xfrm>
            <a:off x="7473951" y="4329113"/>
            <a:ext cx="161925" cy="152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3" name="Text Box 43"/>
          <p:cNvSpPr txBox="1">
            <a:spLocks noChangeArrowheads="1"/>
          </p:cNvSpPr>
          <p:nvPr/>
        </p:nvSpPr>
        <p:spPr bwMode="auto">
          <a:xfrm>
            <a:off x="6188075" y="4483100"/>
            <a:ext cx="89159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I/O bus</a:t>
            </a:r>
          </a:p>
        </p:txBody>
      </p:sp>
      <p:sp>
        <p:nvSpPr>
          <p:cNvPr id="706604" name="Rectangle 44"/>
          <p:cNvSpPr>
            <a:spLocks noChangeArrowheads="1"/>
          </p:cNvSpPr>
          <p:nvPr/>
        </p:nvSpPr>
        <p:spPr bwMode="auto">
          <a:xfrm>
            <a:off x="6491289" y="4267200"/>
            <a:ext cx="161925" cy="152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5" name="Rectangle 45"/>
          <p:cNvSpPr>
            <a:spLocks noChangeArrowheads="1"/>
          </p:cNvSpPr>
          <p:nvPr/>
        </p:nvSpPr>
        <p:spPr bwMode="auto">
          <a:xfrm>
            <a:off x="8382000" y="4191000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6" name="Rectangle 46"/>
          <p:cNvSpPr>
            <a:spLocks noChangeArrowheads="1"/>
          </p:cNvSpPr>
          <p:nvPr/>
        </p:nvSpPr>
        <p:spPr bwMode="auto">
          <a:xfrm>
            <a:off x="8686800" y="4191000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7" name="AutoShape 47"/>
          <p:cNvSpPr>
            <a:spLocks noChangeArrowheads="1"/>
          </p:cNvSpPr>
          <p:nvPr/>
        </p:nvSpPr>
        <p:spPr bwMode="auto">
          <a:xfrm>
            <a:off x="8978900" y="4191000"/>
            <a:ext cx="279400" cy="914400"/>
          </a:xfrm>
          <a:prstGeom prst="downArrow">
            <a:avLst>
              <a:gd name="adj1" fmla="val 50000"/>
              <a:gd name="adj2" fmla="val 81818"/>
            </a:avLst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08" name="Text Box 48"/>
          <p:cNvSpPr txBox="1">
            <a:spLocks noChangeArrowheads="1"/>
          </p:cNvSpPr>
          <p:nvPr/>
        </p:nvSpPr>
        <p:spPr bwMode="auto">
          <a:xfrm>
            <a:off x="7856539" y="3870325"/>
            <a:ext cx="165301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Expansion slots</a:t>
            </a:r>
          </a:p>
        </p:txBody>
      </p:sp>
      <p:sp>
        <p:nvSpPr>
          <p:cNvPr id="706609" name="Rectangle 49"/>
          <p:cNvSpPr>
            <a:spLocks noChangeArrowheads="1"/>
          </p:cNvSpPr>
          <p:nvPr/>
        </p:nvSpPr>
        <p:spPr bwMode="auto">
          <a:xfrm>
            <a:off x="8477250" y="5113638"/>
            <a:ext cx="1295400" cy="5207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network</a:t>
            </a:r>
          </a:p>
          <a:p>
            <a:pPr algn="ctr"/>
            <a:r>
              <a:rPr lang="en-US" dirty="0">
                <a:latin typeface="Calibri" pitchFamily="34" charset="0"/>
              </a:rPr>
              <a:t>adapter</a:t>
            </a:r>
          </a:p>
        </p:txBody>
      </p:sp>
      <p:sp>
        <p:nvSpPr>
          <p:cNvPr id="706610" name="Line 50"/>
          <p:cNvSpPr>
            <a:spLocks noChangeShapeType="1"/>
          </p:cNvSpPr>
          <p:nvPr/>
        </p:nvSpPr>
        <p:spPr bwMode="auto">
          <a:xfrm>
            <a:off x="9124950" y="5647038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611" name="AutoShape 51"/>
          <p:cNvSpPr>
            <a:spLocks noChangeArrowheads="1"/>
          </p:cNvSpPr>
          <p:nvPr/>
        </p:nvSpPr>
        <p:spPr bwMode="auto">
          <a:xfrm>
            <a:off x="8343900" y="6053438"/>
            <a:ext cx="1562100" cy="5715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network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8B618-3188-A54C-B0A6-D19711B2BA98}"/>
              </a:ext>
            </a:extLst>
          </p:cNvPr>
          <p:cNvSpPr txBox="1"/>
          <p:nvPr/>
        </p:nvSpPr>
        <p:spPr>
          <a:xfrm>
            <a:off x="5364481" y="400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30C788A7-12FD-524B-83A8-D95E786AC0FF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8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Computer Networks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network</a:t>
            </a:r>
            <a:r>
              <a:rPr lang="en-US" dirty="0"/>
              <a:t> is a hierarchical system of </a:t>
            </a:r>
            <a:r>
              <a:rPr lang="en-US" i="1" dirty="0"/>
              <a:t>boxes and wires </a:t>
            </a:r>
            <a:r>
              <a:rPr lang="en-US" dirty="0"/>
              <a:t>organized by geographical proximity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SAN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dirty="0"/>
              <a:t> (System Area Network) spans cluster or machine room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Switched Ethernet, Quadrics QSW, …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LAN (Local Area Network)  spans a building or campus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Ethernet is most prominent example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WAN (Wide Area Network) spans country or world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Typically high-speed point-to-point phone lines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An </a:t>
            </a:r>
            <a:r>
              <a:rPr lang="en-US" i="1" dirty="0">
                <a:solidFill>
                  <a:srgbClr val="C00000"/>
                </a:solidFill>
              </a:rPr>
              <a:t>internetwork</a:t>
            </a:r>
            <a:r>
              <a:rPr lang="en-US" i="1" dirty="0"/>
              <a:t> (</a:t>
            </a:r>
            <a:r>
              <a:rPr lang="en-US" i="1" dirty="0">
                <a:solidFill>
                  <a:srgbClr val="C00000"/>
                </a:solidFill>
              </a:rPr>
              <a:t>internet</a:t>
            </a:r>
            <a:r>
              <a:rPr lang="en-US" i="1" dirty="0"/>
              <a:t>) </a:t>
            </a:r>
            <a:r>
              <a:rPr lang="en-US" dirty="0"/>
              <a:t>is an interconnected set of networks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Global IP Internet </a:t>
            </a:r>
            <a:r>
              <a:rPr lang="en-US" dirty="0"/>
              <a:t>(uppercase “I”) is the most famous example of an internet (lowercase “</a:t>
            </a:r>
            <a:r>
              <a:rPr lang="en-US" dirty="0" err="1"/>
              <a:t>i</a:t>
            </a:r>
            <a:r>
              <a:rPr lang="en-US" dirty="0"/>
              <a:t>”)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C11F2-18E7-42DE-8490-7457A91A62F9}"/>
              </a:ext>
            </a:extLst>
          </p:cNvPr>
          <p:cNvSpPr txBox="1"/>
          <p:nvPr/>
        </p:nvSpPr>
        <p:spPr>
          <a:xfrm>
            <a:off x="5680416" y="6324600"/>
            <a:ext cx="498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* Not to be confused with a Storage Area Network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0B2F97-8B7F-4746-9FD0-84E6202BBFB5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uiExpand="1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421640" y="110901"/>
            <a:ext cx="10281920" cy="52409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Structure of an internet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idx="1"/>
          </p:nvPr>
        </p:nvSpPr>
        <p:spPr>
          <a:xfrm>
            <a:off x="2016522" y="3961892"/>
            <a:ext cx="8087666" cy="27924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Ad hoc interconnection of networks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No particular topology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Vastly different router &amp; link capacities</a:t>
            </a:r>
          </a:p>
          <a:p>
            <a:pPr>
              <a:lnSpc>
                <a:spcPct val="120000"/>
              </a:lnSpc>
            </a:pPr>
            <a:r>
              <a:rPr lang="en-US" dirty="0"/>
              <a:t>Send packets from source to destination by </a:t>
            </a:r>
            <a:r>
              <a:rPr lang="en-US" dirty="0">
                <a:solidFill>
                  <a:srgbClr val="FF0000"/>
                </a:solidFill>
              </a:rPr>
              <a:t>hopping through networks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Router forms bridge from one network to another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Different packets may take different routes</a:t>
            </a:r>
          </a:p>
        </p:txBody>
      </p:sp>
      <p:sp>
        <p:nvSpPr>
          <p:cNvPr id="23" name="Oval 22"/>
          <p:cNvSpPr/>
          <p:nvPr/>
        </p:nvSpPr>
        <p:spPr bwMode="auto">
          <a:xfrm>
            <a:off x="2057400" y="1524000"/>
            <a:ext cx="3505200" cy="11430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429000" y="2667000"/>
            <a:ext cx="6234580" cy="11430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6248400" y="1219200"/>
            <a:ext cx="3505200" cy="11430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4114800" y="1371600"/>
            <a:ext cx="3505200" cy="11430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2743200" y="2133600"/>
            <a:ext cx="1981200" cy="14478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7620000" y="1676400"/>
            <a:ext cx="990600" cy="1905000"/>
          </a:xfrm>
          <a:prstGeom prst="ellipse">
            <a:avLst/>
          </a:prstGeom>
          <a:solidFill>
            <a:srgbClr val="E6E6E6">
              <a:alpha val="50196"/>
            </a:srgbClr>
          </a:solidFill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2" name="AutoShape 15"/>
          <p:cNvSpPr>
            <a:spLocks noChangeArrowheads="1"/>
          </p:cNvSpPr>
          <p:nvPr/>
        </p:nvSpPr>
        <p:spPr bwMode="auto">
          <a:xfrm>
            <a:off x="3365500" y="22225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29" name="AutoShape 15"/>
          <p:cNvSpPr>
            <a:spLocks noChangeArrowheads="1"/>
          </p:cNvSpPr>
          <p:nvPr/>
        </p:nvSpPr>
        <p:spPr bwMode="auto">
          <a:xfrm>
            <a:off x="3797300" y="29845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30" name="AutoShape 15"/>
          <p:cNvSpPr>
            <a:spLocks noChangeArrowheads="1"/>
          </p:cNvSpPr>
          <p:nvPr/>
        </p:nvSpPr>
        <p:spPr bwMode="auto">
          <a:xfrm>
            <a:off x="4572000" y="18288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31" name="AutoShape 15"/>
          <p:cNvSpPr>
            <a:spLocks noChangeArrowheads="1"/>
          </p:cNvSpPr>
          <p:nvPr/>
        </p:nvSpPr>
        <p:spPr bwMode="auto">
          <a:xfrm>
            <a:off x="6629400" y="16764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32" name="AutoShape 15"/>
          <p:cNvSpPr>
            <a:spLocks noChangeArrowheads="1"/>
          </p:cNvSpPr>
          <p:nvPr/>
        </p:nvSpPr>
        <p:spPr bwMode="auto">
          <a:xfrm>
            <a:off x="7797800" y="28956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33" name="AutoShape 15"/>
          <p:cNvSpPr>
            <a:spLocks noChangeArrowheads="1"/>
          </p:cNvSpPr>
          <p:nvPr/>
        </p:nvSpPr>
        <p:spPr bwMode="auto">
          <a:xfrm>
            <a:off x="7810500" y="19050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alibri" pitchFamily="34" charset="0"/>
              </a:rPr>
              <a:t>router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8686800" y="1535668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470710" y="18034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34" name="Freeform 33"/>
          <p:cNvSpPr/>
          <p:nvPr/>
        </p:nvSpPr>
        <p:spPr bwMode="auto">
          <a:xfrm>
            <a:off x="3077634" y="2006600"/>
            <a:ext cx="287867" cy="520700"/>
          </a:xfrm>
          <a:custGeom>
            <a:avLst/>
            <a:gdLst>
              <a:gd name="connsiteX0" fmla="*/ 8467 w 275167"/>
              <a:gd name="connsiteY0" fmla="*/ 0 h 520700"/>
              <a:gd name="connsiteX1" fmla="*/ 224367 w 275167"/>
              <a:gd name="connsiteY1" fmla="*/ 38100 h 520700"/>
              <a:gd name="connsiteX2" fmla="*/ 8467 w 275167"/>
              <a:gd name="connsiteY2" fmla="*/ 457200 h 520700"/>
              <a:gd name="connsiteX3" fmla="*/ 275167 w 275167"/>
              <a:gd name="connsiteY3" fmla="*/ 4191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67" h="520700">
                <a:moveTo>
                  <a:pt x="8467" y="0"/>
                </a:moveTo>
                <a:lnTo>
                  <a:pt x="224367" y="38100"/>
                </a:lnTo>
                <a:cubicBezTo>
                  <a:pt x="224367" y="114300"/>
                  <a:pt x="0" y="393700"/>
                  <a:pt x="8467" y="457200"/>
                </a:cubicBezTo>
                <a:cubicBezTo>
                  <a:pt x="16934" y="520700"/>
                  <a:pt x="146050" y="469900"/>
                  <a:pt x="275167" y="419100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 bwMode="auto">
          <a:xfrm>
            <a:off x="3086100" y="1693334"/>
            <a:ext cx="1485900" cy="338667"/>
          </a:xfrm>
          <a:custGeom>
            <a:avLst/>
            <a:gdLst>
              <a:gd name="connsiteX0" fmla="*/ 0 w 1485900"/>
              <a:gd name="connsiteY0" fmla="*/ 313267 h 338667"/>
              <a:gd name="connsiteX1" fmla="*/ 596900 w 1485900"/>
              <a:gd name="connsiteY1" fmla="*/ 8467 h 338667"/>
              <a:gd name="connsiteX2" fmla="*/ 850900 w 1485900"/>
              <a:gd name="connsiteY2" fmla="*/ 262467 h 338667"/>
              <a:gd name="connsiteX3" fmla="*/ 1485900 w 1485900"/>
              <a:gd name="connsiteY3" fmla="*/ 338667 h 3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0" h="338667">
                <a:moveTo>
                  <a:pt x="0" y="313267"/>
                </a:moveTo>
                <a:cubicBezTo>
                  <a:pt x="227541" y="165100"/>
                  <a:pt x="455083" y="16934"/>
                  <a:pt x="596900" y="8467"/>
                </a:cubicBezTo>
                <a:cubicBezTo>
                  <a:pt x="738717" y="0"/>
                  <a:pt x="702733" y="207434"/>
                  <a:pt x="850900" y="262467"/>
                </a:cubicBezTo>
                <a:cubicBezTo>
                  <a:pt x="999067" y="317500"/>
                  <a:pt x="1242483" y="328083"/>
                  <a:pt x="1485900" y="338667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 bwMode="auto">
          <a:xfrm>
            <a:off x="3670300" y="2590800"/>
            <a:ext cx="444500" cy="406400"/>
          </a:xfrm>
          <a:custGeom>
            <a:avLst/>
            <a:gdLst>
              <a:gd name="connsiteX0" fmla="*/ 0 w 444500"/>
              <a:gd name="connsiteY0" fmla="*/ 0 h 406400"/>
              <a:gd name="connsiteX1" fmla="*/ 190500 w 444500"/>
              <a:gd name="connsiteY1" fmla="*/ 228600 h 406400"/>
              <a:gd name="connsiteX2" fmla="*/ 444500 w 444500"/>
              <a:gd name="connsiteY2" fmla="*/ 40640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500" h="406400">
                <a:moveTo>
                  <a:pt x="0" y="0"/>
                </a:moveTo>
                <a:cubicBezTo>
                  <a:pt x="58208" y="80433"/>
                  <a:pt x="116417" y="160867"/>
                  <a:pt x="190500" y="228600"/>
                </a:cubicBezTo>
                <a:cubicBezTo>
                  <a:pt x="264583" y="296333"/>
                  <a:pt x="354541" y="351366"/>
                  <a:pt x="444500" y="406400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 bwMode="auto">
          <a:xfrm>
            <a:off x="5194300" y="1748367"/>
            <a:ext cx="1435100" cy="463550"/>
          </a:xfrm>
          <a:custGeom>
            <a:avLst/>
            <a:gdLst>
              <a:gd name="connsiteX0" fmla="*/ 0 w 1435100"/>
              <a:gd name="connsiteY0" fmla="*/ 270933 h 463550"/>
              <a:gd name="connsiteX1" fmla="*/ 355600 w 1435100"/>
              <a:gd name="connsiteY1" fmla="*/ 42333 h 463550"/>
              <a:gd name="connsiteX2" fmla="*/ 812800 w 1435100"/>
              <a:gd name="connsiteY2" fmla="*/ 461433 h 463550"/>
              <a:gd name="connsiteX3" fmla="*/ 1193800 w 1435100"/>
              <a:gd name="connsiteY3" fmla="*/ 55033 h 463550"/>
              <a:gd name="connsiteX4" fmla="*/ 1435100 w 1435100"/>
              <a:gd name="connsiteY4" fmla="*/ 131233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100" h="463550">
                <a:moveTo>
                  <a:pt x="0" y="270933"/>
                </a:moveTo>
                <a:cubicBezTo>
                  <a:pt x="110066" y="140758"/>
                  <a:pt x="220133" y="10583"/>
                  <a:pt x="355600" y="42333"/>
                </a:cubicBezTo>
                <a:cubicBezTo>
                  <a:pt x="491067" y="74083"/>
                  <a:pt x="673100" y="459316"/>
                  <a:pt x="812800" y="461433"/>
                </a:cubicBezTo>
                <a:cubicBezTo>
                  <a:pt x="952500" y="463550"/>
                  <a:pt x="1090083" y="110066"/>
                  <a:pt x="1193800" y="55033"/>
                </a:cubicBezTo>
                <a:cubicBezTo>
                  <a:pt x="1297517" y="0"/>
                  <a:pt x="1366308" y="65616"/>
                  <a:pt x="1435100" y="131233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 bwMode="auto">
          <a:xfrm>
            <a:off x="7239000" y="1375834"/>
            <a:ext cx="1435100" cy="478367"/>
          </a:xfrm>
          <a:custGeom>
            <a:avLst/>
            <a:gdLst>
              <a:gd name="connsiteX0" fmla="*/ 0 w 1435100"/>
              <a:gd name="connsiteY0" fmla="*/ 478367 h 478367"/>
              <a:gd name="connsiteX1" fmla="*/ 774700 w 1435100"/>
              <a:gd name="connsiteY1" fmla="*/ 21167 h 478367"/>
              <a:gd name="connsiteX2" fmla="*/ 1435100 w 1435100"/>
              <a:gd name="connsiteY2" fmla="*/ 351367 h 478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00" h="478367">
                <a:moveTo>
                  <a:pt x="0" y="478367"/>
                </a:moveTo>
                <a:cubicBezTo>
                  <a:pt x="267758" y="260350"/>
                  <a:pt x="535517" y="42334"/>
                  <a:pt x="774700" y="21167"/>
                </a:cubicBezTo>
                <a:cubicBezTo>
                  <a:pt x="1013883" y="0"/>
                  <a:pt x="1224491" y="175683"/>
                  <a:pt x="1435100" y="351367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 bwMode="auto">
          <a:xfrm>
            <a:off x="4419600" y="2865968"/>
            <a:ext cx="3378200" cy="728133"/>
          </a:xfrm>
          <a:custGeom>
            <a:avLst/>
            <a:gdLst>
              <a:gd name="connsiteX0" fmla="*/ 0 w 3378200"/>
              <a:gd name="connsiteY0" fmla="*/ 321733 h 728133"/>
              <a:gd name="connsiteX1" fmla="*/ 711200 w 3378200"/>
              <a:gd name="connsiteY1" fmla="*/ 194733 h 728133"/>
              <a:gd name="connsiteX2" fmla="*/ 914400 w 3378200"/>
              <a:gd name="connsiteY2" fmla="*/ 702733 h 728133"/>
              <a:gd name="connsiteX3" fmla="*/ 1638300 w 3378200"/>
              <a:gd name="connsiteY3" fmla="*/ 42333 h 728133"/>
              <a:gd name="connsiteX4" fmla="*/ 1981200 w 3378200"/>
              <a:gd name="connsiteY4" fmla="*/ 448733 h 728133"/>
              <a:gd name="connsiteX5" fmla="*/ 3378200 w 3378200"/>
              <a:gd name="connsiteY5" fmla="*/ 232833 h 72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78200" h="728133">
                <a:moveTo>
                  <a:pt x="0" y="321733"/>
                </a:moveTo>
                <a:cubicBezTo>
                  <a:pt x="279400" y="226483"/>
                  <a:pt x="558800" y="131233"/>
                  <a:pt x="711200" y="194733"/>
                </a:cubicBezTo>
                <a:cubicBezTo>
                  <a:pt x="863600" y="258233"/>
                  <a:pt x="759883" y="728133"/>
                  <a:pt x="914400" y="702733"/>
                </a:cubicBezTo>
                <a:cubicBezTo>
                  <a:pt x="1068917" y="677333"/>
                  <a:pt x="1460500" y="84666"/>
                  <a:pt x="1638300" y="42333"/>
                </a:cubicBezTo>
                <a:cubicBezTo>
                  <a:pt x="1816100" y="0"/>
                  <a:pt x="1691217" y="416983"/>
                  <a:pt x="1981200" y="448733"/>
                </a:cubicBezTo>
                <a:cubicBezTo>
                  <a:pt x="2271183" y="480483"/>
                  <a:pt x="2824691" y="356658"/>
                  <a:pt x="3378200" y="232833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 bwMode="auto">
          <a:xfrm>
            <a:off x="8089901" y="2281766"/>
            <a:ext cx="131233" cy="609600"/>
          </a:xfrm>
          <a:custGeom>
            <a:avLst/>
            <a:gdLst>
              <a:gd name="connsiteX0" fmla="*/ 0 w 131233"/>
              <a:gd name="connsiteY0" fmla="*/ 609600 h 609600"/>
              <a:gd name="connsiteX1" fmla="*/ 127000 w 131233"/>
              <a:gd name="connsiteY1" fmla="*/ 342900 h 609600"/>
              <a:gd name="connsiteX2" fmla="*/ 25400 w 131233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233" h="609600">
                <a:moveTo>
                  <a:pt x="0" y="609600"/>
                </a:moveTo>
                <a:cubicBezTo>
                  <a:pt x="61383" y="527050"/>
                  <a:pt x="122767" y="444500"/>
                  <a:pt x="127000" y="342900"/>
                </a:cubicBezTo>
                <a:cubicBezTo>
                  <a:pt x="131233" y="241300"/>
                  <a:pt x="78316" y="120650"/>
                  <a:pt x="25400" y="0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 bwMode="auto">
          <a:xfrm>
            <a:off x="8420100" y="1752600"/>
            <a:ext cx="254000" cy="355600"/>
          </a:xfrm>
          <a:custGeom>
            <a:avLst/>
            <a:gdLst>
              <a:gd name="connsiteX0" fmla="*/ 0 w 254000"/>
              <a:gd name="connsiteY0" fmla="*/ 355600 h 355600"/>
              <a:gd name="connsiteX1" fmla="*/ 152400 w 254000"/>
              <a:gd name="connsiteY1" fmla="*/ 228600 h 355600"/>
              <a:gd name="connsiteX2" fmla="*/ 76200 w 254000"/>
              <a:gd name="connsiteY2" fmla="*/ 38100 h 355600"/>
              <a:gd name="connsiteX3" fmla="*/ 254000 w 254000"/>
              <a:gd name="connsiteY3" fmla="*/ 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000" h="355600">
                <a:moveTo>
                  <a:pt x="0" y="355600"/>
                </a:moveTo>
                <a:cubicBezTo>
                  <a:pt x="69850" y="318558"/>
                  <a:pt x="139700" y="281517"/>
                  <a:pt x="152400" y="228600"/>
                </a:cubicBezTo>
                <a:cubicBezTo>
                  <a:pt x="165100" y="175683"/>
                  <a:pt x="59267" y="76200"/>
                  <a:pt x="76200" y="38100"/>
                </a:cubicBezTo>
                <a:cubicBezTo>
                  <a:pt x="93133" y="0"/>
                  <a:pt x="173566" y="0"/>
                  <a:pt x="254000" y="0"/>
                </a:cubicBezTo>
              </a:path>
            </a:pathLst>
          </a:custGeom>
          <a:noFill/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04CC2215-550D-CD4D-9688-205CDD7EEAE6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11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309880" y="1"/>
            <a:ext cx="11050498" cy="670560"/>
          </a:xfrm>
        </p:spPr>
        <p:txBody>
          <a:bodyPr/>
          <a:lstStyle/>
          <a:p>
            <a:r>
              <a:rPr lang="en-US" dirty="0"/>
              <a:t>The Notion of an internet Protocol</a:t>
            </a:r>
          </a:p>
        </p:txBody>
      </p:sp>
      <p:sp>
        <p:nvSpPr>
          <p:cNvPr id="683013" name="Rectangle 5"/>
          <p:cNvSpPr>
            <a:spLocks noGrp="1" noChangeArrowheads="1"/>
          </p:cNvSpPr>
          <p:nvPr>
            <p:ph idx="1"/>
          </p:nvPr>
        </p:nvSpPr>
        <p:spPr>
          <a:xfrm>
            <a:off x="1951684" y="1238762"/>
            <a:ext cx="8301789" cy="450367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How is it possible to send bits across incompatible LANs and WANs?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Solution:  </a:t>
            </a:r>
            <a:r>
              <a:rPr lang="en-US" i="1" dirty="0">
                <a:solidFill>
                  <a:srgbClr val="FF0000"/>
                </a:solidFill>
              </a:rPr>
              <a:t>protocol</a:t>
            </a:r>
            <a:r>
              <a:rPr lang="en-US" dirty="0"/>
              <a:t> software running on each host and router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Protocol is a </a:t>
            </a:r>
            <a:r>
              <a:rPr lang="en-US" b="1" dirty="0"/>
              <a:t>set of rules that governs how hosts and routers should cooperate </a:t>
            </a:r>
            <a:r>
              <a:rPr lang="en-US" dirty="0"/>
              <a:t>when they transfer data from network to network.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Smooths out the differences between the different networks</a:t>
            </a:r>
          </a:p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3AC275-F729-1F45-A008-CBA567D6D598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4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88" y="-69087"/>
            <a:ext cx="8458200" cy="876258"/>
          </a:xfrm>
        </p:spPr>
        <p:txBody>
          <a:bodyPr>
            <a:noAutofit/>
          </a:bodyPr>
          <a:lstStyle/>
          <a:p>
            <a:r>
              <a:rPr lang="en-US" dirty="0"/>
              <a:t>What Does an internet Protocol Do?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1903414" y="1295400"/>
            <a:ext cx="8307387" cy="5337048"/>
          </a:xfrm>
        </p:spPr>
        <p:txBody>
          <a:bodyPr>
            <a:normAutofit/>
          </a:bodyPr>
          <a:lstStyle/>
          <a:p>
            <a:r>
              <a:rPr lang="en-US" dirty="0"/>
              <a:t>Provides a </a:t>
            </a:r>
            <a:r>
              <a:rPr lang="en-US" i="1" dirty="0"/>
              <a:t>naming scheme</a:t>
            </a:r>
          </a:p>
          <a:p>
            <a:pPr lvl="1"/>
            <a:r>
              <a:rPr lang="en-US" dirty="0"/>
              <a:t>An internet protocol defines a uniform format for </a:t>
            </a:r>
            <a:r>
              <a:rPr lang="en-US" b="1" i="1" dirty="0">
                <a:solidFill>
                  <a:srgbClr val="C00000"/>
                </a:solidFill>
              </a:rPr>
              <a:t>host addresses</a:t>
            </a:r>
          </a:p>
          <a:p>
            <a:pPr lvl="1"/>
            <a:r>
              <a:rPr lang="en-US" dirty="0"/>
              <a:t>Each host (and router) is assigned at least one of these internet addresses that uniquely identifies it</a:t>
            </a:r>
          </a:p>
          <a:p>
            <a:endParaRPr lang="en-US" dirty="0"/>
          </a:p>
          <a:p>
            <a:r>
              <a:rPr lang="en-US" dirty="0"/>
              <a:t>Provides a </a:t>
            </a:r>
            <a:r>
              <a:rPr lang="en-US" i="1" dirty="0"/>
              <a:t>delivery mechanism</a:t>
            </a:r>
          </a:p>
          <a:p>
            <a:pPr lvl="1"/>
            <a:r>
              <a:rPr lang="en-US" dirty="0"/>
              <a:t>An internet protocol defines a standard transfer unit (</a:t>
            </a:r>
            <a:r>
              <a:rPr lang="en-US" b="1" i="1" dirty="0">
                <a:solidFill>
                  <a:srgbClr val="C00000"/>
                </a:solidFill>
              </a:rPr>
              <a:t>packet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 consists of </a:t>
            </a:r>
            <a:r>
              <a:rPr lang="en-US" b="1" i="1" dirty="0">
                <a:solidFill>
                  <a:srgbClr val="C00000"/>
                </a:solidFill>
              </a:rPr>
              <a:t>header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>
                <a:solidFill>
                  <a:srgbClr val="C00000"/>
                </a:solidFill>
              </a:rPr>
              <a:t>payload</a:t>
            </a:r>
          </a:p>
          <a:p>
            <a:pPr lvl="2"/>
            <a:r>
              <a:rPr lang="en-US" dirty="0"/>
              <a:t>Header: contains info such as packet size, source and destination addresses</a:t>
            </a:r>
          </a:p>
          <a:p>
            <a:pPr lvl="2"/>
            <a:r>
              <a:rPr lang="en-US" dirty="0"/>
              <a:t>Payload: contains data bits sent from source host</a:t>
            </a:r>
            <a:endParaRPr lang="en-US" i="1" dirty="0"/>
          </a:p>
          <a:p>
            <a:pPr lvl="1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E3A231-BD3A-F24C-B8B5-27C0D9AA26AB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2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326392" y="0"/>
            <a:ext cx="7592093" cy="762000"/>
          </a:xfrm>
        </p:spPr>
        <p:txBody>
          <a:bodyPr/>
          <a:lstStyle/>
          <a:p>
            <a:r>
              <a:rPr lang="en-US" dirty="0"/>
              <a:t>Global IP Internet (upper case)</a:t>
            </a:r>
          </a:p>
        </p:txBody>
      </p:sp>
      <p:sp>
        <p:nvSpPr>
          <p:cNvPr id="687109" name="Rectangle 5"/>
          <p:cNvSpPr>
            <a:spLocks noGrp="1" noChangeArrowheads="1"/>
          </p:cNvSpPr>
          <p:nvPr>
            <p:ph idx="1"/>
          </p:nvPr>
        </p:nvSpPr>
        <p:spPr>
          <a:xfrm>
            <a:off x="1920876" y="1295400"/>
            <a:ext cx="8289925" cy="51433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5000"/>
              </a:lnSpc>
            </a:pPr>
            <a:r>
              <a:rPr lang="en-US" dirty="0"/>
              <a:t>Most famous example of an internet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Based on the TCP/IP protocol family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IP (Internet Protocol)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Provides </a:t>
            </a:r>
            <a:r>
              <a:rPr lang="en-US" i="1" dirty="0">
                <a:solidFill>
                  <a:srgbClr val="FF0000"/>
                </a:solidFill>
              </a:rPr>
              <a:t>basic naming scheme </a:t>
            </a:r>
            <a:r>
              <a:rPr lang="en-US" dirty="0"/>
              <a:t>and unreliable </a:t>
            </a:r>
            <a:r>
              <a:rPr lang="en-US" i="1" dirty="0">
                <a:solidFill>
                  <a:srgbClr val="FF0000"/>
                </a:solidFill>
              </a:rPr>
              <a:t>delivery capability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/>
            </a:br>
            <a:r>
              <a:rPr lang="en-US" dirty="0"/>
              <a:t>of packets (</a:t>
            </a:r>
            <a:r>
              <a:rPr lang="en-US" dirty="0" err="1"/>
              <a:t>datagrams</a:t>
            </a:r>
            <a:r>
              <a:rPr lang="en-US" dirty="0"/>
              <a:t>) from </a:t>
            </a:r>
            <a:r>
              <a:rPr lang="en-US" i="1" dirty="0">
                <a:solidFill>
                  <a:srgbClr val="FF0000"/>
                </a:solidFill>
              </a:rPr>
              <a:t>host-to-host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UDP (Unreliable Datagram Protocol)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Uses IP to provide </a:t>
            </a:r>
            <a:r>
              <a:rPr lang="en-US" i="1" dirty="0">
                <a:solidFill>
                  <a:srgbClr val="FF0000"/>
                </a:solidFill>
              </a:rPr>
              <a:t>unreliable</a:t>
            </a:r>
            <a:r>
              <a:rPr lang="en-US" dirty="0"/>
              <a:t> datagram delivery from </a:t>
            </a:r>
            <a:br>
              <a:rPr lang="en-US" dirty="0"/>
            </a:br>
            <a:r>
              <a:rPr lang="en-US" i="1" dirty="0">
                <a:solidFill>
                  <a:srgbClr val="FF0000"/>
                </a:solidFill>
              </a:rPr>
              <a:t>process-to-process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TCP (Transmission Control Protocol)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Uses IP to provide </a:t>
            </a:r>
            <a:r>
              <a:rPr lang="en-US" i="1" dirty="0">
                <a:solidFill>
                  <a:srgbClr val="FF0000"/>
                </a:solidFill>
              </a:rPr>
              <a:t>reliable</a:t>
            </a:r>
            <a:r>
              <a:rPr lang="en-US" dirty="0"/>
              <a:t> byte streams from </a:t>
            </a:r>
            <a:r>
              <a:rPr lang="en-US" i="1" dirty="0">
                <a:solidFill>
                  <a:srgbClr val="FF0000"/>
                </a:solidFill>
              </a:rPr>
              <a:t>process-to-process </a:t>
            </a:r>
            <a:r>
              <a:rPr lang="en-US" dirty="0"/>
              <a:t>over </a:t>
            </a:r>
            <a:r>
              <a:rPr lang="en-US" i="1" dirty="0">
                <a:solidFill>
                  <a:srgbClr val="FF0000"/>
                </a:solidFill>
              </a:rPr>
              <a:t>connections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Accessed via a mix of Unix file I/O and functions from the </a:t>
            </a:r>
            <a:r>
              <a:rPr lang="en-US" i="1" dirty="0">
                <a:solidFill>
                  <a:srgbClr val="FF0000"/>
                </a:solidFill>
              </a:rPr>
              <a:t>sockets interface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F92A18-3F90-B741-A7D4-E39FF40DE5B5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2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52" name="Rectangle 24"/>
          <p:cNvSpPr>
            <a:spLocks noChangeArrowheads="1"/>
          </p:cNvSpPr>
          <p:nvPr/>
        </p:nvSpPr>
        <p:spPr bwMode="auto">
          <a:xfrm>
            <a:off x="4199698" y="2361184"/>
            <a:ext cx="1447800" cy="2819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53" name="Rectangle 25"/>
          <p:cNvSpPr>
            <a:spLocks noChangeArrowheads="1"/>
          </p:cNvSpPr>
          <p:nvPr/>
        </p:nvSpPr>
        <p:spPr bwMode="auto">
          <a:xfrm>
            <a:off x="8098598" y="2361184"/>
            <a:ext cx="1447800" cy="2819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0" y="345799"/>
            <a:ext cx="8128000" cy="1095375"/>
          </a:xfrm>
        </p:spPr>
        <p:txBody>
          <a:bodyPr>
            <a:normAutofit fontScale="90000"/>
          </a:bodyPr>
          <a:lstStyle/>
          <a:p>
            <a:r>
              <a:rPr lang="en-US" dirty="0"/>
              <a:t>Hardware and Software Organization </a:t>
            </a:r>
            <a:br>
              <a:rPr lang="en-US" dirty="0"/>
            </a:br>
            <a:r>
              <a:rPr lang="en-US" dirty="0"/>
              <a:t>of an Internet Application</a:t>
            </a:r>
          </a:p>
        </p:txBody>
      </p:sp>
      <p:sp>
        <p:nvSpPr>
          <p:cNvPr id="688131" name="Rectangle 3"/>
          <p:cNvSpPr>
            <a:spLocks noChangeArrowheads="1"/>
          </p:cNvSpPr>
          <p:nvPr/>
        </p:nvSpPr>
        <p:spPr bwMode="auto">
          <a:xfrm>
            <a:off x="4288599" y="3427984"/>
            <a:ext cx="1284287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TCP/IP</a:t>
            </a:r>
          </a:p>
        </p:txBody>
      </p:sp>
      <p:sp>
        <p:nvSpPr>
          <p:cNvPr id="688132" name="Line 4"/>
          <p:cNvSpPr>
            <a:spLocks noChangeShapeType="1"/>
          </p:cNvSpPr>
          <p:nvPr/>
        </p:nvSpPr>
        <p:spPr bwMode="auto">
          <a:xfrm>
            <a:off x="4936298" y="3046984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33" name="Line 5"/>
          <p:cNvSpPr>
            <a:spLocks noChangeShapeType="1"/>
          </p:cNvSpPr>
          <p:nvPr/>
        </p:nvSpPr>
        <p:spPr bwMode="auto">
          <a:xfrm>
            <a:off x="4936298" y="4037584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34" name="Rectangle 6"/>
          <p:cNvSpPr>
            <a:spLocks noChangeArrowheads="1"/>
          </p:cNvSpPr>
          <p:nvPr/>
        </p:nvSpPr>
        <p:spPr bwMode="auto">
          <a:xfrm>
            <a:off x="4288599" y="2437384"/>
            <a:ext cx="1284287" cy="6096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Client</a:t>
            </a:r>
          </a:p>
        </p:txBody>
      </p:sp>
      <p:sp>
        <p:nvSpPr>
          <p:cNvPr id="688135" name="Rectangle 7"/>
          <p:cNvSpPr>
            <a:spLocks noChangeArrowheads="1"/>
          </p:cNvSpPr>
          <p:nvPr/>
        </p:nvSpPr>
        <p:spPr bwMode="auto">
          <a:xfrm>
            <a:off x="4288599" y="4418584"/>
            <a:ext cx="1284287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Network</a:t>
            </a:r>
          </a:p>
          <a:p>
            <a:pPr algn="ctr"/>
            <a:r>
              <a:rPr lang="en-US" dirty="0">
                <a:latin typeface="Calibri" pitchFamily="34" charset="0"/>
              </a:rPr>
              <a:t>adapter</a:t>
            </a:r>
          </a:p>
        </p:txBody>
      </p:sp>
      <p:sp>
        <p:nvSpPr>
          <p:cNvPr id="688136" name="Line 8"/>
          <p:cNvSpPr>
            <a:spLocks noChangeShapeType="1"/>
          </p:cNvSpPr>
          <p:nvPr/>
        </p:nvSpPr>
        <p:spPr bwMode="auto">
          <a:xfrm>
            <a:off x="4936298" y="5028184"/>
            <a:ext cx="127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37" name="AutoShape 9"/>
          <p:cNvSpPr>
            <a:spLocks noChangeArrowheads="1"/>
          </p:cNvSpPr>
          <p:nvPr/>
        </p:nvSpPr>
        <p:spPr bwMode="auto">
          <a:xfrm>
            <a:off x="4174298" y="5459984"/>
            <a:ext cx="5448300" cy="3556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Global IP Internet</a:t>
            </a:r>
          </a:p>
        </p:txBody>
      </p:sp>
      <p:sp>
        <p:nvSpPr>
          <p:cNvPr id="688138" name="Rectangle 10"/>
          <p:cNvSpPr>
            <a:spLocks noChangeArrowheads="1"/>
          </p:cNvSpPr>
          <p:nvPr/>
        </p:nvSpPr>
        <p:spPr bwMode="auto">
          <a:xfrm>
            <a:off x="8174799" y="3427984"/>
            <a:ext cx="1284287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TCP/IP</a:t>
            </a:r>
          </a:p>
        </p:txBody>
      </p:sp>
      <p:sp>
        <p:nvSpPr>
          <p:cNvPr id="688139" name="Line 11"/>
          <p:cNvSpPr>
            <a:spLocks noChangeShapeType="1"/>
          </p:cNvSpPr>
          <p:nvPr/>
        </p:nvSpPr>
        <p:spPr bwMode="auto">
          <a:xfrm>
            <a:off x="8860599" y="3046984"/>
            <a:ext cx="158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40" name="Line 12"/>
          <p:cNvSpPr>
            <a:spLocks noChangeShapeType="1"/>
          </p:cNvSpPr>
          <p:nvPr/>
        </p:nvSpPr>
        <p:spPr bwMode="auto">
          <a:xfrm>
            <a:off x="8860599" y="4037584"/>
            <a:ext cx="1587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41" name="Rectangle 13"/>
          <p:cNvSpPr>
            <a:spLocks noChangeArrowheads="1"/>
          </p:cNvSpPr>
          <p:nvPr/>
        </p:nvSpPr>
        <p:spPr bwMode="auto">
          <a:xfrm>
            <a:off x="8174799" y="2437384"/>
            <a:ext cx="1284287" cy="6096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Server</a:t>
            </a:r>
          </a:p>
        </p:txBody>
      </p:sp>
      <p:sp>
        <p:nvSpPr>
          <p:cNvPr id="688142" name="Rectangle 14"/>
          <p:cNvSpPr>
            <a:spLocks noChangeArrowheads="1"/>
          </p:cNvSpPr>
          <p:nvPr/>
        </p:nvSpPr>
        <p:spPr bwMode="auto">
          <a:xfrm>
            <a:off x="8174799" y="4418584"/>
            <a:ext cx="1284287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Network</a:t>
            </a:r>
          </a:p>
          <a:p>
            <a:pPr algn="ctr"/>
            <a:r>
              <a:rPr lang="en-US" dirty="0">
                <a:latin typeface="Calibri" pitchFamily="34" charset="0"/>
              </a:rPr>
              <a:t>adapter</a:t>
            </a:r>
          </a:p>
        </p:txBody>
      </p:sp>
      <p:sp>
        <p:nvSpPr>
          <p:cNvPr id="688143" name="Line 15"/>
          <p:cNvSpPr>
            <a:spLocks noChangeShapeType="1"/>
          </p:cNvSpPr>
          <p:nvPr/>
        </p:nvSpPr>
        <p:spPr bwMode="auto">
          <a:xfrm>
            <a:off x="8860598" y="5028184"/>
            <a:ext cx="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44" name="Text Box 16"/>
          <p:cNvSpPr txBox="1">
            <a:spLocks noChangeArrowheads="1"/>
          </p:cNvSpPr>
          <p:nvPr/>
        </p:nvSpPr>
        <p:spPr bwMode="auto">
          <a:xfrm>
            <a:off x="3917124" y="2018284"/>
            <a:ext cx="200567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Internet client host</a:t>
            </a:r>
          </a:p>
        </p:txBody>
      </p:sp>
      <p:sp>
        <p:nvSpPr>
          <p:cNvPr id="688145" name="Text Box 17"/>
          <p:cNvSpPr txBox="1">
            <a:spLocks noChangeArrowheads="1"/>
          </p:cNvSpPr>
          <p:nvPr/>
        </p:nvSpPr>
        <p:spPr bwMode="auto">
          <a:xfrm>
            <a:off x="7769986" y="2018284"/>
            <a:ext cx="207505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Internet server host</a:t>
            </a:r>
          </a:p>
        </p:txBody>
      </p:sp>
      <p:sp>
        <p:nvSpPr>
          <p:cNvPr id="688146" name="Text Box 18"/>
          <p:cNvSpPr txBox="1">
            <a:spLocks noChangeArrowheads="1"/>
          </p:cNvSpPr>
          <p:nvPr/>
        </p:nvSpPr>
        <p:spPr bwMode="auto">
          <a:xfrm>
            <a:off x="2102611" y="2908272"/>
            <a:ext cx="179927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r"/>
            <a:r>
              <a:rPr lang="en-US" i="1" dirty="0">
                <a:latin typeface="Calibri" pitchFamily="34" charset="0"/>
              </a:rPr>
              <a:t>Sockets interface</a:t>
            </a:r>
          </a:p>
          <a:p>
            <a:pPr algn="r"/>
            <a:r>
              <a:rPr lang="en-US" i="1" dirty="0">
                <a:latin typeface="Calibri" pitchFamily="34" charset="0"/>
              </a:rPr>
              <a:t>(system calls)</a:t>
            </a:r>
          </a:p>
        </p:txBody>
      </p:sp>
      <p:sp>
        <p:nvSpPr>
          <p:cNvPr id="688147" name="Text Box 19"/>
          <p:cNvSpPr txBox="1">
            <a:spLocks noChangeArrowheads="1"/>
          </p:cNvSpPr>
          <p:nvPr/>
        </p:nvSpPr>
        <p:spPr bwMode="auto">
          <a:xfrm>
            <a:off x="1916873" y="3897284"/>
            <a:ext cx="2047868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i="1" dirty="0">
                <a:latin typeface="Calibri" pitchFamily="34" charset="0"/>
              </a:rPr>
              <a:t>Hardware interface</a:t>
            </a:r>
          </a:p>
          <a:p>
            <a:pPr algn="r"/>
            <a:r>
              <a:rPr lang="en-US" i="1" dirty="0">
                <a:latin typeface="Calibri" pitchFamily="34" charset="0"/>
              </a:rPr>
              <a:t>(interrupts)</a:t>
            </a:r>
          </a:p>
        </p:txBody>
      </p:sp>
      <p:sp>
        <p:nvSpPr>
          <p:cNvPr id="688148" name="Text Box 20"/>
          <p:cNvSpPr txBox="1">
            <a:spLocks noChangeArrowheads="1"/>
          </p:cNvSpPr>
          <p:nvPr/>
        </p:nvSpPr>
        <p:spPr bwMode="auto">
          <a:xfrm>
            <a:off x="5606824" y="2559622"/>
            <a:ext cx="112511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User code</a:t>
            </a:r>
          </a:p>
        </p:txBody>
      </p:sp>
      <p:sp>
        <p:nvSpPr>
          <p:cNvPr id="688149" name="Text Box 21"/>
          <p:cNvSpPr txBox="1">
            <a:spLocks noChangeArrowheads="1"/>
          </p:cNvSpPr>
          <p:nvPr/>
        </p:nvSpPr>
        <p:spPr bwMode="auto">
          <a:xfrm>
            <a:off x="5606824" y="3548634"/>
            <a:ext cx="129670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Kernel code</a:t>
            </a:r>
          </a:p>
        </p:txBody>
      </p:sp>
      <p:sp>
        <p:nvSpPr>
          <p:cNvPr id="688150" name="Text Box 22"/>
          <p:cNvSpPr txBox="1">
            <a:spLocks noChangeArrowheads="1"/>
          </p:cNvSpPr>
          <p:nvPr/>
        </p:nvSpPr>
        <p:spPr bwMode="auto">
          <a:xfrm>
            <a:off x="5606825" y="4416998"/>
            <a:ext cx="1487267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Hardware</a:t>
            </a:r>
          </a:p>
          <a:p>
            <a:r>
              <a:rPr lang="en-US" i="1" dirty="0">
                <a:latin typeface="Calibri" pitchFamily="34" charset="0"/>
              </a:rPr>
              <a:t>and firmware</a:t>
            </a:r>
          </a:p>
        </p:txBody>
      </p:sp>
      <p:sp>
        <p:nvSpPr>
          <p:cNvPr id="688151" name="Line 23"/>
          <p:cNvSpPr>
            <a:spLocks noChangeShapeType="1"/>
          </p:cNvSpPr>
          <p:nvPr/>
        </p:nvSpPr>
        <p:spPr bwMode="auto">
          <a:xfrm>
            <a:off x="3983798" y="3212084"/>
            <a:ext cx="1968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8154" name="Line 26"/>
          <p:cNvSpPr>
            <a:spLocks noChangeShapeType="1"/>
          </p:cNvSpPr>
          <p:nvPr/>
        </p:nvSpPr>
        <p:spPr bwMode="auto">
          <a:xfrm>
            <a:off x="3971098" y="4215384"/>
            <a:ext cx="1968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9765991-89FE-4D43-802D-7BCD4AF51360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8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1" grpId="0" animBg="1"/>
      <p:bldP spid="688132" grpId="0" animBg="1"/>
      <p:bldP spid="688133" grpId="0" animBg="1"/>
      <p:bldP spid="688134" grpId="0" animBg="1"/>
      <p:bldP spid="688135" grpId="0" animBg="1"/>
      <p:bldP spid="688136" grpId="0" animBg="1"/>
      <p:bldP spid="688138" grpId="0" animBg="1"/>
      <p:bldP spid="688139" grpId="0" animBg="1"/>
      <p:bldP spid="688140" grpId="0" animBg="1"/>
      <p:bldP spid="688141" grpId="0" animBg="1"/>
      <p:bldP spid="688142" grpId="0" animBg="1"/>
      <p:bldP spid="688143" grpId="0" animBg="1"/>
      <p:bldP spid="688144" grpId="0"/>
      <p:bldP spid="688145" grpId="0"/>
      <p:bldP spid="688146" grpId="0"/>
      <p:bldP spid="688147" grpId="0"/>
      <p:bldP spid="688148" grpId="0"/>
      <p:bldP spid="688149" grpId="0"/>
      <p:bldP spid="688150" grpId="0"/>
      <p:bldP spid="688151" grpId="0" animBg="1"/>
      <p:bldP spid="6881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90" y="0"/>
            <a:ext cx="9415130" cy="573087"/>
          </a:xfrm>
        </p:spPr>
        <p:txBody>
          <a:bodyPr>
            <a:noAutofit/>
          </a:bodyPr>
          <a:lstStyle/>
          <a:p>
            <a:r>
              <a:rPr lang="en-US" dirty="0"/>
              <a:t>A Programmer’s View of the Internet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idx="1"/>
          </p:nvPr>
        </p:nvSpPr>
        <p:spPr>
          <a:xfrm>
            <a:off x="1963876" y="1328930"/>
            <a:ext cx="8087667" cy="507187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1. Hosts are mapped to a set of 32-bit </a:t>
            </a:r>
            <a:r>
              <a:rPr lang="en-US" i="1" dirty="0">
                <a:solidFill>
                  <a:srgbClr val="C00000"/>
                </a:solidFill>
              </a:rPr>
              <a:t>IP addresses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128.2.203.179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2. The set of IP addresses is mapped to a set of identifiers called Internet </a:t>
            </a:r>
            <a:r>
              <a:rPr lang="en-US" i="1" dirty="0">
                <a:solidFill>
                  <a:srgbClr val="C00000"/>
                </a:solidFill>
              </a:rPr>
              <a:t>domain names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136.142.156.73 is mapped to  www.cs.pitt.edu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3. A process on one Internet host can communicate with a process on another Internet host over a </a:t>
            </a:r>
            <a:r>
              <a:rPr lang="en-US" i="1" dirty="0">
                <a:solidFill>
                  <a:srgbClr val="C00000"/>
                </a:solidFill>
              </a:rPr>
              <a:t>connection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9D2929-BFFC-1940-B40F-19961B9C24E6}"/>
              </a:ext>
            </a:extLst>
          </p:cNvPr>
          <p:cNvSpPr txBox="1">
            <a:spLocks/>
          </p:cNvSpPr>
          <p:nvPr/>
        </p:nvSpPr>
        <p:spPr>
          <a:xfrm>
            <a:off x="7981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99CA6F-E293-804D-B97D-D11B2095D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6560" y="-60959"/>
            <a:ext cx="8494776" cy="865631"/>
          </a:xfrm>
        </p:spPr>
        <p:txBody>
          <a:bodyPr>
            <a:normAutofit/>
          </a:bodyPr>
          <a:lstStyle/>
          <a:p>
            <a:r>
              <a:rPr lang="en-US" dirty="0"/>
              <a:t>(1) IP Addresses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idx="1"/>
          </p:nvPr>
        </p:nvSpPr>
        <p:spPr>
          <a:xfrm>
            <a:off x="1738401" y="1488414"/>
            <a:ext cx="8806859" cy="29248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32-bit IP addresses are stored in an </a:t>
            </a:r>
            <a:r>
              <a:rPr lang="en-US" i="1" dirty="0">
                <a:solidFill>
                  <a:srgbClr val="FF0000"/>
                </a:solidFill>
              </a:rPr>
              <a:t>IP address </a:t>
            </a:r>
            <a:r>
              <a:rPr lang="en-US" i="1" dirty="0" err="1">
                <a:solidFill>
                  <a:srgbClr val="FF0000"/>
                </a:solidFill>
              </a:rPr>
              <a:t>struct</a:t>
            </a:r>
            <a:endParaRPr lang="en-US" i="1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IP addresses are always stored in memory in </a:t>
            </a:r>
            <a:r>
              <a:rPr lang="en-US" i="1" dirty="0">
                <a:solidFill>
                  <a:srgbClr val="FF0000"/>
                </a:solidFill>
              </a:rPr>
              <a:t>network byte order </a:t>
            </a:r>
            <a:br>
              <a:rPr lang="en-US" dirty="0"/>
            </a:br>
            <a:r>
              <a:rPr lang="en-US" dirty="0"/>
              <a:t>(big-endian byte order)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True in general for any integer transferred in a packet header from one machine to another.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E.g., the port number used to identify an Internet connection.</a:t>
            </a:r>
          </a:p>
        </p:txBody>
      </p:sp>
      <p:sp>
        <p:nvSpPr>
          <p:cNvPr id="697348" name="Rectangle 4"/>
          <p:cNvSpPr>
            <a:spLocks noChangeArrowheads="1"/>
          </p:cNvSpPr>
          <p:nvPr/>
        </p:nvSpPr>
        <p:spPr bwMode="auto">
          <a:xfrm>
            <a:off x="2427701" y="4458349"/>
            <a:ext cx="7449375" cy="10772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/* Internet address structure */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in_addr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uint32_t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s_addr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/* network byte order (big-endian) */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1995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64160" y="-46735"/>
            <a:ext cx="7665720" cy="798576"/>
          </a:xfrm>
        </p:spPr>
        <p:txBody>
          <a:bodyPr>
            <a:normAutofit/>
          </a:bodyPr>
          <a:lstStyle/>
          <a:p>
            <a:r>
              <a:rPr lang="en-US" dirty="0"/>
              <a:t>Dotted Decimal Notation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idx="1"/>
          </p:nvPr>
        </p:nvSpPr>
        <p:spPr>
          <a:xfrm>
            <a:off x="1911652" y="1316736"/>
            <a:ext cx="8527749" cy="5084064"/>
          </a:xfrm>
        </p:spPr>
        <p:txBody>
          <a:bodyPr/>
          <a:lstStyle/>
          <a:p>
            <a:r>
              <a:rPr lang="en-US" dirty="0"/>
              <a:t>By convention, each byte in a 32-bit IP address is represented by its decimal value and separated by a period</a:t>
            </a:r>
          </a:p>
          <a:p>
            <a:pPr lvl="2"/>
            <a:r>
              <a:rPr lang="en-US" sz="2400" dirty="0"/>
              <a:t>IP address: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0x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80</a:t>
            </a:r>
            <a:r>
              <a:rPr lang="en-US" sz="2400" b="1" dirty="0">
                <a:solidFill>
                  <a:srgbClr val="008000"/>
                </a:solidFill>
                <a:latin typeface="Courier New" pitchFamily="49" charset="0"/>
              </a:rPr>
              <a:t>02</a:t>
            </a:r>
            <a:r>
              <a:rPr lang="en-US" sz="2400" b="1" dirty="0">
                <a:solidFill>
                  <a:srgbClr val="D09E00"/>
                </a:solidFill>
                <a:latin typeface="Courier New" pitchFamily="49" charset="0"/>
              </a:rPr>
              <a:t>C2</a:t>
            </a:r>
            <a:r>
              <a:rPr lang="en-US" sz="2400" b="1" dirty="0">
                <a:solidFill>
                  <a:schemeClr val="accent6"/>
                </a:solidFill>
                <a:latin typeface="Courier New" pitchFamily="49" charset="0"/>
              </a:rPr>
              <a:t>F2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128</a:t>
            </a:r>
            <a:r>
              <a:rPr lang="en-US" sz="2400" b="1" dirty="0"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008000"/>
                </a:solidFill>
                <a:latin typeface="Courier New" pitchFamily="49" charset="0"/>
              </a:rPr>
              <a:t>2</a:t>
            </a:r>
            <a:r>
              <a:rPr lang="en-US" sz="2400" b="1" dirty="0"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D09E00"/>
                </a:solidFill>
                <a:latin typeface="Courier New" pitchFamily="49" charset="0"/>
              </a:rPr>
              <a:t>194</a:t>
            </a:r>
            <a:r>
              <a:rPr lang="en-US" sz="2400" b="1" dirty="0"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2D2DB9"/>
                </a:solidFill>
                <a:latin typeface="Courier New" pitchFamily="49" charset="0"/>
              </a:rPr>
              <a:t>242</a:t>
            </a:r>
            <a:endParaRPr lang="en-US" sz="2400" b="1" dirty="0">
              <a:solidFill>
                <a:srgbClr val="D09E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/>
              <a:t> and </a:t>
            </a:r>
            <a:r>
              <a:rPr lang="en-US" dirty="0" err="1">
                <a:latin typeface="Courier New"/>
                <a:cs typeface="Courier New"/>
              </a:rPr>
              <a:t>getnameinfo</a:t>
            </a:r>
            <a:r>
              <a:rPr lang="en-US" dirty="0"/>
              <a:t> functions to convert between IP addresses and dotted decimal format.</a:t>
            </a:r>
          </a:p>
        </p:txBody>
      </p:sp>
    </p:spTree>
    <p:extLst>
      <p:ext uri="{BB962C8B-B14F-4D97-AF65-F5344CB8AC3E}">
        <p14:creationId xmlns:p14="http://schemas.microsoft.com/office/powerpoint/2010/main" val="79621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292" y="-69366"/>
            <a:ext cx="7153656" cy="767519"/>
          </a:xfrm>
        </p:spPr>
        <p:txBody>
          <a:bodyPr>
            <a:normAutofit/>
          </a:bodyPr>
          <a:lstStyle/>
          <a:p>
            <a:r>
              <a:rPr lang="en-US" sz="4000" dirty="0"/>
              <a:t>(2) Internet Domain Names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2936494" y="2409382"/>
            <a:ext cx="607710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.net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396" name="Line 4"/>
          <p:cNvSpPr>
            <a:spLocks noChangeShapeType="1"/>
          </p:cNvSpPr>
          <p:nvPr/>
        </p:nvSpPr>
        <p:spPr bwMode="auto">
          <a:xfrm flipV="1">
            <a:off x="3211133" y="1817243"/>
            <a:ext cx="1476375" cy="592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3873120" y="2409382"/>
            <a:ext cx="659135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.</a:t>
            </a:r>
            <a:r>
              <a:rPr lang="en-US" sz="2000" dirty="0" err="1">
                <a:latin typeface="Calibri" pitchFamily="34" charset="0"/>
              </a:rPr>
              <a:t>edu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398" name="Text Box 6"/>
          <p:cNvSpPr txBox="1">
            <a:spLocks noChangeArrowheads="1"/>
          </p:cNvSpPr>
          <p:nvPr/>
        </p:nvSpPr>
        <p:spPr bwMode="auto">
          <a:xfrm>
            <a:off x="4841494" y="2409382"/>
            <a:ext cx="634962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.</a:t>
            </a:r>
            <a:r>
              <a:rPr lang="en-US" sz="2000" dirty="0" err="1">
                <a:latin typeface="Calibri" pitchFamily="34" charset="0"/>
              </a:rPr>
              <a:t>gov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399" name="Text Box 7"/>
          <p:cNvSpPr txBox="1">
            <a:spLocks noChangeArrowheads="1"/>
          </p:cNvSpPr>
          <p:nvPr/>
        </p:nvSpPr>
        <p:spPr bwMode="auto">
          <a:xfrm>
            <a:off x="5774944" y="2409382"/>
            <a:ext cx="705942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.com</a:t>
            </a:r>
          </a:p>
        </p:txBody>
      </p:sp>
      <p:sp>
        <p:nvSpPr>
          <p:cNvPr id="699400" name="Line 8"/>
          <p:cNvSpPr>
            <a:spLocks noChangeShapeType="1"/>
          </p:cNvSpPr>
          <p:nvPr/>
        </p:nvSpPr>
        <p:spPr bwMode="auto">
          <a:xfrm flipV="1">
            <a:off x="4276345" y="1817243"/>
            <a:ext cx="411163" cy="592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01" name="Line 9"/>
          <p:cNvSpPr>
            <a:spLocks noChangeShapeType="1"/>
          </p:cNvSpPr>
          <p:nvPr/>
        </p:nvSpPr>
        <p:spPr bwMode="auto">
          <a:xfrm flipH="1" flipV="1">
            <a:off x="4687507" y="1817243"/>
            <a:ext cx="425450" cy="592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02" name="Line 10"/>
          <p:cNvSpPr>
            <a:spLocks noChangeShapeType="1"/>
          </p:cNvSpPr>
          <p:nvPr/>
        </p:nvSpPr>
        <p:spPr bwMode="auto">
          <a:xfrm>
            <a:off x="4687507" y="1817243"/>
            <a:ext cx="1363662" cy="604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03" name="Text Box 11"/>
          <p:cNvSpPr txBox="1">
            <a:spLocks noChangeArrowheads="1"/>
          </p:cNvSpPr>
          <p:nvPr/>
        </p:nvSpPr>
        <p:spPr bwMode="auto">
          <a:xfrm>
            <a:off x="3908702" y="3338069"/>
            <a:ext cx="548080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pitt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404" name="Text Box 12"/>
          <p:cNvSpPr txBox="1">
            <a:spLocks noChangeArrowheads="1"/>
          </p:cNvSpPr>
          <p:nvPr/>
        </p:nvSpPr>
        <p:spPr bwMode="auto">
          <a:xfrm>
            <a:off x="4716082" y="3338069"/>
            <a:ext cx="1101820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berkeley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405" name="Text Box 13"/>
          <p:cNvSpPr txBox="1">
            <a:spLocks noChangeArrowheads="1"/>
          </p:cNvSpPr>
          <p:nvPr/>
        </p:nvSpPr>
        <p:spPr bwMode="auto">
          <a:xfrm>
            <a:off x="3068257" y="3338069"/>
            <a:ext cx="543718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mit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406" name="Line 14"/>
          <p:cNvSpPr>
            <a:spLocks noChangeShapeType="1"/>
          </p:cNvSpPr>
          <p:nvPr/>
        </p:nvSpPr>
        <p:spPr bwMode="auto">
          <a:xfrm>
            <a:off x="4200144" y="2745932"/>
            <a:ext cx="0" cy="592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07" name="Text Box 15"/>
          <p:cNvSpPr txBox="1">
            <a:spLocks noChangeArrowheads="1"/>
          </p:cNvSpPr>
          <p:nvPr/>
        </p:nvSpPr>
        <p:spPr bwMode="auto">
          <a:xfrm>
            <a:off x="3225419" y="4266757"/>
            <a:ext cx="394640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cs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408" name="Text Box 16"/>
          <p:cNvSpPr txBox="1">
            <a:spLocks noChangeArrowheads="1"/>
          </p:cNvSpPr>
          <p:nvPr/>
        </p:nvSpPr>
        <p:spPr bwMode="auto">
          <a:xfrm>
            <a:off x="4774501" y="4266757"/>
            <a:ext cx="453951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sci</a:t>
            </a:r>
          </a:p>
        </p:txBody>
      </p:sp>
      <p:sp>
        <p:nvSpPr>
          <p:cNvPr id="699409" name="Line 17"/>
          <p:cNvSpPr>
            <a:spLocks noChangeShapeType="1"/>
          </p:cNvSpPr>
          <p:nvPr/>
        </p:nvSpPr>
        <p:spPr bwMode="auto">
          <a:xfrm>
            <a:off x="4200144" y="3674618"/>
            <a:ext cx="668338" cy="592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10" name="Line 18"/>
          <p:cNvSpPr>
            <a:spLocks noChangeShapeType="1"/>
          </p:cNvSpPr>
          <p:nvPr/>
        </p:nvSpPr>
        <p:spPr bwMode="auto">
          <a:xfrm flipH="1">
            <a:off x="2768220" y="4603307"/>
            <a:ext cx="658813" cy="630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11" name="Text Box 19"/>
          <p:cNvSpPr txBox="1">
            <a:spLocks noChangeArrowheads="1"/>
          </p:cNvSpPr>
          <p:nvPr/>
        </p:nvSpPr>
        <p:spPr bwMode="auto">
          <a:xfrm>
            <a:off x="1913930" y="5256994"/>
            <a:ext cx="1527962" cy="67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thoth</a:t>
            </a:r>
            <a:endParaRPr lang="en-US" sz="2000" dirty="0">
              <a:latin typeface="Calibri" pitchFamily="34" charset="0"/>
            </a:endParaRPr>
          </a:p>
          <a:p>
            <a:pPr algn="ctr" defTabSz="912813"/>
            <a:r>
              <a:rPr lang="en-US" dirty="0"/>
              <a:t>136.142.23.51</a:t>
            </a:r>
          </a:p>
        </p:txBody>
      </p:sp>
      <p:sp>
        <p:nvSpPr>
          <p:cNvPr id="699412" name="Line 20"/>
          <p:cNvSpPr>
            <a:spLocks noChangeShapeType="1"/>
          </p:cNvSpPr>
          <p:nvPr/>
        </p:nvSpPr>
        <p:spPr bwMode="auto">
          <a:xfrm flipV="1">
            <a:off x="3509583" y="2718944"/>
            <a:ext cx="693737" cy="619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13" name="Line 21"/>
          <p:cNvSpPr>
            <a:spLocks noChangeShapeType="1"/>
          </p:cNvSpPr>
          <p:nvPr/>
        </p:nvSpPr>
        <p:spPr bwMode="auto">
          <a:xfrm>
            <a:off x="4203320" y="2718944"/>
            <a:ext cx="665163" cy="619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14" name="Line 22"/>
          <p:cNvSpPr>
            <a:spLocks noChangeShapeType="1"/>
          </p:cNvSpPr>
          <p:nvPr/>
        </p:nvSpPr>
        <p:spPr bwMode="auto">
          <a:xfrm flipV="1">
            <a:off x="3509582" y="3674618"/>
            <a:ext cx="690562" cy="592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17" name="Text Box 25"/>
          <p:cNvSpPr txBox="1">
            <a:spLocks noChangeArrowheads="1"/>
          </p:cNvSpPr>
          <p:nvPr/>
        </p:nvSpPr>
        <p:spPr bwMode="auto">
          <a:xfrm>
            <a:off x="3850754" y="1459300"/>
            <a:ext cx="1696277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i="1" dirty="0">
                <a:latin typeface="Calibri" pitchFamily="34" charset="0"/>
              </a:rPr>
              <a:t>unnamed root</a:t>
            </a:r>
          </a:p>
        </p:txBody>
      </p:sp>
      <p:sp>
        <p:nvSpPr>
          <p:cNvPr id="699418" name="Line 26"/>
          <p:cNvSpPr>
            <a:spLocks noChangeShapeType="1"/>
          </p:cNvSpPr>
          <p:nvPr/>
        </p:nvSpPr>
        <p:spPr bwMode="auto">
          <a:xfrm>
            <a:off x="3503233" y="4603307"/>
            <a:ext cx="592137" cy="592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21" name="Text Box 29"/>
          <p:cNvSpPr txBox="1">
            <a:spLocks noChangeArrowheads="1"/>
          </p:cNvSpPr>
          <p:nvPr/>
        </p:nvSpPr>
        <p:spPr bwMode="auto">
          <a:xfrm>
            <a:off x="3360252" y="5256994"/>
            <a:ext cx="1644981" cy="67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www</a:t>
            </a:r>
          </a:p>
          <a:p>
            <a:pPr algn="ctr" defTabSz="912813"/>
            <a:r>
              <a:rPr lang="en-US" dirty="0"/>
              <a:t>136.142.156.73</a:t>
            </a:r>
          </a:p>
        </p:txBody>
      </p:sp>
      <p:sp>
        <p:nvSpPr>
          <p:cNvPr id="699422" name="Text Box 30"/>
          <p:cNvSpPr txBox="1">
            <a:spLocks noChangeArrowheads="1"/>
          </p:cNvSpPr>
          <p:nvPr/>
        </p:nvSpPr>
        <p:spPr bwMode="auto">
          <a:xfrm>
            <a:off x="6171820" y="3350769"/>
            <a:ext cx="1020259" cy="4001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 err="1">
                <a:latin typeface="Calibri" pitchFamily="34" charset="0"/>
              </a:rPr>
              <a:t>amazon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699423" name="Line 31"/>
          <p:cNvSpPr>
            <a:spLocks noChangeShapeType="1"/>
          </p:cNvSpPr>
          <p:nvPr/>
        </p:nvSpPr>
        <p:spPr bwMode="auto">
          <a:xfrm>
            <a:off x="6194044" y="2720532"/>
            <a:ext cx="406400" cy="630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24" name="Line 32"/>
          <p:cNvSpPr>
            <a:spLocks noChangeShapeType="1"/>
          </p:cNvSpPr>
          <p:nvPr/>
        </p:nvSpPr>
        <p:spPr bwMode="auto">
          <a:xfrm>
            <a:off x="6663944" y="3711132"/>
            <a:ext cx="0" cy="592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699425" name="Text Box 33"/>
          <p:cNvSpPr txBox="1">
            <a:spLocks noChangeArrowheads="1"/>
          </p:cNvSpPr>
          <p:nvPr/>
        </p:nvSpPr>
        <p:spPr bwMode="auto">
          <a:xfrm>
            <a:off x="6008737" y="4280145"/>
            <a:ext cx="1276291" cy="6463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2000" dirty="0">
                <a:latin typeface="Calibri" pitchFamily="34" charset="0"/>
              </a:rPr>
              <a:t>www</a:t>
            </a:r>
          </a:p>
          <a:p>
            <a:pPr algn="ctr" defTabSz="912813"/>
            <a:r>
              <a:rPr lang="en-US" sz="1600" dirty="0">
                <a:latin typeface="Calibri" pitchFamily="34" charset="0"/>
              </a:rPr>
              <a:t>54.230.48.28</a:t>
            </a:r>
          </a:p>
        </p:txBody>
      </p:sp>
      <p:sp>
        <p:nvSpPr>
          <p:cNvPr id="699426" name="Text Box 34"/>
          <p:cNvSpPr txBox="1">
            <a:spLocks noChangeArrowheads="1"/>
          </p:cNvSpPr>
          <p:nvPr/>
        </p:nvSpPr>
        <p:spPr bwMode="auto">
          <a:xfrm>
            <a:off x="7602157" y="2410968"/>
            <a:ext cx="258455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First-level domain names</a:t>
            </a:r>
          </a:p>
        </p:txBody>
      </p:sp>
      <p:sp>
        <p:nvSpPr>
          <p:cNvPr id="699427" name="Text Box 35"/>
          <p:cNvSpPr txBox="1">
            <a:spLocks noChangeArrowheads="1"/>
          </p:cNvSpPr>
          <p:nvPr/>
        </p:nvSpPr>
        <p:spPr bwMode="auto">
          <a:xfrm>
            <a:off x="7619619" y="3328543"/>
            <a:ext cx="285123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Second-level domain names</a:t>
            </a:r>
          </a:p>
        </p:txBody>
      </p:sp>
      <p:sp>
        <p:nvSpPr>
          <p:cNvPr id="699428" name="Text Box 36"/>
          <p:cNvSpPr txBox="1">
            <a:spLocks noChangeArrowheads="1"/>
          </p:cNvSpPr>
          <p:nvPr/>
        </p:nvSpPr>
        <p:spPr bwMode="auto">
          <a:xfrm>
            <a:off x="7602158" y="4242943"/>
            <a:ext cx="26673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Third-level domain names</a:t>
            </a:r>
          </a:p>
        </p:txBody>
      </p:sp>
    </p:spTree>
    <p:extLst>
      <p:ext uri="{BB962C8B-B14F-4D97-AF65-F5344CB8AC3E}">
        <p14:creationId xmlns:p14="http://schemas.microsoft.com/office/powerpoint/2010/main" val="375382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95816" y="91377"/>
            <a:ext cx="7589838" cy="573087"/>
          </a:xfrm>
        </p:spPr>
        <p:txBody>
          <a:bodyPr>
            <a:noAutofit/>
          </a:bodyPr>
          <a:lstStyle/>
          <a:p>
            <a:r>
              <a:rPr lang="en-US" dirty="0"/>
              <a:t>Domain Naming System (DNS)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idx="1"/>
          </p:nvPr>
        </p:nvSpPr>
        <p:spPr>
          <a:xfrm>
            <a:off x="1901952" y="1402080"/>
            <a:ext cx="8302752" cy="4791456"/>
          </a:xfrm>
        </p:spPr>
        <p:txBody>
          <a:bodyPr/>
          <a:lstStyle/>
          <a:p>
            <a:pPr marL="288925" indent="-288925" defTabSz="895350">
              <a:lnSpc>
                <a:spcPct val="100000"/>
              </a:lnSpc>
            </a:pPr>
            <a:r>
              <a:rPr lang="en-US" dirty="0"/>
              <a:t>The Internet maintains a mapping between IP addresses and domain names in a huge worldwide distributed database called </a:t>
            </a:r>
            <a:r>
              <a:rPr lang="en-US" i="1" dirty="0">
                <a:solidFill>
                  <a:srgbClr val="C00000"/>
                </a:solidFill>
              </a:rPr>
              <a:t>DNS</a:t>
            </a:r>
            <a:endParaRPr lang="en-US" dirty="0">
              <a:solidFill>
                <a:srgbClr val="C00000"/>
              </a:solidFill>
            </a:endParaRPr>
          </a:p>
          <a:p>
            <a:pPr marL="560388" lvl="1" indent="-222250" defTabSz="895350">
              <a:lnSpc>
                <a:spcPct val="100000"/>
              </a:lnSpc>
            </a:pPr>
            <a:endParaRPr lang="en-US" dirty="0"/>
          </a:p>
          <a:p>
            <a:pPr marL="560388" lvl="1" indent="-222250" defTabSz="895350">
              <a:lnSpc>
                <a:spcPct val="100000"/>
              </a:lnSpc>
            </a:pPr>
            <a:endParaRPr lang="en-US" dirty="0"/>
          </a:p>
          <a:p>
            <a:pPr marL="160338" indent="-222250" defTabSz="895350">
              <a:lnSpc>
                <a:spcPct val="100000"/>
              </a:lnSpc>
            </a:pPr>
            <a:r>
              <a:rPr lang="en-US" dirty="0"/>
              <a:t>Conceptually, programmers can view the DNS database as a collection of millions of </a:t>
            </a:r>
            <a:r>
              <a:rPr lang="en-US" i="1" dirty="0"/>
              <a:t>host entries.</a:t>
            </a:r>
          </a:p>
          <a:p>
            <a:pPr marL="560388" lvl="1" indent="-222250" defTabSz="895350">
              <a:lnSpc>
                <a:spcPct val="100000"/>
              </a:lnSpc>
            </a:pPr>
            <a:r>
              <a:rPr lang="en-US" dirty="0"/>
              <a:t>Each host entry defines the mapping between a set of domain names and IP addresses.</a:t>
            </a:r>
          </a:p>
          <a:p>
            <a:pPr marL="223838" indent="-223838" defTabSz="895350"/>
            <a:endParaRPr lang="en-US" dirty="0"/>
          </a:p>
          <a:p>
            <a:pPr marL="223838" indent="-223838" defTabSz="895350"/>
            <a:endParaRPr lang="en-US" dirty="0"/>
          </a:p>
          <a:p>
            <a:pPr marL="223838" indent="-223838" defTabSz="895350"/>
            <a:endParaRPr lang="en-US" dirty="0"/>
          </a:p>
          <a:p>
            <a:pPr marL="288925" indent="-288925" defTabSz="895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65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20" y="-55879"/>
            <a:ext cx="7589838" cy="801687"/>
          </a:xfrm>
        </p:spPr>
        <p:txBody>
          <a:bodyPr>
            <a:normAutofit/>
          </a:bodyPr>
          <a:lstStyle/>
          <a:p>
            <a:r>
              <a:rPr lang="en-US" dirty="0"/>
              <a:t>Properties of DNS Mappings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idx="1"/>
          </p:nvPr>
        </p:nvSpPr>
        <p:spPr>
          <a:xfrm>
            <a:off x="1833048" y="1220788"/>
            <a:ext cx="8701087" cy="54086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Can explore properties of DNS mappings using </a:t>
            </a:r>
            <a:r>
              <a:rPr lang="en-US" dirty="0" err="1">
                <a:latin typeface="Courier New"/>
                <a:cs typeface="Courier New"/>
              </a:rPr>
              <a:t>nslookup</a:t>
            </a:r>
            <a:r>
              <a:rPr lang="en-US" dirty="0">
                <a:latin typeface="Courier New"/>
                <a:cs typeface="Courier New"/>
              </a:rPr>
              <a:t> </a:t>
            </a:r>
            <a:endParaRPr lang="en-US" dirty="0">
              <a:latin typeface="+mn-lt"/>
              <a:cs typeface="Courier New"/>
            </a:endParaRPr>
          </a:p>
          <a:p>
            <a:pPr lvl="1">
              <a:spcBef>
                <a:spcPts val="1200"/>
              </a:spcBef>
            </a:pPr>
            <a:r>
              <a:rPr lang="en-US" dirty="0">
                <a:latin typeface="+mn-lt"/>
                <a:cs typeface="Courier New"/>
              </a:rPr>
              <a:t>(Output edited for brevity)</a:t>
            </a: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Each host has a locally defined domain name </a:t>
            </a:r>
            <a:r>
              <a:rPr lang="en-US" dirty="0" err="1">
                <a:latin typeface="Courier New" pitchFamily="49" charset="0"/>
              </a:rPr>
              <a:t>localhost</a:t>
            </a:r>
            <a:r>
              <a:rPr lang="en-US" dirty="0"/>
              <a:t> which always maps to the </a:t>
            </a:r>
            <a:r>
              <a:rPr lang="en-US" i="1" dirty="0">
                <a:solidFill>
                  <a:srgbClr val="C00000"/>
                </a:solidFill>
              </a:rPr>
              <a:t>loopback address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latin typeface="Courier New" pitchFamily="49" charset="0"/>
              </a:rPr>
              <a:t>127.0.0.1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latin typeface="+mn-lt"/>
              </a:rPr>
              <a:t>Use </a:t>
            </a:r>
            <a:r>
              <a:rPr lang="en-US" dirty="0">
                <a:latin typeface="Courier New"/>
                <a:cs typeface="Courier New"/>
              </a:rPr>
              <a:t>hostname </a:t>
            </a:r>
            <a:r>
              <a:rPr lang="en-US" dirty="0">
                <a:latin typeface="+mn-lt"/>
                <a:cs typeface="Courier New"/>
              </a:rPr>
              <a:t>to determine real domain name of local host: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Courier New"/>
              <a:cs typeface="Courier New"/>
            </a:endParaRPr>
          </a:p>
          <a:p>
            <a:pPr marL="457200" lvl="1" indent="0">
              <a:spcBef>
                <a:spcPts val="1200"/>
              </a:spcBef>
              <a:buNone/>
            </a:pPr>
            <a:endParaRPr lang="en-US" dirty="0"/>
          </a:p>
        </p:txBody>
      </p:sp>
      <p:sp>
        <p:nvSpPr>
          <p:cNvPr id="4" name="Text Box 1028"/>
          <p:cNvSpPr txBox="1">
            <a:spLocks noChangeArrowheads="1"/>
          </p:cNvSpPr>
          <p:nvPr/>
        </p:nvSpPr>
        <p:spPr bwMode="auto">
          <a:xfrm>
            <a:off x="4663440" y="4187262"/>
            <a:ext cx="3647716" cy="7017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localhost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Address: 127.0.0.1</a:t>
            </a:r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4359591" y="5699070"/>
            <a:ext cx="2528256" cy="7017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hostname</a:t>
            </a:r>
          </a:p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thoth.cs.pitt.edu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61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3680" y="0"/>
            <a:ext cx="7589838" cy="707968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DNS Mappings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idx="1"/>
          </p:nvPr>
        </p:nvSpPr>
        <p:spPr>
          <a:xfrm>
            <a:off x="1833048" y="1220788"/>
            <a:ext cx="8701087" cy="5408612"/>
          </a:xfrm>
        </p:spPr>
        <p:txBody>
          <a:bodyPr/>
          <a:lstStyle/>
          <a:p>
            <a:r>
              <a:rPr lang="en-US" dirty="0"/>
              <a:t>Simple case: one-to-one mapping between domain name and IP address: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Multiple domain names mapped to the same IP address: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</p:txBody>
      </p:sp>
      <p:sp>
        <p:nvSpPr>
          <p:cNvPr id="4" name="Text Box 1028"/>
          <p:cNvSpPr txBox="1">
            <a:spLocks noChangeArrowheads="1"/>
          </p:cNvSpPr>
          <p:nvPr/>
        </p:nvSpPr>
        <p:spPr bwMode="auto">
          <a:xfrm>
            <a:off x="2892552" y="2264151"/>
            <a:ext cx="459613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anose="02070309020205020404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anose="02070309020205020404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anose="02070309020205020404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itchFamily="49" charset="0"/>
              </a:rPr>
              <a:t>thoth.cs.cmu.edu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Address: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136.142.23.51</a:t>
            </a:r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2892553" y="4270684"/>
            <a:ext cx="4044697" cy="13665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cs.pitt.edu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0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Address: 136.142.156.73</a:t>
            </a:r>
          </a:p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sci.pitt.edu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Address: 136.142.156.73</a:t>
            </a:r>
          </a:p>
        </p:txBody>
      </p:sp>
    </p:spTree>
    <p:extLst>
      <p:ext uri="{BB962C8B-B14F-4D97-AF65-F5344CB8AC3E}">
        <p14:creationId xmlns:p14="http://schemas.microsoft.com/office/powerpoint/2010/main" val="3291972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7607" y="-66428"/>
            <a:ext cx="7589838" cy="801687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DNS Mappings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idx="1"/>
          </p:nvPr>
        </p:nvSpPr>
        <p:spPr>
          <a:xfrm>
            <a:off x="1833048" y="1220788"/>
            <a:ext cx="8701087" cy="54086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Multiple domain names mapped to multiple IP addresses: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Some valid domain names don’t map to any IP address:</a:t>
            </a:r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3663696" y="1822764"/>
            <a:ext cx="4480714" cy="313932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www.twitter.com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104.244.42.65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104.244.42.129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104.244.42.193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</a:t>
            </a:r>
          </a:p>
          <a:p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linux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nslookup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www.twitter.com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104.244.42.129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104.244.42.65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104.244.42.193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Address: 104.244.42.1</a:t>
            </a:r>
          </a:p>
        </p:txBody>
      </p:sp>
      <p:sp>
        <p:nvSpPr>
          <p:cNvPr id="6" name="Text Box 1028"/>
          <p:cNvSpPr txBox="1">
            <a:spLocks noChangeArrowheads="1"/>
          </p:cNvSpPr>
          <p:nvPr/>
        </p:nvSpPr>
        <p:spPr bwMode="auto">
          <a:xfrm>
            <a:off x="2423319" y="5699070"/>
            <a:ext cx="6400800" cy="7017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nslookup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bla.cs.pitt.edu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20000"/>
              </a:spcBef>
              <a:buClr>
                <a:srgbClr val="990000"/>
              </a:buClr>
              <a:buSzPct val="60000"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(No Address given)</a:t>
            </a:r>
          </a:p>
        </p:txBody>
      </p:sp>
    </p:spTree>
    <p:extLst>
      <p:ext uri="{BB962C8B-B14F-4D97-AF65-F5344CB8AC3E}">
        <p14:creationId xmlns:p14="http://schemas.microsoft.com/office/powerpoint/2010/main" val="3137390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251" y="-37679"/>
            <a:ext cx="6777038" cy="733640"/>
          </a:xfrm>
        </p:spPr>
        <p:txBody>
          <a:bodyPr>
            <a:normAutofit/>
          </a:bodyPr>
          <a:lstStyle/>
          <a:p>
            <a:r>
              <a:rPr lang="en-US" dirty="0"/>
              <a:t>(3) Internet Connections</a:t>
            </a:r>
          </a:p>
        </p:txBody>
      </p:sp>
      <p:sp>
        <p:nvSpPr>
          <p:cNvPr id="703491" name="Rectangle 3"/>
          <p:cNvSpPr>
            <a:spLocks noGrp="1" noChangeArrowheads="1"/>
          </p:cNvSpPr>
          <p:nvPr>
            <p:ph idx="1"/>
          </p:nvPr>
        </p:nvSpPr>
        <p:spPr>
          <a:xfrm>
            <a:off x="1972612" y="1116229"/>
            <a:ext cx="8307387" cy="54848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Clients and servers communicate by sending streams of bytes over </a:t>
            </a:r>
            <a:r>
              <a:rPr lang="en-US" i="1" dirty="0">
                <a:solidFill>
                  <a:srgbClr val="C00000"/>
                </a:solidFill>
              </a:rPr>
              <a:t>connections</a:t>
            </a:r>
            <a:r>
              <a:rPr lang="en-US" dirty="0"/>
              <a:t>. Each connection is: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i="1" dirty="0"/>
              <a:t>Point-to-point</a:t>
            </a:r>
            <a:r>
              <a:rPr lang="en-US" dirty="0"/>
              <a:t>: connects a pair of processes.</a:t>
            </a:r>
          </a:p>
          <a:p>
            <a:pPr lvl="1">
              <a:lnSpc>
                <a:spcPct val="110000"/>
              </a:lnSpc>
            </a:pPr>
            <a:r>
              <a:rPr lang="en-US" i="1" dirty="0"/>
              <a:t>Full-duplex</a:t>
            </a:r>
            <a:r>
              <a:rPr lang="en-US" dirty="0"/>
              <a:t>: data can flow in both directions at the same time,</a:t>
            </a:r>
          </a:p>
          <a:p>
            <a:pPr lvl="1">
              <a:lnSpc>
                <a:spcPct val="110000"/>
              </a:lnSpc>
            </a:pPr>
            <a:r>
              <a:rPr lang="en-US" i="1" dirty="0"/>
              <a:t>Reliable</a:t>
            </a:r>
            <a:r>
              <a:rPr lang="en-US" dirty="0"/>
              <a:t>: stream of bytes sent by the source is eventually received by the destination in the same order it was sent. </a:t>
            </a:r>
          </a:p>
          <a:p>
            <a:pPr marL="0" indent="0">
              <a:lnSpc>
                <a:spcPct val="110000"/>
              </a:lnSpc>
              <a:buNone/>
            </a:pPr>
            <a:endParaRPr lang="en-US" i="1" dirty="0"/>
          </a:p>
          <a:p>
            <a:pPr>
              <a:lnSpc>
                <a:spcPct val="110000"/>
              </a:lnSpc>
            </a:pPr>
            <a:r>
              <a:rPr lang="en-US" i="1" dirty="0"/>
              <a:t>A </a:t>
            </a:r>
            <a:r>
              <a:rPr lang="en-US" i="1" dirty="0">
                <a:solidFill>
                  <a:srgbClr val="C00000"/>
                </a:solidFill>
              </a:rPr>
              <a:t>socket</a:t>
            </a:r>
            <a:r>
              <a:rPr lang="en-US" dirty="0"/>
              <a:t> is an endpoint of a connection</a:t>
            </a:r>
          </a:p>
          <a:p>
            <a:pPr lvl="1">
              <a:lnSpc>
                <a:spcPct val="110000"/>
              </a:lnSpc>
            </a:pPr>
            <a:r>
              <a:rPr lang="en-US" i="1" dirty="0"/>
              <a:t>Socket address </a:t>
            </a:r>
            <a:r>
              <a:rPr lang="en-US" dirty="0"/>
              <a:t>is an </a:t>
            </a:r>
            <a:r>
              <a:rPr lang="en-US" b="1" dirty="0" err="1">
                <a:latin typeface="Courier New" pitchFamily="49" charset="0"/>
              </a:rPr>
              <a:t>IPaddress:port</a:t>
            </a:r>
            <a:r>
              <a:rPr lang="en-US" dirty="0"/>
              <a:t>  pair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port</a:t>
            </a:r>
            <a:r>
              <a:rPr lang="en-US" dirty="0"/>
              <a:t> is a 16-bit integer that identifies a process:</a:t>
            </a:r>
          </a:p>
          <a:p>
            <a:pPr lvl="1">
              <a:lnSpc>
                <a:spcPct val="110000"/>
              </a:lnSpc>
            </a:pPr>
            <a:r>
              <a:rPr lang="en-US" b="1" i="1" dirty="0">
                <a:solidFill>
                  <a:srgbClr val="C00000"/>
                </a:solidFill>
              </a:rPr>
              <a:t>Ephemeral port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/>
              <a:t>Assigned automatically by  client kernel when client makes a connection request.</a:t>
            </a:r>
          </a:p>
          <a:p>
            <a:pPr lvl="1">
              <a:lnSpc>
                <a:spcPct val="110000"/>
              </a:lnSpc>
            </a:pPr>
            <a:r>
              <a:rPr lang="en-US" b="1" i="1" dirty="0">
                <a:solidFill>
                  <a:srgbClr val="C00000"/>
                </a:solidFill>
              </a:rPr>
              <a:t>Well-known port: </a:t>
            </a:r>
            <a:r>
              <a:rPr lang="en-US" dirty="0"/>
              <a:t>Associated with some </a:t>
            </a:r>
            <a:r>
              <a:rPr lang="en-US" i="1" dirty="0">
                <a:solidFill>
                  <a:srgbClr val="FF0000"/>
                </a:solidFill>
              </a:rPr>
              <a:t>service</a:t>
            </a:r>
            <a:r>
              <a:rPr lang="en-US" dirty="0"/>
              <a:t> provided by a server (e.g., port 80 is associated with Web servers)</a:t>
            </a:r>
          </a:p>
        </p:txBody>
      </p:sp>
    </p:spTree>
    <p:extLst>
      <p:ext uri="{BB962C8B-B14F-4D97-AF65-F5344CB8AC3E}">
        <p14:creationId xmlns:p14="http://schemas.microsoft.com/office/powerpoint/2010/main" val="66125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Well-known Service Names and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services have permanently assigned </a:t>
            </a:r>
            <a:r>
              <a:rPr lang="en-US" i="1" dirty="0">
                <a:solidFill>
                  <a:srgbClr val="FF0000"/>
                </a:solidFill>
              </a:rPr>
              <a:t>well-known ports </a:t>
            </a:r>
            <a:r>
              <a:rPr lang="en-US" i="1" dirty="0"/>
              <a:t>and </a:t>
            </a:r>
            <a:r>
              <a:rPr lang="en-US" dirty="0"/>
              <a:t>corresponding </a:t>
            </a:r>
            <a:r>
              <a:rPr lang="en-US" i="1" dirty="0">
                <a:solidFill>
                  <a:srgbClr val="FF0000"/>
                </a:solidFill>
              </a:rPr>
              <a:t>well-known service names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echo servers:   echo  7</a:t>
            </a:r>
          </a:p>
          <a:p>
            <a:pPr lvl="1"/>
            <a:r>
              <a:rPr lang="en-US" dirty="0"/>
              <a:t>ftp servers:       ftp 21</a:t>
            </a:r>
          </a:p>
          <a:p>
            <a:pPr lvl="1"/>
            <a:r>
              <a:rPr lang="en-US" dirty="0" err="1"/>
              <a:t>ssh</a:t>
            </a:r>
            <a:r>
              <a:rPr lang="en-US" dirty="0"/>
              <a:t> servers:      </a:t>
            </a:r>
            <a:r>
              <a:rPr lang="en-US" dirty="0" err="1"/>
              <a:t>ssh</a:t>
            </a:r>
            <a:r>
              <a:rPr lang="en-US" dirty="0"/>
              <a:t> 22</a:t>
            </a:r>
          </a:p>
          <a:p>
            <a:pPr lvl="1"/>
            <a:r>
              <a:rPr lang="en-US" dirty="0"/>
              <a:t>email servers:  smtp 25</a:t>
            </a:r>
          </a:p>
          <a:p>
            <a:pPr lvl="1"/>
            <a:r>
              <a:rPr lang="en-US" dirty="0"/>
              <a:t>Web servers:    http 80</a:t>
            </a:r>
          </a:p>
          <a:p>
            <a:pPr lvl="1"/>
            <a:endParaRPr lang="en-US" dirty="0"/>
          </a:p>
          <a:p>
            <a:r>
              <a:rPr lang="en-US" dirty="0"/>
              <a:t>Mappings between well-known ports and service names is contained in the file </a:t>
            </a:r>
            <a:r>
              <a:rPr lang="en-US" dirty="0">
                <a:latin typeface="Courier New"/>
                <a:cs typeface="Courier New"/>
              </a:rPr>
              <a:t>/</a:t>
            </a:r>
            <a:r>
              <a:rPr lang="en-US" dirty="0" err="1">
                <a:latin typeface="Courier New"/>
                <a:cs typeface="Courier New"/>
              </a:rPr>
              <a:t>etc</a:t>
            </a:r>
            <a:r>
              <a:rPr lang="en-US" dirty="0">
                <a:latin typeface="Courier New"/>
                <a:cs typeface="Courier New"/>
              </a:rPr>
              <a:t>/services </a:t>
            </a:r>
            <a:r>
              <a:rPr lang="en-US" dirty="0"/>
              <a:t>on each Linux machine.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421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836" y="1228635"/>
            <a:ext cx="7896225" cy="13713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connection is uniquely identified by the socket addresses of its endpoints (</a:t>
            </a:r>
            <a:r>
              <a:rPr lang="en-US" i="1" dirty="0">
                <a:solidFill>
                  <a:srgbClr val="C00000"/>
                </a:solidFill>
              </a:rPr>
              <a:t>socket pair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</a:rPr>
              <a:t>cliaddr:cliport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</a:rPr>
              <a:t>servaddr:servport</a:t>
            </a:r>
            <a:r>
              <a:rPr lang="en-US" b="1" dirty="0">
                <a:latin typeface="Courier New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8264526" y="3762375"/>
            <a:ext cx="1465263" cy="10350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2320926" y="3762375"/>
            <a:ext cx="1465263" cy="10350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4027489" y="4241801"/>
            <a:ext cx="4211409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Connection socket pair</a:t>
            </a:r>
          </a:p>
          <a:p>
            <a:pPr algn="ctr"/>
            <a:r>
              <a:rPr lang="en-US" dirty="0">
                <a:latin typeface="Calibri" pitchFamily="34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128.2.194.242</a:t>
            </a:r>
            <a:r>
              <a:rPr lang="en-US" dirty="0">
                <a:latin typeface="Calibri" pitchFamily="34" charset="0"/>
              </a:rPr>
              <a:t>:</a:t>
            </a:r>
            <a:r>
              <a:rPr lang="en-US" dirty="0">
                <a:solidFill>
                  <a:srgbClr val="00B050"/>
                </a:solidFill>
                <a:latin typeface="Calibri" pitchFamily="34" charset="0"/>
              </a:rPr>
              <a:t>51213</a:t>
            </a:r>
            <a:r>
              <a:rPr lang="en-US" dirty="0">
                <a:latin typeface="Calibri" pitchFamily="34" charset="0"/>
              </a:rPr>
              <a:t>, </a:t>
            </a:r>
            <a:r>
              <a:rPr lang="en-US" dirty="0">
                <a:solidFill>
                  <a:srgbClr val="D09E00"/>
                </a:solidFill>
                <a:latin typeface="Calibri" pitchFamily="34" charset="0"/>
              </a:rPr>
              <a:t>208.216.181.15</a:t>
            </a:r>
            <a:r>
              <a:rPr lang="en-US" dirty="0">
                <a:latin typeface="Calibri" pitchFamily="34" charset="0"/>
              </a:rPr>
              <a:t>:</a:t>
            </a:r>
            <a:r>
              <a:rPr lang="en-US" dirty="0">
                <a:solidFill>
                  <a:srgbClr val="7030A0"/>
                </a:solidFill>
                <a:latin typeface="Calibri" pitchFamily="34" charset="0"/>
              </a:rPr>
              <a:t>80</a:t>
            </a:r>
            <a:r>
              <a:rPr lang="en-US" dirty="0">
                <a:latin typeface="Calibri" pitchFamily="34" charset="0"/>
              </a:rPr>
              <a:t>)</a:t>
            </a:r>
          </a:p>
        </p:txBody>
      </p:sp>
      <p:sp>
        <p:nvSpPr>
          <p:cNvPr id="22" name="Oval 4"/>
          <p:cNvSpPr>
            <a:spLocks noChangeArrowheads="1"/>
          </p:cNvSpPr>
          <p:nvPr/>
        </p:nvSpPr>
        <p:spPr bwMode="auto">
          <a:xfrm>
            <a:off x="8312151" y="3881439"/>
            <a:ext cx="1287463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>
                <a:latin typeface="Calibri" pitchFamily="34" charset="0"/>
              </a:rPr>
              <a:t>Server</a:t>
            </a:r>
          </a:p>
          <a:p>
            <a:pPr algn="ctr" defTabSz="912813"/>
            <a:r>
              <a:rPr lang="en-US" dirty="0">
                <a:latin typeface="Calibri" pitchFamily="34" charset="0"/>
              </a:rPr>
              <a:t>(port 80)</a:t>
            </a:r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2457451" y="3881439"/>
            <a:ext cx="1287463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>
                <a:latin typeface="Calibri" pitchFamily="34" charset="0"/>
              </a:rPr>
              <a:t>Client</a:t>
            </a:r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>
            <a:off x="3802063" y="4279900"/>
            <a:ext cx="4451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Oval 7"/>
          <p:cNvSpPr>
            <a:spLocks noChangeAspect="1" noChangeArrowheads="1"/>
          </p:cNvSpPr>
          <p:nvPr/>
        </p:nvSpPr>
        <p:spPr bwMode="auto">
          <a:xfrm>
            <a:off x="3673475" y="4215608"/>
            <a:ext cx="128588" cy="1285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Oval 8"/>
          <p:cNvSpPr>
            <a:spLocks noChangeAspect="1" noChangeArrowheads="1"/>
          </p:cNvSpPr>
          <p:nvPr/>
        </p:nvSpPr>
        <p:spPr bwMode="auto">
          <a:xfrm>
            <a:off x="8253414" y="4215608"/>
            <a:ext cx="128587" cy="1285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2997200" y="3000376"/>
            <a:ext cx="218681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latin typeface="Calibri" pitchFamily="34" charset="0"/>
              </a:rPr>
              <a:t>Client socket address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128.2.194.242</a:t>
            </a:r>
            <a:r>
              <a:rPr lang="en-US" dirty="0">
                <a:latin typeface="Calibri" pitchFamily="34" charset="0"/>
              </a:rPr>
              <a:t>:</a:t>
            </a:r>
            <a:r>
              <a:rPr lang="en-US" dirty="0">
                <a:solidFill>
                  <a:srgbClr val="00B050"/>
                </a:solidFill>
                <a:latin typeface="Calibri" pitchFamily="34" charset="0"/>
              </a:rPr>
              <a:t>51213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681788" y="3000376"/>
            <a:ext cx="258921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i="1" dirty="0">
                <a:latin typeface="Calibri" pitchFamily="34" charset="0"/>
              </a:rPr>
              <a:t>Server socket address</a:t>
            </a:r>
          </a:p>
          <a:p>
            <a:pPr algn="ctr"/>
            <a:r>
              <a:rPr lang="en-US" dirty="0">
                <a:solidFill>
                  <a:srgbClr val="D09E00"/>
                </a:solidFill>
                <a:latin typeface="Calibri" pitchFamily="34" charset="0"/>
              </a:rPr>
              <a:t>208.216.181.15</a:t>
            </a:r>
            <a:r>
              <a:rPr lang="en-US" dirty="0">
                <a:latin typeface="Calibri" pitchFamily="34" charset="0"/>
              </a:rPr>
              <a:t>:</a:t>
            </a:r>
            <a:r>
              <a:rPr lang="en-US" dirty="0">
                <a:solidFill>
                  <a:srgbClr val="7030A0"/>
                </a:solidFill>
                <a:latin typeface="Calibri" pitchFamily="34" charset="0"/>
              </a:rPr>
              <a:t>80</a:t>
            </a: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 flipH="1">
            <a:off x="3802063" y="3581401"/>
            <a:ext cx="303212" cy="627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0" name="Line 12"/>
          <p:cNvSpPr>
            <a:spLocks noChangeShapeType="1"/>
          </p:cNvSpPr>
          <p:nvPr/>
        </p:nvSpPr>
        <p:spPr bwMode="auto">
          <a:xfrm>
            <a:off x="7969251" y="3581401"/>
            <a:ext cx="303213" cy="627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117726" y="4905376"/>
            <a:ext cx="19952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Client host address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128.2.194.242 </a:t>
            </a:r>
            <a:endParaRPr lang="en-US" dirty="0">
              <a:solidFill>
                <a:srgbClr val="C00000"/>
              </a:solidFill>
              <a:latin typeface="Times" pitchFamily="18" charset="0"/>
            </a:endParaRP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7977189" y="4905376"/>
            <a:ext cx="2056589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Server host address</a:t>
            </a:r>
          </a:p>
          <a:p>
            <a:pPr algn="ctr"/>
            <a:r>
              <a:rPr lang="en-US" dirty="0">
                <a:solidFill>
                  <a:srgbClr val="D09E00"/>
                </a:solidFill>
                <a:latin typeface="Calibri" pitchFamily="34" charset="0"/>
              </a:rPr>
              <a:t>208.216.181.15</a:t>
            </a:r>
          </a:p>
        </p:txBody>
      </p:sp>
      <p:sp>
        <p:nvSpPr>
          <p:cNvPr id="33" name="Text Box 21"/>
          <p:cNvSpPr txBox="1">
            <a:spLocks noChangeArrowheads="1"/>
          </p:cNvSpPr>
          <p:nvPr/>
        </p:nvSpPr>
        <p:spPr bwMode="auto">
          <a:xfrm>
            <a:off x="2397218" y="5789721"/>
            <a:ext cx="311290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00B050"/>
                </a:solidFill>
                <a:latin typeface="Calibri" pitchFamily="34" charset="0"/>
              </a:rPr>
              <a:t>51213</a:t>
            </a:r>
            <a:r>
              <a:rPr lang="en-US" sz="2000" dirty="0"/>
              <a:t> is an ephemeral port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allocated by the kernel 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7038638" y="5789722"/>
            <a:ext cx="31472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7030A0"/>
                </a:solidFill>
                <a:latin typeface="Calibri" pitchFamily="34" charset="0"/>
              </a:rPr>
              <a:t>80</a:t>
            </a:r>
            <a:r>
              <a:rPr lang="en-US" sz="2000" dirty="0"/>
              <a:t> is a well-known port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associated with Web servers</a:t>
            </a:r>
          </a:p>
        </p:txBody>
      </p:sp>
    </p:spTree>
    <p:extLst>
      <p:ext uri="{BB962C8B-B14F-4D97-AF65-F5344CB8AC3E}">
        <p14:creationId xmlns:p14="http://schemas.microsoft.com/office/powerpoint/2010/main" val="319106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2" grpId="0" animBg="1"/>
      <p:bldP spid="24" grpId="0" animBg="1"/>
      <p:bldP spid="26" grpId="0" animBg="1"/>
      <p:bldP spid="28" grpId="0"/>
      <p:bldP spid="30" grpId="0" animBg="1"/>
      <p:bldP spid="32" grpId="0"/>
      <p:bldP spid="33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3" name="Rectangle 5"/>
          <p:cNvSpPr>
            <a:spLocks noChangeArrowheads="1"/>
          </p:cNvSpPr>
          <p:nvPr/>
        </p:nvSpPr>
        <p:spPr bwMode="auto">
          <a:xfrm>
            <a:off x="1905000" y="1913996"/>
            <a:ext cx="129540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35" name="Rectangle 7"/>
          <p:cNvSpPr>
            <a:spLocks noChangeArrowheads="1"/>
          </p:cNvSpPr>
          <p:nvPr/>
        </p:nvSpPr>
        <p:spPr bwMode="auto">
          <a:xfrm>
            <a:off x="6324600" y="1492250"/>
            <a:ext cx="3505200" cy="1981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44" name="Rectangle 16"/>
          <p:cNvSpPr>
            <a:spLocks noChangeArrowheads="1"/>
          </p:cNvSpPr>
          <p:nvPr/>
        </p:nvSpPr>
        <p:spPr bwMode="auto">
          <a:xfrm>
            <a:off x="1905000" y="4830880"/>
            <a:ext cx="129540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45" name="Rectangle 17"/>
          <p:cNvSpPr>
            <a:spLocks noChangeArrowheads="1"/>
          </p:cNvSpPr>
          <p:nvPr/>
        </p:nvSpPr>
        <p:spPr bwMode="auto">
          <a:xfrm>
            <a:off x="6324600" y="4419600"/>
            <a:ext cx="3505200" cy="1981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51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Ports to Identify Services</a:t>
            </a:r>
          </a:p>
        </p:txBody>
      </p:sp>
      <p:sp>
        <p:nvSpPr>
          <p:cNvPr id="713732" name="Oval 4"/>
          <p:cNvSpPr>
            <a:spLocks noChangeArrowheads="1"/>
          </p:cNvSpPr>
          <p:nvPr/>
        </p:nvSpPr>
        <p:spPr bwMode="auto">
          <a:xfrm>
            <a:off x="7834313" y="1611314"/>
            <a:ext cx="1746250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Web server</a:t>
            </a:r>
          </a:p>
          <a:p>
            <a:pPr algn="ctr" defTabSz="912813"/>
            <a:r>
              <a:rPr lang="en-US" sz="1600" dirty="0">
                <a:latin typeface="Calibri" pitchFamily="34" charset="0"/>
              </a:rPr>
              <a:t>(port 80)</a:t>
            </a:r>
          </a:p>
        </p:txBody>
      </p:sp>
      <p:sp>
        <p:nvSpPr>
          <p:cNvPr id="713734" name="Text Box 6"/>
          <p:cNvSpPr txBox="1">
            <a:spLocks noChangeArrowheads="1"/>
          </p:cNvSpPr>
          <p:nvPr/>
        </p:nvSpPr>
        <p:spPr bwMode="auto">
          <a:xfrm>
            <a:off x="1803058" y="1612312"/>
            <a:ext cx="1092543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Client host</a:t>
            </a:r>
          </a:p>
        </p:txBody>
      </p:sp>
      <p:sp>
        <p:nvSpPr>
          <p:cNvPr id="713736" name="Text Box 8"/>
          <p:cNvSpPr txBox="1">
            <a:spLocks noChangeArrowheads="1"/>
          </p:cNvSpPr>
          <p:nvPr/>
        </p:nvSpPr>
        <p:spPr bwMode="auto">
          <a:xfrm>
            <a:off x="6220324" y="1191502"/>
            <a:ext cx="240238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Server host 128.2.194.242</a:t>
            </a:r>
          </a:p>
        </p:txBody>
      </p:sp>
      <p:sp>
        <p:nvSpPr>
          <p:cNvPr id="713737" name="Line 9"/>
          <p:cNvSpPr>
            <a:spLocks noChangeShapeType="1"/>
          </p:cNvSpPr>
          <p:nvPr/>
        </p:nvSpPr>
        <p:spPr bwMode="auto">
          <a:xfrm flipV="1">
            <a:off x="3048000" y="2482850"/>
            <a:ext cx="342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39" name="Oval 11"/>
          <p:cNvSpPr>
            <a:spLocks noChangeArrowheads="1"/>
          </p:cNvSpPr>
          <p:nvPr/>
        </p:nvSpPr>
        <p:spPr bwMode="auto">
          <a:xfrm>
            <a:off x="7848600" y="2559051"/>
            <a:ext cx="1746250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Echo server</a:t>
            </a:r>
          </a:p>
          <a:p>
            <a:pPr algn="ctr" defTabSz="912813"/>
            <a:r>
              <a:rPr lang="en-US" sz="1600" dirty="0">
                <a:latin typeface="Calibri" pitchFamily="34" charset="0"/>
              </a:rPr>
              <a:t>(port 7)</a:t>
            </a:r>
          </a:p>
        </p:txBody>
      </p:sp>
      <p:sp>
        <p:nvSpPr>
          <p:cNvPr id="713740" name="Text Box 12"/>
          <p:cNvSpPr txBox="1">
            <a:spLocks noChangeArrowheads="1"/>
          </p:cNvSpPr>
          <p:nvPr/>
        </p:nvSpPr>
        <p:spPr bwMode="auto">
          <a:xfrm>
            <a:off x="3365500" y="1657350"/>
            <a:ext cx="2654300" cy="825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Service request for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128.2.194.242:80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(i.e., the Web server)</a:t>
            </a:r>
          </a:p>
        </p:txBody>
      </p:sp>
      <p:sp>
        <p:nvSpPr>
          <p:cNvPr id="713741" name="Line 13"/>
          <p:cNvSpPr>
            <a:spLocks noChangeShapeType="1"/>
          </p:cNvSpPr>
          <p:nvPr/>
        </p:nvSpPr>
        <p:spPr bwMode="auto">
          <a:xfrm flipV="1">
            <a:off x="7467600" y="2178050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43" name="Oval 15"/>
          <p:cNvSpPr>
            <a:spLocks noChangeArrowheads="1"/>
          </p:cNvSpPr>
          <p:nvPr/>
        </p:nvSpPr>
        <p:spPr bwMode="auto">
          <a:xfrm>
            <a:off x="7834313" y="4538664"/>
            <a:ext cx="1746250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Web server</a:t>
            </a:r>
          </a:p>
          <a:p>
            <a:pPr algn="ctr" defTabSz="912813"/>
            <a:r>
              <a:rPr lang="en-US" sz="1600" dirty="0">
                <a:latin typeface="Calibri" pitchFamily="34" charset="0"/>
              </a:rPr>
              <a:t>(port 80)</a:t>
            </a:r>
          </a:p>
        </p:txBody>
      </p:sp>
      <p:sp>
        <p:nvSpPr>
          <p:cNvPr id="713746" name="Line 18"/>
          <p:cNvSpPr>
            <a:spLocks noChangeShapeType="1"/>
          </p:cNvSpPr>
          <p:nvPr/>
        </p:nvSpPr>
        <p:spPr bwMode="auto">
          <a:xfrm flipV="1">
            <a:off x="3048000" y="5410200"/>
            <a:ext cx="342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48" name="Oval 20"/>
          <p:cNvSpPr>
            <a:spLocks noChangeArrowheads="1"/>
          </p:cNvSpPr>
          <p:nvPr/>
        </p:nvSpPr>
        <p:spPr bwMode="auto">
          <a:xfrm>
            <a:off x="7848600" y="5486401"/>
            <a:ext cx="1746250" cy="796925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Echo server</a:t>
            </a:r>
          </a:p>
          <a:p>
            <a:pPr algn="ctr" defTabSz="912813"/>
            <a:r>
              <a:rPr lang="en-US" sz="1600" dirty="0">
                <a:latin typeface="Calibri" pitchFamily="34" charset="0"/>
              </a:rPr>
              <a:t>(port 7)</a:t>
            </a:r>
          </a:p>
        </p:txBody>
      </p:sp>
      <p:sp>
        <p:nvSpPr>
          <p:cNvPr id="713749" name="Text Box 21"/>
          <p:cNvSpPr txBox="1">
            <a:spLocks noChangeArrowheads="1"/>
          </p:cNvSpPr>
          <p:nvPr/>
        </p:nvSpPr>
        <p:spPr bwMode="auto">
          <a:xfrm>
            <a:off x="3679826" y="4603751"/>
            <a:ext cx="1992725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Service request for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128.2.194.242:7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(i.e., the echo server)</a:t>
            </a:r>
          </a:p>
        </p:txBody>
      </p:sp>
      <p:sp>
        <p:nvSpPr>
          <p:cNvPr id="713750" name="Line 22"/>
          <p:cNvSpPr>
            <a:spLocks noChangeShapeType="1"/>
          </p:cNvSpPr>
          <p:nvPr/>
        </p:nvSpPr>
        <p:spPr bwMode="auto">
          <a:xfrm>
            <a:off x="7467600" y="5486400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3738" name="Oval 10"/>
          <p:cNvSpPr>
            <a:spLocks noChangeArrowheads="1"/>
          </p:cNvSpPr>
          <p:nvPr/>
        </p:nvSpPr>
        <p:spPr bwMode="auto">
          <a:xfrm>
            <a:off x="6477000" y="2254250"/>
            <a:ext cx="10668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Kernel</a:t>
            </a:r>
          </a:p>
        </p:txBody>
      </p:sp>
      <p:sp>
        <p:nvSpPr>
          <p:cNvPr id="713747" name="Oval 19"/>
          <p:cNvSpPr>
            <a:spLocks noChangeArrowheads="1"/>
          </p:cNvSpPr>
          <p:nvPr/>
        </p:nvSpPr>
        <p:spPr bwMode="auto">
          <a:xfrm>
            <a:off x="6477000" y="5181600"/>
            <a:ext cx="10668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Kernel</a:t>
            </a:r>
          </a:p>
        </p:txBody>
      </p:sp>
      <p:sp>
        <p:nvSpPr>
          <p:cNvPr id="713731" name="Oval 3"/>
          <p:cNvSpPr>
            <a:spLocks noChangeArrowheads="1"/>
          </p:cNvSpPr>
          <p:nvPr/>
        </p:nvSpPr>
        <p:spPr bwMode="auto">
          <a:xfrm>
            <a:off x="2099042" y="2239434"/>
            <a:ext cx="948958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13742" name="Oval 14"/>
          <p:cNvSpPr>
            <a:spLocks noChangeArrowheads="1"/>
          </p:cNvSpPr>
          <p:nvPr/>
        </p:nvSpPr>
        <p:spPr bwMode="auto">
          <a:xfrm>
            <a:off x="2099042" y="5169488"/>
            <a:ext cx="948958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86809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44" grpId="0" animBg="1"/>
      <p:bldP spid="713745" grpId="0" animBg="1"/>
      <p:bldP spid="713743" grpId="0" animBg="1"/>
      <p:bldP spid="713746" grpId="0" animBg="1"/>
      <p:bldP spid="713748" grpId="0" animBg="1"/>
      <p:bldP spid="713749" grpId="0"/>
      <p:bldP spid="713750" grpId="0" animBg="1"/>
      <p:bldP spid="713747" grpId="0" animBg="1"/>
      <p:bldP spid="7137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</a:t>
            </a:r>
          </a:p>
        </p:txBody>
      </p:sp>
      <p:sp>
        <p:nvSpPr>
          <p:cNvPr id="719877" name="Rectangle 5"/>
          <p:cNvSpPr>
            <a:spLocks noGrp="1" noChangeArrowheads="1"/>
          </p:cNvSpPr>
          <p:nvPr>
            <p:ph idx="1"/>
          </p:nvPr>
        </p:nvSpPr>
        <p:spPr>
          <a:xfrm>
            <a:off x="1863432" y="1362075"/>
            <a:ext cx="7896225" cy="4972050"/>
          </a:xfrm>
        </p:spPr>
        <p:txBody>
          <a:bodyPr/>
          <a:lstStyle/>
          <a:p>
            <a:r>
              <a:rPr lang="en-US" dirty="0"/>
              <a:t>Set of system-level functions used in conjunction with Unix I/O to build network applications. </a:t>
            </a:r>
          </a:p>
          <a:p>
            <a:endParaRPr lang="en-US" dirty="0"/>
          </a:p>
          <a:p>
            <a:r>
              <a:rPr lang="en-US" dirty="0"/>
              <a:t>Created in the early 80’s as part of the original Berkeley distribution of Unix that contained an early version of the Internet protocols.</a:t>
            </a:r>
          </a:p>
          <a:p>
            <a:endParaRPr lang="en-US" dirty="0"/>
          </a:p>
          <a:p>
            <a:r>
              <a:rPr lang="en-US" dirty="0"/>
              <a:t>Available on all modern systems	</a:t>
            </a:r>
          </a:p>
          <a:p>
            <a:pPr lvl="1"/>
            <a:r>
              <a:rPr lang="en-US" dirty="0"/>
              <a:t>Unix variants, Windows, OS X, IOS, Android, ARM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3"/>
          <p:cNvSpPr>
            <a:spLocks noChangeArrowheads="1"/>
          </p:cNvSpPr>
          <p:nvPr/>
        </p:nvSpPr>
        <p:spPr bwMode="auto">
          <a:xfrm>
            <a:off x="3787634" y="4284916"/>
            <a:ext cx="948958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6551190" y="4284916"/>
            <a:ext cx="1028163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209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Sockets</a:t>
            </a:r>
          </a:p>
        </p:txBody>
      </p:sp>
      <p:sp>
        <p:nvSpPr>
          <p:cNvPr id="720901" name="Rectangle 5"/>
          <p:cNvSpPr>
            <a:spLocks noGrp="1" noChangeArrowheads="1"/>
          </p:cNvSpPr>
          <p:nvPr>
            <p:ph idx="1"/>
          </p:nvPr>
        </p:nvSpPr>
        <p:spPr>
          <a:xfrm>
            <a:off x="1988259" y="1207008"/>
            <a:ext cx="8087666" cy="533182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is a socket?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 the kernel, a socket is an endpoint of communication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 an application, a socket is a file descriptor that lets the application read/write from/to the network</a:t>
            </a:r>
          </a:p>
          <a:p>
            <a:pPr lvl="2">
              <a:lnSpc>
                <a:spcPct val="110000"/>
              </a:lnSpc>
            </a:pPr>
            <a:r>
              <a:rPr lang="en-US" sz="2000" b="1" i="1" dirty="0">
                <a:solidFill>
                  <a:srgbClr val="C00000"/>
                </a:solidFill>
              </a:rPr>
              <a:t>Remember:</a:t>
            </a:r>
            <a:r>
              <a:rPr lang="en-US" sz="2000" dirty="0"/>
              <a:t> All Unix I/O devices, including networks, are modeled as files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Clients and servers communicate with each other by reading from and writing to socket descriptors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The main distinction between regular file I/O and socket I/O is how the application “opens” the socket descriptors</a:t>
            </a:r>
          </a:p>
        </p:txBody>
      </p:sp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4228593" y="4774846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8" name="Oval 26"/>
          <p:cNvSpPr>
            <a:spLocks noChangeAspect="1" noChangeArrowheads="1"/>
          </p:cNvSpPr>
          <p:nvPr/>
        </p:nvSpPr>
        <p:spPr bwMode="auto">
          <a:xfrm>
            <a:off x="6489192" y="4458652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6155276" y="4787546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serverfd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10" name="Line 28"/>
          <p:cNvSpPr>
            <a:spLocks noChangeShapeType="1"/>
          </p:cNvSpPr>
          <p:nvPr/>
        </p:nvSpPr>
        <p:spPr bwMode="auto">
          <a:xfrm>
            <a:off x="4812792" y="4522946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Oval 20"/>
          <p:cNvSpPr>
            <a:spLocks noChangeAspect="1" noChangeArrowheads="1"/>
          </p:cNvSpPr>
          <p:nvPr/>
        </p:nvSpPr>
        <p:spPr bwMode="auto">
          <a:xfrm>
            <a:off x="4660392" y="4458652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68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6" grpId="0"/>
      <p:bldP spid="8" grpId="0" animBg="1"/>
      <p:bldP spid="9" grpId="0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Programming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8260" y="1219201"/>
            <a:ext cx="8087667" cy="520598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Echo server and client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Server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Accepts connection request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Repeats back lines as they are typed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Client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Requests connection to server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Repeatedly: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Read line from terminal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Send to server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Read reply from server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Print line to terminal</a:t>
            </a:r>
          </a:p>
        </p:txBody>
      </p:sp>
    </p:spTree>
    <p:extLst>
      <p:ext uri="{BB962C8B-B14F-4D97-AF65-F5344CB8AC3E}">
        <p14:creationId xmlns:p14="http://schemas.microsoft.com/office/powerpoint/2010/main" val="321203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Echo Server/Client Session Example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391979" y="4876800"/>
            <a:ext cx="7620000" cy="10772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tabLst>
                <a:tab pos="6796088" algn="l"/>
              </a:tabLst>
            </a:pPr>
            <a:r>
              <a:rPr lang="en-US" sz="1600" dirty="0" err="1">
                <a:latin typeface="Courier New" pitchFamily="49" charset="0"/>
              </a:rPr>
              <a:t>thoth</a:t>
            </a:r>
            <a:r>
              <a:rPr lang="en-US" sz="1600" dirty="0">
                <a:latin typeface="Courier New" pitchFamily="49" charset="0"/>
              </a:rPr>
              <a:t> $ </a:t>
            </a:r>
            <a:r>
              <a:rPr lang="en-US" sz="1600" i="1" dirty="0">
                <a:latin typeface="Courier New" pitchFamily="49" charset="0"/>
              </a:rPr>
              <a:t>./</a:t>
            </a:r>
            <a:r>
              <a:rPr lang="en-US" sz="1600" i="1" dirty="0" err="1">
                <a:latin typeface="Courier New" pitchFamily="49" charset="0"/>
              </a:rPr>
              <a:t>echoserver</a:t>
            </a:r>
            <a:endParaRPr lang="en-US" sz="1600" i="1" dirty="0">
              <a:latin typeface="Courier New" pitchFamily="49" charset="0"/>
            </a:endParaRPr>
          </a:p>
          <a:p>
            <a:pPr>
              <a:tabLst>
                <a:tab pos="6796088" algn="l"/>
              </a:tabLst>
            </a:pPr>
            <a:r>
              <a:rPr lang="en-US" sz="1600" dirty="0">
                <a:latin typeface="Courier New" pitchFamily="49" charset="0"/>
              </a:rPr>
              <a:t>Server connected to client.	(A)</a:t>
            </a:r>
          </a:p>
          <a:p>
            <a:pPr>
              <a:tabLst>
                <a:tab pos="6796088" algn="l"/>
              </a:tabLst>
            </a:pPr>
            <a:r>
              <a:rPr lang="en-US" sz="1600" dirty="0">
                <a:latin typeface="Courier New" pitchFamily="49" charset="0"/>
              </a:rPr>
              <a:t>server received 26 bytes	(B)</a:t>
            </a:r>
          </a:p>
          <a:p>
            <a:pPr>
              <a:tabLst>
                <a:tab pos="6796088" algn="l"/>
              </a:tabLst>
            </a:pPr>
            <a:r>
              <a:rPr lang="en-US" sz="1600" dirty="0">
                <a:latin typeface="Courier New" pitchFamily="49" charset="0"/>
              </a:rPr>
              <a:t>server received 17 bytes	(C)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752600" y="1752600"/>
            <a:ext cx="8458200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tabLst>
                <a:tab pos="7716838" algn="l"/>
              </a:tabLst>
            </a:pPr>
            <a:r>
              <a:rPr lang="en-US" sz="1600" dirty="0" err="1">
                <a:latin typeface="Courier New" pitchFamily="49" charset="0"/>
              </a:rPr>
              <a:t>thoth</a:t>
            </a:r>
            <a:r>
              <a:rPr lang="en-US" sz="1600" dirty="0">
                <a:latin typeface="Courier New" pitchFamily="49" charset="0"/>
              </a:rPr>
              <a:t> $ </a:t>
            </a:r>
            <a:r>
              <a:rPr lang="en-US" sz="1600" i="1" dirty="0">
                <a:latin typeface="Courier New" pitchFamily="49" charset="0"/>
              </a:rPr>
              <a:t>./</a:t>
            </a:r>
            <a:r>
              <a:rPr lang="en-US" sz="1600" i="1" dirty="0" err="1">
                <a:latin typeface="Courier New" pitchFamily="49" charset="0"/>
              </a:rPr>
              <a:t>echoclient</a:t>
            </a:r>
            <a:r>
              <a:rPr lang="en-US" sz="1600" i="1" dirty="0">
                <a:latin typeface="Courier New" pitchFamily="49" charset="0"/>
              </a:rPr>
              <a:t>	(A)</a:t>
            </a:r>
          </a:p>
          <a:p>
            <a:pPr>
              <a:tabLst>
                <a:tab pos="7716838" algn="l"/>
              </a:tabLst>
            </a:pPr>
            <a:r>
              <a:rPr lang="en-US" sz="1600" i="1" dirty="0">
                <a:latin typeface="Courier New" pitchFamily="49" charset="0"/>
              </a:rPr>
              <a:t>This line is being echoed	(B)</a:t>
            </a:r>
          </a:p>
          <a:p>
            <a:pPr>
              <a:tabLst>
                <a:tab pos="7716838" algn="l"/>
              </a:tabLst>
            </a:pPr>
            <a:r>
              <a:rPr lang="en-US" sz="1600" dirty="0">
                <a:latin typeface="Courier New" pitchFamily="49" charset="0"/>
              </a:rPr>
              <a:t>This line is being echoed</a:t>
            </a:r>
          </a:p>
          <a:p>
            <a:pPr>
              <a:tabLst>
                <a:tab pos="7716838" algn="l"/>
              </a:tabLst>
            </a:pPr>
            <a:r>
              <a:rPr lang="en-US" sz="1600" i="1" dirty="0">
                <a:latin typeface="Courier New" pitchFamily="49" charset="0"/>
              </a:rPr>
              <a:t>This one is, too	(C)</a:t>
            </a:r>
          </a:p>
          <a:p>
            <a:pPr>
              <a:tabLst>
                <a:tab pos="7716838" algn="l"/>
              </a:tabLst>
            </a:pPr>
            <a:r>
              <a:rPr lang="en-US" sz="1600" dirty="0">
                <a:latin typeface="Courier New" pitchFamily="49" charset="0"/>
              </a:rPr>
              <a:t>This one is, too</a:t>
            </a:r>
          </a:p>
          <a:p>
            <a:pPr>
              <a:tabLst>
                <a:tab pos="7716838" algn="l"/>
              </a:tabLst>
            </a:pPr>
            <a:r>
              <a:rPr lang="en-US" sz="1600" i="1" dirty="0">
                <a:latin typeface="Courier New" pitchFamily="49" charset="0"/>
              </a:rPr>
              <a:t>^D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318" y="1232753"/>
            <a:ext cx="904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Client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51706" y="4415136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2194234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ounded Rectangle 65"/>
          <p:cNvSpPr/>
          <p:nvPr/>
        </p:nvSpPr>
        <p:spPr bwMode="auto">
          <a:xfrm>
            <a:off x="6285308" y="5678952"/>
            <a:ext cx="4001692" cy="1179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ctr" anchorCtr="0"/>
          <a:lstStyle/>
          <a:p>
            <a:pPr algn="r"/>
            <a:r>
              <a:rPr lang="en-US" dirty="0"/>
              <a:t>5</a:t>
            </a:r>
            <a:r>
              <a:rPr lang="en-US" i="1" dirty="0"/>
              <a:t>. Drop client</a:t>
            </a:r>
          </a:p>
        </p:txBody>
      </p:sp>
      <p:sp>
        <p:nvSpPr>
          <p:cNvPr id="65" name="Rounded Rectangle 64"/>
          <p:cNvSpPr/>
          <p:nvPr/>
        </p:nvSpPr>
        <p:spPr bwMode="auto">
          <a:xfrm>
            <a:off x="3200400" y="5662095"/>
            <a:ext cx="2308256" cy="95143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b" anchorCtr="0"/>
          <a:lstStyle/>
          <a:p>
            <a:pPr algn="ctr"/>
            <a:r>
              <a:rPr lang="en-US" dirty="0"/>
              <a:t>4</a:t>
            </a:r>
            <a:r>
              <a:rPr lang="en-US" i="1" dirty="0"/>
              <a:t>. Disconnect client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73105" y="4068494"/>
            <a:ext cx="7285737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dirty="0"/>
              <a:t>3</a:t>
            </a:r>
            <a:r>
              <a:rPr lang="en-US" i="1" dirty="0"/>
              <a:t>. Exchange</a:t>
            </a:r>
          </a:p>
          <a:p>
            <a:pPr algn="r"/>
            <a:r>
              <a:rPr lang="en-US" i="1" dirty="0"/>
              <a:t>data</a:t>
            </a:r>
          </a:p>
        </p:txBody>
      </p:sp>
      <p:sp>
        <p:nvSpPr>
          <p:cNvPr id="63" name="Rounded Rectangle 62"/>
          <p:cNvSpPr/>
          <p:nvPr/>
        </p:nvSpPr>
        <p:spPr bwMode="auto">
          <a:xfrm>
            <a:off x="3276600" y="152401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2</a:t>
            </a:r>
            <a:r>
              <a:rPr lang="en-US" i="1" dirty="0"/>
              <a:t>. Start client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6096000" y="152401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1</a:t>
            </a:r>
            <a:r>
              <a:rPr lang="en-US" i="1" dirty="0"/>
              <a:t>. Start server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7387AF-EA58-4FE2-9CD1-7A3823BEB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498901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49890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socket 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socket 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socket read</a:t>
              </a:r>
            </a:p>
            <a:p>
              <a:pPr algn="ctr"/>
              <a:r>
                <a:rPr lang="en-US" sz="1400" dirty="0">
                  <a:latin typeface="Courier New" pitchFamily="49" charset="0"/>
                </a:rPr>
                <a:t>terminal write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terminal read</a:t>
              </a:r>
            </a:p>
            <a:p>
              <a:pPr algn="ctr"/>
              <a:r>
                <a:rPr lang="en-US" sz="1400" dirty="0">
                  <a:latin typeface="Courier New" pitchFamily="49" charset="0"/>
                </a:rPr>
                <a:t>socket 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socket 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2387331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listen</a:t>
            </a: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07313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connect</a:t>
            </a:r>
          </a:p>
        </p:txBody>
      </p:sp>
      <p:sp>
        <p:nvSpPr>
          <p:cNvPr id="67" name="Text Box 49"/>
          <p:cNvSpPr txBox="1">
            <a:spLocks noChangeArrowheads="1"/>
          </p:cNvSpPr>
          <p:nvPr/>
        </p:nvSpPr>
        <p:spPr bwMode="auto">
          <a:xfrm>
            <a:off x="8229601" y="3247754"/>
            <a:ext cx="182924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 client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3FBFB2D-340E-45CE-AFA0-1988000E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1CC31232-8204-4AE6-99B5-FE1B15843FA7}"/>
              </a:ext>
            </a:extLst>
          </p:cNvPr>
          <p:cNvSpPr txBox="1">
            <a:spLocks noChangeArrowheads="1"/>
          </p:cNvSpPr>
          <p:nvPr/>
        </p:nvSpPr>
        <p:spPr>
          <a:xfrm>
            <a:off x="9753600" y="846053"/>
            <a:ext cx="2133600" cy="2136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96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Echo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Server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+ Client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696045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5" grpId="0" animBg="1"/>
      <p:bldP spid="64" grpId="0" animBg="1"/>
      <p:bldP spid="63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ounded Rectangle 65"/>
          <p:cNvSpPr/>
          <p:nvPr/>
        </p:nvSpPr>
        <p:spPr bwMode="auto">
          <a:xfrm>
            <a:off x="6285308" y="5678952"/>
            <a:ext cx="4001692" cy="1179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ctr" anchorCtr="0"/>
          <a:lstStyle/>
          <a:p>
            <a:pPr algn="r"/>
            <a:r>
              <a:rPr lang="en-US" dirty="0"/>
              <a:t>5</a:t>
            </a:r>
            <a:r>
              <a:rPr lang="en-US" i="1" dirty="0"/>
              <a:t>. Drop client</a:t>
            </a:r>
          </a:p>
        </p:txBody>
      </p:sp>
      <p:sp>
        <p:nvSpPr>
          <p:cNvPr id="65" name="Rounded Rectangle 64"/>
          <p:cNvSpPr/>
          <p:nvPr/>
        </p:nvSpPr>
        <p:spPr bwMode="auto">
          <a:xfrm>
            <a:off x="3200400" y="5662095"/>
            <a:ext cx="2308256" cy="95143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b" anchorCtr="0"/>
          <a:lstStyle/>
          <a:p>
            <a:pPr algn="ctr"/>
            <a:r>
              <a:rPr lang="en-US" dirty="0"/>
              <a:t>4</a:t>
            </a:r>
            <a:r>
              <a:rPr lang="en-US" i="1" dirty="0"/>
              <a:t>. Disconnect client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73104" y="4068494"/>
            <a:ext cx="7285736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dirty="0"/>
              <a:t>3</a:t>
            </a:r>
            <a:r>
              <a:rPr lang="en-US" i="1" dirty="0"/>
              <a:t>. Exchange</a:t>
            </a:r>
          </a:p>
          <a:p>
            <a:pPr algn="r"/>
            <a:r>
              <a:rPr lang="en-US" i="1" dirty="0"/>
              <a:t>data</a:t>
            </a:r>
          </a:p>
        </p:txBody>
      </p:sp>
      <p:sp>
        <p:nvSpPr>
          <p:cNvPr id="63" name="Rounded Rectangle 62"/>
          <p:cNvSpPr/>
          <p:nvPr/>
        </p:nvSpPr>
        <p:spPr bwMode="auto">
          <a:xfrm>
            <a:off x="3276600" y="152401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2</a:t>
            </a:r>
            <a:r>
              <a:rPr lang="en-US" i="1" dirty="0"/>
              <a:t>. Start client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6096000" y="152401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1</a:t>
            </a:r>
            <a:r>
              <a:rPr lang="en-US" i="1" dirty="0"/>
              <a:t>. Start server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498901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49890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  <a:p>
              <a:pPr algn="ctr"/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</a:rPr>
                <a:t>fputs</a:t>
              </a:r>
              <a:endParaRPr lang="en-US" sz="1400" b="1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</a:rPr>
                <a:t>fgets</a:t>
              </a:r>
              <a:endParaRPr lang="en-US" sz="1400" b="1" dirty="0">
                <a:solidFill>
                  <a:srgbClr val="FF0000"/>
                </a:solidFill>
                <a:latin typeface="Courier New" pitchFamily="49" charset="0"/>
              </a:endParaRPr>
            </a:p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229601" y="3247754"/>
            <a:ext cx="182924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 client</a:t>
            </a: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2387331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listen</a:t>
            </a: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07313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connect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25A02FE-04F6-4E5A-9F8F-B72673DD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3" name="Rectangle 13">
            <a:extLst>
              <a:ext uri="{FF2B5EF4-FFF2-40B4-BE49-F238E27FC236}">
                <a16:creationId xmlns:a16="http://schemas.microsoft.com/office/drawing/2014/main" id="{9987E969-EE42-4CF0-BB87-F97345F5AF83}"/>
              </a:ext>
            </a:extLst>
          </p:cNvPr>
          <p:cNvSpPr txBox="1">
            <a:spLocks noChangeArrowheads="1"/>
          </p:cNvSpPr>
          <p:nvPr/>
        </p:nvSpPr>
        <p:spPr>
          <a:xfrm>
            <a:off x="9753600" y="846053"/>
            <a:ext cx="2133600" cy="2136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96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Echo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Server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+ Client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72189173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8280" y="46116"/>
            <a:ext cx="7772400" cy="664528"/>
          </a:xfrm>
        </p:spPr>
        <p:txBody>
          <a:bodyPr>
            <a:normAutofit/>
          </a:bodyPr>
          <a:lstStyle/>
          <a:p>
            <a:r>
              <a:rPr lang="en-US" u="sng" dirty="0"/>
              <a:t>Echo Server</a:t>
            </a:r>
            <a:r>
              <a:rPr lang="en-US" dirty="0"/>
              <a:t>: Main Routine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808E24-5380-4C18-BB28-2784DCB83F15}"/>
              </a:ext>
            </a:extLst>
          </p:cNvPr>
          <p:cNvSpPr txBox="1">
            <a:spLocks/>
          </p:cNvSpPr>
          <p:nvPr/>
        </p:nvSpPr>
        <p:spPr>
          <a:xfrm>
            <a:off x="65834" y="1247246"/>
            <a:ext cx="6221844" cy="53973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   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fgets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etc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sys/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socket.h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socket API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arpa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inet.h</a:t>
            </a:r>
            <a:r>
              <a:rPr lang="en-US" sz="1600" dirty="0">
                <a:latin typeface="Inconsolata" panose="020B0609030003000000" pitchFamily="49" charset="0"/>
              </a:rPr>
              <a:t>&gt;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inet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functions,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htons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read/close system calls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exit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strlen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PORT 9997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Creating socket file descriptor (using internet protocol)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 = socket(AF_INET, SOCK_STREAM, 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perror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"socket failed"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exit(EXIT_FAILURE);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We want to use the internet protocol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sockaddr_in</a:t>
            </a:r>
            <a:r>
              <a:rPr lang="en-US" sz="1600" dirty="0">
                <a:latin typeface="Inconsolata" panose="020B0609030003000000" pitchFamily="49" charset="0"/>
              </a:rPr>
              <a:t> address;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address.sin_family</a:t>
            </a:r>
            <a:r>
              <a:rPr lang="en-US" sz="1600" dirty="0">
                <a:latin typeface="Inconsolata" panose="020B0609030003000000" pitchFamily="49" charset="0"/>
              </a:rPr>
              <a:t> = AF_INET;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address.sin_addr.s_addr</a:t>
            </a:r>
            <a:r>
              <a:rPr lang="en-US" sz="1600" dirty="0">
                <a:latin typeface="Inconsolata" panose="020B0609030003000000" pitchFamily="49" charset="0"/>
              </a:rPr>
              <a:t> = INADDR_ANY;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address.sin_port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htons</a:t>
            </a:r>
            <a:r>
              <a:rPr lang="en-US" sz="1600" dirty="0">
                <a:latin typeface="Inconsolata" panose="020B0609030003000000" pitchFamily="49" charset="0"/>
              </a:rPr>
              <a:t>(PORT);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Bind socket to the port (so it listens to that port)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result = bind(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sockaddr</a:t>
            </a:r>
            <a:r>
              <a:rPr lang="en-US" sz="1600" dirty="0">
                <a:latin typeface="Inconsolata" panose="020B0609030003000000" pitchFamily="49" charset="0"/>
              </a:rPr>
              <a:t> *)&amp;address,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(address));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(result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perror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"bind failed"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exit(EXIT_FAILURE);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4A640-5489-404B-95D2-271AD9E2E663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echoserver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echoserver.c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F5B76-672E-4B4A-8B1B-1766CD7F5C8A}"/>
              </a:ext>
            </a:extLst>
          </p:cNvPr>
          <p:cNvSpPr txBox="1"/>
          <p:nvPr/>
        </p:nvSpPr>
        <p:spPr>
          <a:xfrm>
            <a:off x="2435501" y="3390491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create a socket.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900D9A-3A7A-4DA5-8B6C-01927A9095AF}"/>
              </a:ext>
            </a:extLst>
          </p:cNvPr>
          <p:cNvCxnSpPr>
            <a:cxnSpLocks/>
          </p:cNvCxnSpPr>
          <p:nvPr/>
        </p:nvCxnSpPr>
        <p:spPr>
          <a:xfrm rot="2472984" flipH="1">
            <a:off x="2299284" y="345866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EF63D33-3846-4FB3-B971-E4C1FBC4F693}"/>
              </a:ext>
            </a:extLst>
          </p:cNvPr>
          <p:cNvSpPr txBox="1">
            <a:spLocks/>
          </p:cNvSpPr>
          <p:nvPr/>
        </p:nvSpPr>
        <p:spPr>
          <a:xfrm>
            <a:off x="6287678" y="877887"/>
            <a:ext cx="5838488" cy="600187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Listen for connections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latin typeface="Inconsolata" panose="020B0609030003000000" pitchFamily="49" charset="0"/>
              </a:rPr>
              <a:t>result = listen(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, 3);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(result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perror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"listen"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exit(EXIT_FAILURE);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Listen will return when a connection is requested...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Accept that connection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addrlen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(address);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new_socket</a:t>
            </a:r>
            <a:r>
              <a:rPr lang="en-US" sz="1600" dirty="0">
                <a:latin typeface="Inconsolata" panose="020B0609030003000000" pitchFamily="49" charset="0"/>
              </a:rPr>
              <a:t> = accept(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sockaddr</a:t>
            </a:r>
            <a:r>
              <a:rPr lang="en-US" sz="1600" dirty="0">
                <a:latin typeface="Inconsolata" panose="020B0609030003000000" pitchFamily="49" charset="0"/>
              </a:rPr>
              <a:t> *)&amp;address,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                               (</a:t>
            </a:r>
            <a:r>
              <a:rPr lang="en-US" sz="1600" dirty="0" err="1">
                <a:latin typeface="Inconsolata" panose="020B0609030003000000" pitchFamily="49" charset="0"/>
              </a:rPr>
              <a:t>socklen_t</a:t>
            </a:r>
            <a:r>
              <a:rPr lang="en-US" sz="1600" dirty="0">
                <a:latin typeface="Inconsolata" panose="020B0609030003000000" pitchFamily="49" charset="0"/>
              </a:rPr>
              <a:t>*)&amp;</a:t>
            </a:r>
            <a:r>
              <a:rPr lang="en-US" sz="1600" dirty="0" err="1">
                <a:latin typeface="Inconsolata" panose="020B0609030003000000" pitchFamily="49" charset="0"/>
              </a:rPr>
              <a:t>addrlen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new_socket</a:t>
            </a:r>
            <a:r>
              <a:rPr lang="en-US" sz="1600" dirty="0">
                <a:latin typeface="Inconsolata" panose="020B0609030003000000" pitchFamily="49" charset="0"/>
              </a:rPr>
              <a:t>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perror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"accept"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exit(EXIT_FAILURE);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"Server connected to client.\n"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 buffer[1024] = {0};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do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Read data (it waits until data is available)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</a:t>
            </a:r>
            <a:r>
              <a:rPr lang="en-US" sz="1600" dirty="0">
                <a:latin typeface="Inconsolata" panose="020B0609030003000000" pitchFamily="49" charset="0"/>
              </a:rPr>
              <a:t>count = read(</a:t>
            </a:r>
            <a:r>
              <a:rPr lang="en-US" sz="1600" dirty="0" err="1">
                <a:latin typeface="Inconsolata" panose="020B0609030003000000" pitchFamily="49" charset="0"/>
              </a:rPr>
              <a:t>new_socket</a:t>
            </a:r>
            <a:r>
              <a:rPr lang="en-US" sz="1600" dirty="0">
                <a:latin typeface="Inconsolata" panose="020B0609030003000000" pitchFamily="49" charset="0"/>
              </a:rPr>
              <a:t>, buffer, 1024);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"Server received %d bytes.\n"</a:t>
            </a:r>
            <a:r>
              <a:rPr lang="en-US" sz="1600" dirty="0">
                <a:latin typeface="Inconsolata" panose="020B0609030003000000" pitchFamily="49" charset="0"/>
              </a:rPr>
              <a:t>, count);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buffer[count]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'\0'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write(</a:t>
            </a:r>
            <a:r>
              <a:rPr lang="en-US" sz="1600" dirty="0" err="1">
                <a:latin typeface="Inconsolata" panose="020B0609030003000000" pitchFamily="49" charset="0"/>
              </a:rPr>
              <a:t>new_socket</a:t>
            </a:r>
            <a:r>
              <a:rPr lang="en-US" sz="1600" dirty="0">
                <a:latin typeface="Inconsolata" panose="020B0609030003000000" pitchFamily="49" charset="0"/>
              </a:rPr>
              <a:t>, buffer, </a:t>
            </a:r>
            <a:r>
              <a:rPr lang="en-US" sz="1600" dirty="0" err="1">
                <a:latin typeface="Inconsolata" panose="020B0609030003000000" pitchFamily="49" charset="0"/>
              </a:rPr>
              <a:t>strlen</a:t>
            </a:r>
            <a:r>
              <a:rPr lang="en-US" sz="1600" dirty="0">
                <a:latin typeface="Inconsolata" panose="020B0609030003000000" pitchFamily="49" charset="0"/>
              </a:rPr>
              <a:t>(buffer));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close(</a:t>
            </a:r>
            <a:r>
              <a:rPr lang="en-US" sz="1600" dirty="0" err="1">
                <a:latin typeface="Inconsolata" panose="020B0609030003000000" pitchFamily="49" charset="0"/>
              </a:rPr>
              <a:t>new_socket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close(</a:t>
            </a:r>
            <a:r>
              <a:rPr lang="en-US" sz="1600" dirty="0" err="1">
                <a:latin typeface="Inconsolata" panose="020B0609030003000000" pitchFamily="49" charset="0"/>
              </a:rPr>
              <a:t>server_fd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F3A17-675A-4162-A02B-3221E079D24F}"/>
              </a:ext>
            </a:extLst>
          </p:cNvPr>
          <p:cNvSpPr txBox="1"/>
          <p:nvPr/>
        </p:nvSpPr>
        <p:spPr>
          <a:xfrm>
            <a:off x="3311263" y="4232735"/>
            <a:ext cx="2784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define what port and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protocol we want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F861C4-6B77-45AD-B518-EBF6099FA94A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072126" y="463738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02D37A-676E-42F2-86FA-F09BC5512C52}"/>
              </a:ext>
            </a:extLst>
          </p:cNvPr>
          <p:cNvSpPr txBox="1"/>
          <p:nvPr/>
        </p:nvSpPr>
        <p:spPr>
          <a:xfrm>
            <a:off x="2435501" y="5792068"/>
            <a:ext cx="342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bind ourselves to that port.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AF9D37-99F7-46B4-931B-022292EEDF40}"/>
              </a:ext>
            </a:extLst>
          </p:cNvPr>
          <p:cNvCxnSpPr>
            <a:cxnSpLocks/>
          </p:cNvCxnSpPr>
          <p:nvPr/>
        </p:nvCxnSpPr>
        <p:spPr>
          <a:xfrm rot="2472984" flipH="1">
            <a:off x="2299284" y="586024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09899AB-83D0-40A1-BB1E-2DC7FE004506}"/>
              </a:ext>
            </a:extLst>
          </p:cNvPr>
          <p:cNvSpPr txBox="1"/>
          <p:nvPr/>
        </p:nvSpPr>
        <p:spPr>
          <a:xfrm>
            <a:off x="8168521" y="1531153"/>
            <a:ext cx="2727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wait until somebody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requests a connection.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2E2245-3DB2-4CDD-89D1-C85853AB1A0C}"/>
              </a:ext>
            </a:extLst>
          </p:cNvPr>
          <p:cNvCxnSpPr>
            <a:cxnSpLocks/>
          </p:cNvCxnSpPr>
          <p:nvPr/>
        </p:nvCxnSpPr>
        <p:spPr>
          <a:xfrm rot="2472984" flipH="1">
            <a:off x="8032304" y="159932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01199F1-12DF-485E-BA47-29076E2731F7}"/>
              </a:ext>
            </a:extLst>
          </p:cNvPr>
          <p:cNvSpPr txBox="1"/>
          <p:nvPr/>
        </p:nvSpPr>
        <p:spPr>
          <a:xfrm>
            <a:off x="8330820" y="3092564"/>
            <a:ext cx="3049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accept that connection.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88C68B-23F3-4167-9BF3-8A3A455A9394}"/>
              </a:ext>
            </a:extLst>
          </p:cNvPr>
          <p:cNvCxnSpPr>
            <a:cxnSpLocks/>
          </p:cNvCxnSpPr>
          <p:nvPr/>
        </p:nvCxnSpPr>
        <p:spPr>
          <a:xfrm rot="2472984" flipH="1">
            <a:off x="8194603" y="316073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2679B35-CA3F-4080-A1BF-A0E0C02903B9}"/>
              </a:ext>
            </a:extLst>
          </p:cNvPr>
          <p:cNvSpPr txBox="1"/>
          <p:nvPr/>
        </p:nvSpPr>
        <p:spPr>
          <a:xfrm>
            <a:off x="9929111" y="4850491"/>
            <a:ext cx="2105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wait until data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arrives and read it.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08C987-3962-4724-A54B-ED106FD35C57}"/>
              </a:ext>
            </a:extLst>
          </p:cNvPr>
          <p:cNvCxnSpPr>
            <a:cxnSpLocks/>
          </p:cNvCxnSpPr>
          <p:nvPr/>
        </p:nvCxnSpPr>
        <p:spPr>
          <a:xfrm flipH="1">
            <a:off x="9677400" y="5045163"/>
            <a:ext cx="244489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65A825-2044-46A1-818E-EA3BBAD9AA29}"/>
              </a:ext>
            </a:extLst>
          </p:cNvPr>
          <p:cNvSpPr txBox="1"/>
          <p:nvPr/>
        </p:nvSpPr>
        <p:spPr>
          <a:xfrm>
            <a:off x="8283475" y="5676573"/>
            <a:ext cx="376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write it back out. Stopping our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loop when nothing was read.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E6FF9F-070C-45F8-BE51-42B7E76D44A7}"/>
              </a:ext>
            </a:extLst>
          </p:cNvPr>
          <p:cNvCxnSpPr>
            <a:cxnSpLocks/>
          </p:cNvCxnSpPr>
          <p:nvPr/>
        </p:nvCxnSpPr>
        <p:spPr>
          <a:xfrm rot="2472984" flipH="1">
            <a:off x="8119746" y="574474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77E1A0F-F336-4317-AA46-AD13FA0A6BC4}"/>
              </a:ext>
            </a:extLst>
          </p:cNvPr>
          <p:cNvSpPr txBox="1"/>
          <p:nvPr/>
        </p:nvSpPr>
        <p:spPr>
          <a:xfrm>
            <a:off x="7606379" y="6359762"/>
            <a:ext cx="3485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close all of our connections.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0A50CB-3802-42A8-9024-892536BA5414}"/>
              </a:ext>
            </a:extLst>
          </p:cNvPr>
          <p:cNvCxnSpPr>
            <a:cxnSpLocks/>
          </p:cNvCxnSpPr>
          <p:nvPr/>
        </p:nvCxnSpPr>
        <p:spPr>
          <a:xfrm rot="2472984" flipH="1">
            <a:off x="7470162" y="642793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6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0" grpId="0"/>
      <p:bldP spid="22" grpId="0"/>
      <p:bldP spid="24" grpId="0"/>
      <p:bldP spid="26" grpId="0"/>
      <p:bldP spid="33" grpId="0"/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B104FE6-EEDD-9748-90AB-F07DFF72595E}"/>
              </a:ext>
            </a:extLst>
          </p:cNvPr>
          <p:cNvSpPr/>
          <p:nvPr/>
        </p:nvSpPr>
        <p:spPr bwMode="auto">
          <a:xfrm>
            <a:off x="3315490" y="192266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2</a:t>
            </a:r>
            <a:r>
              <a:rPr lang="en-US" i="1" dirty="0"/>
              <a:t>. Start client</a:t>
            </a: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E06B561F-0ABE-6442-B4BC-7614909BB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221" y="594856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73104" y="4068494"/>
            <a:ext cx="7285736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dirty="0"/>
              <a:t>3</a:t>
            </a:r>
            <a:r>
              <a:rPr lang="en-US" i="1" dirty="0"/>
              <a:t>. Exchange</a:t>
            </a:r>
          </a:p>
          <a:p>
            <a:pPr algn="r"/>
            <a:r>
              <a:rPr lang="en-US" i="1" dirty="0"/>
              <a:t>data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6096000" y="152401"/>
            <a:ext cx="2057400" cy="40279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dirty="0"/>
              <a:t>1</a:t>
            </a:r>
            <a:r>
              <a:rPr lang="en-US" i="1" dirty="0"/>
              <a:t>. Start server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49890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  <a:p>
              <a:pPr algn="ctr"/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</a:rPr>
                <a:t>fputs</a:t>
              </a:r>
              <a:endParaRPr lang="en-US" sz="1400" b="1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</a:rPr>
                <a:t>fgets</a:t>
              </a:r>
              <a:endParaRPr lang="en-US" sz="1400" b="1" dirty="0">
                <a:solidFill>
                  <a:srgbClr val="FF0000"/>
                </a:solidFill>
                <a:latin typeface="Courier New" pitchFamily="49" charset="0"/>
              </a:endParaRPr>
            </a:p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229601" y="3247754"/>
            <a:ext cx="182924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 client</a:t>
            </a: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2387331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listen</a:t>
            </a: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07313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connect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E691FD-EC42-4978-A6FD-95B39C5F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3" name="Rectangle 13">
            <a:extLst>
              <a:ext uri="{FF2B5EF4-FFF2-40B4-BE49-F238E27FC236}">
                <a16:creationId xmlns:a16="http://schemas.microsoft.com/office/drawing/2014/main" id="{9B4E58EB-B2B2-4D39-80EC-7718752356A1}"/>
              </a:ext>
            </a:extLst>
          </p:cNvPr>
          <p:cNvSpPr txBox="1">
            <a:spLocks noChangeArrowheads="1"/>
          </p:cNvSpPr>
          <p:nvPr/>
        </p:nvSpPr>
        <p:spPr>
          <a:xfrm>
            <a:off x="9753600" y="846053"/>
            <a:ext cx="2133600" cy="2136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96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Echo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Server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+ Client</a:t>
            </a:r>
            <a:br>
              <a:rPr lang="en-GB">
                <a:solidFill>
                  <a:schemeClr val="tx1"/>
                </a:solidFill>
              </a:rPr>
            </a:br>
            <a:r>
              <a:rPr lang="en-GB">
                <a:solidFill>
                  <a:schemeClr val="tx1"/>
                </a:solidFill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355085679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7772400" cy="57308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Echo Client</a:t>
            </a:r>
            <a:r>
              <a:rPr lang="en-US" dirty="0"/>
              <a:t>: Main Routine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AEB891-77A0-4CA8-99B9-A9B2E058F8E7}"/>
              </a:ext>
            </a:extLst>
          </p:cNvPr>
          <p:cNvSpPr txBox="1">
            <a:spLocks/>
          </p:cNvSpPr>
          <p:nvPr/>
        </p:nvSpPr>
        <p:spPr>
          <a:xfrm>
            <a:off x="65834" y="1247246"/>
            <a:ext cx="6221844" cy="539739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   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fgets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etc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sys/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socket.h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socket API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arpa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inet.h</a:t>
            </a:r>
            <a:r>
              <a:rPr lang="en-US" sz="1600" dirty="0">
                <a:latin typeface="Inconsolata" panose="020B0609030003000000" pitchFamily="49" charset="0"/>
              </a:rPr>
              <a:t>&gt;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inet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functions,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htons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read/close system calls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string.h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strlen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PORT 9997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Creating socket file descriptor (using internet protocol)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sock = socket(AF_INET, SOCK_STREAM, 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(sock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"\n Socket creation error 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-1;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sockaddr_in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serv_addr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serv_addr.sin_family</a:t>
            </a:r>
            <a:r>
              <a:rPr lang="en-US" sz="1600" dirty="0">
                <a:latin typeface="Inconsolata" panose="020B0609030003000000" pitchFamily="49" charset="0"/>
              </a:rPr>
              <a:t> = AF_INET;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serv_addr.sin_port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htons</a:t>
            </a:r>
            <a:r>
              <a:rPr lang="en-US" sz="1600" dirty="0">
                <a:latin typeface="Inconsolata" panose="020B0609030003000000" pitchFamily="49" charset="0"/>
              </a:rPr>
              <a:t>(PORT);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Convert IPv4 and IPv6 addresses from text to binary form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inet_pton</a:t>
            </a:r>
            <a:r>
              <a:rPr lang="en-US" sz="1600" dirty="0">
                <a:latin typeface="Inconsolata" panose="020B0609030003000000" pitchFamily="49" charset="0"/>
              </a:rPr>
              <a:t>(AF_INET,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"127.0.0.1"</a:t>
            </a:r>
            <a:r>
              <a:rPr lang="en-US" sz="1600" dirty="0">
                <a:latin typeface="Inconsolata" panose="020B0609030003000000" pitchFamily="49" charset="0"/>
              </a:rPr>
              <a:t>, &amp;</a:t>
            </a:r>
            <a:r>
              <a:rPr lang="en-US" sz="1600" dirty="0" err="1">
                <a:latin typeface="Inconsolata" panose="020B0609030003000000" pitchFamily="49" charset="0"/>
              </a:rPr>
              <a:t>serv_addr.sin_addr</a:t>
            </a:r>
            <a:r>
              <a:rPr lang="en-US" sz="1600" dirty="0">
                <a:latin typeface="Inconsolata" panose="020B0609030003000000" pitchFamily="49" charset="0"/>
              </a:rPr>
              <a:t>)&lt;=0)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"\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nInvalid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address / Address not supported 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-1;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35ECC-461B-40E8-B419-CC6962EBF36A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echoclient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echoclient.c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877E03-D470-4FFA-ACBB-2D9FC1BD7BCE}"/>
              </a:ext>
            </a:extLst>
          </p:cNvPr>
          <p:cNvSpPr txBox="1">
            <a:spLocks/>
          </p:cNvSpPr>
          <p:nvPr/>
        </p:nvSpPr>
        <p:spPr>
          <a:xfrm>
            <a:off x="6096000" y="877887"/>
            <a:ext cx="6030166" cy="5980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result = connect(sock,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                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sockaddr</a:t>
            </a:r>
            <a:r>
              <a:rPr lang="en-US" sz="1600" dirty="0">
                <a:latin typeface="Inconsolata" panose="020B0609030003000000" pitchFamily="49" charset="0"/>
              </a:rPr>
              <a:t> *)&amp;</a:t>
            </a:r>
            <a:r>
              <a:rPr lang="en-US" sz="1600" dirty="0" err="1">
                <a:latin typeface="Inconsolata" panose="020B0609030003000000" pitchFamily="49" charset="0"/>
              </a:rPr>
              <a:t>serv_addr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                 </a:t>
            </a:r>
            <a:r>
              <a:rPr lang="en-US" sz="1600" dirty="0" err="1"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serv_addr</a:t>
            </a:r>
            <a:r>
              <a:rPr lang="en-US" sz="16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(result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"\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nConnection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Failed 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-1;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 buffer[1024] = {0};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do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fgets</a:t>
            </a:r>
            <a:r>
              <a:rPr lang="en-US" sz="1600" dirty="0">
                <a:latin typeface="Inconsolata" panose="020B0609030003000000" pitchFamily="49" charset="0"/>
              </a:rPr>
              <a:t>(buffer, 1024, stdin) == NULL)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break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Exit when line is empty (CTRL+D is pressed)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write(sock, buffer, </a:t>
            </a:r>
            <a:r>
              <a:rPr lang="en-US" sz="1600" dirty="0" err="1">
                <a:latin typeface="Inconsolata" panose="020B0609030003000000" pitchFamily="49" charset="0"/>
              </a:rPr>
              <a:t>strlen</a:t>
            </a:r>
            <a:r>
              <a:rPr lang="en-US" sz="1600" dirty="0">
                <a:latin typeface="Inconsolata" panose="020B0609030003000000" pitchFamily="49" charset="0"/>
              </a:rPr>
              <a:t>(buffer));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 = read(sock, buffer, 1023);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buffer[count]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'\0'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fputs</a:t>
            </a:r>
            <a:r>
              <a:rPr lang="en-US" sz="1600" dirty="0">
                <a:latin typeface="Inconsolata" panose="020B0609030003000000" pitchFamily="49" charset="0"/>
              </a:rPr>
              <a:t>(buffer, </a:t>
            </a:r>
            <a:r>
              <a:rPr lang="en-US" sz="1600" dirty="0" err="1">
                <a:latin typeface="Inconsolata" panose="020B0609030003000000" pitchFamily="49" charset="0"/>
              </a:rPr>
              <a:t>stdout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close(sock);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99FBD-10AE-4B85-844C-C11646B88E71}"/>
              </a:ext>
            </a:extLst>
          </p:cNvPr>
          <p:cNvSpPr txBox="1"/>
          <p:nvPr/>
        </p:nvSpPr>
        <p:spPr>
          <a:xfrm>
            <a:off x="3920745" y="3497158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create a socket.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1DBB67-664D-4E44-832D-BEE49CC899CF}"/>
              </a:ext>
            </a:extLst>
          </p:cNvPr>
          <p:cNvCxnSpPr>
            <a:cxnSpLocks/>
          </p:cNvCxnSpPr>
          <p:nvPr/>
        </p:nvCxnSpPr>
        <p:spPr>
          <a:xfrm rot="2472984" flipH="1">
            <a:off x="3784528" y="356533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284658-03FA-4AE2-A34B-DAFF3FA848E1}"/>
              </a:ext>
            </a:extLst>
          </p:cNvPr>
          <p:cNvSpPr txBox="1"/>
          <p:nvPr/>
        </p:nvSpPr>
        <p:spPr>
          <a:xfrm>
            <a:off x="2955132" y="4048249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Using the Internet protocol.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5F7F62-58A5-49D1-B50F-1FC215038060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774748" y="430399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55F444-5199-4F06-9168-9A46EBBE37C2}"/>
              </a:ext>
            </a:extLst>
          </p:cNvPr>
          <p:cNvSpPr txBox="1"/>
          <p:nvPr/>
        </p:nvSpPr>
        <p:spPr>
          <a:xfrm>
            <a:off x="3473608" y="5019615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Connecting to localhost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2F4BC7-DB96-4103-A934-4AA780DA635A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293224" y="527536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27EBC2-E855-4C3A-91DA-9B46844FD95B}"/>
              </a:ext>
            </a:extLst>
          </p:cNvPr>
          <p:cNvSpPr txBox="1"/>
          <p:nvPr/>
        </p:nvSpPr>
        <p:spPr>
          <a:xfrm>
            <a:off x="8674259" y="559097"/>
            <a:ext cx="333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Actually request a connection.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8CB102-8912-457B-BE05-E497D0330B5A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8493875" y="81484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26BC83-61CE-442F-81BD-AE5F49DD7012}"/>
              </a:ext>
            </a:extLst>
          </p:cNvPr>
          <p:cNvSpPr txBox="1"/>
          <p:nvPr/>
        </p:nvSpPr>
        <p:spPr>
          <a:xfrm>
            <a:off x="7655469" y="2178290"/>
            <a:ext cx="2823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If we got here, the server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accepted our connection!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F66E47-47B7-499B-9D58-9CB1763305B4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7430241" y="259024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C2A219-38C0-4EDA-94A5-394AD375373C}"/>
              </a:ext>
            </a:extLst>
          </p:cNvPr>
          <p:cNvSpPr txBox="1"/>
          <p:nvPr/>
        </p:nvSpPr>
        <p:spPr>
          <a:xfrm>
            <a:off x="8011719" y="3288675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loop reads from stdin (user input)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EE4C63-555A-4203-872D-FE8C54825D42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7831335" y="354442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879462-A36E-4D6C-BC03-E5C5828AB141}"/>
              </a:ext>
            </a:extLst>
          </p:cNvPr>
          <p:cNvSpPr txBox="1"/>
          <p:nvPr/>
        </p:nvSpPr>
        <p:spPr>
          <a:xfrm>
            <a:off x="7456970" y="4134857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write everything to the server!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B754B6-A21A-44A9-BE95-91089E4C9843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7276586" y="439060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7D15F6C-9D48-4172-AA3E-BDEF2E724A04}"/>
              </a:ext>
            </a:extLst>
          </p:cNvPr>
          <p:cNvSpPr txBox="1"/>
          <p:nvPr/>
        </p:nvSpPr>
        <p:spPr>
          <a:xfrm>
            <a:off x="8732631" y="4908579"/>
            <a:ext cx="314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And print out everything the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server sends us.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B1C9BB-0699-4F20-BF63-BEAECE618D6D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8552247" y="516432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1FA18A-F346-476A-903A-19A35E60DDE7}"/>
              </a:ext>
            </a:extLst>
          </p:cNvPr>
          <p:cNvSpPr txBox="1"/>
          <p:nvPr/>
        </p:nvSpPr>
        <p:spPr>
          <a:xfrm>
            <a:off x="7655469" y="5695087"/>
            <a:ext cx="4254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clean up when the loop ends (when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no user input via CTRL+D)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A68554-A8B1-435D-B648-F33558868A19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7475085" y="595083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60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5" grpId="0"/>
      <p:bldP spid="17" grpId="0"/>
      <p:bldP spid="19" grpId="0"/>
      <p:bldP spid="21" grpId="0"/>
      <p:bldP spid="23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and write system calls</a:t>
            </a:r>
          </a:p>
        </p:txBody>
      </p:sp>
      <p:sp>
        <p:nvSpPr>
          <p:cNvPr id="758787" name="Rectangle 3"/>
          <p:cNvSpPr>
            <a:spLocks noGrp="1" noChangeArrowheads="1"/>
          </p:cNvSpPr>
          <p:nvPr>
            <p:ph idx="1"/>
          </p:nvPr>
        </p:nvSpPr>
        <p:spPr>
          <a:xfrm>
            <a:off x="1890714" y="1461156"/>
            <a:ext cx="8701087" cy="5222448"/>
          </a:xfrm>
        </p:spPr>
        <p:txBody>
          <a:bodyPr>
            <a:normAutofit/>
          </a:bodyPr>
          <a:lstStyle/>
          <a:p>
            <a:r>
              <a:rPr lang="en-US" dirty="0"/>
              <a:t>Same interface used to read/write files.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Because sockets are also files! Neat.</a:t>
            </a:r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b="1" dirty="0">
                <a:latin typeface="Courier New" pitchFamily="49" charset="0"/>
              </a:rPr>
              <a:t>read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returns a count of 0 only if it encounters EOF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So, it is useful to notice if the other machine disconnected.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Calls to </a:t>
            </a:r>
            <a:r>
              <a:rPr lang="en-US" b="1" dirty="0">
                <a:latin typeface="Courier New" pitchFamily="49" charset="0"/>
              </a:rPr>
              <a:t>read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latin typeface="Courier New" pitchFamily="49" charset="0"/>
              </a:rPr>
              <a:t>write</a:t>
            </a:r>
            <a:r>
              <a:rPr lang="en-US" b="1" dirty="0"/>
              <a:t> </a:t>
            </a:r>
            <a:r>
              <a:rPr lang="en-US" dirty="0"/>
              <a:t>can be interleaved arbitrarily on the same file descriptor (socket, file on disk,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758788" name="Text Box 4"/>
          <p:cNvSpPr txBox="1">
            <a:spLocks noChangeArrowheads="1"/>
          </p:cNvSpPr>
          <p:nvPr/>
        </p:nvSpPr>
        <p:spPr bwMode="auto">
          <a:xfrm>
            <a:off x="2342591" y="2502720"/>
            <a:ext cx="7235041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	#include &lt;</a:t>
            </a:r>
            <a:r>
              <a:rPr lang="en-US" sz="1600" dirty="0" err="1">
                <a:latin typeface="Courier New" pitchFamily="49" charset="0"/>
              </a:rPr>
              <a:t>unistd.h</a:t>
            </a:r>
            <a:r>
              <a:rPr lang="en-US" sz="1600" dirty="0">
                <a:latin typeface="Courier New" pitchFamily="49" charset="0"/>
              </a:rPr>
              <a:t>&gt;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read</a:t>
            </a:r>
            <a:r>
              <a:rPr lang="en-US" sz="1600" dirty="0">
                <a:latin typeface="Courier New" pitchFamily="49" charset="0"/>
              </a:rPr>
              <a:t>(int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write</a:t>
            </a:r>
            <a:r>
              <a:rPr lang="en-US" sz="1600" dirty="0">
                <a:latin typeface="Courier New" pitchFamily="49" charset="0"/>
              </a:rPr>
              <a:t>(int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ctr"/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Return: number of  bytes transferred if OK,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0 on EOF (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read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 only),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9522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 bwMode="auto">
          <a:xfrm>
            <a:off x="2971800" y="4180323"/>
            <a:ext cx="5410200" cy="13716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7848600" y="4555150"/>
            <a:ext cx="381000" cy="685800"/>
            <a:chOff x="3984" y="3264"/>
            <a:chExt cx="240" cy="432"/>
          </a:xfrm>
        </p:grpSpPr>
        <p:sp>
          <p:nvSpPr>
            <p:cNvPr id="759813" name="Line 5"/>
            <p:cNvSpPr>
              <a:spLocks noChangeShapeType="1"/>
            </p:cNvSpPr>
            <p:nvPr/>
          </p:nvSpPr>
          <p:spPr bwMode="auto">
            <a:xfrm>
              <a:off x="3984" y="369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14" name="Line 6"/>
            <p:cNvSpPr>
              <a:spLocks noChangeShapeType="1"/>
            </p:cNvSpPr>
            <p:nvPr/>
          </p:nvSpPr>
          <p:spPr bwMode="auto">
            <a:xfrm flipV="1">
              <a:off x="4224" y="326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15" name="Line 7"/>
            <p:cNvSpPr>
              <a:spLocks noChangeShapeType="1"/>
            </p:cNvSpPr>
            <p:nvPr/>
          </p:nvSpPr>
          <p:spPr bwMode="auto">
            <a:xfrm flipH="1">
              <a:off x="3984" y="326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 rot="10800000" flipV="1">
            <a:off x="3200400" y="4555150"/>
            <a:ext cx="381000" cy="685800"/>
            <a:chOff x="3984" y="3264"/>
            <a:chExt cx="240" cy="432"/>
          </a:xfrm>
        </p:grpSpPr>
        <p:sp>
          <p:nvSpPr>
            <p:cNvPr id="759817" name="Line 9"/>
            <p:cNvSpPr>
              <a:spLocks noChangeShapeType="1"/>
            </p:cNvSpPr>
            <p:nvPr/>
          </p:nvSpPr>
          <p:spPr bwMode="auto">
            <a:xfrm>
              <a:off x="3984" y="369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18" name="Line 10"/>
            <p:cNvSpPr>
              <a:spLocks noChangeShapeType="1"/>
            </p:cNvSpPr>
            <p:nvPr/>
          </p:nvSpPr>
          <p:spPr bwMode="auto">
            <a:xfrm flipV="1">
              <a:off x="4224" y="326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19" name="Line 11"/>
            <p:cNvSpPr>
              <a:spLocks noChangeShapeType="1"/>
            </p:cNvSpPr>
            <p:nvPr/>
          </p:nvSpPr>
          <p:spPr bwMode="auto">
            <a:xfrm flipH="1">
              <a:off x="3984" y="326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20" name="Text Box 12"/>
          <p:cNvSpPr txBox="1">
            <a:spLocks noChangeArrowheads="1"/>
          </p:cNvSpPr>
          <p:nvPr/>
        </p:nvSpPr>
        <p:spPr bwMode="auto">
          <a:xfrm>
            <a:off x="1981200" y="4448787"/>
            <a:ext cx="838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Client / Server</a:t>
            </a:r>
          </a:p>
          <a:p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Session</a:t>
            </a:r>
          </a:p>
        </p:txBody>
      </p: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13362" y="46770"/>
            <a:ext cx="10490198" cy="558067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498901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49890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sp>
        <p:nvSpPr>
          <p:cNvPr id="759834" name="Line 26"/>
          <p:cNvSpPr>
            <a:spLocks noChangeShapeType="1"/>
          </p:cNvSpPr>
          <p:nvPr/>
        </p:nvSpPr>
        <p:spPr bwMode="auto">
          <a:xfrm>
            <a:off x="4343400" y="40256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35" name="Line 27"/>
          <p:cNvSpPr>
            <a:spLocks noChangeShapeType="1"/>
          </p:cNvSpPr>
          <p:nvPr/>
        </p:nvSpPr>
        <p:spPr bwMode="auto">
          <a:xfrm>
            <a:off x="4343400" y="47114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36" name="Line 28"/>
          <p:cNvSpPr>
            <a:spLocks noChangeShapeType="1"/>
          </p:cNvSpPr>
          <p:nvPr/>
        </p:nvSpPr>
        <p:spPr bwMode="auto">
          <a:xfrm>
            <a:off x="7162800" y="40256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37" name="Line 29"/>
          <p:cNvSpPr>
            <a:spLocks noChangeShapeType="1"/>
          </p:cNvSpPr>
          <p:nvPr/>
        </p:nvSpPr>
        <p:spPr bwMode="auto">
          <a:xfrm>
            <a:off x="7162800" y="47114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38" name="Line 30"/>
          <p:cNvSpPr>
            <a:spLocks noChangeShapeType="1"/>
          </p:cNvSpPr>
          <p:nvPr/>
        </p:nvSpPr>
        <p:spPr bwMode="auto">
          <a:xfrm flipV="1">
            <a:off x="5105400" y="4543155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39" name="Line 31"/>
          <p:cNvSpPr>
            <a:spLocks noChangeShapeType="1"/>
          </p:cNvSpPr>
          <p:nvPr/>
        </p:nvSpPr>
        <p:spPr bwMode="auto">
          <a:xfrm flipH="1">
            <a:off x="5105400" y="5228955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40" name="Rectangle 32"/>
          <p:cNvSpPr>
            <a:spLocks noChangeArrowheads="1"/>
          </p:cNvSpPr>
          <p:nvPr/>
        </p:nvSpPr>
        <p:spPr bwMode="auto">
          <a:xfrm>
            <a:off x="6400800" y="43621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read</a:t>
            </a:r>
          </a:p>
        </p:txBody>
      </p:sp>
      <p:sp>
        <p:nvSpPr>
          <p:cNvPr id="759841" name="Rectangle 33"/>
          <p:cNvSpPr>
            <a:spLocks noChangeArrowheads="1"/>
          </p:cNvSpPr>
          <p:nvPr/>
        </p:nvSpPr>
        <p:spPr bwMode="auto">
          <a:xfrm>
            <a:off x="6400800" y="50368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write</a:t>
            </a:r>
          </a:p>
        </p:txBody>
      </p:sp>
      <p:sp>
        <p:nvSpPr>
          <p:cNvPr id="759842" name="Rectangle 34"/>
          <p:cNvSpPr>
            <a:spLocks noChangeArrowheads="1"/>
          </p:cNvSpPr>
          <p:nvPr/>
        </p:nvSpPr>
        <p:spPr bwMode="auto">
          <a:xfrm>
            <a:off x="3581400" y="5036868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read</a:t>
            </a:r>
          </a:p>
        </p:txBody>
      </p:sp>
      <p:sp>
        <p:nvSpPr>
          <p:cNvPr id="759843" name="Rectangle 35"/>
          <p:cNvSpPr>
            <a:spLocks noChangeArrowheads="1"/>
          </p:cNvSpPr>
          <p:nvPr/>
        </p:nvSpPr>
        <p:spPr bwMode="auto">
          <a:xfrm>
            <a:off x="3581400" y="4362180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write</a:t>
            </a:r>
          </a:p>
        </p:txBody>
      </p: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sp>
        <p:nvSpPr>
          <p:cNvPr id="759846" name="Line 38"/>
          <p:cNvSpPr>
            <a:spLocks noChangeShapeType="1"/>
          </p:cNvSpPr>
          <p:nvPr/>
        </p:nvSpPr>
        <p:spPr bwMode="auto">
          <a:xfrm>
            <a:off x="4343400" y="5410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47" name="Line 39"/>
          <p:cNvSpPr>
            <a:spLocks noChangeShapeType="1"/>
          </p:cNvSpPr>
          <p:nvPr/>
        </p:nvSpPr>
        <p:spPr bwMode="auto">
          <a:xfrm>
            <a:off x="7162800" y="5410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48" name="Line 40"/>
          <p:cNvSpPr>
            <a:spLocks noChangeShapeType="1"/>
          </p:cNvSpPr>
          <p:nvPr/>
        </p:nvSpPr>
        <p:spPr bwMode="auto">
          <a:xfrm>
            <a:off x="7162800" y="60960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49" name="Line 41"/>
          <p:cNvSpPr>
            <a:spLocks noChangeShapeType="1"/>
          </p:cNvSpPr>
          <p:nvPr/>
        </p:nvSpPr>
        <p:spPr bwMode="auto">
          <a:xfrm flipV="1">
            <a:off x="4572000" y="592772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0" name="Rectangle 42"/>
          <p:cNvSpPr>
            <a:spLocks noChangeArrowheads="1"/>
          </p:cNvSpPr>
          <p:nvPr/>
        </p:nvSpPr>
        <p:spPr bwMode="auto">
          <a:xfrm>
            <a:off x="6400800" y="5724525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read</a:t>
            </a:r>
          </a:p>
        </p:txBody>
      </p:sp>
      <p:sp>
        <p:nvSpPr>
          <p:cNvPr id="759851" name="Rectangle 43"/>
          <p:cNvSpPr>
            <a:spLocks noChangeArrowheads="1"/>
          </p:cNvSpPr>
          <p:nvPr/>
        </p:nvSpPr>
        <p:spPr bwMode="auto">
          <a:xfrm>
            <a:off x="6400800" y="64008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close</a:t>
            </a:r>
          </a:p>
        </p:txBody>
      </p:sp>
      <p:sp>
        <p:nvSpPr>
          <p:cNvPr id="759852" name="Rectangle 44"/>
          <p:cNvSpPr>
            <a:spLocks noChangeArrowheads="1"/>
          </p:cNvSpPr>
          <p:nvPr/>
        </p:nvSpPr>
        <p:spPr bwMode="auto">
          <a:xfrm>
            <a:off x="3581400" y="572611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close</a:t>
            </a:r>
          </a:p>
        </p:txBody>
      </p:sp>
      <p:sp>
        <p:nvSpPr>
          <p:cNvPr id="759853" name="Text Box 45"/>
          <p:cNvSpPr txBox="1">
            <a:spLocks noChangeArrowheads="1"/>
          </p:cNvSpPr>
          <p:nvPr/>
        </p:nvSpPr>
        <p:spPr bwMode="auto">
          <a:xfrm>
            <a:off x="5486401" y="5654676"/>
            <a:ext cx="473075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 dirty="0">
                <a:latin typeface="Calibri" pitchFamily="34" charset="0"/>
              </a:rPr>
              <a:t>EOF</a:t>
            </a:r>
          </a:p>
        </p:txBody>
      </p:sp>
      <p:sp>
        <p:nvSpPr>
          <p:cNvPr id="759854" name="Line 46"/>
          <p:cNvSpPr>
            <a:spLocks noChangeShapeType="1"/>
          </p:cNvSpPr>
          <p:nvPr/>
        </p:nvSpPr>
        <p:spPr bwMode="auto">
          <a:xfrm>
            <a:off x="7848600" y="66135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5" name="Line 47"/>
          <p:cNvSpPr>
            <a:spLocks noChangeShapeType="1"/>
          </p:cNvSpPr>
          <p:nvPr/>
        </p:nvSpPr>
        <p:spPr bwMode="auto">
          <a:xfrm flipV="1">
            <a:off x="8686800" y="3870325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6" name="Line 48"/>
          <p:cNvSpPr>
            <a:spLocks noChangeShapeType="1"/>
          </p:cNvSpPr>
          <p:nvPr/>
        </p:nvSpPr>
        <p:spPr bwMode="auto">
          <a:xfrm flipH="1">
            <a:off x="7848600" y="387032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  <a:latin typeface="Calibri" pitchFamily="34" charset="0"/>
              </a:rPr>
              <a:t>Await connection</a:t>
            </a:r>
          </a:p>
          <a:p>
            <a:r>
              <a:rPr lang="en-US" sz="1600" i="1" dirty="0">
                <a:solidFill>
                  <a:srgbClr val="FF0000"/>
                </a:solidFill>
                <a:latin typeface="Calibri" pitchFamily="34" charset="0"/>
              </a:rPr>
              <a:t>request from</a:t>
            </a:r>
          </a:p>
          <a:p>
            <a:r>
              <a:rPr lang="en-US" sz="1600" i="1" dirty="0">
                <a:solidFill>
                  <a:srgbClr val="FF0000"/>
                </a:solidFill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577394" y="1948448"/>
            <a:ext cx="92525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>
                <a:latin typeface="Courier New" pitchFamily="49" charset="0"/>
              </a:rPr>
              <a:t>listen</a:t>
            </a: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886278" y="2284998"/>
            <a:ext cx="10486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>
                <a:latin typeface="Courier New" pitchFamily="49" charset="0"/>
              </a:rPr>
              <a:t>connect</a:t>
            </a: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251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59820" grpId="0"/>
      <p:bldP spid="759822" grpId="0"/>
      <p:bldP spid="759823" grpId="0"/>
      <p:bldP spid="759824" grpId="0" animBg="1"/>
      <p:bldP spid="759825" grpId="0" animBg="1"/>
      <p:bldP spid="759826" grpId="0" animBg="1"/>
      <p:bldP spid="759827" grpId="0" animBg="1"/>
      <p:bldP spid="759828" grpId="0" animBg="1"/>
      <p:bldP spid="759829" grpId="0" animBg="1"/>
      <p:bldP spid="759830" grpId="0" animBg="1"/>
      <p:bldP spid="759831" grpId="0" animBg="1"/>
      <p:bldP spid="759832" grpId="0" animBg="1"/>
      <p:bldP spid="759834" grpId="0" animBg="1"/>
      <p:bldP spid="759834" grpId="1" animBg="1"/>
      <p:bldP spid="759835" grpId="0" animBg="1"/>
      <p:bldP spid="759836" grpId="0" animBg="1"/>
      <p:bldP spid="759837" grpId="0" animBg="1"/>
      <p:bldP spid="759838" grpId="0" animBg="1"/>
      <p:bldP spid="759839" grpId="0" animBg="1"/>
      <p:bldP spid="759840" grpId="0" animBg="1"/>
      <p:bldP spid="759841" grpId="0" animBg="1"/>
      <p:bldP spid="759842" grpId="0" animBg="1"/>
      <p:bldP spid="759843" grpId="0" animBg="1"/>
      <p:bldP spid="759844" grpId="0"/>
      <p:bldP spid="759846" grpId="0" animBg="1"/>
      <p:bldP spid="759847" grpId="0" animBg="1"/>
      <p:bldP spid="759848" grpId="0" animBg="1"/>
      <p:bldP spid="759849" grpId="0" animBg="1"/>
      <p:bldP spid="759850" grpId="0" animBg="1"/>
      <p:bldP spid="759851" grpId="0" animBg="1"/>
      <p:bldP spid="759852" grpId="0" animBg="1"/>
      <p:bldP spid="759853" grpId="0"/>
      <p:bldP spid="759854" grpId="0" animBg="1"/>
      <p:bldP spid="759855" grpId="0" animBg="1"/>
      <p:bldP spid="759856" grpId="0" animBg="1"/>
      <p:bldP spid="759857" grpId="0"/>
      <p:bldP spid="759858" grpId="0" animBg="1"/>
      <p:bldP spid="759859" grpId="0"/>
      <p:bldP spid="759860" grpId="0" animBg="1"/>
      <p:bldP spid="759861" grpId="0"/>
      <p:bldP spid="759862" grpId="0" animBg="1"/>
      <p:bldP spid="759863" grpId="0" animBg="1"/>
      <p:bldP spid="58" grpId="0" animBg="1"/>
      <p:bldP spid="59" grpId="0" animBg="1"/>
      <p:bldP spid="61" grpId="0" animBg="1"/>
      <p:bldP spid="6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0038" y="115096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pitchFamily="49" charset="0"/>
              </a:rPr>
              <a:t>connect/accept</a:t>
            </a:r>
            <a:r>
              <a:rPr lang="en-US" dirty="0"/>
              <a:t> Illustrated</a:t>
            </a: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4491038" y="1239838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58" name="Rectangle 6"/>
          <p:cNvSpPr>
            <a:spLocks noChangeArrowheads="1"/>
          </p:cNvSpPr>
          <p:nvPr/>
        </p:nvSpPr>
        <p:spPr bwMode="auto">
          <a:xfrm>
            <a:off x="1993901" y="1576389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59" name="Text Box 7"/>
          <p:cNvSpPr txBox="1">
            <a:spLocks noChangeArrowheads="1"/>
          </p:cNvSpPr>
          <p:nvPr/>
        </p:nvSpPr>
        <p:spPr bwMode="auto">
          <a:xfrm>
            <a:off x="6535738" y="1456921"/>
            <a:ext cx="3294062" cy="1190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1. Server blocks in </a:t>
            </a:r>
            <a:r>
              <a:rPr lang="en-US" i="1" dirty="0">
                <a:latin typeface="Courier New" pitchFamily="49" charset="0"/>
              </a:rPr>
              <a:t>accept</a:t>
            </a:r>
            <a:r>
              <a:rPr lang="en-US" i="1" dirty="0">
                <a:latin typeface="Calibri" pitchFamily="34" charset="0"/>
              </a:rPr>
              <a:t>, waiting for connection request on listening descriptor </a:t>
            </a:r>
            <a:r>
              <a:rPr lang="en-US" i="1" dirty="0" err="1">
                <a:latin typeface="Courier New" pitchFamily="49" charset="0"/>
              </a:rPr>
              <a:t>listenfd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740360" name="Text Box 8"/>
          <p:cNvSpPr txBox="1">
            <a:spLocks noChangeArrowheads="1"/>
          </p:cNvSpPr>
          <p:nvPr/>
        </p:nvSpPr>
        <p:spPr bwMode="auto">
          <a:xfrm>
            <a:off x="2527300" y="2106613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1" name="Rectangle 9"/>
          <p:cNvSpPr>
            <a:spLocks noChangeArrowheads="1"/>
          </p:cNvSpPr>
          <p:nvPr/>
        </p:nvSpPr>
        <p:spPr bwMode="auto">
          <a:xfrm>
            <a:off x="4973638" y="1576389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3" name="Text Box 11"/>
          <p:cNvSpPr txBox="1">
            <a:spLocks noChangeArrowheads="1"/>
          </p:cNvSpPr>
          <p:nvPr/>
        </p:nvSpPr>
        <p:spPr bwMode="auto">
          <a:xfrm>
            <a:off x="4491038" y="3108325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65" name="Rectangle 13"/>
          <p:cNvSpPr>
            <a:spLocks noChangeArrowheads="1"/>
          </p:cNvSpPr>
          <p:nvPr/>
        </p:nvSpPr>
        <p:spPr bwMode="auto">
          <a:xfrm>
            <a:off x="1993901" y="3444876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66" name="Text Box 14"/>
          <p:cNvSpPr txBox="1">
            <a:spLocks noChangeArrowheads="1"/>
          </p:cNvSpPr>
          <p:nvPr/>
        </p:nvSpPr>
        <p:spPr bwMode="auto">
          <a:xfrm>
            <a:off x="2527300" y="3975100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7" name="Rectangle 15"/>
          <p:cNvSpPr>
            <a:spLocks noChangeArrowheads="1"/>
          </p:cNvSpPr>
          <p:nvPr/>
        </p:nvSpPr>
        <p:spPr bwMode="auto">
          <a:xfrm>
            <a:off x="4973638" y="3444876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8" name="Line 16"/>
          <p:cNvSpPr>
            <a:spLocks noChangeShapeType="1"/>
          </p:cNvSpPr>
          <p:nvPr/>
        </p:nvSpPr>
        <p:spPr bwMode="auto">
          <a:xfrm>
            <a:off x="3060700" y="357505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9" name="Text Box 17"/>
          <p:cNvSpPr txBox="1">
            <a:spLocks noChangeArrowheads="1"/>
          </p:cNvSpPr>
          <p:nvPr/>
        </p:nvSpPr>
        <p:spPr bwMode="auto">
          <a:xfrm>
            <a:off x="6572250" y="3308351"/>
            <a:ext cx="386715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2. Client makes connection request by calling and blocking in </a:t>
            </a:r>
            <a:r>
              <a:rPr lang="en-US" i="1" dirty="0">
                <a:latin typeface="Courier New" pitchFamily="49" charset="0"/>
              </a:rPr>
              <a:t>connect</a:t>
            </a:r>
          </a:p>
        </p:txBody>
      </p:sp>
      <p:sp>
        <p:nvSpPr>
          <p:cNvPr id="740377" name="Text Box 25"/>
          <p:cNvSpPr txBox="1">
            <a:spLocks noChangeArrowheads="1"/>
          </p:cNvSpPr>
          <p:nvPr/>
        </p:nvSpPr>
        <p:spPr bwMode="auto">
          <a:xfrm>
            <a:off x="2882514" y="2990851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sp>
        <p:nvSpPr>
          <p:cNvPr id="740371" name="Text Box 19"/>
          <p:cNvSpPr txBox="1">
            <a:spLocks noChangeArrowheads="1"/>
          </p:cNvSpPr>
          <p:nvPr/>
        </p:nvSpPr>
        <p:spPr bwMode="auto">
          <a:xfrm>
            <a:off x="4478338" y="4938713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73" name="Rectangle 21"/>
          <p:cNvSpPr>
            <a:spLocks noChangeArrowheads="1"/>
          </p:cNvSpPr>
          <p:nvPr/>
        </p:nvSpPr>
        <p:spPr bwMode="auto">
          <a:xfrm>
            <a:off x="1981201" y="5275264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74" name="Text Box 22"/>
          <p:cNvSpPr txBox="1">
            <a:spLocks noChangeArrowheads="1"/>
          </p:cNvSpPr>
          <p:nvPr/>
        </p:nvSpPr>
        <p:spPr bwMode="auto">
          <a:xfrm>
            <a:off x="2514600" y="5805488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75" name="Rectangle 23"/>
          <p:cNvSpPr>
            <a:spLocks noChangeArrowheads="1"/>
          </p:cNvSpPr>
          <p:nvPr/>
        </p:nvSpPr>
        <p:spPr bwMode="auto">
          <a:xfrm>
            <a:off x="4960938" y="5275264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76" name="Text Box 24"/>
          <p:cNvSpPr txBox="1">
            <a:spLocks noChangeArrowheads="1"/>
          </p:cNvSpPr>
          <p:nvPr/>
        </p:nvSpPr>
        <p:spPr bwMode="auto">
          <a:xfrm>
            <a:off x="6581776" y="5137242"/>
            <a:ext cx="4010025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i="1" dirty="0">
                <a:latin typeface="Calibri" pitchFamily="34" charset="0"/>
              </a:rPr>
              <a:t>3. Server returns </a:t>
            </a:r>
            <a:r>
              <a:rPr lang="en-US" i="1" dirty="0" err="1">
                <a:latin typeface="Courier New" pitchFamily="49" charset="0"/>
              </a:rPr>
              <a:t>connfd</a:t>
            </a:r>
            <a:r>
              <a:rPr lang="en-US" i="1" dirty="0">
                <a:latin typeface="Calibri" pitchFamily="34" charset="0"/>
              </a:rPr>
              <a:t> from </a:t>
            </a:r>
            <a:r>
              <a:rPr lang="en-US" i="1" dirty="0">
                <a:latin typeface="Courier New" pitchFamily="49" charset="0"/>
              </a:rPr>
              <a:t>accept</a:t>
            </a:r>
            <a:r>
              <a:rPr lang="en-US" i="1" dirty="0">
                <a:latin typeface="Calibri" pitchFamily="34" charset="0"/>
              </a:rPr>
              <a:t>. Client returns from </a:t>
            </a:r>
            <a:r>
              <a:rPr lang="en-US" i="1" dirty="0">
                <a:latin typeface="Courier New" pitchFamily="49" charset="0"/>
              </a:rPr>
              <a:t>connect</a:t>
            </a:r>
            <a:r>
              <a:rPr lang="en-US" i="1" dirty="0">
                <a:latin typeface="Calibri" pitchFamily="34" charset="0"/>
              </a:rPr>
              <a:t>. Connection is now established between </a:t>
            </a:r>
            <a:r>
              <a:rPr lang="en-US" i="1" dirty="0" err="1">
                <a:latin typeface="Courier New" pitchFamily="49" charset="0"/>
              </a:rPr>
              <a:t>clientfd</a:t>
            </a:r>
            <a:r>
              <a:rPr lang="en-US" i="1" dirty="0">
                <a:latin typeface="Calibri" pitchFamily="34" charset="0"/>
              </a:rPr>
              <a:t>  and  </a:t>
            </a:r>
            <a:r>
              <a:rPr lang="en-US" i="1" dirty="0" err="1">
                <a:latin typeface="Courier New" pitchFamily="49" charset="0"/>
              </a:rPr>
              <a:t>connfd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740378" name="Oval 26"/>
          <p:cNvSpPr>
            <a:spLocks noChangeAspect="1" noChangeArrowheads="1"/>
          </p:cNvSpPr>
          <p:nvPr/>
        </p:nvSpPr>
        <p:spPr bwMode="auto">
          <a:xfrm>
            <a:off x="4912804" y="5664200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79" name="Text Box 27"/>
          <p:cNvSpPr txBox="1">
            <a:spLocks noChangeArrowheads="1"/>
          </p:cNvSpPr>
          <p:nvPr/>
        </p:nvSpPr>
        <p:spPr bwMode="auto">
          <a:xfrm>
            <a:off x="4591050" y="5818188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connfd(4)</a:t>
            </a:r>
          </a:p>
        </p:txBody>
      </p:sp>
      <p:sp>
        <p:nvSpPr>
          <p:cNvPr id="740380" name="Line 28"/>
          <p:cNvSpPr>
            <a:spLocks noChangeShapeType="1"/>
          </p:cNvSpPr>
          <p:nvPr/>
        </p:nvSpPr>
        <p:spPr bwMode="auto">
          <a:xfrm>
            <a:off x="3175000" y="5722938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57" name="Oval 5"/>
          <p:cNvSpPr>
            <a:spLocks noChangeAspect="1" noChangeArrowheads="1"/>
          </p:cNvSpPr>
          <p:nvPr/>
        </p:nvSpPr>
        <p:spPr bwMode="auto">
          <a:xfrm>
            <a:off x="2983285" y="1952625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64" name="Oval 12"/>
          <p:cNvSpPr>
            <a:spLocks noChangeAspect="1" noChangeArrowheads="1"/>
          </p:cNvSpPr>
          <p:nvPr/>
        </p:nvSpPr>
        <p:spPr bwMode="auto">
          <a:xfrm>
            <a:off x="2983285" y="3821114"/>
            <a:ext cx="128588" cy="128587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72" name="Oval 20"/>
          <p:cNvSpPr>
            <a:spLocks noChangeAspect="1" noChangeArrowheads="1"/>
          </p:cNvSpPr>
          <p:nvPr/>
        </p:nvSpPr>
        <p:spPr bwMode="auto">
          <a:xfrm>
            <a:off x="2983285" y="5651500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55" name="Oval 3"/>
          <p:cNvSpPr>
            <a:spLocks noChangeAspect="1" noChangeArrowheads="1"/>
          </p:cNvSpPr>
          <p:nvPr/>
        </p:nvSpPr>
        <p:spPr bwMode="auto">
          <a:xfrm>
            <a:off x="4912806" y="1635125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2" name="Oval 10"/>
          <p:cNvSpPr>
            <a:spLocks noChangeAspect="1" noChangeArrowheads="1"/>
          </p:cNvSpPr>
          <p:nvPr/>
        </p:nvSpPr>
        <p:spPr bwMode="auto">
          <a:xfrm>
            <a:off x="4912806" y="3503614"/>
            <a:ext cx="128587" cy="128587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70" name="Oval 18"/>
          <p:cNvSpPr>
            <a:spLocks noChangeAspect="1" noChangeArrowheads="1"/>
          </p:cNvSpPr>
          <p:nvPr/>
        </p:nvSpPr>
        <p:spPr bwMode="auto">
          <a:xfrm>
            <a:off x="4912806" y="5334000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9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3" grpId="0"/>
      <p:bldP spid="740365" grpId="0" animBg="1"/>
      <p:bldP spid="740366" grpId="0"/>
      <p:bldP spid="740367" grpId="0" animBg="1"/>
      <p:bldP spid="740368" grpId="0" animBg="1"/>
      <p:bldP spid="740369" grpId="0"/>
      <p:bldP spid="740377" grpId="0"/>
      <p:bldP spid="740371" grpId="0"/>
      <p:bldP spid="740373" grpId="0" animBg="1"/>
      <p:bldP spid="740374" grpId="0"/>
      <p:bldP spid="740375" grpId="0" animBg="1"/>
      <p:bldP spid="740376" grpId="0"/>
      <p:bldP spid="740378" grpId="0" animBg="1"/>
      <p:bldP spid="740379" grpId="0"/>
      <p:bldP spid="740380" grpId="0" animBg="1"/>
      <p:bldP spid="740364" grpId="0" animBg="1"/>
      <p:bldP spid="740372" grpId="0" animBg="1"/>
      <p:bldP spid="740362" grpId="0" animBg="1"/>
      <p:bldP spid="74037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vs. Listening Descriptors</a:t>
            </a:r>
          </a:p>
        </p:txBody>
      </p:sp>
      <p:sp>
        <p:nvSpPr>
          <p:cNvPr id="753667" name="Rectangle 1027"/>
          <p:cNvSpPr>
            <a:spLocks noGrp="1" noChangeArrowheads="1"/>
          </p:cNvSpPr>
          <p:nvPr>
            <p:ph idx="1"/>
          </p:nvPr>
        </p:nvSpPr>
        <p:spPr>
          <a:xfrm>
            <a:off x="1939251" y="1520456"/>
            <a:ext cx="7896225" cy="504275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sz="3300" dirty="0">
                <a:solidFill>
                  <a:srgbClr val="FF0000"/>
                </a:solidFill>
              </a:rPr>
              <a:t>Listening</a:t>
            </a:r>
            <a:r>
              <a:rPr lang="en-US" sz="3300" dirty="0"/>
              <a:t> descriptor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End point for client connection </a:t>
            </a:r>
            <a:r>
              <a:rPr lang="en-US" sz="2800" u="sng" dirty="0"/>
              <a:t>requests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Created once and exists for lifetime of the server</a:t>
            </a:r>
          </a:p>
          <a:p>
            <a:pPr>
              <a:lnSpc>
                <a:spcPct val="110000"/>
              </a:lnSpc>
            </a:pPr>
            <a:endParaRPr lang="en-US" sz="3300" dirty="0"/>
          </a:p>
          <a:p>
            <a:pPr>
              <a:lnSpc>
                <a:spcPct val="110000"/>
              </a:lnSpc>
            </a:pPr>
            <a:r>
              <a:rPr lang="en-US" sz="3300" dirty="0">
                <a:solidFill>
                  <a:srgbClr val="FF0000"/>
                </a:solidFill>
              </a:rPr>
              <a:t>Connected</a:t>
            </a:r>
            <a:r>
              <a:rPr lang="en-US" sz="3300" dirty="0"/>
              <a:t> descriptor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End point of the </a:t>
            </a:r>
            <a:r>
              <a:rPr lang="en-US" sz="2800" u="sng" dirty="0"/>
              <a:t>connection</a:t>
            </a:r>
            <a:r>
              <a:rPr lang="en-US" sz="2800" dirty="0"/>
              <a:t> between client and server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A new descriptor is created each time the server accepts a connection request from a client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Exists only as long as it takes to service client</a:t>
            </a:r>
          </a:p>
          <a:p>
            <a:pPr>
              <a:lnSpc>
                <a:spcPct val="110000"/>
              </a:lnSpc>
            </a:pPr>
            <a:endParaRPr lang="en-US" sz="3300" dirty="0"/>
          </a:p>
          <a:p>
            <a:pPr>
              <a:lnSpc>
                <a:spcPct val="110000"/>
              </a:lnSpc>
            </a:pPr>
            <a:r>
              <a:rPr lang="en-US" sz="3300" dirty="0"/>
              <a:t>Why the distinction?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Allows for concurrent servers that can communicate over many client connections simultaneously</a:t>
            </a:r>
          </a:p>
          <a:p>
            <a:pPr lvl="2">
              <a:lnSpc>
                <a:spcPct val="110000"/>
              </a:lnSpc>
            </a:pPr>
            <a:r>
              <a:rPr lang="en-US" sz="2100" dirty="0"/>
              <a:t>E.g., Each time we receive a new request, we fork a child to handle the request</a:t>
            </a:r>
          </a:p>
          <a:p>
            <a:pPr>
              <a:lnSpc>
                <a:spcPct val="8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65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18161"/>
            <a:ext cx="7524750" cy="624840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Servers Using </a:t>
            </a:r>
            <a:r>
              <a:rPr lang="en-US" dirty="0">
                <a:latin typeface="Courier New" pitchFamily="49" charset="0"/>
              </a:rPr>
              <a:t>telnet</a:t>
            </a:r>
            <a:endParaRPr lang="en-US" dirty="0"/>
          </a:p>
        </p:txBody>
      </p:sp>
      <p:sp>
        <p:nvSpPr>
          <p:cNvPr id="743427" name="Rectangle 3"/>
          <p:cNvSpPr>
            <a:spLocks noGrp="1" noChangeArrowheads="1"/>
          </p:cNvSpPr>
          <p:nvPr>
            <p:ph idx="1"/>
          </p:nvPr>
        </p:nvSpPr>
        <p:spPr>
          <a:xfrm>
            <a:off x="1951684" y="1412240"/>
            <a:ext cx="8087667" cy="476472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itchFamily="49" charset="0"/>
              </a:rPr>
              <a:t>telnet </a:t>
            </a:r>
            <a:r>
              <a:rPr lang="en-US" dirty="0"/>
              <a:t>program is invaluable for testing servers that transmit ASCII strings over Internet connections</a:t>
            </a:r>
          </a:p>
          <a:p>
            <a:pPr lvl="1"/>
            <a:r>
              <a:rPr lang="en-US" dirty="0"/>
              <a:t>Our simple echo server</a:t>
            </a:r>
          </a:p>
          <a:p>
            <a:pPr lvl="1"/>
            <a:r>
              <a:rPr lang="en-US" dirty="0"/>
              <a:t>Web servers</a:t>
            </a:r>
          </a:p>
          <a:p>
            <a:pPr lvl="1"/>
            <a:r>
              <a:rPr lang="en-US" dirty="0"/>
              <a:t>Mail servers</a:t>
            </a:r>
          </a:p>
          <a:p>
            <a:endParaRPr lang="en-US" dirty="0"/>
          </a:p>
          <a:p>
            <a:r>
              <a:rPr lang="en-US" dirty="0"/>
              <a:t>Usage: 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linux</a:t>
            </a:r>
            <a:r>
              <a:rPr lang="en-US" b="1" dirty="0">
                <a:latin typeface="Courier New" pitchFamily="49" charset="0"/>
              </a:rPr>
              <a:t>&gt; </a:t>
            </a:r>
            <a:r>
              <a:rPr lang="en-US" b="1" i="1" dirty="0">
                <a:latin typeface="Courier New" pitchFamily="49" charset="0"/>
              </a:rPr>
              <a:t>telnet &lt;host&gt; &lt;</a:t>
            </a:r>
            <a:r>
              <a:rPr lang="en-US" b="1" i="1" dirty="0" err="1">
                <a:latin typeface="Courier New" pitchFamily="49" charset="0"/>
              </a:rPr>
              <a:t>portnumber</a:t>
            </a:r>
            <a:r>
              <a:rPr lang="en-US" b="1" i="1" dirty="0">
                <a:latin typeface="Courier New" pitchFamily="49" charset="0"/>
              </a:rPr>
              <a:t>&gt;</a:t>
            </a:r>
          </a:p>
          <a:p>
            <a:pPr lvl="1"/>
            <a:r>
              <a:rPr lang="en-US" dirty="0"/>
              <a:t>Creates a connection with a server running on </a:t>
            </a:r>
            <a:r>
              <a:rPr lang="en-US" b="1" i="1" dirty="0">
                <a:latin typeface="Courier New" pitchFamily="49" charset="0"/>
              </a:rPr>
              <a:t>&lt;host&gt;</a:t>
            </a:r>
            <a:r>
              <a:rPr lang="en-US" b="1" dirty="0"/>
              <a:t> </a:t>
            </a:r>
            <a:r>
              <a:rPr lang="en-US" dirty="0"/>
              <a:t>and  listening on port </a:t>
            </a:r>
            <a:r>
              <a:rPr lang="en-US" b="1" i="1" dirty="0">
                <a:latin typeface="Courier New" pitchFamily="49" charset="0"/>
              </a:rPr>
              <a:t>&lt;</a:t>
            </a:r>
            <a:r>
              <a:rPr lang="en-US" b="1" i="1" dirty="0" err="1">
                <a:latin typeface="Courier New" pitchFamily="49" charset="0"/>
              </a:rPr>
              <a:t>portnumber</a:t>
            </a:r>
            <a:r>
              <a:rPr lang="en-US" b="1" i="1" dirty="0">
                <a:latin typeface="Courier New" pitchFamily="49" charset="0"/>
              </a:rPr>
              <a:t>&gt;</a:t>
            </a:r>
            <a:endParaRPr lang="en-US" b="1" dirty="0">
              <a:latin typeface="Courier New" pitchFamily="49" charset="0"/>
            </a:endParaRPr>
          </a:p>
          <a:p>
            <a:endParaRPr lang="en-US" dirty="0">
              <a:latin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2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38416" y="60961"/>
            <a:ext cx="8588375" cy="613815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the Echo Server With </a:t>
            </a:r>
            <a:r>
              <a:rPr lang="en-US" dirty="0">
                <a:latin typeface="Courier New" pitchFamily="49" charset="0"/>
              </a:rPr>
              <a:t>telnet</a:t>
            </a:r>
            <a:endParaRPr lang="en-US" dirty="0"/>
          </a:p>
        </p:txBody>
      </p:sp>
      <p:sp>
        <p:nvSpPr>
          <p:cNvPr id="744451" name="Text Box 3"/>
          <p:cNvSpPr txBox="1">
            <a:spLocks noChangeArrowheads="1"/>
          </p:cNvSpPr>
          <p:nvPr/>
        </p:nvSpPr>
        <p:spPr bwMode="auto">
          <a:xfrm>
            <a:off x="2051501" y="1209040"/>
            <a:ext cx="8088998" cy="5355312"/>
          </a:xfrm>
          <a:prstGeom prst="rect">
            <a:avLst/>
          </a:prstGeom>
          <a:solidFill>
            <a:srgbClr val="D9D9D9"/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occam.dev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$ ./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echoserver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10001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Server connected to client.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Server received 11 bytes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Server received 8 bytes</a:t>
            </a:r>
            <a:endParaRPr lang="en-US" dirty="0">
              <a:latin typeface="Courier New"/>
              <a:cs typeface="Courier New"/>
            </a:endParaRPr>
          </a:p>
          <a:p>
            <a:endParaRPr lang="en-US" dirty="0">
              <a:latin typeface="Courier New"/>
              <a:cs typeface="Courier New"/>
            </a:endParaRPr>
          </a:p>
          <a:p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thoth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$ telnet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occam.dev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10001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Trying 142.4.212.185...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Connected to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occam.dev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(142.4.212.185).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Hi there!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Hi there!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Howdy!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Howdy!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^]                                 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Wingdings" panose="05000000000000000000" pitchFamily="2" charset="2"/>
              </a:rPr>
              <a:t> This means CTRL+]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telnet&gt; quit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Connection closed.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thoth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$</a:t>
            </a:r>
            <a:endParaRPr lang="en-US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520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20" y="-9441"/>
            <a:ext cx="6164344" cy="66548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Web Server Basics</a:t>
            </a:r>
          </a:p>
        </p:txBody>
      </p:sp>
      <p:sp>
        <p:nvSpPr>
          <p:cNvPr id="758792" name="Rectangle 8"/>
          <p:cNvSpPr>
            <a:spLocks noGrp="1" noChangeArrowheads="1"/>
          </p:cNvSpPr>
          <p:nvPr>
            <p:ph idx="1"/>
          </p:nvPr>
        </p:nvSpPr>
        <p:spPr>
          <a:xfrm>
            <a:off x="1839913" y="1251615"/>
            <a:ext cx="4186238" cy="4908550"/>
          </a:xfrm>
          <a:noFill/>
          <a:ln/>
        </p:spPr>
        <p:txBody>
          <a:bodyPr vert="horz" lIns="90343" tIns="44379" rIns="90343" bIns="44379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Clients and servers communicate using  the </a:t>
            </a:r>
            <a:r>
              <a:rPr lang="en-US" sz="2400" dirty="0" err="1"/>
              <a:t>HyperText</a:t>
            </a:r>
            <a:r>
              <a:rPr lang="en-US" sz="2400" dirty="0"/>
              <a:t> Transfer Protocol (HTTP)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Client and server establish TCP connection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Client requests content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Server responds with requested content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Client and server close connection (eventually)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Current version is HTTP/1.1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RFC 2616, June, 1999. </a:t>
            </a:r>
          </a:p>
        </p:txBody>
      </p:sp>
      <p:sp>
        <p:nvSpPr>
          <p:cNvPr id="758787" name="Oval 3"/>
          <p:cNvSpPr>
            <a:spLocks noChangeArrowheads="1"/>
          </p:cNvSpPr>
          <p:nvPr/>
        </p:nvSpPr>
        <p:spPr bwMode="auto">
          <a:xfrm>
            <a:off x="8990640" y="1291218"/>
            <a:ext cx="1368425" cy="1287463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/>
              <a:t>Web</a:t>
            </a:r>
          </a:p>
          <a:p>
            <a:pPr algn="ctr" defTabSz="912813"/>
            <a:r>
              <a:rPr lang="en-US"/>
              <a:t>server</a:t>
            </a:r>
          </a:p>
        </p:txBody>
      </p:sp>
      <p:sp>
        <p:nvSpPr>
          <p:cNvPr id="758788" name="Line 4"/>
          <p:cNvSpPr>
            <a:spLocks noChangeShapeType="1"/>
          </p:cNvSpPr>
          <p:nvPr/>
        </p:nvSpPr>
        <p:spPr bwMode="auto">
          <a:xfrm>
            <a:off x="7303128" y="1591255"/>
            <a:ext cx="1749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58789" name="Text Box 5"/>
          <p:cNvSpPr txBox="1">
            <a:spLocks noChangeArrowheads="1"/>
          </p:cNvSpPr>
          <p:nvPr/>
        </p:nvSpPr>
        <p:spPr bwMode="auto">
          <a:xfrm>
            <a:off x="7225340" y="1208949"/>
            <a:ext cx="1611569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dirty="0">
                <a:latin typeface="Courier New" pitchFamily="49" charset="0"/>
              </a:rPr>
              <a:t>HTTP </a:t>
            </a:r>
            <a:r>
              <a:rPr lang="en-US" dirty="0"/>
              <a:t>request</a:t>
            </a:r>
          </a:p>
        </p:txBody>
      </p:sp>
      <p:sp>
        <p:nvSpPr>
          <p:cNvPr id="758790" name="Line 6"/>
          <p:cNvSpPr>
            <a:spLocks noChangeShapeType="1"/>
          </p:cNvSpPr>
          <p:nvPr/>
        </p:nvSpPr>
        <p:spPr bwMode="auto">
          <a:xfrm>
            <a:off x="7455527" y="2199267"/>
            <a:ext cx="1446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58791" name="Text Box 7"/>
          <p:cNvSpPr txBox="1">
            <a:spLocks noChangeArrowheads="1"/>
          </p:cNvSpPr>
          <p:nvPr/>
        </p:nvSpPr>
        <p:spPr bwMode="auto">
          <a:xfrm>
            <a:off x="7233278" y="2323782"/>
            <a:ext cx="1749177" cy="6463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dirty="0">
                <a:latin typeface="Courier New" pitchFamily="49" charset="0"/>
              </a:rPr>
              <a:t>HTTP </a:t>
            </a:r>
            <a:r>
              <a:rPr lang="en-US" dirty="0"/>
              <a:t>response</a:t>
            </a:r>
          </a:p>
          <a:p>
            <a:pPr defTabSz="912813"/>
            <a:r>
              <a:rPr lang="en-US" dirty="0"/>
              <a:t>(content)</a:t>
            </a:r>
          </a:p>
        </p:txBody>
      </p:sp>
      <p:sp>
        <p:nvSpPr>
          <p:cNvPr id="758793" name="Oval 9"/>
          <p:cNvSpPr>
            <a:spLocks noChangeArrowheads="1"/>
          </p:cNvSpPr>
          <p:nvPr/>
        </p:nvSpPr>
        <p:spPr bwMode="auto">
          <a:xfrm>
            <a:off x="6085515" y="1291218"/>
            <a:ext cx="1370013" cy="1287463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/>
              <a:t>Web</a:t>
            </a:r>
          </a:p>
          <a:p>
            <a:pPr algn="ctr" defTabSz="912813"/>
            <a:r>
              <a:rPr lang="en-US" dirty="0"/>
              <a:t>client</a:t>
            </a:r>
          </a:p>
          <a:p>
            <a:pPr algn="ctr" defTabSz="912813"/>
            <a:r>
              <a:rPr lang="en-US" dirty="0"/>
              <a:t>(browser) </a:t>
            </a:r>
          </a:p>
        </p:txBody>
      </p:sp>
      <p:sp>
        <p:nvSpPr>
          <p:cNvPr id="763908" name="Text Box 1028"/>
          <p:cNvSpPr txBox="1">
            <a:spLocks noChangeArrowheads="1"/>
          </p:cNvSpPr>
          <p:nvPr/>
        </p:nvSpPr>
        <p:spPr bwMode="auto">
          <a:xfrm>
            <a:off x="2380199" y="6219027"/>
            <a:ext cx="757130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ourier New" pitchFamily="49" charset="0"/>
              </a:rPr>
              <a:t>http://www.w3.org/Protocols/rfc2616/rfc2616.html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7008108" y="5001254"/>
            <a:ext cx="1828800" cy="609600"/>
          </a:xfrm>
          <a:prstGeom prst="rect">
            <a:avLst/>
          </a:prstGeom>
          <a:solidFill>
            <a:srgbClr val="D5F1CF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IP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008108" y="4391654"/>
            <a:ext cx="1828800" cy="609600"/>
          </a:xfrm>
          <a:prstGeom prst="rect">
            <a:avLst/>
          </a:prstGeom>
          <a:solidFill>
            <a:srgbClr val="F6F5BD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TCP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7008108" y="3782054"/>
            <a:ext cx="18288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6909" y="5197588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Datagrams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36909" y="4555722"/>
            <a:ext cx="96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6909" y="3913856"/>
            <a:ext cx="141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Web content</a:t>
            </a:r>
          </a:p>
        </p:txBody>
      </p:sp>
    </p:spTree>
    <p:extLst>
      <p:ext uri="{BB962C8B-B14F-4D97-AF65-F5344CB8AC3E}">
        <p14:creationId xmlns:p14="http://schemas.microsoft.com/office/powerpoint/2010/main" val="77663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87" grpId="0" animBg="1"/>
      <p:bldP spid="758788" grpId="0" animBg="1"/>
      <p:bldP spid="758789" grpId="0"/>
      <p:bldP spid="758790" grpId="0" animBg="1"/>
      <p:bldP spid="758791" grpId="0"/>
      <p:bldP spid="758793" grpId="0" animBg="1"/>
      <p:bldP spid="763908" grpId="0"/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" y="0"/>
            <a:ext cx="5646738" cy="706120"/>
          </a:xfrm>
        </p:spPr>
        <p:txBody>
          <a:bodyPr>
            <a:normAutofit/>
          </a:bodyPr>
          <a:lstStyle/>
          <a:p>
            <a:r>
              <a:rPr lang="en-US" dirty="0"/>
              <a:t>Web Content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>
          <a:xfrm>
            <a:off x="1796227" y="1249680"/>
            <a:ext cx="8871774" cy="4145979"/>
          </a:xfrm>
        </p:spPr>
        <p:txBody>
          <a:bodyPr>
            <a:normAutofit/>
          </a:bodyPr>
          <a:lstStyle/>
          <a:p>
            <a:pPr>
              <a:tabLst>
                <a:tab pos="4403725" algn="l"/>
              </a:tabLst>
            </a:pPr>
            <a:r>
              <a:rPr lang="en-US" sz="2400" dirty="0"/>
              <a:t>Web servers return </a:t>
            </a:r>
            <a:r>
              <a:rPr lang="en-US" sz="2400" i="1" dirty="0">
                <a:solidFill>
                  <a:srgbClr val="FF0000"/>
                </a:solidFill>
              </a:rPr>
              <a:t>content</a:t>
            </a:r>
            <a:r>
              <a:rPr lang="en-US" sz="2400" dirty="0"/>
              <a:t> to clients</a:t>
            </a:r>
          </a:p>
          <a:p>
            <a:pPr lvl="1">
              <a:tabLst>
                <a:tab pos="4403725" algn="l"/>
              </a:tabLst>
            </a:pPr>
            <a:r>
              <a:rPr lang="en-US" sz="2000" i="1" dirty="0"/>
              <a:t>content: </a:t>
            </a:r>
            <a:r>
              <a:rPr lang="en-US" sz="2000" dirty="0"/>
              <a:t>a sequence of bytes with an associated MIME (Multipurpose Internet Mail Extensions) type</a:t>
            </a:r>
          </a:p>
          <a:p>
            <a:pPr>
              <a:tabLst>
                <a:tab pos="4403725" algn="l"/>
              </a:tabLst>
            </a:pPr>
            <a:endParaRPr lang="en-US" sz="2400" dirty="0"/>
          </a:p>
          <a:p>
            <a:pPr>
              <a:tabLst>
                <a:tab pos="4403725" algn="l"/>
              </a:tabLst>
            </a:pPr>
            <a:r>
              <a:rPr lang="en-US" sz="2400" dirty="0"/>
              <a:t>Example MIME types</a:t>
            </a:r>
          </a:p>
          <a:p>
            <a:pPr lvl="1">
              <a:tabLst>
                <a:tab pos="4403725" algn="l"/>
              </a:tabLst>
            </a:pPr>
            <a:r>
              <a:rPr lang="en-US" sz="2000" b="1" dirty="0">
                <a:latin typeface="Courier New" pitchFamily="49" charset="0"/>
              </a:rPr>
              <a:t>text/html</a:t>
            </a: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000" i="1" dirty="0" err="1"/>
              <a:t>HTML</a:t>
            </a:r>
            <a:r>
              <a:rPr lang="en-US" sz="2000" i="1" dirty="0"/>
              <a:t> document</a:t>
            </a:r>
          </a:p>
          <a:p>
            <a:pPr lvl="1">
              <a:tabLst>
                <a:tab pos="4403725" algn="l"/>
              </a:tabLst>
            </a:pPr>
            <a:r>
              <a:rPr lang="en-US" sz="2000" b="1" dirty="0">
                <a:latin typeface="Courier New" pitchFamily="49" charset="0"/>
              </a:rPr>
              <a:t>text/plain</a:t>
            </a: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000" i="1" dirty="0"/>
              <a:t>Unformatted text</a:t>
            </a:r>
          </a:p>
          <a:p>
            <a:pPr lvl="1">
              <a:tabLst>
                <a:tab pos="4403725" algn="l"/>
              </a:tabLst>
            </a:pPr>
            <a:r>
              <a:rPr lang="en-US" sz="2000" b="1" dirty="0">
                <a:latin typeface="Courier New" pitchFamily="49" charset="0"/>
              </a:rPr>
              <a:t>image/gif</a:t>
            </a: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000" i="1" dirty="0"/>
              <a:t>Binary image encoded in GIF </a:t>
            </a:r>
            <a:r>
              <a:rPr lang="en-US" sz="2000" dirty="0"/>
              <a:t>format</a:t>
            </a:r>
          </a:p>
          <a:p>
            <a:pPr lvl="1">
              <a:tabLst>
                <a:tab pos="4403725" algn="l"/>
              </a:tabLst>
            </a:pPr>
            <a:r>
              <a:rPr lang="en-US" sz="2000" b="1" dirty="0">
                <a:latin typeface="Courier New"/>
                <a:cs typeface="Courier New"/>
              </a:rPr>
              <a:t>image/</a:t>
            </a:r>
            <a:r>
              <a:rPr lang="en-US" sz="2000" b="1" dirty="0" err="1">
                <a:latin typeface="Courier New"/>
                <a:cs typeface="Courier New"/>
              </a:rPr>
              <a:t>png</a:t>
            </a:r>
            <a:r>
              <a:rPr lang="en-US" sz="2000" dirty="0"/>
              <a:t>	</a:t>
            </a:r>
            <a:r>
              <a:rPr lang="en-US" sz="2000" i="1" dirty="0" err="1"/>
              <a:t>Binar</a:t>
            </a:r>
            <a:r>
              <a:rPr lang="en-US" sz="2000" i="1" dirty="0"/>
              <a:t> image encoded in PNG </a:t>
            </a:r>
            <a:r>
              <a:rPr lang="en-US" sz="2000" dirty="0"/>
              <a:t>format</a:t>
            </a:r>
          </a:p>
          <a:p>
            <a:pPr lvl="1">
              <a:tabLst>
                <a:tab pos="4403725" algn="l"/>
              </a:tabLst>
            </a:pPr>
            <a:r>
              <a:rPr lang="en-US" sz="2000" b="1" dirty="0">
                <a:latin typeface="Courier New" pitchFamily="49" charset="0"/>
              </a:rPr>
              <a:t>image/jpeg</a:t>
            </a:r>
            <a:r>
              <a:rPr lang="en-US" sz="2000" dirty="0"/>
              <a:t>	</a:t>
            </a:r>
            <a:r>
              <a:rPr lang="en-US" sz="2000" i="1" dirty="0"/>
              <a:t>Binary image encoded in JPEG </a:t>
            </a:r>
            <a:r>
              <a:rPr lang="en-US" sz="2000" dirty="0"/>
              <a:t>format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05000" y="5546754"/>
            <a:ext cx="8634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/>
              </a:rPr>
              <a:t>You can find the complete list of MIME types at:</a:t>
            </a:r>
          </a:p>
          <a:p>
            <a:r>
              <a:rPr lang="en-US" dirty="0">
                <a:latin typeface="Courier New"/>
                <a:cs typeface="Courier New"/>
              </a:rPr>
              <a:t>http://</a:t>
            </a:r>
            <a:r>
              <a:rPr lang="en-US" dirty="0" err="1">
                <a:latin typeface="Courier New"/>
                <a:cs typeface="Courier New"/>
              </a:rPr>
              <a:t>www.iana.org</a:t>
            </a:r>
            <a:r>
              <a:rPr lang="en-US" dirty="0">
                <a:latin typeface="Courier New"/>
                <a:cs typeface="Courier New"/>
              </a:rPr>
              <a:t>/assignments/media-types/media-</a:t>
            </a:r>
            <a:r>
              <a:rPr lang="en-US" dirty="0" err="1">
                <a:latin typeface="Courier New"/>
                <a:cs typeface="Courier New"/>
              </a:rPr>
              <a:t>types.xhtml</a:t>
            </a:r>
            <a:endParaRPr lang="en-US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8366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1" grpId="0" build="p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8760" y="-4763"/>
            <a:ext cx="8077200" cy="68580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Static and Dynamic Content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294" tIns="45647" rIns="91294" bIns="45647" rtlCol="0">
            <a:normAutofit fontScale="92500"/>
          </a:bodyPr>
          <a:lstStyle/>
          <a:p>
            <a:r>
              <a:rPr lang="en-US" dirty="0"/>
              <a:t>The content returned in HTTP responses can be either </a:t>
            </a:r>
            <a:r>
              <a:rPr lang="en-US" i="1" dirty="0">
                <a:solidFill>
                  <a:srgbClr val="FF0000"/>
                </a:solidFill>
              </a:rPr>
              <a:t>static</a:t>
            </a:r>
            <a:r>
              <a:rPr lang="en-US" dirty="0"/>
              <a:t> or </a:t>
            </a:r>
            <a:r>
              <a:rPr lang="en-US" i="1" dirty="0">
                <a:solidFill>
                  <a:srgbClr val="FF0000"/>
                </a:solidFill>
              </a:rPr>
              <a:t>dynamic</a:t>
            </a:r>
            <a:endParaRPr lang="en-US" dirty="0"/>
          </a:p>
          <a:p>
            <a:pPr lvl="1"/>
            <a:r>
              <a:rPr lang="en-US" i="1" dirty="0"/>
              <a:t>Static content</a:t>
            </a:r>
            <a:r>
              <a:rPr lang="en-US" dirty="0"/>
              <a:t>: content stored in files and retrieved in response to an HTTP request</a:t>
            </a:r>
          </a:p>
          <a:p>
            <a:pPr lvl="2"/>
            <a:r>
              <a:rPr lang="en-US" dirty="0"/>
              <a:t>Examples: HTML files, images, audio clips, </a:t>
            </a:r>
            <a:r>
              <a:rPr lang="en-US" dirty="0" err="1"/>
              <a:t>Javascript</a:t>
            </a:r>
            <a:r>
              <a:rPr lang="en-US" dirty="0"/>
              <a:t> programs</a:t>
            </a:r>
          </a:p>
          <a:p>
            <a:pPr lvl="2"/>
            <a:r>
              <a:rPr lang="en-US" dirty="0"/>
              <a:t>Request identifies which content file</a:t>
            </a:r>
          </a:p>
          <a:p>
            <a:pPr lvl="1"/>
            <a:r>
              <a:rPr lang="en-US" i="1" dirty="0"/>
              <a:t>Dynamic content</a:t>
            </a:r>
            <a:r>
              <a:rPr lang="en-US" dirty="0"/>
              <a:t>: content produced on-the-fly in response to an HTTP request</a:t>
            </a:r>
          </a:p>
          <a:p>
            <a:pPr lvl="2"/>
            <a:r>
              <a:rPr lang="en-US" dirty="0"/>
              <a:t>Example: content produced by a program executed by the server on behalf of the client</a:t>
            </a:r>
          </a:p>
          <a:p>
            <a:pPr lvl="2"/>
            <a:r>
              <a:rPr lang="en-US" dirty="0"/>
              <a:t>Request identifies file containing executable code</a:t>
            </a:r>
            <a:br>
              <a:rPr lang="en-US" dirty="0"/>
            </a:br>
            <a:endParaRPr lang="en-US" dirty="0"/>
          </a:p>
          <a:p>
            <a:r>
              <a:rPr lang="en-US" dirty="0"/>
              <a:t>Bottom line: </a:t>
            </a:r>
            <a:r>
              <a:rPr lang="en-US" i="1" dirty="0"/>
              <a:t>Web content is associated with a file that is managed by the server</a:t>
            </a:r>
          </a:p>
        </p:txBody>
      </p:sp>
    </p:spTree>
    <p:extLst>
      <p:ext uri="{BB962C8B-B14F-4D97-AF65-F5344CB8AC3E}">
        <p14:creationId xmlns:p14="http://schemas.microsoft.com/office/powerpoint/2010/main" val="29198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83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20" y="0"/>
            <a:ext cx="9220200" cy="665480"/>
          </a:xfrm>
        </p:spPr>
        <p:txBody>
          <a:bodyPr>
            <a:normAutofit fontScale="90000"/>
          </a:bodyPr>
          <a:lstStyle/>
          <a:p>
            <a:r>
              <a:rPr lang="en-US" dirty="0"/>
              <a:t>URLs and how clients and servers use them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idx="1"/>
          </p:nvPr>
        </p:nvSpPr>
        <p:spPr>
          <a:xfrm>
            <a:off x="1844994" y="1220787"/>
            <a:ext cx="8472487" cy="531209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Unique name for a file: </a:t>
            </a:r>
            <a:r>
              <a:rPr lang="en-US" b="1" dirty="0"/>
              <a:t>URL (Universal Resource Locator)</a:t>
            </a:r>
          </a:p>
          <a:p>
            <a:r>
              <a:rPr lang="en-US" dirty="0"/>
              <a:t>Example URL: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http://www.google.edu:80</a:t>
            </a:r>
            <a:r>
              <a:rPr lang="en-US" dirty="0">
                <a:solidFill>
                  <a:srgbClr val="00CC66"/>
                </a:solidFill>
                <a:latin typeface="Courier New" pitchFamily="49" charset="0"/>
              </a:rPr>
              <a:t>/index.html</a:t>
            </a:r>
          </a:p>
          <a:p>
            <a:r>
              <a:rPr lang="en-US" dirty="0"/>
              <a:t>Clients use </a:t>
            </a:r>
            <a:r>
              <a:rPr lang="en-US" i="1" dirty="0">
                <a:solidFill>
                  <a:srgbClr val="000000"/>
                </a:solidFill>
              </a:rPr>
              <a:t>prefix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http://www.google.edu:80</a:t>
            </a:r>
            <a:r>
              <a:rPr lang="en-US" dirty="0"/>
              <a:t>) to infer:</a:t>
            </a:r>
          </a:p>
          <a:p>
            <a:pPr lvl="1"/>
            <a:r>
              <a:rPr lang="en-US" dirty="0"/>
              <a:t>What kind (protocol) of server to contact (</a:t>
            </a:r>
            <a:r>
              <a:rPr lang="en-US" b="1" dirty="0"/>
              <a:t>HTTP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Where the server is (</a:t>
            </a:r>
            <a:r>
              <a:rPr lang="en-US" b="1" dirty="0" err="1">
                <a:latin typeface="Courier New" pitchFamily="49" charset="0"/>
              </a:rPr>
              <a:t>www.google.com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What port it is listening on (</a:t>
            </a:r>
            <a:r>
              <a:rPr lang="en-US" b="1" dirty="0"/>
              <a:t>80</a:t>
            </a:r>
            <a:r>
              <a:rPr lang="en-US" dirty="0"/>
              <a:t>)</a:t>
            </a:r>
          </a:p>
          <a:p>
            <a:r>
              <a:rPr lang="en-US" dirty="0"/>
              <a:t>Servers use </a:t>
            </a:r>
            <a:r>
              <a:rPr lang="en-US" i="1" dirty="0">
                <a:solidFill>
                  <a:srgbClr val="000000"/>
                </a:solidFill>
              </a:rPr>
              <a:t>suffix</a:t>
            </a:r>
            <a:r>
              <a:rPr lang="en-US" dirty="0"/>
              <a:t> (</a:t>
            </a:r>
            <a:r>
              <a:rPr lang="en-US" dirty="0">
                <a:solidFill>
                  <a:srgbClr val="00CC66"/>
                </a:solidFill>
                <a:latin typeface="Courier New" pitchFamily="49" charset="0"/>
              </a:rPr>
              <a:t>/index.html</a:t>
            </a:r>
            <a:r>
              <a:rPr lang="en-US" dirty="0"/>
              <a:t>) to:</a:t>
            </a:r>
          </a:p>
          <a:p>
            <a:pPr lvl="1"/>
            <a:r>
              <a:rPr lang="en-US" dirty="0"/>
              <a:t>Determine if request is for static or dynamic content.</a:t>
            </a:r>
          </a:p>
          <a:p>
            <a:pPr lvl="2"/>
            <a:r>
              <a:rPr lang="en-US" dirty="0"/>
              <a:t>No hard and fast rules for this</a:t>
            </a:r>
          </a:p>
          <a:p>
            <a:pPr lvl="2"/>
            <a:r>
              <a:rPr lang="en-US" dirty="0"/>
              <a:t>One convention: executables reside in </a:t>
            </a:r>
            <a:r>
              <a:rPr lang="en-US" b="1" dirty="0" err="1">
                <a:latin typeface="Courier New" pitchFamily="49" charset="0"/>
              </a:rPr>
              <a:t>cgi</a:t>
            </a:r>
            <a:r>
              <a:rPr lang="en-US" b="1" dirty="0">
                <a:latin typeface="Courier New" pitchFamily="49" charset="0"/>
              </a:rPr>
              <a:t>-bin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directory</a:t>
            </a:r>
          </a:p>
          <a:p>
            <a:pPr lvl="1"/>
            <a:r>
              <a:rPr lang="en-US" dirty="0"/>
              <a:t>Find file on file system</a:t>
            </a:r>
          </a:p>
          <a:p>
            <a:pPr lvl="2"/>
            <a:r>
              <a:rPr lang="en-US" dirty="0"/>
              <a:t>Initial “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dirty="0"/>
              <a:t>” in suffix denotes home directory for requested content.</a:t>
            </a:r>
          </a:p>
          <a:p>
            <a:pPr lvl="2"/>
            <a:r>
              <a:rPr lang="en-US" dirty="0"/>
              <a:t>Minimal suffix is “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dirty="0"/>
              <a:t>”, which server expands to configured default filename (usually, </a:t>
            </a:r>
            <a:r>
              <a:rPr lang="en-US" b="1" dirty="0" err="1">
                <a:latin typeface="Courier New" pitchFamily="49" charset="0"/>
              </a:rPr>
              <a:t>index.html</a:t>
            </a:r>
            <a:r>
              <a:rPr lang="en-US" dirty="0"/>
              <a:t>)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00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7962" y="41116"/>
            <a:ext cx="5888038" cy="649287"/>
          </a:xfrm>
        </p:spPr>
        <p:txBody>
          <a:bodyPr>
            <a:normAutofit/>
          </a:bodyPr>
          <a:lstStyle/>
          <a:p>
            <a:r>
              <a:rPr lang="en-US" dirty="0"/>
              <a:t>HTTP Requests</a:t>
            </a:r>
          </a:p>
        </p:txBody>
      </p:sp>
      <p:sp>
        <p:nvSpPr>
          <p:cNvPr id="764931" name="Rectangle 3"/>
          <p:cNvSpPr>
            <a:spLocks noGrp="1" noChangeArrowheads="1"/>
          </p:cNvSpPr>
          <p:nvPr>
            <p:ph idx="1"/>
          </p:nvPr>
        </p:nvSpPr>
        <p:spPr>
          <a:xfrm>
            <a:off x="1941196" y="1229994"/>
            <a:ext cx="8289925" cy="5262246"/>
          </a:xfrm>
          <a:ln/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HTTP request is a </a:t>
            </a:r>
            <a:r>
              <a:rPr lang="en-US" i="1" dirty="0">
                <a:solidFill>
                  <a:srgbClr val="FF0000"/>
                </a:solidFill>
              </a:rPr>
              <a:t>request line</a:t>
            </a:r>
            <a:r>
              <a:rPr lang="en-US" dirty="0"/>
              <a:t>, followed by zero or more </a:t>
            </a:r>
            <a:r>
              <a:rPr lang="en-US" i="1" dirty="0">
                <a:solidFill>
                  <a:srgbClr val="FF0000"/>
                </a:solidFill>
              </a:rPr>
              <a:t>request headers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Request line: </a:t>
            </a:r>
            <a:r>
              <a:rPr lang="en-US" dirty="0">
                <a:latin typeface="Courier New" pitchFamily="49" charset="0"/>
              </a:rPr>
              <a:t>&lt;method&gt; &lt;</a:t>
            </a:r>
            <a:r>
              <a:rPr lang="en-US" dirty="0" err="1">
                <a:latin typeface="Courier New" pitchFamily="49" charset="0"/>
              </a:rPr>
              <a:t>uri</a:t>
            </a:r>
            <a:r>
              <a:rPr lang="en-US" dirty="0">
                <a:latin typeface="Courier New" pitchFamily="49" charset="0"/>
              </a:rPr>
              <a:t>&gt; &lt;version&gt;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Courier New" pitchFamily="49" charset="0"/>
              </a:rPr>
              <a:t>&lt;method&gt; </a:t>
            </a:r>
            <a:r>
              <a:rPr lang="en-US" dirty="0"/>
              <a:t>is one of  </a:t>
            </a:r>
            <a:r>
              <a:rPr lang="en-US" b="1" dirty="0">
                <a:latin typeface="Courier New" pitchFamily="49" charset="0"/>
              </a:rPr>
              <a:t>GET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POST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OPTIONS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HEAD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PUT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DELETE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/>
              <a:t>or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TRACE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</a:rPr>
              <a:t>uri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/>
              <a:t> </a:t>
            </a:r>
            <a:r>
              <a:rPr lang="en-US" dirty="0"/>
              <a:t>is typically URL for proxies, URL suffix for servers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A URL is a type of URI (Uniform Resource Identifier)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See </a:t>
            </a:r>
            <a:r>
              <a:rPr lang="en-US" dirty="0">
                <a:hlinkClick r:id="rId3"/>
              </a:rPr>
              <a:t>http://www.ietf.org/rfc/rfc2396.txt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>
                <a:latin typeface="Courier New" pitchFamily="49" charset="0"/>
              </a:rPr>
              <a:t>&lt;version&gt;</a:t>
            </a:r>
            <a:r>
              <a:rPr lang="en-US" b="1" dirty="0"/>
              <a:t> </a:t>
            </a:r>
            <a:r>
              <a:rPr lang="en-US" dirty="0"/>
              <a:t>is HTTP version of request (</a:t>
            </a:r>
            <a:r>
              <a:rPr lang="en-US" b="1" dirty="0">
                <a:latin typeface="Courier New" pitchFamily="49" charset="0"/>
              </a:rPr>
              <a:t>HTTP/1.0</a:t>
            </a:r>
            <a:r>
              <a:rPr lang="en-US" dirty="0"/>
              <a:t> or </a:t>
            </a:r>
            <a:r>
              <a:rPr lang="en-US" b="1" dirty="0">
                <a:latin typeface="Courier New" pitchFamily="49" charset="0"/>
              </a:rPr>
              <a:t>HTTP/1.1</a:t>
            </a:r>
            <a:r>
              <a:rPr lang="en-US" dirty="0"/>
              <a:t>)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Request headers: </a:t>
            </a:r>
            <a:r>
              <a:rPr lang="en-US" dirty="0">
                <a:latin typeface="Courier New" pitchFamily="49" charset="0"/>
              </a:rPr>
              <a:t>&lt;header name&gt;: &lt;header data</a:t>
            </a:r>
            <a:r>
              <a:rPr lang="en-US" dirty="0"/>
              <a:t>&gt;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Provide additional information to the server</a:t>
            </a:r>
          </a:p>
          <a:p>
            <a:pPr lvl="1"/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5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31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25120" y="56834"/>
            <a:ext cx="6154738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HTTP Responses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idx="1"/>
          </p:nvPr>
        </p:nvSpPr>
        <p:spPr>
          <a:xfrm>
            <a:off x="1856740" y="1107440"/>
            <a:ext cx="8699500" cy="546088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HTTP response is a </a:t>
            </a:r>
            <a:r>
              <a:rPr lang="en-US" i="1" dirty="0">
                <a:solidFill>
                  <a:srgbClr val="FF0000"/>
                </a:solidFill>
              </a:rPr>
              <a:t>response line</a:t>
            </a:r>
            <a:r>
              <a:rPr lang="en-US" dirty="0"/>
              <a:t> followed by zero or more </a:t>
            </a:r>
            <a:r>
              <a:rPr lang="en-US" i="1" dirty="0">
                <a:solidFill>
                  <a:srgbClr val="FF0000"/>
                </a:solidFill>
              </a:rPr>
              <a:t>response headers</a:t>
            </a:r>
            <a:r>
              <a:rPr lang="en-US" dirty="0"/>
              <a:t>, possibly followed by </a:t>
            </a:r>
            <a:r>
              <a:rPr lang="en-US" i="1" dirty="0">
                <a:solidFill>
                  <a:srgbClr val="FF0000"/>
                </a:solidFill>
              </a:rPr>
              <a:t>content</a:t>
            </a:r>
            <a:r>
              <a:rPr lang="en-US" dirty="0"/>
              <a:t>, with blank line (“</a:t>
            </a:r>
            <a:r>
              <a:rPr lang="en-US" dirty="0">
                <a:latin typeface="Courier New"/>
                <a:cs typeface="Courier New"/>
              </a:rPr>
              <a:t>\r\n</a:t>
            </a:r>
            <a:r>
              <a:rPr lang="en-US" dirty="0"/>
              <a:t>”) separating headers from content. 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Response line: 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	</a:t>
            </a:r>
            <a:r>
              <a:rPr lang="en-US" dirty="0">
                <a:latin typeface="Courier New" pitchFamily="49" charset="0"/>
              </a:rPr>
              <a:t>&lt;version&gt; &lt;status code&gt; &lt;status </a:t>
            </a:r>
            <a:r>
              <a:rPr lang="en-US" dirty="0" err="1">
                <a:latin typeface="Courier New" pitchFamily="49" charset="0"/>
              </a:rPr>
              <a:t>msg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&lt;version&gt; is HTTP version of the response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&lt;status code&gt; is numeric status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&lt;status </a:t>
            </a:r>
            <a:r>
              <a:rPr lang="en-US" dirty="0" err="1"/>
              <a:t>msg</a:t>
            </a:r>
            <a:r>
              <a:rPr lang="en-US" dirty="0"/>
              <a:t>&gt; is corresponding English text</a:t>
            </a:r>
          </a:p>
          <a:p>
            <a:pPr lvl="2">
              <a:lnSpc>
                <a:spcPct val="12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200 	OK</a:t>
            </a:r>
            <a:r>
              <a:rPr lang="en-US" dirty="0"/>
              <a:t>		Request was handled without error</a:t>
            </a:r>
          </a:p>
          <a:p>
            <a:pPr lvl="2">
              <a:lnSpc>
                <a:spcPct val="12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301	Moved</a:t>
            </a:r>
            <a:r>
              <a:rPr lang="en-US" dirty="0"/>
              <a:t>		Provide alternate URL</a:t>
            </a:r>
          </a:p>
          <a:p>
            <a:pPr lvl="2">
              <a:lnSpc>
                <a:spcPct val="12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404	Not found</a:t>
            </a:r>
            <a:r>
              <a:rPr lang="en-US" dirty="0"/>
              <a:t>	Server couldn’t find the file</a:t>
            </a:r>
          </a:p>
          <a:p>
            <a:pPr>
              <a:lnSpc>
                <a:spcPct val="120000"/>
              </a:lnSpc>
            </a:pPr>
            <a:r>
              <a:rPr lang="en-US" dirty="0"/>
              <a:t>Response headers: </a:t>
            </a:r>
            <a:r>
              <a:rPr lang="en-US" dirty="0">
                <a:latin typeface="Courier New" pitchFamily="49" charset="0"/>
              </a:rPr>
              <a:t>&lt;header name&gt;: &lt;header data&gt;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Provide additional information about response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Courier New" pitchFamily="49" charset="0"/>
              </a:rPr>
              <a:t>Content-Type</a:t>
            </a:r>
            <a:r>
              <a:rPr lang="en-US" dirty="0">
                <a:latin typeface="Courier New" pitchFamily="49" charset="0"/>
              </a:rPr>
              <a:t>: </a:t>
            </a:r>
            <a:r>
              <a:rPr lang="en-US" dirty="0"/>
              <a:t>MIME type of content in response body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latin typeface="Courier New" pitchFamily="49" charset="0"/>
              </a:rPr>
              <a:t>Content-Length</a:t>
            </a:r>
            <a:r>
              <a:rPr lang="en-US" dirty="0">
                <a:latin typeface="Courier New" pitchFamily="49" charset="0"/>
              </a:rPr>
              <a:t>: </a:t>
            </a:r>
            <a:r>
              <a:rPr lang="en-US" dirty="0"/>
              <a:t>Length of content in response body</a:t>
            </a:r>
          </a:p>
          <a:p>
            <a:pPr>
              <a:lnSpc>
                <a:spcPct val="8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5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45440" y="1"/>
            <a:ext cx="10383519" cy="660399"/>
          </a:xfrm>
        </p:spPr>
        <p:txBody>
          <a:bodyPr/>
          <a:lstStyle/>
          <a:p>
            <a:r>
              <a:rPr lang="en-US" dirty="0"/>
              <a:t>Example HTTP Transaction</a:t>
            </a:r>
          </a:p>
        </p:txBody>
      </p:sp>
      <p:sp>
        <p:nvSpPr>
          <p:cNvPr id="763907" name="Rectangle 3"/>
          <p:cNvSpPr>
            <a:spLocks noChangeArrowheads="1"/>
          </p:cNvSpPr>
          <p:nvPr/>
        </p:nvSpPr>
        <p:spPr bwMode="auto">
          <a:xfrm>
            <a:off x="1524000" y="806709"/>
            <a:ext cx="9144001" cy="4708981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whaleshark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&gt; telnet www.cmu.edu 80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open connection to server 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Trying 128.2.42.52...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Telnet prints 3 lines to terminal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Connected to WWW-CMU-PROD-VIP.ANDREW.cmu.edu.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GET /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HTTP/1.1   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request line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Host: www.cmu.edu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required HTTP/1.1 header</a:t>
            </a:r>
          </a:p>
          <a:p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                     Client: empty line terminates headers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301 Moved Permanently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line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Date: Wed, 05 Nov 2014 17:05:11 GMT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followed by 5 response headers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Server: Apache/1.3.42 (Unix)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this is an Apache server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Location: </a:t>
            </a:r>
            <a:r>
              <a:rPr lang="sk-SK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http://www.cmu.edu/index.shtml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page has moved here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Transfer-Encoding: chunked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body will be chunked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Content-Type: text/html; charset=...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expect HTML in response body</a:t>
            </a:r>
          </a:p>
          <a:p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                                        Server: empty line terminates headers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15c 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first line in response body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&lt;HTML&gt;&lt;HEAD&gt;  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start of HTML content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…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&lt;/BODY&gt;&lt;/HTML&gt;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end of HTML content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0             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last line in response body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closes connection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28800" y="5796280"/>
            <a:ext cx="8839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HTTP standard requires that each text line end with </a:t>
            </a:r>
            <a:r>
              <a:rPr lang="en-US" dirty="0">
                <a:latin typeface="Courier New"/>
                <a:cs typeface="Courier New"/>
              </a:rPr>
              <a:t>“\r\n”</a:t>
            </a:r>
          </a:p>
          <a:p>
            <a:r>
              <a:rPr lang="en-US" dirty="0"/>
              <a:t>Blank line (</a:t>
            </a:r>
            <a:r>
              <a:rPr lang="en-US" dirty="0">
                <a:latin typeface="Courier New"/>
                <a:cs typeface="Courier New"/>
              </a:rPr>
              <a:t>“\r\n”</a:t>
            </a:r>
            <a:r>
              <a:rPr lang="en-US" dirty="0"/>
              <a:t>) terminates request and response headers</a:t>
            </a:r>
          </a:p>
        </p:txBody>
      </p:sp>
    </p:spTree>
    <p:extLst>
      <p:ext uri="{BB962C8B-B14F-4D97-AF65-F5344CB8AC3E}">
        <p14:creationId xmlns:p14="http://schemas.microsoft.com/office/powerpoint/2010/main" val="3445333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9240" y="46674"/>
            <a:ext cx="8477630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HTTP Transaction, Take 2</a:t>
            </a:r>
          </a:p>
        </p:txBody>
      </p:sp>
      <p:sp>
        <p:nvSpPr>
          <p:cNvPr id="763907" name="Rectangle 3"/>
          <p:cNvSpPr>
            <a:spLocks noChangeArrowheads="1"/>
          </p:cNvSpPr>
          <p:nvPr/>
        </p:nvSpPr>
        <p:spPr bwMode="auto">
          <a:xfrm>
            <a:off x="1524000" y="1274235"/>
            <a:ext cx="9144000" cy="4478149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whaleshark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www.cmu.edu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80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open connection to server 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Trying 128.2.42.52...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Telnet prints 3 lines to terminal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Connected to WWW-CMU-PROD-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VIP.ANDREW.cmu.edu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.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GET /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index.shtml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request line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Host: www.cmu.edu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required HTTP/1.1 header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                     Client: empty line terminates headers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200 OK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line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Date: Wed, 05 Nov 2014 17:37:26 GMT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followed by 4 response headers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Server: Apache/1.3.42 (Unix)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Transfer-Encoding: chunked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Content-Type: text/html; charset=... </a:t>
            </a:r>
          </a:p>
          <a:p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                                        Server: empty line terminates headers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1000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begin response body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&lt;html ..&gt;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first line of HTML content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…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&lt;/html&gt;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0   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end response body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close connection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51124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</p:txBody>
      </p:sp>
      <p:sp>
        <p:nvSpPr>
          <p:cNvPr id="788483" name="Rectangle 3"/>
          <p:cNvSpPr>
            <a:spLocks noGrp="1" noChangeArrowheads="1"/>
          </p:cNvSpPr>
          <p:nvPr>
            <p:ph idx="1"/>
          </p:nvPr>
        </p:nvSpPr>
        <p:spPr>
          <a:xfrm>
            <a:off x="1814514" y="1220788"/>
            <a:ext cx="8320087" cy="50479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</a:t>
            </a:r>
            <a:r>
              <a:rPr lang="en-US" i="1" dirty="0">
                <a:solidFill>
                  <a:srgbClr val="FF0000"/>
                </a:solidFill>
              </a:rPr>
              <a:t>proxy </a:t>
            </a:r>
            <a:r>
              <a:rPr lang="en-US" dirty="0">
                <a:solidFill>
                  <a:srgbClr val="000000"/>
                </a:solidFill>
              </a:rPr>
              <a:t>is an intermediary between a client and an </a:t>
            </a:r>
            <a:r>
              <a:rPr lang="en-US" i="1" dirty="0">
                <a:solidFill>
                  <a:srgbClr val="FF0000"/>
                </a:solidFill>
              </a:rPr>
              <a:t>origin server</a:t>
            </a:r>
            <a:endParaRPr lang="en-US" i="1" dirty="0">
              <a:solidFill>
                <a:srgbClr val="00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rgbClr val="000000"/>
                </a:solidFill>
              </a:rPr>
              <a:t>To the client, the proxy acts like a server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rgbClr val="000000"/>
                </a:solidFill>
              </a:rPr>
              <a:t>To the server, the proxy acts like a client</a:t>
            </a: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sz="2600" dirty="0">
              <a:solidFill>
                <a:srgbClr val="000000"/>
              </a:solidFill>
            </a:endParaRPr>
          </a:p>
          <a:p>
            <a:pPr lvl="1"/>
            <a:r>
              <a:rPr lang="en-US" sz="2600" b="1" dirty="0">
                <a:solidFill>
                  <a:srgbClr val="000000"/>
                </a:solidFill>
              </a:rPr>
              <a:t>This is what you will be implementing in </a:t>
            </a:r>
            <a:r>
              <a:rPr lang="en-US" sz="2600" b="1" u="sng" dirty="0">
                <a:solidFill>
                  <a:srgbClr val="000000"/>
                </a:solidFill>
              </a:rPr>
              <a:t>Proxy Lab</a:t>
            </a:r>
          </a:p>
        </p:txBody>
      </p:sp>
      <p:sp>
        <p:nvSpPr>
          <p:cNvPr id="788484" name="Oval 4"/>
          <p:cNvSpPr>
            <a:spLocks noChangeArrowheads="1"/>
          </p:cNvSpPr>
          <p:nvPr/>
        </p:nvSpPr>
        <p:spPr bwMode="auto">
          <a:xfrm>
            <a:off x="2402841" y="3629026"/>
            <a:ext cx="1065213" cy="989013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dirty="0"/>
              <a:t>Client</a:t>
            </a:r>
          </a:p>
        </p:txBody>
      </p:sp>
      <p:sp>
        <p:nvSpPr>
          <p:cNvPr id="788485" name="Oval 5"/>
          <p:cNvSpPr>
            <a:spLocks noChangeArrowheads="1"/>
          </p:cNvSpPr>
          <p:nvPr/>
        </p:nvSpPr>
        <p:spPr bwMode="auto">
          <a:xfrm>
            <a:off x="5450841" y="3629026"/>
            <a:ext cx="1065213" cy="98901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Proxy</a:t>
            </a:r>
          </a:p>
        </p:txBody>
      </p:sp>
      <p:sp>
        <p:nvSpPr>
          <p:cNvPr id="788487" name="Oval 7"/>
          <p:cNvSpPr>
            <a:spLocks noChangeArrowheads="1"/>
          </p:cNvSpPr>
          <p:nvPr/>
        </p:nvSpPr>
        <p:spPr bwMode="auto">
          <a:xfrm>
            <a:off x="8500428" y="3627438"/>
            <a:ext cx="1065212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dirty="0"/>
              <a:t>Origin</a:t>
            </a:r>
          </a:p>
          <a:p>
            <a:pPr defTabSz="912813"/>
            <a:r>
              <a:rPr lang="en-US" dirty="0"/>
              <a:t>Server</a:t>
            </a:r>
          </a:p>
        </p:txBody>
      </p:sp>
      <p:sp>
        <p:nvSpPr>
          <p:cNvPr id="788486" name="Line 6"/>
          <p:cNvSpPr>
            <a:spLocks noChangeShapeType="1"/>
          </p:cNvSpPr>
          <p:nvPr/>
        </p:nvSpPr>
        <p:spPr bwMode="auto">
          <a:xfrm>
            <a:off x="3469640" y="38560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88496" name="Text Box 16"/>
          <p:cNvSpPr txBox="1">
            <a:spLocks noChangeArrowheads="1"/>
          </p:cNvSpPr>
          <p:nvPr/>
        </p:nvSpPr>
        <p:spPr bwMode="auto">
          <a:xfrm>
            <a:off x="3529965" y="3429000"/>
            <a:ext cx="193244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/>
              <a:t>1. Client request</a:t>
            </a:r>
          </a:p>
        </p:txBody>
      </p:sp>
      <p:sp>
        <p:nvSpPr>
          <p:cNvPr id="788493" name="Line 13"/>
          <p:cNvSpPr>
            <a:spLocks noChangeShapeType="1"/>
          </p:cNvSpPr>
          <p:nvPr/>
        </p:nvSpPr>
        <p:spPr bwMode="auto">
          <a:xfrm>
            <a:off x="6517640" y="38560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88497" name="Text Box 17"/>
          <p:cNvSpPr txBox="1">
            <a:spLocks noChangeArrowheads="1"/>
          </p:cNvSpPr>
          <p:nvPr/>
        </p:nvSpPr>
        <p:spPr bwMode="auto">
          <a:xfrm>
            <a:off x="6538279" y="3443288"/>
            <a:ext cx="191991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/>
              <a:t>2. Proxy request</a:t>
            </a:r>
          </a:p>
        </p:txBody>
      </p:sp>
      <p:sp>
        <p:nvSpPr>
          <p:cNvPr id="788494" name="Line 14"/>
          <p:cNvSpPr>
            <a:spLocks noChangeShapeType="1"/>
          </p:cNvSpPr>
          <p:nvPr/>
        </p:nvSpPr>
        <p:spPr bwMode="auto">
          <a:xfrm>
            <a:off x="6441440" y="43132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88498" name="Text Box 18"/>
          <p:cNvSpPr txBox="1">
            <a:spLocks noChangeArrowheads="1"/>
          </p:cNvSpPr>
          <p:nvPr/>
        </p:nvSpPr>
        <p:spPr bwMode="auto">
          <a:xfrm>
            <a:off x="6593840" y="4389438"/>
            <a:ext cx="214947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/>
              <a:t>3. Server response</a:t>
            </a:r>
          </a:p>
        </p:txBody>
      </p:sp>
      <p:sp>
        <p:nvSpPr>
          <p:cNvPr id="788495" name="Line 15"/>
          <p:cNvSpPr>
            <a:spLocks noChangeShapeType="1"/>
          </p:cNvSpPr>
          <p:nvPr/>
        </p:nvSpPr>
        <p:spPr bwMode="auto">
          <a:xfrm>
            <a:off x="3393440" y="43132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88499" name="Text Box 19"/>
          <p:cNvSpPr txBox="1">
            <a:spLocks noChangeArrowheads="1"/>
          </p:cNvSpPr>
          <p:nvPr/>
        </p:nvSpPr>
        <p:spPr bwMode="auto">
          <a:xfrm>
            <a:off x="3520440" y="4389438"/>
            <a:ext cx="207120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/>
              <a:t>4. Proxy response</a:t>
            </a:r>
          </a:p>
        </p:txBody>
      </p:sp>
    </p:spTree>
    <p:extLst>
      <p:ext uri="{BB962C8B-B14F-4D97-AF65-F5344CB8AC3E}">
        <p14:creationId xmlns:p14="http://schemas.microsoft.com/office/powerpoint/2010/main" val="1040794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3" grpId="0" uiExpand="1" build="p"/>
      <p:bldP spid="788484" grpId="0" animBg="1"/>
      <p:bldP spid="788485" grpId="0" animBg="1"/>
      <p:bldP spid="788487" grpId="0" animBg="1"/>
      <p:bldP spid="788486" grpId="0" animBg="1"/>
      <p:bldP spid="788496" grpId="0"/>
      <p:bldP spid="788493" grpId="0" animBg="1"/>
      <p:bldP spid="788497" grpId="0"/>
      <p:bldP spid="788494" grpId="0" animBg="1"/>
      <p:bldP spid="788498" grpId="0"/>
      <p:bldP spid="788495" grpId="0" animBg="1"/>
      <p:bldP spid="78849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Proxies?</a:t>
            </a:r>
          </a:p>
        </p:txBody>
      </p:sp>
      <p:sp>
        <p:nvSpPr>
          <p:cNvPr id="789507" name="Rectangle 1027"/>
          <p:cNvSpPr>
            <a:spLocks noGrp="1" noChangeArrowheads="1"/>
          </p:cNvSpPr>
          <p:nvPr>
            <p:ph idx="1"/>
          </p:nvPr>
        </p:nvSpPr>
        <p:spPr>
          <a:xfrm>
            <a:off x="1814514" y="1168909"/>
            <a:ext cx="8620125" cy="1652587"/>
          </a:xfrm>
        </p:spPr>
        <p:txBody>
          <a:bodyPr/>
          <a:lstStyle/>
          <a:p>
            <a:r>
              <a:rPr lang="en-US" dirty="0"/>
              <a:t>Can perform useful functions as requests and responses pass by</a:t>
            </a:r>
          </a:p>
          <a:p>
            <a:pPr lvl="1"/>
            <a:r>
              <a:rPr lang="en-US" dirty="0"/>
              <a:t>Examples: Caching, logging, </a:t>
            </a:r>
            <a:r>
              <a:rPr lang="en-US" dirty="0" err="1"/>
              <a:t>anonymization</a:t>
            </a:r>
            <a:r>
              <a:rPr lang="en-US" dirty="0"/>
              <a:t>, filtering, </a:t>
            </a:r>
            <a:r>
              <a:rPr lang="en-US" dirty="0" err="1"/>
              <a:t>transcoding</a:t>
            </a:r>
            <a:endParaRPr lang="en-US" dirty="0"/>
          </a:p>
        </p:txBody>
      </p:sp>
      <p:sp>
        <p:nvSpPr>
          <p:cNvPr id="789508" name="Oval 1028"/>
          <p:cNvSpPr>
            <a:spLocks noChangeArrowheads="1"/>
          </p:cNvSpPr>
          <p:nvPr/>
        </p:nvSpPr>
        <p:spPr bwMode="auto">
          <a:xfrm>
            <a:off x="2152651" y="3000376"/>
            <a:ext cx="1065213" cy="989013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dirty="0"/>
              <a:t>Client</a:t>
            </a:r>
          </a:p>
          <a:p>
            <a:pPr algn="ctr" defTabSz="912813"/>
            <a:r>
              <a:rPr lang="en-US" dirty="0"/>
              <a:t>A</a:t>
            </a:r>
          </a:p>
        </p:txBody>
      </p:sp>
      <p:sp>
        <p:nvSpPr>
          <p:cNvPr id="789509" name="Oval 1029"/>
          <p:cNvSpPr>
            <a:spLocks noChangeArrowheads="1"/>
          </p:cNvSpPr>
          <p:nvPr/>
        </p:nvSpPr>
        <p:spPr bwMode="auto">
          <a:xfrm>
            <a:off x="5200651" y="3808413"/>
            <a:ext cx="1065213" cy="98901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/>
              <a:t>Proxy</a:t>
            </a:r>
          </a:p>
          <a:p>
            <a:pPr algn="ctr" defTabSz="912813"/>
            <a:r>
              <a:rPr lang="en-US"/>
              <a:t>cache</a:t>
            </a:r>
          </a:p>
        </p:txBody>
      </p:sp>
      <p:sp>
        <p:nvSpPr>
          <p:cNvPr id="789510" name="Oval 1030"/>
          <p:cNvSpPr>
            <a:spLocks noChangeArrowheads="1"/>
          </p:cNvSpPr>
          <p:nvPr/>
        </p:nvSpPr>
        <p:spPr bwMode="auto">
          <a:xfrm>
            <a:off x="9369426" y="3716338"/>
            <a:ext cx="1065213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/>
              <a:t>Origin</a:t>
            </a:r>
          </a:p>
          <a:p>
            <a:pPr algn="ctr" defTabSz="912813"/>
            <a:r>
              <a:rPr lang="en-US"/>
              <a:t>Server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48026" y="3170239"/>
            <a:ext cx="2316163" cy="738187"/>
            <a:chOff x="1724025" y="3170238"/>
            <a:chExt cx="2316163" cy="738187"/>
          </a:xfrm>
        </p:grpSpPr>
        <p:sp>
          <p:nvSpPr>
            <p:cNvPr id="789512" name="Line 1032"/>
            <p:cNvSpPr>
              <a:spLocks noChangeShapeType="1"/>
            </p:cNvSpPr>
            <p:nvPr/>
          </p:nvSpPr>
          <p:spPr bwMode="auto">
            <a:xfrm>
              <a:off x="1724025" y="3419475"/>
              <a:ext cx="215741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13" name="Text Box 1033"/>
            <p:cNvSpPr txBox="1">
              <a:spLocks noChangeArrowheads="1"/>
            </p:cNvSpPr>
            <p:nvPr/>
          </p:nvSpPr>
          <p:spPr bwMode="auto">
            <a:xfrm>
              <a:off x="1952625" y="3170238"/>
              <a:ext cx="2087563" cy="3698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Request </a:t>
              </a:r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30938" y="3657601"/>
            <a:ext cx="3187700" cy="377831"/>
            <a:chOff x="4706938" y="3657600"/>
            <a:chExt cx="3187700" cy="377831"/>
          </a:xfrm>
        </p:grpSpPr>
        <p:sp>
          <p:nvSpPr>
            <p:cNvPr id="789515" name="Line 1035"/>
            <p:cNvSpPr>
              <a:spLocks noChangeShapeType="1"/>
            </p:cNvSpPr>
            <p:nvPr/>
          </p:nvSpPr>
          <p:spPr bwMode="auto">
            <a:xfrm>
              <a:off x="4706938" y="4035431"/>
              <a:ext cx="318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16" name="Text Box 1036"/>
            <p:cNvSpPr txBox="1">
              <a:spLocks noChangeArrowheads="1"/>
            </p:cNvSpPr>
            <p:nvPr/>
          </p:nvSpPr>
          <p:spPr bwMode="auto">
            <a:xfrm>
              <a:off x="5505451" y="3657600"/>
              <a:ext cx="20875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Request </a:t>
              </a:r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1250" y="4114801"/>
            <a:ext cx="3221038" cy="396881"/>
            <a:chOff x="4667250" y="4114800"/>
            <a:chExt cx="3221038" cy="396881"/>
          </a:xfrm>
        </p:grpSpPr>
        <p:sp>
          <p:nvSpPr>
            <p:cNvPr id="789518" name="Line 1038"/>
            <p:cNvSpPr>
              <a:spLocks noChangeShapeType="1"/>
            </p:cNvSpPr>
            <p:nvPr/>
          </p:nvSpPr>
          <p:spPr bwMode="auto">
            <a:xfrm>
              <a:off x="4667250" y="4492631"/>
              <a:ext cx="3221038" cy="190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19" name="Text Box 1039"/>
            <p:cNvSpPr txBox="1">
              <a:spLocks noChangeArrowheads="1"/>
            </p:cNvSpPr>
            <p:nvPr/>
          </p:nvSpPr>
          <p:spPr bwMode="auto">
            <a:xfrm>
              <a:off x="5715000" y="4114800"/>
              <a:ext cx="12874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03564" y="3667126"/>
            <a:ext cx="2097087" cy="615951"/>
            <a:chOff x="1579563" y="3667125"/>
            <a:chExt cx="2097087" cy="615951"/>
          </a:xfrm>
        </p:grpSpPr>
        <p:sp>
          <p:nvSpPr>
            <p:cNvPr id="789521" name="Line 1041"/>
            <p:cNvSpPr>
              <a:spLocks noChangeShapeType="1"/>
            </p:cNvSpPr>
            <p:nvPr/>
          </p:nvSpPr>
          <p:spPr bwMode="auto">
            <a:xfrm>
              <a:off x="1579563" y="3817938"/>
              <a:ext cx="2097087" cy="465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22" name="Text Box 1042"/>
            <p:cNvSpPr txBox="1">
              <a:spLocks noChangeArrowheads="1"/>
            </p:cNvSpPr>
            <p:nvPr/>
          </p:nvSpPr>
          <p:spPr bwMode="auto">
            <a:xfrm>
              <a:off x="2293938" y="3667125"/>
              <a:ext cx="1287462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sp>
        <p:nvSpPr>
          <p:cNvPr id="789523" name="Oval 1043"/>
          <p:cNvSpPr>
            <a:spLocks noChangeArrowheads="1"/>
          </p:cNvSpPr>
          <p:nvPr/>
        </p:nvSpPr>
        <p:spPr bwMode="auto">
          <a:xfrm>
            <a:off x="2152651" y="4983163"/>
            <a:ext cx="1065213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/>
              <a:t>Client</a:t>
            </a:r>
          </a:p>
          <a:p>
            <a:pPr algn="ctr" defTabSz="912813"/>
            <a:r>
              <a:rPr lang="en-US"/>
              <a:t>B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57400" y="4443413"/>
            <a:ext cx="3130550" cy="685800"/>
            <a:chOff x="533400" y="4443413"/>
            <a:chExt cx="3130550" cy="685800"/>
          </a:xfrm>
        </p:grpSpPr>
        <p:sp>
          <p:nvSpPr>
            <p:cNvPr id="789535" name="Line 1055"/>
            <p:cNvSpPr>
              <a:spLocks noChangeShapeType="1"/>
            </p:cNvSpPr>
            <p:nvPr/>
          </p:nvSpPr>
          <p:spPr bwMode="auto">
            <a:xfrm flipV="1">
              <a:off x="1552575" y="4443413"/>
              <a:ext cx="2111375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36" name="Text Box 1056"/>
            <p:cNvSpPr txBox="1">
              <a:spLocks noChangeArrowheads="1"/>
            </p:cNvSpPr>
            <p:nvPr/>
          </p:nvSpPr>
          <p:spPr bwMode="auto">
            <a:xfrm>
              <a:off x="533400" y="4489451"/>
              <a:ext cx="20875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Request </a:t>
              </a:r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217864" y="4705350"/>
            <a:ext cx="2063751" cy="704850"/>
            <a:chOff x="1693863" y="4705350"/>
            <a:chExt cx="2063751" cy="704850"/>
          </a:xfrm>
        </p:grpSpPr>
        <p:sp>
          <p:nvSpPr>
            <p:cNvPr id="789537" name="Line 1057"/>
            <p:cNvSpPr>
              <a:spLocks noChangeShapeType="1"/>
            </p:cNvSpPr>
            <p:nvPr/>
          </p:nvSpPr>
          <p:spPr bwMode="auto">
            <a:xfrm flipV="1">
              <a:off x="1693863" y="4705350"/>
              <a:ext cx="2063751" cy="7048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/>
            </a:p>
          </p:txBody>
        </p:sp>
        <p:sp>
          <p:nvSpPr>
            <p:cNvPr id="789538" name="Text Box 1058"/>
            <p:cNvSpPr txBox="1">
              <a:spLocks noChangeArrowheads="1"/>
            </p:cNvSpPr>
            <p:nvPr/>
          </p:nvSpPr>
          <p:spPr bwMode="auto">
            <a:xfrm>
              <a:off x="2470151" y="5029200"/>
              <a:ext cx="12874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err="1">
                  <a:latin typeface="Courier New" pitchFamily="49" charset="0"/>
                </a:rPr>
                <a:t>foo.html</a:t>
              </a:r>
              <a:endParaRPr lang="en-US" dirty="0">
                <a:latin typeface="Courier New" pitchFamily="49" charset="0"/>
              </a:endParaRPr>
            </a:p>
          </p:txBody>
        </p:sp>
      </p:grpSp>
      <p:sp>
        <p:nvSpPr>
          <p:cNvPr id="789541" name="Text Box 1061"/>
          <p:cNvSpPr txBox="1">
            <a:spLocks noChangeArrowheads="1"/>
          </p:cNvSpPr>
          <p:nvPr/>
        </p:nvSpPr>
        <p:spPr bwMode="auto">
          <a:xfrm>
            <a:off x="2636456" y="6141538"/>
            <a:ext cx="335906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u="sng" dirty="0">
                <a:solidFill>
                  <a:srgbClr val="FF0000"/>
                </a:solidFill>
              </a:rPr>
              <a:t>Fast</a:t>
            </a:r>
            <a:r>
              <a:rPr lang="en-US" sz="2000" i="1" dirty="0">
                <a:solidFill>
                  <a:srgbClr val="FF0000"/>
                </a:solidFill>
              </a:rPr>
              <a:t> inexpensive local network</a:t>
            </a:r>
          </a:p>
        </p:txBody>
      </p:sp>
      <p:sp>
        <p:nvSpPr>
          <p:cNvPr id="789543" name="Text Box 1063"/>
          <p:cNvSpPr txBox="1">
            <a:spLocks noChangeArrowheads="1"/>
          </p:cNvSpPr>
          <p:nvPr/>
        </p:nvSpPr>
        <p:spPr bwMode="auto">
          <a:xfrm>
            <a:off x="6084381" y="5053003"/>
            <a:ext cx="402748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u="sng" dirty="0">
                <a:solidFill>
                  <a:srgbClr val="FF0000"/>
                </a:solidFill>
              </a:rPr>
              <a:t>Slower</a:t>
            </a:r>
            <a:r>
              <a:rPr lang="en-US" i="1" dirty="0">
                <a:solidFill>
                  <a:srgbClr val="FF0000"/>
                </a:solidFill>
              </a:rPr>
              <a:t> more expensive global network</a:t>
            </a:r>
          </a:p>
        </p:txBody>
      </p:sp>
    </p:spTree>
    <p:extLst>
      <p:ext uri="{BB962C8B-B14F-4D97-AF65-F5344CB8AC3E}">
        <p14:creationId xmlns:p14="http://schemas.microsoft.com/office/powerpoint/2010/main" val="540593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41" grpId="0"/>
      <p:bldP spid="78954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08284" y="72320"/>
            <a:ext cx="10642596" cy="524311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72596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72596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8D1CE-A1A1-4868-9D04-1CF8EE627A4B}"/>
              </a:ext>
            </a:extLst>
          </p:cNvPr>
          <p:cNvSpPr txBox="1"/>
          <p:nvPr/>
        </p:nvSpPr>
        <p:spPr>
          <a:xfrm>
            <a:off x="6020158" y="1287135"/>
            <a:ext cx="76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6D8D91-374B-48E5-9D80-B9CDAF8B4B61}"/>
              </a:ext>
            </a:extLst>
          </p:cNvPr>
          <p:cNvSpPr txBox="1"/>
          <p:nvPr/>
        </p:nvSpPr>
        <p:spPr>
          <a:xfrm>
            <a:off x="4795492" y="1274501"/>
            <a:ext cx="76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</p:spTree>
    <p:extLst>
      <p:ext uri="{BB962C8B-B14F-4D97-AF65-F5344CB8AC3E}">
        <p14:creationId xmlns:p14="http://schemas.microsoft.com/office/powerpoint/2010/main" val="262921060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socket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362076"/>
            <a:ext cx="7896225" cy="771525"/>
          </a:xfrm>
        </p:spPr>
        <p:txBody>
          <a:bodyPr>
            <a:noAutofit/>
          </a:bodyPr>
          <a:lstStyle/>
          <a:p>
            <a:r>
              <a:rPr lang="en-US" sz="2400" dirty="0"/>
              <a:t>Clients and servers use the </a:t>
            </a:r>
            <a:r>
              <a:rPr lang="en-US" sz="2400" dirty="0">
                <a:latin typeface="Courier New"/>
                <a:cs typeface="Courier New"/>
              </a:rPr>
              <a:t>socket</a:t>
            </a:r>
            <a:r>
              <a:rPr lang="en-US" sz="2400" dirty="0"/>
              <a:t> function to create a </a:t>
            </a:r>
            <a:r>
              <a:rPr lang="en-US" sz="2400" i="1" dirty="0"/>
              <a:t>socket descriptor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Example: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Protocol specific! Best practice is to use </a:t>
            </a:r>
            <a:r>
              <a:rPr lang="en-US" sz="2400" dirty="0" err="1">
                <a:latin typeface="Courier New"/>
                <a:cs typeface="Courier New"/>
              </a:rPr>
              <a:t>getaddrinfo</a:t>
            </a:r>
            <a:r>
              <a:rPr lang="en-US" sz="2400" dirty="0"/>
              <a:t> to generate the parameters automatically, so that code is protocol independent.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2324" y="2209800"/>
            <a:ext cx="5848677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socket(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domain,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type,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protocol)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152324" y="3124200"/>
            <a:ext cx="5971807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clientfd</a:t>
            </a:r>
            <a:r>
              <a:rPr lang="en-US" sz="1600" dirty="0">
                <a:latin typeface="Courier New" pitchFamily="49" charset="0"/>
              </a:rPr>
              <a:t> = socket(AF_INET, SOCK_STREAM, 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2" y="3886201"/>
            <a:ext cx="281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Indicates that we are using 32-bit IPV4 addresses</a:t>
            </a:r>
          </a:p>
        </p:txBody>
      </p:sp>
      <p:cxnSp>
        <p:nvCxnSpPr>
          <p:cNvPr id="10" name="Straight Arrow Connector 9"/>
          <p:cNvCxnSpPr>
            <a:stCxn id="8" idx="0"/>
            <a:endCxn id="7" idx="2"/>
          </p:cNvCxnSpPr>
          <p:nvPr/>
        </p:nvCxnSpPr>
        <p:spPr bwMode="auto">
          <a:xfrm flipV="1">
            <a:off x="3924301" y="3462754"/>
            <a:ext cx="1213926" cy="423446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248401" y="3886200"/>
            <a:ext cx="2819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Indicates that the socket will be the end point of a connection</a:t>
            </a:r>
          </a:p>
        </p:txBody>
      </p:sp>
      <p:cxnSp>
        <p:nvCxnSpPr>
          <p:cNvPr id="17" name="Straight Arrow Connector 16"/>
          <p:cNvCxnSpPr>
            <a:stCxn id="15" idx="0"/>
          </p:cNvCxnSpPr>
          <p:nvPr/>
        </p:nvCxnSpPr>
        <p:spPr bwMode="auto">
          <a:xfrm flipH="1" flipV="1">
            <a:off x="6781800" y="3462754"/>
            <a:ext cx="876300" cy="423446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55560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28602" y="0"/>
            <a:ext cx="10363198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51708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4571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829FDF-FA01-4A00-8E6F-70300793A766}"/>
              </a:ext>
            </a:extLst>
          </p:cNvPr>
          <p:cNvSpPr txBox="1"/>
          <p:nvPr/>
        </p:nvSpPr>
        <p:spPr>
          <a:xfrm>
            <a:off x="5926854" y="1966300"/>
            <a:ext cx="89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531E52-A675-4E20-87E6-1287B78241B2}"/>
              </a:ext>
            </a:extLst>
          </p:cNvPr>
          <p:cNvSpPr txBox="1"/>
          <p:nvPr/>
        </p:nvSpPr>
        <p:spPr>
          <a:xfrm>
            <a:off x="4698240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20DB4F-39CD-4117-A979-B03818B83DA9}"/>
              </a:ext>
            </a:extLst>
          </p:cNvPr>
          <p:cNvSpPr txBox="1"/>
          <p:nvPr/>
        </p:nvSpPr>
        <p:spPr>
          <a:xfrm>
            <a:off x="4849704" y="1269316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0D58F0-1EA6-4CA5-B9F1-88775A92F96D}"/>
              </a:ext>
            </a:extLst>
          </p:cNvPr>
          <p:cNvSpPr txBox="1"/>
          <p:nvPr/>
        </p:nvSpPr>
        <p:spPr>
          <a:xfrm>
            <a:off x="6005318" y="1290846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</p:spTree>
    <p:extLst>
      <p:ext uri="{BB962C8B-B14F-4D97-AF65-F5344CB8AC3E}">
        <p14:creationId xmlns:p14="http://schemas.microsoft.com/office/powerpoint/2010/main" val="356153213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bind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196" y="1372236"/>
            <a:ext cx="8213725" cy="771525"/>
          </a:xfrm>
        </p:spPr>
        <p:txBody>
          <a:bodyPr>
            <a:noAutofit/>
          </a:bodyPr>
          <a:lstStyle/>
          <a:p>
            <a:r>
              <a:rPr lang="en-US" sz="2400" dirty="0"/>
              <a:t>A server uses  </a:t>
            </a:r>
            <a:r>
              <a:rPr lang="en-US" sz="2400" dirty="0">
                <a:latin typeface="Courier New"/>
                <a:cs typeface="Courier New"/>
              </a:rPr>
              <a:t>bind</a:t>
            </a:r>
            <a:r>
              <a:rPr lang="en-US" sz="2400" dirty="0"/>
              <a:t> to ask the kernel to associate the server’s socket address with a socket descriptor: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ourier New" pitchFamily="49" charset="0"/>
              </a:rPr>
              <a:t>      </a:t>
            </a:r>
            <a:r>
              <a:rPr lang="en-US" sz="1800" dirty="0">
                <a:cs typeface="Calibri" panose="020F0502020204030204" pitchFamily="34" charset="0"/>
              </a:rPr>
              <a:t>Recall: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</a:rPr>
              <a:t>typedef struct </a:t>
            </a:r>
            <a:r>
              <a:rPr lang="en-US" sz="1600" dirty="0" err="1">
                <a:latin typeface="Courier New" pitchFamily="49" charset="0"/>
              </a:rPr>
              <a:t>sockaddr</a:t>
            </a:r>
            <a:r>
              <a:rPr lang="en-US" sz="1600" dirty="0">
                <a:latin typeface="Courier New" pitchFamily="49" charset="0"/>
              </a:rPr>
              <a:t> SA;</a:t>
            </a:r>
            <a:endParaRPr lang="en-US" sz="2400" dirty="0"/>
          </a:p>
          <a:p>
            <a:r>
              <a:rPr lang="en-US" sz="2400" dirty="0"/>
              <a:t>Process can read bytes that arrive on the connection whose endpoint is  </a:t>
            </a:r>
            <a:r>
              <a:rPr lang="en-US" sz="2400" dirty="0" err="1">
                <a:latin typeface="Courier New"/>
                <a:cs typeface="Courier New"/>
              </a:rPr>
              <a:t>addr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/>
              <a:t>by reading from descriptor </a:t>
            </a:r>
            <a:r>
              <a:rPr lang="en-US" sz="2400" dirty="0" err="1">
                <a:latin typeface="Courier New"/>
                <a:cs typeface="Courier New"/>
              </a:rPr>
              <a:t>sockfd</a:t>
            </a:r>
            <a:endParaRPr lang="en-US" sz="2400" dirty="0"/>
          </a:p>
          <a:p>
            <a:r>
              <a:rPr lang="en-US" sz="2400" dirty="0"/>
              <a:t>Similarly, writes to </a:t>
            </a:r>
            <a:r>
              <a:rPr lang="en-US" sz="2400" dirty="0" err="1">
                <a:latin typeface="Courier New"/>
                <a:cs typeface="Courier New"/>
              </a:rPr>
              <a:t>sockfd</a:t>
            </a:r>
            <a:r>
              <a:rPr lang="en-US" sz="2400" dirty="0"/>
              <a:t> are transferred along connection whose endpoint is </a:t>
            </a:r>
            <a:r>
              <a:rPr lang="en-US" sz="2400" dirty="0" err="1">
                <a:latin typeface="Courier New"/>
                <a:cs typeface="Courier New"/>
              </a:rPr>
              <a:t>addr</a:t>
            </a:r>
            <a:endParaRPr lang="en-US" sz="2400" dirty="0">
              <a:latin typeface="Courier New"/>
              <a:cs typeface="Courier New"/>
            </a:endParaRP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cs typeface="Courier New"/>
              </a:rPr>
              <a:t>Best practice is to use </a:t>
            </a:r>
            <a:r>
              <a:rPr lang="en-US" sz="2400" dirty="0" err="1">
                <a:latin typeface="Courier New"/>
                <a:cs typeface="Courier New"/>
              </a:rPr>
              <a:t>getaddrinfo</a:t>
            </a:r>
            <a:r>
              <a:rPr lang="en-US" sz="2400" dirty="0">
                <a:cs typeface="Courier New"/>
              </a:rPr>
              <a:t> to supply the arguments </a:t>
            </a:r>
            <a:r>
              <a:rPr lang="en-US" sz="2400" dirty="0" err="1">
                <a:latin typeface="Courier New"/>
                <a:cs typeface="Courier New"/>
              </a:rPr>
              <a:t>addr</a:t>
            </a:r>
            <a:r>
              <a:rPr lang="en-US" sz="2400" dirty="0">
                <a:cs typeface="Courier New"/>
              </a:rPr>
              <a:t> and </a:t>
            </a:r>
            <a:r>
              <a:rPr lang="en-US" sz="2400" dirty="0" err="1">
                <a:latin typeface="Courier New"/>
                <a:cs typeface="Courier New"/>
              </a:rPr>
              <a:t>addrlen</a:t>
            </a:r>
            <a:r>
              <a:rPr lang="en-US" sz="2400" dirty="0">
                <a:cs typeface="Courier New"/>
              </a:rPr>
              <a:t>.</a:t>
            </a:r>
            <a:endParaRPr lang="en-US" sz="2400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667001" y="2248972"/>
            <a:ext cx="6341199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bind(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socklen_t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1613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314960" y="45768"/>
            <a:ext cx="10657840" cy="583766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498901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49890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1B7502-79D7-473E-B60E-F03C706E6664}"/>
              </a:ext>
            </a:extLst>
          </p:cNvPr>
          <p:cNvSpPr txBox="1"/>
          <p:nvPr/>
        </p:nvSpPr>
        <p:spPr>
          <a:xfrm>
            <a:off x="5984148" y="129821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DE22D8-D0F5-4C7A-A275-9E7DC29C114E}"/>
              </a:ext>
            </a:extLst>
          </p:cNvPr>
          <p:cNvSpPr txBox="1"/>
          <p:nvPr/>
        </p:nvSpPr>
        <p:spPr>
          <a:xfrm>
            <a:off x="5926854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EC9257-6CC8-4F3E-AC34-4A1EEF2AAC69}"/>
              </a:ext>
            </a:extLst>
          </p:cNvPr>
          <p:cNvSpPr txBox="1"/>
          <p:nvPr/>
        </p:nvSpPr>
        <p:spPr>
          <a:xfrm>
            <a:off x="5522368" y="2639652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&lt;-&gt; SA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B6828D-518C-4A69-B891-1C673125AB3F}"/>
              </a:ext>
            </a:extLst>
          </p:cNvPr>
          <p:cNvSpPr txBox="1"/>
          <p:nvPr/>
        </p:nvSpPr>
        <p:spPr>
          <a:xfrm>
            <a:off x="4777363" y="1291127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E760A8-A3B3-4E14-969C-811AB2330F73}"/>
              </a:ext>
            </a:extLst>
          </p:cNvPr>
          <p:cNvSpPr txBox="1"/>
          <p:nvPr/>
        </p:nvSpPr>
        <p:spPr>
          <a:xfrm>
            <a:off x="4698240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6443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listen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362076"/>
            <a:ext cx="7896225" cy="52673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default, kernel assumes that descriptor from socket function is an </a:t>
            </a:r>
            <a:r>
              <a:rPr lang="en-US" i="1" dirty="0">
                <a:solidFill>
                  <a:srgbClr val="FF0000"/>
                </a:solidFill>
              </a:rPr>
              <a:t>active socket </a:t>
            </a:r>
            <a:r>
              <a:rPr lang="en-US" dirty="0"/>
              <a:t>that will be on the client end of a connection.</a:t>
            </a:r>
          </a:p>
          <a:p>
            <a:r>
              <a:rPr lang="en-US" dirty="0"/>
              <a:t>A server calls the listen function to tell the kernel that a descriptor will be used by a server rather than a client: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Converts </a:t>
            </a:r>
            <a:r>
              <a:rPr lang="en-US" dirty="0" err="1">
                <a:latin typeface="Courier New"/>
                <a:cs typeface="Courier New"/>
              </a:rPr>
              <a:t>sockfd</a:t>
            </a:r>
            <a:r>
              <a:rPr lang="en-US" dirty="0"/>
              <a:t> from an active socket to a </a:t>
            </a:r>
            <a:r>
              <a:rPr lang="en-US" i="1" dirty="0">
                <a:solidFill>
                  <a:srgbClr val="FF0000"/>
                </a:solidFill>
              </a:rPr>
              <a:t>listening socket</a:t>
            </a:r>
            <a:r>
              <a:rPr lang="en-US" dirty="0"/>
              <a:t> that can accept connection requests from clients. 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backlog </a:t>
            </a:r>
            <a:r>
              <a:rPr lang="en-US" dirty="0">
                <a:latin typeface="+mn-lt"/>
                <a:cs typeface="Courier New"/>
              </a:rPr>
              <a:t>is a hint about the number of outstanding connection requests that the kernel should queue up before starting to refuse requests.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29000" y="3505200"/>
            <a:ext cx="4617370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listen(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sockfd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backlog);</a:t>
            </a:r>
          </a:p>
        </p:txBody>
      </p:sp>
    </p:spTree>
    <p:extLst>
      <p:ext uri="{BB962C8B-B14F-4D97-AF65-F5344CB8AC3E}">
        <p14:creationId xmlns:p14="http://schemas.microsoft.com/office/powerpoint/2010/main" val="71366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38763" y="35726"/>
            <a:ext cx="10403837" cy="632612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62243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62243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9A24AF-089D-40D3-879F-BA334380BCBA}"/>
              </a:ext>
            </a:extLst>
          </p:cNvPr>
          <p:cNvSpPr txBox="1"/>
          <p:nvPr/>
        </p:nvSpPr>
        <p:spPr>
          <a:xfrm>
            <a:off x="4683895" y="128713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9183C-E367-420F-B022-6CF7DF735CB1}"/>
              </a:ext>
            </a:extLst>
          </p:cNvPr>
          <p:cNvSpPr txBox="1"/>
          <p:nvPr/>
        </p:nvSpPr>
        <p:spPr>
          <a:xfrm>
            <a:off x="4698240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798754-7918-4205-8102-650AE86D983E}"/>
              </a:ext>
            </a:extLst>
          </p:cNvPr>
          <p:cNvSpPr txBox="1"/>
          <p:nvPr/>
        </p:nvSpPr>
        <p:spPr>
          <a:xfrm>
            <a:off x="5959476" y="128713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114D17-B209-4772-94B1-A64BF5A69909}"/>
              </a:ext>
            </a:extLst>
          </p:cNvPr>
          <p:cNvSpPr txBox="1"/>
          <p:nvPr/>
        </p:nvSpPr>
        <p:spPr>
          <a:xfrm>
            <a:off x="5926854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01BA6D-FB28-4AA5-B7C5-5CD1C8E2488D}"/>
              </a:ext>
            </a:extLst>
          </p:cNvPr>
          <p:cNvSpPr txBox="1"/>
          <p:nvPr/>
        </p:nvSpPr>
        <p:spPr>
          <a:xfrm>
            <a:off x="5522368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828761-455A-402B-905C-C00320E7B7FE}"/>
              </a:ext>
            </a:extLst>
          </p:cNvPr>
          <p:cNvSpPr txBox="1"/>
          <p:nvPr/>
        </p:nvSpPr>
        <p:spPr>
          <a:xfrm>
            <a:off x="7313069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831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accept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362076"/>
            <a:ext cx="7896225" cy="5267325"/>
          </a:xfrm>
        </p:spPr>
        <p:txBody>
          <a:bodyPr/>
          <a:lstStyle/>
          <a:p>
            <a:r>
              <a:rPr lang="en-US" dirty="0"/>
              <a:t>Servers wait for connection requests from clients by calling </a:t>
            </a:r>
            <a:r>
              <a:rPr lang="en-US" dirty="0">
                <a:latin typeface="Courier New"/>
                <a:cs typeface="Courier New"/>
              </a:rPr>
              <a:t>accept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Waits for connection request to arrive on the connection bound to </a:t>
            </a:r>
            <a:r>
              <a:rPr lang="en-US" dirty="0" err="1">
                <a:latin typeface="Courier New"/>
                <a:cs typeface="Courier New"/>
              </a:rPr>
              <a:t>listenfd</a:t>
            </a:r>
            <a:r>
              <a:rPr lang="en-US" dirty="0"/>
              <a:t>, then fills in client’s socket address in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r>
              <a:rPr lang="en-US" dirty="0"/>
              <a:t> and size of the socket address in </a:t>
            </a:r>
            <a:r>
              <a:rPr lang="en-US" dirty="0" err="1">
                <a:latin typeface="Courier New"/>
                <a:cs typeface="Courier New"/>
              </a:rPr>
              <a:t>addrlen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Returns a </a:t>
            </a:r>
            <a:r>
              <a:rPr lang="en-US" i="1" dirty="0">
                <a:solidFill>
                  <a:srgbClr val="FF0000"/>
                </a:solidFill>
              </a:rPr>
              <a:t>connected descriptor </a:t>
            </a:r>
            <a:r>
              <a:rPr lang="en-US" dirty="0"/>
              <a:t>that can be used to communicate with the client via Unix I/O routines. </a:t>
            </a:r>
            <a:endParaRPr lang="en-US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667001" y="2266604"/>
            <a:ext cx="6218069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accept(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listenfd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707998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268787"/>
            <a:ext cx="6400800" cy="1283136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370038"/>
              <a:ext cx="838200" cy="888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59082" y="35726"/>
            <a:ext cx="10413998" cy="632612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71771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71771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CD9B02-6C3E-4CA9-8657-D84D796BDEED}"/>
              </a:ext>
            </a:extLst>
          </p:cNvPr>
          <p:cNvSpPr txBox="1"/>
          <p:nvPr/>
        </p:nvSpPr>
        <p:spPr>
          <a:xfrm>
            <a:off x="7313069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FA895E-FAA6-495C-8610-1ADD6904498F}"/>
              </a:ext>
            </a:extLst>
          </p:cNvPr>
          <p:cNvSpPr txBox="1"/>
          <p:nvPr/>
        </p:nvSpPr>
        <p:spPr>
          <a:xfrm>
            <a:off x="4722748" y="1270858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19494-E2E2-4155-B76C-7E37C79303E7}"/>
              </a:ext>
            </a:extLst>
          </p:cNvPr>
          <p:cNvSpPr txBox="1"/>
          <p:nvPr/>
        </p:nvSpPr>
        <p:spPr>
          <a:xfrm>
            <a:off x="5959476" y="1292810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3EF733-DA29-4B07-9856-A35CBAF0656B}"/>
              </a:ext>
            </a:extLst>
          </p:cNvPr>
          <p:cNvSpPr txBox="1"/>
          <p:nvPr/>
        </p:nvSpPr>
        <p:spPr>
          <a:xfrm>
            <a:off x="4698240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66432F-8D31-4E0E-818D-B56FF61DD59D}"/>
              </a:ext>
            </a:extLst>
          </p:cNvPr>
          <p:cNvSpPr txBox="1"/>
          <p:nvPr/>
        </p:nvSpPr>
        <p:spPr>
          <a:xfrm>
            <a:off x="5926854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E6385-EE1B-4A6F-9D17-2A97C6F7996D}"/>
              </a:ext>
            </a:extLst>
          </p:cNvPr>
          <p:cNvSpPr txBox="1"/>
          <p:nvPr/>
        </p:nvSpPr>
        <p:spPr>
          <a:xfrm>
            <a:off x="5522368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</p:spTree>
    <p:extLst>
      <p:ext uri="{BB962C8B-B14F-4D97-AF65-F5344CB8AC3E}">
        <p14:creationId xmlns:p14="http://schemas.microsoft.com/office/powerpoint/2010/main" val="178919356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362076"/>
            <a:ext cx="8061325" cy="7715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client establishes a connection with a server by calling connect: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Attempts to establish a connection with server at socket address </a:t>
            </a:r>
            <a:r>
              <a:rPr lang="en-US" sz="2400" dirty="0" err="1">
                <a:latin typeface="Courier New"/>
                <a:cs typeface="Courier New"/>
              </a:rPr>
              <a:t>addr</a:t>
            </a:r>
            <a:endParaRPr lang="en-US" sz="2400" dirty="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cs typeface="Courier New"/>
              </a:rPr>
              <a:t>If successful, then </a:t>
            </a:r>
            <a:r>
              <a:rPr lang="en-US" sz="2000" b="1" dirty="0" err="1">
                <a:latin typeface="Courier New"/>
                <a:cs typeface="Courier New"/>
              </a:rPr>
              <a:t>clientfd</a:t>
            </a:r>
            <a:r>
              <a:rPr lang="en-US" sz="2000" dirty="0">
                <a:cs typeface="Courier New"/>
              </a:rPr>
              <a:t> is now ready for reading and writing.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cs typeface="Courier New"/>
              </a:rPr>
              <a:t>Resulting connection is  characterized by socket pair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cs typeface="Courier New"/>
              </a:rPr>
              <a:t>	</a:t>
            </a:r>
            <a:r>
              <a:rPr lang="en-US" sz="2000" dirty="0">
                <a:latin typeface="Courier New"/>
                <a:cs typeface="Courier New"/>
              </a:rPr>
              <a:t>(</a:t>
            </a:r>
            <a:r>
              <a:rPr lang="en-US" sz="2000" b="1" dirty="0" err="1">
                <a:latin typeface="Courier New"/>
                <a:cs typeface="Courier New"/>
              </a:rPr>
              <a:t>x:y</a:t>
            </a:r>
            <a:r>
              <a:rPr lang="en-US" sz="2000" dirty="0">
                <a:latin typeface="Courier New"/>
                <a:cs typeface="Courier New"/>
              </a:rPr>
              <a:t>, </a:t>
            </a:r>
            <a:r>
              <a:rPr lang="en-US" sz="2000" b="1" dirty="0" err="1">
                <a:latin typeface="Courier New"/>
                <a:cs typeface="Courier New"/>
              </a:rPr>
              <a:t>addr.sin_addr:addr.sin_port</a:t>
            </a:r>
            <a:r>
              <a:rPr lang="en-US" sz="2000" dirty="0">
                <a:latin typeface="Courier New"/>
                <a:cs typeface="Courier New"/>
              </a:rPr>
              <a:t>)</a:t>
            </a:r>
          </a:p>
          <a:p>
            <a:pPr lvl="2">
              <a:lnSpc>
                <a:spcPct val="100000"/>
              </a:lnSpc>
            </a:pPr>
            <a:r>
              <a:rPr lang="en-US" b="1" dirty="0">
                <a:latin typeface="Courier New"/>
                <a:cs typeface="Courier New"/>
              </a:rPr>
              <a:t>x</a:t>
            </a:r>
            <a:r>
              <a:rPr lang="en-US" dirty="0">
                <a:latin typeface="+mn-lt"/>
                <a:cs typeface="Courier New"/>
              </a:rPr>
              <a:t> is client address</a:t>
            </a:r>
          </a:p>
          <a:p>
            <a:pPr lvl="2">
              <a:lnSpc>
                <a:spcPct val="100000"/>
              </a:lnSpc>
            </a:pPr>
            <a:r>
              <a:rPr lang="en-US" b="1" dirty="0">
                <a:latin typeface="Courier New"/>
                <a:cs typeface="Courier New"/>
              </a:rPr>
              <a:t>y</a:t>
            </a:r>
            <a:r>
              <a:rPr lang="en-US" dirty="0">
                <a:latin typeface="+mn-lt"/>
                <a:cs typeface="Courier New"/>
              </a:rPr>
              <a:t> is ephemeral port that uniquely identifies client process on client host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cs typeface="Courier New"/>
              </a:rPr>
              <a:t>Best practice is to use  </a:t>
            </a:r>
            <a:r>
              <a:rPr lang="en-US" sz="2400" dirty="0" err="1">
                <a:latin typeface="Courier New"/>
                <a:cs typeface="Courier New"/>
              </a:rPr>
              <a:t>getaddrinfo</a:t>
            </a:r>
            <a:r>
              <a:rPr lang="en-US" sz="2400" dirty="0">
                <a:cs typeface="Courier New"/>
              </a:rPr>
              <a:t>  to supply the arguments </a:t>
            </a:r>
            <a:r>
              <a:rPr lang="en-US" sz="2400" dirty="0" err="1">
                <a:latin typeface="Courier New"/>
                <a:cs typeface="Courier New"/>
              </a:rPr>
              <a:t>addr</a:t>
            </a:r>
            <a:r>
              <a:rPr lang="en-US" sz="2400" dirty="0">
                <a:cs typeface="Courier New"/>
              </a:rPr>
              <a:t> and </a:t>
            </a:r>
            <a:r>
              <a:rPr lang="en-US" sz="2400" dirty="0" err="1">
                <a:latin typeface="Courier New"/>
                <a:cs typeface="Courier New"/>
              </a:rPr>
              <a:t>addrlen</a:t>
            </a:r>
            <a:r>
              <a:rPr lang="en-US" sz="2400" dirty="0">
                <a:cs typeface="Courier New"/>
              </a:rPr>
              <a:t>. 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692400" y="2372360"/>
            <a:ext cx="6956852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connect(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clientfd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socklen_t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431016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268787"/>
            <a:ext cx="6400800" cy="1283136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370038"/>
              <a:ext cx="838200" cy="888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48065" y="135408"/>
            <a:ext cx="5057335" cy="56514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45088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45088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CD9B02-6C3E-4CA9-8657-D84D796BDEED}"/>
              </a:ext>
            </a:extLst>
          </p:cNvPr>
          <p:cNvSpPr txBox="1"/>
          <p:nvPr/>
        </p:nvSpPr>
        <p:spPr>
          <a:xfrm>
            <a:off x="7313069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8C37F7-3721-4CC0-9720-EDE45DAFC591}"/>
              </a:ext>
            </a:extLst>
          </p:cNvPr>
          <p:cNvSpPr txBox="1"/>
          <p:nvPr/>
        </p:nvSpPr>
        <p:spPr>
          <a:xfrm>
            <a:off x="7576653" y="3970303"/>
            <a:ext cx="187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connected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connfd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C974AF-B15D-46DA-9D4A-9632368BD0E9}"/>
              </a:ext>
            </a:extLst>
          </p:cNvPr>
          <p:cNvSpPr txBox="1"/>
          <p:nvPr/>
        </p:nvSpPr>
        <p:spPr>
          <a:xfrm>
            <a:off x="4294111" y="3970303"/>
            <a:ext cx="266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connected (to SA) 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FA895E-FAA6-495C-8610-1ADD6904498F}"/>
              </a:ext>
            </a:extLst>
          </p:cNvPr>
          <p:cNvSpPr txBox="1"/>
          <p:nvPr/>
        </p:nvSpPr>
        <p:spPr>
          <a:xfrm>
            <a:off x="4790504" y="1296384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19494-E2E2-4155-B76C-7E37C79303E7}"/>
              </a:ext>
            </a:extLst>
          </p:cNvPr>
          <p:cNvSpPr txBox="1"/>
          <p:nvPr/>
        </p:nvSpPr>
        <p:spPr>
          <a:xfrm>
            <a:off x="6009142" y="1302276"/>
            <a:ext cx="794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3EF733-DA29-4B07-9856-A35CBAF0656B}"/>
              </a:ext>
            </a:extLst>
          </p:cNvPr>
          <p:cNvSpPr txBox="1"/>
          <p:nvPr/>
        </p:nvSpPr>
        <p:spPr>
          <a:xfrm>
            <a:off x="4698240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66432F-8D31-4E0E-818D-B56FF61DD59D}"/>
              </a:ext>
            </a:extLst>
          </p:cNvPr>
          <p:cNvSpPr txBox="1"/>
          <p:nvPr/>
        </p:nvSpPr>
        <p:spPr>
          <a:xfrm>
            <a:off x="5926854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E6385-EE1B-4A6F-9D17-2A97C6F7996D}"/>
              </a:ext>
            </a:extLst>
          </p:cNvPr>
          <p:cNvSpPr txBox="1"/>
          <p:nvPr/>
        </p:nvSpPr>
        <p:spPr>
          <a:xfrm>
            <a:off x="5522368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</p:spTree>
    <p:extLst>
      <p:ext uri="{BB962C8B-B14F-4D97-AF65-F5344CB8AC3E}">
        <p14:creationId xmlns:p14="http://schemas.microsoft.com/office/powerpoint/2010/main" val="425265217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248922" y="55928"/>
            <a:ext cx="11089638" cy="612410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05759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05759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40253"/>
            <a:ext cx="15240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 err="1">
                <a:latin typeface="Courier New" pitchFamily="49" charset="0"/>
              </a:rPr>
              <a:t>open_listenfd</a:t>
            </a:r>
            <a:endParaRPr lang="en-US" sz="1600" b="1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 err="1">
                <a:latin typeface="Courier New" pitchFamily="49" charset="0"/>
              </a:rPr>
              <a:t>open_clientfd</a:t>
            </a:r>
            <a:endParaRPr lang="en-US" sz="1600" b="1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97653"/>
            <a:ext cx="15240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 err="1">
                <a:latin typeface="Courier New" pitchFamily="49" charset="0"/>
              </a:rPr>
              <a:t>getaddrinfo</a:t>
            </a:r>
            <a:endParaRPr lang="en-US" sz="1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028927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20876" y="1362076"/>
            <a:ext cx="7896225" cy="466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Establish a connection with a server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76401" y="1981200"/>
            <a:ext cx="8831865" cy="28007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open_clientfd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hostname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port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hints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Get a list of potential server addresses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memset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(&amp;hints, 0,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hints.ai_socktype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SOCK_STREAM;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Open a connection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AI_NUMERICSERV;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…using numeric port arg.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|= AI_ADDRCONFIG;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Recommended for connections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(hostname, port, &amp;hints,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1" y="44312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885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24884"/>
            <a:ext cx="8839200" cy="762000"/>
          </a:xfrm>
        </p:spPr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Linked List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2092961" y="5413529"/>
            <a:ext cx="8061692" cy="14856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Clients: walk this list, trying each socket address in turn, until the calls to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connect</a:t>
            </a:r>
            <a:r>
              <a:rPr lang="en-US" dirty="0"/>
              <a:t> succeed.</a:t>
            </a:r>
          </a:p>
          <a:p>
            <a:r>
              <a:rPr lang="en-US" dirty="0"/>
              <a:t>Servers: walk the list until calls to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bind</a:t>
            </a:r>
            <a:r>
              <a:rPr lang="en-US" dirty="0"/>
              <a:t> succeed.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996274" y="186815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ai_canonname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5" name="Rectangle 379"/>
          <p:cNvSpPr>
            <a:spLocks noChangeArrowheads="1"/>
          </p:cNvSpPr>
          <p:nvPr/>
        </p:nvSpPr>
        <p:spPr bwMode="auto">
          <a:xfrm>
            <a:off x="1905016" y="13611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result</a:t>
            </a:r>
          </a:p>
        </p:txBody>
      </p:sp>
      <p:sp>
        <p:nvSpPr>
          <p:cNvPr id="6" name="Rectangle 379"/>
          <p:cNvSpPr>
            <a:spLocks noChangeArrowheads="1"/>
          </p:cNvSpPr>
          <p:nvPr/>
        </p:nvSpPr>
        <p:spPr bwMode="auto">
          <a:xfrm>
            <a:off x="3996274" y="2121643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7" name="Rectangle 379"/>
          <p:cNvSpPr>
            <a:spLocks noChangeArrowheads="1"/>
          </p:cNvSpPr>
          <p:nvPr/>
        </p:nvSpPr>
        <p:spPr bwMode="auto">
          <a:xfrm>
            <a:off x="3996274" y="2375129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8" name="Rectangle 379"/>
          <p:cNvSpPr>
            <a:spLocks noChangeArrowheads="1"/>
          </p:cNvSpPr>
          <p:nvPr/>
        </p:nvSpPr>
        <p:spPr bwMode="auto">
          <a:xfrm>
            <a:off x="3996274" y="1487930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9" name="Straight Arrow Connector 8"/>
          <p:cNvCxnSpPr>
            <a:stCxn id="6" idx="3"/>
          </p:cNvCxnSpPr>
          <p:nvPr/>
        </p:nvCxnSpPr>
        <p:spPr bwMode="auto">
          <a:xfrm>
            <a:off x="5327075" y="2248386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379"/>
          <p:cNvSpPr>
            <a:spLocks noChangeArrowheads="1"/>
          </p:cNvSpPr>
          <p:nvPr/>
        </p:nvSpPr>
        <p:spPr bwMode="auto">
          <a:xfrm>
            <a:off x="6087532" y="1994900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3235817" y="1487929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867743" y="1143000"/>
            <a:ext cx="1536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cs typeface="Courier New"/>
              </a:rPr>
              <a:t>addrinfo</a:t>
            </a:r>
            <a:r>
              <a:rPr lang="en-US" sz="1600" dirty="0">
                <a:cs typeface="Courier New"/>
              </a:rPr>
              <a:t> </a:t>
            </a:r>
            <a:r>
              <a:rPr lang="en-US" sz="1600" dirty="0" err="1">
                <a:cs typeface="Courier New"/>
              </a:rPr>
              <a:t>structs</a:t>
            </a:r>
            <a:endParaRPr lang="en-US" sz="1600" dirty="0">
              <a:cs typeface="Courier New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0674" y="1678043"/>
            <a:ext cx="2079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cs typeface="Courier New"/>
              </a:rPr>
              <a:t>Socket address </a:t>
            </a:r>
            <a:r>
              <a:rPr lang="en-US" sz="1600" dirty="0" err="1">
                <a:cs typeface="Courier New"/>
              </a:rPr>
              <a:t>structs</a:t>
            </a:r>
            <a:endParaRPr lang="en-US" sz="1600" dirty="0">
              <a:cs typeface="Courier New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235817" y="1994900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379"/>
          <p:cNvSpPr>
            <a:spLocks noChangeArrowheads="1"/>
          </p:cNvSpPr>
          <p:nvPr/>
        </p:nvSpPr>
        <p:spPr bwMode="auto">
          <a:xfrm>
            <a:off x="1905016" y="1868157"/>
            <a:ext cx="1330800" cy="253486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6" name="Straight Connector 15"/>
          <p:cNvCxnSpPr>
            <a:stCxn id="7" idx="1"/>
          </p:cNvCxnSpPr>
          <p:nvPr/>
        </p:nvCxnSpPr>
        <p:spPr bwMode="auto">
          <a:xfrm flipH="1">
            <a:off x="3616046" y="2501872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/>
          <p:cNvCxnSpPr/>
          <p:nvPr/>
        </p:nvCxnSpPr>
        <p:spPr bwMode="auto">
          <a:xfrm>
            <a:off x="3616045" y="2501872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379"/>
          <p:cNvSpPr>
            <a:spLocks noChangeArrowheads="1"/>
          </p:cNvSpPr>
          <p:nvPr/>
        </p:nvSpPr>
        <p:spPr bwMode="auto">
          <a:xfrm>
            <a:off x="3996274" y="31355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19" name="Rectangle 379"/>
          <p:cNvSpPr>
            <a:spLocks noChangeArrowheads="1"/>
          </p:cNvSpPr>
          <p:nvPr/>
        </p:nvSpPr>
        <p:spPr bwMode="auto">
          <a:xfrm>
            <a:off x="3996274" y="3389072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0" name="Rectangle 379"/>
          <p:cNvSpPr>
            <a:spLocks noChangeArrowheads="1"/>
          </p:cNvSpPr>
          <p:nvPr/>
        </p:nvSpPr>
        <p:spPr bwMode="auto">
          <a:xfrm>
            <a:off x="3996274" y="3642558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1" name="Rectangle 379"/>
          <p:cNvSpPr>
            <a:spLocks noChangeArrowheads="1"/>
          </p:cNvSpPr>
          <p:nvPr/>
        </p:nvSpPr>
        <p:spPr bwMode="auto">
          <a:xfrm>
            <a:off x="3996274" y="2755359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2" name="Straight Arrow Connector 21"/>
          <p:cNvCxnSpPr>
            <a:stCxn id="19" idx="3"/>
          </p:cNvCxnSpPr>
          <p:nvPr/>
        </p:nvCxnSpPr>
        <p:spPr bwMode="auto">
          <a:xfrm>
            <a:off x="5327075" y="3515815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Rectangle 379"/>
          <p:cNvSpPr>
            <a:spLocks noChangeArrowheads="1"/>
          </p:cNvSpPr>
          <p:nvPr/>
        </p:nvSpPr>
        <p:spPr bwMode="auto">
          <a:xfrm>
            <a:off x="6087532" y="3262329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3616046" y="2755358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3616046" y="3769301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616045" y="3769301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616046" y="4022787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379"/>
          <p:cNvSpPr>
            <a:spLocks noChangeArrowheads="1"/>
          </p:cNvSpPr>
          <p:nvPr/>
        </p:nvSpPr>
        <p:spPr bwMode="auto">
          <a:xfrm>
            <a:off x="3996274" y="440301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>
                <a:latin typeface="Courier New"/>
                <a:cs typeface="Courier New"/>
              </a:rPr>
              <a:t>NULL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9" name="Rectangle 379"/>
          <p:cNvSpPr>
            <a:spLocks noChangeArrowheads="1"/>
          </p:cNvSpPr>
          <p:nvPr/>
        </p:nvSpPr>
        <p:spPr bwMode="auto">
          <a:xfrm>
            <a:off x="3996274" y="4656501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30" name="Rectangle 379"/>
          <p:cNvSpPr>
            <a:spLocks noChangeArrowheads="1"/>
          </p:cNvSpPr>
          <p:nvPr/>
        </p:nvSpPr>
        <p:spPr bwMode="auto">
          <a:xfrm>
            <a:off x="3996274" y="490998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31" name="Rectangle 379"/>
          <p:cNvSpPr>
            <a:spLocks noChangeArrowheads="1"/>
          </p:cNvSpPr>
          <p:nvPr/>
        </p:nvSpPr>
        <p:spPr bwMode="auto">
          <a:xfrm>
            <a:off x="3996274" y="4022788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5327075" y="4783244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Rectangle 379"/>
          <p:cNvSpPr>
            <a:spLocks noChangeArrowheads="1"/>
          </p:cNvSpPr>
          <p:nvPr/>
        </p:nvSpPr>
        <p:spPr bwMode="auto">
          <a:xfrm>
            <a:off x="6087532" y="4529758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66571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258" y="0"/>
            <a:ext cx="863458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r>
              <a:rPr lang="en-US" dirty="0">
                <a:latin typeface="+mn-lt"/>
                <a:cs typeface="Courier New"/>
              </a:rPr>
              <a:t> (</a:t>
            </a:r>
            <a:r>
              <a:rPr lang="en-US" dirty="0" err="1">
                <a:latin typeface="+mn-lt"/>
                <a:cs typeface="Courier New"/>
              </a:rPr>
              <a:t>cont</a:t>
            </a:r>
            <a:r>
              <a:rPr lang="en-US" dirty="0">
                <a:latin typeface="+mn-lt"/>
                <a:cs typeface="Courier New"/>
              </a:rPr>
              <a:t>)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8800" y="1524001"/>
            <a:ext cx="8461270" cy="501675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Walk the list for one that we can successfully connect to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(p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p; p =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ai_next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Create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a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ai_family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ai_socktype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     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ai_protocol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)) &lt; 0)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continue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failed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,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try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next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Connect to the server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(connect(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 != -1)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Success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Connect failed, try another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Clean up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freeaddrinfo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(!p)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All connects failed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The last connect succeeded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6790" y="6171427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1482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981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-101600" y="72320"/>
            <a:ext cx="4876799" cy="7378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3985266" y="672862"/>
            <a:ext cx="71461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6771034" y="676906"/>
            <a:ext cx="7718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4343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7162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7162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7162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4572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3581400" y="16300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6400800" y="1630093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6400800" y="230478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6400800" y="2979468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81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5156402" y="3247756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581400" y="3870326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8763942" y="4847956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8001000" y="952501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8153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 err="1">
                <a:latin typeface="Courier New" pitchFamily="49" charset="0"/>
              </a:rPr>
              <a:t>open_listenfd</a:t>
            </a:r>
            <a:endParaRPr lang="en-US" sz="1600" b="1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3276600" y="952501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15240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b="1" dirty="0" err="1">
                <a:latin typeface="Courier New" pitchFamily="49" charset="0"/>
              </a:rPr>
              <a:t>open_clientfd</a:t>
            </a:r>
            <a:endParaRPr lang="en-US" sz="1600" b="1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6400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3581400" y="36874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7162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6400800" y="952500"/>
            <a:ext cx="14478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 err="1">
                <a:latin typeface="Courier New" pitchFamily="49" charset="0"/>
              </a:rPr>
              <a:t>getaddrinfo</a:t>
            </a:r>
            <a:endParaRPr lang="en-US" sz="1400" b="1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4343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3581401" y="952500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44617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0"/>
            <a:ext cx="8915400" cy="762000"/>
          </a:xfrm>
        </p:spPr>
        <p:txBody>
          <a:bodyPr/>
          <a:lstStyle/>
          <a:p>
            <a:r>
              <a:rPr lang="en-US" dirty="0"/>
              <a:t>Sockets </a:t>
            </a:r>
            <a:r>
              <a:rPr lang="en-US" dirty="0">
                <a:latin typeface="+mn-lt"/>
              </a:rPr>
              <a:t>Helper</a:t>
            </a:r>
            <a:r>
              <a:rPr lang="en-US" dirty="0">
                <a:latin typeface="+mn-lt"/>
                <a:cs typeface="Courier New"/>
              </a:rPr>
              <a:t>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20876" y="1362075"/>
            <a:ext cx="7896225" cy="4972050"/>
          </a:xfrm>
        </p:spPr>
        <p:txBody>
          <a:bodyPr/>
          <a:lstStyle/>
          <a:p>
            <a:r>
              <a:rPr lang="en-US" dirty="0"/>
              <a:t>Create a listening descriptor that can be used to accept connection requests from clients.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83736" y="2362201"/>
            <a:ext cx="8831865" cy="329320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open_listenfd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port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hints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optval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=1;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Get a list of potential server addresses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memset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(&amp;hints, 0,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hints.ai_socktype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SOCK_STREAM;     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Accept connect.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AI_PASSIVE | AI_ADDRCONFIG;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…on any IP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addr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|= AI_NUMERICSERV;    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…using port no.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port, &amp;hints,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22320" y="53456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5434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78" y="0"/>
            <a:ext cx="875650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83735" y="1524001"/>
            <a:ext cx="8214208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Walk the list for one that we can bind to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(p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p; p =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ai_next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Create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a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ai_family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ai_socktype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     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ai_protocol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)) &lt; 0)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continue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failed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,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try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next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Eliminates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"Address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already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in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use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"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error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from bind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setsockopt(listenfd, SOL_SOCKET, SO_REUSEADDR, 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(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const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*)&amp;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optval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, 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Bind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to the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address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bind(listenfd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ai_addrlen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 == 0)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Success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Bind failed, try the next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67801" y="51932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270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38" y="0"/>
            <a:ext cx="886826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83735" y="1524000"/>
            <a:ext cx="8461270" cy="30469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Clean up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freeaddrinfo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(!p)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No address worked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endParaRPr lang="is-I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Make it a listening socket ready to accept conn. requests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(listen(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LISTENQ) &lt;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1320" y="42026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942307" y="5420813"/>
            <a:ext cx="8307387" cy="86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Key point: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and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are both independent of any particular version of IP.</a:t>
            </a:r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15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0496" y="1967062"/>
            <a:ext cx="50328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6197ED"/>
                </a:solidFill>
                <a:latin typeface="Calibri" panose="020F0502020204030204" pitchFamily="34" charset="0"/>
              </a:rPr>
              <a:t>Case Study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4048903" y="4325706"/>
            <a:ext cx="48624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Tiny Web Server</a:t>
            </a:r>
          </a:p>
        </p:txBody>
      </p:sp>
    </p:spTree>
    <p:extLst>
      <p:ext uri="{BB962C8B-B14F-4D97-AF65-F5344CB8AC3E}">
        <p14:creationId xmlns:p14="http://schemas.microsoft.com/office/powerpoint/2010/main" val="23740867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Tiny Web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684" y="1320800"/>
            <a:ext cx="8330237" cy="48561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Tiny Web server described in textbook (CS:APP)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Tiny is a sequential Web server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Serves static and dynamic content to real browsers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text files, HTML files, GIF, PNG, and JPEG images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239 lines of commented C code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Not as complete or robust as a real Web server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You can break it with poorly-formed HTTP requests (e.g., terminate lines with “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800" dirty="0"/>
              <a:t>” instead of “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\r\n</a:t>
            </a:r>
            <a:r>
              <a:rPr lang="en-US" sz="28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39791640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Tiny Operation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51684" y="1207009"/>
            <a:ext cx="8513117" cy="496995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Accept connection from client</a:t>
            </a:r>
          </a:p>
          <a:p>
            <a:pPr>
              <a:lnSpc>
                <a:spcPct val="100000"/>
              </a:lnSpc>
            </a:pPr>
            <a:r>
              <a:rPr lang="en-US" dirty="0"/>
              <a:t>Read request from client (via connected socket)</a:t>
            </a:r>
          </a:p>
          <a:p>
            <a:pPr>
              <a:lnSpc>
                <a:spcPct val="100000"/>
              </a:lnSpc>
            </a:pPr>
            <a:r>
              <a:rPr lang="en-US" dirty="0"/>
              <a:t>Split into &lt;method&gt;  &lt;</a:t>
            </a:r>
            <a:r>
              <a:rPr lang="en-US" dirty="0" err="1"/>
              <a:t>uri</a:t>
            </a:r>
            <a:r>
              <a:rPr lang="en-US" dirty="0"/>
              <a:t>&gt; &lt;version&gt;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If method not GET, then return error</a:t>
            </a:r>
          </a:p>
          <a:p>
            <a:pPr>
              <a:lnSpc>
                <a:spcPct val="100000"/>
              </a:lnSpc>
            </a:pPr>
            <a:r>
              <a:rPr lang="en-US" dirty="0"/>
              <a:t>If URI contains “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cgi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-bin</a:t>
            </a:r>
            <a:r>
              <a:rPr lang="en-US" dirty="0"/>
              <a:t>” then serve dynamic content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(Would do wrong thing if had file “</a:t>
            </a:r>
            <a:r>
              <a:rPr lang="en-US" b="1" dirty="0">
                <a:latin typeface="Courier New" panose="02070309020205020404" pitchFamily="49" charset="0"/>
                <a:cs typeface="Courier New" pitchFamily="49" charset="0"/>
              </a:rPr>
              <a:t>abcgi-bingo.html</a:t>
            </a:r>
            <a:r>
              <a:rPr lang="en-US" dirty="0"/>
              <a:t>”)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Fork process to execute program</a:t>
            </a:r>
          </a:p>
          <a:p>
            <a:pPr>
              <a:lnSpc>
                <a:spcPct val="100000"/>
              </a:lnSpc>
            </a:pPr>
            <a:r>
              <a:rPr lang="en-US" dirty="0"/>
              <a:t>Otherwise serve static content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Copy file to output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61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139" y="0"/>
            <a:ext cx="7592093" cy="76200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Tiny Serving Static Content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81200" y="1137820"/>
            <a:ext cx="8305800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serve_static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filename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srcfd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srcp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filetype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[MAXBUF];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Send response headers to client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get_filetype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filename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filetype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);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"HTTP/1.0 200 OK\r\n"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sServer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Tiny Web Server\r\n"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sConnection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close\r\n"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sContent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-length: %d\r\n"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sContent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-type: %s\r\n\r\n"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write(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CB2418"/>
                </a:solidFill>
                <a:latin typeface="Courier New"/>
                <a:cs typeface="Courier New"/>
              </a:rPr>
              <a:t>/* Send response body to client */</a:t>
            </a:r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srcfd = open(filename, O_RDONLY, 0);    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srcp = mmap(0, filesize, PROT_READ, MAP_PRIVATE, srcfd, 0);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srcfd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write(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srcp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m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unmap(srcp, filesize);                 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5090" y="6031468"/>
            <a:ext cx="67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tiny.c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1656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17514"/>
            <a:ext cx="6096000" cy="573087"/>
          </a:xfrm>
        </p:spPr>
        <p:txBody>
          <a:bodyPr vert="horz" lIns="91294" tIns="45647" rIns="91294" bIns="45647" rtlCol="0" anchor="t">
            <a:normAutofit fontScale="90000"/>
          </a:bodyPr>
          <a:lstStyle/>
          <a:p>
            <a:r>
              <a:rPr lang="en-US"/>
              <a:t>Serving Dynamic Content</a:t>
            </a:r>
          </a:p>
        </p:txBody>
      </p:sp>
      <p:sp>
        <p:nvSpPr>
          <p:cNvPr id="771077" name="Rectangle 5"/>
          <p:cNvSpPr>
            <a:spLocks noGrp="1" noChangeArrowheads="1"/>
          </p:cNvSpPr>
          <p:nvPr>
            <p:ph idx="1"/>
          </p:nvPr>
        </p:nvSpPr>
        <p:spPr>
          <a:xfrm>
            <a:off x="1827214" y="1970088"/>
            <a:ext cx="4421187" cy="4456112"/>
          </a:xfrm>
          <a:noFill/>
          <a:ln/>
        </p:spPr>
        <p:txBody>
          <a:bodyPr vert="horz" lIns="90343" tIns="44379" rIns="90343" bIns="44379" rtlCol="0">
            <a:normAutofit/>
          </a:bodyPr>
          <a:lstStyle/>
          <a:p>
            <a:r>
              <a:rPr lang="en-US" dirty="0"/>
              <a:t>Client sends request to server</a:t>
            </a:r>
          </a:p>
          <a:p>
            <a:endParaRPr lang="en-US" dirty="0"/>
          </a:p>
          <a:p>
            <a:r>
              <a:rPr lang="en-US" dirty="0"/>
              <a:t>If request URI contains the string “</a:t>
            </a:r>
            <a:r>
              <a:rPr lang="en-US" dirty="0">
                <a:latin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</a:rPr>
              <a:t>cgi</a:t>
            </a:r>
            <a:r>
              <a:rPr lang="en-US" dirty="0">
                <a:latin typeface="Courier New" pitchFamily="49" charset="0"/>
              </a:rPr>
              <a:t>-bin</a:t>
            </a:r>
            <a:r>
              <a:rPr lang="en-US" dirty="0"/>
              <a:t>”, the Tiny server assumes that the request is for dynamic content </a:t>
            </a:r>
          </a:p>
        </p:txBody>
      </p:sp>
      <p:sp>
        <p:nvSpPr>
          <p:cNvPr id="771075" name="Oval 3"/>
          <p:cNvSpPr>
            <a:spLocks noChangeArrowheads="1"/>
          </p:cNvSpPr>
          <p:nvPr/>
        </p:nvSpPr>
        <p:spPr bwMode="auto">
          <a:xfrm>
            <a:off x="7072313" y="2662238"/>
            <a:ext cx="1065212" cy="989012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dirty="0"/>
              <a:t>Client</a:t>
            </a:r>
          </a:p>
        </p:txBody>
      </p:sp>
      <p:sp>
        <p:nvSpPr>
          <p:cNvPr id="771076" name="Oval 4"/>
          <p:cNvSpPr>
            <a:spLocks noChangeArrowheads="1"/>
          </p:cNvSpPr>
          <p:nvPr/>
        </p:nvSpPr>
        <p:spPr bwMode="auto">
          <a:xfrm>
            <a:off x="9050338" y="2662238"/>
            <a:ext cx="1065212" cy="989012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Server</a:t>
            </a:r>
          </a:p>
        </p:txBody>
      </p:sp>
      <p:sp>
        <p:nvSpPr>
          <p:cNvPr id="771078" name="Line 6"/>
          <p:cNvSpPr>
            <a:spLocks noChangeShapeType="1"/>
          </p:cNvSpPr>
          <p:nvPr/>
        </p:nvSpPr>
        <p:spPr bwMode="auto">
          <a:xfrm>
            <a:off x="8137526" y="3117850"/>
            <a:ext cx="912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1079" name="Text Box 7"/>
          <p:cNvSpPr txBox="1">
            <a:spLocks noChangeArrowheads="1"/>
          </p:cNvSpPr>
          <p:nvPr/>
        </p:nvSpPr>
        <p:spPr bwMode="auto">
          <a:xfrm>
            <a:off x="6524625" y="2130426"/>
            <a:ext cx="40068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dirty="0">
                <a:latin typeface="Courier New" pitchFamily="49" charset="0"/>
              </a:rPr>
              <a:t>GET /</a:t>
            </a:r>
            <a:r>
              <a:rPr lang="en-US" dirty="0" err="1">
                <a:latin typeface="Courier New" pitchFamily="49" charset="0"/>
              </a:rPr>
              <a:t>cgi</a:t>
            </a:r>
            <a:r>
              <a:rPr lang="en-US" dirty="0">
                <a:latin typeface="Courier New" pitchFamily="49" charset="0"/>
              </a:rPr>
              <a:t>-bin/env.pl HTTP/1.1</a:t>
            </a:r>
          </a:p>
        </p:txBody>
      </p:sp>
    </p:spTree>
    <p:extLst>
      <p:ext uri="{BB962C8B-B14F-4D97-AF65-F5344CB8AC3E}">
        <p14:creationId xmlns:p14="http://schemas.microsoft.com/office/powerpoint/2010/main" val="32734097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36514"/>
            <a:ext cx="7772400" cy="573087"/>
          </a:xfrm>
        </p:spPr>
        <p:txBody>
          <a:bodyPr vert="horz" lIns="91294" tIns="45647" rIns="91294" bIns="45647" rtlCol="0" anchor="t">
            <a:normAutofit fontScale="90000"/>
          </a:bodyPr>
          <a:lstStyle/>
          <a:p>
            <a:r>
              <a:rPr lang="en-US"/>
              <a:t>Serving Dynamic Content (cont)</a:t>
            </a:r>
          </a:p>
        </p:txBody>
      </p:sp>
      <p:sp>
        <p:nvSpPr>
          <p:cNvPr id="772101" name="Rectangle 5"/>
          <p:cNvSpPr>
            <a:spLocks noGrp="1" noChangeArrowheads="1"/>
          </p:cNvSpPr>
          <p:nvPr>
            <p:ph idx="1"/>
          </p:nvPr>
        </p:nvSpPr>
        <p:spPr>
          <a:xfrm>
            <a:off x="1827214" y="1970088"/>
            <a:ext cx="4287837" cy="1890712"/>
          </a:xfrm>
          <a:noFill/>
          <a:ln/>
        </p:spPr>
        <p:txBody>
          <a:bodyPr vert="horz" lIns="90343" tIns="44379" rIns="90343" bIns="44379" rtlCol="0">
            <a:normAutofit/>
          </a:bodyPr>
          <a:lstStyle/>
          <a:p>
            <a:r>
              <a:rPr lang="en-US" dirty="0"/>
              <a:t>The server creates a child process and runs the program identified by the URI in that process</a:t>
            </a:r>
          </a:p>
        </p:txBody>
      </p:sp>
      <p:sp>
        <p:nvSpPr>
          <p:cNvPr id="772099" name="Oval 3"/>
          <p:cNvSpPr>
            <a:spLocks noChangeArrowheads="1"/>
          </p:cNvSpPr>
          <p:nvPr/>
        </p:nvSpPr>
        <p:spPr bwMode="auto">
          <a:xfrm>
            <a:off x="6697663" y="1901826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Client</a:t>
            </a:r>
          </a:p>
        </p:txBody>
      </p:sp>
      <p:sp>
        <p:nvSpPr>
          <p:cNvPr id="772100" name="Oval 4"/>
          <p:cNvSpPr>
            <a:spLocks noChangeArrowheads="1"/>
          </p:cNvSpPr>
          <p:nvPr/>
        </p:nvSpPr>
        <p:spPr bwMode="auto">
          <a:xfrm>
            <a:off x="8677276" y="1901826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Server</a:t>
            </a:r>
          </a:p>
        </p:txBody>
      </p:sp>
      <p:sp>
        <p:nvSpPr>
          <p:cNvPr id="772102" name="Oval 6"/>
          <p:cNvSpPr>
            <a:spLocks noChangeArrowheads="1"/>
          </p:cNvSpPr>
          <p:nvPr/>
        </p:nvSpPr>
        <p:spPr bwMode="auto">
          <a:xfrm>
            <a:off x="8683626" y="3498851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>
                <a:latin typeface="Courier New" pitchFamily="49" charset="0"/>
              </a:rPr>
              <a:t>env.pl</a:t>
            </a:r>
          </a:p>
        </p:txBody>
      </p:sp>
      <p:sp>
        <p:nvSpPr>
          <p:cNvPr id="772103" name="Line 7"/>
          <p:cNvSpPr>
            <a:spLocks noChangeShapeType="1"/>
          </p:cNvSpPr>
          <p:nvPr/>
        </p:nvSpPr>
        <p:spPr bwMode="auto">
          <a:xfrm flipV="1">
            <a:off x="9209088" y="289083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2104" name="Text Box 8"/>
          <p:cNvSpPr txBox="1">
            <a:spLocks noChangeArrowheads="1"/>
          </p:cNvSpPr>
          <p:nvPr/>
        </p:nvSpPr>
        <p:spPr bwMode="auto">
          <a:xfrm>
            <a:off x="9178926" y="3011488"/>
            <a:ext cx="14128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>
                <a:latin typeface="Courier New" pitchFamily="49" charset="0"/>
              </a:rPr>
              <a:t>fork/exec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36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99720" y="96204"/>
            <a:ext cx="8229600" cy="573087"/>
          </a:xfrm>
        </p:spPr>
        <p:txBody>
          <a:bodyPr vert="horz" lIns="91294" tIns="45647" rIns="91294" bIns="45647" rtlCol="0" anchor="t">
            <a:normAutofit fontScale="90000"/>
          </a:bodyPr>
          <a:lstStyle/>
          <a:p>
            <a:r>
              <a:rPr lang="en-US" dirty="0"/>
              <a:t>Serving Dynamic Content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773125" name="Rectangle 5"/>
          <p:cNvSpPr>
            <a:spLocks noGrp="1" noChangeArrowheads="1"/>
          </p:cNvSpPr>
          <p:nvPr>
            <p:ph idx="1"/>
          </p:nvPr>
        </p:nvSpPr>
        <p:spPr>
          <a:xfrm>
            <a:off x="1827214" y="1970088"/>
            <a:ext cx="4287837" cy="4456112"/>
          </a:xfrm>
          <a:noFill/>
          <a:ln/>
        </p:spPr>
        <p:txBody>
          <a:bodyPr vert="horz" lIns="90343" tIns="44379" rIns="90343" bIns="44379" rtlCol="0">
            <a:normAutofit/>
          </a:bodyPr>
          <a:lstStyle/>
          <a:p>
            <a:r>
              <a:rPr lang="en-US" dirty="0"/>
              <a:t>The child runs and generates the dynamic content</a:t>
            </a:r>
          </a:p>
          <a:p>
            <a:endParaRPr lang="en-US" dirty="0"/>
          </a:p>
          <a:p>
            <a:r>
              <a:rPr lang="en-US" dirty="0"/>
              <a:t>The server captures the content of the child and forwards it without modification to the client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73123" name="Oval 3"/>
          <p:cNvSpPr>
            <a:spLocks noChangeArrowheads="1"/>
          </p:cNvSpPr>
          <p:nvPr/>
        </p:nvSpPr>
        <p:spPr bwMode="auto">
          <a:xfrm>
            <a:off x="6697663" y="1825626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Client</a:t>
            </a:r>
          </a:p>
        </p:txBody>
      </p:sp>
      <p:sp>
        <p:nvSpPr>
          <p:cNvPr id="773124" name="Oval 4"/>
          <p:cNvSpPr>
            <a:spLocks noChangeArrowheads="1"/>
          </p:cNvSpPr>
          <p:nvPr/>
        </p:nvSpPr>
        <p:spPr bwMode="auto">
          <a:xfrm>
            <a:off x="8677276" y="1825626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Server</a:t>
            </a:r>
          </a:p>
        </p:txBody>
      </p:sp>
      <p:sp>
        <p:nvSpPr>
          <p:cNvPr id="773126" name="Oval 6"/>
          <p:cNvSpPr>
            <a:spLocks noChangeArrowheads="1"/>
          </p:cNvSpPr>
          <p:nvPr/>
        </p:nvSpPr>
        <p:spPr bwMode="auto">
          <a:xfrm>
            <a:off x="8683626" y="3422651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>
                <a:latin typeface="Courier New" pitchFamily="49" charset="0"/>
              </a:rPr>
              <a:t>env.pl</a:t>
            </a:r>
          </a:p>
        </p:txBody>
      </p:sp>
      <p:sp>
        <p:nvSpPr>
          <p:cNvPr id="773127" name="Line 7"/>
          <p:cNvSpPr>
            <a:spLocks noChangeShapeType="1"/>
          </p:cNvSpPr>
          <p:nvPr/>
        </p:nvSpPr>
        <p:spPr bwMode="auto">
          <a:xfrm flipV="1">
            <a:off x="9209088" y="281463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3128" name="Text Box 8"/>
          <p:cNvSpPr txBox="1">
            <a:spLocks noChangeArrowheads="1"/>
          </p:cNvSpPr>
          <p:nvPr/>
        </p:nvSpPr>
        <p:spPr bwMode="auto">
          <a:xfrm>
            <a:off x="9140825" y="2965732"/>
            <a:ext cx="93613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Content</a:t>
            </a:r>
          </a:p>
        </p:txBody>
      </p:sp>
      <p:sp>
        <p:nvSpPr>
          <p:cNvPr id="773129" name="Text Box 9"/>
          <p:cNvSpPr txBox="1">
            <a:spLocks noChangeArrowheads="1"/>
          </p:cNvSpPr>
          <p:nvPr/>
        </p:nvSpPr>
        <p:spPr bwMode="auto">
          <a:xfrm>
            <a:off x="7726363" y="2265645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Content</a:t>
            </a:r>
          </a:p>
        </p:txBody>
      </p:sp>
      <p:sp>
        <p:nvSpPr>
          <p:cNvPr id="773130" name="Line 10"/>
          <p:cNvSpPr>
            <a:spLocks noChangeShapeType="1"/>
          </p:cNvSpPr>
          <p:nvPr/>
        </p:nvSpPr>
        <p:spPr bwMode="auto">
          <a:xfrm flipH="1">
            <a:off x="7764463" y="2281238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228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7174" y="86678"/>
            <a:ext cx="8305800" cy="573087"/>
          </a:xfrm>
        </p:spPr>
        <p:txBody>
          <a:bodyPr vert="horz" lIns="91294" tIns="45647" rIns="91294" bIns="45647" rtlCol="0" anchor="t">
            <a:normAutofit fontScale="90000"/>
          </a:bodyPr>
          <a:lstStyle/>
          <a:p>
            <a:r>
              <a:rPr lang="en-US"/>
              <a:t>Issues in Serving Dynamic Content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idx="1"/>
          </p:nvPr>
        </p:nvSpPr>
        <p:spPr>
          <a:xfrm>
            <a:off x="1903414" y="1595438"/>
            <a:ext cx="5360987" cy="4830762"/>
          </a:xfrm>
        </p:spPr>
        <p:txBody>
          <a:bodyPr vert="horz" lIns="91294" tIns="45647" rIns="91294" bIns="45647" rtlCol="0"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client pass program arguments to the server?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pass these arguments to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pass other info relevant to the request to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capture the content produced by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These issues are addressed by the </a:t>
            </a:r>
            <a:r>
              <a:rPr lang="en-US" dirty="0">
                <a:solidFill>
                  <a:srgbClr val="FF0000"/>
                </a:solidFill>
              </a:rPr>
              <a:t>Common Gateway Interface (CGI) </a:t>
            </a:r>
            <a:r>
              <a:rPr lang="en-US" dirty="0"/>
              <a:t>specification.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dirty="0"/>
          </a:p>
        </p:txBody>
      </p:sp>
      <p:sp>
        <p:nvSpPr>
          <p:cNvPr id="775172" name="Oval 4"/>
          <p:cNvSpPr>
            <a:spLocks noChangeArrowheads="1"/>
          </p:cNvSpPr>
          <p:nvPr/>
        </p:nvSpPr>
        <p:spPr bwMode="auto">
          <a:xfrm>
            <a:off x="6983413" y="1825626"/>
            <a:ext cx="1065212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Client</a:t>
            </a:r>
          </a:p>
        </p:txBody>
      </p:sp>
      <p:sp>
        <p:nvSpPr>
          <p:cNvPr id="775173" name="Oval 5"/>
          <p:cNvSpPr>
            <a:spLocks noChangeArrowheads="1"/>
          </p:cNvSpPr>
          <p:nvPr/>
        </p:nvSpPr>
        <p:spPr bwMode="auto">
          <a:xfrm>
            <a:off x="8961438" y="1825626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/>
              <a:t>Server</a:t>
            </a:r>
          </a:p>
        </p:txBody>
      </p:sp>
      <p:sp>
        <p:nvSpPr>
          <p:cNvPr id="775174" name="Line 6"/>
          <p:cNvSpPr>
            <a:spLocks noChangeShapeType="1"/>
          </p:cNvSpPr>
          <p:nvPr/>
        </p:nvSpPr>
        <p:spPr bwMode="auto">
          <a:xfrm flipH="1" flipV="1">
            <a:off x="9285288" y="2814638"/>
            <a:ext cx="0" cy="684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5175" name="Text Box 7"/>
          <p:cNvSpPr txBox="1">
            <a:spLocks noChangeArrowheads="1"/>
          </p:cNvSpPr>
          <p:nvPr/>
        </p:nvSpPr>
        <p:spPr bwMode="auto">
          <a:xfrm>
            <a:off x="8239125" y="2965732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Content</a:t>
            </a:r>
          </a:p>
        </p:txBody>
      </p:sp>
      <p:sp>
        <p:nvSpPr>
          <p:cNvPr id="775176" name="Text Box 8"/>
          <p:cNvSpPr txBox="1">
            <a:spLocks noChangeArrowheads="1"/>
          </p:cNvSpPr>
          <p:nvPr/>
        </p:nvSpPr>
        <p:spPr bwMode="auto">
          <a:xfrm>
            <a:off x="8010525" y="2129120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Content</a:t>
            </a:r>
          </a:p>
        </p:txBody>
      </p:sp>
      <p:sp>
        <p:nvSpPr>
          <p:cNvPr id="775177" name="Line 9"/>
          <p:cNvSpPr>
            <a:spLocks noChangeShapeType="1"/>
          </p:cNvSpPr>
          <p:nvPr/>
        </p:nvSpPr>
        <p:spPr bwMode="auto">
          <a:xfrm flipH="1">
            <a:off x="8048626" y="2462213"/>
            <a:ext cx="912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/>
          </a:p>
        </p:txBody>
      </p:sp>
      <p:sp>
        <p:nvSpPr>
          <p:cNvPr id="775178" name="Text Box 10"/>
          <p:cNvSpPr txBox="1">
            <a:spLocks noChangeArrowheads="1"/>
          </p:cNvSpPr>
          <p:nvPr/>
        </p:nvSpPr>
        <p:spPr bwMode="auto">
          <a:xfrm>
            <a:off x="7934326" y="1671920"/>
            <a:ext cx="966861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Request</a:t>
            </a:r>
          </a:p>
        </p:txBody>
      </p:sp>
      <p:sp>
        <p:nvSpPr>
          <p:cNvPr id="775179" name="Line 11"/>
          <p:cNvSpPr>
            <a:spLocks noChangeShapeType="1"/>
          </p:cNvSpPr>
          <p:nvPr/>
        </p:nvSpPr>
        <p:spPr bwMode="auto">
          <a:xfrm flipH="1" flipV="1">
            <a:off x="7972426" y="2054225"/>
            <a:ext cx="1065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/>
          </a:p>
        </p:txBody>
      </p:sp>
      <p:sp>
        <p:nvSpPr>
          <p:cNvPr id="775180" name="Line 12"/>
          <p:cNvSpPr>
            <a:spLocks noChangeShapeType="1"/>
          </p:cNvSpPr>
          <p:nvPr/>
        </p:nvSpPr>
        <p:spPr bwMode="auto">
          <a:xfrm flipH="1" flipV="1">
            <a:off x="9742488" y="2738438"/>
            <a:ext cx="0" cy="684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5181" name="Text Box 13"/>
          <p:cNvSpPr txBox="1">
            <a:spLocks noChangeArrowheads="1"/>
          </p:cNvSpPr>
          <p:nvPr/>
        </p:nvSpPr>
        <p:spPr bwMode="auto">
          <a:xfrm>
            <a:off x="9704389" y="2965732"/>
            <a:ext cx="815265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/>
              <a:t>Create</a:t>
            </a:r>
          </a:p>
        </p:txBody>
      </p:sp>
      <p:sp>
        <p:nvSpPr>
          <p:cNvPr id="775182" name="Oval 14"/>
          <p:cNvSpPr>
            <a:spLocks noChangeArrowheads="1"/>
          </p:cNvSpPr>
          <p:nvPr/>
        </p:nvSpPr>
        <p:spPr bwMode="auto">
          <a:xfrm>
            <a:off x="8967788" y="3422651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>
                <a:latin typeface="Courier New" pitchFamily="49" charset="0"/>
              </a:rPr>
              <a:t>env.pl</a:t>
            </a:r>
          </a:p>
        </p:txBody>
      </p:sp>
    </p:spTree>
    <p:extLst>
      <p:ext uri="{BB962C8B-B14F-4D97-AF65-F5344CB8AC3E}">
        <p14:creationId xmlns:p14="http://schemas.microsoft.com/office/powerpoint/2010/main" val="3017003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9093" y="0"/>
            <a:ext cx="8716962" cy="66675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CGI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294" tIns="45647" rIns="91294" bIns="45647" rtlCol="0">
            <a:normAutofit fontScale="92500"/>
          </a:bodyPr>
          <a:lstStyle/>
          <a:p>
            <a:r>
              <a:rPr lang="en-US" dirty="0"/>
              <a:t>Because the children are written according to the CGI spec, they are often called </a:t>
            </a:r>
            <a:r>
              <a:rPr lang="en-US" i="1" dirty="0">
                <a:solidFill>
                  <a:srgbClr val="FF0000"/>
                </a:solidFill>
              </a:rPr>
              <a:t>CGI programs.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CGI really defines a simple standard for transferring information between the client (browser), the server, and the child process.</a:t>
            </a:r>
          </a:p>
          <a:p>
            <a:endParaRPr lang="en-US" dirty="0"/>
          </a:p>
          <a:p>
            <a:r>
              <a:rPr lang="en-US" dirty="0"/>
              <a:t>CGI is the original standard for generating dynamic content. Has been largely replaced by other, faster techniques: 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fastCGI</a:t>
            </a:r>
            <a:r>
              <a:rPr lang="en-US" dirty="0"/>
              <a:t>, Apache modules, Java servlets, Rails controllers</a:t>
            </a:r>
          </a:p>
          <a:p>
            <a:pPr lvl="1"/>
            <a:r>
              <a:rPr lang="en-US" dirty="0"/>
              <a:t>Avoid having to create process on the fly (expensive and slow). </a:t>
            </a:r>
          </a:p>
        </p:txBody>
      </p:sp>
    </p:spTree>
    <p:extLst>
      <p:ext uri="{BB962C8B-B14F-4D97-AF65-F5344CB8AC3E}">
        <p14:creationId xmlns:p14="http://schemas.microsoft.com/office/powerpoint/2010/main" val="26019565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1-05 at 3.08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640" y="1869008"/>
            <a:ext cx="9144000" cy="3849056"/>
          </a:xfrm>
          <a:prstGeom prst="rect">
            <a:avLst/>
          </a:prstGeom>
        </p:spPr>
      </p:pic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20" y="109720"/>
            <a:ext cx="6942138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add.com</a:t>
            </a:r>
            <a:r>
              <a:rPr lang="en-US" dirty="0"/>
              <a:t> Experience</a:t>
            </a:r>
          </a:p>
        </p:txBody>
      </p:sp>
      <p:sp>
        <p:nvSpPr>
          <p:cNvPr id="778246" name="Text Box 6"/>
          <p:cNvSpPr txBox="1">
            <a:spLocks noChangeArrowheads="1"/>
          </p:cNvSpPr>
          <p:nvPr/>
        </p:nvSpPr>
        <p:spPr bwMode="auto">
          <a:xfrm>
            <a:off x="8182440" y="5718064"/>
            <a:ext cx="13901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/>
              <a:t>Output page</a:t>
            </a:r>
          </a:p>
        </p:txBody>
      </p:sp>
      <p:sp>
        <p:nvSpPr>
          <p:cNvPr id="778247" name="Line 7"/>
          <p:cNvSpPr>
            <a:spLocks noChangeShapeType="1"/>
          </p:cNvSpPr>
          <p:nvPr/>
        </p:nvSpPr>
        <p:spPr bwMode="auto">
          <a:xfrm flipH="1" flipV="1">
            <a:off x="6125039" y="4301220"/>
            <a:ext cx="2057400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48" name="Text Box 8"/>
          <p:cNvSpPr txBox="1">
            <a:spLocks noChangeArrowheads="1"/>
          </p:cNvSpPr>
          <p:nvPr/>
        </p:nvSpPr>
        <p:spPr bwMode="auto">
          <a:xfrm>
            <a:off x="3826005" y="1284176"/>
            <a:ext cx="60474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/>
              <a:t>host</a:t>
            </a:r>
          </a:p>
        </p:txBody>
      </p:sp>
      <p:sp>
        <p:nvSpPr>
          <p:cNvPr id="778249" name="Text Box 9"/>
          <p:cNvSpPr txBox="1">
            <a:spLocks noChangeArrowheads="1"/>
          </p:cNvSpPr>
          <p:nvPr/>
        </p:nvSpPr>
        <p:spPr bwMode="auto">
          <a:xfrm>
            <a:off x="5279222" y="1284176"/>
            <a:ext cx="59470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/>
              <a:t>port</a:t>
            </a:r>
          </a:p>
        </p:txBody>
      </p:sp>
      <p:sp>
        <p:nvSpPr>
          <p:cNvPr id="778250" name="Text Box 10"/>
          <p:cNvSpPr txBox="1">
            <a:spLocks noChangeArrowheads="1"/>
          </p:cNvSpPr>
          <p:nvPr/>
        </p:nvSpPr>
        <p:spPr bwMode="auto">
          <a:xfrm>
            <a:off x="6125041" y="1298463"/>
            <a:ext cx="139090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/>
              <a:t>CGI program</a:t>
            </a:r>
          </a:p>
        </p:txBody>
      </p:sp>
      <p:sp>
        <p:nvSpPr>
          <p:cNvPr id="778251" name="Text Box 11"/>
          <p:cNvSpPr txBox="1">
            <a:spLocks noChangeArrowheads="1"/>
          </p:cNvSpPr>
          <p:nvPr/>
        </p:nvSpPr>
        <p:spPr bwMode="auto">
          <a:xfrm>
            <a:off x="8140580" y="1717313"/>
            <a:ext cx="121394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/>
              <a:t>arguments</a:t>
            </a:r>
          </a:p>
        </p:txBody>
      </p:sp>
      <p:sp>
        <p:nvSpPr>
          <p:cNvPr id="778252" name="Line 12"/>
          <p:cNvSpPr>
            <a:spLocks noChangeShapeType="1"/>
          </p:cNvSpPr>
          <p:nvPr/>
        </p:nvSpPr>
        <p:spPr bwMode="auto">
          <a:xfrm flipH="1">
            <a:off x="4159380" y="1717315"/>
            <a:ext cx="0" cy="94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3" name="Line 13"/>
          <p:cNvSpPr>
            <a:spLocks noChangeShapeType="1"/>
          </p:cNvSpPr>
          <p:nvPr/>
        </p:nvSpPr>
        <p:spPr bwMode="auto">
          <a:xfrm flipH="1">
            <a:off x="5593546" y="1665177"/>
            <a:ext cx="0" cy="9834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4" name="Line 14"/>
          <p:cNvSpPr>
            <a:spLocks noChangeShapeType="1"/>
          </p:cNvSpPr>
          <p:nvPr/>
        </p:nvSpPr>
        <p:spPr bwMode="auto">
          <a:xfrm flipH="1">
            <a:off x="6582240" y="1717314"/>
            <a:ext cx="152400" cy="976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5" name="Line 15"/>
          <p:cNvSpPr>
            <a:spLocks noChangeShapeType="1"/>
          </p:cNvSpPr>
          <p:nvPr/>
        </p:nvSpPr>
        <p:spPr bwMode="auto">
          <a:xfrm flipH="1">
            <a:off x="7329953" y="2077133"/>
            <a:ext cx="790575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8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6" grpId="0"/>
      <p:bldP spid="778247" grpId="0" animBg="1"/>
      <p:bldP spid="778248" grpId="0"/>
      <p:bldP spid="778249" grpId="0"/>
      <p:bldP spid="778250" grpId="0"/>
      <p:bldP spid="778251" grpId="0"/>
      <p:bldP spid="778252" grpId="0" animBg="1"/>
      <p:bldP spid="778253" grpId="0" animBg="1"/>
      <p:bldP spid="778254" grpId="0" animBg="1"/>
      <p:bldP spid="77825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01320" y="86360"/>
            <a:ext cx="8382000" cy="609600"/>
          </a:xfrm>
        </p:spPr>
        <p:txBody>
          <a:bodyPr vert="horz" lIns="91294" tIns="45647" rIns="91294" bIns="45647" rtlCol="0" anchor="t">
            <a:normAutofit fontScale="90000"/>
          </a:bodyPr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7792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995364"/>
            <a:ext cx="8305800" cy="5253037"/>
          </a:xfrm>
        </p:spPr>
        <p:txBody>
          <a:bodyPr vert="horz" lIns="91294" tIns="45647" rIns="91294" bIns="45647" rtlCol="0">
            <a:norm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Question:</a:t>
            </a:r>
            <a:r>
              <a:rPr lang="en-US" dirty="0">
                <a:solidFill>
                  <a:schemeClr val="tx1"/>
                </a:solidFill>
              </a:rPr>
              <a:t> How does the client pass arguments to the server?</a:t>
            </a:r>
          </a:p>
          <a:p>
            <a:r>
              <a:rPr lang="en-US" u="sng" dirty="0">
                <a:solidFill>
                  <a:schemeClr val="tx1"/>
                </a:solidFill>
              </a:rPr>
              <a:t>Answer:</a:t>
            </a:r>
            <a:r>
              <a:rPr lang="en-US" dirty="0">
                <a:solidFill>
                  <a:schemeClr val="tx1"/>
                </a:solidFill>
              </a:rPr>
              <a:t> The arguments are appended to the URI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Can be encoded directly in a URL typed to a browser or a URL in an HTML link  </a:t>
            </a:r>
          </a:p>
          <a:p>
            <a:pPr lvl="1"/>
            <a:r>
              <a:rPr lang="en-US" b="1" dirty="0">
                <a:latin typeface="Courier New" pitchFamily="49" charset="0"/>
              </a:rPr>
              <a:t>http://add.com/cgi-bin/</a:t>
            </a:r>
            <a:r>
              <a:rPr lang="en-US" b="1" dirty="0">
                <a:highlight>
                  <a:srgbClr val="FFFF00"/>
                </a:highlight>
                <a:latin typeface="Courier New" pitchFamily="49" charset="0"/>
              </a:rPr>
              <a:t>adder?15213&amp;18213</a:t>
            </a:r>
          </a:p>
          <a:p>
            <a:pPr lvl="1"/>
            <a:r>
              <a:rPr lang="en-US" b="1" dirty="0">
                <a:latin typeface="Courier New" pitchFamily="49" charset="0"/>
              </a:rPr>
              <a:t>adder</a:t>
            </a:r>
            <a:r>
              <a:rPr lang="en-US" dirty="0"/>
              <a:t> is the CGI program on the server that will do the addition.</a:t>
            </a:r>
          </a:p>
          <a:p>
            <a:pPr lvl="1"/>
            <a:r>
              <a:rPr lang="en-US" dirty="0"/>
              <a:t>argument list starts with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?</a:t>
            </a:r>
            <a:r>
              <a:rPr lang="en-US" dirty="0">
                <a:latin typeface="Courier New" pitchFamily="49" charset="0"/>
              </a:rPr>
              <a:t>”</a:t>
            </a:r>
            <a:endParaRPr lang="en-US" dirty="0"/>
          </a:p>
          <a:p>
            <a:pPr lvl="1"/>
            <a:r>
              <a:rPr lang="en-US" dirty="0"/>
              <a:t>arguments separated by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&amp;</a:t>
            </a:r>
            <a:r>
              <a:rPr lang="en-US" dirty="0">
                <a:latin typeface="Courier New" pitchFamily="49" charset="0"/>
              </a:rPr>
              <a:t>”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spaces represented by 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+</a:t>
            </a:r>
            <a:r>
              <a:rPr lang="en-US" dirty="0">
                <a:latin typeface="Courier New" pitchFamily="49" charset="0"/>
              </a:rPr>
              <a:t>” or “</a:t>
            </a:r>
            <a:r>
              <a:rPr lang="en-US" b="1" dirty="0">
                <a:latin typeface="Courier New" pitchFamily="49" charset="0"/>
              </a:rPr>
              <a:t>%20</a:t>
            </a:r>
            <a:r>
              <a:rPr lang="en-US" dirty="0">
                <a:latin typeface="Courier New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84205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8920" y="0"/>
            <a:ext cx="8534400" cy="68580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294" tIns="45647" rIns="91294" bIns="45647" rtlCol="0">
            <a:normAutofit/>
          </a:bodyPr>
          <a:lstStyle/>
          <a:p>
            <a:r>
              <a:rPr lang="en-US" dirty="0"/>
              <a:t>URL suffix: 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cgi</a:t>
            </a:r>
            <a:r>
              <a:rPr lang="en-US" b="1" dirty="0">
                <a:latin typeface="Courier New" pitchFamily="49" charset="0"/>
              </a:rPr>
              <a:t>-bin/adder?15213&amp;18213</a:t>
            </a:r>
          </a:p>
          <a:p>
            <a:endParaRPr lang="en-US" dirty="0"/>
          </a:p>
          <a:p>
            <a:r>
              <a:rPr lang="en-US" dirty="0"/>
              <a:t>Result displayed on browser: </a:t>
            </a:r>
          </a:p>
        </p:txBody>
      </p:sp>
      <p:sp>
        <p:nvSpPr>
          <p:cNvPr id="780292" name="Rectangle 4"/>
          <p:cNvSpPr>
            <a:spLocks noChangeArrowheads="1"/>
          </p:cNvSpPr>
          <p:nvPr/>
        </p:nvSpPr>
        <p:spPr bwMode="auto">
          <a:xfrm>
            <a:off x="2667000" y="3818889"/>
            <a:ext cx="7150100" cy="1477319"/>
          </a:xfrm>
          <a:prstGeom prst="rect">
            <a:avLst/>
          </a:prstGeom>
          <a:solidFill>
            <a:srgbClr val="D5F1C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Welcome to add.com: THE Internet addition portal. 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The answer is: 15213 + 18213 = 33426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Thanks for visiting! </a:t>
            </a:r>
          </a:p>
        </p:txBody>
      </p:sp>
    </p:spTree>
    <p:extLst>
      <p:ext uri="{BB962C8B-B14F-4D97-AF65-F5344CB8AC3E}">
        <p14:creationId xmlns:p14="http://schemas.microsoft.com/office/powerpoint/2010/main" val="16741665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6080" y="0"/>
            <a:ext cx="8382000" cy="68580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220788"/>
            <a:ext cx="7804150" cy="2284412"/>
          </a:xfrm>
        </p:spPr>
        <p:txBody>
          <a:bodyPr vert="horz" lIns="91294" tIns="45647" rIns="91294" bIns="45647" rtlCol="0">
            <a:normAutofit/>
          </a:bodyPr>
          <a:lstStyle/>
          <a:p>
            <a:r>
              <a:rPr lang="en-US" u="sng" dirty="0"/>
              <a:t>Question</a:t>
            </a:r>
            <a:r>
              <a:rPr lang="en-US" dirty="0"/>
              <a:t>: How does the server pass these arguments to the child?</a:t>
            </a:r>
          </a:p>
          <a:p>
            <a:r>
              <a:rPr lang="en-US" u="sng" dirty="0"/>
              <a:t>Answer:</a:t>
            </a:r>
            <a:r>
              <a:rPr lang="en-US" dirty="0"/>
              <a:t> In environment variable QUERY_STRING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A single string containing everything after the “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For add: </a:t>
            </a:r>
            <a:r>
              <a:rPr lang="en-US" b="1" dirty="0">
                <a:latin typeface="Courier New" pitchFamily="49" charset="0"/>
              </a:rPr>
              <a:t>QUERY_STRING</a:t>
            </a:r>
            <a:r>
              <a:rPr lang="en-US" b="1" dirty="0"/>
              <a:t> = </a:t>
            </a:r>
            <a:r>
              <a:rPr lang="en-US" b="1" dirty="0">
                <a:latin typeface="+mn-lt"/>
                <a:cs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15213&amp;18213</a:t>
            </a:r>
            <a:r>
              <a:rPr lang="en-US" b="1" dirty="0"/>
              <a:t>”</a:t>
            </a:r>
          </a:p>
        </p:txBody>
      </p:sp>
      <p:sp>
        <p:nvSpPr>
          <p:cNvPr id="781316" name="Text Box 4"/>
          <p:cNvSpPr txBox="1">
            <a:spLocks noChangeArrowheads="1"/>
          </p:cNvSpPr>
          <p:nvPr/>
        </p:nvSpPr>
        <p:spPr bwMode="auto">
          <a:xfrm>
            <a:off x="2302066" y="3586878"/>
            <a:ext cx="6994335" cy="258532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dirty="0">
                <a:solidFill>
                  <a:srgbClr val="CB2418"/>
                </a:solidFill>
                <a:latin typeface="Courier New"/>
                <a:cs typeface="Courier New"/>
              </a:rPr>
              <a:t>/* Extract the two arguments */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getenv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dirty="0">
                <a:solidFill>
                  <a:srgbClr val="9D206F"/>
                </a:solidFill>
                <a:latin typeface="Courier New"/>
                <a:cs typeface="Courier New"/>
              </a:rPr>
              <a:t>"QUERY_STRING"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)) != </a:t>
            </a:r>
            <a:r>
              <a:rPr lang="en-US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fr-FR" dirty="0">
                <a:solidFill>
                  <a:srgbClr val="000000"/>
                </a:solidFill>
                <a:latin typeface="Courier New"/>
                <a:cs typeface="Courier New"/>
              </a:rPr>
              <a:t>        p = </a:t>
            </a:r>
            <a:r>
              <a:rPr lang="fr-FR" dirty="0" err="1">
                <a:solidFill>
                  <a:srgbClr val="000000"/>
                </a:solidFill>
                <a:latin typeface="Courier New"/>
                <a:cs typeface="Courier New"/>
              </a:rPr>
              <a:t>strchr</a:t>
            </a:r>
            <a:r>
              <a:rPr lang="fr-FR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r-FR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fr-FR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r-FR" dirty="0">
                <a:solidFill>
                  <a:srgbClr val="9D206F"/>
                </a:solidFill>
                <a:latin typeface="Courier New"/>
                <a:cs typeface="Courier New"/>
              </a:rPr>
              <a:t>'&amp;'</a:t>
            </a:r>
            <a:r>
              <a:rPr lang="fr-FR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tr-TR" dirty="0">
                <a:solidFill>
                  <a:srgbClr val="000000"/>
                </a:solidFill>
                <a:latin typeface="Courier New"/>
                <a:cs typeface="Courier New"/>
              </a:rPr>
              <a:t>	 *p = </a:t>
            </a:r>
            <a:r>
              <a:rPr lang="tr-TR" dirty="0">
                <a:solidFill>
                  <a:srgbClr val="9D206F"/>
                </a:solidFill>
                <a:latin typeface="Courier New"/>
                <a:cs typeface="Courier New"/>
              </a:rPr>
              <a:t>'\0'</a:t>
            </a:r>
            <a:r>
              <a:rPr lang="tr-TR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e-DE" dirty="0" err="1">
                <a:solidFill>
                  <a:srgbClr val="000000"/>
                </a:solidFill>
                <a:latin typeface="Courier New"/>
                <a:cs typeface="Courier New"/>
              </a:rPr>
              <a:t>strcpy</a:t>
            </a:r>
            <a:r>
              <a:rPr lang="de-DE" dirty="0">
                <a:solidFill>
                  <a:srgbClr val="000000"/>
                </a:solidFill>
                <a:latin typeface="Courier New"/>
                <a:cs typeface="Courier New"/>
              </a:rPr>
              <a:t>(arg1, </a:t>
            </a:r>
            <a:r>
              <a:rPr lang="de-DE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de-DE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e-DE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e-DE" dirty="0" err="1">
                <a:solidFill>
                  <a:srgbClr val="000000"/>
                </a:solidFill>
                <a:latin typeface="Courier New"/>
                <a:cs typeface="Courier New"/>
              </a:rPr>
              <a:t>strcpy</a:t>
            </a:r>
            <a:r>
              <a:rPr lang="de-DE" dirty="0">
                <a:solidFill>
                  <a:srgbClr val="000000"/>
                </a:solidFill>
                <a:latin typeface="Courier New"/>
                <a:cs typeface="Courier New"/>
              </a:rPr>
              <a:t>(arg2, p+1);</a:t>
            </a:r>
          </a:p>
          <a:p>
            <a:r>
              <a:rPr lang="fi-FI" dirty="0">
                <a:solidFill>
                  <a:srgbClr val="000000"/>
                </a:solidFill>
                <a:latin typeface="Courier New"/>
                <a:cs typeface="Courier New"/>
              </a:rPr>
              <a:t>        n1 = atoi(arg1);</a:t>
            </a:r>
          </a:p>
          <a:p>
            <a:r>
              <a:rPr lang="fi-FI" dirty="0">
                <a:solidFill>
                  <a:srgbClr val="000000"/>
                </a:solidFill>
                <a:latin typeface="Courier New"/>
                <a:cs typeface="Courier New"/>
              </a:rPr>
              <a:t>        n2 = atoi(arg2);</a:t>
            </a:r>
          </a:p>
          <a:p>
            <a:r>
              <a:rPr lang="fi-FI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3539" y="5802868"/>
            <a:ext cx="8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adder.c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584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00200" y="2307559"/>
            <a:ext cx="8991600" cy="452431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serve_dynamic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filename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cgiargs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emptylist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[] = {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};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Return first part of HTTP response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sprintf(buf, </a:t>
            </a:r>
            <a:r>
              <a:rPr lang="ro-RO" sz="1600" dirty="0">
                <a:solidFill>
                  <a:srgbClr val="9D206F"/>
                </a:solidFill>
                <a:latin typeface="Courier New"/>
                <a:cs typeface="Courier New"/>
              </a:rPr>
              <a:t>"HTTP/1.0 200 OK\r\n"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Rio_writen(fd, buf, strlen(buf));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sprintf(buf, </a:t>
            </a:r>
            <a:r>
              <a:rPr lang="ro-RO" sz="1600" dirty="0">
                <a:solidFill>
                  <a:srgbClr val="9D206F"/>
                </a:solidFill>
                <a:latin typeface="Courier New"/>
                <a:cs typeface="Courier New"/>
              </a:rPr>
              <a:t>"Server: Tiny Web Server\r\n"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Rio_writen(fd, buf, strlen(buf));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Real server would set all CGI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vars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here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setenv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>
                <a:solidFill>
                  <a:srgbClr val="9D206F"/>
                </a:solidFill>
                <a:latin typeface="Courier New"/>
                <a:cs typeface="Courier New"/>
              </a:rPr>
              <a:t>"QUERY_STRING"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cgiargs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1);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Dup2(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STDOUT_FILENO);        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Redirect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stdout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to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 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Execve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filename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emptylist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environ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Run CGI program */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Wait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Parent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waits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for and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reaps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child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2620"/>
            <a:ext cx="8382000" cy="685800"/>
          </a:xfrm>
        </p:spPr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785411" name="Rectangle 3"/>
          <p:cNvSpPr>
            <a:spLocks noGrp="1" noChangeArrowheads="1"/>
          </p:cNvSpPr>
          <p:nvPr>
            <p:ph idx="1"/>
          </p:nvPr>
        </p:nvSpPr>
        <p:spPr>
          <a:xfrm>
            <a:off x="1968500" y="1123500"/>
            <a:ext cx="8699500" cy="2209800"/>
          </a:xfrm>
        </p:spPr>
        <p:txBody>
          <a:bodyPr vert="horz" lIns="91294" tIns="45647" rIns="91294" bIns="45647" rtlCol="0">
            <a:normAutofit/>
          </a:bodyPr>
          <a:lstStyle/>
          <a:p>
            <a:r>
              <a:rPr lang="en-US" sz="2000" u="sng" dirty="0"/>
              <a:t>Question:</a:t>
            </a:r>
            <a:r>
              <a:rPr lang="en-US" sz="2000" dirty="0"/>
              <a:t> How does the server capture the content produced by the child?</a:t>
            </a:r>
          </a:p>
          <a:p>
            <a:r>
              <a:rPr lang="en-US" sz="2000" u="sng" dirty="0"/>
              <a:t>Answer:</a:t>
            </a:r>
            <a:r>
              <a:rPr lang="en-US" sz="2000" dirty="0"/>
              <a:t> The child generates its output on </a:t>
            </a:r>
            <a:r>
              <a:rPr lang="en-US" sz="2000" dirty="0" err="1">
                <a:latin typeface="Courier New" pitchFamily="49" charset="0"/>
              </a:rPr>
              <a:t>stdout</a:t>
            </a:r>
            <a:r>
              <a:rPr lang="en-US" sz="2000" dirty="0"/>
              <a:t>.  Server uses </a:t>
            </a:r>
            <a:r>
              <a:rPr lang="en-US" sz="2000" dirty="0">
                <a:latin typeface="Courier New" pitchFamily="49" charset="0"/>
              </a:rPr>
              <a:t>dup2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to redirect </a:t>
            </a:r>
            <a:r>
              <a:rPr lang="en-US" sz="2000" dirty="0" err="1">
                <a:latin typeface="Courier New" pitchFamily="49" charset="0"/>
              </a:rPr>
              <a:t>stdout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to its connected socket.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05519" y="6483360"/>
            <a:ext cx="67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tiny.c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725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294" tIns="45647" rIns="91294" bIns="45647" rtlCol="0" anchor="t">
            <a:normAutofit/>
          </a:bodyPr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00200" y="2489028"/>
            <a:ext cx="8991600" cy="353943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Make the response body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"Welcome to 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add.com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sTHE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Internet addition portal.\r\n&lt;p&gt;"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sThe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answer is: %d + %d = %d\r\n&lt;p&gt;"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content, n1, n2, n1 + n2);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sThanks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for visiting!\r\n"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Generate the HTTP response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"Content-length: %d\r\n"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"Content-type: text/html\r\n\r\n"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"%s"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fflush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stdout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exit(0);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26139" y="5673730"/>
            <a:ext cx="8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adder.c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133600" y="1220788"/>
            <a:ext cx="7804150" cy="1035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Notice that only the CGI child process knows the content type and length, so it must generate those headers.</a:t>
            </a:r>
          </a:p>
        </p:txBody>
      </p:sp>
    </p:spTree>
    <p:extLst>
      <p:ext uri="{BB962C8B-B14F-4D97-AF65-F5344CB8AC3E}">
        <p14:creationId xmlns:p14="http://schemas.microsoft.com/office/powerpoint/2010/main" val="14413748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828800" y="1206500"/>
            <a:ext cx="7315200" cy="4278094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bash:makoshark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15213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Trying 128.2.210.175...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Connected to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(128.2.210.175).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GET /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cgi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-bin/adder?15213&amp;18213 HTTP/1.0</a:t>
            </a:r>
          </a:p>
          <a:p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HTTP/1.0 200 OK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Server: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Tiny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Web Server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Connection: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close</a:t>
            </a:r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Content-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length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: 117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Content-type: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text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/html</a:t>
            </a:r>
          </a:p>
          <a:p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Welcome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to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add.com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: THE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Internet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addition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portal.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&lt;p&gt;The answer is: 15213 + 18213 = 33426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&lt;p&gt;Thanks for visiting!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bash:makoshark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</a:t>
            </a:r>
          </a:p>
        </p:txBody>
      </p:sp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94900"/>
            <a:ext cx="8382000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Serving Dynamic Content With GET </a:t>
            </a:r>
          </a:p>
        </p:txBody>
      </p:sp>
      <p:sp>
        <p:nvSpPr>
          <p:cNvPr id="786437" name="Text Box 5"/>
          <p:cNvSpPr txBox="1">
            <a:spLocks noChangeArrowheads="1"/>
          </p:cNvSpPr>
          <p:nvPr/>
        </p:nvSpPr>
        <p:spPr bwMode="auto">
          <a:xfrm>
            <a:off x="7976920" y="2277840"/>
            <a:ext cx="270766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HTTP request sent by client</a:t>
            </a:r>
          </a:p>
        </p:txBody>
      </p:sp>
      <p:sp>
        <p:nvSpPr>
          <p:cNvPr id="786438" name="Text Box 6"/>
          <p:cNvSpPr txBox="1">
            <a:spLocks noChangeArrowheads="1"/>
          </p:cNvSpPr>
          <p:nvPr/>
        </p:nvSpPr>
        <p:spPr bwMode="auto">
          <a:xfrm>
            <a:off x="7976920" y="2781291"/>
            <a:ext cx="2743200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HTTP response generated </a:t>
            </a:r>
          </a:p>
          <a:p>
            <a:pPr algn="l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by the server</a:t>
            </a:r>
          </a:p>
        </p:txBody>
      </p:sp>
      <p:sp>
        <p:nvSpPr>
          <p:cNvPr id="786442" name="Text Box 10"/>
          <p:cNvSpPr txBox="1">
            <a:spLocks noChangeArrowheads="1"/>
          </p:cNvSpPr>
          <p:nvPr/>
        </p:nvSpPr>
        <p:spPr bwMode="auto">
          <a:xfrm>
            <a:off x="7976920" y="3873016"/>
            <a:ext cx="2628412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HTTP response generated </a:t>
            </a:r>
          </a:p>
          <a:p>
            <a:pPr algn="l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by the CGI program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828800" y="2232480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1828800" y="2736420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1828800" y="3444491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1828800" y="4935038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081384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15334" y="36513"/>
            <a:ext cx="6053138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For More Information</a:t>
            </a:r>
          </a:p>
        </p:txBody>
      </p:sp>
      <p:sp>
        <p:nvSpPr>
          <p:cNvPr id="746499" name="Rectangle 3"/>
          <p:cNvSpPr>
            <a:spLocks noGrp="1" noChangeArrowheads="1"/>
          </p:cNvSpPr>
          <p:nvPr>
            <p:ph idx="1"/>
          </p:nvPr>
        </p:nvSpPr>
        <p:spPr>
          <a:xfrm>
            <a:off x="1863861" y="1276350"/>
            <a:ext cx="7896225" cy="497205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W. Richard Stevens et. al. “Unix Network Programming: The Sockets Networking API”, Volume 1, Third Edition, Prentice Hall, 2003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network programming bible.</a:t>
            </a:r>
          </a:p>
          <a:p>
            <a:pPr>
              <a:lnSpc>
                <a:spcPct val="100000"/>
              </a:lnSpc>
            </a:pPr>
            <a:r>
              <a:rPr lang="en-US" dirty="0"/>
              <a:t>Michael </a:t>
            </a:r>
            <a:r>
              <a:rPr lang="en-US" dirty="0" err="1"/>
              <a:t>Kerrisk</a:t>
            </a:r>
            <a:r>
              <a:rPr lang="en-US" dirty="0"/>
              <a:t>, “The Linux Programming Interface”, No Starch Press, 2010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Linux programming bible. </a:t>
            </a:r>
          </a:p>
          <a:p>
            <a:pPr>
              <a:lnSpc>
                <a:spcPct val="100000"/>
              </a:lnSpc>
            </a:pPr>
            <a:r>
              <a:rPr lang="en-US" dirty="0"/>
              <a:t>Code examples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csapp</a:t>
            </a:r>
            <a:r>
              <a:rPr lang="en-US" dirty="0"/>
              <a:t>.{.</a:t>
            </a:r>
            <a:r>
              <a:rPr lang="en-US" dirty="0" err="1"/>
              <a:t>c,h</a:t>
            </a:r>
            <a:r>
              <a:rPr lang="en-US" dirty="0"/>
              <a:t>}, </a:t>
            </a:r>
            <a:r>
              <a:rPr lang="en-US" dirty="0" err="1"/>
              <a:t>hostinfo.c</a:t>
            </a:r>
            <a:r>
              <a:rPr lang="en-US" dirty="0"/>
              <a:t>, </a:t>
            </a:r>
            <a:r>
              <a:rPr lang="en-US" dirty="0" err="1"/>
              <a:t>echoclient.c</a:t>
            </a:r>
            <a:r>
              <a:rPr lang="en-US" dirty="0"/>
              <a:t>, </a:t>
            </a:r>
            <a:r>
              <a:rPr lang="en-US" dirty="0" err="1"/>
              <a:t>echoserveri.c</a:t>
            </a:r>
            <a:r>
              <a:rPr lang="en-US" dirty="0"/>
              <a:t>, </a:t>
            </a:r>
            <a:r>
              <a:rPr lang="en-US" dirty="0" err="1"/>
              <a:t>tiny.c</a:t>
            </a:r>
            <a:r>
              <a:rPr lang="en-US" dirty="0"/>
              <a:t>, </a:t>
            </a:r>
            <a:r>
              <a:rPr lang="en-US" dirty="0" err="1"/>
              <a:t>adder.c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You can use any of this code in your assignments. </a:t>
            </a:r>
          </a:p>
        </p:txBody>
      </p:sp>
    </p:spTree>
    <p:extLst>
      <p:ext uri="{BB962C8B-B14F-4D97-AF65-F5344CB8AC3E}">
        <p14:creationId xmlns:p14="http://schemas.microsoft.com/office/powerpoint/2010/main" val="13548706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3713634" y="1233742"/>
            <a:ext cx="503283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6197ED"/>
                </a:solidFill>
                <a:latin typeface="Calibri" panose="020F0502020204030204" pitchFamily="34" charset="0"/>
              </a:rPr>
              <a:t>BONUS SLIDES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2710108" y="4462301"/>
            <a:ext cx="74207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following slides are for those curious.</a:t>
            </a:r>
          </a:p>
          <a:p>
            <a:r>
              <a:rPr lang="en-US" sz="2800" dirty="0"/>
              <a:t>You will NOT be expected to know this material. </a:t>
            </a:r>
          </a:p>
        </p:txBody>
      </p:sp>
    </p:spTree>
    <p:extLst>
      <p:ext uri="{BB962C8B-B14F-4D97-AF65-F5344CB8AC3E}">
        <p14:creationId xmlns:p14="http://schemas.microsoft.com/office/powerpoint/2010/main" val="23633743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94553" y="122932"/>
            <a:ext cx="7704138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Lowest Level: Ethernet Segment</a:t>
            </a:r>
          </a:p>
        </p:txBody>
      </p:sp>
      <p:sp>
        <p:nvSpPr>
          <p:cNvPr id="708611" name="Rectangle 3"/>
          <p:cNvSpPr>
            <a:spLocks noGrp="1" noChangeArrowheads="1"/>
          </p:cNvSpPr>
          <p:nvPr>
            <p:ph idx="1"/>
          </p:nvPr>
        </p:nvSpPr>
        <p:spPr>
          <a:xfrm>
            <a:off x="1933848" y="2949913"/>
            <a:ext cx="8429352" cy="34508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Ethernet segment consists of a collection of </a:t>
            </a:r>
            <a:r>
              <a:rPr lang="en-US" i="1" dirty="0">
                <a:solidFill>
                  <a:srgbClr val="C00000"/>
                </a:solidFill>
              </a:rPr>
              <a:t>hosts</a:t>
            </a:r>
            <a:r>
              <a:rPr lang="en-US" dirty="0"/>
              <a:t> connected by wires (twisted pairs) to a </a:t>
            </a:r>
            <a:r>
              <a:rPr lang="en-US" i="1" dirty="0">
                <a:solidFill>
                  <a:srgbClr val="C00000"/>
                </a:solidFill>
              </a:rPr>
              <a:t>hub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Spans room or floor in a building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Operation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Ethernet adapter has a unique 48-bit address (MAC address)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E.g., 00:16:ea:e3:54:e6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Hosts send bits to any other host in chunks called </a:t>
            </a:r>
            <a:r>
              <a:rPr lang="en-US" b="1" i="1" dirty="0">
                <a:solidFill>
                  <a:srgbClr val="C00000"/>
                </a:solidFill>
                <a:ea typeface="+mn-ea"/>
                <a:cs typeface="+mn-cs"/>
              </a:rPr>
              <a:t>frames</a:t>
            </a:r>
            <a:endParaRPr lang="en-US" sz="1800" i="1" dirty="0"/>
          </a:p>
          <a:p>
            <a:pPr lvl="1">
              <a:lnSpc>
                <a:spcPct val="90000"/>
              </a:lnSpc>
            </a:pPr>
            <a:r>
              <a:rPr lang="en-US" sz="1800" dirty="0"/>
              <a:t>Hub slavishly copies each bit from each port to every other port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Every host sees every bit</a:t>
            </a:r>
          </a:p>
          <a:p>
            <a:pPr marL="457200" lvl="1" indent="0">
              <a:buNone/>
            </a:pPr>
            <a:r>
              <a:rPr lang="en-US" sz="1600" dirty="0"/>
              <a:t>[Note: Hubs are obsolete. Bridges (switches, routers) became cheap enough to replace them]</a:t>
            </a:r>
          </a:p>
          <a:p>
            <a:pPr>
              <a:lnSpc>
                <a:spcPct val="85000"/>
              </a:lnSpc>
            </a:pPr>
            <a:endParaRPr lang="en-US" sz="1600" i="1" dirty="0"/>
          </a:p>
        </p:txBody>
      </p:sp>
      <p:sp>
        <p:nvSpPr>
          <p:cNvPr id="708612" name="Line 4"/>
          <p:cNvSpPr>
            <a:spLocks noChangeShapeType="1"/>
          </p:cNvSpPr>
          <p:nvPr/>
        </p:nvSpPr>
        <p:spPr bwMode="auto">
          <a:xfrm>
            <a:off x="4829175" y="1766888"/>
            <a:ext cx="8382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8613" name="Line 5"/>
          <p:cNvSpPr>
            <a:spLocks noChangeShapeType="1"/>
          </p:cNvSpPr>
          <p:nvPr/>
        </p:nvSpPr>
        <p:spPr bwMode="auto">
          <a:xfrm>
            <a:off x="5853643" y="176688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8614" name="Line 6"/>
          <p:cNvSpPr>
            <a:spLocks noChangeShapeType="1"/>
          </p:cNvSpPr>
          <p:nvPr/>
        </p:nvSpPr>
        <p:spPr bwMode="auto">
          <a:xfrm flipH="1">
            <a:off x="6048375" y="1766888"/>
            <a:ext cx="685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8615" name="Rectangle 7"/>
          <p:cNvSpPr>
            <a:spLocks noChangeArrowheads="1"/>
          </p:cNvSpPr>
          <p:nvPr/>
        </p:nvSpPr>
        <p:spPr bwMode="auto">
          <a:xfrm>
            <a:off x="4494213" y="14478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708616" name="Rectangle 8"/>
          <p:cNvSpPr>
            <a:spLocks noChangeArrowheads="1"/>
          </p:cNvSpPr>
          <p:nvPr/>
        </p:nvSpPr>
        <p:spPr bwMode="auto">
          <a:xfrm>
            <a:off x="5509156" y="14478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708617" name="Rectangle 9"/>
          <p:cNvSpPr>
            <a:spLocks noChangeArrowheads="1"/>
          </p:cNvSpPr>
          <p:nvPr/>
        </p:nvSpPr>
        <p:spPr bwMode="auto">
          <a:xfrm>
            <a:off x="6456363" y="14478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708618" name="AutoShape 10"/>
          <p:cNvSpPr>
            <a:spLocks noChangeArrowheads="1"/>
          </p:cNvSpPr>
          <p:nvPr/>
        </p:nvSpPr>
        <p:spPr bwMode="auto">
          <a:xfrm>
            <a:off x="5410200" y="2058988"/>
            <a:ext cx="914400" cy="411162"/>
          </a:xfrm>
          <a:prstGeom prst="roundRect">
            <a:avLst>
              <a:gd name="adj" fmla="val 16667"/>
            </a:avLst>
          </a:prstGeom>
          <a:solidFill>
            <a:srgbClr val="F6F5B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hub</a:t>
            </a:r>
          </a:p>
        </p:txBody>
      </p:sp>
      <p:sp>
        <p:nvSpPr>
          <p:cNvPr id="708619" name="Text Box 11"/>
          <p:cNvSpPr txBox="1">
            <a:spLocks noChangeArrowheads="1"/>
          </p:cNvSpPr>
          <p:nvPr/>
        </p:nvSpPr>
        <p:spPr bwMode="auto">
          <a:xfrm>
            <a:off x="6369072" y="1840468"/>
            <a:ext cx="109852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</a:t>
            </a:r>
            <a:r>
              <a:rPr lang="en-US" dirty="0" err="1">
                <a:latin typeface="Calibri" pitchFamily="34" charset="0"/>
              </a:rPr>
              <a:t>s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708620" name="Text Box 12"/>
          <p:cNvSpPr txBox="1">
            <a:spLocks noChangeArrowheads="1"/>
          </p:cNvSpPr>
          <p:nvPr/>
        </p:nvSpPr>
        <p:spPr bwMode="auto">
          <a:xfrm>
            <a:off x="4191000" y="1828800"/>
            <a:ext cx="109852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</a:t>
            </a:r>
            <a:r>
              <a:rPr lang="en-US" dirty="0" err="1">
                <a:latin typeface="Calibri" pitchFamily="34" charset="0"/>
              </a:rPr>
              <a:t>s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708621" name="Text Box 13"/>
          <p:cNvSpPr txBox="1">
            <a:spLocks noChangeArrowheads="1"/>
          </p:cNvSpPr>
          <p:nvPr/>
        </p:nvSpPr>
        <p:spPr bwMode="auto">
          <a:xfrm>
            <a:off x="6756605" y="2458626"/>
            <a:ext cx="59022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port</a:t>
            </a:r>
          </a:p>
        </p:txBody>
      </p:sp>
      <p:sp>
        <p:nvSpPr>
          <p:cNvPr id="708622" name="Line 14"/>
          <p:cNvSpPr>
            <a:spLocks noChangeShapeType="1"/>
          </p:cNvSpPr>
          <p:nvPr/>
        </p:nvSpPr>
        <p:spPr bwMode="auto">
          <a:xfrm flipH="1" flipV="1">
            <a:off x="6242880" y="2122487"/>
            <a:ext cx="535767" cy="504826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5432213" y="2015068"/>
            <a:ext cx="91440" cy="91440"/>
          </a:xfrm>
          <a:prstGeom prst="ellipse">
            <a:avLst/>
          </a:prstGeom>
          <a:solidFill>
            <a:schemeClr val="tx1"/>
          </a:solidFill>
          <a:ln w="28575">
            <a:noFill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 bwMode="auto">
          <a:xfrm>
            <a:off x="5808134" y="2015068"/>
            <a:ext cx="91440" cy="91440"/>
          </a:xfrm>
          <a:prstGeom prst="ellipse">
            <a:avLst/>
          </a:prstGeom>
          <a:solidFill>
            <a:schemeClr val="tx1"/>
          </a:solidFill>
          <a:ln w="28575">
            <a:noFill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 bwMode="auto">
          <a:xfrm>
            <a:off x="6173894" y="2015068"/>
            <a:ext cx="91440" cy="91440"/>
          </a:xfrm>
          <a:prstGeom prst="ellipse">
            <a:avLst/>
          </a:prstGeom>
          <a:solidFill>
            <a:schemeClr val="tx1"/>
          </a:solidFill>
          <a:ln w="28575">
            <a:noFill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66" name="Line 30"/>
          <p:cNvSpPr>
            <a:spLocks noChangeShapeType="1"/>
          </p:cNvSpPr>
          <p:nvPr/>
        </p:nvSpPr>
        <p:spPr bwMode="auto">
          <a:xfrm>
            <a:off x="6163122" y="2704414"/>
            <a:ext cx="0" cy="109728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59684"/>
            <a:ext cx="8216900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Next Level: Bridged Ethernet Segment</a:t>
            </a:r>
          </a:p>
        </p:txBody>
      </p:sp>
      <p:sp>
        <p:nvSpPr>
          <p:cNvPr id="679939" name="Rectangle 3"/>
          <p:cNvSpPr>
            <a:spLocks noGrp="1" noChangeArrowheads="1"/>
          </p:cNvSpPr>
          <p:nvPr>
            <p:ph idx="1"/>
          </p:nvPr>
        </p:nvSpPr>
        <p:spPr>
          <a:xfrm>
            <a:off x="1903414" y="5264151"/>
            <a:ext cx="8307387" cy="112926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85000"/>
              </a:lnSpc>
            </a:pPr>
            <a:r>
              <a:rPr lang="en-US" dirty="0"/>
              <a:t>Spans building or campus</a:t>
            </a:r>
          </a:p>
          <a:p>
            <a:pPr>
              <a:spcBef>
                <a:spcPts val="1200"/>
              </a:spcBef>
            </a:pPr>
            <a:r>
              <a:rPr lang="en-US" dirty="0"/>
              <a:t>Bridges cleverly learn which hosts are reachable from which ports and then selectively copy frames from port to port</a:t>
            </a:r>
          </a:p>
        </p:txBody>
      </p:sp>
      <p:sp>
        <p:nvSpPr>
          <p:cNvPr id="679940" name="Line 4"/>
          <p:cNvSpPr>
            <a:spLocks noChangeShapeType="1"/>
          </p:cNvSpPr>
          <p:nvPr/>
        </p:nvSpPr>
        <p:spPr bwMode="auto">
          <a:xfrm>
            <a:off x="3276600" y="19939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41" name="Line 5"/>
          <p:cNvSpPr>
            <a:spLocks noChangeShapeType="1"/>
          </p:cNvSpPr>
          <p:nvPr/>
        </p:nvSpPr>
        <p:spPr bwMode="auto">
          <a:xfrm>
            <a:off x="4267200" y="19939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42" name="Line 6"/>
          <p:cNvSpPr>
            <a:spLocks noChangeShapeType="1"/>
          </p:cNvSpPr>
          <p:nvPr/>
        </p:nvSpPr>
        <p:spPr bwMode="auto">
          <a:xfrm flipH="1">
            <a:off x="4495800" y="1993900"/>
            <a:ext cx="685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43" name="Rectangle 7"/>
          <p:cNvSpPr>
            <a:spLocks noChangeArrowheads="1"/>
          </p:cNvSpPr>
          <p:nvPr/>
        </p:nvSpPr>
        <p:spPr bwMode="auto">
          <a:xfrm>
            <a:off x="2968625" y="170815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44" name="Rectangle 8"/>
          <p:cNvSpPr>
            <a:spLocks noChangeArrowheads="1"/>
          </p:cNvSpPr>
          <p:nvPr/>
        </p:nvSpPr>
        <p:spPr bwMode="auto">
          <a:xfrm>
            <a:off x="3949700" y="1689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45" name="Rectangle 9"/>
          <p:cNvSpPr>
            <a:spLocks noChangeArrowheads="1"/>
          </p:cNvSpPr>
          <p:nvPr/>
        </p:nvSpPr>
        <p:spPr bwMode="auto">
          <a:xfrm>
            <a:off x="4930775" y="1689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46" name="Line 10"/>
          <p:cNvSpPr>
            <a:spLocks noChangeShapeType="1"/>
          </p:cNvSpPr>
          <p:nvPr/>
        </p:nvSpPr>
        <p:spPr bwMode="auto">
          <a:xfrm>
            <a:off x="8001000" y="19939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47" name="Line 11"/>
          <p:cNvSpPr>
            <a:spLocks noChangeShapeType="1"/>
          </p:cNvSpPr>
          <p:nvPr/>
        </p:nvSpPr>
        <p:spPr bwMode="auto">
          <a:xfrm flipH="1">
            <a:off x="8229600" y="1993900"/>
            <a:ext cx="685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48" name="Rectangle 12"/>
          <p:cNvSpPr>
            <a:spLocks noChangeArrowheads="1"/>
          </p:cNvSpPr>
          <p:nvPr/>
        </p:nvSpPr>
        <p:spPr bwMode="auto">
          <a:xfrm>
            <a:off x="7683500" y="1689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49" name="Rectangle 13"/>
          <p:cNvSpPr>
            <a:spLocks noChangeArrowheads="1"/>
          </p:cNvSpPr>
          <p:nvPr/>
        </p:nvSpPr>
        <p:spPr bwMode="auto">
          <a:xfrm>
            <a:off x="8664575" y="1689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50" name="Line 14"/>
          <p:cNvSpPr>
            <a:spLocks noChangeShapeType="1"/>
          </p:cNvSpPr>
          <p:nvPr/>
        </p:nvSpPr>
        <p:spPr bwMode="auto">
          <a:xfrm>
            <a:off x="4543425" y="25273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51" name="Line 15"/>
          <p:cNvSpPr>
            <a:spLocks noChangeShapeType="1"/>
          </p:cNvSpPr>
          <p:nvPr/>
        </p:nvSpPr>
        <p:spPr bwMode="auto">
          <a:xfrm>
            <a:off x="6524625" y="25273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52" name="AutoShape 16"/>
          <p:cNvSpPr>
            <a:spLocks noChangeArrowheads="1"/>
          </p:cNvSpPr>
          <p:nvPr/>
        </p:nvSpPr>
        <p:spPr bwMode="auto">
          <a:xfrm>
            <a:off x="3995739" y="2301876"/>
            <a:ext cx="592529" cy="408623"/>
          </a:xfrm>
          <a:prstGeom prst="roundRect">
            <a:avLst>
              <a:gd name="adj" fmla="val 16667"/>
            </a:avLst>
          </a:prstGeom>
          <a:solidFill>
            <a:srgbClr val="F6F5B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hub</a:t>
            </a:r>
          </a:p>
        </p:txBody>
      </p:sp>
      <p:sp>
        <p:nvSpPr>
          <p:cNvPr id="679953" name="AutoShape 17"/>
          <p:cNvSpPr>
            <a:spLocks noChangeArrowheads="1"/>
          </p:cNvSpPr>
          <p:nvPr/>
        </p:nvSpPr>
        <p:spPr bwMode="auto">
          <a:xfrm>
            <a:off x="7729539" y="2301876"/>
            <a:ext cx="592529" cy="408623"/>
          </a:xfrm>
          <a:prstGeom prst="roundRect">
            <a:avLst>
              <a:gd name="adj" fmla="val 16667"/>
            </a:avLst>
          </a:prstGeom>
          <a:solidFill>
            <a:srgbClr val="F6F5B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hub</a:t>
            </a:r>
          </a:p>
        </p:txBody>
      </p:sp>
      <p:sp>
        <p:nvSpPr>
          <p:cNvPr id="679954" name="AutoShape 18"/>
          <p:cNvSpPr>
            <a:spLocks noChangeArrowheads="1"/>
          </p:cNvSpPr>
          <p:nvPr/>
        </p:nvSpPr>
        <p:spPr bwMode="auto">
          <a:xfrm>
            <a:off x="5748337" y="2298701"/>
            <a:ext cx="829570" cy="408623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bridge</a:t>
            </a:r>
          </a:p>
        </p:txBody>
      </p:sp>
      <p:sp>
        <p:nvSpPr>
          <p:cNvPr id="679955" name="Text Box 19"/>
          <p:cNvSpPr txBox="1">
            <a:spLocks noChangeArrowheads="1"/>
          </p:cNvSpPr>
          <p:nvPr/>
        </p:nvSpPr>
        <p:spPr bwMode="auto">
          <a:xfrm>
            <a:off x="4635501" y="2209800"/>
            <a:ext cx="10985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Mb/s</a:t>
            </a:r>
          </a:p>
        </p:txBody>
      </p:sp>
      <p:sp>
        <p:nvSpPr>
          <p:cNvPr id="679956" name="Text Box 20"/>
          <p:cNvSpPr txBox="1">
            <a:spLocks noChangeArrowheads="1"/>
          </p:cNvSpPr>
          <p:nvPr/>
        </p:nvSpPr>
        <p:spPr bwMode="auto">
          <a:xfrm>
            <a:off x="6619876" y="2209800"/>
            <a:ext cx="10985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Mb/s</a:t>
            </a:r>
          </a:p>
        </p:txBody>
      </p:sp>
      <p:sp>
        <p:nvSpPr>
          <p:cNvPr id="679957" name="Line 21"/>
          <p:cNvSpPr>
            <a:spLocks noChangeShapeType="1"/>
          </p:cNvSpPr>
          <p:nvPr/>
        </p:nvSpPr>
        <p:spPr bwMode="auto">
          <a:xfrm flipH="1">
            <a:off x="3305175" y="41275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58" name="Line 22"/>
          <p:cNvSpPr>
            <a:spLocks noChangeShapeType="1"/>
          </p:cNvSpPr>
          <p:nvPr/>
        </p:nvSpPr>
        <p:spPr bwMode="auto">
          <a:xfrm flipH="1">
            <a:off x="4295775" y="41275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59" name="Rectangle 23"/>
          <p:cNvSpPr>
            <a:spLocks noChangeArrowheads="1"/>
          </p:cNvSpPr>
          <p:nvPr/>
        </p:nvSpPr>
        <p:spPr bwMode="auto">
          <a:xfrm>
            <a:off x="2997200" y="445135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60" name="Rectangle 24"/>
          <p:cNvSpPr>
            <a:spLocks noChangeArrowheads="1"/>
          </p:cNvSpPr>
          <p:nvPr/>
        </p:nvSpPr>
        <p:spPr bwMode="auto">
          <a:xfrm>
            <a:off x="3978275" y="44323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61" name="Line 25"/>
          <p:cNvSpPr>
            <a:spLocks noChangeShapeType="1"/>
          </p:cNvSpPr>
          <p:nvPr/>
        </p:nvSpPr>
        <p:spPr bwMode="auto">
          <a:xfrm>
            <a:off x="4572000" y="401955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62" name="Line 26"/>
          <p:cNvSpPr>
            <a:spLocks noChangeShapeType="1"/>
          </p:cNvSpPr>
          <p:nvPr/>
        </p:nvSpPr>
        <p:spPr bwMode="auto">
          <a:xfrm>
            <a:off x="6553200" y="401955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63" name="AutoShape 27"/>
          <p:cNvSpPr>
            <a:spLocks noChangeArrowheads="1"/>
          </p:cNvSpPr>
          <p:nvPr/>
        </p:nvSpPr>
        <p:spPr bwMode="auto">
          <a:xfrm>
            <a:off x="4024314" y="3794126"/>
            <a:ext cx="592529" cy="408623"/>
          </a:xfrm>
          <a:prstGeom prst="roundRect">
            <a:avLst>
              <a:gd name="adj" fmla="val 16667"/>
            </a:avLst>
          </a:prstGeom>
          <a:solidFill>
            <a:srgbClr val="F6F5B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hub</a:t>
            </a:r>
          </a:p>
        </p:txBody>
      </p:sp>
      <p:sp>
        <p:nvSpPr>
          <p:cNvPr id="679964" name="Text Box 28"/>
          <p:cNvSpPr txBox="1">
            <a:spLocks noChangeArrowheads="1"/>
          </p:cNvSpPr>
          <p:nvPr/>
        </p:nvSpPr>
        <p:spPr bwMode="auto">
          <a:xfrm>
            <a:off x="4664076" y="3681798"/>
            <a:ext cx="10985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Mb/s</a:t>
            </a:r>
          </a:p>
        </p:txBody>
      </p:sp>
      <p:sp>
        <p:nvSpPr>
          <p:cNvPr id="679965" name="Text Box 29"/>
          <p:cNvSpPr txBox="1">
            <a:spLocks noChangeArrowheads="1"/>
          </p:cNvSpPr>
          <p:nvPr/>
        </p:nvSpPr>
        <p:spPr bwMode="auto">
          <a:xfrm>
            <a:off x="6648451" y="3681798"/>
            <a:ext cx="10985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100 Mb/s</a:t>
            </a:r>
          </a:p>
        </p:txBody>
      </p:sp>
      <p:sp>
        <p:nvSpPr>
          <p:cNvPr id="679967" name="Text Box 31"/>
          <p:cNvSpPr txBox="1">
            <a:spLocks noChangeArrowheads="1"/>
          </p:cNvSpPr>
          <p:nvPr/>
        </p:nvSpPr>
        <p:spPr bwMode="auto">
          <a:xfrm>
            <a:off x="6137060" y="3039762"/>
            <a:ext cx="81003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1 </a:t>
            </a:r>
            <a:r>
              <a:rPr lang="en-US" dirty="0" err="1">
                <a:latin typeface="Calibri" pitchFamily="34" charset="0"/>
              </a:rPr>
              <a:t>Gb</a:t>
            </a:r>
            <a:r>
              <a:rPr lang="en-US" dirty="0">
                <a:latin typeface="Calibri" pitchFamily="34" charset="0"/>
              </a:rPr>
              <a:t>/s</a:t>
            </a:r>
          </a:p>
        </p:txBody>
      </p:sp>
      <p:sp>
        <p:nvSpPr>
          <p:cNvPr id="679968" name="Line 32"/>
          <p:cNvSpPr>
            <a:spLocks noChangeShapeType="1"/>
          </p:cNvSpPr>
          <p:nvPr/>
        </p:nvSpPr>
        <p:spPr bwMode="auto">
          <a:xfrm flipH="1">
            <a:off x="7058025" y="41275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69" name="Line 33"/>
          <p:cNvSpPr>
            <a:spLocks noChangeShapeType="1"/>
          </p:cNvSpPr>
          <p:nvPr/>
        </p:nvSpPr>
        <p:spPr bwMode="auto">
          <a:xfrm flipH="1">
            <a:off x="8048625" y="41275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70" name="Line 34"/>
          <p:cNvSpPr>
            <a:spLocks noChangeShapeType="1"/>
          </p:cNvSpPr>
          <p:nvPr/>
        </p:nvSpPr>
        <p:spPr bwMode="auto">
          <a:xfrm>
            <a:off x="8277225" y="4127500"/>
            <a:ext cx="685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71" name="Rectangle 35"/>
          <p:cNvSpPr>
            <a:spLocks noChangeArrowheads="1"/>
          </p:cNvSpPr>
          <p:nvPr/>
        </p:nvSpPr>
        <p:spPr bwMode="auto">
          <a:xfrm>
            <a:off x="6731000" y="445135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72" name="Rectangle 36"/>
          <p:cNvSpPr>
            <a:spLocks noChangeArrowheads="1"/>
          </p:cNvSpPr>
          <p:nvPr/>
        </p:nvSpPr>
        <p:spPr bwMode="auto">
          <a:xfrm>
            <a:off x="7712075" y="44323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73" name="Rectangle 37"/>
          <p:cNvSpPr>
            <a:spLocks noChangeArrowheads="1"/>
          </p:cNvSpPr>
          <p:nvPr/>
        </p:nvSpPr>
        <p:spPr bwMode="auto">
          <a:xfrm>
            <a:off x="8693150" y="44323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74" name="AutoShape 38"/>
          <p:cNvSpPr>
            <a:spLocks noChangeArrowheads="1"/>
          </p:cNvSpPr>
          <p:nvPr/>
        </p:nvSpPr>
        <p:spPr bwMode="auto">
          <a:xfrm>
            <a:off x="5748337" y="3790951"/>
            <a:ext cx="829570" cy="408623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bridge</a:t>
            </a:r>
          </a:p>
        </p:txBody>
      </p:sp>
      <p:sp>
        <p:nvSpPr>
          <p:cNvPr id="679975" name="Line 39"/>
          <p:cNvSpPr>
            <a:spLocks noChangeShapeType="1"/>
          </p:cNvSpPr>
          <p:nvPr/>
        </p:nvSpPr>
        <p:spPr bwMode="auto">
          <a:xfrm flipH="1">
            <a:off x="8229600" y="3517900"/>
            <a:ext cx="685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76" name="Rectangle 40"/>
          <p:cNvSpPr>
            <a:spLocks noChangeArrowheads="1"/>
          </p:cNvSpPr>
          <p:nvPr/>
        </p:nvSpPr>
        <p:spPr bwMode="auto">
          <a:xfrm>
            <a:off x="8664575" y="3213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77" name="Line 41"/>
          <p:cNvSpPr>
            <a:spLocks noChangeShapeType="1"/>
          </p:cNvSpPr>
          <p:nvPr/>
        </p:nvSpPr>
        <p:spPr bwMode="auto">
          <a:xfrm>
            <a:off x="8039100" y="35179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9978" name="Rectangle 42"/>
          <p:cNvSpPr>
            <a:spLocks noChangeArrowheads="1"/>
          </p:cNvSpPr>
          <p:nvPr/>
        </p:nvSpPr>
        <p:spPr bwMode="auto">
          <a:xfrm>
            <a:off x="7721600" y="3213100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79979" name="AutoShape 43"/>
          <p:cNvSpPr>
            <a:spLocks noChangeArrowheads="1"/>
          </p:cNvSpPr>
          <p:nvPr/>
        </p:nvSpPr>
        <p:spPr bwMode="auto">
          <a:xfrm>
            <a:off x="7758114" y="3794126"/>
            <a:ext cx="592529" cy="408623"/>
          </a:xfrm>
          <a:prstGeom prst="roundRect">
            <a:avLst>
              <a:gd name="adj" fmla="val 16667"/>
            </a:avLst>
          </a:prstGeom>
          <a:solidFill>
            <a:srgbClr val="F6F5B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hub</a:t>
            </a:r>
          </a:p>
        </p:txBody>
      </p:sp>
      <p:sp>
        <p:nvSpPr>
          <p:cNvPr id="679980" name="Text Box 44"/>
          <p:cNvSpPr txBox="1">
            <a:spLocks noChangeArrowheads="1"/>
          </p:cNvSpPr>
          <p:nvPr/>
        </p:nvSpPr>
        <p:spPr bwMode="auto">
          <a:xfrm>
            <a:off x="3113089" y="1371600"/>
            <a:ext cx="32412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A</a:t>
            </a:r>
          </a:p>
        </p:txBody>
      </p:sp>
      <p:sp>
        <p:nvSpPr>
          <p:cNvPr id="679981" name="Text Box 45"/>
          <p:cNvSpPr txBox="1">
            <a:spLocks noChangeArrowheads="1"/>
          </p:cNvSpPr>
          <p:nvPr/>
        </p:nvSpPr>
        <p:spPr bwMode="auto">
          <a:xfrm>
            <a:off x="5100638" y="1371600"/>
            <a:ext cx="31451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B</a:t>
            </a:r>
          </a:p>
        </p:txBody>
      </p:sp>
      <p:sp>
        <p:nvSpPr>
          <p:cNvPr id="679982" name="Text Box 46"/>
          <p:cNvSpPr txBox="1">
            <a:spLocks noChangeArrowheads="1"/>
          </p:cNvSpPr>
          <p:nvPr/>
        </p:nvSpPr>
        <p:spPr bwMode="auto">
          <a:xfrm>
            <a:off x="8839200" y="4768850"/>
            <a:ext cx="30649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C</a:t>
            </a:r>
          </a:p>
        </p:txBody>
      </p:sp>
      <p:sp>
        <p:nvSpPr>
          <p:cNvPr id="679983" name="Text Box 47"/>
          <p:cNvSpPr txBox="1">
            <a:spLocks noChangeArrowheads="1"/>
          </p:cNvSpPr>
          <p:nvPr/>
        </p:nvSpPr>
        <p:spPr bwMode="auto">
          <a:xfrm>
            <a:off x="6007470" y="1981200"/>
            <a:ext cx="31130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X</a:t>
            </a:r>
          </a:p>
        </p:txBody>
      </p:sp>
      <p:sp>
        <p:nvSpPr>
          <p:cNvPr id="679984" name="Text Box 48"/>
          <p:cNvSpPr txBox="1">
            <a:spLocks noChangeArrowheads="1"/>
          </p:cNvSpPr>
          <p:nvPr/>
        </p:nvSpPr>
        <p:spPr bwMode="auto">
          <a:xfrm>
            <a:off x="6010678" y="4155990"/>
            <a:ext cx="30489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1324568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31498" y="96550"/>
            <a:ext cx="7018338" cy="573087"/>
          </a:xfrm>
        </p:spPr>
        <p:txBody>
          <a:bodyPr>
            <a:normAutofit fontScale="90000"/>
          </a:bodyPr>
          <a:lstStyle/>
          <a:p>
            <a:r>
              <a:rPr lang="en-US"/>
              <a:t>Conceptual View of LANs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idx="1"/>
          </p:nvPr>
        </p:nvSpPr>
        <p:spPr>
          <a:xfrm>
            <a:off x="1903414" y="1220789"/>
            <a:ext cx="8307387" cy="839659"/>
          </a:xfrm>
        </p:spPr>
        <p:txBody>
          <a:bodyPr>
            <a:normAutofit/>
          </a:bodyPr>
          <a:lstStyle/>
          <a:p>
            <a:r>
              <a:rPr lang="en-US" sz="2000" dirty="0"/>
              <a:t>For simplicity, hubs, bridges, and wires are often shown as a collection of hosts attached to a single wire:</a:t>
            </a:r>
          </a:p>
        </p:txBody>
      </p:sp>
      <p:sp>
        <p:nvSpPr>
          <p:cNvPr id="680964" name="Line 4"/>
          <p:cNvSpPr>
            <a:spLocks noChangeShapeType="1"/>
          </p:cNvSpPr>
          <p:nvPr/>
        </p:nvSpPr>
        <p:spPr bwMode="auto">
          <a:xfrm>
            <a:off x="4495800" y="3429000"/>
            <a:ext cx="2590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0965" name="Line 5"/>
          <p:cNvSpPr>
            <a:spLocks noChangeShapeType="1"/>
          </p:cNvSpPr>
          <p:nvPr/>
        </p:nvSpPr>
        <p:spPr bwMode="auto">
          <a:xfrm>
            <a:off x="4800600" y="3124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0966" name="Line 6"/>
          <p:cNvSpPr>
            <a:spLocks noChangeShapeType="1"/>
          </p:cNvSpPr>
          <p:nvPr/>
        </p:nvSpPr>
        <p:spPr bwMode="auto">
          <a:xfrm>
            <a:off x="5715000" y="3124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0967" name="Line 7"/>
          <p:cNvSpPr>
            <a:spLocks noChangeShapeType="1"/>
          </p:cNvSpPr>
          <p:nvPr/>
        </p:nvSpPr>
        <p:spPr bwMode="auto">
          <a:xfrm>
            <a:off x="6781800" y="3124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4519206" y="2865566"/>
            <a:ext cx="59247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0969" name="Rectangle 9"/>
          <p:cNvSpPr>
            <a:spLocks noChangeArrowheads="1"/>
          </p:cNvSpPr>
          <p:nvPr/>
        </p:nvSpPr>
        <p:spPr bwMode="auto">
          <a:xfrm>
            <a:off x="5414556" y="2865566"/>
            <a:ext cx="59247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0970" name="Rectangle 10"/>
          <p:cNvSpPr>
            <a:spLocks noChangeArrowheads="1"/>
          </p:cNvSpPr>
          <p:nvPr/>
        </p:nvSpPr>
        <p:spPr bwMode="auto">
          <a:xfrm>
            <a:off x="6481356" y="2865566"/>
            <a:ext cx="59247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0971" name="Text Box 11"/>
          <p:cNvSpPr txBox="1">
            <a:spLocks noChangeArrowheads="1"/>
          </p:cNvSpPr>
          <p:nvPr/>
        </p:nvSpPr>
        <p:spPr bwMode="auto">
          <a:xfrm>
            <a:off x="6055868" y="2789366"/>
            <a:ext cx="35779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8965016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48224" y="94458"/>
            <a:ext cx="6446838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Next Level: internets</a:t>
            </a:r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>
          <a:xfrm>
            <a:off x="1903414" y="1220788"/>
            <a:ext cx="8307387" cy="121761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85000"/>
              </a:lnSpc>
            </a:pPr>
            <a:r>
              <a:rPr lang="en-US" dirty="0"/>
              <a:t>Multiple incompatible LANs can be physically connected by specialized computers called </a:t>
            </a:r>
            <a:r>
              <a:rPr lang="en-US" i="1" dirty="0">
                <a:solidFill>
                  <a:srgbClr val="C00000"/>
                </a:solidFill>
              </a:rPr>
              <a:t>routers</a:t>
            </a:r>
          </a:p>
          <a:p>
            <a:pPr>
              <a:lnSpc>
                <a:spcPct val="85000"/>
              </a:lnSpc>
            </a:pPr>
            <a:r>
              <a:rPr lang="en-US" dirty="0"/>
              <a:t>The connected networks are called an </a:t>
            </a:r>
            <a:r>
              <a:rPr lang="en-US" i="1" dirty="0">
                <a:solidFill>
                  <a:srgbClr val="C00000"/>
                </a:solidFill>
              </a:rPr>
              <a:t>internet </a:t>
            </a:r>
            <a:r>
              <a:rPr lang="en-US" dirty="0"/>
              <a:t>(lower case)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681988" name="Line 4"/>
          <p:cNvSpPr>
            <a:spLocks noChangeShapeType="1"/>
          </p:cNvSpPr>
          <p:nvPr/>
        </p:nvSpPr>
        <p:spPr bwMode="auto">
          <a:xfrm>
            <a:off x="2556437" y="3720754"/>
            <a:ext cx="2590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89" name="Line 5"/>
          <p:cNvSpPr>
            <a:spLocks noChangeShapeType="1"/>
          </p:cNvSpPr>
          <p:nvPr/>
        </p:nvSpPr>
        <p:spPr bwMode="auto">
          <a:xfrm>
            <a:off x="28612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90" name="Line 6"/>
          <p:cNvSpPr>
            <a:spLocks noChangeShapeType="1"/>
          </p:cNvSpPr>
          <p:nvPr/>
        </p:nvSpPr>
        <p:spPr bwMode="auto">
          <a:xfrm>
            <a:off x="37756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91" name="Line 7"/>
          <p:cNvSpPr>
            <a:spLocks noChangeShapeType="1"/>
          </p:cNvSpPr>
          <p:nvPr/>
        </p:nvSpPr>
        <p:spPr bwMode="auto">
          <a:xfrm>
            <a:off x="48424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92" name="Rectangle 8"/>
          <p:cNvSpPr>
            <a:spLocks noChangeArrowheads="1"/>
          </p:cNvSpPr>
          <p:nvPr/>
        </p:nvSpPr>
        <p:spPr bwMode="auto">
          <a:xfrm>
            <a:off x="255326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1993" name="Rectangle 9"/>
          <p:cNvSpPr>
            <a:spLocks noChangeArrowheads="1"/>
          </p:cNvSpPr>
          <p:nvPr/>
        </p:nvSpPr>
        <p:spPr bwMode="auto">
          <a:xfrm>
            <a:off x="344861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1994" name="Rectangle 10"/>
          <p:cNvSpPr>
            <a:spLocks noChangeArrowheads="1"/>
          </p:cNvSpPr>
          <p:nvPr/>
        </p:nvSpPr>
        <p:spPr bwMode="auto">
          <a:xfrm>
            <a:off x="451541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1996" name="Text Box 12"/>
          <p:cNvSpPr txBox="1">
            <a:spLocks noChangeArrowheads="1"/>
          </p:cNvSpPr>
          <p:nvPr/>
        </p:nvSpPr>
        <p:spPr bwMode="auto">
          <a:xfrm>
            <a:off x="4080437" y="3034954"/>
            <a:ext cx="36740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...</a:t>
            </a:r>
          </a:p>
        </p:txBody>
      </p:sp>
      <p:sp>
        <p:nvSpPr>
          <p:cNvPr id="681997" name="Line 13"/>
          <p:cNvSpPr>
            <a:spLocks noChangeShapeType="1"/>
          </p:cNvSpPr>
          <p:nvPr/>
        </p:nvSpPr>
        <p:spPr bwMode="auto">
          <a:xfrm>
            <a:off x="7204637" y="3720754"/>
            <a:ext cx="2590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98" name="Line 14"/>
          <p:cNvSpPr>
            <a:spLocks noChangeShapeType="1"/>
          </p:cNvSpPr>
          <p:nvPr/>
        </p:nvSpPr>
        <p:spPr bwMode="auto">
          <a:xfrm>
            <a:off x="75094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1999" name="Line 15"/>
          <p:cNvSpPr>
            <a:spLocks noChangeShapeType="1"/>
          </p:cNvSpPr>
          <p:nvPr/>
        </p:nvSpPr>
        <p:spPr bwMode="auto">
          <a:xfrm>
            <a:off x="84238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00" name="Line 16"/>
          <p:cNvSpPr>
            <a:spLocks noChangeShapeType="1"/>
          </p:cNvSpPr>
          <p:nvPr/>
        </p:nvSpPr>
        <p:spPr bwMode="auto">
          <a:xfrm>
            <a:off x="9490637" y="34159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01" name="Rectangle 17"/>
          <p:cNvSpPr>
            <a:spLocks noChangeArrowheads="1"/>
          </p:cNvSpPr>
          <p:nvPr/>
        </p:nvSpPr>
        <p:spPr bwMode="auto">
          <a:xfrm>
            <a:off x="720146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2002" name="Rectangle 18"/>
          <p:cNvSpPr>
            <a:spLocks noChangeArrowheads="1"/>
          </p:cNvSpPr>
          <p:nvPr/>
        </p:nvSpPr>
        <p:spPr bwMode="auto">
          <a:xfrm>
            <a:off x="809681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2003" name="Rectangle 19"/>
          <p:cNvSpPr>
            <a:spLocks noChangeArrowheads="1"/>
          </p:cNvSpPr>
          <p:nvPr/>
        </p:nvSpPr>
        <p:spPr bwMode="auto">
          <a:xfrm>
            <a:off x="9163612" y="3111154"/>
            <a:ext cx="6004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</a:t>
            </a:r>
          </a:p>
        </p:txBody>
      </p:sp>
      <p:sp>
        <p:nvSpPr>
          <p:cNvPr id="682005" name="Text Box 21"/>
          <p:cNvSpPr txBox="1">
            <a:spLocks noChangeArrowheads="1"/>
          </p:cNvSpPr>
          <p:nvPr/>
        </p:nvSpPr>
        <p:spPr bwMode="auto">
          <a:xfrm>
            <a:off x="8728637" y="3034954"/>
            <a:ext cx="36740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...</a:t>
            </a:r>
          </a:p>
        </p:txBody>
      </p:sp>
      <p:sp>
        <p:nvSpPr>
          <p:cNvPr id="682008" name="Line 24"/>
          <p:cNvSpPr>
            <a:spLocks noChangeShapeType="1"/>
          </p:cNvSpPr>
          <p:nvPr/>
        </p:nvSpPr>
        <p:spPr bwMode="auto">
          <a:xfrm>
            <a:off x="4385237" y="37207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10" name="Line 26"/>
          <p:cNvSpPr>
            <a:spLocks noChangeShapeType="1"/>
          </p:cNvSpPr>
          <p:nvPr/>
        </p:nvSpPr>
        <p:spPr bwMode="auto">
          <a:xfrm>
            <a:off x="8042837" y="372075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11" name="Line 27"/>
          <p:cNvSpPr>
            <a:spLocks noChangeShapeType="1"/>
          </p:cNvSpPr>
          <p:nvPr/>
        </p:nvSpPr>
        <p:spPr bwMode="auto">
          <a:xfrm>
            <a:off x="4690037" y="4202668"/>
            <a:ext cx="1219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12" name="Line 28"/>
          <p:cNvSpPr>
            <a:spLocks noChangeShapeType="1"/>
          </p:cNvSpPr>
          <p:nvPr/>
        </p:nvSpPr>
        <p:spPr bwMode="auto">
          <a:xfrm>
            <a:off x="6518837" y="4202668"/>
            <a:ext cx="1219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2013" name="Text Box 29"/>
          <p:cNvSpPr txBox="1">
            <a:spLocks noChangeArrowheads="1"/>
          </p:cNvSpPr>
          <p:nvPr/>
        </p:nvSpPr>
        <p:spPr bwMode="auto">
          <a:xfrm>
            <a:off x="4967850" y="4202668"/>
            <a:ext cx="67557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WAN</a:t>
            </a:r>
          </a:p>
        </p:txBody>
      </p:sp>
      <p:sp>
        <p:nvSpPr>
          <p:cNvPr id="682014" name="Text Box 30"/>
          <p:cNvSpPr txBox="1">
            <a:spLocks noChangeArrowheads="1"/>
          </p:cNvSpPr>
          <p:nvPr/>
        </p:nvSpPr>
        <p:spPr bwMode="auto">
          <a:xfrm>
            <a:off x="6795062" y="4202668"/>
            <a:ext cx="67557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WAN</a:t>
            </a:r>
          </a:p>
        </p:txBody>
      </p:sp>
      <p:sp>
        <p:nvSpPr>
          <p:cNvPr id="682015" name="Text Box 31"/>
          <p:cNvSpPr txBox="1">
            <a:spLocks noChangeArrowheads="1"/>
          </p:cNvSpPr>
          <p:nvPr/>
        </p:nvSpPr>
        <p:spPr bwMode="auto">
          <a:xfrm>
            <a:off x="2317342" y="5105400"/>
            <a:ext cx="8122059" cy="7848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LAN 1 and LAN 2 might be completely different, totally incompatible </a:t>
            </a:r>
          </a:p>
          <a:p>
            <a:pPr>
              <a:spcBef>
                <a:spcPts val="600"/>
              </a:spcBef>
            </a:pP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(e.g., Ethernet, </a:t>
            </a:r>
            <a:r>
              <a:rPr lang="en-US" sz="20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Fibre</a:t>
            </a: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 Channel, 802.11*, T1-links, DSL, …)</a:t>
            </a:r>
          </a:p>
        </p:txBody>
      </p:sp>
      <p:sp>
        <p:nvSpPr>
          <p:cNvPr id="682006" name="AutoShape 22"/>
          <p:cNvSpPr>
            <a:spLocks noChangeArrowheads="1"/>
          </p:cNvSpPr>
          <p:nvPr/>
        </p:nvSpPr>
        <p:spPr bwMode="auto">
          <a:xfrm>
            <a:off x="4004237" y="4025554"/>
            <a:ext cx="7620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router</a:t>
            </a:r>
          </a:p>
        </p:txBody>
      </p:sp>
      <p:sp>
        <p:nvSpPr>
          <p:cNvPr id="682007" name="AutoShape 23"/>
          <p:cNvSpPr>
            <a:spLocks noChangeArrowheads="1"/>
          </p:cNvSpPr>
          <p:nvPr/>
        </p:nvSpPr>
        <p:spPr bwMode="auto">
          <a:xfrm>
            <a:off x="5833037" y="4025554"/>
            <a:ext cx="7620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router</a:t>
            </a:r>
          </a:p>
        </p:txBody>
      </p:sp>
      <p:sp>
        <p:nvSpPr>
          <p:cNvPr id="682009" name="AutoShape 25"/>
          <p:cNvSpPr>
            <a:spLocks noChangeArrowheads="1"/>
          </p:cNvSpPr>
          <p:nvPr/>
        </p:nvSpPr>
        <p:spPr bwMode="auto">
          <a:xfrm>
            <a:off x="7661837" y="4025554"/>
            <a:ext cx="762000" cy="381000"/>
          </a:xfrm>
          <a:prstGeom prst="roundRect">
            <a:avLst>
              <a:gd name="adj" fmla="val 16667"/>
            </a:avLst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router</a:t>
            </a:r>
          </a:p>
        </p:txBody>
      </p:sp>
      <p:sp>
        <p:nvSpPr>
          <p:cNvPr id="35" name="Text Box 29"/>
          <p:cNvSpPr txBox="1">
            <a:spLocks noChangeArrowheads="1"/>
          </p:cNvSpPr>
          <p:nvPr/>
        </p:nvSpPr>
        <p:spPr bwMode="auto">
          <a:xfrm>
            <a:off x="2365924" y="3727744"/>
            <a:ext cx="74337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LAN 1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9224850" y="3733800"/>
            <a:ext cx="80021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LAN  2</a:t>
            </a:r>
          </a:p>
        </p:txBody>
      </p:sp>
    </p:spTree>
    <p:extLst>
      <p:ext uri="{BB962C8B-B14F-4D97-AF65-F5344CB8AC3E}">
        <p14:creationId xmlns:p14="http://schemas.microsoft.com/office/powerpoint/2010/main" val="25791298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 bwMode="auto">
          <a:xfrm>
            <a:off x="7437900" y="1040028"/>
            <a:ext cx="3124200" cy="365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82" name="Text Box 18"/>
          <p:cNvSpPr txBox="1">
            <a:spLocks noChangeArrowheads="1"/>
          </p:cNvSpPr>
          <p:nvPr/>
        </p:nvSpPr>
        <p:spPr bwMode="auto">
          <a:xfrm>
            <a:off x="9813800" y="1036766"/>
            <a:ext cx="6815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LAN2</a:t>
            </a:r>
          </a:p>
        </p:txBody>
      </p:sp>
      <p:sp>
        <p:nvSpPr>
          <p:cNvPr id="80" name="Rectangle 79"/>
          <p:cNvSpPr/>
          <p:nvPr/>
        </p:nvSpPr>
        <p:spPr bwMode="auto">
          <a:xfrm>
            <a:off x="1752600" y="1040028"/>
            <a:ext cx="3124200" cy="365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  <a:round/>
            <a:headEnd/>
            <a:tailEnd type="triangle" w="med" len="med"/>
          </a:ln>
          <a:effectLst/>
        </p:spPr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85119" name="Rectangle 63"/>
          <p:cNvSpPr>
            <a:spLocks noChangeArrowheads="1"/>
          </p:cNvSpPr>
          <p:nvPr/>
        </p:nvSpPr>
        <p:spPr bwMode="auto">
          <a:xfrm>
            <a:off x="5105400" y="4063314"/>
            <a:ext cx="2286000" cy="2667000"/>
          </a:xfrm>
          <a:prstGeom prst="rect">
            <a:avLst/>
          </a:prstGeom>
          <a:solidFill>
            <a:srgbClr val="F1C7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102" name="Line 46"/>
          <p:cNvSpPr>
            <a:spLocks noChangeShapeType="1"/>
          </p:cNvSpPr>
          <p:nvPr/>
        </p:nvSpPr>
        <p:spPr bwMode="auto">
          <a:xfrm>
            <a:off x="5780088" y="5130114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99027" y="49768"/>
            <a:ext cx="9612745" cy="573087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Transferring internet Data Via Encapsulation</a:t>
            </a:r>
          </a:p>
        </p:txBody>
      </p:sp>
      <p:sp>
        <p:nvSpPr>
          <p:cNvPr id="685059" name="Rectangle 3"/>
          <p:cNvSpPr>
            <a:spLocks noChangeArrowheads="1"/>
          </p:cNvSpPr>
          <p:nvPr/>
        </p:nvSpPr>
        <p:spPr bwMode="auto">
          <a:xfrm>
            <a:off x="3900488" y="2552014"/>
            <a:ext cx="8128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protocol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software</a:t>
            </a:r>
          </a:p>
        </p:txBody>
      </p:sp>
      <p:sp>
        <p:nvSpPr>
          <p:cNvPr id="685060" name="Rectangle 4"/>
          <p:cNvSpPr>
            <a:spLocks noChangeArrowheads="1"/>
          </p:cNvSpPr>
          <p:nvPr/>
        </p:nvSpPr>
        <p:spPr bwMode="auto">
          <a:xfrm>
            <a:off x="3900488" y="1396314"/>
            <a:ext cx="812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685061" name="Rectangle 5"/>
          <p:cNvSpPr>
            <a:spLocks noChangeArrowheads="1"/>
          </p:cNvSpPr>
          <p:nvPr/>
        </p:nvSpPr>
        <p:spPr bwMode="auto">
          <a:xfrm>
            <a:off x="3900488" y="3669614"/>
            <a:ext cx="8128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LAN1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adapter</a:t>
            </a:r>
          </a:p>
        </p:txBody>
      </p:sp>
      <p:sp>
        <p:nvSpPr>
          <p:cNvPr id="685062" name="Line 6"/>
          <p:cNvSpPr>
            <a:spLocks noChangeShapeType="1"/>
          </p:cNvSpPr>
          <p:nvPr/>
        </p:nvSpPr>
        <p:spPr bwMode="auto">
          <a:xfrm>
            <a:off x="4332288" y="4279214"/>
            <a:ext cx="0" cy="46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63" name="Text Box 7"/>
          <p:cNvSpPr txBox="1">
            <a:spLocks noChangeArrowheads="1"/>
          </p:cNvSpPr>
          <p:nvPr/>
        </p:nvSpPr>
        <p:spPr bwMode="auto">
          <a:xfrm>
            <a:off x="3892636" y="1078468"/>
            <a:ext cx="81528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 A</a:t>
            </a:r>
          </a:p>
        </p:txBody>
      </p:sp>
      <p:sp>
        <p:nvSpPr>
          <p:cNvPr id="685064" name="Line 8"/>
          <p:cNvSpPr>
            <a:spLocks noChangeShapeType="1"/>
          </p:cNvSpPr>
          <p:nvPr/>
        </p:nvSpPr>
        <p:spPr bwMode="auto">
          <a:xfrm>
            <a:off x="2557463" y="4825314"/>
            <a:ext cx="2971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74" name="Text Box 18"/>
          <p:cNvSpPr txBox="1">
            <a:spLocks noChangeArrowheads="1"/>
          </p:cNvSpPr>
          <p:nvPr/>
        </p:nvSpPr>
        <p:spPr bwMode="auto">
          <a:xfrm>
            <a:off x="1821038" y="1036766"/>
            <a:ext cx="6815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LAN1</a:t>
            </a:r>
          </a:p>
        </p:txBody>
      </p:sp>
      <p:sp>
        <p:nvSpPr>
          <p:cNvPr id="685075" name="Line 19"/>
          <p:cNvSpPr>
            <a:spLocks noChangeShapeType="1"/>
          </p:cNvSpPr>
          <p:nvPr/>
        </p:nvSpPr>
        <p:spPr bwMode="auto">
          <a:xfrm>
            <a:off x="7227888" y="4825314"/>
            <a:ext cx="29718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77" name="Line 21"/>
          <p:cNvSpPr>
            <a:spLocks noChangeShapeType="1"/>
          </p:cNvSpPr>
          <p:nvPr/>
        </p:nvSpPr>
        <p:spPr bwMode="auto">
          <a:xfrm>
            <a:off x="7913688" y="4279214"/>
            <a:ext cx="0" cy="46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79" name="Line 23"/>
          <p:cNvSpPr>
            <a:spLocks noChangeShapeType="1"/>
          </p:cNvSpPr>
          <p:nvPr/>
        </p:nvSpPr>
        <p:spPr bwMode="auto">
          <a:xfrm>
            <a:off x="4332288" y="4749114"/>
            <a:ext cx="1001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080" name="Line 24"/>
          <p:cNvSpPr>
            <a:spLocks noChangeShapeType="1"/>
          </p:cNvSpPr>
          <p:nvPr/>
        </p:nvSpPr>
        <p:spPr bwMode="auto">
          <a:xfrm>
            <a:off x="7227888" y="4749114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1752601" y="2094814"/>
            <a:ext cx="1158875" cy="304800"/>
            <a:chOff x="228600" y="2070100"/>
            <a:chExt cx="1158875" cy="304800"/>
          </a:xfrm>
        </p:grpSpPr>
        <p:sp>
          <p:nvSpPr>
            <p:cNvPr id="685065" name="Rectangle 9"/>
            <p:cNvSpPr>
              <a:spLocks noChangeArrowheads="1"/>
            </p:cNvSpPr>
            <p:nvPr/>
          </p:nvSpPr>
          <p:spPr bwMode="auto">
            <a:xfrm>
              <a:off x="625475" y="210820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87" name="Text Box 31"/>
            <p:cNvSpPr txBox="1">
              <a:spLocks noChangeArrowheads="1"/>
            </p:cNvSpPr>
            <p:nvPr/>
          </p:nvSpPr>
          <p:spPr bwMode="auto">
            <a:xfrm>
              <a:off x="228600" y="207010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(1)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562350" y="5434914"/>
            <a:ext cx="2076450" cy="304800"/>
            <a:chOff x="1970088" y="5257800"/>
            <a:chExt cx="2076450" cy="304800"/>
          </a:xfrm>
        </p:grpSpPr>
        <p:sp>
          <p:nvSpPr>
            <p:cNvPr id="685066" name="Rectangle 10"/>
            <p:cNvSpPr>
              <a:spLocks noChangeArrowheads="1"/>
            </p:cNvSpPr>
            <p:nvPr/>
          </p:nvSpPr>
          <p:spPr bwMode="auto">
            <a:xfrm>
              <a:off x="2370138" y="529590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67" name="Rectangle 11"/>
            <p:cNvSpPr>
              <a:spLocks noChangeArrowheads="1"/>
            </p:cNvSpPr>
            <p:nvPr/>
          </p:nvSpPr>
          <p:spPr bwMode="auto">
            <a:xfrm>
              <a:off x="3132138" y="5295900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068" name="Rectangle 12"/>
            <p:cNvSpPr>
              <a:spLocks noChangeArrowheads="1"/>
            </p:cNvSpPr>
            <p:nvPr/>
          </p:nvSpPr>
          <p:spPr bwMode="auto">
            <a:xfrm>
              <a:off x="3589338" y="5295900"/>
              <a:ext cx="457200" cy="228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FH1</a:t>
              </a:r>
            </a:p>
          </p:txBody>
        </p:sp>
        <p:sp>
          <p:nvSpPr>
            <p:cNvPr id="685090" name="Text Box 34"/>
            <p:cNvSpPr txBox="1">
              <a:spLocks noChangeArrowheads="1"/>
            </p:cNvSpPr>
            <p:nvPr/>
          </p:nvSpPr>
          <p:spPr bwMode="auto">
            <a:xfrm>
              <a:off x="1970088" y="525780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(4)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275638" y="4368114"/>
            <a:ext cx="2076450" cy="304800"/>
            <a:chOff x="6751638" y="4343400"/>
            <a:chExt cx="2076450" cy="304800"/>
          </a:xfrm>
        </p:grpSpPr>
        <p:sp>
          <p:nvSpPr>
            <p:cNvPr id="685084" name="Rectangle 28"/>
            <p:cNvSpPr>
              <a:spLocks noChangeArrowheads="1"/>
            </p:cNvSpPr>
            <p:nvPr/>
          </p:nvSpPr>
          <p:spPr bwMode="auto">
            <a:xfrm>
              <a:off x="7151688" y="438150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85" name="Rectangle 29"/>
            <p:cNvSpPr>
              <a:spLocks noChangeArrowheads="1"/>
            </p:cNvSpPr>
            <p:nvPr/>
          </p:nvSpPr>
          <p:spPr bwMode="auto">
            <a:xfrm>
              <a:off x="7913688" y="4381500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086" name="Rectangle 30"/>
            <p:cNvSpPr>
              <a:spLocks noChangeArrowheads="1"/>
            </p:cNvSpPr>
            <p:nvPr/>
          </p:nvSpPr>
          <p:spPr bwMode="auto">
            <a:xfrm>
              <a:off x="8370888" y="4381500"/>
              <a:ext cx="457200" cy="22860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FH2</a:t>
              </a:r>
            </a:p>
          </p:txBody>
        </p:sp>
        <p:sp>
          <p:nvSpPr>
            <p:cNvPr id="685092" name="Text Box 36"/>
            <p:cNvSpPr txBox="1">
              <a:spLocks noChangeArrowheads="1"/>
            </p:cNvSpPr>
            <p:nvPr/>
          </p:nvSpPr>
          <p:spPr bwMode="auto">
            <a:xfrm>
              <a:off x="6751638" y="434340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(6)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8275638" y="2115066"/>
            <a:ext cx="1143000" cy="304800"/>
            <a:chOff x="6770688" y="2057400"/>
            <a:chExt cx="1143000" cy="304800"/>
          </a:xfrm>
        </p:grpSpPr>
        <p:sp>
          <p:nvSpPr>
            <p:cNvPr id="685078" name="Rectangle 22"/>
            <p:cNvSpPr>
              <a:spLocks noChangeArrowheads="1"/>
            </p:cNvSpPr>
            <p:nvPr/>
          </p:nvSpPr>
          <p:spPr bwMode="auto">
            <a:xfrm>
              <a:off x="7151688" y="209550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94" name="Text Box 38"/>
            <p:cNvSpPr txBox="1">
              <a:spLocks noChangeArrowheads="1"/>
            </p:cNvSpPr>
            <p:nvPr/>
          </p:nvSpPr>
          <p:spPr bwMode="auto">
            <a:xfrm>
              <a:off x="6770688" y="205740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(8)</a:t>
              </a:r>
            </a:p>
          </p:txBody>
        </p:sp>
      </p:grpSp>
      <p:sp>
        <p:nvSpPr>
          <p:cNvPr id="685103" name="Line 47"/>
          <p:cNvSpPr>
            <a:spLocks noChangeShapeType="1"/>
          </p:cNvSpPr>
          <p:nvPr/>
        </p:nvSpPr>
        <p:spPr bwMode="auto">
          <a:xfrm>
            <a:off x="6846888" y="5130114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7127274" y="5017186"/>
            <a:ext cx="2076450" cy="722528"/>
            <a:chOff x="5603274" y="4965700"/>
            <a:chExt cx="2076450" cy="722528"/>
          </a:xfrm>
        </p:grpSpPr>
        <p:sp>
          <p:nvSpPr>
            <p:cNvPr id="685071" name="Rectangle 15"/>
            <p:cNvSpPr>
              <a:spLocks noChangeArrowheads="1"/>
            </p:cNvSpPr>
            <p:nvPr/>
          </p:nvSpPr>
          <p:spPr bwMode="auto">
            <a:xfrm>
              <a:off x="5603274" y="5421528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72" name="Rectangle 16"/>
            <p:cNvSpPr>
              <a:spLocks noChangeArrowheads="1"/>
            </p:cNvSpPr>
            <p:nvPr/>
          </p:nvSpPr>
          <p:spPr bwMode="auto">
            <a:xfrm>
              <a:off x="6365274" y="5421528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073" name="Rectangle 17"/>
            <p:cNvSpPr>
              <a:spLocks noChangeArrowheads="1"/>
            </p:cNvSpPr>
            <p:nvPr/>
          </p:nvSpPr>
          <p:spPr bwMode="auto">
            <a:xfrm>
              <a:off x="6822474" y="5421528"/>
              <a:ext cx="457200" cy="22860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FH2</a:t>
              </a:r>
            </a:p>
          </p:txBody>
        </p:sp>
        <p:sp>
          <p:nvSpPr>
            <p:cNvPr id="685091" name="Text Box 35"/>
            <p:cNvSpPr txBox="1">
              <a:spLocks noChangeArrowheads="1"/>
            </p:cNvSpPr>
            <p:nvPr/>
          </p:nvSpPr>
          <p:spPr bwMode="auto">
            <a:xfrm>
              <a:off x="7279674" y="5383428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(5)</a:t>
              </a:r>
            </a:p>
          </p:txBody>
        </p:sp>
        <p:sp>
          <p:nvSpPr>
            <p:cNvPr id="685097" name="AutoShape 41"/>
            <p:cNvSpPr>
              <a:spLocks/>
            </p:cNvSpPr>
            <p:nvPr/>
          </p:nvSpPr>
          <p:spPr bwMode="auto">
            <a:xfrm rot="5400000">
              <a:off x="6383338" y="4476750"/>
              <a:ext cx="114300" cy="1625600"/>
            </a:xfrm>
            <a:prstGeom prst="leftBrace">
              <a:avLst>
                <a:gd name="adj1" fmla="val 11851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85098" name="Text Box 42"/>
            <p:cNvSpPr txBox="1">
              <a:spLocks noChangeArrowheads="1"/>
            </p:cNvSpPr>
            <p:nvPr/>
          </p:nvSpPr>
          <p:spPr bwMode="auto">
            <a:xfrm>
              <a:off x="5848351" y="4965700"/>
              <a:ext cx="1064714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i="1" dirty="0">
                  <a:latin typeface="Calibri" pitchFamily="34" charset="0"/>
                </a:rPr>
                <a:t>LAN2 frame</a:t>
              </a:r>
            </a:p>
          </p:txBody>
        </p:sp>
      </p:grpSp>
      <p:sp>
        <p:nvSpPr>
          <p:cNvPr id="685099" name="Rectangle 43"/>
          <p:cNvSpPr>
            <a:spLocks noChangeArrowheads="1"/>
          </p:cNvSpPr>
          <p:nvPr/>
        </p:nvSpPr>
        <p:spPr bwMode="auto">
          <a:xfrm>
            <a:off x="5322888" y="5968314"/>
            <a:ext cx="19050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protocol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software</a:t>
            </a:r>
          </a:p>
        </p:txBody>
      </p:sp>
      <p:sp>
        <p:nvSpPr>
          <p:cNvPr id="685100" name="Rectangle 44"/>
          <p:cNvSpPr>
            <a:spLocks noChangeArrowheads="1"/>
          </p:cNvSpPr>
          <p:nvPr/>
        </p:nvSpPr>
        <p:spPr bwMode="auto">
          <a:xfrm>
            <a:off x="5322888" y="4520514"/>
            <a:ext cx="8128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LAN1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adapter</a:t>
            </a:r>
          </a:p>
        </p:txBody>
      </p:sp>
      <p:sp>
        <p:nvSpPr>
          <p:cNvPr id="685101" name="Rectangle 45"/>
          <p:cNvSpPr>
            <a:spLocks noChangeArrowheads="1"/>
          </p:cNvSpPr>
          <p:nvPr/>
        </p:nvSpPr>
        <p:spPr bwMode="auto">
          <a:xfrm>
            <a:off x="6415088" y="4520514"/>
            <a:ext cx="8128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LAN2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adapter</a:t>
            </a:r>
          </a:p>
        </p:txBody>
      </p: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5105401" y="4046838"/>
            <a:ext cx="8962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i="1" dirty="0">
                <a:solidFill>
                  <a:srgbClr val="990000"/>
                </a:solidFill>
                <a:latin typeface="Calibri" pitchFamily="34" charset="0"/>
              </a:rPr>
              <a:t>Router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752600" y="4368114"/>
            <a:ext cx="2068512" cy="304800"/>
            <a:chOff x="230188" y="4343400"/>
            <a:chExt cx="2068512" cy="304800"/>
          </a:xfrm>
        </p:grpSpPr>
        <p:sp>
          <p:nvSpPr>
            <p:cNvPr id="685081" name="Rectangle 25"/>
            <p:cNvSpPr>
              <a:spLocks noChangeArrowheads="1"/>
            </p:cNvSpPr>
            <p:nvPr/>
          </p:nvSpPr>
          <p:spPr bwMode="auto">
            <a:xfrm>
              <a:off x="625475" y="438150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82" name="Rectangle 26"/>
            <p:cNvSpPr>
              <a:spLocks noChangeArrowheads="1"/>
            </p:cNvSpPr>
            <p:nvPr/>
          </p:nvSpPr>
          <p:spPr bwMode="auto">
            <a:xfrm>
              <a:off x="1387475" y="4381500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089" name="Text Box 33"/>
            <p:cNvSpPr txBox="1">
              <a:spLocks noChangeArrowheads="1"/>
            </p:cNvSpPr>
            <p:nvPr/>
          </p:nvSpPr>
          <p:spPr bwMode="auto">
            <a:xfrm>
              <a:off x="230188" y="434340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(3)</a:t>
              </a:r>
            </a:p>
          </p:txBody>
        </p:sp>
        <p:sp>
          <p:nvSpPr>
            <p:cNvPr id="685105" name="Rectangle 49"/>
            <p:cNvSpPr>
              <a:spLocks noChangeArrowheads="1"/>
            </p:cNvSpPr>
            <p:nvPr/>
          </p:nvSpPr>
          <p:spPr bwMode="auto">
            <a:xfrm>
              <a:off x="1841500" y="4381500"/>
              <a:ext cx="457200" cy="228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FH1</a:t>
              </a:r>
            </a:p>
          </p:txBody>
        </p:sp>
      </p:grpSp>
      <p:sp>
        <p:nvSpPr>
          <p:cNvPr id="685106" name="Line 50"/>
          <p:cNvSpPr>
            <a:spLocks noChangeShapeType="1"/>
          </p:cNvSpPr>
          <p:nvPr/>
        </p:nvSpPr>
        <p:spPr bwMode="auto">
          <a:xfrm flipH="1">
            <a:off x="4332288" y="3161614"/>
            <a:ext cx="0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107" name="Line 51"/>
          <p:cNvSpPr>
            <a:spLocks noChangeShapeType="1"/>
          </p:cNvSpPr>
          <p:nvPr/>
        </p:nvSpPr>
        <p:spPr bwMode="auto">
          <a:xfrm flipH="1">
            <a:off x="4332288" y="201861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1752601" y="2818715"/>
            <a:ext cx="2073275" cy="1031677"/>
            <a:chOff x="228600" y="2794000"/>
            <a:chExt cx="2073275" cy="1031677"/>
          </a:xfrm>
        </p:grpSpPr>
        <p:sp>
          <p:nvSpPr>
            <p:cNvPr id="685069" name="Rectangle 13"/>
            <p:cNvSpPr>
              <a:spLocks noChangeArrowheads="1"/>
            </p:cNvSpPr>
            <p:nvPr/>
          </p:nvSpPr>
          <p:spPr bwMode="auto">
            <a:xfrm>
              <a:off x="625475" y="3224428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070" name="Rectangle 14"/>
            <p:cNvSpPr>
              <a:spLocks noChangeArrowheads="1"/>
            </p:cNvSpPr>
            <p:nvPr/>
          </p:nvSpPr>
          <p:spPr bwMode="auto">
            <a:xfrm>
              <a:off x="1387475" y="3224428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083" name="Rectangle 27"/>
            <p:cNvSpPr>
              <a:spLocks noChangeArrowheads="1"/>
            </p:cNvSpPr>
            <p:nvPr/>
          </p:nvSpPr>
          <p:spPr bwMode="auto">
            <a:xfrm>
              <a:off x="1844675" y="3224428"/>
              <a:ext cx="457200" cy="228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FH1</a:t>
              </a:r>
            </a:p>
          </p:txBody>
        </p:sp>
        <p:sp>
          <p:nvSpPr>
            <p:cNvPr id="685088" name="Text Box 32"/>
            <p:cNvSpPr txBox="1">
              <a:spLocks noChangeArrowheads="1"/>
            </p:cNvSpPr>
            <p:nvPr/>
          </p:nvSpPr>
          <p:spPr bwMode="auto">
            <a:xfrm>
              <a:off x="228600" y="3186328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(2)</a:t>
              </a:r>
            </a:p>
          </p:txBody>
        </p:sp>
        <p:sp>
          <p:nvSpPr>
            <p:cNvPr id="685095" name="AutoShape 39"/>
            <p:cNvSpPr>
              <a:spLocks/>
            </p:cNvSpPr>
            <p:nvPr/>
          </p:nvSpPr>
          <p:spPr bwMode="auto">
            <a:xfrm rot="5400000">
              <a:off x="1196975" y="2489200"/>
              <a:ext cx="76200" cy="1219200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85096" name="Text Box 40"/>
            <p:cNvSpPr txBox="1">
              <a:spLocks noChangeArrowheads="1"/>
            </p:cNvSpPr>
            <p:nvPr/>
          </p:nvSpPr>
          <p:spPr bwMode="auto">
            <a:xfrm>
              <a:off x="520700" y="2794000"/>
              <a:ext cx="1312026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i="1" dirty="0">
                  <a:latin typeface="Calibri" pitchFamily="34" charset="0"/>
                </a:rPr>
                <a:t>internet packet</a:t>
              </a:r>
            </a:p>
          </p:txBody>
        </p:sp>
        <p:sp>
          <p:nvSpPr>
            <p:cNvPr id="685108" name="AutoShape 52"/>
            <p:cNvSpPr>
              <a:spLocks/>
            </p:cNvSpPr>
            <p:nvPr/>
          </p:nvSpPr>
          <p:spPr bwMode="auto">
            <a:xfrm rot="5400000" flipH="1" flipV="1">
              <a:off x="1409700" y="2717800"/>
              <a:ext cx="76200" cy="1676400"/>
            </a:xfrm>
            <a:prstGeom prst="leftBrace">
              <a:avLst>
                <a:gd name="adj1" fmla="val 183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85109" name="Text Box 53"/>
            <p:cNvSpPr txBox="1">
              <a:spLocks noChangeArrowheads="1"/>
            </p:cNvSpPr>
            <p:nvPr/>
          </p:nvSpPr>
          <p:spPr bwMode="auto">
            <a:xfrm>
              <a:off x="644525" y="3517900"/>
              <a:ext cx="1064714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i="1" dirty="0">
                  <a:latin typeface="Calibri" pitchFamily="34" charset="0"/>
                </a:rPr>
                <a:t>LAN1 frame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8275638" y="3225114"/>
            <a:ext cx="2057400" cy="304800"/>
            <a:chOff x="6770688" y="3143250"/>
            <a:chExt cx="2057400" cy="304800"/>
          </a:xfrm>
        </p:grpSpPr>
        <p:sp>
          <p:nvSpPr>
            <p:cNvPr id="685093" name="Text Box 37"/>
            <p:cNvSpPr txBox="1">
              <a:spLocks noChangeArrowheads="1"/>
            </p:cNvSpPr>
            <p:nvPr/>
          </p:nvSpPr>
          <p:spPr bwMode="auto">
            <a:xfrm>
              <a:off x="6770688" y="3143250"/>
              <a:ext cx="4000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(7)</a:t>
              </a:r>
            </a:p>
          </p:txBody>
        </p:sp>
        <p:sp>
          <p:nvSpPr>
            <p:cNvPr id="685110" name="Rectangle 54"/>
            <p:cNvSpPr>
              <a:spLocks noChangeArrowheads="1"/>
            </p:cNvSpPr>
            <p:nvPr/>
          </p:nvSpPr>
          <p:spPr bwMode="auto">
            <a:xfrm>
              <a:off x="7151688" y="3181350"/>
              <a:ext cx="7620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685111" name="Rectangle 55"/>
            <p:cNvSpPr>
              <a:spLocks noChangeArrowheads="1"/>
            </p:cNvSpPr>
            <p:nvPr/>
          </p:nvSpPr>
          <p:spPr bwMode="auto">
            <a:xfrm>
              <a:off x="7913688" y="3181350"/>
              <a:ext cx="457200" cy="228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PH</a:t>
              </a:r>
            </a:p>
          </p:txBody>
        </p:sp>
        <p:sp>
          <p:nvSpPr>
            <p:cNvPr id="685112" name="Rectangle 56"/>
            <p:cNvSpPr>
              <a:spLocks noChangeArrowheads="1"/>
            </p:cNvSpPr>
            <p:nvPr/>
          </p:nvSpPr>
          <p:spPr bwMode="auto">
            <a:xfrm>
              <a:off x="8370888" y="3181350"/>
              <a:ext cx="457200" cy="228600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FH2</a:t>
              </a:r>
            </a:p>
          </p:txBody>
        </p:sp>
      </p:grpSp>
      <p:sp>
        <p:nvSpPr>
          <p:cNvPr id="685113" name="Rectangle 57"/>
          <p:cNvSpPr>
            <a:spLocks noChangeArrowheads="1"/>
          </p:cNvSpPr>
          <p:nvPr/>
        </p:nvSpPr>
        <p:spPr bwMode="auto">
          <a:xfrm>
            <a:off x="7504113" y="2552014"/>
            <a:ext cx="8128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protocol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software</a:t>
            </a:r>
          </a:p>
        </p:txBody>
      </p:sp>
      <p:sp>
        <p:nvSpPr>
          <p:cNvPr id="685114" name="Rectangle 58"/>
          <p:cNvSpPr>
            <a:spLocks noChangeArrowheads="1"/>
          </p:cNvSpPr>
          <p:nvPr/>
        </p:nvSpPr>
        <p:spPr bwMode="auto">
          <a:xfrm>
            <a:off x="7504113" y="1396314"/>
            <a:ext cx="812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685115" name="Rectangle 59"/>
          <p:cNvSpPr>
            <a:spLocks noChangeArrowheads="1"/>
          </p:cNvSpPr>
          <p:nvPr/>
        </p:nvSpPr>
        <p:spPr bwMode="auto">
          <a:xfrm>
            <a:off x="7504113" y="3669614"/>
            <a:ext cx="812800" cy="609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LAN2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adapter</a:t>
            </a:r>
          </a:p>
        </p:txBody>
      </p:sp>
      <p:sp>
        <p:nvSpPr>
          <p:cNvPr id="685116" name="Text Box 60"/>
          <p:cNvSpPr txBox="1">
            <a:spLocks noChangeArrowheads="1"/>
          </p:cNvSpPr>
          <p:nvPr/>
        </p:nvSpPr>
        <p:spPr bwMode="auto">
          <a:xfrm>
            <a:off x="7500132" y="1078468"/>
            <a:ext cx="8056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Host B</a:t>
            </a:r>
          </a:p>
        </p:txBody>
      </p:sp>
      <p:sp>
        <p:nvSpPr>
          <p:cNvPr id="685117" name="Line 61"/>
          <p:cNvSpPr>
            <a:spLocks noChangeShapeType="1"/>
          </p:cNvSpPr>
          <p:nvPr/>
        </p:nvSpPr>
        <p:spPr bwMode="auto">
          <a:xfrm flipH="1" flipV="1">
            <a:off x="7935913" y="3161614"/>
            <a:ext cx="0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5118" name="Line 62"/>
          <p:cNvSpPr>
            <a:spLocks noChangeShapeType="1"/>
          </p:cNvSpPr>
          <p:nvPr/>
        </p:nvSpPr>
        <p:spPr bwMode="auto">
          <a:xfrm flipH="1" flipV="1">
            <a:off x="7935913" y="201861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592317" y="6030155"/>
            <a:ext cx="2422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PH: internet packet header</a:t>
            </a:r>
          </a:p>
          <a:p>
            <a:r>
              <a:rPr lang="en-US" sz="1600" dirty="0">
                <a:latin typeface="Calibri" pitchFamily="34" charset="0"/>
              </a:rPr>
              <a:t>FH: LAN frame header</a:t>
            </a:r>
          </a:p>
        </p:txBody>
      </p:sp>
    </p:spTree>
    <p:extLst>
      <p:ext uri="{BB962C8B-B14F-4D97-AF65-F5344CB8AC3E}">
        <p14:creationId xmlns:p14="http://schemas.microsoft.com/office/powerpoint/2010/main" val="232755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IPv4 and IPv6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362074"/>
            <a:ext cx="7896225" cy="54959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original Internet Protocol, with its 32-bit addresses, is known as </a:t>
            </a:r>
            <a:r>
              <a:rPr lang="en-US" i="1" dirty="0"/>
              <a:t>Internet Protocol Version 4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IPv4</a:t>
            </a:r>
            <a:r>
              <a:rPr lang="en-US" dirty="0"/>
              <a:t>)</a:t>
            </a:r>
          </a:p>
          <a:p>
            <a:r>
              <a:rPr lang="en-US" dirty="0"/>
              <a:t>1996: Internet Engineering Task Force (IETF) introduced </a:t>
            </a:r>
            <a:r>
              <a:rPr lang="en-US" i="1" dirty="0"/>
              <a:t>Internet Protocol Version 6 </a:t>
            </a:r>
            <a:r>
              <a:rPr lang="en-US" dirty="0">
                <a:solidFill>
                  <a:srgbClr val="FF0000"/>
                </a:solidFill>
              </a:rPr>
              <a:t>(IPv6</a:t>
            </a:r>
            <a:r>
              <a:rPr lang="en-US" dirty="0"/>
              <a:t>) with 128-bit addresses</a:t>
            </a:r>
          </a:p>
          <a:p>
            <a:pPr lvl="1"/>
            <a:r>
              <a:rPr lang="en-US" dirty="0"/>
              <a:t>Intended as the successor to IPv4</a:t>
            </a:r>
          </a:p>
          <a:p>
            <a:r>
              <a:rPr lang="en-US" dirty="0"/>
              <a:t>Majority of Internet traffic still carried by IPv4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focus on IPv4, but will show you how to write networking code that is protocol-independent.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01513"/>
            <a:ext cx="4572000" cy="2108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67600" y="4633874"/>
            <a:ext cx="2189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IPv6 traffic at Google</a:t>
            </a:r>
          </a:p>
        </p:txBody>
      </p:sp>
    </p:spTree>
    <p:extLst>
      <p:ext uri="{BB962C8B-B14F-4D97-AF65-F5344CB8AC3E}">
        <p14:creationId xmlns:p14="http://schemas.microsoft.com/office/powerpoint/2010/main" val="46986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 Address Structures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r>
              <a:rPr lang="en-US" dirty="0"/>
              <a:t>Generic socket address:</a:t>
            </a:r>
          </a:p>
          <a:p>
            <a:pPr lvl="1"/>
            <a:r>
              <a:rPr lang="en-US" dirty="0"/>
              <a:t>For address arguments to </a:t>
            </a:r>
            <a:r>
              <a:rPr lang="en-US" b="1" dirty="0">
                <a:latin typeface="Courier New" pitchFamily="49" charset="0"/>
              </a:rPr>
              <a:t>connect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</a:rPr>
              <a:t>bind</a:t>
            </a:r>
            <a:r>
              <a:rPr lang="en-US" dirty="0"/>
              <a:t>, and </a:t>
            </a:r>
            <a:r>
              <a:rPr lang="en-US" b="1" dirty="0">
                <a:latin typeface="Courier New" pitchFamily="49" charset="0"/>
              </a:rPr>
              <a:t>accept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Necessary only because C did not have generic (</a:t>
            </a:r>
            <a:r>
              <a:rPr lang="en-US" b="1" dirty="0">
                <a:latin typeface="Courier New" pitchFamily="49" charset="0"/>
              </a:rPr>
              <a:t>void *</a:t>
            </a:r>
            <a:r>
              <a:rPr lang="en-US" dirty="0"/>
              <a:t>) pointers when the sockets interface was designed</a:t>
            </a:r>
          </a:p>
          <a:p>
            <a:pPr lvl="1"/>
            <a:r>
              <a:rPr lang="en-US" dirty="0">
                <a:latin typeface="+mn-lt"/>
              </a:rPr>
              <a:t>For casting convenience, we adopt the Stevens convention: </a:t>
            </a:r>
          </a:p>
          <a:p>
            <a:pPr marL="457200" lvl="1" indent="0">
              <a:buNone/>
            </a:pPr>
            <a:r>
              <a:rPr lang="en-US" b="1" dirty="0">
                <a:latin typeface="+mn-lt"/>
              </a:rPr>
              <a:t>     </a:t>
            </a:r>
            <a:r>
              <a:rPr lang="en-US" b="1" dirty="0" err="1">
                <a:latin typeface="Courier New" pitchFamily="49" charset="0"/>
              </a:rPr>
              <a:t>typedef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struct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sockaddr</a:t>
            </a:r>
            <a:r>
              <a:rPr lang="en-US" b="1" dirty="0">
                <a:latin typeface="Courier New" pitchFamily="49" charset="0"/>
              </a:rPr>
              <a:t> SA;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52646" name="Rectangle 6"/>
          <p:cNvSpPr>
            <a:spLocks noChangeArrowheads="1"/>
          </p:cNvSpPr>
          <p:nvPr/>
        </p:nvSpPr>
        <p:spPr bwMode="auto">
          <a:xfrm>
            <a:off x="2370550" y="3570982"/>
            <a:ext cx="6109365" cy="10772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sockaddr</a:t>
            </a:r>
            <a:r>
              <a:rPr lang="en-US" sz="1600" dirty="0">
                <a:latin typeface="Courier New" pitchFamily="49" charset="0"/>
              </a:rPr>
              <a:t> { </a:t>
            </a:r>
          </a:p>
          <a:p>
            <a:r>
              <a:rPr lang="en-US" sz="1600" dirty="0">
                <a:latin typeface="Courier New" pitchFamily="49" charset="0"/>
              </a:rPr>
              <a:t>  uint16_t  </a:t>
            </a:r>
            <a:r>
              <a:rPr lang="en-US" sz="1600" dirty="0" err="1">
                <a:latin typeface="Courier New" pitchFamily="49" charset="0"/>
              </a:rPr>
              <a:t>sa_family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Protocol family */ </a:t>
            </a:r>
          </a:p>
          <a:p>
            <a:r>
              <a:rPr lang="en-US" sz="1600" dirty="0">
                <a:latin typeface="Courier New" pitchFamily="49" charset="0"/>
              </a:rPr>
              <a:t>  char      </a:t>
            </a:r>
            <a:r>
              <a:rPr lang="en-US" sz="1600" dirty="0" err="1">
                <a:latin typeface="Courier New" pitchFamily="49" charset="0"/>
              </a:rPr>
              <a:t>sa_data</a:t>
            </a:r>
            <a:r>
              <a:rPr lang="en-US" sz="1600" dirty="0">
                <a:latin typeface="Courier New" pitchFamily="49" charset="0"/>
              </a:rPr>
              <a:t>[14];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Address data  */ </a:t>
            </a:r>
          </a:p>
          <a:p>
            <a:r>
              <a:rPr lang="en-US" sz="1600" dirty="0">
                <a:latin typeface="Courier New" pitchFamily="49" charset="0"/>
              </a:rPr>
              <a:t>};       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828800" y="5209764"/>
            <a:ext cx="8534400" cy="369888"/>
            <a:chOff x="960" y="2812"/>
            <a:chExt cx="5376" cy="233"/>
          </a:xfrm>
        </p:grpSpPr>
        <p:sp>
          <p:nvSpPr>
            <p:cNvPr id="752648" name="Rectangle 8"/>
            <p:cNvSpPr>
              <a:spLocks noChangeArrowheads="1"/>
            </p:cNvSpPr>
            <p:nvPr/>
          </p:nvSpPr>
          <p:spPr bwMode="auto">
            <a:xfrm>
              <a:off x="960" y="2812"/>
              <a:ext cx="336" cy="233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49" name="Rectangle 9"/>
            <p:cNvSpPr>
              <a:spLocks noChangeArrowheads="1"/>
            </p:cNvSpPr>
            <p:nvPr/>
          </p:nvSpPr>
          <p:spPr bwMode="auto">
            <a:xfrm>
              <a:off x="1296" y="2812"/>
              <a:ext cx="336" cy="233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0" name="Rectangle 10"/>
            <p:cNvSpPr>
              <a:spLocks noChangeArrowheads="1"/>
            </p:cNvSpPr>
            <p:nvPr/>
          </p:nvSpPr>
          <p:spPr bwMode="auto">
            <a:xfrm>
              <a:off x="1632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1" name="Rectangle 11"/>
            <p:cNvSpPr>
              <a:spLocks noChangeArrowheads="1"/>
            </p:cNvSpPr>
            <p:nvPr/>
          </p:nvSpPr>
          <p:spPr bwMode="auto">
            <a:xfrm>
              <a:off x="1968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2" name="Rectangle 12"/>
            <p:cNvSpPr>
              <a:spLocks noChangeArrowheads="1"/>
            </p:cNvSpPr>
            <p:nvPr/>
          </p:nvSpPr>
          <p:spPr bwMode="auto">
            <a:xfrm>
              <a:off x="2304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3" name="Rectangle 13"/>
            <p:cNvSpPr>
              <a:spLocks noChangeArrowheads="1"/>
            </p:cNvSpPr>
            <p:nvPr/>
          </p:nvSpPr>
          <p:spPr bwMode="auto">
            <a:xfrm>
              <a:off x="2640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4" name="Rectangle 14"/>
            <p:cNvSpPr>
              <a:spLocks noChangeArrowheads="1"/>
            </p:cNvSpPr>
            <p:nvPr/>
          </p:nvSpPr>
          <p:spPr bwMode="auto">
            <a:xfrm>
              <a:off x="2976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5" name="Rectangle 15"/>
            <p:cNvSpPr>
              <a:spLocks noChangeArrowheads="1"/>
            </p:cNvSpPr>
            <p:nvPr/>
          </p:nvSpPr>
          <p:spPr bwMode="auto">
            <a:xfrm>
              <a:off x="3312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6" name="Rectangle 16"/>
            <p:cNvSpPr>
              <a:spLocks noChangeArrowheads="1"/>
            </p:cNvSpPr>
            <p:nvPr/>
          </p:nvSpPr>
          <p:spPr bwMode="auto">
            <a:xfrm>
              <a:off x="3648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7" name="Rectangle 17"/>
            <p:cNvSpPr>
              <a:spLocks noChangeArrowheads="1"/>
            </p:cNvSpPr>
            <p:nvPr/>
          </p:nvSpPr>
          <p:spPr bwMode="auto">
            <a:xfrm>
              <a:off x="3984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8" name="Rectangle 18"/>
            <p:cNvSpPr>
              <a:spLocks noChangeArrowheads="1"/>
            </p:cNvSpPr>
            <p:nvPr/>
          </p:nvSpPr>
          <p:spPr bwMode="auto">
            <a:xfrm>
              <a:off x="4320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9" name="Rectangle 19"/>
            <p:cNvSpPr>
              <a:spLocks noChangeArrowheads="1"/>
            </p:cNvSpPr>
            <p:nvPr/>
          </p:nvSpPr>
          <p:spPr bwMode="auto">
            <a:xfrm>
              <a:off x="4656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0" name="Rectangle 20"/>
            <p:cNvSpPr>
              <a:spLocks noChangeArrowheads="1"/>
            </p:cNvSpPr>
            <p:nvPr/>
          </p:nvSpPr>
          <p:spPr bwMode="auto">
            <a:xfrm>
              <a:off x="4992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1" name="Rectangle 21"/>
            <p:cNvSpPr>
              <a:spLocks noChangeArrowheads="1"/>
            </p:cNvSpPr>
            <p:nvPr/>
          </p:nvSpPr>
          <p:spPr bwMode="auto">
            <a:xfrm>
              <a:off x="5328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2" name="Rectangle 22"/>
            <p:cNvSpPr>
              <a:spLocks noChangeArrowheads="1"/>
            </p:cNvSpPr>
            <p:nvPr/>
          </p:nvSpPr>
          <p:spPr bwMode="auto">
            <a:xfrm>
              <a:off x="5664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3" name="Rectangle 23"/>
            <p:cNvSpPr>
              <a:spLocks noChangeArrowheads="1"/>
            </p:cNvSpPr>
            <p:nvPr/>
          </p:nvSpPr>
          <p:spPr bwMode="auto">
            <a:xfrm>
              <a:off x="6000" y="2812"/>
              <a:ext cx="336" cy="2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2666" name="Text Box 26"/>
          <p:cNvSpPr txBox="1">
            <a:spLocks noChangeArrowheads="1"/>
          </p:cNvSpPr>
          <p:nvPr/>
        </p:nvSpPr>
        <p:spPr bwMode="auto">
          <a:xfrm>
            <a:off x="1718792" y="4828758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sa_family</a:t>
            </a:r>
          </a:p>
        </p:txBody>
      </p:sp>
      <p:sp>
        <p:nvSpPr>
          <p:cNvPr id="752670" name="Text Box 30"/>
          <p:cNvSpPr txBox="1">
            <a:spLocks noChangeArrowheads="1"/>
          </p:cNvSpPr>
          <p:nvPr/>
        </p:nvSpPr>
        <p:spPr bwMode="auto">
          <a:xfrm>
            <a:off x="5920890" y="6138446"/>
            <a:ext cx="143417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Family Specific</a:t>
            </a:r>
          </a:p>
        </p:txBody>
      </p:sp>
      <p:sp>
        <p:nvSpPr>
          <p:cNvPr id="27" name="AutoShape 50"/>
          <p:cNvSpPr>
            <a:spLocks/>
          </p:cNvSpPr>
          <p:nvPr/>
        </p:nvSpPr>
        <p:spPr bwMode="auto">
          <a:xfrm rot="5400000">
            <a:off x="6477000" y="2193507"/>
            <a:ext cx="304800" cy="7467600"/>
          </a:xfrm>
          <a:prstGeom prst="rightBrace">
            <a:avLst>
              <a:gd name="adj1" fmla="val 9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541229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Address Structures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76036"/>
            <a:ext cx="10515600" cy="5100927"/>
          </a:xfrm>
        </p:spPr>
        <p:txBody>
          <a:bodyPr/>
          <a:lstStyle/>
          <a:p>
            <a:r>
              <a:rPr lang="en-US" dirty="0"/>
              <a:t>Internet (IPv4) specific socket address:</a:t>
            </a:r>
          </a:p>
          <a:p>
            <a:pPr lvl="1"/>
            <a:r>
              <a:rPr lang="en-US" dirty="0"/>
              <a:t>Must cast (</a:t>
            </a:r>
            <a:r>
              <a:rPr lang="en-US" dirty="0" err="1">
                <a:latin typeface="Courier New"/>
                <a:cs typeface="Courier New"/>
              </a:rPr>
              <a:t>struct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 pitchFamily="49" charset="0"/>
              </a:rPr>
              <a:t>sockaddr_in</a:t>
            </a:r>
            <a:r>
              <a:rPr lang="en-US" dirty="0">
                <a:latin typeface="Courier New" pitchFamily="49" charset="0"/>
              </a:rPr>
              <a:t> *</a:t>
            </a:r>
            <a:r>
              <a:rPr lang="en-US" dirty="0"/>
              <a:t>) to (</a:t>
            </a:r>
            <a:r>
              <a:rPr lang="en-US" dirty="0" err="1">
                <a:latin typeface="Courier New" pitchFamily="49" charset="0"/>
              </a:rPr>
              <a:t>struct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sockaddr</a:t>
            </a:r>
            <a:r>
              <a:rPr lang="en-US" dirty="0">
                <a:latin typeface="Courier New" pitchFamily="49" charset="0"/>
              </a:rPr>
              <a:t> *</a:t>
            </a:r>
            <a:r>
              <a:rPr lang="en-US" dirty="0"/>
              <a:t>) for functions that take socket address arguments. </a:t>
            </a:r>
          </a:p>
        </p:txBody>
      </p:sp>
      <p:sp>
        <p:nvSpPr>
          <p:cNvPr id="752648" name="Rectangle 8"/>
          <p:cNvSpPr>
            <a:spLocks noChangeArrowheads="1"/>
          </p:cNvSpPr>
          <p:nvPr/>
        </p:nvSpPr>
        <p:spPr bwMode="auto">
          <a:xfrm>
            <a:off x="1828800" y="5194994"/>
            <a:ext cx="533400" cy="369332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49" name="Rectangle 9"/>
          <p:cNvSpPr>
            <a:spLocks noChangeArrowheads="1"/>
          </p:cNvSpPr>
          <p:nvPr/>
        </p:nvSpPr>
        <p:spPr bwMode="auto">
          <a:xfrm>
            <a:off x="2362200" y="5194994"/>
            <a:ext cx="533400" cy="369332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0" name="Rectangle 10"/>
          <p:cNvSpPr>
            <a:spLocks noChangeArrowheads="1"/>
          </p:cNvSpPr>
          <p:nvPr/>
        </p:nvSpPr>
        <p:spPr bwMode="auto">
          <a:xfrm>
            <a:off x="2895600" y="5194994"/>
            <a:ext cx="533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1" name="Rectangle 11"/>
          <p:cNvSpPr>
            <a:spLocks noChangeArrowheads="1"/>
          </p:cNvSpPr>
          <p:nvPr/>
        </p:nvSpPr>
        <p:spPr bwMode="auto">
          <a:xfrm>
            <a:off x="3429000" y="5194994"/>
            <a:ext cx="533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2" name="Rectangle 12"/>
          <p:cNvSpPr>
            <a:spLocks noChangeArrowheads="1"/>
          </p:cNvSpPr>
          <p:nvPr/>
        </p:nvSpPr>
        <p:spPr bwMode="auto">
          <a:xfrm>
            <a:off x="3962400" y="5194994"/>
            <a:ext cx="533400" cy="36933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3" name="Rectangle 13"/>
          <p:cNvSpPr>
            <a:spLocks noChangeArrowheads="1"/>
          </p:cNvSpPr>
          <p:nvPr/>
        </p:nvSpPr>
        <p:spPr bwMode="auto">
          <a:xfrm>
            <a:off x="4495800" y="5194994"/>
            <a:ext cx="533400" cy="36933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4" name="Rectangle 14"/>
          <p:cNvSpPr>
            <a:spLocks noChangeArrowheads="1"/>
          </p:cNvSpPr>
          <p:nvPr/>
        </p:nvSpPr>
        <p:spPr bwMode="auto">
          <a:xfrm>
            <a:off x="5029200" y="5194994"/>
            <a:ext cx="533400" cy="36933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5" name="Rectangle 15"/>
          <p:cNvSpPr>
            <a:spLocks noChangeArrowheads="1"/>
          </p:cNvSpPr>
          <p:nvPr/>
        </p:nvSpPr>
        <p:spPr bwMode="auto">
          <a:xfrm>
            <a:off x="5562600" y="5194994"/>
            <a:ext cx="533400" cy="36933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6" name="Rectangle 16"/>
          <p:cNvSpPr>
            <a:spLocks noChangeArrowheads="1"/>
          </p:cNvSpPr>
          <p:nvPr/>
        </p:nvSpPr>
        <p:spPr bwMode="auto">
          <a:xfrm>
            <a:off x="60960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7" name="Rectangle 17"/>
          <p:cNvSpPr>
            <a:spLocks noChangeArrowheads="1"/>
          </p:cNvSpPr>
          <p:nvPr/>
        </p:nvSpPr>
        <p:spPr bwMode="auto">
          <a:xfrm>
            <a:off x="66294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8" name="Rectangle 18"/>
          <p:cNvSpPr>
            <a:spLocks noChangeArrowheads="1"/>
          </p:cNvSpPr>
          <p:nvPr/>
        </p:nvSpPr>
        <p:spPr bwMode="auto">
          <a:xfrm>
            <a:off x="71628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9" name="Rectangle 19"/>
          <p:cNvSpPr>
            <a:spLocks noChangeArrowheads="1"/>
          </p:cNvSpPr>
          <p:nvPr/>
        </p:nvSpPr>
        <p:spPr bwMode="auto">
          <a:xfrm>
            <a:off x="76962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0" name="Rectangle 20"/>
          <p:cNvSpPr>
            <a:spLocks noChangeArrowheads="1"/>
          </p:cNvSpPr>
          <p:nvPr/>
        </p:nvSpPr>
        <p:spPr bwMode="auto">
          <a:xfrm>
            <a:off x="82296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1" name="Rectangle 21"/>
          <p:cNvSpPr>
            <a:spLocks noChangeArrowheads="1"/>
          </p:cNvSpPr>
          <p:nvPr/>
        </p:nvSpPr>
        <p:spPr bwMode="auto">
          <a:xfrm>
            <a:off x="87630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2" name="Rectangle 22"/>
          <p:cNvSpPr>
            <a:spLocks noChangeArrowheads="1"/>
          </p:cNvSpPr>
          <p:nvPr/>
        </p:nvSpPr>
        <p:spPr bwMode="auto">
          <a:xfrm>
            <a:off x="92964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3" name="Rectangle 23"/>
          <p:cNvSpPr>
            <a:spLocks noChangeArrowheads="1"/>
          </p:cNvSpPr>
          <p:nvPr/>
        </p:nvSpPr>
        <p:spPr bwMode="auto">
          <a:xfrm>
            <a:off x="9829800" y="5194994"/>
            <a:ext cx="5334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6" name="Text Box 26"/>
          <p:cNvSpPr txBox="1">
            <a:spLocks noChangeArrowheads="1"/>
          </p:cNvSpPr>
          <p:nvPr/>
        </p:nvSpPr>
        <p:spPr bwMode="auto">
          <a:xfrm>
            <a:off x="1611312" y="5608260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sa_family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2670" name="Text Box 30"/>
          <p:cNvSpPr txBox="1">
            <a:spLocks noChangeArrowheads="1"/>
          </p:cNvSpPr>
          <p:nvPr/>
        </p:nvSpPr>
        <p:spPr bwMode="auto">
          <a:xfrm>
            <a:off x="5920890" y="6124198"/>
            <a:ext cx="143417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Family Specific</a:t>
            </a:r>
          </a:p>
        </p:txBody>
      </p:sp>
      <p:sp>
        <p:nvSpPr>
          <p:cNvPr id="27" name="AutoShape 50"/>
          <p:cNvSpPr>
            <a:spLocks/>
          </p:cNvSpPr>
          <p:nvPr/>
        </p:nvSpPr>
        <p:spPr bwMode="auto">
          <a:xfrm rot="5400000">
            <a:off x="6477000" y="2179259"/>
            <a:ext cx="304800" cy="7467600"/>
          </a:xfrm>
          <a:prstGeom prst="rightBrace">
            <a:avLst>
              <a:gd name="adj1" fmla="val 9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752600" y="2819400"/>
            <a:ext cx="8803812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struct sockaddr_in  { </a:t>
            </a:r>
          </a:p>
          <a:p>
            <a:r>
              <a:rPr lang="en-US" sz="1600" dirty="0">
                <a:latin typeface="Courier New" pitchFamily="49" charset="0"/>
              </a:rPr>
              <a:t>  uint16_t        </a:t>
            </a:r>
            <a:r>
              <a:rPr lang="en-US" sz="1600" dirty="0" err="1">
                <a:latin typeface="Courier New" pitchFamily="49" charset="0"/>
              </a:rPr>
              <a:t>sin_family</a:t>
            </a:r>
            <a:r>
              <a:rPr lang="en-US" sz="1600" dirty="0">
                <a:latin typeface="Courier New" pitchFamily="49" charset="0"/>
              </a:rPr>
              <a:t>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Protocol family (always AF_INET) */ </a:t>
            </a:r>
          </a:p>
          <a:p>
            <a:r>
              <a:rPr lang="en-US" sz="1600" dirty="0">
                <a:latin typeface="Courier New" pitchFamily="49" charset="0"/>
              </a:rPr>
              <a:t>  uint16_t        </a:t>
            </a:r>
            <a:r>
              <a:rPr lang="en-US" sz="1600" dirty="0" err="1">
                <a:latin typeface="Courier New" pitchFamily="49" charset="0"/>
              </a:rPr>
              <a:t>sin_port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Port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num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in network byte order */ </a:t>
            </a:r>
          </a:p>
          <a:p>
            <a:r>
              <a:rPr lang="en-US" sz="1600" dirty="0" err="1">
                <a:latin typeface="Courier New" pitchFamily="49" charset="0"/>
              </a:rPr>
              <a:t>  struct in_addr  sin_addr;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IP addr in network byte order */ </a:t>
            </a:r>
          </a:p>
          <a:p>
            <a:r>
              <a:rPr lang="en-US" sz="1600" dirty="0">
                <a:latin typeface="Courier New" pitchFamily="49" charset="0"/>
              </a:rPr>
              <a:t>  unsigned char   </a:t>
            </a:r>
            <a:r>
              <a:rPr lang="en-US" sz="1600" dirty="0" err="1">
                <a:latin typeface="Courier New" pitchFamily="49" charset="0"/>
              </a:rPr>
              <a:t>sin_zero</a:t>
            </a:r>
            <a:r>
              <a:rPr lang="en-US" sz="1600" dirty="0">
                <a:latin typeface="Courier New" pitchFamily="49" charset="0"/>
              </a:rPr>
              <a:t>[8];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Pad to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sizeof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struct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sockaddr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) */ </a:t>
            </a:r>
          </a:p>
          <a:p>
            <a:r>
              <a:rPr lang="en-US" sz="1600" dirty="0" err="1">
                <a:latin typeface="Courier New" pitchFamily="49" charset="0"/>
              </a:rPr>
              <a:t>}; 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854372" y="4814510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sin_port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1837858" y="5215202"/>
            <a:ext cx="10486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urier New" pitchFamily="49" charset="0"/>
              </a:rPr>
              <a:t>AF_INET</a:t>
            </a: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4442460" y="4812506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sin_addr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1600201" y="5957510"/>
            <a:ext cx="141897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sin_family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88444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Host and Service Conversion: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/>
              <a:t> is the modern way to convert string representations of hostnames, host addresses, ports, and service names to socket address structures. </a:t>
            </a:r>
          </a:p>
          <a:p>
            <a:pPr lvl="1"/>
            <a:r>
              <a:rPr lang="en-US" dirty="0"/>
              <a:t>Replaces obsolete </a:t>
            </a:r>
            <a:r>
              <a:rPr lang="en-US" dirty="0" err="1">
                <a:latin typeface="Courier New"/>
                <a:cs typeface="Courier New"/>
              </a:rPr>
              <a:t>gethostbyname</a:t>
            </a:r>
            <a:r>
              <a:rPr lang="en-US" dirty="0"/>
              <a:t> and </a:t>
            </a:r>
            <a:r>
              <a:rPr lang="en-US" dirty="0" err="1">
                <a:latin typeface="Courier New"/>
                <a:cs typeface="Courier New"/>
              </a:rPr>
              <a:t>getservbyname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+mn-lt"/>
                <a:cs typeface="Courier New"/>
              </a:rPr>
              <a:t>funcs</a:t>
            </a:r>
            <a:r>
              <a:rPr lang="en-US" dirty="0">
                <a:latin typeface="+mn-lt"/>
                <a:cs typeface="Courier New"/>
              </a:rPr>
              <a:t>.</a:t>
            </a:r>
            <a:endParaRPr lang="en-US" dirty="0">
              <a:latin typeface="+mn-lt"/>
            </a:endParaRPr>
          </a:p>
          <a:p>
            <a:endParaRPr lang="en-US" dirty="0"/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Reentrant (can be safely used by threaded programs).</a:t>
            </a:r>
          </a:p>
          <a:p>
            <a:pPr lvl="1"/>
            <a:r>
              <a:rPr lang="en-US" dirty="0"/>
              <a:t>Allows us to write portable protocol-independent code</a:t>
            </a:r>
          </a:p>
          <a:p>
            <a:pPr lvl="2"/>
            <a:r>
              <a:rPr lang="en-US" dirty="0"/>
              <a:t>Works with both IPv4 and IPv6</a:t>
            </a:r>
          </a:p>
          <a:p>
            <a:pPr lvl="2"/>
            <a:endParaRPr lang="en-US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Somewhat complex</a:t>
            </a:r>
          </a:p>
          <a:p>
            <a:pPr lvl="1"/>
            <a:r>
              <a:rPr lang="en-US" dirty="0"/>
              <a:t>Fortunately, a small number of usage patterns suffice in most cases.</a:t>
            </a:r>
          </a:p>
        </p:txBody>
      </p:sp>
    </p:spTree>
    <p:extLst>
      <p:ext uri="{BB962C8B-B14F-4D97-AF65-F5344CB8AC3E}">
        <p14:creationId xmlns:p14="http://schemas.microsoft.com/office/powerpoint/2010/main" val="19839245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  <a:cs typeface="Courier New"/>
              </a:rPr>
              <a:t>Host and Service Conversion: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Given </a:t>
            </a:r>
            <a:r>
              <a:rPr lang="en-US" dirty="0">
                <a:latin typeface="Courier New"/>
                <a:cs typeface="Courier New"/>
              </a:rPr>
              <a:t>host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service</a:t>
            </a:r>
            <a:r>
              <a:rPr lang="en-US" dirty="0"/>
              <a:t>,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returns </a:t>
            </a:r>
            <a:r>
              <a:rPr lang="en-US" dirty="0">
                <a:latin typeface="Courier New"/>
                <a:cs typeface="Courier New"/>
              </a:rPr>
              <a:t>result</a:t>
            </a:r>
            <a:r>
              <a:rPr lang="en-US" dirty="0"/>
              <a:t> that points to a linked list of </a:t>
            </a:r>
            <a:r>
              <a:rPr lang="en-US" dirty="0" err="1">
                <a:solidFill>
                  <a:srgbClr val="FF0000"/>
                </a:solidFill>
                <a:latin typeface="Courier New"/>
                <a:cs typeface="Courier New"/>
              </a:rPr>
              <a:t>addrinfo</a:t>
            </a:r>
            <a:r>
              <a:rPr lang="en-US" dirty="0"/>
              <a:t> </a:t>
            </a:r>
            <a:r>
              <a:rPr lang="en-US" dirty="0" err="1"/>
              <a:t>structs</a:t>
            </a:r>
            <a:r>
              <a:rPr lang="en-US" dirty="0"/>
              <a:t>, each of which points to a corresponding socket address </a:t>
            </a:r>
            <a:r>
              <a:rPr lang="en-US" dirty="0" err="1"/>
              <a:t>struct</a:t>
            </a:r>
            <a:r>
              <a:rPr lang="en-US" dirty="0"/>
              <a:t>, and which contains arguments for the sockets interface functions.</a:t>
            </a:r>
          </a:p>
          <a:p>
            <a:pPr>
              <a:lnSpc>
                <a:spcPct val="110000"/>
              </a:lnSpc>
            </a:pPr>
            <a:r>
              <a:rPr lang="en-US" dirty="0"/>
              <a:t>Helper functions: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latin typeface="Courier New"/>
                <a:cs typeface="Courier New"/>
              </a:rPr>
              <a:t>freeadderinfo</a:t>
            </a:r>
            <a:r>
              <a:rPr lang="en-US" dirty="0"/>
              <a:t> frees the entire linked list.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latin typeface="Courier New"/>
                <a:cs typeface="Courier New"/>
              </a:rPr>
              <a:t>gai_strerror</a:t>
            </a:r>
            <a:r>
              <a:rPr lang="en-US" dirty="0"/>
              <a:t> converts error code to an error message.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676400" y="1219578"/>
            <a:ext cx="8915400" cy="22145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getaddrinfo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</a:rPr>
              <a:t> char *host,        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Hostname or address */</a:t>
            </a:r>
          </a:p>
          <a:p>
            <a:r>
              <a:rPr lang="en-US" sz="1600" dirty="0">
                <a:latin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</a:rPr>
              <a:t> char *service,     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Port or service name */</a:t>
            </a:r>
          </a:p>
          <a:p>
            <a:r>
              <a:rPr lang="en-US" sz="1600" dirty="0">
                <a:latin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addrinfo</a:t>
            </a:r>
            <a:r>
              <a:rPr lang="en-US" sz="1600" dirty="0">
                <a:latin typeface="Courier New" pitchFamily="49" charset="0"/>
              </a:rPr>
              <a:t> *hints,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Input parameters */</a:t>
            </a:r>
          </a:p>
          <a:p>
            <a:r>
              <a:rPr lang="en-US" sz="1600" dirty="0">
                <a:latin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addrinfo</a:t>
            </a:r>
            <a:r>
              <a:rPr lang="en-US" sz="1600" dirty="0">
                <a:latin typeface="Courier New" pitchFamily="49" charset="0"/>
              </a:rPr>
              <a:t> **result);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Output linked list */</a:t>
            </a:r>
          </a:p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freeaddrinfo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addrinfo</a:t>
            </a:r>
            <a:r>
              <a:rPr lang="en-US" sz="1600" dirty="0">
                <a:latin typeface="Courier New" pitchFamily="49" charset="0"/>
              </a:rPr>
              <a:t> *result);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Free linked list */</a:t>
            </a:r>
          </a:p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</a:rPr>
              <a:t> char *</a:t>
            </a:r>
            <a:r>
              <a:rPr lang="en-US" sz="1600" dirty="0" err="1">
                <a:latin typeface="Courier New" pitchFamily="49" charset="0"/>
              </a:rPr>
              <a:t>gai_strerror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errcode</a:t>
            </a:r>
            <a:r>
              <a:rPr lang="en-US" sz="1600" dirty="0">
                <a:latin typeface="Courier New" pitchFamily="49" charset="0"/>
              </a:rPr>
              <a:t>);   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Return error </a:t>
            </a:r>
            <a:r>
              <a:rPr lang="en-US" sz="1600" dirty="0" err="1">
                <a:solidFill>
                  <a:srgbClr val="FF0000"/>
                </a:solidFill>
                <a:latin typeface="Courier New" pitchFamily="49" charset="0"/>
              </a:rPr>
              <a:t>msg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26436649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55"/>
            <a:ext cx="10515600" cy="662782"/>
          </a:xfrm>
        </p:spPr>
        <p:txBody>
          <a:bodyPr>
            <a:normAutofit/>
          </a:bodyPr>
          <a:lstStyle/>
          <a:p>
            <a:r>
              <a:rPr lang="en-US"/>
              <a:t>Linked List Returned by getaddrinfo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838200" y="5226842"/>
            <a:ext cx="10515600" cy="1584285"/>
          </a:xfrm>
        </p:spPr>
        <p:txBody>
          <a:bodyPr>
            <a:normAutofit/>
          </a:bodyPr>
          <a:lstStyle/>
          <a:p>
            <a:r>
              <a:rPr lang="en-US" dirty="0"/>
              <a:t>Clients: walk this list, trying each socket address in turn, until the calls to socket and connect succeed.</a:t>
            </a:r>
          </a:p>
          <a:p>
            <a:r>
              <a:rPr lang="en-US" dirty="0"/>
              <a:t>Servers: walk the list until calls to socket and bind succeed.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996274" y="186815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ai_canonname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5" name="Rectangle 379"/>
          <p:cNvSpPr>
            <a:spLocks noChangeArrowheads="1"/>
          </p:cNvSpPr>
          <p:nvPr/>
        </p:nvSpPr>
        <p:spPr bwMode="auto">
          <a:xfrm>
            <a:off x="1905016" y="13611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result</a:t>
            </a:r>
          </a:p>
        </p:txBody>
      </p:sp>
      <p:sp>
        <p:nvSpPr>
          <p:cNvPr id="6" name="Rectangle 379"/>
          <p:cNvSpPr>
            <a:spLocks noChangeArrowheads="1"/>
          </p:cNvSpPr>
          <p:nvPr/>
        </p:nvSpPr>
        <p:spPr bwMode="auto">
          <a:xfrm>
            <a:off x="3996274" y="2121643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7" name="Rectangle 379"/>
          <p:cNvSpPr>
            <a:spLocks noChangeArrowheads="1"/>
          </p:cNvSpPr>
          <p:nvPr/>
        </p:nvSpPr>
        <p:spPr bwMode="auto">
          <a:xfrm>
            <a:off x="3996274" y="2375129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8" name="Rectangle 379"/>
          <p:cNvSpPr>
            <a:spLocks noChangeArrowheads="1"/>
          </p:cNvSpPr>
          <p:nvPr/>
        </p:nvSpPr>
        <p:spPr bwMode="auto">
          <a:xfrm>
            <a:off x="3996274" y="1487930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9" name="Straight Arrow Connector 8"/>
          <p:cNvCxnSpPr>
            <a:stCxn id="6" idx="3"/>
          </p:cNvCxnSpPr>
          <p:nvPr/>
        </p:nvCxnSpPr>
        <p:spPr bwMode="auto">
          <a:xfrm>
            <a:off x="5327075" y="2248386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379"/>
          <p:cNvSpPr>
            <a:spLocks noChangeArrowheads="1"/>
          </p:cNvSpPr>
          <p:nvPr/>
        </p:nvSpPr>
        <p:spPr bwMode="auto">
          <a:xfrm>
            <a:off x="6087532" y="1994900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3235817" y="1487929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867743" y="1143000"/>
            <a:ext cx="1536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cs typeface="Courier New"/>
              </a:rPr>
              <a:t>addrinfo</a:t>
            </a:r>
            <a:r>
              <a:rPr lang="en-US" sz="1600" dirty="0">
                <a:cs typeface="Courier New"/>
              </a:rPr>
              <a:t> </a:t>
            </a:r>
            <a:r>
              <a:rPr lang="en-US" sz="1600" dirty="0" err="1">
                <a:cs typeface="Courier New"/>
              </a:rPr>
              <a:t>structs</a:t>
            </a:r>
            <a:endParaRPr lang="en-US" sz="1600" dirty="0">
              <a:cs typeface="Courier New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0674" y="1678043"/>
            <a:ext cx="2079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cs typeface="Courier New"/>
              </a:rPr>
              <a:t>Socket address </a:t>
            </a:r>
            <a:r>
              <a:rPr lang="en-US" sz="1600" dirty="0" err="1">
                <a:cs typeface="Courier New"/>
              </a:rPr>
              <a:t>structs</a:t>
            </a:r>
            <a:endParaRPr lang="en-US" sz="1600" dirty="0">
              <a:cs typeface="Courier New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235817" y="1994900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379"/>
          <p:cNvSpPr>
            <a:spLocks noChangeArrowheads="1"/>
          </p:cNvSpPr>
          <p:nvPr/>
        </p:nvSpPr>
        <p:spPr bwMode="auto">
          <a:xfrm>
            <a:off x="1905016" y="1868157"/>
            <a:ext cx="1330800" cy="253486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6" name="Straight Connector 15"/>
          <p:cNvCxnSpPr>
            <a:stCxn id="7" idx="1"/>
          </p:cNvCxnSpPr>
          <p:nvPr/>
        </p:nvCxnSpPr>
        <p:spPr bwMode="auto">
          <a:xfrm flipH="1">
            <a:off x="3616046" y="2501872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/>
          <p:cNvCxnSpPr/>
          <p:nvPr/>
        </p:nvCxnSpPr>
        <p:spPr bwMode="auto">
          <a:xfrm>
            <a:off x="3616045" y="2501872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379"/>
          <p:cNvSpPr>
            <a:spLocks noChangeArrowheads="1"/>
          </p:cNvSpPr>
          <p:nvPr/>
        </p:nvSpPr>
        <p:spPr bwMode="auto">
          <a:xfrm>
            <a:off x="3996274" y="31355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19" name="Rectangle 379"/>
          <p:cNvSpPr>
            <a:spLocks noChangeArrowheads="1"/>
          </p:cNvSpPr>
          <p:nvPr/>
        </p:nvSpPr>
        <p:spPr bwMode="auto">
          <a:xfrm>
            <a:off x="3996274" y="3389072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0" name="Rectangle 379"/>
          <p:cNvSpPr>
            <a:spLocks noChangeArrowheads="1"/>
          </p:cNvSpPr>
          <p:nvPr/>
        </p:nvSpPr>
        <p:spPr bwMode="auto">
          <a:xfrm>
            <a:off x="3996274" y="3642558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1" name="Rectangle 379"/>
          <p:cNvSpPr>
            <a:spLocks noChangeArrowheads="1"/>
          </p:cNvSpPr>
          <p:nvPr/>
        </p:nvSpPr>
        <p:spPr bwMode="auto">
          <a:xfrm>
            <a:off x="3996274" y="2755359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2" name="Straight Arrow Connector 21"/>
          <p:cNvCxnSpPr>
            <a:stCxn id="19" idx="3"/>
          </p:cNvCxnSpPr>
          <p:nvPr/>
        </p:nvCxnSpPr>
        <p:spPr bwMode="auto">
          <a:xfrm>
            <a:off x="5327075" y="3515815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Rectangle 379"/>
          <p:cNvSpPr>
            <a:spLocks noChangeArrowheads="1"/>
          </p:cNvSpPr>
          <p:nvPr/>
        </p:nvSpPr>
        <p:spPr bwMode="auto">
          <a:xfrm>
            <a:off x="6087532" y="3262329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3616046" y="2755358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3616046" y="3769301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616045" y="3769301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616046" y="4022787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379"/>
          <p:cNvSpPr>
            <a:spLocks noChangeArrowheads="1"/>
          </p:cNvSpPr>
          <p:nvPr/>
        </p:nvSpPr>
        <p:spPr bwMode="auto">
          <a:xfrm>
            <a:off x="3996274" y="440301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>
                <a:latin typeface="Courier New"/>
                <a:cs typeface="Courier New"/>
              </a:rPr>
              <a:t>NULL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9" name="Rectangle 379"/>
          <p:cNvSpPr>
            <a:spLocks noChangeArrowheads="1"/>
          </p:cNvSpPr>
          <p:nvPr/>
        </p:nvSpPr>
        <p:spPr bwMode="auto">
          <a:xfrm>
            <a:off x="3996274" y="4656501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30" name="Rectangle 379"/>
          <p:cNvSpPr>
            <a:spLocks noChangeArrowheads="1"/>
          </p:cNvSpPr>
          <p:nvPr/>
        </p:nvSpPr>
        <p:spPr bwMode="auto">
          <a:xfrm>
            <a:off x="3996274" y="490998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31" name="Rectangle 379"/>
          <p:cNvSpPr>
            <a:spLocks noChangeArrowheads="1"/>
          </p:cNvSpPr>
          <p:nvPr/>
        </p:nvSpPr>
        <p:spPr bwMode="auto">
          <a:xfrm>
            <a:off x="3996274" y="4022788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5327075" y="4783244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Rectangle 379"/>
          <p:cNvSpPr>
            <a:spLocks noChangeArrowheads="1"/>
          </p:cNvSpPr>
          <p:nvPr/>
        </p:nvSpPr>
        <p:spPr bwMode="auto">
          <a:xfrm>
            <a:off x="6087532" y="4529758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982426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addrinfo</a:t>
            </a:r>
            <a:r>
              <a:rPr lang="en-US" dirty="0"/>
              <a:t> </a:t>
            </a:r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324" y="4038600"/>
            <a:ext cx="8188077" cy="20370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</a:t>
            </a:r>
            <a:r>
              <a:rPr lang="en-US" dirty="0" err="1"/>
              <a:t>addrinfo</a:t>
            </a:r>
            <a:r>
              <a:rPr lang="en-US" dirty="0"/>
              <a:t> </a:t>
            </a:r>
            <a:r>
              <a:rPr lang="en-US" dirty="0" err="1"/>
              <a:t>struct</a:t>
            </a:r>
            <a:r>
              <a:rPr lang="en-US" dirty="0"/>
              <a:t> returned by </a:t>
            </a:r>
            <a:r>
              <a:rPr lang="en-US" dirty="0" err="1"/>
              <a:t>getaddrinfo</a:t>
            </a:r>
            <a:r>
              <a:rPr lang="en-US" dirty="0"/>
              <a:t> contains arguments that can be passed directly to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function.</a:t>
            </a:r>
          </a:p>
          <a:p>
            <a:r>
              <a:rPr lang="en-US" dirty="0"/>
              <a:t>Also points to a socket address </a:t>
            </a:r>
            <a:r>
              <a:rPr lang="en-US" dirty="0" err="1"/>
              <a:t>struct</a:t>
            </a:r>
            <a:r>
              <a:rPr lang="en-US" dirty="0"/>
              <a:t> that can be passed directly to </a:t>
            </a:r>
            <a:r>
              <a:rPr lang="en-US" dirty="0">
                <a:latin typeface="Courier New"/>
                <a:cs typeface="Courier New"/>
              </a:rPr>
              <a:t>connect</a:t>
            </a:r>
            <a:r>
              <a:rPr lang="en-US" dirty="0">
                <a:latin typeface="+mn-lt"/>
                <a:cs typeface="Courier New"/>
              </a:rPr>
              <a:t> </a:t>
            </a:r>
            <a:r>
              <a:rPr lang="en-US" dirty="0">
                <a:latin typeface="+mn-lt"/>
              </a:rPr>
              <a:t>and</a:t>
            </a:r>
            <a:r>
              <a:rPr lang="en-US" dirty="0"/>
              <a:t> </a:t>
            </a:r>
            <a:r>
              <a:rPr lang="en-US" dirty="0">
                <a:latin typeface="Courier New"/>
                <a:cs typeface="Courier New"/>
              </a:rPr>
              <a:t>bind </a:t>
            </a:r>
            <a:r>
              <a:rPr lang="en-US" dirty="0">
                <a:latin typeface="+mn-lt"/>
                <a:cs typeface="Courier New"/>
              </a:rPr>
              <a:t>functions</a:t>
            </a:r>
            <a:r>
              <a:rPr lang="en-US" dirty="0">
                <a:latin typeface="Courier New"/>
                <a:cs typeface="Courier New"/>
              </a:rPr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28800" y="1333144"/>
            <a:ext cx="8458200" cy="240065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ai_flags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Hints argument flags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ai_family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First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arg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to socket function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ai_socktype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Second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arg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to socket function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ai_protocol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Third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arg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to socket function 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*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ai_canonname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Canonical host name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size_t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ai_addrlen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Size of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ai_addr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struct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sockaddr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ai_addr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 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Ptr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to socket address structure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500" dirty="0" err="1">
                <a:solidFill>
                  <a:srgbClr val="C1651C"/>
                </a:solidFill>
                <a:latin typeface="Courier New"/>
                <a:cs typeface="Courier New"/>
              </a:rPr>
              <a:t>ai_next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;   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en-US" sz="1500" dirty="0" err="1">
                <a:solidFill>
                  <a:srgbClr val="CB2418"/>
                </a:solidFill>
                <a:latin typeface="Courier New"/>
                <a:cs typeface="Courier New"/>
              </a:rPr>
              <a:t>Ptr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 to next item in linked list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};</a:t>
            </a:r>
            <a:endParaRPr lang="is-IS" sz="15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726130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55"/>
            <a:ext cx="10515600" cy="662782"/>
          </a:xfrm>
        </p:spPr>
        <p:txBody>
          <a:bodyPr>
            <a:normAutofit/>
          </a:bodyPr>
          <a:lstStyle/>
          <a:p>
            <a:r>
              <a:rPr lang="en-US" dirty="0"/>
              <a:t>Host and Service Conversion: </a:t>
            </a:r>
            <a:r>
              <a:rPr lang="en-US" dirty="0" err="1"/>
              <a:t>getnameinfo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67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getnameinfo</a:t>
            </a:r>
            <a:r>
              <a:rPr lang="en-US" dirty="0"/>
              <a:t> is the inverse of </a:t>
            </a:r>
            <a:r>
              <a:rPr lang="en-US" dirty="0" err="1"/>
              <a:t>getaddrinfo</a:t>
            </a:r>
            <a:r>
              <a:rPr lang="en-US" dirty="0"/>
              <a:t>, converting a socket address to the corresponding host and service. </a:t>
            </a:r>
          </a:p>
          <a:p>
            <a:pPr lvl="1"/>
            <a:r>
              <a:rPr lang="en-US" dirty="0"/>
              <a:t>Replaces obsolete </a:t>
            </a:r>
            <a:r>
              <a:rPr lang="en-US" dirty="0" err="1"/>
              <a:t>gethostbyaddr</a:t>
            </a:r>
            <a:r>
              <a:rPr lang="en-US" dirty="0"/>
              <a:t> and </a:t>
            </a:r>
            <a:r>
              <a:rPr lang="en-US" dirty="0" err="1"/>
              <a:t>getservbyport</a:t>
            </a:r>
            <a:r>
              <a:rPr lang="en-US" dirty="0"/>
              <a:t> </a:t>
            </a:r>
            <a:r>
              <a:rPr lang="en-US" dirty="0" err="1"/>
              <a:t>funcs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Reentrant and protocol independent. 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752600" y="3570982"/>
            <a:ext cx="8610600" cy="10772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getnameinfo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</a:rPr>
              <a:t> SA *</a:t>
            </a:r>
            <a:r>
              <a:rPr lang="en-US" sz="1600" dirty="0" err="1">
                <a:latin typeface="Courier New" pitchFamily="49" charset="0"/>
              </a:rPr>
              <a:t>sa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socklen_t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salen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In: socket </a:t>
            </a:r>
            <a:r>
              <a:rPr lang="en-US" sz="1600" dirty="0" err="1">
                <a:solidFill>
                  <a:srgbClr val="FF0000"/>
                </a:solidFill>
                <a:latin typeface="Courier New" pitchFamily="49" charset="0"/>
              </a:rPr>
              <a:t>addr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 */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                char *host,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hostlen</a:t>
            </a:r>
            <a:r>
              <a:rPr lang="en-US" sz="1600" dirty="0">
                <a:latin typeface="Courier New" pitchFamily="49" charset="0"/>
              </a:rPr>
              <a:t>,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Out: host */</a:t>
            </a:r>
          </a:p>
          <a:p>
            <a:r>
              <a:rPr lang="en-US" sz="1600" dirty="0">
                <a:latin typeface="Courier New" pitchFamily="49" charset="0"/>
              </a:rPr>
              <a:t>                char *</a:t>
            </a:r>
            <a:r>
              <a:rPr lang="en-US" sz="1600" dirty="0" err="1">
                <a:latin typeface="Courier New" pitchFamily="49" charset="0"/>
              </a:rPr>
              <a:t>serv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servlen</a:t>
            </a:r>
            <a:r>
              <a:rPr lang="en-US" sz="1600" dirty="0">
                <a:latin typeface="Courier New" pitchFamily="49" charset="0"/>
              </a:rPr>
              <a:t>,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Out: service */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flags);                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/* optional flags */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208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Conversion Example (writing our own </a:t>
            </a:r>
            <a:r>
              <a:rPr lang="en-US" dirty="0" err="1"/>
              <a:t>nslookup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731066" y="1817906"/>
            <a:ext cx="8701421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hints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rc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Get a list of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records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memset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(&amp;hints, 0,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//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hints.ai_family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AF_INET;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IPv4 only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hints.ai_socktype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SOCK_STREAM;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Connections only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[1],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&amp;hints,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 !=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stderr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error: %s\n"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gai_strerror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exit(1);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0296" y="5721188"/>
            <a:ext cx="1139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hostinfo.c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744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Example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20392" y="2133601"/>
            <a:ext cx="8214208" cy="329320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Walk the list and display each IP address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flags = NI_NUMERICHOST;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Display address instead of name */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(p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p; p =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ai_next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getnameinfo(p-&gt;ai_addr, p-&gt;ai_addrlen, 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MAXLINE, </a:t>
            </a:r>
            <a:r>
              <a:rPr lang="da-DK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0, flags);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    printf(</a:t>
            </a:r>
            <a:r>
              <a:rPr lang="ro-RO" sz="1600" dirty="0">
                <a:solidFill>
                  <a:srgbClr val="9D206F"/>
                </a:solidFill>
                <a:latin typeface="Courier New"/>
                <a:cs typeface="Courier New"/>
              </a:rPr>
              <a:t>"%s\n"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, buf);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Clean up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freeaddrinfo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4749" y="5057477"/>
            <a:ext cx="1139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F7F7F"/>
                </a:solidFill>
                <a:latin typeface="Calibri" pitchFamily="34" charset="0"/>
              </a:rPr>
              <a:t>hostinfo.c</a:t>
            </a:r>
            <a:endParaRPr lang="en-US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753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hostinfo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131962" y="1390234"/>
            <a:ext cx="7682598" cy="483784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913A8"/>
                </a:solidFill>
                <a:latin typeface="Courier New"/>
                <a:cs typeface="Courier New"/>
              </a:rPr>
              <a:t>whaleshark</a:t>
            </a:r>
            <a:r>
              <a:rPr lang="en-US" dirty="0">
                <a:solidFill>
                  <a:srgbClr val="3913A8"/>
                </a:solidFill>
                <a:latin typeface="Courier New"/>
                <a:cs typeface="Courier New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./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hostinfo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localhost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127.0.0.1</a:t>
            </a:r>
          </a:p>
          <a:p>
            <a:endParaRPr lang="en-US" dirty="0">
              <a:solidFill>
                <a:srgbClr val="3913A8"/>
              </a:solidFill>
              <a:latin typeface="Courier New"/>
              <a:cs typeface="Courier New"/>
            </a:endParaRPr>
          </a:p>
          <a:p>
            <a:r>
              <a:rPr lang="en-US" dirty="0" err="1">
                <a:solidFill>
                  <a:srgbClr val="3913A8"/>
                </a:solidFill>
                <a:latin typeface="Courier New"/>
                <a:cs typeface="Courier New"/>
              </a:rPr>
              <a:t>whaleshark</a:t>
            </a:r>
            <a:r>
              <a:rPr lang="en-US" dirty="0">
                <a:solidFill>
                  <a:srgbClr val="3913A8"/>
                </a:solidFill>
                <a:latin typeface="Courier New"/>
                <a:cs typeface="Courier New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./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hostinfo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128.2.210.175</a:t>
            </a:r>
          </a:p>
          <a:p>
            <a:endParaRPr lang="en-US" dirty="0">
              <a:solidFill>
                <a:srgbClr val="3913A8"/>
              </a:solidFill>
              <a:latin typeface="Courier New"/>
              <a:cs typeface="Courier New"/>
            </a:endParaRPr>
          </a:p>
          <a:p>
            <a:r>
              <a:rPr lang="en-US" dirty="0" err="1">
                <a:solidFill>
                  <a:srgbClr val="3913A8"/>
                </a:solidFill>
                <a:latin typeface="Courier New"/>
                <a:cs typeface="Courier New"/>
              </a:rPr>
              <a:t>whaleshark</a:t>
            </a:r>
            <a:r>
              <a:rPr lang="en-US" dirty="0">
                <a:solidFill>
                  <a:srgbClr val="3913A8"/>
                </a:solidFill>
                <a:latin typeface="Courier New"/>
                <a:cs typeface="Courier New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./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hostinfo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twitter.com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199.16.156.230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199.16.156.38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199.16.156.102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199.16.156.198</a:t>
            </a:r>
          </a:p>
          <a:p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 err="1">
                <a:solidFill>
                  <a:srgbClr val="3913A8"/>
                </a:solidFill>
                <a:latin typeface="Courier New"/>
                <a:cs typeface="Courier New"/>
              </a:rPr>
              <a:t>whaleshark</a:t>
            </a:r>
            <a:r>
              <a:rPr lang="en-US" dirty="0">
                <a:solidFill>
                  <a:srgbClr val="3913A8"/>
                </a:solidFill>
                <a:latin typeface="Courier New"/>
                <a:cs typeface="Courier New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./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hostinfo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</a:rPr>
              <a:t>google.com</a:t>
            </a:r>
            <a:endParaRPr lang="en-US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172.217.15.110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2607:f8b0:4004:802::200e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5387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10174</TotalTime>
  <Words>9274</Words>
  <Application>Microsoft Office PowerPoint</Application>
  <PresentationFormat>Widescreen</PresentationFormat>
  <Paragraphs>1743</Paragraphs>
  <Slides>99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15" baseType="lpstr">
      <vt:lpstr>Arial</vt:lpstr>
      <vt:lpstr>Calibri</vt:lpstr>
      <vt:lpstr>Calibri Light</vt:lpstr>
      <vt:lpstr>Courier New</vt:lpstr>
      <vt:lpstr>DejaVu Sans</vt:lpstr>
      <vt:lpstr>Inconsolata</vt:lpstr>
      <vt:lpstr>Lato</vt:lpstr>
      <vt:lpstr>Lato Black</vt:lpstr>
      <vt:lpstr>Lato Hairline</vt:lpstr>
      <vt:lpstr>Lato Heavy</vt:lpstr>
      <vt:lpstr>Lato Light</vt:lpstr>
      <vt:lpstr>Marcellus SC</vt:lpstr>
      <vt:lpstr>Segoe UI</vt:lpstr>
      <vt:lpstr>Times</vt:lpstr>
      <vt:lpstr>Wingdings 2</vt:lpstr>
      <vt:lpstr>CS449_Template</vt:lpstr>
      <vt:lpstr>Network Programming</vt:lpstr>
      <vt:lpstr>A Client-Server Transaction</vt:lpstr>
      <vt:lpstr>Hardware Organization of a Network Host</vt:lpstr>
      <vt:lpstr>Computer Networks</vt:lpstr>
      <vt:lpstr>Logical Structure of an internet</vt:lpstr>
      <vt:lpstr>The Notion of an internet Protocol</vt:lpstr>
      <vt:lpstr>What Does an internet Protocol Do?</vt:lpstr>
      <vt:lpstr>Global IP Internet (upper case)</vt:lpstr>
      <vt:lpstr>Hardware and Software Organization  of an Internet Application</vt:lpstr>
      <vt:lpstr>A Programmer’s View of the Internet</vt:lpstr>
      <vt:lpstr>(1) IP Addresses</vt:lpstr>
      <vt:lpstr>Dotted Decimal Notation</vt:lpstr>
      <vt:lpstr>(2) Internet Domain Names</vt:lpstr>
      <vt:lpstr>Domain Naming System (DNS)</vt:lpstr>
      <vt:lpstr>Properties of DNS Mappings</vt:lpstr>
      <vt:lpstr>Properties of DNS Mappings (cont)</vt:lpstr>
      <vt:lpstr>Properties of DNS Mappings (cont)</vt:lpstr>
      <vt:lpstr>(3) Internet Connections</vt:lpstr>
      <vt:lpstr>Well-known Service Names and Ports</vt:lpstr>
      <vt:lpstr>Anatomy of a Connection</vt:lpstr>
      <vt:lpstr>Using Ports to Identify Services</vt:lpstr>
      <vt:lpstr>Sockets Interface</vt:lpstr>
      <vt:lpstr>Sockets</vt:lpstr>
      <vt:lpstr>Socket Programming Example</vt:lpstr>
      <vt:lpstr>Echo Server/Client Session Example</vt:lpstr>
      <vt:lpstr>PowerPoint Presentation</vt:lpstr>
      <vt:lpstr>PowerPoint Presentation</vt:lpstr>
      <vt:lpstr>Echo Server: Main Routine</vt:lpstr>
      <vt:lpstr>PowerPoint Presentation</vt:lpstr>
      <vt:lpstr>Echo Client: Main Routine</vt:lpstr>
      <vt:lpstr>Read and write system calls</vt:lpstr>
      <vt:lpstr>Sockets Interface</vt:lpstr>
      <vt:lpstr>connect/accept Illustrated</vt:lpstr>
      <vt:lpstr>Connected vs. Listening Descriptors</vt:lpstr>
      <vt:lpstr>Testing Servers Using telnet</vt:lpstr>
      <vt:lpstr>Testing the Echo Server With telnet</vt:lpstr>
      <vt:lpstr>Web Server Basics</vt:lpstr>
      <vt:lpstr>Web Content</vt:lpstr>
      <vt:lpstr>Static and Dynamic Content</vt:lpstr>
      <vt:lpstr>URLs and how clients and servers use them</vt:lpstr>
      <vt:lpstr>HTTP Requests</vt:lpstr>
      <vt:lpstr>HTTP Responses</vt:lpstr>
      <vt:lpstr>Example HTTP Transaction</vt:lpstr>
      <vt:lpstr>Example HTTP Transaction, Take 2</vt:lpstr>
      <vt:lpstr>Proxies</vt:lpstr>
      <vt:lpstr>Why Proxies?</vt:lpstr>
      <vt:lpstr>Sockets Interface</vt:lpstr>
      <vt:lpstr>Sockets Interface: socket</vt:lpstr>
      <vt:lpstr>Sockets Interface</vt:lpstr>
      <vt:lpstr>Sockets Interface: bind</vt:lpstr>
      <vt:lpstr>Sockets Interface</vt:lpstr>
      <vt:lpstr>Sockets Interface: listen</vt:lpstr>
      <vt:lpstr>Sockets Interface</vt:lpstr>
      <vt:lpstr>Sockets Interface: accept</vt:lpstr>
      <vt:lpstr>Sockets Interface</vt:lpstr>
      <vt:lpstr>Sockets Interface: connect</vt:lpstr>
      <vt:lpstr>Sockets Interface</vt:lpstr>
      <vt:lpstr>Sockets Interface</vt:lpstr>
      <vt:lpstr>Sockets Helper: open_clientfd</vt:lpstr>
      <vt:lpstr>getaddrinfo Linked List</vt:lpstr>
      <vt:lpstr>Sockets Helper: open_clientfd (cont)</vt:lpstr>
      <vt:lpstr>Sockets Interface</vt:lpstr>
      <vt:lpstr>Sockets Helper: open_listenfd</vt:lpstr>
      <vt:lpstr>Sockets Helper: open_listenfd (cont)</vt:lpstr>
      <vt:lpstr>Sockets Helper: open_listenfd (cont)</vt:lpstr>
      <vt:lpstr>PowerPoint Presentation</vt:lpstr>
      <vt:lpstr>Tiny Web Server</vt:lpstr>
      <vt:lpstr>Tiny Operation</vt:lpstr>
      <vt:lpstr>Tiny Serving Static Content</vt:lpstr>
      <vt:lpstr>Serving Dynamic Content</vt:lpstr>
      <vt:lpstr>Serving Dynamic Content (cont)</vt:lpstr>
      <vt:lpstr>Serving Dynamic Content (cont)</vt:lpstr>
      <vt:lpstr>Issues in Serving Dynamic Content</vt:lpstr>
      <vt:lpstr>CGI</vt:lpstr>
      <vt:lpstr>The add.com Experience</vt:lpstr>
      <vt:lpstr>Serving Dynamic Content With GET</vt:lpstr>
      <vt:lpstr>Serving Dynamic Content With GET</vt:lpstr>
      <vt:lpstr>Serving Dynamic Content With GET</vt:lpstr>
      <vt:lpstr>Serving Dynamic Content with GET</vt:lpstr>
      <vt:lpstr>Serving Dynamic Content with GET</vt:lpstr>
      <vt:lpstr>Serving Dynamic Content With GET </vt:lpstr>
      <vt:lpstr>For More Information</vt:lpstr>
      <vt:lpstr>PowerPoint Presentation</vt:lpstr>
      <vt:lpstr>Lowest Level: Ethernet Segment</vt:lpstr>
      <vt:lpstr>Next Level: Bridged Ethernet Segment</vt:lpstr>
      <vt:lpstr>Conceptual View of LANs</vt:lpstr>
      <vt:lpstr>Next Level: internets</vt:lpstr>
      <vt:lpstr>Transferring internet Data Via Encapsulation</vt:lpstr>
      <vt:lpstr>Aside: IPv4 and IPv6</vt:lpstr>
      <vt:lpstr>Socket Address Structures</vt:lpstr>
      <vt:lpstr>Socket Address Structures</vt:lpstr>
      <vt:lpstr>Host and Service Conversion: getaddrinfo</vt:lpstr>
      <vt:lpstr>Host and Service Conversion: getaddrinfo</vt:lpstr>
      <vt:lpstr>Linked List Returned by getaddrinfo</vt:lpstr>
      <vt:lpstr>addrinfo Struct</vt:lpstr>
      <vt:lpstr>Host and Service Conversion: getnameinfo</vt:lpstr>
      <vt:lpstr>Conversion Example (writing our own nslookup)</vt:lpstr>
      <vt:lpstr>Conversion Example (cont)</vt:lpstr>
      <vt:lpstr>Running hostinfo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Hsia</dc:creator>
  <cp:lastModifiedBy>Luis Oliveira</cp:lastModifiedBy>
  <cp:revision>174</cp:revision>
  <cp:lastPrinted>2017-11-14T17:41:16Z</cp:lastPrinted>
  <dcterms:created xsi:type="dcterms:W3CDTF">2016-11-10T06:56:23Z</dcterms:created>
  <dcterms:modified xsi:type="dcterms:W3CDTF">2021-07-29T15:38:30Z</dcterms:modified>
</cp:coreProperties>
</file>