
<file path=[Content_Types].xml><?xml version="1.0" encoding="utf-8"?>
<Types xmlns="http://schemas.openxmlformats.org/package/2006/content-types"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5"/>
  </p:notesMasterIdLst>
  <p:sldIdLst>
    <p:sldId id="256" r:id="rId2"/>
    <p:sldId id="519" r:id="rId3"/>
    <p:sldId id="527" r:id="rId4"/>
    <p:sldId id="555" r:id="rId5"/>
    <p:sldId id="556" r:id="rId6"/>
    <p:sldId id="559" r:id="rId7"/>
    <p:sldId id="560" r:id="rId8"/>
    <p:sldId id="558" r:id="rId9"/>
    <p:sldId id="561" r:id="rId10"/>
    <p:sldId id="562" r:id="rId11"/>
    <p:sldId id="571" r:id="rId12"/>
    <p:sldId id="563" r:id="rId13"/>
    <p:sldId id="564" r:id="rId14"/>
    <p:sldId id="565" r:id="rId15"/>
    <p:sldId id="569" r:id="rId16"/>
    <p:sldId id="566" r:id="rId17"/>
    <p:sldId id="568" r:id="rId18"/>
    <p:sldId id="567" r:id="rId19"/>
    <p:sldId id="570" r:id="rId20"/>
    <p:sldId id="572" r:id="rId21"/>
    <p:sldId id="573" r:id="rId22"/>
    <p:sldId id="574" r:id="rId23"/>
    <p:sldId id="575" r:id="rId24"/>
    <p:sldId id="584" r:id="rId25"/>
    <p:sldId id="585" r:id="rId26"/>
    <p:sldId id="576" r:id="rId27"/>
    <p:sldId id="577" r:id="rId28"/>
    <p:sldId id="578" r:id="rId29"/>
    <p:sldId id="579" r:id="rId30"/>
    <p:sldId id="580" r:id="rId31"/>
    <p:sldId id="583" r:id="rId32"/>
    <p:sldId id="581" r:id="rId33"/>
    <p:sldId id="582" r:id="rId34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1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200"/>
    <a:srgbClr val="FF5200"/>
    <a:srgbClr val="FF5C00"/>
    <a:srgbClr val="592A04"/>
    <a:srgbClr val="8DB000"/>
    <a:srgbClr val="FCECD6"/>
    <a:srgbClr val="FCF9C5"/>
    <a:srgbClr val="8BD5F4"/>
    <a:srgbClr val="FA0AB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15" autoAdjust="0"/>
    <p:restoredTop sz="90423" autoAdjust="0"/>
  </p:normalViewPr>
  <p:slideViewPr>
    <p:cSldViewPr>
      <p:cViewPr varScale="1">
        <p:scale>
          <a:sx n="133" d="100"/>
          <a:sy n="133" d="100"/>
        </p:scale>
        <p:origin x="1264" y="192"/>
      </p:cViewPr>
      <p:guideLst>
        <p:guide orient="horz" pos="1800"/>
        <p:guide pos="1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93253-51AE-4C40-AB6B-AA3A7DF4D210}" type="datetimeFigureOut">
              <a:rPr lang="en-US" smtClean="0"/>
              <a:pPr/>
              <a:t>6/21/22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729AB-B77D-48AE-AA10-D1BD2B4D03E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0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[joke image: a computer with like, nine weird keyboards attached to it with like a thousand keys total… plus two kick drum pedals]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95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function name overloading: same name, different signatures.</a:t>
            </a:r>
          </a:p>
          <a:p>
            <a:r>
              <a:rPr lang="en-US" dirty="0"/>
              <a:t>- operator overloading: in C++ and Rust, you can define the built-in operators to work on your own types, like giving them new signatures.</a:t>
            </a:r>
          </a:p>
          <a:p>
            <a:r>
              <a:rPr lang="en-US" dirty="0"/>
              <a:t>	- in Java, + is overloaded with three operations (int addition, float addition, string concatenation) but you can't add more meanings.</a:t>
            </a:r>
          </a:p>
          <a:p>
            <a:r>
              <a:rPr lang="en-US" dirty="0"/>
              <a:t>- dynamically-typed languages are sort of like, "every location is a variant of all possible types of values"</a:t>
            </a:r>
          </a:p>
          <a:p>
            <a:r>
              <a:rPr lang="en-US" dirty="0"/>
              <a:t>	- so you get polymorphism for free. every function can work on every type, as long as it doesn't do something that's a type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2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530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as we'll see, "multiple types" can be finite or infinite.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[diagram: a small class hierarchy. Object is the root. Base extends Object. A extends Base. B also extends Base.]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96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[diagram: a small symbol table with two entries, “A” which refers to a class A, and “print” which refers to an “overload set.” The overload set is a set of all methods with the same name but different type signatures. so name resolution tells us which overload set to look at, and </a:t>
            </a:r>
            <a:r>
              <a:rPr lang="en-US" dirty="0" err="1"/>
              <a:t>typechecking</a:t>
            </a:r>
            <a:r>
              <a:rPr lang="en-US" dirty="0"/>
              <a:t> tells us which overload from that set should be used.]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80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there's no real standard for name mangling, as this shows.</a:t>
            </a:r>
          </a:p>
          <a:p>
            <a:r>
              <a:rPr lang="en-US" dirty="0"/>
              <a:t>- not every language needs name mangling because not every language supports overloading (e.g. C does not).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63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each subtype is "the base type </a:t>
            </a:r>
            <a:r>
              <a:rPr lang="en-US" i="1" dirty="0"/>
              <a:t>and then some.</a:t>
            </a:r>
            <a:r>
              <a:rPr lang="en-US" i="0" dirty="0"/>
              <a:t>"</a:t>
            </a:r>
          </a:p>
          <a:p>
            <a:r>
              <a:rPr lang="en-US" i="0" dirty="0"/>
              <a:t>- "transitively" means that you can follow any number of "extends" relations to eventually get to Object. </a:t>
            </a:r>
          </a:p>
          <a:p>
            <a:r>
              <a:rPr lang="en-US" i="0" dirty="0"/>
              <a:t>	- e.g. "B is a subtype of A, which is a subtype of Object."</a:t>
            </a:r>
          </a:p>
          <a:p>
            <a:r>
              <a:rPr lang="en-US" i="0" dirty="0"/>
              <a:t>- the word “subtype” is a little weird because a “subtype” is a “subset of values” but has a “superset of operations”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68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class inheritance makes a tree; interfaces let you group things more freely, like Venn diagrams.</a:t>
            </a:r>
          </a:p>
          <a:p>
            <a:r>
              <a:rPr lang="en-US" dirty="0"/>
              <a:t>	- if you know anything about taxonomy, interfaces are "polyphyletic".</a:t>
            </a:r>
          </a:p>
          <a:p>
            <a:r>
              <a:rPr lang="en-US" dirty="0"/>
              <a:t>- there's a school of thought that says "keep your inheritance hierarchy flat, and use interfaces for everything."</a:t>
            </a:r>
          </a:p>
          <a:p>
            <a:r>
              <a:rPr lang="en-US" dirty="0"/>
              <a:t>	- until more recent versions of Java, this was a nice idea but difficult to use in practice, as Java provided no code reuse features other than class inheritance.</a:t>
            </a:r>
          </a:p>
          <a:p>
            <a:r>
              <a:rPr lang="en-US" dirty="0"/>
              <a:t>	- but now Java interfaces can have default method implementations, which makes this style of programming more ergonomic.</a:t>
            </a:r>
          </a:p>
          <a:p>
            <a:endParaRPr lang="en-US" dirty="0"/>
          </a:p>
          <a:p>
            <a:r>
              <a:rPr lang="en-US" dirty="0"/>
              <a:t>[diagram: class Base extends Object, but it also </a:t>
            </a:r>
            <a:r>
              <a:rPr lang="en-US" i="1" dirty="0"/>
              <a:t>implements</a:t>
            </a:r>
            <a:r>
              <a:rPr lang="en-US" i="0" dirty="0"/>
              <a:t> the Comparable and Cloneable interfaces. So it has three base types!]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116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subtyping is one of those things that seems like a Simple and Easy and Understandable feature at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85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 Java, dynamic dispatch is limited to the object on which a virtual method is called. this is called "single dispatch."</a:t>
            </a:r>
          </a:p>
          <a:p>
            <a:r>
              <a:rPr lang="en-US" dirty="0"/>
              <a:t>- multiple dispatch extends this to two or more objects, turning every overloaded function into a set of virtual methods, where the method called depends on the argument, and is determined at runtime – just like Java-style virtual methods.</a:t>
            </a:r>
          </a:p>
          <a:p>
            <a:r>
              <a:rPr lang="en-US" dirty="0"/>
              <a:t>- the "Visitor Pattern" is a way of emulating multiple dispatch in languages like Java and C++, but it's very verbose and requires manually adding overloads for each subtype you want to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22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[diagram: class Object has a field layout of “</a:t>
            </a:r>
            <a:r>
              <a:rPr lang="en-US" dirty="0" err="1"/>
              <a:t>vtable</a:t>
            </a:r>
            <a:r>
              <a:rPr lang="en-US" dirty="0"/>
              <a:t>, monitor”, and a </a:t>
            </a:r>
            <a:r>
              <a:rPr lang="en-US" dirty="0" err="1"/>
              <a:t>vtable</a:t>
            </a:r>
            <a:r>
              <a:rPr lang="en-US" dirty="0"/>
              <a:t> of 4 entries: the “ID card”, the clone method, the equals method, and the </a:t>
            </a:r>
            <a:r>
              <a:rPr lang="en-US" dirty="0" err="1"/>
              <a:t>toString</a:t>
            </a:r>
            <a:r>
              <a:rPr lang="en-US" dirty="0"/>
              <a:t> method. class A extends Object, and has a field “x” and a method “foo.” its field layout is “</a:t>
            </a:r>
            <a:r>
              <a:rPr lang="en-US" dirty="0" err="1"/>
              <a:t>vtable</a:t>
            </a:r>
            <a:r>
              <a:rPr lang="en-US" dirty="0"/>
              <a:t>, monitor, x” – the same as Object’s, but with “x” appended to it. and A’s </a:t>
            </a:r>
            <a:r>
              <a:rPr lang="en-US" dirty="0" err="1"/>
              <a:t>vtable</a:t>
            </a:r>
            <a:r>
              <a:rPr lang="en-US" dirty="0"/>
              <a:t> has 5 entries: the “ID card”, the clone method, the equals method, to </a:t>
            </a:r>
            <a:r>
              <a:rPr lang="en-US" dirty="0" err="1"/>
              <a:t>toString</a:t>
            </a:r>
            <a:r>
              <a:rPr lang="en-US" dirty="0"/>
              <a:t> method, and the food method – the same as Object’s, but with “foo” appended to it.]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6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Go's interface variables work basically the exact same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568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…if you never took 1541, none of this makes sense, but believe me when I tell you that caching, branch prediction, and pipelining are </a:t>
            </a:r>
            <a:r>
              <a:rPr lang="en-US" i="1" dirty="0"/>
              <a:t>absolutely crucial</a:t>
            </a:r>
            <a:r>
              <a:rPr lang="en-US" i="0" dirty="0"/>
              <a:t> for getting acceptable performance in modern CPU designs.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76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- there is another "layer" above types: </a:t>
            </a:r>
            <a:r>
              <a:rPr lang="en-US" b="1" i="0" dirty="0"/>
              <a:t>kinds</a:t>
            </a:r>
            <a:r>
              <a:rPr lang="en-US" b="0" i="0" dirty="0"/>
              <a:t>.</a:t>
            </a:r>
          </a:p>
          <a:p>
            <a:r>
              <a:rPr lang="en-US" b="0" i="0" dirty="0"/>
              <a:t>	- regular, non-polymorphic types have kind *</a:t>
            </a:r>
          </a:p>
          <a:p>
            <a:r>
              <a:rPr lang="en-US" b="0" i="0" dirty="0"/>
              <a:t>	- polymorphic type constructors </a:t>
            </a:r>
            <a:r>
              <a:rPr lang="en-US" b="1" i="0" dirty="0"/>
              <a:t>map from types to types,</a:t>
            </a:r>
            <a:r>
              <a:rPr lang="en-US" b="0" i="0" dirty="0"/>
              <a:t> so they have kind *⇒*.</a:t>
            </a:r>
          </a:p>
          <a:p>
            <a:r>
              <a:rPr lang="en-US" b="0" i="0" dirty="0"/>
              <a:t>- in type-theoretic notation, id doesn't have a type, it has a </a:t>
            </a:r>
            <a:r>
              <a:rPr lang="en-US" b="0" i="1" dirty="0"/>
              <a:t>kind: </a:t>
            </a:r>
            <a:r>
              <a:rPr lang="en-US" b="0" i="0" dirty="0"/>
              <a:t>ΛT.T</a:t>
            </a:r>
            <a:r>
              <a:rPr lang="en-US" sz="1000" b="1" dirty="0"/>
              <a:t>→</a:t>
            </a:r>
            <a:r>
              <a:rPr lang="en-US" b="0" i="0" dirty="0"/>
              <a:t>T</a:t>
            </a:r>
          </a:p>
          <a:p>
            <a:r>
              <a:rPr lang="en-US" b="0" dirty="0"/>
              <a:t>- there are two "layers" to this function: the first layer is the type arguments &lt;T&gt;, and the second is the value arguments (t: 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0420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as mentioned in the last lecture's slide notes, Rust has a rule that </a:t>
            </a:r>
            <a:r>
              <a:rPr lang="en-US" dirty="0" err="1"/>
              <a:t>unsuffixed</a:t>
            </a:r>
            <a:r>
              <a:rPr lang="en-US" dirty="0"/>
              <a:t> integers, with no other constraints on them, will become i32. https://</a:t>
            </a:r>
            <a:r>
              <a:rPr lang="en-US" dirty="0" err="1"/>
              <a:t>doc.rust-lang.org</a:t>
            </a:r>
            <a:r>
              <a:rPr lang="en-US" dirty="0"/>
              <a:t>/stable/rust-by-example/types/</a:t>
            </a:r>
            <a:r>
              <a:rPr lang="en-US" dirty="0" err="1"/>
              <a:t>literals.html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63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/>
              <a:t>[diagram: my program calls the “id” function 3 times with 3 different types: i32, f64, and &amp;str. so, the compiler knows that it has to create </a:t>
            </a:r>
            <a:r>
              <a:rPr lang="en-US" b="0" i="0" dirty="0" err="1"/>
              <a:t>monomorphizations</a:t>
            </a:r>
            <a:r>
              <a:rPr lang="en-US" b="0" i="0" dirty="0"/>
              <a:t> for those 3 types. basically, it copies-and-pastes the code of “id” but replacing the type variable with a concrete type each time.]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155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Java kind of goes a step further and "erases" the types of generics, so that at runtime, it's impossible to tell what type was used</a:t>
            </a:r>
          </a:p>
          <a:p>
            <a:r>
              <a:rPr lang="en-US" dirty="0"/>
              <a:t>	- this is why you have to do weird awkward stuff to allocate arrays of generic type within the class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77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</a:t>
            </a:r>
            <a:r>
              <a:rPr lang="en-US" b="1" dirty="0"/>
              <a:t>set of operations </a:t>
            </a:r>
            <a:r>
              <a:rPr lang="en-US" b="0" dirty="0"/>
              <a:t>that can be performed on a variable of universal type is the </a:t>
            </a:r>
            <a:r>
              <a:rPr lang="en-US" b="1" dirty="0"/>
              <a:t>intersection </a:t>
            </a:r>
            <a:r>
              <a:rPr lang="en-US" b="0" dirty="0"/>
              <a:t>of the sets of operations for </a:t>
            </a:r>
            <a:r>
              <a:rPr lang="en-US" b="1" dirty="0"/>
              <a:t>all types in the language.</a:t>
            </a:r>
          </a:p>
          <a:p>
            <a:r>
              <a:rPr lang="en-US" b="0" dirty="0"/>
              <a:t>	- so you're limited to the operations which can be performed on any type…</a:t>
            </a:r>
          </a:p>
          <a:p>
            <a:r>
              <a:rPr lang="en-US" b="0" dirty="0"/>
              <a:t>	- which basically limits you to shuffling values around (or in Java, anything you can do with an Object).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211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Java has several other kinds of type bounds for generics, like super and wildcards and so on, but it's the same basic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30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644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interfaces themselves are a form of bounded quantification, but you can't enforce any kind of interdependence between the arguments/return value with only interfaces.</a:t>
            </a:r>
          </a:p>
          <a:p>
            <a:r>
              <a:rPr lang="en-US" dirty="0"/>
              <a:t>* the performance thing doesn't quite apply to Java cause it </a:t>
            </a:r>
            <a:r>
              <a:rPr lang="en-US" i="1" dirty="0"/>
              <a:t>is</a:t>
            </a:r>
            <a:r>
              <a:rPr lang="en-US" i="0" dirty="0"/>
              <a:t> still doing </a:t>
            </a:r>
            <a:r>
              <a:rPr lang="en-US" i="1" dirty="0"/>
              <a:t>some</a:t>
            </a:r>
            <a:r>
              <a:rPr lang="en-US" i="0" dirty="0"/>
              <a:t> run-time type checking under the hood.</a:t>
            </a:r>
          </a:p>
          <a:p>
            <a:r>
              <a:rPr lang="en-US" i="0" dirty="0"/>
              <a:t>	- but the static type correctness checking is still a big advantage in writing robust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534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that is, there will be false negatives: programs which actually </a:t>
            </a:r>
            <a:r>
              <a:rPr lang="en-US" i="1" dirty="0"/>
              <a:t>are correct</a:t>
            </a:r>
            <a:r>
              <a:rPr lang="en-US" i="0" dirty="0"/>
              <a:t> but that the type system will disallow.</a:t>
            </a:r>
            <a:endParaRPr lang="en-US" dirty="0"/>
          </a:p>
          <a:p>
            <a:r>
              <a:rPr lang="en-US" dirty="0"/>
              <a:t>- "correctness" is kind of a tricky concept in and of itself, and checking correctness amounts to simulating the program.</a:t>
            </a:r>
          </a:p>
          <a:p>
            <a:r>
              <a:rPr lang="en-US" dirty="0"/>
              <a:t>	- which means checking correctness requires solving the halting problem. dammit!</a:t>
            </a:r>
          </a:p>
          <a:p>
            <a:endParaRPr lang="en-US" dirty="0"/>
          </a:p>
          <a:p>
            <a:r>
              <a:rPr lang="en-US" dirty="0"/>
              <a:t>[diagram: a graph of two objects that point to each other in a cycle.]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729AB-B77D-48AE-AA10-D1BD2B4D03E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60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20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14501"/>
            <a:ext cx="7772400" cy="1225021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77645"/>
            <a:ext cx="7772400" cy="1460500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11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162300"/>
            <a:ext cx="9144000" cy="18288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</p:spTree>
    <p:extLst/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801659"/>
          </a:xfrm>
        </p:spPr>
        <p:txBody>
          <a:bodyPr>
            <a:normAutofit/>
          </a:bodyPr>
          <a:lstStyle>
            <a:lvl1pPr marL="257175" indent="-257175">
              <a:buSzPct val="100000"/>
              <a:buFont typeface="Trebuchet MS" pitchFamily="34" charset="0"/>
              <a:buChar char="●"/>
              <a:defRPr sz="2200"/>
            </a:lvl1pPr>
            <a:lvl2pPr marL="515780" indent="-257175">
              <a:defRPr sz="2200"/>
            </a:lvl2pPr>
            <a:lvl3pPr marL="772955" indent="-250032">
              <a:tabLst/>
              <a:defRPr sz="2200" b="0"/>
            </a:lvl3pPr>
            <a:lvl4pPr marL="1031558" indent="-257175">
              <a:tabLst/>
              <a:defRPr sz="2200" b="0"/>
            </a:lvl4pPr>
            <a:lvl5pPr marL="1285875" indent="-254318"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5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>
  <p:cSld name="Title and Content (no ani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801659"/>
          </a:xfrm>
        </p:spPr>
        <p:txBody>
          <a:bodyPr>
            <a:normAutofit/>
          </a:bodyPr>
          <a:lstStyle>
            <a:lvl1pPr marL="257175" indent="-257175">
              <a:buSzPct val="100000"/>
              <a:buFont typeface="Trebuchet MS" pitchFamily="34" charset="0"/>
              <a:buChar char="●"/>
              <a:defRPr sz="2200"/>
            </a:lvl1pPr>
            <a:lvl2pPr marL="515780" indent="-257175">
              <a:defRPr sz="2200"/>
            </a:lvl2pPr>
            <a:lvl3pPr marL="772955" indent="-250032">
              <a:tabLst/>
              <a:defRPr sz="2200" b="0"/>
            </a:lvl3pPr>
            <a:lvl4pPr marL="1031558" indent="-257175">
              <a:tabLst/>
              <a:defRPr sz="2200" b="0"/>
            </a:lvl4pPr>
            <a:lvl5pPr marL="1285875" indent="-254318">
              <a:defRPr sz="2200"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0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14501"/>
            <a:ext cx="7772400" cy="1225021"/>
          </a:xfrm>
        </p:spPr>
        <p:txBody>
          <a:bodyPr anchor="b">
            <a:no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3162300"/>
            <a:ext cx="9144000" cy="18288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</p:spTree>
    <p:extLst/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520"/>
            </a:lvl1pPr>
            <a:lvl2pPr>
              <a:defRPr sz="2160"/>
            </a:lvl2pPr>
            <a:lvl3pPr>
              <a:defRPr sz="1800"/>
            </a:lvl3pPr>
            <a:lvl4pPr>
              <a:defRPr sz="1620"/>
            </a:lvl4pPr>
            <a:lvl5pPr>
              <a:defRPr sz="1620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160"/>
            </a:lvl1pPr>
            <a:lvl2pPr>
              <a:defRPr sz="1800"/>
            </a:lvl2pPr>
            <a:lvl3pPr>
              <a:defRPr sz="162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4"/>
            <a:ext cx="5111750" cy="4877594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9"/>
            <a:ext cx="3008313" cy="3909219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3"/>
            <a:ext cx="5486400" cy="670719"/>
          </a:xfrm>
        </p:spPr>
        <p:txBody>
          <a:bodyPr/>
          <a:lstStyle>
            <a:lvl1pPr marL="0" indent="0">
              <a:buNone/>
              <a:defRPr sz="1260"/>
            </a:lvl1pPr>
            <a:lvl2pPr marL="411480" indent="0">
              <a:buNone/>
              <a:defRPr sz="1080"/>
            </a:lvl2pPr>
            <a:lvl3pPr marL="822960" indent="0">
              <a:buNone/>
              <a:defRPr sz="900"/>
            </a:lvl3pPr>
            <a:lvl4pPr marL="1234440" indent="0">
              <a:buNone/>
              <a:defRPr sz="810"/>
            </a:lvl4pPr>
            <a:lvl5pPr marL="1645920" indent="0">
              <a:buNone/>
              <a:defRPr sz="810"/>
            </a:lvl5pPr>
            <a:lvl6pPr marL="2057400" indent="0">
              <a:buNone/>
              <a:defRPr sz="810"/>
            </a:lvl6pPr>
            <a:lvl7pPr marL="2468880" indent="0">
              <a:buNone/>
              <a:defRPr sz="810"/>
            </a:lvl7pPr>
            <a:lvl8pPr marL="2880360" indent="0">
              <a:buNone/>
              <a:defRPr sz="810"/>
            </a:lvl8pPr>
            <a:lvl9pPr marL="3291840" indent="0">
              <a:buNone/>
              <a:defRPr sz="8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7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7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CS447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/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5600700"/>
            <a:ext cx="9144000" cy="114300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495300"/>
          </a:xfrm>
          <a:prstGeom prst="rect">
            <a:avLst/>
          </a:prstGeom>
          <a:solidFill>
            <a:srgbClr val="5639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0"/>
            <a:ext cx="8991600" cy="4953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495301"/>
            <a:ext cx="8991600" cy="4801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5296960"/>
            <a:ext cx="12192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CS447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5296960"/>
            <a:ext cx="6858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2B95B-556F-44BD-91A5-D80C1B9E2B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ransition/>
  <p:hf hdr="0" ftr="0" dt="0"/>
  <p:txStyles>
    <p:titleStyle>
      <a:lvl1pPr algn="l" defTabSz="82296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latin typeface="+mj-lt"/>
          <a:ea typeface="GulimChe" pitchFamily="49" charset="-127"/>
          <a:cs typeface="MoolBoran" pitchFamily="34" charset="0"/>
        </a:defRPr>
      </a:lvl1pPr>
    </p:titleStyle>
    <p:bodyStyle>
      <a:lvl1pPr marL="204312" indent="-204312" algn="l" defTabSz="822960" rtl="0" eaLnBrk="1" latinLnBrk="0" hangingPunct="1">
        <a:spcBef>
          <a:spcPts val="0"/>
        </a:spcBef>
        <a:buSzPct val="150000"/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5767" indent="-207170" algn="l" defTabSz="822960" rtl="0" eaLnBrk="1" latinLnBrk="0" hangingPunct="1">
        <a:spcBef>
          <a:spcPts val="0"/>
        </a:spcBef>
        <a:buFont typeface="Courier New" pitchFamily="49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620078" indent="-205740" algn="l" defTabSz="822960" rtl="0" eaLnBrk="1" latinLnBrk="0" hangingPunct="1">
        <a:spcBef>
          <a:spcPts val="0"/>
        </a:spcBef>
        <a:buFont typeface="Wingdings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821532" indent="-205740" algn="l" defTabSz="822960" rtl="0" eaLnBrk="1" latinLnBrk="0" hangingPunct="1">
        <a:spcBef>
          <a:spcPts val="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205740" algn="l" defTabSz="822960" rtl="0" eaLnBrk="1" latinLnBrk="0" hangingPunct="1">
        <a:spcBef>
          <a:spcPts val="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Typing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 1622</a:t>
            </a:r>
          </a:p>
          <a:p>
            <a:r>
              <a:rPr lang="en-US" dirty="0"/>
              <a:t>Jarrett Billingsley</a:t>
            </a:r>
          </a:p>
        </p:txBody>
      </p:sp>
    </p:spTree>
    <p:extLst>
      <p:ext uri="{BB962C8B-B14F-4D97-AF65-F5344CB8AC3E}">
        <p14:creationId xmlns:p14="http://schemas.microsoft.com/office/powerpoint/2010/main" val="361208656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017CE-A372-C744-8763-80C56E42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EBBF7-1C6E-294A-B5C4-174BB20AA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904999"/>
          </a:xfrm>
        </p:spPr>
        <p:txBody>
          <a:bodyPr>
            <a:normAutofit/>
          </a:bodyPr>
          <a:lstStyle/>
          <a:p>
            <a:r>
              <a:rPr lang="en-US" dirty="0"/>
              <a:t>the exam is on Monday, don’t forget!</a:t>
            </a:r>
          </a:p>
          <a:p>
            <a:pPr lvl="1"/>
            <a:r>
              <a:rPr lang="en-US" dirty="0"/>
              <a:t>we’ll do a little review before we start.</a:t>
            </a:r>
          </a:p>
          <a:p>
            <a:pPr lvl="1"/>
            <a:r>
              <a:rPr lang="en-US" b="1" dirty="0"/>
              <a:t>it will be taken </a:t>
            </a:r>
            <a:r>
              <a:rPr lang="en-US" b="1" i="1" dirty="0"/>
              <a:t>on Canvas, </a:t>
            </a:r>
            <a:r>
              <a:rPr lang="en-US" b="1" dirty="0"/>
              <a:t>but </a:t>
            </a:r>
            <a:r>
              <a:rPr lang="en-US" b="1" i="1" dirty="0"/>
              <a:t>in person, </a:t>
            </a:r>
            <a:r>
              <a:rPr lang="en-US" dirty="0"/>
              <a:t>so bring a computer.</a:t>
            </a:r>
            <a:endParaRPr lang="en-US" b="1" dirty="0"/>
          </a:p>
          <a:p>
            <a:pPr lvl="1"/>
            <a:r>
              <a:rPr lang="en-US" dirty="0"/>
              <a:t>also </a:t>
            </a:r>
            <a:r>
              <a:rPr lang="en-US" b="1" dirty="0">
                <a:solidFill>
                  <a:srgbClr val="FF0000"/>
                </a:solidFill>
              </a:rPr>
              <a:t>do not use Safari,</a:t>
            </a:r>
            <a:r>
              <a:rPr lang="en-US" dirty="0"/>
              <a:t> mac users! issues with Canvas exams!</a:t>
            </a:r>
          </a:p>
          <a:p>
            <a:r>
              <a:rPr lang="en-US" dirty="0"/>
              <a:t>now let’s do some ADVANCED TYPING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C32BD-B01F-C646-91E9-D5AAEE75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07353-9548-2045-B299-CBB016C58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400300"/>
            <a:ext cx="4138141" cy="275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974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0496-4154-7246-8172-01DC120108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D12E16-0708-C243-A93F-5066E8EB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4185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BB35-F834-0242-A4B3-B095C946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 = Many, Morph = Shape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9F8E9-8B8C-B544-BCB2-498CE6A71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abstraction</a:t>
            </a:r>
            <a:r>
              <a:rPr lang="en-US" dirty="0"/>
              <a:t> is about ignoring concrete details.</a:t>
            </a:r>
          </a:p>
          <a:p>
            <a:r>
              <a:rPr lang="en-US" b="1" dirty="0"/>
              <a:t>polymorphism </a:t>
            </a:r>
            <a:r>
              <a:rPr lang="en-US" dirty="0"/>
              <a:t>lets us write abstract code </a:t>
            </a:r>
            <a:r>
              <a:rPr lang="en-US" b="1" dirty="0"/>
              <a:t>once, </a:t>
            </a:r>
            <a:r>
              <a:rPr lang="en-US" dirty="0"/>
              <a:t>that can work on </a:t>
            </a:r>
            <a:r>
              <a:rPr lang="en-US" b="1" dirty="0"/>
              <a:t>many types of values, </a:t>
            </a:r>
            <a:r>
              <a:rPr lang="en-US" dirty="0"/>
              <a:t>without having to change the code.</a:t>
            </a:r>
          </a:p>
          <a:p>
            <a:r>
              <a:rPr lang="en-US" dirty="0"/>
              <a:t>it covers a </a:t>
            </a:r>
            <a:r>
              <a:rPr lang="en-US" i="1" dirty="0"/>
              <a:t>wide</a:t>
            </a:r>
            <a:r>
              <a:rPr lang="en-US" dirty="0"/>
              <a:t> range of techniques and language features, like…</a:t>
            </a:r>
          </a:p>
          <a:p>
            <a:pPr lvl="1"/>
            <a:r>
              <a:rPr lang="en-US" b="1" dirty="0"/>
              <a:t>subclasses</a:t>
            </a:r>
            <a:r>
              <a:rPr lang="en-US" dirty="0"/>
              <a:t> in Java, C++, Python</a:t>
            </a:r>
          </a:p>
          <a:p>
            <a:pPr lvl="1"/>
            <a:r>
              <a:rPr lang="en-US" b="1" dirty="0"/>
              <a:t>interfaces</a:t>
            </a:r>
            <a:r>
              <a:rPr lang="en-US" dirty="0"/>
              <a:t> in Java, Go and </a:t>
            </a:r>
            <a:r>
              <a:rPr lang="en-US" b="1" dirty="0"/>
              <a:t>traits </a:t>
            </a:r>
            <a:r>
              <a:rPr lang="en-US" dirty="0"/>
              <a:t>in Rust</a:t>
            </a:r>
          </a:p>
          <a:p>
            <a:pPr lvl="1"/>
            <a:r>
              <a:rPr lang="en-US" b="1" dirty="0"/>
              <a:t>generics</a:t>
            </a:r>
            <a:r>
              <a:rPr lang="en-US" dirty="0"/>
              <a:t> in Java, Rust</a:t>
            </a:r>
          </a:p>
          <a:p>
            <a:pPr lvl="1"/>
            <a:r>
              <a:rPr lang="en-US" b="1" dirty="0"/>
              <a:t>templates</a:t>
            </a:r>
            <a:r>
              <a:rPr lang="en-US" dirty="0"/>
              <a:t> in C++</a:t>
            </a:r>
          </a:p>
          <a:p>
            <a:pPr lvl="1"/>
            <a:r>
              <a:rPr lang="en-US" b="1" dirty="0"/>
              <a:t>function name overloading</a:t>
            </a:r>
            <a:r>
              <a:rPr lang="en-US" dirty="0"/>
              <a:t> in Java, C++</a:t>
            </a:r>
          </a:p>
          <a:p>
            <a:pPr lvl="1"/>
            <a:r>
              <a:rPr lang="en-US" b="1" dirty="0"/>
              <a:t>operator overloading</a:t>
            </a:r>
            <a:r>
              <a:rPr lang="en-US" dirty="0"/>
              <a:t> in C++, Rust, Python</a:t>
            </a:r>
          </a:p>
          <a:p>
            <a:pPr lvl="1"/>
            <a:r>
              <a:rPr lang="en-US" b="1" dirty="0"/>
              <a:t>unions</a:t>
            </a:r>
            <a:r>
              <a:rPr lang="en-US" dirty="0"/>
              <a:t> and </a:t>
            </a:r>
            <a:r>
              <a:rPr lang="en-US" b="1" dirty="0"/>
              <a:t>void pointers</a:t>
            </a:r>
            <a:r>
              <a:rPr lang="en-US" dirty="0"/>
              <a:t> in C</a:t>
            </a:r>
          </a:p>
          <a:p>
            <a:pPr lvl="1"/>
            <a:r>
              <a:rPr lang="en-US" b="1" dirty="0"/>
              <a:t>duck typing </a:t>
            </a:r>
            <a:r>
              <a:rPr lang="en-US" dirty="0"/>
              <a:t>in most dynamically-typed languages</a:t>
            </a:r>
          </a:p>
          <a:p>
            <a:pPr lvl="1"/>
            <a:r>
              <a:rPr lang="en-US" dirty="0"/>
              <a:t>anything with </a:t>
            </a:r>
            <a:r>
              <a:rPr lang="en-US" b="1" dirty="0"/>
              <a:t>"late binding"</a:t>
            </a:r>
            <a:r>
              <a:rPr lang="en-US" dirty="0"/>
              <a:t> in the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E070E-27D0-7641-9529-104BBE9B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556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B3E3E-139F-7149-B7A5-420F43CE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Don't repeat yourself.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C53FE-DE07-4942-BFBE-B2AB23E7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81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repeating code is a </a:t>
            </a:r>
            <a:r>
              <a:rPr lang="en-US" i="1" dirty="0">
                <a:solidFill>
                  <a:srgbClr val="FF0000"/>
                </a:solidFill>
              </a:rPr>
              <a:t>cardinal sin.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encode your thoughts once.</a:t>
            </a:r>
          </a:p>
          <a:p>
            <a:r>
              <a:rPr lang="en-US" dirty="0"/>
              <a:t>polymorphism lets us avoid repeating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3302C-CC45-FD4D-B2F0-FD2B97123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023732-A43C-B84B-BD0E-94B5924E9400}"/>
              </a:ext>
            </a:extLst>
          </p:cNvPr>
          <p:cNvSpPr/>
          <p:nvPr/>
        </p:nvSpPr>
        <p:spPr>
          <a:xfrm>
            <a:off x="952500" y="1359075"/>
            <a:ext cx="7391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&lt;Integer&gt; i =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&lt;&gt;();</a:t>
            </a:r>
          </a:p>
          <a:p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&lt;String&gt;  s =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&lt;&gt;();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6A2105-4D1A-E244-A647-2A81F84D942F}"/>
              </a:ext>
            </a:extLst>
          </p:cNvPr>
          <p:cNvSpPr txBox="1"/>
          <p:nvPr/>
        </p:nvSpPr>
        <p:spPr>
          <a:xfrm>
            <a:off x="762000" y="2244713"/>
            <a:ext cx="762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task of keeping an array-based list of things doesn't change depending on what type of things are in the array.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79C87-E630-3A4D-BDC3-247485FF5EB4}"/>
              </a:ext>
            </a:extLst>
          </p:cNvPr>
          <p:cNvSpPr txBox="1"/>
          <p:nvPr/>
        </p:nvSpPr>
        <p:spPr>
          <a:xfrm>
            <a:off x="1181100" y="3123435"/>
            <a:ext cx="6781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we don’t have to make a new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2200" dirty="0"/>
              <a:t> class for every type of value we want to store. we </a:t>
            </a:r>
            <a:r>
              <a:rPr lang="en-US" sz="2200" b="1" dirty="0"/>
              <a:t>wrote it once,</a:t>
            </a:r>
            <a:r>
              <a:rPr lang="en-US" sz="2200" dirty="0"/>
              <a:t> and now it will work for any type of value.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F0C0D8-E2B9-FD42-90B1-E5C184AEC396}"/>
              </a:ext>
            </a:extLst>
          </p:cNvPr>
          <p:cNvSpPr/>
          <p:nvPr/>
        </p:nvSpPr>
        <p:spPr>
          <a:xfrm>
            <a:off x="1752600" y="4782305"/>
            <a:ext cx="5638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&lt;T&gt;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foo(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&lt;T&gt; list)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41B649-EF30-AF48-ACC9-E323E0822BDB}"/>
              </a:ext>
            </a:extLst>
          </p:cNvPr>
          <p:cNvSpPr txBox="1"/>
          <p:nvPr/>
        </p:nvSpPr>
        <p:spPr>
          <a:xfrm>
            <a:off x="114300" y="4397862"/>
            <a:ext cx="8915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we can even make functions which operate on </a:t>
            </a:r>
            <a:r>
              <a:rPr lang="en-US" sz="2200" i="1" dirty="0"/>
              <a:t>any type </a:t>
            </a:r>
            <a:r>
              <a:rPr lang="en-US" sz="2200" dirty="0"/>
              <a:t>of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sz="2200" dirty="0"/>
              <a:t>: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5341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5"/>
      <p:bldP spid="8" grpId="0"/>
      <p:bldP spid="9" grpId="0"/>
      <p:bldP spid="10" grpId="0" bldLvl="5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12F8-D759-CE4A-B396-70349F745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type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AA8C4-5A53-4D4B-970D-A404F578D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914399"/>
          </a:xfrm>
        </p:spPr>
        <p:txBody>
          <a:bodyPr/>
          <a:lstStyle/>
          <a:p>
            <a:r>
              <a:rPr lang="en-US" dirty="0"/>
              <a:t>the basic idea is that polymorphism lets us make values which can have </a:t>
            </a:r>
            <a:r>
              <a:rPr lang="en-US" b="1" dirty="0"/>
              <a:t>more than one possible type.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5F9F1-A03A-D94C-B419-D025E9CC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DAB9AC-EA14-7941-93BE-54E837D0A604}"/>
              </a:ext>
            </a:extLst>
          </p:cNvPr>
          <p:cNvGrpSpPr/>
          <p:nvPr/>
        </p:nvGrpSpPr>
        <p:grpSpPr>
          <a:xfrm>
            <a:off x="762000" y="1419225"/>
            <a:ext cx="1219200" cy="2133600"/>
            <a:chOff x="990600" y="1485899"/>
            <a:chExt cx="1219200" cy="21336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887E43E-8F8D-2147-B7FE-DD1960A18F50}"/>
                </a:ext>
              </a:extLst>
            </p:cNvPr>
            <p:cNvSpPr/>
            <p:nvPr/>
          </p:nvSpPr>
          <p:spPr>
            <a:xfrm>
              <a:off x="990600" y="1485899"/>
              <a:ext cx="1219200" cy="4572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Object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20E6FAD2-615E-2E49-96BC-954A4E8A38D4}"/>
                </a:ext>
              </a:extLst>
            </p:cNvPr>
            <p:cNvSpPr/>
            <p:nvPr/>
          </p:nvSpPr>
          <p:spPr>
            <a:xfrm>
              <a:off x="990600" y="2324099"/>
              <a:ext cx="1219200" cy="4572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Base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EB3394F-B789-E540-968C-E70F416D532C}"/>
                </a:ext>
              </a:extLst>
            </p:cNvPr>
            <p:cNvSpPr/>
            <p:nvPr/>
          </p:nvSpPr>
          <p:spPr>
            <a:xfrm>
              <a:off x="990600" y="3162299"/>
              <a:ext cx="457200" cy="4572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B378225-CF40-584B-9B53-A830C0435C1B}"/>
                </a:ext>
              </a:extLst>
            </p:cNvPr>
            <p:cNvSpPr/>
            <p:nvPr/>
          </p:nvSpPr>
          <p:spPr>
            <a:xfrm>
              <a:off x="1752600" y="3162299"/>
              <a:ext cx="457200" cy="4572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BD66802-6140-9E4C-BB26-02CA4BEE5147}"/>
                </a:ext>
              </a:extLst>
            </p:cNvPr>
            <p:cNvCxnSpPr/>
            <p:nvPr/>
          </p:nvCxnSpPr>
          <p:spPr>
            <a:xfrm flipV="1">
              <a:off x="1981200" y="2781299"/>
              <a:ext cx="0" cy="381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50F5C45-69F0-3847-80F6-91A19724F3DB}"/>
                </a:ext>
              </a:extLst>
            </p:cNvPr>
            <p:cNvCxnSpPr/>
            <p:nvPr/>
          </p:nvCxnSpPr>
          <p:spPr>
            <a:xfrm flipV="1">
              <a:off x="1219200" y="2781299"/>
              <a:ext cx="0" cy="381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F39B165-1060-2242-8304-54ABBD9E089F}"/>
                </a:ext>
              </a:extLst>
            </p:cNvPr>
            <p:cNvCxnSpPr/>
            <p:nvPr/>
          </p:nvCxnSpPr>
          <p:spPr>
            <a:xfrm flipV="1">
              <a:off x="1600200" y="1943099"/>
              <a:ext cx="0" cy="381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B598DF0-741A-AB42-B720-2E05F43D7DC7}"/>
              </a:ext>
            </a:extLst>
          </p:cNvPr>
          <p:cNvSpPr txBox="1"/>
          <p:nvPr/>
        </p:nvSpPr>
        <p:spPr>
          <a:xfrm>
            <a:off x="2133600" y="1409700"/>
            <a:ext cx="5715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with this class hierarchy, I can make a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sz="2200" b="1" dirty="0"/>
              <a:t> </a:t>
            </a:r>
            <a:r>
              <a:rPr lang="en-US" sz="2200" dirty="0"/>
              <a:t>variable which can hold 3 different types.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0A5752-56DD-D14F-B18D-860271128F10}"/>
              </a:ext>
            </a:extLst>
          </p:cNvPr>
          <p:cNvSpPr/>
          <p:nvPr/>
        </p:nvSpPr>
        <p:spPr>
          <a:xfrm>
            <a:off x="3124200" y="2442001"/>
            <a:ext cx="4000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print(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i);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print(String s);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E5D44D-C0B9-474D-A695-80F6DEDF164C}"/>
              </a:ext>
            </a:extLst>
          </p:cNvPr>
          <p:cNvSpPr txBox="1"/>
          <p:nvPr/>
        </p:nvSpPr>
        <p:spPr>
          <a:xfrm>
            <a:off x="2971800" y="3535858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what type is this </a:t>
            </a:r>
            <a:r>
              <a:rPr lang="en-US" sz="2200" b="1" dirty="0"/>
              <a:t>print</a:t>
            </a:r>
            <a:r>
              <a:rPr lang="en-US" sz="2200" dirty="0"/>
              <a:t> method?</a:t>
            </a:r>
            <a:endParaRPr lang="en-US" sz="22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D18E2B-E8DF-8148-A4B7-9AFF968A8F43}"/>
              </a:ext>
            </a:extLst>
          </p:cNvPr>
          <p:cNvSpPr txBox="1"/>
          <p:nvPr/>
        </p:nvSpPr>
        <p:spPr>
          <a:xfrm>
            <a:off x="2814637" y="4198828"/>
            <a:ext cx="46196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 guess it's a set of types…?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5213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bldLvl="5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CE13-EB36-814A-B198-6BA9229ED4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"Ad-Hoc" Polymorphism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F0031C-983F-7A43-B8B2-85CAA3C0C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302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9E8A-B737-F843-9396-BCF52B2D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know about this: overloading!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F09AD-660E-C54A-A61D-508028580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something you can do in Java (</a:t>
            </a:r>
            <a:r>
              <a:rPr lang="en-US" i="1" dirty="0"/>
              <a:t>but not Rust</a:t>
            </a:r>
            <a:r>
              <a:rPr lang="en-US" dirty="0"/>
              <a:t>):</a:t>
            </a:r>
          </a:p>
          <a:p>
            <a:pPr marL="515780" lvl="2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print(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i);</a:t>
            </a:r>
          </a:p>
          <a:p>
            <a:pPr marL="515780" lvl="2" indent="0">
              <a:buNone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print(String s);</a:t>
            </a:r>
            <a:endParaRPr lang="en-US" b="1" dirty="0"/>
          </a:p>
          <a:p>
            <a:r>
              <a:rPr lang="en-US" dirty="0"/>
              <a:t>now when I call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print(x)</a:t>
            </a:r>
            <a:r>
              <a:rPr lang="en-US" b="1" dirty="0"/>
              <a:t>…</a:t>
            </a:r>
          </a:p>
          <a:p>
            <a:pPr lvl="1"/>
            <a:r>
              <a:rPr lang="en-US" dirty="0"/>
              <a:t>which version, or </a:t>
            </a:r>
            <a:r>
              <a:rPr lang="en-US" b="1" dirty="0"/>
              <a:t>overload, </a:t>
            </a:r>
            <a:r>
              <a:rPr lang="en-US" dirty="0"/>
              <a:t>is used is decided </a:t>
            </a:r>
            <a:r>
              <a:rPr lang="en-US" b="1" dirty="0"/>
              <a:t>statically based on the type of the argument.</a:t>
            </a:r>
            <a:endParaRPr lang="en-US" dirty="0"/>
          </a:p>
          <a:p>
            <a:r>
              <a:rPr lang="en-US" dirty="0"/>
              <a:t>each overload can do </a:t>
            </a:r>
            <a:r>
              <a:rPr lang="en-US" b="1" dirty="0"/>
              <a:t>different things,</a:t>
            </a:r>
            <a:r>
              <a:rPr lang="en-US" dirty="0"/>
              <a:t> which can be useful!</a:t>
            </a:r>
          </a:p>
          <a:p>
            <a:pPr lvl="1"/>
            <a:r>
              <a:rPr lang="en-US" dirty="0"/>
              <a:t>…but if they're all doing basically the same thing, it feels silly.</a:t>
            </a:r>
          </a:p>
          <a:p>
            <a:pPr lvl="1"/>
            <a:r>
              <a:rPr lang="en-US" dirty="0"/>
              <a:t>have a look at </a:t>
            </a:r>
            <a:r>
              <a:rPr lang="en-US" b="1" dirty="0" err="1"/>
              <a:t>java.util.Arrays</a:t>
            </a:r>
            <a:r>
              <a:rPr lang="en-US" dirty="0"/>
              <a:t> for an example of what I mean.</a:t>
            </a:r>
          </a:p>
          <a:p>
            <a:r>
              <a:rPr lang="en-US" dirty="0"/>
              <a:t>it's called </a:t>
            </a:r>
            <a:r>
              <a:rPr lang="en-US" b="1" dirty="0"/>
              <a:t>ad-hoc </a:t>
            </a:r>
            <a:r>
              <a:rPr lang="en-US" dirty="0"/>
              <a:t>because you just add overloads as you need them, and the compiler figures out what you mean.</a:t>
            </a:r>
          </a:p>
          <a:p>
            <a:r>
              <a:rPr lang="en-US" dirty="0"/>
              <a:t>so how would this be handled </a:t>
            </a:r>
            <a:r>
              <a:rPr lang="en-US" b="1" dirty="0"/>
              <a:t>by a compiler?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147DB-DE22-0F4C-A7B6-D90CFF6A8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9012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3BDE-D80A-2247-ADF0-92E180D8F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overloading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1F3DF-57BA-3A43-AA22-9EE72AEE7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609599"/>
          </a:xfrm>
        </p:spPr>
        <p:txBody>
          <a:bodyPr/>
          <a:lstStyle/>
          <a:p>
            <a:r>
              <a:rPr lang="en-US" dirty="0"/>
              <a:t>essentially, we're just extending the symbol table.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B3DD9-2F04-3342-8172-56981F0A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54BF11-C3E0-554F-83F8-DE155622D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44504"/>
              </p:ext>
            </p:extLst>
          </p:nvPr>
        </p:nvGraphicFramePr>
        <p:xfrm>
          <a:off x="352424" y="1076325"/>
          <a:ext cx="3990976" cy="1280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47801">
                  <a:extLst>
                    <a:ext uri="{9D8B030D-6E8A-4147-A177-3AD203B41FA5}">
                      <a16:colId xmlns:a16="http://schemas.microsoft.com/office/drawing/2014/main" val="2998826347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763207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Referent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745494"/>
                  </a:ext>
                </a:extLst>
              </a:tr>
              <a:tr h="38130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"A"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</a:t>
                      </a:r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class</a:t>
                      </a:r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A&gt;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998081"/>
                  </a:ext>
                </a:extLst>
              </a:tr>
              <a:tr h="38130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"print"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&lt;overload set&gt;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56826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C13C79A-F5AA-CB4D-8945-D2A29214D0A4}"/>
              </a:ext>
            </a:extLst>
          </p:cNvPr>
          <p:cNvSpPr txBox="1"/>
          <p:nvPr/>
        </p:nvSpPr>
        <p:spPr>
          <a:xfrm>
            <a:off x="276224" y="2426613"/>
            <a:ext cx="40671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now a name can refer to either a </a:t>
            </a:r>
            <a:r>
              <a:rPr lang="en-US" sz="2200" b="1" dirty="0"/>
              <a:t>single </a:t>
            </a:r>
            <a:r>
              <a:rPr lang="en-US" sz="2200" dirty="0"/>
              <a:t>symbol or a </a:t>
            </a:r>
            <a:r>
              <a:rPr lang="en-US" sz="2200" b="1" dirty="0"/>
              <a:t>set</a:t>
            </a:r>
            <a:r>
              <a:rPr lang="en-US" sz="2200" dirty="0"/>
              <a:t> of symbols with the same name.</a:t>
            </a:r>
            <a:endParaRPr lang="en-US" sz="2200" dirty="0">
              <a:solidFill>
                <a:srgbClr val="FF0000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EE5C32A-4DC7-4A4D-8D21-80402D9D3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60959"/>
              </p:ext>
            </p:extLst>
          </p:nvPr>
        </p:nvGraphicFramePr>
        <p:xfrm>
          <a:off x="5097146" y="1916960"/>
          <a:ext cx="3780155" cy="853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998826347"/>
                    </a:ext>
                  </a:extLst>
                </a:gridCol>
                <a:gridCol w="1722755">
                  <a:extLst>
                    <a:ext uri="{9D8B030D-6E8A-4147-A177-3AD203B41FA5}">
                      <a16:colId xmlns:a16="http://schemas.microsoft.com/office/drawing/2014/main" val="27632070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Referent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745494"/>
                  </a:ext>
                </a:extLst>
              </a:tr>
              <a:tr h="38130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</a:t>
                      </a: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&lt;print 1&gt;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998081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45D707-A8B6-7F47-9352-397FE3D876B0}"/>
              </a:ext>
            </a:extLst>
          </p:cNvPr>
          <p:cNvCxnSpPr>
            <a:cxnSpLocks/>
          </p:cNvCxnSpPr>
          <p:nvPr/>
        </p:nvCxnSpPr>
        <p:spPr>
          <a:xfrm>
            <a:off x="4267200" y="2140089"/>
            <a:ext cx="8299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AB3BEC9-3E52-A147-AB77-0DE3344C33E1}"/>
              </a:ext>
            </a:extLst>
          </p:cNvPr>
          <p:cNvSpPr txBox="1"/>
          <p:nvPr/>
        </p:nvSpPr>
        <p:spPr>
          <a:xfrm>
            <a:off x="4772024" y="996315"/>
            <a:ext cx="43719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as the user adds more overloads, the set can be extended.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E4748D-5252-0045-80E1-F9D23900CF6B}"/>
              </a:ext>
            </a:extLst>
          </p:cNvPr>
          <p:cNvSpPr txBox="1"/>
          <p:nvPr/>
        </p:nvSpPr>
        <p:spPr>
          <a:xfrm>
            <a:off x="1447800" y="3906402"/>
            <a:ext cx="6248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now, when </a:t>
            </a:r>
            <a:r>
              <a:rPr lang="en-US" sz="2200" b="1" dirty="0"/>
              <a:t>print</a:t>
            </a:r>
            <a:r>
              <a:rPr lang="en-US" sz="2200" dirty="0"/>
              <a:t> is called, it searches for the </a:t>
            </a:r>
            <a:r>
              <a:rPr lang="en-US" sz="2200" b="1" dirty="0"/>
              <a:t>right signature</a:t>
            </a:r>
            <a:r>
              <a:rPr lang="en-US" sz="2200" dirty="0"/>
              <a:t> in the overload set, and gives an error if </a:t>
            </a:r>
            <a:r>
              <a:rPr lang="en-US" sz="2200" b="1" dirty="0"/>
              <a:t>none</a:t>
            </a:r>
            <a:r>
              <a:rPr lang="en-US" sz="2200" dirty="0"/>
              <a:t> match or </a:t>
            </a:r>
            <a:r>
              <a:rPr lang="en-US" sz="2200" b="1" dirty="0"/>
              <a:t>more than one</a:t>
            </a:r>
            <a:r>
              <a:rPr lang="en-US" sz="2200" dirty="0"/>
              <a:t> match.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B146FB1-07ED-A143-B8C8-78320AB5C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501916"/>
              </p:ext>
            </p:extLst>
          </p:nvPr>
        </p:nvGraphicFramePr>
        <p:xfrm>
          <a:off x="5100459" y="2770400"/>
          <a:ext cx="3771901" cy="42672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998826347"/>
                    </a:ext>
                  </a:extLst>
                </a:gridCol>
                <a:gridCol w="1714501">
                  <a:extLst>
                    <a:ext uri="{9D8B030D-6E8A-4147-A177-3AD203B41FA5}">
                      <a16:colId xmlns:a16="http://schemas.microsoft.com/office/drawing/2014/main" val="2763207076"/>
                    </a:ext>
                  </a:extLst>
                </a:gridCol>
              </a:tblGrid>
              <a:tr h="38130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</a:t>
                      </a: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</a:t>
                      </a: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&lt;print 2&gt;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99808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5FFBE6E-2A6C-1247-94E9-1D62863E4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211154"/>
              </p:ext>
            </p:extLst>
          </p:nvPr>
        </p:nvGraphicFramePr>
        <p:xfrm>
          <a:off x="5095518" y="3204740"/>
          <a:ext cx="3771901" cy="426720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998826347"/>
                    </a:ext>
                  </a:extLst>
                </a:gridCol>
                <a:gridCol w="1714501">
                  <a:extLst>
                    <a:ext uri="{9D8B030D-6E8A-4147-A177-3AD203B41FA5}">
                      <a16:colId xmlns:a16="http://schemas.microsoft.com/office/drawing/2014/main" val="2763207076"/>
                    </a:ext>
                  </a:extLst>
                </a:gridCol>
              </a:tblGrid>
              <a:tr h="38130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void</a:t>
                      </a:r>
                      <a:r>
                        <a:rPr lang="en-US" sz="2200" b="1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(String)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&lt;print 3&gt;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998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4583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CAE9-5F02-4846-B2A6-C0E2AFB4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than one can match??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B72A3-C470-4D46-868E-21CB77707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0997"/>
          </a:xfrm>
        </p:spPr>
        <p:txBody>
          <a:bodyPr/>
          <a:lstStyle/>
          <a:p>
            <a:r>
              <a:rPr lang="en-US" dirty="0"/>
              <a:t>overloading is complicated by </a:t>
            </a:r>
            <a:r>
              <a:rPr lang="en-US" b="1" dirty="0"/>
              <a:t>implicit type conversions.</a:t>
            </a:r>
          </a:p>
          <a:p>
            <a:r>
              <a:rPr lang="en-US" dirty="0"/>
              <a:t>for example, Java will implicitly convert </a:t>
            </a:r>
            <a:r>
              <a:rPr lang="en-US" dirty="0" err="1"/>
              <a:t>ints</a:t>
            </a:r>
            <a:r>
              <a:rPr lang="en-US" dirty="0"/>
              <a:t> to floats.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99C7-D25F-6644-97BE-AFB2D8A5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C60EB6-3EFB-2A45-9742-174932C3AAE1}"/>
              </a:ext>
            </a:extLst>
          </p:cNvPr>
          <p:cNvSpPr/>
          <p:nvPr/>
        </p:nvSpPr>
        <p:spPr>
          <a:xfrm>
            <a:off x="457200" y="1326298"/>
            <a:ext cx="762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void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print(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i,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f)...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 void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print(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f,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i)...</a:t>
            </a:r>
          </a:p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EE854E-9ADB-CF47-B943-34DE76733E4F}"/>
              </a:ext>
            </a:extLst>
          </p:cNvPr>
          <p:cNvSpPr txBox="1"/>
          <p:nvPr/>
        </p:nvSpPr>
        <p:spPr>
          <a:xfrm>
            <a:off x="381000" y="2777255"/>
            <a:ext cx="838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200" dirty="0"/>
              <a:t> can be implicitly converted to float, so this use of </a:t>
            </a:r>
            <a:r>
              <a:rPr lang="en-US" sz="2200" b="1" dirty="0"/>
              <a:t>print </a:t>
            </a:r>
            <a:r>
              <a:rPr lang="en-US" sz="2200" dirty="0"/>
              <a:t>could mean </a:t>
            </a:r>
            <a:r>
              <a:rPr lang="en-US" sz="2200" i="1" dirty="0"/>
              <a:t>either</a:t>
            </a:r>
            <a:r>
              <a:rPr lang="en-US" sz="2200" dirty="0"/>
              <a:t> overload. the compiler says this is </a:t>
            </a:r>
            <a:r>
              <a:rPr lang="en-US" sz="2200" b="1" dirty="0"/>
              <a:t>ambiguous. </a:t>
            </a: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ADA88D-B532-EE4D-A32A-DD12531C9B3F}"/>
              </a:ext>
            </a:extLst>
          </p:cNvPr>
          <p:cNvSpPr txBox="1"/>
          <p:nvPr/>
        </p:nvSpPr>
        <p:spPr>
          <a:xfrm>
            <a:off x="666750" y="3840659"/>
            <a:ext cx="7867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you don't even wanna know how ugly this gets in languages like C++ where you can define </a:t>
            </a:r>
            <a:r>
              <a:rPr lang="en-US" sz="2200" i="1" dirty="0"/>
              <a:t>your own implicit conversions.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064992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5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3CCAB-E7AC-E542-8F3B-5A4A6253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mangling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2DCA0-8F0A-7948-8649-AFF231AD8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523999"/>
          </a:xfrm>
        </p:spPr>
        <p:txBody>
          <a:bodyPr>
            <a:normAutofit/>
          </a:bodyPr>
          <a:lstStyle/>
          <a:p>
            <a:r>
              <a:rPr lang="en-US" dirty="0"/>
              <a:t>for practical reasons (linkers, debuggers, </a:t>
            </a:r>
            <a:r>
              <a:rPr lang="en-US" dirty="0" err="1"/>
              <a:t>etc</a:t>
            </a:r>
            <a:r>
              <a:rPr lang="en-US" dirty="0"/>
              <a:t>), these overloaded functions must be given </a:t>
            </a:r>
            <a:r>
              <a:rPr lang="en-US" b="1" dirty="0"/>
              <a:t>unique names </a:t>
            </a:r>
            <a:r>
              <a:rPr lang="en-US" dirty="0"/>
              <a:t>in the output object files.</a:t>
            </a:r>
          </a:p>
          <a:p>
            <a:r>
              <a:rPr lang="en-US" b="1" dirty="0"/>
              <a:t>name mangling </a:t>
            </a:r>
            <a:r>
              <a:rPr lang="en-US" dirty="0"/>
              <a:t>encodes the function's </a:t>
            </a:r>
            <a:r>
              <a:rPr lang="en-US" b="1" dirty="0"/>
              <a:t>signature – </a:t>
            </a:r>
            <a:r>
              <a:rPr lang="en-US" dirty="0"/>
              <a:t>its argument and return types – into a textual form that these other tools can use.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0DCCA-E682-0C49-AC62-430A95CB4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464087-90B3-0549-8AB3-71279A243B8C}"/>
              </a:ext>
            </a:extLst>
          </p:cNvPr>
          <p:cNvSpPr/>
          <p:nvPr/>
        </p:nvSpPr>
        <p:spPr>
          <a:xfrm>
            <a:off x="1962150" y="2076897"/>
            <a:ext cx="56578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print(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i,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f)</a:t>
            </a:r>
          </a:p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=&gt;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"_Z5printif"     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(g++)</a:t>
            </a: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"?print@@YAXHM@Z"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msvc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print(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f,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i)</a:t>
            </a:r>
          </a:p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=&gt;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"_Z5printfi"     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(g++)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=&gt;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"?print@@YAXMH@Z"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msvc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63F5E-DA6E-F04C-8596-F9FD8153F148}"/>
              </a:ext>
            </a:extLst>
          </p:cNvPr>
          <p:cNvSpPr txBox="1"/>
          <p:nvPr/>
        </p:nvSpPr>
        <p:spPr>
          <a:xfrm>
            <a:off x="1295400" y="4526459"/>
            <a:ext cx="6553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now you know what these horrid things are, if they ever show up in error messages…</a:t>
            </a:r>
          </a:p>
        </p:txBody>
      </p:sp>
    </p:spTree>
    <p:extLst>
      <p:ext uri="{BB962C8B-B14F-4D97-AF65-F5344CB8AC3E}">
        <p14:creationId xmlns:p14="http://schemas.microsoft.com/office/powerpoint/2010/main" val="1583393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5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F674F-34F1-E844-B9D2-871B77C7D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Subtype Polymorphism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0CF145-5F0D-7342-8582-1F674431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77116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5A592-E23A-674A-AD26-79CE64BE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know about this one too!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D3C0E-A91D-2643-BC8E-6C85474A2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600199"/>
          </a:xfrm>
        </p:spPr>
        <p:txBody>
          <a:bodyPr/>
          <a:lstStyle/>
          <a:p>
            <a:r>
              <a:rPr lang="en-US" dirty="0"/>
              <a:t>in subtype polymorphism, types can be placed in a </a:t>
            </a:r>
            <a:r>
              <a:rPr lang="en-US" b="1" dirty="0"/>
              <a:t>hierarchy, </a:t>
            </a:r>
            <a:r>
              <a:rPr lang="en-US" dirty="0"/>
              <a:t>where subtypes are </a:t>
            </a:r>
            <a:r>
              <a:rPr lang="en-US" i="1" dirty="0"/>
              <a:t>more specialized </a:t>
            </a:r>
            <a:r>
              <a:rPr lang="en-US" dirty="0"/>
              <a:t>than their base types.</a:t>
            </a:r>
          </a:p>
          <a:p>
            <a:r>
              <a:rPr lang="en-US" dirty="0"/>
              <a:t>the important feature is: </a:t>
            </a:r>
            <a:r>
              <a:rPr lang="en-US" b="1" dirty="0"/>
              <a:t>anywhere a base type is expected, a subtype can be used in its place.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6C4FF-0441-5941-8D05-B81745B7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2633CA-CAF8-E54E-B579-089F0A0A318D}"/>
              </a:ext>
            </a:extLst>
          </p:cNvPr>
          <p:cNvSpPr/>
          <p:nvPr/>
        </p:nvSpPr>
        <p:spPr>
          <a:xfrm>
            <a:off x="533400" y="2095500"/>
            <a:ext cx="6248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print(Object o) {</a:t>
            </a:r>
          </a:p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o.toString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  <a:b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6EFF4F-56E5-AE41-BAD8-8B82E51E2677}"/>
              </a:ext>
            </a:extLst>
          </p:cNvPr>
          <p:cNvSpPr txBox="1"/>
          <p:nvPr/>
        </p:nvSpPr>
        <p:spPr>
          <a:xfrm>
            <a:off x="590550" y="3295829"/>
            <a:ext cx="78676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i="1" dirty="0"/>
              <a:t>any</a:t>
            </a:r>
            <a:r>
              <a:rPr lang="en-US" sz="2200" dirty="0"/>
              <a:t> object type can be passed to this function, because </a:t>
            </a:r>
            <a:r>
              <a:rPr lang="en-US" sz="2200" b="1" dirty="0"/>
              <a:t>all</a:t>
            </a:r>
            <a:r>
              <a:rPr lang="en-US" sz="2200" dirty="0"/>
              <a:t> object types are, directly or transitively, subtypes of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en-US" sz="2200" dirty="0"/>
              <a:t>.</a:t>
            </a:r>
            <a:endParaRPr lang="en-US" sz="22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B27C3-0B21-4745-9F2D-A4F548CDC830}"/>
              </a:ext>
            </a:extLst>
          </p:cNvPr>
          <p:cNvSpPr txBox="1"/>
          <p:nvPr/>
        </p:nvSpPr>
        <p:spPr>
          <a:xfrm>
            <a:off x="352425" y="4142798"/>
            <a:ext cx="8343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another way of thinking of it is that the </a:t>
            </a:r>
            <a:r>
              <a:rPr lang="en-US" sz="2200" b="1" dirty="0"/>
              <a:t>set of operations </a:t>
            </a:r>
            <a:r>
              <a:rPr lang="en-US" sz="2200" dirty="0"/>
              <a:t>of each object type is a </a:t>
            </a:r>
            <a:r>
              <a:rPr lang="en-US" sz="2200" i="1" dirty="0"/>
              <a:t>superset</a:t>
            </a:r>
            <a:r>
              <a:rPr lang="en-US" sz="2200" dirty="0"/>
              <a:t> of the set of operations of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59292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5"/>
      <p:bldP spid="6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AA1C-2D56-0B43-A7C6-31FEA437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50B3D-3227-6349-8CC6-6511F5254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dirty="0"/>
              <a:t>Java also has </a:t>
            </a:r>
            <a:r>
              <a:rPr lang="en-US" b="1" dirty="0"/>
              <a:t>interfaces. </a:t>
            </a:r>
            <a:r>
              <a:rPr lang="en-US" dirty="0"/>
              <a:t>every type can extend </a:t>
            </a:r>
            <a:r>
              <a:rPr lang="en-US" i="1" dirty="0"/>
              <a:t>one </a:t>
            </a:r>
            <a:r>
              <a:rPr lang="en-US" dirty="0"/>
              <a:t>class but can implement </a:t>
            </a:r>
            <a:r>
              <a:rPr lang="en-US" i="1" dirty="0"/>
              <a:t>any number </a:t>
            </a:r>
            <a:r>
              <a:rPr lang="en-US" dirty="0"/>
              <a:t>of interfaces.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42CA4-BE37-3248-ACF9-6AE489AF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DF23841-7D6F-424F-A8F9-1E6112E9E115}"/>
              </a:ext>
            </a:extLst>
          </p:cNvPr>
          <p:cNvGrpSpPr/>
          <p:nvPr/>
        </p:nvGrpSpPr>
        <p:grpSpPr>
          <a:xfrm>
            <a:off x="533400" y="1493342"/>
            <a:ext cx="4991100" cy="1981200"/>
            <a:chOff x="990600" y="1485899"/>
            <a:chExt cx="4991100" cy="19812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C8D2F26-95E7-3A46-A9CD-569F87380A22}"/>
                </a:ext>
              </a:extLst>
            </p:cNvPr>
            <p:cNvSpPr/>
            <p:nvPr/>
          </p:nvSpPr>
          <p:spPr>
            <a:xfrm>
              <a:off x="990600" y="1485899"/>
              <a:ext cx="1219200" cy="4572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Object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BD6C073-F692-D249-BDA5-ED19FA2063BC}"/>
                </a:ext>
              </a:extLst>
            </p:cNvPr>
            <p:cNvSpPr/>
            <p:nvPr/>
          </p:nvSpPr>
          <p:spPr>
            <a:xfrm>
              <a:off x="990600" y="3009899"/>
              <a:ext cx="1219200" cy="4572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Base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9C61F3B-ADCC-344E-BDA4-E9EB178ADC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0200" y="1943099"/>
              <a:ext cx="0" cy="10668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0DB2574B-97D5-B24F-9D0C-A57FC2FADCD0}"/>
                </a:ext>
              </a:extLst>
            </p:cNvPr>
            <p:cNvSpPr/>
            <p:nvPr/>
          </p:nvSpPr>
          <p:spPr>
            <a:xfrm>
              <a:off x="2362200" y="1485899"/>
              <a:ext cx="1752600" cy="45720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Comparable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153A3D2B-FB85-7144-9946-987BF04845B8}"/>
                </a:ext>
              </a:extLst>
            </p:cNvPr>
            <p:cNvSpPr/>
            <p:nvPr/>
          </p:nvSpPr>
          <p:spPr>
            <a:xfrm>
              <a:off x="4229100" y="1485899"/>
              <a:ext cx="1752600" cy="45720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Cloneable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362EFCF-CC85-6747-802A-5850738D6C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2600" y="1943099"/>
              <a:ext cx="1390649" cy="10668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B379021-EB61-9E4A-BFAB-CB9D0E7240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7401" y="1943099"/>
              <a:ext cx="2819399" cy="10668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8315049-4447-4443-AA18-54061316CD68}"/>
              </a:ext>
            </a:extLst>
          </p:cNvPr>
          <p:cNvSpPr txBox="1"/>
          <p:nvPr/>
        </p:nvSpPr>
        <p:spPr>
          <a:xfrm>
            <a:off x="5524500" y="1409700"/>
            <a:ext cx="3590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now Base is a subtype of </a:t>
            </a:r>
            <a:r>
              <a:rPr lang="en-US" sz="2200" i="1" dirty="0"/>
              <a:t>three other types.</a:t>
            </a:r>
            <a:endParaRPr lang="en-US" sz="2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6D9F64-2466-0F41-AC02-A3C4E96D27C4}"/>
              </a:ext>
            </a:extLst>
          </p:cNvPr>
          <p:cNvSpPr txBox="1"/>
          <p:nvPr/>
        </p:nvSpPr>
        <p:spPr>
          <a:xfrm>
            <a:off x="3581400" y="2503486"/>
            <a:ext cx="54102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we write these relations as </a:t>
            </a:r>
            <a:r>
              <a:rPr lang="en-US" sz="2200" b="1" dirty="0"/>
              <a:t>Base &lt;: Object </a:t>
            </a:r>
          </a:p>
          <a:p>
            <a:pPr algn="ctr"/>
            <a:r>
              <a:rPr lang="en-US" sz="2200" dirty="0"/>
              <a:t>(or </a:t>
            </a:r>
            <a:r>
              <a:rPr lang="en-US" sz="2200" b="1" dirty="0"/>
              <a:t>Object :&gt; Base</a:t>
            </a:r>
            <a:r>
              <a:rPr lang="en-US" sz="2200" dirty="0"/>
              <a:t>), </a:t>
            </a:r>
            <a:r>
              <a:rPr lang="en-US" sz="2200" b="1" dirty="0"/>
              <a:t>Base &lt;: Comparable</a:t>
            </a:r>
            <a:r>
              <a:rPr lang="en-US" sz="2200" dirty="0"/>
              <a:t>, and </a:t>
            </a:r>
            <a:r>
              <a:rPr lang="en-US" sz="2200" b="1" dirty="0"/>
              <a:t>Base &lt;: Cloneable</a:t>
            </a:r>
            <a:r>
              <a:rPr lang="en-US" sz="2200" dirty="0"/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59DFC6-16AF-2B41-9D18-67AC9DE5DED6}"/>
              </a:ext>
            </a:extLst>
          </p:cNvPr>
          <p:cNvSpPr txBox="1"/>
          <p:nvPr/>
        </p:nvSpPr>
        <p:spPr>
          <a:xfrm>
            <a:off x="428626" y="3920579"/>
            <a:ext cx="83724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but interfaces exist "outside" the class hierarchy, letting us group types by their </a:t>
            </a:r>
            <a:r>
              <a:rPr lang="en-US" sz="2200" b="1" dirty="0"/>
              <a:t>capabilities, </a:t>
            </a:r>
            <a:r>
              <a:rPr lang="en-US" sz="2200" dirty="0"/>
              <a:t>not just their inheritance.</a:t>
            </a:r>
          </a:p>
        </p:txBody>
      </p:sp>
    </p:spTree>
    <p:extLst>
      <p:ext uri="{BB962C8B-B14F-4D97-AF65-F5344CB8AC3E}">
        <p14:creationId xmlns:p14="http://schemas.microsoft.com/office/powerpoint/2010/main" val="40376100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EE468-4DE6-DE4F-8F96-AB4FFBF23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subtyping in a 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1DF69-C039-6547-8C2B-86E34645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compiler has to keep track of the subtype relations between classes and interfaces.</a:t>
            </a:r>
          </a:p>
          <a:p>
            <a:pPr lvl="1"/>
            <a:r>
              <a:rPr lang="en-US" dirty="0"/>
              <a:t>it also has to ensure that there are </a:t>
            </a:r>
            <a:r>
              <a:rPr lang="en-US" b="1" dirty="0"/>
              <a:t>no cycles </a:t>
            </a:r>
            <a:r>
              <a:rPr lang="en-US" dirty="0"/>
              <a:t>in the subtypes, like:</a:t>
            </a:r>
            <a:br>
              <a:rPr lang="en-US" dirty="0"/>
            </a:b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B {}</a:t>
            </a:r>
            <a:b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B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 {} </a:t>
            </a:r>
            <a:r>
              <a:rPr lang="en-US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how??</a:t>
            </a:r>
          </a:p>
          <a:p>
            <a:r>
              <a:rPr lang="en-US" dirty="0"/>
              <a:t>then when doing typechecking, it will allow any type </a:t>
            </a:r>
            <a:r>
              <a:rPr lang="en-US" i="1" dirty="0"/>
              <a:t>or its subtype</a:t>
            </a:r>
            <a:r>
              <a:rPr lang="en-US" dirty="0"/>
              <a:t> to be put into a variable, argument, array slot etc.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Object o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A();</a:t>
            </a:r>
            <a:r>
              <a:rPr lang="en-US" dirty="0"/>
              <a:t> is valid because </a:t>
            </a:r>
            <a:r>
              <a:rPr lang="en-US" b="1" dirty="0"/>
              <a:t>A</a:t>
            </a:r>
            <a:r>
              <a:rPr lang="en-US" dirty="0"/>
              <a:t> is a subtype of </a:t>
            </a:r>
            <a:r>
              <a:rPr lang="en-US" b="1" dirty="0"/>
              <a:t>Object</a:t>
            </a:r>
          </a:p>
          <a:p>
            <a:pPr lvl="1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 a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Object();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i="1" dirty="0"/>
              <a:t>not,</a:t>
            </a:r>
            <a:r>
              <a:rPr lang="en-US" dirty="0"/>
              <a:t> because the opposite is not true.</a:t>
            </a:r>
          </a:p>
          <a:p>
            <a:r>
              <a:rPr lang="en-US" dirty="0"/>
              <a:t>it really is that straightforward!</a:t>
            </a:r>
          </a:p>
          <a:p>
            <a:pPr lvl="1"/>
            <a:r>
              <a:rPr lang="en-US" dirty="0"/>
              <a:t>…. ha ha ha sure yeah right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D4AFF-4B92-D946-BC69-CEB078A6A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13685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1BAC-3628-D741-9A8E-DB52810D9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it's got… issues.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147D-4764-AF47-97C0-259531450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142999"/>
          </a:xfrm>
        </p:spPr>
        <p:txBody>
          <a:bodyPr/>
          <a:lstStyle/>
          <a:p>
            <a:r>
              <a:rPr lang="en-US" dirty="0"/>
              <a:t>subtyping comes at a cost: </a:t>
            </a:r>
            <a:r>
              <a:rPr lang="en-US" b="1" dirty="0"/>
              <a:t>complexity.</a:t>
            </a:r>
          </a:p>
          <a:p>
            <a:r>
              <a:rPr lang="en-US" dirty="0"/>
              <a:t>it interacts with every other feature of a language, often in non-trivial ways, and even making some type systems </a:t>
            </a:r>
            <a:r>
              <a:rPr lang="en-US" b="1" dirty="0"/>
              <a:t>undecidable.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E56AD-F0F7-544C-99F0-BEBA91823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A3062C-7CBC-5649-90D1-95DC1F46C3B2}"/>
              </a:ext>
            </a:extLst>
          </p:cNvPr>
          <p:cNvSpPr/>
          <p:nvPr/>
        </p:nvSpPr>
        <p:spPr>
          <a:xfrm>
            <a:off x="457200" y="1628775"/>
            <a:ext cx="3810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print(Object o)...</a:t>
            </a: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print(A a)...</a:t>
            </a:r>
          </a:p>
          <a:p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A a = new A();</a:t>
            </a:r>
          </a:p>
          <a:p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calls print(A)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print(a);</a:t>
            </a:r>
            <a:endParaRPr lang="en-US" sz="2200" i="1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Object o = a;</a:t>
            </a:r>
          </a:p>
          <a:p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calls print(Object) 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print(o);</a:t>
            </a:r>
            <a:endParaRPr lang="en-US" sz="2200" i="1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794E8B-D517-704E-98DD-4B0D4D516186}"/>
              </a:ext>
            </a:extLst>
          </p:cNvPr>
          <p:cNvSpPr txBox="1"/>
          <p:nvPr/>
        </p:nvSpPr>
        <p:spPr>
          <a:xfrm>
            <a:off x="4400550" y="1675477"/>
            <a:ext cx="3352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does this make sense? is this what you'd expect?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3EE524-69D7-444E-B614-130D2B1D907C}"/>
              </a:ext>
            </a:extLst>
          </p:cNvPr>
          <p:cNvSpPr txBox="1"/>
          <p:nvPr/>
        </p:nvSpPr>
        <p:spPr>
          <a:xfrm>
            <a:off x="4810125" y="2615340"/>
            <a:ext cx="39624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happens because Java's </a:t>
            </a:r>
            <a:r>
              <a:rPr lang="en-US" sz="2200" b="1" dirty="0"/>
              <a:t>ad-hoc</a:t>
            </a:r>
            <a:r>
              <a:rPr lang="en-US" sz="2200" dirty="0"/>
              <a:t> polymorphism is </a:t>
            </a:r>
            <a:r>
              <a:rPr lang="en-US" sz="2200" b="1" i="1" dirty="0"/>
              <a:t>statically</a:t>
            </a:r>
            <a:r>
              <a:rPr lang="en-US" sz="2200" i="1" dirty="0"/>
              <a:t> resolved, </a:t>
            </a:r>
            <a:r>
              <a:rPr lang="en-US" sz="2200" dirty="0"/>
              <a:t>but its </a:t>
            </a:r>
            <a:r>
              <a:rPr lang="en-US" sz="2200" b="1" dirty="0"/>
              <a:t>subtype</a:t>
            </a:r>
            <a:r>
              <a:rPr lang="en-US" sz="2200" dirty="0"/>
              <a:t> polymorphism is </a:t>
            </a:r>
            <a:r>
              <a:rPr lang="en-US" sz="2200" b="1" i="1" dirty="0"/>
              <a:t>dynamically</a:t>
            </a:r>
            <a:r>
              <a:rPr lang="en-US" sz="2200" i="1" dirty="0"/>
              <a:t> resolved.</a:t>
            </a:r>
            <a:endParaRPr lang="en-US" sz="2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D99F2B-E386-E24F-B58F-C68C92A355A7}"/>
              </a:ext>
            </a:extLst>
          </p:cNvPr>
          <p:cNvSpPr txBox="1"/>
          <p:nvPr/>
        </p:nvSpPr>
        <p:spPr>
          <a:xfrm>
            <a:off x="3638550" y="4519591"/>
            <a:ext cx="5276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other languages have other ideas about this – look up </a:t>
            </a:r>
            <a:r>
              <a:rPr lang="en-US" sz="2200" i="1" dirty="0"/>
              <a:t>multiple dispatch.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794155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5"/>
      <p:bldP spid="8" grpId="0"/>
      <p:bldP spid="9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EE4BA-A423-8148-A2EF-58F7D7E25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subtyping at 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C8793-D270-AA4E-9DF2-6664177AB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142999"/>
          </a:xfrm>
        </p:spPr>
        <p:txBody>
          <a:bodyPr/>
          <a:lstStyle/>
          <a:p>
            <a:r>
              <a:rPr lang="en-US" dirty="0"/>
              <a:t>we won't get into the details for a few weeks, but…</a:t>
            </a:r>
          </a:p>
          <a:p>
            <a:r>
              <a:rPr lang="en-US" dirty="0"/>
              <a:t>each class gets a </a:t>
            </a:r>
            <a:r>
              <a:rPr lang="en-US" b="1" dirty="0"/>
              <a:t>data layout </a:t>
            </a:r>
            <a:r>
              <a:rPr lang="en-US" dirty="0"/>
              <a:t>and a </a:t>
            </a:r>
            <a:r>
              <a:rPr lang="en-US" b="1" dirty="0"/>
              <a:t>virtual method table (</a:t>
            </a:r>
            <a:r>
              <a:rPr lang="en-US" b="1" dirty="0" err="1"/>
              <a:t>vtable</a:t>
            </a:r>
            <a:r>
              <a:rPr lang="en-US" b="1" dirty="0"/>
              <a:t>).</a:t>
            </a:r>
          </a:p>
          <a:p>
            <a:r>
              <a:rPr lang="en-US" dirty="0"/>
              <a:t>subclasses' layouts and </a:t>
            </a:r>
            <a:r>
              <a:rPr lang="en-US" dirty="0" err="1"/>
              <a:t>vtables</a:t>
            </a:r>
            <a:r>
              <a:rPr lang="en-US" dirty="0"/>
              <a:t> are </a:t>
            </a:r>
            <a:r>
              <a:rPr lang="en-US" b="1" dirty="0"/>
              <a:t>prefixed </a:t>
            </a:r>
            <a:r>
              <a:rPr lang="en-US" dirty="0"/>
              <a:t>by their </a:t>
            </a:r>
            <a:r>
              <a:rPr lang="en-US" dirty="0" err="1"/>
              <a:t>superclasses</a:t>
            </a:r>
            <a:r>
              <a:rPr lang="en-US" dirty="0"/>
              <a:t>'.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10DC-D72A-EA40-9DFB-9AFEEFF21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806114-BDFC-E648-991D-2E46F7440A30}"/>
              </a:ext>
            </a:extLst>
          </p:cNvPr>
          <p:cNvSpPr/>
          <p:nvPr/>
        </p:nvSpPr>
        <p:spPr>
          <a:xfrm>
            <a:off x="957580" y="1647825"/>
            <a:ext cx="2133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Object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536047-9750-344D-978F-28A2619AB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798860"/>
              </p:ext>
            </p:extLst>
          </p:nvPr>
        </p:nvGraphicFramePr>
        <p:xfrm>
          <a:off x="2085975" y="2202536"/>
          <a:ext cx="1719580" cy="1981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19580">
                  <a:extLst>
                    <a:ext uri="{9D8B030D-6E8A-4147-A177-3AD203B41FA5}">
                      <a16:colId xmlns:a16="http://schemas.microsoft.com/office/drawing/2014/main" val="414905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vtable</a:t>
                      </a:r>
                      <a:endParaRPr lang="en-US" sz="2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50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&lt;Object&gt;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155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clone()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40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equals()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toString</a:t>
                      </a:r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29099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DE34EA-06AF-C043-9DC4-D045B7B2AE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465254"/>
              </p:ext>
            </p:extLst>
          </p:nvPr>
        </p:nvGraphicFramePr>
        <p:xfrm>
          <a:off x="545148" y="2202536"/>
          <a:ext cx="1300480" cy="1188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00480">
                  <a:extLst>
                    <a:ext uri="{9D8B030D-6E8A-4147-A177-3AD203B41FA5}">
                      <a16:colId xmlns:a16="http://schemas.microsoft.com/office/drawing/2014/main" val="4149053499"/>
                    </a:ext>
                  </a:extLst>
                </a:gridCol>
              </a:tblGrid>
              <a:tr h="2969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layout</a:t>
                      </a:r>
                      <a:endParaRPr lang="en-US" sz="2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50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vtable</a:t>
                      </a:r>
                      <a:endParaRPr lang="en-US" sz="2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40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monitor</a:t>
                      </a:r>
                      <a:endParaRPr lang="en-US" sz="2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68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487B159-4B99-2846-A90A-B175839C7178}"/>
              </a:ext>
            </a:extLst>
          </p:cNvPr>
          <p:cNvSpPr/>
          <p:nvPr/>
        </p:nvSpPr>
        <p:spPr>
          <a:xfrm>
            <a:off x="3962400" y="1638300"/>
            <a:ext cx="5334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A {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x;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foo() {} }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9A4FB3-BE01-214E-91A6-8ED2445B7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084735"/>
              </p:ext>
            </p:extLst>
          </p:nvPr>
        </p:nvGraphicFramePr>
        <p:xfrm>
          <a:off x="6653962" y="2193011"/>
          <a:ext cx="1719580" cy="2377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19580">
                  <a:extLst>
                    <a:ext uri="{9D8B030D-6E8A-4147-A177-3AD203B41FA5}">
                      <a16:colId xmlns:a16="http://schemas.microsoft.com/office/drawing/2014/main" val="414905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vtable</a:t>
                      </a:r>
                      <a:endParaRPr lang="en-US" sz="2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50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&lt;A&gt;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155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clone()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40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equals()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toString</a:t>
                      </a:r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290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foo()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77055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5AEC531-F643-2B48-8BA4-25FA1C658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223731"/>
              </p:ext>
            </p:extLst>
          </p:nvPr>
        </p:nvGraphicFramePr>
        <p:xfrm>
          <a:off x="5105400" y="2193011"/>
          <a:ext cx="1300480" cy="1584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00480">
                  <a:extLst>
                    <a:ext uri="{9D8B030D-6E8A-4147-A177-3AD203B41FA5}">
                      <a16:colId xmlns:a16="http://schemas.microsoft.com/office/drawing/2014/main" val="4149053499"/>
                    </a:ext>
                  </a:extLst>
                </a:gridCol>
              </a:tblGrid>
              <a:tr h="29690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layout</a:t>
                      </a:r>
                      <a:endParaRPr lang="en-US" sz="2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50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vtable</a:t>
                      </a:r>
                      <a:endParaRPr lang="en-US" sz="2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402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monitor</a:t>
                      </a:r>
                      <a:endParaRPr lang="en-US" sz="2000" b="1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32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82926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2F9E58C-C46D-9841-93D1-98BE1B5A77E7}"/>
              </a:ext>
            </a:extLst>
          </p:cNvPr>
          <p:cNvSpPr txBox="1"/>
          <p:nvPr/>
        </p:nvSpPr>
        <p:spPr>
          <a:xfrm>
            <a:off x="1185863" y="4589501"/>
            <a:ext cx="69246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any A reference therefore points to a piece of memory which looks identical to an Object at the beginning.</a:t>
            </a:r>
          </a:p>
        </p:txBody>
      </p:sp>
    </p:spTree>
    <p:extLst>
      <p:ext uri="{BB962C8B-B14F-4D97-AF65-F5344CB8AC3E}">
        <p14:creationId xmlns:p14="http://schemas.microsoft.com/office/powerpoint/2010/main" val="33504666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5"/>
      <p:bldP spid="8" grpId="0" bldLvl="5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9E42-78D4-B14B-A742-0053552B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Subtyping in 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A804C-295E-F147-B68F-270EA0ADC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8199"/>
          </a:xfrm>
        </p:spPr>
        <p:txBody>
          <a:bodyPr/>
          <a:lstStyle/>
          <a:p>
            <a:r>
              <a:rPr lang="en-US" dirty="0"/>
              <a:t>Rust has no OOP, but it </a:t>
            </a:r>
            <a:r>
              <a:rPr lang="en-US" i="1" dirty="0"/>
              <a:t>does </a:t>
            </a:r>
            <a:r>
              <a:rPr lang="en-US" dirty="0"/>
              <a:t>support a form of subtyping and dynamic dispatch using </a:t>
            </a:r>
            <a:r>
              <a:rPr lang="en-US" b="1" dirty="0"/>
              <a:t>traits, </a:t>
            </a:r>
            <a:r>
              <a:rPr lang="en-US" dirty="0"/>
              <a:t>which are similar to Java interfaces.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E089E-1D2B-0844-B365-88D87595B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9164EC-8022-244F-A7AC-A8E8B63BC166}"/>
              </a:ext>
            </a:extLst>
          </p:cNvPr>
          <p:cNvSpPr/>
          <p:nvPr/>
        </p:nvSpPr>
        <p:spPr>
          <a:xfrm>
            <a:off x="381000" y="1294111"/>
            <a:ext cx="3657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Base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base(&amp;self);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Derived is called a</a:t>
            </a:r>
          </a:p>
          <a:p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200" b="1" i="1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super</a:t>
            </a:r>
            <a:r>
              <a:rPr lang="en-US" sz="2200" i="1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trait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of Base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trait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Derived: Base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derived(&amp;self) {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we can use </a:t>
            </a:r>
          </a:p>
          <a:p>
            <a:r>
              <a:rPr lang="en-US" sz="22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methods of Base</a:t>
            </a:r>
            <a:endParaRPr lang="en-US" sz="2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self.base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7D293-BD78-3147-A099-C6C442F9B1CB}"/>
              </a:ext>
            </a:extLst>
          </p:cNvPr>
          <p:cNvSpPr txBox="1"/>
          <p:nvPr/>
        </p:nvSpPr>
        <p:spPr>
          <a:xfrm>
            <a:off x="3867150" y="1398936"/>
            <a:ext cx="478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now any type which implements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Derived</a:t>
            </a:r>
            <a:r>
              <a:rPr lang="en-US" sz="2200" b="1" dirty="0"/>
              <a:t> </a:t>
            </a:r>
            <a:r>
              <a:rPr lang="en-US" sz="2200" dirty="0"/>
              <a:t>must also implement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sz="2200" b="1" dirty="0"/>
              <a:t>.</a:t>
            </a: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805466-C4A6-C047-935A-19053310680B}"/>
              </a:ext>
            </a:extLst>
          </p:cNvPr>
          <p:cNvSpPr txBox="1"/>
          <p:nvPr/>
        </p:nvSpPr>
        <p:spPr>
          <a:xfrm>
            <a:off x="4438650" y="2441496"/>
            <a:ext cx="41719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you can also have variables of type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Box&lt;</a:t>
            </a:r>
            <a:r>
              <a:rPr lang="en-US" sz="22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dyn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Base&gt;</a:t>
            </a:r>
            <a:r>
              <a:rPr lang="en-US" sz="2200" dirty="0"/>
              <a:t>, which are like Java's interface variables.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114CA-C746-354A-B354-F5F813047DCC}"/>
              </a:ext>
            </a:extLst>
          </p:cNvPr>
          <p:cNvSpPr txBox="1"/>
          <p:nvPr/>
        </p:nvSpPr>
        <p:spPr>
          <a:xfrm>
            <a:off x="4038600" y="3789559"/>
            <a:ext cx="47815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they can hold </a:t>
            </a:r>
            <a:r>
              <a:rPr lang="en-US" sz="2200" i="1" dirty="0"/>
              <a:t>any</a:t>
            </a:r>
            <a:r>
              <a:rPr lang="en-US" sz="2200" dirty="0"/>
              <a:t> type which implements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Base</a:t>
            </a:r>
            <a:r>
              <a:rPr lang="en-US" sz="2200" dirty="0"/>
              <a:t>, and their methods will be dispatched at </a:t>
            </a:r>
            <a:r>
              <a:rPr lang="en-US" sz="2200" b="1" dirty="0"/>
              <a:t>runtime.</a:t>
            </a:r>
          </a:p>
        </p:txBody>
      </p:sp>
    </p:spTree>
    <p:extLst>
      <p:ext uri="{BB962C8B-B14F-4D97-AF65-F5344CB8AC3E}">
        <p14:creationId xmlns:p14="http://schemas.microsoft.com/office/powerpoint/2010/main" val="17343982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5"/>
      <p:bldP spid="7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0240-B790-DF44-B943-4C9D0618A6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Parametric Polymorphism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0A829E-28F6-3D4C-B93F-B0671FAA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0486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37E88-5725-BD4B-AF0D-A5E3D01D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and Dynamic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198AC-1B21-A043-BEBD-1D7B28D46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b="1" dirty="0"/>
              <a:t>ad-hoc </a:t>
            </a:r>
            <a:r>
              <a:rPr lang="en-US" dirty="0"/>
              <a:t>polymorphism is statically dispatched.</a:t>
            </a:r>
          </a:p>
          <a:p>
            <a:r>
              <a:rPr lang="en-US" b="1" dirty="0"/>
              <a:t>subtype </a:t>
            </a:r>
            <a:r>
              <a:rPr lang="en-US" dirty="0"/>
              <a:t>polymorphism is (mostly) dynamically dispatched.</a:t>
            </a:r>
          </a:p>
          <a:p>
            <a:r>
              <a:rPr lang="en-US" dirty="0"/>
              <a:t>but dynamic dispatch is actually </a:t>
            </a:r>
            <a:r>
              <a:rPr lang="en-US" b="1" dirty="0"/>
              <a:t>kind of costly </a:t>
            </a:r>
            <a:r>
              <a:rPr lang="en-US" dirty="0"/>
              <a:t>on modern CPUs…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21FED-A3A1-0047-AAA6-55E73ECD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1192E3-0861-3A44-886F-AD922922F801}"/>
              </a:ext>
            </a:extLst>
          </p:cNvPr>
          <p:cNvSpPr/>
          <p:nvPr/>
        </p:nvSpPr>
        <p:spPr>
          <a:xfrm>
            <a:off x="457200" y="1923364"/>
            <a:ext cx="2743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o.toString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A25DAC-80FD-5B4D-94E0-CDDEAB94D0CA}"/>
              </a:ext>
            </a:extLst>
          </p:cNvPr>
          <p:cNvSpPr/>
          <p:nvPr/>
        </p:nvSpPr>
        <p:spPr>
          <a:xfrm>
            <a:off x="3724275" y="1638300"/>
            <a:ext cx="5410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a0,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  </a:t>
            </a:r>
            <a:r>
              <a:rPr lang="en-US" sz="24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a0 = o</a:t>
            </a:r>
          </a:p>
          <a:p>
            <a:r>
              <a:rPr lang="en-US" sz="2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t0,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(a0)  </a:t>
            </a:r>
            <a:r>
              <a:rPr lang="en-US" sz="24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t0 = </a:t>
            </a:r>
            <a:r>
              <a:rPr lang="en-US" sz="2400" i="1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o.vtbl</a:t>
            </a:r>
            <a:r>
              <a:rPr lang="en-US" sz="24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2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lw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t0,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(t0) </a:t>
            </a:r>
            <a:r>
              <a:rPr lang="en-US" sz="24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t0 = </a:t>
            </a:r>
            <a:r>
              <a:rPr lang="en-US" sz="2400" i="1" dirty="0" err="1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o.vtbl</a:t>
            </a:r>
            <a:r>
              <a:rPr lang="en-US" sz="24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[4]</a:t>
            </a:r>
          </a:p>
          <a:p>
            <a:r>
              <a:rPr lang="en-US" sz="2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jalr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t0       </a:t>
            </a:r>
            <a:r>
              <a:rPr lang="en-US" sz="24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indirect call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38A89EE5-5822-7B41-B471-1A2F0262367B}"/>
              </a:ext>
            </a:extLst>
          </p:cNvPr>
          <p:cNvSpPr/>
          <p:nvPr/>
        </p:nvSpPr>
        <p:spPr>
          <a:xfrm rot="16200000">
            <a:off x="3009900" y="1897559"/>
            <a:ext cx="685800" cy="54019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1353E-E5AE-F54B-AB02-55C101756668}"/>
              </a:ext>
            </a:extLst>
          </p:cNvPr>
          <p:cNvSpPr txBox="1"/>
          <p:nvPr/>
        </p:nvSpPr>
        <p:spPr>
          <a:xfrm>
            <a:off x="381000" y="3398728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i="1" dirty="0"/>
              <a:t>three</a:t>
            </a:r>
            <a:r>
              <a:rPr lang="en-US" sz="2200" dirty="0"/>
              <a:t> </a:t>
            </a:r>
            <a:r>
              <a:rPr lang="en-US" sz="2200" b="1" dirty="0"/>
              <a:t>dependent</a:t>
            </a:r>
            <a:r>
              <a:rPr lang="en-US" sz="2200" dirty="0"/>
              <a:t> loads from </a:t>
            </a:r>
            <a:r>
              <a:rPr lang="en-US" sz="2200" i="1" dirty="0"/>
              <a:t>three</a:t>
            </a:r>
            <a:r>
              <a:rPr lang="en-US" sz="2200" dirty="0"/>
              <a:t> totally different places in memory make the pipeline and cache </a:t>
            </a:r>
            <a:r>
              <a:rPr lang="en-US" sz="2200" i="1" dirty="0"/>
              <a:t>very</a:t>
            </a:r>
            <a:r>
              <a:rPr lang="en-US" sz="2200" dirty="0"/>
              <a:t> unhappy.</a:t>
            </a:r>
            <a:endParaRPr lang="en-US" sz="22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14CEB-DE2A-614D-A979-074AEC409F4A}"/>
              </a:ext>
            </a:extLst>
          </p:cNvPr>
          <p:cNvSpPr txBox="1"/>
          <p:nvPr/>
        </p:nvSpPr>
        <p:spPr>
          <a:xfrm>
            <a:off x="1600200" y="4332793"/>
            <a:ext cx="7219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and then you have an </a:t>
            </a:r>
            <a:r>
              <a:rPr lang="en-US" sz="2200" b="1" dirty="0"/>
              <a:t>indirect jump,</a:t>
            </a:r>
            <a:r>
              <a:rPr lang="en-US" sz="2200" dirty="0"/>
              <a:t> which can confuse the branch predictor and stall the instruction pipeline!</a:t>
            </a:r>
          </a:p>
        </p:txBody>
      </p:sp>
    </p:spTree>
    <p:extLst>
      <p:ext uri="{BB962C8B-B14F-4D97-AF65-F5344CB8AC3E}">
        <p14:creationId xmlns:p14="http://schemas.microsoft.com/office/powerpoint/2010/main" val="26277783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5"/>
      <p:bldP spid="6" grpId="0" bldLvl="5"/>
      <p:bldP spid="7" grpId="0" animBg="1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09C4F-E72B-E442-A299-78419CB1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polymorphism to the rescue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AC315-4FE8-7243-A616-1D9CEC21C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219199"/>
          </a:xfrm>
        </p:spPr>
        <p:txBody>
          <a:bodyPr/>
          <a:lstStyle/>
          <a:p>
            <a:r>
              <a:rPr lang="en-US" b="1" dirty="0"/>
              <a:t>parametric polymorphism</a:t>
            </a:r>
            <a:r>
              <a:rPr lang="en-US" dirty="0"/>
              <a:t> is a more </a:t>
            </a:r>
            <a:r>
              <a:rPr lang="en-US" b="1" dirty="0"/>
              <a:t>explicit </a:t>
            </a:r>
            <a:r>
              <a:rPr lang="en-US" dirty="0"/>
              <a:t>kind of polymorphism, where the types are a sort of "fill in the blank."</a:t>
            </a:r>
          </a:p>
          <a:p>
            <a:r>
              <a:rPr lang="en-US" dirty="0"/>
              <a:t>the types themselves </a:t>
            </a:r>
            <a:r>
              <a:rPr lang="en-US" i="1" dirty="0"/>
              <a:t>become an argument.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C885A-BCD9-164C-87ED-7C111993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CB04CE-B0D1-2746-BF85-580AF9F117BA}"/>
              </a:ext>
            </a:extLst>
          </p:cNvPr>
          <p:cNvSpPr/>
          <p:nvPr/>
        </p:nvSpPr>
        <p:spPr>
          <a:xfrm>
            <a:off x="457200" y="1705236"/>
            <a:ext cx="381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id&lt;</a:t>
            </a:r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&gt;(t: </a:t>
            </a:r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t;</a:t>
            </a:r>
          </a:p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5F1EF-9490-D643-9862-A6E60E6C60D8}"/>
              </a:ext>
            </a:extLst>
          </p:cNvPr>
          <p:cNvSpPr txBox="1"/>
          <p:nvPr/>
        </p:nvSpPr>
        <p:spPr>
          <a:xfrm>
            <a:off x="4267200" y="1725257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this is a silly function which just returns its argument. "id" means "identity." it's math stuff.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CFA580-6965-EA43-BE1D-0373591F90A8}"/>
              </a:ext>
            </a:extLst>
          </p:cNvPr>
          <p:cNvSpPr txBox="1"/>
          <p:nvPr/>
        </p:nvSpPr>
        <p:spPr>
          <a:xfrm>
            <a:off x="1043608" y="2667376"/>
            <a:ext cx="72091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is not </a:t>
            </a:r>
            <a:r>
              <a:rPr lang="en-US" sz="2200" i="1" dirty="0"/>
              <a:t>one function. </a:t>
            </a:r>
            <a:r>
              <a:rPr lang="en-US" sz="2200" dirty="0"/>
              <a:t>this is </a:t>
            </a:r>
            <a:r>
              <a:rPr lang="en-US" sz="2200" b="1" dirty="0"/>
              <a:t>an entire family of functions, </a:t>
            </a:r>
            <a:r>
              <a:rPr lang="en-US" sz="2200" dirty="0"/>
              <a:t>which take a </a:t>
            </a:r>
            <a:r>
              <a:rPr lang="en-US" sz="2200" b="1" dirty="0">
                <a:solidFill>
                  <a:srgbClr val="0070C0"/>
                </a:solidFill>
              </a:rPr>
              <a:t>T</a:t>
            </a:r>
            <a:r>
              <a:rPr lang="en-US" sz="2200" dirty="0"/>
              <a:t> and return a </a:t>
            </a:r>
            <a:r>
              <a:rPr lang="en-US" sz="2200" b="1" dirty="0">
                <a:solidFill>
                  <a:srgbClr val="0070C0"/>
                </a:solidFill>
              </a:rPr>
              <a:t>T</a:t>
            </a:r>
            <a:r>
              <a:rPr lang="en-US" sz="2200" dirty="0"/>
              <a:t>, </a:t>
            </a:r>
            <a:r>
              <a:rPr lang="en-US" sz="2200" b="1" dirty="0">
                <a:solidFill>
                  <a:srgbClr val="FF0000"/>
                </a:solidFill>
              </a:rPr>
              <a:t>for </a:t>
            </a:r>
            <a:r>
              <a:rPr lang="en-US" sz="2200" b="1" i="1" dirty="0">
                <a:solidFill>
                  <a:srgbClr val="FF0000"/>
                </a:solidFill>
              </a:rPr>
              <a:t>all</a:t>
            </a:r>
            <a:r>
              <a:rPr lang="en-US" sz="2200" b="1" dirty="0">
                <a:solidFill>
                  <a:srgbClr val="FF0000"/>
                </a:solidFill>
              </a:rPr>
              <a:t> types</a:t>
            </a:r>
            <a:r>
              <a:rPr lang="en-US" sz="2200" b="1" dirty="0"/>
              <a:t> </a:t>
            </a:r>
            <a:r>
              <a:rPr lang="en-US" sz="2200" b="1" dirty="0">
                <a:solidFill>
                  <a:srgbClr val="0070C0"/>
                </a:solidFill>
              </a:rPr>
              <a:t>T</a:t>
            </a:r>
            <a:r>
              <a:rPr lang="en-US" sz="2200" b="1" dirty="0"/>
              <a:t>.</a:t>
            </a: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93CAC5-028A-3F49-8880-DF68160DF0BE}"/>
              </a:ext>
            </a:extLst>
          </p:cNvPr>
          <p:cNvSpPr txBox="1"/>
          <p:nvPr/>
        </p:nvSpPr>
        <p:spPr>
          <a:xfrm>
            <a:off x="1043608" y="3721622"/>
            <a:ext cx="72091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is </a:t>
            </a:r>
            <a:r>
              <a:rPr lang="en-US" sz="2200" b="1" dirty="0"/>
              <a:t>universal quantification. </a:t>
            </a:r>
          </a:p>
          <a:p>
            <a:pPr algn="ctr"/>
            <a:r>
              <a:rPr lang="en-US" sz="2200" dirty="0"/>
              <a:t>we're saying </a:t>
            </a:r>
            <a:r>
              <a:rPr lang="en-US" sz="2200" b="1" dirty="0"/>
              <a:t>∀T, </a:t>
            </a:r>
            <a:r>
              <a:rPr lang="en-US" sz="2200" dirty="0"/>
              <a:t>you can get an id function of type </a:t>
            </a:r>
            <a:r>
              <a:rPr lang="en-US" sz="2200" b="1" dirty="0"/>
              <a:t>T→T </a:t>
            </a:r>
            <a:r>
              <a:rPr lang="en-US" sz="2200" dirty="0"/>
              <a:t>(a function that maps from T to T).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61D862-C1C0-8247-BA21-E3BEB7A09A19}"/>
              </a:ext>
            </a:extLst>
          </p:cNvPr>
          <p:cNvSpPr txBox="1"/>
          <p:nvPr/>
        </p:nvSpPr>
        <p:spPr>
          <a:xfrm>
            <a:off x="6400800" y="4989183"/>
            <a:ext cx="25145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what "type" is id, then?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813385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5"/>
      <p:bldP spid="6" grpId="0"/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1D7E-AEB7-5643-9EB3-7EAA0D974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parametrically polymorphic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EC76D-9A37-044A-97B1-F8C508A4A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95301"/>
          </a:xfrm>
        </p:spPr>
        <p:txBody>
          <a:bodyPr/>
          <a:lstStyle/>
          <a:p>
            <a:r>
              <a:rPr lang="en-US" dirty="0"/>
              <a:t>Rust lets you either explicitly or </a:t>
            </a:r>
            <a:r>
              <a:rPr lang="en-US" i="1" dirty="0"/>
              <a:t>implicitly</a:t>
            </a:r>
            <a:r>
              <a:rPr lang="en-US" dirty="0"/>
              <a:t> specify the type arguments.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A6C19-501C-B347-B6CD-2C4F03F50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94A43-B9BC-0642-9C06-93DD917B0A72}"/>
              </a:ext>
            </a:extLst>
          </p:cNvPr>
          <p:cNvSpPr/>
          <p:nvPr/>
        </p:nvSpPr>
        <p:spPr>
          <a:xfrm>
            <a:off x="457200" y="1104900"/>
            <a:ext cx="5181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x: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= id::&lt;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&gt;(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y: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= id(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z = id(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D51392-C0BB-9442-BFBA-891364398B28}"/>
              </a:ext>
            </a:extLst>
          </p:cNvPr>
          <p:cNvSpPr txBox="1"/>
          <p:nvPr/>
        </p:nvSpPr>
        <p:spPr>
          <a:xfrm>
            <a:off x="5444159" y="1181100"/>
            <a:ext cx="32235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</a:t>
            </a:r>
            <a:r>
              <a:rPr lang="en-US" sz="2200" b="1" dirty="0"/>
              <a:t>::&lt;&gt;</a:t>
            </a:r>
            <a:r>
              <a:rPr lang="en-US" sz="2200" dirty="0"/>
              <a:t> operator is called "</a:t>
            </a:r>
            <a:r>
              <a:rPr lang="en-US" sz="2200" dirty="0" err="1"/>
              <a:t>turbofish</a:t>
            </a:r>
            <a:r>
              <a:rPr lang="en-US" sz="2200" dirty="0"/>
              <a:t>." 🐟💨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B0DE8-EBFE-7949-A23C-7E21F343EEEB}"/>
              </a:ext>
            </a:extLst>
          </p:cNvPr>
          <p:cNvSpPr txBox="1"/>
          <p:nvPr/>
        </p:nvSpPr>
        <p:spPr>
          <a:xfrm>
            <a:off x="1352550" y="2759060"/>
            <a:ext cx="6591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in the second line, the compiler is able to </a:t>
            </a:r>
            <a:r>
              <a:rPr lang="en-US" sz="2200" b="1" dirty="0"/>
              <a:t>infer </a:t>
            </a:r>
            <a:r>
              <a:rPr lang="en-US" sz="2200" dirty="0"/>
              <a:t>what type should be passed as the type argument.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467F7D-1D71-C84D-B336-913492AEB4F9}"/>
              </a:ext>
            </a:extLst>
          </p:cNvPr>
          <p:cNvSpPr txBox="1"/>
          <p:nvPr/>
        </p:nvSpPr>
        <p:spPr>
          <a:xfrm>
            <a:off x="733425" y="3748427"/>
            <a:ext cx="7677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in the third line, it infers </a:t>
            </a:r>
            <a:r>
              <a:rPr lang="en-US" sz="2200" b="1" dirty="0"/>
              <a:t>the type of the variable</a:t>
            </a:r>
            <a:r>
              <a:rPr lang="en-US" sz="2200" dirty="0"/>
              <a:t> too!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299A2-E4E8-6D41-9B8B-5F9E1499E978}"/>
              </a:ext>
            </a:extLst>
          </p:cNvPr>
          <p:cNvSpPr txBox="1"/>
          <p:nvPr/>
        </p:nvSpPr>
        <p:spPr>
          <a:xfrm>
            <a:off x="361950" y="4352781"/>
            <a:ext cx="830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all three lines use the </a:t>
            </a:r>
            <a:r>
              <a:rPr lang="en-US" sz="2200" b="1" dirty="0"/>
              <a:t>same implementation </a:t>
            </a:r>
            <a:r>
              <a:rPr lang="en-US" sz="2200" dirty="0"/>
              <a:t>of id,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id::&lt;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3570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5"/>
      <p:bldP spid="6" grpId="0"/>
      <p:bldP spid="7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AF580-E1F7-9E4F-BC3B-DC66E5DB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Monomorphization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9EE76-685D-004E-9160-6D9D97EEF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1142999"/>
          </a:xfrm>
        </p:spPr>
        <p:txBody>
          <a:bodyPr/>
          <a:lstStyle/>
          <a:p>
            <a:r>
              <a:rPr lang="en-US" dirty="0"/>
              <a:t>but CPUs don't understand polymorphic code.</a:t>
            </a:r>
          </a:p>
          <a:p>
            <a:r>
              <a:rPr lang="en-US" b="1" dirty="0" err="1"/>
              <a:t>monomorphization</a:t>
            </a:r>
            <a:r>
              <a:rPr lang="en-US" b="1" dirty="0"/>
              <a:t> </a:t>
            </a:r>
            <a:r>
              <a:rPr lang="en-US" dirty="0"/>
              <a:t>converts each use of a polymorphic function into a concrete, </a:t>
            </a:r>
            <a:r>
              <a:rPr lang="en-US" b="1" dirty="0"/>
              <a:t>monomorphic</a:t>
            </a:r>
            <a:r>
              <a:rPr lang="en-US" dirty="0"/>
              <a:t> ("one-shape") version of itself.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D976B-9495-C742-8D42-9F8532E7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A82588-6978-9647-9728-09C4165355FD}"/>
              </a:ext>
            </a:extLst>
          </p:cNvPr>
          <p:cNvSpPr/>
          <p:nvPr/>
        </p:nvSpPr>
        <p:spPr>
          <a:xfrm>
            <a:off x="457200" y="1709934"/>
            <a:ext cx="3657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x = id(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10i32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y = id(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3.5f64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z = id(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27A1F6-5170-0742-B9F6-51EB5C3FDE49}"/>
              </a:ext>
            </a:extLst>
          </p:cNvPr>
          <p:cNvSpPr txBox="1"/>
          <p:nvPr/>
        </p:nvSpPr>
        <p:spPr>
          <a:xfrm>
            <a:off x="723900" y="2981897"/>
            <a:ext cx="769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the compiler looks at </a:t>
            </a:r>
            <a:r>
              <a:rPr lang="en-US" sz="2200" b="1" dirty="0"/>
              <a:t>every use of the function across the entire program </a:t>
            </a:r>
            <a:r>
              <a:rPr lang="en-US" sz="2200" dirty="0"/>
              <a:t>to determine the implementations needed.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8F4695-17DF-FB44-87DA-8FF5374E5BC6}"/>
              </a:ext>
            </a:extLst>
          </p:cNvPr>
          <p:cNvSpPr/>
          <p:nvPr/>
        </p:nvSpPr>
        <p:spPr>
          <a:xfrm>
            <a:off x="5181600" y="1709934"/>
            <a:ext cx="205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id::&lt;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id::&lt;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f64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id::&lt;&amp;</a:t>
            </a:r>
            <a:r>
              <a:rPr lang="en-US" sz="2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F3786D8D-DA60-E149-857F-154E68B3B1D5}"/>
              </a:ext>
            </a:extLst>
          </p:cNvPr>
          <p:cNvSpPr/>
          <p:nvPr/>
        </p:nvSpPr>
        <p:spPr>
          <a:xfrm rot="16200000">
            <a:off x="4286249" y="2015904"/>
            <a:ext cx="685800" cy="54019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613C80-5FFB-1D43-B321-4C765B3F7C28}"/>
              </a:ext>
            </a:extLst>
          </p:cNvPr>
          <p:cNvSpPr txBox="1"/>
          <p:nvPr/>
        </p:nvSpPr>
        <p:spPr>
          <a:xfrm>
            <a:off x="723900" y="3822972"/>
            <a:ext cx="769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it will </a:t>
            </a:r>
            <a:r>
              <a:rPr lang="en-US" sz="2200" b="1" dirty="0"/>
              <a:t>reuse</a:t>
            </a:r>
            <a:r>
              <a:rPr lang="en-US" sz="2200" dirty="0"/>
              <a:t> implementations if used in multiple locations (like if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id::&lt;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i32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2200" dirty="0"/>
              <a:t> is used 100 times).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28DE1-B3BE-9E4C-9E20-C171EF87C6AB}"/>
              </a:ext>
            </a:extLst>
          </p:cNvPr>
          <p:cNvSpPr txBox="1"/>
          <p:nvPr/>
        </p:nvSpPr>
        <p:spPr>
          <a:xfrm>
            <a:off x="1790700" y="4710214"/>
            <a:ext cx="556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essentially, </a:t>
            </a:r>
            <a:r>
              <a:rPr lang="en-US" sz="2200" b="1" dirty="0"/>
              <a:t>it's automatically generating all the ad-hoc overloads for us!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3986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5"/>
      <p:bldP spid="6" grpId="0"/>
      <p:bldP spid="7" grpId="0" uiExpand="1" build="p" bldLvl="5"/>
      <p:bldP spid="8" grpId="0" animBg="1"/>
      <p:bldP spid="9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95BC4-9270-5A4F-A481-BC0C24C2B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without </a:t>
            </a:r>
            <a:r>
              <a:rPr lang="en-US" dirty="0" err="1"/>
              <a:t>monomorphization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59F2F-8742-364E-AA15-29B9184FA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monomorphization</a:t>
            </a:r>
            <a:r>
              <a:rPr lang="en-US" dirty="0"/>
              <a:t> gives you the </a:t>
            </a:r>
            <a:r>
              <a:rPr lang="en-US" b="1" dirty="0"/>
              <a:t>best possible performance…</a:t>
            </a:r>
          </a:p>
          <a:p>
            <a:pPr lvl="1"/>
            <a:r>
              <a:rPr lang="en-US" dirty="0"/>
              <a:t>but it can </a:t>
            </a:r>
            <a:r>
              <a:rPr lang="en-US" dirty="0">
                <a:solidFill>
                  <a:srgbClr val="FF0000"/>
                </a:solidFill>
              </a:rPr>
              <a:t>slow compilation</a:t>
            </a:r>
            <a:r>
              <a:rPr lang="en-US" dirty="0"/>
              <a:t>, and produce a </a:t>
            </a:r>
            <a:r>
              <a:rPr lang="en-US" dirty="0">
                <a:solidFill>
                  <a:srgbClr val="FF0000"/>
                </a:solidFill>
              </a:rPr>
              <a:t>larger executable</a:t>
            </a:r>
            <a:r>
              <a:rPr lang="en-US" dirty="0"/>
              <a:t>.</a:t>
            </a:r>
          </a:p>
          <a:p>
            <a:r>
              <a:rPr lang="en-US" dirty="0"/>
              <a:t>so,</a:t>
            </a:r>
            <a:r>
              <a:rPr lang="en-US" b="1" dirty="0"/>
              <a:t> in Java, </a:t>
            </a:r>
            <a:r>
              <a:rPr lang="en-US" dirty="0"/>
              <a:t>generics are </a:t>
            </a:r>
            <a:r>
              <a:rPr lang="en-US" b="1" dirty="0"/>
              <a:t>not</a:t>
            </a:r>
            <a:r>
              <a:rPr lang="en-US" dirty="0"/>
              <a:t> </a:t>
            </a:r>
            <a:r>
              <a:rPr lang="en-US" dirty="0" err="1"/>
              <a:t>monomorphized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if you have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&lt;Integer&gt;</a:t>
            </a:r>
            <a:r>
              <a:rPr lang="en-US" dirty="0"/>
              <a:t> and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&lt;String&gt;</a:t>
            </a:r>
            <a:r>
              <a:rPr lang="en-US" dirty="0"/>
              <a:t>, the </a:t>
            </a:r>
            <a:r>
              <a:rPr lang="en-US" i="1" dirty="0"/>
              <a:t>compiler</a:t>
            </a:r>
            <a:r>
              <a:rPr lang="en-US" dirty="0"/>
              <a:t> treats them as separate types, but…</a:t>
            </a:r>
          </a:p>
          <a:p>
            <a:pPr lvl="1"/>
            <a:r>
              <a:rPr lang="en-US" dirty="0"/>
              <a:t>both of those use </a:t>
            </a:r>
            <a:r>
              <a:rPr lang="en-US" b="1" dirty="0"/>
              <a:t>the exact same code at runtime.</a:t>
            </a:r>
          </a:p>
          <a:p>
            <a:pPr lvl="1"/>
            <a:r>
              <a:rPr lang="en-US" dirty="0"/>
              <a:t>under the hood, all versions of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dirty="0"/>
              <a:t> just use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en-US" b="1" dirty="0"/>
              <a:t> </a:t>
            </a:r>
            <a:r>
              <a:rPr lang="en-US" dirty="0"/>
              <a:t>variables and </a:t>
            </a:r>
            <a:r>
              <a:rPr lang="en-US" dirty="0" err="1"/>
              <a:t>downcasts</a:t>
            </a:r>
            <a:r>
              <a:rPr lang="en-US" dirty="0"/>
              <a:t> and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instanceof</a:t>
            </a:r>
            <a:r>
              <a:rPr lang="en-US" dirty="0"/>
              <a:t> to make it work.</a:t>
            </a:r>
          </a:p>
          <a:p>
            <a:r>
              <a:rPr lang="en-US" dirty="0"/>
              <a:t>this has advantages in compilation time and code size… but it comes at two big costs.</a:t>
            </a:r>
          </a:p>
          <a:p>
            <a:pPr lvl="1"/>
            <a:r>
              <a:rPr lang="en-US" dirty="0"/>
              <a:t>one, </a:t>
            </a:r>
            <a:r>
              <a:rPr lang="en-US" b="1" dirty="0"/>
              <a:t>you </a:t>
            </a:r>
            <a:r>
              <a:rPr lang="en-US" b="1" dirty="0">
                <a:solidFill>
                  <a:srgbClr val="FF0000"/>
                </a:solidFill>
              </a:rPr>
              <a:t>cannot use non-object types</a:t>
            </a:r>
            <a:r>
              <a:rPr lang="en-US" b="1" dirty="0"/>
              <a:t> in Java generics.</a:t>
            </a:r>
          </a:p>
          <a:p>
            <a:pPr lvl="2"/>
            <a:r>
              <a:rPr lang="en-US" dirty="0"/>
              <a:t>this is why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dirty="0"/>
              <a:t> is invalid!</a:t>
            </a:r>
          </a:p>
          <a:p>
            <a:pPr lvl="1"/>
            <a:r>
              <a:rPr lang="en-US" dirty="0"/>
              <a:t>two, </a:t>
            </a:r>
            <a:r>
              <a:rPr lang="en-US" b="1" dirty="0"/>
              <a:t>the performance is mediocre.</a:t>
            </a:r>
          </a:p>
          <a:p>
            <a:pPr lvl="2"/>
            <a:r>
              <a:rPr lang="en-US" dirty="0"/>
              <a:t>but that's not really a main goal for Java so whatever!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52FE7-A35E-3B45-9269-8BAD20A9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9818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0240-B790-DF44-B943-4C9D0618A6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Bounded Quantification </a:t>
            </a:r>
            <a:br>
              <a:rPr lang="en-US" dirty="0"/>
            </a:br>
            <a:r>
              <a:rPr lang="en-US" sz="2000" dirty="0"/>
              <a:t>(or, "making Parametric Polymorphism actually useful")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0A829E-28F6-3D4C-B93F-B0671FAA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3667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33965-B612-5B4E-A028-8866964A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∀ only gets you so far.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79651-12E9-9F48-B5C8-E1C538399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4801659"/>
          </a:xfrm>
        </p:spPr>
        <p:txBody>
          <a:bodyPr/>
          <a:lstStyle/>
          <a:p>
            <a:r>
              <a:rPr lang="en-US" dirty="0"/>
              <a:t>remember, a type has a set of </a:t>
            </a:r>
            <a:r>
              <a:rPr lang="en-US" b="1" dirty="0"/>
              <a:t>values</a:t>
            </a:r>
            <a:r>
              <a:rPr lang="en-US" dirty="0"/>
              <a:t> and a set of </a:t>
            </a:r>
            <a:r>
              <a:rPr lang="en-US" b="1" dirty="0"/>
              <a:t>operations.</a:t>
            </a:r>
          </a:p>
          <a:p>
            <a:r>
              <a:rPr lang="en-US" dirty="0"/>
              <a:t>what </a:t>
            </a:r>
            <a:r>
              <a:rPr lang="en-US" b="1" dirty="0"/>
              <a:t>operations</a:t>
            </a:r>
            <a:r>
              <a:rPr lang="en-US" dirty="0"/>
              <a:t> can you do with a variable that can be </a:t>
            </a:r>
            <a:r>
              <a:rPr lang="en-US" b="1" i="1" dirty="0"/>
              <a:t>any</a:t>
            </a:r>
            <a:r>
              <a:rPr lang="en-US" i="1" dirty="0"/>
              <a:t> type?</a:t>
            </a:r>
          </a:p>
          <a:p>
            <a:pPr lvl="1"/>
            <a:r>
              <a:rPr lang="en-US" dirty="0"/>
              <a:t>can you add it? index it? even print it out?</a:t>
            </a:r>
          </a:p>
          <a:p>
            <a:pPr lvl="1"/>
            <a:r>
              <a:rPr lang="en-US" dirty="0"/>
              <a:t>well… no. </a:t>
            </a:r>
            <a:r>
              <a:rPr lang="en-US" b="1" dirty="0"/>
              <a:t>because you don't know if the type will support those operations. </a:t>
            </a:r>
          </a:p>
          <a:p>
            <a:pPr lvl="1"/>
            <a:r>
              <a:rPr lang="en-US" dirty="0"/>
              <a:t>about all you </a:t>
            </a:r>
            <a:r>
              <a:rPr lang="en-US" i="1" dirty="0"/>
              <a:t>can</a:t>
            </a:r>
            <a:r>
              <a:rPr lang="en-US" dirty="0"/>
              <a:t> do is copy values around (put them in variables, pass them as arguments, return them) and that's not too useful.</a:t>
            </a:r>
          </a:p>
          <a:p>
            <a:r>
              <a:rPr lang="en-US" dirty="0"/>
              <a:t>well if we can make </a:t>
            </a:r>
            <a:r>
              <a:rPr lang="en-US" b="1" dirty="0"/>
              <a:t>universal </a:t>
            </a:r>
            <a:r>
              <a:rPr lang="en-US" dirty="0"/>
              <a:t>types, what about </a:t>
            </a:r>
            <a:r>
              <a:rPr lang="en-US" b="1" dirty="0"/>
              <a:t>∃ existential types?</a:t>
            </a:r>
          </a:p>
          <a:p>
            <a:r>
              <a:rPr lang="en-US" dirty="0"/>
              <a:t>an </a:t>
            </a:r>
            <a:r>
              <a:rPr lang="en-US" b="1" dirty="0"/>
              <a:t>existential type</a:t>
            </a:r>
            <a:r>
              <a:rPr lang="en-US" dirty="0"/>
              <a:t> (or </a:t>
            </a:r>
            <a:r>
              <a:rPr lang="en-US" b="1" dirty="0"/>
              <a:t>bounded quantification</a:t>
            </a:r>
            <a:r>
              <a:rPr lang="en-US" dirty="0"/>
              <a:t>) gives you the flexibility to accept multiple types…</a:t>
            </a:r>
          </a:p>
          <a:p>
            <a:pPr lvl="1"/>
            <a:r>
              <a:rPr lang="en-US" dirty="0"/>
              <a:t>while saying, "they need to support </a:t>
            </a:r>
            <a:r>
              <a:rPr lang="en-US" b="1" dirty="0"/>
              <a:t>at least</a:t>
            </a:r>
            <a:r>
              <a:rPr lang="en-US" dirty="0"/>
              <a:t> this set of operations."</a:t>
            </a:r>
          </a:p>
          <a:p>
            <a:r>
              <a:rPr lang="en-US" dirty="0"/>
              <a:t>it's a little easier to demonstrate than explain.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1A840-A991-A447-9D2B-5F849C83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76397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54C81-C1BA-6541-83E2-742AEDCDC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quantification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F9DB4-161D-A045-A929-D5A3F478E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2"/>
            <a:ext cx="8991600" cy="495300"/>
          </a:xfrm>
        </p:spPr>
        <p:txBody>
          <a:bodyPr/>
          <a:lstStyle/>
          <a:p>
            <a:r>
              <a:rPr lang="en-US" dirty="0"/>
              <a:t>remember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en-US" dirty="0"/>
              <a:t> in generics?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1E515-3C1E-4B47-8FF7-CC47E390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900BA-C95A-B94B-A819-2CE5C0444188}"/>
              </a:ext>
            </a:extLst>
          </p:cNvPr>
          <p:cNvSpPr/>
          <p:nvPr/>
        </p:nvSpPr>
        <p:spPr>
          <a:xfrm>
            <a:off x="457200" y="990602"/>
            <a:ext cx="8077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" sz="2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Comparable&lt;</a:t>
            </a:r>
            <a:r>
              <a:rPr lang="f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&gt;&gt; </a:t>
            </a:r>
            <a:r>
              <a:rPr lang="f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max(</a:t>
            </a:r>
            <a:r>
              <a:rPr lang="f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a, </a:t>
            </a:r>
            <a:r>
              <a:rPr lang="f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b) {</a:t>
            </a:r>
          </a:p>
          <a:p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fr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f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a.compareTo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(b) &gt; </a:t>
            </a:r>
            <a:r>
              <a:rPr lang="fr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 ? a : b;</a:t>
            </a:r>
          </a:p>
          <a:p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53BDC6-9B3E-4A46-B429-808453F4C7AE}"/>
              </a:ext>
            </a:extLst>
          </p:cNvPr>
          <p:cNvSpPr txBox="1"/>
          <p:nvPr/>
        </p:nvSpPr>
        <p:spPr>
          <a:xfrm>
            <a:off x="533400" y="2158896"/>
            <a:ext cx="807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works for any type T </a:t>
            </a:r>
            <a:r>
              <a:rPr lang="en-US" sz="2200" b="1" i="1" dirty="0"/>
              <a:t>as long as </a:t>
            </a:r>
            <a:r>
              <a:rPr lang="en-US" sz="2200" dirty="0"/>
              <a:t>that type implements the </a:t>
            </a:r>
            <a:r>
              <a:rPr lang="en-US" sz="2200" b="1" dirty="0"/>
              <a:t>Comparable</a:t>
            </a:r>
            <a:r>
              <a:rPr lang="en-US" sz="2200" dirty="0"/>
              <a:t> interface (against other values of the same type).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7C2C8B-5C8E-0B49-B3BE-A5B54E726300}"/>
              </a:ext>
            </a:extLst>
          </p:cNvPr>
          <p:cNvSpPr/>
          <p:nvPr/>
        </p:nvSpPr>
        <p:spPr>
          <a:xfrm>
            <a:off x="457200" y="3086100"/>
            <a:ext cx="807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(max(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));     </a:t>
            </a:r>
            <a:r>
              <a:rPr lang="en-US" sz="24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prints 4</a:t>
            </a:r>
          </a:p>
          <a:p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(max(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"a"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"b"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)); </a:t>
            </a:r>
            <a:r>
              <a:rPr lang="en-US" sz="24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prints 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83ECD0-B23F-4A47-B14A-6C29A69CA645}"/>
              </a:ext>
            </a:extLst>
          </p:cNvPr>
          <p:cNvSpPr txBox="1"/>
          <p:nvPr/>
        </p:nvSpPr>
        <p:spPr>
          <a:xfrm>
            <a:off x="1143000" y="4042825"/>
            <a:ext cx="670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without the </a:t>
            </a:r>
            <a:r>
              <a:rPr lang="en-US" sz="22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extends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 Comparable&lt;T&gt;</a:t>
            </a:r>
            <a:r>
              <a:rPr lang="en-US" sz="2200" dirty="0"/>
              <a:t>, we wouldn't be able to call 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compareTo</a:t>
            </a:r>
            <a:r>
              <a:rPr lang="en-US" sz="2200" b="1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200" dirty="0"/>
              <a:t> in the method.</a:t>
            </a:r>
          </a:p>
        </p:txBody>
      </p:sp>
    </p:spTree>
    <p:extLst>
      <p:ext uri="{BB962C8B-B14F-4D97-AF65-F5344CB8AC3E}">
        <p14:creationId xmlns:p14="http://schemas.microsoft.com/office/powerpoint/2010/main" val="27898952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5"/>
      <p:bldP spid="6" grpId="0"/>
      <p:bldP spid="8" grpId="0" bldLvl="5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54C81-C1BA-6541-83E2-742AEDCDC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quantification in 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F9DB4-161D-A045-A929-D5A3F478E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2"/>
            <a:ext cx="8991600" cy="495300"/>
          </a:xfrm>
        </p:spPr>
        <p:txBody>
          <a:bodyPr/>
          <a:lstStyle/>
          <a:p>
            <a:r>
              <a:rPr lang="en-US" dirty="0"/>
              <a:t>Rust's </a:t>
            </a:r>
            <a:r>
              <a:rPr lang="en-US" b="1" dirty="0"/>
              <a:t>traits</a:t>
            </a:r>
            <a:r>
              <a:rPr lang="en-US" dirty="0"/>
              <a:t> do the same job as Java's </a:t>
            </a:r>
            <a:r>
              <a:rPr lang="en-US" b="1" dirty="0"/>
              <a:t>interfaces</a:t>
            </a:r>
            <a:r>
              <a:rPr lang="en-US" dirty="0"/>
              <a:t>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1E515-3C1E-4B47-8FF7-CC47E390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900BA-C95A-B94B-A819-2CE5C0444188}"/>
              </a:ext>
            </a:extLst>
          </p:cNvPr>
          <p:cNvSpPr/>
          <p:nvPr/>
        </p:nvSpPr>
        <p:spPr>
          <a:xfrm>
            <a:off x="457200" y="990602"/>
            <a:ext cx="8077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" sz="2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fn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max&lt;</a:t>
            </a:r>
            <a:r>
              <a:rPr lang="f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f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PartialOrd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&gt;(a: </a:t>
            </a:r>
            <a:r>
              <a:rPr lang="f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 b: </a:t>
            </a:r>
            <a:r>
              <a:rPr lang="f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f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a &gt; b { a } </a:t>
            </a:r>
            <a:r>
              <a:rPr lang="fr" sz="24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{ b }</a:t>
            </a:r>
          </a:p>
          <a:p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53BDC6-9B3E-4A46-B429-808453F4C7AE}"/>
              </a:ext>
            </a:extLst>
          </p:cNvPr>
          <p:cNvSpPr txBox="1"/>
          <p:nvPr/>
        </p:nvSpPr>
        <p:spPr>
          <a:xfrm>
            <a:off x="533400" y="2198013"/>
            <a:ext cx="8077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PartialOrd</a:t>
            </a:r>
            <a:r>
              <a:rPr lang="en-US" sz="2200" dirty="0"/>
              <a:t> is the closest thing Rust has to Java's </a:t>
            </a:r>
            <a:r>
              <a:rPr lang="en-US" sz="2200" b="1" dirty="0"/>
              <a:t>Comparable</a:t>
            </a:r>
            <a:r>
              <a:rPr lang="en-US" sz="2200" dirty="0"/>
              <a:t>, and the resulting function can be used the same way: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7C2C8B-5C8E-0B49-B3BE-A5B54E726300}"/>
              </a:ext>
            </a:extLst>
          </p:cNvPr>
          <p:cNvSpPr/>
          <p:nvPr/>
        </p:nvSpPr>
        <p:spPr>
          <a:xfrm>
            <a:off x="457200" y="3086100"/>
            <a:ext cx="807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"{}"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 max(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));     </a:t>
            </a:r>
            <a:r>
              <a:rPr lang="en-US" sz="24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prints 4</a:t>
            </a:r>
          </a:p>
          <a:p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!(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"{}"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 max(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3.3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4.4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)); </a:t>
            </a:r>
            <a:r>
              <a:rPr lang="en-US" sz="2400" i="1" dirty="0">
                <a:solidFill>
                  <a:schemeClr val="accent3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prints 4.4</a:t>
            </a:r>
          </a:p>
        </p:txBody>
      </p:sp>
    </p:spTree>
    <p:extLst>
      <p:ext uri="{BB962C8B-B14F-4D97-AF65-F5344CB8AC3E}">
        <p14:creationId xmlns:p14="http://schemas.microsoft.com/office/powerpoint/2010/main" val="24651993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5"/>
      <p:bldP spid="6" grpId="0"/>
      <p:bldP spid="8" grpId="0" bldLvl="5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A3455-F6BB-EA46-80B7-F32D5C27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what about using subtype polymorphism?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E078B-DD60-334F-83F2-8DCA76612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1"/>
            <a:ext cx="8991600" cy="838199"/>
          </a:xfrm>
        </p:spPr>
        <p:txBody>
          <a:bodyPr/>
          <a:lstStyle/>
          <a:p>
            <a:r>
              <a:rPr lang="en-US" dirty="0"/>
              <a:t>couldn't we just make our Java function take two </a:t>
            </a:r>
            <a:r>
              <a:rPr lang="en-US" dirty="0" err="1"/>
              <a:t>Comparables</a:t>
            </a:r>
            <a:r>
              <a:rPr lang="en-US" dirty="0"/>
              <a:t>?</a:t>
            </a:r>
          </a:p>
          <a:p>
            <a:r>
              <a:rPr lang="en-US" dirty="0"/>
              <a:t>well yes, </a:t>
            </a:r>
            <a:r>
              <a:rPr lang="en-US" i="1" dirty="0"/>
              <a:t>but…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DDB35-8A9B-334F-BDCC-F15F55E1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88267D-61A2-6D42-ACA1-3759C04E9190}"/>
              </a:ext>
            </a:extLst>
          </p:cNvPr>
          <p:cNvSpPr/>
          <p:nvPr/>
        </p:nvSpPr>
        <p:spPr>
          <a:xfrm>
            <a:off x="381000" y="1276700"/>
            <a:ext cx="8077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Comparable max(Comparable a, Comparable b) {</a:t>
            </a:r>
          </a:p>
          <a:p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fr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fr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a.compareTo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(b) &gt; </a:t>
            </a:r>
            <a:r>
              <a:rPr lang="fr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 ? a : b;</a:t>
            </a:r>
          </a:p>
          <a:p>
            <a:r>
              <a:rPr lang="fr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8FAB44-3374-4E4B-8542-46723212CA81}"/>
              </a:ext>
            </a:extLst>
          </p:cNvPr>
          <p:cNvSpPr/>
          <p:nvPr/>
        </p:nvSpPr>
        <p:spPr>
          <a:xfrm>
            <a:off x="1828800" y="3084397"/>
            <a:ext cx="5791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(max(</a:t>
            </a:r>
            <a:r>
              <a:rPr lang="en-US" sz="2400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"a"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  <a:endParaRPr lang="en-US" sz="2400" i="1" dirty="0">
              <a:solidFill>
                <a:schemeClr val="accent3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D4EFB-61E8-FA47-83EC-252AADCF438D}"/>
              </a:ext>
            </a:extLst>
          </p:cNvPr>
          <p:cNvSpPr txBox="1"/>
          <p:nvPr/>
        </p:nvSpPr>
        <p:spPr>
          <a:xfrm>
            <a:off x="1752600" y="2247900"/>
            <a:ext cx="5638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now </a:t>
            </a:r>
            <a:r>
              <a:rPr lang="en-US" sz="2200" i="1" dirty="0"/>
              <a:t>this</a:t>
            </a:r>
            <a:r>
              <a:rPr lang="en-US" sz="2200" dirty="0"/>
              <a:t> nonsense code compiles and runs, and we get a </a:t>
            </a:r>
            <a:r>
              <a:rPr lang="en-US" sz="2200" b="1" dirty="0"/>
              <a:t>runtime error </a:t>
            </a:r>
            <a:r>
              <a:rPr lang="en-US" sz="2200" dirty="0"/>
              <a:t>instead: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06739D-507F-564E-A7CC-A3E2D47A4152}"/>
              </a:ext>
            </a:extLst>
          </p:cNvPr>
          <p:cNvSpPr txBox="1"/>
          <p:nvPr/>
        </p:nvSpPr>
        <p:spPr>
          <a:xfrm>
            <a:off x="1257300" y="3773149"/>
            <a:ext cx="6629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parametric polymorphism </a:t>
            </a:r>
            <a:r>
              <a:rPr lang="en-US" sz="2200" b="1" dirty="0"/>
              <a:t>moves the type checking into the compiler, </a:t>
            </a:r>
            <a:r>
              <a:rPr lang="en-US" sz="2200" dirty="0"/>
              <a:t>allowing us to catch errors </a:t>
            </a:r>
            <a:r>
              <a:rPr lang="en-US" sz="2200" i="1" dirty="0"/>
              <a:t>without</a:t>
            </a:r>
            <a:r>
              <a:rPr lang="en-US" sz="2200" dirty="0"/>
              <a:t> having to run the code, and </a:t>
            </a:r>
            <a:r>
              <a:rPr lang="en-US" sz="2200" i="1" dirty="0"/>
              <a:t>without </a:t>
            </a:r>
            <a:r>
              <a:rPr lang="en-US" sz="2200" dirty="0"/>
              <a:t>the performance penalty of runtime type-checking*.</a:t>
            </a:r>
          </a:p>
        </p:txBody>
      </p:sp>
    </p:spTree>
    <p:extLst>
      <p:ext uri="{BB962C8B-B14F-4D97-AF65-F5344CB8AC3E}">
        <p14:creationId xmlns:p14="http://schemas.microsoft.com/office/powerpoint/2010/main" val="25261301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5"/>
      <p:bldP spid="7" grpId="0" bldLvl="5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2BF3F-8453-C64A-A551-ED7611096B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4414C7-9110-BD45-BC5B-2953A3DB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1768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8D51C-96AD-D241-94D0-B1B23DD76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kinds of 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A17FE-BF53-754A-A69F-2418B5515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ad-hoc </a:t>
            </a:r>
            <a:r>
              <a:rPr lang="en-US" dirty="0"/>
              <a:t>polymorphism is also called </a:t>
            </a:r>
            <a:r>
              <a:rPr lang="en-US" b="1" dirty="0"/>
              <a:t>function overloading.</a:t>
            </a:r>
          </a:p>
          <a:p>
            <a:pPr lvl="1"/>
            <a:r>
              <a:rPr lang="en-US" dirty="0"/>
              <a:t>it lets you define multiple versions of the same function with different type signatures.</a:t>
            </a:r>
          </a:p>
          <a:p>
            <a:pPr lvl="1"/>
            <a:r>
              <a:rPr lang="en-US" dirty="0"/>
              <a:t>the version that will be used is selected </a:t>
            </a:r>
            <a:r>
              <a:rPr lang="en-US" b="1" dirty="0">
                <a:solidFill>
                  <a:srgbClr val="FF0000"/>
                </a:solidFill>
              </a:rPr>
              <a:t>at compile time.</a:t>
            </a:r>
          </a:p>
          <a:p>
            <a:r>
              <a:rPr lang="en-US" b="1" dirty="0"/>
              <a:t>parametric </a:t>
            </a:r>
            <a:r>
              <a:rPr lang="en-US" dirty="0"/>
              <a:t>polymorphism is also called </a:t>
            </a:r>
            <a:r>
              <a:rPr lang="en-US" b="1" dirty="0"/>
              <a:t>generics</a:t>
            </a:r>
            <a:r>
              <a:rPr lang="en-US" dirty="0"/>
              <a:t> or </a:t>
            </a:r>
            <a:r>
              <a:rPr lang="en-US" b="1" dirty="0"/>
              <a:t>templates.</a:t>
            </a:r>
            <a:endParaRPr lang="en-US" dirty="0"/>
          </a:p>
          <a:p>
            <a:pPr lvl="1"/>
            <a:r>
              <a:rPr lang="en-US" dirty="0"/>
              <a:t>it lets you define "fill-in-the-blanks" classes, structs, functions etc.</a:t>
            </a:r>
          </a:p>
          <a:p>
            <a:pPr lvl="1"/>
            <a:r>
              <a:rPr lang="en-US" dirty="0"/>
              <a:t>the blanks can be filled in with </a:t>
            </a:r>
            <a:r>
              <a:rPr lang="en-US" i="1" dirty="0"/>
              <a:t>any </a:t>
            </a:r>
            <a:r>
              <a:rPr lang="en-US" dirty="0"/>
              <a:t>type… or with bounded quantification, only types which </a:t>
            </a:r>
            <a:r>
              <a:rPr lang="en-US" i="1" dirty="0"/>
              <a:t>satisfy some condition.</a:t>
            </a:r>
          </a:p>
          <a:p>
            <a:pPr lvl="1"/>
            <a:r>
              <a:rPr lang="en-US" dirty="0"/>
              <a:t>the types are filled in and checked </a:t>
            </a:r>
            <a:r>
              <a:rPr lang="en-US" b="1" dirty="0">
                <a:solidFill>
                  <a:srgbClr val="FF0000"/>
                </a:solidFill>
              </a:rPr>
              <a:t>at compile time.</a:t>
            </a:r>
          </a:p>
          <a:p>
            <a:pPr lvl="1"/>
            <a:r>
              <a:rPr lang="en-US" dirty="0"/>
              <a:t>the generated code </a:t>
            </a:r>
            <a:r>
              <a:rPr lang="en-US" i="1" dirty="0"/>
              <a:t>may</a:t>
            </a:r>
            <a:r>
              <a:rPr lang="en-US" dirty="0"/>
              <a:t> or </a:t>
            </a:r>
            <a:r>
              <a:rPr lang="en-US" i="1" dirty="0"/>
              <a:t>may not</a:t>
            </a:r>
            <a:r>
              <a:rPr lang="en-US" dirty="0"/>
              <a:t> be </a:t>
            </a:r>
            <a:r>
              <a:rPr lang="en-US" b="1" dirty="0" err="1"/>
              <a:t>monomorphized</a:t>
            </a:r>
            <a:r>
              <a:rPr lang="en-US" b="1" dirty="0"/>
              <a:t>.</a:t>
            </a:r>
          </a:p>
          <a:p>
            <a:r>
              <a:rPr lang="en-US" dirty="0"/>
              <a:t>finally, </a:t>
            </a:r>
            <a:r>
              <a:rPr lang="en-US" b="1" dirty="0"/>
              <a:t>subtype </a:t>
            </a:r>
            <a:r>
              <a:rPr lang="en-US" dirty="0"/>
              <a:t>polymorphism is a feature of classes and interfaces.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derived</a:t>
            </a:r>
            <a:r>
              <a:rPr lang="en-US" dirty="0"/>
              <a:t> value can be used anywhere a base type is required.</a:t>
            </a:r>
          </a:p>
          <a:p>
            <a:pPr lvl="1"/>
            <a:r>
              <a:rPr lang="en-US" dirty="0"/>
              <a:t>when a </a:t>
            </a:r>
            <a:r>
              <a:rPr lang="en-US" b="1" dirty="0"/>
              <a:t>virtual </a:t>
            </a:r>
            <a:r>
              <a:rPr lang="en-US" dirty="0"/>
              <a:t>method is called, the version that is used is selected </a:t>
            </a:r>
            <a:r>
              <a:rPr lang="en-US" b="1" dirty="0">
                <a:solidFill>
                  <a:srgbClr val="FF0000"/>
                </a:solidFill>
              </a:rPr>
              <a:t>at runtime, </a:t>
            </a:r>
            <a:r>
              <a:rPr lang="en-US" dirty="0"/>
              <a:t>based on the type of the object.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23C69-29CE-B945-B3AA-7950F426E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39002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9136-C109-634D-8790-55489838E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limits of typing and type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1C2F3-E5B0-F348-83FE-7F7377D7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95302"/>
            <a:ext cx="8991600" cy="815684"/>
          </a:xfrm>
        </p:spPr>
        <p:txBody>
          <a:bodyPr/>
          <a:lstStyle/>
          <a:p>
            <a:r>
              <a:rPr lang="en-US" dirty="0"/>
              <a:t>it doesn't matter how fancy your type system is…</a:t>
            </a:r>
          </a:p>
          <a:p>
            <a:pPr lvl="1"/>
            <a:r>
              <a:rPr lang="en-US" b="1" dirty="0"/>
              <a:t>it will never allow </a:t>
            </a:r>
            <a:r>
              <a:rPr lang="en-US" b="1" i="1" dirty="0"/>
              <a:t>all</a:t>
            </a:r>
            <a:r>
              <a:rPr lang="en-US" b="1" dirty="0"/>
              <a:t> correct programs.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DC700-BA45-3A47-986D-EF2A428E9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3870B-D6B5-9443-B40A-88D68E0310BB}"/>
              </a:ext>
            </a:extLst>
          </p:cNvPr>
          <p:cNvSpPr txBox="1"/>
          <p:nvPr/>
        </p:nvSpPr>
        <p:spPr>
          <a:xfrm>
            <a:off x="685800" y="1409700"/>
            <a:ext cx="7543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we saw this previously when talking about Box in Rust.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73CB8A-63A4-FC42-8A16-0971B4AA1175}"/>
              </a:ext>
            </a:extLst>
          </p:cNvPr>
          <p:cNvGrpSpPr/>
          <p:nvPr/>
        </p:nvGrpSpPr>
        <p:grpSpPr>
          <a:xfrm>
            <a:off x="2286000" y="2207901"/>
            <a:ext cx="3733800" cy="609600"/>
            <a:chOff x="1676400" y="2476500"/>
            <a:chExt cx="3733800" cy="6096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6ED850A-795E-2641-9BD9-5E82ABAF36B6}"/>
                </a:ext>
              </a:extLst>
            </p:cNvPr>
            <p:cNvSpPr/>
            <p:nvPr/>
          </p:nvSpPr>
          <p:spPr>
            <a:xfrm>
              <a:off x="2438400" y="2476500"/>
              <a:ext cx="10668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07768E3-39E7-8448-90B6-E451184DA107}"/>
                </a:ext>
              </a:extLst>
            </p:cNvPr>
            <p:cNvSpPr/>
            <p:nvPr/>
          </p:nvSpPr>
          <p:spPr>
            <a:xfrm>
              <a:off x="4343400" y="2476500"/>
              <a:ext cx="1066800" cy="6096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Curved Connector 8">
              <a:extLst>
                <a:ext uri="{FF2B5EF4-FFF2-40B4-BE49-F238E27FC236}">
                  <a16:creationId xmlns:a16="http://schemas.microsoft.com/office/drawing/2014/main" id="{3914700F-8814-B847-9506-DB7BB9C06A88}"/>
                </a:ext>
              </a:extLst>
            </p:cNvPr>
            <p:cNvCxnSpPr>
              <a:stCxn id="6" idx="7"/>
              <a:endCxn id="7" idx="1"/>
            </p:cNvCxnSpPr>
            <p:nvPr/>
          </p:nvCxnSpPr>
          <p:spPr>
            <a:xfrm rot="5400000" flipH="1" flipV="1">
              <a:off x="3924300" y="1990445"/>
              <a:ext cx="12700" cy="1150658"/>
            </a:xfrm>
            <a:prstGeom prst="curvedConnector3">
              <a:avLst>
                <a:gd name="adj1" fmla="val 2502945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urved Connector 9">
              <a:extLst>
                <a:ext uri="{FF2B5EF4-FFF2-40B4-BE49-F238E27FC236}">
                  <a16:creationId xmlns:a16="http://schemas.microsoft.com/office/drawing/2014/main" id="{D3A4EC25-A53D-C546-BDF4-03B15A169A8C}"/>
                </a:ext>
              </a:extLst>
            </p:cNvPr>
            <p:cNvCxnSpPr>
              <a:cxnSpLocks/>
              <a:stCxn id="7" idx="3"/>
              <a:endCxn id="6" idx="5"/>
            </p:cNvCxnSpPr>
            <p:nvPr/>
          </p:nvCxnSpPr>
          <p:spPr>
            <a:xfrm rot="5400000">
              <a:off x="3924300" y="2421497"/>
              <a:ext cx="12700" cy="1150658"/>
            </a:xfrm>
            <a:prstGeom prst="curvedConnector3">
              <a:avLst>
                <a:gd name="adj1" fmla="val 2502945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CDDE1B8-80F7-2C4D-973C-F16C250F754B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>
              <a:off x="1676400" y="2781300"/>
              <a:ext cx="762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0D059E2-59ED-AB4E-8731-94AE9C5FA332}"/>
              </a:ext>
            </a:extLst>
          </p:cNvPr>
          <p:cNvSpPr txBox="1"/>
          <p:nvPr/>
        </p:nvSpPr>
        <p:spPr>
          <a:xfrm>
            <a:off x="685800" y="3194541"/>
            <a:ext cx="754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this seemingly-simple object graph is </a:t>
            </a:r>
            <a:r>
              <a:rPr lang="en-US" sz="2200" i="1" dirty="0"/>
              <a:t>impossible to directly represent</a:t>
            </a:r>
            <a:r>
              <a:rPr lang="en-US" sz="2200" dirty="0"/>
              <a:t> in Rust because of its type system.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729936-570C-6840-ACB3-3E746A257B01}"/>
              </a:ext>
            </a:extLst>
          </p:cNvPr>
          <p:cNvSpPr txBox="1"/>
          <p:nvPr/>
        </p:nvSpPr>
        <p:spPr>
          <a:xfrm>
            <a:off x="685800" y="4039225"/>
            <a:ext cx="754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but that's the </a:t>
            </a:r>
            <a:r>
              <a:rPr lang="en-US" sz="2200" i="1" dirty="0"/>
              <a:t>point.</a:t>
            </a:r>
            <a:r>
              <a:rPr lang="en-US" sz="2200" dirty="0"/>
              <a:t> </a:t>
            </a:r>
            <a:r>
              <a:rPr lang="en-US" sz="2200" b="1" dirty="0"/>
              <a:t>type systems limit what we can do, because unlimited ability leads to mistakes.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540141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B414-12F1-374D-8FEF-A0CFCE6A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Coloring inside the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90EBA-949F-1E49-8F25-C2AEC81D3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systems force us to </a:t>
            </a:r>
            <a:r>
              <a:rPr lang="en-US" i="1" dirty="0"/>
              <a:t>work within a set of limitations, </a:t>
            </a:r>
            <a:r>
              <a:rPr lang="en-US" dirty="0"/>
              <a:t>which can sometimes be annoying…</a:t>
            </a:r>
          </a:p>
          <a:p>
            <a:pPr lvl="1"/>
            <a:r>
              <a:rPr lang="en-US" dirty="0"/>
              <a:t>but it can also lead to </a:t>
            </a:r>
            <a:r>
              <a:rPr lang="en-US" b="1" dirty="0"/>
              <a:t>simpler, more elegant solutions.</a:t>
            </a:r>
          </a:p>
          <a:p>
            <a:r>
              <a:rPr lang="en-US" dirty="0"/>
              <a:t>because static type systems are automatically checked by the compiler, </a:t>
            </a:r>
            <a:r>
              <a:rPr lang="en-US" b="1" dirty="0"/>
              <a:t>playing by their rules can avoid many silly mistakes.</a:t>
            </a:r>
          </a:p>
          <a:p>
            <a:pPr lvl="1"/>
            <a:r>
              <a:rPr lang="en-US" dirty="0"/>
              <a:t>programming is </a:t>
            </a:r>
            <a:r>
              <a:rPr lang="en-US" i="1" dirty="0"/>
              <a:t>hard. </a:t>
            </a:r>
            <a:r>
              <a:rPr lang="en-US" dirty="0"/>
              <a:t>you need all the help you can get!</a:t>
            </a:r>
          </a:p>
          <a:p>
            <a:r>
              <a:rPr lang="en-US" dirty="0"/>
              <a:t>and with that…</a:t>
            </a:r>
          </a:p>
          <a:p>
            <a:pPr lvl="1"/>
            <a:r>
              <a:rPr lang="en-US" dirty="0"/>
              <a:t>we're done with the material before the exam </a:t>
            </a:r>
            <a:r>
              <a:rPr lang="en-US" dirty="0" err="1"/>
              <a:t>ö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49ABF-4960-4F4E-B19A-FB515187E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B95B-556F-44BD-91A5-D80C1B9E2BB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87875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02 - C - Basics">
  <a:themeElements>
    <a:clrScheme name="Custom 2">
      <a:dk1>
        <a:srgbClr val="000000"/>
      </a:dk1>
      <a:lt1>
        <a:srgbClr val="FFFFFF"/>
      </a:lt1>
      <a:dk2>
        <a:srgbClr val="3B481E"/>
      </a:dk2>
      <a:lt2>
        <a:srgbClr val="FFFF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Segoe WP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_fall_2017" id="{93D034CE-FEB5-4D4D-96F7-6B7F8A5EB99A}" vid="{194AE869-5029-ED49-81EA-C574BDDBE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01 - Welcome and Review</Template>
  <TotalTime>19845</TotalTime>
  <Words>3783</Words>
  <Application>Microsoft Macintosh PowerPoint</Application>
  <PresentationFormat>On-screen Show (16:10)</PresentationFormat>
  <Paragraphs>400</Paragraphs>
  <Slides>33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Consolas</vt:lpstr>
      <vt:lpstr>Courier New</vt:lpstr>
      <vt:lpstr>Segoe UI</vt:lpstr>
      <vt:lpstr>Segoe WP Semibold</vt:lpstr>
      <vt:lpstr>Trebuchet MS</vt:lpstr>
      <vt:lpstr>Wingdings</vt:lpstr>
      <vt:lpstr>02 - C - Basics</vt:lpstr>
      <vt:lpstr>Advanced Typing</vt:lpstr>
      <vt:lpstr>Class Announcements</vt:lpstr>
      <vt:lpstr>Polymorphism</vt:lpstr>
      <vt:lpstr>Poly = Many, Morph = Shape</vt:lpstr>
      <vt:lpstr>Don't repeat yourself.</vt:lpstr>
      <vt:lpstr>What type is it?</vt:lpstr>
      <vt:lpstr>"Ad-Hoc" Polymorphism</vt:lpstr>
      <vt:lpstr>You know about this: overloading!</vt:lpstr>
      <vt:lpstr>Implementing overloading in a compiler</vt:lpstr>
      <vt:lpstr>More than one can match??</vt:lpstr>
      <vt:lpstr>Name mangling</vt:lpstr>
      <vt:lpstr>Subtype Polymorphism</vt:lpstr>
      <vt:lpstr>You know about this one too!</vt:lpstr>
      <vt:lpstr>Interfaces</vt:lpstr>
      <vt:lpstr>Implementing subtyping in a compiler</vt:lpstr>
      <vt:lpstr>But it's got… issues.</vt:lpstr>
      <vt:lpstr>Implementing subtyping at runtime</vt:lpstr>
      <vt:lpstr>Subtyping in Rust</vt:lpstr>
      <vt:lpstr>Parametric Polymorphism</vt:lpstr>
      <vt:lpstr>Static and Dynamic</vt:lpstr>
      <vt:lpstr>Parametric polymorphism to the rescue</vt:lpstr>
      <vt:lpstr>Using parametrically polymorphic functions</vt:lpstr>
      <vt:lpstr>Monomorphization</vt:lpstr>
      <vt:lpstr>Generics without monomorphization</vt:lpstr>
      <vt:lpstr>Bounded Quantification  (or, "making Parametric Polymorphism actually useful")</vt:lpstr>
      <vt:lpstr>∀ only gets you so far.</vt:lpstr>
      <vt:lpstr>Bounded quantification in Java</vt:lpstr>
      <vt:lpstr>Bounded quantification in Rust</vt:lpstr>
      <vt:lpstr>But what about using subtype polymorphism?</vt:lpstr>
      <vt:lpstr>Summary</vt:lpstr>
      <vt:lpstr>The kinds of polymorphism</vt:lpstr>
      <vt:lpstr>The limits of typing and type systems</vt:lpstr>
      <vt:lpstr>Coloring inside the lines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Intro to Computer Architecture!</dc:title>
  <dc:creator>me</dc:creator>
  <cp:lastModifiedBy>Billingsley, Jarrett F</cp:lastModifiedBy>
  <cp:revision>850</cp:revision>
  <dcterms:created xsi:type="dcterms:W3CDTF">2017-01-05T04:29:56Z</dcterms:created>
  <dcterms:modified xsi:type="dcterms:W3CDTF">2022-06-22T05:47:11Z</dcterms:modified>
</cp:coreProperties>
</file>