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1"/>
  </p:notesMasterIdLst>
  <p:sldIdLst>
    <p:sldId id="256" r:id="rId2"/>
    <p:sldId id="519" r:id="rId3"/>
    <p:sldId id="546" r:id="rId4"/>
    <p:sldId id="555" r:id="rId5"/>
    <p:sldId id="556" r:id="rId6"/>
    <p:sldId id="557" r:id="rId7"/>
    <p:sldId id="558" r:id="rId8"/>
    <p:sldId id="559" r:id="rId9"/>
    <p:sldId id="547" r:id="rId10"/>
    <p:sldId id="560" r:id="rId11"/>
    <p:sldId id="552" r:id="rId12"/>
    <p:sldId id="553" r:id="rId13"/>
    <p:sldId id="554" r:id="rId14"/>
    <p:sldId id="563" r:id="rId15"/>
    <p:sldId id="549" r:id="rId16"/>
    <p:sldId id="564" r:id="rId17"/>
    <p:sldId id="565" r:id="rId18"/>
    <p:sldId id="566" r:id="rId19"/>
    <p:sldId id="567" r:id="rId20"/>
    <p:sldId id="568" r:id="rId21"/>
    <p:sldId id="575" r:id="rId22"/>
    <p:sldId id="561" r:id="rId23"/>
    <p:sldId id="569" r:id="rId24"/>
    <p:sldId id="570" r:id="rId25"/>
    <p:sldId id="576" r:id="rId26"/>
    <p:sldId id="571" r:id="rId27"/>
    <p:sldId id="572" r:id="rId28"/>
    <p:sldId id="573" r:id="rId29"/>
    <p:sldId id="574" r:id="rId30"/>
  </p:sldIdLst>
  <p:sldSz cx="9144000" cy="5715000" type="screen16x1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12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200"/>
    <a:srgbClr val="FF5200"/>
    <a:srgbClr val="FF5C00"/>
    <a:srgbClr val="592A04"/>
    <a:srgbClr val="8DB000"/>
    <a:srgbClr val="FCECD6"/>
    <a:srgbClr val="FCF9C5"/>
    <a:srgbClr val="8BD5F4"/>
    <a:srgbClr val="FA0AB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01" autoAdjust="0"/>
    <p:restoredTop sz="88592" autoAdjust="0"/>
  </p:normalViewPr>
  <p:slideViewPr>
    <p:cSldViewPr>
      <p:cViewPr varScale="1">
        <p:scale>
          <a:sx n="130" d="100"/>
          <a:sy n="130" d="100"/>
        </p:scale>
        <p:origin x="1280" y="192"/>
      </p:cViewPr>
      <p:guideLst>
        <p:guide orient="horz" pos="1800"/>
        <p:guide pos="1296"/>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93253-51AE-4C40-AB6B-AA3A7DF4D210}" type="datetimeFigureOut">
              <a:rPr lang="en-US" smtClean="0"/>
              <a:pPr/>
              <a:t>5/24/22</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9729AB-B77D-48AE-AA10-D1BD2B4D03EA}" type="slidenum">
              <a:rPr lang="en-US" smtClean="0"/>
              <a:pPr/>
              <a:t>‹#›</a:t>
            </a:fld>
            <a:endParaRPr lang="en-US"/>
          </a:p>
        </p:txBody>
      </p:sp>
    </p:spTree>
    <p:extLst>
      <p:ext uri="{BB962C8B-B14F-4D97-AF65-F5344CB8AC3E}">
        <p14:creationId xmlns:p14="http://schemas.microsoft.com/office/powerpoint/2010/main" val="2560305392"/>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99729AB-B77D-48AE-AA10-D1BD2B4D03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lexing grammar for the </a:t>
            </a:r>
            <a:r>
              <a:rPr lang="en-US" dirty="0" err="1"/>
              <a:t>lexing_toy</a:t>
            </a:r>
            <a:r>
              <a:rPr lang="en-US" dirty="0"/>
              <a:t> example I showed last time.</a:t>
            </a:r>
          </a:p>
          <a:p>
            <a:r>
              <a:rPr lang="en-US" dirty="0"/>
              <a:t>- you cannot have "matching" things in this kind of grammar. </a:t>
            </a:r>
          </a:p>
          <a:p>
            <a:r>
              <a:rPr lang="en-US" dirty="0"/>
              <a:t>	- well, you sort of can (like double quotes), but only a finite number of levels deep.</a:t>
            </a:r>
          </a:p>
          <a:p>
            <a:r>
              <a:rPr lang="en-US" dirty="0"/>
              <a:t>- limitations are often useful. as a tangent:</a:t>
            </a:r>
          </a:p>
          <a:p>
            <a:r>
              <a:rPr lang="en-US" dirty="0"/>
              <a:t>	- making a language that can "do anything" is pretty easy. look at assembly: you can literally do anything.</a:t>
            </a:r>
          </a:p>
          <a:p>
            <a:r>
              <a:rPr lang="en-US" dirty="0"/>
              <a:t>	- but like, 99% of "anything" is useless garbage, so why let ourselves do that?</a:t>
            </a:r>
          </a:p>
          <a:p>
            <a:r>
              <a:rPr lang="en-US" i="0" dirty="0"/>
              <a:t>	- high-level languages are about putting </a:t>
            </a:r>
            <a:r>
              <a:rPr lang="en-US" i="1" dirty="0"/>
              <a:t>useful</a:t>
            </a:r>
            <a:r>
              <a:rPr lang="en-US" i="0" dirty="0"/>
              <a:t> limits on our abilities so we make fewer mistakes – less garbage.</a:t>
            </a:r>
          </a:p>
        </p:txBody>
      </p:sp>
      <p:sp>
        <p:nvSpPr>
          <p:cNvPr id="4" name="Slide Number Placeholder 3"/>
          <p:cNvSpPr>
            <a:spLocks noGrp="1"/>
          </p:cNvSpPr>
          <p:nvPr>
            <p:ph type="sldNum" sz="quarter" idx="5"/>
          </p:nvPr>
        </p:nvSpPr>
        <p:spPr/>
        <p:txBody>
          <a:bodyPr/>
          <a:lstStyle/>
          <a:p>
            <a:fld id="{999729AB-B77D-48AE-AA10-D1BD2B4D03EA}" type="slidenum">
              <a:rPr lang="en-US" smtClean="0"/>
              <a:pPr/>
              <a:t>4</a:t>
            </a:fld>
            <a:endParaRPr lang="en-US"/>
          </a:p>
        </p:txBody>
      </p:sp>
    </p:spTree>
    <p:extLst>
      <p:ext uri="{BB962C8B-B14F-4D97-AF65-F5344CB8AC3E}">
        <p14:creationId xmlns:p14="http://schemas.microsoft.com/office/powerpoint/2010/main" val="4360313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regular languages correspond to finite state automata, as you will learn/have learned in 1502.</a:t>
            </a:r>
          </a:p>
          <a:p>
            <a:pPr marL="171450" indent="-171450">
              <a:buFontTx/>
              <a:buChar char="-"/>
            </a:pPr>
            <a:endParaRPr lang="en-US" dirty="0"/>
          </a:p>
          <a:p>
            <a:pPr marL="0" indent="0">
              <a:buFontTx/>
              <a:buNone/>
            </a:pPr>
            <a:r>
              <a:rPr lang="en-US" dirty="0"/>
              <a:t>[diagram: Program depends on Token and </a:t>
            </a:r>
            <a:r>
              <a:rPr lang="en-US" dirty="0" err="1"/>
              <a:t>Ws</a:t>
            </a:r>
            <a:r>
              <a:rPr lang="en-US" dirty="0"/>
              <a:t>. Token depends on Id and </a:t>
            </a:r>
            <a:r>
              <a:rPr lang="en-US" dirty="0" err="1"/>
              <a:t>IntLit</a:t>
            </a:r>
            <a:r>
              <a:rPr lang="en-US" dirty="0"/>
              <a:t>. Id depends on </a:t>
            </a:r>
            <a:r>
              <a:rPr lang="en-US" dirty="0" err="1"/>
              <a:t>IdStart</a:t>
            </a:r>
            <a:r>
              <a:rPr lang="en-US" dirty="0"/>
              <a:t> and </a:t>
            </a:r>
            <a:r>
              <a:rPr lang="en-US" dirty="0" err="1"/>
              <a:t>IdCont</a:t>
            </a:r>
            <a:r>
              <a:rPr lang="en-US" dirty="0"/>
              <a:t>. And </a:t>
            </a:r>
            <a:r>
              <a:rPr lang="en-US" dirty="0" err="1"/>
              <a:t>IdCont</a:t>
            </a:r>
            <a:r>
              <a:rPr lang="en-US" dirty="0"/>
              <a:t> depends on </a:t>
            </a:r>
            <a:r>
              <a:rPr lang="en-US" dirty="0" err="1"/>
              <a:t>IdStart</a:t>
            </a:r>
            <a:r>
              <a:rPr lang="en-US" dirty="0"/>
              <a:t>. It does not matter where you start, if you follow arrows, you will always end up in one of the rules that has no dependencies.]</a:t>
            </a:r>
          </a:p>
        </p:txBody>
      </p:sp>
      <p:sp>
        <p:nvSpPr>
          <p:cNvPr id="4" name="Slide Number Placeholder 3"/>
          <p:cNvSpPr>
            <a:spLocks noGrp="1"/>
          </p:cNvSpPr>
          <p:nvPr>
            <p:ph type="sldNum" sz="quarter" idx="5"/>
          </p:nvPr>
        </p:nvSpPr>
        <p:spPr/>
        <p:txBody>
          <a:bodyPr/>
          <a:lstStyle/>
          <a:p>
            <a:fld id="{999729AB-B77D-48AE-AA10-D1BD2B4D03EA}" type="slidenum">
              <a:rPr lang="en-US" smtClean="0"/>
              <a:pPr/>
              <a:t>5</a:t>
            </a:fld>
            <a:endParaRPr lang="en-US"/>
          </a:p>
        </p:txBody>
      </p:sp>
    </p:spTree>
    <p:extLst>
      <p:ext uri="{BB962C8B-B14F-4D97-AF65-F5344CB8AC3E}">
        <p14:creationId xmlns:p14="http://schemas.microsoft.com/office/powerpoint/2010/main" val="38825319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it's... a little more subtle than this. </a:t>
            </a:r>
          </a:p>
          <a:p>
            <a:r>
              <a:rPr lang="en-US" dirty="0"/>
              <a:t>	- but the actual mathematical proofs of this would make you hate this course. (except for </a:t>
            </a:r>
            <a:r>
              <a:rPr lang="en-US" dirty="0" err="1"/>
              <a:t>Hina</a:t>
            </a:r>
            <a:r>
              <a:rPr lang="en-US" dirty="0"/>
              <a:t>)</a:t>
            </a:r>
          </a:p>
          <a:p>
            <a:r>
              <a:rPr lang="en-US" dirty="0"/>
              <a:t>	- and this is supposed to be a </a:t>
            </a:r>
            <a:r>
              <a:rPr lang="en-US" b="1" dirty="0"/>
              <a:t>practical</a:t>
            </a:r>
            <a:r>
              <a:rPr lang="en-US" dirty="0"/>
              <a:t> approach to compilers.</a:t>
            </a:r>
          </a:p>
          <a:p>
            <a:endParaRPr lang="en-US" dirty="0"/>
          </a:p>
          <a:p>
            <a:r>
              <a:rPr lang="en-US" dirty="0"/>
              <a:t>[diagram: the </a:t>
            </a:r>
            <a:r>
              <a:rPr lang="en-US" dirty="0" err="1"/>
              <a:t>Exp</a:t>
            </a:r>
            <a:r>
              <a:rPr lang="en-US" dirty="0"/>
              <a:t> rule depends on itself. So now there is a loop, meaning you can go forever.]</a:t>
            </a:r>
          </a:p>
        </p:txBody>
      </p:sp>
      <p:sp>
        <p:nvSpPr>
          <p:cNvPr id="4" name="Slide Number Placeholder 3"/>
          <p:cNvSpPr>
            <a:spLocks noGrp="1"/>
          </p:cNvSpPr>
          <p:nvPr>
            <p:ph type="sldNum" sz="quarter" idx="5"/>
          </p:nvPr>
        </p:nvSpPr>
        <p:spPr/>
        <p:txBody>
          <a:bodyPr/>
          <a:lstStyle/>
          <a:p>
            <a:fld id="{999729AB-B77D-48AE-AA10-D1BD2B4D03EA}" type="slidenum">
              <a:rPr lang="en-US" smtClean="0"/>
              <a:pPr/>
              <a:t>6</a:t>
            </a:fld>
            <a:endParaRPr lang="en-US"/>
          </a:p>
        </p:txBody>
      </p:sp>
    </p:spTree>
    <p:extLst>
      <p:ext uri="{BB962C8B-B14F-4D97-AF65-F5344CB8AC3E}">
        <p14:creationId xmlns:p14="http://schemas.microsoft.com/office/powerpoint/2010/main" val="1876002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CFGs correspond to pushdown automata – a finite state machine that got hold of a stack and just can't stop pushing and popping</a:t>
            </a:r>
          </a:p>
          <a:p>
            <a:r>
              <a:rPr lang="en-US" dirty="0"/>
              <a:t>- the "(instinct?)" thing is about the theory of Universal Grammar – the idea that at least </a:t>
            </a:r>
            <a:r>
              <a:rPr lang="en-US" i="1" dirty="0"/>
              <a:t>some</a:t>
            </a:r>
            <a:r>
              <a:rPr lang="en-US" dirty="0"/>
              <a:t> of our linguistic abilities is innate, "hard-wired" into the structure of our brains, and that all human languages share structure because of that.</a:t>
            </a:r>
          </a:p>
          <a:p>
            <a:r>
              <a:rPr lang="en-US" dirty="0"/>
              <a:t>	- it's a theory by Noam Chomsky, who also came up with the Chomsky Hierarchy of Languages, which includes… regular and context-free languages!</a:t>
            </a:r>
          </a:p>
          <a:p>
            <a:r>
              <a:rPr lang="en-US" dirty="0"/>
              <a:t>	- this language stuff doesn't exist in a computer-shaped void ;O</a:t>
            </a:r>
          </a:p>
        </p:txBody>
      </p:sp>
      <p:sp>
        <p:nvSpPr>
          <p:cNvPr id="4" name="Slide Number Placeholder 3"/>
          <p:cNvSpPr>
            <a:spLocks noGrp="1"/>
          </p:cNvSpPr>
          <p:nvPr>
            <p:ph type="sldNum" sz="quarter" idx="5"/>
          </p:nvPr>
        </p:nvSpPr>
        <p:spPr/>
        <p:txBody>
          <a:bodyPr/>
          <a:lstStyle/>
          <a:p>
            <a:fld id="{999729AB-B77D-48AE-AA10-D1BD2B4D03EA}" type="slidenum">
              <a:rPr lang="en-US" smtClean="0"/>
              <a:pPr/>
              <a:t>7</a:t>
            </a:fld>
            <a:endParaRPr lang="en-US"/>
          </a:p>
        </p:txBody>
      </p:sp>
    </p:spTree>
    <p:extLst>
      <p:ext uri="{BB962C8B-B14F-4D97-AF65-F5344CB8AC3E}">
        <p14:creationId xmlns:p14="http://schemas.microsoft.com/office/powerpoint/2010/main" val="3964985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 think a lot of us are drawn to programming because it's a way of communicating unambiguously in a world full of misunderstandings</a:t>
            </a:r>
          </a:p>
          <a:p>
            <a:r>
              <a:rPr lang="en-US" dirty="0"/>
              <a:t>	- telling a thing to do something and it just does it the way you asked, every time is…..</a:t>
            </a:r>
          </a:p>
          <a:p>
            <a:r>
              <a:rPr lang="en-US" dirty="0"/>
              <a:t>	- well I'm not </a:t>
            </a:r>
            <a:r>
              <a:rPr lang="en-US" dirty="0" err="1"/>
              <a:t>gonna</a:t>
            </a:r>
            <a:r>
              <a:rPr lang="en-US" dirty="0"/>
              <a:t> say computers are bad, but maybe we should reflect on how that affects us</a:t>
            </a:r>
          </a:p>
          <a:p>
            <a:r>
              <a:rPr lang="en-US" dirty="0"/>
              <a:t>- The Chomsky hierarchy is just a guideline. There are lots of little sub-levels between the main “regular”, “CFG”, “CSG”, and “unrestricted” levels. Often it doesn’t make sense to go up an entire level just to parse one weird rule, so adding a kludge to a simpler algorithm can give you just the amount of extra parsing power you need.</a:t>
            </a:r>
          </a:p>
        </p:txBody>
      </p:sp>
      <p:sp>
        <p:nvSpPr>
          <p:cNvPr id="4" name="Slide Number Placeholder 3"/>
          <p:cNvSpPr>
            <a:spLocks noGrp="1"/>
          </p:cNvSpPr>
          <p:nvPr>
            <p:ph type="sldNum" sz="quarter" idx="5"/>
          </p:nvPr>
        </p:nvSpPr>
        <p:spPr/>
        <p:txBody>
          <a:bodyPr/>
          <a:lstStyle/>
          <a:p>
            <a:fld id="{999729AB-B77D-48AE-AA10-D1BD2B4D03EA}" type="slidenum">
              <a:rPr lang="en-US" smtClean="0"/>
              <a:pPr/>
              <a:t>8</a:t>
            </a:fld>
            <a:endParaRPr lang="en-US"/>
          </a:p>
        </p:txBody>
      </p:sp>
    </p:spTree>
    <p:extLst>
      <p:ext uri="{BB962C8B-B14F-4D97-AF65-F5344CB8AC3E}">
        <p14:creationId xmlns:p14="http://schemas.microsoft.com/office/powerpoint/2010/main" val="3706354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source code goes into </a:t>
            </a:r>
            <a:r>
              <a:rPr lang="en-US" dirty="0" err="1"/>
              <a:t>lexer</a:t>
            </a:r>
            <a:r>
              <a:rPr lang="en-US" dirty="0"/>
              <a:t>, which produces tokens. then those tokens go into the parser, which produces a tree.]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10</a:t>
            </a:fld>
            <a:endParaRPr lang="en-US"/>
          </a:p>
        </p:txBody>
      </p:sp>
    </p:spTree>
    <p:extLst>
      <p:ext uri="{BB962C8B-B14F-4D97-AF65-F5344CB8AC3E}">
        <p14:creationId xmlns:p14="http://schemas.microsoft.com/office/powerpoint/2010/main" val="3944906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original code is “if(x) y(2); else return;”. this can be represented as a tree as follows: the root is an “If Else Statement” node with three children, “condition,” “true,” and “false.” its “condition” child is an “Identifier Expression” node containing “x”. its “true” child is a “Call Expression” node. its “false” child is a “Return Statement” node that returns no value. the “Call Expression” node in turn has two children: its “</a:t>
            </a:r>
            <a:r>
              <a:rPr lang="en-US" dirty="0" err="1"/>
              <a:t>callee</a:t>
            </a:r>
            <a:r>
              <a:rPr lang="en-US" dirty="0"/>
              <a:t>” child is an “Identifier Expression” containing “y”, and its “</a:t>
            </a:r>
            <a:r>
              <a:rPr lang="en-US" dirty="0" err="1"/>
              <a:t>args</a:t>
            </a:r>
            <a:r>
              <a:rPr lang="en-US" dirty="0"/>
              <a:t>” child is an array containing just one node, an “Integer Expression” containing 2.]</a:t>
            </a:r>
          </a:p>
        </p:txBody>
      </p:sp>
      <p:sp>
        <p:nvSpPr>
          <p:cNvPr id="4" name="Slide Number Placeholder 3"/>
          <p:cNvSpPr>
            <a:spLocks noGrp="1"/>
          </p:cNvSpPr>
          <p:nvPr>
            <p:ph type="sldNum" sz="quarter" idx="5"/>
          </p:nvPr>
        </p:nvSpPr>
        <p:spPr/>
        <p:txBody>
          <a:bodyPr/>
          <a:lstStyle/>
          <a:p>
            <a:fld id="{999729AB-B77D-48AE-AA10-D1BD2B4D03EA}" type="slidenum">
              <a:rPr lang="en-US" smtClean="0"/>
              <a:pPr/>
              <a:t>11</a:t>
            </a:fld>
            <a:endParaRPr lang="en-US"/>
          </a:p>
        </p:txBody>
      </p:sp>
    </p:spTree>
    <p:extLst>
      <p:ext uri="{BB962C8B-B14F-4D97-AF65-F5344CB8AC3E}">
        <p14:creationId xmlns:p14="http://schemas.microsoft.com/office/powerpoint/2010/main" val="21387462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 and </a:t>
            </a:r>
            <a:r>
              <a:rPr lang="en-US" dirty="0" err="1"/>
              <a:t>VB.net</a:t>
            </a:r>
            <a:r>
              <a:rPr lang="en-US" dirty="0"/>
              <a:t> are about as close as you can get to "same language, with two different syntaxes."</a:t>
            </a:r>
          </a:p>
          <a:p>
            <a:r>
              <a:rPr lang="en-US" dirty="0"/>
              <a:t>	- they have some </a:t>
            </a:r>
            <a:r>
              <a:rPr lang="en-US" i="1" dirty="0"/>
              <a:t>slight</a:t>
            </a:r>
            <a:r>
              <a:rPr lang="en-US" i="0" dirty="0"/>
              <a:t> differences here and there but it's possible to automatically convert between them with no loss of information.</a:t>
            </a:r>
          </a:p>
          <a:p>
            <a:endParaRPr lang="en-US" i="0" dirty="0"/>
          </a:p>
          <a:p>
            <a:r>
              <a:rPr lang="en-US" i="0" dirty="0"/>
              <a:t>[diagram: it’s the same tree structure as last slide, just simplified a little, and this tree structure could be used to represent the code in all of these different languages, which is why it’s “abstract.”]</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12</a:t>
            </a:fld>
            <a:endParaRPr lang="en-US"/>
          </a:p>
        </p:txBody>
      </p:sp>
    </p:spTree>
    <p:extLst>
      <p:ext uri="{BB962C8B-B14F-4D97-AF65-F5344CB8AC3E}">
        <p14:creationId xmlns:p14="http://schemas.microsoft.com/office/powerpoint/2010/main" val="18498561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for example, in C/C++/Java/many related languages…</a:t>
            </a:r>
          </a:p>
          <a:p>
            <a:r>
              <a:rPr lang="en-US" dirty="0"/>
              <a:t>	- many things that you might </a:t>
            </a:r>
            <a:r>
              <a:rPr lang="en-US" i="1" dirty="0"/>
              <a:t>think </a:t>
            </a:r>
            <a:r>
              <a:rPr lang="en-US" i="0" dirty="0"/>
              <a:t>are statements are actually expressions.</a:t>
            </a:r>
          </a:p>
          <a:p>
            <a:r>
              <a:rPr lang="en-US" i="0" dirty="0"/>
              <a:t>		- for example, you can write "x = y = z;", because "y = z" gives a value: the same value that is assigned into y.</a:t>
            </a:r>
          </a:p>
          <a:p>
            <a:r>
              <a:rPr lang="en-US" i="0" dirty="0"/>
              <a:t>	- conversely, many expressions can be used as statements by just putting a semicolon at the end.</a:t>
            </a:r>
          </a:p>
          <a:p>
            <a:r>
              <a:rPr lang="en-US" i="0" dirty="0"/>
              <a:t>		- you can write "x &amp;&amp; y();". it basically does the same thing as "if(x) y();". </a:t>
            </a:r>
          </a:p>
          <a:p>
            <a:r>
              <a:rPr lang="en-US" i="0" dirty="0"/>
              <a:t>	- but control flow statements </a:t>
            </a:r>
            <a:r>
              <a:rPr lang="en-US" i="1" dirty="0"/>
              <a:t>cannot</a:t>
            </a:r>
            <a:r>
              <a:rPr lang="en-US" i="0" dirty="0"/>
              <a:t> be used as expressions.</a:t>
            </a:r>
          </a:p>
        </p:txBody>
      </p:sp>
      <p:sp>
        <p:nvSpPr>
          <p:cNvPr id="4" name="Slide Number Placeholder 3"/>
          <p:cNvSpPr>
            <a:spLocks noGrp="1"/>
          </p:cNvSpPr>
          <p:nvPr>
            <p:ph type="sldNum" sz="quarter" idx="5"/>
          </p:nvPr>
        </p:nvSpPr>
        <p:spPr/>
        <p:txBody>
          <a:bodyPr/>
          <a:lstStyle/>
          <a:p>
            <a:fld id="{999729AB-B77D-48AE-AA10-D1BD2B4D03EA}" type="slidenum">
              <a:rPr lang="en-US" smtClean="0"/>
              <a:pPr/>
              <a:t>13</a:t>
            </a:fld>
            <a:endParaRPr lang="en-US"/>
          </a:p>
        </p:txBody>
      </p:sp>
    </p:spTree>
    <p:extLst>
      <p:ext uri="{BB962C8B-B14F-4D97-AF65-F5344CB8AC3E}">
        <p14:creationId xmlns:p14="http://schemas.microsoft.com/office/powerpoint/2010/main" val="344790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even loop {} can give a value by doing "break value;"</a:t>
            </a:r>
          </a:p>
          <a:p>
            <a:r>
              <a:rPr lang="en-US" dirty="0"/>
              <a:t>	- but not 'for' loops.</a:t>
            </a:r>
          </a:p>
          <a:p>
            <a:r>
              <a:rPr lang="en-US" dirty="0"/>
              <a:t>- if you're </a:t>
            </a:r>
            <a:r>
              <a:rPr lang="en-US" i="1" dirty="0"/>
              <a:t>not</a:t>
            </a:r>
            <a:r>
              <a:rPr lang="en-US" i="0" dirty="0"/>
              <a:t> in the last expression of the function – say if you want to return early – you </a:t>
            </a:r>
            <a:r>
              <a:rPr lang="en-US" i="1" dirty="0"/>
              <a:t>do</a:t>
            </a:r>
            <a:r>
              <a:rPr lang="en-US" i="0" dirty="0"/>
              <a:t> have to use </a:t>
            </a:r>
            <a:r>
              <a:rPr lang="en-US" b="1" i="0" dirty="0"/>
              <a:t>return.</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14</a:t>
            </a:fld>
            <a:endParaRPr lang="en-US"/>
          </a:p>
        </p:txBody>
      </p:sp>
    </p:spTree>
    <p:extLst>
      <p:ext uri="{BB962C8B-B14F-4D97-AF65-F5344CB8AC3E}">
        <p14:creationId xmlns:p14="http://schemas.microsoft.com/office/powerpoint/2010/main" val="17387645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a.left.left</a:t>
            </a:r>
            <a:r>
              <a:rPr lang="en-US" dirty="0"/>
              <a:t>, </a:t>
            </a:r>
            <a:r>
              <a:rPr lang="en-US" dirty="0" err="1"/>
              <a:t>a.left.right</a:t>
            </a:r>
            <a:r>
              <a:rPr lang="en-US" dirty="0"/>
              <a:t>, </a:t>
            </a:r>
            <a:r>
              <a:rPr lang="en-US" dirty="0" err="1"/>
              <a:t>a.right.left</a:t>
            </a:r>
            <a:r>
              <a:rPr lang="en-US" dirty="0"/>
              <a:t>, and </a:t>
            </a:r>
            <a:r>
              <a:rPr lang="en-US" dirty="0" err="1"/>
              <a:t>a.right.right</a:t>
            </a:r>
            <a:r>
              <a:rPr lang="en-US" dirty="0"/>
              <a:t> are all null in this example – they have no children.</a:t>
            </a:r>
          </a:p>
          <a:p>
            <a:pPr marL="171450" indent="-171450">
              <a:buFontTx/>
              <a:buChar char="-"/>
            </a:pPr>
            <a:endParaRPr lang="en-US" dirty="0"/>
          </a:p>
          <a:p>
            <a:pPr marL="0" indent="0">
              <a:buFontTx/>
              <a:buNone/>
            </a:pPr>
            <a:r>
              <a:rPr lang="en-US" dirty="0"/>
              <a:t>[diagram: the root of the tree is 5. its left child is 2, and its right child is 7.]</a:t>
            </a:r>
          </a:p>
        </p:txBody>
      </p:sp>
      <p:sp>
        <p:nvSpPr>
          <p:cNvPr id="4" name="Slide Number Placeholder 3"/>
          <p:cNvSpPr>
            <a:spLocks noGrp="1"/>
          </p:cNvSpPr>
          <p:nvPr>
            <p:ph type="sldNum" sz="quarter" idx="5"/>
          </p:nvPr>
        </p:nvSpPr>
        <p:spPr/>
        <p:txBody>
          <a:bodyPr/>
          <a:lstStyle/>
          <a:p>
            <a:fld id="{999729AB-B77D-48AE-AA10-D1BD2B4D03EA}" type="slidenum">
              <a:rPr lang="en-US" smtClean="0"/>
              <a:pPr/>
              <a:t>16</a:t>
            </a:fld>
            <a:endParaRPr lang="en-US"/>
          </a:p>
        </p:txBody>
      </p:sp>
    </p:spTree>
    <p:extLst>
      <p:ext uri="{BB962C8B-B14F-4D97-AF65-F5344CB8AC3E}">
        <p14:creationId xmlns:p14="http://schemas.microsoft.com/office/powerpoint/2010/main" val="22718914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it's infinite size because when you write a field (or variable) of a struct type, it tries to copy the </a:t>
            </a:r>
            <a:r>
              <a:rPr lang="en-US" dirty="0" err="1"/>
              <a:t>struct's</a:t>
            </a:r>
            <a:r>
              <a:rPr lang="en-US" dirty="0"/>
              <a:t> fields right there.</a:t>
            </a:r>
          </a:p>
          <a:p>
            <a:r>
              <a:rPr lang="en-US" dirty="0"/>
              <a:t>	- so if you put a struct in itself, that makes no sense.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17</a:t>
            </a:fld>
            <a:endParaRPr lang="en-US"/>
          </a:p>
        </p:txBody>
      </p:sp>
    </p:spTree>
    <p:extLst>
      <p:ext uri="{BB962C8B-B14F-4D97-AF65-F5344CB8AC3E}">
        <p14:creationId xmlns:p14="http://schemas.microsoft.com/office/powerpoint/2010/main" val="42645953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hey previous 449 students: what do you have to do with every piece of memory you malloc?</a:t>
            </a:r>
          </a:p>
          <a:p>
            <a:r>
              <a:rPr lang="en-US" dirty="0"/>
              <a:t>	- free it exactly once!!!</a:t>
            </a:r>
          </a:p>
          <a:p>
            <a:r>
              <a:rPr lang="en-US" dirty="0"/>
              <a:t>	- don't worry, Box handles it for you. it's nice.</a:t>
            </a:r>
          </a:p>
          <a:p>
            <a:endParaRPr lang="en-US" dirty="0"/>
          </a:p>
          <a:p>
            <a:r>
              <a:rPr lang="en-US" dirty="0"/>
              <a:t>[diagram: the call stack contains the variables x and b. x is an </a:t>
            </a:r>
            <a:r>
              <a:rPr lang="en-US" dirty="0" err="1"/>
              <a:t>int</a:t>
            </a:r>
            <a:r>
              <a:rPr lang="en-US" dirty="0"/>
              <a:t>, so its value 10 lives on the stack. but b is a Box, so it points over to the heap, where the actual value 20 exists.]</a:t>
            </a:r>
          </a:p>
        </p:txBody>
      </p:sp>
      <p:sp>
        <p:nvSpPr>
          <p:cNvPr id="4" name="Slide Number Placeholder 3"/>
          <p:cNvSpPr>
            <a:spLocks noGrp="1"/>
          </p:cNvSpPr>
          <p:nvPr>
            <p:ph type="sldNum" sz="quarter" idx="5"/>
          </p:nvPr>
        </p:nvSpPr>
        <p:spPr/>
        <p:txBody>
          <a:bodyPr/>
          <a:lstStyle/>
          <a:p>
            <a:fld id="{999729AB-B77D-48AE-AA10-D1BD2B4D03EA}" type="slidenum">
              <a:rPr lang="en-US" smtClean="0"/>
              <a:pPr/>
              <a:t>18</a:t>
            </a:fld>
            <a:endParaRPr lang="en-US"/>
          </a:p>
        </p:txBody>
      </p:sp>
    </p:spTree>
    <p:extLst>
      <p:ext uri="{BB962C8B-B14F-4D97-AF65-F5344CB8AC3E}">
        <p14:creationId xmlns:p14="http://schemas.microsoft.com/office/powerpoint/2010/main" val="1079512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it's impossible because we can only put a Box&lt;Node&lt;T&gt;&gt; value for left (and for right!)</a:t>
            </a:r>
          </a:p>
          <a:p>
            <a:r>
              <a:rPr lang="en-US" dirty="0"/>
              <a:t>	- but then that value needs a left and a right… and those do too… ad infinitum</a:t>
            </a:r>
          </a:p>
          <a:p>
            <a:endParaRPr lang="en-US" dirty="0"/>
          </a:p>
          <a:p>
            <a:r>
              <a:rPr lang="en-US" dirty="0"/>
              <a:t>[diagram: again we’re attempting to make the tree with 5 as the root, with 2 as its left child and 7 as its right child, but we can’t.]</a:t>
            </a:r>
          </a:p>
        </p:txBody>
      </p:sp>
      <p:sp>
        <p:nvSpPr>
          <p:cNvPr id="4" name="Slide Number Placeholder 3"/>
          <p:cNvSpPr>
            <a:spLocks noGrp="1"/>
          </p:cNvSpPr>
          <p:nvPr>
            <p:ph type="sldNum" sz="quarter" idx="5"/>
          </p:nvPr>
        </p:nvSpPr>
        <p:spPr/>
        <p:txBody>
          <a:bodyPr/>
          <a:lstStyle/>
          <a:p>
            <a:fld id="{999729AB-B77D-48AE-AA10-D1BD2B4D03EA}" type="slidenum">
              <a:rPr lang="en-US" smtClean="0"/>
              <a:pPr/>
              <a:t>19</a:t>
            </a:fld>
            <a:endParaRPr lang="en-US"/>
          </a:p>
        </p:txBody>
      </p:sp>
    </p:spTree>
    <p:extLst>
      <p:ext uri="{BB962C8B-B14F-4D97-AF65-F5344CB8AC3E}">
        <p14:creationId xmlns:p14="http://schemas.microsoft.com/office/powerpoint/2010/main" val="261628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for example when we define our AST, most of the references are non-optional and are just Box&lt;T&gt;.</a:t>
            </a:r>
          </a:p>
          <a:p>
            <a:r>
              <a:rPr lang="en-US" dirty="0"/>
              <a:t>- and most code doesn't require you to type out Option&lt;Box&lt;Node&lt;T&gt;&gt;&gt; because you write "let x = …"</a:t>
            </a:r>
          </a:p>
          <a:p>
            <a:endParaRPr lang="en-US" dirty="0"/>
          </a:p>
          <a:p>
            <a:r>
              <a:rPr lang="en-US" dirty="0"/>
              <a:t>[diagram: finally we’ve been able to reproduce the Java code in Rust.]</a:t>
            </a:r>
          </a:p>
        </p:txBody>
      </p:sp>
      <p:sp>
        <p:nvSpPr>
          <p:cNvPr id="4" name="Slide Number Placeholder 3"/>
          <p:cNvSpPr>
            <a:spLocks noGrp="1"/>
          </p:cNvSpPr>
          <p:nvPr>
            <p:ph type="sldNum" sz="quarter" idx="5"/>
          </p:nvPr>
        </p:nvSpPr>
        <p:spPr/>
        <p:txBody>
          <a:bodyPr/>
          <a:lstStyle/>
          <a:p>
            <a:fld id="{999729AB-B77D-48AE-AA10-D1BD2B4D03EA}" type="slidenum">
              <a:rPr lang="en-US" smtClean="0"/>
              <a:pPr/>
              <a:t>20</a:t>
            </a:fld>
            <a:endParaRPr lang="en-US"/>
          </a:p>
        </p:txBody>
      </p:sp>
    </p:spTree>
    <p:extLst>
      <p:ext uri="{BB962C8B-B14F-4D97-AF65-F5344CB8AC3E}">
        <p14:creationId xmlns:p14="http://schemas.microsoft.com/office/powerpoint/2010/main" val="4532642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see, I told you it wouldn't be a big </a:t>
            </a:r>
            <a:r>
              <a:rPr lang="en-US" dirty="0" err="1"/>
              <a:t>problemmmmmmm</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24</a:t>
            </a:fld>
            <a:endParaRPr lang="en-US"/>
          </a:p>
        </p:txBody>
      </p:sp>
    </p:spTree>
    <p:extLst>
      <p:ext uri="{BB962C8B-B14F-4D97-AF65-F5344CB8AC3E}">
        <p14:creationId xmlns:p14="http://schemas.microsoft.com/office/powerpoint/2010/main" val="7897607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the arrangement of the call stack when I call sum(5), paused at the point when we are executing sum(1). sum(5) has x = 5; then sum(4) has its own copy of x = 4; then sum(3) has x = 3; sum(2) has x = 2; and sum(1) has x = 1.]</a:t>
            </a:r>
          </a:p>
        </p:txBody>
      </p:sp>
      <p:sp>
        <p:nvSpPr>
          <p:cNvPr id="4" name="Slide Number Placeholder 3"/>
          <p:cNvSpPr>
            <a:spLocks noGrp="1"/>
          </p:cNvSpPr>
          <p:nvPr>
            <p:ph type="sldNum" sz="quarter" idx="5"/>
          </p:nvPr>
        </p:nvSpPr>
        <p:spPr/>
        <p:txBody>
          <a:bodyPr/>
          <a:lstStyle/>
          <a:p>
            <a:fld id="{999729AB-B77D-48AE-AA10-D1BD2B4D03EA}" type="slidenum">
              <a:rPr lang="en-US" smtClean="0"/>
              <a:pPr/>
              <a:t>25</a:t>
            </a:fld>
            <a:endParaRPr lang="en-US"/>
          </a:p>
        </p:txBody>
      </p:sp>
    </p:spTree>
    <p:extLst>
      <p:ext uri="{BB962C8B-B14F-4D97-AF65-F5344CB8AC3E}">
        <p14:creationId xmlns:p14="http://schemas.microsoft.com/office/powerpoint/2010/main" val="37867111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 really don't understand why they try to introduce recursion so, so early in the curriculum (sometimes in 0007!!!!!). there are no real good, justifiable uses for it until you get further into CS. until then, it's hard to explain why it's any better than a loop, and it often isn’t.</a:t>
            </a:r>
          </a:p>
          <a:p>
            <a:r>
              <a:rPr lang="en-US" dirty="0"/>
              <a:t>- recursive algorithms on trees would be </a:t>
            </a:r>
            <a:r>
              <a:rPr lang="en-US" i="1" dirty="0"/>
              <a:t>extremely awkward and difficult</a:t>
            </a:r>
            <a:r>
              <a:rPr lang="en-US" i="0" dirty="0"/>
              <a:t> to express as a loop, but they are so easy to express recursively!</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26</a:t>
            </a:fld>
            <a:endParaRPr lang="en-US"/>
          </a:p>
        </p:txBody>
      </p:sp>
    </p:spTree>
    <p:extLst>
      <p:ext uri="{BB962C8B-B14F-4D97-AF65-F5344CB8AC3E}">
        <p14:creationId xmlns:p14="http://schemas.microsoft.com/office/powerpoint/2010/main" val="3547850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27</a:t>
            </a:fld>
            <a:endParaRPr lang="en-US"/>
          </a:p>
        </p:txBody>
      </p:sp>
    </p:spTree>
    <p:extLst>
      <p:ext uri="{BB962C8B-B14F-4D97-AF65-F5344CB8AC3E}">
        <p14:creationId xmlns:p14="http://schemas.microsoft.com/office/powerpoint/2010/main" val="42353684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28</a:t>
            </a:fld>
            <a:endParaRPr lang="en-US"/>
          </a:p>
        </p:txBody>
      </p:sp>
    </p:spTree>
    <p:extLst>
      <p:ext uri="{BB962C8B-B14F-4D97-AF65-F5344CB8AC3E}">
        <p14:creationId xmlns:p14="http://schemas.microsoft.com/office/powerpoint/2010/main" val="2991251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685800" y="3177645"/>
            <a:ext cx="7772400" cy="1460500"/>
          </a:xfrm>
          <a:noFill/>
        </p:spPr>
        <p:txBody>
          <a:bodyPr>
            <a:normAutofit/>
          </a:bodyPr>
          <a:lstStyle>
            <a:lvl1pPr marL="0" indent="0" algn="l">
              <a:buNone/>
              <a:defRPr sz="2400">
                <a:solidFill>
                  <a:schemeClr val="bg1"/>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no anim)">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279261"/>
            <a:ext cx="4041775"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645028" y="1812396"/>
            <a:ext cx="4041775"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5296960"/>
            <a:ext cx="2133600" cy="304271"/>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cs-CZ"/>
              <a:t>CS447</a:t>
            </a:r>
            <a:endParaRPr lang="en-US"/>
          </a:p>
        </p:txBody>
      </p:sp>
      <p:sp>
        <p:nvSpPr>
          <p:cNvPr id="9" name="Slide Number Placeholder 8"/>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5296960"/>
            <a:ext cx="2133600" cy="304271"/>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cs-CZ"/>
              <a:t>CS447</a:t>
            </a:r>
            <a:endParaRPr lang="en-US"/>
          </a:p>
        </p:txBody>
      </p:sp>
      <p:sp>
        <p:nvSpPr>
          <p:cNvPr id="5" name="Slide Number Placeholder 4"/>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5296960"/>
            <a:ext cx="2133600" cy="304271"/>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cs-CZ"/>
              <a:t>CS447</a:t>
            </a:r>
            <a:endParaRPr lang="en-US"/>
          </a:p>
        </p:txBody>
      </p:sp>
      <p:sp>
        <p:nvSpPr>
          <p:cNvPr id="4" name="Slide Number Placeholder 3"/>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27541"/>
            <a:ext cx="3008313" cy="968376"/>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575050" y="227544"/>
            <a:ext cx="5111750" cy="4877594"/>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195919"/>
            <a:ext cx="3008313" cy="39092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dirty="0"/>
              <a:t>Drag picture to placeholder or click icon to add</a:t>
            </a:r>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5600700"/>
            <a:ext cx="9144000" cy="114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7" name="Rectangle 6"/>
          <p:cNvSpPr/>
          <p:nvPr/>
        </p:nvSpPr>
        <p:spPr>
          <a:xfrm>
            <a:off x="0" y="0"/>
            <a:ext cx="9144000" cy="495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2" name="Title Placeholder 1"/>
          <p:cNvSpPr>
            <a:spLocks noGrp="1"/>
          </p:cNvSpPr>
          <p:nvPr>
            <p:ph type="title"/>
          </p:nvPr>
        </p:nvSpPr>
        <p:spPr>
          <a:xfrm>
            <a:off x="152400" y="0"/>
            <a:ext cx="8991600" cy="4953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52400" y="495301"/>
            <a:ext cx="8991600" cy="480165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0" y="5296960"/>
            <a:ext cx="12192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t>CS447</a:t>
            </a:r>
            <a:endParaRPr lang="en-US" dirty="0"/>
          </a:p>
        </p:txBody>
      </p:sp>
      <p:sp>
        <p:nvSpPr>
          <p:cNvPr id="6" name="Slide Number Placeholder 5"/>
          <p:cNvSpPr>
            <a:spLocks noGrp="1"/>
          </p:cNvSpPr>
          <p:nvPr>
            <p:ph type="sldNum" sz="quarter" idx="4"/>
          </p:nvPr>
        </p:nvSpPr>
        <p:spPr>
          <a:xfrm>
            <a:off x="8458200" y="5296960"/>
            <a:ext cx="6858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3552B95B-556F-44BD-91A5-D80C1B9E2BB3}" type="slidenum">
              <a:rPr lang="en-US" smtClean="0"/>
              <a:pPr/>
              <a:t>‹#›</a:t>
            </a:fld>
            <a:endParaRPr lang="en-US"/>
          </a:p>
        </p:txBody>
      </p:sp>
    </p:spTree>
    <p:extLst>
      <p:ext uri="{BB962C8B-B14F-4D97-AF65-F5344CB8AC3E}">
        <p14:creationId xmlns:p14="http://schemas.microsoft.com/office/powerpoint/2010/main" val="34903523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p:hf hdr="0" ftr="0" dt="0"/>
  <p:txStyles>
    <p:titleStyle>
      <a:lvl1pPr algn="l" defTabSz="822960" rtl="0" eaLnBrk="1" latinLnBrk="0" hangingPunct="1">
        <a:spcBef>
          <a:spcPct val="0"/>
        </a:spcBef>
        <a:buNone/>
        <a:defRPr sz="2800" b="1" kern="1200">
          <a:solidFill>
            <a:schemeClr val="bg1"/>
          </a:solidFill>
          <a:latin typeface="+mj-lt"/>
          <a:ea typeface="GulimChe" pitchFamily="49" charset="-127"/>
          <a:cs typeface="MoolBoran" pitchFamily="34" charset="0"/>
        </a:defRPr>
      </a:lvl1pPr>
    </p:titleStyle>
    <p:bodyStyle>
      <a:lvl1pPr marL="204312" indent="-204312" algn="l" defTabSz="822960" rtl="0" eaLnBrk="1" latinLnBrk="0" hangingPunct="1">
        <a:spcBef>
          <a:spcPts val="0"/>
        </a:spcBef>
        <a:buSzPct val="150000"/>
        <a:buFont typeface="Arial" pitchFamily="34" charset="0"/>
        <a:buChar char="•"/>
        <a:defRPr sz="2200" kern="1200">
          <a:solidFill>
            <a:schemeClr val="tx1"/>
          </a:solidFill>
          <a:latin typeface="+mn-lt"/>
          <a:ea typeface="+mn-ea"/>
          <a:cs typeface="+mn-cs"/>
        </a:defRPr>
      </a:lvl1pPr>
      <a:lvl2pPr marL="415767" indent="-207170" algn="l" defTabSz="822960" rtl="0" eaLnBrk="1" latinLnBrk="0" hangingPunct="1">
        <a:spcBef>
          <a:spcPts val="0"/>
        </a:spcBef>
        <a:buFont typeface="Courier New" pitchFamily="49" charset="0"/>
        <a:buChar char="o"/>
        <a:defRPr sz="2200" kern="1200">
          <a:solidFill>
            <a:schemeClr val="tx1"/>
          </a:solidFill>
          <a:latin typeface="+mn-lt"/>
          <a:ea typeface="+mn-ea"/>
          <a:cs typeface="+mn-cs"/>
        </a:defRPr>
      </a:lvl2pPr>
      <a:lvl3pPr marL="620078" indent="-205740" algn="l" defTabSz="822960" rtl="0" eaLnBrk="1" latinLnBrk="0" hangingPunct="1">
        <a:spcBef>
          <a:spcPts val="0"/>
        </a:spcBef>
        <a:buFont typeface="Wingdings" pitchFamily="2" charset="2"/>
        <a:buChar char="§"/>
        <a:defRPr sz="2200" kern="1200">
          <a:solidFill>
            <a:schemeClr val="tx1"/>
          </a:solidFill>
          <a:latin typeface="+mn-lt"/>
          <a:ea typeface="+mn-ea"/>
          <a:cs typeface="+mn-cs"/>
        </a:defRPr>
      </a:lvl3pPr>
      <a:lvl4pPr marL="821532"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4pPr>
      <a:lvl5pPr marL="1028700"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CFGs and ASTs</a:t>
            </a:r>
            <a:endParaRPr lang="en-US" sz="2400" dirty="0"/>
          </a:p>
        </p:txBody>
      </p:sp>
      <p:sp>
        <p:nvSpPr>
          <p:cNvPr id="3" name="Subtitle 2"/>
          <p:cNvSpPr>
            <a:spLocks noGrp="1"/>
          </p:cNvSpPr>
          <p:nvPr>
            <p:ph type="subTitle" idx="1"/>
          </p:nvPr>
        </p:nvSpPr>
        <p:spPr/>
        <p:txBody>
          <a:bodyPr/>
          <a:lstStyle/>
          <a:p>
            <a:r>
              <a:rPr lang="en-US" dirty="0"/>
              <a:t>CS/COE 1622</a:t>
            </a:r>
          </a:p>
          <a:p>
            <a:r>
              <a:rPr lang="en-US" dirty="0"/>
              <a:t>Jarrett Billingsley</a:t>
            </a:r>
          </a:p>
        </p:txBody>
      </p:sp>
    </p:spTree>
    <p:extLst>
      <p:ext uri="{BB962C8B-B14F-4D97-AF65-F5344CB8AC3E}">
        <p14:creationId xmlns:p14="http://schemas.microsoft.com/office/powerpoint/2010/main" val="361208656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17CE-A372-C744-8763-80C56E421E87}"/>
              </a:ext>
            </a:extLst>
          </p:cNvPr>
          <p:cNvSpPr>
            <a:spLocks noGrp="1"/>
          </p:cNvSpPr>
          <p:nvPr>
            <p:ph type="title"/>
          </p:nvPr>
        </p:nvSpPr>
        <p:spPr/>
        <p:txBody>
          <a:bodyPr/>
          <a:lstStyle/>
          <a:p>
            <a:r>
              <a:rPr lang="en-US" dirty="0"/>
              <a:t>Class Announcements</a:t>
            </a:r>
          </a:p>
        </p:txBody>
      </p:sp>
      <p:sp>
        <p:nvSpPr>
          <p:cNvPr id="3" name="Content Placeholder 2">
            <a:extLst>
              <a:ext uri="{FF2B5EF4-FFF2-40B4-BE49-F238E27FC236}">
                <a16:creationId xmlns:a16="http://schemas.microsoft.com/office/drawing/2014/main" id="{F4FEBBF7-1C6E-294A-B5C4-174BB20AAFA9}"/>
              </a:ext>
            </a:extLst>
          </p:cNvPr>
          <p:cNvSpPr>
            <a:spLocks noGrp="1"/>
          </p:cNvSpPr>
          <p:nvPr>
            <p:ph idx="1"/>
          </p:nvPr>
        </p:nvSpPr>
        <p:spPr/>
        <p:txBody>
          <a:bodyPr/>
          <a:lstStyle/>
          <a:p>
            <a:r>
              <a:rPr lang="en-US" dirty="0"/>
              <a:t>did you start the project yet?</a:t>
            </a:r>
          </a:p>
          <a:p>
            <a:pPr lvl="1"/>
            <a:r>
              <a:rPr lang="en-US" dirty="0"/>
              <a:t>a fair number of you haven’t accepted the assignment on </a:t>
            </a:r>
            <a:r>
              <a:rPr lang="en-US" dirty="0" err="1"/>
              <a:t>Github</a:t>
            </a:r>
            <a:r>
              <a:rPr lang="en-US" dirty="0"/>
              <a:t>…</a:t>
            </a:r>
          </a:p>
          <a:p>
            <a:pPr lvl="1"/>
            <a:r>
              <a:rPr lang="en-US" dirty="0"/>
              <a:t>do </a:t>
            </a:r>
            <a:r>
              <a:rPr lang="en-US" dirty="0" err="1"/>
              <a:t>iiiiiiit</a:t>
            </a:r>
            <a:r>
              <a:rPr lang="en-US" dirty="0"/>
              <a:t> &gt;:V</a:t>
            </a:r>
          </a:p>
        </p:txBody>
      </p:sp>
      <p:sp>
        <p:nvSpPr>
          <p:cNvPr id="4" name="Slide Number Placeholder 3">
            <a:extLst>
              <a:ext uri="{FF2B5EF4-FFF2-40B4-BE49-F238E27FC236}">
                <a16:creationId xmlns:a16="http://schemas.microsoft.com/office/drawing/2014/main" id="{05CC32BD-B01F-C646-91E9-D5AAEE75AC36}"/>
              </a:ext>
            </a:extLst>
          </p:cNvPr>
          <p:cNvSpPr>
            <a:spLocks noGrp="1"/>
          </p:cNvSpPr>
          <p:nvPr>
            <p:ph type="sldNum" sz="quarter" idx="12"/>
          </p:nvPr>
        </p:nvSpPr>
        <p:spPr/>
        <p:txBody>
          <a:bodyPr/>
          <a:lstStyle/>
          <a:p>
            <a:fld id="{3552B95B-556F-44BD-91A5-D80C1B9E2BB3}" type="slidenum">
              <a:rPr lang="en-US" smtClean="0"/>
              <a:pPr/>
              <a:t>2</a:t>
            </a:fld>
            <a:endParaRPr lang="en-US"/>
          </a:p>
        </p:txBody>
      </p:sp>
    </p:spTree>
    <p:extLst>
      <p:ext uri="{BB962C8B-B14F-4D97-AF65-F5344CB8AC3E}">
        <p14:creationId xmlns:p14="http://schemas.microsoft.com/office/powerpoint/2010/main" val="243397440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10F83-5D57-404A-95DB-E6F3CFE7E78D}"/>
              </a:ext>
            </a:extLst>
          </p:cNvPr>
          <p:cNvSpPr>
            <a:spLocks noGrp="1"/>
          </p:cNvSpPr>
          <p:nvPr>
            <p:ph type="ctrTitle"/>
          </p:nvPr>
        </p:nvSpPr>
        <p:spPr/>
        <p:txBody>
          <a:bodyPr/>
          <a:lstStyle/>
          <a:p>
            <a:r>
              <a:rPr lang="en-US" dirty="0"/>
              <a:t>Beyond Regular Grammars</a:t>
            </a:r>
          </a:p>
        </p:txBody>
      </p:sp>
      <p:sp>
        <p:nvSpPr>
          <p:cNvPr id="3" name="Slide Number Placeholder 2">
            <a:extLst>
              <a:ext uri="{FF2B5EF4-FFF2-40B4-BE49-F238E27FC236}">
                <a16:creationId xmlns:a16="http://schemas.microsoft.com/office/drawing/2014/main" id="{856B9852-75C5-BB46-AF15-F60223E91CDE}"/>
              </a:ext>
            </a:extLst>
          </p:cNvPr>
          <p:cNvSpPr>
            <a:spLocks noGrp="1"/>
          </p:cNvSpPr>
          <p:nvPr>
            <p:ph type="sldNum" sz="quarter" idx="12"/>
          </p:nvPr>
        </p:nvSpPr>
        <p:spPr/>
        <p:txBody>
          <a:bodyPr/>
          <a:lstStyle/>
          <a:p>
            <a:fld id="{3552B95B-556F-44BD-91A5-D80C1B9E2BB3}" type="slidenum">
              <a:rPr lang="en-US" smtClean="0"/>
              <a:pPr/>
              <a:t>3</a:t>
            </a:fld>
            <a:endParaRPr lang="en-US"/>
          </a:p>
        </p:txBody>
      </p:sp>
    </p:spTree>
    <p:extLst>
      <p:ext uri="{BB962C8B-B14F-4D97-AF65-F5344CB8AC3E}">
        <p14:creationId xmlns:p14="http://schemas.microsoft.com/office/powerpoint/2010/main" val="347170467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19ACD-FA45-6A45-B202-8384493305F3}"/>
              </a:ext>
            </a:extLst>
          </p:cNvPr>
          <p:cNvSpPr>
            <a:spLocks noGrp="1"/>
          </p:cNvSpPr>
          <p:nvPr>
            <p:ph type="title"/>
          </p:nvPr>
        </p:nvSpPr>
        <p:spPr/>
        <p:txBody>
          <a:bodyPr/>
          <a:lstStyle/>
          <a:p>
            <a:r>
              <a:rPr lang="en-US" dirty="0"/>
              <a:t>Regular?</a:t>
            </a:r>
          </a:p>
        </p:txBody>
      </p:sp>
      <p:sp>
        <p:nvSpPr>
          <p:cNvPr id="3" name="Content Placeholder 2">
            <a:extLst>
              <a:ext uri="{FF2B5EF4-FFF2-40B4-BE49-F238E27FC236}">
                <a16:creationId xmlns:a16="http://schemas.microsoft.com/office/drawing/2014/main" id="{AE52C135-8746-9F42-B383-4B83CE5FCEEA}"/>
              </a:ext>
            </a:extLst>
          </p:cNvPr>
          <p:cNvSpPr>
            <a:spLocks noGrp="1"/>
          </p:cNvSpPr>
          <p:nvPr>
            <p:ph idx="1"/>
          </p:nvPr>
        </p:nvSpPr>
        <p:spPr>
          <a:xfrm>
            <a:off x="152400" y="495301"/>
            <a:ext cx="8991600" cy="495301"/>
          </a:xfrm>
        </p:spPr>
        <p:txBody>
          <a:bodyPr/>
          <a:lstStyle/>
          <a:p>
            <a:r>
              <a:rPr lang="en-US" dirty="0"/>
              <a:t>lexing grammars describe </a:t>
            </a:r>
            <a:r>
              <a:rPr lang="en-US" b="1" dirty="0"/>
              <a:t>regular languages. </a:t>
            </a:r>
            <a:r>
              <a:rPr lang="en-US" dirty="0"/>
              <a:t>what's that mean?</a:t>
            </a:r>
          </a:p>
        </p:txBody>
      </p:sp>
      <p:sp>
        <p:nvSpPr>
          <p:cNvPr id="4" name="Slide Number Placeholder 3">
            <a:extLst>
              <a:ext uri="{FF2B5EF4-FFF2-40B4-BE49-F238E27FC236}">
                <a16:creationId xmlns:a16="http://schemas.microsoft.com/office/drawing/2014/main" id="{ABA91966-AE72-2244-A625-4E39B4A7AD74}"/>
              </a:ext>
            </a:extLst>
          </p:cNvPr>
          <p:cNvSpPr>
            <a:spLocks noGrp="1"/>
          </p:cNvSpPr>
          <p:nvPr>
            <p:ph type="sldNum" sz="quarter" idx="12"/>
          </p:nvPr>
        </p:nvSpPr>
        <p:spPr/>
        <p:txBody>
          <a:bodyPr/>
          <a:lstStyle/>
          <a:p>
            <a:fld id="{3552B95B-556F-44BD-91A5-D80C1B9E2BB3}" type="slidenum">
              <a:rPr lang="en-US" smtClean="0"/>
              <a:pPr/>
              <a:t>4</a:t>
            </a:fld>
            <a:endParaRPr lang="en-US"/>
          </a:p>
        </p:txBody>
      </p:sp>
      <p:sp>
        <p:nvSpPr>
          <p:cNvPr id="5" name="TextBox 4">
            <a:extLst>
              <a:ext uri="{FF2B5EF4-FFF2-40B4-BE49-F238E27FC236}">
                <a16:creationId xmlns:a16="http://schemas.microsoft.com/office/drawing/2014/main" id="{6BB30CC8-4278-E246-B805-447582AD8C05}"/>
              </a:ext>
            </a:extLst>
          </p:cNvPr>
          <p:cNvSpPr txBox="1"/>
          <p:nvPr/>
        </p:nvSpPr>
        <p:spPr>
          <a:xfrm>
            <a:off x="228600" y="952502"/>
            <a:ext cx="4876800" cy="2246769"/>
          </a:xfrm>
          <a:prstGeom prst="rect">
            <a:avLst/>
          </a:prstGeom>
          <a:noFill/>
        </p:spPr>
        <p:txBody>
          <a:bodyPr wrap="square" rtlCol="0">
            <a:spAutoFit/>
          </a:bodyPr>
          <a:lstStyle/>
          <a:p>
            <a:r>
              <a:rPr lang="en-US" sz="2000" b="1" dirty="0">
                <a:latin typeface="Consolas" panose="020B0609020204030204" pitchFamily="49" charset="0"/>
                <a:cs typeface="Consolas" panose="020B0609020204030204" pitchFamily="49" charset="0"/>
              </a:rPr>
              <a:t>Program: (WS? Token)* WS? </a:t>
            </a:r>
            <a:r>
              <a:rPr lang="en-US" sz="2000" b="1" dirty="0">
                <a:solidFill>
                  <a:schemeClr val="accent6">
                    <a:lumMod val="75000"/>
                  </a:schemeClr>
                </a:solidFill>
                <a:latin typeface="Consolas" panose="020B0609020204030204" pitchFamily="49" charset="0"/>
                <a:cs typeface="Consolas" panose="020B0609020204030204" pitchFamily="49" charset="0"/>
              </a:rPr>
              <a:t>'&lt;</a:t>
            </a:r>
            <a:r>
              <a:rPr lang="en-US" sz="2000" b="1" dirty="0" err="1">
                <a:solidFill>
                  <a:schemeClr val="accent6">
                    <a:lumMod val="75000"/>
                  </a:schemeClr>
                </a:solidFill>
                <a:latin typeface="Consolas" panose="020B0609020204030204" pitchFamily="49" charset="0"/>
                <a:cs typeface="Consolas" panose="020B0609020204030204" pitchFamily="49" charset="0"/>
              </a:rPr>
              <a:t>eof</a:t>
            </a:r>
            <a:r>
              <a:rPr lang="en-US" sz="2000" b="1" dirty="0">
                <a:solidFill>
                  <a:schemeClr val="accent6">
                    <a:lumMod val="75000"/>
                  </a:schemeClr>
                </a:solidFill>
                <a:latin typeface="Consolas" panose="020B0609020204030204" pitchFamily="49" charset="0"/>
                <a:cs typeface="Consolas" panose="020B0609020204030204" pitchFamily="49" charset="0"/>
              </a:rPr>
              <a:t>&gt;'</a:t>
            </a:r>
          </a:p>
          <a:p>
            <a:r>
              <a:rPr lang="en-US" sz="2000" b="1" dirty="0">
                <a:latin typeface="Consolas" panose="020B0609020204030204" pitchFamily="49" charset="0"/>
                <a:cs typeface="Consolas" panose="020B0609020204030204" pitchFamily="49" charset="0"/>
              </a:rPr>
              <a:t>WS:      </a:t>
            </a:r>
            <a:r>
              <a:rPr lang="en-US" sz="2000" b="1" dirty="0">
                <a:solidFill>
                  <a:schemeClr val="accent6">
                    <a:lumMod val="75000"/>
                  </a:schemeClr>
                </a:solidFill>
                <a:latin typeface="Consolas" panose="020B0609020204030204" pitchFamily="49" charset="0"/>
                <a:cs typeface="Consolas" panose="020B0609020204030204" pitchFamily="49" charset="0"/>
              </a:rPr>
              <a:t>' '</a:t>
            </a:r>
            <a:r>
              <a:rPr lang="en-US" sz="2000" b="1" dirty="0">
                <a:latin typeface="Consolas" panose="020B0609020204030204" pitchFamily="49" charset="0"/>
                <a:cs typeface="Consolas" panose="020B0609020204030204" pitchFamily="49" charset="0"/>
              </a:rPr>
              <a:t> | </a:t>
            </a:r>
            <a:r>
              <a:rPr lang="en-US" sz="2000" b="1" dirty="0">
                <a:solidFill>
                  <a:schemeClr val="accent6">
                    <a:lumMod val="75000"/>
                  </a:schemeClr>
                </a:solidFill>
                <a:latin typeface="Consolas" panose="020B0609020204030204" pitchFamily="49" charset="0"/>
                <a:cs typeface="Consolas" panose="020B0609020204030204" pitchFamily="49" charset="0"/>
              </a:rPr>
              <a:t>'\t'</a:t>
            </a:r>
            <a:r>
              <a:rPr lang="en-US" sz="2000" b="1" dirty="0">
                <a:latin typeface="Consolas" panose="020B0609020204030204" pitchFamily="49" charset="0"/>
                <a:cs typeface="Consolas" panose="020B0609020204030204" pitchFamily="49" charset="0"/>
              </a:rPr>
              <a:t> | </a:t>
            </a:r>
            <a:r>
              <a:rPr lang="en-US" sz="2000" b="1" dirty="0">
                <a:solidFill>
                  <a:schemeClr val="accent6">
                    <a:lumMod val="75000"/>
                  </a:schemeClr>
                </a:solidFill>
                <a:latin typeface="Consolas" panose="020B0609020204030204" pitchFamily="49" charset="0"/>
                <a:cs typeface="Consolas" panose="020B0609020204030204" pitchFamily="49" charset="0"/>
              </a:rPr>
              <a:t>'\n'</a:t>
            </a:r>
          </a:p>
          <a:p>
            <a:r>
              <a:rPr lang="en-US" sz="2000" b="1" dirty="0">
                <a:latin typeface="Consolas" panose="020B0609020204030204" pitchFamily="49" charset="0"/>
                <a:cs typeface="Consolas" panose="020B0609020204030204" pitchFamily="49" charset="0"/>
              </a:rPr>
              <a:t>Token:   </a:t>
            </a:r>
            <a:r>
              <a:rPr lang="en-US" sz="2000" b="1" dirty="0">
                <a:solidFill>
                  <a:schemeClr val="accent6">
                    <a:lumMod val="75000"/>
                  </a:schemeClr>
                </a:solidFill>
                <a:latin typeface="Consolas" panose="020B0609020204030204" pitchFamily="49" charset="0"/>
                <a:cs typeface="Consolas" panose="020B0609020204030204" pitchFamily="49" charset="0"/>
              </a:rPr>
              <a:t>'('</a:t>
            </a:r>
            <a:r>
              <a:rPr lang="en-US" sz="2000" b="1" dirty="0">
                <a:latin typeface="Consolas" panose="020B0609020204030204" pitchFamily="49" charset="0"/>
                <a:cs typeface="Consolas" panose="020B0609020204030204" pitchFamily="49" charset="0"/>
              </a:rPr>
              <a:t> | </a:t>
            </a:r>
            <a:r>
              <a:rPr lang="en-US" sz="2000" b="1" dirty="0">
                <a:solidFill>
                  <a:schemeClr val="accent6">
                    <a:lumMod val="75000"/>
                  </a:schemeClr>
                </a:solidFill>
                <a:latin typeface="Consolas" panose="020B0609020204030204" pitchFamily="49" charset="0"/>
                <a:cs typeface="Consolas" panose="020B0609020204030204" pitchFamily="49" charset="0"/>
              </a:rPr>
              <a:t>')'</a:t>
            </a:r>
            <a:r>
              <a:rPr lang="en-US" sz="2000" b="1" dirty="0">
                <a:latin typeface="Consolas" panose="020B0609020204030204" pitchFamily="49" charset="0"/>
                <a:cs typeface="Consolas" panose="020B0609020204030204" pitchFamily="49" charset="0"/>
              </a:rPr>
              <a:t> | Id | </a:t>
            </a:r>
            <a:r>
              <a:rPr lang="en-US" sz="2000" b="1" dirty="0" err="1">
                <a:latin typeface="Consolas" panose="020B0609020204030204" pitchFamily="49" charset="0"/>
                <a:cs typeface="Consolas" panose="020B0609020204030204" pitchFamily="49" charset="0"/>
              </a:rPr>
              <a:t>IntLit</a:t>
            </a:r>
            <a:endParaRPr lang="en-US" sz="2000" b="1" dirty="0">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Id:      </a:t>
            </a:r>
            <a:r>
              <a:rPr lang="en-US" sz="2000" b="1" dirty="0" err="1">
                <a:latin typeface="Consolas" panose="020B0609020204030204" pitchFamily="49" charset="0"/>
                <a:cs typeface="Consolas" panose="020B0609020204030204" pitchFamily="49" charset="0"/>
              </a:rPr>
              <a:t>IdStart</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IdCont</a:t>
            </a:r>
            <a:r>
              <a:rPr lang="en-US" sz="2000" b="1" dirty="0">
                <a:latin typeface="Consolas" panose="020B0609020204030204" pitchFamily="49" charset="0"/>
                <a:cs typeface="Consolas" panose="020B0609020204030204" pitchFamily="49" charset="0"/>
              </a:rPr>
              <a:t>*</a:t>
            </a:r>
          </a:p>
          <a:p>
            <a:r>
              <a:rPr lang="en-US" sz="2000" b="1" dirty="0" err="1">
                <a:latin typeface="Consolas" panose="020B0609020204030204" pitchFamily="49" charset="0"/>
                <a:cs typeface="Consolas" panose="020B0609020204030204" pitchFamily="49" charset="0"/>
              </a:rPr>
              <a:t>IdStart</a:t>
            </a:r>
            <a:r>
              <a:rPr lang="en-US" sz="2000" b="1" dirty="0">
                <a:latin typeface="Consolas" panose="020B0609020204030204" pitchFamily="49" charset="0"/>
                <a:cs typeface="Consolas" panose="020B0609020204030204" pitchFamily="49" charset="0"/>
              </a:rPr>
              <a:t>: </a:t>
            </a:r>
            <a:r>
              <a:rPr lang="en-US" sz="2000" b="1" dirty="0">
                <a:solidFill>
                  <a:schemeClr val="accent6">
                    <a:lumMod val="75000"/>
                  </a:schemeClr>
                </a:solidFill>
                <a:latin typeface="Consolas" panose="020B0609020204030204" pitchFamily="49" charset="0"/>
                <a:cs typeface="Consolas" panose="020B0609020204030204" pitchFamily="49" charset="0"/>
              </a:rPr>
              <a:t>&lt;alphabetic&gt;</a:t>
            </a:r>
            <a:r>
              <a:rPr lang="en-US" sz="2000" b="1" dirty="0">
                <a:latin typeface="Consolas" panose="020B0609020204030204" pitchFamily="49" charset="0"/>
                <a:cs typeface="Consolas" panose="020B0609020204030204" pitchFamily="49" charset="0"/>
              </a:rPr>
              <a:t> | </a:t>
            </a:r>
            <a:r>
              <a:rPr lang="en-US" sz="2000" b="1" dirty="0">
                <a:solidFill>
                  <a:schemeClr val="accent6">
                    <a:lumMod val="75000"/>
                  </a:schemeClr>
                </a:solidFill>
                <a:latin typeface="Consolas" panose="020B0609020204030204" pitchFamily="49" charset="0"/>
                <a:cs typeface="Consolas" panose="020B0609020204030204" pitchFamily="49" charset="0"/>
              </a:rPr>
              <a:t>'_'</a:t>
            </a:r>
          </a:p>
          <a:p>
            <a:r>
              <a:rPr lang="en-US" sz="2000" b="1" dirty="0" err="1">
                <a:latin typeface="Consolas" panose="020B0609020204030204" pitchFamily="49" charset="0"/>
                <a:cs typeface="Consolas" panose="020B0609020204030204" pitchFamily="49" charset="0"/>
              </a:rPr>
              <a:t>IdCont</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IdStart</a:t>
            </a:r>
            <a:r>
              <a:rPr lang="en-US" sz="2000" b="1" dirty="0">
                <a:latin typeface="Consolas" panose="020B0609020204030204" pitchFamily="49" charset="0"/>
                <a:cs typeface="Consolas" panose="020B0609020204030204" pitchFamily="49" charset="0"/>
              </a:rPr>
              <a:t> | </a:t>
            </a:r>
            <a:r>
              <a:rPr lang="en-US" sz="2000" b="1" dirty="0">
                <a:solidFill>
                  <a:schemeClr val="accent6">
                    <a:lumMod val="75000"/>
                  </a:schemeClr>
                </a:solidFill>
                <a:latin typeface="Consolas" panose="020B0609020204030204" pitchFamily="49" charset="0"/>
                <a:cs typeface="Consolas" panose="020B0609020204030204" pitchFamily="49" charset="0"/>
              </a:rPr>
              <a:t>&lt;digit&gt;</a:t>
            </a:r>
          </a:p>
          <a:p>
            <a:r>
              <a:rPr lang="en-US" sz="2000" b="1" dirty="0" err="1">
                <a:latin typeface="Consolas" panose="020B0609020204030204" pitchFamily="49" charset="0"/>
                <a:cs typeface="Consolas" panose="020B0609020204030204" pitchFamily="49" charset="0"/>
              </a:rPr>
              <a:t>IntLit</a:t>
            </a:r>
            <a:r>
              <a:rPr lang="en-US" sz="2000" b="1" dirty="0">
                <a:latin typeface="Consolas" panose="020B0609020204030204" pitchFamily="49" charset="0"/>
                <a:cs typeface="Consolas" panose="020B0609020204030204" pitchFamily="49" charset="0"/>
              </a:rPr>
              <a:t>:  </a:t>
            </a:r>
            <a:r>
              <a:rPr lang="en-US" sz="2000" b="1" dirty="0">
                <a:solidFill>
                  <a:schemeClr val="accent6">
                    <a:lumMod val="75000"/>
                  </a:schemeClr>
                </a:solidFill>
                <a:latin typeface="Consolas" panose="020B0609020204030204" pitchFamily="49" charset="0"/>
                <a:cs typeface="Consolas" panose="020B0609020204030204" pitchFamily="49" charset="0"/>
              </a:rPr>
              <a:t>&lt;digit&gt;</a:t>
            </a:r>
            <a:r>
              <a:rPr lang="en-US" sz="20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E9A57156-4224-514B-AADB-DE800D32F1B8}"/>
              </a:ext>
            </a:extLst>
          </p:cNvPr>
          <p:cNvSpPr txBox="1"/>
          <p:nvPr/>
        </p:nvSpPr>
        <p:spPr>
          <a:xfrm>
            <a:off x="4858561" y="1325773"/>
            <a:ext cx="4270848" cy="1785104"/>
          </a:xfrm>
          <a:prstGeom prst="rect">
            <a:avLst/>
          </a:prstGeom>
          <a:noFill/>
        </p:spPr>
        <p:txBody>
          <a:bodyPr wrap="square" rtlCol="0">
            <a:spAutoFit/>
          </a:bodyPr>
          <a:lstStyle/>
          <a:p>
            <a:pPr algn="ctr"/>
            <a:r>
              <a:rPr lang="en-US" sz="2200" dirty="0"/>
              <a:t>it's a little nonobvious, but if we start at the start rule, </a:t>
            </a:r>
            <a:r>
              <a:rPr lang="en-US" sz="2200" b="1" dirty="0">
                <a:latin typeface="Consolas" panose="020B0609020204030204" pitchFamily="49" charset="0"/>
                <a:cs typeface="Consolas" panose="020B0609020204030204" pitchFamily="49" charset="0"/>
              </a:rPr>
              <a:t>Program</a:t>
            </a:r>
            <a:r>
              <a:rPr lang="en-US" sz="2200" dirty="0"/>
              <a:t>, the right-hand sides of every rule </a:t>
            </a:r>
            <a:r>
              <a:rPr lang="en-US" sz="2200" b="1" dirty="0"/>
              <a:t>never take us in a loop to the </a:t>
            </a:r>
            <a:r>
              <a:rPr lang="en-US" sz="2200" b="1" i="1" dirty="0"/>
              <a:t>same rule twice.</a:t>
            </a:r>
          </a:p>
        </p:txBody>
      </p:sp>
      <p:sp>
        <p:nvSpPr>
          <p:cNvPr id="7" name="TextBox 6">
            <a:extLst>
              <a:ext uri="{FF2B5EF4-FFF2-40B4-BE49-F238E27FC236}">
                <a16:creationId xmlns:a16="http://schemas.microsoft.com/office/drawing/2014/main" id="{48924B5A-91C5-3F4A-8342-2D6A787F55DF}"/>
              </a:ext>
            </a:extLst>
          </p:cNvPr>
          <p:cNvSpPr txBox="1"/>
          <p:nvPr/>
        </p:nvSpPr>
        <p:spPr>
          <a:xfrm>
            <a:off x="1333500" y="3433888"/>
            <a:ext cx="6477000" cy="769441"/>
          </a:xfrm>
          <a:prstGeom prst="rect">
            <a:avLst/>
          </a:prstGeom>
          <a:noFill/>
        </p:spPr>
        <p:txBody>
          <a:bodyPr wrap="square" rtlCol="0">
            <a:spAutoFit/>
          </a:bodyPr>
          <a:lstStyle/>
          <a:p>
            <a:pPr algn="ctr"/>
            <a:r>
              <a:rPr lang="en-US" sz="2200" dirty="0"/>
              <a:t>this puts strict limitations on the </a:t>
            </a:r>
            <a:r>
              <a:rPr lang="en-US" sz="2200" b="1" dirty="0"/>
              <a:t>kinds of strings </a:t>
            </a:r>
            <a:r>
              <a:rPr lang="en-US" sz="2200" dirty="0"/>
              <a:t>these grammars can recognize…</a:t>
            </a:r>
            <a:endParaRPr lang="en-US" sz="2200" b="1" dirty="0"/>
          </a:p>
        </p:txBody>
      </p:sp>
      <p:sp>
        <p:nvSpPr>
          <p:cNvPr id="8" name="TextBox 7">
            <a:extLst>
              <a:ext uri="{FF2B5EF4-FFF2-40B4-BE49-F238E27FC236}">
                <a16:creationId xmlns:a16="http://schemas.microsoft.com/office/drawing/2014/main" id="{9C4AB5D8-A652-5541-9EC0-1925C2B059F9}"/>
              </a:ext>
            </a:extLst>
          </p:cNvPr>
          <p:cNvSpPr txBox="1"/>
          <p:nvPr/>
        </p:nvSpPr>
        <p:spPr>
          <a:xfrm>
            <a:off x="1333500" y="4469182"/>
            <a:ext cx="6477000" cy="769441"/>
          </a:xfrm>
          <a:prstGeom prst="rect">
            <a:avLst/>
          </a:prstGeom>
          <a:noFill/>
        </p:spPr>
        <p:txBody>
          <a:bodyPr wrap="square" rtlCol="0">
            <a:spAutoFit/>
          </a:bodyPr>
          <a:lstStyle/>
          <a:p>
            <a:pPr algn="ctr"/>
            <a:r>
              <a:rPr lang="en-US" sz="2200" dirty="0"/>
              <a:t>…but it </a:t>
            </a:r>
            <a:r>
              <a:rPr lang="en-US" sz="2200" i="1" dirty="0"/>
              <a:t>does</a:t>
            </a:r>
            <a:r>
              <a:rPr lang="en-US" sz="2200" dirty="0"/>
              <a:t> make these languages easier to reason about and implement.</a:t>
            </a:r>
            <a:endParaRPr lang="en-US" sz="2200" b="1" dirty="0"/>
          </a:p>
        </p:txBody>
      </p:sp>
    </p:spTree>
    <p:extLst>
      <p:ext uri="{BB962C8B-B14F-4D97-AF65-F5344CB8AC3E}">
        <p14:creationId xmlns:p14="http://schemas.microsoft.com/office/powerpoint/2010/main" val="17820574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p:bldP spid="6" grpId="0"/>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7A533-3BFB-EC4F-9018-53136C6395C8}"/>
              </a:ext>
            </a:extLst>
          </p:cNvPr>
          <p:cNvSpPr>
            <a:spLocks noGrp="1"/>
          </p:cNvSpPr>
          <p:nvPr>
            <p:ph type="title"/>
          </p:nvPr>
        </p:nvSpPr>
        <p:spPr/>
        <p:txBody>
          <a:bodyPr/>
          <a:lstStyle/>
          <a:p>
            <a:r>
              <a:rPr lang="en-US" dirty="0"/>
              <a:t>Another way to look at it</a:t>
            </a:r>
          </a:p>
        </p:txBody>
      </p:sp>
      <p:sp>
        <p:nvSpPr>
          <p:cNvPr id="3" name="Content Placeholder 2">
            <a:extLst>
              <a:ext uri="{FF2B5EF4-FFF2-40B4-BE49-F238E27FC236}">
                <a16:creationId xmlns:a16="http://schemas.microsoft.com/office/drawing/2014/main" id="{0FE60B11-8CAE-BB4E-9226-E13203A54CA2}"/>
              </a:ext>
            </a:extLst>
          </p:cNvPr>
          <p:cNvSpPr>
            <a:spLocks noGrp="1"/>
          </p:cNvSpPr>
          <p:nvPr>
            <p:ph idx="1"/>
          </p:nvPr>
        </p:nvSpPr>
        <p:spPr>
          <a:xfrm>
            <a:off x="152400" y="495302"/>
            <a:ext cx="8991600" cy="508698"/>
          </a:xfrm>
        </p:spPr>
        <p:txBody>
          <a:bodyPr/>
          <a:lstStyle/>
          <a:p>
            <a:r>
              <a:rPr lang="en-US" dirty="0"/>
              <a:t>if we look at the </a:t>
            </a:r>
            <a:r>
              <a:rPr lang="en-US" b="1" dirty="0"/>
              <a:t>dependency graph </a:t>
            </a:r>
            <a:r>
              <a:rPr lang="en-US" dirty="0"/>
              <a:t>of these rules:</a:t>
            </a:r>
          </a:p>
        </p:txBody>
      </p:sp>
      <p:sp>
        <p:nvSpPr>
          <p:cNvPr id="4" name="Slide Number Placeholder 3">
            <a:extLst>
              <a:ext uri="{FF2B5EF4-FFF2-40B4-BE49-F238E27FC236}">
                <a16:creationId xmlns:a16="http://schemas.microsoft.com/office/drawing/2014/main" id="{B2C3E430-3A02-7E40-9511-57F87083E7FF}"/>
              </a:ext>
            </a:extLst>
          </p:cNvPr>
          <p:cNvSpPr>
            <a:spLocks noGrp="1"/>
          </p:cNvSpPr>
          <p:nvPr>
            <p:ph type="sldNum" sz="quarter" idx="12"/>
          </p:nvPr>
        </p:nvSpPr>
        <p:spPr/>
        <p:txBody>
          <a:bodyPr/>
          <a:lstStyle/>
          <a:p>
            <a:fld id="{3552B95B-556F-44BD-91A5-D80C1B9E2BB3}" type="slidenum">
              <a:rPr lang="en-US" smtClean="0"/>
              <a:pPr/>
              <a:t>5</a:t>
            </a:fld>
            <a:endParaRPr lang="en-US"/>
          </a:p>
        </p:txBody>
      </p:sp>
      <p:sp>
        <p:nvSpPr>
          <p:cNvPr id="52" name="TextBox 51">
            <a:extLst>
              <a:ext uri="{FF2B5EF4-FFF2-40B4-BE49-F238E27FC236}">
                <a16:creationId xmlns:a16="http://schemas.microsoft.com/office/drawing/2014/main" id="{2719CBCE-A410-4D4C-A2EC-48308AA81791}"/>
              </a:ext>
            </a:extLst>
          </p:cNvPr>
          <p:cNvSpPr txBox="1"/>
          <p:nvPr/>
        </p:nvSpPr>
        <p:spPr>
          <a:xfrm>
            <a:off x="2178184" y="3046948"/>
            <a:ext cx="4724400" cy="769441"/>
          </a:xfrm>
          <a:prstGeom prst="rect">
            <a:avLst/>
          </a:prstGeom>
          <a:noFill/>
        </p:spPr>
        <p:txBody>
          <a:bodyPr wrap="square" rtlCol="0">
            <a:spAutoFit/>
          </a:bodyPr>
          <a:lstStyle/>
          <a:p>
            <a:pPr algn="ctr"/>
            <a:r>
              <a:rPr lang="en-US" sz="2200" dirty="0"/>
              <a:t>now it becomes more obvious that there are </a:t>
            </a:r>
            <a:r>
              <a:rPr lang="en-US" sz="2200" b="1" dirty="0"/>
              <a:t>no cycles in this graph.</a:t>
            </a:r>
          </a:p>
        </p:txBody>
      </p:sp>
      <p:sp>
        <p:nvSpPr>
          <p:cNvPr id="54" name="TextBox 53">
            <a:extLst>
              <a:ext uri="{FF2B5EF4-FFF2-40B4-BE49-F238E27FC236}">
                <a16:creationId xmlns:a16="http://schemas.microsoft.com/office/drawing/2014/main" id="{62299722-7EFF-904B-8FF1-CF42E5A32F86}"/>
              </a:ext>
            </a:extLst>
          </p:cNvPr>
          <p:cNvSpPr txBox="1"/>
          <p:nvPr/>
        </p:nvSpPr>
        <p:spPr>
          <a:xfrm>
            <a:off x="1066800" y="4696262"/>
            <a:ext cx="7010400" cy="430887"/>
          </a:xfrm>
          <a:prstGeom prst="rect">
            <a:avLst/>
          </a:prstGeom>
          <a:noFill/>
        </p:spPr>
        <p:txBody>
          <a:bodyPr wrap="square" rtlCol="0">
            <a:spAutoFit/>
          </a:bodyPr>
          <a:lstStyle/>
          <a:p>
            <a:pPr algn="ctr"/>
            <a:r>
              <a:rPr lang="en-US" sz="2200" dirty="0"/>
              <a:t>but… what happens if we remove that requirement?</a:t>
            </a:r>
          </a:p>
        </p:txBody>
      </p:sp>
      <p:grpSp>
        <p:nvGrpSpPr>
          <p:cNvPr id="47" name="Group 46">
            <a:extLst>
              <a:ext uri="{FF2B5EF4-FFF2-40B4-BE49-F238E27FC236}">
                <a16:creationId xmlns:a16="http://schemas.microsoft.com/office/drawing/2014/main" id="{C70D5CF9-A931-2F4C-84AF-CC15D02F30DF}"/>
              </a:ext>
            </a:extLst>
          </p:cNvPr>
          <p:cNvGrpSpPr/>
          <p:nvPr/>
        </p:nvGrpSpPr>
        <p:grpSpPr>
          <a:xfrm>
            <a:off x="1598984" y="1184342"/>
            <a:ext cx="5946031" cy="1690048"/>
            <a:chOff x="1371600" y="1181233"/>
            <a:chExt cx="5946031" cy="1690048"/>
          </a:xfrm>
        </p:grpSpPr>
        <p:sp>
          <p:nvSpPr>
            <p:cNvPr id="5" name="Rounded Rectangle 4">
              <a:extLst>
                <a:ext uri="{FF2B5EF4-FFF2-40B4-BE49-F238E27FC236}">
                  <a16:creationId xmlns:a16="http://schemas.microsoft.com/office/drawing/2014/main" id="{CD4CB01C-93BA-E349-8DF3-943F528A1E7B}"/>
                </a:ext>
              </a:extLst>
            </p:cNvPr>
            <p:cNvSpPr/>
            <p:nvPr/>
          </p:nvSpPr>
          <p:spPr>
            <a:xfrm>
              <a:off x="1371600" y="1181233"/>
              <a:ext cx="1242303" cy="6096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cs typeface="Consolas" panose="020B0609020204030204" pitchFamily="49" charset="0"/>
                </a:rPr>
                <a:t>Program</a:t>
              </a:r>
            </a:p>
          </p:txBody>
        </p:sp>
        <p:sp>
          <p:nvSpPr>
            <p:cNvPr id="6" name="Rounded Rectangle 5">
              <a:extLst>
                <a:ext uri="{FF2B5EF4-FFF2-40B4-BE49-F238E27FC236}">
                  <a16:creationId xmlns:a16="http://schemas.microsoft.com/office/drawing/2014/main" id="{8D016645-58C4-C84D-AA32-69268F31905C}"/>
                </a:ext>
              </a:extLst>
            </p:cNvPr>
            <p:cNvSpPr/>
            <p:nvPr/>
          </p:nvSpPr>
          <p:spPr>
            <a:xfrm>
              <a:off x="4623070" y="1181233"/>
              <a:ext cx="553260" cy="6096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cs typeface="Consolas" panose="020B0609020204030204" pitchFamily="49" charset="0"/>
                </a:rPr>
                <a:t>Id</a:t>
              </a:r>
            </a:p>
          </p:txBody>
        </p:sp>
        <p:sp>
          <p:nvSpPr>
            <p:cNvPr id="7" name="Rounded Rectangle 6">
              <a:extLst>
                <a:ext uri="{FF2B5EF4-FFF2-40B4-BE49-F238E27FC236}">
                  <a16:creationId xmlns:a16="http://schemas.microsoft.com/office/drawing/2014/main" id="{14F47D68-88D5-A94D-BDBF-BF4D0DF565A4}"/>
                </a:ext>
              </a:extLst>
            </p:cNvPr>
            <p:cNvSpPr/>
            <p:nvPr/>
          </p:nvSpPr>
          <p:spPr>
            <a:xfrm>
              <a:off x="3069887" y="1181233"/>
              <a:ext cx="959796" cy="6096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cs typeface="Consolas" panose="020B0609020204030204" pitchFamily="49" charset="0"/>
                </a:rPr>
                <a:t>Token</a:t>
              </a:r>
            </a:p>
          </p:txBody>
        </p:sp>
        <p:sp>
          <p:nvSpPr>
            <p:cNvPr id="8" name="Rounded Rectangle 7">
              <a:extLst>
                <a:ext uri="{FF2B5EF4-FFF2-40B4-BE49-F238E27FC236}">
                  <a16:creationId xmlns:a16="http://schemas.microsoft.com/office/drawing/2014/main" id="{28F4E55B-B10C-FF48-BDA7-0FD02867321E}"/>
                </a:ext>
              </a:extLst>
            </p:cNvPr>
            <p:cNvSpPr/>
            <p:nvPr/>
          </p:nvSpPr>
          <p:spPr>
            <a:xfrm>
              <a:off x="3217626" y="2253897"/>
              <a:ext cx="553260" cy="6096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latin typeface="Consolas" panose="020B0609020204030204" pitchFamily="49" charset="0"/>
                  <a:cs typeface="Consolas" panose="020B0609020204030204" pitchFamily="49" charset="0"/>
                </a:rPr>
                <a:t>Ws</a:t>
              </a:r>
              <a:endParaRPr lang="en-US" sz="2000" b="1" dirty="0">
                <a:latin typeface="Consolas" panose="020B0609020204030204" pitchFamily="49" charset="0"/>
                <a:cs typeface="Consolas" panose="020B0609020204030204" pitchFamily="49" charset="0"/>
              </a:endParaRPr>
            </a:p>
          </p:txBody>
        </p:sp>
        <p:sp>
          <p:nvSpPr>
            <p:cNvPr id="9" name="Rounded Rectangle 8">
              <a:extLst>
                <a:ext uri="{FF2B5EF4-FFF2-40B4-BE49-F238E27FC236}">
                  <a16:creationId xmlns:a16="http://schemas.microsoft.com/office/drawing/2014/main" id="{ADAFF30B-687D-CD42-96DD-6BB2DD7E2D83}"/>
                </a:ext>
              </a:extLst>
            </p:cNvPr>
            <p:cNvSpPr/>
            <p:nvPr/>
          </p:nvSpPr>
          <p:spPr>
            <a:xfrm>
              <a:off x="6032769" y="1181233"/>
              <a:ext cx="1284862" cy="6096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latin typeface="Consolas" panose="020B0609020204030204" pitchFamily="49" charset="0"/>
                  <a:cs typeface="Consolas" panose="020B0609020204030204" pitchFamily="49" charset="0"/>
                </a:rPr>
                <a:t>IdStart</a:t>
              </a:r>
              <a:endParaRPr lang="en-US" sz="2000" b="1" dirty="0">
                <a:latin typeface="Consolas" panose="020B0609020204030204" pitchFamily="49" charset="0"/>
                <a:cs typeface="Consolas" panose="020B0609020204030204" pitchFamily="49" charset="0"/>
              </a:endParaRPr>
            </a:p>
          </p:txBody>
        </p:sp>
        <p:cxnSp>
          <p:nvCxnSpPr>
            <p:cNvPr id="11" name="Curved Connector 10">
              <a:extLst>
                <a:ext uri="{FF2B5EF4-FFF2-40B4-BE49-F238E27FC236}">
                  <a16:creationId xmlns:a16="http://schemas.microsoft.com/office/drawing/2014/main" id="{F7277433-4C52-1E4D-AF2B-935B289C23BE}"/>
                </a:ext>
              </a:extLst>
            </p:cNvPr>
            <p:cNvCxnSpPr>
              <a:cxnSpLocks/>
              <a:stCxn id="5" idx="3"/>
              <a:endCxn id="7" idx="1"/>
            </p:cNvCxnSpPr>
            <p:nvPr/>
          </p:nvCxnSpPr>
          <p:spPr>
            <a:xfrm>
              <a:off x="2613903" y="1486033"/>
              <a:ext cx="45598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urved Connector 12">
              <a:extLst>
                <a:ext uri="{FF2B5EF4-FFF2-40B4-BE49-F238E27FC236}">
                  <a16:creationId xmlns:a16="http://schemas.microsoft.com/office/drawing/2014/main" id="{61CFC007-91B5-F443-A054-2160F9FA09AD}"/>
                </a:ext>
              </a:extLst>
            </p:cNvPr>
            <p:cNvCxnSpPr>
              <a:cxnSpLocks/>
              <a:stCxn id="7" idx="3"/>
              <a:endCxn id="22" idx="1"/>
            </p:cNvCxnSpPr>
            <p:nvPr/>
          </p:nvCxnSpPr>
          <p:spPr>
            <a:xfrm>
              <a:off x="4029683" y="1486033"/>
              <a:ext cx="416262" cy="1070592"/>
            </a:xfrm>
            <a:prstGeom prst="curved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urved Connector 17">
              <a:extLst>
                <a:ext uri="{FF2B5EF4-FFF2-40B4-BE49-F238E27FC236}">
                  <a16:creationId xmlns:a16="http://schemas.microsoft.com/office/drawing/2014/main" id="{C0240A93-8903-204E-969A-6D746309D61A}"/>
                </a:ext>
              </a:extLst>
            </p:cNvPr>
            <p:cNvCxnSpPr>
              <a:cxnSpLocks/>
              <a:stCxn id="5" idx="3"/>
              <a:endCxn id="8" idx="1"/>
            </p:cNvCxnSpPr>
            <p:nvPr/>
          </p:nvCxnSpPr>
          <p:spPr>
            <a:xfrm>
              <a:off x="2613903" y="1486033"/>
              <a:ext cx="603723" cy="1072664"/>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urved Connector 29">
              <a:extLst>
                <a:ext uri="{FF2B5EF4-FFF2-40B4-BE49-F238E27FC236}">
                  <a16:creationId xmlns:a16="http://schemas.microsoft.com/office/drawing/2014/main" id="{86F66EF8-0C28-D649-BF3B-BACE45776DA6}"/>
                </a:ext>
              </a:extLst>
            </p:cNvPr>
            <p:cNvCxnSpPr>
              <a:cxnSpLocks/>
              <a:stCxn id="6" idx="3"/>
              <a:endCxn id="21" idx="1"/>
            </p:cNvCxnSpPr>
            <p:nvPr/>
          </p:nvCxnSpPr>
          <p:spPr>
            <a:xfrm>
              <a:off x="5176330" y="1486033"/>
              <a:ext cx="927370" cy="1080448"/>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urved Connector 35">
              <a:extLst>
                <a:ext uri="{FF2B5EF4-FFF2-40B4-BE49-F238E27FC236}">
                  <a16:creationId xmlns:a16="http://schemas.microsoft.com/office/drawing/2014/main" id="{09BFF7FA-DF47-BB42-B0F0-958E89CF5986}"/>
                </a:ext>
              </a:extLst>
            </p:cNvPr>
            <p:cNvCxnSpPr>
              <a:cxnSpLocks/>
              <a:stCxn id="6" idx="3"/>
              <a:endCxn id="9" idx="1"/>
            </p:cNvCxnSpPr>
            <p:nvPr/>
          </p:nvCxnSpPr>
          <p:spPr>
            <a:xfrm>
              <a:off x="5176330" y="1486033"/>
              <a:ext cx="85643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a:extLst>
                <a:ext uri="{FF2B5EF4-FFF2-40B4-BE49-F238E27FC236}">
                  <a16:creationId xmlns:a16="http://schemas.microsoft.com/office/drawing/2014/main" id="{EDB5F253-7E8C-144A-A54C-6D03B51C4937}"/>
                </a:ext>
              </a:extLst>
            </p:cNvPr>
            <p:cNvSpPr/>
            <p:nvPr/>
          </p:nvSpPr>
          <p:spPr>
            <a:xfrm>
              <a:off x="6103700" y="2261681"/>
              <a:ext cx="1143000" cy="6096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latin typeface="Consolas" panose="020B0609020204030204" pitchFamily="49" charset="0"/>
                  <a:cs typeface="Consolas" panose="020B0609020204030204" pitchFamily="49" charset="0"/>
                </a:rPr>
                <a:t>IdCont</a:t>
              </a:r>
              <a:endParaRPr lang="en-US" sz="2000" b="1" dirty="0">
                <a:latin typeface="Consolas" panose="020B0609020204030204" pitchFamily="49" charset="0"/>
                <a:cs typeface="Consolas" panose="020B0609020204030204" pitchFamily="49" charset="0"/>
              </a:endParaRPr>
            </a:p>
          </p:txBody>
        </p:sp>
        <p:sp>
          <p:nvSpPr>
            <p:cNvPr id="22" name="Rounded Rectangle 21">
              <a:extLst>
                <a:ext uri="{FF2B5EF4-FFF2-40B4-BE49-F238E27FC236}">
                  <a16:creationId xmlns:a16="http://schemas.microsoft.com/office/drawing/2014/main" id="{DCBF931F-7946-6B43-9D30-A712958FA02B}"/>
                </a:ext>
              </a:extLst>
            </p:cNvPr>
            <p:cNvSpPr/>
            <p:nvPr/>
          </p:nvSpPr>
          <p:spPr>
            <a:xfrm>
              <a:off x="4445945" y="2251825"/>
              <a:ext cx="1143000" cy="6096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latin typeface="Consolas" panose="020B0609020204030204" pitchFamily="49" charset="0"/>
                  <a:cs typeface="Consolas" panose="020B0609020204030204" pitchFamily="49" charset="0"/>
                </a:rPr>
                <a:t>IntLit</a:t>
              </a:r>
              <a:endParaRPr lang="en-US" sz="2000" b="1" dirty="0">
                <a:latin typeface="Consolas" panose="020B0609020204030204" pitchFamily="49" charset="0"/>
                <a:cs typeface="Consolas" panose="020B0609020204030204" pitchFamily="49" charset="0"/>
              </a:endParaRPr>
            </a:p>
          </p:txBody>
        </p:sp>
        <p:cxnSp>
          <p:nvCxnSpPr>
            <p:cNvPr id="31" name="Curved Connector 10">
              <a:extLst>
                <a:ext uri="{FF2B5EF4-FFF2-40B4-BE49-F238E27FC236}">
                  <a16:creationId xmlns:a16="http://schemas.microsoft.com/office/drawing/2014/main" id="{D9FDF08E-0623-9246-B033-31067275C676}"/>
                </a:ext>
              </a:extLst>
            </p:cNvPr>
            <p:cNvCxnSpPr>
              <a:cxnSpLocks/>
              <a:stCxn id="7" idx="3"/>
              <a:endCxn id="6" idx="1"/>
            </p:cNvCxnSpPr>
            <p:nvPr/>
          </p:nvCxnSpPr>
          <p:spPr>
            <a:xfrm>
              <a:off x="4029683" y="1486033"/>
              <a:ext cx="59338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urved Connector 35">
              <a:extLst>
                <a:ext uri="{FF2B5EF4-FFF2-40B4-BE49-F238E27FC236}">
                  <a16:creationId xmlns:a16="http://schemas.microsoft.com/office/drawing/2014/main" id="{4966FA9A-F7D7-0844-A633-946238CE91BF}"/>
                </a:ext>
              </a:extLst>
            </p:cNvPr>
            <p:cNvCxnSpPr>
              <a:cxnSpLocks/>
              <a:stCxn id="21" idx="0"/>
              <a:endCxn id="9" idx="2"/>
            </p:cNvCxnSpPr>
            <p:nvPr/>
          </p:nvCxnSpPr>
          <p:spPr>
            <a:xfrm flipV="1">
              <a:off x="6675200" y="1790833"/>
              <a:ext cx="0" cy="47084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3C483A70-2693-AE4F-AE8E-66C7D8E11E40}"/>
              </a:ext>
            </a:extLst>
          </p:cNvPr>
          <p:cNvSpPr txBox="1"/>
          <p:nvPr/>
        </p:nvSpPr>
        <p:spPr>
          <a:xfrm>
            <a:off x="2346796" y="3993286"/>
            <a:ext cx="4282604" cy="584775"/>
          </a:xfrm>
          <a:prstGeom prst="rect">
            <a:avLst/>
          </a:prstGeom>
          <a:noFill/>
        </p:spPr>
        <p:txBody>
          <a:bodyPr wrap="square" rtlCol="0">
            <a:spAutoFit/>
          </a:bodyPr>
          <a:lstStyle/>
          <a:p>
            <a:pPr algn="ctr"/>
            <a:r>
              <a:rPr lang="en-US" sz="1600" dirty="0"/>
              <a:t>(this is called a </a:t>
            </a:r>
            <a:r>
              <a:rPr lang="en-US" sz="1600" b="1" dirty="0"/>
              <a:t>DAG: </a:t>
            </a:r>
            <a:r>
              <a:rPr lang="en-US" sz="1600" dirty="0"/>
              <a:t>a directed acyclic graph. it's like a tree, but nodes can share parents.)</a:t>
            </a:r>
            <a:endParaRPr lang="en-US" sz="1600" b="1" dirty="0"/>
          </a:p>
        </p:txBody>
      </p:sp>
    </p:spTree>
    <p:extLst>
      <p:ext uri="{BB962C8B-B14F-4D97-AF65-F5344CB8AC3E}">
        <p14:creationId xmlns:p14="http://schemas.microsoft.com/office/powerpoint/2010/main" val="6522696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4" grpId="0"/>
      <p:bldP spid="5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CD52B-CEC7-7C47-AA80-0C1376203D42}"/>
              </a:ext>
            </a:extLst>
          </p:cNvPr>
          <p:cNvSpPr>
            <a:spLocks noGrp="1"/>
          </p:cNvSpPr>
          <p:nvPr>
            <p:ph type="title"/>
          </p:nvPr>
        </p:nvSpPr>
        <p:spPr/>
        <p:txBody>
          <a:bodyPr/>
          <a:lstStyle/>
          <a:p>
            <a:r>
              <a:rPr lang="en-US" dirty="0"/>
              <a:t>A whole new world</a:t>
            </a:r>
          </a:p>
        </p:txBody>
      </p:sp>
      <p:sp>
        <p:nvSpPr>
          <p:cNvPr id="3" name="Content Placeholder 2">
            <a:extLst>
              <a:ext uri="{FF2B5EF4-FFF2-40B4-BE49-F238E27FC236}">
                <a16:creationId xmlns:a16="http://schemas.microsoft.com/office/drawing/2014/main" id="{1F347287-4CAB-EE4D-8285-CA96D7F68839}"/>
              </a:ext>
            </a:extLst>
          </p:cNvPr>
          <p:cNvSpPr>
            <a:spLocks noGrp="1"/>
          </p:cNvSpPr>
          <p:nvPr>
            <p:ph idx="1"/>
          </p:nvPr>
        </p:nvSpPr>
        <p:spPr>
          <a:xfrm>
            <a:off x="152400" y="495301"/>
            <a:ext cx="8991600" cy="1600199"/>
          </a:xfrm>
        </p:spPr>
        <p:txBody>
          <a:bodyPr/>
          <a:lstStyle/>
          <a:p>
            <a:r>
              <a:rPr lang="en-US" dirty="0"/>
              <a:t>let's say our </a:t>
            </a:r>
            <a:r>
              <a:rPr lang="en-US" b="1" dirty="0"/>
              <a:t>alphabet</a:t>
            </a:r>
            <a:r>
              <a:rPr lang="en-US" dirty="0"/>
              <a:t> is  </a:t>
            </a:r>
            <a:r>
              <a:rPr lang="en-US" b="1" dirty="0">
                <a:latin typeface="Consolas" panose="020B0609020204030204" pitchFamily="49" charset="0"/>
                <a:cs typeface="Consolas" panose="020B0609020204030204" pitchFamily="49" charset="0"/>
              </a:rPr>
              <a:t>A = { </a:t>
            </a:r>
            <a:r>
              <a:rPr lang="en-US" b="1" dirty="0">
                <a:solidFill>
                  <a:schemeClr val="accent6">
                    <a:lumMod val="75000"/>
                  </a:schemeClr>
                </a:solidFill>
                <a:latin typeface="Consolas" panose="020B0609020204030204" pitchFamily="49" charset="0"/>
                <a:cs typeface="Consolas" panose="020B0609020204030204" pitchFamily="49" charset="0"/>
              </a:rPr>
              <a:t>'('</a:t>
            </a:r>
            <a:r>
              <a:rPr lang="en-US" b="1" dirty="0">
                <a:latin typeface="Consolas" panose="020B0609020204030204" pitchFamily="49" charset="0"/>
                <a:cs typeface="Consolas" panose="020B0609020204030204" pitchFamily="49" charset="0"/>
              </a:rPr>
              <a:t>, </a:t>
            </a:r>
            <a:r>
              <a:rPr lang="en-US" b="1" dirty="0">
                <a:solidFill>
                  <a:schemeClr val="accent6">
                    <a:lumMod val="75000"/>
                  </a:schemeClr>
                </a:solidFill>
                <a:latin typeface="Consolas" panose="020B0609020204030204" pitchFamily="49" charset="0"/>
                <a:cs typeface="Consolas" panose="020B0609020204030204" pitchFamily="49" charset="0"/>
              </a:rPr>
              <a:t>')'</a:t>
            </a:r>
            <a:r>
              <a:rPr lang="en-US" b="1" dirty="0">
                <a:latin typeface="Consolas" panose="020B0609020204030204" pitchFamily="49" charset="0"/>
                <a:cs typeface="Consolas" panose="020B0609020204030204" pitchFamily="49" charset="0"/>
              </a:rPr>
              <a:t>, </a:t>
            </a:r>
            <a:r>
              <a:rPr lang="en-US" b="1" dirty="0">
                <a:solidFill>
                  <a:schemeClr val="accent6">
                    <a:lumMod val="75000"/>
                  </a:schemeClr>
                </a:solidFill>
                <a:latin typeface="Consolas" panose="020B0609020204030204" pitchFamily="49" charset="0"/>
                <a:cs typeface="Consolas" panose="020B0609020204030204" pitchFamily="49" charset="0"/>
              </a:rPr>
              <a:t>'e'</a:t>
            </a:r>
            <a:r>
              <a:rPr lang="en-US" b="1" dirty="0">
                <a:latin typeface="Consolas" panose="020B0609020204030204" pitchFamily="49" charset="0"/>
                <a:cs typeface="Consolas" panose="020B0609020204030204" pitchFamily="49" charset="0"/>
              </a:rPr>
              <a:t> }</a:t>
            </a:r>
            <a:r>
              <a:rPr lang="en-US" dirty="0"/>
              <a:t>.</a:t>
            </a:r>
          </a:p>
          <a:p>
            <a:r>
              <a:rPr lang="en-US" dirty="0"/>
              <a:t>and our grammar rule is </a:t>
            </a:r>
            <a:r>
              <a:rPr lang="en-US" b="1" dirty="0" err="1">
                <a:latin typeface="Consolas" panose="020B0609020204030204" pitchFamily="49" charset="0"/>
                <a:cs typeface="Consolas" panose="020B0609020204030204" pitchFamily="49" charset="0"/>
              </a:rPr>
              <a:t>Exp</a:t>
            </a:r>
            <a:r>
              <a:rPr lang="en-US" b="1" dirty="0">
                <a:latin typeface="Consolas" panose="020B0609020204030204" pitchFamily="49" charset="0"/>
                <a:cs typeface="Consolas" panose="020B0609020204030204" pitchFamily="49" charset="0"/>
              </a:rPr>
              <a:t>: </a:t>
            </a:r>
            <a:r>
              <a:rPr lang="en-US" b="1" dirty="0">
                <a:solidFill>
                  <a:schemeClr val="accent6">
                    <a:lumMod val="75000"/>
                  </a:schemeClr>
                </a:solidFill>
                <a:latin typeface="Consolas" panose="020B0609020204030204" pitchFamily="49" charset="0"/>
                <a:cs typeface="Consolas" panose="020B0609020204030204" pitchFamily="49" charset="0"/>
              </a:rPr>
              <a:t>'e'</a:t>
            </a:r>
            <a:r>
              <a:rPr lang="en-US" b="1" dirty="0">
                <a:latin typeface="Consolas" panose="020B0609020204030204" pitchFamily="49" charset="0"/>
                <a:cs typeface="Consolas" panose="020B0609020204030204" pitchFamily="49" charset="0"/>
              </a:rPr>
              <a:t> | </a:t>
            </a:r>
            <a:r>
              <a:rPr lang="en-US" b="1" dirty="0">
                <a:solidFill>
                  <a:schemeClr val="accent6">
                    <a:lumMod val="75000"/>
                  </a:schemeClr>
                </a:solidFill>
                <a:latin typeface="Consolas" panose="020B0609020204030204" pitchFamily="49" charset="0"/>
                <a:cs typeface="Consolas" panose="020B0609020204030204" pitchFamily="49" charset="0"/>
              </a:rPr>
              <a:t>'('</a:t>
            </a:r>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Exp</a:t>
            </a:r>
            <a:r>
              <a:rPr lang="en-US" b="1" dirty="0">
                <a:latin typeface="Consolas" panose="020B0609020204030204" pitchFamily="49" charset="0"/>
                <a:cs typeface="Consolas" panose="020B0609020204030204" pitchFamily="49" charset="0"/>
              </a:rPr>
              <a:t> </a:t>
            </a:r>
            <a:r>
              <a:rPr lang="en-US" b="1" dirty="0">
                <a:solidFill>
                  <a:schemeClr val="accent6">
                    <a:lumMod val="75000"/>
                  </a:schemeClr>
                </a:solidFill>
                <a:latin typeface="Consolas" panose="020B0609020204030204" pitchFamily="49" charset="0"/>
                <a:cs typeface="Consolas" panose="020B0609020204030204" pitchFamily="49" charset="0"/>
              </a:rPr>
              <a:t>')'</a:t>
            </a:r>
            <a:endParaRPr lang="en-US" b="1" dirty="0">
              <a:latin typeface="Consolas" panose="020B0609020204030204" pitchFamily="49" charset="0"/>
              <a:cs typeface="Consolas" panose="020B0609020204030204" pitchFamily="49" charset="0"/>
            </a:endParaRPr>
          </a:p>
          <a:p>
            <a:r>
              <a:rPr lang="en-US" dirty="0"/>
              <a:t>valid strings would be </a:t>
            </a:r>
            <a:r>
              <a:rPr lang="en-US" b="1" dirty="0">
                <a:solidFill>
                  <a:schemeClr val="accent6">
                    <a:lumMod val="75000"/>
                  </a:schemeClr>
                </a:solidFill>
                <a:latin typeface="Consolas" panose="020B0609020204030204" pitchFamily="49" charset="0"/>
                <a:cs typeface="Consolas" panose="020B0609020204030204" pitchFamily="49" charset="0"/>
              </a:rPr>
              <a:t>e</a:t>
            </a:r>
            <a:r>
              <a:rPr lang="en-US" dirty="0"/>
              <a:t>, </a:t>
            </a:r>
            <a:r>
              <a:rPr lang="en-US" b="1" dirty="0">
                <a:solidFill>
                  <a:schemeClr val="accent6">
                    <a:lumMod val="75000"/>
                  </a:schemeClr>
                </a:solidFill>
                <a:latin typeface="Consolas" panose="020B0609020204030204" pitchFamily="49" charset="0"/>
                <a:cs typeface="Consolas" panose="020B0609020204030204" pitchFamily="49" charset="0"/>
              </a:rPr>
              <a:t>(e)</a:t>
            </a:r>
            <a:r>
              <a:rPr lang="en-US" dirty="0"/>
              <a:t>, </a:t>
            </a:r>
            <a:r>
              <a:rPr lang="en-US" b="1" dirty="0">
                <a:solidFill>
                  <a:schemeClr val="accent6">
                    <a:lumMod val="75000"/>
                  </a:schemeClr>
                </a:solidFill>
                <a:latin typeface="Consolas" panose="020B0609020204030204" pitchFamily="49" charset="0"/>
                <a:cs typeface="Consolas" panose="020B0609020204030204" pitchFamily="49" charset="0"/>
              </a:rPr>
              <a:t>((e))</a:t>
            </a:r>
            <a:r>
              <a:rPr lang="en-US" dirty="0"/>
              <a:t>, etc. for </a:t>
            </a:r>
            <a:r>
              <a:rPr lang="en-US" b="1" dirty="0"/>
              <a:t>any</a:t>
            </a:r>
            <a:r>
              <a:rPr lang="en-US" dirty="0"/>
              <a:t> number of </a:t>
            </a:r>
            <a:r>
              <a:rPr lang="en-US" dirty="0" err="1"/>
              <a:t>parens</a:t>
            </a:r>
            <a:r>
              <a:rPr lang="en-US" dirty="0"/>
              <a:t>.</a:t>
            </a:r>
          </a:p>
        </p:txBody>
      </p:sp>
      <p:sp>
        <p:nvSpPr>
          <p:cNvPr id="4" name="Slide Number Placeholder 3">
            <a:extLst>
              <a:ext uri="{FF2B5EF4-FFF2-40B4-BE49-F238E27FC236}">
                <a16:creationId xmlns:a16="http://schemas.microsoft.com/office/drawing/2014/main" id="{22A82D9D-025F-924A-AE16-36E18CE9A40E}"/>
              </a:ext>
            </a:extLst>
          </p:cNvPr>
          <p:cNvSpPr>
            <a:spLocks noGrp="1"/>
          </p:cNvSpPr>
          <p:nvPr>
            <p:ph type="sldNum" sz="quarter" idx="12"/>
          </p:nvPr>
        </p:nvSpPr>
        <p:spPr/>
        <p:txBody>
          <a:bodyPr/>
          <a:lstStyle/>
          <a:p>
            <a:fld id="{3552B95B-556F-44BD-91A5-D80C1B9E2BB3}" type="slidenum">
              <a:rPr lang="en-US" smtClean="0"/>
              <a:pPr/>
              <a:t>6</a:t>
            </a:fld>
            <a:endParaRPr lang="en-US"/>
          </a:p>
        </p:txBody>
      </p:sp>
      <p:grpSp>
        <p:nvGrpSpPr>
          <p:cNvPr id="14" name="Group 13">
            <a:extLst>
              <a:ext uri="{FF2B5EF4-FFF2-40B4-BE49-F238E27FC236}">
                <a16:creationId xmlns:a16="http://schemas.microsoft.com/office/drawing/2014/main" id="{14DFA045-780B-AA41-8AF0-233675BE4E86}"/>
              </a:ext>
            </a:extLst>
          </p:cNvPr>
          <p:cNvGrpSpPr/>
          <p:nvPr/>
        </p:nvGrpSpPr>
        <p:grpSpPr>
          <a:xfrm>
            <a:off x="5334000" y="2020416"/>
            <a:ext cx="990600" cy="762000"/>
            <a:chOff x="3505200" y="3010430"/>
            <a:chExt cx="990600" cy="762000"/>
          </a:xfrm>
        </p:grpSpPr>
        <p:sp>
          <p:nvSpPr>
            <p:cNvPr id="5" name="Rounded Rectangle 4">
              <a:extLst>
                <a:ext uri="{FF2B5EF4-FFF2-40B4-BE49-F238E27FC236}">
                  <a16:creationId xmlns:a16="http://schemas.microsoft.com/office/drawing/2014/main" id="{F58793A7-287C-2048-A44B-E5A54D21F135}"/>
                </a:ext>
              </a:extLst>
            </p:cNvPr>
            <p:cNvSpPr/>
            <p:nvPr/>
          </p:nvSpPr>
          <p:spPr>
            <a:xfrm>
              <a:off x="3505200" y="3010430"/>
              <a:ext cx="990600" cy="7620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err="1">
                  <a:latin typeface="Consolas" panose="020B0609020204030204" pitchFamily="49" charset="0"/>
                  <a:cs typeface="Consolas" panose="020B0609020204030204" pitchFamily="49" charset="0"/>
                </a:rPr>
                <a:t>Exp</a:t>
              </a:r>
              <a:endParaRPr lang="en-US" sz="2800" b="1" dirty="0">
                <a:latin typeface="Consolas" panose="020B0609020204030204" pitchFamily="49" charset="0"/>
                <a:cs typeface="Consolas" panose="020B0609020204030204" pitchFamily="49" charset="0"/>
              </a:endParaRPr>
            </a:p>
          </p:txBody>
        </p:sp>
        <p:cxnSp>
          <p:nvCxnSpPr>
            <p:cNvPr id="6" name="Curved Connector 5">
              <a:extLst>
                <a:ext uri="{FF2B5EF4-FFF2-40B4-BE49-F238E27FC236}">
                  <a16:creationId xmlns:a16="http://schemas.microsoft.com/office/drawing/2014/main" id="{DBDF4142-A662-B542-84E7-5DBD31F77400}"/>
                </a:ext>
              </a:extLst>
            </p:cNvPr>
            <p:cNvCxnSpPr>
              <a:cxnSpLocks/>
              <a:stCxn id="5" idx="3"/>
              <a:endCxn id="5" idx="0"/>
            </p:cNvCxnSpPr>
            <p:nvPr/>
          </p:nvCxnSpPr>
          <p:spPr>
            <a:xfrm flipH="1" flipV="1">
              <a:off x="4000500" y="3010430"/>
              <a:ext cx="495300" cy="381000"/>
            </a:xfrm>
            <a:prstGeom prst="curvedConnector4">
              <a:avLst>
                <a:gd name="adj1" fmla="val -46154"/>
                <a:gd name="adj2" fmla="val 16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50181809-2D2E-0E43-B989-F328C12E139B}"/>
              </a:ext>
            </a:extLst>
          </p:cNvPr>
          <p:cNvSpPr txBox="1"/>
          <p:nvPr/>
        </p:nvSpPr>
        <p:spPr>
          <a:xfrm>
            <a:off x="1295400" y="1988152"/>
            <a:ext cx="3714750" cy="769441"/>
          </a:xfrm>
          <a:prstGeom prst="rect">
            <a:avLst/>
          </a:prstGeom>
          <a:noFill/>
        </p:spPr>
        <p:txBody>
          <a:bodyPr wrap="square" rtlCol="0">
            <a:spAutoFit/>
          </a:bodyPr>
          <a:lstStyle/>
          <a:p>
            <a:pPr algn="ctr"/>
            <a:r>
              <a:rPr lang="en-US" sz="2200" dirty="0"/>
              <a:t>one</a:t>
            </a:r>
            <a:r>
              <a:rPr lang="en-US" sz="2200" b="1" dirty="0"/>
              <a:t> </a:t>
            </a:r>
            <a:r>
              <a:rPr lang="en-US" sz="2200" b="1" spc="600" dirty="0" err="1"/>
              <a:t>loopyboi</a:t>
            </a:r>
            <a:r>
              <a:rPr lang="en-US" sz="2200" dirty="0"/>
              <a:t> is all it takes to give us this power.</a:t>
            </a:r>
          </a:p>
        </p:txBody>
      </p:sp>
      <p:sp>
        <p:nvSpPr>
          <p:cNvPr id="20" name="TextBox 19">
            <a:extLst>
              <a:ext uri="{FF2B5EF4-FFF2-40B4-BE49-F238E27FC236}">
                <a16:creationId xmlns:a16="http://schemas.microsoft.com/office/drawing/2014/main" id="{2D9E8071-3530-4347-B3DB-02BD14EA99FE}"/>
              </a:ext>
            </a:extLst>
          </p:cNvPr>
          <p:cNvSpPr txBox="1"/>
          <p:nvPr/>
        </p:nvSpPr>
        <p:spPr>
          <a:xfrm>
            <a:off x="1104900" y="4393173"/>
            <a:ext cx="6934200" cy="769441"/>
          </a:xfrm>
          <a:prstGeom prst="rect">
            <a:avLst/>
          </a:prstGeom>
          <a:noFill/>
        </p:spPr>
        <p:txBody>
          <a:bodyPr wrap="square" rtlCol="0">
            <a:spAutoFit/>
          </a:bodyPr>
          <a:lstStyle/>
          <a:p>
            <a:pPr algn="ctr"/>
            <a:r>
              <a:rPr lang="en-US" sz="2200" dirty="0"/>
              <a:t>once you allow these kinds of recursive rules, you are now in the land of </a:t>
            </a:r>
            <a:r>
              <a:rPr lang="en-US" sz="2200" b="1" dirty="0"/>
              <a:t>context-free languages!</a:t>
            </a:r>
            <a:endParaRPr lang="en-US" sz="1400" dirty="0"/>
          </a:p>
        </p:txBody>
      </p:sp>
      <p:sp>
        <p:nvSpPr>
          <p:cNvPr id="11" name="TextBox 10">
            <a:extLst>
              <a:ext uri="{FF2B5EF4-FFF2-40B4-BE49-F238E27FC236}">
                <a16:creationId xmlns:a16="http://schemas.microsoft.com/office/drawing/2014/main" id="{E261D6F4-B818-2545-A5E2-AD2B65A9467D}"/>
              </a:ext>
            </a:extLst>
          </p:cNvPr>
          <p:cNvSpPr txBox="1"/>
          <p:nvPr/>
        </p:nvSpPr>
        <p:spPr>
          <a:xfrm>
            <a:off x="609600" y="3123270"/>
            <a:ext cx="7924800" cy="1107996"/>
          </a:xfrm>
          <a:prstGeom prst="rect">
            <a:avLst/>
          </a:prstGeom>
          <a:noFill/>
        </p:spPr>
        <p:txBody>
          <a:bodyPr wrap="square" rtlCol="0">
            <a:spAutoFit/>
          </a:bodyPr>
          <a:lstStyle/>
          <a:p>
            <a:pPr algn="ctr"/>
            <a:r>
              <a:rPr lang="en-US" sz="2200" dirty="0"/>
              <a:t>but power comes at a cost: this kind of language is </a:t>
            </a:r>
            <a:r>
              <a:rPr lang="en-US" sz="2200" b="1" dirty="0"/>
              <a:t>strictly more complex </a:t>
            </a:r>
            <a:r>
              <a:rPr lang="en-US" sz="2200" dirty="0"/>
              <a:t>than regular languages and requires </a:t>
            </a:r>
            <a:r>
              <a:rPr lang="en-US" sz="2200" b="1" dirty="0"/>
              <a:t>more complex algorithms </a:t>
            </a:r>
            <a:r>
              <a:rPr lang="en-US" sz="2200" dirty="0"/>
              <a:t>to implement.</a:t>
            </a:r>
          </a:p>
        </p:txBody>
      </p:sp>
    </p:spTree>
    <p:extLst>
      <p:ext uri="{BB962C8B-B14F-4D97-AF65-F5344CB8AC3E}">
        <p14:creationId xmlns:p14="http://schemas.microsoft.com/office/powerpoint/2010/main" val="38275154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B3ABB-3363-4D40-8A9C-80D76CB14DB8}"/>
              </a:ext>
            </a:extLst>
          </p:cNvPr>
          <p:cNvSpPr>
            <a:spLocks noGrp="1"/>
          </p:cNvSpPr>
          <p:nvPr>
            <p:ph type="title"/>
          </p:nvPr>
        </p:nvSpPr>
        <p:spPr/>
        <p:txBody>
          <a:bodyPr/>
          <a:lstStyle/>
          <a:p>
            <a:r>
              <a:rPr lang="en-US" dirty="0"/>
              <a:t>So what can they do?</a:t>
            </a:r>
          </a:p>
        </p:txBody>
      </p:sp>
      <p:sp>
        <p:nvSpPr>
          <p:cNvPr id="3" name="Content Placeholder 2">
            <a:extLst>
              <a:ext uri="{FF2B5EF4-FFF2-40B4-BE49-F238E27FC236}">
                <a16:creationId xmlns:a16="http://schemas.microsoft.com/office/drawing/2014/main" id="{CB27AB5F-C76D-4F4C-B96B-0CAA427A4195}"/>
              </a:ext>
            </a:extLst>
          </p:cNvPr>
          <p:cNvSpPr>
            <a:spLocks noGrp="1"/>
          </p:cNvSpPr>
          <p:nvPr>
            <p:ph idx="1"/>
          </p:nvPr>
        </p:nvSpPr>
        <p:spPr>
          <a:xfrm>
            <a:off x="152400" y="495301"/>
            <a:ext cx="8991600" cy="1219199"/>
          </a:xfrm>
        </p:spPr>
        <p:txBody>
          <a:bodyPr/>
          <a:lstStyle/>
          <a:p>
            <a:r>
              <a:rPr lang="en-US" dirty="0"/>
              <a:t>context-free grammars (</a:t>
            </a:r>
            <a:r>
              <a:rPr lang="en-US" b="1" dirty="0"/>
              <a:t>CFGs</a:t>
            </a:r>
            <a:r>
              <a:rPr lang="en-US" dirty="0"/>
              <a:t>) can represent </a:t>
            </a:r>
            <a:r>
              <a:rPr lang="en-US" b="1" dirty="0"/>
              <a:t>nesting </a:t>
            </a:r>
            <a:r>
              <a:rPr lang="en-US" dirty="0"/>
              <a:t>of any depth.</a:t>
            </a:r>
          </a:p>
          <a:p>
            <a:r>
              <a:rPr lang="en-US" dirty="0"/>
              <a:t>this happens to map very nicely onto our intuition </a:t>
            </a:r>
            <a:r>
              <a:rPr lang="en-US" sz="1200" dirty="0"/>
              <a:t>(instinct?)</a:t>
            </a:r>
            <a:r>
              <a:rPr lang="en-US" dirty="0"/>
              <a:t> about how language works in general.</a:t>
            </a:r>
          </a:p>
        </p:txBody>
      </p:sp>
      <p:sp>
        <p:nvSpPr>
          <p:cNvPr id="4" name="Slide Number Placeholder 3">
            <a:extLst>
              <a:ext uri="{FF2B5EF4-FFF2-40B4-BE49-F238E27FC236}">
                <a16:creationId xmlns:a16="http://schemas.microsoft.com/office/drawing/2014/main" id="{EB4C4D1D-4C7E-634E-80A4-6C8FDB0C346F}"/>
              </a:ext>
            </a:extLst>
          </p:cNvPr>
          <p:cNvSpPr>
            <a:spLocks noGrp="1"/>
          </p:cNvSpPr>
          <p:nvPr>
            <p:ph type="sldNum" sz="quarter" idx="12"/>
          </p:nvPr>
        </p:nvSpPr>
        <p:spPr/>
        <p:txBody>
          <a:bodyPr/>
          <a:lstStyle/>
          <a:p>
            <a:fld id="{3552B95B-556F-44BD-91A5-D80C1B9E2BB3}" type="slidenum">
              <a:rPr lang="en-US" smtClean="0"/>
              <a:pPr/>
              <a:t>7</a:t>
            </a:fld>
            <a:endParaRPr lang="en-US"/>
          </a:p>
        </p:txBody>
      </p:sp>
      <p:sp>
        <p:nvSpPr>
          <p:cNvPr id="5" name="TextBox 4">
            <a:extLst>
              <a:ext uri="{FF2B5EF4-FFF2-40B4-BE49-F238E27FC236}">
                <a16:creationId xmlns:a16="http://schemas.microsoft.com/office/drawing/2014/main" id="{E949D5CE-0090-294F-AE61-9DD1552C2EE4}"/>
              </a:ext>
            </a:extLst>
          </p:cNvPr>
          <p:cNvSpPr txBox="1"/>
          <p:nvPr/>
        </p:nvSpPr>
        <p:spPr>
          <a:xfrm>
            <a:off x="1316071" y="3740606"/>
            <a:ext cx="2438400" cy="430887"/>
          </a:xfrm>
          <a:prstGeom prst="rect">
            <a:avLst/>
          </a:prstGeom>
          <a:noFill/>
        </p:spPr>
        <p:txBody>
          <a:bodyPr wrap="square" rtlCol="0">
            <a:spAutoFit/>
          </a:bodyPr>
          <a:lstStyle/>
          <a:p>
            <a:r>
              <a:rPr lang="en-US" sz="2200" b="1" dirty="0">
                <a:latin typeface="Consolas" panose="020B0609020204030204" pitchFamily="49" charset="0"/>
                <a:cs typeface="Consolas" panose="020B0609020204030204" pitchFamily="49" charset="0"/>
              </a:rPr>
              <a:t>f(x * (y + </a:t>
            </a:r>
            <a:r>
              <a:rPr lang="en-US" sz="2200" b="1" dirty="0">
                <a:solidFill>
                  <a:schemeClr val="accent3">
                    <a:lumMod val="75000"/>
                  </a:schemeClr>
                </a:solidFill>
                <a:latin typeface="Consolas" panose="020B0609020204030204" pitchFamily="49" charset="0"/>
                <a:cs typeface="Consolas" panose="020B0609020204030204" pitchFamily="49" charset="0"/>
              </a:rPr>
              <a:t>3</a:t>
            </a:r>
            <a:r>
              <a:rPr lang="en-US" sz="2200" b="1" dirty="0">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1F622506-7A46-F144-9A4F-FCDBDA7E953D}"/>
              </a:ext>
            </a:extLst>
          </p:cNvPr>
          <p:cNvSpPr txBox="1"/>
          <p:nvPr/>
        </p:nvSpPr>
        <p:spPr>
          <a:xfrm>
            <a:off x="4876800" y="3535365"/>
            <a:ext cx="2438400" cy="1785104"/>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 x ==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 y == </a:t>
            </a:r>
            <a:r>
              <a:rPr lang="en-US" sz="2200" b="1" dirty="0">
                <a:solidFill>
                  <a:schemeClr val="accent3">
                    <a:lumMod val="75000"/>
                  </a:schemeClr>
                </a:solidFill>
                <a:latin typeface="Consolas" panose="020B0609020204030204" pitchFamily="49" charset="0"/>
                <a:cs typeface="Consolas" panose="020B0609020204030204" pitchFamily="49" charset="0"/>
              </a:rPr>
              <a:t>20</a:t>
            </a:r>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    f();</a:t>
            </a:r>
          </a:p>
          <a:p>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543BC35E-69EA-1B40-A4CA-D3B79C90945E}"/>
              </a:ext>
            </a:extLst>
          </p:cNvPr>
          <p:cNvSpPr txBox="1"/>
          <p:nvPr/>
        </p:nvSpPr>
        <p:spPr>
          <a:xfrm>
            <a:off x="914400" y="2906394"/>
            <a:ext cx="3241743" cy="769441"/>
          </a:xfrm>
          <a:prstGeom prst="rect">
            <a:avLst/>
          </a:prstGeom>
          <a:noFill/>
        </p:spPr>
        <p:txBody>
          <a:bodyPr wrap="square" rtlCol="0">
            <a:spAutoFit/>
          </a:bodyPr>
          <a:lstStyle/>
          <a:p>
            <a:pPr algn="ctr"/>
            <a:r>
              <a:rPr lang="en-US" sz="2200" dirty="0"/>
              <a:t>with CFGs, we can nest expressions…</a:t>
            </a:r>
            <a:endParaRPr lang="en-US" sz="2200" b="1" dirty="0"/>
          </a:p>
        </p:txBody>
      </p:sp>
      <p:sp>
        <p:nvSpPr>
          <p:cNvPr id="11" name="TextBox 10">
            <a:extLst>
              <a:ext uri="{FF2B5EF4-FFF2-40B4-BE49-F238E27FC236}">
                <a16:creationId xmlns:a16="http://schemas.microsoft.com/office/drawing/2014/main" id="{C43CE4B9-0150-B543-BA15-1E706E93890F}"/>
              </a:ext>
            </a:extLst>
          </p:cNvPr>
          <p:cNvSpPr txBox="1"/>
          <p:nvPr/>
        </p:nvSpPr>
        <p:spPr>
          <a:xfrm>
            <a:off x="4876800" y="2928573"/>
            <a:ext cx="2362200" cy="430887"/>
          </a:xfrm>
          <a:prstGeom prst="rect">
            <a:avLst/>
          </a:prstGeom>
          <a:noFill/>
        </p:spPr>
        <p:txBody>
          <a:bodyPr wrap="square" rtlCol="0">
            <a:spAutoFit/>
          </a:bodyPr>
          <a:lstStyle/>
          <a:p>
            <a:pPr algn="ctr"/>
            <a:r>
              <a:rPr lang="en-US" sz="2200" dirty="0"/>
              <a:t>and statements!</a:t>
            </a:r>
            <a:endParaRPr lang="en-US" sz="2200" b="1" dirty="0"/>
          </a:p>
        </p:txBody>
      </p:sp>
      <p:sp>
        <p:nvSpPr>
          <p:cNvPr id="12" name="TextBox 11">
            <a:extLst>
              <a:ext uri="{FF2B5EF4-FFF2-40B4-BE49-F238E27FC236}">
                <a16:creationId xmlns:a16="http://schemas.microsoft.com/office/drawing/2014/main" id="{23649E9A-A4D9-724B-B45E-B2E803EC9C40}"/>
              </a:ext>
            </a:extLst>
          </p:cNvPr>
          <p:cNvSpPr txBox="1"/>
          <p:nvPr/>
        </p:nvSpPr>
        <p:spPr>
          <a:xfrm>
            <a:off x="610412" y="1662952"/>
            <a:ext cx="7923176" cy="430887"/>
          </a:xfrm>
          <a:prstGeom prst="rect">
            <a:avLst/>
          </a:prstGeom>
          <a:noFill/>
        </p:spPr>
        <p:txBody>
          <a:bodyPr wrap="square" rtlCol="0">
            <a:spAutoFit/>
          </a:bodyPr>
          <a:lstStyle/>
          <a:p>
            <a:pPr algn="ctr"/>
            <a:r>
              <a:rPr lang="en-US" sz="2200" dirty="0"/>
              <a:t>in </a:t>
            </a:r>
            <a:r>
              <a:rPr lang="en-US" sz="2200" b="1" dirty="0"/>
              <a:t>human languages,</a:t>
            </a:r>
            <a:r>
              <a:rPr lang="en-US" sz="2200" dirty="0"/>
              <a:t> we can nest phrases inside other ones.</a:t>
            </a:r>
            <a:endParaRPr lang="en-US" sz="2200" b="1" dirty="0"/>
          </a:p>
        </p:txBody>
      </p:sp>
      <p:sp>
        <p:nvSpPr>
          <p:cNvPr id="13" name="TextBox 12">
            <a:extLst>
              <a:ext uri="{FF2B5EF4-FFF2-40B4-BE49-F238E27FC236}">
                <a16:creationId xmlns:a16="http://schemas.microsoft.com/office/drawing/2014/main" id="{C919A3B7-465A-D846-925A-B11548961749}"/>
              </a:ext>
            </a:extLst>
          </p:cNvPr>
          <p:cNvSpPr txBox="1"/>
          <p:nvPr/>
        </p:nvSpPr>
        <p:spPr>
          <a:xfrm>
            <a:off x="1601011" y="2101149"/>
            <a:ext cx="6096000" cy="523220"/>
          </a:xfrm>
          <a:prstGeom prst="rect">
            <a:avLst/>
          </a:prstGeom>
          <a:noFill/>
        </p:spPr>
        <p:txBody>
          <a:bodyPr wrap="square" rtlCol="0">
            <a:spAutoFit/>
          </a:bodyPr>
          <a:lstStyle/>
          <a:p>
            <a:pPr algn="ctr"/>
            <a:r>
              <a:rPr lang="en-US" sz="2800" dirty="0"/>
              <a:t>the cat </a:t>
            </a:r>
            <a:r>
              <a:rPr lang="en-US" sz="2800" dirty="0">
                <a:solidFill>
                  <a:srgbClr val="FF0000"/>
                </a:solidFill>
              </a:rPr>
              <a:t>(</a:t>
            </a:r>
            <a:r>
              <a:rPr lang="en-US" sz="2800" dirty="0"/>
              <a:t>on the bed </a:t>
            </a:r>
            <a:r>
              <a:rPr lang="en-US" sz="2800" dirty="0">
                <a:solidFill>
                  <a:srgbClr val="FF0000"/>
                </a:solidFill>
              </a:rPr>
              <a:t>(</a:t>
            </a:r>
            <a:r>
              <a:rPr lang="en-US" sz="2800" dirty="0"/>
              <a:t>in that room</a:t>
            </a:r>
            <a:r>
              <a:rPr lang="en-US" sz="2800" dirty="0">
                <a:solidFill>
                  <a:srgbClr val="FF0000"/>
                </a:solidFill>
              </a:rPr>
              <a:t>))</a:t>
            </a:r>
          </a:p>
        </p:txBody>
      </p:sp>
    </p:spTree>
    <p:extLst>
      <p:ext uri="{BB962C8B-B14F-4D97-AF65-F5344CB8AC3E}">
        <p14:creationId xmlns:p14="http://schemas.microsoft.com/office/powerpoint/2010/main" val="22373400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p:bldP spid="7" grpId="0" bldLvl="5"/>
      <p:bldP spid="8" grpId="0"/>
      <p:bldP spid="11" grpId="0"/>
      <p:bldP spid="12"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2BA2E-C6DD-CE45-92F4-ACBBD4C28037}"/>
              </a:ext>
            </a:extLst>
          </p:cNvPr>
          <p:cNvSpPr>
            <a:spLocks noGrp="1"/>
          </p:cNvSpPr>
          <p:nvPr>
            <p:ph type="title"/>
          </p:nvPr>
        </p:nvSpPr>
        <p:spPr/>
        <p:txBody>
          <a:bodyPr/>
          <a:lstStyle/>
          <a:p>
            <a:r>
              <a:rPr lang="en-US" dirty="0"/>
              <a:t>But what </a:t>
            </a:r>
            <a:r>
              <a:rPr lang="en-US" i="1" dirty="0"/>
              <a:t>can't</a:t>
            </a:r>
            <a:r>
              <a:rPr lang="en-US" dirty="0"/>
              <a:t> they do?</a:t>
            </a:r>
          </a:p>
        </p:txBody>
      </p:sp>
      <p:sp>
        <p:nvSpPr>
          <p:cNvPr id="3" name="Content Placeholder 2">
            <a:extLst>
              <a:ext uri="{FF2B5EF4-FFF2-40B4-BE49-F238E27FC236}">
                <a16:creationId xmlns:a16="http://schemas.microsoft.com/office/drawing/2014/main" id="{EFF7B6C9-B210-024D-8974-0644467B62D2}"/>
              </a:ext>
            </a:extLst>
          </p:cNvPr>
          <p:cNvSpPr>
            <a:spLocks noGrp="1"/>
          </p:cNvSpPr>
          <p:nvPr>
            <p:ph idx="1"/>
          </p:nvPr>
        </p:nvSpPr>
        <p:spPr>
          <a:xfrm>
            <a:off x="152400" y="495301"/>
            <a:ext cx="8991600" cy="2819399"/>
          </a:xfrm>
        </p:spPr>
        <p:txBody>
          <a:bodyPr/>
          <a:lstStyle/>
          <a:p>
            <a:r>
              <a:rPr lang="en-US" dirty="0"/>
              <a:t>there are </a:t>
            </a:r>
            <a:r>
              <a:rPr lang="en-US" i="1" dirty="0"/>
              <a:t>a lot</a:t>
            </a:r>
            <a:r>
              <a:rPr lang="en-US" dirty="0"/>
              <a:t> of kinds of languages they can't represent.</a:t>
            </a:r>
          </a:p>
          <a:p>
            <a:r>
              <a:rPr lang="en-US" dirty="0"/>
              <a:t>but for most </a:t>
            </a:r>
            <a:r>
              <a:rPr lang="en-US" b="1" i="1" dirty="0"/>
              <a:t>computer</a:t>
            </a:r>
            <a:r>
              <a:rPr lang="en-US" dirty="0"/>
              <a:t> languages, this isn't really a problem.</a:t>
            </a:r>
          </a:p>
          <a:p>
            <a:r>
              <a:rPr lang="en-US" dirty="0"/>
              <a:t>unlike natural human languages, computer languages…</a:t>
            </a:r>
          </a:p>
          <a:p>
            <a:pPr lvl="1"/>
            <a:r>
              <a:rPr lang="en-US" dirty="0"/>
              <a:t>are </a:t>
            </a:r>
            <a:r>
              <a:rPr lang="en-US" b="1" dirty="0"/>
              <a:t>designed up front,</a:t>
            </a:r>
            <a:r>
              <a:rPr lang="en-US" dirty="0"/>
              <a:t> rather than emerging naturally</a:t>
            </a:r>
          </a:p>
          <a:p>
            <a:pPr lvl="1"/>
            <a:r>
              <a:rPr lang="en-US" dirty="0"/>
              <a:t>are meant to be </a:t>
            </a:r>
            <a:r>
              <a:rPr lang="en-US" b="1" dirty="0"/>
              <a:t>unambiguous</a:t>
            </a:r>
          </a:p>
          <a:p>
            <a:pPr lvl="1"/>
            <a:r>
              <a:rPr lang="en-US" dirty="0"/>
              <a:t>are meant to be </a:t>
            </a:r>
            <a:r>
              <a:rPr lang="en-US" b="1" dirty="0"/>
              <a:t>easy to read and maintain</a:t>
            </a:r>
          </a:p>
          <a:p>
            <a:r>
              <a:rPr lang="en-US" dirty="0"/>
              <a:t>so something simpler than human languages is a good thing.</a:t>
            </a:r>
          </a:p>
          <a:p>
            <a:r>
              <a:rPr lang="en-US" dirty="0"/>
              <a:t>THERE'S STILL THIS THING THOUGH</a:t>
            </a:r>
          </a:p>
        </p:txBody>
      </p:sp>
      <p:sp>
        <p:nvSpPr>
          <p:cNvPr id="4" name="Slide Number Placeholder 3">
            <a:extLst>
              <a:ext uri="{FF2B5EF4-FFF2-40B4-BE49-F238E27FC236}">
                <a16:creationId xmlns:a16="http://schemas.microsoft.com/office/drawing/2014/main" id="{7C3314ED-D766-BD44-B9D0-AD8D276F3006}"/>
              </a:ext>
            </a:extLst>
          </p:cNvPr>
          <p:cNvSpPr>
            <a:spLocks noGrp="1"/>
          </p:cNvSpPr>
          <p:nvPr>
            <p:ph type="sldNum" sz="quarter" idx="12"/>
          </p:nvPr>
        </p:nvSpPr>
        <p:spPr/>
        <p:txBody>
          <a:bodyPr/>
          <a:lstStyle/>
          <a:p>
            <a:fld id="{3552B95B-556F-44BD-91A5-D80C1B9E2BB3}" type="slidenum">
              <a:rPr lang="en-US" smtClean="0"/>
              <a:pPr/>
              <a:t>8</a:t>
            </a:fld>
            <a:endParaRPr lang="en-US"/>
          </a:p>
        </p:txBody>
      </p:sp>
      <p:sp>
        <p:nvSpPr>
          <p:cNvPr id="5" name="TextBox 4">
            <a:extLst>
              <a:ext uri="{FF2B5EF4-FFF2-40B4-BE49-F238E27FC236}">
                <a16:creationId xmlns:a16="http://schemas.microsoft.com/office/drawing/2014/main" id="{6474C17F-CF4F-154A-ABDA-8AA0DD3A4182}"/>
              </a:ext>
            </a:extLst>
          </p:cNvPr>
          <p:cNvSpPr txBox="1"/>
          <p:nvPr/>
        </p:nvSpPr>
        <p:spPr>
          <a:xfrm>
            <a:off x="304800" y="3695700"/>
            <a:ext cx="3810000" cy="830997"/>
          </a:xfrm>
          <a:prstGeom prst="rect">
            <a:avLst/>
          </a:prstGeom>
          <a:noFill/>
        </p:spPr>
        <p:txBody>
          <a:bodyPr wrap="square" rtlCol="0">
            <a:spAutoFit/>
          </a:bodyPr>
          <a:lstStyle/>
          <a:p>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y = x &gt;&gt; </a:t>
            </a:r>
            <a:r>
              <a:rPr lang="en-US" sz="2400" b="1" dirty="0">
                <a:solidFill>
                  <a:schemeClr val="accent3">
                    <a:lumMod val="75000"/>
                  </a:schemeClr>
                </a:solidFill>
                <a:latin typeface="Consolas" panose="020B0609020204030204" pitchFamily="49" charset="0"/>
                <a:cs typeface="Consolas" panose="020B0609020204030204" pitchFamily="49" charset="0"/>
              </a:rPr>
              <a:t>3</a:t>
            </a:r>
            <a:r>
              <a:rPr lang="en-US" sz="2400" b="1" dirty="0">
                <a:latin typeface="Consolas" panose="020B0609020204030204" pitchFamily="49" charset="0"/>
                <a:cs typeface="Consolas" panose="020B0609020204030204" pitchFamily="49" charset="0"/>
              </a:rPr>
              <a:t>;</a:t>
            </a:r>
          </a:p>
          <a:p>
            <a:r>
              <a:rPr lang="en-US" sz="2400" b="1" dirty="0">
                <a:latin typeface="Consolas" panose="020B0609020204030204" pitchFamily="49" charset="0"/>
                <a:cs typeface="Consolas" panose="020B0609020204030204" pitchFamily="49" charset="0"/>
              </a:rPr>
              <a:t>List&lt;List&lt;String&gt;&gt; l;</a:t>
            </a:r>
          </a:p>
        </p:txBody>
      </p:sp>
      <p:sp>
        <p:nvSpPr>
          <p:cNvPr id="6" name="TextBox 5">
            <a:extLst>
              <a:ext uri="{FF2B5EF4-FFF2-40B4-BE49-F238E27FC236}">
                <a16:creationId xmlns:a16="http://schemas.microsoft.com/office/drawing/2014/main" id="{2F38A8D6-1A09-604D-838A-577D81284656}"/>
              </a:ext>
            </a:extLst>
          </p:cNvPr>
          <p:cNvSpPr txBox="1"/>
          <p:nvPr/>
        </p:nvSpPr>
        <p:spPr>
          <a:xfrm>
            <a:off x="4114800" y="3331723"/>
            <a:ext cx="4925060" cy="1785104"/>
          </a:xfrm>
          <a:prstGeom prst="rect">
            <a:avLst/>
          </a:prstGeom>
          <a:noFill/>
        </p:spPr>
        <p:txBody>
          <a:bodyPr wrap="square" rtlCol="0">
            <a:spAutoFit/>
          </a:bodyPr>
          <a:lstStyle/>
          <a:p>
            <a:pPr algn="ctr"/>
            <a:r>
              <a:rPr lang="en-US" sz="2200" dirty="0"/>
              <a:t>to properly parse this requires a </a:t>
            </a:r>
            <a:r>
              <a:rPr lang="en-US" sz="2200" b="1" dirty="0"/>
              <a:t>context-sensitive</a:t>
            </a:r>
            <a:r>
              <a:rPr lang="en-US" sz="2200" b="1" i="1" dirty="0"/>
              <a:t> </a:t>
            </a:r>
            <a:r>
              <a:rPr lang="en-US" sz="2200" b="1" dirty="0"/>
              <a:t>grammar (CSG)…</a:t>
            </a:r>
            <a:r>
              <a:rPr lang="en-US" sz="2200" dirty="0"/>
              <a:t> but the ambiguity here is simple enough that we can fake it using a CFG and some parsing kludges.</a:t>
            </a:r>
          </a:p>
        </p:txBody>
      </p:sp>
    </p:spTree>
    <p:extLst>
      <p:ext uri="{BB962C8B-B14F-4D97-AF65-F5344CB8AC3E}">
        <p14:creationId xmlns:p14="http://schemas.microsoft.com/office/powerpoint/2010/main" val="29699357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479A4-5327-A04D-BBC0-6E1BD8F46252}"/>
              </a:ext>
            </a:extLst>
          </p:cNvPr>
          <p:cNvSpPr>
            <a:spLocks noGrp="1"/>
          </p:cNvSpPr>
          <p:nvPr>
            <p:ph type="ctrTitle"/>
          </p:nvPr>
        </p:nvSpPr>
        <p:spPr/>
        <p:txBody>
          <a:bodyPr/>
          <a:lstStyle/>
          <a:p>
            <a:r>
              <a:rPr lang="en-US" dirty="0"/>
              <a:t>ASTs</a:t>
            </a:r>
          </a:p>
        </p:txBody>
      </p:sp>
      <p:sp>
        <p:nvSpPr>
          <p:cNvPr id="3" name="Slide Number Placeholder 2">
            <a:extLst>
              <a:ext uri="{FF2B5EF4-FFF2-40B4-BE49-F238E27FC236}">
                <a16:creationId xmlns:a16="http://schemas.microsoft.com/office/drawing/2014/main" id="{10ABFB29-6B3A-494E-99D9-F8C4F014EEB2}"/>
              </a:ext>
            </a:extLst>
          </p:cNvPr>
          <p:cNvSpPr>
            <a:spLocks noGrp="1"/>
          </p:cNvSpPr>
          <p:nvPr>
            <p:ph type="sldNum" sz="quarter" idx="12"/>
          </p:nvPr>
        </p:nvSpPr>
        <p:spPr/>
        <p:txBody>
          <a:bodyPr/>
          <a:lstStyle/>
          <a:p>
            <a:fld id="{3552B95B-556F-44BD-91A5-D80C1B9E2BB3}" type="slidenum">
              <a:rPr lang="en-US" smtClean="0"/>
              <a:pPr/>
              <a:t>9</a:t>
            </a:fld>
            <a:endParaRPr lang="en-US"/>
          </a:p>
        </p:txBody>
      </p:sp>
    </p:spTree>
    <p:extLst>
      <p:ext uri="{BB962C8B-B14F-4D97-AF65-F5344CB8AC3E}">
        <p14:creationId xmlns:p14="http://schemas.microsoft.com/office/powerpoint/2010/main" val="67510991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234A9-5F80-584C-8944-6BFA51BD891B}"/>
              </a:ext>
            </a:extLst>
          </p:cNvPr>
          <p:cNvSpPr>
            <a:spLocks noGrp="1"/>
          </p:cNvSpPr>
          <p:nvPr>
            <p:ph type="title"/>
          </p:nvPr>
        </p:nvSpPr>
        <p:spPr/>
        <p:txBody>
          <a:bodyPr/>
          <a:lstStyle/>
          <a:p>
            <a:r>
              <a:rPr lang="en-US" dirty="0"/>
              <a:t>From lexical to syntactic</a:t>
            </a:r>
          </a:p>
        </p:txBody>
      </p:sp>
      <p:sp>
        <p:nvSpPr>
          <p:cNvPr id="3" name="Content Placeholder 2">
            <a:extLst>
              <a:ext uri="{FF2B5EF4-FFF2-40B4-BE49-F238E27FC236}">
                <a16:creationId xmlns:a16="http://schemas.microsoft.com/office/drawing/2014/main" id="{1C1E109A-A2F8-B14F-9ED1-AD0B142D88C1}"/>
              </a:ext>
            </a:extLst>
          </p:cNvPr>
          <p:cNvSpPr>
            <a:spLocks noGrp="1"/>
          </p:cNvSpPr>
          <p:nvPr>
            <p:ph idx="1"/>
          </p:nvPr>
        </p:nvSpPr>
        <p:spPr>
          <a:xfrm>
            <a:off x="152400" y="495301"/>
            <a:ext cx="8991600" cy="1142999"/>
          </a:xfrm>
        </p:spPr>
        <p:txBody>
          <a:bodyPr/>
          <a:lstStyle/>
          <a:p>
            <a:r>
              <a:rPr lang="en-US" dirty="0"/>
              <a:t>the lexer was responsible for splitting the source into "words."</a:t>
            </a:r>
          </a:p>
          <a:p>
            <a:r>
              <a:rPr lang="en-US" dirty="0"/>
              <a:t>the </a:t>
            </a:r>
            <a:r>
              <a:rPr lang="en-US" b="1" dirty="0"/>
              <a:t>parser</a:t>
            </a:r>
            <a:r>
              <a:rPr lang="en-US" dirty="0"/>
              <a:t> looks at those words and extracts the </a:t>
            </a:r>
            <a:r>
              <a:rPr lang="en-US" b="1" dirty="0"/>
              <a:t>syntactic structure </a:t>
            </a:r>
            <a:r>
              <a:rPr lang="en-US" dirty="0"/>
              <a:t>from them, building a tree representation of your program.</a:t>
            </a:r>
          </a:p>
        </p:txBody>
      </p:sp>
      <p:sp>
        <p:nvSpPr>
          <p:cNvPr id="4" name="Slide Number Placeholder 3">
            <a:extLst>
              <a:ext uri="{FF2B5EF4-FFF2-40B4-BE49-F238E27FC236}">
                <a16:creationId xmlns:a16="http://schemas.microsoft.com/office/drawing/2014/main" id="{77B7940C-2AA5-5F42-BEFE-C3D9CD5A2437}"/>
              </a:ext>
            </a:extLst>
          </p:cNvPr>
          <p:cNvSpPr>
            <a:spLocks noGrp="1"/>
          </p:cNvSpPr>
          <p:nvPr>
            <p:ph type="sldNum" sz="quarter" idx="12"/>
          </p:nvPr>
        </p:nvSpPr>
        <p:spPr/>
        <p:txBody>
          <a:bodyPr/>
          <a:lstStyle/>
          <a:p>
            <a:fld id="{3552B95B-556F-44BD-91A5-D80C1B9E2BB3}" type="slidenum">
              <a:rPr lang="en-US" smtClean="0"/>
              <a:pPr/>
              <a:t>10</a:t>
            </a:fld>
            <a:endParaRPr lang="en-US"/>
          </a:p>
        </p:txBody>
      </p:sp>
      <p:grpSp>
        <p:nvGrpSpPr>
          <p:cNvPr id="17" name="Group 16">
            <a:extLst>
              <a:ext uri="{FF2B5EF4-FFF2-40B4-BE49-F238E27FC236}">
                <a16:creationId xmlns:a16="http://schemas.microsoft.com/office/drawing/2014/main" id="{1E2D6B8E-1D45-314B-AED8-C5B8089C1657}"/>
              </a:ext>
            </a:extLst>
          </p:cNvPr>
          <p:cNvGrpSpPr/>
          <p:nvPr/>
        </p:nvGrpSpPr>
        <p:grpSpPr>
          <a:xfrm>
            <a:off x="609600" y="1866898"/>
            <a:ext cx="7620000" cy="990602"/>
            <a:chOff x="457200" y="1866898"/>
            <a:chExt cx="7620000" cy="990602"/>
          </a:xfrm>
        </p:grpSpPr>
        <p:sp>
          <p:nvSpPr>
            <p:cNvPr id="5" name="Rectangle 4">
              <a:extLst>
                <a:ext uri="{FF2B5EF4-FFF2-40B4-BE49-F238E27FC236}">
                  <a16:creationId xmlns:a16="http://schemas.microsoft.com/office/drawing/2014/main" id="{15FB2240-A43D-9E4C-999A-7B623099379C}"/>
                </a:ext>
              </a:extLst>
            </p:cNvPr>
            <p:cNvSpPr/>
            <p:nvPr/>
          </p:nvSpPr>
          <p:spPr>
            <a:xfrm>
              <a:off x="2266950" y="1866899"/>
              <a:ext cx="1188722" cy="9906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Lexer</a:t>
              </a:r>
            </a:p>
          </p:txBody>
        </p:sp>
        <p:sp>
          <p:nvSpPr>
            <p:cNvPr id="6" name="TextBox 5">
              <a:extLst>
                <a:ext uri="{FF2B5EF4-FFF2-40B4-BE49-F238E27FC236}">
                  <a16:creationId xmlns:a16="http://schemas.microsoft.com/office/drawing/2014/main" id="{A04D406E-A675-D84F-8CBD-28128FBCB14E}"/>
                </a:ext>
              </a:extLst>
            </p:cNvPr>
            <p:cNvSpPr txBox="1"/>
            <p:nvPr/>
          </p:nvSpPr>
          <p:spPr>
            <a:xfrm>
              <a:off x="457200" y="1977478"/>
              <a:ext cx="1295400" cy="769441"/>
            </a:xfrm>
            <a:prstGeom prst="rect">
              <a:avLst/>
            </a:prstGeom>
            <a:noFill/>
          </p:spPr>
          <p:txBody>
            <a:bodyPr wrap="square" rtlCol="0">
              <a:spAutoFit/>
            </a:bodyPr>
            <a:lstStyle/>
            <a:p>
              <a:pPr algn="ctr"/>
              <a:r>
                <a:rPr lang="en-US" sz="2200" b="1" dirty="0"/>
                <a:t>source code</a:t>
              </a:r>
            </a:p>
          </p:txBody>
        </p:sp>
        <p:sp>
          <p:nvSpPr>
            <p:cNvPr id="7" name="Right Arrow 6">
              <a:extLst>
                <a:ext uri="{FF2B5EF4-FFF2-40B4-BE49-F238E27FC236}">
                  <a16:creationId xmlns:a16="http://schemas.microsoft.com/office/drawing/2014/main" id="{1FA42B78-767F-EB4F-947B-B36B23AD9AC1}"/>
                </a:ext>
              </a:extLst>
            </p:cNvPr>
            <p:cNvSpPr/>
            <p:nvPr/>
          </p:nvSpPr>
          <p:spPr>
            <a:xfrm>
              <a:off x="1752600" y="2179509"/>
              <a:ext cx="514350" cy="40011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76DC7D16-F983-F845-8B86-20ECD412F5F2}"/>
                </a:ext>
              </a:extLst>
            </p:cNvPr>
            <p:cNvSpPr/>
            <p:nvPr/>
          </p:nvSpPr>
          <p:spPr>
            <a:xfrm>
              <a:off x="3455672" y="2179509"/>
              <a:ext cx="514350" cy="40011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ED7A8C3-482A-6645-A3FC-C86B510130B5}"/>
                </a:ext>
              </a:extLst>
            </p:cNvPr>
            <p:cNvSpPr/>
            <p:nvPr/>
          </p:nvSpPr>
          <p:spPr>
            <a:xfrm>
              <a:off x="5566416" y="1866898"/>
              <a:ext cx="1188721" cy="990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Parser</a:t>
              </a:r>
            </a:p>
          </p:txBody>
        </p:sp>
        <p:sp>
          <p:nvSpPr>
            <p:cNvPr id="11" name="TextBox 10">
              <a:extLst>
                <a:ext uri="{FF2B5EF4-FFF2-40B4-BE49-F238E27FC236}">
                  <a16:creationId xmlns:a16="http://schemas.microsoft.com/office/drawing/2014/main" id="{4B3BDB51-6181-6B4F-945A-E79866250FBF}"/>
                </a:ext>
              </a:extLst>
            </p:cNvPr>
            <p:cNvSpPr txBox="1"/>
            <p:nvPr/>
          </p:nvSpPr>
          <p:spPr>
            <a:xfrm>
              <a:off x="3863344" y="2164120"/>
              <a:ext cx="1295400" cy="430887"/>
            </a:xfrm>
            <a:prstGeom prst="rect">
              <a:avLst/>
            </a:prstGeom>
            <a:noFill/>
          </p:spPr>
          <p:txBody>
            <a:bodyPr wrap="square" rtlCol="0">
              <a:spAutoFit/>
            </a:bodyPr>
            <a:lstStyle/>
            <a:p>
              <a:pPr algn="ctr"/>
              <a:r>
                <a:rPr lang="en-US" sz="2200" b="1" dirty="0"/>
                <a:t>tokens</a:t>
              </a:r>
            </a:p>
          </p:txBody>
        </p:sp>
        <p:sp>
          <p:nvSpPr>
            <p:cNvPr id="12" name="Right Arrow 11">
              <a:extLst>
                <a:ext uri="{FF2B5EF4-FFF2-40B4-BE49-F238E27FC236}">
                  <a16:creationId xmlns:a16="http://schemas.microsoft.com/office/drawing/2014/main" id="{156C9435-544F-E448-9D40-8822F58B0136}"/>
                </a:ext>
              </a:extLst>
            </p:cNvPr>
            <p:cNvSpPr/>
            <p:nvPr/>
          </p:nvSpPr>
          <p:spPr>
            <a:xfrm>
              <a:off x="5052066" y="2179509"/>
              <a:ext cx="514350" cy="40011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B736EEBF-8654-D84B-A744-EF3D3A3FB2AE}"/>
                </a:ext>
              </a:extLst>
            </p:cNvPr>
            <p:cNvSpPr/>
            <p:nvPr/>
          </p:nvSpPr>
          <p:spPr>
            <a:xfrm>
              <a:off x="6755137" y="2188988"/>
              <a:ext cx="514350" cy="40011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A5BF7E7-33EC-004F-BB7F-09FA52626D90}"/>
                </a:ext>
              </a:extLst>
            </p:cNvPr>
            <p:cNvSpPr txBox="1"/>
            <p:nvPr/>
          </p:nvSpPr>
          <p:spPr>
            <a:xfrm>
              <a:off x="7269487" y="2173599"/>
              <a:ext cx="807713" cy="430887"/>
            </a:xfrm>
            <a:prstGeom prst="rect">
              <a:avLst/>
            </a:prstGeom>
            <a:noFill/>
          </p:spPr>
          <p:txBody>
            <a:bodyPr wrap="square" rtlCol="0">
              <a:spAutoFit/>
            </a:bodyPr>
            <a:lstStyle/>
            <a:p>
              <a:pPr algn="ctr"/>
              <a:r>
                <a:rPr lang="en-US" sz="2200" b="1" dirty="0"/>
                <a:t>tree</a:t>
              </a:r>
            </a:p>
          </p:txBody>
        </p:sp>
      </p:grpSp>
      <p:sp>
        <p:nvSpPr>
          <p:cNvPr id="15" name="TextBox 14">
            <a:extLst>
              <a:ext uri="{FF2B5EF4-FFF2-40B4-BE49-F238E27FC236}">
                <a16:creationId xmlns:a16="http://schemas.microsoft.com/office/drawing/2014/main" id="{87D21323-CD0C-3A4F-8CDF-25E0CE54EE3D}"/>
              </a:ext>
            </a:extLst>
          </p:cNvPr>
          <p:cNvSpPr txBox="1"/>
          <p:nvPr/>
        </p:nvSpPr>
        <p:spPr>
          <a:xfrm>
            <a:off x="614680" y="3100541"/>
            <a:ext cx="7919720" cy="769441"/>
          </a:xfrm>
          <a:prstGeom prst="rect">
            <a:avLst/>
          </a:prstGeom>
          <a:noFill/>
        </p:spPr>
        <p:txBody>
          <a:bodyPr wrap="square" rtlCol="0">
            <a:spAutoFit/>
          </a:bodyPr>
          <a:lstStyle/>
          <a:p>
            <a:pPr algn="ctr"/>
            <a:r>
              <a:rPr lang="en-US" sz="2200" dirty="0"/>
              <a:t>the parser </a:t>
            </a:r>
            <a:r>
              <a:rPr lang="en-US" sz="1200" dirty="0"/>
              <a:t>typically</a:t>
            </a:r>
            <a:r>
              <a:rPr lang="en-US" sz="2200" dirty="0"/>
              <a:t> implements a CFG whose </a:t>
            </a:r>
            <a:r>
              <a:rPr lang="en-US" sz="2200" b="1" dirty="0"/>
              <a:t>alphabet </a:t>
            </a:r>
            <a:r>
              <a:rPr lang="en-US" sz="2200" dirty="0"/>
              <a:t>(the set of terminals) is the </a:t>
            </a:r>
            <a:r>
              <a:rPr lang="en-US" sz="2200" b="1" dirty="0"/>
              <a:t>tokens </a:t>
            </a:r>
            <a:r>
              <a:rPr lang="en-US" sz="2200" dirty="0"/>
              <a:t>that were produced by the parser.</a:t>
            </a:r>
          </a:p>
        </p:txBody>
      </p:sp>
      <p:sp>
        <p:nvSpPr>
          <p:cNvPr id="16" name="TextBox 15">
            <a:extLst>
              <a:ext uri="{FF2B5EF4-FFF2-40B4-BE49-F238E27FC236}">
                <a16:creationId xmlns:a16="http://schemas.microsoft.com/office/drawing/2014/main" id="{1AB4ED1E-E993-864E-9FD6-D1AFF1050B7B}"/>
              </a:ext>
            </a:extLst>
          </p:cNvPr>
          <p:cNvSpPr txBox="1"/>
          <p:nvPr/>
        </p:nvSpPr>
        <p:spPr>
          <a:xfrm>
            <a:off x="1012189" y="4100863"/>
            <a:ext cx="7119621" cy="769441"/>
          </a:xfrm>
          <a:prstGeom prst="rect">
            <a:avLst/>
          </a:prstGeom>
          <a:noFill/>
        </p:spPr>
        <p:txBody>
          <a:bodyPr wrap="square" rtlCol="0">
            <a:spAutoFit/>
          </a:bodyPr>
          <a:lstStyle/>
          <a:p>
            <a:pPr algn="ctr"/>
            <a:r>
              <a:rPr lang="en-US" sz="2200" dirty="0"/>
              <a:t>in doing so it checks your </a:t>
            </a:r>
            <a:r>
              <a:rPr lang="en-US" sz="2200" b="1" dirty="0"/>
              <a:t>syntax – </a:t>
            </a:r>
            <a:r>
              <a:rPr lang="en-US" sz="2200" dirty="0"/>
              <a:t>to make sure you wrote something that, well, </a:t>
            </a:r>
            <a:r>
              <a:rPr lang="en-US" sz="2200" i="1" dirty="0"/>
              <a:t>looks like</a:t>
            </a:r>
            <a:r>
              <a:rPr lang="en-US" sz="2200" dirty="0"/>
              <a:t> a program.</a:t>
            </a:r>
          </a:p>
        </p:txBody>
      </p:sp>
    </p:spTree>
    <p:extLst>
      <p:ext uri="{BB962C8B-B14F-4D97-AF65-F5344CB8AC3E}">
        <p14:creationId xmlns:p14="http://schemas.microsoft.com/office/powerpoint/2010/main" val="23891472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FF8A9-BA08-DF45-A1E0-DB7001A26AC7}"/>
              </a:ext>
            </a:extLst>
          </p:cNvPr>
          <p:cNvSpPr>
            <a:spLocks noGrp="1"/>
          </p:cNvSpPr>
          <p:nvPr>
            <p:ph type="title"/>
          </p:nvPr>
        </p:nvSpPr>
        <p:spPr/>
        <p:txBody>
          <a:bodyPr/>
          <a:lstStyle/>
          <a:p>
            <a:r>
              <a:rPr lang="en-US" dirty="0"/>
              <a:t>A tree of the syntax, which is abstract</a:t>
            </a:r>
          </a:p>
        </p:txBody>
      </p:sp>
      <p:sp>
        <p:nvSpPr>
          <p:cNvPr id="3" name="Content Placeholder 2">
            <a:extLst>
              <a:ext uri="{FF2B5EF4-FFF2-40B4-BE49-F238E27FC236}">
                <a16:creationId xmlns:a16="http://schemas.microsoft.com/office/drawing/2014/main" id="{86C60056-9D92-4145-8AAF-7616E59CCD65}"/>
              </a:ext>
            </a:extLst>
          </p:cNvPr>
          <p:cNvSpPr>
            <a:spLocks noGrp="1"/>
          </p:cNvSpPr>
          <p:nvPr>
            <p:ph idx="1"/>
          </p:nvPr>
        </p:nvSpPr>
        <p:spPr>
          <a:xfrm>
            <a:off x="152400" y="495301"/>
            <a:ext cx="8991600" cy="838199"/>
          </a:xfrm>
        </p:spPr>
        <p:txBody>
          <a:bodyPr/>
          <a:lstStyle/>
          <a:p>
            <a:r>
              <a:rPr lang="en-US" dirty="0"/>
              <a:t>the </a:t>
            </a:r>
            <a:r>
              <a:rPr lang="en-US" b="1" dirty="0"/>
              <a:t>abstract syntax tree (AST) </a:t>
            </a:r>
            <a:r>
              <a:rPr lang="en-US" dirty="0"/>
              <a:t>is the structure the parser builds.</a:t>
            </a:r>
            <a:endParaRPr lang="en-US" b="1" dirty="0"/>
          </a:p>
          <a:p>
            <a:r>
              <a:rPr lang="en-US" dirty="0"/>
              <a:t>trees are much easier to work with than lists of characters or tokens.</a:t>
            </a:r>
          </a:p>
        </p:txBody>
      </p:sp>
      <p:sp>
        <p:nvSpPr>
          <p:cNvPr id="4" name="Slide Number Placeholder 3">
            <a:extLst>
              <a:ext uri="{FF2B5EF4-FFF2-40B4-BE49-F238E27FC236}">
                <a16:creationId xmlns:a16="http://schemas.microsoft.com/office/drawing/2014/main" id="{121FA9D3-EE3D-1E44-9B4C-B9CA59796C4D}"/>
              </a:ext>
            </a:extLst>
          </p:cNvPr>
          <p:cNvSpPr>
            <a:spLocks noGrp="1"/>
          </p:cNvSpPr>
          <p:nvPr>
            <p:ph type="sldNum" sz="quarter" idx="12"/>
          </p:nvPr>
        </p:nvSpPr>
        <p:spPr/>
        <p:txBody>
          <a:bodyPr/>
          <a:lstStyle/>
          <a:p>
            <a:fld id="{3552B95B-556F-44BD-91A5-D80C1B9E2BB3}" type="slidenum">
              <a:rPr lang="en-US" smtClean="0"/>
              <a:pPr/>
              <a:t>11</a:t>
            </a:fld>
            <a:endParaRPr lang="en-US"/>
          </a:p>
        </p:txBody>
      </p:sp>
      <p:sp>
        <p:nvSpPr>
          <p:cNvPr id="78" name="TextBox 77">
            <a:extLst>
              <a:ext uri="{FF2B5EF4-FFF2-40B4-BE49-F238E27FC236}">
                <a16:creationId xmlns:a16="http://schemas.microsoft.com/office/drawing/2014/main" id="{7E079606-C759-D448-B63B-D146B3C86B64}"/>
              </a:ext>
            </a:extLst>
          </p:cNvPr>
          <p:cNvSpPr txBox="1"/>
          <p:nvPr/>
        </p:nvSpPr>
        <p:spPr>
          <a:xfrm>
            <a:off x="304800" y="1277951"/>
            <a:ext cx="3157917" cy="1077218"/>
          </a:xfrm>
          <a:prstGeom prst="rect">
            <a:avLst/>
          </a:prstGeom>
          <a:noFill/>
        </p:spPr>
        <p:txBody>
          <a:bodyPr wrap="square" rtlCol="0">
            <a:spAutoFit/>
          </a:bodyPr>
          <a:lstStyle/>
          <a:p>
            <a:r>
              <a:rPr lang="en-US" sz="3200" b="1" dirty="0">
                <a:solidFill>
                  <a:srgbClr val="FF0000"/>
                </a:solidFill>
                <a:latin typeface="Consolas" panose="020B0609020204030204" pitchFamily="49" charset="0"/>
                <a:cs typeface="Consolas" panose="020B0609020204030204" pitchFamily="49" charset="0"/>
              </a:rPr>
              <a:t>if</a:t>
            </a:r>
            <a:r>
              <a:rPr lang="en-US" sz="3200" b="1" dirty="0">
                <a:latin typeface="Consolas" panose="020B0609020204030204" pitchFamily="49" charset="0"/>
                <a:cs typeface="Consolas" panose="020B0609020204030204" pitchFamily="49" charset="0"/>
              </a:rPr>
              <a:t>(x) y(</a:t>
            </a:r>
            <a:r>
              <a:rPr lang="en-US" sz="3200" b="1" dirty="0">
                <a:solidFill>
                  <a:schemeClr val="accent3">
                    <a:lumMod val="75000"/>
                  </a:schemeClr>
                </a:solidFill>
                <a:latin typeface="Consolas" panose="020B0609020204030204" pitchFamily="49" charset="0"/>
                <a:cs typeface="Consolas" panose="020B0609020204030204" pitchFamily="49" charset="0"/>
              </a:rPr>
              <a:t>2</a:t>
            </a:r>
            <a:r>
              <a:rPr lang="en-US" sz="3200" b="1" dirty="0">
                <a:latin typeface="Consolas" panose="020B0609020204030204" pitchFamily="49" charset="0"/>
                <a:cs typeface="Consolas" panose="020B0609020204030204" pitchFamily="49" charset="0"/>
              </a:rPr>
              <a:t>);</a:t>
            </a:r>
          </a:p>
          <a:p>
            <a:r>
              <a:rPr lang="en-US" sz="3200" b="1" dirty="0">
                <a:solidFill>
                  <a:srgbClr val="FF0000"/>
                </a:solidFill>
                <a:latin typeface="Consolas" panose="020B0609020204030204" pitchFamily="49" charset="0"/>
                <a:cs typeface="Consolas" panose="020B0609020204030204" pitchFamily="49" charset="0"/>
              </a:rPr>
              <a:t>else</a:t>
            </a:r>
            <a:r>
              <a:rPr lang="en-US" sz="3200" b="1" dirty="0">
                <a:latin typeface="Consolas" panose="020B0609020204030204" pitchFamily="49" charset="0"/>
                <a:cs typeface="Consolas" panose="020B0609020204030204" pitchFamily="49" charset="0"/>
              </a:rPr>
              <a:t> </a:t>
            </a:r>
            <a:r>
              <a:rPr lang="en-US" sz="3200" b="1" dirty="0">
                <a:solidFill>
                  <a:srgbClr val="FF0000"/>
                </a:solidFill>
                <a:latin typeface="Consolas" panose="020B0609020204030204" pitchFamily="49" charset="0"/>
                <a:cs typeface="Consolas" panose="020B0609020204030204" pitchFamily="49" charset="0"/>
              </a:rPr>
              <a:t>return</a:t>
            </a:r>
            <a:r>
              <a:rPr lang="en-US" sz="3200" b="1" dirty="0">
                <a:latin typeface="Consolas" panose="020B0609020204030204" pitchFamily="49" charset="0"/>
                <a:cs typeface="Consolas" panose="020B0609020204030204" pitchFamily="49" charset="0"/>
              </a:rPr>
              <a:t>;</a:t>
            </a:r>
          </a:p>
        </p:txBody>
      </p:sp>
      <p:graphicFrame>
        <p:nvGraphicFramePr>
          <p:cNvPr id="10" name="Table 9">
            <a:extLst>
              <a:ext uri="{FF2B5EF4-FFF2-40B4-BE49-F238E27FC236}">
                <a16:creationId xmlns:a16="http://schemas.microsoft.com/office/drawing/2014/main" id="{1A7FB87B-0D69-C74F-A4DB-ADBFF23C48BE}"/>
              </a:ext>
            </a:extLst>
          </p:cNvPr>
          <p:cNvGraphicFramePr>
            <a:graphicFrameLocks noGrp="1"/>
          </p:cNvGraphicFramePr>
          <p:nvPr>
            <p:extLst/>
          </p:nvPr>
        </p:nvGraphicFramePr>
        <p:xfrm>
          <a:off x="4562348" y="1485900"/>
          <a:ext cx="1642427" cy="857680"/>
        </p:xfrm>
        <a:graphic>
          <a:graphicData uri="http://schemas.openxmlformats.org/drawingml/2006/table">
            <a:tbl>
              <a:tblPr firstRow="1">
                <a:tableStyleId>{F5AB1C69-6EDB-4FF4-983F-18BD219EF322}</a:tableStyleId>
              </a:tblPr>
              <a:tblGrid>
                <a:gridCol w="775017">
                  <a:extLst>
                    <a:ext uri="{9D8B030D-6E8A-4147-A177-3AD203B41FA5}">
                      <a16:colId xmlns:a16="http://schemas.microsoft.com/office/drawing/2014/main" val="2725398507"/>
                    </a:ext>
                  </a:extLst>
                </a:gridCol>
                <a:gridCol w="433705">
                  <a:extLst>
                    <a:ext uri="{9D8B030D-6E8A-4147-A177-3AD203B41FA5}">
                      <a16:colId xmlns:a16="http://schemas.microsoft.com/office/drawing/2014/main" val="2193986552"/>
                    </a:ext>
                  </a:extLst>
                </a:gridCol>
                <a:gridCol w="433705">
                  <a:extLst>
                    <a:ext uri="{9D8B030D-6E8A-4147-A177-3AD203B41FA5}">
                      <a16:colId xmlns:a16="http://schemas.microsoft.com/office/drawing/2014/main" val="271094045"/>
                    </a:ext>
                  </a:extLst>
                </a:gridCol>
              </a:tblGrid>
              <a:tr h="428840">
                <a:tc gridSpan="3">
                  <a:txBody>
                    <a:bodyPr/>
                    <a:lstStyle/>
                    <a:p>
                      <a:pPr algn="ctr"/>
                      <a:r>
                        <a:rPr lang="en-US" sz="1800" dirty="0" err="1">
                          <a:latin typeface="Consolas" panose="020B0609020204030204" pitchFamily="49" charset="0"/>
                          <a:cs typeface="Consolas" panose="020B0609020204030204" pitchFamily="49" charset="0"/>
                        </a:rPr>
                        <a:t>IfElseStmt</a:t>
                      </a:r>
                      <a:endParaRPr lang="en-US" sz="1800" b="1" dirty="0">
                        <a:latin typeface="Consolas" panose="020B0609020204030204" pitchFamily="49" charset="0"/>
                        <a:cs typeface="Consolas" panose="020B0609020204030204" pitchFamily="49" charset="0"/>
                      </a:endParaRP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969804268"/>
                  </a:ext>
                </a:extLst>
              </a:tr>
              <a:tr h="428840">
                <a:tc>
                  <a:txBody>
                    <a:bodyPr/>
                    <a:lstStyle/>
                    <a:p>
                      <a:pPr algn="ctr"/>
                      <a:r>
                        <a:rPr lang="en-US" sz="1800" b="1" dirty="0" err="1">
                          <a:latin typeface="Consolas" panose="020B0609020204030204" pitchFamily="49" charset="0"/>
                          <a:cs typeface="Consolas" panose="020B0609020204030204" pitchFamily="49" charset="0"/>
                        </a:rPr>
                        <a:t>cond</a:t>
                      </a:r>
                      <a:endParaRPr lang="en-US" sz="1800" b="1" dirty="0">
                        <a:latin typeface="Consolas" panose="020B0609020204030204" pitchFamily="49" charset="0"/>
                        <a:cs typeface="Consolas" panose="020B0609020204030204" pitchFamily="49" charset="0"/>
                      </a:endParaRPr>
                    </a:p>
                  </a:txBody>
                  <a:tcPr/>
                </a:tc>
                <a:tc>
                  <a:txBody>
                    <a:bodyPr/>
                    <a:lstStyle/>
                    <a:p>
                      <a:pPr algn="ctr"/>
                      <a:r>
                        <a:rPr lang="en-US" sz="1800" b="1" dirty="0">
                          <a:latin typeface="Consolas" panose="020B0609020204030204" pitchFamily="49" charset="0"/>
                          <a:cs typeface="Consolas" panose="020B0609020204030204" pitchFamily="49" charset="0"/>
                        </a:rPr>
                        <a:t>T</a:t>
                      </a:r>
                    </a:p>
                  </a:txBody>
                  <a:tcPr/>
                </a:tc>
                <a:tc>
                  <a:txBody>
                    <a:bodyPr/>
                    <a:lstStyle/>
                    <a:p>
                      <a:pPr algn="ctr"/>
                      <a:r>
                        <a:rPr lang="en-US" sz="1800" b="1" dirty="0">
                          <a:latin typeface="Consolas" panose="020B0609020204030204" pitchFamily="49" charset="0"/>
                          <a:cs typeface="Consolas" panose="020B0609020204030204" pitchFamily="49" charset="0"/>
                        </a:rPr>
                        <a:t>F</a:t>
                      </a:r>
                    </a:p>
                  </a:txBody>
                  <a:tcPr/>
                </a:tc>
                <a:extLst>
                  <a:ext uri="{0D108BD9-81ED-4DB2-BD59-A6C34878D82A}">
                    <a16:rowId xmlns:a16="http://schemas.microsoft.com/office/drawing/2014/main" val="1383516035"/>
                  </a:ext>
                </a:extLst>
              </a:tr>
            </a:tbl>
          </a:graphicData>
        </a:graphic>
      </p:graphicFrame>
      <p:graphicFrame>
        <p:nvGraphicFramePr>
          <p:cNvPr id="95" name="Table 94">
            <a:extLst>
              <a:ext uri="{FF2B5EF4-FFF2-40B4-BE49-F238E27FC236}">
                <a16:creationId xmlns:a16="http://schemas.microsoft.com/office/drawing/2014/main" id="{AB920D55-4107-544A-B2BE-F986B91591F3}"/>
              </a:ext>
            </a:extLst>
          </p:cNvPr>
          <p:cNvGraphicFramePr>
            <a:graphicFrameLocks noGrp="1"/>
          </p:cNvGraphicFramePr>
          <p:nvPr>
            <p:extLst/>
          </p:nvPr>
        </p:nvGraphicFramePr>
        <p:xfrm>
          <a:off x="2209800" y="2734909"/>
          <a:ext cx="1519618" cy="857680"/>
        </p:xfrm>
        <a:graphic>
          <a:graphicData uri="http://schemas.openxmlformats.org/drawingml/2006/table">
            <a:tbl>
              <a:tblPr firstRow="1">
                <a:tableStyleId>{93296810-A885-4BE3-A3E7-6D5BEEA58F35}</a:tableStyleId>
              </a:tblPr>
              <a:tblGrid>
                <a:gridCol w="840105">
                  <a:extLst>
                    <a:ext uri="{9D8B030D-6E8A-4147-A177-3AD203B41FA5}">
                      <a16:colId xmlns:a16="http://schemas.microsoft.com/office/drawing/2014/main" val="2725398507"/>
                    </a:ext>
                  </a:extLst>
                </a:gridCol>
                <a:gridCol w="679513">
                  <a:extLst>
                    <a:ext uri="{9D8B030D-6E8A-4147-A177-3AD203B41FA5}">
                      <a16:colId xmlns:a16="http://schemas.microsoft.com/office/drawing/2014/main" val="2193986552"/>
                    </a:ext>
                  </a:extLst>
                </a:gridCol>
              </a:tblGrid>
              <a:tr h="428840">
                <a:tc gridSpan="2">
                  <a:txBody>
                    <a:bodyPr/>
                    <a:lstStyle/>
                    <a:p>
                      <a:pPr algn="ctr"/>
                      <a:r>
                        <a:rPr lang="en-US" sz="1800" b="1" dirty="0" err="1">
                          <a:latin typeface="Consolas" panose="020B0609020204030204" pitchFamily="49" charset="0"/>
                          <a:cs typeface="Consolas" panose="020B0609020204030204" pitchFamily="49" charset="0"/>
                        </a:rPr>
                        <a:t>IdentExp</a:t>
                      </a:r>
                      <a:endParaRPr lang="en-US" sz="1800" b="1" dirty="0">
                        <a:latin typeface="Consolas" panose="020B0609020204030204" pitchFamily="49" charset="0"/>
                        <a:cs typeface="Consolas" panose="020B0609020204030204" pitchFamily="49" charset="0"/>
                      </a:endParaRPr>
                    </a:p>
                  </a:txBody>
                  <a:tcPr/>
                </a:tc>
                <a:tc hMerge="1">
                  <a:txBody>
                    <a:bodyPr/>
                    <a:lstStyle/>
                    <a:p>
                      <a:endParaRPr lang="en-US" dirty="0"/>
                    </a:p>
                  </a:txBody>
                  <a:tcPr/>
                </a:tc>
                <a:extLst>
                  <a:ext uri="{0D108BD9-81ED-4DB2-BD59-A6C34878D82A}">
                    <a16:rowId xmlns:a16="http://schemas.microsoft.com/office/drawing/2014/main" val="2969804268"/>
                  </a:ext>
                </a:extLst>
              </a:tr>
              <a:tr h="428840">
                <a:tc>
                  <a:txBody>
                    <a:bodyPr/>
                    <a:lstStyle/>
                    <a:p>
                      <a:pPr algn="ctr"/>
                      <a:r>
                        <a:rPr lang="en-US" sz="1800" b="1" dirty="0">
                          <a:latin typeface="Consolas" panose="020B0609020204030204" pitchFamily="49" charset="0"/>
                          <a:cs typeface="Consolas" panose="020B0609020204030204" pitchFamily="49" charset="0"/>
                        </a:rPr>
                        <a:t>name</a:t>
                      </a:r>
                    </a:p>
                  </a:txBody>
                  <a:tcPr/>
                </a:tc>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"x"</a:t>
                      </a:r>
                    </a:p>
                  </a:txBody>
                  <a:tcPr/>
                </a:tc>
                <a:extLst>
                  <a:ext uri="{0D108BD9-81ED-4DB2-BD59-A6C34878D82A}">
                    <a16:rowId xmlns:a16="http://schemas.microsoft.com/office/drawing/2014/main" val="1383516035"/>
                  </a:ext>
                </a:extLst>
              </a:tr>
            </a:tbl>
          </a:graphicData>
        </a:graphic>
      </p:graphicFrame>
      <p:graphicFrame>
        <p:nvGraphicFramePr>
          <p:cNvPr id="96" name="Table 95">
            <a:extLst>
              <a:ext uri="{FF2B5EF4-FFF2-40B4-BE49-F238E27FC236}">
                <a16:creationId xmlns:a16="http://schemas.microsoft.com/office/drawing/2014/main" id="{5EAB32B5-E3DA-914C-96AD-BC0279175F8C}"/>
              </a:ext>
            </a:extLst>
          </p:cNvPr>
          <p:cNvGraphicFramePr>
            <a:graphicFrameLocks noGrp="1"/>
          </p:cNvGraphicFramePr>
          <p:nvPr>
            <p:extLst/>
          </p:nvPr>
        </p:nvGraphicFramePr>
        <p:xfrm>
          <a:off x="4322794" y="2734909"/>
          <a:ext cx="2121534" cy="857680"/>
        </p:xfrm>
        <a:graphic>
          <a:graphicData uri="http://schemas.openxmlformats.org/drawingml/2006/table">
            <a:tbl>
              <a:tblPr firstRow="1">
                <a:tableStyleId>{93296810-A885-4BE3-A3E7-6D5BEEA58F35}</a:tableStyleId>
              </a:tblPr>
              <a:tblGrid>
                <a:gridCol w="1060767">
                  <a:extLst>
                    <a:ext uri="{9D8B030D-6E8A-4147-A177-3AD203B41FA5}">
                      <a16:colId xmlns:a16="http://schemas.microsoft.com/office/drawing/2014/main" val="2725398507"/>
                    </a:ext>
                  </a:extLst>
                </a:gridCol>
                <a:gridCol w="1060767">
                  <a:extLst>
                    <a:ext uri="{9D8B030D-6E8A-4147-A177-3AD203B41FA5}">
                      <a16:colId xmlns:a16="http://schemas.microsoft.com/office/drawing/2014/main" val="2193986552"/>
                    </a:ext>
                  </a:extLst>
                </a:gridCol>
              </a:tblGrid>
              <a:tr h="428840">
                <a:tc gridSpan="2">
                  <a:txBody>
                    <a:bodyPr/>
                    <a:lstStyle/>
                    <a:p>
                      <a:pPr algn="ctr"/>
                      <a:r>
                        <a:rPr lang="en-US" sz="1800" b="1" dirty="0" err="1">
                          <a:latin typeface="Consolas" panose="020B0609020204030204" pitchFamily="49" charset="0"/>
                          <a:cs typeface="Consolas" panose="020B0609020204030204" pitchFamily="49" charset="0"/>
                        </a:rPr>
                        <a:t>CallExp</a:t>
                      </a:r>
                      <a:endParaRPr lang="en-US" sz="1800" b="1" dirty="0">
                        <a:latin typeface="Consolas" panose="020B0609020204030204" pitchFamily="49" charset="0"/>
                        <a:cs typeface="Consolas" panose="020B0609020204030204" pitchFamily="49" charset="0"/>
                      </a:endParaRPr>
                    </a:p>
                  </a:txBody>
                  <a:tcPr/>
                </a:tc>
                <a:tc hMerge="1">
                  <a:txBody>
                    <a:bodyPr/>
                    <a:lstStyle/>
                    <a:p>
                      <a:endParaRPr lang="en-US" dirty="0"/>
                    </a:p>
                  </a:txBody>
                  <a:tcPr/>
                </a:tc>
                <a:extLst>
                  <a:ext uri="{0D108BD9-81ED-4DB2-BD59-A6C34878D82A}">
                    <a16:rowId xmlns:a16="http://schemas.microsoft.com/office/drawing/2014/main" val="2969804268"/>
                  </a:ext>
                </a:extLst>
              </a:tr>
              <a:tr h="428840">
                <a:tc>
                  <a:txBody>
                    <a:bodyPr/>
                    <a:lstStyle/>
                    <a:p>
                      <a:pPr algn="ctr"/>
                      <a:r>
                        <a:rPr lang="en-US" sz="1800" b="1" dirty="0">
                          <a:latin typeface="Consolas" panose="020B0609020204030204" pitchFamily="49" charset="0"/>
                          <a:cs typeface="Consolas" panose="020B0609020204030204" pitchFamily="49" charset="0"/>
                        </a:rPr>
                        <a:t>callee</a:t>
                      </a:r>
                    </a:p>
                  </a:txBody>
                  <a:tcPr/>
                </a:tc>
                <a:tc>
                  <a:txBody>
                    <a:bodyPr/>
                    <a:lstStyle/>
                    <a:p>
                      <a:pPr algn="ctr"/>
                      <a:r>
                        <a:rPr lang="en-US" sz="1800" b="1" dirty="0" err="1">
                          <a:latin typeface="Consolas" panose="020B0609020204030204" pitchFamily="49" charset="0"/>
                          <a:cs typeface="Consolas" panose="020B0609020204030204" pitchFamily="49" charset="0"/>
                        </a:rPr>
                        <a:t>args</a:t>
                      </a:r>
                      <a:r>
                        <a:rPr lang="en-US" sz="1800" b="1" dirty="0">
                          <a:latin typeface="Consolas" panose="020B0609020204030204" pitchFamily="49" charset="0"/>
                          <a:cs typeface="Consolas" panose="020B0609020204030204" pitchFamily="49" charset="0"/>
                        </a:rPr>
                        <a:t>[]</a:t>
                      </a:r>
                    </a:p>
                  </a:txBody>
                  <a:tcPr/>
                </a:tc>
                <a:extLst>
                  <a:ext uri="{0D108BD9-81ED-4DB2-BD59-A6C34878D82A}">
                    <a16:rowId xmlns:a16="http://schemas.microsoft.com/office/drawing/2014/main" val="1383516035"/>
                  </a:ext>
                </a:extLst>
              </a:tr>
            </a:tbl>
          </a:graphicData>
        </a:graphic>
      </p:graphicFrame>
      <p:graphicFrame>
        <p:nvGraphicFramePr>
          <p:cNvPr id="97" name="Table 96">
            <a:extLst>
              <a:ext uri="{FF2B5EF4-FFF2-40B4-BE49-F238E27FC236}">
                <a16:creationId xmlns:a16="http://schemas.microsoft.com/office/drawing/2014/main" id="{36696488-AC44-2645-9FA6-553057F383E3}"/>
              </a:ext>
            </a:extLst>
          </p:cNvPr>
          <p:cNvGraphicFramePr>
            <a:graphicFrameLocks noGrp="1"/>
          </p:cNvGraphicFramePr>
          <p:nvPr>
            <p:extLst/>
          </p:nvPr>
        </p:nvGraphicFramePr>
        <p:xfrm>
          <a:off x="3729418" y="4180279"/>
          <a:ext cx="1519618" cy="857680"/>
        </p:xfrm>
        <a:graphic>
          <a:graphicData uri="http://schemas.openxmlformats.org/drawingml/2006/table">
            <a:tbl>
              <a:tblPr firstRow="1">
                <a:tableStyleId>{93296810-A885-4BE3-A3E7-6D5BEEA58F35}</a:tableStyleId>
              </a:tblPr>
              <a:tblGrid>
                <a:gridCol w="840105">
                  <a:extLst>
                    <a:ext uri="{9D8B030D-6E8A-4147-A177-3AD203B41FA5}">
                      <a16:colId xmlns:a16="http://schemas.microsoft.com/office/drawing/2014/main" val="2725398507"/>
                    </a:ext>
                  </a:extLst>
                </a:gridCol>
                <a:gridCol w="679513">
                  <a:extLst>
                    <a:ext uri="{9D8B030D-6E8A-4147-A177-3AD203B41FA5}">
                      <a16:colId xmlns:a16="http://schemas.microsoft.com/office/drawing/2014/main" val="2193986552"/>
                    </a:ext>
                  </a:extLst>
                </a:gridCol>
              </a:tblGrid>
              <a:tr h="428840">
                <a:tc gridSpan="2">
                  <a:txBody>
                    <a:bodyPr/>
                    <a:lstStyle/>
                    <a:p>
                      <a:pPr algn="ctr"/>
                      <a:r>
                        <a:rPr lang="en-US" sz="1800" b="1" dirty="0" err="1">
                          <a:latin typeface="Consolas" panose="020B0609020204030204" pitchFamily="49" charset="0"/>
                          <a:cs typeface="Consolas" panose="020B0609020204030204" pitchFamily="49" charset="0"/>
                        </a:rPr>
                        <a:t>IdentExp</a:t>
                      </a:r>
                      <a:endParaRPr lang="en-US" sz="1800" b="1" dirty="0">
                        <a:latin typeface="Consolas" panose="020B0609020204030204" pitchFamily="49" charset="0"/>
                        <a:cs typeface="Consolas" panose="020B0609020204030204" pitchFamily="49" charset="0"/>
                      </a:endParaRPr>
                    </a:p>
                  </a:txBody>
                  <a:tcPr/>
                </a:tc>
                <a:tc hMerge="1">
                  <a:txBody>
                    <a:bodyPr/>
                    <a:lstStyle/>
                    <a:p>
                      <a:endParaRPr lang="en-US" dirty="0"/>
                    </a:p>
                  </a:txBody>
                  <a:tcPr/>
                </a:tc>
                <a:extLst>
                  <a:ext uri="{0D108BD9-81ED-4DB2-BD59-A6C34878D82A}">
                    <a16:rowId xmlns:a16="http://schemas.microsoft.com/office/drawing/2014/main" val="2969804268"/>
                  </a:ext>
                </a:extLst>
              </a:tr>
              <a:tr h="428840">
                <a:tc>
                  <a:txBody>
                    <a:bodyPr/>
                    <a:lstStyle/>
                    <a:p>
                      <a:pPr algn="ctr"/>
                      <a:r>
                        <a:rPr lang="en-US" sz="1800" b="1" dirty="0">
                          <a:latin typeface="Consolas" panose="020B0609020204030204" pitchFamily="49" charset="0"/>
                          <a:cs typeface="Consolas" panose="020B0609020204030204" pitchFamily="49" charset="0"/>
                        </a:rPr>
                        <a:t>name</a:t>
                      </a:r>
                    </a:p>
                  </a:txBody>
                  <a:tcPr/>
                </a:tc>
                <a:tc>
                  <a:txBody>
                    <a:bodyPr/>
                    <a:lstStyle/>
                    <a:p>
                      <a:pPr algn="ctr"/>
                      <a:r>
                        <a:rPr lang="en-US" sz="1800" b="1" dirty="0">
                          <a:solidFill>
                            <a:schemeClr val="accent6">
                              <a:lumMod val="75000"/>
                            </a:schemeClr>
                          </a:solidFill>
                          <a:latin typeface="Consolas" panose="020B0609020204030204" pitchFamily="49" charset="0"/>
                          <a:cs typeface="Consolas" panose="020B0609020204030204" pitchFamily="49" charset="0"/>
                        </a:rPr>
                        <a:t>"y"</a:t>
                      </a:r>
                    </a:p>
                  </a:txBody>
                  <a:tcPr/>
                </a:tc>
                <a:extLst>
                  <a:ext uri="{0D108BD9-81ED-4DB2-BD59-A6C34878D82A}">
                    <a16:rowId xmlns:a16="http://schemas.microsoft.com/office/drawing/2014/main" val="1383516035"/>
                  </a:ext>
                </a:extLst>
              </a:tr>
            </a:tbl>
          </a:graphicData>
        </a:graphic>
      </p:graphicFrame>
      <p:graphicFrame>
        <p:nvGraphicFramePr>
          <p:cNvPr id="98" name="Table 97">
            <a:extLst>
              <a:ext uri="{FF2B5EF4-FFF2-40B4-BE49-F238E27FC236}">
                <a16:creationId xmlns:a16="http://schemas.microsoft.com/office/drawing/2014/main" id="{4F0413B3-FE5C-A14F-BDF9-9D0917634921}"/>
              </a:ext>
            </a:extLst>
          </p:cNvPr>
          <p:cNvGraphicFramePr>
            <a:graphicFrameLocks noGrp="1"/>
          </p:cNvGraphicFramePr>
          <p:nvPr>
            <p:extLst/>
          </p:nvPr>
        </p:nvGraphicFramePr>
        <p:xfrm>
          <a:off x="5562600" y="4180279"/>
          <a:ext cx="1519618" cy="857680"/>
        </p:xfrm>
        <a:graphic>
          <a:graphicData uri="http://schemas.openxmlformats.org/drawingml/2006/table">
            <a:tbl>
              <a:tblPr firstRow="1">
                <a:tableStyleId>{93296810-A885-4BE3-A3E7-6D5BEEA58F35}</a:tableStyleId>
              </a:tblPr>
              <a:tblGrid>
                <a:gridCol w="840105">
                  <a:extLst>
                    <a:ext uri="{9D8B030D-6E8A-4147-A177-3AD203B41FA5}">
                      <a16:colId xmlns:a16="http://schemas.microsoft.com/office/drawing/2014/main" val="2725398507"/>
                    </a:ext>
                  </a:extLst>
                </a:gridCol>
                <a:gridCol w="679513">
                  <a:extLst>
                    <a:ext uri="{9D8B030D-6E8A-4147-A177-3AD203B41FA5}">
                      <a16:colId xmlns:a16="http://schemas.microsoft.com/office/drawing/2014/main" val="2193986552"/>
                    </a:ext>
                  </a:extLst>
                </a:gridCol>
              </a:tblGrid>
              <a:tr h="428840">
                <a:tc gridSpan="2">
                  <a:txBody>
                    <a:bodyPr/>
                    <a:lstStyle/>
                    <a:p>
                      <a:pPr algn="ctr"/>
                      <a:r>
                        <a:rPr lang="en-US" sz="1800" b="1" dirty="0" err="1">
                          <a:latin typeface="Consolas" panose="020B0609020204030204" pitchFamily="49" charset="0"/>
                          <a:cs typeface="Consolas" panose="020B0609020204030204" pitchFamily="49" charset="0"/>
                        </a:rPr>
                        <a:t>IntExp</a:t>
                      </a:r>
                      <a:endParaRPr lang="en-US" sz="1800" b="1" dirty="0">
                        <a:latin typeface="Consolas" panose="020B0609020204030204" pitchFamily="49" charset="0"/>
                        <a:cs typeface="Consolas" panose="020B0609020204030204" pitchFamily="49" charset="0"/>
                      </a:endParaRPr>
                    </a:p>
                  </a:txBody>
                  <a:tcPr/>
                </a:tc>
                <a:tc hMerge="1">
                  <a:txBody>
                    <a:bodyPr/>
                    <a:lstStyle/>
                    <a:p>
                      <a:endParaRPr lang="en-US" dirty="0"/>
                    </a:p>
                  </a:txBody>
                  <a:tcPr/>
                </a:tc>
                <a:extLst>
                  <a:ext uri="{0D108BD9-81ED-4DB2-BD59-A6C34878D82A}">
                    <a16:rowId xmlns:a16="http://schemas.microsoft.com/office/drawing/2014/main" val="2969804268"/>
                  </a:ext>
                </a:extLst>
              </a:tr>
              <a:tr h="428840">
                <a:tc>
                  <a:txBody>
                    <a:bodyPr/>
                    <a:lstStyle/>
                    <a:p>
                      <a:pPr algn="ctr"/>
                      <a:r>
                        <a:rPr lang="en-US" sz="1800" b="1" dirty="0">
                          <a:latin typeface="Consolas" panose="020B0609020204030204" pitchFamily="49" charset="0"/>
                          <a:cs typeface="Consolas" panose="020B0609020204030204" pitchFamily="49" charset="0"/>
                        </a:rPr>
                        <a:t>value</a:t>
                      </a:r>
                    </a:p>
                  </a:txBody>
                  <a:tcPr/>
                </a:tc>
                <a:tc>
                  <a:txBody>
                    <a:bodyPr/>
                    <a:lstStyle/>
                    <a:p>
                      <a:pPr algn="ctr"/>
                      <a:r>
                        <a:rPr lang="en-US" sz="1800" b="1" dirty="0">
                          <a:solidFill>
                            <a:schemeClr val="accent3">
                              <a:lumMod val="75000"/>
                            </a:schemeClr>
                          </a:solidFill>
                          <a:latin typeface="Consolas" panose="020B0609020204030204" pitchFamily="49" charset="0"/>
                          <a:cs typeface="Consolas" panose="020B0609020204030204" pitchFamily="49" charset="0"/>
                        </a:rPr>
                        <a:t>2</a:t>
                      </a:r>
                    </a:p>
                  </a:txBody>
                  <a:tcPr/>
                </a:tc>
                <a:extLst>
                  <a:ext uri="{0D108BD9-81ED-4DB2-BD59-A6C34878D82A}">
                    <a16:rowId xmlns:a16="http://schemas.microsoft.com/office/drawing/2014/main" val="1383516035"/>
                  </a:ext>
                </a:extLst>
              </a:tr>
            </a:tbl>
          </a:graphicData>
        </a:graphic>
      </p:graphicFrame>
      <p:graphicFrame>
        <p:nvGraphicFramePr>
          <p:cNvPr id="99" name="Table 98">
            <a:extLst>
              <a:ext uri="{FF2B5EF4-FFF2-40B4-BE49-F238E27FC236}">
                <a16:creationId xmlns:a16="http://schemas.microsoft.com/office/drawing/2014/main" id="{C993F4EA-5963-E546-847B-63F105FEB04D}"/>
              </a:ext>
            </a:extLst>
          </p:cNvPr>
          <p:cNvGraphicFramePr>
            <a:graphicFrameLocks noGrp="1"/>
          </p:cNvGraphicFramePr>
          <p:nvPr>
            <p:extLst/>
          </p:nvPr>
        </p:nvGraphicFramePr>
        <p:xfrm>
          <a:off x="6895783" y="2734909"/>
          <a:ext cx="1562417" cy="857680"/>
        </p:xfrm>
        <a:graphic>
          <a:graphicData uri="http://schemas.openxmlformats.org/drawingml/2006/table">
            <a:tbl>
              <a:tblPr firstRow="1">
                <a:tableStyleId>{F5AB1C69-6EDB-4FF4-983F-18BD219EF322}</a:tableStyleId>
              </a:tblPr>
              <a:tblGrid>
                <a:gridCol w="1562417">
                  <a:extLst>
                    <a:ext uri="{9D8B030D-6E8A-4147-A177-3AD203B41FA5}">
                      <a16:colId xmlns:a16="http://schemas.microsoft.com/office/drawing/2014/main" val="2725398507"/>
                    </a:ext>
                  </a:extLst>
                </a:gridCol>
              </a:tblGrid>
              <a:tr h="428840">
                <a:tc>
                  <a:txBody>
                    <a:bodyPr/>
                    <a:lstStyle/>
                    <a:p>
                      <a:pPr algn="ctr"/>
                      <a:r>
                        <a:rPr lang="en-US" sz="1800" dirty="0" err="1">
                          <a:latin typeface="Consolas" panose="020B0609020204030204" pitchFamily="49" charset="0"/>
                          <a:cs typeface="Consolas" panose="020B0609020204030204" pitchFamily="49" charset="0"/>
                        </a:rPr>
                        <a:t>ReturnStmt</a:t>
                      </a:r>
                      <a:endParaRPr lang="en-US" sz="18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2969804268"/>
                  </a:ext>
                </a:extLst>
              </a:tr>
              <a:tr h="428840">
                <a:tc>
                  <a:txBody>
                    <a:bodyPr/>
                    <a:lstStyle/>
                    <a:p>
                      <a:pPr algn="ctr"/>
                      <a:r>
                        <a:rPr lang="en-US" sz="1800" b="1" dirty="0">
                          <a:latin typeface="Consolas" panose="020B0609020204030204" pitchFamily="49" charset="0"/>
                          <a:cs typeface="Consolas" panose="020B0609020204030204" pitchFamily="49" charset="0"/>
                        </a:rPr>
                        <a:t>value</a:t>
                      </a:r>
                    </a:p>
                  </a:txBody>
                  <a:tcPr/>
                </a:tc>
                <a:extLst>
                  <a:ext uri="{0D108BD9-81ED-4DB2-BD59-A6C34878D82A}">
                    <a16:rowId xmlns:a16="http://schemas.microsoft.com/office/drawing/2014/main" val="1383516035"/>
                  </a:ext>
                </a:extLst>
              </a:tr>
            </a:tbl>
          </a:graphicData>
        </a:graphic>
      </p:graphicFrame>
      <p:cxnSp>
        <p:nvCxnSpPr>
          <p:cNvPr id="100" name="Curved Connector 99">
            <a:extLst>
              <a:ext uri="{FF2B5EF4-FFF2-40B4-BE49-F238E27FC236}">
                <a16:creationId xmlns:a16="http://schemas.microsoft.com/office/drawing/2014/main" id="{9021B1D1-9669-C645-9A6E-0A9F317FB94F}"/>
              </a:ext>
            </a:extLst>
          </p:cNvPr>
          <p:cNvCxnSpPr>
            <a:cxnSpLocks/>
            <a:endCxn id="95" idx="0"/>
          </p:cNvCxnSpPr>
          <p:nvPr/>
        </p:nvCxnSpPr>
        <p:spPr>
          <a:xfrm rot="10800000" flipV="1">
            <a:off x="2969609" y="2116149"/>
            <a:ext cx="1697848" cy="618759"/>
          </a:xfrm>
          <a:prstGeom prst="curved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Curved Connector 102">
            <a:extLst>
              <a:ext uri="{FF2B5EF4-FFF2-40B4-BE49-F238E27FC236}">
                <a16:creationId xmlns:a16="http://schemas.microsoft.com/office/drawing/2014/main" id="{94610339-9B5D-D34F-8843-5D02086566D1}"/>
              </a:ext>
            </a:extLst>
          </p:cNvPr>
          <p:cNvCxnSpPr>
            <a:cxnSpLocks/>
            <a:endCxn id="96" idx="0"/>
          </p:cNvCxnSpPr>
          <p:nvPr/>
        </p:nvCxnSpPr>
        <p:spPr>
          <a:xfrm rot="5400000">
            <a:off x="5220560" y="2392866"/>
            <a:ext cx="505045" cy="179041"/>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Curved Connector 105">
            <a:extLst>
              <a:ext uri="{FF2B5EF4-FFF2-40B4-BE49-F238E27FC236}">
                <a16:creationId xmlns:a16="http://schemas.microsoft.com/office/drawing/2014/main" id="{A2C4AF89-8AAE-CB42-AAF9-B1581828B2DE}"/>
              </a:ext>
            </a:extLst>
          </p:cNvPr>
          <p:cNvCxnSpPr>
            <a:cxnSpLocks/>
            <a:endCxn id="99" idx="0"/>
          </p:cNvCxnSpPr>
          <p:nvPr/>
        </p:nvCxnSpPr>
        <p:spPr>
          <a:xfrm>
            <a:off x="6139673" y="2116150"/>
            <a:ext cx="1537318" cy="618759"/>
          </a:xfrm>
          <a:prstGeom prst="curved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Curved Connector 108">
            <a:extLst>
              <a:ext uri="{FF2B5EF4-FFF2-40B4-BE49-F238E27FC236}">
                <a16:creationId xmlns:a16="http://schemas.microsoft.com/office/drawing/2014/main" id="{8A1A3866-1999-264F-8FB1-8CF8D48895D5}"/>
              </a:ext>
            </a:extLst>
          </p:cNvPr>
          <p:cNvCxnSpPr>
            <a:cxnSpLocks/>
            <a:endCxn id="97" idx="0"/>
          </p:cNvCxnSpPr>
          <p:nvPr/>
        </p:nvCxnSpPr>
        <p:spPr>
          <a:xfrm rot="5400000">
            <a:off x="4354016" y="3727801"/>
            <a:ext cx="587689" cy="317266"/>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Curved Connector 111">
            <a:extLst>
              <a:ext uri="{FF2B5EF4-FFF2-40B4-BE49-F238E27FC236}">
                <a16:creationId xmlns:a16="http://schemas.microsoft.com/office/drawing/2014/main" id="{980470C0-6F33-174A-BE71-C699C9590A23}"/>
              </a:ext>
            </a:extLst>
          </p:cNvPr>
          <p:cNvCxnSpPr>
            <a:cxnSpLocks/>
            <a:endCxn id="98" idx="0"/>
          </p:cNvCxnSpPr>
          <p:nvPr/>
        </p:nvCxnSpPr>
        <p:spPr>
          <a:xfrm rot="16200000" flipH="1">
            <a:off x="5819837" y="3677707"/>
            <a:ext cx="592056" cy="413088"/>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Curved Connector 114">
            <a:extLst>
              <a:ext uri="{FF2B5EF4-FFF2-40B4-BE49-F238E27FC236}">
                <a16:creationId xmlns:a16="http://schemas.microsoft.com/office/drawing/2014/main" id="{1786B530-718F-364B-B723-F485940A31B9}"/>
              </a:ext>
            </a:extLst>
          </p:cNvPr>
          <p:cNvCxnSpPr>
            <a:cxnSpLocks/>
          </p:cNvCxnSpPr>
          <p:nvPr/>
        </p:nvCxnSpPr>
        <p:spPr>
          <a:xfrm rot="16200000" flipH="1">
            <a:off x="7597110" y="3568291"/>
            <a:ext cx="314940" cy="148018"/>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5BF65E6A-C18B-4A47-8FAC-B575BDD388A2}"/>
              </a:ext>
            </a:extLst>
          </p:cNvPr>
          <p:cNvSpPr txBox="1"/>
          <p:nvPr/>
        </p:nvSpPr>
        <p:spPr>
          <a:xfrm>
            <a:off x="7651365" y="3640465"/>
            <a:ext cx="404278" cy="523220"/>
          </a:xfrm>
          <a:prstGeom prst="rect">
            <a:avLst/>
          </a:prstGeom>
          <a:noFill/>
        </p:spPr>
        <p:txBody>
          <a:bodyPr wrap="none" rtlCol="0">
            <a:spAutoFit/>
          </a:bodyPr>
          <a:lstStyle/>
          <a:p>
            <a:r>
              <a:rPr lang="en-US" sz="2800" b="1" dirty="0" err="1">
                <a:solidFill>
                  <a:srgbClr val="FF0000"/>
                </a:solidFill>
                <a:ea typeface="Cambria Math" panose="02040503050406030204" pitchFamily="18" charset="0"/>
                <a:cs typeface="Arial" panose="020B0604020202020204" pitchFamily="34" charset="0"/>
              </a:rPr>
              <a:t>ø</a:t>
            </a:r>
            <a:endParaRPr lang="en-US" sz="2800" b="1" dirty="0">
              <a:solidFill>
                <a:srgbClr val="FF0000"/>
              </a:solidFill>
              <a:ea typeface="Cambria Math" panose="02040503050406030204" pitchFamily="18" charset="0"/>
              <a:cs typeface="Arial" panose="020B0604020202020204" pitchFamily="34" charset="0"/>
            </a:endParaRPr>
          </a:p>
        </p:txBody>
      </p:sp>
    </p:spTree>
    <p:extLst>
      <p:ext uri="{BB962C8B-B14F-4D97-AF65-F5344CB8AC3E}">
        <p14:creationId xmlns:p14="http://schemas.microsoft.com/office/powerpoint/2010/main" val="31292613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1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E7A1E-8419-9E4C-8A0D-A5633B399587}"/>
              </a:ext>
            </a:extLst>
          </p:cNvPr>
          <p:cNvSpPr>
            <a:spLocks noGrp="1"/>
          </p:cNvSpPr>
          <p:nvPr>
            <p:ph type="title"/>
          </p:nvPr>
        </p:nvSpPr>
        <p:spPr/>
        <p:txBody>
          <a:bodyPr/>
          <a:lstStyle/>
          <a:p>
            <a:r>
              <a:rPr lang="en-US" dirty="0"/>
              <a:t>Why is it called "abstract"?</a:t>
            </a:r>
          </a:p>
        </p:txBody>
      </p:sp>
      <p:sp>
        <p:nvSpPr>
          <p:cNvPr id="3" name="Content Placeholder 2">
            <a:extLst>
              <a:ext uri="{FF2B5EF4-FFF2-40B4-BE49-F238E27FC236}">
                <a16:creationId xmlns:a16="http://schemas.microsoft.com/office/drawing/2014/main" id="{0CA15C09-B81D-4A42-AB51-509B40F55363}"/>
              </a:ext>
            </a:extLst>
          </p:cNvPr>
          <p:cNvSpPr>
            <a:spLocks noGrp="1"/>
          </p:cNvSpPr>
          <p:nvPr>
            <p:ph idx="1"/>
          </p:nvPr>
        </p:nvSpPr>
        <p:spPr>
          <a:xfrm>
            <a:off x="152400" y="495301"/>
            <a:ext cx="8991600" cy="838199"/>
          </a:xfrm>
        </p:spPr>
        <p:txBody>
          <a:bodyPr/>
          <a:lstStyle/>
          <a:p>
            <a:r>
              <a:rPr lang="en-US" dirty="0"/>
              <a:t>because we can </a:t>
            </a:r>
            <a:r>
              <a:rPr lang="en-US" b="1" dirty="0"/>
              <a:t>change the syntax of our language </a:t>
            </a:r>
            <a:r>
              <a:rPr lang="en-US" dirty="0"/>
              <a:t>but the AST representation doesn't have to change. it </a:t>
            </a:r>
            <a:r>
              <a:rPr lang="en-US" b="1" dirty="0"/>
              <a:t>decouples</a:t>
            </a:r>
            <a:r>
              <a:rPr lang="en-US" dirty="0"/>
              <a:t> them.</a:t>
            </a:r>
          </a:p>
        </p:txBody>
      </p:sp>
      <p:sp>
        <p:nvSpPr>
          <p:cNvPr id="4" name="Slide Number Placeholder 3">
            <a:extLst>
              <a:ext uri="{FF2B5EF4-FFF2-40B4-BE49-F238E27FC236}">
                <a16:creationId xmlns:a16="http://schemas.microsoft.com/office/drawing/2014/main" id="{140FC4F6-CB26-654B-B1FD-50D3DF62C97E}"/>
              </a:ext>
            </a:extLst>
          </p:cNvPr>
          <p:cNvSpPr>
            <a:spLocks noGrp="1"/>
          </p:cNvSpPr>
          <p:nvPr>
            <p:ph type="sldNum" sz="quarter" idx="12"/>
          </p:nvPr>
        </p:nvSpPr>
        <p:spPr/>
        <p:txBody>
          <a:bodyPr/>
          <a:lstStyle/>
          <a:p>
            <a:fld id="{3552B95B-556F-44BD-91A5-D80C1B9E2BB3}" type="slidenum">
              <a:rPr lang="en-US" smtClean="0"/>
              <a:pPr/>
              <a:t>12</a:t>
            </a:fld>
            <a:endParaRPr lang="en-US"/>
          </a:p>
        </p:txBody>
      </p:sp>
      <p:grpSp>
        <p:nvGrpSpPr>
          <p:cNvPr id="43" name="Group 42">
            <a:extLst>
              <a:ext uri="{FF2B5EF4-FFF2-40B4-BE49-F238E27FC236}">
                <a16:creationId xmlns:a16="http://schemas.microsoft.com/office/drawing/2014/main" id="{1E4F159E-F6CC-D941-844A-C0EAB8D7DFBF}"/>
              </a:ext>
            </a:extLst>
          </p:cNvPr>
          <p:cNvGrpSpPr/>
          <p:nvPr/>
        </p:nvGrpSpPr>
        <p:grpSpPr>
          <a:xfrm>
            <a:off x="6324860" y="1459072"/>
            <a:ext cx="2672968" cy="2003090"/>
            <a:chOff x="4127849" y="1485900"/>
            <a:chExt cx="2672968" cy="2003090"/>
          </a:xfrm>
        </p:grpSpPr>
        <p:cxnSp>
          <p:nvCxnSpPr>
            <p:cNvPr id="24" name="Straight Arrow Connector 23">
              <a:extLst>
                <a:ext uri="{FF2B5EF4-FFF2-40B4-BE49-F238E27FC236}">
                  <a16:creationId xmlns:a16="http://schemas.microsoft.com/office/drawing/2014/main" id="{5BA3E1DC-8587-B049-9248-65E55F6B9D37}"/>
                </a:ext>
              </a:extLst>
            </p:cNvPr>
            <p:cNvCxnSpPr/>
            <p:nvPr/>
          </p:nvCxnSpPr>
          <p:spPr>
            <a:xfrm flipH="1">
              <a:off x="4710130" y="1914740"/>
              <a:ext cx="370871" cy="3636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58D52EC-D1E7-CA41-843A-129D240F71B8}"/>
                </a:ext>
              </a:extLst>
            </p:cNvPr>
            <p:cNvCxnSpPr>
              <a:cxnSpLocks/>
            </p:cNvCxnSpPr>
            <p:nvPr/>
          </p:nvCxnSpPr>
          <p:spPr>
            <a:xfrm>
              <a:off x="5383561" y="1914740"/>
              <a:ext cx="0" cy="3636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22178FF-938E-0944-89C8-E3170E2456E9}"/>
                </a:ext>
              </a:extLst>
            </p:cNvPr>
            <p:cNvCxnSpPr>
              <a:cxnSpLocks/>
            </p:cNvCxnSpPr>
            <p:nvPr/>
          </p:nvCxnSpPr>
          <p:spPr>
            <a:xfrm>
              <a:off x="5667453" y="1914740"/>
              <a:ext cx="408504" cy="35828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1A063CA-57C6-B74B-9AEC-214918B5752F}"/>
                </a:ext>
              </a:extLst>
            </p:cNvPr>
            <p:cNvCxnSpPr>
              <a:cxnSpLocks/>
            </p:cNvCxnSpPr>
            <p:nvPr/>
          </p:nvCxnSpPr>
          <p:spPr>
            <a:xfrm flipH="1">
              <a:off x="5029200" y="2701865"/>
              <a:ext cx="236001" cy="3636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6B6F77C-2564-DF4A-99D9-C8A8D664807E}"/>
                </a:ext>
              </a:extLst>
            </p:cNvPr>
            <p:cNvCxnSpPr>
              <a:cxnSpLocks/>
            </p:cNvCxnSpPr>
            <p:nvPr/>
          </p:nvCxnSpPr>
          <p:spPr>
            <a:xfrm>
              <a:off x="5517991" y="2711089"/>
              <a:ext cx="256218" cy="3544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2F4B8176-BAA4-6242-AD07-34B82FEE6C0A}"/>
                </a:ext>
              </a:extLst>
            </p:cNvPr>
            <p:cNvSpPr/>
            <p:nvPr/>
          </p:nvSpPr>
          <p:spPr>
            <a:xfrm>
              <a:off x="4875703" y="1485900"/>
              <a:ext cx="976287" cy="4288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err="1">
                  <a:latin typeface="Consolas" panose="020B0609020204030204" pitchFamily="49" charset="0"/>
                  <a:cs typeface="Consolas" panose="020B0609020204030204" pitchFamily="49" charset="0"/>
                </a:rPr>
                <a:t>IfElse</a:t>
              </a:r>
              <a:endParaRPr lang="en-US" sz="1800" b="1" dirty="0">
                <a:latin typeface="Consolas" panose="020B0609020204030204" pitchFamily="49" charset="0"/>
                <a:cs typeface="Consolas" panose="020B0609020204030204" pitchFamily="49" charset="0"/>
              </a:endParaRPr>
            </a:p>
          </p:txBody>
        </p:sp>
        <p:sp>
          <p:nvSpPr>
            <p:cNvPr id="38" name="Rectangle 37">
              <a:extLst>
                <a:ext uri="{FF2B5EF4-FFF2-40B4-BE49-F238E27FC236}">
                  <a16:creationId xmlns:a16="http://schemas.microsoft.com/office/drawing/2014/main" id="{841913F1-3521-0944-ABB2-502408A78653}"/>
                </a:ext>
              </a:extLst>
            </p:cNvPr>
            <p:cNvSpPr/>
            <p:nvPr/>
          </p:nvSpPr>
          <p:spPr>
            <a:xfrm>
              <a:off x="5767036" y="2273025"/>
              <a:ext cx="1033781" cy="4288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Consolas" panose="020B0609020204030204" pitchFamily="49" charset="0"/>
                  <a:cs typeface="Consolas" panose="020B0609020204030204" pitchFamily="49" charset="0"/>
                </a:rPr>
                <a:t>Return</a:t>
              </a:r>
            </a:p>
          </p:txBody>
        </p:sp>
        <p:sp>
          <p:nvSpPr>
            <p:cNvPr id="39" name="Rectangle 38">
              <a:extLst>
                <a:ext uri="{FF2B5EF4-FFF2-40B4-BE49-F238E27FC236}">
                  <a16:creationId xmlns:a16="http://schemas.microsoft.com/office/drawing/2014/main" id="{0B623C3C-D3E2-BA46-9F9B-36C86065902D}"/>
                </a:ext>
              </a:extLst>
            </p:cNvPr>
            <p:cNvSpPr/>
            <p:nvPr/>
          </p:nvSpPr>
          <p:spPr>
            <a:xfrm>
              <a:off x="4127849" y="2273025"/>
              <a:ext cx="819663" cy="4288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Consolas" panose="020B0609020204030204" pitchFamily="49" charset="0"/>
                  <a:cs typeface="Consolas" panose="020B0609020204030204" pitchFamily="49" charset="0"/>
                </a:rPr>
                <a:t>Ident</a:t>
              </a:r>
            </a:p>
          </p:txBody>
        </p:sp>
        <p:sp>
          <p:nvSpPr>
            <p:cNvPr id="40" name="Rectangle 39">
              <a:extLst>
                <a:ext uri="{FF2B5EF4-FFF2-40B4-BE49-F238E27FC236}">
                  <a16:creationId xmlns:a16="http://schemas.microsoft.com/office/drawing/2014/main" id="{5BE88722-DF7E-F342-8829-0ABE084AB0B2}"/>
                </a:ext>
              </a:extLst>
            </p:cNvPr>
            <p:cNvSpPr/>
            <p:nvPr/>
          </p:nvSpPr>
          <p:spPr>
            <a:xfrm>
              <a:off x="4671170" y="3060150"/>
              <a:ext cx="819663" cy="4288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Consolas" panose="020B0609020204030204" pitchFamily="49" charset="0"/>
                  <a:cs typeface="Consolas" panose="020B0609020204030204" pitchFamily="49" charset="0"/>
                </a:rPr>
                <a:t>Ident</a:t>
              </a:r>
            </a:p>
          </p:txBody>
        </p:sp>
        <p:sp>
          <p:nvSpPr>
            <p:cNvPr id="41" name="Rectangle 40">
              <a:extLst>
                <a:ext uri="{FF2B5EF4-FFF2-40B4-BE49-F238E27FC236}">
                  <a16:creationId xmlns:a16="http://schemas.microsoft.com/office/drawing/2014/main" id="{6B9E6260-0A16-3C4F-821A-90CCE3FFD8DE}"/>
                </a:ext>
              </a:extLst>
            </p:cNvPr>
            <p:cNvSpPr/>
            <p:nvPr/>
          </p:nvSpPr>
          <p:spPr>
            <a:xfrm>
              <a:off x="5000087" y="2273025"/>
              <a:ext cx="727520" cy="4288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Consolas" panose="020B0609020204030204" pitchFamily="49" charset="0"/>
                  <a:cs typeface="Consolas" panose="020B0609020204030204" pitchFamily="49" charset="0"/>
                </a:rPr>
                <a:t>Call</a:t>
              </a:r>
            </a:p>
          </p:txBody>
        </p:sp>
        <p:sp>
          <p:nvSpPr>
            <p:cNvPr id="42" name="Rectangle 41">
              <a:extLst>
                <a:ext uri="{FF2B5EF4-FFF2-40B4-BE49-F238E27FC236}">
                  <a16:creationId xmlns:a16="http://schemas.microsoft.com/office/drawing/2014/main" id="{3DBE5B51-653B-DB45-9A33-58BDDF8AB083}"/>
                </a:ext>
              </a:extLst>
            </p:cNvPr>
            <p:cNvSpPr/>
            <p:nvPr/>
          </p:nvSpPr>
          <p:spPr>
            <a:xfrm>
              <a:off x="5572307" y="3060150"/>
              <a:ext cx="599893" cy="4288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Consolas" panose="020B0609020204030204" pitchFamily="49" charset="0"/>
                  <a:cs typeface="Consolas" panose="020B0609020204030204" pitchFamily="49" charset="0"/>
                </a:rPr>
                <a:t>Int</a:t>
              </a:r>
            </a:p>
          </p:txBody>
        </p:sp>
      </p:grpSp>
      <p:sp>
        <p:nvSpPr>
          <p:cNvPr id="57" name="TextBox 56">
            <a:extLst>
              <a:ext uri="{FF2B5EF4-FFF2-40B4-BE49-F238E27FC236}">
                <a16:creationId xmlns:a16="http://schemas.microsoft.com/office/drawing/2014/main" id="{E1612430-B032-5C4B-8CDB-800BAE834CB7}"/>
              </a:ext>
            </a:extLst>
          </p:cNvPr>
          <p:cNvSpPr txBox="1"/>
          <p:nvPr/>
        </p:nvSpPr>
        <p:spPr>
          <a:xfrm>
            <a:off x="1209965" y="1266543"/>
            <a:ext cx="4047836" cy="430887"/>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(x) y(</a:t>
            </a:r>
            <a:r>
              <a:rPr lang="en-US" sz="2200" b="1" dirty="0">
                <a:solidFill>
                  <a:schemeClr val="accent3">
                    <a:lumMod val="75000"/>
                  </a:schemeClr>
                </a:solidFill>
                <a:latin typeface="Consolas" panose="020B0609020204030204" pitchFamily="49" charset="0"/>
                <a:cs typeface="Consolas" panose="020B0609020204030204" pitchFamily="49" charset="0"/>
              </a:rPr>
              <a:t>2</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else</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return</a:t>
            </a:r>
            <a:r>
              <a:rPr lang="en-US" sz="2200" b="1" dirty="0">
                <a:latin typeface="Consolas" panose="020B0609020204030204" pitchFamily="49" charset="0"/>
                <a:cs typeface="Consolas" panose="020B0609020204030204" pitchFamily="49" charset="0"/>
              </a:rPr>
              <a:t>;</a:t>
            </a:r>
          </a:p>
        </p:txBody>
      </p:sp>
      <p:sp>
        <p:nvSpPr>
          <p:cNvPr id="58" name="TextBox 57">
            <a:extLst>
              <a:ext uri="{FF2B5EF4-FFF2-40B4-BE49-F238E27FC236}">
                <a16:creationId xmlns:a16="http://schemas.microsoft.com/office/drawing/2014/main" id="{4EE2EACC-4182-954C-945B-C8A719DCEC87}"/>
              </a:ext>
            </a:extLst>
          </p:cNvPr>
          <p:cNvSpPr txBox="1"/>
          <p:nvPr/>
        </p:nvSpPr>
        <p:spPr>
          <a:xfrm>
            <a:off x="1209963" y="1744033"/>
            <a:ext cx="5038437" cy="430887"/>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 x { y(</a:t>
            </a:r>
            <a:r>
              <a:rPr lang="en-US" sz="2200" b="1" dirty="0">
                <a:solidFill>
                  <a:schemeClr val="accent3">
                    <a:lumMod val="75000"/>
                  </a:schemeClr>
                </a:solidFill>
                <a:latin typeface="Consolas" panose="020B0609020204030204" pitchFamily="49" charset="0"/>
                <a:cs typeface="Consolas" panose="020B0609020204030204" pitchFamily="49" charset="0"/>
              </a:rPr>
              <a:t>2</a:t>
            </a:r>
            <a:r>
              <a:rPr lang="en-US" sz="2200" b="1" dirty="0">
                <a:latin typeface="Consolas" panose="020B0609020204030204" pitchFamily="49" charset="0"/>
                <a:cs typeface="Consolas" panose="020B0609020204030204" pitchFamily="49" charset="0"/>
              </a:rPr>
              <a:t>); } </a:t>
            </a:r>
            <a:r>
              <a:rPr lang="en-US" sz="2200" b="1" dirty="0">
                <a:solidFill>
                  <a:srgbClr val="FF0000"/>
                </a:solidFill>
                <a:latin typeface="Consolas" panose="020B0609020204030204" pitchFamily="49" charset="0"/>
                <a:cs typeface="Consolas" panose="020B0609020204030204" pitchFamily="49" charset="0"/>
              </a:rPr>
              <a:t>else</a:t>
            </a:r>
            <a:r>
              <a:rPr lang="en-US" sz="2200" b="1" dirty="0">
                <a:latin typeface="Consolas" panose="020B0609020204030204" pitchFamily="49" charset="0"/>
                <a:cs typeface="Consolas" panose="020B0609020204030204" pitchFamily="49" charset="0"/>
              </a:rPr>
              <a:t> { </a:t>
            </a:r>
            <a:r>
              <a:rPr lang="en-US" sz="2200" b="1" dirty="0">
                <a:solidFill>
                  <a:srgbClr val="FF0000"/>
                </a:solidFill>
                <a:latin typeface="Consolas" panose="020B0609020204030204" pitchFamily="49" charset="0"/>
                <a:cs typeface="Consolas" panose="020B0609020204030204" pitchFamily="49" charset="0"/>
              </a:rPr>
              <a:t>return </a:t>
            </a:r>
            <a:r>
              <a:rPr lang="en-US" sz="2200" b="1" dirty="0">
                <a:latin typeface="Consolas" panose="020B0609020204030204" pitchFamily="49" charset="0"/>
                <a:cs typeface="Consolas" panose="020B0609020204030204" pitchFamily="49" charset="0"/>
              </a:rPr>
              <a:t>}</a:t>
            </a:r>
          </a:p>
        </p:txBody>
      </p:sp>
      <p:sp>
        <p:nvSpPr>
          <p:cNvPr id="59" name="TextBox 58">
            <a:extLst>
              <a:ext uri="{FF2B5EF4-FFF2-40B4-BE49-F238E27FC236}">
                <a16:creationId xmlns:a16="http://schemas.microsoft.com/office/drawing/2014/main" id="{50AB9E78-51A3-FC45-B3DA-EA9B6672DCF9}"/>
              </a:ext>
            </a:extLst>
          </p:cNvPr>
          <p:cNvSpPr txBox="1"/>
          <p:nvPr/>
        </p:nvSpPr>
        <p:spPr>
          <a:xfrm>
            <a:off x="1209963" y="2218377"/>
            <a:ext cx="5038437" cy="430887"/>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 x </a:t>
            </a:r>
            <a:r>
              <a:rPr lang="en-US" sz="2200" b="1" dirty="0">
                <a:solidFill>
                  <a:srgbClr val="FF0000"/>
                </a:solidFill>
                <a:latin typeface="Consolas" panose="020B0609020204030204" pitchFamily="49" charset="0"/>
                <a:cs typeface="Consolas" panose="020B0609020204030204" pitchFamily="49" charset="0"/>
              </a:rPr>
              <a:t>then</a:t>
            </a:r>
            <a:r>
              <a:rPr lang="en-US" sz="2200" b="1" dirty="0">
                <a:latin typeface="Consolas" panose="020B0609020204030204" pitchFamily="49" charset="0"/>
                <a:cs typeface="Consolas" panose="020B0609020204030204" pitchFamily="49" charset="0"/>
              </a:rPr>
              <a:t> y(</a:t>
            </a:r>
            <a:r>
              <a:rPr lang="en-US" sz="2200" b="1" dirty="0">
                <a:solidFill>
                  <a:schemeClr val="accent3">
                    <a:lumMod val="75000"/>
                  </a:schemeClr>
                </a:solidFill>
                <a:latin typeface="Consolas" panose="020B0609020204030204" pitchFamily="49" charset="0"/>
                <a:cs typeface="Consolas" panose="020B0609020204030204" pitchFamily="49" charset="0"/>
              </a:rPr>
              <a:t>2</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else</a:t>
            </a:r>
            <a:r>
              <a:rPr lang="en-US" sz="2200" b="1" dirty="0">
                <a:latin typeface="Consolas" panose="020B0609020204030204" pitchFamily="49" charset="0"/>
                <a:cs typeface="Consolas" panose="020B0609020204030204" pitchFamily="49" charset="0"/>
              </a:rPr>
              <a:t> </a:t>
            </a:r>
            <a:r>
              <a:rPr lang="en-US" sz="2200" b="1" dirty="0">
                <a:solidFill>
                  <a:srgbClr val="FF0000"/>
                </a:solidFill>
                <a:latin typeface="Consolas" panose="020B0609020204030204" pitchFamily="49" charset="0"/>
                <a:cs typeface="Consolas" panose="020B0609020204030204" pitchFamily="49" charset="0"/>
              </a:rPr>
              <a:t>return end</a:t>
            </a:r>
          </a:p>
        </p:txBody>
      </p:sp>
      <p:sp>
        <p:nvSpPr>
          <p:cNvPr id="60" name="TextBox 59">
            <a:extLst>
              <a:ext uri="{FF2B5EF4-FFF2-40B4-BE49-F238E27FC236}">
                <a16:creationId xmlns:a16="http://schemas.microsoft.com/office/drawing/2014/main" id="{25619530-BC0D-1845-AA25-AAF622DD779A}"/>
              </a:ext>
            </a:extLst>
          </p:cNvPr>
          <p:cNvSpPr txBox="1"/>
          <p:nvPr/>
        </p:nvSpPr>
        <p:spPr>
          <a:xfrm>
            <a:off x="3624932" y="2693975"/>
            <a:ext cx="2142837" cy="1446550"/>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 x: </a:t>
            </a:r>
          </a:p>
          <a:p>
            <a:r>
              <a:rPr lang="en-US" sz="2200" b="1" dirty="0">
                <a:latin typeface="Consolas" panose="020B0609020204030204" pitchFamily="49" charset="0"/>
                <a:cs typeface="Consolas" panose="020B0609020204030204" pitchFamily="49" charset="0"/>
              </a:rPr>
              <a:t>    y(</a:t>
            </a:r>
            <a:r>
              <a:rPr lang="en-US" sz="2200" b="1" dirty="0">
                <a:solidFill>
                  <a:schemeClr val="accent3">
                    <a:lumMod val="75000"/>
                  </a:schemeClr>
                </a:solidFill>
                <a:latin typeface="Consolas" panose="020B0609020204030204" pitchFamily="49" charset="0"/>
                <a:cs typeface="Consolas" panose="020B0609020204030204" pitchFamily="49" charset="0"/>
              </a:rPr>
              <a:t>2</a:t>
            </a:r>
            <a:r>
              <a:rPr lang="en-US" sz="2200" b="1" dirty="0">
                <a:latin typeface="Consolas" panose="020B0609020204030204" pitchFamily="49" charset="0"/>
                <a:cs typeface="Consolas" panose="020B0609020204030204" pitchFamily="49" charset="0"/>
              </a:rPr>
              <a:t>)</a:t>
            </a:r>
          </a:p>
          <a:p>
            <a:r>
              <a:rPr lang="en-US" sz="2200" b="1" dirty="0">
                <a:solidFill>
                  <a:srgbClr val="FF0000"/>
                </a:solidFill>
                <a:latin typeface="Consolas" panose="020B0609020204030204" pitchFamily="49" charset="0"/>
                <a:cs typeface="Consolas" panose="020B0609020204030204" pitchFamily="49" charset="0"/>
              </a:rPr>
              <a:t>else</a:t>
            </a:r>
            <a:r>
              <a:rPr lang="en-US" sz="2200" b="1" dirty="0">
                <a:latin typeface="Consolas" panose="020B0609020204030204" pitchFamily="49" charset="0"/>
                <a:cs typeface="Consolas" panose="020B0609020204030204" pitchFamily="49" charset="0"/>
              </a:rPr>
              <a:t>: </a:t>
            </a:r>
          </a:p>
          <a:p>
            <a:r>
              <a:rPr lang="en-US" sz="2200" b="1" dirty="0">
                <a:solidFill>
                  <a:srgbClr val="FF0000"/>
                </a:solidFill>
                <a:latin typeface="Consolas" panose="020B0609020204030204" pitchFamily="49" charset="0"/>
                <a:cs typeface="Consolas" panose="020B0609020204030204" pitchFamily="49" charset="0"/>
              </a:rPr>
              <a:t>    return</a:t>
            </a:r>
          </a:p>
        </p:txBody>
      </p:sp>
      <p:sp>
        <p:nvSpPr>
          <p:cNvPr id="61" name="TextBox 60">
            <a:extLst>
              <a:ext uri="{FF2B5EF4-FFF2-40B4-BE49-F238E27FC236}">
                <a16:creationId xmlns:a16="http://schemas.microsoft.com/office/drawing/2014/main" id="{DB49C764-10E8-2C40-9C68-11EB5B7C7C30}"/>
              </a:ext>
            </a:extLst>
          </p:cNvPr>
          <p:cNvSpPr txBox="1"/>
          <p:nvPr/>
        </p:nvSpPr>
        <p:spPr>
          <a:xfrm>
            <a:off x="158332" y="1245950"/>
            <a:ext cx="1060868" cy="430887"/>
          </a:xfrm>
          <a:prstGeom prst="rect">
            <a:avLst/>
          </a:prstGeom>
          <a:noFill/>
        </p:spPr>
        <p:txBody>
          <a:bodyPr wrap="none" rtlCol="0">
            <a:spAutoFit/>
          </a:bodyPr>
          <a:lstStyle/>
          <a:p>
            <a:pPr algn="r"/>
            <a:r>
              <a:rPr lang="en-US" sz="2200" b="1" dirty="0"/>
              <a:t>Java/C</a:t>
            </a:r>
          </a:p>
        </p:txBody>
      </p:sp>
      <p:sp>
        <p:nvSpPr>
          <p:cNvPr id="62" name="TextBox 61">
            <a:extLst>
              <a:ext uri="{FF2B5EF4-FFF2-40B4-BE49-F238E27FC236}">
                <a16:creationId xmlns:a16="http://schemas.microsoft.com/office/drawing/2014/main" id="{B8B585F2-C2A5-5641-BEFD-727D517BF573}"/>
              </a:ext>
            </a:extLst>
          </p:cNvPr>
          <p:cNvSpPr txBox="1"/>
          <p:nvPr/>
        </p:nvSpPr>
        <p:spPr>
          <a:xfrm>
            <a:off x="447835" y="1718023"/>
            <a:ext cx="771365" cy="430887"/>
          </a:xfrm>
          <a:prstGeom prst="rect">
            <a:avLst/>
          </a:prstGeom>
          <a:noFill/>
        </p:spPr>
        <p:txBody>
          <a:bodyPr wrap="none" rtlCol="0">
            <a:spAutoFit/>
          </a:bodyPr>
          <a:lstStyle/>
          <a:p>
            <a:pPr algn="r"/>
            <a:r>
              <a:rPr lang="en-US" sz="2200" b="1" dirty="0"/>
              <a:t>Rust</a:t>
            </a:r>
          </a:p>
        </p:txBody>
      </p:sp>
      <p:sp>
        <p:nvSpPr>
          <p:cNvPr id="63" name="TextBox 62">
            <a:extLst>
              <a:ext uri="{FF2B5EF4-FFF2-40B4-BE49-F238E27FC236}">
                <a16:creationId xmlns:a16="http://schemas.microsoft.com/office/drawing/2014/main" id="{E0105C19-2F71-CC47-BEE4-35B61F9784E3}"/>
              </a:ext>
            </a:extLst>
          </p:cNvPr>
          <p:cNvSpPr txBox="1"/>
          <p:nvPr/>
        </p:nvSpPr>
        <p:spPr>
          <a:xfrm>
            <a:off x="568060" y="2200930"/>
            <a:ext cx="651140" cy="430887"/>
          </a:xfrm>
          <a:prstGeom prst="rect">
            <a:avLst/>
          </a:prstGeom>
          <a:noFill/>
        </p:spPr>
        <p:txBody>
          <a:bodyPr wrap="none" rtlCol="0">
            <a:spAutoFit/>
          </a:bodyPr>
          <a:lstStyle/>
          <a:p>
            <a:pPr algn="r"/>
            <a:r>
              <a:rPr lang="en-US" sz="2200" b="1" dirty="0"/>
              <a:t>Lua</a:t>
            </a:r>
          </a:p>
        </p:txBody>
      </p:sp>
      <p:sp>
        <p:nvSpPr>
          <p:cNvPr id="64" name="TextBox 63">
            <a:extLst>
              <a:ext uri="{FF2B5EF4-FFF2-40B4-BE49-F238E27FC236}">
                <a16:creationId xmlns:a16="http://schemas.microsoft.com/office/drawing/2014/main" id="{68C34343-9C5F-FC41-AB34-1E16776B83EF}"/>
              </a:ext>
            </a:extLst>
          </p:cNvPr>
          <p:cNvSpPr txBox="1"/>
          <p:nvPr/>
        </p:nvSpPr>
        <p:spPr>
          <a:xfrm>
            <a:off x="2524520" y="2662726"/>
            <a:ext cx="1132618" cy="430887"/>
          </a:xfrm>
          <a:prstGeom prst="rect">
            <a:avLst/>
          </a:prstGeom>
          <a:noFill/>
        </p:spPr>
        <p:txBody>
          <a:bodyPr wrap="none" rtlCol="0">
            <a:spAutoFit/>
          </a:bodyPr>
          <a:lstStyle/>
          <a:p>
            <a:pPr algn="r"/>
            <a:r>
              <a:rPr lang="en-US" sz="2200" b="1" dirty="0"/>
              <a:t>Python</a:t>
            </a:r>
          </a:p>
        </p:txBody>
      </p:sp>
      <p:sp>
        <p:nvSpPr>
          <p:cNvPr id="68" name="TextBox 67">
            <a:extLst>
              <a:ext uri="{FF2B5EF4-FFF2-40B4-BE49-F238E27FC236}">
                <a16:creationId xmlns:a16="http://schemas.microsoft.com/office/drawing/2014/main" id="{FF947C9C-3362-A249-A6D4-68327F5E5580}"/>
              </a:ext>
            </a:extLst>
          </p:cNvPr>
          <p:cNvSpPr txBox="1"/>
          <p:nvPr/>
        </p:nvSpPr>
        <p:spPr>
          <a:xfrm>
            <a:off x="1209963" y="2627326"/>
            <a:ext cx="1773066" cy="1785104"/>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 x</a:t>
            </a:r>
          </a:p>
          <a:p>
            <a:r>
              <a:rPr lang="en-US" sz="2200" b="1" dirty="0">
                <a:latin typeface="Consolas" panose="020B0609020204030204" pitchFamily="49" charset="0"/>
                <a:cs typeface="Consolas" panose="020B0609020204030204" pitchFamily="49" charset="0"/>
              </a:rPr>
              <a:t>  y </a:t>
            </a:r>
            <a:r>
              <a:rPr lang="en-US" sz="2200" b="1" dirty="0">
                <a:solidFill>
                  <a:schemeClr val="accent3">
                    <a:lumMod val="75000"/>
                  </a:schemeClr>
                </a:solidFill>
                <a:latin typeface="Consolas" panose="020B0609020204030204" pitchFamily="49" charset="0"/>
                <a:cs typeface="Consolas" panose="020B0609020204030204" pitchFamily="49" charset="0"/>
              </a:rPr>
              <a:t>2</a:t>
            </a:r>
            <a:endParaRPr lang="en-US" sz="2200" b="1" dirty="0">
              <a:latin typeface="Consolas" panose="020B0609020204030204" pitchFamily="49" charset="0"/>
              <a:cs typeface="Consolas" panose="020B0609020204030204" pitchFamily="49" charset="0"/>
            </a:endParaRPr>
          </a:p>
          <a:p>
            <a:r>
              <a:rPr lang="en-US" sz="2200" b="1" dirty="0">
                <a:solidFill>
                  <a:srgbClr val="FF0000"/>
                </a:solidFill>
                <a:latin typeface="Consolas" panose="020B0609020204030204" pitchFamily="49" charset="0"/>
                <a:cs typeface="Consolas" panose="020B0609020204030204" pitchFamily="49" charset="0"/>
              </a:rPr>
              <a:t>else</a:t>
            </a:r>
          </a:p>
          <a:p>
            <a:r>
              <a:rPr lang="en-US" sz="2200" b="1" dirty="0">
                <a:solidFill>
                  <a:srgbClr val="FF0000"/>
                </a:solidFill>
                <a:latin typeface="Consolas" panose="020B0609020204030204" pitchFamily="49" charset="0"/>
                <a:cs typeface="Consolas" panose="020B0609020204030204" pitchFamily="49" charset="0"/>
              </a:rPr>
              <a:t>  return</a:t>
            </a:r>
          </a:p>
          <a:p>
            <a:r>
              <a:rPr lang="en-US" sz="2200" b="1" dirty="0">
                <a:solidFill>
                  <a:srgbClr val="FF0000"/>
                </a:solidFill>
                <a:latin typeface="Consolas" panose="020B0609020204030204" pitchFamily="49" charset="0"/>
                <a:cs typeface="Consolas" panose="020B0609020204030204" pitchFamily="49" charset="0"/>
              </a:rPr>
              <a:t>endif</a:t>
            </a:r>
          </a:p>
        </p:txBody>
      </p:sp>
      <p:sp>
        <p:nvSpPr>
          <p:cNvPr id="69" name="TextBox 68">
            <a:extLst>
              <a:ext uri="{FF2B5EF4-FFF2-40B4-BE49-F238E27FC236}">
                <a16:creationId xmlns:a16="http://schemas.microsoft.com/office/drawing/2014/main" id="{CEA92D3A-AE23-F04C-9334-06A917FEE63D}"/>
              </a:ext>
            </a:extLst>
          </p:cNvPr>
          <p:cNvSpPr txBox="1"/>
          <p:nvPr/>
        </p:nvSpPr>
        <p:spPr>
          <a:xfrm>
            <a:off x="344020" y="2662727"/>
            <a:ext cx="865943" cy="430887"/>
          </a:xfrm>
          <a:prstGeom prst="rect">
            <a:avLst/>
          </a:prstGeom>
          <a:noFill/>
        </p:spPr>
        <p:txBody>
          <a:bodyPr wrap="none" rtlCol="0">
            <a:spAutoFit/>
          </a:bodyPr>
          <a:lstStyle/>
          <a:p>
            <a:pPr algn="r"/>
            <a:r>
              <a:rPr lang="en-US" sz="2200" b="1" dirty="0"/>
              <a:t>Ruby</a:t>
            </a:r>
          </a:p>
        </p:txBody>
      </p:sp>
      <p:sp>
        <p:nvSpPr>
          <p:cNvPr id="71" name="TextBox 70">
            <a:extLst>
              <a:ext uri="{FF2B5EF4-FFF2-40B4-BE49-F238E27FC236}">
                <a16:creationId xmlns:a16="http://schemas.microsoft.com/office/drawing/2014/main" id="{077E613C-8914-D649-AFE9-AD5455ABCE14}"/>
              </a:ext>
            </a:extLst>
          </p:cNvPr>
          <p:cNvSpPr txBox="1"/>
          <p:nvPr/>
        </p:nvSpPr>
        <p:spPr>
          <a:xfrm>
            <a:off x="2819400" y="4551165"/>
            <a:ext cx="5767445" cy="769441"/>
          </a:xfrm>
          <a:prstGeom prst="rect">
            <a:avLst/>
          </a:prstGeom>
          <a:noFill/>
        </p:spPr>
        <p:txBody>
          <a:bodyPr wrap="square" rtlCol="0">
            <a:spAutoFit/>
          </a:bodyPr>
          <a:lstStyle/>
          <a:p>
            <a:pPr algn="ctr"/>
            <a:r>
              <a:rPr lang="en-US" sz="2200" dirty="0"/>
              <a:t>of course, these languages </a:t>
            </a:r>
            <a:r>
              <a:rPr lang="en-US" sz="2200" i="1" dirty="0"/>
              <a:t>work </a:t>
            </a:r>
            <a:r>
              <a:rPr lang="en-US" sz="2200" dirty="0"/>
              <a:t>differently, but the point is that the </a:t>
            </a:r>
            <a:r>
              <a:rPr lang="en-US" sz="2200" i="1" dirty="0"/>
              <a:t>syntax</a:t>
            </a:r>
            <a:r>
              <a:rPr lang="en-US" sz="2200" dirty="0"/>
              <a:t> is just fluff.</a:t>
            </a:r>
          </a:p>
        </p:txBody>
      </p:sp>
    </p:spTree>
    <p:extLst>
      <p:ext uri="{BB962C8B-B14F-4D97-AF65-F5344CB8AC3E}">
        <p14:creationId xmlns:p14="http://schemas.microsoft.com/office/powerpoint/2010/main" val="28051393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P spid="59" grpId="0"/>
      <p:bldP spid="60" grpId="0"/>
      <p:bldP spid="61" grpId="0"/>
      <p:bldP spid="62" grpId="0"/>
      <p:bldP spid="63" grpId="0"/>
      <p:bldP spid="64" grpId="0"/>
      <p:bldP spid="68" grpId="0"/>
      <p:bldP spid="69" grpId="0"/>
      <p:bldP spid="7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19B0D-19F5-3B4C-ACFB-E346AE9C8BCD}"/>
              </a:ext>
            </a:extLst>
          </p:cNvPr>
          <p:cNvSpPr>
            <a:spLocks noGrp="1"/>
          </p:cNvSpPr>
          <p:nvPr>
            <p:ph type="title"/>
          </p:nvPr>
        </p:nvSpPr>
        <p:spPr/>
        <p:txBody>
          <a:bodyPr/>
          <a:lstStyle/>
          <a:p>
            <a:r>
              <a:rPr lang="en-US" dirty="0"/>
              <a:t>Values, expressions, and statements</a:t>
            </a:r>
          </a:p>
        </p:txBody>
      </p:sp>
      <p:sp>
        <p:nvSpPr>
          <p:cNvPr id="3" name="Content Placeholder 2">
            <a:extLst>
              <a:ext uri="{FF2B5EF4-FFF2-40B4-BE49-F238E27FC236}">
                <a16:creationId xmlns:a16="http://schemas.microsoft.com/office/drawing/2014/main" id="{CC11339C-3E6F-9247-AF61-6094F31DD84F}"/>
              </a:ext>
            </a:extLst>
          </p:cNvPr>
          <p:cNvSpPr>
            <a:spLocks noGrp="1"/>
          </p:cNvSpPr>
          <p:nvPr>
            <p:ph idx="1"/>
          </p:nvPr>
        </p:nvSpPr>
        <p:spPr>
          <a:xfrm>
            <a:off x="152400" y="495301"/>
            <a:ext cx="8991600" cy="838199"/>
          </a:xfrm>
        </p:spPr>
        <p:txBody>
          <a:bodyPr/>
          <a:lstStyle/>
          <a:p>
            <a:r>
              <a:rPr lang="en-US" dirty="0"/>
              <a:t>computation is the act of transforming </a:t>
            </a:r>
            <a:r>
              <a:rPr lang="en-US" b="1" dirty="0"/>
              <a:t>values </a:t>
            </a:r>
            <a:r>
              <a:rPr lang="en-US" dirty="0"/>
              <a:t>into different values.</a:t>
            </a:r>
          </a:p>
          <a:p>
            <a:pPr lvl="1"/>
            <a:r>
              <a:rPr lang="en-US" dirty="0"/>
              <a:t>values are just things like </a:t>
            </a:r>
            <a:r>
              <a:rPr lang="en-US" dirty="0" err="1"/>
              <a:t>ints</a:t>
            </a:r>
            <a:r>
              <a:rPr lang="en-US" dirty="0"/>
              <a:t>, strings, objects, etc.</a:t>
            </a:r>
          </a:p>
        </p:txBody>
      </p:sp>
      <p:sp>
        <p:nvSpPr>
          <p:cNvPr id="4" name="Slide Number Placeholder 3">
            <a:extLst>
              <a:ext uri="{FF2B5EF4-FFF2-40B4-BE49-F238E27FC236}">
                <a16:creationId xmlns:a16="http://schemas.microsoft.com/office/drawing/2014/main" id="{D5055C0F-8BA9-E744-B8D6-F8D064E0B8A7}"/>
              </a:ext>
            </a:extLst>
          </p:cNvPr>
          <p:cNvSpPr>
            <a:spLocks noGrp="1"/>
          </p:cNvSpPr>
          <p:nvPr>
            <p:ph type="sldNum" sz="quarter" idx="12"/>
          </p:nvPr>
        </p:nvSpPr>
        <p:spPr/>
        <p:txBody>
          <a:bodyPr/>
          <a:lstStyle/>
          <a:p>
            <a:fld id="{3552B95B-556F-44BD-91A5-D80C1B9E2BB3}" type="slidenum">
              <a:rPr lang="en-US" smtClean="0"/>
              <a:pPr/>
              <a:t>13</a:t>
            </a:fld>
            <a:endParaRPr lang="en-US"/>
          </a:p>
        </p:txBody>
      </p:sp>
      <p:sp>
        <p:nvSpPr>
          <p:cNvPr id="5" name="TextBox 4">
            <a:extLst>
              <a:ext uri="{FF2B5EF4-FFF2-40B4-BE49-F238E27FC236}">
                <a16:creationId xmlns:a16="http://schemas.microsoft.com/office/drawing/2014/main" id="{0B83D778-1C38-EE43-89CD-FD6EDD8B0A6F}"/>
              </a:ext>
            </a:extLst>
          </p:cNvPr>
          <p:cNvSpPr txBox="1"/>
          <p:nvPr/>
        </p:nvSpPr>
        <p:spPr>
          <a:xfrm>
            <a:off x="596563" y="1333500"/>
            <a:ext cx="3883796" cy="769441"/>
          </a:xfrm>
          <a:prstGeom prst="rect">
            <a:avLst/>
          </a:prstGeom>
          <a:noFill/>
        </p:spPr>
        <p:txBody>
          <a:bodyPr wrap="square" rtlCol="0">
            <a:spAutoFit/>
          </a:bodyPr>
          <a:lstStyle/>
          <a:p>
            <a:pPr algn="ctr"/>
            <a:r>
              <a:rPr lang="en-US" sz="2200" dirty="0"/>
              <a:t>when you </a:t>
            </a:r>
            <a:r>
              <a:rPr lang="en-US" sz="2200" b="1" dirty="0"/>
              <a:t>execute an expression, </a:t>
            </a:r>
            <a:r>
              <a:rPr lang="en-US" sz="2200" dirty="0"/>
              <a:t>you get a value.</a:t>
            </a:r>
          </a:p>
        </p:txBody>
      </p:sp>
      <p:sp>
        <p:nvSpPr>
          <p:cNvPr id="6" name="TextBox 5">
            <a:extLst>
              <a:ext uri="{FF2B5EF4-FFF2-40B4-BE49-F238E27FC236}">
                <a16:creationId xmlns:a16="http://schemas.microsoft.com/office/drawing/2014/main" id="{D2E6D595-B082-6A41-997C-087BA4835AC3}"/>
              </a:ext>
            </a:extLst>
          </p:cNvPr>
          <p:cNvSpPr txBox="1"/>
          <p:nvPr/>
        </p:nvSpPr>
        <p:spPr>
          <a:xfrm>
            <a:off x="4924522" y="1333500"/>
            <a:ext cx="3347988" cy="769441"/>
          </a:xfrm>
          <a:prstGeom prst="rect">
            <a:avLst/>
          </a:prstGeom>
          <a:noFill/>
        </p:spPr>
        <p:txBody>
          <a:bodyPr wrap="square" rtlCol="0">
            <a:spAutoFit/>
          </a:bodyPr>
          <a:lstStyle/>
          <a:p>
            <a:pPr algn="ctr"/>
            <a:r>
              <a:rPr lang="en-US" sz="2200" dirty="0"/>
              <a:t>when you </a:t>
            </a:r>
            <a:r>
              <a:rPr lang="en-US" sz="2200" b="1" dirty="0"/>
              <a:t>execute a statement, </a:t>
            </a:r>
            <a:r>
              <a:rPr lang="en-US" sz="2200" dirty="0"/>
              <a:t>you… don't.</a:t>
            </a:r>
          </a:p>
        </p:txBody>
      </p:sp>
      <p:sp>
        <p:nvSpPr>
          <p:cNvPr id="7" name="TextBox 6">
            <a:extLst>
              <a:ext uri="{FF2B5EF4-FFF2-40B4-BE49-F238E27FC236}">
                <a16:creationId xmlns:a16="http://schemas.microsoft.com/office/drawing/2014/main" id="{77040F7D-FFA3-A648-946B-F21C0388F741}"/>
              </a:ext>
            </a:extLst>
          </p:cNvPr>
          <p:cNvSpPr txBox="1"/>
          <p:nvPr/>
        </p:nvSpPr>
        <p:spPr>
          <a:xfrm>
            <a:off x="835582" y="2387142"/>
            <a:ext cx="990600" cy="430887"/>
          </a:xfrm>
          <a:prstGeom prst="rect">
            <a:avLst/>
          </a:prstGeom>
          <a:noFill/>
        </p:spPr>
        <p:txBody>
          <a:bodyPr wrap="square" rtlCol="0">
            <a:spAutoFit/>
          </a:bodyPr>
          <a:lstStyle/>
          <a:p>
            <a:r>
              <a:rPr lang="en-US" sz="2200" b="1" dirty="0">
                <a:latin typeface="Consolas" panose="020B0609020204030204" pitchFamily="49" charset="0"/>
                <a:cs typeface="Consolas" panose="020B0609020204030204" pitchFamily="49" charset="0"/>
              </a:rPr>
              <a:t>x + y</a:t>
            </a:r>
          </a:p>
        </p:txBody>
      </p:sp>
      <p:sp>
        <p:nvSpPr>
          <p:cNvPr id="8" name="TextBox 7">
            <a:extLst>
              <a:ext uri="{FF2B5EF4-FFF2-40B4-BE49-F238E27FC236}">
                <a16:creationId xmlns:a16="http://schemas.microsoft.com/office/drawing/2014/main" id="{796130EF-EF9D-B947-A3F5-62FFBD37E4FB}"/>
              </a:ext>
            </a:extLst>
          </p:cNvPr>
          <p:cNvSpPr txBox="1"/>
          <p:nvPr/>
        </p:nvSpPr>
        <p:spPr>
          <a:xfrm>
            <a:off x="2620481" y="2171699"/>
            <a:ext cx="775037" cy="430887"/>
          </a:xfrm>
          <a:prstGeom prst="rect">
            <a:avLst/>
          </a:prstGeom>
          <a:noFill/>
        </p:spPr>
        <p:txBody>
          <a:bodyPr wrap="square" rtlCol="0">
            <a:spAutoFit/>
          </a:bodyPr>
          <a:lstStyle/>
          <a:p>
            <a:r>
              <a:rPr lang="en-US" sz="2200" b="1" dirty="0">
                <a:solidFill>
                  <a:schemeClr val="accent3">
                    <a:lumMod val="75000"/>
                  </a:schemeClr>
                </a:solidFill>
                <a:latin typeface="Consolas" panose="020B0609020204030204" pitchFamily="49" charset="0"/>
                <a:cs typeface="Consolas" panose="020B0609020204030204" pitchFamily="49" charset="0"/>
              </a:rPr>
              <a:t>2.8</a:t>
            </a:r>
            <a:endParaRPr lang="en-US" sz="2200" b="1" dirty="0">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7546CFF1-520D-2D4B-936B-02EA2DECD30E}"/>
              </a:ext>
            </a:extLst>
          </p:cNvPr>
          <p:cNvSpPr txBox="1"/>
          <p:nvPr/>
        </p:nvSpPr>
        <p:spPr>
          <a:xfrm>
            <a:off x="2136743" y="2681528"/>
            <a:ext cx="2122078" cy="430887"/>
          </a:xfrm>
          <a:prstGeom prst="rect">
            <a:avLst/>
          </a:prstGeom>
          <a:noFill/>
        </p:spPr>
        <p:txBody>
          <a:bodyPr wrap="square" rtlCol="0">
            <a:spAutoFit/>
          </a:bodyPr>
          <a:lstStyle/>
          <a:p>
            <a:r>
              <a:rPr lang="en-US" sz="2200" b="1" dirty="0">
                <a:latin typeface="Consolas" panose="020B0609020204030204" pitchFamily="49" charset="0"/>
                <a:cs typeface="Consolas" panose="020B0609020204030204" pitchFamily="49" charset="0"/>
              </a:rPr>
              <a:t>sin(</a:t>
            </a:r>
            <a:r>
              <a:rPr lang="en-US" sz="2200" b="1" dirty="0">
                <a:solidFill>
                  <a:schemeClr val="accent3">
                    <a:lumMod val="75000"/>
                  </a:schemeClr>
                </a:solidFill>
                <a:latin typeface="Consolas" panose="020B0609020204030204" pitchFamily="49" charset="0"/>
                <a:cs typeface="Consolas" panose="020B0609020204030204" pitchFamily="49" charset="0"/>
              </a:rPr>
              <a:t>2</a:t>
            </a:r>
            <a:r>
              <a:rPr lang="en-US" sz="2200" b="1" dirty="0">
                <a:latin typeface="Consolas" panose="020B0609020204030204" pitchFamily="49" charset="0"/>
                <a:cs typeface="Consolas" panose="020B0609020204030204" pitchFamily="49" charset="0"/>
              </a:rPr>
              <a:t> * ang)</a:t>
            </a:r>
          </a:p>
        </p:txBody>
      </p:sp>
      <p:sp>
        <p:nvSpPr>
          <p:cNvPr id="10" name="TextBox 9">
            <a:extLst>
              <a:ext uri="{FF2B5EF4-FFF2-40B4-BE49-F238E27FC236}">
                <a16:creationId xmlns:a16="http://schemas.microsoft.com/office/drawing/2014/main" id="{5AA95F62-0AA3-4B40-8933-0BC952074D7C}"/>
              </a:ext>
            </a:extLst>
          </p:cNvPr>
          <p:cNvSpPr txBox="1"/>
          <p:nvPr/>
        </p:nvSpPr>
        <p:spPr>
          <a:xfrm>
            <a:off x="381891" y="3173312"/>
            <a:ext cx="2122079" cy="430887"/>
          </a:xfrm>
          <a:prstGeom prst="rect">
            <a:avLst/>
          </a:prstGeom>
          <a:noFill/>
        </p:spPr>
        <p:txBody>
          <a:bodyPr wrap="square" rtlCol="0">
            <a:spAutoFit/>
          </a:bodyPr>
          <a:lstStyle/>
          <a:p>
            <a:r>
              <a:rPr lang="en-US" sz="2200" b="1" dirty="0" err="1">
                <a:latin typeface="Consolas" panose="020B0609020204030204" pitchFamily="49" charset="0"/>
                <a:cs typeface="Consolas" panose="020B0609020204030204" pitchFamily="49" charset="0"/>
              </a:rPr>
              <a:t>arr</a:t>
            </a:r>
            <a:r>
              <a:rPr lang="en-US" sz="2200" b="1" dirty="0">
                <a:latin typeface="Consolas" panose="020B0609020204030204" pitchFamily="49" charset="0"/>
                <a:cs typeface="Consolas" panose="020B0609020204030204" pitchFamily="49" charset="0"/>
              </a:rPr>
              <a:t>[i] + </a:t>
            </a:r>
            <a:r>
              <a:rPr lang="en-US" sz="2200" b="1" dirty="0">
                <a:solidFill>
                  <a:schemeClr val="accent6">
                    <a:lumMod val="75000"/>
                  </a:schemeClr>
                </a:solidFill>
                <a:latin typeface="Consolas" panose="020B0609020204030204" pitchFamily="49" charset="0"/>
                <a:cs typeface="Consolas" panose="020B0609020204030204" pitchFamily="49" charset="0"/>
              </a:rPr>
              <a:t>";"</a:t>
            </a:r>
          </a:p>
        </p:txBody>
      </p:sp>
      <p:sp>
        <p:nvSpPr>
          <p:cNvPr id="11" name="TextBox 10">
            <a:extLst>
              <a:ext uri="{FF2B5EF4-FFF2-40B4-BE49-F238E27FC236}">
                <a16:creationId xmlns:a16="http://schemas.microsoft.com/office/drawing/2014/main" id="{E40CA6F4-5554-344C-9925-47DD8D848B03}"/>
              </a:ext>
            </a:extLst>
          </p:cNvPr>
          <p:cNvSpPr txBox="1"/>
          <p:nvPr/>
        </p:nvSpPr>
        <p:spPr>
          <a:xfrm>
            <a:off x="2169549" y="3620924"/>
            <a:ext cx="1676900" cy="430887"/>
          </a:xfrm>
          <a:prstGeom prst="rect">
            <a:avLst/>
          </a:prstGeom>
          <a:noFill/>
        </p:spPr>
        <p:txBody>
          <a:bodyPr wrap="square" rtlCol="0">
            <a:spAutoFit/>
          </a:bodyPr>
          <a:lstStyle/>
          <a:p>
            <a:r>
              <a:rPr lang="en-US" sz="2200" b="1" dirty="0" err="1">
                <a:latin typeface="Consolas" panose="020B0609020204030204" pitchFamily="49" charset="0"/>
                <a:cs typeface="Consolas" panose="020B0609020204030204" pitchFamily="49" charset="0"/>
              </a:rPr>
              <a:t>obj.field</a:t>
            </a:r>
            <a:endParaRPr lang="en-US" sz="2200" b="1" dirty="0">
              <a:solidFill>
                <a:schemeClr val="accent3">
                  <a:lumMod val="75000"/>
                </a:schemeClr>
              </a:solidFill>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64E5848B-2CDF-6A4A-B0B8-7B76DAE2B86C}"/>
              </a:ext>
            </a:extLst>
          </p:cNvPr>
          <p:cNvSpPr txBox="1"/>
          <p:nvPr/>
        </p:nvSpPr>
        <p:spPr>
          <a:xfrm>
            <a:off x="5181600" y="2235492"/>
            <a:ext cx="1676900" cy="430887"/>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return</a:t>
            </a:r>
            <a:r>
              <a:rPr lang="en-US" sz="2200" b="1" dirty="0">
                <a:latin typeface="Consolas" panose="020B0609020204030204" pitchFamily="49" charset="0"/>
                <a:cs typeface="Consolas" panose="020B0609020204030204" pitchFamily="49" charset="0"/>
              </a:rPr>
              <a:t>;</a:t>
            </a:r>
          </a:p>
        </p:txBody>
      </p:sp>
      <p:sp>
        <p:nvSpPr>
          <p:cNvPr id="14" name="TextBox 13">
            <a:extLst>
              <a:ext uri="{FF2B5EF4-FFF2-40B4-BE49-F238E27FC236}">
                <a16:creationId xmlns:a16="http://schemas.microsoft.com/office/drawing/2014/main" id="{05EDD142-540E-7046-9603-0512D9AC65EB}"/>
              </a:ext>
            </a:extLst>
          </p:cNvPr>
          <p:cNvSpPr txBox="1"/>
          <p:nvPr/>
        </p:nvSpPr>
        <p:spPr>
          <a:xfrm>
            <a:off x="7357311" y="2235492"/>
            <a:ext cx="1447800" cy="769441"/>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 … </a:t>
            </a:r>
            <a:r>
              <a:rPr lang="en-US" sz="2200" b="1" dirty="0">
                <a:solidFill>
                  <a:srgbClr val="FF0000"/>
                </a:solidFill>
                <a:latin typeface="Consolas" panose="020B0609020204030204" pitchFamily="49" charset="0"/>
                <a:cs typeface="Consolas" panose="020B0609020204030204" pitchFamily="49" charset="0"/>
              </a:rPr>
              <a:t>else</a:t>
            </a:r>
            <a:r>
              <a:rPr lang="en-US" sz="2200" b="1" dirty="0">
                <a:latin typeface="Consolas" panose="020B0609020204030204" pitchFamily="49" charset="0"/>
                <a:cs typeface="Consolas" panose="020B0609020204030204" pitchFamily="49" charset="0"/>
              </a:rPr>
              <a:t> …</a:t>
            </a:r>
          </a:p>
        </p:txBody>
      </p:sp>
      <p:sp>
        <p:nvSpPr>
          <p:cNvPr id="15" name="TextBox 14">
            <a:extLst>
              <a:ext uri="{FF2B5EF4-FFF2-40B4-BE49-F238E27FC236}">
                <a16:creationId xmlns:a16="http://schemas.microsoft.com/office/drawing/2014/main" id="{238D3BBC-602B-5740-9FA4-09EDD8AFD331}"/>
              </a:ext>
            </a:extLst>
          </p:cNvPr>
          <p:cNvSpPr txBox="1"/>
          <p:nvPr/>
        </p:nvSpPr>
        <p:spPr>
          <a:xfrm>
            <a:off x="4690311" y="2849985"/>
            <a:ext cx="2667000" cy="430887"/>
          </a:xfrm>
          <a:prstGeom prst="rect">
            <a:avLst/>
          </a:prstGeom>
          <a:noFill/>
        </p:spPr>
        <p:txBody>
          <a:bodyPr wrap="square" rtlCol="0">
            <a:spAutoFit/>
          </a:bodyPr>
          <a:lstStyle/>
          <a:p>
            <a:r>
              <a:rPr lang="en-US" sz="2200" b="1" dirty="0" err="1">
                <a:latin typeface="Consolas" panose="020B0609020204030204" pitchFamily="49" charset="0"/>
                <a:cs typeface="Consolas" panose="020B0609020204030204" pitchFamily="49" charset="0"/>
              </a:rPr>
              <a:t>printf</a:t>
            </a:r>
            <a:r>
              <a:rPr lang="en-US" sz="2200" b="1" dirty="0">
                <a:latin typeface="Consolas" panose="020B0609020204030204" pitchFamily="49" charset="0"/>
                <a:cs typeface="Consolas" panose="020B0609020204030204" pitchFamily="49" charset="0"/>
              </a:rPr>
              <a:t>(</a:t>
            </a:r>
            <a:r>
              <a:rPr lang="en-US" sz="2200" b="1" dirty="0">
                <a:solidFill>
                  <a:schemeClr val="accent6">
                    <a:lumMod val="75000"/>
                  </a:schemeClr>
                </a:solidFill>
                <a:latin typeface="Consolas" panose="020B0609020204030204" pitchFamily="49" charset="0"/>
                <a:cs typeface="Consolas" panose="020B0609020204030204" pitchFamily="49" charset="0"/>
              </a:rPr>
              <a:t>"hi!\n"</a:t>
            </a:r>
            <a:r>
              <a:rPr lang="en-US" sz="2200" b="1" dirty="0">
                <a:latin typeface="Consolas" panose="020B0609020204030204" pitchFamily="49" charset="0"/>
                <a:cs typeface="Consolas" panose="020B0609020204030204" pitchFamily="49" charset="0"/>
              </a:rPr>
              <a:t>);</a:t>
            </a:r>
          </a:p>
        </p:txBody>
      </p:sp>
      <p:sp>
        <p:nvSpPr>
          <p:cNvPr id="17" name="TextBox 16">
            <a:extLst>
              <a:ext uri="{FF2B5EF4-FFF2-40B4-BE49-F238E27FC236}">
                <a16:creationId xmlns:a16="http://schemas.microsoft.com/office/drawing/2014/main" id="{C35547D3-FBE7-124E-8E37-81A9E46D6EAC}"/>
              </a:ext>
            </a:extLst>
          </p:cNvPr>
          <p:cNvSpPr txBox="1"/>
          <p:nvPr/>
        </p:nvSpPr>
        <p:spPr>
          <a:xfrm>
            <a:off x="5525000" y="3441755"/>
            <a:ext cx="2667000" cy="430887"/>
          </a:xfrm>
          <a:prstGeom prst="rect">
            <a:avLst/>
          </a:prstGeom>
          <a:noFill/>
        </p:spPr>
        <p:txBody>
          <a:bodyPr wrap="square" rtlCol="0">
            <a:spAutoFit/>
          </a:bodyPr>
          <a:lstStyle/>
          <a:p>
            <a:r>
              <a:rPr lang="en-US" sz="2200" b="1" dirty="0">
                <a:latin typeface="Consolas" panose="020B0609020204030204" pitchFamily="49" charset="0"/>
                <a:cs typeface="Consolas" panose="020B0609020204030204" pitchFamily="49" charset="0"/>
              </a:rPr>
              <a:t>{ …statements… }</a:t>
            </a:r>
          </a:p>
        </p:txBody>
      </p:sp>
      <p:sp>
        <p:nvSpPr>
          <p:cNvPr id="18" name="TextBox 17">
            <a:extLst>
              <a:ext uri="{FF2B5EF4-FFF2-40B4-BE49-F238E27FC236}">
                <a16:creationId xmlns:a16="http://schemas.microsoft.com/office/drawing/2014/main" id="{EA89157F-ED42-0D4A-AD4F-E2BB1540E863}"/>
              </a:ext>
            </a:extLst>
          </p:cNvPr>
          <p:cNvSpPr txBox="1"/>
          <p:nvPr/>
        </p:nvSpPr>
        <p:spPr>
          <a:xfrm>
            <a:off x="402610" y="4057677"/>
            <a:ext cx="5181600" cy="769441"/>
          </a:xfrm>
          <a:prstGeom prst="rect">
            <a:avLst/>
          </a:prstGeom>
          <a:noFill/>
        </p:spPr>
        <p:txBody>
          <a:bodyPr wrap="square" rtlCol="0">
            <a:spAutoFit/>
          </a:bodyPr>
          <a:lstStyle/>
          <a:p>
            <a:pPr algn="ctr"/>
            <a:r>
              <a:rPr lang="en-US" sz="2200" dirty="0"/>
              <a:t>but there are many exceptions, and not every language makes this distinction.</a:t>
            </a:r>
          </a:p>
        </p:txBody>
      </p:sp>
      <p:sp>
        <p:nvSpPr>
          <p:cNvPr id="19" name="TextBox 18">
            <a:extLst>
              <a:ext uri="{FF2B5EF4-FFF2-40B4-BE49-F238E27FC236}">
                <a16:creationId xmlns:a16="http://schemas.microsoft.com/office/drawing/2014/main" id="{BF50426B-F82F-534D-89C9-14AF1D3BE10B}"/>
              </a:ext>
            </a:extLst>
          </p:cNvPr>
          <p:cNvSpPr txBox="1"/>
          <p:nvPr/>
        </p:nvSpPr>
        <p:spPr>
          <a:xfrm>
            <a:off x="2919142" y="4765662"/>
            <a:ext cx="5862138" cy="769441"/>
          </a:xfrm>
          <a:prstGeom prst="rect">
            <a:avLst/>
          </a:prstGeom>
          <a:noFill/>
        </p:spPr>
        <p:txBody>
          <a:bodyPr wrap="square" rtlCol="0">
            <a:spAutoFit/>
          </a:bodyPr>
          <a:lstStyle/>
          <a:p>
            <a:pPr algn="ctr"/>
            <a:r>
              <a:rPr lang="en-US" sz="2200" dirty="0"/>
              <a:t>it's good to know the terms though, cause they come up a lot in parsing and semantics.</a:t>
            </a:r>
          </a:p>
        </p:txBody>
      </p:sp>
    </p:spTree>
    <p:extLst>
      <p:ext uri="{BB962C8B-B14F-4D97-AF65-F5344CB8AC3E}">
        <p14:creationId xmlns:p14="http://schemas.microsoft.com/office/powerpoint/2010/main" val="30315846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4" grpId="0"/>
      <p:bldP spid="15" grpId="0"/>
      <p:bldP spid="17" grpId="0"/>
      <p:bldP spid="1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29ED5-3B5A-4345-9822-2C1B4D4C5267}"/>
              </a:ext>
            </a:extLst>
          </p:cNvPr>
          <p:cNvSpPr>
            <a:spLocks noGrp="1"/>
          </p:cNvSpPr>
          <p:nvPr>
            <p:ph type="title"/>
          </p:nvPr>
        </p:nvSpPr>
        <p:spPr/>
        <p:txBody>
          <a:bodyPr/>
          <a:lstStyle/>
          <a:p>
            <a:r>
              <a:rPr lang="en-US" dirty="0"/>
              <a:t>What about Rust?</a:t>
            </a:r>
          </a:p>
        </p:txBody>
      </p:sp>
      <p:sp>
        <p:nvSpPr>
          <p:cNvPr id="3" name="Content Placeholder 2">
            <a:extLst>
              <a:ext uri="{FF2B5EF4-FFF2-40B4-BE49-F238E27FC236}">
                <a16:creationId xmlns:a16="http://schemas.microsoft.com/office/drawing/2014/main" id="{37A72CCA-C3C0-AC4A-8D5D-EB2F195DCEDE}"/>
              </a:ext>
            </a:extLst>
          </p:cNvPr>
          <p:cNvSpPr>
            <a:spLocks noGrp="1"/>
          </p:cNvSpPr>
          <p:nvPr>
            <p:ph idx="1"/>
          </p:nvPr>
        </p:nvSpPr>
        <p:spPr>
          <a:xfrm>
            <a:off x="152400" y="495301"/>
            <a:ext cx="8991600" cy="495301"/>
          </a:xfrm>
        </p:spPr>
        <p:txBody>
          <a:bodyPr/>
          <a:lstStyle/>
          <a:p>
            <a:r>
              <a:rPr lang="en-US" dirty="0"/>
              <a:t>actually, Rust </a:t>
            </a:r>
            <a:r>
              <a:rPr lang="en-US" b="1" dirty="0"/>
              <a:t>only has expressions. </a:t>
            </a:r>
            <a:r>
              <a:rPr lang="en-US" i="1" dirty="0"/>
              <a:t>everything</a:t>
            </a:r>
            <a:r>
              <a:rPr lang="en-US" dirty="0"/>
              <a:t> can give a value.</a:t>
            </a:r>
          </a:p>
        </p:txBody>
      </p:sp>
      <p:sp>
        <p:nvSpPr>
          <p:cNvPr id="4" name="Slide Number Placeholder 3">
            <a:extLst>
              <a:ext uri="{FF2B5EF4-FFF2-40B4-BE49-F238E27FC236}">
                <a16:creationId xmlns:a16="http://schemas.microsoft.com/office/drawing/2014/main" id="{BBBB6A01-C6D9-9E46-934A-CA19423EB4C7}"/>
              </a:ext>
            </a:extLst>
          </p:cNvPr>
          <p:cNvSpPr>
            <a:spLocks noGrp="1"/>
          </p:cNvSpPr>
          <p:nvPr>
            <p:ph type="sldNum" sz="quarter" idx="12"/>
          </p:nvPr>
        </p:nvSpPr>
        <p:spPr/>
        <p:txBody>
          <a:bodyPr/>
          <a:lstStyle/>
          <a:p>
            <a:fld id="{3552B95B-556F-44BD-91A5-D80C1B9E2BB3}" type="slidenum">
              <a:rPr lang="en-US" smtClean="0"/>
              <a:pPr/>
              <a:t>14</a:t>
            </a:fld>
            <a:endParaRPr lang="en-US"/>
          </a:p>
        </p:txBody>
      </p:sp>
      <p:sp>
        <p:nvSpPr>
          <p:cNvPr id="5" name="TextBox 4">
            <a:extLst>
              <a:ext uri="{FF2B5EF4-FFF2-40B4-BE49-F238E27FC236}">
                <a16:creationId xmlns:a16="http://schemas.microsoft.com/office/drawing/2014/main" id="{96DA2B61-CB25-1047-AE1A-3CEC636FFDC9}"/>
              </a:ext>
            </a:extLst>
          </p:cNvPr>
          <p:cNvSpPr txBox="1"/>
          <p:nvPr/>
        </p:nvSpPr>
        <p:spPr>
          <a:xfrm>
            <a:off x="457200" y="1150159"/>
            <a:ext cx="5334000" cy="430887"/>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let</a:t>
            </a:r>
            <a:r>
              <a:rPr lang="en-US" sz="2200" b="1" dirty="0">
                <a:latin typeface="Consolas" panose="020B0609020204030204" pitchFamily="49" charset="0"/>
                <a:cs typeface="Consolas" panose="020B0609020204030204" pitchFamily="49" charset="0"/>
              </a:rPr>
              <a:t> x = </a:t>
            </a:r>
            <a:r>
              <a:rPr lang="en-US" sz="2200" b="1" dirty="0">
                <a:solidFill>
                  <a:srgbClr val="FF0000"/>
                </a:solidFill>
                <a:latin typeface="Consolas" panose="020B0609020204030204" pitchFamily="49" charset="0"/>
                <a:cs typeface="Consolas" panose="020B0609020204030204" pitchFamily="49" charset="0"/>
              </a:rPr>
              <a:t>if</a:t>
            </a:r>
            <a:r>
              <a:rPr lang="en-US" sz="2200" b="1" dirty="0">
                <a:latin typeface="Consolas" panose="020B0609020204030204" pitchFamily="49" charset="0"/>
                <a:cs typeface="Consolas" panose="020B0609020204030204" pitchFamily="49" charset="0"/>
              </a:rPr>
              <a:t> y {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 } </a:t>
            </a:r>
            <a:r>
              <a:rPr lang="en-US" sz="2200" b="1" dirty="0">
                <a:solidFill>
                  <a:srgbClr val="FF0000"/>
                </a:solidFill>
                <a:latin typeface="Consolas" panose="020B0609020204030204" pitchFamily="49" charset="0"/>
                <a:cs typeface="Consolas" panose="020B0609020204030204" pitchFamily="49" charset="0"/>
              </a:rPr>
              <a:t>else</a:t>
            </a:r>
            <a:r>
              <a:rPr lang="en-US" sz="2200" b="1" dirty="0">
                <a:latin typeface="Consolas" panose="020B0609020204030204" pitchFamily="49" charset="0"/>
                <a:cs typeface="Consolas" panose="020B0609020204030204" pitchFamily="49" charset="0"/>
              </a:rPr>
              <a:t> { </a:t>
            </a:r>
            <a:r>
              <a:rPr lang="en-US" sz="2200" b="1" dirty="0">
                <a:solidFill>
                  <a:schemeClr val="accent3">
                    <a:lumMod val="75000"/>
                  </a:schemeClr>
                </a:solidFill>
                <a:latin typeface="Consolas" panose="020B0609020204030204" pitchFamily="49" charset="0"/>
                <a:cs typeface="Consolas" panose="020B0609020204030204" pitchFamily="49" charset="0"/>
              </a:rPr>
              <a:t>20</a:t>
            </a:r>
            <a:r>
              <a:rPr lang="en-US" sz="2200" b="1" dirty="0">
                <a:latin typeface="Consolas" panose="020B0609020204030204" pitchFamily="49" charset="0"/>
                <a:cs typeface="Consolas" panose="020B0609020204030204" pitchFamily="49" charset="0"/>
              </a:rPr>
              <a:t> };</a:t>
            </a:r>
          </a:p>
        </p:txBody>
      </p:sp>
      <p:sp>
        <p:nvSpPr>
          <p:cNvPr id="6" name="TextBox 5">
            <a:extLst>
              <a:ext uri="{FF2B5EF4-FFF2-40B4-BE49-F238E27FC236}">
                <a16:creationId xmlns:a16="http://schemas.microsoft.com/office/drawing/2014/main" id="{AC8344B6-FBDA-594B-9B93-44138779B61B}"/>
              </a:ext>
            </a:extLst>
          </p:cNvPr>
          <p:cNvSpPr txBox="1"/>
          <p:nvPr/>
        </p:nvSpPr>
        <p:spPr>
          <a:xfrm>
            <a:off x="457200" y="1811383"/>
            <a:ext cx="4419600" cy="2800767"/>
          </a:xfrm>
          <a:prstGeom prst="rect">
            <a:avLst/>
          </a:prstGeom>
          <a:noFill/>
        </p:spPr>
        <p:txBody>
          <a:bodyPr wrap="square" rtlCol="0">
            <a:spAutoFit/>
          </a:bodyPr>
          <a:lstStyle/>
          <a:p>
            <a:r>
              <a:rPr lang="en-US" sz="2200" b="1" dirty="0" err="1">
                <a:solidFill>
                  <a:srgbClr val="FF0000"/>
                </a:solidFill>
                <a:latin typeface="Consolas" panose="020B0609020204030204" pitchFamily="49" charset="0"/>
                <a:cs typeface="Consolas" panose="020B0609020204030204" pitchFamily="49" charset="0"/>
              </a:rPr>
              <a:t>fn</a:t>
            </a:r>
            <a:r>
              <a:rPr lang="en-US" sz="2200" b="1" dirty="0">
                <a:solidFill>
                  <a:srgbClr val="FF0000"/>
                </a:solidFill>
                <a:latin typeface="Consolas" panose="020B0609020204030204" pitchFamily="49" charset="0"/>
                <a:cs typeface="Consolas" panose="020B0609020204030204" pitchFamily="49" charset="0"/>
              </a:rPr>
              <a:t> </a:t>
            </a:r>
            <a:r>
              <a:rPr lang="en-US" sz="2200" b="1" dirty="0">
                <a:latin typeface="Consolas" panose="020B0609020204030204" pitchFamily="49" charset="0"/>
                <a:cs typeface="Consolas" panose="020B0609020204030204" pitchFamily="49" charset="0"/>
              </a:rPr>
              <a:t>radix(c:</a:t>
            </a:r>
            <a:r>
              <a:rPr lang="en-US" sz="2200" b="1" dirty="0">
                <a:solidFill>
                  <a:srgbClr val="FF0000"/>
                </a:solidFill>
                <a:latin typeface="Consolas" panose="020B0609020204030204" pitchFamily="49" charset="0"/>
                <a:cs typeface="Consolas" panose="020B0609020204030204" pitchFamily="49" charset="0"/>
              </a:rPr>
              <a:t> char</a:t>
            </a:r>
            <a:r>
              <a:rPr lang="en-US" sz="2200" b="1" dirty="0">
                <a:latin typeface="Consolas" panose="020B0609020204030204" pitchFamily="49" charset="0"/>
                <a:cs typeface="Consolas" panose="020B0609020204030204" pitchFamily="49" charset="0"/>
              </a:rPr>
              <a:t>) -&gt; Base {</a:t>
            </a:r>
          </a:p>
          <a:p>
            <a:r>
              <a:rPr lang="en-US" sz="2200" b="1" dirty="0">
                <a:latin typeface="Consolas" panose="020B0609020204030204" pitchFamily="49" charset="0"/>
                <a:cs typeface="Consolas" panose="020B0609020204030204" pitchFamily="49" charset="0"/>
              </a:rPr>
              <a:t>  </a:t>
            </a:r>
            <a:r>
              <a:rPr lang="en-US" sz="2200" b="1" dirty="0" err="1">
                <a:latin typeface="Consolas" panose="020B0609020204030204" pitchFamily="49" charset="0"/>
                <a:cs typeface="Consolas" panose="020B0609020204030204" pitchFamily="49" charset="0"/>
              </a:rPr>
              <a:t>println</a:t>
            </a:r>
            <a:r>
              <a:rPr lang="en-US" sz="2200" b="1" dirty="0">
                <a:latin typeface="Consolas" panose="020B0609020204030204" pitchFamily="49" charset="0"/>
                <a:cs typeface="Consolas" panose="020B0609020204030204" pitchFamily="49" charset="0"/>
              </a:rPr>
              <a:t>!(</a:t>
            </a:r>
            <a:r>
              <a:rPr lang="en-US" sz="2200" b="1" dirty="0">
                <a:solidFill>
                  <a:schemeClr val="accent6">
                    <a:lumMod val="75000"/>
                  </a:schemeClr>
                </a:solidFill>
                <a:latin typeface="Consolas" panose="020B0609020204030204" pitchFamily="49" charset="0"/>
                <a:cs typeface="Consolas" panose="020B0609020204030204" pitchFamily="49" charset="0"/>
              </a:rPr>
              <a:t>"in radix"</a:t>
            </a:r>
            <a:r>
              <a:rPr lang="en-US" sz="2200" b="1" dirty="0">
                <a:latin typeface="Consolas" panose="020B0609020204030204" pitchFamily="49" charset="0"/>
                <a:cs typeface="Consolas" panose="020B0609020204030204" pitchFamily="49" charset="0"/>
              </a:rPr>
              <a:t>);</a:t>
            </a:r>
          </a:p>
          <a:p>
            <a:r>
              <a:rPr lang="en-US" sz="2200" b="1" dirty="0">
                <a:solidFill>
                  <a:srgbClr val="FF0000"/>
                </a:solidFill>
                <a:latin typeface="Consolas" panose="020B0609020204030204" pitchFamily="49" charset="0"/>
                <a:cs typeface="Consolas" panose="020B0609020204030204" pitchFamily="49" charset="0"/>
              </a:rPr>
              <a:t>  match</a:t>
            </a:r>
            <a:r>
              <a:rPr lang="en-US" sz="2200" b="1" dirty="0">
                <a:latin typeface="Consolas" panose="020B0609020204030204" pitchFamily="49" charset="0"/>
                <a:cs typeface="Consolas" panose="020B0609020204030204" pitchFamily="49" charset="0"/>
              </a:rPr>
              <a:t> c {</a:t>
            </a:r>
            <a:br>
              <a:rPr lang="en-US" sz="2200" b="1" dirty="0">
                <a:latin typeface="Consolas" panose="020B0609020204030204" pitchFamily="49" charset="0"/>
                <a:cs typeface="Consolas" panose="020B0609020204030204" pitchFamily="49" charset="0"/>
              </a:rPr>
            </a:br>
            <a:r>
              <a:rPr lang="en-US" sz="2200" b="1" dirty="0">
                <a:latin typeface="Consolas" panose="020B0609020204030204" pitchFamily="49" charset="0"/>
                <a:cs typeface="Consolas" panose="020B0609020204030204" pitchFamily="49" charset="0"/>
              </a:rPr>
              <a:t>    </a:t>
            </a:r>
            <a:r>
              <a:rPr lang="en-US" sz="2200" b="1" dirty="0">
                <a:solidFill>
                  <a:schemeClr val="accent6">
                    <a:lumMod val="75000"/>
                  </a:schemeClr>
                </a:solidFill>
                <a:latin typeface="Consolas" panose="020B0609020204030204" pitchFamily="49" charset="0"/>
                <a:cs typeface="Consolas" panose="020B0609020204030204" pitchFamily="49" charset="0"/>
              </a:rPr>
              <a:t>'x'</a:t>
            </a:r>
            <a:r>
              <a:rPr lang="en-US" sz="2200" b="1" dirty="0">
                <a:latin typeface="Consolas" panose="020B0609020204030204" pitchFamily="49" charset="0"/>
                <a:cs typeface="Consolas" panose="020B0609020204030204" pitchFamily="49" charset="0"/>
              </a:rPr>
              <a:t> | </a:t>
            </a:r>
            <a:r>
              <a:rPr lang="en-US" sz="2200" b="1" dirty="0">
                <a:solidFill>
                  <a:schemeClr val="accent6">
                    <a:lumMod val="75000"/>
                  </a:schemeClr>
                </a:solidFill>
                <a:latin typeface="Consolas" panose="020B0609020204030204" pitchFamily="49" charset="0"/>
                <a:cs typeface="Consolas" panose="020B0609020204030204" pitchFamily="49" charset="0"/>
              </a:rPr>
              <a:t>'X'</a:t>
            </a:r>
            <a:r>
              <a:rPr lang="en-US" sz="2200" b="1" dirty="0">
                <a:latin typeface="Consolas" panose="020B0609020204030204" pitchFamily="49" charset="0"/>
                <a:cs typeface="Consolas" panose="020B0609020204030204" pitchFamily="49" charset="0"/>
              </a:rPr>
              <a:t> =&gt; Base::Hex,</a:t>
            </a:r>
          </a:p>
          <a:p>
            <a:r>
              <a:rPr lang="en-US" sz="2200" b="1" dirty="0">
                <a:latin typeface="Consolas" panose="020B0609020204030204" pitchFamily="49" charset="0"/>
                <a:cs typeface="Consolas" panose="020B0609020204030204" pitchFamily="49" charset="0"/>
              </a:rPr>
              <a:t>    </a:t>
            </a:r>
            <a:r>
              <a:rPr lang="en-US" sz="2200" b="1" dirty="0">
                <a:solidFill>
                  <a:schemeClr val="accent6">
                    <a:lumMod val="75000"/>
                  </a:schemeClr>
                </a:solidFill>
                <a:latin typeface="Consolas" panose="020B0609020204030204" pitchFamily="49" charset="0"/>
                <a:cs typeface="Consolas" panose="020B0609020204030204" pitchFamily="49" charset="0"/>
              </a:rPr>
              <a:t>'b'</a:t>
            </a:r>
            <a:r>
              <a:rPr lang="en-US" sz="2200" b="1" dirty="0">
                <a:latin typeface="Consolas" panose="020B0609020204030204" pitchFamily="49" charset="0"/>
                <a:cs typeface="Consolas" panose="020B0609020204030204" pitchFamily="49" charset="0"/>
              </a:rPr>
              <a:t> | </a:t>
            </a:r>
            <a:r>
              <a:rPr lang="en-US" sz="2200" b="1" dirty="0">
                <a:solidFill>
                  <a:schemeClr val="accent6">
                    <a:lumMod val="75000"/>
                  </a:schemeClr>
                </a:solidFill>
                <a:latin typeface="Consolas" panose="020B0609020204030204" pitchFamily="49" charset="0"/>
                <a:cs typeface="Consolas" panose="020B0609020204030204" pitchFamily="49" charset="0"/>
              </a:rPr>
              <a:t>'B'</a:t>
            </a:r>
            <a:r>
              <a:rPr lang="en-US" sz="2200" b="1" dirty="0">
                <a:latin typeface="Consolas" panose="020B0609020204030204" pitchFamily="49" charset="0"/>
                <a:cs typeface="Consolas" panose="020B0609020204030204" pitchFamily="49" charset="0"/>
              </a:rPr>
              <a:t> =&gt; Base::Bin,</a:t>
            </a:r>
          </a:p>
          <a:p>
            <a:r>
              <a:rPr lang="en-US" sz="2200" b="1" dirty="0">
                <a:latin typeface="Consolas" panose="020B0609020204030204" pitchFamily="49" charset="0"/>
                <a:cs typeface="Consolas" panose="020B0609020204030204" pitchFamily="49" charset="0"/>
              </a:rPr>
              <a:t>    _         =&gt; Base::Dec,</a:t>
            </a:r>
          </a:p>
          <a:p>
            <a:r>
              <a:rPr lang="en-US" sz="2200" b="1" dirty="0">
                <a:latin typeface="Consolas" panose="020B0609020204030204" pitchFamily="49" charset="0"/>
                <a:cs typeface="Consolas" panose="020B0609020204030204" pitchFamily="49" charset="0"/>
              </a:rPr>
              <a:t>  }</a:t>
            </a:r>
          </a:p>
          <a:p>
            <a:r>
              <a:rPr lang="en-US" sz="2200" b="1" dirty="0">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06D131E8-9670-BE47-B474-9BEFF35A7F57}"/>
              </a:ext>
            </a:extLst>
          </p:cNvPr>
          <p:cNvSpPr txBox="1"/>
          <p:nvPr/>
        </p:nvSpPr>
        <p:spPr>
          <a:xfrm>
            <a:off x="5052709" y="2628900"/>
            <a:ext cx="3748391" cy="1446550"/>
          </a:xfrm>
          <a:prstGeom prst="rect">
            <a:avLst/>
          </a:prstGeom>
          <a:noFill/>
        </p:spPr>
        <p:txBody>
          <a:bodyPr wrap="square" rtlCol="0">
            <a:spAutoFit/>
          </a:bodyPr>
          <a:lstStyle/>
          <a:p>
            <a:pPr algn="ctr"/>
            <a:r>
              <a:rPr lang="en-US" sz="2200" dirty="0"/>
              <a:t>this demonstrates a sort of confusing rule: you can omit </a:t>
            </a:r>
            <a:r>
              <a:rPr lang="en-US" sz="2200" b="1" dirty="0">
                <a:solidFill>
                  <a:srgbClr val="FF0000"/>
                </a:solidFill>
                <a:latin typeface="Consolas" panose="020B0609020204030204" pitchFamily="49" charset="0"/>
                <a:cs typeface="Consolas" panose="020B0609020204030204" pitchFamily="49" charset="0"/>
              </a:rPr>
              <a:t>return</a:t>
            </a:r>
            <a:r>
              <a:rPr lang="en-US" sz="2200" b="1" dirty="0"/>
              <a:t> </a:t>
            </a:r>
            <a:r>
              <a:rPr lang="en-US" sz="2200" dirty="0"/>
              <a:t>if you're in the </a:t>
            </a:r>
            <a:r>
              <a:rPr lang="en-US" sz="2200" b="1" dirty="0"/>
              <a:t>last expression in the function. </a:t>
            </a:r>
            <a:endParaRPr lang="en-US" sz="2200" dirty="0"/>
          </a:p>
        </p:txBody>
      </p:sp>
      <p:sp>
        <p:nvSpPr>
          <p:cNvPr id="9" name="TextBox 8">
            <a:extLst>
              <a:ext uri="{FF2B5EF4-FFF2-40B4-BE49-F238E27FC236}">
                <a16:creationId xmlns:a16="http://schemas.microsoft.com/office/drawing/2014/main" id="{08485F02-55D0-2E44-AE79-9680000ED7B3}"/>
              </a:ext>
            </a:extLst>
          </p:cNvPr>
          <p:cNvSpPr txBox="1"/>
          <p:nvPr/>
        </p:nvSpPr>
        <p:spPr>
          <a:xfrm>
            <a:off x="1447800" y="4180120"/>
            <a:ext cx="6400800" cy="769441"/>
          </a:xfrm>
          <a:prstGeom prst="rect">
            <a:avLst/>
          </a:prstGeom>
          <a:noFill/>
        </p:spPr>
        <p:txBody>
          <a:bodyPr wrap="square" rtlCol="0">
            <a:spAutoFit/>
          </a:bodyPr>
          <a:lstStyle/>
          <a:p>
            <a:pPr algn="ctr"/>
            <a:r>
              <a:rPr lang="en-US" sz="2200" dirty="0"/>
              <a:t>this </a:t>
            </a:r>
            <a:r>
              <a:rPr lang="en-US" sz="2200" b="1" dirty="0">
                <a:solidFill>
                  <a:srgbClr val="FF0000"/>
                </a:solidFill>
                <a:latin typeface="Consolas" panose="020B0609020204030204" pitchFamily="49" charset="0"/>
                <a:cs typeface="Consolas" panose="020B0609020204030204" pitchFamily="49" charset="0"/>
              </a:rPr>
              <a:t>match</a:t>
            </a:r>
            <a:r>
              <a:rPr lang="en-US" sz="2200" b="1" dirty="0"/>
              <a:t> </a:t>
            </a:r>
            <a:r>
              <a:rPr lang="en-US" sz="2200" dirty="0"/>
              <a:t>is the last expression, so whatever value it gives becomes the return value!</a:t>
            </a:r>
          </a:p>
        </p:txBody>
      </p:sp>
      <p:sp>
        <p:nvSpPr>
          <p:cNvPr id="10" name="TextBox 9">
            <a:extLst>
              <a:ext uri="{FF2B5EF4-FFF2-40B4-BE49-F238E27FC236}">
                <a16:creationId xmlns:a16="http://schemas.microsoft.com/office/drawing/2014/main" id="{9B340C21-026E-CE49-97C0-36D92D393707}"/>
              </a:ext>
            </a:extLst>
          </p:cNvPr>
          <p:cNvSpPr txBox="1"/>
          <p:nvPr/>
        </p:nvSpPr>
        <p:spPr>
          <a:xfrm>
            <a:off x="1447800" y="5018208"/>
            <a:ext cx="6400800" cy="338554"/>
          </a:xfrm>
          <a:prstGeom prst="rect">
            <a:avLst/>
          </a:prstGeom>
          <a:noFill/>
        </p:spPr>
        <p:txBody>
          <a:bodyPr wrap="square" rtlCol="0">
            <a:spAutoFit/>
          </a:bodyPr>
          <a:lstStyle/>
          <a:p>
            <a:pPr algn="ctr"/>
            <a:r>
              <a:rPr lang="en-US" sz="1600" dirty="0"/>
              <a:t>but this is confusing, so I won’t use it this term. :)</a:t>
            </a:r>
          </a:p>
        </p:txBody>
      </p:sp>
    </p:spTree>
    <p:extLst>
      <p:ext uri="{BB962C8B-B14F-4D97-AF65-F5344CB8AC3E}">
        <p14:creationId xmlns:p14="http://schemas.microsoft.com/office/powerpoint/2010/main" val="21470511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8CE01-75BD-A749-B379-C672F0999625}"/>
              </a:ext>
            </a:extLst>
          </p:cNvPr>
          <p:cNvSpPr>
            <a:spLocks noGrp="1"/>
          </p:cNvSpPr>
          <p:nvPr>
            <p:ph type="ctrTitle"/>
          </p:nvPr>
        </p:nvSpPr>
        <p:spPr/>
        <p:txBody>
          <a:bodyPr/>
          <a:lstStyle/>
          <a:p>
            <a:r>
              <a:rPr lang="en-US" dirty="0"/>
              <a:t>Trees in Rust</a:t>
            </a:r>
          </a:p>
        </p:txBody>
      </p:sp>
      <p:sp>
        <p:nvSpPr>
          <p:cNvPr id="3" name="Slide Number Placeholder 2">
            <a:extLst>
              <a:ext uri="{FF2B5EF4-FFF2-40B4-BE49-F238E27FC236}">
                <a16:creationId xmlns:a16="http://schemas.microsoft.com/office/drawing/2014/main" id="{28A9EACB-92A8-7445-965D-FA94625CD69E}"/>
              </a:ext>
            </a:extLst>
          </p:cNvPr>
          <p:cNvSpPr>
            <a:spLocks noGrp="1"/>
          </p:cNvSpPr>
          <p:nvPr>
            <p:ph type="sldNum" sz="quarter" idx="12"/>
          </p:nvPr>
        </p:nvSpPr>
        <p:spPr/>
        <p:txBody>
          <a:bodyPr/>
          <a:lstStyle/>
          <a:p>
            <a:fld id="{3552B95B-556F-44BD-91A5-D80C1B9E2BB3}" type="slidenum">
              <a:rPr lang="en-US" smtClean="0"/>
              <a:pPr/>
              <a:t>15</a:t>
            </a:fld>
            <a:endParaRPr lang="en-US"/>
          </a:p>
        </p:txBody>
      </p:sp>
    </p:spTree>
    <p:extLst>
      <p:ext uri="{BB962C8B-B14F-4D97-AF65-F5344CB8AC3E}">
        <p14:creationId xmlns:p14="http://schemas.microsoft.com/office/powerpoint/2010/main" val="13735051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A66FD-B392-AF4B-BAC7-180003166913}"/>
              </a:ext>
            </a:extLst>
          </p:cNvPr>
          <p:cNvSpPr>
            <a:spLocks noGrp="1"/>
          </p:cNvSpPr>
          <p:nvPr>
            <p:ph type="title"/>
          </p:nvPr>
        </p:nvSpPr>
        <p:spPr/>
        <p:txBody>
          <a:bodyPr/>
          <a:lstStyle/>
          <a:p>
            <a:r>
              <a:rPr lang="en-US" dirty="0"/>
              <a:t>In Java…</a:t>
            </a:r>
          </a:p>
        </p:txBody>
      </p:sp>
      <p:sp>
        <p:nvSpPr>
          <p:cNvPr id="3" name="Content Placeholder 2">
            <a:extLst>
              <a:ext uri="{FF2B5EF4-FFF2-40B4-BE49-F238E27FC236}">
                <a16:creationId xmlns:a16="http://schemas.microsoft.com/office/drawing/2014/main" id="{5673F471-CB6B-9242-9F27-48D53581ACDE}"/>
              </a:ext>
            </a:extLst>
          </p:cNvPr>
          <p:cNvSpPr>
            <a:spLocks noGrp="1"/>
          </p:cNvSpPr>
          <p:nvPr>
            <p:ph idx="1"/>
          </p:nvPr>
        </p:nvSpPr>
        <p:spPr>
          <a:xfrm>
            <a:off x="152400" y="495301"/>
            <a:ext cx="8991600" cy="838199"/>
          </a:xfrm>
        </p:spPr>
        <p:txBody>
          <a:bodyPr/>
          <a:lstStyle/>
          <a:p>
            <a:r>
              <a:rPr lang="en-US" dirty="0"/>
              <a:t>you may have learned about trees (or their one-dimensional cousins, linked lists) and seen them written like this:</a:t>
            </a:r>
          </a:p>
        </p:txBody>
      </p:sp>
      <p:sp>
        <p:nvSpPr>
          <p:cNvPr id="4" name="Slide Number Placeholder 3">
            <a:extLst>
              <a:ext uri="{FF2B5EF4-FFF2-40B4-BE49-F238E27FC236}">
                <a16:creationId xmlns:a16="http://schemas.microsoft.com/office/drawing/2014/main" id="{008B0DB7-07F3-1A4D-936E-4B4CF1F13097}"/>
              </a:ext>
            </a:extLst>
          </p:cNvPr>
          <p:cNvSpPr>
            <a:spLocks noGrp="1"/>
          </p:cNvSpPr>
          <p:nvPr>
            <p:ph type="sldNum" sz="quarter" idx="12"/>
          </p:nvPr>
        </p:nvSpPr>
        <p:spPr/>
        <p:txBody>
          <a:bodyPr/>
          <a:lstStyle/>
          <a:p>
            <a:fld id="{3552B95B-556F-44BD-91A5-D80C1B9E2BB3}" type="slidenum">
              <a:rPr lang="en-US" smtClean="0"/>
              <a:pPr/>
              <a:t>16</a:t>
            </a:fld>
            <a:endParaRPr lang="en-US"/>
          </a:p>
        </p:txBody>
      </p:sp>
      <p:sp>
        <p:nvSpPr>
          <p:cNvPr id="5" name="TextBox 4">
            <a:extLst>
              <a:ext uri="{FF2B5EF4-FFF2-40B4-BE49-F238E27FC236}">
                <a16:creationId xmlns:a16="http://schemas.microsoft.com/office/drawing/2014/main" id="{81CC3644-F750-0841-9804-2555C550E56B}"/>
              </a:ext>
            </a:extLst>
          </p:cNvPr>
          <p:cNvSpPr txBox="1"/>
          <p:nvPr/>
        </p:nvSpPr>
        <p:spPr>
          <a:xfrm>
            <a:off x="197179" y="1333500"/>
            <a:ext cx="4717617" cy="1631216"/>
          </a:xfrm>
          <a:prstGeom prst="rect">
            <a:avLst/>
          </a:prstGeom>
          <a:noFill/>
        </p:spPr>
        <p:txBody>
          <a:bodyPr wrap="square" rtlCol="0">
            <a:spAutoFit/>
          </a:bodyPr>
          <a:lstStyle/>
          <a:p>
            <a:r>
              <a:rPr lang="en-US" sz="2000" b="1" dirty="0">
                <a:solidFill>
                  <a:srgbClr val="FF0000"/>
                </a:solidFill>
                <a:latin typeface="Consolas" panose="020B0609020204030204" pitchFamily="49" charset="0"/>
                <a:cs typeface="Consolas" panose="020B0609020204030204" pitchFamily="49" charset="0"/>
              </a:rPr>
              <a:t>class </a:t>
            </a:r>
            <a:r>
              <a:rPr lang="en-US" sz="2000" b="1" dirty="0">
                <a:latin typeface="Consolas" panose="020B0609020204030204" pitchFamily="49" charset="0"/>
                <a:cs typeface="Consolas" panose="020B0609020204030204" pitchFamily="49" charset="0"/>
              </a:rPr>
              <a:t>Node&lt;T&gt; {</a:t>
            </a:r>
          </a:p>
          <a:p>
            <a:r>
              <a:rPr lang="en-US" sz="2000" b="1" dirty="0">
                <a:latin typeface="Consolas" panose="020B0609020204030204" pitchFamily="49" charset="0"/>
                <a:cs typeface="Consolas" panose="020B0609020204030204" pitchFamily="49" charset="0"/>
              </a:rPr>
              <a:t>  Node&lt;T&gt; left, right;</a:t>
            </a:r>
            <a:endParaRPr lang="en-US" sz="2000" i="1" dirty="0">
              <a:solidFill>
                <a:schemeClr val="accent3">
                  <a:lumMod val="50000"/>
                </a:schemeClr>
              </a:solidFill>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  T value;</a:t>
            </a:r>
            <a:endParaRPr lang="en-US" sz="2000" i="1" dirty="0">
              <a:solidFill>
                <a:schemeClr val="accent3">
                  <a:lumMod val="50000"/>
                </a:schemeClr>
              </a:solidFill>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  Node(T t) { value = t; }</a:t>
            </a:r>
          </a:p>
          <a:p>
            <a:r>
              <a:rPr lang="en-US" sz="2000" b="1" dirty="0">
                <a:latin typeface="Consolas" panose="020B0609020204030204" pitchFamily="49" charset="0"/>
                <a:cs typeface="Consolas" panose="020B0609020204030204" pitchFamily="49" charset="0"/>
              </a:rPr>
              <a:t>}</a:t>
            </a:r>
          </a:p>
        </p:txBody>
      </p:sp>
      <p:grpSp>
        <p:nvGrpSpPr>
          <p:cNvPr id="7" name="Group 6">
            <a:extLst>
              <a:ext uri="{FF2B5EF4-FFF2-40B4-BE49-F238E27FC236}">
                <a16:creationId xmlns:a16="http://schemas.microsoft.com/office/drawing/2014/main" id="{2A7EC415-5719-F04D-9283-C7B208E0B9AB}"/>
              </a:ext>
            </a:extLst>
          </p:cNvPr>
          <p:cNvGrpSpPr/>
          <p:nvPr/>
        </p:nvGrpSpPr>
        <p:grpSpPr>
          <a:xfrm>
            <a:off x="7234408" y="2611708"/>
            <a:ext cx="1501030" cy="1215965"/>
            <a:chOff x="4671170" y="2273025"/>
            <a:chExt cx="1501030" cy="1215965"/>
          </a:xfrm>
        </p:grpSpPr>
        <p:cxnSp>
          <p:nvCxnSpPr>
            <p:cNvPr id="11" name="Straight Arrow Connector 10">
              <a:extLst>
                <a:ext uri="{FF2B5EF4-FFF2-40B4-BE49-F238E27FC236}">
                  <a16:creationId xmlns:a16="http://schemas.microsoft.com/office/drawing/2014/main" id="{FB975877-AF09-334E-8A44-CE159213E13C}"/>
                </a:ext>
              </a:extLst>
            </p:cNvPr>
            <p:cNvCxnSpPr>
              <a:cxnSpLocks/>
            </p:cNvCxnSpPr>
            <p:nvPr/>
          </p:nvCxnSpPr>
          <p:spPr>
            <a:xfrm flipH="1">
              <a:off x="5029200" y="2701865"/>
              <a:ext cx="236001" cy="3636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DD6B705-7DD5-514D-97B0-3E205436DE10}"/>
                </a:ext>
              </a:extLst>
            </p:cNvPr>
            <p:cNvCxnSpPr>
              <a:cxnSpLocks/>
            </p:cNvCxnSpPr>
            <p:nvPr/>
          </p:nvCxnSpPr>
          <p:spPr>
            <a:xfrm>
              <a:off x="5517991" y="2711089"/>
              <a:ext cx="256218" cy="3544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24972904-8F35-0241-8B47-3B87FCBBBD09}"/>
                </a:ext>
              </a:extLst>
            </p:cNvPr>
            <p:cNvSpPr/>
            <p:nvPr/>
          </p:nvSpPr>
          <p:spPr>
            <a:xfrm>
              <a:off x="4671170" y="3060150"/>
              <a:ext cx="594031" cy="4288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Consolas" panose="020B0609020204030204" pitchFamily="49" charset="0"/>
                  <a:cs typeface="Consolas" panose="020B0609020204030204" pitchFamily="49" charset="0"/>
                </a:rPr>
                <a:t>2</a:t>
              </a:r>
            </a:p>
          </p:txBody>
        </p:sp>
        <p:sp>
          <p:nvSpPr>
            <p:cNvPr id="17" name="Rectangle 16">
              <a:extLst>
                <a:ext uri="{FF2B5EF4-FFF2-40B4-BE49-F238E27FC236}">
                  <a16:creationId xmlns:a16="http://schemas.microsoft.com/office/drawing/2014/main" id="{5350C248-3A22-6C46-9FA1-EFBB5E6E6F18}"/>
                </a:ext>
              </a:extLst>
            </p:cNvPr>
            <p:cNvSpPr/>
            <p:nvPr/>
          </p:nvSpPr>
          <p:spPr>
            <a:xfrm>
              <a:off x="5069498" y="2273025"/>
              <a:ext cx="588698" cy="4288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Consolas" panose="020B0609020204030204" pitchFamily="49" charset="0"/>
                  <a:cs typeface="Consolas" panose="020B0609020204030204" pitchFamily="49" charset="0"/>
                </a:rPr>
                <a:t>5</a:t>
              </a:r>
            </a:p>
          </p:txBody>
        </p:sp>
        <p:sp>
          <p:nvSpPr>
            <p:cNvPr id="18" name="Rectangle 17">
              <a:extLst>
                <a:ext uri="{FF2B5EF4-FFF2-40B4-BE49-F238E27FC236}">
                  <a16:creationId xmlns:a16="http://schemas.microsoft.com/office/drawing/2014/main" id="{319F2FD3-218B-5A41-A49B-7A84D4022A76}"/>
                </a:ext>
              </a:extLst>
            </p:cNvPr>
            <p:cNvSpPr/>
            <p:nvPr/>
          </p:nvSpPr>
          <p:spPr>
            <a:xfrm>
              <a:off x="5572307" y="3060150"/>
              <a:ext cx="599893" cy="4288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Consolas" panose="020B0609020204030204" pitchFamily="49" charset="0"/>
                  <a:cs typeface="Consolas" panose="020B0609020204030204" pitchFamily="49" charset="0"/>
                </a:rPr>
                <a:t>7</a:t>
              </a:r>
            </a:p>
          </p:txBody>
        </p:sp>
      </p:grpSp>
      <p:sp>
        <p:nvSpPr>
          <p:cNvPr id="19" name="TextBox 18">
            <a:extLst>
              <a:ext uri="{FF2B5EF4-FFF2-40B4-BE49-F238E27FC236}">
                <a16:creationId xmlns:a16="http://schemas.microsoft.com/office/drawing/2014/main" id="{9213CEDD-55DA-2449-907D-2EA6CD646AAC}"/>
              </a:ext>
            </a:extLst>
          </p:cNvPr>
          <p:cNvSpPr txBox="1"/>
          <p:nvPr/>
        </p:nvSpPr>
        <p:spPr>
          <a:xfrm>
            <a:off x="4126149" y="1342724"/>
            <a:ext cx="4800600" cy="1015663"/>
          </a:xfrm>
          <a:prstGeom prst="rect">
            <a:avLst/>
          </a:prstGeom>
          <a:noFill/>
        </p:spPr>
        <p:txBody>
          <a:bodyPr wrap="square" rtlCol="0">
            <a:spAutoFit/>
          </a:bodyPr>
          <a:lstStyle/>
          <a:p>
            <a:r>
              <a:rPr lang="en-US" sz="2000" b="1" dirty="0">
                <a:latin typeface="Consolas" panose="020B0609020204030204" pitchFamily="49" charset="0"/>
                <a:cs typeface="Consolas" panose="020B0609020204030204" pitchFamily="49" charset="0"/>
              </a:rPr>
              <a:t>Node&lt;Integer&gt; a = </a:t>
            </a:r>
            <a:r>
              <a:rPr lang="en-US" sz="2000" b="1" dirty="0">
                <a:solidFill>
                  <a:srgbClr val="FF0000"/>
                </a:solidFill>
                <a:latin typeface="Consolas" panose="020B0609020204030204" pitchFamily="49" charset="0"/>
                <a:cs typeface="Consolas" panose="020B0609020204030204" pitchFamily="49" charset="0"/>
              </a:rPr>
              <a:t>new</a:t>
            </a:r>
            <a:r>
              <a:rPr lang="en-US" sz="2000" b="1" dirty="0">
                <a:latin typeface="Consolas" panose="020B0609020204030204" pitchFamily="49" charset="0"/>
                <a:cs typeface="Consolas" panose="020B0609020204030204" pitchFamily="49" charset="0"/>
              </a:rPr>
              <a:t> Node&lt;&gt;(</a:t>
            </a:r>
            <a:r>
              <a:rPr lang="en-US" sz="2000" b="1" dirty="0">
                <a:solidFill>
                  <a:schemeClr val="accent3">
                    <a:lumMod val="75000"/>
                  </a:schemeClr>
                </a:solidFill>
                <a:latin typeface="Consolas" panose="020B0609020204030204" pitchFamily="49" charset="0"/>
                <a:cs typeface="Consolas" panose="020B0609020204030204" pitchFamily="49" charset="0"/>
              </a:rPr>
              <a:t>5</a:t>
            </a:r>
            <a:r>
              <a:rPr lang="en-US" sz="2000" b="1" dirty="0">
                <a:latin typeface="Consolas" panose="020B0609020204030204" pitchFamily="49" charset="0"/>
                <a:cs typeface="Consolas" panose="020B0609020204030204" pitchFamily="49" charset="0"/>
              </a:rPr>
              <a:t>);</a:t>
            </a:r>
          </a:p>
          <a:p>
            <a:r>
              <a:rPr lang="en-US" sz="2000" b="1" dirty="0" err="1">
                <a:latin typeface="Consolas" panose="020B0609020204030204" pitchFamily="49" charset="0"/>
                <a:cs typeface="Consolas" panose="020B0609020204030204" pitchFamily="49" charset="0"/>
              </a:rPr>
              <a:t>a.left</a:t>
            </a:r>
            <a:r>
              <a:rPr lang="en-US" sz="2000" b="1" dirty="0">
                <a:latin typeface="Consolas" panose="020B0609020204030204" pitchFamily="49" charset="0"/>
                <a:cs typeface="Consolas" panose="020B0609020204030204" pitchFamily="49" charset="0"/>
              </a:rPr>
              <a:t>  = </a:t>
            </a:r>
            <a:r>
              <a:rPr lang="en-US" sz="2000" b="1" dirty="0">
                <a:solidFill>
                  <a:srgbClr val="FF0000"/>
                </a:solidFill>
                <a:latin typeface="Consolas" panose="020B0609020204030204" pitchFamily="49" charset="0"/>
                <a:cs typeface="Consolas" panose="020B0609020204030204" pitchFamily="49" charset="0"/>
              </a:rPr>
              <a:t>new</a:t>
            </a:r>
            <a:r>
              <a:rPr lang="en-US" sz="2000" b="1" dirty="0">
                <a:latin typeface="Consolas" panose="020B0609020204030204" pitchFamily="49" charset="0"/>
                <a:cs typeface="Consolas" panose="020B0609020204030204" pitchFamily="49" charset="0"/>
              </a:rPr>
              <a:t> Node&lt;&gt;(</a:t>
            </a:r>
            <a:r>
              <a:rPr lang="en-US" sz="2000" b="1" dirty="0">
                <a:solidFill>
                  <a:schemeClr val="accent3">
                    <a:lumMod val="75000"/>
                  </a:schemeClr>
                </a:solidFill>
                <a:latin typeface="Consolas" panose="020B0609020204030204" pitchFamily="49" charset="0"/>
                <a:cs typeface="Consolas" panose="020B0609020204030204" pitchFamily="49" charset="0"/>
              </a:rPr>
              <a:t>2</a:t>
            </a:r>
            <a:r>
              <a:rPr lang="en-US" sz="2000" b="1" dirty="0">
                <a:latin typeface="Consolas" panose="020B0609020204030204" pitchFamily="49" charset="0"/>
                <a:cs typeface="Consolas" panose="020B0609020204030204" pitchFamily="49" charset="0"/>
              </a:rPr>
              <a:t>);</a:t>
            </a:r>
          </a:p>
          <a:p>
            <a:r>
              <a:rPr lang="en-US" sz="2000" b="1" dirty="0" err="1">
                <a:latin typeface="Consolas" panose="020B0609020204030204" pitchFamily="49" charset="0"/>
                <a:cs typeface="Consolas" panose="020B0609020204030204" pitchFamily="49" charset="0"/>
              </a:rPr>
              <a:t>a.right</a:t>
            </a:r>
            <a:r>
              <a:rPr lang="en-US" sz="2000" b="1" dirty="0">
                <a:latin typeface="Consolas" panose="020B0609020204030204" pitchFamily="49" charset="0"/>
                <a:cs typeface="Consolas" panose="020B0609020204030204" pitchFamily="49" charset="0"/>
              </a:rPr>
              <a:t> = </a:t>
            </a:r>
            <a:r>
              <a:rPr lang="en-US" sz="2000" b="1" dirty="0">
                <a:solidFill>
                  <a:srgbClr val="FF0000"/>
                </a:solidFill>
                <a:latin typeface="Consolas" panose="020B0609020204030204" pitchFamily="49" charset="0"/>
                <a:cs typeface="Consolas" panose="020B0609020204030204" pitchFamily="49" charset="0"/>
              </a:rPr>
              <a:t>new</a:t>
            </a:r>
            <a:r>
              <a:rPr lang="en-US" sz="2000" b="1" dirty="0">
                <a:latin typeface="Consolas" panose="020B0609020204030204" pitchFamily="49" charset="0"/>
                <a:cs typeface="Consolas" panose="020B0609020204030204" pitchFamily="49" charset="0"/>
              </a:rPr>
              <a:t> Node&lt;&gt;(</a:t>
            </a:r>
            <a:r>
              <a:rPr lang="en-US" sz="2000" b="1" dirty="0">
                <a:solidFill>
                  <a:schemeClr val="accent3">
                    <a:lumMod val="75000"/>
                  </a:schemeClr>
                </a:solidFill>
                <a:latin typeface="Consolas" panose="020B0609020204030204" pitchFamily="49" charset="0"/>
                <a:cs typeface="Consolas" panose="020B0609020204030204" pitchFamily="49" charset="0"/>
              </a:rPr>
              <a:t>7</a:t>
            </a:r>
            <a:r>
              <a:rPr lang="en-US" sz="2000" b="1" dirty="0">
                <a:latin typeface="Consolas" panose="020B0609020204030204" pitchFamily="49" charset="0"/>
                <a:cs typeface="Consolas" panose="020B0609020204030204" pitchFamily="49" charset="0"/>
              </a:rPr>
              <a:t>);</a:t>
            </a:r>
          </a:p>
        </p:txBody>
      </p:sp>
      <p:sp>
        <p:nvSpPr>
          <p:cNvPr id="20" name="TextBox 19">
            <a:extLst>
              <a:ext uri="{FF2B5EF4-FFF2-40B4-BE49-F238E27FC236}">
                <a16:creationId xmlns:a16="http://schemas.microsoft.com/office/drawing/2014/main" id="{A7717077-4FE2-1845-8199-A149AD26DC9D}"/>
              </a:ext>
            </a:extLst>
          </p:cNvPr>
          <p:cNvSpPr txBox="1"/>
          <p:nvPr/>
        </p:nvSpPr>
        <p:spPr>
          <a:xfrm>
            <a:off x="381000" y="3096041"/>
            <a:ext cx="6338316" cy="2123658"/>
          </a:xfrm>
          <a:prstGeom prst="rect">
            <a:avLst/>
          </a:prstGeom>
          <a:noFill/>
        </p:spPr>
        <p:txBody>
          <a:bodyPr wrap="square" rtlCol="0">
            <a:spAutoFit/>
          </a:bodyPr>
          <a:lstStyle/>
          <a:p>
            <a:r>
              <a:rPr lang="en-US" sz="2200" b="1" dirty="0">
                <a:latin typeface="Consolas" panose="020B0609020204030204" pitchFamily="49" charset="0"/>
                <a:cs typeface="Consolas" panose="020B0609020204030204" pitchFamily="49" charset="0"/>
              </a:rPr>
              <a:t>left</a:t>
            </a:r>
            <a:r>
              <a:rPr lang="en-US" sz="2200" dirty="0"/>
              <a:t> and </a:t>
            </a:r>
            <a:r>
              <a:rPr lang="en-US" sz="2200" b="1" dirty="0">
                <a:latin typeface="Consolas" panose="020B0609020204030204" pitchFamily="49" charset="0"/>
                <a:cs typeface="Consolas" panose="020B0609020204030204" pitchFamily="49" charset="0"/>
              </a:rPr>
              <a:t>right</a:t>
            </a:r>
            <a:r>
              <a:rPr lang="en-US" sz="2200" b="1" dirty="0"/>
              <a:t> </a:t>
            </a:r>
            <a:r>
              <a:rPr lang="en-US" sz="2200" dirty="0"/>
              <a:t>have two special properties that make this representation work:</a:t>
            </a:r>
          </a:p>
          <a:p>
            <a:pPr marL="457200" indent="-457200">
              <a:buFont typeface="+mj-lt"/>
              <a:buAutoNum type="arabicPeriod"/>
            </a:pPr>
            <a:r>
              <a:rPr lang="en-US" sz="2200" dirty="0"/>
              <a:t>they are </a:t>
            </a:r>
            <a:r>
              <a:rPr lang="en-US" sz="2200" b="1" dirty="0"/>
              <a:t>references: </a:t>
            </a:r>
            <a:r>
              <a:rPr lang="en-US" sz="2200" dirty="0"/>
              <a:t>they refer </a:t>
            </a:r>
            <a:r>
              <a:rPr lang="en-US" sz="2200" i="1" dirty="0"/>
              <a:t>indirectly</a:t>
            </a:r>
            <a:r>
              <a:rPr lang="en-US" sz="2200" dirty="0"/>
              <a:t> to </a:t>
            </a:r>
            <a:r>
              <a:rPr lang="en-US" sz="2200" b="1" dirty="0">
                <a:latin typeface="Consolas" panose="020B0609020204030204" pitchFamily="49" charset="0"/>
                <a:cs typeface="Consolas" panose="020B0609020204030204" pitchFamily="49" charset="0"/>
              </a:rPr>
              <a:t>Node</a:t>
            </a:r>
            <a:r>
              <a:rPr lang="en-US" sz="2200" dirty="0"/>
              <a:t> objects.</a:t>
            </a:r>
          </a:p>
          <a:p>
            <a:pPr marL="457200" indent="-457200">
              <a:buFont typeface="+mj-lt"/>
              <a:buAutoNum type="arabicPeriod"/>
            </a:pPr>
            <a:r>
              <a:rPr lang="en-US" sz="2200" dirty="0"/>
              <a:t>they can optionally hold </a:t>
            </a:r>
            <a:r>
              <a:rPr lang="en-US" sz="2200" b="1" dirty="0">
                <a:latin typeface="Consolas" panose="020B0609020204030204" pitchFamily="49" charset="0"/>
                <a:cs typeface="Consolas" panose="020B0609020204030204" pitchFamily="49" charset="0"/>
              </a:rPr>
              <a:t>null</a:t>
            </a:r>
            <a:r>
              <a:rPr lang="en-US" sz="2200" b="1" dirty="0"/>
              <a:t> </a:t>
            </a:r>
            <a:r>
              <a:rPr lang="en-US" sz="2200" dirty="0"/>
              <a:t>to indicate that they are not pointing to anything.</a:t>
            </a:r>
          </a:p>
        </p:txBody>
      </p:sp>
      <p:cxnSp>
        <p:nvCxnSpPr>
          <p:cNvPr id="25" name="Straight Connector 24">
            <a:extLst>
              <a:ext uri="{FF2B5EF4-FFF2-40B4-BE49-F238E27FC236}">
                <a16:creationId xmlns:a16="http://schemas.microsoft.com/office/drawing/2014/main" id="{BBC0E1E3-BA7B-C340-A33F-5797C1D29A14}"/>
              </a:ext>
            </a:extLst>
          </p:cNvPr>
          <p:cNvCxnSpPr/>
          <p:nvPr/>
        </p:nvCxnSpPr>
        <p:spPr>
          <a:xfrm>
            <a:off x="4038600" y="1362180"/>
            <a:ext cx="0" cy="15147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46508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9" grpId="0"/>
      <p:bldP spid="20" grpId="0" build="p" bldLvl="5"/>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C4987-4336-3A48-865F-71D9C4866591}"/>
              </a:ext>
            </a:extLst>
          </p:cNvPr>
          <p:cNvSpPr>
            <a:spLocks noGrp="1"/>
          </p:cNvSpPr>
          <p:nvPr>
            <p:ph type="title"/>
          </p:nvPr>
        </p:nvSpPr>
        <p:spPr/>
        <p:txBody>
          <a:bodyPr/>
          <a:lstStyle/>
          <a:p>
            <a:r>
              <a:rPr lang="en-US" dirty="0"/>
              <a:t>Doing it in Rust?</a:t>
            </a:r>
          </a:p>
        </p:txBody>
      </p:sp>
      <p:sp>
        <p:nvSpPr>
          <p:cNvPr id="3" name="Content Placeholder 2">
            <a:extLst>
              <a:ext uri="{FF2B5EF4-FFF2-40B4-BE49-F238E27FC236}">
                <a16:creationId xmlns:a16="http://schemas.microsoft.com/office/drawing/2014/main" id="{DF75B204-18A8-3143-8D87-39391086A3A6}"/>
              </a:ext>
            </a:extLst>
          </p:cNvPr>
          <p:cNvSpPr>
            <a:spLocks noGrp="1"/>
          </p:cNvSpPr>
          <p:nvPr>
            <p:ph idx="1"/>
          </p:nvPr>
        </p:nvSpPr>
        <p:spPr>
          <a:xfrm>
            <a:off x="152400" y="495302"/>
            <a:ext cx="8991600" cy="495300"/>
          </a:xfrm>
        </p:spPr>
        <p:txBody>
          <a:bodyPr/>
          <a:lstStyle/>
          <a:p>
            <a:r>
              <a:rPr lang="en-US" dirty="0"/>
              <a:t>if we try to do this, we get an error:</a:t>
            </a:r>
          </a:p>
        </p:txBody>
      </p:sp>
      <p:sp>
        <p:nvSpPr>
          <p:cNvPr id="4" name="Slide Number Placeholder 3">
            <a:extLst>
              <a:ext uri="{FF2B5EF4-FFF2-40B4-BE49-F238E27FC236}">
                <a16:creationId xmlns:a16="http://schemas.microsoft.com/office/drawing/2014/main" id="{C6B4EC6B-2347-7E48-849B-B7218A4E207C}"/>
              </a:ext>
            </a:extLst>
          </p:cNvPr>
          <p:cNvSpPr>
            <a:spLocks noGrp="1"/>
          </p:cNvSpPr>
          <p:nvPr>
            <p:ph type="sldNum" sz="quarter" idx="12"/>
          </p:nvPr>
        </p:nvSpPr>
        <p:spPr/>
        <p:txBody>
          <a:bodyPr/>
          <a:lstStyle/>
          <a:p>
            <a:fld id="{3552B95B-556F-44BD-91A5-D80C1B9E2BB3}" type="slidenum">
              <a:rPr lang="en-US" smtClean="0"/>
              <a:pPr/>
              <a:t>17</a:t>
            </a:fld>
            <a:endParaRPr lang="en-US"/>
          </a:p>
        </p:txBody>
      </p:sp>
      <p:sp>
        <p:nvSpPr>
          <p:cNvPr id="5" name="TextBox 4">
            <a:extLst>
              <a:ext uri="{FF2B5EF4-FFF2-40B4-BE49-F238E27FC236}">
                <a16:creationId xmlns:a16="http://schemas.microsoft.com/office/drawing/2014/main" id="{28DE585A-116F-834B-AE4F-D3F90077CF5F}"/>
              </a:ext>
            </a:extLst>
          </p:cNvPr>
          <p:cNvSpPr txBox="1"/>
          <p:nvPr/>
        </p:nvSpPr>
        <p:spPr>
          <a:xfrm>
            <a:off x="304800" y="958987"/>
            <a:ext cx="2895599" cy="1785104"/>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struct </a:t>
            </a:r>
            <a:r>
              <a:rPr lang="en-US" sz="2200" b="1" dirty="0">
                <a:latin typeface="Consolas" panose="020B0609020204030204" pitchFamily="49" charset="0"/>
                <a:cs typeface="Consolas" panose="020B0609020204030204" pitchFamily="49" charset="0"/>
              </a:rPr>
              <a:t>Node&lt;T&gt; {</a:t>
            </a:r>
          </a:p>
          <a:p>
            <a:r>
              <a:rPr lang="en-US" sz="2200" b="1" dirty="0">
                <a:latin typeface="Consolas" panose="020B0609020204030204" pitchFamily="49" charset="0"/>
                <a:cs typeface="Consolas" panose="020B0609020204030204" pitchFamily="49" charset="0"/>
              </a:rPr>
              <a:t>  left:  Node&lt;T&gt;,</a:t>
            </a:r>
          </a:p>
          <a:p>
            <a:r>
              <a:rPr lang="en-US" sz="2200" b="1" dirty="0">
                <a:latin typeface="Consolas" panose="020B0609020204030204" pitchFamily="49" charset="0"/>
                <a:cs typeface="Consolas" panose="020B0609020204030204" pitchFamily="49" charset="0"/>
              </a:rPr>
              <a:t>  right: Node&lt;T&gt;,</a:t>
            </a:r>
          </a:p>
          <a:p>
            <a:r>
              <a:rPr lang="en-US" sz="2200" b="1" dirty="0">
                <a:latin typeface="Consolas" panose="020B0609020204030204" pitchFamily="49" charset="0"/>
                <a:cs typeface="Consolas" panose="020B0609020204030204" pitchFamily="49" charset="0"/>
              </a:rPr>
              <a:t>  value: T,</a:t>
            </a:r>
          </a:p>
          <a:p>
            <a:r>
              <a:rPr lang="en-US" sz="22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87054D6C-106A-B14D-A10D-8AEDBA5C127D}"/>
              </a:ext>
            </a:extLst>
          </p:cNvPr>
          <p:cNvSpPr txBox="1"/>
          <p:nvPr/>
        </p:nvSpPr>
        <p:spPr>
          <a:xfrm>
            <a:off x="3916680" y="1117160"/>
            <a:ext cx="2666999" cy="1107996"/>
          </a:xfrm>
          <a:prstGeom prst="rect">
            <a:avLst/>
          </a:prstGeom>
          <a:noFill/>
        </p:spPr>
        <p:txBody>
          <a:bodyPr wrap="square" rtlCol="0">
            <a:spAutoFit/>
          </a:bodyPr>
          <a:lstStyle/>
          <a:p>
            <a:pPr algn="ctr"/>
            <a:r>
              <a:rPr lang="en-US" sz="2200" dirty="0"/>
              <a:t>it says this type has </a:t>
            </a:r>
            <a:r>
              <a:rPr lang="en-US" sz="2200" b="1" dirty="0">
                <a:solidFill>
                  <a:srgbClr val="FF0000"/>
                </a:solidFill>
              </a:rPr>
              <a:t>infinite size,</a:t>
            </a:r>
            <a:r>
              <a:rPr lang="en-US" sz="2200" b="1" dirty="0"/>
              <a:t> </a:t>
            </a:r>
            <a:r>
              <a:rPr lang="en-US" sz="2200" dirty="0"/>
              <a:t>but it gives us a hint:</a:t>
            </a:r>
          </a:p>
        </p:txBody>
      </p:sp>
      <p:sp>
        <p:nvSpPr>
          <p:cNvPr id="7" name="TextBox 6">
            <a:extLst>
              <a:ext uri="{FF2B5EF4-FFF2-40B4-BE49-F238E27FC236}">
                <a16:creationId xmlns:a16="http://schemas.microsoft.com/office/drawing/2014/main" id="{1E126C0F-4699-924C-B7B8-014E31550DBF}"/>
              </a:ext>
            </a:extLst>
          </p:cNvPr>
          <p:cNvSpPr txBox="1"/>
          <p:nvPr/>
        </p:nvSpPr>
        <p:spPr>
          <a:xfrm>
            <a:off x="3886200" y="2477238"/>
            <a:ext cx="3770801" cy="1785104"/>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struct </a:t>
            </a:r>
            <a:r>
              <a:rPr lang="en-US" sz="2200" b="1" dirty="0">
                <a:latin typeface="Consolas" panose="020B0609020204030204" pitchFamily="49" charset="0"/>
                <a:cs typeface="Consolas" panose="020B0609020204030204" pitchFamily="49" charset="0"/>
              </a:rPr>
              <a:t>Node&lt;T&gt; {</a:t>
            </a:r>
          </a:p>
          <a:p>
            <a:r>
              <a:rPr lang="en-US" sz="2200" b="1" dirty="0">
                <a:latin typeface="Consolas" panose="020B0609020204030204" pitchFamily="49" charset="0"/>
                <a:cs typeface="Consolas" panose="020B0609020204030204" pitchFamily="49" charset="0"/>
              </a:rPr>
              <a:t>  left:  Box&lt;Node&lt;T&gt;&gt;,</a:t>
            </a:r>
          </a:p>
          <a:p>
            <a:r>
              <a:rPr lang="en-US" sz="2200" b="1" dirty="0">
                <a:latin typeface="Consolas" panose="020B0609020204030204" pitchFamily="49" charset="0"/>
                <a:cs typeface="Consolas" panose="020B0609020204030204" pitchFamily="49" charset="0"/>
              </a:rPr>
              <a:t>  right: Box&lt;Node&lt;T&gt;&gt;,</a:t>
            </a:r>
          </a:p>
          <a:p>
            <a:r>
              <a:rPr lang="en-US" sz="2200" b="1" dirty="0">
                <a:latin typeface="Consolas" panose="020B0609020204030204" pitchFamily="49" charset="0"/>
                <a:cs typeface="Consolas" panose="020B0609020204030204" pitchFamily="49" charset="0"/>
              </a:rPr>
              <a:t>  value: T,</a:t>
            </a:r>
          </a:p>
          <a:p>
            <a:r>
              <a:rPr lang="en-US" sz="2200" b="1" dirty="0">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FCBF8CA0-D8A4-724C-86BA-3BDFCB068CF6}"/>
              </a:ext>
            </a:extLst>
          </p:cNvPr>
          <p:cNvSpPr txBox="1"/>
          <p:nvPr/>
        </p:nvSpPr>
        <p:spPr>
          <a:xfrm>
            <a:off x="1905000" y="4457700"/>
            <a:ext cx="6400800" cy="430887"/>
          </a:xfrm>
          <a:prstGeom prst="rect">
            <a:avLst/>
          </a:prstGeom>
          <a:noFill/>
        </p:spPr>
        <p:txBody>
          <a:bodyPr wrap="square" rtlCol="0">
            <a:spAutoFit/>
          </a:bodyPr>
          <a:lstStyle/>
          <a:p>
            <a:pPr algn="ctr"/>
            <a:r>
              <a:rPr lang="en-US" sz="2200" dirty="0"/>
              <a:t>great, it compiles! </a:t>
            </a:r>
            <a:r>
              <a:rPr lang="en-US" sz="2200" i="1" dirty="0"/>
              <a:t>what the heck does it mean </a:t>
            </a:r>
            <a:r>
              <a:rPr lang="en-US" sz="2200" i="1" dirty="0" err="1"/>
              <a:t>tho</a:t>
            </a:r>
            <a:endParaRPr lang="en-US" sz="2200" i="1" dirty="0"/>
          </a:p>
        </p:txBody>
      </p:sp>
    </p:spTree>
    <p:extLst>
      <p:ext uri="{BB962C8B-B14F-4D97-AF65-F5344CB8AC3E}">
        <p14:creationId xmlns:p14="http://schemas.microsoft.com/office/powerpoint/2010/main" val="22628757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1EDC0-DAE2-AC49-8954-5F000380EDD3}"/>
              </a:ext>
            </a:extLst>
          </p:cNvPr>
          <p:cNvSpPr>
            <a:spLocks noGrp="1"/>
          </p:cNvSpPr>
          <p:nvPr>
            <p:ph type="title"/>
          </p:nvPr>
        </p:nvSpPr>
        <p:spPr/>
        <p:txBody>
          <a:bodyPr/>
          <a:lstStyle/>
          <a:p>
            <a:r>
              <a:rPr lang="en-US" dirty="0"/>
              <a:t>I would not eat them with a fox</a:t>
            </a:r>
          </a:p>
        </p:txBody>
      </p:sp>
      <p:sp>
        <p:nvSpPr>
          <p:cNvPr id="3" name="Content Placeholder 2">
            <a:extLst>
              <a:ext uri="{FF2B5EF4-FFF2-40B4-BE49-F238E27FC236}">
                <a16:creationId xmlns:a16="http://schemas.microsoft.com/office/drawing/2014/main" id="{7AAAB5C1-71E7-B44C-A03D-9ABD2E2A2FEF}"/>
              </a:ext>
            </a:extLst>
          </p:cNvPr>
          <p:cNvSpPr>
            <a:spLocks noGrp="1"/>
          </p:cNvSpPr>
          <p:nvPr>
            <p:ph idx="1"/>
          </p:nvPr>
        </p:nvSpPr>
        <p:spPr>
          <a:xfrm>
            <a:off x="152400" y="495301"/>
            <a:ext cx="8991600" cy="1904999"/>
          </a:xfrm>
        </p:spPr>
        <p:txBody>
          <a:bodyPr>
            <a:normAutofit/>
          </a:bodyPr>
          <a:lstStyle/>
          <a:p>
            <a:r>
              <a:rPr lang="en-US" dirty="0"/>
              <a:t>a </a:t>
            </a:r>
            <a:r>
              <a:rPr lang="en-US" b="1" dirty="0"/>
              <a:t>Box </a:t>
            </a:r>
            <a:r>
              <a:rPr lang="en-US" dirty="0"/>
              <a:t>is the simplest kind of reference in Rust: it allocates an object </a:t>
            </a:r>
            <a:r>
              <a:rPr lang="en-US" b="1" dirty="0"/>
              <a:t>on the heap </a:t>
            </a:r>
            <a:r>
              <a:rPr lang="en-US" dirty="0"/>
              <a:t>(just like Java's </a:t>
            </a:r>
            <a:r>
              <a:rPr lang="en-US" b="1" dirty="0"/>
              <a:t>new</a:t>
            </a:r>
            <a:r>
              <a:rPr lang="en-US" dirty="0"/>
              <a:t>) and points to it indirectly.</a:t>
            </a:r>
          </a:p>
          <a:p>
            <a:r>
              <a:rPr lang="en-US" dirty="0"/>
              <a:t>you create a boxed object with </a:t>
            </a:r>
            <a:r>
              <a:rPr lang="en-US" b="1" dirty="0">
                <a:latin typeface="Consolas" panose="020B0609020204030204" pitchFamily="49" charset="0"/>
                <a:cs typeface="Consolas" panose="020B0609020204030204" pitchFamily="49" charset="0"/>
              </a:rPr>
              <a:t>Box::new()</a:t>
            </a:r>
            <a:r>
              <a:rPr lang="en-US" dirty="0"/>
              <a:t>:</a:t>
            </a:r>
          </a:p>
          <a:p>
            <a:pPr marL="258605" lvl="1" indent="0">
              <a:buNone/>
            </a:pPr>
            <a:r>
              <a:rPr lang="en-US" b="1" dirty="0">
                <a:solidFill>
                  <a:srgbClr val="FF0000"/>
                </a:solidFill>
                <a:latin typeface="Consolas" panose="020B0609020204030204" pitchFamily="49" charset="0"/>
                <a:cs typeface="Consolas" panose="020B0609020204030204" pitchFamily="49" charset="0"/>
              </a:rPr>
              <a:t>let </a:t>
            </a:r>
            <a:r>
              <a:rPr lang="en-US" b="1" dirty="0">
                <a:latin typeface="Consolas" panose="020B0609020204030204" pitchFamily="49" charset="0"/>
                <a:cs typeface="Consolas" panose="020B0609020204030204" pitchFamily="49" charset="0"/>
              </a:rPr>
              <a:t>x = </a:t>
            </a:r>
            <a:r>
              <a:rPr lang="en-US" b="1" dirty="0">
                <a:solidFill>
                  <a:schemeClr val="accent3">
                    <a:lumMod val="75000"/>
                  </a:schemeClr>
                </a:solidFill>
                <a:latin typeface="Consolas" panose="020B0609020204030204" pitchFamily="49" charset="0"/>
                <a:cs typeface="Consolas" panose="020B0609020204030204" pitchFamily="49" charset="0"/>
              </a:rPr>
              <a:t>10</a:t>
            </a:r>
            <a:r>
              <a:rPr lang="en-US" b="1" dirty="0">
                <a:latin typeface="Consolas" panose="020B0609020204030204" pitchFamily="49" charset="0"/>
                <a:cs typeface="Consolas" panose="020B0609020204030204" pitchFamily="49" charset="0"/>
              </a:rPr>
              <a:t>;           </a:t>
            </a:r>
            <a:r>
              <a:rPr lang="en-US" i="1" dirty="0">
                <a:solidFill>
                  <a:schemeClr val="accent3">
                    <a:lumMod val="50000"/>
                  </a:schemeClr>
                </a:solidFill>
                <a:latin typeface="Consolas" panose="020B0609020204030204" pitchFamily="49" charset="0"/>
                <a:cs typeface="Consolas" panose="020B0609020204030204" pitchFamily="49" charset="0"/>
              </a:rPr>
              <a:t>// an int on the stack</a:t>
            </a:r>
            <a:endParaRPr lang="en-US" b="1" dirty="0">
              <a:latin typeface="Consolas" panose="020B0609020204030204" pitchFamily="49" charset="0"/>
              <a:cs typeface="Consolas" panose="020B0609020204030204" pitchFamily="49" charset="0"/>
            </a:endParaRPr>
          </a:p>
          <a:p>
            <a:pPr marL="258605" lvl="1" indent="0">
              <a:buNone/>
            </a:pPr>
            <a:r>
              <a:rPr lang="en-US" b="1" dirty="0">
                <a:solidFill>
                  <a:srgbClr val="FF0000"/>
                </a:solidFill>
                <a:latin typeface="Consolas" panose="020B0609020204030204" pitchFamily="49" charset="0"/>
                <a:cs typeface="Consolas" panose="020B0609020204030204" pitchFamily="49" charset="0"/>
              </a:rPr>
              <a:t>let</a:t>
            </a:r>
            <a:r>
              <a:rPr lang="en-US" b="1" dirty="0">
                <a:latin typeface="Consolas" panose="020B0609020204030204" pitchFamily="49" charset="0"/>
                <a:cs typeface="Consolas" panose="020B0609020204030204" pitchFamily="49" charset="0"/>
              </a:rPr>
              <a:t> b = Box::new(</a:t>
            </a:r>
            <a:r>
              <a:rPr lang="en-US" b="1" dirty="0">
                <a:solidFill>
                  <a:schemeClr val="accent3">
                    <a:lumMod val="75000"/>
                  </a:schemeClr>
                </a:solidFill>
                <a:latin typeface="Consolas" panose="020B0609020204030204" pitchFamily="49" charset="0"/>
                <a:cs typeface="Consolas" panose="020B0609020204030204" pitchFamily="49" charset="0"/>
              </a:rPr>
              <a:t>20</a:t>
            </a:r>
            <a:r>
              <a:rPr lang="en-US" b="1" dirty="0">
                <a:latin typeface="Consolas" panose="020B0609020204030204" pitchFamily="49" charset="0"/>
                <a:cs typeface="Consolas" panose="020B0609020204030204" pitchFamily="49" charset="0"/>
              </a:rPr>
              <a:t>); </a:t>
            </a:r>
            <a:r>
              <a:rPr lang="en-US" i="1" dirty="0">
                <a:solidFill>
                  <a:schemeClr val="accent3">
                    <a:lumMod val="50000"/>
                  </a:schemeClr>
                </a:solidFill>
                <a:latin typeface="Consolas" panose="020B0609020204030204" pitchFamily="49" charset="0"/>
                <a:cs typeface="Consolas" panose="020B0609020204030204" pitchFamily="49" charset="0"/>
              </a:rPr>
              <a:t>// an int on the heap</a:t>
            </a:r>
          </a:p>
        </p:txBody>
      </p:sp>
      <p:sp>
        <p:nvSpPr>
          <p:cNvPr id="4" name="Slide Number Placeholder 3">
            <a:extLst>
              <a:ext uri="{FF2B5EF4-FFF2-40B4-BE49-F238E27FC236}">
                <a16:creationId xmlns:a16="http://schemas.microsoft.com/office/drawing/2014/main" id="{FFA2054D-F4A8-C24F-8E90-E2A318175B68}"/>
              </a:ext>
            </a:extLst>
          </p:cNvPr>
          <p:cNvSpPr>
            <a:spLocks noGrp="1"/>
          </p:cNvSpPr>
          <p:nvPr>
            <p:ph type="sldNum" sz="quarter" idx="12"/>
          </p:nvPr>
        </p:nvSpPr>
        <p:spPr/>
        <p:txBody>
          <a:bodyPr/>
          <a:lstStyle/>
          <a:p>
            <a:fld id="{3552B95B-556F-44BD-91A5-D80C1B9E2BB3}" type="slidenum">
              <a:rPr lang="en-US" smtClean="0"/>
              <a:pPr/>
              <a:t>18</a:t>
            </a:fld>
            <a:endParaRPr lang="en-US"/>
          </a:p>
        </p:txBody>
      </p:sp>
      <p:graphicFrame>
        <p:nvGraphicFramePr>
          <p:cNvPr id="6" name="Table 5">
            <a:extLst>
              <a:ext uri="{FF2B5EF4-FFF2-40B4-BE49-F238E27FC236}">
                <a16:creationId xmlns:a16="http://schemas.microsoft.com/office/drawing/2014/main" id="{9D62622A-0E3A-F443-AEDC-56913844DA1B}"/>
              </a:ext>
            </a:extLst>
          </p:cNvPr>
          <p:cNvGraphicFramePr>
            <a:graphicFrameLocks noGrp="1"/>
          </p:cNvGraphicFramePr>
          <p:nvPr>
            <p:extLst>
              <p:ext uri="{D42A27DB-BD31-4B8C-83A1-F6EECF244321}">
                <p14:modId xmlns:p14="http://schemas.microsoft.com/office/powerpoint/2010/main" val="1696601386"/>
              </p:ext>
            </p:extLst>
          </p:nvPr>
        </p:nvGraphicFramePr>
        <p:xfrm>
          <a:off x="457200" y="2932640"/>
          <a:ext cx="1676400" cy="914400"/>
        </p:xfrm>
        <a:graphic>
          <a:graphicData uri="http://schemas.openxmlformats.org/drawingml/2006/table">
            <a:tbl>
              <a:tblPr>
                <a:tableStyleId>{5C22544A-7EE6-4342-B048-85BDC9FD1C3A}</a:tableStyleId>
              </a:tblPr>
              <a:tblGrid>
                <a:gridCol w="533400">
                  <a:extLst>
                    <a:ext uri="{9D8B030D-6E8A-4147-A177-3AD203B41FA5}">
                      <a16:colId xmlns:a16="http://schemas.microsoft.com/office/drawing/2014/main" val="3871500469"/>
                    </a:ext>
                  </a:extLst>
                </a:gridCol>
                <a:gridCol w="1143000">
                  <a:extLst>
                    <a:ext uri="{9D8B030D-6E8A-4147-A177-3AD203B41FA5}">
                      <a16:colId xmlns:a16="http://schemas.microsoft.com/office/drawing/2014/main" val="3407946469"/>
                    </a:ext>
                  </a:extLst>
                </a:gridCol>
              </a:tblGrid>
              <a:tr h="370840">
                <a:tc>
                  <a:txBody>
                    <a:bodyPr/>
                    <a:lstStyle/>
                    <a:p>
                      <a:pPr algn="ctr"/>
                      <a:r>
                        <a:rPr lang="en-US" sz="2400" b="1" dirty="0">
                          <a:latin typeface="Consolas" panose="020B0609020204030204" pitchFamily="49" charset="0"/>
                          <a:cs typeface="Consolas" panose="020B0609020204030204" pitchFamily="49" charset="0"/>
                        </a:rPr>
                        <a:t>x</a:t>
                      </a:r>
                    </a:p>
                  </a:txBody>
                  <a:tcPr>
                    <a:solidFill>
                      <a:schemeClr val="accent1">
                        <a:lumMod val="40000"/>
                        <a:lumOff val="60000"/>
                      </a:schemeClr>
                    </a:solidFill>
                  </a:tcPr>
                </a:tc>
                <a:tc>
                  <a:txBody>
                    <a:bodyPr/>
                    <a:lstStyle/>
                    <a:p>
                      <a:pPr algn="ctr"/>
                      <a:r>
                        <a:rPr lang="en-US" sz="2400" b="1" dirty="0">
                          <a:latin typeface="Consolas" panose="020B0609020204030204" pitchFamily="49" charset="0"/>
                          <a:cs typeface="Consolas" panose="020B0609020204030204" pitchFamily="49" charset="0"/>
                        </a:rPr>
                        <a:t>10</a:t>
                      </a:r>
                    </a:p>
                  </a:txBody>
                  <a:tcPr>
                    <a:solidFill>
                      <a:schemeClr val="accent1">
                        <a:lumMod val="40000"/>
                        <a:lumOff val="60000"/>
                      </a:schemeClr>
                    </a:solidFill>
                  </a:tcPr>
                </a:tc>
                <a:extLst>
                  <a:ext uri="{0D108BD9-81ED-4DB2-BD59-A6C34878D82A}">
                    <a16:rowId xmlns:a16="http://schemas.microsoft.com/office/drawing/2014/main" val="4044107784"/>
                  </a:ext>
                </a:extLst>
              </a:tr>
              <a:tr h="370840">
                <a:tc>
                  <a:txBody>
                    <a:bodyPr/>
                    <a:lstStyle/>
                    <a:p>
                      <a:pPr algn="ctr"/>
                      <a:r>
                        <a:rPr lang="en-US" sz="2400" b="1" dirty="0">
                          <a:latin typeface="Consolas" panose="020B0609020204030204" pitchFamily="49" charset="0"/>
                          <a:cs typeface="Consolas" panose="020B0609020204030204" pitchFamily="49" charset="0"/>
                        </a:rPr>
                        <a:t>b</a:t>
                      </a:r>
                    </a:p>
                  </a:txBody>
                  <a:tcPr>
                    <a:solidFill>
                      <a:schemeClr val="accent1">
                        <a:lumMod val="40000"/>
                        <a:lumOff val="60000"/>
                      </a:schemeClr>
                    </a:solidFill>
                  </a:tcPr>
                </a:tc>
                <a:tc>
                  <a:txBody>
                    <a:bodyPr/>
                    <a:lstStyle/>
                    <a:p>
                      <a:pPr algn="ctr"/>
                      <a:endParaRPr lang="en-US" sz="2400" b="1" dirty="0">
                        <a:latin typeface="Consolas" panose="020B0609020204030204" pitchFamily="49" charset="0"/>
                        <a:cs typeface="Consolas" panose="020B0609020204030204" pitchFamily="49" charset="0"/>
                      </a:endParaRPr>
                    </a:p>
                  </a:txBody>
                  <a:tcPr>
                    <a:solidFill>
                      <a:schemeClr val="accent1">
                        <a:lumMod val="40000"/>
                        <a:lumOff val="60000"/>
                      </a:schemeClr>
                    </a:solidFill>
                  </a:tcPr>
                </a:tc>
                <a:extLst>
                  <a:ext uri="{0D108BD9-81ED-4DB2-BD59-A6C34878D82A}">
                    <a16:rowId xmlns:a16="http://schemas.microsoft.com/office/drawing/2014/main" val="2906153126"/>
                  </a:ext>
                </a:extLst>
              </a:tr>
            </a:tbl>
          </a:graphicData>
        </a:graphic>
      </p:graphicFrame>
      <p:sp>
        <p:nvSpPr>
          <p:cNvPr id="7" name="TextBox 6">
            <a:extLst>
              <a:ext uri="{FF2B5EF4-FFF2-40B4-BE49-F238E27FC236}">
                <a16:creationId xmlns:a16="http://schemas.microsoft.com/office/drawing/2014/main" id="{F85061AA-8830-9B4E-AE5A-82E2A206B720}"/>
              </a:ext>
            </a:extLst>
          </p:cNvPr>
          <p:cNvSpPr txBox="1"/>
          <p:nvPr/>
        </p:nvSpPr>
        <p:spPr>
          <a:xfrm>
            <a:off x="610500" y="2511919"/>
            <a:ext cx="1369799" cy="430887"/>
          </a:xfrm>
          <a:prstGeom prst="rect">
            <a:avLst/>
          </a:prstGeom>
          <a:noFill/>
        </p:spPr>
        <p:txBody>
          <a:bodyPr wrap="none" rtlCol="0">
            <a:spAutoFit/>
          </a:bodyPr>
          <a:lstStyle/>
          <a:p>
            <a:r>
              <a:rPr lang="en-US" sz="2200" dirty="0"/>
              <a:t>Call Stack</a:t>
            </a:r>
          </a:p>
        </p:txBody>
      </p:sp>
      <p:sp>
        <p:nvSpPr>
          <p:cNvPr id="8" name="Rectangle 7">
            <a:extLst>
              <a:ext uri="{FF2B5EF4-FFF2-40B4-BE49-F238E27FC236}">
                <a16:creationId xmlns:a16="http://schemas.microsoft.com/office/drawing/2014/main" id="{6DD575B7-B52B-8B4A-A94D-13789FF65163}"/>
              </a:ext>
            </a:extLst>
          </p:cNvPr>
          <p:cNvSpPr/>
          <p:nvPr/>
        </p:nvSpPr>
        <p:spPr>
          <a:xfrm>
            <a:off x="2514600" y="2942806"/>
            <a:ext cx="2057400" cy="2200694"/>
          </a:xfrm>
          <a:prstGeom prst="rect">
            <a:avLst/>
          </a:prstGeom>
          <a:noFill/>
          <a:ln>
            <a:solidFill>
              <a:schemeClr val="accent6">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994CA92-8DF0-6C4B-B4A2-08CCCF1A9C1D}"/>
              </a:ext>
            </a:extLst>
          </p:cNvPr>
          <p:cNvSpPr txBox="1"/>
          <p:nvPr/>
        </p:nvSpPr>
        <p:spPr>
          <a:xfrm>
            <a:off x="3122351" y="2513193"/>
            <a:ext cx="841897" cy="430887"/>
          </a:xfrm>
          <a:prstGeom prst="rect">
            <a:avLst/>
          </a:prstGeom>
          <a:noFill/>
        </p:spPr>
        <p:txBody>
          <a:bodyPr wrap="none" rtlCol="0">
            <a:spAutoFit/>
          </a:bodyPr>
          <a:lstStyle/>
          <a:p>
            <a:r>
              <a:rPr lang="en-US" sz="2200" dirty="0"/>
              <a:t>Heap</a:t>
            </a:r>
          </a:p>
        </p:txBody>
      </p:sp>
      <p:sp>
        <p:nvSpPr>
          <p:cNvPr id="11" name="Rectangle 10">
            <a:extLst>
              <a:ext uri="{FF2B5EF4-FFF2-40B4-BE49-F238E27FC236}">
                <a16:creationId xmlns:a16="http://schemas.microsoft.com/office/drawing/2014/main" id="{1FCE8DF7-03B3-F64F-A4C7-0A70C0EC405C}"/>
              </a:ext>
            </a:extLst>
          </p:cNvPr>
          <p:cNvSpPr/>
          <p:nvPr/>
        </p:nvSpPr>
        <p:spPr>
          <a:xfrm>
            <a:off x="2970988" y="3403621"/>
            <a:ext cx="1143000" cy="5334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Consolas" panose="020B0609020204030204" pitchFamily="49" charset="0"/>
                <a:cs typeface="Consolas" panose="020B0609020204030204" pitchFamily="49" charset="0"/>
              </a:rPr>
              <a:t>20</a:t>
            </a:r>
            <a:endParaRPr lang="en-US" b="1" dirty="0">
              <a:solidFill>
                <a:schemeClr val="tx1"/>
              </a:solidFill>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3EFCFD7A-FB8A-844A-AF95-076D01B017BE}"/>
              </a:ext>
            </a:extLst>
          </p:cNvPr>
          <p:cNvSpPr txBox="1"/>
          <p:nvPr/>
        </p:nvSpPr>
        <p:spPr>
          <a:xfrm>
            <a:off x="2983818" y="3029321"/>
            <a:ext cx="1118961" cy="430887"/>
          </a:xfrm>
          <a:prstGeom prst="rect">
            <a:avLst/>
          </a:prstGeom>
          <a:noFill/>
        </p:spPr>
        <p:txBody>
          <a:bodyPr wrap="none" rtlCol="0">
            <a:spAutoFit/>
          </a:bodyPr>
          <a:lstStyle/>
          <a:p>
            <a:pPr algn="ctr"/>
            <a:r>
              <a:rPr lang="en-US" sz="2200" dirty="0"/>
              <a:t>the Box</a:t>
            </a:r>
          </a:p>
        </p:txBody>
      </p:sp>
      <p:cxnSp>
        <p:nvCxnSpPr>
          <p:cNvPr id="14" name="Straight Arrow Connector 13">
            <a:extLst>
              <a:ext uri="{FF2B5EF4-FFF2-40B4-BE49-F238E27FC236}">
                <a16:creationId xmlns:a16="http://schemas.microsoft.com/office/drawing/2014/main" id="{ED9218BA-00BF-A34E-9A97-615B7484CC2E}"/>
              </a:ext>
            </a:extLst>
          </p:cNvPr>
          <p:cNvCxnSpPr>
            <a:endCxn id="11" idx="1"/>
          </p:cNvCxnSpPr>
          <p:nvPr/>
        </p:nvCxnSpPr>
        <p:spPr>
          <a:xfrm>
            <a:off x="1524000" y="3618440"/>
            <a:ext cx="1446988" cy="518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A76BC84-7ECC-CC47-86C7-1BC1CE6E0C86}"/>
              </a:ext>
            </a:extLst>
          </p:cNvPr>
          <p:cNvSpPr txBox="1"/>
          <p:nvPr/>
        </p:nvSpPr>
        <p:spPr>
          <a:xfrm>
            <a:off x="4878688" y="3022313"/>
            <a:ext cx="3808112" cy="584775"/>
          </a:xfrm>
          <a:prstGeom prst="rect">
            <a:avLst/>
          </a:prstGeom>
          <a:noFill/>
        </p:spPr>
        <p:txBody>
          <a:bodyPr wrap="square" rtlCol="0">
            <a:spAutoFit/>
          </a:bodyPr>
          <a:lstStyle/>
          <a:p>
            <a:pPr algn="ctr"/>
            <a:r>
              <a:rPr lang="en-US" sz="1600" dirty="0"/>
              <a:t>I mean, normally you wouldn't box an int, but it's just for the example.</a:t>
            </a:r>
            <a:endParaRPr lang="en-US" sz="1600" i="1" dirty="0"/>
          </a:p>
        </p:txBody>
      </p:sp>
      <p:sp>
        <p:nvSpPr>
          <p:cNvPr id="16" name="TextBox 15">
            <a:extLst>
              <a:ext uri="{FF2B5EF4-FFF2-40B4-BE49-F238E27FC236}">
                <a16:creationId xmlns:a16="http://schemas.microsoft.com/office/drawing/2014/main" id="{6F9B9131-52CF-BC48-97B9-D7197240239E}"/>
              </a:ext>
            </a:extLst>
          </p:cNvPr>
          <p:cNvSpPr txBox="1"/>
          <p:nvPr/>
        </p:nvSpPr>
        <p:spPr>
          <a:xfrm>
            <a:off x="5256855" y="3847040"/>
            <a:ext cx="3200400" cy="769441"/>
          </a:xfrm>
          <a:prstGeom prst="rect">
            <a:avLst/>
          </a:prstGeom>
          <a:noFill/>
        </p:spPr>
        <p:txBody>
          <a:bodyPr wrap="square" rtlCol="0">
            <a:spAutoFit/>
          </a:bodyPr>
          <a:lstStyle/>
          <a:p>
            <a:pPr algn="ctr"/>
            <a:r>
              <a:rPr lang="en-US" sz="2200" dirty="0"/>
              <a:t>okay, let's make a </a:t>
            </a:r>
            <a:r>
              <a:rPr lang="en-US" sz="2200" b="1" dirty="0">
                <a:latin typeface="Consolas" panose="020B0609020204030204" pitchFamily="49" charset="0"/>
                <a:cs typeface="Consolas" panose="020B0609020204030204" pitchFamily="49" charset="0"/>
              </a:rPr>
              <a:t>Node&lt;T&gt;</a:t>
            </a:r>
            <a:r>
              <a:rPr lang="en-US" sz="2200" dirty="0"/>
              <a:t> then!</a:t>
            </a:r>
            <a:endParaRPr lang="en-US" sz="2200" i="1" dirty="0"/>
          </a:p>
        </p:txBody>
      </p:sp>
    </p:spTree>
    <p:extLst>
      <p:ext uri="{BB962C8B-B14F-4D97-AF65-F5344CB8AC3E}">
        <p14:creationId xmlns:p14="http://schemas.microsoft.com/office/powerpoint/2010/main" val="41584435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P spid="11" grpId="0" animBg="1"/>
      <p:bldP spid="12" grpId="0"/>
      <p:bldP spid="15"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CD868-B805-BA4C-9E25-F52F68F23CB0}"/>
              </a:ext>
            </a:extLst>
          </p:cNvPr>
          <p:cNvSpPr>
            <a:spLocks noGrp="1"/>
          </p:cNvSpPr>
          <p:nvPr>
            <p:ph type="title"/>
          </p:nvPr>
        </p:nvSpPr>
        <p:spPr/>
        <p:txBody>
          <a:bodyPr/>
          <a:lstStyle/>
          <a:p>
            <a:r>
              <a:rPr lang="en-US" dirty="0"/>
              <a:t>Curses! Foiled again!</a:t>
            </a:r>
          </a:p>
        </p:txBody>
      </p:sp>
      <p:sp>
        <p:nvSpPr>
          <p:cNvPr id="3" name="Content Placeholder 2">
            <a:extLst>
              <a:ext uri="{FF2B5EF4-FFF2-40B4-BE49-F238E27FC236}">
                <a16:creationId xmlns:a16="http://schemas.microsoft.com/office/drawing/2014/main" id="{1285D44F-2C5A-0E49-834D-A82142A8FCC6}"/>
              </a:ext>
            </a:extLst>
          </p:cNvPr>
          <p:cNvSpPr>
            <a:spLocks noGrp="1"/>
          </p:cNvSpPr>
          <p:nvPr>
            <p:ph idx="1"/>
          </p:nvPr>
        </p:nvSpPr>
        <p:spPr>
          <a:xfrm>
            <a:off x="152400" y="495301"/>
            <a:ext cx="8991600" cy="609599"/>
          </a:xfrm>
        </p:spPr>
        <p:txBody>
          <a:bodyPr/>
          <a:lstStyle/>
          <a:p>
            <a:r>
              <a:rPr lang="en-US" dirty="0"/>
              <a:t>when you make a struct, you have to give values for </a:t>
            </a:r>
            <a:r>
              <a:rPr lang="en-US" b="1" dirty="0"/>
              <a:t>all</a:t>
            </a:r>
            <a:r>
              <a:rPr lang="en-US" dirty="0"/>
              <a:t> the fields.</a:t>
            </a:r>
          </a:p>
        </p:txBody>
      </p:sp>
      <p:sp>
        <p:nvSpPr>
          <p:cNvPr id="4" name="Slide Number Placeholder 3">
            <a:extLst>
              <a:ext uri="{FF2B5EF4-FFF2-40B4-BE49-F238E27FC236}">
                <a16:creationId xmlns:a16="http://schemas.microsoft.com/office/drawing/2014/main" id="{AAD0548D-53EC-F14A-B6F4-D332BC0D9ED6}"/>
              </a:ext>
            </a:extLst>
          </p:cNvPr>
          <p:cNvSpPr>
            <a:spLocks noGrp="1"/>
          </p:cNvSpPr>
          <p:nvPr>
            <p:ph type="sldNum" sz="quarter" idx="12"/>
          </p:nvPr>
        </p:nvSpPr>
        <p:spPr/>
        <p:txBody>
          <a:bodyPr/>
          <a:lstStyle/>
          <a:p>
            <a:fld id="{3552B95B-556F-44BD-91A5-D80C1B9E2BB3}" type="slidenum">
              <a:rPr lang="en-US" smtClean="0"/>
              <a:pPr/>
              <a:t>19</a:t>
            </a:fld>
            <a:endParaRPr lang="en-US"/>
          </a:p>
        </p:txBody>
      </p:sp>
      <p:sp>
        <p:nvSpPr>
          <p:cNvPr id="5" name="TextBox 4">
            <a:extLst>
              <a:ext uri="{FF2B5EF4-FFF2-40B4-BE49-F238E27FC236}">
                <a16:creationId xmlns:a16="http://schemas.microsoft.com/office/drawing/2014/main" id="{F7CBB043-536E-7041-B402-8C55248D0245}"/>
              </a:ext>
            </a:extLst>
          </p:cNvPr>
          <p:cNvSpPr txBox="1"/>
          <p:nvPr/>
        </p:nvSpPr>
        <p:spPr>
          <a:xfrm>
            <a:off x="178340" y="1072396"/>
            <a:ext cx="3770801" cy="1631216"/>
          </a:xfrm>
          <a:prstGeom prst="rect">
            <a:avLst/>
          </a:prstGeom>
          <a:noFill/>
        </p:spPr>
        <p:txBody>
          <a:bodyPr wrap="square" rtlCol="0">
            <a:spAutoFit/>
          </a:bodyPr>
          <a:lstStyle/>
          <a:p>
            <a:r>
              <a:rPr lang="en-US" sz="2000" b="1" dirty="0">
                <a:solidFill>
                  <a:srgbClr val="FF0000"/>
                </a:solidFill>
                <a:latin typeface="Consolas" panose="020B0609020204030204" pitchFamily="49" charset="0"/>
                <a:cs typeface="Consolas" panose="020B0609020204030204" pitchFamily="49" charset="0"/>
              </a:rPr>
              <a:t>struct </a:t>
            </a:r>
            <a:r>
              <a:rPr lang="en-US" sz="2000" b="1" dirty="0">
                <a:latin typeface="Consolas" panose="020B0609020204030204" pitchFamily="49" charset="0"/>
                <a:cs typeface="Consolas" panose="020B0609020204030204" pitchFamily="49" charset="0"/>
              </a:rPr>
              <a:t>Node&lt;T&gt; {</a:t>
            </a:r>
          </a:p>
          <a:p>
            <a:r>
              <a:rPr lang="en-US" sz="2000" b="1" dirty="0">
                <a:latin typeface="Consolas" panose="020B0609020204030204" pitchFamily="49" charset="0"/>
                <a:cs typeface="Consolas" panose="020B0609020204030204" pitchFamily="49" charset="0"/>
              </a:rPr>
              <a:t>  left:  Box&lt;Node&lt;T&gt;&gt;,</a:t>
            </a:r>
          </a:p>
          <a:p>
            <a:r>
              <a:rPr lang="en-US" sz="2000" b="1" dirty="0">
                <a:latin typeface="Consolas" panose="020B0609020204030204" pitchFamily="49" charset="0"/>
                <a:cs typeface="Consolas" panose="020B0609020204030204" pitchFamily="49" charset="0"/>
              </a:rPr>
              <a:t>  right: Box&lt;Node&lt;T&gt;&gt;,</a:t>
            </a:r>
          </a:p>
          <a:p>
            <a:r>
              <a:rPr lang="en-US" sz="2000" b="1" dirty="0">
                <a:latin typeface="Consolas" panose="020B0609020204030204" pitchFamily="49" charset="0"/>
                <a:cs typeface="Consolas" panose="020B0609020204030204" pitchFamily="49" charset="0"/>
              </a:rPr>
              <a:t>  value: T,</a:t>
            </a:r>
          </a:p>
          <a:p>
            <a:r>
              <a:rPr lang="en-US" sz="20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AB99415D-211B-4C4D-8C71-40C6046010B8}"/>
              </a:ext>
            </a:extLst>
          </p:cNvPr>
          <p:cNvSpPr txBox="1"/>
          <p:nvPr/>
        </p:nvSpPr>
        <p:spPr>
          <a:xfrm>
            <a:off x="3657600" y="1072396"/>
            <a:ext cx="4800600" cy="1631216"/>
          </a:xfrm>
          <a:prstGeom prst="rect">
            <a:avLst/>
          </a:prstGeom>
          <a:noFill/>
        </p:spPr>
        <p:txBody>
          <a:bodyPr wrap="square" rtlCol="0">
            <a:spAutoFit/>
          </a:bodyPr>
          <a:lstStyle/>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a = Node {</a:t>
            </a:r>
          </a:p>
          <a:p>
            <a:r>
              <a:rPr lang="en-US" sz="2000" b="1" dirty="0">
                <a:latin typeface="Consolas" panose="020B0609020204030204" pitchFamily="49" charset="0"/>
                <a:cs typeface="Consolas" panose="020B0609020204030204" pitchFamily="49" charset="0"/>
              </a:rPr>
              <a:t>  value: </a:t>
            </a:r>
            <a:r>
              <a:rPr lang="en-US" sz="2000" b="1" dirty="0">
                <a:solidFill>
                  <a:schemeClr val="accent3">
                    <a:lumMod val="75000"/>
                  </a:schemeClr>
                </a:solidFill>
                <a:latin typeface="Consolas" panose="020B0609020204030204" pitchFamily="49" charset="0"/>
                <a:cs typeface="Consolas" panose="020B0609020204030204" pitchFamily="49" charset="0"/>
              </a:rPr>
              <a:t>5</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left: Box::new(Node {</a:t>
            </a:r>
          </a:p>
          <a:p>
            <a:r>
              <a:rPr lang="en-US" sz="2000" b="1" dirty="0">
                <a:latin typeface="Consolas" panose="020B0609020204030204" pitchFamily="49" charset="0"/>
                <a:cs typeface="Consolas" panose="020B0609020204030204" pitchFamily="49" charset="0"/>
              </a:rPr>
              <a:t>    value: </a:t>
            </a:r>
            <a:r>
              <a:rPr lang="en-US" sz="2000" b="1" dirty="0">
                <a:solidFill>
                  <a:schemeClr val="accent3">
                    <a:lumMod val="75000"/>
                  </a:schemeClr>
                </a:solidFill>
                <a:latin typeface="Consolas" panose="020B0609020204030204" pitchFamily="49" charset="0"/>
                <a:cs typeface="Consolas" panose="020B0609020204030204" pitchFamily="49" charset="0"/>
              </a:rPr>
              <a:t>2</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left:  </a:t>
            </a:r>
            <a:r>
              <a:rPr lang="en-US" sz="2000" dirty="0">
                <a:latin typeface="Consolas" panose="020B0609020204030204" pitchFamily="49" charset="0"/>
                <a:cs typeface="Consolas" panose="020B0609020204030204" pitchFamily="49" charset="0"/>
              </a:rPr>
              <a:t>………</a:t>
            </a:r>
            <a:r>
              <a:rPr lang="en-US" sz="2000" dirty="0" err="1">
                <a:latin typeface="Consolas" panose="020B0609020204030204" pitchFamily="49" charset="0"/>
                <a:cs typeface="Consolas" panose="020B0609020204030204" pitchFamily="49" charset="0"/>
              </a:rPr>
              <a:t>uhhhhhhhh</a:t>
            </a:r>
            <a:endParaRPr lang="en-US" sz="2000" dirty="0">
              <a:latin typeface="Consolas" panose="020B0609020204030204" pitchFamily="49" charset="0"/>
              <a:cs typeface="Consolas" panose="020B0609020204030204" pitchFamily="49" charset="0"/>
            </a:endParaRPr>
          </a:p>
        </p:txBody>
      </p:sp>
      <p:cxnSp>
        <p:nvCxnSpPr>
          <p:cNvPr id="7" name="Straight Connector 6">
            <a:extLst>
              <a:ext uri="{FF2B5EF4-FFF2-40B4-BE49-F238E27FC236}">
                <a16:creationId xmlns:a16="http://schemas.microsoft.com/office/drawing/2014/main" id="{9447CC64-5E56-AC49-93FD-120AC4062758}"/>
              </a:ext>
            </a:extLst>
          </p:cNvPr>
          <p:cNvCxnSpPr/>
          <p:nvPr/>
        </p:nvCxnSpPr>
        <p:spPr>
          <a:xfrm>
            <a:off x="3505200" y="1072396"/>
            <a:ext cx="0" cy="15147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34460D4-B2CE-674D-BE7E-391037A8D4EA}"/>
              </a:ext>
            </a:extLst>
          </p:cNvPr>
          <p:cNvSpPr txBox="1"/>
          <p:nvPr/>
        </p:nvSpPr>
        <p:spPr>
          <a:xfrm>
            <a:off x="875716" y="2775264"/>
            <a:ext cx="7209817" cy="430887"/>
          </a:xfrm>
          <a:prstGeom prst="rect">
            <a:avLst/>
          </a:prstGeom>
          <a:noFill/>
        </p:spPr>
        <p:txBody>
          <a:bodyPr wrap="square" rtlCol="0">
            <a:spAutoFit/>
          </a:bodyPr>
          <a:lstStyle/>
          <a:p>
            <a:pPr algn="ctr"/>
            <a:r>
              <a:rPr lang="en-US" sz="2200" dirty="0"/>
              <a:t>what do we write for </a:t>
            </a:r>
            <a:r>
              <a:rPr lang="en-US" sz="2200" b="1" dirty="0"/>
              <a:t>left, </a:t>
            </a:r>
            <a:r>
              <a:rPr lang="en-US" sz="2200" dirty="0"/>
              <a:t>here? 2 </a:t>
            </a:r>
            <a:r>
              <a:rPr lang="en-US" sz="2200" i="1" dirty="0"/>
              <a:t>has</a:t>
            </a:r>
            <a:r>
              <a:rPr lang="en-US" sz="2200" dirty="0"/>
              <a:t> no left child.</a:t>
            </a:r>
            <a:endParaRPr lang="en-US" sz="2200" i="1" dirty="0"/>
          </a:p>
        </p:txBody>
      </p:sp>
      <p:grpSp>
        <p:nvGrpSpPr>
          <p:cNvPr id="9" name="Group 8">
            <a:extLst>
              <a:ext uri="{FF2B5EF4-FFF2-40B4-BE49-F238E27FC236}">
                <a16:creationId xmlns:a16="http://schemas.microsoft.com/office/drawing/2014/main" id="{3CEE9CD0-D50F-C14F-88D6-3670C5EE0707}"/>
              </a:ext>
            </a:extLst>
          </p:cNvPr>
          <p:cNvGrpSpPr/>
          <p:nvPr/>
        </p:nvGrpSpPr>
        <p:grpSpPr>
          <a:xfrm>
            <a:off x="7276001" y="1201014"/>
            <a:ext cx="1501030" cy="1215965"/>
            <a:chOff x="4671170" y="2273025"/>
            <a:chExt cx="1501030" cy="1215965"/>
          </a:xfrm>
        </p:grpSpPr>
        <p:cxnSp>
          <p:nvCxnSpPr>
            <p:cNvPr id="10" name="Straight Arrow Connector 9">
              <a:extLst>
                <a:ext uri="{FF2B5EF4-FFF2-40B4-BE49-F238E27FC236}">
                  <a16:creationId xmlns:a16="http://schemas.microsoft.com/office/drawing/2014/main" id="{33C64EBF-67ED-B74B-9D73-01C98B172C05}"/>
                </a:ext>
              </a:extLst>
            </p:cNvPr>
            <p:cNvCxnSpPr>
              <a:cxnSpLocks/>
            </p:cNvCxnSpPr>
            <p:nvPr/>
          </p:nvCxnSpPr>
          <p:spPr>
            <a:xfrm flipH="1">
              <a:off x="5029200" y="2701865"/>
              <a:ext cx="236001" cy="3636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19F568F-F787-7546-AEC6-27823FB52A29}"/>
                </a:ext>
              </a:extLst>
            </p:cNvPr>
            <p:cNvCxnSpPr>
              <a:cxnSpLocks/>
            </p:cNvCxnSpPr>
            <p:nvPr/>
          </p:nvCxnSpPr>
          <p:spPr>
            <a:xfrm>
              <a:off x="5517991" y="2711089"/>
              <a:ext cx="256218" cy="3544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FD4596-38BB-F444-9893-A1BDE0A62AA8}"/>
                </a:ext>
              </a:extLst>
            </p:cNvPr>
            <p:cNvSpPr/>
            <p:nvPr/>
          </p:nvSpPr>
          <p:spPr>
            <a:xfrm>
              <a:off x="4671170" y="3060150"/>
              <a:ext cx="594031" cy="4288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Consolas" panose="020B0609020204030204" pitchFamily="49" charset="0"/>
                  <a:cs typeface="Consolas" panose="020B0609020204030204" pitchFamily="49" charset="0"/>
                </a:rPr>
                <a:t>2</a:t>
              </a:r>
            </a:p>
          </p:txBody>
        </p:sp>
        <p:sp>
          <p:nvSpPr>
            <p:cNvPr id="13" name="Rectangle 12">
              <a:extLst>
                <a:ext uri="{FF2B5EF4-FFF2-40B4-BE49-F238E27FC236}">
                  <a16:creationId xmlns:a16="http://schemas.microsoft.com/office/drawing/2014/main" id="{F415F782-CEAC-B046-B24D-569F4569ED4A}"/>
                </a:ext>
              </a:extLst>
            </p:cNvPr>
            <p:cNvSpPr/>
            <p:nvPr/>
          </p:nvSpPr>
          <p:spPr>
            <a:xfrm>
              <a:off x="5069498" y="2273025"/>
              <a:ext cx="588698" cy="4288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Consolas" panose="020B0609020204030204" pitchFamily="49" charset="0"/>
                  <a:cs typeface="Consolas" panose="020B0609020204030204" pitchFamily="49" charset="0"/>
                </a:rPr>
                <a:t>5</a:t>
              </a:r>
            </a:p>
          </p:txBody>
        </p:sp>
        <p:sp>
          <p:nvSpPr>
            <p:cNvPr id="14" name="Rectangle 13">
              <a:extLst>
                <a:ext uri="{FF2B5EF4-FFF2-40B4-BE49-F238E27FC236}">
                  <a16:creationId xmlns:a16="http://schemas.microsoft.com/office/drawing/2014/main" id="{43F6E77A-284A-0049-B6D6-BFE8EA321E5E}"/>
                </a:ext>
              </a:extLst>
            </p:cNvPr>
            <p:cNvSpPr/>
            <p:nvPr/>
          </p:nvSpPr>
          <p:spPr>
            <a:xfrm>
              <a:off x="5572307" y="3060150"/>
              <a:ext cx="599893" cy="4288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Consolas" panose="020B0609020204030204" pitchFamily="49" charset="0"/>
                  <a:cs typeface="Consolas" panose="020B0609020204030204" pitchFamily="49" charset="0"/>
                </a:rPr>
                <a:t>7</a:t>
              </a:r>
            </a:p>
          </p:txBody>
        </p:sp>
      </p:grpSp>
      <p:sp>
        <p:nvSpPr>
          <p:cNvPr id="15" name="TextBox 14">
            <a:extLst>
              <a:ext uri="{FF2B5EF4-FFF2-40B4-BE49-F238E27FC236}">
                <a16:creationId xmlns:a16="http://schemas.microsoft.com/office/drawing/2014/main" id="{D65AC633-1053-6645-868B-0635DA97D287}"/>
              </a:ext>
            </a:extLst>
          </p:cNvPr>
          <p:cNvSpPr txBox="1"/>
          <p:nvPr/>
        </p:nvSpPr>
        <p:spPr>
          <a:xfrm>
            <a:off x="423640" y="3246188"/>
            <a:ext cx="8113967" cy="430887"/>
          </a:xfrm>
          <a:prstGeom prst="rect">
            <a:avLst/>
          </a:prstGeom>
          <a:noFill/>
        </p:spPr>
        <p:txBody>
          <a:bodyPr wrap="square" rtlCol="0">
            <a:spAutoFit/>
          </a:bodyPr>
          <a:lstStyle/>
          <a:p>
            <a:pPr algn="ctr"/>
            <a:r>
              <a:rPr lang="en-US" sz="2200" dirty="0"/>
              <a:t>what we've made here is a type that is </a:t>
            </a:r>
            <a:r>
              <a:rPr lang="en-US" sz="2200" i="1" dirty="0"/>
              <a:t>impossible to construct!</a:t>
            </a:r>
            <a:endParaRPr lang="en-US" sz="2200" dirty="0"/>
          </a:p>
        </p:txBody>
      </p:sp>
      <p:sp>
        <p:nvSpPr>
          <p:cNvPr id="16" name="TextBox 15">
            <a:extLst>
              <a:ext uri="{FF2B5EF4-FFF2-40B4-BE49-F238E27FC236}">
                <a16:creationId xmlns:a16="http://schemas.microsoft.com/office/drawing/2014/main" id="{5EC2A180-EB49-DC42-A91C-12E920C41E3D}"/>
              </a:ext>
            </a:extLst>
          </p:cNvPr>
          <p:cNvSpPr txBox="1"/>
          <p:nvPr/>
        </p:nvSpPr>
        <p:spPr>
          <a:xfrm>
            <a:off x="423640" y="3748727"/>
            <a:ext cx="8113967" cy="769441"/>
          </a:xfrm>
          <a:prstGeom prst="rect">
            <a:avLst/>
          </a:prstGeom>
          <a:noFill/>
        </p:spPr>
        <p:txBody>
          <a:bodyPr wrap="square" rtlCol="0">
            <a:spAutoFit/>
          </a:bodyPr>
          <a:lstStyle/>
          <a:p>
            <a:pPr algn="ctr"/>
            <a:r>
              <a:rPr lang="en-US" sz="2200" dirty="0"/>
              <a:t>so we need something to satisfy the other important property of the Java </a:t>
            </a:r>
            <a:r>
              <a:rPr lang="en-US" sz="2200" b="1" dirty="0">
                <a:latin typeface="Consolas" panose="020B0609020204030204" pitchFamily="49" charset="0"/>
                <a:cs typeface="Consolas" panose="020B0609020204030204" pitchFamily="49" charset="0"/>
              </a:rPr>
              <a:t>Node&lt;T&gt;</a:t>
            </a:r>
            <a:r>
              <a:rPr lang="en-US" sz="2200" dirty="0"/>
              <a:t> variables: the possibility of being </a:t>
            </a:r>
            <a:r>
              <a:rPr lang="en-US" sz="2200" b="1" dirty="0">
                <a:latin typeface="Consolas" panose="020B0609020204030204" pitchFamily="49" charset="0"/>
                <a:cs typeface="Consolas" panose="020B0609020204030204" pitchFamily="49" charset="0"/>
              </a:rPr>
              <a:t>null</a:t>
            </a:r>
            <a:r>
              <a:rPr lang="en-US" sz="2200" dirty="0"/>
              <a:t>.</a:t>
            </a:r>
          </a:p>
        </p:txBody>
      </p:sp>
      <p:sp>
        <p:nvSpPr>
          <p:cNvPr id="17" name="TextBox 16">
            <a:extLst>
              <a:ext uri="{FF2B5EF4-FFF2-40B4-BE49-F238E27FC236}">
                <a16:creationId xmlns:a16="http://schemas.microsoft.com/office/drawing/2014/main" id="{F14F1207-3DB3-294E-97B5-BB61E206CD94}"/>
              </a:ext>
            </a:extLst>
          </p:cNvPr>
          <p:cNvSpPr txBox="1"/>
          <p:nvPr/>
        </p:nvSpPr>
        <p:spPr>
          <a:xfrm>
            <a:off x="423640" y="4541140"/>
            <a:ext cx="8113967" cy="430887"/>
          </a:xfrm>
          <a:prstGeom prst="rect">
            <a:avLst/>
          </a:prstGeom>
          <a:noFill/>
        </p:spPr>
        <p:txBody>
          <a:bodyPr wrap="square" rtlCol="0">
            <a:spAutoFit/>
          </a:bodyPr>
          <a:lstStyle/>
          <a:p>
            <a:pPr algn="ctr"/>
            <a:r>
              <a:rPr lang="en-US" sz="2200" dirty="0"/>
              <a:t>the solution is to use </a:t>
            </a:r>
            <a:r>
              <a:rPr lang="en-US" sz="2200" b="1" dirty="0">
                <a:latin typeface="Consolas" panose="020B0609020204030204" pitchFamily="49" charset="0"/>
                <a:cs typeface="Consolas" panose="020B0609020204030204" pitchFamily="49" charset="0"/>
              </a:rPr>
              <a:t>Option&lt;Box&lt;Node&lt;T&gt;&gt;&gt;</a:t>
            </a:r>
            <a:r>
              <a:rPr lang="en-US" sz="2200" dirty="0"/>
              <a:t>.</a:t>
            </a:r>
          </a:p>
        </p:txBody>
      </p:sp>
    </p:spTree>
    <p:extLst>
      <p:ext uri="{BB962C8B-B14F-4D97-AF65-F5344CB8AC3E}">
        <p14:creationId xmlns:p14="http://schemas.microsoft.com/office/powerpoint/2010/main" val="11683967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uiExpand="1" build="p" bldLvl="5"/>
      <p:bldP spid="8" grpId="0"/>
      <p:bldP spid="15" grpId="0"/>
      <p:bldP spid="16" grpId="0"/>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08273-23F2-9447-B03B-D71A05787A0D}"/>
              </a:ext>
            </a:extLst>
          </p:cNvPr>
          <p:cNvSpPr>
            <a:spLocks noGrp="1"/>
          </p:cNvSpPr>
          <p:nvPr>
            <p:ph type="title"/>
          </p:nvPr>
        </p:nvSpPr>
        <p:spPr/>
        <p:txBody>
          <a:bodyPr/>
          <a:lstStyle/>
          <a:p>
            <a:r>
              <a:rPr lang="en-US" dirty="0">
                <a:latin typeface="Consolas" panose="020B0609020204030204" pitchFamily="49" charset="0"/>
                <a:cs typeface="Consolas" panose="020B0609020204030204" pitchFamily="49" charset="0"/>
              </a:rPr>
              <a:t>Option&lt;Box&lt;Node&lt;T&gt;&gt;&gt;? </a:t>
            </a:r>
            <a:r>
              <a:rPr lang="en-US" dirty="0"/>
              <a:t>That's… verbose</a:t>
            </a:r>
          </a:p>
        </p:txBody>
      </p:sp>
      <p:sp>
        <p:nvSpPr>
          <p:cNvPr id="3" name="Content Placeholder 2">
            <a:extLst>
              <a:ext uri="{FF2B5EF4-FFF2-40B4-BE49-F238E27FC236}">
                <a16:creationId xmlns:a16="http://schemas.microsoft.com/office/drawing/2014/main" id="{55BCD208-808E-E34B-B7DA-8F44BB76841E}"/>
              </a:ext>
            </a:extLst>
          </p:cNvPr>
          <p:cNvSpPr>
            <a:spLocks noGrp="1"/>
          </p:cNvSpPr>
          <p:nvPr>
            <p:ph idx="1"/>
          </p:nvPr>
        </p:nvSpPr>
        <p:spPr>
          <a:xfrm>
            <a:off x="152400" y="495301"/>
            <a:ext cx="8991600" cy="990599"/>
          </a:xfrm>
        </p:spPr>
        <p:txBody>
          <a:bodyPr/>
          <a:lstStyle/>
          <a:p>
            <a:r>
              <a:rPr lang="en-US" dirty="0"/>
              <a:t>a little, yeah. but this comes up less often than you’d think.</a:t>
            </a:r>
          </a:p>
          <a:p>
            <a:r>
              <a:rPr lang="en-US" dirty="0"/>
              <a:t>add a constructor and it becomes easy to use:</a:t>
            </a:r>
          </a:p>
        </p:txBody>
      </p:sp>
      <p:sp>
        <p:nvSpPr>
          <p:cNvPr id="4" name="Slide Number Placeholder 3">
            <a:extLst>
              <a:ext uri="{FF2B5EF4-FFF2-40B4-BE49-F238E27FC236}">
                <a16:creationId xmlns:a16="http://schemas.microsoft.com/office/drawing/2014/main" id="{A2118E8E-5343-FD41-9E58-AC68FB0F794D}"/>
              </a:ext>
            </a:extLst>
          </p:cNvPr>
          <p:cNvSpPr>
            <a:spLocks noGrp="1"/>
          </p:cNvSpPr>
          <p:nvPr>
            <p:ph type="sldNum" sz="quarter" idx="12"/>
          </p:nvPr>
        </p:nvSpPr>
        <p:spPr/>
        <p:txBody>
          <a:bodyPr/>
          <a:lstStyle/>
          <a:p>
            <a:fld id="{3552B95B-556F-44BD-91A5-D80C1B9E2BB3}" type="slidenum">
              <a:rPr lang="en-US" smtClean="0"/>
              <a:pPr/>
              <a:t>20</a:t>
            </a:fld>
            <a:endParaRPr lang="en-US"/>
          </a:p>
        </p:txBody>
      </p:sp>
      <p:sp>
        <p:nvSpPr>
          <p:cNvPr id="5" name="TextBox 4">
            <a:extLst>
              <a:ext uri="{FF2B5EF4-FFF2-40B4-BE49-F238E27FC236}">
                <a16:creationId xmlns:a16="http://schemas.microsoft.com/office/drawing/2014/main" id="{EE2C9771-23D8-6E4C-986E-78044F4115B3}"/>
              </a:ext>
            </a:extLst>
          </p:cNvPr>
          <p:cNvSpPr txBox="1"/>
          <p:nvPr/>
        </p:nvSpPr>
        <p:spPr>
          <a:xfrm>
            <a:off x="152400" y="1338595"/>
            <a:ext cx="4393660" cy="1631216"/>
          </a:xfrm>
          <a:prstGeom prst="rect">
            <a:avLst/>
          </a:prstGeom>
          <a:noFill/>
        </p:spPr>
        <p:txBody>
          <a:bodyPr wrap="square" rtlCol="0">
            <a:spAutoFit/>
          </a:bodyPr>
          <a:lstStyle/>
          <a:p>
            <a:r>
              <a:rPr lang="en-US" sz="2000" b="1" dirty="0">
                <a:solidFill>
                  <a:srgbClr val="FF0000"/>
                </a:solidFill>
                <a:latin typeface="Consolas" panose="020B0609020204030204" pitchFamily="49" charset="0"/>
                <a:cs typeface="Consolas" panose="020B0609020204030204" pitchFamily="49" charset="0"/>
              </a:rPr>
              <a:t>struct </a:t>
            </a:r>
            <a:r>
              <a:rPr lang="en-US" sz="2000" b="1" dirty="0">
                <a:latin typeface="Consolas" panose="020B0609020204030204" pitchFamily="49" charset="0"/>
                <a:cs typeface="Consolas" panose="020B0609020204030204" pitchFamily="49" charset="0"/>
              </a:rPr>
              <a:t>Node&lt;T&gt; {</a:t>
            </a:r>
          </a:p>
          <a:p>
            <a:r>
              <a:rPr lang="en-US" sz="2000" b="1" dirty="0">
                <a:latin typeface="Consolas" panose="020B0609020204030204" pitchFamily="49" charset="0"/>
                <a:cs typeface="Consolas" panose="020B0609020204030204" pitchFamily="49" charset="0"/>
              </a:rPr>
              <a:t>  left:  Option&lt;Box&lt;Node&lt;T&gt;&gt;&gt;,</a:t>
            </a:r>
          </a:p>
          <a:p>
            <a:r>
              <a:rPr lang="en-US" sz="2000" b="1" dirty="0">
                <a:latin typeface="Consolas" panose="020B0609020204030204" pitchFamily="49" charset="0"/>
                <a:cs typeface="Consolas" panose="020B0609020204030204" pitchFamily="49" charset="0"/>
              </a:rPr>
              <a:t>  right: Option&lt;Box&lt;Node&lt;T&gt;&gt;&gt;,</a:t>
            </a:r>
          </a:p>
          <a:p>
            <a:r>
              <a:rPr lang="en-US" sz="2000" b="1" dirty="0">
                <a:latin typeface="Consolas" panose="020B0609020204030204" pitchFamily="49" charset="0"/>
                <a:cs typeface="Consolas" panose="020B0609020204030204" pitchFamily="49" charset="0"/>
              </a:rPr>
              <a:t>  value: T,</a:t>
            </a:r>
          </a:p>
          <a:p>
            <a:r>
              <a:rPr lang="en-US" sz="20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9121F2AB-8B11-2648-BA28-C1D75E459FBD}"/>
              </a:ext>
            </a:extLst>
          </p:cNvPr>
          <p:cNvSpPr txBox="1"/>
          <p:nvPr/>
        </p:nvSpPr>
        <p:spPr>
          <a:xfrm>
            <a:off x="4852480" y="1338595"/>
            <a:ext cx="4291520" cy="1015663"/>
          </a:xfrm>
          <a:prstGeom prst="rect">
            <a:avLst/>
          </a:prstGeom>
          <a:noFill/>
        </p:spPr>
        <p:txBody>
          <a:bodyPr wrap="square" rtlCol="0">
            <a:spAutoFit/>
          </a:bodyPr>
          <a:lstStyle/>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mut</a:t>
            </a:r>
            <a:r>
              <a:rPr lang="en-US" sz="2000" b="1" dirty="0">
                <a:latin typeface="Consolas" panose="020B0609020204030204" pitchFamily="49" charset="0"/>
                <a:cs typeface="Consolas" panose="020B0609020204030204" pitchFamily="49" charset="0"/>
              </a:rPr>
              <a:t> a = Node::new(</a:t>
            </a:r>
            <a:r>
              <a:rPr lang="en-US" sz="2000" b="1" dirty="0">
                <a:solidFill>
                  <a:schemeClr val="accent3">
                    <a:lumMod val="75000"/>
                  </a:schemeClr>
                </a:solidFill>
                <a:latin typeface="Consolas" panose="020B0609020204030204" pitchFamily="49" charset="0"/>
                <a:cs typeface="Consolas" panose="020B0609020204030204" pitchFamily="49" charset="0"/>
              </a:rPr>
              <a:t>5</a:t>
            </a:r>
            <a:r>
              <a:rPr lang="en-US" sz="2000" b="1" dirty="0">
                <a:latin typeface="Consolas" panose="020B0609020204030204" pitchFamily="49" charset="0"/>
                <a:cs typeface="Consolas" panose="020B0609020204030204" pitchFamily="49" charset="0"/>
              </a:rPr>
              <a:t>);</a:t>
            </a:r>
          </a:p>
          <a:p>
            <a:r>
              <a:rPr lang="en-US" sz="2000" b="1" dirty="0" err="1">
                <a:latin typeface="Consolas" panose="020B0609020204030204" pitchFamily="49" charset="0"/>
                <a:cs typeface="Consolas" panose="020B0609020204030204" pitchFamily="49" charset="0"/>
              </a:rPr>
              <a:t>a.left</a:t>
            </a:r>
            <a:r>
              <a:rPr lang="en-US" sz="2000" b="1" dirty="0">
                <a:latin typeface="Consolas" panose="020B0609020204030204" pitchFamily="49" charset="0"/>
                <a:cs typeface="Consolas" panose="020B0609020204030204" pitchFamily="49" charset="0"/>
              </a:rPr>
              <a:t>  = Some(Node::new(</a:t>
            </a:r>
            <a:r>
              <a:rPr lang="en-US" sz="2000" b="1" dirty="0">
                <a:solidFill>
                  <a:schemeClr val="accent3">
                    <a:lumMod val="75000"/>
                  </a:schemeClr>
                </a:solidFill>
                <a:latin typeface="Consolas" panose="020B0609020204030204" pitchFamily="49" charset="0"/>
                <a:cs typeface="Consolas" panose="020B0609020204030204" pitchFamily="49" charset="0"/>
              </a:rPr>
              <a:t>2</a:t>
            </a:r>
            <a:r>
              <a:rPr lang="en-US" sz="2000" b="1" dirty="0">
                <a:latin typeface="Consolas" panose="020B0609020204030204" pitchFamily="49" charset="0"/>
                <a:cs typeface="Consolas" panose="020B0609020204030204" pitchFamily="49" charset="0"/>
              </a:rPr>
              <a:t>));</a:t>
            </a:r>
          </a:p>
          <a:p>
            <a:r>
              <a:rPr lang="en-US" sz="2000" b="1" dirty="0" err="1">
                <a:latin typeface="Consolas" panose="020B0609020204030204" pitchFamily="49" charset="0"/>
                <a:cs typeface="Consolas" panose="020B0609020204030204" pitchFamily="49" charset="0"/>
              </a:rPr>
              <a:t>a.right</a:t>
            </a:r>
            <a:r>
              <a:rPr lang="en-US" sz="2000" b="1" dirty="0">
                <a:latin typeface="Consolas" panose="020B0609020204030204" pitchFamily="49" charset="0"/>
                <a:cs typeface="Consolas" panose="020B0609020204030204" pitchFamily="49" charset="0"/>
              </a:rPr>
              <a:t> = Some(Node::new(</a:t>
            </a:r>
            <a:r>
              <a:rPr lang="en-US" sz="2000" b="1" dirty="0">
                <a:solidFill>
                  <a:schemeClr val="accent3">
                    <a:lumMod val="75000"/>
                  </a:schemeClr>
                </a:solidFill>
                <a:latin typeface="Consolas" panose="020B0609020204030204" pitchFamily="49" charset="0"/>
                <a:cs typeface="Consolas" panose="020B0609020204030204" pitchFamily="49" charset="0"/>
              </a:rPr>
              <a:t>7</a:t>
            </a:r>
            <a:r>
              <a:rPr lang="en-US" sz="2000" b="1" dirty="0">
                <a:latin typeface="Consolas" panose="020B0609020204030204" pitchFamily="49" charset="0"/>
                <a:cs typeface="Consolas" panose="020B0609020204030204" pitchFamily="49" charset="0"/>
              </a:rPr>
              <a:t>));</a:t>
            </a:r>
          </a:p>
        </p:txBody>
      </p:sp>
      <p:grpSp>
        <p:nvGrpSpPr>
          <p:cNvPr id="8" name="Group 7">
            <a:extLst>
              <a:ext uri="{FF2B5EF4-FFF2-40B4-BE49-F238E27FC236}">
                <a16:creationId xmlns:a16="http://schemas.microsoft.com/office/drawing/2014/main" id="{452F4D70-34D5-BA45-B942-41E446AED49C}"/>
              </a:ext>
            </a:extLst>
          </p:cNvPr>
          <p:cNvGrpSpPr/>
          <p:nvPr/>
        </p:nvGrpSpPr>
        <p:grpSpPr>
          <a:xfrm>
            <a:off x="7490570" y="2511185"/>
            <a:ext cx="1501030" cy="1215965"/>
            <a:chOff x="4671170" y="2273025"/>
            <a:chExt cx="1501030" cy="1215965"/>
          </a:xfrm>
        </p:grpSpPr>
        <p:cxnSp>
          <p:nvCxnSpPr>
            <p:cNvPr id="9" name="Straight Arrow Connector 8">
              <a:extLst>
                <a:ext uri="{FF2B5EF4-FFF2-40B4-BE49-F238E27FC236}">
                  <a16:creationId xmlns:a16="http://schemas.microsoft.com/office/drawing/2014/main" id="{A390E4B8-14AE-8C43-8CFC-7B68C7FFB460}"/>
                </a:ext>
              </a:extLst>
            </p:cNvPr>
            <p:cNvCxnSpPr>
              <a:cxnSpLocks/>
            </p:cNvCxnSpPr>
            <p:nvPr/>
          </p:nvCxnSpPr>
          <p:spPr>
            <a:xfrm flipH="1">
              <a:off x="5029200" y="2701865"/>
              <a:ext cx="236001" cy="3636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CA5B63A-3ABC-B843-BC04-B70A98C5D114}"/>
                </a:ext>
              </a:extLst>
            </p:cNvPr>
            <p:cNvCxnSpPr>
              <a:cxnSpLocks/>
            </p:cNvCxnSpPr>
            <p:nvPr/>
          </p:nvCxnSpPr>
          <p:spPr>
            <a:xfrm>
              <a:off x="5517991" y="2711089"/>
              <a:ext cx="256218" cy="3544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95535106-E944-9C4F-966A-86903E4B4BB8}"/>
                </a:ext>
              </a:extLst>
            </p:cNvPr>
            <p:cNvSpPr/>
            <p:nvPr/>
          </p:nvSpPr>
          <p:spPr>
            <a:xfrm>
              <a:off x="4671170" y="3060150"/>
              <a:ext cx="594031" cy="4288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Consolas" panose="020B0609020204030204" pitchFamily="49" charset="0"/>
                  <a:cs typeface="Consolas" panose="020B0609020204030204" pitchFamily="49" charset="0"/>
                </a:rPr>
                <a:t>2</a:t>
              </a:r>
            </a:p>
          </p:txBody>
        </p:sp>
        <p:sp>
          <p:nvSpPr>
            <p:cNvPr id="12" name="Rectangle 11">
              <a:extLst>
                <a:ext uri="{FF2B5EF4-FFF2-40B4-BE49-F238E27FC236}">
                  <a16:creationId xmlns:a16="http://schemas.microsoft.com/office/drawing/2014/main" id="{288A60FF-403B-8943-8E0D-8231AA863A69}"/>
                </a:ext>
              </a:extLst>
            </p:cNvPr>
            <p:cNvSpPr/>
            <p:nvPr/>
          </p:nvSpPr>
          <p:spPr>
            <a:xfrm>
              <a:off x="5069498" y="2273025"/>
              <a:ext cx="588698" cy="4288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Consolas" panose="020B0609020204030204" pitchFamily="49" charset="0"/>
                  <a:cs typeface="Consolas" panose="020B0609020204030204" pitchFamily="49" charset="0"/>
                </a:rPr>
                <a:t>5</a:t>
              </a:r>
            </a:p>
          </p:txBody>
        </p:sp>
        <p:sp>
          <p:nvSpPr>
            <p:cNvPr id="13" name="Rectangle 12">
              <a:extLst>
                <a:ext uri="{FF2B5EF4-FFF2-40B4-BE49-F238E27FC236}">
                  <a16:creationId xmlns:a16="http://schemas.microsoft.com/office/drawing/2014/main" id="{FBBAD50F-BD9D-8448-B279-CDE727674AA7}"/>
                </a:ext>
              </a:extLst>
            </p:cNvPr>
            <p:cNvSpPr/>
            <p:nvPr/>
          </p:nvSpPr>
          <p:spPr>
            <a:xfrm>
              <a:off x="5572307" y="3060150"/>
              <a:ext cx="599893" cy="4288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Consolas" panose="020B0609020204030204" pitchFamily="49" charset="0"/>
                  <a:cs typeface="Consolas" panose="020B0609020204030204" pitchFamily="49" charset="0"/>
                </a:rPr>
                <a:t>7</a:t>
              </a:r>
            </a:p>
          </p:txBody>
        </p:sp>
      </p:grpSp>
      <p:cxnSp>
        <p:nvCxnSpPr>
          <p:cNvPr id="16" name="Straight Connector 15">
            <a:extLst>
              <a:ext uri="{FF2B5EF4-FFF2-40B4-BE49-F238E27FC236}">
                <a16:creationId xmlns:a16="http://schemas.microsoft.com/office/drawing/2014/main" id="{D44C1D49-C440-894C-AE60-B0398E59CA2D}"/>
              </a:ext>
            </a:extLst>
          </p:cNvPr>
          <p:cNvCxnSpPr>
            <a:cxnSpLocks/>
          </p:cNvCxnSpPr>
          <p:nvPr/>
        </p:nvCxnSpPr>
        <p:spPr>
          <a:xfrm>
            <a:off x="4648200" y="1342724"/>
            <a:ext cx="0" cy="11337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C7BE0E6-7C18-C647-9ABF-078A5D25AE45}"/>
              </a:ext>
            </a:extLst>
          </p:cNvPr>
          <p:cNvSpPr txBox="1"/>
          <p:nvPr/>
        </p:nvSpPr>
        <p:spPr>
          <a:xfrm>
            <a:off x="685800" y="3141623"/>
            <a:ext cx="6205756" cy="1107996"/>
          </a:xfrm>
          <a:prstGeom prst="rect">
            <a:avLst/>
          </a:prstGeom>
          <a:noFill/>
        </p:spPr>
        <p:txBody>
          <a:bodyPr wrap="square" rtlCol="0">
            <a:spAutoFit/>
          </a:bodyPr>
          <a:lstStyle/>
          <a:p>
            <a:pPr algn="ctr"/>
            <a:r>
              <a:rPr lang="en-US" sz="2200" dirty="0"/>
              <a:t>and now we have something very similar to the original Java, except we have to use </a:t>
            </a:r>
            <a:r>
              <a:rPr lang="en-US" sz="2200" b="1" dirty="0">
                <a:latin typeface="Consolas" panose="020B0609020204030204" pitchFamily="49" charset="0"/>
                <a:cs typeface="Consolas" panose="020B0609020204030204" pitchFamily="49" charset="0"/>
              </a:rPr>
              <a:t>Some(..)</a:t>
            </a:r>
            <a:r>
              <a:rPr lang="en-US" sz="2200" dirty="0"/>
              <a:t> to indicate the opposite of </a:t>
            </a:r>
            <a:r>
              <a:rPr lang="en-US" sz="2200" b="1" dirty="0">
                <a:latin typeface="Consolas" panose="020B0609020204030204" pitchFamily="49" charset="0"/>
                <a:cs typeface="Consolas" panose="020B0609020204030204" pitchFamily="49" charset="0"/>
              </a:rPr>
              <a:t>None</a:t>
            </a:r>
            <a:r>
              <a:rPr lang="en-US" sz="2200" dirty="0"/>
              <a:t> (aka </a:t>
            </a:r>
            <a:r>
              <a:rPr lang="en-US" sz="2200" b="1" dirty="0">
                <a:solidFill>
                  <a:srgbClr val="FF0000"/>
                </a:solidFill>
                <a:latin typeface="Consolas" panose="020B0609020204030204" pitchFamily="49" charset="0"/>
                <a:cs typeface="Consolas" panose="020B0609020204030204" pitchFamily="49" charset="0"/>
              </a:rPr>
              <a:t>null</a:t>
            </a:r>
            <a:r>
              <a:rPr lang="en-US" sz="2200" dirty="0"/>
              <a:t>).</a:t>
            </a:r>
          </a:p>
        </p:txBody>
      </p:sp>
      <p:sp>
        <p:nvSpPr>
          <p:cNvPr id="19" name="TextBox 18">
            <a:extLst>
              <a:ext uri="{FF2B5EF4-FFF2-40B4-BE49-F238E27FC236}">
                <a16:creationId xmlns:a16="http://schemas.microsoft.com/office/drawing/2014/main" id="{D500EDD0-2F81-3D41-BE15-331E9637AE7D}"/>
              </a:ext>
            </a:extLst>
          </p:cNvPr>
          <p:cNvSpPr txBox="1"/>
          <p:nvPr/>
        </p:nvSpPr>
        <p:spPr>
          <a:xfrm>
            <a:off x="2514600" y="4483855"/>
            <a:ext cx="5138960" cy="430887"/>
          </a:xfrm>
          <a:prstGeom prst="rect">
            <a:avLst/>
          </a:prstGeom>
          <a:noFill/>
        </p:spPr>
        <p:txBody>
          <a:bodyPr wrap="square" rtlCol="0">
            <a:spAutoFit/>
          </a:bodyPr>
          <a:lstStyle/>
          <a:p>
            <a:pPr algn="ctr"/>
            <a:r>
              <a:rPr lang="en-US" sz="2200" dirty="0"/>
              <a:t>this code is in the </a:t>
            </a:r>
            <a:r>
              <a:rPr lang="en-US" sz="2200" b="1" dirty="0" err="1">
                <a:latin typeface="Consolas" panose="020B0609020204030204" pitchFamily="49" charset="0"/>
                <a:cs typeface="Consolas" panose="020B0609020204030204" pitchFamily="49" charset="0"/>
              </a:rPr>
              <a:t>rust_trees</a:t>
            </a:r>
            <a:r>
              <a:rPr lang="en-US" sz="2200" dirty="0"/>
              <a:t> example.</a:t>
            </a:r>
          </a:p>
        </p:txBody>
      </p:sp>
    </p:spTree>
    <p:extLst>
      <p:ext uri="{BB962C8B-B14F-4D97-AF65-F5344CB8AC3E}">
        <p14:creationId xmlns:p14="http://schemas.microsoft.com/office/powerpoint/2010/main" val="21850586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8" grpId="0"/>
      <p:bldP spid="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1F900-50EA-1646-9E91-3F54FA2437DF}"/>
              </a:ext>
            </a:extLst>
          </p:cNvPr>
          <p:cNvSpPr>
            <a:spLocks noGrp="1"/>
          </p:cNvSpPr>
          <p:nvPr>
            <p:ph type="title"/>
          </p:nvPr>
        </p:nvSpPr>
        <p:spPr/>
        <p:txBody>
          <a:bodyPr/>
          <a:lstStyle/>
          <a:p>
            <a:r>
              <a:rPr lang="en-US" dirty="0"/>
              <a:t>A brief digression on Option</a:t>
            </a:r>
          </a:p>
        </p:txBody>
      </p:sp>
      <p:sp>
        <p:nvSpPr>
          <p:cNvPr id="3" name="Content Placeholder 2">
            <a:extLst>
              <a:ext uri="{FF2B5EF4-FFF2-40B4-BE49-F238E27FC236}">
                <a16:creationId xmlns:a16="http://schemas.microsoft.com/office/drawing/2014/main" id="{F241F78D-0ADD-6342-83A0-151EBEF9C002}"/>
              </a:ext>
            </a:extLst>
          </p:cNvPr>
          <p:cNvSpPr>
            <a:spLocks noGrp="1"/>
          </p:cNvSpPr>
          <p:nvPr>
            <p:ph idx="1"/>
          </p:nvPr>
        </p:nvSpPr>
        <p:spPr/>
        <p:txBody>
          <a:bodyPr/>
          <a:lstStyle/>
          <a:p>
            <a:r>
              <a:rPr lang="en-US" dirty="0"/>
              <a:t>let’s look at another example, </a:t>
            </a:r>
            <a:r>
              <a:rPr lang="en-US" b="1" dirty="0" err="1">
                <a:latin typeface="Consolas" panose="020B0609020204030204" pitchFamily="49" charset="0"/>
                <a:cs typeface="Consolas" panose="020B0609020204030204" pitchFamily="49" charset="0"/>
              </a:rPr>
              <a:t>rust_option</a:t>
            </a:r>
            <a:r>
              <a:rPr lang="en-US" dirty="0"/>
              <a:t>!</a:t>
            </a:r>
          </a:p>
          <a:p>
            <a:r>
              <a:rPr lang="en-US" b="1" dirty="0">
                <a:latin typeface="Consolas" panose="020B0609020204030204" pitchFamily="49" charset="0"/>
                <a:cs typeface="Consolas" panose="020B0609020204030204" pitchFamily="49" charset="0"/>
              </a:rPr>
              <a:t>Option</a:t>
            </a:r>
            <a:r>
              <a:rPr lang="en-US" dirty="0"/>
              <a:t> gives you something like Java’s </a:t>
            </a:r>
            <a:r>
              <a:rPr lang="en-US" b="1" dirty="0">
                <a:solidFill>
                  <a:srgbClr val="FF0000"/>
                </a:solidFill>
                <a:latin typeface="Consolas" panose="020B0609020204030204" pitchFamily="49" charset="0"/>
                <a:cs typeface="Consolas" panose="020B0609020204030204" pitchFamily="49" charset="0"/>
              </a:rPr>
              <a:t>null</a:t>
            </a:r>
            <a:r>
              <a:rPr lang="en-US" dirty="0"/>
              <a:t>, but it’s </a:t>
            </a:r>
            <a:r>
              <a:rPr lang="en-US" i="1" dirty="0"/>
              <a:t>opt-in</a:t>
            </a:r>
            <a:r>
              <a:rPr lang="en-US" dirty="0"/>
              <a:t>, and works on </a:t>
            </a:r>
            <a:r>
              <a:rPr lang="en-US" i="1" dirty="0"/>
              <a:t>any</a:t>
            </a:r>
            <a:r>
              <a:rPr lang="en-US" dirty="0"/>
              <a:t> type, not just object references.</a:t>
            </a:r>
          </a:p>
          <a:p>
            <a:r>
              <a:rPr lang="en-US" dirty="0"/>
              <a:t>there are a few ways of “getting the value out of” an </a:t>
            </a:r>
            <a:r>
              <a:rPr lang="en-US" b="1" dirty="0">
                <a:latin typeface="Consolas" panose="020B0609020204030204" pitchFamily="49" charset="0"/>
                <a:cs typeface="Consolas" panose="020B0609020204030204" pitchFamily="49" charset="0"/>
              </a:rPr>
              <a:t>Option</a:t>
            </a:r>
            <a:r>
              <a:rPr lang="en-US" dirty="0"/>
              <a:t>, but…</a:t>
            </a:r>
          </a:p>
          <a:p>
            <a:pPr lvl="1"/>
            <a:r>
              <a:rPr lang="en-US" b="1" dirty="0">
                <a:latin typeface="Consolas" panose="020B0609020204030204" pitchFamily="49" charset="0"/>
                <a:cs typeface="Consolas" panose="020B0609020204030204" pitchFamily="49" charset="0"/>
              </a:rPr>
              <a:t>.unwrap()</a:t>
            </a:r>
            <a:r>
              <a:rPr lang="en-US" dirty="0"/>
              <a:t> is the most risky, cause it could crash your program!</a:t>
            </a:r>
          </a:p>
        </p:txBody>
      </p:sp>
      <p:sp>
        <p:nvSpPr>
          <p:cNvPr id="4" name="Slide Number Placeholder 3">
            <a:extLst>
              <a:ext uri="{FF2B5EF4-FFF2-40B4-BE49-F238E27FC236}">
                <a16:creationId xmlns:a16="http://schemas.microsoft.com/office/drawing/2014/main" id="{3F188DFB-6E18-AD4E-9BB9-BC32EF3CB300}"/>
              </a:ext>
            </a:extLst>
          </p:cNvPr>
          <p:cNvSpPr>
            <a:spLocks noGrp="1"/>
          </p:cNvSpPr>
          <p:nvPr>
            <p:ph type="sldNum" sz="quarter" idx="12"/>
          </p:nvPr>
        </p:nvSpPr>
        <p:spPr/>
        <p:txBody>
          <a:bodyPr/>
          <a:lstStyle/>
          <a:p>
            <a:fld id="{3552B95B-556F-44BD-91A5-D80C1B9E2BB3}" type="slidenum">
              <a:rPr lang="en-US" smtClean="0"/>
              <a:pPr/>
              <a:t>21</a:t>
            </a:fld>
            <a:endParaRPr lang="en-US"/>
          </a:p>
        </p:txBody>
      </p:sp>
    </p:spTree>
    <p:extLst>
      <p:ext uri="{BB962C8B-B14F-4D97-AF65-F5344CB8AC3E}">
        <p14:creationId xmlns:p14="http://schemas.microsoft.com/office/powerpoint/2010/main" val="78954870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C1300-57C0-3443-9FD7-FB35A54678C1}"/>
              </a:ext>
            </a:extLst>
          </p:cNvPr>
          <p:cNvSpPr>
            <a:spLocks noGrp="1"/>
          </p:cNvSpPr>
          <p:nvPr>
            <p:ph type="ctrTitle"/>
          </p:nvPr>
        </p:nvSpPr>
        <p:spPr/>
        <p:txBody>
          <a:bodyPr/>
          <a:lstStyle/>
          <a:p>
            <a:r>
              <a:rPr lang="en-US" dirty="0"/>
              <a:t>Defining and using an AST</a:t>
            </a:r>
          </a:p>
        </p:txBody>
      </p:sp>
      <p:sp>
        <p:nvSpPr>
          <p:cNvPr id="3" name="Slide Number Placeholder 2">
            <a:extLst>
              <a:ext uri="{FF2B5EF4-FFF2-40B4-BE49-F238E27FC236}">
                <a16:creationId xmlns:a16="http://schemas.microsoft.com/office/drawing/2014/main" id="{9E80C978-36E5-774D-9B74-13B11AAEF80F}"/>
              </a:ext>
            </a:extLst>
          </p:cNvPr>
          <p:cNvSpPr>
            <a:spLocks noGrp="1"/>
          </p:cNvSpPr>
          <p:nvPr>
            <p:ph type="sldNum" sz="quarter" idx="12"/>
          </p:nvPr>
        </p:nvSpPr>
        <p:spPr/>
        <p:txBody>
          <a:bodyPr/>
          <a:lstStyle/>
          <a:p>
            <a:fld id="{3552B95B-556F-44BD-91A5-D80C1B9E2BB3}" type="slidenum">
              <a:rPr lang="en-US" smtClean="0"/>
              <a:pPr/>
              <a:t>22</a:t>
            </a:fld>
            <a:endParaRPr lang="en-US"/>
          </a:p>
        </p:txBody>
      </p:sp>
    </p:spTree>
    <p:extLst>
      <p:ext uri="{BB962C8B-B14F-4D97-AF65-F5344CB8AC3E}">
        <p14:creationId xmlns:p14="http://schemas.microsoft.com/office/powerpoint/2010/main" val="224002714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7A138-BB00-054B-A832-7EDBADF62A7D}"/>
              </a:ext>
            </a:extLst>
          </p:cNvPr>
          <p:cNvSpPr>
            <a:spLocks noGrp="1"/>
          </p:cNvSpPr>
          <p:nvPr>
            <p:ph type="title"/>
          </p:nvPr>
        </p:nvSpPr>
        <p:spPr/>
        <p:txBody>
          <a:bodyPr/>
          <a:lstStyle/>
          <a:p>
            <a:r>
              <a:rPr lang="en-US" dirty="0"/>
              <a:t>Before we get to a real language…</a:t>
            </a:r>
          </a:p>
        </p:txBody>
      </p:sp>
      <p:sp>
        <p:nvSpPr>
          <p:cNvPr id="3" name="Content Placeholder 2">
            <a:extLst>
              <a:ext uri="{FF2B5EF4-FFF2-40B4-BE49-F238E27FC236}">
                <a16:creationId xmlns:a16="http://schemas.microsoft.com/office/drawing/2014/main" id="{15C6EBF4-8A33-FD4B-B512-E7B25C006493}"/>
              </a:ext>
            </a:extLst>
          </p:cNvPr>
          <p:cNvSpPr>
            <a:spLocks noGrp="1"/>
          </p:cNvSpPr>
          <p:nvPr>
            <p:ph idx="1"/>
          </p:nvPr>
        </p:nvSpPr>
        <p:spPr>
          <a:xfrm>
            <a:off x="152400" y="495301"/>
            <a:ext cx="8991600" cy="1295399"/>
          </a:xfrm>
        </p:spPr>
        <p:txBody>
          <a:bodyPr/>
          <a:lstStyle/>
          <a:p>
            <a:r>
              <a:rPr lang="en-US" dirty="0"/>
              <a:t>let's start with something simple.</a:t>
            </a:r>
          </a:p>
          <a:p>
            <a:r>
              <a:rPr lang="en-US" dirty="0"/>
              <a:t>maybe we're writing some calculator software and want to represent what the user types in </a:t>
            </a:r>
            <a:r>
              <a:rPr lang="en-US" i="1" dirty="0"/>
              <a:t>symbolically, </a:t>
            </a:r>
            <a:r>
              <a:rPr lang="en-US" dirty="0"/>
              <a:t>instead of just evaluating it.</a:t>
            </a:r>
          </a:p>
        </p:txBody>
      </p:sp>
      <p:sp>
        <p:nvSpPr>
          <p:cNvPr id="4" name="Slide Number Placeholder 3">
            <a:extLst>
              <a:ext uri="{FF2B5EF4-FFF2-40B4-BE49-F238E27FC236}">
                <a16:creationId xmlns:a16="http://schemas.microsoft.com/office/drawing/2014/main" id="{8F3A8754-F3BA-A542-8A62-DDF10D82D923}"/>
              </a:ext>
            </a:extLst>
          </p:cNvPr>
          <p:cNvSpPr>
            <a:spLocks noGrp="1"/>
          </p:cNvSpPr>
          <p:nvPr>
            <p:ph type="sldNum" sz="quarter" idx="12"/>
          </p:nvPr>
        </p:nvSpPr>
        <p:spPr/>
        <p:txBody>
          <a:bodyPr/>
          <a:lstStyle/>
          <a:p>
            <a:fld id="{3552B95B-556F-44BD-91A5-D80C1B9E2BB3}" type="slidenum">
              <a:rPr lang="en-US" smtClean="0"/>
              <a:pPr/>
              <a:t>23</a:t>
            </a:fld>
            <a:endParaRPr lang="en-US"/>
          </a:p>
        </p:txBody>
      </p:sp>
      <p:sp>
        <p:nvSpPr>
          <p:cNvPr id="5" name="TextBox 4">
            <a:extLst>
              <a:ext uri="{FF2B5EF4-FFF2-40B4-BE49-F238E27FC236}">
                <a16:creationId xmlns:a16="http://schemas.microsoft.com/office/drawing/2014/main" id="{F6E5A73A-1CE6-F54E-8252-570B6035D928}"/>
              </a:ext>
            </a:extLst>
          </p:cNvPr>
          <p:cNvSpPr txBox="1"/>
          <p:nvPr/>
        </p:nvSpPr>
        <p:spPr>
          <a:xfrm>
            <a:off x="228600" y="4634924"/>
            <a:ext cx="5181600" cy="584775"/>
          </a:xfrm>
          <a:prstGeom prst="rect">
            <a:avLst/>
          </a:prstGeom>
          <a:noFill/>
        </p:spPr>
        <p:txBody>
          <a:bodyPr wrap="square" rtlCol="0">
            <a:spAutoFit/>
          </a:bodyPr>
          <a:lstStyle/>
          <a:p>
            <a:pPr algn="ctr"/>
            <a:r>
              <a:rPr lang="en-US" sz="3200" b="1" dirty="0">
                <a:latin typeface="Consolas" panose="020B0609020204030204" pitchFamily="49" charset="0"/>
                <a:cs typeface="Consolas" panose="020B0609020204030204" pitchFamily="49" charset="0"/>
              </a:rPr>
              <a:t>(</a:t>
            </a:r>
            <a:r>
              <a:rPr lang="en-US" sz="3200" b="1" dirty="0">
                <a:solidFill>
                  <a:schemeClr val="accent3">
                    <a:lumMod val="75000"/>
                  </a:schemeClr>
                </a:solidFill>
                <a:latin typeface="Consolas" panose="020B0609020204030204" pitchFamily="49" charset="0"/>
                <a:cs typeface="Consolas" panose="020B0609020204030204" pitchFamily="49" charset="0"/>
              </a:rPr>
              <a:t>2</a:t>
            </a:r>
            <a:r>
              <a:rPr lang="en-US" sz="3200" b="1" dirty="0">
                <a:latin typeface="Consolas" panose="020B0609020204030204" pitchFamily="49" charset="0"/>
                <a:cs typeface="Consolas" panose="020B0609020204030204" pitchFamily="49" charset="0"/>
              </a:rPr>
              <a:t> / -(</a:t>
            </a:r>
            <a:r>
              <a:rPr lang="en-US" sz="3200" b="1" dirty="0">
                <a:solidFill>
                  <a:schemeClr val="accent3">
                    <a:lumMod val="75000"/>
                  </a:schemeClr>
                </a:solidFill>
                <a:latin typeface="Consolas" panose="020B0609020204030204" pitchFamily="49" charset="0"/>
                <a:cs typeface="Consolas" panose="020B0609020204030204" pitchFamily="49" charset="0"/>
              </a:rPr>
              <a:t>3</a:t>
            </a:r>
            <a:r>
              <a:rPr lang="en-US" sz="3200" b="1" dirty="0">
                <a:latin typeface="Consolas" panose="020B0609020204030204" pitchFamily="49" charset="0"/>
                <a:cs typeface="Consolas" panose="020B0609020204030204" pitchFamily="49" charset="0"/>
              </a:rPr>
              <a:t> + </a:t>
            </a:r>
            <a:r>
              <a:rPr lang="en-US" sz="3200" b="1" dirty="0">
                <a:solidFill>
                  <a:schemeClr val="accent3">
                    <a:lumMod val="75000"/>
                  </a:schemeClr>
                </a:solidFill>
                <a:latin typeface="Consolas" panose="020B0609020204030204" pitchFamily="49" charset="0"/>
                <a:cs typeface="Consolas" panose="020B0609020204030204" pitchFamily="49" charset="0"/>
              </a:rPr>
              <a:t>5</a:t>
            </a:r>
            <a:r>
              <a:rPr lang="en-US" sz="3200" b="1" dirty="0">
                <a:latin typeface="Consolas" panose="020B0609020204030204" pitchFamily="49" charset="0"/>
                <a:cs typeface="Consolas" panose="020B0609020204030204" pitchFamily="49" charset="0"/>
              </a:rPr>
              <a:t>)) * </a:t>
            </a:r>
            <a:r>
              <a:rPr lang="en-US" sz="3200" b="1" dirty="0">
                <a:solidFill>
                  <a:schemeClr val="accent3">
                    <a:lumMod val="75000"/>
                  </a:schemeClr>
                </a:solidFill>
                <a:latin typeface="Consolas" panose="020B0609020204030204" pitchFamily="49" charset="0"/>
                <a:cs typeface="Consolas" panose="020B0609020204030204" pitchFamily="49" charset="0"/>
              </a:rPr>
              <a:t>-40</a:t>
            </a:r>
          </a:p>
        </p:txBody>
      </p:sp>
      <p:grpSp>
        <p:nvGrpSpPr>
          <p:cNvPr id="41" name="Group 40">
            <a:extLst>
              <a:ext uri="{FF2B5EF4-FFF2-40B4-BE49-F238E27FC236}">
                <a16:creationId xmlns:a16="http://schemas.microsoft.com/office/drawing/2014/main" id="{C520E30B-D976-6E4D-9299-527978957470}"/>
              </a:ext>
            </a:extLst>
          </p:cNvPr>
          <p:cNvGrpSpPr/>
          <p:nvPr/>
        </p:nvGrpSpPr>
        <p:grpSpPr>
          <a:xfrm>
            <a:off x="762000" y="1828740"/>
            <a:ext cx="4352996" cy="2826504"/>
            <a:chOff x="2133600" y="1828740"/>
            <a:chExt cx="4352996" cy="2826504"/>
          </a:xfrm>
        </p:grpSpPr>
        <p:sp>
          <p:nvSpPr>
            <p:cNvPr id="6" name="TextBox 5">
              <a:extLst>
                <a:ext uri="{FF2B5EF4-FFF2-40B4-BE49-F238E27FC236}">
                  <a16:creationId xmlns:a16="http://schemas.microsoft.com/office/drawing/2014/main" id="{CB19DA47-0A0F-DF4E-874A-E3524F65396A}"/>
                </a:ext>
              </a:extLst>
            </p:cNvPr>
            <p:cNvSpPr txBox="1"/>
            <p:nvPr/>
          </p:nvSpPr>
          <p:spPr>
            <a:xfrm>
              <a:off x="2133600" y="4252594"/>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2</a:t>
              </a:r>
            </a:p>
          </p:txBody>
        </p:sp>
        <p:sp>
          <p:nvSpPr>
            <p:cNvPr id="7" name="TextBox 6">
              <a:extLst>
                <a:ext uri="{FF2B5EF4-FFF2-40B4-BE49-F238E27FC236}">
                  <a16:creationId xmlns:a16="http://schemas.microsoft.com/office/drawing/2014/main" id="{538B6D1C-81D8-844C-AAE2-186FE5F3F52A}"/>
                </a:ext>
              </a:extLst>
            </p:cNvPr>
            <p:cNvSpPr txBox="1"/>
            <p:nvPr/>
          </p:nvSpPr>
          <p:spPr>
            <a:xfrm>
              <a:off x="3429000" y="4252594"/>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3</a:t>
              </a:r>
            </a:p>
          </p:txBody>
        </p:sp>
        <p:sp>
          <p:nvSpPr>
            <p:cNvPr id="8" name="TextBox 7">
              <a:extLst>
                <a:ext uri="{FF2B5EF4-FFF2-40B4-BE49-F238E27FC236}">
                  <a16:creationId xmlns:a16="http://schemas.microsoft.com/office/drawing/2014/main" id="{5464C115-99A8-FF48-9B2F-54ACFF46A4F1}"/>
                </a:ext>
              </a:extLst>
            </p:cNvPr>
            <p:cNvSpPr txBox="1"/>
            <p:nvPr/>
          </p:nvSpPr>
          <p:spPr>
            <a:xfrm>
              <a:off x="4368190" y="4255134"/>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5</a:t>
              </a:r>
            </a:p>
          </p:txBody>
        </p:sp>
        <p:sp>
          <p:nvSpPr>
            <p:cNvPr id="9" name="TextBox 8">
              <a:extLst>
                <a:ext uri="{FF2B5EF4-FFF2-40B4-BE49-F238E27FC236}">
                  <a16:creationId xmlns:a16="http://schemas.microsoft.com/office/drawing/2014/main" id="{26E1A027-E010-7049-B8C0-8E3456DBA59D}"/>
                </a:ext>
              </a:extLst>
            </p:cNvPr>
            <p:cNvSpPr txBox="1"/>
            <p:nvPr/>
          </p:nvSpPr>
          <p:spPr>
            <a:xfrm>
              <a:off x="5878736" y="4252594"/>
              <a:ext cx="60786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-40</a:t>
              </a:r>
            </a:p>
          </p:txBody>
        </p:sp>
        <p:sp>
          <p:nvSpPr>
            <p:cNvPr id="10" name="TextBox 9">
              <a:extLst>
                <a:ext uri="{FF2B5EF4-FFF2-40B4-BE49-F238E27FC236}">
                  <a16:creationId xmlns:a16="http://schemas.microsoft.com/office/drawing/2014/main" id="{D60025A4-AF91-4E4B-A1A6-8F74DB887676}"/>
                </a:ext>
              </a:extLst>
            </p:cNvPr>
            <p:cNvSpPr txBox="1"/>
            <p:nvPr/>
          </p:nvSpPr>
          <p:spPr>
            <a:xfrm>
              <a:off x="3913225" y="3619500"/>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11" name="TextBox 10">
              <a:extLst>
                <a:ext uri="{FF2B5EF4-FFF2-40B4-BE49-F238E27FC236}">
                  <a16:creationId xmlns:a16="http://schemas.microsoft.com/office/drawing/2014/main" id="{E23E9718-2A46-944D-896B-714EA924938B}"/>
                </a:ext>
              </a:extLst>
            </p:cNvPr>
            <p:cNvSpPr txBox="1"/>
            <p:nvPr/>
          </p:nvSpPr>
          <p:spPr>
            <a:xfrm>
              <a:off x="3915460" y="3028225"/>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12" name="TextBox 11">
              <a:extLst>
                <a:ext uri="{FF2B5EF4-FFF2-40B4-BE49-F238E27FC236}">
                  <a16:creationId xmlns:a16="http://schemas.microsoft.com/office/drawing/2014/main" id="{F9ED60E8-F813-2B4F-B3C8-E785362DB73A}"/>
                </a:ext>
              </a:extLst>
            </p:cNvPr>
            <p:cNvSpPr txBox="1"/>
            <p:nvPr/>
          </p:nvSpPr>
          <p:spPr>
            <a:xfrm>
              <a:off x="2895600" y="2343467"/>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13" name="TextBox 12">
              <a:extLst>
                <a:ext uri="{FF2B5EF4-FFF2-40B4-BE49-F238E27FC236}">
                  <a16:creationId xmlns:a16="http://schemas.microsoft.com/office/drawing/2014/main" id="{C6DBCCC8-5B1F-7A40-8265-5D9A67F8CAA9}"/>
                </a:ext>
              </a:extLst>
            </p:cNvPr>
            <p:cNvSpPr txBox="1"/>
            <p:nvPr/>
          </p:nvSpPr>
          <p:spPr>
            <a:xfrm>
              <a:off x="5181600" y="1828740"/>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t>
              </a:r>
            </a:p>
          </p:txBody>
        </p:sp>
        <p:cxnSp>
          <p:nvCxnSpPr>
            <p:cNvPr id="15" name="Straight Connector 14">
              <a:extLst>
                <a:ext uri="{FF2B5EF4-FFF2-40B4-BE49-F238E27FC236}">
                  <a16:creationId xmlns:a16="http://schemas.microsoft.com/office/drawing/2014/main" id="{30AA4AE7-B92B-0B4A-BB7B-C2B200C49F15}"/>
                </a:ext>
              </a:extLst>
            </p:cNvPr>
            <p:cNvCxnSpPr>
              <a:cxnSpLocks/>
            </p:cNvCxnSpPr>
            <p:nvPr/>
          </p:nvCxnSpPr>
          <p:spPr>
            <a:xfrm flipV="1">
              <a:off x="3667760" y="3921760"/>
              <a:ext cx="325120" cy="4165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44E374A-ECB2-BF42-B072-B55B7B4867C0}"/>
                </a:ext>
              </a:extLst>
            </p:cNvPr>
            <p:cNvCxnSpPr>
              <a:cxnSpLocks/>
            </p:cNvCxnSpPr>
            <p:nvPr/>
          </p:nvCxnSpPr>
          <p:spPr>
            <a:xfrm flipH="1" flipV="1">
              <a:off x="4145280" y="3911600"/>
              <a:ext cx="294640" cy="4165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3BB0374-9535-E14E-B2A9-A2A8B5C45344}"/>
                </a:ext>
              </a:extLst>
            </p:cNvPr>
            <p:cNvCxnSpPr>
              <a:cxnSpLocks/>
            </p:cNvCxnSpPr>
            <p:nvPr/>
          </p:nvCxnSpPr>
          <p:spPr>
            <a:xfrm flipV="1">
              <a:off x="4065625" y="3391444"/>
              <a:ext cx="2235" cy="1911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A28B486-D926-C941-96EC-8731A38EF3B4}"/>
                </a:ext>
              </a:extLst>
            </p:cNvPr>
            <p:cNvCxnSpPr>
              <a:cxnSpLocks/>
            </p:cNvCxnSpPr>
            <p:nvPr/>
          </p:nvCxnSpPr>
          <p:spPr>
            <a:xfrm flipV="1">
              <a:off x="2326640" y="2743200"/>
              <a:ext cx="650240" cy="15646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702E946-91DB-5A47-80F2-B6EA036E7C3B}"/>
                </a:ext>
              </a:extLst>
            </p:cNvPr>
            <p:cNvCxnSpPr>
              <a:cxnSpLocks/>
            </p:cNvCxnSpPr>
            <p:nvPr/>
          </p:nvCxnSpPr>
          <p:spPr>
            <a:xfrm flipH="1" flipV="1">
              <a:off x="3119120" y="2722880"/>
              <a:ext cx="792480" cy="406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E97224C-4F6C-7848-8DF4-2AB690EC270E}"/>
                </a:ext>
              </a:extLst>
            </p:cNvPr>
            <p:cNvCxnSpPr>
              <a:cxnSpLocks/>
            </p:cNvCxnSpPr>
            <p:nvPr/>
          </p:nvCxnSpPr>
          <p:spPr>
            <a:xfrm flipH="1" flipV="1">
              <a:off x="5384800" y="2113280"/>
              <a:ext cx="721360" cy="2133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4DF269B-784E-7E45-9D9D-7CF422F8C4FA}"/>
                </a:ext>
              </a:extLst>
            </p:cNvPr>
            <p:cNvCxnSpPr>
              <a:cxnSpLocks/>
            </p:cNvCxnSpPr>
            <p:nvPr/>
          </p:nvCxnSpPr>
          <p:spPr>
            <a:xfrm flipV="1">
              <a:off x="3210560" y="2072640"/>
              <a:ext cx="1991360" cy="4267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2" name="TextBox 41">
            <a:extLst>
              <a:ext uri="{FF2B5EF4-FFF2-40B4-BE49-F238E27FC236}">
                <a16:creationId xmlns:a16="http://schemas.microsoft.com/office/drawing/2014/main" id="{53736A3D-98DF-014D-AF79-B8D358E14C20}"/>
              </a:ext>
            </a:extLst>
          </p:cNvPr>
          <p:cNvSpPr txBox="1"/>
          <p:nvPr/>
        </p:nvSpPr>
        <p:spPr>
          <a:xfrm>
            <a:off x="5269267" y="1934734"/>
            <a:ext cx="3746426" cy="1446550"/>
          </a:xfrm>
          <a:prstGeom prst="rect">
            <a:avLst/>
          </a:prstGeom>
          <a:noFill/>
        </p:spPr>
        <p:txBody>
          <a:bodyPr wrap="square" rtlCol="0">
            <a:spAutoFit/>
          </a:bodyPr>
          <a:lstStyle/>
          <a:p>
            <a:pPr algn="ctr"/>
            <a:r>
              <a:rPr lang="en-US" sz="2200" dirty="0"/>
              <a:t>how we get from what was typed in at the bottom to the tree up top is a topic for an upcoming lecture, but…</a:t>
            </a:r>
          </a:p>
        </p:txBody>
      </p:sp>
      <p:sp>
        <p:nvSpPr>
          <p:cNvPr id="43" name="TextBox 42">
            <a:extLst>
              <a:ext uri="{FF2B5EF4-FFF2-40B4-BE49-F238E27FC236}">
                <a16:creationId xmlns:a16="http://schemas.microsoft.com/office/drawing/2014/main" id="{E882A93F-18CD-B245-94AE-1C6C392B2104}"/>
              </a:ext>
            </a:extLst>
          </p:cNvPr>
          <p:cNvSpPr txBox="1"/>
          <p:nvPr/>
        </p:nvSpPr>
        <p:spPr>
          <a:xfrm>
            <a:off x="5389270" y="3657568"/>
            <a:ext cx="3529903" cy="769441"/>
          </a:xfrm>
          <a:prstGeom prst="rect">
            <a:avLst/>
          </a:prstGeom>
          <a:noFill/>
        </p:spPr>
        <p:txBody>
          <a:bodyPr wrap="square" rtlCol="0">
            <a:spAutoFit/>
          </a:bodyPr>
          <a:lstStyle/>
          <a:p>
            <a:pPr algn="ctr"/>
            <a:r>
              <a:rPr lang="en-US" sz="2200" dirty="0"/>
              <a:t>if the expression is a tree, we can have fun with it!</a:t>
            </a:r>
          </a:p>
        </p:txBody>
      </p:sp>
    </p:spTree>
    <p:extLst>
      <p:ext uri="{BB962C8B-B14F-4D97-AF65-F5344CB8AC3E}">
        <p14:creationId xmlns:p14="http://schemas.microsoft.com/office/powerpoint/2010/main" val="35943252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5"/>
      <p:bldP spid="42" grpId="0"/>
      <p:bldP spid="4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6A6FF-BBD5-BB4E-B729-E4F4296A4BC7}"/>
              </a:ext>
            </a:extLst>
          </p:cNvPr>
          <p:cNvSpPr>
            <a:spLocks noGrp="1"/>
          </p:cNvSpPr>
          <p:nvPr>
            <p:ph type="title"/>
          </p:nvPr>
        </p:nvSpPr>
        <p:spPr/>
        <p:txBody>
          <a:bodyPr/>
          <a:lstStyle/>
          <a:p>
            <a:r>
              <a:rPr lang="en-US" dirty="0"/>
              <a:t>Representing this tree</a:t>
            </a:r>
          </a:p>
        </p:txBody>
      </p:sp>
      <p:sp>
        <p:nvSpPr>
          <p:cNvPr id="3" name="Content Placeholder 2">
            <a:extLst>
              <a:ext uri="{FF2B5EF4-FFF2-40B4-BE49-F238E27FC236}">
                <a16:creationId xmlns:a16="http://schemas.microsoft.com/office/drawing/2014/main" id="{5A42B182-AE13-8D48-AB9D-67EAE0278036}"/>
              </a:ext>
            </a:extLst>
          </p:cNvPr>
          <p:cNvSpPr>
            <a:spLocks noGrp="1"/>
          </p:cNvSpPr>
          <p:nvPr>
            <p:ph idx="1"/>
          </p:nvPr>
        </p:nvSpPr>
        <p:spPr>
          <a:xfrm>
            <a:off x="152400" y="495301"/>
            <a:ext cx="8991600" cy="2782783"/>
          </a:xfrm>
        </p:spPr>
        <p:txBody>
          <a:bodyPr/>
          <a:lstStyle/>
          <a:p>
            <a:r>
              <a:rPr lang="en-US" dirty="0"/>
              <a:t>we've got a few kinds of AST node here:</a:t>
            </a:r>
          </a:p>
          <a:p>
            <a:pPr lvl="1"/>
            <a:r>
              <a:rPr lang="en-US" b="1" dirty="0"/>
              <a:t>constants </a:t>
            </a:r>
            <a:r>
              <a:rPr lang="en-US" dirty="0"/>
              <a:t>(</a:t>
            </a:r>
            <a:r>
              <a:rPr lang="en-US" b="1" dirty="0">
                <a:solidFill>
                  <a:schemeClr val="accent3">
                    <a:lumMod val="75000"/>
                  </a:schemeClr>
                </a:solidFill>
                <a:latin typeface="Consolas" panose="020B0609020204030204" pitchFamily="49" charset="0"/>
                <a:cs typeface="Consolas" panose="020B0609020204030204" pitchFamily="49" charset="0"/>
              </a:rPr>
              <a:t>2</a:t>
            </a:r>
            <a:r>
              <a:rPr lang="en-US" dirty="0"/>
              <a:t>, </a:t>
            </a:r>
            <a:r>
              <a:rPr lang="en-US" b="1" dirty="0">
                <a:solidFill>
                  <a:schemeClr val="accent3">
                    <a:lumMod val="75000"/>
                  </a:schemeClr>
                </a:solidFill>
                <a:latin typeface="Consolas" panose="020B0609020204030204" pitchFamily="49" charset="0"/>
                <a:cs typeface="Consolas" panose="020B0609020204030204" pitchFamily="49" charset="0"/>
              </a:rPr>
              <a:t>3</a:t>
            </a:r>
            <a:r>
              <a:rPr lang="en-US" dirty="0"/>
              <a:t>, </a:t>
            </a:r>
            <a:r>
              <a:rPr lang="en-US" b="1" dirty="0">
                <a:solidFill>
                  <a:schemeClr val="accent3">
                    <a:lumMod val="75000"/>
                  </a:schemeClr>
                </a:solidFill>
                <a:latin typeface="Consolas" panose="020B0609020204030204" pitchFamily="49" charset="0"/>
                <a:cs typeface="Consolas" panose="020B0609020204030204" pitchFamily="49" charset="0"/>
              </a:rPr>
              <a:t>5</a:t>
            </a:r>
            <a:r>
              <a:rPr lang="en-US" dirty="0"/>
              <a:t>, </a:t>
            </a:r>
            <a:r>
              <a:rPr lang="en-US" b="1" dirty="0">
                <a:solidFill>
                  <a:schemeClr val="accent3">
                    <a:lumMod val="75000"/>
                  </a:schemeClr>
                </a:solidFill>
                <a:latin typeface="Consolas" panose="020B0609020204030204" pitchFamily="49" charset="0"/>
                <a:cs typeface="Consolas" panose="020B0609020204030204" pitchFamily="49" charset="0"/>
              </a:rPr>
              <a:t>-40</a:t>
            </a:r>
            <a:r>
              <a:rPr lang="en-US" dirty="0"/>
              <a:t>)</a:t>
            </a:r>
          </a:p>
          <a:p>
            <a:pPr lvl="1"/>
            <a:r>
              <a:rPr lang="en-US" b="1" dirty="0"/>
              <a:t>negation </a:t>
            </a:r>
            <a:r>
              <a:rPr lang="en-US" dirty="0"/>
              <a:t>(</a:t>
            </a:r>
            <a:r>
              <a:rPr lang="en-US" b="1" dirty="0">
                <a:latin typeface="Consolas" panose="020B0609020204030204" pitchFamily="49" charset="0"/>
                <a:cs typeface="Consolas" panose="020B0609020204030204" pitchFamily="49" charset="0"/>
              </a:rPr>
              <a:t>-x</a:t>
            </a:r>
            <a:r>
              <a:rPr lang="en-US" dirty="0"/>
              <a:t>)</a:t>
            </a:r>
          </a:p>
          <a:p>
            <a:pPr lvl="1"/>
            <a:r>
              <a:rPr lang="en-US" b="1" dirty="0"/>
              <a:t>addition, subtraction, multiplication, division</a:t>
            </a:r>
          </a:p>
          <a:p>
            <a:pPr lvl="2"/>
            <a:r>
              <a:rPr lang="en-US" dirty="0"/>
              <a:t>we can group these under a single kind: </a:t>
            </a:r>
            <a:r>
              <a:rPr lang="en-US" b="1" dirty="0"/>
              <a:t>binary operators</a:t>
            </a:r>
          </a:p>
          <a:p>
            <a:pPr lvl="2"/>
            <a:r>
              <a:rPr lang="en-US" sz="1600" dirty="0"/>
              <a:t>not binary as in the base, binary as in "has two operands"</a:t>
            </a:r>
          </a:p>
          <a:p>
            <a:r>
              <a:rPr lang="en-US" dirty="0"/>
              <a:t>when you have </a:t>
            </a:r>
            <a:r>
              <a:rPr lang="en-US" b="1" dirty="0"/>
              <a:t>choices </a:t>
            </a:r>
            <a:r>
              <a:rPr lang="en-US" dirty="0"/>
              <a:t>of a type, the thing to use is an </a:t>
            </a:r>
            <a:r>
              <a:rPr lang="en-US" b="1" dirty="0" err="1"/>
              <a:t>enum</a:t>
            </a:r>
            <a:r>
              <a:rPr lang="en-US" b="1" dirty="0"/>
              <a:t>.</a:t>
            </a:r>
          </a:p>
          <a:p>
            <a:r>
              <a:rPr lang="en-US" dirty="0"/>
              <a:t>this </a:t>
            </a:r>
            <a:r>
              <a:rPr lang="en-US" dirty="0" err="1"/>
              <a:t>enum</a:t>
            </a:r>
            <a:r>
              <a:rPr lang="en-US" dirty="0"/>
              <a:t> appears in the </a:t>
            </a:r>
            <a:r>
              <a:rPr lang="en-US" b="1" dirty="0" err="1">
                <a:latin typeface="Consolas" panose="020B0609020204030204" pitchFamily="49" charset="0"/>
                <a:cs typeface="Consolas" panose="020B0609020204030204" pitchFamily="49" charset="0"/>
              </a:rPr>
              <a:t>ast_math</a:t>
            </a:r>
            <a:r>
              <a:rPr lang="en-US" b="1" dirty="0">
                <a:latin typeface="Consolas" panose="020B0609020204030204" pitchFamily="49" charset="0"/>
                <a:cs typeface="Consolas" panose="020B0609020204030204" pitchFamily="49" charset="0"/>
              </a:rPr>
              <a:t> </a:t>
            </a:r>
            <a:r>
              <a:rPr lang="en-US" dirty="0"/>
              <a:t>example:</a:t>
            </a:r>
          </a:p>
        </p:txBody>
      </p:sp>
      <p:sp>
        <p:nvSpPr>
          <p:cNvPr id="4" name="Slide Number Placeholder 3">
            <a:extLst>
              <a:ext uri="{FF2B5EF4-FFF2-40B4-BE49-F238E27FC236}">
                <a16:creationId xmlns:a16="http://schemas.microsoft.com/office/drawing/2014/main" id="{C29E6867-1B72-3942-9B16-16D621845348}"/>
              </a:ext>
            </a:extLst>
          </p:cNvPr>
          <p:cNvSpPr>
            <a:spLocks noGrp="1"/>
          </p:cNvSpPr>
          <p:nvPr>
            <p:ph type="sldNum" sz="quarter" idx="12"/>
          </p:nvPr>
        </p:nvSpPr>
        <p:spPr/>
        <p:txBody>
          <a:bodyPr/>
          <a:lstStyle/>
          <a:p>
            <a:fld id="{3552B95B-556F-44BD-91A5-D80C1B9E2BB3}" type="slidenum">
              <a:rPr lang="en-US" smtClean="0"/>
              <a:pPr/>
              <a:t>24</a:t>
            </a:fld>
            <a:endParaRPr lang="en-US"/>
          </a:p>
        </p:txBody>
      </p:sp>
      <p:sp>
        <p:nvSpPr>
          <p:cNvPr id="5" name="TextBox 4">
            <a:extLst>
              <a:ext uri="{FF2B5EF4-FFF2-40B4-BE49-F238E27FC236}">
                <a16:creationId xmlns:a16="http://schemas.microsoft.com/office/drawing/2014/main" id="{1EE1EDD3-9014-7F46-806B-71A55795DA04}"/>
              </a:ext>
            </a:extLst>
          </p:cNvPr>
          <p:cNvSpPr txBox="1"/>
          <p:nvPr/>
        </p:nvSpPr>
        <p:spPr>
          <a:xfrm>
            <a:off x="211198" y="3278084"/>
            <a:ext cx="8803100" cy="1631216"/>
          </a:xfrm>
          <a:prstGeom prst="rect">
            <a:avLst/>
          </a:prstGeom>
          <a:noFill/>
        </p:spPr>
        <p:txBody>
          <a:bodyPr wrap="square" rtlCol="0">
            <a:spAutoFit/>
          </a:bodyPr>
          <a:lstStyle/>
          <a:p>
            <a:r>
              <a:rPr lang="en-US" sz="2000" b="1" dirty="0" err="1">
                <a:solidFill>
                  <a:srgbClr val="FF0000"/>
                </a:solidFill>
                <a:latin typeface="Consolas" panose="020B0609020204030204" pitchFamily="49" charset="0"/>
                <a:cs typeface="Consolas" panose="020B0609020204030204" pitchFamily="49" charset="0"/>
              </a:rPr>
              <a:t>enum</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AstNode</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Const</a:t>
            </a:r>
            <a:r>
              <a:rPr lang="en-US" sz="2000" b="1" dirty="0">
                <a:latin typeface="Consolas" panose="020B0609020204030204" pitchFamily="49" charset="0"/>
                <a:cs typeface="Consolas" panose="020B0609020204030204" pitchFamily="49" charset="0"/>
              </a:rPr>
              <a:t>  { </a:t>
            </a:r>
            <a:r>
              <a:rPr lang="en-US" sz="2000" b="1" dirty="0" err="1">
                <a:latin typeface="Consolas" panose="020B0609020204030204" pitchFamily="49" charset="0"/>
                <a:cs typeface="Consolas" panose="020B0609020204030204" pitchFamily="49" charset="0"/>
              </a:rPr>
              <a:t>val</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f64</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Negate</a:t>
            </a:r>
            <a:r>
              <a:rPr lang="en-US" sz="2000" b="1" dirty="0">
                <a:latin typeface="Consolas" panose="020B0609020204030204" pitchFamily="49" charset="0"/>
                <a:cs typeface="Consolas" panose="020B0609020204030204" pitchFamily="49" charset="0"/>
              </a:rPr>
              <a:t> { </a:t>
            </a:r>
            <a:r>
              <a:rPr lang="en-US" sz="2000" b="1" dirty="0" err="1">
                <a:latin typeface="Consolas" panose="020B0609020204030204" pitchFamily="49" charset="0"/>
                <a:cs typeface="Consolas" panose="020B0609020204030204" pitchFamily="49" charset="0"/>
              </a:rPr>
              <a:t>lhs</a:t>
            </a:r>
            <a:r>
              <a:rPr lang="en-US" sz="2000" b="1" dirty="0">
                <a:latin typeface="Consolas" panose="020B0609020204030204" pitchFamily="49" charset="0"/>
                <a:cs typeface="Consolas" panose="020B0609020204030204" pitchFamily="49" charset="0"/>
              </a:rPr>
              <a:t>: Box&lt;</a:t>
            </a:r>
            <a:r>
              <a:rPr lang="en-US" sz="2000" b="1" dirty="0" err="1">
                <a:latin typeface="Consolas" panose="020B0609020204030204" pitchFamily="49" charset="0"/>
                <a:cs typeface="Consolas" panose="020B0609020204030204" pitchFamily="49" charset="0"/>
              </a:rPr>
              <a:t>AstNode</a:t>
            </a:r>
            <a:r>
              <a:rPr lang="en-US" sz="2000" b="1" dirty="0">
                <a:latin typeface="Consolas" panose="020B0609020204030204" pitchFamily="49" charset="0"/>
                <a:cs typeface="Consolas" panose="020B0609020204030204" pitchFamily="49" charset="0"/>
              </a:rPr>
              <a:t>&gt; },</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Binary</a:t>
            </a:r>
            <a:r>
              <a:rPr lang="en-US" sz="2000" b="1" dirty="0">
                <a:latin typeface="Consolas" panose="020B0609020204030204" pitchFamily="49" charset="0"/>
                <a:cs typeface="Consolas" panose="020B0609020204030204" pitchFamily="49" charset="0"/>
              </a:rPr>
              <a:t> { op: </a:t>
            </a:r>
            <a:r>
              <a:rPr lang="en-US" sz="2000" b="1" dirty="0" err="1">
                <a:latin typeface="Consolas" panose="020B0609020204030204" pitchFamily="49" charset="0"/>
                <a:cs typeface="Consolas" panose="020B0609020204030204" pitchFamily="49" charset="0"/>
              </a:rPr>
              <a:t>BinOp</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lhs</a:t>
            </a:r>
            <a:r>
              <a:rPr lang="en-US" sz="2000" b="1" dirty="0">
                <a:latin typeface="Consolas" panose="020B0609020204030204" pitchFamily="49" charset="0"/>
                <a:cs typeface="Consolas" panose="020B0609020204030204" pitchFamily="49" charset="0"/>
              </a:rPr>
              <a:t>: Box&lt;</a:t>
            </a:r>
            <a:r>
              <a:rPr lang="en-US" sz="2000" b="1" dirty="0" err="1">
                <a:latin typeface="Consolas" panose="020B0609020204030204" pitchFamily="49" charset="0"/>
                <a:cs typeface="Consolas" panose="020B0609020204030204" pitchFamily="49" charset="0"/>
              </a:rPr>
              <a:t>AstNode</a:t>
            </a:r>
            <a:r>
              <a:rPr lang="en-US" sz="2000" b="1" dirty="0">
                <a:latin typeface="Consolas" panose="020B0609020204030204" pitchFamily="49" charset="0"/>
                <a:cs typeface="Consolas" panose="020B0609020204030204" pitchFamily="49" charset="0"/>
              </a:rPr>
              <a:t>&gt;, </a:t>
            </a:r>
            <a:r>
              <a:rPr lang="en-US" sz="2000" b="1" dirty="0" err="1">
                <a:latin typeface="Consolas" panose="020B0609020204030204" pitchFamily="49" charset="0"/>
                <a:cs typeface="Consolas" panose="020B0609020204030204" pitchFamily="49" charset="0"/>
              </a:rPr>
              <a:t>rhs</a:t>
            </a:r>
            <a:r>
              <a:rPr lang="en-US" sz="2000" b="1" dirty="0">
                <a:latin typeface="Consolas" panose="020B0609020204030204" pitchFamily="49" charset="0"/>
                <a:cs typeface="Consolas" panose="020B0609020204030204" pitchFamily="49" charset="0"/>
              </a:rPr>
              <a:t>: Box&lt;</a:t>
            </a:r>
            <a:r>
              <a:rPr lang="en-US" sz="2000" b="1" dirty="0" err="1">
                <a:latin typeface="Consolas" panose="020B0609020204030204" pitchFamily="49" charset="0"/>
                <a:cs typeface="Consolas" panose="020B0609020204030204" pitchFamily="49" charset="0"/>
              </a:rPr>
              <a:t>AstNode</a:t>
            </a:r>
            <a:r>
              <a:rPr lang="en-US" sz="2000" b="1" dirty="0">
                <a:latin typeface="Consolas" panose="020B0609020204030204" pitchFamily="49" charset="0"/>
                <a:cs typeface="Consolas" panose="020B0609020204030204" pitchFamily="49" charset="0"/>
              </a:rPr>
              <a:t>&gt; },</a:t>
            </a:r>
          </a:p>
          <a:p>
            <a:r>
              <a:rPr lang="en-US" sz="20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F9932B93-84D6-4846-B539-8275CD654A26}"/>
              </a:ext>
            </a:extLst>
          </p:cNvPr>
          <p:cNvSpPr txBox="1"/>
          <p:nvPr/>
        </p:nvSpPr>
        <p:spPr>
          <a:xfrm>
            <a:off x="2807048" y="4865013"/>
            <a:ext cx="3529903" cy="430887"/>
          </a:xfrm>
          <a:prstGeom prst="rect">
            <a:avLst/>
          </a:prstGeom>
          <a:noFill/>
        </p:spPr>
        <p:txBody>
          <a:bodyPr wrap="square" rtlCol="0">
            <a:spAutoFit/>
          </a:bodyPr>
          <a:lstStyle/>
          <a:p>
            <a:pPr algn="ctr"/>
            <a:r>
              <a:rPr lang="en-US" sz="2200" dirty="0"/>
              <a:t>look, no </a:t>
            </a:r>
            <a:r>
              <a:rPr lang="en-US" sz="2200" b="1" dirty="0">
                <a:latin typeface="Consolas" panose="020B0609020204030204" pitchFamily="49" charset="0"/>
                <a:cs typeface="Consolas" panose="020B0609020204030204" pitchFamily="49" charset="0"/>
              </a:rPr>
              <a:t>Option</a:t>
            </a:r>
            <a:r>
              <a:rPr lang="en-US" sz="2200" dirty="0"/>
              <a:t>s!</a:t>
            </a:r>
          </a:p>
        </p:txBody>
      </p:sp>
    </p:spTree>
    <p:extLst>
      <p:ext uri="{BB962C8B-B14F-4D97-AF65-F5344CB8AC3E}">
        <p14:creationId xmlns:p14="http://schemas.microsoft.com/office/powerpoint/2010/main" val="24220048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bldLvl="5"/>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85085-2D9B-CA47-BDF4-28C513A778B4}"/>
              </a:ext>
            </a:extLst>
          </p:cNvPr>
          <p:cNvSpPr>
            <a:spLocks noGrp="1"/>
          </p:cNvSpPr>
          <p:nvPr>
            <p:ph type="title"/>
          </p:nvPr>
        </p:nvSpPr>
        <p:spPr/>
        <p:txBody>
          <a:bodyPr/>
          <a:lstStyle/>
          <a:p>
            <a:r>
              <a:rPr lang="en-US" dirty="0"/>
              <a:t>Recursion Refresher</a:t>
            </a:r>
          </a:p>
        </p:txBody>
      </p:sp>
      <p:sp>
        <p:nvSpPr>
          <p:cNvPr id="3" name="Content Placeholder 2">
            <a:extLst>
              <a:ext uri="{FF2B5EF4-FFF2-40B4-BE49-F238E27FC236}">
                <a16:creationId xmlns:a16="http://schemas.microsoft.com/office/drawing/2014/main" id="{0DB8F459-5588-2A46-A1ED-441EEA500458}"/>
              </a:ext>
            </a:extLst>
          </p:cNvPr>
          <p:cNvSpPr>
            <a:spLocks noGrp="1"/>
          </p:cNvSpPr>
          <p:nvPr>
            <p:ph idx="1"/>
          </p:nvPr>
        </p:nvSpPr>
        <p:spPr>
          <a:xfrm>
            <a:off x="152400" y="495301"/>
            <a:ext cx="8991600" cy="1219199"/>
          </a:xfrm>
        </p:spPr>
        <p:txBody>
          <a:bodyPr/>
          <a:lstStyle/>
          <a:p>
            <a:r>
              <a:rPr lang="en-US" b="1" dirty="0"/>
              <a:t>recursion </a:t>
            </a:r>
            <a:r>
              <a:rPr lang="en-US" dirty="0"/>
              <a:t>is a programming technique where a function calls itself.</a:t>
            </a:r>
          </a:p>
          <a:p>
            <a:r>
              <a:rPr lang="en-US" dirty="0"/>
              <a:t>there is an important fact about recursion that a lot of people are hazy on, even as juniors and seniors:</a:t>
            </a:r>
          </a:p>
        </p:txBody>
      </p:sp>
      <p:sp>
        <p:nvSpPr>
          <p:cNvPr id="4" name="Slide Number Placeholder 3">
            <a:extLst>
              <a:ext uri="{FF2B5EF4-FFF2-40B4-BE49-F238E27FC236}">
                <a16:creationId xmlns:a16="http://schemas.microsoft.com/office/drawing/2014/main" id="{85950DA8-86B3-6845-9B76-644C4DA303BC}"/>
              </a:ext>
            </a:extLst>
          </p:cNvPr>
          <p:cNvSpPr>
            <a:spLocks noGrp="1"/>
          </p:cNvSpPr>
          <p:nvPr>
            <p:ph type="sldNum" sz="quarter" idx="12"/>
          </p:nvPr>
        </p:nvSpPr>
        <p:spPr/>
        <p:txBody>
          <a:bodyPr/>
          <a:lstStyle/>
          <a:p>
            <a:fld id="{3552B95B-556F-44BD-91A5-D80C1B9E2BB3}" type="slidenum">
              <a:rPr lang="en-US" smtClean="0"/>
              <a:pPr/>
              <a:t>25</a:t>
            </a:fld>
            <a:endParaRPr lang="en-US"/>
          </a:p>
        </p:txBody>
      </p:sp>
      <p:sp>
        <p:nvSpPr>
          <p:cNvPr id="5" name="TextBox 4">
            <a:extLst>
              <a:ext uri="{FF2B5EF4-FFF2-40B4-BE49-F238E27FC236}">
                <a16:creationId xmlns:a16="http://schemas.microsoft.com/office/drawing/2014/main" id="{61E9A4B5-0DAE-D441-B165-676E0D12C66E}"/>
              </a:ext>
            </a:extLst>
          </p:cNvPr>
          <p:cNvSpPr txBox="1"/>
          <p:nvPr/>
        </p:nvSpPr>
        <p:spPr>
          <a:xfrm>
            <a:off x="304800" y="2196652"/>
            <a:ext cx="3598802" cy="2246769"/>
          </a:xfrm>
          <a:prstGeom prst="rect">
            <a:avLst/>
          </a:prstGeom>
          <a:noFill/>
        </p:spPr>
        <p:txBody>
          <a:bodyPr wrap="square" rtlCol="0">
            <a:spAutoFit/>
          </a:bodyPr>
          <a:lstStyle/>
          <a:p>
            <a:r>
              <a:rPr lang="en-US" sz="2000" b="1" dirty="0" err="1">
                <a:solidFill>
                  <a:srgbClr val="FF0000"/>
                </a:solidFill>
                <a:latin typeface="Consolas" panose="020B0609020204030204" pitchFamily="49" charset="0"/>
                <a:cs typeface="Consolas" panose="020B0609020204030204" pitchFamily="49" charset="0"/>
              </a:rPr>
              <a:t>fn</a:t>
            </a:r>
            <a:r>
              <a:rPr lang="en-US" sz="2000" b="1" dirty="0">
                <a:solidFill>
                  <a:srgbClr val="FF0000"/>
                </a:solidFill>
                <a:latin typeface="Consolas" panose="020B0609020204030204" pitchFamily="49" charset="0"/>
                <a:cs typeface="Consolas" panose="020B0609020204030204" pitchFamily="49" charset="0"/>
              </a:rPr>
              <a:t> </a:t>
            </a:r>
            <a:r>
              <a:rPr lang="en-US" sz="2000" b="1" dirty="0">
                <a:latin typeface="Consolas" panose="020B0609020204030204" pitchFamily="49" charset="0"/>
                <a:cs typeface="Consolas" panose="020B0609020204030204" pitchFamily="49" charset="0"/>
              </a:rPr>
              <a:t>sum(x: </a:t>
            </a:r>
            <a:r>
              <a:rPr lang="en-US" sz="2000" b="1" dirty="0">
                <a:solidFill>
                  <a:srgbClr val="FF0000"/>
                </a:solidFill>
                <a:latin typeface="Consolas" panose="020B0609020204030204" pitchFamily="49" charset="0"/>
                <a:cs typeface="Consolas" panose="020B0609020204030204" pitchFamily="49" charset="0"/>
              </a:rPr>
              <a:t>i32</a:t>
            </a:r>
            <a:r>
              <a:rPr lang="en-US" sz="2000" b="1" dirty="0">
                <a:latin typeface="Consolas" panose="020B0609020204030204" pitchFamily="49" charset="0"/>
                <a:cs typeface="Consolas" panose="020B0609020204030204" pitchFamily="49" charset="0"/>
              </a:rPr>
              <a:t>) -&gt; </a:t>
            </a:r>
            <a:r>
              <a:rPr lang="en-US" sz="2000" b="1" dirty="0">
                <a:solidFill>
                  <a:srgbClr val="FF0000"/>
                </a:solidFill>
                <a:latin typeface="Consolas" panose="020B0609020204030204" pitchFamily="49" charset="0"/>
                <a:cs typeface="Consolas" panose="020B0609020204030204" pitchFamily="49" charset="0"/>
              </a:rPr>
              <a:t>i32</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if</a:t>
            </a:r>
            <a:r>
              <a:rPr lang="en-US" sz="2000" b="1" dirty="0">
                <a:latin typeface="Consolas" panose="020B0609020204030204" pitchFamily="49" charset="0"/>
                <a:cs typeface="Consolas" panose="020B0609020204030204" pitchFamily="49" charset="0"/>
              </a:rPr>
              <a:t> x &lt;= </a:t>
            </a:r>
            <a:r>
              <a:rPr lang="en-US" sz="2000" b="1" dirty="0">
                <a:solidFill>
                  <a:schemeClr val="accent3">
                    <a:lumMod val="75000"/>
                  </a:schemeClr>
                </a:solidFill>
                <a:latin typeface="Consolas" panose="020B0609020204030204" pitchFamily="49" charset="0"/>
                <a:cs typeface="Consolas" panose="020B0609020204030204" pitchFamily="49" charset="0"/>
              </a:rPr>
              <a:t>1</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return</a:t>
            </a:r>
            <a:r>
              <a:rPr lang="en-US" sz="2000" b="1" dirty="0">
                <a:latin typeface="Consolas" panose="020B0609020204030204" pitchFamily="49" charset="0"/>
                <a:cs typeface="Consolas" panose="020B0609020204030204" pitchFamily="49" charset="0"/>
              </a:rPr>
              <a:t> x;</a:t>
            </a:r>
          </a:p>
          <a:p>
            <a:r>
              <a:rPr lang="en-US" sz="2000" b="1" dirty="0">
                <a:latin typeface="Consolas" panose="020B0609020204030204" pitchFamily="49" charset="0"/>
                <a:cs typeface="Consolas" panose="020B0609020204030204" pitchFamily="49" charset="0"/>
              </a:rPr>
              <a:t> } </a:t>
            </a:r>
            <a:r>
              <a:rPr lang="en-US" sz="2000" b="1" dirty="0">
                <a:solidFill>
                  <a:srgbClr val="FF0000"/>
                </a:solidFill>
                <a:latin typeface="Consolas" panose="020B0609020204030204" pitchFamily="49" charset="0"/>
                <a:cs typeface="Consolas" panose="020B0609020204030204" pitchFamily="49" charset="0"/>
              </a:rPr>
              <a:t>else</a:t>
            </a:r>
            <a:r>
              <a:rPr lang="en-US" sz="2000" b="1" dirty="0">
                <a:latin typeface="Consolas" panose="020B0609020204030204" pitchFamily="49" charset="0"/>
                <a:cs typeface="Consolas" panose="020B0609020204030204" pitchFamily="49" charset="0"/>
              </a:rPr>
              <a:t> {</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return</a:t>
            </a:r>
            <a:r>
              <a:rPr lang="en-US" sz="2000" b="1" dirty="0">
                <a:latin typeface="Consolas" panose="020B0609020204030204" pitchFamily="49" charset="0"/>
                <a:cs typeface="Consolas" panose="020B0609020204030204" pitchFamily="49" charset="0"/>
              </a:rPr>
              <a:t> x + sum(x – </a:t>
            </a:r>
            <a:r>
              <a:rPr lang="en-US" sz="2000" b="1" dirty="0">
                <a:solidFill>
                  <a:schemeClr val="accent3">
                    <a:lumMod val="75000"/>
                  </a:schemeClr>
                </a:solidFill>
                <a:latin typeface="Consolas" panose="020B0609020204030204" pitchFamily="49" charset="0"/>
                <a:cs typeface="Consolas" panose="020B0609020204030204" pitchFamily="49" charset="0"/>
              </a:rPr>
              <a:t>1</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A2F108F7-F6D4-7243-96CA-603D496A0E66}"/>
              </a:ext>
            </a:extLst>
          </p:cNvPr>
          <p:cNvSpPr txBox="1"/>
          <p:nvPr/>
        </p:nvSpPr>
        <p:spPr>
          <a:xfrm>
            <a:off x="609600" y="1624222"/>
            <a:ext cx="8077200" cy="461665"/>
          </a:xfrm>
          <a:prstGeom prst="rect">
            <a:avLst/>
          </a:prstGeom>
          <a:noFill/>
        </p:spPr>
        <p:txBody>
          <a:bodyPr wrap="square" rtlCol="0">
            <a:spAutoFit/>
          </a:bodyPr>
          <a:lstStyle/>
          <a:p>
            <a:pPr algn="ctr"/>
            <a:r>
              <a:rPr lang="en-US" sz="2400" dirty="0">
                <a:solidFill>
                  <a:srgbClr val="FF0000"/>
                </a:solidFill>
              </a:rPr>
              <a:t>local variables are </a:t>
            </a:r>
            <a:r>
              <a:rPr lang="en-US" sz="2400" b="1" i="1" dirty="0">
                <a:solidFill>
                  <a:srgbClr val="FF0000"/>
                </a:solidFill>
              </a:rPr>
              <a:t>duplicated</a:t>
            </a:r>
            <a:r>
              <a:rPr lang="en-US" sz="2400" b="1" dirty="0">
                <a:solidFill>
                  <a:srgbClr val="FF0000"/>
                </a:solidFill>
              </a:rPr>
              <a:t> for each recursive call.</a:t>
            </a:r>
            <a:endParaRPr lang="en-US" sz="2400" dirty="0">
              <a:solidFill>
                <a:srgbClr val="FF0000"/>
              </a:solidFill>
            </a:endParaRPr>
          </a:p>
        </p:txBody>
      </p:sp>
      <p:graphicFrame>
        <p:nvGraphicFramePr>
          <p:cNvPr id="7" name="Table 6">
            <a:extLst>
              <a:ext uri="{FF2B5EF4-FFF2-40B4-BE49-F238E27FC236}">
                <a16:creationId xmlns:a16="http://schemas.microsoft.com/office/drawing/2014/main" id="{154EC303-1657-DC44-90F0-531457ED49F4}"/>
              </a:ext>
            </a:extLst>
          </p:cNvPr>
          <p:cNvGraphicFramePr>
            <a:graphicFrameLocks noGrp="1"/>
          </p:cNvGraphicFramePr>
          <p:nvPr>
            <p:extLst>
              <p:ext uri="{D42A27DB-BD31-4B8C-83A1-F6EECF244321}">
                <p14:modId xmlns:p14="http://schemas.microsoft.com/office/powerpoint/2010/main" val="612129590"/>
              </p:ext>
            </p:extLst>
          </p:nvPr>
        </p:nvGraphicFramePr>
        <p:xfrm>
          <a:off x="6400800" y="2317010"/>
          <a:ext cx="2181860" cy="2377440"/>
        </p:xfrm>
        <a:graphic>
          <a:graphicData uri="http://schemas.openxmlformats.org/drawingml/2006/table">
            <a:tbl>
              <a:tblPr firstRow="1" bandRow="1">
                <a:tableStyleId>{5C22544A-7EE6-4342-B048-85BDC9FD1C3A}</a:tableStyleId>
              </a:tblPr>
              <a:tblGrid>
                <a:gridCol w="1160780">
                  <a:extLst>
                    <a:ext uri="{9D8B030D-6E8A-4147-A177-3AD203B41FA5}">
                      <a16:colId xmlns:a16="http://schemas.microsoft.com/office/drawing/2014/main" val="2834883198"/>
                    </a:ext>
                  </a:extLst>
                </a:gridCol>
                <a:gridCol w="1021080">
                  <a:extLst>
                    <a:ext uri="{9D8B030D-6E8A-4147-A177-3AD203B41FA5}">
                      <a16:colId xmlns:a16="http://schemas.microsoft.com/office/drawing/2014/main" val="711830819"/>
                    </a:ext>
                  </a:extLst>
                </a:gridCol>
              </a:tblGrid>
              <a:tr h="370840">
                <a:tc>
                  <a:txBody>
                    <a:bodyPr/>
                    <a:lstStyle/>
                    <a:p>
                      <a:pPr algn="r"/>
                      <a:endParaRPr lang="en-US" sz="2000" b="0" i="1" dirty="0">
                        <a:latin typeface="Consolas" panose="020B0609020204030204" pitchFamily="49" charset="0"/>
                        <a:cs typeface="Consolas" panose="020B0609020204030204" pitchFamily="49" charset="0"/>
                      </a:endParaRPr>
                    </a:p>
                  </a:txBody>
                  <a:tcPr>
                    <a:noFill/>
                  </a:tcPr>
                </a:tc>
                <a:tc>
                  <a:txBody>
                    <a:bodyPr/>
                    <a:lstStyle/>
                    <a:p>
                      <a:pPr algn="ctr"/>
                      <a:r>
                        <a:rPr lang="en-US" sz="2000" dirty="0"/>
                        <a:t>Stack</a:t>
                      </a:r>
                    </a:p>
                  </a:txBody>
                  <a:tcPr/>
                </a:tc>
                <a:extLst>
                  <a:ext uri="{0D108BD9-81ED-4DB2-BD59-A6C34878D82A}">
                    <a16:rowId xmlns:a16="http://schemas.microsoft.com/office/drawing/2014/main" val="3451708455"/>
                  </a:ext>
                </a:extLst>
              </a:tr>
              <a:tr h="370840">
                <a:tc>
                  <a:txBody>
                    <a:bodyPr/>
                    <a:lstStyle/>
                    <a:p>
                      <a:pPr algn="r"/>
                      <a:r>
                        <a:rPr lang="en-US" sz="2000" b="0" i="1" dirty="0">
                          <a:latin typeface="Consolas" panose="020B0609020204030204" pitchFamily="49" charset="0"/>
                          <a:cs typeface="Consolas" panose="020B0609020204030204" pitchFamily="49" charset="0"/>
                        </a:rPr>
                        <a:t>sum(5)</a:t>
                      </a:r>
                    </a:p>
                  </a:txBody>
                  <a:tcPr>
                    <a:noFill/>
                  </a:tcPr>
                </a:tc>
                <a:tc>
                  <a:txBody>
                    <a:bodyPr/>
                    <a:lstStyle/>
                    <a:p>
                      <a:pPr algn="ctr"/>
                      <a:r>
                        <a:rPr lang="en-US" sz="2000" b="1" i="0" dirty="0">
                          <a:latin typeface="Consolas" panose="020B0609020204030204" pitchFamily="49" charset="0"/>
                          <a:cs typeface="Consolas" panose="020B0609020204030204" pitchFamily="49" charset="0"/>
                        </a:rPr>
                        <a:t>x = 5</a:t>
                      </a:r>
                    </a:p>
                  </a:txBody>
                  <a:tcPr/>
                </a:tc>
                <a:extLst>
                  <a:ext uri="{0D108BD9-81ED-4DB2-BD59-A6C34878D82A}">
                    <a16:rowId xmlns:a16="http://schemas.microsoft.com/office/drawing/2014/main" val="1919197319"/>
                  </a:ext>
                </a:extLst>
              </a:tr>
              <a:tr h="370840">
                <a:tc>
                  <a:txBody>
                    <a:bodyPr/>
                    <a:lstStyle/>
                    <a:p>
                      <a:pPr algn="r"/>
                      <a:r>
                        <a:rPr lang="en-US" sz="2000" b="0" i="1" dirty="0">
                          <a:latin typeface="Consolas" panose="020B0609020204030204" pitchFamily="49" charset="0"/>
                          <a:cs typeface="Consolas" panose="020B0609020204030204" pitchFamily="49" charset="0"/>
                        </a:rPr>
                        <a:t>sum(4)</a:t>
                      </a:r>
                    </a:p>
                  </a:txBody>
                  <a:tcPr>
                    <a:noFill/>
                  </a:tcPr>
                </a:tc>
                <a:tc>
                  <a:txBody>
                    <a:bodyPr/>
                    <a:lstStyle/>
                    <a:p>
                      <a:pPr algn="ctr"/>
                      <a:r>
                        <a:rPr lang="en-US" sz="2000" b="1" i="0" dirty="0">
                          <a:latin typeface="Consolas" panose="020B0609020204030204" pitchFamily="49" charset="0"/>
                          <a:cs typeface="Consolas" panose="020B0609020204030204" pitchFamily="49" charset="0"/>
                        </a:rPr>
                        <a:t>x = 4</a:t>
                      </a:r>
                    </a:p>
                  </a:txBody>
                  <a:tcPr/>
                </a:tc>
                <a:extLst>
                  <a:ext uri="{0D108BD9-81ED-4DB2-BD59-A6C34878D82A}">
                    <a16:rowId xmlns:a16="http://schemas.microsoft.com/office/drawing/2014/main" val="888209732"/>
                  </a:ext>
                </a:extLst>
              </a:tr>
              <a:tr h="370840">
                <a:tc>
                  <a:txBody>
                    <a:bodyPr/>
                    <a:lstStyle/>
                    <a:p>
                      <a:pPr algn="r"/>
                      <a:r>
                        <a:rPr lang="en-US" sz="2000" b="0" i="1" dirty="0">
                          <a:latin typeface="Consolas" panose="020B0609020204030204" pitchFamily="49" charset="0"/>
                          <a:cs typeface="Consolas" panose="020B0609020204030204" pitchFamily="49" charset="0"/>
                        </a:rPr>
                        <a:t>sum(3)</a:t>
                      </a:r>
                    </a:p>
                  </a:txBody>
                  <a:tcPr>
                    <a:noFill/>
                  </a:tcPr>
                </a:tc>
                <a:tc>
                  <a:txBody>
                    <a:bodyPr/>
                    <a:lstStyle/>
                    <a:p>
                      <a:pPr algn="ctr"/>
                      <a:r>
                        <a:rPr lang="en-US" sz="2000" b="1" i="0" dirty="0">
                          <a:latin typeface="Consolas" panose="020B0609020204030204" pitchFamily="49" charset="0"/>
                          <a:cs typeface="Consolas" panose="020B0609020204030204" pitchFamily="49" charset="0"/>
                        </a:rPr>
                        <a:t>x = 3</a:t>
                      </a:r>
                    </a:p>
                  </a:txBody>
                  <a:tcPr/>
                </a:tc>
                <a:extLst>
                  <a:ext uri="{0D108BD9-81ED-4DB2-BD59-A6C34878D82A}">
                    <a16:rowId xmlns:a16="http://schemas.microsoft.com/office/drawing/2014/main" val="3128191364"/>
                  </a:ext>
                </a:extLst>
              </a:tr>
              <a:tr h="370840">
                <a:tc>
                  <a:txBody>
                    <a:bodyPr/>
                    <a:lstStyle/>
                    <a:p>
                      <a:pPr algn="r"/>
                      <a:r>
                        <a:rPr lang="en-US" sz="2000" b="0" i="1" dirty="0">
                          <a:latin typeface="Consolas" panose="020B0609020204030204" pitchFamily="49" charset="0"/>
                          <a:cs typeface="Consolas" panose="020B0609020204030204" pitchFamily="49" charset="0"/>
                        </a:rPr>
                        <a:t>sum(2)</a:t>
                      </a:r>
                    </a:p>
                  </a:txBody>
                  <a:tcPr>
                    <a:noFill/>
                  </a:tcPr>
                </a:tc>
                <a:tc>
                  <a:txBody>
                    <a:bodyPr/>
                    <a:lstStyle/>
                    <a:p>
                      <a:pPr algn="ctr"/>
                      <a:r>
                        <a:rPr lang="en-US" sz="2000" b="1" i="0" dirty="0">
                          <a:latin typeface="Consolas" panose="020B0609020204030204" pitchFamily="49" charset="0"/>
                          <a:cs typeface="Consolas" panose="020B0609020204030204" pitchFamily="49" charset="0"/>
                        </a:rPr>
                        <a:t>x = 2</a:t>
                      </a:r>
                    </a:p>
                  </a:txBody>
                  <a:tcPr/>
                </a:tc>
                <a:extLst>
                  <a:ext uri="{0D108BD9-81ED-4DB2-BD59-A6C34878D82A}">
                    <a16:rowId xmlns:a16="http://schemas.microsoft.com/office/drawing/2014/main" val="423850547"/>
                  </a:ext>
                </a:extLst>
              </a:tr>
              <a:tr h="370840">
                <a:tc>
                  <a:txBody>
                    <a:bodyPr/>
                    <a:lstStyle/>
                    <a:p>
                      <a:pPr algn="r"/>
                      <a:r>
                        <a:rPr lang="en-US" sz="2000" b="0" i="1" dirty="0">
                          <a:latin typeface="Consolas" panose="020B0609020204030204" pitchFamily="49" charset="0"/>
                          <a:cs typeface="Consolas" panose="020B0609020204030204" pitchFamily="49" charset="0"/>
                        </a:rPr>
                        <a:t>sum(1)</a:t>
                      </a:r>
                    </a:p>
                  </a:txBody>
                  <a:tcPr>
                    <a:noFill/>
                  </a:tcPr>
                </a:tc>
                <a:tc>
                  <a:txBody>
                    <a:bodyPr/>
                    <a:lstStyle/>
                    <a:p>
                      <a:pPr algn="ctr"/>
                      <a:r>
                        <a:rPr lang="en-US" sz="2000" b="1" i="0" dirty="0">
                          <a:latin typeface="Consolas" panose="020B0609020204030204" pitchFamily="49" charset="0"/>
                          <a:cs typeface="Consolas" panose="020B0609020204030204" pitchFamily="49" charset="0"/>
                        </a:rPr>
                        <a:t>x = 1</a:t>
                      </a:r>
                    </a:p>
                  </a:txBody>
                  <a:tcPr/>
                </a:tc>
                <a:extLst>
                  <a:ext uri="{0D108BD9-81ED-4DB2-BD59-A6C34878D82A}">
                    <a16:rowId xmlns:a16="http://schemas.microsoft.com/office/drawing/2014/main" val="495439449"/>
                  </a:ext>
                </a:extLst>
              </a:tr>
            </a:tbl>
          </a:graphicData>
        </a:graphic>
      </p:graphicFrame>
      <p:sp>
        <p:nvSpPr>
          <p:cNvPr id="8" name="TextBox 7">
            <a:extLst>
              <a:ext uri="{FF2B5EF4-FFF2-40B4-BE49-F238E27FC236}">
                <a16:creationId xmlns:a16="http://schemas.microsoft.com/office/drawing/2014/main" id="{0E4E5348-CF67-1E4D-8F72-3FAB28522D5F}"/>
              </a:ext>
            </a:extLst>
          </p:cNvPr>
          <p:cNvSpPr txBox="1"/>
          <p:nvPr/>
        </p:nvSpPr>
        <p:spPr>
          <a:xfrm>
            <a:off x="1137428" y="4000188"/>
            <a:ext cx="5038132" cy="1107996"/>
          </a:xfrm>
          <a:prstGeom prst="rect">
            <a:avLst/>
          </a:prstGeom>
          <a:noFill/>
        </p:spPr>
        <p:txBody>
          <a:bodyPr wrap="square" rtlCol="0">
            <a:spAutoFit/>
          </a:bodyPr>
          <a:lstStyle/>
          <a:p>
            <a:pPr algn="ctr"/>
            <a:r>
              <a:rPr lang="en-US" sz="2200" dirty="0"/>
              <a:t>if I call </a:t>
            </a:r>
            <a:r>
              <a:rPr lang="en-US" sz="2200" b="1" dirty="0">
                <a:latin typeface="Consolas" panose="020B0609020204030204" pitchFamily="49" charset="0"/>
                <a:cs typeface="Consolas" panose="020B0609020204030204" pitchFamily="49" charset="0"/>
              </a:rPr>
              <a:t>sum(</a:t>
            </a:r>
            <a:r>
              <a:rPr lang="en-US" sz="2200" b="1" dirty="0">
                <a:solidFill>
                  <a:schemeClr val="accent3">
                    <a:lumMod val="75000"/>
                  </a:schemeClr>
                </a:solidFill>
                <a:latin typeface="Consolas" panose="020B0609020204030204" pitchFamily="49" charset="0"/>
                <a:cs typeface="Consolas" panose="020B0609020204030204" pitchFamily="49" charset="0"/>
              </a:rPr>
              <a:t>5</a:t>
            </a:r>
            <a:r>
              <a:rPr lang="en-US" sz="2200" b="1" dirty="0">
                <a:latin typeface="Consolas" panose="020B0609020204030204" pitchFamily="49" charset="0"/>
                <a:cs typeface="Consolas" panose="020B0609020204030204" pitchFamily="49" charset="0"/>
              </a:rPr>
              <a:t>)</a:t>
            </a:r>
            <a:r>
              <a:rPr lang="en-US" sz="2200" dirty="0"/>
              <a:t>, every recursion gets its </a:t>
            </a:r>
            <a:r>
              <a:rPr lang="en-US" sz="2200" i="1" dirty="0"/>
              <a:t>own copy of x, </a:t>
            </a:r>
            <a:r>
              <a:rPr lang="en-US" sz="2200" dirty="0"/>
              <a:t>and the in-progress recursions do not “share” that variable.</a:t>
            </a:r>
          </a:p>
        </p:txBody>
      </p:sp>
    </p:spTree>
    <p:extLst>
      <p:ext uri="{BB962C8B-B14F-4D97-AF65-F5344CB8AC3E}">
        <p14:creationId xmlns:p14="http://schemas.microsoft.com/office/powerpoint/2010/main" val="36302459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ldLvl="5"/>
      <p:bldP spid="6"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04D2-4604-7049-8B03-F77EE648B6C8}"/>
              </a:ext>
            </a:extLst>
          </p:cNvPr>
          <p:cNvSpPr>
            <a:spLocks noGrp="1"/>
          </p:cNvSpPr>
          <p:nvPr>
            <p:ph type="title"/>
          </p:nvPr>
        </p:nvSpPr>
        <p:spPr/>
        <p:txBody>
          <a:bodyPr/>
          <a:lstStyle/>
          <a:p>
            <a:r>
              <a:rPr lang="en-US" dirty="0"/>
              <a:t>Trees ♥ Recursion</a:t>
            </a:r>
          </a:p>
        </p:txBody>
      </p:sp>
      <p:sp>
        <p:nvSpPr>
          <p:cNvPr id="3" name="Content Placeholder 2">
            <a:extLst>
              <a:ext uri="{FF2B5EF4-FFF2-40B4-BE49-F238E27FC236}">
                <a16:creationId xmlns:a16="http://schemas.microsoft.com/office/drawing/2014/main" id="{E3107A1E-DBEB-664A-898A-FC18C88BE950}"/>
              </a:ext>
            </a:extLst>
          </p:cNvPr>
          <p:cNvSpPr>
            <a:spLocks noGrp="1"/>
          </p:cNvSpPr>
          <p:nvPr>
            <p:ph idx="1"/>
          </p:nvPr>
        </p:nvSpPr>
        <p:spPr>
          <a:xfrm>
            <a:off x="152400" y="495301"/>
            <a:ext cx="8991600" cy="990599"/>
          </a:xfrm>
        </p:spPr>
        <p:txBody>
          <a:bodyPr/>
          <a:lstStyle/>
          <a:p>
            <a:r>
              <a:rPr lang="en-US" dirty="0"/>
              <a:t>forget Fibonacci: </a:t>
            </a:r>
            <a:r>
              <a:rPr lang="en-US" b="1" dirty="0"/>
              <a:t>recursion is </a:t>
            </a:r>
            <a:r>
              <a:rPr lang="en-US" b="1" i="1" dirty="0"/>
              <a:t>exactly</a:t>
            </a:r>
            <a:r>
              <a:rPr lang="en-US" b="1" dirty="0"/>
              <a:t> what you need for trees.</a:t>
            </a:r>
          </a:p>
          <a:p>
            <a:r>
              <a:rPr lang="en-US" dirty="0"/>
              <a:t>we have this tree, and a variable pointing to the root.</a:t>
            </a:r>
          </a:p>
        </p:txBody>
      </p:sp>
      <p:sp>
        <p:nvSpPr>
          <p:cNvPr id="4" name="Slide Number Placeholder 3">
            <a:extLst>
              <a:ext uri="{FF2B5EF4-FFF2-40B4-BE49-F238E27FC236}">
                <a16:creationId xmlns:a16="http://schemas.microsoft.com/office/drawing/2014/main" id="{6217B894-B5FC-004F-866F-EDDC26BFA9A1}"/>
              </a:ext>
            </a:extLst>
          </p:cNvPr>
          <p:cNvSpPr>
            <a:spLocks noGrp="1"/>
          </p:cNvSpPr>
          <p:nvPr>
            <p:ph type="sldNum" sz="quarter" idx="12"/>
          </p:nvPr>
        </p:nvSpPr>
        <p:spPr/>
        <p:txBody>
          <a:bodyPr/>
          <a:lstStyle/>
          <a:p>
            <a:fld id="{3552B95B-556F-44BD-91A5-D80C1B9E2BB3}" type="slidenum">
              <a:rPr lang="en-US" smtClean="0"/>
              <a:pPr/>
              <a:t>26</a:t>
            </a:fld>
            <a:endParaRPr lang="en-US"/>
          </a:p>
        </p:txBody>
      </p:sp>
      <p:grpSp>
        <p:nvGrpSpPr>
          <p:cNvPr id="26" name="Group 25">
            <a:extLst>
              <a:ext uri="{FF2B5EF4-FFF2-40B4-BE49-F238E27FC236}">
                <a16:creationId xmlns:a16="http://schemas.microsoft.com/office/drawing/2014/main" id="{499B831C-392A-6C40-A689-F134F48A003F}"/>
              </a:ext>
            </a:extLst>
          </p:cNvPr>
          <p:cNvGrpSpPr/>
          <p:nvPr/>
        </p:nvGrpSpPr>
        <p:grpSpPr>
          <a:xfrm>
            <a:off x="228600" y="1879989"/>
            <a:ext cx="1903904" cy="3181931"/>
            <a:chOff x="2860763" y="1765629"/>
            <a:chExt cx="1903904" cy="3181931"/>
          </a:xfrm>
        </p:grpSpPr>
        <p:sp>
          <p:nvSpPr>
            <p:cNvPr id="6" name="TextBox 5">
              <a:extLst>
                <a:ext uri="{FF2B5EF4-FFF2-40B4-BE49-F238E27FC236}">
                  <a16:creationId xmlns:a16="http://schemas.microsoft.com/office/drawing/2014/main" id="{A86938C6-2A7C-E548-9115-14748CB5E585}"/>
                </a:ext>
              </a:extLst>
            </p:cNvPr>
            <p:cNvSpPr txBox="1"/>
            <p:nvPr/>
          </p:nvSpPr>
          <p:spPr>
            <a:xfrm>
              <a:off x="2860763" y="3424620"/>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2</a:t>
              </a:r>
            </a:p>
          </p:txBody>
        </p:sp>
        <p:sp>
          <p:nvSpPr>
            <p:cNvPr id="7" name="TextBox 6">
              <a:extLst>
                <a:ext uri="{FF2B5EF4-FFF2-40B4-BE49-F238E27FC236}">
                  <a16:creationId xmlns:a16="http://schemas.microsoft.com/office/drawing/2014/main" id="{AD707F62-0FD5-AC4C-BF9B-0D2DF1DBB542}"/>
                </a:ext>
              </a:extLst>
            </p:cNvPr>
            <p:cNvSpPr txBox="1"/>
            <p:nvPr/>
          </p:nvSpPr>
          <p:spPr>
            <a:xfrm>
              <a:off x="3180080" y="4544910"/>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3</a:t>
              </a:r>
            </a:p>
          </p:txBody>
        </p:sp>
        <p:sp>
          <p:nvSpPr>
            <p:cNvPr id="8" name="TextBox 7">
              <a:extLst>
                <a:ext uri="{FF2B5EF4-FFF2-40B4-BE49-F238E27FC236}">
                  <a16:creationId xmlns:a16="http://schemas.microsoft.com/office/drawing/2014/main" id="{34BC9A20-B300-9949-B65E-C51553C92772}"/>
                </a:ext>
              </a:extLst>
            </p:cNvPr>
            <p:cNvSpPr txBox="1"/>
            <p:nvPr/>
          </p:nvSpPr>
          <p:spPr>
            <a:xfrm>
              <a:off x="4119270" y="4547450"/>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5</a:t>
              </a:r>
            </a:p>
          </p:txBody>
        </p:sp>
        <p:sp>
          <p:nvSpPr>
            <p:cNvPr id="9" name="TextBox 8">
              <a:extLst>
                <a:ext uri="{FF2B5EF4-FFF2-40B4-BE49-F238E27FC236}">
                  <a16:creationId xmlns:a16="http://schemas.microsoft.com/office/drawing/2014/main" id="{7DA8EE48-3797-6A4E-A9B1-5592622FA417}"/>
                </a:ext>
              </a:extLst>
            </p:cNvPr>
            <p:cNvSpPr txBox="1"/>
            <p:nvPr/>
          </p:nvSpPr>
          <p:spPr>
            <a:xfrm>
              <a:off x="4156807" y="2550819"/>
              <a:ext cx="60786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-40</a:t>
              </a:r>
            </a:p>
          </p:txBody>
        </p:sp>
        <p:sp>
          <p:nvSpPr>
            <p:cNvPr id="10" name="TextBox 9">
              <a:extLst>
                <a:ext uri="{FF2B5EF4-FFF2-40B4-BE49-F238E27FC236}">
                  <a16:creationId xmlns:a16="http://schemas.microsoft.com/office/drawing/2014/main" id="{366C134D-21B3-3344-AF71-09A7FCDA55DE}"/>
                </a:ext>
              </a:extLst>
            </p:cNvPr>
            <p:cNvSpPr txBox="1"/>
            <p:nvPr/>
          </p:nvSpPr>
          <p:spPr>
            <a:xfrm>
              <a:off x="3664305" y="3911816"/>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11" name="TextBox 10">
              <a:extLst>
                <a:ext uri="{FF2B5EF4-FFF2-40B4-BE49-F238E27FC236}">
                  <a16:creationId xmlns:a16="http://schemas.microsoft.com/office/drawing/2014/main" id="{93840ABE-0633-5D40-9FE3-1A2E8C3BBF9A}"/>
                </a:ext>
              </a:extLst>
            </p:cNvPr>
            <p:cNvSpPr txBox="1"/>
            <p:nvPr/>
          </p:nvSpPr>
          <p:spPr>
            <a:xfrm>
              <a:off x="3666540" y="3320541"/>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12" name="TextBox 11">
              <a:extLst>
                <a:ext uri="{FF2B5EF4-FFF2-40B4-BE49-F238E27FC236}">
                  <a16:creationId xmlns:a16="http://schemas.microsoft.com/office/drawing/2014/main" id="{C429059B-015A-894C-94D1-5B7AEFD39C51}"/>
                </a:ext>
              </a:extLst>
            </p:cNvPr>
            <p:cNvSpPr txBox="1"/>
            <p:nvPr/>
          </p:nvSpPr>
          <p:spPr>
            <a:xfrm>
              <a:off x="3255670" y="2543085"/>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13" name="TextBox 12">
              <a:extLst>
                <a:ext uri="{FF2B5EF4-FFF2-40B4-BE49-F238E27FC236}">
                  <a16:creationId xmlns:a16="http://schemas.microsoft.com/office/drawing/2014/main" id="{28AC9BAA-F0E4-8B4F-8514-966B28F5652F}"/>
                </a:ext>
              </a:extLst>
            </p:cNvPr>
            <p:cNvSpPr txBox="1"/>
            <p:nvPr/>
          </p:nvSpPr>
          <p:spPr>
            <a:xfrm>
              <a:off x="3810000" y="1765629"/>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t>
              </a:r>
            </a:p>
          </p:txBody>
        </p:sp>
        <p:cxnSp>
          <p:nvCxnSpPr>
            <p:cNvPr id="14" name="Straight Connector 13">
              <a:extLst>
                <a:ext uri="{FF2B5EF4-FFF2-40B4-BE49-F238E27FC236}">
                  <a16:creationId xmlns:a16="http://schemas.microsoft.com/office/drawing/2014/main" id="{EC4F7DFF-B21E-C44F-8772-96286B9B0ABB}"/>
                </a:ext>
              </a:extLst>
            </p:cNvPr>
            <p:cNvCxnSpPr>
              <a:cxnSpLocks/>
            </p:cNvCxnSpPr>
            <p:nvPr/>
          </p:nvCxnSpPr>
          <p:spPr>
            <a:xfrm flipV="1">
              <a:off x="3418840" y="4214076"/>
              <a:ext cx="325120" cy="4165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86EEB49-0B9D-744F-84D5-42366509E058}"/>
                </a:ext>
              </a:extLst>
            </p:cNvPr>
            <p:cNvCxnSpPr>
              <a:cxnSpLocks/>
            </p:cNvCxnSpPr>
            <p:nvPr/>
          </p:nvCxnSpPr>
          <p:spPr>
            <a:xfrm flipH="1" flipV="1">
              <a:off x="3896360" y="4203916"/>
              <a:ext cx="294640" cy="4165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0408FE9-7822-F84F-8F3D-D08AA18B5B6E}"/>
                </a:ext>
              </a:extLst>
            </p:cNvPr>
            <p:cNvCxnSpPr>
              <a:cxnSpLocks/>
            </p:cNvCxnSpPr>
            <p:nvPr/>
          </p:nvCxnSpPr>
          <p:spPr>
            <a:xfrm flipV="1">
              <a:off x="3816705" y="3683760"/>
              <a:ext cx="2235" cy="1911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03420A1-8924-2940-BF36-E5081E4B95BE}"/>
                </a:ext>
              </a:extLst>
            </p:cNvPr>
            <p:cNvCxnSpPr>
              <a:cxnSpLocks/>
            </p:cNvCxnSpPr>
            <p:nvPr/>
          </p:nvCxnSpPr>
          <p:spPr>
            <a:xfrm flipV="1">
              <a:off x="3071528" y="2985321"/>
              <a:ext cx="272085" cy="38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9394F83-97F4-0C41-92D1-1C0357514DD6}"/>
                </a:ext>
              </a:extLst>
            </p:cNvPr>
            <p:cNvCxnSpPr>
              <a:cxnSpLocks/>
            </p:cNvCxnSpPr>
            <p:nvPr/>
          </p:nvCxnSpPr>
          <p:spPr>
            <a:xfrm flipH="1" flipV="1">
              <a:off x="3485853" y="2965001"/>
              <a:ext cx="309880" cy="406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B2718A4-1EE2-FE42-8413-4E6A8F4CC35F}"/>
                </a:ext>
              </a:extLst>
            </p:cNvPr>
            <p:cNvCxnSpPr>
              <a:cxnSpLocks/>
            </p:cNvCxnSpPr>
            <p:nvPr/>
          </p:nvCxnSpPr>
          <p:spPr>
            <a:xfrm flipH="1" flipV="1">
              <a:off x="4013200" y="2113281"/>
              <a:ext cx="294640" cy="4001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5DCA35B-4303-AA45-AE79-08C5D91F63BF}"/>
                </a:ext>
              </a:extLst>
            </p:cNvPr>
            <p:cNvCxnSpPr>
              <a:cxnSpLocks/>
            </p:cNvCxnSpPr>
            <p:nvPr/>
          </p:nvCxnSpPr>
          <p:spPr>
            <a:xfrm flipV="1">
              <a:off x="3581400" y="2111434"/>
              <a:ext cx="330200" cy="363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D107EB9B-F1E4-704E-813E-81F62E9E0DA5}"/>
              </a:ext>
            </a:extLst>
          </p:cNvPr>
          <p:cNvGrpSpPr/>
          <p:nvPr/>
        </p:nvGrpSpPr>
        <p:grpSpPr>
          <a:xfrm>
            <a:off x="1251920" y="1355689"/>
            <a:ext cx="5614555" cy="599896"/>
            <a:chOff x="1251920" y="1355689"/>
            <a:chExt cx="5614555" cy="599896"/>
          </a:xfrm>
        </p:grpSpPr>
        <p:sp>
          <p:nvSpPr>
            <p:cNvPr id="27" name="TextBox 26">
              <a:extLst>
                <a:ext uri="{FF2B5EF4-FFF2-40B4-BE49-F238E27FC236}">
                  <a16:creationId xmlns:a16="http://schemas.microsoft.com/office/drawing/2014/main" id="{7E6C702B-FF95-E946-B349-C48D9208BCFD}"/>
                </a:ext>
              </a:extLst>
            </p:cNvPr>
            <p:cNvSpPr txBox="1"/>
            <p:nvPr/>
          </p:nvSpPr>
          <p:spPr>
            <a:xfrm>
              <a:off x="1432182" y="1355689"/>
              <a:ext cx="5434293" cy="430887"/>
            </a:xfrm>
            <a:prstGeom prst="rect">
              <a:avLst/>
            </a:prstGeom>
            <a:noFill/>
          </p:spPr>
          <p:txBody>
            <a:bodyPr wrap="square" rtlCol="0">
              <a:spAutoFit/>
            </a:bodyPr>
            <a:lstStyle/>
            <a:p>
              <a:pPr algn="ctr"/>
              <a:r>
                <a:rPr lang="en-US" sz="2200" dirty="0"/>
                <a:t>how do you evaluate a multiplication?</a:t>
              </a:r>
            </a:p>
          </p:txBody>
        </p:sp>
        <p:sp>
          <p:nvSpPr>
            <p:cNvPr id="28" name="Bent Arrow 27">
              <a:extLst>
                <a:ext uri="{FF2B5EF4-FFF2-40B4-BE49-F238E27FC236}">
                  <a16:creationId xmlns:a16="http://schemas.microsoft.com/office/drawing/2014/main" id="{3FF39483-3F96-8C41-B2C6-59C3A3BD4B2C}"/>
                </a:ext>
              </a:extLst>
            </p:cNvPr>
            <p:cNvSpPr/>
            <p:nvPr/>
          </p:nvSpPr>
          <p:spPr>
            <a:xfrm rot="5400000" flipV="1">
              <a:off x="1265455" y="1540501"/>
              <a:ext cx="401549" cy="428620"/>
            </a:xfrm>
            <a:prstGeom prst="bentArrow">
              <a:avLst>
                <a:gd name="adj1" fmla="val 25000"/>
                <a:gd name="adj2" fmla="val 25000"/>
                <a:gd name="adj3" fmla="val 25000"/>
                <a:gd name="adj4" fmla="val 75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9" name="TextBox 28">
            <a:extLst>
              <a:ext uri="{FF2B5EF4-FFF2-40B4-BE49-F238E27FC236}">
                <a16:creationId xmlns:a16="http://schemas.microsoft.com/office/drawing/2014/main" id="{8D59047A-4CCA-1246-B6B5-4295A6157B6E}"/>
              </a:ext>
            </a:extLst>
          </p:cNvPr>
          <p:cNvSpPr txBox="1"/>
          <p:nvPr/>
        </p:nvSpPr>
        <p:spPr>
          <a:xfrm>
            <a:off x="2328670" y="1792290"/>
            <a:ext cx="5434293" cy="1107996"/>
          </a:xfrm>
          <a:prstGeom prst="rect">
            <a:avLst/>
          </a:prstGeom>
          <a:noFill/>
        </p:spPr>
        <p:txBody>
          <a:bodyPr wrap="square" rtlCol="0">
            <a:spAutoFit/>
          </a:bodyPr>
          <a:lstStyle/>
          <a:p>
            <a:pPr marL="457200" indent="-457200">
              <a:buFont typeface="+mj-lt"/>
              <a:buAutoNum type="arabicPeriod"/>
            </a:pPr>
            <a:r>
              <a:rPr lang="en-US" sz="2200" dirty="0"/>
              <a:t>evaluate the left-hand side (</a:t>
            </a:r>
            <a:r>
              <a:rPr lang="en-US" sz="2200" b="1" dirty="0"/>
              <a:t>LHS</a:t>
            </a:r>
            <a:r>
              <a:rPr lang="en-US" sz="2200" dirty="0"/>
              <a:t>)</a:t>
            </a:r>
          </a:p>
          <a:p>
            <a:pPr marL="457200" indent="-457200">
              <a:buFont typeface="+mj-lt"/>
              <a:buAutoNum type="arabicPeriod"/>
            </a:pPr>
            <a:r>
              <a:rPr lang="en-US" sz="2200" dirty="0"/>
              <a:t>evaluate the right-hand side (</a:t>
            </a:r>
            <a:r>
              <a:rPr lang="en-US" sz="2200" b="1" dirty="0"/>
              <a:t>RHS</a:t>
            </a:r>
            <a:r>
              <a:rPr lang="en-US" sz="2200" dirty="0"/>
              <a:t>)</a:t>
            </a:r>
          </a:p>
          <a:p>
            <a:pPr marL="457200" indent="-457200">
              <a:buFont typeface="+mj-lt"/>
              <a:buAutoNum type="arabicPeriod"/>
            </a:pPr>
            <a:r>
              <a:rPr lang="en-US" sz="2200" dirty="0"/>
              <a:t>multiply them together</a:t>
            </a:r>
          </a:p>
        </p:txBody>
      </p:sp>
      <p:sp>
        <p:nvSpPr>
          <p:cNvPr id="31" name="TextBox 30">
            <a:extLst>
              <a:ext uri="{FF2B5EF4-FFF2-40B4-BE49-F238E27FC236}">
                <a16:creationId xmlns:a16="http://schemas.microsoft.com/office/drawing/2014/main" id="{1708F498-0285-5246-9885-1AA6CB26AC15}"/>
              </a:ext>
            </a:extLst>
          </p:cNvPr>
          <p:cNvSpPr txBox="1"/>
          <p:nvPr/>
        </p:nvSpPr>
        <p:spPr>
          <a:xfrm>
            <a:off x="2991480" y="3081500"/>
            <a:ext cx="5434293" cy="769441"/>
          </a:xfrm>
          <a:prstGeom prst="rect">
            <a:avLst/>
          </a:prstGeom>
          <a:noFill/>
        </p:spPr>
        <p:txBody>
          <a:bodyPr wrap="square" rtlCol="0">
            <a:spAutoFit/>
          </a:bodyPr>
          <a:lstStyle/>
          <a:p>
            <a:pPr algn="ctr"/>
            <a:r>
              <a:rPr lang="en-US" sz="2200" dirty="0"/>
              <a:t>the first two steps are done as </a:t>
            </a:r>
            <a:r>
              <a:rPr lang="en-US" sz="2200" b="1" dirty="0"/>
              <a:t>recursive calls </a:t>
            </a:r>
            <a:r>
              <a:rPr lang="en-US" sz="2200" dirty="0"/>
              <a:t>to evaluate the two children.</a:t>
            </a:r>
          </a:p>
        </p:txBody>
      </p:sp>
      <p:sp>
        <p:nvSpPr>
          <p:cNvPr id="32" name="TextBox 31">
            <a:extLst>
              <a:ext uri="{FF2B5EF4-FFF2-40B4-BE49-F238E27FC236}">
                <a16:creationId xmlns:a16="http://schemas.microsoft.com/office/drawing/2014/main" id="{4525B851-BC91-DA45-AA6A-C288B664A9E2}"/>
              </a:ext>
            </a:extLst>
          </p:cNvPr>
          <p:cNvSpPr txBox="1"/>
          <p:nvPr/>
        </p:nvSpPr>
        <p:spPr>
          <a:xfrm>
            <a:off x="2815262" y="4141835"/>
            <a:ext cx="5786730" cy="769441"/>
          </a:xfrm>
          <a:prstGeom prst="rect">
            <a:avLst/>
          </a:prstGeom>
          <a:noFill/>
        </p:spPr>
        <p:txBody>
          <a:bodyPr wrap="square" rtlCol="0">
            <a:spAutoFit/>
          </a:bodyPr>
          <a:lstStyle/>
          <a:p>
            <a:pPr algn="ctr"/>
            <a:r>
              <a:rPr lang="en-US" sz="2200" dirty="0"/>
              <a:t>that's it. that's how you write a recursive algorithm over a tree. (see </a:t>
            </a:r>
            <a:r>
              <a:rPr lang="en-US" sz="2200" b="1" dirty="0" err="1">
                <a:latin typeface="Consolas" panose="020B0609020204030204" pitchFamily="49" charset="0"/>
                <a:cs typeface="Consolas" panose="020B0609020204030204" pitchFamily="49" charset="0"/>
              </a:rPr>
              <a:t>AstNode</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eval</a:t>
            </a:r>
            <a:r>
              <a:rPr lang="en-US" sz="2200" dirty="0"/>
              <a:t>)</a:t>
            </a:r>
          </a:p>
        </p:txBody>
      </p:sp>
    </p:spTree>
    <p:extLst>
      <p:ext uri="{BB962C8B-B14F-4D97-AF65-F5344CB8AC3E}">
        <p14:creationId xmlns:p14="http://schemas.microsoft.com/office/powerpoint/2010/main" val="12241084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bldLvl="5"/>
      <p:bldP spid="31" grpId="0"/>
      <p:bldP spid="3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40BF4-DA4A-FB49-A40A-D0A1236F6152}"/>
              </a:ext>
            </a:extLst>
          </p:cNvPr>
          <p:cNvSpPr>
            <a:spLocks noGrp="1"/>
          </p:cNvSpPr>
          <p:nvPr>
            <p:ph type="title"/>
          </p:nvPr>
        </p:nvSpPr>
        <p:spPr/>
        <p:txBody>
          <a:bodyPr/>
          <a:lstStyle/>
          <a:p>
            <a:r>
              <a:rPr lang="en-US" dirty="0"/>
              <a:t>What else could you do with them?</a:t>
            </a:r>
          </a:p>
        </p:txBody>
      </p:sp>
      <p:sp>
        <p:nvSpPr>
          <p:cNvPr id="3" name="Content Placeholder 2">
            <a:extLst>
              <a:ext uri="{FF2B5EF4-FFF2-40B4-BE49-F238E27FC236}">
                <a16:creationId xmlns:a16="http://schemas.microsoft.com/office/drawing/2014/main" id="{5ADE49EB-AE22-D24A-8D3E-55A7E6BD200A}"/>
              </a:ext>
            </a:extLst>
          </p:cNvPr>
          <p:cNvSpPr>
            <a:spLocks noGrp="1"/>
          </p:cNvSpPr>
          <p:nvPr>
            <p:ph idx="1"/>
          </p:nvPr>
        </p:nvSpPr>
        <p:spPr>
          <a:xfrm>
            <a:off x="152400" y="495301"/>
            <a:ext cx="8991600" cy="838199"/>
          </a:xfrm>
        </p:spPr>
        <p:txBody>
          <a:bodyPr/>
          <a:lstStyle/>
          <a:p>
            <a:r>
              <a:rPr lang="en-US" dirty="0"/>
              <a:t>you could </a:t>
            </a:r>
            <a:r>
              <a:rPr lang="en-US" b="1" dirty="0"/>
              <a:t>apply transformations </a:t>
            </a:r>
            <a:r>
              <a:rPr lang="en-US" dirty="0"/>
              <a:t>to the tree.</a:t>
            </a:r>
          </a:p>
          <a:p>
            <a:r>
              <a:rPr lang="en-US" dirty="0"/>
              <a:t>maybe we have a calculator feature to get the </a:t>
            </a:r>
            <a:r>
              <a:rPr lang="en-US" b="1" dirty="0"/>
              <a:t>reciprocal.</a:t>
            </a:r>
            <a:endParaRPr lang="en-US" dirty="0"/>
          </a:p>
        </p:txBody>
      </p:sp>
      <p:sp>
        <p:nvSpPr>
          <p:cNvPr id="4" name="Slide Number Placeholder 3">
            <a:extLst>
              <a:ext uri="{FF2B5EF4-FFF2-40B4-BE49-F238E27FC236}">
                <a16:creationId xmlns:a16="http://schemas.microsoft.com/office/drawing/2014/main" id="{FA6DD6CD-6BD8-B74A-A12C-0DFBBC60870A}"/>
              </a:ext>
            </a:extLst>
          </p:cNvPr>
          <p:cNvSpPr>
            <a:spLocks noGrp="1"/>
          </p:cNvSpPr>
          <p:nvPr>
            <p:ph type="sldNum" sz="quarter" idx="12"/>
          </p:nvPr>
        </p:nvSpPr>
        <p:spPr/>
        <p:txBody>
          <a:bodyPr/>
          <a:lstStyle/>
          <a:p>
            <a:fld id="{3552B95B-556F-44BD-91A5-D80C1B9E2BB3}" type="slidenum">
              <a:rPr lang="en-US" smtClean="0"/>
              <a:pPr/>
              <a:t>27</a:t>
            </a:fld>
            <a:endParaRPr lang="en-US"/>
          </a:p>
        </p:txBody>
      </p:sp>
      <p:grpSp>
        <p:nvGrpSpPr>
          <p:cNvPr id="56" name="Group 55">
            <a:extLst>
              <a:ext uri="{FF2B5EF4-FFF2-40B4-BE49-F238E27FC236}">
                <a16:creationId xmlns:a16="http://schemas.microsoft.com/office/drawing/2014/main" id="{9842B953-7A6B-4B48-BB12-35A1D1CA0A61}"/>
              </a:ext>
            </a:extLst>
          </p:cNvPr>
          <p:cNvGrpSpPr/>
          <p:nvPr/>
        </p:nvGrpSpPr>
        <p:grpSpPr>
          <a:xfrm>
            <a:off x="4596586" y="3546372"/>
            <a:ext cx="1097093" cy="1281645"/>
            <a:chOff x="4899795" y="3086667"/>
            <a:chExt cx="1097093" cy="1281645"/>
          </a:xfrm>
        </p:grpSpPr>
        <p:sp>
          <p:nvSpPr>
            <p:cNvPr id="6" name="TextBox 5">
              <a:extLst>
                <a:ext uri="{FF2B5EF4-FFF2-40B4-BE49-F238E27FC236}">
                  <a16:creationId xmlns:a16="http://schemas.microsoft.com/office/drawing/2014/main" id="{A830EA1E-2911-0E4C-BF1A-2ED7AFD53DD3}"/>
                </a:ext>
              </a:extLst>
            </p:cNvPr>
            <p:cNvSpPr txBox="1"/>
            <p:nvPr/>
          </p:nvSpPr>
          <p:spPr>
            <a:xfrm>
              <a:off x="4899795" y="3968202"/>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2</a:t>
              </a:r>
            </a:p>
          </p:txBody>
        </p:sp>
        <p:sp>
          <p:nvSpPr>
            <p:cNvPr id="8" name="TextBox 7">
              <a:extLst>
                <a:ext uri="{FF2B5EF4-FFF2-40B4-BE49-F238E27FC236}">
                  <a16:creationId xmlns:a16="http://schemas.microsoft.com/office/drawing/2014/main" id="{6D743B8A-A86C-7C42-92E1-DD59B69D5B57}"/>
                </a:ext>
              </a:extLst>
            </p:cNvPr>
            <p:cNvSpPr txBox="1"/>
            <p:nvPr/>
          </p:nvSpPr>
          <p:spPr>
            <a:xfrm>
              <a:off x="5671158" y="3968202"/>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5</a:t>
              </a:r>
            </a:p>
          </p:txBody>
        </p:sp>
        <p:sp>
          <p:nvSpPr>
            <p:cNvPr id="12" name="TextBox 11">
              <a:extLst>
                <a:ext uri="{FF2B5EF4-FFF2-40B4-BE49-F238E27FC236}">
                  <a16:creationId xmlns:a16="http://schemas.microsoft.com/office/drawing/2014/main" id="{3A48248F-CFF8-AA4A-88BE-49F6903EEC5F}"/>
                </a:ext>
              </a:extLst>
            </p:cNvPr>
            <p:cNvSpPr txBox="1"/>
            <p:nvPr/>
          </p:nvSpPr>
          <p:spPr>
            <a:xfrm>
              <a:off x="5294702" y="3086667"/>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t>
              </a:r>
            </a:p>
          </p:txBody>
        </p:sp>
        <p:cxnSp>
          <p:nvCxnSpPr>
            <p:cNvPr id="17" name="Straight Connector 16">
              <a:extLst>
                <a:ext uri="{FF2B5EF4-FFF2-40B4-BE49-F238E27FC236}">
                  <a16:creationId xmlns:a16="http://schemas.microsoft.com/office/drawing/2014/main" id="{0AC16774-CE8A-984D-B6D7-C5F78796BC49}"/>
                </a:ext>
              </a:extLst>
            </p:cNvPr>
            <p:cNvCxnSpPr>
              <a:cxnSpLocks/>
            </p:cNvCxnSpPr>
            <p:nvPr/>
          </p:nvCxnSpPr>
          <p:spPr>
            <a:xfrm flipV="1">
              <a:off x="5110560" y="3528903"/>
              <a:ext cx="272085" cy="38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18E85F9-02B2-BA43-8CBC-64CDBCC1EEED}"/>
                </a:ext>
              </a:extLst>
            </p:cNvPr>
            <p:cNvCxnSpPr>
              <a:cxnSpLocks/>
            </p:cNvCxnSpPr>
            <p:nvPr/>
          </p:nvCxnSpPr>
          <p:spPr>
            <a:xfrm flipH="1" flipV="1">
              <a:off x="5524885" y="3508583"/>
              <a:ext cx="309880" cy="406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0AF35ABF-E5F3-8B47-B8C0-48AD1CCA4779}"/>
              </a:ext>
            </a:extLst>
          </p:cNvPr>
          <p:cNvGrpSpPr/>
          <p:nvPr/>
        </p:nvGrpSpPr>
        <p:grpSpPr>
          <a:xfrm>
            <a:off x="6795863" y="3522355"/>
            <a:ext cx="1097093" cy="1281645"/>
            <a:chOff x="6798923" y="3086667"/>
            <a:chExt cx="1097093" cy="1281645"/>
          </a:xfrm>
        </p:grpSpPr>
        <p:sp>
          <p:nvSpPr>
            <p:cNvPr id="37" name="TextBox 36">
              <a:extLst>
                <a:ext uri="{FF2B5EF4-FFF2-40B4-BE49-F238E27FC236}">
                  <a16:creationId xmlns:a16="http://schemas.microsoft.com/office/drawing/2014/main" id="{C7306D4B-3571-B240-96D5-EB8795974E1F}"/>
                </a:ext>
              </a:extLst>
            </p:cNvPr>
            <p:cNvSpPr txBox="1"/>
            <p:nvPr/>
          </p:nvSpPr>
          <p:spPr>
            <a:xfrm>
              <a:off x="6798923" y="3968202"/>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5</a:t>
              </a:r>
            </a:p>
          </p:txBody>
        </p:sp>
        <p:sp>
          <p:nvSpPr>
            <p:cNvPr id="38" name="TextBox 37">
              <a:extLst>
                <a:ext uri="{FF2B5EF4-FFF2-40B4-BE49-F238E27FC236}">
                  <a16:creationId xmlns:a16="http://schemas.microsoft.com/office/drawing/2014/main" id="{7CBD5738-45BE-3444-8DAB-7E41B6CB9107}"/>
                </a:ext>
              </a:extLst>
            </p:cNvPr>
            <p:cNvSpPr txBox="1"/>
            <p:nvPr/>
          </p:nvSpPr>
          <p:spPr>
            <a:xfrm>
              <a:off x="7570286" y="3968202"/>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2</a:t>
              </a:r>
            </a:p>
          </p:txBody>
        </p:sp>
        <p:sp>
          <p:nvSpPr>
            <p:cNvPr id="39" name="TextBox 38">
              <a:extLst>
                <a:ext uri="{FF2B5EF4-FFF2-40B4-BE49-F238E27FC236}">
                  <a16:creationId xmlns:a16="http://schemas.microsoft.com/office/drawing/2014/main" id="{5C89E38B-CA12-054C-9B70-DA4206E79E2E}"/>
                </a:ext>
              </a:extLst>
            </p:cNvPr>
            <p:cNvSpPr txBox="1"/>
            <p:nvPr/>
          </p:nvSpPr>
          <p:spPr>
            <a:xfrm>
              <a:off x="7193830" y="3086667"/>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t>
              </a:r>
            </a:p>
          </p:txBody>
        </p:sp>
        <p:cxnSp>
          <p:nvCxnSpPr>
            <p:cNvPr id="40" name="Straight Connector 39">
              <a:extLst>
                <a:ext uri="{FF2B5EF4-FFF2-40B4-BE49-F238E27FC236}">
                  <a16:creationId xmlns:a16="http://schemas.microsoft.com/office/drawing/2014/main" id="{5A1899D4-1ADA-4C44-AB62-F58025C57147}"/>
                </a:ext>
              </a:extLst>
            </p:cNvPr>
            <p:cNvCxnSpPr>
              <a:cxnSpLocks/>
            </p:cNvCxnSpPr>
            <p:nvPr/>
          </p:nvCxnSpPr>
          <p:spPr>
            <a:xfrm flipV="1">
              <a:off x="7009688" y="3528903"/>
              <a:ext cx="272085" cy="38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7BE282B-37D0-0F4E-9BBB-70AA3990EA03}"/>
                </a:ext>
              </a:extLst>
            </p:cNvPr>
            <p:cNvCxnSpPr>
              <a:cxnSpLocks/>
            </p:cNvCxnSpPr>
            <p:nvPr/>
          </p:nvCxnSpPr>
          <p:spPr>
            <a:xfrm flipH="1" flipV="1">
              <a:off x="7424013" y="3508583"/>
              <a:ext cx="309880" cy="406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79F5B08A-3384-B042-9E14-B5514E360FE7}"/>
              </a:ext>
            </a:extLst>
          </p:cNvPr>
          <p:cNvGrpSpPr/>
          <p:nvPr/>
        </p:nvGrpSpPr>
        <p:grpSpPr>
          <a:xfrm>
            <a:off x="4526465" y="1768218"/>
            <a:ext cx="1189970" cy="1030731"/>
            <a:chOff x="547917" y="4028649"/>
            <a:chExt cx="1189970" cy="1030731"/>
          </a:xfrm>
        </p:grpSpPr>
        <p:sp>
          <p:nvSpPr>
            <p:cNvPr id="7" name="TextBox 6">
              <a:extLst>
                <a:ext uri="{FF2B5EF4-FFF2-40B4-BE49-F238E27FC236}">
                  <a16:creationId xmlns:a16="http://schemas.microsoft.com/office/drawing/2014/main" id="{5486A66F-8606-9142-A673-9BFA5440FAB1}"/>
                </a:ext>
              </a:extLst>
            </p:cNvPr>
            <p:cNvSpPr txBox="1"/>
            <p:nvPr/>
          </p:nvSpPr>
          <p:spPr>
            <a:xfrm>
              <a:off x="547917" y="4659270"/>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3</a:t>
              </a:r>
            </a:p>
          </p:txBody>
        </p:sp>
        <p:sp>
          <p:nvSpPr>
            <p:cNvPr id="9" name="TextBox 8">
              <a:extLst>
                <a:ext uri="{FF2B5EF4-FFF2-40B4-BE49-F238E27FC236}">
                  <a16:creationId xmlns:a16="http://schemas.microsoft.com/office/drawing/2014/main" id="{88895FE5-A672-F148-91B9-992F54BF3F14}"/>
                </a:ext>
              </a:extLst>
            </p:cNvPr>
            <p:cNvSpPr txBox="1"/>
            <p:nvPr/>
          </p:nvSpPr>
          <p:spPr>
            <a:xfrm>
              <a:off x="1412157" y="4659270"/>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7</a:t>
              </a:r>
            </a:p>
          </p:txBody>
        </p:sp>
        <p:sp>
          <p:nvSpPr>
            <p:cNvPr id="10" name="TextBox 9">
              <a:extLst>
                <a:ext uri="{FF2B5EF4-FFF2-40B4-BE49-F238E27FC236}">
                  <a16:creationId xmlns:a16="http://schemas.microsoft.com/office/drawing/2014/main" id="{9306030D-8482-CD48-9FBC-388DD2DD11C2}"/>
                </a:ext>
              </a:extLst>
            </p:cNvPr>
            <p:cNvSpPr txBox="1"/>
            <p:nvPr/>
          </p:nvSpPr>
          <p:spPr>
            <a:xfrm>
              <a:off x="992112" y="4028649"/>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t>
              </a:r>
            </a:p>
          </p:txBody>
        </p:sp>
        <p:cxnSp>
          <p:nvCxnSpPr>
            <p:cNvPr id="43" name="Straight Connector 42">
              <a:extLst>
                <a:ext uri="{FF2B5EF4-FFF2-40B4-BE49-F238E27FC236}">
                  <a16:creationId xmlns:a16="http://schemas.microsoft.com/office/drawing/2014/main" id="{E9A49C6A-1CF3-4941-814D-80D46DC3897B}"/>
                </a:ext>
              </a:extLst>
            </p:cNvPr>
            <p:cNvCxnSpPr>
              <a:cxnSpLocks/>
            </p:cNvCxnSpPr>
            <p:nvPr/>
          </p:nvCxnSpPr>
          <p:spPr>
            <a:xfrm flipV="1">
              <a:off x="811772" y="4366796"/>
              <a:ext cx="272085" cy="38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0289448-3F43-1542-BB95-28E1AEC60D4D}"/>
                </a:ext>
              </a:extLst>
            </p:cNvPr>
            <p:cNvCxnSpPr>
              <a:cxnSpLocks/>
            </p:cNvCxnSpPr>
            <p:nvPr/>
          </p:nvCxnSpPr>
          <p:spPr>
            <a:xfrm flipH="1" flipV="1">
              <a:off x="1226097" y="4346476"/>
              <a:ext cx="309880" cy="406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5" name="Group 54">
            <a:extLst>
              <a:ext uri="{FF2B5EF4-FFF2-40B4-BE49-F238E27FC236}">
                <a16:creationId xmlns:a16="http://schemas.microsoft.com/office/drawing/2014/main" id="{22A4A27E-608C-0E4C-B48C-67A8C31CE9EE}"/>
              </a:ext>
            </a:extLst>
          </p:cNvPr>
          <p:cNvGrpSpPr/>
          <p:nvPr/>
        </p:nvGrpSpPr>
        <p:grpSpPr>
          <a:xfrm>
            <a:off x="6602202" y="1479029"/>
            <a:ext cx="1616484" cy="1750852"/>
            <a:chOff x="2191122" y="3308528"/>
            <a:chExt cx="1616484" cy="1750852"/>
          </a:xfrm>
        </p:grpSpPr>
        <p:sp>
          <p:nvSpPr>
            <p:cNvPr id="45" name="TextBox 44">
              <a:extLst>
                <a:ext uri="{FF2B5EF4-FFF2-40B4-BE49-F238E27FC236}">
                  <a16:creationId xmlns:a16="http://schemas.microsoft.com/office/drawing/2014/main" id="{089A2ABD-C865-6D4A-8B5E-E00B1074D1D7}"/>
                </a:ext>
              </a:extLst>
            </p:cNvPr>
            <p:cNvSpPr txBox="1"/>
            <p:nvPr/>
          </p:nvSpPr>
          <p:spPr>
            <a:xfrm>
              <a:off x="2617636" y="4659270"/>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3</a:t>
              </a:r>
            </a:p>
          </p:txBody>
        </p:sp>
        <p:sp>
          <p:nvSpPr>
            <p:cNvPr id="46" name="TextBox 45">
              <a:extLst>
                <a:ext uri="{FF2B5EF4-FFF2-40B4-BE49-F238E27FC236}">
                  <a16:creationId xmlns:a16="http://schemas.microsoft.com/office/drawing/2014/main" id="{770BE0E4-DB01-0545-99B0-B9CC9F3C487D}"/>
                </a:ext>
              </a:extLst>
            </p:cNvPr>
            <p:cNvSpPr txBox="1"/>
            <p:nvPr/>
          </p:nvSpPr>
          <p:spPr>
            <a:xfrm>
              <a:off x="3481876" y="4659270"/>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7</a:t>
              </a:r>
            </a:p>
          </p:txBody>
        </p:sp>
        <p:sp>
          <p:nvSpPr>
            <p:cNvPr id="47" name="TextBox 46">
              <a:extLst>
                <a:ext uri="{FF2B5EF4-FFF2-40B4-BE49-F238E27FC236}">
                  <a16:creationId xmlns:a16="http://schemas.microsoft.com/office/drawing/2014/main" id="{F7C2E3B7-F5E1-7D43-B8EF-2F4A61E90401}"/>
                </a:ext>
              </a:extLst>
            </p:cNvPr>
            <p:cNvSpPr txBox="1"/>
            <p:nvPr/>
          </p:nvSpPr>
          <p:spPr>
            <a:xfrm>
              <a:off x="3061831" y="4028649"/>
              <a:ext cx="325730" cy="400110"/>
            </a:xfrm>
            <a:prstGeom prst="rect">
              <a:avLst/>
            </a:prstGeom>
            <a:noFill/>
          </p:spPr>
          <p:txBody>
            <a:bodyPr wrap="none" rtlCol="0">
              <a:spAutoFit/>
            </a:bodyPr>
            <a:lstStyle/>
            <a:p>
              <a:pPr algn="ctr"/>
              <a:r>
                <a:rPr lang="en-US" sz="2000" b="1" dirty="0">
                  <a:latin typeface="Consolas" panose="020B0609020204030204" pitchFamily="49" charset="0"/>
                  <a:cs typeface="Consolas" panose="020B0609020204030204" pitchFamily="49" charset="0"/>
                </a:rPr>
                <a:t>+</a:t>
              </a:r>
            </a:p>
          </p:txBody>
        </p:sp>
        <p:cxnSp>
          <p:nvCxnSpPr>
            <p:cNvPr id="48" name="Straight Connector 47">
              <a:extLst>
                <a:ext uri="{FF2B5EF4-FFF2-40B4-BE49-F238E27FC236}">
                  <a16:creationId xmlns:a16="http://schemas.microsoft.com/office/drawing/2014/main" id="{ECF4AEC8-D3FE-144E-AE75-E55198E38BC2}"/>
                </a:ext>
              </a:extLst>
            </p:cNvPr>
            <p:cNvCxnSpPr>
              <a:cxnSpLocks/>
            </p:cNvCxnSpPr>
            <p:nvPr/>
          </p:nvCxnSpPr>
          <p:spPr>
            <a:xfrm flipV="1">
              <a:off x="2881491" y="4366796"/>
              <a:ext cx="272085" cy="386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32F933B-11F4-C540-BFD8-8B930F19EE8C}"/>
                </a:ext>
              </a:extLst>
            </p:cNvPr>
            <p:cNvCxnSpPr>
              <a:cxnSpLocks/>
            </p:cNvCxnSpPr>
            <p:nvPr/>
          </p:nvCxnSpPr>
          <p:spPr>
            <a:xfrm flipH="1" flipV="1">
              <a:off x="3295816" y="4346476"/>
              <a:ext cx="309880" cy="406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7046105C-7201-7D4D-B256-4BF0CF7FBFC0}"/>
                </a:ext>
              </a:extLst>
            </p:cNvPr>
            <p:cNvSpPr txBox="1"/>
            <p:nvPr/>
          </p:nvSpPr>
          <p:spPr>
            <a:xfrm>
              <a:off x="2632976" y="3308528"/>
              <a:ext cx="325730" cy="400110"/>
            </a:xfrm>
            <a:prstGeom prst="rect">
              <a:avLst/>
            </a:prstGeom>
            <a:noFill/>
          </p:spPr>
          <p:txBody>
            <a:bodyPr wrap="none" rtlCol="0">
              <a:spAutoFit/>
            </a:bodyPr>
            <a:lstStyle/>
            <a:p>
              <a:pPr algn="ctr"/>
              <a:r>
                <a:rPr lang="en-US" sz="2000" b="1" dirty="0">
                  <a:solidFill>
                    <a:srgbClr val="FF0000"/>
                  </a:solidFill>
                  <a:latin typeface="Consolas" panose="020B0609020204030204" pitchFamily="49" charset="0"/>
                  <a:cs typeface="Consolas" panose="020B0609020204030204" pitchFamily="49" charset="0"/>
                </a:rPr>
                <a:t>÷</a:t>
              </a:r>
            </a:p>
          </p:txBody>
        </p:sp>
        <p:sp>
          <p:nvSpPr>
            <p:cNvPr id="51" name="TextBox 50">
              <a:extLst>
                <a:ext uri="{FF2B5EF4-FFF2-40B4-BE49-F238E27FC236}">
                  <a16:creationId xmlns:a16="http://schemas.microsoft.com/office/drawing/2014/main" id="{E40C125A-27B1-704F-A871-546476534C62}"/>
                </a:ext>
              </a:extLst>
            </p:cNvPr>
            <p:cNvSpPr txBox="1"/>
            <p:nvPr/>
          </p:nvSpPr>
          <p:spPr>
            <a:xfrm>
              <a:off x="2191122" y="4014338"/>
              <a:ext cx="325730" cy="400110"/>
            </a:xfrm>
            <a:prstGeom prst="rect">
              <a:avLst/>
            </a:prstGeom>
            <a:noFill/>
          </p:spPr>
          <p:txBody>
            <a:bodyPr wrap="none" rtlCol="0">
              <a:spAutoFit/>
            </a:bodyPr>
            <a:lstStyle/>
            <a:p>
              <a:pPr algn="ctr"/>
              <a:r>
                <a:rPr lang="en-US" sz="2000" b="1" dirty="0">
                  <a:solidFill>
                    <a:srgbClr val="FF0000"/>
                  </a:solidFill>
                  <a:latin typeface="Consolas" panose="020B0609020204030204" pitchFamily="49" charset="0"/>
                  <a:cs typeface="Consolas" panose="020B0609020204030204" pitchFamily="49" charset="0"/>
                </a:rPr>
                <a:t>1</a:t>
              </a:r>
            </a:p>
          </p:txBody>
        </p:sp>
        <p:cxnSp>
          <p:nvCxnSpPr>
            <p:cNvPr id="52" name="Straight Connector 51">
              <a:extLst>
                <a:ext uri="{FF2B5EF4-FFF2-40B4-BE49-F238E27FC236}">
                  <a16:creationId xmlns:a16="http://schemas.microsoft.com/office/drawing/2014/main" id="{343A9FDC-A12A-0648-8230-E24ABE1C6DC5}"/>
                </a:ext>
              </a:extLst>
            </p:cNvPr>
            <p:cNvCxnSpPr>
              <a:cxnSpLocks/>
            </p:cNvCxnSpPr>
            <p:nvPr/>
          </p:nvCxnSpPr>
          <p:spPr>
            <a:xfrm flipV="1">
              <a:off x="2454977" y="3721864"/>
              <a:ext cx="272085" cy="38608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52F1AB6-06B4-FB45-B8F9-79FC86CAAC09}"/>
                </a:ext>
              </a:extLst>
            </p:cNvPr>
            <p:cNvCxnSpPr>
              <a:cxnSpLocks/>
            </p:cNvCxnSpPr>
            <p:nvPr/>
          </p:nvCxnSpPr>
          <p:spPr>
            <a:xfrm flipH="1" flipV="1">
              <a:off x="2869302" y="3701544"/>
              <a:ext cx="309880" cy="4064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8" name="Right Arrow 57">
            <a:extLst>
              <a:ext uri="{FF2B5EF4-FFF2-40B4-BE49-F238E27FC236}">
                <a16:creationId xmlns:a16="http://schemas.microsoft.com/office/drawing/2014/main" id="{DD6DE888-88AA-AF4C-83CA-B7D3EF32970D}"/>
              </a:ext>
            </a:extLst>
          </p:cNvPr>
          <p:cNvSpPr/>
          <p:nvPr/>
        </p:nvSpPr>
        <p:spPr>
          <a:xfrm>
            <a:off x="5938305" y="2154400"/>
            <a:ext cx="514350" cy="40011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ight Arrow 58">
            <a:extLst>
              <a:ext uri="{FF2B5EF4-FFF2-40B4-BE49-F238E27FC236}">
                <a16:creationId xmlns:a16="http://schemas.microsoft.com/office/drawing/2014/main" id="{0A14AFAC-3299-FC4A-9BC9-54D4011F8EEC}"/>
              </a:ext>
            </a:extLst>
          </p:cNvPr>
          <p:cNvSpPr/>
          <p:nvPr/>
        </p:nvSpPr>
        <p:spPr>
          <a:xfrm>
            <a:off x="5972737" y="3994471"/>
            <a:ext cx="514350" cy="40011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D4F98F4E-0340-9C47-A2AF-0A74E188D31F}"/>
              </a:ext>
            </a:extLst>
          </p:cNvPr>
          <p:cNvSpPr txBox="1"/>
          <p:nvPr/>
        </p:nvSpPr>
        <p:spPr>
          <a:xfrm>
            <a:off x="533400" y="1799783"/>
            <a:ext cx="3988027" cy="1107996"/>
          </a:xfrm>
          <a:prstGeom prst="rect">
            <a:avLst/>
          </a:prstGeom>
          <a:noFill/>
        </p:spPr>
        <p:txBody>
          <a:bodyPr wrap="square" rtlCol="0">
            <a:spAutoFit/>
          </a:bodyPr>
          <a:lstStyle/>
          <a:p>
            <a:pPr algn="ctr"/>
            <a:r>
              <a:rPr lang="en-US" sz="2200" dirty="0"/>
              <a:t>doing "one over" means adding two new nodes and making the division the root.</a:t>
            </a:r>
          </a:p>
        </p:txBody>
      </p:sp>
      <p:sp>
        <p:nvSpPr>
          <p:cNvPr id="61" name="TextBox 60">
            <a:extLst>
              <a:ext uri="{FF2B5EF4-FFF2-40B4-BE49-F238E27FC236}">
                <a16:creationId xmlns:a16="http://schemas.microsoft.com/office/drawing/2014/main" id="{4CF76C1E-EF2E-6246-8482-0DF76C6C5DF7}"/>
              </a:ext>
            </a:extLst>
          </p:cNvPr>
          <p:cNvSpPr txBox="1"/>
          <p:nvPr/>
        </p:nvSpPr>
        <p:spPr>
          <a:xfrm>
            <a:off x="573750" y="3809805"/>
            <a:ext cx="3988027" cy="769441"/>
          </a:xfrm>
          <a:prstGeom prst="rect">
            <a:avLst/>
          </a:prstGeom>
          <a:noFill/>
        </p:spPr>
        <p:txBody>
          <a:bodyPr wrap="square" rtlCol="0">
            <a:spAutoFit/>
          </a:bodyPr>
          <a:lstStyle/>
          <a:p>
            <a:pPr algn="ctr"/>
            <a:r>
              <a:rPr lang="en-US" sz="2200" dirty="0"/>
              <a:t>of course, if the input </a:t>
            </a:r>
            <a:r>
              <a:rPr lang="en-US" sz="2200" i="1" dirty="0"/>
              <a:t>is</a:t>
            </a:r>
            <a:r>
              <a:rPr lang="en-US" sz="2200" dirty="0"/>
              <a:t> a division, we can special-case it.</a:t>
            </a:r>
          </a:p>
        </p:txBody>
      </p:sp>
      <p:sp>
        <p:nvSpPr>
          <p:cNvPr id="62" name="TextBox 61">
            <a:extLst>
              <a:ext uri="{FF2B5EF4-FFF2-40B4-BE49-F238E27FC236}">
                <a16:creationId xmlns:a16="http://schemas.microsoft.com/office/drawing/2014/main" id="{C56F26A7-1B3E-B34D-9C79-8F31ADF625E0}"/>
              </a:ext>
            </a:extLst>
          </p:cNvPr>
          <p:cNvSpPr txBox="1"/>
          <p:nvPr/>
        </p:nvSpPr>
        <p:spPr>
          <a:xfrm>
            <a:off x="611484" y="5000037"/>
            <a:ext cx="7694316" cy="430887"/>
          </a:xfrm>
          <a:prstGeom prst="rect">
            <a:avLst/>
          </a:prstGeom>
          <a:noFill/>
        </p:spPr>
        <p:txBody>
          <a:bodyPr wrap="square" rtlCol="0">
            <a:spAutoFit/>
          </a:bodyPr>
          <a:lstStyle/>
          <a:p>
            <a:pPr algn="ctr"/>
            <a:r>
              <a:rPr lang="en-US" sz="2200" dirty="0"/>
              <a:t>this is what </a:t>
            </a:r>
            <a:r>
              <a:rPr lang="en-US" sz="2200" b="1" dirty="0" err="1">
                <a:latin typeface="Consolas" panose="020B0609020204030204" pitchFamily="49" charset="0"/>
                <a:cs typeface="Consolas" panose="020B0609020204030204" pitchFamily="49" charset="0"/>
              </a:rPr>
              <a:t>AstNode</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recip</a:t>
            </a:r>
            <a:r>
              <a:rPr lang="en-US" sz="2200" dirty="0"/>
              <a:t> in the example does!</a:t>
            </a:r>
          </a:p>
        </p:txBody>
      </p:sp>
    </p:spTree>
    <p:extLst>
      <p:ext uri="{BB962C8B-B14F-4D97-AF65-F5344CB8AC3E}">
        <p14:creationId xmlns:p14="http://schemas.microsoft.com/office/powerpoint/2010/main" val="31853081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nimBg="1"/>
      <p:bldP spid="60" grpId="0"/>
      <p:bldP spid="61" grpId="0"/>
      <p:bldP spid="6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F7724-D89B-1346-A5C7-BDE91771E604}"/>
              </a:ext>
            </a:extLst>
          </p:cNvPr>
          <p:cNvSpPr>
            <a:spLocks noGrp="1"/>
          </p:cNvSpPr>
          <p:nvPr>
            <p:ph type="title"/>
          </p:nvPr>
        </p:nvSpPr>
        <p:spPr/>
        <p:txBody>
          <a:bodyPr/>
          <a:lstStyle/>
          <a:p>
            <a:r>
              <a:rPr lang="en-US" dirty="0"/>
              <a:t>What if the </a:t>
            </a:r>
            <a:r>
              <a:rPr lang="en-US" i="1" dirty="0"/>
              <a:t>programmer</a:t>
            </a:r>
            <a:r>
              <a:rPr lang="en-US" dirty="0"/>
              <a:t> could do that?</a:t>
            </a:r>
          </a:p>
        </p:txBody>
      </p:sp>
      <p:sp>
        <p:nvSpPr>
          <p:cNvPr id="3" name="Content Placeholder 2">
            <a:extLst>
              <a:ext uri="{FF2B5EF4-FFF2-40B4-BE49-F238E27FC236}">
                <a16:creationId xmlns:a16="http://schemas.microsoft.com/office/drawing/2014/main" id="{056C8B46-FE48-8045-AC8E-A3B604FCCAA1}"/>
              </a:ext>
            </a:extLst>
          </p:cNvPr>
          <p:cNvSpPr>
            <a:spLocks noGrp="1"/>
          </p:cNvSpPr>
          <p:nvPr>
            <p:ph idx="1"/>
          </p:nvPr>
        </p:nvSpPr>
        <p:spPr/>
        <p:txBody>
          <a:bodyPr/>
          <a:lstStyle/>
          <a:p>
            <a:r>
              <a:rPr lang="en-US" dirty="0"/>
              <a:t>some languages have </a:t>
            </a:r>
            <a:r>
              <a:rPr lang="en-US" b="1" dirty="0"/>
              <a:t>macros: </a:t>
            </a:r>
            <a:r>
              <a:rPr lang="en-US" dirty="0"/>
              <a:t>things that </a:t>
            </a:r>
            <a:r>
              <a:rPr lang="en-US" i="1" dirty="0"/>
              <a:t>look</a:t>
            </a:r>
            <a:r>
              <a:rPr lang="en-US" dirty="0"/>
              <a:t> like functions, but which operate </a:t>
            </a:r>
            <a:r>
              <a:rPr lang="en-US" b="1" dirty="0"/>
              <a:t>on the AST at compile-time.</a:t>
            </a:r>
          </a:p>
          <a:p>
            <a:pPr lvl="1"/>
            <a:r>
              <a:rPr lang="en-US" dirty="0"/>
              <a:t>that’s really what </a:t>
            </a:r>
            <a:r>
              <a:rPr lang="en-US" b="1" dirty="0" err="1">
                <a:latin typeface="Consolas" panose="020B0609020204030204" pitchFamily="49" charset="0"/>
                <a:cs typeface="Consolas" panose="020B0609020204030204" pitchFamily="49" charset="0"/>
              </a:rPr>
              <a:t>println</a:t>
            </a:r>
            <a:r>
              <a:rPr lang="en-US" b="1" dirty="0">
                <a:latin typeface="Consolas" panose="020B0609020204030204" pitchFamily="49" charset="0"/>
                <a:cs typeface="Consolas" panose="020B0609020204030204" pitchFamily="49" charset="0"/>
              </a:rPr>
              <a:t>!()</a:t>
            </a:r>
            <a:r>
              <a:rPr lang="en-US" dirty="0"/>
              <a:t> is!</a:t>
            </a:r>
          </a:p>
          <a:p>
            <a:pPr lvl="1"/>
            <a:r>
              <a:rPr lang="en-US" dirty="0"/>
              <a:t>the details of how </a:t>
            </a:r>
            <a:r>
              <a:rPr lang="en-US" b="1" dirty="0" err="1">
                <a:latin typeface="Consolas" panose="020B0609020204030204" pitchFamily="49" charset="0"/>
                <a:cs typeface="Consolas" panose="020B0609020204030204" pitchFamily="49" charset="0"/>
              </a:rPr>
              <a:t>println</a:t>
            </a:r>
            <a:r>
              <a:rPr lang="en-US" b="1" dirty="0">
                <a:latin typeface="Consolas" panose="020B0609020204030204" pitchFamily="49" charset="0"/>
                <a:cs typeface="Consolas" panose="020B0609020204030204" pitchFamily="49" charset="0"/>
              </a:rPr>
              <a:t>!()</a:t>
            </a:r>
            <a:r>
              <a:rPr lang="en-US" dirty="0"/>
              <a:t> works are beyond the scope of this lecture but that's why it yells: it's a </a:t>
            </a:r>
            <a:r>
              <a:rPr lang="en-US" i="1" dirty="0"/>
              <a:t>macro,</a:t>
            </a:r>
            <a:r>
              <a:rPr lang="en-US" dirty="0"/>
              <a:t> not a function. it generates different ASTs based on what arguments you give it.</a:t>
            </a:r>
          </a:p>
          <a:p>
            <a:r>
              <a:rPr lang="en-US" dirty="0"/>
              <a:t>if you've experienced C's </a:t>
            </a:r>
            <a:r>
              <a:rPr lang="en-US" i="1" dirty="0"/>
              <a:t>preprocessor macros </a:t>
            </a:r>
            <a:r>
              <a:rPr lang="en-US" dirty="0"/>
              <a:t>(</a:t>
            </a:r>
            <a:r>
              <a:rPr lang="en-US" b="1" dirty="0">
                <a:latin typeface="Consolas" panose="020B0609020204030204" pitchFamily="49" charset="0"/>
                <a:cs typeface="Consolas" panose="020B0609020204030204" pitchFamily="49" charset="0"/>
              </a:rPr>
              <a:t>#define</a:t>
            </a:r>
            <a:r>
              <a:rPr lang="en-US" dirty="0"/>
              <a:t>), those are similar, but they operate on </a:t>
            </a:r>
            <a:r>
              <a:rPr lang="en-US" b="1" dirty="0"/>
              <a:t>tokens</a:t>
            </a:r>
            <a:r>
              <a:rPr lang="en-US" dirty="0"/>
              <a:t> instead of the AST.</a:t>
            </a:r>
          </a:p>
          <a:p>
            <a:pPr lvl="1"/>
            <a:r>
              <a:rPr lang="en-US" dirty="0"/>
              <a:t>still, you can do some impressive stuff with them!</a:t>
            </a:r>
          </a:p>
        </p:txBody>
      </p:sp>
      <p:sp>
        <p:nvSpPr>
          <p:cNvPr id="4" name="Slide Number Placeholder 3">
            <a:extLst>
              <a:ext uri="{FF2B5EF4-FFF2-40B4-BE49-F238E27FC236}">
                <a16:creationId xmlns:a16="http://schemas.microsoft.com/office/drawing/2014/main" id="{AF801DD7-EA33-B849-AA3F-25218AB9981B}"/>
              </a:ext>
            </a:extLst>
          </p:cNvPr>
          <p:cNvSpPr>
            <a:spLocks noGrp="1"/>
          </p:cNvSpPr>
          <p:nvPr>
            <p:ph type="sldNum" sz="quarter" idx="12"/>
          </p:nvPr>
        </p:nvSpPr>
        <p:spPr/>
        <p:txBody>
          <a:bodyPr/>
          <a:lstStyle/>
          <a:p>
            <a:fld id="{3552B95B-556F-44BD-91A5-D80C1B9E2BB3}" type="slidenum">
              <a:rPr lang="en-US" smtClean="0"/>
              <a:pPr/>
              <a:t>28</a:t>
            </a:fld>
            <a:endParaRPr lang="en-US"/>
          </a:p>
        </p:txBody>
      </p:sp>
    </p:spTree>
    <p:extLst>
      <p:ext uri="{BB962C8B-B14F-4D97-AF65-F5344CB8AC3E}">
        <p14:creationId xmlns:p14="http://schemas.microsoft.com/office/powerpoint/2010/main" val="155275822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0FF8C-1174-A848-AC34-D9E7AA001E6A}"/>
              </a:ext>
            </a:extLst>
          </p:cNvPr>
          <p:cNvSpPr>
            <a:spLocks noGrp="1"/>
          </p:cNvSpPr>
          <p:nvPr>
            <p:ph type="title"/>
          </p:nvPr>
        </p:nvSpPr>
        <p:spPr/>
        <p:txBody>
          <a:bodyPr/>
          <a:lstStyle/>
          <a:p>
            <a:r>
              <a:rPr lang="en-US" dirty="0"/>
              <a:t>Ok, but, how does the AST get built</a:t>
            </a:r>
          </a:p>
        </p:txBody>
      </p:sp>
      <p:sp>
        <p:nvSpPr>
          <p:cNvPr id="3" name="Content Placeholder 2">
            <a:extLst>
              <a:ext uri="{FF2B5EF4-FFF2-40B4-BE49-F238E27FC236}">
                <a16:creationId xmlns:a16="http://schemas.microsoft.com/office/drawing/2014/main" id="{C3A5C794-AFFE-2148-97F2-AAECE6283C8E}"/>
              </a:ext>
            </a:extLst>
          </p:cNvPr>
          <p:cNvSpPr>
            <a:spLocks noGrp="1"/>
          </p:cNvSpPr>
          <p:nvPr>
            <p:ph idx="1"/>
          </p:nvPr>
        </p:nvSpPr>
        <p:spPr/>
        <p:txBody>
          <a:bodyPr/>
          <a:lstStyle/>
          <a:p>
            <a:r>
              <a:rPr lang="en-US" dirty="0" err="1"/>
              <a:t>uhhhhhhhhhhhhhhhh</a:t>
            </a:r>
            <a:r>
              <a:rPr lang="en-US" dirty="0"/>
              <a:t> </a:t>
            </a:r>
            <a:r>
              <a:rPr lang="en-US" dirty="0" err="1"/>
              <a:t>wellll</a:t>
            </a:r>
            <a:r>
              <a:rPr lang="en-US" dirty="0"/>
              <a:t> </a:t>
            </a:r>
          </a:p>
          <a:p>
            <a:pPr lvl="1"/>
            <a:r>
              <a:rPr lang="en-US" dirty="0"/>
              <a:t>parsing!!!!!!</a:t>
            </a:r>
          </a:p>
          <a:p>
            <a:pPr lvl="1"/>
            <a:r>
              <a:rPr lang="en-US" dirty="0"/>
              <a:t>parsing is definitely more complicated than lexing</a:t>
            </a:r>
          </a:p>
          <a:p>
            <a:pPr lvl="1"/>
            <a:r>
              <a:rPr lang="en-US" dirty="0"/>
              <a:t>which is why we have the next </a:t>
            </a:r>
            <a:r>
              <a:rPr lang="en-US" i="1" dirty="0"/>
              <a:t>two </a:t>
            </a:r>
            <a:r>
              <a:rPr lang="en-US" dirty="0"/>
              <a:t>lectures dedicated to it.</a:t>
            </a:r>
          </a:p>
          <a:p>
            <a:r>
              <a:rPr lang="en-US" dirty="0"/>
              <a:t>but that's all for today. good luck on the project, have a nice break, and </a:t>
            </a:r>
            <a:r>
              <a:rPr lang="en-US" b="1" dirty="0"/>
              <a:t>see you in a week!</a:t>
            </a:r>
          </a:p>
        </p:txBody>
      </p:sp>
      <p:sp>
        <p:nvSpPr>
          <p:cNvPr id="4" name="Slide Number Placeholder 3">
            <a:extLst>
              <a:ext uri="{FF2B5EF4-FFF2-40B4-BE49-F238E27FC236}">
                <a16:creationId xmlns:a16="http://schemas.microsoft.com/office/drawing/2014/main" id="{6FE47D7B-2D3E-894F-9B4C-F0D604AD8957}"/>
              </a:ext>
            </a:extLst>
          </p:cNvPr>
          <p:cNvSpPr>
            <a:spLocks noGrp="1"/>
          </p:cNvSpPr>
          <p:nvPr>
            <p:ph type="sldNum" sz="quarter" idx="12"/>
          </p:nvPr>
        </p:nvSpPr>
        <p:spPr/>
        <p:txBody>
          <a:bodyPr/>
          <a:lstStyle/>
          <a:p>
            <a:fld id="{3552B95B-556F-44BD-91A5-D80C1B9E2BB3}" type="slidenum">
              <a:rPr lang="en-US" smtClean="0"/>
              <a:pPr/>
              <a:t>29</a:t>
            </a:fld>
            <a:endParaRPr lang="en-US"/>
          </a:p>
        </p:txBody>
      </p:sp>
    </p:spTree>
    <p:extLst>
      <p:ext uri="{BB962C8B-B14F-4D97-AF65-F5344CB8AC3E}">
        <p14:creationId xmlns:p14="http://schemas.microsoft.com/office/powerpoint/2010/main" val="266890752"/>
      </p:ext>
    </p:extLst>
  </p:cSld>
  <p:clrMapOvr>
    <a:masterClrMapping/>
  </p:clrMapOvr>
  <p:transition/>
</p:sld>
</file>

<file path=ppt/theme/theme1.xml><?xml version="1.0" encoding="utf-8"?>
<a:theme xmlns:a="http://schemas.openxmlformats.org/drawingml/2006/main" name="02 - C - Basics">
  <a:themeElements>
    <a:clrScheme name="Custom 2">
      <a:dk1>
        <a:srgbClr val="000000"/>
      </a:dk1>
      <a:lt1>
        <a:srgbClr val="FFFFFF"/>
      </a:lt1>
      <a:dk2>
        <a:srgbClr val="3B481E"/>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Segoe WP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lides_fall_2017" id="{93D034CE-FEB5-4D4D-96F7-6B7F8A5EB99A}" vid="{194AE869-5029-ED49-81EA-C574BDDBE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01 - Welcome and Review</Template>
  <TotalTime>23224</TotalTime>
  <Words>3354</Words>
  <Application>Microsoft Macintosh PowerPoint</Application>
  <PresentationFormat>On-screen Show (16:10)</PresentationFormat>
  <Paragraphs>450</Paragraphs>
  <Slides>29</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Calibri</vt:lpstr>
      <vt:lpstr>Consolas</vt:lpstr>
      <vt:lpstr>Courier New</vt:lpstr>
      <vt:lpstr>Segoe UI</vt:lpstr>
      <vt:lpstr>Segoe WP Semibold</vt:lpstr>
      <vt:lpstr>Trebuchet MS</vt:lpstr>
      <vt:lpstr>Wingdings</vt:lpstr>
      <vt:lpstr>02 - C - Basics</vt:lpstr>
      <vt:lpstr>CFGs and ASTs</vt:lpstr>
      <vt:lpstr>Class Announcements</vt:lpstr>
      <vt:lpstr>Beyond Regular Grammars</vt:lpstr>
      <vt:lpstr>Regular?</vt:lpstr>
      <vt:lpstr>Another way to look at it</vt:lpstr>
      <vt:lpstr>A whole new world</vt:lpstr>
      <vt:lpstr>So what can they do?</vt:lpstr>
      <vt:lpstr>But what can't they do?</vt:lpstr>
      <vt:lpstr>ASTs</vt:lpstr>
      <vt:lpstr>From lexical to syntactic</vt:lpstr>
      <vt:lpstr>A tree of the syntax, which is abstract</vt:lpstr>
      <vt:lpstr>Why is it called "abstract"?</vt:lpstr>
      <vt:lpstr>Values, expressions, and statements</vt:lpstr>
      <vt:lpstr>What about Rust?</vt:lpstr>
      <vt:lpstr>Trees in Rust</vt:lpstr>
      <vt:lpstr>In Java…</vt:lpstr>
      <vt:lpstr>Doing it in Rust?</vt:lpstr>
      <vt:lpstr>I would not eat them with a fox</vt:lpstr>
      <vt:lpstr>Curses! Foiled again!</vt:lpstr>
      <vt:lpstr>Option&lt;Box&lt;Node&lt;T&gt;&gt;&gt;? That's… verbose</vt:lpstr>
      <vt:lpstr>A brief digression on Option</vt:lpstr>
      <vt:lpstr>Defining and using an AST</vt:lpstr>
      <vt:lpstr>Before we get to a real language…</vt:lpstr>
      <vt:lpstr>Representing this tree</vt:lpstr>
      <vt:lpstr>Recursion Refresher</vt:lpstr>
      <vt:lpstr>Trees ♥ Recursion</vt:lpstr>
      <vt:lpstr>What else could you do with them?</vt:lpstr>
      <vt:lpstr>What if the programmer could do that?</vt:lpstr>
      <vt:lpstr>Ok, but, how does the AST get built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Intro to Computer Architecture!</dc:title>
  <dc:creator>me</dc:creator>
  <cp:lastModifiedBy>Billingsley, Jarrett F</cp:lastModifiedBy>
  <cp:revision>613</cp:revision>
  <dcterms:created xsi:type="dcterms:W3CDTF">2017-01-05T04:29:56Z</dcterms:created>
  <dcterms:modified xsi:type="dcterms:W3CDTF">2022-05-25T02:20:23Z</dcterms:modified>
</cp:coreProperties>
</file>