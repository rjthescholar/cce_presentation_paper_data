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3"/>
  </p:notesMasterIdLst>
  <p:sldIdLst>
    <p:sldId id="256" r:id="rId2"/>
    <p:sldId id="519" r:id="rId3"/>
    <p:sldId id="639" r:id="rId4"/>
    <p:sldId id="640" r:id="rId5"/>
    <p:sldId id="641" r:id="rId6"/>
    <p:sldId id="642" r:id="rId7"/>
    <p:sldId id="643" r:id="rId8"/>
    <p:sldId id="527" r:id="rId9"/>
    <p:sldId id="635" r:id="rId10"/>
    <p:sldId id="636" r:id="rId11"/>
    <p:sldId id="637" r:id="rId12"/>
    <p:sldId id="662" r:id="rId13"/>
    <p:sldId id="638" r:id="rId14"/>
    <p:sldId id="644" r:id="rId15"/>
    <p:sldId id="645" r:id="rId16"/>
    <p:sldId id="646" r:id="rId17"/>
    <p:sldId id="647" r:id="rId18"/>
    <p:sldId id="648" r:id="rId19"/>
    <p:sldId id="649" r:id="rId20"/>
    <p:sldId id="650" r:id="rId21"/>
    <p:sldId id="651" r:id="rId22"/>
    <p:sldId id="652" r:id="rId23"/>
    <p:sldId id="653" r:id="rId24"/>
    <p:sldId id="654" r:id="rId25"/>
    <p:sldId id="655" r:id="rId26"/>
    <p:sldId id="656" r:id="rId27"/>
    <p:sldId id="657" r:id="rId28"/>
    <p:sldId id="658" r:id="rId29"/>
    <p:sldId id="659" r:id="rId30"/>
    <p:sldId id="660" r:id="rId31"/>
    <p:sldId id="661" r:id="rId32"/>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999D"/>
    <a:srgbClr val="B7D4D9"/>
    <a:srgbClr val="FFDF7F"/>
    <a:srgbClr val="6098C0"/>
    <a:srgbClr val="58B080"/>
    <a:srgbClr val="FF7F81"/>
    <a:srgbClr val="000000"/>
    <a:srgbClr val="FF6567"/>
    <a:srgbClr val="FF3200"/>
    <a:srgbClr val="FF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15" autoAdjust="0"/>
    <p:restoredTop sz="89437" autoAdjust="0"/>
  </p:normalViewPr>
  <p:slideViewPr>
    <p:cSldViewPr>
      <p:cViewPr varScale="1">
        <p:scale>
          <a:sx n="132" d="100"/>
          <a:sy n="132" d="100"/>
        </p:scale>
        <p:origin x="1264" y="160"/>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7/5/22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okay </a:t>
            </a:r>
            <a:r>
              <a:rPr lang="en-US" i="1" dirty="0"/>
              <a:t>technically</a:t>
            </a:r>
            <a:r>
              <a:rPr lang="en-US" i="0" dirty="0"/>
              <a:t> it's the </a:t>
            </a:r>
            <a:r>
              <a:rPr lang="en-US" i="1" dirty="0"/>
              <a:t>linker</a:t>
            </a:r>
            <a:r>
              <a:rPr lang="en-US" i="0" dirty="0"/>
              <a:t> that assigns the final locations but you get the point.</a:t>
            </a:r>
          </a:p>
          <a:p>
            <a:r>
              <a:rPr lang="en-US" dirty="0"/>
              <a:t>- </a:t>
            </a:r>
            <a:r>
              <a:rPr lang="en-US" dirty="0" err="1"/>
              <a:t>globals</a:t>
            </a:r>
            <a:r>
              <a:rPr lang="en-US" dirty="0"/>
              <a:t>' initializers (here, the 10 and 20) are stored in the </a:t>
            </a:r>
            <a:r>
              <a:rPr lang="en-US" b="1" dirty="0"/>
              <a:t>.data</a:t>
            </a:r>
            <a:r>
              <a:rPr lang="en-US" dirty="0"/>
              <a:t> segment in the executable</a:t>
            </a:r>
          </a:p>
          <a:p>
            <a:r>
              <a:rPr lang="en-US" dirty="0"/>
              <a:t>	- this is then loaded directly into RAM when your program is loaded, so they're already initialized by the time it starts running.</a:t>
            </a:r>
          </a:p>
          <a:p>
            <a:r>
              <a:rPr lang="en-US" dirty="0"/>
              <a:t>- you can also see </a:t>
            </a:r>
            <a:r>
              <a:rPr lang="en-US" dirty="0" err="1"/>
              <a:t>globals</a:t>
            </a:r>
            <a:r>
              <a:rPr lang="en-US" dirty="0"/>
              <a:t> in object files' symbol tables.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3601626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ok </a:t>
            </a:r>
            <a:r>
              <a:rPr lang="en-US" i="1" dirty="0"/>
              <a:t>technically</a:t>
            </a:r>
            <a:r>
              <a:rPr lang="en-US" dirty="0"/>
              <a:t> it's </a:t>
            </a:r>
            <a:r>
              <a:rPr lang="en-US" i="1" dirty="0"/>
              <a:t>possible</a:t>
            </a:r>
            <a:r>
              <a:rPr lang="en-US" dirty="0"/>
              <a:t> to have a limited form of "variable number of variables"; see </a:t>
            </a:r>
            <a:r>
              <a:rPr lang="en-US" b="1" dirty="0" err="1"/>
              <a:t>alloca</a:t>
            </a:r>
            <a:r>
              <a:rPr lang="en-US" dirty="0"/>
              <a:t> and </a:t>
            </a:r>
            <a:r>
              <a:rPr lang="en-US" b="1" dirty="0"/>
              <a:t>VLAs</a:t>
            </a:r>
            <a:r>
              <a:rPr lang="en-US" dirty="0"/>
              <a:t> in C</a:t>
            </a:r>
          </a:p>
          <a:p>
            <a:r>
              <a:rPr lang="en-US" dirty="0"/>
              <a:t>	- but you are still limited by the size of the stack (not big) and by the stack allocation/deallocation pattern</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1075378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remember how the stack grows </a:t>
            </a:r>
            <a:r>
              <a:rPr lang="en-US" i="1" dirty="0"/>
              <a:t>down</a:t>
            </a:r>
            <a:r>
              <a:rPr lang="en-US" i="0" dirty="0"/>
              <a:t> when you push onto it? ;o</a:t>
            </a:r>
          </a:p>
          <a:p>
            <a:pPr marL="171450" indent="-171450">
              <a:buFontTx/>
              <a:buChar char="-"/>
            </a:pPr>
            <a:endParaRPr lang="en-US" i="0" dirty="0"/>
          </a:p>
          <a:p>
            <a:pPr marL="0" indent="0">
              <a:buFontTx/>
              <a:buNone/>
            </a:pPr>
            <a:r>
              <a:rPr lang="en-US" i="0" dirty="0"/>
              <a:t>[diagram: a stack. 10 is on top and 3 is below it. then we push three new values onto it. then we pop those values, leaving us with 10 and 3 again… but the space for those 3 values we pushed is still there. that space is reused when we push another value.]</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2842121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or maybe </a:t>
            </a:r>
            <a:r>
              <a:rPr lang="en-US" dirty="0" err="1"/>
              <a:t>globals</a:t>
            </a:r>
            <a:r>
              <a:rPr lang="en-US" dirty="0"/>
              <a:t>' owner is the operating system…? lol, distinction without a difference</a:t>
            </a:r>
          </a:p>
          <a:p>
            <a:pPr marL="171450" indent="-171450">
              <a:buFontTx/>
              <a:buChar char="-"/>
            </a:pPr>
            <a:r>
              <a:rPr lang="en-US" dirty="0"/>
              <a:t>if you want to get specific, locals can be deallocated the moment they go out of scope, but in practice they’re usually deallocated all at once when the function returns.</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155432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word is just a sequence of squiggles or patterns of air pressure. the word is not the meaning behind it.</a:t>
            </a:r>
          </a:p>
          <a:p>
            <a:r>
              <a:rPr lang="en-US" dirty="0"/>
              <a:t>- pointing is a surprisingly abstract concept. most animals don't understand it. lots of dogs do, lots of cats don’t.</a:t>
            </a:r>
          </a:p>
          <a:p>
            <a:pPr marL="171450" indent="-171450">
              <a:buFontTx/>
              <a:buChar char="-"/>
            </a:pPr>
            <a:r>
              <a:rPr lang="en-US" dirty="0"/>
              <a:t>I </a:t>
            </a:r>
            <a:r>
              <a:rPr lang="en-US" i="1" dirty="0"/>
              <a:t>could</a:t>
            </a:r>
            <a:r>
              <a:rPr lang="en-US" i="0" dirty="0"/>
              <a:t> pick up the cat and give it to you, but I can't pick up a house and give it to you, so referring to it indirectly is my only option.</a:t>
            </a:r>
          </a:p>
          <a:p>
            <a:pPr marL="171450" indent="-171450">
              <a:buFontTx/>
              <a:buChar char="-"/>
            </a:pPr>
            <a:endParaRPr lang="en-US" i="0" dirty="0"/>
          </a:p>
          <a:p>
            <a:pPr marL="0" indent="0">
              <a:buFontTx/>
              <a:buNone/>
            </a:pPr>
            <a:r>
              <a:rPr lang="en-US" i="0" dirty="0"/>
              <a:t>[diagram: a hand pointing at a cat. also, a row of houses on a street numbered 121, 123, 125, 127, and 129.]</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132045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1: an array of 7 items, each 64 </a:t>
            </a:r>
            <a:r>
              <a:rPr lang="en-US" dirty="0" err="1"/>
              <a:t>kiB</a:t>
            </a:r>
            <a:r>
              <a:rPr lang="en-US" dirty="0"/>
              <a:t> in size. they’re easy to refer to by their array index, though.]</a:t>
            </a:r>
          </a:p>
          <a:p>
            <a:r>
              <a:rPr lang="en-US" dirty="0"/>
              <a:t>[diagram 2: an array of 7 bytes in memory. each byte has an address, which is like its “index” into the “array of memory”.]</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354788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 will contain 1, because </a:t>
            </a:r>
            <a:r>
              <a:rPr lang="en-US" b="1" dirty="0"/>
              <a:t>*r</a:t>
            </a:r>
            <a:r>
              <a:rPr lang="en-US" dirty="0"/>
              <a:t> gets x's value indirectly.</a:t>
            </a:r>
          </a:p>
          <a:p>
            <a:r>
              <a:rPr lang="en-US" dirty="0"/>
              <a:t>- if I do </a:t>
            </a:r>
            <a:r>
              <a:rPr lang="en-US" b="1" dirty="0"/>
              <a:t>let </a:t>
            </a:r>
            <a:r>
              <a:rPr lang="en-US" b="1" dirty="0" err="1"/>
              <a:t>rr</a:t>
            </a:r>
            <a:r>
              <a:rPr lang="en-US" b="1" dirty="0"/>
              <a:t> = &amp;r;</a:t>
            </a:r>
            <a:r>
              <a:rPr lang="en-US" dirty="0"/>
              <a:t> I now have a </a:t>
            </a:r>
            <a:r>
              <a:rPr lang="en-US" i="1" dirty="0"/>
              <a:t>reference to a reference</a:t>
            </a:r>
            <a:r>
              <a:rPr lang="en-US" i="0" dirty="0"/>
              <a:t> to an int. so, two arrows!</a:t>
            </a:r>
          </a:p>
          <a:p>
            <a:r>
              <a:rPr lang="en-US" i="0" dirty="0"/>
              <a:t>	- I can get the original int by doing </a:t>
            </a:r>
            <a:r>
              <a:rPr lang="en-US" b="1" i="0" dirty="0"/>
              <a:t>**r</a:t>
            </a:r>
            <a:endParaRPr lang="en-US" b="1" dirty="0"/>
          </a:p>
          <a:p>
            <a:r>
              <a:rPr lang="en-US" dirty="0"/>
              <a:t>- C only has pointers (int* p). pointers can point anywhere, and you can calculate new pointers from existing ones. it's super unsafe.</a:t>
            </a:r>
          </a:p>
          <a:p>
            <a:r>
              <a:rPr lang="en-US" dirty="0"/>
              <a:t>- C++ has both pointers (int* p) and references (int&amp; r). References were introduced to be a "safer" kind of pointer…</a:t>
            </a:r>
          </a:p>
          <a:p>
            <a:r>
              <a:rPr lang="en-US" dirty="0"/>
              <a:t>	- but it doesn't mean much when you can still very easily step around the type system at any time.</a:t>
            </a:r>
          </a:p>
          <a:p>
            <a:r>
              <a:rPr lang="en-US" dirty="0"/>
              <a:t>- Java's object variables are "references," meaning they're just pointers.</a:t>
            </a:r>
          </a:p>
          <a:p>
            <a:r>
              <a:rPr lang="en-US" dirty="0"/>
              <a:t>	- you are very limited in what you can put into those references. they'll always either point to a valid object, or null.</a:t>
            </a:r>
          </a:p>
          <a:p>
            <a:endParaRPr lang="en-US" dirty="0"/>
          </a:p>
          <a:p>
            <a:r>
              <a:rPr lang="en-US" dirty="0"/>
              <a:t>[diagram: we have two </a:t>
            </a:r>
            <a:r>
              <a:rPr lang="en-US" dirty="0" err="1"/>
              <a:t>int</a:t>
            </a:r>
            <a:r>
              <a:rPr lang="en-US" dirty="0"/>
              <a:t> variables, x = 1 and y = 5. then we have a reference variable r which points to x. on the stack, x’s value is 1, y’s value is 5, and r’s value is the memory address of x. when we use the dereference operator “*r”, that “follows the arrow” and accesses the value that r points to – here, x.]</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566679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Rust has a number of rules for adding implicit dereference operations in several places, to make using references more ergonomic. </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1883253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sure, you can use recursion to get more local variables, </a:t>
            </a:r>
            <a:r>
              <a:rPr lang="en-US" i="1" dirty="0"/>
              <a:t>but only to a small extent.</a:t>
            </a:r>
            <a:r>
              <a:rPr lang="en-US" i="0" dirty="0"/>
              <a:t> </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most languages aren't designed for it, and most operating systems limit the stack to a relatively small size.</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data structures also require indirection to represent connections between things.</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that doesn't mean we have to use </a:t>
            </a:r>
            <a:r>
              <a:rPr lang="en-US" i="1" dirty="0"/>
              <a:t>pointers, </a:t>
            </a:r>
            <a:r>
              <a:rPr lang="en-US" i="0" dirty="0"/>
              <a:t>necessarily…</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for example, a binary (2-way) tree can be stored in an array where the root is at [1], and every node's children are at 2i and 2i + 1.</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you're still accessing the children indirectly by calculating their indexes, even if you're not using pointers to get to them.</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1693340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who IS the owner????? it's a tough question to answer, and is </a:t>
            </a:r>
            <a:r>
              <a:rPr lang="en-US" dirty="0" err="1"/>
              <a:t>kinda</a:t>
            </a:r>
            <a:r>
              <a:rPr lang="en-US" dirty="0"/>
              <a:t> the whole goal of today's lecture.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3891536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"one possible value" rule avoids the possibility of e.g. keeping a dangling pointer which </a:t>
            </a:r>
            <a:r>
              <a:rPr lang="en-US" i="1" dirty="0"/>
              <a:t>ends up </a:t>
            </a:r>
            <a:r>
              <a:rPr lang="en-US" dirty="0"/>
              <a:t>pointing to a live object, due to the way the allocator reuses memory, but it's not the </a:t>
            </a:r>
            <a:r>
              <a:rPr lang="en-US" i="1" dirty="0"/>
              <a:t>same</a:t>
            </a:r>
            <a:r>
              <a:rPr lang="en-US" i="0" dirty="0"/>
              <a:t> value that it originally pointed to.</a:t>
            </a:r>
          </a:p>
          <a:p>
            <a:pPr marL="171450" indent="-171450">
              <a:buFontTx/>
              <a:buChar char="-"/>
            </a:pPr>
            <a:endParaRPr lang="en-US" i="0" dirty="0"/>
          </a:p>
          <a:p>
            <a:pPr marL="0" indent="0">
              <a:buFontTx/>
              <a:buNone/>
            </a:pPr>
            <a:r>
              <a:rPr lang="en-US" i="0" dirty="0"/>
              <a:t>[diagram: at first, the local variable a (which is on the stack) contains the address 0x00000000 (null). then, when we run “new A()”, an instance of A is created on the heap; and when we assign “a = new A()”, the local variable a’s value changes to the address of that instance, for example 0x00804000. when we call “</a:t>
            </a:r>
            <a:r>
              <a:rPr lang="en-US" i="0" dirty="0" err="1"/>
              <a:t>a.method</a:t>
            </a:r>
            <a:r>
              <a:rPr lang="en-US" i="0" dirty="0"/>
              <a:t>(),” it follows the arrow from ”a” to the instance on the heap, and calls its method. when we write “a = new A()” a second time, this creates a second instance of A and changes “a” to point at the new instance, which is at address 0x00804018. we’re just changing which address “a” contains in order to change which object it refers to.]</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3254398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when I wrote the Croc compiler, </a:t>
            </a:r>
            <a:r>
              <a:rPr lang="en-US" i="0" dirty="0"/>
              <a:t>I realized that almost every object allocated was never deallocated until the very end of compilation</a:t>
            </a:r>
          </a:p>
          <a:p>
            <a:r>
              <a:rPr lang="en-US" i="0" dirty="0"/>
              <a:t>	- so </a:t>
            </a:r>
            <a:r>
              <a:rPr lang="en-US" dirty="0"/>
              <a:t>I switched using a </a:t>
            </a:r>
            <a:r>
              <a:rPr lang="en-US" i="1" dirty="0"/>
              <a:t>bump allocator</a:t>
            </a:r>
            <a:r>
              <a:rPr lang="en-US" i="0" dirty="0"/>
              <a:t> for all the AST nodes, temporary arrays, etc.</a:t>
            </a:r>
          </a:p>
          <a:p>
            <a:r>
              <a:rPr lang="en-US" i="0" dirty="0"/>
              <a:t>	- it greatly improved the performance, since allocation was so fast</a:t>
            </a:r>
          </a:p>
          <a:p>
            <a:r>
              <a:rPr lang="en-US" i="0" dirty="0"/>
              <a:t>	- and deallocation at the end of compilation was equally fast – you deallocate everything in a single chunk</a:t>
            </a:r>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3378431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with manual memory management, the programmer ends up doing two things:</a:t>
            </a:r>
          </a:p>
          <a:p>
            <a:r>
              <a:rPr lang="en-US" dirty="0"/>
              <a:t>	1. they flail around ineffectively, getting it right in some places and wrong in others</a:t>
            </a:r>
          </a:p>
          <a:p>
            <a:r>
              <a:rPr lang="en-US" dirty="0"/>
              <a:t>	2. they end up reimplementing one of the automatic management techniques we're about to discuss</a:t>
            </a:r>
          </a:p>
          <a:p>
            <a:r>
              <a:rPr lang="en-US" dirty="0"/>
              <a:t>		- and even then, they can get </a:t>
            </a:r>
            <a:r>
              <a:rPr lang="en-US" i="1" dirty="0"/>
              <a:t>that</a:t>
            </a:r>
            <a:r>
              <a:rPr lang="en-US" i="0" dirty="0"/>
              <a:t> wrong.</a:t>
            </a:r>
          </a:p>
          <a:p>
            <a:endParaRPr lang="en-US" i="0" dirty="0"/>
          </a:p>
          <a:p>
            <a:r>
              <a:rPr lang="en-US" i="0" dirty="0"/>
              <a:t>[image: the meme of Patrick Star from </a:t>
            </a:r>
            <a:r>
              <a:rPr lang="en-US" i="0" dirty="0" err="1"/>
              <a:t>Spongebob</a:t>
            </a:r>
            <a:r>
              <a:rPr lang="en-US" i="0" dirty="0"/>
              <a:t> going “we should take Bikini Bottom and push it somewhere else!”]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1853602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 "every problem in CS can be solved with another layer of indirection."</a:t>
            </a:r>
          </a:p>
          <a:p>
            <a:r>
              <a:rPr lang="en-US" i="1" dirty="0"/>
              <a:t>	- </a:t>
            </a:r>
            <a:r>
              <a:rPr lang="en-US" dirty="0"/>
              <a:t>…until that indirection </a:t>
            </a:r>
            <a:r>
              <a:rPr lang="en-US" b="1" dirty="0"/>
              <a:t>itself </a:t>
            </a:r>
            <a:r>
              <a:rPr lang="en-US" dirty="0"/>
              <a:t>becomes a problem.</a:t>
            </a:r>
          </a:p>
          <a:p>
            <a:r>
              <a:rPr lang="en-US" dirty="0"/>
              <a:t>	- the solution to the problem of indirection can be </a:t>
            </a:r>
            <a:r>
              <a:rPr lang="en-US" b="1" dirty="0"/>
              <a:t>another layer of indirection.</a:t>
            </a:r>
            <a:r>
              <a:rPr lang="en-US" dirty="0"/>
              <a:t> I'm serious!</a:t>
            </a:r>
          </a:p>
          <a:p>
            <a:endParaRPr lang="en-US" dirty="0"/>
          </a:p>
          <a:p>
            <a:r>
              <a:rPr lang="en-US" dirty="0"/>
              <a:t>[diagram: when we write “p = malloc(40)”, that allocates 40 bytes on the heap, and makes the local ”p” contain its address 0x00804000. when we write “q = p + 256”, that performs pointer arithmetic, which adds 256 times the size of an </a:t>
            </a:r>
            <a:r>
              <a:rPr lang="en-US" dirty="0" err="1"/>
              <a:t>int</a:t>
            </a:r>
            <a:r>
              <a:rPr lang="en-US" dirty="0"/>
              <a:t> to the address that p contains, which makes ”q” contain the address 0x00804400, which is just some random address. so when we write “*q = 5000”, that tries to write the value 5000 into whatever memory ”q” points at, which will do who-knows-what. when we write ”free(p),” now the 40 bytes on the heap have been deallocated, but ”p” is still pointing where they used to be. so when we write “*p = 10”, that will again try to write a value into some arbitrary piece of memory. next we write “p = &amp;x” where “x” is another local variable. “p” used to be pointing to the heap and now it’s pointing to a local, which is okay by C. finally, we try to “free(p)”, but what does it mean to give “free” a pointer to a local variable? nothing. it’s nonsense. this will very likely crash the program shortly after.]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1486515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i="0" dirty="0"/>
              <a:t>aliased objects have an in-degree &gt; 1.</a:t>
            </a:r>
          </a:p>
          <a:p>
            <a:pPr marL="171450" indent="-171450">
              <a:buFontTx/>
              <a:buChar char="-"/>
            </a:pPr>
            <a:endParaRPr lang="en-US" i="0" dirty="0"/>
          </a:p>
          <a:p>
            <a:pPr marL="0" indent="0">
              <a:buFontTx/>
              <a:buNone/>
            </a:pPr>
            <a:r>
              <a:rPr lang="en-US" i="0" dirty="0"/>
              <a:t>[diagram: some object graphs. the stack has several reference variables which point onto the heap. for a linked list, the head points at a node, which points at another node, which points at nothing. trees are similar to linked lists, except they have two or more “next” nodes which we usually call children. doubly-linked lists have links going both ways: head points to A points to B points to C, but C also points back to B, which also points back to A. trees with parent links are the same thing but tree-shaped: each child points back to its parent. a DAG, or directed acyclic graph, can have diamond shapes but no cycles: A points to B and C, and B and C both point to D, but D points to nothing.]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1992161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dangling pointers point at </a:t>
            </a:r>
            <a:r>
              <a:rPr lang="en-US" i="1" dirty="0"/>
              <a:t>something</a:t>
            </a:r>
            <a:r>
              <a:rPr lang="en-US" i="0" dirty="0"/>
              <a:t> but </a:t>
            </a:r>
            <a:r>
              <a:rPr lang="en-US" b="1" i="0" dirty="0"/>
              <a:t>not the original value.</a:t>
            </a:r>
          </a:p>
          <a:p>
            <a:r>
              <a:rPr lang="en-US" b="1" i="0" dirty="0"/>
              <a:t>	</a:t>
            </a:r>
            <a:r>
              <a:rPr lang="en-US" b="0" i="0" dirty="0"/>
              <a:t>- they may point to a dead value, or a new live value unrelated to the original one, because its memory was reused!</a:t>
            </a:r>
          </a:p>
          <a:p>
            <a:r>
              <a:rPr lang="en-US" b="0" i="0" dirty="0"/>
              <a:t>- </a:t>
            </a:r>
            <a:r>
              <a:rPr lang="en-US" b="1" i="0" dirty="0"/>
              <a:t>pointer arithmetic </a:t>
            </a:r>
            <a:r>
              <a:rPr lang="en-US" b="0" i="0" dirty="0"/>
              <a:t>calculates new addresses based on other ones. those addresses may or may not be valid.</a:t>
            </a:r>
          </a:p>
          <a:p>
            <a:r>
              <a:rPr lang="en-US" b="0" i="0" dirty="0"/>
              <a:t>- </a:t>
            </a:r>
            <a:r>
              <a:rPr lang="en-US" b="1" i="0" dirty="0"/>
              <a:t>pointers to stack values</a:t>
            </a:r>
            <a:r>
              <a:rPr lang="en-US" b="0" i="0" dirty="0"/>
              <a:t> are tricky because the stack values are deallocated </a:t>
            </a:r>
            <a:r>
              <a:rPr lang="en-US" b="1" i="0" dirty="0"/>
              <a:t>automatically.</a:t>
            </a:r>
          </a:p>
          <a:p>
            <a:r>
              <a:rPr lang="en-US" b="0" i="0" dirty="0"/>
              <a:t>	- while the owning function is running, that pointer is valid, but when it returns, the value dies.</a:t>
            </a:r>
          </a:p>
          <a:p>
            <a:r>
              <a:rPr lang="en-US" b="0" i="0" dirty="0"/>
              <a:t>	- so pointers to stack values may be only temporarily valid.</a:t>
            </a:r>
          </a:p>
          <a:p>
            <a:r>
              <a:rPr lang="en-US" b="0" i="0" dirty="0"/>
              <a:t>	- rust’s lifetime analysis captures this information in the type system, so that it can be checked statically.</a:t>
            </a:r>
          </a:p>
          <a:p>
            <a:endParaRPr lang="en-US" b="0" i="0" dirty="0"/>
          </a:p>
          <a:p>
            <a:r>
              <a:rPr lang="en-US" b="0" i="0" dirty="0"/>
              <a:t>[diagram 1: two threads both point to the same piece of memory. because they can both be executing simultaneously, they can both be trying to change the value at the same time.]</a:t>
            </a:r>
          </a:p>
          <a:p>
            <a:r>
              <a:rPr lang="en-US" b="0" i="0" dirty="0"/>
              <a:t>[diagram 2: two variables, “p” and “q”, both point to an object on the heap. if we “delete p,” then the object is destroyed, but both “p” and “q” are still pointing at the place where it used to be. if the code that contains “q” didn’t know that the object was deleted, it may try to dereference “q” and end up doing something undefined!]</a:t>
            </a:r>
            <a:endParaRPr lang="en-US" b="0"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3556917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stacks </a:t>
            </a:r>
            <a:r>
              <a:rPr lang="en-US" i="1" dirty="0"/>
              <a:t>plural</a:t>
            </a:r>
            <a:r>
              <a:rPr lang="en-US" dirty="0"/>
              <a:t>, because multiple threads = multiple stacks.</a:t>
            </a:r>
          </a:p>
          <a:p>
            <a:r>
              <a:rPr lang="en-US" dirty="0"/>
              <a:t>* we'll see shortly this rule isn’t actually completely correct.</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The stack does a limited form of automatic memory management. </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it's like the linked list up there, except the list is ARs.</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all the values on the stack are trivially reachable.</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when a function is called, a new AR is appended to the tail of the list.</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when a function returns, its AR is removed from the tail of the list, so all the things inside it are deallocated.</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It's a very linear existence.</a:t>
            </a:r>
          </a:p>
          <a:p>
            <a:endParaRPr lang="en-US" dirty="0"/>
          </a:p>
          <a:p>
            <a:r>
              <a:rPr lang="en-US" dirty="0"/>
              <a:t>[diagram: the stack(s) and </a:t>
            </a:r>
            <a:r>
              <a:rPr lang="en-US" dirty="0" err="1"/>
              <a:t>globals</a:t>
            </a:r>
            <a:r>
              <a:rPr lang="en-US" dirty="0"/>
              <a:t> are the roots. they have references to objects on the heap, which form any arbitrary shape of graph. when a reference is destroyed – say, by setting a local variable to null – then the objects it points to may become unreachable, in which case they are garbage, and safe to destroy and reuse.]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940078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in the code “a = new Ant()”, first the new Ant object is created, with a </a:t>
            </a:r>
            <a:r>
              <a:rPr lang="en-US" dirty="0" err="1"/>
              <a:t>refcount</a:t>
            </a:r>
            <a:r>
              <a:rPr lang="en-US" dirty="0"/>
              <a:t> of 0. after it is assigned into a, its </a:t>
            </a:r>
            <a:r>
              <a:rPr lang="en-US" dirty="0" err="1"/>
              <a:t>refcount</a:t>
            </a:r>
            <a:r>
              <a:rPr lang="en-US" dirty="0"/>
              <a:t> is incremented to 1. when we write “b = a”, we now have two variables pointing to the same object, and its </a:t>
            </a:r>
            <a:r>
              <a:rPr lang="en-US" dirty="0" err="1"/>
              <a:t>refcount</a:t>
            </a:r>
            <a:r>
              <a:rPr lang="en-US" dirty="0"/>
              <a:t> is incremented to 2 to reflect that. when we reassign “a” by writing “a = new Ant()”, two things happen: first, the </a:t>
            </a:r>
            <a:r>
              <a:rPr lang="en-US" i="1" dirty="0"/>
              <a:t>old</a:t>
            </a:r>
            <a:r>
              <a:rPr lang="en-US" i="0" dirty="0"/>
              <a:t> object’s </a:t>
            </a:r>
            <a:r>
              <a:rPr lang="en-US" i="0" dirty="0" err="1"/>
              <a:t>refcount</a:t>
            </a:r>
            <a:r>
              <a:rPr lang="en-US" i="0" dirty="0"/>
              <a:t> is decremented from 2 to 1; then the </a:t>
            </a:r>
            <a:r>
              <a:rPr lang="en-US" i="1" dirty="0"/>
              <a:t>new</a:t>
            </a:r>
            <a:r>
              <a:rPr lang="en-US" i="0" dirty="0"/>
              <a:t> object’s </a:t>
            </a:r>
            <a:r>
              <a:rPr lang="en-US" i="0" dirty="0" err="1"/>
              <a:t>refcount</a:t>
            </a:r>
            <a:r>
              <a:rPr lang="en-US" i="0" dirty="0"/>
              <a:t> is incremented from 0 to 1. then, when we destroy the link from ”b” to the first object by writing “b = null”, the first object’s </a:t>
            </a:r>
            <a:r>
              <a:rPr lang="en-US" i="0" dirty="0" err="1"/>
              <a:t>refcount</a:t>
            </a:r>
            <a:r>
              <a:rPr lang="en-US" i="0" dirty="0"/>
              <a:t> is decremented to 0, which means it is deallocated. finally, when we write “a = null,” the second object’s </a:t>
            </a:r>
            <a:r>
              <a:rPr lang="en-US" i="0" dirty="0" err="1"/>
              <a:t>refcount</a:t>
            </a:r>
            <a:r>
              <a:rPr lang="en-US" i="0" dirty="0"/>
              <a:t> is decremented to 0, and it’s deallocated too. now we have two variables containing null, and no objects on the heap.]</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1317864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for a while, Apple’s Objective-C compiler has done something like this, which they call ARC (automatic reference counting)</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a:t>
            </a:r>
            <a:r>
              <a:rPr lang="en-US" i="0" dirty="0" err="1"/>
              <a:t>Refcounting</a:t>
            </a:r>
            <a:r>
              <a:rPr lang="en-US" i="0" dirty="0"/>
              <a:t> can be done manually, where the programmer does the </a:t>
            </a:r>
            <a:r>
              <a:rPr lang="en-US" i="0" dirty="0" err="1"/>
              <a:t>incs</a:t>
            </a:r>
            <a:r>
              <a:rPr lang="en-US" i="0" dirty="0"/>
              <a:t>/</a:t>
            </a:r>
            <a:r>
              <a:rPr lang="en-US" i="0" dirty="0" err="1"/>
              <a:t>decs</a:t>
            </a:r>
            <a:r>
              <a:rPr lang="en-US" i="0" dirty="0"/>
              <a:t> themselves. </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It's not automatic, it can be really mind-bending, and it's super easy to introduce bugs</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but in languages like C where you have no other option, it's better than nothing.</a:t>
            </a:r>
          </a:p>
          <a:p>
            <a:endParaRPr lang="en-US" i="0" dirty="0"/>
          </a:p>
          <a:p>
            <a:r>
              <a:rPr lang="en-US" i="0" dirty="0"/>
              <a:t>[diagram: this makes explicit the reference increments and decrements that were implicit in the code snippet on the previous slide. after “Ant a = new Ant()”, we “</a:t>
            </a:r>
            <a:r>
              <a:rPr lang="en-US" i="0" dirty="0" err="1"/>
              <a:t>incRef</a:t>
            </a:r>
            <a:r>
              <a:rPr lang="en-US" i="0" dirty="0"/>
              <a:t>(a)”. after “Ant b = a”, we “</a:t>
            </a:r>
            <a:r>
              <a:rPr lang="en-US" i="0" dirty="0" err="1"/>
              <a:t>incRef</a:t>
            </a:r>
            <a:r>
              <a:rPr lang="en-US" i="0" dirty="0"/>
              <a:t>(b)”. </a:t>
            </a:r>
            <a:r>
              <a:rPr lang="en-US" i="1" dirty="0"/>
              <a:t>before</a:t>
            </a:r>
            <a:r>
              <a:rPr lang="en-US" i="0" dirty="0"/>
              <a:t> “a = new Ant()”, we first “</a:t>
            </a:r>
            <a:r>
              <a:rPr lang="en-US" i="0" dirty="0" err="1"/>
              <a:t>decRef</a:t>
            </a:r>
            <a:r>
              <a:rPr lang="en-US" i="0" dirty="0"/>
              <a:t>(a)”, and </a:t>
            </a:r>
            <a:r>
              <a:rPr lang="en-US" i="1" dirty="0"/>
              <a:t>after</a:t>
            </a:r>
            <a:r>
              <a:rPr lang="en-US" i="0" dirty="0"/>
              <a:t>, we “</a:t>
            </a:r>
            <a:r>
              <a:rPr lang="en-US" i="0" dirty="0" err="1"/>
              <a:t>incRef</a:t>
            </a:r>
            <a:r>
              <a:rPr lang="en-US" i="0" dirty="0"/>
              <a:t>(a)” (this kind of “transfers” the reference count from the old object to the new one). before “b = null”, we “</a:t>
            </a:r>
            <a:r>
              <a:rPr lang="en-US" i="0" dirty="0" err="1"/>
              <a:t>decRef</a:t>
            </a:r>
            <a:r>
              <a:rPr lang="en-US" i="0" dirty="0"/>
              <a:t>(b)”, and before “a = null”, we “</a:t>
            </a:r>
            <a:r>
              <a:rPr lang="en-US" i="0" dirty="0" err="1"/>
              <a:t>decRef</a:t>
            </a:r>
            <a:r>
              <a:rPr lang="en-US" i="0" dirty="0"/>
              <a:t>(a)”. technically we would “</a:t>
            </a:r>
            <a:r>
              <a:rPr lang="en-US" i="0" dirty="0" err="1"/>
              <a:t>incRef</a:t>
            </a:r>
            <a:r>
              <a:rPr lang="en-US" i="0" dirty="0"/>
              <a:t>(b)” and “</a:t>
            </a:r>
            <a:r>
              <a:rPr lang="en-US" i="0" dirty="0" err="1"/>
              <a:t>incRef</a:t>
            </a:r>
            <a:r>
              <a:rPr lang="en-US" i="0" dirty="0"/>
              <a:t>(a)” after those last two assignments to null, and “</a:t>
            </a:r>
            <a:r>
              <a:rPr lang="en-US" i="0" dirty="0" err="1"/>
              <a:t>incRef</a:t>
            </a:r>
            <a:r>
              <a:rPr lang="en-US" i="0" dirty="0"/>
              <a:t>” would see that the variable is null and do nothing, but maybe the compiler is smart enough to realize that it can elide those </a:t>
            </a:r>
            <a:r>
              <a:rPr lang="en-US" i="0" dirty="0" err="1"/>
              <a:t>incRef</a:t>
            </a:r>
            <a:r>
              <a:rPr lang="en-US" i="0" dirty="0"/>
              <a:t> calls because it knows that the variable is now null.]</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2555083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can't name the thing, you can't tell it to go away.</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there are solutions to the cycle problem:</a:t>
            </a:r>
          </a:p>
          <a:p>
            <a:pPr marL="0" marR="0" lvl="0" indent="0" algn="l" defTabSz="713232" rtl="0" eaLnBrk="1" fontAlgn="auto" latinLnBrk="0" hangingPunct="1">
              <a:lnSpc>
                <a:spcPct val="100000"/>
              </a:lnSpc>
              <a:spcBef>
                <a:spcPts val="0"/>
              </a:spcBef>
              <a:spcAft>
                <a:spcPts val="0"/>
              </a:spcAft>
              <a:buClrTx/>
              <a:buSzTx/>
              <a:buFontTx/>
              <a:buNone/>
              <a:tabLst/>
              <a:defRPr/>
            </a:pPr>
            <a:r>
              <a:rPr lang="en-US" i="0" dirty="0"/>
              <a:t>	- </a:t>
            </a:r>
            <a:r>
              <a:rPr lang="en-US" b="1" i="0" dirty="0"/>
              <a:t>weak references </a:t>
            </a:r>
            <a:r>
              <a:rPr lang="en-US" b="0" i="0" dirty="0"/>
              <a:t>don't increment the </a:t>
            </a:r>
            <a:r>
              <a:rPr lang="en-US" b="0" i="0" dirty="0" err="1"/>
              <a:t>refcount</a:t>
            </a:r>
            <a:r>
              <a:rPr lang="en-US" b="0" i="0" dirty="0"/>
              <a:t>, and are notified when the referent is deallocated… but they're more complex to implement</a:t>
            </a:r>
          </a:p>
          <a:p>
            <a:pPr marL="0" marR="0" lvl="0" indent="0" algn="l" defTabSz="713232" rtl="0" eaLnBrk="1" fontAlgn="auto" latinLnBrk="0" hangingPunct="1">
              <a:lnSpc>
                <a:spcPct val="100000"/>
              </a:lnSpc>
              <a:spcBef>
                <a:spcPts val="0"/>
              </a:spcBef>
              <a:spcAft>
                <a:spcPts val="0"/>
              </a:spcAft>
              <a:buClrTx/>
              <a:buSzTx/>
              <a:buFontTx/>
              <a:buNone/>
              <a:tabLst/>
              <a:defRPr/>
            </a:pPr>
            <a:r>
              <a:rPr lang="en-US" b="0" i="0" dirty="0"/>
              <a:t>	- a </a:t>
            </a:r>
            <a:r>
              <a:rPr lang="en-US" b="1" i="0" dirty="0"/>
              <a:t>cycle detection </a:t>
            </a:r>
            <a:r>
              <a:rPr lang="en-US" b="0" i="0" dirty="0"/>
              <a:t>algorithm can be used… but that presents a whole other set of problems.</a:t>
            </a:r>
            <a:endParaRPr lang="en-US" dirty="0"/>
          </a:p>
          <a:p>
            <a:r>
              <a:rPr lang="en-US" dirty="0"/>
              <a:t>- multithreaded programs have to </a:t>
            </a:r>
            <a:r>
              <a:rPr lang="en-US" i="1" dirty="0"/>
              <a:t>synchronize access</a:t>
            </a:r>
            <a:r>
              <a:rPr lang="en-US" i="0" dirty="0"/>
              <a:t> to the ref count, which makes it correct at the cost of speed</a:t>
            </a:r>
          </a:p>
          <a:p>
            <a:r>
              <a:rPr lang="en-US" i="0" dirty="0"/>
              <a:t>	- </a:t>
            </a:r>
            <a:r>
              <a:rPr lang="en-US" i="0" dirty="0" err="1"/>
              <a:t>refcounts</a:t>
            </a:r>
            <a:r>
              <a:rPr lang="en-US" i="0" dirty="0"/>
              <a:t> are constantly changing, so lots of contention will cause threads to pause a lot.</a:t>
            </a:r>
          </a:p>
          <a:p>
            <a:endParaRPr lang="en-US" i="0" dirty="0"/>
          </a:p>
          <a:p>
            <a:r>
              <a:rPr lang="en-US" i="0" dirty="0"/>
              <a:t>[diagram 1: a doubly-linked list where A points to B which points back to A. when the head variable is pointing at A, A has a </a:t>
            </a:r>
            <a:r>
              <a:rPr lang="en-US" i="0" dirty="0" err="1"/>
              <a:t>refcount</a:t>
            </a:r>
            <a:r>
              <a:rPr lang="en-US" i="0" dirty="0"/>
              <a:t> of 2. but when the head variable is set to null, A’s </a:t>
            </a:r>
            <a:r>
              <a:rPr lang="en-US" i="0" dirty="0" err="1"/>
              <a:t>refcount</a:t>
            </a:r>
            <a:r>
              <a:rPr lang="en-US" i="0" dirty="0"/>
              <a:t> is decremented to 1. now both A and B have a </a:t>
            </a:r>
            <a:r>
              <a:rPr lang="en-US" i="0" dirty="0" err="1"/>
              <a:t>refcount</a:t>
            </a:r>
            <a:r>
              <a:rPr lang="en-US" i="0" dirty="0"/>
              <a:t> of 1, meaning they will never be deallocated, but nothing is pointing at them! this is a memory leak. simple </a:t>
            </a:r>
            <a:r>
              <a:rPr lang="en-US" i="0" dirty="0" err="1"/>
              <a:t>refcounting</a:t>
            </a:r>
            <a:r>
              <a:rPr lang="en-US" i="0" dirty="0"/>
              <a:t> will leak memory in the presence of reference cycles.]</a:t>
            </a:r>
          </a:p>
          <a:p>
            <a:r>
              <a:rPr lang="en-US" i="0" dirty="0"/>
              <a:t>[diagram 2: two threads fighting over the </a:t>
            </a:r>
            <a:r>
              <a:rPr lang="en-US" i="0" dirty="0" err="1"/>
              <a:t>refcount</a:t>
            </a:r>
            <a:r>
              <a:rPr lang="en-US" i="0" dirty="0"/>
              <a:t> of an object on the heap. the object is sad.]</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1152623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during the mutation phase, the program runs normally, creating objects, reassigning references, destroying references (setting them to null or whatever). the objects on the heap can be in </a:t>
            </a:r>
            <a:r>
              <a:rPr lang="en-US" i="1" dirty="0"/>
              <a:t>any</a:t>
            </a:r>
            <a:r>
              <a:rPr lang="en-US" i="0" dirty="0"/>
              <a:t> graph shape, </a:t>
            </a:r>
            <a:r>
              <a:rPr lang="en-US" i="1" dirty="0"/>
              <a:t>including</a:t>
            </a:r>
            <a:r>
              <a:rPr lang="en-US" i="0" dirty="0"/>
              <a:t> cyclic ones. then, periodically, the mutation phase is paused and the collection phase begins. the collector starts at the roots and follows references recursively, marking every object it sees as “reachable” or “live.” at the end of this process, the objects which are not reachable from the roots are now garbage, as they are “cut off” from the roots, and can be deallocated safely. even cycles!]</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1913701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your program also runs at "full speed" during the mutation phase, since it's not doing any memory bookkeeping.</a:t>
            </a:r>
          </a:p>
          <a:p>
            <a:r>
              <a:rPr lang="en-US" dirty="0"/>
              <a:t>	- if you're careful about allocation, you can stay in the mutation phase for most or all of the time.</a:t>
            </a:r>
          </a:p>
          <a:p>
            <a:r>
              <a:rPr lang="en-US" dirty="0"/>
              <a:t>- no </a:t>
            </a:r>
            <a:r>
              <a:rPr lang="en-US" dirty="0" err="1"/>
              <a:t>refcount</a:t>
            </a:r>
            <a:r>
              <a:rPr lang="en-US" dirty="0"/>
              <a:t> in objects means smaller objects, which means better cache performance.</a:t>
            </a:r>
          </a:p>
          <a:p>
            <a:r>
              <a:rPr lang="en-US" dirty="0"/>
              <a:t>	- let's just sweep the collector's cache performance under the rug…</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34682160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pointers to the stack are usually also disallowed, because it's impossible to prevent them from becoming dangling pointers.</a:t>
            </a:r>
          </a:p>
          <a:p>
            <a:pPr marL="528066" lvl="1" indent="-171450">
              <a:buFontTx/>
              <a:buChar char="-"/>
            </a:pPr>
            <a:r>
              <a:rPr lang="en-US" dirty="0"/>
              <a:t>…unless you implement lifetime and borrowing analysis, like Rust does!</a:t>
            </a:r>
          </a:p>
          <a:p>
            <a:pPr marL="171450" indent="-171450">
              <a:buFontTx/>
              <a:buChar char="-"/>
            </a:pPr>
            <a:endParaRPr lang="en-US" dirty="0"/>
          </a:p>
          <a:p>
            <a:pPr marL="0" indent="0">
              <a:buFontTx/>
              <a:buNone/>
            </a:pPr>
            <a:r>
              <a:rPr lang="en-US" dirty="0"/>
              <a:t>[diagram: two local variables, both 4 bytes in size, both containing the bit pattern 0x08004030, but one of them is a real pointer, and one of them is just an </a:t>
            </a:r>
            <a:r>
              <a:rPr lang="en-US" dirty="0" err="1"/>
              <a:t>int</a:t>
            </a:r>
            <a:r>
              <a:rPr lang="en-US" dirty="0"/>
              <a:t> with a funny value. how does the collector know, at runtime, which is which? well, the compiler has to produce information to tell the collector which is a pointer and which is just a red herring.]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30</a:t>
            </a:fld>
            <a:endParaRPr lang="en-US"/>
          </a:p>
        </p:txBody>
      </p:sp>
    </p:spTree>
    <p:extLst>
      <p:ext uri="{BB962C8B-B14F-4D97-AF65-F5344CB8AC3E}">
        <p14:creationId xmlns:p14="http://schemas.microsoft.com/office/powerpoint/2010/main" val="1370415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Dynamic Memory Management</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we're </a:t>
            </a:r>
            <a:r>
              <a:rPr lang="en-US" dirty="0" err="1"/>
              <a:t>gonna</a:t>
            </a:r>
            <a:r>
              <a:rPr lang="en-US" dirty="0"/>
              <a:t> talk about some stuff a bit abstractly today</a:t>
            </a:r>
          </a:p>
          <a:p>
            <a:pPr lvl="1"/>
            <a:r>
              <a:rPr lang="en-US" dirty="0"/>
              <a:t>but I think it's a really important topic</a:t>
            </a:r>
          </a:p>
          <a:p>
            <a:pPr lvl="1"/>
            <a:r>
              <a:rPr lang="en-US" dirty="0"/>
              <a:t>dynamic memory management has a </a:t>
            </a:r>
            <a:r>
              <a:rPr lang="en-US" b="1" spc="600" dirty="0"/>
              <a:t>HUGE</a:t>
            </a:r>
            <a:r>
              <a:rPr lang="en-US" dirty="0"/>
              <a:t> impact on language and compiler design</a:t>
            </a:r>
          </a:p>
          <a:p>
            <a:pPr lvl="1"/>
            <a:r>
              <a:rPr lang="en-US" dirty="0"/>
              <a:t>and it will also be important to know about this for when we start talking about code generation and the runtime library!</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0CA2-E43C-D844-A9DA-2F1BB0C8EDCA}"/>
              </a:ext>
            </a:extLst>
          </p:cNvPr>
          <p:cNvSpPr>
            <a:spLocks noGrp="1"/>
          </p:cNvSpPr>
          <p:nvPr>
            <p:ph type="ctrTitle"/>
          </p:nvPr>
        </p:nvSpPr>
        <p:spPr/>
        <p:txBody>
          <a:bodyPr/>
          <a:lstStyle/>
          <a:p>
            <a:r>
              <a:rPr lang="en-US" dirty="0"/>
              <a:t>Allocation, Deallocation, Lifetime, and Ownership</a:t>
            </a:r>
          </a:p>
        </p:txBody>
      </p:sp>
      <p:sp>
        <p:nvSpPr>
          <p:cNvPr id="3" name="Slide Number Placeholder 2">
            <a:extLst>
              <a:ext uri="{FF2B5EF4-FFF2-40B4-BE49-F238E27FC236}">
                <a16:creationId xmlns:a16="http://schemas.microsoft.com/office/drawing/2014/main" id="{EF2A471A-33AF-8F42-A9D0-3E4407DE6248}"/>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353142333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CDB93-7809-324B-8934-5ADB2717DAA2}"/>
              </a:ext>
            </a:extLst>
          </p:cNvPr>
          <p:cNvSpPr>
            <a:spLocks noGrp="1"/>
          </p:cNvSpPr>
          <p:nvPr>
            <p:ph type="title"/>
          </p:nvPr>
        </p:nvSpPr>
        <p:spPr/>
        <p:txBody>
          <a:bodyPr/>
          <a:lstStyle/>
          <a:p>
            <a:r>
              <a:rPr lang="en-US" dirty="0"/>
              <a:t>Making room</a:t>
            </a:r>
          </a:p>
        </p:txBody>
      </p:sp>
      <p:sp>
        <p:nvSpPr>
          <p:cNvPr id="3" name="Content Placeholder 2">
            <a:extLst>
              <a:ext uri="{FF2B5EF4-FFF2-40B4-BE49-F238E27FC236}">
                <a16:creationId xmlns:a16="http://schemas.microsoft.com/office/drawing/2014/main" id="{DD72CBC7-ABB5-9841-ADE7-270E8445FAFC}"/>
              </a:ext>
            </a:extLst>
          </p:cNvPr>
          <p:cNvSpPr>
            <a:spLocks noGrp="1"/>
          </p:cNvSpPr>
          <p:nvPr>
            <p:ph idx="1"/>
          </p:nvPr>
        </p:nvSpPr>
        <p:spPr>
          <a:xfrm>
            <a:off x="152400" y="495301"/>
            <a:ext cx="8991600" cy="914399"/>
          </a:xfrm>
        </p:spPr>
        <p:txBody>
          <a:bodyPr/>
          <a:lstStyle/>
          <a:p>
            <a:r>
              <a:rPr lang="en-US" dirty="0"/>
              <a:t>every value in your program </a:t>
            </a:r>
            <a:r>
              <a:rPr lang="en-US" b="1" dirty="0"/>
              <a:t>takes up space in memory.</a:t>
            </a:r>
          </a:p>
          <a:p>
            <a:r>
              <a:rPr lang="en-US" b="1" dirty="0"/>
              <a:t>allocation </a:t>
            </a:r>
            <a:r>
              <a:rPr lang="en-US" dirty="0"/>
              <a:t>sets aside a piece of memory as a value's "home."</a:t>
            </a:r>
            <a:endParaRPr lang="en-US" b="1" dirty="0"/>
          </a:p>
        </p:txBody>
      </p:sp>
      <p:sp>
        <p:nvSpPr>
          <p:cNvPr id="4" name="Slide Number Placeholder 3">
            <a:extLst>
              <a:ext uri="{FF2B5EF4-FFF2-40B4-BE49-F238E27FC236}">
                <a16:creationId xmlns:a16="http://schemas.microsoft.com/office/drawing/2014/main" id="{46A031CA-F146-E441-84FB-DEA60F0D8516}"/>
              </a:ext>
            </a:extLst>
          </p:cNvPr>
          <p:cNvSpPr>
            <a:spLocks noGrp="1"/>
          </p:cNvSpPr>
          <p:nvPr>
            <p:ph type="sldNum" sz="quarter" idx="12"/>
          </p:nvPr>
        </p:nvSpPr>
        <p:spPr/>
        <p:txBody>
          <a:bodyPr/>
          <a:lstStyle/>
          <a:p>
            <a:fld id="{3552B95B-556F-44BD-91A5-D80C1B9E2BB3}" type="slidenum">
              <a:rPr lang="en-US" smtClean="0"/>
              <a:pPr/>
              <a:t>4</a:t>
            </a:fld>
            <a:endParaRPr lang="en-US"/>
          </a:p>
        </p:txBody>
      </p:sp>
      <p:sp>
        <p:nvSpPr>
          <p:cNvPr id="5" name="TextBox 4">
            <a:extLst>
              <a:ext uri="{FF2B5EF4-FFF2-40B4-BE49-F238E27FC236}">
                <a16:creationId xmlns:a16="http://schemas.microsoft.com/office/drawing/2014/main" id="{F9E7F2F2-DDC5-9342-B218-DE5A1723FBEF}"/>
              </a:ext>
            </a:extLst>
          </p:cNvPr>
          <p:cNvSpPr txBox="1"/>
          <p:nvPr/>
        </p:nvSpPr>
        <p:spPr>
          <a:xfrm>
            <a:off x="381000" y="1409700"/>
            <a:ext cx="3276600" cy="2246769"/>
          </a:xfrm>
          <a:prstGeom prst="rect">
            <a:avLst/>
          </a:prstGeom>
          <a:noFill/>
        </p:spPr>
        <p:txBody>
          <a:bodyPr wrap="square" rtlCol="0">
            <a:spAutoFit/>
          </a:bodyPr>
          <a:lstStyle/>
          <a:p>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g = </a:t>
            </a:r>
            <a:r>
              <a:rPr lang="en-US" sz="2800" b="1" dirty="0">
                <a:solidFill>
                  <a:schemeClr val="accent3">
                    <a:lumMod val="75000"/>
                  </a:schemeClr>
                </a:solidFill>
                <a:latin typeface="Consolas" panose="020B0609020204030204" pitchFamily="49" charset="0"/>
                <a:cs typeface="Consolas" panose="020B0609020204030204" pitchFamily="49" charset="0"/>
              </a:rPr>
              <a:t>10</a:t>
            </a:r>
            <a:r>
              <a:rPr lang="en-US" sz="2800" b="1" dirty="0">
                <a:latin typeface="Consolas" panose="020B0609020204030204" pitchFamily="49" charset="0"/>
                <a:cs typeface="Consolas" panose="020B0609020204030204" pitchFamily="49" charset="0"/>
              </a:rPr>
              <a:t>;</a:t>
            </a:r>
          </a:p>
          <a:p>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h = </a:t>
            </a:r>
            <a:r>
              <a:rPr lang="en-US" sz="2800" b="1" dirty="0">
                <a:solidFill>
                  <a:schemeClr val="accent3">
                    <a:lumMod val="75000"/>
                  </a:schemeClr>
                </a:solidFill>
                <a:latin typeface="Consolas" panose="020B0609020204030204" pitchFamily="49" charset="0"/>
                <a:cs typeface="Consolas" panose="020B0609020204030204" pitchFamily="49" charset="0"/>
              </a:rPr>
              <a:t>20</a:t>
            </a:r>
            <a:r>
              <a:rPr lang="en-US" sz="2800" b="1" dirty="0">
                <a:latin typeface="Consolas" panose="020B0609020204030204" pitchFamily="49" charset="0"/>
                <a:cs typeface="Consolas" panose="020B0609020204030204" pitchFamily="49" charset="0"/>
              </a:rPr>
              <a:t>;</a:t>
            </a:r>
          </a:p>
          <a:p>
            <a:r>
              <a:rPr lang="en-US" sz="2800" b="1" dirty="0" err="1">
                <a:solidFill>
                  <a:srgbClr val="FF0000"/>
                </a:solidFill>
                <a:latin typeface="Consolas" panose="020B0609020204030204" pitchFamily="49" charset="0"/>
                <a:cs typeface="Consolas" panose="020B0609020204030204" pitchFamily="49" charset="0"/>
              </a:rPr>
              <a:t>fn</a:t>
            </a:r>
            <a:r>
              <a:rPr lang="en-US" sz="2800" b="1" dirty="0">
                <a:latin typeface="Consolas" panose="020B0609020204030204" pitchFamily="49" charset="0"/>
                <a:cs typeface="Consolas" panose="020B0609020204030204" pitchFamily="49" charset="0"/>
              </a:rPr>
              <a:t> main() {</a:t>
            </a:r>
          </a:p>
          <a:p>
            <a:r>
              <a:rPr lang="en-US" sz="2800" b="1" dirty="0">
                <a:latin typeface="Consolas" panose="020B0609020204030204" pitchFamily="49" charset="0"/>
                <a:cs typeface="Consolas" panose="020B0609020204030204" pitchFamily="49" charset="0"/>
              </a:rPr>
              <a:t>  g = g + h;</a:t>
            </a:r>
          </a:p>
          <a:p>
            <a:r>
              <a:rPr lang="en-US" sz="28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DC96F1FD-50F7-2B4E-B7AD-F30F19DA4E96}"/>
              </a:ext>
            </a:extLst>
          </p:cNvPr>
          <p:cNvSpPr txBox="1"/>
          <p:nvPr/>
        </p:nvSpPr>
        <p:spPr>
          <a:xfrm>
            <a:off x="3248587" y="1444608"/>
            <a:ext cx="5011274" cy="1107996"/>
          </a:xfrm>
          <a:prstGeom prst="rect">
            <a:avLst/>
          </a:prstGeom>
          <a:noFill/>
        </p:spPr>
        <p:txBody>
          <a:bodyPr wrap="square" rtlCol="0">
            <a:spAutoFit/>
          </a:bodyPr>
          <a:lstStyle/>
          <a:p>
            <a:pPr algn="ctr"/>
            <a:r>
              <a:rPr lang="en-US" sz="2200" dirty="0"/>
              <a:t>global variables are the easiest to allocate, because </a:t>
            </a:r>
            <a:r>
              <a:rPr lang="en-US" sz="2200" b="1" dirty="0"/>
              <a:t>the compiler knows </a:t>
            </a:r>
            <a:r>
              <a:rPr lang="en-US" sz="2200" dirty="0"/>
              <a:t>how many </a:t>
            </a:r>
            <a:r>
              <a:rPr lang="en-US" sz="2200" dirty="0" err="1"/>
              <a:t>globals</a:t>
            </a:r>
            <a:r>
              <a:rPr lang="en-US" sz="2200" dirty="0"/>
              <a:t> there are.</a:t>
            </a:r>
            <a:endParaRPr lang="en-US" sz="2200"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07330ABA-A809-DB42-8828-7BAB805F874A}"/>
              </a:ext>
            </a:extLst>
          </p:cNvPr>
          <p:cNvSpPr txBox="1"/>
          <p:nvPr/>
        </p:nvSpPr>
        <p:spPr>
          <a:xfrm>
            <a:off x="3322539" y="2799332"/>
            <a:ext cx="5440461" cy="1107996"/>
          </a:xfrm>
          <a:prstGeom prst="rect">
            <a:avLst/>
          </a:prstGeom>
          <a:noFill/>
        </p:spPr>
        <p:txBody>
          <a:bodyPr wrap="square" rtlCol="0">
            <a:spAutoFit/>
          </a:bodyPr>
          <a:lstStyle/>
          <a:p>
            <a:pPr algn="ctr"/>
            <a:r>
              <a:rPr lang="en-US" sz="2200" dirty="0"/>
              <a:t>it does </a:t>
            </a:r>
            <a:r>
              <a:rPr lang="en-US" sz="2200" b="1" dirty="0"/>
              <a:t>static allocation: </a:t>
            </a:r>
            <a:r>
              <a:rPr lang="en-US" sz="2200" dirty="0"/>
              <a:t>it gives each global a unique location, which is encoded in the output machine code.</a:t>
            </a:r>
            <a:endParaRPr lang="en-US" sz="2200"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3DB996C6-E1FD-5F48-BB90-7BA1C2999124}"/>
              </a:ext>
            </a:extLst>
          </p:cNvPr>
          <p:cNvSpPr txBox="1"/>
          <p:nvPr/>
        </p:nvSpPr>
        <p:spPr>
          <a:xfrm>
            <a:off x="838200" y="4101070"/>
            <a:ext cx="7010400" cy="769441"/>
          </a:xfrm>
          <a:prstGeom prst="rect">
            <a:avLst/>
          </a:prstGeom>
          <a:noFill/>
        </p:spPr>
        <p:txBody>
          <a:bodyPr wrap="square" rtlCol="0">
            <a:spAutoFit/>
          </a:bodyPr>
          <a:lstStyle/>
          <a:p>
            <a:pPr algn="ctr"/>
            <a:r>
              <a:rPr lang="en-US" sz="2200" dirty="0"/>
              <a:t>static allocation is also used for certain kinds of constants, like </a:t>
            </a:r>
            <a:r>
              <a:rPr lang="en-US" sz="2200" b="1" dirty="0">
                <a:solidFill>
                  <a:schemeClr val="accent6">
                    <a:lumMod val="75000"/>
                  </a:schemeClr>
                </a:solidFill>
                <a:latin typeface="Consolas" panose="020B0609020204030204" pitchFamily="49" charset="0"/>
                <a:cs typeface="Consolas" panose="020B0609020204030204" pitchFamily="49" charset="0"/>
              </a:rPr>
              <a:t>"quoted string literals"</a:t>
            </a:r>
            <a:r>
              <a:rPr lang="en-US" sz="2200" dirty="0"/>
              <a:t>.</a:t>
            </a:r>
            <a:endParaRPr lang="en-US" sz="2200" b="1" dirty="0">
              <a:solidFill>
                <a:schemeClr val="accent6">
                  <a:lumMod val="75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9422086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F955-5548-6945-BB96-87F21D98D612}"/>
              </a:ext>
            </a:extLst>
          </p:cNvPr>
          <p:cNvSpPr>
            <a:spLocks noGrp="1"/>
          </p:cNvSpPr>
          <p:nvPr>
            <p:ph type="title"/>
          </p:nvPr>
        </p:nvSpPr>
        <p:spPr/>
        <p:txBody>
          <a:bodyPr/>
          <a:lstStyle/>
          <a:p>
            <a:r>
              <a:rPr lang="en-US" dirty="0"/>
              <a:t>But that's boring</a:t>
            </a:r>
          </a:p>
        </p:txBody>
      </p:sp>
      <p:sp>
        <p:nvSpPr>
          <p:cNvPr id="3" name="Content Placeholder 2">
            <a:extLst>
              <a:ext uri="{FF2B5EF4-FFF2-40B4-BE49-F238E27FC236}">
                <a16:creationId xmlns:a16="http://schemas.microsoft.com/office/drawing/2014/main" id="{BA20F6F4-FE02-A945-8C71-B23BE58F5633}"/>
              </a:ext>
            </a:extLst>
          </p:cNvPr>
          <p:cNvSpPr>
            <a:spLocks noGrp="1"/>
          </p:cNvSpPr>
          <p:nvPr>
            <p:ph idx="1"/>
          </p:nvPr>
        </p:nvSpPr>
        <p:spPr>
          <a:xfrm>
            <a:off x="152400" y="495301"/>
            <a:ext cx="8991600" cy="1107997"/>
          </a:xfrm>
        </p:spPr>
        <p:txBody>
          <a:bodyPr/>
          <a:lstStyle/>
          <a:p>
            <a:r>
              <a:rPr lang="en-US" dirty="0"/>
              <a:t>what about </a:t>
            </a:r>
            <a:r>
              <a:rPr lang="en-US" b="1" dirty="0"/>
              <a:t>locals? </a:t>
            </a:r>
            <a:r>
              <a:rPr lang="en-US" dirty="0"/>
              <a:t>they "appear" and "disappear" with function calls.</a:t>
            </a:r>
          </a:p>
          <a:p>
            <a:r>
              <a:rPr lang="en-US" dirty="0"/>
              <a:t>that means we have to do </a:t>
            </a:r>
            <a:r>
              <a:rPr lang="en-US" b="1" dirty="0"/>
              <a:t>dynamic allocation: </a:t>
            </a:r>
            <a:r>
              <a:rPr lang="en-US" dirty="0"/>
              <a:t>we come up with the locations of variables at </a:t>
            </a:r>
            <a:r>
              <a:rPr lang="en-US" b="1" dirty="0"/>
              <a:t>runtime.</a:t>
            </a:r>
            <a:endParaRPr lang="en-US" dirty="0"/>
          </a:p>
        </p:txBody>
      </p:sp>
      <p:sp>
        <p:nvSpPr>
          <p:cNvPr id="4" name="Slide Number Placeholder 3">
            <a:extLst>
              <a:ext uri="{FF2B5EF4-FFF2-40B4-BE49-F238E27FC236}">
                <a16:creationId xmlns:a16="http://schemas.microsoft.com/office/drawing/2014/main" id="{B743102D-CA87-5947-9FDF-B3A514306C77}"/>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 name="TextBox 4">
            <a:extLst>
              <a:ext uri="{FF2B5EF4-FFF2-40B4-BE49-F238E27FC236}">
                <a16:creationId xmlns:a16="http://schemas.microsoft.com/office/drawing/2014/main" id="{6CCE279E-CA74-F745-8722-B9C72367AC5C}"/>
              </a:ext>
            </a:extLst>
          </p:cNvPr>
          <p:cNvSpPr txBox="1"/>
          <p:nvPr/>
        </p:nvSpPr>
        <p:spPr>
          <a:xfrm>
            <a:off x="371476" y="1664879"/>
            <a:ext cx="3733800" cy="2677656"/>
          </a:xfrm>
          <a:prstGeom prst="rect">
            <a:avLst/>
          </a:prstGeom>
          <a:noFill/>
        </p:spPr>
        <p:txBody>
          <a:bodyPr wrap="square" rtlCol="0">
            <a:spAutoFit/>
          </a:bodyPr>
          <a:lstStyle/>
          <a:p>
            <a:r>
              <a:rPr lang="en-US" sz="2400" b="1" dirty="0" err="1">
                <a:solidFill>
                  <a:srgbClr val="FF0000"/>
                </a:solidFill>
                <a:latin typeface="Consolas" panose="020B0609020204030204" pitchFamily="49" charset="0"/>
                <a:cs typeface="Consolas" panose="020B0609020204030204" pitchFamily="49" charset="0"/>
              </a:rPr>
              <a:t>fn</a:t>
            </a:r>
            <a:r>
              <a:rPr lang="en-US" sz="2400" b="1" dirty="0">
                <a:latin typeface="Consolas" panose="020B0609020204030204" pitchFamily="49" charset="0"/>
                <a:cs typeface="Consolas" panose="020B0609020204030204" pitchFamily="49" charset="0"/>
              </a:rPr>
              <a:t> r(x: </a:t>
            </a:r>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a:t>
            </a:r>
          </a:p>
          <a:p>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if</a:t>
            </a:r>
            <a:r>
              <a:rPr lang="en-US" sz="2400" b="1" dirty="0">
                <a:latin typeface="Consolas" panose="020B0609020204030204" pitchFamily="49" charset="0"/>
                <a:cs typeface="Consolas" panose="020B0609020204030204" pitchFamily="49" charset="0"/>
              </a:rPr>
              <a:t> x &gt; </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 {</a:t>
            </a:r>
          </a:p>
          <a:p>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return</a:t>
            </a:r>
            <a:r>
              <a:rPr lang="en-US" sz="2400" b="1" dirty="0">
                <a:latin typeface="Consolas" panose="020B0609020204030204" pitchFamily="49" charset="0"/>
                <a:cs typeface="Consolas" panose="020B0609020204030204" pitchFamily="49" charset="0"/>
              </a:rPr>
              <a:t> x + r(x-</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 } </a:t>
            </a:r>
            <a:r>
              <a:rPr lang="en-US" sz="2400" b="1" dirty="0">
                <a:solidFill>
                  <a:srgbClr val="FF0000"/>
                </a:solidFill>
                <a:latin typeface="Consolas" panose="020B0609020204030204" pitchFamily="49" charset="0"/>
                <a:cs typeface="Consolas" panose="020B0609020204030204" pitchFamily="49" charset="0"/>
              </a:rPr>
              <a:t>else</a:t>
            </a:r>
            <a:r>
              <a:rPr lang="en-US" sz="2400" b="1" dirty="0">
                <a:latin typeface="Consolas" panose="020B0609020204030204" pitchFamily="49" charset="0"/>
                <a:cs typeface="Consolas" panose="020B0609020204030204" pitchFamily="49" charset="0"/>
              </a:rPr>
              <a:t> {</a:t>
            </a:r>
            <a:br>
              <a:rPr lang="en-US" sz="2400" b="1" dirty="0">
                <a:latin typeface="Consolas" panose="020B0609020204030204" pitchFamily="49" charset="0"/>
                <a:cs typeface="Consolas" panose="020B0609020204030204" pitchFamily="49" charset="0"/>
              </a:rPr>
            </a:b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return</a:t>
            </a:r>
            <a:r>
              <a:rPr lang="en-US" sz="2400" b="1" dirty="0">
                <a:latin typeface="Consolas" panose="020B0609020204030204" pitchFamily="49" charset="0"/>
                <a:cs typeface="Consolas" panose="020B0609020204030204" pitchFamily="49" charset="0"/>
              </a:rPr>
              <a:t> x;</a:t>
            </a:r>
          </a:p>
          <a:p>
            <a:r>
              <a:rPr lang="en-US" sz="2400" b="1" dirty="0">
                <a:latin typeface="Consolas" panose="020B0609020204030204" pitchFamily="49" charset="0"/>
                <a:cs typeface="Consolas" panose="020B0609020204030204" pitchFamily="49" charset="0"/>
              </a:rPr>
              <a:t> }</a:t>
            </a:r>
          </a:p>
          <a:p>
            <a:r>
              <a:rPr lang="en-US" sz="24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231E487F-0AE3-0F45-9B8D-12F083A07395}"/>
              </a:ext>
            </a:extLst>
          </p:cNvPr>
          <p:cNvSpPr txBox="1"/>
          <p:nvPr/>
        </p:nvSpPr>
        <p:spPr>
          <a:xfrm>
            <a:off x="4419599" y="1730454"/>
            <a:ext cx="4352925" cy="1107996"/>
          </a:xfrm>
          <a:prstGeom prst="rect">
            <a:avLst/>
          </a:prstGeom>
          <a:noFill/>
        </p:spPr>
        <p:txBody>
          <a:bodyPr wrap="square" rtlCol="0">
            <a:spAutoFit/>
          </a:bodyPr>
          <a:lstStyle/>
          <a:p>
            <a:pPr algn="ctr"/>
            <a:r>
              <a:rPr lang="en-US" sz="2200" dirty="0"/>
              <a:t>this is easier than it sounds at first, because every function has a </a:t>
            </a:r>
            <a:r>
              <a:rPr lang="en-US" sz="2200" b="1" dirty="0"/>
              <a:t>fixed number of variables.</a:t>
            </a:r>
            <a:endParaRPr lang="en-US" sz="2200"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B91A6D23-011B-2B42-9C14-585A71AE3F78}"/>
              </a:ext>
            </a:extLst>
          </p:cNvPr>
          <p:cNvSpPr txBox="1"/>
          <p:nvPr/>
        </p:nvSpPr>
        <p:spPr>
          <a:xfrm>
            <a:off x="3581400" y="3154541"/>
            <a:ext cx="5343523" cy="769441"/>
          </a:xfrm>
          <a:prstGeom prst="rect">
            <a:avLst/>
          </a:prstGeom>
          <a:noFill/>
        </p:spPr>
        <p:txBody>
          <a:bodyPr wrap="square" rtlCol="0">
            <a:spAutoFit/>
          </a:bodyPr>
          <a:lstStyle/>
          <a:p>
            <a:pPr algn="ctr"/>
            <a:r>
              <a:rPr lang="en-US" sz="2200" dirty="0"/>
              <a:t>because of how function calls work, the variables can be allocated using a </a:t>
            </a:r>
            <a:r>
              <a:rPr lang="en-US" sz="2200" b="1" dirty="0"/>
              <a:t>stack.</a:t>
            </a:r>
            <a:endParaRPr lang="en-US" sz="2200"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2CBBA282-7B38-9D42-85D7-63EBDB73C732}"/>
              </a:ext>
            </a:extLst>
          </p:cNvPr>
          <p:cNvSpPr txBox="1"/>
          <p:nvPr/>
        </p:nvSpPr>
        <p:spPr>
          <a:xfrm>
            <a:off x="1219199" y="4275255"/>
            <a:ext cx="6858002" cy="769441"/>
          </a:xfrm>
          <a:prstGeom prst="rect">
            <a:avLst/>
          </a:prstGeom>
          <a:noFill/>
        </p:spPr>
        <p:txBody>
          <a:bodyPr wrap="square" rtlCol="0">
            <a:spAutoFit/>
          </a:bodyPr>
          <a:lstStyle/>
          <a:p>
            <a:pPr algn="ctr"/>
            <a:r>
              <a:rPr lang="en-US" sz="2200" dirty="0"/>
              <a:t>so, each local variable gets a </a:t>
            </a:r>
            <a:r>
              <a:rPr lang="en-US" sz="2200" b="1" dirty="0"/>
              <a:t>statically-determined location </a:t>
            </a:r>
            <a:r>
              <a:rPr lang="en-US" sz="2200" dirty="0"/>
              <a:t>within the stack frame, </a:t>
            </a:r>
            <a:r>
              <a:rPr lang="en-US" sz="2200" i="1" dirty="0"/>
              <a:t>relative to the sp.</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6021410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CD3AF-4731-814F-9A1B-A22BC1E09A92}"/>
              </a:ext>
            </a:extLst>
          </p:cNvPr>
          <p:cNvSpPr>
            <a:spLocks noGrp="1"/>
          </p:cNvSpPr>
          <p:nvPr>
            <p:ph type="title"/>
          </p:nvPr>
        </p:nvSpPr>
        <p:spPr/>
        <p:txBody>
          <a:bodyPr/>
          <a:lstStyle/>
          <a:p>
            <a:r>
              <a:rPr lang="en-US" dirty="0"/>
              <a:t>Deallocation</a:t>
            </a:r>
          </a:p>
        </p:txBody>
      </p:sp>
      <p:sp>
        <p:nvSpPr>
          <p:cNvPr id="3" name="Content Placeholder 2">
            <a:extLst>
              <a:ext uri="{FF2B5EF4-FFF2-40B4-BE49-F238E27FC236}">
                <a16:creationId xmlns:a16="http://schemas.microsoft.com/office/drawing/2014/main" id="{8B955FE9-7B9F-1E47-9E80-FADA7E13224B}"/>
              </a:ext>
            </a:extLst>
          </p:cNvPr>
          <p:cNvSpPr>
            <a:spLocks noGrp="1"/>
          </p:cNvSpPr>
          <p:nvPr>
            <p:ph idx="1"/>
          </p:nvPr>
        </p:nvSpPr>
        <p:spPr>
          <a:xfrm>
            <a:off x="152400" y="495302"/>
            <a:ext cx="8991600" cy="838200"/>
          </a:xfrm>
        </p:spPr>
        <p:txBody>
          <a:bodyPr/>
          <a:lstStyle/>
          <a:p>
            <a:r>
              <a:rPr lang="en-US" dirty="0"/>
              <a:t>memory is a </a:t>
            </a:r>
            <a:r>
              <a:rPr lang="en-US" b="1" dirty="0"/>
              <a:t>finite resource. </a:t>
            </a:r>
            <a:r>
              <a:rPr lang="en-US" dirty="0"/>
              <a:t>we have to </a:t>
            </a:r>
            <a:r>
              <a:rPr lang="en-US" b="1" dirty="0"/>
              <a:t>reuse </a:t>
            </a:r>
            <a:r>
              <a:rPr lang="en-US" dirty="0"/>
              <a:t>it when we can.</a:t>
            </a:r>
          </a:p>
          <a:p>
            <a:r>
              <a:rPr lang="en-US" b="1" dirty="0"/>
              <a:t>deallocation</a:t>
            </a:r>
            <a:r>
              <a:rPr lang="en-US" dirty="0"/>
              <a:t> marks a previously-used location as ready for reuse.</a:t>
            </a:r>
          </a:p>
        </p:txBody>
      </p:sp>
      <p:sp>
        <p:nvSpPr>
          <p:cNvPr id="4" name="Slide Number Placeholder 3">
            <a:extLst>
              <a:ext uri="{FF2B5EF4-FFF2-40B4-BE49-F238E27FC236}">
                <a16:creationId xmlns:a16="http://schemas.microsoft.com/office/drawing/2014/main" id="{5D09AF0C-EB5B-0847-8FF9-B608918A8E94}"/>
              </a:ext>
            </a:extLst>
          </p:cNvPr>
          <p:cNvSpPr>
            <a:spLocks noGrp="1"/>
          </p:cNvSpPr>
          <p:nvPr>
            <p:ph type="sldNum" sz="quarter" idx="12"/>
          </p:nvPr>
        </p:nvSpPr>
        <p:spPr/>
        <p:txBody>
          <a:bodyPr/>
          <a:lstStyle/>
          <a:p>
            <a:fld id="{3552B95B-556F-44BD-91A5-D80C1B9E2BB3}" type="slidenum">
              <a:rPr lang="en-US" smtClean="0"/>
              <a:pPr/>
              <a:t>6</a:t>
            </a:fld>
            <a:endParaRPr lang="en-US"/>
          </a:p>
        </p:txBody>
      </p:sp>
      <p:sp>
        <p:nvSpPr>
          <p:cNvPr id="5" name="TextBox 4">
            <a:extLst>
              <a:ext uri="{FF2B5EF4-FFF2-40B4-BE49-F238E27FC236}">
                <a16:creationId xmlns:a16="http://schemas.microsoft.com/office/drawing/2014/main" id="{476A631A-A676-AC4F-B02B-A5720F49AD20}"/>
              </a:ext>
            </a:extLst>
          </p:cNvPr>
          <p:cNvSpPr txBox="1"/>
          <p:nvPr/>
        </p:nvSpPr>
        <p:spPr>
          <a:xfrm>
            <a:off x="161925" y="1333500"/>
            <a:ext cx="3810000" cy="430887"/>
          </a:xfrm>
          <a:prstGeom prst="rect">
            <a:avLst/>
          </a:prstGeom>
          <a:noFill/>
        </p:spPr>
        <p:txBody>
          <a:bodyPr wrap="square" rtlCol="0">
            <a:spAutoFit/>
          </a:bodyPr>
          <a:lstStyle/>
          <a:p>
            <a:pPr algn="ctr"/>
            <a:r>
              <a:rPr lang="en-US" sz="2200" dirty="0"/>
              <a:t>stacks are natural recyclers.</a:t>
            </a:r>
            <a:endParaRPr lang="en-US" sz="2200" dirty="0">
              <a:latin typeface="Consolas" panose="020B0609020204030204" pitchFamily="49" charset="0"/>
              <a:cs typeface="Consolas" panose="020B0609020204030204" pitchFamily="49" charset="0"/>
            </a:endParaRPr>
          </a:p>
        </p:txBody>
      </p:sp>
      <p:graphicFrame>
        <p:nvGraphicFramePr>
          <p:cNvPr id="6" name="Table 5">
            <a:extLst>
              <a:ext uri="{FF2B5EF4-FFF2-40B4-BE49-F238E27FC236}">
                <a16:creationId xmlns:a16="http://schemas.microsoft.com/office/drawing/2014/main" id="{468B7045-2053-3A45-A30B-AD27FB77C726}"/>
              </a:ext>
            </a:extLst>
          </p:cNvPr>
          <p:cNvGraphicFramePr>
            <a:graphicFrameLocks noGrp="1"/>
          </p:cNvGraphicFramePr>
          <p:nvPr>
            <p:extLst>
              <p:ext uri="{D42A27DB-BD31-4B8C-83A1-F6EECF244321}">
                <p14:modId xmlns:p14="http://schemas.microsoft.com/office/powerpoint/2010/main" val="2549202358"/>
              </p:ext>
            </p:extLst>
          </p:nvPr>
        </p:nvGraphicFramePr>
        <p:xfrm>
          <a:off x="914400" y="1831067"/>
          <a:ext cx="990600" cy="792480"/>
        </p:xfrm>
        <a:graphic>
          <a:graphicData uri="http://schemas.openxmlformats.org/drawingml/2006/table">
            <a:tbl>
              <a:tblPr bandRow="1">
                <a:tableStyleId>{5C22544A-7EE6-4342-B048-85BDC9FD1C3A}</a:tableStyleId>
              </a:tblPr>
              <a:tblGrid>
                <a:gridCol w="990600">
                  <a:extLst>
                    <a:ext uri="{9D8B030D-6E8A-4147-A177-3AD203B41FA5}">
                      <a16:colId xmlns:a16="http://schemas.microsoft.com/office/drawing/2014/main" val="206248348"/>
                    </a:ext>
                  </a:extLst>
                </a:gridCol>
              </a:tblGrid>
              <a:tr h="370840">
                <a:tc>
                  <a:txBody>
                    <a:bodyPr/>
                    <a:lstStyle/>
                    <a:p>
                      <a:pPr algn="ctr"/>
                      <a:r>
                        <a:rPr lang="en-US" sz="2000" b="1" dirty="0">
                          <a:latin typeface="Consolas" panose="020B0609020204030204" pitchFamily="49" charset="0"/>
                          <a:cs typeface="Consolas" panose="020B0609020204030204" pitchFamily="49" charset="0"/>
                        </a:rPr>
                        <a:t>3</a:t>
                      </a:r>
                    </a:p>
                  </a:txBody>
                  <a:tcPr anchor="ctr">
                    <a:solidFill>
                      <a:schemeClr val="accent4">
                        <a:lumMod val="60000"/>
                        <a:lumOff val="40000"/>
                      </a:schemeClr>
                    </a:solidFill>
                  </a:tcPr>
                </a:tc>
                <a:extLst>
                  <a:ext uri="{0D108BD9-81ED-4DB2-BD59-A6C34878D82A}">
                    <a16:rowId xmlns:a16="http://schemas.microsoft.com/office/drawing/2014/main" val="2670510105"/>
                  </a:ext>
                </a:extLst>
              </a:tr>
              <a:tr h="370840">
                <a:tc>
                  <a:txBody>
                    <a:bodyPr/>
                    <a:lstStyle/>
                    <a:p>
                      <a:pPr algn="ctr"/>
                      <a:r>
                        <a:rPr lang="en-US" sz="2000" b="1" dirty="0">
                          <a:latin typeface="Consolas" panose="020B0609020204030204" pitchFamily="49" charset="0"/>
                          <a:cs typeface="Consolas" panose="020B0609020204030204" pitchFamily="49" charset="0"/>
                        </a:rPr>
                        <a:t>10</a:t>
                      </a:r>
                    </a:p>
                  </a:txBody>
                  <a:tcPr anchor="ctr">
                    <a:solidFill>
                      <a:schemeClr val="accent4">
                        <a:lumMod val="60000"/>
                        <a:lumOff val="40000"/>
                      </a:schemeClr>
                    </a:solidFill>
                  </a:tcPr>
                </a:tc>
                <a:extLst>
                  <a:ext uri="{0D108BD9-81ED-4DB2-BD59-A6C34878D82A}">
                    <a16:rowId xmlns:a16="http://schemas.microsoft.com/office/drawing/2014/main" val="316332236"/>
                  </a:ext>
                </a:extLst>
              </a:tr>
            </a:tbl>
          </a:graphicData>
        </a:graphic>
      </p:graphicFrame>
      <p:graphicFrame>
        <p:nvGraphicFramePr>
          <p:cNvPr id="7" name="Table 6">
            <a:extLst>
              <a:ext uri="{FF2B5EF4-FFF2-40B4-BE49-F238E27FC236}">
                <a16:creationId xmlns:a16="http://schemas.microsoft.com/office/drawing/2014/main" id="{E74A2F65-2C8B-6649-A54A-39A35CE98A01}"/>
              </a:ext>
            </a:extLst>
          </p:cNvPr>
          <p:cNvGraphicFramePr>
            <a:graphicFrameLocks noGrp="1"/>
          </p:cNvGraphicFramePr>
          <p:nvPr>
            <p:extLst>
              <p:ext uri="{D42A27DB-BD31-4B8C-83A1-F6EECF244321}">
                <p14:modId xmlns:p14="http://schemas.microsoft.com/office/powerpoint/2010/main" val="1704651163"/>
              </p:ext>
            </p:extLst>
          </p:nvPr>
        </p:nvGraphicFramePr>
        <p:xfrm>
          <a:off x="2743200" y="1831067"/>
          <a:ext cx="990600" cy="1981200"/>
        </p:xfrm>
        <a:graphic>
          <a:graphicData uri="http://schemas.openxmlformats.org/drawingml/2006/table">
            <a:tbl>
              <a:tblPr bandRow="1">
                <a:tableStyleId>{5C22544A-7EE6-4342-B048-85BDC9FD1C3A}</a:tableStyleId>
              </a:tblPr>
              <a:tblGrid>
                <a:gridCol w="990600">
                  <a:extLst>
                    <a:ext uri="{9D8B030D-6E8A-4147-A177-3AD203B41FA5}">
                      <a16:colId xmlns:a16="http://schemas.microsoft.com/office/drawing/2014/main" val="206248348"/>
                    </a:ext>
                  </a:extLst>
                </a:gridCol>
              </a:tblGrid>
              <a:tr h="370840">
                <a:tc>
                  <a:txBody>
                    <a:bodyPr/>
                    <a:lstStyle/>
                    <a:p>
                      <a:pPr algn="ctr"/>
                      <a:r>
                        <a:rPr lang="en-US" sz="2000" b="1" dirty="0">
                          <a:latin typeface="Consolas" panose="020B0609020204030204" pitchFamily="49" charset="0"/>
                          <a:cs typeface="Consolas" panose="020B0609020204030204" pitchFamily="49" charset="0"/>
                        </a:rPr>
                        <a:t>3</a:t>
                      </a:r>
                    </a:p>
                  </a:txBody>
                  <a:tcPr anchor="ctr">
                    <a:solidFill>
                      <a:schemeClr val="accent4">
                        <a:lumMod val="60000"/>
                        <a:lumOff val="40000"/>
                      </a:schemeClr>
                    </a:solidFill>
                  </a:tcPr>
                </a:tc>
                <a:extLst>
                  <a:ext uri="{0D108BD9-81ED-4DB2-BD59-A6C34878D82A}">
                    <a16:rowId xmlns:a16="http://schemas.microsoft.com/office/drawing/2014/main" val="2670510105"/>
                  </a:ext>
                </a:extLst>
              </a:tr>
              <a:tr h="370840">
                <a:tc>
                  <a:txBody>
                    <a:bodyPr/>
                    <a:lstStyle/>
                    <a:p>
                      <a:pPr algn="ctr"/>
                      <a:r>
                        <a:rPr lang="en-US" sz="2000" b="1" dirty="0">
                          <a:latin typeface="Consolas" panose="020B0609020204030204" pitchFamily="49" charset="0"/>
                          <a:cs typeface="Consolas" panose="020B0609020204030204" pitchFamily="49" charset="0"/>
                        </a:rPr>
                        <a:t>10</a:t>
                      </a:r>
                    </a:p>
                  </a:txBody>
                  <a:tcPr anchor="ctr">
                    <a:solidFill>
                      <a:schemeClr val="accent4">
                        <a:lumMod val="60000"/>
                        <a:lumOff val="40000"/>
                      </a:schemeClr>
                    </a:solidFill>
                  </a:tcPr>
                </a:tc>
                <a:extLst>
                  <a:ext uri="{0D108BD9-81ED-4DB2-BD59-A6C34878D82A}">
                    <a16:rowId xmlns:a16="http://schemas.microsoft.com/office/drawing/2014/main" val="316332236"/>
                  </a:ext>
                </a:extLst>
              </a:tr>
              <a:tr h="370840">
                <a:tc>
                  <a:txBody>
                    <a:bodyPr/>
                    <a:lstStyle/>
                    <a:p>
                      <a:pPr algn="ctr"/>
                      <a:r>
                        <a:rPr lang="en-US" sz="2000" b="1" dirty="0">
                          <a:latin typeface="Consolas" panose="020B0609020204030204" pitchFamily="49" charset="0"/>
                          <a:cs typeface="Consolas" panose="020B0609020204030204" pitchFamily="49" charset="0"/>
                        </a:rPr>
                        <a:t>99</a:t>
                      </a:r>
                    </a:p>
                  </a:txBody>
                  <a:tcPr anchor="ctr">
                    <a:solidFill>
                      <a:schemeClr val="accent4">
                        <a:lumMod val="60000"/>
                        <a:lumOff val="40000"/>
                      </a:schemeClr>
                    </a:solidFill>
                  </a:tcPr>
                </a:tc>
                <a:extLst>
                  <a:ext uri="{0D108BD9-81ED-4DB2-BD59-A6C34878D82A}">
                    <a16:rowId xmlns:a16="http://schemas.microsoft.com/office/drawing/2014/main" val="2422404731"/>
                  </a:ext>
                </a:extLst>
              </a:tr>
              <a:tr h="370840">
                <a:tc>
                  <a:txBody>
                    <a:bodyPr/>
                    <a:lstStyle/>
                    <a:p>
                      <a:pPr algn="ctr"/>
                      <a:r>
                        <a:rPr lang="en-US" sz="2000" b="1" dirty="0">
                          <a:latin typeface="Consolas" panose="020B0609020204030204" pitchFamily="49" charset="0"/>
                          <a:cs typeface="Consolas" panose="020B0609020204030204" pitchFamily="49" charset="0"/>
                        </a:rPr>
                        <a:t>4</a:t>
                      </a:r>
                    </a:p>
                  </a:txBody>
                  <a:tcPr anchor="ctr">
                    <a:solidFill>
                      <a:schemeClr val="accent4">
                        <a:lumMod val="60000"/>
                        <a:lumOff val="40000"/>
                      </a:schemeClr>
                    </a:solidFill>
                  </a:tcPr>
                </a:tc>
                <a:extLst>
                  <a:ext uri="{0D108BD9-81ED-4DB2-BD59-A6C34878D82A}">
                    <a16:rowId xmlns:a16="http://schemas.microsoft.com/office/drawing/2014/main" val="2327924638"/>
                  </a:ext>
                </a:extLst>
              </a:tr>
              <a:tr h="370840">
                <a:tc>
                  <a:txBody>
                    <a:bodyPr/>
                    <a:lstStyle/>
                    <a:p>
                      <a:pPr algn="ctr"/>
                      <a:r>
                        <a:rPr lang="en-US" sz="2000" b="1" dirty="0">
                          <a:latin typeface="Consolas" panose="020B0609020204030204" pitchFamily="49" charset="0"/>
                          <a:cs typeface="Consolas" panose="020B0609020204030204" pitchFamily="49" charset="0"/>
                        </a:rPr>
                        <a:t>163</a:t>
                      </a:r>
                    </a:p>
                  </a:txBody>
                  <a:tcPr anchor="ctr">
                    <a:solidFill>
                      <a:schemeClr val="accent4">
                        <a:lumMod val="60000"/>
                        <a:lumOff val="40000"/>
                      </a:schemeClr>
                    </a:solidFill>
                  </a:tcPr>
                </a:tc>
                <a:extLst>
                  <a:ext uri="{0D108BD9-81ED-4DB2-BD59-A6C34878D82A}">
                    <a16:rowId xmlns:a16="http://schemas.microsoft.com/office/drawing/2014/main" val="1413672350"/>
                  </a:ext>
                </a:extLst>
              </a:tr>
            </a:tbl>
          </a:graphicData>
        </a:graphic>
      </p:graphicFrame>
      <p:graphicFrame>
        <p:nvGraphicFramePr>
          <p:cNvPr id="8" name="Table 7">
            <a:extLst>
              <a:ext uri="{FF2B5EF4-FFF2-40B4-BE49-F238E27FC236}">
                <a16:creationId xmlns:a16="http://schemas.microsoft.com/office/drawing/2014/main" id="{5E081469-657C-0A40-BCCD-F13E04943252}"/>
              </a:ext>
            </a:extLst>
          </p:cNvPr>
          <p:cNvGraphicFramePr>
            <a:graphicFrameLocks noGrp="1"/>
          </p:cNvGraphicFramePr>
          <p:nvPr>
            <p:extLst>
              <p:ext uri="{D42A27DB-BD31-4B8C-83A1-F6EECF244321}">
                <p14:modId xmlns:p14="http://schemas.microsoft.com/office/powerpoint/2010/main" val="1789457813"/>
              </p:ext>
            </p:extLst>
          </p:nvPr>
        </p:nvGraphicFramePr>
        <p:xfrm>
          <a:off x="4572000" y="1831067"/>
          <a:ext cx="990600" cy="1981200"/>
        </p:xfrm>
        <a:graphic>
          <a:graphicData uri="http://schemas.openxmlformats.org/drawingml/2006/table">
            <a:tbl>
              <a:tblPr bandRow="1">
                <a:tableStyleId>{5C22544A-7EE6-4342-B048-85BDC9FD1C3A}</a:tableStyleId>
              </a:tblPr>
              <a:tblGrid>
                <a:gridCol w="990600">
                  <a:extLst>
                    <a:ext uri="{9D8B030D-6E8A-4147-A177-3AD203B41FA5}">
                      <a16:colId xmlns:a16="http://schemas.microsoft.com/office/drawing/2014/main" val="206248348"/>
                    </a:ext>
                  </a:extLst>
                </a:gridCol>
              </a:tblGrid>
              <a:tr h="370840">
                <a:tc>
                  <a:txBody>
                    <a:bodyPr/>
                    <a:lstStyle/>
                    <a:p>
                      <a:pPr algn="ctr"/>
                      <a:r>
                        <a:rPr lang="en-US" sz="2000" b="1" dirty="0">
                          <a:latin typeface="Consolas" panose="020B0609020204030204" pitchFamily="49" charset="0"/>
                          <a:cs typeface="Consolas" panose="020B0609020204030204" pitchFamily="49" charset="0"/>
                        </a:rPr>
                        <a:t>3</a:t>
                      </a:r>
                    </a:p>
                  </a:txBody>
                  <a:tcPr anchor="ctr">
                    <a:solidFill>
                      <a:schemeClr val="accent4">
                        <a:lumMod val="60000"/>
                        <a:lumOff val="40000"/>
                      </a:schemeClr>
                    </a:solidFill>
                  </a:tcPr>
                </a:tc>
                <a:extLst>
                  <a:ext uri="{0D108BD9-81ED-4DB2-BD59-A6C34878D82A}">
                    <a16:rowId xmlns:a16="http://schemas.microsoft.com/office/drawing/2014/main" val="2670510105"/>
                  </a:ext>
                </a:extLst>
              </a:tr>
              <a:tr h="370840">
                <a:tc>
                  <a:txBody>
                    <a:bodyPr/>
                    <a:lstStyle/>
                    <a:p>
                      <a:pPr algn="ctr"/>
                      <a:r>
                        <a:rPr lang="en-US" sz="2000" b="1" dirty="0">
                          <a:latin typeface="Consolas" panose="020B0609020204030204" pitchFamily="49" charset="0"/>
                          <a:cs typeface="Consolas" panose="020B0609020204030204" pitchFamily="49" charset="0"/>
                        </a:rPr>
                        <a:t>10</a:t>
                      </a:r>
                    </a:p>
                  </a:txBody>
                  <a:tcPr anchor="ctr">
                    <a:solidFill>
                      <a:schemeClr val="accent4">
                        <a:lumMod val="60000"/>
                        <a:lumOff val="40000"/>
                      </a:schemeClr>
                    </a:solidFill>
                  </a:tcPr>
                </a:tc>
                <a:extLst>
                  <a:ext uri="{0D108BD9-81ED-4DB2-BD59-A6C34878D82A}">
                    <a16:rowId xmlns:a16="http://schemas.microsoft.com/office/drawing/2014/main" val="316332236"/>
                  </a:ext>
                </a:extLst>
              </a:tr>
              <a:tr h="370840">
                <a:tc>
                  <a:txBody>
                    <a:bodyPr/>
                    <a:lstStyle/>
                    <a:p>
                      <a:pPr algn="ctr"/>
                      <a:r>
                        <a:rPr lang="en-US" sz="2000" b="0" i="1" dirty="0">
                          <a:solidFill>
                            <a:schemeClr val="bg1">
                              <a:lumMod val="50000"/>
                            </a:schemeClr>
                          </a:solidFill>
                          <a:latin typeface="Consolas" panose="020B0609020204030204" pitchFamily="49" charset="0"/>
                          <a:cs typeface="Consolas" panose="020B0609020204030204" pitchFamily="49" charset="0"/>
                        </a:rPr>
                        <a:t>99</a:t>
                      </a:r>
                    </a:p>
                  </a:txBody>
                  <a:tcPr anchor="ctr">
                    <a:solidFill>
                      <a:schemeClr val="accent4">
                        <a:lumMod val="20000"/>
                        <a:lumOff val="80000"/>
                      </a:schemeClr>
                    </a:solidFill>
                  </a:tcPr>
                </a:tc>
                <a:extLst>
                  <a:ext uri="{0D108BD9-81ED-4DB2-BD59-A6C34878D82A}">
                    <a16:rowId xmlns:a16="http://schemas.microsoft.com/office/drawing/2014/main" val="2422404731"/>
                  </a:ext>
                </a:extLst>
              </a:tr>
              <a:tr h="370840">
                <a:tc>
                  <a:txBody>
                    <a:bodyPr/>
                    <a:lstStyle/>
                    <a:p>
                      <a:pPr algn="ctr"/>
                      <a:r>
                        <a:rPr lang="en-US" sz="2000" b="0" i="1" dirty="0">
                          <a:solidFill>
                            <a:schemeClr val="bg1">
                              <a:lumMod val="50000"/>
                            </a:schemeClr>
                          </a:solidFill>
                          <a:latin typeface="Consolas" panose="020B0609020204030204" pitchFamily="49" charset="0"/>
                          <a:cs typeface="Consolas" panose="020B0609020204030204" pitchFamily="49" charset="0"/>
                        </a:rPr>
                        <a:t>4</a:t>
                      </a:r>
                    </a:p>
                  </a:txBody>
                  <a:tcPr anchor="ctr">
                    <a:solidFill>
                      <a:schemeClr val="accent4">
                        <a:lumMod val="20000"/>
                        <a:lumOff val="80000"/>
                      </a:schemeClr>
                    </a:solidFill>
                  </a:tcPr>
                </a:tc>
                <a:extLst>
                  <a:ext uri="{0D108BD9-81ED-4DB2-BD59-A6C34878D82A}">
                    <a16:rowId xmlns:a16="http://schemas.microsoft.com/office/drawing/2014/main" val="2327924638"/>
                  </a:ext>
                </a:extLst>
              </a:tr>
              <a:tr h="370840">
                <a:tc>
                  <a:txBody>
                    <a:bodyPr/>
                    <a:lstStyle/>
                    <a:p>
                      <a:pPr algn="ctr"/>
                      <a:r>
                        <a:rPr lang="en-US" sz="2000" b="0" i="1" dirty="0">
                          <a:solidFill>
                            <a:schemeClr val="bg1">
                              <a:lumMod val="50000"/>
                            </a:schemeClr>
                          </a:solidFill>
                          <a:latin typeface="Consolas" panose="020B0609020204030204" pitchFamily="49" charset="0"/>
                          <a:cs typeface="Consolas" panose="020B0609020204030204" pitchFamily="49" charset="0"/>
                        </a:rPr>
                        <a:t>163</a:t>
                      </a:r>
                    </a:p>
                  </a:txBody>
                  <a:tcPr anchor="ctr">
                    <a:solidFill>
                      <a:schemeClr val="accent4">
                        <a:lumMod val="20000"/>
                        <a:lumOff val="80000"/>
                      </a:schemeClr>
                    </a:solidFill>
                  </a:tcPr>
                </a:tc>
                <a:extLst>
                  <a:ext uri="{0D108BD9-81ED-4DB2-BD59-A6C34878D82A}">
                    <a16:rowId xmlns:a16="http://schemas.microsoft.com/office/drawing/2014/main" val="1413672350"/>
                  </a:ext>
                </a:extLst>
              </a:tr>
            </a:tbl>
          </a:graphicData>
        </a:graphic>
      </p:graphicFrame>
      <p:sp>
        <p:nvSpPr>
          <p:cNvPr id="9" name="TextBox 8">
            <a:extLst>
              <a:ext uri="{FF2B5EF4-FFF2-40B4-BE49-F238E27FC236}">
                <a16:creationId xmlns:a16="http://schemas.microsoft.com/office/drawing/2014/main" id="{26C6C80B-4975-B140-8198-48F693DEB1E1}"/>
              </a:ext>
            </a:extLst>
          </p:cNvPr>
          <p:cNvSpPr txBox="1"/>
          <p:nvPr/>
        </p:nvSpPr>
        <p:spPr>
          <a:xfrm>
            <a:off x="161925" y="2735945"/>
            <a:ext cx="2509838" cy="1107996"/>
          </a:xfrm>
          <a:prstGeom prst="rect">
            <a:avLst/>
          </a:prstGeom>
          <a:noFill/>
        </p:spPr>
        <p:txBody>
          <a:bodyPr wrap="square" rtlCol="0">
            <a:spAutoFit/>
          </a:bodyPr>
          <a:lstStyle/>
          <a:p>
            <a:pPr algn="ctr"/>
            <a:r>
              <a:rPr lang="en-US" sz="2200" dirty="0"/>
              <a:t>as we push values, they are placed in new locations.</a:t>
            </a:r>
            <a:endParaRPr lang="en-US" sz="2200" dirty="0">
              <a:latin typeface="Consolas" panose="020B0609020204030204" pitchFamily="49" charset="0"/>
              <a:cs typeface="Consolas" panose="020B0609020204030204" pitchFamily="49" charset="0"/>
            </a:endParaRPr>
          </a:p>
        </p:txBody>
      </p:sp>
      <p:sp>
        <p:nvSpPr>
          <p:cNvPr id="10" name="Right Arrow 9">
            <a:extLst>
              <a:ext uri="{FF2B5EF4-FFF2-40B4-BE49-F238E27FC236}">
                <a16:creationId xmlns:a16="http://schemas.microsoft.com/office/drawing/2014/main" id="{2E7C2148-502F-6441-AB5A-E04F5AC3EDF0}"/>
              </a:ext>
            </a:extLst>
          </p:cNvPr>
          <p:cNvSpPr/>
          <p:nvPr/>
        </p:nvSpPr>
        <p:spPr>
          <a:xfrm>
            <a:off x="2095500" y="1831066"/>
            <a:ext cx="457200" cy="83820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2A6388DB-FC9F-8849-BFA1-AD08C3365402}"/>
              </a:ext>
            </a:extLst>
          </p:cNvPr>
          <p:cNvSpPr/>
          <p:nvPr/>
        </p:nvSpPr>
        <p:spPr>
          <a:xfrm>
            <a:off x="3929062" y="1808207"/>
            <a:ext cx="457200" cy="83820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5819C87-CC2E-3641-B365-4C22CC4BB460}"/>
              </a:ext>
            </a:extLst>
          </p:cNvPr>
          <p:cNvSpPr txBox="1"/>
          <p:nvPr/>
        </p:nvSpPr>
        <p:spPr>
          <a:xfrm>
            <a:off x="2286000" y="3878946"/>
            <a:ext cx="3829050" cy="1107996"/>
          </a:xfrm>
          <a:prstGeom prst="rect">
            <a:avLst/>
          </a:prstGeom>
          <a:noFill/>
        </p:spPr>
        <p:txBody>
          <a:bodyPr wrap="square" rtlCol="0">
            <a:spAutoFit/>
          </a:bodyPr>
          <a:lstStyle/>
          <a:p>
            <a:pPr algn="ctr"/>
            <a:r>
              <a:rPr lang="en-US" sz="2200" dirty="0"/>
              <a:t>when they're popped, the </a:t>
            </a:r>
            <a:r>
              <a:rPr lang="en-US" sz="2200" i="1" dirty="0"/>
              <a:t>values</a:t>
            </a:r>
            <a:r>
              <a:rPr lang="en-US" sz="2200" dirty="0"/>
              <a:t> are deallocated, but the </a:t>
            </a:r>
            <a:r>
              <a:rPr lang="en-US" sz="2200" i="1" dirty="0"/>
              <a:t>locations</a:t>
            </a:r>
            <a:r>
              <a:rPr lang="en-US" sz="2200" dirty="0"/>
              <a:t> stick around…</a:t>
            </a:r>
            <a:endParaRPr lang="en-US" sz="2200" dirty="0">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48CA7D6E-4E29-D24B-8370-3739D0C9A307}"/>
              </a:ext>
            </a:extLst>
          </p:cNvPr>
          <p:cNvSpPr txBox="1"/>
          <p:nvPr/>
        </p:nvSpPr>
        <p:spPr>
          <a:xfrm>
            <a:off x="5821017" y="4547397"/>
            <a:ext cx="3276600" cy="769441"/>
          </a:xfrm>
          <a:prstGeom prst="rect">
            <a:avLst/>
          </a:prstGeom>
          <a:noFill/>
        </p:spPr>
        <p:txBody>
          <a:bodyPr wrap="square" rtlCol="0">
            <a:spAutoFit/>
          </a:bodyPr>
          <a:lstStyle/>
          <a:p>
            <a:pPr algn="ctr"/>
            <a:r>
              <a:rPr lang="en-US" sz="2200" dirty="0"/>
              <a:t>and can be easily reused by the next push.</a:t>
            </a:r>
            <a:endParaRPr lang="en-US" sz="2200" dirty="0">
              <a:latin typeface="Consolas" panose="020B0609020204030204" pitchFamily="49" charset="0"/>
              <a:cs typeface="Consolas" panose="020B0609020204030204" pitchFamily="49" charset="0"/>
            </a:endParaRPr>
          </a:p>
        </p:txBody>
      </p:sp>
      <p:graphicFrame>
        <p:nvGraphicFramePr>
          <p:cNvPr id="14" name="Table 13">
            <a:extLst>
              <a:ext uri="{FF2B5EF4-FFF2-40B4-BE49-F238E27FC236}">
                <a16:creationId xmlns:a16="http://schemas.microsoft.com/office/drawing/2014/main" id="{2B84C17C-991F-0341-A738-A02E67CEF7FD}"/>
              </a:ext>
            </a:extLst>
          </p:cNvPr>
          <p:cNvGraphicFramePr>
            <a:graphicFrameLocks noGrp="1"/>
          </p:cNvGraphicFramePr>
          <p:nvPr>
            <p:extLst>
              <p:ext uri="{D42A27DB-BD31-4B8C-83A1-F6EECF244321}">
                <p14:modId xmlns:p14="http://schemas.microsoft.com/office/powerpoint/2010/main" val="1163994795"/>
              </p:ext>
            </p:extLst>
          </p:nvPr>
        </p:nvGraphicFramePr>
        <p:xfrm>
          <a:off x="6353174" y="1831067"/>
          <a:ext cx="990600" cy="1981200"/>
        </p:xfrm>
        <a:graphic>
          <a:graphicData uri="http://schemas.openxmlformats.org/drawingml/2006/table">
            <a:tbl>
              <a:tblPr bandRow="1">
                <a:tableStyleId>{5C22544A-7EE6-4342-B048-85BDC9FD1C3A}</a:tableStyleId>
              </a:tblPr>
              <a:tblGrid>
                <a:gridCol w="990600">
                  <a:extLst>
                    <a:ext uri="{9D8B030D-6E8A-4147-A177-3AD203B41FA5}">
                      <a16:colId xmlns:a16="http://schemas.microsoft.com/office/drawing/2014/main" val="206248348"/>
                    </a:ext>
                  </a:extLst>
                </a:gridCol>
              </a:tblGrid>
              <a:tr h="370840">
                <a:tc>
                  <a:txBody>
                    <a:bodyPr/>
                    <a:lstStyle/>
                    <a:p>
                      <a:pPr algn="ctr"/>
                      <a:r>
                        <a:rPr lang="en-US" sz="2000" b="1" dirty="0">
                          <a:latin typeface="Consolas" panose="020B0609020204030204" pitchFamily="49" charset="0"/>
                          <a:cs typeface="Consolas" panose="020B0609020204030204" pitchFamily="49" charset="0"/>
                        </a:rPr>
                        <a:t>3</a:t>
                      </a:r>
                    </a:p>
                  </a:txBody>
                  <a:tcPr anchor="ctr">
                    <a:solidFill>
                      <a:schemeClr val="accent4">
                        <a:lumMod val="60000"/>
                        <a:lumOff val="40000"/>
                      </a:schemeClr>
                    </a:solidFill>
                  </a:tcPr>
                </a:tc>
                <a:extLst>
                  <a:ext uri="{0D108BD9-81ED-4DB2-BD59-A6C34878D82A}">
                    <a16:rowId xmlns:a16="http://schemas.microsoft.com/office/drawing/2014/main" val="2670510105"/>
                  </a:ext>
                </a:extLst>
              </a:tr>
              <a:tr h="370840">
                <a:tc>
                  <a:txBody>
                    <a:bodyPr/>
                    <a:lstStyle/>
                    <a:p>
                      <a:pPr algn="ctr"/>
                      <a:r>
                        <a:rPr lang="en-US" sz="2000" b="1" dirty="0">
                          <a:latin typeface="Consolas" panose="020B0609020204030204" pitchFamily="49" charset="0"/>
                          <a:cs typeface="Consolas" panose="020B0609020204030204" pitchFamily="49" charset="0"/>
                        </a:rPr>
                        <a:t>10</a:t>
                      </a:r>
                    </a:p>
                  </a:txBody>
                  <a:tcPr anchor="ctr">
                    <a:solidFill>
                      <a:schemeClr val="accent4">
                        <a:lumMod val="60000"/>
                        <a:lumOff val="40000"/>
                      </a:schemeClr>
                    </a:solidFill>
                  </a:tcPr>
                </a:tc>
                <a:extLst>
                  <a:ext uri="{0D108BD9-81ED-4DB2-BD59-A6C34878D82A}">
                    <a16:rowId xmlns:a16="http://schemas.microsoft.com/office/drawing/2014/main" val="1082572174"/>
                  </a:ext>
                </a:extLst>
              </a:tr>
              <a:tr h="370840">
                <a:tc>
                  <a:txBody>
                    <a:bodyPr/>
                    <a:lstStyle/>
                    <a:p>
                      <a:pPr algn="ctr"/>
                      <a:r>
                        <a:rPr lang="en-US" sz="2000" b="1" dirty="0">
                          <a:latin typeface="Consolas" panose="020B0609020204030204" pitchFamily="49" charset="0"/>
                          <a:cs typeface="Consolas" panose="020B0609020204030204" pitchFamily="49" charset="0"/>
                        </a:rPr>
                        <a:t>433</a:t>
                      </a:r>
                    </a:p>
                  </a:txBody>
                  <a:tcPr anchor="ctr">
                    <a:solidFill>
                      <a:schemeClr val="accent4">
                        <a:lumMod val="60000"/>
                        <a:lumOff val="40000"/>
                      </a:schemeClr>
                    </a:solidFill>
                  </a:tcPr>
                </a:tc>
                <a:extLst>
                  <a:ext uri="{0D108BD9-81ED-4DB2-BD59-A6C34878D82A}">
                    <a16:rowId xmlns:a16="http://schemas.microsoft.com/office/drawing/2014/main" val="316332236"/>
                  </a:ext>
                </a:extLst>
              </a:tr>
              <a:tr h="370840">
                <a:tc>
                  <a:txBody>
                    <a:bodyPr/>
                    <a:lstStyle/>
                    <a:p>
                      <a:pPr algn="ctr"/>
                      <a:r>
                        <a:rPr lang="en-US" sz="2000" b="0" i="1" dirty="0">
                          <a:solidFill>
                            <a:schemeClr val="bg1">
                              <a:lumMod val="50000"/>
                            </a:schemeClr>
                          </a:solidFill>
                          <a:latin typeface="Consolas" panose="020B0609020204030204" pitchFamily="49" charset="0"/>
                          <a:cs typeface="Consolas" panose="020B0609020204030204" pitchFamily="49" charset="0"/>
                        </a:rPr>
                        <a:t>4</a:t>
                      </a:r>
                    </a:p>
                  </a:txBody>
                  <a:tcPr anchor="ctr">
                    <a:solidFill>
                      <a:schemeClr val="accent4">
                        <a:lumMod val="20000"/>
                        <a:lumOff val="80000"/>
                      </a:schemeClr>
                    </a:solidFill>
                  </a:tcPr>
                </a:tc>
                <a:extLst>
                  <a:ext uri="{0D108BD9-81ED-4DB2-BD59-A6C34878D82A}">
                    <a16:rowId xmlns:a16="http://schemas.microsoft.com/office/drawing/2014/main" val="2327924638"/>
                  </a:ext>
                </a:extLst>
              </a:tr>
              <a:tr h="370840">
                <a:tc>
                  <a:txBody>
                    <a:bodyPr/>
                    <a:lstStyle/>
                    <a:p>
                      <a:pPr algn="ctr"/>
                      <a:r>
                        <a:rPr lang="en-US" sz="2000" b="0" i="1" dirty="0">
                          <a:solidFill>
                            <a:schemeClr val="bg1">
                              <a:lumMod val="50000"/>
                            </a:schemeClr>
                          </a:solidFill>
                          <a:latin typeface="Consolas" panose="020B0609020204030204" pitchFamily="49" charset="0"/>
                          <a:cs typeface="Consolas" panose="020B0609020204030204" pitchFamily="49" charset="0"/>
                        </a:rPr>
                        <a:t>163</a:t>
                      </a:r>
                    </a:p>
                  </a:txBody>
                  <a:tcPr anchor="ctr">
                    <a:solidFill>
                      <a:schemeClr val="accent4">
                        <a:lumMod val="20000"/>
                        <a:lumOff val="80000"/>
                      </a:schemeClr>
                    </a:solidFill>
                  </a:tcPr>
                </a:tc>
                <a:extLst>
                  <a:ext uri="{0D108BD9-81ED-4DB2-BD59-A6C34878D82A}">
                    <a16:rowId xmlns:a16="http://schemas.microsoft.com/office/drawing/2014/main" val="1413672350"/>
                  </a:ext>
                </a:extLst>
              </a:tr>
            </a:tbl>
          </a:graphicData>
        </a:graphic>
      </p:graphicFrame>
      <p:sp>
        <p:nvSpPr>
          <p:cNvPr id="15" name="Right Arrow 14">
            <a:extLst>
              <a:ext uri="{FF2B5EF4-FFF2-40B4-BE49-F238E27FC236}">
                <a16:creationId xmlns:a16="http://schemas.microsoft.com/office/drawing/2014/main" id="{61896A27-313E-CD45-9208-178BEBD23787}"/>
              </a:ext>
            </a:extLst>
          </p:cNvPr>
          <p:cNvSpPr/>
          <p:nvPr/>
        </p:nvSpPr>
        <p:spPr>
          <a:xfrm>
            <a:off x="5729287" y="1808207"/>
            <a:ext cx="457200" cy="83820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01961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animBg="1"/>
      <p:bldP spid="11" grpId="0" animBg="1"/>
      <p:bldP spid="12" grpId="0"/>
      <p:bldP spid="13" grpId="0"/>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AC05-3471-0340-916B-38F2FEC23B84}"/>
              </a:ext>
            </a:extLst>
          </p:cNvPr>
          <p:cNvSpPr>
            <a:spLocks noGrp="1"/>
          </p:cNvSpPr>
          <p:nvPr>
            <p:ph type="title"/>
          </p:nvPr>
        </p:nvSpPr>
        <p:spPr/>
        <p:txBody>
          <a:bodyPr/>
          <a:lstStyle/>
          <a:p>
            <a:r>
              <a:rPr lang="en-US" dirty="0"/>
              <a:t>Lifetime and Ownership</a:t>
            </a:r>
          </a:p>
        </p:txBody>
      </p:sp>
      <p:sp>
        <p:nvSpPr>
          <p:cNvPr id="3" name="Content Placeholder 2">
            <a:extLst>
              <a:ext uri="{FF2B5EF4-FFF2-40B4-BE49-F238E27FC236}">
                <a16:creationId xmlns:a16="http://schemas.microsoft.com/office/drawing/2014/main" id="{2B362146-AED2-F64A-B067-FE37CEDC786C}"/>
              </a:ext>
            </a:extLst>
          </p:cNvPr>
          <p:cNvSpPr>
            <a:spLocks noGrp="1"/>
          </p:cNvSpPr>
          <p:nvPr>
            <p:ph idx="1"/>
          </p:nvPr>
        </p:nvSpPr>
        <p:spPr>
          <a:xfrm>
            <a:off x="152400" y="495301"/>
            <a:ext cx="8991600" cy="838199"/>
          </a:xfrm>
        </p:spPr>
        <p:txBody>
          <a:bodyPr/>
          <a:lstStyle/>
          <a:p>
            <a:r>
              <a:rPr lang="en-US" dirty="0"/>
              <a:t>a value's </a:t>
            </a:r>
            <a:r>
              <a:rPr lang="en-US" b="1" dirty="0"/>
              <a:t>lifetime</a:t>
            </a:r>
            <a:r>
              <a:rPr lang="en-US" dirty="0"/>
              <a:t> is the span of time from allocation to deallocation.</a:t>
            </a:r>
          </a:p>
          <a:p>
            <a:r>
              <a:rPr lang="en-US" dirty="0"/>
              <a:t>its </a:t>
            </a:r>
            <a:r>
              <a:rPr lang="en-US" b="1" dirty="0"/>
              <a:t>owner</a:t>
            </a:r>
            <a:r>
              <a:rPr lang="en-US" dirty="0"/>
              <a:t> is </a:t>
            </a:r>
            <a:r>
              <a:rPr lang="en-US" b="1" dirty="0"/>
              <a:t>what decides when it's safe to deallocate it.</a:t>
            </a:r>
            <a:endParaRPr lang="en-US" dirty="0"/>
          </a:p>
        </p:txBody>
      </p:sp>
      <p:sp>
        <p:nvSpPr>
          <p:cNvPr id="4" name="Slide Number Placeholder 3">
            <a:extLst>
              <a:ext uri="{FF2B5EF4-FFF2-40B4-BE49-F238E27FC236}">
                <a16:creationId xmlns:a16="http://schemas.microsoft.com/office/drawing/2014/main" id="{83DFF072-B04E-D94E-8E86-6DCD5B17B0C1}"/>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6" name="TextBox 5">
            <a:extLst>
              <a:ext uri="{FF2B5EF4-FFF2-40B4-BE49-F238E27FC236}">
                <a16:creationId xmlns:a16="http://schemas.microsoft.com/office/drawing/2014/main" id="{B6474C9B-2636-8944-B95B-FDD2FBC2C62F}"/>
              </a:ext>
            </a:extLst>
          </p:cNvPr>
          <p:cNvSpPr txBox="1"/>
          <p:nvPr/>
        </p:nvSpPr>
        <p:spPr>
          <a:xfrm>
            <a:off x="381000" y="1518672"/>
            <a:ext cx="3429000" cy="2677656"/>
          </a:xfrm>
          <a:prstGeom prst="rect">
            <a:avLst/>
          </a:prstGeom>
          <a:noFill/>
        </p:spPr>
        <p:txBody>
          <a:bodyPr wrap="square" rtlCol="0">
            <a:spAutoFit/>
          </a:bodyPr>
          <a:lstStyle/>
          <a:p>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g = </a:t>
            </a:r>
            <a:r>
              <a:rPr lang="en-US" sz="2800" b="1" dirty="0">
                <a:solidFill>
                  <a:schemeClr val="accent3">
                    <a:lumMod val="75000"/>
                  </a:schemeClr>
                </a:solidFill>
                <a:latin typeface="Consolas" panose="020B0609020204030204" pitchFamily="49" charset="0"/>
                <a:cs typeface="Consolas" panose="020B0609020204030204" pitchFamily="49" charset="0"/>
              </a:rPr>
              <a:t>10</a:t>
            </a:r>
            <a:r>
              <a:rPr lang="en-US" sz="2800" b="1" dirty="0">
                <a:latin typeface="Consolas" panose="020B0609020204030204" pitchFamily="49" charset="0"/>
                <a:cs typeface="Consolas" panose="020B0609020204030204" pitchFamily="49" charset="0"/>
              </a:rPr>
              <a:t>;</a:t>
            </a:r>
          </a:p>
          <a:p>
            <a:endParaRPr lang="en-US" sz="2800" b="1" dirty="0">
              <a:latin typeface="Consolas" panose="020B0609020204030204" pitchFamily="49" charset="0"/>
              <a:cs typeface="Consolas" panose="020B0609020204030204" pitchFamily="49" charset="0"/>
            </a:endParaRPr>
          </a:p>
          <a:p>
            <a:r>
              <a:rPr lang="en-US" sz="2800" b="1" dirty="0" err="1">
                <a:solidFill>
                  <a:srgbClr val="FF0000"/>
                </a:solidFill>
                <a:latin typeface="Consolas" panose="020B0609020204030204" pitchFamily="49" charset="0"/>
                <a:cs typeface="Consolas" panose="020B0609020204030204" pitchFamily="49" charset="0"/>
              </a:rPr>
              <a:t>fn</a:t>
            </a:r>
            <a:r>
              <a:rPr lang="en-US" sz="2800" b="1" dirty="0">
                <a:latin typeface="Consolas" panose="020B0609020204030204" pitchFamily="49" charset="0"/>
                <a:cs typeface="Consolas" panose="020B0609020204030204" pitchFamily="49" charset="0"/>
              </a:rPr>
              <a:t> main() {</a:t>
            </a:r>
          </a:p>
          <a:p>
            <a:r>
              <a:rPr lang="en-US" sz="2800" b="1" dirty="0">
                <a:latin typeface="Consolas" panose="020B0609020204030204" pitchFamily="49" charset="0"/>
                <a:cs typeface="Consolas" panose="020B0609020204030204" pitchFamily="49" charset="0"/>
              </a:rPr>
              <a:t>  </a:t>
            </a:r>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x = g + </a:t>
            </a:r>
            <a:r>
              <a:rPr lang="en-US" sz="2800" b="1" dirty="0">
                <a:solidFill>
                  <a:schemeClr val="accent3">
                    <a:lumMod val="75000"/>
                  </a:schemeClr>
                </a:solidFill>
                <a:latin typeface="Consolas" panose="020B0609020204030204" pitchFamily="49" charset="0"/>
                <a:cs typeface="Consolas" panose="020B0609020204030204" pitchFamily="49" charset="0"/>
              </a:rPr>
              <a:t>5</a:t>
            </a:r>
            <a:r>
              <a:rPr lang="en-US" sz="2800" b="1" dirty="0">
                <a:latin typeface="Consolas" panose="020B0609020204030204" pitchFamily="49" charset="0"/>
                <a:cs typeface="Consolas" panose="020B0609020204030204" pitchFamily="49" charset="0"/>
              </a:rPr>
              <a:t>;</a:t>
            </a:r>
          </a:p>
          <a:p>
            <a:r>
              <a:rPr lang="en-US" sz="2800" b="1" dirty="0">
                <a:latin typeface="Consolas" panose="020B0609020204030204" pitchFamily="49" charset="0"/>
                <a:cs typeface="Consolas" panose="020B0609020204030204" pitchFamily="49" charset="0"/>
              </a:rPr>
              <a:t>  </a:t>
            </a:r>
            <a:r>
              <a:rPr lang="en-US" sz="2800" b="1" dirty="0" err="1">
                <a:latin typeface="Consolas" panose="020B0609020204030204" pitchFamily="49" charset="0"/>
                <a:cs typeface="Consolas" panose="020B0609020204030204" pitchFamily="49" charset="0"/>
              </a:rPr>
              <a:t>println_i</a:t>
            </a:r>
            <a:r>
              <a:rPr lang="en-US" sz="2800" b="1" dirty="0">
                <a:latin typeface="Consolas" panose="020B0609020204030204" pitchFamily="49" charset="0"/>
                <a:cs typeface="Consolas" panose="020B0609020204030204" pitchFamily="49" charset="0"/>
              </a:rPr>
              <a:t>(x);</a:t>
            </a:r>
          </a:p>
          <a:p>
            <a:r>
              <a:rPr lang="en-US" sz="28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A8009712-774C-0D4B-B2DE-7C929CF5CA82}"/>
              </a:ext>
            </a:extLst>
          </p:cNvPr>
          <p:cNvSpPr txBox="1"/>
          <p:nvPr/>
        </p:nvSpPr>
        <p:spPr>
          <a:xfrm>
            <a:off x="3829878" y="1430297"/>
            <a:ext cx="4648200" cy="1107996"/>
          </a:xfrm>
          <a:prstGeom prst="rect">
            <a:avLst/>
          </a:prstGeom>
          <a:noFill/>
        </p:spPr>
        <p:txBody>
          <a:bodyPr wrap="square" rtlCol="0">
            <a:spAutoFit/>
          </a:bodyPr>
          <a:lstStyle/>
          <a:p>
            <a:pPr algn="ctr"/>
            <a:r>
              <a:rPr lang="en-US" sz="2200" dirty="0"/>
              <a:t>global variables are owned by </a:t>
            </a:r>
            <a:r>
              <a:rPr lang="en-US" sz="2200" b="1" dirty="0"/>
              <a:t>the program: </a:t>
            </a:r>
            <a:r>
              <a:rPr lang="en-US" sz="2200" dirty="0"/>
              <a:t>they can't be deallocated until the program ends.</a:t>
            </a:r>
            <a:endParaRPr lang="en-US" sz="2200"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8E26304A-1CAC-5B4B-B4E1-2C4116FA0870}"/>
              </a:ext>
            </a:extLst>
          </p:cNvPr>
          <p:cNvSpPr txBox="1"/>
          <p:nvPr/>
        </p:nvSpPr>
        <p:spPr>
          <a:xfrm>
            <a:off x="3962400" y="2816304"/>
            <a:ext cx="4648200" cy="1107996"/>
          </a:xfrm>
          <a:prstGeom prst="rect">
            <a:avLst/>
          </a:prstGeom>
          <a:noFill/>
        </p:spPr>
        <p:txBody>
          <a:bodyPr wrap="square" rtlCol="0">
            <a:spAutoFit/>
          </a:bodyPr>
          <a:lstStyle/>
          <a:p>
            <a:pPr algn="ctr"/>
            <a:r>
              <a:rPr lang="en-US" sz="2200" dirty="0"/>
              <a:t>local variables are owned by </a:t>
            </a:r>
            <a:r>
              <a:rPr lang="en-US" sz="2200" b="1" dirty="0"/>
              <a:t>the enclosing function: </a:t>
            </a:r>
            <a:r>
              <a:rPr lang="en-US" sz="2200" dirty="0"/>
              <a:t>they can be deallocated when it returns.</a:t>
            </a:r>
            <a:endParaRPr lang="en-US" sz="2200"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207FDF81-08CB-F946-87EF-1A908D287196}"/>
              </a:ext>
            </a:extLst>
          </p:cNvPr>
          <p:cNvSpPr txBox="1"/>
          <p:nvPr/>
        </p:nvSpPr>
        <p:spPr>
          <a:xfrm>
            <a:off x="2247900" y="4509126"/>
            <a:ext cx="4648200" cy="430887"/>
          </a:xfrm>
          <a:prstGeom prst="rect">
            <a:avLst/>
          </a:prstGeom>
          <a:noFill/>
        </p:spPr>
        <p:txBody>
          <a:bodyPr wrap="square" rtlCol="0">
            <a:spAutoFit/>
          </a:bodyPr>
          <a:lstStyle/>
          <a:p>
            <a:pPr algn="ctr"/>
            <a:r>
              <a:rPr lang="en-US" sz="2200" dirty="0"/>
              <a:t>…but this isn't the whole story, is it?</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9565741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Indirection</a:t>
            </a:r>
          </a:p>
        </p:txBody>
      </p:sp>
      <p:sp>
        <p:nvSpPr>
          <p:cNvPr id="4" name="Subtitle 3">
            <a:extLst>
              <a:ext uri="{FF2B5EF4-FFF2-40B4-BE49-F238E27FC236}">
                <a16:creationId xmlns:a16="http://schemas.microsoft.com/office/drawing/2014/main" id="{7AECE071-6192-204B-ABAA-D98DF9ABB483}"/>
              </a:ext>
            </a:extLst>
          </p:cNvPr>
          <p:cNvSpPr>
            <a:spLocks noGrp="1"/>
          </p:cNvSpPr>
          <p:nvPr>
            <p:ph type="subTitle" idx="1"/>
          </p:nvPr>
        </p:nvSpPr>
        <p:spPr/>
        <p:txBody>
          <a:bodyPr>
            <a:normAutofit/>
          </a:bodyPr>
          <a:lstStyle/>
          <a:p>
            <a:r>
              <a:rPr lang="en-US" sz="1200" dirty="0"/>
              <a:t>time check &lt; 20 min</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208364185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581E7-6821-D14C-8C3E-2CADC491CF97}"/>
              </a:ext>
            </a:extLst>
          </p:cNvPr>
          <p:cNvSpPr>
            <a:spLocks noGrp="1"/>
          </p:cNvSpPr>
          <p:nvPr>
            <p:ph type="title"/>
          </p:nvPr>
        </p:nvSpPr>
        <p:spPr/>
        <p:txBody>
          <a:bodyPr/>
          <a:lstStyle/>
          <a:p>
            <a:r>
              <a:rPr lang="en-US" dirty="0"/>
              <a:t>Indirection, the concept</a:t>
            </a:r>
          </a:p>
        </p:txBody>
      </p:sp>
      <p:sp>
        <p:nvSpPr>
          <p:cNvPr id="3" name="Content Placeholder 2">
            <a:extLst>
              <a:ext uri="{FF2B5EF4-FFF2-40B4-BE49-F238E27FC236}">
                <a16:creationId xmlns:a16="http://schemas.microsoft.com/office/drawing/2014/main" id="{9DA91039-C542-5C45-9C77-6B4DC3404297}"/>
              </a:ext>
            </a:extLst>
          </p:cNvPr>
          <p:cNvSpPr>
            <a:spLocks noGrp="1"/>
          </p:cNvSpPr>
          <p:nvPr>
            <p:ph idx="1"/>
          </p:nvPr>
        </p:nvSpPr>
        <p:spPr>
          <a:xfrm>
            <a:off x="152400" y="495301"/>
            <a:ext cx="8991600" cy="1295399"/>
          </a:xfrm>
        </p:spPr>
        <p:txBody>
          <a:bodyPr/>
          <a:lstStyle/>
          <a:p>
            <a:r>
              <a:rPr lang="en-US" b="1" dirty="0"/>
              <a:t>indirection </a:t>
            </a:r>
            <a:r>
              <a:rPr lang="en-US" dirty="0"/>
              <a:t>means using a symbol to </a:t>
            </a:r>
            <a:r>
              <a:rPr lang="en-US" b="1" dirty="0"/>
              <a:t>stand in</a:t>
            </a:r>
            <a:r>
              <a:rPr lang="en-US" dirty="0"/>
              <a:t> for something, instead of using that thing directly.</a:t>
            </a:r>
          </a:p>
          <a:p>
            <a:pPr lvl="1"/>
            <a:r>
              <a:rPr lang="en-US" dirty="0"/>
              <a:t>yes, this is really abstract, but it's an abstract concept!</a:t>
            </a:r>
          </a:p>
        </p:txBody>
      </p:sp>
      <p:sp>
        <p:nvSpPr>
          <p:cNvPr id="4" name="Slide Number Placeholder 3">
            <a:extLst>
              <a:ext uri="{FF2B5EF4-FFF2-40B4-BE49-F238E27FC236}">
                <a16:creationId xmlns:a16="http://schemas.microsoft.com/office/drawing/2014/main" id="{E7E09EE3-4C57-924D-BA64-1CA6C9406737}"/>
              </a:ext>
            </a:extLst>
          </p:cNvPr>
          <p:cNvSpPr>
            <a:spLocks noGrp="1"/>
          </p:cNvSpPr>
          <p:nvPr>
            <p:ph type="sldNum" sz="quarter" idx="12"/>
          </p:nvPr>
        </p:nvSpPr>
        <p:spPr/>
        <p:txBody>
          <a:bodyPr/>
          <a:lstStyle/>
          <a:p>
            <a:fld id="{3552B95B-556F-44BD-91A5-D80C1B9E2BB3}" type="slidenum">
              <a:rPr lang="en-US" smtClean="0"/>
              <a:pPr/>
              <a:t>9</a:t>
            </a:fld>
            <a:endParaRPr lang="en-US"/>
          </a:p>
        </p:txBody>
      </p:sp>
      <p:sp>
        <p:nvSpPr>
          <p:cNvPr id="5" name="TextBox 4">
            <a:extLst>
              <a:ext uri="{FF2B5EF4-FFF2-40B4-BE49-F238E27FC236}">
                <a16:creationId xmlns:a16="http://schemas.microsoft.com/office/drawing/2014/main" id="{C3EF0F08-3FD5-EC47-8287-942D942DBF2A}"/>
              </a:ext>
            </a:extLst>
          </p:cNvPr>
          <p:cNvSpPr txBox="1"/>
          <p:nvPr/>
        </p:nvSpPr>
        <p:spPr>
          <a:xfrm>
            <a:off x="757722" y="2765167"/>
            <a:ext cx="1107996" cy="1200329"/>
          </a:xfrm>
          <a:prstGeom prst="rect">
            <a:avLst/>
          </a:prstGeom>
          <a:noFill/>
        </p:spPr>
        <p:txBody>
          <a:bodyPr wrap="none" rtlCol="0">
            <a:spAutoFit/>
          </a:bodyPr>
          <a:lstStyle/>
          <a:p>
            <a:r>
              <a:rPr lang="en-US" sz="7200" dirty="0"/>
              <a:t>👉</a:t>
            </a:r>
          </a:p>
        </p:txBody>
      </p:sp>
      <p:pic>
        <p:nvPicPr>
          <p:cNvPr id="6" name="Picture 4" descr="https://upload.wikimedia.org/wikipedia/commons/thumb/3/38/Chart_of_world_writing_systems.svg/500px-Chart_of_world_writing_systems.svg.png">
            <a:extLst>
              <a:ext uri="{FF2B5EF4-FFF2-40B4-BE49-F238E27FC236}">
                <a16:creationId xmlns:a16="http://schemas.microsoft.com/office/drawing/2014/main" id="{A7D690F5-4401-6546-A9BA-99A3CE76E2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567"/>
          <a:stretch/>
        </p:blipFill>
        <p:spPr bwMode="auto">
          <a:xfrm>
            <a:off x="7052488" y="1672473"/>
            <a:ext cx="1506090" cy="8243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outh Speak Clipart">
            <a:extLst>
              <a:ext uri="{FF2B5EF4-FFF2-40B4-BE49-F238E27FC236}">
                <a16:creationId xmlns:a16="http://schemas.microsoft.com/office/drawing/2014/main" id="{8D911769-D970-7A4F-9DE0-02956B5B96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641" y="1728036"/>
            <a:ext cx="1010832" cy="71323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47756F1-8320-A148-8F23-BABEA7F7F4A7}"/>
              </a:ext>
            </a:extLst>
          </p:cNvPr>
          <p:cNvSpPr txBox="1"/>
          <p:nvPr/>
        </p:nvSpPr>
        <p:spPr>
          <a:xfrm>
            <a:off x="1893161" y="1704531"/>
            <a:ext cx="5011274" cy="769441"/>
          </a:xfrm>
          <a:prstGeom prst="rect">
            <a:avLst/>
          </a:prstGeom>
          <a:noFill/>
        </p:spPr>
        <p:txBody>
          <a:bodyPr wrap="square" rtlCol="0">
            <a:spAutoFit/>
          </a:bodyPr>
          <a:lstStyle/>
          <a:p>
            <a:pPr algn="ctr"/>
            <a:r>
              <a:rPr lang="en-US" sz="2200" b="1" dirty="0"/>
              <a:t>linguistic</a:t>
            </a:r>
            <a:r>
              <a:rPr lang="en-US" sz="2200" dirty="0"/>
              <a:t> symbols – spoken or written – all stand in for something else.</a:t>
            </a:r>
            <a:endParaRPr lang="en-US" sz="2200" b="1" dirty="0">
              <a:latin typeface="Consolas" panose="020B0609020204030204" pitchFamily="49" charset="0"/>
              <a:cs typeface="Consolas" panose="020B0609020204030204" pitchFamily="49" charset="0"/>
            </a:endParaRPr>
          </a:p>
        </p:txBody>
      </p:sp>
      <p:pic>
        <p:nvPicPr>
          <p:cNvPr id="10" name="Picture 2" descr="mage result for android cat emoji">
            <a:extLst>
              <a:ext uri="{FF2B5EF4-FFF2-40B4-BE49-F238E27FC236}">
                <a16:creationId xmlns:a16="http://schemas.microsoft.com/office/drawing/2014/main" id="{74246E1A-B625-7D43-A6C9-D3B441660B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0943" y="2857500"/>
            <a:ext cx="1107996" cy="110799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F877FAF-F797-4F4F-9C9C-ABC253317E24}"/>
              </a:ext>
            </a:extLst>
          </p:cNvPr>
          <p:cNvSpPr txBox="1"/>
          <p:nvPr/>
        </p:nvSpPr>
        <p:spPr>
          <a:xfrm>
            <a:off x="189318" y="3986964"/>
            <a:ext cx="3143250" cy="1107996"/>
          </a:xfrm>
          <a:prstGeom prst="rect">
            <a:avLst/>
          </a:prstGeom>
          <a:noFill/>
        </p:spPr>
        <p:txBody>
          <a:bodyPr wrap="square" rtlCol="0">
            <a:spAutoFit/>
          </a:bodyPr>
          <a:lstStyle/>
          <a:p>
            <a:pPr algn="ctr"/>
            <a:r>
              <a:rPr lang="en-US" sz="2200" dirty="0"/>
              <a:t>if I point at a cat, </a:t>
            </a:r>
            <a:r>
              <a:rPr lang="en-US" sz="2200" b="1" dirty="0"/>
              <a:t>my finger</a:t>
            </a:r>
            <a:r>
              <a:rPr lang="en-US" sz="2200" dirty="0"/>
              <a:t> is the symbol which refers to the cat.</a:t>
            </a:r>
            <a:endParaRPr lang="en-US" sz="2200" b="1"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24899D6F-11FB-E445-AED1-E19FBD757F78}"/>
              </a:ext>
            </a:extLst>
          </p:cNvPr>
          <p:cNvSpPr txBox="1"/>
          <p:nvPr/>
        </p:nvSpPr>
        <p:spPr>
          <a:xfrm>
            <a:off x="3443488" y="2809540"/>
            <a:ext cx="5533616" cy="769441"/>
          </a:xfrm>
          <a:prstGeom prst="rect">
            <a:avLst/>
          </a:prstGeom>
          <a:noFill/>
        </p:spPr>
        <p:txBody>
          <a:bodyPr wrap="square" rtlCol="0">
            <a:spAutoFit/>
          </a:bodyPr>
          <a:lstStyle/>
          <a:p>
            <a:pPr algn="ctr"/>
            <a:r>
              <a:rPr lang="en-US" sz="2200" dirty="0"/>
              <a:t>if I want to refer to houses on my street, I can refer to them </a:t>
            </a:r>
            <a:r>
              <a:rPr lang="en-US" sz="2200" b="1" dirty="0"/>
              <a:t>by number.</a:t>
            </a:r>
            <a:endParaRPr lang="en-US" sz="2200" b="1" dirty="0">
              <a:latin typeface="Consolas" panose="020B0609020204030204" pitchFamily="49" charset="0"/>
              <a:cs typeface="Consolas" panose="020B0609020204030204" pitchFamily="49" charset="0"/>
            </a:endParaRPr>
          </a:p>
        </p:txBody>
      </p:sp>
      <p:grpSp>
        <p:nvGrpSpPr>
          <p:cNvPr id="13" name="Group 12">
            <a:extLst>
              <a:ext uri="{FF2B5EF4-FFF2-40B4-BE49-F238E27FC236}">
                <a16:creationId xmlns:a16="http://schemas.microsoft.com/office/drawing/2014/main" id="{599B046C-FEDC-F44E-90DF-94FE7872DA54}"/>
              </a:ext>
            </a:extLst>
          </p:cNvPr>
          <p:cNvGrpSpPr/>
          <p:nvPr/>
        </p:nvGrpSpPr>
        <p:grpSpPr>
          <a:xfrm>
            <a:off x="4191000" y="3698959"/>
            <a:ext cx="4038600" cy="1306238"/>
            <a:chOff x="1097774" y="1181100"/>
            <a:chExt cx="6948452" cy="2247396"/>
          </a:xfrm>
        </p:grpSpPr>
        <p:grpSp>
          <p:nvGrpSpPr>
            <p:cNvPr id="14" name="Group 13">
              <a:extLst>
                <a:ext uri="{FF2B5EF4-FFF2-40B4-BE49-F238E27FC236}">
                  <a16:creationId xmlns:a16="http://schemas.microsoft.com/office/drawing/2014/main" id="{189948A2-C1FF-6344-BCAA-B84E2953F9D0}"/>
                </a:ext>
              </a:extLst>
            </p:cNvPr>
            <p:cNvGrpSpPr/>
            <p:nvPr/>
          </p:nvGrpSpPr>
          <p:grpSpPr>
            <a:xfrm>
              <a:off x="1097774" y="1181100"/>
              <a:ext cx="1389694" cy="2247396"/>
              <a:chOff x="1676400" y="1333500"/>
              <a:chExt cx="1083733" cy="1752600"/>
            </a:xfrm>
          </p:grpSpPr>
          <p:grpSp>
            <p:nvGrpSpPr>
              <p:cNvPr id="40" name="Group 39">
                <a:extLst>
                  <a:ext uri="{FF2B5EF4-FFF2-40B4-BE49-F238E27FC236}">
                    <a16:creationId xmlns:a16="http://schemas.microsoft.com/office/drawing/2014/main" id="{C033D849-650E-4246-A747-FD5948845339}"/>
                  </a:ext>
                </a:extLst>
              </p:cNvPr>
              <p:cNvGrpSpPr/>
              <p:nvPr/>
            </p:nvGrpSpPr>
            <p:grpSpPr>
              <a:xfrm>
                <a:off x="1676400" y="1333500"/>
                <a:ext cx="1083733" cy="1752600"/>
                <a:chOff x="1905000" y="1181100"/>
                <a:chExt cx="1083733" cy="1752600"/>
              </a:xfrm>
              <a:solidFill>
                <a:srgbClr val="FFF0E1"/>
              </a:solidFill>
            </p:grpSpPr>
            <p:sp>
              <p:nvSpPr>
                <p:cNvPr id="42" name="Rectangle 41">
                  <a:extLst>
                    <a:ext uri="{FF2B5EF4-FFF2-40B4-BE49-F238E27FC236}">
                      <a16:creationId xmlns:a16="http://schemas.microsoft.com/office/drawing/2014/main" id="{D1B626A5-68CB-274F-BEF7-FF1F278F9915}"/>
                    </a:ext>
                  </a:extLst>
                </p:cNvPr>
                <p:cNvSpPr/>
                <p:nvPr/>
              </p:nvSpPr>
              <p:spPr>
                <a:xfrm>
                  <a:off x="1905000" y="1632656"/>
                  <a:ext cx="1083733" cy="1301044"/>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riangle 42">
                  <a:extLst>
                    <a:ext uri="{FF2B5EF4-FFF2-40B4-BE49-F238E27FC236}">
                      <a16:creationId xmlns:a16="http://schemas.microsoft.com/office/drawing/2014/main" id="{58DF76AB-232D-A94A-AD27-AEAFC85E1ACE}"/>
                    </a:ext>
                  </a:extLst>
                </p:cNvPr>
                <p:cNvSpPr/>
                <p:nvPr/>
              </p:nvSpPr>
              <p:spPr>
                <a:xfrm>
                  <a:off x="1905000" y="1181100"/>
                  <a:ext cx="1083733" cy="451556"/>
                </a:xfrm>
                <a:prstGeom prst="triangl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a:extLst>
                  <a:ext uri="{FF2B5EF4-FFF2-40B4-BE49-F238E27FC236}">
                    <a16:creationId xmlns:a16="http://schemas.microsoft.com/office/drawing/2014/main" id="{E8C36FDA-465C-1945-A297-52DCFC3B8EBE}"/>
                  </a:ext>
                </a:extLst>
              </p:cNvPr>
              <p:cNvSpPr/>
              <p:nvPr/>
            </p:nvSpPr>
            <p:spPr>
              <a:xfrm>
                <a:off x="2065866" y="2476500"/>
                <a:ext cx="304800" cy="6096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2D3271AB-D169-BF46-9E59-214F9A16ADD2}"/>
                </a:ext>
              </a:extLst>
            </p:cNvPr>
            <p:cNvGrpSpPr/>
            <p:nvPr/>
          </p:nvGrpSpPr>
          <p:grpSpPr>
            <a:xfrm>
              <a:off x="2487466" y="1181100"/>
              <a:ext cx="1389694" cy="2247396"/>
              <a:chOff x="1676400" y="1333500"/>
              <a:chExt cx="1083733" cy="1752600"/>
            </a:xfrm>
          </p:grpSpPr>
          <p:grpSp>
            <p:nvGrpSpPr>
              <p:cNvPr id="36" name="Group 35">
                <a:extLst>
                  <a:ext uri="{FF2B5EF4-FFF2-40B4-BE49-F238E27FC236}">
                    <a16:creationId xmlns:a16="http://schemas.microsoft.com/office/drawing/2014/main" id="{DAA46B2D-EC25-514F-AA2D-E5FEE5562086}"/>
                  </a:ext>
                </a:extLst>
              </p:cNvPr>
              <p:cNvGrpSpPr/>
              <p:nvPr/>
            </p:nvGrpSpPr>
            <p:grpSpPr>
              <a:xfrm>
                <a:off x="1676400" y="1333500"/>
                <a:ext cx="1083733" cy="1752600"/>
                <a:chOff x="1905000" y="1181100"/>
                <a:chExt cx="1083733" cy="1752600"/>
              </a:xfrm>
              <a:solidFill>
                <a:srgbClr val="FFF0E1"/>
              </a:solidFill>
            </p:grpSpPr>
            <p:sp>
              <p:nvSpPr>
                <p:cNvPr id="38" name="Rectangle 37">
                  <a:extLst>
                    <a:ext uri="{FF2B5EF4-FFF2-40B4-BE49-F238E27FC236}">
                      <a16:creationId xmlns:a16="http://schemas.microsoft.com/office/drawing/2014/main" id="{BB5AFFE0-50EE-BE42-81B6-76CDFEF2E866}"/>
                    </a:ext>
                  </a:extLst>
                </p:cNvPr>
                <p:cNvSpPr/>
                <p:nvPr/>
              </p:nvSpPr>
              <p:spPr>
                <a:xfrm>
                  <a:off x="1905000" y="1632656"/>
                  <a:ext cx="1083733" cy="1301044"/>
                </a:xfrm>
                <a:prstGeom prst="rect">
                  <a:avLst/>
                </a:prstGeom>
                <a:solidFill>
                  <a:srgbClr val="F1FDE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riangle 38">
                  <a:extLst>
                    <a:ext uri="{FF2B5EF4-FFF2-40B4-BE49-F238E27FC236}">
                      <a16:creationId xmlns:a16="http://schemas.microsoft.com/office/drawing/2014/main" id="{77645CAA-9DA1-964B-918A-368A32F4BB68}"/>
                    </a:ext>
                  </a:extLst>
                </p:cNvPr>
                <p:cNvSpPr/>
                <p:nvPr/>
              </p:nvSpPr>
              <p:spPr>
                <a:xfrm>
                  <a:off x="1905000" y="1181100"/>
                  <a:ext cx="1083733" cy="451556"/>
                </a:xfrm>
                <a:prstGeom prst="triangle">
                  <a:avLst/>
                </a:prstGeom>
                <a:solidFill>
                  <a:srgbClr val="F1FDE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4E009E2F-2C1A-F74B-A74F-C5F42299CE0B}"/>
                  </a:ext>
                </a:extLst>
              </p:cNvPr>
              <p:cNvSpPr/>
              <p:nvPr/>
            </p:nvSpPr>
            <p:spPr>
              <a:xfrm>
                <a:off x="2065866" y="2476500"/>
                <a:ext cx="304800" cy="6096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27D79AA1-D990-BD49-AFAA-DBB121F030EA}"/>
                </a:ext>
              </a:extLst>
            </p:cNvPr>
            <p:cNvGrpSpPr/>
            <p:nvPr/>
          </p:nvGrpSpPr>
          <p:grpSpPr>
            <a:xfrm>
              <a:off x="3877158" y="1181100"/>
              <a:ext cx="1389694" cy="2247396"/>
              <a:chOff x="1676400" y="1333500"/>
              <a:chExt cx="1083733" cy="1752600"/>
            </a:xfrm>
          </p:grpSpPr>
          <p:grpSp>
            <p:nvGrpSpPr>
              <p:cNvPr id="32" name="Group 31">
                <a:extLst>
                  <a:ext uri="{FF2B5EF4-FFF2-40B4-BE49-F238E27FC236}">
                    <a16:creationId xmlns:a16="http://schemas.microsoft.com/office/drawing/2014/main" id="{3BC2D890-7BCD-E64E-9A52-EBA54E2FD9C4}"/>
                  </a:ext>
                </a:extLst>
              </p:cNvPr>
              <p:cNvGrpSpPr/>
              <p:nvPr/>
            </p:nvGrpSpPr>
            <p:grpSpPr>
              <a:xfrm>
                <a:off x="1676400" y="1333500"/>
                <a:ext cx="1083733" cy="1752600"/>
                <a:chOff x="1905000" y="1181100"/>
                <a:chExt cx="1083733" cy="1752600"/>
              </a:xfrm>
              <a:solidFill>
                <a:srgbClr val="FFF0E1"/>
              </a:solidFill>
            </p:grpSpPr>
            <p:sp>
              <p:nvSpPr>
                <p:cNvPr id="34" name="Rectangle 33">
                  <a:extLst>
                    <a:ext uri="{FF2B5EF4-FFF2-40B4-BE49-F238E27FC236}">
                      <a16:creationId xmlns:a16="http://schemas.microsoft.com/office/drawing/2014/main" id="{A07DA4CA-C524-184D-9337-877F560BD3C8}"/>
                    </a:ext>
                  </a:extLst>
                </p:cNvPr>
                <p:cNvSpPr/>
                <p:nvPr/>
              </p:nvSpPr>
              <p:spPr>
                <a:xfrm>
                  <a:off x="1905000" y="1632656"/>
                  <a:ext cx="1083733" cy="1301044"/>
                </a:xfrm>
                <a:prstGeom prst="rect">
                  <a:avLst/>
                </a:prstGeom>
                <a:solidFill>
                  <a:srgbClr val="E1FDF5"/>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riangle 34">
                  <a:extLst>
                    <a:ext uri="{FF2B5EF4-FFF2-40B4-BE49-F238E27FC236}">
                      <a16:creationId xmlns:a16="http://schemas.microsoft.com/office/drawing/2014/main" id="{43536E1D-0CC5-C843-B6CA-F671AD402653}"/>
                    </a:ext>
                  </a:extLst>
                </p:cNvPr>
                <p:cNvSpPr/>
                <p:nvPr/>
              </p:nvSpPr>
              <p:spPr>
                <a:xfrm>
                  <a:off x="1905000" y="1181100"/>
                  <a:ext cx="1083733" cy="451556"/>
                </a:xfrm>
                <a:prstGeom prst="triangle">
                  <a:avLst/>
                </a:prstGeom>
                <a:solidFill>
                  <a:srgbClr val="E1FDF5"/>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295010E6-3426-354C-957A-63C5BD89704B}"/>
                  </a:ext>
                </a:extLst>
              </p:cNvPr>
              <p:cNvSpPr/>
              <p:nvPr/>
            </p:nvSpPr>
            <p:spPr>
              <a:xfrm>
                <a:off x="2065866" y="2476500"/>
                <a:ext cx="304800" cy="6096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BB3BDCBA-22BE-0740-A64F-C4EF710F9D03}"/>
                </a:ext>
              </a:extLst>
            </p:cNvPr>
            <p:cNvGrpSpPr/>
            <p:nvPr/>
          </p:nvGrpSpPr>
          <p:grpSpPr>
            <a:xfrm>
              <a:off x="6656532" y="1181100"/>
              <a:ext cx="1389694" cy="2247396"/>
              <a:chOff x="1676400" y="1333500"/>
              <a:chExt cx="1083733" cy="1752600"/>
            </a:xfrm>
          </p:grpSpPr>
          <p:grpSp>
            <p:nvGrpSpPr>
              <p:cNvPr id="28" name="Group 27">
                <a:extLst>
                  <a:ext uri="{FF2B5EF4-FFF2-40B4-BE49-F238E27FC236}">
                    <a16:creationId xmlns:a16="http://schemas.microsoft.com/office/drawing/2014/main" id="{2665D523-5B33-6E43-9DF5-ADB568E476E9}"/>
                  </a:ext>
                </a:extLst>
              </p:cNvPr>
              <p:cNvGrpSpPr/>
              <p:nvPr/>
            </p:nvGrpSpPr>
            <p:grpSpPr>
              <a:xfrm>
                <a:off x="1676400" y="1333500"/>
                <a:ext cx="1083733" cy="1752600"/>
                <a:chOff x="1905000" y="1181100"/>
                <a:chExt cx="1083733" cy="1752600"/>
              </a:xfrm>
              <a:solidFill>
                <a:srgbClr val="FFF0E1"/>
              </a:solidFill>
            </p:grpSpPr>
            <p:sp>
              <p:nvSpPr>
                <p:cNvPr id="30" name="Rectangle 29">
                  <a:extLst>
                    <a:ext uri="{FF2B5EF4-FFF2-40B4-BE49-F238E27FC236}">
                      <a16:creationId xmlns:a16="http://schemas.microsoft.com/office/drawing/2014/main" id="{213D18E8-C653-9E45-9750-5ECCBFAB22D6}"/>
                    </a:ext>
                  </a:extLst>
                </p:cNvPr>
                <p:cNvSpPr/>
                <p:nvPr/>
              </p:nvSpPr>
              <p:spPr>
                <a:xfrm>
                  <a:off x="1905000" y="1632656"/>
                  <a:ext cx="1083733" cy="1301044"/>
                </a:xfrm>
                <a:prstGeom prst="rect">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riangle 30">
                  <a:extLst>
                    <a:ext uri="{FF2B5EF4-FFF2-40B4-BE49-F238E27FC236}">
                      <a16:creationId xmlns:a16="http://schemas.microsoft.com/office/drawing/2014/main" id="{0B4EC5E5-2CE5-2340-8937-26C8F9A7831C}"/>
                    </a:ext>
                  </a:extLst>
                </p:cNvPr>
                <p:cNvSpPr/>
                <p:nvPr/>
              </p:nvSpPr>
              <p:spPr>
                <a:xfrm>
                  <a:off x="1905000" y="1181100"/>
                  <a:ext cx="1083733" cy="451556"/>
                </a:xfrm>
                <a:prstGeom prst="triangle">
                  <a:avLst/>
                </a:prstGeom>
                <a:solidFill>
                  <a:srgbClr val="FFF0E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0C14000-FBF6-A040-BE22-FDF645714ABA}"/>
                  </a:ext>
                </a:extLst>
              </p:cNvPr>
              <p:cNvSpPr/>
              <p:nvPr/>
            </p:nvSpPr>
            <p:spPr>
              <a:xfrm>
                <a:off x="2065866" y="2476500"/>
                <a:ext cx="304800" cy="6096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FE8A30AF-2015-4344-8BF6-159C84639266}"/>
                </a:ext>
              </a:extLst>
            </p:cNvPr>
            <p:cNvGrpSpPr/>
            <p:nvPr/>
          </p:nvGrpSpPr>
          <p:grpSpPr>
            <a:xfrm>
              <a:off x="5266846" y="1181100"/>
              <a:ext cx="1389694" cy="2247396"/>
              <a:chOff x="1676400" y="1333500"/>
              <a:chExt cx="1083733" cy="1752600"/>
            </a:xfrm>
          </p:grpSpPr>
          <p:grpSp>
            <p:nvGrpSpPr>
              <p:cNvPr id="24" name="Group 23">
                <a:extLst>
                  <a:ext uri="{FF2B5EF4-FFF2-40B4-BE49-F238E27FC236}">
                    <a16:creationId xmlns:a16="http://schemas.microsoft.com/office/drawing/2014/main" id="{FE97D7B7-A906-BF42-9890-E02B31494E3D}"/>
                  </a:ext>
                </a:extLst>
              </p:cNvPr>
              <p:cNvGrpSpPr/>
              <p:nvPr/>
            </p:nvGrpSpPr>
            <p:grpSpPr>
              <a:xfrm>
                <a:off x="1676400" y="1333500"/>
                <a:ext cx="1083733" cy="1752600"/>
                <a:chOff x="1905000" y="1181100"/>
                <a:chExt cx="1083733" cy="1752600"/>
              </a:xfrm>
              <a:solidFill>
                <a:srgbClr val="FFF0E1"/>
              </a:solidFill>
            </p:grpSpPr>
            <p:sp>
              <p:nvSpPr>
                <p:cNvPr id="26" name="Rectangle 25">
                  <a:extLst>
                    <a:ext uri="{FF2B5EF4-FFF2-40B4-BE49-F238E27FC236}">
                      <a16:creationId xmlns:a16="http://schemas.microsoft.com/office/drawing/2014/main" id="{29E5DA8C-ECEB-E74F-B153-DF464B8D7EFC}"/>
                    </a:ext>
                  </a:extLst>
                </p:cNvPr>
                <p:cNvSpPr/>
                <p:nvPr/>
              </p:nvSpPr>
              <p:spPr>
                <a:xfrm>
                  <a:off x="1905000" y="1632656"/>
                  <a:ext cx="1083733" cy="1301044"/>
                </a:xfrm>
                <a:prstGeom prst="rect">
                  <a:avLst/>
                </a:prstGeom>
                <a:solidFill>
                  <a:srgbClr val="D4A69A"/>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riangle 26">
                  <a:extLst>
                    <a:ext uri="{FF2B5EF4-FFF2-40B4-BE49-F238E27FC236}">
                      <a16:creationId xmlns:a16="http://schemas.microsoft.com/office/drawing/2014/main" id="{6DCE7898-05D0-1746-92C0-B56A50DE6809}"/>
                    </a:ext>
                  </a:extLst>
                </p:cNvPr>
                <p:cNvSpPr/>
                <p:nvPr/>
              </p:nvSpPr>
              <p:spPr>
                <a:xfrm>
                  <a:off x="1905000" y="1181100"/>
                  <a:ext cx="1083733" cy="451556"/>
                </a:xfrm>
                <a:prstGeom prst="triangle">
                  <a:avLst/>
                </a:prstGeom>
                <a:solidFill>
                  <a:srgbClr val="D4A69A"/>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974AEA48-CA02-6049-A9A2-B726D6B1D3C1}"/>
                  </a:ext>
                </a:extLst>
              </p:cNvPr>
              <p:cNvSpPr/>
              <p:nvPr/>
            </p:nvSpPr>
            <p:spPr>
              <a:xfrm>
                <a:off x="2065866" y="2476500"/>
                <a:ext cx="304800" cy="6096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87BDC851-5156-5B4E-B119-9A0A42326107}"/>
                </a:ext>
              </a:extLst>
            </p:cNvPr>
            <p:cNvSpPr txBox="1"/>
            <p:nvPr/>
          </p:nvSpPr>
          <p:spPr>
            <a:xfrm>
              <a:off x="1479073" y="1955068"/>
              <a:ext cx="627095" cy="400110"/>
            </a:xfrm>
            <a:prstGeom prst="rect">
              <a:avLst/>
            </a:prstGeom>
            <a:noFill/>
          </p:spPr>
          <p:txBody>
            <a:bodyPr wrap="none" rtlCol="0">
              <a:spAutoFit/>
            </a:bodyPr>
            <a:lstStyle/>
            <a:p>
              <a:pPr algn="ctr"/>
              <a:r>
                <a:rPr lang="en-US" sz="2000" b="1" dirty="0"/>
                <a:t>121</a:t>
              </a:r>
            </a:p>
          </p:txBody>
        </p:sp>
        <p:sp>
          <p:nvSpPr>
            <p:cNvPr id="20" name="TextBox 19">
              <a:extLst>
                <a:ext uri="{FF2B5EF4-FFF2-40B4-BE49-F238E27FC236}">
                  <a16:creationId xmlns:a16="http://schemas.microsoft.com/office/drawing/2014/main" id="{6DA9E7B1-2922-C84A-B8CD-E99D9A6C7177}"/>
                </a:ext>
              </a:extLst>
            </p:cNvPr>
            <p:cNvSpPr txBox="1"/>
            <p:nvPr/>
          </p:nvSpPr>
          <p:spPr>
            <a:xfrm>
              <a:off x="2868766" y="1955309"/>
              <a:ext cx="627095" cy="400110"/>
            </a:xfrm>
            <a:prstGeom prst="rect">
              <a:avLst/>
            </a:prstGeom>
            <a:noFill/>
          </p:spPr>
          <p:txBody>
            <a:bodyPr wrap="none" rtlCol="0">
              <a:spAutoFit/>
            </a:bodyPr>
            <a:lstStyle/>
            <a:p>
              <a:pPr algn="ctr"/>
              <a:r>
                <a:rPr lang="en-US" sz="2000" b="1" dirty="0"/>
                <a:t>123</a:t>
              </a:r>
            </a:p>
          </p:txBody>
        </p:sp>
        <p:sp>
          <p:nvSpPr>
            <p:cNvPr id="21" name="TextBox 20">
              <a:extLst>
                <a:ext uri="{FF2B5EF4-FFF2-40B4-BE49-F238E27FC236}">
                  <a16:creationId xmlns:a16="http://schemas.microsoft.com/office/drawing/2014/main" id="{E15DB02F-D5BE-0643-86FD-A58D005BFECF}"/>
                </a:ext>
              </a:extLst>
            </p:cNvPr>
            <p:cNvSpPr txBox="1"/>
            <p:nvPr/>
          </p:nvSpPr>
          <p:spPr>
            <a:xfrm>
              <a:off x="4258446" y="1955068"/>
              <a:ext cx="627095" cy="400110"/>
            </a:xfrm>
            <a:prstGeom prst="rect">
              <a:avLst/>
            </a:prstGeom>
            <a:noFill/>
          </p:spPr>
          <p:txBody>
            <a:bodyPr wrap="none" rtlCol="0">
              <a:spAutoFit/>
            </a:bodyPr>
            <a:lstStyle/>
            <a:p>
              <a:pPr algn="ctr"/>
              <a:r>
                <a:rPr lang="en-US" sz="2000" b="1" dirty="0"/>
                <a:t>125</a:t>
              </a:r>
            </a:p>
          </p:txBody>
        </p:sp>
        <p:sp>
          <p:nvSpPr>
            <p:cNvPr id="22" name="TextBox 21">
              <a:extLst>
                <a:ext uri="{FF2B5EF4-FFF2-40B4-BE49-F238E27FC236}">
                  <a16:creationId xmlns:a16="http://schemas.microsoft.com/office/drawing/2014/main" id="{4BB5C3A9-10B2-8445-B057-00014815981D}"/>
                </a:ext>
              </a:extLst>
            </p:cNvPr>
            <p:cNvSpPr txBox="1"/>
            <p:nvPr/>
          </p:nvSpPr>
          <p:spPr>
            <a:xfrm>
              <a:off x="5648126" y="1954826"/>
              <a:ext cx="627095" cy="400110"/>
            </a:xfrm>
            <a:prstGeom prst="rect">
              <a:avLst/>
            </a:prstGeom>
            <a:noFill/>
          </p:spPr>
          <p:txBody>
            <a:bodyPr wrap="none" rtlCol="0">
              <a:spAutoFit/>
            </a:bodyPr>
            <a:lstStyle/>
            <a:p>
              <a:pPr algn="ctr"/>
              <a:r>
                <a:rPr lang="en-US" sz="2000" b="1" dirty="0"/>
                <a:t>127</a:t>
              </a:r>
            </a:p>
          </p:txBody>
        </p:sp>
        <p:sp>
          <p:nvSpPr>
            <p:cNvPr id="23" name="TextBox 22">
              <a:extLst>
                <a:ext uri="{FF2B5EF4-FFF2-40B4-BE49-F238E27FC236}">
                  <a16:creationId xmlns:a16="http://schemas.microsoft.com/office/drawing/2014/main" id="{766902E2-E0B7-494E-9A69-F9216BD24694}"/>
                </a:ext>
              </a:extLst>
            </p:cNvPr>
            <p:cNvSpPr txBox="1"/>
            <p:nvPr/>
          </p:nvSpPr>
          <p:spPr>
            <a:xfrm>
              <a:off x="7037806" y="1954585"/>
              <a:ext cx="627095" cy="400110"/>
            </a:xfrm>
            <a:prstGeom prst="rect">
              <a:avLst/>
            </a:prstGeom>
            <a:noFill/>
          </p:spPr>
          <p:txBody>
            <a:bodyPr wrap="none" rtlCol="0">
              <a:spAutoFit/>
            </a:bodyPr>
            <a:lstStyle/>
            <a:p>
              <a:pPr algn="ctr"/>
              <a:r>
                <a:rPr lang="en-US" sz="2000" b="1" dirty="0"/>
                <a:t>129</a:t>
              </a:r>
            </a:p>
          </p:txBody>
        </p:sp>
      </p:grpSp>
    </p:spTree>
    <p:extLst>
      <p:ext uri="{BB962C8B-B14F-4D97-AF65-F5344CB8AC3E}">
        <p14:creationId xmlns:p14="http://schemas.microsoft.com/office/powerpoint/2010/main" val="26352235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8C9BA-3D59-2F48-A27A-152DC10D8908}"/>
              </a:ext>
            </a:extLst>
          </p:cNvPr>
          <p:cNvSpPr>
            <a:spLocks noGrp="1"/>
          </p:cNvSpPr>
          <p:nvPr>
            <p:ph type="title"/>
          </p:nvPr>
        </p:nvSpPr>
        <p:spPr/>
        <p:txBody>
          <a:bodyPr/>
          <a:lstStyle/>
          <a:p>
            <a:r>
              <a:rPr lang="en-US" dirty="0"/>
              <a:t>It works for houses, and it works for objects</a:t>
            </a:r>
          </a:p>
        </p:txBody>
      </p:sp>
      <p:sp>
        <p:nvSpPr>
          <p:cNvPr id="3" name="Content Placeholder 2">
            <a:extLst>
              <a:ext uri="{FF2B5EF4-FFF2-40B4-BE49-F238E27FC236}">
                <a16:creationId xmlns:a16="http://schemas.microsoft.com/office/drawing/2014/main" id="{354CDD59-4BBB-464F-8767-FBCA8890758B}"/>
              </a:ext>
            </a:extLst>
          </p:cNvPr>
          <p:cNvSpPr>
            <a:spLocks noGrp="1"/>
          </p:cNvSpPr>
          <p:nvPr>
            <p:ph idx="1"/>
          </p:nvPr>
        </p:nvSpPr>
        <p:spPr>
          <a:xfrm>
            <a:off x="152400" y="495301"/>
            <a:ext cx="8991600" cy="838199"/>
          </a:xfrm>
        </p:spPr>
        <p:txBody>
          <a:bodyPr/>
          <a:lstStyle/>
          <a:p>
            <a:r>
              <a:rPr lang="en-US" dirty="0"/>
              <a:t>if I have a </a:t>
            </a:r>
            <a:r>
              <a:rPr lang="en-US" b="1" dirty="0"/>
              <a:t>program</a:t>
            </a:r>
            <a:r>
              <a:rPr lang="en-US" dirty="0"/>
              <a:t> which deals with very large objects (kB-MB?),</a:t>
            </a:r>
          </a:p>
          <a:p>
            <a:pPr lvl="1"/>
            <a:r>
              <a:rPr lang="en-US" dirty="0"/>
              <a:t>I can put them in an </a:t>
            </a:r>
            <a:r>
              <a:rPr lang="en-US" b="1" dirty="0"/>
              <a:t>array </a:t>
            </a:r>
            <a:r>
              <a:rPr lang="en-US" dirty="0"/>
              <a:t>and access them by their </a:t>
            </a:r>
            <a:r>
              <a:rPr lang="en-US" b="1" dirty="0"/>
              <a:t>index.</a:t>
            </a:r>
          </a:p>
        </p:txBody>
      </p:sp>
      <p:sp>
        <p:nvSpPr>
          <p:cNvPr id="4" name="Slide Number Placeholder 3">
            <a:extLst>
              <a:ext uri="{FF2B5EF4-FFF2-40B4-BE49-F238E27FC236}">
                <a16:creationId xmlns:a16="http://schemas.microsoft.com/office/drawing/2014/main" id="{9520FE8D-58D9-7B42-A385-88577F240168}"/>
              </a:ext>
            </a:extLst>
          </p:cNvPr>
          <p:cNvSpPr>
            <a:spLocks noGrp="1"/>
          </p:cNvSpPr>
          <p:nvPr>
            <p:ph type="sldNum" sz="quarter" idx="12"/>
          </p:nvPr>
        </p:nvSpPr>
        <p:spPr/>
        <p:txBody>
          <a:bodyPr/>
          <a:lstStyle/>
          <a:p>
            <a:fld id="{3552B95B-556F-44BD-91A5-D80C1B9E2BB3}" type="slidenum">
              <a:rPr lang="en-US" smtClean="0"/>
              <a:pPr/>
              <a:t>10</a:t>
            </a:fld>
            <a:endParaRPr lang="en-US"/>
          </a:p>
        </p:txBody>
      </p:sp>
      <p:graphicFrame>
        <p:nvGraphicFramePr>
          <p:cNvPr id="36" name="Table 35">
            <a:extLst>
              <a:ext uri="{FF2B5EF4-FFF2-40B4-BE49-F238E27FC236}">
                <a16:creationId xmlns:a16="http://schemas.microsoft.com/office/drawing/2014/main" id="{C5531385-388F-194F-8DA0-E8D59B544034}"/>
              </a:ext>
            </a:extLst>
          </p:cNvPr>
          <p:cNvGraphicFramePr>
            <a:graphicFrameLocks noGrp="1"/>
          </p:cNvGraphicFramePr>
          <p:nvPr>
            <p:extLst>
              <p:ext uri="{D42A27DB-BD31-4B8C-83A1-F6EECF244321}">
                <p14:modId xmlns:p14="http://schemas.microsoft.com/office/powerpoint/2010/main" val="931524053"/>
              </p:ext>
            </p:extLst>
          </p:nvPr>
        </p:nvGraphicFramePr>
        <p:xfrm>
          <a:off x="1524000" y="1372660"/>
          <a:ext cx="6095999" cy="1295400"/>
        </p:xfrm>
        <a:graphic>
          <a:graphicData uri="http://schemas.openxmlformats.org/drawingml/2006/table">
            <a:tbl>
              <a:tblPr bandRow="1">
                <a:tableStyleId>{93296810-A885-4BE3-A3E7-6D5BEEA58F35}</a:tableStyleId>
              </a:tblPr>
              <a:tblGrid>
                <a:gridCol w="870857">
                  <a:extLst>
                    <a:ext uri="{9D8B030D-6E8A-4147-A177-3AD203B41FA5}">
                      <a16:colId xmlns:a16="http://schemas.microsoft.com/office/drawing/2014/main" val="2645196628"/>
                    </a:ext>
                  </a:extLst>
                </a:gridCol>
                <a:gridCol w="870857">
                  <a:extLst>
                    <a:ext uri="{9D8B030D-6E8A-4147-A177-3AD203B41FA5}">
                      <a16:colId xmlns:a16="http://schemas.microsoft.com/office/drawing/2014/main" val="2533671815"/>
                    </a:ext>
                  </a:extLst>
                </a:gridCol>
                <a:gridCol w="870857">
                  <a:extLst>
                    <a:ext uri="{9D8B030D-6E8A-4147-A177-3AD203B41FA5}">
                      <a16:colId xmlns:a16="http://schemas.microsoft.com/office/drawing/2014/main" val="2630379411"/>
                    </a:ext>
                  </a:extLst>
                </a:gridCol>
                <a:gridCol w="870857">
                  <a:extLst>
                    <a:ext uri="{9D8B030D-6E8A-4147-A177-3AD203B41FA5}">
                      <a16:colId xmlns:a16="http://schemas.microsoft.com/office/drawing/2014/main" val="2354426220"/>
                    </a:ext>
                  </a:extLst>
                </a:gridCol>
                <a:gridCol w="870857">
                  <a:extLst>
                    <a:ext uri="{9D8B030D-6E8A-4147-A177-3AD203B41FA5}">
                      <a16:colId xmlns:a16="http://schemas.microsoft.com/office/drawing/2014/main" val="1040890653"/>
                    </a:ext>
                  </a:extLst>
                </a:gridCol>
                <a:gridCol w="870857">
                  <a:extLst>
                    <a:ext uri="{9D8B030D-6E8A-4147-A177-3AD203B41FA5}">
                      <a16:colId xmlns:a16="http://schemas.microsoft.com/office/drawing/2014/main" val="1848458636"/>
                    </a:ext>
                  </a:extLst>
                </a:gridCol>
                <a:gridCol w="870857">
                  <a:extLst>
                    <a:ext uri="{9D8B030D-6E8A-4147-A177-3AD203B41FA5}">
                      <a16:colId xmlns:a16="http://schemas.microsoft.com/office/drawing/2014/main" val="2727193150"/>
                    </a:ext>
                  </a:extLst>
                </a:gridCol>
              </a:tblGrid>
              <a:tr h="838200">
                <a:tc>
                  <a:txBody>
                    <a:bodyPr/>
                    <a:lstStyle/>
                    <a:p>
                      <a:pPr algn="ctr"/>
                      <a:r>
                        <a:rPr lang="en-US" sz="2400" b="1" i="0" dirty="0">
                          <a:latin typeface="Consolas" panose="020B0609020204030204" pitchFamily="49" charset="0"/>
                          <a:cs typeface="Consolas" panose="020B0609020204030204" pitchFamily="49" charset="0"/>
                        </a:rPr>
                        <a:t>64kB</a:t>
                      </a:r>
                    </a:p>
                  </a:txBody>
                  <a:tcPr anchor="ctr">
                    <a:solidFill>
                      <a:schemeClr val="accent6"/>
                    </a:solidFill>
                  </a:tcPr>
                </a:tc>
                <a:tc>
                  <a:txBody>
                    <a:bodyPr/>
                    <a:lstStyle/>
                    <a:p>
                      <a:pPr algn="ctr"/>
                      <a:r>
                        <a:rPr lang="en-US" sz="2400" b="1" i="0" dirty="0">
                          <a:latin typeface="Consolas" panose="020B0609020204030204" pitchFamily="49" charset="0"/>
                          <a:cs typeface="Consolas" panose="020B0609020204030204" pitchFamily="49" charset="0"/>
                        </a:rPr>
                        <a:t>64kB</a:t>
                      </a:r>
                    </a:p>
                  </a:txBody>
                  <a:tcPr anchor="ctr">
                    <a:solidFill>
                      <a:schemeClr val="accent6"/>
                    </a:solidFill>
                  </a:tcPr>
                </a:tc>
                <a:tc>
                  <a:txBody>
                    <a:bodyPr/>
                    <a:lstStyle/>
                    <a:p>
                      <a:pPr algn="ctr"/>
                      <a:r>
                        <a:rPr lang="en-US" sz="2400" b="1" i="0" dirty="0">
                          <a:latin typeface="Consolas" panose="020B0609020204030204" pitchFamily="49" charset="0"/>
                          <a:cs typeface="Consolas" panose="020B0609020204030204" pitchFamily="49" charset="0"/>
                        </a:rPr>
                        <a:t>64kB</a:t>
                      </a:r>
                    </a:p>
                  </a:txBody>
                  <a:tcPr anchor="ctr">
                    <a:solidFill>
                      <a:schemeClr val="accent6"/>
                    </a:solidFill>
                  </a:tcPr>
                </a:tc>
                <a:tc>
                  <a:txBody>
                    <a:bodyPr/>
                    <a:lstStyle/>
                    <a:p>
                      <a:pPr algn="ctr"/>
                      <a:r>
                        <a:rPr lang="en-US" sz="2400" b="1" i="0" dirty="0">
                          <a:latin typeface="Consolas" panose="020B0609020204030204" pitchFamily="49" charset="0"/>
                          <a:cs typeface="Consolas" panose="020B0609020204030204" pitchFamily="49" charset="0"/>
                        </a:rPr>
                        <a:t>64kB</a:t>
                      </a:r>
                    </a:p>
                  </a:txBody>
                  <a:tcPr anchor="ctr">
                    <a:solidFill>
                      <a:schemeClr val="accent6"/>
                    </a:solidFill>
                  </a:tcPr>
                </a:tc>
                <a:tc>
                  <a:txBody>
                    <a:bodyPr/>
                    <a:lstStyle/>
                    <a:p>
                      <a:pPr algn="ctr"/>
                      <a:r>
                        <a:rPr lang="en-US" sz="2400" b="1" i="0" dirty="0">
                          <a:latin typeface="Consolas" panose="020B0609020204030204" pitchFamily="49" charset="0"/>
                          <a:cs typeface="Consolas" panose="020B0609020204030204" pitchFamily="49" charset="0"/>
                        </a:rPr>
                        <a:t>64kB</a:t>
                      </a:r>
                    </a:p>
                  </a:txBody>
                  <a:tcPr anchor="ctr">
                    <a:solidFill>
                      <a:schemeClr val="accent6"/>
                    </a:solidFill>
                  </a:tcPr>
                </a:tc>
                <a:tc>
                  <a:txBody>
                    <a:bodyPr/>
                    <a:lstStyle/>
                    <a:p>
                      <a:pPr algn="ctr"/>
                      <a:r>
                        <a:rPr lang="en-US" sz="2400" b="1" i="0" dirty="0">
                          <a:latin typeface="Consolas" panose="020B0609020204030204" pitchFamily="49" charset="0"/>
                          <a:cs typeface="Consolas" panose="020B0609020204030204" pitchFamily="49" charset="0"/>
                        </a:rPr>
                        <a:t>64kB</a:t>
                      </a:r>
                    </a:p>
                  </a:txBody>
                  <a:tcPr anchor="ctr">
                    <a:solidFill>
                      <a:schemeClr val="accent6"/>
                    </a:solidFill>
                  </a:tcPr>
                </a:tc>
                <a:tc>
                  <a:txBody>
                    <a:bodyPr/>
                    <a:lstStyle/>
                    <a:p>
                      <a:pPr algn="ctr"/>
                      <a:r>
                        <a:rPr lang="en-US" sz="2400" b="1" i="0" dirty="0">
                          <a:latin typeface="Consolas" panose="020B0609020204030204" pitchFamily="49" charset="0"/>
                          <a:cs typeface="Consolas" panose="020B0609020204030204" pitchFamily="49" charset="0"/>
                        </a:rPr>
                        <a:t>64kB</a:t>
                      </a:r>
                    </a:p>
                  </a:txBody>
                  <a:tcPr anchor="ctr">
                    <a:solidFill>
                      <a:schemeClr val="accent6"/>
                    </a:solidFill>
                  </a:tcPr>
                </a:tc>
                <a:extLst>
                  <a:ext uri="{0D108BD9-81ED-4DB2-BD59-A6C34878D82A}">
                    <a16:rowId xmlns:a16="http://schemas.microsoft.com/office/drawing/2014/main" val="3228816114"/>
                  </a:ext>
                </a:extLst>
              </a:tr>
              <a:tr h="370840">
                <a:tc>
                  <a:txBody>
                    <a:bodyPr/>
                    <a:lstStyle/>
                    <a:p>
                      <a:pPr algn="ctr"/>
                      <a:r>
                        <a:rPr lang="en-US" sz="2400" i="1" dirty="0">
                          <a:latin typeface="Consolas" panose="020B0609020204030204" pitchFamily="49" charset="0"/>
                          <a:cs typeface="Consolas" panose="020B0609020204030204" pitchFamily="49" charset="0"/>
                        </a:rPr>
                        <a:t>0</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1</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2</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3</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4</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5</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6</a:t>
                      </a:r>
                    </a:p>
                  </a:txBody>
                  <a:tcPr anchor="ctr">
                    <a:noFill/>
                  </a:tcPr>
                </a:tc>
                <a:extLst>
                  <a:ext uri="{0D108BD9-81ED-4DB2-BD59-A6C34878D82A}">
                    <a16:rowId xmlns:a16="http://schemas.microsoft.com/office/drawing/2014/main" val="3768413582"/>
                  </a:ext>
                </a:extLst>
              </a:tr>
            </a:tbl>
          </a:graphicData>
        </a:graphic>
      </p:graphicFrame>
      <p:sp>
        <p:nvSpPr>
          <p:cNvPr id="37" name="TextBox 36">
            <a:extLst>
              <a:ext uri="{FF2B5EF4-FFF2-40B4-BE49-F238E27FC236}">
                <a16:creationId xmlns:a16="http://schemas.microsoft.com/office/drawing/2014/main" id="{369D5633-F8FF-5747-A808-9A3232A8904F}"/>
              </a:ext>
            </a:extLst>
          </p:cNvPr>
          <p:cNvSpPr txBox="1"/>
          <p:nvPr/>
        </p:nvSpPr>
        <p:spPr>
          <a:xfrm>
            <a:off x="609596" y="2706338"/>
            <a:ext cx="7924804" cy="430887"/>
          </a:xfrm>
          <a:prstGeom prst="rect">
            <a:avLst/>
          </a:prstGeom>
          <a:noFill/>
        </p:spPr>
        <p:txBody>
          <a:bodyPr wrap="square" rtlCol="0">
            <a:spAutoFit/>
          </a:bodyPr>
          <a:lstStyle/>
          <a:p>
            <a:pPr algn="ctr"/>
            <a:r>
              <a:rPr lang="en-US" sz="2200" dirty="0"/>
              <a:t>the number 3 is small enough to fit into a register.</a:t>
            </a:r>
            <a:endParaRPr lang="en-US" sz="2200" b="1" dirty="0">
              <a:latin typeface="Consolas" panose="020B0609020204030204" pitchFamily="49" charset="0"/>
              <a:cs typeface="Consolas" panose="020B0609020204030204" pitchFamily="49" charset="0"/>
            </a:endParaRPr>
          </a:p>
        </p:txBody>
      </p:sp>
      <p:graphicFrame>
        <p:nvGraphicFramePr>
          <p:cNvPr id="38" name="Table 37">
            <a:extLst>
              <a:ext uri="{FF2B5EF4-FFF2-40B4-BE49-F238E27FC236}">
                <a16:creationId xmlns:a16="http://schemas.microsoft.com/office/drawing/2014/main" id="{E7D3A547-229F-994B-A5C2-0DB40DBF667E}"/>
              </a:ext>
            </a:extLst>
          </p:cNvPr>
          <p:cNvGraphicFramePr>
            <a:graphicFrameLocks noGrp="1"/>
          </p:cNvGraphicFramePr>
          <p:nvPr>
            <p:extLst>
              <p:ext uri="{D42A27DB-BD31-4B8C-83A1-F6EECF244321}">
                <p14:modId xmlns:p14="http://schemas.microsoft.com/office/powerpoint/2010/main" val="1236081342"/>
              </p:ext>
            </p:extLst>
          </p:nvPr>
        </p:nvGraphicFramePr>
        <p:xfrm>
          <a:off x="1523999" y="4153695"/>
          <a:ext cx="6095999" cy="1295400"/>
        </p:xfrm>
        <a:graphic>
          <a:graphicData uri="http://schemas.openxmlformats.org/drawingml/2006/table">
            <a:tbl>
              <a:tblPr bandRow="1">
                <a:tableStyleId>{93296810-A885-4BE3-A3E7-6D5BEEA58F35}</a:tableStyleId>
              </a:tblPr>
              <a:tblGrid>
                <a:gridCol w="870857">
                  <a:extLst>
                    <a:ext uri="{9D8B030D-6E8A-4147-A177-3AD203B41FA5}">
                      <a16:colId xmlns:a16="http://schemas.microsoft.com/office/drawing/2014/main" val="2645196628"/>
                    </a:ext>
                  </a:extLst>
                </a:gridCol>
                <a:gridCol w="870857">
                  <a:extLst>
                    <a:ext uri="{9D8B030D-6E8A-4147-A177-3AD203B41FA5}">
                      <a16:colId xmlns:a16="http://schemas.microsoft.com/office/drawing/2014/main" val="2533671815"/>
                    </a:ext>
                  </a:extLst>
                </a:gridCol>
                <a:gridCol w="870857">
                  <a:extLst>
                    <a:ext uri="{9D8B030D-6E8A-4147-A177-3AD203B41FA5}">
                      <a16:colId xmlns:a16="http://schemas.microsoft.com/office/drawing/2014/main" val="2630379411"/>
                    </a:ext>
                  </a:extLst>
                </a:gridCol>
                <a:gridCol w="870857">
                  <a:extLst>
                    <a:ext uri="{9D8B030D-6E8A-4147-A177-3AD203B41FA5}">
                      <a16:colId xmlns:a16="http://schemas.microsoft.com/office/drawing/2014/main" val="2354426220"/>
                    </a:ext>
                  </a:extLst>
                </a:gridCol>
                <a:gridCol w="870857">
                  <a:extLst>
                    <a:ext uri="{9D8B030D-6E8A-4147-A177-3AD203B41FA5}">
                      <a16:colId xmlns:a16="http://schemas.microsoft.com/office/drawing/2014/main" val="1040890653"/>
                    </a:ext>
                  </a:extLst>
                </a:gridCol>
                <a:gridCol w="870857">
                  <a:extLst>
                    <a:ext uri="{9D8B030D-6E8A-4147-A177-3AD203B41FA5}">
                      <a16:colId xmlns:a16="http://schemas.microsoft.com/office/drawing/2014/main" val="1848458636"/>
                    </a:ext>
                  </a:extLst>
                </a:gridCol>
                <a:gridCol w="870857">
                  <a:extLst>
                    <a:ext uri="{9D8B030D-6E8A-4147-A177-3AD203B41FA5}">
                      <a16:colId xmlns:a16="http://schemas.microsoft.com/office/drawing/2014/main" val="2727193150"/>
                    </a:ext>
                  </a:extLst>
                </a:gridCol>
              </a:tblGrid>
              <a:tr h="838200">
                <a:tc>
                  <a:txBody>
                    <a:bodyPr/>
                    <a:lstStyle/>
                    <a:p>
                      <a:pPr algn="ctr"/>
                      <a:r>
                        <a:rPr lang="en-US" sz="2400" b="1" i="0" dirty="0">
                          <a:latin typeface="Consolas" panose="020B0609020204030204" pitchFamily="49" charset="0"/>
                          <a:cs typeface="Consolas" panose="020B0609020204030204" pitchFamily="49" charset="0"/>
                        </a:rPr>
                        <a:t>01</a:t>
                      </a:r>
                    </a:p>
                  </a:txBody>
                  <a:tcPr anchor="ctr">
                    <a:solidFill>
                      <a:schemeClr val="accent4">
                        <a:lumMod val="60000"/>
                        <a:lumOff val="40000"/>
                      </a:schemeClr>
                    </a:solidFill>
                  </a:tcPr>
                </a:tc>
                <a:tc>
                  <a:txBody>
                    <a:bodyPr/>
                    <a:lstStyle/>
                    <a:p>
                      <a:pPr algn="ctr"/>
                      <a:r>
                        <a:rPr lang="en-US" sz="2400" b="1" i="0" dirty="0">
                          <a:latin typeface="Consolas" panose="020B0609020204030204" pitchFamily="49" charset="0"/>
                          <a:cs typeface="Consolas" panose="020B0609020204030204" pitchFamily="49" charset="0"/>
                        </a:rPr>
                        <a:t>00</a:t>
                      </a:r>
                    </a:p>
                  </a:txBody>
                  <a:tcPr anchor="ctr">
                    <a:solidFill>
                      <a:schemeClr val="accent4">
                        <a:lumMod val="60000"/>
                        <a:lumOff val="40000"/>
                      </a:schemeClr>
                    </a:solidFill>
                  </a:tcPr>
                </a:tc>
                <a:tc>
                  <a:txBody>
                    <a:bodyPr/>
                    <a:lstStyle/>
                    <a:p>
                      <a:pPr algn="ctr"/>
                      <a:r>
                        <a:rPr lang="en-US" sz="2400" b="1" i="0" dirty="0">
                          <a:latin typeface="Consolas" panose="020B0609020204030204" pitchFamily="49" charset="0"/>
                          <a:cs typeface="Consolas" panose="020B0609020204030204" pitchFamily="49" charset="0"/>
                        </a:rPr>
                        <a:t>00</a:t>
                      </a:r>
                    </a:p>
                  </a:txBody>
                  <a:tcPr anchor="ctr">
                    <a:solidFill>
                      <a:schemeClr val="accent4">
                        <a:lumMod val="60000"/>
                        <a:lumOff val="40000"/>
                      </a:schemeClr>
                    </a:solidFill>
                  </a:tcPr>
                </a:tc>
                <a:tc>
                  <a:txBody>
                    <a:bodyPr/>
                    <a:lstStyle/>
                    <a:p>
                      <a:pPr algn="ctr"/>
                      <a:r>
                        <a:rPr lang="en-US" sz="2400" b="1" i="0" dirty="0">
                          <a:latin typeface="Consolas" panose="020B0609020204030204" pitchFamily="49" charset="0"/>
                          <a:cs typeface="Consolas" panose="020B0609020204030204" pitchFamily="49" charset="0"/>
                        </a:rPr>
                        <a:t>80</a:t>
                      </a:r>
                    </a:p>
                  </a:txBody>
                  <a:tcPr anchor="ctr">
                    <a:solidFill>
                      <a:schemeClr val="accent4">
                        <a:lumMod val="60000"/>
                        <a:lumOff val="40000"/>
                      </a:schemeClr>
                    </a:solidFill>
                  </a:tcPr>
                </a:tc>
                <a:tc>
                  <a:txBody>
                    <a:bodyPr/>
                    <a:lstStyle/>
                    <a:p>
                      <a:pPr algn="ctr"/>
                      <a:r>
                        <a:rPr lang="en-US" sz="2400" b="1" i="0" dirty="0">
                          <a:latin typeface="Consolas" panose="020B0609020204030204" pitchFamily="49" charset="0"/>
                          <a:cs typeface="Consolas" panose="020B0609020204030204" pitchFamily="49" charset="0"/>
                        </a:rPr>
                        <a:t>F8</a:t>
                      </a:r>
                    </a:p>
                  </a:txBody>
                  <a:tcPr anchor="ctr">
                    <a:solidFill>
                      <a:schemeClr val="accent4">
                        <a:lumMod val="60000"/>
                        <a:lumOff val="40000"/>
                      </a:schemeClr>
                    </a:solidFill>
                  </a:tcPr>
                </a:tc>
                <a:tc>
                  <a:txBody>
                    <a:bodyPr/>
                    <a:lstStyle/>
                    <a:p>
                      <a:pPr algn="ctr"/>
                      <a:r>
                        <a:rPr lang="en-US" sz="2400" b="1" i="0" dirty="0">
                          <a:latin typeface="Consolas" panose="020B0609020204030204" pitchFamily="49" charset="0"/>
                          <a:cs typeface="Consolas" panose="020B0609020204030204" pitchFamily="49" charset="0"/>
                        </a:rPr>
                        <a:t>FF</a:t>
                      </a:r>
                    </a:p>
                  </a:txBody>
                  <a:tcPr anchor="ctr">
                    <a:solidFill>
                      <a:schemeClr val="accent4">
                        <a:lumMod val="60000"/>
                        <a:lumOff val="40000"/>
                      </a:schemeClr>
                    </a:solidFill>
                  </a:tcPr>
                </a:tc>
                <a:tc>
                  <a:txBody>
                    <a:bodyPr/>
                    <a:lstStyle/>
                    <a:p>
                      <a:pPr algn="ctr"/>
                      <a:r>
                        <a:rPr lang="en-US" sz="2400" b="1" i="0" dirty="0">
                          <a:latin typeface="Consolas" panose="020B0609020204030204" pitchFamily="49" charset="0"/>
                          <a:cs typeface="Consolas" panose="020B0609020204030204" pitchFamily="49" charset="0"/>
                        </a:rPr>
                        <a:t>FF</a:t>
                      </a:r>
                    </a:p>
                  </a:txBody>
                  <a:tcPr anchor="ctr">
                    <a:solidFill>
                      <a:schemeClr val="accent4">
                        <a:lumMod val="60000"/>
                        <a:lumOff val="40000"/>
                      </a:schemeClr>
                    </a:solidFill>
                  </a:tcPr>
                </a:tc>
                <a:extLst>
                  <a:ext uri="{0D108BD9-81ED-4DB2-BD59-A6C34878D82A}">
                    <a16:rowId xmlns:a16="http://schemas.microsoft.com/office/drawing/2014/main" val="3228816114"/>
                  </a:ext>
                </a:extLst>
              </a:tr>
              <a:tr h="370840">
                <a:tc>
                  <a:txBody>
                    <a:bodyPr/>
                    <a:lstStyle/>
                    <a:p>
                      <a:pPr algn="ctr"/>
                      <a:r>
                        <a:rPr lang="en-US" sz="2400" i="1" dirty="0">
                          <a:latin typeface="Consolas" panose="020B0609020204030204" pitchFamily="49" charset="0"/>
                          <a:cs typeface="Consolas" panose="020B0609020204030204" pitchFamily="49" charset="0"/>
                        </a:rPr>
                        <a:t>8000</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8001</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8002</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8003</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8004</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8005</a:t>
                      </a:r>
                    </a:p>
                  </a:txBody>
                  <a:tcPr anchor="ctr">
                    <a:noFill/>
                  </a:tcPr>
                </a:tc>
                <a:tc>
                  <a:txBody>
                    <a:bodyPr/>
                    <a:lstStyle/>
                    <a:p>
                      <a:pPr algn="ctr"/>
                      <a:r>
                        <a:rPr lang="en-US" sz="2400" i="1" dirty="0">
                          <a:latin typeface="Consolas" panose="020B0609020204030204" pitchFamily="49" charset="0"/>
                          <a:cs typeface="Consolas" panose="020B0609020204030204" pitchFamily="49" charset="0"/>
                        </a:rPr>
                        <a:t>8006</a:t>
                      </a:r>
                    </a:p>
                  </a:txBody>
                  <a:tcPr anchor="ctr">
                    <a:noFill/>
                  </a:tcPr>
                </a:tc>
                <a:extLst>
                  <a:ext uri="{0D108BD9-81ED-4DB2-BD59-A6C34878D82A}">
                    <a16:rowId xmlns:a16="http://schemas.microsoft.com/office/drawing/2014/main" val="3768413582"/>
                  </a:ext>
                </a:extLst>
              </a:tr>
            </a:tbl>
          </a:graphicData>
        </a:graphic>
      </p:graphicFrame>
      <p:sp>
        <p:nvSpPr>
          <p:cNvPr id="39" name="TextBox 38">
            <a:extLst>
              <a:ext uri="{FF2B5EF4-FFF2-40B4-BE49-F238E27FC236}">
                <a16:creationId xmlns:a16="http://schemas.microsoft.com/office/drawing/2014/main" id="{05AFF73D-EBD2-2A46-8F47-A74283D3CE2B}"/>
              </a:ext>
            </a:extLst>
          </p:cNvPr>
          <p:cNvSpPr txBox="1"/>
          <p:nvPr/>
        </p:nvSpPr>
        <p:spPr>
          <a:xfrm>
            <a:off x="609596" y="3277791"/>
            <a:ext cx="7924804" cy="769441"/>
          </a:xfrm>
          <a:prstGeom prst="rect">
            <a:avLst/>
          </a:prstGeom>
          <a:noFill/>
        </p:spPr>
        <p:txBody>
          <a:bodyPr wrap="square" rtlCol="0">
            <a:spAutoFit/>
          </a:bodyPr>
          <a:lstStyle/>
          <a:p>
            <a:pPr algn="ctr"/>
            <a:r>
              <a:rPr lang="en-US" sz="2200" dirty="0"/>
              <a:t>of course, memory </a:t>
            </a:r>
            <a:r>
              <a:rPr lang="en-US" sz="2200" i="1" dirty="0"/>
              <a:t>itself</a:t>
            </a:r>
            <a:r>
              <a:rPr lang="en-US" sz="2200" dirty="0"/>
              <a:t> is an </a:t>
            </a:r>
            <a:r>
              <a:rPr lang="en-US" sz="2200" b="1" dirty="0"/>
              <a:t>array</a:t>
            </a:r>
            <a:r>
              <a:rPr lang="en-US" sz="2200" dirty="0"/>
              <a:t> (of bytes), so we can refer to anything </a:t>
            </a:r>
            <a:r>
              <a:rPr lang="en-US" sz="2200" i="1" dirty="0"/>
              <a:t>in</a:t>
            </a:r>
            <a:r>
              <a:rPr lang="en-US" sz="2200" dirty="0"/>
              <a:t> memory by its index: its </a:t>
            </a:r>
            <a:r>
              <a:rPr lang="en-US" sz="2200" b="1" dirty="0"/>
              <a:t>memory address.</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644585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635D9-B641-E741-B3F8-3DE478C6C025}"/>
              </a:ext>
            </a:extLst>
          </p:cNvPr>
          <p:cNvSpPr>
            <a:spLocks noGrp="1"/>
          </p:cNvSpPr>
          <p:nvPr>
            <p:ph type="title"/>
          </p:nvPr>
        </p:nvSpPr>
        <p:spPr/>
        <p:txBody>
          <a:bodyPr/>
          <a:lstStyle/>
          <a:p>
            <a:r>
              <a:rPr lang="en-US" dirty="0"/>
              <a:t>Pointers and references</a:t>
            </a:r>
          </a:p>
        </p:txBody>
      </p:sp>
      <p:sp>
        <p:nvSpPr>
          <p:cNvPr id="3" name="Content Placeholder 2">
            <a:extLst>
              <a:ext uri="{FF2B5EF4-FFF2-40B4-BE49-F238E27FC236}">
                <a16:creationId xmlns:a16="http://schemas.microsoft.com/office/drawing/2014/main" id="{C6642B6E-09BF-7D46-9055-59A7A9B412A3}"/>
              </a:ext>
            </a:extLst>
          </p:cNvPr>
          <p:cNvSpPr>
            <a:spLocks noGrp="1"/>
          </p:cNvSpPr>
          <p:nvPr>
            <p:ph idx="1"/>
          </p:nvPr>
        </p:nvSpPr>
        <p:spPr>
          <a:xfrm>
            <a:off x="152400" y="495302"/>
            <a:ext cx="8991600" cy="1079064"/>
          </a:xfrm>
        </p:spPr>
        <p:txBody>
          <a:bodyPr/>
          <a:lstStyle/>
          <a:p>
            <a:r>
              <a:rPr lang="en-US" dirty="0"/>
              <a:t>programs manipulate </a:t>
            </a:r>
            <a:r>
              <a:rPr lang="en-US" b="1" dirty="0"/>
              <a:t>values, </a:t>
            </a:r>
            <a:r>
              <a:rPr lang="en-US" dirty="0"/>
              <a:t>like </a:t>
            </a:r>
            <a:r>
              <a:rPr lang="en-US" dirty="0" err="1"/>
              <a:t>ints</a:t>
            </a:r>
            <a:r>
              <a:rPr lang="en-US" dirty="0"/>
              <a:t>, strings, objects, etc.</a:t>
            </a:r>
          </a:p>
          <a:p>
            <a:r>
              <a:rPr lang="en-US" dirty="0"/>
              <a:t>a </a:t>
            </a:r>
            <a:r>
              <a:rPr lang="en-US" b="1" dirty="0"/>
              <a:t>pointer </a:t>
            </a:r>
            <a:r>
              <a:rPr lang="en-US" dirty="0"/>
              <a:t>is a value which is the </a:t>
            </a:r>
            <a:r>
              <a:rPr lang="en-US" b="1" dirty="0"/>
              <a:t>memory address of another value.</a:t>
            </a:r>
          </a:p>
          <a:p>
            <a:pPr lvl="1"/>
            <a:r>
              <a:rPr lang="en-US" sz="1800" b="1" dirty="0"/>
              <a:t>"reference" </a:t>
            </a:r>
            <a:r>
              <a:rPr lang="en-US" sz="1800" dirty="0"/>
              <a:t>is another name for a pointer, with a "safer" connotation.</a:t>
            </a:r>
          </a:p>
        </p:txBody>
      </p:sp>
      <p:sp>
        <p:nvSpPr>
          <p:cNvPr id="4" name="Slide Number Placeholder 3">
            <a:extLst>
              <a:ext uri="{FF2B5EF4-FFF2-40B4-BE49-F238E27FC236}">
                <a16:creationId xmlns:a16="http://schemas.microsoft.com/office/drawing/2014/main" id="{03F8271A-172A-7947-B569-51E751796D96}"/>
              </a:ext>
            </a:extLst>
          </p:cNvPr>
          <p:cNvSpPr>
            <a:spLocks noGrp="1"/>
          </p:cNvSpPr>
          <p:nvPr>
            <p:ph type="sldNum" sz="quarter" idx="12"/>
          </p:nvPr>
        </p:nvSpPr>
        <p:spPr/>
        <p:txBody>
          <a:bodyPr/>
          <a:lstStyle/>
          <a:p>
            <a:fld id="{3552B95B-556F-44BD-91A5-D80C1B9E2BB3}" type="slidenum">
              <a:rPr lang="en-US" smtClean="0"/>
              <a:pPr/>
              <a:t>11</a:t>
            </a:fld>
            <a:endParaRPr lang="en-US"/>
          </a:p>
        </p:txBody>
      </p:sp>
      <p:graphicFrame>
        <p:nvGraphicFramePr>
          <p:cNvPr id="5" name="Table 4">
            <a:extLst>
              <a:ext uri="{FF2B5EF4-FFF2-40B4-BE49-F238E27FC236}">
                <a16:creationId xmlns:a16="http://schemas.microsoft.com/office/drawing/2014/main" id="{7B3D72E9-A161-594C-B61A-E0865658440E}"/>
              </a:ext>
            </a:extLst>
          </p:cNvPr>
          <p:cNvGraphicFramePr>
            <a:graphicFrameLocks noGrp="1"/>
          </p:cNvGraphicFramePr>
          <p:nvPr>
            <p:extLst>
              <p:ext uri="{D42A27DB-BD31-4B8C-83A1-F6EECF244321}">
                <p14:modId xmlns:p14="http://schemas.microsoft.com/office/powerpoint/2010/main" val="1029422164"/>
              </p:ext>
            </p:extLst>
          </p:nvPr>
        </p:nvGraphicFramePr>
        <p:xfrm>
          <a:off x="2417445" y="1764211"/>
          <a:ext cx="3602355" cy="1371600"/>
        </p:xfrm>
        <a:graphic>
          <a:graphicData uri="http://schemas.openxmlformats.org/drawingml/2006/table">
            <a:tbl>
              <a:tblPr bandRow="1">
                <a:tableStyleId>{93296810-A885-4BE3-A3E7-6D5BEEA58F35}</a:tableStyleId>
              </a:tblPr>
              <a:tblGrid>
                <a:gridCol w="1697355">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07FF8FFC</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00000001</a:t>
                      </a:r>
                    </a:p>
                  </a:txBody>
                  <a:tcPr anchor="ctr">
                    <a:solidFill>
                      <a:schemeClr val="accent4">
                        <a:lumMod val="60000"/>
                        <a:lumOff val="40000"/>
                      </a:schemeClr>
                    </a:solidFill>
                  </a:tcPr>
                </a:tc>
                <a:extLst>
                  <a:ext uri="{0D108BD9-81ED-4DB2-BD59-A6C34878D82A}">
                    <a16:rowId xmlns:a16="http://schemas.microsoft.com/office/drawing/2014/main" val="3228816114"/>
                  </a:ext>
                </a:extLst>
              </a:tr>
              <a:tr h="457200">
                <a:tc>
                  <a:txBody>
                    <a:bodyPr/>
                    <a:lstStyle/>
                    <a:p>
                      <a:pPr algn="r"/>
                      <a:r>
                        <a:rPr lang="en-US" sz="2400" b="0" i="1" dirty="0">
                          <a:latin typeface="Consolas" panose="020B0609020204030204" pitchFamily="49" charset="0"/>
                          <a:cs typeface="Consolas" panose="020B0609020204030204" pitchFamily="49" charset="0"/>
                        </a:rPr>
                        <a:t>07FF8FF8</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00000005</a:t>
                      </a:r>
                    </a:p>
                  </a:txBody>
                  <a:tcPr anchor="ctr">
                    <a:solidFill>
                      <a:schemeClr val="accent4">
                        <a:lumMod val="60000"/>
                        <a:lumOff val="40000"/>
                      </a:schemeClr>
                    </a:solidFill>
                  </a:tcPr>
                </a:tc>
                <a:extLst>
                  <a:ext uri="{0D108BD9-81ED-4DB2-BD59-A6C34878D82A}">
                    <a16:rowId xmlns:a16="http://schemas.microsoft.com/office/drawing/2014/main" val="519894183"/>
                  </a:ext>
                </a:extLst>
              </a:tr>
              <a:tr h="457200">
                <a:tc>
                  <a:txBody>
                    <a:bodyPr/>
                    <a:lstStyle/>
                    <a:p>
                      <a:pPr algn="r"/>
                      <a:r>
                        <a:rPr lang="en-US" sz="2400" b="0" i="1" dirty="0">
                          <a:latin typeface="Consolas" panose="020B0609020204030204" pitchFamily="49" charset="0"/>
                          <a:cs typeface="Consolas" panose="020B0609020204030204" pitchFamily="49" charset="0"/>
                        </a:rPr>
                        <a:t>07FF8FF4</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07FF8FFC</a:t>
                      </a:r>
                    </a:p>
                  </a:txBody>
                  <a:tcPr anchor="ctr">
                    <a:solidFill>
                      <a:schemeClr val="accent4">
                        <a:lumMod val="60000"/>
                        <a:lumOff val="40000"/>
                      </a:schemeClr>
                    </a:solidFill>
                  </a:tcPr>
                </a:tc>
                <a:extLst>
                  <a:ext uri="{0D108BD9-81ED-4DB2-BD59-A6C34878D82A}">
                    <a16:rowId xmlns:a16="http://schemas.microsoft.com/office/drawing/2014/main" val="2925284030"/>
                  </a:ext>
                </a:extLst>
              </a:tr>
            </a:tbl>
          </a:graphicData>
        </a:graphic>
      </p:graphicFrame>
      <p:sp>
        <p:nvSpPr>
          <p:cNvPr id="6" name="TextBox 5">
            <a:extLst>
              <a:ext uri="{FF2B5EF4-FFF2-40B4-BE49-F238E27FC236}">
                <a16:creationId xmlns:a16="http://schemas.microsoft.com/office/drawing/2014/main" id="{1402263C-B2BB-044B-8708-B8A71152719E}"/>
              </a:ext>
            </a:extLst>
          </p:cNvPr>
          <p:cNvSpPr txBox="1"/>
          <p:nvPr/>
        </p:nvSpPr>
        <p:spPr>
          <a:xfrm>
            <a:off x="283845" y="1757513"/>
            <a:ext cx="2381250" cy="1384995"/>
          </a:xfrm>
          <a:prstGeom prst="rect">
            <a:avLst/>
          </a:prstGeom>
          <a:noFill/>
        </p:spPr>
        <p:txBody>
          <a:bodyPr wrap="square" rtlCol="0">
            <a:spAutoFit/>
          </a:bodyPr>
          <a:lstStyle/>
          <a:p>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x = </a:t>
            </a:r>
            <a:r>
              <a:rPr lang="en-US" sz="2800" b="1" dirty="0">
                <a:solidFill>
                  <a:schemeClr val="accent3">
                    <a:lumMod val="75000"/>
                  </a:schemeClr>
                </a:solidFill>
                <a:latin typeface="Consolas" panose="020B0609020204030204" pitchFamily="49" charset="0"/>
                <a:cs typeface="Consolas" panose="020B0609020204030204" pitchFamily="49" charset="0"/>
              </a:rPr>
              <a:t>1</a:t>
            </a:r>
            <a:r>
              <a:rPr lang="en-US" sz="2800" b="1" dirty="0">
                <a:latin typeface="Consolas" panose="020B0609020204030204" pitchFamily="49" charset="0"/>
                <a:cs typeface="Consolas" panose="020B0609020204030204" pitchFamily="49" charset="0"/>
              </a:rPr>
              <a:t>;</a:t>
            </a:r>
          </a:p>
          <a:p>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y = </a:t>
            </a:r>
            <a:r>
              <a:rPr lang="en-US" sz="2800" b="1" dirty="0">
                <a:solidFill>
                  <a:schemeClr val="accent3">
                    <a:lumMod val="75000"/>
                  </a:schemeClr>
                </a:solidFill>
                <a:latin typeface="Consolas" panose="020B0609020204030204" pitchFamily="49" charset="0"/>
                <a:cs typeface="Consolas" panose="020B0609020204030204" pitchFamily="49" charset="0"/>
              </a:rPr>
              <a:t>5</a:t>
            </a:r>
            <a:r>
              <a:rPr lang="en-US" sz="2800" b="1" dirty="0">
                <a:latin typeface="Consolas" panose="020B0609020204030204" pitchFamily="49" charset="0"/>
                <a:cs typeface="Consolas" panose="020B0609020204030204" pitchFamily="49" charset="0"/>
              </a:rPr>
              <a:t>;</a:t>
            </a:r>
          </a:p>
          <a:p>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r = &amp;x;</a:t>
            </a:r>
          </a:p>
        </p:txBody>
      </p:sp>
      <p:sp>
        <p:nvSpPr>
          <p:cNvPr id="7" name="TextBox 6">
            <a:extLst>
              <a:ext uri="{FF2B5EF4-FFF2-40B4-BE49-F238E27FC236}">
                <a16:creationId xmlns:a16="http://schemas.microsoft.com/office/drawing/2014/main" id="{AC4076AF-540C-E545-8E8F-9759C9C7F71F}"/>
              </a:ext>
            </a:extLst>
          </p:cNvPr>
          <p:cNvSpPr txBox="1"/>
          <p:nvPr/>
        </p:nvSpPr>
        <p:spPr>
          <a:xfrm>
            <a:off x="429580" y="3154859"/>
            <a:ext cx="5495926" cy="769441"/>
          </a:xfrm>
          <a:prstGeom prst="rect">
            <a:avLst/>
          </a:prstGeom>
          <a:noFill/>
        </p:spPr>
        <p:txBody>
          <a:bodyPr wrap="square" rtlCol="0">
            <a:spAutoFit/>
          </a:bodyPr>
          <a:lstStyle/>
          <a:p>
            <a:pPr algn="ctr"/>
            <a:r>
              <a:rPr lang="en-US" sz="2200" dirty="0"/>
              <a:t>when you run this code, the variables might look something like this in memory.</a:t>
            </a:r>
            <a:endParaRPr lang="en-US" sz="2200" b="1" dirty="0">
              <a:latin typeface="Consolas" panose="020B0609020204030204" pitchFamily="49" charset="0"/>
              <a:cs typeface="Consolas" panose="020B0609020204030204" pitchFamily="49" charset="0"/>
            </a:endParaRPr>
          </a:p>
        </p:txBody>
      </p:sp>
      <p:sp>
        <p:nvSpPr>
          <p:cNvPr id="8" name="Arc 7">
            <a:extLst>
              <a:ext uri="{FF2B5EF4-FFF2-40B4-BE49-F238E27FC236}">
                <a16:creationId xmlns:a16="http://schemas.microsoft.com/office/drawing/2014/main" id="{470A4A77-E169-C24A-ABF7-49ADE55771EB}"/>
              </a:ext>
            </a:extLst>
          </p:cNvPr>
          <p:cNvSpPr/>
          <p:nvPr/>
        </p:nvSpPr>
        <p:spPr>
          <a:xfrm>
            <a:off x="5564507" y="1992810"/>
            <a:ext cx="914400" cy="914400"/>
          </a:xfrm>
          <a:prstGeom prst="arc">
            <a:avLst>
              <a:gd name="adj1" fmla="val 16200000"/>
              <a:gd name="adj2" fmla="val 5167289"/>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9C7D45B6-9BAB-7B42-B380-2A4C522E1718}"/>
              </a:ext>
            </a:extLst>
          </p:cNvPr>
          <p:cNvSpPr txBox="1"/>
          <p:nvPr/>
        </p:nvSpPr>
        <p:spPr>
          <a:xfrm>
            <a:off x="6532248" y="1705483"/>
            <a:ext cx="2497452" cy="1446550"/>
          </a:xfrm>
          <a:prstGeom prst="rect">
            <a:avLst/>
          </a:prstGeom>
          <a:noFill/>
        </p:spPr>
        <p:txBody>
          <a:bodyPr wrap="square" rtlCol="0">
            <a:spAutoFit/>
          </a:bodyPr>
          <a:lstStyle/>
          <a:p>
            <a:pPr algn="ctr"/>
            <a:r>
              <a:rPr lang="en-US" sz="2200" dirty="0"/>
              <a:t>we say,</a:t>
            </a:r>
          </a:p>
          <a:p>
            <a:pPr algn="ctr"/>
            <a:r>
              <a:rPr lang="en-US" sz="2200" dirty="0"/>
              <a:t>"r </a:t>
            </a:r>
            <a:r>
              <a:rPr lang="en-US" sz="2200" b="1" dirty="0"/>
              <a:t>points to </a:t>
            </a:r>
            <a:r>
              <a:rPr lang="en-US" sz="2200" dirty="0"/>
              <a:t>x." r is the pointer, and x is its </a:t>
            </a:r>
            <a:r>
              <a:rPr lang="en-US" sz="2200" b="1" dirty="0"/>
              <a:t>referent.</a:t>
            </a:r>
            <a:endParaRPr lang="en-US" sz="2200" b="1"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37A250B4-7D94-CE4A-B4BC-B5906A66EE96}"/>
              </a:ext>
            </a:extLst>
          </p:cNvPr>
          <p:cNvSpPr txBox="1"/>
          <p:nvPr/>
        </p:nvSpPr>
        <p:spPr>
          <a:xfrm>
            <a:off x="283845" y="4186475"/>
            <a:ext cx="2764155" cy="861774"/>
          </a:xfrm>
          <a:prstGeom prst="rect">
            <a:avLst/>
          </a:prstGeom>
          <a:noFill/>
        </p:spPr>
        <p:txBody>
          <a:bodyPr wrap="square" rtlCol="0">
            <a:spAutoFit/>
          </a:bodyPr>
          <a:lstStyle/>
          <a:p>
            <a:r>
              <a:rPr lang="en-US" sz="2200" dirty="0"/>
              <a:t>if I now write this: </a:t>
            </a:r>
          </a:p>
          <a:p>
            <a:r>
              <a:rPr lang="en-US" sz="2800" b="1" dirty="0">
                <a:solidFill>
                  <a:srgbClr val="FF0000"/>
                </a:solidFill>
                <a:latin typeface="Consolas" panose="020B0609020204030204" pitchFamily="49" charset="0"/>
                <a:cs typeface="Consolas" panose="020B0609020204030204" pitchFamily="49" charset="0"/>
              </a:rPr>
              <a:t>let</a:t>
            </a:r>
            <a:r>
              <a:rPr lang="en-US" sz="2800" b="1" dirty="0">
                <a:latin typeface="Consolas" panose="020B0609020204030204" pitchFamily="49" charset="0"/>
                <a:cs typeface="Consolas" panose="020B0609020204030204" pitchFamily="49" charset="0"/>
              </a:rPr>
              <a:t> z = *r;</a:t>
            </a:r>
          </a:p>
        </p:txBody>
      </p:sp>
      <p:sp>
        <p:nvSpPr>
          <p:cNvPr id="11" name="TextBox 10">
            <a:extLst>
              <a:ext uri="{FF2B5EF4-FFF2-40B4-BE49-F238E27FC236}">
                <a16:creationId xmlns:a16="http://schemas.microsoft.com/office/drawing/2014/main" id="{907A96AE-B297-EB4E-BD5A-FA5DE8618777}"/>
              </a:ext>
            </a:extLst>
          </p:cNvPr>
          <p:cNvSpPr txBox="1"/>
          <p:nvPr/>
        </p:nvSpPr>
        <p:spPr>
          <a:xfrm>
            <a:off x="2722245" y="4297859"/>
            <a:ext cx="5981700" cy="769441"/>
          </a:xfrm>
          <a:prstGeom prst="rect">
            <a:avLst/>
          </a:prstGeom>
          <a:noFill/>
        </p:spPr>
        <p:txBody>
          <a:bodyPr wrap="square" rtlCol="0">
            <a:spAutoFit/>
          </a:bodyPr>
          <a:lstStyle/>
          <a:p>
            <a:pPr algn="ctr"/>
            <a:r>
              <a:rPr lang="en-US" sz="2200" dirty="0"/>
              <a:t>the asterisk </a:t>
            </a:r>
            <a:r>
              <a:rPr lang="en-US" sz="2200" b="1" dirty="0"/>
              <a:t>follows the arrow from r to x, </a:t>
            </a:r>
            <a:r>
              <a:rPr lang="en-US" sz="2200" dirty="0"/>
              <a:t>and loads the value stored there. so z will be…?</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268060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9F09F-4902-0946-A9D3-A7CED4E8DC8B}"/>
              </a:ext>
            </a:extLst>
          </p:cNvPr>
          <p:cNvSpPr>
            <a:spLocks noGrp="1"/>
          </p:cNvSpPr>
          <p:nvPr>
            <p:ph type="title"/>
          </p:nvPr>
        </p:nvSpPr>
        <p:spPr/>
        <p:txBody>
          <a:bodyPr/>
          <a:lstStyle/>
          <a:p>
            <a:r>
              <a:rPr lang="en-US" dirty="0"/>
              <a:t>Dereferencing</a:t>
            </a:r>
          </a:p>
        </p:txBody>
      </p:sp>
      <p:sp>
        <p:nvSpPr>
          <p:cNvPr id="3" name="Content Placeholder 2">
            <a:extLst>
              <a:ext uri="{FF2B5EF4-FFF2-40B4-BE49-F238E27FC236}">
                <a16:creationId xmlns:a16="http://schemas.microsoft.com/office/drawing/2014/main" id="{8FF28281-CACB-6E47-AC42-C7E213E8BA54}"/>
              </a:ext>
            </a:extLst>
          </p:cNvPr>
          <p:cNvSpPr>
            <a:spLocks noGrp="1"/>
          </p:cNvSpPr>
          <p:nvPr>
            <p:ph idx="1"/>
          </p:nvPr>
        </p:nvSpPr>
        <p:spPr>
          <a:xfrm>
            <a:off x="152400" y="495301"/>
            <a:ext cx="8991600" cy="838199"/>
          </a:xfrm>
        </p:spPr>
        <p:txBody>
          <a:bodyPr/>
          <a:lstStyle/>
          <a:p>
            <a:r>
              <a:rPr lang="en-US" b="1" dirty="0"/>
              <a:t>dereferencing </a:t>
            </a:r>
            <a:r>
              <a:rPr lang="en-US" dirty="0"/>
              <a:t>means “accessing the referent of a reference.”</a:t>
            </a:r>
          </a:p>
          <a:p>
            <a:r>
              <a:rPr lang="en-US" b="1" dirty="0">
                <a:solidFill>
                  <a:srgbClr val="FF0000"/>
                </a:solidFill>
              </a:rPr>
              <a:t>it does not mean “to deallocate a piece of memory.”</a:t>
            </a:r>
          </a:p>
        </p:txBody>
      </p:sp>
      <p:sp>
        <p:nvSpPr>
          <p:cNvPr id="4" name="Slide Number Placeholder 3">
            <a:extLst>
              <a:ext uri="{FF2B5EF4-FFF2-40B4-BE49-F238E27FC236}">
                <a16:creationId xmlns:a16="http://schemas.microsoft.com/office/drawing/2014/main" id="{5444565D-F2FC-DF4C-A796-FF33586CAA3A}"/>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5" name="TextBox 4">
            <a:extLst>
              <a:ext uri="{FF2B5EF4-FFF2-40B4-BE49-F238E27FC236}">
                <a16:creationId xmlns:a16="http://schemas.microsoft.com/office/drawing/2014/main" id="{BC72823B-6A36-8E47-BD60-33DB77438ADA}"/>
              </a:ext>
            </a:extLst>
          </p:cNvPr>
          <p:cNvSpPr txBox="1"/>
          <p:nvPr/>
        </p:nvSpPr>
        <p:spPr>
          <a:xfrm>
            <a:off x="5167790" y="1485900"/>
            <a:ext cx="2819400" cy="1569660"/>
          </a:xfrm>
          <a:prstGeom prst="rect">
            <a:avLst/>
          </a:prstGeom>
          <a:noFill/>
        </p:spPr>
        <p:txBody>
          <a:bodyPr wrap="square" rtlCol="0">
            <a:spAutoFit/>
          </a:bodyPr>
          <a:lstStyle/>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mut</a:t>
            </a:r>
            <a:r>
              <a:rPr lang="en-US" sz="2400" b="1" dirty="0">
                <a:latin typeface="Consolas" panose="020B0609020204030204" pitchFamily="49" charset="0"/>
                <a:cs typeface="Consolas" panose="020B0609020204030204" pitchFamily="49" charset="0"/>
              </a:rPr>
              <a:t> x = </a:t>
            </a:r>
            <a:r>
              <a:rPr lang="en-US" sz="2400" b="1" dirty="0">
                <a:solidFill>
                  <a:schemeClr val="accent3">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p>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r = &amp;</a:t>
            </a:r>
            <a:r>
              <a:rPr lang="en-US" sz="2400" b="1" dirty="0" err="1">
                <a:solidFill>
                  <a:srgbClr val="FF0000"/>
                </a:solidFill>
                <a:latin typeface="Consolas" panose="020B0609020204030204" pitchFamily="49" charset="0"/>
                <a:cs typeface="Consolas" panose="020B0609020204030204" pitchFamily="49" charset="0"/>
              </a:rPr>
              <a:t>mut</a:t>
            </a:r>
            <a:r>
              <a:rPr lang="en-US" sz="2400" b="1" dirty="0">
                <a:latin typeface="Consolas" panose="020B0609020204030204" pitchFamily="49" charset="0"/>
                <a:cs typeface="Consolas" panose="020B0609020204030204" pitchFamily="49" charset="0"/>
              </a:rPr>
              <a:t> x;</a:t>
            </a:r>
          </a:p>
          <a:p>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z = *r;</a:t>
            </a:r>
          </a:p>
          <a:p>
            <a:r>
              <a:rPr lang="en-US" sz="2400" b="1" dirty="0">
                <a:latin typeface="Consolas" panose="020B0609020204030204" pitchFamily="49" charset="0"/>
                <a:cs typeface="Consolas" panose="020B0609020204030204" pitchFamily="49" charset="0"/>
              </a:rPr>
              <a:t>*r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95FA2983-D6B9-5043-90F4-3F7DE1CF8845}"/>
              </a:ext>
            </a:extLst>
          </p:cNvPr>
          <p:cNvSpPr txBox="1"/>
          <p:nvPr/>
        </p:nvSpPr>
        <p:spPr>
          <a:xfrm>
            <a:off x="4544380" y="3189111"/>
            <a:ext cx="4066220" cy="1446550"/>
          </a:xfrm>
          <a:prstGeom prst="rect">
            <a:avLst/>
          </a:prstGeom>
          <a:noFill/>
        </p:spPr>
        <p:txBody>
          <a:bodyPr wrap="square" rtlCol="0">
            <a:spAutoFit/>
          </a:bodyPr>
          <a:lstStyle/>
          <a:p>
            <a:pPr algn="ctr"/>
            <a:r>
              <a:rPr lang="en-US" sz="2200" dirty="0"/>
              <a:t>Rust has those, as well as the prefix asterisk operator, which can </a:t>
            </a:r>
            <a:r>
              <a:rPr lang="en-US" sz="2200" b="1" dirty="0"/>
              <a:t>get</a:t>
            </a:r>
            <a:r>
              <a:rPr lang="en-US" sz="2200" dirty="0"/>
              <a:t> or </a:t>
            </a:r>
            <a:r>
              <a:rPr lang="en-US" sz="2200" b="1" dirty="0"/>
              <a:t>set</a:t>
            </a:r>
            <a:r>
              <a:rPr lang="en-US" sz="2200" dirty="0"/>
              <a:t> the value at the other end of the reference.</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F3A30D3B-3116-6C4F-96B0-3BA953FCE06C}"/>
              </a:ext>
            </a:extLst>
          </p:cNvPr>
          <p:cNvSpPr txBox="1"/>
          <p:nvPr/>
        </p:nvSpPr>
        <p:spPr>
          <a:xfrm>
            <a:off x="863867" y="1485900"/>
            <a:ext cx="2819400" cy="1569660"/>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A a = </a:t>
            </a:r>
            <a:r>
              <a:rPr lang="en-US" sz="2400" b="1" dirty="0">
                <a:solidFill>
                  <a:srgbClr val="FF0000"/>
                </a:solidFill>
                <a:latin typeface="Consolas" panose="020B0609020204030204" pitchFamily="49" charset="0"/>
                <a:cs typeface="Consolas" panose="020B0609020204030204" pitchFamily="49" charset="0"/>
              </a:rPr>
              <a:t>new</a:t>
            </a:r>
            <a:r>
              <a:rPr lang="en-US" sz="2400" b="1" dirty="0">
                <a:latin typeface="Consolas" panose="020B0609020204030204" pitchFamily="49" charset="0"/>
                <a:cs typeface="Consolas" panose="020B0609020204030204" pitchFamily="49" charset="0"/>
              </a:rPr>
              <a:t> A();</a:t>
            </a:r>
          </a:p>
          <a:p>
            <a:r>
              <a:rPr lang="en-US" sz="2400" b="1" dirty="0" err="1">
                <a:latin typeface="Consolas" panose="020B0609020204030204" pitchFamily="49" charset="0"/>
                <a:cs typeface="Consolas" panose="020B0609020204030204" pitchFamily="49" charset="0"/>
              </a:rPr>
              <a:t>a.x</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a.method</a:t>
            </a:r>
            <a:r>
              <a:rPr lang="en-US" sz="2400" b="1" dirty="0">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arr</a:t>
            </a:r>
            <a:r>
              <a:rPr lang="en-US" sz="2400" b="1" dirty="0">
                <a:latin typeface="Consolas" panose="020B0609020204030204" pitchFamily="49" charset="0"/>
                <a:cs typeface="Consolas" panose="020B0609020204030204" pitchFamily="49" charset="0"/>
              </a:rPr>
              <a:t>[</a:t>
            </a:r>
            <a:r>
              <a:rPr lang="en-US" sz="2400" b="1" dirty="0" err="1">
                <a:latin typeface="Consolas" panose="020B0609020204030204" pitchFamily="49" charset="0"/>
                <a:cs typeface="Consolas" panose="020B0609020204030204" pitchFamily="49" charset="0"/>
              </a:rPr>
              <a:t>i</a:t>
            </a:r>
            <a:r>
              <a:rPr lang="en-US" sz="2400" b="1" dirty="0">
                <a:latin typeface="Consolas" panose="020B0609020204030204" pitchFamily="49" charset="0"/>
                <a:cs typeface="Consolas" panose="020B0609020204030204" pitchFamily="49" charset="0"/>
              </a:rPr>
              <a:t>] = a;</a:t>
            </a:r>
          </a:p>
        </p:txBody>
      </p:sp>
      <p:sp>
        <p:nvSpPr>
          <p:cNvPr id="8" name="TextBox 7">
            <a:extLst>
              <a:ext uri="{FF2B5EF4-FFF2-40B4-BE49-F238E27FC236}">
                <a16:creationId xmlns:a16="http://schemas.microsoft.com/office/drawing/2014/main" id="{07DE1505-B691-504F-906A-C961A5941C22}"/>
              </a:ext>
            </a:extLst>
          </p:cNvPr>
          <p:cNvSpPr txBox="1"/>
          <p:nvPr/>
        </p:nvSpPr>
        <p:spPr>
          <a:xfrm>
            <a:off x="381000" y="3189111"/>
            <a:ext cx="3581400" cy="1785104"/>
          </a:xfrm>
          <a:prstGeom prst="rect">
            <a:avLst/>
          </a:prstGeom>
          <a:noFill/>
        </p:spPr>
        <p:txBody>
          <a:bodyPr wrap="square" rtlCol="0">
            <a:spAutoFit/>
          </a:bodyPr>
          <a:lstStyle/>
          <a:p>
            <a:pPr algn="ctr"/>
            <a:r>
              <a:rPr lang="en-US" sz="2200" dirty="0"/>
              <a:t>in Java, the dot and square bracket operators perform dereferencing, to access values and methods within an object or array.</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528734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72B8-4436-DF49-AF76-D816433873B2}"/>
              </a:ext>
            </a:extLst>
          </p:cNvPr>
          <p:cNvSpPr>
            <a:spLocks noGrp="1"/>
          </p:cNvSpPr>
          <p:nvPr>
            <p:ph type="title"/>
          </p:nvPr>
        </p:nvSpPr>
        <p:spPr/>
        <p:txBody>
          <a:bodyPr/>
          <a:lstStyle/>
          <a:p>
            <a:r>
              <a:rPr lang="en-US" dirty="0"/>
              <a:t>The necessity of indirection</a:t>
            </a:r>
          </a:p>
        </p:txBody>
      </p:sp>
      <p:sp>
        <p:nvSpPr>
          <p:cNvPr id="3" name="Content Placeholder 2">
            <a:extLst>
              <a:ext uri="{FF2B5EF4-FFF2-40B4-BE49-F238E27FC236}">
                <a16:creationId xmlns:a16="http://schemas.microsoft.com/office/drawing/2014/main" id="{4EC8986F-91A5-6D4A-B173-A6C2BADAD0F6}"/>
              </a:ext>
            </a:extLst>
          </p:cNvPr>
          <p:cNvSpPr>
            <a:spLocks noGrp="1"/>
          </p:cNvSpPr>
          <p:nvPr>
            <p:ph idx="1"/>
          </p:nvPr>
        </p:nvSpPr>
        <p:spPr/>
        <p:txBody>
          <a:bodyPr/>
          <a:lstStyle/>
          <a:p>
            <a:r>
              <a:rPr lang="en-US" dirty="0"/>
              <a:t>when you write a program, you have a </a:t>
            </a:r>
            <a:r>
              <a:rPr lang="en-US" b="1" dirty="0"/>
              <a:t>fixed number</a:t>
            </a:r>
            <a:r>
              <a:rPr lang="en-US" dirty="0"/>
              <a:t> of variables…</a:t>
            </a:r>
          </a:p>
          <a:p>
            <a:pPr lvl="1"/>
            <a:r>
              <a:rPr lang="en-US" dirty="0"/>
              <a:t>but the size of most data structures is </a:t>
            </a:r>
            <a:r>
              <a:rPr lang="en-US" b="1" dirty="0"/>
              <a:t>dynamic.</a:t>
            </a:r>
          </a:p>
          <a:p>
            <a:pPr lvl="1"/>
            <a:r>
              <a:rPr lang="en-US" dirty="0"/>
              <a:t>you don't know how many values there will be until </a:t>
            </a:r>
            <a:r>
              <a:rPr lang="en-US" i="1" dirty="0"/>
              <a:t>runtime.</a:t>
            </a:r>
          </a:p>
          <a:p>
            <a:r>
              <a:rPr lang="en-US" dirty="0"/>
              <a:t>so, we have to </a:t>
            </a:r>
            <a:r>
              <a:rPr lang="en-US" b="1" dirty="0"/>
              <a:t>dynamically allocate memory:</a:t>
            </a:r>
            <a:endParaRPr lang="en-US" dirty="0"/>
          </a:p>
          <a:p>
            <a:pPr marL="258605" lvl="1" indent="0">
              <a:buNone/>
            </a:pPr>
            <a:r>
              <a:rPr lang="en-US" b="1" dirty="0">
                <a:solidFill>
                  <a:srgbClr val="FF0000"/>
                </a:solidFill>
                <a:latin typeface="Consolas" panose="020B0609020204030204" pitchFamily="49" charset="0"/>
                <a:cs typeface="Consolas" panose="020B0609020204030204" pitchFamily="49" charset="0"/>
              </a:rPr>
              <a:t>  int</a:t>
            </a:r>
            <a:r>
              <a:rPr lang="en-US" b="1" dirty="0">
                <a:latin typeface="Consolas" panose="020B0609020204030204" pitchFamily="49" charset="0"/>
                <a:cs typeface="Consolas" panose="020B0609020204030204" pitchFamily="49" charset="0"/>
              </a:rPr>
              <a:t>[] a = </a:t>
            </a:r>
            <a:r>
              <a:rPr lang="en-US" b="1" dirty="0">
                <a:solidFill>
                  <a:srgbClr val="FF0000"/>
                </a:solidFill>
                <a:latin typeface="Consolas" panose="020B0609020204030204" pitchFamily="49" charset="0"/>
                <a:cs typeface="Consolas" panose="020B0609020204030204" pitchFamily="49" charset="0"/>
              </a:rPr>
              <a:t>new</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a:t>
            </a:r>
            <a:r>
              <a:rPr lang="en-US" b="1" dirty="0">
                <a:solidFill>
                  <a:schemeClr val="accent3">
                    <a:lumMod val="75000"/>
                  </a:schemeClr>
                </a:solidFill>
                <a:latin typeface="Consolas" panose="020B0609020204030204" pitchFamily="49" charset="0"/>
                <a:cs typeface="Consolas" panose="020B0609020204030204" pitchFamily="49" charset="0"/>
              </a:rPr>
              <a:t>100</a:t>
            </a:r>
            <a:r>
              <a:rPr lang="en-US" b="1" dirty="0">
                <a:latin typeface="Consolas" panose="020B0609020204030204" pitchFamily="49" charset="0"/>
                <a:cs typeface="Consolas" panose="020B0609020204030204" pitchFamily="49" charset="0"/>
              </a:rPr>
              <a:t>]; </a:t>
            </a:r>
            <a:r>
              <a:rPr lang="en-US" i="1" dirty="0">
                <a:solidFill>
                  <a:schemeClr val="accent3">
                    <a:lumMod val="50000"/>
                  </a:schemeClr>
                </a:solidFill>
                <a:latin typeface="Consolas" panose="020B0609020204030204" pitchFamily="49" charset="0"/>
                <a:cs typeface="Consolas" panose="020B0609020204030204" pitchFamily="49" charset="0"/>
              </a:rPr>
              <a:t>// </a:t>
            </a:r>
            <a:r>
              <a:rPr lang="en-US" i="1" dirty="0" err="1">
                <a:solidFill>
                  <a:schemeClr val="accent3">
                    <a:lumMod val="50000"/>
                  </a:schemeClr>
                </a:solidFill>
                <a:latin typeface="Consolas" panose="020B0609020204030204" pitchFamily="49" charset="0"/>
                <a:cs typeface="Consolas" panose="020B0609020204030204" pitchFamily="49" charset="0"/>
              </a:rPr>
              <a:t>gimme</a:t>
            </a:r>
            <a:r>
              <a:rPr lang="en-US" i="1" dirty="0">
                <a:solidFill>
                  <a:schemeClr val="accent3">
                    <a:lumMod val="50000"/>
                  </a:schemeClr>
                </a:solidFill>
                <a:latin typeface="Consolas" panose="020B0609020204030204" pitchFamily="49" charset="0"/>
                <a:cs typeface="Consolas" panose="020B0609020204030204" pitchFamily="49" charset="0"/>
              </a:rPr>
              <a:t> 100 new variables</a:t>
            </a:r>
          </a:p>
          <a:p>
            <a:r>
              <a:rPr lang="en-US" dirty="0"/>
              <a:t>but we won't know the array's </a:t>
            </a:r>
            <a:r>
              <a:rPr lang="en-US" i="1" dirty="0"/>
              <a:t>address</a:t>
            </a:r>
            <a:r>
              <a:rPr lang="en-US" dirty="0"/>
              <a:t> until runtime!</a:t>
            </a:r>
          </a:p>
          <a:p>
            <a:pPr lvl="1"/>
            <a:r>
              <a:rPr lang="en-US" dirty="0"/>
              <a:t>so the only way to access it is </a:t>
            </a:r>
            <a:r>
              <a:rPr lang="en-US" b="1" dirty="0"/>
              <a:t>indirectly.</a:t>
            </a:r>
          </a:p>
          <a:p>
            <a:r>
              <a:rPr lang="en-US" dirty="0"/>
              <a:t>the variable above is a pointer to an value on the </a:t>
            </a:r>
            <a:r>
              <a:rPr lang="en-US" b="1" dirty="0"/>
              <a:t>heap, </a:t>
            </a:r>
            <a:r>
              <a:rPr lang="en-US" dirty="0"/>
              <a:t>the area of memory where dynamic allocation happens.</a:t>
            </a:r>
          </a:p>
          <a:p>
            <a:pPr lvl="1"/>
            <a:r>
              <a:rPr lang="en-US" dirty="0"/>
              <a:t>from now on, I'll use the term </a:t>
            </a:r>
            <a:r>
              <a:rPr lang="en-US" b="1" dirty="0"/>
              <a:t>object</a:t>
            </a:r>
            <a:r>
              <a:rPr lang="en-US" dirty="0"/>
              <a:t> to refer to </a:t>
            </a:r>
            <a:r>
              <a:rPr lang="en-US" b="1" dirty="0"/>
              <a:t>heap-allocated values, </a:t>
            </a:r>
            <a:r>
              <a:rPr lang="en-US" dirty="0"/>
              <a:t>but not necessarily in the "object-oriented" sense.</a:t>
            </a:r>
          </a:p>
        </p:txBody>
      </p:sp>
      <p:sp>
        <p:nvSpPr>
          <p:cNvPr id="4" name="Slide Number Placeholder 3">
            <a:extLst>
              <a:ext uri="{FF2B5EF4-FFF2-40B4-BE49-F238E27FC236}">
                <a16:creationId xmlns:a16="http://schemas.microsoft.com/office/drawing/2014/main" id="{B59D23E6-F340-DA46-A190-B9AF11974B70}"/>
              </a:ext>
            </a:extLst>
          </p:cNvPr>
          <p:cNvSpPr>
            <a:spLocks noGrp="1"/>
          </p:cNvSpPr>
          <p:nvPr>
            <p:ph type="sldNum" sz="quarter" idx="12"/>
          </p:nvPr>
        </p:nvSpPr>
        <p:spPr/>
        <p:txBody>
          <a:bodyPr/>
          <a:lstStyle/>
          <a:p>
            <a:fld id="{3552B95B-556F-44BD-91A5-D80C1B9E2BB3}" type="slidenum">
              <a:rPr lang="en-US" smtClean="0"/>
              <a:pPr/>
              <a:t>13</a:t>
            </a:fld>
            <a:endParaRPr lang="en-US"/>
          </a:p>
        </p:txBody>
      </p:sp>
    </p:spTree>
    <p:extLst>
      <p:ext uri="{BB962C8B-B14F-4D97-AF65-F5344CB8AC3E}">
        <p14:creationId xmlns:p14="http://schemas.microsoft.com/office/powerpoint/2010/main" val="318996275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F4FA7-7A7B-E343-81C1-28610E4BB2C7}"/>
              </a:ext>
            </a:extLst>
          </p:cNvPr>
          <p:cNvSpPr>
            <a:spLocks noGrp="1"/>
          </p:cNvSpPr>
          <p:nvPr>
            <p:ph type="title"/>
          </p:nvPr>
        </p:nvSpPr>
        <p:spPr/>
        <p:txBody>
          <a:bodyPr/>
          <a:lstStyle/>
          <a:p>
            <a:r>
              <a:rPr lang="en-US" dirty="0"/>
              <a:t>The power of the heap</a:t>
            </a:r>
          </a:p>
        </p:txBody>
      </p:sp>
      <p:sp>
        <p:nvSpPr>
          <p:cNvPr id="3" name="Content Placeholder 2">
            <a:extLst>
              <a:ext uri="{FF2B5EF4-FFF2-40B4-BE49-F238E27FC236}">
                <a16:creationId xmlns:a16="http://schemas.microsoft.com/office/drawing/2014/main" id="{93BBA998-53DF-D04E-A5F8-9FDB369CD27A}"/>
              </a:ext>
            </a:extLst>
          </p:cNvPr>
          <p:cNvSpPr>
            <a:spLocks noGrp="1"/>
          </p:cNvSpPr>
          <p:nvPr>
            <p:ph idx="1"/>
          </p:nvPr>
        </p:nvSpPr>
        <p:spPr>
          <a:xfrm>
            <a:off x="152400" y="495301"/>
            <a:ext cx="8991600" cy="838199"/>
          </a:xfrm>
        </p:spPr>
        <p:txBody>
          <a:bodyPr/>
          <a:lstStyle/>
          <a:p>
            <a:r>
              <a:rPr lang="en-US" dirty="0"/>
              <a:t>the heap lets us create data structures of </a:t>
            </a:r>
            <a:r>
              <a:rPr lang="en-US" i="1" dirty="0"/>
              <a:t>any</a:t>
            </a:r>
            <a:r>
              <a:rPr lang="en-US" dirty="0"/>
              <a:t> </a:t>
            </a:r>
            <a:r>
              <a:rPr lang="en-US" sz="1100" dirty="0"/>
              <a:t>practical</a:t>
            </a:r>
            <a:r>
              <a:rPr lang="en-US" dirty="0"/>
              <a:t> size at runtime.</a:t>
            </a:r>
          </a:p>
          <a:p>
            <a:r>
              <a:rPr lang="en-US" dirty="0"/>
              <a:t>the </a:t>
            </a:r>
            <a:r>
              <a:rPr lang="en-US" b="1" dirty="0"/>
              <a:t>lifetime</a:t>
            </a:r>
            <a:r>
              <a:rPr lang="en-US" dirty="0"/>
              <a:t> of heap-allocated values (</a:t>
            </a:r>
            <a:r>
              <a:rPr lang="en-US" b="1" dirty="0"/>
              <a:t>objects</a:t>
            </a:r>
            <a:r>
              <a:rPr lang="en-US" dirty="0"/>
              <a:t>) is also dynamic.</a:t>
            </a:r>
          </a:p>
        </p:txBody>
      </p:sp>
      <p:sp>
        <p:nvSpPr>
          <p:cNvPr id="4" name="Slide Number Placeholder 3">
            <a:extLst>
              <a:ext uri="{FF2B5EF4-FFF2-40B4-BE49-F238E27FC236}">
                <a16:creationId xmlns:a16="http://schemas.microsoft.com/office/drawing/2014/main" id="{615236BA-A54C-F94E-B91C-111C38BBD49B}"/>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5" name="TextBox 4">
            <a:extLst>
              <a:ext uri="{FF2B5EF4-FFF2-40B4-BE49-F238E27FC236}">
                <a16:creationId xmlns:a16="http://schemas.microsoft.com/office/drawing/2014/main" id="{9DC80B00-9B8A-004C-9452-8F30DDFD8062}"/>
              </a:ext>
            </a:extLst>
          </p:cNvPr>
          <p:cNvSpPr txBox="1"/>
          <p:nvPr/>
        </p:nvSpPr>
        <p:spPr>
          <a:xfrm>
            <a:off x="381000" y="1518672"/>
            <a:ext cx="3505200" cy="3046988"/>
          </a:xfrm>
          <a:prstGeom prst="rect">
            <a:avLst/>
          </a:prstGeom>
          <a:noFill/>
        </p:spPr>
        <p:txBody>
          <a:bodyPr wrap="square" rtlCol="0">
            <a:spAutoFit/>
          </a:bodyPr>
          <a:lstStyle/>
          <a:p>
            <a:r>
              <a:rPr lang="en-US" sz="2400" b="1" dirty="0" err="1">
                <a:solidFill>
                  <a:srgbClr val="FF0000"/>
                </a:solidFill>
                <a:latin typeface="Consolas" panose="020B0609020204030204" pitchFamily="49" charset="0"/>
                <a:cs typeface="Consolas" panose="020B0609020204030204" pitchFamily="49" charset="0"/>
              </a:rPr>
              <a:t>fn</a:t>
            </a:r>
            <a:r>
              <a:rPr lang="en-US" sz="2400" b="1" dirty="0">
                <a:latin typeface="Consolas" panose="020B0609020204030204" pitchFamily="49" charset="0"/>
                <a:cs typeface="Consolas" panose="020B0609020204030204" pitchFamily="49" charset="0"/>
              </a:rPr>
              <a:t> f(): Cat {</a:t>
            </a:r>
          </a:p>
          <a:p>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return new</a:t>
            </a:r>
            <a:r>
              <a:rPr lang="en-US" sz="2400" b="1" dirty="0">
                <a:latin typeface="Consolas" panose="020B0609020204030204" pitchFamily="49" charset="0"/>
                <a:cs typeface="Consolas" panose="020B0609020204030204" pitchFamily="49" charset="0"/>
              </a:rPr>
              <a:t> Cat();</a:t>
            </a:r>
          </a:p>
          <a:p>
            <a:r>
              <a:rPr lang="en-US" sz="2400" b="1" dirty="0">
                <a:latin typeface="Consolas" panose="020B0609020204030204" pitchFamily="49" charset="0"/>
                <a:cs typeface="Consolas" panose="020B0609020204030204" pitchFamily="49" charset="0"/>
              </a:rPr>
              <a:t>}</a:t>
            </a:r>
          </a:p>
          <a:p>
            <a:endParaRPr lang="en-US" sz="2400" b="1" dirty="0">
              <a:latin typeface="Consolas" panose="020B0609020204030204" pitchFamily="49" charset="0"/>
              <a:cs typeface="Consolas" panose="020B0609020204030204" pitchFamily="49" charset="0"/>
            </a:endParaRPr>
          </a:p>
          <a:p>
            <a:r>
              <a:rPr lang="en-US" sz="2400" b="1" dirty="0" err="1">
                <a:solidFill>
                  <a:srgbClr val="FF0000"/>
                </a:solidFill>
                <a:latin typeface="Consolas" panose="020B0609020204030204" pitchFamily="49" charset="0"/>
                <a:cs typeface="Consolas" panose="020B0609020204030204" pitchFamily="49" charset="0"/>
              </a:rPr>
              <a:t>fn</a:t>
            </a:r>
            <a:r>
              <a:rPr lang="en-US" sz="2400" b="1" dirty="0">
                <a:latin typeface="Consolas" panose="020B0609020204030204" pitchFamily="49" charset="0"/>
                <a:cs typeface="Consolas" panose="020B0609020204030204" pitchFamily="49" charset="0"/>
              </a:rPr>
              <a:t> main() {</a:t>
            </a:r>
          </a:p>
          <a:p>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let</a:t>
            </a:r>
            <a:r>
              <a:rPr lang="en-US" sz="2400" b="1" dirty="0">
                <a:latin typeface="Consolas" panose="020B0609020204030204" pitchFamily="49" charset="0"/>
                <a:cs typeface="Consolas" panose="020B0609020204030204" pitchFamily="49" charset="0"/>
              </a:rPr>
              <a:t> c = f();</a:t>
            </a:r>
          </a:p>
          <a:p>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c.meow</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9FD838AD-232E-8C45-98CD-AEB72AA96D1C}"/>
              </a:ext>
            </a:extLst>
          </p:cNvPr>
          <p:cNvSpPr txBox="1"/>
          <p:nvPr/>
        </p:nvSpPr>
        <p:spPr>
          <a:xfrm>
            <a:off x="3895023" y="1707588"/>
            <a:ext cx="3743326" cy="769441"/>
          </a:xfrm>
          <a:prstGeom prst="rect">
            <a:avLst/>
          </a:prstGeom>
          <a:noFill/>
        </p:spPr>
        <p:txBody>
          <a:bodyPr wrap="square" rtlCol="0">
            <a:spAutoFit/>
          </a:bodyPr>
          <a:lstStyle/>
          <a:p>
            <a:pPr algn="ctr"/>
            <a:r>
              <a:rPr lang="en-US" sz="2200" dirty="0"/>
              <a:t>an object can outlive the function which allocated it!</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5C1C34B6-F5A6-4140-BE66-765B8914A3A0}"/>
              </a:ext>
            </a:extLst>
          </p:cNvPr>
          <p:cNvSpPr txBox="1"/>
          <p:nvPr/>
        </p:nvSpPr>
        <p:spPr>
          <a:xfrm>
            <a:off x="4419600" y="2851117"/>
            <a:ext cx="3743326" cy="1107996"/>
          </a:xfrm>
          <a:prstGeom prst="rect">
            <a:avLst/>
          </a:prstGeom>
          <a:noFill/>
        </p:spPr>
        <p:txBody>
          <a:bodyPr wrap="square" rtlCol="0">
            <a:spAutoFit/>
          </a:bodyPr>
          <a:lstStyle/>
          <a:p>
            <a:pPr algn="ctr"/>
            <a:r>
              <a:rPr lang="en-US" sz="2200" dirty="0"/>
              <a:t>but this presents a problem: </a:t>
            </a:r>
            <a:r>
              <a:rPr lang="en-US" sz="2200" b="1" dirty="0"/>
              <a:t>when does the lifetime of an object end?</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2E6A2793-4FE5-A249-BFC3-D4FE2B1B63CD}"/>
              </a:ext>
            </a:extLst>
          </p:cNvPr>
          <p:cNvSpPr txBox="1"/>
          <p:nvPr/>
        </p:nvSpPr>
        <p:spPr>
          <a:xfrm>
            <a:off x="6572099" y="4381041"/>
            <a:ext cx="1871663" cy="276999"/>
          </a:xfrm>
          <a:prstGeom prst="rect">
            <a:avLst/>
          </a:prstGeom>
          <a:noFill/>
        </p:spPr>
        <p:txBody>
          <a:bodyPr wrap="square" rtlCol="0">
            <a:spAutoFit/>
          </a:bodyPr>
          <a:lstStyle/>
          <a:p>
            <a:pPr algn="ctr"/>
            <a:r>
              <a:rPr lang="en-US" sz="1200" dirty="0"/>
              <a:t>(who's the owner??)</a:t>
            </a:r>
            <a:endParaRPr lang="en-US" sz="1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47979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8A04-9047-1B4E-8FA5-2F3330EAA2AD}"/>
              </a:ext>
            </a:extLst>
          </p:cNvPr>
          <p:cNvSpPr>
            <a:spLocks noGrp="1"/>
          </p:cNvSpPr>
          <p:nvPr>
            <p:ph type="ctrTitle"/>
          </p:nvPr>
        </p:nvSpPr>
        <p:spPr/>
        <p:txBody>
          <a:bodyPr/>
          <a:lstStyle/>
          <a:p>
            <a:r>
              <a:rPr lang="en-US" dirty="0"/>
              <a:t>Heap memory management</a:t>
            </a:r>
          </a:p>
        </p:txBody>
      </p:sp>
      <p:sp>
        <p:nvSpPr>
          <p:cNvPr id="4" name="Subtitle 3">
            <a:extLst>
              <a:ext uri="{FF2B5EF4-FFF2-40B4-BE49-F238E27FC236}">
                <a16:creationId xmlns:a16="http://schemas.microsoft.com/office/drawing/2014/main" id="{BD1D76AC-BA96-C74C-9C80-B570DC977705}"/>
              </a:ext>
            </a:extLst>
          </p:cNvPr>
          <p:cNvSpPr>
            <a:spLocks noGrp="1"/>
          </p:cNvSpPr>
          <p:nvPr>
            <p:ph type="subTitle" idx="1"/>
          </p:nvPr>
        </p:nvSpPr>
        <p:spPr/>
        <p:txBody>
          <a:bodyPr>
            <a:normAutofit/>
          </a:bodyPr>
          <a:lstStyle/>
          <a:p>
            <a:r>
              <a:rPr lang="en-US" sz="1200" dirty="0"/>
              <a:t>time check &lt; 40 min</a:t>
            </a:r>
          </a:p>
        </p:txBody>
      </p:sp>
      <p:sp>
        <p:nvSpPr>
          <p:cNvPr id="3" name="Slide Number Placeholder 2">
            <a:extLst>
              <a:ext uri="{FF2B5EF4-FFF2-40B4-BE49-F238E27FC236}">
                <a16:creationId xmlns:a16="http://schemas.microsoft.com/office/drawing/2014/main" id="{B3E518C8-5D1E-924C-9191-D23668D2BFA3}"/>
              </a:ext>
            </a:extLst>
          </p:cNvPr>
          <p:cNvSpPr>
            <a:spLocks noGrp="1"/>
          </p:cNvSpPr>
          <p:nvPr>
            <p:ph type="sldNum" sz="quarter" idx="12"/>
          </p:nvPr>
        </p:nvSpPr>
        <p:spPr/>
        <p:txBody>
          <a:bodyPr/>
          <a:lstStyle/>
          <a:p>
            <a:fld id="{3552B95B-556F-44BD-91A5-D80C1B9E2BB3}" type="slidenum">
              <a:rPr lang="en-US" smtClean="0"/>
              <a:pPr/>
              <a:t>15</a:t>
            </a:fld>
            <a:endParaRPr lang="en-US"/>
          </a:p>
        </p:txBody>
      </p:sp>
    </p:spTree>
    <p:extLst>
      <p:ext uri="{BB962C8B-B14F-4D97-AF65-F5344CB8AC3E}">
        <p14:creationId xmlns:p14="http://schemas.microsoft.com/office/powerpoint/2010/main" val="68913258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3AB6A-80A1-C444-9228-90DCDE943280}"/>
              </a:ext>
            </a:extLst>
          </p:cNvPr>
          <p:cNvSpPr>
            <a:spLocks noGrp="1"/>
          </p:cNvSpPr>
          <p:nvPr>
            <p:ph type="title"/>
          </p:nvPr>
        </p:nvSpPr>
        <p:spPr/>
        <p:txBody>
          <a:bodyPr/>
          <a:lstStyle/>
          <a:p>
            <a:r>
              <a:rPr lang="en-US" dirty="0"/>
              <a:t>Memory safety </a:t>
            </a:r>
            <a:r>
              <a:rPr lang="en-US" sz="2000" dirty="0"/>
              <a:t>(slightly animated)</a:t>
            </a:r>
            <a:endParaRPr lang="en-US" sz="3200" dirty="0"/>
          </a:p>
        </p:txBody>
      </p:sp>
      <p:sp>
        <p:nvSpPr>
          <p:cNvPr id="3" name="Content Placeholder 2">
            <a:extLst>
              <a:ext uri="{FF2B5EF4-FFF2-40B4-BE49-F238E27FC236}">
                <a16:creationId xmlns:a16="http://schemas.microsoft.com/office/drawing/2014/main" id="{D2AFE266-5198-AF44-9CC5-9D4C1C2D1325}"/>
              </a:ext>
            </a:extLst>
          </p:cNvPr>
          <p:cNvSpPr>
            <a:spLocks noGrp="1"/>
          </p:cNvSpPr>
          <p:nvPr>
            <p:ph idx="1"/>
          </p:nvPr>
        </p:nvSpPr>
        <p:spPr>
          <a:xfrm>
            <a:off x="152400" y="495301"/>
            <a:ext cx="8991600" cy="1142999"/>
          </a:xfrm>
        </p:spPr>
        <p:txBody>
          <a:bodyPr/>
          <a:lstStyle/>
          <a:p>
            <a:r>
              <a:rPr lang="en-US" dirty="0"/>
              <a:t>a program is </a:t>
            </a:r>
            <a:r>
              <a:rPr lang="en-US" b="1" dirty="0"/>
              <a:t>memory-safe </a:t>
            </a:r>
            <a:r>
              <a:rPr lang="en-US" dirty="0"/>
              <a:t>if, when you follow an arrow:</a:t>
            </a:r>
          </a:p>
          <a:p>
            <a:pPr lvl="1"/>
            <a:r>
              <a:rPr lang="en-US" dirty="0"/>
              <a:t>there is exactly </a:t>
            </a:r>
            <a:r>
              <a:rPr lang="en-US" b="1" dirty="0"/>
              <a:t>one possible value </a:t>
            </a:r>
            <a:r>
              <a:rPr lang="en-US" dirty="0"/>
              <a:t>on the other end; and</a:t>
            </a:r>
          </a:p>
          <a:p>
            <a:pPr lvl="1"/>
            <a:r>
              <a:rPr lang="en-US" dirty="0"/>
              <a:t>that value is guaranteed to be </a:t>
            </a:r>
            <a:r>
              <a:rPr lang="en-US" b="1" dirty="0"/>
              <a:t>alive.</a:t>
            </a:r>
          </a:p>
        </p:txBody>
      </p:sp>
      <p:sp>
        <p:nvSpPr>
          <p:cNvPr id="4" name="Slide Number Placeholder 3">
            <a:extLst>
              <a:ext uri="{FF2B5EF4-FFF2-40B4-BE49-F238E27FC236}">
                <a16:creationId xmlns:a16="http://schemas.microsoft.com/office/drawing/2014/main" id="{65792D65-F7C8-1344-A0FE-ACA26C6C5C3C}"/>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5" name="TextBox 4">
            <a:extLst>
              <a:ext uri="{FF2B5EF4-FFF2-40B4-BE49-F238E27FC236}">
                <a16:creationId xmlns:a16="http://schemas.microsoft.com/office/drawing/2014/main" id="{8F84F0A5-9258-D244-B2B5-2408B2918823}"/>
              </a:ext>
            </a:extLst>
          </p:cNvPr>
          <p:cNvSpPr txBox="1"/>
          <p:nvPr/>
        </p:nvSpPr>
        <p:spPr>
          <a:xfrm>
            <a:off x="228600" y="1638300"/>
            <a:ext cx="2971800" cy="2123658"/>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fn</a:t>
            </a:r>
            <a:r>
              <a:rPr lang="en-US" sz="2200" b="1" dirty="0">
                <a:latin typeface="Consolas" panose="020B0609020204030204" pitchFamily="49" charset="0"/>
                <a:cs typeface="Consolas" panose="020B0609020204030204" pitchFamily="49" charset="0"/>
              </a:rPr>
              <a:t> main()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a.method</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a.method</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a:t>
            </a:r>
          </a:p>
        </p:txBody>
      </p:sp>
      <p:graphicFrame>
        <p:nvGraphicFramePr>
          <p:cNvPr id="6" name="Table 5">
            <a:extLst>
              <a:ext uri="{FF2B5EF4-FFF2-40B4-BE49-F238E27FC236}">
                <a16:creationId xmlns:a16="http://schemas.microsoft.com/office/drawing/2014/main" id="{236270DA-7199-CA4E-B49B-360D5CCEBA1C}"/>
              </a:ext>
            </a:extLst>
          </p:cNvPr>
          <p:cNvGraphicFramePr>
            <a:graphicFrameLocks noGrp="1"/>
          </p:cNvGraphicFramePr>
          <p:nvPr>
            <p:extLst>
              <p:ext uri="{D42A27DB-BD31-4B8C-83A1-F6EECF244321}">
                <p14:modId xmlns:p14="http://schemas.microsoft.com/office/powerpoint/2010/main" val="1819333800"/>
              </p:ext>
            </p:extLst>
          </p:nvPr>
        </p:nvGraphicFramePr>
        <p:xfrm>
          <a:off x="3322253" y="2252514"/>
          <a:ext cx="2424430" cy="457200"/>
        </p:xfrm>
        <a:graphic>
          <a:graphicData uri="http://schemas.openxmlformats.org/drawingml/2006/table">
            <a:tbl>
              <a:tblPr bandRow="1">
                <a:tableStyleId>{93296810-A885-4BE3-A3E7-6D5BEEA58F35}</a:tableStyleId>
              </a:tblPr>
              <a:tblGrid>
                <a:gridCol w="519430">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a</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00000000</a:t>
                      </a:r>
                    </a:p>
                  </a:txBody>
                  <a:tcPr anchor="ctr">
                    <a:solidFill>
                      <a:schemeClr val="accent4">
                        <a:lumMod val="60000"/>
                        <a:lumOff val="40000"/>
                      </a:schemeClr>
                    </a:solidFill>
                  </a:tcPr>
                </a:tc>
                <a:extLst>
                  <a:ext uri="{0D108BD9-81ED-4DB2-BD59-A6C34878D82A}">
                    <a16:rowId xmlns:a16="http://schemas.microsoft.com/office/drawing/2014/main" val="3228816114"/>
                  </a:ext>
                </a:extLst>
              </a:tr>
            </a:tbl>
          </a:graphicData>
        </a:graphic>
      </p:graphicFrame>
      <p:sp>
        <p:nvSpPr>
          <p:cNvPr id="7" name="TextBox 6">
            <a:extLst>
              <a:ext uri="{FF2B5EF4-FFF2-40B4-BE49-F238E27FC236}">
                <a16:creationId xmlns:a16="http://schemas.microsoft.com/office/drawing/2014/main" id="{35D56819-3FE8-6146-A258-0A8815C47104}"/>
              </a:ext>
            </a:extLst>
          </p:cNvPr>
          <p:cNvSpPr txBox="1"/>
          <p:nvPr/>
        </p:nvSpPr>
        <p:spPr>
          <a:xfrm>
            <a:off x="4312853" y="1723189"/>
            <a:ext cx="889346" cy="430887"/>
          </a:xfrm>
          <a:prstGeom prst="rect">
            <a:avLst/>
          </a:prstGeom>
          <a:noFill/>
        </p:spPr>
        <p:txBody>
          <a:bodyPr wrap="none" rtlCol="0">
            <a:spAutoFit/>
          </a:bodyPr>
          <a:lstStyle/>
          <a:p>
            <a:r>
              <a:rPr lang="en-US" sz="2200" b="1" u="sng" dirty="0"/>
              <a:t>Stack</a:t>
            </a:r>
          </a:p>
        </p:txBody>
      </p:sp>
      <p:sp>
        <p:nvSpPr>
          <p:cNvPr id="8" name="TextBox 7">
            <a:extLst>
              <a:ext uri="{FF2B5EF4-FFF2-40B4-BE49-F238E27FC236}">
                <a16:creationId xmlns:a16="http://schemas.microsoft.com/office/drawing/2014/main" id="{DA886582-EF73-AA46-B85D-34F7EB8F0FAE}"/>
              </a:ext>
            </a:extLst>
          </p:cNvPr>
          <p:cNvSpPr txBox="1"/>
          <p:nvPr/>
        </p:nvSpPr>
        <p:spPr>
          <a:xfrm>
            <a:off x="7249598" y="1718981"/>
            <a:ext cx="880369" cy="430887"/>
          </a:xfrm>
          <a:prstGeom prst="rect">
            <a:avLst/>
          </a:prstGeom>
          <a:noFill/>
        </p:spPr>
        <p:txBody>
          <a:bodyPr wrap="none" rtlCol="0">
            <a:spAutoFit/>
          </a:bodyPr>
          <a:lstStyle/>
          <a:p>
            <a:r>
              <a:rPr lang="en-US" sz="2200" b="1" u="sng" dirty="0"/>
              <a:t>Heap</a:t>
            </a:r>
          </a:p>
        </p:txBody>
      </p:sp>
      <p:graphicFrame>
        <p:nvGraphicFramePr>
          <p:cNvPr id="9" name="Table 8">
            <a:extLst>
              <a:ext uri="{FF2B5EF4-FFF2-40B4-BE49-F238E27FC236}">
                <a16:creationId xmlns:a16="http://schemas.microsoft.com/office/drawing/2014/main" id="{C1F9607C-9944-EB44-A9BD-54121C53A10E}"/>
              </a:ext>
            </a:extLst>
          </p:cNvPr>
          <p:cNvGraphicFramePr>
            <a:graphicFrameLocks noGrp="1"/>
          </p:cNvGraphicFramePr>
          <p:nvPr>
            <p:extLst>
              <p:ext uri="{D42A27DB-BD31-4B8C-83A1-F6EECF244321}">
                <p14:modId xmlns:p14="http://schemas.microsoft.com/office/powerpoint/2010/main" val="3651227880"/>
              </p:ext>
            </p:extLst>
          </p:nvPr>
        </p:nvGraphicFramePr>
        <p:xfrm>
          <a:off x="3322253" y="2252514"/>
          <a:ext cx="2424430" cy="457200"/>
        </p:xfrm>
        <a:graphic>
          <a:graphicData uri="http://schemas.openxmlformats.org/drawingml/2006/table">
            <a:tbl>
              <a:tblPr bandRow="1">
                <a:tableStyleId>{93296810-A885-4BE3-A3E7-6D5BEEA58F35}</a:tableStyleId>
              </a:tblPr>
              <a:tblGrid>
                <a:gridCol w="519430">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a</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00804000</a:t>
                      </a:r>
                    </a:p>
                  </a:txBody>
                  <a:tcPr anchor="ctr">
                    <a:solidFill>
                      <a:schemeClr val="accent4">
                        <a:lumMod val="60000"/>
                        <a:lumOff val="40000"/>
                      </a:schemeClr>
                    </a:solidFill>
                  </a:tcPr>
                </a:tc>
                <a:extLst>
                  <a:ext uri="{0D108BD9-81ED-4DB2-BD59-A6C34878D82A}">
                    <a16:rowId xmlns:a16="http://schemas.microsoft.com/office/drawing/2014/main" val="3228816114"/>
                  </a:ext>
                </a:extLst>
              </a:tr>
            </a:tbl>
          </a:graphicData>
        </a:graphic>
      </p:graphicFrame>
      <p:graphicFrame>
        <p:nvGraphicFramePr>
          <p:cNvPr id="10" name="Table 9">
            <a:extLst>
              <a:ext uri="{FF2B5EF4-FFF2-40B4-BE49-F238E27FC236}">
                <a16:creationId xmlns:a16="http://schemas.microsoft.com/office/drawing/2014/main" id="{34752E7F-C391-FB45-A137-9675429E8DD5}"/>
              </a:ext>
            </a:extLst>
          </p:cNvPr>
          <p:cNvGraphicFramePr>
            <a:graphicFrameLocks noGrp="1"/>
          </p:cNvGraphicFramePr>
          <p:nvPr>
            <p:extLst>
              <p:ext uri="{D42A27DB-BD31-4B8C-83A1-F6EECF244321}">
                <p14:modId xmlns:p14="http://schemas.microsoft.com/office/powerpoint/2010/main" val="550494189"/>
              </p:ext>
            </p:extLst>
          </p:nvPr>
        </p:nvGraphicFramePr>
        <p:xfrm>
          <a:off x="3322253" y="2252514"/>
          <a:ext cx="2424430" cy="457200"/>
        </p:xfrm>
        <a:graphic>
          <a:graphicData uri="http://schemas.openxmlformats.org/drawingml/2006/table">
            <a:tbl>
              <a:tblPr bandRow="1">
                <a:tableStyleId>{93296810-A885-4BE3-A3E7-6D5BEEA58F35}</a:tableStyleId>
              </a:tblPr>
              <a:tblGrid>
                <a:gridCol w="519430">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a</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00804018</a:t>
                      </a:r>
                    </a:p>
                  </a:txBody>
                  <a:tcPr anchor="ctr">
                    <a:solidFill>
                      <a:schemeClr val="accent4">
                        <a:lumMod val="60000"/>
                        <a:lumOff val="40000"/>
                      </a:schemeClr>
                    </a:solidFill>
                  </a:tcPr>
                </a:tc>
                <a:extLst>
                  <a:ext uri="{0D108BD9-81ED-4DB2-BD59-A6C34878D82A}">
                    <a16:rowId xmlns:a16="http://schemas.microsoft.com/office/drawing/2014/main" val="3228816114"/>
                  </a:ext>
                </a:extLst>
              </a:tr>
            </a:tbl>
          </a:graphicData>
        </a:graphic>
      </p:graphicFrame>
      <p:sp>
        <p:nvSpPr>
          <p:cNvPr id="12" name="Rounded Rectangle 11">
            <a:extLst>
              <a:ext uri="{FF2B5EF4-FFF2-40B4-BE49-F238E27FC236}">
                <a16:creationId xmlns:a16="http://schemas.microsoft.com/office/drawing/2014/main" id="{867A6CC0-5539-8448-A9A6-D62A4679E510}"/>
              </a:ext>
            </a:extLst>
          </p:cNvPr>
          <p:cNvSpPr/>
          <p:nvPr/>
        </p:nvSpPr>
        <p:spPr>
          <a:xfrm>
            <a:off x="6661083" y="2252514"/>
            <a:ext cx="2057400" cy="45826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instance of A</a:t>
            </a:r>
          </a:p>
        </p:txBody>
      </p:sp>
      <p:sp>
        <p:nvSpPr>
          <p:cNvPr id="13" name="Rounded Rectangle 12">
            <a:extLst>
              <a:ext uri="{FF2B5EF4-FFF2-40B4-BE49-F238E27FC236}">
                <a16:creationId xmlns:a16="http://schemas.microsoft.com/office/drawing/2014/main" id="{C7145D98-3D3A-5949-9B67-1AB98741101C}"/>
              </a:ext>
            </a:extLst>
          </p:cNvPr>
          <p:cNvSpPr/>
          <p:nvPr/>
        </p:nvSpPr>
        <p:spPr>
          <a:xfrm>
            <a:off x="6661082" y="3015823"/>
            <a:ext cx="2057400" cy="45826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instance of A</a:t>
            </a:r>
          </a:p>
        </p:txBody>
      </p:sp>
      <p:cxnSp>
        <p:nvCxnSpPr>
          <p:cNvPr id="15" name="Curved Connector 14">
            <a:extLst>
              <a:ext uri="{FF2B5EF4-FFF2-40B4-BE49-F238E27FC236}">
                <a16:creationId xmlns:a16="http://schemas.microsoft.com/office/drawing/2014/main" id="{2F734200-10F2-9548-B002-82F371E70ECA}"/>
              </a:ext>
            </a:extLst>
          </p:cNvPr>
          <p:cNvCxnSpPr>
            <a:cxnSpLocks/>
            <a:stCxn id="9" idx="3"/>
            <a:endCxn id="12" idx="1"/>
          </p:cNvCxnSpPr>
          <p:nvPr/>
        </p:nvCxnSpPr>
        <p:spPr>
          <a:xfrm>
            <a:off x="5746683" y="2481114"/>
            <a:ext cx="914400" cy="5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61DCEB82-C6AD-D04B-88D3-7CBA6E0A83A4}"/>
              </a:ext>
            </a:extLst>
          </p:cNvPr>
          <p:cNvCxnSpPr>
            <a:cxnSpLocks/>
            <a:stCxn id="10" idx="3"/>
            <a:endCxn id="13" idx="1"/>
          </p:cNvCxnSpPr>
          <p:nvPr/>
        </p:nvCxnSpPr>
        <p:spPr>
          <a:xfrm>
            <a:off x="5746683" y="2481114"/>
            <a:ext cx="914399" cy="763839"/>
          </a:xfrm>
          <a:prstGeom prst="curved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ACECEC3-9AC2-A540-8145-2CC3A47A2532}"/>
              </a:ext>
            </a:extLst>
          </p:cNvPr>
          <p:cNvSpPr txBox="1"/>
          <p:nvPr/>
        </p:nvSpPr>
        <p:spPr>
          <a:xfrm>
            <a:off x="3536882" y="3524287"/>
            <a:ext cx="5181600" cy="769441"/>
          </a:xfrm>
          <a:prstGeom prst="rect">
            <a:avLst/>
          </a:prstGeom>
          <a:noFill/>
        </p:spPr>
        <p:txBody>
          <a:bodyPr wrap="square" rtlCol="0">
            <a:spAutoFit/>
          </a:bodyPr>
          <a:lstStyle/>
          <a:p>
            <a:pPr algn="ctr"/>
            <a:r>
              <a:rPr lang="en-US" sz="2200" dirty="0"/>
              <a:t>at all times, </a:t>
            </a:r>
            <a:r>
              <a:rPr lang="en-US" sz="2200" b="1" dirty="0"/>
              <a:t>a</a:t>
            </a:r>
            <a:r>
              <a:rPr lang="en-US" sz="2200" dirty="0"/>
              <a:t> is pointing to a </a:t>
            </a:r>
            <a:r>
              <a:rPr lang="en-US" sz="2200" b="1" dirty="0"/>
              <a:t>live</a:t>
            </a:r>
            <a:r>
              <a:rPr lang="en-US" sz="2200" dirty="0"/>
              <a:t> object, so calling a method on it is safe.</a:t>
            </a:r>
            <a:endParaRPr lang="en-US" sz="2200" b="1" dirty="0">
              <a:latin typeface="Consolas" panose="020B0609020204030204" pitchFamily="49" charset="0"/>
              <a:cs typeface="Consolas" panose="020B0609020204030204" pitchFamily="49" charset="0"/>
            </a:endParaRPr>
          </a:p>
        </p:txBody>
      </p:sp>
      <p:sp>
        <p:nvSpPr>
          <p:cNvPr id="36" name="TextBox 35">
            <a:extLst>
              <a:ext uri="{FF2B5EF4-FFF2-40B4-BE49-F238E27FC236}">
                <a16:creationId xmlns:a16="http://schemas.microsoft.com/office/drawing/2014/main" id="{8F517FA4-C5B6-6745-AA02-2310D8B5F26C}"/>
              </a:ext>
            </a:extLst>
          </p:cNvPr>
          <p:cNvSpPr txBox="1"/>
          <p:nvPr/>
        </p:nvSpPr>
        <p:spPr>
          <a:xfrm>
            <a:off x="648267" y="4288656"/>
            <a:ext cx="7772402" cy="769441"/>
          </a:xfrm>
          <a:prstGeom prst="rect">
            <a:avLst/>
          </a:prstGeom>
          <a:noFill/>
        </p:spPr>
        <p:txBody>
          <a:bodyPr wrap="square" rtlCol="0">
            <a:spAutoFit/>
          </a:bodyPr>
          <a:lstStyle/>
          <a:p>
            <a:pPr algn="ctr"/>
            <a:r>
              <a:rPr lang="en-US" sz="2200" dirty="0"/>
              <a:t>for memory safety to hold, as long as </a:t>
            </a:r>
            <a:r>
              <a:rPr lang="en-US" sz="2200" i="1" dirty="0"/>
              <a:t>at least one arrow</a:t>
            </a:r>
            <a:r>
              <a:rPr lang="en-US" sz="2200" dirty="0"/>
              <a:t> is pointing to an object,</a:t>
            </a:r>
            <a:r>
              <a:rPr lang="en-US" sz="2200" b="1" dirty="0">
                <a:solidFill>
                  <a:srgbClr val="FF0000"/>
                </a:solidFill>
              </a:rPr>
              <a:t> it must not be deallocated.</a:t>
            </a:r>
            <a:endParaRPr lang="en-US" sz="2200" b="1" dirty="0">
              <a:solidFill>
                <a:srgbClr val="FF0000"/>
              </a:solidFill>
              <a:latin typeface="Consolas" panose="020B0609020204030204" pitchFamily="49" charset="0"/>
              <a:cs typeface="Consolas" panose="020B0609020204030204" pitchFamily="49" charset="0"/>
            </a:endParaRPr>
          </a:p>
        </p:txBody>
      </p:sp>
      <p:sp>
        <p:nvSpPr>
          <p:cNvPr id="37" name="TextBox 36">
            <a:extLst>
              <a:ext uri="{FF2B5EF4-FFF2-40B4-BE49-F238E27FC236}">
                <a16:creationId xmlns:a16="http://schemas.microsoft.com/office/drawing/2014/main" id="{08B23CE7-8227-EB44-A52A-5FBC939C6D31}"/>
              </a:ext>
            </a:extLst>
          </p:cNvPr>
          <p:cNvSpPr txBox="1"/>
          <p:nvPr/>
        </p:nvSpPr>
        <p:spPr>
          <a:xfrm>
            <a:off x="1322957" y="5063395"/>
            <a:ext cx="6650485" cy="338554"/>
          </a:xfrm>
          <a:prstGeom prst="rect">
            <a:avLst/>
          </a:prstGeom>
          <a:noFill/>
        </p:spPr>
        <p:txBody>
          <a:bodyPr wrap="square" rtlCol="0">
            <a:spAutoFit/>
          </a:bodyPr>
          <a:lstStyle/>
          <a:p>
            <a:pPr algn="ctr"/>
            <a:r>
              <a:rPr lang="en-US" sz="1600" dirty="0"/>
              <a:t>but that sounds hard to prove…</a:t>
            </a:r>
            <a:endParaRPr lang="en-US" sz="1600" b="1" dirty="0">
              <a:solidFill>
                <a:srgbClr val="FF0000"/>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5788297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2" grpId="0" animBg="1"/>
      <p:bldP spid="13" grpId="0" animBg="1"/>
      <p:bldP spid="34" grpId="0"/>
      <p:bldP spid="36" grpId="0"/>
      <p:bldP spid="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56E3C-C31D-3644-A807-305538B17542}"/>
              </a:ext>
            </a:extLst>
          </p:cNvPr>
          <p:cNvSpPr>
            <a:spLocks noGrp="1"/>
          </p:cNvSpPr>
          <p:nvPr>
            <p:ph type="title"/>
          </p:nvPr>
        </p:nvSpPr>
        <p:spPr/>
        <p:txBody>
          <a:bodyPr/>
          <a:lstStyle/>
          <a:p>
            <a:r>
              <a:rPr lang="en-US" dirty="0"/>
              <a:t>So let's not prove it!</a:t>
            </a:r>
          </a:p>
        </p:txBody>
      </p:sp>
      <p:sp>
        <p:nvSpPr>
          <p:cNvPr id="3" name="Content Placeholder 2">
            <a:extLst>
              <a:ext uri="{FF2B5EF4-FFF2-40B4-BE49-F238E27FC236}">
                <a16:creationId xmlns:a16="http://schemas.microsoft.com/office/drawing/2014/main" id="{27EAAC7C-F4A4-D145-983C-3273D224F1D4}"/>
              </a:ext>
            </a:extLst>
          </p:cNvPr>
          <p:cNvSpPr>
            <a:spLocks noGrp="1"/>
          </p:cNvSpPr>
          <p:nvPr>
            <p:ph idx="1"/>
          </p:nvPr>
        </p:nvSpPr>
        <p:spPr/>
        <p:txBody>
          <a:bodyPr/>
          <a:lstStyle/>
          <a:p>
            <a:r>
              <a:rPr lang="en-US" dirty="0"/>
              <a:t>one way to ensure arrows </a:t>
            </a:r>
            <a:r>
              <a:rPr lang="en-US" b="1" dirty="0"/>
              <a:t>always</a:t>
            </a:r>
            <a:r>
              <a:rPr lang="en-US" dirty="0"/>
              <a:t> point to live objects is…</a:t>
            </a:r>
          </a:p>
          <a:p>
            <a:pPr lvl="1"/>
            <a:r>
              <a:rPr lang="en-US" dirty="0"/>
              <a:t>you </a:t>
            </a:r>
            <a:r>
              <a:rPr lang="en-US" b="1" i="1" dirty="0"/>
              <a:t>never</a:t>
            </a:r>
            <a:r>
              <a:rPr lang="en-US" b="1" dirty="0"/>
              <a:t> deallocate them!</a:t>
            </a:r>
          </a:p>
          <a:p>
            <a:r>
              <a:rPr lang="en-US" dirty="0"/>
              <a:t>what?? didn't we say memory was finite, and we have to reuse it?</a:t>
            </a:r>
          </a:p>
          <a:p>
            <a:pPr lvl="1"/>
            <a:r>
              <a:rPr lang="en-US" dirty="0"/>
              <a:t>well, yeah, but not </a:t>
            </a:r>
            <a:r>
              <a:rPr lang="en-US" i="1" dirty="0"/>
              <a:t>every</a:t>
            </a:r>
            <a:r>
              <a:rPr lang="en-US" dirty="0"/>
              <a:t> program needs to reuse memory.</a:t>
            </a:r>
          </a:p>
          <a:p>
            <a:r>
              <a:rPr lang="en-US" dirty="0"/>
              <a:t>if you have a short-lived program which allocates memory, does its work, and exits, there may be </a:t>
            </a:r>
            <a:r>
              <a:rPr lang="en-US" b="1" dirty="0"/>
              <a:t>no need to deallocate at all.</a:t>
            </a:r>
          </a:p>
          <a:p>
            <a:pPr lvl="1"/>
            <a:r>
              <a:rPr lang="en-US" dirty="0"/>
              <a:t>for example, a program that reads some text, parses it into a tree, does some processing on that tree, and spits out different text.</a:t>
            </a:r>
          </a:p>
          <a:p>
            <a:pPr lvl="2"/>
            <a:r>
              <a:rPr lang="en-US" sz="1400" dirty="0"/>
              <a:t>what could I be talking about? :^)</a:t>
            </a:r>
          </a:p>
          <a:p>
            <a:r>
              <a:rPr lang="en-US" dirty="0"/>
              <a:t>this idea can be applied at smaller scales </a:t>
            </a:r>
            <a:r>
              <a:rPr lang="en-US" i="1" dirty="0"/>
              <a:t>within</a:t>
            </a:r>
            <a:r>
              <a:rPr lang="en-US" dirty="0"/>
              <a:t> programs by using </a:t>
            </a:r>
            <a:r>
              <a:rPr lang="en-US" b="1" dirty="0"/>
              <a:t>arena allocation: </a:t>
            </a:r>
            <a:r>
              <a:rPr lang="en-US" dirty="0"/>
              <a:t>tying heap allocation </a:t>
            </a:r>
            <a:r>
              <a:rPr lang="en-US" i="1" dirty="0"/>
              <a:t>to the stack</a:t>
            </a:r>
            <a:r>
              <a:rPr lang="en-US" dirty="0"/>
              <a:t> by deallocating a group of objects when a function returns.</a:t>
            </a:r>
          </a:p>
          <a:p>
            <a:r>
              <a:rPr lang="en-US" dirty="0" err="1"/>
              <a:t>buuuuut</a:t>
            </a:r>
            <a:r>
              <a:rPr lang="en-US" dirty="0"/>
              <a:t> obviously this isn't a general solution.</a:t>
            </a:r>
          </a:p>
        </p:txBody>
      </p:sp>
      <p:sp>
        <p:nvSpPr>
          <p:cNvPr id="4" name="Slide Number Placeholder 3">
            <a:extLst>
              <a:ext uri="{FF2B5EF4-FFF2-40B4-BE49-F238E27FC236}">
                <a16:creationId xmlns:a16="http://schemas.microsoft.com/office/drawing/2014/main" id="{DACC368D-ABE8-0745-B3D6-F44775E74F5A}"/>
              </a:ext>
            </a:extLst>
          </p:cNvPr>
          <p:cNvSpPr>
            <a:spLocks noGrp="1"/>
          </p:cNvSpPr>
          <p:nvPr>
            <p:ph type="sldNum" sz="quarter" idx="12"/>
          </p:nvPr>
        </p:nvSpPr>
        <p:spPr/>
        <p:txBody>
          <a:bodyPr/>
          <a:lstStyle/>
          <a:p>
            <a:fld id="{3552B95B-556F-44BD-91A5-D80C1B9E2BB3}" type="slidenum">
              <a:rPr lang="en-US" smtClean="0"/>
              <a:pPr/>
              <a:t>17</a:t>
            </a:fld>
            <a:endParaRPr lang="en-US"/>
          </a:p>
        </p:txBody>
      </p:sp>
    </p:spTree>
    <p:extLst>
      <p:ext uri="{BB962C8B-B14F-4D97-AF65-F5344CB8AC3E}">
        <p14:creationId xmlns:p14="http://schemas.microsoft.com/office/powerpoint/2010/main" val="109618441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A79BE-D818-244E-A68B-5C40F7DED73D}"/>
              </a:ext>
            </a:extLst>
          </p:cNvPr>
          <p:cNvSpPr>
            <a:spLocks noGrp="1"/>
          </p:cNvSpPr>
          <p:nvPr>
            <p:ph type="title"/>
          </p:nvPr>
        </p:nvSpPr>
        <p:spPr/>
        <p:txBody>
          <a:bodyPr/>
          <a:lstStyle/>
          <a:p>
            <a:r>
              <a:rPr lang="en-US" dirty="0"/>
              <a:t>Manual memory management</a:t>
            </a:r>
          </a:p>
        </p:txBody>
      </p:sp>
      <p:sp>
        <p:nvSpPr>
          <p:cNvPr id="3" name="Content Placeholder 2">
            <a:extLst>
              <a:ext uri="{FF2B5EF4-FFF2-40B4-BE49-F238E27FC236}">
                <a16:creationId xmlns:a16="http://schemas.microsoft.com/office/drawing/2014/main" id="{84003D25-6574-9D41-8475-FEC309FF8236}"/>
              </a:ext>
            </a:extLst>
          </p:cNvPr>
          <p:cNvSpPr>
            <a:spLocks noGrp="1"/>
          </p:cNvSpPr>
          <p:nvPr>
            <p:ph idx="1"/>
          </p:nvPr>
        </p:nvSpPr>
        <p:spPr>
          <a:xfrm>
            <a:off x="152400" y="495301"/>
            <a:ext cx="8991600" cy="1066799"/>
          </a:xfrm>
        </p:spPr>
        <p:txBody>
          <a:bodyPr/>
          <a:lstStyle/>
          <a:p>
            <a:r>
              <a:rPr lang="en-US" dirty="0"/>
              <a:t>since the programmer decides when object lifetimes </a:t>
            </a:r>
            <a:r>
              <a:rPr lang="en-US" b="1" dirty="0"/>
              <a:t>begin…</a:t>
            </a:r>
          </a:p>
          <a:p>
            <a:r>
              <a:rPr lang="en-US" dirty="0"/>
              <a:t>let's also have them decide when their lifetimes </a:t>
            </a:r>
            <a:r>
              <a:rPr lang="en-US" b="1" dirty="0"/>
              <a:t>end!</a:t>
            </a:r>
          </a:p>
          <a:p>
            <a:pPr lvl="1"/>
            <a:r>
              <a:rPr lang="en-US" sz="1200" dirty="0" err="1"/>
              <a:t>hahaha</a:t>
            </a:r>
            <a:r>
              <a:rPr lang="en-US" sz="1200" dirty="0"/>
              <a:t> what could possibly go wrong?</a:t>
            </a:r>
          </a:p>
        </p:txBody>
      </p:sp>
      <p:sp>
        <p:nvSpPr>
          <p:cNvPr id="4" name="Slide Number Placeholder 3">
            <a:extLst>
              <a:ext uri="{FF2B5EF4-FFF2-40B4-BE49-F238E27FC236}">
                <a16:creationId xmlns:a16="http://schemas.microsoft.com/office/drawing/2014/main" id="{05F42465-4ADF-3846-9A41-9E8B0473E589}"/>
              </a:ext>
            </a:extLst>
          </p:cNvPr>
          <p:cNvSpPr>
            <a:spLocks noGrp="1"/>
          </p:cNvSpPr>
          <p:nvPr>
            <p:ph type="sldNum" sz="quarter" idx="12"/>
          </p:nvPr>
        </p:nvSpPr>
        <p:spPr/>
        <p:txBody>
          <a:bodyPr/>
          <a:lstStyle/>
          <a:p>
            <a:fld id="{3552B95B-556F-44BD-91A5-D80C1B9E2BB3}" type="slidenum">
              <a:rPr lang="en-US" smtClean="0"/>
              <a:pPr/>
              <a:t>18</a:t>
            </a:fld>
            <a:endParaRPr lang="en-US"/>
          </a:p>
        </p:txBody>
      </p:sp>
      <p:sp>
        <p:nvSpPr>
          <p:cNvPr id="5" name="TextBox 4">
            <a:extLst>
              <a:ext uri="{FF2B5EF4-FFF2-40B4-BE49-F238E27FC236}">
                <a16:creationId xmlns:a16="http://schemas.microsoft.com/office/drawing/2014/main" id="{BDD92965-76FE-CB41-900F-625C6124122C}"/>
              </a:ext>
            </a:extLst>
          </p:cNvPr>
          <p:cNvSpPr txBox="1"/>
          <p:nvPr/>
        </p:nvSpPr>
        <p:spPr>
          <a:xfrm>
            <a:off x="228600" y="1638300"/>
            <a:ext cx="2971800" cy="2462213"/>
          </a:xfrm>
          <a:prstGeom prst="rect">
            <a:avLst/>
          </a:prstGeom>
          <a:noFill/>
        </p:spPr>
        <p:txBody>
          <a:bodyPr wrap="square" rtlCol="0">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C++</a:t>
            </a:r>
          </a:p>
          <a:p>
            <a:r>
              <a:rPr lang="en-US" sz="2200" b="1" dirty="0">
                <a:solidFill>
                  <a:srgbClr val="FF0000"/>
                </a:solidFill>
                <a:latin typeface="Consolas" panose="020B0609020204030204" pitchFamily="49" charset="0"/>
                <a:cs typeface="Consolas" panose="020B0609020204030204" pitchFamily="49" charset="0"/>
              </a:rPr>
              <a:t>void</a:t>
            </a:r>
            <a:r>
              <a:rPr lang="en-US" sz="2200" b="1" dirty="0">
                <a:latin typeface="Consolas" panose="020B0609020204030204" pitchFamily="49" charset="0"/>
                <a:cs typeface="Consolas" panose="020B0609020204030204" pitchFamily="49" charset="0"/>
              </a:rPr>
              <a:t> main()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auto</a:t>
            </a:r>
            <a:r>
              <a:rPr lang="en-US" sz="2200" b="1" dirty="0">
                <a:latin typeface="Consolas" panose="020B0609020204030204" pitchFamily="49" charset="0"/>
                <a:cs typeface="Consolas" panose="020B0609020204030204" pitchFamily="49" charset="0"/>
              </a:rPr>
              <a: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a:t>
            </a:r>
          </a:p>
          <a:p>
            <a:r>
              <a:rPr lang="en-US" sz="2200" b="1" dirty="0">
                <a:latin typeface="Consolas" panose="020B0609020204030204" pitchFamily="49" charset="0"/>
                <a:cs typeface="Consolas" panose="020B0609020204030204" pitchFamily="49" charset="0"/>
              </a:rPr>
              <a:t> a-&gt;method();</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delete</a:t>
            </a:r>
            <a:r>
              <a:rPr lang="en-US" sz="2200" b="1" dirty="0">
                <a:latin typeface="Consolas" panose="020B0609020204030204" pitchFamily="49" charset="0"/>
                <a:cs typeface="Consolas" panose="020B0609020204030204" pitchFamily="49" charset="0"/>
              </a:rPr>
              <a:t> a;</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68E42033-4B12-6145-9A07-F8234A5CBD71}"/>
              </a:ext>
            </a:extLst>
          </p:cNvPr>
          <p:cNvSpPr txBox="1"/>
          <p:nvPr/>
        </p:nvSpPr>
        <p:spPr>
          <a:xfrm>
            <a:off x="228600" y="1638300"/>
            <a:ext cx="2971800" cy="2123658"/>
          </a:xfrm>
          <a:prstGeom prst="rect">
            <a:avLst/>
          </a:prstGeom>
          <a:noFill/>
        </p:spPr>
        <p:txBody>
          <a:bodyPr wrap="square" rtlCol="0">
            <a:spAutoFit/>
          </a:bodyPr>
          <a:lstStyle/>
          <a:p>
            <a:endParaRPr lang="en-US" sz="2200" i="1" dirty="0">
              <a:solidFill>
                <a:schemeClr val="accent3">
                  <a:lumMod val="50000"/>
                </a:schemeClr>
              </a:solidFill>
              <a:latin typeface="Consolas" panose="020B0609020204030204" pitchFamily="49" charset="0"/>
              <a:cs typeface="Consolas" panose="020B0609020204030204" pitchFamily="49" charset="0"/>
            </a:endParaRPr>
          </a:p>
          <a:p>
            <a:endParaRPr lang="en-US" sz="2200" i="1" dirty="0">
              <a:solidFill>
                <a:schemeClr val="accent3">
                  <a:lumMod val="50000"/>
                </a:schemeClr>
              </a:solidFill>
              <a:latin typeface="Consolas" panose="020B0609020204030204" pitchFamily="49" charset="0"/>
              <a:cs typeface="Consolas" panose="020B0609020204030204" pitchFamily="49" charset="0"/>
            </a:endParaRPr>
          </a:p>
          <a:p>
            <a:endParaRPr lang="en-US" sz="2200" i="1" dirty="0">
              <a:solidFill>
                <a:schemeClr val="accent3">
                  <a:lumMod val="50000"/>
                </a:schemeClr>
              </a:solidFill>
              <a:latin typeface="Consolas" panose="020B0609020204030204" pitchFamily="49" charset="0"/>
              <a:cs typeface="Consolas" panose="020B0609020204030204" pitchFamily="49" charset="0"/>
            </a:endParaRPr>
          </a:p>
          <a:p>
            <a:endParaRPr lang="en-US" sz="2200" i="1" dirty="0">
              <a:solidFill>
                <a:schemeClr val="accent3">
                  <a:lumMod val="50000"/>
                </a:schemeClr>
              </a:solidFill>
              <a:latin typeface="Consolas" panose="020B0609020204030204" pitchFamily="49" charset="0"/>
              <a:cs typeface="Consolas" panose="020B0609020204030204" pitchFamily="49" charset="0"/>
            </a:endParaRPr>
          </a:p>
          <a:p>
            <a:endParaRPr lang="en-US" sz="2200" i="1" dirty="0">
              <a:solidFill>
                <a:schemeClr val="accent3">
                  <a:lumMod val="50000"/>
                </a:schemeClr>
              </a:solidFill>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 a-&gt;method();</a:t>
            </a:r>
          </a:p>
        </p:txBody>
      </p:sp>
      <p:sp>
        <p:nvSpPr>
          <p:cNvPr id="7" name="TextBox 6">
            <a:extLst>
              <a:ext uri="{FF2B5EF4-FFF2-40B4-BE49-F238E27FC236}">
                <a16:creationId xmlns:a16="http://schemas.microsoft.com/office/drawing/2014/main" id="{98D3102B-5582-C347-AE53-E0B1C75768B9}"/>
              </a:ext>
            </a:extLst>
          </p:cNvPr>
          <p:cNvSpPr txBox="1"/>
          <p:nvPr/>
        </p:nvSpPr>
        <p:spPr>
          <a:xfrm>
            <a:off x="2286000" y="2998642"/>
            <a:ext cx="1676398" cy="430887"/>
          </a:xfrm>
          <a:prstGeom prst="rect">
            <a:avLst/>
          </a:prstGeom>
          <a:noFill/>
        </p:spPr>
        <p:txBody>
          <a:bodyPr wrap="square" rtlCol="0">
            <a:spAutoFit/>
          </a:bodyPr>
          <a:lstStyle/>
          <a:p>
            <a:pPr algn="ctr"/>
            <a:r>
              <a:rPr lang="en-US" sz="2200" dirty="0"/>
              <a:t>easy </a:t>
            </a:r>
            <a:r>
              <a:rPr lang="en-US" sz="2200" dirty="0" err="1"/>
              <a:t>peasy</a:t>
            </a:r>
            <a:r>
              <a:rPr lang="en-US" sz="2200" dirty="0"/>
              <a:t>!</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A2E9A181-45FC-8444-A309-CB028DE00311}"/>
              </a:ext>
            </a:extLst>
          </p:cNvPr>
          <p:cNvSpPr txBox="1"/>
          <p:nvPr/>
        </p:nvSpPr>
        <p:spPr>
          <a:xfrm>
            <a:off x="2286000" y="3380300"/>
            <a:ext cx="1676398" cy="430887"/>
          </a:xfrm>
          <a:prstGeom prst="rect">
            <a:avLst/>
          </a:prstGeom>
          <a:noFill/>
        </p:spPr>
        <p:txBody>
          <a:bodyPr wrap="square" rtlCol="0">
            <a:spAutoFit/>
          </a:bodyPr>
          <a:lstStyle/>
          <a:p>
            <a:pPr algn="ctr"/>
            <a:r>
              <a:rPr lang="en-US" sz="2200" i="1" dirty="0"/>
              <a:t>oh </a:t>
            </a:r>
            <a:r>
              <a:rPr lang="en-US" sz="2200" i="1" dirty="0" err="1"/>
              <a:t>fu</a:t>
            </a:r>
            <a:r>
              <a:rPr lang="en-US" sz="2200" i="1" dirty="0"/>
              <a:t>----</a:t>
            </a:r>
            <a:endParaRPr lang="en-US" sz="2200" b="1" i="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95C0EB2D-0A90-AC4E-9533-E0CCF37554BB}"/>
              </a:ext>
            </a:extLst>
          </p:cNvPr>
          <p:cNvSpPr txBox="1"/>
          <p:nvPr/>
        </p:nvSpPr>
        <p:spPr>
          <a:xfrm>
            <a:off x="3581400" y="1346656"/>
            <a:ext cx="5105396" cy="769441"/>
          </a:xfrm>
          <a:prstGeom prst="rect">
            <a:avLst/>
          </a:prstGeom>
          <a:noFill/>
        </p:spPr>
        <p:txBody>
          <a:bodyPr wrap="square" rtlCol="0">
            <a:spAutoFit/>
          </a:bodyPr>
          <a:lstStyle/>
          <a:p>
            <a:pPr algn="ctr"/>
            <a:r>
              <a:rPr lang="en-US" sz="2200" dirty="0">
                <a:solidFill>
                  <a:srgbClr val="FF0000"/>
                </a:solidFill>
              </a:rPr>
              <a:t>this is not a solution to the problem.</a:t>
            </a:r>
            <a:r>
              <a:rPr lang="en-US" sz="2200" dirty="0"/>
              <a:t> </a:t>
            </a:r>
            <a:r>
              <a:rPr lang="en-US" sz="2200" b="1" dirty="0"/>
              <a:t>we've just pushed it somewhere else.</a:t>
            </a:r>
            <a:endParaRPr lang="en-US" sz="2200" b="1" dirty="0">
              <a:latin typeface="Consolas" panose="020B0609020204030204" pitchFamily="49" charset="0"/>
              <a:cs typeface="Consolas" panose="020B0609020204030204" pitchFamily="49" charset="0"/>
            </a:endParaRPr>
          </a:p>
        </p:txBody>
      </p:sp>
      <p:grpSp>
        <p:nvGrpSpPr>
          <p:cNvPr id="10" name="Group 9">
            <a:extLst>
              <a:ext uri="{FF2B5EF4-FFF2-40B4-BE49-F238E27FC236}">
                <a16:creationId xmlns:a16="http://schemas.microsoft.com/office/drawing/2014/main" id="{539D3A8A-3D21-D747-8C24-9619B769144D}"/>
              </a:ext>
            </a:extLst>
          </p:cNvPr>
          <p:cNvGrpSpPr/>
          <p:nvPr/>
        </p:nvGrpSpPr>
        <p:grpSpPr>
          <a:xfrm>
            <a:off x="4457699" y="2357308"/>
            <a:ext cx="3505198" cy="1467466"/>
            <a:chOff x="4191000" y="2267137"/>
            <a:chExt cx="3505198" cy="1467466"/>
          </a:xfrm>
        </p:grpSpPr>
        <p:pic>
          <p:nvPicPr>
            <p:cNvPr id="1026" name="Picture 2" descr="Put It Somewhere Else Patrick Meme Generator - Imgflip">
              <a:extLst>
                <a:ext uri="{FF2B5EF4-FFF2-40B4-BE49-F238E27FC236}">
                  <a16:creationId xmlns:a16="http://schemas.microsoft.com/office/drawing/2014/main" id="{182217A5-6FC6-E749-A18C-EDF54ACFD8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299"/>
            <a:stretch/>
          </p:blipFill>
          <p:spPr bwMode="auto">
            <a:xfrm>
              <a:off x="4191000" y="2267137"/>
              <a:ext cx="1676399" cy="146746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Put It Somewhere Else Patrick Meme Generator - Imgflip">
              <a:extLst>
                <a:ext uri="{FF2B5EF4-FFF2-40B4-BE49-F238E27FC236}">
                  <a16:creationId xmlns:a16="http://schemas.microsoft.com/office/drawing/2014/main" id="{5045421B-848B-EC4C-B35D-9855F88189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b="394"/>
            <a:stretch/>
          </p:blipFill>
          <p:spPr bwMode="auto">
            <a:xfrm>
              <a:off x="6019799" y="2269945"/>
              <a:ext cx="1676399" cy="1464658"/>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F914E904-27AB-2D4B-A001-9112A4EFDC43}"/>
              </a:ext>
            </a:extLst>
          </p:cNvPr>
          <p:cNvSpPr txBox="1"/>
          <p:nvPr/>
        </p:nvSpPr>
        <p:spPr>
          <a:xfrm>
            <a:off x="1409699" y="4148030"/>
            <a:ext cx="6096000" cy="769441"/>
          </a:xfrm>
          <a:prstGeom prst="rect">
            <a:avLst/>
          </a:prstGeom>
          <a:noFill/>
        </p:spPr>
        <p:txBody>
          <a:bodyPr wrap="square" rtlCol="0">
            <a:spAutoFit/>
          </a:bodyPr>
          <a:lstStyle/>
          <a:p>
            <a:pPr algn="ctr"/>
            <a:r>
              <a:rPr lang="en-US" sz="2200" dirty="0"/>
              <a:t>humans </a:t>
            </a:r>
            <a:r>
              <a:rPr lang="en-US" sz="2200" i="1" dirty="0"/>
              <a:t>suck</a:t>
            </a:r>
            <a:r>
              <a:rPr lang="en-US" sz="2200" dirty="0"/>
              <a:t> at knowing when is the right time to deallocate an object. </a:t>
            </a:r>
            <a:r>
              <a:rPr lang="en-US" sz="2200" b="1" dirty="0"/>
              <a:t>what makes it hard?</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875670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D48A99C5-06B8-4E4F-B46A-3D2082CA28DD}"/>
              </a:ext>
            </a:extLst>
          </p:cNvPr>
          <p:cNvSpPr txBox="1"/>
          <p:nvPr/>
        </p:nvSpPr>
        <p:spPr>
          <a:xfrm>
            <a:off x="6681338" y="2469079"/>
            <a:ext cx="891591" cy="369332"/>
          </a:xfrm>
          <a:prstGeom prst="rect">
            <a:avLst/>
          </a:prstGeom>
          <a:noFill/>
        </p:spPr>
        <p:txBody>
          <a:bodyPr wrap="none" rtlCol="0">
            <a:spAutoFit/>
          </a:bodyPr>
          <a:lstStyle/>
          <a:p>
            <a:r>
              <a:rPr lang="en-US" sz="1800" b="1" dirty="0"/>
              <a:t>???????</a:t>
            </a:r>
          </a:p>
        </p:txBody>
      </p:sp>
      <p:sp>
        <p:nvSpPr>
          <p:cNvPr id="2" name="Title 1">
            <a:extLst>
              <a:ext uri="{FF2B5EF4-FFF2-40B4-BE49-F238E27FC236}">
                <a16:creationId xmlns:a16="http://schemas.microsoft.com/office/drawing/2014/main" id="{E7C76BD3-FEDA-6E42-9780-1A8CE12B95E8}"/>
              </a:ext>
            </a:extLst>
          </p:cNvPr>
          <p:cNvSpPr>
            <a:spLocks noGrp="1"/>
          </p:cNvSpPr>
          <p:nvPr>
            <p:ph type="title"/>
          </p:nvPr>
        </p:nvSpPr>
        <p:spPr/>
        <p:txBody>
          <a:bodyPr/>
          <a:lstStyle/>
          <a:p>
            <a:r>
              <a:rPr lang="en-US" dirty="0"/>
              <a:t>It's those dang arrows </a:t>
            </a:r>
            <a:r>
              <a:rPr lang="en-US" sz="2000" dirty="0"/>
              <a:t>(slightly animated)</a:t>
            </a:r>
            <a:endParaRPr lang="en-US" dirty="0"/>
          </a:p>
        </p:txBody>
      </p:sp>
      <p:sp>
        <p:nvSpPr>
          <p:cNvPr id="3" name="Content Placeholder 2">
            <a:extLst>
              <a:ext uri="{FF2B5EF4-FFF2-40B4-BE49-F238E27FC236}">
                <a16:creationId xmlns:a16="http://schemas.microsoft.com/office/drawing/2014/main" id="{418C8758-79EF-7045-9E82-5798D78E350E}"/>
              </a:ext>
            </a:extLst>
          </p:cNvPr>
          <p:cNvSpPr>
            <a:spLocks noGrp="1"/>
          </p:cNvSpPr>
          <p:nvPr>
            <p:ph idx="1"/>
          </p:nvPr>
        </p:nvSpPr>
        <p:spPr>
          <a:xfrm>
            <a:off x="152400" y="495301"/>
            <a:ext cx="8991600" cy="1219199"/>
          </a:xfrm>
        </p:spPr>
        <p:txBody>
          <a:bodyPr/>
          <a:lstStyle/>
          <a:p>
            <a:r>
              <a:rPr lang="en-US" dirty="0"/>
              <a:t>lots of languages make it </a:t>
            </a:r>
            <a:r>
              <a:rPr lang="en-US" b="1" dirty="0"/>
              <a:t>really, really easy </a:t>
            </a:r>
            <a:r>
              <a:rPr lang="en-US" dirty="0"/>
              <a:t>to create arrows…</a:t>
            </a:r>
          </a:p>
          <a:p>
            <a:pPr lvl="1"/>
            <a:r>
              <a:rPr lang="en-US" dirty="0"/>
              <a:t>but they offer little or no help in ensuring that those arrows are </a:t>
            </a:r>
            <a:r>
              <a:rPr lang="en-US" b="1" dirty="0"/>
              <a:t>valid</a:t>
            </a:r>
            <a:r>
              <a:rPr lang="en-US" dirty="0"/>
              <a:t> (that is, they point to a live object)</a:t>
            </a:r>
          </a:p>
        </p:txBody>
      </p:sp>
      <p:sp>
        <p:nvSpPr>
          <p:cNvPr id="4" name="Slide Number Placeholder 3">
            <a:extLst>
              <a:ext uri="{FF2B5EF4-FFF2-40B4-BE49-F238E27FC236}">
                <a16:creationId xmlns:a16="http://schemas.microsoft.com/office/drawing/2014/main" id="{707157B8-36C3-EE42-968D-52C10C194D8D}"/>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AD7F7DFF-E977-6649-8CE7-DAC68C94C712}"/>
              </a:ext>
            </a:extLst>
          </p:cNvPr>
          <p:cNvSpPr txBox="1"/>
          <p:nvPr/>
        </p:nvSpPr>
        <p:spPr>
          <a:xfrm>
            <a:off x="304800" y="1638300"/>
            <a:ext cx="3352800" cy="3139321"/>
          </a:xfrm>
          <a:prstGeom prst="rect">
            <a:avLst/>
          </a:prstGeom>
          <a:noFill/>
        </p:spPr>
        <p:txBody>
          <a:bodyPr wrap="square" rtlCol="0">
            <a:spAutoFit/>
          </a:bodyPr>
          <a:lstStyle/>
          <a:p>
            <a:r>
              <a:rPr lang="en-US" sz="2200" i="1" dirty="0">
                <a:solidFill>
                  <a:schemeClr val="accent3">
                    <a:lumMod val="50000"/>
                  </a:schemeClr>
                </a:solidFill>
                <a:latin typeface="Consolas" panose="020B0609020204030204" pitchFamily="49" charset="0"/>
                <a:cs typeface="Consolas" panose="020B0609020204030204" pitchFamily="49" charset="0"/>
              </a:rPr>
              <a:t>// C</a:t>
            </a:r>
          </a:p>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p = malloc(</a:t>
            </a:r>
            <a:r>
              <a:rPr lang="en-US" sz="2200" b="1" dirty="0">
                <a:solidFill>
                  <a:schemeClr val="accent3">
                    <a:lumMod val="75000"/>
                  </a:schemeClr>
                </a:solidFill>
                <a:latin typeface="Consolas" panose="020B0609020204030204" pitchFamily="49" charset="0"/>
                <a:cs typeface="Consolas" panose="020B0609020204030204" pitchFamily="49" charset="0"/>
              </a:rPr>
              <a:t>40</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q = p + </a:t>
            </a:r>
            <a:r>
              <a:rPr lang="en-US" sz="2200" b="1" dirty="0">
                <a:solidFill>
                  <a:schemeClr val="accent3">
                    <a:lumMod val="75000"/>
                  </a:schemeClr>
                </a:solidFill>
                <a:latin typeface="Consolas" panose="020B0609020204030204" pitchFamily="49" charset="0"/>
                <a:cs typeface="Consolas" panose="020B0609020204030204" pitchFamily="49" charset="0"/>
              </a:rPr>
              <a:t>256</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*q = </a:t>
            </a:r>
            <a:r>
              <a:rPr lang="en-US" sz="2200" b="1" dirty="0">
                <a:solidFill>
                  <a:schemeClr val="accent3">
                    <a:lumMod val="75000"/>
                  </a:schemeClr>
                </a:solidFill>
                <a:latin typeface="Consolas" panose="020B0609020204030204" pitchFamily="49" charset="0"/>
                <a:cs typeface="Consolas" panose="020B0609020204030204" pitchFamily="49" charset="0"/>
              </a:rPr>
              <a:t>5000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UB</a:t>
            </a:r>
          </a:p>
          <a:p>
            <a:r>
              <a:rPr lang="en-US" sz="2200" b="1" dirty="0">
                <a:latin typeface="Consolas" panose="020B0609020204030204" pitchFamily="49" charset="0"/>
                <a:cs typeface="Consolas" panose="020B0609020204030204" pitchFamily="49" charset="0"/>
              </a:rPr>
              <a:t>free(p);</a:t>
            </a:r>
          </a:p>
          <a:p>
            <a:r>
              <a:rPr lang="en-US" sz="2200" b="1" dirty="0">
                <a:latin typeface="Consolas" panose="020B0609020204030204" pitchFamily="49" charset="0"/>
                <a:cs typeface="Consolas" panose="020B0609020204030204" pitchFamily="49" charset="0"/>
              </a:rPr>
              <a:t>*p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r>
              <a:rPr lang="en-US" sz="2200" i="1" dirty="0">
                <a:solidFill>
                  <a:schemeClr val="accent3">
                    <a:lumMod val="50000"/>
                  </a:schemeClr>
                </a:solidFill>
                <a:latin typeface="Consolas" panose="020B0609020204030204" pitchFamily="49" charset="0"/>
                <a:cs typeface="Consolas" panose="020B0609020204030204" pitchFamily="49" charset="0"/>
              </a:rPr>
              <a:t>// UB</a:t>
            </a:r>
            <a:endParaRPr lang="en-US" sz="2200" b="1" dirty="0">
              <a:latin typeface="Consolas" panose="020B0609020204030204" pitchFamily="49" charset="0"/>
              <a:cs typeface="Consolas" panose="020B0609020204030204" pitchFamily="49" charset="0"/>
            </a:endParaRPr>
          </a:p>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p = &amp;x;</a:t>
            </a:r>
          </a:p>
          <a:p>
            <a:r>
              <a:rPr lang="en-US" sz="2200" b="1" dirty="0">
                <a:latin typeface="Consolas" panose="020B0609020204030204" pitchFamily="49" charset="0"/>
                <a:cs typeface="Consolas" panose="020B0609020204030204" pitchFamily="49" charset="0"/>
              </a:rPr>
              <a:t>free(p);   </a:t>
            </a:r>
            <a:r>
              <a:rPr lang="en-US" sz="2200" i="1" dirty="0">
                <a:solidFill>
                  <a:schemeClr val="accent3">
                    <a:lumMod val="50000"/>
                  </a:schemeClr>
                </a:solidFill>
                <a:latin typeface="Consolas" panose="020B0609020204030204" pitchFamily="49" charset="0"/>
                <a:cs typeface="Consolas" panose="020B0609020204030204" pitchFamily="49" charset="0"/>
              </a:rPr>
              <a:t>// UB</a:t>
            </a:r>
            <a:endParaRPr lang="en-US" sz="22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CEC605C2-E9EB-8942-A13C-726147268FAF}"/>
              </a:ext>
            </a:extLst>
          </p:cNvPr>
          <p:cNvSpPr txBox="1"/>
          <p:nvPr/>
        </p:nvSpPr>
        <p:spPr>
          <a:xfrm>
            <a:off x="4312853" y="1723189"/>
            <a:ext cx="889346" cy="430887"/>
          </a:xfrm>
          <a:prstGeom prst="rect">
            <a:avLst/>
          </a:prstGeom>
          <a:noFill/>
        </p:spPr>
        <p:txBody>
          <a:bodyPr wrap="none" rtlCol="0">
            <a:spAutoFit/>
          </a:bodyPr>
          <a:lstStyle/>
          <a:p>
            <a:r>
              <a:rPr lang="en-US" sz="2200" b="1" u="sng" dirty="0"/>
              <a:t>Stack</a:t>
            </a:r>
          </a:p>
        </p:txBody>
      </p:sp>
      <p:sp>
        <p:nvSpPr>
          <p:cNvPr id="8" name="TextBox 7">
            <a:extLst>
              <a:ext uri="{FF2B5EF4-FFF2-40B4-BE49-F238E27FC236}">
                <a16:creationId xmlns:a16="http://schemas.microsoft.com/office/drawing/2014/main" id="{31C6BE9F-CA13-334F-BB30-0FE4990533F7}"/>
              </a:ext>
            </a:extLst>
          </p:cNvPr>
          <p:cNvSpPr txBox="1"/>
          <p:nvPr/>
        </p:nvSpPr>
        <p:spPr>
          <a:xfrm>
            <a:off x="7249598" y="1718981"/>
            <a:ext cx="880369" cy="430887"/>
          </a:xfrm>
          <a:prstGeom prst="rect">
            <a:avLst/>
          </a:prstGeom>
          <a:noFill/>
        </p:spPr>
        <p:txBody>
          <a:bodyPr wrap="none" rtlCol="0">
            <a:spAutoFit/>
          </a:bodyPr>
          <a:lstStyle/>
          <a:p>
            <a:r>
              <a:rPr lang="en-US" sz="2200" b="1" u="sng" dirty="0"/>
              <a:t>Heap</a:t>
            </a:r>
          </a:p>
        </p:txBody>
      </p:sp>
      <p:graphicFrame>
        <p:nvGraphicFramePr>
          <p:cNvPr id="9" name="Table 8">
            <a:extLst>
              <a:ext uri="{FF2B5EF4-FFF2-40B4-BE49-F238E27FC236}">
                <a16:creationId xmlns:a16="http://schemas.microsoft.com/office/drawing/2014/main" id="{EC870EBF-71BD-DE4F-8C4C-4A6DABD2EB2F}"/>
              </a:ext>
            </a:extLst>
          </p:cNvPr>
          <p:cNvGraphicFramePr>
            <a:graphicFrameLocks noGrp="1"/>
          </p:cNvGraphicFramePr>
          <p:nvPr>
            <p:extLst>
              <p:ext uri="{D42A27DB-BD31-4B8C-83A1-F6EECF244321}">
                <p14:modId xmlns:p14="http://schemas.microsoft.com/office/powerpoint/2010/main" val="2404655394"/>
              </p:ext>
            </p:extLst>
          </p:nvPr>
        </p:nvGraphicFramePr>
        <p:xfrm>
          <a:off x="3359785" y="2363773"/>
          <a:ext cx="2424430" cy="457200"/>
        </p:xfrm>
        <a:graphic>
          <a:graphicData uri="http://schemas.openxmlformats.org/drawingml/2006/table">
            <a:tbl>
              <a:tblPr bandRow="1">
                <a:tableStyleId>{93296810-A885-4BE3-A3E7-6D5BEEA58F35}</a:tableStyleId>
              </a:tblPr>
              <a:tblGrid>
                <a:gridCol w="519430">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p</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00804000</a:t>
                      </a:r>
                    </a:p>
                  </a:txBody>
                  <a:tcPr anchor="ctr">
                    <a:solidFill>
                      <a:schemeClr val="accent4">
                        <a:lumMod val="60000"/>
                        <a:lumOff val="40000"/>
                      </a:schemeClr>
                    </a:solidFill>
                  </a:tcPr>
                </a:tc>
                <a:extLst>
                  <a:ext uri="{0D108BD9-81ED-4DB2-BD59-A6C34878D82A}">
                    <a16:rowId xmlns:a16="http://schemas.microsoft.com/office/drawing/2014/main" val="3228816114"/>
                  </a:ext>
                </a:extLst>
              </a:tr>
            </a:tbl>
          </a:graphicData>
        </a:graphic>
      </p:graphicFrame>
      <p:graphicFrame>
        <p:nvGraphicFramePr>
          <p:cNvPr id="10" name="Table 9">
            <a:extLst>
              <a:ext uri="{FF2B5EF4-FFF2-40B4-BE49-F238E27FC236}">
                <a16:creationId xmlns:a16="http://schemas.microsoft.com/office/drawing/2014/main" id="{2454721E-C78E-574E-A184-7389A1B08BE5}"/>
              </a:ext>
            </a:extLst>
          </p:cNvPr>
          <p:cNvGraphicFramePr>
            <a:graphicFrameLocks noGrp="1"/>
          </p:cNvGraphicFramePr>
          <p:nvPr>
            <p:extLst>
              <p:ext uri="{D42A27DB-BD31-4B8C-83A1-F6EECF244321}">
                <p14:modId xmlns:p14="http://schemas.microsoft.com/office/powerpoint/2010/main" val="4113914145"/>
              </p:ext>
            </p:extLst>
          </p:nvPr>
        </p:nvGraphicFramePr>
        <p:xfrm>
          <a:off x="3359785" y="2819930"/>
          <a:ext cx="2424430" cy="457200"/>
        </p:xfrm>
        <a:graphic>
          <a:graphicData uri="http://schemas.openxmlformats.org/drawingml/2006/table">
            <a:tbl>
              <a:tblPr bandRow="1">
                <a:tableStyleId>{93296810-A885-4BE3-A3E7-6D5BEEA58F35}</a:tableStyleId>
              </a:tblPr>
              <a:tblGrid>
                <a:gridCol w="519430">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q</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00804400</a:t>
                      </a:r>
                    </a:p>
                  </a:txBody>
                  <a:tcPr anchor="ctr">
                    <a:solidFill>
                      <a:schemeClr val="accent4">
                        <a:lumMod val="60000"/>
                        <a:lumOff val="40000"/>
                      </a:schemeClr>
                    </a:solidFill>
                  </a:tcPr>
                </a:tc>
                <a:extLst>
                  <a:ext uri="{0D108BD9-81ED-4DB2-BD59-A6C34878D82A}">
                    <a16:rowId xmlns:a16="http://schemas.microsoft.com/office/drawing/2014/main" val="3228816114"/>
                  </a:ext>
                </a:extLst>
              </a:tr>
            </a:tbl>
          </a:graphicData>
        </a:graphic>
      </p:graphicFrame>
      <p:sp>
        <p:nvSpPr>
          <p:cNvPr id="11" name="Rounded Rectangle 10">
            <a:extLst>
              <a:ext uri="{FF2B5EF4-FFF2-40B4-BE49-F238E27FC236}">
                <a16:creationId xmlns:a16="http://schemas.microsoft.com/office/drawing/2014/main" id="{06D93980-7350-5B49-9A1B-C5BD5C7C7FAB}"/>
              </a:ext>
            </a:extLst>
          </p:cNvPr>
          <p:cNvSpPr/>
          <p:nvPr/>
        </p:nvSpPr>
        <p:spPr>
          <a:xfrm>
            <a:off x="6661083" y="2252513"/>
            <a:ext cx="2057400" cy="815961"/>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40 bytes </a:t>
            </a:r>
          </a:p>
          <a:p>
            <a:pPr algn="ctr"/>
            <a:r>
              <a:rPr lang="en-US" sz="1800" b="1" dirty="0">
                <a:latin typeface="Consolas" panose="020B0609020204030204" pitchFamily="49" charset="0"/>
                <a:cs typeface="Consolas" panose="020B0609020204030204" pitchFamily="49" charset="0"/>
              </a:rPr>
              <a:t>(10 </a:t>
            </a:r>
            <a:r>
              <a:rPr lang="en-US" sz="1800" b="1" dirty="0" err="1">
                <a:latin typeface="Consolas" panose="020B0609020204030204" pitchFamily="49" charset="0"/>
                <a:cs typeface="Consolas" panose="020B0609020204030204" pitchFamily="49" charset="0"/>
              </a:rPr>
              <a:t>ints</a:t>
            </a:r>
            <a:r>
              <a:rPr lang="en-US" sz="1800" b="1" dirty="0">
                <a:latin typeface="Consolas" panose="020B0609020204030204" pitchFamily="49" charset="0"/>
                <a:cs typeface="Consolas" panose="020B0609020204030204" pitchFamily="49" charset="0"/>
              </a:rPr>
              <a:t>)</a:t>
            </a:r>
          </a:p>
        </p:txBody>
      </p:sp>
      <p:cxnSp>
        <p:nvCxnSpPr>
          <p:cNvPr id="13" name="Curved Connector 14">
            <a:extLst>
              <a:ext uri="{FF2B5EF4-FFF2-40B4-BE49-F238E27FC236}">
                <a16:creationId xmlns:a16="http://schemas.microsoft.com/office/drawing/2014/main" id="{C935C8E1-3693-A449-AC3E-16909880E8D6}"/>
              </a:ext>
            </a:extLst>
          </p:cNvPr>
          <p:cNvCxnSpPr>
            <a:cxnSpLocks/>
            <a:stCxn id="9" idx="3"/>
            <a:endCxn id="11" idx="1"/>
          </p:cNvCxnSpPr>
          <p:nvPr/>
        </p:nvCxnSpPr>
        <p:spPr>
          <a:xfrm>
            <a:off x="5784215" y="2592373"/>
            <a:ext cx="876868" cy="681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DD9BEEAE-1240-8C4D-9B5F-48ACECDC38CB}"/>
              </a:ext>
            </a:extLst>
          </p:cNvPr>
          <p:cNvCxnSpPr>
            <a:cxnSpLocks/>
            <a:stCxn id="10" idx="3"/>
            <a:endCxn id="24" idx="1"/>
          </p:cNvCxnSpPr>
          <p:nvPr/>
        </p:nvCxnSpPr>
        <p:spPr>
          <a:xfrm>
            <a:off x="5784215" y="3048530"/>
            <a:ext cx="1607185" cy="4731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01A5C76-7710-484A-8397-D7978BB17F61}"/>
              </a:ext>
            </a:extLst>
          </p:cNvPr>
          <p:cNvSpPr txBox="1"/>
          <p:nvPr/>
        </p:nvSpPr>
        <p:spPr>
          <a:xfrm>
            <a:off x="7391400" y="3337038"/>
            <a:ext cx="891591" cy="369332"/>
          </a:xfrm>
          <a:prstGeom prst="rect">
            <a:avLst/>
          </a:prstGeom>
          <a:noFill/>
        </p:spPr>
        <p:txBody>
          <a:bodyPr wrap="none" rtlCol="0">
            <a:spAutoFit/>
          </a:bodyPr>
          <a:lstStyle/>
          <a:p>
            <a:r>
              <a:rPr lang="en-US" sz="1800" b="1" dirty="0"/>
              <a:t>???????</a:t>
            </a:r>
          </a:p>
        </p:txBody>
      </p:sp>
      <p:graphicFrame>
        <p:nvGraphicFramePr>
          <p:cNvPr id="27" name="Table 26">
            <a:extLst>
              <a:ext uri="{FF2B5EF4-FFF2-40B4-BE49-F238E27FC236}">
                <a16:creationId xmlns:a16="http://schemas.microsoft.com/office/drawing/2014/main" id="{3DE91135-A5A4-764F-9D85-CA8E2FD3C94B}"/>
              </a:ext>
            </a:extLst>
          </p:cNvPr>
          <p:cNvGraphicFramePr>
            <a:graphicFrameLocks noGrp="1"/>
          </p:cNvGraphicFramePr>
          <p:nvPr>
            <p:extLst>
              <p:ext uri="{D42A27DB-BD31-4B8C-83A1-F6EECF244321}">
                <p14:modId xmlns:p14="http://schemas.microsoft.com/office/powerpoint/2010/main" val="2310872482"/>
              </p:ext>
            </p:extLst>
          </p:nvPr>
        </p:nvGraphicFramePr>
        <p:xfrm>
          <a:off x="3359785" y="3278172"/>
          <a:ext cx="2424430" cy="457200"/>
        </p:xfrm>
        <a:graphic>
          <a:graphicData uri="http://schemas.openxmlformats.org/drawingml/2006/table">
            <a:tbl>
              <a:tblPr bandRow="1">
                <a:tableStyleId>{93296810-A885-4BE3-A3E7-6D5BEEA58F35}</a:tableStyleId>
              </a:tblPr>
              <a:tblGrid>
                <a:gridCol w="519430">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x</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00000003</a:t>
                      </a:r>
                    </a:p>
                  </a:txBody>
                  <a:tcPr anchor="ctr">
                    <a:solidFill>
                      <a:schemeClr val="accent4">
                        <a:lumMod val="60000"/>
                        <a:lumOff val="40000"/>
                      </a:schemeClr>
                    </a:solidFill>
                  </a:tcPr>
                </a:tc>
                <a:extLst>
                  <a:ext uri="{0D108BD9-81ED-4DB2-BD59-A6C34878D82A}">
                    <a16:rowId xmlns:a16="http://schemas.microsoft.com/office/drawing/2014/main" val="3228816114"/>
                  </a:ext>
                </a:extLst>
              </a:tr>
            </a:tbl>
          </a:graphicData>
        </a:graphic>
      </p:graphicFrame>
      <p:graphicFrame>
        <p:nvGraphicFramePr>
          <p:cNvPr id="28" name="Table 27">
            <a:extLst>
              <a:ext uri="{FF2B5EF4-FFF2-40B4-BE49-F238E27FC236}">
                <a16:creationId xmlns:a16="http://schemas.microsoft.com/office/drawing/2014/main" id="{5DA75E22-5127-5B4F-A3FF-25B85657B03D}"/>
              </a:ext>
            </a:extLst>
          </p:cNvPr>
          <p:cNvGraphicFramePr>
            <a:graphicFrameLocks noGrp="1"/>
          </p:cNvGraphicFramePr>
          <p:nvPr>
            <p:extLst>
              <p:ext uri="{D42A27DB-BD31-4B8C-83A1-F6EECF244321}">
                <p14:modId xmlns:p14="http://schemas.microsoft.com/office/powerpoint/2010/main" val="4161456114"/>
              </p:ext>
            </p:extLst>
          </p:nvPr>
        </p:nvGraphicFramePr>
        <p:xfrm>
          <a:off x="3359785" y="2362730"/>
          <a:ext cx="2424430" cy="457200"/>
        </p:xfrm>
        <a:graphic>
          <a:graphicData uri="http://schemas.openxmlformats.org/drawingml/2006/table">
            <a:tbl>
              <a:tblPr bandRow="1">
                <a:tableStyleId>{93296810-A885-4BE3-A3E7-6D5BEEA58F35}</a:tableStyleId>
              </a:tblPr>
              <a:tblGrid>
                <a:gridCol w="519430">
                  <a:extLst>
                    <a:ext uri="{9D8B030D-6E8A-4147-A177-3AD203B41FA5}">
                      <a16:colId xmlns:a16="http://schemas.microsoft.com/office/drawing/2014/main" val="396616089"/>
                    </a:ext>
                  </a:extLst>
                </a:gridCol>
                <a:gridCol w="1905000">
                  <a:extLst>
                    <a:ext uri="{9D8B030D-6E8A-4147-A177-3AD203B41FA5}">
                      <a16:colId xmlns:a16="http://schemas.microsoft.com/office/drawing/2014/main" val="2645196628"/>
                    </a:ext>
                  </a:extLst>
                </a:gridCol>
              </a:tblGrid>
              <a:tr h="457200">
                <a:tc>
                  <a:txBody>
                    <a:bodyPr/>
                    <a:lstStyle/>
                    <a:p>
                      <a:pPr algn="r"/>
                      <a:r>
                        <a:rPr lang="en-US" sz="2400" b="0" i="1" dirty="0">
                          <a:latin typeface="Consolas" panose="020B0609020204030204" pitchFamily="49" charset="0"/>
                          <a:cs typeface="Consolas" panose="020B0609020204030204" pitchFamily="49" charset="0"/>
                        </a:rPr>
                        <a:t>p</a:t>
                      </a:r>
                    </a:p>
                  </a:txBody>
                  <a:tcPr anchor="ctr">
                    <a:noFill/>
                  </a:tcPr>
                </a:tc>
                <a:tc>
                  <a:txBody>
                    <a:bodyPr/>
                    <a:lstStyle/>
                    <a:p>
                      <a:pPr algn="ctr"/>
                      <a:r>
                        <a:rPr lang="en-US" sz="2400" b="1" i="0" dirty="0">
                          <a:latin typeface="Consolas" panose="020B0609020204030204" pitchFamily="49" charset="0"/>
                          <a:cs typeface="Consolas" panose="020B0609020204030204" pitchFamily="49" charset="0"/>
                        </a:rPr>
                        <a:t>07FF8FF8</a:t>
                      </a:r>
                    </a:p>
                  </a:txBody>
                  <a:tcPr anchor="ctr">
                    <a:solidFill>
                      <a:schemeClr val="accent4">
                        <a:lumMod val="60000"/>
                        <a:lumOff val="40000"/>
                      </a:schemeClr>
                    </a:solidFill>
                  </a:tcPr>
                </a:tc>
                <a:extLst>
                  <a:ext uri="{0D108BD9-81ED-4DB2-BD59-A6C34878D82A}">
                    <a16:rowId xmlns:a16="http://schemas.microsoft.com/office/drawing/2014/main" val="3228816114"/>
                  </a:ext>
                </a:extLst>
              </a:tr>
            </a:tbl>
          </a:graphicData>
        </a:graphic>
      </p:graphicFrame>
      <p:sp>
        <p:nvSpPr>
          <p:cNvPr id="30" name="Arc 29">
            <a:extLst>
              <a:ext uri="{FF2B5EF4-FFF2-40B4-BE49-F238E27FC236}">
                <a16:creationId xmlns:a16="http://schemas.microsoft.com/office/drawing/2014/main" id="{0B3BFF61-ADA5-7846-A166-88F83DF9E845}"/>
              </a:ext>
            </a:extLst>
          </p:cNvPr>
          <p:cNvSpPr/>
          <p:nvPr/>
        </p:nvSpPr>
        <p:spPr>
          <a:xfrm>
            <a:off x="5327015" y="2580748"/>
            <a:ext cx="914400" cy="914400"/>
          </a:xfrm>
          <a:prstGeom prst="arc">
            <a:avLst>
              <a:gd name="adj1" fmla="val 16200000"/>
              <a:gd name="adj2" fmla="val 5167289"/>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5E8C27EC-4F9F-6547-B991-35C16854F26B}"/>
              </a:ext>
            </a:extLst>
          </p:cNvPr>
          <p:cNvSpPr txBox="1"/>
          <p:nvPr/>
        </p:nvSpPr>
        <p:spPr>
          <a:xfrm>
            <a:off x="159385" y="4777621"/>
            <a:ext cx="3200400" cy="369332"/>
          </a:xfrm>
          <a:prstGeom prst="rect">
            <a:avLst/>
          </a:prstGeom>
          <a:noFill/>
        </p:spPr>
        <p:txBody>
          <a:bodyPr wrap="square" rtlCol="0">
            <a:spAutoFit/>
          </a:bodyPr>
          <a:lstStyle/>
          <a:p>
            <a:pPr algn="ctr"/>
            <a:r>
              <a:rPr lang="en-US" sz="1800" dirty="0"/>
              <a:t>(UB = Undefined Behavior)</a:t>
            </a:r>
            <a:endParaRPr lang="en-US" sz="1800" b="1" dirty="0">
              <a:latin typeface="Consolas" panose="020B0609020204030204" pitchFamily="49" charset="0"/>
              <a:cs typeface="Consolas" panose="020B0609020204030204" pitchFamily="49" charset="0"/>
            </a:endParaRPr>
          </a:p>
        </p:txBody>
      </p:sp>
      <p:sp>
        <p:nvSpPr>
          <p:cNvPr id="34" name="TextBox 33">
            <a:extLst>
              <a:ext uri="{FF2B5EF4-FFF2-40B4-BE49-F238E27FC236}">
                <a16:creationId xmlns:a16="http://schemas.microsoft.com/office/drawing/2014/main" id="{FC3DCD82-42DC-9D48-A41E-276CC400070E}"/>
              </a:ext>
            </a:extLst>
          </p:cNvPr>
          <p:cNvSpPr txBox="1"/>
          <p:nvPr/>
        </p:nvSpPr>
        <p:spPr>
          <a:xfrm>
            <a:off x="5202200" y="4531400"/>
            <a:ext cx="2176722" cy="430887"/>
          </a:xfrm>
          <a:prstGeom prst="rect">
            <a:avLst/>
          </a:prstGeom>
          <a:noFill/>
        </p:spPr>
        <p:txBody>
          <a:bodyPr wrap="square" rtlCol="0">
            <a:spAutoFit/>
          </a:bodyPr>
          <a:lstStyle/>
          <a:p>
            <a:pPr algn="ctr"/>
            <a:r>
              <a:rPr lang="en-US" sz="2200" dirty="0"/>
              <a:t>it gets worse.</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359391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9"/>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3"/>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5" grpId="0"/>
      <p:bldP spid="7" grpId="0"/>
      <p:bldP spid="8" grpId="0"/>
      <p:bldP spid="11" grpId="0" animBg="1"/>
      <p:bldP spid="11" grpId="1" animBg="1"/>
      <p:bldP spid="24" grpId="0"/>
      <p:bldP spid="30" grpId="0" animBg="1"/>
      <p:bldP spid="33"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10684-BAAB-E34B-90D9-8CB2920E7D1E}"/>
              </a:ext>
            </a:extLst>
          </p:cNvPr>
          <p:cNvSpPr>
            <a:spLocks noGrp="1"/>
          </p:cNvSpPr>
          <p:nvPr>
            <p:ph type="title"/>
          </p:nvPr>
        </p:nvSpPr>
        <p:spPr/>
        <p:txBody>
          <a:bodyPr/>
          <a:lstStyle/>
          <a:p>
            <a:r>
              <a:rPr lang="en-US" dirty="0"/>
              <a:t>Aliasing</a:t>
            </a:r>
          </a:p>
        </p:txBody>
      </p:sp>
      <p:sp>
        <p:nvSpPr>
          <p:cNvPr id="3" name="Content Placeholder 2">
            <a:extLst>
              <a:ext uri="{FF2B5EF4-FFF2-40B4-BE49-F238E27FC236}">
                <a16:creationId xmlns:a16="http://schemas.microsoft.com/office/drawing/2014/main" id="{9ABFDD55-DB19-9E49-BE24-C14578052DE2}"/>
              </a:ext>
            </a:extLst>
          </p:cNvPr>
          <p:cNvSpPr>
            <a:spLocks noGrp="1"/>
          </p:cNvSpPr>
          <p:nvPr>
            <p:ph idx="1"/>
          </p:nvPr>
        </p:nvSpPr>
        <p:spPr>
          <a:xfrm>
            <a:off x="152400" y="495301"/>
            <a:ext cx="8991600" cy="838199"/>
          </a:xfrm>
        </p:spPr>
        <p:txBody>
          <a:bodyPr/>
          <a:lstStyle/>
          <a:p>
            <a:r>
              <a:rPr lang="en-US" dirty="0"/>
              <a:t>this is when two or more arrows point to the </a:t>
            </a:r>
            <a:r>
              <a:rPr lang="en-US" b="1" dirty="0"/>
              <a:t>same value.</a:t>
            </a:r>
          </a:p>
          <a:p>
            <a:r>
              <a:rPr lang="en-US" dirty="0"/>
              <a:t>it's very powerful: it lets you create any directed graph (digraph).</a:t>
            </a:r>
          </a:p>
        </p:txBody>
      </p:sp>
      <p:sp>
        <p:nvSpPr>
          <p:cNvPr id="4" name="Slide Number Placeholder 3">
            <a:extLst>
              <a:ext uri="{FF2B5EF4-FFF2-40B4-BE49-F238E27FC236}">
                <a16:creationId xmlns:a16="http://schemas.microsoft.com/office/drawing/2014/main" id="{EF107C94-62EA-6F45-93FD-BDE75EC3F04C}"/>
              </a:ext>
            </a:extLst>
          </p:cNvPr>
          <p:cNvSpPr>
            <a:spLocks noGrp="1"/>
          </p:cNvSpPr>
          <p:nvPr>
            <p:ph type="sldNum" sz="quarter" idx="12"/>
          </p:nvPr>
        </p:nvSpPr>
        <p:spPr/>
        <p:txBody>
          <a:bodyPr/>
          <a:lstStyle/>
          <a:p>
            <a:fld id="{3552B95B-556F-44BD-91A5-D80C1B9E2BB3}" type="slidenum">
              <a:rPr lang="en-US" smtClean="0"/>
              <a:pPr/>
              <a:t>20</a:t>
            </a:fld>
            <a:endParaRPr lang="en-US"/>
          </a:p>
        </p:txBody>
      </p:sp>
      <p:sp>
        <p:nvSpPr>
          <p:cNvPr id="29" name="Rounded Rectangle 28">
            <a:extLst>
              <a:ext uri="{FF2B5EF4-FFF2-40B4-BE49-F238E27FC236}">
                <a16:creationId xmlns:a16="http://schemas.microsoft.com/office/drawing/2014/main" id="{588470E2-1D10-894C-8C96-1093AD54201E}"/>
              </a:ext>
            </a:extLst>
          </p:cNvPr>
          <p:cNvSpPr/>
          <p:nvPr/>
        </p:nvSpPr>
        <p:spPr>
          <a:xfrm>
            <a:off x="457200" y="1689310"/>
            <a:ext cx="838200" cy="3377990"/>
          </a:xfrm>
          <a:prstGeom prst="roundRect">
            <a:avLst>
              <a:gd name="adj" fmla="val 8421"/>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E4BA37D-413F-D045-90C2-A9A7CDA322CA}"/>
              </a:ext>
            </a:extLst>
          </p:cNvPr>
          <p:cNvSpPr txBox="1"/>
          <p:nvPr/>
        </p:nvSpPr>
        <p:spPr>
          <a:xfrm>
            <a:off x="431627" y="1244061"/>
            <a:ext cx="889346" cy="430887"/>
          </a:xfrm>
          <a:prstGeom prst="rect">
            <a:avLst/>
          </a:prstGeom>
          <a:noFill/>
        </p:spPr>
        <p:txBody>
          <a:bodyPr wrap="none" rtlCol="0">
            <a:spAutoFit/>
          </a:bodyPr>
          <a:lstStyle/>
          <a:p>
            <a:r>
              <a:rPr lang="en-US" sz="2200" b="1" u="sng" dirty="0"/>
              <a:t>Stack</a:t>
            </a:r>
          </a:p>
        </p:txBody>
      </p:sp>
      <p:grpSp>
        <p:nvGrpSpPr>
          <p:cNvPr id="59" name="Group 58">
            <a:extLst>
              <a:ext uri="{FF2B5EF4-FFF2-40B4-BE49-F238E27FC236}">
                <a16:creationId xmlns:a16="http://schemas.microsoft.com/office/drawing/2014/main" id="{7385DE59-785A-5044-8584-EDE1D007A35B}"/>
              </a:ext>
            </a:extLst>
          </p:cNvPr>
          <p:cNvGrpSpPr/>
          <p:nvPr/>
        </p:nvGrpSpPr>
        <p:grpSpPr>
          <a:xfrm>
            <a:off x="876300" y="1383450"/>
            <a:ext cx="3384804" cy="635850"/>
            <a:chOff x="876300" y="1383450"/>
            <a:chExt cx="3384804" cy="635850"/>
          </a:xfrm>
        </p:grpSpPr>
        <p:sp>
          <p:nvSpPr>
            <p:cNvPr id="6" name="Rounded Rectangle 5">
              <a:extLst>
                <a:ext uri="{FF2B5EF4-FFF2-40B4-BE49-F238E27FC236}">
                  <a16:creationId xmlns:a16="http://schemas.microsoft.com/office/drawing/2014/main" id="{F959AE2A-09A8-3441-952F-EF0C21983CE3}"/>
                </a:ext>
              </a:extLst>
            </p:cNvPr>
            <p:cNvSpPr/>
            <p:nvPr/>
          </p:nvSpPr>
          <p:spPr>
            <a:xfrm>
              <a:off x="1905000" y="1383450"/>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91E07E1-3193-714C-918D-6FABF93C0E81}"/>
                </a:ext>
              </a:extLst>
            </p:cNvPr>
            <p:cNvSpPr/>
            <p:nvPr/>
          </p:nvSpPr>
          <p:spPr>
            <a:xfrm>
              <a:off x="2819400" y="1383450"/>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C7F57963-495C-154A-A3CD-58E0237BB953}"/>
                </a:ext>
              </a:extLst>
            </p:cNvPr>
            <p:cNvSpPr/>
            <p:nvPr/>
          </p:nvSpPr>
          <p:spPr>
            <a:xfrm>
              <a:off x="3730752" y="1383450"/>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B3D5B9-54F7-AF40-B90D-8C3450207D5D}"/>
                </a:ext>
              </a:extLst>
            </p:cNvPr>
            <p:cNvCxnSpPr>
              <a:stCxn id="6" idx="3"/>
              <a:endCxn id="7" idx="1"/>
            </p:cNvCxnSpPr>
            <p:nvPr/>
          </p:nvCxnSpPr>
          <p:spPr>
            <a:xfrm>
              <a:off x="2435352" y="1650150"/>
              <a:ext cx="3840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C7443D1-0A8E-0D49-8A65-90BACC9B0923}"/>
                </a:ext>
              </a:extLst>
            </p:cNvPr>
            <p:cNvCxnSpPr>
              <a:cxnSpLocks/>
              <a:stCxn id="7" idx="3"/>
              <a:endCxn id="8" idx="1"/>
            </p:cNvCxnSpPr>
            <p:nvPr/>
          </p:nvCxnSpPr>
          <p:spPr>
            <a:xfrm>
              <a:off x="3349752" y="1650150"/>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9BE5438-2654-E844-AF26-326F8BB0E144}"/>
                </a:ext>
              </a:extLst>
            </p:cNvPr>
            <p:cNvCxnSpPr>
              <a:cxnSpLocks/>
              <a:endCxn id="6" idx="1"/>
            </p:cNvCxnSpPr>
            <p:nvPr/>
          </p:nvCxnSpPr>
          <p:spPr>
            <a:xfrm flipV="1">
              <a:off x="876300" y="1650150"/>
              <a:ext cx="1028700" cy="3691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F37EBFCA-C979-E847-BF6A-3D19DD493EA0}"/>
              </a:ext>
            </a:extLst>
          </p:cNvPr>
          <p:cNvGrpSpPr/>
          <p:nvPr/>
        </p:nvGrpSpPr>
        <p:grpSpPr>
          <a:xfrm>
            <a:off x="873252" y="2457827"/>
            <a:ext cx="3387852" cy="533400"/>
            <a:chOff x="873252" y="2457827"/>
            <a:chExt cx="3387852" cy="533400"/>
          </a:xfrm>
        </p:grpSpPr>
        <p:sp>
          <p:nvSpPr>
            <p:cNvPr id="14" name="Rounded Rectangle 13">
              <a:extLst>
                <a:ext uri="{FF2B5EF4-FFF2-40B4-BE49-F238E27FC236}">
                  <a16:creationId xmlns:a16="http://schemas.microsoft.com/office/drawing/2014/main" id="{E0FEB541-BA22-3A4F-B157-BC708E01F3AA}"/>
                </a:ext>
              </a:extLst>
            </p:cNvPr>
            <p:cNvSpPr/>
            <p:nvPr/>
          </p:nvSpPr>
          <p:spPr>
            <a:xfrm>
              <a:off x="1905000" y="245782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DE4E3966-CA81-8E4E-B821-20972BE19486}"/>
                </a:ext>
              </a:extLst>
            </p:cNvPr>
            <p:cNvSpPr/>
            <p:nvPr/>
          </p:nvSpPr>
          <p:spPr>
            <a:xfrm>
              <a:off x="2819400" y="245782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F68ADFE-E42C-A749-9E65-039BE29EFA68}"/>
                </a:ext>
              </a:extLst>
            </p:cNvPr>
            <p:cNvSpPr/>
            <p:nvPr/>
          </p:nvSpPr>
          <p:spPr>
            <a:xfrm>
              <a:off x="3730752" y="245782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22DCCBE8-69D7-354C-88BB-20FDD5044428}"/>
                </a:ext>
              </a:extLst>
            </p:cNvPr>
            <p:cNvCxnSpPr>
              <a:cxnSpLocks/>
            </p:cNvCxnSpPr>
            <p:nvPr/>
          </p:nvCxnSpPr>
          <p:spPr>
            <a:xfrm>
              <a:off x="2438400" y="2618650"/>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EA251A8-4CF3-0F4E-8FC0-96102BFD49F8}"/>
                </a:ext>
              </a:extLst>
            </p:cNvPr>
            <p:cNvCxnSpPr>
              <a:cxnSpLocks/>
            </p:cNvCxnSpPr>
            <p:nvPr/>
          </p:nvCxnSpPr>
          <p:spPr>
            <a:xfrm flipH="1">
              <a:off x="2438400" y="2799925"/>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6D74EDB-EE58-4E42-A18E-93E4AD7CFA48}"/>
                </a:ext>
              </a:extLst>
            </p:cNvPr>
            <p:cNvCxnSpPr>
              <a:cxnSpLocks/>
            </p:cNvCxnSpPr>
            <p:nvPr/>
          </p:nvCxnSpPr>
          <p:spPr>
            <a:xfrm>
              <a:off x="3349752" y="2618650"/>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D9557D-4328-7A48-AA39-9B5CFFF9472D}"/>
                </a:ext>
              </a:extLst>
            </p:cNvPr>
            <p:cNvCxnSpPr>
              <a:cxnSpLocks/>
            </p:cNvCxnSpPr>
            <p:nvPr/>
          </p:nvCxnSpPr>
          <p:spPr>
            <a:xfrm flipH="1">
              <a:off x="3349752" y="2799925"/>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B20DEFB-ACFA-BA4A-B2D1-A28833D1768D}"/>
                </a:ext>
              </a:extLst>
            </p:cNvPr>
            <p:cNvCxnSpPr>
              <a:cxnSpLocks/>
              <a:endCxn id="14" idx="1"/>
            </p:cNvCxnSpPr>
            <p:nvPr/>
          </p:nvCxnSpPr>
          <p:spPr>
            <a:xfrm flipV="1">
              <a:off x="873252" y="2724527"/>
              <a:ext cx="1031748" cy="1167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08124B40-1676-F14F-A0C5-C3B4AE826D58}"/>
              </a:ext>
            </a:extLst>
          </p:cNvPr>
          <p:cNvGrpSpPr/>
          <p:nvPr/>
        </p:nvGrpSpPr>
        <p:grpSpPr>
          <a:xfrm>
            <a:off x="873252" y="1595691"/>
            <a:ext cx="5045643" cy="1128836"/>
            <a:chOff x="873252" y="1595691"/>
            <a:chExt cx="5045643" cy="1128836"/>
          </a:xfrm>
        </p:grpSpPr>
        <p:sp>
          <p:nvSpPr>
            <p:cNvPr id="37" name="Rounded Rectangle 36">
              <a:extLst>
                <a:ext uri="{FF2B5EF4-FFF2-40B4-BE49-F238E27FC236}">
                  <a16:creationId xmlns:a16="http://schemas.microsoft.com/office/drawing/2014/main" id="{62F7C773-0ED6-694F-8A79-DD1E19F1BA2A}"/>
                </a:ext>
              </a:extLst>
            </p:cNvPr>
            <p:cNvSpPr/>
            <p:nvPr/>
          </p:nvSpPr>
          <p:spPr>
            <a:xfrm>
              <a:off x="4474143" y="1929820"/>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EA9842B7-04D6-6D45-B5DD-D4BDD89CEDB0}"/>
                </a:ext>
              </a:extLst>
            </p:cNvPr>
            <p:cNvSpPr/>
            <p:nvPr/>
          </p:nvSpPr>
          <p:spPr>
            <a:xfrm>
              <a:off x="5388543" y="1595691"/>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2524E90F-C8DC-7848-A5FC-F33FACF631D7}"/>
                </a:ext>
              </a:extLst>
            </p:cNvPr>
            <p:cNvSpPr/>
            <p:nvPr/>
          </p:nvSpPr>
          <p:spPr>
            <a:xfrm>
              <a:off x="5388543" y="219112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E0307B5E-AAF2-294B-A54C-532F1325B8BB}"/>
                </a:ext>
              </a:extLst>
            </p:cNvPr>
            <p:cNvCxnSpPr>
              <a:cxnSpLocks/>
              <a:endCxn id="38" idx="1"/>
            </p:cNvCxnSpPr>
            <p:nvPr/>
          </p:nvCxnSpPr>
          <p:spPr>
            <a:xfrm flipV="1">
              <a:off x="5007543" y="1862391"/>
              <a:ext cx="381000" cy="2282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41D2E2D-E701-0040-9B14-9BDBC00AF61D}"/>
                </a:ext>
              </a:extLst>
            </p:cNvPr>
            <p:cNvCxnSpPr>
              <a:cxnSpLocks/>
              <a:endCxn id="39" idx="1"/>
            </p:cNvCxnSpPr>
            <p:nvPr/>
          </p:nvCxnSpPr>
          <p:spPr>
            <a:xfrm>
              <a:off x="5007543" y="2271918"/>
              <a:ext cx="381000" cy="1859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7A2E467-A350-FF42-9BD9-88FCAFCC0BD7}"/>
                </a:ext>
              </a:extLst>
            </p:cNvPr>
            <p:cNvCxnSpPr>
              <a:cxnSpLocks/>
              <a:endCxn id="37" idx="1"/>
            </p:cNvCxnSpPr>
            <p:nvPr/>
          </p:nvCxnSpPr>
          <p:spPr>
            <a:xfrm flipV="1">
              <a:off x="873252" y="2196520"/>
              <a:ext cx="3600891" cy="499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1273D008-034E-D043-A408-AEBD6D175851}"/>
              </a:ext>
            </a:extLst>
          </p:cNvPr>
          <p:cNvGrpSpPr/>
          <p:nvPr/>
        </p:nvGrpSpPr>
        <p:grpSpPr>
          <a:xfrm>
            <a:off x="873252" y="2841317"/>
            <a:ext cx="5591619" cy="1128836"/>
            <a:chOff x="327276" y="2761822"/>
            <a:chExt cx="5591619" cy="1128836"/>
          </a:xfrm>
        </p:grpSpPr>
        <p:sp>
          <p:nvSpPr>
            <p:cNvPr id="49" name="Rounded Rectangle 48">
              <a:extLst>
                <a:ext uri="{FF2B5EF4-FFF2-40B4-BE49-F238E27FC236}">
                  <a16:creationId xmlns:a16="http://schemas.microsoft.com/office/drawing/2014/main" id="{2E83A317-A551-E248-AD60-F33D20F9A090}"/>
                </a:ext>
              </a:extLst>
            </p:cNvPr>
            <p:cNvSpPr/>
            <p:nvPr/>
          </p:nvSpPr>
          <p:spPr>
            <a:xfrm>
              <a:off x="4474143" y="3095951"/>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CA2BAAE4-59A6-6948-81B3-22B795578ACF}"/>
                </a:ext>
              </a:extLst>
            </p:cNvPr>
            <p:cNvSpPr/>
            <p:nvPr/>
          </p:nvSpPr>
          <p:spPr>
            <a:xfrm>
              <a:off x="5388543" y="2761822"/>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51A6DE64-4BBC-BC44-A1A7-71B279047AE3}"/>
                </a:ext>
              </a:extLst>
            </p:cNvPr>
            <p:cNvSpPr/>
            <p:nvPr/>
          </p:nvSpPr>
          <p:spPr>
            <a:xfrm>
              <a:off x="5388543" y="3357258"/>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16B54173-4D66-5146-9D2D-40298C16C27C}"/>
                </a:ext>
              </a:extLst>
            </p:cNvPr>
            <p:cNvCxnSpPr>
              <a:cxnSpLocks/>
            </p:cNvCxnSpPr>
            <p:nvPr/>
          </p:nvCxnSpPr>
          <p:spPr>
            <a:xfrm flipV="1">
              <a:off x="5007543" y="2943097"/>
              <a:ext cx="381000" cy="2282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914B251-8DC1-814E-98EC-447A88809CFA}"/>
                </a:ext>
              </a:extLst>
            </p:cNvPr>
            <p:cNvCxnSpPr>
              <a:cxnSpLocks/>
            </p:cNvCxnSpPr>
            <p:nvPr/>
          </p:nvCxnSpPr>
          <p:spPr>
            <a:xfrm>
              <a:off x="5004495" y="3409348"/>
              <a:ext cx="381000" cy="1859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BBE83DE-411E-8646-B1F4-703161D036EA}"/>
                </a:ext>
              </a:extLst>
            </p:cNvPr>
            <p:cNvCxnSpPr>
              <a:cxnSpLocks/>
              <a:endCxn id="49" idx="1"/>
            </p:cNvCxnSpPr>
            <p:nvPr/>
          </p:nvCxnSpPr>
          <p:spPr>
            <a:xfrm flipV="1">
              <a:off x="327276" y="3362651"/>
              <a:ext cx="4146867" cy="4427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DCDDEB6-8013-5F4F-97CC-34473C7E1C8A}"/>
                </a:ext>
              </a:extLst>
            </p:cNvPr>
            <p:cNvCxnSpPr>
              <a:cxnSpLocks/>
            </p:cNvCxnSpPr>
            <p:nvPr/>
          </p:nvCxnSpPr>
          <p:spPr>
            <a:xfrm flipV="1">
              <a:off x="5004495" y="3057223"/>
              <a:ext cx="381000" cy="228252"/>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04DBBA4-AB6E-224B-8CB2-F203A47C6B17}"/>
                </a:ext>
              </a:extLst>
            </p:cNvPr>
            <p:cNvCxnSpPr>
              <a:cxnSpLocks/>
            </p:cNvCxnSpPr>
            <p:nvPr/>
          </p:nvCxnSpPr>
          <p:spPr>
            <a:xfrm>
              <a:off x="5004495" y="3526977"/>
              <a:ext cx="381000" cy="185909"/>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3" name="TextBox 62">
            <a:extLst>
              <a:ext uri="{FF2B5EF4-FFF2-40B4-BE49-F238E27FC236}">
                <a16:creationId xmlns:a16="http://schemas.microsoft.com/office/drawing/2014/main" id="{121DA1B4-B036-944F-A5B5-2D22603A3558}"/>
              </a:ext>
            </a:extLst>
          </p:cNvPr>
          <p:cNvSpPr txBox="1"/>
          <p:nvPr/>
        </p:nvSpPr>
        <p:spPr>
          <a:xfrm>
            <a:off x="4265596" y="1372228"/>
            <a:ext cx="966890" cy="430887"/>
          </a:xfrm>
          <a:prstGeom prst="rect">
            <a:avLst/>
          </a:prstGeom>
          <a:noFill/>
        </p:spPr>
        <p:txBody>
          <a:bodyPr wrap="square" rtlCol="0">
            <a:spAutoFit/>
          </a:bodyPr>
          <a:lstStyle/>
          <a:p>
            <a:pPr algn="ctr"/>
            <a:r>
              <a:rPr lang="en-US" sz="2200" dirty="0"/>
              <a:t>lists…</a:t>
            </a:r>
            <a:endParaRPr lang="en-US" sz="2200" b="1" dirty="0">
              <a:latin typeface="Consolas" panose="020B0609020204030204" pitchFamily="49" charset="0"/>
              <a:cs typeface="Consolas" panose="020B0609020204030204" pitchFamily="49" charset="0"/>
            </a:endParaRPr>
          </a:p>
        </p:txBody>
      </p:sp>
      <p:sp>
        <p:nvSpPr>
          <p:cNvPr id="64" name="TextBox 63">
            <a:extLst>
              <a:ext uri="{FF2B5EF4-FFF2-40B4-BE49-F238E27FC236}">
                <a16:creationId xmlns:a16="http://schemas.microsoft.com/office/drawing/2014/main" id="{DD2A4F16-F114-E04B-84FB-214FFA56AB9F}"/>
              </a:ext>
            </a:extLst>
          </p:cNvPr>
          <p:cNvSpPr txBox="1"/>
          <p:nvPr/>
        </p:nvSpPr>
        <p:spPr>
          <a:xfrm>
            <a:off x="1531950" y="3009334"/>
            <a:ext cx="3001846" cy="430887"/>
          </a:xfrm>
          <a:prstGeom prst="rect">
            <a:avLst/>
          </a:prstGeom>
          <a:noFill/>
        </p:spPr>
        <p:txBody>
          <a:bodyPr wrap="square" rtlCol="0">
            <a:spAutoFit/>
          </a:bodyPr>
          <a:lstStyle/>
          <a:p>
            <a:pPr algn="ctr"/>
            <a:r>
              <a:rPr lang="en-US" sz="2200" b="1" dirty="0"/>
              <a:t>doubly-linked</a:t>
            </a:r>
            <a:r>
              <a:rPr lang="en-US" sz="2200" dirty="0"/>
              <a:t> lists…</a:t>
            </a:r>
            <a:endParaRPr lang="en-US" sz="2200" b="1" dirty="0">
              <a:latin typeface="Consolas" panose="020B0609020204030204" pitchFamily="49" charset="0"/>
              <a:cs typeface="Consolas" panose="020B0609020204030204" pitchFamily="49" charset="0"/>
            </a:endParaRPr>
          </a:p>
        </p:txBody>
      </p:sp>
      <p:sp>
        <p:nvSpPr>
          <p:cNvPr id="67" name="TextBox 66">
            <a:extLst>
              <a:ext uri="{FF2B5EF4-FFF2-40B4-BE49-F238E27FC236}">
                <a16:creationId xmlns:a16="http://schemas.microsoft.com/office/drawing/2014/main" id="{4D2A9C57-BDE0-0B45-956E-0B5BF72A6118}"/>
              </a:ext>
            </a:extLst>
          </p:cNvPr>
          <p:cNvSpPr txBox="1"/>
          <p:nvPr/>
        </p:nvSpPr>
        <p:spPr>
          <a:xfrm>
            <a:off x="5949374" y="1913647"/>
            <a:ext cx="1030993" cy="430887"/>
          </a:xfrm>
          <a:prstGeom prst="rect">
            <a:avLst/>
          </a:prstGeom>
          <a:noFill/>
        </p:spPr>
        <p:txBody>
          <a:bodyPr wrap="square" rtlCol="0">
            <a:spAutoFit/>
          </a:bodyPr>
          <a:lstStyle/>
          <a:p>
            <a:pPr algn="ctr"/>
            <a:r>
              <a:rPr lang="en-US" sz="2200" dirty="0"/>
              <a:t>trees…</a:t>
            </a:r>
            <a:endParaRPr lang="en-US" sz="2200" dirty="0">
              <a:latin typeface="Consolas" panose="020B0609020204030204" pitchFamily="49" charset="0"/>
              <a:cs typeface="Consolas" panose="020B0609020204030204" pitchFamily="49" charset="0"/>
            </a:endParaRPr>
          </a:p>
        </p:txBody>
      </p:sp>
      <p:sp>
        <p:nvSpPr>
          <p:cNvPr id="69" name="TextBox 68">
            <a:extLst>
              <a:ext uri="{FF2B5EF4-FFF2-40B4-BE49-F238E27FC236}">
                <a16:creationId xmlns:a16="http://schemas.microsoft.com/office/drawing/2014/main" id="{F8A1005E-C460-1D4F-B8DC-A5F6E2CC0A86}"/>
              </a:ext>
            </a:extLst>
          </p:cNvPr>
          <p:cNvSpPr txBox="1"/>
          <p:nvPr/>
        </p:nvSpPr>
        <p:spPr>
          <a:xfrm>
            <a:off x="6421823" y="2980249"/>
            <a:ext cx="2066801" cy="769441"/>
          </a:xfrm>
          <a:prstGeom prst="rect">
            <a:avLst/>
          </a:prstGeom>
          <a:noFill/>
        </p:spPr>
        <p:txBody>
          <a:bodyPr wrap="square" rtlCol="0">
            <a:spAutoFit/>
          </a:bodyPr>
          <a:lstStyle/>
          <a:p>
            <a:pPr algn="ctr"/>
            <a:r>
              <a:rPr lang="en-US" sz="2200" dirty="0"/>
              <a:t>trees with </a:t>
            </a:r>
            <a:r>
              <a:rPr lang="en-US" sz="2200" b="1" dirty="0"/>
              <a:t>parent links…</a:t>
            </a:r>
            <a:endParaRPr lang="en-US" sz="2200" b="1" dirty="0">
              <a:latin typeface="Consolas" panose="020B0609020204030204" pitchFamily="49" charset="0"/>
              <a:cs typeface="Consolas" panose="020B0609020204030204" pitchFamily="49" charset="0"/>
            </a:endParaRPr>
          </a:p>
        </p:txBody>
      </p:sp>
      <p:grpSp>
        <p:nvGrpSpPr>
          <p:cNvPr id="102" name="Group 101">
            <a:extLst>
              <a:ext uri="{FF2B5EF4-FFF2-40B4-BE49-F238E27FC236}">
                <a16:creationId xmlns:a16="http://schemas.microsoft.com/office/drawing/2014/main" id="{35F5AD35-8A6F-4042-819F-14DE7FAFD4F2}"/>
              </a:ext>
            </a:extLst>
          </p:cNvPr>
          <p:cNvGrpSpPr/>
          <p:nvPr/>
        </p:nvGrpSpPr>
        <p:grpSpPr>
          <a:xfrm>
            <a:off x="951837" y="3683311"/>
            <a:ext cx="3217913" cy="1128836"/>
            <a:chOff x="951837" y="3683311"/>
            <a:chExt cx="3217913" cy="1128836"/>
          </a:xfrm>
        </p:grpSpPr>
        <p:sp>
          <p:nvSpPr>
            <p:cNvPr id="72" name="Rounded Rectangle 71">
              <a:extLst>
                <a:ext uri="{FF2B5EF4-FFF2-40B4-BE49-F238E27FC236}">
                  <a16:creationId xmlns:a16="http://schemas.microsoft.com/office/drawing/2014/main" id="{481D3297-59D7-0C4A-9D88-8CA673A5A523}"/>
                </a:ext>
              </a:extLst>
            </p:cNvPr>
            <p:cNvSpPr/>
            <p:nvPr/>
          </p:nvSpPr>
          <p:spPr>
            <a:xfrm>
              <a:off x="1764730" y="4017440"/>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72">
              <a:extLst>
                <a:ext uri="{FF2B5EF4-FFF2-40B4-BE49-F238E27FC236}">
                  <a16:creationId xmlns:a16="http://schemas.microsoft.com/office/drawing/2014/main" id="{C037CA4E-D7B8-2946-8556-863FDE3F94CF}"/>
                </a:ext>
              </a:extLst>
            </p:cNvPr>
            <p:cNvSpPr/>
            <p:nvPr/>
          </p:nvSpPr>
          <p:spPr>
            <a:xfrm>
              <a:off x="2679130" y="3683311"/>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ounded Rectangle 73">
              <a:extLst>
                <a:ext uri="{FF2B5EF4-FFF2-40B4-BE49-F238E27FC236}">
                  <a16:creationId xmlns:a16="http://schemas.microsoft.com/office/drawing/2014/main" id="{BF3C472A-A50C-374D-9A07-23CB46C9B785}"/>
                </a:ext>
              </a:extLst>
            </p:cNvPr>
            <p:cNvSpPr/>
            <p:nvPr/>
          </p:nvSpPr>
          <p:spPr>
            <a:xfrm>
              <a:off x="2679130" y="427874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Arrow Connector 74">
              <a:extLst>
                <a:ext uri="{FF2B5EF4-FFF2-40B4-BE49-F238E27FC236}">
                  <a16:creationId xmlns:a16="http://schemas.microsoft.com/office/drawing/2014/main" id="{7084F96F-C20B-B14C-B06D-5DBA266785C6}"/>
                </a:ext>
              </a:extLst>
            </p:cNvPr>
            <p:cNvCxnSpPr>
              <a:cxnSpLocks/>
              <a:endCxn id="73" idx="1"/>
            </p:cNvCxnSpPr>
            <p:nvPr/>
          </p:nvCxnSpPr>
          <p:spPr>
            <a:xfrm flipV="1">
              <a:off x="2298130" y="3950011"/>
              <a:ext cx="381000" cy="2282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FA13B207-AF06-E34A-9C8C-DA61FD72B1F7}"/>
                </a:ext>
              </a:extLst>
            </p:cNvPr>
            <p:cNvCxnSpPr>
              <a:cxnSpLocks/>
              <a:endCxn id="74" idx="1"/>
            </p:cNvCxnSpPr>
            <p:nvPr/>
          </p:nvCxnSpPr>
          <p:spPr>
            <a:xfrm>
              <a:off x="2298130" y="4359538"/>
              <a:ext cx="381000" cy="1859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652DBB3-3B10-4D42-A84D-E4E10EA4AAD8}"/>
                </a:ext>
              </a:extLst>
            </p:cNvPr>
            <p:cNvCxnSpPr>
              <a:cxnSpLocks/>
              <a:endCxn id="72" idx="1"/>
            </p:cNvCxnSpPr>
            <p:nvPr/>
          </p:nvCxnSpPr>
          <p:spPr>
            <a:xfrm>
              <a:off x="951837" y="4040053"/>
              <a:ext cx="812893" cy="2440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Rounded Rectangle 77">
              <a:extLst>
                <a:ext uri="{FF2B5EF4-FFF2-40B4-BE49-F238E27FC236}">
                  <a16:creationId xmlns:a16="http://schemas.microsoft.com/office/drawing/2014/main" id="{372D0F9C-F6C1-5F47-97A8-91B336A0C56D}"/>
                </a:ext>
              </a:extLst>
            </p:cNvPr>
            <p:cNvSpPr/>
            <p:nvPr/>
          </p:nvSpPr>
          <p:spPr>
            <a:xfrm>
              <a:off x="3639398" y="400733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BED8E876-7AEC-704F-976F-84E144D2D48C}"/>
                </a:ext>
              </a:extLst>
            </p:cNvPr>
            <p:cNvCxnSpPr>
              <a:cxnSpLocks/>
              <a:stCxn id="73" idx="3"/>
            </p:cNvCxnSpPr>
            <p:nvPr/>
          </p:nvCxnSpPr>
          <p:spPr>
            <a:xfrm>
              <a:off x="3209482" y="3950011"/>
              <a:ext cx="428867" cy="2562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8E74F5AF-176E-B649-9621-650A0A599D81}"/>
                </a:ext>
              </a:extLst>
            </p:cNvPr>
            <p:cNvCxnSpPr>
              <a:cxnSpLocks/>
              <a:stCxn id="74" idx="3"/>
            </p:cNvCxnSpPr>
            <p:nvPr/>
          </p:nvCxnSpPr>
          <p:spPr>
            <a:xfrm flipV="1">
              <a:off x="3209482" y="4350619"/>
              <a:ext cx="428867" cy="1948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5" name="TextBox 94">
            <a:extLst>
              <a:ext uri="{FF2B5EF4-FFF2-40B4-BE49-F238E27FC236}">
                <a16:creationId xmlns:a16="http://schemas.microsoft.com/office/drawing/2014/main" id="{9D0E649D-8F63-554A-ACA2-0F9C4CA12D25}"/>
              </a:ext>
            </a:extLst>
          </p:cNvPr>
          <p:cNvSpPr txBox="1"/>
          <p:nvPr/>
        </p:nvSpPr>
        <p:spPr>
          <a:xfrm>
            <a:off x="4069314" y="4025019"/>
            <a:ext cx="2598463" cy="769441"/>
          </a:xfrm>
          <a:prstGeom prst="rect">
            <a:avLst/>
          </a:prstGeom>
          <a:noFill/>
        </p:spPr>
        <p:txBody>
          <a:bodyPr wrap="square" rtlCol="0">
            <a:spAutoFit/>
          </a:bodyPr>
          <a:lstStyle/>
          <a:p>
            <a:pPr algn="ctr"/>
            <a:r>
              <a:rPr lang="en-US" sz="2200" dirty="0"/>
              <a:t>directed acyclic graphs (DAGs)…</a:t>
            </a:r>
            <a:endParaRPr lang="en-US" sz="2200" b="1" dirty="0">
              <a:latin typeface="Consolas" panose="020B0609020204030204" pitchFamily="49" charset="0"/>
              <a:cs typeface="Consolas" panose="020B0609020204030204" pitchFamily="49" charset="0"/>
            </a:endParaRPr>
          </a:p>
        </p:txBody>
      </p:sp>
      <p:sp>
        <p:nvSpPr>
          <p:cNvPr id="96" name="TextBox 95">
            <a:extLst>
              <a:ext uri="{FF2B5EF4-FFF2-40B4-BE49-F238E27FC236}">
                <a16:creationId xmlns:a16="http://schemas.microsoft.com/office/drawing/2014/main" id="{EDD4DE80-1706-D345-9B02-329AEDAEA4FB}"/>
              </a:ext>
            </a:extLst>
          </p:cNvPr>
          <p:cNvSpPr txBox="1"/>
          <p:nvPr/>
        </p:nvSpPr>
        <p:spPr>
          <a:xfrm>
            <a:off x="1402702" y="5045342"/>
            <a:ext cx="7255816" cy="430887"/>
          </a:xfrm>
          <a:prstGeom prst="rect">
            <a:avLst/>
          </a:prstGeom>
          <a:noFill/>
        </p:spPr>
        <p:txBody>
          <a:bodyPr wrap="square" rtlCol="0">
            <a:spAutoFit/>
          </a:bodyPr>
          <a:lstStyle/>
          <a:p>
            <a:pPr algn="ctr"/>
            <a:r>
              <a:rPr lang="en-US" sz="2200" dirty="0"/>
              <a:t>a node's </a:t>
            </a:r>
            <a:r>
              <a:rPr lang="en-US" sz="2200" b="1" dirty="0"/>
              <a:t>in-degree</a:t>
            </a:r>
            <a:r>
              <a:rPr lang="en-US" sz="2200" dirty="0"/>
              <a:t> is how many arrows point to it.</a:t>
            </a:r>
            <a:endParaRPr lang="en-US" sz="2200" b="1" dirty="0">
              <a:latin typeface="Consolas" panose="020B0609020204030204" pitchFamily="49" charset="0"/>
              <a:cs typeface="Consolas" panose="020B0609020204030204" pitchFamily="49" charset="0"/>
            </a:endParaRPr>
          </a:p>
        </p:txBody>
      </p:sp>
      <p:sp>
        <p:nvSpPr>
          <p:cNvPr id="103" name="TextBox 102">
            <a:extLst>
              <a:ext uri="{FF2B5EF4-FFF2-40B4-BE49-F238E27FC236}">
                <a16:creationId xmlns:a16="http://schemas.microsoft.com/office/drawing/2014/main" id="{AC44B8AC-BB34-B644-81A6-ACE7D74D2153}"/>
              </a:ext>
            </a:extLst>
          </p:cNvPr>
          <p:cNvSpPr txBox="1"/>
          <p:nvPr/>
        </p:nvSpPr>
        <p:spPr>
          <a:xfrm>
            <a:off x="2021051" y="1490295"/>
            <a:ext cx="288862" cy="308418"/>
          </a:xfrm>
          <a:prstGeom prst="rect">
            <a:avLst/>
          </a:prstGeom>
          <a:noFill/>
        </p:spPr>
        <p:txBody>
          <a:bodyPr wrap="none" rtlCol="0">
            <a:spAutoFit/>
          </a:bodyPr>
          <a:lstStyle/>
          <a:p>
            <a:r>
              <a:rPr lang="en-US" b="1" dirty="0"/>
              <a:t>1</a:t>
            </a:r>
          </a:p>
        </p:txBody>
      </p:sp>
      <p:sp>
        <p:nvSpPr>
          <p:cNvPr id="104" name="TextBox 103">
            <a:extLst>
              <a:ext uri="{FF2B5EF4-FFF2-40B4-BE49-F238E27FC236}">
                <a16:creationId xmlns:a16="http://schemas.microsoft.com/office/drawing/2014/main" id="{675FB677-AFFC-B24A-9866-CBFDE3E03B3B}"/>
              </a:ext>
            </a:extLst>
          </p:cNvPr>
          <p:cNvSpPr txBox="1"/>
          <p:nvPr/>
        </p:nvSpPr>
        <p:spPr>
          <a:xfrm>
            <a:off x="2949826" y="1481071"/>
            <a:ext cx="288862" cy="308418"/>
          </a:xfrm>
          <a:prstGeom prst="rect">
            <a:avLst/>
          </a:prstGeom>
          <a:noFill/>
        </p:spPr>
        <p:txBody>
          <a:bodyPr wrap="none" rtlCol="0">
            <a:spAutoFit/>
          </a:bodyPr>
          <a:lstStyle/>
          <a:p>
            <a:r>
              <a:rPr lang="en-US" b="1" dirty="0"/>
              <a:t>1</a:t>
            </a:r>
          </a:p>
        </p:txBody>
      </p:sp>
      <p:sp>
        <p:nvSpPr>
          <p:cNvPr id="105" name="TextBox 104">
            <a:extLst>
              <a:ext uri="{FF2B5EF4-FFF2-40B4-BE49-F238E27FC236}">
                <a16:creationId xmlns:a16="http://schemas.microsoft.com/office/drawing/2014/main" id="{E33B9FE2-FA2A-4641-BB90-16D738985DE8}"/>
              </a:ext>
            </a:extLst>
          </p:cNvPr>
          <p:cNvSpPr txBox="1"/>
          <p:nvPr/>
        </p:nvSpPr>
        <p:spPr>
          <a:xfrm>
            <a:off x="3861178" y="1500144"/>
            <a:ext cx="288862" cy="308418"/>
          </a:xfrm>
          <a:prstGeom prst="rect">
            <a:avLst/>
          </a:prstGeom>
          <a:noFill/>
        </p:spPr>
        <p:txBody>
          <a:bodyPr wrap="none" rtlCol="0">
            <a:spAutoFit/>
          </a:bodyPr>
          <a:lstStyle/>
          <a:p>
            <a:r>
              <a:rPr lang="en-US" b="1" dirty="0"/>
              <a:t>1</a:t>
            </a:r>
          </a:p>
        </p:txBody>
      </p:sp>
      <p:sp>
        <p:nvSpPr>
          <p:cNvPr id="106" name="TextBox 105">
            <a:extLst>
              <a:ext uri="{FF2B5EF4-FFF2-40B4-BE49-F238E27FC236}">
                <a16:creationId xmlns:a16="http://schemas.microsoft.com/office/drawing/2014/main" id="{AC671E68-B964-3347-A2F0-B3C3FE3B8DC3}"/>
              </a:ext>
            </a:extLst>
          </p:cNvPr>
          <p:cNvSpPr txBox="1"/>
          <p:nvPr/>
        </p:nvSpPr>
        <p:spPr>
          <a:xfrm>
            <a:off x="4605051" y="2033295"/>
            <a:ext cx="288862" cy="308418"/>
          </a:xfrm>
          <a:prstGeom prst="rect">
            <a:avLst/>
          </a:prstGeom>
          <a:noFill/>
        </p:spPr>
        <p:txBody>
          <a:bodyPr wrap="none" rtlCol="0">
            <a:spAutoFit/>
          </a:bodyPr>
          <a:lstStyle/>
          <a:p>
            <a:r>
              <a:rPr lang="en-US" b="1" dirty="0"/>
              <a:t>1</a:t>
            </a:r>
          </a:p>
        </p:txBody>
      </p:sp>
      <p:sp>
        <p:nvSpPr>
          <p:cNvPr id="107" name="TextBox 106">
            <a:extLst>
              <a:ext uri="{FF2B5EF4-FFF2-40B4-BE49-F238E27FC236}">
                <a16:creationId xmlns:a16="http://schemas.microsoft.com/office/drawing/2014/main" id="{F62AC13C-1CB7-7641-A66F-D57A760AB9ED}"/>
              </a:ext>
            </a:extLst>
          </p:cNvPr>
          <p:cNvSpPr txBox="1"/>
          <p:nvPr/>
        </p:nvSpPr>
        <p:spPr>
          <a:xfrm>
            <a:off x="5509288" y="2297792"/>
            <a:ext cx="288862" cy="308418"/>
          </a:xfrm>
          <a:prstGeom prst="rect">
            <a:avLst/>
          </a:prstGeom>
          <a:noFill/>
        </p:spPr>
        <p:txBody>
          <a:bodyPr wrap="none" rtlCol="0">
            <a:spAutoFit/>
          </a:bodyPr>
          <a:lstStyle/>
          <a:p>
            <a:r>
              <a:rPr lang="en-US" b="1" dirty="0"/>
              <a:t>1</a:t>
            </a:r>
          </a:p>
        </p:txBody>
      </p:sp>
      <p:sp>
        <p:nvSpPr>
          <p:cNvPr id="108" name="TextBox 107">
            <a:extLst>
              <a:ext uri="{FF2B5EF4-FFF2-40B4-BE49-F238E27FC236}">
                <a16:creationId xmlns:a16="http://schemas.microsoft.com/office/drawing/2014/main" id="{C46CB84D-6954-2A41-9D13-0785A73A753F}"/>
              </a:ext>
            </a:extLst>
          </p:cNvPr>
          <p:cNvSpPr txBox="1"/>
          <p:nvPr/>
        </p:nvSpPr>
        <p:spPr>
          <a:xfrm>
            <a:off x="5522445" y="1695582"/>
            <a:ext cx="288862" cy="308418"/>
          </a:xfrm>
          <a:prstGeom prst="rect">
            <a:avLst/>
          </a:prstGeom>
          <a:noFill/>
        </p:spPr>
        <p:txBody>
          <a:bodyPr wrap="none" rtlCol="0">
            <a:spAutoFit/>
          </a:bodyPr>
          <a:lstStyle/>
          <a:p>
            <a:r>
              <a:rPr lang="en-US" b="1" dirty="0"/>
              <a:t>1</a:t>
            </a:r>
          </a:p>
        </p:txBody>
      </p:sp>
      <p:sp>
        <p:nvSpPr>
          <p:cNvPr id="109" name="TextBox 108">
            <a:extLst>
              <a:ext uri="{FF2B5EF4-FFF2-40B4-BE49-F238E27FC236}">
                <a16:creationId xmlns:a16="http://schemas.microsoft.com/office/drawing/2014/main" id="{34B43035-E836-F242-96DA-5B2E519B2640}"/>
              </a:ext>
            </a:extLst>
          </p:cNvPr>
          <p:cNvSpPr txBox="1"/>
          <p:nvPr/>
        </p:nvSpPr>
        <p:spPr>
          <a:xfrm>
            <a:off x="2028793" y="2576815"/>
            <a:ext cx="288862" cy="308418"/>
          </a:xfrm>
          <a:prstGeom prst="rect">
            <a:avLst/>
          </a:prstGeom>
          <a:noFill/>
        </p:spPr>
        <p:txBody>
          <a:bodyPr wrap="none" rtlCol="0">
            <a:spAutoFit/>
          </a:bodyPr>
          <a:lstStyle/>
          <a:p>
            <a:r>
              <a:rPr lang="en-US" b="1" dirty="0"/>
              <a:t>2</a:t>
            </a:r>
          </a:p>
        </p:txBody>
      </p:sp>
      <p:sp>
        <p:nvSpPr>
          <p:cNvPr id="111" name="TextBox 110">
            <a:extLst>
              <a:ext uri="{FF2B5EF4-FFF2-40B4-BE49-F238E27FC236}">
                <a16:creationId xmlns:a16="http://schemas.microsoft.com/office/drawing/2014/main" id="{081535F5-F866-A444-B78E-92623F3CC1D6}"/>
              </a:ext>
            </a:extLst>
          </p:cNvPr>
          <p:cNvSpPr txBox="1"/>
          <p:nvPr/>
        </p:nvSpPr>
        <p:spPr>
          <a:xfrm>
            <a:off x="2961317" y="2565698"/>
            <a:ext cx="288862" cy="308418"/>
          </a:xfrm>
          <a:prstGeom prst="rect">
            <a:avLst/>
          </a:prstGeom>
          <a:noFill/>
        </p:spPr>
        <p:txBody>
          <a:bodyPr wrap="none" rtlCol="0">
            <a:spAutoFit/>
          </a:bodyPr>
          <a:lstStyle/>
          <a:p>
            <a:r>
              <a:rPr lang="en-US" b="1" dirty="0"/>
              <a:t>2</a:t>
            </a:r>
          </a:p>
        </p:txBody>
      </p:sp>
      <p:sp>
        <p:nvSpPr>
          <p:cNvPr id="112" name="TextBox 111">
            <a:extLst>
              <a:ext uri="{FF2B5EF4-FFF2-40B4-BE49-F238E27FC236}">
                <a16:creationId xmlns:a16="http://schemas.microsoft.com/office/drawing/2014/main" id="{7A00D04D-6EF8-C049-9E7A-D01DF8DF3880}"/>
              </a:ext>
            </a:extLst>
          </p:cNvPr>
          <p:cNvSpPr txBox="1"/>
          <p:nvPr/>
        </p:nvSpPr>
        <p:spPr>
          <a:xfrm>
            <a:off x="3861178" y="2565029"/>
            <a:ext cx="288862" cy="308418"/>
          </a:xfrm>
          <a:prstGeom prst="rect">
            <a:avLst/>
          </a:prstGeom>
          <a:noFill/>
        </p:spPr>
        <p:txBody>
          <a:bodyPr wrap="none" rtlCol="0">
            <a:spAutoFit/>
          </a:bodyPr>
          <a:lstStyle/>
          <a:p>
            <a:r>
              <a:rPr lang="en-US" b="1" dirty="0"/>
              <a:t>1</a:t>
            </a:r>
          </a:p>
        </p:txBody>
      </p:sp>
      <p:sp>
        <p:nvSpPr>
          <p:cNvPr id="113" name="TextBox 112">
            <a:extLst>
              <a:ext uri="{FF2B5EF4-FFF2-40B4-BE49-F238E27FC236}">
                <a16:creationId xmlns:a16="http://schemas.microsoft.com/office/drawing/2014/main" id="{B9B82B48-4E62-6C47-B7D4-58C72F0E1CB7}"/>
              </a:ext>
            </a:extLst>
          </p:cNvPr>
          <p:cNvSpPr txBox="1"/>
          <p:nvPr/>
        </p:nvSpPr>
        <p:spPr>
          <a:xfrm>
            <a:off x="5159473" y="3285536"/>
            <a:ext cx="288862" cy="308418"/>
          </a:xfrm>
          <a:prstGeom prst="rect">
            <a:avLst/>
          </a:prstGeom>
          <a:noFill/>
        </p:spPr>
        <p:txBody>
          <a:bodyPr wrap="none" rtlCol="0">
            <a:spAutoFit/>
          </a:bodyPr>
          <a:lstStyle/>
          <a:p>
            <a:r>
              <a:rPr lang="en-US" b="1" dirty="0"/>
              <a:t>3</a:t>
            </a:r>
          </a:p>
        </p:txBody>
      </p:sp>
      <p:sp>
        <p:nvSpPr>
          <p:cNvPr id="114" name="TextBox 113">
            <a:extLst>
              <a:ext uri="{FF2B5EF4-FFF2-40B4-BE49-F238E27FC236}">
                <a16:creationId xmlns:a16="http://schemas.microsoft.com/office/drawing/2014/main" id="{D9F2D112-815E-CD46-8AD9-EE1080136656}"/>
              </a:ext>
            </a:extLst>
          </p:cNvPr>
          <p:cNvSpPr txBox="1"/>
          <p:nvPr/>
        </p:nvSpPr>
        <p:spPr>
          <a:xfrm>
            <a:off x="6080823" y="3534959"/>
            <a:ext cx="288862" cy="308418"/>
          </a:xfrm>
          <a:prstGeom prst="rect">
            <a:avLst/>
          </a:prstGeom>
          <a:noFill/>
        </p:spPr>
        <p:txBody>
          <a:bodyPr wrap="none" rtlCol="0">
            <a:spAutoFit/>
          </a:bodyPr>
          <a:lstStyle/>
          <a:p>
            <a:r>
              <a:rPr lang="en-US" b="1" dirty="0"/>
              <a:t>1</a:t>
            </a:r>
          </a:p>
        </p:txBody>
      </p:sp>
      <p:sp>
        <p:nvSpPr>
          <p:cNvPr id="115" name="TextBox 114">
            <a:extLst>
              <a:ext uri="{FF2B5EF4-FFF2-40B4-BE49-F238E27FC236}">
                <a16:creationId xmlns:a16="http://schemas.microsoft.com/office/drawing/2014/main" id="{D59E53B2-D1F8-3948-B5C1-69D61DA0682B}"/>
              </a:ext>
            </a:extLst>
          </p:cNvPr>
          <p:cNvSpPr txBox="1"/>
          <p:nvPr/>
        </p:nvSpPr>
        <p:spPr>
          <a:xfrm>
            <a:off x="6068468" y="2945751"/>
            <a:ext cx="288862" cy="308418"/>
          </a:xfrm>
          <a:prstGeom prst="rect">
            <a:avLst/>
          </a:prstGeom>
          <a:noFill/>
        </p:spPr>
        <p:txBody>
          <a:bodyPr wrap="none" rtlCol="0">
            <a:spAutoFit/>
          </a:bodyPr>
          <a:lstStyle/>
          <a:p>
            <a:r>
              <a:rPr lang="en-US" b="1" dirty="0"/>
              <a:t>1</a:t>
            </a:r>
          </a:p>
        </p:txBody>
      </p:sp>
      <p:sp>
        <p:nvSpPr>
          <p:cNvPr id="116" name="TextBox 115">
            <a:extLst>
              <a:ext uri="{FF2B5EF4-FFF2-40B4-BE49-F238E27FC236}">
                <a16:creationId xmlns:a16="http://schemas.microsoft.com/office/drawing/2014/main" id="{517D2814-8007-044E-BA2E-1A0297BCD02D}"/>
              </a:ext>
            </a:extLst>
          </p:cNvPr>
          <p:cNvSpPr txBox="1"/>
          <p:nvPr/>
        </p:nvSpPr>
        <p:spPr>
          <a:xfrm>
            <a:off x="1876620" y="4129931"/>
            <a:ext cx="288862" cy="308418"/>
          </a:xfrm>
          <a:prstGeom prst="rect">
            <a:avLst/>
          </a:prstGeom>
          <a:noFill/>
        </p:spPr>
        <p:txBody>
          <a:bodyPr wrap="none" rtlCol="0">
            <a:spAutoFit/>
          </a:bodyPr>
          <a:lstStyle/>
          <a:p>
            <a:r>
              <a:rPr lang="en-US" b="1" dirty="0"/>
              <a:t>1</a:t>
            </a:r>
          </a:p>
        </p:txBody>
      </p:sp>
      <p:sp>
        <p:nvSpPr>
          <p:cNvPr id="118" name="TextBox 117">
            <a:extLst>
              <a:ext uri="{FF2B5EF4-FFF2-40B4-BE49-F238E27FC236}">
                <a16:creationId xmlns:a16="http://schemas.microsoft.com/office/drawing/2014/main" id="{D54C2DE4-C014-AF4B-9A63-654879D6CD7D}"/>
              </a:ext>
            </a:extLst>
          </p:cNvPr>
          <p:cNvSpPr txBox="1"/>
          <p:nvPr/>
        </p:nvSpPr>
        <p:spPr>
          <a:xfrm>
            <a:off x="2805395" y="3790083"/>
            <a:ext cx="288862" cy="308418"/>
          </a:xfrm>
          <a:prstGeom prst="rect">
            <a:avLst/>
          </a:prstGeom>
          <a:noFill/>
        </p:spPr>
        <p:txBody>
          <a:bodyPr wrap="none" rtlCol="0">
            <a:spAutoFit/>
          </a:bodyPr>
          <a:lstStyle/>
          <a:p>
            <a:r>
              <a:rPr lang="en-US" b="1" dirty="0"/>
              <a:t>1</a:t>
            </a:r>
          </a:p>
        </p:txBody>
      </p:sp>
      <p:sp>
        <p:nvSpPr>
          <p:cNvPr id="120" name="TextBox 119">
            <a:extLst>
              <a:ext uri="{FF2B5EF4-FFF2-40B4-BE49-F238E27FC236}">
                <a16:creationId xmlns:a16="http://schemas.microsoft.com/office/drawing/2014/main" id="{9C6A3F18-B100-2A46-AA0F-277FAAC20B0E}"/>
              </a:ext>
            </a:extLst>
          </p:cNvPr>
          <p:cNvSpPr txBox="1"/>
          <p:nvPr/>
        </p:nvSpPr>
        <p:spPr>
          <a:xfrm>
            <a:off x="2798473" y="4382163"/>
            <a:ext cx="288862" cy="308418"/>
          </a:xfrm>
          <a:prstGeom prst="rect">
            <a:avLst/>
          </a:prstGeom>
          <a:noFill/>
        </p:spPr>
        <p:txBody>
          <a:bodyPr wrap="none" rtlCol="0">
            <a:spAutoFit/>
          </a:bodyPr>
          <a:lstStyle/>
          <a:p>
            <a:r>
              <a:rPr lang="en-US" b="1" dirty="0"/>
              <a:t>1</a:t>
            </a:r>
          </a:p>
        </p:txBody>
      </p:sp>
      <p:sp>
        <p:nvSpPr>
          <p:cNvPr id="121" name="TextBox 120">
            <a:extLst>
              <a:ext uri="{FF2B5EF4-FFF2-40B4-BE49-F238E27FC236}">
                <a16:creationId xmlns:a16="http://schemas.microsoft.com/office/drawing/2014/main" id="{A97E6A80-28B9-3D4C-93D6-67F25BBB76E3}"/>
              </a:ext>
            </a:extLst>
          </p:cNvPr>
          <p:cNvSpPr txBox="1"/>
          <p:nvPr/>
        </p:nvSpPr>
        <p:spPr>
          <a:xfrm>
            <a:off x="3753574" y="4118316"/>
            <a:ext cx="288862" cy="308418"/>
          </a:xfrm>
          <a:prstGeom prst="rect">
            <a:avLst/>
          </a:prstGeom>
          <a:noFill/>
        </p:spPr>
        <p:txBody>
          <a:bodyPr wrap="none" rtlCol="0">
            <a:spAutoFit/>
          </a:bodyPr>
          <a:lstStyle/>
          <a:p>
            <a:r>
              <a:rPr lang="en-US" b="1" dirty="0"/>
              <a:t>2</a:t>
            </a:r>
          </a:p>
        </p:txBody>
      </p:sp>
    </p:spTree>
    <p:extLst>
      <p:ext uri="{BB962C8B-B14F-4D97-AF65-F5344CB8AC3E}">
        <p14:creationId xmlns:p14="http://schemas.microsoft.com/office/powerpoint/2010/main" val="26303256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6"/>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200"/>
                                  </p:stCondLst>
                                  <p:childTnLst>
                                    <p:set>
                                      <p:cBhvr>
                                        <p:cTn id="45" dur="1" fill="hold">
                                          <p:stCondLst>
                                            <p:cond delay="0"/>
                                          </p:stCondLst>
                                        </p:cTn>
                                        <p:tgtEl>
                                          <p:spTgt spid="103"/>
                                        </p:tgtEl>
                                        <p:attrNameLst>
                                          <p:attrName>style.visibility</p:attrName>
                                        </p:attrNameLst>
                                      </p:cBhvr>
                                      <p:to>
                                        <p:strVal val="visible"/>
                                      </p:to>
                                    </p:set>
                                  </p:childTnLst>
                                </p:cTn>
                              </p:par>
                            </p:childTnLst>
                          </p:cTn>
                        </p:par>
                        <p:par>
                          <p:cTn id="46" fill="hold">
                            <p:stCondLst>
                              <p:cond delay="200"/>
                            </p:stCondLst>
                            <p:childTnLst>
                              <p:par>
                                <p:cTn id="47" presetID="1" presetClass="entr" presetSubtype="0" fill="hold" grpId="0" nodeType="afterEffect">
                                  <p:stCondLst>
                                    <p:cond delay="200"/>
                                  </p:stCondLst>
                                  <p:childTnLst>
                                    <p:set>
                                      <p:cBhvr>
                                        <p:cTn id="48" dur="1" fill="hold">
                                          <p:stCondLst>
                                            <p:cond delay="0"/>
                                          </p:stCondLst>
                                        </p:cTn>
                                        <p:tgtEl>
                                          <p:spTgt spid="104"/>
                                        </p:tgtEl>
                                        <p:attrNameLst>
                                          <p:attrName>style.visibility</p:attrName>
                                        </p:attrNameLst>
                                      </p:cBhvr>
                                      <p:to>
                                        <p:strVal val="visible"/>
                                      </p:to>
                                    </p:set>
                                  </p:childTnLst>
                                </p:cTn>
                              </p:par>
                            </p:childTnLst>
                          </p:cTn>
                        </p:par>
                        <p:par>
                          <p:cTn id="49" fill="hold">
                            <p:stCondLst>
                              <p:cond delay="400"/>
                            </p:stCondLst>
                            <p:childTnLst>
                              <p:par>
                                <p:cTn id="50" presetID="1" presetClass="entr" presetSubtype="0" fill="hold" grpId="0" nodeType="afterEffect">
                                  <p:stCondLst>
                                    <p:cond delay="200"/>
                                  </p:stCondLst>
                                  <p:childTnLst>
                                    <p:set>
                                      <p:cBhvr>
                                        <p:cTn id="51" dur="1" fill="hold">
                                          <p:stCondLst>
                                            <p:cond delay="0"/>
                                          </p:stCondLst>
                                        </p:cTn>
                                        <p:tgtEl>
                                          <p:spTgt spid="105"/>
                                        </p:tgtEl>
                                        <p:attrNameLst>
                                          <p:attrName>style.visibility</p:attrName>
                                        </p:attrNameLst>
                                      </p:cBhvr>
                                      <p:to>
                                        <p:strVal val="visible"/>
                                      </p:to>
                                    </p:set>
                                  </p:childTnLst>
                                </p:cTn>
                              </p:par>
                            </p:childTnLst>
                          </p:cTn>
                        </p:par>
                        <p:par>
                          <p:cTn id="52" fill="hold">
                            <p:stCondLst>
                              <p:cond delay="600"/>
                            </p:stCondLst>
                            <p:childTnLst>
                              <p:par>
                                <p:cTn id="53" presetID="1" presetClass="entr" presetSubtype="0" fill="hold" grpId="0" nodeType="afterEffect">
                                  <p:stCondLst>
                                    <p:cond delay="200"/>
                                  </p:stCondLst>
                                  <p:childTnLst>
                                    <p:set>
                                      <p:cBhvr>
                                        <p:cTn id="54" dur="1" fill="hold">
                                          <p:stCondLst>
                                            <p:cond delay="0"/>
                                          </p:stCondLst>
                                        </p:cTn>
                                        <p:tgtEl>
                                          <p:spTgt spid="106"/>
                                        </p:tgtEl>
                                        <p:attrNameLst>
                                          <p:attrName>style.visibility</p:attrName>
                                        </p:attrNameLst>
                                      </p:cBhvr>
                                      <p:to>
                                        <p:strVal val="visible"/>
                                      </p:to>
                                    </p:set>
                                  </p:childTnLst>
                                </p:cTn>
                              </p:par>
                            </p:childTnLst>
                          </p:cTn>
                        </p:par>
                        <p:par>
                          <p:cTn id="55" fill="hold">
                            <p:stCondLst>
                              <p:cond delay="800"/>
                            </p:stCondLst>
                            <p:childTnLst>
                              <p:par>
                                <p:cTn id="56" presetID="1" presetClass="entr" presetSubtype="0" fill="hold" grpId="0" nodeType="afterEffect">
                                  <p:stCondLst>
                                    <p:cond delay="200"/>
                                  </p:stCondLst>
                                  <p:childTnLst>
                                    <p:set>
                                      <p:cBhvr>
                                        <p:cTn id="57" dur="1" fill="hold">
                                          <p:stCondLst>
                                            <p:cond delay="0"/>
                                          </p:stCondLst>
                                        </p:cTn>
                                        <p:tgtEl>
                                          <p:spTgt spid="108"/>
                                        </p:tgtEl>
                                        <p:attrNameLst>
                                          <p:attrName>style.visibility</p:attrName>
                                        </p:attrNameLst>
                                      </p:cBhvr>
                                      <p:to>
                                        <p:strVal val="visible"/>
                                      </p:to>
                                    </p:set>
                                  </p:childTnLst>
                                </p:cTn>
                              </p:par>
                            </p:childTnLst>
                          </p:cTn>
                        </p:par>
                        <p:par>
                          <p:cTn id="58" fill="hold">
                            <p:stCondLst>
                              <p:cond delay="1000"/>
                            </p:stCondLst>
                            <p:childTnLst>
                              <p:par>
                                <p:cTn id="59" presetID="1" presetClass="entr" presetSubtype="0" fill="hold" grpId="0" nodeType="afterEffect">
                                  <p:stCondLst>
                                    <p:cond delay="200"/>
                                  </p:stCondLst>
                                  <p:childTnLst>
                                    <p:set>
                                      <p:cBhvr>
                                        <p:cTn id="60" dur="1" fill="hold">
                                          <p:stCondLst>
                                            <p:cond delay="0"/>
                                          </p:stCondLst>
                                        </p:cTn>
                                        <p:tgtEl>
                                          <p:spTgt spid="107"/>
                                        </p:tgtEl>
                                        <p:attrNameLst>
                                          <p:attrName>style.visibility</p:attrName>
                                        </p:attrNameLst>
                                      </p:cBhvr>
                                      <p:to>
                                        <p:strVal val="visible"/>
                                      </p:to>
                                    </p:set>
                                  </p:childTnLst>
                                </p:cTn>
                              </p:par>
                            </p:childTnLst>
                          </p:cTn>
                        </p:par>
                        <p:par>
                          <p:cTn id="61" fill="hold">
                            <p:stCondLst>
                              <p:cond delay="1200"/>
                            </p:stCondLst>
                            <p:childTnLst>
                              <p:par>
                                <p:cTn id="62" presetID="1" presetClass="entr" presetSubtype="0" fill="hold" grpId="0" nodeType="afterEffect">
                                  <p:stCondLst>
                                    <p:cond delay="200"/>
                                  </p:stCondLst>
                                  <p:childTnLst>
                                    <p:set>
                                      <p:cBhvr>
                                        <p:cTn id="63" dur="1" fill="hold">
                                          <p:stCondLst>
                                            <p:cond delay="0"/>
                                          </p:stCondLst>
                                        </p:cTn>
                                        <p:tgtEl>
                                          <p:spTgt spid="109"/>
                                        </p:tgtEl>
                                        <p:attrNameLst>
                                          <p:attrName>style.visibility</p:attrName>
                                        </p:attrNameLst>
                                      </p:cBhvr>
                                      <p:to>
                                        <p:strVal val="visible"/>
                                      </p:to>
                                    </p:set>
                                  </p:childTnLst>
                                </p:cTn>
                              </p:par>
                            </p:childTnLst>
                          </p:cTn>
                        </p:par>
                        <p:par>
                          <p:cTn id="64" fill="hold">
                            <p:stCondLst>
                              <p:cond delay="1400"/>
                            </p:stCondLst>
                            <p:childTnLst>
                              <p:par>
                                <p:cTn id="65" presetID="1" presetClass="entr" presetSubtype="0" fill="hold" grpId="0" nodeType="afterEffect">
                                  <p:stCondLst>
                                    <p:cond delay="200"/>
                                  </p:stCondLst>
                                  <p:childTnLst>
                                    <p:set>
                                      <p:cBhvr>
                                        <p:cTn id="66" dur="1" fill="hold">
                                          <p:stCondLst>
                                            <p:cond delay="0"/>
                                          </p:stCondLst>
                                        </p:cTn>
                                        <p:tgtEl>
                                          <p:spTgt spid="111"/>
                                        </p:tgtEl>
                                        <p:attrNameLst>
                                          <p:attrName>style.visibility</p:attrName>
                                        </p:attrNameLst>
                                      </p:cBhvr>
                                      <p:to>
                                        <p:strVal val="visible"/>
                                      </p:to>
                                    </p:set>
                                  </p:childTnLst>
                                </p:cTn>
                              </p:par>
                            </p:childTnLst>
                          </p:cTn>
                        </p:par>
                        <p:par>
                          <p:cTn id="67" fill="hold">
                            <p:stCondLst>
                              <p:cond delay="1600"/>
                            </p:stCondLst>
                            <p:childTnLst>
                              <p:par>
                                <p:cTn id="68" presetID="1" presetClass="entr" presetSubtype="0" fill="hold" grpId="0" nodeType="afterEffect">
                                  <p:stCondLst>
                                    <p:cond delay="200"/>
                                  </p:stCondLst>
                                  <p:childTnLst>
                                    <p:set>
                                      <p:cBhvr>
                                        <p:cTn id="69" dur="1" fill="hold">
                                          <p:stCondLst>
                                            <p:cond delay="0"/>
                                          </p:stCondLst>
                                        </p:cTn>
                                        <p:tgtEl>
                                          <p:spTgt spid="112"/>
                                        </p:tgtEl>
                                        <p:attrNameLst>
                                          <p:attrName>style.visibility</p:attrName>
                                        </p:attrNameLst>
                                      </p:cBhvr>
                                      <p:to>
                                        <p:strVal val="visible"/>
                                      </p:to>
                                    </p:set>
                                  </p:childTnLst>
                                </p:cTn>
                              </p:par>
                            </p:childTnLst>
                          </p:cTn>
                        </p:par>
                        <p:par>
                          <p:cTn id="70" fill="hold">
                            <p:stCondLst>
                              <p:cond delay="1800"/>
                            </p:stCondLst>
                            <p:childTnLst>
                              <p:par>
                                <p:cTn id="71" presetID="1" presetClass="entr" presetSubtype="0" fill="hold" grpId="0" nodeType="afterEffect">
                                  <p:stCondLst>
                                    <p:cond delay="200"/>
                                  </p:stCondLst>
                                  <p:childTnLst>
                                    <p:set>
                                      <p:cBhvr>
                                        <p:cTn id="72" dur="1" fill="hold">
                                          <p:stCondLst>
                                            <p:cond delay="0"/>
                                          </p:stCondLst>
                                        </p:cTn>
                                        <p:tgtEl>
                                          <p:spTgt spid="113"/>
                                        </p:tgtEl>
                                        <p:attrNameLst>
                                          <p:attrName>style.visibility</p:attrName>
                                        </p:attrNameLst>
                                      </p:cBhvr>
                                      <p:to>
                                        <p:strVal val="visible"/>
                                      </p:to>
                                    </p:set>
                                  </p:childTnLst>
                                </p:cTn>
                              </p:par>
                            </p:childTnLst>
                          </p:cTn>
                        </p:par>
                        <p:par>
                          <p:cTn id="73" fill="hold">
                            <p:stCondLst>
                              <p:cond delay="2000"/>
                            </p:stCondLst>
                            <p:childTnLst>
                              <p:par>
                                <p:cTn id="74" presetID="1" presetClass="entr" presetSubtype="0" fill="hold" grpId="0" nodeType="afterEffect">
                                  <p:stCondLst>
                                    <p:cond delay="200"/>
                                  </p:stCondLst>
                                  <p:childTnLst>
                                    <p:set>
                                      <p:cBhvr>
                                        <p:cTn id="75" dur="1" fill="hold">
                                          <p:stCondLst>
                                            <p:cond delay="0"/>
                                          </p:stCondLst>
                                        </p:cTn>
                                        <p:tgtEl>
                                          <p:spTgt spid="115"/>
                                        </p:tgtEl>
                                        <p:attrNameLst>
                                          <p:attrName>style.visibility</p:attrName>
                                        </p:attrNameLst>
                                      </p:cBhvr>
                                      <p:to>
                                        <p:strVal val="visible"/>
                                      </p:to>
                                    </p:set>
                                  </p:childTnLst>
                                </p:cTn>
                              </p:par>
                            </p:childTnLst>
                          </p:cTn>
                        </p:par>
                        <p:par>
                          <p:cTn id="76" fill="hold">
                            <p:stCondLst>
                              <p:cond delay="2200"/>
                            </p:stCondLst>
                            <p:childTnLst>
                              <p:par>
                                <p:cTn id="77" presetID="1" presetClass="entr" presetSubtype="0" fill="hold" grpId="0" nodeType="afterEffect">
                                  <p:stCondLst>
                                    <p:cond delay="200"/>
                                  </p:stCondLst>
                                  <p:childTnLst>
                                    <p:set>
                                      <p:cBhvr>
                                        <p:cTn id="78" dur="1" fill="hold">
                                          <p:stCondLst>
                                            <p:cond delay="0"/>
                                          </p:stCondLst>
                                        </p:cTn>
                                        <p:tgtEl>
                                          <p:spTgt spid="114"/>
                                        </p:tgtEl>
                                        <p:attrNameLst>
                                          <p:attrName>style.visibility</p:attrName>
                                        </p:attrNameLst>
                                      </p:cBhvr>
                                      <p:to>
                                        <p:strVal val="visible"/>
                                      </p:to>
                                    </p:set>
                                  </p:childTnLst>
                                </p:cTn>
                              </p:par>
                            </p:childTnLst>
                          </p:cTn>
                        </p:par>
                        <p:par>
                          <p:cTn id="79" fill="hold">
                            <p:stCondLst>
                              <p:cond delay="2400"/>
                            </p:stCondLst>
                            <p:childTnLst>
                              <p:par>
                                <p:cTn id="80" presetID="1" presetClass="entr" presetSubtype="0" fill="hold" grpId="0" nodeType="afterEffect">
                                  <p:stCondLst>
                                    <p:cond delay="200"/>
                                  </p:stCondLst>
                                  <p:childTnLst>
                                    <p:set>
                                      <p:cBhvr>
                                        <p:cTn id="81" dur="1" fill="hold">
                                          <p:stCondLst>
                                            <p:cond delay="0"/>
                                          </p:stCondLst>
                                        </p:cTn>
                                        <p:tgtEl>
                                          <p:spTgt spid="116"/>
                                        </p:tgtEl>
                                        <p:attrNameLst>
                                          <p:attrName>style.visibility</p:attrName>
                                        </p:attrNameLst>
                                      </p:cBhvr>
                                      <p:to>
                                        <p:strVal val="visible"/>
                                      </p:to>
                                    </p:set>
                                  </p:childTnLst>
                                </p:cTn>
                              </p:par>
                            </p:childTnLst>
                          </p:cTn>
                        </p:par>
                        <p:par>
                          <p:cTn id="82" fill="hold">
                            <p:stCondLst>
                              <p:cond delay="2600"/>
                            </p:stCondLst>
                            <p:childTnLst>
                              <p:par>
                                <p:cTn id="83" presetID="1" presetClass="entr" presetSubtype="0" fill="hold" grpId="0" nodeType="afterEffect">
                                  <p:stCondLst>
                                    <p:cond delay="200"/>
                                  </p:stCondLst>
                                  <p:childTnLst>
                                    <p:set>
                                      <p:cBhvr>
                                        <p:cTn id="84" dur="1" fill="hold">
                                          <p:stCondLst>
                                            <p:cond delay="0"/>
                                          </p:stCondLst>
                                        </p:cTn>
                                        <p:tgtEl>
                                          <p:spTgt spid="118"/>
                                        </p:tgtEl>
                                        <p:attrNameLst>
                                          <p:attrName>style.visibility</p:attrName>
                                        </p:attrNameLst>
                                      </p:cBhvr>
                                      <p:to>
                                        <p:strVal val="visible"/>
                                      </p:to>
                                    </p:set>
                                  </p:childTnLst>
                                </p:cTn>
                              </p:par>
                            </p:childTnLst>
                          </p:cTn>
                        </p:par>
                        <p:par>
                          <p:cTn id="85" fill="hold">
                            <p:stCondLst>
                              <p:cond delay="2800"/>
                            </p:stCondLst>
                            <p:childTnLst>
                              <p:par>
                                <p:cTn id="86" presetID="1" presetClass="entr" presetSubtype="0" fill="hold" grpId="0" nodeType="afterEffect">
                                  <p:stCondLst>
                                    <p:cond delay="200"/>
                                  </p:stCondLst>
                                  <p:childTnLst>
                                    <p:set>
                                      <p:cBhvr>
                                        <p:cTn id="87" dur="1" fill="hold">
                                          <p:stCondLst>
                                            <p:cond delay="0"/>
                                          </p:stCondLst>
                                        </p:cTn>
                                        <p:tgtEl>
                                          <p:spTgt spid="120"/>
                                        </p:tgtEl>
                                        <p:attrNameLst>
                                          <p:attrName>style.visibility</p:attrName>
                                        </p:attrNameLst>
                                      </p:cBhvr>
                                      <p:to>
                                        <p:strVal val="visible"/>
                                      </p:to>
                                    </p:set>
                                  </p:childTnLst>
                                </p:cTn>
                              </p:par>
                            </p:childTnLst>
                          </p:cTn>
                        </p:par>
                        <p:par>
                          <p:cTn id="88" fill="hold">
                            <p:stCondLst>
                              <p:cond delay="3000"/>
                            </p:stCondLst>
                            <p:childTnLst>
                              <p:par>
                                <p:cTn id="89" presetID="1" presetClass="entr" presetSubtype="0" fill="hold" grpId="0" nodeType="afterEffect">
                                  <p:stCondLst>
                                    <p:cond delay="200"/>
                                  </p:stCondLst>
                                  <p:childTnLst>
                                    <p:set>
                                      <p:cBhvr>
                                        <p:cTn id="90"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63" grpId="0"/>
      <p:bldP spid="64" grpId="0"/>
      <p:bldP spid="67" grpId="0"/>
      <p:bldP spid="69" grpId="0"/>
      <p:bldP spid="95" grpId="0"/>
      <p:bldP spid="96" grpId="0"/>
      <p:bldP spid="103" grpId="0"/>
      <p:bldP spid="104" grpId="0"/>
      <p:bldP spid="105" grpId="0"/>
      <p:bldP spid="106" grpId="0"/>
      <p:bldP spid="107" grpId="0"/>
      <p:bldP spid="108" grpId="0"/>
      <p:bldP spid="109" grpId="0"/>
      <p:bldP spid="111" grpId="0"/>
      <p:bldP spid="112" grpId="0"/>
      <p:bldP spid="113" grpId="0"/>
      <p:bldP spid="114" grpId="0"/>
      <p:bldP spid="115" grpId="0"/>
      <p:bldP spid="116" grpId="0"/>
      <p:bldP spid="118" grpId="0"/>
      <p:bldP spid="120" grpId="0"/>
      <p:bldP spid="1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A32D8-25A2-9E47-A8F6-6421D1B71309}"/>
              </a:ext>
            </a:extLst>
          </p:cNvPr>
          <p:cNvSpPr>
            <a:spLocks noGrp="1"/>
          </p:cNvSpPr>
          <p:nvPr>
            <p:ph type="title"/>
          </p:nvPr>
        </p:nvSpPr>
        <p:spPr/>
        <p:txBody>
          <a:bodyPr/>
          <a:lstStyle/>
          <a:p>
            <a:r>
              <a:rPr lang="en-US" dirty="0"/>
              <a:t>WITH GREAT POWER etc.</a:t>
            </a:r>
          </a:p>
        </p:txBody>
      </p:sp>
      <p:sp>
        <p:nvSpPr>
          <p:cNvPr id="3" name="Content Placeholder 2">
            <a:extLst>
              <a:ext uri="{FF2B5EF4-FFF2-40B4-BE49-F238E27FC236}">
                <a16:creationId xmlns:a16="http://schemas.microsoft.com/office/drawing/2014/main" id="{158EB1F0-C29E-534C-AF46-93A6C9D83AF6}"/>
              </a:ext>
            </a:extLst>
          </p:cNvPr>
          <p:cNvSpPr>
            <a:spLocks noGrp="1"/>
          </p:cNvSpPr>
          <p:nvPr>
            <p:ph idx="1"/>
          </p:nvPr>
        </p:nvSpPr>
        <p:spPr>
          <a:xfrm>
            <a:off x="152400" y="495302"/>
            <a:ext cx="8991600" cy="495300"/>
          </a:xfrm>
        </p:spPr>
        <p:txBody>
          <a:bodyPr/>
          <a:lstStyle/>
          <a:p>
            <a:r>
              <a:rPr lang="en-US" b="1" dirty="0"/>
              <a:t>unrestricted </a:t>
            </a:r>
            <a:r>
              <a:rPr lang="en-US" dirty="0"/>
              <a:t>pointer aliasing can cause a lot of problems.</a:t>
            </a:r>
          </a:p>
        </p:txBody>
      </p:sp>
      <p:sp>
        <p:nvSpPr>
          <p:cNvPr id="4" name="Slide Number Placeholder 3">
            <a:extLst>
              <a:ext uri="{FF2B5EF4-FFF2-40B4-BE49-F238E27FC236}">
                <a16:creationId xmlns:a16="http://schemas.microsoft.com/office/drawing/2014/main" id="{A7FF61FE-8BC7-E342-A922-B02F2CC71D73}"/>
              </a:ext>
            </a:extLst>
          </p:cNvPr>
          <p:cNvSpPr>
            <a:spLocks noGrp="1"/>
          </p:cNvSpPr>
          <p:nvPr>
            <p:ph type="sldNum" sz="quarter" idx="12"/>
          </p:nvPr>
        </p:nvSpPr>
        <p:spPr/>
        <p:txBody>
          <a:bodyPr/>
          <a:lstStyle/>
          <a:p>
            <a:fld id="{3552B95B-556F-44BD-91A5-D80C1B9E2BB3}" type="slidenum">
              <a:rPr lang="en-US" smtClean="0"/>
              <a:pPr/>
              <a:t>21</a:t>
            </a:fld>
            <a:endParaRPr lang="en-US"/>
          </a:p>
        </p:txBody>
      </p:sp>
      <p:pic>
        <p:nvPicPr>
          <p:cNvPr id="5" name="Picture 4">
            <a:extLst>
              <a:ext uri="{FF2B5EF4-FFF2-40B4-BE49-F238E27FC236}">
                <a16:creationId xmlns:a16="http://schemas.microsoft.com/office/drawing/2014/main" id="{61920604-DFD0-DD4D-B94E-CCF4FA363ECA}"/>
              </a:ext>
            </a:extLst>
          </p:cNvPr>
          <p:cNvPicPr>
            <a:picLocks noChangeAspect="1"/>
          </p:cNvPicPr>
          <p:nvPr/>
        </p:nvPicPr>
        <p:blipFill rotWithShape="1">
          <a:blip r:embed="rId3">
            <a:extLst>
              <a:ext uri="{28A0092B-C50C-407E-A947-70E740481C1C}">
                <a14:useLocalDpi xmlns:a14="http://schemas.microsoft.com/office/drawing/2010/main" val="0"/>
              </a:ext>
            </a:extLst>
          </a:blip>
          <a:srcRect b="36598"/>
          <a:stretch/>
        </p:blipFill>
        <p:spPr>
          <a:xfrm>
            <a:off x="7327900" y="4667196"/>
            <a:ext cx="1473200" cy="934035"/>
          </a:xfrm>
          <a:prstGeom prst="rect">
            <a:avLst/>
          </a:prstGeom>
        </p:spPr>
      </p:pic>
      <p:grpSp>
        <p:nvGrpSpPr>
          <p:cNvPr id="17" name="Group 16">
            <a:extLst>
              <a:ext uri="{FF2B5EF4-FFF2-40B4-BE49-F238E27FC236}">
                <a16:creationId xmlns:a16="http://schemas.microsoft.com/office/drawing/2014/main" id="{9E01A730-06B3-B240-9F18-5C52776467E5}"/>
              </a:ext>
            </a:extLst>
          </p:cNvPr>
          <p:cNvGrpSpPr/>
          <p:nvPr/>
        </p:nvGrpSpPr>
        <p:grpSpPr>
          <a:xfrm>
            <a:off x="1019920" y="1108229"/>
            <a:ext cx="2553341" cy="1143000"/>
            <a:chOff x="418459" y="1257300"/>
            <a:chExt cx="2553341" cy="1143000"/>
          </a:xfrm>
        </p:grpSpPr>
        <p:sp>
          <p:nvSpPr>
            <p:cNvPr id="6" name="Rectangle 5">
              <a:extLst>
                <a:ext uri="{FF2B5EF4-FFF2-40B4-BE49-F238E27FC236}">
                  <a16:creationId xmlns:a16="http://schemas.microsoft.com/office/drawing/2014/main" id="{23FC973C-0CB4-A34A-B839-4357EE2EE71F}"/>
                </a:ext>
              </a:extLst>
            </p:cNvPr>
            <p:cNvSpPr/>
            <p:nvPr/>
          </p:nvSpPr>
          <p:spPr>
            <a:xfrm>
              <a:off x="418459" y="1257300"/>
              <a:ext cx="685800" cy="1143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nsolas" panose="020B0609020204030204" pitchFamily="49" charset="0"/>
                  <a:cs typeface="Consolas" panose="020B0609020204030204" pitchFamily="49" charset="0"/>
                </a:rPr>
                <a:t>t1</a:t>
              </a:r>
            </a:p>
          </p:txBody>
        </p:sp>
        <p:sp>
          <p:nvSpPr>
            <p:cNvPr id="7" name="Rectangle 6">
              <a:extLst>
                <a:ext uri="{FF2B5EF4-FFF2-40B4-BE49-F238E27FC236}">
                  <a16:creationId xmlns:a16="http://schemas.microsoft.com/office/drawing/2014/main" id="{4C0FEF34-D92B-0348-9DEC-83B37B7CE3C2}"/>
                </a:ext>
              </a:extLst>
            </p:cNvPr>
            <p:cNvSpPr/>
            <p:nvPr/>
          </p:nvSpPr>
          <p:spPr>
            <a:xfrm>
              <a:off x="2286000" y="1257300"/>
              <a:ext cx="685800" cy="1143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nsolas" panose="020B0609020204030204" pitchFamily="49" charset="0"/>
                  <a:cs typeface="Consolas" panose="020B0609020204030204" pitchFamily="49" charset="0"/>
                </a:rPr>
                <a:t>t2</a:t>
              </a:r>
            </a:p>
          </p:txBody>
        </p:sp>
        <p:sp>
          <p:nvSpPr>
            <p:cNvPr id="8" name="Rounded Rectangle 7">
              <a:extLst>
                <a:ext uri="{FF2B5EF4-FFF2-40B4-BE49-F238E27FC236}">
                  <a16:creationId xmlns:a16="http://schemas.microsoft.com/office/drawing/2014/main" id="{946709B0-FC18-D14F-84B5-E8A44C2CFD6E}"/>
                </a:ext>
              </a:extLst>
            </p:cNvPr>
            <p:cNvSpPr/>
            <p:nvPr/>
          </p:nvSpPr>
          <p:spPr>
            <a:xfrm>
              <a:off x="1428550" y="156237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cxnSp>
          <p:nvCxnSpPr>
            <p:cNvPr id="9" name="Straight Arrow Connector 8">
              <a:extLst>
                <a:ext uri="{FF2B5EF4-FFF2-40B4-BE49-F238E27FC236}">
                  <a16:creationId xmlns:a16="http://schemas.microsoft.com/office/drawing/2014/main" id="{164605C7-D2DE-8043-BA6E-B2DA095D969B}"/>
                </a:ext>
              </a:extLst>
            </p:cNvPr>
            <p:cNvCxnSpPr>
              <a:cxnSpLocks/>
              <a:stCxn id="6" idx="3"/>
              <a:endCxn id="8" idx="1"/>
            </p:cNvCxnSpPr>
            <p:nvPr/>
          </p:nvCxnSpPr>
          <p:spPr>
            <a:xfrm>
              <a:off x="1104259" y="1828800"/>
              <a:ext cx="324291" cy="2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00AD802-DE0E-1C4D-BF48-664637E73F7F}"/>
                </a:ext>
              </a:extLst>
            </p:cNvPr>
            <p:cNvCxnSpPr>
              <a:cxnSpLocks/>
              <a:stCxn id="7" idx="1"/>
              <a:endCxn id="8" idx="3"/>
            </p:cNvCxnSpPr>
            <p:nvPr/>
          </p:nvCxnSpPr>
          <p:spPr>
            <a:xfrm flipH="1">
              <a:off x="1958902" y="1828800"/>
              <a:ext cx="327098" cy="2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1DBB76DA-2325-F946-B73B-EE367B12B38B}"/>
              </a:ext>
            </a:extLst>
          </p:cNvPr>
          <p:cNvSpPr txBox="1"/>
          <p:nvPr/>
        </p:nvSpPr>
        <p:spPr>
          <a:xfrm>
            <a:off x="543991" y="2251229"/>
            <a:ext cx="3505200" cy="1785104"/>
          </a:xfrm>
          <a:prstGeom prst="rect">
            <a:avLst/>
          </a:prstGeom>
          <a:noFill/>
        </p:spPr>
        <p:txBody>
          <a:bodyPr wrap="square" rtlCol="0">
            <a:spAutoFit/>
          </a:bodyPr>
          <a:lstStyle/>
          <a:p>
            <a:pPr algn="ctr"/>
            <a:r>
              <a:rPr lang="en-US" sz="2200" dirty="0"/>
              <a:t>two threads of execution both accessing the </a:t>
            </a:r>
            <a:r>
              <a:rPr lang="en-US" sz="2200" b="1" dirty="0"/>
              <a:t>same object </a:t>
            </a:r>
            <a:r>
              <a:rPr lang="en-US" sz="2200" dirty="0"/>
              <a:t>at the </a:t>
            </a:r>
            <a:r>
              <a:rPr lang="en-US" sz="2200" b="1" dirty="0"/>
              <a:t>same time </a:t>
            </a:r>
            <a:r>
              <a:rPr lang="en-US" sz="2200" dirty="0"/>
              <a:t>can cause race conditions, deadlocks, and more.</a:t>
            </a:r>
            <a:endParaRPr lang="en-US" sz="2200" b="1" dirty="0">
              <a:latin typeface="Consolas" panose="020B0609020204030204" pitchFamily="49" charset="0"/>
              <a:cs typeface="Consolas" panose="020B0609020204030204" pitchFamily="49" charset="0"/>
            </a:endParaRPr>
          </a:p>
        </p:txBody>
      </p:sp>
      <p:sp>
        <p:nvSpPr>
          <p:cNvPr id="22" name="Rounded Rectangle 21">
            <a:extLst>
              <a:ext uri="{FF2B5EF4-FFF2-40B4-BE49-F238E27FC236}">
                <a16:creationId xmlns:a16="http://schemas.microsoft.com/office/drawing/2014/main" id="{752DA3FC-E57F-2C4A-97E7-30B76BD12C42}"/>
              </a:ext>
            </a:extLst>
          </p:cNvPr>
          <p:cNvSpPr/>
          <p:nvPr/>
        </p:nvSpPr>
        <p:spPr>
          <a:xfrm>
            <a:off x="6514257" y="1369629"/>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07EE0D4-CC5A-1D4E-A0D2-B09CE436EF69}"/>
              </a:ext>
            </a:extLst>
          </p:cNvPr>
          <p:cNvSpPr/>
          <p:nvPr/>
        </p:nvSpPr>
        <p:spPr>
          <a:xfrm>
            <a:off x="5176909" y="1107940"/>
            <a:ext cx="685800" cy="42242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nsolas" panose="020B0609020204030204" pitchFamily="49" charset="0"/>
                <a:cs typeface="Consolas" panose="020B0609020204030204" pitchFamily="49" charset="0"/>
              </a:rPr>
              <a:t>p</a:t>
            </a:r>
          </a:p>
        </p:txBody>
      </p:sp>
      <p:sp>
        <p:nvSpPr>
          <p:cNvPr id="21" name="Rectangle 20">
            <a:extLst>
              <a:ext uri="{FF2B5EF4-FFF2-40B4-BE49-F238E27FC236}">
                <a16:creationId xmlns:a16="http://schemas.microsoft.com/office/drawing/2014/main" id="{BAD3FCF2-0C6B-6740-AAB9-EF3FEAAE3C96}"/>
              </a:ext>
            </a:extLst>
          </p:cNvPr>
          <p:cNvSpPr/>
          <p:nvPr/>
        </p:nvSpPr>
        <p:spPr>
          <a:xfrm>
            <a:off x="5176909" y="1805435"/>
            <a:ext cx="685800" cy="42242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nsolas" panose="020B0609020204030204" pitchFamily="49" charset="0"/>
                <a:cs typeface="Consolas" panose="020B0609020204030204" pitchFamily="49" charset="0"/>
              </a:rPr>
              <a:t>q</a:t>
            </a:r>
          </a:p>
        </p:txBody>
      </p:sp>
      <p:cxnSp>
        <p:nvCxnSpPr>
          <p:cNvPr id="23" name="Straight Arrow Connector 22">
            <a:extLst>
              <a:ext uri="{FF2B5EF4-FFF2-40B4-BE49-F238E27FC236}">
                <a16:creationId xmlns:a16="http://schemas.microsoft.com/office/drawing/2014/main" id="{56F8CC53-90BB-AD49-99B6-DD2822796AF1}"/>
              </a:ext>
            </a:extLst>
          </p:cNvPr>
          <p:cNvCxnSpPr>
            <a:cxnSpLocks/>
            <a:stCxn id="20" idx="3"/>
          </p:cNvCxnSpPr>
          <p:nvPr/>
        </p:nvCxnSpPr>
        <p:spPr>
          <a:xfrm>
            <a:off x="5862709" y="1319155"/>
            <a:ext cx="642725" cy="1966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7AF9CA3-06B1-D745-8D0B-C3C5C7EFECAF}"/>
              </a:ext>
            </a:extLst>
          </p:cNvPr>
          <p:cNvCxnSpPr>
            <a:cxnSpLocks/>
            <a:stCxn id="21" idx="3"/>
          </p:cNvCxnSpPr>
          <p:nvPr/>
        </p:nvCxnSpPr>
        <p:spPr>
          <a:xfrm flipV="1">
            <a:off x="5862709" y="1746818"/>
            <a:ext cx="633099" cy="2698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91442E8-8213-3145-BE14-F56866482CCB}"/>
              </a:ext>
            </a:extLst>
          </p:cNvPr>
          <p:cNvSpPr txBox="1"/>
          <p:nvPr/>
        </p:nvSpPr>
        <p:spPr>
          <a:xfrm>
            <a:off x="4342557" y="2278736"/>
            <a:ext cx="4229100" cy="1446550"/>
          </a:xfrm>
          <a:prstGeom prst="rect">
            <a:avLst/>
          </a:prstGeom>
          <a:noFill/>
        </p:spPr>
        <p:txBody>
          <a:bodyPr wrap="square" rtlCol="0">
            <a:spAutoFit/>
          </a:bodyPr>
          <a:lstStyle/>
          <a:p>
            <a:pPr algn="ctr"/>
            <a:r>
              <a:rPr lang="en-US" sz="2200" dirty="0"/>
              <a:t>if the programmer can deallocate objects, two pointers pointing at the same thing can lead to </a:t>
            </a:r>
            <a:r>
              <a:rPr lang="en-US" sz="2200" b="1" dirty="0"/>
              <a:t>dangling pointers.</a:t>
            </a:r>
            <a:endParaRPr lang="en-US" sz="2200" b="1" dirty="0">
              <a:latin typeface="Consolas" panose="020B0609020204030204" pitchFamily="49" charset="0"/>
              <a:cs typeface="Consolas" panose="020B0609020204030204" pitchFamily="49" charset="0"/>
            </a:endParaRPr>
          </a:p>
        </p:txBody>
      </p:sp>
      <p:sp>
        <p:nvSpPr>
          <p:cNvPr id="43" name="TextBox 42">
            <a:extLst>
              <a:ext uri="{FF2B5EF4-FFF2-40B4-BE49-F238E27FC236}">
                <a16:creationId xmlns:a16="http://schemas.microsoft.com/office/drawing/2014/main" id="{A296BB2B-6569-914C-B55C-2A5A69A07565}"/>
              </a:ext>
            </a:extLst>
          </p:cNvPr>
          <p:cNvSpPr txBox="1"/>
          <p:nvPr/>
        </p:nvSpPr>
        <p:spPr>
          <a:xfrm>
            <a:off x="6101653" y="935422"/>
            <a:ext cx="1989541" cy="430887"/>
          </a:xfrm>
          <a:prstGeom prst="rect">
            <a:avLst/>
          </a:prstGeom>
          <a:noFill/>
        </p:spPr>
        <p:txBody>
          <a:bodyPr wrap="square" rtlCol="0">
            <a:spAutoFit/>
          </a:bodyPr>
          <a:lstStyle/>
          <a:p>
            <a:pPr algn="ctr"/>
            <a:r>
              <a:rPr lang="en-US" sz="2200" b="1" dirty="0">
                <a:solidFill>
                  <a:srgbClr val="FF0000"/>
                </a:solidFill>
                <a:latin typeface="Consolas" panose="020B0609020204030204" pitchFamily="49" charset="0"/>
                <a:cs typeface="Consolas" panose="020B0609020204030204" pitchFamily="49" charset="0"/>
              </a:rPr>
              <a:t>delete</a:t>
            </a:r>
            <a:r>
              <a:rPr lang="en-US" sz="2200" b="1" dirty="0">
                <a:latin typeface="Consolas" panose="020B0609020204030204" pitchFamily="49" charset="0"/>
                <a:cs typeface="Consolas" panose="020B0609020204030204" pitchFamily="49" charset="0"/>
              </a:rPr>
              <a:t> p;</a:t>
            </a:r>
          </a:p>
        </p:txBody>
      </p:sp>
      <p:sp>
        <p:nvSpPr>
          <p:cNvPr id="44" name="TextBox 43">
            <a:extLst>
              <a:ext uri="{FF2B5EF4-FFF2-40B4-BE49-F238E27FC236}">
                <a16:creationId xmlns:a16="http://schemas.microsoft.com/office/drawing/2014/main" id="{D0BBE5A9-3AA6-314E-8011-3920613B1575}"/>
              </a:ext>
            </a:extLst>
          </p:cNvPr>
          <p:cNvSpPr txBox="1"/>
          <p:nvPr/>
        </p:nvSpPr>
        <p:spPr>
          <a:xfrm>
            <a:off x="417908" y="4394857"/>
            <a:ext cx="6567092" cy="769441"/>
          </a:xfrm>
          <a:prstGeom prst="rect">
            <a:avLst/>
          </a:prstGeom>
          <a:noFill/>
        </p:spPr>
        <p:txBody>
          <a:bodyPr wrap="square" rtlCol="0">
            <a:spAutoFit/>
          </a:bodyPr>
          <a:lstStyle/>
          <a:p>
            <a:pPr algn="ctr"/>
            <a:r>
              <a:rPr lang="en-US" sz="2200" dirty="0"/>
              <a:t>other sources of dangling/invalid pointers are </a:t>
            </a:r>
            <a:r>
              <a:rPr lang="en-US" sz="2200" b="1" dirty="0"/>
              <a:t>pointer arithmetic </a:t>
            </a:r>
            <a:r>
              <a:rPr lang="en-US" sz="2200" dirty="0"/>
              <a:t>and </a:t>
            </a:r>
            <a:r>
              <a:rPr lang="en-US" sz="2200" b="1" dirty="0"/>
              <a:t>pointers to stack values.</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4211420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23"/>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animBg="1"/>
      <p:bldP spid="22" grpId="1" animBg="1"/>
      <p:bldP spid="20" grpId="0" animBg="1"/>
      <p:bldP spid="21" grpId="0" animBg="1"/>
      <p:bldP spid="42" grpId="0"/>
      <p:bldP spid="43" grpId="0"/>
      <p:bldP spid="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A9339-79DE-224C-8DB0-B34BC3DFE13C}"/>
              </a:ext>
            </a:extLst>
          </p:cNvPr>
          <p:cNvSpPr>
            <a:spLocks noGrp="1"/>
          </p:cNvSpPr>
          <p:nvPr>
            <p:ph type="ctrTitle"/>
          </p:nvPr>
        </p:nvSpPr>
        <p:spPr/>
        <p:txBody>
          <a:bodyPr/>
          <a:lstStyle/>
          <a:p>
            <a:r>
              <a:rPr lang="en-US" i="1" dirty="0"/>
              <a:t>Automatic</a:t>
            </a:r>
            <a:r>
              <a:rPr lang="en-US" dirty="0"/>
              <a:t> heap </a:t>
            </a:r>
            <a:br>
              <a:rPr lang="en-US" dirty="0"/>
            </a:br>
            <a:r>
              <a:rPr lang="en-US" dirty="0"/>
              <a:t>memory management</a:t>
            </a:r>
          </a:p>
        </p:txBody>
      </p:sp>
      <p:sp>
        <p:nvSpPr>
          <p:cNvPr id="4" name="Subtitle 3">
            <a:extLst>
              <a:ext uri="{FF2B5EF4-FFF2-40B4-BE49-F238E27FC236}">
                <a16:creationId xmlns:a16="http://schemas.microsoft.com/office/drawing/2014/main" id="{32E31C2B-5107-8A4E-BDF6-3111BA130C92}"/>
              </a:ext>
            </a:extLst>
          </p:cNvPr>
          <p:cNvSpPr>
            <a:spLocks noGrp="1"/>
          </p:cNvSpPr>
          <p:nvPr>
            <p:ph type="subTitle" idx="1"/>
          </p:nvPr>
        </p:nvSpPr>
        <p:spPr/>
        <p:txBody>
          <a:bodyPr>
            <a:normAutofit/>
          </a:bodyPr>
          <a:lstStyle/>
          <a:p>
            <a:r>
              <a:rPr lang="en-US" sz="1200" dirty="0"/>
              <a:t>time check ≤ 70 min</a:t>
            </a:r>
          </a:p>
        </p:txBody>
      </p:sp>
      <p:sp>
        <p:nvSpPr>
          <p:cNvPr id="3" name="Slide Number Placeholder 2">
            <a:extLst>
              <a:ext uri="{FF2B5EF4-FFF2-40B4-BE49-F238E27FC236}">
                <a16:creationId xmlns:a16="http://schemas.microsoft.com/office/drawing/2014/main" id="{F9385232-F4E1-4E40-AB36-8DB388D12A66}"/>
              </a:ext>
            </a:extLst>
          </p:cNvPr>
          <p:cNvSpPr>
            <a:spLocks noGrp="1"/>
          </p:cNvSpPr>
          <p:nvPr>
            <p:ph type="sldNum" sz="quarter" idx="12"/>
          </p:nvPr>
        </p:nvSpPr>
        <p:spPr/>
        <p:txBody>
          <a:bodyPr/>
          <a:lstStyle/>
          <a:p>
            <a:fld id="{3552B95B-556F-44BD-91A5-D80C1B9E2BB3}" type="slidenum">
              <a:rPr lang="en-US" smtClean="0"/>
              <a:pPr/>
              <a:t>22</a:t>
            </a:fld>
            <a:endParaRPr lang="en-US"/>
          </a:p>
        </p:txBody>
      </p:sp>
    </p:spTree>
    <p:extLst>
      <p:ext uri="{BB962C8B-B14F-4D97-AF65-F5344CB8AC3E}">
        <p14:creationId xmlns:p14="http://schemas.microsoft.com/office/powerpoint/2010/main" val="359075411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ounded Rectangle 105">
            <a:extLst>
              <a:ext uri="{FF2B5EF4-FFF2-40B4-BE49-F238E27FC236}">
                <a16:creationId xmlns:a16="http://schemas.microsoft.com/office/drawing/2014/main" id="{BE1D4769-200C-A748-BA5E-CDD459EB1AFC}"/>
              </a:ext>
            </a:extLst>
          </p:cNvPr>
          <p:cNvSpPr/>
          <p:nvPr/>
        </p:nvSpPr>
        <p:spPr>
          <a:xfrm>
            <a:off x="453103" y="3086864"/>
            <a:ext cx="838200" cy="918321"/>
          </a:xfrm>
          <a:prstGeom prst="roundRect">
            <a:avLst>
              <a:gd name="adj" fmla="val 8421"/>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0E2ABD-303F-6C41-9B8F-38DA736B9C74}"/>
              </a:ext>
            </a:extLst>
          </p:cNvPr>
          <p:cNvSpPr>
            <a:spLocks noGrp="1"/>
          </p:cNvSpPr>
          <p:nvPr>
            <p:ph type="title"/>
          </p:nvPr>
        </p:nvSpPr>
        <p:spPr/>
        <p:txBody>
          <a:bodyPr/>
          <a:lstStyle/>
          <a:p>
            <a:r>
              <a:rPr lang="en-US" dirty="0"/>
              <a:t>Hard for humans, easy for computers </a:t>
            </a:r>
            <a:r>
              <a:rPr lang="en-US" sz="2000" dirty="0"/>
              <a:t>(animated)</a:t>
            </a:r>
            <a:endParaRPr lang="en-US" dirty="0"/>
          </a:p>
        </p:txBody>
      </p:sp>
      <p:sp>
        <p:nvSpPr>
          <p:cNvPr id="3" name="Content Placeholder 2">
            <a:extLst>
              <a:ext uri="{FF2B5EF4-FFF2-40B4-BE49-F238E27FC236}">
                <a16:creationId xmlns:a16="http://schemas.microsoft.com/office/drawing/2014/main" id="{F4E11DCF-0961-2244-9E1C-F227061AC225}"/>
              </a:ext>
            </a:extLst>
          </p:cNvPr>
          <p:cNvSpPr>
            <a:spLocks noGrp="1"/>
          </p:cNvSpPr>
          <p:nvPr>
            <p:ph idx="1"/>
          </p:nvPr>
        </p:nvSpPr>
        <p:spPr>
          <a:xfrm>
            <a:off x="152400" y="495302"/>
            <a:ext cx="8991600" cy="495300"/>
          </a:xfrm>
        </p:spPr>
        <p:txBody>
          <a:bodyPr/>
          <a:lstStyle/>
          <a:p>
            <a:r>
              <a:rPr lang="en-US" b="1" dirty="0"/>
              <a:t>at a high level,</a:t>
            </a:r>
            <a:r>
              <a:rPr lang="en-US" dirty="0"/>
              <a:t> the problem is not that complicated.</a:t>
            </a:r>
          </a:p>
        </p:txBody>
      </p:sp>
      <p:sp>
        <p:nvSpPr>
          <p:cNvPr id="4" name="Slide Number Placeholder 3">
            <a:extLst>
              <a:ext uri="{FF2B5EF4-FFF2-40B4-BE49-F238E27FC236}">
                <a16:creationId xmlns:a16="http://schemas.microsoft.com/office/drawing/2014/main" id="{EDB702F4-31B1-A44C-8C41-0BAED7F297AD}"/>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57" name="Rounded Rectangle 56">
            <a:extLst>
              <a:ext uri="{FF2B5EF4-FFF2-40B4-BE49-F238E27FC236}">
                <a16:creationId xmlns:a16="http://schemas.microsoft.com/office/drawing/2014/main" id="{A2FDD0CA-0BC9-3A45-88D4-36BD0BEA077C}"/>
              </a:ext>
            </a:extLst>
          </p:cNvPr>
          <p:cNvSpPr/>
          <p:nvPr/>
        </p:nvSpPr>
        <p:spPr>
          <a:xfrm>
            <a:off x="457200" y="1689310"/>
            <a:ext cx="838200" cy="918321"/>
          </a:xfrm>
          <a:prstGeom prst="roundRect">
            <a:avLst>
              <a:gd name="adj" fmla="val 8421"/>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201119BE-D473-904E-B4CE-B30053F15032}"/>
              </a:ext>
            </a:extLst>
          </p:cNvPr>
          <p:cNvSpPr txBox="1"/>
          <p:nvPr/>
        </p:nvSpPr>
        <p:spPr>
          <a:xfrm>
            <a:off x="431627" y="1244061"/>
            <a:ext cx="889346" cy="430887"/>
          </a:xfrm>
          <a:prstGeom prst="rect">
            <a:avLst/>
          </a:prstGeom>
          <a:noFill/>
        </p:spPr>
        <p:txBody>
          <a:bodyPr wrap="none" rtlCol="0">
            <a:spAutoFit/>
          </a:bodyPr>
          <a:lstStyle/>
          <a:p>
            <a:pPr algn="ctr"/>
            <a:r>
              <a:rPr lang="en-US" sz="2200" b="1" u="sng" dirty="0"/>
              <a:t>Stack</a:t>
            </a:r>
          </a:p>
        </p:txBody>
      </p:sp>
      <p:grpSp>
        <p:nvGrpSpPr>
          <p:cNvPr id="113" name="Group 112">
            <a:extLst>
              <a:ext uri="{FF2B5EF4-FFF2-40B4-BE49-F238E27FC236}">
                <a16:creationId xmlns:a16="http://schemas.microsoft.com/office/drawing/2014/main" id="{0C175EE5-5745-B642-AB2A-A3C070DB3B6C}"/>
              </a:ext>
            </a:extLst>
          </p:cNvPr>
          <p:cNvGrpSpPr/>
          <p:nvPr/>
        </p:nvGrpSpPr>
        <p:grpSpPr>
          <a:xfrm>
            <a:off x="1940010" y="1547064"/>
            <a:ext cx="2356104" cy="533400"/>
            <a:chOff x="1940010" y="1547064"/>
            <a:chExt cx="2356104" cy="533400"/>
          </a:xfrm>
        </p:grpSpPr>
        <p:sp>
          <p:nvSpPr>
            <p:cNvPr id="60" name="Rounded Rectangle 59">
              <a:extLst>
                <a:ext uri="{FF2B5EF4-FFF2-40B4-BE49-F238E27FC236}">
                  <a16:creationId xmlns:a16="http://schemas.microsoft.com/office/drawing/2014/main" id="{4E59D098-9C00-5E48-A8FE-4B4F9353BBC9}"/>
                </a:ext>
              </a:extLst>
            </p:cNvPr>
            <p:cNvSpPr/>
            <p:nvPr/>
          </p:nvSpPr>
          <p:spPr>
            <a:xfrm>
              <a:off x="1940010" y="1547064"/>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ounded Rectangle 60">
              <a:extLst>
                <a:ext uri="{FF2B5EF4-FFF2-40B4-BE49-F238E27FC236}">
                  <a16:creationId xmlns:a16="http://schemas.microsoft.com/office/drawing/2014/main" id="{181AAACB-7B4C-BF4E-ADD4-BCC8BC62671D}"/>
                </a:ext>
              </a:extLst>
            </p:cNvPr>
            <p:cNvSpPr/>
            <p:nvPr/>
          </p:nvSpPr>
          <p:spPr>
            <a:xfrm>
              <a:off x="2854410" y="1547064"/>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a:extLst>
                <a:ext uri="{FF2B5EF4-FFF2-40B4-BE49-F238E27FC236}">
                  <a16:creationId xmlns:a16="http://schemas.microsoft.com/office/drawing/2014/main" id="{02BCFE42-DA8A-8647-A087-8B0846F7B1D9}"/>
                </a:ext>
              </a:extLst>
            </p:cNvPr>
            <p:cNvSpPr/>
            <p:nvPr/>
          </p:nvSpPr>
          <p:spPr>
            <a:xfrm>
              <a:off x="3765762" y="1547064"/>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a:extLst>
                <a:ext uri="{FF2B5EF4-FFF2-40B4-BE49-F238E27FC236}">
                  <a16:creationId xmlns:a16="http://schemas.microsoft.com/office/drawing/2014/main" id="{0BF3ADCE-E9D9-9344-8419-0F257993B788}"/>
                </a:ext>
              </a:extLst>
            </p:cNvPr>
            <p:cNvCxnSpPr>
              <a:stCxn id="60" idx="3"/>
              <a:endCxn id="61" idx="1"/>
            </p:cNvCxnSpPr>
            <p:nvPr/>
          </p:nvCxnSpPr>
          <p:spPr>
            <a:xfrm>
              <a:off x="2470362" y="1813764"/>
              <a:ext cx="3840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9EA1C11-16FF-6943-A13D-7C3707598673}"/>
                </a:ext>
              </a:extLst>
            </p:cNvPr>
            <p:cNvCxnSpPr>
              <a:cxnSpLocks/>
              <a:stCxn id="61" idx="3"/>
              <a:endCxn id="62" idx="1"/>
            </p:cNvCxnSpPr>
            <p:nvPr/>
          </p:nvCxnSpPr>
          <p:spPr>
            <a:xfrm>
              <a:off x="3384762" y="1813764"/>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5" name="Straight Arrow Connector 64">
            <a:extLst>
              <a:ext uri="{FF2B5EF4-FFF2-40B4-BE49-F238E27FC236}">
                <a16:creationId xmlns:a16="http://schemas.microsoft.com/office/drawing/2014/main" id="{E8737532-4492-1F45-B6EA-979AC04075F2}"/>
              </a:ext>
            </a:extLst>
          </p:cNvPr>
          <p:cNvCxnSpPr>
            <a:cxnSpLocks/>
            <a:endCxn id="60" idx="1"/>
          </p:cNvCxnSpPr>
          <p:nvPr/>
        </p:nvCxnSpPr>
        <p:spPr>
          <a:xfrm flipV="1">
            <a:off x="872203" y="1813764"/>
            <a:ext cx="1067807" cy="156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9" name="Group 108">
            <a:extLst>
              <a:ext uri="{FF2B5EF4-FFF2-40B4-BE49-F238E27FC236}">
                <a16:creationId xmlns:a16="http://schemas.microsoft.com/office/drawing/2014/main" id="{F6EC4E8D-A812-3A42-99F6-F3ABAF3C01CF}"/>
              </a:ext>
            </a:extLst>
          </p:cNvPr>
          <p:cNvGrpSpPr/>
          <p:nvPr/>
        </p:nvGrpSpPr>
        <p:grpSpPr>
          <a:xfrm>
            <a:off x="1940010" y="2161255"/>
            <a:ext cx="1444752" cy="1128836"/>
            <a:chOff x="4474143" y="1595691"/>
            <a:chExt cx="1444752" cy="1128836"/>
          </a:xfrm>
        </p:grpSpPr>
        <p:sp>
          <p:nvSpPr>
            <p:cNvPr id="76" name="Rounded Rectangle 75">
              <a:extLst>
                <a:ext uri="{FF2B5EF4-FFF2-40B4-BE49-F238E27FC236}">
                  <a16:creationId xmlns:a16="http://schemas.microsoft.com/office/drawing/2014/main" id="{8D8AAE16-E7B1-EA48-B5FC-863348DDFF83}"/>
                </a:ext>
              </a:extLst>
            </p:cNvPr>
            <p:cNvSpPr/>
            <p:nvPr/>
          </p:nvSpPr>
          <p:spPr>
            <a:xfrm>
              <a:off x="4474143" y="1929820"/>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5506B5DB-D4E2-3B46-968D-CD034574B048}"/>
                </a:ext>
              </a:extLst>
            </p:cNvPr>
            <p:cNvSpPr/>
            <p:nvPr/>
          </p:nvSpPr>
          <p:spPr>
            <a:xfrm>
              <a:off x="5388543" y="1595691"/>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ounded Rectangle 77">
              <a:extLst>
                <a:ext uri="{FF2B5EF4-FFF2-40B4-BE49-F238E27FC236}">
                  <a16:creationId xmlns:a16="http://schemas.microsoft.com/office/drawing/2014/main" id="{55206460-380A-254A-B5AD-F4E10A82DBA2}"/>
                </a:ext>
              </a:extLst>
            </p:cNvPr>
            <p:cNvSpPr/>
            <p:nvPr/>
          </p:nvSpPr>
          <p:spPr>
            <a:xfrm>
              <a:off x="5388543" y="219112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3E723C1D-0156-104C-941C-3E88CAA59069}"/>
                </a:ext>
              </a:extLst>
            </p:cNvPr>
            <p:cNvCxnSpPr>
              <a:cxnSpLocks/>
              <a:endCxn id="77" idx="1"/>
            </p:cNvCxnSpPr>
            <p:nvPr/>
          </p:nvCxnSpPr>
          <p:spPr>
            <a:xfrm flipV="1">
              <a:off x="5007543" y="1862391"/>
              <a:ext cx="381000" cy="2282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5AB44EE1-4812-C541-8024-28406F0106BE}"/>
                </a:ext>
              </a:extLst>
            </p:cNvPr>
            <p:cNvCxnSpPr>
              <a:cxnSpLocks/>
              <a:endCxn id="78" idx="1"/>
            </p:cNvCxnSpPr>
            <p:nvPr/>
          </p:nvCxnSpPr>
          <p:spPr>
            <a:xfrm>
              <a:off x="5007543" y="2271918"/>
              <a:ext cx="381000" cy="1859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1" name="Straight Arrow Connector 80">
            <a:extLst>
              <a:ext uri="{FF2B5EF4-FFF2-40B4-BE49-F238E27FC236}">
                <a16:creationId xmlns:a16="http://schemas.microsoft.com/office/drawing/2014/main" id="{9309DEAC-D0AF-2743-9912-B057F9F38337}"/>
              </a:ext>
            </a:extLst>
          </p:cNvPr>
          <p:cNvCxnSpPr>
            <a:cxnSpLocks/>
            <a:endCxn id="76" idx="1"/>
          </p:cNvCxnSpPr>
          <p:nvPr/>
        </p:nvCxnSpPr>
        <p:spPr>
          <a:xfrm>
            <a:off x="872203" y="2280453"/>
            <a:ext cx="1067807" cy="4816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95CDC4DF-6A9A-F54A-B922-DFCE797E6081}"/>
              </a:ext>
            </a:extLst>
          </p:cNvPr>
          <p:cNvCxnSpPr>
            <a:cxnSpLocks/>
            <a:endCxn id="96" idx="1"/>
          </p:cNvCxnSpPr>
          <p:nvPr/>
        </p:nvCxnSpPr>
        <p:spPr>
          <a:xfrm>
            <a:off x="885381" y="3433664"/>
            <a:ext cx="1054629" cy="5388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Rounded Rectangle 95">
            <a:extLst>
              <a:ext uri="{FF2B5EF4-FFF2-40B4-BE49-F238E27FC236}">
                <a16:creationId xmlns:a16="http://schemas.microsoft.com/office/drawing/2014/main" id="{319B68C2-7E3D-FC45-911E-3E017CD712B6}"/>
              </a:ext>
            </a:extLst>
          </p:cNvPr>
          <p:cNvSpPr/>
          <p:nvPr/>
        </p:nvSpPr>
        <p:spPr>
          <a:xfrm>
            <a:off x="1940010" y="3705844"/>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ounded Rectangle 96">
            <a:extLst>
              <a:ext uri="{FF2B5EF4-FFF2-40B4-BE49-F238E27FC236}">
                <a16:creationId xmlns:a16="http://schemas.microsoft.com/office/drawing/2014/main" id="{7A5A1C0F-1417-C94D-920B-889C0584BBFC}"/>
              </a:ext>
            </a:extLst>
          </p:cNvPr>
          <p:cNvSpPr/>
          <p:nvPr/>
        </p:nvSpPr>
        <p:spPr>
          <a:xfrm>
            <a:off x="2854410" y="3371715"/>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ounded Rectangle 97">
            <a:extLst>
              <a:ext uri="{FF2B5EF4-FFF2-40B4-BE49-F238E27FC236}">
                <a16:creationId xmlns:a16="http://schemas.microsoft.com/office/drawing/2014/main" id="{705BC23A-48CA-0C4C-891D-A3C2CB0B7054}"/>
              </a:ext>
            </a:extLst>
          </p:cNvPr>
          <p:cNvSpPr/>
          <p:nvPr/>
        </p:nvSpPr>
        <p:spPr>
          <a:xfrm>
            <a:off x="2854410" y="3967151"/>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Arrow Connector 98">
            <a:extLst>
              <a:ext uri="{FF2B5EF4-FFF2-40B4-BE49-F238E27FC236}">
                <a16:creationId xmlns:a16="http://schemas.microsoft.com/office/drawing/2014/main" id="{A3C94D47-3A01-EC42-A512-242CF5EB945B}"/>
              </a:ext>
            </a:extLst>
          </p:cNvPr>
          <p:cNvCxnSpPr>
            <a:cxnSpLocks/>
            <a:endCxn id="97" idx="1"/>
          </p:cNvCxnSpPr>
          <p:nvPr/>
        </p:nvCxnSpPr>
        <p:spPr>
          <a:xfrm flipV="1">
            <a:off x="2473410" y="3638415"/>
            <a:ext cx="381000" cy="2282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AB58CED2-203A-CA46-925D-DAFB4D728853}"/>
              </a:ext>
            </a:extLst>
          </p:cNvPr>
          <p:cNvCxnSpPr>
            <a:cxnSpLocks/>
            <a:endCxn id="98" idx="1"/>
          </p:cNvCxnSpPr>
          <p:nvPr/>
        </p:nvCxnSpPr>
        <p:spPr>
          <a:xfrm>
            <a:off x="2473410" y="4047942"/>
            <a:ext cx="381000" cy="1859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Rounded Rectangle 101">
            <a:extLst>
              <a:ext uri="{FF2B5EF4-FFF2-40B4-BE49-F238E27FC236}">
                <a16:creationId xmlns:a16="http://schemas.microsoft.com/office/drawing/2014/main" id="{FEA089B9-CB6C-DF40-9C7A-2F73DC444A11}"/>
              </a:ext>
            </a:extLst>
          </p:cNvPr>
          <p:cNvSpPr/>
          <p:nvPr/>
        </p:nvSpPr>
        <p:spPr>
          <a:xfrm>
            <a:off x="3814678" y="369573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Straight Arrow Connector 102">
            <a:extLst>
              <a:ext uri="{FF2B5EF4-FFF2-40B4-BE49-F238E27FC236}">
                <a16:creationId xmlns:a16="http://schemas.microsoft.com/office/drawing/2014/main" id="{C459FC06-CD64-9744-B316-34C776D4CE89}"/>
              </a:ext>
            </a:extLst>
          </p:cNvPr>
          <p:cNvCxnSpPr>
            <a:cxnSpLocks/>
            <a:stCxn id="97" idx="3"/>
          </p:cNvCxnSpPr>
          <p:nvPr/>
        </p:nvCxnSpPr>
        <p:spPr>
          <a:xfrm>
            <a:off x="3384762" y="3638415"/>
            <a:ext cx="428867" cy="2562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C095458-749D-3940-A4B3-93EE2E390B37}"/>
              </a:ext>
            </a:extLst>
          </p:cNvPr>
          <p:cNvCxnSpPr>
            <a:cxnSpLocks/>
            <a:stCxn id="98" idx="3"/>
          </p:cNvCxnSpPr>
          <p:nvPr/>
        </p:nvCxnSpPr>
        <p:spPr>
          <a:xfrm flipV="1">
            <a:off x="3384762" y="4039023"/>
            <a:ext cx="428867" cy="1948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9127A501-24E9-8049-8882-3CD04EBE3D72}"/>
              </a:ext>
            </a:extLst>
          </p:cNvPr>
          <p:cNvSpPr txBox="1"/>
          <p:nvPr/>
        </p:nvSpPr>
        <p:spPr>
          <a:xfrm>
            <a:off x="289128" y="2641615"/>
            <a:ext cx="1166153" cy="430887"/>
          </a:xfrm>
          <a:prstGeom prst="rect">
            <a:avLst/>
          </a:prstGeom>
          <a:noFill/>
        </p:spPr>
        <p:txBody>
          <a:bodyPr wrap="none" rtlCol="0">
            <a:spAutoFit/>
          </a:bodyPr>
          <a:lstStyle/>
          <a:p>
            <a:pPr algn="ctr"/>
            <a:r>
              <a:rPr lang="en-US" sz="2200" b="1" u="sng" dirty="0" err="1"/>
              <a:t>Globals</a:t>
            </a:r>
            <a:endParaRPr lang="en-US" sz="2200" b="1" u="sng" dirty="0"/>
          </a:p>
        </p:txBody>
      </p:sp>
      <p:sp>
        <p:nvSpPr>
          <p:cNvPr id="114" name="TextBox 113">
            <a:extLst>
              <a:ext uri="{FF2B5EF4-FFF2-40B4-BE49-F238E27FC236}">
                <a16:creationId xmlns:a16="http://schemas.microsoft.com/office/drawing/2014/main" id="{A1DB25E8-88CD-684D-8D46-57D1F8FE69B3}"/>
              </a:ext>
            </a:extLst>
          </p:cNvPr>
          <p:cNvSpPr txBox="1"/>
          <p:nvPr/>
        </p:nvSpPr>
        <p:spPr>
          <a:xfrm>
            <a:off x="897413" y="938250"/>
            <a:ext cx="5142353" cy="430887"/>
          </a:xfrm>
          <a:prstGeom prst="rect">
            <a:avLst/>
          </a:prstGeom>
          <a:noFill/>
        </p:spPr>
        <p:txBody>
          <a:bodyPr wrap="square" rtlCol="0">
            <a:spAutoFit/>
          </a:bodyPr>
          <a:lstStyle/>
          <a:p>
            <a:pPr algn="ctr"/>
            <a:r>
              <a:rPr lang="en-US" sz="2200" dirty="0"/>
              <a:t>objects and pointers form </a:t>
            </a:r>
            <a:r>
              <a:rPr lang="en-US" sz="2200" b="1" dirty="0"/>
              <a:t>graphs.</a:t>
            </a:r>
            <a:endParaRPr lang="en-US" sz="2200" b="1" dirty="0">
              <a:latin typeface="Consolas" panose="020B0609020204030204" pitchFamily="49" charset="0"/>
              <a:cs typeface="Consolas" panose="020B0609020204030204" pitchFamily="49" charset="0"/>
            </a:endParaRPr>
          </a:p>
        </p:txBody>
      </p:sp>
      <p:sp>
        <p:nvSpPr>
          <p:cNvPr id="118" name="TextBox 117">
            <a:extLst>
              <a:ext uri="{FF2B5EF4-FFF2-40B4-BE49-F238E27FC236}">
                <a16:creationId xmlns:a16="http://schemas.microsoft.com/office/drawing/2014/main" id="{03F4D829-3DEB-254C-838E-0B845C7E3A70}"/>
              </a:ext>
            </a:extLst>
          </p:cNvPr>
          <p:cNvSpPr txBox="1"/>
          <p:nvPr/>
        </p:nvSpPr>
        <p:spPr>
          <a:xfrm>
            <a:off x="152400" y="4346091"/>
            <a:ext cx="2702010" cy="769441"/>
          </a:xfrm>
          <a:prstGeom prst="rect">
            <a:avLst/>
          </a:prstGeom>
          <a:noFill/>
        </p:spPr>
        <p:txBody>
          <a:bodyPr wrap="square" rtlCol="0">
            <a:spAutoFit/>
          </a:bodyPr>
          <a:lstStyle/>
          <a:p>
            <a:pPr algn="ctr"/>
            <a:r>
              <a:rPr lang="en-US" sz="2200" dirty="0"/>
              <a:t>the </a:t>
            </a:r>
            <a:r>
              <a:rPr lang="en-US" sz="2200" b="1" dirty="0"/>
              <a:t>roots </a:t>
            </a:r>
            <a:r>
              <a:rPr lang="en-US" sz="2200" dirty="0"/>
              <a:t>are the stack(s) and </a:t>
            </a:r>
            <a:r>
              <a:rPr lang="en-US" sz="2200" dirty="0" err="1"/>
              <a:t>globals</a:t>
            </a:r>
            <a:r>
              <a:rPr lang="en-US" sz="2200" dirty="0"/>
              <a:t>.</a:t>
            </a:r>
            <a:endParaRPr lang="en-US" sz="2200" b="1" dirty="0">
              <a:latin typeface="Consolas" panose="020B0609020204030204" pitchFamily="49" charset="0"/>
              <a:cs typeface="Consolas" panose="020B0609020204030204" pitchFamily="49" charset="0"/>
            </a:endParaRPr>
          </a:p>
        </p:txBody>
      </p:sp>
      <p:sp>
        <p:nvSpPr>
          <p:cNvPr id="119" name="TextBox 118">
            <a:extLst>
              <a:ext uri="{FF2B5EF4-FFF2-40B4-BE49-F238E27FC236}">
                <a16:creationId xmlns:a16="http://schemas.microsoft.com/office/drawing/2014/main" id="{B6AF8CA5-18A2-BF4B-9F2A-04F3266183E3}"/>
              </a:ext>
            </a:extLst>
          </p:cNvPr>
          <p:cNvSpPr txBox="1"/>
          <p:nvPr/>
        </p:nvSpPr>
        <p:spPr>
          <a:xfrm>
            <a:off x="4653327" y="1387388"/>
            <a:ext cx="4033473" cy="1107996"/>
          </a:xfrm>
          <a:prstGeom prst="rect">
            <a:avLst/>
          </a:prstGeom>
          <a:noFill/>
        </p:spPr>
        <p:txBody>
          <a:bodyPr wrap="square" rtlCol="0">
            <a:spAutoFit/>
          </a:bodyPr>
          <a:lstStyle/>
          <a:p>
            <a:pPr algn="ctr"/>
            <a:r>
              <a:rPr lang="en-US" sz="2200" b="1" dirty="0"/>
              <a:t>reachable </a:t>
            </a:r>
            <a:r>
              <a:rPr lang="en-US" sz="2200" dirty="0"/>
              <a:t>objects are pointed to – </a:t>
            </a:r>
            <a:r>
              <a:rPr lang="en-US" sz="2200" i="1" dirty="0"/>
              <a:t>directly</a:t>
            </a:r>
            <a:r>
              <a:rPr lang="en-US" sz="2200" dirty="0"/>
              <a:t> or </a:t>
            </a:r>
            <a:r>
              <a:rPr lang="en-US" sz="2200" i="1" dirty="0"/>
              <a:t>transitively</a:t>
            </a:r>
            <a:r>
              <a:rPr lang="en-US" sz="2200" dirty="0"/>
              <a:t> – from the roots.</a:t>
            </a:r>
            <a:endParaRPr lang="en-US" sz="2200" b="1" dirty="0">
              <a:latin typeface="Consolas" panose="020B0609020204030204" pitchFamily="49" charset="0"/>
              <a:cs typeface="Consolas" panose="020B0609020204030204" pitchFamily="49" charset="0"/>
            </a:endParaRPr>
          </a:p>
        </p:txBody>
      </p:sp>
      <p:sp>
        <p:nvSpPr>
          <p:cNvPr id="120" name="TextBox 119">
            <a:extLst>
              <a:ext uri="{FF2B5EF4-FFF2-40B4-BE49-F238E27FC236}">
                <a16:creationId xmlns:a16="http://schemas.microsoft.com/office/drawing/2014/main" id="{F382BFFA-53F3-5D4A-B9E2-F29D2157800C}"/>
              </a:ext>
            </a:extLst>
          </p:cNvPr>
          <p:cNvSpPr txBox="1"/>
          <p:nvPr/>
        </p:nvSpPr>
        <p:spPr>
          <a:xfrm>
            <a:off x="4460910" y="2756152"/>
            <a:ext cx="4382733" cy="1446550"/>
          </a:xfrm>
          <a:prstGeom prst="rect">
            <a:avLst/>
          </a:prstGeom>
          <a:noFill/>
        </p:spPr>
        <p:txBody>
          <a:bodyPr wrap="square" rtlCol="0">
            <a:spAutoFit/>
          </a:bodyPr>
          <a:lstStyle/>
          <a:p>
            <a:pPr algn="ctr"/>
            <a:r>
              <a:rPr lang="en-US" sz="2200" dirty="0"/>
              <a:t>any objects that become </a:t>
            </a:r>
            <a:r>
              <a:rPr lang="en-US" sz="2200" b="1" dirty="0"/>
              <a:t>unreachable</a:t>
            </a:r>
            <a:r>
              <a:rPr lang="en-US" sz="2200" dirty="0"/>
              <a:t> can never be used by the program again, and are therefore safe to deallocate.</a:t>
            </a:r>
            <a:endParaRPr lang="en-US" sz="2200" dirty="0">
              <a:latin typeface="Consolas" panose="020B0609020204030204" pitchFamily="49" charset="0"/>
              <a:cs typeface="Consolas" panose="020B0609020204030204" pitchFamily="49" charset="0"/>
            </a:endParaRPr>
          </a:p>
        </p:txBody>
      </p:sp>
      <p:sp>
        <p:nvSpPr>
          <p:cNvPr id="121" name="TextBox 120">
            <a:extLst>
              <a:ext uri="{FF2B5EF4-FFF2-40B4-BE49-F238E27FC236}">
                <a16:creationId xmlns:a16="http://schemas.microsoft.com/office/drawing/2014/main" id="{48D38CD4-AF48-D142-BF26-9A11D777BC19}"/>
              </a:ext>
            </a:extLst>
          </p:cNvPr>
          <p:cNvSpPr txBox="1"/>
          <p:nvPr/>
        </p:nvSpPr>
        <p:spPr>
          <a:xfrm>
            <a:off x="3895405" y="4346091"/>
            <a:ext cx="4382733" cy="1107996"/>
          </a:xfrm>
          <a:prstGeom prst="rect">
            <a:avLst/>
          </a:prstGeom>
          <a:noFill/>
        </p:spPr>
        <p:txBody>
          <a:bodyPr wrap="square" rtlCol="0">
            <a:spAutoFit/>
          </a:bodyPr>
          <a:lstStyle/>
          <a:p>
            <a:pPr algn="ctr"/>
            <a:r>
              <a:rPr lang="en-US" sz="2200" dirty="0"/>
              <a:t>this gives us a simple* rule: </a:t>
            </a:r>
            <a:r>
              <a:rPr lang="en-US" sz="2200" b="1" dirty="0"/>
              <a:t>an object's lifetime ends when its in-degree reaches 0.</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668959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10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96"/>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99"/>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00"/>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9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04"/>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03"/>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9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1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57" grpId="0" animBg="1"/>
      <p:bldP spid="58" grpId="0"/>
      <p:bldP spid="96" grpId="0" animBg="1"/>
      <p:bldP spid="96" grpId="1" animBg="1"/>
      <p:bldP spid="97" grpId="0" animBg="1"/>
      <p:bldP spid="97" grpId="1" animBg="1"/>
      <p:bldP spid="98" grpId="0" animBg="1"/>
      <p:bldP spid="98" grpId="1" animBg="1"/>
      <p:bldP spid="102" grpId="0" animBg="1"/>
      <p:bldP spid="102" grpId="1" animBg="1"/>
      <p:bldP spid="107" grpId="0"/>
      <p:bldP spid="114" grpId="0"/>
      <p:bldP spid="118" grpId="0"/>
      <p:bldP spid="119" grpId="0"/>
      <p:bldP spid="120" grpId="0"/>
      <p:bldP spid="1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56CDF-3FCC-6045-91A8-92F6AB8CC3B0}"/>
              </a:ext>
            </a:extLst>
          </p:cNvPr>
          <p:cNvSpPr>
            <a:spLocks noGrp="1"/>
          </p:cNvSpPr>
          <p:nvPr>
            <p:ph type="title"/>
          </p:nvPr>
        </p:nvSpPr>
        <p:spPr/>
        <p:txBody>
          <a:bodyPr/>
          <a:lstStyle/>
          <a:p>
            <a:r>
              <a:rPr lang="en-US" dirty="0"/>
              <a:t>Counting the arrows by… counting them </a:t>
            </a:r>
            <a:r>
              <a:rPr lang="en-US" sz="2000" dirty="0"/>
              <a:t>(animated)</a:t>
            </a:r>
            <a:endParaRPr lang="en-US" dirty="0"/>
          </a:p>
        </p:txBody>
      </p:sp>
      <p:sp>
        <p:nvSpPr>
          <p:cNvPr id="3" name="Content Placeholder 2">
            <a:extLst>
              <a:ext uri="{FF2B5EF4-FFF2-40B4-BE49-F238E27FC236}">
                <a16:creationId xmlns:a16="http://schemas.microsoft.com/office/drawing/2014/main" id="{F2A273ED-0A67-0149-9E2C-5BD205958ABF}"/>
              </a:ext>
            </a:extLst>
          </p:cNvPr>
          <p:cNvSpPr>
            <a:spLocks noGrp="1"/>
          </p:cNvSpPr>
          <p:nvPr>
            <p:ph idx="1"/>
          </p:nvPr>
        </p:nvSpPr>
        <p:spPr>
          <a:xfrm>
            <a:off x="152400" y="495301"/>
            <a:ext cx="8991600" cy="838199"/>
          </a:xfrm>
        </p:spPr>
        <p:txBody>
          <a:bodyPr/>
          <a:lstStyle/>
          <a:p>
            <a:r>
              <a:rPr lang="en-US" b="1" dirty="0"/>
              <a:t>reference counting (</a:t>
            </a:r>
            <a:r>
              <a:rPr lang="en-US" b="1" dirty="0" err="1"/>
              <a:t>refcounting</a:t>
            </a:r>
            <a:r>
              <a:rPr lang="en-US" b="1" dirty="0"/>
              <a:t>) </a:t>
            </a:r>
            <a:r>
              <a:rPr lang="en-US" i="1" dirty="0"/>
              <a:t>explicitly</a:t>
            </a:r>
            <a:r>
              <a:rPr lang="en-US" dirty="0"/>
              <a:t> tracks the number of arrows pointing to an object at any given time.</a:t>
            </a:r>
            <a:endParaRPr lang="en-US" b="1" dirty="0"/>
          </a:p>
        </p:txBody>
      </p:sp>
      <p:sp>
        <p:nvSpPr>
          <p:cNvPr id="4" name="Slide Number Placeholder 3">
            <a:extLst>
              <a:ext uri="{FF2B5EF4-FFF2-40B4-BE49-F238E27FC236}">
                <a16:creationId xmlns:a16="http://schemas.microsoft.com/office/drawing/2014/main" id="{C4DD1163-CB2E-884A-9D8C-846467242271}"/>
              </a:ext>
            </a:extLst>
          </p:cNvPr>
          <p:cNvSpPr>
            <a:spLocks noGrp="1"/>
          </p:cNvSpPr>
          <p:nvPr>
            <p:ph type="sldNum" sz="quarter" idx="12"/>
          </p:nvPr>
        </p:nvSpPr>
        <p:spPr/>
        <p:txBody>
          <a:bodyPr/>
          <a:lstStyle/>
          <a:p>
            <a:fld id="{3552B95B-556F-44BD-91A5-D80C1B9E2BB3}" type="slidenum">
              <a:rPr lang="en-US" smtClean="0"/>
              <a:pPr/>
              <a:t>24</a:t>
            </a:fld>
            <a:endParaRPr lang="en-US"/>
          </a:p>
        </p:txBody>
      </p:sp>
      <p:sp>
        <p:nvSpPr>
          <p:cNvPr id="5" name="Rounded Rectangle 4">
            <a:extLst>
              <a:ext uri="{FF2B5EF4-FFF2-40B4-BE49-F238E27FC236}">
                <a16:creationId xmlns:a16="http://schemas.microsoft.com/office/drawing/2014/main" id="{2146E023-EB16-DD4D-A9D9-A0230EF257D2}"/>
              </a:ext>
            </a:extLst>
          </p:cNvPr>
          <p:cNvSpPr/>
          <p:nvPr/>
        </p:nvSpPr>
        <p:spPr>
          <a:xfrm>
            <a:off x="6172200" y="2168491"/>
            <a:ext cx="2133600" cy="1008647"/>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800" b="1" dirty="0">
                <a:solidFill>
                  <a:schemeClr val="tx1"/>
                </a:solidFill>
                <a:latin typeface="Consolas" panose="020B0609020204030204" pitchFamily="49" charset="0"/>
                <a:cs typeface="Consolas" panose="020B0609020204030204" pitchFamily="49" charset="0"/>
              </a:rPr>
              <a:t>   </a:t>
            </a:r>
            <a:r>
              <a:rPr lang="en-US" sz="1800" b="1" dirty="0" err="1">
                <a:solidFill>
                  <a:schemeClr val="tx1"/>
                </a:solidFill>
                <a:latin typeface="Consolas" panose="020B0609020204030204" pitchFamily="49" charset="0"/>
                <a:cs typeface="Consolas" panose="020B0609020204030204" pitchFamily="49" charset="0"/>
              </a:rPr>
              <a:t>vtbl</a:t>
            </a:r>
            <a:r>
              <a:rPr lang="en-US" sz="1800" b="1" dirty="0">
                <a:solidFill>
                  <a:schemeClr val="tx1"/>
                </a:solidFill>
                <a:latin typeface="Consolas" panose="020B0609020204030204" pitchFamily="49" charset="0"/>
                <a:cs typeface="Consolas" panose="020B0609020204030204" pitchFamily="49" charset="0"/>
              </a:rPr>
              <a:t>: …</a:t>
            </a:r>
          </a:p>
          <a:p>
            <a:r>
              <a:rPr lang="en-US" sz="1800" b="1" dirty="0">
                <a:solidFill>
                  <a:schemeClr val="tx1"/>
                </a:solidFill>
                <a:latin typeface="Consolas" panose="020B0609020204030204" pitchFamily="49" charset="0"/>
                <a:cs typeface="Consolas" panose="020B0609020204030204" pitchFamily="49" charset="0"/>
              </a:rPr>
              <a:t>   refs:</a:t>
            </a:r>
          </a:p>
          <a:p>
            <a:r>
              <a:rPr lang="en-US" sz="1800" b="1" dirty="0">
                <a:solidFill>
                  <a:schemeClr val="tx1"/>
                </a:solidFill>
                <a:latin typeface="Consolas" panose="020B0609020204030204" pitchFamily="49" charset="0"/>
                <a:cs typeface="Consolas" panose="020B0609020204030204" pitchFamily="49" charset="0"/>
              </a:rPr>
              <a:t>species: "ant"</a:t>
            </a:r>
          </a:p>
        </p:txBody>
      </p:sp>
      <p:sp>
        <p:nvSpPr>
          <p:cNvPr id="6" name="TextBox 5">
            <a:extLst>
              <a:ext uri="{FF2B5EF4-FFF2-40B4-BE49-F238E27FC236}">
                <a16:creationId xmlns:a16="http://schemas.microsoft.com/office/drawing/2014/main" id="{272FA1E8-3D7D-BB41-BFFC-703134DB1A8D}"/>
              </a:ext>
            </a:extLst>
          </p:cNvPr>
          <p:cNvSpPr txBox="1"/>
          <p:nvPr/>
        </p:nvSpPr>
        <p:spPr>
          <a:xfrm>
            <a:off x="643376" y="2176133"/>
            <a:ext cx="3048000" cy="1785104"/>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Ant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Ant();</a:t>
            </a:r>
          </a:p>
          <a:p>
            <a:r>
              <a:rPr lang="en-US" sz="2200" b="1" dirty="0">
                <a:latin typeface="Consolas" panose="020B0609020204030204" pitchFamily="49" charset="0"/>
                <a:cs typeface="Consolas" panose="020B0609020204030204" pitchFamily="49" charset="0"/>
              </a:rPr>
              <a:t>Ant b = a;</a:t>
            </a:r>
          </a:p>
          <a:p>
            <a:r>
              <a:rPr lang="en-US" sz="2200" b="1" dirty="0">
                <a:latin typeface="Consolas" panose="020B0609020204030204" pitchFamily="49" charset="0"/>
                <a:cs typeface="Consolas" panose="020B0609020204030204" pitchFamily="49" charset="0"/>
              </a:rPr>
              <a:t>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Ant();</a:t>
            </a:r>
          </a:p>
          <a:p>
            <a:r>
              <a:rPr lang="en-US" sz="2200" b="1" dirty="0">
                <a:latin typeface="Consolas" panose="020B0609020204030204" pitchFamily="49" charset="0"/>
                <a:cs typeface="Consolas" panose="020B0609020204030204" pitchFamily="49" charset="0"/>
              </a:rPr>
              <a:t>b = </a:t>
            </a:r>
            <a:r>
              <a:rPr lang="en-US" sz="2200" b="1" dirty="0">
                <a:solidFill>
                  <a:srgbClr val="FF0000"/>
                </a:solidFill>
                <a:latin typeface="Consolas" panose="020B0609020204030204" pitchFamily="49" charset="0"/>
                <a:cs typeface="Consolas" panose="020B0609020204030204" pitchFamily="49" charset="0"/>
              </a:rPr>
              <a:t>null</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a = </a:t>
            </a:r>
            <a:r>
              <a:rPr lang="en-US" sz="2200" b="1" dirty="0">
                <a:solidFill>
                  <a:srgbClr val="FF0000"/>
                </a:solidFill>
                <a:latin typeface="Consolas" panose="020B0609020204030204" pitchFamily="49" charset="0"/>
                <a:cs typeface="Consolas" panose="020B0609020204030204" pitchFamily="49" charset="0"/>
              </a:rPr>
              <a:t>null</a:t>
            </a:r>
            <a:r>
              <a:rPr lang="en-US" sz="2200" b="1" dirty="0">
                <a:latin typeface="Consolas" panose="020B0609020204030204" pitchFamily="49" charset="0"/>
                <a:cs typeface="Consolas" panose="020B0609020204030204" pitchFamily="49" charset="0"/>
              </a:rPr>
              <a:t>;</a:t>
            </a:r>
          </a:p>
        </p:txBody>
      </p:sp>
      <p:sp>
        <p:nvSpPr>
          <p:cNvPr id="7" name="Rounded Rectangle 6">
            <a:extLst>
              <a:ext uri="{FF2B5EF4-FFF2-40B4-BE49-F238E27FC236}">
                <a16:creationId xmlns:a16="http://schemas.microsoft.com/office/drawing/2014/main" id="{749D052C-2C16-9C44-9C3A-43907872BE2C}"/>
              </a:ext>
            </a:extLst>
          </p:cNvPr>
          <p:cNvSpPr/>
          <p:nvPr/>
        </p:nvSpPr>
        <p:spPr>
          <a:xfrm>
            <a:off x="6172200" y="3598244"/>
            <a:ext cx="2133600" cy="1008647"/>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800" b="1" dirty="0">
                <a:solidFill>
                  <a:schemeClr val="tx1"/>
                </a:solidFill>
                <a:latin typeface="Consolas" panose="020B0609020204030204" pitchFamily="49" charset="0"/>
                <a:cs typeface="Consolas" panose="020B0609020204030204" pitchFamily="49" charset="0"/>
              </a:rPr>
              <a:t>   </a:t>
            </a:r>
            <a:r>
              <a:rPr lang="en-US" sz="1800" b="1" dirty="0" err="1">
                <a:solidFill>
                  <a:schemeClr val="tx1"/>
                </a:solidFill>
                <a:latin typeface="Consolas" panose="020B0609020204030204" pitchFamily="49" charset="0"/>
                <a:cs typeface="Consolas" panose="020B0609020204030204" pitchFamily="49" charset="0"/>
              </a:rPr>
              <a:t>vtbl</a:t>
            </a:r>
            <a:r>
              <a:rPr lang="en-US" sz="1800" b="1" dirty="0">
                <a:solidFill>
                  <a:schemeClr val="tx1"/>
                </a:solidFill>
                <a:latin typeface="Consolas" panose="020B0609020204030204" pitchFamily="49" charset="0"/>
                <a:cs typeface="Consolas" panose="020B0609020204030204" pitchFamily="49" charset="0"/>
              </a:rPr>
              <a:t>: …</a:t>
            </a:r>
          </a:p>
          <a:p>
            <a:r>
              <a:rPr lang="en-US" sz="1800" b="1" dirty="0">
                <a:solidFill>
                  <a:schemeClr val="tx1"/>
                </a:solidFill>
                <a:latin typeface="Consolas" panose="020B0609020204030204" pitchFamily="49" charset="0"/>
                <a:cs typeface="Consolas" panose="020B0609020204030204" pitchFamily="49" charset="0"/>
              </a:rPr>
              <a:t>   refs:</a:t>
            </a:r>
          </a:p>
          <a:p>
            <a:r>
              <a:rPr lang="en-US" sz="1800" b="1" dirty="0">
                <a:solidFill>
                  <a:schemeClr val="tx1"/>
                </a:solidFill>
                <a:latin typeface="Consolas" panose="020B0609020204030204" pitchFamily="49" charset="0"/>
                <a:cs typeface="Consolas" panose="020B0609020204030204" pitchFamily="49" charset="0"/>
              </a:rPr>
              <a:t>species: "ant"</a:t>
            </a:r>
          </a:p>
        </p:txBody>
      </p:sp>
      <p:sp>
        <p:nvSpPr>
          <p:cNvPr id="12" name="Rectangle 11">
            <a:extLst>
              <a:ext uri="{FF2B5EF4-FFF2-40B4-BE49-F238E27FC236}">
                <a16:creationId xmlns:a16="http://schemas.microsoft.com/office/drawing/2014/main" id="{D7D9E6D2-5F39-7545-9B2A-C82C0557A16B}"/>
              </a:ext>
            </a:extLst>
          </p:cNvPr>
          <p:cNvSpPr/>
          <p:nvPr/>
        </p:nvSpPr>
        <p:spPr>
          <a:xfrm>
            <a:off x="4346372" y="2276282"/>
            <a:ext cx="685800" cy="42242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nsolas" panose="020B0609020204030204" pitchFamily="49" charset="0"/>
                <a:cs typeface="Consolas" panose="020B0609020204030204" pitchFamily="49" charset="0"/>
              </a:rPr>
              <a:t>a</a:t>
            </a:r>
          </a:p>
        </p:txBody>
      </p:sp>
      <p:sp>
        <p:nvSpPr>
          <p:cNvPr id="13" name="Rectangle 12">
            <a:extLst>
              <a:ext uri="{FF2B5EF4-FFF2-40B4-BE49-F238E27FC236}">
                <a16:creationId xmlns:a16="http://schemas.microsoft.com/office/drawing/2014/main" id="{E29332C1-9724-0248-B307-C997CD3E756A}"/>
              </a:ext>
            </a:extLst>
          </p:cNvPr>
          <p:cNvSpPr/>
          <p:nvPr/>
        </p:nvSpPr>
        <p:spPr>
          <a:xfrm>
            <a:off x="4346372" y="2857471"/>
            <a:ext cx="685800" cy="42242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nsolas" panose="020B0609020204030204" pitchFamily="49" charset="0"/>
                <a:cs typeface="Consolas" panose="020B0609020204030204" pitchFamily="49" charset="0"/>
              </a:rPr>
              <a:t>b</a:t>
            </a:r>
          </a:p>
        </p:txBody>
      </p:sp>
      <p:cxnSp>
        <p:nvCxnSpPr>
          <p:cNvPr id="14" name="Straight Arrow Connector 13">
            <a:extLst>
              <a:ext uri="{FF2B5EF4-FFF2-40B4-BE49-F238E27FC236}">
                <a16:creationId xmlns:a16="http://schemas.microsoft.com/office/drawing/2014/main" id="{9F947227-475C-C048-9200-9EA7AADBDF96}"/>
              </a:ext>
            </a:extLst>
          </p:cNvPr>
          <p:cNvCxnSpPr>
            <a:cxnSpLocks/>
            <a:stCxn id="12" idx="3"/>
          </p:cNvCxnSpPr>
          <p:nvPr/>
        </p:nvCxnSpPr>
        <p:spPr>
          <a:xfrm>
            <a:off x="5032172" y="2487497"/>
            <a:ext cx="1140028" cy="252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42A9BD2-CD80-4045-854F-70CFDEB709A6}"/>
              </a:ext>
            </a:extLst>
          </p:cNvPr>
          <p:cNvCxnSpPr>
            <a:cxnSpLocks/>
            <a:stCxn id="13" idx="3"/>
          </p:cNvCxnSpPr>
          <p:nvPr/>
        </p:nvCxnSpPr>
        <p:spPr>
          <a:xfrm flipV="1">
            <a:off x="5032172" y="2848677"/>
            <a:ext cx="1114361" cy="2200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50F5315-9D71-1640-9BC9-550040BF7F3A}"/>
              </a:ext>
            </a:extLst>
          </p:cNvPr>
          <p:cNvCxnSpPr>
            <a:cxnSpLocks/>
          </p:cNvCxnSpPr>
          <p:nvPr/>
        </p:nvCxnSpPr>
        <p:spPr>
          <a:xfrm>
            <a:off x="5029200" y="2591746"/>
            <a:ext cx="1117333" cy="128885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6EFAC7E-B775-F54A-8E8C-C317F1CA063C}"/>
              </a:ext>
            </a:extLst>
          </p:cNvPr>
          <p:cNvSpPr txBox="1"/>
          <p:nvPr/>
        </p:nvSpPr>
        <p:spPr>
          <a:xfrm>
            <a:off x="5077597" y="1180864"/>
            <a:ext cx="3560805" cy="769441"/>
          </a:xfrm>
          <a:prstGeom prst="rect">
            <a:avLst/>
          </a:prstGeom>
          <a:noFill/>
        </p:spPr>
        <p:txBody>
          <a:bodyPr wrap="square" rtlCol="0">
            <a:spAutoFit/>
          </a:bodyPr>
          <a:lstStyle/>
          <a:p>
            <a:pPr algn="ctr"/>
            <a:r>
              <a:rPr lang="en-US" sz="2200" dirty="0"/>
              <a:t>when an object is allocated, its </a:t>
            </a:r>
            <a:r>
              <a:rPr lang="en-US" sz="2200" dirty="0" err="1"/>
              <a:t>refcount</a:t>
            </a:r>
            <a:r>
              <a:rPr lang="en-US" sz="2200" dirty="0"/>
              <a:t> is 0.</a:t>
            </a:r>
            <a:endParaRPr lang="en-US" sz="2200" b="1" dirty="0">
              <a:latin typeface="Consolas" panose="020B0609020204030204" pitchFamily="49" charset="0"/>
              <a:cs typeface="Consolas" panose="020B0609020204030204" pitchFamily="49" charset="0"/>
            </a:endParaRPr>
          </a:p>
        </p:txBody>
      </p:sp>
      <p:sp>
        <p:nvSpPr>
          <p:cNvPr id="23" name="TextBox 22">
            <a:extLst>
              <a:ext uri="{FF2B5EF4-FFF2-40B4-BE49-F238E27FC236}">
                <a16:creationId xmlns:a16="http://schemas.microsoft.com/office/drawing/2014/main" id="{A398B31E-BC48-5D43-B37F-47F51320FA87}"/>
              </a:ext>
            </a:extLst>
          </p:cNvPr>
          <p:cNvSpPr txBox="1"/>
          <p:nvPr/>
        </p:nvSpPr>
        <p:spPr>
          <a:xfrm>
            <a:off x="7339500" y="2475904"/>
            <a:ext cx="311304"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0</a:t>
            </a:r>
          </a:p>
        </p:txBody>
      </p:sp>
      <p:sp>
        <p:nvSpPr>
          <p:cNvPr id="24" name="TextBox 23">
            <a:extLst>
              <a:ext uri="{FF2B5EF4-FFF2-40B4-BE49-F238E27FC236}">
                <a16:creationId xmlns:a16="http://schemas.microsoft.com/office/drawing/2014/main" id="{CA3F367C-96C6-844B-8EA7-05E55E9B8208}"/>
              </a:ext>
            </a:extLst>
          </p:cNvPr>
          <p:cNvSpPr txBox="1"/>
          <p:nvPr/>
        </p:nvSpPr>
        <p:spPr>
          <a:xfrm>
            <a:off x="220116" y="1370096"/>
            <a:ext cx="4489827" cy="769441"/>
          </a:xfrm>
          <a:prstGeom prst="rect">
            <a:avLst/>
          </a:prstGeom>
          <a:noFill/>
        </p:spPr>
        <p:txBody>
          <a:bodyPr wrap="square" rtlCol="0">
            <a:spAutoFit/>
          </a:bodyPr>
          <a:lstStyle/>
          <a:p>
            <a:pPr algn="ctr"/>
            <a:r>
              <a:rPr lang="en-US" sz="2200" dirty="0"/>
              <a:t>whenever a reference to it is created, the count is </a:t>
            </a:r>
            <a:r>
              <a:rPr lang="en-US" sz="2200" b="1" dirty="0"/>
              <a:t>incremented.</a:t>
            </a:r>
            <a:endParaRPr lang="en-US" sz="2200" b="1" dirty="0">
              <a:latin typeface="Consolas" panose="020B0609020204030204" pitchFamily="49" charset="0"/>
              <a:cs typeface="Consolas" panose="020B0609020204030204" pitchFamily="49" charset="0"/>
            </a:endParaRPr>
          </a:p>
        </p:txBody>
      </p:sp>
      <p:sp>
        <p:nvSpPr>
          <p:cNvPr id="25" name="TextBox 24">
            <a:extLst>
              <a:ext uri="{FF2B5EF4-FFF2-40B4-BE49-F238E27FC236}">
                <a16:creationId xmlns:a16="http://schemas.microsoft.com/office/drawing/2014/main" id="{AE9C9522-2D11-1F4C-99EE-C35330811D41}"/>
              </a:ext>
            </a:extLst>
          </p:cNvPr>
          <p:cNvSpPr txBox="1"/>
          <p:nvPr/>
        </p:nvSpPr>
        <p:spPr>
          <a:xfrm>
            <a:off x="7339500" y="2475904"/>
            <a:ext cx="311304"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1</a:t>
            </a:r>
          </a:p>
        </p:txBody>
      </p:sp>
      <p:sp>
        <p:nvSpPr>
          <p:cNvPr id="26" name="TextBox 25">
            <a:extLst>
              <a:ext uri="{FF2B5EF4-FFF2-40B4-BE49-F238E27FC236}">
                <a16:creationId xmlns:a16="http://schemas.microsoft.com/office/drawing/2014/main" id="{1A14E1CE-213D-2945-81F8-6FC0D662E89A}"/>
              </a:ext>
            </a:extLst>
          </p:cNvPr>
          <p:cNvSpPr txBox="1"/>
          <p:nvPr/>
        </p:nvSpPr>
        <p:spPr>
          <a:xfrm>
            <a:off x="7339500" y="2475904"/>
            <a:ext cx="311304"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2</a:t>
            </a:r>
          </a:p>
        </p:txBody>
      </p:sp>
      <p:sp>
        <p:nvSpPr>
          <p:cNvPr id="27" name="TextBox 26">
            <a:extLst>
              <a:ext uri="{FF2B5EF4-FFF2-40B4-BE49-F238E27FC236}">
                <a16:creationId xmlns:a16="http://schemas.microsoft.com/office/drawing/2014/main" id="{A7B0AC72-13CE-9645-B3CC-C6AC58FB255A}"/>
              </a:ext>
            </a:extLst>
          </p:cNvPr>
          <p:cNvSpPr txBox="1"/>
          <p:nvPr/>
        </p:nvSpPr>
        <p:spPr>
          <a:xfrm>
            <a:off x="490340" y="3959606"/>
            <a:ext cx="5307658" cy="769441"/>
          </a:xfrm>
          <a:prstGeom prst="rect">
            <a:avLst/>
          </a:prstGeom>
          <a:noFill/>
        </p:spPr>
        <p:txBody>
          <a:bodyPr wrap="square" rtlCol="0">
            <a:spAutoFit/>
          </a:bodyPr>
          <a:lstStyle/>
          <a:p>
            <a:pPr algn="ctr"/>
            <a:r>
              <a:rPr lang="en-US" sz="2200" dirty="0"/>
              <a:t>when a variable is </a:t>
            </a:r>
            <a:r>
              <a:rPr lang="en-US" sz="2200" i="1" dirty="0"/>
              <a:t>reassigned, </a:t>
            </a:r>
            <a:r>
              <a:rPr lang="en-US" sz="2200" dirty="0"/>
              <a:t>the previous object's count is </a:t>
            </a:r>
            <a:r>
              <a:rPr lang="en-US" sz="2200" b="1" dirty="0"/>
              <a:t>decremented.</a:t>
            </a:r>
            <a:endParaRPr lang="en-US" sz="2200" b="1" dirty="0">
              <a:latin typeface="Consolas" panose="020B0609020204030204" pitchFamily="49" charset="0"/>
              <a:cs typeface="Consolas" panose="020B0609020204030204" pitchFamily="49" charset="0"/>
            </a:endParaRPr>
          </a:p>
        </p:txBody>
      </p:sp>
      <p:sp>
        <p:nvSpPr>
          <p:cNvPr id="28" name="TextBox 27">
            <a:extLst>
              <a:ext uri="{FF2B5EF4-FFF2-40B4-BE49-F238E27FC236}">
                <a16:creationId xmlns:a16="http://schemas.microsoft.com/office/drawing/2014/main" id="{DA87DD5E-23E7-5445-9D36-C1FE08D250C4}"/>
              </a:ext>
            </a:extLst>
          </p:cNvPr>
          <p:cNvSpPr txBox="1"/>
          <p:nvPr/>
        </p:nvSpPr>
        <p:spPr>
          <a:xfrm>
            <a:off x="7462026" y="3890466"/>
            <a:ext cx="311304"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0</a:t>
            </a:r>
          </a:p>
        </p:txBody>
      </p:sp>
      <p:sp>
        <p:nvSpPr>
          <p:cNvPr id="29" name="TextBox 28">
            <a:extLst>
              <a:ext uri="{FF2B5EF4-FFF2-40B4-BE49-F238E27FC236}">
                <a16:creationId xmlns:a16="http://schemas.microsoft.com/office/drawing/2014/main" id="{4E2D8E39-7452-A743-AD0D-2C9423C7527E}"/>
              </a:ext>
            </a:extLst>
          </p:cNvPr>
          <p:cNvSpPr txBox="1"/>
          <p:nvPr/>
        </p:nvSpPr>
        <p:spPr>
          <a:xfrm>
            <a:off x="7462026" y="3890466"/>
            <a:ext cx="311304"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1</a:t>
            </a:r>
          </a:p>
        </p:txBody>
      </p:sp>
      <p:sp>
        <p:nvSpPr>
          <p:cNvPr id="30" name="TextBox 29">
            <a:extLst>
              <a:ext uri="{FF2B5EF4-FFF2-40B4-BE49-F238E27FC236}">
                <a16:creationId xmlns:a16="http://schemas.microsoft.com/office/drawing/2014/main" id="{620E9731-01D6-FF48-8A75-AC8523CB770A}"/>
              </a:ext>
            </a:extLst>
          </p:cNvPr>
          <p:cNvSpPr txBox="1"/>
          <p:nvPr/>
        </p:nvSpPr>
        <p:spPr>
          <a:xfrm>
            <a:off x="1136967" y="4903525"/>
            <a:ext cx="7103319" cy="430887"/>
          </a:xfrm>
          <a:prstGeom prst="rect">
            <a:avLst/>
          </a:prstGeom>
          <a:noFill/>
        </p:spPr>
        <p:txBody>
          <a:bodyPr wrap="square" rtlCol="0">
            <a:spAutoFit/>
          </a:bodyPr>
          <a:lstStyle/>
          <a:p>
            <a:pPr algn="ctr"/>
            <a:r>
              <a:rPr lang="en-US" sz="2200" dirty="0"/>
              <a:t>when the count reaches 0, the object is </a:t>
            </a:r>
            <a:r>
              <a:rPr lang="en-US" sz="2200" b="1" dirty="0"/>
              <a:t>deallocated.</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5236046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2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5"/>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2"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14"/>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26"/>
                                        </p:tgtEl>
                                        <p:attrNameLst>
                                          <p:attrName>style.visibility</p:attrName>
                                        </p:attrNameLst>
                                      </p:cBhvr>
                                      <p:to>
                                        <p:strVal val="hidden"/>
                                      </p:to>
                                    </p:set>
                                  </p:childTnLst>
                                </p:cTn>
                              </p:par>
                              <p:par>
                                <p:cTn id="61" presetID="1" presetClass="exit" presetSubtype="0" fill="hold" grpId="3" nodeType="withEffect">
                                  <p:stCondLst>
                                    <p:cond delay="0"/>
                                  </p:stCondLst>
                                  <p:childTnLst>
                                    <p:set>
                                      <p:cBhvr>
                                        <p:cTn id="62" dur="1" fill="hold">
                                          <p:stCondLst>
                                            <p:cond delay="0"/>
                                          </p:stCondLst>
                                        </p:cTn>
                                        <p:tgtEl>
                                          <p:spTgt spid="2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3" nodeType="clickEffect">
                                  <p:stCondLst>
                                    <p:cond delay="0"/>
                                  </p:stCondLst>
                                  <p:childTnLst>
                                    <p:set>
                                      <p:cBhvr>
                                        <p:cTn id="66" dur="1" fill="hold">
                                          <p:stCondLst>
                                            <p:cond delay="0"/>
                                          </p:stCondLst>
                                        </p:cTn>
                                        <p:tgtEl>
                                          <p:spTgt spid="25"/>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5"/>
                                        </p:tgtEl>
                                        <p:attrNameLst>
                                          <p:attrName>style.visibility</p:attrName>
                                        </p:attrNameLst>
                                      </p:cBhvr>
                                      <p:to>
                                        <p:strVal val="hidden"/>
                                      </p:to>
                                    </p:set>
                                  </p:childTnLst>
                                </p:cTn>
                              </p:par>
                              <p:par>
                                <p:cTn id="69" presetID="1" presetClass="entr" presetSubtype="0" fill="hold" grpId="2"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5"/>
                                        </p:tgtEl>
                                        <p:attrNameLst>
                                          <p:attrName>style.visibility</p:attrName>
                                        </p:attrNameLst>
                                      </p:cBhvr>
                                      <p:to>
                                        <p:strVal val="hidden"/>
                                      </p:to>
                                    </p:set>
                                  </p:childTnLst>
                                </p:cTn>
                              </p:par>
                              <p:par>
                                <p:cTn id="79" presetID="1" presetClass="exit" presetSubtype="0" fill="hold" grpId="3"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20"/>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29"/>
                                        </p:tgtEl>
                                        <p:attrNameLst>
                                          <p:attrName>style.visibility</p:attrName>
                                        </p:attrNameLst>
                                      </p:cBhvr>
                                      <p:to>
                                        <p:strVal val="hidden"/>
                                      </p:to>
                                    </p:set>
                                  </p:childTnLst>
                                </p:cTn>
                              </p:par>
                              <p:par>
                                <p:cTn id="87" presetID="1" presetClass="entr" presetSubtype="0" fill="hold" grpId="1" nodeType="withEffect">
                                  <p:stCondLst>
                                    <p:cond delay="0"/>
                                  </p:stCondLst>
                                  <p:childTnLst>
                                    <p:set>
                                      <p:cBhvr>
                                        <p:cTn id="88" dur="1" fill="hold">
                                          <p:stCondLst>
                                            <p:cond delay="0"/>
                                          </p:stCondLst>
                                        </p:cTn>
                                        <p:tgtEl>
                                          <p:spTgt spid="2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7"/>
                                        </p:tgtEl>
                                        <p:attrNameLst>
                                          <p:attrName>style.visibility</p:attrName>
                                        </p:attrNameLst>
                                      </p:cBhvr>
                                      <p:to>
                                        <p:strVal val="hidden"/>
                                      </p:to>
                                    </p:set>
                                  </p:childTnLst>
                                </p:cTn>
                              </p:par>
                              <p:par>
                                <p:cTn id="93" presetID="1" presetClass="exit" presetSubtype="0" fill="hold" grpId="2" nodeType="withEffect">
                                  <p:stCondLst>
                                    <p:cond delay="0"/>
                                  </p:stCondLst>
                                  <p:childTnLst>
                                    <p:set>
                                      <p:cBhvr>
                                        <p:cTn id="94"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p:bldP spid="7" grpId="0" animBg="1"/>
      <p:bldP spid="7" grpId="1" animBg="1"/>
      <p:bldP spid="12" grpId="0" animBg="1"/>
      <p:bldP spid="13" grpId="0" animBg="1"/>
      <p:bldP spid="22" grpId="0"/>
      <p:bldP spid="23" grpId="0"/>
      <p:bldP spid="23" grpId="1"/>
      <p:bldP spid="23" grpId="2"/>
      <p:bldP spid="23" grpId="3"/>
      <p:bldP spid="24" grpId="0"/>
      <p:bldP spid="25" grpId="0"/>
      <p:bldP spid="25" grpId="1"/>
      <p:bldP spid="25" grpId="2"/>
      <p:bldP spid="25" grpId="3"/>
      <p:bldP spid="26" grpId="0"/>
      <p:bldP spid="26" grpId="1"/>
      <p:bldP spid="27" grpId="0"/>
      <p:bldP spid="28" grpId="0"/>
      <p:bldP spid="28" grpId="1"/>
      <p:bldP spid="28" grpId="2"/>
      <p:bldP spid="28" grpId="3"/>
      <p:bldP spid="29" grpId="0"/>
      <p:bldP spid="29" grpId="1"/>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8CBD-243E-B441-B652-22B355C51C16}"/>
              </a:ext>
            </a:extLst>
          </p:cNvPr>
          <p:cNvSpPr>
            <a:spLocks noGrp="1"/>
          </p:cNvSpPr>
          <p:nvPr>
            <p:ph type="title"/>
          </p:nvPr>
        </p:nvSpPr>
        <p:spPr/>
        <p:txBody>
          <a:bodyPr/>
          <a:lstStyle/>
          <a:p>
            <a:r>
              <a:rPr lang="en-US" dirty="0"/>
              <a:t>The compiler's job</a:t>
            </a:r>
          </a:p>
        </p:txBody>
      </p:sp>
      <p:sp>
        <p:nvSpPr>
          <p:cNvPr id="3" name="Content Placeholder 2">
            <a:extLst>
              <a:ext uri="{FF2B5EF4-FFF2-40B4-BE49-F238E27FC236}">
                <a16:creationId xmlns:a16="http://schemas.microsoft.com/office/drawing/2014/main" id="{90D82478-93F7-4F4A-A5CF-5627D22F0D0F}"/>
              </a:ext>
            </a:extLst>
          </p:cNvPr>
          <p:cNvSpPr>
            <a:spLocks noGrp="1"/>
          </p:cNvSpPr>
          <p:nvPr>
            <p:ph idx="1"/>
          </p:nvPr>
        </p:nvSpPr>
        <p:spPr>
          <a:xfrm>
            <a:off x="152400" y="495301"/>
            <a:ext cx="8991600" cy="914399"/>
          </a:xfrm>
        </p:spPr>
        <p:txBody>
          <a:bodyPr/>
          <a:lstStyle/>
          <a:p>
            <a:r>
              <a:rPr lang="en-US" dirty="0"/>
              <a:t>the compiler knows </a:t>
            </a:r>
            <a:r>
              <a:rPr lang="en-US" b="1" dirty="0"/>
              <a:t>when</a:t>
            </a:r>
            <a:r>
              <a:rPr lang="en-US" dirty="0"/>
              <a:t> the references are created and destroyed.</a:t>
            </a:r>
          </a:p>
          <a:p>
            <a:r>
              <a:rPr lang="en-US" dirty="0"/>
              <a:t>so, around each assignment, it inserts those </a:t>
            </a:r>
            <a:r>
              <a:rPr lang="en-US" b="1" dirty="0"/>
              <a:t>'</a:t>
            </a:r>
            <a:r>
              <a:rPr lang="en-US" b="1" dirty="0" err="1"/>
              <a:t>crements</a:t>
            </a:r>
            <a:r>
              <a:rPr lang="en-US" b="1" dirty="0"/>
              <a:t>.</a:t>
            </a:r>
          </a:p>
        </p:txBody>
      </p:sp>
      <p:sp>
        <p:nvSpPr>
          <p:cNvPr id="4" name="Slide Number Placeholder 3">
            <a:extLst>
              <a:ext uri="{FF2B5EF4-FFF2-40B4-BE49-F238E27FC236}">
                <a16:creationId xmlns:a16="http://schemas.microsoft.com/office/drawing/2014/main" id="{D3DEC7B9-29BB-2646-A6AB-4D4FF5A959F1}"/>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TextBox 4">
            <a:extLst>
              <a:ext uri="{FF2B5EF4-FFF2-40B4-BE49-F238E27FC236}">
                <a16:creationId xmlns:a16="http://schemas.microsoft.com/office/drawing/2014/main" id="{8358E310-0002-9041-AA23-8EF9015019B3}"/>
              </a:ext>
            </a:extLst>
          </p:cNvPr>
          <p:cNvSpPr txBox="1"/>
          <p:nvPr/>
        </p:nvSpPr>
        <p:spPr>
          <a:xfrm>
            <a:off x="381000" y="1404927"/>
            <a:ext cx="2971800" cy="3816429"/>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Ant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Ant();</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Ant b = a;</a:t>
            </a:r>
          </a:p>
          <a:p>
            <a:endParaRPr lang="en-US" sz="2200" b="1" dirty="0">
              <a:latin typeface="Consolas" panose="020B0609020204030204" pitchFamily="49" charset="0"/>
              <a:cs typeface="Consolas" panose="020B0609020204030204" pitchFamily="49" charset="0"/>
            </a:endParaRP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Ant();</a:t>
            </a:r>
          </a:p>
          <a:p>
            <a:endParaRPr lang="en-US" sz="2200" b="1" dirty="0">
              <a:latin typeface="Consolas" panose="020B0609020204030204" pitchFamily="49" charset="0"/>
              <a:cs typeface="Consolas" panose="020B0609020204030204" pitchFamily="49" charset="0"/>
            </a:endParaRP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b = </a:t>
            </a:r>
            <a:r>
              <a:rPr lang="en-US" sz="2200" b="1" dirty="0">
                <a:solidFill>
                  <a:srgbClr val="FF0000"/>
                </a:solidFill>
                <a:latin typeface="Consolas" panose="020B0609020204030204" pitchFamily="49" charset="0"/>
                <a:cs typeface="Consolas" panose="020B0609020204030204" pitchFamily="49" charset="0"/>
              </a:rPr>
              <a:t>null</a:t>
            </a:r>
            <a:r>
              <a:rPr lang="en-US" sz="2200" b="1" dirty="0">
                <a:latin typeface="Consolas" panose="020B0609020204030204" pitchFamily="49" charset="0"/>
                <a:cs typeface="Consolas" panose="020B0609020204030204" pitchFamily="49" charset="0"/>
              </a:rPr>
              <a:t>;</a:t>
            </a:r>
          </a:p>
          <a:p>
            <a:endParaRPr lang="en-US" sz="2200" b="1" dirty="0">
              <a:latin typeface="Consolas" panose="020B0609020204030204" pitchFamily="49" charset="0"/>
              <a:cs typeface="Consolas" panose="020B0609020204030204" pitchFamily="49" charset="0"/>
            </a:endParaRPr>
          </a:p>
          <a:p>
            <a:r>
              <a:rPr lang="en-US" sz="2200" b="1" dirty="0">
                <a:latin typeface="Consolas" panose="020B0609020204030204" pitchFamily="49" charset="0"/>
                <a:cs typeface="Consolas" panose="020B0609020204030204" pitchFamily="49" charset="0"/>
              </a:rPr>
              <a:t>a = </a:t>
            </a:r>
            <a:r>
              <a:rPr lang="en-US" sz="2200" b="1" dirty="0">
                <a:solidFill>
                  <a:srgbClr val="FF0000"/>
                </a:solidFill>
                <a:latin typeface="Consolas" panose="020B0609020204030204" pitchFamily="49" charset="0"/>
                <a:cs typeface="Consolas" panose="020B0609020204030204" pitchFamily="49" charset="0"/>
              </a:rPr>
              <a:t>null</a:t>
            </a:r>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5743421E-DA17-5846-9A30-5FBCD060A1EA}"/>
              </a:ext>
            </a:extLst>
          </p:cNvPr>
          <p:cNvSpPr txBox="1"/>
          <p:nvPr/>
        </p:nvSpPr>
        <p:spPr>
          <a:xfrm>
            <a:off x="381000" y="1416308"/>
            <a:ext cx="3124200" cy="3477875"/>
          </a:xfrm>
          <a:prstGeom prst="rect">
            <a:avLst/>
          </a:prstGeom>
          <a:noFill/>
        </p:spPr>
        <p:txBody>
          <a:bodyPr wrap="square" rtlCol="0">
            <a:spAutoFit/>
          </a:bodyPr>
          <a:lstStyle/>
          <a:p>
            <a:endParaRPr lang="en-US" sz="2200" i="1" dirty="0">
              <a:solidFill>
                <a:schemeClr val="tx1">
                  <a:lumMod val="65000"/>
                  <a:lumOff val="35000"/>
                </a:schemeClr>
              </a:solidFill>
              <a:latin typeface="Consolas" panose="020B0609020204030204" pitchFamily="49" charset="0"/>
              <a:cs typeface="Consolas" panose="020B0609020204030204" pitchFamily="49" charset="0"/>
            </a:endParaRPr>
          </a:p>
          <a:p>
            <a:r>
              <a:rPr lang="en-US" sz="2200" i="1" dirty="0" err="1">
                <a:solidFill>
                  <a:schemeClr val="tx1">
                    <a:lumMod val="65000"/>
                    <a:lumOff val="35000"/>
                  </a:schemeClr>
                </a:solidFill>
                <a:latin typeface="Consolas" panose="020B0609020204030204" pitchFamily="49" charset="0"/>
                <a:cs typeface="Consolas" panose="020B0609020204030204" pitchFamily="49" charset="0"/>
              </a:rPr>
              <a:t>incRef</a:t>
            </a:r>
            <a:r>
              <a:rPr lang="en-US" sz="2200" i="1" dirty="0">
                <a:solidFill>
                  <a:schemeClr val="tx1">
                    <a:lumMod val="65000"/>
                    <a:lumOff val="35000"/>
                  </a:schemeClr>
                </a:solidFill>
                <a:latin typeface="Consolas" panose="020B0609020204030204" pitchFamily="49" charset="0"/>
                <a:cs typeface="Consolas" panose="020B0609020204030204" pitchFamily="49" charset="0"/>
              </a:rPr>
              <a:t>(a);</a:t>
            </a:r>
          </a:p>
          <a:p>
            <a:endParaRPr lang="en-US" sz="2200" i="1" dirty="0">
              <a:solidFill>
                <a:schemeClr val="tx1">
                  <a:lumMod val="65000"/>
                  <a:lumOff val="35000"/>
                </a:schemeClr>
              </a:solidFill>
              <a:latin typeface="Consolas" panose="020B0609020204030204" pitchFamily="49" charset="0"/>
              <a:cs typeface="Consolas" panose="020B0609020204030204" pitchFamily="49" charset="0"/>
            </a:endParaRPr>
          </a:p>
          <a:p>
            <a:r>
              <a:rPr lang="en-US" sz="2200" i="1" dirty="0" err="1">
                <a:solidFill>
                  <a:schemeClr val="tx1">
                    <a:lumMod val="65000"/>
                    <a:lumOff val="35000"/>
                  </a:schemeClr>
                </a:solidFill>
                <a:latin typeface="Consolas" panose="020B0609020204030204" pitchFamily="49" charset="0"/>
                <a:cs typeface="Consolas" panose="020B0609020204030204" pitchFamily="49" charset="0"/>
              </a:rPr>
              <a:t>incRef</a:t>
            </a:r>
            <a:r>
              <a:rPr lang="en-US" sz="2200" i="1" dirty="0">
                <a:solidFill>
                  <a:schemeClr val="tx1">
                    <a:lumMod val="65000"/>
                    <a:lumOff val="35000"/>
                  </a:schemeClr>
                </a:solidFill>
                <a:latin typeface="Consolas" panose="020B0609020204030204" pitchFamily="49" charset="0"/>
                <a:cs typeface="Consolas" panose="020B0609020204030204" pitchFamily="49" charset="0"/>
              </a:rPr>
              <a:t>(b);</a:t>
            </a:r>
          </a:p>
          <a:p>
            <a:r>
              <a:rPr lang="en-US" sz="2200" i="1" dirty="0" err="1">
                <a:solidFill>
                  <a:schemeClr val="tx1">
                    <a:lumMod val="65000"/>
                    <a:lumOff val="35000"/>
                  </a:schemeClr>
                </a:solidFill>
                <a:latin typeface="Consolas" panose="020B0609020204030204" pitchFamily="49" charset="0"/>
                <a:cs typeface="Consolas" panose="020B0609020204030204" pitchFamily="49" charset="0"/>
              </a:rPr>
              <a:t>decRef</a:t>
            </a:r>
            <a:r>
              <a:rPr lang="en-US" sz="2200" i="1" dirty="0">
                <a:solidFill>
                  <a:schemeClr val="tx1">
                    <a:lumMod val="65000"/>
                    <a:lumOff val="35000"/>
                  </a:schemeClr>
                </a:solidFill>
                <a:latin typeface="Consolas" panose="020B0609020204030204" pitchFamily="49" charset="0"/>
                <a:cs typeface="Consolas" panose="020B0609020204030204" pitchFamily="49" charset="0"/>
              </a:rPr>
              <a:t>(a);</a:t>
            </a:r>
          </a:p>
          <a:p>
            <a:endParaRPr lang="en-US" sz="2200" i="1" dirty="0">
              <a:solidFill>
                <a:schemeClr val="tx1">
                  <a:lumMod val="65000"/>
                  <a:lumOff val="35000"/>
                </a:schemeClr>
              </a:solidFill>
              <a:latin typeface="Consolas" panose="020B0609020204030204" pitchFamily="49" charset="0"/>
              <a:cs typeface="Consolas" panose="020B0609020204030204" pitchFamily="49" charset="0"/>
            </a:endParaRPr>
          </a:p>
          <a:p>
            <a:r>
              <a:rPr lang="en-US" sz="2200" i="1" dirty="0" err="1">
                <a:solidFill>
                  <a:schemeClr val="tx1">
                    <a:lumMod val="65000"/>
                    <a:lumOff val="35000"/>
                  </a:schemeClr>
                </a:solidFill>
                <a:latin typeface="Consolas" panose="020B0609020204030204" pitchFamily="49" charset="0"/>
                <a:cs typeface="Consolas" panose="020B0609020204030204" pitchFamily="49" charset="0"/>
              </a:rPr>
              <a:t>incRef</a:t>
            </a:r>
            <a:r>
              <a:rPr lang="en-US" sz="2200" i="1" dirty="0">
                <a:solidFill>
                  <a:schemeClr val="tx1">
                    <a:lumMod val="65000"/>
                    <a:lumOff val="35000"/>
                  </a:schemeClr>
                </a:solidFill>
                <a:latin typeface="Consolas" panose="020B0609020204030204" pitchFamily="49" charset="0"/>
                <a:cs typeface="Consolas" panose="020B0609020204030204" pitchFamily="49" charset="0"/>
              </a:rPr>
              <a:t>(a);</a:t>
            </a:r>
          </a:p>
          <a:p>
            <a:r>
              <a:rPr lang="en-US" sz="2200" i="1" dirty="0" err="1">
                <a:solidFill>
                  <a:schemeClr val="tx1">
                    <a:lumMod val="65000"/>
                    <a:lumOff val="35000"/>
                  </a:schemeClr>
                </a:solidFill>
                <a:latin typeface="Consolas" panose="020B0609020204030204" pitchFamily="49" charset="0"/>
                <a:cs typeface="Consolas" panose="020B0609020204030204" pitchFamily="49" charset="0"/>
              </a:rPr>
              <a:t>decRef</a:t>
            </a:r>
            <a:r>
              <a:rPr lang="en-US" sz="2200" i="1" dirty="0">
                <a:solidFill>
                  <a:schemeClr val="tx1">
                    <a:lumMod val="65000"/>
                    <a:lumOff val="35000"/>
                  </a:schemeClr>
                </a:solidFill>
                <a:latin typeface="Consolas" panose="020B0609020204030204" pitchFamily="49" charset="0"/>
                <a:cs typeface="Consolas" panose="020B0609020204030204" pitchFamily="49" charset="0"/>
              </a:rPr>
              <a:t>(b);</a:t>
            </a:r>
          </a:p>
          <a:p>
            <a:endParaRPr lang="en-US" sz="2200" i="1" dirty="0">
              <a:solidFill>
                <a:schemeClr val="tx1">
                  <a:lumMod val="65000"/>
                  <a:lumOff val="35000"/>
                </a:schemeClr>
              </a:solidFill>
              <a:latin typeface="Consolas" panose="020B0609020204030204" pitchFamily="49" charset="0"/>
              <a:cs typeface="Consolas" panose="020B0609020204030204" pitchFamily="49" charset="0"/>
            </a:endParaRPr>
          </a:p>
          <a:p>
            <a:r>
              <a:rPr lang="en-US" sz="2200" i="1" dirty="0" err="1">
                <a:solidFill>
                  <a:schemeClr val="tx1">
                    <a:lumMod val="65000"/>
                    <a:lumOff val="35000"/>
                  </a:schemeClr>
                </a:solidFill>
                <a:latin typeface="Consolas" panose="020B0609020204030204" pitchFamily="49" charset="0"/>
                <a:cs typeface="Consolas" panose="020B0609020204030204" pitchFamily="49" charset="0"/>
              </a:rPr>
              <a:t>decRef</a:t>
            </a:r>
            <a:r>
              <a:rPr lang="en-US" sz="2200" i="1" dirty="0">
                <a:solidFill>
                  <a:schemeClr val="tx1">
                    <a:lumMod val="65000"/>
                    <a:lumOff val="35000"/>
                  </a:schemeClr>
                </a:solidFill>
                <a:latin typeface="Consolas" panose="020B0609020204030204" pitchFamily="49" charset="0"/>
                <a:cs typeface="Consolas" panose="020B0609020204030204" pitchFamily="49" charset="0"/>
              </a:rPr>
              <a:t>(a);</a:t>
            </a:r>
          </a:p>
        </p:txBody>
      </p:sp>
      <p:sp>
        <p:nvSpPr>
          <p:cNvPr id="7" name="TextBox 6">
            <a:extLst>
              <a:ext uri="{FF2B5EF4-FFF2-40B4-BE49-F238E27FC236}">
                <a16:creationId xmlns:a16="http://schemas.microsoft.com/office/drawing/2014/main" id="{66972251-308E-D845-94CA-A6A398852655}"/>
              </a:ext>
            </a:extLst>
          </p:cNvPr>
          <p:cNvSpPr txBox="1"/>
          <p:nvPr/>
        </p:nvSpPr>
        <p:spPr>
          <a:xfrm>
            <a:off x="4308612" y="1416308"/>
            <a:ext cx="3692388" cy="430887"/>
          </a:xfrm>
          <a:prstGeom prst="rect">
            <a:avLst/>
          </a:prstGeom>
          <a:noFill/>
        </p:spPr>
        <p:txBody>
          <a:bodyPr wrap="square" rtlCol="0">
            <a:spAutoFit/>
          </a:bodyPr>
          <a:lstStyle/>
          <a:p>
            <a:pPr algn="ctr"/>
            <a:r>
              <a:rPr lang="en-US" sz="2200" dirty="0"/>
              <a:t>tricky details to consider:</a:t>
            </a:r>
            <a:endParaRPr lang="en-US" sz="22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046A5458-B16E-9F4B-A39E-AC8EAF843EF4}"/>
              </a:ext>
            </a:extLst>
          </p:cNvPr>
          <p:cNvSpPr txBox="1"/>
          <p:nvPr/>
        </p:nvSpPr>
        <p:spPr>
          <a:xfrm>
            <a:off x="3274944" y="1945107"/>
            <a:ext cx="5448300" cy="769441"/>
          </a:xfrm>
          <a:prstGeom prst="rect">
            <a:avLst/>
          </a:prstGeom>
          <a:noFill/>
        </p:spPr>
        <p:txBody>
          <a:bodyPr wrap="square" rtlCol="0">
            <a:spAutoFit/>
          </a:bodyPr>
          <a:lstStyle/>
          <a:p>
            <a:pPr algn="ctr"/>
            <a:r>
              <a:rPr lang="en-US" sz="2200" dirty="0"/>
              <a:t>when a </a:t>
            </a:r>
            <a:r>
              <a:rPr lang="en-US" sz="2200" b="1" dirty="0"/>
              <a:t>local variable </a:t>
            </a:r>
            <a:r>
              <a:rPr lang="en-US" sz="2200" dirty="0"/>
              <a:t>goes out of scope, we need to </a:t>
            </a:r>
            <a:r>
              <a:rPr lang="en-US" sz="2200" dirty="0" err="1"/>
              <a:t>decRef</a:t>
            </a:r>
            <a:r>
              <a:rPr lang="en-US" sz="2200" dirty="0"/>
              <a:t>() it.</a:t>
            </a:r>
            <a:endParaRPr lang="en-US" sz="2200" b="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1E7E64B1-E138-7141-97D9-695699DE5097}"/>
              </a:ext>
            </a:extLst>
          </p:cNvPr>
          <p:cNvSpPr txBox="1"/>
          <p:nvPr/>
        </p:nvSpPr>
        <p:spPr>
          <a:xfrm>
            <a:off x="3352800" y="3000453"/>
            <a:ext cx="5448300" cy="769441"/>
          </a:xfrm>
          <a:prstGeom prst="rect">
            <a:avLst/>
          </a:prstGeom>
          <a:noFill/>
        </p:spPr>
        <p:txBody>
          <a:bodyPr wrap="square" rtlCol="0">
            <a:spAutoFit/>
          </a:bodyPr>
          <a:lstStyle/>
          <a:p>
            <a:pPr algn="ctr"/>
            <a:r>
              <a:rPr lang="en-US" sz="2200" b="1" dirty="0"/>
              <a:t>returning</a:t>
            </a:r>
            <a:r>
              <a:rPr lang="en-US" sz="2200" dirty="0"/>
              <a:t> a reference or passing one as an </a:t>
            </a:r>
            <a:r>
              <a:rPr lang="en-US" sz="2200" b="1" dirty="0"/>
              <a:t>argument</a:t>
            </a:r>
            <a:r>
              <a:rPr lang="en-US" sz="2200" dirty="0"/>
              <a:t> will increment the </a:t>
            </a:r>
            <a:r>
              <a:rPr lang="en-US" sz="2200" dirty="0" err="1"/>
              <a:t>refcount</a:t>
            </a:r>
            <a:r>
              <a:rPr lang="en-US" sz="2200" dirty="0"/>
              <a:t>.</a:t>
            </a:r>
            <a:endParaRPr lang="en-US" sz="2200" b="1"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D90B3868-93EE-8446-999C-9B2868667B57}"/>
              </a:ext>
            </a:extLst>
          </p:cNvPr>
          <p:cNvSpPr txBox="1"/>
          <p:nvPr/>
        </p:nvSpPr>
        <p:spPr>
          <a:xfrm>
            <a:off x="3256722" y="4010902"/>
            <a:ext cx="5546034" cy="1107996"/>
          </a:xfrm>
          <a:prstGeom prst="rect">
            <a:avLst/>
          </a:prstGeom>
          <a:noFill/>
        </p:spPr>
        <p:txBody>
          <a:bodyPr wrap="square" rtlCol="0">
            <a:spAutoFit/>
          </a:bodyPr>
          <a:lstStyle/>
          <a:p>
            <a:pPr algn="ctr"/>
            <a:r>
              <a:rPr lang="en-US" sz="2200" dirty="0"/>
              <a:t>before an object is deallocated, </a:t>
            </a:r>
            <a:r>
              <a:rPr lang="en-US" sz="2200" b="1" dirty="0"/>
              <a:t>any references it has to other objects must be recursively decremented </a:t>
            </a:r>
            <a:r>
              <a:rPr lang="en-US" sz="2200" dirty="0"/>
              <a:t>first.</a:t>
            </a:r>
            <a:endParaRPr lang="en-US" sz="22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177029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bldLvl="5"/>
      <p:bldP spid="7" grpId="0"/>
      <p:bldP spid="8" grpId="0"/>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4AA4B-DEA1-B841-BAB9-18981767FA8F}"/>
              </a:ext>
            </a:extLst>
          </p:cNvPr>
          <p:cNvSpPr>
            <a:spLocks noGrp="1"/>
          </p:cNvSpPr>
          <p:nvPr>
            <p:ph type="title"/>
          </p:nvPr>
        </p:nvSpPr>
        <p:spPr/>
        <p:txBody>
          <a:bodyPr/>
          <a:lstStyle/>
          <a:p>
            <a:r>
              <a:rPr lang="en-US" dirty="0"/>
              <a:t>So what's the catch? </a:t>
            </a:r>
            <a:r>
              <a:rPr lang="en-US" sz="2000" dirty="0"/>
              <a:t>(animated)</a:t>
            </a:r>
            <a:endParaRPr lang="en-US" dirty="0"/>
          </a:p>
        </p:txBody>
      </p:sp>
      <p:sp>
        <p:nvSpPr>
          <p:cNvPr id="3" name="Content Placeholder 2">
            <a:extLst>
              <a:ext uri="{FF2B5EF4-FFF2-40B4-BE49-F238E27FC236}">
                <a16:creationId xmlns:a16="http://schemas.microsoft.com/office/drawing/2014/main" id="{EDCBB61A-859D-4148-BE88-BC0EA7242350}"/>
              </a:ext>
            </a:extLst>
          </p:cNvPr>
          <p:cNvSpPr>
            <a:spLocks noGrp="1"/>
          </p:cNvSpPr>
          <p:nvPr>
            <p:ph idx="1"/>
          </p:nvPr>
        </p:nvSpPr>
        <p:spPr>
          <a:xfrm>
            <a:off x="152400" y="495302"/>
            <a:ext cx="8991600" cy="495300"/>
          </a:xfrm>
        </p:spPr>
        <p:txBody>
          <a:bodyPr/>
          <a:lstStyle/>
          <a:p>
            <a:r>
              <a:rPr lang="en-US" dirty="0"/>
              <a:t>"when an object's in-degree reaches 0" </a:t>
            </a:r>
            <a:r>
              <a:rPr lang="en-US" b="1" i="1" dirty="0">
                <a:solidFill>
                  <a:srgbClr val="FF0000"/>
                </a:solidFill>
              </a:rPr>
              <a:t>may never happen.</a:t>
            </a:r>
            <a:endParaRPr lang="en-US" b="1" dirty="0">
              <a:solidFill>
                <a:srgbClr val="FF0000"/>
              </a:solidFill>
            </a:endParaRPr>
          </a:p>
        </p:txBody>
      </p:sp>
      <p:sp>
        <p:nvSpPr>
          <p:cNvPr id="4" name="Slide Number Placeholder 3">
            <a:extLst>
              <a:ext uri="{FF2B5EF4-FFF2-40B4-BE49-F238E27FC236}">
                <a16:creationId xmlns:a16="http://schemas.microsoft.com/office/drawing/2014/main" id="{61B5E224-7771-EB4C-AACF-FB8935C8FF4C}"/>
              </a:ext>
            </a:extLst>
          </p:cNvPr>
          <p:cNvSpPr>
            <a:spLocks noGrp="1"/>
          </p:cNvSpPr>
          <p:nvPr>
            <p:ph type="sldNum" sz="quarter" idx="12"/>
          </p:nvPr>
        </p:nvSpPr>
        <p:spPr/>
        <p:txBody>
          <a:bodyPr/>
          <a:lstStyle/>
          <a:p>
            <a:fld id="{3552B95B-556F-44BD-91A5-D80C1B9E2BB3}" type="slidenum">
              <a:rPr lang="en-US" smtClean="0"/>
              <a:pPr/>
              <a:t>26</a:t>
            </a:fld>
            <a:endParaRPr lang="en-US"/>
          </a:p>
        </p:txBody>
      </p:sp>
      <p:sp>
        <p:nvSpPr>
          <p:cNvPr id="5" name="Rounded Rectangle 4">
            <a:extLst>
              <a:ext uri="{FF2B5EF4-FFF2-40B4-BE49-F238E27FC236}">
                <a16:creationId xmlns:a16="http://schemas.microsoft.com/office/drawing/2014/main" id="{AA729AC2-E6C0-1948-AB60-8246EEF6E9CD}"/>
              </a:ext>
            </a:extLst>
          </p:cNvPr>
          <p:cNvSpPr/>
          <p:nvPr/>
        </p:nvSpPr>
        <p:spPr>
          <a:xfrm>
            <a:off x="453665" y="1323860"/>
            <a:ext cx="838200" cy="634790"/>
          </a:xfrm>
          <a:prstGeom prst="roundRect">
            <a:avLst>
              <a:gd name="adj" fmla="val 8421"/>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9DE36DE3-B4AD-104B-AAE2-C255276DBF9E}"/>
              </a:ext>
            </a:extLst>
          </p:cNvPr>
          <p:cNvSpPr/>
          <p:nvPr/>
        </p:nvSpPr>
        <p:spPr>
          <a:xfrm>
            <a:off x="1776336" y="138973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B08FB17E-D4C8-2543-8FE3-DA5D555BE8FD}"/>
              </a:ext>
            </a:extLst>
          </p:cNvPr>
          <p:cNvSpPr/>
          <p:nvPr/>
        </p:nvSpPr>
        <p:spPr>
          <a:xfrm>
            <a:off x="2690736" y="138973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F7DAE017-8DB5-1A4D-853E-B4E6EAE2AD1C}"/>
              </a:ext>
            </a:extLst>
          </p:cNvPr>
          <p:cNvCxnSpPr>
            <a:cxnSpLocks/>
          </p:cNvCxnSpPr>
          <p:nvPr/>
        </p:nvCxnSpPr>
        <p:spPr>
          <a:xfrm>
            <a:off x="2309736" y="1550556"/>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13134A5-4C4E-524E-B63B-AECBC81786F4}"/>
              </a:ext>
            </a:extLst>
          </p:cNvPr>
          <p:cNvCxnSpPr>
            <a:cxnSpLocks/>
          </p:cNvCxnSpPr>
          <p:nvPr/>
        </p:nvCxnSpPr>
        <p:spPr>
          <a:xfrm flipH="1">
            <a:off x="2309736" y="1731831"/>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79B0E64-A030-9A44-9E38-9772A88048B0}"/>
              </a:ext>
            </a:extLst>
          </p:cNvPr>
          <p:cNvCxnSpPr>
            <a:cxnSpLocks/>
            <a:endCxn id="7" idx="1"/>
          </p:cNvCxnSpPr>
          <p:nvPr/>
        </p:nvCxnSpPr>
        <p:spPr>
          <a:xfrm>
            <a:off x="861936" y="1656433"/>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BF3AAF9-EC90-F143-A03C-5E5850444D4F}"/>
              </a:ext>
            </a:extLst>
          </p:cNvPr>
          <p:cNvSpPr txBox="1"/>
          <p:nvPr/>
        </p:nvSpPr>
        <p:spPr>
          <a:xfrm>
            <a:off x="1882654" y="1471767"/>
            <a:ext cx="317716"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1</a:t>
            </a:r>
          </a:p>
        </p:txBody>
      </p:sp>
      <p:sp>
        <p:nvSpPr>
          <p:cNvPr id="17" name="TextBox 16">
            <a:extLst>
              <a:ext uri="{FF2B5EF4-FFF2-40B4-BE49-F238E27FC236}">
                <a16:creationId xmlns:a16="http://schemas.microsoft.com/office/drawing/2014/main" id="{F3E73799-76A7-4545-914C-5594D3766D47}"/>
              </a:ext>
            </a:extLst>
          </p:cNvPr>
          <p:cNvSpPr txBox="1"/>
          <p:nvPr/>
        </p:nvSpPr>
        <p:spPr>
          <a:xfrm>
            <a:off x="2807201" y="1471767"/>
            <a:ext cx="317716"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1</a:t>
            </a:r>
          </a:p>
        </p:txBody>
      </p:sp>
      <p:sp>
        <p:nvSpPr>
          <p:cNvPr id="18" name="TextBox 17">
            <a:extLst>
              <a:ext uri="{FF2B5EF4-FFF2-40B4-BE49-F238E27FC236}">
                <a16:creationId xmlns:a16="http://schemas.microsoft.com/office/drawing/2014/main" id="{1452A3BA-9019-D348-99C3-8100C07FDC8D}"/>
              </a:ext>
            </a:extLst>
          </p:cNvPr>
          <p:cNvSpPr txBox="1"/>
          <p:nvPr/>
        </p:nvSpPr>
        <p:spPr>
          <a:xfrm>
            <a:off x="1882654" y="1471767"/>
            <a:ext cx="317716"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2</a:t>
            </a:r>
          </a:p>
        </p:txBody>
      </p:sp>
      <p:sp>
        <p:nvSpPr>
          <p:cNvPr id="19" name="TextBox 18">
            <a:extLst>
              <a:ext uri="{FF2B5EF4-FFF2-40B4-BE49-F238E27FC236}">
                <a16:creationId xmlns:a16="http://schemas.microsoft.com/office/drawing/2014/main" id="{6D8804E0-5400-A946-A89A-686B62C0BFB5}"/>
              </a:ext>
            </a:extLst>
          </p:cNvPr>
          <p:cNvSpPr txBox="1"/>
          <p:nvPr/>
        </p:nvSpPr>
        <p:spPr>
          <a:xfrm>
            <a:off x="208721" y="2089578"/>
            <a:ext cx="3124200" cy="430887"/>
          </a:xfrm>
          <a:prstGeom prst="rect">
            <a:avLst/>
          </a:prstGeom>
          <a:noFill/>
        </p:spPr>
        <p:txBody>
          <a:bodyPr wrap="square" rtlCol="0">
            <a:spAutoFit/>
          </a:bodyPr>
          <a:lstStyle/>
          <a:p>
            <a:pPr algn="ctr"/>
            <a:r>
              <a:rPr lang="en-US" sz="2200" dirty="0"/>
              <a:t>now what????????</a:t>
            </a:r>
            <a:endParaRPr lang="en-US" sz="2200" b="1" dirty="0">
              <a:latin typeface="Consolas" panose="020B0609020204030204" pitchFamily="49" charset="0"/>
              <a:cs typeface="Consolas" panose="020B0609020204030204" pitchFamily="49" charset="0"/>
            </a:endParaRPr>
          </a:p>
        </p:txBody>
      </p:sp>
      <p:sp>
        <p:nvSpPr>
          <p:cNvPr id="20" name="TextBox 19">
            <a:extLst>
              <a:ext uri="{FF2B5EF4-FFF2-40B4-BE49-F238E27FC236}">
                <a16:creationId xmlns:a16="http://schemas.microsoft.com/office/drawing/2014/main" id="{9CD0E338-C716-784D-BC03-AEAB245ECD0B}"/>
              </a:ext>
            </a:extLst>
          </p:cNvPr>
          <p:cNvSpPr txBox="1"/>
          <p:nvPr/>
        </p:nvSpPr>
        <p:spPr>
          <a:xfrm>
            <a:off x="3374914" y="1119228"/>
            <a:ext cx="5462877" cy="769441"/>
          </a:xfrm>
          <a:prstGeom prst="rect">
            <a:avLst/>
          </a:prstGeom>
          <a:noFill/>
        </p:spPr>
        <p:txBody>
          <a:bodyPr wrap="square" rtlCol="0">
            <a:spAutoFit/>
          </a:bodyPr>
          <a:lstStyle/>
          <a:p>
            <a:pPr algn="ctr"/>
            <a:r>
              <a:rPr lang="en-US" sz="2200" dirty="0"/>
              <a:t>these objects are </a:t>
            </a:r>
            <a:r>
              <a:rPr lang="en-US" sz="2200" b="1" dirty="0"/>
              <a:t>unreachable </a:t>
            </a:r>
            <a:r>
              <a:rPr lang="en-US" sz="2200" dirty="0"/>
              <a:t>and </a:t>
            </a:r>
            <a:r>
              <a:rPr lang="en-US" sz="2200" i="1" dirty="0"/>
              <a:t>should</a:t>
            </a:r>
            <a:r>
              <a:rPr lang="en-US" sz="2200" dirty="0"/>
              <a:t> be deallocated. </a:t>
            </a:r>
            <a:r>
              <a:rPr lang="en-US" sz="2200" b="1" dirty="0"/>
              <a:t>but they won't be.</a:t>
            </a:r>
            <a:r>
              <a:rPr lang="en-US" sz="2200" dirty="0"/>
              <a:t> </a:t>
            </a:r>
            <a:endParaRPr lang="en-US" sz="2200" b="1" dirty="0">
              <a:latin typeface="Consolas" panose="020B0609020204030204" pitchFamily="49" charset="0"/>
              <a:cs typeface="Consolas" panose="020B0609020204030204" pitchFamily="49" charset="0"/>
            </a:endParaRPr>
          </a:p>
        </p:txBody>
      </p:sp>
      <p:sp>
        <p:nvSpPr>
          <p:cNvPr id="21" name="TextBox 20">
            <a:extLst>
              <a:ext uri="{FF2B5EF4-FFF2-40B4-BE49-F238E27FC236}">
                <a16:creationId xmlns:a16="http://schemas.microsoft.com/office/drawing/2014/main" id="{A775C604-D642-2444-9CE1-19CB11E60675}"/>
              </a:ext>
            </a:extLst>
          </p:cNvPr>
          <p:cNvSpPr txBox="1"/>
          <p:nvPr/>
        </p:nvSpPr>
        <p:spPr>
          <a:xfrm>
            <a:off x="3505650" y="1888669"/>
            <a:ext cx="5336822" cy="769441"/>
          </a:xfrm>
          <a:prstGeom prst="rect">
            <a:avLst/>
          </a:prstGeom>
          <a:noFill/>
        </p:spPr>
        <p:txBody>
          <a:bodyPr wrap="square" rtlCol="0">
            <a:spAutoFit/>
          </a:bodyPr>
          <a:lstStyle/>
          <a:p>
            <a:pPr algn="ctr"/>
            <a:r>
              <a:rPr lang="en-US" sz="2200" dirty="0"/>
              <a:t>this is a </a:t>
            </a:r>
            <a:r>
              <a:rPr lang="en-US" sz="2200" b="1" dirty="0"/>
              <a:t>memory leak: </a:t>
            </a:r>
            <a:r>
              <a:rPr lang="en-US" sz="2200" dirty="0"/>
              <a:t>these objects take up space that can </a:t>
            </a:r>
            <a:r>
              <a:rPr lang="en-US" sz="2200" b="1" dirty="0">
                <a:solidFill>
                  <a:srgbClr val="FF0000"/>
                </a:solidFill>
              </a:rPr>
              <a:t>never be deallocated.</a:t>
            </a:r>
            <a:endParaRPr lang="en-US" sz="2200" b="1" dirty="0">
              <a:solidFill>
                <a:srgbClr val="FF0000"/>
              </a:solidFill>
              <a:latin typeface="Consolas" panose="020B0609020204030204" pitchFamily="49" charset="0"/>
              <a:cs typeface="Consolas" panose="020B0609020204030204" pitchFamily="49" charset="0"/>
            </a:endParaRPr>
          </a:p>
        </p:txBody>
      </p:sp>
      <p:sp>
        <p:nvSpPr>
          <p:cNvPr id="22" name="TextBox 21">
            <a:extLst>
              <a:ext uri="{FF2B5EF4-FFF2-40B4-BE49-F238E27FC236}">
                <a16:creationId xmlns:a16="http://schemas.microsoft.com/office/drawing/2014/main" id="{68390972-D6F1-AB41-8337-C299084C1A22}"/>
              </a:ext>
            </a:extLst>
          </p:cNvPr>
          <p:cNvSpPr txBox="1"/>
          <p:nvPr/>
        </p:nvSpPr>
        <p:spPr>
          <a:xfrm>
            <a:off x="272652" y="2886080"/>
            <a:ext cx="4138608" cy="1107996"/>
          </a:xfrm>
          <a:prstGeom prst="rect">
            <a:avLst/>
          </a:prstGeom>
          <a:noFill/>
        </p:spPr>
        <p:txBody>
          <a:bodyPr wrap="square" rtlCol="0">
            <a:spAutoFit/>
          </a:bodyPr>
          <a:lstStyle/>
          <a:p>
            <a:pPr algn="ctr"/>
            <a:r>
              <a:rPr lang="en-US" sz="2200" dirty="0"/>
              <a:t>it's also bad for </a:t>
            </a:r>
            <a:r>
              <a:rPr lang="en-US" sz="2200" b="1" dirty="0"/>
              <a:t>multithreaded </a:t>
            </a:r>
            <a:r>
              <a:rPr lang="en-US" sz="2200" dirty="0"/>
              <a:t>programs, since the threads will fight over the </a:t>
            </a:r>
            <a:r>
              <a:rPr lang="en-US" sz="2200" dirty="0" err="1"/>
              <a:t>refcount</a:t>
            </a:r>
            <a:r>
              <a:rPr lang="en-US" sz="2200" dirty="0"/>
              <a:t>.</a:t>
            </a:r>
            <a:endParaRPr lang="en-US" sz="2200" b="1" dirty="0">
              <a:latin typeface="Consolas" panose="020B0609020204030204" pitchFamily="49" charset="0"/>
              <a:cs typeface="Consolas" panose="020B0609020204030204" pitchFamily="49" charset="0"/>
            </a:endParaRPr>
          </a:p>
        </p:txBody>
      </p:sp>
      <p:grpSp>
        <p:nvGrpSpPr>
          <p:cNvPr id="23" name="Group 22">
            <a:extLst>
              <a:ext uri="{FF2B5EF4-FFF2-40B4-BE49-F238E27FC236}">
                <a16:creationId xmlns:a16="http://schemas.microsoft.com/office/drawing/2014/main" id="{A14AC161-5BC1-C444-ABAD-83C129D82C9A}"/>
              </a:ext>
            </a:extLst>
          </p:cNvPr>
          <p:cNvGrpSpPr/>
          <p:nvPr/>
        </p:nvGrpSpPr>
        <p:grpSpPr>
          <a:xfrm>
            <a:off x="4609677" y="2931291"/>
            <a:ext cx="3719963" cy="1143000"/>
            <a:chOff x="-135835" y="1257300"/>
            <a:chExt cx="3719963" cy="1143000"/>
          </a:xfrm>
        </p:grpSpPr>
        <p:sp>
          <p:nvSpPr>
            <p:cNvPr id="24" name="Rectangle 23">
              <a:extLst>
                <a:ext uri="{FF2B5EF4-FFF2-40B4-BE49-F238E27FC236}">
                  <a16:creationId xmlns:a16="http://schemas.microsoft.com/office/drawing/2014/main" id="{05C354DA-4D81-E540-B559-CD7D894338DA}"/>
                </a:ext>
              </a:extLst>
            </p:cNvPr>
            <p:cNvSpPr/>
            <p:nvPr/>
          </p:nvSpPr>
          <p:spPr>
            <a:xfrm>
              <a:off x="-135835" y="1257300"/>
              <a:ext cx="685800" cy="1143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nsolas" panose="020B0609020204030204" pitchFamily="49" charset="0"/>
                  <a:cs typeface="Consolas" panose="020B0609020204030204" pitchFamily="49" charset="0"/>
                </a:rPr>
                <a:t>t1</a:t>
              </a:r>
            </a:p>
          </p:txBody>
        </p:sp>
        <p:sp>
          <p:nvSpPr>
            <p:cNvPr id="25" name="Rectangle 24">
              <a:extLst>
                <a:ext uri="{FF2B5EF4-FFF2-40B4-BE49-F238E27FC236}">
                  <a16:creationId xmlns:a16="http://schemas.microsoft.com/office/drawing/2014/main" id="{6D82A853-7F42-FB4D-B76D-BA887B321153}"/>
                </a:ext>
              </a:extLst>
            </p:cNvPr>
            <p:cNvSpPr/>
            <p:nvPr/>
          </p:nvSpPr>
          <p:spPr>
            <a:xfrm>
              <a:off x="2898328" y="1257300"/>
              <a:ext cx="685800" cy="1143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nsolas" panose="020B0609020204030204" pitchFamily="49" charset="0"/>
                  <a:cs typeface="Consolas" panose="020B0609020204030204" pitchFamily="49" charset="0"/>
                </a:rPr>
                <a:t>t2</a:t>
              </a:r>
            </a:p>
          </p:txBody>
        </p:sp>
        <p:sp>
          <p:nvSpPr>
            <p:cNvPr id="26" name="Rounded Rectangle 25">
              <a:extLst>
                <a:ext uri="{FF2B5EF4-FFF2-40B4-BE49-F238E27FC236}">
                  <a16:creationId xmlns:a16="http://schemas.microsoft.com/office/drawing/2014/main" id="{ED87DB36-3968-814A-9DB0-99798010B3EF}"/>
                </a:ext>
              </a:extLst>
            </p:cNvPr>
            <p:cNvSpPr/>
            <p:nvPr/>
          </p:nvSpPr>
          <p:spPr>
            <a:xfrm>
              <a:off x="1428550" y="156237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cxnSp>
          <p:nvCxnSpPr>
            <p:cNvPr id="27" name="Straight Arrow Connector 26">
              <a:extLst>
                <a:ext uri="{FF2B5EF4-FFF2-40B4-BE49-F238E27FC236}">
                  <a16:creationId xmlns:a16="http://schemas.microsoft.com/office/drawing/2014/main" id="{79AAC731-6938-6549-BFFC-63AEA2E92769}"/>
                </a:ext>
              </a:extLst>
            </p:cNvPr>
            <p:cNvCxnSpPr>
              <a:cxnSpLocks/>
              <a:stCxn id="24" idx="3"/>
              <a:endCxn id="26" idx="1"/>
            </p:cNvCxnSpPr>
            <p:nvPr/>
          </p:nvCxnSpPr>
          <p:spPr>
            <a:xfrm>
              <a:off x="549965" y="1828800"/>
              <a:ext cx="878585" cy="2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906E909-20EA-E945-97BC-7930267EB993}"/>
                </a:ext>
              </a:extLst>
            </p:cNvPr>
            <p:cNvCxnSpPr>
              <a:cxnSpLocks/>
              <a:stCxn id="25" idx="1"/>
              <a:endCxn id="26" idx="3"/>
            </p:cNvCxnSpPr>
            <p:nvPr/>
          </p:nvCxnSpPr>
          <p:spPr>
            <a:xfrm flipH="1">
              <a:off x="1958902" y="1828800"/>
              <a:ext cx="939426" cy="27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457B6D04-6716-F046-804C-2AA5419BFF39}"/>
              </a:ext>
            </a:extLst>
          </p:cNvPr>
          <p:cNvSpPr txBox="1"/>
          <p:nvPr/>
        </p:nvSpPr>
        <p:spPr>
          <a:xfrm rot="5400000">
            <a:off x="6250809" y="3318125"/>
            <a:ext cx="437940" cy="369332"/>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:c</a:t>
            </a:r>
          </a:p>
        </p:txBody>
      </p:sp>
      <p:sp>
        <p:nvSpPr>
          <p:cNvPr id="32" name="Rectangular Callout 31">
            <a:extLst>
              <a:ext uri="{FF2B5EF4-FFF2-40B4-BE49-F238E27FC236}">
                <a16:creationId xmlns:a16="http://schemas.microsoft.com/office/drawing/2014/main" id="{396D55F0-95FC-964D-8034-6A8C68A6D640}"/>
              </a:ext>
            </a:extLst>
          </p:cNvPr>
          <p:cNvSpPr/>
          <p:nvPr/>
        </p:nvSpPr>
        <p:spPr>
          <a:xfrm>
            <a:off x="5409776" y="2705100"/>
            <a:ext cx="764285" cy="377531"/>
          </a:xfrm>
          <a:prstGeom prst="wedgeRectCallout">
            <a:avLst>
              <a:gd name="adj1" fmla="val -98873"/>
              <a:gd name="adj2" fmla="val 6759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it's 1!</a:t>
            </a:r>
          </a:p>
        </p:txBody>
      </p:sp>
      <p:sp>
        <p:nvSpPr>
          <p:cNvPr id="33" name="Rectangular Callout 32">
            <a:extLst>
              <a:ext uri="{FF2B5EF4-FFF2-40B4-BE49-F238E27FC236}">
                <a16:creationId xmlns:a16="http://schemas.microsoft.com/office/drawing/2014/main" id="{2AB9C144-453E-754E-A5AB-182ACF636B79}"/>
              </a:ext>
            </a:extLst>
          </p:cNvPr>
          <p:cNvSpPr/>
          <p:nvPr/>
        </p:nvSpPr>
        <p:spPr>
          <a:xfrm>
            <a:off x="6585090" y="2796533"/>
            <a:ext cx="764285" cy="377531"/>
          </a:xfrm>
          <a:prstGeom prst="wedgeRectCallout">
            <a:avLst>
              <a:gd name="adj1" fmla="val 106406"/>
              <a:gd name="adj2" fmla="val 4720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it's 2!</a:t>
            </a:r>
          </a:p>
        </p:txBody>
      </p:sp>
      <p:sp>
        <p:nvSpPr>
          <p:cNvPr id="34" name="Rectangular Callout 33">
            <a:extLst>
              <a:ext uri="{FF2B5EF4-FFF2-40B4-BE49-F238E27FC236}">
                <a16:creationId xmlns:a16="http://schemas.microsoft.com/office/drawing/2014/main" id="{1D864285-FC8B-B74F-B157-282B872A06A1}"/>
              </a:ext>
            </a:extLst>
          </p:cNvPr>
          <p:cNvSpPr/>
          <p:nvPr/>
        </p:nvSpPr>
        <p:spPr>
          <a:xfrm>
            <a:off x="5359198" y="2949932"/>
            <a:ext cx="764285" cy="377531"/>
          </a:xfrm>
          <a:prstGeom prst="wedgeRectCallout">
            <a:avLst>
              <a:gd name="adj1" fmla="val -83760"/>
              <a:gd name="adj2" fmla="val 3445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1!!!</a:t>
            </a:r>
          </a:p>
        </p:txBody>
      </p:sp>
      <p:sp>
        <p:nvSpPr>
          <p:cNvPr id="36" name="Rectangular Callout 35">
            <a:extLst>
              <a:ext uri="{FF2B5EF4-FFF2-40B4-BE49-F238E27FC236}">
                <a16:creationId xmlns:a16="http://schemas.microsoft.com/office/drawing/2014/main" id="{32535DB0-0B9B-A54A-BECF-2EA242A31766}"/>
              </a:ext>
            </a:extLst>
          </p:cNvPr>
          <p:cNvSpPr/>
          <p:nvPr/>
        </p:nvSpPr>
        <p:spPr>
          <a:xfrm>
            <a:off x="6670503" y="2949931"/>
            <a:ext cx="764285" cy="377531"/>
          </a:xfrm>
          <a:prstGeom prst="wedgeRectCallout">
            <a:avLst>
              <a:gd name="adj1" fmla="val 92554"/>
              <a:gd name="adj2" fmla="val 47203"/>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0000"/>
                </a:solidFill>
              </a:rPr>
              <a:t>2!!!</a:t>
            </a:r>
          </a:p>
        </p:txBody>
      </p:sp>
      <p:sp>
        <p:nvSpPr>
          <p:cNvPr id="39" name="TextBox 38">
            <a:extLst>
              <a:ext uri="{FF2B5EF4-FFF2-40B4-BE49-F238E27FC236}">
                <a16:creationId xmlns:a16="http://schemas.microsoft.com/office/drawing/2014/main" id="{2C6E38AF-732A-A946-BFF4-25F683FDC078}"/>
              </a:ext>
            </a:extLst>
          </p:cNvPr>
          <p:cNvSpPr txBox="1"/>
          <p:nvPr/>
        </p:nvSpPr>
        <p:spPr>
          <a:xfrm>
            <a:off x="302469" y="4442810"/>
            <a:ext cx="8482008" cy="769441"/>
          </a:xfrm>
          <a:prstGeom prst="rect">
            <a:avLst/>
          </a:prstGeom>
          <a:noFill/>
        </p:spPr>
        <p:txBody>
          <a:bodyPr wrap="square" rtlCol="0">
            <a:spAutoFit/>
          </a:bodyPr>
          <a:lstStyle/>
          <a:p>
            <a:pPr algn="ctr"/>
            <a:r>
              <a:rPr lang="en-US" sz="2200" dirty="0"/>
              <a:t>knowing the in-degree is </a:t>
            </a:r>
            <a:r>
              <a:rPr lang="en-US" sz="2200" i="1" dirty="0"/>
              <a:t>necessary</a:t>
            </a:r>
            <a:r>
              <a:rPr lang="en-US" sz="2200" dirty="0"/>
              <a:t> for automatic memory management, but it isn't </a:t>
            </a:r>
            <a:r>
              <a:rPr lang="en-US" sz="2200" i="1" dirty="0"/>
              <a:t>sufficient: </a:t>
            </a:r>
            <a:r>
              <a:rPr lang="en-US" sz="2200" b="1" dirty="0"/>
              <a:t>it's not </a:t>
            </a:r>
            <a:r>
              <a:rPr lang="en-US" sz="2200" b="1" i="1" dirty="0"/>
              <a:t>all</a:t>
            </a:r>
            <a:r>
              <a:rPr lang="en-US" sz="2200" b="1" dirty="0"/>
              <a:t> you need to know.</a:t>
            </a:r>
            <a:endParaRPr lang="en-US" sz="2200" b="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6720995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4"/>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8"/>
                                        </p:tgtEl>
                                        <p:attrNameLst>
                                          <p:attrName>style.visibility</p:attrName>
                                        </p:attrNameLst>
                                      </p:cBhvr>
                                      <p:to>
                                        <p:strVal val="hidden"/>
                                      </p:to>
                                    </p:set>
                                  </p:childTnLst>
                                </p:cTn>
                              </p:par>
                              <p:par>
                                <p:cTn id="37" presetID="1" presetClass="entr" presetSubtype="0" fill="hold" grpId="2"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6" grpId="0"/>
      <p:bldP spid="16" grpId="1"/>
      <p:bldP spid="16" grpId="2"/>
      <p:bldP spid="17" grpId="0"/>
      <p:bldP spid="18" grpId="0"/>
      <p:bldP spid="18" grpId="1"/>
      <p:bldP spid="19" grpId="0"/>
      <p:bldP spid="20" grpId="0"/>
      <p:bldP spid="21" grpId="0"/>
      <p:bldP spid="22" grpId="0"/>
      <p:bldP spid="29" grpId="0"/>
      <p:bldP spid="32" grpId="0" animBg="1"/>
      <p:bldP spid="33" grpId="0" animBg="1"/>
      <p:bldP spid="34" grpId="0" animBg="1"/>
      <p:bldP spid="36" grpId="0" animBg="1"/>
      <p:bldP spid="3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AA6A-4688-E345-ADBF-3F8981A6FBB7}"/>
              </a:ext>
            </a:extLst>
          </p:cNvPr>
          <p:cNvSpPr>
            <a:spLocks noGrp="1"/>
          </p:cNvSpPr>
          <p:nvPr>
            <p:ph type="ctrTitle"/>
          </p:nvPr>
        </p:nvSpPr>
        <p:spPr/>
        <p:txBody>
          <a:bodyPr/>
          <a:lstStyle/>
          <a:p>
            <a:r>
              <a:rPr lang="en-US" dirty="0"/>
              <a:t>Tracing Garbage Collection</a:t>
            </a:r>
          </a:p>
        </p:txBody>
      </p:sp>
      <p:sp>
        <p:nvSpPr>
          <p:cNvPr id="4" name="Subtitle 3">
            <a:extLst>
              <a:ext uri="{FF2B5EF4-FFF2-40B4-BE49-F238E27FC236}">
                <a16:creationId xmlns:a16="http://schemas.microsoft.com/office/drawing/2014/main" id="{CFFCC24E-DA39-D149-953A-DDEA764CD989}"/>
              </a:ext>
            </a:extLst>
          </p:cNvPr>
          <p:cNvSpPr>
            <a:spLocks noGrp="1"/>
          </p:cNvSpPr>
          <p:nvPr>
            <p:ph type="subTitle" idx="1"/>
          </p:nvPr>
        </p:nvSpPr>
        <p:spPr/>
        <p:txBody>
          <a:bodyPr>
            <a:normAutofit/>
          </a:bodyPr>
          <a:lstStyle/>
          <a:p>
            <a:r>
              <a:rPr lang="en-US" sz="1200" dirty="0"/>
              <a:t>time check ≤ 90 min</a:t>
            </a:r>
          </a:p>
        </p:txBody>
      </p:sp>
      <p:sp>
        <p:nvSpPr>
          <p:cNvPr id="3" name="Slide Number Placeholder 2">
            <a:extLst>
              <a:ext uri="{FF2B5EF4-FFF2-40B4-BE49-F238E27FC236}">
                <a16:creationId xmlns:a16="http://schemas.microsoft.com/office/drawing/2014/main" id="{16BA5895-A98F-5A4C-A5F0-0CBAC3017351}"/>
              </a:ext>
            </a:extLst>
          </p:cNvPr>
          <p:cNvSpPr>
            <a:spLocks noGrp="1"/>
          </p:cNvSpPr>
          <p:nvPr>
            <p:ph type="sldNum" sz="quarter" idx="12"/>
          </p:nvPr>
        </p:nvSpPr>
        <p:spPr/>
        <p:txBody>
          <a:bodyPr/>
          <a:lstStyle/>
          <a:p>
            <a:fld id="{3552B95B-556F-44BD-91A5-D80C1B9E2BB3}" type="slidenum">
              <a:rPr lang="en-US" smtClean="0"/>
              <a:pPr/>
              <a:t>27</a:t>
            </a:fld>
            <a:endParaRPr lang="en-US"/>
          </a:p>
        </p:txBody>
      </p:sp>
    </p:spTree>
    <p:extLst>
      <p:ext uri="{BB962C8B-B14F-4D97-AF65-F5344CB8AC3E}">
        <p14:creationId xmlns:p14="http://schemas.microsoft.com/office/powerpoint/2010/main" val="234402382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BB024-F3E8-B947-88DD-B863A4263938}"/>
              </a:ext>
            </a:extLst>
          </p:cNvPr>
          <p:cNvSpPr>
            <a:spLocks noGrp="1"/>
          </p:cNvSpPr>
          <p:nvPr>
            <p:ph type="title"/>
          </p:nvPr>
        </p:nvSpPr>
        <p:spPr/>
        <p:txBody>
          <a:bodyPr/>
          <a:lstStyle/>
          <a:p>
            <a:r>
              <a:rPr lang="en-US" dirty="0"/>
              <a:t>The idea</a:t>
            </a:r>
            <a:r>
              <a:rPr lang="en-US" sz="2000" dirty="0"/>
              <a:t> (animated)</a:t>
            </a:r>
            <a:endParaRPr lang="en-US" dirty="0"/>
          </a:p>
        </p:txBody>
      </p:sp>
      <p:sp>
        <p:nvSpPr>
          <p:cNvPr id="3" name="Content Placeholder 2">
            <a:extLst>
              <a:ext uri="{FF2B5EF4-FFF2-40B4-BE49-F238E27FC236}">
                <a16:creationId xmlns:a16="http://schemas.microsoft.com/office/drawing/2014/main" id="{A59F1A30-1036-4D44-A2E6-E3900A2FE6DF}"/>
              </a:ext>
            </a:extLst>
          </p:cNvPr>
          <p:cNvSpPr>
            <a:spLocks noGrp="1"/>
          </p:cNvSpPr>
          <p:nvPr>
            <p:ph idx="1"/>
          </p:nvPr>
        </p:nvSpPr>
        <p:spPr>
          <a:xfrm>
            <a:off x="152400" y="495302"/>
            <a:ext cx="8991600" cy="495300"/>
          </a:xfrm>
        </p:spPr>
        <p:txBody>
          <a:bodyPr/>
          <a:lstStyle/>
          <a:p>
            <a:r>
              <a:rPr lang="en-US" dirty="0"/>
              <a:t>same ideas as before: roots, graph, reachability.</a:t>
            </a:r>
          </a:p>
        </p:txBody>
      </p:sp>
      <p:sp>
        <p:nvSpPr>
          <p:cNvPr id="4" name="Slide Number Placeholder 3">
            <a:extLst>
              <a:ext uri="{FF2B5EF4-FFF2-40B4-BE49-F238E27FC236}">
                <a16:creationId xmlns:a16="http://schemas.microsoft.com/office/drawing/2014/main" id="{5AEE8E10-BF6C-F549-B414-5F2C16B32C7B}"/>
              </a:ext>
            </a:extLst>
          </p:cNvPr>
          <p:cNvSpPr>
            <a:spLocks noGrp="1"/>
          </p:cNvSpPr>
          <p:nvPr>
            <p:ph type="sldNum" sz="quarter" idx="12"/>
          </p:nvPr>
        </p:nvSpPr>
        <p:spPr/>
        <p:txBody>
          <a:bodyPr/>
          <a:lstStyle/>
          <a:p>
            <a:fld id="{3552B95B-556F-44BD-91A5-D80C1B9E2BB3}" type="slidenum">
              <a:rPr lang="en-US" smtClean="0"/>
              <a:pPr/>
              <a:t>28</a:t>
            </a:fld>
            <a:endParaRPr lang="en-US"/>
          </a:p>
        </p:txBody>
      </p:sp>
      <p:sp>
        <p:nvSpPr>
          <p:cNvPr id="5" name="Rounded Rectangle 4">
            <a:extLst>
              <a:ext uri="{FF2B5EF4-FFF2-40B4-BE49-F238E27FC236}">
                <a16:creationId xmlns:a16="http://schemas.microsoft.com/office/drawing/2014/main" id="{66037227-5C14-E34C-8671-FF5D3FA82FA0}"/>
              </a:ext>
            </a:extLst>
          </p:cNvPr>
          <p:cNvSpPr/>
          <p:nvPr/>
        </p:nvSpPr>
        <p:spPr>
          <a:xfrm>
            <a:off x="451473" y="2871503"/>
            <a:ext cx="838200" cy="918321"/>
          </a:xfrm>
          <a:prstGeom prst="roundRect">
            <a:avLst>
              <a:gd name="adj" fmla="val 8421"/>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60712C3-4494-B748-B601-E881B04FA769}"/>
              </a:ext>
            </a:extLst>
          </p:cNvPr>
          <p:cNvSpPr/>
          <p:nvPr/>
        </p:nvSpPr>
        <p:spPr>
          <a:xfrm>
            <a:off x="455570" y="1473949"/>
            <a:ext cx="838200" cy="918321"/>
          </a:xfrm>
          <a:prstGeom prst="roundRect">
            <a:avLst>
              <a:gd name="adj" fmla="val 8421"/>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2BE0C60-4075-1F40-AD8F-B96D1445B279}"/>
              </a:ext>
            </a:extLst>
          </p:cNvPr>
          <p:cNvSpPr txBox="1"/>
          <p:nvPr/>
        </p:nvSpPr>
        <p:spPr>
          <a:xfrm>
            <a:off x="429997" y="1028700"/>
            <a:ext cx="889346" cy="430887"/>
          </a:xfrm>
          <a:prstGeom prst="rect">
            <a:avLst/>
          </a:prstGeom>
          <a:noFill/>
        </p:spPr>
        <p:txBody>
          <a:bodyPr wrap="none" rtlCol="0">
            <a:spAutoFit/>
          </a:bodyPr>
          <a:lstStyle/>
          <a:p>
            <a:pPr algn="ctr"/>
            <a:r>
              <a:rPr lang="en-US" sz="2200" b="1" u="sng" dirty="0"/>
              <a:t>Stack</a:t>
            </a:r>
          </a:p>
        </p:txBody>
      </p:sp>
      <p:sp>
        <p:nvSpPr>
          <p:cNvPr id="9" name="Rounded Rectangle 8">
            <a:extLst>
              <a:ext uri="{FF2B5EF4-FFF2-40B4-BE49-F238E27FC236}">
                <a16:creationId xmlns:a16="http://schemas.microsoft.com/office/drawing/2014/main" id="{CA56F7B8-3E2A-F94E-8FE3-73FC1D2E7E5C}"/>
              </a:ext>
            </a:extLst>
          </p:cNvPr>
          <p:cNvSpPr/>
          <p:nvPr/>
        </p:nvSpPr>
        <p:spPr>
          <a:xfrm>
            <a:off x="1938380" y="133170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0D16183-BD78-394F-B3AA-388E2C663902}"/>
              </a:ext>
            </a:extLst>
          </p:cNvPr>
          <p:cNvSpPr/>
          <p:nvPr/>
        </p:nvSpPr>
        <p:spPr>
          <a:xfrm>
            <a:off x="2852780" y="133170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70091AC3-BC4B-D642-8408-A0D7BA24888F}"/>
              </a:ext>
            </a:extLst>
          </p:cNvPr>
          <p:cNvSpPr/>
          <p:nvPr/>
        </p:nvSpPr>
        <p:spPr>
          <a:xfrm>
            <a:off x="3764132" y="133170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1B90DD7C-BB51-1E47-BE9B-E6B59017C483}"/>
              </a:ext>
            </a:extLst>
          </p:cNvPr>
          <p:cNvCxnSpPr>
            <a:stCxn id="9" idx="3"/>
            <a:endCxn id="10" idx="1"/>
          </p:cNvCxnSpPr>
          <p:nvPr/>
        </p:nvCxnSpPr>
        <p:spPr>
          <a:xfrm>
            <a:off x="2468732" y="1598403"/>
            <a:ext cx="3840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051BFB-8ED3-DB44-BD77-F0DFB5A4FC3C}"/>
              </a:ext>
            </a:extLst>
          </p:cNvPr>
          <p:cNvCxnSpPr>
            <a:cxnSpLocks/>
            <a:stCxn id="10" idx="3"/>
            <a:endCxn id="11" idx="1"/>
          </p:cNvCxnSpPr>
          <p:nvPr/>
        </p:nvCxnSpPr>
        <p:spPr>
          <a:xfrm>
            <a:off x="3383132" y="1598403"/>
            <a:ext cx="381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40519A1-DCF2-0147-AFFB-60FF6D1FD307}"/>
              </a:ext>
            </a:extLst>
          </p:cNvPr>
          <p:cNvCxnSpPr>
            <a:cxnSpLocks/>
            <a:endCxn id="9" idx="1"/>
          </p:cNvCxnSpPr>
          <p:nvPr/>
        </p:nvCxnSpPr>
        <p:spPr>
          <a:xfrm flipV="1">
            <a:off x="870573" y="1598403"/>
            <a:ext cx="1067807" cy="156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6E13CD36-D676-2A46-BCD6-5DE63977E711}"/>
              </a:ext>
            </a:extLst>
          </p:cNvPr>
          <p:cNvSpPr/>
          <p:nvPr/>
        </p:nvSpPr>
        <p:spPr>
          <a:xfrm>
            <a:off x="1938380" y="228002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734FEB98-4205-B645-AAB7-2C07F65FCC92}"/>
              </a:ext>
            </a:extLst>
          </p:cNvPr>
          <p:cNvSpPr/>
          <p:nvPr/>
        </p:nvSpPr>
        <p:spPr>
          <a:xfrm>
            <a:off x="2852780" y="1945894"/>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487B4EDE-E713-2B49-8F14-F7B80C0C588E}"/>
              </a:ext>
            </a:extLst>
          </p:cNvPr>
          <p:cNvSpPr/>
          <p:nvPr/>
        </p:nvSpPr>
        <p:spPr>
          <a:xfrm>
            <a:off x="2852780" y="2541330"/>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D9F48854-0B40-4949-B8B3-F91AE4CC28BD}"/>
              </a:ext>
            </a:extLst>
          </p:cNvPr>
          <p:cNvCxnSpPr>
            <a:cxnSpLocks/>
            <a:endCxn id="17" idx="1"/>
          </p:cNvCxnSpPr>
          <p:nvPr/>
        </p:nvCxnSpPr>
        <p:spPr>
          <a:xfrm flipV="1">
            <a:off x="2471780" y="2212594"/>
            <a:ext cx="381000" cy="2282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BCC3FBC-9FA6-4B46-BA1E-CD4A31D159D6}"/>
              </a:ext>
            </a:extLst>
          </p:cNvPr>
          <p:cNvCxnSpPr>
            <a:cxnSpLocks/>
            <a:endCxn id="18" idx="1"/>
          </p:cNvCxnSpPr>
          <p:nvPr/>
        </p:nvCxnSpPr>
        <p:spPr>
          <a:xfrm>
            <a:off x="2471780" y="2622121"/>
            <a:ext cx="381000" cy="1859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2115865-D0B0-1444-9FFA-920482ACD56C}"/>
              </a:ext>
            </a:extLst>
          </p:cNvPr>
          <p:cNvCxnSpPr>
            <a:cxnSpLocks/>
            <a:endCxn id="16" idx="1"/>
          </p:cNvCxnSpPr>
          <p:nvPr/>
        </p:nvCxnSpPr>
        <p:spPr>
          <a:xfrm>
            <a:off x="870573" y="2065092"/>
            <a:ext cx="1067807" cy="4816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66413DB-81B4-5C48-A471-D525A23DBEEF}"/>
              </a:ext>
            </a:extLst>
          </p:cNvPr>
          <p:cNvCxnSpPr>
            <a:cxnSpLocks/>
            <a:endCxn id="23" idx="1"/>
          </p:cNvCxnSpPr>
          <p:nvPr/>
        </p:nvCxnSpPr>
        <p:spPr>
          <a:xfrm>
            <a:off x="883319" y="3342863"/>
            <a:ext cx="1054629" cy="53888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4A9BDBB8-FC48-8741-8B2C-1E7B1B6F724B}"/>
              </a:ext>
            </a:extLst>
          </p:cNvPr>
          <p:cNvSpPr/>
          <p:nvPr/>
        </p:nvSpPr>
        <p:spPr>
          <a:xfrm>
            <a:off x="1937948" y="3615043"/>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88E5A42F-BCE5-AE4D-89F3-5503AB7F1BD0}"/>
              </a:ext>
            </a:extLst>
          </p:cNvPr>
          <p:cNvSpPr/>
          <p:nvPr/>
        </p:nvSpPr>
        <p:spPr>
          <a:xfrm>
            <a:off x="2563887" y="3147931"/>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a:extLst>
              <a:ext uri="{FF2B5EF4-FFF2-40B4-BE49-F238E27FC236}">
                <a16:creationId xmlns:a16="http://schemas.microsoft.com/office/drawing/2014/main" id="{FBBF346F-0093-9247-B8EB-CB4C03C01F52}"/>
              </a:ext>
            </a:extLst>
          </p:cNvPr>
          <p:cNvSpPr/>
          <p:nvPr/>
        </p:nvSpPr>
        <p:spPr>
          <a:xfrm>
            <a:off x="2563887" y="4116597"/>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56D4FFE7-D45B-094F-B2CD-D0C657279BEA}"/>
              </a:ext>
            </a:extLst>
          </p:cNvPr>
          <p:cNvCxnSpPr>
            <a:cxnSpLocks/>
            <a:stCxn id="23" idx="0"/>
            <a:endCxn id="24" idx="1"/>
          </p:cNvCxnSpPr>
          <p:nvPr/>
        </p:nvCxnSpPr>
        <p:spPr>
          <a:xfrm flipV="1">
            <a:off x="2203124" y="3414631"/>
            <a:ext cx="360763" cy="2004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462C92C-7E9B-F047-845E-1CD8BD5918E6}"/>
              </a:ext>
            </a:extLst>
          </p:cNvPr>
          <p:cNvCxnSpPr>
            <a:cxnSpLocks/>
            <a:stCxn id="23" idx="2"/>
            <a:endCxn id="25" idx="1"/>
          </p:cNvCxnSpPr>
          <p:nvPr/>
        </p:nvCxnSpPr>
        <p:spPr>
          <a:xfrm>
            <a:off x="2203124" y="4148443"/>
            <a:ext cx="360763" cy="234854"/>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Rounded Rectangle 27">
            <a:extLst>
              <a:ext uri="{FF2B5EF4-FFF2-40B4-BE49-F238E27FC236}">
                <a16:creationId xmlns:a16="http://schemas.microsoft.com/office/drawing/2014/main" id="{D73653FF-8251-F143-A3B5-C1AD10AA1850}"/>
              </a:ext>
            </a:extLst>
          </p:cNvPr>
          <p:cNvSpPr/>
          <p:nvPr/>
        </p:nvSpPr>
        <p:spPr>
          <a:xfrm>
            <a:off x="3197439" y="3640759"/>
            <a:ext cx="530352" cy="533400"/>
          </a:xfrm>
          <a:prstGeom prst="roundRect">
            <a:avLst>
              <a:gd name="adj" fmla="val 842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53769D07-B080-354A-BA7D-04C0C5DA72CA}"/>
              </a:ext>
            </a:extLst>
          </p:cNvPr>
          <p:cNvCxnSpPr>
            <a:cxnSpLocks/>
            <a:stCxn id="24" idx="3"/>
            <a:endCxn id="28" idx="0"/>
          </p:cNvCxnSpPr>
          <p:nvPr/>
        </p:nvCxnSpPr>
        <p:spPr>
          <a:xfrm>
            <a:off x="3094239" y="3414631"/>
            <a:ext cx="368376" cy="2261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132151A-5989-9C48-9583-591D33C860AC}"/>
              </a:ext>
            </a:extLst>
          </p:cNvPr>
          <p:cNvCxnSpPr>
            <a:cxnSpLocks/>
            <a:stCxn id="25" idx="3"/>
            <a:endCxn id="28" idx="2"/>
          </p:cNvCxnSpPr>
          <p:nvPr/>
        </p:nvCxnSpPr>
        <p:spPr>
          <a:xfrm flipV="1">
            <a:off x="3094239" y="4174159"/>
            <a:ext cx="368376" cy="209138"/>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B07EBEF-8761-6D41-BAAE-74404073315F}"/>
              </a:ext>
            </a:extLst>
          </p:cNvPr>
          <p:cNvSpPr txBox="1"/>
          <p:nvPr/>
        </p:nvSpPr>
        <p:spPr>
          <a:xfrm>
            <a:off x="287498" y="2426254"/>
            <a:ext cx="1166153" cy="430887"/>
          </a:xfrm>
          <a:prstGeom prst="rect">
            <a:avLst/>
          </a:prstGeom>
          <a:noFill/>
        </p:spPr>
        <p:txBody>
          <a:bodyPr wrap="none" rtlCol="0">
            <a:spAutoFit/>
          </a:bodyPr>
          <a:lstStyle/>
          <a:p>
            <a:pPr algn="ctr"/>
            <a:r>
              <a:rPr lang="en-US" sz="2200" b="1" u="sng" dirty="0" err="1"/>
              <a:t>Globals</a:t>
            </a:r>
            <a:endParaRPr lang="en-US" sz="2200" b="1" u="sng" dirty="0"/>
          </a:p>
        </p:txBody>
      </p:sp>
      <p:sp>
        <p:nvSpPr>
          <p:cNvPr id="32" name="TextBox 31">
            <a:extLst>
              <a:ext uri="{FF2B5EF4-FFF2-40B4-BE49-F238E27FC236}">
                <a16:creationId xmlns:a16="http://schemas.microsoft.com/office/drawing/2014/main" id="{62542662-DE52-9B49-8408-10CD64E4557B}"/>
              </a:ext>
            </a:extLst>
          </p:cNvPr>
          <p:cNvSpPr txBox="1"/>
          <p:nvPr/>
        </p:nvSpPr>
        <p:spPr>
          <a:xfrm>
            <a:off x="4572000" y="1052636"/>
            <a:ext cx="4462112" cy="1107996"/>
          </a:xfrm>
          <a:prstGeom prst="rect">
            <a:avLst/>
          </a:prstGeom>
          <a:noFill/>
        </p:spPr>
        <p:txBody>
          <a:bodyPr wrap="square" rtlCol="0">
            <a:spAutoFit/>
          </a:bodyPr>
          <a:lstStyle/>
          <a:p>
            <a:pPr algn="ctr"/>
            <a:r>
              <a:rPr lang="en-US" sz="2200" dirty="0"/>
              <a:t>your program runs normally, with </a:t>
            </a:r>
            <a:r>
              <a:rPr lang="en-US" sz="2200" b="1" dirty="0"/>
              <a:t>no reference counting.</a:t>
            </a:r>
            <a:r>
              <a:rPr lang="en-US" sz="2200" dirty="0"/>
              <a:t> this is called the </a:t>
            </a:r>
            <a:r>
              <a:rPr lang="en-US" sz="2200" b="1" dirty="0"/>
              <a:t>mutation phase.</a:t>
            </a:r>
            <a:endParaRPr lang="en-US" sz="2200" b="1" dirty="0">
              <a:latin typeface="Consolas" panose="020B0609020204030204" pitchFamily="49" charset="0"/>
              <a:cs typeface="Consolas" panose="020B0609020204030204" pitchFamily="49" charset="0"/>
            </a:endParaRPr>
          </a:p>
        </p:txBody>
      </p:sp>
      <p:sp>
        <p:nvSpPr>
          <p:cNvPr id="33" name="TextBox 32">
            <a:extLst>
              <a:ext uri="{FF2B5EF4-FFF2-40B4-BE49-F238E27FC236}">
                <a16:creationId xmlns:a16="http://schemas.microsoft.com/office/drawing/2014/main" id="{68821F1E-67C0-224E-906E-9B408434A9B3}"/>
              </a:ext>
            </a:extLst>
          </p:cNvPr>
          <p:cNvSpPr txBox="1"/>
          <p:nvPr/>
        </p:nvSpPr>
        <p:spPr>
          <a:xfrm>
            <a:off x="4126995" y="2280345"/>
            <a:ext cx="4729508" cy="769441"/>
          </a:xfrm>
          <a:prstGeom prst="rect">
            <a:avLst/>
          </a:prstGeom>
          <a:noFill/>
        </p:spPr>
        <p:txBody>
          <a:bodyPr wrap="square" rtlCol="0">
            <a:spAutoFit/>
          </a:bodyPr>
          <a:lstStyle/>
          <a:p>
            <a:pPr algn="ctr"/>
            <a:r>
              <a:rPr lang="en-US" sz="2200" dirty="0"/>
              <a:t>periodically, your program is </a:t>
            </a:r>
            <a:r>
              <a:rPr lang="en-US" sz="2200" b="1" dirty="0"/>
              <a:t>paused</a:t>
            </a:r>
            <a:r>
              <a:rPr lang="en-US" sz="2200" dirty="0"/>
              <a:t> and the </a:t>
            </a:r>
            <a:r>
              <a:rPr lang="en-US" sz="2200" b="1" dirty="0"/>
              <a:t>collection phase </a:t>
            </a:r>
            <a:r>
              <a:rPr lang="en-US" sz="2200" dirty="0"/>
              <a:t>begins.</a:t>
            </a:r>
            <a:endParaRPr lang="en-US" sz="2200" dirty="0">
              <a:latin typeface="Consolas" panose="020B0609020204030204" pitchFamily="49" charset="0"/>
              <a:cs typeface="Consolas" panose="020B0609020204030204" pitchFamily="49" charset="0"/>
            </a:endParaRPr>
          </a:p>
        </p:txBody>
      </p:sp>
      <p:sp>
        <p:nvSpPr>
          <p:cNvPr id="35" name="TextBox 34">
            <a:extLst>
              <a:ext uri="{FF2B5EF4-FFF2-40B4-BE49-F238E27FC236}">
                <a16:creationId xmlns:a16="http://schemas.microsoft.com/office/drawing/2014/main" id="{63EBC77B-2420-D742-A4BE-E3D922950345}"/>
              </a:ext>
            </a:extLst>
          </p:cNvPr>
          <p:cNvSpPr txBox="1"/>
          <p:nvPr/>
        </p:nvSpPr>
        <p:spPr>
          <a:xfrm>
            <a:off x="3992967" y="3209335"/>
            <a:ext cx="5181017" cy="1107996"/>
          </a:xfrm>
          <a:prstGeom prst="rect">
            <a:avLst/>
          </a:prstGeom>
          <a:noFill/>
        </p:spPr>
        <p:txBody>
          <a:bodyPr wrap="square" rtlCol="0">
            <a:spAutoFit/>
          </a:bodyPr>
          <a:lstStyle/>
          <a:p>
            <a:pPr algn="ctr"/>
            <a:r>
              <a:rPr lang="en-US" sz="2200" dirty="0"/>
              <a:t>the </a:t>
            </a:r>
            <a:r>
              <a:rPr lang="en-US" sz="2200" b="1" dirty="0"/>
              <a:t>collector </a:t>
            </a:r>
            <a:r>
              <a:rPr lang="en-US" sz="2200" dirty="0"/>
              <a:t>starts at the roots, and follows every arrow it can find, marking each object it encounters as </a:t>
            </a:r>
            <a:r>
              <a:rPr lang="en-US" sz="2200" b="1" dirty="0"/>
              <a:t>live.</a:t>
            </a:r>
            <a:endParaRPr lang="en-US" sz="2200" dirty="0"/>
          </a:p>
        </p:txBody>
      </p:sp>
      <p:sp>
        <p:nvSpPr>
          <p:cNvPr id="36" name="TextBox 35">
            <a:extLst>
              <a:ext uri="{FF2B5EF4-FFF2-40B4-BE49-F238E27FC236}">
                <a16:creationId xmlns:a16="http://schemas.microsoft.com/office/drawing/2014/main" id="{2AF0620D-58A6-4C46-BA7C-AFB61639D5EE}"/>
              </a:ext>
            </a:extLst>
          </p:cNvPr>
          <p:cNvSpPr txBox="1"/>
          <p:nvPr/>
        </p:nvSpPr>
        <p:spPr>
          <a:xfrm>
            <a:off x="4211088" y="4392277"/>
            <a:ext cx="4675232" cy="1107996"/>
          </a:xfrm>
          <a:prstGeom prst="rect">
            <a:avLst/>
          </a:prstGeom>
          <a:noFill/>
        </p:spPr>
        <p:txBody>
          <a:bodyPr wrap="square" rtlCol="0">
            <a:spAutoFit/>
          </a:bodyPr>
          <a:lstStyle/>
          <a:p>
            <a:pPr algn="ctr"/>
            <a:r>
              <a:rPr lang="en-US" sz="2200" dirty="0"/>
              <a:t>when there are no more arrows to follow, the remaining objects are </a:t>
            </a:r>
            <a:r>
              <a:rPr lang="en-US" sz="2200" b="1" dirty="0"/>
              <a:t>garbage </a:t>
            </a:r>
            <a:r>
              <a:rPr lang="en-US" sz="2200" dirty="0"/>
              <a:t>and are swept away.</a:t>
            </a:r>
          </a:p>
        </p:txBody>
      </p:sp>
      <p:sp>
        <p:nvSpPr>
          <p:cNvPr id="59" name="TextBox 58">
            <a:extLst>
              <a:ext uri="{FF2B5EF4-FFF2-40B4-BE49-F238E27FC236}">
                <a16:creationId xmlns:a16="http://schemas.microsoft.com/office/drawing/2014/main" id="{4E000A6E-3D10-E140-8B51-F639EF308AD1}"/>
              </a:ext>
            </a:extLst>
          </p:cNvPr>
          <p:cNvSpPr txBox="1"/>
          <p:nvPr/>
        </p:nvSpPr>
        <p:spPr>
          <a:xfrm>
            <a:off x="1732410" y="997195"/>
            <a:ext cx="543739" cy="523220"/>
          </a:xfrm>
          <a:prstGeom prst="rect">
            <a:avLst/>
          </a:prstGeom>
          <a:noFill/>
        </p:spPr>
        <p:txBody>
          <a:bodyPr wrap="none" rtlCol="0">
            <a:spAutoFit/>
          </a:bodyPr>
          <a:lstStyle/>
          <a:p>
            <a:r>
              <a:rPr lang="en-US" sz="2800" b="1" dirty="0">
                <a:solidFill>
                  <a:schemeClr val="accent3">
                    <a:lumMod val="75000"/>
                  </a:schemeClr>
                </a:solidFill>
              </a:rPr>
              <a:t>✅</a:t>
            </a:r>
          </a:p>
        </p:txBody>
      </p:sp>
      <p:sp>
        <p:nvSpPr>
          <p:cNvPr id="60" name="TextBox 59">
            <a:extLst>
              <a:ext uri="{FF2B5EF4-FFF2-40B4-BE49-F238E27FC236}">
                <a16:creationId xmlns:a16="http://schemas.microsoft.com/office/drawing/2014/main" id="{605D77CD-952F-3A44-8997-8B7F2B540C2F}"/>
              </a:ext>
            </a:extLst>
          </p:cNvPr>
          <p:cNvSpPr txBox="1"/>
          <p:nvPr/>
        </p:nvSpPr>
        <p:spPr>
          <a:xfrm>
            <a:off x="1689416" y="2053815"/>
            <a:ext cx="543739" cy="523220"/>
          </a:xfrm>
          <a:prstGeom prst="rect">
            <a:avLst/>
          </a:prstGeom>
          <a:noFill/>
        </p:spPr>
        <p:txBody>
          <a:bodyPr wrap="none" rtlCol="0">
            <a:spAutoFit/>
          </a:bodyPr>
          <a:lstStyle/>
          <a:p>
            <a:r>
              <a:rPr lang="en-US" sz="2800" b="1" dirty="0">
                <a:solidFill>
                  <a:schemeClr val="accent3">
                    <a:lumMod val="75000"/>
                  </a:schemeClr>
                </a:solidFill>
              </a:rPr>
              <a:t>✅</a:t>
            </a:r>
          </a:p>
        </p:txBody>
      </p:sp>
      <p:sp>
        <p:nvSpPr>
          <p:cNvPr id="61" name="TextBox 60">
            <a:extLst>
              <a:ext uri="{FF2B5EF4-FFF2-40B4-BE49-F238E27FC236}">
                <a16:creationId xmlns:a16="http://schemas.microsoft.com/office/drawing/2014/main" id="{841B7597-548E-934F-AC57-72ACF9697647}"/>
              </a:ext>
            </a:extLst>
          </p:cNvPr>
          <p:cNvSpPr txBox="1"/>
          <p:nvPr/>
        </p:nvSpPr>
        <p:spPr>
          <a:xfrm>
            <a:off x="2641508" y="1796896"/>
            <a:ext cx="543739" cy="523220"/>
          </a:xfrm>
          <a:prstGeom prst="rect">
            <a:avLst/>
          </a:prstGeom>
          <a:noFill/>
        </p:spPr>
        <p:txBody>
          <a:bodyPr wrap="none" rtlCol="0">
            <a:spAutoFit/>
          </a:bodyPr>
          <a:lstStyle/>
          <a:p>
            <a:r>
              <a:rPr lang="en-US" sz="2800" b="1" dirty="0">
                <a:solidFill>
                  <a:schemeClr val="accent3">
                    <a:lumMod val="75000"/>
                  </a:schemeClr>
                </a:solidFill>
              </a:rPr>
              <a:t>✅</a:t>
            </a:r>
          </a:p>
        </p:txBody>
      </p:sp>
      <p:sp>
        <p:nvSpPr>
          <p:cNvPr id="62" name="TextBox 61">
            <a:extLst>
              <a:ext uri="{FF2B5EF4-FFF2-40B4-BE49-F238E27FC236}">
                <a16:creationId xmlns:a16="http://schemas.microsoft.com/office/drawing/2014/main" id="{DFBC0367-4FF8-4144-BDDC-280D412A9A65}"/>
              </a:ext>
            </a:extLst>
          </p:cNvPr>
          <p:cNvSpPr txBox="1"/>
          <p:nvPr/>
        </p:nvSpPr>
        <p:spPr>
          <a:xfrm>
            <a:off x="2580910" y="2372657"/>
            <a:ext cx="543739" cy="523220"/>
          </a:xfrm>
          <a:prstGeom prst="rect">
            <a:avLst/>
          </a:prstGeom>
          <a:noFill/>
        </p:spPr>
        <p:txBody>
          <a:bodyPr wrap="none" rtlCol="0">
            <a:spAutoFit/>
          </a:bodyPr>
          <a:lstStyle/>
          <a:p>
            <a:r>
              <a:rPr lang="en-US" sz="2800" b="1" dirty="0">
                <a:solidFill>
                  <a:schemeClr val="accent3">
                    <a:lumMod val="75000"/>
                  </a:schemeClr>
                </a:solidFill>
              </a:rPr>
              <a:t>✅</a:t>
            </a:r>
          </a:p>
        </p:txBody>
      </p:sp>
    </p:spTree>
    <p:extLst>
      <p:ext uri="{BB962C8B-B14F-4D97-AF65-F5344CB8AC3E}">
        <p14:creationId xmlns:p14="http://schemas.microsoft.com/office/powerpoint/2010/main" val="23917947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12"/>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nodeType="clickEffect">
                                  <p:stCondLst>
                                    <p:cond delay="0"/>
                                  </p:stCondLst>
                                  <p:childTnLst>
                                    <p:set>
                                      <p:cBhvr>
                                        <p:cTn id="86" dur="1" fill="hold">
                                          <p:stCondLst>
                                            <p:cond delay="0"/>
                                          </p:stCondLst>
                                        </p:cTn>
                                        <p:tgtEl>
                                          <p:spTgt spid="22"/>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23"/>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24"/>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25"/>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6"/>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27"/>
                                        </p:tgtEl>
                                        <p:attrNameLst>
                                          <p:attrName>style.visibility</p:attrName>
                                        </p:attrNameLst>
                                      </p:cBhvr>
                                      <p:to>
                                        <p:strVal val="hidden"/>
                                      </p:to>
                                    </p:set>
                                  </p:childTnLst>
                                </p:cTn>
                              </p:par>
                              <p:par>
                                <p:cTn id="127" presetID="1" presetClass="exit" presetSubtype="0" fill="hold" grpId="1" nodeType="withEffect">
                                  <p:stCondLst>
                                    <p:cond delay="0"/>
                                  </p:stCondLst>
                                  <p:childTnLst>
                                    <p:set>
                                      <p:cBhvr>
                                        <p:cTn id="128" dur="1" fill="hold">
                                          <p:stCondLst>
                                            <p:cond delay="0"/>
                                          </p:stCondLst>
                                        </p:cTn>
                                        <p:tgtEl>
                                          <p:spTgt spid="28"/>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29"/>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30"/>
                                        </p:tgtEl>
                                        <p:attrNameLst>
                                          <p:attrName>style.visibility</p:attrName>
                                        </p:attrNameLst>
                                      </p:cBhvr>
                                      <p:to>
                                        <p:strVal val="hidden"/>
                                      </p:to>
                                    </p:set>
                                  </p:childTnLst>
                                </p:cTn>
                              </p:par>
                              <p:par>
                                <p:cTn id="133" presetID="1" presetClass="exit" presetSubtype="0" fill="hold" grpId="1" nodeType="withEffect">
                                  <p:stCondLst>
                                    <p:cond delay="0"/>
                                  </p:stCondLst>
                                  <p:childTnLst>
                                    <p:set>
                                      <p:cBhvr>
                                        <p:cTn id="134" dur="1" fill="hold">
                                          <p:stCondLst>
                                            <p:cond delay="0"/>
                                          </p:stCondLst>
                                        </p:cTn>
                                        <p:tgtEl>
                                          <p:spTgt spid="10"/>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13"/>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9" grpId="0" animBg="1"/>
      <p:bldP spid="10" grpId="0" animBg="1"/>
      <p:bldP spid="10" grpId="1" animBg="1"/>
      <p:bldP spid="11" grpId="0" animBg="1"/>
      <p:bldP spid="11" grpId="1" animBg="1"/>
      <p:bldP spid="16" grpId="0" animBg="1"/>
      <p:bldP spid="17" grpId="0" animBg="1"/>
      <p:bldP spid="18" grpId="0" animBg="1"/>
      <p:bldP spid="23" grpId="0" animBg="1"/>
      <p:bldP spid="23" grpId="1" animBg="1"/>
      <p:bldP spid="24" grpId="0" animBg="1"/>
      <p:bldP spid="24" grpId="1" animBg="1"/>
      <p:bldP spid="25" grpId="0" animBg="1"/>
      <p:bldP spid="25" grpId="1" animBg="1"/>
      <p:bldP spid="28" grpId="0" animBg="1"/>
      <p:bldP spid="28" grpId="1" animBg="1"/>
      <p:bldP spid="31" grpId="0"/>
      <p:bldP spid="32" grpId="0"/>
      <p:bldP spid="33" grpId="0"/>
      <p:bldP spid="35" grpId="0"/>
      <p:bldP spid="36" grpId="0"/>
      <p:bldP spid="59" grpId="0"/>
      <p:bldP spid="60" grpId="0"/>
      <p:bldP spid="61" grpId="0"/>
      <p:bldP spid="6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96E3-CBA0-3747-9E92-8EF6CD1EA00A}"/>
              </a:ext>
            </a:extLst>
          </p:cNvPr>
          <p:cNvSpPr>
            <a:spLocks noGrp="1"/>
          </p:cNvSpPr>
          <p:nvPr>
            <p:ph type="title"/>
          </p:nvPr>
        </p:nvSpPr>
        <p:spPr/>
        <p:txBody>
          <a:bodyPr/>
          <a:lstStyle/>
          <a:p>
            <a:r>
              <a:rPr lang="en-US" dirty="0"/>
              <a:t>The correctness</a:t>
            </a:r>
          </a:p>
        </p:txBody>
      </p:sp>
      <p:sp>
        <p:nvSpPr>
          <p:cNvPr id="3" name="Content Placeholder 2">
            <a:extLst>
              <a:ext uri="{FF2B5EF4-FFF2-40B4-BE49-F238E27FC236}">
                <a16:creationId xmlns:a16="http://schemas.microsoft.com/office/drawing/2014/main" id="{687ECB57-8524-204C-BD3C-7A10A2F5ECFE}"/>
              </a:ext>
            </a:extLst>
          </p:cNvPr>
          <p:cNvSpPr>
            <a:spLocks noGrp="1"/>
          </p:cNvSpPr>
          <p:nvPr>
            <p:ph idx="1"/>
          </p:nvPr>
        </p:nvSpPr>
        <p:spPr/>
        <p:txBody>
          <a:bodyPr/>
          <a:lstStyle/>
          <a:p>
            <a:r>
              <a:rPr lang="en-US" dirty="0"/>
              <a:t>this algorithm is </a:t>
            </a:r>
            <a:r>
              <a:rPr lang="en-US" b="1" dirty="0"/>
              <a:t>mark-and-sweep </a:t>
            </a:r>
            <a:r>
              <a:rPr lang="en-US" dirty="0"/>
              <a:t>and is the basis of tracing GC.</a:t>
            </a:r>
          </a:p>
          <a:p>
            <a:r>
              <a:rPr lang="en-US" dirty="0"/>
              <a:t>it works because an object is not garbage when its in-degree is 0…</a:t>
            </a:r>
          </a:p>
          <a:p>
            <a:pPr lvl="1"/>
            <a:r>
              <a:rPr lang="en-US" dirty="0"/>
              <a:t>it's garbage </a:t>
            </a:r>
            <a:r>
              <a:rPr lang="en-US" b="1" dirty="0"/>
              <a:t>when it is unreachable from the roots.</a:t>
            </a:r>
          </a:p>
          <a:p>
            <a:r>
              <a:rPr lang="en-US" dirty="0"/>
              <a:t>but wait, how does the collector </a:t>
            </a:r>
            <a:r>
              <a:rPr lang="en-US" i="1" dirty="0"/>
              <a:t>get to the dead objects?</a:t>
            </a:r>
          </a:p>
          <a:p>
            <a:pPr lvl="1"/>
            <a:r>
              <a:rPr lang="en-US" dirty="0"/>
              <a:t>simple: </a:t>
            </a:r>
            <a:r>
              <a:rPr lang="en-US" b="1" dirty="0"/>
              <a:t>you are no longer the objects' owner. </a:t>
            </a:r>
            <a:r>
              <a:rPr lang="en-US" b="1" dirty="0">
                <a:solidFill>
                  <a:srgbClr val="FF0000"/>
                </a:solidFill>
              </a:rPr>
              <a:t>the collector is.</a:t>
            </a:r>
          </a:p>
          <a:p>
            <a:r>
              <a:rPr lang="en-US" dirty="0"/>
              <a:t>every time you allocate an object, </a:t>
            </a:r>
            <a:r>
              <a:rPr lang="en-US" b="1" dirty="0"/>
              <a:t>the collector remembers it.</a:t>
            </a:r>
          </a:p>
          <a:p>
            <a:pPr lvl="1"/>
            <a:r>
              <a:rPr lang="en-US" dirty="0"/>
              <a:t>the collector has a list of </a:t>
            </a:r>
            <a:r>
              <a:rPr lang="en-US" i="1" dirty="0"/>
              <a:t>every object on the heap.</a:t>
            </a:r>
          </a:p>
          <a:p>
            <a:pPr lvl="1"/>
            <a:r>
              <a:rPr lang="en-US" dirty="0"/>
              <a:t>in the mutation phase, it adds to this list when you </a:t>
            </a:r>
            <a:r>
              <a:rPr lang="en-US" b="1" dirty="0"/>
              <a:t>new.</a:t>
            </a:r>
          </a:p>
          <a:p>
            <a:pPr lvl="1"/>
            <a:r>
              <a:rPr lang="en-US" dirty="0"/>
              <a:t>the collection phase, it uses this list to find disconnected objects.</a:t>
            </a:r>
          </a:p>
          <a:p>
            <a:r>
              <a:rPr lang="en-US" dirty="0"/>
              <a:t>this works great for:</a:t>
            </a:r>
          </a:p>
          <a:p>
            <a:pPr lvl="1"/>
            <a:r>
              <a:rPr lang="en-US" b="1" dirty="0"/>
              <a:t>cycles, </a:t>
            </a:r>
            <a:r>
              <a:rPr lang="en-US" dirty="0"/>
              <a:t>cause the collector doesn't care about in-degree.</a:t>
            </a:r>
          </a:p>
          <a:p>
            <a:pPr lvl="1"/>
            <a:r>
              <a:rPr lang="en-US" b="1" dirty="0"/>
              <a:t>multithreading, </a:t>
            </a:r>
            <a:r>
              <a:rPr lang="en-US" dirty="0"/>
              <a:t>cause there are no ref counts to argue over, and the collector considers </a:t>
            </a:r>
            <a:r>
              <a:rPr lang="en-US" i="1" dirty="0"/>
              <a:t>all</a:t>
            </a:r>
            <a:r>
              <a:rPr lang="en-US" dirty="0"/>
              <a:t> threads' stacks as roots.</a:t>
            </a:r>
            <a:endParaRPr lang="en-US" b="1" dirty="0"/>
          </a:p>
        </p:txBody>
      </p:sp>
      <p:sp>
        <p:nvSpPr>
          <p:cNvPr id="4" name="Slide Number Placeholder 3">
            <a:extLst>
              <a:ext uri="{FF2B5EF4-FFF2-40B4-BE49-F238E27FC236}">
                <a16:creationId xmlns:a16="http://schemas.microsoft.com/office/drawing/2014/main" id="{6832F9C7-DE2B-864D-A31E-D89D7B1DA900}"/>
              </a:ext>
            </a:extLst>
          </p:cNvPr>
          <p:cNvSpPr>
            <a:spLocks noGrp="1"/>
          </p:cNvSpPr>
          <p:nvPr>
            <p:ph type="sldNum" sz="quarter" idx="12"/>
          </p:nvPr>
        </p:nvSpPr>
        <p:spPr/>
        <p:txBody>
          <a:bodyPr/>
          <a:lstStyle/>
          <a:p>
            <a:fld id="{3552B95B-556F-44BD-91A5-D80C1B9E2BB3}" type="slidenum">
              <a:rPr lang="en-US" smtClean="0"/>
              <a:pPr/>
              <a:t>29</a:t>
            </a:fld>
            <a:endParaRPr lang="en-US"/>
          </a:p>
        </p:txBody>
      </p:sp>
    </p:spTree>
    <p:extLst>
      <p:ext uri="{BB962C8B-B14F-4D97-AF65-F5344CB8AC3E}">
        <p14:creationId xmlns:p14="http://schemas.microsoft.com/office/powerpoint/2010/main" val="174079237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A410B-B9C1-7446-829B-153550A7EA81}"/>
              </a:ext>
            </a:extLst>
          </p:cNvPr>
          <p:cNvSpPr>
            <a:spLocks noGrp="1"/>
          </p:cNvSpPr>
          <p:nvPr>
            <p:ph type="title"/>
          </p:nvPr>
        </p:nvSpPr>
        <p:spPr/>
        <p:txBody>
          <a:bodyPr/>
          <a:lstStyle/>
          <a:p>
            <a:r>
              <a:rPr lang="en-US" dirty="0"/>
              <a:t>Concessions we make</a:t>
            </a:r>
          </a:p>
        </p:txBody>
      </p:sp>
      <p:sp>
        <p:nvSpPr>
          <p:cNvPr id="3" name="Content Placeholder 2">
            <a:extLst>
              <a:ext uri="{FF2B5EF4-FFF2-40B4-BE49-F238E27FC236}">
                <a16:creationId xmlns:a16="http://schemas.microsoft.com/office/drawing/2014/main" id="{26020AF9-7AF6-A542-A866-1CCB8A367235}"/>
              </a:ext>
            </a:extLst>
          </p:cNvPr>
          <p:cNvSpPr>
            <a:spLocks noGrp="1"/>
          </p:cNvSpPr>
          <p:nvPr>
            <p:ph idx="1"/>
          </p:nvPr>
        </p:nvSpPr>
        <p:spPr>
          <a:xfrm>
            <a:off x="152400" y="495301"/>
            <a:ext cx="8991600" cy="495301"/>
          </a:xfrm>
        </p:spPr>
        <p:txBody>
          <a:bodyPr/>
          <a:lstStyle/>
          <a:p>
            <a:r>
              <a:rPr lang="en-US" dirty="0"/>
              <a:t>for the tracing algorithm to work well, there are some requirements.</a:t>
            </a:r>
          </a:p>
        </p:txBody>
      </p:sp>
      <p:sp>
        <p:nvSpPr>
          <p:cNvPr id="4" name="Slide Number Placeholder 3">
            <a:extLst>
              <a:ext uri="{FF2B5EF4-FFF2-40B4-BE49-F238E27FC236}">
                <a16:creationId xmlns:a16="http://schemas.microsoft.com/office/drawing/2014/main" id="{2F828E78-5561-B042-BA74-D9CEADCC3236}"/>
              </a:ext>
            </a:extLst>
          </p:cNvPr>
          <p:cNvSpPr>
            <a:spLocks noGrp="1"/>
          </p:cNvSpPr>
          <p:nvPr>
            <p:ph type="sldNum" sz="quarter" idx="12"/>
          </p:nvPr>
        </p:nvSpPr>
        <p:spPr/>
        <p:txBody>
          <a:bodyPr/>
          <a:lstStyle/>
          <a:p>
            <a:fld id="{3552B95B-556F-44BD-91A5-D80C1B9E2BB3}" type="slidenum">
              <a:rPr lang="en-US" smtClean="0"/>
              <a:pPr/>
              <a:t>30</a:t>
            </a:fld>
            <a:endParaRPr lang="en-US"/>
          </a:p>
        </p:txBody>
      </p:sp>
      <p:graphicFrame>
        <p:nvGraphicFramePr>
          <p:cNvPr id="5" name="Table 4">
            <a:extLst>
              <a:ext uri="{FF2B5EF4-FFF2-40B4-BE49-F238E27FC236}">
                <a16:creationId xmlns:a16="http://schemas.microsoft.com/office/drawing/2014/main" id="{BC27AC30-21F2-8444-AC48-F9CD8751EB44}"/>
              </a:ext>
            </a:extLst>
          </p:cNvPr>
          <p:cNvGraphicFramePr>
            <a:graphicFrameLocks noGrp="1"/>
          </p:cNvGraphicFramePr>
          <p:nvPr>
            <p:extLst>
              <p:ext uri="{D42A27DB-BD31-4B8C-83A1-F6EECF244321}">
                <p14:modId xmlns:p14="http://schemas.microsoft.com/office/powerpoint/2010/main" val="1172305352"/>
              </p:ext>
            </p:extLst>
          </p:nvPr>
        </p:nvGraphicFramePr>
        <p:xfrm>
          <a:off x="685800" y="1965190"/>
          <a:ext cx="2059623" cy="914400"/>
        </p:xfrm>
        <a:graphic>
          <a:graphicData uri="http://schemas.openxmlformats.org/drawingml/2006/table">
            <a:tbl>
              <a:tblPr bandRow="1">
                <a:tableStyleId>{93296810-A885-4BE3-A3E7-6D5BEEA58F35}</a:tableStyleId>
              </a:tblPr>
              <a:tblGrid>
                <a:gridCol w="490855">
                  <a:extLst>
                    <a:ext uri="{9D8B030D-6E8A-4147-A177-3AD203B41FA5}">
                      <a16:colId xmlns:a16="http://schemas.microsoft.com/office/drawing/2014/main" val="396616089"/>
                    </a:ext>
                  </a:extLst>
                </a:gridCol>
                <a:gridCol w="1568768">
                  <a:extLst>
                    <a:ext uri="{9D8B030D-6E8A-4147-A177-3AD203B41FA5}">
                      <a16:colId xmlns:a16="http://schemas.microsoft.com/office/drawing/2014/main" val="2645196628"/>
                    </a:ext>
                  </a:extLst>
                </a:gridCol>
              </a:tblGrid>
              <a:tr h="457200">
                <a:tc>
                  <a:txBody>
                    <a:bodyPr/>
                    <a:lstStyle/>
                    <a:p>
                      <a:pPr algn="r"/>
                      <a:r>
                        <a:rPr lang="en-US" sz="2200" b="0" i="1" dirty="0">
                          <a:latin typeface="Consolas" panose="020B0609020204030204" pitchFamily="49" charset="0"/>
                          <a:cs typeface="Consolas" panose="020B0609020204030204" pitchFamily="49" charset="0"/>
                        </a:rPr>
                        <a:t>x</a:t>
                      </a:r>
                    </a:p>
                  </a:txBody>
                  <a:tcPr anchor="ctr">
                    <a:noFill/>
                  </a:tcPr>
                </a:tc>
                <a:tc>
                  <a:txBody>
                    <a:bodyPr/>
                    <a:lstStyle/>
                    <a:p>
                      <a:pPr algn="ctr"/>
                      <a:r>
                        <a:rPr lang="en-US" sz="2200" b="1" i="0" dirty="0">
                          <a:latin typeface="Consolas" panose="020B0609020204030204" pitchFamily="49" charset="0"/>
                          <a:cs typeface="Consolas" panose="020B0609020204030204" pitchFamily="49" charset="0"/>
                        </a:rPr>
                        <a:t>08004030</a:t>
                      </a:r>
                    </a:p>
                  </a:txBody>
                  <a:tcPr anchor="ctr">
                    <a:solidFill>
                      <a:schemeClr val="accent4">
                        <a:lumMod val="60000"/>
                        <a:lumOff val="40000"/>
                      </a:schemeClr>
                    </a:solidFill>
                  </a:tcPr>
                </a:tc>
                <a:extLst>
                  <a:ext uri="{0D108BD9-81ED-4DB2-BD59-A6C34878D82A}">
                    <a16:rowId xmlns:a16="http://schemas.microsoft.com/office/drawing/2014/main" val="3228816114"/>
                  </a:ext>
                </a:extLst>
              </a:tr>
              <a:tr h="457200">
                <a:tc>
                  <a:txBody>
                    <a:bodyPr/>
                    <a:lstStyle/>
                    <a:p>
                      <a:pPr algn="r"/>
                      <a:r>
                        <a:rPr lang="en-US" sz="2200" b="0" i="1" dirty="0">
                          <a:latin typeface="Consolas" panose="020B0609020204030204" pitchFamily="49" charset="0"/>
                          <a:cs typeface="Consolas" panose="020B0609020204030204" pitchFamily="49" charset="0"/>
                        </a:rPr>
                        <a:t>a</a:t>
                      </a:r>
                    </a:p>
                  </a:txBody>
                  <a:tcPr anchor="ctr">
                    <a:noFill/>
                  </a:tcPr>
                </a:tc>
                <a:tc>
                  <a:txBody>
                    <a:bodyPr/>
                    <a:lstStyle/>
                    <a:p>
                      <a:pPr algn="ctr"/>
                      <a:r>
                        <a:rPr lang="en-US" sz="2200" b="1" i="0" dirty="0">
                          <a:latin typeface="Consolas" panose="020B0609020204030204" pitchFamily="49" charset="0"/>
                          <a:cs typeface="Consolas" panose="020B0609020204030204" pitchFamily="49" charset="0"/>
                        </a:rPr>
                        <a:t>08004030</a:t>
                      </a:r>
                    </a:p>
                  </a:txBody>
                  <a:tcPr anchor="ctr">
                    <a:solidFill>
                      <a:schemeClr val="accent4">
                        <a:lumMod val="60000"/>
                        <a:lumOff val="40000"/>
                      </a:schemeClr>
                    </a:solidFill>
                  </a:tcPr>
                </a:tc>
                <a:extLst>
                  <a:ext uri="{0D108BD9-81ED-4DB2-BD59-A6C34878D82A}">
                    <a16:rowId xmlns:a16="http://schemas.microsoft.com/office/drawing/2014/main" val="519894183"/>
                  </a:ext>
                </a:extLst>
              </a:tr>
            </a:tbl>
          </a:graphicData>
        </a:graphic>
      </p:graphicFrame>
      <p:sp>
        <p:nvSpPr>
          <p:cNvPr id="6" name="TextBox 5">
            <a:extLst>
              <a:ext uri="{FF2B5EF4-FFF2-40B4-BE49-F238E27FC236}">
                <a16:creationId xmlns:a16="http://schemas.microsoft.com/office/drawing/2014/main" id="{724772C2-0773-0342-84E7-7F9C02DE046B}"/>
              </a:ext>
            </a:extLst>
          </p:cNvPr>
          <p:cNvSpPr txBox="1"/>
          <p:nvPr/>
        </p:nvSpPr>
        <p:spPr>
          <a:xfrm>
            <a:off x="533400" y="990602"/>
            <a:ext cx="3276600" cy="769441"/>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0x08004030</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a = </a:t>
            </a:r>
            <a:r>
              <a:rPr lang="en-US" sz="2200" b="1" dirty="0">
                <a:solidFill>
                  <a:srgbClr val="FF0000"/>
                </a:solidFill>
                <a:latin typeface="Consolas" panose="020B0609020204030204" pitchFamily="49" charset="0"/>
                <a:cs typeface="Consolas" panose="020B0609020204030204" pitchFamily="49" charset="0"/>
              </a:rPr>
              <a:t>new</a:t>
            </a:r>
            <a:r>
              <a:rPr lang="en-US" sz="2200" b="1" dirty="0">
                <a:latin typeface="Consolas" panose="020B0609020204030204" pitchFamily="49" charset="0"/>
                <a:cs typeface="Consolas" panose="020B0609020204030204" pitchFamily="49" charset="0"/>
              </a:rPr>
              <a:t> A();</a:t>
            </a:r>
          </a:p>
        </p:txBody>
      </p:sp>
      <p:sp>
        <p:nvSpPr>
          <p:cNvPr id="7" name="TextBox 6">
            <a:extLst>
              <a:ext uri="{FF2B5EF4-FFF2-40B4-BE49-F238E27FC236}">
                <a16:creationId xmlns:a16="http://schemas.microsoft.com/office/drawing/2014/main" id="{F037FF11-778B-8744-B3C5-CF32C11C0C22}"/>
              </a:ext>
            </a:extLst>
          </p:cNvPr>
          <p:cNvSpPr txBox="1"/>
          <p:nvPr/>
        </p:nvSpPr>
        <p:spPr>
          <a:xfrm>
            <a:off x="3733800" y="1026295"/>
            <a:ext cx="4267200" cy="1107996"/>
          </a:xfrm>
          <a:prstGeom prst="rect">
            <a:avLst/>
          </a:prstGeom>
          <a:noFill/>
        </p:spPr>
        <p:txBody>
          <a:bodyPr wrap="square" rtlCol="0">
            <a:spAutoFit/>
          </a:bodyPr>
          <a:lstStyle/>
          <a:p>
            <a:pPr algn="ctr"/>
            <a:r>
              <a:rPr lang="en-US" sz="2200" dirty="0"/>
              <a:t>what if this happened by chance? how can the collector know </a:t>
            </a:r>
            <a:r>
              <a:rPr lang="en-US" sz="2200" b="1" dirty="0"/>
              <a:t>a</a:t>
            </a:r>
            <a:r>
              <a:rPr lang="en-US" sz="2200" dirty="0"/>
              <a:t> is a pointer but </a:t>
            </a:r>
            <a:r>
              <a:rPr lang="en-US" sz="2200" b="1" dirty="0"/>
              <a:t>x </a:t>
            </a:r>
            <a:r>
              <a:rPr lang="en-US" sz="2200" dirty="0"/>
              <a:t>is not?</a:t>
            </a:r>
          </a:p>
        </p:txBody>
      </p:sp>
      <p:sp>
        <p:nvSpPr>
          <p:cNvPr id="8" name="TextBox 7">
            <a:extLst>
              <a:ext uri="{FF2B5EF4-FFF2-40B4-BE49-F238E27FC236}">
                <a16:creationId xmlns:a16="http://schemas.microsoft.com/office/drawing/2014/main" id="{AD9D9084-6B59-E24D-99D5-6DCB95445488}"/>
              </a:ext>
            </a:extLst>
          </p:cNvPr>
          <p:cNvSpPr txBox="1"/>
          <p:nvPr/>
        </p:nvSpPr>
        <p:spPr>
          <a:xfrm>
            <a:off x="3048000" y="2201667"/>
            <a:ext cx="5638800" cy="1107996"/>
          </a:xfrm>
          <a:prstGeom prst="rect">
            <a:avLst/>
          </a:prstGeom>
          <a:noFill/>
        </p:spPr>
        <p:txBody>
          <a:bodyPr wrap="square" rtlCol="0">
            <a:spAutoFit/>
          </a:bodyPr>
          <a:lstStyle/>
          <a:p>
            <a:pPr algn="ctr"/>
            <a:r>
              <a:rPr lang="en-US" sz="2200" dirty="0"/>
              <a:t>the </a:t>
            </a:r>
            <a:r>
              <a:rPr lang="en-US" sz="2200" b="1" dirty="0"/>
              <a:t>compiler</a:t>
            </a:r>
            <a:r>
              <a:rPr lang="en-US" sz="2200" dirty="0"/>
              <a:t> must produce information for </a:t>
            </a:r>
            <a:r>
              <a:rPr lang="en-US" sz="2200" b="1" dirty="0">
                <a:solidFill>
                  <a:srgbClr val="FF0000"/>
                </a:solidFill>
              </a:rPr>
              <a:t>every global, local, and class field</a:t>
            </a:r>
            <a:r>
              <a:rPr lang="en-US" sz="2200" b="1" dirty="0"/>
              <a:t> </a:t>
            </a:r>
            <a:r>
              <a:rPr lang="en-US" sz="2200" dirty="0"/>
              <a:t>saying whether or not something is a pointer.</a:t>
            </a:r>
            <a:endParaRPr lang="en-US" sz="2200" b="1" dirty="0"/>
          </a:p>
        </p:txBody>
      </p:sp>
      <p:sp>
        <p:nvSpPr>
          <p:cNvPr id="9" name="TextBox 8">
            <a:extLst>
              <a:ext uri="{FF2B5EF4-FFF2-40B4-BE49-F238E27FC236}">
                <a16:creationId xmlns:a16="http://schemas.microsoft.com/office/drawing/2014/main" id="{5E6CD55C-1398-4549-B03D-1D1859E47A8F}"/>
              </a:ext>
            </a:extLst>
          </p:cNvPr>
          <p:cNvSpPr txBox="1"/>
          <p:nvPr/>
        </p:nvSpPr>
        <p:spPr>
          <a:xfrm>
            <a:off x="533400" y="3644941"/>
            <a:ext cx="3276600" cy="769441"/>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0x08004030</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 *p = (</a:t>
            </a:r>
            <a:r>
              <a:rPr lang="en-US" sz="2200" b="1" dirty="0">
                <a:solidFill>
                  <a:srgbClr val="FF0000"/>
                </a:solidFill>
                <a:latin typeface="Consolas" panose="020B0609020204030204" pitchFamily="49" charset="0"/>
                <a:cs typeface="Consolas" panose="020B0609020204030204" pitchFamily="49" charset="0"/>
              </a:rPr>
              <a:t>int</a:t>
            </a:r>
            <a:r>
              <a:rPr lang="en-US" sz="2200" b="1" dirty="0">
                <a:latin typeface="Consolas" panose="020B0609020204030204" pitchFamily="49" charset="0"/>
                <a:cs typeface="Consolas" panose="020B0609020204030204" pitchFamily="49" charset="0"/>
              </a:rPr>
              <a:t>*)x;</a:t>
            </a:r>
          </a:p>
        </p:txBody>
      </p:sp>
      <p:sp>
        <p:nvSpPr>
          <p:cNvPr id="10" name="TextBox 9">
            <a:extLst>
              <a:ext uri="{FF2B5EF4-FFF2-40B4-BE49-F238E27FC236}">
                <a16:creationId xmlns:a16="http://schemas.microsoft.com/office/drawing/2014/main" id="{B10CD89E-CB4D-844E-80E3-8B9E42C275D4}"/>
              </a:ext>
            </a:extLst>
          </p:cNvPr>
          <p:cNvSpPr txBox="1"/>
          <p:nvPr/>
        </p:nvSpPr>
        <p:spPr>
          <a:xfrm>
            <a:off x="3606248" y="3475663"/>
            <a:ext cx="5181600" cy="1107996"/>
          </a:xfrm>
          <a:prstGeom prst="rect">
            <a:avLst/>
          </a:prstGeom>
          <a:noFill/>
        </p:spPr>
        <p:txBody>
          <a:bodyPr wrap="square" rtlCol="0">
            <a:spAutoFit/>
          </a:bodyPr>
          <a:lstStyle/>
          <a:p>
            <a:pPr algn="ctr"/>
            <a:r>
              <a:rPr lang="en-US" sz="2200" b="1" dirty="0"/>
              <a:t>type safety </a:t>
            </a:r>
            <a:r>
              <a:rPr lang="en-US" sz="2200" dirty="0"/>
              <a:t>is crucial. being able to freely change the types of values will throw the collector way off.</a:t>
            </a:r>
            <a:endParaRPr lang="en-US" sz="2200" b="1" dirty="0"/>
          </a:p>
        </p:txBody>
      </p:sp>
      <p:sp>
        <p:nvSpPr>
          <p:cNvPr id="11" name="TextBox 10">
            <a:extLst>
              <a:ext uri="{FF2B5EF4-FFF2-40B4-BE49-F238E27FC236}">
                <a16:creationId xmlns:a16="http://schemas.microsoft.com/office/drawing/2014/main" id="{89A3D0C3-A36A-F943-901F-E97A19F06964}"/>
              </a:ext>
            </a:extLst>
          </p:cNvPr>
          <p:cNvSpPr txBox="1"/>
          <p:nvPr/>
        </p:nvSpPr>
        <p:spPr>
          <a:xfrm>
            <a:off x="715617" y="4866073"/>
            <a:ext cx="7315200" cy="430887"/>
          </a:xfrm>
          <a:prstGeom prst="rect">
            <a:avLst/>
          </a:prstGeom>
          <a:noFill/>
        </p:spPr>
        <p:txBody>
          <a:bodyPr wrap="square" rtlCol="0">
            <a:spAutoFit/>
          </a:bodyPr>
          <a:lstStyle/>
          <a:p>
            <a:pPr algn="ctr"/>
            <a:r>
              <a:rPr lang="en-US" sz="2200" b="1" dirty="0"/>
              <a:t>pointer arithmetic </a:t>
            </a:r>
            <a:r>
              <a:rPr lang="en-US" sz="2200" dirty="0"/>
              <a:t>is a no-go. </a:t>
            </a:r>
            <a:r>
              <a:rPr lang="en-US" sz="2200" dirty="0" err="1"/>
              <a:t>nuh</a:t>
            </a:r>
            <a:r>
              <a:rPr lang="en-US" sz="2200" dirty="0"/>
              <a:t> uh. no way.</a:t>
            </a:r>
            <a:endParaRPr lang="en-US" sz="2200" b="1" dirty="0"/>
          </a:p>
        </p:txBody>
      </p:sp>
    </p:spTree>
    <p:extLst>
      <p:ext uri="{BB962C8B-B14F-4D97-AF65-F5344CB8AC3E}">
        <p14:creationId xmlns:p14="http://schemas.microsoft.com/office/powerpoint/2010/main" val="39982819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FF51E-9C88-5844-95AE-827CD0CB156C}"/>
              </a:ext>
            </a:extLst>
          </p:cNvPr>
          <p:cNvSpPr>
            <a:spLocks noGrp="1"/>
          </p:cNvSpPr>
          <p:nvPr>
            <p:ph type="title"/>
          </p:nvPr>
        </p:nvSpPr>
        <p:spPr/>
        <p:txBody>
          <a:bodyPr/>
          <a:lstStyle/>
          <a:p>
            <a:r>
              <a:rPr lang="en-US" dirty="0"/>
              <a:t>What's the downside?</a:t>
            </a:r>
          </a:p>
        </p:txBody>
      </p:sp>
      <p:sp>
        <p:nvSpPr>
          <p:cNvPr id="3" name="Content Placeholder 2">
            <a:extLst>
              <a:ext uri="{FF2B5EF4-FFF2-40B4-BE49-F238E27FC236}">
                <a16:creationId xmlns:a16="http://schemas.microsoft.com/office/drawing/2014/main" id="{8BF4F91F-E222-8F4E-85D6-2D7480D3E138}"/>
              </a:ext>
            </a:extLst>
          </p:cNvPr>
          <p:cNvSpPr>
            <a:spLocks noGrp="1"/>
          </p:cNvSpPr>
          <p:nvPr>
            <p:ph idx="1"/>
          </p:nvPr>
        </p:nvSpPr>
        <p:spPr/>
        <p:txBody>
          <a:bodyPr/>
          <a:lstStyle/>
          <a:p>
            <a:r>
              <a:rPr lang="en-US" dirty="0"/>
              <a:t>well, the mark-and-sweep algorithm I showed is… too simple.</a:t>
            </a:r>
          </a:p>
          <a:p>
            <a:pPr lvl="1"/>
            <a:r>
              <a:rPr lang="en-US" b="1" dirty="0"/>
              <a:t>it doesn't have great performance.</a:t>
            </a:r>
          </a:p>
          <a:p>
            <a:r>
              <a:rPr lang="en-US" dirty="0"/>
              <a:t>getting good performance means making it </a:t>
            </a:r>
            <a:r>
              <a:rPr lang="en-US" i="1" dirty="0"/>
              <a:t>way</a:t>
            </a:r>
            <a:r>
              <a:rPr lang="en-US" dirty="0"/>
              <a:t> more complex.</a:t>
            </a:r>
          </a:p>
          <a:p>
            <a:pPr lvl="1"/>
            <a:r>
              <a:rPr lang="en-US" i="1" dirty="0"/>
              <a:t>concurrent</a:t>
            </a:r>
            <a:r>
              <a:rPr lang="en-US" dirty="0"/>
              <a:t> collectors do some/most of their work during the mutation phase, making the collection phase shorter.</a:t>
            </a:r>
          </a:p>
          <a:p>
            <a:pPr lvl="1"/>
            <a:r>
              <a:rPr lang="en-US" i="1" dirty="0"/>
              <a:t>multithreaded</a:t>
            </a:r>
            <a:r>
              <a:rPr lang="en-US" dirty="0"/>
              <a:t> collectors extend that to multiple mutators.</a:t>
            </a:r>
          </a:p>
          <a:p>
            <a:pPr lvl="1"/>
            <a:r>
              <a:rPr lang="en-US" i="1" dirty="0"/>
              <a:t>generational </a:t>
            </a:r>
            <a:r>
              <a:rPr lang="en-US" dirty="0"/>
              <a:t>collectors take advantage of the fact that most objects are deallocated very quickly after they're allocated, and focus more effort on newer objects.</a:t>
            </a:r>
          </a:p>
          <a:p>
            <a:pPr lvl="1"/>
            <a:r>
              <a:rPr lang="en-US" i="1" dirty="0"/>
              <a:t>copying</a:t>
            </a:r>
            <a:r>
              <a:rPr lang="en-US" dirty="0"/>
              <a:t> collectors reduce the amount of memory needed by moving </a:t>
            </a:r>
            <a:r>
              <a:rPr lang="en-US"/>
              <a:t>objects around.</a:t>
            </a:r>
          </a:p>
          <a:p>
            <a:pPr lvl="1"/>
            <a:endParaRPr lang="en-US" i="1" dirty="0"/>
          </a:p>
        </p:txBody>
      </p:sp>
      <p:sp>
        <p:nvSpPr>
          <p:cNvPr id="4" name="Slide Number Placeholder 3">
            <a:extLst>
              <a:ext uri="{FF2B5EF4-FFF2-40B4-BE49-F238E27FC236}">
                <a16:creationId xmlns:a16="http://schemas.microsoft.com/office/drawing/2014/main" id="{AEA1550F-CF43-D543-B2BC-9D5D93B213CD}"/>
              </a:ext>
            </a:extLst>
          </p:cNvPr>
          <p:cNvSpPr>
            <a:spLocks noGrp="1"/>
          </p:cNvSpPr>
          <p:nvPr>
            <p:ph type="sldNum" sz="quarter" idx="12"/>
          </p:nvPr>
        </p:nvSpPr>
        <p:spPr/>
        <p:txBody>
          <a:bodyPr/>
          <a:lstStyle/>
          <a:p>
            <a:fld id="{3552B95B-556F-44BD-91A5-D80C1B9E2BB3}" type="slidenum">
              <a:rPr lang="en-US" smtClean="0"/>
              <a:pPr/>
              <a:t>31</a:t>
            </a:fld>
            <a:endParaRPr lang="en-US"/>
          </a:p>
        </p:txBody>
      </p:sp>
    </p:spTree>
    <p:extLst>
      <p:ext uri="{BB962C8B-B14F-4D97-AF65-F5344CB8AC3E}">
        <p14:creationId xmlns:p14="http://schemas.microsoft.com/office/powerpoint/2010/main" val="2806713995"/>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24332</TotalTime>
  <Words>4286</Words>
  <Application>Microsoft Macintosh PowerPoint</Application>
  <PresentationFormat>On-screen Show (16:10)</PresentationFormat>
  <Paragraphs>576</Paragraphs>
  <Slides>31</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Consolas</vt:lpstr>
      <vt:lpstr>Courier New</vt:lpstr>
      <vt:lpstr>Segoe UI</vt:lpstr>
      <vt:lpstr>Segoe WP Semibold</vt:lpstr>
      <vt:lpstr>Trebuchet MS</vt:lpstr>
      <vt:lpstr>Wingdings</vt:lpstr>
      <vt:lpstr>02 - C - Basics</vt:lpstr>
      <vt:lpstr>Dynamic Memory Management</vt:lpstr>
      <vt:lpstr>Class Announcements</vt:lpstr>
      <vt:lpstr>Allocation, Deallocation, Lifetime, and Ownership</vt:lpstr>
      <vt:lpstr>Making room</vt:lpstr>
      <vt:lpstr>But that's boring</vt:lpstr>
      <vt:lpstr>Deallocation</vt:lpstr>
      <vt:lpstr>Lifetime and Ownership</vt:lpstr>
      <vt:lpstr>Indirection</vt:lpstr>
      <vt:lpstr>Indirection, the concept</vt:lpstr>
      <vt:lpstr>It works for houses, and it works for objects</vt:lpstr>
      <vt:lpstr>Pointers and references</vt:lpstr>
      <vt:lpstr>Dereferencing</vt:lpstr>
      <vt:lpstr>The necessity of indirection</vt:lpstr>
      <vt:lpstr>The power of the heap</vt:lpstr>
      <vt:lpstr>Heap memory management</vt:lpstr>
      <vt:lpstr>Memory safety (slightly animated)</vt:lpstr>
      <vt:lpstr>So let's not prove it!</vt:lpstr>
      <vt:lpstr>Manual memory management</vt:lpstr>
      <vt:lpstr>It's those dang arrows (slightly animated)</vt:lpstr>
      <vt:lpstr>Aliasing</vt:lpstr>
      <vt:lpstr>WITH GREAT POWER etc.</vt:lpstr>
      <vt:lpstr>Automatic heap  memory management</vt:lpstr>
      <vt:lpstr>Hard for humans, easy for computers (animated)</vt:lpstr>
      <vt:lpstr>Counting the arrows by… counting them (animated)</vt:lpstr>
      <vt:lpstr>The compiler's job</vt:lpstr>
      <vt:lpstr>So what's the catch? (animated)</vt:lpstr>
      <vt:lpstr>Tracing Garbage Collection</vt:lpstr>
      <vt:lpstr>The idea (animated)</vt:lpstr>
      <vt:lpstr>The correctness</vt:lpstr>
      <vt:lpstr>Concessions we make</vt:lpstr>
      <vt:lpstr>What's the downside?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1233</cp:revision>
  <dcterms:created xsi:type="dcterms:W3CDTF">2017-01-05T04:29:56Z</dcterms:created>
  <dcterms:modified xsi:type="dcterms:W3CDTF">2022-07-05T18:20:41Z</dcterms:modified>
</cp:coreProperties>
</file>