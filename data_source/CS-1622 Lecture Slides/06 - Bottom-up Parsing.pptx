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5"/>
  </p:notesMasterIdLst>
  <p:sldIdLst>
    <p:sldId id="256" r:id="rId2"/>
    <p:sldId id="519" r:id="rId3"/>
    <p:sldId id="582" r:id="rId4"/>
    <p:sldId id="586" r:id="rId5"/>
    <p:sldId id="583" r:id="rId6"/>
    <p:sldId id="584" r:id="rId7"/>
    <p:sldId id="585" r:id="rId8"/>
    <p:sldId id="587" r:id="rId9"/>
    <p:sldId id="588" r:id="rId10"/>
    <p:sldId id="589" r:id="rId11"/>
    <p:sldId id="590" r:id="rId12"/>
    <p:sldId id="591" r:id="rId13"/>
    <p:sldId id="592" r:id="rId14"/>
    <p:sldId id="593" r:id="rId15"/>
    <p:sldId id="594" r:id="rId16"/>
    <p:sldId id="595" r:id="rId17"/>
    <p:sldId id="527" r:id="rId18"/>
    <p:sldId id="569" r:id="rId19"/>
    <p:sldId id="570" r:id="rId20"/>
    <p:sldId id="571" r:id="rId21"/>
    <p:sldId id="596" r:id="rId22"/>
    <p:sldId id="573" r:id="rId23"/>
    <p:sldId id="599" r:id="rId24"/>
    <p:sldId id="600" r:id="rId25"/>
    <p:sldId id="598" r:id="rId26"/>
    <p:sldId id="579" r:id="rId27"/>
    <p:sldId id="597" r:id="rId28"/>
    <p:sldId id="581" r:id="rId29"/>
    <p:sldId id="605" r:id="rId30"/>
    <p:sldId id="602" r:id="rId31"/>
    <p:sldId id="601" r:id="rId32"/>
    <p:sldId id="603" r:id="rId33"/>
    <p:sldId id="604" r:id="rId34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1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200"/>
    <a:srgbClr val="FF5200"/>
    <a:srgbClr val="FF5C00"/>
    <a:srgbClr val="592A04"/>
    <a:srgbClr val="8DB000"/>
    <a:srgbClr val="FCECD6"/>
    <a:srgbClr val="FCF9C5"/>
    <a:srgbClr val="8BD5F4"/>
    <a:srgbClr val="FA0AB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7" autoAdjust="0"/>
    <p:restoredTop sz="90282" autoAdjust="0"/>
  </p:normalViewPr>
  <p:slideViewPr>
    <p:cSldViewPr>
      <p:cViewPr varScale="1">
        <p:scale>
          <a:sx n="133" d="100"/>
          <a:sy n="133" d="100"/>
        </p:scale>
        <p:origin x="1264" y="184"/>
      </p:cViewPr>
      <p:guideLst>
        <p:guide orient="horz" pos="1800"/>
        <p:guide pos="1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93253-51AE-4C40-AB6B-AA3A7DF4D210}" type="datetimeFigureOut">
              <a:rPr lang="en-US" smtClean="0"/>
              <a:pPr/>
              <a:t>6/5/22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729AB-B77D-48AE-AA10-D1BD2B4D03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0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you have to evaluate the addition first, because you can't do (5 * +), that doesn't make sense. You need a number there.</a:t>
            </a:r>
          </a:p>
          <a:p>
            <a:r>
              <a:rPr lang="en-US" dirty="0"/>
              <a:t>- the order of operations </a:t>
            </a:r>
            <a:r>
              <a:rPr lang="en-US" i="1" dirty="0"/>
              <a:t>controls the shape of the resulting AST. </a:t>
            </a:r>
          </a:p>
          <a:p>
            <a:r>
              <a:rPr lang="en-US" i="0" dirty="0"/>
              <a:t>	- and that's because the shape of the AST encodes the order of operations in its structure.</a:t>
            </a:r>
          </a:p>
          <a:p>
            <a:r>
              <a:rPr lang="en-US" i="0" dirty="0"/>
              <a:t>- it's possible to keep the parentheses around in the AST, so the right child of * in the first tree would be (), and its one child would be +</a:t>
            </a:r>
          </a:p>
          <a:p>
            <a:r>
              <a:rPr lang="en-US" i="0" dirty="0"/>
              <a:t>	- but strictly speaking it's not necessary</a:t>
            </a:r>
          </a:p>
          <a:p>
            <a:endParaRPr lang="en-US" i="0" dirty="0"/>
          </a:p>
          <a:p>
            <a:r>
              <a:rPr lang="en-US" dirty="0"/>
              <a:t>[diagram: root is times, left child is 5, right child is plus. plus’s left child is 2, right child is 3.]</a:t>
            </a:r>
          </a:p>
          <a:p>
            <a:r>
              <a:rPr lang="en-US" dirty="0"/>
              <a:t>[diagram: without parentheses, it parses as: root is plus, right child is 3, left child is times. </a:t>
            </a:r>
            <a:r>
              <a:rPr lang="en-US" dirty="0" err="1"/>
              <a:t>times’s</a:t>
            </a:r>
            <a:r>
              <a:rPr lang="en-US" dirty="0"/>
              <a:t> left child is 5, right child is 2.]</a:t>
            </a:r>
          </a:p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17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roots are just a fancy syntax for a fractional power; if you have a square root of </a:t>
            </a:r>
            <a:r>
              <a:rPr lang="en-US" b="1" dirty="0"/>
              <a:t>x + y</a:t>
            </a:r>
            <a:r>
              <a:rPr lang="en-US" dirty="0"/>
              <a:t>, that's the same as (x + y)^(1/2), so you do the stuff inside the </a:t>
            </a:r>
            <a:r>
              <a:rPr lang="en-US" dirty="0" err="1"/>
              <a:t>parens</a:t>
            </a:r>
            <a:r>
              <a:rPr lang="en-US" dirty="0"/>
              <a:t> first, and then do the exponentiation.</a:t>
            </a:r>
          </a:p>
          <a:p>
            <a:r>
              <a:rPr lang="en-US" dirty="0"/>
              <a:t>- (27 / 3 / 9) could evaluate to (9 / 9) then (1), or to (27 / 0.333) then to (81), depending on which you do first</a:t>
            </a:r>
          </a:p>
          <a:p>
            <a:r>
              <a:rPr lang="en-US" dirty="0"/>
              <a:t>	- if you were told that it ALWAYS works one particular way, whoever taught you that was wrong, sorry</a:t>
            </a:r>
          </a:p>
          <a:p>
            <a:r>
              <a:rPr lang="en-US" dirty="0"/>
              <a:t>- you know those dumb </a:t>
            </a:r>
            <a:r>
              <a:rPr lang="en-US" dirty="0" err="1"/>
              <a:t>facebook</a:t>
            </a:r>
            <a:r>
              <a:rPr lang="en-US" dirty="0"/>
              <a:t> math posts? almost every single one uses horizontal division </a:t>
            </a:r>
            <a:r>
              <a:rPr lang="en-US" i="1" dirty="0"/>
              <a:t>to make it ambiguous.</a:t>
            </a:r>
            <a:endParaRPr lang="en-US" dirty="0"/>
          </a:p>
          <a:p>
            <a:r>
              <a:rPr lang="en-US" dirty="0"/>
              <a:t>	- it's "trolling" in the pre-2000s internet sense: posting something to make people argue for no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900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point of confusion: here, a precedence of 1 is </a:t>
            </a:r>
            <a:r>
              <a:rPr lang="en-US" i="1" dirty="0"/>
              <a:t>higher</a:t>
            </a:r>
            <a:r>
              <a:rPr lang="en-US" i="0" dirty="0"/>
              <a:t> than a precedence of 2, because we're treating them as "ranks" like 1</a:t>
            </a:r>
            <a:r>
              <a:rPr lang="en-US" i="0" baseline="30000" dirty="0"/>
              <a:t>st</a:t>
            </a:r>
            <a:r>
              <a:rPr lang="en-US" i="0" dirty="0"/>
              <a:t>, 2</a:t>
            </a:r>
            <a:r>
              <a:rPr lang="en-US" i="0" baseline="30000" dirty="0"/>
              <a:t>nd</a:t>
            </a:r>
            <a:r>
              <a:rPr lang="en-US" i="0" dirty="0"/>
              <a:t>, 3</a:t>
            </a:r>
            <a:r>
              <a:rPr lang="en-US" i="0" baseline="30000" dirty="0"/>
              <a:t>rd</a:t>
            </a:r>
          </a:p>
          <a:p>
            <a:r>
              <a:rPr lang="en-US" i="0" baseline="0" dirty="0"/>
              <a:t>	- but numerically, 1 &lt; 2.. and that can be an issue when you come to implement this</a:t>
            </a:r>
          </a:p>
          <a:p>
            <a:r>
              <a:rPr lang="en-US" i="0" baseline="0" dirty="0"/>
              <a:t>	- solution: abstract it!!! we'll see</a:t>
            </a:r>
          </a:p>
          <a:p>
            <a:endParaRPr lang="en-US" i="0" baseline="0" dirty="0"/>
          </a:p>
          <a:p>
            <a:r>
              <a:rPr lang="en-US" i="0" baseline="0" dirty="0"/>
              <a:t>[diagram: because of precedence, “a + b * c” is really like “a + (b * c)”, and “a ** b * c” is really like “(a ** b) * c”. but “27 / 3/ 9” is still ambiguous.]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445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you may not have consciously noticed the left-associativity of division when learning Java… but your brain did</a:t>
            </a:r>
          </a:p>
          <a:p>
            <a:r>
              <a:rPr lang="en-US" dirty="0"/>
              <a:t>- assignment is treated as an operator in some languages and not in others</a:t>
            </a:r>
          </a:p>
          <a:p>
            <a:r>
              <a:rPr lang="en-US" dirty="0"/>
              <a:t>	- in C and Java, an assignment gives the value that was assigned</a:t>
            </a:r>
          </a:p>
          <a:p>
            <a:r>
              <a:rPr lang="en-US" dirty="0"/>
              <a:t>	- so "x = y = z;" </a:t>
            </a:r>
            <a:r>
              <a:rPr lang="en-US" b="1" dirty="0"/>
              <a:t>first</a:t>
            </a:r>
            <a:r>
              <a:rPr lang="en-US" dirty="0"/>
              <a:t> copies from z into y, and </a:t>
            </a:r>
            <a:r>
              <a:rPr lang="en-US" b="1" dirty="0"/>
              <a:t>then</a:t>
            </a:r>
            <a:r>
              <a:rPr lang="en-US" dirty="0"/>
              <a:t> copies that same value into x.</a:t>
            </a:r>
          </a:p>
          <a:p>
            <a:endParaRPr lang="en-US" dirty="0"/>
          </a:p>
          <a:p>
            <a:r>
              <a:rPr lang="en-US" dirty="0"/>
              <a:t>[diagram: division is left-associative, so if you have a sequence of divisions, they are evaluated left-to-right and the tree branches “to the left;” the branching is on the left side of the tree. so in “27 / 3 / 9”, the second division is the root of the tree, and the first division is its left child, which forces “27 / 3” to be evaluated first. conversely, exponentiation is right-associative, so in “2 ** 3 ** 4”, the first exponentiation is the root of the tree, and the second exponentiation is its </a:t>
            </a:r>
            <a:r>
              <a:rPr lang="en-US" i="1" dirty="0"/>
              <a:t>right</a:t>
            </a:r>
            <a:r>
              <a:rPr lang="en-US" i="0" dirty="0"/>
              <a:t> child, which forces “3 ** 4” to be evaluated first.]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69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you get a type error in Java because it parses as ((x &lt; y) &lt; z), and (x &lt; y) has type </a:t>
            </a:r>
            <a:r>
              <a:rPr lang="en-US" dirty="0" err="1"/>
              <a:t>boolean</a:t>
            </a:r>
            <a:r>
              <a:rPr lang="en-US" dirty="0"/>
              <a:t>, and you can't compare </a:t>
            </a:r>
            <a:r>
              <a:rPr lang="en-US" dirty="0" err="1"/>
              <a:t>booleans</a:t>
            </a:r>
            <a:r>
              <a:rPr lang="en-US" dirty="0"/>
              <a:t>.</a:t>
            </a:r>
          </a:p>
          <a:p>
            <a:r>
              <a:rPr lang="en-US" dirty="0"/>
              <a:t>- Python's behavior is actually pretty nice, but it complicates parsing and requires special semantic rules (should </a:t>
            </a:r>
            <a:r>
              <a:rPr lang="en-US" b="1" dirty="0"/>
              <a:t>y</a:t>
            </a:r>
            <a:r>
              <a:rPr lang="en-US" dirty="0"/>
              <a:t> be evaluated twice?)</a:t>
            </a:r>
          </a:p>
          <a:p>
            <a:r>
              <a:rPr lang="en-US" dirty="0"/>
              <a:t>- if we had both negation and exponentiation, we could make them non-associative with each other</a:t>
            </a:r>
          </a:p>
          <a:p>
            <a:r>
              <a:rPr lang="en-US" dirty="0"/>
              <a:t>	- this would force the programmer to put </a:t>
            </a:r>
            <a:r>
              <a:rPr lang="en-US" dirty="0" err="1"/>
              <a:t>parens</a:t>
            </a:r>
            <a:r>
              <a:rPr lang="en-US" dirty="0"/>
              <a:t> to make their intent clear</a:t>
            </a:r>
          </a:p>
          <a:p>
            <a:r>
              <a:rPr lang="en-US" dirty="0"/>
              <a:t>- ultimately these rules are up to the language designer</a:t>
            </a:r>
          </a:p>
          <a:p>
            <a:r>
              <a:rPr lang="en-US" dirty="0"/>
              <a:t>	- do you want a language that feels "natural" or one that encourages explicit code?</a:t>
            </a:r>
          </a:p>
          <a:p>
            <a:r>
              <a:rPr lang="en-US" dirty="0"/>
              <a:t>	- do you want a language that's easier to write or easier to read?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61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but hey, how about </a:t>
            </a:r>
            <a:r>
              <a:rPr lang="en-US" b="1" dirty="0"/>
              <a:t>-2**2</a:t>
            </a:r>
            <a:r>
              <a:rPr lang="en-US" b="0" dirty="0"/>
              <a:t>? should that give 4 or -4?</a:t>
            </a:r>
          </a:p>
          <a:p>
            <a:r>
              <a:rPr lang="en-US" b="0" dirty="0"/>
              <a:t>	- well, negation is really multiplication by -1, so the exponentiation happens first, giving us -4</a:t>
            </a:r>
          </a:p>
          <a:p>
            <a:r>
              <a:rPr lang="en-US" b="0" dirty="0"/>
              <a:t>	- that means exponentiation has a higher precedence than negation!</a:t>
            </a:r>
          </a:p>
          <a:p>
            <a:r>
              <a:rPr lang="en-US" b="0" dirty="0"/>
              <a:t>	- exponentiation is a rare operator in most languages but in those that have it, it is indeed higher: https://</a:t>
            </a:r>
            <a:r>
              <a:rPr lang="en-US" b="0" dirty="0" err="1"/>
              <a:t>docs.python.org</a:t>
            </a:r>
            <a:r>
              <a:rPr lang="en-US" b="0" dirty="0"/>
              <a:t>/3/reference/</a:t>
            </a:r>
            <a:r>
              <a:rPr lang="en-US" b="0" dirty="0" err="1"/>
              <a:t>expressions.html#operator-precedence</a:t>
            </a:r>
            <a:endParaRPr lang="en-US" b="0" dirty="0"/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05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casts are treated as unary operators; compare </a:t>
            </a:r>
            <a:r>
              <a:rPr lang="en-US" b="1" dirty="0"/>
              <a:t>-x</a:t>
            </a:r>
            <a:r>
              <a:rPr lang="en-US" dirty="0"/>
              <a:t> to </a:t>
            </a:r>
            <a:r>
              <a:rPr lang="en-US" b="1" dirty="0"/>
              <a:t>(int)x</a:t>
            </a:r>
          </a:p>
          <a:p>
            <a:r>
              <a:rPr lang="en-US" dirty="0"/>
              <a:t>- reflexive assignments are the ones like +=, -=, *= etc. they are the same precedence and associativity as regular assignment.</a:t>
            </a:r>
          </a:p>
          <a:p>
            <a:r>
              <a:rPr lang="en-US" dirty="0"/>
              <a:t>- have you ever seen "+x" in a C-style language? </a:t>
            </a:r>
          </a:p>
          <a:p>
            <a:r>
              <a:rPr lang="en-US" dirty="0"/>
              <a:t>	- this is unary plus. do you know what it does? basically nothing!</a:t>
            </a:r>
          </a:p>
          <a:p>
            <a:r>
              <a:rPr lang="en-US" dirty="0"/>
              <a:t>- there's also </a:t>
            </a:r>
            <a:r>
              <a:rPr lang="en-US" b="1" dirty="0"/>
              <a:t>x = (y, z)</a:t>
            </a:r>
            <a:r>
              <a:rPr lang="en-US" dirty="0"/>
              <a:t> which evaluates y and z, but throws away the value from y and assigns the value of z into x</a:t>
            </a:r>
          </a:p>
          <a:p>
            <a:r>
              <a:rPr lang="en-US" dirty="0"/>
              <a:t>	- like, why does this even exist, C?? </a:t>
            </a:r>
            <a:r>
              <a:rPr lang="en-US" dirty="0" err="1"/>
              <a:t>whyyyyy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58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43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!!x is a silly way to cast something to a bool(</a:t>
            </a:r>
            <a:r>
              <a:rPr lang="en-US" dirty="0" err="1"/>
              <a:t>ean</a:t>
            </a:r>
            <a:r>
              <a:rPr lang="en-US" dirty="0"/>
              <a:t>). its meaning is not very clear so don't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016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98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precedence is encoded in the grammar rules themselves: you start with the </a:t>
            </a:r>
            <a:r>
              <a:rPr lang="en-US" i="1" dirty="0"/>
              <a:t>lowest</a:t>
            </a:r>
            <a:r>
              <a:rPr lang="en-US" i="0" dirty="0"/>
              <a:t> precedence and recurse to higher ones</a:t>
            </a:r>
          </a:p>
          <a:p>
            <a:r>
              <a:rPr lang="en-US" i="0" dirty="0"/>
              <a:t>	- which feels entirely backward, and it is not clear at all that this does indeed work</a:t>
            </a:r>
          </a:p>
          <a:p>
            <a:r>
              <a:rPr lang="en-US" i="0" dirty="0"/>
              <a:t>- the associativity is really tricky: </a:t>
            </a:r>
          </a:p>
          <a:p>
            <a:r>
              <a:rPr lang="en-US" i="0" dirty="0"/>
              <a:t>	- left-associative operators recurse to the next higher precedence for the RHS (see Add and </a:t>
            </a:r>
            <a:r>
              <a:rPr lang="en-US" i="0" dirty="0" err="1"/>
              <a:t>Mul</a:t>
            </a:r>
            <a:r>
              <a:rPr lang="en-US" i="0" dirty="0"/>
              <a:t>)</a:t>
            </a:r>
          </a:p>
          <a:p>
            <a:r>
              <a:rPr lang="en-US" i="0" dirty="0"/>
              <a:t>	- right-associative operators recurse to </a:t>
            </a:r>
            <a:r>
              <a:rPr lang="en-US" i="1" dirty="0"/>
              <a:t>themselves</a:t>
            </a:r>
            <a:r>
              <a:rPr lang="en-US" i="0" dirty="0"/>
              <a:t> for the RHS (see Neg and Pow).</a:t>
            </a:r>
          </a:p>
          <a:p>
            <a:r>
              <a:rPr lang="en-US" i="0" dirty="0"/>
              <a:t>- the code for this kind of expression parser is </a:t>
            </a:r>
            <a:r>
              <a:rPr lang="en-US" i="1" dirty="0"/>
              <a:t>enormous, </a:t>
            </a:r>
            <a:r>
              <a:rPr lang="en-US" i="0" dirty="0"/>
              <a:t>repetitive, difficult to change, difficult to debug, and </a:t>
            </a:r>
            <a:r>
              <a:rPr lang="en-US" i="0" dirty="0" err="1"/>
              <a:t>recurses</a:t>
            </a:r>
            <a:r>
              <a:rPr lang="en-US" i="0" dirty="0"/>
              <a:t> deeply even for simple expressions. if there was a bug in the parser, it wasn't unusual to get </a:t>
            </a:r>
            <a:r>
              <a:rPr lang="en-US" i="0" dirty="0" err="1"/>
              <a:t>backtraces</a:t>
            </a:r>
            <a:r>
              <a:rPr lang="en-US" i="0" dirty="0"/>
              <a:t> 100 function calls deep</a:t>
            </a:r>
          </a:p>
          <a:p>
            <a:r>
              <a:rPr lang="en-US" i="0" dirty="0"/>
              <a:t>	- https://</a:t>
            </a:r>
            <a:r>
              <a:rPr lang="en-US" i="0" dirty="0" err="1"/>
              <a:t>github.com</a:t>
            </a:r>
            <a:r>
              <a:rPr lang="en-US" i="0" dirty="0"/>
              <a:t>/</a:t>
            </a:r>
            <a:r>
              <a:rPr lang="en-US" i="0" dirty="0" err="1"/>
              <a:t>JarrettBillingsley</a:t>
            </a:r>
            <a:r>
              <a:rPr lang="en-US" i="0" dirty="0"/>
              <a:t>/Croc/blob/master/</a:t>
            </a:r>
            <a:r>
              <a:rPr lang="en-US" i="0" dirty="0" err="1"/>
              <a:t>src</a:t>
            </a:r>
            <a:r>
              <a:rPr lang="en-US" i="0" dirty="0"/>
              <a:t>/croc/compiler/parser.cpp#L1707-L2258</a:t>
            </a:r>
          </a:p>
          <a:p>
            <a:r>
              <a:rPr lang="en-US" i="0" dirty="0"/>
              <a:t>	- that's </a:t>
            </a:r>
            <a:r>
              <a:rPr lang="en-US" i="1" dirty="0"/>
              <a:t>most of</a:t>
            </a:r>
            <a:r>
              <a:rPr lang="en-US" i="0" dirty="0"/>
              <a:t> the expression parsing and you could really go all the way to line 2645</a:t>
            </a:r>
          </a:p>
          <a:p>
            <a:r>
              <a:rPr lang="en-US" i="0" dirty="0"/>
              <a:t>	- it's horrendous</a:t>
            </a:r>
          </a:p>
          <a:p>
            <a:r>
              <a:rPr lang="en-US" i="0" dirty="0"/>
              <a:t>- essentially, this trades exponential time for like, </a:t>
            </a:r>
            <a:r>
              <a:rPr lang="en-US" i="1" dirty="0"/>
              <a:t>a lot </a:t>
            </a:r>
            <a:r>
              <a:rPr lang="en-US" i="0" dirty="0"/>
              <a:t>of stack space. O(r*n) where r is the number of rules in the expression grammar and n is the nesting depth of the expression being parsed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	- pathological, deeply-nested expressions could easily cause a stack overflow!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4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any system of rules is just a </a:t>
            </a:r>
            <a:r>
              <a:rPr lang="en-US" i="1" dirty="0"/>
              <a:t>model</a:t>
            </a:r>
            <a:r>
              <a:rPr lang="en-US" i="0" dirty="0"/>
              <a:t> for the real world.</a:t>
            </a:r>
          </a:p>
          <a:p>
            <a:r>
              <a:rPr lang="en-US" i="0" dirty="0"/>
              <a:t>	- and models </a:t>
            </a:r>
            <a:r>
              <a:rPr lang="en-US" i="1" dirty="0"/>
              <a:t>do not have to be perfect.</a:t>
            </a:r>
            <a:r>
              <a:rPr lang="en-US" i="0" dirty="0"/>
              <a:t> in fact, very few models are; that's the point of a model</a:t>
            </a:r>
          </a:p>
          <a:p>
            <a:r>
              <a:rPr lang="en-US" i="0" dirty="0"/>
              <a:t>- we could get really lost in the weeds, trying to encode more and more information into the grammar…</a:t>
            </a:r>
          </a:p>
          <a:p>
            <a:r>
              <a:rPr lang="en-US" i="0" dirty="0"/>
              <a:t>	- but there are limits on what we can encode</a:t>
            </a:r>
          </a:p>
          <a:p>
            <a:r>
              <a:rPr lang="en-US" i="0" dirty="0"/>
              <a:t>	- and at some point it makes sense to just stop, step back, and use something else to do the complex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87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LHS = "left-hand side", RHS = "right-hand side"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8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[alternate presentation:]</a:t>
            </a:r>
          </a:p>
          <a:p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token is x, we parse the LHS term, so LHS = x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token is +, which brings us into the loop; set op = +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token is y; we parse the RHS term, so RHS = y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now we make a new AST node by setting LHS = (LHS op RHS), which gives us LHS = (x + y)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token is -; loop continues, set op = -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token is z; we parse the RHS term, so RHS = z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now we make a new AST node by setting LHS = (LHS op RHS), which gives us LHS = ((x + y) - z)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token is &lt;</a:t>
            </a:r>
            <a:r>
              <a:rPr lang="en-US" dirty="0" err="1"/>
              <a:t>eof</a:t>
            </a:r>
            <a:r>
              <a:rPr lang="en-US" dirty="0"/>
              <a:t>&gt;, which stops the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271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this builds the tree in linear time with no backtracking needed! nice!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[diagram 1: in the expression “a + b + c + d + e”, the tree is built bottom-up; first “a + b” is parsed, giving + as the root with left = a and right = b; then “+ c” is parsed, so this new + becomes the new root, with left = the old “a + b” sub-tree and right = c; then “+ d” is parsed, making a new root, etc.]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[diagram 2: for the expression “x + y * z”, the algorithm produces a tree with * as the root and “x + y” as its left child, which is wrong; “y * z” should be done first, followed by the addition!]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71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[diagram: “this point” is right after parsing the RHS term but before creating the new AST node out of LHS and RHS.]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897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we're not </a:t>
            </a:r>
            <a:r>
              <a:rPr lang="en-US" i="1" dirty="0"/>
              <a:t>actually </a:t>
            </a:r>
            <a:r>
              <a:rPr lang="en-US" dirty="0"/>
              <a:t>inserting parentheses. instead, these "virtual parentheses" indicate the beginnings and ends of recursive parsing calls.</a:t>
            </a:r>
          </a:p>
          <a:p>
            <a:r>
              <a:rPr lang="en-US" dirty="0"/>
              <a:t>* "…or at the end of the expression, whichever comes first."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43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 the diagram, the orange nodes are parsed by the outer recursion, and the green ones by the inner recursion.</a:t>
            </a:r>
          </a:p>
          <a:p>
            <a:pPr marL="171450" indent="-171450">
              <a:buFontTx/>
              <a:buChar char="-"/>
            </a:pPr>
            <a:r>
              <a:rPr lang="en-US" dirty="0"/>
              <a:t>in step 4, the inner recursion's loop stopped because it saw a + which is lower precedence than *.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[alternate presentation:]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a is parsed. this sets LHS = a.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+ is seen, which sets op = +.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b is parsed. this sets RHS + b, but…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* is seen, causing us to </a:t>
            </a:r>
            <a:r>
              <a:rPr lang="en-US" dirty="0" err="1"/>
              <a:t>recurse</a:t>
            </a:r>
            <a:r>
              <a:rPr lang="en-US" dirty="0"/>
              <a:t>, so + is put on hold.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now the loop starts over again, but with LHS = b!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it parses “* c”, giving us the subtree “b * c”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then “* d”, giving us ”(b * c) * d”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then “* e”, giving us “((b * c) * d) * e”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but then + is seen, causing the loop to stop, because + is a lower precedence than *. so the entire subtree of multiplications is returned, and becomes the new RHS in the outer call (the one parsing +)</a:t>
            </a:r>
          </a:p>
          <a:p>
            <a:pPr marL="585216" lvl="1" indent="-228600">
              <a:buFont typeface="Arial" panose="020B0604020202020204" pitchFamily="34" charset="0"/>
              <a:buChar char="•"/>
            </a:pPr>
            <a:r>
              <a:rPr lang="en-US" dirty="0"/>
              <a:t>so we now have root = +, with left = a, and right = the entire subtree of multiplications (((b * c) * d) * e)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dirty="0"/>
              <a:t> finally, ”+ f” is parsed and that + becomes the new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676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945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IT ALL COMES FULL CIRCLE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71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0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14501"/>
            <a:ext cx="7772400" cy="1225021"/>
          </a:xfr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77645"/>
            <a:ext cx="7772400" cy="1460500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162300"/>
            <a:ext cx="9144000" cy="18288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</p:spTree>
    <p:extLst/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801659"/>
          </a:xfrm>
        </p:spPr>
        <p:txBody>
          <a:bodyPr>
            <a:normAutofit/>
          </a:bodyPr>
          <a:lstStyle>
            <a:lvl1pPr marL="257175" indent="-257175">
              <a:buSzPct val="100000"/>
              <a:buFont typeface="Trebuchet MS" pitchFamily="34" charset="0"/>
              <a:buChar char="●"/>
              <a:defRPr sz="2200"/>
            </a:lvl1pPr>
            <a:lvl2pPr marL="515780" indent="-257175">
              <a:defRPr sz="2200"/>
            </a:lvl2pPr>
            <a:lvl3pPr marL="772955" indent="-250032">
              <a:tabLst/>
              <a:defRPr sz="2200" b="0"/>
            </a:lvl3pPr>
            <a:lvl4pPr marL="1031558" indent="-257175">
              <a:tabLst/>
              <a:defRPr sz="2200" b="0"/>
            </a:lvl4pPr>
            <a:lvl5pPr marL="1285875" indent="-254318"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Title and Content (no ani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801659"/>
          </a:xfrm>
        </p:spPr>
        <p:txBody>
          <a:bodyPr>
            <a:normAutofit/>
          </a:bodyPr>
          <a:lstStyle>
            <a:lvl1pPr marL="257175" indent="-257175">
              <a:buSzPct val="100000"/>
              <a:buFont typeface="Trebuchet MS" pitchFamily="34" charset="0"/>
              <a:buChar char="●"/>
              <a:defRPr sz="2200"/>
            </a:lvl1pPr>
            <a:lvl2pPr marL="515780" indent="-257175">
              <a:defRPr sz="2200"/>
            </a:lvl2pPr>
            <a:lvl3pPr marL="772955" indent="-250032">
              <a:tabLst/>
              <a:defRPr sz="2200" b="0"/>
            </a:lvl3pPr>
            <a:lvl4pPr marL="1031558" indent="-257175">
              <a:tabLst/>
              <a:defRPr sz="2200" b="0"/>
            </a:lvl4pPr>
            <a:lvl5pPr marL="1285875" indent="-254318"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0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14501"/>
            <a:ext cx="7772400" cy="1225021"/>
          </a:xfr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162300"/>
            <a:ext cx="9144000" cy="18288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</p:spTree>
    <p:extLst/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4"/>
            <a:ext cx="5111750" cy="4877594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95919"/>
            <a:ext cx="3008313" cy="3909219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3"/>
            <a:ext cx="5486400" cy="670719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7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7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5600700"/>
            <a:ext cx="9144000" cy="114300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495300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495301"/>
            <a:ext cx="8991600" cy="4801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5296960"/>
            <a:ext cx="12192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5296960"/>
            <a:ext cx="6858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ransition/>
  <p:hf hdr="0" ftr="0" dt="0"/>
  <p:txStyles>
    <p:titleStyle>
      <a:lvl1pPr algn="l" defTabSz="82296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+mj-lt"/>
          <a:ea typeface="GulimChe" pitchFamily="49" charset="-127"/>
          <a:cs typeface="MoolBoran" pitchFamily="34" charset="0"/>
        </a:defRPr>
      </a:lvl1pPr>
    </p:titleStyle>
    <p:bodyStyle>
      <a:lvl1pPr marL="204312" indent="-204312" algn="l" defTabSz="822960" rtl="0" eaLnBrk="1" latinLnBrk="0" hangingPunct="1">
        <a:spcBef>
          <a:spcPts val="0"/>
        </a:spcBef>
        <a:buSzPct val="150000"/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5767" indent="-207170" algn="l" defTabSz="822960" rtl="0" eaLnBrk="1" latinLnBrk="0" hangingPunct="1">
        <a:spcBef>
          <a:spcPts val="0"/>
        </a:spcBef>
        <a:buFont typeface="Courier New" pitchFamily="49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620078" indent="-205740" algn="l" defTabSz="822960" rtl="0" eaLnBrk="1" latinLnBrk="0" hangingPunct="1">
        <a:spcBef>
          <a:spcPts val="0"/>
        </a:spcBef>
        <a:buFont typeface="Wingdings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821532" indent="-205740" algn="l" defTabSz="822960" rtl="0" eaLnBrk="1" latinLnBrk="0" hangingPunct="1">
        <a:spcBef>
          <a:spcPts val="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205740" algn="l" defTabSz="822960" rtl="0" eaLnBrk="1" latinLnBrk="0" hangingPunct="1">
        <a:spcBef>
          <a:spcPts val="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CS/COE 1622</a:t>
            </a:r>
          </a:p>
          <a:p>
            <a:r>
              <a:rPr lang="en-US" dirty="0"/>
              <a:t>Jarrett Billingsley</a:t>
            </a:r>
          </a:p>
        </p:txBody>
      </p:sp>
    </p:spTree>
    <p:extLst>
      <p:ext uri="{BB962C8B-B14F-4D97-AF65-F5344CB8AC3E}">
        <p14:creationId xmlns:p14="http://schemas.microsoft.com/office/powerpoint/2010/main" val="36120865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17CE-A372-C744-8763-80C56E42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Announcements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EBBF7-1C6E-294A-B5C4-174BB20AA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we're finishing parsing!! </a:t>
            </a:r>
            <a:r>
              <a:rPr lang="en-US" dirty="0" err="1"/>
              <a:t>yaaay</a:t>
            </a:r>
            <a:endParaRPr lang="en-US" dirty="0"/>
          </a:p>
          <a:p>
            <a:pPr lvl="1"/>
            <a:r>
              <a:rPr lang="en-US" dirty="0"/>
              <a:t>so after today you’ll have everything you need </a:t>
            </a:r>
            <a:r>
              <a:rPr lang="en-US"/>
              <a:t>for project 2!!!!!!</a:t>
            </a:r>
            <a:endParaRPr lang="en-US" dirty="0"/>
          </a:p>
          <a:p>
            <a:r>
              <a:rPr lang="en-US" dirty="0"/>
              <a:t>bottom-up parsing is (</a:t>
            </a:r>
            <a:r>
              <a:rPr lang="en-US" dirty="0" err="1"/>
              <a:t>imo</a:t>
            </a:r>
            <a:r>
              <a:rPr lang="en-US" dirty="0"/>
              <a:t>) best used for parsing </a:t>
            </a:r>
            <a:r>
              <a:rPr lang="en-US" b="1" dirty="0"/>
              <a:t>expressions, </a:t>
            </a:r>
            <a:r>
              <a:rPr lang="en-US" dirty="0"/>
              <a:t>so we should start by talking about…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C32BD-B01F-C646-91E9-D5AAEE75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7440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4BE73-BE46-8242-A1F1-91BDB06B14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D8C65-14BB-1E4E-9822-6762750F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2417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0F9B-2CF1-CB41-A81C-6AA2CE26B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(and producing)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135C8-D18F-4B42-8FD4-EF1DCD4C1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2"/>
            <a:ext cx="8991600" cy="495300"/>
          </a:xfrm>
        </p:spPr>
        <p:txBody>
          <a:bodyPr/>
          <a:lstStyle/>
          <a:p>
            <a:r>
              <a:rPr lang="en-US" dirty="0"/>
              <a:t>we saw before that given an AST, we could </a:t>
            </a:r>
            <a:r>
              <a:rPr lang="en-US" b="1" dirty="0"/>
              <a:t>evaluate it: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B2E61-BAA3-7644-8FDF-0AC1CE20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8200" y="5296960"/>
            <a:ext cx="685800" cy="304271"/>
          </a:xfrm>
        </p:spPr>
        <p:txBody>
          <a:bodyPr/>
          <a:lstStyle/>
          <a:p>
            <a:fld id="{3552B95B-556F-44BD-91A5-D80C1B9E2BB3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2CF639A-AA44-924E-8FC7-C39B9C0D83AD}"/>
              </a:ext>
            </a:extLst>
          </p:cNvPr>
          <p:cNvGrpSpPr/>
          <p:nvPr/>
        </p:nvGrpSpPr>
        <p:grpSpPr>
          <a:xfrm>
            <a:off x="304800" y="990602"/>
            <a:ext cx="1616484" cy="1750852"/>
            <a:chOff x="2191122" y="3308528"/>
            <a:chExt cx="1616484" cy="17508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D0EC3B-7BE1-1343-AE12-3B4452D2641A}"/>
                </a:ext>
              </a:extLst>
            </p:cNvPr>
            <p:cNvSpPr txBox="1"/>
            <p:nvPr/>
          </p:nvSpPr>
          <p:spPr>
            <a:xfrm>
              <a:off x="2617636" y="4659270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E1C5533-1DF4-9D4E-B1CF-D2AEAE98D412}"/>
                </a:ext>
              </a:extLst>
            </p:cNvPr>
            <p:cNvSpPr txBox="1"/>
            <p:nvPr/>
          </p:nvSpPr>
          <p:spPr>
            <a:xfrm>
              <a:off x="3481876" y="4659270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8FA3D62-29C3-634A-98B0-092A4CAB40F3}"/>
                </a:ext>
              </a:extLst>
            </p:cNvPr>
            <p:cNvSpPr txBox="1"/>
            <p:nvPr/>
          </p:nvSpPr>
          <p:spPr>
            <a:xfrm>
              <a:off x="3061831" y="4028649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+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FDCD71D-4B23-0041-A01A-D710799D1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1491" y="4366796"/>
              <a:ext cx="272085" cy="3860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A575FC3-0543-7E4D-A7D5-225F772F7D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95816" y="4346476"/>
              <a:ext cx="309880" cy="406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CCD64D-58F5-4646-A926-E9A06C80E37E}"/>
                </a:ext>
              </a:extLst>
            </p:cNvPr>
            <p:cNvSpPr txBox="1"/>
            <p:nvPr/>
          </p:nvSpPr>
          <p:spPr>
            <a:xfrm>
              <a:off x="2632976" y="3308528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*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04C376D-3A25-534A-9581-66022121ECBB}"/>
                </a:ext>
              </a:extLst>
            </p:cNvPr>
            <p:cNvSpPr txBox="1"/>
            <p:nvPr/>
          </p:nvSpPr>
          <p:spPr>
            <a:xfrm>
              <a:off x="2191122" y="4014338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C40AC97-7FDA-D543-95F0-86F61E1FD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4977" y="3721864"/>
              <a:ext cx="272085" cy="3860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7C06687-58CC-544D-AA0F-F5C9753668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9302" y="3701544"/>
              <a:ext cx="309880" cy="406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361360B-5E15-8146-9189-CFC7648B7920}"/>
              </a:ext>
            </a:extLst>
          </p:cNvPr>
          <p:cNvSpPr txBox="1"/>
          <p:nvPr/>
        </p:nvSpPr>
        <p:spPr>
          <a:xfrm>
            <a:off x="1758419" y="1141337"/>
            <a:ext cx="7053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 think you would agree that the </a:t>
            </a:r>
            <a:r>
              <a:rPr lang="en-US" sz="2200" b="1" dirty="0"/>
              <a:t>order of operations</a:t>
            </a:r>
            <a:r>
              <a:rPr lang="en-US" sz="2200" dirty="0"/>
              <a:t> here is to do the addition, </a:t>
            </a:r>
            <a:r>
              <a:rPr lang="en-US" sz="2200" i="1" dirty="0"/>
              <a:t>then</a:t>
            </a:r>
            <a:r>
              <a:rPr lang="en-US" sz="2200" dirty="0"/>
              <a:t> the multiplication.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3A62DA-04DA-A143-A10C-316B611EC68B}"/>
              </a:ext>
            </a:extLst>
          </p:cNvPr>
          <p:cNvSpPr txBox="1"/>
          <p:nvPr/>
        </p:nvSpPr>
        <p:spPr>
          <a:xfrm>
            <a:off x="2116869" y="2088059"/>
            <a:ext cx="64293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but we're talking about parsing now. </a:t>
            </a:r>
            <a:r>
              <a:rPr lang="en-US" sz="2200" b="1" dirty="0"/>
              <a:t>what source code </a:t>
            </a:r>
            <a:r>
              <a:rPr lang="en-US" sz="2200" dirty="0"/>
              <a:t>would I write to produce this AST?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DA455D-DE1B-F84E-9393-1BA57D5348C0}"/>
              </a:ext>
            </a:extLst>
          </p:cNvPr>
          <p:cNvSpPr txBox="1"/>
          <p:nvPr/>
        </p:nvSpPr>
        <p:spPr>
          <a:xfrm>
            <a:off x="3335625" y="2993798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* (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18C215-73FD-7F48-AB38-5BBF987EDADE}"/>
              </a:ext>
            </a:extLst>
          </p:cNvPr>
          <p:cNvSpPr txBox="1"/>
          <p:nvPr/>
        </p:nvSpPr>
        <p:spPr>
          <a:xfrm>
            <a:off x="381000" y="3713850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i="1" dirty="0"/>
              <a:t>why</a:t>
            </a:r>
            <a:r>
              <a:rPr lang="en-US" sz="2200" dirty="0"/>
              <a:t> did we have to put parentheses there?</a:t>
            </a:r>
            <a:endParaRPr lang="en-US" sz="2200" i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0EF1D8-D930-FE47-B835-07DE7886ECE5}"/>
              </a:ext>
            </a:extLst>
          </p:cNvPr>
          <p:cNvSpPr txBox="1"/>
          <p:nvPr/>
        </p:nvSpPr>
        <p:spPr>
          <a:xfrm>
            <a:off x="630531" y="4268244"/>
            <a:ext cx="56178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because of the order of operations: </a:t>
            </a:r>
            <a:r>
              <a:rPr lang="en-US" sz="2200" dirty="0"/>
              <a:t>without them,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2200" dirty="0"/>
              <a:t> would parse as: </a:t>
            </a:r>
            <a:endParaRPr lang="en-US" sz="2200" b="1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D756C86-1A3D-AB40-BCFF-B075013B8ADF}"/>
              </a:ext>
            </a:extLst>
          </p:cNvPr>
          <p:cNvGrpSpPr/>
          <p:nvPr/>
        </p:nvGrpSpPr>
        <p:grpSpPr>
          <a:xfrm>
            <a:off x="6629400" y="3185557"/>
            <a:ext cx="1541884" cy="1842603"/>
            <a:chOff x="6439632" y="3172981"/>
            <a:chExt cx="1541884" cy="184260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BC62E16-0537-B74E-B380-B492FE7A9F92}"/>
                </a:ext>
              </a:extLst>
            </p:cNvPr>
            <p:cNvSpPr txBox="1"/>
            <p:nvPr/>
          </p:nvSpPr>
          <p:spPr>
            <a:xfrm>
              <a:off x="6439632" y="4615474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553F4D3-F2F4-644D-90AB-4417B46AED92}"/>
                </a:ext>
              </a:extLst>
            </p:cNvPr>
            <p:cNvSpPr txBox="1"/>
            <p:nvPr/>
          </p:nvSpPr>
          <p:spPr>
            <a:xfrm>
              <a:off x="7303872" y="4615474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3C233E4-89A0-9449-A8F9-E07969E4FED1}"/>
                </a:ext>
              </a:extLst>
            </p:cNvPr>
            <p:cNvSpPr txBox="1"/>
            <p:nvPr/>
          </p:nvSpPr>
          <p:spPr>
            <a:xfrm>
              <a:off x="6883827" y="3984853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*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B9BB3AC-6CE6-D043-A9E5-B03DB0BFD3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3487" y="4323000"/>
              <a:ext cx="272085" cy="3860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F86C01C-2131-ED47-A559-F262484AE5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7812" y="4302680"/>
              <a:ext cx="309880" cy="406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E8497E3-7F6A-1C4E-89B9-7761D61E6B20}"/>
                </a:ext>
              </a:extLst>
            </p:cNvPr>
            <p:cNvSpPr txBox="1"/>
            <p:nvPr/>
          </p:nvSpPr>
          <p:spPr>
            <a:xfrm>
              <a:off x="7264520" y="3172981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+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0C95097-4BAF-4F47-B362-6E03DD8A5930}"/>
                </a:ext>
              </a:extLst>
            </p:cNvPr>
            <p:cNvSpPr txBox="1"/>
            <p:nvPr/>
          </p:nvSpPr>
          <p:spPr>
            <a:xfrm>
              <a:off x="7655786" y="3984853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CB85E5F-BD9D-5D43-8ADD-C82F1D52EF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6521" y="3586317"/>
              <a:ext cx="272085" cy="3860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D15F68E-7A4A-E849-9DFC-5D0055F634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00846" y="3565997"/>
              <a:ext cx="309880" cy="406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92082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CD20-B30B-B443-9D06-8607E0E26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PEMDAS, BODMAS, BIDMAS…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08D11-A90C-E743-A745-7F261BC49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officially, </a:t>
            </a:r>
            <a:r>
              <a:rPr lang="en-US" dirty="0"/>
              <a:t>the order of operations used by mathematicians is:</a:t>
            </a:r>
          </a:p>
          <a:p>
            <a:pPr marL="715805" lvl="1" indent="-457200">
              <a:buFont typeface="+mj-lt"/>
              <a:buAutoNum type="arabicPeriod"/>
            </a:pPr>
            <a:r>
              <a:rPr lang="en-US" dirty="0"/>
              <a:t>parentheses/brackets</a:t>
            </a:r>
          </a:p>
          <a:p>
            <a:pPr marL="715805" lvl="1" indent="-457200">
              <a:buFont typeface="+mj-lt"/>
              <a:buAutoNum type="arabicPeriod"/>
            </a:pPr>
            <a:r>
              <a:rPr lang="en-US" dirty="0"/>
              <a:t>exponentiation/roots</a:t>
            </a:r>
          </a:p>
          <a:p>
            <a:pPr marL="715805" lvl="1" indent="-457200">
              <a:buFont typeface="+mj-lt"/>
              <a:buAutoNum type="arabicPeriod"/>
            </a:pPr>
            <a:r>
              <a:rPr lang="en-US" dirty="0"/>
              <a:t>multiplication/division</a:t>
            </a:r>
          </a:p>
          <a:p>
            <a:pPr marL="715805" lvl="1" indent="-457200">
              <a:buFont typeface="+mj-lt"/>
              <a:buAutoNum type="arabicPeriod"/>
            </a:pPr>
            <a:r>
              <a:rPr lang="en-US" dirty="0"/>
              <a:t>addition/subtraction</a:t>
            </a:r>
          </a:p>
          <a:p>
            <a:r>
              <a:rPr lang="en-US" dirty="0"/>
              <a:t>the order of the letters in the acronym (MD vs. DM) </a:t>
            </a:r>
            <a:r>
              <a:rPr lang="en-US" b="1" dirty="0">
                <a:solidFill>
                  <a:srgbClr val="FF0000"/>
                </a:solidFill>
              </a:rPr>
              <a:t>does not say </a:t>
            </a:r>
            <a:r>
              <a:rPr lang="en-US" b="1" dirty="0"/>
              <a:t>that e.g. multiplication happens before division.</a:t>
            </a:r>
            <a:endParaRPr lang="en-US" dirty="0"/>
          </a:p>
          <a:p>
            <a:r>
              <a:rPr lang="en-US" dirty="0"/>
              <a:t>when writing math horizontally like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27 / 3 / 9</a:t>
            </a:r>
            <a:r>
              <a:rPr lang="en-US" dirty="0"/>
              <a:t>, there's a problem:</a:t>
            </a:r>
          </a:p>
          <a:p>
            <a:pPr lvl="1"/>
            <a:r>
              <a:rPr lang="en-US" dirty="0"/>
              <a:t>even among mathematicians, </a:t>
            </a:r>
            <a:r>
              <a:rPr lang="en-US" b="1" dirty="0">
                <a:solidFill>
                  <a:srgbClr val="FF0000"/>
                </a:solidFill>
              </a:rPr>
              <a:t>there is no consensus on what order horizontal division should be done!</a:t>
            </a:r>
          </a:p>
          <a:p>
            <a:r>
              <a:rPr lang="en-US" dirty="0"/>
              <a:t>in programming languages, </a:t>
            </a:r>
            <a:r>
              <a:rPr lang="en-US" i="1" dirty="0"/>
              <a:t>all</a:t>
            </a:r>
            <a:r>
              <a:rPr lang="en-US" dirty="0"/>
              <a:t> math is written horizontally…</a:t>
            </a:r>
          </a:p>
          <a:p>
            <a:pPr lvl="1"/>
            <a:r>
              <a:rPr lang="en-US" dirty="0"/>
              <a:t>and you have e.g.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&amp;&amp;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^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~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&gt;=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en-US" dirty="0"/>
              <a:t>, …</a:t>
            </a:r>
          </a:p>
          <a:p>
            <a:r>
              <a:rPr lang="en-US" dirty="0"/>
              <a:t>so we need a </a:t>
            </a:r>
            <a:r>
              <a:rPr lang="en-US" b="1" dirty="0"/>
              <a:t>more rigorous way</a:t>
            </a:r>
            <a:r>
              <a:rPr lang="en-US" dirty="0"/>
              <a:t> of dealing with this.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06D1C-BD00-164A-B5A1-E197B34E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5199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86E5B-FC4D-DA48-B0FE-D04BA87C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Precedence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0CFBF-F89A-A448-8B06-63A992E79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904999"/>
          </a:xfrm>
        </p:spPr>
        <p:txBody>
          <a:bodyPr/>
          <a:lstStyle/>
          <a:p>
            <a:r>
              <a:rPr lang="en-US" dirty="0"/>
              <a:t>here's a more formalized, algorithmically-checkable method:</a:t>
            </a:r>
          </a:p>
          <a:p>
            <a:pPr lvl="1"/>
            <a:r>
              <a:rPr lang="en-US" dirty="0"/>
              <a:t>you </a:t>
            </a:r>
            <a:r>
              <a:rPr lang="en-US" b="1" dirty="0"/>
              <a:t>rank </a:t>
            </a:r>
            <a:r>
              <a:rPr lang="en-US" dirty="0"/>
              <a:t>the operators by giving each a number, its </a:t>
            </a:r>
            <a:r>
              <a:rPr lang="en-US" b="1" dirty="0"/>
              <a:t>precedence</a:t>
            </a:r>
            <a:endParaRPr lang="en-US" dirty="0"/>
          </a:p>
          <a:p>
            <a:pPr lvl="1"/>
            <a:r>
              <a:rPr lang="en-US" b="1" dirty="0"/>
              <a:t>that precedence </a:t>
            </a:r>
            <a:r>
              <a:rPr lang="en-US" dirty="0"/>
              <a:t>decides the order of evaluation</a:t>
            </a:r>
          </a:p>
          <a:p>
            <a:r>
              <a:rPr lang="en-US" dirty="0"/>
              <a:t>another way of thinking of it is: if you wrote the expression </a:t>
            </a:r>
            <a:r>
              <a:rPr lang="en-US" i="1" dirty="0"/>
              <a:t>without parentheses, </a:t>
            </a:r>
            <a:r>
              <a:rPr lang="en-US" dirty="0"/>
              <a:t>the precedence tells you </a:t>
            </a:r>
            <a:r>
              <a:rPr lang="en-US" b="1" dirty="0"/>
              <a:t>where they </a:t>
            </a:r>
            <a:r>
              <a:rPr lang="en-US" b="1" i="1" dirty="0"/>
              <a:t>should</a:t>
            </a:r>
            <a:r>
              <a:rPr lang="en-US" b="1" dirty="0"/>
              <a:t> go: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270A5-66FC-C744-BEA0-8C44CD94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A7E219-ADB6-8D4A-8F53-A164C2C30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244236"/>
              </p:ext>
            </p:extLst>
          </p:nvPr>
        </p:nvGraphicFramePr>
        <p:xfrm>
          <a:off x="569857" y="2571751"/>
          <a:ext cx="1928143" cy="1600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29452">
                  <a:extLst>
                    <a:ext uri="{9D8B030D-6E8A-4147-A177-3AD203B41FA5}">
                      <a16:colId xmlns:a16="http://schemas.microsoft.com/office/drawing/2014/main" val="1271417881"/>
                    </a:ext>
                  </a:extLst>
                </a:gridCol>
                <a:gridCol w="698691">
                  <a:extLst>
                    <a:ext uri="{9D8B030D-6E8A-4147-A177-3AD203B41FA5}">
                      <a16:colId xmlns:a16="http://schemas.microsoft.com/office/drawing/2014/main" val="362417017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Operator</a:t>
                      </a:r>
                    </a:p>
                  </a:txBody>
                  <a:tcPr marL="72009" marR="72009" marT="36005" marB="360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/>
                        <a:t>Prec</a:t>
                      </a:r>
                      <a:endParaRPr lang="en-US" sz="1900" dirty="0"/>
                    </a:p>
                  </a:txBody>
                  <a:tcPr marL="72009" marR="72009" marT="36005" marB="36005"/>
                </a:tc>
                <a:extLst>
                  <a:ext uri="{0D108BD9-81ED-4DB2-BD59-A6C34878D82A}">
                    <a16:rowId xmlns:a16="http://schemas.microsoft.com/office/drawing/2014/main" val="587292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**</a:t>
                      </a:r>
                    </a:p>
                  </a:txBody>
                  <a:tcPr marL="72009" marR="72009" marT="36005" marB="360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1</a:t>
                      </a:r>
                      <a:r>
                        <a:rPr lang="en-US" sz="1900" b="1" baseline="30000" dirty="0"/>
                        <a:t>st</a:t>
                      </a:r>
                      <a:endParaRPr lang="en-US" sz="1900" b="1" dirty="0"/>
                    </a:p>
                  </a:txBody>
                  <a:tcPr marL="72009" marR="72009" marT="36005" marB="36005"/>
                </a:tc>
                <a:extLst>
                  <a:ext uri="{0D108BD9-81ED-4DB2-BD59-A6C34878D82A}">
                    <a16:rowId xmlns:a16="http://schemas.microsoft.com/office/drawing/2014/main" val="239776499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 / %</a:t>
                      </a:r>
                    </a:p>
                  </a:txBody>
                  <a:tcPr marL="72009" marR="72009" marT="36005" marB="360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2</a:t>
                      </a:r>
                      <a:r>
                        <a:rPr lang="en-US" sz="1900" b="1" baseline="30000" dirty="0"/>
                        <a:t>nd</a:t>
                      </a:r>
                      <a:endParaRPr lang="en-US" sz="1900" b="1" dirty="0"/>
                    </a:p>
                  </a:txBody>
                  <a:tcPr marL="72009" marR="72009" marT="36005" marB="36005"/>
                </a:tc>
                <a:extLst>
                  <a:ext uri="{0D108BD9-81ED-4DB2-BD59-A6C34878D82A}">
                    <a16:rowId xmlns:a16="http://schemas.microsoft.com/office/drawing/2014/main" val="83596035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 -</a:t>
                      </a:r>
                    </a:p>
                  </a:txBody>
                  <a:tcPr marL="72009" marR="72009" marT="36005" marB="360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/>
                        <a:t>3</a:t>
                      </a:r>
                      <a:r>
                        <a:rPr lang="en-US" sz="1900" b="1" baseline="30000" dirty="0"/>
                        <a:t>rd</a:t>
                      </a:r>
                      <a:endParaRPr lang="en-US" sz="1900" b="1" dirty="0"/>
                    </a:p>
                  </a:txBody>
                  <a:tcPr marL="72009" marR="72009" marT="36005" marB="36005"/>
                </a:tc>
                <a:extLst>
                  <a:ext uri="{0D108BD9-81ED-4DB2-BD59-A6C34878D82A}">
                    <a16:rowId xmlns:a16="http://schemas.microsoft.com/office/drawing/2014/main" val="10748752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A5686D-0C2C-5543-80C8-01F94C18E0E8}"/>
              </a:ext>
            </a:extLst>
          </p:cNvPr>
          <p:cNvSpPr txBox="1"/>
          <p:nvPr/>
        </p:nvSpPr>
        <p:spPr>
          <a:xfrm>
            <a:off x="3505200" y="2514602"/>
            <a:ext cx="15840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a + b * 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5F8651-117F-364A-A7B3-56C2DEEADBE2}"/>
              </a:ext>
            </a:extLst>
          </p:cNvPr>
          <p:cNvSpPr txBox="1"/>
          <p:nvPr/>
        </p:nvSpPr>
        <p:spPr>
          <a:xfrm>
            <a:off x="5715000" y="2514602"/>
            <a:ext cx="1895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a + (b * c)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F9C9AFCB-4C63-5C4D-81F7-A74877FD3A7E}"/>
              </a:ext>
            </a:extLst>
          </p:cNvPr>
          <p:cNvSpPr/>
          <p:nvPr/>
        </p:nvSpPr>
        <p:spPr>
          <a:xfrm>
            <a:off x="5211644" y="2571751"/>
            <a:ext cx="381000" cy="31658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45F5DC-D609-5B40-9393-1D52B45B1C65}"/>
              </a:ext>
            </a:extLst>
          </p:cNvPr>
          <p:cNvSpPr txBox="1"/>
          <p:nvPr/>
        </p:nvSpPr>
        <p:spPr>
          <a:xfrm>
            <a:off x="3353022" y="2961420"/>
            <a:ext cx="17395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a ** b * 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C10EF6-71B3-D043-94AD-2B1E1D29786F}"/>
              </a:ext>
            </a:extLst>
          </p:cNvPr>
          <p:cNvSpPr txBox="1"/>
          <p:nvPr/>
        </p:nvSpPr>
        <p:spPr>
          <a:xfrm>
            <a:off x="5718313" y="2961420"/>
            <a:ext cx="20505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(a ** b) * c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A66FC00-1F2A-7B45-AC1E-117DCC44F149}"/>
              </a:ext>
            </a:extLst>
          </p:cNvPr>
          <p:cNvSpPr/>
          <p:nvPr/>
        </p:nvSpPr>
        <p:spPr>
          <a:xfrm>
            <a:off x="5214957" y="3018569"/>
            <a:ext cx="381000" cy="31658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4794E-A7C2-5F4C-8D21-521A0D51B335}"/>
              </a:ext>
            </a:extLst>
          </p:cNvPr>
          <p:cNvSpPr txBox="1"/>
          <p:nvPr/>
        </p:nvSpPr>
        <p:spPr>
          <a:xfrm>
            <a:off x="3353022" y="4657518"/>
            <a:ext cx="17395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27 / 3 / 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659B7D-72A6-E54A-B937-C0FD99803F45}"/>
              </a:ext>
            </a:extLst>
          </p:cNvPr>
          <p:cNvSpPr txBox="1"/>
          <p:nvPr/>
        </p:nvSpPr>
        <p:spPr>
          <a:xfrm>
            <a:off x="5718313" y="4500303"/>
            <a:ext cx="25170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(27 / 3) / 9 </a:t>
            </a:r>
            <a:r>
              <a:rPr lang="en-US" sz="2200" i="1" dirty="0">
                <a:latin typeface="Consolas" panose="020B0609020204030204" pitchFamily="49" charset="0"/>
                <a:cs typeface="Consolas" panose="020B0609020204030204" pitchFamily="49" charset="0"/>
              </a:rPr>
              <a:t>or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27 / (3 / 9) </a:t>
            </a:r>
            <a:r>
              <a:rPr lang="en-US" sz="2200" i="1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3F3BBD6-DB4B-784D-8879-2F3A0C3644E6}"/>
              </a:ext>
            </a:extLst>
          </p:cNvPr>
          <p:cNvSpPr/>
          <p:nvPr/>
        </p:nvSpPr>
        <p:spPr>
          <a:xfrm>
            <a:off x="5214957" y="4714667"/>
            <a:ext cx="381000" cy="31658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E63F2E-5724-C94C-A0A0-29743D5B0DED}"/>
              </a:ext>
            </a:extLst>
          </p:cNvPr>
          <p:cNvSpPr txBox="1"/>
          <p:nvPr/>
        </p:nvSpPr>
        <p:spPr>
          <a:xfrm>
            <a:off x="2905253" y="3392307"/>
            <a:ext cx="55243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but this still isn't enough information to disambiguate when operators of the </a:t>
            </a:r>
            <a:r>
              <a:rPr lang="en-US" sz="2200" b="1" dirty="0"/>
              <a:t>same precedence </a:t>
            </a:r>
            <a:r>
              <a:rPr lang="en-US" sz="2200" dirty="0"/>
              <a:t>appear next to each other:</a:t>
            </a:r>
          </a:p>
        </p:txBody>
      </p:sp>
    </p:spTree>
    <p:extLst>
      <p:ext uri="{BB962C8B-B14F-4D97-AF65-F5344CB8AC3E}">
        <p14:creationId xmlns:p14="http://schemas.microsoft.com/office/powerpoint/2010/main" val="24291486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69C4-5570-1740-8442-33CE7E52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6B5B4-C62D-E842-B13B-EFF0EC4E0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95301"/>
          </a:xfrm>
        </p:spPr>
        <p:txBody>
          <a:bodyPr/>
          <a:lstStyle/>
          <a:p>
            <a:r>
              <a:rPr lang="en-US" b="1" dirty="0"/>
              <a:t>in a precedence tie, </a:t>
            </a:r>
            <a:r>
              <a:rPr lang="en-US" dirty="0"/>
              <a:t>an operator's </a:t>
            </a:r>
            <a:r>
              <a:rPr lang="en-US" b="1" dirty="0"/>
              <a:t>associativity</a:t>
            </a:r>
            <a:r>
              <a:rPr lang="en-US" dirty="0"/>
              <a:t> breaks the tie.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66144-EDFE-9E4F-80E6-54EC68CE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856ACC-E493-8F41-AA97-966874934DCB}"/>
              </a:ext>
            </a:extLst>
          </p:cNvPr>
          <p:cNvSpPr txBox="1"/>
          <p:nvPr/>
        </p:nvSpPr>
        <p:spPr>
          <a:xfrm>
            <a:off x="457200" y="990602"/>
            <a:ext cx="38370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left-associative </a:t>
            </a:r>
            <a:r>
              <a:rPr lang="en-US" sz="2200" dirty="0"/>
              <a:t>operators (e.g.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2200" dirty="0"/>
              <a:t>,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200" dirty="0"/>
              <a:t>,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2200" dirty="0"/>
              <a:t>,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2200" dirty="0"/>
              <a:t>,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-US" sz="2200" dirty="0"/>
              <a:t>) evaluate things </a:t>
            </a:r>
            <a:r>
              <a:rPr lang="en-US" sz="2200" b="1" dirty="0"/>
              <a:t>left-to-right</a:t>
            </a:r>
            <a:r>
              <a:rPr lang="en-US" sz="2200" dirty="0"/>
              <a:t>.</a:t>
            </a:r>
            <a:endParaRPr lang="en-US" sz="2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FED30-810E-F74B-9D31-D36F5CFF3AC8}"/>
              </a:ext>
            </a:extLst>
          </p:cNvPr>
          <p:cNvSpPr txBox="1"/>
          <p:nvPr/>
        </p:nvSpPr>
        <p:spPr>
          <a:xfrm>
            <a:off x="1371600" y="2106390"/>
            <a:ext cx="17395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27 / 3 /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77ADD-3AB9-6B4D-9A62-F197C2F42541}"/>
              </a:ext>
            </a:extLst>
          </p:cNvPr>
          <p:cNvSpPr txBox="1"/>
          <p:nvPr/>
        </p:nvSpPr>
        <p:spPr>
          <a:xfrm>
            <a:off x="1371600" y="2537277"/>
            <a:ext cx="20505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(27 / 3) / 9</a:t>
            </a:r>
            <a:endParaRPr lang="en-US" sz="2200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F5090494-4C5C-B64A-9AA1-BBEB1F8269FB}"/>
              </a:ext>
            </a:extLst>
          </p:cNvPr>
          <p:cNvSpPr/>
          <p:nvPr/>
        </p:nvSpPr>
        <p:spPr>
          <a:xfrm>
            <a:off x="868244" y="2594426"/>
            <a:ext cx="381000" cy="31658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C0A58-C8A1-4140-9F1D-7AA8CF20A6A2}"/>
              </a:ext>
            </a:extLst>
          </p:cNvPr>
          <p:cNvSpPr txBox="1"/>
          <p:nvPr/>
        </p:nvSpPr>
        <p:spPr>
          <a:xfrm>
            <a:off x="4800600" y="990602"/>
            <a:ext cx="38370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and </a:t>
            </a:r>
            <a:r>
              <a:rPr lang="en-US" sz="2200" b="1" dirty="0"/>
              <a:t>right-associative </a:t>
            </a:r>
            <a:r>
              <a:rPr lang="en-US" sz="2200" dirty="0"/>
              <a:t>operators (e.g.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**</a:t>
            </a:r>
            <a:r>
              <a:rPr lang="en-US" sz="2200" dirty="0"/>
              <a:t>,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/>
              <a:t>) evaluate things </a:t>
            </a:r>
            <a:r>
              <a:rPr lang="en-US" sz="2200" b="1" dirty="0"/>
              <a:t>right-to-left.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B8C607-AA67-6D45-B00C-3A3CCC6C4F5E}"/>
              </a:ext>
            </a:extLst>
          </p:cNvPr>
          <p:cNvSpPr txBox="1"/>
          <p:nvPr/>
        </p:nvSpPr>
        <p:spPr>
          <a:xfrm>
            <a:off x="5715000" y="2106390"/>
            <a:ext cx="1895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2 ** 3 **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C4F31-66A5-7146-8B4B-214F51327FAA}"/>
              </a:ext>
            </a:extLst>
          </p:cNvPr>
          <p:cNvSpPr txBox="1"/>
          <p:nvPr/>
        </p:nvSpPr>
        <p:spPr>
          <a:xfrm>
            <a:off x="5715000" y="2537277"/>
            <a:ext cx="22060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2 ** (3 ** 4)</a:t>
            </a:r>
            <a:endParaRPr lang="en-US" sz="2200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EBAC4D5E-019C-7E4D-8D90-5C816E846737}"/>
              </a:ext>
            </a:extLst>
          </p:cNvPr>
          <p:cNvSpPr/>
          <p:nvPr/>
        </p:nvSpPr>
        <p:spPr>
          <a:xfrm>
            <a:off x="5211644" y="2594426"/>
            <a:ext cx="381000" cy="31658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E33FEB-F2D7-ED43-80D1-0FCEECB6B86A}"/>
              </a:ext>
            </a:extLst>
          </p:cNvPr>
          <p:cNvSpPr txBox="1"/>
          <p:nvPr/>
        </p:nvSpPr>
        <p:spPr>
          <a:xfrm>
            <a:off x="427900" y="3041636"/>
            <a:ext cx="82097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in other words, associativity says </a:t>
            </a:r>
            <a:r>
              <a:rPr lang="en-US" sz="2200" b="1" dirty="0"/>
              <a:t>which way the tree branches.</a:t>
            </a:r>
            <a:endParaRPr lang="en-US" sz="2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17A08D-DEBF-7F43-B82D-CDD10318E5A8}"/>
              </a:ext>
            </a:extLst>
          </p:cNvPr>
          <p:cNvGrpSpPr/>
          <p:nvPr/>
        </p:nvGrpSpPr>
        <p:grpSpPr>
          <a:xfrm>
            <a:off x="6077878" y="3522906"/>
            <a:ext cx="1616484" cy="1750852"/>
            <a:chOff x="2191122" y="3308528"/>
            <a:chExt cx="1616484" cy="175085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A559449-058F-4C48-8C62-855E1111995B}"/>
                </a:ext>
              </a:extLst>
            </p:cNvPr>
            <p:cNvSpPr txBox="1"/>
            <p:nvPr/>
          </p:nvSpPr>
          <p:spPr>
            <a:xfrm>
              <a:off x="2617636" y="4659270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D6536F-0DA1-E04F-924E-A5C6A5AD8B9D}"/>
                </a:ext>
              </a:extLst>
            </p:cNvPr>
            <p:cNvSpPr txBox="1"/>
            <p:nvPr/>
          </p:nvSpPr>
          <p:spPr>
            <a:xfrm>
              <a:off x="3481876" y="4659270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9CBD74-BD5D-3E43-9378-BBDE78A6A013}"/>
                </a:ext>
              </a:extLst>
            </p:cNvPr>
            <p:cNvSpPr txBox="1"/>
            <p:nvPr/>
          </p:nvSpPr>
          <p:spPr>
            <a:xfrm>
              <a:off x="2991299" y="4028649"/>
              <a:ext cx="4667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**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9A1CF4B-EEBD-BC4E-B32B-5F9CC32111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1491" y="4366796"/>
              <a:ext cx="272085" cy="3860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1FDC82E-215F-3541-B9B6-2F0625AA80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95816" y="4346476"/>
              <a:ext cx="309880" cy="406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D753FDC-27E7-DC4E-957F-03F2C947295C}"/>
                </a:ext>
              </a:extLst>
            </p:cNvPr>
            <p:cNvSpPr txBox="1"/>
            <p:nvPr/>
          </p:nvSpPr>
          <p:spPr>
            <a:xfrm>
              <a:off x="2562444" y="3308528"/>
              <a:ext cx="4667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**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0AFBE23-0F2A-6A48-A676-37BE094C7B09}"/>
                </a:ext>
              </a:extLst>
            </p:cNvPr>
            <p:cNvSpPr txBox="1"/>
            <p:nvPr/>
          </p:nvSpPr>
          <p:spPr>
            <a:xfrm>
              <a:off x="2191122" y="4014338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F7AB165-5283-CC47-99E7-51E202B3CC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4977" y="3721864"/>
              <a:ext cx="272085" cy="3860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D723022-93BC-C641-9B41-7ED1B8C40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9302" y="3701544"/>
              <a:ext cx="309880" cy="406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0CEE2B8-DD2B-404A-8161-EF69CA2F612A}"/>
              </a:ext>
            </a:extLst>
          </p:cNvPr>
          <p:cNvGrpSpPr/>
          <p:nvPr/>
        </p:nvGrpSpPr>
        <p:grpSpPr>
          <a:xfrm>
            <a:off x="1055768" y="3429127"/>
            <a:ext cx="1612416" cy="1842603"/>
            <a:chOff x="6369100" y="3172981"/>
            <a:chExt cx="1612416" cy="184260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3CB0C4-9F64-234F-B1FD-7B4145B0B3B0}"/>
                </a:ext>
              </a:extLst>
            </p:cNvPr>
            <p:cNvSpPr txBox="1"/>
            <p:nvPr/>
          </p:nvSpPr>
          <p:spPr>
            <a:xfrm>
              <a:off x="6369100" y="4615474"/>
              <a:ext cx="4667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27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8709D5D-E36D-FE45-BA2C-CA6BA3BFD76A}"/>
                </a:ext>
              </a:extLst>
            </p:cNvPr>
            <p:cNvSpPr txBox="1"/>
            <p:nvPr/>
          </p:nvSpPr>
          <p:spPr>
            <a:xfrm>
              <a:off x="7303872" y="4615474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0572E83-BD3B-9B47-A97E-FF75868A0B9E}"/>
                </a:ext>
              </a:extLst>
            </p:cNvPr>
            <p:cNvSpPr txBox="1"/>
            <p:nvPr/>
          </p:nvSpPr>
          <p:spPr>
            <a:xfrm>
              <a:off x="6883827" y="3984853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5EEDA39-9AD6-E849-AB70-B1C804E9A3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3487" y="4323000"/>
              <a:ext cx="272085" cy="3860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F5EBA8-5849-4E44-9FE4-5ACDCE50B3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7812" y="4302680"/>
              <a:ext cx="309880" cy="406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C8CDE4A-4C4D-7A43-8D91-DD8069B51A58}"/>
                </a:ext>
              </a:extLst>
            </p:cNvPr>
            <p:cNvSpPr txBox="1"/>
            <p:nvPr/>
          </p:nvSpPr>
          <p:spPr>
            <a:xfrm>
              <a:off x="7264520" y="3172981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E5B2457-D27A-EF49-AFF9-26858A042307}"/>
                </a:ext>
              </a:extLst>
            </p:cNvPr>
            <p:cNvSpPr txBox="1"/>
            <p:nvPr/>
          </p:nvSpPr>
          <p:spPr>
            <a:xfrm>
              <a:off x="7655786" y="3984853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7303747-4E02-2F4D-B211-8723CDA597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6521" y="3586317"/>
              <a:ext cx="272085" cy="3860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34A8379-93A4-7940-9A85-5B6FBDFB27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00846" y="3565997"/>
              <a:ext cx="309880" cy="406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35043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E5FDD-077D-6C44-90A4-18D65CC9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F4986-2B9A-E548-8446-AC9C859D7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be clear: associativity only applies when you have</a:t>
            </a:r>
            <a:r>
              <a:rPr lang="en-US" b="1" dirty="0"/>
              <a:t> adjacent operators of the </a:t>
            </a:r>
            <a:r>
              <a:rPr lang="en-US" b="1" i="1" dirty="0"/>
              <a:t>same precedence.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 ** b + c</a:t>
            </a:r>
            <a:r>
              <a:rPr lang="en-US" dirty="0"/>
              <a:t> parses as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(a ** b) + c</a:t>
            </a:r>
            <a:r>
              <a:rPr lang="en-US" dirty="0"/>
              <a:t>, because exponentiation's precedence ranks higher than addition's.</a:t>
            </a:r>
          </a:p>
          <a:p>
            <a:r>
              <a:rPr lang="en-US" dirty="0"/>
              <a:t>it's also possible for operators to be </a:t>
            </a:r>
            <a:r>
              <a:rPr lang="en-US" b="1" dirty="0"/>
              <a:t>non-associative.</a:t>
            </a:r>
            <a:endParaRPr lang="en-US" dirty="0"/>
          </a:p>
          <a:p>
            <a:pPr lvl="1"/>
            <a:r>
              <a:rPr lang="en-US" dirty="0"/>
              <a:t>that means it's an </a:t>
            </a:r>
            <a:r>
              <a:rPr lang="en-US" i="1" dirty="0"/>
              <a:t>error</a:t>
            </a:r>
            <a:r>
              <a:rPr lang="en-US" dirty="0"/>
              <a:t> for them to be adjacent.</a:t>
            </a:r>
          </a:p>
          <a:p>
            <a:r>
              <a:rPr lang="en-US" dirty="0"/>
              <a:t>for example, what does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x &lt; y &lt; z</a:t>
            </a:r>
            <a:r>
              <a:rPr lang="en-US" dirty="0"/>
              <a:t> mean?</a:t>
            </a:r>
          </a:p>
          <a:p>
            <a:pPr lvl="1"/>
            <a:r>
              <a:rPr lang="en-US" dirty="0"/>
              <a:t>in Java, you get a </a:t>
            </a:r>
            <a:r>
              <a:rPr lang="en-US" b="1" dirty="0"/>
              <a:t>type error.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 Python, it's parsed as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(x &lt; y) &amp;&amp; (y &lt; z)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 the language we're designing, we </a:t>
            </a:r>
            <a:r>
              <a:rPr lang="en-US" i="1" dirty="0"/>
              <a:t>could</a:t>
            </a:r>
            <a:r>
              <a:rPr lang="en-US" dirty="0"/>
              <a:t> say that comparisons are </a:t>
            </a:r>
            <a:r>
              <a:rPr lang="en-US" b="1" dirty="0"/>
              <a:t>non-associative, </a:t>
            </a:r>
            <a:r>
              <a:rPr lang="en-US" dirty="0"/>
              <a:t>and block this potentially-confusing code as a </a:t>
            </a:r>
            <a:r>
              <a:rPr lang="en-US" b="1" dirty="0"/>
              <a:t>parsing error</a:t>
            </a:r>
            <a:r>
              <a:rPr lang="en-US" dirty="0"/>
              <a:t> instead.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1FBED-B30E-874D-90E2-A09737EF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708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202BE-9DF5-4845-87F0-BA97B0C2A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Unary and postfix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F57DD-3E4F-9C43-8DC1-C6036A501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operators that take two operands are called </a:t>
            </a:r>
            <a:r>
              <a:rPr lang="en-US" b="1" dirty="0"/>
              <a:t>binary. </a:t>
            </a:r>
            <a:r>
              <a:rPr lang="en-US" dirty="0"/>
              <a:t>but many (especially in C-style languages) are </a:t>
            </a:r>
            <a:r>
              <a:rPr lang="en-US" b="1" dirty="0"/>
              <a:t>unary</a:t>
            </a:r>
            <a:r>
              <a:rPr lang="en-US" dirty="0"/>
              <a:t> and operate on one value.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-x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~x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!x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&amp;x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*x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++x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--x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)x</a:t>
            </a:r>
          </a:p>
          <a:p>
            <a:pPr lvl="1"/>
            <a:r>
              <a:rPr lang="en-US" dirty="0"/>
              <a:t>these are given a precedence </a:t>
            </a:r>
            <a:r>
              <a:rPr lang="en-US" b="1" dirty="0"/>
              <a:t>higher than any binary operator.</a:t>
            </a:r>
          </a:p>
          <a:p>
            <a:pPr lvl="2"/>
            <a:r>
              <a:rPr lang="en-US" dirty="0"/>
              <a:t>this matches our intuition: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dirty="0"/>
              <a:t> should give </a:t>
            </a:r>
            <a:r>
              <a:rPr lang="en-US" b="1" dirty="0"/>
              <a:t>2</a:t>
            </a:r>
            <a:r>
              <a:rPr lang="en-US" dirty="0"/>
              <a:t>, </a:t>
            </a:r>
            <a:r>
              <a:rPr lang="en-US"/>
              <a:t>not -</a:t>
            </a:r>
            <a:r>
              <a:rPr lang="en-US" b="1"/>
              <a:t>8</a:t>
            </a:r>
            <a:r>
              <a:rPr lang="en-US" b="1" dirty="0"/>
              <a:t>.</a:t>
            </a:r>
          </a:p>
          <a:p>
            <a:pPr lvl="1"/>
            <a:r>
              <a:rPr lang="en-US" dirty="0"/>
              <a:t>these are all </a:t>
            </a:r>
            <a:r>
              <a:rPr lang="en-US" i="1" dirty="0"/>
              <a:t>right-associative, </a:t>
            </a:r>
            <a:r>
              <a:rPr lang="en-US" dirty="0"/>
              <a:t>but it doesn't come up much.</a:t>
            </a:r>
          </a:p>
          <a:p>
            <a:pPr lvl="2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-~x</a:t>
            </a:r>
            <a:r>
              <a:rPr lang="en-US" dirty="0"/>
              <a:t> would bitwise-complement x first, then negate that.</a:t>
            </a:r>
          </a:p>
          <a:p>
            <a:r>
              <a:rPr lang="en-US" dirty="0"/>
              <a:t>finally there are </a:t>
            </a:r>
            <a:r>
              <a:rPr lang="en-US" b="1" dirty="0"/>
              <a:t>postfix operators </a:t>
            </a:r>
            <a:r>
              <a:rPr lang="en-US" dirty="0"/>
              <a:t>which come </a:t>
            </a:r>
            <a:r>
              <a:rPr lang="en-US" i="1" dirty="0"/>
              <a:t>after </a:t>
            </a:r>
            <a:r>
              <a:rPr lang="en-US" dirty="0"/>
              <a:t>their operand.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x++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x--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a[i]</a:t>
            </a:r>
            <a:r>
              <a:rPr lang="en-US" dirty="0"/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obj.field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f(x)</a:t>
            </a:r>
          </a:p>
          <a:p>
            <a:pPr lvl="1"/>
            <a:r>
              <a:rPr lang="en-US" dirty="0"/>
              <a:t>and these have the </a:t>
            </a:r>
            <a:r>
              <a:rPr lang="en-US" b="1" dirty="0"/>
              <a:t>highest precedence of all!</a:t>
            </a:r>
          </a:p>
          <a:p>
            <a:pPr lvl="2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-f(x)</a:t>
            </a:r>
            <a:r>
              <a:rPr lang="en-US" dirty="0"/>
              <a:t> calls the function first, </a:t>
            </a:r>
            <a:r>
              <a:rPr lang="en-US" i="1" dirty="0"/>
              <a:t>then</a:t>
            </a:r>
            <a:r>
              <a:rPr lang="en-US" dirty="0"/>
              <a:t> negates the return value.</a:t>
            </a:r>
          </a:p>
          <a:p>
            <a:pPr lvl="1"/>
            <a:r>
              <a:rPr lang="en-US" dirty="0"/>
              <a:t>these are all </a:t>
            </a:r>
            <a:r>
              <a:rPr lang="en-US" i="1" dirty="0"/>
              <a:t>left-associative, </a:t>
            </a:r>
            <a:r>
              <a:rPr lang="en-US" dirty="0"/>
              <a:t>and that's pretty common to see.</a:t>
            </a:r>
          </a:p>
          <a:p>
            <a:pPr lvl="2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f(x)[i].field</a:t>
            </a:r>
            <a:r>
              <a:rPr lang="en-US" dirty="0"/>
              <a:t> calls </a:t>
            </a:r>
            <a:r>
              <a:rPr lang="en-US" b="1" dirty="0"/>
              <a:t>f</a:t>
            </a:r>
            <a:r>
              <a:rPr lang="en-US" dirty="0"/>
              <a:t> first, then indexes the returned array, then accesses the field from the array value.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B06BE-224B-8A4C-9DF7-71ED72718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7405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F3BB-96C5-A343-B70C-2B508AF6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Summarizing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EB5CD-0E10-D64A-AC9E-1BBBF2BE0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38199"/>
          </a:xfrm>
        </p:spPr>
        <p:txBody>
          <a:bodyPr/>
          <a:lstStyle/>
          <a:p>
            <a:r>
              <a:rPr lang="en-US" dirty="0"/>
              <a:t>a language's specification will typically have all the operators, their </a:t>
            </a:r>
            <a:r>
              <a:rPr lang="en-US" b="1" dirty="0" err="1"/>
              <a:t>precedences</a:t>
            </a:r>
            <a:r>
              <a:rPr lang="en-US" b="1" dirty="0"/>
              <a:t>, </a:t>
            </a:r>
            <a:r>
              <a:rPr lang="en-US" dirty="0"/>
              <a:t>and their </a:t>
            </a:r>
            <a:r>
              <a:rPr lang="en-US" b="1" dirty="0" err="1"/>
              <a:t>associativities</a:t>
            </a:r>
            <a:r>
              <a:rPr lang="en-US" b="1" dirty="0"/>
              <a:t> </a:t>
            </a:r>
            <a:r>
              <a:rPr lang="en-US" dirty="0"/>
              <a:t>listed in a table: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EC981-1966-B74F-AB7B-B5E59CDE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EBF18E2-1976-E54D-A7C5-2CAB94AE0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540550"/>
              </p:ext>
            </p:extLst>
          </p:nvPr>
        </p:nvGraphicFramePr>
        <p:xfrm>
          <a:off x="304800" y="1474905"/>
          <a:ext cx="2778294" cy="36806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1271417881"/>
                    </a:ext>
                  </a:extLst>
                </a:gridCol>
                <a:gridCol w="592899">
                  <a:extLst>
                    <a:ext uri="{9D8B030D-6E8A-4147-A177-3AD203B41FA5}">
                      <a16:colId xmlns:a16="http://schemas.microsoft.com/office/drawing/2014/main" val="3624170175"/>
                    </a:ext>
                  </a:extLst>
                </a:gridCol>
                <a:gridCol w="722355">
                  <a:extLst>
                    <a:ext uri="{9D8B030D-6E8A-4147-A177-3AD203B41FA5}">
                      <a16:colId xmlns:a16="http://schemas.microsoft.com/office/drawing/2014/main" val="542317367"/>
                    </a:ext>
                  </a:extLst>
                </a:gridCol>
              </a:tblGrid>
              <a:tr h="3478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Operator</a:t>
                      </a:r>
                    </a:p>
                  </a:txBody>
                  <a:tcPr marL="62607" marR="62607" marT="31304" marB="313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Prec</a:t>
                      </a:r>
                      <a:endParaRPr lang="en-US" sz="1600" dirty="0"/>
                    </a:p>
                  </a:txBody>
                  <a:tcPr marL="62607" marR="62607" marT="31304" marB="313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Assoc</a:t>
                      </a:r>
                      <a:endParaRPr lang="en-US" sz="1600" dirty="0"/>
                    </a:p>
                  </a:txBody>
                  <a:tcPr marL="62607" marR="62607" marT="31304" marB="31304"/>
                </a:tc>
                <a:extLst>
                  <a:ext uri="{0D108BD9-81ED-4DB2-BD59-A6C34878D82A}">
                    <a16:rowId xmlns:a16="http://schemas.microsoft.com/office/drawing/2014/main" val="5872929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f() a[i] </a:t>
                      </a:r>
                      <a:r>
                        <a:rPr lang="en-US" sz="16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o.f</a:t>
                      </a:r>
                      <a:endParaRPr lang="en-US" sz="16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L</a:t>
                      </a:r>
                    </a:p>
                  </a:txBody>
                  <a:tcPr marL="62607" marR="62607" marT="31304" marB="31304" anchor="ctr"/>
                </a:tc>
                <a:extLst>
                  <a:ext uri="{0D108BD9-81ED-4DB2-BD59-A6C34878D82A}">
                    <a16:rowId xmlns:a16="http://schemas.microsoft.com/office/drawing/2014/main" val="2397764997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!x -x *x &amp;x ++x --x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</a:t>
                      </a:r>
                    </a:p>
                  </a:txBody>
                  <a:tcPr marL="62607" marR="62607" marT="31304" marB="31304" anchor="ctr"/>
                </a:tc>
                <a:extLst>
                  <a:ext uri="{0D108BD9-81ED-4DB2-BD59-A6C34878D82A}">
                    <a16:rowId xmlns:a16="http://schemas.microsoft.com/office/drawing/2014/main" val="835960356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 / %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3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L</a:t>
                      </a:r>
                    </a:p>
                  </a:txBody>
                  <a:tcPr marL="62607" marR="62607" marT="31304" marB="31304" anchor="ctr"/>
                </a:tc>
                <a:extLst>
                  <a:ext uri="{0D108BD9-81ED-4DB2-BD59-A6C34878D82A}">
                    <a16:rowId xmlns:a16="http://schemas.microsoft.com/office/drawing/2014/main" val="1074875222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 -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4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L</a:t>
                      </a:r>
                    </a:p>
                  </a:txBody>
                  <a:tcPr marL="62607" marR="62607" marT="31304" marB="31304" anchor="ctr"/>
                </a:tc>
                <a:extLst>
                  <a:ext uri="{0D108BD9-81ED-4DB2-BD59-A6C34878D82A}">
                    <a16:rowId xmlns:a16="http://schemas.microsoft.com/office/drawing/2014/main" val="88334601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 &lt;= &gt; &gt;=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5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L</a:t>
                      </a:r>
                    </a:p>
                  </a:txBody>
                  <a:tcPr marL="62607" marR="62607" marT="31304" marB="31304" anchor="ctr"/>
                </a:tc>
                <a:extLst>
                  <a:ext uri="{0D108BD9-81ED-4DB2-BD59-A6C34878D82A}">
                    <a16:rowId xmlns:a16="http://schemas.microsoft.com/office/drawing/2014/main" val="2458981410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== !=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6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L</a:t>
                      </a:r>
                    </a:p>
                  </a:txBody>
                  <a:tcPr marL="62607" marR="62607" marT="31304" marB="31304" anchor="ctr"/>
                </a:tc>
                <a:extLst>
                  <a:ext uri="{0D108BD9-81ED-4DB2-BD59-A6C34878D82A}">
                    <a16:rowId xmlns:a16="http://schemas.microsoft.com/office/drawing/2014/main" val="999720972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&amp;&amp;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7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L</a:t>
                      </a:r>
                    </a:p>
                  </a:txBody>
                  <a:tcPr marL="62607" marR="62607" marT="31304" marB="31304" anchor="ctr"/>
                </a:tc>
                <a:extLst>
                  <a:ext uri="{0D108BD9-81ED-4DB2-BD59-A6C34878D82A}">
                    <a16:rowId xmlns:a16="http://schemas.microsoft.com/office/drawing/2014/main" val="85453069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||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8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L</a:t>
                      </a:r>
                    </a:p>
                  </a:txBody>
                  <a:tcPr marL="62607" marR="62607" marT="31304" marB="31304" anchor="ctr"/>
                </a:tc>
                <a:extLst>
                  <a:ext uri="{0D108BD9-81ED-4DB2-BD59-A6C34878D82A}">
                    <a16:rowId xmlns:a16="http://schemas.microsoft.com/office/drawing/2014/main" val="331568604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9</a:t>
                      </a:r>
                    </a:p>
                  </a:txBody>
                  <a:tcPr marL="62607" marR="62607" marT="31304" marB="31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</a:t>
                      </a:r>
                    </a:p>
                  </a:txBody>
                  <a:tcPr marL="62607" marR="62607" marT="31304" marB="31304" anchor="ctr"/>
                </a:tc>
                <a:extLst>
                  <a:ext uri="{0D108BD9-81ED-4DB2-BD59-A6C34878D82A}">
                    <a16:rowId xmlns:a16="http://schemas.microsoft.com/office/drawing/2014/main" val="25202743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4E65B9-19EB-494B-8314-69AA09BB57F4}"/>
              </a:ext>
            </a:extLst>
          </p:cNvPr>
          <p:cNvSpPr txBox="1"/>
          <p:nvPr/>
        </p:nvSpPr>
        <p:spPr>
          <a:xfrm>
            <a:off x="3467101" y="1542989"/>
            <a:ext cx="533399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is a pretty typical arrangement for a C-style language </a:t>
            </a:r>
            <a:r>
              <a:rPr lang="en-US" sz="1400" dirty="0"/>
              <a:t>(excluding bitwise operators, casts, reflexive assignments, and some other obscure operators)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F1876-5AF5-4043-B21D-390AF08FF9D8}"/>
              </a:ext>
            </a:extLst>
          </p:cNvPr>
          <p:cNvSpPr txBox="1"/>
          <p:nvPr/>
        </p:nvSpPr>
        <p:spPr>
          <a:xfrm>
            <a:off x="3505201" y="2878388"/>
            <a:ext cx="5333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i="1" dirty="0"/>
              <a:t>but where are parentheses?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27A3EC-614A-E14B-83B0-D9E42DE487A5}"/>
              </a:ext>
            </a:extLst>
          </p:cNvPr>
          <p:cNvSpPr txBox="1"/>
          <p:nvPr/>
        </p:nvSpPr>
        <p:spPr>
          <a:xfrm>
            <a:off x="3467101" y="3544550"/>
            <a:ext cx="53339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well, they're </a:t>
            </a:r>
            <a:r>
              <a:rPr lang="en-US" sz="2200" i="1" dirty="0"/>
              <a:t>not operators. </a:t>
            </a:r>
            <a:r>
              <a:rPr lang="en-US" sz="2200" dirty="0"/>
              <a:t>parentheses only control the order of evaluation and the way the AST is built; they don't </a:t>
            </a:r>
            <a:r>
              <a:rPr lang="en-US" sz="2200" i="1" dirty="0"/>
              <a:t>do </a:t>
            </a:r>
            <a:r>
              <a:rPr lang="en-US" sz="2200" dirty="0"/>
              <a:t>anything otherwise.</a:t>
            </a:r>
          </a:p>
        </p:txBody>
      </p:sp>
    </p:spTree>
    <p:extLst>
      <p:ext uri="{BB962C8B-B14F-4D97-AF65-F5344CB8AC3E}">
        <p14:creationId xmlns:p14="http://schemas.microsoft.com/office/powerpoint/2010/main" val="723482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56288-6FF9-7A4E-8385-21E64E8B5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Building a grammar</a:t>
            </a:r>
            <a:br>
              <a:rPr lang="en-US" dirty="0"/>
            </a:br>
            <a:r>
              <a:rPr lang="en-US" dirty="0"/>
              <a:t>for expressions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2184BC-F7EC-F244-A91D-DC389362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9163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F057E-8D20-9C4A-8D85-309192D8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grammar from the bottom 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9F9E3-0DD7-9443-8899-95B6B9EB0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dirty="0"/>
              <a:t>rather than starting with the "overall" structure of an expression…</a:t>
            </a:r>
          </a:p>
          <a:p>
            <a:pPr lvl="1"/>
            <a:r>
              <a:rPr lang="en-US" dirty="0"/>
              <a:t>let's start with the </a:t>
            </a:r>
            <a:r>
              <a:rPr lang="en-US" b="1" dirty="0"/>
              <a:t>most basic parts </a:t>
            </a:r>
            <a:r>
              <a:rPr lang="en-US" dirty="0"/>
              <a:t>and gradually combine them.</a:t>
            </a:r>
          </a:p>
          <a:p>
            <a:r>
              <a:rPr lang="en-US" dirty="0"/>
              <a:t>a </a:t>
            </a:r>
            <a:r>
              <a:rPr lang="en-US" b="1" dirty="0"/>
              <a:t>primary expression</a:t>
            </a:r>
            <a:r>
              <a:rPr lang="en-US" dirty="0"/>
              <a:t> is the most basic kind.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F0B21-338C-3145-8AB2-66844B57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00134-982C-0945-84A0-C531A60EB376}"/>
              </a:ext>
            </a:extLst>
          </p:cNvPr>
          <p:cNvSpPr txBox="1"/>
          <p:nvPr/>
        </p:nvSpPr>
        <p:spPr>
          <a:xfrm>
            <a:off x="304800" y="1809474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literals </a:t>
            </a:r>
            <a:r>
              <a:rPr lang="en-US" sz="2200" dirty="0"/>
              <a:t>fall into this category.</a:t>
            </a:r>
            <a:endParaRPr lang="en-US" sz="2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8E95EB-7B77-FB4A-836C-CF3D6E039508}"/>
              </a:ext>
            </a:extLst>
          </p:cNvPr>
          <p:cNvSpPr txBox="1"/>
          <p:nvPr/>
        </p:nvSpPr>
        <p:spPr>
          <a:xfrm>
            <a:off x="4724400" y="1640198"/>
            <a:ext cx="396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identifiers </a:t>
            </a:r>
            <a:r>
              <a:rPr lang="en-US" sz="2200" dirty="0"/>
              <a:t>are another kind: they name single things.</a:t>
            </a:r>
            <a:endParaRPr lang="en-US" sz="2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622FA-7531-084D-A816-F79F5E53E5CE}"/>
              </a:ext>
            </a:extLst>
          </p:cNvPr>
          <p:cNvSpPr txBox="1"/>
          <p:nvPr/>
        </p:nvSpPr>
        <p:spPr>
          <a:xfrm>
            <a:off x="609600" y="3260399"/>
            <a:ext cx="78140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last, we'll include </a:t>
            </a:r>
            <a:r>
              <a:rPr lang="en-US" sz="2200" b="1" dirty="0"/>
              <a:t>parenthesized expressions, </a:t>
            </a:r>
            <a:r>
              <a:rPr lang="en-US" sz="2200" dirty="0"/>
              <a:t>because they contain whole sub-expressions. so, our grammar is: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B8D0A9-C28B-3944-930C-4ABA4A3A13BC}"/>
              </a:ext>
            </a:extLst>
          </p:cNvPr>
          <p:cNvSpPr txBox="1"/>
          <p:nvPr/>
        </p:nvSpPr>
        <p:spPr>
          <a:xfrm>
            <a:off x="871989" y="2326120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3877E9-774C-B04E-964A-D0D95DF23877}"/>
              </a:ext>
            </a:extLst>
          </p:cNvPr>
          <p:cNvSpPr txBox="1"/>
          <p:nvPr/>
        </p:nvSpPr>
        <p:spPr>
          <a:xfrm>
            <a:off x="1447800" y="2851655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CCC21-DD1C-FA4B-8D23-AB5A4A61E14A}"/>
              </a:ext>
            </a:extLst>
          </p:cNvPr>
          <p:cNvSpPr txBox="1"/>
          <p:nvPr/>
        </p:nvSpPr>
        <p:spPr>
          <a:xfrm>
            <a:off x="1913621" y="2295964"/>
            <a:ext cx="1374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396FE1-7048-064F-AF99-F9267A9CE954}"/>
              </a:ext>
            </a:extLst>
          </p:cNvPr>
          <p:cNvSpPr txBox="1"/>
          <p:nvPr/>
        </p:nvSpPr>
        <p:spPr>
          <a:xfrm>
            <a:off x="2971800" y="2813232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'x'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9041CA-1903-4B4A-A2A9-04AD365ACB1A}"/>
              </a:ext>
            </a:extLst>
          </p:cNvPr>
          <p:cNvSpPr txBox="1"/>
          <p:nvPr/>
        </p:nvSpPr>
        <p:spPr>
          <a:xfrm>
            <a:off x="5280723" y="262856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6234DC-931B-684C-ABDA-94F74E48CAF4}"/>
              </a:ext>
            </a:extLst>
          </p:cNvPr>
          <p:cNvSpPr txBox="1"/>
          <p:nvPr/>
        </p:nvSpPr>
        <p:spPr>
          <a:xfrm>
            <a:off x="6013813" y="2519976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FC7CDC-1CBE-EB4F-97F1-CEF96CB36A12}"/>
              </a:ext>
            </a:extLst>
          </p:cNvPr>
          <p:cNvSpPr txBox="1"/>
          <p:nvPr/>
        </p:nvSpPr>
        <p:spPr>
          <a:xfrm>
            <a:off x="6990894" y="2787785"/>
            <a:ext cx="1204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System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32F1F-5283-CB44-94F2-7C3D7A93EAC7}"/>
              </a:ext>
            </a:extLst>
          </p:cNvPr>
          <p:cNvSpPr txBox="1"/>
          <p:nvPr/>
        </p:nvSpPr>
        <p:spPr>
          <a:xfrm>
            <a:off x="871989" y="4110267"/>
            <a:ext cx="58336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PrimaryExp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IdExp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IntLitExp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ParenExp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IdExp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  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&lt;identifier token&gt;</a:t>
            </a: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IntLitExp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&lt;int literal token&gt;</a:t>
            </a: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05888F-D665-B04D-8713-220074158224}"/>
              </a:ext>
            </a:extLst>
          </p:cNvPr>
          <p:cNvSpPr txBox="1"/>
          <p:nvPr/>
        </p:nvSpPr>
        <p:spPr>
          <a:xfrm>
            <a:off x="5732265" y="4771986"/>
            <a:ext cx="30688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(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1600" dirty="0"/>
              <a:t> is the top-level expression rule that we're building up to)</a:t>
            </a:r>
          </a:p>
        </p:txBody>
      </p:sp>
    </p:spTree>
    <p:extLst>
      <p:ext uri="{BB962C8B-B14F-4D97-AF65-F5344CB8AC3E}">
        <p14:creationId xmlns:p14="http://schemas.microsoft.com/office/powerpoint/2010/main" val="10864451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uiExpand="1" build="p" bldLvl="5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FC01-03E9-E249-A033-70132DF00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Terms: primaries with decorations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64CB1-383E-674E-B92A-5B4652C51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unary and postfix operators are so closely associated with their operands, we can define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Term</a:t>
            </a:r>
            <a:r>
              <a:rPr lang="en-US" b="1" dirty="0"/>
              <a:t> </a:t>
            </a:r>
            <a:r>
              <a:rPr lang="en-US" dirty="0"/>
              <a:t>rule like this: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Term: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UnaryOp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PrimaryExp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PostfixOp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</a:p>
          <a:p>
            <a:r>
              <a:rPr lang="en-US" dirty="0"/>
              <a:t>that is, 0 or more unary operators before a primary "core," followed by 0 or more postfix operators.</a:t>
            </a:r>
          </a:p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UnaryOp</a:t>
            </a:r>
            <a:r>
              <a:rPr lang="en-US" dirty="0"/>
              <a:t> and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PostfixOp</a:t>
            </a:r>
            <a:r>
              <a:rPr lang="en-US" dirty="0"/>
              <a:t> might be defined like: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UnaryOp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'-'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'!'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PostfixOp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CallOp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FieldOp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IndexOp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CallOp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 ')'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','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)*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FieldOp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'.'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&lt;identifier token&gt;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IndexOp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'['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']'</a:t>
            </a:r>
          </a:p>
          <a:p>
            <a:r>
              <a:rPr lang="en-US" dirty="0"/>
              <a:t>example productions of this grammar are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-x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f()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!f(x).z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!!x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7A5EE-0DD6-604E-904C-B15C29D8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8002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6DD3-3784-6A47-BC91-79BF0A562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Expressions: the 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D989D-7F65-764E-8FD5-F51D886B2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609599"/>
          </a:xfrm>
        </p:spPr>
        <p:txBody>
          <a:bodyPr/>
          <a:lstStyle/>
          <a:p>
            <a:r>
              <a:rPr lang="en-US" dirty="0"/>
              <a:t>really, every expression looks like this: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6DE65-4295-484C-8797-D749DDFA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9D545-6C34-8B43-8E71-05D963DCF856}"/>
              </a:ext>
            </a:extLst>
          </p:cNvPr>
          <p:cNvSpPr txBox="1"/>
          <p:nvPr/>
        </p:nvSpPr>
        <p:spPr>
          <a:xfrm>
            <a:off x="1524000" y="990602"/>
            <a:ext cx="609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term </a:t>
            </a:r>
            <a:r>
              <a:rPr lang="en-US" sz="22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</a:t>
            </a:r>
            <a:r>
              <a:rPr lang="en-US" sz="2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term </a:t>
            </a:r>
            <a:r>
              <a:rPr lang="en-US" sz="22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</a:t>
            </a:r>
            <a:r>
              <a:rPr lang="en-US" sz="2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term </a:t>
            </a:r>
            <a:r>
              <a:rPr lang="en-US" sz="22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</a:t>
            </a:r>
            <a:r>
              <a:rPr lang="en-US" sz="2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term </a:t>
            </a:r>
            <a:r>
              <a:rPr lang="en-US" sz="22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</a:t>
            </a:r>
            <a:r>
              <a:rPr lang="en-US" sz="2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term</a:t>
            </a:r>
            <a:endParaRPr lang="en-US" sz="2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7C32C-EB92-9F47-AB0C-CB4AA3D53818}"/>
              </a:ext>
            </a:extLst>
          </p:cNvPr>
          <p:cNvSpPr txBox="1"/>
          <p:nvPr/>
        </p:nvSpPr>
        <p:spPr>
          <a:xfrm>
            <a:off x="2133600" y="1516681"/>
            <a:ext cx="487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where each </a:t>
            </a:r>
            <a:r>
              <a:rPr lang="en-US" sz="22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</a:t>
            </a:r>
            <a:r>
              <a:rPr lang="en-US" sz="2200" b="1" dirty="0"/>
              <a:t> </a:t>
            </a:r>
            <a:r>
              <a:rPr lang="en-US" sz="2200" dirty="0"/>
              <a:t>is a binary operator.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488B9D-A7A6-4640-BBFB-371A6CA5EDEF}"/>
              </a:ext>
            </a:extLst>
          </p:cNvPr>
          <p:cNvSpPr txBox="1"/>
          <p:nvPr/>
        </p:nvSpPr>
        <p:spPr>
          <a:xfrm>
            <a:off x="2743200" y="2062840"/>
            <a:ext cx="3657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so, we'll define these rules: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70B74F-31FA-D84D-B1D1-BE66A6E6794F}"/>
              </a:ext>
            </a:extLst>
          </p:cNvPr>
          <p:cNvSpPr txBox="1"/>
          <p:nvPr/>
        </p:nvSpPr>
        <p:spPr>
          <a:xfrm>
            <a:off x="1676400" y="2588089"/>
            <a:ext cx="5943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:      Term 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BinaryOp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Term)*</a:t>
            </a:r>
          </a:p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BinaryOp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'+'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'-'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'*'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'/'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'%'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|…</a:t>
            </a:r>
            <a:r>
              <a:rPr lang="en-US" sz="2200" i="1" dirty="0">
                <a:latin typeface="Consolas" panose="020B0609020204030204" pitchFamily="49" charset="0"/>
                <a:cs typeface="Consolas" panose="020B0609020204030204" pitchFamily="49" charset="0"/>
              </a:rPr>
              <a:t>etc.</a:t>
            </a:r>
            <a:endParaRPr lang="en-US" sz="22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05DA57-27B7-2F48-BA51-383A37BF3DFF}"/>
              </a:ext>
            </a:extLst>
          </p:cNvPr>
          <p:cNvSpPr txBox="1"/>
          <p:nvPr/>
        </p:nvSpPr>
        <p:spPr>
          <a:xfrm>
            <a:off x="619125" y="3518847"/>
            <a:ext cx="784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but </a:t>
            </a:r>
            <a:r>
              <a:rPr lang="en-US" sz="2200" b="1" dirty="0"/>
              <a:t>what about the associativity and precedence??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4A9790-65ED-754E-B640-07D8B8500BA6}"/>
              </a:ext>
            </a:extLst>
          </p:cNvPr>
          <p:cNvSpPr txBox="1"/>
          <p:nvPr/>
        </p:nvSpPr>
        <p:spPr>
          <a:xfrm>
            <a:off x="1038225" y="4231895"/>
            <a:ext cx="70675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well, we just… uh… </a:t>
            </a:r>
            <a:r>
              <a:rPr lang="en-US" sz="2200" i="1" dirty="0"/>
              <a:t>won't encode that into the grammar.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35600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/>
      <p:bldP spid="6" grpId="0"/>
      <p:bldP spid="7" grpId="0"/>
      <p:bldP spid="8" grpId="0" uiExpand="1" build="p" bldLvl="5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BED91-931C-EC4D-8E81-80905149C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Wait.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12CBE-B231-9A49-B412-AD559D72B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523999"/>
          </a:xfrm>
        </p:spPr>
        <p:txBody>
          <a:bodyPr/>
          <a:lstStyle/>
          <a:p>
            <a:r>
              <a:rPr lang="en-US" dirty="0"/>
              <a:t>it is </a:t>
            </a:r>
            <a:r>
              <a:rPr lang="en-US" i="1" dirty="0"/>
              <a:t>absolutely </a:t>
            </a:r>
            <a:r>
              <a:rPr lang="en-US" dirty="0"/>
              <a:t>possible to encode precedence and associativity into the expression grammar, and then write a fully recursive-descent parser for expressions. </a:t>
            </a:r>
            <a:r>
              <a:rPr lang="en-US" sz="1600" dirty="0"/>
              <a:t>(I know, because I've done it.)</a:t>
            </a:r>
          </a:p>
          <a:p>
            <a:r>
              <a:rPr lang="en-US" dirty="0"/>
              <a:t>but the result is just… well. here's a simple mathematical language: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A0CBC-A97F-334D-A607-9E9768D7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04285-492F-454E-93AB-3DE48C922C9C}"/>
              </a:ext>
            </a:extLst>
          </p:cNvPr>
          <p:cNvSpPr txBox="1"/>
          <p:nvPr/>
        </p:nvSpPr>
        <p:spPr>
          <a:xfrm>
            <a:off x="314325" y="2019300"/>
            <a:ext cx="45624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Add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Add: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((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'+'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'-'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)*</a:t>
            </a: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Neg ((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'*'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'/'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'%'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Neg)*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Neg: Pow | (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'-'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Neg)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Pow: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'**'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Pow)*</a:t>
            </a: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Id  |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IntLit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F6A868-E608-A543-B632-183D28C7868D}"/>
              </a:ext>
            </a:extLst>
          </p:cNvPr>
          <p:cNvSpPr txBox="1"/>
          <p:nvPr/>
        </p:nvSpPr>
        <p:spPr>
          <a:xfrm>
            <a:off x="4876800" y="2086213"/>
            <a:ext cx="41147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is it obvious that this accurately captures all expressions?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0F46C-479F-9246-A573-3B63A6F2F543}"/>
              </a:ext>
            </a:extLst>
          </p:cNvPr>
          <p:cNvSpPr txBox="1"/>
          <p:nvPr/>
        </p:nvSpPr>
        <p:spPr>
          <a:xfrm>
            <a:off x="4991101" y="2988796"/>
            <a:ext cx="3809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can </a:t>
            </a:r>
            <a:r>
              <a:rPr lang="en-US" sz="2200" i="1" dirty="0"/>
              <a:t>you</a:t>
            </a:r>
            <a:r>
              <a:rPr lang="en-US" sz="2200" dirty="0"/>
              <a:t> identify the associativity and precedence of these operators?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CD920E-AB29-1446-9A80-AC54C0197BC0}"/>
              </a:ext>
            </a:extLst>
          </p:cNvPr>
          <p:cNvSpPr txBox="1"/>
          <p:nvPr/>
        </p:nvSpPr>
        <p:spPr>
          <a:xfrm>
            <a:off x="762001" y="4329955"/>
            <a:ext cx="76199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what if, like C or C++, we had </a:t>
            </a:r>
            <a:r>
              <a:rPr lang="en-US" sz="2200" i="1" dirty="0"/>
              <a:t>15 precedence levels </a:t>
            </a:r>
            <a:r>
              <a:rPr lang="en-US" sz="2200" dirty="0"/>
              <a:t>and </a:t>
            </a:r>
            <a:r>
              <a:rPr lang="en-US" sz="2200" i="1" dirty="0"/>
              <a:t>dozens</a:t>
            </a:r>
            <a:r>
              <a:rPr lang="en-US" sz="2200" dirty="0"/>
              <a:t> of operators? how readable would that be?</a:t>
            </a:r>
          </a:p>
        </p:txBody>
      </p:sp>
    </p:spTree>
    <p:extLst>
      <p:ext uri="{BB962C8B-B14F-4D97-AF65-F5344CB8AC3E}">
        <p14:creationId xmlns:p14="http://schemas.microsoft.com/office/powerpoint/2010/main" val="13199552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/>
      <p:bldP spid="6" grpId="0"/>
      <p:bldP spid="7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7219-58FE-5447-AFEB-12F518FB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no! We won't do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BD73D-A3F1-F64E-BC73-0756EF7DC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we're defining our language's grammar a bit loosely, </a:t>
            </a:r>
            <a:r>
              <a:rPr lang="en-US" i="1" dirty="0"/>
              <a:t>it doesn't really matter</a:t>
            </a:r>
            <a:r>
              <a:rPr lang="en-US" dirty="0"/>
              <a:t> if our grammar is 100% accurate.</a:t>
            </a:r>
          </a:p>
          <a:p>
            <a:pPr lvl="1"/>
            <a:r>
              <a:rPr lang="en-US" dirty="0"/>
              <a:t>instead, the ambiguities in the grammar are resolved by the</a:t>
            </a:r>
            <a:r>
              <a:rPr lang="en-US" b="1" dirty="0"/>
              <a:t> table of precedence and associativity.</a:t>
            </a:r>
          </a:p>
          <a:p>
            <a:r>
              <a:rPr lang="en-US" dirty="0"/>
              <a:t>any complex idea can be expressed in multiple different ways.</a:t>
            </a:r>
          </a:p>
          <a:p>
            <a:pPr lvl="1"/>
            <a:r>
              <a:rPr lang="en-US" dirty="0"/>
              <a:t>unless you have some kind of externally-imposed reason to stick with </a:t>
            </a:r>
            <a:r>
              <a:rPr lang="en-US" i="1" dirty="0"/>
              <a:t>one</a:t>
            </a:r>
            <a:r>
              <a:rPr lang="en-US" dirty="0"/>
              <a:t> way of writing something…</a:t>
            </a:r>
          </a:p>
          <a:p>
            <a:pPr lvl="1"/>
            <a:r>
              <a:rPr lang="en-US" dirty="0"/>
              <a:t>it makes sense to use different ways according to their strengths.</a:t>
            </a:r>
          </a:p>
          <a:p>
            <a:r>
              <a:rPr lang="en-US" dirty="0"/>
              <a:t>so…</a:t>
            </a:r>
          </a:p>
          <a:p>
            <a:pPr lvl="1"/>
            <a:r>
              <a:rPr lang="en-US" dirty="0"/>
              <a:t>how do we write an algorithm to </a:t>
            </a:r>
            <a:r>
              <a:rPr lang="en-US" i="1" dirty="0"/>
              <a:t>parse</a:t>
            </a:r>
            <a:r>
              <a:rPr lang="en-US" dirty="0"/>
              <a:t> this stuff??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5D20F-35E5-A644-AE28-55963C4F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6429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0496-4154-7246-8172-01DC120108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D12E16-0708-C243-A93F-5066E8EB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4185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74067-45BF-254C-BA33-C8FE215E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core of the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C207E-C3F1-2241-8E7A-2B76FEDB8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let's assume we </a:t>
            </a:r>
            <a:r>
              <a:rPr lang="en-US" b="1" dirty="0"/>
              <a:t>only have left-associative binary operators.</a:t>
            </a:r>
          </a:p>
          <a:p>
            <a:r>
              <a:rPr lang="en-US" dirty="0"/>
              <a:t>so, to parse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Term (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BinaryOp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Term)*</a:t>
            </a:r>
            <a:r>
              <a:rPr lang="en-US" dirty="0"/>
              <a:t>, we can write something like:</a:t>
            </a:r>
          </a:p>
          <a:p>
            <a:pPr marL="258605" lvl="1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LHS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parse_term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258605" lvl="1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current token is a binary operator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258605" lvl="1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let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op = current token;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move to next token;</a:t>
            </a:r>
          </a:p>
          <a:p>
            <a:pPr marL="258605" lvl="1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let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RHS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parse_term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LHS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AstNode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::new(LHS, op, RHS);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258605" lvl="1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LHS;</a:t>
            </a:r>
          </a:p>
          <a:p>
            <a:r>
              <a:rPr lang="en-US" dirty="0"/>
              <a:t>it might seem strange to replace the contents of the LHS variable inside the loop, but this is how it builds up the tree.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6EA1C-ED8B-534E-AAC2-012215EE4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9627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B3FA-EF87-4647-B52F-18AD9E56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Okay, let's try it</a:t>
            </a:r>
            <a:r>
              <a:rPr lang="en-US" sz="2000" dirty="0"/>
              <a:t> (animated)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E3B0D-918D-AA46-B9DB-F43FD3DCA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95301"/>
          </a:xfrm>
        </p:spPr>
        <p:txBody>
          <a:bodyPr/>
          <a:lstStyle/>
          <a:p>
            <a:r>
              <a:rPr lang="en-US" dirty="0"/>
              <a:t>given this sequence of tokens, let's see what happens: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B2919-C420-C84A-B9AC-41276692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50BDF-A4DC-3248-9379-0B7F3BF4CDB5}"/>
              </a:ext>
            </a:extLst>
          </p:cNvPr>
          <p:cNvSpPr txBox="1"/>
          <p:nvPr/>
        </p:nvSpPr>
        <p:spPr>
          <a:xfrm>
            <a:off x="2286000" y="804573"/>
            <a:ext cx="457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x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y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z </a:t>
            </a:r>
            <a:r>
              <a:rPr lang="en-US" sz="1600" i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eof</a:t>
            </a:r>
            <a:r>
              <a:rPr lang="en-US" sz="1600" i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3200" i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5195C5-CC65-3E46-BB77-35BD55B1DDF5}"/>
              </a:ext>
            </a:extLst>
          </p:cNvPr>
          <p:cNvSpPr txBox="1"/>
          <p:nvPr/>
        </p:nvSpPr>
        <p:spPr>
          <a:xfrm>
            <a:off x="457200" y="1795166"/>
            <a:ext cx="606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sz="3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C93922-2A82-8748-9A59-97F5B54303E4}"/>
              </a:ext>
            </a:extLst>
          </p:cNvPr>
          <p:cNvSpPr txBox="1"/>
          <p:nvPr/>
        </p:nvSpPr>
        <p:spPr>
          <a:xfrm>
            <a:off x="457200" y="2332857"/>
            <a:ext cx="606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C225F3-0F0D-364A-9CED-4FFCE2F84248}"/>
              </a:ext>
            </a:extLst>
          </p:cNvPr>
          <p:cNvSpPr txBox="1"/>
          <p:nvPr/>
        </p:nvSpPr>
        <p:spPr>
          <a:xfrm>
            <a:off x="457200" y="2821826"/>
            <a:ext cx="606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sz="3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115056-2803-8044-B50F-2B303CD0D6A8}"/>
              </a:ext>
            </a:extLst>
          </p:cNvPr>
          <p:cNvSpPr txBox="1"/>
          <p:nvPr/>
        </p:nvSpPr>
        <p:spPr>
          <a:xfrm>
            <a:off x="457200" y="3644325"/>
            <a:ext cx="606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2D610C-F517-FB40-AADC-90669104AF3A}"/>
              </a:ext>
            </a:extLst>
          </p:cNvPr>
          <p:cNvSpPr txBox="1"/>
          <p:nvPr/>
        </p:nvSpPr>
        <p:spPr>
          <a:xfrm>
            <a:off x="457200" y="4153821"/>
            <a:ext cx="606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endParaRPr lang="en-US" sz="3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2303E-1CF4-9C4A-A7E5-94A1CE6B55CB}"/>
              </a:ext>
            </a:extLst>
          </p:cNvPr>
          <p:cNvSpPr txBox="1"/>
          <p:nvPr/>
        </p:nvSpPr>
        <p:spPr>
          <a:xfrm>
            <a:off x="237571" y="1335335"/>
            <a:ext cx="1045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Token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425C69-A7EB-174C-8CB8-1A7D9875C443}"/>
              </a:ext>
            </a:extLst>
          </p:cNvPr>
          <p:cNvSpPr txBox="1"/>
          <p:nvPr/>
        </p:nvSpPr>
        <p:spPr>
          <a:xfrm>
            <a:off x="5871716" y="1335335"/>
            <a:ext cx="75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LHS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0A5A68-5AE2-7542-8FA4-8F33919FC3E4}"/>
              </a:ext>
            </a:extLst>
          </p:cNvPr>
          <p:cNvSpPr txBox="1"/>
          <p:nvPr/>
        </p:nvSpPr>
        <p:spPr>
          <a:xfrm>
            <a:off x="5943836" y="1867170"/>
            <a:ext cx="606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sz="2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B8C93A-F0A8-3444-8F19-0F3C7B8B4A5B}"/>
              </a:ext>
            </a:extLst>
          </p:cNvPr>
          <p:cNvSpPr txBox="1"/>
          <p:nvPr/>
        </p:nvSpPr>
        <p:spPr>
          <a:xfrm>
            <a:off x="5510410" y="3219073"/>
            <a:ext cx="14731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(x + y)</a:t>
            </a:r>
            <a:endParaRPr lang="en-US" sz="2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561FC7-1430-7C4D-9B28-62D1C55A374D}"/>
              </a:ext>
            </a:extLst>
          </p:cNvPr>
          <p:cNvSpPr txBox="1"/>
          <p:nvPr/>
        </p:nvSpPr>
        <p:spPr>
          <a:xfrm>
            <a:off x="5091310" y="4610690"/>
            <a:ext cx="23113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((x + y) - z)</a:t>
            </a:r>
            <a:endParaRPr lang="en-US" sz="2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4BCF31-F818-F24A-95B0-0B82DBAFE3B5}"/>
              </a:ext>
            </a:extLst>
          </p:cNvPr>
          <p:cNvSpPr txBox="1"/>
          <p:nvPr/>
        </p:nvSpPr>
        <p:spPr>
          <a:xfrm>
            <a:off x="7377310" y="1335335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535F9F-B526-0942-8F92-0BD144F2E15A}"/>
              </a:ext>
            </a:extLst>
          </p:cNvPr>
          <p:cNvSpPr txBox="1"/>
          <p:nvPr/>
        </p:nvSpPr>
        <p:spPr>
          <a:xfrm>
            <a:off x="8107503" y="1335335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RHS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48CDE1-6C61-E247-B171-102B088E2690}"/>
              </a:ext>
            </a:extLst>
          </p:cNvPr>
          <p:cNvSpPr txBox="1"/>
          <p:nvPr/>
        </p:nvSpPr>
        <p:spPr>
          <a:xfrm>
            <a:off x="7378798" y="2418996"/>
            <a:ext cx="606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744D06-A0B6-004D-9F0C-DC49E4F3356D}"/>
              </a:ext>
            </a:extLst>
          </p:cNvPr>
          <p:cNvSpPr txBox="1"/>
          <p:nvPr/>
        </p:nvSpPr>
        <p:spPr>
          <a:xfrm>
            <a:off x="7377310" y="3721269"/>
            <a:ext cx="606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1F2879-ADC4-3B4B-8BBE-E7BDC213F0AA}"/>
              </a:ext>
            </a:extLst>
          </p:cNvPr>
          <p:cNvSpPr txBox="1"/>
          <p:nvPr/>
        </p:nvSpPr>
        <p:spPr>
          <a:xfrm>
            <a:off x="8201262" y="2943602"/>
            <a:ext cx="606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sz="2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AAD39F-6771-084D-B246-DBFE3C2D934E}"/>
              </a:ext>
            </a:extLst>
          </p:cNvPr>
          <p:cNvSpPr txBox="1"/>
          <p:nvPr/>
        </p:nvSpPr>
        <p:spPr>
          <a:xfrm>
            <a:off x="8201261" y="4289210"/>
            <a:ext cx="606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endParaRPr lang="en-US" sz="2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FEE4DC4-7581-1041-BD5C-881C0053F3EC}"/>
              </a:ext>
            </a:extLst>
          </p:cNvPr>
          <p:cNvCxnSpPr/>
          <p:nvPr/>
        </p:nvCxnSpPr>
        <p:spPr>
          <a:xfrm>
            <a:off x="129209" y="2356399"/>
            <a:ext cx="88623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70BF48-6C1C-F34F-B88A-79C82904ABAF}"/>
              </a:ext>
            </a:extLst>
          </p:cNvPr>
          <p:cNvCxnSpPr/>
          <p:nvPr/>
        </p:nvCxnSpPr>
        <p:spPr>
          <a:xfrm>
            <a:off x="129208" y="2894090"/>
            <a:ext cx="88623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29237F-83AE-284A-AFE3-281B894797FF}"/>
              </a:ext>
            </a:extLst>
          </p:cNvPr>
          <p:cNvCxnSpPr/>
          <p:nvPr/>
        </p:nvCxnSpPr>
        <p:spPr>
          <a:xfrm>
            <a:off x="129207" y="3700138"/>
            <a:ext cx="88623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B8B8C4-D412-8947-B832-FEF261CB8224}"/>
              </a:ext>
            </a:extLst>
          </p:cNvPr>
          <p:cNvCxnSpPr/>
          <p:nvPr/>
        </p:nvCxnSpPr>
        <p:spPr>
          <a:xfrm>
            <a:off x="129206" y="4204454"/>
            <a:ext cx="88623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D4BC703-DEDB-B44E-95FA-093313FDDA18}"/>
              </a:ext>
            </a:extLst>
          </p:cNvPr>
          <p:cNvSpPr txBox="1"/>
          <p:nvPr/>
        </p:nvSpPr>
        <p:spPr>
          <a:xfrm>
            <a:off x="1389677" y="1870540"/>
            <a:ext cx="39093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LHS</a:t>
            </a:r>
            <a:r>
              <a:rPr lang="en-US" sz="2200" dirty="0"/>
              <a:t> = parse term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4DE505-4907-3949-BC3A-D641A74AC858}"/>
              </a:ext>
            </a:extLst>
          </p:cNvPr>
          <p:cNvSpPr txBox="1"/>
          <p:nvPr/>
        </p:nvSpPr>
        <p:spPr>
          <a:xfrm>
            <a:off x="1389675" y="3721269"/>
            <a:ext cx="39093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op </a:t>
            </a:r>
            <a:r>
              <a:rPr lang="en-US" sz="2200" dirty="0"/>
              <a:t>= -, loop!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6F3CC3-57FF-0444-A6E8-BC9639FFC7B2}"/>
              </a:ext>
            </a:extLst>
          </p:cNvPr>
          <p:cNvSpPr txBox="1"/>
          <p:nvPr/>
        </p:nvSpPr>
        <p:spPr>
          <a:xfrm>
            <a:off x="1389676" y="2409941"/>
            <a:ext cx="39093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op</a:t>
            </a:r>
            <a:r>
              <a:rPr lang="en-US" sz="2200" dirty="0"/>
              <a:t> = +, loop!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37112C-0C34-B940-B77C-BAEB9BE7A005}"/>
              </a:ext>
            </a:extLst>
          </p:cNvPr>
          <p:cNvSpPr txBox="1"/>
          <p:nvPr/>
        </p:nvSpPr>
        <p:spPr>
          <a:xfrm>
            <a:off x="1389676" y="4250671"/>
            <a:ext cx="39093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RHS </a:t>
            </a:r>
            <a:r>
              <a:rPr lang="en-US" sz="2200" dirty="0"/>
              <a:t>= parse term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C0E6D8-D2C3-0B4F-BA68-803C2B2B1AC8}"/>
              </a:ext>
            </a:extLst>
          </p:cNvPr>
          <p:cNvSpPr txBox="1"/>
          <p:nvPr/>
        </p:nvSpPr>
        <p:spPr>
          <a:xfrm>
            <a:off x="1389676" y="5067300"/>
            <a:ext cx="39093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stop looping!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5AD4138-42E0-1C4F-8F67-9EA18CD3FE92}"/>
              </a:ext>
            </a:extLst>
          </p:cNvPr>
          <p:cNvCxnSpPr/>
          <p:nvPr/>
        </p:nvCxnSpPr>
        <p:spPr>
          <a:xfrm>
            <a:off x="129205" y="5041577"/>
            <a:ext cx="88623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3115A7E-77B4-6A46-8459-D49E7B03DB7B}"/>
              </a:ext>
            </a:extLst>
          </p:cNvPr>
          <p:cNvSpPr txBox="1"/>
          <p:nvPr/>
        </p:nvSpPr>
        <p:spPr>
          <a:xfrm>
            <a:off x="1399184" y="1335335"/>
            <a:ext cx="1130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Action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F5E9D5-CF13-3D47-951F-952DBDC2F7B6}"/>
              </a:ext>
            </a:extLst>
          </p:cNvPr>
          <p:cNvSpPr txBox="1"/>
          <p:nvPr/>
        </p:nvSpPr>
        <p:spPr>
          <a:xfrm>
            <a:off x="1399184" y="2949187"/>
            <a:ext cx="39093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RHS</a:t>
            </a:r>
            <a:r>
              <a:rPr lang="en-US" sz="2200" dirty="0"/>
              <a:t> = parse term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0E5CC0-9C73-D04A-9A10-0515037B2E18}"/>
              </a:ext>
            </a:extLst>
          </p:cNvPr>
          <p:cNvSpPr txBox="1"/>
          <p:nvPr/>
        </p:nvSpPr>
        <p:spPr>
          <a:xfrm>
            <a:off x="236668" y="5098077"/>
            <a:ext cx="1047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eof</a:t>
            </a:r>
            <a:r>
              <a:rPr lang="en-US" sz="1800" i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1800" i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27E681-BE12-9445-97D6-84F66050E696}"/>
              </a:ext>
            </a:extLst>
          </p:cNvPr>
          <p:cNvSpPr txBox="1"/>
          <p:nvPr/>
        </p:nvSpPr>
        <p:spPr>
          <a:xfrm>
            <a:off x="1385932" y="3281868"/>
            <a:ext cx="39093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LHS</a:t>
            </a:r>
            <a:r>
              <a:rPr lang="en-US" sz="2200" dirty="0"/>
              <a:t> = (</a:t>
            </a:r>
            <a:r>
              <a:rPr lang="en-US" sz="2200" b="1" dirty="0"/>
              <a:t>LHS</a:t>
            </a:r>
            <a:r>
              <a:rPr lang="en-US" sz="2200" dirty="0"/>
              <a:t> </a:t>
            </a:r>
            <a:r>
              <a:rPr lang="en-US" sz="2200" b="1" dirty="0"/>
              <a:t>op</a:t>
            </a:r>
            <a:r>
              <a:rPr lang="en-US" sz="2200" dirty="0"/>
              <a:t> </a:t>
            </a:r>
            <a:r>
              <a:rPr lang="en-US" sz="2200" b="1" dirty="0"/>
              <a:t>RHS</a:t>
            </a:r>
            <a:r>
              <a:rPr lang="en-US" sz="2200" dirty="0"/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0799F2-BAA8-6541-A033-38DF77113A47}"/>
              </a:ext>
            </a:extLst>
          </p:cNvPr>
          <p:cNvSpPr txBox="1"/>
          <p:nvPr/>
        </p:nvSpPr>
        <p:spPr>
          <a:xfrm>
            <a:off x="1384998" y="4631732"/>
            <a:ext cx="39093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LHS</a:t>
            </a:r>
            <a:r>
              <a:rPr lang="en-US" sz="2200" dirty="0"/>
              <a:t> = (</a:t>
            </a:r>
            <a:r>
              <a:rPr lang="en-US" sz="2200" b="1" dirty="0"/>
              <a:t>LHS</a:t>
            </a:r>
            <a:r>
              <a:rPr lang="en-US" sz="2200" dirty="0"/>
              <a:t> </a:t>
            </a:r>
            <a:r>
              <a:rPr lang="en-US" sz="2200" b="1" dirty="0"/>
              <a:t>op</a:t>
            </a:r>
            <a:r>
              <a:rPr lang="en-US" sz="2200" dirty="0"/>
              <a:t> </a:t>
            </a:r>
            <a:r>
              <a:rPr lang="en-US" sz="2200" b="1" dirty="0"/>
              <a:t>RHS</a:t>
            </a:r>
            <a:r>
              <a:rPr lang="en-US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50164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17" grpId="0"/>
      <p:bldP spid="18" grpId="0"/>
      <p:bldP spid="20" grpId="0"/>
      <p:bldP spid="21" grpId="0"/>
      <p:bldP spid="22" grpId="0"/>
      <p:bldP spid="25" grpId="0"/>
      <p:bldP spid="31" grpId="0"/>
      <p:bldP spid="32" grpId="0"/>
      <p:bldP spid="33" grpId="0"/>
      <p:bldP spid="34" grpId="0"/>
      <p:bldP spid="35" grpId="0"/>
      <p:bldP spid="39" grpId="0"/>
      <p:bldP spid="40" grpId="0"/>
      <p:bldP spid="41" grpId="0"/>
      <p:bldP spid="42" grpId="0"/>
      <p:bldP spid="4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D9498-6C4E-5B45-97B7-6B9F1EEE3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That's why it's called bottom-up </a:t>
            </a:r>
            <a:r>
              <a:rPr lang="en-US" sz="2000" dirty="0"/>
              <a:t>(animated)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F51B0-6EAF-C441-8477-8FA9B4C38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95301"/>
          </a:xfrm>
        </p:spPr>
        <p:txBody>
          <a:bodyPr/>
          <a:lstStyle/>
          <a:p>
            <a:r>
              <a:rPr lang="en-US" dirty="0"/>
              <a:t>this algorithm produces a tree that branches to the left, like this.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7B88-7F86-4A4C-9245-DEB5928E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94B9AE-D1E5-A04A-B452-97BA4C70740D}"/>
              </a:ext>
            </a:extLst>
          </p:cNvPr>
          <p:cNvSpPr/>
          <p:nvPr/>
        </p:nvSpPr>
        <p:spPr>
          <a:xfrm>
            <a:off x="533400" y="4714660"/>
            <a:ext cx="429768" cy="4288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895108-964E-4B45-A2E8-1C07F1F93F64}"/>
              </a:ext>
            </a:extLst>
          </p:cNvPr>
          <p:cNvGrpSpPr/>
          <p:nvPr/>
        </p:nvGrpSpPr>
        <p:grpSpPr>
          <a:xfrm>
            <a:off x="743050" y="3927535"/>
            <a:ext cx="964719" cy="1215965"/>
            <a:chOff x="743050" y="3927535"/>
            <a:chExt cx="964719" cy="121596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C3D6419-C7AA-864D-9ECB-9311347942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3050" y="4356375"/>
              <a:ext cx="236001" cy="3636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B7ABDAA-1353-D942-897A-FA4404B54556}"/>
                </a:ext>
              </a:extLst>
            </p:cNvPr>
            <p:cNvCxnSpPr>
              <a:cxnSpLocks/>
            </p:cNvCxnSpPr>
            <p:nvPr/>
          </p:nvCxnSpPr>
          <p:spPr>
            <a:xfrm>
              <a:off x="1231841" y="4365599"/>
              <a:ext cx="256218" cy="3544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41ED43-F995-6C42-A192-3D96704F9BF8}"/>
                </a:ext>
              </a:extLst>
            </p:cNvPr>
            <p:cNvSpPr/>
            <p:nvPr/>
          </p:nvSpPr>
          <p:spPr>
            <a:xfrm>
              <a:off x="856389" y="3927535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+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207893-E6D0-B642-9EB5-13DE47B30E5E}"/>
                </a:ext>
              </a:extLst>
            </p:cNvPr>
            <p:cNvSpPr/>
            <p:nvPr/>
          </p:nvSpPr>
          <p:spPr>
            <a:xfrm>
              <a:off x="1278001" y="4714660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06664B6-54EE-1F47-86EB-78D72283D28E}"/>
              </a:ext>
            </a:extLst>
          </p:cNvPr>
          <p:cNvGrpSpPr/>
          <p:nvPr/>
        </p:nvGrpSpPr>
        <p:grpSpPr>
          <a:xfrm>
            <a:off x="1071273" y="3140410"/>
            <a:ext cx="964719" cy="1215965"/>
            <a:chOff x="5029200" y="2273025"/>
            <a:chExt cx="964719" cy="121596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CB63376-6D10-A348-9B0A-80591AB006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2701865"/>
              <a:ext cx="236001" cy="3636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DD45138-7BB2-034F-A34B-9A9064CEF1E9}"/>
                </a:ext>
              </a:extLst>
            </p:cNvPr>
            <p:cNvCxnSpPr>
              <a:cxnSpLocks/>
            </p:cNvCxnSpPr>
            <p:nvPr/>
          </p:nvCxnSpPr>
          <p:spPr>
            <a:xfrm>
              <a:off x="5517991" y="2711089"/>
              <a:ext cx="256218" cy="3544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E7C92CD-826E-914C-B7B3-9D98BD3836D3}"/>
                </a:ext>
              </a:extLst>
            </p:cNvPr>
            <p:cNvSpPr/>
            <p:nvPr/>
          </p:nvSpPr>
          <p:spPr>
            <a:xfrm>
              <a:off x="5142539" y="2273025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+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5D32F63-7330-CF45-B669-63919EA9B617}"/>
                </a:ext>
              </a:extLst>
            </p:cNvPr>
            <p:cNvSpPr/>
            <p:nvPr/>
          </p:nvSpPr>
          <p:spPr>
            <a:xfrm>
              <a:off x="5564151" y="3060150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B5769E-5567-D84F-8B2A-61F6E3E91101}"/>
              </a:ext>
            </a:extLst>
          </p:cNvPr>
          <p:cNvGrpSpPr/>
          <p:nvPr/>
        </p:nvGrpSpPr>
        <p:grpSpPr>
          <a:xfrm>
            <a:off x="1399496" y="2353285"/>
            <a:ext cx="964719" cy="1215965"/>
            <a:chOff x="5029200" y="2273025"/>
            <a:chExt cx="964719" cy="1215965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584D1B3-8675-1445-9117-1921A39BEB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2701865"/>
              <a:ext cx="236001" cy="3636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1223C52-0391-AE45-BC3B-8CA3540D4ABA}"/>
                </a:ext>
              </a:extLst>
            </p:cNvPr>
            <p:cNvCxnSpPr>
              <a:cxnSpLocks/>
            </p:cNvCxnSpPr>
            <p:nvPr/>
          </p:nvCxnSpPr>
          <p:spPr>
            <a:xfrm>
              <a:off x="5517991" y="2711089"/>
              <a:ext cx="256218" cy="3544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B9754B0-E360-2344-833D-A4BFF7BDC856}"/>
                </a:ext>
              </a:extLst>
            </p:cNvPr>
            <p:cNvSpPr/>
            <p:nvPr/>
          </p:nvSpPr>
          <p:spPr>
            <a:xfrm>
              <a:off x="5142539" y="2273025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+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0880917-AFAC-774F-95A5-0949439536A7}"/>
                </a:ext>
              </a:extLst>
            </p:cNvPr>
            <p:cNvSpPr/>
            <p:nvPr/>
          </p:nvSpPr>
          <p:spPr>
            <a:xfrm>
              <a:off x="5564151" y="3060150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86E55DC-39AD-CE47-B2FE-FE909FE93747}"/>
              </a:ext>
            </a:extLst>
          </p:cNvPr>
          <p:cNvGrpSpPr/>
          <p:nvPr/>
        </p:nvGrpSpPr>
        <p:grpSpPr>
          <a:xfrm>
            <a:off x="1727719" y="1566160"/>
            <a:ext cx="964719" cy="1215965"/>
            <a:chOff x="5029200" y="2273025"/>
            <a:chExt cx="964719" cy="1215965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1E4751C-BD90-4D40-994B-21E76496D7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2701865"/>
              <a:ext cx="236001" cy="3636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877912F-2CDA-0341-9074-22908235D665}"/>
                </a:ext>
              </a:extLst>
            </p:cNvPr>
            <p:cNvCxnSpPr>
              <a:cxnSpLocks/>
            </p:cNvCxnSpPr>
            <p:nvPr/>
          </p:nvCxnSpPr>
          <p:spPr>
            <a:xfrm>
              <a:off x="5517991" y="2711089"/>
              <a:ext cx="256218" cy="3544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022E4D5-744B-4742-9C3C-D5A449BC1D43}"/>
                </a:ext>
              </a:extLst>
            </p:cNvPr>
            <p:cNvSpPr/>
            <p:nvPr/>
          </p:nvSpPr>
          <p:spPr>
            <a:xfrm>
              <a:off x="5142539" y="2273025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+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3C8A98F-FBBB-7848-BA0E-5FAF327E335F}"/>
                </a:ext>
              </a:extLst>
            </p:cNvPr>
            <p:cNvSpPr/>
            <p:nvPr/>
          </p:nvSpPr>
          <p:spPr>
            <a:xfrm>
              <a:off x="5564151" y="3060150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4ECA3B0B-C13C-2B49-8639-621A7FCDBBAC}"/>
              </a:ext>
            </a:extLst>
          </p:cNvPr>
          <p:cNvSpPr txBox="1"/>
          <p:nvPr/>
        </p:nvSpPr>
        <p:spPr>
          <a:xfrm>
            <a:off x="1683122" y="4538208"/>
            <a:ext cx="24594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and it builds it… </a:t>
            </a:r>
            <a:r>
              <a:rPr lang="en-US" sz="2200" b="1" i="1" dirty="0"/>
              <a:t>bottom up!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8F0450-2603-4348-A27C-B1DDC8F7197D}"/>
              </a:ext>
            </a:extLst>
          </p:cNvPr>
          <p:cNvSpPr txBox="1"/>
          <p:nvPr/>
        </p:nvSpPr>
        <p:spPr>
          <a:xfrm>
            <a:off x="3276600" y="1414061"/>
            <a:ext cx="533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but if we allow </a:t>
            </a:r>
            <a:r>
              <a:rPr lang="en-US" sz="2200" b="1" dirty="0"/>
              <a:t>all</a:t>
            </a:r>
            <a:r>
              <a:rPr lang="en-US" sz="2200" dirty="0"/>
              <a:t> the operators, what would be a </a:t>
            </a:r>
            <a:r>
              <a:rPr lang="en-US" sz="2200" b="1" dirty="0"/>
              <a:t>problem input</a:t>
            </a:r>
            <a:r>
              <a:rPr lang="en-US" sz="2200" dirty="0"/>
              <a:t> for this?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82A8C5-FC44-804A-B41C-5C58711553CA}"/>
              </a:ext>
            </a:extLst>
          </p:cNvPr>
          <p:cNvSpPr txBox="1"/>
          <p:nvPr/>
        </p:nvSpPr>
        <p:spPr>
          <a:xfrm>
            <a:off x="207724" y="1014724"/>
            <a:ext cx="3511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b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c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d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A53B76A-06E8-4C45-9383-BE7BF9D04744}"/>
              </a:ext>
            </a:extLst>
          </p:cNvPr>
          <p:cNvSpPr/>
          <p:nvPr/>
        </p:nvSpPr>
        <p:spPr>
          <a:xfrm>
            <a:off x="4495800" y="4507950"/>
            <a:ext cx="429768" cy="4288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D354A7-C82E-F94E-BD9F-C3143EBE39FE}"/>
              </a:ext>
            </a:extLst>
          </p:cNvPr>
          <p:cNvGrpSpPr/>
          <p:nvPr/>
        </p:nvGrpSpPr>
        <p:grpSpPr>
          <a:xfrm>
            <a:off x="4705450" y="3720825"/>
            <a:ext cx="964719" cy="1215965"/>
            <a:chOff x="5260258" y="3720825"/>
            <a:chExt cx="964719" cy="1215965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C0775DE-2126-5142-9B47-4E862F41F2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0258" y="4149665"/>
              <a:ext cx="236001" cy="3636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57DC474-CC5D-C246-82E1-B925A10C7B64}"/>
                </a:ext>
              </a:extLst>
            </p:cNvPr>
            <p:cNvCxnSpPr>
              <a:cxnSpLocks/>
            </p:cNvCxnSpPr>
            <p:nvPr/>
          </p:nvCxnSpPr>
          <p:spPr>
            <a:xfrm>
              <a:off x="5749049" y="4158889"/>
              <a:ext cx="256218" cy="3544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997BAC7-7BFF-4E41-A873-80BA2C2AA5EB}"/>
                </a:ext>
              </a:extLst>
            </p:cNvPr>
            <p:cNvSpPr/>
            <p:nvPr/>
          </p:nvSpPr>
          <p:spPr>
            <a:xfrm>
              <a:off x="5373597" y="3720825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+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A56955E-8B8F-8A4F-A4EF-C3F9D9D01B10}"/>
                </a:ext>
              </a:extLst>
            </p:cNvPr>
            <p:cNvSpPr/>
            <p:nvPr/>
          </p:nvSpPr>
          <p:spPr>
            <a:xfrm>
              <a:off x="5795209" y="4507950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EF5A1E8-3CE1-4E4C-B0D2-AA446044699B}"/>
              </a:ext>
            </a:extLst>
          </p:cNvPr>
          <p:cNvGrpSpPr/>
          <p:nvPr/>
        </p:nvGrpSpPr>
        <p:grpSpPr>
          <a:xfrm>
            <a:off x="5033673" y="2933700"/>
            <a:ext cx="964719" cy="1215965"/>
            <a:chOff x="5029200" y="2273025"/>
            <a:chExt cx="964719" cy="1215965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EC7E767-6D6D-994B-B16F-DBC5A6BED8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2701865"/>
              <a:ext cx="236001" cy="3636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E8BB522-DCCC-AD4A-8F6C-581EAD5C1EE2}"/>
                </a:ext>
              </a:extLst>
            </p:cNvPr>
            <p:cNvCxnSpPr>
              <a:cxnSpLocks/>
            </p:cNvCxnSpPr>
            <p:nvPr/>
          </p:nvCxnSpPr>
          <p:spPr>
            <a:xfrm>
              <a:off x="5517991" y="2711089"/>
              <a:ext cx="256218" cy="3544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46A7524-A7CA-C64F-A144-2272CB965C30}"/>
                </a:ext>
              </a:extLst>
            </p:cNvPr>
            <p:cNvSpPr/>
            <p:nvPr/>
          </p:nvSpPr>
          <p:spPr>
            <a:xfrm>
              <a:off x="5142539" y="2273025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*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FD92044-29A1-BB47-8768-6ED97C35E420}"/>
                </a:ext>
              </a:extLst>
            </p:cNvPr>
            <p:cNvSpPr/>
            <p:nvPr/>
          </p:nvSpPr>
          <p:spPr>
            <a:xfrm>
              <a:off x="5564151" y="3060150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32818606-1A8D-1C4B-B1A8-32E5087F605A}"/>
              </a:ext>
            </a:extLst>
          </p:cNvPr>
          <p:cNvSpPr txBox="1"/>
          <p:nvPr/>
        </p:nvSpPr>
        <p:spPr>
          <a:xfrm>
            <a:off x="4676775" y="2179589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x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y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endParaRPr lang="en-US" sz="3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CD587C-0EE1-E544-8E7E-DCAAD6D846EF}"/>
              </a:ext>
            </a:extLst>
          </p:cNvPr>
          <p:cNvSpPr txBox="1"/>
          <p:nvPr/>
        </p:nvSpPr>
        <p:spPr>
          <a:xfrm>
            <a:off x="6219042" y="2873416"/>
            <a:ext cx="259260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it was a </a:t>
            </a:r>
            <a:r>
              <a:rPr lang="en-US" sz="2200" b="1" dirty="0"/>
              <a:t>little too eager to produce (x + y), </a:t>
            </a:r>
            <a:r>
              <a:rPr lang="en-US" sz="2200" dirty="0"/>
              <a:t>when it didn't know that there was a </a:t>
            </a:r>
            <a:r>
              <a:rPr lang="en-US" sz="2200" b="1" dirty="0"/>
              <a:t>*</a:t>
            </a:r>
            <a:r>
              <a:rPr lang="en-US" sz="2200" dirty="0"/>
              <a:t> coming up.</a:t>
            </a:r>
          </a:p>
        </p:txBody>
      </p:sp>
    </p:spTree>
    <p:extLst>
      <p:ext uri="{BB962C8B-B14F-4D97-AF65-F5344CB8AC3E}">
        <p14:creationId xmlns:p14="http://schemas.microsoft.com/office/powerpoint/2010/main" val="7587277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9" grpId="0"/>
      <p:bldP spid="50" grpId="0"/>
      <p:bldP spid="51" grpId="0"/>
      <p:bldP spid="55" grpId="0" animBg="1"/>
      <p:bldP spid="63" grpId="0"/>
      <p:bldP spid="4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7A6B-6F22-DD44-9782-12954F97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for precedence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6CCA8-5A2F-E343-A6CD-385C5B251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2"/>
            <a:ext cx="8991600" cy="495300"/>
          </a:xfrm>
        </p:spPr>
        <p:txBody>
          <a:bodyPr/>
          <a:lstStyle/>
          <a:p>
            <a:r>
              <a:rPr lang="en-US" dirty="0"/>
              <a:t>we have to tweak our algorithm a bit.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B5C35-C315-C240-9571-11F2033D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2E05BE-ABA6-2941-B081-962E5AEB7951}"/>
              </a:ext>
            </a:extLst>
          </p:cNvPr>
          <p:cNvSpPr txBox="1"/>
          <p:nvPr/>
        </p:nvSpPr>
        <p:spPr>
          <a:xfrm>
            <a:off x="304800" y="952500"/>
            <a:ext cx="550343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sz="18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LHS = </a:t>
            </a:r>
            <a:r>
              <a:rPr lang="en-US" sz="1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parse_term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current token is a binary operator {</a:t>
            </a:r>
          </a:p>
          <a:p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op = current token;</a:t>
            </a:r>
          </a:p>
          <a:p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move to next token;</a:t>
            </a:r>
          </a:p>
          <a:p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RHS = </a:t>
            </a:r>
            <a:r>
              <a:rPr lang="en-US" sz="1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parse_term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endParaRPr lang="en-US" sz="1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LHS = </a:t>
            </a:r>
            <a:r>
              <a:rPr lang="en-US" sz="1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AstNode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::new(LHS, op, RHS);</a:t>
            </a:r>
          </a:p>
          <a:p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1C3ED1-0E48-BA4C-90FD-92A464548F6E}"/>
              </a:ext>
            </a:extLst>
          </p:cNvPr>
          <p:cNvSpPr txBox="1"/>
          <p:nvPr/>
        </p:nvSpPr>
        <p:spPr>
          <a:xfrm>
            <a:off x="3771900" y="1749504"/>
            <a:ext cx="5029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at this point, we don't know if RHS is </a:t>
            </a:r>
            <a:r>
              <a:rPr lang="en-US" sz="2200" i="1" dirty="0"/>
              <a:t>our</a:t>
            </a:r>
            <a:r>
              <a:rPr lang="en-US" sz="2200" dirty="0"/>
              <a:t> second operand, or if it's </a:t>
            </a:r>
            <a:r>
              <a:rPr lang="en-US" sz="2200" i="1" dirty="0"/>
              <a:t>the next</a:t>
            </a:r>
            <a:r>
              <a:rPr lang="en-US" sz="2200" dirty="0"/>
              <a:t> operator's </a:t>
            </a:r>
            <a:r>
              <a:rPr lang="en-US" sz="2200" i="1" dirty="0"/>
              <a:t>first</a:t>
            </a:r>
            <a:r>
              <a:rPr lang="en-US" sz="2200" dirty="0"/>
              <a:t> operand.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ACC9A1-F474-4D40-87F4-BB29467723C7}"/>
              </a:ext>
            </a:extLst>
          </p:cNvPr>
          <p:cNvSpPr txBox="1"/>
          <p:nvPr/>
        </p:nvSpPr>
        <p:spPr>
          <a:xfrm>
            <a:off x="753252" y="2969234"/>
            <a:ext cx="80478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so, we'll have to check if the current token is a binary operator </a:t>
            </a:r>
            <a:r>
              <a:rPr lang="en-US" sz="2200" i="1" dirty="0"/>
              <a:t>whose precedence is </a:t>
            </a:r>
            <a:r>
              <a:rPr lang="en-US" sz="2200" b="1" i="1" dirty="0"/>
              <a:t>higher than</a:t>
            </a:r>
            <a:r>
              <a:rPr lang="en-US" sz="2200" i="1" dirty="0"/>
              <a:t> </a:t>
            </a:r>
            <a:r>
              <a:rPr lang="en-US" sz="2200" b="1" i="1" dirty="0"/>
              <a:t>op</a:t>
            </a:r>
            <a:r>
              <a:rPr lang="en-US" sz="2200" i="1" dirty="0"/>
              <a:t>'s.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4A25BE2-F75E-244C-B3C6-77BBC264A74A}"/>
              </a:ext>
            </a:extLst>
          </p:cNvPr>
          <p:cNvCxnSpPr/>
          <p:nvPr/>
        </p:nvCxnSpPr>
        <p:spPr>
          <a:xfrm flipH="1">
            <a:off x="3314700" y="2552700"/>
            <a:ext cx="9144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E2E3FB-BD1A-5947-B771-D3236F59F678}"/>
              </a:ext>
            </a:extLst>
          </p:cNvPr>
          <p:cNvSpPr txBox="1"/>
          <p:nvPr/>
        </p:nvSpPr>
        <p:spPr>
          <a:xfrm>
            <a:off x="753251" y="3783307"/>
            <a:ext cx="45045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and if that's the case, we um. uh.</a:t>
            </a:r>
            <a:endParaRPr lang="en-US" sz="2200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EE0B1-969F-C64E-98C3-00008B0580E7}"/>
              </a:ext>
            </a:extLst>
          </p:cNvPr>
          <p:cNvSpPr txBox="1"/>
          <p:nvPr/>
        </p:nvSpPr>
        <p:spPr>
          <a:xfrm>
            <a:off x="4953001" y="4102202"/>
            <a:ext cx="282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/>
              <a:t>wait, what </a:t>
            </a:r>
            <a:r>
              <a:rPr lang="en-US" sz="1800" b="1" i="1" dirty="0"/>
              <a:t>do</a:t>
            </a:r>
            <a:r>
              <a:rPr lang="en-US" sz="1800" i="1" dirty="0"/>
              <a:t> we do then?</a:t>
            </a:r>
          </a:p>
        </p:txBody>
      </p:sp>
    </p:spTree>
    <p:extLst>
      <p:ext uri="{BB962C8B-B14F-4D97-AF65-F5344CB8AC3E}">
        <p14:creationId xmlns:p14="http://schemas.microsoft.com/office/powerpoint/2010/main" val="38956350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0825-744E-5E44-B816-BE2DAC015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parentheses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EB5DD-9A59-8A41-B159-1493C72F5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95301"/>
          </a:xfrm>
        </p:spPr>
        <p:txBody>
          <a:bodyPr/>
          <a:lstStyle/>
          <a:p>
            <a:r>
              <a:rPr lang="en-US" dirty="0"/>
              <a:t>if you think about what we're doing in a different way…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E6F40-0A99-5D48-A5BD-1BA12600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7D4D97-A495-9F4E-91BC-0BD8C6A39F82}"/>
              </a:ext>
            </a:extLst>
          </p:cNvPr>
          <p:cNvSpPr txBox="1"/>
          <p:nvPr/>
        </p:nvSpPr>
        <p:spPr>
          <a:xfrm>
            <a:off x="2057400" y="965619"/>
            <a:ext cx="502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b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c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d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e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n-US" sz="3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8367D0-12A4-094B-A2C8-0B2921D5AA17}"/>
              </a:ext>
            </a:extLst>
          </p:cNvPr>
          <p:cNvSpPr txBox="1"/>
          <p:nvPr/>
        </p:nvSpPr>
        <p:spPr>
          <a:xfrm>
            <a:off x="2057400" y="965619"/>
            <a:ext cx="502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(            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4CB04C-7D35-BE49-99EF-D6F800B9F787}"/>
              </a:ext>
            </a:extLst>
          </p:cNvPr>
          <p:cNvSpPr txBox="1"/>
          <p:nvPr/>
        </p:nvSpPr>
        <p:spPr>
          <a:xfrm>
            <a:off x="1295400" y="1550394"/>
            <a:ext cx="655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we're sort of </a:t>
            </a:r>
            <a:r>
              <a:rPr lang="en-US" sz="2200" b="1" dirty="0"/>
              <a:t>inserting parentheses </a:t>
            </a:r>
            <a:r>
              <a:rPr lang="en-US" sz="2200" dirty="0"/>
              <a:t>as we go.</a:t>
            </a:r>
            <a:r>
              <a:rPr lang="en-US" sz="2200" b="1" dirty="0"/>
              <a:t> </a:t>
            </a:r>
            <a:endParaRPr lang="en-US" sz="22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FA95E2-FD2D-AA4C-B5BA-058B34E5B391}"/>
              </a:ext>
            </a:extLst>
          </p:cNvPr>
          <p:cNvSpPr txBox="1"/>
          <p:nvPr/>
        </p:nvSpPr>
        <p:spPr>
          <a:xfrm>
            <a:off x="609600" y="2110186"/>
            <a:ext cx="807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so when we see the first *, we should say "oh, the left parenthesis goes </a:t>
            </a:r>
            <a:r>
              <a:rPr lang="en-US" sz="2200" b="1" dirty="0"/>
              <a:t>before b…</a:t>
            </a:r>
            <a:endParaRPr 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9EE0C3-E938-F84F-89F0-05305AB0AC4E}"/>
              </a:ext>
            </a:extLst>
          </p:cNvPr>
          <p:cNvSpPr txBox="1"/>
          <p:nvPr/>
        </p:nvSpPr>
        <p:spPr>
          <a:xfrm>
            <a:off x="371061" y="2934132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"…and the right parenthesis goes before the </a:t>
            </a:r>
            <a:r>
              <a:rPr lang="en-US" sz="2200" b="1" dirty="0"/>
              <a:t>first operator</a:t>
            </a:r>
            <a:r>
              <a:rPr lang="en-US" sz="2200" dirty="0"/>
              <a:t> that has a </a:t>
            </a:r>
            <a:r>
              <a:rPr lang="en-US" sz="2200" b="1" dirty="0"/>
              <a:t>lower precedence than multiplication."*</a:t>
            </a:r>
            <a:endParaRPr lang="en-US" sz="22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5A0497-E682-EB4F-8B93-D9733409E05E}"/>
              </a:ext>
            </a:extLst>
          </p:cNvPr>
          <p:cNvSpPr txBox="1"/>
          <p:nvPr/>
        </p:nvSpPr>
        <p:spPr>
          <a:xfrm>
            <a:off x="762000" y="3941509"/>
            <a:ext cx="777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since we want to </a:t>
            </a:r>
            <a:r>
              <a:rPr lang="en-US" sz="2200" i="1" dirty="0"/>
              <a:t>put the parsing of + on hold, </a:t>
            </a:r>
            <a:r>
              <a:rPr lang="en-US" sz="2200" dirty="0"/>
              <a:t>the most natural way to parse the multiplications is to </a:t>
            </a:r>
            <a:r>
              <a:rPr lang="en-US" sz="2200" b="1" dirty="0" err="1"/>
              <a:t>recurse</a:t>
            </a:r>
            <a:r>
              <a:rPr lang="en-US" sz="2200" b="1" dirty="0"/>
              <a:t>.</a:t>
            </a:r>
            <a:endParaRPr lang="en-US" sz="2200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6F5470-5090-E946-A052-2CA22B336C69}"/>
              </a:ext>
            </a:extLst>
          </p:cNvPr>
          <p:cNvSpPr txBox="1"/>
          <p:nvPr/>
        </p:nvSpPr>
        <p:spPr>
          <a:xfrm>
            <a:off x="752061" y="4887607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(let's look at the example to see how this is done.)</a:t>
            </a:r>
            <a:endParaRPr lang="en-US" sz="2200" i="1" dirty="0"/>
          </a:p>
        </p:txBody>
      </p:sp>
    </p:spTree>
    <p:extLst>
      <p:ext uri="{BB962C8B-B14F-4D97-AF65-F5344CB8AC3E}">
        <p14:creationId xmlns:p14="http://schemas.microsoft.com/office/powerpoint/2010/main" val="978201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7642-BC74-5E41-A93F-D257AA0DB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that parses </a:t>
            </a:r>
            <a:r>
              <a:rPr lang="en-US" sz="2000" dirty="0"/>
              <a:t>(animated)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B0C78-5572-F94A-89C0-CA5C7F339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95301"/>
          </a:xfrm>
        </p:spPr>
        <p:txBody>
          <a:bodyPr/>
          <a:lstStyle/>
          <a:p>
            <a:r>
              <a:rPr lang="en-US" dirty="0"/>
              <a:t>Looking at this input again, let's see how the AST is built for it: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7915F-9EE4-D042-82E5-1602FA4CC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61103-E290-C645-9C4E-02089088D502}"/>
              </a:ext>
            </a:extLst>
          </p:cNvPr>
          <p:cNvSpPr txBox="1"/>
          <p:nvPr/>
        </p:nvSpPr>
        <p:spPr>
          <a:xfrm>
            <a:off x="648849" y="990602"/>
            <a:ext cx="502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b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c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d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e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3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n-US" sz="3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E5BF6E-1C6B-CD4C-87A2-99A2262C3106}"/>
              </a:ext>
            </a:extLst>
          </p:cNvPr>
          <p:cNvSpPr/>
          <p:nvPr/>
        </p:nvSpPr>
        <p:spPr>
          <a:xfrm>
            <a:off x="6038591" y="4891459"/>
            <a:ext cx="429768" cy="4288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79180E-8A7E-CC4C-B733-A31EE4206676}"/>
              </a:ext>
            </a:extLst>
          </p:cNvPr>
          <p:cNvSpPr/>
          <p:nvPr/>
        </p:nvSpPr>
        <p:spPr>
          <a:xfrm>
            <a:off x="6663828" y="4891459"/>
            <a:ext cx="429768" cy="4288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2FFC6D-F140-F542-9664-060A5A77F28C}"/>
              </a:ext>
            </a:extLst>
          </p:cNvPr>
          <p:cNvGrpSpPr/>
          <p:nvPr/>
        </p:nvGrpSpPr>
        <p:grpSpPr>
          <a:xfrm>
            <a:off x="6873478" y="4104334"/>
            <a:ext cx="964719" cy="1215965"/>
            <a:chOff x="743050" y="3927535"/>
            <a:chExt cx="964719" cy="1215965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37FAB2D-C4ED-EB4A-8B95-2550297F13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3050" y="4356375"/>
              <a:ext cx="236001" cy="3636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7E60D4D-1ED2-C248-9F93-AC74B695330A}"/>
                </a:ext>
              </a:extLst>
            </p:cNvPr>
            <p:cNvCxnSpPr>
              <a:cxnSpLocks/>
            </p:cNvCxnSpPr>
            <p:nvPr/>
          </p:nvCxnSpPr>
          <p:spPr>
            <a:xfrm>
              <a:off x="1231841" y="4365599"/>
              <a:ext cx="256218" cy="3544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52CD9B-F61C-7540-A74B-57E30EF9680F}"/>
                </a:ext>
              </a:extLst>
            </p:cNvPr>
            <p:cNvSpPr/>
            <p:nvPr/>
          </p:nvSpPr>
          <p:spPr>
            <a:xfrm>
              <a:off x="856389" y="3927535"/>
              <a:ext cx="429768" cy="4288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*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5BB776B-EE81-7448-802B-6C256402A3C7}"/>
                </a:ext>
              </a:extLst>
            </p:cNvPr>
            <p:cNvSpPr/>
            <p:nvPr/>
          </p:nvSpPr>
          <p:spPr>
            <a:xfrm>
              <a:off x="1278001" y="4714660"/>
              <a:ext cx="429768" cy="4288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9E317B-301E-0F48-B966-E615BD5970C7}"/>
              </a:ext>
            </a:extLst>
          </p:cNvPr>
          <p:cNvGrpSpPr/>
          <p:nvPr/>
        </p:nvGrpSpPr>
        <p:grpSpPr>
          <a:xfrm>
            <a:off x="7201701" y="3317209"/>
            <a:ext cx="964719" cy="1215965"/>
            <a:chOff x="5029200" y="2273025"/>
            <a:chExt cx="964719" cy="1215965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34EB0D4-090D-1B40-B438-EA7B745D1B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2701865"/>
              <a:ext cx="236001" cy="3636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F8EE84E-FAD2-9C4E-8A52-4BBEBBA0F7E4}"/>
                </a:ext>
              </a:extLst>
            </p:cNvPr>
            <p:cNvCxnSpPr>
              <a:cxnSpLocks/>
            </p:cNvCxnSpPr>
            <p:nvPr/>
          </p:nvCxnSpPr>
          <p:spPr>
            <a:xfrm>
              <a:off x="5517991" y="2711089"/>
              <a:ext cx="256218" cy="3544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AC5BF9D-8FC1-6B43-8190-4215B8FF2EF1}"/>
                </a:ext>
              </a:extLst>
            </p:cNvPr>
            <p:cNvSpPr/>
            <p:nvPr/>
          </p:nvSpPr>
          <p:spPr>
            <a:xfrm>
              <a:off x="5142539" y="2273025"/>
              <a:ext cx="429768" cy="4288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*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025790-6170-5D4F-90BC-42787F7518CB}"/>
                </a:ext>
              </a:extLst>
            </p:cNvPr>
            <p:cNvSpPr/>
            <p:nvPr/>
          </p:nvSpPr>
          <p:spPr>
            <a:xfrm>
              <a:off x="5564151" y="3060150"/>
              <a:ext cx="429768" cy="4288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AA6BB24-EFE5-8343-8FB8-BD85110DAA90}"/>
              </a:ext>
            </a:extLst>
          </p:cNvPr>
          <p:cNvGrpSpPr/>
          <p:nvPr/>
        </p:nvGrpSpPr>
        <p:grpSpPr>
          <a:xfrm>
            <a:off x="7529924" y="2530084"/>
            <a:ext cx="964719" cy="1215965"/>
            <a:chOff x="5029200" y="2273025"/>
            <a:chExt cx="964719" cy="1215965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6A919C4-0B40-8C46-B711-C7DE81D000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2701865"/>
              <a:ext cx="236001" cy="3636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54CF853-2CA5-814E-98DE-6AE9C0066D55}"/>
                </a:ext>
              </a:extLst>
            </p:cNvPr>
            <p:cNvCxnSpPr>
              <a:cxnSpLocks/>
            </p:cNvCxnSpPr>
            <p:nvPr/>
          </p:nvCxnSpPr>
          <p:spPr>
            <a:xfrm>
              <a:off x="5517991" y="2711089"/>
              <a:ext cx="256218" cy="3544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2D30BC6-7E66-1546-99A2-C9D2A0D1657D}"/>
                </a:ext>
              </a:extLst>
            </p:cNvPr>
            <p:cNvSpPr/>
            <p:nvPr/>
          </p:nvSpPr>
          <p:spPr>
            <a:xfrm>
              <a:off x="5142539" y="2273025"/>
              <a:ext cx="429768" cy="4288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*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DDE15CB-FC56-7541-85DE-92794F35AEE2}"/>
                </a:ext>
              </a:extLst>
            </p:cNvPr>
            <p:cNvSpPr/>
            <p:nvPr/>
          </p:nvSpPr>
          <p:spPr>
            <a:xfrm>
              <a:off x="5564151" y="3060150"/>
              <a:ext cx="429768" cy="4288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BADCF70-F159-3643-B251-43D872F4E76B}"/>
              </a:ext>
            </a:extLst>
          </p:cNvPr>
          <p:cNvGrpSpPr/>
          <p:nvPr/>
        </p:nvGrpSpPr>
        <p:grpSpPr>
          <a:xfrm>
            <a:off x="7369552" y="928875"/>
            <a:ext cx="964719" cy="1215965"/>
            <a:chOff x="5029200" y="2273025"/>
            <a:chExt cx="964719" cy="1215965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21DB1B1-8929-F044-BCF6-4DCC52217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2701865"/>
              <a:ext cx="236001" cy="3636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6EB6695-68FC-3249-A2BE-8327FC58F41A}"/>
                </a:ext>
              </a:extLst>
            </p:cNvPr>
            <p:cNvCxnSpPr>
              <a:cxnSpLocks/>
            </p:cNvCxnSpPr>
            <p:nvPr/>
          </p:nvCxnSpPr>
          <p:spPr>
            <a:xfrm>
              <a:off x="5517991" y="2711089"/>
              <a:ext cx="256218" cy="3544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3DEAAA1-98DD-914A-8A43-AA329FDD57A0}"/>
                </a:ext>
              </a:extLst>
            </p:cNvPr>
            <p:cNvSpPr/>
            <p:nvPr/>
          </p:nvSpPr>
          <p:spPr>
            <a:xfrm>
              <a:off x="5142539" y="2273025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+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40DAE8A-5CC2-D642-95A2-4D984B77B854}"/>
                </a:ext>
              </a:extLst>
            </p:cNvPr>
            <p:cNvSpPr/>
            <p:nvPr/>
          </p:nvSpPr>
          <p:spPr>
            <a:xfrm>
              <a:off x="5564151" y="3060150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B033DEE-BEE5-AC42-A336-BF20E0E3D6A0}"/>
              </a:ext>
            </a:extLst>
          </p:cNvPr>
          <p:cNvGrpSpPr/>
          <p:nvPr/>
        </p:nvGrpSpPr>
        <p:grpSpPr>
          <a:xfrm>
            <a:off x="6229350" y="1733735"/>
            <a:ext cx="1601295" cy="3152590"/>
            <a:chOff x="6229350" y="1733735"/>
            <a:chExt cx="1601295" cy="3152590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C707562-BA31-9C46-91D4-3570AA32A49E}"/>
                </a:ext>
              </a:extLst>
            </p:cNvPr>
            <p:cNvCxnSpPr>
              <a:cxnSpLocks/>
            </p:cNvCxnSpPr>
            <p:nvPr/>
          </p:nvCxnSpPr>
          <p:spPr>
            <a:xfrm>
              <a:off x="7574427" y="2171799"/>
              <a:ext cx="256218" cy="3544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CFBFB6-1EF3-3D42-9E83-C8814997C074}"/>
                </a:ext>
              </a:extLst>
            </p:cNvPr>
            <p:cNvSpPr/>
            <p:nvPr/>
          </p:nvSpPr>
          <p:spPr>
            <a:xfrm>
              <a:off x="7198975" y="1733735"/>
              <a:ext cx="429768" cy="4288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+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A5428FB-EC18-2742-91E1-78773AE4CB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9350" y="2162175"/>
              <a:ext cx="1038226" cy="272415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774B74B-DB48-2945-90B2-19654544BABC}"/>
              </a:ext>
            </a:extLst>
          </p:cNvPr>
          <p:cNvSpPr txBox="1"/>
          <p:nvPr/>
        </p:nvSpPr>
        <p:spPr>
          <a:xfrm>
            <a:off x="152400" y="1573077"/>
            <a:ext cx="53492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1. </a:t>
            </a:r>
            <a:r>
              <a:rPr lang="en-US" sz="2200" b="1" dirty="0"/>
              <a:t>a</a:t>
            </a:r>
            <a:r>
              <a:rPr lang="en-US" sz="2200" dirty="0"/>
              <a:t> is parsed.</a:t>
            </a:r>
            <a:endParaRPr lang="en-US" sz="2200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F0DA60-A7B1-9A49-9079-AC3E50F58AC8}"/>
              </a:ext>
            </a:extLst>
          </p:cNvPr>
          <p:cNvSpPr txBox="1"/>
          <p:nvPr/>
        </p:nvSpPr>
        <p:spPr>
          <a:xfrm>
            <a:off x="161925" y="2011989"/>
            <a:ext cx="53492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2. </a:t>
            </a:r>
            <a:r>
              <a:rPr lang="en-US" sz="2200" b="1" dirty="0"/>
              <a:t>b</a:t>
            </a:r>
            <a:r>
              <a:rPr lang="en-US" sz="2200" dirty="0"/>
              <a:t> is parsed.</a:t>
            </a:r>
            <a:endParaRPr lang="en-US" sz="2200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FE7D51-D89B-0D40-8B0D-EAF7DE6CB1DB}"/>
              </a:ext>
            </a:extLst>
          </p:cNvPr>
          <p:cNvSpPr txBox="1"/>
          <p:nvPr/>
        </p:nvSpPr>
        <p:spPr>
          <a:xfrm>
            <a:off x="152401" y="2450901"/>
            <a:ext cx="67425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3. </a:t>
            </a:r>
            <a:r>
              <a:rPr lang="en-US" sz="2200" b="1" dirty="0"/>
              <a:t>* </a:t>
            </a:r>
            <a:r>
              <a:rPr lang="en-US" sz="2200" dirty="0"/>
              <a:t>is seen, causing us to recurse. </a:t>
            </a:r>
            <a:r>
              <a:rPr lang="en-US" sz="2200" b="1" dirty="0"/>
              <a:t>+</a:t>
            </a:r>
            <a:r>
              <a:rPr lang="en-US" sz="2200" dirty="0"/>
              <a:t> is put "on hold."</a:t>
            </a:r>
            <a:endParaRPr lang="en-US" sz="2200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92139A-C939-9E4A-9F5C-15DECA8DBADC}"/>
              </a:ext>
            </a:extLst>
          </p:cNvPr>
          <p:cNvSpPr txBox="1"/>
          <p:nvPr/>
        </p:nvSpPr>
        <p:spPr>
          <a:xfrm>
            <a:off x="152401" y="2889813"/>
            <a:ext cx="67425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4. the subtree of multiplications is parsed.</a:t>
            </a:r>
            <a:endParaRPr lang="en-US" sz="2200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EC5F95-8BE1-8F48-87D6-1D8DBDEB42F1}"/>
              </a:ext>
            </a:extLst>
          </p:cNvPr>
          <p:cNvSpPr txBox="1"/>
          <p:nvPr/>
        </p:nvSpPr>
        <p:spPr>
          <a:xfrm>
            <a:off x="152401" y="3328725"/>
            <a:ext cx="64587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5. that subtree is returned and becomes </a:t>
            </a:r>
            <a:r>
              <a:rPr lang="en-US" sz="2200" b="1" dirty="0"/>
              <a:t>+</a:t>
            </a:r>
            <a:r>
              <a:rPr lang="en-US" sz="2200" dirty="0"/>
              <a:t>'s RHS.</a:t>
            </a:r>
            <a:endParaRPr lang="en-US" sz="2200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C09C4B-361B-C140-9BA1-57993870DD89}"/>
              </a:ext>
            </a:extLst>
          </p:cNvPr>
          <p:cNvSpPr txBox="1"/>
          <p:nvPr/>
        </p:nvSpPr>
        <p:spPr>
          <a:xfrm>
            <a:off x="161925" y="3767635"/>
            <a:ext cx="6172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6. the final </a:t>
            </a:r>
            <a:r>
              <a:rPr lang="en-US" sz="2200" b="1" dirty="0"/>
              <a:t>+ f</a:t>
            </a:r>
            <a:r>
              <a:rPr lang="en-US" sz="2200" dirty="0"/>
              <a:t> is parsed.</a:t>
            </a:r>
            <a:endParaRPr lang="en-US" sz="2200" i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AA48EB-0B56-2341-BC45-DE49FD53B14F}"/>
              </a:ext>
            </a:extLst>
          </p:cNvPr>
          <p:cNvSpPr txBox="1"/>
          <p:nvPr/>
        </p:nvSpPr>
        <p:spPr>
          <a:xfrm>
            <a:off x="424883" y="4131890"/>
            <a:ext cx="46187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R</a:t>
            </a:r>
            <a:r>
              <a:rPr lang="en-US" sz="2200" dirty="0"/>
              <a:t>ight-branching is done by the </a:t>
            </a:r>
            <a:r>
              <a:rPr lang="en-US" sz="2200" b="1" dirty="0">
                <a:solidFill>
                  <a:srgbClr val="FF0000"/>
                </a:solidFill>
              </a:rPr>
              <a:t>R</a:t>
            </a:r>
            <a:r>
              <a:rPr lang="en-US" sz="2200" dirty="0"/>
              <a:t>ecursion;</a:t>
            </a:r>
          </a:p>
          <a:p>
            <a:r>
              <a:rPr lang="en-US" sz="2200" b="1" dirty="0">
                <a:solidFill>
                  <a:srgbClr val="FF0000"/>
                </a:solidFill>
              </a:rPr>
              <a:t>L</a:t>
            </a:r>
            <a:r>
              <a:rPr lang="en-US" sz="2200" dirty="0"/>
              <a:t>eft-branching is done by the </a:t>
            </a:r>
          </a:p>
          <a:p>
            <a:r>
              <a:rPr lang="en-US" sz="2200" b="1" dirty="0">
                <a:solidFill>
                  <a:srgbClr val="FF0000"/>
                </a:solidFill>
              </a:rPr>
              <a:t>L</a:t>
            </a:r>
            <a:r>
              <a:rPr lang="en-US" sz="2200" dirty="0"/>
              <a:t>oop.</a:t>
            </a:r>
            <a:endParaRPr lang="en-US" sz="2200" i="1" dirty="0"/>
          </a:p>
        </p:txBody>
      </p:sp>
    </p:spTree>
    <p:extLst>
      <p:ext uri="{BB962C8B-B14F-4D97-AF65-F5344CB8AC3E}">
        <p14:creationId xmlns:p14="http://schemas.microsoft.com/office/powerpoint/2010/main" val="27648728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61551-8261-674D-9C05-0490F04E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Finishing up by parsing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3B1ED-9032-2D46-A57E-053E3CAF9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finally, these are more straightforward.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Term: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UnaryOp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PrimaryExp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PostfixOp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endParaRPr lang="en-US" dirty="0"/>
          </a:p>
          <a:p>
            <a:r>
              <a:rPr lang="en-US" dirty="0"/>
              <a:t>since the unary operators are </a:t>
            </a:r>
            <a:r>
              <a:rPr lang="en-US" b="1" dirty="0">
                <a:solidFill>
                  <a:srgbClr val="FF0000"/>
                </a:solidFill>
              </a:rPr>
              <a:t>R</a:t>
            </a:r>
            <a:r>
              <a:rPr lang="en-US" b="1" dirty="0"/>
              <a:t>ight-associative…</a:t>
            </a:r>
          </a:p>
          <a:p>
            <a:pPr lvl="1"/>
            <a:r>
              <a:rPr lang="en-US" dirty="0"/>
              <a:t>you got it: we have to </a:t>
            </a:r>
            <a:r>
              <a:rPr lang="en-US" b="1" dirty="0" err="1">
                <a:solidFill>
                  <a:srgbClr val="FF0000"/>
                </a:solidFill>
              </a:rPr>
              <a:t>R</a:t>
            </a:r>
            <a:r>
              <a:rPr lang="en-US" b="1" dirty="0" err="1"/>
              <a:t>ecurse</a:t>
            </a:r>
            <a:r>
              <a:rPr lang="en-US" b="1" dirty="0"/>
              <a:t> </a:t>
            </a:r>
            <a:r>
              <a:rPr lang="en-US" dirty="0"/>
              <a:t>to build the AST for those.</a:t>
            </a:r>
          </a:p>
          <a:p>
            <a:r>
              <a:rPr lang="en-US" dirty="0"/>
              <a:t>after that, primary expressions are straightforward.</a:t>
            </a:r>
          </a:p>
          <a:p>
            <a:pPr lvl="1"/>
            <a:r>
              <a:rPr lang="en-US" dirty="0"/>
              <a:t>parenthesized expressions will work just fine, because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  <a:r>
              <a:rPr lang="en-US" dirty="0"/>
              <a:t> is not an operator, and will cause the operator parsing loop to terminate.</a:t>
            </a:r>
          </a:p>
          <a:p>
            <a:r>
              <a:rPr lang="en-US" dirty="0"/>
              <a:t>and finally, postfix expressions come after the primaries.</a:t>
            </a:r>
          </a:p>
          <a:p>
            <a:pPr lvl="1"/>
            <a:r>
              <a:rPr lang="en-US" dirty="0"/>
              <a:t>the primary has to be passed to the postfix parser, so that it can become the LHS of those postfix operators.</a:t>
            </a:r>
          </a:p>
          <a:p>
            <a:pPr lvl="1"/>
            <a:r>
              <a:rPr lang="en-US" dirty="0"/>
              <a:t>postfix operators are </a:t>
            </a:r>
            <a:r>
              <a:rPr lang="en-US" b="1" dirty="0">
                <a:solidFill>
                  <a:srgbClr val="FF0000"/>
                </a:solidFill>
              </a:rPr>
              <a:t>L</a:t>
            </a:r>
            <a:r>
              <a:rPr lang="en-US" b="1" dirty="0"/>
              <a:t>eft-associative</a:t>
            </a:r>
            <a:r>
              <a:rPr lang="en-US" dirty="0"/>
              <a:t>, so we can use a </a:t>
            </a:r>
            <a:r>
              <a:rPr lang="en-US" b="1" dirty="0">
                <a:solidFill>
                  <a:srgbClr val="FF0000"/>
                </a:solidFill>
              </a:rPr>
              <a:t>L</a:t>
            </a:r>
            <a:r>
              <a:rPr lang="en-US" b="1" dirty="0"/>
              <a:t>oop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also, it's not an error to see 0 postfix operators. they’re optional!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62A51-3CCC-4F44-8D3E-B02FFDDD2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010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75DDB-E4C5-B64A-A072-2CD0AE1D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right-associative binary operators?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06210-EA24-6943-A875-B47AC187B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right-associativity is another kind of </a:t>
            </a:r>
            <a:r>
              <a:rPr lang="en-US" b="1" dirty="0">
                <a:solidFill>
                  <a:srgbClr val="FF0000"/>
                </a:solidFill>
              </a:rPr>
              <a:t>r</a:t>
            </a:r>
            <a:r>
              <a:rPr lang="en-US" b="1" dirty="0"/>
              <a:t>ight-branching.</a:t>
            </a:r>
          </a:p>
          <a:p>
            <a:pPr lvl="1"/>
            <a:r>
              <a:rPr lang="en-US" dirty="0"/>
              <a:t>so, we would have to change the </a:t>
            </a:r>
            <a:r>
              <a:rPr lang="en-US" b="1" dirty="0">
                <a:solidFill>
                  <a:srgbClr val="FF0000"/>
                </a:solidFill>
              </a:rPr>
              <a:t>r</a:t>
            </a:r>
            <a:r>
              <a:rPr lang="en-US" b="1" dirty="0"/>
              <a:t>ecursion</a:t>
            </a:r>
            <a:r>
              <a:rPr lang="en-US" dirty="0"/>
              <a:t> condition in the binary operator parsing.</a:t>
            </a:r>
          </a:p>
          <a:p>
            <a:r>
              <a:rPr lang="en-US" dirty="0"/>
              <a:t>currently we recurse when we see an operator of </a:t>
            </a:r>
            <a:r>
              <a:rPr lang="en-US" b="1" dirty="0"/>
              <a:t>higher precedence.</a:t>
            </a:r>
          </a:p>
          <a:p>
            <a:pPr lvl="1"/>
            <a:r>
              <a:rPr lang="en-US" dirty="0"/>
              <a:t>we will also recurse when we see a </a:t>
            </a:r>
            <a:r>
              <a:rPr lang="en-US" b="1" dirty="0"/>
              <a:t>right-associative operator</a:t>
            </a:r>
            <a:r>
              <a:rPr lang="en-US" dirty="0"/>
              <a:t> of the </a:t>
            </a:r>
            <a:r>
              <a:rPr lang="en-US" b="1" i="1" dirty="0">
                <a:solidFill>
                  <a:srgbClr val="FF0000"/>
                </a:solidFill>
              </a:rPr>
              <a:t>same or higher </a:t>
            </a:r>
            <a:r>
              <a:rPr lang="en-US" b="1" dirty="0"/>
              <a:t>precedence.</a:t>
            </a:r>
            <a:endParaRPr lang="en-US" dirty="0"/>
          </a:p>
          <a:p>
            <a:r>
              <a:rPr lang="en-US" dirty="0"/>
              <a:t>this is so if you have multiple right-associative operators in a row of the same precedence, you still get the right-branching structure.</a:t>
            </a:r>
          </a:p>
          <a:p>
            <a:r>
              <a:rPr lang="en-US" dirty="0"/>
              <a:t>in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 ** b ** 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we see that the second </a:t>
            </a:r>
            <a:r>
              <a:rPr lang="en-US" b="1" dirty="0"/>
              <a:t>**</a:t>
            </a:r>
            <a:r>
              <a:rPr lang="en-US" dirty="0"/>
              <a:t> has the same precedence as the first</a:t>
            </a:r>
          </a:p>
          <a:p>
            <a:pPr lvl="1"/>
            <a:r>
              <a:rPr lang="en-US" dirty="0"/>
              <a:t>so we recurse, giving us an RHS of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 ** c</a:t>
            </a:r>
          </a:p>
          <a:p>
            <a:pPr lvl="1"/>
            <a:r>
              <a:rPr lang="en-US" dirty="0"/>
              <a:t>ultimately giving us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 ** (b ** 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D196E-D180-CC4E-89C6-04D1EBB3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0728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F5C2E-E681-5544-8B07-FB396BC719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Things to think about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415104-E5D4-E948-B24C-879721ED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98438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2439-175D-914F-A1AF-05F67567A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 without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7051B-39E0-3741-ACD1-D8EEBAC32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using auxiliary stack data structures, we </a:t>
            </a:r>
            <a:r>
              <a:rPr lang="en-US" i="1" dirty="0"/>
              <a:t>could</a:t>
            </a:r>
            <a:r>
              <a:rPr lang="en-US" dirty="0"/>
              <a:t> remove the need for recursion entirely.</a:t>
            </a:r>
          </a:p>
          <a:p>
            <a:r>
              <a:rPr lang="en-US" dirty="0"/>
              <a:t>did any of you do the expression evaluation assignment in 445?</a:t>
            </a:r>
          </a:p>
          <a:p>
            <a:pPr lvl="1"/>
            <a:r>
              <a:rPr lang="en-US" dirty="0"/>
              <a:t>where you had an </a:t>
            </a:r>
            <a:r>
              <a:rPr lang="en-US" b="1" dirty="0"/>
              <a:t>operator stack </a:t>
            </a:r>
            <a:r>
              <a:rPr lang="en-US" dirty="0"/>
              <a:t>and an </a:t>
            </a:r>
            <a:r>
              <a:rPr lang="en-US" b="1" dirty="0"/>
              <a:t>operand stack?</a:t>
            </a:r>
          </a:p>
          <a:p>
            <a:r>
              <a:rPr lang="en-US" dirty="0"/>
              <a:t>if you still have that code, try going back and looking at it.</a:t>
            </a:r>
          </a:p>
          <a:p>
            <a:r>
              <a:rPr lang="en-US" dirty="0"/>
              <a:t>what if the operand stack held </a:t>
            </a:r>
            <a:r>
              <a:rPr lang="en-US" b="1" dirty="0"/>
              <a:t>AST nodes, </a:t>
            </a:r>
            <a:r>
              <a:rPr lang="en-US" dirty="0"/>
              <a:t>instead of Doubles?</a:t>
            </a:r>
          </a:p>
          <a:p>
            <a:pPr lvl="1"/>
            <a:r>
              <a:rPr lang="en-US" dirty="0"/>
              <a:t>and when you handle names/operands, you </a:t>
            </a:r>
            <a:r>
              <a:rPr lang="en-US" b="1" dirty="0"/>
              <a:t>pushed AST nodes?</a:t>
            </a:r>
          </a:p>
          <a:p>
            <a:r>
              <a:rPr lang="en-US" dirty="0"/>
              <a:t>and in the parts where you </a:t>
            </a:r>
            <a:r>
              <a:rPr lang="en-US" b="1" dirty="0"/>
              <a:t>pop operators </a:t>
            </a:r>
            <a:r>
              <a:rPr lang="en-US" dirty="0"/>
              <a:t>and evaluate…</a:t>
            </a:r>
          </a:p>
          <a:p>
            <a:pPr lvl="1"/>
            <a:r>
              <a:rPr lang="en-US" dirty="0"/>
              <a:t>what if, instead of evaluating, you </a:t>
            </a:r>
            <a:r>
              <a:rPr lang="en-US" b="1" dirty="0"/>
              <a:t>created/pushed AST nodes?</a:t>
            </a:r>
            <a:endParaRPr lang="en-US" dirty="0"/>
          </a:p>
          <a:p>
            <a:r>
              <a:rPr lang="en-US" i="1" dirty="0"/>
              <a:t>that's it, that's a parser, you already made most of an expression parser and you didn't even know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86F1A-2FC7-1742-B39C-7835C155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2545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9890-4316-A341-90BA-8FF48283B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parse </a:t>
            </a:r>
            <a:r>
              <a:rPr lang="en-US" i="1" dirty="0"/>
              <a:t>everything</a:t>
            </a:r>
            <a:r>
              <a:rPr lang="en-US" dirty="0"/>
              <a:t> with bottom-up parsing?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EBD91-A817-5845-9BEC-C616C3007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Yes!</a:t>
            </a:r>
          </a:p>
          <a:p>
            <a:r>
              <a:rPr lang="en-US" dirty="0"/>
              <a:t>actually, generalized bottom-up parsing is </a:t>
            </a:r>
            <a:r>
              <a:rPr lang="en-US" b="1" dirty="0"/>
              <a:t>more powerful</a:t>
            </a:r>
            <a:r>
              <a:rPr lang="en-US" dirty="0"/>
              <a:t> than top-down parsing!</a:t>
            </a:r>
          </a:p>
          <a:p>
            <a:pPr lvl="1"/>
            <a:r>
              <a:rPr lang="en-US" dirty="0"/>
              <a:t>there are some grammars that top-down parsers can never parse.</a:t>
            </a:r>
          </a:p>
          <a:p>
            <a:r>
              <a:rPr lang="en-US" dirty="0"/>
              <a:t>however…</a:t>
            </a:r>
          </a:p>
          <a:p>
            <a:pPr lvl="1"/>
            <a:r>
              <a:rPr lang="en-US" dirty="0"/>
              <a:t>once you move beyond expressions it gets stupidly complex</a:t>
            </a:r>
          </a:p>
          <a:p>
            <a:pPr lvl="1"/>
            <a:r>
              <a:rPr lang="en-US" dirty="0"/>
              <a:t>the complexity is not really justified for programming languages</a:t>
            </a:r>
          </a:p>
          <a:p>
            <a:pPr lvl="2"/>
            <a:r>
              <a:rPr lang="en-US" dirty="0"/>
              <a:t>their grammars are typically not that complicated</a:t>
            </a:r>
          </a:p>
          <a:p>
            <a:pPr lvl="1"/>
            <a:r>
              <a:rPr lang="en-US" dirty="0"/>
              <a:t>so it's mostly out of the scope of this course, IMO</a:t>
            </a:r>
          </a:p>
          <a:p>
            <a:r>
              <a:rPr lang="en-US" dirty="0"/>
              <a:t>for our language, we can parse </a:t>
            </a:r>
            <a:r>
              <a:rPr lang="en-US" i="1" dirty="0"/>
              <a:t>everything</a:t>
            </a:r>
            <a:r>
              <a:rPr lang="en-US" dirty="0"/>
              <a:t> using a hybrid approach: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recursive descent</a:t>
            </a:r>
            <a:r>
              <a:rPr lang="en-US" dirty="0"/>
              <a:t> for the program's broad structure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bottom-up</a:t>
            </a:r>
            <a:r>
              <a:rPr lang="en-US" dirty="0"/>
              <a:t> for expressions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A5984-58B8-EE4B-8709-748F43E5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2357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0EB4D-1C7A-F442-8A8D-4BB841F3E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that work though?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CDCB4-8A81-6C49-9F97-BBE580B9B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well, expressions only appear </a:t>
            </a:r>
            <a:r>
              <a:rPr lang="en-US" i="1" dirty="0"/>
              <a:t>inside </a:t>
            </a:r>
            <a:r>
              <a:rPr lang="en-US" dirty="0"/>
              <a:t>other pieces of code.</a:t>
            </a:r>
          </a:p>
          <a:p>
            <a:r>
              <a:rPr lang="en-US" dirty="0"/>
              <a:t>so, a grammar might look like this: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Program:    Function*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Function: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Id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 ')'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Block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Block: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'{'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Stmt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'}'</a:t>
            </a:r>
          </a:p>
          <a:p>
            <a:pPr marL="258605" lvl="1" indent="0">
              <a:buNone/>
            </a:pP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Stmt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    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IfStmt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ExpStmt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AssignStmt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58605" lvl="1" indent="0">
              <a:buNone/>
            </a:pP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IfStmt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'if'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Block 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'else'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Block)?</a:t>
            </a:r>
          </a:p>
          <a:p>
            <a:pPr marL="258605" lvl="1" indent="0">
              <a:buNone/>
            </a:pP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ExpStmt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   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';'</a:t>
            </a:r>
          </a:p>
          <a:p>
            <a:pPr marL="258605" lvl="1" indent="0">
              <a:buNone/>
            </a:pP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AssignStmt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'='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';'</a:t>
            </a:r>
          </a:p>
          <a:p>
            <a:r>
              <a:rPr lang="en-US" dirty="0"/>
              <a:t>all of </a:t>
            </a:r>
            <a:r>
              <a:rPr lang="en-US" i="1" dirty="0"/>
              <a:t>these </a:t>
            </a:r>
            <a:r>
              <a:rPr lang="en-US" dirty="0"/>
              <a:t>rules would be parsed with recursive descent…</a:t>
            </a:r>
          </a:p>
          <a:p>
            <a:r>
              <a:rPr lang="en-US" dirty="0"/>
              <a:t>and whenever we need to parse an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dirty="0"/>
              <a:t>, we use bottom-up parsing.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45733-C402-FB48-B483-97E85CAB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8418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164B-C2AA-274E-A821-14EBF759F0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Syntactic Sugar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436C0F-0821-A046-89A9-C2330BA4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59939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2D66-A77C-A747-BB8F-3999181B8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Yummy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2F653-EF73-8740-9CE8-80E5A92E2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523999"/>
          </a:xfrm>
        </p:spPr>
        <p:txBody>
          <a:bodyPr/>
          <a:lstStyle/>
          <a:p>
            <a:r>
              <a:rPr lang="en-US" dirty="0"/>
              <a:t>each language feature adds complexity in </a:t>
            </a:r>
            <a:r>
              <a:rPr lang="en-US" b="1" dirty="0"/>
              <a:t>every stage of the compiler: </a:t>
            </a:r>
            <a:r>
              <a:rPr lang="en-US" dirty="0"/>
              <a:t>lexing, parsing, semantics, optimization, code generation…</a:t>
            </a:r>
          </a:p>
          <a:p>
            <a:r>
              <a:rPr lang="en-US" dirty="0"/>
              <a:t>so, one approach to adding features to our languages is by defining them in terms of </a:t>
            </a:r>
            <a:r>
              <a:rPr lang="en-US" b="1" dirty="0"/>
              <a:t>other, simpler features that already exist.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746CB-6A6C-DD46-AA18-CA2ABF39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2EAC2-4786-1F46-BA48-F3BF4477D38B}"/>
              </a:ext>
            </a:extLst>
          </p:cNvPr>
          <p:cNvSpPr txBox="1"/>
          <p:nvPr/>
        </p:nvSpPr>
        <p:spPr>
          <a:xfrm>
            <a:off x="152400" y="2095500"/>
            <a:ext cx="480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lhs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self.parse_term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()?;</a:t>
            </a:r>
            <a:endParaRPr lang="en-US" sz="2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E43EDA-E21C-3141-9175-E0633FA7BA11}"/>
              </a:ext>
            </a:extLst>
          </p:cNvPr>
          <p:cNvSpPr txBox="1"/>
          <p:nvPr/>
        </p:nvSpPr>
        <p:spPr>
          <a:xfrm>
            <a:off x="152400" y="3619500"/>
            <a:ext cx="5638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lhs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self.parse_term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Ok(x)  =&gt; x,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Err(e) =&gt;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Err(e),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18C87CD-FAD3-EB45-8D76-F905F015F2C2}"/>
              </a:ext>
            </a:extLst>
          </p:cNvPr>
          <p:cNvSpPr/>
          <p:nvPr/>
        </p:nvSpPr>
        <p:spPr>
          <a:xfrm rot="5400000">
            <a:off x="463634" y="2730045"/>
            <a:ext cx="825331" cy="685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42546C-B592-FB4D-8DD8-A26A8757E54E}"/>
              </a:ext>
            </a:extLst>
          </p:cNvPr>
          <p:cNvSpPr txBox="1"/>
          <p:nvPr/>
        </p:nvSpPr>
        <p:spPr>
          <a:xfrm>
            <a:off x="2595562" y="2716169"/>
            <a:ext cx="63912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is </a:t>
            </a:r>
            <a:r>
              <a:rPr lang="en-US" sz="2200" b="1" dirty="0"/>
              <a:t>syntactic sugar, </a:t>
            </a:r>
            <a:r>
              <a:rPr lang="en-US" sz="2200" dirty="0"/>
              <a:t>and it's called that because it usually makes your code easier to write.</a:t>
            </a:r>
          </a:p>
        </p:txBody>
      </p:sp>
    </p:spTree>
    <p:extLst>
      <p:ext uri="{BB962C8B-B14F-4D97-AF65-F5344CB8AC3E}">
        <p14:creationId xmlns:p14="http://schemas.microsoft.com/office/powerpoint/2010/main" val="4182064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AA219-9448-E34A-836E-06A8547F3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DE58F-B87B-064F-8E7E-ED41648DE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Java's generic for loop is just sugar for using an iterator.</a:t>
            </a:r>
            <a:br>
              <a:rPr lang="en-US" dirty="0"/>
            </a:br>
            <a:endParaRPr lang="en-US" dirty="0"/>
          </a:p>
          <a:p>
            <a:pPr marL="258605" lvl="1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i :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someCollection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 { … }</a:t>
            </a:r>
          </a:p>
          <a:p>
            <a:pPr marL="258605" lvl="1" indent="0">
              <a:buNone/>
            </a:pP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becomes something like:</a:t>
            </a:r>
          </a:p>
          <a:p>
            <a:pPr marL="258605" lvl="1" indent="0">
              <a:buNone/>
            </a:pP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58605" lvl="1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(Iterator&lt;Integer&gt;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someCollection.iterator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iter.hasNext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(); ) 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i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iter.next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intValue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…</a:t>
            </a:r>
          </a:p>
          <a:p>
            <a:pPr marL="258605" lvl="1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0C2E1-206E-5D4B-A0F5-1F97F31E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7283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C6B9-489B-8149-BF7A-C6035B00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it implemented?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322E-8ED7-BE42-BDC3-1A12D94BB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b="1" dirty="0" err="1"/>
              <a:t>desugaring</a:t>
            </a:r>
            <a:r>
              <a:rPr lang="en-US" b="1" dirty="0"/>
              <a:t>: </a:t>
            </a:r>
            <a:r>
              <a:rPr lang="en-US" dirty="0"/>
              <a:t>rewriting the AST after parsing.</a:t>
            </a:r>
          </a:p>
          <a:p>
            <a:pPr lvl="1"/>
            <a:r>
              <a:rPr lang="en-US" dirty="0"/>
              <a:t>we saw previously that trees are easy to create and manipulate.</a:t>
            </a:r>
          </a:p>
          <a:p>
            <a:r>
              <a:rPr lang="en-US" dirty="0"/>
              <a:t>but we have to be a little careful.</a:t>
            </a:r>
          </a:p>
          <a:p>
            <a:pPr lvl="1"/>
            <a:r>
              <a:rPr lang="en-US" dirty="0"/>
              <a:t>up next is </a:t>
            </a:r>
            <a:r>
              <a:rPr lang="en-US" b="1" dirty="0"/>
              <a:t>semantic analysis, </a:t>
            </a:r>
            <a:r>
              <a:rPr lang="en-US" dirty="0"/>
              <a:t>and if we </a:t>
            </a:r>
            <a:r>
              <a:rPr lang="en-US" dirty="0" err="1"/>
              <a:t>desugar</a:t>
            </a:r>
            <a:r>
              <a:rPr lang="en-US" dirty="0"/>
              <a:t> the code before then, it might give really confusing errors about </a:t>
            </a:r>
            <a:r>
              <a:rPr lang="en-US" i="1" dirty="0"/>
              <a:t>code that the programmer didn't write!</a:t>
            </a:r>
          </a:p>
          <a:p>
            <a:r>
              <a:rPr lang="en-US" dirty="0"/>
              <a:t>but that's it for parsing!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C952E-26AA-BC43-8F03-A215620DB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23500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02 - C - Basics">
  <a:themeElements>
    <a:clrScheme name="Custom 2">
      <a:dk1>
        <a:srgbClr val="000000"/>
      </a:dk1>
      <a:lt1>
        <a:srgbClr val="FFFFFF"/>
      </a:lt1>
      <a:dk2>
        <a:srgbClr val="3B481E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Segoe WP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_fall_2017" id="{93D034CE-FEB5-4D4D-96F7-6B7F8A5EB99A}" vid="{194AE869-5029-ED49-81EA-C574BDDBE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01 - Welcome and Review</Template>
  <TotalTime>18390</TotalTime>
  <Words>4044</Words>
  <Application>Microsoft Macintosh PowerPoint</Application>
  <PresentationFormat>On-screen Show (16:10)</PresentationFormat>
  <Paragraphs>541</Paragraphs>
  <Slides>33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Consolas</vt:lpstr>
      <vt:lpstr>Courier New</vt:lpstr>
      <vt:lpstr>Segoe UI</vt:lpstr>
      <vt:lpstr>Segoe WP Semibold</vt:lpstr>
      <vt:lpstr>Trebuchet MS</vt:lpstr>
      <vt:lpstr>Wingdings</vt:lpstr>
      <vt:lpstr>02 - C - Basics</vt:lpstr>
      <vt:lpstr>Bottom-up Parsing</vt:lpstr>
      <vt:lpstr>Class Announcements</vt:lpstr>
      <vt:lpstr>Operators</vt:lpstr>
      <vt:lpstr>Evaluating (and producing) trees</vt:lpstr>
      <vt:lpstr>PEMDAS, BODMAS, BIDMAS…</vt:lpstr>
      <vt:lpstr>Operator Precedence</vt:lpstr>
      <vt:lpstr>Operator Associativity</vt:lpstr>
      <vt:lpstr>More about associativity</vt:lpstr>
      <vt:lpstr>Unary and postfix operators</vt:lpstr>
      <vt:lpstr>Summarizing operators</vt:lpstr>
      <vt:lpstr>Building a grammar for expressions</vt:lpstr>
      <vt:lpstr>A grammar from the bottom up </vt:lpstr>
      <vt:lpstr>Terms: primaries with decorations</vt:lpstr>
      <vt:lpstr>Expressions: the big picture</vt:lpstr>
      <vt:lpstr>Wait. What?</vt:lpstr>
      <vt:lpstr>So no! We won't do it!</vt:lpstr>
      <vt:lpstr>Bottom-up parsing</vt:lpstr>
      <vt:lpstr>The core of the algorithm</vt:lpstr>
      <vt:lpstr>Okay, let's try it (animated)</vt:lpstr>
      <vt:lpstr>That's why it's called bottom-up (animated)</vt:lpstr>
      <vt:lpstr>Accounting for precedence</vt:lpstr>
      <vt:lpstr>Implicit parentheses</vt:lpstr>
      <vt:lpstr>How that parses (animated)</vt:lpstr>
      <vt:lpstr>Finishing up by parsing terms</vt:lpstr>
      <vt:lpstr>What about right-associative binary operators?</vt:lpstr>
      <vt:lpstr>Things to think about</vt:lpstr>
      <vt:lpstr>Bottom-up parsing without recursion</vt:lpstr>
      <vt:lpstr>Can we parse everything with bottom-up parsing?</vt:lpstr>
      <vt:lpstr>How does that work though?</vt:lpstr>
      <vt:lpstr>Syntactic Sugar</vt:lpstr>
      <vt:lpstr>Yummy</vt:lpstr>
      <vt:lpstr>Another example</vt:lpstr>
      <vt:lpstr>How is it implemented?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Intro to Computer Architecture!</dc:title>
  <dc:creator>me</dc:creator>
  <cp:lastModifiedBy>Billingsley, Jarrett F</cp:lastModifiedBy>
  <cp:revision>684</cp:revision>
  <dcterms:created xsi:type="dcterms:W3CDTF">2017-01-05T04:29:56Z</dcterms:created>
  <dcterms:modified xsi:type="dcterms:W3CDTF">2022-06-05T16:21:36Z</dcterms:modified>
</cp:coreProperties>
</file>