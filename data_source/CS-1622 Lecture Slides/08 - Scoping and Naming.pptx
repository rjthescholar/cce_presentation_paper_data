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2"/>
  </p:notesMasterIdLst>
  <p:sldIdLst>
    <p:sldId id="256" r:id="rId2"/>
    <p:sldId id="519" r:id="rId3"/>
    <p:sldId id="572" r:id="rId4"/>
    <p:sldId id="587" r:id="rId5"/>
    <p:sldId id="573" r:id="rId6"/>
    <p:sldId id="574" r:id="rId7"/>
    <p:sldId id="576" r:id="rId8"/>
    <p:sldId id="589" r:id="rId9"/>
    <p:sldId id="588" r:id="rId10"/>
    <p:sldId id="590" r:id="rId11"/>
    <p:sldId id="591" r:id="rId12"/>
    <p:sldId id="592" r:id="rId13"/>
    <p:sldId id="594" r:id="rId14"/>
    <p:sldId id="595" r:id="rId15"/>
    <p:sldId id="593" r:id="rId16"/>
    <p:sldId id="575" r:id="rId17"/>
    <p:sldId id="602" r:id="rId18"/>
    <p:sldId id="527" r:id="rId19"/>
    <p:sldId id="596" r:id="rId20"/>
    <p:sldId id="597" r:id="rId21"/>
    <p:sldId id="565" r:id="rId22"/>
    <p:sldId id="598" r:id="rId23"/>
    <p:sldId id="599" r:id="rId24"/>
    <p:sldId id="577" r:id="rId25"/>
    <p:sldId id="603" r:id="rId26"/>
    <p:sldId id="600" r:id="rId27"/>
    <p:sldId id="604" r:id="rId28"/>
    <p:sldId id="605" r:id="rId29"/>
    <p:sldId id="601" r:id="rId30"/>
    <p:sldId id="606" r:id="rId31"/>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8A7"/>
    <a:srgbClr val="FF7A78"/>
    <a:srgbClr val="000000"/>
    <a:srgbClr val="FF0400"/>
    <a:srgbClr val="0400FF"/>
    <a:srgbClr val="00FF04"/>
    <a:srgbClr val="FF3200"/>
    <a:srgbClr val="FF5200"/>
    <a:srgbClr val="FF5C00"/>
    <a:srgbClr val="592A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15" autoAdjust="0"/>
    <p:restoredTop sz="90282" autoAdjust="0"/>
  </p:normalViewPr>
  <p:slideViewPr>
    <p:cSldViewPr>
      <p:cViewPr varScale="1">
        <p:scale>
          <a:sx n="133" d="100"/>
          <a:sy n="133" d="100"/>
        </p:scale>
        <p:origin x="1264" y="184"/>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6/12/22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3</a:t>
            </a:fld>
            <a:endParaRPr lang="en-US"/>
          </a:p>
        </p:txBody>
      </p:sp>
    </p:spTree>
    <p:extLst>
      <p:ext uri="{BB962C8B-B14F-4D97-AF65-F5344CB8AC3E}">
        <p14:creationId xmlns:p14="http://schemas.microsoft.com/office/powerpoint/2010/main" val="812911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no! it should not!</a:t>
            </a:r>
          </a:p>
          <a:p>
            <a:pPr marL="0" indent="0">
              <a:buFontTx/>
              <a:buNone/>
            </a:pPr>
            <a:endParaRPr lang="en-US" dirty="0"/>
          </a:p>
          <a:p>
            <a:pPr marL="0" indent="0">
              <a:buFontTx/>
              <a:buNone/>
            </a:pPr>
            <a:r>
              <a:rPr lang="en-US" dirty="0"/>
              <a:t>[diagram: the snippet of Java code declares several names: A, x, main, foo, and y. Each name gets an entry in the symbol table, which maps from the name to the thing that declared it. It’s kept abstract here, but concretely it would refer to one of the AST nodes.]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920826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we can keep nesting scopes, like inside control flow statements.</a:t>
            </a:r>
          </a:p>
          <a:p>
            <a:pPr marL="171450" indent="-171450">
              <a:buFontTx/>
              <a:buChar char="-"/>
            </a:pPr>
            <a:r>
              <a:rPr lang="en-US" dirty="0"/>
              <a:t>this is how multiple methods can use the same names for their variables: it's because those names exist in different symbol tables.</a:t>
            </a:r>
          </a:p>
          <a:p>
            <a:pPr marL="171450" indent="-171450">
              <a:buFontTx/>
              <a:buChar char="-"/>
            </a:pPr>
            <a:endParaRPr lang="en-US" dirty="0"/>
          </a:p>
          <a:p>
            <a:pPr marL="0" indent="0">
              <a:buFontTx/>
              <a:buNone/>
            </a:pPr>
            <a:r>
              <a:rPr lang="en-US" dirty="0"/>
              <a:t>[diagram: the outermost (global) scope encompasses the entire program. the class A has a scope which encompasses everything inside it. main and foo have scopes which encompass the things inside them. each scope is nested inside an outer scope (except for the global scope, which is the outermost).]</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1293264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 be clear, the long </a:t>
            </a:r>
            <a:r>
              <a:rPr lang="en-US" dirty="0" err="1"/>
              <a:t>noodly</a:t>
            </a:r>
            <a:r>
              <a:rPr lang="en-US" dirty="0"/>
              <a:t> arrows are pointing </a:t>
            </a:r>
            <a:r>
              <a:rPr lang="en-US" i="1" dirty="0"/>
              <a:t>into the AST, </a:t>
            </a:r>
            <a:r>
              <a:rPr lang="en-US" i="0" dirty="0"/>
              <a:t>it's just easier to show a piece of code on a slide than a second tree. (and the AST for this code would be really big.)</a:t>
            </a:r>
          </a:p>
          <a:p>
            <a:pPr marL="171450" indent="-171450">
              <a:buFontTx/>
              <a:buChar char="-"/>
            </a:pPr>
            <a:r>
              <a:rPr lang="en-US" i="0" dirty="0"/>
              <a:t>* </a:t>
            </a:r>
            <a:r>
              <a:rPr lang="en-US" i="0" dirty="0" err="1"/>
              <a:t>wellllllllllllll</a:t>
            </a:r>
            <a:r>
              <a:rPr lang="en-US" i="0" dirty="0"/>
              <a:t> the arrows might not actually point </a:t>
            </a:r>
            <a:r>
              <a:rPr lang="en-US" i="1" dirty="0"/>
              <a:t>directly</a:t>
            </a:r>
            <a:r>
              <a:rPr lang="en-US" i="0" dirty="0"/>
              <a:t> into the AST, but we’ll come back to that.</a:t>
            </a:r>
          </a:p>
          <a:p>
            <a:pPr marL="171450" indent="-171450">
              <a:buFontTx/>
              <a:buChar char="-"/>
            </a:pPr>
            <a:endParaRPr lang="en-US" i="0" dirty="0"/>
          </a:p>
          <a:p>
            <a:pPr marL="0" indent="0">
              <a:buFontTx/>
              <a:buNone/>
            </a:pPr>
            <a:r>
              <a:rPr lang="en-US" i="0" dirty="0"/>
              <a:t>[diagram: the scope tree, rooted at the global scope. the global scope contains A’s scope, which contains main’s and foo’s scopes. each scope has a symbol table associated with it. in the global scope, there are entries for “A” and “System”. in A’s scope, there are entries for “x”, “main”, and “foo”. main’s scope has an empty symbol table. foo’s scope has an entry for “y”. Each entry in each scope points at a specific node in the AST.]</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201217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NO DON'T DO THAT. DON'T INTEGRATE IT INTO THE AST</a:t>
            </a:r>
          </a:p>
          <a:p>
            <a:pPr marL="0" indent="0">
              <a:buFontTx/>
              <a:buNone/>
            </a:pPr>
            <a:endParaRPr lang="en-US" dirty="0"/>
          </a:p>
          <a:p>
            <a:pPr marL="0" indent="0">
              <a:buFontTx/>
              <a:buNone/>
            </a:pPr>
            <a:r>
              <a:rPr lang="en-US" dirty="0"/>
              <a:t>[diagram: a simplified version of the scope tree showing just the relationships between the scopes. global contains “A”, “A” contains “main” and “foo”. however, each scope points back up to its parent as well. “A” points back to global, and “main” and “foo” point back to “A”.]</a:t>
            </a:r>
          </a:p>
        </p:txBody>
      </p:sp>
      <p:sp>
        <p:nvSpPr>
          <p:cNvPr id="4" name="Slide Number Placeholder 3"/>
          <p:cNvSpPr>
            <a:spLocks noGrp="1"/>
          </p:cNvSpPr>
          <p:nvPr>
            <p:ph type="sldNum" sz="quarter" idx="5"/>
          </p:nvPr>
        </p:nvSpPr>
        <p:spPr/>
        <p:txBody>
          <a:bodyPr/>
          <a:lstStyle/>
          <a:p>
            <a:fld id="{999729AB-B77D-48AE-AA10-D1BD2B4D03EA}" type="slidenum">
              <a:rPr lang="en-US" smtClean="0"/>
              <a:pPr/>
              <a:t>8</a:t>
            </a:fld>
            <a:endParaRPr lang="en-US"/>
          </a:p>
        </p:txBody>
      </p:sp>
    </p:spTree>
    <p:extLst>
      <p:ext uri="{BB962C8B-B14F-4D97-AF65-F5344CB8AC3E}">
        <p14:creationId xmlns:p14="http://schemas.microsoft.com/office/powerpoint/2010/main" val="1357296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yes, we also have to resolve </a:t>
            </a:r>
            <a:r>
              <a:rPr lang="en-US" b="1" dirty="0" err="1"/>
              <a:t>println</a:t>
            </a:r>
            <a:r>
              <a:rPr lang="en-US" dirty="0"/>
              <a:t> and </a:t>
            </a:r>
            <a:r>
              <a:rPr lang="en-US" b="1" dirty="0"/>
              <a:t>f</a:t>
            </a:r>
            <a:r>
              <a:rPr lang="en-US" dirty="0"/>
              <a:t> in this example. but we’re just focusing on x for the example.</a:t>
            </a:r>
          </a:p>
          <a:p>
            <a:pPr marL="0" indent="0">
              <a:buFontTx/>
              <a:buNone/>
            </a:pPr>
            <a:endParaRPr lang="en-US" dirty="0"/>
          </a:p>
          <a:p>
            <a:pPr marL="0" indent="0">
              <a:buFontTx/>
              <a:buNone/>
            </a:pPr>
            <a:r>
              <a:rPr lang="en-US" dirty="0"/>
              <a:t>[diagram: in the snippet of Java, the line “</a:t>
            </a:r>
            <a:r>
              <a:rPr lang="en-US" dirty="0" err="1"/>
              <a:t>int</a:t>
            </a:r>
            <a:r>
              <a:rPr lang="en-US" dirty="0"/>
              <a:t> x = 0;” is the declaration, which puts x into the symbol table of its enclosing scope. the rest of the lines </a:t>
            </a:r>
            <a:r>
              <a:rPr lang="en-US" i="1" dirty="0"/>
              <a:t>refer to</a:t>
            </a:r>
            <a:r>
              <a:rPr lang="en-US" i="0" dirty="0"/>
              <a:t> x, so they are uses of x.]</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300529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scope tree from before. global has symbols “A” and “System” and child scope “A”. “A” has symbols “x”, “main”, and “foo” and child scope “foo”. “foo” has symbol “y”.]</a:t>
            </a:r>
          </a:p>
          <a:p>
            <a:r>
              <a:rPr lang="en-US" dirty="0"/>
              <a:t>[animation: inside the “foo” method, we have a call to “</a:t>
            </a:r>
            <a:r>
              <a:rPr lang="en-US" dirty="0" err="1"/>
              <a:t>System.out.println</a:t>
            </a:r>
            <a:r>
              <a:rPr lang="en-US" dirty="0"/>
              <a:t>”, so we have to look up the name “System” starting from foo’s scope. 1. is ”System” in foo’s scope? no? so we follow the link to the parent scope “A”. 2. is “System” in “A”? no? so we follow the link to the parent scope, the global scope. 3. is “System” in the global scope? yes! so the name has been resolved: in “foo”, “System” refers to the name in the global scope.]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1476507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well…… if you wanna get really technical, it's a </a:t>
            </a:r>
            <a:r>
              <a:rPr lang="en-US" i="1" dirty="0"/>
              <a:t>kind error, </a:t>
            </a:r>
            <a:r>
              <a:rPr lang="en-US" i="0" dirty="0"/>
              <a:t>because in Java, classes are types, not values.</a:t>
            </a:r>
          </a:p>
          <a:p>
            <a:r>
              <a:rPr lang="en-US" i="0" dirty="0"/>
              <a:t>	- higher order type theory </a:t>
            </a:r>
            <a:r>
              <a:rPr lang="en-US" i="0" dirty="0" err="1"/>
              <a:t>wooooooooooooooo</a:t>
            </a:r>
            <a:endParaRPr lang="en-US" i="0"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4159782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and again, this is happening with the AST but the source code is easier for us humans to look at on a slide</a:t>
            </a:r>
          </a:p>
          <a:p>
            <a:pPr marL="171450" indent="-171450">
              <a:buFontTx/>
              <a:buChar char="-"/>
            </a:pPr>
            <a:r>
              <a:rPr lang="en-US" dirty="0"/>
              <a:t>I don’t… know that there is any proper name for this data structure, or if it’s a common part of compilers, but it’s so relatively simple and tied closely to how the scope tree and symbol tables are implemented that I doubt it’s got a formal name.</a:t>
            </a:r>
          </a:p>
          <a:p>
            <a:pPr marL="171450" indent="-171450">
              <a:buFontTx/>
              <a:buChar char="-"/>
            </a:pPr>
            <a:endParaRPr lang="en-US" dirty="0"/>
          </a:p>
          <a:p>
            <a:pPr marL="0" indent="0">
              <a:buFontTx/>
              <a:buNone/>
            </a:pPr>
            <a:r>
              <a:rPr lang="en-US" dirty="0"/>
              <a:t>[diagram: the same short snippet of Java that declares x and then uses it several times, but now there are explicit links (drawn as arrows) from the uses to the declaration. these links will be kept in </a:t>
            </a:r>
            <a:r>
              <a:rPr lang="en-US" i="1" dirty="0"/>
              <a:t>another</a:t>
            </a:r>
            <a:r>
              <a:rPr lang="en-US" i="0" dirty="0"/>
              <a:t> data structure that maps from uses to declarations.]</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4172150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a:t>
            </a:r>
            <a:r>
              <a:rPr lang="en-US" i="1" dirty="0"/>
              <a:t>why</a:t>
            </a:r>
            <a:r>
              <a:rPr lang="en-US" i="0" dirty="0"/>
              <a:t> Rust has both :: and .</a:t>
            </a:r>
          </a:p>
          <a:p>
            <a:r>
              <a:rPr lang="en-US" i="0" dirty="0"/>
              <a:t>	- in Rust, :: can always be resolved during the name resolution pass, but . always requires typechecking.</a:t>
            </a:r>
          </a:p>
          <a:p>
            <a:r>
              <a:rPr lang="en-US" i="0" dirty="0"/>
              <a:t>	- in Java, . is used for both cases (e.g. </a:t>
            </a:r>
            <a:r>
              <a:rPr lang="en-US" i="0" dirty="0" err="1"/>
              <a:t>java.io</a:t>
            </a:r>
            <a:r>
              <a:rPr lang="en-US" i="0" dirty="0"/>
              <a:t> can be resolved during name resolution, but f().x requires </a:t>
            </a:r>
            <a:r>
              <a:rPr lang="en-US" i="0" dirty="0" err="1"/>
              <a:t>typechecking</a:t>
            </a:r>
            <a:r>
              <a:rPr lang="en-US" i="0" dirty="0"/>
              <a:t>).</a:t>
            </a:r>
          </a:p>
          <a:p>
            <a:r>
              <a:rPr lang="en-US" i="0" dirty="0"/>
              <a:t>- the </a:t>
            </a:r>
            <a:r>
              <a:rPr lang="en-US" i="0" dirty="0" err="1"/>
              <a:t>typechecking</a:t>
            </a:r>
            <a:r>
              <a:rPr lang="en-US" i="0" dirty="0"/>
              <a:t> phase can resolve this pretty easily, because by then all the declarations have been processed, but it’s still annoying.</a:t>
            </a:r>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2858073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we’re only able to do multiple passes like this because of the incredible amounts of memory our computers have today.</a:t>
            </a:r>
          </a:p>
          <a:p>
            <a:pPr marL="171450" indent="-171450">
              <a:buFontTx/>
              <a:buChar char="-"/>
            </a:pPr>
            <a:r>
              <a:rPr lang="en-US" dirty="0"/>
              <a:t>older languages – like C – had to restrict things like forward references because it was difficult/inefficient to do multiple passes on the code.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2732908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introducting</a:t>
            </a:r>
            <a:r>
              <a:rPr lang="en-US" dirty="0"/>
              <a:t> new scopes after each local declaration lets you neatly draw a line between the two passes, at the expense of a more-deeply-nested scope tree structure which can make the name lookup pass slower. </a:t>
            </a:r>
          </a:p>
          <a:p>
            <a:pPr marL="171450" indent="-171450">
              <a:buFontTx/>
              <a:buChar char="-"/>
            </a:pPr>
            <a:r>
              <a:rPr lang="en-US" dirty="0"/>
              <a:t>doing both things simultaneously keeps the scope tree simpler, but increases the namechecking code complexity. tradeoffs!</a:t>
            </a:r>
          </a:p>
          <a:p>
            <a:endParaRPr lang="en-US" dirty="0"/>
          </a:p>
          <a:p>
            <a:r>
              <a:rPr lang="en-US" dirty="0"/>
              <a:t>[diagram: a function with a local x, but x is declared on the line </a:t>
            </a:r>
            <a:r>
              <a:rPr lang="en-US" i="1" dirty="0"/>
              <a:t>after</a:t>
            </a:r>
            <a:r>
              <a:rPr lang="en-US" i="0" dirty="0"/>
              <a:t> the line that prints it.]</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18020484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tight coupling?? isn't that what OOP is supposed to solve???</a:t>
            </a:r>
          </a:p>
          <a:p>
            <a:r>
              <a:rPr lang="en-US" dirty="0"/>
              <a:t>	- just "using OOP" is not a magical spell that solves all problems it's advertised to solve.</a:t>
            </a:r>
          </a:p>
          <a:p>
            <a:r>
              <a:rPr lang="en-US" dirty="0"/>
              <a:t>	- (the same goes for any programming paradigm, but OOP has been built up as a cure-all probably more than any other.)</a:t>
            </a:r>
            <a:br>
              <a:rPr lang="en-US" dirty="0"/>
            </a:br>
            <a:r>
              <a:rPr lang="en-US" dirty="0"/>
              <a:t>- you can solve any problem with any programming paradigm…</a:t>
            </a:r>
          </a:p>
          <a:p>
            <a:r>
              <a:rPr lang="en-US" dirty="0"/>
              <a:t>	- but you can also solve any problem POORLY with any programming paradigm.</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1897270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hid this away from you on the parser project, but it's there!</a:t>
            </a:r>
          </a:p>
          <a:p>
            <a:r>
              <a:rPr lang="en-US" dirty="0"/>
              <a:t>	- at the top of </a:t>
            </a:r>
            <a:r>
              <a:rPr lang="en-US" dirty="0" err="1"/>
              <a:t>ast.rs</a:t>
            </a:r>
            <a:r>
              <a:rPr lang="en-US" dirty="0"/>
              <a:t>, there's </a:t>
            </a:r>
            <a:r>
              <a:rPr lang="en-US" dirty="0" err="1"/>
              <a:t>NodeId</a:t>
            </a:r>
            <a:r>
              <a:rPr lang="en-US" dirty="0"/>
              <a:t>, the type of a node identifier.</a:t>
            </a:r>
          </a:p>
          <a:p>
            <a:r>
              <a:rPr lang="en-US" dirty="0"/>
              <a:t>	- and in all (relevant) AST nodes, there is a </a:t>
            </a:r>
            <a:r>
              <a:rPr lang="en-US" dirty="0" err="1"/>
              <a:t>NodeId</a:t>
            </a:r>
            <a:r>
              <a:rPr lang="en-US" dirty="0"/>
              <a:t> field which is filled in when you allocate it.</a:t>
            </a:r>
          </a:p>
          <a:p>
            <a:r>
              <a:rPr lang="en-US" dirty="0"/>
              <a:t>- if you've taken a databases course (or used them IRL), and this sounds like a </a:t>
            </a:r>
            <a:r>
              <a:rPr lang="en-US" b="1" dirty="0"/>
              <a:t>primary key</a:t>
            </a:r>
            <a:r>
              <a:rPr lang="en-US" b="0" dirty="0"/>
              <a:t> field…</a:t>
            </a:r>
          </a:p>
          <a:p>
            <a:r>
              <a:rPr lang="en-US" b="0" dirty="0"/>
              <a:t>	- ding ding ding that's basically what this is</a:t>
            </a:r>
          </a:p>
          <a:p>
            <a:endParaRPr lang="en-US" b="0" dirty="0"/>
          </a:p>
          <a:p>
            <a:r>
              <a:rPr lang="en-US" b="0" dirty="0"/>
              <a:t>[diagram: the AST for the expression “f(y + 2)”, but this time each node has a number that uniquely identifies it. the root is a </a:t>
            </a:r>
            <a:r>
              <a:rPr lang="en-US" b="0" dirty="0" err="1"/>
              <a:t>CallExp</a:t>
            </a:r>
            <a:r>
              <a:rPr lang="en-US" b="0" dirty="0"/>
              <a:t> with ID 5. its </a:t>
            </a:r>
            <a:r>
              <a:rPr lang="en-US" b="0" dirty="0" err="1"/>
              <a:t>callee</a:t>
            </a:r>
            <a:r>
              <a:rPr lang="en-US" b="0" dirty="0"/>
              <a:t> child is an </a:t>
            </a:r>
            <a:r>
              <a:rPr lang="en-US" b="0" dirty="0" err="1"/>
              <a:t>IdentExp</a:t>
            </a:r>
            <a:r>
              <a:rPr lang="en-US" b="0" dirty="0"/>
              <a:t> with ID 1. its argument is an </a:t>
            </a:r>
            <a:r>
              <a:rPr lang="en-US" b="0" dirty="0" err="1"/>
              <a:t>AddExp</a:t>
            </a:r>
            <a:r>
              <a:rPr lang="en-US" b="0" dirty="0"/>
              <a:t> with ID 4, whose children are an </a:t>
            </a:r>
            <a:r>
              <a:rPr lang="en-US" b="0" dirty="0" err="1"/>
              <a:t>IdentExp</a:t>
            </a:r>
            <a:r>
              <a:rPr lang="en-US" b="0" dirty="0"/>
              <a:t> with ID 2 and and </a:t>
            </a:r>
            <a:r>
              <a:rPr lang="en-US" b="0" dirty="0" err="1"/>
              <a:t>IntExp</a:t>
            </a:r>
            <a:r>
              <a:rPr lang="en-US" b="0" dirty="0"/>
              <a:t> with ID 3. the values of the IDs doesn’t actually matter; all that matters is that they’re unique.]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4103454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compile time thing is a problem because the AST is like the </a:t>
            </a:r>
            <a:r>
              <a:rPr lang="en-US" i="1" dirty="0"/>
              <a:t>core </a:t>
            </a:r>
            <a:r>
              <a:rPr lang="en-US" i="0" dirty="0"/>
              <a:t>data structure that several major parts of the compiler uses.</a:t>
            </a:r>
          </a:p>
          <a:p>
            <a:r>
              <a:rPr lang="en-US" i="0" dirty="0"/>
              <a:t>	- so the compiler source code is likely to have many, many modules all depending on the AST code…</a:t>
            </a:r>
          </a:p>
          <a:p>
            <a:r>
              <a:rPr lang="en-US" i="0" dirty="0"/>
              <a:t>	- meaning a single change there will require a recompile of everything that depends on it... which is like, the whole compiler.</a:t>
            </a:r>
            <a:endParaRPr lang="en-US" dirty="0"/>
          </a:p>
          <a:p>
            <a:r>
              <a:rPr lang="en-US" dirty="0"/>
              <a:t>- it might also be useful to have all the associated data in one place.</a:t>
            </a:r>
          </a:p>
          <a:p>
            <a:r>
              <a:rPr lang="en-US" dirty="0"/>
              <a:t>	- e.g. you can pass all the type info around as a single map object, as an argument to a function or whatever.</a:t>
            </a:r>
          </a:p>
          <a:p>
            <a:r>
              <a:rPr lang="en-US" dirty="0"/>
              <a:t>- or for dumping things out. (</a:t>
            </a:r>
            <a:r>
              <a:rPr lang="en-US" b="1" dirty="0"/>
              <a:t>very</a:t>
            </a:r>
            <a:r>
              <a:rPr lang="en-US" dirty="0"/>
              <a:t> useful when debugging a compiler…)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890208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red arrows are cyclical links which are allowed in Java but impossible with a Box&lt;T&gt; in Rust.</a:t>
            </a:r>
          </a:p>
          <a:p>
            <a:pPr marL="171450" indent="-171450">
              <a:buFontTx/>
              <a:buChar char="-"/>
            </a:pPr>
            <a:endParaRPr lang="en-US" dirty="0"/>
          </a:p>
          <a:p>
            <a:pPr marL="0" indent="0">
              <a:buFontTx/>
              <a:buNone/>
            </a:pPr>
            <a:r>
              <a:rPr lang="en-US" dirty="0"/>
              <a:t>[diagram: in Java, if we have a Node class with an array of Nodes, we can build any arbitrary graph. the root of the graph is node 1. 1 points to 2, 3, and 4. 2 points to itself. 3 points to 1. 4 points to 5, which points to 1. so we’ve got multiple cycles going on.</a:t>
            </a:r>
          </a:p>
          <a:p>
            <a:pPr marL="0" indent="0">
              <a:buFontTx/>
              <a:buNone/>
            </a:pPr>
            <a:endParaRPr lang="en-US" dirty="0"/>
          </a:p>
          <a:p>
            <a:pPr marL="0" indent="0">
              <a:buFontTx/>
              <a:buNone/>
            </a:pPr>
            <a:r>
              <a:rPr lang="en-US" dirty="0"/>
              <a:t>on the other hand, in Rust, a Box cannot be used to make cycles. we have a Node struct with a </a:t>
            </a:r>
            <a:r>
              <a:rPr lang="en-US" dirty="0" err="1"/>
              <a:t>Vec</a:t>
            </a:r>
            <a:r>
              <a:rPr lang="en-US" dirty="0"/>
              <a:t> of Box Nodes. so, the root is 1, which points to 2, 3, and 4; then 4 points to 5. but that’s it, no cycles.]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36759936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there's a running joke in the Rust community about how the "borrow checker" (the part of the compiler responsible for checking this) is always right, even when you don't think it is. like, they constantly get bug reports about the borrow checker but it's just that the reporter didn't understand the error.</a:t>
            </a:r>
          </a:p>
          <a:p>
            <a:r>
              <a:rPr lang="en-US" dirty="0"/>
              <a:t>	- I have run into it many, many times by now and </a:t>
            </a:r>
            <a:r>
              <a:rPr lang="en-US" i="1" dirty="0"/>
              <a:t>every single time, </a:t>
            </a:r>
            <a:r>
              <a:rPr lang="en-US" i="0" dirty="0"/>
              <a:t>the borrow checker was preventing me from fucking up, sometimes in </a:t>
            </a:r>
            <a:r>
              <a:rPr lang="en-US" i="1" dirty="0"/>
              <a:t>really</a:t>
            </a:r>
            <a:r>
              <a:rPr lang="en-US" i="0" dirty="0"/>
              <a:t> subtle ways that I never anticipated, and then I look back and go "oh, wow… whew"</a:t>
            </a:r>
          </a:p>
          <a:p>
            <a:r>
              <a:rPr lang="en-US" i="0" dirty="0"/>
              <a:t>	- it's kind of eerie how well it works</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2811429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borne from my own experience implementing the compiler in past semesters. the information about “what kind of symbol” it is, whether it’s global or local, whether it’s built-in (for the standard library) or user-defined etc. </a:t>
            </a:r>
            <a:r>
              <a:rPr lang="en-US" i="1" dirty="0"/>
              <a:t>could</a:t>
            </a:r>
            <a:r>
              <a:rPr lang="en-US" i="0" dirty="0"/>
              <a:t> be extracted from the declaration AST nodes every time you need it, but it’s just a waste of time. </a:t>
            </a:r>
            <a:endParaRPr lang="en-US" dirty="0"/>
          </a:p>
          <a:p>
            <a:endParaRPr lang="en-US" dirty="0"/>
          </a:p>
          <a:p>
            <a:r>
              <a:rPr lang="en-US" dirty="0"/>
              <a:t>[diagram: the class A example code we’ve been looking at all lecture. there is now a list of symbols, where each has an ID number; the ID of the AST node that declared it; the ID of the scope it appears in; its name; its kind; and possibly other info.]</a:t>
            </a:r>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13016196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[diagram: a vector (array) of scopes. index 0 is the global scope. it has no parent, and one child, scope 1. scope 1 is A’s scope; its parent is scope 0 (the </a:t>
            </a:r>
            <a:r>
              <a:rPr lang="en-US" i="0" dirty="0" err="1"/>
              <a:t>globals</a:t>
            </a:r>
            <a:r>
              <a:rPr lang="en-US" i="0" dirty="0"/>
              <a:t>), and it has two children, scopes 2 and 3. (scopes 2 and 3 are not shown in the diagram.) in addition, each scope contains a symbol table which maps from names to the symbol IDs from the previous slide.]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620235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short piece of code that declares a local x and uses it multiple times. the symbol object for the variable x is on the right. the declaration AST node for x points to the symbol it declares, by way of the declaration map. the use map has multiple entries, mapping from each AST node that uses x to that same symbol object. in reality, these maps are maps from AST Node IDs to Symbol IDs, which is a little hard for human brains to understand by just looking at them.]</a:t>
            </a:r>
          </a:p>
        </p:txBody>
      </p:sp>
      <p:sp>
        <p:nvSpPr>
          <p:cNvPr id="4" name="Slide Number Placeholder 3"/>
          <p:cNvSpPr>
            <a:spLocks noGrp="1"/>
          </p:cNvSpPr>
          <p:nvPr>
            <p:ph type="sldNum" sz="quarter" idx="5"/>
          </p:nvPr>
        </p:nvSpPr>
        <p:spPr/>
        <p:txBody>
          <a:bodyPr/>
          <a:lstStyle/>
          <a:p>
            <a:fld id="{999729AB-B77D-48AE-AA10-D1BD2B4D03EA}" type="slidenum">
              <a:rPr lang="en-US" smtClean="0"/>
              <a:pPr/>
              <a:t>27</a:t>
            </a:fld>
            <a:endParaRPr lang="en-US"/>
          </a:p>
        </p:txBody>
      </p:sp>
    </p:spTree>
    <p:extLst>
      <p:ext uri="{BB962C8B-B14F-4D97-AF65-F5344CB8AC3E}">
        <p14:creationId xmlns:p14="http://schemas.microsoft.com/office/powerpoint/2010/main" val="30101295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like to think of it like the AST is a </a:t>
            </a:r>
            <a:r>
              <a:rPr lang="en-US" dirty="0" err="1"/>
              <a:t>christmas</a:t>
            </a:r>
            <a:r>
              <a:rPr lang="en-US" dirty="0"/>
              <a:t> tree and each pass/phase hangs more decorations on it. they make the tree more interesting, but the tree is still there supporting everything.</a:t>
            </a:r>
          </a:p>
          <a:p>
            <a:r>
              <a:rPr lang="en-US" dirty="0"/>
              <a:t>- or you can imagine a pizza crust getting sauce, then cheese, then toppings. UP TO YOU, IT’S JUST A METAPHOR</a:t>
            </a:r>
          </a:p>
          <a:p>
            <a:endParaRPr lang="en-US" dirty="0"/>
          </a:p>
          <a:p>
            <a:r>
              <a:rPr lang="en-US" dirty="0"/>
              <a:t>[diagram: the AST is fed into the name-checking pass, which produces the name context (which contains the symbols, scope tree, declaration map, and use map). that name context is fed along with the AST into the type-checking pass, which produces the type context. eventually, all three of those things will be fed into the code generation pass!]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2838140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Scoping and Naming</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a:t>how’s project 2 coming along (:</a:t>
            </a:r>
          </a:p>
          <a:p>
            <a:endParaRPr lang="en-US" dirty="0"/>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0B43-672E-0542-AD19-C19AEDFC5623}"/>
              </a:ext>
            </a:extLst>
          </p:cNvPr>
          <p:cNvSpPr>
            <a:spLocks noGrp="1"/>
          </p:cNvSpPr>
          <p:nvPr>
            <p:ph type="ctrTitle"/>
          </p:nvPr>
        </p:nvSpPr>
        <p:spPr/>
        <p:txBody>
          <a:bodyPr/>
          <a:lstStyle/>
          <a:p>
            <a:r>
              <a:rPr lang="en-US" dirty="0"/>
              <a:t>Symbol Tables and</a:t>
            </a:r>
            <a:br>
              <a:rPr lang="en-US" dirty="0"/>
            </a:br>
            <a:r>
              <a:rPr lang="en-US" dirty="0"/>
              <a:t>Scope Trees</a:t>
            </a:r>
          </a:p>
        </p:txBody>
      </p:sp>
      <p:sp>
        <p:nvSpPr>
          <p:cNvPr id="3" name="Slide Number Placeholder 2">
            <a:extLst>
              <a:ext uri="{FF2B5EF4-FFF2-40B4-BE49-F238E27FC236}">
                <a16:creationId xmlns:a16="http://schemas.microsoft.com/office/drawing/2014/main" id="{931D7438-85BD-734F-B7DF-F4F25AAA0C52}"/>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34962587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6E6E2-37BB-D446-BA6C-FD44F6B15B40}"/>
              </a:ext>
            </a:extLst>
          </p:cNvPr>
          <p:cNvSpPr>
            <a:spLocks noGrp="1"/>
          </p:cNvSpPr>
          <p:nvPr>
            <p:ph type="title"/>
          </p:nvPr>
        </p:nvSpPr>
        <p:spPr/>
        <p:txBody>
          <a:bodyPr/>
          <a:lstStyle/>
          <a:p>
            <a:r>
              <a:rPr lang="en-US" dirty="0"/>
              <a:t>Scoping it out</a:t>
            </a:r>
          </a:p>
        </p:txBody>
      </p:sp>
      <p:sp>
        <p:nvSpPr>
          <p:cNvPr id="3" name="Content Placeholder 2">
            <a:extLst>
              <a:ext uri="{FF2B5EF4-FFF2-40B4-BE49-F238E27FC236}">
                <a16:creationId xmlns:a16="http://schemas.microsoft.com/office/drawing/2014/main" id="{B56A2BB5-950C-F144-B9B7-738C4182E4E7}"/>
              </a:ext>
            </a:extLst>
          </p:cNvPr>
          <p:cNvSpPr>
            <a:spLocks noGrp="1"/>
          </p:cNvSpPr>
          <p:nvPr>
            <p:ph idx="1"/>
          </p:nvPr>
        </p:nvSpPr>
        <p:spPr/>
        <p:txBody>
          <a:bodyPr/>
          <a:lstStyle/>
          <a:p>
            <a:r>
              <a:rPr lang="en-US" dirty="0"/>
              <a:t>the first phase of semantic analysis is </a:t>
            </a:r>
            <a:r>
              <a:rPr lang="en-US" b="1" dirty="0"/>
              <a:t>name-checking, </a:t>
            </a:r>
            <a:r>
              <a:rPr lang="en-US" dirty="0"/>
              <a:t>which:</a:t>
            </a:r>
          </a:p>
          <a:p>
            <a:pPr lvl="1"/>
            <a:r>
              <a:rPr lang="en-US" b="1" dirty="0"/>
              <a:t>matches names</a:t>
            </a:r>
            <a:r>
              <a:rPr lang="en-US" dirty="0"/>
              <a:t> to the things they refer to; and</a:t>
            </a:r>
          </a:p>
          <a:p>
            <a:pPr lvl="1"/>
            <a:r>
              <a:rPr lang="en-US" b="1" dirty="0"/>
              <a:t>checks for scoping violations.</a:t>
            </a:r>
          </a:p>
          <a:p>
            <a:pPr lvl="2"/>
            <a:r>
              <a:rPr lang="en-US" dirty="0"/>
              <a:t>remember that the </a:t>
            </a:r>
            <a:r>
              <a:rPr lang="en-US" b="1" dirty="0"/>
              <a:t>scope </a:t>
            </a:r>
            <a:r>
              <a:rPr lang="en-US" dirty="0"/>
              <a:t>of a name is </a:t>
            </a:r>
            <a:r>
              <a:rPr lang="en-US" i="1" dirty="0"/>
              <a:t>where</a:t>
            </a:r>
            <a:r>
              <a:rPr lang="en-US" dirty="0"/>
              <a:t> it can be seen.</a:t>
            </a:r>
          </a:p>
          <a:p>
            <a:r>
              <a:rPr lang="en-US" b="1" dirty="0"/>
              <a:t>so how do we </a:t>
            </a:r>
            <a:r>
              <a:rPr lang="en-US" b="1" i="1" dirty="0"/>
              <a:t>do</a:t>
            </a:r>
            <a:r>
              <a:rPr lang="en-US" b="1" dirty="0"/>
              <a:t> this stuff?</a:t>
            </a:r>
          </a:p>
          <a:p>
            <a:pPr lvl="1"/>
            <a:r>
              <a:rPr lang="en-US" dirty="0"/>
              <a:t>well, like many other things we've talked about, it's about </a:t>
            </a:r>
            <a:r>
              <a:rPr lang="en-US" b="1" dirty="0"/>
              <a:t>formalizing our intuition: </a:t>
            </a:r>
            <a:r>
              <a:rPr lang="en-US" dirty="0"/>
              <a:t>taking rules that we kind of know already, and turning them into an algorithm.</a:t>
            </a:r>
          </a:p>
          <a:p>
            <a:r>
              <a:rPr lang="en-US" dirty="0"/>
              <a:t>we also need a </a:t>
            </a:r>
            <a:r>
              <a:rPr lang="en-US" b="1" dirty="0"/>
              <a:t>data structure or two…</a:t>
            </a:r>
          </a:p>
          <a:p>
            <a:pPr lvl="1"/>
            <a:r>
              <a:rPr lang="en-US" dirty="0"/>
              <a:t>we need to remember </a:t>
            </a:r>
            <a:r>
              <a:rPr lang="en-US" b="1" dirty="0"/>
              <a:t>where each name is declared</a:t>
            </a:r>
            <a:endParaRPr lang="en-US" dirty="0"/>
          </a:p>
          <a:p>
            <a:pPr lvl="1"/>
            <a:r>
              <a:rPr lang="en-US" dirty="0"/>
              <a:t>and we need some </a:t>
            </a:r>
            <a:r>
              <a:rPr lang="en-US" b="1" dirty="0"/>
              <a:t>mapping </a:t>
            </a:r>
            <a:r>
              <a:rPr lang="en-US" dirty="0"/>
              <a:t>from names to referents</a:t>
            </a:r>
          </a:p>
          <a:p>
            <a:r>
              <a:rPr lang="en-US" dirty="0"/>
              <a:t>so let’s start with…</a:t>
            </a:r>
          </a:p>
        </p:txBody>
      </p:sp>
      <p:sp>
        <p:nvSpPr>
          <p:cNvPr id="4" name="Slide Number Placeholder 3">
            <a:extLst>
              <a:ext uri="{FF2B5EF4-FFF2-40B4-BE49-F238E27FC236}">
                <a16:creationId xmlns:a16="http://schemas.microsoft.com/office/drawing/2014/main" id="{61FDEC64-F91B-F044-B797-894D8D678B69}"/>
              </a:ext>
            </a:extLst>
          </p:cNvPr>
          <p:cNvSpPr>
            <a:spLocks noGrp="1"/>
          </p:cNvSpPr>
          <p:nvPr>
            <p:ph type="sldNum" sz="quarter" idx="12"/>
          </p:nvPr>
        </p:nvSpPr>
        <p:spPr/>
        <p:txBody>
          <a:bodyPr/>
          <a:lstStyle/>
          <a:p>
            <a:fld id="{3552B95B-556F-44BD-91A5-D80C1B9E2BB3}" type="slidenum">
              <a:rPr lang="en-US" smtClean="0"/>
              <a:pPr/>
              <a:t>4</a:t>
            </a:fld>
            <a:endParaRPr lang="en-US"/>
          </a:p>
        </p:txBody>
      </p:sp>
    </p:spTree>
    <p:extLst>
      <p:ext uri="{BB962C8B-B14F-4D97-AF65-F5344CB8AC3E}">
        <p14:creationId xmlns:p14="http://schemas.microsoft.com/office/powerpoint/2010/main" val="153958772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8909-165D-E042-B968-3D6F4DED82F0}"/>
              </a:ext>
            </a:extLst>
          </p:cNvPr>
          <p:cNvSpPr>
            <a:spLocks noGrp="1"/>
          </p:cNvSpPr>
          <p:nvPr>
            <p:ph type="title"/>
          </p:nvPr>
        </p:nvSpPr>
        <p:spPr/>
        <p:txBody>
          <a:bodyPr/>
          <a:lstStyle/>
          <a:p>
            <a:r>
              <a:rPr lang="en-US" dirty="0"/>
              <a:t>Symbol tables</a:t>
            </a:r>
          </a:p>
        </p:txBody>
      </p:sp>
      <p:sp>
        <p:nvSpPr>
          <p:cNvPr id="3" name="Content Placeholder 2">
            <a:extLst>
              <a:ext uri="{FF2B5EF4-FFF2-40B4-BE49-F238E27FC236}">
                <a16:creationId xmlns:a16="http://schemas.microsoft.com/office/drawing/2014/main" id="{22A1C202-6176-EA43-B553-94A3343AB534}"/>
              </a:ext>
            </a:extLst>
          </p:cNvPr>
          <p:cNvSpPr>
            <a:spLocks noGrp="1"/>
          </p:cNvSpPr>
          <p:nvPr>
            <p:ph idx="1"/>
          </p:nvPr>
        </p:nvSpPr>
        <p:spPr>
          <a:xfrm>
            <a:off x="152400" y="495301"/>
            <a:ext cx="8991600" cy="1600199"/>
          </a:xfrm>
        </p:spPr>
        <p:txBody>
          <a:bodyPr>
            <a:normAutofit/>
          </a:bodyPr>
          <a:lstStyle/>
          <a:p>
            <a:r>
              <a:rPr lang="en-US" dirty="0"/>
              <a:t>a </a:t>
            </a:r>
            <a:r>
              <a:rPr lang="en-US" b="1" dirty="0"/>
              <a:t>symbol table</a:t>
            </a:r>
            <a:r>
              <a:rPr lang="en-US" dirty="0"/>
              <a:t> maps from names to the "things" they refer to.</a:t>
            </a:r>
          </a:p>
          <a:p>
            <a:pPr lvl="1"/>
            <a:r>
              <a:rPr lang="en-US" b="1" dirty="0"/>
              <a:t>symbol</a:t>
            </a:r>
            <a:r>
              <a:rPr lang="en-US" dirty="0"/>
              <a:t> means </a:t>
            </a:r>
            <a:r>
              <a:rPr lang="en-US" b="1" dirty="0"/>
              <a:t>anything that can have a name: </a:t>
            </a:r>
            <a:r>
              <a:rPr lang="en-US" dirty="0"/>
              <a:t>variables, functions, classes, modules, packages, interfaces, macros, etc. etc.</a:t>
            </a:r>
          </a:p>
          <a:p>
            <a:r>
              <a:rPr lang="en-US" dirty="0"/>
              <a:t>as you declare things, they are added to the symbol table.</a:t>
            </a:r>
          </a:p>
        </p:txBody>
      </p:sp>
      <p:sp>
        <p:nvSpPr>
          <p:cNvPr id="4" name="Slide Number Placeholder 3">
            <a:extLst>
              <a:ext uri="{FF2B5EF4-FFF2-40B4-BE49-F238E27FC236}">
                <a16:creationId xmlns:a16="http://schemas.microsoft.com/office/drawing/2014/main" id="{F97CBBEB-FD7D-4A40-B85D-4E52D13CDBAC}"/>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5" name="TextBox 4">
            <a:extLst>
              <a:ext uri="{FF2B5EF4-FFF2-40B4-BE49-F238E27FC236}">
                <a16:creationId xmlns:a16="http://schemas.microsoft.com/office/drawing/2014/main" id="{03CCC19F-C8BD-9140-8683-7F2117A6D881}"/>
              </a:ext>
            </a:extLst>
          </p:cNvPr>
          <p:cNvSpPr txBox="1"/>
          <p:nvPr/>
        </p:nvSpPr>
        <p:spPr>
          <a:xfrm>
            <a:off x="265269" y="2095500"/>
            <a:ext cx="4382931" cy="3139321"/>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A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static</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static</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main() { </a:t>
            </a:r>
          </a:p>
          <a:p>
            <a:r>
              <a:rPr lang="en-US" sz="2200" b="1" dirty="0">
                <a:latin typeface="Consolas" panose="020B0609020204030204" pitchFamily="49" charset="0"/>
                <a:cs typeface="Consolas" panose="020B0609020204030204" pitchFamily="49" charset="0"/>
              </a:rPr>
              <a:t>    foo(x);</a:t>
            </a:r>
          </a:p>
          <a:p>
            <a:r>
              <a:rPr lang="en-US" sz="2200" b="1" dirty="0">
                <a:latin typeface="Consolas" panose="020B0609020204030204" pitchFamily="49" charset="0"/>
                <a:cs typeface="Consolas" panose="020B0609020204030204" pitchFamily="49" charset="0"/>
              </a:rPr>
              <a:t>  }</a:t>
            </a:r>
          </a:p>
          <a:p>
            <a:r>
              <a:rPr lang="en-US" sz="2200" b="1" dirty="0">
                <a:solidFill>
                  <a:srgbClr val="FF0000"/>
                </a:solidFill>
                <a:latin typeface="Consolas" panose="020B0609020204030204" pitchFamily="49" charset="0"/>
                <a:cs typeface="Consolas" panose="020B0609020204030204" pitchFamily="49" charset="0"/>
              </a:rPr>
              <a:t>  static</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foo(</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y) { </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S.o.println</a:t>
            </a:r>
            <a:r>
              <a:rPr lang="en-US" sz="2200" b="1" dirty="0">
                <a:latin typeface="Consolas" panose="020B0609020204030204" pitchFamily="49" charset="0"/>
                <a:cs typeface="Consolas" panose="020B0609020204030204" pitchFamily="49" charset="0"/>
              </a:rPr>
              <a:t>(y);</a:t>
            </a:r>
          </a:p>
          <a:p>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t>
            </a:r>
          </a:p>
        </p:txBody>
      </p:sp>
      <p:graphicFrame>
        <p:nvGraphicFramePr>
          <p:cNvPr id="6" name="Table 5">
            <a:extLst>
              <a:ext uri="{FF2B5EF4-FFF2-40B4-BE49-F238E27FC236}">
                <a16:creationId xmlns:a16="http://schemas.microsoft.com/office/drawing/2014/main" id="{7912D651-1D87-F647-AEF0-3545005BFE42}"/>
              </a:ext>
            </a:extLst>
          </p:cNvPr>
          <p:cNvGraphicFramePr>
            <a:graphicFrameLocks noGrp="1"/>
          </p:cNvGraphicFramePr>
          <p:nvPr>
            <p:extLst/>
          </p:nvPr>
        </p:nvGraphicFramePr>
        <p:xfrm>
          <a:off x="4800599" y="1993599"/>
          <a:ext cx="3990976" cy="853440"/>
        </p:xfrm>
        <a:graphic>
          <a:graphicData uri="http://schemas.openxmlformats.org/drawingml/2006/table">
            <a:tbl>
              <a:tblPr firstRow="1" bandRow="1">
                <a:tableStyleId>{F5AB1C69-6EDB-4FF4-983F-18BD219EF322}</a:tableStyleId>
              </a:tblPr>
              <a:tblGrid>
                <a:gridCol w="1447801">
                  <a:extLst>
                    <a:ext uri="{9D8B030D-6E8A-4147-A177-3AD203B41FA5}">
                      <a16:colId xmlns:a16="http://schemas.microsoft.com/office/drawing/2014/main" val="2998826347"/>
                    </a:ext>
                  </a:extLst>
                </a:gridCol>
                <a:gridCol w="2543175">
                  <a:extLst>
                    <a:ext uri="{9D8B030D-6E8A-4147-A177-3AD203B41FA5}">
                      <a16:colId xmlns:a16="http://schemas.microsoft.com/office/drawing/2014/main" val="2763207076"/>
                    </a:ext>
                  </a:extLst>
                </a:gridCol>
              </a:tblGrid>
              <a:tr h="370840">
                <a:tc>
                  <a:txBody>
                    <a:bodyPr/>
                    <a:lstStyle/>
                    <a:p>
                      <a:pPr algn="ctr"/>
                      <a:r>
                        <a:rPr lang="en-US" sz="2200" dirty="0"/>
                        <a:t>Name</a:t>
                      </a:r>
                    </a:p>
                  </a:txBody>
                  <a:tcPr/>
                </a:tc>
                <a:tc>
                  <a:txBody>
                    <a:bodyPr/>
                    <a:lstStyle/>
                    <a:p>
                      <a:pPr algn="ctr"/>
                      <a:r>
                        <a:rPr lang="en-US" sz="2200" dirty="0"/>
                        <a:t>Referent</a:t>
                      </a:r>
                    </a:p>
                  </a:txBody>
                  <a:tcPr/>
                </a:tc>
                <a:extLst>
                  <a:ext uri="{0D108BD9-81ED-4DB2-BD59-A6C34878D82A}">
                    <a16:rowId xmlns:a16="http://schemas.microsoft.com/office/drawing/2014/main" val="3806745494"/>
                  </a:ext>
                </a:extLst>
              </a:tr>
              <a:tr h="381301">
                <a:tc>
                  <a:txBody>
                    <a:bodyPr/>
                    <a:lstStyle/>
                    <a:p>
                      <a:pPr algn="ctr"/>
                      <a:r>
                        <a:rPr lang="en-US" sz="2200" b="1" dirty="0">
                          <a:solidFill>
                            <a:schemeClr val="accent6">
                              <a:lumMod val="75000"/>
                            </a:schemeClr>
                          </a:solidFill>
                          <a:latin typeface="Consolas" panose="020B0609020204030204" pitchFamily="49" charset="0"/>
                          <a:cs typeface="Consolas" panose="020B0609020204030204" pitchFamily="49" charset="0"/>
                        </a:rPr>
                        <a:t>"A"</a:t>
                      </a:r>
                    </a:p>
                  </a:txBody>
                  <a:tcPr/>
                </a:tc>
                <a:tc>
                  <a:txBody>
                    <a:bodyPr/>
                    <a:lstStyle/>
                    <a:p>
                      <a:pPr algn="ctr"/>
                      <a:r>
                        <a:rPr lang="en-US" sz="2200" b="1" dirty="0">
                          <a:latin typeface="Consolas" panose="020B0609020204030204" pitchFamily="49" charset="0"/>
                          <a:cs typeface="Consolas" panose="020B0609020204030204" pitchFamily="49" charset="0"/>
                        </a:rPr>
                        <a:t>&lt;</a:t>
                      </a:r>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A&gt;</a:t>
                      </a:r>
                    </a:p>
                  </a:txBody>
                  <a:tcPr/>
                </a:tc>
                <a:extLst>
                  <a:ext uri="{0D108BD9-81ED-4DB2-BD59-A6C34878D82A}">
                    <a16:rowId xmlns:a16="http://schemas.microsoft.com/office/drawing/2014/main" val="900998081"/>
                  </a:ext>
                </a:extLst>
              </a:tr>
            </a:tbl>
          </a:graphicData>
        </a:graphic>
      </p:graphicFrame>
      <p:graphicFrame>
        <p:nvGraphicFramePr>
          <p:cNvPr id="7" name="Table 6">
            <a:extLst>
              <a:ext uri="{FF2B5EF4-FFF2-40B4-BE49-F238E27FC236}">
                <a16:creationId xmlns:a16="http://schemas.microsoft.com/office/drawing/2014/main" id="{5D1D232D-41AD-2D48-BBA7-C120F382FBFA}"/>
              </a:ext>
            </a:extLst>
          </p:cNvPr>
          <p:cNvGraphicFramePr>
            <a:graphicFrameLocks noGrp="1"/>
          </p:cNvGraphicFramePr>
          <p:nvPr>
            <p:extLst/>
          </p:nvPr>
        </p:nvGraphicFramePr>
        <p:xfrm>
          <a:off x="4800599" y="2843759"/>
          <a:ext cx="3990976" cy="426720"/>
        </p:xfrm>
        <a:graphic>
          <a:graphicData uri="http://schemas.openxmlformats.org/drawingml/2006/table">
            <a:tbl>
              <a:tblPr bandRow="1">
                <a:tableStyleId>{F5AB1C69-6EDB-4FF4-983F-18BD219EF322}</a:tableStyleId>
              </a:tblPr>
              <a:tblGrid>
                <a:gridCol w="1447801">
                  <a:extLst>
                    <a:ext uri="{9D8B030D-6E8A-4147-A177-3AD203B41FA5}">
                      <a16:colId xmlns:a16="http://schemas.microsoft.com/office/drawing/2014/main" val="2998826347"/>
                    </a:ext>
                  </a:extLst>
                </a:gridCol>
                <a:gridCol w="2543175">
                  <a:extLst>
                    <a:ext uri="{9D8B030D-6E8A-4147-A177-3AD203B41FA5}">
                      <a16:colId xmlns:a16="http://schemas.microsoft.com/office/drawing/2014/main" val="2763207076"/>
                    </a:ext>
                  </a:extLst>
                </a:gridCol>
              </a:tblGrid>
              <a:tr h="381301">
                <a:tc>
                  <a:txBody>
                    <a:bodyPr/>
                    <a:lstStyle/>
                    <a:p>
                      <a:pPr algn="ctr"/>
                      <a:r>
                        <a:rPr lang="en-US" sz="2200" b="1" dirty="0">
                          <a:solidFill>
                            <a:schemeClr val="accent6">
                              <a:lumMod val="75000"/>
                            </a:schemeClr>
                          </a:solidFill>
                          <a:latin typeface="Consolas" panose="020B0609020204030204" pitchFamily="49" charset="0"/>
                          <a:cs typeface="Consolas" panose="020B0609020204030204" pitchFamily="49" charset="0"/>
                        </a:rPr>
                        <a:t>"x"</a:t>
                      </a:r>
                    </a:p>
                  </a:txBody>
                  <a:tcPr/>
                </a:tc>
                <a:tc>
                  <a:txBody>
                    <a:bodyPr/>
                    <a:lstStyle/>
                    <a:p>
                      <a:pPr algn="ctr"/>
                      <a:r>
                        <a:rPr lang="en-US" sz="2200" b="1" dirty="0">
                          <a:latin typeface="Consolas" panose="020B0609020204030204" pitchFamily="49" charset="0"/>
                          <a:cs typeface="Consolas" panose="020B0609020204030204" pitchFamily="49" charset="0"/>
                        </a:rPr>
                        <a:t>&lt;</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x&gt;</a:t>
                      </a:r>
                    </a:p>
                  </a:txBody>
                  <a:tcPr/>
                </a:tc>
                <a:extLst>
                  <a:ext uri="{0D108BD9-81ED-4DB2-BD59-A6C34878D82A}">
                    <a16:rowId xmlns:a16="http://schemas.microsoft.com/office/drawing/2014/main" val="900998081"/>
                  </a:ext>
                </a:extLst>
              </a:tr>
            </a:tbl>
          </a:graphicData>
        </a:graphic>
      </p:graphicFrame>
      <p:graphicFrame>
        <p:nvGraphicFramePr>
          <p:cNvPr id="8" name="Table 7">
            <a:extLst>
              <a:ext uri="{FF2B5EF4-FFF2-40B4-BE49-F238E27FC236}">
                <a16:creationId xmlns:a16="http://schemas.microsoft.com/office/drawing/2014/main" id="{9E35C56A-8633-9D47-A0C7-FB7F03D6B913}"/>
              </a:ext>
            </a:extLst>
          </p:cNvPr>
          <p:cNvGraphicFramePr>
            <a:graphicFrameLocks noGrp="1"/>
          </p:cNvGraphicFramePr>
          <p:nvPr>
            <p:extLst/>
          </p:nvPr>
        </p:nvGraphicFramePr>
        <p:xfrm>
          <a:off x="4800599" y="3274229"/>
          <a:ext cx="3990976" cy="426720"/>
        </p:xfrm>
        <a:graphic>
          <a:graphicData uri="http://schemas.openxmlformats.org/drawingml/2006/table">
            <a:tbl>
              <a:tblPr bandRow="1">
                <a:tableStyleId>{F5AB1C69-6EDB-4FF4-983F-18BD219EF322}</a:tableStyleId>
              </a:tblPr>
              <a:tblGrid>
                <a:gridCol w="1447801">
                  <a:extLst>
                    <a:ext uri="{9D8B030D-6E8A-4147-A177-3AD203B41FA5}">
                      <a16:colId xmlns:a16="http://schemas.microsoft.com/office/drawing/2014/main" val="2998826347"/>
                    </a:ext>
                  </a:extLst>
                </a:gridCol>
                <a:gridCol w="2543175">
                  <a:extLst>
                    <a:ext uri="{9D8B030D-6E8A-4147-A177-3AD203B41FA5}">
                      <a16:colId xmlns:a16="http://schemas.microsoft.com/office/drawing/2014/main" val="2763207076"/>
                    </a:ext>
                  </a:extLst>
                </a:gridCol>
              </a:tblGrid>
              <a:tr h="381301">
                <a:tc>
                  <a:txBody>
                    <a:bodyPr/>
                    <a:lstStyle/>
                    <a:p>
                      <a:pPr algn="ctr"/>
                      <a:r>
                        <a:rPr lang="en-US" sz="2200" b="1" dirty="0">
                          <a:solidFill>
                            <a:schemeClr val="accent6">
                              <a:lumMod val="75000"/>
                            </a:schemeClr>
                          </a:solidFill>
                          <a:latin typeface="Consolas" panose="020B0609020204030204" pitchFamily="49" charset="0"/>
                          <a:cs typeface="Consolas" panose="020B0609020204030204" pitchFamily="49" charset="0"/>
                        </a:rPr>
                        <a:t>"main"</a:t>
                      </a:r>
                    </a:p>
                  </a:txBody>
                  <a:tcPr/>
                </a:tc>
                <a:tc>
                  <a:txBody>
                    <a:bodyPr/>
                    <a:lstStyle/>
                    <a:p>
                      <a:pPr algn="ctr"/>
                      <a:r>
                        <a:rPr lang="en-US" sz="2200" b="1" dirty="0">
                          <a:latin typeface="Consolas" panose="020B0609020204030204" pitchFamily="49" charset="0"/>
                          <a:cs typeface="Consolas" panose="020B0609020204030204" pitchFamily="49" charset="0"/>
                        </a:rPr>
                        <a:t>&lt;</a:t>
                      </a:r>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main()&gt;</a:t>
                      </a:r>
                    </a:p>
                  </a:txBody>
                  <a:tcPr/>
                </a:tc>
                <a:extLst>
                  <a:ext uri="{0D108BD9-81ED-4DB2-BD59-A6C34878D82A}">
                    <a16:rowId xmlns:a16="http://schemas.microsoft.com/office/drawing/2014/main" val="900998081"/>
                  </a:ext>
                </a:extLst>
              </a:tr>
            </a:tbl>
          </a:graphicData>
        </a:graphic>
      </p:graphicFrame>
      <p:graphicFrame>
        <p:nvGraphicFramePr>
          <p:cNvPr id="9" name="Table 8">
            <a:extLst>
              <a:ext uri="{FF2B5EF4-FFF2-40B4-BE49-F238E27FC236}">
                <a16:creationId xmlns:a16="http://schemas.microsoft.com/office/drawing/2014/main" id="{0F2D975B-1936-4140-8DEB-88CE2395FBD2}"/>
              </a:ext>
            </a:extLst>
          </p:cNvPr>
          <p:cNvGraphicFramePr>
            <a:graphicFrameLocks noGrp="1"/>
          </p:cNvGraphicFramePr>
          <p:nvPr>
            <p:extLst/>
          </p:nvPr>
        </p:nvGraphicFramePr>
        <p:xfrm>
          <a:off x="4800599" y="3700949"/>
          <a:ext cx="3990976" cy="426720"/>
        </p:xfrm>
        <a:graphic>
          <a:graphicData uri="http://schemas.openxmlformats.org/drawingml/2006/table">
            <a:tbl>
              <a:tblPr bandRow="1">
                <a:tableStyleId>{F5AB1C69-6EDB-4FF4-983F-18BD219EF322}</a:tableStyleId>
              </a:tblPr>
              <a:tblGrid>
                <a:gridCol w="1447801">
                  <a:extLst>
                    <a:ext uri="{9D8B030D-6E8A-4147-A177-3AD203B41FA5}">
                      <a16:colId xmlns:a16="http://schemas.microsoft.com/office/drawing/2014/main" val="2998826347"/>
                    </a:ext>
                  </a:extLst>
                </a:gridCol>
                <a:gridCol w="2543175">
                  <a:extLst>
                    <a:ext uri="{9D8B030D-6E8A-4147-A177-3AD203B41FA5}">
                      <a16:colId xmlns:a16="http://schemas.microsoft.com/office/drawing/2014/main" val="2763207076"/>
                    </a:ext>
                  </a:extLst>
                </a:gridCol>
              </a:tblGrid>
              <a:tr h="381301">
                <a:tc>
                  <a:txBody>
                    <a:bodyPr/>
                    <a:lstStyle/>
                    <a:p>
                      <a:pPr algn="ctr"/>
                      <a:r>
                        <a:rPr lang="en-US" sz="2200" b="1" dirty="0">
                          <a:solidFill>
                            <a:schemeClr val="accent6">
                              <a:lumMod val="75000"/>
                            </a:schemeClr>
                          </a:solidFill>
                          <a:latin typeface="Consolas" panose="020B0609020204030204" pitchFamily="49" charset="0"/>
                          <a:cs typeface="Consolas" panose="020B0609020204030204" pitchFamily="49" charset="0"/>
                        </a:rPr>
                        <a:t>"foo"</a:t>
                      </a:r>
                    </a:p>
                  </a:txBody>
                  <a:tcPr/>
                </a:tc>
                <a:tc>
                  <a:txBody>
                    <a:bodyPr/>
                    <a:lstStyle/>
                    <a:p>
                      <a:pPr algn="ctr"/>
                      <a:r>
                        <a:rPr lang="en-US" sz="2200" b="1" dirty="0">
                          <a:latin typeface="Consolas" panose="020B0609020204030204" pitchFamily="49" charset="0"/>
                          <a:cs typeface="Consolas" panose="020B0609020204030204" pitchFamily="49" charset="0"/>
                        </a:rPr>
                        <a:t>&lt;</a:t>
                      </a:r>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foo()&gt;</a:t>
                      </a:r>
                    </a:p>
                  </a:txBody>
                  <a:tcPr/>
                </a:tc>
                <a:extLst>
                  <a:ext uri="{0D108BD9-81ED-4DB2-BD59-A6C34878D82A}">
                    <a16:rowId xmlns:a16="http://schemas.microsoft.com/office/drawing/2014/main" val="900998081"/>
                  </a:ext>
                </a:extLst>
              </a:tr>
            </a:tbl>
          </a:graphicData>
        </a:graphic>
      </p:graphicFrame>
      <p:graphicFrame>
        <p:nvGraphicFramePr>
          <p:cNvPr id="10" name="Table 9">
            <a:extLst>
              <a:ext uri="{FF2B5EF4-FFF2-40B4-BE49-F238E27FC236}">
                <a16:creationId xmlns:a16="http://schemas.microsoft.com/office/drawing/2014/main" id="{929B849B-C53E-3649-B767-C75D3A806612}"/>
              </a:ext>
            </a:extLst>
          </p:cNvPr>
          <p:cNvGraphicFramePr>
            <a:graphicFrameLocks noGrp="1"/>
          </p:cNvGraphicFramePr>
          <p:nvPr>
            <p:extLst/>
          </p:nvPr>
        </p:nvGraphicFramePr>
        <p:xfrm>
          <a:off x="4800599" y="4127669"/>
          <a:ext cx="3990976" cy="426720"/>
        </p:xfrm>
        <a:graphic>
          <a:graphicData uri="http://schemas.openxmlformats.org/drawingml/2006/table">
            <a:tbl>
              <a:tblPr bandRow="1">
                <a:tableStyleId>{F5AB1C69-6EDB-4FF4-983F-18BD219EF322}</a:tableStyleId>
              </a:tblPr>
              <a:tblGrid>
                <a:gridCol w="1447801">
                  <a:extLst>
                    <a:ext uri="{9D8B030D-6E8A-4147-A177-3AD203B41FA5}">
                      <a16:colId xmlns:a16="http://schemas.microsoft.com/office/drawing/2014/main" val="2998826347"/>
                    </a:ext>
                  </a:extLst>
                </a:gridCol>
                <a:gridCol w="2543175">
                  <a:extLst>
                    <a:ext uri="{9D8B030D-6E8A-4147-A177-3AD203B41FA5}">
                      <a16:colId xmlns:a16="http://schemas.microsoft.com/office/drawing/2014/main" val="2763207076"/>
                    </a:ext>
                  </a:extLst>
                </a:gridCol>
              </a:tblGrid>
              <a:tr h="381301">
                <a:tc>
                  <a:txBody>
                    <a:bodyPr/>
                    <a:lstStyle/>
                    <a:p>
                      <a:pPr algn="ctr"/>
                      <a:r>
                        <a:rPr lang="en-US" sz="2200" b="1" dirty="0">
                          <a:solidFill>
                            <a:schemeClr val="accent6">
                              <a:lumMod val="75000"/>
                            </a:schemeClr>
                          </a:solidFill>
                          <a:latin typeface="Consolas" panose="020B0609020204030204" pitchFamily="49" charset="0"/>
                          <a:cs typeface="Consolas" panose="020B0609020204030204" pitchFamily="49" charset="0"/>
                        </a:rPr>
                        <a:t>"y"</a:t>
                      </a:r>
                    </a:p>
                  </a:txBody>
                  <a:tcPr/>
                </a:tc>
                <a:tc>
                  <a:txBody>
                    <a:bodyPr/>
                    <a:lstStyle/>
                    <a:p>
                      <a:pPr algn="ctr"/>
                      <a:r>
                        <a:rPr lang="en-US" sz="2200" b="1" dirty="0">
                          <a:latin typeface="Consolas" panose="020B0609020204030204" pitchFamily="49" charset="0"/>
                          <a:cs typeface="Consolas" panose="020B0609020204030204" pitchFamily="49" charset="0"/>
                        </a:rPr>
                        <a:t>&lt;</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y&gt;</a:t>
                      </a:r>
                    </a:p>
                  </a:txBody>
                  <a:tcPr/>
                </a:tc>
                <a:extLst>
                  <a:ext uri="{0D108BD9-81ED-4DB2-BD59-A6C34878D82A}">
                    <a16:rowId xmlns:a16="http://schemas.microsoft.com/office/drawing/2014/main" val="900998081"/>
                  </a:ext>
                </a:extLst>
              </a:tr>
            </a:tbl>
          </a:graphicData>
        </a:graphic>
      </p:graphicFrame>
      <p:sp>
        <p:nvSpPr>
          <p:cNvPr id="11" name="Rounded Rectangle 10">
            <a:extLst>
              <a:ext uri="{FF2B5EF4-FFF2-40B4-BE49-F238E27FC236}">
                <a16:creationId xmlns:a16="http://schemas.microsoft.com/office/drawing/2014/main" id="{146022AA-F213-AF4E-87E8-5F9DDDF82A84}"/>
              </a:ext>
            </a:extLst>
          </p:cNvPr>
          <p:cNvSpPr/>
          <p:nvPr/>
        </p:nvSpPr>
        <p:spPr>
          <a:xfrm>
            <a:off x="1162050" y="2118072"/>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1881F905-5A32-EA42-B6C1-74B33D535512}"/>
              </a:ext>
            </a:extLst>
          </p:cNvPr>
          <p:cNvSpPr/>
          <p:nvPr/>
        </p:nvSpPr>
        <p:spPr>
          <a:xfrm>
            <a:off x="2238375" y="2460972"/>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6975D045-2E3E-BD4C-B665-0F298E9733E4}"/>
              </a:ext>
            </a:extLst>
          </p:cNvPr>
          <p:cNvSpPr/>
          <p:nvPr/>
        </p:nvSpPr>
        <p:spPr>
          <a:xfrm>
            <a:off x="2419350" y="2792276"/>
            <a:ext cx="762000"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BCA98B82-2A93-8C44-A8C8-10D914FC6107}"/>
              </a:ext>
            </a:extLst>
          </p:cNvPr>
          <p:cNvSpPr/>
          <p:nvPr/>
        </p:nvSpPr>
        <p:spPr>
          <a:xfrm>
            <a:off x="2494723" y="3783705"/>
            <a:ext cx="516834"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A28A6C86-290C-0241-8B36-C0283C375288}"/>
              </a:ext>
            </a:extLst>
          </p:cNvPr>
          <p:cNvSpPr/>
          <p:nvPr/>
        </p:nvSpPr>
        <p:spPr>
          <a:xfrm>
            <a:off x="3609975" y="3783705"/>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56407E7-4B95-1547-ABD9-57D722B0C67A}"/>
              </a:ext>
            </a:extLst>
          </p:cNvPr>
          <p:cNvSpPr txBox="1"/>
          <p:nvPr/>
        </p:nvSpPr>
        <p:spPr>
          <a:xfrm>
            <a:off x="1162050" y="4866490"/>
            <a:ext cx="7629525" cy="430887"/>
          </a:xfrm>
          <a:prstGeom prst="rect">
            <a:avLst/>
          </a:prstGeom>
          <a:noFill/>
        </p:spPr>
        <p:txBody>
          <a:bodyPr wrap="square" rtlCol="0">
            <a:spAutoFit/>
          </a:bodyPr>
          <a:lstStyle/>
          <a:p>
            <a:pPr algn="ctr"/>
            <a:r>
              <a:rPr lang="en-US" sz="2200" dirty="0"/>
              <a:t>but you can't see </a:t>
            </a:r>
            <a:r>
              <a:rPr lang="en-US" sz="2200" b="1" dirty="0"/>
              <a:t>y</a:t>
            </a:r>
            <a:r>
              <a:rPr lang="en-US" sz="2200" dirty="0"/>
              <a:t> from </a:t>
            </a:r>
            <a:r>
              <a:rPr lang="en-US" sz="2200" b="1" dirty="0"/>
              <a:t>main</a:t>
            </a:r>
            <a:r>
              <a:rPr lang="en-US" sz="2200" dirty="0"/>
              <a:t>… so should it be in this table?</a:t>
            </a:r>
          </a:p>
        </p:txBody>
      </p:sp>
    </p:spTree>
    <p:extLst>
      <p:ext uri="{BB962C8B-B14F-4D97-AF65-F5344CB8AC3E}">
        <p14:creationId xmlns:p14="http://schemas.microsoft.com/office/powerpoint/2010/main" val="33829771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2" grpId="0" animBg="1"/>
      <p:bldP spid="13" grpId="0" animBg="1"/>
      <p:bldP spid="14" grpId="0" animBg="1"/>
      <p:bldP spid="16" grpId="0" animBg="1"/>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F81C5-7C5B-754F-95D0-7534A65BEB77}"/>
              </a:ext>
            </a:extLst>
          </p:cNvPr>
          <p:cNvSpPr>
            <a:spLocks noGrp="1"/>
          </p:cNvSpPr>
          <p:nvPr>
            <p:ph type="title"/>
          </p:nvPr>
        </p:nvSpPr>
        <p:spPr/>
        <p:txBody>
          <a:bodyPr/>
          <a:lstStyle/>
          <a:p>
            <a:r>
              <a:rPr lang="en-US" dirty="0"/>
              <a:t>Instead of ONE symbol table…</a:t>
            </a:r>
          </a:p>
        </p:txBody>
      </p:sp>
      <p:sp>
        <p:nvSpPr>
          <p:cNvPr id="3" name="Content Placeholder 2">
            <a:extLst>
              <a:ext uri="{FF2B5EF4-FFF2-40B4-BE49-F238E27FC236}">
                <a16:creationId xmlns:a16="http://schemas.microsoft.com/office/drawing/2014/main" id="{EE843830-FD81-A742-B87F-44724DBECC81}"/>
              </a:ext>
            </a:extLst>
          </p:cNvPr>
          <p:cNvSpPr>
            <a:spLocks noGrp="1"/>
          </p:cNvSpPr>
          <p:nvPr>
            <p:ph idx="1"/>
          </p:nvPr>
        </p:nvSpPr>
        <p:spPr>
          <a:xfrm>
            <a:off x="152400" y="495301"/>
            <a:ext cx="8991600" cy="505353"/>
          </a:xfrm>
        </p:spPr>
        <p:txBody>
          <a:bodyPr/>
          <a:lstStyle/>
          <a:p>
            <a:r>
              <a:rPr lang="en-US" dirty="0"/>
              <a:t>we </a:t>
            </a:r>
            <a:r>
              <a:rPr lang="en-US" b="1" dirty="0"/>
              <a:t>nest </a:t>
            </a:r>
            <a:r>
              <a:rPr lang="en-US" dirty="0"/>
              <a:t>the symbol tables in a tree. there's one for each scope.</a:t>
            </a:r>
          </a:p>
        </p:txBody>
      </p:sp>
      <p:sp>
        <p:nvSpPr>
          <p:cNvPr id="4" name="Slide Number Placeholder 3">
            <a:extLst>
              <a:ext uri="{FF2B5EF4-FFF2-40B4-BE49-F238E27FC236}">
                <a16:creationId xmlns:a16="http://schemas.microsoft.com/office/drawing/2014/main" id="{CDB90311-36F2-E041-BD3A-5C2BD98FBBF7}"/>
              </a:ext>
            </a:extLst>
          </p:cNvPr>
          <p:cNvSpPr>
            <a:spLocks noGrp="1"/>
          </p:cNvSpPr>
          <p:nvPr>
            <p:ph type="sldNum" sz="quarter" idx="12"/>
          </p:nvPr>
        </p:nvSpPr>
        <p:spPr/>
        <p:txBody>
          <a:bodyPr/>
          <a:lstStyle/>
          <a:p>
            <a:fld id="{3552B95B-556F-44BD-91A5-D80C1B9E2BB3}" type="slidenum">
              <a:rPr lang="en-US" smtClean="0"/>
              <a:pPr/>
              <a:t>6</a:t>
            </a:fld>
            <a:endParaRPr lang="en-US"/>
          </a:p>
        </p:txBody>
      </p:sp>
      <p:sp>
        <p:nvSpPr>
          <p:cNvPr id="10" name="Rounded Rectangle 9">
            <a:extLst>
              <a:ext uri="{FF2B5EF4-FFF2-40B4-BE49-F238E27FC236}">
                <a16:creationId xmlns:a16="http://schemas.microsoft.com/office/drawing/2014/main" id="{76178670-1F7C-E749-99A3-E9BF9B469EC8}"/>
              </a:ext>
            </a:extLst>
          </p:cNvPr>
          <p:cNvSpPr/>
          <p:nvPr/>
        </p:nvSpPr>
        <p:spPr>
          <a:xfrm>
            <a:off x="228600" y="1000654"/>
            <a:ext cx="4800600" cy="4296305"/>
          </a:xfrm>
          <a:prstGeom prst="roundRect">
            <a:avLst>
              <a:gd name="adj" fmla="val 2178"/>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5C43E02C-18C7-4640-8852-FF61615A24C1}"/>
              </a:ext>
            </a:extLst>
          </p:cNvPr>
          <p:cNvSpPr/>
          <p:nvPr/>
        </p:nvSpPr>
        <p:spPr>
          <a:xfrm>
            <a:off x="542925" y="1733550"/>
            <a:ext cx="4181475" cy="2952750"/>
          </a:xfrm>
          <a:prstGeom prst="roundRect">
            <a:avLst>
              <a:gd name="adj" fmla="val 217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27BDD3D-6ABA-1741-8127-B5F65414DD37}"/>
              </a:ext>
            </a:extLst>
          </p:cNvPr>
          <p:cNvSpPr/>
          <p:nvPr/>
        </p:nvSpPr>
        <p:spPr>
          <a:xfrm>
            <a:off x="914399" y="2552700"/>
            <a:ext cx="3581401" cy="457198"/>
          </a:xfrm>
          <a:prstGeom prst="roundRect">
            <a:avLst>
              <a:gd name="adj" fmla="val 2178"/>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48707C2-3F25-6A42-8722-4A5EB5CB9F3E}"/>
              </a:ext>
            </a:extLst>
          </p:cNvPr>
          <p:cNvSpPr/>
          <p:nvPr/>
        </p:nvSpPr>
        <p:spPr>
          <a:xfrm>
            <a:off x="914398" y="3790947"/>
            <a:ext cx="3581401" cy="457198"/>
          </a:xfrm>
          <a:prstGeom prst="roundRect">
            <a:avLst>
              <a:gd name="adj" fmla="val 2178"/>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2916784-0544-3542-9F26-EED81DD5F34C}"/>
              </a:ext>
            </a:extLst>
          </p:cNvPr>
          <p:cNvSpPr txBox="1"/>
          <p:nvPr/>
        </p:nvSpPr>
        <p:spPr>
          <a:xfrm>
            <a:off x="437434" y="1333500"/>
            <a:ext cx="4382931" cy="3754874"/>
          </a:xfrm>
          <a:prstGeom prst="rect">
            <a:avLst/>
          </a:prstGeom>
          <a:noFill/>
        </p:spPr>
        <p:txBody>
          <a:bodyPr wrap="none" rtlCol="0">
            <a:spAutoFit/>
          </a:bodyPr>
          <a:lstStyle/>
          <a:p>
            <a:pPr>
              <a:spcAft>
                <a:spcPts val="600"/>
              </a:spcAft>
            </a:pPr>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A {</a:t>
            </a:r>
          </a:p>
          <a:p>
            <a:pPr>
              <a:spcAft>
                <a:spcPts val="600"/>
              </a:spcAft>
            </a:pP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static</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 </a:t>
            </a:r>
          </a:p>
          <a:p>
            <a:pPr>
              <a:spcAft>
                <a:spcPts val="600"/>
              </a:spcAft>
            </a:pP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static</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main() { </a:t>
            </a:r>
          </a:p>
          <a:p>
            <a:pPr>
              <a:spcAft>
                <a:spcPts val="600"/>
              </a:spcAft>
            </a:pPr>
            <a:r>
              <a:rPr lang="en-US" sz="2200" b="1" dirty="0">
                <a:latin typeface="Consolas" panose="020B0609020204030204" pitchFamily="49" charset="0"/>
                <a:cs typeface="Consolas" panose="020B0609020204030204" pitchFamily="49" charset="0"/>
              </a:rPr>
              <a:t>    foo(x);</a:t>
            </a:r>
          </a:p>
          <a:p>
            <a:pPr>
              <a:spcAft>
                <a:spcPts val="600"/>
              </a:spcAft>
            </a:pPr>
            <a:r>
              <a:rPr lang="en-US" sz="2200" b="1" dirty="0">
                <a:latin typeface="Consolas" panose="020B0609020204030204" pitchFamily="49" charset="0"/>
                <a:cs typeface="Consolas" panose="020B0609020204030204" pitchFamily="49" charset="0"/>
              </a:rPr>
              <a:t>  }</a:t>
            </a:r>
          </a:p>
          <a:p>
            <a:pPr>
              <a:spcAft>
                <a:spcPts val="600"/>
              </a:spcAft>
            </a:pPr>
            <a:r>
              <a:rPr lang="en-US" sz="2200" b="1" dirty="0">
                <a:solidFill>
                  <a:srgbClr val="FF0000"/>
                </a:solidFill>
                <a:latin typeface="Consolas" panose="020B0609020204030204" pitchFamily="49" charset="0"/>
                <a:cs typeface="Consolas" panose="020B0609020204030204" pitchFamily="49" charset="0"/>
              </a:rPr>
              <a:t>  static</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foo(</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y) { </a:t>
            </a:r>
          </a:p>
          <a:p>
            <a:pPr>
              <a:spcAft>
                <a:spcPts val="600"/>
              </a:spcAft>
            </a:pP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S.o.println</a:t>
            </a:r>
            <a:r>
              <a:rPr lang="en-US" sz="2200" b="1" dirty="0">
                <a:latin typeface="Consolas" panose="020B0609020204030204" pitchFamily="49" charset="0"/>
                <a:cs typeface="Consolas" panose="020B0609020204030204" pitchFamily="49" charset="0"/>
              </a:rPr>
              <a:t>(y);</a:t>
            </a:r>
          </a:p>
          <a:p>
            <a:pPr>
              <a:spcAft>
                <a:spcPts val="600"/>
              </a:spcAft>
            </a:pPr>
            <a:r>
              <a:rPr lang="en-US" sz="2200" b="1" dirty="0">
                <a:latin typeface="Consolas" panose="020B0609020204030204" pitchFamily="49" charset="0"/>
                <a:cs typeface="Consolas" panose="020B0609020204030204" pitchFamily="49" charset="0"/>
              </a:rPr>
              <a:t>  }</a:t>
            </a:r>
          </a:p>
          <a:p>
            <a:pPr>
              <a:spcAft>
                <a:spcPts val="600"/>
              </a:spcAft>
            </a:pPr>
            <a:r>
              <a:rPr lang="en-US" sz="2200" b="1" dirty="0">
                <a:latin typeface="Consolas" panose="020B0609020204030204" pitchFamily="49" charset="0"/>
                <a:cs typeface="Consolas" panose="020B0609020204030204" pitchFamily="49" charset="0"/>
              </a:rPr>
              <a:t>}</a:t>
            </a:r>
          </a:p>
        </p:txBody>
      </p:sp>
      <p:sp>
        <p:nvSpPr>
          <p:cNvPr id="11" name="TextBox 10">
            <a:extLst>
              <a:ext uri="{FF2B5EF4-FFF2-40B4-BE49-F238E27FC236}">
                <a16:creationId xmlns:a16="http://schemas.microsoft.com/office/drawing/2014/main" id="{38742B2D-2BFE-744E-987F-CBD6F3F44057}"/>
              </a:ext>
            </a:extLst>
          </p:cNvPr>
          <p:cNvSpPr txBox="1"/>
          <p:nvPr/>
        </p:nvSpPr>
        <p:spPr>
          <a:xfrm>
            <a:off x="5105399" y="1028700"/>
            <a:ext cx="3886202" cy="1107996"/>
          </a:xfrm>
          <a:prstGeom prst="rect">
            <a:avLst/>
          </a:prstGeom>
          <a:noFill/>
        </p:spPr>
        <p:txBody>
          <a:bodyPr wrap="square" rtlCol="0">
            <a:spAutoFit/>
          </a:bodyPr>
          <a:lstStyle/>
          <a:p>
            <a:pPr algn="ctr"/>
            <a:r>
              <a:rPr lang="en-US" sz="2200" dirty="0"/>
              <a:t>this outermost (global) scope is where e.g. </a:t>
            </a:r>
            <a:r>
              <a:rPr lang="en-US" sz="2200" b="1" dirty="0">
                <a:latin typeface="Consolas" panose="020B0609020204030204" pitchFamily="49" charset="0"/>
                <a:cs typeface="Consolas" panose="020B0609020204030204" pitchFamily="49" charset="0"/>
              </a:rPr>
              <a:t>System</a:t>
            </a:r>
            <a:r>
              <a:rPr lang="en-US" sz="2200" dirty="0"/>
              <a:t> lives. </a:t>
            </a:r>
            <a:r>
              <a:rPr lang="en-US" sz="2200" b="1" dirty="0">
                <a:latin typeface="Consolas" panose="020B0609020204030204" pitchFamily="49" charset="0"/>
                <a:cs typeface="Consolas" panose="020B0609020204030204" pitchFamily="49" charset="0"/>
              </a:rPr>
              <a:t>A</a:t>
            </a:r>
            <a:r>
              <a:rPr lang="en-US" sz="2200" dirty="0"/>
              <a:t> is inserted there too.</a:t>
            </a:r>
          </a:p>
        </p:txBody>
      </p:sp>
      <p:sp>
        <p:nvSpPr>
          <p:cNvPr id="12" name="TextBox 11">
            <a:extLst>
              <a:ext uri="{FF2B5EF4-FFF2-40B4-BE49-F238E27FC236}">
                <a16:creationId xmlns:a16="http://schemas.microsoft.com/office/drawing/2014/main" id="{2411C8CC-62FC-3E4A-BFA3-AAE558C0F17E}"/>
              </a:ext>
            </a:extLst>
          </p:cNvPr>
          <p:cNvSpPr txBox="1"/>
          <p:nvPr/>
        </p:nvSpPr>
        <p:spPr>
          <a:xfrm>
            <a:off x="5181600" y="2183341"/>
            <a:ext cx="3733800" cy="1785104"/>
          </a:xfrm>
          <a:prstGeom prst="rect">
            <a:avLst/>
          </a:prstGeom>
          <a:noFill/>
        </p:spPr>
        <p:txBody>
          <a:bodyPr wrap="square" rtlCol="0">
            <a:spAutoFit/>
          </a:bodyPr>
          <a:lstStyle/>
          <a:p>
            <a:pPr algn="ctr"/>
            <a:r>
              <a:rPr lang="en-US" sz="2200" dirty="0"/>
              <a:t>the class </a:t>
            </a:r>
            <a:r>
              <a:rPr lang="en-US" sz="2200" b="1" dirty="0">
                <a:latin typeface="Consolas" panose="020B0609020204030204" pitchFamily="49" charset="0"/>
                <a:cs typeface="Consolas" panose="020B0609020204030204" pitchFamily="49" charset="0"/>
              </a:rPr>
              <a:t>A</a:t>
            </a:r>
            <a:r>
              <a:rPr lang="en-US" sz="2200" dirty="0"/>
              <a:t> gets a scope to hold its members, like its variables and methods. this scope is a </a:t>
            </a:r>
            <a:r>
              <a:rPr lang="en-US" sz="2200" b="1" dirty="0"/>
              <a:t>child </a:t>
            </a:r>
            <a:r>
              <a:rPr lang="en-US" sz="2200" dirty="0"/>
              <a:t>of the global scope.</a:t>
            </a:r>
          </a:p>
        </p:txBody>
      </p:sp>
      <p:sp>
        <p:nvSpPr>
          <p:cNvPr id="13" name="TextBox 12">
            <a:extLst>
              <a:ext uri="{FF2B5EF4-FFF2-40B4-BE49-F238E27FC236}">
                <a16:creationId xmlns:a16="http://schemas.microsoft.com/office/drawing/2014/main" id="{10B4A597-7611-0140-92A8-EBA0D7B1B43B}"/>
              </a:ext>
            </a:extLst>
          </p:cNvPr>
          <p:cNvSpPr txBox="1"/>
          <p:nvPr/>
        </p:nvSpPr>
        <p:spPr>
          <a:xfrm>
            <a:off x="5181600" y="4077047"/>
            <a:ext cx="3733800" cy="1107996"/>
          </a:xfrm>
          <a:prstGeom prst="rect">
            <a:avLst/>
          </a:prstGeom>
          <a:noFill/>
        </p:spPr>
        <p:txBody>
          <a:bodyPr wrap="square" rtlCol="0">
            <a:spAutoFit/>
          </a:bodyPr>
          <a:lstStyle/>
          <a:p>
            <a:pPr algn="ctr"/>
            <a:r>
              <a:rPr lang="en-US" sz="2200" dirty="0"/>
              <a:t>then each method gets its own scope, both of which are </a:t>
            </a:r>
            <a:r>
              <a:rPr lang="en-US" sz="2200" b="1" dirty="0"/>
              <a:t>children</a:t>
            </a:r>
            <a:r>
              <a:rPr lang="en-US" sz="2200" dirty="0"/>
              <a:t> of </a:t>
            </a:r>
            <a:r>
              <a:rPr lang="en-US" sz="2200" b="1" dirty="0">
                <a:latin typeface="Consolas" panose="020B0609020204030204" pitchFamily="49" charset="0"/>
                <a:cs typeface="Consolas" panose="020B0609020204030204" pitchFamily="49" charset="0"/>
              </a:rPr>
              <a:t>A</a:t>
            </a:r>
            <a:r>
              <a:rPr lang="en-US" sz="2200" dirty="0"/>
              <a:t>'s scope.</a:t>
            </a:r>
          </a:p>
        </p:txBody>
      </p:sp>
    </p:spTree>
    <p:extLst>
      <p:ext uri="{BB962C8B-B14F-4D97-AF65-F5344CB8AC3E}">
        <p14:creationId xmlns:p14="http://schemas.microsoft.com/office/powerpoint/2010/main" val="25241463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animBg="1"/>
      <p:bldP spid="8" grpId="0" animBg="1"/>
      <p:bldP spid="9" grpId="0" animBg="1"/>
      <p:bldP spid="5" grpId="0"/>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840C4-F729-D147-AB1F-0EAAECA006DD}"/>
              </a:ext>
            </a:extLst>
          </p:cNvPr>
          <p:cNvSpPr>
            <a:spLocks noGrp="1"/>
          </p:cNvSpPr>
          <p:nvPr>
            <p:ph type="title"/>
          </p:nvPr>
        </p:nvSpPr>
        <p:spPr/>
        <p:txBody>
          <a:bodyPr/>
          <a:lstStyle/>
          <a:p>
            <a:r>
              <a:rPr lang="en-US" dirty="0"/>
              <a:t>The scope tree data structure</a:t>
            </a:r>
          </a:p>
        </p:txBody>
      </p:sp>
      <p:sp>
        <p:nvSpPr>
          <p:cNvPr id="3" name="Content Placeholder 2">
            <a:extLst>
              <a:ext uri="{FF2B5EF4-FFF2-40B4-BE49-F238E27FC236}">
                <a16:creationId xmlns:a16="http://schemas.microsoft.com/office/drawing/2014/main" id="{224991D8-FEA3-0343-82B1-9545726E453B}"/>
              </a:ext>
            </a:extLst>
          </p:cNvPr>
          <p:cNvSpPr>
            <a:spLocks noGrp="1"/>
          </p:cNvSpPr>
          <p:nvPr>
            <p:ph idx="1"/>
          </p:nvPr>
        </p:nvSpPr>
        <p:spPr>
          <a:xfrm>
            <a:off x="152400" y="495301"/>
            <a:ext cx="8991600" cy="1219199"/>
          </a:xfrm>
        </p:spPr>
        <p:txBody>
          <a:bodyPr>
            <a:normAutofit/>
          </a:bodyPr>
          <a:lstStyle/>
          <a:p>
            <a:r>
              <a:rPr lang="en-US" dirty="0"/>
              <a:t>it's a </a:t>
            </a:r>
            <a:r>
              <a:rPr lang="en-US" b="1" dirty="0"/>
              <a:t>tree</a:t>
            </a:r>
            <a:r>
              <a:rPr lang="en-US" dirty="0"/>
              <a:t>, where each node is a </a:t>
            </a:r>
            <a:r>
              <a:rPr lang="en-US" b="1" dirty="0"/>
              <a:t>scope</a:t>
            </a:r>
            <a:r>
              <a:rPr lang="en-US" dirty="0"/>
              <a:t>, which has a </a:t>
            </a:r>
            <a:r>
              <a:rPr lang="en-US" b="1" dirty="0"/>
              <a:t>symbol table</a:t>
            </a:r>
            <a:r>
              <a:rPr lang="en-US" dirty="0"/>
              <a:t>. </a:t>
            </a:r>
          </a:p>
          <a:p>
            <a:r>
              <a:rPr lang="en-US" dirty="0"/>
              <a:t>the symbol tables map from </a:t>
            </a:r>
            <a:r>
              <a:rPr lang="en-US" b="1" dirty="0"/>
              <a:t>names </a:t>
            </a:r>
            <a:r>
              <a:rPr lang="en-US" dirty="0"/>
              <a:t>to the </a:t>
            </a:r>
            <a:r>
              <a:rPr lang="en-US" b="1" dirty="0"/>
              <a:t>nodes in the AST which define those names.</a:t>
            </a:r>
            <a:r>
              <a:rPr lang="en-US" dirty="0"/>
              <a:t>*</a:t>
            </a:r>
          </a:p>
        </p:txBody>
      </p:sp>
      <p:sp>
        <p:nvSpPr>
          <p:cNvPr id="4" name="Slide Number Placeholder 3">
            <a:extLst>
              <a:ext uri="{FF2B5EF4-FFF2-40B4-BE49-F238E27FC236}">
                <a16:creationId xmlns:a16="http://schemas.microsoft.com/office/drawing/2014/main" id="{F351285C-45A1-6C43-B0F0-C240026C0586}"/>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7" name="TextBox 6">
            <a:extLst>
              <a:ext uri="{FF2B5EF4-FFF2-40B4-BE49-F238E27FC236}">
                <a16:creationId xmlns:a16="http://schemas.microsoft.com/office/drawing/2014/main" id="{1D2CE018-4DA9-F248-BE66-9E70E650C00D}"/>
              </a:ext>
            </a:extLst>
          </p:cNvPr>
          <p:cNvSpPr txBox="1"/>
          <p:nvPr/>
        </p:nvSpPr>
        <p:spPr>
          <a:xfrm>
            <a:off x="5638800" y="1714500"/>
            <a:ext cx="3657600" cy="3200876"/>
          </a:xfrm>
          <a:prstGeom prst="rect">
            <a:avLst/>
          </a:prstGeom>
          <a:noFill/>
        </p:spPr>
        <p:txBody>
          <a:bodyPr wrap="square" rtlCol="0">
            <a:spAutoFit/>
          </a:bodyPr>
          <a:lstStyle/>
          <a:p>
            <a:pPr>
              <a:spcAft>
                <a:spcPts val="600"/>
              </a:spcAft>
            </a:pPr>
            <a:r>
              <a:rPr lang="en-US" sz="1800" b="1" dirty="0">
                <a:solidFill>
                  <a:srgbClr val="FF0000"/>
                </a:solidFill>
                <a:latin typeface="Consolas" panose="020B0609020204030204" pitchFamily="49" charset="0"/>
                <a:cs typeface="Consolas" panose="020B0609020204030204" pitchFamily="49" charset="0"/>
              </a:rPr>
              <a:t>class</a:t>
            </a:r>
            <a:r>
              <a:rPr lang="en-US" sz="1800" b="1" dirty="0">
                <a:latin typeface="Consolas" panose="020B0609020204030204" pitchFamily="49" charset="0"/>
                <a:cs typeface="Consolas" panose="020B0609020204030204" pitchFamily="49" charset="0"/>
              </a:rPr>
              <a:t> A {</a:t>
            </a:r>
          </a:p>
          <a:p>
            <a:pPr>
              <a:spcAft>
                <a:spcPts val="600"/>
              </a:spcAft>
            </a:pP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static</a:t>
            </a: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int</a:t>
            </a:r>
            <a:r>
              <a:rPr lang="en-US" sz="1800" b="1" dirty="0">
                <a:latin typeface="Consolas" panose="020B0609020204030204" pitchFamily="49" charset="0"/>
                <a:cs typeface="Consolas" panose="020B0609020204030204" pitchFamily="49" charset="0"/>
              </a:rPr>
              <a:t> x = </a:t>
            </a:r>
            <a:r>
              <a:rPr lang="en-US" sz="1800" b="1" dirty="0">
                <a:solidFill>
                  <a:schemeClr val="accent3">
                    <a:lumMod val="75000"/>
                  </a:schemeClr>
                </a:solidFill>
                <a:latin typeface="Consolas" panose="020B0609020204030204" pitchFamily="49" charset="0"/>
                <a:cs typeface="Consolas" panose="020B0609020204030204" pitchFamily="49" charset="0"/>
              </a:rPr>
              <a:t>5</a:t>
            </a:r>
            <a:r>
              <a:rPr lang="en-US" sz="1800" b="1" dirty="0">
                <a:latin typeface="Consolas" panose="020B0609020204030204" pitchFamily="49" charset="0"/>
                <a:cs typeface="Consolas" panose="020B0609020204030204" pitchFamily="49" charset="0"/>
              </a:rPr>
              <a:t>; </a:t>
            </a:r>
          </a:p>
          <a:p>
            <a:pPr>
              <a:spcAft>
                <a:spcPts val="600"/>
              </a:spcAft>
            </a:pP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static</a:t>
            </a: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void</a:t>
            </a:r>
            <a:r>
              <a:rPr lang="en-US" sz="1800" b="1" dirty="0">
                <a:latin typeface="Consolas" panose="020B0609020204030204" pitchFamily="49" charset="0"/>
                <a:cs typeface="Consolas" panose="020B0609020204030204" pitchFamily="49" charset="0"/>
              </a:rPr>
              <a:t> main() { </a:t>
            </a:r>
          </a:p>
          <a:p>
            <a:pPr>
              <a:spcAft>
                <a:spcPts val="600"/>
              </a:spcAft>
            </a:pPr>
            <a:r>
              <a:rPr lang="en-US" sz="1800" b="1" dirty="0">
                <a:latin typeface="Consolas" panose="020B0609020204030204" pitchFamily="49" charset="0"/>
                <a:cs typeface="Consolas" panose="020B0609020204030204" pitchFamily="49" charset="0"/>
              </a:rPr>
              <a:t>    foo(x);</a:t>
            </a:r>
          </a:p>
          <a:p>
            <a:pPr>
              <a:spcAft>
                <a:spcPts val="600"/>
              </a:spcAft>
            </a:pPr>
            <a:r>
              <a:rPr lang="en-US" sz="1800" b="1" dirty="0">
                <a:latin typeface="Consolas" panose="020B0609020204030204" pitchFamily="49" charset="0"/>
                <a:cs typeface="Consolas" panose="020B0609020204030204" pitchFamily="49" charset="0"/>
              </a:rPr>
              <a:t>  }</a:t>
            </a:r>
          </a:p>
          <a:p>
            <a:pPr>
              <a:spcAft>
                <a:spcPts val="600"/>
              </a:spcAft>
            </a:pPr>
            <a:r>
              <a:rPr lang="en-US" sz="1800" b="1" dirty="0">
                <a:solidFill>
                  <a:srgbClr val="FF0000"/>
                </a:solidFill>
                <a:latin typeface="Consolas" panose="020B0609020204030204" pitchFamily="49" charset="0"/>
                <a:cs typeface="Consolas" panose="020B0609020204030204" pitchFamily="49" charset="0"/>
              </a:rPr>
              <a:t>  static</a:t>
            </a: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void</a:t>
            </a:r>
            <a:r>
              <a:rPr lang="en-US" sz="1800" b="1" dirty="0">
                <a:latin typeface="Consolas" panose="020B0609020204030204" pitchFamily="49" charset="0"/>
                <a:cs typeface="Consolas" panose="020B0609020204030204" pitchFamily="49" charset="0"/>
              </a:rPr>
              <a:t> foo(</a:t>
            </a:r>
            <a:r>
              <a:rPr lang="en-US" sz="1800" b="1" dirty="0">
                <a:solidFill>
                  <a:srgbClr val="FF0000"/>
                </a:solidFill>
                <a:latin typeface="Consolas" panose="020B0609020204030204" pitchFamily="49" charset="0"/>
                <a:cs typeface="Consolas" panose="020B0609020204030204" pitchFamily="49" charset="0"/>
              </a:rPr>
              <a:t>int</a:t>
            </a:r>
            <a:r>
              <a:rPr lang="en-US" sz="1800" b="1" dirty="0">
                <a:latin typeface="Consolas" panose="020B0609020204030204" pitchFamily="49" charset="0"/>
                <a:cs typeface="Consolas" panose="020B0609020204030204" pitchFamily="49" charset="0"/>
              </a:rPr>
              <a:t> y) { </a:t>
            </a:r>
          </a:p>
          <a:p>
            <a:pPr>
              <a:spcAft>
                <a:spcPts val="600"/>
              </a:spcAft>
            </a:pP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S.o.println</a:t>
            </a:r>
            <a:r>
              <a:rPr lang="en-US" sz="1800" b="1" dirty="0">
                <a:latin typeface="Consolas" panose="020B0609020204030204" pitchFamily="49" charset="0"/>
                <a:cs typeface="Consolas" panose="020B0609020204030204" pitchFamily="49" charset="0"/>
              </a:rPr>
              <a:t>(y);</a:t>
            </a:r>
          </a:p>
          <a:p>
            <a:pPr>
              <a:spcAft>
                <a:spcPts val="600"/>
              </a:spcAft>
            </a:pPr>
            <a:r>
              <a:rPr lang="en-US" sz="1800" b="1" dirty="0">
                <a:latin typeface="Consolas" panose="020B0609020204030204" pitchFamily="49" charset="0"/>
                <a:cs typeface="Consolas" panose="020B0609020204030204" pitchFamily="49" charset="0"/>
              </a:rPr>
              <a:t>  }</a:t>
            </a:r>
          </a:p>
          <a:p>
            <a:pPr>
              <a:spcAft>
                <a:spcPts val="600"/>
              </a:spcAft>
            </a:pPr>
            <a:r>
              <a:rPr lang="en-US" sz="1800" b="1" dirty="0">
                <a:latin typeface="Consolas" panose="020B0609020204030204" pitchFamily="49" charset="0"/>
                <a:cs typeface="Consolas" panose="020B0609020204030204" pitchFamily="49" charset="0"/>
              </a:rPr>
              <a:t>}</a:t>
            </a:r>
          </a:p>
        </p:txBody>
      </p:sp>
      <p:sp>
        <p:nvSpPr>
          <p:cNvPr id="9" name="Rectangle 8">
            <a:extLst>
              <a:ext uri="{FF2B5EF4-FFF2-40B4-BE49-F238E27FC236}">
                <a16:creationId xmlns:a16="http://schemas.microsoft.com/office/drawing/2014/main" id="{7A8ECEB0-C29A-1C48-8B19-9E53A678136B}"/>
              </a:ext>
            </a:extLst>
          </p:cNvPr>
          <p:cNvSpPr/>
          <p:nvPr/>
        </p:nvSpPr>
        <p:spPr>
          <a:xfrm>
            <a:off x="270274" y="1810226"/>
            <a:ext cx="2202655" cy="47577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onsolas" panose="020B0609020204030204" pitchFamily="49" charset="0"/>
                <a:cs typeface="Consolas" panose="020B0609020204030204" pitchFamily="49" charset="0"/>
              </a:rPr>
              <a:t>&lt;global scope&gt;</a:t>
            </a:r>
          </a:p>
        </p:txBody>
      </p:sp>
      <p:graphicFrame>
        <p:nvGraphicFramePr>
          <p:cNvPr id="11" name="Table 10">
            <a:extLst>
              <a:ext uri="{FF2B5EF4-FFF2-40B4-BE49-F238E27FC236}">
                <a16:creationId xmlns:a16="http://schemas.microsoft.com/office/drawing/2014/main" id="{BE472C6C-0774-9349-B2BC-919A673E4BD5}"/>
              </a:ext>
            </a:extLst>
          </p:cNvPr>
          <p:cNvGraphicFramePr>
            <a:graphicFrameLocks noGrp="1"/>
          </p:cNvGraphicFramePr>
          <p:nvPr>
            <p:extLst>
              <p:ext uri="{D42A27DB-BD31-4B8C-83A1-F6EECF244321}">
                <p14:modId xmlns:p14="http://schemas.microsoft.com/office/powerpoint/2010/main" val="1597011176"/>
              </p:ext>
            </p:extLst>
          </p:nvPr>
        </p:nvGraphicFramePr>
        <p:xfrm>
          <a:off x="2895601" y="1857462"/>
          <a:ext cx="1810940" cy="762602"/>
        </p:xfrm>
        <a:graphic>
          <a:graphicData uri="http://schemas.openxmlformats.org/drawingml/2006/table">
            <a:tbl>
              <a:tblPr bandRow="1">
                <a:tableStyleId>{F5AB1C69-6EDB-4FF4-983F-18BD219EF322}</a:tableStyleId>
              </a:tblPr>
              <a:tblGrid>
                <a:gridCol w="1272705">
                  <a:extLst>
                    <a:ext uri="{9D8B030D-6E8A-4147-A177-3AD203B41FA5}">
                      <a16:colId xmlns:a16="http://schemas.microsoft.com/office/drawing/2014/main" val="2998826347"/>
                    </a:ext>
                  </a:extLst>
                </a:gridCol>
                <a:gridCol w="538235">
                  <a:extLst>
                    <a:ext uri="{9D8B030D-6E8A-4147-A177-3AD203B41FA5}">
                      <a16:colId xmlns:a16="http://schemas.microsoft.com/office/drawing/2014/main" val="2763207076"/>
                    </a:ext>
                  </a:extLst>
                </a:gridCol>
              </a:tblGrid>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"A"</a:t>
                      </a:r>
                    </a:p>
                  </a:txBody>
                  <a:tcPr/>
                </a:tc>
                <a:tc>
                  <a:txBody>
                    <a:bodyPr/>
                    <a:lstStyle/>
                    <a:p>
                      <a:pPr algn="ct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900998081"/>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"System"</a:t>
                      </a:r>
                    </a:p>
                  </a:txBody>
                  <a:tcPr/>
                </a:tc>
                <a:tc>
                  <a:txBody>
                    <a:bodyPr/>
                    <a:lstStyle/>
                    <a:p>
                      <a:pPr algn="ct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308972850"/>
                  </a:ext>
                </a:extLst>
              </a:tr>
            </a:tbl>
          </a:graphicData>
        </a:graphic>
      </p:graphicFrame>
      <p:cxnSp>
        <p:nvCxnSpPr>
          <p:cNvPr id="13" name="Straight Arrow Connector 12">
            <a:extLst>
              <a:ext uri="{FF2B5EF4-FFF2-40B4-BE49-F238E27FC236}">
                <a16:creationId xmlns:a16="http://schemas.microsoft.com/office/drawing/2014/main" id="{43F2B5B3-8DCD-8841-A71C-22B6DD0B7194}"/>
              </a:ext>
            </a:extLst>
          </p:cNvPr>
          <p:cNvCxnSpPr>
            <a:cxnSpLocks/>
            <a:stCxn id="9" idx="3"/>
          </p:cNvCxnSpPr>
          <p:nvPr/>
        </p:nvCxnSpPr>
        <p:spPr>
          <a:xfrm>
            <a:off x="2472929" y="2048113"/>
            <a:ext cx="42267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13">
            <a:extLst>
              <a:ext uri="{FF2B5EF4-FFF2-40B4-BE49-F238E27FC236}">
                <a16:creationId xmlns:a16="http://schemas.microsoft.com/office/drawing/2014/main" id="{95872B5A-804C-8140-BE78-05AC83DE8FAC}"/>
              </a:ext>
            </a:extLst>
          </p:cNvPr>
          <p:cNvSpPr/>
          <p:nvPr/>
        </p:nvSpPr>
        <p:spPr>
          <a:xfrm>
            <a:off x="4333875" y="1536430"/>
            <a:ext cx="2162175" cy="520970"/>
          </a:xfrm>
          <a:custGeom>
            <a:avLst/>
            <a:gdLst>
              <a:gd name="connsiteX0" fmla="*/ 0 w 2162175"/>
              <a:gd name="connsiteY0" fmla="*/ 520970 h 520970"/>
              <a:gd name="connsiteX1" fmla="*/ 600075 w 2162175"/>
              <a:gd name="connsiteY1" fmla="*/ 63770 h 520970"/>
              <a:gd name="connsiteX2" fmla="*/ 1704975 w 2162175"/>
              <a:gd name="connsiteY2" fmla="*/ 25670 h 520970"/>
              <a:gd name="connsiteX3" fmla="*/ 2162175 w 2162175"/>
              <a:gd name="connsiteY3" fmla="*/ 273320 h 520970"/>
            </a:gdLst>
            <a:ahLst/>
            <a:cxnLst>
              <a:cxn ang="0">
                <a:pos x="connsiteX0" y="connsiteY0"/>
              </a:cxn>
              <a:cxn ang="0">
                <a:pos x="connsiteX1" y="connsiteY1"/>
              </a:cxn>
              <a:cxn ang="0">
                <a:pos x="connsiteX2" y="connsiteY2"/>
              </a:cxn>
              <a:cxn ang="0">
                <a:pos x="connsiteX3" y="connsiteY3"/>
              </a:cxn>
            </a:cxnLst>
            <a:rect l="l" t="t" r="r" b="b"/>
            <a:pathLst>
              <a:path w="2162175" h="520970">
                <a:moveTo>
                  <a:pt x="0" y="520970"/>
                </a:moveTo>
                <a:cubicBezTo>
                  <a:pt x="157956" y="333645"/>
                  <a:pt x="315913" y="146320"/>
                  <a:pt x="600075" y="63770"/>
                </a:cubicBezTo>
                <a:cubicBezTo>
                  <a:pt x="884237" y="-18780"/>
                  <a:pt x="1444625" y="-9255"/>
                  <a:pt x="1704975" y="25670"/>
                </a:cubicBezTo>
                <a:cubicBezTo>
                  <a:pt x="1965325" y="60595"/>
                  <a:pt x="2063750" y="166957"/>
                  <a:pt x="2162175" y="273320"/>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Table 17">
            <a:extLst>
              <a:ext uri="{FF2B5EF4-FFF2-40B4-BE49-F238E27FC236}">
                <a16:creationId xmlns:a16="http://schemas.microsoft.com/office/drawing/2014/main" id="{0581DA14-7483-3144-8C7B-B5167ECC5F72}"/>
              </a:ext>
            </a:extLst>
          </p:cNvPr>
          <p:cNvGraphicFramePr>
            <a:graphicFrameLocks noGrp="1"/>
          </p:cNvGraphicFramePr>
          <p:nvPr>
            <p:extLst>
              <p:ext uri="{D42A27DB-BD31-4B8C-83A1-F6EECF244321}">
                <p14:modId xmlns:p14="http://schemas.microsoft.com/office/powerpoint/2010/main" val="4253339791"/>
              </p:ext>
            </p:extLst>
          </p:nvPr>
        </p:nvGraphicFramePr>
        <p:xfrm>
          <a:off x="2895601" y="2809937"/>
          <a:ext cx="1810940" cy="1143903"/>
        </p:xfrm>
        <a:graphic>
          <a:graphicData uri="http://schemas.openxmlformats.org/drawingml/2006/table">
            <a:tbl>
              <a:tblPr bandRow="1">
                <a:tableStyleId>{F5AB1C69-6EDB-4FF4-983F-18BD219EF322}</a:tableStyleId>
              </a:tblPr>
              <a:tblGrid>
                <a:gridCol w="1272705">
                  <a:extLst>
                    <a:ext uri="{9D8B030D-6E8A-4147-A177-3AD203B41FA5}">
                      <a16:colId xmlns:a16="http://schemas.microsoft.com/office/drawing/2014/main" val="2998826347"/>
                    </a:ext>
                  </a:extLst>
                </a:gridCol>
                <a:gridCol w="538235">
                  <a:extLst>
                    <a:ext uri="{9D8B030D-6E8A-4147-A177-3AD203B41FA5}">
                      <a16:colId xmlns:a16="http://schemas.microsoft.com/office/drawing/2014/main" val="2763207076"/>
                    </a:ext>
                  </a:extLst>
                </a:gridCol>
              </a:tblGrid>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"x"</a:t>
                      </a:r>
                    </a:p>
                  </a:txBody>
                  <a:tcPr/>
                </a:tc>
                <a:tc>
                  <a:txBody>
                    <a:bodyPr/>
                    <a:lstStyle/>
                    <a:p>
                      <a:pPr algn="ct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900998081"/>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"main"</a:t>
                      </a:r>
                    </a:p>
                  </a:txBody>
                  <a:tcPr/>
                </a:tc>
                <a:tc>
                  <a:txBody>
                    <a:bodyPr/>
                    <a:lstStyle/>
                    <a:p>
                      <a:pPr algn="ct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4070493881"/>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"foo"</a:t>
                      </a:r>
                    </a:p>
                  </a:txBody>
                  <a:tcPr/>
                </a:tc>
                <a:tc>
                  <a:txBody>
                    <a:bodyPr/>
                    <a:lstStyle/>
                    <a:p>
                      <a:pPr algn="ct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063322900"/>
                  </a:ext>
                </a:extLst>
              </a:tr>
            </a:tbl>
          </a:graphicData>
        </a:graphic>
      </p:graphicFrame>
      <p:sp>
        <p:nvSpPr>
          <p:cNvPr id="19" name="Rectangle 18">
            <a:extLst>
              <a:ext uri="{FF2B5EF4-FFF2-40B4-BE49-F238E27FC236}">
                <a16:creationId xmlns:a16="http://schemas.microsoft.com/office/drawing/2014/main" id="{017AF4EC-532D-EA44-A95C-1F9F4452BA66}"/>
              </a:ext>
            </a:extLst>
          </p:cNvPr>
          <p:cNvSpPr/>
          <p:nvPr/>
        </p:nvSpPr>
        <p:spPr>
          <a:xfrm>
            <a:off x="827483" y="2762250"/>
            <a:ext cx="1672829" cy="47577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onsolas" panose="020B0609020204030204" pitchFamily="49" charset="0"/>
                <a:cs typeface="Consolas" panose="020B0609020204030204" pitchFamily="49" charset="0"/>
              </a:rPr>
              <a:t>A's scope</a:t>
            </a:r>
          </a:p>
        </p:txBody>
      </p:sp>
      <p:cxnSp>
        <p:nvCxnSpPr>
          <p:cNvPr id="20" name="Straight Arrow Connector 19">
            <a:extLst>
              <a:ext uri="{FF2B5EF4-FFF2-40B4-BE49-F238E27FC236}">
                <a16:creationId xmlns:a16="http://schemas.microsoft.com/office/drawing/2014/main" id="{7868E001-586F-F047-AC4E-B3E04707AED1}"/>
              </a:ext>
            </a:extLst>
          </p:cNvPr>
          <p:cNvCxnSpPr>
            <a:cxnSpLocks/>
          </p:cNvCxnSpPr>
          <p:nvPr/>
        </p:nvCxnSpPr>
        <p:spPr>
          <a:xfrm flipV="1">
            <a:off x="2486621" y="3000138"/>
            <a:ext cx="408980"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C8FB9616-28F4-EA4D-872F-B2923B6809E6}"/>
              </a:ext>
            </a:extLst>
          </p:cNvPr>
          <p:cNvSpPr/>
          <p:nvPr/>
        </p:nvSpPr>
        <p:spPr>
          <a:xfrm>
            <a:off x="1158477" y="4076224"/>
            <a:ext cx="1672829" cy="47577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cs typeface="Consolas" panose="020B0609020204030204" pitchFamily="49" charset="0"/>
              </a:rPr>
              <a:t>main's scope</a:t>
            </a:r>
          </a:p>
        </p:txBody>
      </p:sp>
      <p:sp>
        <p:nvSpPr>
          <p:cNvPr id="22" name="Rectangle 21">
            <a:extLst>
              <a:ext uri="{FF2B5EF4-FFF2-40B4-BE49-F238E27FC236}">
                <a16:creationId xmlns:a16="http://schemas.microsoft.com/office/drawing/2014/main" id="{DE942D2F-0504-F842-85DD-6043C50851CC}"/>
              </a:ext>
            </a:extLst>
          </p:cNvPr>
          <p:cNvSpPr/>
          <p:nvPr/>
        </p:nvSpPr>
        <p:spPr>
          <a:xfrm>
            <a:off x="1158477" y="4820126"/>
            <a:ext cx="1672829" cy="47577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cs typeface="Consolas" panose="020B0609020204030204" pitchFamily="49" charset="0"/>
              </a:rPr>
              <a:t>foo's scope</a:t>
            </a:r>
          </a:p>
        </p:txBody>
      </p:sp>
      <p:graphicFrame>
        <p:nvGraphicFramePr>
          <p:cNvPr id="23" name="Table 22">
            <a:extLst>
              <a:ext uri="{FF2B5EF4-FFF2-40B4-BE49-F238E27FC236}">
                <a16:creationId xmlns:a16="http://schemas.microsoft.com/office/drawing/2014/main" id="{15D5FD2E-F9B5-4F43-9F4D-1AB8641F7A77}"/>
              </a:ext>
            </a:extLst>
          </p:cNvPr>
          <p:cNvGraphicFramePr>
            <a:graphicFrameLocks noGrp="1"/>
          </p:cNvGraphicFramePr>
          <p:nvPr>
            <p:extLst>
              <p:ext uri="{D42A27DB-BD31-4B8C-83A1-F6EECF244321}">
                <p14:modId xmlns:p14="http://schemas.microsoft.com/office/powerpoint/2010/main" val="4218024281"/>
              </p:ext>
            </p:extLst>
          </p:nvPr>
        </p:nvGraphicFramePr>
        <p:xfrm>
          <a:off x="3226595" y="4867362"/>
          <a:ext cx="1810940" cy="381301"/>
        </p:xfrm>
        <a:graphic>
          <a:graphicData uri="http://schemas.openxmlformats.org/drawingml/2006/table">
            <a:tbl>
              <a:tblPr bandRow="1">
                <a:tableStyleId>{F5AB1C69-6EDB-4FF4-983F-18BD219EF322}</a:tableStyleId>
              </a:tblPr>
              <a:tblGrid>
                <a:gridCol w="1272705">
                  <a:extLst>
                    <a:ext uri="{9D8B030D-6E8A-4147-A177-3AD203B41FA5}">
                      <a16:colId xmlns:a16="http://schemas.microsoft.com/office/drawing/2014/main" val="2998826347"/>
                    </a:ext>
                  </a:extLst>
                </a:gridCol>
                <a:gridCol w="538235">
                  <a:extLst>
                    <a:ext uri="{9D8B030D-6E8A-4147-A177-3AD203B41FA5}">
                      <a16:colId xmlns:a16="http://schemas.microsoft.com/office/drawing/2014/main" val="2763207076"/>
                    </a:ext>
                  </a:extLst>
                </a:gridCol>
              </a:tblGrid>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"y"</a:t>
                      </a:r>
                    </a:p>
                  </a:txBody>
                  <a:tcPr/>
                </a:tc>
                <a:tc>
                  <a:txBody>
                    <a:bodyPr/>
                    <a:lstStyle/>
                    <a:p>
                      <a:pPr algn="ct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900998081"/>
                  </a:ext>
                </a:extLst>
              </a:tr>
            </a:tbl>
          </a:graphicData>
        </a:graphic>
      </p:graphicFrame>
      <p:sp>
        <p:nvSpPr>
          <p:cNvPr id="31" name="Freeform 30">
            <a:extLst>
              <a:ext uri="{FF2B5EF4-FFF2-40B4-BE49-F238E27FC236}">
                <a16:creationId xmlns:a16="http://schemas.microsoft.com/office/drawing/2014/main" id="{4D6B91A9-051A-824F-A10F-7B699E05FAD9}"/>
              </a:ext>
            </a:extLst>
          </p:cNvPr>
          <p:cNvSpPr/>
          <p:nvPr/>
        </p:nvSpPr>
        <p:spPr>
          <a:xfrm>
            <a:off x="4438650" y="1271564"/>
            <a:ext cx="5191125" cy="1186393"/>
          </a:xfrm>
          <a:custGeom>
            <a:avLst/>
            <a:gdLst>
              <a:gd name="connsiteX0" fmla="*/ 0 w 5191125"/>
              <a:gd name="connsiteY0" fmla="*/ 1146982 h 1186331"/>
              <a:gd name="connsiteX1" fmla="*/ 590550 w 5191125"/>
              <a:gd name="connsiteY1" fmla="*/ 1118407 h 1186331"/>
              <a:gd name="connsiteX2" fmla="*/ 876300 w 5191125"/>
              <a:gd name="connsiteY2" fmla="*/ 518332 h 1186331"/>
              <a:gd name="connsiteX3" fmla="*/ 1790700 w 5191125"/>
              <a:gd name="connsiteY3" fmla="*/ 23032 h 1186331"/>
              <a:gd name="connsiteX4" fmla="*/ 5191125 w 5191125"/>
              <a:gd name="connsiteY4" fmla="*/ 127807 h 1186331"/>
              <a:gd name="connsiteX0" fmla="*/ 0 w 5191125"/>
              <a:gd name="connsiteY0" fmla="*/ 1139734 h 1185985"/>
              <a:gd name="connsiteX1" fmla="*/ 590550 w 5191125"/>
              <a:gd name="connsiteY1" fmla="*/ 1111159 h 1185985"/>
              <a:gd name="connsiteX2" fmla="*/ 904875 w 5191125"/>
              <a:gd name="connsiteY2" fmla="*/ 406309 h 1185985"/>
              <a:gd name="connsiteX3" fmla="*/ 1790700 w 5191125"/>
              <a:gd name="connsiteY3" fmla="*/ 15784 h 1185985"/>
              <a:gd name="connsiteX4" fmla="*/ 5191125 w 5191125"/>
              <a:gd name="connsiteY4" fmla="*/ 120559 h 1185985"/>
              <a:gd name="connsiteX0" fmla="*/ 0 w 5191125"/>
              <a:gd name="connsiteY0" fmla="*/ 1139734 h 1213173"/>
              <a:gd name="connsiteX1" fmla="*/ 590550 w 5191125"/>
              <a:gd name="connsiteY1" fmla="*/ 1111159 h 1213173"/>
              <a:gd name="connsiteX2" fmla="*/ 1790700 w 5191125"/>
              <a:gd name="connsiteY2" fmla="*/ 15784 h 1213173"/>
              <a:gd name="connsiteX3" fmla="*/ 5191125 w 5191125"/>
              <a:gd name="connsiteY3" fmla="*/ 120559 h 1213173"/>
              <a:gd name="connsiteX0" fmla="*/ 0 w 5191125"/>
              <a:gd name="connsiteY0" fmla="*/ 1178437 h 1191347"/>
              <a:gd name="connsiteX1" fmla="*/ 714375 w 5191125"/>
              <a:gd name="connsiteY1" fmla="*/ 987937 h 1191347"/>
              <a:gd name="connsiteX2" fmla="*/ 1790700 w 5191125"/>
              <a:gd name="connsiteY2" fmla="*/ 54487 h 1191347"/>
              <a:gd name="connsiteX3" fmla="*/ 5191125 w 5191125"/>
              <a:gd name="connsiteY3" fmla="*/ 159262 h 1191347"/>
              <a:gd name="connsiteX0" fmla="*/ 0 w 5191125"/>
              <a:gd name="connsiteY0" fmla="*/ 1176360 h 1186393"/>
              <a:gd name="connsiteX1" fmla="*/ 733425 w 5191125"/>
              <a:gd name="connsiteY1" fmla="*/ 957285 h 1186393"/>
              <a:gd name="connsiteX2" fmla="*/ 1790700 w 5191125"/>
              <a:gd name="connsiteY2" fmla="*/ 52410 h 1186393"/>
              <a:gd name="connsiteX3" fmla="*/ 5191125 w 5191125"/>
              <a:gd name="connsiteY3" fmla="*/ 157185 h 1186393"/>
            </a:gdLst>
            <a:ahLst/>
            <a:cxnLst>
              <a:cxn ang="0">
                <a:pos x="connsiteX0" y="connsiteY0"/>
              </a:cxn>
              <a:cxn ang="0">
                <a:pos x="connsiteX1" y="connsiteY1"/>
              </a:cxn>
              <a:cxn ang="0">
                <a:pos x="connsiteX2" y="connsiteY2"/>
              </a:cxn>
              <a:cxn ang="0">
                <a:pos x="connsiteX3" y="connsiteY3"/>
              </a:cxn>
            </a:cxnLst>
            <a:rect l="l" t="t" r="r" b="b"/>
            <a:pathLst>
              <a:path w="5191125" h="1186393">
                <a:moveTo>
                  <a:pt x="0" y="1176360"/>
                </a:moveTo>
                <a:cubicBezTo>
                  <a:pt x="222250" y="1214460"/>
                  <a:pt x="434975" y="1144610"/>
                  <a:pt x="733425" y="957285"/>
                </a:cubicBezTo>
                <a:cubicBezTo>
                  <a:pt x="1031875" y="769960"/>
                  <a:pt x="1047750" y="185760"/>
                  <a:pt x="1790700" y="52410"/>
                </a:cubicBezTo>
                <a:cubicBezTo>
                  <a:pt x="2533650" y="-80940"/>
                  <a:pt x="3850481" y="72254"/>
                  <a:pt x="5191125" y="157185"/>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DC9B831-B304-3945-93AE-7B8C8E6B1024}"/>
              </a:ext>
            </a:extLst>
          </p:cNvPr>
          <p:cNvSpPr txBox="1"/>
          <p:nvPr/>
        </p:nvSpPr>
        <p:spPr>
          <a:xfrm rot="238044">
            <a:off x="8542417" y="1354532"/>
            <a:ext cx="585417" cy="276999"/>
          </a:xfrm>
          <a:prstGeom prst="rect">
            <a:avLst/>
          </a:prstGeom>
          <a:noFill/>
        </p:spPr>
        <p:txBody>
          <a:bodyPr wrap="none" rtlCol="0">
            <a:spAutoFit/>
          </a:bodyPr>
          <a:lstStyle/>
          <a:p>
            <a:r>
              <a:rPr lang="en-US" sz="1200" dirty="0" err="1"/>
              <a:t>whee</a:t>
            </a:r>
            <a:r>
              <a:rPr lang="en-US" sz="1200" dirty="0"/>
              <a:t>!</a:t>
            </a:r>
          </a:p>
        </p:txBody>
      </p:sp>
      <p:sp>
        <p:nvSpPr>
          <p:cNvPr id="33" name="Freeform 32">
            <a:extLst>
              <a:ext uri="{FF2B5EF4-FFF2-40B4-BE49-F238E27FC236}">
                <a16:creationId xmlns:a16="http://schemas.microsoft.com/office/drawing/2014/main" id="{AA6E3749-696B-EC46-825D-DE235BA63310}"/>
              </a:ext>
            </a:extLst>
          </p:cNvPr>
          <p:cNvSpPr/>
          <p:nvPr/>
        </p:nvSpPr>
        <p:spPr>
          <a:xfrm>
            <a:off x="4419600" y="2343150"/>
            <a:ext cx="2993473" cy="699350"/>
          </a:xfrm>
          <a:custGeom>
            <a:avLst/>
            <a:gdLst>
              <a:gd name="connsiteX0" fmla="*/ 0 w 2993473"/>
              <a:gd name="connsiteY0" fmla="*/ 676275 h 699350"/>
              <a:gd name="connsiteX1" fmla="*/ 838200 w 2993473"/>
              <a:gd name="connsiteY1" fmla="*/ 638175 h 699350"/>
              <a:gd name="connsiteX2" fmla="*/ 1295400 w 2993473"/>
              <a:gd name="connsiteY2" fmla="*/ 152400 h 699350"/>
              <a:gd name="connsiteX3" fmla="*/ 2724150 w 2993473"/>
              <a:gd name="connsiteY3" fmla="*/ 76200 h 699350"/>
              <a:gd name="connsiteX4" fmla="*/ 2990850 w 2993473"/>
              <a:gd name="connsiteY4" fmla="*/ 0 h 699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3473" h="699350">
                <a:moveTo>
                  <a:pt x="0" y="676275"/>
                </a:moveTo>
                <a:cubicBezTo>
                  <a:pt x="311150" y="700881"/>
                  <a:pt x="622300" y="725488"/>
                  <a:pt x="838200" y="638175"/>
                </a:cubicBezTo>
                <a:cubicBezTo>
                  <a:pt x="1054100" y="550862"/>
                  <a:pt x="981075" y="246062"/>
                  <a:pt x="1295400" y="152400"/>
                </a:cubicBezTo>
                <a:cubicBezTo>
                  <a:pt x="1609725" y="58738"/>
                  <a:pt x="2441575" y="101600"/>
                  <a:pt x="2724150" y="76200"/>
                </a:cubicBezTo>
                <a:cubicBezTo>
                  <a:pt x="3006725" y="50800"/>
                  <a:pt x="2998787" y="25400"/>
                  <a:pt x="2990850" y="0"/>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a:extLst>
              <a:ext uri="{FF2B5EF4-FFF2-40B4-BE49-F238E27FC236}">
                <a16:creationId xmlns:a16="http://schemas.microsoft.com/office/drawing/2014/main" id="{6E4909A8-D0F4-2B4F-9643-190761E331B0}"/>
              </a:ext>
            </a:extLst>
          </p:cNvPr>
          <p:cNvSpPr/>
          <p:nvPr/>
        </p:nvSpPr>
        <p:spPr>
          <a:xfrm>
            <a:off x="4429125" y="2724150"/>
            <a:ext cx="3353928" cy="657225"/>
          </a:xfrm>
          <a:custGeom>
            <a:avLst/>
            <a:gdLst>
              <a:gd name="connsiteX0" fmla="*/ 0 w 3359731"/>
              <a:gd name="connsiteY0" fmla="*/ 657225 h 657225"/>
              <a:gd name="connsiteX1" fmla="*/ 1428750 w 3359731"/>
              <a:gd name="connsiteY1" fmla="*/ 390525 h 657225"/>
              <a:gd name="connsiteX2" fmla="*/ 2581275 w 3359731"/>
              <a:gd name="connsiteY2" fmla="*/ 533400 h 657225"/>
              <a:gd name="connsiteX3" fmla="*/ 3248025 w 3359731"/>
              <a:gd name="connsiteY3" fmla="*/ 219075 h 657225"/>
              <a:gd name="connsiteX4" fmla="*/ 3352800 w 3359731"/>
              <a:gd name="connsiteY4" fmla="*/ 0 h 657225"/>
              <a:gd name="connsiteX0" fmla="*/ 0 w 3353928"/>
              <a:gd name="connsiteY0" fmla="*/ 657225 h 657225"/>
              <a:gd name="connsiteX1" fmla="*/ 1428750 w 3353928"/>
              <a:gd name="connsiteY1" fmla="*/ 390525 h 657225"/>
              <a:gd name="connsiteX2" fmla="*/ 2581275 w 3353928"/>
              <a:gd name="connsiteY2" fmla="*/ 533400 h 657225"/>
              <a:gd name="connsiteX3" fmla="*/ 3152775 w 3353928"/>
              <a:gd name="connsiteY3" fmla="*/ 314325 h 657225"/>
              <a:gd name="connsiteX4" fmla="*/ 3352800 w 3353928"/>
              <a:gd name="connsiteY4" fmla="*/ 0 h 657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3928" h="657225">
                <a:moveTo>
                  <a:pt x="0" y="657225"/>
                </a:moveTo>
                <a:cubicBezTo>
                  <a:pt x="499269" y="534193"/>
                  <a:pt x="998538" y="411162"/>
                  <a:pt x="1428750" y="390525"/>
                </a:cubicBezTo>
                <a:cubicBezTo>
                  <a:pt x="1858962" y="369888"/>
                  <a:pt x="2293937" y="546100"/>
                  <a:pt x="2581275" y="533400"/>
                </a:cubicBezTo>
                <a:cubicBezTo>
                  <a:pt x="2868613" y="520700"/>
                  <a:pt x="3024188" y="403225"/>
                  <a:pt x="3152775" y="314325"/>
                </a:cubicBezTo>
                <a:cubicBezTo>
                  <a:pt x="3281362" y="225425"/>
                  <a:pt x="3364706" y="65087"/>
                  <a:pt x="3352800" y="0"/>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a:extLst>
              <a:ext uri="{FF2B5EF4-FFF2-40B4-BE49-F238E27FC236}">
                <a16:creationId xmlns:a16="http://schemas.microsoft.com/office/drawing/2014/main" id="{776B6B1C-435C-6B48-B584-79579A4B02B1}"/>
              </a:ext>
            </a:extLst>
          </p:cNvPr>
          <p:cNvSpPr/>
          <p:nvPr/>
        </p:nvSpPr>
        <p:spPr>
          <a:xfrm>
            <a:off x="4467225" y="3390418"/>
            <a:ext cx="3019425" cy="461209"/>
          </a:xfrm>
          <a:custGeom>
            <a:avLst/>
            <a:gdLst>
              <a:gd name="connsiteX0" fmla="*/ 0 w 3019425"/>
              <a:gd name="connsiteY0" fmla="*/ 419122 h 450476"/>
              <a:gd name="connsiteX1" fmla="*/ 733425 w 3019425"/>
              <a:gd name="connsiteY1" fmla="*/ 428647 h 450476"/>
              <a:gd name="connsiteX2" fmla="*/ 1143000 w 3019425"/>
              <a:gd name="connsiteY2" fmla="*/ 171472 h 450476"/>
              <a:gd name="connsiteX3" fmla="*/ 2266950 w 3019425"/>
              <a:gd name="connsiteY3" fmla="*/ 22 h 450476"/>
              <a:gd name="connsiteX4" fmla="*/ 3019425 w 3019425"/>
              <a:gd name="connsiteY4" fmla="*/ 161947 h 450476"/>
              <a:gd name="connsiteX0" fmla="*/ 0 w 3019425"/>
              <a:gd name="connsiteY0" fmla="*/ 419570 h 454404"/>
              <a:gd name="connsiteX1" fmla="*/ 733425 w 3019425"/>
              <a:gd name="connsiteY1" fmla="*/ 429095 h 454404"/>
              <a:gd name="connsiteX2" fmla="*/ 1400175 w 3019425"/>
              <a:gd name="connsiteY2" fmla="*/ 124295 h 454404"/>
              <a:gd name="connsiteX3" fmla="*/ 2266950 w 3019425"/>
              <a:gd name="connsiteY3" fmla="*/ 470 h 454404"/>
              <a:gd name="connsiteX4" fmla="*/ 3019425 w 3019425"/>
              <a:gd name="connsiteY4" fmla="*/ 162395 h 454404"/>
              <a:gd name="connsiteX0" fmla="*/ 0 w 3019425"/>
              <a:gd name="connsiteY0" fmla="*/ 419582 h 461209"/>
              <a:gd name="connsiteX1" fmla="*/ 638175 w 3019425"/>
              <a:gd name="connsiteY1" fmla="*/ 438632 h 461209"/>
              <a:gd name="connsiteX2" fmla="*/ 1400175 w 3019425"/>
              <a:gd name="connsiteY2" fmla="*/ 124307 h 461209"/>
              <a:gd name="connsiteX3" fmla="*/ 2266950 w 3019425"/>
              <a:gd name="connsiteY3" fmla="*/ 482 h 461209"/>
              <a:gd name="connsiteX4" fmla="*/ 3019425 w 3019425"/>
              <a:gd name="connsiteY4" fmla="*/ 162407 h 461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9425" h="461209">
                <a:moveTo>
                  <a:pt x="0" y="419582"/>
                </a:moveTo>
                <a:cubicBezTo>
                  <a:pt x="271462" y="444982"/>
                  <a:pt x="404813" y="487844"/>
                  <a:pt x="638175" y="438632"/>
                </a:cubicBezTo>
                <a:cubicBezTo>
                  <a:pt x="871537" y="389420"/>
                  <a:pt x="1128713" y="197332"/>
                  <a:pt x="1400175" y="124307"/>
                </a:cubicBezTo>
                <a:cubicBezTo>
                  <a:pt x="1671638" y="51282"/>
                  <a:pt x="1997075" y="-5868"/>
                  <a:pt x="2266950" y="482"/>
                </a:cubicBezTo>
                <a:cubicBezTo>
                  <a:pt x="2536825" y="6832"/>
                  <a:pt x="2799556" y="80651"/>
                  <a:pt x="3019425" y="162407"/>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966DF4E0-25E0-274C-BD4D-1561A06CDE96}"/>
              </a:ext>
            </a:extLst>
          </p:cNvPr>
          <p:cNvSpPr/>
          <p:nvPr/>
        </p:nvSpPr>
        <p:spPr>
          <a:xfrm>
            <a:off x="4733925" y="3809550"/>
            <a:ext cx="3876675" cy="1386593"/>
          </a:xfrm>
          <a:custGeom>
            <a:avLst/>
            <a:gdLst>
              <a:gd name="connsiteX0" fmla="*/ 0 w 4158530"/>
              <a:gd name="connsiteY0" fmla="*/ 1285875 h 1386593"/>
              <a:gd name="connsiteX1" fmla="*/ 1924050 w 4158530"/>
              <a:gd name="connsiteY1" fmla="*/ 1343025 h 1386593"/>
              <a:gd name="connsiteX2" fmla="*/ 3867150 w 4158530"/>
              <a:gd name="connsiteY2" fmla="*/ 723900 h 1386593"/>
              <a:gd name="connsiteX3" fmla="*/ 4114800 w 4158530"/>
              <a:gd name="connsiteY3" fmla="*/ 0 h 1386593"/>
            </a:gdLst>
            <a:ahLst/>
            <a:cxnLst>
              <a:cxn ang="0">
                <a:pos x="connsiteX0" y="connsiteY0"/>
              </a:cxn>
              <a:cxn ang="0">
                <a:pos x="connsiteX1" y="connsiteY1"/>
              </a:cxn>
              <a:cxn ang="0">
                <a:pos x="connsiteX2" y="connsiteY2"/>
              </a:cxn>
              <a:cxn ang="0">
                <a:pos x="connsiteX3" y="connsiteY3"/>
              </a:cxn>
            </a:cxnLst>
            <a:rect l="l" t="t" r="r" b="b"/>
            <a:pathLst>
              <a:path w="4158530" h="1386593">
                <a:moveTo>
                  <a:pt x="0" y="1285875"/>
                </a:moveTo>
                <a:cubicBezTo>
                  <a:pt x="639762" y="1361281"/>
                  <a:pt x="1279525" y="1436687"/>
                  <a:pt x="1924050" y="1343025"/>
                </a:cubicBezTo>
                <a:cubicBezTo>
                  <a:pt x="2568575" y="1249363"/>
                  <a:pt x="3502025" y="947737"/>
                  <a:pt x="3867150" y="723900"/>
                </a:cubicBezTo>
                <a:cubicBezTo>
                  <a:pt x="4232275" y="500063"/>
                  <a:pt x="4173537" y="250031"/>
                  <a:pt x="4114800" y="0"/>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239941CD-01D8-684A-A11C-476C73B2B145}"/>
              </a:ext>
            </a:extLst>
          </p:cNvPr>
          <p:cNvCxnSpPr>
            <a:cxnSpLocks/>
          </p:cNvCxnSpPr>
          <p:nvPr/>
        </p:nvCxnSpPr>
        <p:spPr>
          <a:xfrm flipV="1">
            <a:off x="2831306" y="4313247"/>
            <a:ext cx="408980"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E8662CB-B7E5-924A-994C-A5B0F64708AC}"/>
              </a:ext>
            </a:extLst>
          </p:cNvPr>
          <p:cNvCxnSpPr>
            <a:cxnSpLocks/>
          </p:cNvCxnSpPr>
          <p:nvPr/>
        </p:nvCxnSpPr>
        <p:spPr>
          <a:xfrm flipV="1">
            <a:off x="2817615" y="5058012"/>
            <a:ext cx="408980"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0C649E9-2EA6-844C-B4C4-2D133879EFC8}"/>
              </a:ext>
            </a:extLst>
          </p:cNvPr>
          <p:cNvSpPr txBox="1"/>
          <p:nvPr/>
        </p:nvSpPr>
        <p:spPr>
          <a:xfrm>
            <a:off x="3226595" y="4122550"/>
            <a:ext cx="1071127" cy="369332"/>
          </a:xfrm>
          <a:prstGeom prst="rect">
            <a:avLst/>
          </a:prstGeom>
          <a:noFill/>
        </p:spPr>
        <p:txBody>
          <a:bodyPr wrap="none" rtlCol="0">
            <a:spAutoFit/>
          </a:bodyPr>
          <a:lstStyle/>
          <a:p>
            <a:r>
              <a:rPr lang="en-US" sz="1800" i="1" dirty="0">
                <a:latin typeface="Consolas" panose="020B0609020204030204" pitchFamily="49" charset="0"/>
                <a:cs typeface="Consolas" panose="020B0609020204030204" pitchFamily="49" charset="0"/>
              </a:rPr>
              <a:t>&lt;empty&gt;</a:t>
            </a:r>
          </a:p>
        </p:txBody>
      </p:sp>
      <p:sp>
        <p:nvSpPr>
          <p:cNvPr id="40" name="Bent-Up Arrow 39">
            <a:extLst>
              <a:ext uri="{FF2B5EF4-FFF2-40B4-BE49-F238E27FC236}">
                <a16:creationId xmlns:a16="http://schemas.microsoft.com/office/drawing/2014/main" id="{71CC2CCE-AE1E-7948-94B8-B9B3C3F73290}"/>
              </a:ext>
            </a:extLst>
          </p:cNvPr>
          <p:cNvSpPr/>
          <p:nvPr/>
        </p:nvSpPr>
        <p:spPr>
          <a:xfrm rot="5400000">
            <a:off x="305395" y="2564013"/>
            <a:ext cx="800100" cy="244075"/>
          </a:xfrm>
          <a:prstGeom prst="bentUpArrow">
            <a:avLst>
              <a:gd name="adj1" fmla="val 17195"/>
              <a:gd name="adj2" fmla="val 25000"/>
              <a:gd name="adj3" fmla="val 25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Bent-Up Arrow 40">
            <a:extLst>
              <a:ext uri="{FF2B5EF4-FFF2-40B4-BE49-F238E27FC236}">
                <a16:creationId xmlns:a16="http://schemas.microsoft.com/office/drawing/2014/main" id="{38D2EFAC-DB50-514A-8D3E-EBB4E51C07D7}"/>
              </a:ext>
            </a:extLst>
          </p:cNvPr>
          <p:cNvSpPr/>
          <p:nvPr/>
        </p:nvSpPr>
        <p:spPr>
          <a:xfrm rot="5400000">
            <a:off x="464487" y="3687514"/>
            <a:ext cx="1143902" cy="244075"/>
          </a:xfrm>
          <a:prstGeom prst="bentUpArrow">
            <a:avLst>
              <a:gd name="adj1" fmla="val 17195"/>
              <a:gd name="adj2" fmla="val 25000"/>
              <a:gd name="adj3" fmla="val 25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Bent-Up Arrow 41">
            <a:extLst>
              <a:ext uri="{FF2B5EF4-FFF2-40B4-BE49-F238E27FC236}">
                <a16:creationId xmlns:a16="http://schemas.microsoft.com/office/drawing/2014/main" id="{E8B0899D-233C-2748-BE1C-84C311EEFA36}"/>
              </a:ext>
            </a:extLst>
          </p:cNvPr>
          <p:cNvSpPr/>
          <p:nvPr/>
        </p:nvSpPr>
        <p:spPr>
          <a:xfrm rot="5400000">
            <a:off x="591552" y="4557530"/>
            <a:ext cx="889771" cy="244075"/>
          </a:xfrm>
          <a:prstGeom prst="bentUpArrow">
            <a:avLst>
              <a:gd name="adj1" fmla="val 17195"/>
              <a:gd name="adj2" fmla="val 25000"/>
              <a:gd name="adj3" fmla="val 25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99424221-386E-2841-A653-7BFACF344ADF}"/>
              </a:ext>
            </a:extLst>
          </p:cNvPr>
          <p:cNvSpPr txBox="1"/>
          <p:nvPr/>
        </p:nvSpPr>
        <p:spPr>
          <a:xfrm>
            <a:off x="6386720" y="1343360"/>
            <a:ext cx="1301959" cy="369332"/>
          </a:xfrm>
          <a:prstGeom prst="rect">
            <a:avLst/>
          </a:prstGeom>
          <a:noFill/>
        </p:spPr>
        <p:txBody>
          <a:bodyPr wrap="none" rtlCol="0">
            <a:spAutoFit/>
          </a:bodyPr>
          <a:lstStyle/>
          <a:p>
            <a:r>
              <a:rPr lang="en-US" sz="1800" b="1" u="sng" dirty="0"/>
              <a:t>"The AST"</a:t>
            </a:r>
          </a:p>
        </p:txBody>
      </p:sp>
    </p:spTree>
    <p:extLst>
      <p:ext uri="{BB962C8B-B14F-4D97-AF65-F5344CB8AC3E}">
        <p14:creationId xmlns:p14="http://schemas.microsoft.com/office/powerpoint/2010/main" val="9344524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4" grpId="0" animBg="1"/>
      <p:bldP spid="19" grpId="0" animBg="1"/>
      <p:bldP spid="21" grpId="0" animBg="1"/>
      <p:bldP spid="22" grpId="0" animBg="1"/>
      <p:bldP spid="31" grpId="0" animBg="1"/>
      <p:bldP spid="32" grpId="0"/>
      <p:bldP spid="33" grpId="0" animBg="1"/>
      <p:bldP spid="34" grpId="0" animBg="1"/>
      <p:bldP spid="35" grpId="0" animBg="1"/>
      <p:bldP spid="36" grpId="0" animBg="1"/>
      <p:bldP spid="39" grpId="0"/>
      <p:bldP spid="40" grpId="0" animBg="1"/>
      <p:bldP spid="41" grpId="0" animBg="1"/>
      <p:bldP spid="42" grpId="0" animBg="1"/>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C473-5D96-0A40-B10E-A9DC8EB6C2F2}"/>
              </a:ext>
            </a:extLst>
          </p:cNvPr>
          <p:cNvSpPr>
            <a:spLocks noGrp="1"/>
          </p:cNvSpPr>
          <p:nvPr>
            <p:ph type="title"/>
          </p:nvPr>
        </p:nvSpPr>
        <p:spPr/>
        <p:txBody>
          <a:bodyPr/>
          <a:lstStyle/>
          <a:p>
            <a:r>
              <a:rPr lang="en-US" dirty="0"/>
              <a:t>Parent scopes</a:t>
            </a:r>
          </a:p>
        </p:txBody>
      </p:sp>
      <p:sp>
        <p:nvSpPr>
          <p:cNvPr id="3" name="Content Placeholder 2">
            <a:extLst>
              <a:ext uri="{FF2B5EF4-FFF2-40B4-BE49-F238E27FC236}">
                <a16:creationId xmlns:a16="http://schemas.microsoft.com/office/drawing/2014/main" id="{E8FE5B66-F286-494A-B54C-E6948FE4E8B0}"/>
              </a:ext>
            </a:extLst>
          </p:cNvPr>
          <p:cNvSpPr>
            <a:spLocks noGrp="1"/>
          </p:cNvSpPr>
          <p:nvPr>
            <p:ph idx="1"/>
          </p:nvPr>
        </p:nvSpPr>
        <p:spPr>
          <a:xfrm>
            <a:off x="152400" y="495302"/>
            <a:ext cx="8991600" cy="1219198"/>
          </a:xfrm>
        </p:spPr>
        <p:txBody>
          <a:bodyPr/>
          <a:lstStyle/>
          <a:p>
            <a:r>
              <a:rPr lang="en-US" dirty="0"/>
              <a:t>each child scope </a:t>
            </a:r>
            <a:r>
              <a:rPr lang="en-US" b="1" dirty="0"/>
              <a:t>also </a:t>
            </a:r>
            <a:r>
              <a:rPr lang="en-US" dirty="0"/>
              <a:t>needs to know which scope is its </a:t>
            </a:r>
            <a:r>
              <a:rPr lang="en-US" b="1" dirty="0"/>
              <a:t>parent</a:t>
            </a:r>
            <a:r>
              <a:rPr lang="en-US" dirty="0"/>
              <a:t>.</a:t>
            </a:r>
          </a:p>
          <a:p>
            <a:pPr lvl="1"/>
            <a:r>
              <a:rPr lang="en-US" dirty="0"/>
              <a:t>(this is used in the name resolution algorithm.)</a:t>
            </a:r>
          </a:p>
          <a:p>
            <a:r>
              <a:rPr lang="en-US" dirty="0"/>
              <a:t>that means we've got </a:t>
            </a:r>
            <a:r>
              <a:rPr lang="en-US" b="1" dirty="0"/>
              <a:t>bidirectional links </a:t>
            </a:r>
            <a:r>
              <a:rPr lang="en-US" dirty="0"/>
              <a:t>between the scopes.</a:t>
            </a:r>
          </a:p>
        </p:txBody>
      </p:sp>
      <p:sp>
        <p:nvSpPr>
          <p:cNvPr id="4" name="Slide Number Placeholder 3">
            <a:extLst>
              <a:ext uri="{FF2B5EF4-FFF2-40B4-BE49-F238E27FC236}">
                <a16:creationId xmlns:a16="http://schemas.microsoft.com/office/drawing/2014/main" id="{CFBD6268-A3BA-2B4C-B77C-A953518F995C}"/>
              </a:ext>
            </a:extLst>
          </p:cNvPr>
          <p:cNvSpPr>
            <a:spLocks noGrp="1"/>
          </p:cNvSpPr>
          <p:nvPr>
            <p:ph type="sldNum" sz="quarter" idx="12"/>
          </p:nvPr>
        </p:nvSpPr>
        <p:spPr/>
        <p:txBody>
          <a:bodyPr/>
          <a:lstStyle/>
          <a:p>
            <a:fld id="{3552B95B-556F-44BD-91A5-D80C1B9E2BB3}" type="slidenum">
              <a:rPr lang="en-US" smtClean="0"/>
              <a:pPr/>
              <a:t>8</a:t>
            </a:fld>
            <a:endParaRPr lang="en-US"/>
          </a:p>
        </p:txBody>
      </p:sp>
      <p:grpSp>
        <p:nvGrpSpPr>
          <p:cNvPr id="24" name="Group 23">
            <a:extLst>
              <a:ext uri="{FF2B5EF4-FFF2-40B4-BE49-F238E27FC236}">
                <a16:creationId xmlns:a16="http://schemas.microsoft.com/office/drawing/2014/main" id="{78E2AD9D-A72F-0240-9FE1-C7599198E86A}"/>
              </a:ext>
            </a:extLst>
          </p:cNvPr>
          <p:cNvGrpSpPr/>
          <p:nvPr/>
        </p:nvGrpSpPr>
        <p:grpSpPr>
          <a:xfrm>
            <a:off x="274305" y="1866900"/>
            <a:ext cx="3732532" cy="2634073"/>
            <a:chOff x="274305" y="1866900"/>
            <a:chExt cx="3732532" cy="2634073"/>
          </a:xfrm>
        </p:grpSpPr>
        <p:sp>
          <p:nvSpPr>
            <p:cNvPr id="5" name="Rectangle 4">
              <a:extLst>
                <a:ext uri="{FF2B5EF4-FFF2-40B4-BE49-F238E27FC236}">
                  <a16:creationId xmlns:a16="http://schemas.microsoft.com/office/drawing/2014/main" id="{15A435F6-AAC3-DF4F-AE6D-546DD875C9B1}"/>
                </a:ext>
              </a:extLst>
            </p:cNvPr>
            <p:cNvSpPr/>
            <p:nvPr/>
          </p:nvSpPr>
          <p:spPr>
            <a:xfrm>
              <a:off x="990600" y="1866900"/>
              <a:ext cx="2202655" cy="47577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onsolas" panose="020B0609020204030204" pitchFamily="49" charset="0"/>
                  <a:cs typeface="Consolas" panose="020B0609020204030204" pitchFamily="49" charset="0"/>
                </a:rPr>
                <a:t>&lt;global scope&gt;</a:t>
              </a:r>
            </a:p>
          </p:txBody>
        </p:sp>
        <p:sp>
          <p:nvSpPr>
            <p:cNvPr id="7" name="Rectangle 6">
              <a:extLst>
                <a:ext uri="{FF2B5EF4-FFF2-40B4-BE49-F238E27FC236}">
                  <a16:creationId xmlns:a16="http://schemas.microsoft.com/office/drawing/2014/main" id="{43491AD9-BA98-464E-86FE-733CC8E2E5C3}"/>
                </a:ext>
              </a:extLst>
            </p:cNvPr>
            <p:cNvSpPr/>
            <p:nvPr/>
          </p:nvSpPr>
          <p:spPr>
            <a:xfrm>
              <a:off x="1255512" y="2924413"/>
              <a:ext cx="1672829" cy="47577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onsolas" panose="020B0609020204030204" pitchFamily="49" charset="0"/>
                  <a:cs typeface="Consolas" panose="020B0609020204030204" pitchFamily="49" charset="0"/>
                </a:rPr>
                <a:t>A's scope</a:t>
              </a:r>
            </a:p>
          </p:txBody>
        </p:sp>
        <p:sp>
          <p:nvSpPr>
            <p:cNvPr id="9" name="Rectangle 8">
              <a:extLst>
                <a:ext uri="{FF2B5EF4-FFF2-40B4-BE49-F238E27FC236}">
                  <a16:creationId xmlns:a16="http://schemas.microsoft.com/office/drawing/2014/main" id="{04F86FFC-E95D-C54E-9CB6-3D4037BA3025}"/>
                </a:ext>
              </a:extLst>
            </p:cNvPr>
            <p:cNvSpPr/>
            <p:nvPr/>
          </p:nvSpPr>
          <p:spPr>
            <a:xfrm>
              <a:off x="274305" y="4025199"/>
              <a:ext cx="1672829" cy="47577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cs typeface="Consolas" panose="020B0609020204030204" pitchFamily="49" charset="0"/>
                </a:rPr>
                <a:t>main's scope</a:t>
              </a:r>
            </a:p>
          </p:txBody>
        </p:sp>
        <p:sp>
          <p:nvSpPr>
            <p:cNvPr id="10" name="Rectangle 9">
              <a:extLst>
                <a:ext uri="{FF2B5EF4-FFF2-40B4-BE49-F238E27FC236}">
                  <a16:creationId xmlns:a16="http://schemas.microsoft.com/office/drawing/2014/main" id="{F1018360-F036-0545-88E6-D71527FE2A20}"/>
                </a:ext>
              </a:extLst>
            </p:cNvPr>
            <p:cNvSpPr/>
            <p:nvPr/>
          </p:nvSpPr>
          <p:spPr>
            <a:xfrm>
              <a:off x="2334008" y="4025199"/>
              <a:ext cx="1672829" cy="47577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cs typeface="Consolas" panose="020B0609020204030204" pitchFamily="49" charset="0"/>
                </a:rPr>
                <a:t>foo's scope</a:t>
              </a:r>
            </a:p>
          </p:txBody>
        </p:sp>
        <p:cxnSp>
          <p:nvCxnSpPr>
            <p:cNvPr id="15" name="Straight Arrow Connector 14">
              <a:extLst>
                <a:ext uri="{FF2B5EF4-FFF2-40B4-BE49-F238E27FC236}">
                  <a16:creationId xmlns:a16="http://schemas.microsoft.com/office/drawing/2014/main" id="{9C91D665-5C54-A04D-B168-92C139113006}"/>
                </a:ext>
              </a:extLst>
            </p:cNvPr>
            <p:cNvCxnSpPr>
              <a:stCxn id="5" idx="2"/>
              <a:endCxn id="7" idx="0"/>
            </p:cNvCxnSpPr>
            <p:nvPr/>
          </p:nvCxnSpPr>
          <p:spPr>
            <a:xfrm flipH="1">
              <a:off x="2091927" y="2342674"/>
              <a:ext cx="1" cy="581739"/>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293D94D-5347-C84A-AD38-5F0CA6F1F624}"/>
                </a:ext>
              </a:extLst>
            </p:cNvPr>
            <p:cNvCxnSpPr>
              <a:cxnSpLocks/>
              <a:endCxn id="9" idx="0"/>
            </p:cNvCxnSpPr>
            <p:nvPr/>
          </p:nvCxnSpPr>
          <p:spPr>
            <a:xfrm flipH="1">
              <a:off x="1110720" y="3412638"/>
              <a:ext cx="511670" cy="612561"/>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9F7689D-31D3-3F43-B708-A0EA7E555CDC}"/>
                </a:ext>
              </a:extLst>
            </p:cNvPr>
            <p:cNvCxnSpPr>
              <a:cxnSpLocks/>
              <a:endCxn id="10" idx="0"/>
            </p:cNvCxnSpPr>
            <p:nvPr/>
          </p:nvCxnSpPr>
          <p:spPr>
            <a:xfrm>
              <a:off x="2554357" y="3412638"/>
              <a:ext cx="616066" cy="612561"/>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B5EC7C1A-1E79-5A4E-9EBE-163600E070D7}"/>
              </a:ext>
            </a:extLst>
          </p:cNvPr>
          <p:cNvSpPr txBox="1"/>
          <p:nvPr/>
        </p:nvSpPr>
        <p:spPr>
          <a:xfrm>
            <a:off x="4114800" y="1866900"/>
            <a:ext cx="4412971" cy="1107996"/>
          </a:xfrm>
          <a:prstGeom prst="rect">
            <a:avLst/>
          </a:prstGeom>
          <a:noFill/>
        </p:spPr>
        <p:txBody>
          <a:bodyPr wrap="square" rtlCol="0">
            <a:spAutoFit/>
          </a:bodyPr>
          <a:lstStyle/>
          <a:p>
            <a:pPr algn="ctr"/>
            <a:r>
              <a:rPr lang="en-US" sz="2200" dirty="0"/>
              <a:t>this is going to have </a:t>
            </a:r>
            <a:r>
              <a:rPr lang="en-US" sz="2200" i="1" dirty="0"/>
              <a:t>implications </a:t>
            </a:r>
            <a:r>
              <a:rPr lang="en-US" sz="2200" dirty="0"/>
              <a:t>for the way we implement this data structure in Rust…</a:t>
            </a:r>
          </a:p>
        </p:txBody>
      </p:sp>
      <p:sp>
        <p:nvSpPr>
          <p:cNvPr id="26" name="TextBox 25">
            <a:extLst>
              <a:ext uri="{FF2B5EF4-FFF2-40B4-BE49-F238E27FC236}">
                <a16:creationId xmlns:a16="http://schemas.microsoft.com/office/drawing/2014/main" id="{2CCE52A0-52BF-8547-9FBE-9B18510320F4}"/>
              </a:ext>
            </a:extLst>
          </p:cNvPr>
          <p:cNvSpPr txBox="1"/>
          <p:nvPr/>
        </p:nvSpPr>
        <p:spPr>
          <a:xfrm>
            <a:off x="4114800" y="3164920"/>
            <a:ext cx="4754895" cy="1107996"/>
          </a:xfrm>
          <a:prstGeom prst="rect">
            <a:avLst/>
          </a:prstGeom>
          <a:noFill/>
        </p:spPr>
        <p:txBody>
          <a:bodyPr wrap="square" rtlCol="0">
            <a:spAutoFit/>
          </a:bodyPr>
          <a:lstStyle/>
          <a:p>
            <a:pPr algn="ctr"/>
            <a:r>
              <a:rPr lang="en-US" sz="2200" dirty="0"/>
              <a:t>but then each scope has a symbol table which somehow points </a:t>
            </a:r>
            <a:r>
              <a:rPr lang="en-US" sz="2200" i="1" dirty="0"/>
              <a:t>into</a:t>
            </a:r>
            <a:r>
              <a:rPr lang="en-US" sz="2200" dirty="0"/>
              <a:t> the AST? how do we deal with that?</a:t>
            </a:r>
          </a:p>
        </p:txBody>
      </p:sp>
      <p:sp>
        <p:nvSpPr>
          <p:cNvPr id="27" name="TextBox 26">
            <a:extLst>
              <a:ext uri="{FF2B5EF4-FFF2-40B4-BE49-F238E27FC236}">
                <a16:creationId xmlns:a16="http://schemas.microsoft.com/office/drawing/2014/main" id="{9C715A79-67BE-6546-944B-D9E065993F26}"/>
              </a:ext>
            </a:extLst>
          </p:cNvPr>
          <p:cNvSpPr txBox="1"/>
          <p:nvPr/>
        </p:nvSpPr>
        <p:spPr>
          <a:xfrm>
            <a:off x="4884399" y="4463427"/>
            <a:ext cx="2873771" cy="646331"/>
          </a:xfrm>
          <a:prstGeom prst="rect">
            <a:avLst/>
          </a:prstGeom>
          <a:noFill/>
        </p:spPr>
        <p:txBody>
          <a:bodyPr wrap="square" rtlCol="0">
            <a:spAutoFit/>
          </a:bodyPr>
          <a:lstStyle/>
          <a:p>
            <a:pPr algn="ctr"/>
            <a:r>
              <a:rPr lang="en-US" sz="1800" dirty="0"/>
              <a:t>maybe we could integrate this </a:t>
            </a:r>
            <a:r>
              <a:rPr lang="en-US" sz="1800" i="1" dirty="0"/>
              <a:t>into </a:t>
            </a:r>
            <a:r>
              <a:rPr lang="en-US" sz="1800" dirty="0"/>
              <a:t>the AST??</a:t>
            </a:r>
          </a:p>
        </p:txBody>
      </p:sp>
      <p:sp>
        <p:nvSpPr>
          <p:cNvPr id="28" name="TextBox 27">
            <a:extLst>
              <a:ext uri="{FF2B5EF4-FFF2-40B4-BE49-F238E27FC236}">
                <a16:creationId xmlns:a16="http://schemas.microsoft.com/office/drawing/2014/main" id="{D8A6C7D2-39B0-224A-AADA-AD50205C62D6}"/>
              </a:ext>
            </a:extLst>
          </p:cNvPr>
          <p:cNvSpPr txBox="1"/>
          <p:nvPr/>
        </p:nvSpPr>
        <p:spPr>
          <a:xfrm>
            <a:off x="5761961" y="5112294"/>
            <a:ext cx="2873771" cy="369332"/>
          </a:xfrm>
          <a:prstGeom prst="rect">
            <a:avLst/>
          </a:prstGeom>
          <a:noFill/>
        </p:spPr>
        <p:txBody>
          <a:bodyPr wrap="square" rtlCol="0">
            <a:spAutoFit/>
          </a:bodyPr>
          <a:lstStyle/>
          <a:p>
            <a:pPr algn="ctr"/>
            <a:r>
              <a:rPr lang="en-US" sz="1800" dirty="0"/>
              <a:t>WELL, NO……..</a:t>
            </a:r>
          </a:p>
        </p:txBody>
      </p:sp>
    </p:spTree>
    <p:extLst>
      <p:ext uri="{BB962C8B-B14F-4D97-AF65-F5344CB8AC3E}">
        <p14:creationId xmlns:p14="http://schemas.microsoft.com/office/powerpoint/2010/main" val="41826439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22F89-66D6-394D-ACB7-AE22B6D9F28A}"/>
              </a:ext>
            </a:extLst>
          </p:cNvPr>
          <p:cNvSpPr>
            <a:spLocks noGrp="1"/>
          </p:cNvSpPr>
          <p:nvPr>
            <p:ph type="title"/>
          </p:nvPr>
        </p:nvSpPr>
        <p:spPr/>
        <p:txBody>
          <a:bodyPr/>
          <a:lstStyle/>
          <a:p>
            <a:r>
              <a:rPr lang="en-US" dirty="0"/>
              <a:t>Syntax, not semantics</a:t>
            </a:r>
          </a:p>
        </p:txBody>
      </p:sp>
      <p:sp>
        <p:nvSpPr>
          <p:cNvPr id="3" name="Content Placeholder 2">
            <a:extLst>
              <a:ext uri="{FF2B5EF4-FFF2-40B4-BE49-F238E27FC236}">
                <a16:creationId xmlns:a16="http://schemas.microsoft.com/office/drawing/2014/main" id="{2A493F28-3617-364F-9740-96386FAF40EB}"/>
              </a:ext>
            </a:extLst>
          </p:cNvPr>
          <p:cNvSpPr>
            <a:spLocks noGrp="1"/>
          </p:cNvSpPr>
          <p:nvPr>
            <p:ph idx="1"/>
          </p:nvPr>
        </p:nvSpPr>
        <p:spPr/>
        <p:txBody>
          <a:bodyPr/>
          <a:lstStyle/>
          <a:p>
            <a:r>
              <a:rPr lang="en-US" dirty="0"/>
              <a:t>since the scopes </a:t>
            </a:r>
            <a:r>
              <a:rPr lang="en-US" i="1" dirty="0"/>
              <a:t>more or less</a:t>
            </a:r>
            <a:r>
              <a:rPr lang="en-US" dirty="0"/>
              <a:t> follow the syntax (</a:t>
            </a:r>
            <a:r>
              <a:rPr lang="en-US" b="1" dirty="0">
                <a:latin typeface="Consolas" panose="020B0609020204030204" pitchFamily="49" charset="0"/>
                <a:cs typeface="Consolas" panose="020B0609020204030204" pitchFamily="49" charset="0"/>
              </a:rPr>
              <a:t>{}</a:t>
            </a:r>
            <a:r>
              <a:rPr lang="en-US" dirty="0"/>
              <a:t> ≅ scope)…</a:t>
            </a:r>
          </a:p>
          <a:p>
            <a:pPr lvl="1"/>
            <a:r>
              <a:rPr lang="en-US" dirty="0"/>
              <a:t>we might be tempted to jam the scope tree into the AST somehow.</a:t>
            </a:r>
          </a:p>
          <a:p>
            <a:pPr lvl="1"/>
            <a:r>
              <a:rPr lang="en-US" b="1" dirty="0">
                <a:solidFill>
                  <a:srgbClr val="FF0000"/>
                </a:solidFill>
              </a:rPr>
              <a:t>this is a really bad idea.</a:t>
            </a:r>
          </a:p>
          <a:p>
            <a:r>
              <a:rPr lang="en-US" dirty="0"/>
              <a:t>the AST is an abstract </a:t>
            </a:r>
            <a:r>
              <a:rPr lang="en-US" b="1" i="1" dirty="0"/>
              <a:t>syntax </a:t>
            </a:r>
            <a:r>
              <a:rPr lang="en-US" dirty="0"/>
              <a:t>tree, but we're moving </a:t>
            </a:r>
            <a:r>
              <a:rPr lang="en-US" b="1" i="1" dirty="0"/>
              <a:t>beyond syntax.</a:t>
            </a:r>
          </a:p>
          <a:p>
            <a:pPr lvl="1"/>
            <a:r>
              <a:rPr lang="en-US" dirty="0"/>
              <a:t>the relationships established by name resolution can crisscross the whole program and form </a:t>
            </a:r>
            <a:r>
              <a:rPr lang="en-US" b="1" dirty="0"/>
              <a:t>any shape of graph, including cycles.</a:t>
            </a:r>
            <a:endParaRPr lang="en-US" dirty="0"/>
          </a:p>
          <a:p>
            <a:pPr lvl="1"/>
            <a:r>
              <a:rPr lang="en-US" dirty="0"/>
              <a:t>and as we get further into semantic analysis – and then into optimization and code generation – the syntax will become less and less relevant.</a:t>
            </a:r>
          </a:p>
          <a:p>
            <a:r>
              <a:rPr lang="en-US" dirty="0"/>
              <a:t>so, the scope tree data structure should exist </a:t>
            </a:r>
            <a:r>
              <a:rPr lang="en-US" i="1" dirty="0"/>
              <a:t>in parallel to</a:t>
            </a:r>
            <a:r>
              <a:rPr lang="en-US" dirty="0"/>
              <a:t> the AST.</a:t>
            </a:r>
          </a:p>
          <a:p>
            <a:pPr lvl="1"/>
            <a:r>
              <a:rPr lang="en-US" dirty="0"/>
              <a:t>we'll represent the links between the two data structures in an indirect way, as we'll see…</a:t>
            </a:r>
          </a:p>
        </p:txBody>
      </p:sp>
      <p:sp>
        <p:nvSpPr>
          <p:cNvPr id="4" name="Slide Number Placeholder 3">
            <a:extLst>
              <a:ext uri="{FF2B5EF4-FFF2-40B4-BE49-F238E27FC236}">
                <a16:creationId xmlns:a16="http://schemas.microsoft.com/office/drawing/2014/main" id="{22770276-8CAF-B74D-98D1-606A38AF0FA1}"/>
              </a:ext>
            </a:extLst>
          </p:cNvPr>
          <p:cNvSpPr>
            <a:spLocks noGrp="1"/>
          </p:cNvSpPr>
          <p:nvPr>
            <p:ph type="sldNum" sz="quarter" idx="12"/>
          </p:nvPr>
        </p:nvSpPr>
        <p:spPr/>
        <p:txBody>
          <a:bodyPr/>
          <a:lstStyle/>
          <a:p>
            <a:fld id="{3552B95B-556F-44BD-91A5-D80C1B9E2BB3}" type="slidenum">
              <a:rPr lang="en-US" smtClean="0"/>
              <a:pPr/>
              <a:t>9</a:t>
            </a:fld>
            <a:endParaRPr lang="en-US"/>
          </a:p>
        </p:txBody>
      </p:sp>
    </p:spTree>
    <p:extLst>
      <p:ext uri="{BB962C8B-B14F-4D97-AF65-F5344CB8AC3E}">
        <p14:creationId xmlns:p14="http://schemas.microsoft.com/office/powerpoint/2010/main" val="231529865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CE8A2-3BB0-554D-9079-F7277D546DBA}"/>
              </a:ext>
            </a:extLst>
          </p:cNvPr>
          <p:cNvSpPr>
            <a:spLocks noGrp="1"/>
          </p:cNvSpPr>
          <p:nvPr>
            <p:ph type="ctrTitle"/>
          </p:nvPr>
        </p:nvSpPr>
        <p:spPr/>
        <p:txBody>
          <a:bodyPr/>
          <a:lstStyle/>
          <a:p>
            <a:r>
              <a:rPr lang="en-US" dirty="0"/>
              <a:t>Name Resolution</a:t>
            </a:r>
          </a:p>
        </p:txBody>
      </p:sp>
      <p:sp>
        <p:nvSpPr>
          <p:cNvPr id="4" name="Subtitle 3">
            <a:extLst>
              <a:ext uri="{FF2B5EF4-FFF2-40B4-BE49-F238E27FC236}">
                <a16:creationId xmlns:a16="http://schemas.microsoft.com/office/drawing/2014/main" id="{236FB4AC-2AB4-7347-9A07-2C93565881A6}"/>
              </a:ext>
            </a:extLst>
          </p:cNvPr>
          <p:cNvSpPr>
            <a:spLocks noGrp="1"/>
          </p:cNvSpPr>
          <p:nvPr>
            <p:ph type="subTitle" idx="1"/>
          </p:nvPr>
        </p:nvSpPr>
        <p:spPr/>
        <p:txBody>
          <a:bodyPr>
            <a:normAutofit/>
          </a:bodyPr>
          <a:lstStyle/>
          <a:p>
            <a:r>
              <a:rPr lang="en-US" sz="1200" dirty="0"/>
              <a:t>time check ≤ 20</a:t>
            </a:r>
          </a:p>
        </p:txBody>
      </p:sp>
      <p:sp>
        <p:nvSpPr>
          <p:cNvPr id="3" name="Slide Number Placeholder 2">
            <a:extLst>
              <a:ext uri="{FF2B5EF4-FFF2-40B4-BE49-F238E27FC236}">
                <a16:creationId xmlns:a16="http://schemas.microsoft.com/office/drawing/2014/main" id="{10F852B8-2A9D-E54D-A0F3-9B0BAC7B0C2D}"/>
              </a:ext>
            </a:extLst>
          </p:cNvPr>
          <p:cNvSpPr>
            <a:spLocks noGrp="1"/>
          </p:cNvSpPr>
          <p:nvPr>
            <p:ph type="sldNum" sz="quarter" idx="12"/>
          </p:nvPr>
        </p:nvSpPr>
        <p:spPr/>
        <p:txBody>
          <a:bodyPr/>
          <a:lstStyle/>
          <a:p>
            <a:fld id="{3552B95B-556F-44BD-91A5-D80C1B9E2BB3}" type="slidenum">
              <a:rPr lang="en-US" smtClean="0"/>
              <a:pPr/>
              <a:t>10</a:t>
            </a:fld>
            <a:endParaRPr lang="en-US"/>
          </a:p>
        </p:txBody>
      </p:sp>
    </p:spTree>
    <p:extLst>
      <p:ext uri="{BB962C8B-B14F-4D97-AF65-F5344CB8AC3E}">
        <p14:creationId xmlns:p14="http://schemas.microsoft.com/office/powerpoint/2010/main" val="201716510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E1F2A-856C-7B4C-9B4B-8F4437E109C3}"/>
              </a:ext>
            </a:extLst>
          </p:cNvPr>
          <p:cNvSpPr>
            <a:spLocks noGrp="1"/>
          </p:cNvSpPr>
          <p:nvPr>
            <p:ph type="title"/>
          </p:nvPr>
        </p:nvSpPr>
        <p:spPr/>
        <p:txBody>
          <a:bodyPr/>
          <a:lstStyle/>
          <a:p>
            <a:r>
              <a:rPr lang="en-US" dirty="0"/>
              <a:t>Declaration vs. use</a:t>
            </a:r>
          </a:p>
        </p:txBody>
      </p:sp>
      <p:sp>
        <p:nvSpPr>
          <p:cNvPr id="3" name="Content Placeholder 2">
            <a:extLst>
              <a:ext uri="{FF2B5EF4-FFF2-40B4-BE49-F238E27FC236}">
                <a16:creationId xmlns:a16="http://schemas.microsoft.com/office/drawing/2014/main" id="{F963DF07-3CE9-0648-A25F-B4A47FB05ED6}"/>
              </a:ext>
            </a:extLst>
          </p:cNvPr>
          <p:cNvSpPr>
            <a:spLocks noGrp="1"/>
          </p:cNvSpPr>
          <p:nvPr>
            <p:ph idx="1"/>
          </p:nvPr>
        </p:nvSpPr>
        <p:spPr>
          <a:xfrm>
            <a:off x="152400" y="495301"/>
            <a:ext cx="8991600" cy="1219199"/>
          </a:xfrm>
        </p:spPr>
        <p:txBody>
          <a:bodyPr/>
          <a:lstStyle/>
          <a:p>
            <a:r>
              <a:rPr lang="en-US" dirty="0"/>
              <a:t>when we </a:t>
            </a:r>
            <a:r>
              <a:rPr lang="en-US" b="1" dirty="0"/>
              <a:t>declare </a:t>
            </a:r>
            <a:r>
              <a:rPr lang="en-US" dirty="0"/>
              <a:t>classes, variables, functions etc. that makes the name </a:t>
            </a:r>
            <a:r>
              <a:rPr lang="en-US" b="1" dirty="0"/>
              <a:t>available for use </a:t>
            </a:r>
            <a:r>
              <a:rPr lang="en-US" dirty="0"/>
              <a:t>by other pieces of code.</a:t>
            </a:r>
          </a:p>
          <a:p>
            <a:pPr lvl="1"/>
            <a:r>
              <a:rPr lang="en-US" dirty="0"/>
              <a:t>a declaration essentially </a:t>
            </a:r>
            <a:r>
              <a:rPr lang="en-US" b="1" dirty="0"/>
              <a:t>inserts a name</a:t>
            </a:r>
            <a:r>
              <a:rPr lang="en-US" dirty="0"/>
              <a:t> into a symbol table.</a:t>
            </a:r>
          </a:p>
        </p:txBody>
      </p:sp>
      <p:sp>
        <p:nvSpPr>
          <p:cNvPr id="4" name="Slide Number Placeholder 3">
            <a:extLst>
              <a:ext uri="{FF2B5EF4-FFF2-40B4-BE49-F238E27FC236}">
                <a16:creationId xmlns:a16="http://schemas.microsoft.com/office/drawing/2014/main" id="{AC31E52C-4778-D54F-ACF8-B0A0E16783D6}"/>
              </a:ext>
            </a:extLst>
          </p:cNvPr>
          <p:cNvSpPr>
            <a:spLocks noGrp="1"/>
          </p:cNvSpPr>
          <p:nvPr>
            <p:ph type="sldNum" sz="quarter" idx="12"/>
          </p:nvPr>
        </p:nvSpPr>
        <p:spPr/>
        <p:txBody>
          <a:bodyPr/>
          <a:lstStyle/>
          <a:p>
            <a:fld id="{3552B95B-556F-44BD-91A5-D80C1B9E2BB3}" type="slidenum">
              <a:rPr lang="en-US" smtClean="0"/>
              <a:pPr/>
              <a:t>11</a:t>
            </a:fld>
            <a:endParaRPr lang="en-US"/>
          </a:p>
        </p:txBody>
      </p:sp>
      <p:sp>
        <p:nvSpPr>
          <p:cNvPr id="5" name="TextBox 4">
            <a:extLst>
              <a:ext uri="{FF2B5EF4-FFF2-40B4-BE49-F238E27FC236}">
                <a16:creationId xmlns:a16="http://schemas.microsoft.com/office/drawing/2014/main" id="{CF066213-6512-B649-9B81-9601796DBE94}"/>
              </a:ext>
            </a:extLst>
          </p:cNvPr>
          <p:cNvSpPr txBox="1"/>
          <p:nvPr/>
        </p:nvSpPr>
        <p:spPr>
          <a:xfrm>
            <a:off x="457200" y="1714500"/>
            <a:ext cx="2053767" cy="1938992"/>
          </a:xfrm>
          <a:prstGeom prst="rect">
            <a:avLst/>
          </a:prstGeom>
          <a:noFill/>
        </p:spPr>
        <p:txBody>
          <a:bodyPr wrap="none" rtlCol="0">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x = x + </a:t>
            </a:r>
            <a:r>
              <a:rPr lang="en-US" sz="2400" b="1" dirty="0">
                <a:solidFill>
                  <a:schemeClr val="accent3">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println</a:t>
            </a:r>
            <a:r>
              <a:rPr lang="en-US" sz="2400" b="1" dirty="0">
                <a:latin typeface="Consolas" panose="020B0609020204030204" pitchFamily="49" charset="0"/>
                <a:cs typeface="Consolas" panose="020B0609020204030204" pitchFamily="49" charset="0"/>
              </a:rPr>
              <a:t>(x);</a:t>
            </a:r>
          </a:p>
          <a:p>
            <a:r>
              <a:rPr lang="en-US" sz="2400" b="1" dirty="0">
                <a:latin typeface="Consolas" panose="020B0609020204030204" pitchFamily="49" charset="0"/>
                <a:cs typeface="Consolas" panose="020B0609020204030204" pitchFamily="49" charset="0"/>
              </a:rPr>
              <a:t>x = f();</a:t>
            </a:r>
          </a:p>
          <a:p>
            <a:r>
              <a:rPr lang="en-US" sz="2400" b="1" dirty="0">
                <a:solidFill>
                  <a:srgbClr val="FF0000"/>
                </a:solidFill>
                <a:latin typeface="Consolas" panose="020B0609020204030204" pitchFamily="49" charset="0"/>
                <a:cs typeface="Consolas" panose="020B0609020204030204" pitchFamily="49" charset="0"/>
              </a:rPr>
              <a:t>return</a:t>
            </a:r>
            <a:r>
              <a:rPr lang="en-US" sz="2400" b="1" dirty="0">
                <a:latin typeface="Consolas" panose="020B0609020204030204" pitchFamily="49" charset="0"/>
                <a:cs typeface="Consolas" panose="020B0609020204030204" pitchFamily="49" charset="0"/>
              </a:rPr>
              <a:t> x;</a:t>
            </a:r>
          </a:p>
        </p:txBody>
      </p:sp>
      <p:grpSp>
        <p:nvGrpSpPr>
          <p:cNvPr id="10" name="Group 9">
            <a:extLst>
              <a:ext uri="{FF2B5EF4-FFF2-40B4-BE49-F238E27FC236}">
                <a16:creationId xmlns:a16="http://schemas.microsoft.com/office/drawing/2014/main" id="{C0771488-A475-BA4D-AB71-757B2F1721F6}"/>
              </a:ext>
            </a:extLst>
          </p:cNvPr>
          <p:cNvGrpSpPr/>
          <p:nvPr/>
        </p:nvGrpSpPr>
        <p:grpSpPr>
          <a:xfrm>
            <a:off x="2510968" y="1727656"/>
            <a:ext cx="5261432" cy="769441"/>
            <a:chOff x="2510968" y="1727656"/>
            <a:chExt cx="5261432" cy="769441"/>
          </a:xfrm>
        </p:grpSpPr>
        <p:sp>
          <p:nvSpPr>
            <p:cNvPr id="6" name="TextBox 5">
              <a:extLst>
                <a:ext uri="{FF2B5EF4-FFF2-40B4-BE49-F238E27FC236}">
                  <a16:creationId xmlns:a16="http://schemas.microsoft.com/office/drawing/2014/main" id="{DF26C1EB-9580-8C4E-9572-0E0E8349D39C}"/>
                </a:ext>
              </a:extLst>
            </p:cNvPr>
            <p:cNvSpPr txBox="1"/>
            <p:nvPr/>
          </p:nvSpPr>
          <p:spPr>
            <a:xfrm>
              <a:off x="3001617" y="1727656"/>
              <a:ext cx="4770783" cy="769441"/>
            </a:xfrm>
            <a:prstGeom prst="rect">
              <a:avLst/>
            </a:prstGeom>
            <a:noFill/>
          </p:spPr>
          <p:txBody>
            <a:bodyPr wrap="square" rtlCol="0">
              <a:spAutoFit/>
            </a:bodyPr>
            <a:lstStyle/>
            <a:p>
              <a:r>
                <a:rPr lang="en-US" sz="2200" dirty="0"/>
                <a:t>this is the </a:t>
              </a:r>
              <a:r>
                <a:rPr lang="en-US" sz="2200" b="1" dirty="0"/>
                <a:t>declaration</a:t>
              </a:r>
              <a:r>
                <a:rPr lang="en-US" sz="2200" dirty="0"/>
                <a:t> of </a:t>
              </a:r>
              <a:r>
                <a:rPr lang="en-US" sz="2200" b="1" dirty="0">
                  <a:latin typeface="Consolas" panose="020B0609020204030204" pitchFamily="49" charset="0"/>
                  <a:cs typeface="Consolas" panose="020B0609020204030204" pitchFamily="49" charset="0"/>
                </a:rPr>
                <a:t>x</a:t>
              </a:r>
              <a:r>
                <a:rPr lang="en-US" sz="2200" dirty="0"/>
                <a:t>. it puts </a:t>
              </a:r>
              <a:r>
                <a:rPr lang="en-US" sz="2200" b="1" dirty="0">
                  <a:latin typeface="Consolas" panose="020B0609020204030204" pitchFamily="49" charset="0"/>
                  <a:cs typeface="Consolas" panose="020B0609020204030204" pitchFamily="49" charset="0"/>
                </a:rPr>
                <a:t>x</a:t>
              </a:r>
              <a:r>
                <a:rPr lang="en-US" sz="2200" dirty="0"/>
                <a:t> into this scope’s symbol table.</a:t>
              </a:r>
            </a:p>
          </p:txBody>
        </p:sp>
        <p:cxnSp>
          <p:nvCxnSpPr>
            <p:cNvPr id="8" name="Straight Arrow Connector 7">
              <a:extLst>
                <a:ext uri="{FF2B5EF4-FFF2-40B4-BE49-F238E27FC236}">
                  <a16:creationId xmlns:a16="http://schemas.microsoft.com/office/drawing/2014/main" id="{82F20598-38D2-6B45-A6E5-D60A378F07F7}"/>
                </a:ext>
              </a:extLst>
            </p:cNvPr>
            <p:cNvCxnSpPr>
              <a:cxnSpLocks/>
            </p:cNvCxnSpPr>
            <p:nvPr/>
          </p:nvCxnSpPr>
          <p:spPr>
            <a:xfrm flipH="1">
              <a:off x="2510968" y="1943100"/>
              <a:ext cx="46083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Rounded Rectangle 10">
            <a:extLst>
              <a:ext uri="{FF2B5EF4-FFF2-40B4-BE49-F238E27FC236}">
                <a16:creationId xmlns:a16="http://schemas.microsoft.com/office/drawing/2014/main" id="{A1544A77-48A4-0F49-9BE8-75831FAEDFE3}"/>
              </a:ext>
            </a:extLst>
          </p:cNvPr>
          <p:cNvSpPr/>
          <p:nvPr/>
        </p:nvSpPr>
        <p:spPr>
          <a:xfrm>
            <a:off x="1093558" y="2133695"/>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50051ECD-054E-7448-A131-1701CCACDCD7}"/>
              </a:ext>
            </a:extLst>
          </p:cNvPr>
          <p:cNvSpPr/>
          <p:nvPr/>
        </p:nvSpPr>
        <p:spPr>
          <a:xfrm>
            <a:off x="437321" y="2133695"/>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472BDD02-65B3-A44E-9A83-4273136CE729}"/>
              </a:ext>
            </a:extLst>
          </p:cNvPr>
          <p:cNvSpPr/>
          <p:nvPr/>
        </p:nvSpPr>
        <p:spPr>
          <a:xfrm>
            <a:off x="1778849" y="2501443"/>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D9B77995-7212-7C44-B0B8-5FD69707AB5F}"/>
              </a:ext>
            </a:extLst>
          </p:cNvPr>
          <p:cNvSpPr/>
          <p:nvPr/>
        </p:nvSpPr>
        <p:spPr>
          <a:xfrm>
            <a:off x="437320" y="2857500"/>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1EC7B68B-1C41-E643-B9A6-1DC834CE44EC}"/>
              </a:ext>
            </a:extLst>
          </p:cNvPr>
          <p:cNvSpPr/>
          <p:nvPr/>
        </p:nvSpPr>
        <p:spPr>
          <a:xfrm>
            <a:off x="1593572" y="3238500"/>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8A9C44B-43F6-134B-94AC-25CC4C512DDA}"/>
              </a:ext>
            </a:extLst>
          </p:cNvPr>
          <p:cNvSpPr txBox="1"/>
          <p:nvPr/>
        </p:nvSpPr>
        <p:spPr>
          <a:xfrm>
            <a:off x="2958548" y="2663700"/>
            <a:ext cx="4895181" cy="769441"/>
          </a:xfrm>
          <a:prstGeom prst="rect">
            <a:avLst/>
          </a:prstGeom>
          <a:noFill/>
        </p:spPr>
        <p:txBody>
          <a:bodyPr wrap="square" rtlCol="0">
            <a:spAutoFit/>
          </a:bodyPr>
          <a:lstStyle/>
          <a:p>
            <a:pPr algn="ctr"/>
            <a:r>
              <a:rPr lang="en-US" sz="2200" dirty="0"/>
              <a:t>all of these other places where we </a:t>
            </a:r>
            <a:r>
              <a:rPr lang="en-US" sz="2200" b="1" dirty="0">
                <a:solidFill>
                  <a:srgbClr val="00B050"/>
                </a:solidFill>
              </a:rPr>
              <a:t>refer to </a:t>
            </a:r>
            <a:r>
              <a:rPr lang="en-US" sz="2200" b="1" dirty="0">
                <a:solidFill>
                  <a:srgbClr val="00B050"/>
                </a:solidFill>
                <a:latin typeface="Consolas" panose="020B0609020204030204" pitchFamily="49" charset="0"/>
                <a:cs typeface="Consolas" panose="020B0609020204030204" pitchFamily="49" charset="0"/>
              </a:rPr>
              <a:t>x</a:t>
            </a:r>
            <a:r>
              <a:rPr lang="en-US" sz="2200" b="1" dirty="0">
                <a:solidFill>
                  <a:srgbClr val="00B050"/>
                </a:solidFill>
              </a:rPr>
              <a:t> by name</a:t>
            </a:r>
            <a:r>
              <a:rPr lang="en-US" sz="2200" dirty="0"/>
              <a:t> are called </a:t>
            </a:r>
            <a:r>
              <a:rPr lang="en-US" sz="2200" b="1" dirty="0"/>
              <a:t>uses.</a:t>
            </a:r>
            <a:endParaRPr lang="en-US" sz="2200" dirty="0"/>
          </a:p>
        </p:txBody>
      </p:sp>
      <p:sp>
        <p:nvSpPr>
          <p:cNvPr id="18" name="TextBox 17">
            <a:extLst>
              <a:ext uri="{FF2B5EF4-FFF2-40B4-BE49-F238E27FC236}">
                <a16:creationId xmlns:a16="http://schemas.microsoft.com/office/drawing/2014/main" id="{808BD8CE-7152-5E40-A737-E2368D750703}"/>
              </a:ext>
            </a:extLst>
          </p:cNvPr>
          <p:cNvSpPr txBox="1"/>
          <p:nvPr/>
        </p:nvSpPr>
        <p:spPr>
          <a:xfrm>
            <a:off x="916501" y="3734517"/>
            <a:ext cx="7463398" cy="769441"/>
          </a:xfrm>
          <a:prstGeom prst="rect">
            <a:avLst/>
          </a:prstGeom>
          <a:noFill/>
        </p:spPr>
        <p:txBody>
          <a:bodyPr wrap="square" rtlCol="0">
            <a:spAutoFit/>
          </a:bodyPr>
          <a:lstStyle/>
          <a:p>
            <a:pPr algn="ctr"/>
            <a:r>
              <a:rPr lang="en-US" sz="2200" dirty="0"/>
              <a:t>for each of these uses, we have to perform </a:t>
            </a:r>
            <a:r>
              <a:rPr lang="en-US" sz="2200" b="1" dirty="0"/>
              <a:t>name resolution: </a:t>
            </a:r>
            <a:r>
              <a:rPr lang="en-US" sz="2200" dirty="0"/>
              <a:t>determining </a:t>
            </a:r>
            <a:r>
              <a:rPr lang="en-US" sz="2200" b="1" dirty="0"/>
              <a:t>which symbol</a:t>
            </a:r>
            <a:r>
              <a:rPr lang="en-US" sz="2200" dirty="0"/>
              <a:t> the use refers to.</a:t>
            </a:r>
          </a:p>
        </p:txBody>
      </p:sp>
      <p:sp>
        <p:nvSpPr>
          <p:cNvPr id="19" name="TextBox 18">
            <a:extLst>
              <a:ext uri="{FF2B5EF4-FFF2-40B4-BE49-F238E27FC236}">
                <a16:creationId xmlns:a16="http://schemas.microsoft.com/office/drawing/2014/main" id="{1A82E466-6E82-EB47-8B3B-CB2A16D5A364}"/>
              </a:ext>
            </a:extLst>
          </p:cNvPr>
          <p:cNvSpPr txBox="1"/>
          <p:nvPr/>
        </p:nvSpPr>
        <p:spPr>
          <a:xfrm>
            <a:off x="916501" y="4613443"/>
            <a:ext cx="7463398" cy="769441"/>
          </a:xfrm>
          <a:prstGeom prst="rect">
            <a:avLst/>
          </a:prstGeom>
          <a:noFill/>
        </p:spPr>
        <p:txBody>
          <a:bodyPr wrap="square" rtlCol="0">
            <a:spAutoFit/>
          </a:bodyPr>
          <a:lstStyle/>
          <a:p>
            <a:pPr algn="ctr"/>
            <a:r>
              <a:rPr lang="en-US" sz="2200" dirty="0"/>
              <a:t>the scope tree/symbol tables and the scoping rules are what we'll use to implement name resolution!</a:t>
            </a:r>
          </a:p>
        </p:txBody>
      </p:sp>
    </p:spTree>
    <p:extLst>
      <p:ext uri="{BB962C8B-B14F-4D97-AF65-F5344CB8AC3E}">
        <p14:creationId xmlns:p14="http://schemas.microsoft.com/office/powerpoint/2010/main" val="24106004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200"/>
                                  </p:stCondLst>
                                  <p:childTnLst>
                                    <p:set>
                                      <p:cBhvr>
                                        <p:cTn id="17" dur="1" fill="hold">
                                          <p:stCondLst>
                                            <p:cond delay="0"/>
                                          </p:stCondLst>
                                        </p:cTn>
                                        <p:tgtEl>
                                          <p:spTgt spid="11"/>
                                        </p:tgtEl>
                                        <p:attrNameLst>
                                          <p:attrName>style.visibility</p:attrName>
                                        </p:attrNameLst>
                                      </p:cBhvr>
                                      <p:to>
                                        <p:strVal val="visible"/>
                                      </p:to>
                                    </p:set>
                                  </p:childTnLst>
                                </p:cTn>
                              </p:par>
                            </p:childTnLst>
                          </p:cTn>
                        </p:par>
                        <p:par>
                          <p:cTn id="18" fill="hold">
                            <p:stCondLst>
                              <p:cond delay="200"/>
                            </p:stCondLst>
                            <p:childTnLst>
                              <p:par>
                                <p:cTn id="19" presetID="1" presetClass="entr" presetSubtype="0" fill="hold" grpId="0" nodeType="afterEffect">
                                  <p:stCondLst>
                                    <p:cond delay="200"/>
                                  </p:stCondLst>
                                  <p:childTnLst>
                                    <p:set>
                                      <p:cBhvr>
                                        <p:cTn id="20" dur="1" fill="hold">
                                          <p:stCondLst>
                                            <p:cond delay="0"/>
                                          </p:stCondLst>
                                        </p:cTn>
                                        <p:tgtEl>
                                          <p:spTgt spid="12"/>
                                        </p:tgtEl>
                                        <p:attrNameLst>
                                          <p:attrName>style.visibility</p:attrName>
                                        </p:attrNameLst>
                                      </p:cBhvr>
                                      <p:to>
                                        <p:strVal val="visible"/>
                                      </p:to>
                                    </p:set>
                                  </p:childTnLst>
                                </p:cTn>
                              </p:par>
                            </p:childTnLst>
                          </p:cTn>
                        </p:par>
                        <p:par>
                          <p:cTn id="21" fill="hold">
                            <p:stCondLst>
                              <p:cond delay="400"/>
                            </p:stCondLst>
                            <p:childTnLst>
                              <p:par>
                                <p:cTn id="22" presetID="1" presetClass="entr" presetSubtype="0" fill="hold" grpId="0" nodeType="afterEffect">
                                  <p:stCondLst>
                                    <p:cond delay="200"/>
                                  </p:stCondLst>
                                  <p:childTnLst>
                                    <p:set>
                                      <p:cBhvr>
                                        <p:cTn id="23" dur="1" fill="hold">
                                          <p:stCondLst>
                                            <p:cond delay="0"/>
                                          </p:stCondLst>
                                        </p:cTn>
                                        <p:tgtEl>
                                          <p:spTgt spid="13"/>
                                        </p:tgtEl>
                                        <p:attrNameLst>
                                          <p:attrName>style.visibility</p:attrName>
                                        </p:attrNameLst>
                                      </p:cBhvr>
                                      <p:to>
                                        <p:strVal val="visible"/>
                                      </p:to>
                                    </p:set>
                                  </p:childTnLst>
                                </p:cTn>
                              </p:par>
                            </p:childTnLst>
                          </p:cTn>
                        </p:par>
                        <p:par>
                          <p:cTn id="24" fill="hold">
                            <p:stCondLst>
                              <p:cond delay="600"/>
                            </p:stCondLst>
                            <p:childTnLst>
                              <p:par>
                                <p:cTn id="25" presetID="1" presetClass="entr" presetSubtype="0" fill="hold" grpId="0" nodeType="afterEffect">
                                  <p:stCondLst>
                                    <p:cond delay="200"/>
                                  </p:stCondLst>
                                  <p:childTnLst>
                                    <p:set>
                                      <p:cBhvr>
                                        <p:cTn id="26" dur="1" fill="hold">
                                          <p:stCondLst>
                                            <p:cond delay="0"/>
                                          </p:stCondLst>
                                        </p:cTn>
                                        <p:tgtEl>
                                          <p:spTgt spid="14"/>
                                        </p:tgtEl>
                                        <p:attrNameLst>
                                          <p:attrName>style.visibility</p:attrName>
                                        </p:attrNameLst>
                                      </p:cBhvr>
                                      <p:to>
                                        <p:strVal val="visible"/>
                                      </p:to>
                                    </p:set>
                                  </p:childTnLst>
                                </p:cTn>
                              </p:par>
                            </p:childTnLst>
                          </p:cTn>
                        </p:par>
                        <p:par>
                          <p:cTn id="27" fill="hold">
                            <p:stCondLst>
                              <p:cond delay="800"/>
                            </p:stCondLst>
                            <p:childTnLst>
                              <p:par>
                                <p:cTn id="28" presetID="1" presetClass="entr" presetSubtype="0" fill="hold" grpId="0" nodeType="afterEffect">
                                  <p:stCondLst>
                                    <p:cond delay="20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2" grpId="0" animBg="1"/>
      <p:bldP spid="13" grpId="0" animBg="1"/>
      <p:bldP spid="14" grpId="0" animBg="1"/>
      <p:bldP spid="16" grpId="0" animBg="1"/>
      <p:bldP spid="17" grpId="0"/>
      <p:bldP spid="18"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D4996-80D1-D446-90D1-9117A1676315}"/>
              </a:ext>
            </a:extLst>
          </p:cNvPr>
          <p:cNvSpPr>
            <a:spLocks noGrp="1"/>
          </p:cNvSpPr>
          <p:nvPr>
            <p:ph type="title"/>
          </p:nvPr>
        </p:nvSpPr>
        <p:spPr/>
        <p:txBody>
          <a:bodyPr/>
          <a:lstStyle/>
          <a:p>
            <a:r>
              <a:rPr lang="en-US" dirty="0"/>
              <a:t>Climbing the tree </a:t>
            </a:r>
            <a:r>
              <a:rPr lang="en-US" sz="2000" dirty="0"/>
              <a:t>(animated)</a:t>
            </a:r>
            <a:endParaRPr lang="en-US" dirty="0"/>
          </a:p>
        </p:txBody>
      </p:sp>
      <p:sp>
        <p:nvSpPr>
          <p:cNvPr id="3" name="Content Placeholder 2">
            <a:extLst>
              <a:ext uri="{FF2B5EF4-FFF2-40B4-BE49-F238E27FC236}">
                <a16:creationId xmlns:a16="http://schemas.microsoft.com/office/drawing/2014/main" id="{7EF6FF63-C478-EC48-B45C-A18689FAAE80}"/>
              </a:ext>
            </a:extLst>
          </p:cNvPr>
          <p:cNvSpPr>
            <a:spLocks noGrp="1"/>
          </p:cNvSpPr>
          <p:nvPr>
            <p:ph idx="1"/>
          </p:nvPr>
        </p:nvSpPr>
        <p:spPr>
          <a:xfrm>
            <a:off x="152400" y="495302"/>
            <a:ext cx="8991600" cy="553102"/>
          </a:xfrm>
        </p:spPr>
        <p:txBody>
          <a:bodyPr/>
          <a:lstStyle/>
          <a:p>
            <a:r>
              <a:rPr lang="en-US" dirty="0"/>
              <a:t>the name resolution algorithm is actually pretty straightforward.</a:t>
            </a:r>
          </a:p>
          <a:p>
            <a:endParaRPr lang="en-US" dirty="0"/>
          </a:p>
        </p:txBody>
      </p:sp>
      <p:sp>
        <p:nvSpPr>
          <p:cNvPr id="4" name="Slide Number Placeholder 3">
            <a:extLst>
              <a:ext uri="{FF2B5EF4-FFF2-40B4-BE49-F238E27FC236}">
                <a16:creationId xmlns:a16="http://schemas.microsoft.com/office/drawing/2014/main" id="{4693D78E-1129-C64E-B1C1-DB1506988056}"/>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5" name="Rectangle 4">
            <a:extLst>
              <a:ext uri="{FF2B5EF4-FFF2-40B4-BE49-F238E27FC236}">
                <a16:creationId xmlns:a16="http://schemas.microsoft.com/office/drawing/2014/main" id="{DA7ED9DB-8C6C-F04F-9CF0-A5DB5612BE65}"/>
              </a:ext>
            </a:extLst>
          </p:cNvPr>
          <p:cNvSpPr/>
          <p:nvPr/>
        </p:nvSpPr>
        <p:spPr>
          <a:xfrm>
            <a:off x="381000" y="1104900"/>
            <a:ext cx="2202655" cy="47577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onsolas" panose="020B0609020204030204" pitchFamily="49" charset="0"/>
                <a:cs typeface="Consolas" panose="020B0609020204030204" pitchFamily="49" charset="0"/>
              </a:rPr>
              <a:t>&lt;global scope&gt;</a:t>
            </a:r>
          </a:p>
        </p:txBody>
      </p:sp>
      <p:graphicFrame>
        <p:nvGraphicFramePr>
          <p:cNvPr id="6" name="Table 5">
            <a:extLst>
              <a:ext uri="{FF2B5EF4-FFF2-40B4-BE49-F238E27FC236}">
                <a16:creationId xmlns:a16="http://schemas.microsoft.com/office/drawing/2014/main" id="{0671662B-C5D2-9849-B63B-6713CF7C8958}"/>
              </a:ext>
            </a:extLst>
          </p:cNvPr>
          <p:cNvGraphicFramePr>
            <a:graphicFrameLocks noGrp="1"/>
          </p:cNvGraphicFramePr>
          <p:nvPr>
            <p:extLst>
              <p:ext uri="{D42A27DB-BD31-4B8C-83A1-F6EECF244321}">
                <p14:modId xmlns:p14="http://schemas.microsoft.com/office/powerpoint/2010/main" val="1122641609"/>
              </p:ext>
            </p:extLst>
          </p:nvPr>
        </p:nvGraphicFramePr>
        <p:xfrm>
          <a:off x="3006327" y="1152136"/>
          <a:ext cx="1272705" cy="762602"/>
        </p:xfrm>
        <a:graphic>
          <a:graphicData uri="http://schemas.openxmlformats.org/drawingml/2006/table">
            <a:tbl>
              <a:tblPr bandRow="1">
                <a:tableStyleId>{F5AB1C69-6EDB-4FF4-983F-18BD219EF322}</a:tableStyleId>
              </a:tblPr>
              <a:tblGrid>
                <a:gridCol w="1272705">
                  <a:extLst>
                    <a:ext uri="{9D8B030D-6E8A-4147-A177-3AD203B41FA5}">
                      <a16:colId xmlns:a16="http://schemas.microsoft.com/office/drawing/2014/main" val="2998826347"/>
                    </a:ext>
                  </a:extLst>
                </a:gridCol>
              </a:tblGrid>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"A"</a:t>
                      </a:r>
                    </a:p>
                  </a:txBody>
                  <a:tcPr/>
                </a:tc>
                <a:extLst>
                  <a:ext uri="{0D108BD9-81ED-4DB2-BD59-A6C34878D82A}">
                    <a16:rowId xmlns:a16="http://schemas.microsoft.com/office/drawing/2014/main" val="900998081"/>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"System"</a:t>
                      </a:r>
                    </a:p>
                  </a:txBody>
                  <a:tcPr/>
                </a:tc>
                <a:extLst>
                  <a:ext uri="{0D108BD9-81ED-4DB2-BD59-A6C34878D82A}">
                    <a16:rowId xmlns:a16="http://schemas.microsoft.com/office/drawing/2014/main" val="3308972850"/>
                  </a:ext>
                </a:extLst>
              </a:tr>
            </a:tbl>
          </a:graphicData>
        </a:graphic>
      </p:graphicFrame>
      <p:cxnSp>
        <p:nvCxnSpPr>
          <p:cNvPr id="7" name="Straight Arrow Connector 6">
            <a:extLst>
              <a:ext uri="{FF2B5EF4-FFF2-40B4-BE49-F238E27FC236}">
                <a16:creationId xmlns:a16="http://schemas.microsoft.com/office/drawing/2014/main" id="{D1AFE27E-AADF-3A4F-840B-2E0BDFEB85ED}"/>
              </a:ext>
            </a:extLst>
          </p:cNvPr>
          <p:cNvCxnSpPr>
            <a:cxnSpLocks/>
            <a:stCxn id="5" idx="3"/>
          </p:cNvCxnSpPr>
          <p:nvPr/>
        </p:nvCxnSpPr>
        <p:spPr>
          <a:xfrm>
            <a:off x="2583655" y="1342787"/>
            <a:ext cx="42267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2078969C-103C-4647-9994-C1FD0D50BE21}"/>
              </a:ext>
            </a:extLst>
          </p:cNvPr>
          <p:cNvGraphicFramePr>
            <a:graphicFrameLocks noGrp="1"/>
          </p:cNvGraphicFramePr>
          <p:nvPr>
            <p:extLst>
              <p:ext uri="{D42A27DB-BD31-4B8C-83A1-F6EECF244321}">
                <p14:modId xmlns:p14="http://schemas.microsoft.com/office/powerpoint/2010/main" val="2478373870"/>
              </p:ext>
            </p:extLst>
          </p:nvPr>
        </p:nvGraphicFramePr>
        <p:xfrm>
          <a:off x="3006327" y="2104611"/>
          <a:ext cx="1272705" cy="1143903"/>
        </p:xfrm>
        <a:graphic>
          <a:graphicData uri="http://schemas.openxmlformats.org/drawingml/2006/table">
            <a:tbl>
              <a:tblPr bandRow="1">
                <a:tableStyleId>{F5AB1C69-6EDB-4FF4-983F-18BD219EF322}</a:tableStyleId>
              </a:tblPr>
              <a:tblGrid>
                <a:gridCol w="1272705">
                  <a:extLst>
                    <a:ext uri="{9D8B030D-6E8A-4147-A177-3AD203B41FA5}">
                      <a16:colId xmlns:a16="http://schemas.microsoft.com/office/drawing/2014/main" val="2998826347"/>
                    </a:ext>
                  </a:extLst>
                </a:gridCol>
              </a:tblGrid>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"x"</a:t>
                      </a:r>
                    </a:p>
                  </a:txBody>
                  <a:tcPr/>
                </a:tc>
                <a:extLst>
                  <a:ext uri="{0D108BD9-81ED-4DB2-BD59-A6C34878D82A}">
                    <a16:rowId xmlns:a16="http://schemas.microsoft.com/office/drawing/2014/main" val="900998081"/>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"main"</a:t>
                      </a:r>
                    </a:p>
                  </a:txBody>
                  <a:tcPr/>
                </a:tc>
                <a:extLst>
                  <a:ext uri="{0D108BD9-81ED-4DB2-BD59-A6C34878D82A}">
                    <a16:rowId xmlns:a16="http://schemas.microsoft.com/office/drawing/2014/main" val="4070493881"/>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"foo"</a:t>
                      </a:r>
                    </a:p>
                  </a:txBody>
                  <a:tcPr/>
                </a:tc>
                <a:extLst>
                  <a:ext uri="{0D108BD9-81ED-4DB2-BD59-A6C34878D82A}">
                    <a16:rowId xmlns:a16="http://schemas.microsoft.com/office/drawing/2014/main" val="2063322900"/>
                  </a:ext>
                </a:extLst>
              </a:tr>
            </a:tbl>
          </a:graphicData>
        </a:graphic>
      </p:graphicFrame>
      <p:sp>
        <p:nvSpPr>
          <p:cNvPr id="9" name="Rectangle 8">
            <a:extLst>
              <a:ext uri="{FF2B5EF4-FFF2-40B4-BE49-F238E27FC236}">
                <a16:creationId xmlns:a16="http://schemas.microsoft.com/office/drawing/2014/main" id="{4D6A96C7-4CAA-E240-8A53-84827412A4FD}"/>
              </a:ext>
            </a:extLst>
          </p:cNvPr>
          <p:cNvSpPr/>
          <p:nvPr/>
        </p:nvSpPr>
        <p:spPr>
          <a:xfrm>
            <a:off x="938209" y="2056924"/>
            <a:ext cx="1672829" cy="47577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onsolas" panose="020B0609020204030204" pitchFamily="49" charset="0"/>
                <a:cs typeface="Consolas" panose="020B0609020204030204" pitchFamily="49" charset="0"/>
              </a:rPr>
              <a:t>A's scope</a:t>
            </a:r>
          </a:p>
        </p:txBody>
      </p:sp>
      <p:cxnSp>
        <p:nvCxnSpPr>
          <p:cNvPr id="10" name="Straight Arrow Connector 9">
            <a:extLst>
              <a:ext uri="{FF2B5EF4-FFF2-40B4-BE49-F238E27FC236}">
                <a16:creationId xmlns:a16="http://schemas.microsoft.com/office/drawing/2014/main" id="{27AB33FB-9518-EA4B-B0DA-6350D20BA8A9}"/>
              </a:ext>
            </a:extLst>
          </p:cNvPr>
          <p:cNvCxnSpPr>
            <a:cxnSpLocks/>
          </p:cNvCxnSpPr>
          <p:nvPr/>
        </p:nvCxnSpPr>
        <p:spPr>
          <a:xfrm flipV="1">
            <a:off x="2597347" y="2294812"/>
            <a:ext cx="408980"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E18ADD8-5175-934F-8235-D6FD4BA88953}"/>
              </a:ext>
            </a:extLst>
          </p:cNvPr>
          <p:cNvSpPr/>
          <p:nvPr/>
        </p:nvSpPr>
        <p:spPr>
          <a:xfrm>
            <a:off x="1269203" y="3390701"/>
            <a:ext cx="1672829" cy="47577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nsolas" panose="020B0609020204030204" pitchFamily="49" charset="0"/>
                <a:cs typeface="Consolas" panose="020B0609020204030204" pitchFamily="49" charset="0"/>
              </a:rPr>
              <a:t>foo's scope</a:t>
            </a:r>
          </a:p>
        </p:txBody>
      </p:sp>
      <p:graphicFrame>
        <p:nvGraphicFramePr>
          <p:cNvPr id="13" name="Table 12">
            <a:extLst>
              <a:ext uri="{FF2B5EF4-FFF2-40B4-BE49-F238E27FC236}">
                <a16:creationId xmlns:a16="http://schemas.microsoft.com/office/drawing/2014/main" id="{EE1110D6-98F6-2043-91AB-CEC45C5EC07C}"/>
              </a:ext>
            </a:extLst>
          </p:cNvPr>
          <p:cNvGraphicFramePr>
            <a:graphicFrameLocks noGrp="1"/>
          </p:cNvGraphicFramePr>
          <p:nvPr>
            <p:extLst>
              <p:ext uri="{D42A27DB-BD31-4B8C-83A1-F6EECF244321}">
                <p14:modId xmlns:p14="http://schemas.microsoft.com/office/powerpoint/2010/main" val="2260283636"/>
              </p:ext>
            </p:extLst>
          </p:nvPr>
        </p:nvGraphicFramePr>
        <p:xfrm>
          <a:off x="3337321" y="3437937"/>
          <a:ext cx="941711" cy="381301"/>
        </p:xfrm>
        <a:graphic>
          <a:graphicData uri="http://schemas.openxmlformats.org/drawingml/2006/table">
            <a:tbl>
              <a:tblPr bandRow="1">
                <a:tableStyleId>{F5AB1C69-6EDB-4FF4-983F-18BD219EF322}</a:tableStyleId>
              </a:tblPr>
              <a:tblGrid>
                <a:gridCol w="941711">
                  <a:extLst>
                    <a:ext uri="{9D8B030D-6E8A-4147-A177-3AD203B41FA5}">
                      <a16:colId xmlns:a16="http://schemas.microsoft.com/office/drawing/2014/main" val="2998826347"/>
                    </a:ext>
                  </a:extLst>
                </a:gridCol>
              </a:tblGrid>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"y"</a:t>
                      </a:r>
                    </a:p>
                  </a:txBody>
                  <a:tcPr/>
                </a:tc>
                <a:extLst>
                  <a:ext uri="{0D108BD9-81ED-4DB2-BD59-A6C34878D82A}">
                    <a16:rowId xmlns:a16="http://schemas.microsoft.com/office/drawing/2014/main" val="900998081"/>
                  </a:ext>
                </a:extLst>
              </a:tr>
            </a:tbl>
          </a:graphicData>
        </a:graphic>
      </p:graphicFrame>
      <p:cxnSp>
        <p:nvCxnSpPr>
          <p:cNvPr id="15" name="Straight Arrow Connector 14">
            <a:extLst>
              <a:ext uri="{FF2B5EF4-FFF2-40B4-BE49-F238E27FC236}">
                <a16:creationId xmlns:a16="http://schemas.microsoft.com/office/drawing/2014/main" id="{C1A43A9D-8374-244B-924E-E4371D22F171}"/>
              </a:ext>
            </a:extLst>
          </p:cNvPr>
          <p:cNvCxnSpPr>
            <a:cxnSpLocks/>
          </p:cNvCxnSpPr>
          <p:nvPr/>
        </p:nvCxnSpPr>
        <p:spPr>
          <a:xfrm flipV="1">
            <a:off x="2928341" y="3628587"/>
            <a:ext cx="408980"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Left-Up Arrow 16">
            <a:extLst>
              <a:ext uri="{FF2B5EF4-FFF2-40B4-BE49-F238E27FC236}">
                <a16:creationId xmlns:a16="http://schemas.microsoft.com/office/drawing/2014/main" id="{155126C7-48F5-154C-9E53-AD1E03144310}"/>
              </a:ext>
            </a:extLst>
          </p:cNvPr>
          <p:cNvSpPr/>
          <p:nvPr/>
        </p:nvSpPr>
        <p:spPr>
          <a:xfrm rot="5400000">
            <a:off x="416121" y="1858687"/>
            <a:ext cx="800100" cy="244075"/>
          </a:xfrm>
          <a:prstGeom prst="leftUpArrow">
            <a:avLst>
              <a:gd name="adj1" fmla="val 25000"/>
              <a:gd name="adj2" fmla="val 25000"/>
              <a:gd name="adj3" fmla="val 3280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eft-Up Arrow 17">
            <a:extLst>
              <a:ext uri="{FF2B5EF4-FFF2-40B4-BE49-F238E27FC236}">
                <a16:creationId xmlns:a16="http://schemas.microsoft.com/office/drawing/2014/main" id="{3C9C5344-FB6A-B340-B13F-3D993CC866FF}"/>
              </a:ext>
            </a:extLst>
          </p:cNvPr>
          <p:cNvSpPr/>
          <p:nvPr/>
        </p:nvSpPr>
        <p:spPr>
          <a:xfrm rot="5400000">
            <a:off x="575213" y="2982188"/>
            <a:ext cx="1143902" cy="244075"/>
          </a:xfrm>
          <a:prstGeom prst="lef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7682B51-6D62-3D4C-9A81-64084F34E093}"/>
              </a:ext>
            </a:extLst>
          </p:cNvPr>
          <p:cNvSpPr txBox="1"/>
          <p:nvPr/>
        </p:nvSpPr>
        <p:spPr>
          <a:xfrm>
            <a:off x="338434" y="4127409"/>
            <a:ext cx="4384491" cy="1169551"/>
          </a:xfrm>
          <a:prstGeom prst="rect">
            <a:avLst/>
          </a:prstGeom>
          <a:noFill/>
        </p:spPr>
        <p:txBody>
          <a:bodyPr wrap="square" rtlCol="0">
            <a:spAutoFit/>
          </a:bodyPr>
          <a:lstStyle/>
          <a:p>
            <a:pPr>
              <a:spcAft>
                <a:spcPts val="600"/>
              </a:spcAft>
            </a:pPr>
            <a:r>
              <a:rPr lang="en-US" sz="2000" b="1" dirty="0">
                <a:solidFill>
                  <a:srgbClr val="FF0000"/>
                </a:solidFill>
                <a:latin typeface="Consolas" panose="020B0609020204030204" pitchFamily="49" charset="0"/>
                <a:cs typeface="Consolas" panose="020B0609020204030204" pitchFamily="49" charset="0"/>
              </a:rPr>
              <a:t>static</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void</a:t>
            </a:r>
            <a:r>
              <a:rPr lang="en-US" sz="2000" b="1" dirty="0">
                <a:latin typeface="Consolas" panose="020B0609020204030204" pitchFamily="49" charset="0"/>
                <a:cs typeface="Consolas" panose="020B0609020204030204" pitchFamily="49" charset="0"/>
              </a:rPr>
              <a:t> foo(</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y) { </a:t>
            </a:r>
          </a:p>
          <a:p>
            <a:pPr>
              <a:spcAft>
                <a:spcPts val="600"/>
              </a:spcAft>
            </a:pP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System.out.println</a:t>
            </a:r>
            <a:r>
              <a:rPr lang="en-US" sz="2000" b="1" dirty="0">
                <a:latin typeface="Consolas" panose="020B0609020204030204" pitchFamily="49" charset="0"/>
                <a:cs typeface="Consolas" panose="020B0609020204030204" pitchFamily="49" charset="0"/>
              </a:rPr>
              <a:t>(y);</a:t>
            </a:r>
          </a:p>
          <a:p>
            <a:pPr>
              <a:spcAft>
                <a:spcPts val="600"/>
              </a:spcAft>
            </a:pPr>
            <a:r>
              <a:rPr lang="en-US" sz="2000" b="1" dirty="0">
                <a:latin typeface="Consolas" panose="020B0609020204030204" pitchFamily="49" charset="0"/>
                <a:cs typeface="Consolas" panose="020B0609020204030204" pitchFamily="49" charset="0"/>
              </a:rPr>
              <a:t>}</a:t>
            </a:r>
          </a:p>
        </p:txBody>
      </p:sp>
      <p:sp>
        <p:nvSpPr>
          <p:cNvPr id="21" name="Rounded Rectangle 20">
            <a:extLst>
              <a:ext uri="{FF2B5EF4-FFF2-40B4-BE49-F238E27FC236}">
                <a16:creationId xmlns:a16="http://schemas.microsoft.com/office/drawing/2014/main" id="{C0D53838-7FA3-604E-80E9-DDC5416E81B8}"/>
              </a:ext>
            </a:extLst>
          </p:cNvPr>
          <p:cNvSpPr/>
          <p:nvPr/>
        </p:nvSpPr>
        <p:spPr>
          <a:xfrm>
            <a:off x="649528" y="4517835"/>
            <a:ext cx="942681"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2A0FC50-6BE2-B040-91B3-D8B12A987D0F}"/>
              </a:ext>
            </a:extLst>
          </p:cNvPr>
          <p:cNvSpPr txBox="1"/>
          <p:nvPr/>
        </p:nvSpPr>
        <p:spPr>
          <a:xfrm>
            <a:off x="3942828" y="3992310"/>
            <a:ext cx="4953000" cy="430887"/>
          </a:xfrm>
          <a:prstGeom prst="rect">
            <a:avLst/>
          </a:prstGeom>
          <a:noFill/>
        </p:spPr>
        <p:txBody>
          <a:bodyPr wrap="square" rtlCol="0">
            <a:spAutoFit/>
          </a:bodyPr>
          <a:lstStyle/>
          <a:p>
            <a:pPr algn="ctr"/>
            <a:r>
              <a:rPr lang="en-US" sz="2200" b="1" dirty="0"/>
              <a:t>1. </a:t>
            </a:r>
            <a:r>
              <a:rPr lang="en-US" sz="2200" dirty="0"/>
              <a:t>is </a:t>
            </a:r>
            <a:r>
              <a:rPr lang="en-US" sz="2200" b="1" dirty="0">
                <a:latin typeface="Consolas" panose="020B0609020204030204" pitchFamily="49" charset="0"/>
                <a:cs typeface="Consolas" panose="020B0609020204030204" pitchFamily="49" charset="0"/>
              </a:rPr>
              <a:t>System</a:t>
            </a:r>
            <a:r>
              <a:rPr lang="en-US" sz="2200" dirty="0"/>
              <a:t> declared in </a:t>
            </a:r>
            <a:r>
              <a:rPr lang="en-US" sz="2200" b="1" dirty="0">
                <a:latin typeface="Consolas" panose="020B0609020204030204" pitchFamily="49" charset="0"/>
                <a:cs typeface="Consolas" panose="020B0609020204030204" pitchFamily="49" charset="0"/>
              </a:rPr>
              <a:t>foo</a:t>
            </a:r>
            <a:r>
              <a:rPr lang="en-US" sz="2200" dirty="0"/>
              <a:t>'s scope?</a:t>
            </a:r>
          </a:p>
        </p:txBody>
      </p:sp>
      <p:sp>
        <p:nvSpPr>
          <p:cNvPr id="24" name="Rounded Rectangle 23">
            <a:extLst>
              <a:ext uri="{FF2B5EF4-FFF2-40B4-BE49-F238E27FC236}">
                <a16:creationId xmlns:a16="http://schemas.microsoft.com/office/drawing/2014/main" id="{EA05AB85-581B-F044-ACBB-A4C0C6DB5325}"/>
              </a:ext>
            </a:extLst>
          </p:cNvPr>
          <p:cNvSpPr/>
          <p:nvPr/>
        </p:nvSpPr>
        <p:spPr>
          <a:xfrm>
            <a:off x="3337320" y="3429955"/>
            <a:ext cx="941712"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7E42F24-DF18-F445-A335-7827A66F1002}"/>
              </a:ext>
            </a:extLst>
          </p:cNvPr>
          <p:cNvSpPr txBox="1"/>
          <p:nvPr/>
        </p:nvSpPr>
        <p:spPr>
          <a:xfrm>
            <a:off x="8310485" y="4333169"/>
            <a:ext cx="833515" cy="369332"/>
          </a:xfrm>
          <a:prstGeom prst="rect">
            <a:avLst/>
          </a:prstGeom>
          <a:noFill/>
        </p:spPr>
        <p:txBody>
          <a:bodyPr wrap="square" rtlCol="0">
            <a:spAutoFit/>
          </a:bodyPr>
          <a:lstStyle/>
          <a:p>
            <a:pPr algn="ctr"/>
            <a:r>
              <a:rPr lang="en-US" sz="1800" dirty="0"/>
              <a:t>no? </a:t>
            </a:r>
          </a:p>
        </p:txBody>
      </p:sp>
      <p:grpSp>
        <p:nvGrpSpPr>
          <p:cNvPr id="38" name="Group 37">
            <a:extLst>
              <a:ext uri="{FF2B5EF4-FFF2-40B4-BE49-F238E27FC236}">
                <a16:creationId xmlns:a16="http://schemas.microsoft.com/office/drawing/2014/main" id="{B5B96D4E-4333-E34B-A0C7-8CA34CBFE60D}"/>
              </a:ext>
            </a:extLst>
          </p:cNvPr>
          <p:cNvGrpSpPr/>
          <p:nvPr/>
        </p:nvGrpSpPr>
        <p:grpSpPr>
          <a:xfrm>
            <a:off x="602392" y="4925972"/>
            <a:ext cx="7459921" cy="591564"/>
            <a:chOff x="602392" y="4925972"/>
            <a:chExt cx="7459921" cy="591564"/>
          </a:xfrm>
        </p:grpSpPr>
        <p:sp>
          <p:nvSpPr>
            <p:cNvPr id="22" name="TextBox 21">
              <a:extLst>
                <a:ext uri="{FF2B5EF4-FFF2-40B4-BE49-F238E27FC236}">
                  <a16:creationId xmlns:a16="http://schemas.microsoft.com/office/drawing/2014/main" id="{14BE80C8-4DFC-B641-AC97-5083B008281C}"/>
                </a:ext>
              </a:extLst>
            </p:cNvPr>
            <p:cNvSpPr txBox="1"/>
            <p:nvPr/>
          </p:nvSpPr>
          <p:spPr>
            <a:xfrm>
              <a:off x="602392" y="5086649"/>
              <a:ext cx="7459921" cy="430887"/>
            </a:xfrm>
            <a:prstGeom prst="rect">
              <a:avLst/>
            </a:prstGeom>
            <a:noFill/>
          </p:spPr>
          <p:txBody>
            <a:bodyPr wrap="square" rtlCol="0">
              <a:spAutoFit/>
            </a:bodyPr>
            <a:lstStyle/>
            <a:p>
              <a:r>
                <a:rPr lang="en-US" sz="2200" dirty="0"/>
                <a:t>this use of </a:t>
              </a:r>
              <a:r>
                <a:rPr lang="en-US" sz="2200" b="1" dirty="0">
                  <a:latin typeface="Consolas" panose="020B0609020204030204" pitchFamily="49" charset="0"/>
                  <a:cs typeface="Consolas" panose="020B0609020204030204" pitchFamily="49" charset="0"/>
                </a:rPr>
                <a:t>System</a:t>
              </a:r>
              <a:r>
                <a:rPr lang="en-US" sz="2200" dirty="0"/>
                <a:t> appears in </a:t>
              </a:r>
              <a:r>
                <a:rPr lang="en-US" sz="2200" b="1" dirty="0">
                  <a:latin typeface="Consolas" panose="020B0609020204030204" pitchFamily="49" charset="0"/>
                  <a:cs typeface="Consolas" panose="020B0609020204030204" pitchFamily="49" charset="0"/>
                </a:rPr>
                <a:t>foo</a:t>
              </a:r>
              <a:r>
                <a:rPr lang="en-US" sz="2200" dirty="0"/>
                <a:t>'s scope. let's start there.</a:t>
              </a:r>
            </a:p>
          </p:txBody>
        </p:sp>
        <p:cxnSp>
          <p:nvCxnSpPr>
            <p:cNvPr id="27" name="Straight Arrow Connector 26">
              <a:extLst>
                <a:ext uri="{FF2B5EF4-FFF2-40B4-BE49-F238E27FC236}">
                  <a16:creationId xmlns:a16="http://schemas.microsoft.com/office/drawing/2014/main" id="{4D23CEAB-C17F-1645-82AD-A7C5D78AD368}"/>
                </a:ext>
              </a:extLst>
            </p:cNvPr>
            <p:cNvCxnSpPr>
              <a:cxnSpLocks/>
            </p:cNvCxnSpPr>
            <p:nvPr/>
          </p:nvCxnSpPr>
          <p:spPr>
            <a:xfrm flipH="1" flipV="1">
              <a:off x="1081687" y="4925972"/>
              <a:ext cx="153225" cy="26819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ounded Rectangle 29">
            <a:extLst>
              <a:ext uri="{FF2B5EF4-FFF2-40B4-BE49-F238E27FC236}">
                <a16:creationId xmlns:a16="http://schemas.microsoft.com/office/drawing/2014/main" id="{BBF951E4-8377-7A4B-A841-0D8B1316C289}"/>
              </a:ext>
            </a:extLst>
          </p:cNvPr>
          <p:cNvSpPr/>
          <p:nvPr/>
        </p:nvSpPr>
        <p:spPr>
          <a:xfrm>
            <a:off x="3006326" y="2113370"/>
            <a:ext cx="1263849" cy="112593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C82F479-E2AD-7A4E-8A16-E42CCE67B68E}"/>
              </a:ext>
            </a:extLst>
          </p:cNvPr>
          <p:cNvSpPr txBox="1"/>
          <p:nvPr/>
        </p:nvSpPr>
        <p:spPr>
          <a:xfrm>
            <a:off x="4234162" y="2684063"/>
            <a:ext cx="3935616" cy="769441"/>
          </a:xfrm>
          <a:prstGeom prst="rect">
            <a:avLst/>
          </a:prstGeom>
          <a:noFill/>
        </p:spPr>
        <p:txBody>
          <a:bodyPr wrap="square" rtlCol="0">
            <a:spAutoFit/>
          </a:bodyPr>
          <a:lstStyle/>
          <a:p>
            <a:pPr algn="ctr"/>
            <a:r>
              <a:rPr lang="en-US" sz="2200" b="1" dirty="0"/>
              <a:t>2. </a:t>
            </a:r>
            <a:r>
              <a:rPr lang="en-US" sz="2200" dirty="0"/>
              <a:t>go to the </a:t>
            </a:r>
            <a:r>
              <a:rPr lang="en-US" sz="2200" b="1" dirty="0">
                <a:latin typeface="Consolas" panose="020B0609020204030204" pitchFamily="49" charset="0"/>
                <a:cs typeface="Consolas" panose="020B0609020204030204" pitchFamily="49" charset="0"/>
              </a:rPr>
              <a:t>foo</a:t>
            </a:r>
            <a:r>
              <a:rPr lang="en-US" sz="2200" dirty="0"/>
              <a:t>'s </a:t>
            </a:r>
            <a:r>
              <a:rPr lang="en-US" sz="2200" b="1" dirty="0"/>
              <a:t>parent scope.</a:t>
            </a:r>
            <a:r>
              <a:rPr lang="en-US" sz="2200" dirty="0"/>
              <a:t> is </a:t>
            </a:r>
            <a:r>
              <a:rPr lang="en-US" sz="2200" b="1" dirty="0">
                <a:latin typeface="Consolas" panose="020B0609020204030204" pitchFamily="49" charset="0"/>
                <a:cs typeface="Consolas" panose="020B0609020204030204" pitchFamily="49" charset="0"/>
              </a:rPr>
              <a:t>System</a:t>
            </a:r>
            <a:r>
              <a:rPr lang="en-US" sz="2200" dirty="0"/>
              <a:t> there?</a:t>
            </a:r>
          </a:p>
        </p:txBody>
      </p:sp>
      <p:sp>
        <p:nvSpPr>
          <p:cNvPr id="32" name="TextBox 31">
            <a:extLst>
              <a:ext uri="{FF2B5EF4-FFF2-40B4-BE49-F238E27FC236}">
                <a16:creationId xmlns:a16="http://schemas.microsoft.com/office/drawing/2014/main" id="{6FAE7282-92DD-A844-90D4-290500F09016}"/>
              </a:ext>
            </a:extLst>
          </p:cNvPr>
          <p:cNvSpPr txBox="1"/>
          <p:nvPr/>
        </p:nvSpPr>
        <p:spPr>
          <a:xfrm>
            <a:off x="7658292" y="3251155"/>
            <a:ext cx="1142808" cy="369332"/>
          </a:xfrm>
          <a:prstGeom prst="rect">
            <a:avLst/>
          </a:prstGeom>
          <a:noFill/>
        </p:spPr>
        <p:txBody>
          <a:bodyPr wrap="square" rtlCol="0">
            <a:spAutoFit/>
          </a:bodyPr>
          <a:lstStyle/>
          <a:p>
            <a:pPr algn="ctr"/>
            <a:r>
              <a:rPr lang="en-US" sz="1800" dirty="0"/>
              <a:t>still no? </a:t>
            </a:r>
          </a:p>
        </p:txBody>
      </p:sp>
      <p:sp>
        <p:nvSpPr>
          <p:cNvPr id="34" name="Rounded Rectangle 33">
            <a:extLst>
              <a:ext uri="{FF2B5EF4-FFF2-40B4-BE49-F238E27FC236}">
                <a16:creationId xmlns:a16="http://schemas.microsoft.com/office/drawing/2014/main" id="{6156C3C1-2EE2-0246-8D7C-37F4B8A3E51B}"/>
              </a:ext>
            </a:extLst>
          </p:cNvPr>
          <p:cNvSpPr/>
          <p:nvPr/>
        </p:nvSpPr>
        <p:spPr>
          <a:xfrm>
            <a:off x="3007235" y="1161120"/>
            <a:ext cx="1263849" cy="752842"/>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32A9DC8-864A-864A-96EE-806BEEBB877A}"/>
              </a:ext>
            </a:extLst>
          </p:cNvPr>
          <p:cNvSpPr txBox="1"/>
          <p:nvPr/>
        </p:nvSpPr>
        <p:spPr>
          <a:xfrm>
            <a:off x="4294080" y="1104900"/>
            <a:ext cx="3935616" cy="769441"/>
          </a:xfrm>
          <a:prstGeom prst="rect">
            <a:avLst/>
          </a:prstGeom>
          <a:noFill/>
        </p:spPr>
        <p:txBody>
          <a:bodyPr wrap="square" rtlCol="0">
            <a:spAutoFit/>
          </a:bodyPr>
          <a:lstStyle/>
          <a:p>
            <a:pPr algn="ctr"/>
            <a:r>
              <a:rPr lang="en-US" sz="2200" b="1" dirty="0"/>
              <a:t>3. </a:t>
            </a:r>
            <a:r>
              <a:rPr lang="en-US" sz="2200" dirty="0"/>
              <a:t>go to the parent scope of that one. is </a:t>
            </a:r>
            <a:r>
              <a:rPr lang="en-US" sz="2200" b="1" dirty="0">
                <a:latin typeface="Consolas" panose="020B0609020204030204" pitchFamily="49" charset="0"/>
                <a:cs typeface="Consolas" panose="020B0609020204030204" pitchFamily="49" charset="0"/>
              </a:rPr>
              <a:t>System</a:t>
            </a:r>
            <a:r>
              <a:rPr lang="en-US" sz="2200" dirty="0"/>
              <a:t> there?</a:t>
            </a:r>
          </a:p>
        </p:txBody>
      </p:sp>
      <p:sp>
        <p:nvSpPr>
          <p:cNvPr id="36" name="TextBox 35">
            <a:extLst>
              <a:ext uri="{FF2B5EF4-FFF2-40B4-BE49-F238E27FC236}">
                <a16:creationId xmlns:a16="http://schemas.microsoft.com/office/drawing/2014/main" id="{C9D968E7-071B-3E4A-9C7C-52B1F777617A}"/>
              </a:ext>
            </a:extLst>
          </p:cNvPr>
          <p:cNvSpPr txBox="1"/>
          <p:nvPr/>
        </p:nvSpPr>
        <p:spPr>
          <a:xfrm>
            <a:off x="6078415" y="1817729"/>
            <a:ext cx="2837838" cy="430887"/>
          </a:xfrm>
          <a:prstGeom prst="rect">
            <a:avLst/>
          </a:prstGeom>
          <a:noFill/>
        </p:spPr>
        <p:txBody>
          <a:bodyPr wrap="square" rtlCol="0">
            <a:spAutoFit/>
          </a:bodyPr>
          <a:lstStyle/>
          <a:p>
            <a:pPr algn="ctr"/>
            <a:r>
              <a:rPr lang="en-US" sz="2200" dirty="0"/>
              <a:t>yes! </a:t>
            </a:r>
            <a:r>
              <a:rPr lang="en-US" sz="2200" b="1" dirty="0">
                <a:solidFill>
                  <a:srgbClr val="00B050"/>
                </a:solidFill>
              </a:rPr>
              <a:t>name resolved. </a:t>
            </a:r>
            <a:endParaRPr lang="en-US" sz="2200" dirty="0">
              <a:solidFill>
                <a:srgbClr val="00B050"/>
              </a:solidFill>
            </a:endParaRPr>
          </a:p>
        </p:txBody>
      </p:sp>
      <p:sp>
        <p:nvSpPr>
          <p:cNvPr id="37" name="Rounded Rectangle 36">
            <a:extLst>
              <a:ext uri="{FF2B5EF4-FFF2-40B4-BE49-F238E27FC236}">
                <a16:creationId xmlns:a16="http://schemas.microsoft.com/office/drawing/2014/main" id="{87159628-1DBF-A24A-B3AC-9A79B7E193D9}"/>
              </a:ext>
            </a:extLst>
          </p:cNvPr>
          <p:cNvSpPr/>
          <p:nvPr/>
        </p:nvSpPr>
        <p:spPr>
          <a:xfrm>
            <a:off x="3006326" y="1515859"/>
            <a:ext cx="1263849" cy="398101"/>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85694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24"/>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30"/>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2" grpId="0" animBg="1"/>
      <p:bldP spid="17" grpId="0" animBg="1"/>
      <p:bldP spid="18" grpId="0" animBg="1"/>
      <p:bldP spid="20" grpId="0"/>
      <p:bldP spid="21" grpId="0" animBg="1"/>
      <p:bldP spid="23" grpId="0"/>
      <p:bldP spid="24" grpId="0" animBg="1"/>
      <p:bldP spid="24" grpId="1" animBg="1"/>
      <p:bldP spid="25" grpId="0"/>
      <p:bldP spid="30" grpId="0" animBg="1"/>
      <p:bldP spid="30" grpId="1" animBg="1"/>
      <p:bldP spid="31" grpId="0"/>
      <p:bldP spid="32" grpId="0"/>
      <p:bldP spid="34" grpId="0" animBg="1"/>
      <p:bldP spid="34" grpId="1" animBg="1"/>
      <p:bldP spid="35" grpId="0"/>
      <p:bldP spid="36" grpId="0"/>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9A770-15D1-F54E-AFD8-5B207F24B588}"/>
              </a:ext>
            </a:extLst>
          </p:cNvPr>
          <p:cNvSpPr>
            <a:spLocks noGrp="1"/>
          </p:cNvSpPr>
          <p:nvPr>
            <p:ph type="title"/>
          </p:nvPr>
        </p:nvSpPr>
        <p:spPr/>
        <p:txBody>
          <a:bodyPr/>
          <a:lstStyle/>
          <a:p>
            <a:r>
              <a:rPr lang="en-US" dirty="0"/>
              <a:t>What if it fails?</a:t>
            </a:r>
          </a:p>
        </p:txBody>
      </p:sp>
      <p:sp>
        <p:nvSpPr>
          <p:cNvPr id="3" name="Content Placeholder 2">
            <a:extLst>
              <a:ext uri="{FF2B5EF4-FFF2-40B4-BE49-F238E27FC236}">
                <a16:creationId xmlns:a16="http://schemas.microsoft.com/office/drawing/2014/main" id="{9015FE63-4D98-6244-B7C8-6F1A5E5926BB}"/>
              </a:ext>
            </a:extLst>
          </p:cNvPr>
          <p:cNvSpPr>
            <a:spLocks noGrp="1"/>
          </p:cNvSpPr>
          <p:nvPr>
            <p:ph idx="1"/>
          </p:nvPr>
        </p:nvSpPr>
        <p:spPr/>
        <p:txBody>
          <a:bodyPr/>
          <a:lstStyle/>
          <a:p>
            <a:r>
              <a:rPr lang="en-US" dirty="0"/>
              <a:t>what if we get up to the global scope and there's no match?</a:t>
            </a:r>
          </a:p>
          <a:p>
            <a:pPr lvl="1"/>
            <a:r>
              <a:rPr lang="en-US" dirty="0"/>
              <a:t>well, that's an </a:t>
            </a:r>
            <a:r>
              <a:rPr lang="en-US" b="1" dirty="0">
                <a:solidFill>
                  <a:srgbClr val="FF0000"/>
                </a:solidFill>
              </a:rPr>
              <a:t>error.</a:t>
            </a:r>
            <a:r>
              <a:rPr lang="en-US" b="1" dirty="0"/>
              <a:t> </a:t>
            </a:r>
            <a:r>
              <a:rPr lang="en-US" dirty="0"/>
              <a:t>that's when your compiler says "unresolved symbol" or "undefined name" or whatever.</a:t>
            </a:r>
          </a:p>
          <a:p>
            <a:r>
              <a:rPr lang="en-US" dirty="0"/>
              <a:t>but it could "fail" in another way:</a:t>
            </a:r>
          </a:p>
          <a:p>
            <a:pPr marL="515780" lvl="2" indent="0">
              <a:buNone/>
            </a:pP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x = System + </a:t>
            </a:r>
            <a:r>
              <a:rPr lang="en-US" b="1" dirty="0">
                <a:solidFill>
                  <a:schemeClr val="accent3">
                    <a:lumMod val="75000"/>
                  </a:schemeClr>
                </a:solidFill>
                <a:latin typeface="Consolas" panose="020B0609020204030204" pitchFamily="49" charset="0"/>
                <a:cs typeface="Consolas" panose="020B0609020204030204" pitchFamily="49" charset="0"/>
              </a:rPr>
              <a:t>5</a:t>
            </a:r>
            <a:r>
              <a:rPr lang="en-US" b="1" dirty="0">
                <a:latin typeface="Consolas" panose="020B0609020204030204" pitchFamily="49" charset="0"/>
                <a:cs typeface="Consolas" panose="020B0609020204030204" pitchFamily="49" charset="0"/>
              </a:rPr>
              <a:t>;</a:t>
            </a:r>
          </a:p>
          <a:p>
            <a:pPr lvl="1"/>
            <a:r>
              <a:rPr lang="en-US" dirty="0"/>
              <a:t>assuming I didn't declare a variable named System…</a:t>
            </a:r>
          </a:p>
          <a:p>
            <a:pPr lvl="1"/>
            <a:r>
              <a:rPr lang="en-US" dirty="0"/>
              <a:t>this is nonsense. how do you add a class and an integer?</a:t>
            </a:r>
          </a:p>
          <a:p>
            <a:r>
              <a:rPr lang="en-US" dirty="0"/>
              <a:t>well, </a:t>
            </a:r>
            <a:r>
              <a:rPr lang="en-US" b="1" dirty="0"/>
              <a:t>don't worry about it. </a:t>
            </a:r>
            <a:r>
              <a:rPr lang="en-US" dirty="0"/>
              <a:t>not at this stage, anyway.</a:t>
            </a:r>
          </a:p>
          <a:p>
            <a:pPr lvl="1"/>
            <a:r>
              <a:rPr lang="en-US" dirty="0"/>
              <a:t>name resolution </a:t>
            </a:r>
            <a:r>
              <a:rPr lang="en-US" b="1" dirty="0"/>
              <a:t>only cares about matching names to the things that declared them.</a:t>
            </a:r>
          </a:p>
          <a:p>
            <a:pPr lvl="1"/>
            <a:r>
              <a:rPr lang="en-US" dirty="0"/>
              <a:t>this example is a </a:t>
            </a:r>
            <a:r>
              <a:rPr lang="en-US" b="1" dirty="0"/>
              <a:t>type error </a:t>
            </a:r>
            <a:r>
              <a:rPr lang="en-US" dirty="0"/>
              <a:t>and will be caught further on during a subsequent phase of semantic analysis.</a:t>
            </a:r>
          </a:p>
        </p:txBody>
      </p:sp>
      <p:sp>
        <p:nvSpPr>
          <p:cNvPr id="4" name="Slide Number Placeholder 3">
            <a:extLst>
              <a:ext uri="{FF2B5EF4-FFF2-40B4-BE49-F238E27FC236}">
                <a16:creationId xmlns:a16="http://schemas.microsoft.com/office/drawing/2014/main" id="{4E3C35EE-14F7-B34D-866D-F33B0B0CF98A}"/>
              </a:ext>
            </a:extLst>
          </p:cNvPr>
          <p:cNvSpPr>
            <a:spLocks noGrp="1"/>
          </p:cNvSpPr>
          <p:nvPr>
            <p:ph type="sldNum" sz="quarter" idx="12"/>
          </p:nvPr>
        </p:nvSpPr>
        <p:spPr/>
        <p:txBody>
          <a:bodyPr/>
          <a:lstStyle/>
          <a:p>
            <a:fld id="{3552B95B-556F-44BD-91A5-D80C1B9E2BB3}" type="slidenum">
              <a:rPr lang="en-US" smtClean="0"/>
              <a:pPr/>
              <a:t>13</a:t>
            </a:fld>
            <a:endParaRPr lang="en-US"/>
          </a:p>
        </p:txBody>
      </p:sp>
    </p:spTree>
    <p:extLst>
      <p:ext uri="{BB962C8B-B14F-4D97-AF65-F5344CB8AC3E}">
        <p14:creationId xmlns:p14="http://schemas.microsoft.com/office/powerpoint/2010/main" val="278440450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884D-B513-7840-A303-1E9AF88C3810}"/>
              </a:ext>
            </a:extLst>
          </p:cNvPr>
          <p:cNvSpPr>
            <a:spLocks noGrp="1"/>
          </p:cNvSpPr>
          <p:nvPr>
            <p:ph type="title"/>
          </p:nvPr>
        </p:nvSpPr>
        <p:spPr/>
        <p:txBody>
          <a:bodyPr/>
          <a:lstStyle/>
          <a:p>
            <a:r>
              <a:rPr lang="en-US" dirty="0"/>
              <a:t>Keeping track of resolved names</a:t>
            </a:r>
          </a:p>
        </p:txBody>
      </p:sp>
      <p:sp>
        <p:nvSpPr>
          <p:cNvPr id="3" name="Content Placeholder 2">
            <a:extLst>
              <a:ext uri="{FF2B5EF4-FFF2-40B4-BE49-F238E27FC236}">
                <a16:creationId xmlns:a16="http://schemas.microsoft.com/office/drawing/2014/main" id="{73B8EDCF-71CA-6840-99DB-A1B19E128CD9}"/>
              </a:ext>
            </a:extLst>
          </p:cNvPr>
          <p:cNvSpPr>
            <a:spLocks noGrp="1"/>
          </p:cNvSpPr>
          <p:nvPr>
            <p:ph idx="1"/>
          </p:nvPr>
        </p:nvSpPr>
        <p:spPr>
          <a:xfrm>
            <a:off x="152400" y="495301"/>
            <a:ext cx="8991600" cy="1904999"/>
          </a:xfrm>
        </p:spPr>
        <p:txBody>
          <a:bodyPr/>
          <a:lstStyle/>
          <a:p>
            <a:r>
              <a:rPr lang="en-US" dirty="0"/>
              <a:t>we </a:t>
            </a:r>
            <a:r>
              <a:rPr lang="en-US" i="1" dirty="0"/>
              <a:t>could</a:t>
            </a:r>
            <a:r>
              <a:rPr lang="en-US" dirty="0"/>
              <a:t> perform name resolution every time we need to know the referent during subsequent compiler phases.</a:t>
            </a:r>
          </a:p>
          <a:p>
            <a:pPr lvl="1"/>
            <a:r>
              <a:rPr lang="en-US" dirty="0"/>
              <a:t>but real-world experience </a:t>
            </a:r>
            <a:r>
              <a:rPr lang="en-US" sz="1400" dirty="0"/>
              <a:t>(by other people)</a:t>
            </a:r>
            <a:r>
              <a:rPr lang="en-US" dirty="0"/>
              <a:t> has shown that these resolutions happen </a:t>
            </a:r>
            <a:r>
              <a:rPr lang="en-US" i="1" dirty="0"/>
              <a:t>a lot</a:t>
            </a:r>
            <a:r>
              <a:rPr lang="en-US" dirty="0"/>
              <a:t> and that can waste </a:t>
            </a:r>
            <a:r>
              <a:rPr lang="en-US" i="1" dirty="0"/>
              <a:t>a lot of time.</a:t>
            </a:r>
            <a:endParaRPr lang="en-US" dirty="0"/>
          </a:p>
          <a:p>
            <a:r>
              <a:rPr lang="en-US" dirty="0"/>
              <a:t>since the referent never changes, it makes sense to </a:t>
            </a:r>
            <a:r>
              <a:rPr lang="en-US" b="1" dirty="0"/>
              <a:t>remember that.</a:t>
            </a:r>
          </a:p>
        </p:txBody>
      </p:sp>
      <p:sp>
        <p:nvSpPr>
          <p:cNvPr id="4" name="Slide Number Placeholder 3">
            <a:extLst>
              <a:ext uri="{FF2B5EF4-FFF2-40B4-BE49-F238E27FC236}">
                <a16:creationId xmlns:a16="http://schemas.microsoft.com/office/drawing/2014/main" id="{6CC88C7D-80BB-074D-B79B-BB5466E1EE1F}"/>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5" name="TextBox 4">
            <a:extLst>
              <a:ext uri="{FF2B5EF4-FFF2-40B4-BE49-F238E27FC236}">
                <a16:creationId xmlns:a16="http://schemas.microsoft.com/office/drawing/2014/main" id="{9E10E5DE-4463-AC49-9B00-B6BA1FE16170}"/>
              </a:ext>
            </a:extLst>
          </p:cNvPr>
          <p:cNvSpPr txBox="1"/>
          <p:nvPr/>
        </p:nvSpPr>
        <p:spPr>
          <a:xfrm>
            <a:off x="609827" y="2842955"/>
            <a:ext cx="2053767" cy="1938992"/>
          </a:xfrm>
          <a:prstGeom prst="rect">
            <a:avLst/>
          </a:prstGeom>
          <a:noFill/>
        </p:spPr>
        <p:txBody>
          <a:bodyPr wrap="none" rtlCol="0">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x = x + </a:t>
            </a:r>
            <a:r>
              <a:rPr lang="en-US" sz="2400" b="1" dirty="0">
                <a:solidFill>
                  <a:schemeClr val="accent3">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println</a:t>
            </a:r>
            <a:r>
              <a:rPr lang="en-US" sz="2400" b="1" dirty="0">
                <a:latin typeface="Consolas" panose="020B0609020204030204" pitchFamily="49" charset="0"/>
                <a:cs typeface="Consolas" panose="020B0609020204030204" pitchFamily="49" charset="0"/>
              </a:rPr>
              <a:t>(x);</a:t>
            </a:r>
          </a:p>
          <a:p>
            <a:r>
              <a:rPr lang="en-US" sz="2400" b="1" dirty="0">
                <a:latin typeface="Consolas" panose="020B0609020204030204" pitchFamily="49" charset="0"/>
                <a:cs typeface="Consolas" panose="020B0609020204030204" pitchFamily="49" charset="0"/>
              </a:rPr>
              <a:t>x = f();</a:t>
            </a:r>
          </a:p>
          <a:p>
            <a:r>
              <a:rPr lang="en-US" sz="2400" b="1" dirty="0">
                <a:solidFill>
                  <a:srgbClr val="FF0000"/>
                </a:solidFill>
                <a:latin typeface="Consolas" panose="020B0609020204030204" pitchFamily="49" charset="0"/>
                <a:cs typeface="Consolas" panose="020B0609020204030204" pitchFamily="49" charset="0"/>
              </a:rPr>
              <a:t>return</a:t>
            </a:r>
            <a:r>
              <a:rPr lang="en-US" sz="2400" b="1" dirty="0">
                <a:latin typeface="Consolas" panose="020B0609020204030204" pitchFamily="49" charset="0"/>
                <a:cs typeface="Consolas" panose="020B0609020204030204" pitchFamily="49" charset="0"/>
              </a:rPr>
              <a:t> x;</a:t>
            </a:r>
          </a:p>
        </p:txBody>
      </p:sp>
      <p:grpSp>
        <p:nvGrpSpPr>
          <p:cNvPr id="34" name="Group 33">
            <a:extLst>
              <a:ext uri="{FF2B5EF4-FFF2-40B4-BE49-F238E27FC236}">
                <a16:creationId xmlns:a16="http://schemas.microsoft.com/office/drawing/2014/main" id="{EDB1E268-AC94-D24F-8359-A63DA1C086D4}"/>
              </a:ext>
            </a:extLst>
          </p:cNvPr>
          <p:cNvGrpSpPr/>
          <p:nvPr/>
        </p:nvGrpSpPr>
        <p:grpSpPr>
          <a:xfrm>
            <a:off x="533400" y="2921916"/>
            <a:ext cx="1798441" cy="1824907"/>
            <a:chOff x="533400" y="2921916"/>
            <a:chExt cx="1798441" cy="1824907"/>
          </a:xfrm>
        </p:grpSpPr>
        <p:sp>
          <p:nvSpPr>
            <p:cNvPr id="6" name="Rounded Rectangle 5">
              <a:extLst>
                <a:ext uri="{FF2B5EF4-FFF2-40B4-BE49-F238E27FC236}">
                  <a16:creationId xmlns:a16="http://schemas.microsoft.com/office/drawing/2014/main" id="{59D25CC5-5F96-A644-A535-3C617016EA74}"/>
                </a:ext>
              </a:extLst>
            </p:cNvPr>
            <p:cNvSpPr/>
            <p:nvPr/>
          </p:nvSpPr>
          <p:spPr>
            <a:xfrm>
              <a:off x="1256025" y="3252735"/>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18AD2AF4-630C-1F4D-8EE5-93AF9FC7E9AC}"/>
                </a:ext>
              </a:extLst>
            </p:cNvPr>
            <p:cNvSpPr/>
            <p:nvPr/>
          </p:nvSpPr>
          <p:spPr>
            <a:xfrm>
              <a:off x="599788" y="3252735"/>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E927163-1520-B14D-9B44-01B88B77C0D9}"/>
                </a:ext>
              </a:extLst>
            </p:cNvPr>
            <p:cNvSpPr/>
            <p:nvPr/>
          </p:nvSpPr>
          <p:spPr>
            <a:xfrm>
              <a:off x="1941316" y="3620483"/>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16BA8445-376B-5340-8BD9-CC0EEB6F00EA}"/>
                </a:ext>
              </a:extLst>
            </p:cNvPr>
            <p:cNvSpPr/>
            <p:nvPr/>
          </p:nvSpPr>
          <p:spPr>
            <a:xfrm>
              <a:off x="599787" y="3976540"/>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D141E003-6268-AE40-AB87-C22A141D73E3}"/>
                </a:ext>
              </a:extLst>
            </p:cNvPr>
            <p:cNvSpPr/>
            <p:nvPr/>
          </p:nvSpPr>
          <p:spPr>
            <a:xfrm>
              <a:off x="1756039" y="4357540"/>
              <a:ext cx="390525" cy="3892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urved Connector 13">
              <a:extLst>
                <a:ext uri="{FF2B5EF4-FFF2-40B4-BE49-F238E27FC236}">
                  <a16:creationId xmlns:a16="http://schemas.microsoft.com/office/drawing/2014/main" id="{7F25B0ED-D758-EA4A-8077-ECEDBBF2C8E2}"/>
                </a:ext>
              </a:extLst>
            </p:cNvPr>
            <p:cNvCxnSpPr>
              <a:cxnSpLocks/>
            </p:cNvCxnSpPr>
            <p:nvPr/>
          </p:nvCxnSpPr>
          <p:spPr>
            <a:xfrm rot="10800000" flipH="1">
              <a:off x="533400" y="2922736"/>
              <a:ext cx="847284" cy="525461"/>
            </a:xfrm>
            <a:prstGeom prst="curvedConnector4">
              <a:avLst>
                <a:gd name="adj1" fmla="val -26980"/>
                <a:gd name="adj2" fmla="val 143505"/>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57F6671A-D568-F845-96A8-7B61996E6660}"/>
                </a:ext>
              </a:extLst>
            </p:cNvPr>
            <p:cNvCxnSpPr>
              <a:cxnSpLocks/>
              <a:stCxn id="6" idx="3"/>
            </p:cNvCxnSpPr>
            <p:nvPr/>
          </p:nvCxnSpPr>
          <p:spPr>
            <a:xfrm flipH="1" flipV="1">
              <a:off x="1447072" y="2921916"/>
              <a:ext cx="199478" cy="525461"/>
            </a:xfrm>
            <a:prstGeom prst="curvedConnector4">
              <a:avLst>
                <a:gd name="adj1" fmla="val -171308"/>
                <a:gd name="adj2" fmla="val 143505"/>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urved Connector 20">
              <a:extLst>
                <a:ext uri="{FF2B5EF4-FFF2-40B4-BE49-F238E27FC236}">
                  <a16:creationId xmlns:a16="http://schemas.microsoft.com/office/drawing/2014/main" id="{0BDF5CCB-D34A-EF49-92D5-6E6915289E06}"/>
                </a:ext>
              </a:extLst>
            </p:cNvPr>
            <p:cNvCxnSpPr>
              <a:cxnSpLocks/>
              <a:stCxn id="8" idx="0"/>
            </p:cNvCxnSpPr>
            <p:nvPr/>
          </p:nvCxnSpPr>
          <p:spPr>
            <a:xfrm rot="16200000" flipV="1">
              <a:off x="1612184" y="3096087"/>
              <a:ext cx="554547" cy="494245"/>
            </a:xfrm>
            <a:prstGeom prst="curvedConnector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a:extLst>
                <a:ext uri="{FF2B5EF4-FFF2-40B4-BE49-F238E27FC236}">
                  <a16:creationId xmlns:a16="http://schemas.microsoft.com/office/drawing/2014/main" id="{3093637A-72F5-7241-B54B-95E8289EE235}"/>
                </a:ext>
              </a:extLst>
            </p:cNvPr>
            <p:cNvCxnSpPr>
              <a:cxnSpLocks/>
              <a:stCxn id="9" idx="1"/>
            </p:cNvCxnSpPr>
            <p:nvPr/>
          </p:nvCxnSpPr>
          <p:spPr>
            <a:xfrm rot="10800000" flipH="1">
              <a:off x="599787" y="3065936"/>
              <a:ext cx="652022" cy="1105246"/>
            </a:xfrm>
            <a:prstGeom prst="curvedConnector3">
              <a:avLst>
                <a:gd name="adj1" fmla="val -46626"/>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7052B006-3E23-3E42-BEAA-599E9197004E}"/>
                </a:ext>
              </a:extLst>
            </p:cNvPr>
            <p:cNvCxnSpPr>
              <a:cxnSpLocks/>
            </p:cNvCxnSpPr>
            <p:nvPr/>
          </p:nvCxnSpPr>
          <p:spPr>
            <a:xfrm flipH="1" flipV="1">
              <a:off x="1520480" y="2921916"/>
              <a:ext cx="699492" cy="1630266"/>
            </a:xfrm>
            <a:prstGeom prst="curvedConnector4">
              <a:avLst>
                <a:gd name="adj1" fmla="val -32681"/>
                <a:gd name="adj2" fmla="val 114022"/>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466F9027-44D2-FE4A-A9F5-196EC4130284}"/>
              </a:ext>
            </a:extLst>
          </p:cNvPr>
          <p:cNvSpPr txBox="1"/>
          <p:nvPr/>
        </p:nvSpPr>
        <p:spPr>
          <a:xfrm>
            <a:off x="2815304" y="2517791"/>
            <a:ext cx="6100096" cy="1446550"/>
          </a:xfrm>
          <a:prstGeom prst="rect">
            <a:avLst/>
          </a:prstGeom>
          <a:noFill/>
        </p:spPr>
        <p:txBody>
          <a:bodyPr wrap="square" rtlCol="0">
            <a:spAutoFit/>
          </a:bodyPr>
          <a:lstStyle/>
          <a:p>
            <a:pPr algn="ctr"/>
            <a:r>
              <a:rPr lang="en-US" sz="2200" dirty="0"/>
              <a:t>we can do this by keeping a </a:t>
            </a:r>
            <a:r>
              <a:rPr lang="en-US" sz="2200" b="1" dirty="0"/>
              <a:t>map </a:t>
            </a:r>
            <a:r>
              <a:rPr lang="en-US" sz="2200" dirty="0"/>
              <a:t>which maps from the AST nodes which </a:t>
            </a:r>
            <a:r>
              <a:rPr lang="en-US" sz="2200" b="1" dirty="0"/>
              <a:t>use</a:t>
            </a:r>
            <a:r>
              <a:rPr lang="en-US" sz="2200" dirty="0"/>
              <a:t> a name to the node which </a:t>
            </a:r>
            <a:r>
              <a:rPr lang="en-US" sz="2200" b="1" dirty="0"/>
              <a:t>declares</a:t>
            </a:r>
            <a:r>
              <a:rPr lang="en-US" sz="2200" i="1" dirty="0"/>
              <a:t> </a:t>
            </a:r>
            <a:r>
              <a:rPr lang="en-US" sz="2200" dirty="0"/>
              <a:t>it. this is </a:t>
            </a:r>
            <a:r>
              <a:rPr lang="en-US" sz="2200" i="1" dirty="0"/>
              <a:t>yet another</a:t>
            </a:r>
            <a:r>
              <a:rPr lang="en-US" sz="2200" dirty="0"/>
              <a:t> data structure that I call the </a:t>
            </a:r>
            <a:r>
              <a:rPr lang="en-US" sz="2200" b="1" dirty="0"/>
              <a:t>use map</a:t>
            </a:r>
            <a:r>
              <a:rPr lang="en-US" sz="2200" dirty="0"/>
              <a:t>.</a:t>
            </a:r>
          </a:p>
        </p:txBody>
      </p:sp>
      <p:sp>
        <p:nvSpPr>
          <p:cNvPr id="33" name="TextBox 32">
            <a:extLst>
              <a:ext uri="{FF2B5EF4-FFF2-40B4-BE49-F238E27FC236}">
                <a16:creationId xmlns:a16="http://schemas.microsoft.com/office/drawing/2014/main" id="{A415369E-4A82-D04D-88DE-2AA7609AC4DF}"/>
              </a:ext>
            </a:extLst>
          </p:cNvPr>
          <p:cNvSpPr txBox="1"/>
          <p:nvPr/>
        </p:nvSpPr>
        <p:spPr>
          <a:xfrm>
            <a:off x="2891504" y="4100155"/>
            <a:ext cx="5947696" cy="430887"/>
          </a:xfrm>
          <a:prstGeom prst="rect">
            <a:avLst/>
          </a:prstGeom>
          <a:noFill/>
        </p:spPr>
        <p:txBody>
          <a:bodyPr wrap="square" rtlCol="0">
            <a:spAutoFit/>
          </a:bodyPr>
          <a:lstStyle/>
          <a:p>
            <a:pPr algn="ctr"/>
            <a:r>
              <a:rPr lang="en-US" sz="2200" dirty="0"/>
              <a:t>it’s a bit like drawing arrows all over the code.</a:t>
            </a:r>
          </a:p>
        </p:txBody>
      </p:sp>
      <p:sp>
        <p:nvSpPr>
          <p:cNvPr id="35" name="TextBox 34">
            <a:extLst>
              <a:ext uri="{FF2B5EF4-FFF2-40B4-BE49-F238E27FC236}">
                <a16:creationId xmlns:a16="http://schemas.microsoft.com/office/drawing/2014/main" id="{2577342A-2E0E-AC49-B85A-BC2EEFE18CD3}"/>
              </a:ext>
            </a:extLst>
          </p:cNvPr>
          <p:cNvSpPr txBox="1"/>
          <p:nvPr/>
        </p:nvSpPr>
        <p:spPr>
          <a:xfrm>
            <a:off x="3232875" y="4621768"/>
            <a:ext cx="5264953" cy="369332"/>
          </a:xfrm>
          <a:prstGeom prst="rect">
            <a:avLst/>
          </a:prstGeom>
          <a:noFill/>
        </p:spPr>
        <p:txBody>
          <a:bodyPr wrap="square" rtlCol="0">
            <a:spAutoFit/>
          </a:bodyPr>
          <a:lstStyle/>
          <a:p>
            <a:pPr algn="ctr"/>
            <a:r>
              <a:rPr lang="en-US" sz="1800" dirty="0"/>
              <a:t>again, we'll see how to implement this soon…</a:t>
            </a:r>
          </a:p>
        </p:txBody>
      </p:sp>
    </p:spTree>
    <p:extLst>
      <p:ext uri="{BB962C8B-B14F-4D97-AF65-F5344CB8AC3E}">
        <p14:creationId xmlns:p14="http://schemas.microsoft.com/office/powerpoint/2010/main" val="37062138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2" grpId="0"/>
      <p:bldP spid="33" grpId="0"/>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58F9-FB01-1B45-8E87-7425549E2F78}"/>
              </a:ext>
            </a:extLst>
          </p:cNvPr>
          <p:cNvSpPr>
            <a:spLocks noGrp="1"/>
          </p:cNvSpPr>
          <p:nvPr>
            <p:ph type="title"/>
          </p:nvPr>
        </p:nvSpPr>
        <p:spPr/>
        <p:txBody>
          <a:bodyPr/>
          <a:lstStyle/>
          <a:p>
            <a:r>
              <a:rPr lang="en-US" dirty="0"/>
              <a:t>Accessing names </a:t>
            </a:r>
            <a:r>
              <a:rPr lang="en-US" i="1" dirty="0"/>
              <a:t>inside</a:t>
            </a:r>
            <a:r>
              <a:rPr lang="en-US" dirty="0"/>
              <a:t> things</a:t>
            </a:r>
          </a:p>
        </p:txBody>
      </p:sp>
      <p:sp>
        <p:nvSpPr>
          <p:cNvPr id="3" name="Content Placeholder 2">
            <a:extLst>
              <a:ext uri="{FF2B5EF4-FFF2-40B4-BE49-F238E27FC236}">
                <a16:creationId xmlns:a16="http://schemas.microsoft.com/office/drawing/2014/main" id="{E0FD04BF-D1B4-554D-9810-86E9302A6062}"/>
              </a:ext>
            </a:extLst>
          </p:cNvPr>
          <p:cNvSpPr>
            <a:spLocks noGrp="1"/>
          </p:cNvSpPr>
          <p:nvPr>
            <p:ph idx="1"/>
          </p:nvPr>
        </p:nvSpPr>
        <p:spPr>
          <a:xfrm>
            <a:off x="152400" y="495302"/>
            <a:ext cx="8991600" cy="495300"/>
          </a:xfrm>
        </p:spPr>
        <p:txBody>
          <a:bodyPr/>
          <a:lstStyle/>
          <a:p>
            <a:r>
              <a:rPr lang="en-US" dirty="0"/>
              <a:t>this piece of code presents another interesting scenario:</a:t>
            </a:r>
          </a:p>
        </p:txBody>
      </p:sp>
      <p:sp>
        <p:nvSpPr>
          <p:cNvPr id="4" name="Slide Number Placeholder 3">
            <a:extLst>
              <a:ext uri="{FF2B5EF4-FFF2-40B4-BE49-F238E27FC236}">
                <a16:creationId xmlns:a16="http://schemas.microsoft.com/office/drawing/2014/main" id="{06100FAE-2624-9B43-8BFF-47C045ACFF17}"/>
              </a:ext>
            </a:extLst>
          </p:cNvPr>
          <p:cNvSpPr>
            <a:spLocks noGrp="1"/>
          </p:cNvSpPr>
          <p:nvPr>
            <p:ph type="sldNum" sz="quarter" idx="12"/>
          </p:nvPr>
        </p:nvSpPr>
        <p:spPr/>
        <p:txBody>
          <a:bodyPr/>
          <a:lstStyle/>
          <a:p>
            <a:fld id="{3552B95B-556F-44BD-91A5-D80C1B9E2BB3}" type="slidenum">
              <a:rPr lang="en-US" smtClean="0"/>
              <a:pPr/>
              <a:t>15</a:t>
            </a:fld>
            <a:endParaRPr lang="en-US"/>
          </a:p>
        </p:txBody>
      </p:sp>
      <p:sp>
        <p:nvSpPr>
          <p:cNvPr id="5" name="TextBox 4">
            <a:extLst>
              <a:ext uri="{FF2B5EF4-FFF2-40B4-BE49-F238E27FC236}">
                <a16:creationId xmlns:a16="http://schemas.microsoft.com/office/drawing/2014/main" id="{AEC2F489-80A9-8247-A957-8A6EEDC71F73}"/>
              </a:ext>
            </a:extLst>
          </p:cNvPr>
          <p:cNvSpPr txBox="1"/>
          <p:nvPr/>
        </p:nvSpPr>
        <p:spPr>
          <a:xfrm>
            <a:off x="381000" y="894152"/>
            <a:ext cx="4384491" cy="430887"/>
          </a:xfrm>
          <a:prstGeom prst="rect">
            <a:avLst/>
          </a:prstGeom>
          <a:noFill/>
        </p:spPr>
        <p:txBody>
          <a:bodyPr wrap="square" rtlCol="0">
            <a:spAutoFit/>
          </a:bodyPr>
          <a:lstStyle/>
          <a:p>
            <a:pPr>
              <a:spcAft>
                <a:spcPts val="600"/>
              </a:spcAft>
            </a:pPr>
            <a:r>
              <a:rPr lang="en-US" sz="2200" b="1" dirty="0" err="1">
                <a:latin typeface="Consolas" panose="020B0609020204030204" pitchFamily="49" charset="0"/>
                <a:cs typeface="Consolas" panose="020B0609020204030204" pitchFamily="49" charset="0"/>
              </a:rPr>
              <a:t>System.out.println</a:t>
            </a:r>
            <a:r>
              <a:rPr lang="en-US" sz="2200" b="1" dirty="0">
                <a:latin typeface="Consolas" panose="020B0609020204030204" pitchFamily="49" charset="0"/>
                <a:cs typeface="Consolas" panose="020B0609020204030204" pitchFamily="49" charset="0"/>
              </a:rPr>
              <a:t>(y);</a:t>
            </a:r>
          </a:p>
        </p:txBody>
      </p:sp>
      <p:grpSp>
        <p:nvGrpSpPr>
          <p:cNvPr id="12" name="Group 11">
            <a:extLst>
              <a:ext uri="{FF2B5EF4-FFF2-40B4-BE49-F238E27FC236}">
                <a16:creationId xmlns:a16="http://schemas.microsoft.com/office/drawing/2014/main" id="{6A85F344-5B24-B148-8080-E488C917D17B}"/>
              </a:ext>
            </a:extLst>
          </p:cNvPr>
          <p:cNvGrpSpPr/>
          <p:nvPr/>
        </p:nvGrpSpPr>
        <p:grpSpPr>
          <a:xfrm>
            <a:off x="1371600" y="926224"/>
            <a:ext cx="5045112" cy="786710"/>
            <a:chOff x="1503575" y="1293868"/>
            <a:chExt cx="5045112" cy="786710"/>
          </a:xfrm>
        </p:grpSpPr>
        <p:sp>
          <p:nvSpPr>
            <p:cNvPr id="6" name="Rounded Rectangle 5">
              <a:extLst>
                <a:ext uri="{FF2B5EF4-FFF2-40B4-BE49-F238E27FC236}">
                  <a16:creationId xmlns:a16="http://schemas.microsoft.com/office/drawing/2014/main" id="{496C17EA-FE50-9F48-9748-35BB5DDC1EE8}"/>
                </a:ext>
              </a:extLst>
            </p:cNvPr>
            <p:cNvSpPr/>
            <p:nvPr/>
          </p:nvSpPr>
          <p:spPr>
            <a:xfrm>
              <a:off x="1503575" y="1293868"/>
              <a:ext cx="644815" cy="35582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116B3C4-4687-C247-9BC6-5988BF4ADDFD}"/>
                </a:ext>
              </a:extLst>
            </p:cNvPr>
            <p:cNvSpPr txBox="1"/>
            <p:nvPr/>
          </p:nvSpPr>
          <p:spPr>
            <a:xfrm>
              <a:off x="2164196" y="1649691"/>
              <a:ext cx="4384491" cy="430887"/>
            </a:xfrm>
            <a:prstGeom prst="rect">
              <a:avLst/>
            </a:prstGeom>
            <a:noFill/>
          </p:spPr>
          <p:txBody>
            <a:bodyPr wrap="square" rtlCol="0">
              <a:spAutoFit/>
            </a:bodyPr>
            <a:lstStyle/>
            <a:p>
              <a:r>
                <a:rPr lang="en-US" sz="2200" dirty="0"/>
                <a:t>is this also a name resolution??</a:t>
              </a:r>
            </a:p>
          </p:txBody>
        </p:sp>
        <p:sp>
          <p:nvSpPr>
            <p:cNvPr id="11" name="Arc 10">
              <a:extLst>
                <a:ext uri="{FF2B5EF4-FFF2-40B4-BE49-F238E27FC236}">
                  <a16:creationId xmlns:a16="http://schemas.microsoft.com/office/drawing/2014/main" id="{EFABBE72-E603-014A-A842-68FBEF91C644}"/>
                </a:ext>
              </a:extLst>
            </p:cNvPr>
            <p:cNvSpPr/>
            <p:nvPr/>
          </p:nvSpPr>
          <p:spPr>
            <a:xfrm rot="10800000">
              <a:off x="1973696" y="1526211"/>
              <a:ext cx="381000" cy="381000"/>
            </a:xfrm>
            <a:prstGeom prst="arc">
              <a:avLst/>
            </a:prstGeom>
            <a:ln w="38100">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3" name="TextBox 12">
            <a:extLst>
              <a:ext uri="{FF2B5EF4-FFF2-40B4-BE49-F238E27FC236}">
                <a16:creationId xmlns:a16="http://schemas.microsoft.com/office/drawing/2014/main" id="{D8AC6CB6-8558-224C-84FA-C4526D4BDF8C}"/>
              </a:ext>
            </a:extLst>
          </p:cNvPr>
          <p:cNvSpPr txBox="1"/>
          <p:nvPr/>
        </p:nvSpPr>
        <p:spPr>
          <a:xfrm>
            <a:off x="914400" y="2247900"/>
            <a:ext cx="7315200" cy="769441"/>
          </a:xfrm>
          <a:prstGeom prst="rect">
            <a:avLst/>
          </a:prstGeom>
          <a:noFill/>
        </p:spPr>
        <p:txBody>
          <a:bodyPr wrap="square" rtlCol="0">
            <a:spAutoFit/>
          </a:bodyPr>
          <a:lstStyle/>
          <a:p>
            <a:pPr algn="ctr"/>
            <a:r>
              <a:rPr lang="en-US" sz="2200" dirty="0"/>
              <a:t>but there's a complication: we may not be able to perform the resolution </a:t>
            </a:r>
            <a:r>
              <a:rPr lang="en-US" sz="2200" b="1" dirty="0"/>
              <a:t>until </a:t>
            </a:r>
            <a:r>
              <a:rPr lang="en-US" sz="2200" b="1" dirty="0">
                <a:solidFill>
                  <a:srgbClr val="FF0000"/>
                </a:solidFill>
              </a:rPr>
              <a:t>after </a:t>
            </a:r>
            <a:r>
              <a:rPr lang="en-US" sz="2200" b="1" dirty="0"/>
              <a:t>we do typechecking:</a:t>
            </a:r>
            <a:endParaRPr lang="en-US" sz="2200" dirty="0"/>
          </a:p>
        </p:txBody>
      </p:sp>
      <p:sp>
        <p:nvSpPr>
          <p:cNvPr id="14" name="TextBox 13">
            <a:extLst>
              <a:ext uri="{FF2B5EF4-FFF2-40B4-BE49-F238E27FC236}">
                <a16:creationId xmlns:a16="http://schemas.microsoft.com/office/drawing/2014/main" id="{8EC8D300-EBF0-6848-B7E3-E52FC1095428}"/>
              </a:ext>
            </a:extLst>
          </p:cNvPr>
          <p:cNvSpPr txBox="1"/>
          <p:nvPr/>
        </p:nvSpPr>
        <p:spPr>
          <a:xfrm>
            <a:off x="774921" y="3264813"/>
            <a:ext cx="1935051" cy="430887"/>
          </a:xfrm>
          <a:prstGeom prst="rect">
            <a:avLst/>
          </a:prstGeom>
          <a:noFill/>
        </p:spPr>
        <p:txBody>
          <a:bodyPr wrap="square" rtlCol="0">
            <a:spAutoFit/>
          </a:bodyPr>
          <a:lstStyle/>
          <a:p>
            <a:pPr>
              <a:spcAft>
                <a:spcPts val="600"/>
              </a:spcAft>
            </a:pPr>
            <a:r>
              <a:rPr lang="en-US" sz="2200" b="1" dirty="0" err="1">
                <a:latin typeface="Consolas" panose="020B0609020204030204" pitchFamily="49" charset="0"/>
                <a:cs typeface="Consolas" panose="020B0609020204030204" pitchFamily="49" charset="0"/>
              </a:rPr>
              <a:t>obj.x</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p>
        </p:txBody>
      </p:sp>
      <p:sp>
        <p:nvSpPr>
          <p:cNvPr id="16" name="TextBox 15">
            <a:extLst>
              <a:ext uri="{FF2B5EF4-FFF2-40B4-BE49-F238E27FC236}">
                <a16:creationId xmlns:a16="http://schemas.microsoft.com/office/drawing/2014/main" id="{47F8B183-BC4E-D449-9791-F3101DE13A79}"/>
              </a:ext>
            </a:extLst>
          </p:cNvPr>
          <p:cNvSpPr txBox="1"/>
          <p:nvPr/>
        </p:nvSpPr>
        <p:spPr>
          <a:xfrm>
            <a:off x="2709972" y="3086101"/>
            <a:ext cx="5748228" cy="769441"/>
          </a:xfrm>
          <a:prstGeom prst="rect">
            <a:avLst/>
          </a:prstGeom>
          <a:noFill/>
        </p:spPr>
        <p:txBody>
          <a:bodyPr wrap="square" rtlCol="0">
            <a:spAutoFit/>
          </a:bodyPr>
          <a:lstStyle/>
          <a:p>
            <a:pPr algn="ctr"/>
            <a:r>
              <a:rPr lang="en-US" sz="2200" dirty="0"/>
              <a:t>here, we have to know </a:t>
            </a:r>
            <a:r>
              <a:rPr lang="en-US" sz="2200" b="1" dirty="0">
                <a:solidFill>
                  <a:srgbClr val="FF0000"/>
                </a:solidFill>
              </a:rPr>
              <a:t>what </a:t>
            </a:r>
            <a:r>
              <a:rPr lang="en-US" sz="2200" b="1" i="1" dirty="0">
                <a:solidFill>
                  <a:srgbClr val="FF0000"/>
                </a:solidFill>
              </a:rPr>
              <a:t>type</a:t>
            </a:r>
            <a:r>
              <a:rPr lang="en-US" sz="2200" b="1" dirty="0">
                <a:solidFill>
                  <a:srgbClr val="FF0000"/>
                </a:solidFill>
              </a:rPr>
              <a:t> </a:t>
            </a:r>
            <a:r>
              <a:rPr lang="en-US" sz="2200" b="1" dirty="0" err="1">
                <a:solidFill>
                  <a:srgbClr val="FF0000"/>
                </a:solidFill>
                <a:latin typeface="Consolas" panose="020B0609020204030204" pitchFamily="49" charset="0"/>
                <a:cs typeface="Consolas" panose="020B0609020204030204" pitchFamily="49" charset="0"/>
              </a:rPr>
              <a:t>obj</a:t>
            </a:r>
            <a:r>
              <a:rPr lang="en-US" sz="2200" b="1" dirty="0">
                <a:solidFill>
                  <a:srgbClr val="FF0000"/>
                </a:solidFill>
              </a:rPr>
              <a:t> is</a:t>
            </a:r>
            <a:r>
              <a:rPr lang="en-US" sz="2200" b="1" dirty="0"/>
              <a:t> </a:t>
            </a:r>
            <a:r>
              <a:rPr lang="en-US" sz="2200" dirty="0"/>
              <a:t>to know if </a:t>
            </a:r>
            <a:r>
              <a:rPr lang="en-US" sz="2200" b="1" dirty="0">
                <a:latin typeface="Consolas" panose="020B0609020204030204" pitchFamily="49" charset="0"/>
                <a:cs typeface="Consolas" panose="020B0609020204030204" pitchFamily="49" charset="0"/>
              </a:rPr>
              <a:t>x</a:t>
            </a:r>
            <a:r>
              <a:rPr lang="en-US" sz="2200" dirty="0"/>
              <a:t> is a valid name inside of that type.</a:t>
            </a:r>
          </a:p>
        </p:txBody>
      </p:sp>
      <p:sp>
        <p:nvSpPr>
          <p:cNvPr id="21" name="TextBox 20">
            <a:extLst>
              <a:ext uri="{FF2B5EF4-FFF2-40B4-BE49-F238E27FC236}">
                <a16:creationId xmlns:a16="http://schemas.microsoft.com/office/drawing/2014/main" id="{6B14497C-B7DD-B047-B3E2-1BA9B747717C}"/>
              </a:ext>
            </a:extLst>
          </p:cNvPr>
          <p:cNvSpPr txBox="1"/>
          <p:nvPr/>
        </p:nvSpPr>
        <p:spPr>
          <a:xfrm>
            <a:off x="651590" y="1700731"/>
            <a:ext cx="7778330" cy="430887"/>
          </a:xfrm>
          <a:prstGeom prst="rect">
            <a:avLst/>
          </a:prstGeom>
          <a:noFill/>
        </p:spPr>
        <p:txBody>
          <a:bodyPr wrap="square" rtlCol="0">
            <a:spAutoFit/>
          </a:bodyPr>
          <a:lstStyle/>
          <a:p>
            <a:pPr algn="ctr"/>
            <a:r>
              <a:rPr lang="en-US" sz="2200" dirty="0"/>
              <a:t>well, </a:t>
            </a:r>
            <a:r>
              <a:rPr lang="en-US" sz="2200" b="1" dirty="0"/>
              <a:t>yes! </a:t>
            </a:r>
            <a:r>
              <a:rPr lang="en-US" sz="2200" dirty="0"/>
              <a:t>this is saying "access </a:t>
            </a:r>
            <a:r>
              <a:rPr lang="en-US" sz="2200" b="1" dirty="0">
                <a:latin typeface="Consolas" panose="020B0609020204030204" pitchFamily="49" charset="0"/>
                <a:cs typeface="Consolas" panose="020B0609020204030204" pitchFamily="49" charset="0"/>
              </a:rPr>
              <a:t>out</a:t>
            </a:r>
            <a:r>
              <a:rPr lang="en-US" sz="2200" b="1" dirty="0"/>
              <a:t> </a:t>
            </a:r>
            <a:r>
              <a:rPr lang="en-US" sz="2200" dirty="0"/>
              <a:t>from the </a:t>
            </a:r>
            <a:r>
              <a:rPr lang="en-US" sz="2200" b="1" dirty="0">
                <a:latin typeface="Consolas" panose="020B0609020204030204" pitchFamily="49" charset="0"/>
                <a:cs typeface="Consolas" panose="020B0609020204030204" pitchFamily="49" charset="0"/>
              </a:rPr>
              <a:t>System</a:t>
            </a:r>
            <a:r>
              <a:rPr lang="en-US" sz="2200" dirty="0"/>
              <a:t> scope."</a:t>
            </a:r>
          </a:p>
        </p:txBody>
      </p:sp>
      <p:sp>
        <p:nvSpPr>
          <p:cNvPr id="17" name="TextBox 16">
            <a:extLst>
              <a:ext uri="{FF2B5EF4-FFF2-40B4-BE49-F238E27FC236}">
                <a16:creationId xmlns:a16="http://schemas.microsoft.com/office/drawing/2014/main" id="{87C73A15-5553-4F44-9ACF-46AD06A614A3}"/>
              </a:ext>
            </a:extLst>
          </p:cNvPr>
          <p:cNvSpPr txBox="1"/>
          <p:nvPr/>
        </p:nvSpPr>
        <p:spPr>
          <a:xfrm>
            <a:off x="774921" y="3971824"/>
            <a:ext cx="7746558" cy="769441"/>
          </a:xfrm>
          <a:prstGeom prst="rect">
            <a:avLst/>
          </a:prstGeom>
          <a:noFill/>
        </p:spPr>
        <p:txBody>
          <a:bodyPr wrap="square" rtlCol="0">
            <a:spAutoFit/>
          </a:bodyPr>
          <a:lstStyle/>
          <a:p>
            <a:pPr algn="ctr"/>
            <a:r>
              <a:rPr lang="en-US" sz="2200" dirty="0"/>
              <a:t>then we will have to check that the type of </a:t>
            </a:r>
            <a:r>
              <a:rPr lang="en-US" sz="2200" b="1" dirty="0">
                <a:latin typeface="Consolas" panose="020B0609020204030204" pitchFamily="49" charset="0"/>
                <a:cs typeface="Consolas" panose="020B0609020204030204" pitchFamily="49" charset="0"/>
              </a:rPr>
              <a:t>x</a:t>
            </a:r>
            <a:r>
              <a:rPr lang="en-US" sz="2200" dirty="0"/>
              <a:t> is actually valid for this assignment! wow! very circular!!</a:t>
            </a:r>
          </a:p>
        </p:txBody>
      </p:sp>
      <p:sp>
        <p:nvSpPr>
          <p:cNvPr id="18" name="TextBox 17">
            <a:extLst>
              <a:ext uri="{FF2B5EF4-FFF2-40B4-BE49-F238E27FC236}">
                <a16:creationId xmlns:a16="http://schemas.microsoft.com/office/drawing/2014/main" id="{E180A6D9-ECFE-A24F-8D16-ACE5B62BBD68}"/>
              </a:ext>
            </a:extLst>
          </p:cNvPr>
          <p:cNvSpPr txBox="1"/>
          <p:nvPr/>
        </p:nvSpPr>
        <p:spPr>
          <a:xfrm>
            <a:off x="2514600" y="4888324"/>
            <a:ext cx="6006879" cy="307777"/>
          </a:xfrm>
          <a:prstGeom prst="rect">
            <a:avLst/>
          </a:prstGeom>
          <a:noFill/>
        </p:spPr>
        <p:txBody>
          <a:bodyPr wrap="square" rtlCol="0">
            <a:spAutoFit/>
          </a:bodyPr>
          <a:lstStyle/>
          <a:p>
            <a:pPr algn="ctr"/>
            <a:r>
              <a:rPr lang="en-US" sz="1400" dirty="0"/>
              <a:t>fortunately this is a </a:t>
            </a:r>
            <a:r>
              <a:rPr lang="en-US" sz="1400" i="1" dirty="0"/>
              <a:t>relatively</a:t>
            </a:r>
            <a:r>
              <a:rPr lang="en-US" sz="1400" dirty="0"/>
              <a:t> limited situation that can be resolved later…</a:t>
            </a:r>
          </a:p>
        </p:txBody>
      </p:sp>
    </p:spTree>
    <p:extLst>
      <p:ext uri="{BB962C8B-B14F-4D97-AF65-F5344CB8AC3E}">
        <p14:creationId xmlns:p14="http://schemas.microsoft.com/office/powerpoint/2010/main" val="15339925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4" grpId="0"/>
      <p:bldP spid="16" grpId="0"/>
      <p:bldP spid="21" grpId="0"/>
      <p:bldP spid="17"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F796-91B4-B946-B3E1-D576F35823AB}"/>
              </a:ext>
            </a:extLst>
          </p:cNvPr>
          <p:cNvSpPr>
            <a:spLocks noGrp="1"/>
          </p:cNvSpPr>
          <p:nvPr>
            <p:ph type="title"/>
          </p:nvPr>
        </p:nvSpPr>
        <p:spPr/>
        <p:txBody>
          <a:bodyPr/>
          <a:lstStyle/>
          <a:p>
            <a:r>
              <a:rPr lang="en-US" dirty="0"/>
              <a:t>Forward/mutual references</a:t>
            </a:r>
          </a:p>
        </p:txBody>
      </p:sp>
      <p:sp>
        <p:nvSpPr>
          <p:cNvPr id="3" name="Content Placeholder 2">
            <a:extLst>
              <a:ext uri="{FF2B5EF4-FFF2-40B4-BE49-F238E27FC236}">
                <a16:creationId xmlns:a16="http://schemas.microsoft.com/office/drawing/2014/main" id="{ADA6B4D0-9F0B-504E-9317-706945FCA9AB}"/>
              </a:ext>
            </a:extLst>
          </p:cNvPr>
          <p:cNvSpPr>
            <a:spLocks noGrp="1"/>
          </p:cNvSpPr>
          <p:nvPr>
            <p:ph idx="1"/>
          </p:nvPr>
        </p:nvSpPr>
        <p:spPr>
          <a:xfrm>
            <a:off x="152400" y="495301"/>
            <a:ext cx="8991600" cy="838199"/>
          </a:xfrm>
        </p:spPr>
        <p:txBody>
          <a:bodyPr/>
          <a:lstStyle/>
          <a:p>
            <a:r>
              <a:rPr lang="en-US" dirty="0"/>
              <a:t>a </a:t>
            </a:r>
            <a:r>
              <a:rPr lang="en-US" b="1" dirty="0"/>
              <a:t>forward reference </a:t>
            </a:r>
            <a:r>
              <a:rPr lang="en-US" dirty="0"/>
              <a:t>is when the </a:t>
            </a:r>
            <a:r>
              <a:rPr lang="en-US" i="1" dirty="0"/>
              <a:t>use</a:t>
            </a:r>
            <a:r>
              <a:rPr lang="en-US" dirty="0"/>
              <a:t> of a name occurs </a:t>
            </a:r>
            <a:r>
              <a:rPr lang="en-US" b="1" dirty="0"/>
              <a:t>before its declaration</a:t>
            </a:r>
            <a:r>
              <a:rPr lang="en-US" dirty="0"/>
              <a:t> in the source code.</a:t>
            </a:r>
          </a:p>
        </p:txBody>
      </p:sp>
      <p:sp>
        <p:nvSpPr>
          <p:cNvPr id="4" name="Slide Number Placeholder 3">
            <a:extLst>
              <a:ext uri="{FF2B5EF4-FFF2-40B4-BE49-F238E27FC236}">
                <a16:creationId xmlns:a16="http://schemas.microsoft.com/office/drawing/2014/main" id="{8F51424F-4663-B54D-A6A7-1DD505DE67B4}"/>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5" name="TextBox 4">
            <a:extLst>
              <a:ext uri="{FF2B5EF4-FFF2-40B4-BE49-F238E27FC236}">
                <a16:creationId xmlns:a16="http://schemas.microsoft.com/office/drawing/2014/main" id="{DEF45C08-D9EF-AF4C-9F9F-E9B339584030}"/>
              </a:ext>
            </a:extLst>
          </p:cNvPr>
          <p:cNvSpPr txBox="1"/>
          <p:nvPr/>
        </p:nvSpPr>
        <p:spPr>
          <a:xfrm>
            <a:off x="457200" y="1409700"/>
            <a:ext cx="2672526" cy="769441"/>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A { B b; }</a:t>
            </a:r>
            <a:endParaRPr lang="en-US" sz="2200" b="1" dirty="0">
              <a:solidFill>
                <a:srgbClr val="FF0000"/>
              </a:solidFill>
              <a:latin typeface="Consolas" panose="020B0609020204030204" pitchFamily="49" charset="0"/>
              <a:cs typeface="Consolas" panose="020B0609020204030204" pitchFamily="49" charset="0"/>
            </a:endParaRPr>
          </a:p>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B {}</a:t>
            </a:r>
          </a:p>
        </p:txBody>
      </p:sp>
      <p:sp>
        <p:nvSpPr>
          <p:cNvPr id="6" name="TextBox 5">
            <a:extLst>
              <a:ext uri="{FF2B5EF4-FFF2-40B4-BE49-F238E27FC236}">
                <a16:creationId xmlns:a16="http://schemas.microsoft.com/office/drawing/2014/main" id="{81ED5453-4213-EF42-9176-752F69619155}"/>
              </a:ext>
            </a:extLst>
          </p:cNvPr>
          <p:cNvSpPr txBox="1"/>
          <p:nvPr/>
        </p:nvSpPr>
        <p:spPr>
          <a:xfrm>
            <a:off x="3048000" y="1422747"/>
            <a:ext cx="5562600" cy="769441"/>
          </a:xfrm>
          <a:prstGeom prst="rect">
            <a:avLst/>
          </a:prstGeom>
          <a:noFill/>
        </p:spPr>
        <p:txBody>
          <a:bodyPr wrap="square" rtlCol="0">
            <a:spAutoFit/>
          </a:bodyPr>
          <a:lstStyle/>
          <a:p>
            <a:r>
              <a:rPr lang="en-US" sz="2200" b="1" dirty="0"/>
              <a:t>this </a:t>
            </a:r>
            <a:r>
              <a:rPr lang="en-US" sz="2200" dirty="0"/>
              <a:t>is a forward reference, because </a:t>
            </a:r>
            <a:r>
              <a:rPr lang="en-US" sz="2200" b="1" dirty="0">
                <a:latin typeface="Consolas" panose="020B0609020204030204" pitchFamily="49" charset="0"/>
                <a:cs typeface="Consolas" panose="020B0609020204030204" pitchFamily="49" charset="0"/>
              </a:rPr>
              <a:t>B</a:t>
            </a:r>
            <a:r>
              <a:rPr lang="en-US" sz="2200" dirty="0"/>
              <a:t> is declared later. </a:t>
            </a:r>
            <a:endParaRPr lang="en-US" sz="2200" b="1" dirty="0">
              <a:solidFill>
                <a:srgbClr val="FF0000"/>
              </a:solidFill>
            </a:endParaRPr>
          </a:p>
        </p:txBody>
      </p:sp>
      <p:sp>
        <p:nvSpPr>
          <p:cNvPr id="7" name="Rounded Rectangle 6">
            <a:extLst>
              <a:ext uri="{FF2B5EF4-FFF2-40B4-BE49-F238E27FC236}">
                <a16:creationId xmlns:a16="http://schemas.microsoft.com/office/drawing/2014/main" id="{A2A315A1-F63B-BF44-8DC0-15A93BB5F15B}"/>
              </a:ext>
            </a:extLst>
          </p:cNvPr>
          <p:cNvSpPr/>
          <p:nvPr/>
        </p:nvSpPr>
        <p:spPr>
          <a:xfrm>
            <a:off x="1981200" y="1422747"/>
            <a:ext cx="333375" cy="3892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27B79CB-AACB-734D-81C7-285BC1A36616}"/>
              </a:ext>
            </a:extLst>
          </p:cNvPr>
          <p:cNvSpPr txBox="1"/>
          <p:nvPr/>
        </p:nvSpPr>
        <p:spPr>
          <a:xfrm>
            <a:off x="838200" y="3087886"/>
            <a:ext cx="7467600" cy="430887"/>
          </a:xfrm>
          <a:prstGeom prst="rect">
            <a:avLst/>
          </a:prstGeom>
          <a:noFill/>
        </p:spPr>
        <p:txBody>
          <a:bodyPr wrap="square" rtlCol="0">
            <a:spAutoFit/>
          </a:bodyPr>
          <a:lstStyle/>
          <a:p>
            <a:pPr algn="ctr"/>
            <a:r>
              <a:rPr lang="en-US" sz="2200" dirty="0"/>
              <a:t>this means we have to do name stuff in two passes:</a:t>
            </a:r>
            <a:endParaRPr lang="en-US" sz="2200" dirty="0">
              <a:solidFill>
                <a:srgbClr val="FF0000"/>
              </a:solidFill>
            </a:endParaRPr>
          </a:p>
        </p:txBody>
      </p:sp>
      <p:sp>
        <p:nvSpPr>
          <p:cNvPr id="11" name="TextBox 10">
            <a:extLst>
              <a:ext uri="{FF2B5EF4-FFF2-40B4-BE49-F238E27FC236}">
                <a16:creationId xmlns:a16="http://schemas.microsoft.com/office/drawing/2014/main" id="{2D1A3D93-ED2E-0041-A19E-EDF7DF8ADEBD}"/>
              </a:ext>
            </a:extLst>
          </p:cNvPr>
          <p:cNvSpPr txBox="1"/>
          <p:nvPr/>
        </p:nvSpPr>
        <p:spPr>
          <a:xfrm>
            <a:off x="685800" y="3535859"/>
            <a:ext cx="7772400" cy="769441"/>
          </a:xfrm>
          <a:prstGeom prst="rect">
            <a:avLst/>
          </a:prstGeom>
          <a:noFill/>
        </p:spPr>
        <p:txBody>
          <a:bodyPr wrap="square" rtlCol="0">
            <a:spAutoFit/>
          </a:bodyPr>
          <a:lstStyle/>
          <a:p>
            <a:pPr algn="ctr"/>
            <a:r>
              <a:rPr lang="en-US" sz="2200" b="1" dirty="0"/>
              <a:t>on the first pass, </a:t>
            </a:r>
            <a:r>
              <a:rPr lang="en-US" sz="2200" dirty="0"/>
              <a:t>we build the </a:t>
            </a:r>
            <a:r>
              <a:rPr lang="en-US" sz="2200" b="1" dirty="0"/>
              <a:t>scope tree</a:t>
            </a:r>
            <a:r>
              <a:rPr lang="en-US" sz="2200" dirty="0"/>
              <a:t> and </a:t>
            </a:r>
            <a:r>
              <a:rPr lang="en-US" sz="2200" b="1" dirty="0"/>
              <a:t>insert declarations </a:t>
            </a:r>
            <a:r>
              <a:rPr lang="en-US" sz="2200" dirty="0"/>
              <a:t>into each scope’s symbol table;</a:t>
            </a:r>
            <a:endParaRPr lang="en-US" sz="2200" dirty="0">
              <a:solidFill>
                <a:srgbClr val="FF0000"/>
              </a:solidFill>
            </a:endParaRPr>
          </a:p>
        </p:txBody>
      </p:sp>
      <p:sp>
        <p:nvSpPr>
          <p:cNvPr id="12" name="TextBox 11">
            <a:extLst>
              <a:ext uri="{FF2B5EF4-FFF2-40B4-BE49-F238E27FC236}">
                <a16:creationId xmlns:a16="http://schemas.microsoft.com/office/drawing/2014/main" id="{2C057610-5122-194E-84F9-B797A0ECADCC}"/>
              </a:ext>
            </a:extLst>
          </p:cNvPr>
          <p:cNvSpPr txBox="1"/>
          <p:nvPr/>
        </p:nvSpPr>
        <p:spPr>
          <a:xfrm>
            <a:off x="990600" y="4339472"/>
            <a:ext cx="7162800" cy="769441"/>
          </a:xfrm>
          <a:prstGeom prst="rect">
            <a:avLst/>
          </a:prstGeom>
          <a:noFill/>
        </p:spPr>
        <p:txBody>
          <a:bodyPr wrap="square" rtlCol="0">
            <a:spAutoFit/>
          </a:bodyPr>
          <a:lstStyle/>
          <a:p>
            <a:pPr algn="ctr"/>
            <a:r>
              <a:rPr lang="en-US" sz="2200" b="1" dirty="0"/>
              <a:t>then</a:t>
            </a:r>
            <a:r>
              <a:rPr lang="en-US" sz="2200" b="1" i="1" dirty="0"/>
              <a:t> </a:t>
            </a:r>
            <a:r>
              <a:rPr lang="en-US" sz="2200" b="1" dirty="0"/>
              <a:t>on the </a:t>
            </a:r>
            <a:r>
              <a:rPr lang="en-US" sz="2200" b="1" i="1" dirty="0"/>
              <a:t>second</a:t>
            </a:r>
            <a:r>
              <a:rPr lang="en-US" sz="2200" b="1" dirty="0"/>
              <a:t> pass, </a:t>
            </a:r>
            <a:r>
              <a:rPr lang="en-US" sz="2200" dirty="0"/>
              <a:t>we can do the </a:t>
            </a:r>
            <a:r>
              <a:rPr lang="en-US" sz="2200" b="1" dirty="0"/>
              <a:t>name resolution </a:t>
            </a:r>
            <a:r>
              <a:rPr lang="en-US" sz="2200" dirty="0"/>
              <a:t>using the already-built symbol tables.</a:t>
            </a:r>
            <a:endParaRPr lang="en-US" sz="2200" dirty="0">
              <a:solidFill>
                <a:srgbClr val="FF0000"/>
              </a:solidFill>
            </a:endParaRPr>
          </a:p>
        </p:txBody>
      </p:sp>
      <p:sp>
        <p:nvSpPr>
          <p:cNvPr id="13" name="TextBox 12">
            <a:extLst>
              <a:ext uri="{FF2B5EF4-FFF2-40B4-BE49-F238E27FC236}">
                <a16:creationId xmlns:a16="http://schemas.microsoft.com/office/drawing/2014/main" id="{B5B24E8C-3158-5D4C-A71A-983D6D1967AF}"/>
              </a:ext>
            </a:extLst>
          </p:cNvPr>
          <p:cNvSpPr txBox="1"/>
          <p:nvPr/>
        </p:nvSpPr>
        <p:spPr>
          <a:xfrm>
            <a:off x="876300" y="2281435"/>
            <a:ext cx="7391400" cy="769441"/>
          </a:xfrm>
          <a:prstGeom prst="rect">
            <a:avLst/>
          </a:prstGeom>
          <a:noFill/>
        </p:spPr>
        <p:txBody>
          <a:bodyPr wrap="square" rtlCol="0">
            <a:spAutoFit/>
          </a:bodyPr>
          <a:lstStyle/>
          <a:p>
            <a:pPr algn="ctr"/>
            <a:r>
              <a:rPr lang="en-US" sz="2200" dirty="0"/>
              <a:t>if we did all the name stuff in </a:t>
            </a:r>
            <a:r>
              <a:rPr lang="en-US" sz="2200" b="1" dirty="0"/>
              <a:t>one pass, </a:t>
            </a:r>
            <a:r>
              <a:rPr lang="en-US" sz="2200" dirty="0"/>
              <a:t>we would get an error here because B doesn’t exist in the symbol table yet!</a:t>
            </a:r>
            <a:endParaRPr lang="en-US" sz="2200" dirty="0">
              <a:solidFill>
                <a:srgbClr val="FF0000"/>
              </a:solidFill>
            </a:endParaRPr>
          </a:p>
        </p:txBody>
      </p:sp>
    </p:spTree>
    <p:extLst>
      <p:ext uri="{BB962C8B-B14F-4D97-AF65-F5344CB8AC3E}">
        <p14:creationId xmlns:p14="http://schemas.microsoft.com/office/powerpoint/2010/main" val="25041668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10" grpId="0"/>
      <p:bldP spid="11" grpId="0"/>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D40ED-1C1D-AC48-85F8-22407042A542}"/>
              </a:ext>
            </a:extLst>
          </p:cNvPr>
          <p:cNvSpPr>
            <a:spLocks noGrp="1"/>
          </p:cNvSpPr>
          <p:nvPr>
            <p:ph type="title"/>
          </p:nvPr>
        </p:nvSpPr>
        <p:spPr/>
        <p:txBody>
          <a:bodyPr/>
          <a:lstStyle/>
          <a:p>
            <a:r>
              <a:rPr lang="en-US" dirty="0"/>
              <a:t>…but that doesn’t work for locals</a:t>
            </a:r>
          </a:p>
        </p:txBody>
      </p:sp>
      <p:sp>
        <p:nvSpPr>
          <p:cNvPr id="3" name="Content Placeholder 2">
            <a:extLst>
              <a:ext uri="{FF2B5EF4-FFF2-40B4-BE49-F238E27FC236}">
                <a16:creationId xmlns:a16="http://schemas.microsoft.com/office/drawing/2014/main" id="{09D30FD4-C5F9-ED4D-90E7-7DB9609F06FB}"/>
              </a:ext>
            </a:extLst>
          </p:cNvPr>
          <p:cNvSpPr>
            <a:spLocks noGrp="1"/>
          </p:cNvSpPr>
          <p:nvPr>
            <p:ph idx="1"/>
          </p:nvPr>
        </p:nvSpPr>
        <p:spPr>
          <a:xfrm>
            <a:off x="152400" y="495302"/>
            <a:ext cx="8991600" cy="495300"/>
          </a:xfrm>
        </p:spPr>
        <p:txBody>
          <a:bodyPr/>
          <a:lstStyle/>
          <a:p>
            <a:r>
              <a:rPr lang="en-US" dirty="0"/>
              <a:t>consider this code:</a:t>
            </a:r>
          </a:p>
        </p:txBody>
      </p:sp>
      <p:sp>
        <p:nvSpPr>
          <p:cNvPr id="4" name="Slide Number Placeholder 3">
            <a:extLst>
              <a:ext uri="{FF2B5EF4-FFF2-40B4-BE49-F238E27FC236}">
                <a16:creationId xmlns:a16="http://schemas.microsoft.com/office/drawing/2014/main" id="{FDFB5D24-26E2-3346-9990-E747B5240C14}"/>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TextBox 4">
            <a:extLst>
              <a:ext uri="{FF2B5EF4-FFF2-40B4-BE49-F238E27FC236}">
                <a16:creationId xmlns:a16="http://schemas.microsoft.com/office/drawing/2014/main" id="{7E07F89C-6328-2C47-9D94-443C5862CD0F}"/>
              </a:ext>
            </a:extLst>
          </p:cNvPr>
          <p:cNvSpPr txBox="1"/>
          <p:nvPr/>
        </p:nvSpPr>
        <p:spPr>
          <a:xfrm>
            <a:off x="304800" y="966940"/>
            <a:ext cx="3583032" cy="1569660"/>
          </a:xfrm>
          <a:prstGeom prst="rect">
            <a:avLst/>
          </a:prstGeom>
          <a:noFill/>
        </p:spPr>
        <p:txBody>
          <a:bodyPr wrap="none" rtlCol="0">
            <a:spAutoFit/>
          </a:bodyPr>
          <a:lstStyle/>
          <a:p>
            <a:r>
              <a:rPr lang="en-US" sz="2400" b="1" dirty="0">
                <a:solidFill>
                  <a:srgbClr val="FF0000"/>
                </a:solidFill>
                <a:latin typeface="Consolas" panose="020B0609020204030204" pitchFamily="49" charset="0"/>
                <a:cs typeface="Consolas" panose="020B0609020204030204" pitchFamily="49" charset="0"/>
              </a:rPr>
              <a:t>static void </a:t>
            </a:r>
            <a:r>
              <a:rPr lang="en-US" sz="2400" b="1" dirty="0" err="1">
                <a:latin typeface="Consolas" panose="020B0609020204030204" pitchFamily="49" charset="0"/>
                <a:cs typeface="Consolas" panose="020B0609020204030204" pitchFamily="49" charset="0"/>
              </a:rPr>
              <a:t>func</a:t>
            </a:r>
            <a:r>
              <a:rPr lang="en-US" sz="2400" b="1" dirty="0">
                <a:latin typeface="Consolas" panose="020B0609020204030204" pitchFamily="49" charset="0"/>
                <a:cs typeface="Consolas" panose="020B0609020204030204" pitchFamily="49" charset="0"/>
              </a:rPr>
              <a:t>() {</a:t>
            </a:r>
            <a:br>
              <a:rPr lang="en-US" sz="2400" b="1" dirty="0">
                <a:latin typeface="Consolas" panose="020B0609020204030204" pitchFamily="49" charset="0"/>
                <a:cs typeface="Consolas" panose="020B0609020204030204" pitchFamily="49" charset="0"/>
              </a:rPr>
            </a:br>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S.o.println</a:t>
            </a:r>
            <a:r>
              <a:rPr lang="en-US" sz="2400" b="1" dirty="0">
                <a:latin typeface="Consolas" panose="020B0609020204030204" pitchFamily="49" charset="0"/>
                <a:cs typeface="Consolas" panose="020B0609020204030204" pitchFamily="49" charset="0"/>
              </a:rPr>
              <a:t>(x);</a:t>
            </a:r>
          </a:p>
          <a:p>
            <a:r>
              <a:rPr lang="en-US" sz="2400" b="1"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a:t>
            </a:r>
            <a:br>
              <a:rPr lang="en-US" sz="2400" b="1" dirty="0">
                <a:latin typeface="Consolas" panose="020B0609020204030204" pitchFamily="49" charset="0"/>
                <a:cs typeface="Consolas" panose="020B0609020204030204" pitchFamily="49" charset="0"/>
              </a:rPr>
            </a:br>
            <a:r>
              <a:rPr lang="en-US" sz="2400" b="1" dirty="0">
                <a:latin typeface="Consolas" panose="020B0609020204030204" pitchFamily="49" charset="0"/>
                <a:cs typeface="Consolas" panose="020B0609020204030204" pitchFamily="49" charset="0"/>
              </a:rPr>
              <a:t>}</a:t>
            </a:r>
          </a:p>
        </p:txBody>
      </p:sp>
      <p:sp>
        <p:nvSpPr>
          <p:cNvPr id="6" name="Rounded Rectangle 5">
            <a:extLst>
              <a:ext uri="{FF2B5EF4-FFF2-40B4-BE49-F238E27FC236}">
                <a16:creationId xmlns:a16="http://schemas.microsoft.com/office/drawing/2014/main" id="{D0C20472-575A-A849-A096-5CC7F81F7DC4}"/>
              </a:ext>
            </a:extLst>
          </p:cNvPr>
          <p:cNvSpPr/>
          <p:nvPr/>
        </p:nvSpPr>
        <p:spPr>
          <a:xfrm>
            <a:off x="2664594" y="1374621"/>
            <a:ext cx="333375" cy="3892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907FF14-0601-5640-87CE-C02456E9B6B5}"/>
              </a:ext>
            </a:extLst>
          </p:cNvPr>
          <p:cNvSpPr txBox="1"/>
          <p:nvPr/>
        </p:nvSpPr>
        <p:spPr>
          <a:xfrm>
            <a:off x="3789789" y="1340532"/>
            <a:ext cx="4915674" cy="430887"/>
          </a:xfrm>
          <a:prstGeom prst="rect">
            <a:avLst/>
          </a:prstGeom>
          <a:noFill/>
        </p:spPr>
        <p:txBody>
          <a:bodyPr wrap="square" rtlCol="0">
            <a:spAutoFit/>
          </a:bodyPr>
          <a:lstStyle/>
          <a:p>
            <a:r>
              <a:rPr lang="en-US" sz="2200" dirty="0"/>
              <a:t>you </a:t>
            </a:r>
            <a:r>
              <a:rPr lang="en-US" sz="2200" i="1" dirty="0"/>
              <a:t>know</a:t>
            </a:r>
            <a:r>
              <a:rPr lang="en-US" sz="2200" dirty="0"/>
              <a:t> that this is wrong. but </a:t>
            </a:r>
            <a:r>
              <a:rPr lang="en-US" sz="2200" i="1" dirty="0"/>
              <a:t>why?</a:t>
            </a:r>
            <a:endParaRPr lang="en-US" sz="2200" dirty="0">
              <a:solidFill>
                <a:srgbClr val="FF0000"/>
              </a:solidFill>
            </a:endParaRPr>
          </a:p>
        </p:txBody>
      </p:sp>
      <p:sp>
        <p:nvSpPr>
          <p:cNvPr id="8" name="TextBox 7">
            <a:extLst>
              <a:ext uri="{FF2B5EF4-FFF2-40B4-BE49-F238E27FC236}">
                <a16:creationId xmlns:a16="http://schemas.microsoft.com/office/drawing/2014/main" id="{F35610CD-3322-8549-B2E8-45F8AB0A96D2}"/>
              </a:ext>
            </a:extLst>
          </p:cNvPr>
          <p:cNvSpPr txBox="1"/>
          <p:nvPr/>
        </p:nvSpPr>
        <p:spPr>
          <a:xfrm>
            <a:off x="723900" y="2242502"/>
            <a:ext cx="7886700" cy="769441"/>
          </a:xfrm>
          <a:prstGeom prst="rect">
            <a:avLst/>
          </a:prstGeom>
          <a:noFill/>
        </p:spPr>
        <p:txBody>
          <a:bodyPr wrap="square" rtlCol="0">
            <a:spAutoFit/>
          </a:bodyPr>
          <a:lstStyle/>
          <a:p>
            <a:pPr algn="ctr"/>
            <a:r>
              <a:rPr lang="en-US" sz="2200" dirty="0"/>
              <a:t>the code in a function </a:t>
            </a:r>
            <a:r>
              <a:rPr lang="en-US" sz="2200" b="1" dirty="0"/>
              <a:t>executes in order, </a:t>
            </a:r>
            <a:r>
              <a:rPr lang="en-US" sz="2200" b="1" dirty="0">
                <a:solidFill>
                  <a:srgbClr val="FF0000"/>
                </a:solidFill>
              </a:rPr>
              <a:t>including local variable declarations.</a:t>
            </a:r>
            <a:r>
              <a:rPr lang="en-US" sz="2200" b="1" dirty="0"/>
              <a:t> </a:t>
            </a:r>
            <a:r>
              <a:rPr lang="en-US" sz="2200" dirty="0"/>
              <a:t>so on the first line, </a:t>
            </a:r>
            <a:r>
              <a:rPr lang="en-US" sz="2200" b="1" dirty="0"/>
              <a:t>x has no value yet.</a:t>
            </a:r>
            <a:endParaRPr lang="en-US" sz="2200" dirty="0">
              <a:solidFill>
                <a:srgbClr val="FF0000"/>
              </a:solidFill>
            </a:endParaRPr>
          </a:p>
        </p:txBody>
      </p:sp>
      <p:sp>
        <p:nvSpPr>
          <p:cNvPr id="9" name="TextBox 8">
            <a:extLst>
              <a:ext uri="{FF2B5EF4-FFF2-40B4-BE49-F238E27FC236}">
                <a16:creationId xmlns:a16="http://schemas.microsoft.com/office/drawing/2014/main" id="{13079575-83CA-CA44-A060-C8781A0A9211}"/>
              </a:ext>
            </a:extLst>
          </p:cNvPr>
          <p:cNvSpPr txBox="1"/>
          <p:nvPr/>
        </p:nvSpPr>
        <p:spPr>
          <a:xfrm>
            <a:off x="1003435" y="3238500"/>
            <a:ext cx="7010400" cy="430887"/>
          </a:xfrm>
          <a:prstGeom prst="rect">
            <a:avLst/>
          </a:prstGeom>
          <a:noFill/>
        </p:spPr>
        <p:txBody>
          <a:bodyPr wrap="square" rtlCol="0">
            <a:spAutoFit/>
          </a:bodyPr>
          <a:lstStyle/>
          <a:p>
            <a:r>
              <a:rPr lang="en-US" sz="2200" dirty="0"/>
              <a:t>there are two ways to solve this:</a:t>
            </a:r>
          </a:p>
        </p:txBody>
      </p:sp>
      <p:sp>
        <p:nvSpPr>
          <p:cNvPr id="10" name="TextBox 9">
            <a:extLst>
              <a:ext uri="{FF2B5EF4-FFF2-40B4-BE49-F238E27FC236}">
                <a16:creationId xmlns:a16="http://schemas.microsoft.com/office/drawing/2014/main" id="{CB2BEAFA-47C8-3D4B-9904-84339BFE3BD8}"/>
              </a:ext>
            </a:extLst>
          </p:cNvPr>
          <p:cNvSpPr txBox="1"/>
          <p:nvPr/>
        </p:nvSpPr>
        <p:spPr>
          <a:xfrm>
            <a:off x="1003434" y="3672822"/>
            <a:ext cx="7010400" cy="769441"/>
          </a:xfrm>
          <a:prstGeom prst="rect">
            <a:avLst/>
          </a:prstGeom>
          <a:noFill/>
        </p:spPr>
        <p:txBody>
          <a:bodyPr wrap="square" rtlCol="0">
            <a:spAutoFit/>
          </a:bodyPr>
          <a:lstStyle/>
          <a:p>
            <a:r>
              <a:rPr lang="en-US" sz="2200" dirty="0"/>
              <a:t>1. introduce a </a:t>
            </a:r>
            <a:r>
              <a:rPr lang="en-US" sz="2200" b="1" dirty="0"/>
              <a:t>new scope </a:t>
            </a:r>
            <a:r>
              <a:rPr lang="en-US" sz="2200" dirty="0"/>
              <a:t>that begins after each local declaration and ends at the enclosing close-brace; or</a:t>
            </a:r>
          </a:p>
        </p:txBody>
      </p:sp>
      <p:sp>
        <p:nvSpPr>
          <p:cNvPr id="11" name="TextBox 10">
            <a:extLst>
              <a:ext uri="{FF2B5EF4-FFF2-40B4-BE49-F238E27FC236}">
                <a16:creationId xmlns:a16="http://schemas.microsoft.com/office/drawing/2014/main" id="{0FBEC319-2FEF-F843-BF1C-B95D5E954F86}"/>
              </a:ext>
            </a:extLst>
          </p:cNvPr>
          <p:cNvSpPr txBox="1"/>
          <p:nvPr/>
        </p:nvSpPr>
        <p:spPr>
          <a:xfrm>
            <a:off x="990600" y="4440145"/>
            <a:ext cx="7010400" cy="769441"/>
          </a:xfrm>
          <a:prstGeom prst="rect">
            <a:avLst/>
          </a:prstGeom>
          <a:noFill/>
        </p:spPr>
        <p:txBody>
          <a:bodyPr wrap="square" rtlCol="0">
            <a:spAutoFit/>
          </a:bodyPr>
          <a:lstStyle/>
          <a:p>
            <a:r>
              <a:rPr lang="en-US" sz="2200" dirty="0"/>
              <a:t>2. do the name resolution </a:t>
            </a:r>
            <a:r>
              <a:rPr lang="en-US" sz="2200" b="1" dirty="0"/>
              <a:t>at the same time </a:t>
            </a:r>
            <a:r>
              <a:rPr lang="en-US" sz="2200" dirty="0"/>
              <a:t>as scope-building, but </a:t>
            </a:r>
            <a:r>
              <a:rPr lang="en-US" sz="2200" b="1" dirty="0"/>
              <a:t>only for the code within functions.</a:t>
            </a:r>
            <a:endParaRPr lang="en-US" sz="2200" dirty="0"/>
          </a:p>
        </p:txBody>
      </p:sp>
    </p:spTree>
    <p:extLst>
      <p:ext uri="{BB962C8B-B14F-4D97-AF65-F5344CB8AC3E}">
        <p14:creationId xmlns:p14="http://schemas.microsoft.com/office/powerpoint/2010/main" val="6958450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Annotating the AST</a:t>
            </a:r>
          </a:p>
        </p:txBody>
      </p:sp>
      <p:sp>
        <p:nvSpPr>
          <p:cNvPr id="4" name="Subtitle 3">
            <a:extLst>
              <a:ext uri="{FF2B5EF4-FFF2-40B4-BE49-F238E27FC236}">
                <a16:creationId xmlns:a16="http://schemas.microsoft.com/office/drawing/2014/main" id="{75F5587B-7D78-1941-911A-A301CCBE7006}"/>
              </a:ext>
            </a:extLst>
          </p:cNvPr>
          <p:cNvSpPr>
            <a:spLocks noGrp="1"/>
          </p:cNvSpPr>
          <p:nvPr>
            <p:ph type="subTitle" idx="1"/>
          </p:nvPr>
        </p:nvSpPr>
        <p:spPr/>
        <p:txBody>
          <a:bodyPr/>
          <a:lstStyle/>
          <a:p>
            <a:pPr lvl="0"/>
            <a:r>
              <a:rPr lang="en-US" sz="1200" dirty="0">
                <a:solidFill>
                  <a:srgbClr val="FFFFFF"/>
                </a:solidFill>
              </a:rPr>
              <a:t>time check ≤ 55</a:t>
            </a:r>
          </a:p>
          <a:p>
            <a:endParaRPr lang="en-US" dirty="0"/>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18</a:t>
            </a:fld>
            <a:endParaRPr lang="en-US"/>
          </a:p>
        </p:txBody>
      </p:sp>
    </p:spTree>
    <p:extLst>
      <p:ext uri="{BB962C8B-B14F-4D97-AF65-F5344CB8AC3E}">
        <p14:creationId xmlns:p14="http://schemas.microsoft.com/office/powerpoint/2010/main" val="208364185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53F2B-33F6-BD45-863A-14F52AFEFABE}"/>
              </a:ext>
            </a:extLst>
          </p:cNvPr>
          <p:cNvSpPr>
            <a:spLocks noGrp="1"/>
          </p:cNvSpPr>
          <p:nvPr>
            <p:ph type="title"/>
          </p:nvPr>
        </p:nvSpPr>
        <p:spPr/>
        <p:txBody>
          <a:bodyPr/>
          <a:lstStyle/>
          <a:p>
            <a:r>
              <a:rPr lang="en-US" dirty="0"/>
              <a:t>Throwing arrows all over the place</a:t>
            </a:r>
          </a:p>
        </p:txBody>
      </p:sp>
      <p:sp>
        <p:nvSpPr>
          <p:cNvPr id="3" name="Content Placeholder 2">
            <a:extLst>
              <a:ext uri="{FF2B5EF4-FFF2-40B4-BE49-F238E27FC236}">
                <a16:creationId xmlns:a16="http://schemas.microsoft.com/office/drawing/2014/main" id="{A4718DA7-2B3A-FC48-A187-1AF2F2E7082E}"/>
              </a:ext>
            </a:extLst>
          </p:cNvPr>
          <p:cNvSpPr>
            <a:spLocks noGrp="1"/>
          </p:cNvSpPr>
          <p:nvPr>
            <p:ph idx="1"/>
          </p:nvPr>
        </p:nvSpPr>
        <p:spPr/>
        <p:txBody>
          <a:bodyPr/>
          <a:lstStyle/>
          <a:p>
            <a:r>
              <a:rPr lang="en-US" dirty="0"/>
              <a:t>we've now got </a:t>
            </a:r>
            <a:r>
              <a:rPr lang="en-US" b="1" dirty="0"/>
              <a:t>two things </a:t>
            </a:r>
            <a:r>
              <a:rPr lang="en-US" dirty="0"/>
              <a:t>that want to draw arrows all over the AST:</a:t>
            </a:r>
          </a:p>
          <a:p>
            <a:pPr lvl="1"/>
            <a:r>
              <a:rPr lang="en-US" b="1" dirty="0"/>
              <a:t>symbol tables </a:t>
            </a:r>
            <a:r>
              <a:rPr lang="en-US" dirty="0"/>
              <a:t>want to point at declarations</a:t>
            </a:r>
          </a:p>
          <a:p>
            <a:pPr lvl="1"/>
            <a:r>
              <a:rPr lang="en-US" b="1" dirty="0"/>
              <a:t>name resolution </a:t>
            </a:r>
            <a:r>
              <a:rPr lang="en-US" dirty="0"/>
              <a:t>wants to make AST nodes point at other ones</a:t>
            </a:r>
          </a:p>
          <a:p>
            <a:r>
              <a:rPr lang="en-US" dirty="0"/>
              <a:t>in a language like Java, "arrows" are </a:t>
            </a:r>
            <a:r>
              <a:rPr lang="en-US" b="1" dirty="0"/>
              <a:t>object reference variables, </a:t>
            </a:r>
            <a:r>
              <a:rPr lang="en-US" dirty="0"/>
              <a:t>and we might be tempted to start throwing those </a:t>
            </a:r>
            <a:r>
              <a:rPr lang="en-US" i="1" dirty="0"/>
              <a:t>everywhere.</a:t>
            </a:r>
          </a:p>
          <a:p>
            <a:pPr lvl="1"/>
            <a:r>
              <a:rPr lang="en-US" dirty="0"/>
              <a:t>“add a field to </a:t>
            </a:r>
            <a:r>
              <a:rPr lang="en-US" b="1" dirty="0"/>
              <a:t>Identifier </a:t>
            </a:r>
            <a:r>
              <a:rPr lang="en-US" dirty="0"/>
              <a:t>AST nodes so they can point at the declarations they refer to!”</a:t>
            </a:r>
          </a:p>
          <a:p>
            <a:pPr lvl="1"/>
            <a:r>
              <a:rPr lang="en-US" dirty="0"/>
              <a:t>“add fields to </a:t>
            </a:r>
            <a:r>
              <a:rPr lang="en-US" b="1" dirty="0"/>
              <a:t>{ Block Statement } </a:t>
            </a:r>
            <a:r>
              <a:rPr lang="en-US" dirty="0"/>
              <a:t>AST nodes to hold scope info!”</a:t>
            </a:r>
          </a:p>
          <a:p>
            <a:r>
              <a:rPr lang="en-US" dirty="0"/>
              <a:t>OOP makes it really easy to start doing this…</a:t>
            </a:r>
          </a:p>
          <a:p>
            <a:pPr lvl="1"/>
            <a:r>
              <a:rPr lang="en-US" dirty="0"/>
              <a:t>but it's </a:t>
            </a:r>
            <a:r>
              <a:rPr lang="en-US" b="1" dirty="0"/>
              <a:t>very difficult to stop once you've started, </a:t>
            </a:r>
            <a:r>
              <a:rPr lang="en-US" dirty="0"/>
              <a:t>because it creates </a:t>
            </a:r>
            <a:r>
              <a:rPr lang="en-US" b="1" dirty="0"/>
              <a:t>tight coupling </a:t>
            </a:r>
            <a:r>
              <a:rPr lang="en-US" dirty="0"/>
              <a:t>between the two "ends" of the arrow.</a:t>
            </a:r>
            <a:endParaRPr lang="en-US" b="1" dirty="0"/>
          </a:p>
          <a:p>
            <a:r>
              <a:rPr lang="en-US" dirty="0"/>
              <a:t>since we'll only be adding more info from now on (typechecking!), it makes sense to reconsider how we "add information" to the AST.</a:t>
            </a:r>
          </a:p>
        </p:txBody>
      </p:sp>
      <p:sp>
        <p:nvSpPr>
          <p:cNvPr id="4" name="Slide Number Placeholder 3">
            <a:extLst>
              <a:ext uri="{FF2B5EF4-FFF2-40B4-BE49-F238E27FC236}">
                <a16:creationId xmlns:a16="http://schemas.microsoft.com/office/drawing/2014/main" id="{B47ADA99-ACAE-6E41-BF7C-EE858A5B8D90}"/>
              </a:ext>
            </a:extLst>
          </p:cNvPr>
          <p:cNvSpPr>
            <a:spLocks noGrp="1"/>
          </p:cNvSpPr>
          <p:nvPr>
            <p:ph type="sldNum" sz="quarter" idx="12"/>
          </p:nvPr>
        </p:nvSpPr>
        <p:spPr/>
        <p:txBody>
          <a:bodyPr/>
          <a:lstStyle/>
          <a:p>
            <a:fld id="{3552B95B-556F-44BD-91A5-D80C1B9E2BB3}" type="slidenum">
              <a:rPr lang="en-US" smtClean="0"/>
              <a:pPr/>
              <a:t>19</a:t>
            </a:fld>
            <a:endParaRPr lang="en-US"/>
          </a:p>
        </p:txBody>
      </p:sp>
    </p:spTree>
    <p:extLst>
      <p:ext uri="{BB962C8B-B14F-4D97-AF65-F5344CB8AC3E}">
        <p14:creationId xmlns:p14="http://schemas.microsoft.com/office/powerpoint/2010/main" val="73214810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49A0C-00AE-C243-B2F6-E1AEF1FD28EC}"/>
              </a:ext>
            </a:extLst>
          </p:cNvPr>
          <p:cNvSpPr>
            <a:spLocks noGrp="1"/>
          </p:cNvSpPr>
          <p:nvPr>
            <p:ph type="title"/>
          </p:nvPr>
        </p:nvSpPr>
        <p:spPr/>
        <p:txBody>
          <a:bodyPr/>
          <a:lstStyle/>
          <a:p>
            <a:r>
              <a:rPr lang="en-US" dirty="0"/>
              <a:t>Nametags, not arrows</a:t>
            </a:r>
          </a:p>
        </p:txBody>
      </p:sp>
      <p:sp>
        <p:nvSpPr>
          <p:cNvPr id="3" name="Content Placeholder 2">
            <a:extLst>
              <a:ext uri="{FF2B5EF4-FFF2-40B4-BE49-F238E27FC236}">
                <a16:creationId xmlns:a16="http://schemas.microsoft.com/office/drawing/2014/main" id="{6A882A8D-FF3C-6B41-9357-4DE8B39B1B30}"/>
              </a:ext>
            </a:extLst>
          </p:cNvPr>
          <p:cNvSpPr>
            <a:spLocks noGrp="1"/>
          </p:cNvSpPr>
          <p:nvPr>
            <p:ph idx="1"/>
          </p:nvPr>
        </p:nvSpPr>
        <p:spPr>
          <a:xfrm>
            <a:off x="152400" y="495301"/>
            <a:ext cx="8991600" cy="1142999"/>
          </a:xfrm>
        </p:spPr>
        <p:txBody>
          <a:bodyPr/>
          <a:lstStyle/>
          <a:p>
            <a:r>
              <a:rPr lang="en-US" dirty="0"/>
              <a:t>first, let's make a small change to our AST.</a:t>
            </a:r>
          </a:p>
          <a:p>
            <a:r>
              <a:rPr lang="en-US" b="1" dirty="0"/>
              <a:t>every AST node </a:t>
            </a:r>
            <a:r>
              <a:rPr lang="en-US" dirty="0"/>
              <a:t>is given a unique identifier when it is created.</a:t>
            </a:r>
          </a:p>
          <a:p>
            <a:pPr lvl="1"/>
            <a:r>
              <a:rPr lang="en-US" dirty="0"/>
              <a:t>this can be as simple as an int that's incremented for each node.</a:t>
            </a:r>
          </a:p>
        </p:txBody>
      </p:sp>
      <p:sp>
        <p:nvSpPr>
          <p:cNvPr id="4" name="Slide Number Placeholder 3">
            <a:extLst>
              <a:ext uri="{FF2B5EF4-FFF2-40B4-BE49-F238E27FC236}">
                <a16:creationId xmlns:a16="http://schemas.microsoft.com/office/drawing/2014/main" id="{1695C36C-1244-934A-887C-C4DCD5D7B501}"/>
              </a:ext>
            </a:extLst>
          </p:cNvPr>
          <p:cNvSpPr>
            <a:spLocks noGrp="1"/>
          </p:cNvSpPr>
          <p:nvPr>
            <p:ph type="sldNum" sz="quarter" idx="12"/>
          </p:nvPr>
        </p:nvSpPr>
        <p:spPr/>
        <p:txBody>
          <a:bodyPr/>
          <a:lstStyle/>
          <a:p>
            <a:fld id="{3552B95B-556F-44BD-91A5-D80C1B9E2BB3}" type="slidenum">
              <a:rPr lang="en-US" smtClean="0"/>
              <a:pPr/>
              <a:t>20</a:t>
            </a:fld>
            <a:endParaRPr lang="en-US"/>
          </a:p>
        </p:txBody>
      </p:sp>
      <p:graphicFrame>
        <p:nvGraphicFramePr>
          <p:cNvPr id="5" name="Table 4">
            <a:extLst>
              <a:ext uri="{FF2B5EF4-FFF2-40B4-BE49-F238E27FC236}">
                <a16:creationId xmlns:a16="http://schemas.microsoft.com/office/drawing/2014/main" id="{8BE6784C-5821-894D-8F68-33ED460B7BDF}"/>
              </a:ext>
            </a:extLst>
          </p:cNvPr>
          <p:cNvGraphicFramePr>
            <a:graphicFrameLocks noGrp="1"/>
          </p:cNvGraphicFramePr>
          <p:nvPr>
            <p:extLst>
              <p:ext uri="{D42A27DB-BD31-4B8C-83A1-F6EECF244321}">
                <p14:modId xmlns:p14="http://schemas.microsoft.com/office/powerpoint/2010/main" val="3586885662"/>
              </p:ext>
            </p:extLst>
          </p:nvPr>
        </p:nvGraphicFramePr>
        <p:xfrm>
          <a:off x="165755" y="3211851"/>
          <a:ext cx="1680418" cy="857680"/>
        </p:xfrm>
        <a:graphic>
          <a:graphicData uri="http://schemas.openxmlformats.org/drawingml/2006/table">
            <a:tbl>
              <a:tblPr firstRow="1">
                <a:tableStyleId>{93296810-A885-4BE3-A3E7-6D5BEEA58F35}</a:tableStyleId>
              </a:tblPr>
              <a:tblGrid>
                <a:gridCol w="929002">
                  <a:extLst>
                    <a:ext uri="{9D8B030D-6E8A-4147-A177-3AD203B41FA5}">
                      <a16:colId xmlns:a16="http://schemas.microsoft.com/office/drawing/2014/main" val="2725398507"/>
                    </a:ext>
                  </a:extLst>
                </a:gridCol>
                <a:gridCol w="751416">
                  <a:extLst>
                    <a:ext uri="{9D8B030D-6E8A-4147-A177-3AD203B41FA5}">
                      <a16:colId xmlns:a16="http://schemas.microsoft.com/office/drawing/2014/main" val="2193986552"/>
                    </a:ext>
                  </a:extLst>
                </a:gridCol>
              </a:tblGrid>
              <a:tr h="428840">
                <a:tc gridSpan="2">
                  <a:txBody>
                    <a:bodyPr/>
                    <a:lstStyle/>
                    <a:p>
                      <a:pPr algn="ctr"/>
                      <a:r>
                        <a:rPr lang="en-US" sz="1800" b="1" dirty="0">
                          <a:latin typeface="Consolas" panose="020B0609020204030204" pitchFamily="49" charset="0"/>
                          <a:cs typeface="Consolas" panose="020B0609020204030204" pitchFamily="49" charset="0"/>
                        </a:rPr>
                        <a:t>IdentExp:</a:t>
                      </a:r>
                      <a:r>
                        <a:rPr lang="en-US" sz="1800" b="1" dirty="0">
                          <a:solidFill>
                            <a:schemeClr val="tx1"/>
                          </a:solidFill>
                          <a:latin typeface="Consolas" panose="020B0609020204030204" pitchFamily="49" charset="0"/>
                          <a:cs typeface="Consolas" panose="020B0609020204030204" pitchFamily="49" charset="0"/>
                        </a:rPr>
                        <a:t>1</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name</a:t>
                      </a:r>
                    </a:p>
                  </a:txBody>
                  <a:tcPr/>
                </a:tc>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"f"</a:t>
                      </a:r>
                    </a:p>
                  </a:txBody>
                  <a:tcPr/>
                </a:tc>
                <a:extLst>
                  <a:ext uri="{0D108BD9-81ED-4DB2-BD59-A6C34878D82A}">
                    <a16:rowId xmlns:a16="http://schemas.microsoft.com/office/drawing/2014/main" val="1383516035"/>
                  </a:ext>
                </a:extLst>
              </a:tr>
            </a:tbl>
          </a:graphicData>
        </a:graphic>
      </p:graphicFrame>
      <p:graphicFrame>
        <p:nvGraphicFramePr>
          <p:cNvPr id="6" name="Table 5">
            <a:extLst>
              <a:ext uri="{FF2B5EF4-FFF2-40B4-BE49-F238E27FC236}">
                <a16:creationId xmlns:a16="http://schemas.microsoft.com/office/drawing/2014/main" id="{09CE04C0-5990-F745-A934-D6477793003D}"/>
              </a:ext>
            </a:extLst>
          </p:cNvPr>
          <p:cNvGraphicFramePr>
            <a:graphicFrameLocks noGrp="1"/>
          </p:cNvGraphicFramePr>
          <p:nvPr>
            <p:extLst>
              <p:ext uri="{D42A27DB-BD31-4B8C-83A1-F6EECF244321}">
                <p14:modId xmlns:p14="http://schemas.microsoft.com/office/powerpoint/2010/main" val="3395956550"/>
              </p:ext>
            </p:extLst>
          </p:nvPr>
        </p:nvGraphicFramePr>
        <p:xfrm>
          <a:off x="2491267" y="3211851"/>
          <a:ext cx="1642428" cy="857680"/>
        </p:xfrm>
        <a:graphic>
          <a:graphicData uri="http://schemas.openxmlformats.org/drawingml/2006/table">
            <a:tbl>
              <a:tblPr firstRow="1">
                <a:tableStyleId>{93296810-A885-4BE3-A3E7-6D5BEEA58F35}</a:tableStyleId>
              </a:tblPr>
              <a:tblGrid>
                <a:gridCol w="821214">
                  <a:extLst>
                    <a:ext uri="{9D8B030D-6E8A-4147-A177-3AD203B41FA5}">
                      <a16:colId xmlns:a16="http://schemas.microsoft.com/office/drawing/2014/main" val="2725398507"/>
                    </a:ext>
                  </a:extLst>
                </a:gridCol>
                <a:gridCol w="821214">
                  <a:extLst>
                    <a:ext uri="{9D8B030D-6E8A-4147-A177-3AD203B41FA5}">
                      <a16:colId xmlns:a16="http://schemas.microsoft.com/office/drawing/2014/main" val="2193986552"/>
                    </a:ext>
                  </a:extLst>
                </a:gridCol>
              </a:tblGrid>
              <a:tr h="428840">
                <a:tc gridSpan="2">
                  <a:txBody>
                    <a:bodyPr/>
                    <a:lstStyle/>
                    <a:p>
                      <a:pPr algn="ctr"/>
                      <a:r>
                        <a:rPr lang="en-US" sz="1800" b="1" dirty="0">
                          <a:latin typeface="Consolas" panose="020B0609020204030204" pitchFamily="49" charset="0"/>
                          <a:cs typeface="Consolas" panose="020B0609020204030204" pitchFamily="49" charset="0"/>
                        </a:rPr>
                        <a:t>AddExp:</a:t>
                      </a:r>
                      <a:r>
                        <a:rPr lang="en-US" sz="1800" b="1" dirty="0">
                          <a:solidFill>
                            <a:schemeClr val="tx1"/>
                          </a:solidFill>
                          <a:latin typeface="Consolas" panose="020B0609020204030204" pitchFamily="49" charset="0"/>
                          <a:cs typeface="Consolas" panose="020B0609020204030204" pitchFamily="49" charset="0"/>
                        </a:rPr>
                        <a:t>4</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err="1">
                          <a:latin typeface="Consolas" panose="020B0609020204030204" pitchFamily="49" charset="0"/>
                          <a:cs typeface="Consolas" panose="020B0609020204030204" pitchFamily="49" charset="0"/>
                        </a:rPr>
                        <a:t>lhs</a:t>
                      </a:r>
                      <a:endParaRPr lang="en-US" sz="1800" b="1" dirty="0">
                        <a:latin typeface="Consolas" panose="020B0609020204030204" pitchFamily="49" charset="0"/>
                        <a:cs typeface="Consolas" panose="020B0609020204030204" pitchFamily="49" charset="0"/>
                      </a:endParaRPr>
                    </a:p>
                  </a:txBody>
                  <a:tcPr/>
                </a:tc>
                <a:tc>
                  <a:txBody>
                    <a:bodyPr/>
                    <a:lstStyle/>
                    <a:p>
                      <a:pPr algn="ctr"/>
                      <a:r>
                        <a:rPr lang="en-US" sz="1800" b="1" dirty="0" err="1">
                          <a:latin typeface="Consolas" panose="020B0609020204030204" pitchFamily="49" charset="0"/>
                          <a:cs typeface="Consolas" panose="020B0609020204030204" pitchFamily="49" charset="0"/>
                        </a:rPr>
                        <a:t>rhs</a:t>
                      </a: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383516035"/>
                  </a:ext>
                </a:extLst>
              </a:tr>
            </a:tbl>
          </a:graphicData>
        </a:graphic>
      </p:graphicFrame>
      <p:graphicFrame>
        <p:nvGraphicFramePr>
          <p:cNvPr id="7" name="Table 6">
            <a:extLst>
              <a:ext uri="{FF2B5EF4-FFF2-40B4-BE49-F238E27FC236}">
                <a16:creationId xmlns:a16="http://schemas.microsoft.com/office/drawing/2014/main" id="{901D1B4C-8A9F-D34F-8726-A0C3EE0CE1D0}"/>
              </a:ext>
            </a:extLst>
          </p:cNvPr>
          <p:cNvGraphicFramePr>
            <a:graphicFrameLocks noGrp="1"/>
          </p:cNvGraphicFramePr>
          <p:nvPr>
            <p:extLst>
              <p:ext uri="{D42A27DB-BD31-4B8C-83A1-F6EECF244321}">
                <p14:modId xmlns:p14="http://schemas.microsoft.com/office/powerpoint/2010/main" val="2703258605"/>
              </p:ext>
            </p:extLst>
          </p:nvPr>
        </p:nvGraphicFramePr>
        <p:xfrm>
          <a:off x="1499145" y="4657221"/>
          <a:ext cx="1838004" cy="857680"/>
        </p:xfrm>
        <a:graphic>
          <a:graphicData uri="http://schemas.openxmlformats.org/drawingml/2006/table">
            <a:tbl>
              <a:tblPr firstRow="1">
                <a:tableStyleId>{93296810-A885-4BE3-A3E7-6D5BEEA58F35}</a:tableStyleId>
              </a:tblPr>
              <a:tblGrid>
                <a:gridCol w="1016121">
                  <a:extLst>
                    <a:ext uri="{9D8B030D-6E8A-4147-A177-3AD203B41FA5}">
                      <a16:colId xmlns:a16="http://schemas.microsoft.com/office/drawing/2014/main" val="2725398507"/>
                    </a:ext>
                  </a:extLst>
                </a:gridCol>
                <a:gridCol w="821883">
                  <a:extLst>
                    <a:ext uri="{9D8B030D-6E8A-4147-A177-3AD203B41FA5}">
                      <a16:colId xmlns:a16="http://schemas.microsoft.com/office/drawing/2014/main" val="2193986552"/>
                    </a:ext>
                  </a:extLst>
                </a:gridCol>
              </a:tblGrid>
              <a:tr h="428840">
                <a:tc gridSpan="2">
                  <a:txBody>
                    <a:bodyPr/>
                    <a:lstStyle/>
                    <a:p>
                      <a:pPr algn="ctr"/>
                      <a:r>
                        <a:rPr lang="en-US" sz="1800" b="1" dirty="0">
                          <a:latin typeface="Consolas" panose="020B0609020204030204" pitchFamily="49" charset="0"/>
                          <a:cs typeface="Consolas" panose="020B0609020204030204" pitchFamily="49" charset="0"/>
                        </a:rPr>
                        <a:t>IdentExp:</a:t>
                      </a:r>
                      <a:r>
                        <a:rPr lang="en-US" sz="1800" b="1" dirty="0">
                          <a:solidFill>
                            <a:schemeClr val="tx1"/>
                          </a:solidFill>
                          <a:latin typeface="Consolas" panose="020B0609020204030204" pitchFamily="49" charset="0"/>
                          <a:cs typeface="Consolas" panose="020B0609020204030204" pitchFamily="49" charset="0"/>
                        </a:rPr>
                        <a:t>2</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name</a:t>
                      </a:r>
                    </a:p>
                  </a:txBody>
                  <a:tcPr/>
                </a:tc>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"y"</a:t>
                      </a:r>
                    </a:p>
                  </a:txBody>
                  <a:tcPr/>
                </a:tc>
                <a:extLst>
                  <a:ext uri="{0D108BD9-81ED-4DB2-BD59-A6C34878D82A}">
                    <a16:rowId xmlns:a16="http://schemas.microsoft.com/office/drawing/2014/main" val="1383516035"/>
                  </a:ext>
                </a:extLst>
              </a:tr>
            </a:tbl>
          </a:graphicData>
        </a:graphic>
      </p:graphicFrame>
      <p:graphicFrame>
        <p:nvGraphicFramePr>
          <p:cNvPr id="8" name="Table 7">
            <a:extLst>
              <a:ext uri="{FF2B5EF4-FFF2-40B4-BE49-F238E27FC236}">
                <a16:creationId xmlns:a16="http://schemas.microsoft.com/office/drawing/2014/main" id="{7ED9202B-20C5-0C44-8B63-4CF69379F64B}"/>
              </a:ext>
            </a:extLst>
          </p:cNvPr>
          <p:cNvGraphicFramePr>
            <a:graphicFrameLocks noGrp="1"/>
          </p:cNvGraphicFramePr>
          <p:nvPr>
            <p:extLst>
              <p:ext uri="{D42A27DB-BD31-4B8C-83A1-F6EECF244321}">
                <p14:modId xmlns:p14="http://schemas.microsoft.com/office/powerpoint/2010/main" val="2787092285"/>
              </p:ext>
            </p:extLst>
          </p:nvPr>
        </p:nvGraphicFramePr>
        <p:xfrm>
          <a:off x="3491520" y="4657221"/>
          <a:ext cx="1519618" cy="857680"/>
        </p:xfrm>
        <a:graphic>
          <a:graphicData uri="http://schemas.openxmlformats.org/drawingml/2006/table">
            <a:tbl>
              <a:tblPr firstRow="1">
                <a:tableStyleId>{93296810-A885-4BE3-A3E7-6D5BEEA58F35}</a:tableStyleId>
              </a:tblPr>
              <a:tblGrid>
                <a:gridCol w="840105">
                  <a:extLst>
                    <a:ext uri="{9D8B030D-6E8A-4147-A177-3AD203B41FA5}">
                      <a16:colId xmlns:a16="http://schemas.microsoft.com/office/drawing/2014/main" val="2725398507"/>
                    </a:ext>
                  </a:extLst>
                </a:gridCol>
                <a:gridCol w="679513">
                  <a:extLst>
                    <a:ext uri="{9D8B030D-6E8A-4147-A177-3AD203B41FA5}">
                      <a16:colId xmlns:a16="http://schemas.microsoft.com/office/drawing/2014/main" val="2193986552"/>
                    </a:ext>
                  </a:extLst>
                </a:gridCol>
              </a:tblGrid>
              <a:tr h="428840">
                <a:tc gridSpan="2">
                  <a:txBody>
                    <a:bodyPr/>
                    <a:lstStyle/>
                    <a:p>
                      <a:pPr algn="ctr"/>
                      <a:r>
                        <a:rPr lang="en-US" sz="1800" b="1" dirty="0">
                          <a:latin typeface="Consolas" panose="020B0609020204030204" pitchFamily="49" charset="0"/>
                          <a:cs typeface="Consolas" panose="020B0609020204030204" pitchFamily="49" charset="0"/>
                        </a:rPr>
                        <a:t>IntExp:</a:t>
                      </a:r>
                      <a:r>
                        <a:rPr lang="en-US" sz="1800" b="1" dirty="0">
                          <a:solidFill>
                            <a:schemeClr val="tx1"/>
                          </a:solidFill>
                          <a:latin typeface="Consolas" panose="020B0609020204030204" pitchFamily="49" charset="0"/>
                          <a:cs typeface="Consolas" panose="020B0609020204030204" pitchFamily="49" charset="0"/>
                        </a:rPr>
                        <a:t>3</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value</a:t>
                      </a:r>
                    </a:p>
                  </a:txBody>
                  <a:tcPr/>
                </a:tc>
                <a:tc>
                  <a:txBody>
                    <a:bodyPr/>
                    <a:lstStyle/>
                    <a:p>
                      <a:pPr algn="ctr"/>
                      <a:r>
                        <a:rPr lang="en-US" sz="1800" b="1" dirty="0">
                          <a:solidFill>
                            <a:schemeClr val="accent3">
                              <a:lumMod val="75000"/>
                            </a:schemeClr>
                          </a:solidFill>
                          <a:latin typeface="Consolas" panose="020B0609020204030204" pitchFamily="49" charset="0"/>
                          <a:cs typeface="Consolas" panose="020B0609020204030204" pitchFamily="49" charset="0"/>
                        </a:rPr>
                        <a:t>2</a:t>
                      </a:r>
                    </a:p>
                  </a:txBody>
                  <a:tcPr/>
                </a:tc>
                <a:extLst>
                  <a:ext uri="{0D108BD9-81ED-4DB2-BD59-A6C34878D82A}">
                    <a16:rowId xmlns:a16="http://schemas.microsoft.com/office/drawing/2014/main" val="1383516035"/>
                  </a:ext>
                </a:extLst>
              </a:tr>
            </a:tbl>
          </a:graphicData>
        </a:graphic>
      </p:graphicFrame>
      <p:cxnSp>
        <p:nvCxnSpPr>
          <p:cNvPr id="9" name="Curved Connector 8">
            <a:extLst>
              <a:ext uri="{FF2B5EF4-FFF2-40B4-BE49-F238E27FC236}">
                <a16:creationId xmlns:a16="http://schemas.microsoft.com/office/drawing/2014/main" id="{428DEB21-4BD7-5840-9CD1-93F7D4659671}"/>
              </a:ext>
            </a:extLst>
          </p:cNvPr>
          <p:cNvCxnSpPr>
            <a:cxnSpLocks/>
            <a:endCxn id="7" idx="0"/>
          </p:cNvCxnSpPr>
          <p:nvPr/>
        </p:nvCxnSpPr>
        <p:spPr>
          <a:xfrm rot="5400000">
            <a:off x="2282939" y="4204740"/>
            <a:ext cx="587690" cy="317273"/>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CEE8C88F-4185-9144-B2EF-51A5A7C08945}"/>
              </a:ext>
            </a:extLst>
          </p:cNvPr>
          <p:cNvCxnSpPr>
            <a:cxnSpLocks/>
            <a:endCxn id="8" idx="0"/>
          </p:cNvCxnSpPr>
          <p:nvPr/>
        </p:nvCxnSpPr>
        <p:spPr>
          <a:xfrm rot="16200000" flipH="1">
            <a:off x="3748757" y="4154649"/>
            <a:ext cx="592056" cy="413088"/>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Table 10">
            <a:extLst>
              <a:ext uri="{FF2B5EF4-FFF2-40B4-BE49-F238E27FC236}">
                <a16:creationId xmlns:a16="http://schemas.microsoft.com/office/drawing/2014/main" id="{FEF77052-56F1-424A-8CCD-07891A6BB1A7}"/>
              </a:ext>
            </a:extLst>
          </p:cNvPr>
          <p:cNvGraphicFramePr>
            <a:graphicFrameLocks noGrp="1"/>
          </p:cNvGraphicFramePr>
          <p:nvPr>
            <p:extLst>
              <p:ext uri="{D42A27DB-BD31-4B8C-83A1-F6EECF244321}">
                <p14:modId xmlns:p14="http://schemas.microsoft.com/office/powerpoint/2010/main" val="1502998299"/>
              </p:ext>
            </p:extLst>
          </p:nvPr>
        </p:nvGraphicFramePr>
        <p:xfrm>
          <a:off x="1633284" y="1866900"/>
          <a:ext cx="2055210" cy="857680"/>
        </p:xfrm>
        <a:graphic>
          <a:graphicData uri="http://schemas.openxmlformats.org/drawingml/2006/table">
            <a:tbl>
              <a:tblPr firstRow="1">
                <a:tableStyleId>{93296810-A885-4BE3-A3E7-6D5BEEA58F35}</a:tableStyleId>
              </a:tblPr>
              <a:tblGrid>
                <a:gridCol w="1027605">
                  <a:extLst>
                    <a:ext uri="{9D8B030D-6E8A-4147-A177-3AD203B41FA5}">
                      <a16:colId xmlns:a16="http://schemas.microsoft.com/office/drawing/2014/main" val="2725398507"/>
                    </a:ext>
                  </a:extLst>
                </a:gridCol>
                <a:gridCol w="1027605">
                  <a:extLst>
                    <a:ext uri="{9D8B030D-6E8A-4147-A177-3AD203B41FA5}">
                      <a16:colId xmlns:a16="http://schemas.microsoft.com/office/drawing/2014/main" val="2193986552"/>
                    </a:ext>
                  </a:extLst>
                </a:gridCol>
              </a:tblGrid>
              <a:tr h="428840">
                <a:tc gridSpan="2">
                  <a:txBody>
                    <a:bodyPr/>
                    <a:lstStyle/>
                    <a:p>
                      <a:pPr algn="ctr"/>
                      <a:r>
                        <a:rPr lang="en-US" sz="1800" b="1" dirty="0">
                          <a:latin typeface="Consolas" panose="020B0609020204030204" pitchFamily="49" charset="0"/>
                          <a:cs typeface="Consolas" panose="020B0609020204030204" pitchFamily="49" charset="0"/>
                        </a:rPr>
                        <a:t>CallExp:</a:t>
                      </a:r>
                      <a:r>
                        <a:rPr lang="en-US" sz="1800" b="1" dirty="0">
                          <a:solidFill>
                            <a:schemeClr val="tx1"/>
                          </a:solidFill>
                          <a:latin typeface="Consolas" panose="020B0609020204030204" pitchFamily="49" charset="0"/>
                          <a:cs typeface="Consolas" panose="020B0609020204030204" pitchFamily="49" charset="0"/>
                        </a:rPr>
                        <a:t>5</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callee</a:t>
                      </a:r>
                    </a:p>
                  </a:txBody>
                  <a:tcPr/>
                </a:tc>
                <a:tc>
                  <a:txBody>
                    <a:bodyPr/>
                    <a:lstStyle/>
                    <a:p>
                      <a:pPr algn="ctr"/>
                      <a:r>
                        <a:rPr lang="en-US" sz="1800" b="1" dirty="0" err="1">
                          <a:latin typeface="Consolas" panose="020B0609020204030204" pitchFamily="49" charset="0"/>
                          <a:cs typeface="Consolas" panose="020B0609020204030204" pitchFamily="49" charset="0"/>
                        </a:rPr>
                        <a:t>args</a:t>
                      </a:r>
                      <a:r>
                        <a:rPr lang="en-US" sz="1800" b="1"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1383516035"/>
                  </a:ext>
                </a:extLst>
              </a:tr>
            </a:tbl>
          </a:graphicData>
        </a:graphic>
      </p:graphicFrame>
      <p:cxnSp>
        <p:nvCxnSpPr>
          <p:cNvPr id="12" name="Curved Connector 11">
            <a:extLst>
              <a:ext uri="{FF2B5EF4-FFF2-40B4-BE49-F238E27FC236}">
                <a16:creationId xmlns:a16="http://schemas.microsoft.com/office/drawing/2014/main" id="{2EC685E3-172A-A648-9ABF-5748342EF21B}"/>
              </a:ext>
            </a:extLst>
          </p:cNvPr>
          <p:cNvCxnSpPr>
            <a:cxnSpLocks/>
            <a:endCxn id="5" idx="0"/>
          </p:cNvCxnSpPr>
          <p:nvPr/>
        </p:nvCxnSpPr>
        <p:spPr>
          <a:xfrm rot="10800000" flipV="1">
            <a:off x="1005965" y="2515291"/>
            <a:ext cx="713055" cy="696560"/>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urved Connector 12">
            <a:extLst>
              <a:ext uri="{FF2B5EF4-FFF2-40B4-BE49-F238E27FC236}">
                <a16:creationId xmlns:a16="http://schemas.microsoft.com/office/drawing/2014/main" id="{7CEF5C1D-15EA-FF47-B9C5-667543601A71}"/>
              </a:ext>
            </a:extLst>
          </p:cNvPr>
          <p:cNvCxnSpPr>
            <a:cxnSpLocks/>
            <a:endCxn id="6" idx="0"/>
          </p:cNvCxnSpPr>
          <p:nvPr/>
        </p:nvCxnSpPr>
        <p:spPr>
          <a:xfrm rot="16200000" flipH="1">
            <a:off x="2980346" y="2879716"/>
            <a:ext cx="529744" cy="134525"/>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A3C2D5F-92F6-8A40-838B-ACF831C0123D}"/>
              </a:ext>
            </a:extLst>
          </p:cNvPr>
          <p:cNvSpPr txBox="1"/>
          <p:nvPr/>
        </p:nvSpPr>
        <p:spPr>
          <a:xfrm>
            <a:off x="118621" y="1973688"/>
            <a:ext cx="1428596"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f(y + </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a:t>
            </a:r>
          </a:p>
        </p:txBody>
      </p:sp>
      <p:sp>
        <p:nvSpPr>
          <p:cNvPr id="16" name="TextBox 15">
            <a:extLst>
              <a:ext uri="{FF2B5EF4-FFF2-40B4-BE49-F238E27FC236}">
                <a16:creationId xmlns:a16="http://schemas.microsoft.com/office/drawing/2014/main" id="{A9C1711C-F115-5046-983E-D1C6C4933701}"/>
              </a:ext>
            </a:extLst>
          </p:cNvPr>
          <p:cNvSpPr txBox="1"/>
          <p:nvPr/>
        </p:nvSpPr>
        <p:spPr>
          <a:xfrm>
            <a:off x="3873336" y="1688242"/>
            <a:ext cx="4356263" cy="769441"/>
          </a:xfrm>
          <a:prstGeom prst="rect">
            <a:avLst/>
          </a:prstGeom>
          <a:noFill/>
        </p:spPr>
        <p:txBody>
          <a:bodyPr wrap="square" rtlCol="0">
            <a:spAutoFit/>
          </a:bodyPr>
          <a:lstStyle/>
          <a:p>
            <a:pPr algn="ctr"/>
            <a:r>
              <a:rPr lang="en-US" sz="2200" dirty="0"/>
              <a:t>this lets us </a:t>
            </a:r>
            <a:r>
              <a:rPr lang="en-US" sz="2200" b="1" dirty="0"/>
              <a:t>create relationships </a:t>
            </a:r>
            <a:r>
              <a:rPr lang="en-US" sz="2200" dirty="0"/>
              <a:t>without adding any arrows.</a:t>
            </a:r>
            <a:endParaRPr lang="en-US" sz="2200" dirty="0">
              <a:solidFill>
                <a:srgbClr val="FF0000"/>
              </a:solidFill>
            </a:endParaRPr>
          </a:p>
        </p:txBody>
      </p:sp>
      <p:sp>
        <p:nvSpPr>
          <p:cNvPr id="17" name="TextBox 16">
            <a:extLst>
              <a:ext uri="{FF2B5EF4-FFF2-40B4-BE49-F238E27FC236}">
                <a16:creationId xmlns:a16="http://schemas.microsoft.com/office/drawing/2014/main" id="{4FF19241-3A38-0F4E-A5ED-BAF1ACFDB45D}"/>
              </a:ext>
            </a:extLst>
          </p:cNvPr>
          <p:cNvSpPr txBox="1"/>
          <p:nvPr/>
        </p:nvSpPr>
        <p:spPr>
          <a:xfrm>
            <a:off x="4419600" y="2694838"/>
            <a:ext cx="4167656" cy="769441"/>
          </a:xfrm>
          <a:prstGeom prst="rect">
            <a:avLst/>
          </a:prstGeom>
          <a:noFill/>
        </p:spPr>
        <p:txBody>
          <a:bodyPr wrap="square" rtlCol="0">
            <a:spAutoFit/>
          </a:bodyPr>
          <a:lstStyle/>
          <a:p>
            <a:pPr algn="ctr"/>
            <a:r>
              <a:rPr lang="en-US" sz="2200" dirty="0"/>
              <a:t>let's say the name </a:t>
            </a:r>
            <a:r>
              <a:rPr lang="en-US" sz="2200" b="1" dirty="0"/>
              <a:t>f </a:t>
            </a:r>
            <a:r>
              <a:rPr lang="en-US" sz="2200" dirty="0"/>
              <a:t>resolves to a function declared by node </a:t>
            </a:r>
            <a:r>
              <a:rPr lang="en-US" sz="2200" b="1" dirty="0"/>
              <a:t>49</a:t>
            </a:r>
            <a:r>
              <a:rPr lang="en-US" sz="2200" dirty="0"/>
              <a:t>.</a:t>
            </a:r>
            <a:endParaRPr lang="en-US" sz="2200" dirty="0">
              <a:solidFill>
                <a:srgbClr val="FF0000"/>
              </a:solidFill>
            </a:endParaRPr>
          </a:p>
        </p:txBody>
      </p:sp>
      <p:sp>
        <p:nvSpPr>
          <p:cNvPr id="18" name="TextBox 17">
            <a:extLst>
              <a:ext uri="{FF2B5EF4-FFF2-40B4-BE49-F238E27FC236}">
                <a16:creationId xmlns:a16="http://schemas.microsoft.com/office/drawing/2014/main" id="{7C48BC05-35CF-9846-96F1-20066C378503}"/>
              </a:ext>
            </a:extLst>
          </p:cNvPr>
          <p:cNvSpPr txBox="1"/>
          <p:nvPr/>
        </p:nvSpPr>
        <p:spPr>
          <a:xfrm>
            <a:off x="4924096" y="3640691"/>
            <a:ext cx="3933619" cy="1107996"/>
          </a:xfrm>
          <a:prstGeom prst="rect">
            <a:avLst/>
          </a:prstGeom>
          <a:noFill/>
        </p:spPr>
        <p:txBody>
          <a:bodyPr wrap="square" rtlCol="0">
            <a:spAutoFit/>
          </a:bodyPr>
          <a:lstStyle/>
          <a:p>
            <a:pPr algn="ctr"/>
            <a:r>
              <a:rPr lang="en-US" sz="2200" dirty="0"/>
              <a:t>then in our name resolution map, we add an entry with a key of </a:t>
            </a:r>
            <a:r>
              <a:rPr lang="en-US" sz="2200" b="1" dirty="0"/>
              <a:t>1</a:t>
            </a:r>
            <a:r>
              <a:rPr lang="en-US" sz="2200" dirty="0"/>
              <a:t> and a value of </a:t>
            </a:r>
            <a:r>
              <a:rPr lang="en-US" sz="2200" b="1" dirty="0"/>
              <a:t>49</a:t>
            </a:r>
            <a:r>
              <a:rPr lang="en-US" sz="2200" dirty="0"/>
              <a:t>.</a:t>
            </a:r>
            <a:endParaRPr lang="en-US" sz="2200" dirty="0">
              <a:solidFill>
                <a:srgbClr val="FF0000"/>
              </a:solidFill>
            </a:endParaRPr>
          </a:p>
        </p:txBody>
      </p:sp>
    </p:spTree>
    <p:extLst>
      <p:ext uri="{BB962C8B-B14F-4D97-AF65-F5344CB8AC3E}">
        <p14:creationId xmlns:p14="http://schemas.microsoft.com/office/powerpoint/2010/main" val="3014072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5BDB-B243-9543-B7D4-7C275EFB5FF0}"/>
              </a:ext>
            </a:extLst>
          </p:cNvPr>
          <p:cNvSpPr>
            <a:spLocks noGrp="1"/>
          </p:cNvSpPr>
          <p:nvPr>
            <p:ph type="title"/>
          </p:nvPr>
        </p:nvSpPr>
        <p:spPr/>
        <p:txBody>
          <a:bodyPr/>
          <a:lstStyle/>
          <a:p>
            <a:r>
              <a:rPr lang="en-US" dirty="0"/>
              <a:t>Wh.. but… why? Why not just point to the node?</a:t>
            </a:r>
          </a:p>
        </p:txBody>
      </p:sp>
      <p:sp>
        <p:nvSpPr>
          <p:cNvPr id="3" name="Content Placeholder 2">
            <a:extLst>
              <a:ext uri="{FF2B5EF4-FFF2-40B4-BE49-F238E27FC236}">
                <a16:creationId xmlns:a16="http://schemas.microsoft.com/office/drawing/2014/main" id="{3B816B68-46E4-3648-B9EB-94F6A4EA3D28}"/>
              </a:ext>
            </a:extLst>
          </p:cNvPr>
          <p:cNvSpPr>
            <a:spLocks noGrp="1"/>
          </p:cNvSpPr>
          <p:nvPr>
            <p:ph idx="1"/>
          </p:nvPr>
        </p:nvSpPr>
        <p:spPr/>
        <p:txBody>
          <a:bodyPr/>
          <a:lstStyle/>
          <a:p>
            <a:r>
              <a:rPr lang="en-US" b="1" dirty="0"/>
              <a:t>decoupling </a:t>
            </a:r>
            <a:r>
              <a:rPr lang="en-US" dirty="0"/>
              <a:t>is good practice. it gives you a cleaner design.</a:t>
            </a:r>
          </a:p>
          <a:p>
            <a:r>
              <a:rPr lang="en-US" dirty="0"/>
              <a:t>we can add </a:t>
            </a:r>
            <a:r>
              <a:rPr lang="en-US" b="1" dirty="0"/>
              <a:t>arbitrarily many</a:t>
            </a:r>
            <a:r>
              <a:rPr lang="en-US" dirty="0"/>
              <a:t> pieces of data to an AST node, without having to change the AST node types at all!</a:t>
            </a:r>
          </a:p>
          <a:p>
            <a:pPr lvl="1"/>
            <a:r>
              <a:rPr lang="en-US" dirty="0"/>
              <a:t>we just add more maps that use the node IDs as keys.</a:t>
            </a:r>
          </a:p>
          <a:p>
            <a:pPr lvl="1"/>
            <a:r>
              <a:rPr lang="en-US" dirty="0"/>
              <a:t>this lets us </a:t>
            </a:r>
            <a:r>
              <a:rPr lang="en-US" b="1" dirty="0"/>
              <a:t>add new compilation passes</a:t>
            </a:r>
            <a:r>
              <a:rPr lang="en-US" dirty="0"/>
              <a:t> and </a:t>
            </a:r>
            <a:r>
              <a:rPr lang="en-US" b="1" dirty="0"/>
              <a:t>modularize</a:t>
            </a:r>
            <a:r>
              <a:rPr lang="en-US" dirty="0"/>
              <a:t> the compiler much more easily.</a:t>
            </a:r>
          </a:p>
          <a:p>
            <a:r>
              <a:rPr lang="en-US" dirty="0"/>
              <a:t>it improves compiler compile times by not requiring a recompile of the </a:t>
            </a:r>
            <a:r>
              <a:rPr lang="en-US" i="1" dirty="0"/>
              <a:t>entire compiler</a:t>
            </a:r>
            <a:r>
              <a:rPr lang="en-US" dirty="0"/>
              <a:t> every time you change the AST type.</a:t>
            </a:r>
          </a:p>
          <a:p>
            <a:pPr lvl="1"/>
            <a:r>
              <a:rPr lang="en-US" dirty="0"/>
              <a:t>and real compilers can be </a:t>
            </a:r>
            <a:r>
              <a:rPr lang="en-US" b="1" i="1" dirty="0"/>
              <a:t>massive, </a:t>
            </a:r>
            <a:r>
              <a:rPr lang="en-US" dirty="0"/>
              <a:t>so this is a big timesaver!</a:t>
            </a:r>
          </a:p>
          <a:p>
            <a:r>
              <a:rPr lang="en-US" dirty="0"/>
              <a:t>it can improve performance by exploiting </a:t>
            </a:r>
            <a:r>
              <a:rPr lang="en-US" b="1" dirty="0"/>
              <a:t>physical locality.</a:t>
            </a:r>
          </a:p>
          <a:p>
            <a:pPr lvl="1"/>
            <a:r>
              <a:rPr lang="en-US" dirty="0"/>
              <a:t>the </a:t>
            </a:r>
            <a:r>
              <a:rPr lang="en-US" b="1" dirty="0"/>
              <a:t>cache </a:t>
            </a:r>
            <a:r>
              <a:rPr lang="en-US" dirty="0"/>
              <a:t>in your CPU likes arrays and small structs.</a:t>
            </a:r>
          </a:p>
          <a:p>
            <a:pPr lvl="1"/>
            <a:r>
              <a:rPr lang="en-US" dirty="0"/>
              <a:t>the AST node struct stays </a:t>
            </a:r>
            <a:r>
              <a:rPr lang="en-US" b="1" dirty="0"/>
              <a:t>small,</a:t>
            </a:r>
            <a:r>
              <a:rPr lang="en-US" dirty="0"/>
              <a:t> meaning it'll likely fit into cache.</a:t>
            </a:r>
          </a:p>
          <a:p>
            <a:pPr lvl="1"/>
            <a:r>
              <a:rPr lang="en-US" dirty="0"/>
              <a:t>associated data can even be stored in a </a:t>
            </a:r>
            <a:r>
              <a:rPr lang="en-US" b="1" dirty="0"/>
              <a:t>contiguous array.</a:t>
            </a:r>
          </a:p>
        </p:txBody>
      </p:sp>
      <p:sp>
        <p:nvSpPr>
          <p:cNvPr id="4" name="Slide Number Placeholder 3">
            <a:extLst>
              <a:ext uri="{FF2B5EF4-FFF2-40B4-BE49-F238E27FC236}">
                <a16:creationId xmlns:a16="http://schemas.microsoft.com/office/drawing/2014/main" id="{5AFA641B-EC14-824C-A690-FB1CBAB6DEBE}"/>
              </a:ext>
            </a:extLst>
          </p:cNvPr>
          <p:cNvSpPr>
            <a:spLocks noGrp="1"/>
          </p:cNvSpPr>
          <p:nvPr>
            <p:ph type="sldNum" sz="quarter" idx="12"/>
          </p:nvPr>
        </p:nvSpPr>
        <p:spPr/>
        <p:txBody>
          <a:bodyPr/>
          <a:lstStyle/>
          <a:p>
            <a:fld id="{3552B95B-556F-44BD-91A5-D80C1B9E2BB3}" type="slidenum">
              <a:rPr lang="en-US" smtClean="0"/>
              <a:pPr/>
              <a:t>21</a:t>
            </a:fld>
            <a:endParaRPr lang="en-US"/>
          </a:p>
        </p:txBody>
      </p:sp>
    </p:spTree>
    <p:extLst>
      <p:ext uri="{BB962C8B-B14F-4D97-AF65-F5344CB8AC3E}">
        <p14:creationId xmlns:p14="http://schemas.microsoft.com/office/powerpoint/2010/main" val="379888736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1F425-A0AD-424D-B204-29CD1F81BF25}"/>
              </a:ext>
            </a:extLst>
          </p:cNvPr>
          <p:cNvSpPr>
            <a:spLocks noGrp="1"/>
          </p:cNvSpPr>
          <p:nvPr>
            <p:ph type="title"/>
          </p:nvPr>
        </p:nvSpPr>
        <p:spPr/>
        <p:txBody>
          <a:bodyPr/>
          <a:lstStyle/>
          <a:p>
            <a:r>
              <a:rPr lang="en-US" dirty="0"/>
              <a:t>Another reason</a:t>
            </a:r>
          </a:p>
        </p:txBody>
      </p:sp>
      <p:sp>
        <p:nvSpPr>
          <p:cNvPr id="3" name="Content Placeholder 2">
            <a:extLst>
              <a:ext uri="{FF2B5EF4-FFF2-40B4-BE49-F238E27FC236}">
                <a16:creationId xmlns:a16="http://schemas.microsoft.com/office/drawing/2014/main" id="{420297DC-8C81-6A4B-B80D-BE9560CA3130}"/>
              </a:ext>
            </a:extLst>
          </p:cNvPr>
          <p:cNvSpPr>
            <a:spLocks noGrp="1"/>
          </p:cNvSpPr>
          <p:nvPr>
            <p:ph idx="1"/>
          </p:nvPr>
        </p:nvSpPr>
        <p:spPr>
          <a:xfrm>
            <a:off x="152400" y="495301"/>
            <a:ext cx="8991600" cy="495301"/>
          </a:xfrm>
        </p:spPr>
        <p:txBody>
          <a:bodyPr/>
          <a:lstStyle/>
          <a:p>
            <a:r>
              <a:rPr lang="en-US" dirty="0"/>
              <a:t>we are also nudged towards this design by Rust.</a:t>
            </a:r>
          </a:p>
        </p:txBody>
      </p:sp>
      <p:sp>
        <p:nvSpPr>
          <p:cNvPr id="4" name="Slide Number Placeholder 3">
            <a:extLst>
              <a:ext uri="{FF2B5EF4-FFF2-40B4-BE49-F238E27FC236}">
                <a16:creationId xmlns:a16="http://schemas.microsoft.com/office/drawing/2014/main" id="{05ADCAAA-FD52-FD43-984D-E93CB63B2730}"/>
              </a:ext>
            </a:extLst>
          </p:cNvPr>
          <p:cNvSpPr>
            <a:spLocks noGrp="1"/>
          </p:cNvSpPr>
          <p:nvPr>
            <p:ph type="sldNum" sz="quarter" idx="12"/>
          </p:nvPr>
        </p:nvSpPr>
        <p:spPr/>
        <p:txBody>
          <a:bodyPr/>
          <a:lstStyle/>
          <a:p>
            <a:fld id="{3552B95B-556F-44BD-91A5-D80C1B9E2BB3}" type="slidenum">
              <a:rPr lang="en-US" smtClean="0"/>
              <a:pPr/>
              <a:t>22</a:t>
            </a:fld>
            <a:endParaRPr lang="en-US"/>
          </a:p>
        </p:txBody>
      </p:sp>
      <p:sp>
        <p:nvSpPr>
          <p:cNvPr id="5" name="TextBox 4">
            <a:extLst>
              <a:ext uri="{FF2B5EF4-FFF2-40B4-BE49-F238E27FC236}">
                <a16:creationId xmlns:a16="http://schemas.microsoft.com/office/drawing/2014/main" id="{E42C5CD6-80CD-8D44-92A9-6DC484B51C3F}"/>
              </a:ext>
            </a:extLst>
          </p:cNvPr>
          <p:cNvSpPr txBox="1"/>
          <p:nvPr/>
        </p:nvSpPr>
        <p:spPr>
          <a:xfrm>
            <a:off x="0" y="990602"/>
            <a:ext cx="4279769" cy="1107996"/>
          </a:xfrm>
          <a:prstGeom prst="rect">
            <a:avLst/>
          </a:prstGeom>
          <a:noFill/>
        </p:spPr>
        <p:txBody>
          <a:bodyPr wrap="square" rtlCol="0">
            <a:spAutoFit/>
          </a:bodyPr>
          <a:lstStyle/>
          <a:p>
            <a:pPr algn="ctr"/>
            <a:r>
              <a:rPr lang="en-US" sz="2200" dirty="0"/>
              <a:t>in Java, each object reference is an arrow, and there are </a:t>
            </a:r>
            <a:r>
              <a:rPr lang="en-US" sz="2200" b="1" dirty="0"/>
              <a:t>no restrictions</a:t>
            </a:r>
            <a:r>
              <a:rPr lang="en-US" sz="2200" dirty="0"/>
              <a:t> on them.</a:t>
            </a:r>
            <a:endParaRPr lang="en-US" sz="2200" dirty="0">
              <a:solidFill>
                <a:srgbClr val="FF0000"/>
              </a:solidFill>
            </a:endParaRPr>
          </a:p>
        </p:txBody>
      </p:sp>
      <p:sp>
        <p:nvSpPr>
          <p:cNvPr id="21" name="TextBox 20">
            <a:extLst>
              <a:ext uri="{FF2B5EF4-FFF2-40B4-BE49-F238E27FC236}">
                <a16:creationId xmlns:a16="http://schemas.microsoft.com/office/drawing/2014/main" id="{70CDC616-FEDF-CF40-81DF-F96EFD19460A}"/>
              </a:ext>
            </a:extLst>
          </p:cNvPr>
          <p:cNvSpPr txBox="1"/>
          <p:nvPr/>
        </p:nvSpPr>
        <p:spPr>
          <a:xfrm>
            <a:off x="228600" y="2174123"/>
            <a:ext cx="3857146" cy="369332"/>
          </a:xfrm>
          <a:prstGeom prst="rect">
            <a:avLst/>
          </a:prstGeom>
          <a:noFill/>
        </p:spPr>
        <p:txBody>
          <a:bodyPr wrap="none" rtlCol="0">
            <a:spAutoFit/>
          </a:bodyPr>
          <a:lstStyle/>
          <a:p>
            <a:r>
              <a:rPr lang="en-US" sz="1800" b="1" dirty="0">
                <a:solidFill>
                  <a:srgbClr val="FF0000"/>
                </a:solidFill>
                <a:latin typeface="Consolas" panose="020B0609020204030204" pitchFamily="49" charset="0"/>
                <a:cs typeface="Consolas" panose="020B0609020204030204" pitchFamily="49" charset="0"/>
              </a:rPr>
              <a:t>class</a:t>
            </a:r>
            <a:r>
              <a:rPr lang="en-US" sz="1800" b="1" dirty="0">
                <a:latin typeface="Consolas" panose="020B0609020204030204" pitchFamily="49" charset="0"/>
                <a:cs typeface="Consolas" panose="020B0609020204030204" pitchFamily="49" charset="0"/>
              </a:rPr>
              <a:t> Node { Node[] others; }</a:t>
            </a:r>
          </a:p>
        </p:txBody>
      </p:sp>
      <p:grpSp>
        <p:nvGrpSpPr>
          <p:cNvPr id="50" name="Group 49">
            <a:extLst>
              <a:ext uri="{FF2B5EF4-FFF2-40B4-BE49-F238E27FC236}">
                <a16:creationId xmlns:a16="http://schemas.microsoft.com/office/drawing/2014/main" id="{49EAE2D3-E22C-9A4D-A13D-EE569E7A5B58}"/>
              </a:ext>
            </a:extLst>
          </p:cNvPr>
          <p:cNvGrpSpPr/>
          <p:nvPr/>
        </p:nvGrpSpPr>
        <p:grpSpPr>
          <a:xfrm>
            <a:off x="843228" y="2705100"/>
            <a:ext cx="2868274" cy="1752600"/>
            <a:chOff x="865526" y="2933700"/>
            <a:chExt cx="2868274" cy="1752600"/>
          </a:xfrm>
        </p:grpSpPr>
        <p:sp>
          <p:nvSpPr>
            <p:cNvPr id="6" name="Oval 5">
              <a:extLst>
                <a:ext uri="{FF2B5EF4-FFF2-40B4-BE49-F238E27FC236}">
                  <a16:creationId xmlns:a16="http://schemas.microsoft.com/office/drawing/2014/main" id="{04C933A9-60C7-CF44-82A8-E5476087F760}"/>
                </a:ext>
              </a:extLst>
            </p:cNvPr>
            <p:cNvSpPr/>
            <p:nvPr/>
          </p:nvSpPr>
          <p:spPr>
            <a:xfrm>
              <a:off x="1631846" y="3162300"/>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a:extLst>
                <a:ext uri="{FF2B5EF4-FFF2-40B4-BE49-F238E27FC236}">
                  <a16:creationId xmlns:a16="http://schemas.microsoft.com/office/drawing/2014/main" id="{899BF617-1F27-404E-A3C7-25DB96CB6835}"/>
                </a:ext>
              </a:extLst>
            </p:cNvPr>
            <p:cNvSpPr/>
            <p:nvPr/>
          </p:nvSpPr>
          <p:spPr>
            <a:xfrm>
              <a:off x="865526" y="4229100"/>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Oval 8">
              <a:extLst>
                <a:ext uri="{FF2B5EF4-FFF2-40B4-BE49-F238E27FC236}">
                  <a16:creationId xmlns:a16="http://schemas.microsoft.com/office/drawing/2014/main" id="{067E9FA0-33ED-0540-A166-68A0CA0B08ED}"/>
                </a:ext>
              </a:extLst>
            </p:cNvPr>
            <p:cNvSpPr/>
            <p:nvPr/>
          </p:nvSpPr>
          <p:spPr>
            <a:xfrm>
              <a:off x="2398167" y="4229100"/>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11" name="Straight Arrow Connector 10">
              <a:extLst>
                <a:ext uri="{FF2B5EF4-FFF2-40B4-BE49-F238E27FC236}">
                  <a16:creationId xmlns:a16="http://schemas.microsoft.com/office/drawing/2014/main" id="{2901E5AD-AE0C-9348-A964-B758AD4ADBDF}"/>
                </a:ext>
              </a:extLst>
            </p:cNvPr>
            <p:cNvCxnSpPr>
              <a:endCxn id="6" idx="1"/>
            </p:cNvCxnSpPr>
            <p:nvPr/>
          </p:nvCxnSpPr>
          <p:spPr>
            <a:xfrm>
              <a:off x="1170326" y="2933700"/>
              <a:ext cx="550794" cy="2955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F86BE9D-4058-8E46-8249-6F1D575C452F}"/>
                </a:ext>
              </a:extLst>
            </p:cNvPr>
            <p:cNvCxnSpPr>
              <a:cxnSpLocks/>
              <a:stCxn id="6" idx="3"/>
              <a:endCxn id="7" idx="0"/>
            </p:cNvCxnSpPr>
            <p:nvPr/>
          </p:nvCxnSpPr>
          <p:spPr>
            <a:xfrm flipH="1">
              <a:off x="1170326" y="3552545"/>
              <a:ext cx="550794" cy="6765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0D5F83B-CD75-E34F-96F3-FEA416CC6D54}"/>
                </a:ext>
              </a:extLst>
            </p:cNvPr>
            <p:cNvCxnSpPr>
              <a:cxnSpLocks/>
              <a:stCxn id="6" idx="4"/>
              <a:endCxn id="8" idx="0"/>
            </p:cNvCxnSpPr>
            <p:nvPr/>
          </p:nvCxnSpPr>
          <p:spPr>
            <a:xfrm>
              <a:off x="1936646" y="3619500"/>
              <a:ext cx="0" cy="609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924BD55-1857-314D-B54E-C6A40F71B57A}"/>
                </a:ext>
              </a:extLst>
            </p:cNvPr>
            <p:cNvCxnSpPr>
              <a:cxnSpLocks/>
              <a:stCxn id="6" idx="5"/>
              <a:endCxn id="9" idx="0"/>
            </p:cNvCxnSpPr>
            <p:nvPr/>
          </p:nvCxnSpPr>
          <p:spPr>
            <a:xfrm>
              <a:off x="2152172" y="3552545"/>
              <a:ext cx="550795" cy="6765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329FBD9-D2CD-394F-8421-B00BFB6AB9B9}"/>
                </a:ext>
              </a:extLst>
            </p:cNvPr>
            <p:cNvSpPr/>
            <p:nvPr/>
          </p:nvSpPr>
          <p:spPr>
            <a:xfrm>
              <a:off x="3124200" y="3364784"/>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23" name="Straight Arrow Connector 22">
              <a:extLst>
                <a:ext uri="{FF2B5EF4-FFF2-40B4-BE49-F238E27FC236}">
                  <a16:creationId xmlns:a16="http://schemas.microsoft.com/office/drawing/2014/main" id="{BA82132F-6C21-E348-81A7-8B7675AFFF47}"/>
                </a:ext>
              </a:extLst>
            </p:cNvPr>
            <p:cNvCxnSpPr>
              <a:cxnSpLocks/>
              <a:stCxn id="9" idx="7"/>
              <a:endCxn id="22" idx="3"/>
            </p:cNvCxnSpPr>
            <p:nvPr/>
          </p:nvCxnSpPr>
          <p:spPr>
            <a:xfrm flipV="1">
              <a:off x="2918493" y="3755029"/>
              <a:ext cx="294981" cy="541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ADDB107-CA5C-844E-8A4C-DA5BEE92B759}"/>
                </a:ext>
              </a:extLst>
            </p:cNvPr>
            <p:cNvCxnSpPr>
              <a:cxnSpLocks/>
              <a:stCxn id="22" idx="2"/>
              <a:endCxn id="6" idx="6"/>
            </p:cNvCxnSpPr>
            <p:nvPr/>
          </p:nvCxnSpPr>
          <p:spPr>
            <a:xfrm flipH="1" flipV="1">
              <a:off x="2241446" y="3390900"/>
              <a:ext cx="882754" cy="2024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4F0E92D-81ED-004D-814A-34FE219F36E5}"/>
                </a:ext>
              </a:extLst>
            </p:cNvPr>
            <p:cNvCxnSpPr>
              <a:cxnSpLocks/>
            </p:cNvCxnSpPr>
            <p:nvPr/>
          </p:nvCxnSpPr>
          <p:spPr>
            <a:xfrm flipV="1">
              <a:off x="2086190" y="3593384"/>
              <a:ext cx="0" cy="7435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4BD7C652-CAF3-1B4F-81F1-9C26AD289297}"/>
                </a:ext>
              </a:extLst>
            </p:cNvPr>
            <p:cNvSpPr/>
            <p:nvPr/>
          </p:nvSpPr>
          <p:spPr>
            <a:xfrm>
              <a:off x="1631846" y="4229100"/>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47" name="Curved Connector 46">
              <a:extLst>
                <a:ext uri="{FF2B5EF4-FFF2-40B4-BE49-F238E27FC236}">
                  <a16:creationId xmlns:a16="http://schemas.microsoft.com/office/drawing/2014/main" id="{CB1096DA-B813-9D48-9FE3-C63A62852241}"/>
                </a:ext>
              </a:extLst>
            </p:cNvPr>
            <p:cNvCxnSpPr>
              <a:cxnSpLocks/>
              <a:stCxn id="7" idx="2"/>
              <a:endCxn id="7" idx="1"/>
            </p:cNvCxnSpPr>
            <p:nvPr/>
          </p:nvCxnSpPr>
          <p:spPr>
            <a:xfrm rot="10800000" flipH="1">
              <a:off x="865526" y="4296056"/>
              <a:ext cx="89274" cy="161645"/>
            </a:xfrm>
            <a:prstGeom prst="curvedConnector4">
              <a:avLst>
                <a:gd name="adj1" fmla="val -256066"/>
                <a:gd name="adj2" fmla="val 17787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TextBox 50">
            <a:extLst>
              <a:ext uri="{FF2B5EF4-FFF2-40B4-BE49-F238E27FC236}">
                <a16:creationId xmlns:a16="http://schemas.microsoft.com/office/drawing/2014/main" id="{B6B5A9B2-373D-524A-9625-BE9F858E21C7}"/>
              </a:ext>
            </a:extLst>
          </p:cNvPr>
          <p:cNvSpPr txBox="1"/>
          <p:nvPr/>
        </p:nvSpPr>
        <p:spPr>
          <a:xfrm>
            <a:off x="4701002" y="990602"/>
            <a:ext cx="4279769" cy="1107996"/>
          </a:xfrm>
          <a:prstGeom prst="rect">
            <a:avLst/>
          </a:prstGeom>
          <a:noFill/>
        </p:spPr>
        <p:txBody>
          <a:bodyPr wrap="square" rtlCol="0">
            <a:spAutoFit/>
          </a:bodyPr>
          <a:lstStyle/>
          <a:p>
            <a:pPr algn="ctr"/>
            <a:r>
              <a:rPr lang="en-US" sz="2200" dirty="0"/>
              <a:t>in Rust, there are multiple kinds of pointers, but </a:t>
            </a:r>
            <a:r>
              <a:rPr lang="en-US" sz="2200" b="1" dirty="0">
                <a:latin typeface="Consolas" panose="020B0609020204030204" pitchFamily="49" charset="0"/>
                <a:cs typeface="Consolas" panose="020B0609020204030204" pitchFamily="49" charset="0"/>
              </a:rPr>
              <a:t>Box</a:t>
            </a:r>
            <a:r>
              <a:rPr lang="en-US" sz="2200" dirty="0"/>
              <a:t> </a:t>
            </a:r>
            <a:r>
              <a:rPr lang="en-US" sz="2200" b="1" dirty="0">
                <a:solidFill>
                  <a:srgbClr val="FF0000"/>
                </a:solidFill>
              </a:rPr>
              <a:t>cannot be used to make cycles.</a:t>
            </a:r>
            <a:endParaRPr lang="en-US" sz="2200" dirty="0">
              <a:solidFill>
                <a:srgbClr val="FF0000"/>
              </a:solidFill>
            </a:endParaRPr>
          </a:p>
        </p:txBody>
      </p:sp>
      <p:sp>
        <p:nvSpPr>
          <p:cNvPr id="52" name="TextBox 51">
            <a:extLst>
              <a:ext uri="{FF2B5EF4-FFF2-40B4-BE49-F238E27FC236}">
                <a16:creationId xmlns:a16="http://schemas.microsoft.com/office/drawing/2014/main" id="{55CBC6A1-7EE9-D147-BAF9-1A1070F75D81}"/>
              </a:ext>
            </a:extLst>
          </p:cNvPr>
          <p:cNvSpPr txBox="1"/>
          <p:nvPr/>
        </p:nvSpPr>
        <p:spPr>
          <a:xfrm>
            <a:off x="4160363" y="2174123"/>
            <a:ext cx="4996881" cy="369332"/>
          </a:xfrm>
          <a:prstGeom prst="rect">
            <a:avLst/>
          </a:prstGeom>
          <a:noFill/>
        </p:spPr>
        <p:txBody>
          <a:bodyPr wrap="none" rtlCol="0">
            <a:spAutoFit/>
          </a:bodyPr>
          <a:lstStyle/>
          <a:p>
            <a:r>
              <a:rPr lang="en-US" sz="1800" b="1" dirty="0">
                <a:solidFill>
                  <a:srgbClr val="FF0000"/>
                </a:solidFill>
                <a:latin typeface="Consolas" panose="020B0609020204030204" pitchFamily="49" charset="0"/>
                <a:cs typeface="Consolas" panose="020B0609020204030204" pitchFamily="49" charset="0"/>
              </a:rPr>
              <a:t>struct</a:t>
            </a:r>
            <a:r>
              <a:rPr lang="en-US" sz="1800" b="1" dirty="0">
                <a:latin typeface="Consolas" panose="020B0609020204030204" pitchFamily="49" charset="0"/>
                <a:cs typeface="Consolas" panose="020B0609020204030204" pitchFamily="49" charset="0"/>
              </a:rPr>
              <a:t> Node { others: </a:t>
            </a:r>
            <a:r>
              <a:rPr lang="en-US" sz="1800" b="1" dirty="0" err="1">
                <a:latin typeface="Consolas" panose="020B0609020204030204" pitchFamily="49" charset="0"/>
                <a:cs typeface="Consolas" panose="020B0609020204030204" pitchFamily="49" charset="0"/>
              </a:rPr>
              <a:t>Vec</a:t>
            </a:r>
            <a:r>
              <a:rPr lang="en-US" sz="1800" b="1" dirty="0">
                <a:latin typeface="Consolas" panose="020B0609020204030204" pitchFamily="49" charset="0"/>
                <a:cs typeface="Consolas" panose="020B0609020204030204" pitchFamily="49" charset="0"/>
              </a:rPr>
              <a:t>&lt;Box&lt;Node&gt;&gt; }</a:t>
            </a:r>
          </a:p>
        </p:txBody>
      </p:sp>
      <p:grpSp>
        <p:nvGrpSpPr>
          <p:cNvPr id="53" name="Group 52">
            <a:extLst>
              <a:ext uri="{FF2B5EF4-FFF2-40B4-BE49-F238E27FC236}">
                <a16:creationId xmlns:a16="http://schemas.microsoft.com/office/drawing/2014/main" id="{1EF0E9B0-9DFA-7C46-ACFF-550DA373F212}"/>
              </a:ext>
            </a:extLst>
          </p:cNvPr>
          <p:cNvGrpSpPr/>
          <p:nvPr/>
        </p:nvGrpSpPr>
        <p:grpSpPr>
          <a:xfrm>
            <a:off x="5544230" y="2705100"/>
            <a:ext cx="2868274" cy="1752600"/>
            <a:chOff x="865526" y="2933700"/>
            <a:chExt cx="2868274" cy="1752600"/>
          </a:xfrm>
        </p:grpSpPr>
        <p:sp>
          <p:nvSpPr>
            <p:cNvPr id="54" name="Oval 53">
              <a:extLst>
                <a:ext uri="{FF2B5EF4-FFF2-40B4-BE49-F238E27FC236}">
                  <a16:creationId xmlns:a16="http://schemas.microsoft.com/office/drawing/2014/main" id="{3634763D-0764-2245-B4F8-5DE348CD334C}"/>
                </a:ext>
              </a:extLst>
            </p:cNvPr>
            <p:cNvSpPr/>
            <p:nvPr/>
          </p:nvSpPr>
          <p:spPr>
            <a:xfrm>
              <a:off x="1631846" y="3162300"/>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5" name="Oval 54">
              <a:extLst>
                <a:ext uri="{FF2B5EF4-FFF2-40B4-BE49-F238E27FC236}">
                  <a16:creationId xmlns:a16="http://schemas.microsoft.com/office/drawing/2014/main" id="{CE393762-7B45-484E-AF41-8E00CCAB57AB}"/>
                </a:ext>
              </a:extLst>
            </p:cNvPr>
            <p:cNvSpPr/>
            <p:nvPr/>
          </p:nvSpPr>
          <p:spPr>
            <a:xfrm>
              <a:off x="865526" y="4229100"/>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6" name="Oval 55">
              <a:extLst>
                <a:ext uri="{FF2B5EF4-FFF2-40B4-BE49-F238E27FC236}">
                  <a16:creationId xmlns:a16="http://schemas.microsoft.com/office/drawing/2014/main" id="{AA868E53-A358-1949-A64B-DE7CABBA8A73}"/>
                </a:ext>
              </a:extLst>
            </p:cNvPr>
            <p:cNvSpPr/>
            <p:nvPr/>
          </p:nvSpPr>
          <p:spPr>
            <a:xfrm>
              <a:off x="2398167" y="4229100"/>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57" name="Straight Arrow Connector 56">
              <a:extLst>
                <a:ext uri="{FF2B5EF4-FFF2-40B4-BE49-F238E27FC236}">
                  <a16:creationId xmlns:a16="http://schemas.microsoft.com/office/drawing/2014/main" id="{271ED895-F184-A947-9AF7-5D3FE09FA51C}"/>
                </a:ext>
              </a:extLst>
            </p:cNvPr>
            <p:cNvCxnSpPr>
              <a:endCxn id="54" idx="1"/>
            </p:cNvCxnSpPr>
            <p:nvPr/>
          </p:nvCxnSpPr>
          <p:spPr>
            <a:xfrm>
              <a:off x="1170326" y="2933700"/>
              <a:ext cx="550794" cy="2955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5CA09E7B-B978-954E-8709-824E68005588}"/>
                </a:ext>
              </a:extLst>
            </p:cNvPr>
            <p:cNvCxnSpPr>
              <a:cxnSpLocks/>
              <a:stCxn id="54" idx="3"/>
              <a:endCxn id="55" idx="0"/>
            </p:cNvCxnSpPr>
            <p:nvPr/>
          </p:nvCxnSpPr>
          <p:spPr>
            <a:xfrm flipH="1">
              <a:off x="1170326" y="3552545"/>
              <a:ext cx="550794" cy="6765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333EB3D1-7102-8840-866C-01EC52E0450D}"/>
                </a:ext>
              </a:extLst>
            </p:cNvPr>
            <p:cNvCxnSpPr>
              <a:cxnSpLocks/>
              <a:stCxn id="54" idx="4"/>
              <a:endCxn id="65" idx="0"/>
            </p:cNvCxnSpPr>
            <p:nvPr/>
          </p:nvCxnSpPr>
          <p:spPr>
            <a:xfrm>
              <a:off x="1936646" y="3619500"/>
              <a:ext cx="0" cy="609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03E9CA6D-D7B9-6E45-823C-1A50FAF2DB93}"/>
                </a:ext>
              </a:extLst>
            </p:cNvPr>
            <p:cNvCxnSpPr>
              <a:cxnSpLocks/>
              <a:stCxn id="54" idx="5"/>
              <a:endCxn id="56" idx="0"/>
            </p:cNvCxnSpPr>
            <p:nvPr/>
          </p:nvCxnSpPr>
          <p:spPr>
            <a:xfrm>
              <a:off x="2152172" y="3552545"/>
              <a:ext cx="550795" cy="6765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A20A19CD-56A2-C84D-B23B-4118E81623A7}"/>
                </a:ext>
              </a:extLst>
            </p:cNvPr>
            <p:cNvSpPr/>
            <p:nvPr/>
          </p:nvSpPr>
          <p:spPr>
            <a:xfrm>
              <a:off x="3124200" y="3364784"/>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62" name="Straight Arrow Connector 61">
              <a:extLst>
                <a:ext uri="{FF2B5EF4-FFF2-40B4-BE49-F238E27FC236}">
                  <a16:creationId xmlns:a16="http://schemas.microsoft.com/office/drawing/2014/main" id="{6CF5CAB3-5770-134D-AF8B-8BBCA930DA1A}"/>
                </a:ext>
              </a:extLst>
            </p:cNvPr>
            <p:cNvCxnSpPr>
              <a:cxnSpLocks/>
              <a:stCxn id="56" idx="7"/>
              <a:endCxn id="61" idx="3"/>
            </p:cNvCxnSpPr>
            <p:nvPr/>
          </p:nvCxnSpPr>
          <p:spPr>
            <a:xfrm flipV="1">
              <a:off x="2918493" y="3755029"/>
              <a:ext cx="294981" cy="541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A45195E7-CEB4-4349-99F7-F4D9843F9621}"/>
                </a:ext>
              </a:extLst>
            </p:cNvPr>
            <p:cNvSpPr/>
            <p:nvPr/>
          </p:nvSpPr>
          <p:spPr>
            <a:xfrm>
              <a:off x="1631846" y="4229100"/>
              <a:ext cx="609600" cy="457200"/>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grpSp>
      <p:sp>
        <p:nvSpPr>
          <p:cNvPr id="67" name="TextBox 66">
            <a:extLst>
              <a:ext uri="{FF2B5EF4-FFF2-40B4-BE49-F238E27FC236}">
                <a16:creationId xmlns:a16="http://schemas.microsoft.com/office/drawing/2014/main" id="{B27626CB-D4DD-F34C-BBA1-871D5EF0E3EB}"/>
              </a:ext>
            </a:extLst>
          </p:cNvPr>
          <p:cNvSpPr txBox="1"/>
          <p:nvPr/>
        </p:nvSpPr>
        <p:spPr>
          <a:xfrm>
            <a:off x="901831" y="4744010"/>
            <a:ext cx="7403970" cy="769441"/>
          </a:xfrm>
          <a:prstGeom prst="rect">
            <a:avLst/>
          </a:prstGeom>
          <a:noFill/>
        </p:spPr>
        <p:txBody>
          <a:bodyPr wrap="square" rtlCol="0">
            <a:spAutoFit/>
          </a:bodyPr>
          <a:lstStyle/>
          <a:p>
            <a:pPr algn="ctr"/>
            <a:r>
              <a:rPr lang="en-US" sz="2200" dirty="0"/>
              <a:t>this "no cycles allowed" thing is a </a:t>
            </a:r>
            <a:r>
              <a:rPr lang="en-US" sz="2200" i="1" dirty="0"/>
              <a:t>central part of Rust's ownership, borrowing, and memory safety semantics.</a:t>
            </a:r>
            <a:endParaRPr lang="en-US" sz="2200" dirty="0">
              <a:solidFill>
                <a:srgbClr val="FF0000"/>
              </a:solidFill>
            </a:endParaRPr>
          </a:p>
        </p:txBody>
      </p:sp>
    </p:spTree>
    <p:extLst>
      <p:ext uri="{BB962C8B-B14F-4D97-AF65-F5344CB8AC3E}">
        <p14:creationId xmlns:p14="http://schemas.microsoft.com/office/powerpoint/2010/main" val="5045940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P spid="51" grpId="0"/>
      <p:bldP spid="52" grpId="0"/>
      <p:bldP spid="6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C5E8D-7EA8-3D4F-918B-743B51D963BF}"/>
              </a:ext>
            </a:extLst>
          </p:cNvPr>
          <p:cNvSpPr>
            <a:spLocks noGrp="1"/>
          </p:cNvSpPr>
          <p:nvPr>
            <p:ph type="title"/>
          </p:nvPr>
        </p:nvSpPr>
        <p:spPr/>
        <p:txBody>
          <a:bodyPr/>
          <a:lstStyle/>
          <a:p>
            <a:r>
              <a:rPr lang="en-US" dirty="0"/>
              <a:t>What??!? You can't have cycles in Rust?</a:t>
            </a:r>
          </a:p>
        </p:txBody>
      </p:sp>
      <p:sp>
        <p:nvSpPr>
          <p:cNvPr id="3" name="Content Placeholder 2">
            <a:extLst>
              <a:ext uri="{FF2B5EF4-FFF2-40B4-BE49-F238E27FC236}">
                <a16:creationId xmlns:a16="http://schemas.microsoft.com/office/drawing/2014/main" id="{127785C0-DC28-D14B-88BE-F2DF170B12E0}"/>
              </a:ext>
            </a:extLst>
          </p:cNvPr>
          <p:cNvSpPr>
            <a:spLocks noGrp="1"/>
          </p:cNvSpPr>
          <p:nvPr>
            <p:ph idx="1"/>
          </p:nvPr>
        </p:nvSpPr>
        <p:spPr/>
        <p:txBody>
          <a:bodyPr>
            <a:normAutofit/>
          </a:bodyPr>
          <a:lstStyle/>
          <a:p>
            <a:r>
              <a:rPr lang="en-US" dirty="0"/>
              <a:t>well, you </a:t>
            </a:r>
            <a:r>
              <a:rPr lang="en-US" i="1" dirty="0"/>
              <a:t>can, </a:t>
            </a:r>
            <a:r>
              <a:rPr lang="en-US" dirty="0"/>
              <a:t>but it's discouraged by the language and libraries.</a:t>
            </a:r>
          </a:p>
          <a:p>
            <a:pPr lvl="1"/>
            <a:r>
              <a:rPr lang="en-US" b="1" dirty="0" err="1">
                <a:latin typeface="Consolas" panose="020B0609020204030204" pitchFamily="49" charset="0"/>
                <a:cs typeface="Consolas" panose="020B0609020204030204" pitchFamily="49" charset="0"/>
              </a:rPr>
              <a:t>Rc</a:t>
            </a:r>
            <a:r>
              <a:rPr lang="en-US" b="1" dirty="0">
                <a:latin typeface="Consolas" panose="020B0609020204030204" pitchFamily="49" charset="0"/>
                <a:cs typeface="Consolas" panose="020B0609020204030204" pitchFamily="49" charset="0"/>
              </a:rPr>
              <a:t>&lt;T&gt;</a:t>
            </a:r>
            <a:r>
              <a:rPr lang="en-US" dirty="0"/>
              <a:t> is another kind of pointer that, with some care, </a:t>
            </a:r>
            <a:r>
              <a:rPr lang="en-US" i="1" dirty="0"/>
              <a:t>can</a:t>
            </a:r>
            <a:r>
              <a:rPr lang="en-US" dirty="0"/>
              <a:t> let you represent </a:t>
            </a:r>
            <a:r>
              <a:rPr lang="en-US" i="1" dirty="0"/>
              <a:t>certain</a:t>
            </a:r>
            <a:r>
              <a:rPr lang="en-US" dirty="0"/>
              <a:t> kinds of cyclical data structures.</a:t>
            </a:r>
          </a:p>
          <a:p>
            <a:r>
              <a:rPr lang="en-US" dirty="0"/>
              <a:t>it's not the Rust designer's fault that they made it harder to represent cyclical data structures.</a:t>
            </a:r>
          </a:p>
          <a:p>
            <a:pPr lvl="1"/>
            <a:r>
              <a:rPr lang="en-US" b="1" dirty="0"/>
              <a:t>it's that cyclical data structures are just weird, </a:t>
            </a:r>
            <a:r>
              <a:rPr lang="en-US" dirty="0"/>
              <a:t>and a lot of other languages don't really make that fact obvious.</a:t>
            </a:r>
          </a:p>
          <a:p>
            <a:pPr lvl="1"/>
            <a:r>
              <a:rPr lang="en-US" dirty="0"/>
              <a:t>they either hide it, or don’t give you the tools to manage it!</a:t>
            </a:r>
          </a:p>
          <a:p>
            <a:r>
              <a:rPr lang="en-US" dirty="0"/>
              <a:t>this restriction </a:t>
            </a:r>
            <a:r>
              <a:rPr lang="en-US" i="1" dirty="0"/>
              <a:t>does</a:t>
            </a:r>
            <a:r>
              <a:rPr lang="en-US" dirty="0"/>
              <a:t> give Rust some great advantages in memory safety and multithreaded code correctness!</a:t>
            </a:r>
          </a:p>
          <a:p>
            <a:pPr lvl="1"/>
            <a:r>
              <a:rPr lang="en-US" dirty="0"/>
              <a:t>which is kind of Rust's whole </a:t>
            </a:r>
            <a:r>
              <a:rPr lang="en-US" i="1" dirty="0"/>
              <a:t>deal</a:t>
            </a:r>
          </a:p>
          <a:p>
            <a:r>
              <a:rPr lang="en-US" dirty="0"/>
              <a:t>but</a:t>
            </a:r>
            <a:r>
              <a:rPr lang="en-US" i="1" dirty="0"/>
              <a:t> </a:t>
            </a:r>
            <a:r>
              <a:rPr lang="en-US" dirty="0"/>
              <a:t>it does mean you have to stretch your mind a little.</a:t>
            </a:r>
          </a:p>
          <a:p>
            <a:pPr lvl="1"/>
            <a:r>
              <a:rPr lang="en-US" dirty="0"/>
              <a:t>and interestingly, many of the solutions around this restriction end up being faster </a:t>
            </a:r>
            <a:r>
              <a:rPr lang="en-US" i="1" dirty="0"/>
              <a:t>and</a:t>
            </a:r>
            <a:r>
              <a:rPr lang="en-US" dirty="0"/>
              <a:t> easier to reason about.</a:t>
            </a:r>
          </a:p>
        </p:txBody>
      </p:sp>
      <p:sp>
        <p:nvSpPr>
          <p:cNvPr id="4" name="Slide Number Placeholder 3">
            <a:extLst>
              <a:ext uri="{FF2B5EF4-FFF2-40B4-BE49-F238E27FC236}">
                <a16:creationId xmlns:a16="http://schemas.microsoft.com/office/drawing/2014/main" id="{60AFC631-F856-854E-9983-DF4E7D178807}"/>
              </a:ext>
            </a:extLst>
          </p:cNvPr>
          <p:cNvSpPr>
            <a:spLocks noGrp="1"/>
          </p:cNvSpPr>
          <p:nvPr>
            <p:ph type="sldNum" sz="quarter" idx="12"/>
          </p:nvPr>
        </p:nvSpPr>
        <p:spPr/>
        <p:txBody>
          <a:bodyPr/>
          <a:lstStyle/>
          <a:p>
            <a:fld id="{3552B95B-556F-44BD-91A5-D80C1B9E2BB3}" type="slidenum">
              <a:rPr lang="en-US" smtClean="0"/>
              <a:pPr/>
              <a:t>23</a:t>
            </a:fld>
            <a:endParaRPr lang="en-US"/>
          </a:p>
        </p:txBody>
      </p:sp>
    </p:spTree>
    <p:extLst>
      <p:ext uri="{BB962C8B-B14F-4D97-AF65-F5344CB8AC3E}">
        <p14:creationId xmlns:p14="http://schemas.microsoft.com/office/powerpoint/2010/main" val="285483878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75EC9-FA78-7E43-B875-07A711A71D75}"/>
              </a:ext>
            </a:extLst>
          </p:cNvPr>
          <p:cNvSpPr>
            <a:spLocks noGrp="1"/>
          </p:cNvSpPr>
          <p:nvPr>
            <p:ph type="ctrTitle"/>
          </p:nvPr>
        </p:nvSpPr>
        <p:spPr/>
        <p:txBody>
          <a:bodyPr/>
          <a:lstStyle/>
          <a:p>
            <a:r>
              <a:rPr lang="en-US" dirty="0"/>
              <a:t>Implementation Details</a:t>
            </a:r>
          </a:p>
        </p:txBody>
      </p:sp>
      <p:sp>
        <p:nvSpPr>
          <p:cNvPr id="4" name="Subtitle 3">
            <a:extLst>
              <a:ext uri="{FF2B5EF4-FFF2-40B4-BE49-F238E27FC236}">
                <a16:creationId xmlns:a16="http://schemas.microsoft.com/office/drawing/2014/main" id="{A218515B-B786-5847-8405-E14C74FB0A26}"/>
              </a:ext>
            </a:extLst>
          </p:cNvPr>
          <p:cNvSpPr>
            <a:spLocks noGrp="1"/>
          </p:cNvSpPr>
          <p:nvPr>
            <p:ph type="subTitle" idx="1"/>
          </p:nvPr>
        </p:nvSpPr>
        <p:spPr/>
        <p:txBody>
          <a:bodyPr/>
          <a:lstStyle/>
          <a:p>
            <a:pPr lvl="0"/>
            <a:r>
              <a:rPr lang="en-US" sz="1200" dirty="0">
                <a:solidFill>
                  <a:srgbClr val="FFFFFF"/>
                </a:solidFill>
              </a:rPr>
              <a:t>time check ≤ 85</a:t>
            </a:r>
          </a:p>
          <a:p>
            <a:endParaRPr lang="en-US" dirty="0"/>
          </a:p>
        </p:txBody>
      </p:sp>
      <p:sp>
        <p:nvSpPr>
          <p:cNvPr id="3" name="Slide Number Placeholder 2">
            <a:extLst>
              <a:ext uri="{FF2B5EF4-FFF2-40B4-BE49-F238E27FC236}">
                <a16:creationId xmlns:a16="http://schemas.microsoft.com/office/drawing/2014/main" id="{063671A1-D959-4D4E-8B23-B38634EA226F}"/>
              </a:ext>
            </a:extLst>
          </p:cNvPr>
          <p:cNvSpPr>
            <a:spLocks noGrp="1"/>
          </p:cNvSpPr>
          <p:nvPr>
            <p:ph type="sldNum" sz="quarter" idx="12"/>
          </p:nvPr>
        </p:nvSpPr>
        <p:spPr/>
        <p:txBody>
          <a:bodyPr/>
          <a:lstStyle/>
          <a:p>
            <a:fld id="{3552B95B-556F-44BD-91A5-D80C1B9E2BB3}" type="slidenum">
              <a:rPr lang="en-US" smtClean="0"/>
              <a:pPr/>
              <a:t>24</a:t>
            </a:fld>
            <a:endParaRPr lang="en-US"/>
          </a:p>
        </p:txBody>
      </p:sp>
    </p:spTree>
    <p:extLst>
      <p:ext uri="{BB962C8B-B14F-4D97-AF65-F5344CB8AC3E}">
        <p14:creationId xmlns:p14="http://schemas.microsoft.com/office/powerpoint/2010/main" val="349697988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1594-D9B4-1947-8BD4-D88FAB74D494}"/>
              </a:ext>
            </a:extLst>
          </p:cNvPr>
          <p:cNvSpPr>
            <a:spLocks noGrp="1"/>
          </p:cNvSpPr>
          <p:nvPr>
            <p:ph type="title"/>
          </p:nvPr>
        </p:nvSpPr>
        <p:spPr/>
        <p:txBody>
          <a:bodyPr/>
          <a:lstStyle/>
          <a:p>
            <a:r>
              <a:rPr lang="en-US" dirty="0"/>
              <a:t>Well Actually</a:t>
            </a:r>
          </a:p>
        </p:txBody>
      </p:sp>
      <p:sp>
        <p:nvSpPr>
          <p:cNvPr id="3" name="Content Placeholder 2">
            <a:extLst>
              <a:ext uri="{FF2B5EF4-FFF2-40B4-BE49-F238E27FC236}">
                <a16:creationId xmlns:a16="http://schemas.microsoft.com/office/drawing/2014/main" id="{DB6391FF-18C5-CA4C-B4EF-111AF9942A40}"/>
              </a:ext>
            </a:extLst>
          </p:cNvPr>
          <p:cNvSpPr>
            <a:spLocks noGrp="1"/>
          </p:cNvSpPr>
          <p:nvPr>
            <p:ph idx="1"/>
          </p:nvPr>
        </p:nvSpPr>
        <p:spPr>
          <a:xfrm>
            <a:off x="152400" y="495302"/>
            <a:ext cx="8991600" cy="495300"/>
          </a:xfrm>
        </p:spPr>
        <p:txBody>
          <a:bodyPr/>
          <a:lstStyle/>
          <a:p>
            <a:r>
              <a:rPr lang="en-US" i="1" dirty="0"/>
              <a:t>in practice, </a:t>
            </a:r>
            <a:r>
              <a:rPr lang="en-US" dirty="0"/>
              <a:t>it’s a good idea to represent </a:t>
            </a:r>
            <a:r>
              <a:rPr lang="en-US" b="1" dirty="0"/>
              <a:t>symbols </a:t>
            </a:r>
            <a:r>
              <a:rPr lang="en-US" dirty="0"/>
              <a:t>as objects.</a:t>
            </a:r>
          </a:p>
        </p:txBody>
      </p:sp>
      <p:sp>
        <p:nvSpPr>
          <p:cNvPr id="4" name="Slide Number Placeholder 3">
            <a:extLst>
              <a:ext uri="{FF2B5EF4-FFF2-40B4-BE49-F238E27FC236}">
                <a16:creationId xmlns:a16="http://schemas.microsoft.com/office/drawing/2014/main" id="{6303CD96-3DAB-ED4C-B523-F5532E2B7C9C}"/>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TextBox 4">
            <a:extLst>
              <a:ext uri="{FF2B5EF4-FFF2-40B4-BE49-F238E27FC236}">
                <a16:creationId xmlns:a16="http://schemas.microsoft.com/office/drawing/2014/main" id="{BCC452A2-9F82-7F41-9CE0-E7F68251B765}"/>
              </a:ext>
            </a:extLst>
          </p:cNvPr>
          <p:cNvSpPr txBox="1"/>
          <p:nvPr/>
        </p:nvSpPr>
        <p:spPr>
          <a:xfrm>
            <a:off x="304800" y="952500"/>
            <a:ext cx="3993401" cy="2862322"/>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class</a:t>
            </a:r>
            <a:r>
              <a:rPr lang="en-US" sz="2000" b="1" dirty="0">
                <a:latin typeface="Consolas" panose="020B0609020204030204" pitchFamily="49" charset="0"/>
                <a:cs typeface="Consolas" panose="020B0609020204030204" pitchFamily="49" charset="0"/>
              </a:rPr>
              <a:t> A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static</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static</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void</a:t>
            </a:r>
            <a:r>
              <a:rPr lang="en-US" sz="2000" b="1" dirty="0">
                <a:latin typeface="Consolas" panose="020B0609020204030204" pitchFamily="49" charset="0"/>
                <a:cs typeface="Consolas" panose="020B0609020204030204" pitchFamily="49" charset="0"/>
              </a:rPr>
              <a:t> main() { </a:t>
            </a:r>
          </a:p>
          <a:p>
            <a:r>
              <a:rPr lang="en-US" sz="2000" b="1" dirty="0">
                <a:latin typeface="Consolas" panose="020B0609020204030204" pitchFamily="49" charset="0"/>
                <a:cs typeface="Consolas" panose="020B0609020204030204" pitchFamily="49" charset="0"/>
              </a:rPr>
              <a:t>    foo(x);</a:t>
            </a:r>
          </a:p>
          <a:p>
            <a:r>
              <a:rPr lang="en-US" sz="2000" b="1" dirty="0">
                <a:latin typeface="Consolas" panose="020B0609020204030204" pitchFamily="49" charset="0"/>
                <a:cs typeface="Consolas" panose="020B0609020204030204" pitchFamily="49" charset="0"/>
              </a:rPr>
              <a:t>  }</a:t>
            </a:r>
          </a:p>
          <a:p>
            <a:r>
              <a:rPr lang="en-US" sz="2000" b="1" dirty="0">
                <a:solidFill>
                  <a:srgbClr val="FF0000"/>
                </a:solidFill>
                <a:latin typeface="Consolas" panose="020B0609020204030204" pitchFamily="49" charset="0"/>
                <a:cs typeface="Consolas" panose="020B0609020204030204" pitchFamily="49" charset="0"/>
              </a:rPr>
              <a:t>  static</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void</a:t>
            </a:r>
            <a:r>
              <a:rPr lang="en-US" sz="2000" b="1" dirty="0">
                <a:latin typeface="Consolas" panose="020B0609020204030204" pitchFamily="49" charset="0"/>
                <a:cs typeface="Consolas" panose="020B0609020204030204" pitchFamily="49" charset="0"/>
              </a:rPr>
              <a:t> foo(</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y) { </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S.o.println</a:t>
            </a:r>
            <a:r>
              <a:rPr lang="en-US" sz="2000" b="1" dirty="0">
                <a:latin typeface="Consolas" panose="020B0609020204030204" pitchFamily="49" charset="0"/>
                <a:cs typeface="Consolas" panose="020B0609020204030204" pitchFamily="49" charset="0"/>
              </a:rPr>
              <a:t>(y);</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a:t>
            </a:r>
          </a:p>
        </p:txBody>
      </p:sp>
      <p:graphicFrame>
        <p:nvGraphicFramePr>
          <p:cNvPr id="6" name="Table 5">
            <a:extLst>
              <a:ext uri="{FF2B5EF4-FFF2-40B4-BE49-F238E27FC236}">
                <a16:creationId xmlns:a16="http://schemas.microsoft.com/office/drawing/2014/main" id="{77B48E1F-F1A3-BE46-B371-1D399506F229}"/>
              </a:ext>
            </a:extLst>
          </p:cNvPr>
          <p:cNvGraphicFramePr>
            <a:graphicFrameLocks noGrp="1"/>
          </p:cNvGraphicFramePr>
          <p:nvPr>
            <p:extLst>
              <p:ext uri="{D42A27DB-BD31-4B8C-83A1-F6EECF244321}">
                <p14:modId xmlns:p14="http://schemas.microsoft.com/office/powerpoint/2010/main" val="950549696"/>
              </p:ext>
            </p:extLst>
          </p:nvPr>
        </p:nvGraphicFramePr>
        <p:xfrm>
          <a:off x="4419600" y="1085721"/>
          <a:ext cx="4323561" cy="2595880"/>
        </p:xfrm>
        <a:graphic>
          <a:graphicData uri="http://schemas.openxmlformats.org/drawingml/2006/table">
            <a:tbl>
              <a:tblPr firstRow="1" bandRow="1">
                <a:tableStyleId>{93296810-A885-4BE3-A3E7-6D5BEEA58F35}</a:tableStyleId>
              </a:tblPr>
              <a:tblGrid>
                <a:gridCol w="457517">
                  <a:extLst>
                    <a:ext uri="{9D8B030D-6E8A-4147-A177-3AD203B41FA5}">
                      <a16:colId xmlns:a16="http://schemas.microsoft.com/office/drawing/2014/main" val="1556919620"/>
                    </a:ext>
                  </a:extLst>
                </a:gridCol>
                <a:gridCol w="621030">
                  <a:extLst>
                    <a:ext uri="{9D8B030D-6E8A-4147-A177-3AD203B41FA5}">
                      <a16:colId xmlns:a16="http://schemas.microsoft.com/office/drawing/2014/main" val="3337377263"/>
                    </a:ext>
                  </a:extLst>
                </a:gridCol>
                <a:gridCol w="817880">
                  <a:extLst>
                    <a:ext uri="{9D8B030D-6E8A-4147-A177-3AD203B41FA5}">
                      <a16:colId xmlns:a16="http://schemas.microsoft.com/office/drawing/2014/main" val="3449113917"/>
                    </a:ext>
                  </a:extLst>
                </a:gridCol>
                <a:gridCol w="813118">
                  <a:extLst>
                    <a:ext uri="{9D8B030D-6E8A-4147-A177-3AD203B41FA5}">
                      <a16:colId xmlns:a16="http://schemas.microsoft.com/office/drawing/2014/main" val="929029081"/>
                    </a:ext>
                  </a:extLst>
                </a:gridCol>
                <a:gridCol w="1165543">
                  <a:extLst>
                    <a:ext uri="{9D8B030D-6E8A-4147-A177-3AD203B41FA5}">
                      <a16:colId xmlns:a16="http://schemas.microsoft.com/office/drawing/2014/main" val="562557027"/>
                    </a:ext>
                  </a:extLst>
                </a:gridCol>
                <a:gridCol w="448473">
                  <a:extLst>
                    <a:ext uri="{9D8B030D-6E8A-4147-A177-3AD203B41FA5}">
                      <a16:colId xmlns:a16="http://schemas.microsoft.com/office/drawing/2014/main" val="2000846430"/>
                    </a:ext>
                  </a:extLst>
                </a:gridCol>
              </a:tblGrid>
              <a:tr h="370840">
                <a:tc>
                  <a:txBody>
                    <a:bodyPr/>
                    <a:lstStyle/>
                    <a:p>
                      <a:pPr algn="ctr"/>
                      <a:r>
                        <a:rPr lang="en-US" dirty="0"/>
                        <a:t>ID</a:t>
                      </a:r>
                    </a:p>
                  </a:txBody>
                  <a:tcPr/>
                </a:tc>
                <a:tc>
                  <a:txBody>
                    <a:bodyPr/>
                    <a:lstStyle/>
                    <a:p>
                      <a:pPr algn="ctr"/>
                      <a:r>
                        <a:rPr lang="en-US" dirty="0"/>
                        <a:t>AST</a:t>
                      </a:r>
                    </a:p>
                  </a:txBody>
                  <a:tcPr/>
                </a:tc>
                <a:tc>
                  <a:txBody>
                    <a:bodyPr/>
                    <a:lstStyle/>
                    <a:p>
                      <a:pPr algn="ctr"/>
                      <a:r>
                        <a:rPr lang="en-US" dirty="0"/>
                        <a:t>Scope</a:t>
                      </a:r>
                    </a:p>
                  </a:txBody>
                  <a:tcPr/>
                </a:tc>
                <a:tc>
                  <a:txBody>
                    <a:bodyPr/>
                    <a:lstStyle/>
                    <a:p>
                      <a:r>
                        <a:rPr lang="en-US" dirty="0"/>
                        <a:t>Name</a:t>
                      </a:r>
                    </a:p>
                  </a:txBody>
                  <a:tcPr/>
                </a:tc>
                <a:tc>
                  <a:txBody>
                    <a:bodyPr/>
                    <a:lstStyle/>
                    <a:p>
                      <a:r>
                        <a:rPr lang="en-US" dirty="0"/>
                        <a:t>Kind</a:t>
                      </a:r>
                    </a:p>
                  </a:txBody>
                  <a:tcPr/>
                </a:tc>
                <a:tc>
                  <a:txBody>
                    <a:bodyPr/>
                    <a:lstStyle/>
                    <a:p>
                      <a:pPr algn="ctr"/>
                      <a:r>
                        <a:rPr lang="en-US" dirty="0"/>
                        <a:t>…</a:t>
                      </a:r>
                    </a:p>
                  </a:txBody>
                  <a:tcPr/>
                </a:tc>
                <a:extLst>
                  <a:ext uri="{0D108BD9-81ED-4DB2-BD59-A6C34878D82A}">
                    <a16:rowId xmlns:a16="http://schemas.microsoft.com/office/drawing/2014/main" val="4210314016"/>
                  </a:ext>
                </a:extLst>
              </a:tr>
              <a:tr h="370840">
                <a:tc>
                  <a:txBody>
                    <a:bodyPr/>
                    <a:lstStyle/>
                    <a:p>
                      <a:pPr algn="ctr"/>
                      <a:r>
                        <a:rPr lang="en-US" dirty="0"/>
                        <a:t>1</a:t>
                      </a:r>
                    </a:p>
                  </a:txBody>
                  <a:tcPr/>
                </a:tc>
                <a:tc>
                  <a:txBody>
                    <a:bodyPr/>
                    <a:lstStyle/>
                    <a:p>
                      <a:pPr algn="ctr"/>
                      <a:r>
                        <a:rPr lang="en-US" dirty="0"/>
                        <a:t>3</a:t>
                      </a:r>
                    </a:p>
                  </a:txBody>
                  <a:tcPr/>
                </a:tc>
                <a:tc>
                  <a:txBody>
                    <a:bodyPr/>
                    <a:lstStyle/>
                    <a:p>
                      <a:pPr algn="ctr"/>
                      <a:r>
                        <a:rPr lang="en-US" dirty="0"/>
                        <a:t>0</a:t>
                      </a:r>
                    </a:p>
                  </a:txBody>
                  <a:tcPr/>
                </a:tc>
                <a:tc>
                  <a:txBody>
                    <a:bodyPr/>
                    <a:lstStyle/>
                    <a:p>
                      <a:r>
                        <a:rPr lang="en-US" dirty="0">
                          <a:latin typeface="Consolas" panose="020B0609020204030204" pitchFamily="49" charset="0"/>
                          <a:cs typeface="Consolas" panose="020B0609020204030204" pitchFamily="49" charset="0"/>
                        </a:rPr>
                        <a:t>A</a:t>
                      </a:r>
                    </a:p>
                  </a:txBody>
                  <a:tcPr/>
                </a:tc>
                <a:tc>
                  <a:txBody>
                    <a:bodyPr/>
                    <a:lstStyle/>
                    <a:p>
                      <a:r>
                        <a:rPr lang="en-US" dirty="0"/>
                        <a:t>class</a:t>
                      </a:r>
                    </a:p>
                  </a:txBody>
                  <a:tcPr/>
                </a:tc>
                <a:tc>
                  <a:txBody>
                    <a:bodyPr/>
                    <a:lstStyle/>
                    <a:p>
                      <a:pPr algn="ctr"/>
                      <a:r>
                        <a:rPr lang="en-US" dirty="0"/>
                        <a:t>…</a:t>
                      </a:r>
                    </a:p>
                  </a:txBody>
                  <a:tcPr/>
                </a:tc>
                <a:extLst>
                  <a:ext uri="{0D108BD9-81ED-4DB2-BD59-A6C34878D82A}">
                    <a16:rowId xmlns:a16="http://schemas.microsoft.com/office/drawing/2014/main" val="2587184490"/>
                  </a:ext>
                </a:extLst>
              </a:tr>
              <a:tr h="370840">
                <a:tc>
                  <a:txBody>
                    <a:bodyPr/>
                    <a:lstStyle/>
                    <a:p>
                      <a:pPr algn="ctr"/>
                      <a:r>
                        <a:rPr lang="en-US" dirty="0"/>
                        <a:t>2</a:t>
                      </a:r>
                    </a:p>
                  </a:txBody>
                  <a:tcPr/>
                </a:tc>
                <a:tc>
                  <a:txBody>
                    <a:bodyPr/>
                    <a:lstStyle/>
                    <a:p>
                      <a:pPr algn="ctr"/>
                      <a:r>
                        <a:rPr lang="en-US" dirty="0"/>
                        <a:t>7</a:t>
                      </a:r>
                    </a:p>
                  </a:txBody>
                  <a:tcPr/>
                </a:tc>
                <a:tc>
                  <a:txBody>
                    <a:bodyPr/>
                    <a:lstStyle/>
                    <a:p>
                      <a:pPr algn="ctr"/>
                      <a:r>
                        <a:rPr lang="en-US" dirty="0"/>
                        <a:t>1</a:t>
                      </a:r>
                    </a:p>
                  </a:txBody>
                  <a:tcPr/>
                </a:tc>
                <a:tc>
                  <a:txBody>
                    <a:bodyPr/>
                    <a:lstStyle/>
                    <a:p>
                      <a:r>
                        <a:rPr lang="en-US" dirty="0">
                          <a:latin typeface="Consolas" panose="020B0609020204030204" pitchFamily="49" charset="0"/>
                          <a:cs typeface="Consolas" panose="020B0609020204030204" pitchFamily="49" charset="0"/>
                        </a:rPr>
                        <a:t>x</a:t>
                      </a:r>
                    </a:p>
                  </a:txBody>
                  <a:tcPr/>
                </a:tc>
                <a:tc>
                  <a:txBody>
                    <a:bodyPr/>
                    <a:lstStyle/>
                    <a:p>
                      <a:r>
                        <a:rPr lang="en-US" dirty="0"/>
                        <a:t>static </a:t>
                      </a:r>
                      <a:r>
                        <a:rPr lang="en-US" dirty="0" err="1"/>
                        <a:t>var</a:t>
                      </a:r>
                      <a:endParaRPr lang="en-US" dirty="0"/>
                    </a:p>
                  </a:txBody>
                  <a:tcPr/>
                </a:tc>
                <a:tc>
                  <a:txBody>
                    <a:bodyPr/>
                    <a:lstStyle/>
                    <a:p>
                      <a:pPr algn="ctr"/>
                      <a:r>
                        <a:rPr lang="en-US" dirty="0"/>
                        <a:t>…</a:t>
                      </a:r>
                    </a:p>
                  </a:txBody>
                  <a:tcPr/>
                </a:tc>
                <a:extLst>
                  <a:ext uri="{0D108BD9-81ED-4DB2-BD59-A6C34878D82A}">
                    <a16:rowId xmlns:a16="http://schemas.microsoft.com/office/drawing/2014/main" val="1424729390"/>
                  </a:ext>
                </a:extLst>
              </a:tr>
              <a:tr h="370840">
                <a:tc>
                  <a:txBody>
                    <a:bodyPr/>
                    <a:lstStyle/>
                    <a:p>
                      <a:pPr algn="ctr"/>
                      <a:r>
                        <a:rPr lang="en-US" dirty="0"/>
                        <a:t>3</a:t>
                      </a:r>
                    </a:p>
                  </a:txBody>
                  <a:tcPr/>
                </a:tc>
                <a:tc>
                  <a:txBody>
                    <a:bodyPr/>
                    <a:lstStyle/>
                    <a:p>
                      <a:pPr algn="ctr"/>
                      <a:r>
                        <a:rPr lang="en-US" dirty="0"/>
                        <a:t>12</a:t>
                      </a:r>
                    </a:p>
                  </a:txBody>
                  <a:tcPr/>
                </a:tc>
                <a:tc>
                  <a:txBody>
                    <a:bodyPr/>
                    <a:lstStyle/>
                    <a:p>
                      <a:pPr algn="ctr"/>
                      <a:r>
                        <a:rPr lang="en-US" dirty="0"/>
                        <a:t>1</a:t>
                      </a:r>
                    </a:p>
                  </a:txBody>
                  <a:tcPr/>
                </a:tc>
                <a:tc>
                  <a:txBody>
                    <a:bodyPr/>
                    <a:lstStyle/>
                    <a:p>
                      <a:r>
                        <a:rPr lang="en-US" dirty="0">
                          <a:latin typeface="Consolas" panose="020B0609020204030204" pitchFamily="49" charset="0"/>
                          <a:cs typeface="Consolas" panose="020B0609020204030204" pitchFamily="49" charset="0"/>
                        </a:rPr>
                        <a:t>main</a:t>
                      </a:r>
                    </a:p>
                  </a:txBody>
                  <a:tcPr/>
                </a:tc>
                <a:tc>
                  <a:txBody>
                    <a:bodyPr/>
                    <a:lstStyle/>
                    <a:p>
                      <a:r>
                        <a:rPr lang="en-US" dirty="0"/>
                        <a:t>static </a:t>
                      </a:r>
                      <a:r>
                        <a:rPr lang="en-US" dirty="0" err="1"/>
                        <a:t>func</a:t>
                      </a:r>
                      <a:endParaRPr lang="en-US" dirty="0"/>
                    </a:p>
                  </a:txBody>
                  <a:tcPr/>
                </a:tc>
                <a:tc>
                  <a:txBody>
                    <a:bodyPr/>
                    <a:lstStyle/>
                    <a:p>
                      <a:pPr algn="ctr"/>
                      <a:r>
                        <a:rPr lang="en-US" dirty="0"/>
                        <a:t>…</a:t>
                      </a:r>
                    </a:p>
                  </a:txBody>
                  <a:tcPr/>
                </a:tc>
                <a:extLst>
                  <a:ext uri="{0D108BD9-81ED-4DB2-BD59-A6C34878D82A}">
                    <a16:rowId xmlns:a16="http://schemas.microsoft.com/office/drawing/2014/main" val="4160670569"/>
                  </a:ext>
                </a:extLst>
              </a:tr>
              <a:tr h="370840">
                <a:tc>
                  <a:txBody>
                    <a:bodyPr/>
                    <a:lstStyle/>
                    <a:p>
                      <a:pPr algn="ctr"/>
                      <a:r>
                        <a:rPr lang="en-US" dirty="0"/>
                        <a:t>4</a:t>
                      </a:r>
                    </a:p>
                  </a:txBody>
                  <a:tcPr/>
                </a:tc>
                <a:tc>
                  <a:txBody>
                    <a:bodyPr/>
                    <a:lstStyle/>
                    <a:p>
                      <a:pPr algn="ctr"/>
                      <a:r>
                        <a:rPr lang="en-US" dirty="0"/>
                        <a:t>22</a:t>
                      </a:r>
                    </a:p>
                  </a:txBody>
                  <a:tcPr/>
                </a:tc>
                <a:tc>
                  <a:txBody>
                    <a:bodyPr/>
                    <a:lstStyle/>
                    <a:p>
                      <a:pPr algn="ctr"/>
                      <a:r>
                        <a:rPr lang="en-US" dirty="0"/>
                        <a:t>1</a:t>
                      </a:r>
                    </a:p>
                  </a:txBody>
                  <a:tcPr/>
                </a:tc>
                <a:tc>
                  <a:txBody>
                    <a:bodyPr/>
                    <a:lstStyle/>
                    <a:p>
                      <a:r>
                        <a:rPr lang="en-US" dirty="0">
                          <a:latin typeface="Consolas" panose="020B0609020204030204" pitchFamily="49" charset="0"/>
                          <a:cs typeface="Consolas" panose="020B0609020204030204" pitchFamily="49" charset="0"/>
                        </a:rPr>
                        <a:t>foo</a:t>
                      </a:r>
                    </a:p>
                  </a:txBody>
                  <a:tcPr/>
                </a:tc>
                <a:tc>
                  <a:txBody>
                    <a:bodyPr/>
                    <a:lstStyle/>
                    <a:p>
                      <a:r>
                        <a:rPr lang="en-US" dirty="0"/>
                        <a:t>static </a:t>
                      </a:r>
                      <a:r>
                        <a:rPr lang="en-US" dirty="0" err="1"/>
                        <a:t>func</a:t>
                      </a:r>
                      <a:endParaRPr lang="en-US" dirty="0"/>
                    </a:p>
                  </a:txBody>
                  <a:tcPr/>
                </a:tc>
                <a:tc>
                  <a:txBody>
                    <a:bodyPr/>
                    <a:lstStyle/>
                    <a:p>
                      <a:pPr algn="ctr"/>
                      <a:r>
                        <a:rPr lang="en-US" dirty="0"/>
                        <a:t>...</a:t>
                      </a:r>
                    </a:p>
                  </a:txBody>
                  <a:tcPr/>
                </a:tc>
                <a:extLst>
                  <a:ext uri="{0D108BD9-81ED-4DB2-BD59-A6C34878D82A}">
                    <a16:rowId xmlns:a16="http://schemas.microsoft.com/office/drawing/2014/main" val="3228564968"/>
                  </a:ext>
                </a:extLst>
              </a:tr>
              <a:tr h="370840">
                <a:tc>
                  <a:txBody>
                    <a:bodyPr/>
                    <a:lstStyle/>
                    <a:p>
                      <a:pPr algn="ctr"/>
                      <a:r>
                        <a:rPr lang="en-US" dirty="0"/>
                        <a:t>5</a:t>
                      </a:r>
                    </a:p>
                  </a:txBody>
                  <a:tcPr/>
                </a:tc>
                <a:tc>
                  <a:txBody>
                    <a:bodyPr/>
                    <a:lstStyle/>
                    <a:p>
                      <a:pPr algn="ctr"/>
                      <a:r>
                        <a:rPr lang="en-US" dirty="0"/>
                        <a:t>24</a:t>
                      </a:r>
                    </a:p>
                  </a:txBody>
                  <a:tcPr/>
                </a:tc>
                <a:tc>
                  <a:txBody>
                    <a:bodyPr/>
                    <a:lstStyle/>
                    <a:p>
                      <a:pPr algn="ctr"/>
                      <a:r>
                        <a:rPr lang="en-US" dirty="0"/>
                        <a:t>3</a:t>
                      </a:r>
                    </a:p>
                  </a:txBody>
                  <a:tcPr/>
                </a:tc>
                <a:tc>
                  <a:txBody>
                    <a:bodyPr/>
                    <a:lstStyle/>
                    <a:p>
                      <a:r>
                        <a:rPr lang="en-US" dirty="0">
                          <a:latin typeface="Consolas" panose="020B0609020204030204" pitchFamily="49" charset="0"/>
                          <a:cs typeface="Consolas" panose="020B0609020204030204" pitchFamily="49" charset="0"/>
                        </a:rPr>
                        <a:t>y</a:t>
                      </a:r>
                    </a:p>
                  </a:txBody>
                  <a:tcPr/>
                </a:tc>
                <a:tc>
                  <a:txBody>
                    <a:bodyPr/>
                    <a:lstStyle/>
                    <a:p>
                      <a:r>
                        <a:rPr lang="en-US" dirty="0"/>
                        <a:t>local </a:t>
                      </a:r>
                      <a:r>
                        <a:rPr lang="en-US" dirty="0" err="1"/>
                        <a:t>var</a:t>
                      </a:r>
                      <a:endParaRPr lang="en-US" dirty="0"/>
                    </a:p>
                  </a:txBody>
                  <a:tcPr/>
                </a:tc>
                <a:tc>
                  <a:txBody>
                    <a:bodyPr/>
                    <a:lstStyle/>
                    <a:p>
                      <a:pPr algn="ctr"/>
                      <a:r>
                        <a:rPr lang="en-US" dirty="0"/>
                        <a:t>…</a:t>
                      </a:r>
                    </a:p>
                  </a:txBody>
                  <a:tcPr/>
                </a:tc>
                <a:extLst>
                  <a:ext uri="{0D108BD9-81ED-4DB2-BD59-A6C34878D82A}">
                    <a16:rowId xmlns:a16="http://schemas.microsoft.com/office/drawing/2014/main" val="3004364514"/>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tc>
                  <a:txBody>
                    <a:bodyPr/>
                    <a:lstStyle/>
                    <a:p>
                      <a:r>
                        <a:rPr lang="en-US" dirty="0"/>
                        <a:t>…</a:t>
                      </a:r>
                    </a:p>
                  </a:txBody>
                  <a:tcPr/>
                </a:tc>
                <a:tc>
                  <a:txBody>
                    <a:bodyPr/>
                    <a:lstStyle/>
                    <a:p>
                      <a:r>
                        <a:rPr lang="en-US" dirty="0"/>
                        <a:t>…</a:t>
                      </a:r>
                    </a:p>
                  </a:txBody>
                  <a:tcPr/>
                </a:tc>
                <a:tc>
                  <a:txBody>
                    <a:bodyPr/>
                    <a:lstStyle/>
                    <a:p>
                      <a:pPr algn="ctr"/>
                      <a:r>
                        <a:rPr lang="en-US" dirty="0"/>
                        <a:t>…</a:t>
                      </a:r>
                    </a:p>
                  </a:txBody>
                  <a:tcPr/>
                </a:tc>
                <a:extLst>
                  <a:ext uri="{0D108BD9-81ED-4DB2-BD59-A6C34878D82A}">
                    <a16:rowId xmlns:a16="http://schemas.microsoft.com/office/drawing/2014/main" val="4124770315"/>
                  </a:ext>
                </a:extLst>
              </a:tr>
            </a:tbl>
          </a:graphicData>
        </a:graphic>
      </p:graphicFrame>
      <p:sp>
        <p:nvSpPr>
          <p:cNvPr id="7" name="TextBox 6">
            <a:extLst>
              <a:ext uri="{FF2B5EF4-FFF2-40B4-BE49-F238E27FC236}">
                <a16:creationId xmlns:a16="http://schemas.microsoft.com/office/drawing/2014/main" id="{9C48639C-9BEC-1645-ADAC-46E3C61617C6}"/>
              </a:ext>
            </a:extLst>
          </p:cNvPr>
          <p:cNvSpPr txBox="1"/>
          <p:nvPr/>
        </p:nvSpPr>
        <p:spPr>
          <a:xfrm>
            <a:off x="1447800" y="3848207"/>
            <a:ext cx="6400800" cy="769441"/>
          </a:xfrm>
          <a:prstGeom prst="rect">
            <a:avLst/>
          </a:prstGeom>
          <a:noFill/>
        </p:spPr>
        <p:txBody>
          <a:bodyPr wrap="square" rtlCol="0">
            <a:spAutoFit/>
          </a:bodyPr>
          <a:lstStyle/>
          <a:p>
            <a:pPr algn="ctr"/>
            <a:r>
              <a:rPr lang="en-US" sz="2200" dirty="0"/>
              <a:t>every name declared in the program gets its own symbol object with a unique </a:t>
            </a:r>
            <a:r>
              <a:rPr lang="en-US" sz="2200" b="1" dirty="0"/>
              <a:t>symbol ID.</a:t>
            </a:r>
            <a:endParaRPr lang="en-US" sz="2200" b="1" dirty="0">
              <a:solidFill>
                <a:srgbClr val="FF0000"/>
              </a:solidFill>
            </a:endParaRPr>
          </a:p>
        </p:txBody>
      </p:sp>
      <p:sp>
        <p:nvSpPr>
          <p:cNvPr id="8" name="TextBox 7">
            <a:extLst>
              <a:ext uri="{FF2B5EF4-FFF2-40B4-BE49-F238E27FC236}">
                <a16:creationId xmlns:a16="http://schemas.microsoft.com/office/drawing/2014/main" id="{70D1006D-6C67-DE43-A113-9244EA197856}"/>
              </a:ext>
            </a:extLst>
          </p:cNvPr>
          <p:cNvSpPr txBox="1"/>
          <p:nvPr/>
        </p:nvSpPr>
        <p:spPr>
          <a:xfrm>
            <a:off x="457200" y="4679654"/>
            <a:ext cx="8382000" cy="769441"/>
          </a:xfrm>
          <a:prstGeom prst="rect">
            <a:avLst/>
          </a:prstGeom>
          <a:noFill/>
        </p:spPr>
        <p:txBody>
          <a:bodyPr wrap="square" rtlCol="0">
            <a:spAutoFit/>
          </a:bodyPr>
          <a:lstStyle/>
          <a:p>
            <a:pPr algn="ctr"/>
            <a:r>
              <a:rPr lang="en-US" sz="2200" dirty="0"/>
              <a:t>extracting this info from the AST is time-consuming, so we only do it once. </a:t>
            </a:r>
            <a:r>
              <a:rPr lang="en-US" sz="2200" i="1" dirty="0"/>
              <a:t>these </a:t>
            </a:r>
            <a:r>
              <a:rPr lang="en-US" sz="2200" dirty="0"/>
              <a:t>are what the symbol tables </a:t>
            </a:r>
            <a:r>
              <a:rPr lang="en-US" sz="2200" i="1" dirty="0"/>
              <a:t>actually</a:t>
            </a:r>
            <a:r>
              <a:rPr lang="en-US" sz="2200" dirty="0"/>
              <a:t> refer to. </a:t>
            </a:r>
            <a:endParaRPr lang="en-US" sz="2200" i="1" dirty="0">
              <a:solidFill>
                <a:srgbClr val="FF0000"/>
              </a:solidFill>
            </a:endParaRPr>
          </a:p>
        </p:txBody>
      </p:sp>
    </p:spTree>
    <p:extLst>
      <p:ext uri="{BB962C8B-B14F-4D97-AF65-F5344CB8AC3E}">
        <p14:creationId xmlns:p14="http://schemas.microsoft.com/office/powerpoint/2010/main" val="23898218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5BDA8-E520-5946-A865-DE5457EFCF7A}"/>
              </a:ext>
            </a:extLst>
          </p:cNvPr>
          <p:cNvSpPr>
            <a:spLocks noGrp="1"/>
          </p:cNvSpPr>
          <p:nvPr>
            <p:ph type="title"/>
          </p:nvPr>
        </p:nvSpPr>
        <p:spPr/>
        <p:txBody>
          <a:bodyPr/>
          <a:lstStyle/>
          <a:p>
            <a:r>
              <a:rPr lang="en-US" dirty="0"/>
              <a:t>Bidirectionally linked scopes</a:t>
            </a:r>
          </a:p>
        </p:txBody>
      </p:sp>
      <p:sp>
        <p:nvSpPr>
          <p:cNvPr id="3" name="Content Placeholder 2">
            <a:extLst>
              <a:ext uri="{FF2B5EF4-FFF2-40B4-BE49-F238E27FC236}">
                <a16:creationId xmlns:a16="http://schemas.microsoft.com/office/drawing/2014/main" id="{F1E5AB35-9DE8-AE4E-BE3E-455852936C95}"/>
              </a:ext>
            </a:extLst>
          </p:cNvPr>
          <p:cNvSpPr>
            <a:spLocks noGrp="1"/>
          </p:cNvSpPr>
          <p:nvPr>
            <p:ph idx="1"/>
          </p:nvPr>
        </p:nvSpPr>
        <p:spPr>
          <a:xfrm>
            <a:off x="152400" y="495301"/>
            <a:ext cx="8991600" cy="838199"/>
          </a:xfrm>
        </p:spPr>
        <p:txBody>
          <a:bodyPr/>
          <a:lstStyle/>
          <a:p>
            <a:r>
              <a:rPr lang="en-US" dirty="0"/>
              <a:t>an easy way to solve this is to </a:t>
            </a:r>
            <a:r>
              <a:rPr lang="en-US" b="1" dirty="0"/>
              <a:t>keep all scopes in a vector, </a:t>
            </a:r>
            <a:r>
              <a:rPr lang="en-US" dirty="0"/>
              <a:t>and have them </a:t>
            </a:r>
            <a:r>
              <a:rPr lang="en-US" b="1" dirty="0"/>
              <a:t>refer to each other by their </a:t>
            </a:r>
            <a:r>
              <a:rPr lang="en-US" b="1" i="1" dirty="0"/>
              <a:t>index</a:t>
            </a:r>
            <a:r>
              <a:rPr lang="en-US" b="1" dirty="0"/>
              <a:t> into the vector.</a:t>
            </a:r>
            <a:endParaRPr lang="en-US" dirty="0"/>
          </a:p>
        </p:txBody>
      </p:sp>
      <p:sp>
        <p:nvSpPr>
          <p:cNvPr id="4" name="Slide Number Placeholder 3">
            <a:extLst>
              <a:ext uri="{FF2B5EF4-FFF2-40B4-BE49-F238E27FC236}">
                <a16:creationId xmlns:a16="http://schemas.microsoft.com/office/drawing/2014/main" id="{26FE81BE-AB20-B048-89CE-2F258974D6C2}"/>
              </a:ext>
            </a:extLst>
          </p:cNvPr>
          <p:cNvSpPr>
            <a:spLocks noGrp="1"/>
          </p:cNvSpPr>
          <p:nvPr>
            <p:ph type="sldNum" sz="quarter" idx="12"/>
          </p:nvPr>
        </p:nvSpPr>
        <p:spPr/>
        <p:txBody>
          <a:bodyPr/>
          <a:lstStyle/>
          <a:p>
            <a:fld id="{3552B95B-556F-44BD-91A5-D80C1B9E2BB3}" type="slidenum">
              <a:rPr lang="en-US" smtClean="0"/>
              <a:pPr/>
              <a:t>26</a:t>
            </a:fld>
            <a:endParaRPr lang="en-US"/>
          </a:p>
        </p:txBody>
      </p:sp>
      <p:graphicFrame>
        <p:nvGraphicFramePr>
          <p:cNvPr id="5" name="Table 4">
            <a:extLst>
              <a:ext uri="{FF2B5EF4-FFF2-40B4-BE49-F238E27FC236}">
                <a16:creationId xmlns:a16="http://schemas.microsoft.com/office/drawing/2014/main" id="{ABE4B234-028B-5C43-B379-F18A5E64A7A6}"/>
              </a:ext>
            </a:extLst>
          </p:cNvPr>
          <p:cNvGraphicFramePr>
            <a:graphicFrameLocks noGrp="1"/>
          </p:cNvGraphicFramePr>
          <p:nvPr>
            <p:extLst>
              <p:ext uri="{D42A27DB-BD31-4B8C-83A1-F6EECF244321}">
                <p14:modId xmlns:p14="http://schemas.microsoft.com/office/powerpoint/2010/main" val="1906839712"/>
              </p:ext>
            </p:extLst>
          </p:nvPr>
        </p:nvGraphicFramePr>
        <p:xfrm>
          <a:off x="533400" y="4427730"/>
          <a:ext cx="6731000" cy="858520"/>
        </p:xfrm>
        <a:graphic>
          <a:graphicData uri="http://schemas.openxmlformats.org/drawingml/2006/table">
            <a:tbl>
              <a:tblPr bandRow="1">
                <a:tableStyleId>{93296810-A885-4BE3-A3E7-6D5BEEA58F35}</a:tableStyleId>
              </a:tblPr>
              <a:tblGrid>
                <a:gridCol w="1346200">
                  <a:extLst>
                    <a:ext uri="{9D8B030D-6E8A-4147-A177-3AD203B41FA5}">
                      <a16:colId xmlns:a16="http://schemas.microsoft.com/office/drawing/2014/main" val="3385329470"/>
                    </a:ext>
                  </a:extLst>
                </a:gridCol>
                <a:gridCol w="1346200">
                  <a:extLst>
                    <a:ext uri="{9D8B030D-6E8A-4147-A177-3AD203B41FA5}">
                      <a16:colId xmlns:a16="http://schemas.microsoft.com/office/drawing/2014/main" val="606060736"/>
                    </a:ext>
                  </a:extLst>
                </a:gridCol>
                <a:gridCol w="1346200">
                  <a:extLst>
                    <a:ext uri="{9D8B030D-6E8A-4147-A177-3AD203B41FA5}">
                      <a16:colId xmlns:a16="http://schemas.microsoft.com/office/drawing/2014/main" val="841437574"/>
                    </a:ext>
                  </a:extLst>
                </a:gridCol>
                <a:gridCol w="1346200">
                  <a:extLst>
                    <a:ext uri="{9D8B030D-6E8A-4147-A177-3AD203B41FA5}">
                      <a16:colId xmlns:a16="http://schemas.microsoft.com/office/drawing/2014/main" val="638389717"/>
                    </a:ext>
                  </a:extLst>
                </a:gridCol>
                <a:gridCol w="1346200">
                  <a:extLst>
                    <a:ext uri="{9D8B030D-6E8A-4147-A177-3AD203B41FA5}">
                      <a16:colId xmlns:a16="http://schemas.microsoft.com/office/drawing/2014/main" val="279855869"/>
                    </a:ext>
                  </a:extLst>
                </a:gridCol>
              </a:tblGrid>
              <a:tr h="401320">
                <a:tc>
                  <a:txBody>
                    <a:bodyPr/>
                    <a:lstStyle/>
                    <a:p>
                      <a:endParaRPr lang="en-US" sz="2000" b="1" dirty="0">
                        <a:latin typeface="Consolas" panose="020B0609020204030204" pitchFamily="49" charset="0"/>
                        <a:cs typeface="Consolas" panose="020B0609020204030204" pitchFamily="49" charset="0"/>
                      </a:endParaRPr>
                    </a:p>
                  </a:txBody>
                  <a:tcPr>
                    <a:noFill/>
                  </a:tcPr>
                </a:tc>
                <a:tc>
                  <a:txBody>
                    <a:bodyPr/>
                    <a:lstStyle/>
                    <a:p>
                      <a:endParaRPr lang="en-US" sz="2000" b="1" dirty="0">
                        <a:latin typeface="Consolas" panose="020B0609020204030204" pitchFamily="49" charset="0"/>
                        <a:cs typeface="Consolas" panose="020B0609020204030204" pitchFamily="49" charset="0"/>
                      </a:endParaRPr>
                    </a:p>
                  </a:txBody>
                  <a:tcPr/>
                </a:tc>
                <a:tc>
                  <a:txBody>
                    <a:bodyPr/>
                    <a:lstStyle/>
                    <a:p>
                      <a:endParaRPr lang="en-US" sz="2000" b="1" dirty="0">
                        <a:latin typeface="Consolas" panose="020B0609020204030204" pitchFamily="49" charset="0"/>
                        <a:cs typeface="Consolas" panose="020B0609020204030204" pitchFamily="49" charset="0"/>
                      </a:endParaRPr>
                    </a:p>
                  </a:txBody>
                  <a:tcPr/>
                </a:tc>
                <a:tc>
                  <a:txBody>
                    <a:bodyPr/>
                    <a:lstStyle/>
                    <a:p>
                      <a:endParaRPr lang="en-US" sz="2000" b="1" dirty="0">
                        <a:latin typeface="Consolas" panose="020B0609020204030204" pitchFamily="49" charset="0"/>
                        <a:cs typeface="Consolas" panose="020B0609020204030204" pitchFamily="49" charset="0"/>
                      </a:endParaRPr>
                    </a:p>
                  </a:txBody>
                  <a:tcPr/>
                </a:tc>
                <a:tc>
                  <a:txBody>
                    <a:bodyPr/>
                    <a:lstStyle/>
                    <a:p>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793623654"/>
                  </a:ext>
                </a:extLst>
              </a:tr>
              <a:tr h="370840">
                <a:tc>
                  <a:txBody>
                    <a:bodyPr/>
                    <a:lstStyle/>
                    <a:p>
                      <a:pPr algn="ctr"/>
                      <a:r>
                        <a:rPr lang="en-US" sz="2400" b="1" dirty="0">
                          <a:latin typeface="+mn-lt"/>
                          <a:cs typeface="Consolas" panose="020B0609020204030204" pitchFamily="49" charset="0"/>
                        </a:rPr>
                        <a:t>index:</a:t>
                      </a:r>
                    </a:p>
                  </a:txBody>
                  <a:tcPr/>
                </a:tc>
                <a:tc>
                  <a:txBody>
                    <a:bodyPr/>
                    <a:lstStyle/>
                    <a:p>
                      <a:pPr algn="ctr"/>
                      <a:r>
                        <a:rPr lang="en-US" sz="2400" b="1" dirty="0">
                          <a:latin typeface="+mn-lt"/>
                          <a:cs typeface="Consolas" panose="020B0609020204030204" pitchFamily="49" charset="0"/>
                        </a:rPr>
                        <a:t>0</a:t>
                      </a:r>
                    </a:p>
                  </a:txBody>
                  <a:tcPr/>
                </a:tc>
                <a:tc>
                  <a:txBody>
                    <a:bodyPr/>
                    <a:lstStyle/>
                    <a:p>
                      <a:pPr algn="ctr"/>
                      <a:r>
                        <a:rPr lang="en-US" sz="2400" b="1" dirty="0">
                          <a:latin typeface="+mn-lt"/>
                          <a:cs typeface="Consolas" panose="020B0609020204030204" pitchFamily="49" charset="0"/>
                        </a:rPr>
                        <a:t>1</a:t>
                      </a:r>
                    </a:p>
                  </a:txBody>
                  <a:tcPr/>
                </a:tc>
                <a:tc>
                  <a:txBody>
                    <a:bodyPr/>
                    <a:lstStyle/>
                    <a:p>
                      <a:pPr algn="ctr"/>
                      <a:r>
                        <a:rPr lang="en-US" sz="2400" b="1" dirty="0">
                          <a:latin typeface="+mn-lt"/>
                          <a:cs typeface="Consolas" panose="020B0609020204030204" pitchFamily="49" charset="0"/>
                        </a:rPr>
                        <a:t>2</a:t>
                      </a:r>
                    </a:p>
                  </a:txBody>
                  <a:tcPr/>
                </a:tc>
                <a:tc>
                  <a:txBody>
                    <a:bodyPr/>
                    <a:lstStyle/>
                    <a:p>
                      <a:pPr algn="ctr"/>
                      <a:r>
                        <a:rPr lang="en-US" sz="2400" b="1" dirty="0">
                          <a:latin typeface="+mn-lt"/>
                          <a:cs typeface="Consolas" panose="020B0609020204030204" pitchFamily="49" charset="0"/>
                        </a:rPr>
                        <a:t>3</a:t>
                      </a:r>
                    </a:p>
                  </a:txBody>
                  <a:tcPr/>
                </a:tc>
                <a:extLst>
                  <a:ext uri="{0D108BD9-81ED-4DB2-BD59-A6C34878D82A}">
                    <a16:rowId xmlns:a16="http://schemas.microsoft.com/office/drawing/2014/main" val="242808497"/>
                  </a:ext>
                </a:extLst>
              </a:tr>
            </a:tbl>
          </a:graphicData>
        </a:graphic>
      </p:graphicFrame>
      <p:sp>
        <p:nvSpPr>
          <p:cNvPr id="6" name="Rectangle 5">
            <a:extLst>
              <a:ext uri="{FF2B5EF4-FFF2-40B4-BE49-F238E27FC236}">
                <a16:creationId xmlns:a16="http://schemas.microsoft.com/office/drawing/2014/main" id="{6F2DA859-F3FF-5948-B897-C64524925644}"/>
              </a:ext>
            </a:extLst>
          </p:cNvPr>
          <p:cNvSpPr/>
          <p:nvPr/>
        </p:nvSpPr>
        <p:spPr>
          <a:xfrm>
            <a:off x="457200" y="1485900"/>
            <a:ext cx="2209800" cy="2514600"/>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tx1"/>
                </a:solidFill>
                <a:latin typeface="Consolas" panose="020B0609020204030204" pitchFamily="49" charset="0"/>
                <a:cs typeface="Consolas" panose="020B0609020204030204" pitchFamily="49" charset="0"/>
              </a:rPr>
              <a:t>&lt;global scope&gt;</a:t>
            </a:r>
          </a:p>
          <a:p>
            <a:r>
              <a:rPr lang="en-US" sz="2000" b="1" dirty="0">
                <a:solidFill>
                  <a:schemeClr val="tx1"/>
                </a:solidFill>
                <a:latin typeface="Consolas" panose="020B0609020204030204" pitchFamily="49" charset="0"/>
                <a:cs typeface="Consolas" panose="020B0609020204030204" pitchFamily="49" charset="0"/>
              </a:rPr>
              <a:t>parent:   None</a:t>
            </a:r>
          </a:p>
          <a:p>
            <a:r>
              <a:rPr lang="en-US" sz="2000" b="1" dirty="0">
                <a:solidFill>
                  <a:schemeClr val="tx1"/>
                </a:solidFill>
                <a:latin typeface="Consolas" panose="020B0609020204030204" pitchFamily="49" charset="0"/>
                <a:cs typeface="Consolas" panose="020B0609020204030204" pitchFamily="49" charset="0"/>
              </a:rPr>
              <a:t>children: [</a:t>
            </a:r>
            <a:r>
              <a:rPr lang="en-US" sz="2000" b="1" dirty="0">
                <a:solidFill>
                  <a:schemeClr val="accent3">
                    <a:lumMod val="75000"/>
                  </a:schemeClr>
                </a:solidFill>
                <a:latin typeface="Consolas" panose="020B0609020204030204" pitchFamily="49" charset="0"/>
                <a:cs typeface="Consolas" panose="020B0609020204030204" pitchFamily="49" charset="0"/>
              </a:rPr>
              <a:t>1</a:t>
            </a:r>
            <a:r>
              <a:rPr lang="en-US" sz="2000" b="1" dirty="0">
                <a:solidFill>
                  <a:schemeClr val="tx1"/>
                </a:solidFill>
                <a:latin typeface="Consolas" panose="020B0609020204030204" pitchFamily="49" charset="0"/>
                <a:cs typeface="Consolas" panose="020B0609020204030204" pitchFamily="49" charset="0"/>
              </a:rPr>
              <a:t>]</a:t>
            </a:r>
          </a:p>
          <a:p>
            <a:r>
              <a:rPr lang="en-US" sz="2000" b="1" dirty="0">
                <a:solidFill>
                  <a:schemeClr val="tx1"/>
                </a:solidFill>
                <a:latin typeface="Consolas" panose="020B0609020204030204" pitchFamily="49" charset="0"/>
                <a:cs typeface="Consolas" panose="020B0609020204030204" pitchFamily="49" charset="0"/>
              </a:rPr>
              <a:t>symbols:</a:t>
            </a:r>
          </a:p>
        </p:txBody>
      </p:sp>
      <p:graphicFrame>
        <p:nvGraphicFramePr>
          <p:cNvPr id="7" name="Table 6">
            <a:extLst>
              <a:ext uri="{FF2B5EF4-FFF2-40B4-BE49-F238E27FC236}">
                <a16:creationId xmlns:a16="http://schemas.microsoft.com/office/drawing/2014/main" id="{3A8161EF-8A66-DC44-9001-5D33DF40FB18}"/>
              </a:ext>
            </a:extLst>
          </p:cNvPr>
          <p:cNvGraphicFramePr>
            <a:graphicFrameLocks noGrp="1"/>
          </p:cNvGraphicFramePr>
          <p:nvPr>
            <p:extLst>
              <p:ext uri="{D42A27DB-BD31-4B8C-83A1-F6EECF244321}">
                <p14:modId xmlns:p14="http://schemas.microsoft.com/office/powerpoint/2010/main" val="2297992727"/>
              </p:ext>
            </p:extLst>
          </p:nvPr>
        </p:nvGraphicFramePr>
        <p:xfrm>
          <a:off x="587997" y="2933929"/>
          <a:ext cx="1948206" cy="762602"/>
        </p:xfrm>
        <a:graphic>
          <a:graphicData uri="http://schemas.openxmlformats.org/drawingml/2006/table">
            <a:tbl>
              <a:tblPr bandRow="1">
                <a:tableStyleId>{F5AB1C69-6EDB-4FF4-983F-18BD219EF322}</a:tableStyleId>
              </a:tblPr>
              <a:tblGrid>
                <a:gridCol w="1262406">
                  <a:extLst>
                    <a:ext uri="{9D8B030D-6E8A-4147-A177-3AD203B41FA5}">
                      <a16:colId xmlns:a16="http://schemas.microsoft.com/office/drawing/2014/main" val="2998826347"/>
                    </a:ext>
                  </a:extLst>
                </a:gridCol>
                <a:gridCol w="685800">
                  <a:extLst>
                    <a:ext uri="{9D8B030D-6E8A-4147-A177-3AD203B41FA5}">
                      <a16:colId xmlns:a16="http://schemas.microsoft.com/office/drawing/2014/main" val="949017593"/>
                    </a:ext>
                  </a:extLst>
                </a:gridCol>
              </a:tblGrid>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"A"</a:t>
                      </a:r>
                    </a:p>
                  </a:txBody>
                  <a:tcPr/>
                </a:tc>
                <a:tc>
                  <a:txBody>
                    <a:bodyPr/>
                    <a:lstStyle/>
                    <a:p>
                      <a:pPr algn="ctr"/>
                      <a:r>
                        <a:rPr lang="en-US" sz="1800" b="1" dirty="0">
                          <a:solidFill>
                            <a:schemeClr val="tx1"/>
                          </a:solidFill>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900998081"/>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"System"</a:t>
                      </a:r>
                    </a:p>
                  </a:txBody>
                  <a:tcPr/>
                </a:tc>
                <a:tc>
                  <a:txBody>
                    <a:bodyPr/>
                    <a:lstStyle/>
                    <a:p>
                      <a:pPr algn="ctr"/>
                      <a:r>
                        <a:rPr lang="en-US" sz="1800" b="1" dirty="0">
                          <a:solidFill>
                            <a:schemeClr val="tx1"/>
                          </a:solidFill>
                          <a:latin typeface="Consolas" panose="020B0609020204030204" pitchFamily="49" charset="0"/>
                          <a:cs typeface="Consolas" panose="020B0609020204030204" pitchFamily="49" charset="0"/>
                        </a:rPr>
                        <a:t>33</a:t>
                      </a:r>
                    </a:p>
                  </a:txBody>
                  <a:tcPr/>
                </a:tc>
                <a:extLst>
                  <a:ext uri="{0D108BD9-81ED-4DB2-BD59-A6C34878D82A}">
                    <a16:rowId xmlns:a16="http://schemas.microsoft.com/office/drawing/2014/main" val="3308972850"/>
                  </a:ext>
                </a:extLst>
              </a:tr>
            </a:tbl>
          </a:graphicData>
        </a:graphic>
      </p:graphicFrame>
      <p:cxnSp>
        <p:nvCxnSpPr>
          <p:cNvPr id="9" name="Straight Arrow Connector 8">
            <a:extLst>
              <a:ext uri="{FF2B5EF4-FFF2-40B4-BE49-F238E27FC236}">
                <a16:creationId xmlns:a16="http://schemas.microsoft.com/office/drawing/2014/main" id="{89F61AA6-D220-AE40-B8C6-046655094264}"/>
              </a:ext>
            </a:extLst>
          </p:cNvPr>
          <p:cNvCxnSpPr/>
          <p:nvPr/>
        </p:nvCxnSpPr>
        <p:spPr>
          <a:xfrm flipH="1" flipV="1">
            <a:off x="1659118" y="4072379"/>
            <a:ext cx="877085" cy="6139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50CB3797-DEE6-EB4C-AF0C-299C4DEFF71E}"/>
              </a:ext>
            </a:extLst>
          </p:cNvPr>
          <p:cNvSpPr/>
          <p:nvPr/>
        </p:nvSpPr>
        <p:spPr>
          <a:xfrm>
            <a:off x="3124199" y="1485900"/>
            <a:ext cx="2587265" cy="2514600"/>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tx1"/>
                </a:solidFill>
                <a:latin typeface="Consolas" panose="020B0609020204030204" pitchFamily="49" charset="0"/>
                <a:cs typeface="Consolas" panose="020B0609020204030204" pitchFamily="49" charset="0"/>
              </a:rPr>
              <a:t>A's scope</a:t>
            </a:r>
          </a:p>
          <a:p>
            <a:r>
              <a:rPr lang="en-US" sz="2000" b="1" dirty="0">
                <a:solidFill>
                  <a:schemeClr val="tx1"/>
                </a:solidFill>
                <a:latin typeface="Consolas" panose="020B0609020204030204" pitchFamily="49" charset="0"/>
                <a:cs typeface="Consolas" panose="020B0609020204030204" pitchFamily="49" charset="0"/>
              </a:rPr>
              <a:t>parent:   Some(</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solidFill>
                  <a:schemeClr val="tx1"/>
                </a:solidFill>
                <a:latin typeface="Consolas" panose="020B0609020204030204" pitchFamily="49" charset="0"/>
                <a:cs typeface="Consolas" panose="020B0609020204030204" pitchFamily="49" charset="0"/>
              </a:rPr>
              <a:t>)</a:t>
            </a:r>
          </a:p>
          <a:p>
            <a:r>
              <a:rPr lang="en-US" sz="2000" b="1" dirty="0">
                <a:solidFill>
                  <a:schemeClr val="tx1"/>
                </a:solidFill>
                <a:latin typeface="Consolas" panose="020B0609020204030204" pitchFamily="49" charset="0"/>
                <a:cs typeface="Consolas" panose="020B0609020204030204" pitchFamily="49" charset="0"/>
              </a:rPr>
              <a:t>children: [</a:t>
            </a:r>
            <a:r>
              <a:rPr lang="en-US" sz="2000" b="1" dirty="0">
                <a:solidFill>
                  <a:schemeClr val="accent3">
                    <a:lumMod val="75000"/>
                  </a:schemeClr>
                </a:solidFill>
                <a:latin typeface="Consolas" panose="020B0609020204030204" pitchFamily="49" charset="0"/>
                <a:cs typeface="Consolas" panose="020B0609020204030204" pitchFamily="49" charset="0"/>
              </a:rPr>
              <a:t>2</a:t>
            </a:r>
            <a:r>
              <a:rPr lang="en-US" sz="2000" b="1" dirty="0">
                <a:solidFill>
                  <a:schemeClr val="tx1"/>
                </a:solidFill>
                <a:latin typeface="Consolas" panose="020B0609020204030204" pitchFamily="49" charset="0"/>
                <a:cs typeface="Consolas" panose="020B0609020204030204" pitchFamily="49" charset="0"/>
              </a:rPr>
              <a:t>,</a:t>
            </a:r>
            <a:r>
              <a:rPr lang="en-US" sz="2000" b="1" dirty="0">
                <a:solidFill>
                  <a:schemeClr val="accent3">
                    <a:lumMod val="75000"/>
                  </a:schemeClr>
                </a:solidFill>
                <a:latin typeface="Consolas" panose="020B0609020204030204" pitchFamily="49" charset="0"/>
                <a:cs typeface="Consolas" panose="020B0609020204030204" pitchFamily="49" charset="0"/>
              </a:rPr>
              <a:t> 3</a:t>
            </a:r>
            <a:r>
              <a:rPr lang="en-US" sz="2000" b="1" dirty="0">
                <a:solidFill>
                  <a:schemeClr val="tx1"/>
                </a:solidFill>
                <a:latin typeface="Consolas" panose="020B0609020204030204" pitchFamily="49" charset="0"/>
                <a:cs typeface="Consolas" panose="020B0609020204030204" pitchFamily="49" charset="0"/>
              </a:rPr>
              <a:t>]</a:t>
            </a:r>
          </a:p>
          <a:p>
            <a:r>
              <a:rPr lang="en-US" sz="2000" b="1" dirty="0">
                <a:solidFill>
                  <a:schemeClr val="tx1"/>
                </a:solidFill>
                <a:latin typeface="Consolas" panose="020B0609020204030204" pitchFamily="49" charset="0"/>
                <a:cs typeface="Consolas" panose="020B0609020204030204" pitchFamily="49" charset="0"/>
              </a:rPr>
              <a:t>symbols:</a:t>
            </a:r>
          </a:p>
        </p:txBody>
      </p:sp>
      <p:graphicFrame>
        <p:nvGraphicFramePr>
          <p:cNvPr id="11" name="Table 10">
            <a:extLst>
              <a:ext uri="{FF2B5EF4-FFF2-40B4-BE49-F238E27FC236}">
                <a16:creationId xmlns:a16="http://schemas.microsoft.com/office/drawing/2014/main" id="{A067D98F-728C-C344-AC22-1C9E727DFED3}"/>
              </a:ext>
            </a:extLst>
          </p:cNvPr>
          <p:cNvGraphicFramePr>
            <a:graphicFrameLocks noGrp="1"/>
          </p:cNvGraphicFramePr>
          <p:nvPr>
            <p:extLst>
              <p:ext uri="{D42A27DB-BD31-4B8C-83A1-F6EECF244321}">
                <p14:modId xmlns:p14="http://schemas.microsoft.com/office/powerpoint/2010/main" val="1833963914"/>
              </p:ext>
            </p:extLst>
          </p:nvPr>
        </p:nvGraphicFramePr>
        <p:xfrm>
          <a:off x="3254997" y="2743278"/>
          <a:ext cx="1948206" cy="1143903"/>
        </p:xfrm>
        <a:graphic>
          <a:graphicData uri="http://schemas.openxmlformats.org/drawingml/2006/table">
            <a:tbl>
              <a:tblPr bandRow="1">
                <a:tableStyleId>{F5AB1C69-6EDB-4FF4-983F-18BD219EF322}</a:tableStyleId>
              </a:tblPr>
              <a:tblGrid>
                <a:gridCol w="1262406">
                  <a:extLst>
                    <a:ext uri="{9D8B030D-6E8A-4147-A177-3AD203B41FA5}">
                      <a16:colId xmlns:a16="http://schemas.microsoft.com/office/drawing/2014/main" val="2998826347"/>
                    </a:ext>
                  </a:extLst>
                </a:gridCol>
                <a:gridCol w="685800">
                  <a:extLst>
                    <a:ext uri="{9D8B030D-6E8A-4147-A177-3AD203B41FA5}">
                      <a16:colId xmlns:a16="http://schemas.microsoft.com/office/drawing/2014/main" val="949017593"/>
                    </a:ext>
                  </a:extLst>
                </a:gridCol>
              </a:tblGrid>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"x"</a:t>
                      </a:r>
                    </a:p>
                  </a:txBody>
                  <a:tcPr/>
                </a:tc>
                <a:tc>
                  <a:txBody>
                    <a:bodyPr/>
                    <a:lstStyle/>
                    <a:p>
                      <a:pPr algn="ctr"/>
                      <a:r>
                        <a:rPr lang="en-US" sz="1800" b="1" dirty="0">
                          <a:solidFill>
                            <a:schemeClr val="tx1"/>
                          </a:solidFill>
                          <a:latin typeface="Consolas" panose="020B0609020204030204" pitchFamily="49" charset="0"/>
                          <a:cs typeface="Consolas" panose="020B0609020204030204" pitchFamily="49" charset="0"/>
                        </a:rPr>
                        <a:t>2</a:t>
                      </a:r>
                    </a:p>
                  </a:txBody>
                  <a:tcPr/>
                </a:tc>
                <a:extLst>
                  <a:ext uri="{0D108BD9-81ED-4DB2-BD59-A6C34878D82A}">
                    <a16:rowId xmlns:a16="http://schemas.microsoft.com/office/drawing/2014/main" val="900998081"/>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"main"</a:t>
                      </a:r>
                    </a:p>
                  </a:txBody>
                  <a:tcPr/>
                </a:tc>
                <a:tc>
                  <a:txBody>
                    <a:bodyPr/>
                    <a:lstStyle/>
                    <a:p>
                      <a:pPr algn="ctr"/>
                      <a:r>
                        <a:rPr lang="en-US" sz="1800" b="1" dirty="0">
                          <a:solidFill>
                            <a:schemeClr val="tx1"/>
                          </a:solidFill>
                          <a:latin typeface="Consolas" panose="020B0609020204030204" pitchFamily="49" charset="0"/>
                          <a:cs typeface="Consolas" panose="020B0609020204030204" pitchFamily="49" charset="0"/>
                        </a:rPr>
                        <a:t>3</a:t>
                      </a:r>
                    </a:p>
                  </a:txBody>
                  <a:tcPr/>
                </a:tc>
                <a:extLst>
                  <a:ext uri="{0D108BD9-81ED-4DB2-BD59-A6C34878D82A}">
                    <a16:rowId xmlns:a16="http://schemas.microsoft.com/office/drawing/2014/main" val="3308972850"/>
                  </a:ext>
                </a:extLst>
              </a:tr>
              <a:tr h="381301">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"foo"</a:t>
                      </a:r>
                    </a:p>
                  </a:txBody>
                  <a:tcPr/>
                </a:tc>
                <a:tc>
                  <a:txBody>
                    <a:bodyPr/>
                    <a:lstStyle/>
                    <a:p>
                      <a:pPr algn="ctr"/>
                      <a:r>
                        <a:rPr lang="en-US" sz="1800" b="1" dirty="0">
                          <a:solidFill>
                            <a:schemeClr val="tx1"/>
                          </a:solidFill>
                          <a:latin typeface="Consolas" panose="020B0609020204030204" pitchFamily="49" charset="0"/>
                          <a:cs typeface="Consolas" panose="020B0609020204030204" pitchFamily="49" charset="0"/>
                        </a:rPr>
                        <a:t>4</a:t>
                      </a:r>
                    </a:p>
                  </a:txBody>
                  <a:tcPr/>
                </a:tc>
                <a:extLst>
                  <a:ext uri="{0D108BD9-81ED-4DB2-BD59-A6C34878D82A}">
                    <a16:rowId xmlns:a16="http://schemas.microsoft.com/office/drawing/2014/main" val="3050478567"/>
                  </a:ext>
                </a:extLst>
              </a:tr>
            </a:tbl>
          </a:graphicData>
        </a:graphic>
      </p:graphicFrame>
      <p:cxnSp>
        <p:nvCxnSpPr>
          <p:cNvPr id="12" name="Straight Arrow Connector 11">
            <a:extLst>
              <a:ext uri="{FF2B5EF4-FFF2-40B4-BE49-F238E27FC236}">
                <a16:creationId xmlns:a16="http://schemas.microsoft.com/office/drawing/2014/main" id="{6504ED10-BCFA-0048-ADCE-9BAAE0CD4BD1}"/>
              </a:ext>
            </a:extLst>
          </p:cNvPr>
          <p:cNvCxnSpPr>
            <a:cxnSpLocks/>
            <a:endCxn id="10" idx="2"/>
          </p:cNvCxnSpPr>
          <p:nvPr/>
        </p:nvCxnSpPr>
        <p:spPr>
          <a:xfrm flipV="1">
            <a:off x="3898900" y="4000500"/>
            <a:ext cx="518932" cy="6858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DC70799-D3F8-534A-9F97-38FFC653B13A}"/>
              </a:ext>
            </a:extLst>
          </p:cNvPr>
          <p:cNvCxnSpPr>
            <a:cxnSpLocks/>
          </p:cNvCxnSpPr>
          <p:nvPr/>
        </p:nvCxnSpPr>
        <p:spPr>
          <a:xfrm flipV="1">
            <a:off x="5181993" y="4072379"/>
            <a:ext cx="990207" cy="5849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5AD00D6-A99C-4F4D-B10E-C1FE5B94DD59}"/>
              </a:ext>
            </a:extLst>
          </p:cNvPr>
          <p:cNvSpPr txBox="1"/>
          <p:nvPr/>
        </p:nvSpPr>
        <p:spPr>
          <a:xfrm>
            <a:off x="6225751" y="3800445"/>
            <a:ext cx="418704" cy="400110"/>
          </a:xfrm>
          <a:prstGeom prst="rect">
            <a:avLst/>
          </a:prstGeom>
          <a:noFill/>
        </p:spPr>
        <p:txBody>
          <a:bodyPr wrap="none" rtlCol="0">
            <a:spAutoFit/>
          </a:bodyPr>
          <a:lstStyle/>
          <a:p>
            <a:r>
              <a:rPr lang="en-US" sz="2000" b="1" dirty="0"/>
              <a:t>…</a:t>
            </a:r>
          </a:p>
        </p:txBody>
      </p:sp>
      <p:sp>
        <p:nvSpPr>
          <p:cNvPr id="18" name="TextBox 17">
            <a:extLst>
              <a:ext uri="{FF2B5EF4-FFF2-40B4-BE49-F238E27FC236}">
                <a16:creationId xmlns:a16="http://schemas.microsoft.com/office/drawing/2014/main" id="{FC9DA64A-90D0-D047-B78A-62CB912275B7}"/>
              </a:ext>
            </a:extLst>
          </p:cNvPr>
          <p:cNvSpPr txBox="1"/>
          <p:nvPr/>
        </p:nvSpPr>
        <p:spPr>
          <a:xfrm>
            <a:off x="6083400" y="1544383"/>
            <a:ext cx="2688824" cy="2123658"/>
          </a:xfrm>
          <a:prstGeom prst="rect">
            <a:avLst/>
          </a:prstGeom>
          <a:noFill/>
        </p:spPr>
        <p:txBody>
          <a:bodyPr wrap="square" rtlCol="0">
            <a:spAutoFit/>
          </a:bodyPr>
          <a:lstStyle/>
          <a:p>
            <a:pPr algn="ctr"/>
            <a:r>
              <a:rPr lang="en-US" sz="2200" dirty="0"/>
              <a:t>this neatly dodges the "no cycles" rule, and in practice isn’t much harder to use than direct pointers (</a:t>
            </a:r>
            <a:r>
              <a:rPr lang="en-US" sz="2200" b="1" dirty="0">
                <a:latin typeface="Consolas" panose="020B0609020204030204" pitchFamily="49" charset="0"/>
                <a:cs typeface="Consolas" panose="020B0609020204030204" pitchFamily="49" charset="0"/>
              </a:rPr>
              <a:t>Box&lt;T&gt;</a:t>
            </a:r>
            <a:r>
              <a:rPr lang="en-US" sz="2200" dirty="0"/>
              <a:t>).</a:t>
            </a:r>
          </a:p>
        </p:txBody>
      </p:sp>
      <p:cxnSp>
        <p:nvCxnSpPr>
          <p:cNvPr id="20" name="Straight Arrow Connector 19">
            <a:extLst>
              <a:ext uri="{FF2B5EF4-FFF2-40B4-BE49-F238E27FC236}">
                <a16:creationId xmlns:a16="http://schemas.microsoft.com/office/drawing/2014/main" id="{EE74B05A-C4CB-5A4A-84D7-5EAF0F7DCAE8}"/>
              </a:ext>
            </a:extLst>
          </p:cNvPr>
          <p:cNvCxnSpPr>
            <a:cxnSpLocks/>
          </p:cNvCxnSpPr>
          <p:nvPr/>
        </p:nvCxnSpPr>
        <p:spPr>
          <a:xfrm flipV="1">
            <a:off x="6530098" y="4072379"/>
            <a:ext cx="990207" cy="5849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EE5E6EC-C60C-7A40-9EFA-167580A5E372}"/>
              </a:ext>
            </a:extLst>
          </p:cNvPr>
          <p:cNvSpPr txBox="1"/>
          <p:nvPr/>
        </p:nvSpPr>
        <p:spPr>
          <a:xfrm>
            <a:off x="7573856" y="3800445"/>
            <a:ext cx="418704" cy="400110"/>
          </a:xfrm>
          <a:prstGeom prst="rect">
            <a:avLst/>
          </a:prstGeom>
          <a:noFill/>
        </p:spPr>
        <p:txBody>
          <a:bodyPr wrap="none" rtlCol="0">
            <a:spAutoFit/>
          </a:bodyPr>
          <a:lstStyle/>
          <a:p>
            <a:r>
              <a:rPr lang="en-US" sz="2000" b="1" dirty="0"/>
              <a:t>…</a:t>
            </a:r>
          </a:p>
        </p:txBody>
      </p:sp>
    </p:spTree>
    <p:extLst>
      <p:ext uri="{BB962C8B-B14F-4D97-AF65-F5344CB8AC3E}">
        <p14:creationId xmlns:p14="http://schemas.microsoft.com/office/powerpoint/2010/main" val="39854018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7" grpId="0"/>
      <p:bldP spid="18"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AAF6B-8C67-9C4B-807A-01137DACB6F0}"/>
              </a:ext>
            </a:extLst>
          </p:cNvPr>
          <p:cNvSpPr>
            <a:spLocks noGrp="1"/>
          </p:cNvSpPr>
          <p:nvPr>
            <p:ph type="title"/>
          </p:nvPr>
        </p:nvSpPr>
        <p:spPr/>
        <p:txBody>
          <a:bodyPr/>
          <a:lstStyle/>
          <a:p>
            <a:r>
              <a:rPr lang="en-US" dirty="0"/>
              <a:t>The declaration and use maps</a:t>
            </a:r>
          </a:p>
        </p:txBody>
      </p:sp>
      <p:sp>
        <p:nvSpPr>
          <p:cNvPr id="3" name="Content Placeholder 2">
            <a:extLst>
              <a:ext uri="{FF2B5EF4-FFF2-40B4-BE49-F238E27FC236}">
                <a16:creationId xmlns:a16="http://schemas.microsoft.com/office/drawing/2014/main" id="{FE2F2279-1A5F-D64B-A54D-9C8739E47FBD}"/>
              </a:ext>
            </a:extLst>
          </p:cNvPr>
          <p:cNvSpPr>
            <a:spLocks noGrp="1"/>
          </p:cNvSpPr>
          <p:nvPr>
            <p:ph idx="1"/>
          </p:nvPr>
        </p:nvSpPr>
        <p:spPr>
          <a:xfrm>
            <a:off x="152400" y="495301"/>
            <a:ext cx="8991600" cy="1219199"/>
          </a:xfrm>
        </p:spPr>
        <p:txBody>
          <a:bodyPr/>
          <a:lstStyle/>
          <a:p>
            <a:r>
              <a:rPr lang="en-US" dirty="0"/>
              <a:t>since we now represent symbols as their own “thing,” the </a:t>
            </a:r>
            <a:r>
              <a:rPr lang="en-US" b="1" dirty="0"/>
              <a:t>declaration map </a:t>
            </a:r>
            <a:r>
              <a:rPr lang="en-US" dirty="0"/>
              <a:t>maps from </a:t>
            </a:r>
            <a:r>
              <a:rPr lang="en-US" b="1" dirty="0"/>
              <a:t>AST nodes that declare a symbol, </a:t>
            </a:r>
            <a:r>
              <a:rPr lang="en-US" dirty="0"/>
              <a:t>to that symbol.</a:t>
            </a:r>
          </a:p>
          <a:p>
            <a:r>
              <a:rPr lang="en-US" dirty="0"/>
              <a:t>the </a:t>
            </a:r>
            <a:r>
              <a:rPr lang="en-US" b="1" dirty="0"/>
              <a:t>use map </a:t>
            </a:r>
            <a:r>
              <a:rPr lang="en-US" dirty="0"/>
              <a:t>maps from </a:t>
            </a:r>
            <a:r>
              <a:rPr lang="en-US" b="1" dirty="0"/>
              <a:t>AST nodes </a:t>
            </a:r>
            <a:r>
              <a:rPr lang="en-US" dirty="0"/>
              <a:t>to the symbol they use.</a:t>
            </a:r>
          </a:p>
        </p:txBody>
      </p:sp>
      <p:sp>
        <p:nvSpPr>
          <p:cNvPr id="4" name="Slide Number Placeholder 3">
            <a:extLst>
              <a:ext uri="{FF2B5EF4-FFF2-40B4-BE49-F238E27FC236}">
                <a16:creationId xmlns:a16="http://schemas.microsoft.com/office/drawing/2014/main" id="{2CC38691-78C2-9B4C-B240-EBC6945934F5}"/>
              </a:ext>
            </a:extLst>
          </p:cNvPr>
          <p:cNvSpPr>
            <a:spLocks noGrp="1"/>
          </p:cNvSpPr>
          <p:nvPr>
            <p:ph type="sldNum" sz="quarter" idx="12"/>
          </p:nvPr>
        </p:nvSpPr>
        <p:spPr/>
        <p:txBody>
          <a:bodyPr/>
          <a:lstStyle/>
          <a:p>
            <a:fld id="{3552B95B-556F-44BD-91A5-D80C1B9E2BB3}" type="slidenum">
              <a:rPr lang="en-US" smtClean="0"/>
              <a:pPr/>
              <a:t>27</a:t>
            </a:fld>
            <a:endParaRPr lang="en-US"/>
          </a:p>
        </p:txBody>
      </p:sp>
      <p:sp>
        <p:nvSpPr>
          <p:cNvPr id="5" name="TextBox 4">
            <a:extLst>
              <a:ext uri="{FF2B5EF4-FFF2-40B4-BE49-F238E27FC236}">
                <a16:creationId xmlns:a16="http://schemas.microsoft.com/office/drawing/2014/main" id="{A84B45AB-FBAD-914E-8B31-5D7418CEA46C}"/>
              </a:ext>
            </a:extLst>
          </p:cNvPr>
          <p:cNvSpPr txBox="1"/>
          <p:nvPr/>
        </p:nvSpPr>
        <p:spPr>
          <a:xfrm>
            <a:off x="609600" y="1790700"/>
            <a:ext cx="2053767" cy="1938992"/>
          </a:xfrm>
          <a:prstGeom prst="rect">
            <a:avLst/>
          </a:prstGeom>
          <a:noFill/>
        </p:spPr>
        <p:txBody>
          <a:bodyPr wrap="none" rtlCol="0">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x = x + </a:t>
            </a:r>
            <a:r>
              <a:rPr lang="en-US" sz="2400" b="1" dirty="0">
                <a:solidFill>
                  <a:schemeClr val="accent3">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println</a:t>
            </a:r>
            <a:r>
              <a:rPr lang="en-US" sz="2400" b="1" dirty="0">
                <a:latin typeface="Consolas" panose="020B0609020204030204" pitchFamily="49" charset="0"/>
                <a:cs typeface="Consolas" panose="020B0609020204030204" pitchFamily="49" charset="0"/>
              </a:rPr>
              <a:t>(x);</a:t>
            </a:r>
          </a:p>
          <a:p>
            <a:r>
              <a:rPr lang="en-US" sz="2400" b="1" dirty="0">
                <a:latin typeface="Consolas" panose="020B0609020204030204" pitchFamily="49" charset="0"/>
                <a:cs typeface="Consolas" panose="020B0609020204030204" pitchFamily="49" charset="0"/>
              </a:rPr>
              <a:t>x = f();</a:t>
            </a:r>
          </a:p>
          <a:p>
            <a:r>
              <a:rPr lang="en-US" sz="2400" b="1" dirty="0">
                <a:solidFill>
                  <a:srgbClr val="FF0000"/>
                </a:solidFill>
                <a:latin typeface="Consolas" panose="020B0609020204030204" pitchFamily="49" charset="0"/>
                <a:cs typeface="Consolas" panose="020B0609020204030204" pitchFamily="49" charset="0"/>
              </a:rPr>
              <a:t>return</a:t>
            </a:r>
            <a:r>
              <a:rPr lang="en-US" sz="2400" b="1" dirty="0">
                <a:latin typeface="Consolas" panose="020B0609020204030204" pitchFamily="49" charset="0"/>
                <a:cs typeface="Consolas" panose="020B0609020204030204" pitchFamily="49" charset="0"/>
              </a:rPr>
              <a:t> x;</a:t>
            </a:r>
          </a:p>
        </p:txBody>
      </p:sp>
      <p:graphicFrame>
        <p:nvGraphicFramePr>
          <p:cNvPr id="6" name="Table 5">
            <a:extLst>
              <a:ext uri="{FF2B5EF4-FFF2-40B4-BE49-F238E27FC236}">
                <a16:creationId xmlns:a16="http://schemas.microsoft.com/office/drawing/2014/main" id="{B1C9C3C6-9511-2348-9920-C0BE8459C8FB}"/>
              </a:ext>
            </a:extLst>
          </p:cNvPr>
          <p:cNvGraphicFramePr>
            <a:graphicFrameLocks noGrp="1"/>
          </p:cNvGraphicFramePr>
          <p:nvPr>
            <p:extLst>
              <p:ext uri="{D42A27DB-BD31-4B8C-83A1-F6EECF244321}">
                <p14:modId xmlns:p14="http://schemas.microsoft.com/office/powerpoint/2010/main" val="1584096191"/>
              </p:ext>
            </p:extLst>
          </p:nvPr>
        </p:nvGraphicFramePr>
        <p:xfrm>
          <a:off x="4509623" y="1943100"/>
          <a:ext cx="4323561" cy="1483360"/>
        </p:xfrm>
        <a:graphic>
          <a:graphicData uri="http://schemas.openxmlformats.org/drawingml/2006/table">
            <a:tbl>
              <a:tblPr firstRow="1" bandRow="1">
                <a:tableStyleId>{93296810-A885-4BE3-A3E7-6D5BEEA58F35}</a:tableStyleId>
              </a:tblPr>
              <a:tblGrid>
                <a:gridCol w="457517">
                  <a:extLst>
                    <a:ext uri="{9D8B030D-6E8A-4147-A177-3AD203B41FA5}">
                      <a16:colId xmlns:a16="http://schemas.microsoft.com/office/drawing/2014/main" val="1556919620"/>
                    </a:ext>
                  </a:extLst>
                </a:gridCol>
                <a:gridCol w="621030">
                  <a:extLst>
                    <a:ext uri="{9D8B030D-6E8A-4147-A177-3AD203B41FA5}">
                      <a16:colId xmlns:a16="http://schemas.microsoft.com/office/drawing/2014/main" val="3337377263"/>
                    </a:ext>
                  </a:extLst>
                </a:gridCol>
                <a:gridCol w="817880">
                  <a:extLst>
                    <a:ext uri="{9D8B030D-6E8A-4147-A177-3AD203B41FA5}">
                      <a16:colId xmlns:a16="http://schemas.microsoft.com/office/drawing/2014/main" val="3449113917"/>
                    </a:ext>
                  </a:extLst>
                </a:gridCol>
                <a:gridCol w="813118">
                  <a:extLst>
                    <a:ext uri="{9D8B030D-6E8A-4147-A177-3AD203B41FA5}">
                      <a16:colId xmlns:a16="http://schemas.microsoft.com/office/drawing/2014/main" val="929029081"/>
                    </a:ext>
                  </a:extLst>
                </a:gridCol>
                <a:gridCol w="1165543">
                  <a:extLst>
                    <a:ext uri="{9D8B030D-6E8A-4147-A177-3AD203B41FA5}">
                      <a16:colId xmlns:a16="http://schemas.microsoft.com/office/drawing/2014/main" val="562557027"/>
                    </a:ext>
                  </a:extLst>
                </a:gridCol>
                <a:gridCol w="448473">
                  <a:extLst>
                    <a:ext uri="{9D8B030D-6E8A-4147-A177-3AD203B41FA5}">
                      <a16:colId xmlns:a16="http://schemas.microsoft.com/office/drawing/2014/main" val="2000846430"/>
                    </a:ext>
                  </a:extLst>
                </a:gridCol>
              </a:tblGrid>
              <a:tr h="370840">
                <a:tc>
                  <a:txBody>
                    <a:bodyPr/>
                    <a:lstStyle/>
                    <a:p>
                      <a:pPr algn="ctr"/>
                      <a:r>
                        <a:rPr lang="en-US" dirty="0"/>
                        <a:t>ID</a:t>
                      </a:r>
                    </a:p>
                  </a:txBody>
                  <a:tcPr/>
                </a:tc>
                <a:tc>
                  <a:txBody>
                    <a:bodyPr/>
                    <a:lstStyle/>
                    <a:p>
                      <a:pPr algn="ctr"/>
                      <a:r>
                        <a:rPr lang="en-US" dirty="0"/>
                        <a:t>AST</a:t>
                      </a:r>
                    </a:p>
                  </a:txBody>
                  <a:tcPr/>
                </a:tc>
                <a:tc>
                  <a:txBody>
                    <a:bodyPr/>
                    <a:lstStyle/>
                    <a:p>
                      <a:pPr algn="ctr"/>
                      <a:r>
                        <a:rPr lang="en-US" dirty="0"/>
                        <a:t>Scope</a:t>
                      </a:r>
                    </a:p>
                  </a:txBody>
                  <a:tcPr/>
                </a:tc>
                <a:tc>
                  <a:txBody>
                    <a:bodyPr/>
                    <a:lstStyle/>
                    <a:p>
                      <a:r>
                        <a:rPr lang="en-US" dirty="0"/>
                        <a:t>Name</a:t>
                      </a:r>
                    </a:p>
                  </a:txBody>
                  <a:tcPr/>
                </a:tc>
                <a:tc>
                  <a:txBody>
                    <a:bodyPr/>
                    <a:lstStyle/>
                    <a:p>
                      <a:r>
                        <a:rPr lang="en-US" dirty="0"/>
                        <a:t>Kind</a:t>
                      </a:r>
                    </a:p>
                  </a:txBody>
                  <a:tcPr/>
                </a:tc>
                <a:tc>
                  <a:txBody>
                    <a:bodyPr/>
                    <a:lstStyle/>
                    <a:p>
                      <a:pPr algn="ctr"/>
                      <a:r>
                        <a:rPr lang="en-US" dirty="0"/>
                        <a:t>…</a:t>
                      </a:r>
                    </a:p>
                  </a:txBody>
                  <a:tcPr/>
                </a:tc>
                <a:extLst>
                  <a:ext uri="{0D108BD9-81ED-4DB2-BD59-A6C34878D82A}">
                    <a16:rowId xmlns:a16="http://schemas.microsoft.com/office/drawing/2014/main" val="4210314016"/>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tc>
                  <a:txBody>
                    <a:bodyPr/>
                    <a:lstStyle/>
                    <a:p>
                      <a:r>
                        <a:rPr lang="en-US" dirty="0"/>
                        <a:t>…</a:t>
                      </a:r>
                    </a:p>
                  </a:txBody>
                  <a:tcPr/>
                </a:tc>
                <a:tc>
                  <a:txBody>
                    <a:bodyPr/>
                    <a:lstStyle/>
                    <a:p>
                      <a:r>
                        <a:rPr lang="en-US" dirty="0"/>
                        <a:t>…</a:t>
                      </a:r>
                    </a:p>
                  </a:txBody>
                  <a:tcPr/>
                </a:tc>
                <a:tc>
                  <a:txBody>
                    <a:bodyPr/>
                    <a:lstStyle/>
                    <a:p>
                      <a:pPr algn="ctr"/>
                      <a:r>
                        <a:rPr lang="en-US" dirty="0"/>
                        <a:t>…</a:t>
                      </a:r>
                    </a:p>
                  </a:txBody>
                  <a:tcPr/>
                </a:tc>
                <a:extLst>
                  <a:ext uri="{0D108BD9-81ED-4DB2-BD59-A6C34878D82A}">
                    <a16:rowId xmlns:a16="http://schemas.microsoft.com/office/drawing/2014/main" val="2587184490"/>
                  </a:ext>
                </a:extLst>
              </a:tr>
              <a:tr h="370840">
                <a:tc>
                  <a:txBody>
                    <a:bodyPr/>
                    <a:lstStyle/>
                    <a:p>
                      <a:pPr algn="ctr"/>
                      <a:r>
                        <a:rPr lang="en-US" dirty="0"/>
                        <a:t>17</a:t>
                      </a:r>
                    </a:p>
                  </a:txBody>
                  <a:tcPr/>
                </a:tc>
                <a:tc>
                  <a:txBody>
                    <a:bodyPr/>
                    <a:lstStyle/>
                    <a:p>
                      <a:pPr algn="ctr"/>
                      <a:r>
                        <a:rPr lang="en-US" dirty="0"/>
                        <a:t>54</a:t>
                      </a:r>
                    </a:p>
                  </a:txBody>
                  <a:tcPr/>
                </a:tc>
                <a:tc>
                  <a:txBody>
                    <a:bodyPr/>
                    <a:lstStyle/>
                    <a:p>
                      <a:pPr algn="ctr"/>
                      <a:r>
                        <a:rPr lang="en-US" dirty="0"/>
                        <a:t>3</a:t>
                      </a:r>
                    </a:p>
                  </a:txBody>
                  <a:tcPr/>
                </a:tc>
                <a:tc>
                  <a:txBody>
                    <a:bodyPr/>
                    <a:lstStyle/>
                    <a:p>
                      <a:r>
                        <a:rPr lang="en-US" dirty="0">
                          <a:latin typeface="Consolas" panose="020B0609020204030204" pitchFamily="49" charset="0"/>
                          <a:cs typeface="Consolas" panose="020B0609020204030204" pitchFamily="49" charset="0"/>
                        </a:rPr>
                        <a:t>x</a:t>
                      </a:r>
                    </a:p>
                  </a:txBody>
                  <a:tcPr/>
                </a:tc>
                <a:tc>
                  <a:txBody>
                    <a:bodyPr/>
                    <a:lstStyle/>
                    <a:p>
                      <a:r>
                        <a:rPr lang="en-US" dirty="0"/>
                        <a:t>local </a:t>
                      </a:r>
                      <a:r>
                        <a:rPr lang="en-US" dirty="0" err="1"/>
                        <a:t>var</a:t>
                      </a:r>
                      <a:endParaRPr lang="en-US" dirty="0"/>
                    </a:p>
                  </a:txBody>
                  <a:tcPr/>
                </a:tc>
                <a:tc>
                  <a:txBody>
                    <a:bodyPr/>
                    <a:lstStyle/>
                    <a:p>
                      <a:pPr algn="ctr"/>
                      <a:r>
                        <a:rPr lang="en-US"/>
                        <a:t>…</a:t>
                      </a:r>
                      <a:endParaRPr lang="en-US" dirty="0"/>
                    </a:p>
                  </a:txBody>
                  <a:tcPr/>
                </a:tc>
                <a:extLst>
                  <a:ext uri="{0D108BD9-81ED-4DB2-BD59-A6C34878D82A}">
                    <a16:rowId xmlns:a16="http://schemas.microsoft.com/office/drawing/2014/main" val="1424729390"/>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tc>
                  <a:txBody>
                    <a:bodyPr/>
                    <a:lstStyle/>
                    <a:p>
                      <a:r>
                        <a:rPr lang="en-US" dirty="0"/>
                        <a:t>…</a:t>
                      </a:r>
                    </a:p>
                  </a:txBody>
                  <a:tcPr/>
                </a:tc>
                <a:tc>
                  <a:txBody>
                    <a:bodyPr/>
                    <a:lstStyle/>
                    <a:p>
                      <a:r>
                        <a:rPr lang="en-US" dirty="0"/>
                        <a:t>…</a:t>
                      </a:r>
                    </a:p>
                  </a:txBody>
                  <a:tcPr/>
                </a:tc>
                <a:tc>
                  <a:txBody>
                    <a:bodyPr/>
                    <a:lstStyle/>
                    <a:p>
                      <a:pPr algn="ctr"/>
                      <a:r>
                        <a:rPr lang="en-US" dirty="0"/>
                        <a:t>…</a:t>
                      </a:r>
                    </a:p>
                  </a:txBody>
                  <a:tcPr/>
                </a:tc>
                <a:extLst>
                  <a:ext uri="{0D108BD9-81ED-4DB2-BD59-A6C34878D82A}">
                    <a16:rowId xmlns:a16="http://schemas.microsoft.com/office/drawing/2014/main" val="4124770315"/>
                  </a:ext>
                </a:extLst>
              </a:tr>
            </a:tbl>
          </a:graphicData>
        </a:graphic>
      </p:graphicFrame>
      <p:cxnSp>
        <p:nvCxnSpPr>
          <p:cNvPr id="7" name="Straight Arrow Connector 6">
            <a:extLst>
              <a:ext uri="{FF2B5EF4-FFF2-40B4-BE49-F238E27FC236}">
                <a16:creationId xmlns:a16="http://schemas.microsoft.com/office/drawing/2014/main" id="{8B752A2E-7755-9940-A32A-F434CEBC22A1}"/>
              </a:ext>
            </a:extLst>
          </p:cNvPr>
          <p:cNvCxnSpPr>
            <a:cxnSpLocks/>
          </p:cNvCxnSpPr>
          <p:nvPr/>
        </p:nvCxnSpPr>
        <p:spPr>
          <a:xfrm>
            <a:off x="1600200" y="2067195"/>
            <a:ext cx="2909423" cy="7903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704646B-A163-1B4F-A679-759E50BFCBCD}"/>
              </a:ext>
            </a:extLst>
          </p:cNvPr>
          <p:cNvSpPr txBox="1"/>
          <p:nvPr/>
        </p:nvSpPr>
        <p:spPr>
          <a:xfrm rot="1051496">
            <a:off x="2551306" y="2153799"/>
            <a:ext cx="966162" cy="308418"/>
          </a:xfrm>
          <a:prstGeom prst="rect">
            <a:avLst/>
          </a:prstGeom>
          <a:noFill/>
        </p:spPr>
        <p:txBody>
          <a:bodyPr wrap="none" rtlCol="0">
            <a:spAutoFit/>
          </a:bodyPr>
          <a:lstStyle/>
          <a:p>
            <a:r>
              <a:rPr lang="en-US" dirty="0">
                <a:solidFill>
                  <a:srgbClr val="FF0000"/>
                </a:solidFill>
              </a:rPr>
              <a:t>declares…</a:t>
            </a:r>
          </a:p>
        </p:txBody>
      </p:sp>
      <p:cxnSp>
        <p:nvCxnSpPr>
          <p:cNvPr id="13" name="Straight Arrow Connector 12">
            <a:extLst>
              <a:ext uri="{FF2B5EF4-FFF2-40B4-BE49-F238E27FC236}">
                <a16:creationId xmlns:a16="http://schemas.microsoft.com/office/drawing/2014/main" id="{1282E779-D085-C54A-81E6-D5122D27D37C}"/>
              </a:ext>
            </a:extLst>
          </p:cNvPr>
          <p:cNvCxnSpPr>
            <a:cxnSpLocks/>
          </p:cNvCxnSpPr>
          <p:nvPr/>
        </p:nvCxnSpPr>
        <p:spPr>
          <a:xfrm>
            <a:off x="935237" y="2516053"/>
            <a:ext cx="3574386" cy="41764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D2AC0A3-F03A-5E40-B04F-71A53D7632DD}"/>
              </a:ext>
            </a:extLst>
          </p:cNvPr>
          <p:cNvSpPr txBox="1"/>
          <p:nvPr/>
        </p:nvSpPr>
        <p:spPr>
          <a:xfrm rot="357975">
            <a:off x="2388845" y="2362844"/>
            <a:ext cx="667170" cy="308418"/>
          </a:xfrm>
          <a:prstGeom prst="rect">
            <a:avLst/>
          </a:prstGeom>
          <a:noFill/>
        </p:spPr>
        <p:txBody>
          <a:bodyPr wrap="none" rtlCol="0">
            <a:spAutoFit/>
          </a:bodyPr>
          <a:lstStyle/>
          <a:p>
            <a:r>
              <a:rPr lang="en-US" dirty="0">
                <a:solidFill>
                  <a:srgbClr val="00B050"/>
                </a:solidFill>
              </a:rPr>
              <a:t>uses…</a:t>
            </a:r>
          </a:p>
        </p:txBody>
      </p:sp>
      <p:cxnSp>
        <p:nvCxnSpPr>
          <p:cNvPr id="16" name="Straight Arrow Connector 15">
            <a:extLst>
              <a:ext uri="{FF2B5EF4-FFF2-40B4-BE49-F238E27FC236}">
                <a16:creationId xmlns:a16="http://schemas.microsoft.com/office/drawing/2014/main" id="{3691C9E2-37BD-E74D-8A4B-5BBBE128FA41}"/>
              </a:ext>
            </a:extLst>
          </p:cNvPr>
          <p:cNvCxnSpPr>
            <a:cxnSpLocks/>
          </p:cNvCxnSpPr>
          <p:nvPr/>
        </p:nvCxnSpPr>
        <p:spPr>
          <a:xfrm>
            <a:off x="1600200" y="2516053"/>
            <a:ext cx="2819400" cy="33260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D12D12A-5F6B-3E44-8048-8C853EA9316E}"/>
              </a:ext>
            </a:extLst>
          </p:cNvPr>
          <p:cNvCxnSpPr>
            <a:cxnSpLocks/>
          </p:cNvCxnSpPr>
          <p:nvPr/>
        </p:nvCxnSpPr>
        <p:spPr>
          <a:xfrm>
            <a:off x="2209800" y="2796600"/>
            <a:ext cx="2133600" cy="16502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F7B1E47-244B-F64C-AA5F-EFC4D75FF664}"/>
              </a:ext>
            </a:extLst>
          </p:cNvPr>
          <p:cNvCxnSpPr>
            <a:cxnSpLocks/>
          </p:cNvCxnSpPr>
          <p:nvPr/>
        </p:nvCxnSpPr>
        <p:spPr>
          <a:xfrm flipV="1">
            <a:off x="935237" y="3009900"/>
            <a:ext cx="3574386" cy="15240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4DC6FBF-060A-6E41-BAEB-26DA84BF0D79}"/>
              </a:ext>
            </a:extLst>
          </p:cNvPr>
          <p:cNvCxnSpPr>
            <a:cxnSpLocks/>
          </p:cNvCxnSpPr>
          <p:nvPr/>
        </p:nvCxnSpPr>
        <p:spPr>
          <a:xfrm flipV="1">
            <a:off x="2057400" y="3069416"/>
            <a:ext cx="2362200" cy="39768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3591D0B-AD17-B14A-8B1A-89C5E0B6BBBD}"/>
              </a:ext>
            </a:extLst>
          </p:cNvPr>
          <p:cNvSpPr txBox="1"/>
          <p:nvPr/>
        </p:nvSpPr>
        <p:spPr>
          <a:xfrm>
            <a:off x="1483134" y="3932008"/>
            <a:ext cx="2688824" cy="1107996"/>
          </a:xfrm>
          <a:prstGeom prst="rect">
            <a:avLst/>
          </a:prstGeom>
          <a:noFill/>
        </p:spPr>
        <p:txBody>
          <a:bodyPr wrap="square" rtlCol="0">
            <a:spAutoFit/>
          </a:bodyPr>
          <a:lstStyle/>
          <a:p>
            <a:pPr algn="ctr"/>
            <a:r>
              <a:rPr lang="en-US" sz="2200" dirty="0"/>
              <a:t>the actual maps map from </a:t>
            </a:r>
            <a:r>
              <a:rPr lang="en-US" sz="2200" b="1" dirty="0"/>
              <a:t>Node IDs</a:t>
            </a:r>
            <a:r>
              <a:rPr lang="en-US" sz="2200" dirty="0"/>
              <a:t> to </a:t>
            </a:r>
            <a:r>
              <a:rPr lang="en-US" sz="2200" b="1" dirty="0"/>
              <a:t>Symbol IDs</a:t>
            </a:r>
            <a:r>
              <a:rPr lang="en-US" sz="2200" dirty="0"/>
              <a:t>.</a:t>
            </a:r>
          </a:p>
        </p:txBody>
      </p:sp>
      <p:graphicFrame>
        <p:nvGraphicFramePr>
          <p:cNvPr id="32" name="Table 31">
            <a:extLst>
              <a:ext uri="{FF2B5EF4-FFF2-40B4-BE49-F238E27FC236}">
                <a16:creationId xmlns:a16="http://schemas.microsoft.com/office/drawing/2014/main" id="{183001CE-0829-F145-BF55-E3EFE0E68F7F}"/>
              </a:ext>
            </a:extLst>
          </p:cNvPr>
          <p:cNvGraphicFramePr>
            <a:graphicFrameLocks noGrp="1"/>
          </p:cNvGraphicFramePr>
          <p:nvPr>
            <p:extLst>
              <p:ext uri="{D42A27DB-BD31-4B8C-83A1-F6EECF244321}">
                <p14:modId xmlns:p14="http://schemas.microsoft.com/office/powerpoint/2010/main" val="4001878887"/>
              </p:ext>
            </p:extLst>
          </p:nvPr>
        </p:nvGraphicFramePr>
        <p:xfrm>
          <a:off x="4511099" y="3924021"/>
          <a:ext cx="1271841" cy="1112520"/>
        </p:xfrm>
        <a:graphic>
          <a:graphicData uri="http://schemas.openxmlformats.org/drawingml/2006/table">
            <a:tbl>
              <a:tblPr firstRow="1" bandRow="1">
                <a:tableStyleId>{21E4AEA4-8DFA-4A89-87EB-49C32662AFE0}</a:tableStyleId>
              </a:tblPr>
              <a:tblGrid>
                <a:gridCol w="621030">
                  <a:extLst>
                    <a:ext uri="{9D8B030D-6E8A-4147-A177-3AD203B41FA5}">
                      <a16:colId xmlns:a16="http://schemas.microsoft.com/office/drawing/2014/main" val="3190083857"/>
                    </a:ext>
                  </a:extLst>
                </a:gridCol>
                <a:gridCol w="650811">
                  <a:extLst>
                    <a:ext uri="{9D8B030D-6E8A-4147-A177-3AD203B41FA5}">
                      <a16:colId xmlns:a16="http://schemas.microsoft.com/office/drawing/2014/main" val="447954338"/>
                    </a:ext>
                  </a:extLst>
                </a:gridCol>
              </a:tblGrid>
              <a:tr h="370840">
                <a:tc>
                  <a:txBody>
                    <a:bodyPr/>
                    <a:lstStyle/>
                    <a:p>
                      <a:pPr algn="ctr"/>
                      <a:r>
                        <a:rPr lang="en-US" dirty="0"/>
                        <a:t>AST</a:t>
                      </a:r>
                    </a:p>
                  </a:txBody>
                  <a:tcPr/>
                </a:tc>
                <a:tc>
                  <a:txBody>
                    <a:bodyPr/>
                    <a:lstStyle/>
                    <a:p>
                      <a:pPr algn="ctr"/>
                      <a:r>
                        <a:rPr lang="en-US" dirty="0" err="1"/>
                        <a:t>Sym</a:t>
                      </a:r>
                      <a:endParaRPr lang="en-US" dirty="0"/>
                    </a:p>
                  </a:txBody>
                  <a:tcPr/>
                </a:tc>
                <a:extLst>
                  <a:ext uri="{0D108BD9-81ED-4DB2-BD59-A6C34878D82A}">
                    <a16:rowId xmlns:a16="http://schemas.microsoft.com/office/drawing/2014/main" val="4038516825"/>
                  </a:ext>
                </a:extLst>
              </a:tr>
              <a:tr h="370840">
                <a:tc>
                  <a:txBody>
                    <a:bodyPr/>
                    <a:lstStyle/>
                    <a:p>
                      <a:pPr algn="ctr"/>
                      <a:r>
                        <a:rPr lang="en-US" dirty="0"/>
                        <a:t>74</a:t>
                      </a:r>
                    </a:p>
                  </a:txBody>
                  <a:tcPr/>
                </a:tc>
                <a:tc>
                  <a:txBody>
                    <a:bodyPr/>
                    <a:lstStyle/>
                    <a:p>
                      <a:pPr algn="ctr"/>
                      <a:r>
                        <a:rPr lang="en-US" dirty="0"/>
                        <a:t>17</a:t>
                      </a:r>
                    </a:p>
                  </a:txBody>
                  <a:tcPr/>
                </a:tc>
                <a:extLst>
                  <a:ext uri="{0D108BD9-81ED-4DB2-BD59-A6C34878D82A}">
                    <a16:rowId xmlns:a16="http://schemas.microsoft.com/office/drawing/2014/main" val="4149257058"/>
                  </a:ext>
                </a:extLst>
              </a:tr>
              <a:tr h="370840">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808986215"/>
                  </a:ext>
                </a:extLst>
              </a:tr>
            </a:tbl>
          </a:graphicData>
        </a:graphic>
      </p:graphicFrame>
      <p:graphicFrame>
        <p:nvGraphicFramePr>
          <p:cNvPr id="33" name="Table 32">
            <a:extLst>
              <a:ext uri="{FF2B5EF4-FFF2-40B4-BE49-F238E27FC236}">
                <a16:creationId xmlns:a16="http://schemas.microsoft.com/office/drawing/2014/main" id="{54F25964-8C9A-9341-ADFB-FF5DEBB00257}"/>
              </a:ext>
            </a:extLst>
          </p:cNvPr>
          <p:cNvGraphicFramePr>
            <a:graphicFrameLocks noGrp="1"/>
          </p:cNvGraphicFramePr>
          <p:nvPr>
            <p:extLst>
              <p:ext uri="{D42A27DB-BD31-4B8C-83A1-F6EECF244321}">
                <p14:modId xmlns:p14="http://schemas.microsoft.com/office/powerpoint/2010/main" val="199467984"/>
              </p:ext>
            </p:extLst>
          </p:nvPr>
        </p:nvGraphicFramePr>
        <p:xfrm>
          <a:off x="5967159" y="3924021"/>
          <a:ext cx="1271841" cy="1483360"/>
        </p:xfrm>
        <a:graphic>
          <a:graphicData uri="http://schemas.openxmlformats.org/drawingml/2006/table">
            <a:tbl>
              <a:tblPr firstRow="1" bandRow="1">
                <a:tableStyleId>{F5AB1C69-6EDB-4FF4-983F-18BD219EF322}</a:tableStyleId>
              </a:tblPr>
              <a:tblGrid>
                <a:gridCol w="621030">
                  <a:extLst>
                    <a:ext uri="{9D8B030D-6E8A-4147-A177-3AD203B41FA5}">
                      <a16:colId xmlns:a16="http://schemas.microsoft.com/office/drawing/2014/main" val="3190083857"/>
                    </a:ext>
                  </a:extLst>
                </a:gridCol>
                <a:gridCol w="650811">
                  <a:extLst>
                    <a:ext uri="{9D8B030D-6E8A-4147-A177-3AD203B41FA5}">
                      <a16:colId xmlns:a16="http://schemas.microsoft.com/office/drawing/2014/main" val="447954338"/>
                    </a:ext>
                  </a:extLst>
                </a:gridCol>
              </a:tblGrid>
              <a:tr h="370840">
                <a:tc>
                  <a:txBody>
                    <a:bodyPr/>
                    <a:lstStyle/>
                    <a:p>
                      <a:pPr algn="ctr"/>
                      <a:r>
                        <a:rPr lang="en-US" dirty="0"/>
                        <a:t>AST</a:t>
                      </a:r>
                    </a:p>
                  </a:txBody>
                  <a:tcPr/>
                </a:tc>
                <a:tc>
                  <a:txBody>
                    <a:bodyPr/>
                    <a:lstStyle/>
                    <a:p>
                      <a:pPr algn="ctr"/>
                      <a:r>
                        <a:rPr lang="en-US" dirty="0" err="1"/>
                        <a:t>Sym</a:t>
                      </a:r>
                      <a:endParaRPr lang="en-US" dirty="0"/>
                    </a:p>
                  </a:txBody>
                  <a:tcPr/>
                </a:tc>
                <a:extLst>
                  <a:ext uri="{0D108BD9-81ED-4DB2-BD59-A6C34878D82A}">
                    <a16:rowId xmlns:a16="http://schemas.microsoft.com/office/drawing/2014/main" val="4038516825"/>
                  </a:ext>
                </a:extLst>
              </a:tr>
              <a:tr h="370840">
                <a:tc>
                  <a:txBody>
                    <a:bodyPr/>
                    <a:lstStyle/>
                    <a:p>
                      <a:pPr algn="ctr"/>
                      <a:r>
                        <a:rPr lang="en-US" dirty="0"/>
                        <a:t>76</a:t>
                      </a:r>
                    </a:p>
                  </a:txBody>
                  <a:tcPr/>
                </a:tc>
                <a:tc>
                  <a:txBody>
                    <a:bodyPr/>
                    <a:lstStyle/>
                    <a:p>
                      <a:pPr algn="ctr"/>
                      <a:r>
                        <a:rPr lang="en-US" dirty="0"/>
                        <a:t>17</a:t>
                      </a:r>
                    </a:p>
                  </a:txBody>
                  <a:tcPr/>
                </a:tc>
                <a:extLst>
                  <a:ext uri="{0D108BD9-81ED-4DB2-BD59-A6C34878D82A}">
                    <a16:rowId xmlns:a16="http://schemas.microsoft.com/office/drawing/2014/main" val="4149257058"/>
                  </a:ext>
                </a:extLst>
              </a:tr>
              <a:tr h="370840">
                <a:tc>
                  <a:txBody>
                    <a:bodyPr/>
                    <a:lstStyle/>
                    <a:p>
                      <a:pPr algn="ctr"/>
                      <a:r>
                        <a:rPr lang="en-US" dirty="0"/>
                        <a:t>78</a:t>
                      </a:r>
                    </a:p>
                  </a:txBody>
                  <a:tcPr/>
                </a:tc>
                <a:tc>
                  <a:txBody>
                    <a:bodyPr/>
                    <a:lstStyle/>
                    <a:p>
                      <a:pPr algn="ctr"/>
                      <a:r>
                        <a:rPr lang="en-US" dirty="0"/>
                        <a:t>17</a:t>
                      </a:r>
                    </a:p>
                  </a:txBody>
                  <a:tcPr/>
                </a:tc>
                <a:extLst>
                  <a:ext uri="{0D108BD9-81ED-4DB2-BD59-A6C34878D82A}">
                    <a16:rowId xmlns:a16="http://schemas.microsoft.com/office/drawing/2014/main" val="3790314634"/>
                  </a:ext>
                </a:extLst>
              </a:tr>
              <a:tr h="370840">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3241827740"/>
                  </a:ext>
                </a:extLst>
              </a:tr>
            </a:tbl>
          </a:graphicData>
        </a:graphic>
      </p:graphicFrame>
      <p:sp>
        <p:nvSpPr>
          <p:cNvPr id="34" name="TextBox 33">
            <a:extLst>
              <a:ext uri="{FF2B5EF4-FFF2-40B4-BE49-F238E27FC236}">
                <a16:creationId xmlns:a16="http://schemas.microsoft.com/office/drawing/2014/main" id="{08F362EB-4B52-624E-B388-FA23FDEB0C01}"/>
              </a:ext>
            </a:extLst>
          </p:cNvPr>
          <p:cNvSpPr txBox="1"/>
          <p:nvPr/>
        </p:nvSpPr>
        <p:spPr>
          <a:xfrm>
            <a:off x="4736489" y="3522725"/>
            <a:ext cx="821059" cy="400110"/>
          </a:xfrm>
          <a:prstGeom prst="rect">
            <a:avLst/>
          </a:prstGeom>
          <a:noFill/>
        </p:spPr>
        <p:txBody>
          <a:bodyPr wrap="none" rtlCol="0">
            <a:spAutoFit/>
          </a:bodyPr>
          <a:lstStyle/>
          <a:p>
            <a:pPr algn="ctr"/>
            <a:r>
              <a:rPr lang="en-US" sz="2000" b="1" u="sng" dirty="0" err="1">
                <a:solidFill>
                  <a:srgbClr val="FF0000"/>
                </a:solidFill>
              </a:rPr>
              <a:t>Decls</a:t>
            </a:r>
            <a:endParaRPr lang="en-US" sz="2000" b="1" u="sng" dirty="0">
              <a:solidFill>
                <a:srgbClr val="FF0000"/>
              </a:solidFill>
            </a:endParaRPr>
          </a:p>
        </p:txBody>
      </p:sp>
      <p:sp>
        <p:nvSpPr>
          <p:cNvPr id="35" name="TextBox 34">
            <a:extLst>
              <a:ext uri="{FF2B5EF4-FFF2-40B4-BE49-F238E27FC236}">
                <a16:creationId xmlns:a16="http://schemas.microsoft.com/office/drawing/2014/main" id="{17F041CF-3C59-9B48-B264-71B3EBB4A9CD}"/>
              </a:ext>
            </a:extLst>
          </p:cNvPr>
          <p:cNvSpPr txBox="1"/>
          <p:nvPr/>
        </p:nvSpPr>
        <p:spPr>
          <a:xfrm>
            <a:off x="6235830" y="3529637"/>
            <a:ext cx="734496" cy="400110"/>
          </a:xfrm>
          <a:prstGeom prst="rect">
            <a:avLst/>
          </a:prstGeom>
          <a:noFill/>
        </p:spPr>
        <p:txBody>
          <a:bodyPr wrap="none" rtlCol="0">
            <a:spAutoFit/>
          </a:bodyPr>
          <a:lstStyle/>
          <a:p>
            <a:pPr algn="ctr"/>
            <a:r>
              <a:rPr lang="en-US" sz="2000" b="1" u="sng" dirty="0">
                <a:solidFill>
                  <a:srgbClr val="00B050"/>
                </a:solidFill>
              </a:rPr>
              <a:t>Uses</a:t>
            </a:r>
          </a:p>
        </p:txBody>
      </p:sp>
    </p:spTree>
    <p:extLst>
      <p:ext uri="{BB962C8B-B14F-4D97-AF65-F5344CB8AC3E}">
        <p14:creationId xmlns:p14="http://schemas.microsoft.com/office/powerpoint/2010/main" val="549124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4" grpId="0"/>
      <p:bldP spid="31" grpId="0"/>
      <p:bldP spid="34" grpId="0"/>
      <p:bldP spid="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D8C4-3C58-C94A-BE26-8F596434453C}"/>
              </a:ext>
            </a:extLst>
          </p:cNvPr>
          <p:cNvSpPr>
            <a:spLocks noGrp="1"/>
          </p:cNvSpPr>
          <p:nvPr>
            <p:ph type="title"/>
          </p:nvPr>
        </p:nvSpPr>
        <p:spPr/>
        <p:txBody>
          <a:bodyPr/>
          <a:lstStyle/>
          <a:p>
            <a:r>
              <a:rPr lang="en-US" dirty="0"/>
              <a:t>Bundling it all up</a:t>
            </a:r>
          </a:p>
        </p:txBody>
      </p:sp>
      <p:sp>
        <p:nvSpPr>
          <p:cNvPr id="3" name="Content Placeholder 2">
            <a:extLst>
              <a:ext uri="{FF2B5EF4-FFF2-40B4-BE49-F238E27FC236}">
                <a16:creationId xmlns:a16="http://schemas.microsoft.com/office/drawing/2014/main" id="{AE6A6F01-C89B-634E-B934-173E6D3B5023}"/>
              </a:ext>
            </a:extLst>
          </p:cNvPr>
          <p:cNvSpPr>
            <a:spLocks noGrp="1"/>
          </p:cNvSpPr>
          <p:nvPr>
            <p:ph idx="1"/>
          </p:nvPr>
        </p:nvSpPr>
        <p:spPr>
          <a:xfrm>
            <a:off x="152400" y="495301"/>
            <a:ext cx="8991600" cy="1219199"/>
          </a:xfrm>
        </p:spPr>
        <p:txBody>
          <a:bodyPr/>
          <a:lstStyle/>
          <a:p>
            <a:r>
              <a:rPr lang="en-US" dirty="0"/>
              <a:t>the </a:t>
            </a:r>
            <a:r>
              <a:rPr lang="en-US" b="1" dirty="0"/>
              <a:t>symbols, scope tree, declaration map, </a:t>
            </a:r>
            <a:r>
              <a:rPr lang="en-US" dirty="0"/>
              <a:t>and </a:t>
            </a:r>
            <a:r>
              <a:rPr lang="en-US" b="1" dirty="0"/>
              <a:t>use map </a:t>
            </a:r>
            <a:r>
              <a:rPr lang="en-US" dirty="0"/>
              <a:t>are all packaged into one big object, the </a:t>
            </a:r>
            <a:r>
              <a:rPr lang="en-US" b="1" dirty="0"/>
              <a:t>name context.</a:t>
            </a:r>
          </a:p>
          <a:p>
            <a:r>
              <a:rPr lang="en-US" dirty="0"/>
              <a:t>this can be used in later phases of the compiler!</a:t>
            </a:r>
          </a:p>
        </p:txBody>
      </p:sp>
      <p:sp>
        <p:nvSpPr>
          <p:cNvPr id="4" name="Slide Number Placeholder 3">
            <a:extLst>
              <a:ext uri="{FF2B5EF4-FFF2-40B4-BE49-F238E27FC236}">
                <a16:creationId xmlns:a16="http://schemas.microsoft.com/office/drawing/2014/main" id="{8EB4456E-2E7C-7D45-9C1E-F04925203164}"/>
              </a:ext>
            </a:extLst>
          </p:cNvPr>
          <p:cNvSpPr>
            <a:spLocks noGrp="1"/>
          </p:cNvSpPr>
          <p:nvPr>
            <p:ph type="sldNum" sz="quarter" idx="12"/>
          </p:nvPr>
        </p:nvSpPr>
        <p:spPr/>
        <p:txBody>
          <a:bodyPr/>
          <a:lstStyle/>
          <a:p>
            <a:fld id="{3552B95B-556F-44BD-91A5-D80C1B9E2BB3}" type="slidenum">
              <a:rPr lang="en-US" smtClean="0"/>
              <a:pPr/>
              <a:t>28</a:t>
            </a:fld>
            <a:endParaRPr lang="en-US"/>
          </a:p>
        </p:txBody>
      </p:sp>
      <p:sp>
        <p:nvSpPr>
          <p:cNvPr id="6" name="Rectangle 5">
            <a:extLst>
              <a:ext uri="{FF2B5EF4-FFF2-40B4-BE49-F238E27FC236}">
                <a16:creationId xmlns:a16="http://schemas.microsoft.com/office/drawing/2014/main" id="{1F7F68E9-996F-0344-B4FF-1488D961DE15}"/>
              </a:ext>
            </a:extLst>
          </p:cNvPr>
          <p:cNvSpPr/>
          <p:nvPr/>
        </p:nvSpPr>
        <p:spPr>
          <a:xfrm>
            <a:off x="1434465" y="1866899"/>
            <a:ext cx="1461135" cy="9906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Name checking</a:t>
            </a:r>
          </a:p>
        </p:txBody>
      </p:sp>
      <p:sp>
        <p:nvSpPr>
          <p:cNvPr id="7" name="TextBox 6">
            <a:extLst>
              <a:ext uri="{FF2B5EF4-FFF2-40B4-BE49-F238E27FC236}">
                <a16:creationId xmlns:a16="http://schemas.microsoft.com/office/drawing/2014/main" id="{B0B3B7F7-03D6-3949-B391-EC169C46A666}"/>
              </a:ext>
            </a:extLst>
          </p:cNvPr>
          <p:cNvSpPr txBox="1"/>
          <p:nvPr/>
        </p:nvSpPr>
        <p:spPr>
          <a:xfrm>
            <a:off x="192409" y="2171474"/>
            <a:ext cx="781050" cy="430887"/>
          </a:xfrm>
          <a:prstGeom prst="rect">
            <a:avLst/>
          </a:prstGeom>
          <a:noFill/>
        </p:spPr>
        <p:txBody>
          <a:bodyPr wrap="square" rtlCol="0">
            <a:spAutoFit/>
          </a:bodyPr>
          <a:lstStyle/>
          <a:p>
            <a:pPr algn="ctr"/>
            <a:r>
              <a:rPr lang="en-US" sz="2200" b="1" dirty="0"/>
              <a:t>AST</a:t>
            </a:r>
          </a:p>
        </p:txBody>
      </p:sp>
      <p:sp>
        <p:nvSpPr>
          <p:cNvPr id="8" name="Right Arrow 7">
            <a:extLst>
              <a:ext uri="{FF2B5EF4-FFF2-40B4-BE49-F238E27FC236}">
                <a16:creationId xmlns:a16="http://schemas.microsoft.com/office/drawing/2014/main" id="{737C10AC-757B-884F-9A69-6A8978B215AA}"/>
              </a:ext>
            </a:extLst>
          </p:cNvPr>
          <p:cNvSpPr/>
          <p:nvPr/>
        </p:nvSpPr>
        <p:spPr>
          <a:xfrm>
            <a:off x="920115" y="2186862"/>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55C9B2C0-4FAF-DA4D-8DA6-AD469E8425CD}"/>
              </a:ext>
            </a:extLst>
          </p:cNvPr>
          <p:cNvSpPr/>
          <p:nvPr/>
        </p:nvSpPr>
        <p:spPr>
          <a:xfrm>
            <a:off x="2895600" y="2186862"/>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366178-F0E2-8E4B-A4A4-CAC59190653C}"/>
              </a:ext>
            </a:extLst>
          </p:cNvPr>
          <p:cNvSpPr/>
          <p:nvPr/>
        </p:nvSpPr>
        <p:spPr>
          <a:xfrm>
            <a:off x="5894075" y="1841348"/>
            <a:ext cx="1461135" cy="16257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Type checking</a:t>
            </a:r>
          </a:p>
        </p:txBody>
      </p:sp>
      <p:sp>
        <p:nvSpPr>
          <p:cNvPr id="11" name="TextBox 10">
            <a:extLst>
              <a:ext uri="{FF2B5EF4-FFF2-40B4-BE49-F238E27FC236}">
                <a16:creationId xmlns:a16="http://schemas.microsoft.com/office/drawing/2014/main" id="{85C889A3-0B56-AA42-ADD1-73F2C5BFFCC5}"/>
              </a:ext>
            </a:extLst>
          </p:cNvPr>
          <p:cNvSpPr txBox="1"/>
          <p:nvPr/>
        </p:nvSpPr>
        <p:spPr>
          <a:xfrm>
            <a:off x="3356606" y="2171474"/>
            <a:ext cx="2057372" cy="430887"/>
          </a:xfrm>
          <a:prstGeom prst="rect">
            <a:avLst/>
          </a:prstGeom>
          <a:noFill/>
        </p:spPr>
        <p:txBody>
          <a:bodyPr wrap="square" rtlCol="0">
            <a:spAutoFit/>
          </a:bodyPr>
          <a:lstStyle/>
          <a:p>
            <a:pPr algn="ctr"/>
            <a:r>
              <a:rPr lang="en-US" sz="2200" b="1" dirty="0"/>
              <a:t>name context</a:t>
            </a:r>
          </a:p>
        </p:txBody>
      </p:sp>
      <p:sp>
        <p:nvSpPr>
          <p:cNvPr id="12" name="Right Arrow 11">
            <a:extLst>
              <a:ext uri="{FF2B5EF4-FFF2-40B4-BE49-F238E27FC236}">
                <a16:creationId xmlns:a16="http://schemas.microsoft.com/office/drawing/2014/main" id="{315169D8-B279-834B-B1E1-E2EC22344D5D}"/>
              </a:ext>
            </a:extLst>
          </p:cNvPr>
          <p:cNvSpPr/>
          <p:nvPr/>
        </p:nvSpPr>
        <p:spPr>
          <a:xfrm>
            <a:off x="5379725" y="2186862"/>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9DAABC75-840B-CB42-ADCF-599AD9BC7169}"/>
              </a:ext>
            </a:extLst>
          </p:cNvPr>
          <p:cNvSpPr/>
          <p:nvPr/>
        </p:nvSpPr>
        <p:spPr>
          <a:xfrm>
            <a:off x="7355210" y="2419819"/>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5242AC4-B3E8-CE4F-9580-F9230F5479DA}"/>
              </a:ext>
            </a:extLst>
          </p:cNvPr>
          <p:cNvSpPr txBox="1"/>
          <p:nvPr/>
        </p:nvSpPr>
        <p:spPr>
          <a:xfrm>
            <a:off x="7781923" y="2048363"/>
            <a:ext cx="1352554" cy="1107996"/>
          </a:xfrm>
          <a:prstGeom prst="rect">
            <a:avLst/>
          </a:prstGeom>
          <a:noFill/>
        </p:spPr>
        <p:txBody>
          <a:bodyPr wrap="square" rtlCol="0">
            <a:spAutoFit/>
          </a:bodyPr>
          <a:lstStyle/>
          <a:p>
            <a:pPr algn="ctr"/>
            <a:r>
              <a:rPr lang="en-US" sz="2200" b="1" dirty="0"/>
              <a:t>type context…?</a:t>
            </a:r>
          </a:p>
        </p:txBody>
      </p:sp>
      <p:sp>
        <p:nvSpPr>
          <p:cNvPr id="15" name="TextBox 14">
            <a:extLst>
              <a:ext uri="{FF2B5EF4-FFF2-40B4-BE49-F238E27FC236}">
                <a16:creationId xmlns:a16="http://schemas.microsoft.com/office/drawing/2014/main" id="{FBFD4102-68B2-BC47-B854-91116849F456}"/>
              </a:ext>
            </a:extLst>
          </p:cNvPr>
          <p:cNvSpPr txBox="1"/>
          <p:nvPr/>
        </p:nvSpPr>
        <p:spPr>
          <a:xfrm>
            <a:off x="4632928" y="2761462"/>
            <a:ext cx="781050" cy="430887"/>
          </a:xfrm>
          <a:prstGeom prst="rect">
            <a:avLst/>
          </a:prstGeom>
          <a:noFill/>
        </p:spPr>
        <p:txBody>
          <a:bodyPr wrap="square" rtlCol="0">
            <a:spAutoFit/>
          </a:bodyPr>
          <a:lstStyle/>
          <a:p>
            <a:pPr algn="ctr"/>
            <a:r>
              <a:rPr lang="en-US" sz="2200" b="1" dirty="0"/>
              <a:t>AST</a:t>
            </a:r>
          </a:p>
        </p:txBody>
      </p:sp>
      <p:sp>
        <p:nvSpPr>
          <p:cNvPr id="16" name="Right Arrow 15">
            <a:extLst>
              <a:ext uri="{FF2B5EF4-FFF2-40B4-BE49-F238E27FC236}">
                <a16:creationId xmlns:a16="http://schemas.microsoft.com/office/drawing/2014/main" id="{3854C859-C437-774D-96D2-CE66D41B6823}"/>
              </a:ext>
            </a:extLst>
          </p:cNvPr>
          <p:cNvSpPr/>
          <p:nvPr/>
        </p:nvSpPr>
        <p:spPr>
          <a:xfrm>
            <a:off x="5379725" y="2776850"/>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BF313A6-3EC5-3044-81C0-738277398EE1}"/>
              </a:ext>
            </a:extLst>
          </p:cNvPr>
          <p:cNvSpPr txBox="1"/>
          <p:nvPr/>
        </p:nvSpPr>
        <p:spPr>
          <a:xfrm>
            <a:off x="664343" y="3565023"/>
            <a:ext cx="7967713" cy="769441"/>
          </a:xfrm>
          <a:prstGeom prst="rect">
            <a:avLst/>
          </a:prstGeom>
          <a:noFill/>
        </p:spPr>
        <p:txBody>
          <a:bodyPr wrap="square" rtlCol="0">
            <a:spAutoFit/>
          </a:bodyPr>
          <a:lstStyle/>
          <a:p>
            <a:pPr algn="ctr"/>
            <a:r>
              <a:rPr lang="en-US" sz="2200" dirty="0"/>
              <a:t>each phase of semantic analysis generates </a:t>
            </a:r>
            <a:r>
              <a:rPr lang="en-US" sz="2200" b="1" dirty="0"/>
              <a:t>more information about the program</a:t>
            </a:r>
            <a:r>
              <a:rPr lang="en-US" sz="2200" dirty="0"/>
              <a:t> which later phases use. </a:t>
            </a:r>
          </a:p>
        </p:txBody>
      </p:sp>
      <p:sp>
        <p:nvSpPr>
          <p:cNvPr id="19" name="TextBox 18">
            <a:extLst>
              <a:ext uri="{FF2B5EF4-FFF2-40B4-BE49-F238E27FC236}">
                <a16:creationId xmlns:a16="http://schemas.microsoft.com/office/drawing/2014/main" id="{E40E8735-5435-7C42-99EC-9D4EC0FED7FF}"/>
              </a:ext>
            </a:extLst>
          </p:cNvPr>
          <p:cNvSpPr txBox="1"/>
          <p:nvPr/>
        </p:nvSpPr>
        <p:spPr>
          <a:xfrm>
            <a:off x="973459" y="4450258"/>
            <a:ext cx="7349482" cy="769441"/>
          </a:xfrm>
          <a:prstGeom prst="rect">
            <a:avLst/>
          </a:prstGeom>
          <a:noFill/>
        </p:spPr>
        <p:txBody>
          <a:bodyPr wrap="square" rtlCol="0">
            <a:spAutoFit/>
          </a:bodyPr>
          <a:lstStyle/>
          <a:p>
            <a:pPr algn="ctr"/>
            <a:r>
              <a:rPr lang="en-US" sz="2200" dirty="0"/>
              <a:t>for now, the AST will remain the central representation of the program, but that may change later in compilation…</a:t>
            </a:r>
          </a:p>
        </p:txBody>
      </p:sp>
    </p:spTree>
    <p:extLst>
      <p:ext uri="{BB962C8B-B14F-4D97-AF65-F5344CB8AC3E}">
        <p14:creationId xmlns:p14="http://schemas.microsoft.com/office/powerpoint/2010/main" val="27683055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animBg="1"/>
      <p:bldP spid="10" grpId="0" animBg="1"/>
      <p:bldP spid="11" grpId="0"/>
      <p:bldP spid="12" grpId="0" animBg="1"/>
      <p:bldP spid="13" grpId="0" animBg="1"/>
      <p:bldP spid="14" grpId="0"/>
      <p:bldP spid="15" grpId="0"/>
      <p:bldP spid="16" grpId="0" animBg="1"/>
      <p:bldP spid="18"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F403D-D2FC-5B41-BFAF-A9FF3EE16A39}"/>
              </a:ext>
            </a:extLst>
          </p:cNvPr>
          <p:cNvSpPr>
            <a:spLocks noGrp="1"/>
          </p:cNvSpPr>
          <p:nvPr>
            <p:ph type="title"/>
          </p:nvPr>
        </p:nvSpPr>
        <p:spPr/>
        <p:txBody>
          <a:bodyPr/>
          <a:lstStyle/>
          <a:p>
            <a:r>
              <a:rPr lang="en-US" dirty="0"/>
              <a:t>Building the scope tree and symbol tables</a:t>
            </a:r>
          </a:p>
        </p:txBody>
      </p:sp>
      <p:sp>
        <p:nvSpPr>
          <p:cNvPr id="3" name="Content Placeholder 2">
            <a:extLst>
              <a:ext uri="{FF2B5EF4-FFF2-40B4-BE49-F238E27FC236}">
                <a16:creationId xmlns:a16="http://schemas.microsoft.com/office/drawing/2014/main" id="{6094E63B-E2F2-9A4D-AA63-532DB2B08888}"/>
              </a:ext>
            </a:extLst>
          </p:cNvPr>
          <p:cNvSpPr>
            <a:spLocks noGrp="1"/>
          </p:cNvSpPr>
          <p:nvPr>
            <p:ph idx="1"/>
          </p:nvPr>
        </p:nvSpPr>
        <p:spPr/>
        <p:txBody>
          <a:bodyPr/>
          <a:lstStyle/>
          <a:p>
            <a:r>
              <a:rPr lang="en-US" dirty="0"/>
              <a:t>the actual algorithm for building the scope tree is surprisingly simple.</a:t>
            </a:r>
          </a:p>
          <a:p>
            <a:r>
              <a:rPr lang="en-US" dirty="0"/>
              <a:t>the idea is like this:</a:t>
            </a:r>
          </a:p>
          <a:p>
            <a:pPr lvl="1"/>
            <a:r>
              <a:rPr lang="en-US" dirty="0"/>
              <a:t>we recursively visit each node in the AST.</a:t>
            </a:r>
          </a:p>
          <a:p>
            <a:pPr lvl="1"/>
            <a:r>
              <a:rPr lang="en-US" dirty="0"/>
              <a:t>if we take a </a:t>
            </a:r>
            <a:r>
              <a:rPr lang="en-US" b="1" dirty="0"/>
              <a:t>function declaration </a:t>
            </a:r>
            <a:r>
              <a:rPr lang="en-US" dirty="0"/>
              <a:t>node as an example…</a:t>
            </a:r>
          </a:p>
          <a:p>
            <a:pPr lvl="2"/>
            <a:r>
              <a:rPr lang="en-US" dirty="0"/>
              <a:t>it will </a:t>
            </a:r>
            <a:r>
              <a:rPr lang="en-US" b="1" dirty="0"/>
              <a:t>create a new scope as a child of the current scope…</a:t>
            </a:r>
          </a:p>
          <a:p>
            <a:pPr lvl="2"/>
            <a:r>
              <a:rPr lang="en-US" dirty="0"/>
              <a:t>then </a:t>
            </a:r>
            <a:r>
              <a:rPr lang="en-US" b="1" dirty="0"/>
              <a:t>visit its children </a:t>
            </a:r>
            <a:r>
              <a:rPr lang="en-US" dirty="0"/>
              <a:t>(arguments and code) within that scope.</a:t>
            </a:r>
          </a:p>
          <a:p>
            <a:pPr lvl="1"/>
            <a:r>
              <a:rPr lang="en-US" dirty="0"/>
              <a:t>something similar happens for </a:t>
            </a:r>
            <a:r>
              <a:rPr lang="en-US" b="1" dirty="0"/>
              <a:t>{</a:t>
            </a:r>
            <a:r>
              <a:rPr lang="en-US" dirty="0"/>
              <a:t> Block Statements </a:t>
            </a:r>
            <a:r>
              <a:rPr lang="en-US" b="1" dirty="0"/>
              <a:t>}</a:t>
            </a:r>
            <a:r>
              <a:rPr lang="en-US" dirty="0"/>
              <a:t>, classes etc.</a:t>
            </a:r>
          </a:p>
          <a:p>
            <a:pPr lvl="1"/>
            <a:r>
              <a:rPr lang="en-US" dirty="0"/>
              <a:t>and when we see a </a:t>
            </a:r>
            <a:r>
              <a:rPr lang="en-US" b="1" dirty="0"/>
              <a:t>declaration AST node, </a:t>
            </a:r>
            <a:r>
              <a:rPr lang="en-US" dirty="0"/>
              <a:t>we insert a symbol into the current scope.</a:t>
            </a:r>
          </a:p>
          <a:p>
            <a:pPr lvl="2"/>
            <a:r>
              <a:rPr lang="en-US" dirty="0"/>
              <a:t>this also inserts an entry into the </a:t>
            </a:r>
            <a:r>
              <a:rPr lang="en-US" b="1" dirty="0"/>
              <a:t>declaration map.</a:t>
            </a:r>
            <a:endParaRPr lang="en-US" dirty="0"/>
          </a:p>
          <a:p>
            <a:r>
              <a:rPr lang="en-US" dirty="0"/>
              <a:t>and that’s about it!</a:t>
            </a:r>
          </a:p>
          <a:p>
            <a:pPr lvl="1"/>
            <a:r>
              <a:rPr lang="en-US" dirty="0"/>
              <a:t>there’s the “forward reference” thing we talked about, and the stuff about local variables, but those are just tweaks to this algorithm.</a:t>
            </a:r>
          </a:p>
        </p:txBody>
      </p:sp>
      <p:sp>
        <p:nvSpPr>
          <p:cNvPr id="4" name="Slide Number Placeholder 3">
            <a:extLst>
              <a:ext uri="{FF2B5EF4-FFF2-40B4-BE49-F238E27FC236}">
                <a16:creationId xmlns:a16="http://schemas.microsoft.com/office/drawing/2014/main" id="{47519E52-8B58-E842-A480-D32ABF4C3B91}"/>
              </a:ext>
            </a:extLst>
          </p:cNvPr>
          <p:cNvSpPr>
            <a:spLocks noGrp="1"/>
          </p:cNvSpPr>
          <p:nvPr>
            <p:ph type="sldNum" sz="quarter" idx="12"/>
          </p:nvPr>
        </p:nvSpPr>
        <p:spPr/>
        <p:txBody>
          <a:bodyPr/>
          <a:lstStyle/>
          <a:p>
            <a:fld id="{3552B95B-556F-44BD-91A5-D80C1B9E2BB3}" type="slidenum">
              <a:rPr lang="en-US" smtClean="0"/>
              <a:pPr/>
              <a:t>29</a:t>
            </a:fld>
            <a:endParaRPr lang="en-US"/>
          </a:p>
        </p:txBody>
      </p:sp>
    </p:spTree>
    <p:extLst>
      <p:ext uri="{BB962C8B-B14F-4D97-AF65-F5344CB8AC3E}">
        <p14:creationId xmlns:p14="http://schemas.microsoft.com/office/powerpoint/2010/main" val="121350271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9694F-0EBD-C248-89B5-C184DC4BBCF6}"/>
              </a:ext>
            </a:extLst>
          </p:cNvPr>
          <p:cNvSpPr>
            <a:spLocks noGrp="1"/>
          </p:cNvSpPr>
          <p:nvPr>
            <p:ph type="title"/>
          </p:nvPr>
        </p:nvSpPr>
        <p:spPr/>
        <p:txBody>
          <a:bodyPr/>
          <a:lstStyle/>
          <a:p>
            <a:r>
              <a:rPr lang="en-US" dirty="0"/>
              <a:t>Name resolution and building the use map</a:t>
            </a:r>
          </a:p>
        </p:txBody>
      </p:sp>
      <p:sp>
        <p:nvSpPr>
          <p:cNvPr id="3" name="Content Placeholder 2">
            <a:extLst>
              <a:ext uri="{FF2B5EF4-FFF2-40B4-BE49-F238E27FC236}">
                <a16:creationId xmlns:a16="http://schemas.microsoft.com/office/drawing/2014/main" id="{DBB8215C-E7C6-434F-B87A-A7D7145333AD}"/>
              </a:ext>
            </a:extLst>
          </p:cNvPr>
          <p:cNvSpPr>
            <a:spLocks noGrp="1"/>
          </p:cNvSpPr>
          <p:nvPr>
            <p:ph idx="1"/>
          </p:nvPr>
        </p:nvSpPr>
        <p:spPr/>
        <p:txBody>
          <a:bodyPr/>
          <a:lstStyle/>
          <a:p>
            <a:r>
              <a:rPr lang="en-US" dirty="0"/>
              <a:t>finally, name resolution is another recursive AST visit.</a:t>
            </a:r>
          </a:p>
          <a:p>
            <a:r>
              <a:rPr lang="en-US" dirty="0"/>
              <a:t>if this is done </a:t>
            </a:r>
            <a:r>
              <a:rPr lang="en-US" b="1" dirty="0"/>
              <a:t>simultaneously </a:t>
            </a:r>
            <a:r>
              <a:rPr lang="en-US" dirty="0"/>
              <a:t>with building the scope tree…</a:t>
            </a:r>
          </a:p>
          <a:p>
            <a:pPr lvl="1"/>
            <a:r>
              <a:rPr lang="en-US" dirty="0"/>
              <a:t>it’s very simple: whenever you see an Identifier AST node, you perform name resolution starting at the current scope.</a:t>
            </a:r>
          </a:p>
          <a:p>
            <a:pPr lvl="1"/>
            <a:r>
              <a:rPr lang="en-US" dirty="0"/>
              <a:t>if the name exists, </a:t>
            </a:r>
            <a:r>
              <a:rPr lang="en-US" b="1" dirty="0"/>
              <a:t>add an entry to the use map.</a:t>
            </a:r>
          </a:p>
          <a:p>
            <a:pPr lvl="1"/>
            <a:r>
              <a:rPr lang="en-US" dirty="0"/>
              <a:t>if it doesn’t, </a:t>
            </a:r>
            <a:r>
              <a:rPr lang="en-US" b="1" dirty="0">
                <a:solidFill>
                  <a:srgbClr val="FF0000"/>
                </a:solidFill>
              </a:rPr>
              <a:t>it’s an error.</a:t>
            </a:r>
          </a:p>
          <a:p>
            <a:r>
              <a:rPr lang="en-US" dirty="0"/>
              <a:t>if you built the scope tree in one pass and then do name resolution in a </a:t>
            </a:r>
            <a:r>
              <a:rPr lang="en-US" b="1" dirty="0"/>
              <a:t>second pass after it…</a:t>
            </a:r>
          </a:p>
          <a:p>
            <a:pPr lvl="1"/>
            <a:r>
              <a:rPr lang="en-US" dirty="0"/>
              <a:t>there’s some bookkeeping to make sure you </a:t>
            </a:r>
            <a:r>
              <a:rPr lang="en-US" i="1" dirty="0"/>
              <a:t>start</a:t>
            </a:r>
            <a:r>
              <a:rPr lang="en-US" dirty="0"/>
              <a:t> the name resolution in the </a:t>
            </a:r>
            <a:r>
              <a:rPr lang="en-US" b="1" dirty="0"/>
              <a:t>correct scope,</a:t>
            </a:r>
            <a:r>
              <a:rPr lang="en-US" dirty="0"/>
              <a:t> but it’s otherwise the same.</a:t>
            </a:r>
          </a:p>
          <a:p>
            <a:r>
              <a:rPr lang="en-US" dirty="0"/>
              <a:t>and at the end, you now have all your data structures built and name-checking is complete!</a:t>
            </a:r>
          </a:p>
          <a:p>
            <a:pPr lvl="1"/>
            <a:r>
              <a:rPr lang="en-US" dirty="0"/>
              <a:t>name-checking is the easiest semantic analysis pass, and things only get harder from here (:</a:t>
            </a:r>
          </a:p>
        </p:txBody>
      </p:sp>
      <p:sp>
        <p:nvSpPr>
          <p:cNvPr id="4" name="Slide Number Placeholder 3">
            <a:extLst>
              <a:ext uri="{FF2B5EF4-FFF2-40B4-BE49-F238E27FC236}">
                <a16:creationId xmlns:a16="http://schemas.microsoft.com/office/drawing/2014/main" id="{803B228C-42E3-DD40-9961-A32303CDB060}"/>
              </a:ext>
            </a:extLst>
          </p:cNvPr>
          <p:cNvSpPr>
            <a:spLocks noGrp="1"/>
          </p:cNvSpPr>
          <p:nvPr>
            <p:ph type="sldNum" sz="quarter" idx="12"/>
          </p:nvPr>
        </p:nvSpPr>
        <p:spPr/>
        <p:txBody>
          <a:bodyPr/>
          <a:lstStyle/>
          <a:p>
            <a:fld id="{3552B95B-556F-44BD-91A5-D80C1B9E2BB3}" type="slidenum">
              <a:rPr lang="en-US" smtClean="0"/>
              <a:pPr/>
              <a:t>30</a:t>
            </a:fld>
            <a:endParaRPr lang="en-US"/>
          </a:p>
        </p:txBody>
      </p:sp>
    </p:spTree>
    <p:extLst>
      <p:ext uri="{BB962C8B-B14F-4D97-AF65-F5344CB8AC3E}">
        <p14:creationId xmlns:p14="http://schemas.microsoft.com/office/powerpoint/2010/main" val="276668949"/>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20522</TotalTime>
  <Words>4857</Words>
  <Application>Microsoft Macintosh PowerPoint</Application>
  <PresentationFormat>On-screen Show (16:10)</PresentationFormat>
  <Paragraphs>550</Paragraphs>
  <Slides>30</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Consolas</vt:lpstr>
      <vt:lpstr>Courier New</vt:lpstr>
      <vt:lpstr>Segoe UI</vt:lpstr>
      <vt:lpstr>Segoe WP Semibold</vt:lpstr>
      <vt:lpstr>Trebuchet MS</vt:lpstr>
      <vt:lpstr>Wingdings</vt:lpstr>
      <vt:lpstr>02 - C - Basics</vt:lpstr>
      <vt:lpstr>Scoping and Naming</vt:lpstr>
      <vt:lpstr>Class Announcements</vt:lpstr>
      <vt:lpstr>Symbol Tables and Scope Trees</vt:lpstr>
      <vt:lpstr>Scoping it out</vt:lpstr>
      <vt:lpstr>Symbol tables</vt:lpstr>
      <vt:lpstr>Instead of ONE symbol table…</vt:lpstr>
      <vt:lpstr>The scope tree data structure</vt:lpstr>
      <vt:lpstr>Parent scopes</vt:lpstr>
      <vt:lpstr>Syntax, not semantics</vt:lpstr>
      <vt:lpstr>Name Resolution</vt:lpstr>
      <vt:lpstr>Declaration vs. use</vt:lpstr>
      <vt:lpstr>Climbing the tree (animated)</vt:lpstr>
      <vt:lpstr>What if it fails?</vt:lpstr>
      <vt:lpstr>Keeping track of resolved names</vt:lpstr>
      <vt:lpstr>Accessing names inside things</vt:lpstr>
      <vt:lpstr>Forward/mutual references</vt:lpstr>
      <vt:lpstr>…but that doesn’t work for locals</vt:lpstr>
      <vt:lpstr>Annotating the AST</vt:lpstr>
      <vt:lpstr>Throwing arrows all over the place</vt:lpstr>
      <vt:lpstr>Nametags, not arrows</vt:lpstr>
      <vt:lpstr>Wh.. but… why? Why not just point to the node?</vt:lpstr>
      <vt:lpstr>Another reason</vt:lpstr>
      <vt:lpstr>What??!? You can't have cycles in Rust?</vt:lpstr>
      <vt:lpstr>Implementation Details</vt:lpstr>
      <vt:lpstr>Well Actually</vt:lpstr>
      <vt:lpstr>Bidirectionally linked scopes</vt:lpstr>
      <vt:lpstr>The declaration and use maps</vt:lpstr>
      <vt:lpstr>Bundling it all up</vt:lpstr>
      <vt:lpstr>Building the scope tree and symbol tables</vt:lpstr>
      <vt:lpstr>Name resolution and building the use 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888</cp:revision>
  <dcterms:created xsi:type="dcterms:W3CDTF">2017-01-05T04:29:56Z</dcterms:created>
  <dcterms:modified xsi:type="dcterms:W3CDTF">2022-06-13T05:56:45Z</dcterms:modified>
</cp:coreProperties>
</file>