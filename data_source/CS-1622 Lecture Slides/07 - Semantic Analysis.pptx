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38"/>
  </p:notesMasterIdLst>
  <p:sldIdLst>
    <p:sldId id="256" r:id="rId2"/>
    <p:sldId id="519" r:id="rId3"/>
    <p:sldId id="527" r:id="rId4"/>
    <p:sldId id="528" r:id="rId5"/>
    <p:sldId id="542" r:id="rId6"/>
    <p:sldId id="529" r:id="rId7"/>
    <p:sldId id="530" r:id="rId8"/>
    <p:sldId id="547" r:id="rId9"/>
    <p:sldId id="534" r:id="rId10"/>
    <p:sldId id="531" r:id="rId11"/>
    <p:sldId id="535" r:id="rId12"/>
    <p:sldId id="550" r:id="rId13"/>
    <p:sldId id="536" r:id="rId14"/>
    <p:sldId id="552" r:id="rId15"/>
    <p:sldId id="537" r:id="rId16"/>
    <p:sldId id="538" r:id="rId17"/>
    <p:sldId id="539" r:id="rId18"/>
    <p:sldId id="540" r:id="rId19"/>
    <p:sldId id="545" r:id="rId20"/>
    <p:sldId id="548" r:id="rId21"/>
    <p:sldId id="532" r:id="rId22"/>
    <p:sldId id="533" r:id="rId23"/>
    <p:sldId id="549" r:id="rId24"/>
    <p:sldId id="566" r:id="rId25"/>
    <p:sldId id="568" r:id="rId26"/>
    <p:sldId id="567" r:id="rId27"/>
    <p:sldId id="569" r:id="rId28"/>
    <p:sldId id="570" r:id="rId29"/>
    <p:sldId id="543" r:id="rId30"/>
    <p:sldId id="554" r:id="rId31"/>
    <p:sldId id="555" r:id="rId32"/>
    <p:sldId id="557" r:id="rId33"/>
    <p:sldId id="558" r:id="rId34"/>
    <p:sldId id="556" r:id="rId35"/>
    <p:sldId id="544" r:id="rId36"/>
    <p:sldId id="553" r:id="rId37"/>
  </p:sldIdLst>
  <p:sldSz cx="9144000" cy="5715000" type="screen16x10"/>
  <p:notesSz cx="6858000" cy="9144000"/>
  <p:defaultTextStyle>
    <a:defPPr>
      <a:defRPr lang="en-US"/>
    </a:defPPr>
    <a:lvl1pPr marL="0" algn="l" defTabSz="713232" rtl="0" eaLnBrk="1" latinLnBrk="0" hangingPunct="1">
      <a:defRPr sz="1404" kern="1200">
        <a:solidFill>
          <a:schemeClr val="tx1"/>
        </a:solidFill>
        <a:latin typeface="+mn-lt"/>
        <a:ea typeface="+mn-ea"/>
        <a:cs typeface="+mn-cs"/>
      </a:defRPr>
    </a:lvl1pPr>
    <a:lvl2pPr marL="356616" algn="l" defTabSz="713232" rtl="0" eaLnBrk="1" latinLnBrk="0" hangingPunct="1">
      <a:defRPr sz="1404" kern="1200">
        <a:solidFill>
          <a:schemeClr val="tx1"/>
        </a:solidFill>
        <a:latin typeface="+mn-lt"/>
        <a:ea typeface="+mn-ea"/>
        <a:cs typeface="+mn-cs"/>
      </a:defRPr>
    </a:lvl2pPr>
    <a:lvl3pPr marL="713232" algn="l" defTabSz="713232" rtl="0" eaLnBrk="1" latinLnBrk="0" hangingPunct="1">
      <a:defRPr sz="1404" kern="1200">
        <a:solidFill>
          <a:schemeClr val="tx1"/>
        </a:solidFill>
        <a:latin typeface="+mn-lt"/>
        <a:ea typeface="+mn-ea"/>
        <a:cs typeface="+mn-cs"/>
      </a:defRPr>
    </a:lvl3pPr>
    <a:lvl4pPr marL="1069848" algn="l" defTabSz="713232" rtl="0" eaLnBrk="1" latinLnBrk="0" hangingPunct="1">
      <a:defRPr sz="1404" kern="1200">
        <a:solidFill>
          <a:schemeClr val="tx1"/>
        </a:solidFill>
        <a:latin typeface="+mn-lt"/>
        <a:ea typeface="+mn-ea"/>
        <a:cs typeface="+mn-cs"/>
      </a:defRPr>
    </a:lvl4pPr>
    <a:lvl5pPr marL="1426464" algn="l" defTabSz="713232" rtl="0" eaLnBrk="1" latinLnBrk="0" hangingPunct="1">
      <a:defRPr sz="1404" kern="1200">
        <a:solidFill>
          <a:schemeClr val="tx1"/>
        </a:solidFill>
        <a:latin typeface="+mn-lt"/>
        <a:ea typeface="+mn-ea"/>
        <a:cs typeface="+mn-cs"/>
      </a:defRPr>
    </a:lvl5pPr>
    <a:lvl6pPr marL="1783080" algn="l" defTabSz="713232" rtl="0" eaLnBrk="1" latinLnBrk="0" hangingPunct="1">
      <a:defRPr sz="1404" kern="1200">
        <a:solidFill>
          <a:schemeClr val="tx1"/>
        </a:solidFill>
        <a:latin typeface="+mn-lt"/>
        <a:ea typeface="+mn-ea"/>
        <a:cs typeface="+mn-cs"/>
      </a:defRPr>
    </a:lvl6pPr>
    <a:lvl7pPr marL="2139696" algn="l" defTabSz="713232" rtl="0" eaLnBrk="1" latinLnBrk="0" hangingPunct="1">
      <a:defRPr sz="1404" kern="1200">
        <a:solidFill>
          <a:schemeClr val="tx1"/>
        </a:solidFill>
        <a:latin typeface="+mn-lt"/>
        <a:ea typeface="+mn-ea"/>
        <a:cs typeface="+mn-cs"/>
      </a:defRPr>
    </a:lvl7pPr>
    <a:lvl8pPr marL="2496312" algn="l" defTabSz="713232" rtl="0" eaLnBrk="1" latinLnBrk="0" hangingPunct="1">
      <a:defRPr sz="1404" kern="1200">
        <a:solidFill>
          <a:schemeClr val="tx1"/>
        </a:solidFill>
        <a:latin typeface="+mn-lt"/>
        <a:ea typeface="+mn-ea"/>
        <a:cs typeface="+mn-cs"/>
      </a:defRPr>
    </a:lvl8pPr>
    <a:lvl9pPr marL="2852928" algn="l" defTabSz="713232" rtl="0" eaLnBrk="1" latinLnBrk="0" hangingPunct="1">
      <a:defRPr sz="1404"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userDrawn="1">
          <p15:clr>
            <a:srgbClr val="A4A3A4"/>
          </p15:clr>
        </p15:guide>
        <p15:guide id="2" pos="129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E3800"/>
    <a:srgbClr val="FFECC5"/>
    <a:srgbClr val="FF3200"/>
    <a:srgbClr val="FF5200"/>
    <a:srgbClr val="FF5C00"/>
    <a:srgbClr val="592A04"/>
    <a:srgbClr val="8DB000"/>
    <a:srgbClr val="FCECD6"/>
    <a:srgbClr val="FCF9C5"/>
    <a:srgbClr val="8BD5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707" autoAdjust="0"/>
    <p:restoredTop sz="90423" autoAdjust="0"/>
  </p:normalViewPr>
  <p:slideViewPr>
    <p:cSldViewPr>
      <p:cViewPr varScale="1">
        <p:scale>
          <a:sx n="133" d="100"/>
          <a:sy n="133" d="100"/>
        </p:scale>
        <p:origin x="1264" y="192"/>
      </p:cViewPr>
      <p:guideLst>
        <p:guide orient="horz" pos="1800"/>
        <p:guide pos="1296"/>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093253-51AE-4C40-AB6B-AA3A7DF4D210}" type="datetimeFigureOut">
              <a:rPr lang="en-US" smtClean="0"/>
              <a:pPr/>
              <a:t>6/7/22</a:t>
            </a:fld>
            <a:endParaRPr lang="en-US"/>
          </a:p>
        </p:txBody>
      </p:sp>
      <p:sp>
        <p:nvSpPr>
          <p:cNvPr id="4" name="Slide Image Placeholder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9729AB-B77D-48AE-AA10-D1BD2B4D03EA}" type="slidenum">
              <a:rPr lang="en-US" smtClean="0"/>
              <a:pPr/>
              <a:t>‹#›</a:t>
            </a:fld>
            <a:endParaRPr lang="en-US"/>
          </a:p>
        </p:txBody>
      </p:sp>
    </p:spTree>
    <p:extLst>
      <p:ext uri="{BB962C8B-B14F-4D97-AF65-F5344CB8AC3E}">
        <p14:creationId xmlns:p14="http://schemas.microsoft.com/office/powerpoint/2010/main" val="2560305392"/>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99729AB-B77D-48AE-AA10-D1BD2B4D03EA}"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in Java it'd be written </a:t>
            </a:r>
            <a:r>
              <a:rPr lang="en-US" dirty="0" err="1"/>
              <a:t>System.out.printf</a:t>
            </a:r>
            <a:r>
              <a:rPr lang="en-US" dirty="0"/>
              <a:t>() but let's assume I wrote a function alongside main() named </a:t>
            </a:r>
            <a:r>
              <a:rPr lang="en-US" dirty="0" err="1"/>
              <a:t>printf</a:t>
            </a:r>
            <a:r>
              <a:rPr lang="en-US" dirty="0"/>
              <a:t>() okay OKAY</a:t>
            </a:r>
          </a:p>
          <a:p>
            <a:r>
              <a:rPr lang="en-US" dirty="0"/>
              <a:t>- and technically it'd be </a:t>
            </a:r>
            <a:r>
              <a:rPr lang="en-US" dirty="0" err="1"/>
              <a:t>Integer.toString</a:t>
            </a:r>
            <a:r>
              <a:rPr lang="en-US" dirty="0"/>
              <a:t>(x) but the slide is wordy enough</a:t>
            </a:r>
          </a:p>
          <a:p>
            <a:r>
              <a:rPr lang="en-US" dirty="0"/>
              <a:t>- in C this code is also undefined behavior because you will cause </a:t>
            </a:r>
            <a:r>
              <a:rPr lang="en-US" dirty="0" err="1"/>
              <a:t>printf</a:t>
            </a:r>
            <a:r>
              <a:rPr lang="en-US" dirty="0"/>
              <a:t> to access a pointer past the end of the string, fun!</a:t>
            </a:r>
          </a:p>
        </p:txBody>
      </p:sp>
      <p:sp>
        <p:nvSpPr>
          <p:cNvPr id="4" name="Slide Number Placeholder 3"/>
          <p:cNvSpPr>
            <a:spLocks noGrp="1"/>
          </p:cNvSpPr>
          <p:nvPr>
            <p:ph type="sldNum" sz="quarter" idx="5"/>
          </p:nvPr>
        </p:nvSpPr>
        <p:spPr/>
        <p:txBody>
          <a:bodyPr/>
          <a:lstStyle/>
          <a:p>
            <a:fld id="{999729AB-B77D-48AE-AA10-D1BD2B4D03EA}" type="slidenum">
              <a:rPr lang="en-US" smtClean="0"/>
              <a:pPr/>
              <a:t>4</a:t>
            </a:fld>
            <a:endParaRPr lang="en-US"/>
          </a:p>
        </p:txBody>
      </p:sp>
    </p:spTree>
    <p:extLst>
      <p:ext uri="{BB962C8B-B14F-4D97-AF65-F5344CB8AC3E}">
        <p14:creationId xmlns:p14="http://schemas.microsoft.com/office/powerpoint/2010/main" val="10520240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if you learned about dynamically-linked libraries…</a:t>
            </a:r>
          </a:p>
          <a:p>
            <a:r>
              <a:rPr lang="en-US" dirty="0"/>
              <a:t>	- that name is </a:t>
            </a:r>
            <a:r>
              <a:rPr lang="en-US" i="1" dirty="0"/>
              <a:t>slightly</a:t>
            </a:r>
            <a:r>
              <a:rPr lang="en-US" i="0" dirty="0"/>
              <a:t> misleading because they are technically loaded before your program begins running</a:t>
            </a:r>
          </a:p>
          <a:p>
            <a:r>
              <a:rPr lang="en-US" i="0" dirty="0"/>
              <a:t>	- so they really should be called "load-time-linked libraries"</a:t>
            </a:r>
          </a:p>
          <a:p>
            <a:r>
              <a:rPr lang="en-US" i="0" dirty="0"/>
              <a:t>	- but it's in contrast to static linking, which happens once, while dynamic linking happens every time the program is run.</a:t>
            </a:r>
          </a:p>
          <a:p>
            <a:r>
              <a:rPr lang="en-US" i="0" dirty="0"/>
              <a:t>	- (however "dynamic loading" (when your program loads dynamically-linked libraries through the OS API) is definitely dynamic.)</a:t>
            </a:r>
          </a:p>
          <a:p>
            <a:endParaRPr lang="en-US" i="0" dirty="0"/>
          </a:p>
          <a:p>
            <a:r>
              <a:rPr lang="en-US" i="0" dirty="0"/>
              <a:t>[diagram: a timeline of the steps of compiling and running a program. the special dividing line in the middle is when execution begins. everything before that – compilation, linking, loading – is considered “static.” everything after it is considered “dynamic” or “runtime.”]</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5</a:t>
            </a:fld>
            <a:endParaRPr lang="en-US"/>
          </a:p>
        </p:txBody>
      </p:sp>
    </p:spTree>
    <p:extLst>
      <p:ext uri="{BB962C8B-B14F-4D97-AF65-F5344CB8AC3E}">
        <p14:creationId xmlns:p14="http://schemas.microsoft.com/office/powerpoint/2010/main" val="1897889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well they might use different sizes of stores (</a:t>
            </a:r>
            <a:r>
              <a:rPr lang="en-US" dirty="0" err="1"/>
              <a:t>sb</a:t>
            </a:r>
            <a:r>
              <a:rPr lang="en-US" dirty="0"/>
              <a:t> vs. </a:t>
            </a:r>
            <a:r>
              <a:rPr lang="en-US" dirty="0" err="1"/>
              <a:t>sh</a:t>
            </a:r>
            <a:r>
              <a:rPr lang="en-US" dirty="0"/>
              <a:t> vs. </a:t>
            </a:r>
            <a:r>
              <a:rPr lang="en-US" dirty="0" err="1"/>
              <a:t>sw</a:t>
            </a:r>
            <a:r>
              <a:rPr lang="en-US" dirty="0"/>
              <a:t>) but that's not the point.</a:t>
            </a:r>
          </a:p>
        </p:txBody>
      </p:sp>
      <p:sp>
        <p:nvSpPr>
          <p:cNvPr id="4" name="Slide Number Placeholder 3"/>
          <p:cNvSpPr>
            <a:spLocks noGrp="1"/>
          </p:cNvSpPr>
          <p:nvPr>
            <p:ph type="sldNum" sz="quarter" idx="5"/>
          </p:nvPr>
        </p:nvSpPr>
        <p:spPr/>
        <p:txBody>
          <a:bodyPr/>
          <a:lstStyle/>
          <a:p>
            <a:fld id="{999729AB-B77D-48AE-AA10-D1BD2B4D03EA}" type="slidenum">
              <a:rPr lang="en-US" smtClean="0"/>
              <a:pPr/>
              <a:t>6</a:t>
            </a:fld>
            <a:endParaRPr lang="en-US"/>
          </a:p>
        </p:txBody>
      </p:sp>
    </p:spTree>
    <p:extLst>
      <p:ext uri="{BB962C8B-B14F-4D97-AF65-F5344CB8AC3E}">
        <p14:creationId xmlns:p14="http://schemas.microsoft.com/office/powerpoint/2010/main" val="27241778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7</a:t>
            </a:fld>
            <a:endParaRPr lang="en-US"/>
          </a:p>
        </p:txBody>
      </p:sp>
    </p:spTree>
    <p:extLst>
      <p:ext uri="{BB962C8B-B14F-4D97-AF65-F5344CB8AC3E}">
        <p14:creationId xmlns:p14="http://schemas.microsoft.com/office/powerpoint/2010/main" val="5159572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and from 447, you might remember that the "numbers" computers use aren't really numbers at all!</a:t>
            </a:r>
          </a:p>
        </p:txBody>
      </p:sp>
      <p:sp>
        <p:nvSpPr>
          <p:cNvPr id="4" name="Slide Number Placeholder 3"/>
          <p:cNvSpPr>
            <a:spLocks noGrp="1"/>
          </p:cNvSpPr>
          <p:nvPr>
            <p:ph type="sldNum" sz="quarter" idx="5"/>
          </p:nvPr>
        </p:nvSpPr>
        <p:spPr/>
        <p:txBody>
          <a:bodyPr/>
          <a:lstStyle/>
          <a:p>
            <a:fld id="{999729AB-B77D-48AE-AA10-D1BD2B4D03EA}" type="slidenum">
              <a:rPr lang="en-US" smtClean="0"/>
              <a:pPr/>
              <a:t>10</a:t>
            </a:fld>
            <a:endParaRPr lang="en-US"/>
          </a:p>
        </p:txBody>
      </p:sp>
    </p:spTree>
    <p:extLst>
      <p:ext uri="{BB962C8B-B14F-4D97-AF65-F5344CB8AC3E}">
        <p14:creationId xmlns:p14="http://schemas.microsoft.com/office/powerpoint/2010/main" val="74057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real CPU ISAs might have a few types (like various sizes of </a:t>
            </a:r>
            <a:r>
              <a:rPr lang="en-US" dirty="0" err="1"/>
              <a:t>ints</a:t>
            </a:r>
            <a:r>
              <a:rPr lang="en-US" dirty="0"/>
              <a:t>, floats, and vectors), but they do absolutely no correctness checking</a:t>
            </a:r>
          </a:p>
          <a:p>
            <a:r>
              <a:rPr lang="en-US" dirty="0"/>
              <a:t>	- so, it's effectively the same as having no types at all!</a:t>
            </a:r>
          </a:p>
        </p:txBody>
      </p:sp>
      <p:sp>
        <p:nvSpPr>
          <p:cNvPr id="4" name="Slide Number Placeholder 3"/>
          <p:cNvSpPr>
            <a:spLocks noGrp="1"/>
          </p:cNvSpPr>
          <p:nvPr>
            <p:ph type="sldNum" sz="quarter" idx="5"/>
          </p:nvPr>
        </p:nvSpPr>
        <p:spPr/>
        <p:txBody>
          <a:bodyPr/>
          <a:lstStyle/>
          <a:p>
            <a:fld id="{999729AB-B77D-48AE-AA10-D1BD2B4D03EA}" type="slidenum">
              <a:rPr lang="en-US" smtClean="0"/>
              <a:pPr/>
              <a:t>11</a:t>
            </a:fld>
            <a:endParaRPr lang="en-US"/>
          </a:p>
        </p:txBody>
      </p:sp>
    </p:spTree>
    <p:extLst>
      <p:ext uri="{BB962C8B-B14F-4D97-AF65-F5344CB8AC3E}">
        <p14:creationId xmlns:p14="http://schemas.microsoft.com/office/powerpoint/2010/main" val="36141578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more powerful type systems let us make use of more of the island.</a:t>
            </a:r>
          </a:p>
          <a:p>
            <a:r>
              <a:rPr lang="en-US" dirty="0"/>
              <a:t>- from experience with languages like C, which let you leave the type system's walls any time you like…</a:t>
            </a:r>
          </a:p>
          <a:p>
            <a:r>
              <a:rPr lang="en-US" dirty="0"/>
              <a:t>	- those programs out on the beach take a lot of mental effort to read and write, for not a lot of benefit.</a:t>
            </a:r>
          </a:p>
          <a:p>
            <a:r>
              <a:rPr lang="en-US" i="0" dirty="0"/>
              <a:t>	- and it's really hard to tell those apart from the garbage programs out in the water.</a:t>
            </a:r>
          </a:p>
          <a:p>
            <a:endParaRPr lang="en-US" i="0" dirty="0"/>
          </a:p>
          <a:p>
            <a:r>
              <a:rPr lang="en-US" i="0" dirty="0"/>
              <a:t>[diagram: a vast ocean of nothingness, with a tiny island of useful programs in the middle. and on that island is a walled town that type systems keep us inside. importantly, the town does not cover the island, meaning there are “useful programs” that exist outside the type system.]</a:t>
            </a:r>
          </a:p>
        </p:txBody>
      </p:sp>
      <p:sp>
        <p:nvSpPr>
          <p:cNvPr id="4" name="Slide Number Placeholder 3"/>
          <p:cNvSpPr>
            <a:spLocks noGrp="1"/>
          </p:cNvSpPr>
          <p:nvPr>
            <p:ph type="sldNum" sz="quarter" idx="5"/>
          </p:nvPr>
        </p:nvSpPr>
        <p:spPr/>
        <p:txBody>
          <a:bodyPr/>
          <a:lstStyle/>
          <a:p>
            <a:fld id="{999729AB-B77D-48AE-AA10-D1BD2B4D03EA}" type="slidenum">
              <a:rPr lang="en-US" smtClean="0"/>
              <a:pPr/>
              <a:t>12</a:t>
            </a:fld>
            <a:endParaRPr lang="en-US"/>
          </a:p>
        </p:txBody>
      </p:sp>
    </p:spTree>
    <p:extLst>
      <p:ext uri="{BB962C8B-B14F-4D97-AF65-F5344CB8AC3E}">
        <p14:creationId xmlns:p14="http://schemas.microsoft.com/office/powerpoint/2010/main" val="24939111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13</a:t>
            </a:fld>
            <a:endParaRPr lang="en-US"/>
          </a:p>
        </p:txBody>
      </p:sp>
    </p:spTree>
    <p:extLst>
      <p:ext uri="{BB962C8B-B14F-4D97-AF65-F5344CB8AC3E}">
        <p14:creationId xmlns:p14="http://schemas.microsoft.com/office/powerpoint/2010/main" val="30986220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713232" rtl="0" eaLnBrk="1" fontAlgn="auto" latinLnBrk="0" hangingPunct="1">
              <a:lnSpc>
                <a:spcPct val="100000"/>
              </a:lnSpc>
              <a:spcBef>
                <a:spcPts val="0"/>
              </a:spcBef>
              <a:spcAft>
                <a:spcPts val="0"/>
              </a:spcAft>
              <a:buClrTx/>
              <a:buSzTx/>
              <a:buFontTx/>
              <a:buNone/>
              <a:tabLst/>
              <a:defRPr/>
            </a:pPr>
            <a:r>
              <a:rPr lang="en-US" sz="1000" dirty="0"/>
              <a:t>- and just like atoms have subatomic particles, the primitive types are composed of bits! </a:t>
            </a:r>
            <a:r>
              <a:rPr lang="en-US" sz="1000" dirty="0" err="1"/>
              <a:t>whee</a:t>
            </a:r>
            <a:r>
              <a:rPr lang="en-US" sz="1000" dirty="0"/>
              <a:t>!</a:t>
            </a:r>
          </a:p>
          <a:p>
            <a:pPr marL="0" marR="0" lvl="0" indent="0" algn="l" defTabSz="713232" rtl="0" eaLnBrk="1" fontAlgn="auto" latinLnBrk="0" hangingPunct="1">
              <a:lnSpc>
                <a:spcPct val="100000"/>
              </a:lnSpc>
              <a:spcBef>
                <a:spcPts val="0"/>
              </a:spcBef>
              <a:spcAft>
                <a:spcPts val="0"/>
              </a:spcAft>
              <a:buClrTx/>
              <a:buSzTx/>
              <a:buFontTx/>
              <a:buNone/>
              <a:tabLst/>
              <a:defRPr/>
            </a:pPr>
            <a:r>
              <a:rPr lang="en-US" sz="1000" dirty="0"/>
              <a:t>- tuples are kind of like nameless structs. </a:t>
            </a:r>
            <a:r>
              <a:rPr lang="en-US" sz="1000" i="1" dirty="0"/>
              <a:t>kind of.</a:t>
            </a:r>
            <a:r>
              <a:rPr lang="en-US" sz="1000" i="0" dirty="0"/>
              <a:t> we'll learn more about them </a:t>
            </a:r>
            <a:r>
              <a:rPr lang="en-US" sz="1000" i="0" dirty="0" err="1"/>
              <a:t>laaaater</a:t>
            </a:r>
            <a:r>
              <a:rPr lang="en-US" sz="1000" i="0" dirty="0"/>
              <a:t>.</a:t>
            </a:r>
            <a:endParaRPr lang="en-US" sz="1000"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16</a:t>
            </a:fld>
            <a:endParaRPr lang="en-US"/>
          </a:p>
        </p:txBody>
      </p:sp>
    </p:spTree>
    <p:extLst>
      <p:ext uri="{BB962C8B-B14F-4D97-AF65-F5344CB8AC3E}">
        <p14:creationId xmlns:p14="http://schemas.microsoft.com/office/powerpoint/2010/main" val="20572805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 class declaration is also a type constructor, because it takes the types of the fields as input, and produces a named class as output.</a:t>
            </a:r>
          </a:p>
          <a:p>
            <a:r>
              <a:rPr lang="en-US" dirty="0"/>
              <a:t>	- it's a little weird to think of it like this, but that's exactly what it does, and that's how a compiler has to see it.</a:t>
            </a:r>
          </a:p>
        </p:txBody>
      </p:sp>
      <p:sp>
        <p:nvSpPr>
          <p:cNvPr id="4" name="Slide Number Placeholder 3"/>
          <p:cNvSpPr>
            <a:spLocks noGrp="1"/>
          </p:cNvSpPr>
          <p:nvPr>
            <p:ph type="sldNum" sz="quarter" idx="5"/>
          </p:nvPr>
        </p:nvSpPr>
        <p:spPr/>
        <p:txBody>
          <a:bodyPr/>
          <a:lstStyle/>
          <a:p>
            <a:fld id="{999729AB-B77D-48AE-AA10-D1BD2B4D03EA}" type="slidenum">
              <a:rPr lang="en-US" smtClean="0"/>
              <a:pPr/>
              <a:t>17</a:t>
            </a:fld>
            <a:endParaRPr lang="en-US"/>
          </a:p>
        </p:txBody>
      </p:sp>
    </p:spTree>
    <p:extLst>
      <p:ext uri="{BB962C8B-B14F-4D97-AF65-F5344CB8AC3E}">
        <p14:creationId xmlns:p14="http://schemas.microsoft.com/office/powerpoint/2010/main" val="15567698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type constructors that take values as arguments are called dependent types</a:t>
            </a:r>
          </a:p>
          <a:p>
            <a:r>
              <a:rPr lang="en-US" dirty="0"/>
              <a:t>- no, Rust doesn't do this, even though its "array" type does include the length (e.g. [i32; 2] is different from [i32; 3])</a:t>
            </a:r>
          </a:p>
          <a:p>
            <a:r>
              <a:rPr lang="en-US" dirty="0"/>
              <a:t>	- this is mostly still in the realm of academic research</a:t>
            </a:r>
          </a:p>
        </p:txBody>
      </p:sp>
      <p:sp>
        <p:nvSpPr>
          <p:cNvPr id="4" name="Slide Number Placeholder 3"/>
          <p:cNvSpPr>
            <a:spLocks noGrp="1"/>
          </p:cNvSpPr>
          <p:nvPr>
            <p:ph type="sldNum" sz="quarter" idx="5"/>
          </p:nvPr>
        </p:nvSpPr>
        <p:spPr/>
        <p:txBody>
          <a:bodyPr/>
          <a:lstStyle/>
          <a:p>
            <a:fld id="{999729AB-B77D-48AE-AA10-D1BD2B4D03EA}" type="slidenum">
              <a:rPr lang="en-US" smtClean="0"/>
              <a:pPr/>
              <a:t>18</a:t>
            </a:fld>
            <a:endParaRPr lang="en-US"/>
          </a:p>
        </p:txBody>
      </p:sp>
    </p:spTree>
    <p:extLst>
      <p:ext uri="{BB962C8B-B14F-4D97-AF65-F5344CB8AC3E}">
        <p14:creationId xmlns:p14="http://schemas.microsoft.com/office/powerpoint/2010/main" val="9319992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 for instance has some </a:t>
            </a:r>
            <a:r>
              <a:rPr lang="en-US" i="1" dirty="0"/>
              <a:t>absolutely wild </a:t>
            </a:r>
            <a:r>
              <a:rPr lang="en-US" i="0" dirty="0"/>
              <a:t>name resolution rules: https://</a:t>
            </a:r>
            <a:r>
              <a:rPr lang="en-US" i="0" dirty="0" err="1"/>
              <a:t>en.cppreference.com</a:t>
            </a:r>
            <a:r>
              <a:rPr lang="en-US" i="0" dirty="0"/>
              <a:t>/w/</a:t>
            </a:r>
            <a:r>
              <a:rPr lang="en-US" i="0" dirty="0" err="1"/>
              <a:t>cpp</a:t>
            </a:r>
            <a:r>
              <a:rPr lang="en-US" i="0" dirty="0"/>
              <a:t>/language/</a:t>
            </a:r>
            <a:r>
              <a:rPr lang="en-US" i="0" dirty="0" err="1"/>
              <a:t>adl</a:t>
            </a:r>
            <a:endParaRPr lang="en-US" i="0"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21</a:t>
            </a:fld>
            <a:endParaRPr lang="en-US"/>
          </a:p>
        </p:txBody>
      </p:sp>
    </p:spTree>
    <p:extLst>
      <p:ext uri="{BB962C8B-B14F-4D97-AF65-F5344CB8AC3E}">
        <p14:creationId xmlns:p14="http://schemas.microsoft.com/office/powerpoint/2010/main" val="1479620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referent means "the thing that is referred to." so in "new A()" above, A is the name, and the class A is the referent.</a:t>
            </a:r>
          </a:p>
          <a:p>
            <a:r>
              <a:rPr lang="en-US" dirty="0"/>
              <a:t>- among dynamically-typed languages, some statically resolve locals, and others don't.</a:t>
            </a:r>
          </a:p>
          <a:p>
            <a:r>
              <a:rPr lang="en-US" dirty="0"/>
              <a:t>	- Lua statically resolves locals.</a:t>
            </a:r>
          </a:p>
          <a:p>
            <a:r>
              <a:rPr lang="en-US" dirty="0"/>
              <a:t>	- PHP and Python dynamically resolve locals.</a:t>
            </a:r>
          </a:p>
          <a:p>
            <a:r>
              <a:rPr lang="en-US" dirty="0"/>
              <a:t>	- JS does both! the older "</a:t>
            </a:r>
            <a:r>
              <a:rPr lang="en-US" dirty="0" err="1"/>
              <a:t>var</a:t>
            </a:r>
            <a:r>
              <a:rPr lang="en-US" dirty="0"/>
              <a:t>" is dynamically resolved; the newer "let/</a:t>
            </a:r>
            <a:r>
              <a:rPr lang="en-US" dirty="0" err="1"/>
              <a:t>const</a:t>
            </a:r>
            <a:r>
              <a:rPr lang="en-US" dirty="0"/>
              <a:t>" are statically resolved.</a:t>
            </a:r>
          </a:p>
          <a:p>
            <a:r>
              <a:rPr lang="en-US" dirty="0"/>
              <a:t>- dynamically resolving locals is… of very questionable utility, and introduces bugs, so languages have been moving away from it.</a:t>
            </a:r>
          </a:p>
        </p:txBody>
      </p:sp>
      <p:sp>
        <p:nvSpPr>
          <p:cNvPr id="4" name="Slide Number Placeholder 3"/>
          <p:cNvSpPr>
            <a:spLocks noGrp="1"/>
          </p:cNvSpPr>
          <p:nvPr>
            <p:ph type="sldNum" sz="quarter" idx="5"/>
          </p:nvPr>
        </p:nvSpPr>
        <p:spPr/>
        <p:txBody>
          <a:bodyPr/>
          <a:lstStyle/>
          <a:p>
            <a:fld id="{999729AB-B77D-48AE-AA10-D1BD2B4D03EA}" type="slidenum">
              <a:rPr lang="en-US" smtClean="0"/>
              <a:pPr/>
              <a:t>22</a:t>
            </a:fld>
            <a:endParaRPr lang="en-US"/>
          </a:p>
        </p:txBody>
      </p:sp>
    </p:spTree>
    <p:extLst>
      <p:ext uri="{BB962C8B-B14F-4D97-AF65-F5344CB8AC3E}">
        <p14:creationId xmlns:p14="http://schemas.microsoft.com/office/powerpoint/2010/main" val="15665143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23</a:t>
            </a:fld>
            <a:endParaRPr lang="en-US"/>
          </a:p>
        </p:txBody>
      </p:sp>
    </p:spTree>
    <p:extLst>
      <p:ext uri="{BB962C8B-B14F-4D97-AF65-F5344CB8AC3E}">
        <p14:creationId xmlns:p14="http://schemas.microsoft.com/office/powerpoint/2010/main" val="508884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if you love Java, you can imagine those are short for "</a:t>
            </a:r>
            <a:r>
              <a:rPr lang="en-US" dirty="0" err="1"/>
              <a:t>System.out.printf</a:t>
            </a:r>
            <a:r>
              <a:rPr lang="en-US" dirty="0"/>
              <a:t>".</a:t>
            </a:r>
          </a:p>
        </p:txBody>
      </p:sp>
      <p:sp>
        <p:nvSpPr>
          <p:cNvPr id="4" name="Slide Number Placeholder 3"/>
          <p:cNvSpPr>
            <a:spLocks noGrp="1"/>
          </p:cNvSpPr>
          <p:nvPr>
            <p:ph type="sldNum" sz="quarter" idx="5"/>
          </p:nvPr>
        </p:nvSpPr>
        <p:spPr/>
        <p:txBody>
          <a:bodyPr/>
          <a:lstStyle/>
          <a:p>
            <a:fld id="{999729AB-B77D-48AE-AA10-D1BD2B4D03EA}" type="slidenum">
              <a:rPr lang="en-US" smtClean="0"/>
              <a:pPr/>
              <a:t>25</a:t>
            </a:fld>
            <a:endParaRPr lang="en-US"/>
          </a:p>
        </p:txBody>
      </p:sp>
    </p:spTree>
    <p:extLst>
      <p:ext uri="{BB962C8B-B14F-4D97-AF65-F5344CB8AC3E}">
        <p14:creationId xmlns:p14="http://schemas.microsoft.com/office/powerpoint/2010/main" val="14679231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some languages (like Lua) will use static scoping for locals and dynamic scoping for </a:t>
            </a:r>
            <a:r>
              <a:rPr lang="en-US" dirty="0" err="1"/>
              <a:t>globals</a:t>
            </a:r>
            <a:r>
              <a:rPr lang="en-US" dirty="0"/>
              <a:t>. it solves a lot of problems, but you still have some odd issues.</a:t>
            </a:r>
          </a:p>
        </p:txBody>
      </p:sp>
      <p:sp>
        <p:nvSpPr>
          <p:cNvPr id="4" name="Slide Number Placeholder 3"/>
          <p:cNvSpPr>
            <a:spLocks noGrp="1"/>
          </p:cNvSpPr>
          <p:nvPr>
            <p:ph type="sldNum" sz="quarter" idx="5"/>
          </p:nvPr>
        </p:nvSpPr>
        <p:spPr/>
        <p:txBody>
          <a:bodyPr/>
          <a:lstStyle/>
          <a:p>
            <a:fld id="{999729AB-B77D-48AE-AA10-D1BD2B4D03EA}" type="slidenum">
              <a:rPr lang="en-US" smtClean="0"/>
              <a:pPr/>
              <a:t>26</a:t>
            </a:fld>
            <a:endParaRPr lang="en-US"/>
          </a:p>
        </p:txBody>
      </p:sp>
    </p:spTree>
    <p:extLst>
      <p:ext uri="{BB962C8B-B14F-4D97-AF65-F5344CB8AC3E}">
        <p14:creationId xmlns:p14="http://schemas.microsoft.com/office/powerpoint/2010/main" val="41649784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Java gives no warnings or errors for this, even though it's such a common mistake!</a:t>
            </a:r>
          </a:p>
          <a:p>
            <a:r>
              <a:rPr lang="en-US" dirty="0"/>
              <a:t>- this is why people either adopt conventions for naming member variables (like "_x" or "</a:t>
            </a:r>
            <a:r>
              <a:rPr lang="en-US" dirty="0" err="1"/>
              <a:t>mX</a:t>
            </a:r>
            <a:r>
              <a:rPr lang="en-US" dirty="0"/>
              <a:t>"), or they always write "</a:t>
            </a:r>
            <a:r>
              <a:rPr lang="en-US" dirty="0" err="1"/>
              <a:t>this.x</a:t>
            </a:r>
            <a:r>
              <a:rPr lang="en-US" dirty="0"/>
              <a:t>".</a:t>
            </a:r>
          </a:p>
          <a:p>
            <a:pPr marL="171450" indent="-171450">
              <a:buFontTx/>
              <a:buChar char="-"/>
            </a:pPr>
            <a:r>
              <a:rPr lang="en-US" dirty="0"/>
              <a:t>"don't talk to me or my son ever again.”</a:t>
            </a:r>
          </a:p>
          <a:p>
            <a:pPr marL="171450" indent="-171450">
              <a:buFontTx/>
              <a:buChar char="-"/>
            </a:pPr>
            <a:endParaRPr lang="en-US" dirty="0"/>
          </a:p>
          <a:p>
            <a:pPr marL="0" indent="0">
              <a:buFontTx/>
              <a:buNone/>
            </a:pPr>
            <a:r>
              <a:rPr lang="en-US" dirty="0"/>
              <a:t>[diagram: a large “x” standing in front of a small “x”, and the small “x” is in its shadow, unable to be seen.]</a:t>
            </a:r>
          </a:p>
        </p:txBody>
      </p:sp>
      <p:sp>
        <p:nvSpPr>
          <p:cNvPr id="4" name="Slide Number Placeholder 3"/>
          <p:cNvSpPr>
            <a:spLocks noGrp="1"/>
          </p:cNvSpPr>
          <p:nvPr>
            <p:ph type="sldNum" sz="quarter" idx="5"/>
          </p:nvPr>
        </p:nvSpPr>
        <p:spPr/>
        <p:txBody>
          <a:bodyPr/>
          <a:lstStyle/>
          <a:p>
            <a:fld id="{999729AB-B77D-48AE-AA10-D1BD2B4D03EA}" type="slidenum">
              <a:rPr lang="en-US" smtClean="0"/>
              <a:pPr/>
              <a:t>27</a:t>
            </a:fld>
            <a:endParaRPr lang="en-US"/>
          </a:p>
        </p:txBody>
      </p:sp>
    </p:spTree>
    <p:extLst>
      <p:ext uri="{BB962C8B-B14F-4D97-AF65-F5344CB8AC3E}">
        <p14:creationId xmlns:p14="http://schemas.microsoft.com/office/powerpoint/2010/main" val="174673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how else would we make our computers explode </a:t>
            </a:r>
            <a:r>
              <a:rPr lang="en-US" dirty="0">
                <a:sym typeface="Wingdings" pitchFamily="2" charset="2"/>
              </a:rPr>
              <a:t></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30</a:t>
            </a:fld>
            <a:endParaRPr lang="en-US"/>
          </a:p>
        </p:txBody>
      </p:sp>
    </p:spTree>
    <p:extLst>
      <p:ext uri="{BB962C8B-B14F-4D97-AF65-F5344CB8AC3E}">
        <p14:creationId xmlns:p14="http://schemas.microsoft.com/office/powerpoint/2010/main" val="31648914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https://</a:t>
            </a:r>
            <a:r>
              <a:rPr lang="en-US" dirty="0" err="1"/>
              <a:t>en.cppreference.com</a:t>
            </a:r>
            <a:r>
              <a:rPr lang="en-US" dirty="0"/>
              <a:t>/w/c/language/</a:t>
            </a:r>
            <a:r>
              <a:rPr lang="en-US" dirty="0" err="1"/>
              <a:t>eval_order</a:t>
            </a:r>
            <a:r>
              <a:rPr lang="en-US" dirty="0"/>
              <a:t> WHEEEEEEEEEEE</a:t>
            </a:r>
          </a:p>
        </p:txBody>
      </p:sp>
      <p:sp>
        <p:nvSpPr>
          <p:cNvPr id="4" name="Slide Number Placeholder 3"/>
          <p:cNvSpPr>
            <a:spLocks noGrp="1"/>
          </p:cNvSpPr>
          <p:nvPr>
            <p:ph type="sldNum" sz="quarter" idx="5"/>
          </p:nvPr>
        </p:nvSpPr>
        <p:spPr/>
        <p:txBody>
          <a:bodyPr/>
          <a:lstStyle/>
          <a:p>
            <a:fld id="{999729AB-B77D-48AE-AA10-D1BD2B4D03EA}" type="slidenum">
              <a:rPr lang="en-US" smtClean="0"/>
              <a:pPr/>
              <a:t>31</a:t>
            </a:fld>
            <a:endParaRPr lang="en-US"/>
          </a:p>
        </p:txBody>
      </p:sp>
    </p:spTree>
    <p:extLst>
      <p:ext uri="{BB962C8B-B14F-4D97-AF65-F5344CB8AC3E}">
        <p14:creationId xmlns:p14="http://schemas.microsoft.com/office/powerpoint/2010/main" val="41057413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35</a:t>
            </a:fld>
            <a:endParaRPr lang="en-US"/>
          </a:p>
        </p:txBody>
      </p:sp>
    </p:spTree>
    <p:extLst>
      <p:ext uri="{BB962C8B-B14F-4D97-AF65-F5344CB8AC3E}">
        <p14:creationId xmlns:p14="http://schemas.microsoft.com/office/powerpoint/2010/main" val="24317276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we'll come back to this more when we talk about runtime representation and </a:t>
            </a:r>
            <a:r>
              <a:rPr lang="en-US" dirty="0" err="1"/>
              <a:t>codegen</a:t>
            </a:r>
            <a:r>
              <a:rPr lang="en-US" dirty="0"/>
              <a:t>.</a:t>
            </a:r>
          </a:p>
        </p:txBody>
      </p:sp>
      <p:sp>
        <p:nvSpPr>
          <p:cNvPr id="4" name="Slide Number Placeholder 3"/>
          <p:cNvSpPr>
            <a:spLocks noGrp="1"/>
          </p:cNvSpPr>
          <p:nvPr>
            <p:ph type="sldNum" sz="quarter" idx="5"/>
          </p:nvPr>
        </p:nvSpPr>
        <p:spPr/>
        <p:txBody>
          <a:bodyPr/>
          <a:lstStyle/>
          <a:p>
            <a:fld id="{999729AB-B77D-48AE-AA10-D1BD2B4D03EA}" type="slidenum">
              <a:rPr lang="en-US" smtClean="0"/>
              <a:pPr/>
              <a:t>36</a:t>
            </a:fld>
            <a:endParaRPr lang="en-US"/>
          </a:p>
        </p:txBody>
      </p:sp>
    </p:spTree>
    <p:extLst>
      <p:ext uri="{BB962C8B-B14F-4D97-AF65-F5344CB8AC3E}">
        <p14:creationId xmlns:p14="http://schemas.microsoft.com/office/powerpoint/2010/main" val="19854370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202729"/>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14501"/>
            <a:ext cx="7772400" cy="1225021"/>
          </a:xfrm>
        </p:spPr>
        <p:txBody>
          <a:bodyPr anchor="b">
            <a:noAutofit/>
          </a:bodyPr>
          <a:lstStyle>
            <a:lvl1pPr algn="l">
              <a:defRPr sz="4800"/>
            </a:lvl1pPr>
          </a:lstStyle>
          <a:p>
            <a:r>
              <a:rPr lang="en-US" dirty="0"/>
              <a:t>Click to edit Master title style</a:t>
            </a:r>
          </a:p>
        </p:txBody>
      </p:sp>
      <p:sp>
        <p:nvSpPr>
          <p:cNvPr id="3" name="Subtitle 2"/>
          <p:cNvSpPr>
            <a:spLocks noGrp="1"/>
          </p:cNvSpPr>
          <p:nvPr>
            <p:ph type="subTitle" idx="1"/>
          </p:nvPr>
        </p:nvSpPr>
        <p:spPr>
          <a:xfrm>
            <a:off x="685800" y="3177645"/>
            <a:ext cx="7772400" cy="1460500"/>
          </a:xfrm>
          <a:noFill/>
        </p:spPr>
        <p:txBody>
          <a:bodyPr>
            <a:normAutofit/>
          </a:bodyPr>
          <a:lstStyle>
            <a:lvl1pPr marL="0" indent="0" algn="l">
              <a:buNone/>
              <a:defRPr sz="2400">
                <a:solidFill>
                  <a:schemeClr val="bg1"/>
                </a:solidFill>
              </a:defRPr>
            </a:lvl1pPr>
            <a:lvl2pPr marL="411480" indent="0" algn="ctr">
              <a:buNone/>
              <a:defRPr>
                <a:solidFill>
                  <a:schemeClr val="tx1">
                    <a:tint val="75000"/>
                  </a:schemeClr>
                </a:solidFill>
              </a:defRPr>
            </a:lvl2pPr>
            <a:lvl3pPr marL="822960" indent="0" algn="ctr">
              <a:buNone/>
              <a:defRPr>
                <a:solidFill>
                  <a:schemeClr val="tx1">
                    <a:tint val="75000"/>
                  </a:schemeClr>
                </a:solidFill>
              </a:defRPr>
            </a:lvl3pPr>
            <a:lvl4pPr marL="1234440" indent="0" algn="ctr">
              <a:buNone/>
              <a:defRPr>
                <a:solidFill>
                  <a:schemeClr val="tx1">
                    <a:tint val="75000"/>
                  </a:schemeClr>
                </a:solidFill>
              </a:defRPr>
            </a:lvl4pPr>
            <a:lvl5pPr marL="1645920" indent="0" algn="ctr">
              <a:buNone/>
              <a:defRPr>
                <a:solidFill>
                  <a:schemeClr val="tx1">
                    <a:tint val="75000"/>
                  </a:schemeClr>
                </a:solidFill>
              </a:defRPr>
            </a:lvl5pPr>
            <a:lvl6pPr marL="2057400" indent="0" algn="ctr">
              <a:buNone/>
              <a:defRPr>
                <a:solidFill>
                  <a:schemeClr val="tx1">
                    <a:tint val="75000"/>
                  </a:schemeClr>
                </a:solidFill>
              </a:defRPr>
            </a:lvl6pPr>
            <a:lvl7pPr marL="2468880" indent="0" algn="ctr">
              <a:buNone/>
              <a:defRPr>
                <a:solidFill>
                  <a:schemeClr val="tx1">
                    <a:tint val="75000"/>
                  </a:schemeClr>
                </a:solidFill>
              </a:defRPr>
            </a:lvl7pPr>
            <a:lvl8pPr marL="2880360" indent="0" algn="ctr">
              <a:buNone/>
              <a:defRPr>
                <a:solidFill>
                  <a:schemeClr val="tx1">
                    <a:tint val="75000"/>
                  </a:schemeClr>
                </a:solidFill>
              </a:defRPr>
            </a:lvl8pPr>
            <a:lvl9pPr marL="3291840" indent="0" algn="ctr">
              <a:buNone/>
              <a:defRPr>
                <a:solidFill>
                  <a:schemeClr val="tx1">
                    <a:tint val="75000"/>
                  </a:schemeClr>
                </a:solidFill>
              </a:defRPr>
            </a:lvl9pPr>
          </a:lstStyle>
          <a:p>
            <a:r>
              <a:rPr lang="en-US"/>
              <a:t>Click to edit Master subtitle style</a:t>
            </a:r>
            <a:endParaRPr lang="en-US" dirty="0"/>
          </a:p>
        </p:txBody>
      </p:sp>
      <p:sp>
        <p:nvSpPr>
          <p:cNvPr id="5" name="Footer Placeholder 4"/>
          <p:cNvSpPr>
            <a:spLocks noGrp="1"/>
          </p:cNvSpPr>
          <p:nvPr>
            <p:ph type="ftr" sz="quarter" idx="11"/>
          </p:nvPr>
        </p:nvSpPr>
        <p:spPr/>
        <p:txBody>
          <a:bodyPr/>
          <a:lstStyle/>
          <a:p>
            <a:r>
              <a:rPr lang="cs-CZ"/>
              <a:t>CS447</a:t>
            </a:r>
            <a:endParaRPr lang="en-US" dirty="0"/>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
        <p:nvSpPr>
          <p:cNvPr id="7" name="Rectangle 6"/>
          <p:cNvSpPr/>
          <p:nvPr/>
        </p:nvSpPr>
        <p:spPr>
          <a:xfrm>
            <a:off x="0" y="3162300"/>
            <a:ext cx="9144000" cy="18288"/>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Tree>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495300"/>
          </a:xfrm>
        </p:spPr>
        <p:txBody>
          <a:bodyPr>
            <a:noAutofit/>
          </a:bodyPr>
          <a:lstStyle>
            <a:lvl1pPr>
              <a:defRPr sz="2800"/>
            </a:lvl1pPr>
          </a:lstStyle>
          <a:p>
            <a:r>
              <a:rPr lang="en-US" dirty="0"/>
              <a:t>Click to edit Master title style</a:t>
            </a:r>
          </a:p>
        </p:txBody>
      </p:sp>
      <p:sp>
        <p:nvSpPr>
          <p:cNvPr id="3" name="Content Placeholder 2"/>
          <p:cNvSpPr>
            <a:spLocks noGrp="1"/>
          </p:cNvSpPr>
          <p:nvPr>
            <p:ph idx="1"/>
          </p:nvPr>
        </p:nvSpPr>
        <p:spPr>
          <a:xfrm>
            <a:off x="152400" y="495301"/>
            <a:ext cx="8991600" cy="4801659"/>
          </a:xfrm>
        </p:spPr>
        <p:txBody>
          <a:bodyPr>
            <a:normAutofit/>
          </a:bodyPr>
          <a:lstStyle>
            <a:lvl1pPr marL="257175" indent="-257175">
              <a:buSzPct val="100000"/>
              <a:buFont typeface="Trebuchet MS" pitchFamily="34" charset="0"/>
              <a:buChar char="●"/>
              <a:defRPr sz="2200"/>
            </a:lvl1pPr>
            <a:lvl2pPr marL="515780" indent="-257175">
              <a:defRPr sz="2200"/>
            </a:lvl2pPr>
            <a:lvl3pPr marL="772955" indent="-250032">
              <a:tabLst/>
              <a:defRPr sz="2200" b="0"/>
            </a:lvl3pPr>
            <a:lvl4pPr marL="1031558" indent="-257175">
              <a:tabLst/>
              <a:defRPr sz="2200" b="0"/>
            </a:lvl4pPr>
            <a:lvl5pPr marL="1285875" indent="-254318">
              <a:defRPr sz="2200"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lvl1pPr>
              <a:defRPr sz="1200"/>
            </a:lvl1pPr>
          </a:lstStyle>
          <a:p>
            <a:r>
              <a:rPr lang="cs-CZ"/>
              <a:t>CS447</a:t>
            </a:r>
            <a:endParaRPr lang="en-US" dirty="0"/>
          </a:p>
        </p:txBody>
      </p:sp>
      <p:sp>
        <p:nvSpPr>
          <p:cNvPr id="6" name="Slide Number Placeholder 5"/>
          <p:cNvSpPr>
            <a:spLocks noGrp="1"/>
          </p:cNvSpPr>
          <p:nvPr>
            <p:ph type="sldNum" sz="quarter" idx="12"/>
          </p:nvPr>
        </p:nvSpPr>
        <p:spPr/>
        <p:txBody>
          <a:bodyPr/>
          <a:lstStyle>
            <a:lvl1pPr>
              <a:defRPr sz="1200"/>
            </a:lvl1pPr>
          </a:lstStyle>
          <a:p>
            <a:fld id="{3552B95B-556F-44BD-91A5-D80C1B9E2BB3}" type="slidenum">
              <a:rPr lang="en-US" smtClean="0"/>
              <a:pPr/>
              <a:t>‹#›</a:t>
            </a:fld>
            <a:endParaRPr lang="en-US"/>
          </a:p>
        </p:txBody>
      </p:sp>
    </p:spTree>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5">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obj" preserve="1">
  <p:cSld name="Title and Content (no anim)">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495300"/>
          </a:xfrm>
        </p:spPr>
        <p:txBody>
          <a:bodyPr>
            <a:noAutofit/>
          </a:bodyPr>
          <a:lstStyle>
            <a:lvl1pPr>
              <a:defRPr sz="2800"/>
            </a:lvl1pPr>
          </a:lstStyle>
          <a:p>
            <a:r>
              <a:rPr lang="en-US" dirty="0"/>
              <a:t>Click to edit Master title style</a:t>
            </a:r>
          </a:p>
        </p:txBody>
      </p:sp>
      <p:sp>
        <p:nvSpPr>
          <p:cNvPr id="3" name="Content Placeholder 2"/>
          <p:cNvSpPr>
            <a:spLocks noGrp="1"/>
          </p:cNvSpPr>
          <p:nvPr>
            <p:ph idx="1"/>
          </p:nvPr>
        </p:nvSpPr>
        <p:spPr>
          <a:xfrm>
            <a:off x="152400" y="495301"/>
            <a:ext cx="8991600" cy="4801659"/>
          </a:xfrm>
        </p:spPr>
        <p:txBody>
          <a:bodyPr>
            <a:normAutofit/>
          </a:bodyPr>
          <a:lstStyle>
            <a:lvl1pPr marL="257175" indent="-257175">
              <a:buSzPct val="100000"/>
              <a:buFont typeface="Trebuchet MS" pitchFamily="34" charset="0"/>
              <a:buChar char="●"/>
              <a:defRPr sz="2200"/>
            </a:lvl1pPr>
            <a:lvl2pPr marL="515780" indent="-257175">
              <a:defRPr sz="2200"/>
            </a:lvl2pPr>
            <a:lvl3pPr marL="772955" indent="-250032">
              <a:tabLst/>
              <a:defRPr sz="2200" b="0"/>
            </a:lvl3pPr>
            <a:lvl4pPr marL="1031558" indent="-257175">
              <a:tabLst/>
              <a:defRPr sz="2200" b="0"/>
            </a:lvl4pPr>
            <a:lvl5pPr marL="1285875" indent="-254318">
              <a:defRPr sz="2200"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lvl1pPr>
              <a:defRPr sz="1200"/>
            </a:lvl1pPr>
          </a:lstStyle>
          <a:p>
            <a:r>
              <a:rPr lang="cs-CZ"/>
              <a:t>CS447</a:t>
            </a:r>
            <a:endParaRPr lang="en-US" dirty="0"/>
          </a:p>
        </p:txBody>
      </p:sp>
      <p:sp>
        <p:nvSpPr>
          <p:cNvPr id="6" name="Slide Number Placeholder 5"/>
          <p:cNvSpPr>
            <a:spLocks noGrp="1"/>
          </p:cNvSpPr>
          <p:nvPr>
            <p:ph type="sldNum" sz="quarter" idx="12"/>
          </p:nvPr>
        </p:nvSpPr>
        <p:spPr/>
        <p:txBody>
          <a:bodyPr/>
          <a:lstStyle>
            <a:lvl1pPr>
              <a:defRPr sz="1200"/>
            </a:lvl1pPr>
          </a:lstStyle>
          <a:p>
            <a:fld id="{3552B95B-556F-44BD-91A5-D80C1B9E2BB3}" type="slidenum">
              <a:rPr lang="en-US" smtClean="0"/>
              <a:pPr/>
              <a:t>‹#›</a:t>
            </a:fld>
            <a:endParaRPr lang="en-US"/>
          </a:p>
        </p:txBody>
      </p:sp>
    </p:spTree>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rgbClr val="202729"/>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14501"/>
            <a:ext cx="7772400" cy="1225021"/>
          </a:xfrm>
        </p:spPr>
        <p:txBody>
          <a:bodyPr anchor="b">
            <a:noAutofit/>
          </a:bodyPr>
          <a:lstStyle>
            <a:lvl1pPr algn="l">
              <a:defRPr sz="4800"/>
            </a:lvl1pPr>
          </a:lstStyle>
          <a:p>
            <a:r>
              <a:rPr lang="en-US" dirty="0"/>
              <a:t>Click to edit Master title style</a:t>
            </a:r>
          </a:p>
        </p:txBody>
      </p:sp>
      <p:sp>
        <p:nvSpPr>
          <p:cNvPr id="5" name="Footer Placeholder 4"/>
          <p:cNvSpPr>
            <a:spLocks noGrp="1"/>
          </p:cNvSpPr>
          <p:nvPr>
            <p:ph type="ftr" sz="quarter" idx="11"/>
          </p:nvPr>
        </p:nvSpPr>
        <p:spPr/>
        <p:txBody>
          <a:bodyPr/>
          <a:lstStyle/>
          <a:p>
            <a:r>
              <a:rPr lang="cs-CZ"/>
              <a:t>CS447</a:t>
            </a:r>
            <a:endParaRPr lang="en-US" dirty="0"/>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
        <p:nvSpPr>
          <p:cNvPr id="7" name="Rectangle 6"/>
          <p:cNvSpPr/>
          <p:nvPr/>
        </p:nvSpPr>
        <p:spPr>
          <a:xfrm>
            <a:off x="0" y="3162300"/>
            <a:ext cx="9144000" cy="18288"/>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Tree>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333501"/>
            <a:ext cx="4038600" cy="3771636"/>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333501"/>
            <a:ext cx="4038600" cy="3771636"/>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5296960"/>
            <a:ext cx="2133600" cy="304271"/>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cs-CZ"/>
              <a:t>CS447</a:t>
            </a:r>
            <a:endParaRPr lang="en-US"/>
          </a:p>
        </p:txBody>
      </p:sp>
      <p:sp>
        <p:nvSpPr>
          <p:cNvPr id="7" name="Slide Number Placeholder 6"/>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279261"/>
            <a:ext cx="4040188" cy="533136"/>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4" name="Content Placeholder 3"/>
          <p:cNvSpPr>
            <a:spLocks noGrp="1"/>
          </p:cNvSpPr>
          <p:nvPr>
            <p:ph sz="half" idx="2"/>
          </p:nvPr>
        </p:nvSpPr>
        <p:spPr>
          <a:xfrm>
            <a:off x="457200" y="1812396"/>
            <a:ext cx="4040188" cy="3292740"/>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279261"/>
            <a:ext cx="4041775" cy="533136"/>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6" name="Content Placeholder 5"/>
          <p:cNvSpPr>
            <a:spLocks noGrp="1"/>
          </p:cNvSpPr>
          <p:nvPr>
            <p:ph sz="quarter" idx="4"/>
          </p:nvPr>
        </p:nvSpPr>
        <p:spPr>
          <a:xfrm>
            <a:off x="4645028" y="1812396"/>
            <a:ext cx="4041775" cy="3292740"/>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5296960"/>
            <a:ext cx="2133600" cy="304271"/>
          </a:xfrm>
          <a:prstGeom prst="rect">
            <a:avLst/>
          </a:prstGeom>
        </p:spPr>
        <p:txBody>
          <a:bodyPr/>
          <a:lstStyle/>
          <a:p>
            <a:endParaRPr lang="en-US"/>
          </a:p>
        </p:txBody>
      </p:sp>
      <p:sp>
        <p:nvSpPr>
          <p:cNvPr id="8" name="Footer Placeholder 7"/>
          <p:cNvSpPr>
            <a:spLocks noGrp="1"/>
          </p:cNvSpPr>
          <p:nvPr>
            <p:ph type="ftr" sz="quarter" idx="11"/>
          </p:nvPr>
        </p:nvSpPr>
        <p:spPr/>
        <p:txBody>
          <a:bodyPr/>
          <a:lstStyle/>
          <a:p>
            <a:r>
              <a:rPr lang="cs-CZ"/>
              <a:t>CS447</a:t>
            </a:r>
            <a:endParaRPr lang="en-US"/>
          </a:p>
        </p:txBody>
      </p:sp>
      <p:sp>
        <p:nvSpPr>
          <p:cNvPr id="9" name="Slide Number Placeholder 8"/>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5296960"/>
            <a:ext cx="2133600" cy="304271"/>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cs-CZ"/>
              <a:t>CS447</a:t>
            </a:r>
            <a:endParaRPr lang="en-US"/>
          </a:p>
        </p:txBody>
      </p:sp>
      <p:sp>
        <p:nvSpPr>
          <p:cNvPr id="5" name="Slide Number Placeholder 4"/>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5296960"/>
            <a:ext cx="2133600" cy="304271"/>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r>
              <a:rPr lang="cs-CZ"/>
              <a:t>CS447</a:t>
            </a:r>
            <a:endParaRPr lang="en-US"/>
          </a:p>
        </p:txBody>
      </p:sp>
      <p:sp>
        <p:nvSpPr>
          <p:cNvPr id="4" name="Slide Number Placeholder 3"/>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27541"/>
            <a:ext cx="3008313" cy="968376"/>
          </a:xfrm>
        </p:spPr>
        <p:txBody>
          <a:bodyPr anchor="b"/>
          <a:lstStyle>
            <a:lvl1pPr algn="l">
              <a:defRPr sz="1800" b="1"/>
            </a:lvl1pPr>
          </a:lstStyle>
          <a:p>
            <a:r>
              <a:rPr lang="en-US"/>
              <a:t>Click to edit Master title style</a:t>
            </a:r>
          </a:p>
        </p:txBody>
      </p:sp>
      <p:sp>
        <p:nvSpPr>
          <p:cNvPr id="3" name="Content Placeholder 2"/>
          <p:cNvSpPr>
            <a:spLocks noGrp="1"/>
          </p:cNvSpPr>
          <p:nvPr>
            <p:ph idx="1"/>
          </p:nvPr>
        </p:nvSpPr>
        <p:spPr>
          <a:xfrm>
            <a:off x="3575050" y="227544"/>
            <a:ext cx="5111750" cy="4877594"/>
          </a:xfrm>
        </p:spPr>
        <p:txBody>
          <a:bodyPr/>
          <a:lstStyle>
            <a:lvl1pPr>
              <a:defRPr sz="2880"/>
            </a:lvl1pPr>
            <a:lvl2pPr>
              <a:defRPr sz="2520"/>
            </a:lvl2pPr>
            <a:lvl3pPr>
              <a:defRPr sz="216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195919"/>
            <a:ext cx="3008313" cy="3909219"/>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en-US"/>
              <a:t>Click to edit Master text styles</a:t>
            </a:r>
          </a:p>
        </p:txBody>
      </p:sp>
      <p:sp>
        <p:nvSpPr>
          <p:cNvPr id="5" name="Date Placeholder 4"/>
          <p:cNvSpPr>
            <a:spLocks noGrp="1"/>
          </p:cNvSpPr>
          <p:nvPr>
            <p:ph type="dt" sz="half" idx="10"/>
          </p:nvPr>
        </p:nvSpPr>
        <p:spPr>
          <a:xfrm>
            <a:off x="457200" y="5296960"/>
            <a:ext cx="2133600" cy="304271"/>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cs-CZ"/>
              <a:t>CS447</a:t>
            </a:r>
            <a:endParaRPr lang="en-US"/>
          </a:p>
        </p:txBody>
      </p:sp>
      <p:sp>
        <p:nvSpPr>
          <p:cNvPr id="7" name="Slide Number Placeholder 6"/>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000500"/>
            <a:ext cx="5486400" cy="472282"/>
          </a:xfrm>
        </p:spPr>
        <p:txBody>
          <a:bodyPr anchor="b"/>
          <a:lstStyle>
            <a:lvl1pPr algn="l">
              <a:defRPr sz="1800" b="1"/>
            </a:lvl1pPr>
          </a:lstStyle>
          <a:p>
            <a:r>
              <a:rPr lang="en-US"/>
              <a:t>Click to edit Master title style</a:t>
            </a:r>
          </a:p>
        </p:txBody>
      </p:sp>
      <p:sp>
        <p:nvSpPr>
          <p:cNvPr id="3" name="Picture Placeholder 2"/>
          <p:cNvSpPr>
            <a:spLocks noGrp="1"/>
          </p:cNvSpPr>
          <p:nvPr>
            <p:ph type="pic" idx="1"/>
          </p:nvPr>
        </p:nvSpPr>
        <p:spPr>
          <a:xfrm>
            <a:off x="1792288" y="510646"/>
            <a:ext cx="5486400" cy="3429000"/>
          </a:xfrm>
        </p:spPr>
        <p:txBody>
          <a:bodyPr/>
          <a:lstStyle>
            <a:lvl1pPr marL="0" indent="0">
              <a:buNone/>
              <a:defRPr sz="2880"/>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a:r>
              <a:rPr lang="en-US" dirty="0"/>
              <a:t>Drag picture to placeholder or click icon to add</a:t>
            </a:r>
          </a:p>
        </p:txBody>
      </p:sp>
      <p:sp>
        <p:nvSpPr>
          <p:cNvPr id="4" name="Text Placeholder 3"/>
          <p:cNvSpPr>
            <a:spLocks noGrp="1"/>
          </p:cNvSpPr>
          <p:nvPr>
            <p:ph type="body" sz="half" idx="2"/>
          </p:nvPr>
        </p:nvSpPr>
        <p:spPr>
          <a:xfrm>
            <a:off x="1792288" y="4472783"/>
            <a:ext cx="5486400" cy="670719"/>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en-US"/>
              <a:t>Click to edit Master text styles</a:t>
            </a:r>
          </a:p>
        </p:txBody>
      </p:sp>
      <p:sp>
        <p:nvSpPr>
          <p:cNvPr id="5" name="Date Placeholder 4"/>
          <p:cNvSpPr>
            <a:spLocks noGrp="1"/>
          </p:cNvSpPr>
          <p:nvPr>
            <p:ph type="dt" sz="half" idx="10"/>
          </p:nvPr>
        </p:nvSpPr>
        <p:spPr>
          <a:xfrm>
            <a:off x="457200" y="5296960"/>
            <a:ext cx="2133600" cy="304271"/>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cs-CZ"/>
              <a:t>CS447</a:t>
            </a:r>
            <a:endParaRPr lang="en-US"/>
          </a:p>
        </p:txBody>
      </p:sp>
      <p:sp>
        <p:nvSpPr>
          <p:cNvPr id="7" name="Slide Number Placeholder 6"/>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5296960"/>
            <a:ext cx="2133600" cy="304271"/>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cs-CZ"/>
              <a:t>CS447</a:t>
            </a:r>
            <a:endParaRPr lang="en-US"/>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28867"/>
            <a:ext cx="2057400" cy="487627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28867"/>
            <a:ext cx="6019800" cy="48762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5296960"/>
            <a:ext cx="2133600" cy="304271"/>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cs-CZ"/>
              <a:t>CS447</a:t>
            </a:r>
            <a:endParaRPr lang="en-US"/>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 name="Rectangle 8"/>
          <p:cNvSpPr/>
          <p:nvPr/>
        </p:nvSpPr>
        <p:spPr>
          <a:xfrm>
            <a:off x="0" y="5600700"/>
            <a:ext cx="9144000" cy="114300"/>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
        <p:nvSpPr>
          <p:cNvPr id="7" name="Rectangle 6"/>
          <p:cNvSpPr/>
          <p:nvPr/>
        </p:nvSpPr>
        <p:spPr>
          <a:xfrm>
            <a:off x="0" y="0"/>
            <a:ext cx="9144000" cy="495300"/>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
        <p:nvSpPr>
          <p:cNvPr id="2" name="Title Placeholder 1"/>
          <p:cNvSpPr>
            <a:spLocks noGrp="1"/>
          </p:cNvSpPr>
          <p:nvPr>
            <p:ph type="title"/>
          </p:nvPr>
        </p:nvSpPr>
        <p:spPr>
          <a:xfrm>
            <a:off x="152400" y="0"/>
            <a:ext cx="8991600" cy="495300"/>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152400" y="495301"/>
            <a:ext cx="8991600" cy="4801659"/>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0" y="5296960"/>
            <a:ext cx="1219200" cy="304271"/>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cs-CZ"/>
              <a:t>CS447</a:t>
            </a:r>
            <a:endParaRPr lang="en-US" dirty="0"/>
          </a:p>
        </p:txBody>
      </p:sp>
      <p:sp>
        <p:nvSpPr>
          <p:cNvPr id="6" name="Slide Number Placeholder 5"/>
          <p:cNvSpPr>
            <a:spLocks noGrp="1"/>
          </p:cNvSpPr>
          <p:nvPr>
            <p:ph type="sldNum" sz="quarter" idx="4"/>
          </p:nvPr>
        </p:nvSpPr>
        <p:spPr>
          <a:xfrm>
            <a:off x="8458200" y="5296960"/>
            <a:ext cx="685800" cy="304271"/>
          </a:xfrm>
          <a:prstGeom prst="rect">
            <a:avLst/>
          </a:prstGeom>
        </p:spPr>
        <p:txBody>
          <a:bodyPr vert="horz" lIns="91440" tIns="45720" rIns="91440" bIns="45720" rtlCol="0" anchor="ctr"/>
          <a:lstStyle>
            <a:lvl1pPr algn="r">
              <a:defRPr sz="1200">
                <a:solidFill>
                  <a:schemeClr val="tx1">
                    <a:tint val="75000"/>
                  </a:schemeClr>
                </a:solidFill>
              </a:defRPr>
            </a:lvl1pPr>
          </a:lstStyle>
          <a:p>
            <a:fld id="{3552B95B-556F-44BD-91A5-D80C1B9E2BB3}" type="slidenum">
              <a:rPr lang="en-US" smtClean="0"/>
              <a:pPr/>
              <a:t>‹#›</a:t>
            </a:fld>
            <a:endParaRPr lang="en-US"/>
          </a:p>
        </p:txBody>
      </p:sp>
    </p:spTree>
    <p:extLst>
      <p:ext uri="{BB962C8B-B14F-4D97-AF65-F5344CB8AC3E}">
        <p14:creationId xmlns:p14="http://schemas.microsoft.com/office/powerpoint/2010/main" val="34903523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ransition/>
  <p:hf hdr="0" ftr="0" dt="0"/>
  <p:txStyles>
    <p:titleStyle>
      <a:lvl1pPr algn="l" defTabSz="822960" rtl="0" eaLnBrk="1" latinLnBrk="0" hangingPunct="1">
        <a:spcBef>
          <a:spcPct val="0"/>
        </a:spcBef>
        <a:buNone/>
        <a:defRPr sz="2800" b="1" kern="1200">
          <a:solidFill>
            <a:schemeClr val="bg1"/>
          </a:solidFill>
          <a:latin typeface="+mj-lt"/>
          <a:ea typeface="GulimChe" pitchFamily="49" charset="-127"/>
          <a:cs typeface="MoolBoran" pitchFamily="34" charset="0"/>
        </a:defRPr>
      </a:lvl1pPr>
    </p:titleStyle>
    <p:bodyStyle>
      <a:lvl1pPr marL="204312" indent="-204312" algn="l" defTabSz="822960" rtl="0" eaLnBrk="1" latinLnBrk="0" hangingPunct="1">
        <a:spcBef>
          <a:spcPts val="0"/>
        </a:spcBef>
        <a:buSzPct val="150000"/>
        <a:buFont typeface="Arial" pitchFamily="34" charset="0"/>
        <a:buChar char="•"/>
        <a:defRPr sz="2200" kern="1200">
          <a:solidFill>
            <a:schemeClr val="tx1"/>
          </a:solidFill>
          <a:latin typeface="+mn-lt"/>
          <a:ea typeface="+mn-ea"/>
          <a:cs typeface="+mn-cs"/>
        </a:defRPr>
      </a:lvl1pPr>
      <a:lvl2pPr marL="415767" indent="-207170" algn="l" defTabSz="822960" rtl="0" eaLnBrk="1" latinLnBrk="0" hangingPunct="1">
        <a:spcBef>
          <a:spcPts val="0"/>
        </a:spcBef>
        <a:buFont typeface="Courier New" pitchFamily="49" charset="0"/>
        <a:buChar char="o"/>
        <a:defRPr sz="2200" kern="1200">
          <a:solidFill>
            <a:schemeClr val="tx1"/>
          </a:solidFill>
          <a:latin typeface="+mn-lt"/>
          <a:ea typeface="+mn-ea"/>
          <a:cs typeface="+mn-cs"/>
        </a:defRPr>
      </a:lvl2pPr>
      <a:lvl3pPr marL="620078" indent="-205740" algn="l" defTabSz="822960" rtl="0" eaLnBrk="1" latinLnBrk="0" hangingPunct="1">
        <a:spcBef>
          <a:spcPts val="0"/>
        </a:spcBef>
        <a:buFont typeface="Wingdings" pitchFamily="2" charset="2"/>
        <a:buChar char="§"/>
        <a:defRPr sz="2200" kern="1200">
          <a:solidFill>
            <a:schemeClr val="tx1"/>
          </a:solidFill>
          <a:latin typeface="+mn-lt"/>
          <a:ea typeface="+mn-ea"/>
          <a:cs typeface="+mn-cs"/>
        </a:defRPr>
      </a:lvl3pPr>
      <a:lvl4pPr marL="821532" indent="-205740" algn="l" defTabSz="822960" rtl="0" eaLnBrk="1" latinLnBrk="0" hangingPunct="1">
        <a:spcBef>
          <a:spcPts val="0"/>
        </a:spcBef>
        <a:buFont typeface="Arial" pitchFamily="34" charset="0"/>
        <a:buChar char="–"/>
        <a:defRPr sz="2200" kern="1200">
          <a:solidFill>
            <a:schemeClr val="tx1"/>
          </a:solidFill>
          <a:latin typeface="+mn-lt"/>
          <a:ea typeface="+mn-ea"/>
          <a:cs typeface="+mn-cs"/>
        </a:defRPr>
      </a:lvl4pPr>
      <a:lvl5pPr marL="1028700" indent="-205740" algn="l" defTabSz="822960" rtl="0" eaLnBrk="1" latinLnBrk="0" hangingPunct="1">
        <a:spcBef>
          <a:spcPts val="0"/>
        </a:spcBef>
        <a:buFont typeface="Arial" pitchFamily="34" charset="0"/>
        <a:buChar char="»"/>
        <a:defRPr sz="2200" kern="1200">
          <a:solidFill>
            <a:schemeClr val="tx1"/>
          </a:solidFill>
          <a:latin typeface="+mn-lt"/>
          <a:ea typeface="+mn-ea"/>
          <a:cs typeface="+mn-cs"/>
        </a:defRPr>
      </a:lvl5pPr>
      <a:lvl6pPr marL="226314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67462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08610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49758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en-US"/>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Semantic Analysis</a:t>
            </a:r>
            <a:endParaRPr lang="en-US" sz="2400" dirty="0"/>
          </a:p>
        </p:txBody>
      </p:sp>
      <p:sp>
        <p:nvSpPr>
          <p:cNvPr id="3" name="Subtitle 2"/>
          <p:cNvSpPr>
            <a:spLocks noGrp="1"/>
          </p:cNvSpPr>
          <p:nvPr>
            <p:ph type="subTitle" idx="1"/>
          </p:nvPr>
        </p:nvSpPr>
        <p:spPr/>
        <p:txBody>
          <a:bodyPr/>
          <a:lstStyle/>
          <a:p>
            <a:r>
              <a:rPr lang="en-US" dirty="0"/>
              <a:t>CS/COE 1622</a:t>
            </a:r>
          </a:p>
          <a:p>
            <a:r>
              <a:rPr lang="en-US" dirty="0"/>
              <a:t>Jarrett Billingsley</a:t>
            </a:r>
          </a:p>
        </p:txBody>
      </p:sp>
    </p:spTree>
    <p:extLst>
      <p:ext uri="{BB962C8B-B14F-4D97-AF65-F5344CB8AC3E}">
        <p14:creationId xmlns:p14="http://schemas.microsoft.com/office/powerpoint/2010/main" val="3612086569"/>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017CE-A372-C744-8763-80C56E421E87}"/>
              </a:ext>
            </a:extLst>
          </p:cNvPr>
          <p:cNvSpPr>
            <a:spLocks noGrp="1"/>
          </p:cNvSpPr>
          <p:nvPr>
            <p:ph type="title"/>
          </p:nvPr>
        </p:nvSpPr>
        <p:spPr/>
        <p:txBody>
          <a:bodyPr/>
          <a:lstStyle/>
          <a:p>
            <a:r>
              <a:rPr lang="en-US" dirty="0"/>
              <a:t>Class Announcements</a:t>
            </a:r>
          </a:p>
        </p:txBody>
      </p:sp>
      <p:sp>
        <p:nvSpPr>
          <p:cNvPr id="3" name="Content Placeholder 2">
            <a:extLst>
              <a:ext uri="{FF2B5EF4-FFF2-40B4-BE49-F238E27FC236}">
                <a16:creationId xmlns:a16="http://schemas.microsoft.com/office/drawing/2014/main" id="{F4FEBBF7-1C6E-294A-B5C4-174BB20AAFA9}"/>
              </a:ext>
            </a:extLst>
          </p:cNvPr>
          <p:cNvSpPr>
            <a:spLocks noGrp="1"/>
          </p:cNvSpPr>
          <p:nvPr>
            <p:ph idx="1"/>
          </p:nvPr>
        </p:nvSpPr>
        <p:spPr/>
        <p:txBody>
          <a:bodyPr/>
          <a:lstStyle/>
          <a:p>
            <a:r>
              <a:rPr lang="en-US" dirty="0" err="1"/>
              <a:t>ö</a:t>
            </a:r>
            <a:endParaRPr lang="en-US" dirty="0"/>
          </a:p>
        </p:txBody>
      </p:sp>
      <p:sp>
        <p:nvSpPr>
          <p:cNvPr id="4" name="Slide Number Placeholder 3">
            <a:extLst>
              <a:ext uri="{FF2B5EF4-FFF2-40B4-BE49-F238E27FC236}">
                <a16:creationId xmlns:a16="http://schemas.microsoft.com/office/drawing/2014/main" id="{05CC32BD-B01F-C646-91E9-D5AAEE75AC36}"/>
              </a:ext>
            </a:extLst>
          </p:cNvPr>
          <p:cNvSpPr>
            <a:spLocks noGrp="1"/>
          </p:cNvSpPr>
          <p:nvPr>
            <p:ph type="sldNum" sz="quarter" idx="12"/>
          </p:nvPr>
        </p:nvSpPr>
        <p:spPr/>
        <p:txBody>
          <a:bodyPr/>
          <a:lstStyle/>
          <a:p>
            <a:fld id="{3552B95B-556F-44BD-91A5-D80C1B9E2BB3}" type="slidenum">
              <a:rPr lang="en-US" smtClean="0"/>
              <a:pPr/>
              <a:t>2</a:t>
            </a:fld>
            <a:endParaRPr lang="en-US"/>
          </a:p>
        </p:txBody>
      </p:sp>
    </p:spTree>
    <p:extLst>
      <p:ext uri="{BB962C8B-B14F-4D97-AF65-F5344CB8AC3E}">
        <p14:creationId xmlns:p14="http://schemas.microsoft.com/office/powerpoint/2010/main" val="243397440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A0496-4154-7246-8172-01DC1201085E}"/>
              </a:ext>
            </a:extLst>
          </p:cNvPr>
          <p:cNvSpPr>
            <a:spLocks noGrp="1"/>
          </p:cNvSpPr>
          <p:nvPr>
            <p:ph type="ctrTitle"/>
          </p:nvPr>
        </p:nvSpPr>
        <p:spPr/>
        <p:txBody>
          <a:bodyPr/>
          <a:lstStyle/>
          <a:p>
            <a:r>
              <a:rPr lang="en-US" dirty="0"/>
              <a:t>Semantics</a:t>
            </a:r>
          </a:p>
        </p:txBody>
      </p:sp>
      <p:sp>
        <p:nvSpPr>
          <p:cNvPr id="3" name="Slide Number Placeholder 2">
            <a:extLst>
              <a:ext uri="{FF2B5EF4-FFF2-40B4-BE49-F238E27FC236}">
                <a16:creationId xmlns:a16="http://schemas.microsoft.com/office/drawing/2014/main" id="{13D12E16-0708-C243-A93F-5066E8EB79ED}"/>
              </a:ext>
            </a:extLst>
          </p:cNvPr>
          <p:cNvSpPr>
            <a:spLocks noGrp="1"/>
          </p:cNvSpPr>
          <p:nvPr>
            <p:ph type="sldNum" sz="quarter" idx="12"/>
          </p:nvPr>
        </p:nvSpPr>
        <p:spPr/>
        <p:txBody>
          <a:bodyPr/>
          <a:lstStyle/>
          <a:p>
            <a:fld id="{3552B95B-556F-44BD-91A5-D80C1B9E2BB3}" type="slidenum">
              <a:rPr lang="en-US" smtClean="0"/>
              <a:pPr/>
              <a:t>3</a:t>
            </a:fld>
            <a:endParaRPr lang="en-US"/>
          </a:p>
        </p:txBody>
      </p:sp>
    </p:spTree>
    <p:extLst>
      <p:ext uri="{BB962C8B-B14F-4D97-AF65-F5344CB8AC3E}">
        <p14:creationId xmlns:p14="http://schemas.microsoft.com/office/powerpoint/2010/main" val="208364185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FB5F2-9253-E943-BFDF-87A62E6E0E1A}"/>
              </a:ext>
            </a:extLst>
          </p:cNvPr>
          <p:cNvSpPr>
            <a:spLocks noGrp="1"/>
          </p:cNvSpPr>
          <p:nvPr>
            <p:ph type="title"/>
          </p:nvPr>
        </p:nvSpPr>
        <p:spPr/>
        <p:txBody>
          <a:bodyPr/>
          <a:lstStyle/>
          <a:p>
            <a:r>
              <a:rPr lang="en-US" dirty="0"/>
              <a:t>What does it all MEAN</a:t>
            </a:r>
          </a:p>
        </p:txBody>
      </p:sp>
      <p:sp>
        <p:nvSpPr>
          <p:cNvPr id="3" name="Content Placeholder 2">
            <a:extLst>
              <a:ext uri="{FF2B5EF4-FFF2-40B4-BE49-F238E27FC236}">
                <a16:creationId xmlns:a16="http://schemas.microsoft.com/office/drawing/2014/main" id="{6FA835B1-A893-7D44-9038-60058CFC16DC}"/>
              </a:ext>
            </a:extLst>
          </p:cNvPr>
          <p:cNvSpPr>
            <a:spLocks noGrp="1"/>
          </p:cNvSpPr>
          <p:nvPr>
            <p:ph idx="1"/>
          </p:nvPr>
        </p:nvSpPr>
        <p:spPr>
          <a:xfrm>
            <a:off x="152400" y="495301"/>
            <a:ext cx="8991600" cy="914399"/>
          </a:xfrm>
        </p:spPr>
        <p:txBody>
          <a:bodyPr/>
          <a:lstStyle/>
          <a:p>
            <a:r>
              <a:rPr lang="en-US" b="1" dirty="0"/>
              <a:t>semantics </a:t>
            </a:r>
            <a:r>
              <a:rPr lang="en-US" dirty="0"/>
              <a:t>means… meaning.</a:t>
            </a:r>
          </a:p>
          <a:p>
            <a:r>
              <a:rPr lang="en-US" dirty="0"/>
              <a:t>a language's semantics are the rules that make it </a:t>
            </a:r>
            <a:r>
              <a:rPr lang="en-US" i="1" dirty="0"/>
              <a:t>that language.</a:t>
            </a:r>
          </a:p>
        </p:txBody>
      </p:sp>
      <p:sp>
        <p:nvSpPr>
          <p:cNvPr id="4" name="Slide Number Placeholder 3">
            <a:extLst>
              <a:ext uri="{FF2B5EF4-FFF2-40B4-BE49-F238E27FC236}">
                <a16:creationId xmlns:a16="http://schemas.microsoft.com/office/drawing/2014/main" id="{DE159753-0F8A-8148-AECB-8006C3E00DAD}"/>
              </a:ext>
            </a:extLst>
          </p:cNvPr>
          <p:cNvSpPr>
            <a:spLocks noGrp="1"/>
          </p:cNvSpPr>
          <p:nvPr>
            <p:ph type="sldNum" sz="quarter" idx="12"/>
          </p:nvPr>
        </p:nvSpPr>
        <p:spPr/>
        <p:txBody>
          <a:bodyPr/>
          <a:lstStyle/>
          <a:p>
            <a:fld id="{3552B95B-556F-44BD-91A5-D80C1B9E2BB3}" type="slidenum">
              <a:rPr lang="en-US" smtClean="0"/>
              <a:pPr/>
              <a:t>4</a:t>
            </a:fld>
            <a:endParaRPr lang="en-US"/>
          </a:p>
        </p:txBody>
      </p:sp>
      <p:sp>
        <p:nvSpPr>
          <p:cNvPr id="5" name="TextBox 4">
            <a:extLst>
              <a:ext uri="{FF2B5EF4-FFF2-40B4-BE49-F238E27FC236}">
                <a16:creationId xmlns:a16="http://schemas.microsoft.com/office/drawing/2014/main" id="{C2E26CBE-F70B-9C46-B6CA-2C32866CB40A}"/>
              </a:ext>
            </a:extLst>
          </p:cNvPr>
          <p:cNvSpPr txBox="1"/>
          <p:nvPr/>
        </p:nvSpPr>
        <p:spPr>
          <a:xfrm>
            <a:off x="381000" y="1562100"/>
            <a:ext cx="3930884" cy="954107"/>
          </a:xfrm>
          <a:prstGeom prst="rect">
            <a:avLst/>
          </a:prstGeom>
          <a:noFill/>
        </p:spPr>
        <p:txBody>
          <a:bodyPr wrap="none" rtlCol="0">
            <a:spAutoFit/>
          </a:bodyPr>
          <a:lstStyle/>
          <a:p>
            <a:r>
              <a:rPr lang="en-US" sz="2800" b="1" dirty="0">
                <a:solidFill>
                  <a:srgbClr val="FF0000"/>
                </a:solidFill>
                <a:latin typeface="Consolas" panose="020B0609020204030204" pitchFamily="49" charset="0"/>
                <a:cs typeface="Consolas" panose="020B0609020204030204" pitchFamily="49" charset="0"/>
              </a:rPr>
              <a:t>int</a:t>
            </a:r>
            <a:r>
              <a:rPr lang="en-US" sz="2800" b="1" dirty="0">
                <a:latin typeface="Consolas" panose="020B0609020204030204" pitchFamily="49" charset="0"/>
                <a:cs typeface="Consolas" panose="020B0609020204030204" pitchFamily="49" charset="0"/>
              </a:rPr>
              <a:t> x = </a:t>
            </a:r>
            <a:r>
              <a:rPr lang="en-US" sz="2800" b="1" dirty="0">
                <a:solidFill>
                  <a:schemeClr val="accent3">
                    <a:lumMod val="75000"/>
                  </a:schemeClr>
                </a:solidFill>
                <a:latin typeface="Consolas" panose="020B0609020204030204" pitchFamily="49" charset="0"/>
                <a:cs typeface="Consolas" panose="020B0609020204030204" pitchFamily="49" charset="0"/>
              </a:rPr>
              <a:t>10</a:t>
            </a:r>
            <a:r>
              <a:rPr lang="en-US" sz="2800" b="1" dirty="0">
                <a:latin typeface="Consolas" panose="020B0609020204030204" pitchFamily="49" charset="0"/>
                <a:cs typeface="Consolas" panose="020B0609020204030204" pitchFamily="49" charset="0"/>
              </a:rPr>
              <a:t>;</a:t>
            </a:r>
          </a:p>
          <a:p>
            <a:r>
              <a:rPr lang="en-US" sz="2800" b="1" dirty="0" err="1">
                <a:latin typeface="Consolas" panose="020B0609020204030204" pitchFamily="49" charset="0"/>
                <a:cs typeface="Consolas" panose="020B0609020204030204" pitchFamily="49" charset="0"/>
              </a:rPr>
              <a:t>printf</a:t>
            </a:r>
            <a:r>
              <a:rPr lang="en-US" sz="2800" b="1" dirty="0">
                <a:latin typeface="Consolas" panose="020B0609020204030204" pitchFamily="49" charset="0"/>
                <a:cs typeface="Consolas" panose="020B0609020204030204" pitchFamily="49" charset="0"/>
              </a:rPr>
              <a:t>(</a:t>
            </a:r>
            <a:r>
              <a:rPr lang="en-US" sz="2800" b="1" dirty="0">
                <a:solidFill>
                  <a:schemeClr val="accent6">
                    <a:lumMod val="75000"/>
                  </a:schemeClr>
                </a:solidFill>
                <a:latin typeface="Consolas" panose="020B0609020204030204" pitchFamily="49" charset="0"/>
                <a:cs typeface="Consolas" panose="020B0609020204030204" pitchFamily="49" charset="0"/>
              </a:rPr>
              <a:t>"x = "</a:t>
            </a:r>
            <a:r>
              <a:rPr lang="en-US" sz="2800" b="1" dirty="0">
                <a:latin typeface="Consolas" panose="020B0609020204030204" pitchFamily="49" charset="0"/>
                <a:cs typeface="Consolas" panose="020B0609020204030204" pitchFamily="49" charset="0"/>
              </a:rPr>
              <a:t> + x);</a:t>
            </a:r>
          </a:p>
        </p:txBody>
      </p:sp>
      <p:sp>
        <p:nvSpPr>
          <p:cNvPr id="6" name="TextBox 5">
            <a:extLst>
              <a:ext uri="{FF2B5EF4-FFF2-40B4-BE49-F238E27FC236}">
                <a16:creationId xmlns:a16="http://schemas.microsoft.com/office/drawing/2014/main" id="{53E40700-EB2B-274F-A90B-0182024F84A6}"/>
              </a:ext>
            </a:extLst>
          </p:cNvPr>
          <p:cNvSpPr txBox="1"/>
          <p:nvPr/>
        </p:nvSpPr>
        <p:spPr>
          <a:xfrm>
            <a:off x="4311884" y="1406089"/>
            <a:ext cx="4419600" cy="769441"/>
          </a:xfrm>
          <a:prstGeom prst="rect">
            <a:avLst/>
          </a:prstGeom>
          <a:noFill/>
        </p:spPr>
        <p:txBody>
          <a:bodyPr wrap="square" rtlCol="0">
            <a:spAutoFit/>
          </a:bodyPr>
          <a:lstStyle/>
          <a:p>
            <a:pPr algn="ctr"/>
            <a:r>
              <a:rPr lang="en-US" sz="2200" dirty="0"/>
              <a:t>this code lexes and parses </a:t>
            </a:r>
            <a:r>
              <a:rPr lang="en-US" sz="2200" b="1" dirty="0"/>
              <a:t>exactly the same</a:t>
            </a:r>
            <a:r>
              <a:rPr lang="en-US" sz="2200" dirty="0"/>
              <a:t> in both C and Java.</a:t>
            </a:r>
          </a:p>
        </p:txBody>
      </p:sp>
      <p:sp>
        <p:nvSpPr>
          <p:cNvPr id="7" name="TextBox 6">
            <a:extLst>
              <a:ext uri="{FF2B5EF4-FFF2-40B4-BE49-F238E27FC236}">
                <a16:creationId xmlns:a16="http://schemas.microsoft.com/office/drawing/2014/main" id="{C98F1C48-4E30-9446-8BFD-EA0238542A89}"/>
              </a:ext>
            </a:extLst>
          </p:cNvPr>
          <p:cNvSpPr txBox="1"/>
          <p:nvPr/>
        </p:nvSpPr>
        <p:spPr>
          <a:xfrm>
            <a:off x="4311884" y="2223486"/>
            <a:ext cx="4419600" cy="430887"/>
          </a:xfrm>
          <a:prstGeom prst="rect">
            <a:avLst/>
          </a:prstGeom>
          <a:noFill/>
        </p:spPr>
        <p:txBody>
          <a:bodyPr wrap="square" rtlCol="0">
            <a:spAutoFit/>
          </a:bodyPr>
          <a:lstStyle/>
          <a:p>
            <a:pPr algn="ctr"/>
            <a:r>
              <a:rPr lang="en-US" sz="2200" dirty="0"/>
              <a:t>but the </a:t>
            </a:r>
            <a:r>
              <a:rPr lang="en-US" sz="2200" i="1" dirty="0"/>
              <a:t>semantics </a:t>
            </a:r>
            <a:r>
              <a:rPr lang="en-US" sz="2200" dirty="0"/>
              <a:t>differ wildly.</a:t>
            </a:r>
          </a:p>
        </p:txBody>
      </p:sp>
      <p:sp>
        <p:nvSpPr>
          <p:cNvPr id="8" name="Left Brace 7">
            <a:extLst>
              <a:ext uri="{FF2B5EF4-FFF2-40B4-BE49-F238E27FC236}">
                <a16:creationId xmlns:a16="http://schemas.microsoft.com/office/drawing/2014/main" id="{06B00479-6BD8-7545-B302-8FF37DD1A97D}"/>
              </a:ext>
            </a:extLst>
          </p:cNvPr>
          <p:cNvSpPr/>
          <p:nvPr/>
        </p:nvSpPr>
        <p:spPr>
          <a:xfrm rot="16200000">
            <a:off x="2648754" y="1620055"/>
            <a:ext cx="341293" cy="1981198"/>
          </a:xfrm>
          <a:prstGeom prst="leftBrace">
            <a:avLst>
              <a:gd name="adj1" fmla="val 44614"/>
              <a:gd name="adj2" fmla="val 50000"/>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TextBox 8">
            <a:extLst>
              <a:ext uri="{FF2B5EF4-FFF2-40B4-BE49-F238E27FC236}">
                <a16:creationId xmlns:a16="http://schemas.microsoft.com/office/drawing/2014/main" id="{8CB3B893-DDBF-6341-9206-9B6F2B68A655}"/>
              </a:ext>
            </a:extLst>
          </p:cNvPr>
          <p:cNvSpPr txBox="1"/>
          <p:nvPr/>
        </p:nvSpPr>
        <p:spPr>
          <a:xfrm>
            <a:off x="409575" y="2821505"/>
            <a:ext cx="8521934" cy="769441"/>
          </a:xfrm>
          <a:prstGeom prst="rect">
            <a:avLst/>
          </a:prstGeom>
          <a:noFill/>
        </p:spPr>
        <p:txBody>
          <a:bodyPr wrap="square" rtlCol="0">
            <a:spAutoFit/>
          </a:bodyPr>
          <a:lstStyle/>
          <a:p>
            <a:pPr algn="ctr"/>
            <a:r>
              <a:rPr lang="en-US" sz="2200" dirty="0"/>
              <a:t>in Java, this says: "create a new string object that is the concatenation of </a:t>
            </a:r>
            <a:r>
              <a:rPr lang="en-US" sz="2200" b="1" dirty="0">
                <a:solidFill>
                  <a:schemeClr val="accent6">
                    <a:lumMod val="75000"/>
                  </a:schemeClr>
                </a:solidFill>
                <a:latin typeface="Consolas" panose="020B0609020204030204" pitchFamily="49" charset="0"/>
                <a:cs typeface="Consolas" panose="020B0609020204030204" pitchFamily="49" charset="0"/>
              </a:rPr>
              <a:t>"x = "</a:t>
            </a:r>
            <a:r>
              <a:rPr lang="en-US" sz="2200" dirty="0"/>
              <a:t> and the result of calling </a:t>
            </a:r>
            <a:r>
              <a:rPr lang="en-US" sz="2200" b="1" dirty="0" err="1">
                <a:latin typeface="Consolas" panose="020B0609020204030204" pitchFamily="49" charset="0"/>
                <a:cs typeface="Consolas" panose="020B0609020204030204" pitchFamily="49" charset="0"/>
              </a:rPr>
              <a:t>x.toString</a:t>
            </a:r>
            <a:r>
              <a:rPr lang="en-US" sz="2200" b="1" dirty="0">
                <a:latin typeface="Consolas" panose="020B0609020204030204" pitchFamily="49" charset="0"/>
                <a:cs typeface="Consolas" panose="020B0609020204030204" pitchFamily="49" charset="0"/>
              </a:rPr>
              <a:t>()</a:t>
            </a:r>
            <a:r>
              <a:rPr lang="en-US" sz="2200" dirty="0"/>
              <a:t>."</a:t>
            </a:r>
          </a:p>
        </p:txBody>
      </p:sp>
      <p:sp>
        <p:nvSpPr>
          <p:cNvPr id="10" name="TextBox 9">
            <a:extLst>
              <a:ext uri="{FF2B5EF4-FFF2-40B4-BE49-F238E27FC236}">
                <a16:creationId xmlns:a16="http://schemas.microsoft.com/office/drawing/2014/main" id="{15117265-2155-9F49-9810-51270D2F1F40}"/>
              </a:ext>
            </a:extLst>
          </p:cNvPr>
          <p:cNvSpPr txBox="1"/>
          <p:nvPr/>
        </p:nvSpPr>
        <p:spPr>
          <a:xfrm>
            <a:off x="409575" y="3705758"/>
            <a:ext cx="8534400" cy="769441"/>
          </a:xfrm>
          <a:prstGeom prst="rect">
            <a:avLst/>
          </a:prstGeom>
          <a:noFill/>
        </p:spPr>
        <p:txBody>
          <a:bodyPr wrap="square" rtlCol="0">
            <a:spAutoFit/>
          </a:bodyPr>
          <a:lstStyle/>
          <a:p>
            <a:pPr algn="ctr"/>
            <a:r>
              <a:rPr lang="en-US" sz="2200" dirty="0"/>
              <a:t>in C, this says: "calculate a pointer starting at the address of </a:t>
            </a:r>
            <a:r>
              <a:rPr lang="en-US" sz="2200" b="1" dirty="0">
                <a:solidFill>
                  <a:schemeClr val="accent6">
                    <a:lumMod val="75000"/>
                  </a:schemeClr>
                </a:solidFill>
                <a:latin typeface="Consolas" panose="020B0609020204030204" pitchFamily="49" charset="0"/>
                <a:cs typeface="Consolas" panose="020B0609020204030204" pitchFamily="49" charset="0"/>
              </a:rPr>
              <a:t>"x = " </a:t>
            </a:r>
            <a:r>
              <a:rPr lang="en-US" sz="2200" dirty="0"/>
              <a:t>and adding the value in </a:t>
            </a:r>
            <a:r>
              <a:rPr lang="en-US" sz="2200" b="1" dirty="0">
                <a:latin typeface="Consolas" panose="020B0609020204030204" pitchFamily="49" charset="0"/>
                <a:cs typeface="Consolas" panose="020B0609020204030204" pitchFamily="49" charset="0"/>
              </a:rPr>
              <a:t>x</a:t>
            </a:r>
            <a:r>
              <a:rPr lang="en-US" sz="2200" dirty="0"/>
              <a:t> times the size of one </a:t>
            </a:r>
            <a:r>
              <a:rPr lang="en-US" sz="2200" b="1" dirty="0">
                <a:solidFill>
                  <a:srgbClr val="FF0000"/>
                </a:solidFill>
                <a:latin typeface="Consolas" panose="020B0609020204030204" pitchFamily="49" charset="0"/>
                <a:cs typeface="Consolas" panose="020B0609020204030204" pitchFamily="49" charset="0"/>
              </a:rPr>
              <a:t>char</a:t>
            </a:r>
            <a:r>
              <a:rPr lang="en-US" sz="2200" dirty="0"/>
              <a:t>."</a:t>
            </a:r>
          </a:p>
        </p:txBody>
      </p:sp>
      <p:sp>
        <p:nvSpPr>
          <p:cNvPr id="13" name="TextBox 12">
            <a:extLst>
              <a:ext uri="{FF2B5EF4-FFF2-40B4-BE49-F238E27FC236}">
                <a16:creationId xmlns:a16="http://schemas.microsoft.com/office/drawing/2014/main" id="{601E331B-7C7B-7D4D-8CFF-8EB3A6C225CD}"/>
              </a:ext>
            </a:extLst>
          </p:cNvPr>
          <p:cNvSpPr txBox="1"/>
          <p:nvPr/>
        </p:nvSpPr>
        <p:spPr>
          <a:xfrm>
            <a:off x="304800" y="4590011"/>
            <a:ext cx="8534400" cy="430887"/>
          </a:xfrm>
          <a:prstGeom prst="rect">
            <a:avLst/>
          </a:prstGeom>
          <a:noFill/>
        </p:spPr>
        <p:txBody>
          <a:bodyPr wrap="square" rtlCol="0">
            <a:spAutoFit/>
          </a:bodyPr>
          <a:lstStyle/>
          <a:p>
            <a:pPr algn="ctr"/>
            <a:r>
              <a:rPr lang="en-US" sz="2200" dirty="0"/>
              <a:t>the semantics define </a:t>
            </a:r>
            <a:r>
              <a:rPr lang="en-US" sz="2200" b="1" dirty="0"/>
              <a:t>what each piece of the language </a:t>
            </a:r>
            <a:r>
              <a:rPr lang="en-US" sz="2200" b="1" i="1" dirty="0"/>
              <a:t>does.</a:t>
            </a:r>
            <a:endParaRPr lang="en-US" sz="2200" i="1" dirty="0"/>
          </a:p>
        </p:txBody>
      </p:sp>
    </p:spTree>
    <p:extLst>
      <p:ext uri="{BB962C8B-B14F-4D97-AF65-F5344CB8AC3E}">
        <p14:creationId xmlns:p14="http://schemas.microsoft.com/office/powerpoint/2010/main" val="385656900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animBg="1"/>
      <p:bldP spid="9" grpId="0"/>
      <p:bldP spid="10" grpId="0"/>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87728-C633-7B4A-BE03-BB805E7918D6}"/>
              </a:ext>
            </a:extLst>
          </p:cNvPr>
          <p:cNvSpPr>
            <a:spLocks noGrp="1"/>
          </p:cNvSpPr>
          <p:nvPr>
            <p:ph type="title"/>
          </p:nvPr>
        </p:nvSpPr>
        <p:spPr/>
        <p:txBody>
          <a:bodyPr/>
          <a:lstStyle/>
          <a:p>
            <a:r>
              <a:rPr lang="en-US" dirty="0"/>
              <a:t>Static vs. Dynamic</a:t>
            </a:r>
          </a:p>
        </p:txBody>
      </p:sp>
      <p:sp>
        <p:nvSpPr>
          <p:cNvPr id="3" name="Content Placeholder 2">
            <a:extLst>
              <a:ext uri="{FF2B5EF4-FFF2-40B4-BE49-F238E27FC236}">
                <a16:creationId xmlns:a16="http://schemas.microsoft.com/office/drawing/2014/main" id="{4F5B4371-6865-9746-AAA3-CCAA1910C636}"/>
              </a:ext>
            </a:extLst>
          </p:cNvPr>
          <p:cNvSpPr>
            <a:spLocks noGrp="1"/>
          </p:cNvSpPr>
          <p:nvPr>
            <p:ph idx="1"/>
          </p:nvPr>
        </p:nvSpPr>
        <p:spPr>
          <a:xfrm>
            <a:off x="152400" y="495301"/>
            <a:ext cx="8991600" cy="838199"/>
          </a:xfrm>
        </p:spPr>
        <p:txBody>
          <a:bodyPr>
            <a:normAutofit/>
          </a:bodyPr>
          <a:lstStyle/>
          <a:p>
            <a:r>
              <a:rPr lang="en-US" dirty="0"/>
              <a:t>you'll see these words used a lot in talking about semantics</a:t>
            </a:r>
          </a:p>
          <a:p>
            <a:r>
              <a:rPr lang="en-US" dirty="0"/>
              <a:t>if we look at a timeline of the process of compiling and running…</a:t>
            </a:r>
          </a:p>
        </p:txBody>
      </p:sp>
      <p:sp>
        <p:nvSpPr>
          <p:cNvPr id="4" name="Slide Number Placeholder 3">
            <a:extLst>
              <a:ext uri="{FF2B5EF4-FFF2-40B4-BE49-F238E27FC236}">
                <a16:creationId xmlns:a16="http://schemas.microsoft.com/office/drawing/2014/main" id="{5459F4FF-2A1F-CC4E-BB5E-30AE37651FC9}"/>
              </a:ext>
            </a:extLst>
          </p:cNvPr>
          <p:cNvSpPr>
            <a:spLocks noGrp="1"/>
          </p:cNvSpPr>
          <p:nvPr>
            <p:ph type="sldNum" sz="quarter" idx="12"/>
          </p:nvPr>
        </p:nvSpPr>
        <p:spPr/>
        <p:txBody>
          <a:bodyPr/>
          <a:lstStyle/>
          <a:p>
            <a:fld id="{3552B95B-556F-44BD-91A5-D80C1B9E2BB3}" type="slidenum">
              <a:rPr lang="en-US" smtClean="0"/>
              <a:pPr/>
              <a:t>5</a:t>
            </a:fld>
            <a:endParaRPr lang="en-US"/>
          </a:p>
        </p:txBody>
      </p:sp>
      <p:grpSp>
        <p:nvGrpSpPr>
          <p:cNvPr id="9" name="Group 8">
            <a:extLst>
              <a:ext uri="{FF2B5EF4-FFF2-40B4-BE49-F238E27FC236}">
                <a16:creationId xmlns:a16="http://schemas.microsoft.com/office/drawing/2014/main" id="{998E14CD-0E26-C24F-AD4A-4A038A8CA5EA}"/>
              </a:ext>
            </a:extLst>
          </p:cNvPr>
          <p:cNvGrpSpPr/>
          <p:nvPr/>
        </p:nvGrpSpPr>
        <p:grpSpPr>
          <a:xfrm>
            <a:off x="381000" y="2126399"/>
            <a:ext cx="8382000" cy="695083"/>
            <a:chOff x="381000" y="2145619"/>
            <a:chExt cx="8382000" cy="375981"/>
          </a:xfrm>
        </p:grpSpPr>
        <p:sp>
          <p:nvSpPr>
            <p:cNvPr id="5" name="Rectangle 4">
              <a:extLst>
                <a:ext uri="{FF2B5EF4-FFF2-40B4-BE49-F238E27FC236}">
                  <a16:creationId xmlns:a16="http://schemas.microsoft.com/office/drawing/2014/main" id="{F6C92EE9-9E90-E44C-9F10-99636C705000}"/>
                </a:ext>
              </a:extLst>
            </p:cNvPr>
            <p:cNvSpPr/>
            <p:nvPr/>
          </p:nvSpPr>
          <p:spPr>
            <a:xfrm>
              <a:off x="381000" y="2171700"/>
              <a:ext cx="4191000" cy="30480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039F19E-F66F-F743-B846-6AFBB63B2FF9}"/>
                </a:ext>
              </a:extLst>
            </p:cNvPr>
            <p:cNvSpPr/>
            <p:nvPr/>
          </p:nvSpPr>
          <p:spPr>
            <a:xfrm>
              <a:off x="4572000" y="2171700"/>
              <a:ext cx="4191000" cy="30480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AA8A6761-5896-3245-B319-C8005A2D30B7}"/>
                </a:ext>
              </a:extLst>
            </p:cNvPr>
            <p:cNvCxnSpPr>
              <a:cxnSpLocks/>
            </p:cNvCxnSpPr>
            <p:nvPr/>
          </p:nvCxnSpPr>
          <p:spPr>
            <a:xfrm>
              <a:off x="4572000" y="2145619"/>
              <a:ext cx="0" cy="37598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8BFA7090-0D88-8945-8EB8-D38DADF00644}"/>
              </a:ext>
            </a:extLst>
          </p:cNvPr>
          <p:cNvSpPr txBox="1"/>
          <p:nvPr/>
        </p:nvSpPr>
        <p:spPr>
          <a:xfrm>
            <a:off x="502778" y="2224517"/>
            <a:ext cx="3890297" cy="430887"/>
          </a:xfrm>
          <a:prstGeom prst="rect">
            <a:avLst/>
          </a:prstGeom>
          <a:noFill/>
        </p:spPr>
        <p:txBody>
          <a:bodyPr wrap="none" rtlCol="0">
            <a:spAutoFit/>
          </a:bodyPr>
          <a:lstStyle/>
          <a:p>
            <a:pPr algn="ctr"/>
            <a:r>
              <a:rPr lang="en-US" sz="2200" dirty="0"/>
              <a:t>compilation, linking, loading…</a:t>
            </a:r>
          </a:p>
        </p:txBody>
      </p:sp>
      <p:sp>
        <p:nvSpPr>
          <p:cNvPr id="11" name="TextBox 10">
            <a:extLst>
              <a:ext uri="{FF2B5EF4-FFF2-40B4-BE49-F238E27FC236}">
                <a16:creationId xmlns:a16="http://schemas.microsoft.com/office/drawing/2014/main" id="{B0E7F184-230F-6A43-9E3D-B02BCBBE3900}"/>
              </a:ext>
            </a:extLst>
          </p:cNvPr>
          <p:cNvSpPr txBox="1"/>
          <p:nvPr/>
        </p:nvSpPr>
        <p:spPr>
          <a:xfrm>
            <a:off x="5377983" y="2224517"/>
            <a:ext cx="2579040" cy="430887"/>
          </a:xfrm>
          <a:prstGeom prst="rect">
            <a:avLst/>
          </a:prstGeom>
          <a:noFill/>
        </p:spPr>
        <p:txBody>
          <a:bodyPr wrap="none" rtlCol="0">
            <a:spAutoFit/>
          </a:bodyPr>
          <a:lstStyle/>
          <a:p>
            <a:pPr algn="ctr"/>
            <a:r>
              <a:rPr lang="en-US" sz="2200" dirty="0"/>
              <a:t>program is running</a:t>
            </a:r>
          </a:p>
        </p:txBody>
      </p:sp>
      <p:grpSp>
        <p:nvGrpSpPr>
          <p:cNvPr id="19" name="Group 18">
            <a:extLst>
              <a:ext uri="{FF2B5EF4-FFF2-40B4-BE49-F238E27FC236}">
                <a16:creationId xmlns:a16="http://schemas.microsoft.com/office/drawing/2014/main" id="{9CBA6B89-F5E1-8549-AFD7-3EEBB5352A09}"/>
              </a:ext>
            </a:extLst>
          </p:cNvPr>
          <p:cNvGrpSpPr/>
          <p:nvPr/>
        </p:nvGrpSpPr>
        <p:grpSpPr>
          <a:xfrm>
            <a:off x="4393075" y="1267592"/>
            <a:ext cx="3000052" cy="820282"/>
            <a:chOff x="4393075" y="1267592"/>
            <a:chExt cx="3000052" cy="820282"/>
          </a:xfrm>
        </p:grpSpPr>
        <p:sp>
          <p:nvSpPr>
            <p:cNvPr id="12" name="TextBox 11">
              <a:extLst>
                <a:ext uri="{FF2B5EF4-FFF2-40B4-BE49-F238E27FC236}">
                  <a16:creationId xmlns:a16="http://schemas.microsoft.com/office/drawing/2014/main" id="{13DAA254-5B69-A245-BFA9-C777B74F41C3}"/>
                </a:ext>
              </a:extLst>
            </p:cNvPr>
            <p:cNvSpPr txBox="1"/>
            <p:nvPr/>
          </p:nvSpPr>
          <p:spPr>
            <a:xfrm>
              <a:off x="4393075" y="1267592"/>
              <a:ext cx="3000052" cy="430887"/>
            </a:xfrm>
            <a:prstGeom prst="rect">
              <a:avLst/>
            </a:prstGeom>
            <a:noFill/>
          </p:spPr>
          <p:txBody>
            <a:bodyPr wrap="none" rtlCol="0">
              <a:spAutoFit/>
            </a:bodyPr>
            <a:lstStyle/>
            <a:p>
              <a:pPr algn="ctr"/>
              <a:r>
                <a:rPr lang="en-US" sz="2200" dirty="0"/>
                <a:t>execution begins here!</a:t>
              </a:r>
            </a:p>
          </p:txBody>
        </p:sp>
        <p:cxnSp>
          <p:nvCxnSpPr>
            <p:cNvPr id="14" name="Straight Arrow Connector 13">
              <a:extLst>
                <a:ext uri="{FF2B5EF4-FFF2-40B4-BE49-F238E27FC236}">
                  <a16:creationId xmlns:a16="http://schemas.microsoft.com/office/drawing/2014/main" id="{053E1D3E-225F-2649-A6AA-A51BFF0A55EB}"/>
                </a:ext>
              </a:extLst>
            </p:cNvPr>
            <p:cNvCxnSpPr>
              <a:cxnSpLocks/>
            </p:cNvCxnSpPr>
            <p:nvPr/>
          </p:nvCxnSpPr>
          <p:spPr>
            <a:xfrm>
              <a:off x="4559252" y="1680561"/>
              <a:ext cx="0" cy="40731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5" name="TextBox 14">
            <a:extLst>
              <a:ext uri="{FF2B5EF4-FFF2-40B4-BE49-F238E27FC236}">
                <a16:creationId xmlns:a16="http://schemas.microsoft.com/office/drawing/2014/main" id="{339D02A5-199A-F34C-B2CF-B4B280D67E9D}"/>
              </a:ext>
            </a:extLst>
          </p:cNvPr>
          <p:cNvSpPr txBox="1"/>
          <p:nvPr/>
        </p:nvSpPr>
        <p:spPr>
          <a:xfrm>
            <a:off x="291538" y="2821484"/>
            <a:ext cx="4191000" cy="1107996"/>
          </a:xfrm>
          <a:prstGeom prst="rect">
            <a:avLst/>
          </a:prstGeom>
          <a:noFill/>
        </p:spPr>
        <p:txBody>
          <a:bodyPr wrap="square" rtlCol="0">
            <a:spAutoFit/>
          </a:bodyPr>
          <a:lstStyle/>
          <a:p>
            <a:pPr algn="ctr"/>
            <a:r>
              <a:rPr lang="en-US" sz="2200" b="1" dirty="0"/>
              <a:t>static</a:t>
            </a:r>
            <a:r>
              <a:rPr lang="en-US" sz="2200" dirty="0"/>
              <a:t> means something that is done </a:t>
            </a:r>
            <a:r>
              <a:rPr lang="en-US" sz="2200" b="1" dirty="0"/>
              <a:t>before execution begins, </a:t>
            </a:r>
            <a:r>
              <a:rPr lang="en-US" sz="2200" dirty="0"/>
              <a:t>and it's only done </a:t>
            </a:r>
            <a:r>
              <a:rPr lang="en-US" sz="2200" i="1" dirty="0"/>
              <a:t>once.</a:t>
            </a:r>
            <a:endParaRPr lang="en-US" sz="2200" b="1" i="1" dirty="0"/>
          </a:p>
        </p:txBody>
      </p:sp>
      <p:sp>
        <p:nvSpPr>
          <p:cNvPr id="16" name="TextBox 15">
            <a:extLst>
              <a:ext uri="{FF2B5EF4-FFF2-40B4-BE49-F238E27FC236}">
                <a16:creationId xmlns:a16="http://schemas.microsoft.com/office/drawing/2014/main" id="{EE28D6D5-F710-104E-9F2A-C71C78187F8B}"/>
              </a:ext>
            </a:extLst>
          </p:cNvPr>
          <p:cNvSpPr txBox="1"/>
          <p:nvPr/>
        </p:nvSpPr>
        <p:spPr>
          <a:xfrm>
            <a:off x="291538" y="4194720"/>
            <a:ext cx="4191000" cy="984885"/>
          </a:xfrm>
          <a:prstGeom prst="rect">
            <a:avLst/>
          </a:prstGeom>
          <a:noFill/>
        </p:spPr>
        <p:txBody>
          <a:bodyPr wrap="square" rtlCol="0">
            <a:spAutoFit/>
          </a:bodyPr>
          <a:lstStyle/>
          <a:p>
            <a:pPr algn="ctr"/>
            <a:r>
              <a:rPr lang="en-US" sz="2200" dirty="0"/>
              <a:t>you'll also hear it called </a:t>
            </a:r>
            <a:r>
              <a:rPr lang="en-US" sz="2200" b="1" dirty="0"/>
              <a:t>"compile-time."</a:t>
            </a:r>
            <a:endParaRPr lang="en-US" sz="2200" dirty="0"/>
          </a:p>
          <a:p>
            <a:pPr algn="ctr"/>
            <a:r>
              <a:rPr lang="en-US" sz="1400" dirty="0"/>
              <a:t>(or "link-time" or "load-time")</a:t>
            </a:r>
            <a:endParaRPr lang="en-US" sz="2800" b="1" dirty="0"/>
          </a:p>
        </p:txBody>
      </p:sp>
      <p:sp>
        <p:nvSpPr>
          <p:cNvPr id="17" name="TextBox 16">
            <a:extLst>
              <a:ext uri="{FF2B5EF4-FFF2-40B4-BE49-F238E27FC236}">
                <a16:creationId xmlns:a16="http://schemas.microsoft.com/office/drawing/2014/main" id="{1F956882-9AFF-3445-989A-F8A31F0F904E}"/>
              </a:ext>
            </a:extLst>
          </p:cNvPr>
          <p:cNvSpPr txBox="1"/>
          <p:nvPr/>
        </p:nvSpPr>
        <p:spPr>
          <a:xfrm>
            <a:off x="4661464" y="2857500"/>
            <a:ext cx="4191000" cy="1107996"/>
          </a:xfrm>
          <a:prstGeom prst="rect">
            <a:avLst/>
          </a:prstGeom>
          <a:noFill/>
        </p:spPr>
        <p:txBody>
          <a:bodyPr wrap="square" rtlCol="0">
            <a:spAutoFit/>
          </a:bodyPr>
          <a:lstStyle/>
          <a:p>
            <a:pPr algn="ctr"/>
            <a:r>
              <a:rPr lang="en-US" sz="2200" b="1" dirty="0"/>
              <a:t>dynamic </a:t>
            </a:r>
            <a:r>
              <a:rPr lang="en-US" sz="2200" dirty="0"/>
              <a:t>means something that is done </a:t>
            </a:r>
            <a:r>
              <a:rPr lang="en-US" sz="2200" b="1" dirty="0"/>
              <a:t>during execution, </a:t>
            </a:r>
            <a:r>
              <a:rPr lang="en-US" sz="2200" dirty="0"/>
              <a:t>possibly </a:t>
            </a:r>
            <a:r>
              <a:rPr lang="en-US" sz="2200" i="1" dirty="0"/>
              <a:t>over and over.</a:t>
            </a:r>
            <a:endParaRPr lang="en-US" sz="2200" b="1" i="1" dirty="0"/>
          </a:p>
        </p:txBody>
      </p:sp>
      <p:sp>
        <p:nvSpPr>
          <p:cNvPr id="18" name="TextBox 17">
            <a:extLst>
              <a:ext uri="{FF2B5EF4-FFF2-40B4-BE49-F238E27FC236}">
                <a16:creationId xmlns:a16="http://schemas.microsoft.com/office/drawing/2014/main" id="{7B8D50EB-2C5B-A44F-971E-F4AF536A5621}"/>
              </a:ext>
            </a:extLst>
          </p:cNvPr>
          <p:cNvSpPr txBox="1"/>
          <p:nvPr/>
        </p:nvSpPr>
        <p:spPr>
          <a:xfrm>
            <a:off x="5044514" y="4194096"/>
            <a:ext cx="3424900" cy="769441"/>
          </a:xfrm>
          <a:prstGeom prst="rect">
            <a:avLst/>
          </a:prstGeom>
          <a:noFill/>
        </p:spPr>
        <p:txBody>
          <a:bodyPr wrap="square" rtlCol="0">
            <a:spAutoFit/>
          </a:bodyPr>
          <a:lstStyle/>
          <a:p>
            <a:pPr algn="ctr"/>
            <a:r>
              <a:rPr lang="en-US" sz="2200" dirty="0"/>
              <a:t>you'll also hear it called </a:t>
            </a:r>
            <a:r>
              <a:rPr lang="en-US" sz="2200" b="1" dirty="0"/>
              <a:t>"runtime."</a:t>
            </a:r>
          </a:p>
        </p:txBody>
      </p:sp>
    </p:spTree>
    <p:extLst>
      <p:ext uri="{BB962C8B-B14F-4D97-AF65-F5344CB8AC3E}">
        <p14:creationId xmlns:p14="http://schemas.microsoft.com/office/powerpoint/2010/main" val="221199538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5" grpId="0"/>
      <p:bldP spid="16" grpId="0"/>
      <p:bldP spid="17" grpId="0"/>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1BAFD-11A1-844A-B0A8-5F07D79E8874}"/>
              </a:ext>
            </a:extLst>
          </p:cNvPr>
          <p:cNvSpPr>
            <a:spLocks noGrp="1"/>
          </p:cNvSpPr>
          <p:nvPr>
            <p:ph type="title"/>
          </p:nvPr>
        </p:nvSpPr>
        <p:spPr/>
        <p:txBody>
          <a:bodyPr/>
          <a:lstStyle/>
          <a:p>
            <a:r>
              <a:rPr lang="en-US" dirty="0"/>
              <a:t>Abstraction</a:t>
            </a:r>
          </a:p>
        </p:txBody>
      </p:sp>
      <p:sp>
        <p:nvSpPr>
          <p:cNvPr id="3" name="Content Placeholder 2">
            <a:extLst>
              <a:ext uri="{FF2B5EF4-FFF2-40B4-BE49-F238E27FC236}">
                <a16:creationId xmlns:a16="http://schemas.microsoft.com/office/drawing/2014/main" id="{8CE5F603-F3AF-094C-B184-8309CF30DEBD}"/>
              </a:ext>
            </a:extLst>
          </p:cNvPr>
          <p:cNvSpPr>
            <a:spLocks noGrp="1"/>
          </p:cNvSpPr>
          <p:nvPr>
            <p:ph idx="1"/>
          </p:nvPr>
        </p:nvSpPr>
        <p:spPr>
          <a:xfrm>
            <a:off x="152400" y="495301"/>
            <a:ext cx="8991600" cy="1219199"/>
          </a:xfrm>
        </p:spPr>
        <p:txBody>
          <a:bodyPr>
            <a:normAutofit/>
          </a:bodyPr>
          <a:lstStyle/>
          <a:p>
            <a:r>
              <a:rPr lang="en-US" dirty="0"/>
              <a:t>HLLs provide programmers with useful sets of </a:t>
            </a:r>
            <a:r>
              <a:rPr lang="en-US" b="1" dirty="0"/>
              <a:t>abstractions.</a:t>
            </a:r>
          </a:p>
          <a:p>
            <a:r>
              <a:rPr lang="en-US" dirty="0"/>
              <a:t>semantics are about </a:t>
            </a:r>
            <a:r>
              <a:rPr lang="en-US" b="1" dirty="0"/>
              <a:t>enforcing the rules</a:t>
            </a:r>
            <a:r>
              <a:rPr lang="en-US" dirty="0"/>
              <a:t> of those abstractions…</a:t>
            </a:r>
          </a:p>
          <a:p>
            <a:pPr lvl="1"/>
            <a:r>
              <a:rPr lang="en-US" dirty="0"/>
              <a:t>even if the target CPU doesn't make a distinction!</a:t>
            </a:r>
          </a:p>
        </p:txBody>
      </p:sp>
      <p:sp>
        <p:nvSpPr>
          <p:cNvPr id="4" name="Slide Number Placeholder 3">
            <a:extLst>
              <a:ext uri="{FF2B5EF4-FFF2-40B4-BE49-F238E27FC236}">
                <a16:creationId xmlns:a16="http://schemas.microsoft.com/office/drawing/2014/main" id="{34968760-C3C6-E849-ABA2-A056A98E02F2}"/>
              </a:ext>
            </a:extLst>
          </p:cNvPr>
          <p:cNvSpPr>
            <a:spLocks noGrp="1"/>
          </p:cNvSpPr>
          <p:nvPr>
            <p:ph type="sldNum" sz="quarter" idx="12"/>
          </p:nvPr>
        </p:nvSpPr>
        <p:spPr/>
        <p:txBody>
          <a:bodyPr/>
          <a:lstStyle/>
          <a:p>
            <a:fld id="{3552B95B-556F-44BD-91A5-D80C1B9E2BB3}" type="slidenum">
              <a:rPr lang="en-US" smtClean="0"/>
              <a:pPr/>
              <a:t>6</a:t>
            </a:fld>
            <a:endParaRPr lang="en-US"/>
          </a:p>
        </p:txBody>
      </p:sp>
      <p:sp>
        <p:nvSpPr>
          <p:cNvPr id="5" name="TextBox 4">
            <a:extLst>
              <a:ext uri="{FF2B5EF4-FFF2-40B4-BE49-F238E27FC236}">
                <a16:creationId xmlns:a16="http://schemas.microsoft.com/office/drawing/2014/main" id="{571689CF-C709-3546-AAD9-1AB5AF669BD8}"/>
              </a:ext>
            </a:extLst>
          </p:cNvPr>
          <p:cNvSpPr txBox="1"/>
          <p:nvPr/>
        </p:nvSpPr>
        <p:spPr>
          <a:xfrm>
            <a:off x="457200" y="1824751"/>
            <a:ext cx="3733714" cy="1815882"/>
          </a:xfrm>
          <a:prstGeom prst="rect">
            <a:avLst/>
          </a:prstGeom>
          <a:noFill/>
        </p:spPr>
        <p:txBody>
          <a:bodyPr wrap="none" rtlCol="0">
            <a:spAutoFit/>
          </a:bodyPr>
          <a:lstStyle/>
          <a:p>
            <a:r>
              <a:rPr lang="en-US" sz="2800" b="1" dirty="0">
                <a:solidFill>
                  <a:srgbClr val="FF0000"/>
                </a:solidFill>
                <a:latin typeface="Consolas" panose="020B0609020204030204" pitchFamily="49" charset="0"/>
                <a:cs typeface="Consolas" panose="020B0609020204030204" pitchFamily="49" charset="0"/>
              </a:rPr>
              <a:t>int</a:t>
            </a:r>
            <a:r>
              <a:rPr lang="en-US" sz="2800" b="1" dirty="0">
                <a:latin typeface="Consolas" panose="020B0609020204030204" pitchFamily="49" charset="0"/>
                <a:cs typeface="Consolas" panose="020B0609020204030204" pitchFamily="49" charset="0"/>
              </a:rPr>
              <a:t> i     = </a:t>
            </a:r>
            <a:r>
              <a:rPr lang="en-US" sz="2800" b="1" dirty="0">
                <a:solidFill>
                  <a:schemeClr val="accent3">
                    <a:lumMod val="75000"/>
                  </a:schemeClr>
                </a:solidFill>
                <a:latin typeface="Consolas" panose="020B0609020204030204" pitchFamily="49" charset="0"/>
                <a:cs typeface="Consolas" panose="020B0609020204030204" pitchFamily="49" charset="0"/>
              </a:rPr>
              <a:t>0</a:t>
            </a:r>
            <a:r>
              <a:rPr lang="en-US" sz="2800" b="1" dirty="0">
                <a:latin typeface="Consolas" panose="020B0609020204030204" pitchFamily="49" charset="0"/>
                <a:cs typeface="Consolas" panose="020B0609020204030204" pitchFamily="49" charset="0"/>
              </a:rPr>
              <a:t>;</a:t>
            </a:r>
          </a:p>
          <a:p>
            <a:r>
              <a:rPr lang="en-US" sz="2800" b="1" dirty="0">
                <a:latin typeface="Consolas" panose="020B0609020204030204" pitchFamily="49" charset="0"/>
                <a:cs typeface="Consolas" panose="020B0609020204030204" pitchFamily="49" charset="0"/>
              </a:rPr>
              <a:t>Object</a:t>
            </a:r>
            <a:r>
              <a:rPr lang="en-US" sz="2800" b="1" dirty="0">
                <a:solidFill>
                  <a:srgbClr val="FF0000"/>
                </a:solidFill>
                <a:latin typeface="Consolas" panose="020B0609020204030204" pitchFamily="49" charset="0"/>
                <a:cs typeface="Consolas" panose="020B0609020204030204" pitchFamily="49" charset="0"/>
              </a:rPr>
              <a:t> </a:t>
            </a:r>
            <a:r>
              <a:rPr lang="en-US" sz="2800" b="1" dirty="0">
                <a:latin typeface="Consolas" panose="020B0609020204030204" pitchFamily="49" charset="0"/>
                <a:cs typeface="Consolas" panose="020B0609020204030204" pitchFamily="49" charset="0"/>
              </a:rPr>
              <a:t>o  = </a:t>
            </a:r>
            <a:r>
              <a:rPr lang="en-US" sz="2800" b="1" dirty="0">
                <a:solidFill>
                  <a:srgbClr val="FF0000"/>
                </a:solidFill>
                <a:latin typeface="Consolas" panose="020B0609020204030204" pitchFamily="49" charset="0"/>
                <a:cs typeface="Consolas" panose="020B0609020204030204" pitchFamily="49" charset="0"/>
              </a:rPr>
              <a:t>null</a:t>
            </a:r>
            <a:r>
              <a:rPr lang="en-US" sz="2800" b="1" dirty="0">
                <a:latin typeface="Consolas" panose="020B0609020204030204" pitchFamily="49" charset="0"/>
                <a:cs typeface="Consolas" panose="020B0609020204030204" pitchFamily="49" charset="0"/>
              </a:rPr>
              <a:t>;</a:t>
            </a:r>
          </a:p>
          <a:p>
            <a:r>
              <a:rPr lang="en-US" sz="2800" b="1" dirty="0">
                <a:solidFill>
                  <a:srgbClr val="FF0000"/>
                </a:solidFill>
                <a:latin typeface="Consolas" panose="020B0609020204030204" pitchFamily="49" charset="0"/>
                <a:cs typeface="Consolas" panose="020B0609020204030204" pitchFamily="49" charset="0"/>
              </a:rPr>
              <a:t>char</a:t>
            </a:r>
            <a:r>
              <a:rPr lang="en-US" sz="2800" b="1" dirty="0">
                <a:latin typeface="Consolas" panose="020B0609020204030204" pitchFamily="49" charset="0"/>
                <a:cs typeface="Consolas" panose="020B0609020204030204" pitchFamily="49" charset="0"/>
              </a:rPr>
              <a:t> c    = </a:t>
            </a:r>
            <a:r>
              <a:rPr lang="en-US" sz="2800" b="1" dirty="0">
                <a:solidFill>
                  <a:schemeClr val="accent6">
                    <a:lumMod val="75000"/>
                  </a:schemeClr>
                </a:solidFill>
                <a:latin typeface="Consolas" panose="020B0609020204030204" pitchFamily="49" charset="0"/>
                <a:cs typeface="Consolas" panose="020B0609020204030204" pitchFamily="49" charset="0"/>
              </a:rPr>
              <a:t>'\0'</a:t>
            </a:r>
            <a:r>
              <a:rPr lang="en-US" sz="2800" b="1" dirty="0">
                <a:latin typeface="Consolas" panose="020B0609020204030204" pitchFamily="49" charset="0"/>
                <a:cs typeface="Consolas" panose="020B0609020204030204" pitchFamily="49" charset="0"/>
              </a:rPr>
              <a:t>;</a:t>
            </a:r>
          </a:p>
          <a:p>
            <a:r>
              <a:rPr lang="en-US" sz="2800" b="1" dirty="0" err="1">
                <a:solidFill>
                  <a:srgbClr val="FF0000"/>
                </a:solidFill>
                <a:latin typeface="Consolas" panose="020B0609020204030204" pitchFamily="49" charset="0"/>
                <a:cs typeface="Consolas" panose="020B0609020204030204" pitchFamily="49" charset="0"/>
              </a:rPr>
              <a:t>boolean</a:t>
            </a:r>
            <a:r>
              <a:rPr lang="en-US" sz="2800" b="1" dirty="0">
                <a:latin typeface="Consolas" panose="020B0609020204030204" pitchFamily="49" charset="0"/>
                <a:cs typeface="Consolas" panose="020B0609020204030204" pitchFamily="49" charset="0"/>
              </a:rPr>
              <a:t> b = </a:t>
            </a:r>
            <a:r>
              <a:rPr lang="en-US" sz="2800" b="1" dirty="0">
                <a:solidFill>
                  <a:srgbClr val="FF0000"/>
                </a:solidFill>
                <a:latin typeface="Consolas" panose="020B0609020204030204" pitchFamily="49" charset="0"/>
                <a:cs typeface="Consolas" panose="020B0609020204030204" pitchFamily="49" charset="0"/>
              </a:rPr>
              <a:t>false</a:t>
            </a:r>
            <a:r>
              <a:rPr lang="en-US" sz="2800" b="1" dirty="0">
                <a:latin typeface="Consolas" panose="020B0609020204030204" pitchFamily="49" charset="0"/>
                <a:cs typeface="Consolas" panose="020B0609020204030204" pitchFamily="49" charset="0"/>
              </a:rPr>
              <a:t>;</a:t>
            </a:r>
          </a:p>
        </p:txBody>
      </p:sp>
      <p:sp>
        <p:nvSpPr>
          <p:cNvPr id="8" name="TextBox 7">
            <a:extLst>
              <a:ext uri="{FF2B5EF4-FFF2-40B4-BE49-F238E27FC236}">
                <a16:creationId xmlns:a16="http://schemas.microsoft.com/office/drawing/2014/main" id="{12AA0C06-4D39-244E-91CC-76C937F6EF0E}"/>
              </a:ext>
            </a:extLst>
          </p:cNvPr>
          <p:cNvSpPr txBox="1"/>
          <p:nvPr/>
        </p:nvSpPr>
        <p:spPr>
          <a:xfrm>
            <a:off x="4381500" y="1943100"/>
            <a:ext cx="4419600" cy="1107996"/>
          </a:xfrm>
          <a:prstGeom prst="rect">
            <a:avLst/>
          </a:prstGeom>
          <a:noFill/>
        </p:spPr>
        <p:txBody>
          <a:bodyPr wrap="square" rtlCol="0">
            <a:spAutoFit/>
          </a:bodyPr>
          <a:lstStyle/>
          <a:p>
            <a:pPr algn="ctr"/>
            <a:r>
              <a:rPr lang="en-US" sz="2200" dirty="0"/>
              <a:t>in this Java, all four lines here will probably compile down to the exact same code, something like:</a:t>
            </a:r>
          </a:p>
        </p:txBody>
      </p:sp>
      <p:sp>
        <p:nvSpPr>
          <p:cNvPr id="10" name="TextBox 9">
            <a:extLst>
              <a:ext uri="{FF2B5EF4-FFF2-40B4-BE49-F238E27FC236}">
                <a16:creationId xmlns:a16="http://schemas.microsoft.com/office/drawing/2014/main" id="{10E18E95-43CA-B140-AEA7-11A9DD79C7C9}"/>
              </a:ext>
            </a:extLst>
          </p:cNvPr>
          <p:cNvSpPr txBox="1"/>
          <p:nvPr/>
        </p:nvSpPr>
        <p:spPr>
          <a:xfrm>
            <a:off x="5392108" y="3099594"/>
            <a:ext cx="2550698" cy="523220"/>
          </a:xfrm>
          <a:prstGeom prst="rect">
            <a:avLst/>
          </a:prstGeom>
          <a:noFill/>
        </p:spPr>
        <p:txBody>
          <a:bodyPr wrap="none" rtlCol="0">
            <a:spAutoFit/>
          </a:bodyPr>
          <a:lstStyle/>
          <a:p>
            <a:r>
              <a:rPr lang="en-US" sz="2800" b="1" dirty="0" err="1">
                <a:solidFill>
                  <a:srgbClr val="FF0000"/>
                </a:solidFill>
                <a:latin typeface="Consolas" panose="020B0609020204030204" pitchFamily="49" charset="0"/>
                <a:cs typeface="Consolas" panose="020B0609020204030204" pitchFamily="49" charset="0"/>
              </a:rPr>
              <a:t>sw</a:t>
            </a:r>
            <a:r>
              <a:rPr lang="en-US" sz="2800" b="1" dirty="0">
                <a:latin typeface="Consolas" panose="020B0609020204030204" pitchFamily="49" charset="0"/>
                <a:cs typeface="Consolas" panose="020B0609020204030204" pitchFamily="49" charset="0"/>
              </a:rPr>
              <a:t>  $zero, i</a:t>
            </a:r>
          </a:p>
        </p:txBody>
      </p:sp>
      <p:sp>
        <p:nvSpPr>
          <p:cNvPr id="13" name="TextBox 12">
            <a:extLst>
              <a:ext uri="{FF2B5EF4-FFF2-40B4-BE49-F238E27FC236}">
                <a16:creationId xmlns:a16="http://schemas.microsoft.com/office/drawing/2014/main" id="{5DBBC620-2881-3E4C-B788-EFA6C4334B43}"/>
              </a:ext>
            </a:extLst>
          </p:cNvPr>
          <p:cNvSpPr txBox="1"/>
          <p:nvPr/>
        </p:nvSpPr>
        <p:spPr>
          <a:xfrm>
            <a:off x="1143000" y="4221659"/>
            <a:ext cx="6858000" cy="769441"/>
          </a:xfrm>
          <a:prstGeom prst="rect">
            <a:avLst/>
          </a:prstGeom>
          <a:noFill/>
        </p:spPr>
        <p:txBody>
          <a:bodyPr wrap="square" rtlCol="0">
            <a:spAutoFit/>
          </a:bodyPr>
          <a:lstStyle/>
          <a:p>
            <a:pPr algn="ctr"/>
            <a:r>
              <a:rPr lang="en-US" sz="2200" dirty="0"/>
              <a:t>the CPU doesn't know or care about the difference between these types, but </a:t>
            </a:r>
            <a:r>
              <a:rPr lang="en-US" sz="2200" b="1" dirty="0"/>
              <a:t>the language does.</a:t>
            </a:r>
          </a:p>
        </p:txBody>
      </p:sp>
    </p:spTree>
    <p:extLst>
      <p:ext uri="{BB962C8B-B14F-4D97-AF65-F5344CB8AC3E}">
        <p14:creationId xmlns:p14="http://schemas.microsoft.com/office/powerpoint/2010/main" val="35369812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0" grpId="0"/>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D547F-E439-2443-8558-C84FC0399A42}"/>
              </a:ext>
            </a:extLst>
          </p:cNvPr>
          <p:cNvSpPr>
            <a:spLocks noGrp="1"/>
          </p:cNvSpPr>
          <p:nvPr>
            <p:ph type="title"/>
          </p:nvPr>
        </p:nvSpPr>
        <p:spPr/>
        <p:txBody>
          <a:bodyPr/>
          <a:lstStyle/>
          <a:p>
            <a:r>
              <a:rPr lang="en-US" dirty="0"/>
              <a:t>Compile-time and runtime guarantees</a:t>
            </a:r>
          </a:p>
        </p:txBody>
      </p:sp>
      <p:sp>
        <p:nvSpPr>
          <p:cNvPr id="3" name="Content Placeholder 2">
            <a:extLst>
              <a:ext uri="{FF2B5EF4-FFF2-40B4-BE49-F238E27FC236}">
                <a16:creationId xmlns:a16="http://schemas.microsoft.com/office/drawing/2014/main" id="{2DAC1FC5-A580-4242-AAC8-52E2D56ADD5C}"/>
              </a:ext>
            </a:extLst>
          </p:cNvPr>
          <p:cNvSpPr>
            <a:spLocks noGrp="1"/>
          </p:cNvSpPr>
          <p:nvPr>
            <p:ph idx="1"/>
          </p:nvPr>
        </p:nvSpPr>
        <p:spPr>
          <a:xfrm>
            <a:off x="152400" y="495301"/>
            <a:ext cx="8991600" cy="826413"/>
          </a:xfrm>
        </p:spPr>
        <p:txBody>
          <a:bodyPr/>
          <a:lstStyle/>
          <a:p>
            <a:r>
              <a:rPr lang="en-US" dirty="0"/>
              <a:t>the compiler is responsible for enforcing many of the language's rules, but those rules can extend </a:t>
            </a:r>
            <a:r>
              <a:rPr lang="en-US" b="1" dirty="0"/>
              <a:t>beyond the compiler's reach!</a:t>
            </a:r>
            <a:endParaRPr lang="en-US" dirty="0"/>
          </a:p>
        </p:txBody>
      </p:sp>
      <p:sp>
        <p:nvSpPr>
          <p:cNvPr id="4" name="Slide Number Placeholder 3">
            <a:extLst>
              <a:ext uri="{FF2B5EF4-FFF2-40B4-BE49-F238E27FC236}">
                <a16:creationId xmlns:a16="http://schemas.microsoft.com/office/drawing/2014/main" id="{758DB491-25FF-9947-AB2A-E9F647202F1B}"/>
              </a:ext>
            </a:extLst>
          </p:cNvPr>
          <p:cNvSpPr>
            <a:spLocks noGrp="1"/>
          </p:cNvSpPr>
          <p:nvPr>
            <p:ph type="sldNum" sz="quarter" idx="12"/>
          </p:nvPr>
        </p:nvSpPr>
        <p:spPr/>
        <p:txBody>
          <a:bodyPr/>
          <a:lstStyle/>
          <a:p>
            <a:fld id="{3552B95B-556F-44BD-91A5-D80C1B9E2BB3}" type="slidenum">
              <a:rPr lang="en-US" smtClean="0"/>
              <a:pPr/>
              <a:t>7</a:t>
            </a:fld>
            <a:endParaRPr lang="en-US"/>
          </a:p>
        </p:txBody>
      </p:sp>
      <p:sp>
        <p:nvSpPr>
          <p:cNvPr id="5" name="TextBox 4">
            <a:extLst>
              <a:ext uri="{FF2B5EF4-FFF2-40B4-BE49-F238E27FC236}">
                <a16:creationId xmlns:a16="http://schemas.microsoft.com/office/drawing/2014/main" id="{BF611EEE-5DF7-0D4F-89F1-88347FF103AB}"/>
              </a:ext>
            </a:extLst>
          </p:cNvPr>
          <p:cNvSpPr txBox="1"/>
          <p:nvPr/>
        </p:nvSpPr>
        <p:spPr>
          <a:xfrm>
            <a:off x="457200" y="1321715"/>
            <a:ext cx="3449983" cy="769441"/>
          </a:xfrm>
          <a:prstGeom prst="rect">
            <a:avLst/>
          </a:prstGeom>
          <a:noFill/>
        </p:spPr>
        <p:txBody>
          <a:bodyPr wrap="none" rtlCol="0">
            <a:spAutoFit/>
          </a:bodyPr>
          <a:lstStyle/>
          <a:p>
            <a:r>
              <a:rPr lang="en-US" sz="2200" b="1" dirty="0">
                <a:solidFill>
                  <a:srgbClr val="FF0000"/>
                </a:solidFill>
                <a:latin typeface="Consolas" panose="020B0609020204030204" pitchFamily="49" charset="0"/>
                <a:cs typeface="Consolas" panose="020B0609020204030204" pitchFamily="49" charset="0"/>
              </a:rPr>
              <a:t>int</a:t>
            </a:r>
            <a:r>
              <a:rPr lang="en-US" sz="2200" b="1" dirty="0">
                <a:latin typeface="Consolas" panose="020B0609020204030204" pitchFamily="49" charset="0"/>
                <a:cs typeface="Consolas" panose="020B0609020204030204" pitchFamily="49" charset="0"/>
              </a:rPr>
              <a:t>[] a = </a:t>
            </a:r>
            <a:r>
              <a:rPr lang="en-US" sz="2200" b="1" dirty="0">
                <a:solidFill>
                  <a:srgbClr val="FF0000"/>
                </a:solidFill>
                <a:latin typeface="Consolas" panose="020B0609020204030204" pitchFamily="49" charset="0"/>
                <a:cs typeface="Consolas" panose="020B0609020204030204" pitchFamily="49" charset="0"/>
              </a:rPr>
              <a:t>new int</a:t>
            </a:r>
            <a:r>
              <a:rPr lang="en-US" sz="2200" b="1" dirty="0">
                <a:latin typeface="Consolas" panose="020B0609020204030204" pitchFamily="49" charset="0"/>
                <a:cs typeface="Consolas" panose="020B0609020204030204" pitchFamily="49" charset="0"/>
              </a:rPr>
              <a:t>[</a:t>
            </a:r>
            <a:r>
              <a:rPr lang="en-US" sz="2200" b="1" dirty="0">
                <a:solidFill>
                  <a:schemeClr val="accent3">
                    <a:lumMod val="75000"/>
                  </a:schemeClr>
                </a:solidFill>
                <a:latin typeface="Consolas" panose="020B0609020204030204" pitchFamily="49" charset="0"/>
                <a:cs typeface="Consolas" panose="020B0609020204030204" pitchFamily="49" charset="0"/>
              </a:rPr>
              <a:t>5</a:t>
            </a:r>
            <a:r>
              <a:rPr lang="en-US" sz="2200" b="1" dirty="0">
                <a:latin typeface="Consolas" panose="020B0609020204030204" pitchFamily="49" charset="0"/>
                <a:cs typeface="Consolas" panose="020B0609020204030204" pitchFamily="49" charset="0"/>
              </a:rPr>
              <a:t>];</a:t>
            </a:r>
          </a:p>
          <a:p>
            <a:r>
              <a:rPr lang="en-US" sz="2200" b="1" dirty="0">
                <a:latin typeface="Consolas" panose="020B0609020204030204" pitchFamily="49" charset="0"/>
                <a:cs typeface="Consolas" panose="020B0609020204030204" pitchFamily="49" charset="0"/>
              </a:rPr>
              <a:t>a[</a:t>
            </a:r>
            <a:r>
              <a:rPr lang="en-US" sz="2200" b="1" dirty="0">
                <a:solidFill>
                  <a:schemeClr val="accent3">
                    <a:lumMod val="75000"/>
                  </a:schemeClr>
                </a:solidFill>
                <a:latin typeface="Consolas" panose="020B0609020204030204" pitchFamily="49" charset="0"/>
                <a:cs typeface="Consolas" panose="020B0609020204030204" pitchFamily="49" charset="0"/>
              </a:rPr>
              <a:t>10</a:t>
            </a:r>
            <a:r>
              <a:rPr lang="en-US" sz="2200" b="1" dirty="0">
                <a:latin typeface="Consolas" panose="020B0609020204030204" pitchFamily="49" charset="0"/>
                <a:cs typeface="Consolas" panose="020B0609020204030204" pitchFamily="49" charset="0"/>
              </a:rPr>
              <a:t>] = </a:t>
            </a:r>
            <a:r>
              <a:rPr lang="en-US" sz="2200" b="1" dirty="0">
                <a:solidFill>
                  <a:schemeClr val="accent3">
                    <a:lumMod val="75000"/>
                  </a:schemeClr>
                </a:solidFill>
                <a:latin typeface="Consolas" panose="020B0609020204030204" pitchFamily="49" charset="0"/>
                <a:cs typeface="Consolas" panose="020B0609020204030204" pitchFamily="49" charset="0"/>
              </a:rPr>
              <a:t>0</a:t>
            </a:r>
            <a:r>
              <a:rPr lang="en-US" sz="2200" b="1" dirty="0">
                <a:latin typeface="Consolas" panose="020B0609020204030204" pitchFamily="49" charset="0"/>
                <a:cs typeface="Consolas" panose="020B0609020204030204" pitchFamily="49" charset="0"/>
              </a:rPr>
              <a:t>; </a:t>
            </a:r>
            <a:r>
              <a:rPr lang="en-US" sz="2200" i="1" dirty="0">
                <a:solidFill>
                  <a:schemeClr val="accent3">
                    <a:lumMod val="50000"/>
                  </a:schemeClr>
                </a:solidFill>
                <a:latin typeface="Consolas" panose="020B0609020204030204" pitchFamily="49" charset="0"/>
                <a:cs typeface="Consolas" panose="020B0609020204030204" pitchFamily="49" charset="0"/>
              </a:rPr>
              <a:t>// oops</a:t>
            </a:r>
          </a:p>
        </p:txBody>
      </p:sp>
      <p:sp>
        <p:nvSpPr>
          <p:cNvPr id="6" name="TextBox 5">
            <a:extLst>
              <a:ext uri="{FF2B5EF4-FFF2-40B4-BE49-F238E27FC236}">
                <a16:creationId xmlns:a16="http://schemas.microsoft.com/office/drawing/2014/main" id="{B528057A-739B-B84B-A894-ACBD7E07D9F1}"/>
              </a:ext>
            </a:extLst>
          </p:cNvPr>
          <p:cNvSpPr txBox="1"/>
          <p:nvPr/>
        </p:nvSpPr>
        <p:spPr>
          <a:xfrm>
            <a:off x="4018721" y="1321714"/>
            <a:ext cx="4419601" cy="769441"/>
          </a:xfrm>
          <a:prstGeom prst="rect">
            <a:avLst/>
          </a:prstGeom>
          <a:noFill/>
        </p:spPr>
        <p:txBody>
          <a:bodyPr wrap="square" rtlCol="0">
            <a:spAutoFit/>
          </a:bodyPr>
          <a:lstStyle/>
          <a:p>
            <a:pPr algn="ctr"/>
            <a:r>
              <a:rPr lang="en-US" sz="2200" dirty="0"/>
              <a:t>a Java compiler </a:t>
            </a:r>
            <a:r>
              <a:rPr lang="en-US" sz="2200" i="1" dirty="0"/>
              <a:t>might </a:t>
            </a:r>
            <a:r>
              <a:rPr lang="en-US" sz="2200" dirty="0"/>
              <a:t>be able to catch </a:t>
            </a:r>
            <a:r>
              <a:rPr lang="en-US" sz="2200" i="1" dirty="0"/>
              <a:t>this </a:t>
            </a:r>
            <a:r>
              <a:rPr lang="en-US" sz="2200" dirty="0"/>
              <a:t>contrived case.</a:t>
            </a:r>
          </a:p>
        </p:txBody>
      </p:sp>
      <p:sp>
        <p:nvSpPr>
          <p:cNvPr id="7" name="TextBox 6">
            <a:extLst>
              <a:ext uri="{FF2B5EF4-FFF2-40B4-BE49-F238E27FC236}">
                <a16:creationId xmlns:a16="http://schemas.microsoft.com/office/drawing/2014/main" id="{56D43AEE-048C-334A-B76D-A555875B54F4}"/>
              </a:ext>
            </a:extLst>
          </p:cNvPr>
          <p:cNvSpPr txBox="1"/>
          <p:nvPr/>
        </p:nvSpPr>
        <p:spPr>
          <a:xfrm>
            <a:off x="190500" y="2198013"/>
            <a:ext cx="8763000" cy="430887"/>
          </a:xfrm>
          <a:prstGeom prst="rect">
            <a:avLst/>
          </a:prstGeom>
          <a:noFill/>
        </p:spPr>
        <p:txBody>
          <a:bodyPr wrap="square" rtlCol="0">
            <a:spAutoFit/>
          </a:bodyPr>
          <a:lstStyle/>
          <a:p>
            <a:pPr algn="ctr"/>
            <a:r>
              <a:rPr lang="en-US" sz="2200" dirty="0"/>
              <a:t>but in the general case, this error </a:t>
            </a:r>
            <a:r>
              <a:rPr lang="en-US" sz="2200" b="1" dirty="0"/>
              <a:t>can't be detected until runtime.</a:t>
            </a:r>
          </a:p>
        </p:txBody>
      </p:sp>
      <p:sp>
        <p:nvSpPr>
          <p:cNvPr id="8" name="TextBox 7">
            <a:extLst>
              <a:ext uri="{FF2B5EF4-FFF2-40B4-BE49-F238E27FC236}">
                <a16:creationId xmlns:a16="http://schemas.microsoft.com/office/drawing/2014/main" id="{71F7AD7A-9855-F141-910E-B628BE456373}"/>
              </a:ext>
            </a:extLst>
          </p:cNvPr>
          <p:cNvSpPr txBox="1"/>
          <p:nvPr/>
        </p:nvSpPr>
        <p:spPr>
          <a:xfrm>
            <a:off x="209550" y="2705100"/>
            <a:ext cx="5372100" cy="769441"/>
          </a:xfrm>
          <a:prstGeom prst="rect">
            <a:avLst/>
          </a:prstGeom>
          <a:noFill/>
        </p:spPr>
        <p:txBody>
          <a:bodyPr wrap="square" rtlCol="0">
            <a:spAutoFit/>
          </a:bodyPr>
          <a:lstStyle/>
          <a:p>
            <a:pPr algn="ctr"/>
            <a:r>
              <a:rPr lang="en-US" sz="2200" b="1" dirty="0"/>
              <a:t>static</a:t>
            </a:r>
            <a:r>
              <a:rPr lang="en-US" sz="2200" b="1" i="1" dirty="0"/>
              <a:t> </a:t>
            </a:r>
            <a:r>
              <a:rPr lang="en-US" sz="2200" b="1" dirty="0"/>
              <a:t>checks</a:t>
            </a:r>
            <a:r>
              <a:rPr lang="en-US" sz="2200" dirty="0"/>
              <a:t> done by the compiler try to catch as many mistakes as possible…</a:t>
            </a:r>
            <a:endParaRPr lang="en-US" sz="2200" b="1" i="1" dirty="0"/>
          </a:p>
        </p:txBody>
      </p:sp>
      <p:sp>
        <p:nvSpPr>
          <p:cNvPr id="10" name="TextBox 9">
            <a:extLst>
              <a:ext uri="{FF2B5EF4-FFF2-40B4-BE49-F238E27FC236}">
                <a16:creationId xmlns:a16="http://schemas.microsoft.com/office/drawing/2014/main" id="{A72C8D4D-6D7A-BB49-9441-0636DE10FF4C}"/>
              </a:ext>
            </a:extLst>
          </p:cNvPr>
          <p:cNvSpPr txBox="1"/>
          <p:nvPr/>
        </p:nvSpPr>
        <p:spPr>
          <a:xfrm>
            <a:off x="1314450" y="3568774"/>
            <a:ext cx="5943600" cy="769441"/>
          </a:xfrm>
          <a:prstGeom prst="rect">
            <a:avLst/>
          </a:prstGeom>
          <a:noFill/>
        </p:spPr>
        <p:txBody>
          <a:bodyPr wrap="square" rtlCol="0">
            <a:spAutoFit/>
          </a:bodyPr>
          <a:lstStyle/>
          <a:p>
            <a:pPr algn="ctr"/>
            <a:r>
              <a:rPr lang="en-US" sz="2200" dirty="0"/>
              <a:t>…but they can't catch every mistake. doing so would require </a:t>
            </a:r>
            <a:r>
              <a:rPr lang="en-US" sz="2200" b="1" dirty="0"/>
              <a:t>solving the halting problem.</a:t>
            </a:r>
          </a:p>
        </p:txBody>
      </p:sp>
      <p:sp>
        <p:nvSpPr>
          <p:cNvPr id="11" name="TextBox 10">
            <a:extLst>
              <a:ext uri="{FF2B5EF4-FFF2-40B4-BE49-F238E27FC236}">
                <a16:creationId xmlns:a16="http://schemas.microsoft.com/office/drawing/2014/main" id="{C2E0651C-1BE7-EE40-B966-B319C0999F8A}"/>
              </a:ext>
            </a:extLst>
          </p:cNvPr>
          <p:cNvSpPr txBox="1"/>
          <p:nvPr/>
        </p:nvSpPr>
        <p:spPr>
          <a:xfrm>
            <a:off x="2201241" y="4529555"/>
            <a:ext cx="6858000" cy="769441"/>
          </a:xfrm>
          <a:prstGeom prst="rect">
            <a:avLst/>
          </a:prstGeom>
          <a:noFill/>
        </p:spPr>
        <p:txBody>
          <a:bodyPr wrap="square" rtlCol="0">
            <a:spAutoFit/>
          </a:bodyPr>
          <a:lstStyle/>
          <a:p>
            <a:pPr algn="ctr"/>
            <a:r>
              <a:rPr lang="en-US" sz="2200" dirty="0"/>
              <a:t>still, doing what static checks we can is better than leaving </a:t>
            </a:r>
            <a:r>
              <a:rPr lang="en-US" sz="2200" i="1" dirty="0"/>
              <a:t>all</a:t>
            </a:r>
            <a:r>
              <a:rPr lang="en-US" sz="2200" dirty="0"/>
              <a:t> the semantic analysis until runtime!</a:t>
            </a:r>
            <a:endParaRPr lang="en-US" sz="2200" b="1" dirty="0"/>
          </a:p>
        </p:txBody>
      </p:sp>
    </p:spTree>
    <p:extLst>
      <p:ext uri="{BB962C8B-B14F-4D97-AF65-F5344CB8AC3E}">
        <p14:creationId xmlns:p14="http://schemas.microsoft.com/office/powerpoint/2010/main" val="395983585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10" grpId="0"/>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4AA4A-0F1D-D94C-A61E-AD2C933CFE3D}"/>
              </a:ext>
            </a:extLst>
          </p:cNvPr>
          <p:cNvSpPr>
            <a:spLocks noGrp="1"/>
          </p:cNvSpPr>
          <p:nvPr>
            <p:ph type="title"/>
          </p:nvPr>
        </p:nvSpPr>
        <p:spPr/>
        <p:txBody>
          <a:bodyPr/>
          <a:lstStyle/>
          <a:p>
            <a:r>
              <a:rPr lang="en-US" dirty="0"/>
              <a:t>Semantic analysis can get tricky</a:t>
            </a:r>
          </a:p>
        </p:txBody>
      </p:sp>
      <p:sp>
        <p:nvSpPr>
          <p:cNvPr id="3" name="Content Placeholder 2">
            <a:extLst>
              <a:ext uri="{FF2B5EF4-FFF2-40B4-BE49-F238E27FC236}">
                <a16:creationId xmlns:a16="http://schemas.microsoft.com/office/drawing/2014/main" id="{99B8EDAE-7C84-F046-99E6-DD01B3E630DA}"/>
              </a:ext>
            </a:extLst>
          </p:cNvPr>
          <p:cNvSpPr>
            <a:spLocks noGrp="1"/>
          </p:cNvSpPr>
          <p:nvPr>
            <p:ph idx="1"/>
          </p:nvPr>
        </p:nvSpPr>
        <p:spPr/>
        <p:txBody>
          <a:bodyPr/>
          <a:lstStyle/>
          <a:p>
            <a:r>
              <a:rPr lang="en-US" dirty="0"/>
              <a:t>in most nontrivial languages, semantic analysis is not just "one step."</a:t>
            </a:r>
          </a:p>
          <a:p>
            <a:pPr lvl="1"/>
            <a:r>
              <a:rPr lang="en-US" dirty="0"/>
              <a:t>there may be </a:t>
            </a:r>
            <a:r>
              <a:rPr lang="en-US" b="1" dirty="0"/>
              <a:t>several phases </a:t>
            </a:r>
            <a:r>
              <a:rPr lang="en-US" dirty="0"/>
              <a:t>or </a:t>
            </a:r>
            <a:r>
              <a:rPr lang="en-US" b="1" dirty="0"/>
              <a:t>passes </a:t>
            </a:r>
            <a:r>
              <a:rPr lang="en-US" dirty="0"/>
              <a:t>of semantic analysis…</a:t>
            </a:r>
          </a:p>
          <a:p>
            <a:pPr lvl="1"/>
            <a:r>
              <a:rPr lang="en-US" dirty="0"/>
              <a:t>and sometimes, those passes can be run </a:t>
            </a:r>
            <a:r>
              <a:rPr lang="en-US" b="1" dirty="0"/>
              <a:t>multiple times, </a:t>
            </a:r>
            <a:r>
              <a:rPr lang="en-US" dirty="0"/>
              <a:t>or be </a:t>
            </a:r>
            <a:r>
              <a:rPr lang="en-US" b="1" dirty="0"/>
              <a:t>mutually recursive </a:t>
            </a:r>
            <a:r>
              <a:rPr lang="en-US" dirty="0"/>
              <a:t>with one another!</a:t>
            </a:r>
            <a:endParaRPr lang="en-US" b="1" dirty="0"/>
          </a:p>
          <a:p>
            <a:r>
              <a:rPr lang="en-US" dirty="0"/>
              <a:t>the toy language we're working with won't get </a:t>
            </a:r>
            <a:r>
              <a:rPr lang="en-US" i="1" dirty="0"/>
              <a:t>too</a:t>
            </a:r>
            <a:r>
              <a:rPr lang="en-US" dirty="0"/>
              <a:t> scary to analyze…</a:t>
            </a:r>
          </a:p>
          <a:p>
            <a:pPr lvl="1"/>
            <a:r>
              <a:rPr lang="en-US" dirty="0"/>
              <a:t>but it's good to keep in mind that even seemingly-simple features can cause the complexity of semantic analysis to explode.</a:t>
            </a:r>
          </a:p>
          <a:p>
            <a:r>
              <a:rPr lang="en-US" dirty="0"/>
              <a:t>one of the most powerful tools we have to define the rules and boundaries of a language is…</a:t>
            </a:r>
          </a:p>
        </p:txBody>
      </p:sp>
      <p:sp>
        <p:nvSpPr>
          <p:cNvPr id="4" name="Slide Number Placeholder 3">
            <a:extLst>
              <a:ext uri="{FF2B5EF4-FFF2-40B4-BE49-F238E27FC236}">
                <a16:creationId xmlns:a16="http://schemas.microsoft.com/office/drawing/2014/main" id="{694ECD9B-7687-9344-9427-37539C195B42}"/>
              </a:ext>
            </a:extLst>
          </p:cNvPr>
          <p:cNvSpPr>
            <a:spLocks noGrp="1"/>
          </p:cNvSpPr>
          <p:nvPr>
            <p:ph type="sldNum" sz="quarter" idx="12"/>
          </p:nvPr>
        </p:nvSpPr>
        <p:spPr/>
        <p:txBody>
          <a:bodyPr/>
          <a:lstStyle/>
          <a:p>
            <a:fld id="{3552B95B-556F-44BD-91A5-D80C1B9E2BB3}" type="slidenum">
              <a:rPr lang="en-US" smtClean="0"/>
              <a:pPr/>
              <a:t>8</a:t>
            </a:fld>
            <a:endParaRPr lang="en-US"/>
          </a:p>
        </p:txBody>
      </p:sp>
    </p:spTree>
    <p:extLst>
      <p:ext uri="{BB962C8B-B14F-4D97-AF65-F5344CB8AC3E}">
        <p14:creationId xmlns:p14="http://schemas.microsoft.com/office/powerpoint/2010/main" val="443000673"/>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47C5E-9501-6940-9E52-362BAAA65CD0}"/>
              </a:ext>
            </a:extLst>
          </p:cNvPr>
          <p:cNvSpPr>
            <a:spLocks noGrp="1"/>
          </p:cNvSpPr>
          <p:nvPr>
            <p:ph type="ctrTitle"/>
          </p:nvPr>
        </p:nvSpPr>
        <p:spPr/>
        <p:txBody>
          <a:bodyPr/>
          <a:lstStyle/>
          <a:p>
            <a:r>
              <a:rPr lang="en-US" dirty="0"/>
              <a:t>Types</a:t>
            </a:r>
          </a:p>
        </p:txBody>
      </p:sp>
      <p:sp>
        <p:nvSpPr>
          <p:cNvPr id="3" name="Slide Number Placeholder 2">
            <a:extLst>
              <a:ext uri="{FF2B5EF4-FFF2-40B4-BE49-F238E27FC236}">
                <a16:creationId xmlns:a16="http://schemas.microsoft.com/office/drawing/2014/main" id="{BFCCF476-9EA1-274E-B7CF-66F06796B93E}"/>
              </a:ext>
            </a:extLst>
          </p:cNvPr>
          <p:cNvSpPr>
            <a:spLocks noGrp="1"/>
          </p:cNvSpPr>
          <p:nvPr>
            <p:ph type="sldNum" sz="quarter" idx="12"/>
          </p:nvPr>
        </p:nvSpPr>
        <p:spPr/>
        <p:txBody>
          <a:bodyPr/>
          <a:lstStyle/>
          <a:p>
            <a:fld id="{3552B95B-556F-44BD-91A5-D80C1B9E2BB3}" type="slidenum">
              <a:rPr lang="en-US" smtClean="0"/>
              <a:pPr/>
              <a:t>9</a:t>
            </a:fld>
            <a:endParaRPr lang="en-US"/>
          </a:p>
        </p:txBody>
      </p:sp>
    </p:spTree>
    <p:extLst>
      <p:ext uri="{BB962C8B-B14F-4D97-AF65-F5344CB8AC3E}">
        <p14:creationId xmlns:p14="http://schemas.microsoft.com/office/powerpoint/2010/main" val="520464974"/>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656B6-EB61-3E43-A8C5-73D311E0E8D7}"/>
              </a:ext>
            </a:extLst>
          </p:cNvPr>
          <p:cNvSpPr>
            <a:spLocks noGrp="1"/>
          </p:cNvSpPr>
          <p:nvPr>
            <p:ph type="title"/>
          </p:nvPr>
        </p:nvSpPr>
        <p:spPr/>
        <p:txBody>
          <a:bodyPr/>
          <a:lstStyle/>
          <a:p>
            <a:r>
              <a:rPr lang="en-US" dirty="0"/>
              <a:t>Types and typing</a:t>
            </a:r>
          </a:p>
        </p:txBody>
      </p:sp>
      <p:sp>
        <p:nvSpPr>
          <p:cNvPr id="3" name="Content Placeholder 2">
            <a:extLst>
              <a:ext uri="{FF2B5EF4-FFF2-40B4-BE49-F238E27FC236}">
                <a16:creationId xmlns:a16="http://schemas.microsoft.com/office/drawing/2014/main" id="{1C3894E8-24D2-8A43-ABF0-1FD916EC62D4}"/>
              </a:ext>
            </a:extLst>
          </p:cNvPr>
          <p:cNvSpPr>
            <a:spLocks noGrp="1"/>
          </p:cNvSpPr>
          <p:nvPr>
            <p:ph idx="1"/>
          </p:nvPr>
        </p:nvSpPr>
        <p:spPr>
          <a:xfrm>
            <a:off x="152400" y="495302"/>
            <a:ext cx="8991600" cy="863052"/>
          </a:xfrm>
        </p:spPr>
        <p:txBody>
          <a:bodyPr/>
          <a:lstStyle/>
          <a:p>
            <a:r>
              <a:rPr lang="en-US" dirty="0"/>
              <a:t>HLLs give us several kinds of </a:t>
            </a:r>
            <a:r>
              <a:rPr lang="en-US" b="1" dirty="0"/>
              <a:t>values</a:t>
            </a:r>
            <a:r>
              <a:rPr lang="en-US" dirty="0"/>
              <a:t> to work with.</a:t>
            </a:r>
          </a:p>
          <a:p>
            <a:r>
              <a:rPr lang="en-US" dirty="0"/>
              <a:t>we classify these values according to their </a:t>
            </a:r>
            <a:r>
              <a:rPr lang="en-US" b="1" dirty="0"/>
              <a:t>type.</a:t>
            </a:r>
          </a:p>
        </p:txBody>
      </p:sp>
      <p:sp>
        <p:nvSpPr>
          <p:cNvPr id="4" name="Slide Number Placeholder 3">
            <a:extLst>
              <a:ext uri="{FF2B5EF4-FFF2-40B4-BE49-F238E27FC236}">
                <a16:creationId xmlns:a16="http://schemas.microsoft.com/office/drawing/2014/main" id="{D5F33050-63A8-4148-84BA-F4674D8321A8}"/>
              </a:ext>
            </a:extLst>
          </p:cNvPr>
          <p:cNvSpPr>
            <a:spLocks noGrp="1"/>
          </p:cNvSpPr>
          <p:nvPr>
            <p:ph type="sldNum" sz="quarter" idx="12"/>
          </p:nvPr>
        </p:nvSpPr>
        <p:spPr/>
        <p:txBody>
          <a:bodyPr/>
          <a:lstStyle/>
          <a:p>
            <a:fld id="{3552B95B-556F-44BD-91A5-D80C1B9E2BB3}" type="slidenum">
              <a:rPr lang="en-US" smtClean="0"/>
              <a:pPr/>
              <a:t>10</a:t>
            </a:fld>
            <a:endParaRPr lang="en-US"/>
          </a:p>
        </p:txBody>
      </p:sp>
      <p:sp>
        <p:nvSpPr>
          <p:cNvPr id="5" name="TextBox 4">
            <a:extLst>
              <a:ext uri="{FF2B5EF4-FFF2-40B4-BE49-F238E27FC236}">
                <a16:creationId xmlns:a16="http://schemas.microsoft.com/office/drawing/2014/main" id="{0E27151F-94E9-A245-8296-16F3D456DBEC}"/>
              </a:ext>
            </a:extLst>
          </p:cNvPr>
          <p:cNvSpPr txBox="1"/>
          <p:nvPr/>
        </p:nvSpPr>
        <p:spPr>
          <a:xfrm>
            <a:off x="228599" y="1409700"/>
            <a:ext cx="4419601" cy="430887"/>
          </a:xfrm>
          <a:prstGeom prst="rect">
            <a:avLst/>
          </a:prstGeom>
          <a:noFill/>
        </p:spPr>
        <p:txBody>
          <a:bodyPr wrap="square" rtlCol="0">
            <a:spAutoFit/>
          </a:bodyPr>
          <a:lstStyle/>
          <a:p>
            <a:pPr algn="ctr"/>
            <a:r>
              <a:rPr lang="en-US" sz="2200" dirty="0"/>
              <a:t>a </a:t>
            </a:r>
            <a:r>
              <a:rPr lang="en-US" sz="2200" b="1" dirty="0"/>
              <a:t>type</a:t>
            </a:r>
            <a:r>
              <a:rPr lang="en-US" sz="2200" dirty="0"/>
              <a:t> is a set of valid </a:t>
            </a:r>
            <a:r>
              <a:rPr lang="en-US" sz="2200" b="1" dirty="0"/>
              <a:t>values…</a:t>
            </a:r>
          </a:p>
        </p:txBody>
      </p:sp>
      <p:sp>
        <p:nvSpPr>
          <p:cNvPr id="6" name="TextBox 5">
            <a:extLst>
              <a:ext uri="{FF2B5EF4-FFF2-40B4-BE49-F238E27FC236}">
                <a16:creationId xmlns:a16="http://schemas.microsoft.com/office/drawing/2014/main" id="{0E707D73-68F6-9449-B998-50F87F34A985}"/>
              </a:ext>
            </a:extLst>
          </p:cNvPr>
          <p:cNvSpPr txBox="1"/>
          <p:nvPr/>
        </p:nvSpPr>
        <p:spPr>
          <a:xfrm>
            <a:off x="304800" y="2675065"/>
            <a:ext cx="8229600" cy="430887"/>
          </a:xfrm>
          <a:prstGeom prst="rect">
            <a:avLst/>
          </a:prstGeom>
          <a:noFill/>
        </p:spPr>
        <p:txBody>
          <a:bodyPr wrap="square" rtlCol="0">
            <a:spAutoFit/>
          </a:bodyPr>
          <a:lstStyle/>
          <a:p>
            <a:pPr algn="ctr"/>
            <a:r>
              <a:rPr lang="en-US" sz="2200" dirty="0"/>
              <a:t>…along with a set of </a:t>
            </a:r>
            <a:r>
              <a:rPr lang="en-US" sz="2200" b="1" dirty="0"/>
              <a:t>operations</a:t>
            </a:r>
            <a:r>
              <a:rPr lang="en-US" sz="2200" dirty="0"/>
              <a:t> that can be performed on them.</a:t>
            </a:r>
            <a:endParaRPr lang="en-US" sz="2200" b="1" dirty="0"/>
          </a:p>
        </p:txBody>
      </p:sp>
      <p:sp>
        <p:nvSpPr>
          <p:cNvPr id="7" name="TextBox 6">
            <a:extLst>
              <a:ext uri="{FF2B5EF4-FFF2-40B4-BE49-F238E27FC236}">
                <a16:creationId xmlns:a16="http://schemas.microsoft.com/office/drawing/2014/main" id="{3452FF47-CDFD-2040-BB53-7D5FB13E10ED}"/>
              </a:ext>
            </a:extLst>
          </p:cNvPr>
          <p:cNvSpPr txBox="1"/>
          <p:nvPr/>
        </p:nvSpPr>
        <p:spPr>
          <a:xfrm>
            <a:off x="1219200" y="1936581"/>
            <a:ext cx="4916731" cy="523220"/>
          </a:xfrm>
          <a:prstGeom prst="rect">
            <a:avLst/>
          </a:prstGeom>
          <a:noFill/>
        </p:spPr>
        <p:txBody>
          <a:bodyPr wrap="none" rtlCol="0">
            <a:spAutoFit/>
          </a:bodyPr>
          <a:lstStyle/>
          <a:p>
            <a:r>
              <a:rPr lang="en-US" sz="2800" b="1" dirty="0">
                <a:latin typeface="Consolas" panose="020B0609020204030204" pitchFamily="49" charset="0"/>
                <a:cs typeface="Consolas" panose="020B0609020204030204" pitchFamily="49" charset="0"/>
              </a:rPr>
              <a:t>{ </a:t>
            </a:r>
            <a:r>
              <a:rPr lang="en-US" sz="2800" b="1" dirty="0">
                <a:solidFill>
                  <a:schemeClr val="accent3">
                    <a:lumMod val="75000"/>
                  </a:schemeClr>
                </a:solidFill>
                <a:latin typeface="Consolas" panose="020B0609020204030204" pitchFamily="49" charset="0"/>
                <a:cs typeface="Consolas" panose="020B0609020204030204" pitchFamily="49" charset="0"/>
              </a:rPr>
              <a:t>0</a:t>
            </a:r>
            <a:r>
              <a:rPr lang="en-US" sz="2800" b="1" dirty="0">
                <a:latin typeface="Consolas" panose="020B0609020204030204" pitchFamily="49" charset="0"/>
                <a:cs typeface="Consolas" panose="020B0609020204030204" pitchFamily="49" charset="0"/>
              </a:rPr>
              <a:t>, </a:t>
            </a:r>
            <a:r>
              <a:rPr lang="en-US" sz="2800" b="1" dirty="0">
                <a:solidFill>
                  <a:schemeClr val="accent3">
                    <a:lumMod val="75000"/>
                  </a:schemeClr>
                </a:solidFill>
                <a:latin typeface="Consolas" panose="020B0609020204030204" pitchFamily="49" charset="0"/>
                <a:cs typeface="Consolas" panose="020B0609020204030204" pitchFamily="49" charset="0"/>
              </a:rPr>
              <a:t>1</a:t>
            </a:r>
            <a:r>
              <a:rPr lang="en-US" sz="2800" b="1" dirty="0">
                <a:latin typeface="Consolas" panose="020B0609020204030204" pitchFamily="49" charset="0"/>
                <a:cs typeface="Consolas" panose="020B0609020204030204" pitchFamily="49" charset="0"/>
              </a:rPr>
              <a:t>, -</a:t>
            </a:r>
            <a:r>
              <a:rPr lang="en-US" sz="2800" b="1" dirty="0">
                <a:solidFill>
                  <a:schemeClr val="accent3">
                    <a:lumMod val="75000"/>
                  </a:schemeClr>
                </a:solidFill>
                <a:latin typeface="Consolas" panose="020B0609020204030204" pitchFamily="49" charset="0"/>
                <a:cs typeface="Consolas" panose="020B0609020204030204" pitchFamily="49" charset="0"/>
              </a:rPr>
              <a:t>1</a:t>
            </a:r>
            <a:r>
              <a:rPr lang="en-US" sz="2800" b="1" dirty="0">
                <a:latin typeface="Consolas" panose="020B0609020204030204" pitchFamily="49" charset="0"/>
                <a:cs typeface="Consolas" panose="020B0609020204030204" pitchFamily="49" charset="0"/>
              </a:rPr>
              <a:t>, </a:t>
            </a:r>
            <a:r>
              <a:rPr lang="en-US" sz="2800" b="1" dirty="0">
                <a:solidFill>
                  <a:schemeClr val="accent3">
                    <a:lumMod val="75000"/>
                  </a:schemeClr>
                </a:solidFill>
                <a:latin typeface="Consolas" panose="020B0609020204030204" pitchFamily="49" charset="0"/>
                <a:cs typeface="Consolas" panose="020B0609020204030204" pitchFamily="49" charset="0"/>
              </a:rPr>
              <a:t>2</a:t>
            </a:r>
            <a:r>
              <a:rPr lang="en-US" sz="2800" b="1" dirty="0">
                <a:latin typeface="Consolas" panose="020B0609020204030204" pitchFamily="49" charset="0"/>
                <a:cs typeface="Consolas" panose="020B0609020204030204" pitchFamily="49" charset="0"/>
              </a:rPr>
              <a:t>, -</a:t>
            </a:r>
            <a:r>
              <a:rPr lang="en-US" sz="2800" b="1" dirty="0">
                <a:solidFill>
                  <a:schemeClr val="accent3">
                    <a:lumMod val="75000"/>
                  </a:schemeClr>
                </a:solidFill>
                <a:latin typeface="Consolas" panose="020B0609020204030204" pitchFamily="49" charset="0"/>
                <a:cs typeface="Consolas" panose="020B0609020204030204" pitchFamily="49" charset="0"/>
              </a:rPr>
              <a:t>2</a:t>
            </a:r>
            <a:r>
              <a:rPr lang="en-US" sz="2800" b="1" dirty="0">
                <a:latin typeface="Consolas" panose="020B0609020204030204" pitchFamily="49" charset="0"/>
                <a:cs typeface="Consolas" panose="020B0609020204030204" pitchFamily="49" charset="0"/>
              </a:rPr>
              <a:t>, ... }</a:t>
            </a:r>
          </a:p>
        </p:txBody>
      </p:sp>
      <p:sp>
        <p:nvSpPr>
          <p:cNvPr id="8" name="TextBox 7">
            <a:extLst>
              <a:ext uri="{FF2B5EF4-FFF2-40B4-BE49-F238E27FC236}">
                <a16:creationId xmlns:a16="http://schemas.microsoft.com/office/drawing/2014/main" id="{3E2A37FB-5EF3-124D-B1BC-DDBCB3562945}"/>
              </a:ext>
            </a:extLst>
          </p:cNvPr>
          <p:cNvSpPr txBox="1"/>
          <p:nvPr/>
        </p:nvSpPr>
        <p:spPr>
          <a:xfrm>
            <a:off x="1795496" y="3257709"/>
            <a:ext cx="5705408" cy="523220"/>
          </a:xfrm>
          <a:prstGeom prst="rect">
            <a:avLst/>
          </a:prstGeom>
          <a:noFill/>
        </p:spPr>
        <p:txBody>
          <a:bodyPr wrap="none" rtlCol="0">
            <a:spAutoFit/>
          </a:bodyPr>
          <a:lstStyle/>
          <a:p>
            <a:r>
              <a:rPr lang="en-US" sz="2800" b="1" dirty="0">
                <a:latin typeface="Consolas" panose="020B0609020204030204" pitchFamily="49" charset="0"/>
                <a:cs typeface="Consolas" panose="020B0609020204030204" pitchFamily="49" charset="0"/>
              </a:rPr>
              <a:t>{ </a:t>
            </a:r>
            <a:r>
              <a:rPr lang="en-US" sz="2800" b="1" dirty="0">
                <a:solidFill>
                  <a:srgbClr val="FF0000"/>
                </a:solidFill>
                <a:latin typeface="Consolas" panose="020B0609020204030204" pitchFamily="49" charset="0"/>
                <a:cs typeface="Consolas" panose="020B0609020204030204" pitchFamily="49" charset="0"/>
              </a:rPr>
              <a:t>+</a:t>
            </a:r>
            <a:r>
              <a:rPr lang="en-US" sz="2800" b="1" dirty="0">
                <a:latin typeface="Consolas" panose="020B0609020204030204" pitchFamily="49" charset="0"/>
                <a:cs typeface="Consolas" panose="020B0609020204030204" pitchFamily="49" charset="0"/>
              </a:rPr>
              <a:t>, </a:t>
            </a:r>
            <a:r>
              <a:rPr lang="en-US" sz="2800" b="1" dirty="0">
                <a:solidFill>
                  <a:srgbClr val="FF0000"/>
                </a:solidFill>
                <a:latin typeface="Consolas" panose="020B0609020204030204" pitchFamily="49" charset="0"/>
                <a:cs typeface="Consolas" panose="020B0609020204030204" pitchFamily="49" charset="0"/>
              </a:rPr>
              <a:t>-</a:t>
            </a:r>
            <a:r>
              <a:rPr lang="en-US" sz="2800" b="1" dirty="0">
                <a:latin typeface="Consolas" panose="020B0609020204030204" pitchFamily="49" charset="0"/>
                <a:cs typeface="Consolas" panose="020B0609020204030204" pitchFamily="49" charset="0"/>
              </a:rPr>
              <a:t>, </a:t>
            </a:r>
            <a:r>
              <a:rPr lang="en-US" sz="2800" b="1" dirty="0">
                <a:solidFill>
                  <a:srgbClr val="FF0000"/>
                </a:solidFill>
                <a:latin typeface="Consolas" panose="020B0609020204030204" pitchFamily="49" charset="0"/>
                <a:cs typeface="Consolas" panose="020B0609020204030204" pitchFamily="49" charset="0"/>
              </a:rPr>
              <a:t>*</a:t>
            </a:r>
            <a:r>
              <a:rPr lang="en-US" sz="2800" b="1" dirty="0">
                <a:latin typeface="Consolas" panose="020B0609020204030204" pitchFamily="49" charset="0"/>
                <a:cs typeface="Consolas" panose="020B0609020204030204" pitchFamily="49" charset="0"/>
              </a:rPr>
              <a:t>, </a:t>
            </a:r>
            <a:r>
              <a:rPr lang="en-US" sz="2800" b="1" dirty="0">
                <a:solidFill>
                  <a:srgbClr val="FF0000"/>
                </a:solidFill>
                <a:latin typeface="Consolas" panose="020B0609020204030204" pitchFamily="49" charset="0"/>
                <a:cs typeface="Consolas" panose="020B0609020204030204" pitchFamily="49" charset="0"/>
              </a:rPr>
              <a:t>/</a:t>
            </a:r>
            <a:r>
              <a:rPr lang="en-US" sz="2800" b="1" dirty="0">
                <a:latin typeface="Consolas" panose="020B0609020204030204" pitchFamily="49" charset="0"/>
                <a:cs typeface="Consolas" panose="020B0609020204030204" pitchFamily="49" charset="0"/>
              </a:rPr>
              <a:t>, </a:t>
            </a:r>
            <a:r>
              <a:rPr lang="en-US" sz="2800" b="1" dirty="0">
                <a:solidFill>
                  <a:srgbClr val="FF0000"/>
                </a:solidFill>
                <a:latin typeface="Consolas" panose="020B0609020204030204" pitchFamily="49" charset="0"/>
                <a:cs typeface="Consolas" panose="020B0609020204030204" pitchFamily="49" charset="0"/>
              </a:rPr>
              <a:t>%</a:t>
            </a:r>
            <a:r>
              <a:rPr lang="en-US" sz="2800" b="1" dirty="0">
                <a:latin typeface="Consolas" panose="020B0609020204030204" pitchFamily="49" charset="0"/>
                <a:cs typeface="Consolas" panose="020B0609020204030204" pitchFamily="49" charset="0"/>
              </a:rPr>
              <a:t>, </a:t>
            </a:r>
            <a:r>
              <a:rPr lang="en-US" sz="2800" b="1" dirty="0">
                <a:solidFill>
                  <a:srgbClr val="FF0000"/>
                </a:solidFill>
                <a:latin typeface="Consolas" panose="020B0609020204030204" pitchFamily="49" charset="0"/>
                <a:cs typeface="Consolas" panose="020B0609020204030204" pitchFamily="49" charset="0"/>
              </a:rPr>
              <a:t>parse</a:t>
            </a:r>
            <a:r>
              <a:rPr lang="en-US" sz="2800" b="1" dirty="0">
                <a:latin typeface="Consolas" panose="020B0609020204030204" pitchFamily="49" charset="0"/>
                <a:cs typeface="Consolas" panose="020B0609020204030204" pitchFamily="49" charset="0"/>
              </a:rPr>
              <a:t>, ...}</a:t>
            </a:r>
          </a:p>
        </p:txBody>
      </p:sp>
      <p:sp>
        <p:nvSpPr>
          <p:cNvPr id="9" name="TextBox 8">
            <a:extLst>
              <a:ext uri="{FF2B5EF4-FFF2-40B4-BE49-F238E27FC236}">
                <a16:creationId xmlns:a16="http://schemas.microsoft.com/office/drawing/2014/main" id="{ACDB8790-C841-3746-B2EC-376EEE9F7E5A}"/>
              </a:ext>
            </a:extLst>
          </p:cNvPr>
          <p:cNvSpPr txBox="1"/>
          <p:nvPr/>
        </p:nvSpPr>
        <p:spPr>
          <a:xfrm>
            <a:off x="2590800" y="3969005"/>
            <a:ext cx="5286375" cy="769441"/>
          </a:xfrm>
          <a:prstGeom prst="rect">
            <a:avLst/>
          </a:prstGeom>
          <a:noFill/>
        </p:spPr>
        <p:txBody>
          <a:bodyPr wrap="square" rtlCol="0">
            <a:spAutoFit/>
          </a:bodyPr>
          <a:lstStyle/>
          <a:p>
            <a:pPr algn="ctr"/>
            <a:r>
              <a:rPr lang="en-US" sz="2200" dirty="0"/>
              <a:t>types set the </a:t>
            </a:r>
            <a:r>
              <a:rPr lang="en-US" sz="2200" b="1" dirty="0"/>
              <a:t>boundaries</a:t>
            </a:r>
            <a:r>
              <a:rPr lang="en-US" sz="2200" dirty="0"/>
              <a:t> on what you can and can't do within the language.</a:t>
            </a:r>
            <a:endParaRPr lang="en-US" sz="2200" b="1" dirty="0"/>
          </a:p>
        </p:txBody>
      </p:sp>
    </p:spTree>
    <p:extLst>
      <p:ext uri="{BB962C8B-B14F-4D97-AF65-F5344CB8AC3E}">
        <p14:creationId xmlns:p14="http://schemas.microsoft.com/office/powerpoint/2010/main" val="66157468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DCF4-C202-C24E-A69F-E2855F5DDA59}"/>
              </a:ext>
            </a:extLst>
          </p:cNvPr>
          <p:cNvSpPr>
            <a:spLocks noGrp="1"/>
          </p:cNvSpPr>
          <p:nvPr>
            <p:ph type="title"/>
          </p:nvPr>
        </p:nvSpPr>
        <p:spPr/>
        <p:txBody>
          <a:bodyPr/>
          <a:lstStyle/>
          <a:p>
            <a:r>
              <a:rPr lang="en-US" dirty="0"/>
              <a:t>You have to listen to the notes they don't play</a:t>
            </a:r>
          </a:p>
        </p:txBody>
      </p:sp>
      <p:sp>
        <p:nvSpPr>
          <p:cNvPr id="3" name="Content Placeholder 2">
            <a:extLst>
              <a:ext uri="{FF2B5EF4-FFF2-40B4-BE49-F238E27FC236}">
                <a16:creationId xmlns:a16="http://schemas.microsoft.com/office/drawing/2014/main" id="{FA34DCF1-7808-D141-B04F-5596FF06D8D3}"/>
              </a:ext>
            </a:extLst>
          </p:cNvPr>
          <p:cNvSpPr>
            <a:spLocks noGrp="1"/>
          </p:cNvSpPr>
          <p:nvPr>
            <p:ph idx="1"/>
          </p:nvPr>
        </p:nvSpPr>
        <p:spPr/>
        <p:txBody>
          <a:bodyPr/>
          <a:lstStyle/>
          <a:p>
            <a:r>
              <a:rPr lang="en-US" dirty="0"/>
              <a:t>down at the CPU level, types don't really exist.</a:t>
            </a:r>
          </a:p>
          <a:p>
            <a:pPr lvl="1"/>
            <a:r>
              <a:rPr lang="en-US" dirty="0"/>
              <a:t>you can do almost anything with anything! the CPU doesn't care!</a:t>
            </a:r>
          </a:p>
          <a:p>
            <a:r>
              <a:rPr lang="en-US" dirty="0"/>
              <a:t>we say that assembly is </a:t>
            </a:r>
            <a:r>
              <a:rPr lang="en-US" b="1" dirty="0"/>
              <a:t>untyped. </a:t>
            </a:r>
          </a:p>
          <a:p>
            <a:endParaRPr lang="en-US" dirty="0"/>
          </a:p>
          <a:p>
            <a:pPr marL="515780" lvl="2" indent="0">
              <a:buNone/>
            </a:pPr>
            <a:r>
              <a:rPr lang="en-US" b="1" dirty="0">
                <a:solidFill>
                  <a:srgbClr val="FF0000"/>
                </a:solidFill>
                <a:latin typeface="Consolas" panose="020B0609020204030204" pitchFamily="49" charset="0"/>
                <a:cs typeface="Consolas" panose="020B0609020204030204" pitchFamily="49" charset="0"/>
              </a:rPr>
              <a:t>li</a:t>
            </a:r>
            <a:r>
              <a:rPr lang="en-US" b="1" dirty="0">
                <a:latin typeface="Consolas" panose="020B0609020204030204" pitchFamily="49" charset="0"/>
                <a:cs typeface="Consolas" panose="020B0609020204030204" pitchFamily="49" charset="0"/>
              </a:rPr>
              <a:t>  t0, </a:t>
            </a:r>
            <a:r>
              <a:rPr lang="en-US" b="1" dirty="0">
                <a:solidFill>
                  <a:schemeClr val="accent3">
                    <a:lumMod val="75000"/>
                  </a:schemeClr>
                </a:solidFill>
                <a:latin typeface="Consolas" panose="020B0609020204030204" pitchFamily="49" charset="0"/>
                <a:cs typeface="Consolas" panose="020B0609020204030204" pitchFamily="49" charset="0"/>
              </a:rPr>
              <a:t>10</a:t>
            </a:r>
            <a:r>
              <a:rPr lang="en-US" b="1" dirty="0">
                <a:latin typeface="Consolas" panose="020B0609020204030204" pitchFamily="49" charset="0"/>
                <a:cs typeface="Consolas" panose="020B0609020204030204" pitchFamily="49" charset="0"/>
              </a:rPr>
              <a:t>      </a:t>
            </a:r>
            <a:r>
              <a:rPr lang="en-US" i="1" dirty="0">
                <a:solidFill>
                  <a:schemeClr val="accent3">
                    <a:lumMod val="50000"/>
                  </a:schemeClr>
                </a:solidFill>
                <a:latin typeface="Consolas" panose="020B0609020204030204" pitchFamily="49" charset="0"/>
                <a:cs typeface="Consolas" panose="020B0609020204030204" pitchFamily="49" charset="0"/>
              </a:rPr>
              <a:t># oh, t0 is an int</a:t>
            </a:r>
          </a:p>
          <a:p>
            <a:pPr marL="515780" lvl="2" indent="0">
              <a:buNone/>
            </a:pPr>
            <a:r>
              <a:rPr lang="en-US" b="1" dirty="0" err="1">
                <a:solidFill>
                  <a:srgbClr val="FF0000"/>
                </a:solidFill>
                <a:latin typeface="Consolas" panose="020B0609020204030204" pitchFamily="49" charset="0"/>
                <a:cs typeface="Consolas" panose="020B0609020204030204" pitchFamily="49" charset="0"/>
              </a:rPr>
              <a:t>sw</a:t>
            </a:r>
            <a:r>
              <a:rPr lang="en-US" b="1" dirty="0">
                <a:latin typeface="Consolas" panose="020B0609020204030204" pitchFamily="49" charset="0"/>
                <a:cs typeface="Consolas" panose="020B0609020204030204" pitchFamily="49" charset="0"/>
              </a:rPr>
              <a:t>  zero, (t0)  </a:t>
            </a:r>
            <a:r>
              <a:rPr lang="en-US" i="1" dirty="0">
                <a:solidFill>
                  <a:schemeClr val="accent3">
                    <a:lumMod val="50000"/>
                  </a:schemeClr>
                </a:solidFill>
                <a:latin typeface="Consolas" panose="020B0609020204030204" pitchFamily="49" charset="0"/>
                <a:cs typeface="Consolas" panose="020B0609020204030204" pitchFamily="49" charset="0"/>
              </a:rPr>
              <a:t># wait we're using it as an address?</a:t>
            </a:r>
          </a:p>
          <a:p>
            <a:pPr marL="515780" lvl="2" indent="0">
              <a:buNone/>
            </a:pPr>
            <a:r>
              <a:rPr lang="en-US" b="1" dirty="0">
                <a:solidFill>
                  <a:srgbClr val="FF0000"/>
                </a:solidFill>
                <a:latin typeface="Consolas" panose="020B0609020204030204" pitchFamily="49" charset="0"/>
                <a:cs typeface="Consolas" panose="020B0609020204030204" pitchFamily="49" charset="0"/>
              </a:rPr>
              <a:t>li</a:t>
            </a:r>
            <a:r>
              <a:rPr lang="en-US" b="1" dirty="0">
                <a:latin typeface="Consolas" panose="020B0609020204030204" pitchFamily="49" charset="0"/>
                <a:cs typeface="Consolas" panose="020B0609020204030204" pitchFamily="49" charset="0"/>
              </a:rPr>
              <a:t>  t0, </a:t>
            </a:r>
            <a:r>
              <a:rPr lang="en-US" b="1" dirty="0">
                <a:solidFill>
                  <a:schemeClr val="accent6">
                    <a:lumMod val="75000"/>
                  </a:schemeClr>
                </a:solidFill>
                <a:latin typeface="Consolas" panose="020B0609020204030204" pitchFamily="49" charset="0"/>
                <a:cs typeface="Consolas" panose="020B0609020204030204" pitchFamily="49" charset="0"/>
              </a:rPr>
              <a:t>'a'</a:t>
            </a:r>
            <a:r>
              <a:rPr lang="en-US" b="1" dirty="0">
                <a:latin typeface="Consolas" panose="020B0609020204030204" pitchFamily="49" charset="0"/>
                <a:cs typeface="Consolas" panose="020B0609020204030204" pitchFamily="49" charset="0"/>
              </a:rPr>
              <a:t>     </a:t>
            </a:r>
            <a:r>
              <a:rPr lang="en-US" i="1" dirty="0">
                <a:solidFill>
                  <a:schemeClr val="accent3">
                    <a:lumMod val="50000"/>
                  </a:schemeClr>
                </a:solidFill>
                <a:latin typeface="Consolas" panose="020B0609020204030204" pitchFamily="49" charset="0"/>
                <a:cs typeface="Consolas" panose="020B0609020204030204" pitchFamily="49" charset="0"/>
              </a:rPr>
              <a:t># </a:t>
            </a:r>
            <a:r>
              <a:rPr lang="en-US" i="1" dirty="0" err="1">
                <a:solidFill>
                  <a:schemeClr val="accent3">
                    <a:lumMod val="50000"/>
                  </a:schemeClr>
                </a:solidFill>
                <a:latin typeface="Consolas" panose="020B0609020204030204" pitchFamily="49" charset="0"/>
                <a:cs typeface="Consolas" panose="020B0609020204030204" pitchFamily="49" charset="0"/>
              </a:rPr>
              <a:t>uhh</a:t>
            </a:r>
            <a:r>
              <a:rPr lang="en-US" i="1" dirty="0">
                <a:solidFill>
                  <a:schemeClr val="accent3">
                    <a:lumMod val="50000"/>
                  </a:schemeClr>
                </a:solidFill>
                <a:latin typeface="Consolas" panose="020B0609020204030204" pitchFamily="49" charset="0"/>
                <a:cs typeface="Consolas" panose="020B0609020204030204" pitchFamily="49" charset="0"/>
              </a:rPr>
              <a:t> now it's a character?</a:t>
            </a:r>
          </a:p>
          <a:p>
            <a:pPr marL="515780" lvl="2" indent="0">
              <a:buNone/>
            </a:pPr>
            <a:r>
              <a:rPr lang="en-US" b="1" dirty="0" err="1">
                <a:solidFill>
                  <a:srgbClr val="FF0000"/>
                </a:solidFill>
                <a:latin typeface="Consolas" panose="020B0609020204030204" pitchFamily="49" charset="0"/>
                <a:cs typeface="Consolas" panose="020B0609020204030204" pitchFamily="49" charset="0"/>
              </a:rPr>
              <a:t>jr</a:t>
            </a:r>
            <a:r>
              <a:rPr lang="en-US" b="1" dirty="0">
                <a:latin typeface="Consolas" panose="020B0609020204030204" pitchFamily="49" charset="0"/>
                <a:cs typeface="Consolas" panose="020B0609020204030204" pitchFamily="49" charset="0"/>
              </a:rPr>
              <a:t>  t0          </a:t>
            </a:r>
            <a:r>
              <a:rPr lang="en-US" i="1" dirty="0">
                <a:solidFill>
                  <a:schemeClr val="accent3">
                    <a:lumMod val="50000"/>
                  </a:schemeClr>
                </a:solidFill>
                <a:latin typeface="Consolas" panose="020B0609020204030204" pitchFamily="49" charset="0"/>
                <a:cs typeface="Consolas" panose="020B0609020204030204" pitchFamily="49" charset="0"/>
              </a:rPr>
              <a:t># and now we're jumping to it??</a:t>
            </a:r>
          </a:p>
          <a:p>
            <a:pPr marL="515780" lvl="2" indent="0">
              <a:buNone/>
            </a:pPr>
            <a:endParaRPr lang="en-US" i="1" dirty="0">
              <a:solidFill>
                <a:schemeClr val="accent3">
                  <a:lumMod val="50000"/>
                </a:schemeClr>
              </a:solidFill>
              <a:latin typeface="Consolas" panose="020B0609020204030204" pitchFamily="49" charset="0"/>
              <a:cs typeface="Consolas" panose="020B0609020204030204" pitchFamily="49" charset="0"/>
            </a:endParaRPr>
          </a:p>
          <a:p>
            <a:r>
              <a:rPr lang="en-US" dirty="0"/>
              <a:t>in an untyped language, </a:t>
            </a:r>
            <a:r>
              <a:rPr lang="en-US" b="1" dirty="0"/>
              <a:t>the programmer can do anything.</a:t>
            </a:r>
          </a:p>
          <a:p>
            <a:pPr lvl="1"/>
            <a:r>
              <a:rPr lang="en-US" dirty="0"/>
              <a:t>but is that really a good idea…?</a:t>
            </a:r>
          </a:p>
        </p:txBody>
      </p:sp>
      <p:sp>
        <p:nvSpPr>
          <p:cNvPr id="4" name="Slide Number Placeholder 3">
            <a:extLst>
              <a:ext uri="{FF2B5EF4-FFF2-40B4-BE49-F238E27FC236}">
                <a16:creationId xmlns:a16="http://schemas.microsoft.com/office/drawing/2014/main" id="{2D888580-518F-CE4A-B793-1D769AC9E0C1}"/>
              </a:ext>
            </a:extLst>
          </p:cNvPr>
          <p:cNvSpPr>
            <a:spLocks noGrp="1"/>
          </p:cNvSpPr>
          <p:nvPr>
            <p:ph type="sldNum" sz="quarter" idx="12"/>
          </p:nvPr>
        </p:nvSpPr>
        <p:spPr/>
        <p:txBody>
          <a:bodyPr/>
          <a:lstStyle/>
          <a:p>
            <a:fld id="{3552B95B-556F-44BD-91A5-D80C1B9E2BB3}" type="slidenum">
              <a:rPr lang="en-US" smtClean="0"/>
              <a:pPr/>
              <a:t>11</a:t>
            </a:fld>
            <a:endParaRPr lang="en-US"/>
          </a:p>
        </p:txBody>
      </p:sp>
    </p:spTree>
    <p:extLst>
      <p:ext uri="{BB962C8B-B14F-4D97-AF65-F5344CB8AC3E}">
        <p14:creationId xmlns:p14="http://schemas.microsoft.com/office/powerpoint/2010/main" val="387665259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398D438-8C32-6D49-9068-56A1B59917FA}"/>
              </a:ext>
            </a:extLst>
          </p:cNvPr>
          <p:cNvSpPr/>
          <p:nvPr/>
        </p:nvSpPr>
        <p:spPr>
          <a:xfrm>
            <a:off x="0" y="1333500"/>
            <a:ext cx="9144000" cy="4267731"/>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6B904D9-560B-B54C-964B-949341145E72}"/>
              </a:ext>
            </a:extLst>
          </p:cNvPr>
          <p:cNvSpPr>
            <a:spLocks noGrp="1"/>
          </p:cNvSpPr>
          <p:nvPr>
            <p:ph type="title"/>
          </p:nvPr>
        </p:nvSpPr>
        <p:spPr/>
        <p:txBody>
          <a:bodyPr/>
          <a:lstStyle/>
          <a:p>
            <a:r>
              <a:rPr lang="en-US" dirty="0"/>
              <a:t>A vast sea of garbage</a:t>
            </a:r>
          </a:p>
        </p:txBody>
      </p:sp>
      <p:sp>
        <p:nvSpPr>
          <p:cNvPr id="3" name="Content Placeholder 2">
            <a:extLst>
              <a:ext uri="{FF2B5EF4-FFF2-40B4-BE49-F238E27FC236}">
                <a16:creationId xmlns:a16="http://schemas.microsoft.com/office/drawing/2014/main" id="{D62D5309-11B2-7345-AB9B-686F1B32916F}"/>
              </a:ext>
            </a:extLst>
          </p:cNvPr>
          <p:cNvSpPr>
            <a:spLocks noGrp="1"/>
          </p:cNvSpPr>
          <p:nvPr>
            <p:ph idx="1"/>
          </p:nvPr>
        </p:nvSpPr>
        <p:spPr>
          <a:xfrm>
            <a:off x="152400" y="495301"/>
            <a:ext cx="8991600" cy="838199"/>
          </a:xfrm>
        </p:spPr>
        <p:txBody>
          <a:bodyPr/>
          <a:lstStyle/>
          <a:p>
            <a:r>
              <a:rPr lang="en-US" dirty="0"/>
              <a:t>a program is </a:t>
            </a:r>
            <a:r>
              <a:rPr lang="en-US" b="1" dirty="0"/>
              <a:t>any sequence of instructions.</a:t>
            </a:r>
          </a:p>
          <a:p>
            <a:r>
              <a:rPr lang="en-US" dirty="0"/>
              <a:t>so if we consider </a:t>
            </a:r>
            <a:r>
              <a:rPr lang="en-US" i="1" dirty="0"/>
              <a:t>all possible sequences of instructions…</a:t>
            </a:r>
            <a:endParaRPr lang="en-US" dirty="0"/>
          </a:p>
        </p:txBody>
      </p:sp>
      <p:sp>
        <p:nvSpPr>
          <p:cNvPr id="4" name="Slide Number Placeholder 3">
            <a:extLst>
              <a:ext uri="{FF2B5EF4-FFF2-40B4-BE49-F238E27FC236}">
                <a16:creationId xmlns:a16="http://schemas.microsoft.com/office/drawing/2014/main" id="{B700B745-9350-994D-AB46-93DAFEDB4001}"/>
              </a:ext>
            </a:extLst>
          </p:cNvPr>
          <p:cNvSpPr>
            <a:spLocks noGrp="1"/>
          </p:cNvSpPr>
          <p:nvPr>
            <p:ph type="sldNum" sz="quarter" idx="12"/>
          </p:nvPr>
        </p:nvSpPr>
        <p:spPr/>
        <p:txBody>
          <a:bodyPr/>
          <a:lstStyle/>
          <a:p>
            <a:fld id="{3552B95B-556F-44BD-91A5-D80C1B9E2BB3}" type="slidenum">
              <a:rPr lang="en-US" smtClean="0"/>
              <a:pPr/>
              <a:t>12</a:t>
            </a:fld>
            <a:endParaRPr lang="en-US"/>
          </a:p>
        </p:txBody>
      </p:sp>
      <p:sp>
        <p:nvSpPr>
          <p:cNvPr id="6" name="TextBox 5">
            <a:extLst>
              <a:ext uri="{FF2B5EF4-FFF2-40B4-BE49-F238E27FC236}">
                <a16:creationId xmlns:a16="http://schemas.microsoft.com/office/drawing/2014/main" id="{3FE07F41-F14D-014F-94CE-C83B997E1268}"/>
              </a:ext>
            </a:extLst>
          </p:cNvPr>
          <p:cNvSpPr txBox="1"/>
          <p:nvPr/>
        </p:nvSpPr>
        <p:spPr>
          <a:xfrm>
            <a:off x="1657350" y="1419225"/>
            <a:ext cx="5600700" cy="430887"/>
          </a:xfrm>
          <a:prstGeom prst="rect">
            <a:avLst/>
          </a:prstGeom>
          <a:noFill/>
        </p:spPr>
        <p:txBody>
          <a:bodyPr wrap="square" rtlCol="0">
            <a:spAutoFit/>
          </a:bodyPr>
          <a:lstStyle/>
          <a:p>
            <a:pPr algn="ctr"/>
            <a:r>
              <a:rPr lang="en-US" sz="2200" dirty="0"/>
              <a:t>almost all of them do </a:t>
            </a:r>
            <a:r>
              <a:rPr lang="en-US" sz="2200" i="1" dirty="0"/>
              <a:t>nothing useful at all.</a:t>
            </a:r>
            <a:endParaRPr lang="en-US" sz="2200" b="1" dirty="0"/>
          </a:p>
        </p:txBody>
      </p:sp>
      <p:sp>
        <p:nvSpPr>
          <p:cNvPr id="8" name="Freeform 7">
            <a:extLst>
              <a:ext uri="{FF2B5EF4-FFF2-40B4-BE49-F238E27FC236}">
                <a16:creationId xmlns:a16="http://schemas.microsoft.com/office/drawing/2014/main" id="{66FAC0A1-1122-E045-A5D2-7C461B4C1AD3}"/>
              </a:ext>
            </a:extLst>
          </p:cNvPr>
          <p:cNvSpPr/>
          <p:nvPr/>
        </p:nvSpPr>
        <p:spPr>
          <a:xfrm>
            <a:off x="266700" y="1935837"/>
            <a:ext cx="3238500" cy="1998348"/>
          </a:xfrm>
          <a:custGeom>
            <a:avLst/>
            <a:gdLst>
              <a:gd name="connsiteX0" fmla="*/ 2276475 w 5248275"/>
              <a:gd name="connsiteY0" fmla="*/ 28575 h 3238500"/>
              <a:gd name="connsiteX1" fmla="*/ 2181225 w 5248275"/>
              <a:gd name="connsiteY1" fmla="*/ 19050 h 3238500"/>
              <a:gd name="connsiteX2" fmla="*/ 1733550 w 5248275"/>
              <a:gd name="connsiteY2" fmla="*/ 38100 h 3238500"/>
              <a:gd name="connsiteX3" fmla="*/ 1628775 w 5248275"/>
              <a:gd name="connsiteY3" fmla="*/ 66675 h 3238500"/>
              <a:gd name="connsiteX4" fmla="*/ 1600200 w 5248275"/>
              <a:gd name="connsiteY4" fmla="*/ 76200 h 3238500"/>
              <a:gd name="connsiteX5" fmla="*/ 1543050 w 5248275"/>
              <a:gd name="connsiteY5" fmla="*/ 104775 h 3238500"/>
              <a:gd name="connsiteX6" fmla="*/ 1514475 w 5248275"/>
              <a:gd name="connsiteY6" fmla="*/ 123825 h 3238500"/>
              <a:gd name="connsiteX7" fmla="*/ 1485900 w 5248275"/>
              <a:gd name="connsiteY7" fmla="*/ 133350 h 3238500"/>
              <a:gd name="connsiteX8" fmla="*/ 1428750 w 5248275"/>
              <a:gd name="connsiteY8" fmla="*/ 161925 h 3238500"/>
              <a:gd name="connsiteX9" fmla="*/ 1352550 w 5248275"/>
              <a:gd name="connsiteY9" fmla="*/ 228600 h 3238500"/>
              <a:gd name="connsiteX10" fmla="*/ 1323975 w 5248275"/>
              <a:gd name="connsiteY10" fmla="*/ 247650 h 3238500"/>
              <a:gd name="connsiteX11" fmla="*/ 1266825 w 5248275"/>
              <a:gd name="connsiteY11" fmla="*/ 276225 h 3238500"/>
              <a:gd name="connsiteX12" fmla="*/ 1209675 w 5248275"/>
              <a:gd name="connsiteY12" fmla="*/ 285750 h 3238500"/>
              <a:gd name="connsiteX13" fmla="*/ 1152525 w 5248275"/>
              <a:gd name="connsiteY13" fmla="*/ 304800 h 3238500"/>
              <a:gd name="connsiteX14" fmla="*/ 1095375 w 5248275"/>
              <a:gd name="connsiteY14" fmla="*/ 314325 h 3238500"/>
              <a:gd name="connsiteX15" fmla="*/ 1066800 w 5248275"/>
              <a:gd name="connsiteY15" fmla="*/ 323850 h 3238500"/>
              <a:gd name="connsiteX16" fmla="*/ 1019175 w 5248275"/>
              <a:gd name="connsiteY16" fmla="*/ 333375 h 3238500"/>
              <a:gd name="connsiteX17" fmla="*/ 857250 w 5248275"/>
              <a:gd name="connsiteY17" fmla="*/ 352425 h 3238500"/>
              <a:gd name="connsiteX18" fmla="*/ 771525 w 5248275"/>
              <a:gd name="connsiteY18" fmla="*/ 371475 h 3238500"/>
              <a:gd name="connsiteX19" fmla="*/ 704850 w 5248275"/>
              <a:gd name="connsiteY19" fmla="*/ 390525 h 3238500"/>
              <a:gd name="connsiteX20" fmla="*/ 676275 w 5248275"/>
              <a:gd name="connsiteY20" fmla="*/ 409575 h 3238500"/>
              <a:gd name="connsiteX21" fmla="*/ 619125 w 5248275"/>
              <a:gd name="connsiteY21" fmla="*/ 438150 h 3238500"/>
              <a:gd name="connsiteX22" fmla="*/ 581025 w 5248275"/>
              <a:gd name="connsiteY22" fmla="*/ 466725 h 3238500"/>
              <a:gd name="connsiteX23" fmla="*/ 523875 w 5248275"/>
              <a:gd name="connsiteY23" fmla="*/ 504825 h 3238500"/>
              <a:gd name="connsiteX24" fmla="*/ 466725 w 5248275"/>
              <a:gd name="connsiteY24" fmla="*/ 542925 h 3238500"/>
              <a:gd name="connsiteX25" fmla="*/ 409575 w 5248275"/>
              <a:gd name="connsiteY25" fmla="*/ 609600 h 3238500"/>
              <a:gd name="connsiteX26" fmla="*/ 352425 w 5248275"/>
              <a:gd name="connsiteY26" fmla="*/ 647700 h 3238500"/>
              <a:gd name="connsiteX27" fmla="*/ 304800 w 5248275"/>
              <a:gd name="connsiteY27" fmla="*/ 695325 h 3238500"/>
              <a:gd name="connsiteX28" fmla="*/ 247650 w 5248275"/>
              <a:gd name="connsiteY28" fmla="*/ 752475 h 3238500"/>
              <a:gd name="connsiteX29" fmla="*/ 219075 w 5248275"/>
              <a:gd name="connsiteY29" fmla="*/ 781050 h 3238500"/>
              <a:gd name="connsiteX30" fmla="*/ 171450 w 5248275"/>
              <a:gd name="connsiteY30" fmla="*/ 847725 h 3238500"/>
              <a:gd name="connsiteX31" fmla="*/ 142875 w 5248275"/>
              <a:gd name="connsiteY31" fmla="*/ 866775 h 3238500"/>
              <a:gd name="connsiteX32" fmla="*/ 123825 w 5248275"/>
              <a:gd name="connsiteY32" fmla="*/ 895350 h 3238500"/>
              <a:gd name="connsiteX33" fmla="*/ 95250 w 5248275"/>
              <a:gd name="connsiteY33" fmla="*/ 923925 h 3238500"/>
              <a:gd name="connsiteX34" fmla="*/ 57150 w 5248275"/>
              <a:gd name="connsiteY34" fmla="*/ 981075 h 3238500"/>
              <a:gd name="connsiteX35" fmla="*/ 19050 w 5248275"/>
              <a:gd name="connsiteY35" fmla="*/ 1095375 h 3238500"/>
              <a:gd name="connsiteX36" fmla="*/ 9525 w 5248275"/>
              <a:gd name="connsiteY36" fmla="*/ 1123950 h 3238500"/>
              <a:gd name="connsiteX37" fmla="*/ 0 w 5248275"/>
              <a:gd name="connsiteY37" fmla="*/ 1152525 h 3238500"/>
              <a:gd name="connsiteX38" fmla="*/ 28575 w 5248275"/>
              <a:gd name="connsiteY38" fmla="*/ 1276350 h 3238500"/>
              <a:gd name="connsiteX39" fmla="*/ 114300 w 5248275"/>
              <a:gd name="connsiteY39" fmla="*/ 1333500 h 3238500"/>
              <a:gd name="connsiteX40" fmla="*/ 142875 w 5248275"/>
              <a:gd name="connsiteY40" fmla="*/ 1352550 h 3238500"/>
              <a:gd name="connsiteX41" fmla="*/ 161925 w 5248275"/>
              <a:gd name="connsiteY41" fmla="*/ 1381125 h 3238500"/>
              <a:gd name="connsiteX42" fmla="*/ 190500 w 5248275"/>
              <a:gd name="connsiteY42" fmla="*/ 1400175 h 3238500"/>
              <a:gd name="connsiteX43" fmla="*/ 209550 w 5248275"/>
              <a:gd name="connsiteY43" fmla="*/ 1466850 h 3238500"/>
              <a:gd name="connsiteX44" fmla="*/ 200025 w 5248275"/>
              <a:gd name="connsiteY44" fmla="*/ 1590675 h 3238500"/>
              <a:gd name="connsiteX45" fmla="*/ 180975 w 5248275"/>
              <a:gd name="connsiteY45" fmla="*/ 1685925 h 3238500"/>
              <a:gd name="connsiteX46" fmla="*/ 161925 w 5248275"/>
              <a:gd name="connsiteY46" fmla="*/ 1800225 h 3238500"/>
              <a:gd name="connsiteX47" fmla="*/ 152400 w 5248275"/>
              <a:gd name="connsiteY47" fmla="*/ 1828800 h 3238500"/>
              <a:gd name="connsiteX48" fmla="*/ 133350 w 5248275"/>
              <a:gd name="connsiteY48" fmla="*/ 1895475 h 3238500"/>
              <a:gd name="connsiteX49" fmla="*/ 114300 w 5248275"/>
              <a:gd name="connsiteY49" fmla="*/ 1933575 h 3238500"/>
              <a:gd name="connsiteX50" fmla="*/ 95250 w 5248275"/>
              <a:gd name="connsiteY50" fmla="*/ 2000250 h 3238500"/>
              <a:gd name="connsiteX51" fmla="*/ 85725 w 5248275"/>
              <a:gd name="connsiteY51" fmla="*/ 2028825 h 3238500"/>
              <a:gd name="connsiteX52" fmla="*/ 66675 w 5248275"/>
              <a:gd name="connsiteY52" fmla="*/ 2105025 h 3238500"/>
              <a:gd name="connsiteX53" fmla="*/ 47625 w 5248275"/>
              <a:gd name="connsiteY53" fmla="*/ 2171700 h 3238500"/>
              <a:gd name="connsiteX54" fmla="*/ 57150 w 5248275"/>
              <a:gd name="connsiteY54" fmla="*/ 2400300 h 3238500"/>
              <a:gd name="connsiteX55" fmla="*/ 76200 w 5248275"/>
              <a:gd name="connsiteY55" fmla="*/ 2476500 h 3238500"/>
              <a:gd name="connsiteX56" fmla="*/ 104775 w 5248275"/>
              <a:gd name="connsiteY56" fmla="*/ 2533650 h 3238500"/>
              <a:gd name="connsiteX57" fmla="*/ 171450 w 5248275"/>
              <a:gd name="connsiteY57" fmla="*/ 2619375 h 3238500"/>
              <a:gd name="connsiteX58" fmla="*/ 209550 w 5248275"/>
              <a:gd name="connsiteY58" fmla="*/ 2676525 h 3238500"/>
              <a:gd name="connsiteX59" fmla="*/ 228600 w 5248275"/>
              <a:gd name="connsiteY59" fmla="*/ 2705100 h 3238500"/>
              <a:gd name="connsiteX60" fmla="*/ 257175 w 5248275"/>
              <a:gd name="connsiteY60" fmla="*/ 2733675 h 3238500"/>
              <a:gd name="connsiteX61" fmla="*/ 276225 w 5248275"/>
              <a:gd name="connsiteY61" fmla="*/ 2762250 h 3238500"/>
              <a:gd name="connsiteX62" fmla="*/ 304800 w 5248275"/>
              <a:gd name="connsiteY62" fmla="*/ 2781300 h 3238500"/>
              <a:gd name="connsiteX63" fmla="*/ 333375 w 5248275"/>
              <a:gd name="connsiteY63" fmla="*/ 2809875 h 3238500"/>
              <a:gd name="connsiteX64" fmla="*/ 371475 w 5248275"/>
              <a:gd name="connsiteY64" fmla="*/ 2838450 h 3238500"/>
              <a:gd name="connsiteX65" fmla="*/ 409575 w 5248275"/>
              <a:gd name="connsiteY65" fmla="*/ 2876550 h 3238500"/>
              <a:gd name="connsiteX66" fmla="*/ 495300 w 5248275"/>
              <a:gd name="connsiteY66" fmla="*/ 2924175 h 3238500"/>
              <a:gd name="connsiteX67" fmla="*/ 533400 w 5248275"/>
              <a:gd name="connsiteY67" fmla="*/ 2952750 h 3238500"/>
              <a:gd name="connsiteX68" fmla="*/ 600075 w 5248275"/>
              <a:gd name="connsiteY68" fmla="*/ 2981325 h 3238500"/>
              <a:gd name="connsiteX69" fmla="*/ 628650 w 5248275"/>
              <a:gd name="connsiteY69" fmla="*/ 3000375 h 3238500"/>
              <a:gd name="connsiteX70" fmla="*/ 685800 w 5248275"/>
              <a:gd name="connsiteY70" fmla="*/ 3019425 h 3238500"/>
              <a:gd name="connsiteX71" fmla="*/ 752475 w 5248275"/>
              <a:gd name="connsiteY71" fmla="*/ 3038475 h 3238500"/>
              <a:gd name="connsiteX72" fmla="*/ 781050 w 5248275"/>
              <a:gd name="connsiteY72" fmla="*/ 3048000 h 3238500"/>
              <a:gd name="connsiteX73" fmla="*/ 857250 w 5248275"/>
              <a:gd name="connsiteY73" fmla="*/ 3067050 h 3238500"/>
              <a:gd name="connsiteX74" fmla="*/ 1552575 w 5248275"/>
              <a:gd name="connsiteY74" fmla="*/ 3076575 h 3238500"/>
              <a:gd name="connsiteX75" fmla="*/ 1609725 w 5248275"/>
              <a:gd name="connsiteY75" fmla="*/ 3114675 h 3238500"/>
              <a:gd name="connsiteX76" fmla="*/ 1638300 w 5248275"/>
              <a:gd name="connsiteY76" fmla="*/ 3133725 h 3238500"/>
              <a:gd name="connsiteX77" fmla="*/ 1666875 w 5248275"/>
              <a:gd name="connsiteY77" fmla="*/ 3143250 h 3238500"/>
              <a:gd name="connsiteX78" fmla="*/ 1733550 w 5248275"/>
              <a:gd name="connsiteY78" fmla="*/ 3171825 h 3238500"/>
              <a:gd name="connsiteX79" fmla="*/ 1790700 w 5248275"/>
              <a:gd name="connsiteY79" fmla="*/ 3200400 h 3238500"/>
              <a:gd name="connsiteX80" fmla="*/ 1819275 w 5248275"/>
              <a:gd name="connsiteY80" fmla="*/ 3219450 h 3238500"/>
              <a:gd name="connsiteX81" fmla="*/ 1933575 w 5248275"/>
              <a:gd name="connsiteY81" fmla="*/ 3238500 h 3238500"/>
              <a:gd name="connsiteX82" fmla="*/ 2390775 w 5248275"/>
              <a:gd name="connsiteY82" fmla="*/ 3228975 h 3238500"/>
              <a:gd name="connsiteX83" fmla="*/ 2466975 w 5248275"/>
              <a:gd name="connsiteY83" fmla="*/ 3209925 h 3238500"/>
              <a:gd name="connsiteX84" fmla="*/ 2505075 w 5248275"/>
              <a:gd name="connsiteY84" fmla="*/ 3200400 h 3238500"/>
              <a:gd name="connsiteX85" fmla="*/ 2543175 w 5248275"/>
              <a:gd name="connsiteY85" fmla="*/ 3181350 h 3238500"/>
              <a:gd name="connsiteX86" fmla="*/ 2628900 w 5248275"/>
              <a:gd name="connsiteY86" fmla="*/ 3162300 h 3238500"/>
              <a:gd name="connsiteX87" fmla="*/ 2714625 w 5248275"/>
              <a:gd name="connsiteY87" fmla="*/ 3143250 h 3238500"/>
              <a:gd name="connsiteX88" fmla="*/ 3238500 w 5248275"/>
              <a:gd name="connsiteY88" fmla="*/ 3162300 h 3238500"/>
              <a:gd name="connsiteX89" fmla="*/ 3362325 w 5248275"/>
              <a:gd name="connsiteY89" fmla="*/ 3190875 h 3238500"/>
              <a:gd name="connsiteX90" fmla="*/ 3400425 w 5248275"/>
              <a:gd name="connsiteY90" fmla="*/ 3200400 h 3238500"/>
              <a:gd name="connsiteX91" fmla="*/ 3495675 w 5248275"/>
              <a:gd name="connsiteY91" fmla="*/ 3219450 h 3238500"/>
              <a:gd name="connsiteX92" fmla="*/ 3648075 w 5248275"/>
              <a:gd name="connsiteY92" fmla="*/ 3209925 h 3238500"/>
              <a:gd name="connsiteX93" fmla="*/ 3743325 w 5248275"/>
              <a:gd name="connsiteY93" fmla="*/ 3190875 h 3238500"/>
              <a:gd name="connsiteX94" fmla="*/ 3810000 w 5248275"/>
              <a:gd name="connsiteY94" fmla="*/ 3143250 h 3238500"/>
              <a:gd name="connsiteX95" fmla="*/ 3838575 w 5248275"/>
              <a:gd name="connsiteY95" fmla="*/ 3114675 h 3238500"/>
              <a:gd name="connsiteX96" fmla="*/ 3876675 w 5248275"/>
              <a:gd name="connsiteY96" fmla="*/ 3095625 h 3238500"/>
              <a:gd name="connsiteX97" fmla="*/ 3905250 w 5248275"/>
              <a:gd name="connsiteY97" fmla="*/ 3067050 h 3238500"/>
              <a:gd name="connsiteX98" fmla="*/ 3933825 w 5248275"/>
              <a:gd name="connsiteY98" fmla="*/ 3048000 h 3238500"/>
              <a:gd name="connsiteX99" fmla="*/ 3990975 w 5248275"/>
              <a:gd name="connsiteY99" fmla="*/ 3000375 h 3238500"/>
              <a:gd name="connsiteX100" fmla="*/ 4000500 w 5248275"/>
              <a:gd name="connsiteY100" fmla="*/ 2971800 h 3238500"/>
              <a:gd name="connsiteX101" fmla="*/ 4019550 w 5248275"/>
              <a:gd name="connsiteY101" fmla="*/ 2943225 h 3238500"/>
              <a:gd name="connsiteX102" fmla="*/ 4038600 w 5248275"/>
              <a:gd name="connsiteY102" fmla="*/ 2905125 h 3238500"/>
              <a:gd name="connsiteX103" fmla="*/ 4057650 w 5248275"/>
              <a:gd name="connsiteY103" fmla="*/ 2809875 h 3238500"/>
              <a:gd name="connsiteX104" fmla="*/ 4076700 w 5248275"/>
              <a:gd name="connsiteY104" fmla="*/ 2714625 h 3238500"/>
              <a:gd name="connsiteX105" fmla="*/ 4086225 w 5248275"/>
              <a:gd name="connsiteY105" fmla="*/ 2600325 h 3238500"/>
              <a:gd name="connsiteX106" fmla="*/ 4114800 w 5248275"/>
              <a:gd name="connsiteY106" fmla="*/ 2590800 h 3238500"/>
              <a:gd name="connsiteX107" fmla="*/ 4191000 w 5248275"/>
              <a:gd name="connsiteY107" fmla="*/ 2552700 h 3238500"/>
              <a:gd name="connsiteX108" fmla="*/ 4267200 w 5248275"/>
              <a:gd name="connsiteY108" fmla="*/ 2505075 h 3238500"/>
              <a:gd name="connsiteX109" fmla="*/ 4295775 w 5248275"/>
              <a:gd name="connsiteY109" fmla="*/ 2495550 h 3238500"/>
              <a:gd name="connsiteX110" fmla="*/ 4324350 w 5248275"/>
              <a:gd name="connsiteY110" fmla="*/ 2476500 h 3238500"/>
              <a:gd name="connsiteX111" fmla="*/ 4352925 w 5248275"/>
              <a:gd name="connsiteY111" fmla="*/ 2466975 h 3238500"/>
              <a:gd name="connsiteX112" fmla="*/ 4419600 w 5248275"/>
              <a:gd name="connsiteY112" fmla="*/ 2428875 h 3238500"/>
              <a:gd name="connsiteX113" fmla="*/ 4448175 w 5248275"/>
              <a:gd name="connsiteY113" fmla="*/ 2419350 h 3238500"/>
              <a:gd name="connsiteX114" fmla="*/ 4514850 w 5248275"/>
              <a:gd name="connsiteY114" fmla="*/ 2381250 h 3238500"/>
              <a:gd name="connsiteX115" fmla="*/ 4552950 w 5248275"/>
              <a:gd name="connsiteY115" fmla="*/ 2371725 h 3238500"/>
              <a:gd name="connsiteX116" fmla="*/ 4629150 w 5248275"/>
              <a:gd name="connsiteY116" fmla="*/ 2333625 h 3238500"/>
              <a:gd name="connsiteX117" fmla="*/ 4667250 w 5248275"/>
              <a:gd name="connsiteY117" fmla="*/ 2314575 h 3238500"/>
              <a:gd name="connsiteX118" fmla="*/ 4800600 w 5248275"/>
              <a:gd name="connsiteY118" fmla="*/ 2266950 h 3238500"/>
              <a:gd name="connsiteX119" fmla="*/ 4876800 w 5248275"/>
              <a:gd name="connsiteY119" fmla="*/ 2219325 h 3238500"/>
              <a:gd name="connsiteX120" fmla="*/ 4905375 w 5248275"/>
              <a:gd name="connsiteY120" fmla="*/ 2209800 h 3238500"/>
              <a:gd name="connsiteX121" fmla="*/ 4933950 w 5248275"/>
              <a:gd name="connsiteY121" fmla="*/ 2190750 h 3238500"/>
              <a:gd name="connsiteX122" fmla="*/ 4972050 w 5248275"/>
              <a:gd name="connsiteY122" fmla="*/ 2181225 h 3238500"/>
              <a:gd name="connsiteX123" fmla="*/ 5067300 w 5248275"/>
              <a:gd name="connsiteY123" fmla="*/ 2124075 h 3238500"/>
              <a:gd name="connsiteX124" fmla="*/ 5105400 w 5248275"/>
              <a:gd name="connsiteY124" fmla="*/ 2105025 h 3238500"/>
              <a:gd name="connsiteX125" fmla="*/ 5153025 w 5248275"/>
              <a:gd name="connsiteY125" fmla="*/ 2047875 h 3238500"/>
              <a:gd name="connsiteX126" fmla="*/ 5210175 w 5248275"/>
              <a:gd name="connsiteY126" fmla="*/ 1981200 h 3238500"/>
              <a:gd name="connsiteX127" fmla="*/ 5248275 w 5248275"/>
              <a:gd name="connsiteY127" fmla="*/ 1895475 h 3238500"/>
              <a:gd name="connsiteX128" fmla="*/ 5238750 w 5248275"/>
              <a:gd name="connsiteY128" fmla="*/ 1609725 h 3238500"/>
              <a:gd name="connsiteX129" fmla="*/ 5200650 w 5248275"/>
              <a:gd name="connsiteY129" fmla="*/ 1552575 h 3238500"/>
              <a:gd name="connsiteX130" fmla="*/ 5153025 w 5248275"/>
              <a:gd name="connsiteY130" fmla="*/ 1495425 h 3238500"/>
              <a:gd name="connsiteX131" fmla="*/ 5133975 w 5248275"/>
              <a:gd name="connsiteY131" fmla="*/ 1466850 h 3238500"/>
              <a:gd name="connsiteX132" fmla="*/ 5067300 w 5248275"/>
              <a:gd name="connsiteY132" fmla="*/ 1409700 h 3238500"/>
              <a:gd name="connsiteX133" fmla="*/ 5038725 w 5248275"/>
              <a:gd name="connsiteY133" fmla="*/ 1400175 h 3238500"/>
              <a:gd name="connsiteX134" fmla="*/ 4943475 w 5248275"/>
              <a:gd name="connsiteY134" fmla="*/ 1314450 h 3238500"/>
              <a:gd name="connsiteX135" fmla="*/ 4924425 w 5248275"/>
              <a:gd name="connsiteY135" fmla="*/ 1285875 h 3238500"/>
              <a:gd name="connsiteX136" fmla="*/ 4895850 w 5248275"/>
              <a:gd name="connsiteY136" fmla="*/ 1257300 h 3238500"/>
              <a:gd name="connsiteX137" fmla="*/ 4857750 w 5248275"/>
              <a:gd name="connsiteY137" fmla="*/ 1200150 h 3238500"/>
              <a:gd name="connsiteX138" fmla="*/ 4838700 w 5248275"/>
              <a:gd name="connsiteY138" fmla="*/ 1171575 h 3238500"/>
              <a:gd name="connsiteX139" fmla="*/ 4829175 w 5248275"/>
              <a:gd name="connsiteY139" fmla="*/ 1143000 h 3238500"/>
              <a:gd name="connsiteX140" fmla="*/ 4791075 w 5248275"/>
              <a:gd name="connsiteY140" fmla="*/ 1057275 h 3238500"/>
              <a:gd name="connsiteX141" fmla="*/ 4781550 w 5248275"/>
              <a:gd name="connsiteY141" fmla="*/ 1019175 h 3238500"/>
              <a:gd name="connsiteX142" fmla="*/ 4762500 w 5248275"/>
              <a:gd name="connsiteY142" fmla="*/ 962025 h 3238500"/>
              <a:gd name="connsiteX143" fmla="*/ 4743450 w 5248275"/>
              <a:gd name="connsiteY143" fmla="*/ 885825 h 3238500"/>
              <a:gd name="connsiteX144" fmla="*/ 4705350 w 5248275"/>
              <a:gd name="connsiteY144" fmla="*/ 800100 h 3238500"/>
              <a:gd name="connsiteX145" fmla="*/ 4638675 w 5248275"/>
              <a:gd name="connsiteY145" fmla="*/ 771525 h 3238500"/>
              <a:gd name="connsiteX146" fmla="*/ 4610100 w 5248275"/>
              <a:gd name="connsiteY146" fmla="*/ 762000 h 3238500"/>
              <a:gd name="connsiteX147" fmla="*/ 4572000 w 5248275"/>
              <a:gd name="connsiteY147" fmla="*/ 733425 h 3238500"/>
              <a:gd name="connsiteX148" fmla="*/ 4486275 w 5248275"/>
              <a:gd name="connsiteY148" fmla="*/ 657225 h 3238500"/>
              <a:gd name="connsiteX149" fmla="*/ 4438650 w 5248275"/>
              <a:gd name="connsiteY149" fmla="*/ 600075 h 3238500"/>
              <a:gd name="connsiteX150" fmla="*/ 4381500 w 5248275"/>
              <a:gd name="connsiteY150" fmla="*/ 533400 h 3238500"/>
              <a:gd name="connsiteX151" fmla="*/ 4352925 w 5248275"/>
              <a:gd name="connsiteY151" fmla="*/ 514350 h 3238500"/>
              <a:gd name="connsiteX152" fmla="*/ 4295775 w 5248275"/>
              <a:gd name="connsiteY152" fmla="*/ 466725 h 3238500"/>
              <a:gd name="connsiteX153" fmla="*/ 4048125 w 5248275"/>
              <a:gd name="connsiteY153" fmla="*/ 438150 h 3238500"/>
              <a:gd name="connsiteX154" fmla="*/ 4019550 w 5248275"/>
              <a:gd name="connsiteY154" fmla="*/ 428625 h 3238500"/>
              <a:gd name="connsiteX155" fmla="*/ 3981450 w 5248275"/>
              <a:gd name="connsiteY155" fmla="*/ 419100 h 3238500"/>
              <a:gd name="connsiteX156" fmla="*/ 3886200 w 5248275"/>
              <a:gd name="connsiteY156" fmla="*/ 352425 h 3238500"/>
              <a:gd name="connsiteX157" fmla="*/ 3857625 w 5248275"/>
              <a:gd name="connsiteY157" fmla="*/ 342900 h 3238500"/>
              <a:gd name="connsiteX158" fmla="*/ 3829050 w 5248275"/>
              <a:gd name="connsiteY158" fmla="*/ 314325 h 3238500"/>
              <a:gd name="connsiteX159" fmla="*/ 3800475 w 5248275"/>
              <a:gd name="connsiteY159" fmla="*/ 295275 h 3238500"/>
              <a:gd name="connsiteX160" fmla="*/ 3762375 w 5248275"/>
              <a:gd name="connsiteY160" fmla="*/ 266700 h 3238500"/>
              <a:gd name="connsiteX161" fmla="*/ 3714750 w 5248275"/>
              <a:gd name="connsiteY161" fmla="*/ 180975 h 3238500"/>
              <a:gd name="connsiteX162" fmla="*/ 3648075 w 5248275"/>
              <a:gd name="connsiteY162" fmla="*/ 142875 h 3238500"/>
              <a:gd name="connsiteX163" fmla="*/ 3590925 w 5248275"/>
              <a:gd name="connsiteY163" fmla="*/ 123825 h 3238500"/>
              <a:gd name="connsiteX164" fmla="*/ 3562350 w 5248275"/>
              <a:gd name="connsiteY164" fmla="*/ 114300 h 3238500"/>
              <a:gd name="connsiteX165" fmla="*/ 3495675 w 5248275"/>
              <a:gd name="connsiteY165" fmla="*/ 104775 h 3238500"/>
              <a:gd name="connsiteX166" fmla="*/ 2714625 w 5248275"/>
              <a:gd name="connsiteY166" fmla="*/ 104775 h 3238500"/>
              <a:gd name="connsiteX167" fmla="*/ 2686050 w 5248275"/>
              <a:gd name="connsiteY167" fmla="*/ 95250 h 3238500"/>
              <a:gd name="connsiteX168" fmla="*/ 2628900 w 5248275"/>
              <a:gd name="connsiteY168" fmla="*/ 57150 h 3238500"/>
              <a:gd name="connsiteX169" fmla="*/ 2600325 w 5248275"/>
              <a:gd name="connsiteY169" fmla="*/ 38100 h 3238500"/>
              <a:gd name="connsiteX170" fmla="*/ 2571750 w 5248275"/>
              <a:gd name="connsiteY170" fmla="*/ 19050 h 3238500"/>
              <a:gd name="connsiteX171" fmla="*/ 2514600 w 5248275"/>
              <a:gd name="connsiteY171" fmla="*/ 0 h 3238500"/>
              <a:gd name="connsiteX172" fmla="*/ 2286000 w 5248275"/>
              <a:gd name="connsiteY172" fmla="*/ 9525 h 3238500"/>
              <a:gd name="connsiteX173" fmla="*/ 2276475 w 5248275"/>
              <a:gd name="connsiteY173" fmla="*/ 28575 h 3238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Lst>
            <a:rect l="l" t="t" r="r" b="b"/>
            <a:pathLst>
              <a:path w="5248275" h="3238500">
                <a:moveTo>
                  <a:pt x="2276475" y="28575"/>
                </a:moveTo>
                <a:cubicBezTo>
                  <a:pt x="2259013" y="30162"/>
                  <a:pt x="2213133" y="19050"/>
                  <a:pt x="2181225" y="19050"/>
                </a:cubicBezTo>
                <a:cubicBezTo>
                  <a:pt x="2054752" y="19050"/>
                  <a:pt x="1868411" y="30608"/>
                  <a:pt x="1733550" y="38100"/>
                </a:cubicBezTo>
                <a:cubicBezTo>
                  <a:pt x="1666234" y="51563"/>
                  <a:pt x="1701284" y="42505"/>
                  <a:pt x="1628775" y="66675"/>
                </a:cubicBezTo>
                <a:cubicBezTo>
                  <a:pt x="1619250" y="69850"/>
                  <a:pt x="1608554" y="70631"/>
                  <a:pt x="1600200" y="76200"/>
                </a:cubicBezTo>
                <a:cubicBezTo>
                  <a:pt x="1518308" y="130795"/>
                  <a:pt x="1621920" y="65340"/>
                  <a:pt x="1543050" y="104775"/>
                </a:cubicBezTo>
                <a:cubicBezTo>
                  <a:pt x="1532811" y="109895"/>
                  <a:pt x="1524714" y="118705"/>
                  <a:pt x="1514475" y="123825"/>
                </a:cubicBezTo>
                <a:cubicBezTo>
                  <a:pt x="1505495" y="128315"/>
                  <a:pt x="1494880" y="128860"/>
                  <a:pt x="1485900" y="133350"/>
                </a:cubicBezTo>
                <a:cubicBezTo>
                  <a:pt x="1412042" y="170279"/>
                  <a:pt x="1500574" y="137984"/>
                  <a:pt x="1428750" y="161925"/>
                </a:cubicBezTo>
                <a:cubicBezTo>
                  <a:pt x="1397000" y="209550"/>
                  <a:pt x="1419225" y="184150"/>
                  <a:pt x="1352550" y="228600"/>
                </a:cubicBezTo>
                <a:lnTo>
                  <a:pt x="1323975" y="247650"/>
                </a:lnTo>
                <a:cubicBezTo>
                  <a:pt x="1298287" y="264775"/>
                  <a:pt x="1296401" y="269652"/>
                  <a:pt x="1266825" y="276225"/>
                </a:cubicBezTo>
                <a:cubicBezTo>
                  <a:pt x="1247972" y="280415"/>
                  <a:pt x="1228411" y="281066"/>
                  <a:pt x="1209675" y="285750"/>
                </a:cubicBezTo>
                <a:cubicBezTo>
                  <a:pt x="1190194" y="290620"/>
                  <a:pt x="1172332" y="301499"/>
                  <a:pt x="1152525" y="304800"/>
                </a:cubicBezTo>
                <a:cubicBezTo>
                  <a:pt x="1133475" y="307975"/>
                  <a:pt x="1114228" y="310135"/>
                  <a:pt x="1095375" y="314325"/>
                </a:cubicBezTo>
                <a:cubicBezTo>
                  <a:pt x="1085574" y="316503"/>
                  <a:pt x="1076540" y="321415"/>
                  <a:pt x="1066800" y="323850"/>
                </a:cubicBezTo>
                <a:cubicBezTo>
                  <a:pt x="1051094" y="327777"/>
                  <a:pt x="1035103" y="330479"/>
                  <a:pt x="1019175" y="333375"/>
                </a:cubicBezTo>
                <a:cubicBezTo>
                  <a:pt x="942723" y="347275"/>
                  <a:pt x="953494" y="343676"/>
                  <a:pt x="857250" y="352425"/>
                </a:cubicBezTo>
                <a:cubicBezTo>
                  <a:pt x="824514" y="358972"/>
                  <a:pt x="802912" y="362507"/>
                  <a:pt x="771525" y="371475"/>
                </a:cubicBezTo>
                <a:cubicBezTo>
                  <a:pt x="675872" y="398804"/>
                  <a:pt x="823957" y="360748"/>
                  <a:pt x="704850" y="390525"/>
                </a:cubicBezTo>
                <a:cubicBezTo>
                  <a:pt x="695325" y="396875"/>
                  <a:pt x="686514" y="404455"/>
                  <a:pt x="676275" y="409575"/>
                </a:cubicBezTo>
                <a:cubicBezTo>
                  <a:pt x="613366" y="441030"/>
                  <a:pt x="682819" y="392654"/>
                  <a:pt x="619125" y="438150"/>
                </a:cubicBezTo>
                <a:cubicBezTo>
                  <a:pt x="606207" y="447377"/>
                  <a:pt x="594030" y="457621"/>
                  <a:pt x="581025" y="466725"/>
                </a:cubicBezTo>
                <a:cubicBezTo>
                  <a:pt x="562268" y="479855"/>
                  <a:pt x="540064" y="488636"/>
                  <a:pt x="523875" y="504825"/>
                </a:cubicBezTo>
                <a:cubicBezTo>
                  <a:pt x="488200" y="540500"/>
                  <a:pt x="508079" y="529140"/>
                  <a:pt x="466725" y="542925"/>
                </a:cubicBezTo>
                <a:cubicBezTo>
                  <a:pt x="448830" y="566785"/>
                  <a:pt x="433455" y="591027"/>
                  <a:pt x="409575" y="609600"/>
                </a:cubicBezTo>
                <a:cubicBezTo>
                  <a:pt x="391503" y="623656"/>
                  <a:pt x="352425" y="647700"/>
                  <a:pt x="352425" y="647700"/>
                </a:cubicBezTo>
                <a:cubicBezTo>
                  <a:pt x="313170" y="706582"/>
                  <a:pt x="356755" y="649143"/>
                  <a:pt x="304800" y="695325"/>
                </a:cubicBezTo>
                <a:cubicBezTo>
                  <a:pt x="284664" y="713223"/>
                  <a:pt x="266700" y="733425"/>
                  <a:pt x="247650" y="752475"/>
                </a:cubicBezTo>
                <a:cubicBezTo>
                  <a:pt x="238125" y="762000"/>
                  <a:pt x="226547" y="769842"/>
                  <a:pt x="219075" y="781050"/>
                </a:cubicBezTo>
                <a:cubicBezTo>
                  <a:pt x="208258" y="797275"/>
                  <a:pt x="183265" y="835910"/>
                  <a:pt x="171450" y="847725"/>
                </a:cubicBezTo>
                <a:cubicBezTo>
                  <a:pt x="163355" y="855820"/>
                  <a:pt x="152400" y="860425"/>
                  <a:pt x="142875" y="866775"/>
                </a:cubicBezTo>
                <a:cubicBezTo>
                  <a:pt x="136525" y="876300"/>
                  <a:pt x="131154" y="886556"/>
                  <a:pt x="123825" y="895350"/>
                </a:cubicBezTo>
                <a:cubicBezTo>
                  <a:pt x="115201" y="905698"/>
                  <a:pt x="102722" y="912717"/>
                  <a:pt x="95250" y="923925"/>
                </a:cubicBezTo>
                <a:cubicBezTo>
                  <a:pt x="40111" y="1006633"/>
                  <a:pt x="148307" y="889918"/>
                  <a:pt x="57150" y="981075"/>
                </a:cubicBezTo>
                <a:lnTo>
                  <a:pt x="19050" y="1095375"/>
                </a:lnTo>
                <a:lnTo>
                  <a:pt x="9525" y="1123950"/>
                </a:lnTo>
                <a:lnTo>
                  <a:pt x="0" y="1152525"/>
                </a:lnTo>
                <a:cubicBezTo>
                  <a:pt x="3648" y="1189006"/>
                  <a:pt x="-5657" y="1246397"/>
                  <a:pt x="28575" y="1276350"/>
                </a:cubicBezTo>
                <a:lnTo>
                  <a:pt x="114300" y="1333500"/>
                </a:lnTo>
                <a:lnTo>
                  <a:pt x="142875" y="1352550"/>
                </a:lnTo>
                <a:cubicBezTo>
                  <a:pt x="149225" y="1362075"/>
                  <a:pt x="153830" y="1373030"/>
                  <a:pt x="161925" y="1381125"/>
                </a:cubicBezTo>
                <a:cubicBezTo>
                  <a:pt x="170020" y="1389220"/>
                  <a:pt x="183349" y="1391236"/>
                  <a:pt x="190500" y="1400175"/>
                </a:cubicBezTo>
                <a:cubicBezTo>
                  <a:pt x="195469" y="1406386"/>
                  <a:pt x="208928" y="1464361"/>
                  <a:pt x="209550" y="1466850"/>
                </a:cubicBezTo>
                <a:cubicBezTo>
                  <a:pt x="206375" y="1508125"/>
                  <a:pt x="204359" y="1549506"/>
                  <a:pt x="200025" y="1590675"/>
                </a:cubicBezTo>
                <a:cubicBezTo>
                  <a:pt x="194426" y="1643869"/>
                  <a:pt x="191064" y="1640523"/>
                  <a:pt x="180975" y="1685925"/>
                </a:cubicBezTo>
                <a:cubicBezTo>
                  <a:pt x="146897" y="1839277"/>
                  <a:pt x="201683" y="1601435"/>
                  <a:pt x="161925" y="1800225"/>
                </a:cubicBezTo>
                <a:cubicBezTo>
                  <a:pt x="159956" y="1810070"/>
                  <a:pt x="155158" y="1819146"/>
                  <a:pt x="152400" y="1828800"/>
                </a:cubicBezTo>
                <a:cubicBezTo>
                  <a:pt x="145495" y="1852967"/>
                  <a:pt x="143138" y="1872637"/>
                  <a:pt x="133350" y="1895475"/>
                </a:cubicBezTo>
                <a:cubicBezTo>
                  <a:pt x="127757" y="1908526"/>
                  <a:pt x="119893" y="1920524"/>
                  <a:pt x="114300" y="1933575"/>
                </a:cubicBezTo>
                <a:cubicBezTo>
                  <a:pt x="104512" y="1956413"/>
                  <a:pt x="102155" y="1976083"/>
                  <a:pt x="95250" y="2000250"/>
                </a:cubicBezTo>
                <a:cubicBezTo>
                  <a:pt x="92492" y="2009904"/>
                  <a:pt x="88367" y="2019139"/>
                  <a:pt x="85725" y="2028825"/>
                </a:cubicBezTo>
                <a:cubicBezTo>
                  <a:pt x="78836" y="2054084"/>
                  <a:pt x="74954" y="2080187"/>
                  <a:pt x="66675" y="2105025"/>
                </a:cubicBezTo>
                <a:cubicBezTo>
                  <a:pt x="53010" y="2146019"/>
                  <a:pt x="59585" y="2123860"/>
                  <a:pt x="47625" y="2171700"/>
                </a:cubicBezTo>
                <a:cubicBezTo>
                  <a:pt x="50800" y="2247900"/>
                  <a:pt x="50031" y="2324367"/>
                  <a:pt x="57150" y="2400300"/>
                </a:cubicBezTo>
                <a:cubicBezTo>
                  <a:pt x="59594" y="2426367"/>
                  <a:pt x="61677" y="2454715"/>
                  <a:pt x="76200" y="2476500"/>
                </a:cubicBezTo>
                <a:cubicBezTo>
                  <a:pt x="160770" y="2603355"/>
                  <a:pt x="39050" y="2415344"/>
                  <a:pt x="104775" y="2533650"/>
                </a:cubicBezTo>
                <a:cubicBezTo>
                  <a:pt x="166033" y="2643914"/>
                  <a:pt x="117457" y="2549955"/>
                  <a:pt x="171450" y="2619375"/>
                </a:cubicBezTo>
                <a:cubicBezTo>
                  <a:pt x="185506" y="2637447"/>
                  <a:pt x="196850" y="2657475"/>
                  <a:pt x="209550" y="2676525"/>
                </a:cubicBezTo>
                <a:cubicBezTo>
                  <a:pt x="215900" y="2686050"/>
                  <a:pt x="220505" y="2697005"/>
                  <a:pt x="228600" y="2705100"/>
                </a:cubicBezTo>
                <a:cubicBezTo>
                  <a:pt x="238125" y="2714625"/>
                  <a:pt x="248551" y="2723327"/>
                  <a:pt x="257175" y="2733675"/>
                </a:cubicBezTo>
                <a:cubicBezTo>
                  <a:pt x="264504" y="2742469"/>
                  <a:pt x="268130" y="2754155"/>
                  <a:pt x="276225" y="2762250"/>
                </a:cubicBezTo>
                <a:cubicBezTo>
                  <a:pt x="284320" y="2770345"/>
                  <a:pt x="296006" y="2773971"/>
                  <a:pt x="304800" y="2781300"/>
                </a:cubicBezTo>
                <a:cubicBezTo>
                  <a:pt x="315148" y="2789924"/>
                  <a:pt x="323148" y="2801109"/>
                  <a:pt x="333375" y="2809875"/>
                </a:cubicBezTo>
                <a:cubicBezTo>
                  <a:pt x="345428" y="2820206"/>
                  <a:pt x="359528" y="2827996"/>
                  <a:pt x="371475" y="2838450"/>
                </a:cubicBezTo>
                <a:cubicBezTo>
                  <a:pt x="384992" y="2850277"/>
                  <a:pt x="395398" y="2865523"/>
                  <a:pt x="409575" y="2876550"/>
                </a:cubicBezTo>
                <a:cubicBezTo>
                  <a:pt x="458098" y="2914290"/>
                  <a:pt x="449291" y="2895419"/>
                  <a:pt x="495300" y="2924175"/>
                </a:cubicBezTo>
                <a:cubicBezTo>
                  <a:pt x="508762" y="2932589"/>
                  <a:pt x="519938" y="2944336"/>
                  <a:pt x="533400" y="2952750"/>
                </a:cubicBezTo>
                <a:cubicBezTo>
                  <a:pt x="612682" y="3002301"/>
                  <a:pt x="535260" y="2948917"/>
                  <a:pt x="600075" y="2981325"/>
                </a:cubicBezTo>
                <a:cubicBezTo>
                  <a:pt x="610314" y="2986445"/>
                  <a:pt x="618189" y="2995726"/>
                  <a:pt x="628650" y="3000375"/>
                </a:cubicBezTo>
                <a:cubicBezTo>
                  <a:pt x="647000" y="3008530"/>
                  <a:pt x="666750" y="3013075"/>
                  <a:pt x="685800" y="3019425"/>
                </a:cubicBezTo>
                <a:cubicBezTo>
                  <a:pt x="754313" y="3042263"/>
                  <a:pt x="668754" y="3014555"/>
                  <a:pt x="752475" y="3038475"/>
                </a:cubicBezTo>
                <a:cubicBezTo>
                  <a:pt x="762129" y="3041233"/>
                  <a:pt x="771364" y="3045358"/>
                  <a:pt x="781050" y="3048000"/>
                </a:cubicBezTo>
                <a:cubicBezTo>
                  <a:pt x="806309" y="3054889"/>
                  <a:pt x="831071" y="3066691"/>
                  <a:pt x="857250" y="3067050"/>
                </a:cubicBezTo>
                <a:lnTo>
                  <a:pt x="1552575" y="3076575"/>
                </a:lnTo>
                <a:lnTo>
                  <a:pt x="1609725" y="3114675"/>
                </a:lnTo>
                <a:cubicBezTo>
                  <a:pt x="1619250" y="3121025"/>
                  <a:pt x="1627440" y="3130105"/>
                  <a:pt x="1638300" y="3133725"/>
                </a:cubicBezTo>
                <a:cubicBezTo>
                  <a:pt x="1647825" y="3136900"/>
                  <a:pt x="1657895" y="3138760"/>
                  <a:pt x="1666875" y="3143250"/>
                </a:cubicBezTo>
                <a:cubicBezTo>
                  <a:pt x="1732654" y="3176139"/>
                  <a:pt x="1654256" y="3152001"/>
                  <a:pt x="1733550" y="3171825"/>
                </a:cubicBezTo>
                <a:cubicBezTo>
                  <a:pt x="1815442" y="3226420"/>
                  <a:pt x="1711830" y="3160965"/>
                  <a:pt x="1790700" y="3200400"/>
                </a:cubicBezTo>
                <a:cubicBezTo>
                  <a:pt x="1800939" y="3205520"/>
                  <a:pt x="1808753" y="3214941"/>
                  <a:pt x="1819275" y="3219450"/>
                </a:cubicBezTo>
                <a:cubicBezTo>
                  <a:pt x="1845189" y="3230556"/>
                  <a:pt x="1916773" y="3236400"/>
                  <a:pt x="1933575" y="3238500"/>
                </a:cubicBezTo>
                <a:cubicBezTo>
                  <a:pt x="2085975" y="3235325"/>
                  <a:pt x="2238560" y="3237129"/>
                  <a:pt x="2390775" y="3228975"/>
                </a:cubicBezTo>
                <a:cubicBezTo>
                  <a:pt x="2416919" y="3227574"/>
                  <a:pt x="2441575" y="3216275"/>
                  <a:pt x="2466975" y="3209925"/>
                </a:cubicBezTo>
                <a:cubicBezTo>
                  <a:pt x="2479675" y="3206750"/>
                  <a:pt x="2493366" y="3206254"/>
                  <a:pt x="2505075" y="3200400"/>
                </a:cubicBezTo>
                <a:cubicBezTo>
                  <a:pt x="2517775" y="3194050"/>
                  <a:pt x="2529880" y="3186336"/>
                  <a:pt x="2543175" y="3181350"/>
                </a:cubicBezTo>
                <a:cubicBezTo>
                  <a:pt x="2562731" y="3174017"/>
                  <a:pt x="2610795" y="3166826"/>
                  <a:pt x="2628900" y="3162300"/>
                </a:cubicBezTo>
                <a:cubicBezTo>
                  <a:pt x="2722693" y="3138852"/>
                  <a:pt x="2557364" y="3169460"/>
                  <a:pt x="2714625" y="3143250"/>
                </a:cubicBezTo>
                <a:cubicBezTo>
                  <a:pt x="2903298" y="3147264"/>
                  <a:pt x="3063001" y="3135300"/>
                  <a:pt x="3238500" y="3162300"/>
                </a:cubicBezTo>
                <a:cubicBezTo>
                  <a:pt x="3276615" y="3168164"/>
                  <a:pt x="3327318" y="3182123"/>
                  <a:pt x="3362325" y="3190875"/>
                </a:cubicBezTo>
                <a:cubicBezTo>
                  <a:pt x="3375025" y="3194050"/>
                  <a:pt x="3387588" y="3197833"/>
                  <a:pt x="3400425" y="3200400"/>
                </a:cubicBezTo>
                <a:lnTo>
                  <a:pt x="3495675" y="3219450"/>
                </a:lnTo>
                <a:cubicBezTo>
                  <a:pt x="3546475" y="3216275"/>
                  <a:pt x="3597511" y="3215759"/>
                  <a:pt x="3648075" y="3209925"/>
                </a:cubicBezTo>
                <a:cubicBezTo>
                  <a:pt x="3680240" y="3206214"/>
                  <a:pt x="3743325" y="3190875"/>
                  <a:pt x="3743325" y="3190875"/>
                </a:cubicBezTo>
                <a:cubicBezTo>
                  <a:pt x="3765940" y="3175798"/>
                  <a:pt x="3789325" y="3160972"/>
                  <a:pt x="3810000" y="3143250"/>
                </a:cubicBezTo>
                <a:cubicBezTo>
                  <a:pt x="3820227" y="3134484"/>
                  <a:pt x="3827614" y="3122505"/>
                  <a:pt x="3838575" y="3114675"/>
                </a:cubicBezTo>
                <a:cubicBezTo>
                  <a:pt x="3850129" y="3106422"/>
                  <a:pt x="3865121" y="3103878"/>
                  <a:pt x="3876675" y="3095625"/>
                </a:cubicBezTo>
                <a:cubicBezTo>
                  <a:pt x="3887636" y="3087795"/>
                  <a:pt x="3894902" y="3075674"/>
                  <a:pt x="3905250" y="3067050"/>
                </a:cubicBezTo>
                <a:cubicBezTo>
                  <a:pt x="3914044" y="3059721"/>
                  <a:pt x="3925031" y="3055329"/>
                  <a:pt x="3933825" y="3048000"/>
                </a:cubicBezTo>
                <a:cubicBezTo>
                  <a:pt x="4007164" y="2986884"/>
                  <a:pt x="3920029" y="3047673"/>
                  <a:pt x="3990975" y="3000375"/>
                </a:cubicBezTo>
                <a:cubicBezTo>
                  <a:pt x="3994150" y="2990850"/>
                  <a:pt x="3996010" y="2980780"/>
                  <a:pt x="4000500" y="2971800"/>
                </a:cubicBezTo>
                <a:cubicBezTo>
                  <a:pt x="4005620" y="2961561"/>
                  <a:pt x="4013870" y="2953164"/>
                  <a:pt x="4019550" y="2943225"/>
                </a:cubicBezTo>
                <a:cubicBezTo>
                  <a:pt x="4026595" y="2930897"/>
                  <a:pt x="4032250" y="2917825"/>
                  <a:pt x="4038600" y="2905125"/>
                </a:cubicBezTo>
                <a:cubicBezTo>
                  <a:pt x="4044950" y="2873375"/>
                  <a:pt x="4052327" y="2841813"/>
                  <a:pt x="4057650" y="2809875"/>
                </a:cubicBezTo>
                <a:cubicBezTo>
                  <a:pt x="4069327" y="2739812"/>
                  <a:pt x="4062491" y="2771461"/>
                  <a:pt x="4076700" y="2714625"/>
                </a:cubicBezTo>
                <a:cubicBezTo>
                  <a:pt x="4079875" y="2676525"/>
                  <a:pt x="4074981" y="2636866"/>
                  <a:pt x="4086225" y="2600325"/>
                </a:cubicBezTo>
                <a:cubicBezTo>
                  <a:pt x="4089178" y="2590729"/>
                  <a:pt x="4106083" y="2595781"/>
                  <a:pt x="4114800" y="2590800"/>
                </a:cubicBezTo>
                <a:cubicBezTo>
                  <a:pt x="4190358" y="2547624"/>
                  <a:pt x="4115247" y="2571638"/>
                  <a:pt x="4191000" y="2552700"/>
                </a:cubicBezTo>
                <a:cubicBezTo>
                  <a:pt x="4227465" y="2525351"/>
                  <a:pt x="4226523" y="2522508"/>
                  <a:pt x="4267200" y="2505075"/>
                </a:cubicBezTo>
                <a:cubicBezTo>
                  <a:pt x="4276428" y="2501120"/>
                  <a:pt x="4286795" y="2500040"/>
                  <a:pt x="4295775" y="2495550"/>
                </a:cubicBezTo>
                <a:cubicBezTo>
                  <a:pt x="4306014" y="2490430"/>
                  <a:pt x="4314111" y="2481620"/>
                  <a:pt x="4324350" y="2476500"/>
                </a:cubicBezTo>
                <a:cubicBezTo>
                  <a:pt x="4333330" y="2472010"/>
                  <a:pt x="4343697" y="2470930"/>
                  <a:pt x="4352925" y="2466975"/>
                </a:cubicBezTo>
                <a:cubicBezTo>
                  <a:pt x="4469817" y="2416878"/>
                  <a:pt x="4323941" y="2476704"/>
                  <a:pt x="4419600" y="2428875"/>
                </a:cubicBezTo>
                <a:cubicBezTo>
                  <a:pt x="4428580" y="2424385"/>
                  <a:pt x="4439195" y="2423840"/>
                  <a:pt x="4448175" y="2419350"/>
                </a:cubicBezTo>
                <a:cubicBezTo>
                  <a:pt x="4503445" y="2391715"/>
                  <a:pt x="4448054" y="2406298"/>
                  <a:pt x="4514850" y="2381250"/>
                </a:cubicBezTo>
                <a:cubicBezTo>
                  <a:pt x="4527107" y="2376653"/>
                  <a:pt x="4540866" y="2376760"/>
                  <a:pt x="4552950" y="2371725"/>
                </a:cubicBezTo>
                <a:cubicBezTo>
                  <a:pt x="4579164" y="2360803"/>
                  <a:pt x="4603750" y="2346325"/>
                  <a:pt x="4629150" y="2333625"/>
                </a:cubicBezTo>
                <a:cubicBezTo>
                  <a:pt x="4641850" y="2327275"/>
                  <a:pt x="4654067" y="2319848"/>
                  <a:pt x="4667250" y="2314575"/>
                </a:cubicBezTo>
                <a:cubicBezTo>
                  <a:pt x="4774655" y="2271613"/>
                  <a:pt x="4729325" y="2284769"/>
                  <a:pt x="4800600" y="2266950"/>
                </a:cubicBezTo>
                <a:cubicBezTo>
                  <a:pt x="4837065" y="2239601"/>
                  <a:pt x="4836123" y="2236758"/>
                  <a:pt x="4876800" y="2219325"/>
                </a:cubicBezTo>
                <a:cubicBezTo>
                  <a:pt x="4886028" y="2215370"/>
                  <a:pt x="4896395" y="2214290"/>
                  <a:pt x="4905375" y="2209800"/>
                </a:cubicBezTo>
                <a:cubicBezTo>
                  <a:pt x="4915614" y="2204680"/>
                  <a:pt x="4923428" y="2195259"/>
                  <a:pt x="4933950" y="2190750"/>
                </a:cubicBezTo>
                <a:cubicBezTo>
                  <a:pt x="4945982" y="2185593"/>
                  <a:pt x="4959793" y="2185822"/>
                  <a:pt x="4972050" y="2181225"/>
                </a:cubicBezTo>
                <a:cubicBezTo>
                  <a:pt x="5029076" y="2159840"/>
                  <a:pt x="5000838" y="2157306"/>
                  <a:pt x="5067300" y="2124075"/>
                </a:cubicBezTo>
                <a:lnTo>
                  <a:pt x="5105400" y="2105025"/>
                </a:lnTo>
                <a:cubicBezTo>
                  <a:pt x="5147504" y="2041870"/>
                  <a:pt x="5098020" y="2112047"/>
                  <a:pt x="5153025" y="2047875"/>
                </a:cubicBezTo>
                <a:cubicBezTo>
                  <a:pt x="5226339" y="1962341"/>
                  <a:pt x="5139270" y="2052105"/>
                  <a:pt x="5210175" y="1981200"/>
                </a:cubicBezTo>
                <a:cubicBezTo>
                  <a:pt x="5232845" y="1913190"/>
                  <a:pt x="5218086" y="1940758"/>
                  <a:pt x="5248275" y="1895475"/>
                </a:cubicBezTo>
                <a:cubicBezTo>
                  <a:pt x="5245100" y="1800225"/>
                  <a:pt x="5251861" y="1704122"/>
                  <a:pt x="5238750" y="1609725"/>
                </a:cubicBezTo>
                <a:cubicBezTo>
                  <a:pt x="5235600" y="1587047"/>
                  <a:pt x="5207890" y="1574295"/>
                  <a:pt x="5200650" y="1552575"/>
                </a:cubicBezTo>
                <a:cubicBezTo>
                  <a:pt x="5182458" y="1497998"/>
                  <a:pt x="5204924" y="1547324"/>
                  <a:pt x="5153025" y="1495425"/>
                </a:cubicBezTo>
                <a:cubicBezTo>
                  <a:pt x="5144930" y="1487330"/>
                  <a:pt x="5141304" y="1475644"/>
                  <a:pt x="5133975" y="1466850"/>
                </a:cubicBezTo>
                <a:cubicBezTo>
                  <a:pt x="5118620" y="1448425"/>
                  <a:pt x="5087367" y="1421167"/>
                  <a:pt x="5067300" y="1409700"/>
                </a:cubicBezTo>
                <a:cubicBezTo>
                  <a:pt x="5058583" y="1404719"/>
                  <a:pt x="5048250" y="1403350"/>
                  <a:pt x="5038725" y="1400175"/>
                </a:cubicBezTo>
                <a:cubicBezTo>
                  <a:pt x="5005933" y="1375581"/>
                  <a:pt x="4966267" y="1348638"/>
                  <a:pt x="4943475" y="1314450"/>
                </a:cubicBezTo>
                <a:cubicBezTo>
                  <a:pt x="4937125" y="1304925"/>
                  <a:pt x="4931754" y="1294669"/>
                  <a:pt x="4924425" y="1285875"/>
                </a:cubicBezTo>
                <a:cubicBezTo>
                  <a:pt x="4915801" y="1275527"/>
                  <a:pt x="4904120" y="1267933"/>
                  <a:pt x="4895850" y="1257300"/>
                </a:cubicBezTo>
                <a:cubicBezTo>
                  <a:pt x="4881794" y="1239228"/>
                  <a:pt x="4870450" y="1219200"/>
                  <a:pt x="4857750" y="1200150"/>
                </a:cubicBezTo>
                <a:cubicBezTo>
                  <a:pt x="4851400" y="1190625"/>
                  <a:pt x="4842320" y="1182435"/>
                  <a:pt x="4838700" y="1171575"/>
                </a:cubicBezTo>
                <a:cubicBezTo>
                  <a:pt x="4835525" y="1162050"/>
                  <a:pt x="4833130" y="1152228"/>
                  <a:pt x="4829175" y="1143000"/>
                </a:cubicBezTo>
                <a:cubicBezTo>
                  <a:pt x="4804280" y="1084912"/>
                  <a:pt x="4813229" y="1123738"/>
                  <a:pt x="4791075" y="1057275"/>
                </a:cubicBezTo>
                <a:cubicBezTo>
                  <a:pt x="4786935" y="1044856"/>
                  <a:pt x="4785312" y="1031714"/>
                  <a:pt x="4781550" y="1019175"/>
                </a:cubicBezTo>
                <a:cubicBezTo>
                  <a:pt x="4775780" y="999941"/>
                  <a:pt x="4767370" y="981506"/>
                  <a:pt x="4762500" y="962025"/>
                </a:cubicBezTo>
                <a:cubicBezTo>
                  <a:pt x="4756150" y="936625"/>
                  <a:pt x="4751150" y="910849"/>
                  <a:pt x="4743450" y="885825"/>
                </a:cubicBezTo>
                <a:cubicBezTo>
                  <a:pt x="4740570" y="876467"/>
                  <a:pt x="4714238" y="810766"/>
                  <a:pt x="4705350" y="800100"/>
                </a:cubicBezTo>
                <a:cubicBezTo>
                  <a:pt x="4687224" y="778349"/>
                  <a:pt x="4663476" y="778611"/>
                  <a:pt x="4638675" y="771525"/>
                </a:cubicBezTo>
                <a:cubicBezTo>
                  <a:pt x="4629021" y="768767"/>
                  <a:pt x="4619625" y="765175"/>
                  <a:pt x="4610100" y="762000"/>
                </a:cubicBezTo>
                <a:cubicBezTo>
                  <a:pt x="4597400" y="752475"/>
                  <a:pt x="4584918" y="742652"/>
                  <a:pt x="4572000" y="733425"/>
                </a:cubicBezTo>
                <a:cubicBezTo>
                  <a:pt x="4535561" y="707397"/>
                  <a:pt x="4517273" y="703722"/>
                  <a:pt x="4486275" y="657225"/>
                </a:cubicBezTo>
                <a:cubicBezTo>
                  <a:pt x="4444171" y="594070"/>
                  <a:pt x="4493655" y="664247"/>
                  <a:pt x="4438650" y="600075"/>
                </a:cubicBezTo>
                <a:cubicBezTo>
                  <a:pt x="4407117" y="563286"/>
                  <a:pt x="4416953" y="562944"/>
                  <a:pt x="4381500" y="533400"/>
                </a:cubicBezTo>
                <a:cubicBezTo>
                  <a:pt x="4372706" y="526071"/>
                  <a:pt x="4361719" y="521679"/>
                  <a:pt x="4352925" y="514350"/>
                </a:cubicBezTo>
                <a:cubicBezTo>
                  <a:pt x="4327290" y="492987"/>
                  <a:pt x="4326181" y="480239"/>
                  <a:pt x="4295775" y="466725"/>
                </a:cubicBezTo>
                <a:cubicBezTo>
                  <a:pt x="4211398" y="429224"/>
                  <a:pt x="4153912" y="443439"/>
                  <a:pt x="4048125" y="438150"/>
                </a:cubicBezTo>
                <a:cubicBezTo>
                  <a:pt x="4038600" y="434975"/>
                  <a:pt x="4029204" y="431383"/>
                  <a:pt x="4019550" y="428625"/>
                </a:cubicBezTo>
                <a:cubicBezTo>
                  <a:pt x="4006963" y="425029"/>
                  <a:pt x="3993159" y="424954"/>
                  <a:pt x="3981450" y="419100"/>
                </a:cubicBezTo>
                <a:cubicBezTo>
                  <a:pt x="3871850" y="364300"/>
                  <a:pt x="3969825" y="400211"/>
                  <a:pt x="3886200" y="352425"/>
                </a:cubicBezTo>
                <a:cubicBezTo>
                  <a:pt x="3877483" y="347444"/>
                  <a:pt x="3867150" y="346075"/>
                  <a:pt x="3857625" y="342900"/>
                </a:cubicBezTo>
                <a:cubicBezTo>
                  <a:pt x="3848100" y="333375"/>
                  <a:pt x="3839398" y="322949"/>
                  <a:pt x="3829050" y="314325"/>
                </a:cubicBezTo>
                <a:cubicBezTo>
                  <a:pt x="3820256" y="306996"/>
                  <a:pt x="3809790" y="301929"/>
                  <a:pt x="3800475" y="295275"/>
                </a:cubicBezTo>
                <a:cubicBezTo>
                  <a:pt x="3787557" y="286048"/>
                  <a:pt x="3775075" y="276225"/>
                  <a:pt x="3762375" y="266700"/>
                </a:cubicBezTo>
                <a:cubicBezTo>
                  <a:pt x="3752449" y="236923"/>
                  <a:pt x="3742823" y="199690"/>
                  <a:pt x="3714750" y="180975"/>
                </a:cubicBezTo>
                <a:cubicBezTo>
                  <a:pt x="3688975" y="163792"/>
                  <a:pt x="3678287" y="154960"/>
                  <a:pt x="3648075" y="142875"/>
                </a:cubicBezTo>
                <a:cubicBezTo>
                  <a:pt x="3629431" y="135417"/>
                  <a:pt x="3609975" y="130175"/>
                  <a:pt x="3590925" y="123825"/>
                </a:cubicBezTo>
                <a:cubicBezTo>
                  <a:pt x="3581400" y="120650"/>
                  <a:pt x="3572289" y="115720"/>
                  <a:pt x="3562350" y="114300"/>
                </a:cubicBezTo>
                <a:lnTo>
                  <a:pt x="3495675" y="104775"/>
                </a:lnTo>
                <a:cubicBezTo>
                  <a:pt x="3141145" y="112653"/>
                  <a:pt x="3052365" y="121662"/>
                  <a:pt x="2714625" y="104775"/>
                </a:cubicBezTo>
                <a:cubicBezTo>
                  <a:pt x="2704597" y="104274"/>
                  <a:pt x="2694827" y="100126"/>
                  <a:pt x="2686050" y="95250"/>
                </a:cubicBezTo>
                <a:cubicBezTo>
                  <a:pt x="2666036" y="84131"/>
                  <a:pt x="2647950" y="69850"/>
                  <a:pt x="2628900" y="57150"/>
                </a:cubicBezTo>
                <a:lnTo>
                  <a:pt x="2600325" y="38100"/>
                </a:lnTo>
                <a:cubicBezTo>
                  <a:pt x="2590800" y="31750"/>
                  <a:pt x="2582610" y="22670"/>
                  <a:pt x="2571750" y="19050"/>
                </a:cubicBezTo>
                <a:lnTo>
                  <a:pt x="2514600" y="0"/>
                </a:lnTo>
                <a:cubicBezTo>
                  <a:pt x="2438400" y="3175"/>
                  <a:pt x="2362058" y="3891"/>
                  <a:pt x="2286000" y="9525"/>
                </a:cubicBezTo>
                <a:cubicBezTo>
                  <a:pt x="2275987" y="10267"/>
                  <a:pt x="2293937" y="26988"/>
                  <a:pt x="2276475" y="28575"/>
                </a:cubicBezTo>
                <a:close/>
              </a:path>
            </a:pathLst>
          </a:custGeom>
          <a:solidFill>
            <a:srgbClr val="FFEC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B94AE4A-908E-FE4F-BE6E-247D6CEEA0B9}"/>
              </a:ext>
            </a:extLst>
          </p:cNvPr>
          <p:cNvSpPr txBox="1"/>
          <p:nvPr/>
        </p:nvSpPr>
        <p:spPr>
          <a:xfrm>
            <a:off x="3028950" y="2021562"/>
            <a:ext cx="4457700" cy="430887"/>
          </a:xfrm>
          <a:prstGeom prst="rect">
            <a:avLst/>
          </a:prstGeom>
          <a:noFill/>
        </p:spPr>
        <p:txBody>
          <a:bodyPr wrap="square" rtlCol="0">
            <a:spAutoFit/>
          </a:bodyPr>
          <a:lstStyle/>
          <a:p>
            <a:pPr algn="ctr"/>
            <a:r>
              <a:rPr lang="en-US" sz="2200" dirty="0"/>
              <a:t>this is </a:t>
            </a:r>
            <a:r>
              <a:rPr lang="en-US" sz="2200" b="1" dirty="0"/>
              <a:t>Useful Program Island.</a:t>
            </a:r>
          </a:p>
        </p:txBody>
      </p:sp>
      <p:sp>
        <p:nvSpPr>
          <p:cNvPr id="10" name="TextBox 9">
            <a:extLst>
              <a:ext uri="{FF2B5EF4-FFF2-40B4-BE49-F238E27FC236}">
                <a16:creationId xmlns:a16="http://schemas.microsoft.com/office/drawing/2014/main" id="{E101F134-FCCD-314A-85B3-E866042FF00E}"/>
              </a:ext>
            </a:extLst>
          </p:cNvPr>
          <p:cNvSpPr txBox="1"/>
          <p:nvPr/>
        </p:nvSpPr>
        <p:spPr>
          <a:xfrm>
            <a:off x="4157662" y="2648397"/>
            <a:ext cx="3829050" cy="769441"/>
          </a:xfrm>
          <a:prstGeom prst="rect">
            <a:avLst/>
          </a:prstGeom>
          <a:noFill/>
        </p:spPr>
        <p:txBody>
          <a:bodyPr wrap="square" rtlCol="0">
            <a:spAutoFit/>
          </a:bodyPr>
          <a:lstStyle/>
          <a:p>
            <a:pPr algn="ctr"/>
            <a:r>
              <a:rPr lang="en-US" sz="2200" b="1" dirty="0"/>
              <a:t>type systems</a:t>
            </a:r>
            <a:r>
              <a:rPr lang="en-US" sz="2200" dirty="0"/>
              <a:t> keep you safely on the island…</a:t>
            </a:r>
            <a:endParaRPr lang="en-US" sz="2200" b="1" dirty="0"/>
          </a:p>
        </p:txBody>
      </p:sp>
      <p:sp>
        <p:nvSpPr>
          <p:cNvPr id="12" name="TextBox 11">
            <a:extLst>
              <a:ext uri="{FF2B5EF4-FFF2-40B4-BE49-F238E27FC236}">
                <a16:creationId xmlns:a16="http://schemas.microsoft.com/office/drawing/2014/main" id="{AA79C765-09AB-2B46-A421-05C6FC909308}"/>
              </a:ext>
            </a:extLst>
          </p:cNvPr>
          <p:cNvSpPr txBox="1"/>
          <p:nvPr/>
        </p:nvSpPr>
        <p:spPr>
          <a:xfrm>
            <a:off x="3000375" y="3415754"/>
            <a:ext cx="6143625" cy="769441"/>
          </a:xfrm>
          <a:prstGeom prst="rect">
            <a:avLst/>
          </a:prstGeom>
          <a:noFill/>
        </p:spPr>
        <p:txBody>
          <a:bodyPr wrap="square" rtlCol="0">
            <a:spAutoFit/>
          </a:bodyPr>
          <a:lstStyle/>
          <a:p>
            <a:pPr algn="ctr"/>
            <a:r>
              <a:rPr lang="en-US" sz="2200" dirty="0"/>
              <a:t>…at the cost of preventing you from being able to write </a:t>
            </a:r>
            <a:r>
              <a:rPr lang="en-US" sz="2200" i="1" dirty="0"/>
              <a:t>all</a:t>
            </a:r>
            <a:r>
              <a:rPr lang="en-US" sz="2200" dirty="0"/>
              <a:t> useful programs. like this one.</a:t>
            </a:r>
          </a:p>
        </p:txBody>
      </p:sp>
      <p:sp>
        <p:nvSpPr>
          <p:cNvPr id="14" name="Rectangle 13">
            <a:extLst>
              <a:ext uri="{FF2B5EF4-FFF2-40B4-BE49-F238E27FC236}">
                <a16:creationId xmlns:a16="http://schemas.microsoft.com/office/drawing/2014/main" id="{BB41216B-3D8F-A94F-8954-600C47B75A69}"/>
              </a:ext>
            </a:extLst>
          </p:cNvPr>
          <p:cNvSpPr/>
          <p:nvPr/>
        </p:nvSpPr>
        <p:spPr>
          <a:xfrm>
            <a:off x="685800" y="2335886"/>
            <a:ext cx="1828800" cy="838200"/>
          </a:xfrm>
          <a:prstGeom prst="rect">
            <a:avLst/>
          </a:prstGeom>
          <a:solidFill>
            <a:schemeClr val="accent3">
              <a:lumMod val="75000"/>
            </a:schemeClr>
          </a:solidFill>
          <a:ln>
            <a:solidFill>
              <a:srgbClr val="7E38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t>Type System Town</a:t>
            </a:r>
          </a:p>
        </p:txBody>
      </p:sp>
      <p:sp>
        <p:nvSpPr>
          <p:cNvPr id="15" name="TextBox 14">
            <a:extLst>
              <a:ext uri="{FF2B5EF4-FFF2-40B4-BE49-F238E27FC236}">
                <a16:creationId xmlns:a16="http://schemas.microsoft.com/office/drawing/2014/main" id="{B8E5F1E5-06D7-A644-BF16-8D372DCE9B31}"/>
              </a:ext>
            </a:extLst>
          </p:cNvPr>
          <p:cNvSpPr txBox="1"/>
          <p:nvPr/>
        </p:nvSpPr>
        <p:spPr>
          <a:xfrm>
            <a:off x="1895475" y="3236532"/>
            <a:ext cx="402674" cy="461665"/>
          </a:xfrm>
          <a:prstGeom prst="rect">
            <a:avLst/>
          </a:prstGeom>
          <a:noFill/>
        </p:spPr>
        <p:txBody>
          <a:bodyPr wrap="none" rtlCol="0">
            <a:spAutoFit/>
          </a:bodyPr>
          <a:lstStyle/>
          <a:p>
            <a:r>
              <a:rPr lang="en-US" sz="2400" b="1" dirty="0">
                <a:solidFill>
                  <a:srgbClr val="FF0000"/>
                </a:solidFill>
              </a:rPr>
              <a:t>×</a:t>
            </a:r>
          </a:p>
        </p:txBody>
      </p:sp>
      <p:sp>
        <p:nvSpPr>
          <p:cNvPr id="17" name="Bent Arrow 16">
            <a:extLst>
              <a:ext uri="{FF2B5EF4-FFF2-40B4-BE49-F238E27FC236}">
                <a16:creationId xmlns:a16="http://schemas.microsoft.com/office/drawing/2014/main" id="{61C5FC4C-380D-D04D-99AF-7FF74E92F6DA}"/>
              </a:ext>
            </a:extLst>
          </p:cNvPr>
          <p:cNvSpPr/>
          <p:nvPr/>
        </p:nvSpPr>
        <p:spPr>
          <a:xfrm rot="16200000">
            <a:off x="2428121" y="3245361"/>
            <a:ext cx="298753" cy="1093409"/>
          </a:xfrm>
          <a:prstGeom prst="bentArrow">
            <a:avLst>
              <a:gd name="adj1" fmla="val 15435"/>
              <a:gd name="adj2" fmla="val 28188"/>
              <a:gd name="adj3" fmla="val 25000"/>
              <a:gd name="adj4" fmla="val 7500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TextBox 17">
            <a:extLst>
              <a:ext uri="{FF2B5EF4-FFF2-40B4-BE49-F238E27FC236}">
                <a16:creationId xmlns:a16="http://schemas.microsoft.com/office/drawing/2014/main" id="{97350F24-1CE6-2043-ADC7-8EBC3597848E}"/>
              </a:ext>
            </a:extLst>
          </p:cNvPr>
          <p:cNvSpPr txBox="1"/>
          <p:nvPr/>
        </p:nvSpPr>
        <p:spPr>
          <a:xfrm>
            <a:off x="3011872" y="4419538"/>
            <a:ext cx="5217728" cy="584775"/>
          </a:xfrm>
          <a:prstGeom prst="rect">
            <a:avLst/>
          </a:prstGeom>
          <a:noFill/>
        </p:spPr>
        <p:txBody>
          <a:bodyPr wrap="square" rtlCol="0">
            <a:spAutoFit/>
          </a:bodyPr>
          <a:lstStyle/>
          <a:p>
            <a:pPr algn="ctr"/>
            <a:r>
              <a:rPr lang="en-US" sz="1600" dirty="0"/>
              <a:t>but maybe these kinds of programs are too hard for humans to understand anyway, so no big loss?</a:t>
            </a:r>
          </a:p>
        </p:txBody>
      </p:sp>
    </p:spTree>
    <p:extLst>
      <p:ext uri="{BB962C8B-B14F-4D97-AF65-F5344CB8AC3E}">
        <p14:creationId xmlns:p14="http://schemas.microsoft.com/office/powerpoint/2010/main" val="170354913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8" grpId="0" animBg="1"/>
      <p:bldP spid="9" grpId="0"/>
      <p:bldP spid="10" grpId="0"/>
      <p:bldP spid="12" grpId="0"/>
      <p:bldP spid="14" grpId="0" animBg="1"/>
      <p:bldP spid="15" grpId="0"/>
      <p:bldP spid="17" grpId="0" animBg="1"/>
      <p:bldP spid="1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E5AB1-EBCB-3943-9D76-6F359092203E}"/>
              </a:ext>
            </a:extLst>
          </p:cNvPr>
          <p:cNvSpPr>
            <a:spLocks noGrp="1"/>
          </p:cNvSpPr>
          <p:nvPr>
            <p:ph type="title"/>
          </p:nvPr>
        </p:nvSpPr>
        <p:spPr/>
        <p:txBody>
          <a:bodyPr/>
          <a:lstStyle/>
          <a:p>
            <a:r>
              <a:rPr lang="en-US" dirty="0"/>
              <a:t>The soul of a programming language</a:t>
            </a:r>
          </a:p>
        </p:txBody>
      </p:sp>
      <p:sp>
        <p:nvSpPr>
          <p:cNvPr id="3" name="Content Placeholder 2">
            <a:extLst>
              <a:ext uri="{FF2B5EF4-FFF2-40B4-BE49-F238E27FC236}">
                <a16:creationId xmlns:a16="http://schemas.microsoft.com/office/drawing/2014/main" id="{E229EA9C-AC19-3B46-9612-7B73ED679088}"/>
              </a:ext>
            </a:extLst>
          </p:cNvPr>
          <p:cNvSpPr>
            <a:spLocks noGrp="1"/>
          </p:cNvSpPr>
          <p:nvPr>
            <p:ph idx="1"/>
          </p:nvPr>
        </p:nvSpPr>
        <p:spPr/>
        <p:txBody>
          <a:bodyPr/>
          <a:lstStyle/>
          <a:p>
            <a:r>
              <a:rPr lang="en-US" dirty="0"/>
              <a:t>the type system affects </a:t>
            </a:r>
            <a:r>
              <a:rPr lang="en-US" b="1" dirty="0"/>
              <a:t>every operation in the language.</a:t>
            </a:r>
          </a:p>
          <a:p>
            <a:r>
              <a:rPr lang="en-US" dirty="0"/>
              <a:t>the type system decides…</a:t>
            </a:r>
          </a:p>
          <a:p>
            <a:pPr lvl="1"/>
            <a:r>
              <a:rPr lang="en-US" dirty="0"/>
              <a:t>what kinds of variables can exist</a:t>
            </a:r>
          </a:p>
          <a:p>
            <a:pPr lvl="1"/>
            <a:r>
              <a:rPr lang="en-US" dirty="0"/>
              <a:t>what operators and methods you can use on them</a:t>
            </a:r>
          </a:p>
          <a:p>
            <a:pPr lvl="1"/>
            <a:r>
              <a:rPr lang="en-US" dirty="0"/>
              <a:t>how those operators do their work</a:t>
            </a:r>
          </a:p>
          <a:p>
            <a:pPr lvl="1"/>
            <a:r>
              <a:rPr lang="en-US" dirty="0"/>
              <a:t>how control structures work</a:t>
            </a:r>
          </a:p>
          <a:p>
            <a:r>
              <a:rPr lang="en-US" dirty="0"/>
              <a:t>the main difference between C and Java is their </a:t>
            </a:r>
            <a:r>
              <a:rPr lang="en-US" b="1" dirty="0"/>
              <a:t>type systems.</a:t>
            </a:r>
          </a:p>
          <a:p>
            <a:pPr lvl="1"/>
            <a:r>
              <a:rPr lang="en-US" dirty="0"/>
              <a:t>even though their syntax can look superficially similar…</a:t>
            </a:r>
          </a:p>
          <a:p>
            <a:pPr lvl="1"/>
            <a:r>
              <a:rPr lang="en-US" dirty="0"/>
              <a:t>the boundaries drawn by their type systems are completely different.</a:t>
            </a:r>
          </a:p>
        </p:txBody>
      </p:sp>
      <p:sp>
        <p:nvSpPr>
          <p:cNvPr id="4" name="Slide Number Placeholder 3">
            <a:extLst>
              <a:ext uri="{FF2B5EF4-FFF2-40B4-BE49-F238E27FC236}">
                <a16:creationId xmlns:a16="http://schemas.microsoft.com/office/drawing/2014/main" id="{D61CB9A0-843B-0F4A-9980-6E3CE5E704CF}"/>
              </a:ext>
            </a:extLst>
          </p:cNvPr>
          <p:cNvSpPr>
            <a:spLocks noGrp="1"/>
          </p:cNvSpPr>
          <p:nvPr>
            <p:ph type="sldNum" sz="quarter" idx="12"/>
          </p:nvPr>
        </p:nvSpPr>
        <p:spPr/>
        <p:txBody>
          <a:bodyPr/>
          <a:lstStyle/>
          <a:p>
            <a:fld id="{3552B95B-556F-44BD-91A5-D80C1B9E2BB3}" type="slidenum">
              <a:rPr lang="en-US" smtClean="0"/>
              <a:pPr/>
              <a:t>13</a:t>
            </a:fld>
            <a:endParaRPr lang="en-US"/>
          </a:p>
        </p:txBody>
      </p:sp>
    </p:spTree>
    <p:extLst>
      <p:ext uri="{BB962C8B-B14F-4D97-AF65-F5344CB8AC3E}">
        <p14:creationId xmlns:p14="http://schemas.microsoft.com/office/powerpoint/2010/main" val="93642248"/>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B0D31-97BF-8642-AB06-4ECA54C40D8A}"/>
              </a:ext>
            </a:extLst>
          </p:cNvPr>
          <p:cNvSpPr>
            <a:spLocks noGrp="1"/>
          </p:cNvSpPr>
          <p:nvPr>
            <p:ph type="ctrTitle"/>
          </p:nvPr>
        </p:nvSpPr>
        <p:spPr/>
        <p:txBody>
          <a:bodyPr/>
          <a:lstStyle/>
          <a:p>
            <a:r>
              <a:rPr lang="en-US" dirty="0"/>
              <a:t>Type systems</a:t>
            </a:r>
          </a:p>
        </p:txBody>
      </p:sp>
      <p:sp>
        <p:nvSpPr>
          <p:cNvPr id="3" name="Slide Number Placeholder 2">
            <a:extLst>
              <a:ext uri="{FF2B5EF4-FFF2-40B4-BE49-F238E27FC236}">
                <a16:creationId xmlns:a16="http://schemas.microsoft.com/office/drawing/2014/main" id="{17341B88-F192-5548-A7AB-D82FD0C33FEE}"/>
              </a:ext>
            </a:extLst>
          </p:cNvPr>
          <p:cNvSpPr>
            <a:spLocks noGrp="1"/>
          </p:cNvSpPr>
          <p:nvPr>
            <p:ph type="sldNum" sz="quarter" idx="12"/>
          </p:nvPr>
        </p:nvSpPr>
        <p:spPr/>
        <p:txBody>
          <a:bodyPr/>
          <a:lstStyle/>
          <a:p>
            <a:fld id="{3552B95B-556F-44BD-91A5-D80C1B9E2BB3}" type="slidenum">
              <a:rPr lang="en-US" smtClean="0"/>
              <a:pPr/>
              <a:t>14</a:t>
            </a:fld>
            <a:endParaRPr lang="en-US"/>
          </a:p>
        </p:txBody>
      </p:sp>
    </p:spTree>
    <p:extLst>
      <p:ext uri="{BB962C8B-B14F-4D97-AF65-F5344CB8AC3E}">
        <p14:creationId xmlns:p14="http://schemas.microsoft.com/office/powerpoint/2010/main" val="3696011895"/>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3597B-2D27-4248-B0CA-95BDBC3C7A5D}"/>
              </a:ext>
            </a:extLst>
          </p:cNvPr>
          <p:cNvSpPr>
            <a:spLocks noGrp="1"/>
          </p:cNvSpPr>
          <p:nvPr>
            <p:ph type="title"/>
          </p:nvPr>
        </p:nvSpPr>
        <p:spPr/>
        <p:txBody>
          <a:bodyPr/>
          <a:lstStyle/>
          <a:p>
            <a:r>
              <a:rPr lang="en-US" dirty="0"/>
              <a:t>Primitive types</a:t>
            </a:r>
          </a:p>
        </p:txBody>
      </p:sp>
      <p:sp>
        <p:nvSpPr>
          <p:cNvPr id="3" name="Content Placeholder 2">
            <a:extLst>
              <a:ext uri="{FF2B5EF4-FFF2-40B4-BE49-F238E27FC236}">
                <a16:creationId xmlns:a16="http://schemas.microsoft.com/office/drawing/2014/main" id="{4D984559-EACD-094D-9435-1929546F32FB}"/>
              </a:ext>
            </a:extLst>
          </p:cNvPr>
          <p:cNvSpPr>
            <a:spLocks noGrp="1"/>
          </p:cNvSpPr>
          <p:nvPr>
            <p:ph idx="1"/>
          </p:nvPr>
        </p:nvSpPr>
        <p:spPr>
          <a:xfrm>
            <a:off x="152400" y="495302"/>
            <a:ext cx="8991600" cy="833540"/>
          </a:xfrm>
        </p:spPr>
        <p:txBody>
          <a:bodyPr/>
          <a:lstStyle/>
          <a:p>
            <a:r>
              <a:rPr lang="en-US" dirty="0"/>
              <a:t>every language considers some types to be </a:t>
            </a:r>
            <a:r>
              <a:rPr lang="en-US" b="1" dirty="0"/>
              <a:t>primitive, </a:t>
            </a:r>
            <a:r>
              <a:rPr lang="en-US" dirty="0"/>
              <a:t>or </a:t>
            </a:r>
            <a:r>
              <a:rPr lang="en-US" b="1" dirty="0"/>
              <a:t>fundamental. </a:t>
            </a:r>
            <a:r>
              <a:rPr lang="en-US" dirty="0"/>
              <a:t>they cannot be broken into any simpler parts.</a:t>
            </a:r>
          </a:p>
        </p:txBody>
      </p:sp>
      <p:sp>
        <p:nvSpPr>
          <p:cNvPr id="4" name="Slide Number Placeholder 3">
            <a:extLst>
              <a:ext uri="{FF2B5EF4-FFF2-40B4-BE49-F238E27FC236}">
                <a16:creationId xmlns:a16="http://schemas.microsoft.com/office/drawing/2014/main" id="{CD7909ED-7005-794E-93EF-2EC26D63F8A0}"/>
              </a:ext>
            </a:extLst>
          </p:cNvPr>
          <p:cNvSpPr>
            <a:spLocks noGrp="1"/>
          </p:cNvSpPr>
          <p:nvPr>
            <p:ph type="sldNum" sz="quarter" idx="12"/>
          </p:nvPr>
        </p:nvSpPr>
        <p:spPr/>
        <p:txBody>
          <a:bodyPr/>
          <a:lstStyle/>
          <a:p>
            <a:fld id="{3552B95B-556F-44BD-91A5-D80C1B9E2BB3}" type="slidenum">
              <a:rPr lang="en-US" smtClean="0"/>
              <a:pPr/>
              <a:t>15</a:t>
            </a:fld>
            <a:endParaRPr lang="en-US"/>
          </a:p>
        </p:txBody>
      </p:sp>
      <p:sp>
        <p:nvSpPr>
          <p:cNvPr id="5" name="TextBox 4">
            <a:extLst>
              <a:ext uri="{FF2B5EF4-FFF2-40B4-BE49-F238E27FC236}">
                <a16:creationId xmlns:a16="http://schemas.microsoft.com/office/drawing/2014/main" id="{C51CEA20-EA52-A24D-880A-821BED9F8DBD}"/>
              </a:ext>
            </a:extLst>
          </p:cNvPr>
          <p:cNvSpPr txBox="1"/>
          <p:nvPr/>
        </p:nvSpPr>
        <p:spPr>
          <a:xfrm>
            <a:off x="4495800" y="1396530"/>
            <a:ext cx="2743200" cy="400110"/>
          </a:xfrm>
          <a:prstGeom prst="rect">
            <a:avLst/>
          </a:prstGeom>
          <a:noFill/>
        </p:spPr>
        <p:txBody>
          <a:bodyPr wrap="square" rtlCol="0">
            <a:spAutoFit/>
          </a:bodyPr>
          <a:lstStyle/>
          <a:p>
            <a:r>
              <a:rPr lang="en-US" sz="2000" b="1" dirty="0" err="1">
                <a:solidFill>
                  <a:srgbClr val="FF0000"/>
                </a:solidFill>
                <a:latin typeface="Consolas" panose="020B0609020204030204" pitchFamily="49" charset="0"/>
                <a:cs typeface="Consolas" panose="020B0609020204030204" pitchFamily="49" charset="0"/>
              </a:rPr>
              <a:t>lw</a:t>
            </a:r>
            <a:r>
              <a:rPr lang="en-US" sz="2000" b="1" dirty="0">
                <a:latin typeface="Consolas" panose="020B0609020204030204" pitchFamily="49" charset="0"/>
                <a:cs typeface="Consolas" panose="020B0609020204030204" pitchFamily="49" charset="0"/>
              </a:rPr>
              <a:t>  $t0, </a:t>
            </a:r>
            <a:r>
              <a:rPr lang="en-US" sz="2000" b="1" dirty="0" err="1">
                <a:latin typeface="Consolas" panose="020B0609020204030204" pitchFamily="49" charset="0"/>
                <a:cs typeface="Consolas" panose="020B0609020204030204" pitchFamily="49" charset="0"/>
              </a:rPr>
              <a:t>int_var</a:t>
            </a:r>
            <a:endParaRPr lang="en-US" sz="2000" b="1" dirty="0">
              <a:latin typeface="Consolas" panose="020B0609020204030204" pitchFamily="49" charset="0"/>
              <a:cs typeface="Consolas" panose="020B0609020204030204" pitchFamily="49" charset="0"/>
            </a:endParaRPr>
          </a:p>
        </p:txBody>
      </p:sp>
      <p:sp>
        <p:nvSpPr>
          <p:cNvPr id="6" name="TextBox 5">
            <a:extLst>
              <a:ext uri="{FF2B5EF4-FFF2-40B4-BE49-F238E27FC236}">
                <a16:creationId xmlns:a16="http://schemas.microsoft.com/office/drawing/2014/main" id="{08895198-F6DB-B841-AB61-849F71EAB9CE}"/>
              </a:ext>
            </a:extLst>
          </p:cNvPr>
          <p:cNvSpPr txBox="1"/>
          <p:nvPr/>
        </p:nvSpPr>
        <p:spPr>
          <a:xfrm>
            <a:off x="4495800" y="1785602"/>
            <a:ext cx="2999332" cy="400110"/>
          </a:xfrm>
          <a:prstGeom prst="rect">
            <a:avLst/>
          </a:prstGeom>
          <a:noFill/>
        </p:spPr>
        <p:txBody>
          <a:bodyPr wrap="square" rtlCol="0">
            <a:spAutoFit/>
          </a:bodyPr>
          <a:lstStyle/>
          <a:p>
            <a:r>
              <a:rPr lang="en-US" sz="2000" b="1" dirty="0" err="1">
                <a:solidFill>
                  <a:srgbClr val="FF0000"/>
                </a:solidFill>
                <a:latin typeface="Consolas" panose="020B0609020204030204" pitchFamily="49" charset="0"/>
                <a:cs typeface="Consolas" panose="020B0609020204030204" pitchFamily="49" charset="0"/>
              </a:rPr>
              <a:t>l.s</a:t>
            </a:r>
            <a:r>
              <a:rPr lang="en-US" sz="2000" b="1" dirty="0">
                <a:latin typeface="Consolas" panose="020B0609020204030204" pitchFamily="49" charset="0"/>
                <a:cs typeface="Consolas" panose="020B0609020204030204" pitchFamily="49" charset="0"/>
              </a:rPr>
              <a:t> $f0, </a:t>
            </a:r>
            <a:r>
              <a:rPr lang="en-US" sz="2000" b="1" dirty="0" err="1">
                <a:latin typeface="Consolas" panose="020B0609020204030204" pitchFamily="49" charset="0"/>
                <a:cs typeface="Consolas" panose="020B0609020204030204" pitchFamily="49" charset="0"/>
              </a:rPr>
              <a:t>float_var</a:t>
            </a:r>
            <a:endParaRPr lang="en-US" sz="2000" b="1" dirty="0">
              <a:latin typeface="Consolas" panose="020B0609020204030204" pitchFamily="49" charset="0"/>
              <a:cs typeface="Consolas" panose="020B0609020204030204" pitchFamily="49" charset="0"/>
            </a:endParaRPr>
          </a:p>
        </p:txBody>
      </p:sp>
      <p:sp>
        <p:nvSpPr>
          <p:cNvPr id="7" name="TextBox 6">
            <a:extLst>
              <a:ext uri="{FF2B5EF4-FFF2-40B4-BE49-F238E27FC236}">
                <a16:creationId xmlns:a16="http://schemas.microsoft.com/office/drawing/2014/main" id="{A619E573-FF22-924C-9BC5-CE749D351BEE}"/>
              </a:ext>
            </a:extLst>
          </p:cNvPr>
          <p:cNvSpPr txBox="1"/>
          <p:nvPr/>
        </p:nvSpPr>
        <p:spPr>
          <a:xfrm>
            <a:off x="209550" y="1416271"/>
            <a:ext cx="4438650" cy="769441"/>
          </a:xfrm>
          <a:prstGeom prst="rect">
            <a:avLst/>
          </a:prstGeom>
          <a:noFill/>
        </p:spPr>
        <p:txBody>
          <a:bodyPr wrap="square" rtlCol="0">
            <a:spAutoFit/>
          </a:bodyPr>
          <a:lstStyle/>
          <a:p>
            <a:pPr algn="ctr"/>
            <a:r>
              <a:rPr lang="en-US" sz="2200" dirty="0"/>
              <a:t>some, like </a:t>
            </a:r>
            <a:r>
              <a:rPr lang="en-US" sz="2200" b="1" dirty="0" err="1"/>
              <a:t>ints</a:t>
            </a:r>
            <a:r>
              <a:rPr lang="en-US" sz="2200" dirty="0"/>
              <a:t> and </a:t>
            </a:r>
            <a:r>
              <a:rPr lang="en-US" sz="2200" b="1" dirty="0"/>
              <a:t>floats</a:t>
            </a:r>
            <a:r>
              <a:rPr lang="en-US" sz="2200" dirty="0"/>
              <a:t>, are derived from the CPU's abilities.</a:t>
            </a:r>
          </a:p>
        </p:txBody>
      </p:sp>
      <p:sp>
        <p:nvSpPr>
          <p:cNvPr id="8" name="TextBox 7">
            <a:extLst>
              <a:ext uri="{FF2B5EF4-FFF2-40B4-BE49-F238E27FC236}">
                <a16:creationId xmlns:a16="http://schemas.microsoft.com/office/drawing/2014/main" id="{7AB7AE00-CFD1-5546-83BB-771AD641815D}"/>
              </a:ext>
            </a:extLst>
          </p:cNvPr>
          <p:cNvSpPr txBox="1"/>
          <p:nvPr/>
        </p:nvSpPr>
        <p:spPr>
          <a:xfrm>
            <a:off x="895350" y="2273141"/>
            <a:ext cx="5124450" cy="769441"/>
          </a:xfrm>
          <a:prstGeom prst="rect">
            <a:avLst/>
          </a:prstGeom>
          <a:noFill/>
        </p:spPr>
        <p:txBody>
          <a:bodyPr wrap="square" rtlCol="0">
            <a:spAutoFit/>
          </a:bodyPr>
          <a:lstStyle/>
          <a:p>
            <a:pPr algn="ctr"/>
            <a:r>
              <a:rPr lang="en-US" sz="2200" dirty="0"/>
              <a:t>others, like </a:t>
            </a:r>
            <a:r>
              <a:rPr lang="en-US" sz="2200" b="1" dirty="0"/>
              <a:t>bools</a:t>
            </a:r>
            <a:r>
              <a:rPr lang="en-US" sz="2200" dirty="0"/>
              <a:t> and </a:t>
            </a:r>
            <a:r>
              <a:rPr lang="en-US" sz="2200" b="1" dirty="0"/>
              <a:t>chars</a:t>
            </a:r>
            <a:r>
              <a:rPr lang="en-US" sz="2200" dirty="0"/>
              <a:t>, are simple </a:t>
            </a:r>
            <a:r>
              <a:rPr lang="en-US" sz="2200" i="1" dirty="0"/>
              <a:t>abstractions </a:t>
            </a:r>
            <a:r>
              <a:rPr lang="en-US" sz="2200" dirty="0"/>
              <a:t>on top of those…</a:t>
            </a:r>
          </a:p>
        </p:txBody>
      </p:sp>
      <p:sp>
        <p:nvSpPr>
          <p:cNvPr id="9" name="TextBox 8">
            <a:extLst>
              <a:ext uri="{FF2B5EF4-FFF2-40B4-BE49-F238E27FC236}">
                <a16:creationId xmlns:a16="http://schemas.microsoft.com/office/drawing/2014/main" id="{24697479-3DE2-BE44-B089-0F00CC7FA869}"/>
              </a:ext>
            </a:extLst>
          </p:cNvPr>
          <p:cNvSpPr txBox="1"/>
          <p:nvPr/>
        </p:nvSpPr>
        <p:spPr>
          <a:xfrm>
            <a:off x="2133600" y="3130011"/>
            <a:ext cx="6191250" cy="1107996"/>
          </a:xfrm>
          <a:prstGeom prst="rect">
            <a:avLst/>
          </a:prstGeom>
          <a:noFill/>
        </p:spPr>
        <p:txBody>
          <a:bodyPr wrap="square" rtlCol="0">
            <a:spAutoFit/>
          </a:bodyPr>
          <a:lstStyle/>
          <a:p>
            <a:pPr algn="ctr"/>
            <a:r>
              <a:rPr lang="en-US" sz="2200" dirty="0"/>
              <a:t>but they help us encode </a:t>
            </a:r>
            <a:r>
              <a:rPr lang="en-US" sz="2200" i="1" dirty="0"/>
              <a:t>intent</a:t>
            </a:r>
            <a:r>
              <a:rPr lang="en-US" sz="2200" dirty="0"/>
              <a:t> into our programs, and intent helps us better understand our own code (and the code that others write).</a:t>
            </a:r>
          </a:p>
        </p:txBody>
      </p:sp>
      <p:sp>
        <p:nvSpPr>
          <p:cNvPr id="11" name="TextBox 10">
            <a:extLst>
              <a:ext uri="{FF2B5EF4-FFF2-40B4-BE49-F238E27FC236}">
                <a16:creationId xmlns:a16="http://schemas.microsoft.com/office/drawing/2014/main" id="{AEF82F8C-1E21-4941-A75E-6C493734EE4E}"/>
              </a:ext>
            </a:extLst>
          </p:cNvPr>
          <p:cNvSpPr txBox="1"/>
          <p:nvPr/>
        </p:nvSpPr>
        <p:spPr>
          <a:xfrm>
            <a:off x="3437697" y="4318470"/>
            <a:ext cx="4246394" cy="430887"/>
          </a:xfrm>
          <a:prstGeom prst="rect">
            <a:avLst/>
          </a:prstGeom>
          <a:noFill/>
        </p:spPr>
        <p:txBody>
          <a:bodyPr wrap="square" rtlCol="0">
            <a:spAutoFit/>
          </a:bodyPr>
          <a:lstStyle/>
          <a:p>
            <a:r>
              <a:rPr lang="en-US" sz="2200" b="1" dirty="0">
                <a:solidFill>
                  <a:srgbClr val="FF0000"/>
                </a:solidFill>
                <a:latin typeface="Consolas" panose="020B0609020204030204" pitchFamily="49" charset="0"/>
                <a:cs typeface="Consolas" panose="020B0609020204030204" pitchFamily="49" charset="0"/>
              </a:rPr>
              <a:t>int</a:t>
            </a:r>
            <a:r>
              <a:rPr lang="en-US" sz="2200" b="1" dirty="0">
                <a:latin typeface="Consolas" panose="020B0609020204030204" pitchFamily="49" charset="0"/>
                <a:cs typeface="Consolas" panose="020B0609020204030204" pitchFamily="49" charset="0"/>
              </a:rPr>
              <a:t> </a:t>
            </a:r>
            <a:r>
              <a:rPr lang="en-US" sz="2200" b="1" dirty="0" err="1">
                <a:latin typeface="Consolas" panose="020B0609020204030204" pitchFamily="49" charset="0"/>
                <a:cs typeface="Consolas" panose="020B0609020204030204" pitchFamily="49" charset="0"/>
              </a:rPr>
              <a:t>isDone</a:t>
            </a:r>
            <a:r>
              <a:rPr lang="en-US" sz="2200" b="1" dirty="0">
                <a:latin typeface="Consolas" panose="020B0609020204030204" pitchFamily="49" charset="0"/>
                <a:cs typeface="Consolas" panose="020B0609020204030204" pitchFamily="49" charset="0"/>
              </a:rPr>
              <a:t> = </a:t>
            </a:r>
            <a:r>
              <a:rPr lang="en-US" sz="2200" b="1" dirty="0">
                <a:solidFill>
                  <a:schemeClr val="accent3">
                    <a:lumMod val="75000"/>
                  </a:schemeClr>
                </a:solidFill>
                <a:latin typeface="Consolas" panose="020B0609020204030204" pitchFamily="49" charset="0"/>
                <a:cs typeface="Consolas" panose="020B0609020204030204" pitchFamily="49" charset="0"/>
              </a:rPr>
              <a:t>0</a:t>
            </a:r>
            <a:r>
              <a:rPr lang="en-US" sz="2200" b="1" dirty="0">
                <a:latin typeface="Consolas" panose="020B0609020204030204" pitchFamily="49" charset="0"/>
                <a:cs typeface="Consolas" panose="020B0609020204030204" pitchFamily="49" charset="0"/>
              </a:rPr>
              <a:t>; </a:t>
            </a:r>
            <a:r>
              <a:rPr lang="en-US" sz="2200" i="1" dirty="0">
                <a:solidFill>
                  <a:schemeClr val="accent3">
                    <a:lumMod val="50000"/>
                  </a:schemeClr>
                </a:solidFill>
                <a:latin typeface="Consolas" panose="020B0609020204030204" pitchFamily="49" charset="0"/>
                <a:cs typeface="Consolas" panose="020B0609020204030204" pitchFamily="49" charset="0"/>
              </a:rPr>
              <a:t>// ??</a:t>
            </a:r>
          </a:p>
        </p:txBody>
      </p:sp>
      <p:sp>
        <p:nvSpPr>
          <p:cNvPr id="14" name="TextBox 13">
            <a:extLst>
              <a:ext uri="{FF2B5EF4-FFF2-40B4-BE49-F238E27FC236}">
                <a16:creationId xmlns:a16="http://schemas.microsoft.com/office/drawing/2014/main" id="{F1014315-6A9B-A842-80BA-D423C9831A4B}"/>
              </a:ext>
            </a:extLst>
          </p:cNvPr>
          <p:cNvSpPr txBox="1"/>
          <p:nvPr/>
        </p:nvSpPr>
        <p:spPr>
          <a:xfrm>
            <a:off x="3457574" y="4749357"/>
            <a:ext cx="5153026" cy="430887"/>
          </a:xfrm>
          <a:prstGeom prst="rect">
            <a:avLst/>
          </a:prstGeom>
          <a:noFill/>
        </p:spPr>
        <p:txBody>
          <a:bodyPr wrap="square" rtlCol="0">
            <a:spAutoFit/>
          </a:bodyPr>
          <a:lstStyle/>
          <a:p>
            <a:r>
              <a:rPr lang="en-US" sz="2200" b="1" dirty="0">
                <a:solidFill>
                  <a:srgbClr val="FF0000"/>
                </a:solidFill>
                <a:latin typeface="Consolas" panose="020B0609020204030204" pitchFamily="49" charset="0"/>
                <a:cs typeface="Consolas" panose="020B0609020204030204" pitchFamily="49" charset="0"/>
              </a:rPr>
              <a:t>bool</a:t>
            </a:r>
            <a:r>
              <a:rPr lang="en-US" sz="2200" b="1" dirty="0">
                <a:latin typeface="Consolas" panose="020B0609020204030204" pitchFamily="49" charset="0"/>
                <a:cs typeface="Consolas" panose="020B0609020204030204" pitchFamily="49" charset="0"/>
              </a:rPr>
              <a:t> </a:t>
            </a:r>
            <a:r>
              <a:rPr lang="en-US" sz="2200" b="1" dirty="0" err="1">
                <a:latin typeface="Consolas" panose="020B0609020204030204" pitchFamily="49" charset="0"/>
                <a:cs typeface="Consolas" panose="020B0609020204030204" pitchFamily="49" charset="0"/>
              </a:rPr>
              <a:t>isDone</a:t>
            </a:r>
            <a:r>
              <a:rPr lang="en-US" sz="2200" b="1" dirty="0">
                <a:latin typeface="Consolas" panose="020B0609020204030204" pitchFamily="49" charset="0"/>
                <a:cs typeface="Consolas" panose="020B0609020204030204" pitchFamily="49" charset="0"/>
              </a:rPr>
              <a:t> = </a:t>
            </a:r>
            <a:r>
              <a:rPr lang="en-US" sz="2200" b="1" dirty="0">
                <a:solidFill>
                  <a:srgbClr val="FF0000"/>
                </a:solidFill>
                <a:latin typeface="Consolas" panose="020B0609020204030204" pitchFamily="49" charset="0"/>
                <a:cs typeface="Consolas" panose="020B0609020204030204" pitchFamily="49" charset="0"/>
              </a:rPr>
              <a:t>false</a:t>
            </a:r>
            <a:r>
              <a:rPr lang="en-US" sz="2200" b="1" dirty="0">
                <a:latin typeface="Consolas" panose="020B0609020204030204" pitchFamily="49" charset="0"/>
                <a:cs typeface="Consolas" panose="020B0609020204030204" pitchFamily="49" charset="0"/>
              </a:rPr>
              <a:t>; </a:t>
            </a:r>
            <a:r>
              <a:rPr lang="en-US" sz="2200" i="1" dirty="0">
                <a:solidFill>
                  <a:schemeClr val="accent3">
                    <a:lumMod val="50000"/>
                  </a:schemeClr>
                </a:solidFill>
                <a:latin typeface="Consolas" panose="020B0609020204030204" pitchFamily="49" charset="0"/>
                <a:cs typeface="Consolas" panose="020B0609020204030204" pitchFamily="49" charset="0"/>
              </a:rPr>
              <a:t>// better.</a:t>
            </a:r>
          </a:p>
        </p:txBody>
      </p:sp>
    </p:spTree>
    <p:extLst>
      <p:ext uri="{BB962C8B-B14F-4D97-AF65-F5344CB8AC3E}">
        <p14:creationId xmlns:p14="http://schemas.microsoft.com/office/powerpoint/2010/main" val="268547130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1" grpId="0"/>
      <p:bldP spid="1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EDB1D-A7F0-BA4B-9BA4-2458B9D25971}"/>
              </a:ext>
            </a:extLst>
          </p:cNvPr>
          <p:cNvSpPr>
            <a:spLocks noGrp="1"/>
          </p:cNvSpPr>
          <p:nvPr>
            <p:ph type="title"/>
          </p:nvPr>
        </p:nvSpPr>
        <p:spPr/>
        <p:txBody>
          <a:bodyPr/>
          <a:lstStyle/>
          <a:p>
            <a:r>
              <a:rPr lang="en-US" dirty="0"/>
              <a:t>Compound types</a:t>
            </a:r>
          </a:p>
        </p:txBody>
      </p:sp>
      <p:sp>
        <p:nvSpPr>
          <p:cNvPr id="3" name="Content Placeholder 2">
            <a:extLst>
              <a:ext uri="{FF2B5EF4-FFF2-40B4-BE49-F238E27FC236}">
                <a16:creationId xmlns:a16="http://schemas.microsoft.com/office/drawing/2014/main" id="{8F9748BC-F201-4E40-A154-3DB3A08453C5}"/>
              </a:ext>
            </a:extLst>
          </p:cNvPr>
          <p:cNvSpPr>
            <a:spLocks noGrp="1"/>
          </p:cNvSpPr>
          <p:nvPr>
            <p:ph idx="1"/>
          </p:nvPr>
        </p:nvSpPr>
        <p:spPr>
          <a:xfrm>
            <a:off x="152400" y="495301"/>
            <a:ext cx="8991600" cy="1295399"/>
          </a:xfrm>
        </p:spPr>
        <p:txBody>
          <a:bodyPr/>
          <a:lstStyle/>
          <a:p>
            <a:r>
              <a:rPr lang="en-US" b="1" dirty="0"/>
              <a:t>compound </a:t>
            </a:r>
            <a:r>
              <a:rPr lang="en-US" dirty="0"/>
              <a:t>types are composed of two or more primitive types.</a:t>
            </a:r>
          </a:p>
          <a:p>
            <a:pPr lvl="1"/>
            <a:r>
              <a:rPr lang="en-US" dirty="0"/>
              <a:t>you can think of primitive and compound types like </a:t>
            </a:r>
            <a:r>
              <a:rPr lang="en-US" b="1" dirty="0"/>
              <a:t>atoms and molecules: </a:t>
            </a:r>
            <a:r>
              <a:rPr lang="en-US" dirty="0"/>
              <a:t>multiple atoms make up a molecule.</a:t>
            </a:r>
          </a:p>
        </p:txBody>
      </p:sp>
      <p:sp>
        <p:nvSpPr>
          <p:cNvPr id="4" name="Slide Number Placeholder 3">
            <a:extLst>
              <a:ext uri="{FF2B5EF4-FFF2-40B4-BE49-F238E27FC236}">
                <a16:creationId xmlns:a16="http://schemas.microsoft.com/office/drawing/2014/main" id="{745F2C49-D8B8-3945-A60A-863AE6CAE3DE}"/>
              </a:ext>
            </a:extLst>
          </p:cNvPr>
          <p:cNvSpPr>
            <a:spLocks noGrp="1"/>
          </p:cNvSpPr>
          <p:nvPr>
            <p:ph type="sldNum" sz="quarter" idx="12"/>
          </p:nvPr>
        </p:nvSpPr>
        <p:spPr/>
        <p:txBody>
          <a:bodyPr/>
          <a:lstStyle/>
          <a:p>
            <a:fld id="{3552B95B-556F-44BD-91A5-D80C1B9E2BB3}" type="slidenum">
              <a:rPr lang="en-US" smtClean="0"/>
              <a:pPr/>
              <a:t>16</a:t>
            </a:fld>
            <a:endParaRPr lang="en-US"/>
          </a:p>
        </p:txBody>
      </p:sp>
      <p:sp>
        <p:nvSpPr>
          <p:cNvPr id="5" name="TextBox 4">
            <a:extLst>
              <a:ext uri="{FF2B5EF4-FFF2-40B4-BE49-F238E27FC236}">
                <a16:creationId xmlns:a16="http://schemas.microsoft.com/office/drawing/2014/main" id="{36122D52-36B9-0D45-9C24-E1D68FD45348}"/>
              </a:ext>
            </a:extLst>
          </p:cNvPr>
          <p:cNvSpPr txBox="1"/>
          <p:nvPr/>
        </p:nvSpPr>
        <p:spPr>
          <a:xfrm>
            <a:off x="685800" y="1790700"/>
            <a:ext cx="2514600" cy="1446550"/>
          </a:xfrm>
          <a:prstGeom prst="rect">
            <a:avLst/>
          </a:prstGeom>
          <a:noFill/>
        </p:spPr>
        <p:txBody>
          <a:bodyPr wrap="square" rtlCol="0">
            <a:spAutoFit/>
          </a:bodyPr>
          <a:lstStyle/>
          <a:p>
            <a:r>
              <a:rPr lang="en-US" sz="2200" b="1" dirty="0">
                <a:solidFill>
                  <a:srgbClr val="FF0000"/>
                </a:solidFill>
                <a:latin typeface="Consolas" panose="020B0609020204030204" pitchFamily="49" charset="0"/>
                <a:cs typeface="Consolas" panose="020B0609020204030204" pitchFamily="49" charset="0"/>
              </a:rPr>
              <a:t>struct</a:t>
            </a:r>
            <a:r>
              <a:rPr lang="en-US" sz="2200" b="1" dirty="0">
                <a:latin typeface="Consolas" panose="020B0609020204030204" pitchFamily="49" charset="0"/>
                <a:cs typeface="Consolas" panose="020B0609020204030204" pitchFamily="49" charset="0"/>
              </a:rPr>
              <a:t> Point {</a:t>
            </a:r>
          </a:p>
          <a:p>
            <a:r>
              <a:rPr lang="en-US" sz="2200" b="1" dirty="0">
                <a:latin typeface="Consolas" panose="020B0609020204030204" pitchFamily="49" charset="0"/>
                <a:cs typeface="Consolas" panose="020B0609020204030204" pitchFamily="49" charset="0"/>
              </a:rPr>
              <a:t>  x: </a:t>
            </a:r>
            <a:r>
              <a:rPr lang="en-US" sz="2200" b="1" dirty="0">
                <a:solidFill>
                  <a:srgbClr val="FF0000"/>
                </a:solidFill>
                <a:latin typeface="Consolas" panose="020B0609020204030204" pitchFamily="49" charset="0"/>
                <a:cs typeface="Consolas" panose="020B0609020204030204" pitchFamily="49" charset="0"/>
              </a:rPr>
              <a:t>i32</a:t>
            </a:r>
            <a:r>
              <a:rPr lang="en-US" sz="2200" b="1" dirty="0">
                <a:latin typeface="Consolas" panose="020B0609020204030204" pitchFamily="49" charset="0"/>
                <a:cs typeface="Consolas" panose="020B0609020204030204" pitchFamily="49" charset="0"/>
              </a:rPr>
              <a:t>, </a:t>
            </a:r>
          </a:p>
          <a:p>
            <a:r>
              <a:rPr lang="en-US" sz="2200" b="1" dirty="0">
                <a:latin typeface="Consolas" panose="020B0609020204030204" pitchFamily="49" charset="0"/>
                <a:cs typeface="Consolas" panose="020B0609020204030204" pitchFamily="49" charset="0"/>
              </a:rPr>
              <a:t>  y: </a:t>
            </a:r>
            <a:r>
              <a:rPr lang="en-US" sz="2200" b="1" dirty="0">
                <a:solidFill>
                  <a:srgbClr val="FF0000"/>
                </a:solidFill>
                <a:latin typeface="Consolas" panose="020B0609020204030204" pitchFamily="49" charset="0"/>
                <a:cs typeface="Consolas" panose="020B0609020204030204" pitchFamily="49" charset="0"/>
              </a:rPr>
              <a:t>i32</a:t>
            </a:r>
            <a:r>
              <a:rPr lang="en-US" sz="2200" b="1" dirty="0">
                <a:latin typeface="Consolas" panose="020B0609020204030204" pitchFamily="49" charset="0"/>
                <a:cs typeface="Consolas" panose="020B0609020204030204" pitchFamily="49" charset="0"/>
              </a:rPr>
              <a:t>,</a:t>
            </a:r>
          </a:p>
          <a:p>
            <a:r>
              <a:rPr lang="en-US" sz="2200" b="1" dirty="0">
                <a:latin typeface="Consolas" panose="020B0609020204030204" pitchFamily="49" charset="0"/>
                <a:cs typeface="Consolas" panose="020B0609020204030204" pitchFamily="49" charset="0"/>
              </a:rPr>
              <a:t>}</a:t>
            </a:r>
            <a:endParaRPr lang="en-US" sz="2200" i="1" dirty="0">
              <a:solidFill>
                <a:schemeClr val="accent3">
                  <a:lumMod val="50000"/>
                </a:schemeClr>
              </a:solidFill>
              <a:latin typeface="Consolas" panose="020B0609020204030204" pitchFamily="49" charset="0"/>
              <a:cs typeface="Consolas" panose="020B0609020204030204" pitchFamily="49" charset="0"/>
            </a:endParaRPr>
          </a:p>
        </p:txBody>
      </p:sp>
      <p:sp>
        <p:nvSpPr>
          <p:cNvPr id="6" name="TextBox 5">
            <a:extLst>
              <a:ext uri="{FF2B5EF4-FFF2-40B4-BE49-F238E27FC236}">
                <a16:creationId xmlns:a16="http://schemas.microsoft.com/office/drawing/2014/main" id="{8F9CAE22-B8E6-624E-B2D3-80B8D3A5DB9E}"/>
              </a:ext>
            </a:extLst>
          </p:cNvPr>
          <p:cNvSpPr txBox="1"/>
          <p:nvPr/>
        </p:nvSpPr>
        <p:spPr>
          <a:xfrm>
            <a:off x="2628900" y="2247900"/>
            <a:ext cx="6172200" cy="769441"/>
          </a:xfrm>
          <a:prstGeom prst="rect">
            <a:avLst/>
          </a:prstGeom>
          <a:noFill/>
        </p:spPr>
        <p:txBody>
          <a:bodyPr wrap="square" rtlCol="0">
            <a:spAutoFit/>
          </a:bodyPr>
          <a:lstStyle/>
          <a:p>
            <a:pPr algn="ctr"/>
            <a:r>
              <a:rPr lang="en-US" sz="2200" b="1" dirty="0"/>
              <a:t>structs </a:t>
            </a:r>
            <a:r>
              <a:rPr lang="en-US" sz="2200" dirty="0"/>
              <a:t>and </a:t>
            </a:r>
            <a:r>
              <a:rPr lang="en-US" sz="2200" b="1" dirty="0"/>
              <a:t>classes</a:t>
            </a:r>
            <a:r>
              <a:rPr lang="en-US" sz="2200" dirty="0"/>
              <a:t> are common ways to let the programmer define their own compound types.</a:t>
            </a:r>
            <a:endParaRPr lang="en-US" sz="2200" b="1" dirty="0"/>
          </a:p>
        </p:txBody>
      </p:sp>
      <p:sp>
        <p:nvSpPr>
          <p:cNvPr id="7" name="TextBox 6">
            <a:extLst>
              <a:ext uri="{FF2B5EF4-FFF2-40B4-BE49-F238E27FC236}">
                <a16:creationId xmlns:a16="http://schemas.microsoft.com/office/drawing/2014/main" id="{5D81B304-03E9-F042-9291-3244CE252579}"/>
              </a:ext>
            </a:extLst>
          </p:cNvPr>
          <p:cNvSpPr txBox="1"/>
          <p:nvPr/>
        </p:nvSpPr>
        <p:spPr>
          <a:xfrm>
            <a:off x="685800" y="3347044"/>
            <a:ext cx="4572000" cy="430887"/>
          </a:xfrm>
          <a:prstGeom prst="rect">
            <a:avLst/>
          </a:prstGeom>
          <a:noFill/>
        </p:spPr>
        <p:txBody>
          <a:bodyPr wrap="square" rtlCol="0">
            <a:spAutoFit/>
          </a:bodyPr>
          <a:lstStyle/>
          <a:p>
            <a:r>
              <a:rPr lang="en-US" sz="2200" b="1" dirty="0">
                <a:solidFill>
                  <a:srgbClr val="FF0000"/>
                </a:solidFill>
                <a:latin typeface="Consolas" panose="020B0609020204030204" pitchFamily="49" charset="0"/>
                <a:cs typeface="Consolas" panose="020B0609020204030204" pitchFamily="49" charset="0"/>
              </a:rPr>
              <a:t>let</a:t>
            </a:r>
            <a:r>
              <a:rPr lang="en-US" sz="2200" b="1" dirty="0">
                <a:latin typeface="Consolas" panose="020B0609020204030204" pitchFamily="49" charset="0"/>
                <a:cs typeface="Consolas" panose="020B0609020204030204" pitchFamily="49" charset="0"/>
              </a:rPr>
              <a:t> p: (</a:t>
            </a:r>
            <a:r>
              <a:rPr lang="en-US" sz="2200" b="1" dirty="0">
                <a:solidFill>
                  <a:srgbClr val="FF0000"/>
                </a:solidFill>
                <a:latin typeface="Consolas" panose="020B0609020204030204" pitchFamily="49" charset="0"/>
                <a:cs typeface="Consolas" panose="020B0609020204030204" pitchFamily="49" charset="0"/>
              </a:rPr>
              <a:t>i32</a:t>
            </a:r>
            <a:r>
              <a:rPr lang="en-US" sz="2200" b="1" dirty="0">
                <a:latin typeface="Consolas" panose="020B0609020204030204" pitchFamily="49" charset="0"/>
                <a:cs typeface="Consolas" panose="020B0609020204030204" pitchFamily="49" charset="0"/>
              </a:rPr>
              <a:t>, </a:t>
            </a:r>
            <a:r>
              <a:rPr lang="en-US" sz="2200" b="1" dirty="0">
                <a:solidFill>
                  <a:srgbClr val="FF0000"/>
                </a:solidFill>
                <a:latin typeface="Consolas" panose="020B0609020204030204" pitchFamily="49" charset="0"/>
                <a:cs typeface="Consolas" panose="020B0609020204030204" pitchFamily="49" charset="0"/>
              </a:rPr>
              <a:t>i32</a:t>
            </a:r>
            <a:r>
              <a:rPr lang="en-US" sz="2200" b="1" dirty="0">
                <a:latin typeface="Consolas" panose="020B0609020204030204" pitchFamily="49" charset="0"/>
                <a:cs typeface="Consolas" panose="020B0609020204030204" pitchFamily="49" charset="0"/>
              </a:rPr>
              <a:t>) = (</a:t>
            </a:r>
            <a:r>
              <a:rPr lang="en-US" sz="2200" b="1" dirty="0">
                <a:solidFill>
                  <a:schemeClr val="accent3">
                    <a:lumMod val="75000"/>
                  </a:schemeClr>
                </a:solidFill>
                <a:latin typeface="Consolas" panose="020B0609020204030204" pitchFamily="49" charset="0"/>
                <a:cs typeface="Consolas" panose="020B0609020204030204" pitchFamily="49" charset="0"/>
              </a:rPr>
              <a:t>4</a:t>
            </a:r>
            <a:r>
              <a:rPr lang="en-US" sz="2200" b="1" dirty="0">
                <a:latin typeface="Consolas" panose="020B0609020204030204" pitchFamily="49" charset="0"/>
                <a:cs typeface="Consolas" panose="020B0609020204030204" pitchFamily="49" charset="0"/>
              </a:rPr>
              <a:t>, </a:t>
            </a:r>
            <a:r>
              <a:rPr lang="en-US" sz="2200" b="1" dirty="0">
                <a:solidFill>
                  <a:schemeClr val="accent3">
                    <a:lumMod val="75000"/>
                  </a:schemeClr>
                </a:solidFill>
                <a:latin typeface="Consolas" panose="020B0609020204030204" pitchFamily="49" charset="0"/>
                <a:cs typeface="Consolas" panose="020B0609020204030204" pitchFamily="49" charset="0"/>
              </a:rPr>
              <a:t>5</a:t>
            </a:r>
            <a:r>
              <a:rPr lang="en-US" sz="2200" b="1" dirty="0">
                <a:latin typeface="Consolas" panose="020B0609020204030204" pitchFamily="49" charset="0"/>
                <a:cs typeface="Consolas" panose="020B0609020204030204" pitchFamily="49" charset="0"/>
              </a:rPr>
              <a:t>);</a:t>
            </a:r>
          </a:p>
        </p:txBody>
      </p:sp>
      <p:sp>
        <p:nvSpPr>
          <p:cNvPr id="8" name="TextBox 7">
            <a:extLst>
              <a:ext uri="{FF2B5EF4-FFF2-40B4-BE49-F238E27FC236}">
                <a16:creationId xmlns:a16="http://schemas.microsoft.com/office/drawing/2014/main" id="{C9595329-116F-494F-964D-83E1FA61BB38}"/>
              </a:ext>
            </a:extLst>
          </p:cNvPr>
          <p:cNvSpPr txBox="1"/>
          <p:nvPr/>
        </p:nvSpPr>
        <p:spPr>
          <a:xfrm>
            <a:off x="1762125" y="3838868"/>
            <a:ext cx="7038975" cy="430887"/>
          </a:xfrm>
          <a:prstGeom prst="rect">
            <a:avLst/>
          </a:prstGeom>
          <a:noFill/>
        </p:spPr>
        <p:txBody>
          <a:bodyPr wrap="square" rtlCol="0">
            <a:spAutoFit/>
          </a:bodyPr>
          <a:lstStyle/>
          <a:p>
            <a:pPr algn="ctr"/>
            <a:r>
              <a:rPr lang="en-US" sz="2200" b="1" dirty="0"/>
              <a:t>tuples </a:t>
            </a:r>
            <a:r>
              <a:rPr lang="en-US" sz="2200" dirty="0"/>
              <a:t>are a little obscure, but work similarly to structs.</a:t>
            </a:r>
            <a:endParaRPr lang="en-US" sz="2200" b="1" dirty="0"/>
          </a:p>
        </p:txBody>
      </p:sp>
      <p:sp>
        <p:nvSpPr>
          <p:cNvPr id="9" name="TextBox 8">
            <a:extLst>
              <a:ext uri="{FF2B5EF4-FFF2-40B4-BE49-F238E27FC236}">
                <a16:creationId xmlns:a16="http://schemas.microsoft.com/office/drawing/2014/main" id="{17FDA9A6-5B8A-C14C-BE50-11220412EC8E}"/>
              </a:ext>
            </a:extLst>
          </p:cNvPr>
          <p:cNvSpPr txBox="1"/>
          <p:nvPr/>
        </p:nvSpPr>
        <p:spPr>
          <a:xfrm>
            <a:off x="685800" y="4409036"/>
            <a:ext cx="4572000" cy="430887"/>
          </a:xfrm>
          <a:prstGeom prst="rect">
            <a:avLst/>
          </a:prstGeom>
          <a:noFill/>
        </p:spPr>
        <p:txBody>
          <a:bodyPr wrap="square" rtlCol="0">
            <a:spAutoFit/>
          </a:bodyPr>
          <a:lstStyle/>
          <a:p>
            <a:r>
              <a:rPr lang="en-US" sz="2200" b="1" dirty="0">
                <a:solidFill>
                  <a:srgbClr val="FF0000"/>
                </a:solidFill>
                <a:latin typeface="Consolas" panose="020B0609020204030204" pitchFamily="49" charset="0"/>
                <a:cs typeface="Consolas" panose="020B0609020204030204" pitchFamily="49" charset="0"/>
              </a:rPr>
              <a:t>let</a:t>
            </a:r>
            <a:r>
              <a:rPr lang="en-US" sz="2200" b="1" dirty="0">
                <a:latin typeface="Consolas" panose="020B0609020204030204" pitchFamily="49" charset="0"/>
                <a:cs typeface="Consolas" panose="020B0609020204030204" pitchFamily="49" charset="0"/>
              </a:rPr>
              <a:t> a: [</a:t>
            </a:r>
            <a:r>
              <a:rPr lang="en-US" sz="2200" b="1" dirty="0">
                <a:solidFill>
                  <a:srgbClr val="FF0000"/>
                </a:solidFill>
                <a:latin typeface="Consolas" panose="020B0609020204030204" pitchFamily="49" charset="0"/>
                <a:cs typeface="Consolas" panose="020B0609020204030204" pitchFamily="49" charset="0"/>
              </a:rPr>
              <a:t>i32</a:t>
            </a:r>
            <a:r>
              <a:rPr lang="en-US" sz="2200" b="1" dirty="0">
                <a:latin typeface="Consolas" panose="020B0609020204030204" pitchFamily="49" charset="0"/>
                <a:cs typeface="Consolas" panose="020B0609020204030204" pitchFamily="49" charset="0"/>
              </a:rPr>
              <a:t>;</a:t>
            </a:r>
            <a:r>
              <a:rPr lang="en-US" sz="2200" b="1" dirty="0">
                <a:solidFill>
                  <a:schemeClr val="accent3">
                    <a:lumMod val="75000"/>
                  </a:schemeClr>
                </a:solidFill>
                <a:latin typeface="Consolas" panose="020B0609020204030204" pitchFamily="49" charset="0"/>
                <a:cs typeface="Consolas" panose="020B0609020204030204" pitchFamily="49" charset="0"/>
              </a:rPr>
              <a:t> 3</a:t>
            </a:r>
            <a:r>
              <a:rPr lang="en-US" sz="2200" b="1" dirty="0">
                <a:latin typeface="Consolas" panose="020B0609020204030204" pitchFamily="49" charset="0"/>
                <a:cs typeface="Consolas" panose="020B0609020204030204" pitchFamily="49" charset="0"/>
              </a:rPr>
              <a:t>] = [</a:t>
            </a:r>
            <a:r>
              <a:rPr lang="en-US" sz="2200" b="1" dirty="0">
                <a:solidFill>
                  <a:schemeClr val="accent3">
                    <a:lumMod val="75000"/>
                  </a:schemeClr>
                </a:solidFill>
                <a:latin typeface="Consolas" panose="020B0609020204030204" pitchFamily="49" charset="0"/>
                <a:cs typeface="Consolas" panose="020B0609020204030204" pitchFamily="49" charset="0"/>
              </a:rPr>
              <a:t>1</a:t>
            </a:r>
            <a:r>
              <a:rPr lang="en-US" sz="2200" b="1" dirty="0">
                <a:latin typeface="Consolas" panose="020B0609020204030204" pitchFamily="49" charset="0"/>
                <a:cs typeface="Consolas" panose="020B0609020204030204" pitchFamily="49" charset="0"/>
              </a:rPr>
              <a:t>, </a:t>
            </a:r>
            <a:r>
              <a:rPr lang="en-US" sz="2200" b="1" dirty="0">
                <a:solidFill>
                  <a:schemeClr val="accent3">
                    <a:lumMod val="75000"/>
                  </a:schemeClr>
                </a:solidFill>
                <a:latin typeface="Consolas" panose="020B0609020204030204" pitchFamily="49" charset="0"/>
                <a:cs typeface="Consolas" panose="020B0609020204030204" pitchFamily="49" charset="0"/>
              </a:rPr>
              <a:t>2</a:t>
            </a:r>
            <a:r>
              <a:rPr lang="en-US" sz="2200" b="1" dirty="0">
                <a:latin typeface="Consolas" panose="020B0609020204030204" pitchFamily="49" charset="0"/>
                <a:cs typeface="Consolas" panose="020B0609020204030204" pitchFamily="49" charset="0"/>
              </a:rPr>
              <a:t>, </a:t>
            </a:r>
            <a:r>
              <a:rPr lang="en-US" sz="2200" b="1" dirty="0">
                <a:solidFill>
                  <a:schemeClr val="accent3">
                    <a:lumMod val="75000"/>
                  </a:schemeClr>
                </a:solidFill>
                <a:latin typeface="Consolas" panose="020B0609020204030204" pitchFamily="49" charset="0"/>
                <a:cs typeface="Consolas" panose="020B0609020204030204" pitchFamily="49" charset="0"/>
              </a:rPr>
              <a:t>3</a:t>
            </a:r>
            <a:r>
              <a:rPr lang="en-US" sz="2200" b="1" dirty="0">
                <a:latin typeface="Consolas" panose="020B0609020204030204" pitchFamily="49" charset="0"/>
                <a:cs typeface="Consolas" panose="020B0609020204030204" pitchFamily="49" charset="0"/>
              </a:rPr>
              <a:t>];</a:t>
            </a:r>
          </a:p>
        </p:txBody>
      </p:sp>
      <p:sp>
        <p:nvSpPr>
          <p:cNvPr id="10" name="TextBox 9">
            <a:extLst>
              <a:ext uri="{FF2B5EF4-FFF2-40B4-BE49-F238E27FC236}">
                <a16:creationId xmlns:a16="http://schemas.microsoft.com/office/drawing/2014/main" id="{4C7C1BBC-669A-F14B-BDBA-938355E80D8E}"/>
              </a:ext>
            </a:extLst>
          </p:cNvPr>
          <p:cNvSpPr txBox="1"/>
          <p:nvPr/>
        </p:nvSpPr>
        <p:spPr>
          <a:xfrm>
            <a:off x="1762125" y="4900860"/>
            <a:ext cx="7038975" cy="430887"/>
          </a:xfrm>
          <a:prstGeom prst="rect">
            <a:avLst/>
          </a:prstGeom>
          <a:noFill/>
        </p:spPr>
        <p:txBody>
          <a:bodyPr wrap="square" rtlCol="0">
            <a:spAutoFit/>
          </a:bodyPr>
          <a:lstStyle/>
          <a:p>
            <a:pPr algn="ctr"/>
            <a:r>
              <a:rPr lang="en-US" sz="2200" b="1" dirty="0"/>
              <a:t>arrays </a:t>
            </a:r>
            <a:r>
              <a:rPr lang="en-US" sz="2200" dirty="0"/>
              <a:t>also count, but they're a little more interesting…</a:t>
            </a:r>
            <a:endParaRPr lang="en-US" sz="2200" b="1" dirty="0"/>
          </a:p>
        </p:txBody>
      </p:sp>
    </p:spTree>
    <p:extLst>
      <p:ext uri="{BB962C8B-B14F-4D97-AF65-F5344CB8AC3E}">
        <p14:creationId xmlns:p14="http://schemas.microsoft.com/office/powerpoint/2010/main" val="135411457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BA593-63F4-9F42-AE95-6B047E752A53}"/>
              </a:ext>
            </a:extLst>
          </p:cNvPr>
          <p:cNvSpPr>
            <a:spLocks noGrp="1"/>
          </p:cNvSpPr>
          <p:nvPr>
            <p:ph type="title"/>
          </p:nvPr>
        </p:nvSpPr>
        <p:spPr/>
        <p:txBody>
          <a:bodyPr/>
          <a:lstStyle/>
          <a:p>
            <a:r>
              <a:rPr lang="en-US" dirty="0"/>
              <a:t>Generic types</a:t>
            </a:r>
          </a:p>
        </p:txBody>
      </p:sp>
      <p:sp>
        <p:nvSpPr>
          <p:cNvPr id="3" name="Content Placeholder 2">
            <a:extLst>
              <a:ext uri="{FF2B5EF4-FFF2-40B4-BE49-F238E27FC236}">
                <a16:creationId xmlns:a16="http://schemas.microsoft.com/office/drawing/2014/main" id="{9F33D76C-C1BB-AD49-8147-D1BB1EEDF975}"/>
              </a:ext>
            </a:extLst>
          </p:cNvPr>
          <p:cNvSpPr>
            <a:spLocks noGrp="1"/>
          </p:cNvSpPr>
          <p:nvPr>
            <p:ph idx="1"/>
          </p:nvPr>
        </p:nvSpPr>
        <p:spPr/>
        <p:txBody>
          <a:bodyPr/>
          <a:lstStyle/>
          <a:p>
            <a:r>
              <a:rPr lang="en-US" dirty="0"/>
              <a:t>a </a:t>
            </a:r>
            <a:r>
              <a:rPr lang="en-US" b="1" dirty="0"/>
              <a:t>generic </a:t>
            </a:r>
            <a:r>
              <a:rPr lang="en-US" dirty="0"/>
              <a:t>type is a special kind of function</a:t>
            </a:r>
            <a:r>
              <a:rPr lang="en-US" i="1" dirty="0"/>
              <a:t> </a:t>
            </a:r>
            <a:r>
              <a:rPr lang="en-US" dirty="0"/>
              <a:t>which </a:t>
            </a:r>
            <a:r>
              <a:rPr lang="en-US" b="1" dirty="0"/>
              <a:t>takes types as its inputs, </a:t>
            </a:r>
            <a:r>
              <a:rPr lang="en-US" dirty="0"/>
              <a:t>and </a:t>
            </a:r>
            <a:r>
              <a:rPr lang="en-US" b="1" dirty="0"/>
              <a:t>produces a type as its output.</a:t>
            </a:r>
            <a:endParaRPr lang="en-US" dirty="0"/>
          </a:p>
          <a:p>
            <a:pPr lvl="1"/>
            <a:r>
              <a:rPr lang="en-US" dirty="0"/>
              <a:t>we call that a </a:t>
            </a:r>
            <a:r>
              <a:rPr lang="en-US" b="1" dirty="0"/>
              <a:t>type constructor.</a:t>
            </a:r>
          </a:p>
          <a:p>
            <a:r>
              <a:rPr lang="en-US" dirty="0"/>
              <a:t>if that sounds really out there, well, how about </a:t>
            </a:r>
            <a:r>
              <a:rPr lang="en-US" b="1" dirty="0" err="1">
                <a:latin typeface="Consolas" panose="020B0609020204030204" pitchFamily="49" charset="0"/>
                <a:cs typeface="Consolas" panose="020B0609020204030204" pitchFamily="49" charset="0"/>
              </a:rPr>
              <a:t>ArrayList</a:t>
            </a:r>
            <a:r>
              <a:rPr lang="en-US" dirty="0"/>
              <a:t>?</a:t>
            </a:r>
          </a:p>
          <a:p>
            <a:pPr lvl="1"/>
            <a:r>
              <a:rPr lang="en-US" dirty="0"/>
              <a:t>it takes </a:t>
            </a:r>
            <a:r>
              <a:rPr lang="en-US" i="1" dirty="0"/>
              <a:t>type arguments</a:t>
            </a:r>
            <a:r>
              <a:rPr lang="en-US" dirty="0"/>
              <a:t> in angle brackets: </a:t>
            </a:r>
            <a:r>
              <a:rPr lang="en-US" b="1" dirty="0" err="1">
                <a:latin typeface="Consolas" panose="020B0609020204030204" pitchFamily="49" charset="0"/>
                <a:cs typeface="Consolas" panose="020B0609020204030204" pitchFamily="49" charset="0"/>
              </a:rPr>
              <a:t>ArrayList</a:t>
            </a:r>
            <a:r>
              <a:rPr lang="en-US" b="1" dirty="0">
                <a:latin typeface="Consolas" panose="020B0609020204030204" pitchFamily="49" charset="0"/>
                <a:cs typeface="Consolas" panose="020B0609020204030204" pitchFamily="49" charset="0"/>
              </a:rPr>
              <a:t>&lt;Integer&gt;</a:t>
            </a:r>
          </a:p>
          <a:p>
            <a:r>
              <a:rPr lang="en-US" dirty="0"/>
              <a:t>and if you give it different type arguments, you get a different type.</a:t>
            </a:r>
          </a:p>
          <a:p>
            <a:pPr lvl="1"/>
            <a:r>
              <a:rPr lang="en-US" b="1" dirty="0" err="1">
                <a:latin typeface="Consolas" panose="020B0609020204030204" pitchFamily="49" charset="0"/>
                <a:cs typeface="Consolas" panose="020B0609020204030204" pitchFamily="49" charset="0"/>
              </a:rPr>
              <a:t>ArrayList</a:t>
            </a:r>
            <a:r>
              <a:rPr lang="en-US" b="1" dirty="0">
                <a:latin typeface="Consolas" panose="020B0609020204030204" pitchFamily="49" charset="0"/>
                <a:cs typeface="Consolas" panose="020B0609020204030204" pitchFamily="49" charset="0"/>
              </a:rPr>
              <a:t>&lt;Integer&gt;</a:t>
            </a:r>
            <a:r>
              <a:rPr lang="en-US" dirty="0"/>
              <a:t> is different from </a:t>
            </a:r>
            <a:r>
              <a:rPr lang="en-US" b="1" dirty="0" err="1">
                <a:latin typeface="Consolas" panose="020B0609020204030204" pitchFamily="49" charset="0"/>
                <a:cs typeface="Consolas" panose="020B0609020204030204" pitchFamily="49" charset="0"/>
              </a:rPr>
              <a:t>ArrayList</a:t>
            </a:r>
            <a:r>
              <a:rPr lang="en-US" b="1" dirty="0">
                <a:latin typeface="Consolas" panose="020B0609020204030204" pitchFamily="49" charset="0"/>
                <a:cs typeface="Consolas" panose="020B0609020204030204" pitchFamily="49" charset="0"/>
              </a:rPr>
              <a:t>&lt;Double&gt;</a:t>
            </a:r>
            <a:r>
              <a:rPr lang="en-US" dirty="0"/>
              <a:t>.</a:t>
            </a:r>
          </a:p>
          <a:p>
            <a:r>
              <a:rPr lang="en-US" dirty="0"/>
              <a:t>another example in Java is the square brackets: </a:t>
            </a:r>
            <a:r>
              <a:rPr lang="en-US" b="1" dirty="0">
                <a:latin typeface="Consolas" panose="020B0609020204030204" pitchFamily="49" charset="0"/>
                <a:cs typeface="Consolas" panose="020B0609020204030204" pitchFamily="49" charset="0"/>
              </a:rPr>
              <a:t>[]</a:t>
            </a:r>
          </a:p>
          <a:p>
            <a:pPr lvl="1"/>
            <a:r>
              <a:rPr lang="en-US" dirty="0"/>
              <a:t>you can't just have a </a:t>
            </a:r>
            <a:r>
              <a:rPr lang="en-US" b="1" dirty="0">
                <a:latin typeface="Consolas" panose="020B0609020204030204" pitchFamily="49" charset="0"/>
                <a:cs typeface="Consolas" panose="020B0609020204030204" pitchFamily="49" charset="0"/>
              </a:rPr>
              <a:t>[]</a:t>
            </a:r>
            <a:r>
              <a:rPr lang="en-US" dirty="0"/>
              <a:t>. it has to be an array </a:t>
            </a:r>
            <a:r>
              <a:rPr lang="en-US" i="1" dirty="0"/>
              <a:t>of something.</a:t>
            </a:r>
          </a:p>
          <a:p>
            <a:r>
              <a:rPr lang="en-US" dirty="0"/>
              <a:t>you can put </a:t>
            </a:r>
            <a:r>
              <a:rPr lang="en-US" b="1" dirty="0"/>
              <a:t>any</a:t>
            </a:r>
            <a:r>
              <a:rPr lang="en-US" dirty="0"/>
              <a:t> type before </a:t>
            </a:r>
            <a:r>
              <a:rPr lang="en-US" b="1" dirty="0">
                <a:latin typeface="Consolas" panose="020B0609020204030204" pitchFamily="49" charset="0"/>
                <a:cs typeface="Consolas" panose="020B0609020204030204" pitchFamily="49" charset="0"/>
              </a:rPr>
              <a:t>[]</a:t>
            </a:r>
            <a:r>
              <a:rPr lang="en-US" dirty="0"/>
              <a:t> and get a new type, so it's a type constructor.</a:t>
            </a:r>
            <a:endParaRPr lang="en-US" b="1" dirty="0"/>
          </a:p>
          <a:p>
            <a:pPr lvl="1"/>
            <a:r>
              <a:rPr lang="en-US" b="1" dirty="0">
                <a:solidFill>
                  <a:srgbClr val="FF0000"/>
                </a:solidFill>
                <a:latin typeface="Consolas" panose="020B0609020204030204" pitchFamily="49" charset="0"/>
                <a:cs typeface="Consolas" panose="020B0609020204030204" pitchFamily="49" charset="0"/>
              </a:rPr>
              <a:t>int</a:t>
            </a:r>
            <a:r>
              <a:rPr lang="en-US" b="1" dirty="0">
                <a:latin typeface="Consolas" panose="020B0609020204030204" pitchFamily="49" charset="0"/>
                <a:cs typeface="Consolas" panose="020B0609020204030204" pitchFamily="49" charset="0"/>
              </a:rPr>
              <a:t>[]</a:t>
            </a:r>
            <a:r>
              <a:rPr lang="en-US" dirty="0"/>
              <a:t> is a new type. </a:t>
            </a:r>
            <a:r>
              <a:rPr lang="en-US" b="1" dirty="0">
                <a:solidFill>
                  <a:srgbClr val="FF0000"/>
                </a:solidFill>
                <a:latin typeface="Consolas" panose="020B0609020204030204" pitchFamily="49" charset="0"/>
                <a:cs typeface="Consolas" panose="020B0609020204030204" pitchFamily="49" charset="0"/>
              </a:rPr>
              <a:t>int</a:t>
            </a:r>
            <a:r>
              <a:rPr lang="en-US" b="1" dirty="0">
                <a:latin typeface="Consolas" panose="020B0609020204030204" pitchFamily="49" charset="0"/>
                <a:cs typeface="Consolas" panose="020B0609020204030204" pitchFamily="49" charset="0"/>
              </a:rPr>
              <a:t>[][]</a:t>
            </a:r>
            <a:r>
              <a:rPr lang="en-US" dirty="0"/>
              <a:t> is another new type. and so on, forever!</a:t>
            </a:r>
          </a:p>
        </p:txBody>
      </p:sp>
      <p:sp>
        <p:nvSpPr>
          <p:cNvPr id="4" name="Slide Number Placeholder 3">
            <a:extLst>
              <a:ext uri="{FF2B5EF4-FFF2-40B4-BE49-F238E27FC236}">
                <a16:creationId xmlns:a16="http://schemas.microsoft.com/office/drawing/2014/main" id="{7C2A3B4F-6242-0542-8D16-ADB504B5C765}"/>
              </a:ext>
            </a:extLst>
          </p:cNvPr>
          <p:cNvSpPr>
            <a:spLocks noGrp="1"/>
          </p:cNvSpPr>
          <p:nvPr>
            <p:ph type="sldNum" sz="quarter" idx="12"/>
          </p:nvPr>
        </p:nvSpPr>
        <p:spPr/>
        <p:txBody>
          <a:bodyPr/>
          <a:lstStyle/>
          <a:p>
            <a:fld id="{3552B95B-556F-44BD-91A5-D80C1B9E2BB3}" type="slidenum">
              <a:rPr lang="en-US" smtClean="0"/>
              <a:pPr/>
              <a:t>17</a:t>
            </a:fld>
            <a:endParaRPr lang="en-US"/>
          </a:p>
        </p:txBody>
      </p:sp>
    </p:spTree>
    <p:extLst>
      <p:ext uri="{BB962C8B-B14F-4D97-AF65-F5344CB8AC3E}">
        <p14:creationId xmlns:p14="http://schemas.microsoft.com/office/powerpoint/2010/main" val="4225374031"/>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51734-6030-A14C-B684-02AA159E1792}"/>
              </a:ext>
            </a:extLst>
          </p:cNvPr>
          <p:cNvSpPr>
            <a:spLocks noGrp="1"/>
          </p:cNvSpPr>
          <p:nvPr>
            <p:ph type="title"/>
          </p:nvPr>
        </p:nvSpPr>
        <p:spPr/>
        <p:txBody>
          <a:bodyPr/>
          <a:lstStyle/>
          <a:p>
            <a:r>
              <a:rPr lang="en-US" dirty="0"/>
              <a:t>And further still…</a:t>
            </a:r>
          </a:p>
        </p:txBody>
      </p:sp>
      <p:sp>
        <p:nvSpPr>
          <p:cNvPr id="3" name="Content Placeholder 2">
            <a:extLst>
              <a:ext uri="{FF2B5EF4-FFF2-40B4-BE49-F238E27FC236}">
                <a16:creationId xmlns:a16="http://schemas.microsoft.com/office/drawing/2014/main" id="{A25D1B60-D58B-D046-8BB8-0B6537A8394C}"/>
              </a:ext>
            </a:extLst>
          </p:cNvPr>
          <p:cNvSpPr>
            <a:spLocks noGrp="1"/>
          </p:cNvSpPr>
          <p:nvPr>
            <p:ph idx="1"/>
          </p:nvPr>
        </p:nvSpPr>
        <p:spPr/>
        <p:txBody>
          <a:bodyPr/>
          <a:lstStyle/>
          <a:p>
            <a:r>
              <a:rPr lang="en-US" dirty="0"/>
              <a:t>there are even </a:t>
            </a:r>
            <a:r>
              <a:rPr lang="en-US" i="1" dirty="0"/>
              <a:t>type constructors that can take </a:t>
            </a:r>
            <a:r>
              <a:rPr lang="en-US" b="1" i="1" dirty="0"/>
              <a:t>values </a:t>
            </a:r>
            <a:r>
              <a:rPr lang="en-US" i="1" dirty="0"/>
              <a:t>as arguments.</a:t>
            </a:r>
          </a:p>
          <a:p>
            <a:r>
              <a:rPr lang="en-US" dirty="0"/>
              <a:t>there's a very concrete example for that: </a:t>
            </a:r>
            <a:r>
              <a:rPr lang="en-US" b="1" dirty="0"/>
              <a:t>arrays</a:t>
            </a:r>
          </a:p>
          <a:p>
            <a:pPr lvl="1"/>
            <a:r>
              <a:rPr lang="en-US" dirty="0"/>
              <a:t>see, an array </a:t>
            </a:r>
            <a:r>
              <a:rPr lang="en-US" i="1" dirty="0"/>
              <a:t>has a length</a:t>
            </a:r>
          </a:p>
          <a:p>
            <a:pPr lvl="1"/>
            <a:r>
              <a:rPr lang="en-US" dirty="0"/>
              <a:t>but… what if that length were </a:t>
            </a:r>
            <a:r>
              <a:rPr lang="en-US" b="1" dirty="0"/>
              <a:t>part of the type? </a:t>
            </a:r>
            <a:r>
              <a:rPr lang="en-US" dirty="0"/>
              <a:t>like </a:t>
            </a:r>
            <a:r>
              <a:rPr lang="en-US" b="1" dirty="0">
                <a:solidFill>
                  <a:srgbClr val="FF0000"/>
                </a:solidFill>
                <a:latin typeface="Consolas" panose="020B0609020204030204" pitchFamily="49" charset="0"/>
                <a:cs typeface="Consolas" panose="020B0609020204030204" pitchFamily="49" charset="0"/>
              </a:rPr>
              <a:t>int</a:t>
            </a:r>
            <a:r>
              <a:rPr lang="en-US" b="1" dirty="0">
                <a:latin typeface="Consolas" panose="020B0609020204030204" pitchFamily="49" charset="0"/>
                <a:cs typeface="Consolas" panose="020B0609020204030204" pitchFamily="49" charset="0"/>
              </a:rPr>
              <a:t>[</a:t>
            </a:r>
            <a:r>
              <a:rPr lang="en-US" b="1" dirty="0">
                <a:solidFill>
                  <a:schemeClr val="accent3">
                    <a:lumMod val="75000"/>
                  </a:schemeClr>
                </a:solidFill>
                <a:latin typeface="Consolas" panose="020B0609020204030204" pitchFamily="49" charset="0"/>
                <a:cs typeface="Consolas" panose="020B0609020204030204" pitchFamily="49" charset="0"/>
              </a:rPr>
              <a:t>10</a:t>
            </a:r>
            <a:r>
              <a:rPr lang="en-US" b="1" dirty="0">
                <a:latin typeface="Consolas" panose="020B0609020204030204" pitchFamily="49" charset="0"/>
                <a:cs typeface="Consolas" panose="020B0609020204030204" pitchFamily="49" charset="0"/>
              </a:rPr>
              <a:t>]</a:t>
            </a:r>
            <a:r>
              <a:rPr lang="en-US" dirty="0"/>
              <a:t>?</a:t>
            </a:r>
          </a:p>
          <a:p>
            <a:r>
              <a:rPr lang="en-US" dirty="0"/>
              <a:t>could you make a language where you could </a:t>
            </a:r>
            <a:r>
              <a:rPr lang="en-US" i="1" dirty="0"/>
              <a:t>never have an </a:t>
            </a:r>
            <a:r>
              <a:rPr lang="en-US" b="1" i="1" dirty="0" err="1">
                <a:latin typeface="Consolas" panose="020B0609020204030204" pitchFamily="49" charset="0"/>
                <a:cs typeface="Consolas" panose="020B0609020204030204" pitchFamily="49" charset="0"/>
              </a:rPr>
              <a:t>ArrayIndexOutOfBoundsException</a:t>
            </a:r>
            <a:r>
              <a:rPr lang="en-US" i="1" dirty="0"/>
              <a:t>?</a:t>
            </a:r>
          </a:p>
          <a:p>
            <a:pPr lvl="1"/>
            <a:r>
              <a:rPr lang="en-US" b="1" dirty="0"/>
              <a:t>yes!</a:t>
            </a:r>
          </a:p>
          <a:p>
            <a:pPr lvl="1"/>
            <a:r>
              <a:rPr lang="en-US" dirty="0"/>
              <a:t>it's possible to track the length of every array and the </a:t>
            </a:r>
            <a:r>
              <a:rPr lang="en-US" b="1" dirty="0"/>
              <a:t>range of every integer </a:t>
            </a:r>
            <a:r>
              <a:rPr lang="en-US" dirty="0"/>
              <a:t>at compile time, and ensure they can't happen.</a:t>
            </a:r>
          </a:p>
          <a:p>
            <a:r>
              <a:rPr lang="en-US" dirty="0"/>
              <a:t>but there's a big downside to this:</a:t>
            </a:r>
          </a:p>
          <a:p>
            <a:pPr lvl="1"/>
            <a:r>
              <a:rPr lang="en-US" dirty="0"/>
              <a:t>in the </a:t>
            </a:r>
            <a:r>
              <a:rPr lang="en-US" i="1" dirty="0"/>
              <a:t>general</a:t>
            </a:r>
            <a:r>
              <a:rPr lang="en-US" dirty="0"/>
              <a:t> case, </a:t>
            </a:r>
            <a:r>
              <a:rPr lang="en-US" b="1" dirty="0"/>
              <a:t>these type systems are undecidable (meaning you have to solve the halting problem).</a:t>
            </a:r>
          </a:p>
          <a:p>
            <a:pPr lvl="2"/>
            <a:r>
              <a:rPr lang="en-US" dirty="0"/>
              <a:t>but in some limited cases, it </a:t>
            </a:r>
            <a:r>
              <a:rPr lang="en-US" i="1" dirty="0"/>
              <a:t>is</a:t>
            </a:r>
            <a:r>
              <a:rPr lang="en-US" dirty="0"/>
              <a:t> decidable, and maybe useful?</a:t>
            </a:r>
          </a:p>
        </p:txBody>
      </p:sp>
      <p:sp>
        <p:nvSpPr>
          <p:cNvPr id="4" name="Slide Number Placeholder 3">
            <a:extLst>
              <a:ext uri="{FF2B5EF4-FFF2-40B4-BE49-F238E27FC236}">
                <a16:creationId xmlns:a16="http://schemas.microsoft.com/office/drawing/2014/main" id="{14951546-4749-764C-A826-F30402F8DD40}"/>
              </a:ext>
            </a:extLst>
          </p:cNvPr>
          <p:cNvSpPr>
            <a:spLocks noGrp="1"/>
          </p:cNvSpPr>
          <p:nvPr>
            <p:ph type="sldNum" sz="quarter" idx="12"/>
          </p:nvPr>
        </p:nvSpPr>
        <p:spPr/>
        <p:txBody>
          <a:bodyPr/>
          <a:lstStyle/>
          <a:p>
            <a:fld id="{3552B95B-556F-44BD-91A5-D80C1B9E2BB3}" type="slidenum">
              <a:rPr lang="en-US" smtClean="0"/>
              <a:pPr/>
              <a:t>18</a:t>
            </a:fld>
            <a:endParaRPr lang="en-US"/>
          </a:p>
        </p:txBody>
      </p:sp>
    </p:spTree>
    <p:extLst>
      <p:ext uri="{BB962C8B-B14F-4D97-AF65-F5344CB8AC3E}">
        <p14:creationId xmlns:p14="http://schemas.microsoft.com/office/powerpoint/2010/main" val="1256100819"/>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04F42-C5C7-6A48-8EBB-2C4661E1D125}"/>
              </a:ext>
            </a:extLst>
          </p:cNvPr>
          <p:cNvSpPr>
            <a:spLocks noGrp="1"/>
          </p:cNvSpPr>
          <p:nvPr>
            <p:ph type="ctrTitle"/>
          </p:nvPr>
        </p:nvSpPr>
        <p:spPr/>
        <p:txBody>
          <a:bodyPr/>
          <a:lstStyle/>
          <a:p>
            <a:r>
              <a:rPr lang="en-US" dirty="0"/>
              <a:t>Naming</a:t>
            </a:r>
          </a:p>
        </p:txBody>
      </p:sp>
      <p:sp>
        <p:nvSpPr>
          <p:cNvPr id="3" name="Slide Number Placeholder 2">
            <a:extLst>
              <a:ext uri="{FF2B5EF4-FFF2-40B4-BE49-F238E27FC236}">
                <a16:creationId xmlns:a16="http://schemas.microsoft.com/office/drawing/2014/main" id="{BE4EC53C-02ED-BF4E-A11D-8DA201E5D844}"/>
              </a:ext>
            </a:extLst>
          </p:cNvPr>
          <p:cNvSpPr>
            <a:spLocks noGrp="1"/>
          </p:cNvSpPr>
          <p:nvPr>
            <p:ph type="sldNum" sz="quarter" idx="12"/>
          </p:nvPr>
        </p:nvSpPr>
        <p:spPr/>
        <p:txBody>
          <a:bodyPr/>
          <a:lstStyle/>
          <a:p>
            <a:fld id="{3552B95B-556F-44BD-91A5-D80C1B9E2BB3}" type="slidenum">
              <a:rPr lang="en-US" smtClean="0"/>
              <a:pPr/>
              <a:t>19</a:t>
            </a:fld>
            <a:endParaRPr lang="en-US"/>
          </a:p>
        </p:txBody>
      </p:sp>
    </p:spTree>
    <p:extLst>
      <p:ext uri="{BB962C8B-B14F-4D97-AF65-F5344CB8AC3E}">
        <p14:creationId xmlns:p14="http://schemas.microsoft.com/office/powerpoint/2010/main" val="2860197381"/>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4CBAB-C5A7-8944-AC6A-F94416E83C3C}"/>
              </a:ext>
            </a:extLst>
          </p:cNvPr>
          <p:cNvSpPr>
            <a:spLocks noGrp="1"/>
          </p:cNvSpPr>
          <p:nvPr>
            <p:ph type="title"/>
          </p:nvPr>
        </p:nvSpPr>
        <p:spPr/>
        <p:txBody>
          <a:bodyPr/>
          <a:lstStyle/>
          <a:p>
            <a:r>
              <a:rPr lang="en-US" dirty="0"/>
              <a:t>Hello, my name is…</a:t>
            </a:r>
          </a:p>
        </p:txBody>
      </p:sp>
      <p:sp>
        <p:nvSpPr>
          <p:cNvPr id="3" name="Content Placeholder 2">
            <a:extLst>
              <a:ext uri="{FF2B5EF4-FFF2-40B4-BE49-F238E27FC236}">
                <a16:creationId xmlns:a16="http://schemas.microsoft.com/office/drawing/2014/main" id="{AD8D05F7-7144-F247-BB8A-7B3C3DFEEE37}"/>
              </a:ext>
            </a:extLst>
          </p:cNvPr>
          <p:cNvSpPr>
            <a:spLocks noGrp="1"/>
          </p:cNvSpPr>
          <p:nvPr>
            <p:ph idx="1"/>
          </p:nvPr>
        </p:nvSpPr>
        <p:spPr/>
        <p:txBody>
          <a:bodyPr/>
          <a:lstStyle/>
          <a:p>
            <a:r>
              <a:rPr lang="en-US" b="1" dirty="0"/>
              <a:t>computers </a:t>
            </a:r>
            <a:r>
              <a:rPr lang="en-US" dirty="0"/>
              <a:t>don't know anything about names, language, or strings…</a:t>
            </a:r>
          </a:p>
          <a:p>
            <a:pPr lvl="1"/>
            <a:r>
              <a:rPr lang="en-US" dirty="0"/>
              <a:t>but </a:t>
            </a:r>
            <a:r>
              <a:rPr lang="en-US" b="1" dirty="0"/>
              <a:t>humans </a:t>
            </a:r>
            <a:r>
              <a:rPr lang="en-US" dirty="0"/>
              <a:t>love words. we can't get enough of </a:t>
            </a:r>
            <a:r>
              <a:rPr lang="en-US" dirty="0" err="1"/>
              <a:t>em</a:t>
            </a:r>
            <a:r>
              <a:rPr lang="en-US" dirty="0"/>
              <a:t>.</a:t>
            </a:r>
          </a:p>
          <a:p>
            <a:r>
              <a:rPr lang="en-US" dirty="0"/>
              <a:t>one of the reasons people very quickly invented assembly language was to be able to </a:t>
            </a:r>
            <a:r>
              <a:rPr lang="en-US" b="1" dirty="0"/>
              <a:t>name things in their programs, </a:t>
            </a:r>
            <a:r>
              <a:rPr lang="en-US" dirty="0"/>
              <a:t>because dealing with addresses is confusing, tedious, and error-prone.</a:t>
            </a:r>
          </a:p>
          <a:p>
            <a:pPr lvl="1"/>
            <a:r>
              <a:rPr lang="en-US" dirty="0"/>
              <a:t>can you imagine having to refer to everything by a number?</a:t>
            </a:r>
          </a:p>
          <a:p>
            <a:pPr lvl="1"/>
            <a:r>
              <a:rPr lang="en-US" dirty="0"/>
              <a:t>and where changing one part of the program changed the numbers of everything after it, and so you had to go back and change all the references to all those numbers…</a:t>
            </a:r>
          </a:p>
          <a:p>
            <a:pPr lvl="2"/>
            <a:r>
              <a:rPr lang="en-US" dirty="0"/>
              <a:t>it was not doable.</a:t>
            </a:r>
          </a:p>
        </p:txBody>
      </p:sp>
      <p:sp>
        <p:nvSpPr>
          <p:cNvPr id="4" name="Slide Number Placeholder 3">
            <a:extLst>
              <a:ext uri="{FF2B5EF4-FFF2-40B4-BE49-F238E27FC236}">
                <a16:creationId xmlns:a16="http://schemas.microsoft.com/office/drawing/2014/main" id="{C0CF6427-DF59-F34D-AB46-FFED3417AB90}"/>
              </a:ext>
            </a:extLst>
          </p:cNvPr>
          <p:cNvSpPr>
            <a:spLocks noGrp="1"/>
          </p:cNvSpPr>
          <p:nvPr>
            <p:ph type="sldNum" sz="quarter" idx="12"/>
          </p:nvPr>
        </p:nvSpPr>
        <p:spPr/>
        <p:txBody>
          <a:bodyPr/>
          <a:lstStyle/>
          <a:p>
            <a:fld id="{3552B95B-556F-44BD-91A5-D80C1B9E2BB3}" type="slidenum">
              <a:rPr lang="en-US" smtClean="0"/>
              <a:pPr/>
              <a:t>20</a:t>
            </a:fld>
            <a:endParaRPr lang="en-US"/>
          </a:p>
        </p:txBody>
      </p:sp>
    </p:spTree>
    <p:extLst>
      <p:ext uri="{BB962C8B-B14F-4D97-AF65-F5344CB8AC3E}">
        <p14:creationId xmlns:p14="http://schemas.microsoft.com/office/powerpoint/2010/main" val="3564740855"/>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5B7A9-06D4-B644-BD50-9FA368BBD9FB}"/>
              </a:ext>
            </a:extLst>
          </p:cNvPr>
          <p:cNvSpPr>
            <a:spLocks noGrp="1"/>
          </p:cNvSpPr>
          <p:nvPr>
            <p:ph type="title"/>
          </p:nvPr>
        </p:nvSpPr>
        <p:spPr/>
        <p:txBody>
          <a:bodyPr/>
          <a:lstStyle/>
          <a:p>
            <a:r>
              <a:rPr lang="en-US" dirty="0"/>
              <a:t>Scoping and name resolution</a:t>
            </a:r>
          </a:p>
        </p:txBody>
      </p:sp>
      <p:sp>
        <p:nvSpPr>
          <p:cNvPr id="3" name="Content Placeholder 2">
            <a:extLst>
              <a:ext uri="{FF2B5EF4-FFF2-40B4-BE49-F238E27FC236}">
                <a16:creationId xmlns:a16="http://schemas.microsoft.com/office/drawing/2014/main" id="{82F170A7-E869-3A40-B2EC-E0273BD084D1}"/>
              </a:ext>
            </a:extLst>
          </p:cNvPr>
          <p:cNvSpPr>
            <a:spLocks noGrp="1"/>
          </p:cNvSpPr>
          <p:nvPr>
            <p:ph idx="1"/>
          </p:nvPr>
        </p:nvSpPr>
        <p:spPr>
          <a:xfrm>
            <a:off x="152400" y="495302"/>
            <a:ext cx="8991600" cy="836532"/>
          </a:xfrm>
        </p:spPr>
        <p:txBody>
          <a:bodyPr/>
          <a:lstStyle/>
          <a:p>
            <a:r>
              <a:rPr lang="en-US" b="1" dirty="0"/>
              <a:t>name resolution </a:t>
            </a:r>
            <a:r>
              <a:rPr lang="en-US" dirty="0"/>
              <a:t>matches names to the things they refer to.</a:t>
            </a:r>
          </a:p>
          <a:p>
            <a:r>
              <a:rPr lang="en-US" b="1" dirty="0"/>
              <a:t>scoping </a:t>
            </a:r>
            <a:r>
              <a:rPr lang="en-US" dirty="0"/>
              <a:t>determines which names are candidates during resolution.</a:t>
            </a:r>
          </a:p>
        </p:txBody>
      </p:sp>
      <p:sp>
        <p:nvSpPr>
          <p:cNvPr id="4" name="Slide Number Placeholder 3">
            <a:extLst>
              <a:ext uri="{FF2B5EF4-FFF2-40B4-BE49-F238E27FC236}">
                <a16:creationId xmlns:a16="http://schemas.microsoft.com/office/drawing/2014/main" id="{3BB66DA2-4F1F-DB4A-BDBE-6647E8F7DB2F}"/>
              </a:ext>
            </a:extLst>
          </p:cNvPr>
          <p:cNvSpPr>
            <a:spLocks noGrp="1"/>
          </p:cNvSpPr>
          <p:nvPr>
            <p:ph type="sldNum" sz="quarter" idx="12"/>
          </p:nvPr>
        </p:nvSpPr>
        <p:spPr/>
        <p:txBody>
          <a:bodyPr/>
          <a:lstStyle/>
          <a:p>
            <a:fld id="{3552B95B-556F-44BD-91A5-D80C1B9E2BB3}" type="slidenum">
              <a:rPr lang="en-US" smtClean="0"/>
              <a:pPr/>
              <a:t>21</a:t>
            </a:fld>
            <a:endParaRPr lang="en-US"/>
          </a:p>
        </p:txBody>
      </p:sp>
      <p:sp>
        <p:nvSpPr>
          <p:cNvPr id="9" name="TextBox 8">
            <a:extLst>
              <a:ext uri="{FF2B5EF4-FFF2-40B4-BE49-F238E27FC236}">
                <a16:creationId xmlns:a16="http://schemas.microsoft.com/office/drawing/2014/main" id="{99670F11-92D7-2548-A7BB-CA5F9C4C2F0D}"/>
              </a:ext>
            </a:extLst>
          </p:cNvPr>
          <p:cNvSpPr txBox="1"/>
          <p:nvPr/>
        </p:nvSpPr>
        <p:spPr>
          <a:xfrm>
            <a:off x="533400" y="1333500"/>
            <a:ext cx="3916457" cy="2800767"/>
          </a:xfrm>
          <a:prstGeom prst="rect">
            <a:avLst/>
          </a:prstGeom>
          <a:noFill/>
        </p:spPr>
        <p:txBody>
          <a:bodyPr wrap="none" rtlCol="0">
            <a:spAutoFit/>
          </a:bodyPr>
          <a:lstStyle/>
          <a:p>
            <a:r>
              <a:rPr lang="en-US" sz="2200" b="1" dirty="0">
                <a:solidFill>
                  <a:srgbClr val="FF0000"/>
                </a:solidFill>
                <a:latin typeface="Consolas" panose="020B0609020204030204" pitchFamily="49" charset="0"/>
                <a:cs typeface="Consolas" panose="020B0609020204030204" pitchFamily="49" charset="0"/>
              </a:rPr>
              <a:t>void</a:t>
            </a:r>
            <a:r>
              <a:rPr lang="en-US" sz="2200" b="1" dirty="0">
                <a:latin typeface="Consolas" panose="020B0609020204030204" pitchFamily="49" charset="0"/>
                <a:cs typeface="Consolas" panose="020B0609020204030204" pitchFamily="49" charset="0"/>
              </a:rPr>
              <a:t> main() {</a:t>
            </a:r>
          </a:p>
          <a:p>
            <a:r>
              <a:rPr lang="en-US" sz="2200" b="1" dirty="0">
                <a:latin typeface="Consolas" panose="020B0609020204030204" pitchFamily="49" charset="0"/>
                <a:cs typeface="Consolas" panose="020B0609020204030204" pitchFamily="49" charset="0"/>
              </a:rPr>
              <a:t>  </a:t>
            </a:r>
            <a:r>
              <a:rPr lang="en-US" sz="2200" b="1" dirty="0">
                <a:solidFill>
                  <a:srgbClr val="FF0000"/>
                </a:solidFill>
                <a:latin typeface="Consolas" panose="020B0609020204030204" pitchFamily="49" charset="0"/>
                <a:cs typeface="Consolas" panose="020B0609020204030204" pitchFamily="49" charset="0"/>
              </a:rPr>
              <a:t>int</a:t>
            </a:r>
            <a:r>
              <a:rPr lang="en-US" sz="2200" b="1" dirty="0">
                <a:latin typeface="Consolas" panose="020B0609020204030204" pitchFamily="49" charset="0"/>
                <a:cs typeface="Consolas" panose="020B0609020204030204" pitchFamily="49" charset="0"/>
              </a:rPr>
              <a:t> m = </a:t>
            </a:r>
            <a:r>
              <a:rPr lang="en-US" sz="2200" b="1" dirty="0">
                <a:solidFill>
                  <a:schemeClr val="accent3">
                    <a:lumMod val="75000"/>
                  </a:schemeClr>
                </a:solidFill>
                <a:latin typeface="Consolas" panose="020B0609020204030204" pitchFamily="49" charset="0"/>
                <a:cs typeface="Consolas" panose="020B0609020204030204" pitchFamily="49" charset="0"/>
              </a:rPr>
              <a:t>5</a:t>
            </a:r>
            <a:r>
              <a:rPr lang="en-US" sz="2200" b="1" dirty="0">
                <a:latin typeface="Consolas" panose="020B0609020204030204" pitchFamily="49" charset="0"/>
                <a:cs typeface="Consolas" panose="020B0609020204030204" pitchFamily="49" charset="0"/>
              </a:rPr>
              <a:t>;</a:t>
            </a:r>
          </a:p>
          <a:p>
            <a:r>
              <a:rPr lang="en-US" sz="2200" b="1" dirty="0">
                <a:latin typeface="Consolas" panose="020B0609020204030204" pitchFamily="49" charset="0"/>
                <a:cs typeface="Consolas" panose="020B0609020204030204" pitchFamily="49" charset="0"/>
              </a:rPr>
              <a:t>  f();</a:t>
            </a:r>
          </a:p>
          <a:p>
            <a:r>
              <a:rPr lang="en-US" sz="2200" b="1" dirty="0">
                <a:latin typeface="Consolas" panose="020B0609020204030204" pitchFamily="49" charset="0"/>
                <a:cs typeface="Consolas" panose="020B0609020204030204" pitchFamily="49" charset="0"/>
              </a:rPr>
              <a:t>}</a:t>
            </a:r>
          </a:p>
          <a:p>
            <a:endParaRPr lang="en-US" sz="2200" b="1" dirty="0">
              <a:latin typeface="Consolas" panose="020B0609020204030204" pitchFamily="49" charset="0"/>
              <a:cs typeface="Consolas" panose="020B0609020204030204" pitchFamily="49" charset="0"/>
            </a:endParaRPr>
          </a:p>
          <a:p>
            <a:r>
              <a:rPr lang="en-US" sz="2200" b="1" dirty="0">
                <a:solidFill>
                  <a:srgbClr val="FF0000"/>
                </a:solidFill>
                <a:latin typeface="Consolas" panose="020B0609020204030204" pitchFamily="49" charset="0"/>
                <a:cs typeface="Consolas" panose="020B0609020204030204" pitchFamily="49" charset="0"/>
              </a:rPr>
              <a:t>void</a:t>
            </a:r>
            <a:r>
              <a:rPr lang="en-US" sz="2200" b="1" dirty="0">
                <a:latin typeface="Consolas" panose="020B0609020204030204" pitchFamily="49" charset="0"/>
                <a:cs typeface="Consolas" panose="020B0609020204030204" pitchFamily="49" charset="0"/>
              </a:rPr>
              <a:t> f() {</a:t>
            </a:r>
            <a:br>
              <a:rPr lang="en-US" sz="2200" b="1" dirty="0">
                <a:latin typeface="Consolas" panose="020B0609020204030204" pitchFamily="49" charset="0"/>
                <a:cs typeface="Consolas" panose="020B0609020204030204" pitchFamily="49" charset="0"/>
              </a:rPr>
            </a:br>
            <a:r>
              <a:rPr lang="en-US" sz="2200" b="1" dirty="0">
                <a:latin typeface="Consolas" panose="020B0609020204030204" pitchFamily="49" charset="0"/>
                <a:cs typeface="Consolas" panose="020B0609020204030204" pitchFamily="49" charset="0"/>
              </a:rPr>
              <a:t>  </a:t>
            </a:r>
            <a:r>
              <a:rPr lang="en-US" sz="2200" b="1" dirty="0" err="1">
                <a:latin typeface="Consolas" panose="020B0609020204030204" pitchFamily="49" charset="0"/>
                <a:cs typeface="Consolas" panose="020B0609020204030204" pitchFamily="49" charset="0"/>
              </a:rPr>
              <a:t>printf</a:t>
            </a:r>
            <a:r>
              <a:rPr lang="en-US" sz="2200" b="1" dirty="0">
                <a:latin typeface="Consolas" panose="020B0609020204030204" pitchFamily="49" charset="0"/>
                <a:cs typeface="Consolas" panose="020B0609020204030204" pitchFamily="49" charset="0"/>
              </a:rPr>
              <a:t>(</a:t>
            </a:r>
            <a:r>
              <a:rPr lang="en-US" sz="2200" b="1" dirty="0">
                <a:solidFill>
                  <a:schemeClr val="accent6">
                    <a:lumMod val="75000"/>
                  </a:schemeClr>
                </a:solidFill>
                <a:latin typeface="Consolas" panose="020B0609020204030204" pitchFamily="49" charset="0"/>
                <a:cs typeface="Consolas" panose="020B0609020204030204" pitchFamily="49" charset="0"/>
              </a:rPr>
              <a:t>"m = %d\n"</a:t>
            </a:r>
            <a:r>
              <a:rPr lang="en-US" sz="2200" b="1" dirty="0">
                <a:latin typeface="Consolas" panose="020B0609020204030204" pitchFamily="49" charset="0"/>
                <a:cs typeface="Consolas" panose="020B0609020204030204" pitchFamily="49" charset="0"/>
              </a:rPr>
              <a:t>, m);</a:t>
            </a:r>
          </a:p>
          <a:p>
            <a:r>
              <a:rPr lang="en-US" sz="2200" b="1" dirty="0">
                <a:latin typeface="Consolas" panose="020B0609020204030204" pitchFamily="49" charset="0"/>
                <a:cs typeface="Consolas" panose="020B0609020204030204" pitchFamily="49" charset="0"/>
              </a:rPr>
              <a:t>}</a:t>
            </a:r>
          </a:p>
        </p:txBody>
      </p:sp>
      <p:sp>
        <p:nvSpPr>
          <p:cNvPr id="10" name="TextBox 9">
            <a:extLst>
              <a:ext uri="{FF2B5EF4-FFF2-40B4-BE49-F238E27FC236}">
                <a16:creationId xmlns:a16="http://schemas.microsoft.com/office/drawing/2014/main" id="{1165110D-AF09-8F4C-AF88-88BAEDCC556B}"/>
              </a:ext>
            </a:extLst>
          </p:cNvPr>
          <p:cNvSpPr txBox="1"/>
          <p:nvPr/>
        </p:nvSpPr>
        <p:spPr>
          <a:xfrm>
            <a:off x="3124200" y="1409700"/>
            <a:ext cx="4800600" cy="769441"/>
          </a:xfrm>
          <a:prstGeom prst="rect">
            <a:avLst/>
          </a:prstGeom>
          <a:noFill/>
        </p:spPr>
        <p:txBody>
          <a:bodyPr wrap="square" rtlCol="0">
            <a:spAutoFit/>
          </a:bodyPr>
          <a:lstStyle/>
          <a:p>
            <a:pPr algn="ctr"/>
            <a:r>
              <a:rPr lang="en-US" sz="2200" dirty="0"/>
              <a:t>you know</a:t>
            </a:r>
            <a:r>
              <a:rPr lang="en-US" sz="2200" i="1" dirty="0"/>
              <a:t> </a:t>
            </a:r>
            <a:r>
              <a:rPr lang="en-US" sz="2200" dirty="0"/>
              <a:t>that this is wrong, but not every language works like this!</a:t>
            </a:r>
          </a:p>
        </p:txBody>
      </p:sp>
      <p:sp>
        <p:nvSpPr>
          <p:cNvPr id="11" name="TextBox 10">
            <a:extLst>
              <a:ext uri="{FF2B5EF4-FFF2-40B4-BE49-F238E27FC236}">
                <a16:creationId xmlns:a16="http://schemas.microsoft.com/office/drawing/2014/main" id="{ECDABB88-C7C4-9549-8825-015ED9900E89}"/>
              </a:ext>
            </a:extLst>
          </p:cNvPr>
          <p:cNvSpPr txBox="1"/>
          <p:nvPr/>
        </p:nvSpPr>
        <p:spPr>
          <a:xfrm>
            <a:off x="4572000" y="2561808"/>
            <a:ext cx="4343400" cy="1107996"/>
          </a:xfrm>
          <a:prstGeom prst="rect">
            <a:avLst/>
          </a:prstGeom>
          <a:noFill/>
        </p:spPr>
        <p:txBody>
          <a:bodyPr wrap="square" rtlCol="0">
            <a:spAutoFit/>
          </a:bodyPr>
          <a:lstStyle/>
          <a:p>
            <a:pPr algn="ctr"/>
            <a:r>
              <a:rPr lang="en-US" sz="2200" dirty="0"/>
              <a:t>in some languages, </a:t>
            </a:r>
            <a:r>
              <a:rPr lang="en-US" sz="2200" b="1" dirty="0"/>
              <a:t>you can access the local variables of any function on the call stack.</a:t>
            </a:r>
            <a:endParaRPr lang="en-US" sz="2200" dirty="0"/>
          </a:p>
        </p:txBody>
      </p:sp>
      <p:sp>
        <p:nvSpPr>
          <p:cNvPr id="12" name="TextBox 11">
            <a:extLst>
              <a:ext uri="{FF2B5EF4-FFF2-40B4-BE49-F238E27FC236}">
                <a16:creationId xmlns:a16="http://schemas.microsoft.com/office/drawing/2014/main" id="{FBB8C2DC-343A-B24E-8DFC-40EBB18B8CB2}"/>
              </a:ext>
            </a:extLst>
          </p:cNvPr>
          <p:cNvSpPr txBox="1"/>
          <p:nvPr/>
        </p:nvSpPr>
        <p:spPr>
          <a:xfrm>
            <a:off x="1524001" y="4000500"/>
            <a:ext cx="7467600" cy="261610"/>
          </a:xfrm>
          <a:prstGeom prst="rect">
            <a:avLst/>
          </a:prstGeom>
          <a:noFill/>
        </p:spPr>
        <p:txBody>
          <a:bodyPr wrap="square" rtlCol="0">
            <a:spAutoFit/>
          </a:bodyPr>
          <a:lstStyle/>
          <a:p>
            <a:pPr algn="ctr"/>
            <a:r>
              <a:rPr lang="en-US" sz="1100" dirty="0"/>
              <a:t>this used to be somewhat common in older languages, but eventually we realized "wow that's confusing as hell"</a:t>
            </a:r>
          </a:p>
        </p:txBody>
      </p:sp>
      <p:sp>
        <p:nvSpPr>
          <p:cNvPr id="13" name="TextBox 12">
            <a:extLst>
              <a:ext uri="{FF2B5EF4-FFF2-40B4-BE49-F238E27FC236}">
                <a16:creationId xmlns:a16="http://schemas.microsoft.com/office/drawing/2014/main" id="{90AF84C4-46C1-264C-B6DF-262CCB37E682}"/>
              </a:ext>
            </a:extLst>
          </p:cNvPr>
          <p:cNvSpPr txBox="1"/>
          <p:nvPr/>
        </p:nvSpPr>
        <p:spPr>
          <a:xfrm>
            <a:off x="1371600" y="4346279"/>
            <a:ext cx="7534278" cy="769441"/>
          </a:xfrm>
          <a:prstGeom prst="rect">
            <a:avLst/>
          </a:prstGeom>
          <a:noFill/>
        </p:spPr>
        <p:txBody>
          <a:bodyPr wrap="square" rtlCol="0">
            <a:spAutoFit/>
          </a:bodyPr>
          <a:lstStyle/>
          <a:p>
            <a:pPr algn="ctr"/>
            <a:r>
              <a:rPr lang="en-US" sz="2200" dirty="0"/>
              <a:t>we've </a:t>
            </a:r>
            <a:r>
              <a:rPr lang="en-US" sz="2200" i="1" dirty="0"/>
              <a:t>kind of </a:t>
            </a:r>
            <a:r>
              <a:rPr lang="en-US" sz="2200" dirty="0"/>
              <a:t>settled on a common set of name resolution rules, but some languages can still surprise you.</a:t>
            </a:r>
          </a:p>
        </p:txBody>
      </p:sp>
    </p:spTree>
    <p:extLst>
      <p:ext uri="{BB962C8B-B14F-4D97-AF65-F5344CB8AC3E}">
        <p14:creationId xmlns:p14="http://schemas.microsoft.com/office/powerpoint/2010/main" val="409068135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83049-A72E-7A43-BCC9-4164F5EFD452}"/>
              </a:ext>
            </a:extLst>
          </p:cNvPr>
          <p:cNvSpPr>
            <a:spLocks noGrp="1"/>
          </p:cNvSpPr>
          <p:nvPr>
            <p:ph type="title"/>
          </p:nvPr>
        </p:nvSpPr>
        <p:spPr/>
        <p:txBody>
          <a:bodyPr/>
          <a:lstStyle/>
          <a:p>
            <a:r>
              <a:rPr lang="en-US" dirty="0"/>
              <a:t>Static vs. dynamic name resolution</a:t>
            </a:r>
          </a:p>
        </p:txBody>
      </p:sp>
      <p:sp>
        <p:nvSpPr>
          <p:cNvPr id="3" name="Content Placeholder 2">
            <a:extLst>
              <a:ext uri="{FF2B5EF4-FFF2-40B4-BE49-F238E27FC236}">
                <a16:creationId xmlns:a16="http://schemas.microsoft.com/office/drawing/2014/main" id="{98A785C5-D721-B44A-BEF7-CA58FA041312}"/>
              </a:ext>
            </a:extLst>
          </p:cNvPr>
          <p:cNvSpPr>
            <a:spLocks noGrp="1"/>
          </p:cNvSpPr>
          <p:nvPr>
            <p:ph idx="1"/>
          </p:nvPr>
        </p:nvSpPr>
        <p:spPr>
          <a:xfrm>
            <a:off x="152400" y="495301"/>
            <a:ext cx="8991600" cy="609599"/>
          </a:xfrm>
        </p:spPr>
        <p:txBody>
          <a:bodyPr/>
          <a:lstStyle/>
          <a:p>
            <a:r>
              <a:rPr lang="en-US" dirty="0"/>
              <a:t>some names' </a:t>
            </a:r>
            <a:r>
              <a:rPr lang="en-US" b="1" dirty="0"/>
              <a:t>referents</a:t>
            </a:r>
            <a:r>
              <a:rPr lang="en-US" dirty="0"/>
              <a:t> can't be decided until runtime.</a:t>
            </a:r>
          </a:p>
        </p:txBody>
      </p:sp>
      <p:sp>
        <p:nvSpPr>
          <p:cNvPr id="4" name="Slide Number Placeholder 3">
            <a:extLst>
              <a:ext uri="{FF2B5EF4-FFF2-40B4-BE49-F238E27FC236}">
                <a16:creationId xmlns:a16="http://schemas.microsoft.com/office/drawing/2014/main" id="{D23E4164-A9F7-0341-B9A3-E43AB7700FF0}"/>
              </a:ext>
            </a:extLst>
          </p:cNvPr>
          <p:cNvSpPr>
            <a:spLocks noGrp="1"/>
          </p:cNvSpPr>
          <p:nvPr>
            <p:ph type="sldNum" sz="quarter" idx="12"/>
          </p:nvPr>
        </p:nvSpPr>
        <p:spPr/>
        <p:txBody>
          <a:bodyPr/>
          <a:lstStyle/>
          <a:p>
            <a:fld id="{3552B95B-556F-44BD-91A5-D80C1B9E2BB3}" type="slidenum">
              <a:rPr lang="en-US" smtClean="0"/>
              <a:pPr/>
              <a:t>22</a:t>
            </a:fld>
            <a:endParaRPr lang="en-US"/>
          </a:p>
        </p:txBody>
      </p:sp>
      <p:sp>
        <p:nvSpPr>
          <p:cNvPr id="5" name="TextBox 4">
            <a:extLst>
              <a:ext uri="{FF2B5EF4-FFF2-40B4-BE49-F238E27FC236}">
                <a16:creationId xmlns:a16="http://schemas.microsoft.com/office/drawing/2014/main" id="{5F6C36E3-2A85-F144-A24D-7EB2FAB48578}"/>
              </a:ext>
            </a:extLst>
          </p:cNvPr>
          <p:cNvSpPr txBox="1"/>
          <p:nvPr/>
        </p:nvSpPr>
        <p:spPr>
          <a:xfrm>
            <a:off x="668585" y="1028700"/>
            <a:ext cx="7959230" cy="2123658"/>
          </a:xfrm>
          <a:prstGeom prst="rect">
            <a:avLst/>
          </a:prstGeom>
          <a:noFill/>
        </p:spPr>
        <p:txBody>
          <a:bodyPr wrap="none" rtlCol="0">
            <a:spAutoFit/>
          </a:bodyPr>
          <a:lstStyle/>
          <a:p>
            <a:r>
              <a:rPr lang="en-US" sz="2200" b="1" dirty="0">
                <a:solidFill>
                  <a:srgbClr val="FF0000"/>
                </a:solidFill>
                <a:latin typeface="Consolas" panose="020B0609020204030204" pitchFamily="49" charset="0"/>
                <a:cs typeface="Consolas" panose="020B0609020204030204" pitchFamily="49" charset="0"/>
              </a:rPr>
              <a:t>class</a:t>
            </a:r>
            <a:r>
              <a:rPr lang="en-US" sz="2200" b="1" dirty="0">
                <a:latin typeface="Consolas" panose="020B0609020204030204" pitchFamily="49" charset="0"/>
                <a:cs typeface="Consolas" panose="020B0609020204030204" pitchFamily="49" charset="0"/>
              </a:rPr>
              <a:t> A { String </a:t>
            </a:r>
            <a:r>
              <a:rPr lang="en-US" sz="2200" b="1" dirty="0" err="1">
                <a:latin typeface="Consolas" panose="020B0609020204030204" pitchFamily="49" charset="0"/>
                <a:cs typeface="Consolas" panose="020B0609020204030204" pitchFamily="49" charset="0"/>
              </a:rPr>
              <a:t>toString</a:t>
            </a:r>
            <a:r>
              <a:rPr lang="en-US" sz="2200" b="1" dirty="0">
                <a:latin typeface="Consolas" panose="020B0609020204030204" pitchFamily="49" charset="0"/>
                <a:cs typeface="Consolas" panose="020B0609020204030204" pitchFamily="49" charset="0"/>
              </a:rPr>
              <a:t>() { </a:t>
            </a:r>
            <a:r>
              <a:rPr lang="en-US" sz="2200" b="1" dirty="0">
                <a:solidFill>
                  <a:srgbClr val="FF0000"/>
                </a:solidFill>
                <a:latin typeface="Consolas" panose="020B0609020204030204" pitchFamily="49" charset="0"/>
                <a:cs typeface="Consolas" panose="020B0609020204030204" pitchFamily="49" charset="0"/>
              </a:rPr>
              <a:t>return</a:t>
            </a:r>
            <a:r>
              <a:rPr lang="en-US" sz="2200" b="1" dirty="0">
                <a:latin typeface="Consolas" panose="020B0609020204030204" pitchFamily="49" charset="0"/>
                <a:cs typeface="Consolas" panose="020B0609020204030204" pitchFamily="49" charset="0"/>
              </a:rPr>
              <a:t> </a:t>
            </a:r>
            <a:r>
              <a:rPr lang="en-US" sz="2200" b="1" dirty="0">
                <a:solidFill>
                  <a:schemeClr val="accent6">
                    <a:lumMod val="75000"/>
                  </a:schemeClr>
                </a:solidFill>
                <a:latin typeface="Consolas" panose="020B0609020204030204" pitchFamily="49" charset="0"/>
                <a:cs typeface="Consolas" panose="020B0609020204030204" pitchFamily="49" charset="0"/>
              </a:rPr>
              <a:t>"A"</a:t>
            </a:r>
            <a:r>
              <a:rPr lang="en-US" sz="2200" b="1" dirty="0">
                <a:latin typeface="Consolas" panose="020B0609020204030204" pitchFamily="49" charset="0"/>
                <a:cs typeface="Consolas" panose="020B0609020204030204" pitchFamily="49" charset="0"/>
              </a:rPr>
              <a:t>; } }</a:t>
            </a:r>
          </a:p>
          <a:p>
            <a:r>
              <a:rPr lang="en-US" sz="2200" b="1" dirty="0">
                <a:solidFill>
                  <a:srgbClr val="FF0000"/>
                </a:solidFill>
                <a:latin typeface="Consolas" panose="020B0609020204030204" pitchFamily="49" charset="0"/>
                <a:cs typeface="Consolas" panose="020B0609020204030204" pitchFamily="49" charset="0"/>
              </a:rPr>
              <a:t>class</a:t>
            </a:r>
            <a:r>
              <a:rPr lang="en-US" sz="2200" b="1" dirty="0">
                <a:latin typeface="Consolas" panose="020B0609020204030204" pitchFamily="49" charset="0"/>
                <a:cs typeface="Consolas" panose="020B0609020204030204" pitchFamily="49" charset="0"/>
              </a:rPr>
              <a:t> B { String </a:t>
            </a:r>
            <a:r>
              <a:rPr lang="en-US" sz="2200" b="1" dirty="0" err="1">
                <a:latin typeface="Consolas" panose="020B0609020204030204" pitchFamily="49" charset="0"/>
                <a:cs typeface="Consolas" panose="020B0609020204030204" pitchFamily="49" charset="0"/>
              </a:rPr>
              <a:t>toString</a:t>
            </a:r>
            <a:r>
              <a:rPr lang="en-US" sz="2200" b="1" dirty="0">
                <a:latin typeface="Consolas" panose="020B0609020204030204" pitchFamily="49" charset="0"/>
                <a:cs typeface="Consolas" panose="020B0609020204030204" pitchFamily="49" charset="0"/>
              </a:rPr>
              <a:t>() { </a:t>
            </a:r>
            <a:r>
              <a:rPr lang="en-US" sz="2200" b="1" dirty="0">
                <a:solidFill>
                  <a:srgbClr val="FF0000"/>
                </a:solidFill>
                <a:latin typeface="Consolas" panose="020B0609020204030204" pitchFamily="49" charset="0"/>
                <a:cs typeface="Consolas" panose="020B0609020204030204" pitchFamily="49" charset="0"/>
              </a:rPr>
              <a:t>return</a:t>
            </a:r>
            <a:r>
              <a:rPr lang="en-US" sz="2200" b="1" dirty="0">
                <a:latin typeface="Consolas" panose="020B0609020204030204" pitchFamily="49" charset="0"/>
                <a:cs typeface="Consolas" panose="020B0609020204030204" pitchFamily="49" charset="0"/>
              </a:rPr>
              <a:t> </a:t>
            </a:r>
            <a:r>
              <a:rPr lang="en-US" sz="2200" b="1" dirty="0">
                <a:solidFill>
                  <a:schemeClr val="accent6">
                    <a:lumMod val="75000"/>
                  </a:schemeClr>
                </a:solidFill>
                <a:latin typeface="Consolas" panose="020B0609020204030204" pitchFamily="49" charset="0"/>
                <a:cs typeface="Consolas" panose="020B0609020204030204" pitchFamily="49" charset="0"/>
              </a:rPr>
              <a:t>"B"</a:t>
            </a:r>
            <a:r>
              <a:rPr lang="en-US" sz="2200" b="1" dirty="0">
                <a:latin typeface="Consolas" panose="020B0609020204030204" pitchFamily="49" charset="0"/>
                <a:cs typeface="Consolas" panose="020B0609020204030204" pitchFamily="49" charset="0"/>
              </a:rPr>
              <a:t>; } }</a:t>
            </a:r>
          </a:p>
          <a:p>
            <a:br>
              <a:rPr lang="en-US" sz="2200" b="1" dirty="0">
                <a:latin typeface="Consolas" panose="020B0609020204030204" pitchFamily="49" charset="0"/>
                <a:cs typeface="Consolas" panose="020B0609020204030204" pitchFamily="49" charset="0"/>
              </a:rPr>
            </a:br>
            <a:r>
              <a:rPr lang="en-US" sz="2200" b="1" dirty="0">
                <a:latin typeface="Consolas" panose="020B0609020204030204" pitchFamily="49" charset="0"/>
                <a:cs typeface="Consolas" panose="020B0609020204030204" pitchFamily="49" charset="0"/>
              </a:rPr>
              <a:t>Object[] </a:t>
            </a:r>
            <a:r>
              <a:rPr lang="en-US" sz="2200" b="1" dirty="0" err="1">
                <a:latin typeface="Consolas" panose="020B0609020204030204" pitchFamily="49" charset="0"/>
                <a:cs typeface="Consolas" panose="020B0609020204030204" pitchFamily="49" charset="0"/>
              </a:rPr>
              <a:t>objs</a:t>
            </a:r>
            <a:r>
              <a:rPr lang="en-US" sz="2200" b="1" dirty="0">
                <a:latin typeface="Consolas" panose="020B0609020204030204" pitchFamily="49" charset="0"/>
                <a:cs typeface="Consolas" panose="020B0609020204030204" pitchFamily="49" charset="0"/>
              </a:rPr>
              <a:t> = </a:t>
            </a:r>
            <a:r>
              <a:rPr lang="en-US" sz="2200" b="1" dirty="0">
                <a:solidFill>
                  <a:srgbClr val="FF0000"/>
                </a:solidFill>
                <a:latin typeface="Consolas" panose="020B0609020204030204" pitchFamily="49" charset="0"/>
                <a:cs typeface="Consolas" panose="020B0609020204030204" pitchFamily="49" charset="0"/>
              </a:rPr>
              <a:t>new</a:t>
            </a:r>
            <a:r>
              <a:rPr lang="en-US" sz="2200" b="1" dirty="0">
                <a:latin typeface="Consolas" panose="020B0609020204030204" pitchFamily="49" charset="0"/>
                <a:cs typeface="Consolas" panose="020B0609020204030204" pitchFamily="49" charset="0"/>
              </a:rPr>
              <a:t> Object []{ </a:t>
            </a:r>
            <a:r>
              <a:rPr lang="en-US" sz="2200" b="1" dirty="0">
                <a:solidFill>
                  <a:srgbClr val="FF0000"/>
                </a:solidFill>
                <a:latin typeface="Consolas" panose="020B0609020204030204" pitchFamily="49" charset="0"/>
                <a:cs typeface="Consolas" panose="020B0609020204030204" pitchFamily="49" charset="0"/>
              </a:rPr>
              <a:t>new</a:t>
            </a:r>
            <a:r>
              <a:rPr lang="en-US" sz="2200" b="1" dirty="0">
                <a:latin typeface="Consolas" panose="020B0609020204030204" pitchFamily="49" charset="0"/>
                <a:cs typeface="Consolas" panose="020B0609020204030204" pitchFamily="49" charset="0"/>
              </a:rPr>
              <a:t> A(), </a:t>
            </a:r>
            <a:r>
              <a:rPr lang="en-US" sz="2200" b="1" dirty="0">
                <a:solidFill>
                  <a:srgbClr val="FF0000"/>
                </a:solidFill>
                <a:latin typeface="Consolas" panose="020B0609020204030204" pitchFamily="49" charset="0"/>
                <a:cs typeface="Consolas" panose="020B0609020204030204" pitchFamily="49" charset="0"/>
              </a:rPr>
              <a:t>new</a:t>
            </a:r>
            <a:r>
              <a:rPr lang="en-US" sz="2200" b="1" dirty="0">
                <a:latin typeface="Consolas" panose="020B0609020204030204" pitchFamily="49" charset="0"/>
                <a:cs typeface="Consolas" panose="020B0609020204030204" pitchFamily="49" charset="0"/>
              </a:rPr>
              <a:t> B() };</a:t>
            </a:r>
          </a:p>
          <a:p>
            <a:r>
              <a:rPr lang="en-US" sz="2200" b="1" dirty="0">
                <a:solidFill>
                  <a:srgbClr val="FF0000"/>
                </a:solidFill>
                <a:latin typeface="Consolas" panose="020B0609020204030204" pitchFamily="49" charset="0"/>
                <a:cs typeface="Consolas" panose="020B0609020204030204" pitchFamily="49" charset="0"/>
              </a:rPr>
              <a:t>for</a:t>
            </a:r>
            <a:r>
              <a:rPr lang="en-US" sz="2200" b="1" dirty="0">
                <a:latin typeface="Consolas" panose="020B0609020204030204" pitchFamily="49" charset="0"/>
                <a:cs typeface="Consolas" panose="020B0609020204030204" pitchFamily="49" charset="0"/>
              </a:rPr>
              <a:t>(Object o : </a:t>
            </a:r>
            <a:r>
              <a:rPr lang="en-US" sz="2200" b="1" dirty="0" err="1">
                <a:latin typeface="Consolas" panose="020B0609020204030204" pitchFamily="49" charset="0"/>
                <a:cs typeface="Consolas" panose="020B0609020204030204" pitchFamily="49" charset="0"/>
              </a:rPr>
              <a:t>objs</a:t>
            </a:r>
            <a:r>
              <a:rPr lang="en-US" sz="2200" b="1" dirty="0">
                <a:latin typeface="Consolas" panose="020B0609020204030204" pitchFamily="49" charset="0"/>
                <a:cs typeface="Consolas" panose="020B0609020204030204" pitchFamily="49" charset="0"/>
              </a:rPr>
              <a:t>)</a:t>
            </a:r>
          </a:p>
          <a:p>
            <a:r>
              <a:rPr lang="en-US" sz="2200" b="1" dirty="0">
                <a:latin typeface="Consolas" panose="020B0609020204030204" pitchFamily="49" charset="0"/>
                <a:cs typeface="Consolas" panose="020B0609020204030204" pitchFamily="49" charset="0"/>
              </a:rPr>
              <a:t>    </a:t>
            </a:r>
            <a:r>
              <a:rPr lang="en-US" sz="2200" b="1" dirty="0" err="1">
                <a:latin typeface="Consolas" panose="020B0609020204030204" pitchFamily="49" charset="0"/>
                <a:cs typeface="Consolas" panose="020B0609020204030204" pitchFamily="49" charset="0"/>
              </a:rPr>
              <a:t>System.out.println</a:t>
            </a:r>
            <a:r>
              <a:rPr lang="en-US" sz="2200" b="1" dirty="0">
                <a:latin typeface="Consolas" panose="020B0609020204030204" pitchFamily="49" charset="0"/>
                <a:cs typeface="Consolas" panose="020B0609020204030204" pitchFamily="49" charset="0"/>
              </a:rPr>
              <a:t>(</a:t>
            </a:r>
            <a:r>
              <a:rPr lang="en-US" sz="2200" b="1" dirty="0" err="1">
                <a:latin typeface="Consolas" panose="020B0609020204030204" pitchFamily="49" charset="0"/>
                <a:cs typeface="Consolas" panose="020B0609020204030204" pitchFamily="49" charset="0"/>
              </a:rPr>
              <a:t>o.toString</a:t>
            </a:r>
            <a:r>
              <a:rPr lang="en-US" sz="2200" b="1" dirty="0">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4A65A6DB-98FE-3F46-A14E-ECEBB7B4E676}"/>
              </a:ext>
            </a:extLst>
          </p:cNvPr>
          <p:cNvSpPr txBox="1"/>
          <p:nvPr/>
        </p:nvSpPr>
        <p:spPr>
          <a:xfrm>
            <a:off x="1981200" y="3394115"/>
            <a:ext cx="6477000" cy="430887"/>
          </a:xfrm>
          <a:prstGeom prst="rect">
            <a:avLst/>
          </a:prstGeom>
          <a:noFill/>
        </p:spPr>
        <p:txBody>
          <a:bodyPr wrap="square" rtlCol="0">
            <a:spAutoFit/>
          </a:bodyPr>
          <a:lstStyle/>
          <a:p>
            <a:pPr algn="ctr"/>
            <a:r>
              <a:rPr lang="en-US" sz="2200" i="1" dirty="0"/>
              <a:t>which</a:t>
            </a:r>
            <a:r>
              <a:rPr lang="en-US" sz="2200" dirty="0"/>
              <a:t> </a:t>
            </a:r>
            <a:r>
              <a:rPr lang="en-US" sz="2200" b="1" dirty="0" err="1">
                <a:latin typeface="Consolas" panose="020B0609020204030204" pitchFamily="49" charset="0"/>
                <a:cs typeface="Consolas" panose="020B0609020204030204" pitchFamily="49" charset="0"/>
              </a:rPr>
              <a:t>toString</a:t>
            </a:r>
            <a:r>
              <a:rPr lang="en-US" sz="2200" b="1" dirty="0">
                <a:latin typeface="Consolas" panose="020B0609020204030204" pitchFamily="49" charset="0"/>
                <a:cs typeface="Consolas" panose="020B0609020204030204" pitchFamily="49" charset="0"/>
              </a:rPr>
              <a:t>()</a:t>
            </a:r>
            <a:r>
              <a:rPr lang="en-US" sz="2200" b="1" dirty="0"/>
              <a:t> </a:t>
            </a:r>
            <a:r>
              <a:rPr lang="en-US" sz="2200" dirty="0"/>
              <a:t>does </a:t>
            </a:r>
            <a:r>
              <a:rPr lang="en-US" sz="2200" b="1" dirty="0" err="1">
                <a:latin typeface="Consolas" panose="020B0609020204030204" pitchFamily="49" charset="0"/>
                <a:cs typeface="Consolas" panose="020B0609020204030204" pitchFamily="49" charset="0"/>
              </a:rPr>
              <a:t>o.toString</a:t>
            </a:r>
            <a:r>
              <a:rPr lang="en-US" sz="2200" b="1" dirty="0">
                <a:latin typeface="Consolas" panose="020B0609020204030204" pitchFamily="49" charset="0"/>
                <a:cs typeface="Consolas" panose="020B0609020204030204" pitchFamily="49" charset="0"/>
              </a:rPr>
              <a:t>()</a:t>
            </a:r>
            <a:r>
              <a:rPr lang="en-US" sz="2200" dirty="0"/>
              <a:t> refer to?</a:t>
            </a:r>
            <a:endParaRPr lang="en-US" sz="2200" i="1" dirty="0"/>
          </a:p>
        </p:txBody>
      </p:sp>
      <p:sp>
        <p:nvSpPr>
          <p:cNvPr id="7" name="TextBox 6">
            <a:extLst>
              <a:ext uri="{FF2B5EF4-FFF2-40B4-BE49-F238E27FC236}">
                <a16:creationId xmlns:a16="http://schemas.microsoft.com/office/drawing/2014/main" id="{B8744F43-66FB-A947-8FAD-002BA43192A2}"/>
              </a:ext>
            </a:extLst>
          </p:cNvPr>
          <p:cNvSpPr txBox="1"/>
          <p:nvPr/>
        </p:nvSpPr>
        <p:spPr>
          <a:xfrm>
            <a:off x="381000" y="3999720"/>
            <a:ext cx="5783860" cy="769441"/>
          </a:xfrm>
          <a:prstGeom prst="rect">
            <a:avLst/>
          </a:prstGeom>
          <a:noFill/>
        </p:spPr>
        <p:txBody>
          <a:bodyPr wrap="square" rtlCol="0">
            <a:spAutoFit/>
          </a:bodyPr>
          <a:lstStyle/>
          <a:p>
            <a:pPr algn="ctr"/>
            <a:r>
              <a:rPr lang="en-US" sz="2200" dirty="0"/>
              <a:t>on the other hand, all the class names, variable names etc. are </a:t>
            </a:r>
            <a:r>
              <a:rPr lang="en-US" sz="2200" b="1" dirty="0"/>
              <a:t>statically </a:t>
            </a:r>
            <a:r>
              <a:rPr lang="en-US" sz="2200" dirty="0"/>
              <a:t>resolved.</a:t>
            </a:r>
          </a:p>
        </p:txBody>
      </p:sp>
      <p:sp>
        <p:nvSpPr>
          <p:cNvPr id="9" name="TextBox 8">
            <a:extLst>
              <a:ext uri="{FF2B5EF4-FFF2-40B4-BE49-F238E27FC236}">
                <a16:creationId xmlns:a16="http://schemas.microsoft.com/office/drawing/2014/main" id="{2AE44202-FE67-CA4A-8484-E3FE4F69374C}"/>
              </a:ext>
            </a:extLst>
          </p:cNvPr>
          <p:cNvSpPr txBox="1"/>
          <p:nvPr/>
        </p:nvSpPr>
        <p:spPr>
          <a:xfrm>
            <a:off x="1497260" y="4810468"/>
            <a:ext cx="7303840" cy="430887"/>
          </a:xfrm>
          <a:prstGeom prst="rect">
            <a:avLst/>
          </a:prstGeom>
          <a:noFill/>
        </p:spPr>
        <p:txBody>
          <a:bodyPr wrap="square" rtlCol="0">
            <a:spAutoFit/>
          </a:bodyPr>
          <a:lstStyle/>
          <a:p>
            <a:pPr algn="ctr"/>
            <a:r>
              <a:rPr lang="en-US" sz="2200" dirty="0"/>
              <a:t>in some languages, </a:t>
            </a:r>
            <a:r>
              <a:rPr lang="en-US" sz="2200" i="1" dirty="0"/>
              <a:t>all</a:t>
            </a:r>
            <a:r>
              <a:rPr lang="en-US" sz="2200" dirty="0"/>
              <a:t> names are dynamically resolved.</a:t>
            </a:r>
          </a:p>
        </p:txBody>
      </p:sp>
      <p:sp>
        <p:nvSpPr>
          <p:cNvPr id="10" name="Left Brace 9">
            <a:extLst>
              <a:ext uri="{FF2B5EF4-FFF2-40B4-BE49-F238E27FC236}">
                <a16:creationId xmlns:a16="http://schemas.microsoft.com/office/drawing/2014/main" id="{4ACBAF8E-92E8-4941-82DC-E869267C09A5}"/>
              </a:ext>
            </a:extLst>
          </p:cNvPr>
          <p:cNvSpPr/>
          <p:nvPr/>
        </p:nvSpPr>
        <p:spPr>
          <a:xfrm rot="16200000">
            <a:off x="5087365" y="2348022"/>
            <a:ext cx="341293" cy="1813696"/>
          </a:xfrm>
          <a:prstGeom prst="leftBrace">
            <a:avLst>
              <a:gd name="adj1" fmla="val 44614"/>
              <a:gd name="adj2" fmla="val 50000"/>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24857572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9" grpId="0"/>
      <p:bldP spid="1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83049-A72E-7A43-BCC9-4164F5EFD452}"/>
              </a:ext>
            </a:extLst>
          </p:cNvPr>
          <p:cNvSpPr>
            <a:spLocks noGrp="1"/>
          </p:cNvSpPr>
          <p:nvPr>
            <p:ph type="title"/>
          </p:nvPr>
        </p:nvSpPr>
        <p:spPr/>
        <p:txBody>
          <a:bodyPr/>
          <a:lstStyle/>
          <a:p>
            <a:r>
              <a:rPr lang="en-US" dirty="0"/>
              <a:t>Round and round</a:t>
            </a:r>
          </a:p>
        </p:txBody>
      </p:sp>
      <p:sp>
        <p:nvSpPr>
          <p:cNvPr id="3" name="Content Placeholder 2">
            <a:extLst>
              <a:ext uri="{FF2B5EF4-FFF2-40B4-BE49-F238E27FC236}">
                <a16:creationId xmlns:a16="http://schemas.microsoft.com/office/drawing/2014/main" id="{98A785C5-D721-B44A-BEF7-CA58FA041312}"/>
              </a:ext>
            </a:extLst>
          </p:cNvPr>
          <p:cNvSpPr>
            <a:spLocks noGrp="1"/>
          </p:cNvSpPr>
          <p:nvPr>
            <p:ph idx="1"/>
          </p:nvPr>
        </p:nvSpPr>
        <p:spPr>
          <a:xfrm>
            <a:off x="152400" y="495302"/>
            <a:ext cx="8991600" cy="887610"/>
          </a:xfrm>
        </p:spPr>
        <p:txBody>
          <a:bodyPr>
            <a:normAutofit/>
          </a:bodyPr>
          <a:lstStyle/>
          <a:p>
            <a:r>
              <a:rPr lang="en-US" dirty="0"/>
              <a:t>name resolution can create a complex or even </a:t>
            </a:r>
            <a:r>
              <a:rPr lang="en-US" b="1" dirty="0"/>
              <a:t>cyclical </a:t>
            </a:r>
            <a:r>
              <a:rPr lang="en-US" dirty="0"/>
              <a:t>graph of dependencies between the parts of a program.</a:t>
            </a:r>
          </a:p>
        </p:txBody>
      </p:sp>
      <p:sp>
        <p:nvSpPr>
          <p:cNvPr id="4" name="Slide Number Placeholder 3">
            <a:extLst>
              <a:ext uri="{FF2B5EF4-FFF2-40B4-BE49-F238E27FC236}">
                <a16:creationId xmlns:a16="http://schemas.microsoft.com/office/drawing/2014/main" id="{D23E4164-A9F7-0341-B9A3-E43AB7700FF0}"/>
              </a:ext>
            </a:extLst>
          </p:cNvPr>
          <p:cNvSpPr>
            <a:spLocks noGrp="1"/>
          </p:cNvSpPr>
          <p:nvPr>
            <p:ph type="sldNum" sz="quarter" idx="12"/>
          </p:nvPr>
        </p:nvSpPr>
        <p:spPr/>
        <p:txBody>
          <a:bodyPr/>
          <a:lstStyle/>
          <a:p>
            <a:fld id="{3552B95B-556F-44BD-91A5-D80C1B9E2BB3}" type="slidenum">
              <a:rPr lang="en-US" smtClean="0"/>
              <a:pPr/>
              <a:t>23</a:t>
            </a:fld>
            <a:endParaRPr lang="en-US"/>
          </a:p>
        </p:txBody>
      </p:sp>
      <p:sp>
        <p:nvSpPr>
          <p:cNvPr id="5" name="TextBox 4">
            <a:extLst>
              <a:ext uri="{FF2B5EF4-FFF2-40B4-BE49-F238E27FC236}">
                <a16:creationId xmlns:a16="http://schemas.microsoft.com/office/drawing/2014/main" id="{5F6C36E3-2A85-F144-A24D-7EB2FAB48578}"/>
              </a:ext>
            </a:extLst>
          </p:cNvPr>
          <p:cNvSpPr txBox="1"/>
          <p:nvPr/>
        </p:nvSpPr>
        <p:spPr>
          <a:xfrm>
            <a:off x="457200" y="1356124"/>
            <a:ext cx="6559809" cy="2800767"/>
          </a:xfrm>
          <a:prstGeom prst="rect">
            <a:avLst/>
          </a:prstGeom>
          <a:noFill/>
        </p:spPr>
        <p:txBody>
          <a:bodyPr wrap="none" rtlCol="0">
            <a:spAutoFit/>
          </a:bodyPr>
          <a:lstStyle/>
          <a:p>
            <a:r>
              <a:rPr lang="en-US" sz="2200" b="1" dirty="0">
                <a:solidFill>
                  <a:srgbClr val="FF0000"/>
                </a:solidFill>
                <a:latin typeface="Consolas" panose="020B0609020204030204" pitchFamily="49" charset="0"/>
                <a:cs typeface="Consolas" panose="020B0609020204030204" pitchFamily="49" charset="0"/>
              </a:rPr>
              <a:t>class</a:t>
            </a:r>
            <a:r>
              <a:rPr lang="en-US" sz="2200" b="1" dirty="0">
                <a:latin typeface="Consolas" panose="020B0609020204030204" pitchFamily="49" charset="0"/>
                <a:cs typeface="Consolas" panose="020B0609020204030204" pitchFamily="49" charset="0"/>
              </a:rPr>
              <a:t> A {</a:t>
            </a:r>
          </a:p>
          <a:p>
            <a:r>
              <a:rPr lang="en-US" sz="2200" b="1" dirty="0">
                <a:latin typeface="Consolas" panose="020B0609020204030204" pitchFamily="49" charset="0"/>
                <a:cs typeface="Consolas" panose="020B0609020204030204" pitchFamily="49" charset="0"/>
              </a:rPr>
              <a:t>  </a:t>
            </a:r>
            <a:r>
              <a:rPr lang="en-US" sz="2200" b="1" dirty="0">
                <a:solidFill>
                  <a:srgbClr val="FF0000"/>
                </a:solidFill>
                <a:latin typeface="Consolas" panose="020B0609020204030204" pitchFamily="49" charset="0"/>
                <a:cs typeface="Consolas" panose="020B0609020204030204" pitchFamily="49" charset="0"/>
              </a:rPr>
              <a:t>void</a:t>
            </a:r>
            <a:r>
              <a:rPr lang="en-US" sz="2200" b="1" dirty="0">
                <a:latin typeface="Consolas" panose="020B0609020204030204" pitchFamily="49" charset="0"/>
                <a:cs typeface="Consolas" panose="020B0609020204030204" pitchFamily="49" charset="0"/>
              </a:rPr>
              <a:t> print(B b) { </a:t>
            </a:r>
            <a:r>
              <a:rPr lang="en-US" sz="2200" b="1" dirty="0" err="1">
                <a:latin typeface="Consolas" panose="020B0609020204030204" pitchFamily="49" charset="0"/>
                <a:cs typeface="Consolas" panose="020B0609020204030204" pitchFamily="49" charset="0"/>
              </a:rPr>
              <a:t>println</a:t>
            </a:r>
            <a:r>
              <a:rPr lang="en-US" sz="2200" b="1" dirty="0">
                <a:latin typeface="Consolas" panose="020B0609020204030204" pitchFamily="49" charset="0"/>
                <a:cs typeface="Consolas" panose="020B0609020204030204" pitchFamily="49" charset="0"/>
              </a:rPr>
              <a:t>(</a:t>
            </a:r>
            <a:r>
              <a:rPr lang="en-US" sz="2200" b="1" dirty="0" err="1">
                <a:latin typeface="Consolas" panose="020B0609020204030204" pitchFamily="49" charset="0"/>
                <a:cs typeface="Consolas" panose="020B0609020204030204" pitchFamily="49" charset="0"/>
              </a:rPr>
              <a:t>b.value</a:t>
            </a:r>
            <a:r>
              <a:rPr lang="en-US" sz="2200" b="1" dirty="0">
                <a:latin typeface="Consolas" panose="020B0609020204030204" pitchFamily="49" charset="0"/>
                <a:cs typeface="Consolas" panose="020B0609020204030204" pitchFamily="49" charset="0"/>
              </a:rPr>
              <a:t>()); }</a:t>
            </a:r>
          </a:p>
          <a:p>
            <a:r>
              <a:rPr lang="en-US" sz="2200" b="1" dirty="0">
                <a:latin typeface="Consolas" panose="020B0609020204030204" pitchFamily="49" charset="0"/>
                <a:cs typeface="Consolas" panose="020B0609020204030204" pitchFamily="49" charset="0"/>
              </a:rPr>
              <a:t>  </a:t>
            </a:r>
            <a:r>
              <a:rPr lang="en-US" sz="2200" b="1" dirty="0">
                <a:solidFill>
                  <a:srgbClr val="FF0000"/>
                </a:solidFill>
                <a:latin typeface="Consolas" panose="020B0609020204030204" pitchFamily="49" charset="0"/>
                <a:cs typeface="Consolas" panose="020B0609020204030204" pitchFamily="49" charset="0"/>
              </a:rPr>
              <a:t>int</a:t>
            </a:r>
            <a:r>
              <a:rPr lang="en-US" sz="2200" b="1" dirty="0">
                <a:latin typeface="Consolas" panose="020B0609020204030204" pitchFamily="49" charset="0"/>
                <a:cs typeface="Consolas" panose="020B0609020204030204" pitchFamily="49" charset="0"/>
              </a:rPr>
              <a:t> value()     { </a:t>
            </a:r>
            <a:r>
              <a:rPr lang="en-US" sz="2200" b="1" dirty="0">
                <a:solidFill>
                  <a:srgbClr val="FF0000"/>
                </a:solidFill>
                <a:latin typeface="Consolas" panose="020B0609020204030204" pitchFamily="49" charset="0"/>
                <a:cs typeface="Consolas" panose="020B0609020204030204" pitchFamily="49" charset="0"/>
              </a:rPr>
              <a:t>return</a:t>
            </a:r>
            <a:r>
              <a:rPr lang="en-US" sz="2200" b="1" dirty="0">
                <a:latin typeface="Consolas" panose="020B0609020204030204" pitchFamily="49" charset="0"/>
                <a:cs typeface="Consolas" panose="020B0609020204030204" pitchFamily="49" charset="0"/>
              </a:rPr>
              <a:t> </a:t>
            </a:r>
            <a:r>
              <a:rPr lang="en-US" sz="2200" b="1" dirty="0">
                <a:solidFill>
                  <a:schemeClr val="accent3">
                    <a:lumMod val="75000"/>
                  </a:schemeClr>
                </a:solidFill>
                <a:latin typeface="Consolas" panose="020B0609020204030204" pitchFamily="49" charset="0"/>
                <a:cs typeface="Consolas" panose="020B0609020204030204" pitchFamily="49" charset="0"/>
              </a:rPr>
              <a:t>10</a:t>
            </a:r>
            <a:r>
              <a:rPr lang="en-US" sz="2200" b="1" dirty="0">
                <a:latin typeface="Consolas" panose="020B0609020204030204" pitchFamily="49" charset="0"/>
                <a:cs typeface="Consolas" panose="020B0609020204030204" pitchFamily="49" charset="0"/>
              </a:rPr>
              <a:t>; }</a:t>
            </a:r>
          </a:p>
          <a:p>
            <a:r>
              <a:rPr lang="en-US" sz="2200" b="1" dirty="0">
                <a:latin typeface="Consolas" panose="020B0609020204030204" pitchFamily="49" charset="0"/>
                <a:cs typeface="Consolas" panose="020B0609020204030204" pitchFamily="49" charset="0"/>
              </a:rPr>
              <a:t>}</a:t>
            </a:r>
            <a:endParaRPr lang="en-US" sz="2200" b="1" dirty="0">
              <a:solidFill>
                <a:srgbClr val="FF0000"/>
              </a:solidFill>
              <a:latin typeface="Consolas" panose="020B0609020204030204" pitchFamily="49" charset="0"/>
              <a:cs typeface="Consolas" panose="020B0609020204030204" pitchFamily="49" charset="0"/>
            </a:endParaRPr>
          </a:p>
          <a:p>
            <a:r>
              <a:rPr lang="en-US" sz="2200" b="1" dirty="0">
                <a:solidFill>
                  <a:srgbClr val="FF0000"/>
                </a:solidFill>
                <a:latin typeface="Consolas" panose="020B0609020204030204" pitchFamily="49" charset="0"/>
                <a:cs typeface="Consolas" panose="020B0609020204030204" pitchFamily="49" charset="0"/>
              </a:rPr>
              <a:t>class</a:t>
            </a:r>
            <a:r>
              <a:rPr lang="en-US" sz="2200" b="1" dirty="0">
                <a:latin typeface="Consolas" panose="020B0609020204030204" pitchFamily="49" charset="0"/>
                <a:cs typeface="Consolas" panose="020B0609020204030204" pitchFamily="49" charset="0"/>
              </a:rPr>
              <a:t> B {</a:t>
            </a:r>
          </a:p>
          <a:p>
            <a:r>
              <a:rPr lang="en-US" sz="2200" b="1" dirty="0">
                <a:latin typeface="Consolas" panose="020B0609020204030204" pitchFamily="49" charset="0"/>
                <a:cs typeface="Consolas" panose="020B0609020204030204" pitchFamily="49" charset="0"/>
              </a:rPr>
              <a:t>  </a:t>
            </a:r>
            <a:r>
              <a:rPr lang="en-US" sz="2200" b="1" dirty="0">
                <a:solidFill>
                  <a:srgbClr val="FF0000"/>
                </a:solidFill>
                <a:latin typeface="Consolas" panose="020B0609020204030204" pitchFamily="49" charset="0"/>
                <a:cs typeface="Consolas" panose="020B0609020204030204" pitchFamily="49" charset="0"/>
              </a:rPr>
              <a:t>void</a:t>
            </a:r>
            <a:r>
              <a:rPr lang="en-US" sz="2200" b="1" dirty="0">
                <a:latin typeface="Consolas" panose="020B0609020204030204" pitchFamily="49" charset="0"/>
                <a:cs typeface="Consolas" panose="020B0609020204030204" pitchFamily="49" charset="0"/>
              </a:rPr>
              <a:t> print(A a) { </a:t>
            </a:r>
            <a:r>
              <a:rPr lang="en-US" sz="2200" b="1" dirty="0" err="1">
                <a:latin typeface="Consolas" panose="020B0609020204030204" pitchFamily="49" charset="0"/>
                <a:cs typeface="Consolas" panose="020B0609020204030204" pitchFamily="49" charset="0"/>
              </a:rPr>
              <a:t>println</a:t>
            </a:r>
            <a:r>
              <a:rPr lang="en-US" sz="2200" b="1" dirty="0">
                <a:latin typeface="Consolas" panose="020B0609020204030204" pitchFamily="49" charset="0"/>
                <a:cs typeface="Consolas" panose="020B0609020204030204" pitchFamily="49" charset="0"/>
              </a:rPr>
              <a:t>(</a:t>
            </a:r>
            <a:r>
              <a:rPr lang="en-US" sz="2200" b="1" dirty="0" err="1">
                <a:latin typeface="Consolas" panose="020B0609020204030204" pitchFamily="49" charset="0"/>
                <a:cs typeface="Consolas" panose="020B0609020204030204" pitchFamily="49" charset="0"/>
              </a:rPr>
              <a:t>a.value</a:t>
            </a:r>
            <a:r>
              <a:rPr lang="en-US" sz="2200" b="1" dirty="0">
                <a:latin typeface="Consolas" panose="020B0609020204030204" pitchFamily="49" charset="0"/>
                <a:cs typeface="Consolas" panose="020B0609020204030204" pitchFamily="49" charset="0"/>
              </a:rPr>
              <a:t>()); }</a:t>
            </a:r>
          </a:p>
          <a:p>
            <a:r>
              <a:rPr lang="en-US" sz="2200" b="1" dirty="0">
                <a:latin typeface="Consolas" panose="020B0609020204030204" pitchFamily="49" charset="0"/>
                <a:cs typeface="Consolas" panose="020B0609020204030204" pitchFamily="49" charset="0"/>
              </a:rPr>
              <a:t>  </a:t>
            </a:r>
            <a:r>
              <a:rPr lang="en-US" sz="2200" b="1" dirty="0">
                <a:solidFill>
                  <a:srgbClr val="FF0000"/>
                </a:solidFill>
                <a:latin typeface="Consolas" panose="020B0609020204030204" pitchFamily="49" charset="0"/>
                <a:cs typeface="Consolas" panose="020B0609020204030204" pitchFamily="49" charset="0"/>
              </a:rPr>
              <a:t>int</a:t>
            </a:r>
            <a:r>
              <a:rPr lang="en-US" sz="2200" b="1" dirty="0">
                <a:latin typeface="Consolas" panose="020B0609020204030204" pitchFamily="49" charset="0"/>
                <a:cs typeface="Consolas" panose="020B0609020204030204" pitchFamily="49" charset="0"/>
              </a:rPr>
              <a:t> value()     { </a:t>
            </a:r>
            <a:r>
              <a:rPr lang="en-US" sz="2200" b="1" dirty="0">
                <a:solidFill>
                  <a:srgbClr val="FF0000"/>
                </a:solidFill>
                <a:latin typeface="Consolas" panose="020B0609020204030204" pitchFamily="49" charset="0"/>
                <a:cs typeface="Consolas" panose="020B0609020204030204" pitchFamily="49" charset="0"/>
              </a:rPr>
              <a:t>return</a:t>
            </a:r>
            <a:r>
              <a:rPr lang="en-US" sz="2200" b="1" dirty="0">
                <a:latin typeface="Consolas" panose="020B0609020204030204" pitchFamily="49" charset="0"/>
                <a:cs typeface="Consolas" panose="020B0609020204030204" pitchFamily="49" charset="0"/>
              </a:rPr>
              <a:t> </a:t>
            </a:r>
            <a:r>
              <a:rPr lang="en-US" sz="2200" b="1" dirty="0">
                <a:solidFill>
                  <a:schemeClr val="accent3">
                    <a:lumMod val="75000"/>
                  </a:schemeClr>
                </a:solidFill>
                <a:latin typeface="Consolas" panose="020B0609020204030204" pitchFamily="49" charset="0"/>
                <a:cs typeface="Consolas" panose="020B0609020204030204" pitchFamily="49" charset="0"/>
              </a:rPr>
              <a:t>20</a:t>
            </a:r>
            <a:r>
              <a:rPr lang="en-US" sz="2200" b="1" dirty="0">
                <a:latin typeface="Consolas" panose="020B0609020204030204" pitchFamily="49" charset="0"/>
                <a:cs typeface="Consolas" panose="020B0609020204030204" pitchFamily="49" charset="0"/>
              </a:rPr>
              <a:t>; }</a:t>
            </a:r>
          </a:p>
          <a:p>
            <a:r>
              <a:rPr lang="en-US" sz="2200" b="1" dirty="0">
                <a:latin typeface="Consolas" panose="020B0609020204030204" pitchFamily="49" charset="0"/>
                <a:cs typeface="Consolas" panose="020B0609020204030204" pitchFamily="49" charset="0"/>
              </a:rPr>
              <a:t>}</a:t>
            </a:r>
            <a:endParaRPr lang="en-US" sz="2200" b="1" dirty="0">
              <a:solidFill>
                <a:srgbClr val="FF0000"/>
              </a:solidFill>
              <a:latin typeface="Consolas" panose="020B0609020204030204" pitchFamily="49" charset="0"/>
              <a:cs typeface="Consolas" panose="020B0609020204030204" pitchFamily="49" charset="0"/>
            </a:endParaRPr>
          </a:p>
        </p:txBody>
      </p:sp>
      <p:sp>
        <p:nvSpPr>
          <p:cNvPr id="7" name="TextBox 6">
            <a:extLst>
              <a:ext uri="{FF2B5EF4-FFF2-40B4-BE49-F238E27FC236}">
                <a16:creationId xmlns:a16="http://schemas.microsoft.com/office/drawing/2014/main" id="{B8744F43-66FB-A947-8FAD-002BA43192A2}"/>
              </a:ext>
            </a:extLst>
          </p:cNvPr>
          <p:cNvSpPr txBox="1"/>
          <p:nvPr/>
        </p:nvSpPr>
        <p:spPr>
          <a:xfrm>
            <a:off x="3737104" y="2541063"/>
            <a:ext cx="5117110" cy="430887"/>
          </a:xfrm>
          <a:prstGeom prst="rect">
            <a:avLst/>
          </a:prstGeom>
          <a:noFill/>
        </p:spPr>
        <p:txBody>
          <a:bodyPr wrap="square" rtlCol="0">
            <a:spAutoFit/>
          </a:bodyPr>
          <a:lstStyle/>
          <a:p>
            <a:pPr algn="ctr"/>
            <a:r>
              <a:rPr lang="en-US" sz="2200" dirty="0"/>
              <a:t>A depends on B, and B depends on A.</a:t>
            </a:r>
          </a:p>
        </p:txBody>
      </p:sp>
      <p:sp>
        <p:nvSpPr>
          <p:cNvPr id="9" name="TextBox 8">
            <a:extLst>
              <a:ext uri="{FF2B5EF4-FFF2-40B4-BE49-F238E27FC236}">
                <a16:creationId xmlns:a16="http://schemas.microsoft.com/office/drawing/2014/main" id="{2AE44202-FE67-CA4A-8484-E3FE4F69374C}"/>
              </a:ext>
            </a:extLst>
          </p:cNvPr>
          <p:cNvSpPr txBox="1"/>
          <p:nvPr/>
        </p:nvSpPr>
        <p:spPr>
          <a:xfrm>
            <a:off x="1296520" y="3924300"/>
            <a:ext cx="7787414" cy="769441"/>
          </a:xfrm>
          <a:prstGeom prst="rect">
            <a:avLst/>
          </a:prstGeom>
          <a:noFill/>
        </p:spPr>
        <p:txBody>
          <a:bodyPr wrap="square" rtlCol="0">
            <a:spAutoFit/>
          </a:bodyPr>
          <a:lstStyle/>
          <a:p>
            <a:pPr algn="ctr"/>
            <a:r>
              <a:rPr lang="en-US" sz="2200" dirty="0"/>
              <a:t>I can't check that all of A's code is correct until I check B's… but I can't check that B's is correct until I check A's…???</a:t>
            </a:r>
          </a:p>
        </p:txBody>
      </p:sp>
      <p:sp>
        <p:nvSpPr>
          <p:cNvPr id="11" name="TextBox 10">
            <a:extLst>
              <a:ext uri="{FF2B5EF4-FFF2-40B4-BE49-F238E27FC236}">
                <a16:creationId xmlns:a16="http://schemas.microsoft.com/office/drawing/2014/main" id="{012C045E-DA64-CF49-ADE7-FC39E12A5BB4}"/>
              </a:ext>
            </a:extLst>
          </p:cNvPr>
          <p:cNvSpPr txBox="1"/>
          <p:nvPr/>
        </p:nvSpPr>
        <p:spPr>
          <a:xfrm>
            <a:off x="1143000" y="4866073"/>
            <a:ext cx="7787414" cy="430887"/>
          </a:xfrm>
          <a:prstGeom prst="rect">
            <a:avLst/>
          </a:prstGeom>
          <a:noFill/>
        </p:spPr>
        <p:txBody>
          <a:bodyPr wrap="square" rtlCol="0">
            <a:spAutoFit/>
          </a:bodyPr>
          <a:lstStyle/>
          <a:p>
            <a:pPr algn="ctr"/>
            <a:r>
              <a:rPr lang="en-US" sz="2200" dirty="0"/>
              <a:t>well. it's possible to do things in </a:t>
            </a:r>
            <a:r>
              <a:rPr lang="en-US" sz="2200" b="1" dirty="0"/>
              <a:t>phases, </a:t>
            </a:r>
            <a:r>
              <a:rPr lang="en-US" sz="2200" dirty="0"/>
              <a:t>like I said before.</a:t>
            </a:r>
          </a:p>
        </p:txBody>
      </p:sp>
    </p:spTree>
    <p:extLst>
      <p:ext uri="{BB962C8B-B14F-4D97-AF65-F5344CB8AC3E}">
        <p14:creationId xmlns:p14="http://schemas.microsoft.com/office/powerpoint/2010/main" val="154636771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P spid="1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6A8AD-D2A5-114F-B843-B01048D61D7A}"/>
              </a:ext>
            </a:extLst>
          </p:cNvPr>
          <p:cNvSpPr>
            <a:spLocks noGrp="1"/>
          </p:cNvSpPr>
          <p:nvPr>
            <p:ph type="ctrTitle"/>
          </p:nvPr>
        </p:nvSpPr>
        <p:spPr/>
        <p:txBody>
          <a:bodyPr/>
          <a:lstStyle/>
          <a:p>
            <a:r>
              <a:rPr lang="en-US" dirty="0"/>
              <a:t>Scoping</a:t>
            </a:r>
          </a:p>
        </p:txBody>
      </p:sp>
      <p:sp>
        <p:nvSpPr>
          <p:cNvPr id="3" name="Slide Number Placeholder 2">
            <a:extLst>
              <a:ext uri="{FF2B5EF4-FFF2-40B4-BE49-F238E27FC236}">
                <a16:creationId xmlns:a16="http://schemas.microsoft.com/office/drawing/2014/main" id="{A7E17E08-93D0-A14D-8ECB-14BCBB73BF4D}"/>
              </a:ext>
            </a:extLst>
          </p:cNvPr>
          <p:cNvSpPr>
            <a:spLocks noGrp="1"/>
          </p:cNvSpPr>
          <p:nvPr>
            <p:ph type="sldNum" sz="quarter" idx="12"/>
          </p:nvPr>
        </p:nvSpPr>
        <p:spPr/>
        <p:txBody>
          <a:bodyPr/>
          <a:lstStyle/>
          <a:p>
            <a:fld id="{3552B95B-556F-44BD-91A5-D80C1B9E2BB3}" type="slidenum">
              <a:rPr lang="en-US" smtClean="0"/>
              <a:pPr/>
              <a:t>24</a:t>
            </a:fld>
            <a:endParaRPr lang="en-US"/>
          </a:p>
        </p:txBody>
      </p:sp>
    </p:spTree>
    <p:extLst>
      <p:ext uri="{BB962C8B-B14F-4D97-AF65-F5344CB8AC3E}">
        <p14:creationId xmlns:p14="http://schemas.microsoft.com/office/powerpoint/2010/main" val="75197651"/>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922E2-03DB-FB4F-AB49-B951962277C1}"/>
              </a:ext>
            </a:extLst>
          </p:cNvPr>
          <p:cNvSpPr>
            <a:spLocks noGrp="1"/>
          </p:cNvSpPr>
          <p:nvPr>
            <p:ph type="title"/>
          </p:nvPr>
        </p:nvSpPr>
        <p:spPr/>
        <p:txBody>
          <a:bodyPr/>
          <a:lstStyle/>
          <a:p>
            <a:r>
              <a:rPr lang="en-US" dirty="0"/>
              <a:t>What is it?</a:t>
            </a:r>
          </a:p>
        </p:txBody>
      </p:sp>
      <p:sp>
        <p:nvSpPr>
          <p:cNvPr id="3" name="Content Placeholder 2">
            <a:extLst>
              <a:ext uri="{FF2B5EF4-FFF2-40B4-BE49-F238E27FC236}">
                <a16:creationId xmlns:a16="http://schemas.microsoft.com/office/drawing/2014/main" id="{67C368F4-3A22-D843-A835-7DAC860D63C2}"/>
              </a:ext>
            </a:extLst>
          </p:cNvPr>
          <p:cNvSpPr>
            <a:spLocks noGrp="1"/>
          </p:cNvSpPr>
          <p:nvPr>
            <p:ph idx="1"/>
          </p:nvPr>
        </p:nvSpPr>
        <p:spPr>
          <a:xfrm>
            <a:off x="152400" y="495301"/>
            <a:ext cx="8991600" cy="914399"/>
          </a:xfrm>
        </p:spPr>
        <p:txBody>
          <a:bodyPr/>
          <a:lstStyle/>
          <a:p>
            <a:r>
              <a:rPr lang="en-US" dirty="0"/>
              <a:t>the programmer can declare </a:t>
            </a:r>
            <a:r>
              <a:rPr lang="en-US" b="1" dirty="0"/>
              <a:t>named things </a:t>
            </a:r>
            <a:r>
              <a:rPr lang="en-US" dirty="0"/>
              <a:t>like variables, etc.</a:t>
            </a:r>
            <a:endParaRPr lang="en-US" b="1" dirty="0"/>
          </a:p>
          <a:p>
            <a:r>
              <a:rPr lang="en-US" dirty="0"/>
              <a:t>the </a:t>
            </a:r>
            <a:r>
              <a:rPr lang="en-US" b="1" dirty="0"/>
              <a:t>scope </a:t>
            </a:r>
            <a:r>
              <a:rPr lang="en-US" dirty="0"/>
              <a:t>is </a:t>
            </a:r>
            <a:r>
              <a:rPr lang="en-US" i="1" dirty="0"/>
              <a:t>where</a:t>
            </a:r>
            <a:r>
              <a:rPr lang="en-US" dirty="0"/>
              <a:t> those names can be seen in the program.</a:t>
            </a:r>
          </a:p>
        </p:txBody>
      </p:sp>
      <p:sp>
        <p:nvSpPr>
          <p:cNvPr id="4" name="Slide Number Placeholder 3">
            <a:extLst>
              <a:ext uri="{FF2B5EF4-FFF2-40B4-BE49-F238E27FC236}">
                <a16:creationId xmlns:a16="http://schemas.microsoft.com/office/drawing/2014/main" id="{E4677FBD-41B3-8248-8071-325D381F43BC}"/>
              </a:ext>
            </a:extLst>
          </p:cNvPr>
          <p:cNvSpPr>
            <a:spLocks noGrp="1"/>
          </p:cNvSpPr>
          <p:nvPr>
            <p:ph type="sldNum" sz="quarter" idx="12"/>
          </p:nvPr>
        </p:nvSpPr>
        <p:spPr/>
        <p:txBody>
          <a:bodyPr/>
          <a:lstStyle/>
          <a:p>
            <a:fld id="{3552B95B-556F-44BD-91A5-D80C1B9E2BB3}" type="slidenum">
              <a:rPr lang="en-US" smtClean="0"/>
              <a:pPr/>
              <a:t>25</a:t>
            </a:fld>
            <a:endParaRPr lang="en-US"/>
          </a:p>
        </p:txBody>
      </p:sp>
      <p:sp>
        <p:nvSpPr>
          <p:cNvPr id="5" name="Rectangle 4">
            <a:extLst>
              <a:ext uri="{FF2B5EF4-FFF2-40B4-BE49-F238E27FC236}">
                <a16:creationId xmlns:a16="http://schemas.microsoft.com/office/drawing/2014/main" id="{F564A28C-0B2E-A44D-B34B-8E1B0D653519}"/>
              </a:ext>
            </a:extLst>
          </p:cNvPr>
          <p:cNvSpPr/>
          <p:nvPr/>
        </p:nvSpPr>
        <p:spPr>
          <a:xfrm>
            <a:off x="381000" y="1333500"/>
            <a:ext cx="3457574" cy="2123658"/>
          </a:xfrm>
          <a:prstGeom prst="rect">
            <a:avLst/>
          </a:prstGeom>
        </p:spPr>
        <p:txBody>
          <a:bodyPr wrap="square">
            <a:spAutoFit/>
          </a:bodyPr>
          <a:lstStyle/>
          <a:p>
            <a:r>
              <a:rPr lang="en-US" sz="2200" b="1" dirty="0">
                <a:solidFill>
                  <a:srgbClr val="FF0000"/>
                </a:solidFill>
                <a:latin typeface="Consolas" panose="020B0609020204030204" pitchFamily="49" charset="0"/>
                <a:cs typeface="Consolas" panose="020B0609020204030204" pitchFamily="49" charset="0"/>
              </a:rPr>
              <a:t>if</a:t>
            </a:r>
            <a:r>
              <a:rPr lang="en-US" sz="2200" b="1" dirty="0">
                <a:latin typeface="Consolas" panose="020B0609020204030204" pitchFamily="49" charset="0"/>
                <a:cs typeface="Consolas" panose="020B0609020204030204" pitchFamily="49" charset="0"/>
              </a:rPr>
              <a:t>(x == </a:t>
            </a:r>
            <a:r>
              <a:rPr lang="en-US" sz="2200" b="1" dirty="0">
                <a:solidFill>
                  <a:schemeClr val="accent3">
                    <a:lumMod val="75000"/>
                  </a:schemeClr>
                </a:solidFill>
                <a:latin typeface="Consolas" panose="020B0609020204030204" pitchFamily="49" charset="0"/>
                <a:cs typeface="Consolas" panose="020B0609020204030204" pitchFamily="49" charset="0"/>
              </a:rPr>
              <a:t>10</a:t>
            </a:r>
            <a:r>
              <a:rPr lang="en-US" sz="2200" b="1" dirty="0">
                <a:latin typeface="Consolas" panose="020B0609020204030204" pitchFamily="49" charset="0"/>
                <a:cs typeface="Consolas" panose="020B0609020204030204" pitchFamily="49" charset="0"/>
              </a:rPr>
              <a:t>) {</a:t>
            </a:r>
          </a:p>
          <a:p>
            <a:r>
              <a:rPr lang="en-US" sz="2200" b="1" dirty="0">
                <a:latin typeface="Consolas" panose="020B0609020204030204" pitchFamily="49" charset="0"/>
                <a:cs typeface="Consolas" panose="020B0609020204030204" pitchFamily="49" charset="0"/>
              </a:rPr>
              <a:t>  </a:t>
            </a:r>
            <a:r>
              <a:rPr lang="en-US" sz="2200" b="1" dirty="0">
                <a:solidFill>
                  <a:srgbClr val="FF0000"/>
                </a:solidFill>
                <a:latin typeface="Consolas" panose="020B0609020204030204" pitchFamily="49" charset="0"/>
                <a:cs typeface="Consolas" panose="020B0609020204030204" pitchFamily="49" charset="0"/>
              </a:rPr>
              <a:t>int</a:t>
            </a:r>
            <a:r>
              <a:rPr lang="en-US" sz="2200" b="1" dirty="0">
                <a:latin typeface="Consolas" panose="020B0609020204030204" pitchFamily="49" charset="0"/>
                <a:cs typeface="Consolas" panose="020B0609020204030204" pitchFamily="49" charset="0"/>
              </a:rPr>
              <a:t> y = </a:t>
            </a:r>
            <a:r>
              <a:rPr lang="en-US" sz="2200" b="1" dirty="0">
                <a:solidFill>
                  <a:schemeClr val="accent3">
                    <a:lumMod val="75000"/>
                  </a:schemeClr>
                </a:solidFill>
                <a:latin typeface="Consolas" panose="020B0609020204030204" pitchFamily="49" charset="0"/>
                <a:cs typeface="Consolas" panose="020B0609020204030204" pitchFamily="49" charset="0"/>
              </a:rPr>
              <a:t>20</a:t>
            </a:r>
            <a:r>
              <a:rPr lang="en-US" sz="2200" b="1" dirty="0">
                <a:latin typeface="Consolas" panose="020B0609020204030204" pitchFamily="49" charset="0"/>
                <a:cs typeface="Consolas" panose="020B0609020204030204" pitchFamily="49" charset="0"/>
              </a:rPr>
              <a:t>;</a:t>
            </a:r>
          </a:p>
          <a:p>
            <a:r>
              <a:rPr lang="en-US" sz="2200" b="1" dirty="0">
                <a:latin typeface="Consolas" panose="020B0609020204030204" pitchFamily="49" charset="0"/>
                <a:cs typeface="Consolas" panose="020B0609020204030204" pitchFamily="49" charset="0"/>
              </a:rPr>
              <a:t>  </a:t>
            </a:r>
            <a:r>
              <a:rPr lang="en-US" sz="2200" b="1" dirty="0" err="1">
                <a:latin typeface="Consolas" panose="020B0609020204030204" pitchFamily="49" charset="0"/>
                <a:cs typeface="Consolas" panose="020B0609020204030204" pitchFamily="49" charset="0"/>
              </a:rPr>
              <a:t>printf</a:t>
            </a:r>
            <a:r>
              <a:rPr lang="en-US" sz="2200" b="1" dirty="0">
                <a:latin typeface="Consolas" panose="020B0609020204030204" pitchFamily="49" charset="0"/>
                <a:cs typeface="Consolas" panose="020B0609020204030204" pitchFamily="49" charset="0"/>
              </a:rPr>
              <a:t>(</a:t>
            </a:r>
            <a:r>
              <a:rPr lang="en-US" sz="2200" b="1" dirty="0">
                <a:solidFill>
                  <a:schemeClr val="accent6">
                    <a:lumMod val="75000"/>
                  </a:schemeClr>
                </a:solidFill>
                <a:latin typeface="Consolas" panose="020B0609020204030204" pitchFamily="49" charset="0"/>
                <a:cs typeface="Consolas" panose="020B0609020204030204" pitchFamily="49" charset="0"/>
              </a:rPr>
              <a:t>"%d"</a:t>
            </a:r>
            <a:r>
              <a:rPr lang="en-US" sz="2200" b="1" dirty="0">
                <a:latin typeface="Consolas" panose="020B0609020204030204" pitchFamily="49" charset="0"/>
                <a:cs typeface="Consolas" panose="020B0609020204030204" pitchFamily="49" charset="0"/>
              </a:rPr>
              <a:t>, y);</a:t>
            </a:r>
          </a:p>
          <a:p>
            <a:r>
              <a:rPr lang="en-US" sz="2200" b="1" dirty="0">
                <a:latin typeface="Consolas" panose="020B0609020204030204" pitchFamily="49" charset="0"/>
                <a:cs typeface="Consolas" panose="020B0609020204030204" pitchFamily="49" charset="0"/>
              </a:rPr>
              <a:t>}</a:t>
            </a:r>
          </a:p>
          <a:p>
            <a:endParaRPr lang="en-US" sz="2200" b="1" dirty="0">
              <a:latin typeface="Consolas" panose="020B0609020204030204" pitchFamily="49" charset="0"/>
              <a:cs typeface="Consolas" panose="020B0609020204030204" pitchFamily="49" charset="0"/>
            </a:endParaRPr>
          </a:p>
          <a:p>
            <a:r>
              <a:rPr lang="en-US" sz="2200" b="1" dirty="0" err="1">
                <a:latin typeface="Consolas" panose="020B0609020204030204" pitchFamily="49" charset="0"/>
                <a:cs typeface="Consolas" panose="020B0609020204030204" pitchFamily="49" charset="0"/>
              </a:rPr>
              <a:t>printf</a:t>
            </a:r>
            <a:r>
              <a:rPr lang="en-US" sz="2200" b="1" dirty="0">
                <a:latin typeface="Consolas" panose="020B0609020204030204" pitchFamily="49" charset="0"/>
                <a:cs typeface="Consolas" panose="020B0609020204030204" pitchFamily="49" charset="0"/>
              </a:rPr>
              <a:t>(</a:t>
            </a:r>
            <a:r>
              <a:rPr lang="en-US" sz="2200" b="1" dirty="0">
                <a:solidFill>
                  <a:schemeClr val="accent6">
                    <a:lumMod val="75000"/>
                  </a:schemeClr>
                </a:solidFill>
                <a:latin typeface="Consolas" panose="020B0609020204030204" pitchFamily="49" charset="0"/>
                <a:cs typeface="Consolas" panose="020B0609020204030204" pitchFamily="49" charset="0"/>
              </a:rPr>
              <a:t>"%d"</a:t>
            </a:r>
            <a:r>
              <a:rPr lang="en-US" sz="2200" b="1" dirty="0">
                <a:latin typeface="Consolas" panose="020B0609020204030204" pitchFamily="49" charset="0"/>
                <a:cs typeface="Consolas" panose="020B0609020204030204" pitchFamily="49" charset="0"/>
              </a:rPr>
              <a:t>, y);</a:t>
            </a:r>
          </a:p>
        </p:txBody>
      </p:sp>
      <p:sp>
        <p:nvSpPr>
          <p:cNvPr id="6" name="TextBox 5">
            <a:extLst>
              <a:ext uri="{FF2B5EF4-FFF2-40B4-BE49-F238E27FC236}">
                <a16:creationId xmlns:a16="http://schemas.microsoft.com/office/drawing/2014/main" id="{2CFEE4B8-3693-A248-8317-8701D19ECBEA}"/>
              </a:ext>
            </a:extLst>
          </p:cNvPr>
          <p:cNvSpPr txBox="1"/>
          <p:nvPr/>
        </p:nvSpPr>
        <p:spPr>
          <a:xfrm>
            <a:off x="3276601" y="2018788"/>
            <a:ext cx="2209799" cy="430887"/>
          </a:xfrm>
          <a:prstGeom prst="rect">
            <a:avLst/>
          </a:prstGeom>
          <a:noFill/>
        </p:spPr>
        <p:txBody>
          <a:bodyPr wrap="square" rtlCol="0">
            <a:spAutoFit/>
          </a:bodyPr>
          <a:lstStyle/>
          <a:p>
            <a:r>
              <a:rPr lang="en-US" sz="2200" dirty="0"/>
              <a:t>this is alright!</a:t>
            </a:r>
            <a:endParaRPr lang="en-US" sz="2200" dirty="0">
              <a:solidFill>
                <a:srgbClr val="FF0000"/>
              </a:solidFill>
            </a:endParaRPr>
          </a:p>
        </p:txBody>
      </p:sp>
      <p:sp>
        <p:nvSpPr>
          <p:cNvPr id="7" name="Rounded Rectangle 6">
            <a:extLst>
              <a:ext uri="{FF2B5EF4-FFF2-40B4-BE49-F238E27FC236}">
                <a16:creationId xmlns:a16="http://schemas.microsoft.com/office/drawing/2014/main" id="{C55EC1CC-96DA-7444-ABB9-032635BC1200}"/>
              </a:ext>
            </a:extLst>
          </p:cNvPr>
          <p:cNvSpPr/>
          <p:nvPr/>
        </p:nvSpPr>
        <p:spPr>
          <a:xfrm>
            <a:off x="695325" y="2039591"/>
            <a:ext cx="2581276" cy="389283"/>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D70ADD7-8563-6343-8287-49DC6C7E2585}"/>
              </a:ext>
            </a:extLst>
          </p:cNvPr>
          <p:cNvSpPr txBox="1"/>
          <p:nvPr/>
        </p:nvSpPr>
        <p:spPr>
          <a:xfrm>
            <a:off x="2990851" y="3037963"/>
            <a:ext cx="2209799" cy="430887"/>
          </a:xfrm>
          <a:prstGeom prst="rect">
            <a:avLst/>
          </a:prstGeom>
          <a:noFill/>
        </p:spPr>
        <p:txBody>
          <a:bodyPr wrap="square" rtlCol="0">
            <a:spAutoFit/>
          </a:bodyPr>
          <a:lstStyle/>
          <a:p>
            <a:r>
              <a:rPr lang="en-US" sz="2200" dirty="0"/>
              <a:t>this is </a:t>
            </a:r>
            <a:r>
              <a:rPr lang="en-US" sz="2200" b="1" dirty="0"/>
              <a:t>not</a:t>
            </a:r>
            <a:r>
              <a:rPr lang="en-US" sz="2200" dirty="0"/>
              <a:t>.</a:t>
            </a:r>
            <a:endParaRPr lang="en-US" sz="2200" dirty="0">
              <a:solidFill>
                <a:srgbClr val="FF0000"/>
              </a:solidFill>
            </a:endParaRPr>
          </a:p>
        </p:txBody>
      </p:sp>
      <p:sp>
        <p:nvSpPr>
          <p:cNvPr id="9" name="Rounded Rectangle 8">
            <a:extLst>
              <a:ext uri="{FF2B5EF4-FFF2-40B4-BE49-F238E27FC236}">
                <a16:creationId xmlns:a16="http://schemas.microsoft.com/office/drawing/2014/main" id="{CDDEE2C5-4F8D-D64B-82E2-E9A7195717E1}"/>
              </a:ext>
            </a:extLst>
          </p:cNvPr>
          <p:cNvSpPr/>
          <p:nvPr/>
        </p:nvSpPr>
        <p:spPr>
          <a:xfrm>
            <a:off x="409575" y="3058766"/>
            <a:ext cx="2581276" cy="389283"/>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6AF2664-D0C9-D948-9CB2-661EC43B3B45}"/>
              </a:ext>
            </a:extLst>
          </p:cNvPr>
          <p:cNvSpPr txBox="1"/>
          <p:nvPr/>
        </p:nvSpPr>
        <p:spPr>
          <a:xfrm>
            <a:off x="5686426" y="1449050"/>
            <a:ext cx="3048000" cy="1446550"/>
          </a:xfrm>
          <a:prstGeom prst="rect">
            <a:avLst/>
          </a:prstGeom>
          <a:noFill/>
        </p:spPr>
        <p:txBody>
          <a:bodyPr wrap="square" rtlCol="0">
            <a:spAutoFit/>
          </a:bodyPr>
          <a:lstStyle/>
          <a:p>
            <a:pPr algn="ctr"/>
            <a:r>
              <a:rPr lang="en-US" sz="2200" dirty="0"/>
              <a:t>well, that's how you </a:t>
            </a:r>
            <a:r>
              <a:rPr lang="en-US" sz="2200" i="1" dirty="0"/>
              <a:t>learned</a:t>
            </a:r>
            <a:r>
              <a:rPr lang="en-US" sz="2200" dirty="0"/>
              <a:t> it. </a:t>
            </a:r>
            <a:r>
              <a:rPr lang="en-US" sz="2200" b="1" dirty="0"/>
              <a:t>not every language has the same rules.</a:t>
            </a:r>
            <a:endParaRPr lang="en-US" sz="2200" dirty="0"/>
          </a:p>
        </p:txBody>
      </p:sp>
      <p:sp>
        <p:nvSpPr>
          <p:cNvPr id="11" name="Rectangle 10">
            <a:extLst>
              <a:ext uri="{FF2B5EF4-FFF2-40B4-BE49-F238E27FC236}">
                <a16:creationId xmlns:a16="http://schemas.microsoft.com/office/drawing/2014/main" id="{90ABE50B-CDEE-A74C-B6C3-3C9DB38C8F19}"/>
              </a:ext>
            </a:extLst>
          </p:cNvPr>
          <p:cNvSpPr/>
          <p:nvPr/>
        </p:nvSpPr>
        <p:spPr>
          <a:xfrm>
            <a:off x="5762626" y="3019413"/>
            <a:ext cx="3305174" cy="2123658"/>
          </a:xfrm>
          <a:prstGeom prst="rect">
            <a:avLst/>
          </a:prstGeom>
        </p:spPr>
        <p:txBody>
          <a:bodyPr wrap="square">
            <a:spAutoFit/>
          </a:bodyPr>
          <a:lstStyle/>
          <a:p>
            <a:r>
              <a:rPr lang="en-US" sz="2200" i="1" dirty="0">
                <a:solidFill>
                  <a:schemeClr val="accent3">
                    <a:lumMod val="50000"/>
                  </a:schemeClr>
                </a:solidFill>
                <a:latin typeface="Consolas" panose="020B0609020204030204" pitchFamily="49" charset="0"/>
                <a:cs typeface="Consolas" panose="020B0609020204030204" pitchFamily="49" charset="0"/>
              </a:rPr>
              <a:t># Python</a:t>
            </a:r>
          </a:p>
          <a:p>
            <a:r>
              <a:rPr lang="en-US" sz="2200" b="1" dirty="0">
                <a:solidFill>
                  <a:srgbClr val="FF0000"/>
                </a:solidFill>
                <a:latin typeface="Consolas" panose="020B0609020204030204" pitchFamily="49" charset="0"/>
                <a:cs typeface="Consolas" panose="020B0609020204030204" pitchFamily="49" charset="0"/>
              </a:rPr>
              <a:t>if</a:t>
            </a:r>
            <a:r>
              <a:rPr lang="en-US" sz="2200" b="1" dirty="0">
                <a:latin typeface="Consolas" panose="020B0609020204030204" pitchFamily="49" charset="0"/>
                <a:cs typeface="Consolas" panose="020B0609020204030204" pitchFamily="49" charset="0"/>
              </a:rPr>
              <a:t> x == </a:t>
            </a:r>
            <a:r>
              <a:rPr lang="en-US" sz="2200" b="1" dirty="0">
                <a:solidFill>
                  <a:schemeClr val="accent3">
                    <a:lumMod val="75000"/>
                  </a:schemeClr>
                </a:solidFill>
                <a:latin typeface="Consolas" panose="020B0609020204030204" pitchFamily="49" charset="0"/>
                <a:cs typeface="Consolas" panose="020B0609020204030204" pitchFamily="49" charset="0"/>
              </a:rPr>
              <a:t>10</a:t>
            </a:r>
            <a:r>
              <a:rPr lang="en-US" sz="2200" b="1" dirty="0">
                <a:latin typeface="Consolas" panose="020B0609020204030204" pitchFamily="49" charset="0"/>
                <a:cs typeface="Consolas" panose="020B0609020204030204" pitchFamily="49" charset="0"/>
              </a:rPr>
              <a:t>:</a:t>
            </a:r>
          </a:p>
          <a:p>
            <a:r>
              <a:rPr lang="en-US" sz="2200" b="1" dirty="0">
                <a:latin typeface="Consolas" panose="020B0609020204030204" pitchFamily="49" charset="0"/>
                <a:cs typeface="Consolas" panose="020B0609020204030204" pitchFamily="49" charset="0"/>
              </a:rPr>
              <a:t>  y = </a:t>
            </a:r>
            <a:r>
              <a:rPr lang="en-US" sz="2200" b="1" dirty="0">
                <a:solidFill>
                  <a:schemeClr val="accent3">
                    <a:lumMod val="75000"/>
                  </a:schemeClr>
                </a:solidFill>
                <a:latin typeface="Consolas" panose="020B0609020204030204" pitchFamily="49" charset="0"/>
                <a:cs typeface="Consolas" panose="020B0609020204030204" pitchFamily="49" charset="0"/>
              </a:rPr>
              <a:t>20</a:t>
            </a:r>
            <a:endParaRPr lang="en-US" sz="2200" b="1" dirty="0">
              <a:latin typeface="Consolas" panose="020B0609020204030204" pitchFamily="49" charset="0"/>
              <a:cs typeface="Consolas" panose="020B0609020204030204" pitchFamily="49" charset="0"/>
            </a:endParaRPr>
          </a:p>
          <a:p>
            <a:r>
              <a:rPr lang="en-US" sz="2200" b="1" dirty="0">
                <a:latin typeface="Consolas" panose="020B0609020204030204" pitchFamily="49" charset="0"/>
                <a:cs typeface="Consolas" panose="020B0609020204030204" pitchFamily="49" charset="0"/>
              </a:rPr>
              <a:t>  print(y) </a:t>
            </a:r>
            <a:r>
              <a:rPr lang="en-US" sz="2200" i="1" dirty="0">
                <a:solidFill>
                  <a:schemeClr val="accent3">
                    <a:lumMod val="50000"/>
                  </a:schemeClr>
                </a:solidFill>
                <a:latin typeface="Consolas" panose="020B0609020204030204" pitchFamily="49" charset="0"/>
                <a:cs typeface="Consolas" panose="020B0609020204030204" pitchFamily="49" charset="0"/>
              </a:rPr>
              <a:t># works!</a:t>
            </a:r>
            <a:endParaRPr lang="en-US" sz="2200" b="1" dirty="0">
              <a:latin typeface="Consolas" panose="020B0609020204030204" pitchFamily="49" charset="0"/>
              <a:cs typeface="Consolas" panose="020B0609020204030204" pitchFamily="49" charset="0"/>
            </a:endParaRPr>
          </a:p>
          <a:p>
            <a:endParaRPr lang="en-US" sz="2200" b="1" dirty="0">
              <a:latin typeface="Consolas" panose="020B0609020204030204" pitchFamily="49" charset="0"/>
              <a:cs typeface="Consolas" panose="020B0609020204030204" pitchFamily="49" charset="0"/>
            </a:endParaRPr>
          </a:p>
          <a:p>
            <a:r>
              <a:rPr lang="en-US" sz="2200" b="1" dirty="0">
                <a:latin typeface="Consolas" panose="020B0609020204030204" pitchFamily="49" charset="0"/>
                <a:cs typeface="Consolas" panose="020B0609020204030204" pitchFamily="49" charset="0"/>
              </a:rPr>
              <a:t>print(y)   </a:t>
            </a:r>
            <a:r>
              <a:rPr lang="en-US" sz="2200" i="1" dirty="0">
                <a:solidFill>
                  <a:schemeClr val="accent3">
                    <a:lumMod val="50000"/>
                  </a:schemeClr>
                </a:solidFill>
                <a:latin typeface="Consolas" panose="020B0609020204030204" pitchFamily="49" charset="0"/>
                <a:cs typeface="Consolas" panose="020B0609020204030204" pitchFamily="49" charset="0"/>
              </a:rPr>
              <a:t># works!</a:t>
            </a:r>
          </a:p>
        </p:txBody>
      </p:sp>
    </p:spTree>
    <p:extLst>
      <p:ext uri="{BB962C8B-B14F-4D97-AF65-F5344CB8AC3E}">
        <p14:creationId xmlns:p14="http://schemas.microsoft.com/office/powerpoint/2010/main" val="316443533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5"/>
      <p:bldP spid="6" grpId="0"/>
      <p:bldP spid="7" grpId="0" animBg="1"/>
      <p:bldP spid="8" grpId="0"/>
      <p:bldP spid="9" grpId="0" animBg="1"/>
      <p:bldP spid="10" grpId="0"/>
      <p:bldP spid="11" grpId="0" bldLvl="5"/>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C5CAA-4005-214A-986E-E3CB9616D457}"/>
              </a:ext>
            </a:extLst>
          </p:cNvPr>
          <p:cNvSpPr>
            <a:spLocks noGrp="1"/>
          </p:cNvSpPr>
          <p:nvPr>
            <p:ph type="title"/>
          </p:nvPr>
        </p:nvSpPr>
        <p:spPr/>
        <p:txBody>
          <a:bodyPr/>
          <a:lstStyle/>
          <a:p>
            <a:r>
              <a:rPr lang="en-US" dirty="0"/>
              <a:t>Static vs. dynamic</a:t>
            </a:r>
          </a:p>
        </p:txBody>
      </p:sp>
      <p:sp>
        <p:nvSpPr>
          <p:cNvPr id="3" name="Content Placeholder 2">
            <a:extLst>
              <a:ext uri="{FF2B5EF4-FFF2-40B4-BE49-F238E27FC236}">
                <a16:creationId xmlns:a16="http://schemas.microsoft.com/office/drawing/2014/main" id="{9F432212-C7FB-F94F-B97C-F56D6C62CE1B}"/>
              </a:ext>
            </a:extLst>
          </p:cNvPr>
          <p:cNvSpPr>
            <a:spLocks noGrp="1"/>
          </p:cNvSpPr>
          <p:nvPr>
            <p:ph idx="1"/>
          </p:nvPr>
        </p:nvSpPr>
        <p:spPr>
          <a:xfrm>
            <a:off x="152400" y="495301"/>
            <a:ext cx="8991600" cy="1523999"/>
          </a:xfrm>
        </p:spPr>
        <p:txBody>
          <a:bodyPr/>
          <a:lstStyle/>
          <a:p>
            <a:r>
              <a:rPr lang="en-US" dirty="0"/>
              <a:t>the </a:t>
            </a:r>
            <a:r>
              <a:rPr lang="en-US" i="1" dirty="0"/>
              <a:t>majority</a:t>
            </a:r>
            <a:r>
              <a:rPr lang="en-US" dirty="0"/>
              <a:t> of languages use </a:t>
            </a:r>
            <a:r>
              <a:rPr lang="en-US" b="1" dirty="0"/>
              <a:t>static scope: </a:t>
            </a:r>
            <a:r>
              <a:rPr lang="en-US" dirty="0"/>
              <a:t>the </a:t>
            </a:r>
            <a:r>
              <a:rPr lang="en-US" b="1" dirty="0"/>
              <a:t>syntactic structure</a:t>
            </a:r>
            <a:r>
              <a:rPr lang="en-US" dirty="0"/>
              <a:t> of the language defines where a name can be seen.</a:t>
            </a:r>
          </a:p>
          <a:p>
            <a:r>
              <a:rPr lang="en-US" dirty="0"/>
              <a:t>Python and many other dynamically-</a:t>
            </a:r>
            <a:r>
              <a:rPr lang="en-US" i="1" dirty="0"/>
              <a:t>typed</a:t>
            </a:r>
            <a:r>
              <a:rPr lang="en-US" dirty="0"/>
              <a:t> languages are instead </a:t>
            </a:r>
            <a:r>
              <a:rPr lang="en-US" b="1" dirty="0"/>
              <a:t>dynamically </a:t>
            </a:r>
            <a:r>
              <a:rPr lang="en-US" b="1" i="1" dirty="0"/>
              <a:t>scoped:</a:t>
            </a:r>
            <a:r>
              <a:rPr lang="en-US" b="1" dirty="0"/>
              <a:t> </a:t>
            </a:r>
            <a:r>
              <a:rPr lang="en-US" dirty="0"/>
              <a:t>the variable is not looked up until runtime.</a:t>
            </a:r>
          </a:p>
        </p:txBody>
      </p:sp>
      <p:sp>
        <p:nvSpPr>
          <p:cNvPr id="4" name="Slide Number Placeholder 3">
            <a:extLst>
              <a:ext uri="{FF2B5EF4-FFF2-40B4-BE49-F238E27FC236}">
                <a16:creationId xmlns:a16="http://schemas.microsoft.com/office/drawing/2014/main" id="{7AD2E207-17F7-0741-8DAB-FFC2883431CB}"/>
              </a:ext>
            </a:extLst>
          </p:cNvPr>
          <p:cNvSpPr>
            <a:spLocks noGrp="1"/>
          </p:cNvSpPr>
          <p:nvPr>
            <p:ph type="sldNum" sz="quarter" idx="12"/>
          </p:nvPr>
        </p:nvSpPr>
        <p:spPr/>
        <p:txBody>
          <a:bodyPr/>
          <a:lstStyle/>
          <a:p>
            <a:fld id="{3552B95B-556F-44BD-91A5-D80C1B9E2BB3}" type="slidenum">
              <a:rPr lang="en-US" smtClean="0"/>
              <a:pPr/>
              <a:t>26</a:t>
            </a:fld>
            <a:endParaRPr lang="en-US"/>
          </a:p>
        </p:txBody>
      </p:sp>
      <p:sp>
        <p:nvSpPr>
          <p:cNvPr id="5" name="Rectangle 4">
            <a:extLst>
              <a:ext uri="{FF2B5EF4-FFF2-40B4-BE49-F238E27FC236}">
                <a16:creationId xmlns:a16="http://schemas.microsoft.com/office/drawing/2014/main" id="{1D6BDB35-6F32-A645-8D8D-828E39B1EC08}"/>
              </a:ext>
            </a:extLst>
          </p:cNvPr>
          <p:cNvSpPr/>
          <p:nvPr/>
        </p:nvSpPr>
        <p:spPr>
          <a:xfrm>
            <a:off x="533400" y="2171700"/>
            <a:ext cx="3733800" cy="2462213"/>
          </a:xfrm>
          <a:prstGeom prst="rect">
            <a:avLst/>
          </a:prstGeom>
        </p:spPr>
        <p:txBody>
          <a:bodyPr wrap="square">
            <a:spAutoFit/>
          </a:bodyPr>
          <a:lstStyle/>
          <a:p>
            <a:r>
              <a:rPr lang="en-US" sz="2200" i="1" dirty="0">
                <a:solidFill>
                  <a:schemeClr val="accent3">
                    <a:lumMod val="50000"/>
                  </a:schemeClr>
                </a:solidFill>
                <a:latin typeface="Consolas" panose="020B0609020204030204" pitchFamily="49" charset="0"/>
                <a:cs typeface="Consolas" panose="020B0609020204030204" pitchFamily="49" charset="0"/>
              </a:rPr>
              <a:t># Python</a:t>
            </a:r>
          </a:p>
          <a:p>
            <a:r>
              <a:rPr lang="en-US" sz="2200" b="1" dirty="0">
                <a:solidFill>
                  <a:srgbClr val="FF0000"/>
                </a:solidFill>
                <a:latin typeface="Consolas" panose="020B0609020204030204" pitchFamily="49" charset="0"/>
                <a:cs typeface="Consolas" panose="020B0609020204030204" pitchFamily="49" charset="0"/>
              </a:rPr>
              <a:t>def</a:t>
            </a:r>
            <a:r>
              <a:rPr lang="en-US" sz="2200" b="1" dirty="0">
                <a:latin typeface="Consolas" panose="020B0609020204030204" pitchFamily="49" charset="0"/>
                <a:cs typeface="Consolas" panose="020B0609020204030204" pitchFamily="49" charset="0"/>
              </a:rPr>
              <a:t> f():</a:t>
            </a:r>
          </a:p>
          <a:p>
            <a:r>
              <a:rPr lang="en-US" sz="2200" b="1" dirty="0">
                <a:latin typeface="Consolas" panose="020B0609020204030204" pitchFamily="49" charset="0"/>
                <a:cs typeface="Consolas" panose="020B0609020204030204" pitchFamily="49" charset="0"/>
              </a:rPr>
              <a:t>  print(g)</a:t>
            </a:r>
          </a:p>
          <a:p>
            <a:endParaRPr lang="en-US" sz="2200" b="1" dirty="0">
              <a:latin typeface="Consolas" panose="020B0609020204030204" pitchFamily="49" charset="0"/>
              <a:cs typeface="Consolas" panose="020B0609020204030204" pitchFamily="49" charset="0"/>
            </a:endParaRPr>
          </a:p>
          <a:p>
            <a:r>
              <a:rPr lang="en-US" sz="2200" b="1" dirty="0">
                <a:latin typeface="Consolas" panose="020B0609020204030204" pitchFamily="49" charset="0"/>
                <a:cs typeface="Consolas" panose="020B0609020204030204" pitchFamily="49" charset="0"/>
              </a:rPr>
              <a:t>f()    </a:t>
            </a:r>
            <a:r>
              <a:rPr lang="en-US" sz="2200" i="1" dirty="0">
                <a:solidFill>
                  <a:schemeClr val="accent3">
                    <a:lumMod val="50000"/>
                  </a:schemeClr>
                </a:solidFill>
                <a:latin typeface="Consolas" panose="020B0609020204030204" pitchFamily="49" charset="0"/>
                <a:cs typeface="Consolas" panose="020B0609020204030204" pitchFamily="49" charset="0"/>
              </a:rPr>
              <a:t># runtime error!</a:t>
            </a:r>
          </a:p>
          <a:p>
            <a:r>
              <a:rPr lang="en-US" sz="2200" b="1" dirty="0">
                <a:latin typeface="Consolas" panose="020B0609020204030204" pitchFamily="49" charset="0"/>
                <a:cs typeface="Consolas" panose="020B0609020204030204" pitchFamily="49" charset="0"/>
              </a:rPr>
              <a:t>g = </a:t>
            </a:r>
            <a:r>
              <a:rPr lang="en-US" sz="2200" b="1" dirty="0">
                <a:solidFill>
                  <a:schemeClr val="accent3">
                    <a:lumMod val="75000"/>
                  </a:schemeClr>
                </a:solidFill>
                <a:latin typeface="Consolas" panose="020B0609020204030204" pitchFamily="49" charset="0"/>
                <a:cs typeface="Consolas" panose="020B0609020204030204" pitchFamily="49" charset="0"/>
              </a:rPr>
              <a:t>10</a:t>
            </a:r>
            <a:r>
              <a:rPr lang="en-US" sz="2200" b="1" dirty="0">
                <a:latin typeface="Consolas" panose="020B0609020204030204" pitchFamily="49" charset="0"/>
                <a:cs typeface="Consolas" panose="020B0609020204030204" pitchFamily="49" charset="0"/>
              </a:rPr>
              <a:t> </a:t>
            </a:r>
            <a:r>
              <a:rPr lang="en-US" sz="2200" i="1" dirty="0">
                <a:solidFill>
                  <a:schemeClr val="accent3">
                    <a:lumMod val="50000"/>
                  </a:schemeClr>
                </a:solidFill>
                <a:latin typeface="Consolas" panose="020B0609020204030204" pitchFamily="49" charset="0"/>
                <a:cs typeface="Consolas" panose="020B0609020204030204" pitchFamily="49" charset="0"/>
              </a:rPr>
              <a:t># g is a global</a:t>
            </a:r>
          </a:p>
          <a:p>
            <a:r>
              <a:rPr lang="en-US" sz="2200" b="1" dirty="0">
                <a:latin typeface="Consolas" panose="020B0609020204030204" pitchFamily="49" charset="0"/>
                <a:cs typeface="Consolas" panose="020B0609020204030204" pitchFamily="49" charset="0"/>
              </a:rPr>
              <a:t>f()    </a:t>
            </a:r>
            <a:r>
              <a:rPr lang="en-US" sz="2200" i="1" dirty="0">
                <a:solidFill>
                  <a:schemeClr val="accent3">
                    <a:lumMod val="50000"/>
                  </a:schemeClr>
                </a:solidFill>
                <a:latin typeface="Consolas" panose="020B0609020204030204" pitchFamily="49" charset="0"/>
                <a:cs typeface="Consolas" panose="020B0609020204030204" pitchFamily="49" charset="0"/>
              </a:rPr>
              <a:t># prints 10</a:t>
            </a:r>
          </a:p>
        </p:txBody>
      </p:sp>
      <p:sp>
        <p:nvSpPr>
          <p:cNvPr id="7" name="TextBox 6">
            <a:extLst>
              <a:ext uri="{FF2B5EF4-FFF2-40B4-BE49-F238E27FC236}">
                <a16:creationId xmlns:a16="http://schemas.microsoft.com/office/drawing/2014/main" id="{89D0DC06-786B-8749-B9F1-CE74BDD0BA92}"/>
              </a:ext>
            </a:extLst>
          </p:cNvPr>
          <p:cNvSpPr txBox="1"/>
          <p:nvPr/>
        </p:nvSpPr>
        <p:spPr>
          <a:xfrm>
            <a:off x="4114800" y="2171700"/>
            <a:ext cx="4800600" cy="1785104"/>
          </a:xfrm>
          <a:prstGeom prst="rect">
            <a:avLst/>
          </a:prstGeom>
          <a:noFill/>
        </p:spPr>
        <p:txBody>
          <a:bodyPr wrap="square" rtlCol="0">
            <a:spAutoFit/>
          </a:bodyPr>
          <a:lstStyle/>
          <a:p>
            <a:pPr algn="ctr"/>
            <a:r>
              <a:rPr lang="en-US" sz="2200" dirty="0"/>
              <a:t>dynamic scope can lead to really confusing problems; the same piece of code can either work or not work </a:t>
            </a:r>
            <a:r>
              <a:rPr lang="en-US" sz="2200" b="1" dirty="0"/>
              <a:t>based on what variables are declared around it.</a:t>
            </a:r>
            <a:endParaRPr lang="en-US" sz="2200" dirty="0"/>
          </a:p>
        </p:txBody>
      </p:sp>
      <p:sp>
        <p:nvSpPr>
          <p:cNvPr id="8" name="TextBox 7">
            <a:extLst>
              <a:ext uri="{FF2B5EF4-FFF2-40B4-BE49-F238E27FC236}">
                <a16:creationId xmlns:a16="http://schemas.microsoft.com/office/drawing/2014/main" id="{833CD4EB-165C-4248-8D13-59D09AF8AF0A}"/>
              </a:ext>
            </a:extLst>
          </p:cNvPr>
          <p:cNvSpPr txBox="1"/>
          <p:nvPr/>
        </p:nvSpPr>
        <p:spPr>
          <a:xfrm>
            <a:off x="4007126" y="4633913"/>
            <a:ext cx="4800600" cy="646331"/>
          </a:xfrm>
          <a:prstGeom prst="rect">
            <a:avLst/>
          </a:prstGeom>
          <a:noFill/>
        </p:spPr>
        <p:txBody>
          <a:bodyPr wrap="square" rtlCol="0">
            <a:spAutoFit/>
          </a:bodyPr>
          <a:lstStyle/>
          <a:p>
            <a:pPr algn="ctr"/>
            <a:r>
              <a:rPr lang="en-US" sz="1800" dirty="0"/>
              <a:t>but I think most dynamic languages do it like this cause it's easy to implement!</a:t>
            </a:r>
          </a:p>
        </p:txBody>
      </p:sp>
    </p:spTree>
    <p:extLst>
      <p:ext uri="{BB962C8B-B14F-4D97-AF65-F5344CB8AC3E}">
        <p14:creationId xmlns:p14="http://schemas.microsoft.com/office/powerpoint/2010/main" val="172398626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5"/>
      <p:bldP spid="7" grpId="0"/>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2E20-80E7-A24B-8248-7446100B5431}"/>
              </a:ext>
            </a:extLst>
          </p:cNvPr>
          <p:cNvSpPr>
            <a:spLocks noGrp="1"/>
          </p:cNvSpPr>
          <p:nvPr>
            <p:ph type="title"/>
          </p:nvPr>
        </p:nvSpPr>
        <p:spPr/>
        <p:txBody>
          <a:bodyPr/>
          <a:lstStyle/>
          <a:p>
            <a:r>
              <a:rPr lang="en-US" dirty="0"/>
              <a:t>Shadowing</a:t>
            </a:r>
          </a:p>
        </p:txBody>
      </p:sp>
      <p:sp>
        <p:nvSpPr>
          <p:cNvPr id="3" name="Content Placeholder 2">
            <a:extLst>
              <a:ext uri="{FF2B5EF4-FFF2-40B4-BE49-F238E27FC236}">
                <a16:creationId xmlns:a16="http://schemas.microsoft.com/office/drawing/2014/main" id="{FF5FB73F-9548-4E48-BC43-256B750A42E4}"/>
              </a:ext>
            </a:extLst>
          </p:cNvPr>
          <p:cNvSpPr>
            <a:spLocks noGrp="1"/>
          </p:cNvSpPr>
          <p:nvPr>
            <p:ph idx="1"/>
          </p:nvPr>
        </p:nvSpPr>
        <p:spPr>
          <a:xfrm>
            <a:off x="152400" y="495301"/>
            <a:ext cx="8991600" cy="838199"/>
          </a:xfrm>
        </p:spPr>
        <p:txBody>
          <a:bodyPr/>
          <a:lstStyle/>
          <a:p>
            <a:r>
              <a:rPr lang="en-US" dirty="0"/>
              <a:t>names aren't always unique.</a:t>
            </a:r>
          </a:p>
          <a:p>
            <a:r>
              <a:rPr lang="en-US" dirty="0"/>
              <a:t>sometimes this is clearly a mistake, but in other cases…</a:t>
            </a:r>
          </a:p>
        </p:txBody>
      </p:sp>
      <p:sp>
        <p:nvSpPr>
          <p:cNvPr id="4" name="Slide Number Placeholder 3">
            <a:extLst>
              <a:ext uri="{FF2B5EF4-FFF2-40B4-BE49-F238E27FC236}">
                <a16:creationId xmlns:a16="http://schemas.microsoft.com/office/drawing/2014/main" id="{0B1BEB64-AAB6-6149-B65C-7A7ACD685ED9}"/>
              </a:ext>
            </a:extLst>
          </p:cNvPr>
          <p:cNvSpPr>
            <a:spLocks noGrp="1"/>
          </p:cNvSpPr>
          <p:nvPr>
            <p:ph type="sldNum" sz="quarter" idx="12"/>
          </p:nvPr>
        </p:nvSpPr>
        <p:spPr/>
        <p:txBody>
          <a:bodyPr/>
          <a:lstStyle/>
          <a:p>
            <a:fld id="{3552B95B-556F-44BD-91A5-D80C1B9E2BB3}" type="slidenum">
              <a:rPr lang="en-US" smtClean="0"/>
              <a:pPr/>
              <a:t>27</a:t>
            </a:fld>
            <a:endParaRPr lang="en-US"/>
          </a:p>
        </p:txBody>
      </p:sp>
      <p:sp>
        <p:nvSpPr>
          <p:cNvPr id="5" name="TextBox 4">
            <a:extLst>
              <a:ext uri="{FF2B5EF4-FFF2-40B4-BE49-F238E27FC236}">
                <a16:creationId xmlns:a16="http://schemas.microsoft.com/office/drawing/2014/main" id="{F8B1F51C-27E0-8646-A793-5E4DD5F1ADA3}"/>
              </a:ext>
            </a:extLst>
          </p:cNvPr>
          <p:cNvSpPr txBox="1"/>
          <p:nvPr/>
        </p:nvSpPr>
        <p:spPr>
          <a:xfrm>
            <a:off x="381000" y="1333500"/>
            <a:ext cx="2517036" cy="2462213"/>
          </a:xfrm>
          <a:prstGeom prst="rect">
            <a:avLst/>
          </a:prstGeom>
          <a:noFill/>
        </p:spPr>
        <p:txBody>
          <a:bodyPr wrap="none" rtlCol="0">
            <a:spAutoFit/>
          </a:bodyPr>
          <a:lstStyle/>
          <a:p>
            <a:r>
              <a:rPr lang="en-US" sz="2200" b="1" dirty="0">
                <a:solidFill>
                  <a:srgbClr val="FF0000"/>
                </a:solidFill>
                <a:latin typeface="Consolas" panose="020B0609020204030204" pitchFamily="49" charset="0"/>
                <a:cs typeface="Consolas" panose="020B0609020204030204" pitchFamily="49" charset="0"/>
              </a:rPr>
              <a:t>class</a:t>
            </a:r>
            <a:r>
              <a:rPr lang="en-US" sz="2200" b="1" dirty="0">
                <a:latin typeface="Consolas" panose="020B0609020204030204" pitchFamily="49" charset="0"/>
                <a:cs typeface="Consolas" panose="020B0609020204030204" pitchFamily="49" charset="0"/>
              </a:rPr>
              <a:t> A {</a:t>
            </a:r>
          </a:p>
          <a:p>
            <a:r>
              <a:rPr lang="en-US" sz="2200" b="1" dirty="0">
                <a:latin typeface="Consolas" panose="020B0609020204030204" pitchFamily="49" charset="0"/>
                <a:cs typeface="Consolas" panose="020B0609020204030204" pitchFamily="49" charset="0"/>
              </a:rPr>
              <a:t>  </a:t>
            </a:r>
            <a:r>
              <a:rPr lang="en-US" sz="2200" b="1" dirty="0">
                <a:solidFill>
                  <a:srgbClr val="FF0000"/>
                </a:solidFill>
                <a:latin typeface="Consolas" panose="020B0609020204030204" pitchFamily="49" charset="0"/>
                <a:cs typeface="Consolas" panose="020B0609020204030204" pitchFamily="49" charset="0"/>
              </a:rPr>
              <a:t>int</a:t>
            </a:r>
            <a:r>
              <a:rPr lang="en-US" sz="2200" b="1" dirty="0">
                <a:latin typeface="Consolas" panose="020B0609020204030204" pitchFamily="49" charset="0"/>
                <a:cs typeface="Consolas" panose="020B0609020204030204" pitchFamily="49" charset="0"/>
              </a:rPr>
              <a:t> x; </a:t>
            </a:r>
          </a:p>
          <a:p>
            <a:r>
              <a:rPr lang="en-US" sz="2200" b="1" dirty="0">
                <a:latin typeface="Consolas" panose="020B0609020204030204" pitchFamily="49" charset="0"/>
                <a:cs typeface="Consolas" panose="020B0609020204030204" pitchFamily="49" charset="0"/>
              </a:rPr>
              <a:t>  A(</a:t>
            </a:r>
            <a:r>
              <a:rPr lang="en-US" sz="2200" b="1" dirty="0">
                <a:solidFill>
                  <a:srgbClr val="FF0000"/>
                </a:solidFill>
                <a:latin typeface="Consolas" panose="020B0609020204030204" pitchFamily="49" charset="0"/>
                <a:cs typeface="Consolas" panose="020B0609020204030204" pitchFamily="49" charset="0"/>
              </a:rPr>
              <a:t>int</a:t>
            </a:r>
            <a:r>
              <a:rPr lang="en-US" sz="2200" b="1" dirty="0">
                <a:latin typeface="Consolas" panose="020B0609020204030204" pitchFamily="49" charset="0"/>
                <a:cs typeface="Consolas" panose="020B0609020204030204" pitchFamily="49" charset="0"/>
              </a:rPr>
              <a:t> x) { </a:t>
            </a:r>
          </a:p>
          <a:p>
            <a:r>
              <a:rPr lang="en-US" sz="2200" i="1" dirty="0">
                <a:solidFill>
                  <a:schemeClr val="accent3">
                    <a:lumMod val="50000"/>
                  </a:schemeClr>
                </a:solidFill>
                <a:latin typeface="Consolas" panose="020B0609020204030204" pitchFamily="49" charset="0"/>
                <a:cs typeface="Consolas" panose="020B0609020204030204" pitchFamily="49" charset="0"/>
              </a:rPr>
              <a:t>    // which x?</a:t>
            </a:r>
          </a:p>
          <a:p>
            <a:r>
              <a:rPr lang="en-US" sz="2200" b="1" dirty="0">
                <a:latin typeface="Consolas" panose="020B0609020204030204" pitchFamily="49" charset="0"/>
                <a:cs typeface="Consolas" panose="020B0609020204030204" pitchFamily="49" charset="0"/>
              </a:rPr>
              <a:t>    x = </a:t>
            </a:r>
            <a:r>
              <a:rPr lang="en-US" sz="2200" b="1" dirty="0">
                <a:solidFill>
                  <a:schemeClr val="accent3">
                    <a:lumMod val="75000"/>
                  </a:schemeClr>
                </a:solidFill>
                <a:latin typeface="Consolas" panose="020B0609020204030204" pitchFamily="49" charset="0"/>
                <a:cs typeface="Consolas" panose="020B0609020204030204" pitchFamily="49" charset="0"/>
              </a:rPr>
              <a:t>5</a:t>
            </a:r>
            <a:r>
              <a:rPr lang="en-US" sz="2200" b="1" dirty="0">
                <a:latin typeface="Consolas" panose="020B0609020204030204" pitchFamily="49" charset="0"/>
                <a:cs typeface="Consolas" panose="020B0609020204030204" pitchFamily="49" charset="0"/>
              </a:rPr>
              <a:t>;    </a:t>
            </a:r>
          </a:p>
          <a:p>
            <a:r>
              <a:rPr lang="en-US" sz="2200" b="1" dirty="0">
                <a:latin typeface="Consolas" panose="020B0609020204030204" pitchFamily="49" charset="0"/>
                <a:cs typeface="Consolas" panose="020B0609020204030204" pitchFamily="49" charset="0"/>
              </a:rPr>
              <a:t>  } </a:t>
            </a:r>
          </a:p>
          <a:p>
            <a:r>
              <a:rPr lang="en-US" sz="2200" b="1" dirty="0">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E01FDA13-BD9A-E246-8355-5F7E3B740599}"/>
              </a:ext>
            </a:extLst>
          </p:cNvPr>
          <p:cNvSpPr txBox="1"/>
          <p:nvPr/>
        </p:nvSpPr>
        <p:spPr>
          <a:xfrm>
            <a:off x="1157287" y="3088380"/>
            <a:ext cx="2209799" cy="430887"/>
          </a:xfrm>
          <a:prstGeom prst="rect">
            <a:avLst/>
          </a:prstGeom>
          <a:noFill/>
        </p:spPr>
        <p:txBody>
          <a:bodyPr wrap="square" rtlCol="0">
            <a:spAutoFit/>
          </a:bodyPr>
          <a:lstStyle/>
          <a:p>
            <a:r>
              <a:rPr lang="en-US" sz="2200" b="1" dirty="0"/>
              <a:t>this</a:t>
            </a:r>
            <a:r>
              <a:rPr lang="en-US" sz="2200" dirty="0"/>
              <a:t> refers to…</a:t>
            </a:r>
            <a:endParaRPr lang="en-US" sz="2200" b="1" dirty="0">
              <a:solidFill>
                <a:srgbClr val="FF0000"/>
              </a:solidFill>
            </a:endParaRPr>
          </a:p>
        </p:txBody>
      </p:sp>
      <p:sp>
        <p:nvSpPr>
          <p:cNvPr id="7" name="Rounded Rectangle 6">
            <a:extLst>
              <a:ext uri="{FF2B5EF4-FFF2-40B4-BE49-F238E27FC236}">
                <a16:creationId xmlns:a16="http://schemas.microsoft.com/office/drawing/2014/main" id="{69EC1127-6C63-764C-9DE3-CD43D12D9744}"/>
              </a:ext>
            </a:extLst>
          </p:cNvPr>
          <p:cNvSpPr/>
          <p:nvPr/>
        </p:nvSpPr>
        <p:spPr>
          <a:xfrm>
            <a:off x="990600" y="2708622"/>
            <a:ext cx="333375" cy="389283"/>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77E1AA6-2C14-4642-9CE2-9980E8B07A43}"/>
              </a:ext>
            </a:extLst>
          </p:cNvPr>
          <p:cNvSpPr txBox="1"/>
          <p:nvPr/>
        </p:nvSpPr>
        <p:spPr>
          <a:xfrm>
            <a:off x="1600200" y="3424860"/>
            <a:ext cx="2209799" cy="430887"/>
          </a:xfrm>
          <a:prstGeom prst="rect">
            <a:avLst/>
          </a:prstGeom>
          <a:noFill/>
        </p:spPr>
        <p:txBody>
          <a:bodyPr wrap="square" rtlCol="0">
            <a:spAutoFit/>
          </a:bodyPr>
          <a:lstStyle/>
          <a:p>
            <a:r>
              <a:rPr lang="en-US" sz="2200" b="1" dirty="0"/>
              <a:t>that </a:t>
            </a:r>
            <a:r>
              <a:rPr lang="en-US" sz="2200" dirty="0"/>
              <a:t>argument.</a:t>
            </a:r>
            <a:endParaRPr lang="en-US" sz="2200" b="1" dirty="0">
              <a:solidFill>
                <a:srgbClr val="FF0000"/>
              </a:solidFill>
            </a:endParaRPr>
          </a:p>
        </p:txBody>
      </p:sp>
      <p:sp>
        <p:nvSpPr>
          <p:cNvPr id="9" name="Rounded Rectangle 8">
            <a:extLst>
              <a:ext uri="{FF2B5EF4-FFF2-40B4-BE49-F238E27FC236}">
                <a16:creationId xmlns:a16="http://schemas.microsoft.com/office/drawing/2014/main" id="{83C98AC3-2FB8-9745-AEA3-6D1155D1CE54}"/>
              </a:ext>
            </a:extLst>
          </p:cNvPr>
          <p:cNvSpPr/>
          <p:nvPr/>
        </p:nvSpPr>
        <p:spPr>
          <a:xfrm>
            <a:off x="1600200" y="2041872"/>
            <a:ext cx="333375" cy="389283"/>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069680C1-15E8-8846-9A93-D43A6081E371}"/>
              </a:ext>
            </a:extLst>
          </p:cNvPr>
          <p:cNvSpPr txBox="1"/>
          <p:nvPr/>
        </p:nvSpPr>
        <p:spPr>
          <a:xfrm>
            <a:off x="3048000" y="1393451"/>
            <a:ext cx="5100530" cy="769441"/>
          </a:xfrm>
          <a:prstGeom prst="rect">
            <a:avLst/>
          </a:prstGeom>
          <a:noFill/>
        </p:spPr>
        <p:txBody>
          <a:bodyPr wrap="square" rtlCol="0">
            <a:spAutoFit/>
          </a:bodyPr>
          <a:lstStyle/>
          <a:p>
            <a:pPr algn="ctr"/>
            <a:r>
              <a:rPr lang="en-US" sz="2200" dirty="0"/>
              <a:t>in this case we say that the local variable </a:t>
            </a:r>
            <a:r>
              <a:rPr lang="en-US" sz="2200" b="1" dirty="0"/>
              <a:t>shadows </a:t>
            </a:r>
            <a:r>
              <a:rPr lang="en-US" sz="2200" dirty="0"/>
              <a:t>the member variable.</a:t>
            </a:r>
          </a:p>
        </p:txBody>
      </p:sp>
      <p:grpSp>
        <p:nvGrpSpPr>
          <p:cNvPr id="15" name="Group 14">
            <a:extLst>
              <a:ext uri="{FF2B5EF4-FFF2-40B4-BE49-F238E27FC236}">
                <a16:creationId xmlns:a16="http://schemas.microsoft.com/office/drawing/2014/main" id="{903ED5CB-5F7B-884F-9FCC-440723715412}"/>
              </a:ext>
            </a:extLst>
          </p:cNvPr>
          <p:cNvGrpSpPr/>
          <p:nvPr/>
        </p:nvGrpSpPr>
        <p:grpSpPr>
          <a:xfrm>
            <a:off x="4432189" y="992237"/>
            <a:ext cx="2140375" cy="3770263"/>
            <a:chOff x="4432189" y="992237"/>
            <a:chExt cx="2140375" cy="3770263"/>
          </a:xfrm>
        </p:grpSpPr>
        <p:sp>
          <p:nvSpPr>
            <p:cNvPr id="13" name="TextBox 12">
              <a:extLst>
                <a:ext uri="{FF2B5EF4-FFF2-40B4-BE49-F238E27FC236}">
                  <a16:creationId xmlns:a16="http://schemas.microsoft.com/office/drawing/2014/main" id="{88664011-9CDB-7646-B70F-E0E560F373BE}"/>
                </a:ext>
              </a:extLst>
            </p:cNvPr>
            <p:cNvSpPr txBox="1"/>
            <p:nvPr/>
          </p:nvSpPr>
          <p:spPr>
            <a:xfrm>
              <a:off x="4432189" y="992237"/>
              <a:ext cx="864339" cy="3770263"/>
            </a:xfrm>
            <a:prstGeom prst="rect">
              <a:avLst/>
            </a:prstGeom>
            <a:noFill/>
          </p:spPr>
          <p:txBody>
            <a:bodyPr wrap="square" rtlCol="0">
              <a:spAutoFit/>
            </a:bodyPr>
            <a:lstStyle/>
            <a:p>
              <a:r>
                <a:rPr lang="en-US" sz="23900" b="1" dirty="0">
                  <a:effectLst>
                    <a:outerShdw blurRad="25400" dist="266700" dir="15000000" sy="30000" kx="-1800000" algn="bl" rotWithShape="0">
                      <a:prstClr val="black">
                        <a:alpha val="80000"/>
                      </a:prstClr>
                    </a:outerShdw>
                  </a:effectLst>
                  <a:latin typeface="Consolas" panose="020B0609020204030204" pitchFamily="49" charset="0"/>
                  <a:cs typeface="Consolas" panose="020B0609020204030204" pitchFamily="49" charset="0"/>
                </a:rPr>
                <a:t>x</a:t>
              </a:r>
            </a:p>
          </p:txBody>
        </p:sp>
        <p:sp>
          <p:nvSpPr>
            <p:cNvPr id="14" name="TextBox 13">
              <a:extLst>
                <a:ext uri="{FF2B5EF4-FFF2-40B4-BE49-F238E27FC236}">
                  <a16:creationId xmlns:a16="http://schemas.microsoft.com/office/drawing/2014/main" id="{178072A6-5BF1-DC46-87EB-B09A12FA7D47}"/>
                </a:ext>
              </a:extLst>
            </p:cNvPr>
            <p:cNvSpPr txBox="1"/>
            <p:nvPr/>
          </p:nvSpPr>
          <p:spPr>
            <a:xfrm>
              <a:off x="5962964" y="3331062"/>
              <a:ext cx="609600" cy="523220"/>
            </a:xfrm>
            <a:prstGeom prst="rect">
              <a:avLst/>
            </a:prstGeom>
            <a:noFill/>
          </p:spPr>
          <p:txBody>
            <a:bodyPr wrap="square" rtlCol="0">
              <a:spAutoFit/>
            </a:bodyPr>
            <a:lstStyle/>
            <a:p>
              <a:pPr algn="ctr"/>
              <a:r>
                <a:rPr lang="en-US" sz="2800" b="1" dirty="0">
                  <a:latin typeface="Consolas" panose="020B0609020204030204" pitchFamily="49" charset="0"/>
                  <a:cs typeface="Consolas" panose="020B0609020204030204" pitchFamily="49" charset="0"/>
                </a:rPr>
                <a:t>x</a:t>
              </a:r>
            </a:p>
          </p:txBody>
        </p:sp>
      </p:grpSp>
    </p:spTree>
    <p:extLst>
      <p:ext uri="{BB962C8B-B14F-4D97-AF65-F5344CB8AC3E}">
        <p14:creationId xmlns:p14="http://schemas.microsoft.com/office/powerpoint/2010/main" val="297482433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8" grpId="0"/>
      <p:bldP spid="9" grpId="0" animBg="1"/>
      <p:bldP spid="1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6ADBD-3C6B-6542-87C5-4BAC8AA5CAED}"/>
              </a:ext>
            </a:extLst>
          </p:cNvPr>
          <p:cNvSpPr>
            <a:spLocks noGrp="1"/>
          </p:cNvSpPr>
          <p:nvPr>
            <p:ph type="title"/>
          </p:nvPr>
        </p:nvSpPr>
        <p:spPr/>
        <p:txBody>
          <a:bodyPr/>
          <a:lstStyle/>
          <a:p>
            <a:r>
              <a:rPr lang="en-US" dirty="0"/>
              <a:t>Shadowing isn't always a mistake</a:t>
            </a:r>
          </a:p>
        </p:txBody>
      </p:sp>
      <p:sp>
        <p:nvSpPr>
          <p:cNvPr id="3" name="Content Placeholder 2">
            <a:extLst>
              <a:ext uri="{FF2B5EF4-FFF2-40B4-BE49-F238E27FC236}">
                <a16:creationId xmlns:a16="http://schemas.microsoft.com/office/drawing/2014/main" id="{7321077E-18A1-284B-BFF5-B330FBFB50FE}"/>
              </a:ext>
            </a:extLst>
          </p:cNvPr>
          <p:cNvSpPr>
            <a:spLocks noGrp="1"/>
          </p:cNvSpPr>
          <p:nvPr>
            <p:ph idx="1"/>
          </p:nvPr>
        </p:nvSpPr>
        <p:spPr/>
        <p:txBody>
          <a:bodyPr/>
          <a:lstStyle/>
          <a:p>
            <a:r>
              <a:rPr lang="en-US" dirty="0"/>
              <a:t>sometimes it just makes things more convenient.</a:t>
            </a:r>
          </a:p>
          <a:p>
            <a:pPr lvl="1"/>
            <a:r>
              <a:rPr lang="en-US" dirty="0"/>
              <a:t>if you write a piece of code, and then change the environment around it (like adding a global), you don't want it to suddenly change behavior or get new compiler errors!</a:t>
            </a:r>
          </a:p>
          <a:p>
            <a:r>
              <a:rPr lang="en-US" dirty="0"/>
              <a:t>or in Rust, where variables are immutable by default, this is a common pattern:</a:t>
            </a:r>
          </a:p>
          <a:p>
            <a:pPr marL="515780" lvl="2" indent="0">
              <a:buNone/>
            </a:pPr>
            <a:r>
              <a:rPr lang="en-US" b="1" dirty="0">
                <a:solidFill>
                  <a:srgbClr val="FF0000"/>
                </a:solidFill>
                <a:latin typeface="Consolas" panose="020B0609020204030204" pitchFamily="49" charset="0"/>
                <a:cs typeface="Consolas" panose="020B0609020204030204" pitchFamily="49" charset="0"/>
              </a:rPr>
              <a:t>let</a:t>
            </a:r>
            <a:r>
              <a:rPr lang="en-US" b="1" dirty="0">
                <a:latin typeface="Consolas" panose="020B0609020204030204" pitchFamily="49" charset="0"/>
                <a:cs typeface="Consolas" panose="020B0609020204030204" pitchFamily="49" charset="0"/>
              </a:rPr>
              <a:t> </a:t>
            </a:r>
            <a:r>
              <a:rPr lang="en-US" b="1" dirty="0" err="1">
                <a:latin typeface="Consolas" panose="020B0609020204030204" pitchFamily="49" charset="0"/>
                <a:cs typeface="Consolas" panose="020B0609020204030204" pitchFamily="49" charset="0"/>
              </a:rPr>
              <a:t>ast</a:t>
            </a:r>
            <a:r>
              <a:rPr lang="en-US" b="1" dirty="0">
                <a:latin typeface="Consolas" panose="020B0609020204030204" pitchFamily="49" charset="0"/>
                <a:cs typeface="Consolas" panose="020B0609020204030204" pitchFamily="49" charset="0"/>
              </a:rPr>
              <a:t> = parse(</a:t>
            </a:r>
            <a:r>
              <a:rPr lang="en-US" b="1" dirty="0" err="1">
                <a:latin typeface="Consolas" panose="020B0609020204030204" pitchFamily="49" charset="0"/>
                <a:cs typeface="Consolas" panose="020B0609020204030204" pitchFamily="49" charset="0"/>
              </a:rPr>
              <a:t>lex</a:t>
            </a:r>
            <a:r>
              <a:rPr lang="en-US" b="1" dirty="0">
                <a:latin typeface="Consolas" panose="020B0609020204030204" pitchFamily="49" charset="0"/>
                <a:cs typeface="Consolas" panose="020B0609020204030204" pitchFamily="49" charset="0"/>
              </a:rPr>
              <a:t>(input)?)?;</a:t>
            </a:r>
          </a:p>
          <a:p>
            <a:pPr marL="515780" lvl="2" indent="0">
              <a:buNone/>
            </a:pPr>
            <a:r>
              <a:rPr lang="en-US" b="1" dirty="0">
                <a:solidFill>
                  <a:srgbClr val="FF0000"/>
                </a:solidFill>
                <a:latin typeface="Consolas" panose="020B0609020204030204" pitchFamily="49" charset="0"/>
                <a:cs typeface="Consolas" panose="020B0609020204030204" pitchFamily="49" charset="0"/>
              </a:rPr>
              <a:t>let</a:t>
            </a:r>
            <a:r>
              <a:rPr lang="en-US" b="1" dirty="0">
                <a:latin typeface="Consolas" panose="020B0609020204030204" pitchFamily="49" charset="0"/>
                <a:cs typeface="Consolas" panose="020B0609020204030204" pitchFamily="49" charset="0"/>
              </a:rPr>
              <a:t> types = </a:t>
            </a:r>
            <a:r>
              <a:rPr lang="en-US" b="1" dirty="0" err="1">
                <a:latin typeface="Consolas" panose="020B0609020204030204" pitchFamily="49" charset="0"/>
                <a:cs typeface="Consolas" panose="020B0609020204030204" pitchFamily="49" charset="0"/>
              </a:rPr>
              <a:t>typecheck</a:t>
            </a:r>
            <a:r>
              <a:rPr lang="en-US" b="1" dirty="0">
                <a:latin typeface="Consolas" panose="020B0609020204030204" pitchFamily="49" charset="0"/>
                <a:cs typeface="Consolas" panose="020B0609020204030204" pitchFamily="49" charset="0"/>
              </a:rPr>
              <a:t>(</a:t>
            </a:r>
            <a:r>
              <a:rPr lang="en-US" b="1" dirty="0" err="1">
                <a:latin typeface="Consolas" panose="020B0609020204030204" pitchFamily="49" charset="0"/>
                <a:cs typeface="Consolas" panose="020B0609020204030204" pitchFamily="49" charset="0"/>
              </a:rPr>
              <a:t>ast</a:t>
            </a:r>
            <a:r>
              <a:rPr lang="en-US" b="1" dirty="0">
                <a:latin typeface="Consolas" panose="020B0609020204030204" pitchFamily="49" charset="0"/>
                <a:cs typeface="Consolas" panose="020B0609020204030204" pitchFamily="49" charset="0"/>
              </a:rPr>
              <a:t>)?;</a:t>
            </a:r>
          </a:p>
          <a:p>
            <a:pPr marL="515780" lvl="2" indent="0">
              <a:buNone/>
            </a:pPr>
            <a:r>
              <a:rPr lang="en-US" b="1" dirty="0">
                <a:solidFill>
                  <a:srgbClr val="FF0000"/>
                </a:solidFill>
                <a:latin typeface="Consolas" panose="020B0609020204030204" pitchFamily="49" charset="0"/>
                <a:cs typeface="Consolas" panose="020B0609020204030204" pitchFamily="49" charset="0"/>
              </a:rPr>
              <a:t>let</a:t>
            </a:r>
            <a:r>
              <a:rPr lang="en-US" b="1" dirty="0">
                <a:latin typeface="Consolas" panose="020B0609020204030204" pitchFamily="49" charset="0"/>
                <a:cs typeface="Consolas" panose="020B0609020204030204" pitchFamily="49" charset="0"/>
              </a:rPr>
              <a:t> </a:t>
            </a:r>
            <a:r>
              <a:rPr lang="en-US" b="1" dirty="0" err="1">
                <a:latin typeface="Consolas" panose="020B0609020204030204" pitchFamily="49" charset="0"/>
                <a:cs typeface="Consolas" panose="020B0609020204030204" pitchFamily="49" charset="0"/>
              </a:rPr>
              <a:t>ast</a:t>
            </a:r>
            <a:r>
              <a:rPr lang="en-US" b="1" dirty="0">
                <a:latin typeface="Consolas" panose="020B0609020204030204" pitchFamily="49" charset="0"/>
                <a:cs typeface="Consolas" panose="020B0609020204030204" pitchFamily="49" charset="0"/>
              </a:rPr>
              <a:t> = </a:t>
            </a:r>
            <a:r>
              <a:rPr lang="en-US" b="1" dirty="0" err="1">
                <a:latin typeface="Consolas" panose="020B0609020204030204" pitchFamily="49" charset="0"/>
                <a:cs typeface="Consolas" panose="020B0609020204030204" pitchFamily="49" charset="0"/>
              </a:rPr>
              <a:t>const_fold</a:t>
            </a:r>
            <a:r>
              <a:rPr lang="en-US" b="1" dirty="0">
                <a:latin typeface="Consolas" panose="020B0609020204030204" pitchFamily="49" charset="0"/>
                <a:cs typeface="Consolas" panose="020B0609020204030204" pitchFamily="49" charset="0"/>
              </a:rPr>
              <a:t>(</a:t>
            </a:r>
            <a:r>
              <a:rPr lang="en-US" b="1" dirty="0" err="1">
                <a:latin typeface="Consolas" panose="020B0609020204030204" pitchFamily="49" charset="0"/>
                <a:cs typeface="Consolas" panose="020B0609020204030204" pitchFamily="49" charset="0"/>
              </a:rPr>
              <a:t>ast</a:t>
            </a:r>
            <a:r>
              <a:rPr lang="en-US" b="1" dirty="0">
                <a:latin typeface="Consolas" panose="020B0609020204030204" pitchFamily="49" charset="0"/>
                <a:cs typeface="Consolas" panose="020B0609020204030204" pitchFamily="49" charset="0"/>
              </a:rPr>
              <a:t>, types)?;</a:t>
            </a:r>
          </a:p>
          <a:p>
            <a:pPr marL="515780" lvl="2" indent="0">
              <a:buNone/>
            </a:pPr>
            <a:r>
              <a:rPr lang="en-US" b="1" dirty="0">
                <a:solidFill>
                  <a:srgbClr val="FF0000"/>
                </a:solidFill>
                <a:latin typeface="Consolas" panose="020B0609020204030204" pitchFamily="49" charset="0"/>
                <a:cs typeface="Consolas" panose="020B0609020204030204" pitchFamily="49" charset="0"/>
              </a:rPr>
              <a:t>let</a:t>
            </a:r>
            <a:r>
              <a:rPr lang="en-US" b="1" dirty="0">
                <a:latin typeface="Consolas" panose="020B0609020204030204" pitchFamily="49" charset="0"/>
                <a:cs typeface="Consolas" panose="020B0609020204030204" pitchFamily="49" charset="0"/>
              </a:rPr>
              <a:t> </a:t>
            </a:r>
            <a:r>
              <a:rPr lang="en-US" b="1" dirty="0" err="1">
                <a:latin typeface="Consolas" panose="020B0609020204030204" pitchFamily="49" charset="0"/>
                <a:cs typeface="Consolas" panose="020B0609020204030204" pitchFamily="49" charset="0"/>
              </a:rPr>
              <a:t>ast</a:t>
            </a:r>
            <a:r>
              <a:rPr lang="en-US" b="1" dirty="0">
                <a:latin typeface="Consolas" panose="020B0609020204030204" pitchFamily="49" charset="0"/>
                <a:cs typeface="Consolas" panose="020B0609020204030204" pitchFamily="49" charset="0"/>
              </a:rPr>
              <a:t> = </a:t>
            </a:r>
            <a:r>
              <a:rPr lang="en-US" b="1" dirty="0" err="1">
                <a:latin typeface="Consolas" panose="020B0609020204030204" pitchFamily="49" charset="0"/>
                <a:cs typeface="Consolas" panose="020B0609020204030204" pitchFamily="49" charset="0"/>
              </a:rPr>
              <a:t>inline_calls</a:t>
            </a:r>
            <a:r>
              <a:rPr lang="en-US" b="1" dirty="0">
                <a:latin typeface="Consolas" panose="020B0609020204030204" pitchFamily="49" charset="0"/>
                <a:cs typeface="Consolas" panose="020B0609020204030204" pitchFamily="49" charset="0"/>
              </a:rPr>
              <a:t>(</a:t>
            </a:r>
            <a:r>
              <a:rPr lang="en-US" b="1" dirty="0" err="1">
                <a:latin typeface="Consolas" panose="020B0609020204030204" pitchFamily="49" charset="0"/>
                <a:cs typeface="Consolas" panose="020B0609020204030204" pitchFamily="49" charset="0"/>
              </a:rPr>
              <a:t>ast</a:t>
            </a:r>
            <a:r>
              <a:rPr lang="en-US" b="1" dirty="0">
                <a:latin typeface="Consolas" panose="020B0609020204030204" pitchFamily="49" charset="0"/>
                <a:cs typeface="Consolas" panose="020B0609020204030204" pitchFamily="49" charset="0"/>
              </a:rPr>
              <a:t>, types)?;</a:t>
            </a:r>
          </a:p>
          <a:p>
            <a:pPr marL="515780" lvl="2" indent="0">
              <a:buNone/>
            </a:pPr>
            <a:r>
              <a:rPr lang="en-US" b="1" dirty="0" err="1">
                <a:latin typeface="Consolas" panose="020B0609020204030204" pitchFamily="49" charset="0"/>
                <a:cs typeface="Consolas" panose="020B0609020204030204" pitchFamily="49" charset="0"/>
              </a:rPr>
              <a:t>codegen</a:t>
            </a:r>
            <a:r>
              <a:rPr lang="en-US" b="1" dirty="0">
                <a:latin typeface="Consolas" panose="020B0609020204030204" pitchFamily="49" charset="0"/>
                <a:cs typeface="Consolas" panose="020B0609020204030204" pitchFamily="49" charset="0"/>
              </a:rPr>
              <a:t>(</a:t>
            </a:r>
            <a:r>
              <a:rPr lang="en-US" b="1" dirty="0" err="1">
                <a:latin typeface="Consolas" panose="020B0609020204030204" pitchFamily="49" charset="0"/>
                <a:cs typeface="Consolas" panose="020B0609020204030204" pitchFamily="49" charset="0"/>
              </a:rPr>
              <a:t>ast</a:t>
            </a:r>
            <a:r>
              <a:rPr lang="en-US" b="1" dirty="0">
                <a:latin typeface="Consolas" panose="020B0609020204030204" pitchFamily="49" charset="0"/>
                <a:cs typeface="Consolas" panose="020B0609020204030204" pitchFamily="49" charset="0"/>
              </a:rPr>
              <a:t>, types)?;</a:t>
            </a:r>
          </a:p>
          <a:p>
            <a:r>
              <a:rPr lang="en-US" dirty="0"/>
              <a:t>subsequent declarations of </a:t>
            </a:r>
            <a:r>
              <a:rPr lang="en-US" b="1" dirty="0" err="1">
                <a:latin typeface="Consolas" panose="020B0609020204030204" pitchFamily="49" charset="0"/>
                <a:cs typeface="Consolas" panose="020B0609020204030204" pitchFamily="49" charset="0"/>
              </a:rPr>
              <a:t>ast</a:t>
            </a:r>
            <a:r>
              <a:rPr lang="en-US" dirty="0"/>
              <a:t> </a:t>
            </a:r>
            <a:r>
              <a:rPr lang="en-US" b="1" dirty="0"/>
              <a:t>shadow</a:t>
            </a:r>
            <a:r>
              <a:rPr lang="en-US" dirty="0"/>
              <a:t> the previous ones.</a:t>
            </a:r>
          </a:p>
        </p:txBody>
      </p:sp>
      <p:sp>
        <p:nvSpPr>
          <p:cNvPr id="4" name="Slide Number Placeholder 3">
            <a:extLst>
              <a:ext uri="{FF2B5EF4-FFF2-40B4-BE49-F238E27FC236}">
                <a16:creationId xmlns:a16="http://schemas.microsoft.com/office/drawing/2014/main" id="{3F5E4D9A-C02A-9E47-969B-D3C1DF8B1F64}"/>
              </a:ext>
            </a:extLst>
          </p:cNvPr>
          <p:cNvSpPr>
            <a:spLocks noGrp="1"/>
          </p:cNvSpPr>
          <p:nvPr>
            <p:ph type="sldNum" sz="quarter" idx="12"/>
          </p:nvPr>
        </p:nvSpPr>
        <p:spPr/>
        <p:txBody>
          <a:bodyPr/>
          <a:lstStyle/>
          <a:p>
            <a:fld id="{3552B95B-556F-44BD-91A5-D80C1B9E2BB3}" type="slidenum">
              <a:rPr lang="en-US" smtClean="0"/>
              <a:pPr/>
              <a:t>28</a:t>
            </a:fld>
            <a:endParaRPr lang="en-US"/>
          </a:p>
        </p:txBody>
      </p:sp>
    </p:spTree>
    <p:extLst>
      <p:ext uri="{BB962C8B-B14F-4D97-AF65-F5344CB8AC3E}">
        <p14:creationId xmlns:p14="http://schemas.microsoft.com/office/powerpoint/2010/main" val="2406403640"/>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48E6C-EA94-1547-A3A7-E55E0C733BC2}"/>
              </a:ext>
            </a:extLst>
          </p:cNvPr>
          <p:cNvSpPr>
            <a:spLocks noGrp="1"/>
          </p:cNvSpPr>
          <p:nvPr>
            <p:ph type="ctrTitle"/>
          </p:nvPr>
        </p:nvSpPr>
        <p:spPr/>
        <p:txBody>
          <a:bodyPr/>
          <a:lstStyle/>
          <a:p>
            <a:r>
              <a:rPr lang="en-US" dirty="0"/>
              <a:t>Evaluation and Execution</a:t>
            </a:r>
          </a:p>
        </p:txBody>
      </p:sp>
      <p:sp>
        <p:nvSpPr>
          <p:cNvPr id="3" name="Slide Number Placeholder 2">
            <a:extLst>
              <a:ext uri="{FF2B5EF4-FFF2-40B4-BE49-F238E27FC236}">
                <a16:creationId xmlns:a16="http://schemas.microsoft.com/office/drawing/2014/main" id="{568C4143-4192-A240-A189-71DBAB3A12F4}"/>
              </a:ext>
            </a:extLst>
          </p:cNvPr>
          <p:cNvSpPr>
            <a:spLocks noGrp="1"/>
          </p:cNvSpPr>
          <p:nvPr>
            <p:ph type="sldNum" sz="quarter" idx="12"/>
          </p:nvPr>
        </p:nvSpPr>
        <p:spPr/>
        <p:txBody>
          <a:bodyPr/>
          <a:lstStyle/>
          <a:p>
            <a:fld id="{3552B95B-556F-44BD-91A5-D80C1B9E2BB3}" type="slidenum">
              <a:rPr lang="en-US" smtClean="0"/>
              <a:pPr/>
              <a:t>29</a:t>
            </a:fld>
            <a:endParaRPr lang="en-US"/>
          </a:p>
        </p:txBody>
      </p:sp>
    </p:spTree>
    <p:extLst>
      <p:ext uri="{BB962C8B-B14F-4D97-AF65-F5344CB8AC3E}">
        <p14:creationId xmlns:p14="http://schemas.microsoft.com/office/powerpoint/2010/main" val="2033413228"/>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5E2D1-EDEF-8A44-A6A7-78BE310F5B7F}"/>
              </a:ext>
            </a:extLst>
          </p:cNvPr>
          <p:cNvSpPr>
            <a:spLocks noGrp="1"/>
          </p:cNvSpPr>
          <p:nvPr>
            <p:ph type="title"/>
          </p:nvPr>
        </p:nvSpPr>
        <p:spPr/>
        <p:txBody>
          <a:bodyPr/>
          <a:lstStyle/>
          <a:p>
            <a:r>
              <a:rPr lang="en-US" dirty="0"/>
              <a:t>Evaluation and Side Effects</a:t>
            </a:r>
          </a:p>
        </p:txBody>
      </p:sp>
      <p:sp>
        <p:nvSpPr>
          <p:cNvPr id="3" name="Content Placeholder 2">
            <a:extLst>
              <a:ext uri="{FF2B5EF4-FFF2-40B4-BE49-F238E27FC236}">
                <a16:creationId xmlns:a16="http://schemas.microsoft.com/office/drawing/2014/main" id="{4E610D8B-082C-8447-B03A-DE6F72A23E7D}"/>
              </a:ext>
            </a:extLst>
          </p:cNvPr>
          <p:cNvSpPr>
            <a:spLocks noGrp="1"/>
          </p:cNvSpPr>
          <p:nvPr>
            <p:ph idx="1"/>
          </p:nvPr>
        </p:nvSpPr>
        <p:spPr/>
        <p:txBody>
          <a:bodyPr/>
          <a:lstStyle/>
          <a:p>
            <a:r>
              <a:rPr lang="en-US" b="1" dirty="0"/>
              <a:t>evaluation </a:t>
            </a:r>
            <a:r>
              <a:rPr lang="en-US" dirty="0"/>
              <a:t>means figuring out the value that an expression has.</a:t>
            </a:r>
          </a:p>
          <a:p>
            <a:pPr lvl="1"/>
            <a:r>
              <a:rPr lang="en-US" dirty="0"/>
              <a:t>it might be trivial, like for literals: </a:t>
            </a:r>
            <a:r>
              <a:rPr lang="en-US" b="1" dirty="0">
                <a:solidFill>
                  <a:schemeClr val="accent3">
                    <a:lumMod val="75000"/>
                  </a:schemeClr>
                </a:solidFill>
                <a:latin typeface="Consolas" panose="020B0609020204030204" pitchFamily="49" charset="0"/>
                <a:cs typeface="Consolas" panose="020B0609020204030204" pitchFamily="49" charset="0"/>
              </a:rPr>
              <a:t>10</a:t>
            </a:r>
            <a:r>
              <a:rPr lang="en-US" dirty="0"/>
              <a:t> evaluates to… </a:t>
            </a:r>
            <a:r>
              <a:rPr lang="en-US" b="1" dirty="0">
                <a:solidFill>
                  <a:schemeClr val="accent3">
                    <a:lumMod val="75000"/>
                  </a:schemeClr>
                </a:solidFill>
                <a:latin typeface="Consolas" panose="020B0609020204030204" pitchFamily="49" charset="0"/>
                <a:cs typeface="Consolas" panose="020B0609020204030204" pitchFamily="49" charset="0"/>
              </a:rPr>
              <a:t>10</a:t>
            </a:r>
            <a:r>
              <a:rPr lang="en-US" dirty="0"/>
              <a:t>!</a:t>
            </a:r>
          </a:p>
          <a:p>
            <a:r>
              <a:rPr lang="en-US" dirty="0"/>
              <a:t>but it might require execution of an unknown amount of code…</a:t>
            </a:r>
          </a:p>
          <a:p>
            <a:r>
              <a:rPr lang="en-US" dirty="0"/>
              <a:t>and in the process, that code may also produce </a:t>
            </a:r>
            <a:r>
              <a:rPr lang="en-US" b="1" dirty="0"/>
              <a:t>side effects: </a:t>
            </a:r>
            <a:r>
              <a:rPr lang="en-US" dirty="0"/>
              <a:t>changes to things outside of the code's local variables, like:</a:t>
            </a:r>
          </a:p>
          <a:p>
            <a:pPr lvl="1"/>
            <a:r>
              <a:rPr lang="en-US" dirty="0"/>
              <a:t>modifying global variables</a:t>
            </a:r>
          </a:p>
          <a:p>
            <a:pPr lvl="1"/>
            <a:r>
              <a:rPr lang="en-US" dirty="0"/>
              <a:t>modifying objects that were passed to it by reference</a:t>
            </a:r>
          </a:p>
          <a:p>
            <a:pPr lvl="1"/>
            <a:r>
              <a:rPr lang="en-US" dirty="0"/>
              <a:t>performing input or output</a:t>
            </a:r>
          </a:p>
          <a:p>
            <a:pPr lvl="1"/>
            <a:r>
              <a:rPr lang="en-US" dirty="0"/>
              <a:t>making your computer explode</a:t>
            </a:r>
          </a:p>
          <a:p>
            <a:r>
              <a:rPr lang="en-US" dirty="0"/>
              <a:t>side effects make it hard for us to reason about code…</a:t>
            </a:r>
          </a:p>
          <a:p>
            <a:pPr lvl="1"/>
            <a:r>
              <a:rPr lang="en-US" dirty="0"/>
              <a:t>they can cause the same piece of code to do different things depending on how many times you run it.</a:t>
            </a:r>
          </a:p>
          <a:p>
            <a:r>
              <a:rPr lang="en-US" dirty="0"/>
              <a:t>but without side effects, code can't do anything useful!</a:t>
            </a:r>
          </a:p>
          <a:p>
            <a:pPr lvl="1"/>
            <a:r>
              <a:rPr lang="en-US" dirty="0"/>
              <a:t>imagine having no input or output!</a:t>
            </a:r>
          </a:p>
        </p:txBody>
      </p:sp>
      <p:sp>
        <p:nvSpPr>
          <p:cNvPr id="4" name="Slide Number Placeholder 3">
            <a:extLst>
              <a:ext uri="{FF2B5EF4-FFF2-40B4-BE49-F238E27FC236}">
                <a16:creationId xmlns:a16="http://schemas.microsoft.com/office/drawing/2014/main" id="{6AAC3485-9CD9-AF4A-BDA7-8D614CEA9A71}"/>
              </a:ext>
            </a:extLst>
          </p:cNvPr>
          <p:cNvSpPr>
            <a:spLocks noGrp="1"/>
          </p:cNvSpPr>
          <p:nvPr>
            <p:ph type="sldNum" sz="quarter" idx="12"/>
          </p:nvPr>
        </p:nvSpPr>
        <p:spPr/>
        <p:txBody>
          <a:bodyPr/>
          <a:lstStyle/>
          <a:p>
            <a:fld id="{3552B95B-556F-44BD-91A5-D80C1B9E2BB3}" type="slidenum">
              <a:rPr lang="en-US" smtClean="0"/>
              <a:pPr/>
              <a:t>30</a:t>
            </a:fld>
            <a:endParaRPr lang="en-US"/>
          </a:p>
        </p:txBody>
      </p:sp>
    </p:spTree>
    <p:extLst>
      <p:ext uri="{BB962C8B-B14F-4D97-AF65-F5344CB8AC3E}">
        <p14:creationId xmlns:p14="http://schemas.microsoft.com/office/powerpoint/2010/main" val="2486957426"/>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C8161-173F-AE4B-A8BF-BC3D24EF2D87}"/>
              </a:ext>
            </a:extLst>
          </p:cNvPr>
          <p:cNvSpPr>
            <a:spLocks noGrp="1"/>
          </p:cNvSpPr>
          <p:nvPr>
            <p:ph type="title"/>
          </p:nvPr>
        </p:nvSpPr>
        <p:spPr/>
        <p:txBody>
          <a:bodyPr/>
          <a:lstStyle/>
          <a:p>
            <a:r>
              <a:rPr lang="en-US" dirty="0"/>
              <a:t>Evaluation Order</a:t>
            </a:r>
          </a:p>
        </p:txBody>
      </p:sp>
      <p:sp>
        <p:nvSpPr>
          <p:cNvPr id="3" name="Content Placeholder 2">
            <a:extLst>
              <a:ext uri="{FF2B5EF4-FFF2-40B4-BE49-F238E27FC236}">
                <a16:creationId xmlns:a16="http://schemas.microsoft.com/office/drawing/2014/main" id="{0DD18861-6A6C-5C46-BF62-F33BDD16A9F5}"/>
              </a:ext>
            </a:extLst>
          </p:cNvPr>
          <p:cNvSpPr>
            <a:spLocks noGrp="1"/>
          </p:cNvSpPr>
          <p:nvPr>
            <p:ph idx="1"/>
          </p:nvPr>
        </p:nvSpPr>
        <p:spPr>
          <a:xfrm>
            <a:off x="152400" y="495301"/>
            <a:ext cx="8991600" cy="2133599"/>
          </a:xfrm>
        </p:spPr>
        <p:txBody>
          <a:bodyPr/>
          <a:lstStyle/>
          <a:p>
            <a:r>
              <a:rPr lang="en-US" dirty="0"/>
              <a:t>here's some Java code:</a:t>
            </a:r>
          </a:p>
          <a:p>
            <a:pPr marL="258605" lvl="1" indent="0">
              <a:buNone/>
            </a:pPr>
            <a:r>
              <a:rPr lang="en-US" b="1" dirty="0">
                <a:latin typeface="Consolas" panose="020B0609020204030204" pitchFamily="49" charset="0"/>
                <a:cs typeface="Consolas" panose="020B0609020204030204" pitchFamily="49" charset="0"/>
              </a:rPr>
              <a:t> </a:t>
            </a:r>
            <a:r>
              <a:rPr lang="en-US" b="1" dirty="0">
                <a:solidFill>
                  <a:srgbClr val="FF0000"/>
                </a:solidFill>
                <a:latin typeface="Consolas" panose="020B0609020204030204" pitchFamily="49" charset="0"/>
                <a:cs typeface="Consolas" panose="020B0609020204030204" pitchFamily="49" charset="0"/>
              </a:rPr>
              <a:t>int</a:t>
            </a:r>
            <a:r>
              <a:rPr lang="en-US" b="1" dirty="0">
                <a:latin typeface="Consolas" panose="020B0609020204030204" pitchFamily="49" charset="0"/>
                <a:cs typeface="Consolas" panose="020B0609020204030204" pitchFamily="49" charset="0"/>
              </a:rPr>
              <a:t> f(</a:t>
            </a:r>
            <a:r>
              <a:rPr lang="en-US" b="1" dirty="0">
                <a:solidFill>
                  <a:srgbClr val="FF0000"/>
                </a:solidFill>
                <a:latin typeface="Consolas" panose="020B0609020204030204" pitchFamily="49" charset="0"/>
                <a:cs typeface="Consolas" panose="020B0609020204030204" pitchFamily="49" charset="0"/>
              </a:rPr>
              <a:t>int</a:t>
            </a:r>
            <a:r>
              <a:rPr lang="en-US" b="1" dirty="0">
                <a:latin typeface="Consolas" panose="020B0609020204030204" pitchFamily="49" charset="0"/>
                <a:cs typeface="Consolas" panose="020B0609020204030204" pitchFamily="49" charset="0"/>
              </a:rPr>
              <a:t> x) { </a:t>
            </a:r>
            <a:r>
              <a:rPr lang="en-US" b="1" dirty="0" err="1">
                <a:latin typeface="Consolas" panose="020B0609020204030204" pitchFamily="49" charset="0"/>
                <a:cs typeface="Consolas" panose="020B0609020204030204" pitchFamily="49" charset="0"/>
              </a:rPr>
              <a:t>println</a:t>
            </a:r>
            <a:r>
              <a:rPr lang="en-US" b="1" dirty="0">
                <a:latin typeface="Consolas" panose="020B0609020204030204" pitchFamily="49" charset="0"/>
                <a:cs typeface="Consolas" panose="020B0609020204030204" pitchFamily="49" charset="0"/>
              </a:rPr>
              <a:t>(</a:t>
            </a:r>
            <a:r>
              <a:rPr lang="en-US" b="1" dirty="0">
                <a:solidFill>
                  <a:schemeClr val="accent6">
                    <a:lumMod val="75000"/>
                  </a:schemeClr>
                </a:solidFill>
                <a:latin typeface="Consolas" panose="020B0609020204030204" pitchFamily="49" charset="0"/>
                <a:cs typeface="Consolas" panose="020B0609020204030204" pitchFamily="49" charset="0"/>
              </a:rPr>
              <a:t>"got "</a:t>
            </a:r>
            <a:r>
              <a:rPr lang="en-US" b="1" dirty="0">
                <a:latin typeface="Consolas" panose="020B0609020204030204" pitchFamily="49" charset="0"/>
                <a:cs typeface="Consolas" panose="020B0609020204030204" pitchFamily="49" charset="0"/>
              </a:rPr>
              <a:t> + x); </a:t>
            </a:r>
            <a:r>
              <a:rPr lang="en-US" b="1" dirty="0">
                <a:solidFill>
                  <a:srgbClr val="FF0000"/>
                </a:solidFill>
                <a:latin typeface="Consolas" panose="020B0609020204030204" pitchFamily="49" charset="0"/>
                <a:cs typeface="Consolas" panose="020B0609020204030204" pitchFamily="49" charset="0"/>
              </a:rPr>
              <a:t>return</a:t>
            </a:r>
            <a:r>
              <a:rPr lang="en-US" b="1" dirty="0">
                <a:latin typeface="Consolas" panose="020B0609020204030204" pitchFamily="49" charset="0"/>
                <a:cs typeface="Consolas" panose="020B0609020204030204" pitchFamily="49" charset="0"/>
              </a:rPr>
              <a:t> x; }</a:t>
            </a:r>
          </a:p>
          <a:p>
            <a:pPr marL="258605" lvl="1" indent="0">
              <a:buNone/>
            </a:pPr>
            <a:r>
              <a:rPr lang="en-US" b="1" dirty="0">
                <a:latin typeface="Consolas" panose="020B0609020204030204" pitchFamily="49" charset="0"/>
                <a:cs typeface="Consolas" panose="020B0609020204030204" pitchFamily="49" charset="0"/>
              </a:rPr>
              <a:t> </a:t>
            </a:r>
            <a:r>
              <a:rPr lang="en-US" b="1" dirty="0">
                <a:solidFill>
                  <a:srgbClr val="FF0000"/>
                </a:solidFill>
                <a:latin typeface="Consolas" panose="020B0609020204030204" pitchFamily="49" charset="0"/>
                <a:cs typeface="Consolas" panose="020B0609020204030204" pitchFamily="49" charset="0"/>
              </a:rPr>
              <a:t>int</a:t>
            </a:r>
            <a:r>
              <a:rPr lang="en-US" b="1" dirty="0">
                <a:latin typeface="Consolas" panose="020B0609020204030204" pitchFamily="49" charset="0"/>
                <a:cs typeface="Consolas" panose="020B0609020204030204" pitchFamily="49" charset="0"/>
              </a:rPr>
              <a:t> add(</a:t>
            </a:r>
            <a:r>
              <a:rPr lang="en-US" b="1" dirty="0">
                <a:solidFill>
                  <a:srgbClr val="FF0000"/>
                </a:solidFill>
                <a:latin typeface="Consolas" panose="020B0609020204030204" pitchFamily="49" charset="0"/>
                <a:cs typeface="Consolas" panose="020B0609020204030204" pitchFamily="49" charset="0"/>
              </a:rPr>
              <a:t>int</a:t>
            </a:r>
            <a:r>
              <a:rPr lang="en-US" b="1" dirty="0">
                <a:latin typeface="Consolas" panose="020B0609020204030204" pitchFamily="49" charset="0"/>
                <a:cs typeface="Consolas" panose="020B0609020204030204" pitchFamily="49" charset="0"/>
              </a:rPr>
              <a:t> a, </a:t>
            </a:r>
            <a:r>
              <a:rPr lang="en-US" b="1" dirty="0">
                <a:solidFill>
                  <a:srgbClr val="FF0000"/>
                </a:solidFill>
                <a:latin typeface="Consolas" panose="020B0609020204030204" pitchFamily="49" charset="0"/>
                <a:cs typeface="Consolas" panose="020B0609020204030204" pitchFamily="49" charset="0"/>
              </a:rPr>
              <a:t>int</a:t>
            </a:r>
            <a:r>
              <a:rPr lang="en-US" b="1" dirty="0">
                <a:latin typeface="Consolas" panose="020B0609020204030204" pitchFamily="49" charset="0"/>
                <a:cs typeface="Consolas" panose="020B0609020204030204" pitchFamily="49" charset="0"/>
              </a:rPr>
              <a:t> b) { </a:t>
            </a:r>
            <a:r>
              <a:rPr lang="en-US" b="1" dirty="0">
                <a:solidFill>
                  <a:srgbClr val="FF0000"/>
                </a:solidFill>
                <a:latin typeface="Consolas" panose="020B0609020204030204" pitchFamily="49" charset="0"/>
                <a:cs typeface="Consolas" panose="020B0609020204030204" pitchFamily="49" charset="0"/>
              </a:rPr>
              <a:t>return</a:t>
            </a:r>
            <a:r>
              <a:rPr lang="en-US" b="1" dirty="0">
                <a:latin typeface="Consolas" panose="020B0609020204030204" pitchFamily="49" charset="0"/>
                <a:cs typeface="Consolas" panose="020B0609020204030204" pitchFamily="49" charset="0"/>
              </a:rPr>
              <a:t> a + b; }</a:t>
            </a:r>
          </a:p>
          <a:p>
            <a:pPr marL="258605" lvl="1" indent="0">
              <a:buNone/>
            </a:pPr>
            <a:r>
              <a:rPr lang="en-US" b="1" dirty="0">
                <a:latin typeface="Consolas" panose="020B0609020204030204" pitchFamily="49" charset="0"/>
                <a:cs typeface="Consolas" panose="020B0609020204030204" pitchFamily="49" charset="0"/>
              </a:rPr>
              <a:t> </a:t>
            </a:r>
            <a:r>
              <a:rPr lang="en-US" b="1" dirty="0" err="1">
                <a:latin typeface="Consolas" panose="020B0609020204030204" pitchFamily="49" charset="0"/>
                <a:cs typeface="Consolas" panose="020B0609020204030204" pitchFamily="49" charset="0"/>
              </a:rPr>
              <a:t>println</a:t>
            </a:r>
            <a:r>
              <a:rPr lang="en-US" b="1" dirty="0">
                <a:latin typeface="Consolas" panose="020B0609020204030204" pitchFamily="49" charset="0"/>
                <a:cs typeface="Consolas" panose="020B0609020204030204" pitchFamily="49" charset="0"/>
              </a:rPr>
              <a:t>(</a:t>
            </a:r>
            <a:r>
              <a:rPr lang="en-US" b="1" dirty="0">
                <a:solidFill>
                  <a:schemeClr val="accent6">
                    <a:lumMod val="75000"/>
                  </a:schemeClr>
                </a:solidFill>
                <a:latin typeface="Consolas" panose="020B0609020204030204" pitchFamily="49" charset="0"/>
                <a:cs typeface="Consolas" panose="020B0609020204030204" pitchFamily="49" charset="0"/>
              </a:rPr>
              <a:t>"3 + 5 = "</a:t>
            </a:r>
            <a:r>
              <a:rPr lang="en-US" b="1" dirty="0">
                <a:latin typeface="Consolas" panose="020B0609020204030204" pitchFamily="49" charset="0"/>
                <a:cs typeface="Consolas" panose="020B0609020204030204" pitchFamily="49" charset="0"/>
              </a:rPr>
              <a:t> + add(f(</a:t>
            </a:r>
            <a:r>
              <a:rPr lang="en-US" b="1" dirty="0">
                <a:solidFill>
                  <a:schemeClr val="accent3">
                    <a:lumMod val="75000"/>
                  </a:schemeClr>
                </a:solidFill>
                <a:latin typeface="Consolas" panose="020B0609020204030204" pitchFamily="49" charset="0"/>
                <a:cs typeface="Consolas" panose="020B0609020204030204" pitchFamily="49" charset="0"/>
              </a:rPr>
              <a:t>3</a:t>
            </a:r>
            <a:r>
              <a:rPr lang="en-US" b="1" dirty="0">
                <a:latin typeface="Consolas" panose="020B0609020204030204" pitchFamily="49" charset="0"/>
                <a:cs typeface="Consolas" panose="020B0609020204030204" pitchFamily="49" charset="0"/>
              </a:rPr>
              <a:t>), f(</a:t>
            </a:r>
            <a:r>
              <a:rPr lang="en-US" b="1" dirty="0">
                <a:solidFill>
                  <a:schemeClr val="accent3">
                    <a:lumMod val="75000"/>
                  </a:schemeClr>
                </a:solidFill>
                <a:latin typeface="Consolas" panose="020B0609020204030204" pitchFamily="49" charset="0"/>
                <a:cs typeface="Consolas" panose="020B0609020204030204" pitchFamily="49" charset="0"/>
              </a:rPr>
              <a:t>5</a:t>
            </a:r>
            <a:r>
              <a:rPr lang="en-US" b="1" dirty="0">
                <a:latin typeface="Consolas" panose="020B0609020204030204" pitchFamily="49" charset="0"/>
                <a:cs typeface="Consolas" panose="020B0609020204030204" pitchFamily="49" charset="0"/>
              </a:rPr>
              <a:t>)));</a:t>
            </a:r>
          </a:p>
          <a:p>
            <a:r>
              <a:rPr lang="en-US" b="1" dirty="0"/>
              <a:t>which one does it print?</a:t>
            </a:r>
          </a:p>
        </p:txBody>
      </p:sp>
      <p:sp>
        <p:nvSpPr>
          <p:cNvPr id="4" name="Slide Number Placeholder 3">
            <a:extLst>
              <a:ext uri="{FF2B5EF4-FFF2-40B4-BE49-F238E27FC236}">
                <a16:creationId xmlns:a16="http://schemas.microsoft.com/office/drawing/2014/main" id="{FCF9294C-CACF-4041-BDFE-0FCE70BBF910}"/>
              </a:ext>
            </a:extLst>
          </p:cNvPr>
          <p:cNvSpPr>
            <a:spLocks noGrp="1"/>
          </p:cNvSpPr>
          <p:nvPr>
            <p:ph type="sldNum" sz="quarter" idx="12"/>
          </p:nvPr>
        </p:nvSpPr>
        <p:spPr/>
        <p:txBody>
          <a:bodyPr/>
          <a:lstStyle/>
          <a:p>
            <a:fld id="{3552B95B-556F-44BD-91A5-D80C1B9E2BB3}" type="slidenum">
              <a:rPr lang="en-US" smtClean="0"/>
              <a:pPr/>
              <a:t>31</a:t>
            </a:fld>
            <a:endParaRPr lang="en-US"/>
          </a:p>
        </p:txBody>
      </p:sp>
      <p:sp>
        <p:nvSpPr>
          <p:cNvPr id="5" name="TextBox 4">
            <a:extLst>
              <a:ext uri="{FF2B5EF4-FFF2-40B4-BE49-F238E27FC236}">
                <a16:creationId xmlns:a16="http://schemas.microsoft.com/office/drawing/2014/main" id="{799107FC-73D8-1841-A715-1570843B1AFC}"/>
              </a:ext>
            </a:extLst>
          </p:cNvPr>
          <p:cNvSpPr txBox="1"/>
          <p:nvPr/>
        </p:nvSpPr>
        <p:spPr>
          <a:xfrm>
            <a:off x="2228850" y="2281300"/>
            <a:ext cx="1584088" cy="1107996"/>
          </a:xfrm>
          <a:prstGeom prst="rect">
            <a:avLst/>
          </a:prstGeom>
          <a:noFill/>
        </p:spPr>
        <p:txBody>
          <a:bodyPr wrap="none" rtlCol="0">
            <a:spAutoFit/>
          </a:bodyPr>
          <a:lstStyle/>
          <a:p>
            <a:r>
              <a:rPr lang="en-US" sz="2200" b="1" dirty="0">
                <a:latin typeface="Consolas" panose="020B0609020204030204" pitchFamily="49" charset="0"/>
                <a:cs typeface="Consolas" panose="020B0609020204030204" pitchFamily="49" charset="0"/>
              </a:rPr>
              <a:t>got 3</a:t>
            </a:r>
          </a:p>
          <a:p>
            <a:r>
              <a:rPr lang="en-US" sz="2200" b="1" dirty="0">
                <a:latin typeface="Consolas" panose="020B0609020204030204" pitchFamily="49" charset="0"/>
                <a:cs typeface="Consolas" panose="020B0609020204030204" pitchFamily="49" charset="0"/>
              </a:rPr>
              <a:t>got 5</a:t>
            </a:r>
          </a:p>
          <a:p>
            <a:r>
              <a:rPr lang="en-US" sz="2200" b="1" dirty="0">
                <a:latin typeface="Consolas" panose="020B0609020204030204" pitchFamily="49" charset="0"/>
                <a:cs typeface="Consolas" panose="020B0609020204030204" pitchFamily="49" charset="0"/>
              </a:rPr>
              <a:t>3 + 5 = 8</a:t>
            </a:r>
          </a:p>
        </p:txBody>
      </p:sp>
      <p:sp>
        <p:nvSpPr>
          <p:cNvPr id="6" name="TextBox 5">
            <a:extLst>
              <a:ext uri="{FF2B5EF4-FFF2-40B4-BE49-F238E27FC236}">
                <a16:creationId xmlns:a16="http://schemas.microsoft.com/office/drawing/2014/main" id="{0EFD8845-B26D-CD49-AE38-A473BFC6FDA2}"/>
              </a:ext>
            </a:extLst>
          </p:cNvPr>
          <p:cNvSpPr txBox="1"/>
          <p:nvPr/>
        </p:nvSpPr>
        <p:spPr>
          <a:xfrm>
            <a:off x="4800600" y="2281300"/>
            <a:ext cx="1584088" cy="1107996"/>
          </a:xfrm>
          <a:prstGeom prst="rect">
            <a:avLst/>
          </a:prstGeom>
          <a:noFill/>
        </p:spPr>
        <p:txBody>
          <a:bodyPr wrap="none" rtlCol="0">
            <a:spAutoFit/>
          </a:bodyPr>
          <a:lstStyle/>
          <a:p>
            <a:r>
              <a:rPr lang="en-US" sz="2200" b="1" dirty="0">
                <a:latin typeface="Consolas" panose="020B0609020204030204" pitchFamily="49" charset="0"/>
                <a:cs typeface="Consolas" panose="020B0609020204030204" pitchFamily="49" charset="0"/>
              </a:rPr>
              <a:t>got 5</a:t>
            </a:r>
          </a:p>
          <a:p>
            <a:r>
              <a:rPr lang="en-US" sz="2200" b="1" dirty="0">
                <a:latin typeface="Consolas" panose="020B0609020204030204" pitchFamily="49" charset="0"/>
                <a:cs typeface="Consolas" panose="020B0609020204030204" pitchFamily="49" charset="0"/>
              </a:rPr>
              <a:t>got 3</a:t>
            </a:r>
          </a:p>
          <a:p>
            <a:r>
              <a:rPr lang="en-US" sz="2200" b="1" dirty="0">
                <a:latin typeface="Consolas" panose="020B0609020204030204" pitchFamily="49" charset="0"/>
                <a:cs typeface="Consolas" panose="020B0609020204030204" pitchFamily="49" charset="0"/>
              </a:rPr>
              <a:t>3 + 5 = 8</a:t>
            </a:r>
          </a:p>
        </p:txBody>
      </p:sp>
      <p:sp>
        <p:nvSpPr>
          <p:cNvPr id="7" name="TextBox 6">
            <a:extLst>
              <a:ext uri="{FF2B5EF4-FFF2-40B4-BE49-F238E27FC236}">
                <a16:creationId xmlns:a16="http://schemas.microsoft.com/office/drawing/2014/main" id="{D312E77E-676F-5D48-AC92-71B10BB45E9F}"/>
              </a:ext>
            </a:extLst>
          </p:cNvPr>
          <p:cNvSpPr txBox="1"/>
          <p:nvPr/>
        </p:nvSpPr>
        <p:spPr>
          <a:xfrm>
            <a:off x="838200" y="3465496"/>
            <a:ext cx="7467600" cy="769441"/>
          </a:xfrm>
          <a:prstGeom prst="rect">
            <a:avLst/>
          </a:prstGeom>
          <a:noFill/>
        </p:spPr>
        <p:txBody>
          <a:bodyPr wrap="square" rtlCol="0">
            <a:spAutoFit/>
          </a:bodyPr>
          <a:lstStyle/>
          <a:p>
            <a:pPr algn="ctr"/>
            <a:r>
              <a:rPr lang="en-US" sz="2200" dirty="0"/>
              <a:t>we have an </a:t>
            </a:r>
            <a:r>
              <a:rPr lang="en-US" sz="2200" i="1" dirty="0"/>
              <a:t>expectation</a:t>
            </a:r>
            <a:r>
              <a:rPr lang="en-US" sz="2200" dirty="0"/>
              <a:t> that code executes left-to-right, so we expect this left one… and this is correct. </a:t>
            </a:r>
            <a:r>
              <a:rPr lang="en-US" sz="2200" i="1" dirty="0"/>
              <a:t>for Java.</a:t>
            </a:r>
            <a:endParaRPr lang="en-US" sz="2200" dirty="0"/>
          </a:p>
        </p:txBody>
      </p:sp>
      <p:sp>
        <p:nvSpPr>
          <p:cNvPr id="8" name="Bent Arrow 7">
            <a:extLst>
              <a:ext uri="{FF2B5EF4-FFF2-40B4-BE49-F238E27FC236}">
                <a16:creationId xmlns:a16="http://schemas.microsoft.com/office/drawing/2014/main" id="{019F7EA5-C9FA-7445-98CB-1F25D4AA7DD9}"/>
              </a:ext>
            </a:extLst>
          </p:cNvPr>
          <p:cNvSpPr/>
          <p:nvPr/>
        </p:nvSpPr>
        <p:spPr>
          <a:xfrm>
            <a:off x="1585643" y="2890900"/>
            <a:ext cx="547957" cy="610730"/>
          </a:xfrm>
          <a:prstGeom prst="bentArrow">
            <a:avLst>
              <a:gd name="adj1" fmla="val 15435"/>
              <a:gd name="adj2" fmla="val 28188"/>
              <a:gd name="adj3" fmla="val 25000"/>
              <a:gd name="adj4" fmla="val 7500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a:extLst>
              <a:ext uri="{FF2B5EF4-FFF2-40B4-BE49-F238E27FC236}">
                <a16:creationId xmlns:a16="http://schemas.microsoft.com/office/drawing/2014/main" id="{B1FCCFC2-3745-8847-8705-CA054590055A}"/>
              </a:ext>
            </a:extLst>
          </p:cNvPr>
          <p:cNvSpPr txBox="1"/>
          <p:nvPr/>
        </p:nvSpPr>
        <p:spPr>
          <a:xfrm>
            <a:off x="533400" y="4366943"/>
            <a:ext cx="8229600" cy="769441"/>
          </a:xfrm>
          <a:prstGeom prst="rect">
            <a:avLst/>
          </a:prstGeom>
          <a:noFill/>
        </p:spPr>
        <p:txBody>
          <a:bodyPr wrap="square" rtlCol="0">
            <a:spAutoFit/>
          </a:bodyPr>
          <a:lstStyle/>
          <a:p>
            <a:pPr algn="ctr"/>
            <a:r>
              <a:rPr lang="en-US" sz="2200" b="1" dirty="0"/>
              <a:t>evaluation order </a:t>
            </a:r>
            <a:r>
              <a:rPr lang="en-US" sz="2200" dirty="0"/>
              <a:t>is defined by a language's semantics, and Java happens to define this order, but </a:t>
            </a:r>
            <a:r>
              <a:rPr lang="en-US" sz="2200" b="1" dirty="0"/>
              <a:t>not all languages agree!</a:t>
            </a:r>
          </a:p>
        </p:txBody>
      </p:sp>
    </p:spTree>
    <p:extLst>
      <p:ext uri="{BB962C8B-B14F-4D97-AF65-F5344CB8AC3E}">
        <p14:creationId xmlns:p14="http://schemas.microsoft.com/office/powerpoint/2010/main" val="14824328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animBg="1"/>
      <p:bldP spid="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D5327-59D0-F141-95C9-8C83CAEAE7BC}"/>
              </a:ext>
            </a:extLst>
          </p:cNvPr>
          <p:cNvSpPr>
            <a:spLocks noGrp="1"/>
          </p:cNvSpPr>
          <p:nvPr>
            <p:ph type="title"/>
          </p:nvPr>
        </p:nvSpPr>
        <p:spPr/>
        <p:txBody>
          <a:bodyPr/>
          <a:lstStyle/>
          <a:p>
            <a:r>
              <a:rPr lang="en-US" dirty="0"/>
              <a:t>Eager vs. Lazy</a:t>
            </a:r>
          </a:p>
        </p:txBody>
      </p:sp>
      <p:sp>
        <p:nvSpPr>
          <p:cNvPr id="3" name="Content Placeholder 2">
            <a:extLst>
              <a:ext uri="{FF2B5EF4-FFF2-40B4-BE49-F238E27FC236}">
                <a16:creationId xmlns:a16="http://schemas.microsoft.com/office/drawing/2014/main" id="{7536A7DB-FFAF-1442-AA13-9B29E77EAB7B}"/>
              </a:ext>
            </a:extLst>
          </p:cNvPr>
          <p:cNvSpPr>
            <a:spLocks noGrp="1"/>
          </p:cNvSpPr>
          <p:nvPr>
            <p:ph idx="1"/>
          </p:nvPr>
        </p:nvSpPr>
        <p:spPr/>
        <p:txBody>
          <a:bodyPr/>
          <a:lstStyle/>
          <a:p>
            <a:r>
              <a:rPr lang="en-US" dirty="0"/>
              <a:t>a less common distinction is </a:t>
            </a:r>
            <a:r>
              <a:rPr lang="en-US" b="1" dirty="0"/>
              <a:t>eager versus lazy evaluation.</a:t>
            </a:r>
          </a:p>
          <a:p>
            <a:pPr marL="258605" lvl="1" indent="0">
              <a:buNone/>
            </a:pPr>
            <a:r>
              <a:rPr lang="en-US" b="1" dirty="0">
                <a:solidFill>
                  <a:srgbClr val="FF0000"/>
                </a:solidFill>
                <a:latin typeface="Consolas" panose="020B0609020204030204" pitchFamily="49" charset="0"/>
                <a:cs typeface="Consolas" panose="020B0609020204030204" pitchFamily="49" charset="0"/>
              </a:rPr>
              <a:t>  int</a:t>
            </a:r>
            <a:r>
              <a:rPr lang="en-US" b="1" dirty="0">
                <a:latin typeface="Consolas" panose="020B0609020204030204" pitchFamily="49" charset="0"/>
                <a:cs typeface="Consolas" panose="020B0609020204030204" pitchFamily="49" charset="0"/>
              </a:rPr>
              <a:t> x = </a:t>
            </a:r>
            <a:r>
              <a:rPr lang="en-US" b="1" dirty="0" err="1">
                <a:latin typeface="Consolas" panose="020B0609020204030204" pitchFamily="49" charset="0"/>
                <a:cs typeface="Consolas" panose="020B0609020204030204" pitchFamily="49" charset="0"/>
              </a:rPr>
              <a:t>someLongComputation</a:t>
            </a:r>
            <a:r>
              <a:rPr lang="en-US" b="1" dirty="0">
                <a:latin typeface="Consolas" panose="020B0609020204030204" pitchFamily="49" charset="0"/>
                <a:cs typeface="Consolas" panose="020B0609020204030204" pitchFamily="49" charset="0"/>
              </a:rPr>
              <a:t>();</a:t>
            </a:r>
          </a:p>
          <a:p>
            <a:pPr marL="258605" lvl="1" indent="0">
              <a:buNone/>
            </a:pPr>
            <a:r>
              <a:rPr lang="en-US" b="1" dirty="0">
                <a:latin typeface="Consolas" panose="020B0609020204030204" pitchFamily="49" charset="0"/>
                <a:cs typeface="Consolas" panose="020B0609020204030204" pitchFamily="49" charset="0"/>
              </a:rPr>
              <a:t>  </a:t>
            </a:r>
            <a:r>
              <a:rPr lang="en-US" b="1" dirty="0" err="1">
                <a:latin typeface="Consolas" panose="020B0609020204030204" pitchFamily="49" charset="0"/>
                <a:cs typeface="Consolas" panose="020B0609020204030204" pitchFamily="49" charset="0"/>
              </a:rPr>
              <a:t>System.out.println</a:t>
            </a:r>
            <a:r>
              <a:rPr lang="en-US" b="1" dirty="0">
                <a:latin typeface="Consolas" panose="020B0609020204030204" pitchFamily="49" charset="0"/>
                <a:cs typeface="Consolas" panose="020B0609020204030204" pitchFamily="49" charset="0"/>
              </a:rPr>
              <a:t>(</a:t>
            </a:r>
            <a:r>
              <a:rPr lang="en-US" b="1" dirty="0">
                <a:solidFill>
                  <a:schemeClr val="accent6">
                    <a:lumMod val="75000"/>
                  </a:schemeClr>
                </a:solidFill>
                <a:latin typeface="Consolas" panose="020B0609020204030204" pitchFamily="49" charset="0"/>
                <a:cs typeface="Consolas" panose="020B0609020204030204" pitchFamily="49" charset="0"/>
              </a:rPr>
              <a:t>"done."</a:t>
            </a:r>
            <a:r>
              <a:rPr lang="en-US" b="1" dirty="0">
                <a:latin typeface="Consolas" panose="020B0609020204030204" pitchFamily="49" charset="0"/>
                <a:cs typeface="Consolas" panose="020B0609020204030204" pitchFamily="49" charset="0"/>
              </a:rPr>
              <a:t>);</a:t>
            </a:r>
          </a:p>
          <a:p>
            <a:pPr marL="258605" lvl="1" indent="0">
              <a:buNone/>
            </a:pPr>
            <a:r>
              <a:rPr lang="en-US" b="1" dirty="0">
                <a:latin typeface="Consolas" panose="020B0609020204030204" pitchFamily="49" charset="0"/>
                <a:cs typeface="Consolas" panose="020B0609020204030204" pitchFamily="49" charset="0"/>
              </a:rPr>
              <a:t>  </a:t>
            </a:r>
            <a:r>
              <a:rPr lang="en-US" b="1" dirty="0" err="1">
                <a:latin typeface="Consolas" panose="020B0609020204030204" pitchFamily="49" charset="0"/>
                <a:cs typeface="Consolas" panose="020B0609020204030204" pitchFamily="49" charset="0"/>
              </a:rPr>
              <a:t>System.out.println</a:t>
            </a:r>
            <a:r>
              <a:rPr lang="en-US" b="1" dirty="0">
                <a:latin typeface="Consolas" panose="020B0609020204030204" pitchFamily="49" charset="0"/>
                <a:cs typeface="Consolas" panose="020B0609020204030204" pitchFamily="49" charset="0"/>
              </a:rPr>
              <a:t>(</a:t>
            </a:r>
            <a:r>
              <a:rPr lang="en-US" b="1" dirty="0">
                <a:solidFill>
                  <a:schemeClr val="accent6">
                    <a:lumMod val="75000"/>
                  </a:schemeClr>
                </a:solidFill>
                <a:latin typeface="Consolas" panose="020B0609020204030204" pitchFamily="49" charset="0"/>
                <a:cs typeface="Consolas" panose="020B0609020204030204" pitchFamily="49" charset="0"/>
              </a:rPr>
              <a:t>"x = "</a:t>
            </a:r>
            <a:r>
              <a:rPr lang="en-US" b="1" dirty="0">
                <a:latin typeface="Consolas" panose="020B0609020204030204" pitchFamily="49" charset="0"/>
                <a:cs typeface="Consolas" panose="020B0609020204030204" pitchFamily="49" charset="0"/>
              </a:rPr>
              <a:t> + x);</a:t>
            </a:r>
          </a:p>
          <a:p>
            <a:r>
              <a:rPr lang="en-US" dirty="0"/>
              <a:t>in the above Java code, </a:t>
            </a:r>
            <a:r>
              <a:rPr lang="en-US" b="1" dirty="0" err="1">
                <a:latin typeface="Consolas" panose="020B0609020204030204" pitchFamily="49" charset="0"/>
                <a:cs typeface="Consolas" panose="020B0609020204030204" pitchFamily="49" charset="0"/>
              </a:rPr>
              <a:t>someLongComputation</a:t>
            </a:r>
            <a:r>
              <a:rPr lang="en-US" b="1" dirty="0">
                <a:latin typeface="Consolas" panose="020B0609020204030204" pitchFamily="49" charset="0"/>
                <a:cs typeface="Consolas" panose="020B0609020204030204" pitchFamily="49" charset="0"/>
              </a:rPr>
              <a:t>()</a:t>
            </a:r>
            <a:r>
              <a:rPr lang="en-US" b="1" dirty="0"/>
              <a:t> </a:t>
            </a:r>
            <a:r>
              <a:rPr lang="en-US" dirty="0"/>
              <a:t>is called, and its return value is assigned into x </a:t>
            </a:r>
            <a:r>
              <a:rPr lang="en-US" b="1" dirty="0"/>
              <a:t>after it returns.</a:t>
            </a:r>
          </a:p>
          <a:p>
            <a:pPr lvl="1"/>
            <a:r>
              <a:rPr lang="en-US" dirty="0"/>
              <a:t>this is </a:t>
            </a:r>
            <a:r>
              <a:rPr lang="en-US" b="1" dirty="0"/>
              <a:t>eager evaluation, </a:t>
            </a:r>
            <a:r>
              <a:rPr lang="en-US" dirty="0"/>
              <a:t>in which the function call occurs </a:t>
            </a:r>
            <a:r>
              <a:rPr lang="en-US" i="1" dirty="0"/>
              <a:t>at the point where you write it.</a:t>
            </a:r>
            <a:endParaRPr lang="en-US" b="1" dirty="0"/>
          </a:p>
          <a:p>
            <a:r>
              <a:rPr lang="en-US" dirty="0"/>
              <a:t>but another way is </a:t>
            </a:r>
            <a:r>
              <a:rPr lang="en-US" b="1" dirty="0"/>
              <a:t>lazy evaluation, </a:t>
            </a:r>
            <a:r>
              <a:rPr lang="en-US" dirty="0"/>
              <a:t>in which the variable declaration doesn't call the function, </a:t>
            </a:r>
            <a:r>
              <a:rPr lang="en-US" i="1" dirty="0"/>
              <a:t>the use of x on the last line does.</a:t>
            </a:r>
          </a:p>
          <a:p>
            <a:pPr lvl="1"/>
            <a:r>
              <a:rPr lang="en-US" dirty="0"/>
              <a:t>that might sound bizarre, but is actually very popular in </a:t>
            </a:r>
            <a:r>
              <a:rPr lang="en-US" b="1" dirty="0"/>
              <a:t>functional </a:t>
            </a:r>
            <a:r>
              <a:rPr lang="en-US" dirty="0"/>
              <a:t>languages, where </a:t>
            </a:r>
            <a:r>
              <a:rPr lang="en-US" b="1" dirty="0"/>
              <a:t>side-effect-free functions </a:t>
            </a:r>
            <a:r>
              <a:rPr lang="en-US" dirty="0"/>
              <a:t>are the norm!</a:t>
            </a:r>
          </a:p>
          <a:p>
            <a:r>
              <a:rPr lang="en-US" dirty="0"/>
              <a:t>eager evaluation is by far the more popular strategy today, but…</a:t>
            </a:r>
          </a:p>
        </p:txBody>
      </p:sp>
      <p:sp>
        <p:nvSpPr>
          <p:cNvPr id="4" name="Slide Number Placeholder 3">
            <a:extLst>
              <a:ext uri="{FF2B5EF4-FFF2-40B4-BE49-F238E27FC236}">
                <a16:creationId xmlns:a16="http://schemas.microsoft.com/office/drawing/2014/main" id="{1D692FD4-799E-BB44-BCA1-4E9BCF5387F9}"/>
              </a:ext>
            </a:extLst>
          </p:cNvPr>
          <p:cNvSpPr>
            <a:spLocks noGrp="1"/>
          </p:cNvSpPr>
          <p:nvPr>
            <p:ph type="sldNum" sz="quarter" idx="12"/>
          </p:nvPr>
        </p:nvSpPr>
        <p:spPr/>
        <p:txBody>
          <a:bodyPr/>
          <a:lstStyle/>
          <a:p>
            <a:fld id="{3552B95B-556F-44BD-91A5-D80C1B9E2BB3}" type="slidenum">
              <a:rPr lang="en-US" smtClean="0"/>
              <a:pPr/>
              <a:t>32</a:t>
            </a:fld>
            <a:endParaRPr lang="en-US"/>
          </a:p>
        </p:txBody>
      </p:sp>
    </p:spTree>
    <p:extLst>
      <p:ext uri="{BB962C8B-B14F-4D97-AF65-F5344CB8AC3E}">
        <p14:creationId xmlns:p14="http://schemas.microsoft.com/office/powerpoint/2010/main" val="925996106"/>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F4407-4B91-0845-B9C7-691877232E1E}"/>
              </a:ext>
            </a:extLst>
          </p:cNvPr>
          <p:cNvSpPr>
            <a:spLocks noGrp="1"/>
          </p:cNvSpPr>
          <p:nvPr>
            <p:ph type="title"/>
          </p:nvPr>
        </p:nvSpPr>
        <p:spPr/>
        <p:txBody>
          <a:bodyPr/>
          <a:lstStyle/>
          <a:p>
            <a:r>
              <a:rPr lang="en-US" dirty="0"/>
              <a:t>You never knew you were using it</a:t>
            </a:r>
          </a:p>
        </p:txBody>
      </p:sp>
      <p:sp>
        <p:nvSpPr>
          <p:cNvPr id="3" name="Content Placeholder 2">
            <a:extLst>
              <a:ext uri="{FF2B5EF4-FFF2-40B4-BE49-F238E27FC236}">
                <a16:creationId xmlns:a16="http://schemas.microsoft.com/office/drawing/2014/main" id="{4A6F71E3-6A23-C341-8DFB-37149C65AFCF}"/>
              </a:ext>
            </a:extLst>
          </p:cNvPr>
          <p:cNvSpPr>
            <a:spLocks noGrp="1"/>
          </p:cNvSpPr>
          <p:nvPr>
            <p:ph idx="1"/>
          </p:nvPr>
        </p:nvSpPr>
        <p:spPr/>
        <p:txBody>
          <a:bodyPr/>
          <a:lstStyle/>
          <a:p>
            <a:r>
              <a:rPr lang="en-US" dirty="0"/>
              <a:t>in this code:</a:t>
            </a:r>
          </a:p>
          <a:p>
            <a:pPr marL="258605" lvl="1" indent="0">
              <a:buNone/>
            </a:pPr>
            <a:r>
              <a:rPr lang="en-US" b="1" dirty="0">
                <a:latin typeface="Consolas" panose="020B0609020204030204" pitchFamily="49" charset="0"/>
                <a:cs typeface="Consolas" panose="020B0609020204030204" pitchFamily="49" charset="0"/>
              </a:rPr>
              <a:t>  </a:t>
            </a:r>
            <a:r>
              <a:rPr lang="en-US" b="1" dirty="0">
                <a:solidFill>
                  <a:srgbClr val="FF0000"/>
                </a:solidFill>
                <a:latin typeface="Consolas" panose="020B0609020204030204" pitchFamily="49" charset="0"/>
                <a:cs typeface="Consolas" panose="020B0609020204030204" pitchFamily="49" charset="0"/>
              </a:rPr>
              <a:t>if</a:t>
            </a:r>
            <a:r>
              <a:rPr lang="en-US" b="1" dirty="0">
                <a:latin typeface="Consolas" panose="020B0609020204030204" pitchFamily="49" charset="0"/>
                <a:cs typeface="Consolas" panose="020B0609020204030204" pitchFamily="49" charset="0"/>
              </a:rPr>
              <a:t>(</a:t>
            </a:r>
            <a:r>
              <a:rPr lang="en-US" b="1" dirty="0" err="1">
                <a:latin typeface="Consolas" panose="020B0609020204030204" pitchFamily="49" charset="0"/>
                <a:cs typeface="Consolas" panose="020B0609020204030204" pitchFamily="49" charset="0"/>
              </a:rPr>
              <a:t>condOne</a:t>
            </a:r>
            <a:r>
              <a:rPr lang="en-US" b="1" dirty="0">
                <a:latin typeface="Consolas" panose="020B0609020204030204" pitchFamily="49" charset="0"/>
                <a:cs typeface="Consolas" panose="020B0609020204030204" pitchFamily="49" charset="0"/>
              </a:rPr>
              <a:t>() &amp;&amp; </a:t>
            </a:r>
            <a:r>
              <a:rPr lang="en-US" b="1" dirty="0" err="1">
                <a:latin typeface="Consolas" panose="020B0609020204030204" pitchFamily="49" charset="0"/>
                <a:cs typeface="Consolas" panose="020B0609020204030204" pitchFamily="49" charset="0"/>
              </a:rPr>
              <a:t>condTwo</a:t>
            </a:r>
            <a:r>
              <a:rPr lang="en-US" b="1" dirty="0">
                <a:latin typeface="Consolas" panose="020B0609020204030204" pitchFamily="49" charset="0"/>
                <a:cs typeface="Consolas" panose="020B0609020204030204" pitchFamily="49" charset="0"/>
              </a:rPr>
              <a:t>()) { </a:t>
            </a:r>
            <a:r>
              <a:rPr lang="en-US" b="1" dirty="0" err="1">
                <a:latin typeface="Consolas" panose="020B0609020204030204" pitchFamily="49" charset="0"/>
                <a:cs typeface="Consolas" panose="020B0609020204030204" pitchFamily="49" charset="0"/>
              </a:rPr>
              <a:t>println</a:t>
            </a:r>
            <a:r>
              <a:rPr lang="en-US" b="1" dirty="0">
                <a:latin typeface="Consolas" panose="020B0609020204030204" pitchFamily="49" charset="0"/>
                <a:cs typeface="Consolas" panose="020B0609020204030204" pitchFamily="49" charset="0"/>
              </a:rPr>
              <a:t>(</a:t>
            </a:r>
            <a:r>
              <a:rPr lang="en-US" b="1" dirty="0">
                <a:solidFill>
                  <a:schemeClr val="accent6">
                    <a:lumMod val="75000"/>
                  </a:schemeClr>
                </a:solidFill>
                <a:latin typeface="Consolas" panose="020B0609020204030204" pitchFamily="49" charset="0"/>
                <a:cs typeface="Consolas" panose="020B0609020204030204" pitchFamily="49" charset="0"/>
              </a:rPr>
              <a:t>"woo"</a:t>
            </a:r>
            <a:r>
              <a:rPr lang="en-US" b="1" dirty="0">
                <a:latin typeface="Consolas" panose="020B0609020204030204" pitchFamily="49" charset="0"/>
                <a:cs typeface="Consolas" panose="020B0609020204030204" pitchFamily="49" charset="0"/>
              </a:rPr>
              <a:t>); }</a:t>
            </a:r>
          </a:p>
          <a:p>
            <a:r>
              <a:rPr lang="en-US" dirty="0"/>
              <a:t>if </a:t>
            </a:r>
            <a:r>
              <a:rPr lang="en-US" b="1" dirty="0" err="1">
                <a:latin typeface="Consolas" panose="020B0609020204030204" pitchFamily="49" charset="0"/>
                <a:cs typeface="Consolas" panose="020B0609020204030204" pitchFamily="49" charset="0"/>
              </a:rPr>
              <a:t>condOne</a:t>
            </a:r>
            <a:r>
              <a:rPr lang="en-US" b="1" dirty="0">
                <a:latin typeface="Consolas" panose="020B0609020204030204" pitchFamily="49" charset="0"/>
                <a:cs typeface="Consolas" panose="020B0609020204030204" pitchFamily="49" charset="0"/>
              </a:rPr>
              <a:t>()</a:t>
            </a:r>
            <a:r>
              <a:rPr lang="en-US" dirty="0"/>
              <a:t> returns false, does </a:t>
            </a:r>
            <a:r>
              <a:rPr lang="en-US" b="1" dirty="0" err="1">
                <a:latin typeface="Consolas" panose="020B0609020204030204" pitchFamily="49" charset="0"/>
                <a:cs typeface="Consolas" panose="020B0609020204030204" pitchFamily="49" charset="0"/>
              </a:rPr>
              <a:t>condTwo</a:t>
            </a:r>
            <a:r>
              <a:rPr lang="en-US" b="1" dirty="0">
                <a:latin typeface="Consolas" panose="020B0609020204030204" pitchFamily="49" charset="0"/>
                <a:cs typeface="Consolas" panose="020B0609020204030204" pitchFamily="49" charset="0"/>
              </a:rPr>
              <a:t>()</a:t>
            </a:r>
            <a:r>
              <a:rPr lang="en-US" dirty="0"/>
              <a:t> ever run?</a:t>
            </a:r>
          </a:p>
          <a:p>
            <a:pPr lvl="1"/>
            <a:r>
              <a:rPr lang="en-US" dirty="0"/>
              <a:t>nope.</a:t>
            </a:r>
          </a:p>
          <a:p>
            <a:r>
              <a:rPr lang="en-US" i="1" dirty="0"/>
              <a:t>this is lazy evaluation.</a:t>
            </a:r>
          </a:p>
          <a:p>
            <a:pPr lvl="1"/>
            <a:r>
              <a:rPr lang="en-US" dirty="0"/>
              <a:t>in all C-style languages, </a:t>
            </a:r>
            <a:r>
              <a:rPr lang="en-US" b="1" dirty="0">
                <a:latin typeface="Consolas" panose="020B0609020204030204" pitchFamily="49" charset="0"/>
                <a:cs typeface="Consolas" panose="020B0609020204030204" pitchFamily="49" charset="0"/>
              </a:rPr>
              <a:t>&amp;&amp;</a:t>
            </a:r>
            <a:r>
              <a:rPr lang="en-US" dirty="0"/>
              <a:t> and </a:t>
            </a:r>
            <a:r>
              <a:rPr lang="en-US" b="1" dirty="0">
                <a:latin typeface="Consolas" panose="020B0609020204030204" pitchFamily="49" charset="0"/>
                <a:cs typeface="Consolas" panose="020B0609020204030204" pitchFamily="49" charset="0"/>
              </a:rPr>
              <a:t>||</a:t>
            </a:r>
            <a:r>
              <a:rPr lang="en-US" dirty="0"/>
              <a:t> </a:t>
            </a:r>
            <a:r>
              <a:rPr lang="en-US" b="1" dirty="0"/>
              <a:t>lazily</a:t>
            </a:r>
            <a:r>
              <a:rPr lang="en-US" dirty="0"/>
              <a:t> evaluate their second operand: they only execute that code if needed.</a:t>
            </a:r>
          </a:p>
          <a:p>
            <a:r>
              <a:rPr lang="en-US" dirty="0"/>
              <a:t>lazy evaluation can be really useful when using higher-order functions (passing functions to other functions), too.</a:t>
            </a:r>
          </a:p>
          <a:p>
            <a:r>
              <a:rPr lang="en-US" dirty="0"/>
              <a:t>so don't write it off as academic nonsense!</a:t>
            </a:r>
          </a:p>
        </p:txBody>
      </p:sp>
      <p:sp>
        <p:nvSpPr>
          <p:cNvPr id="4" name="Slide Number Placeholder 3">
            <a:extLst>
              <a:ext uri="{FF2B5EF4-FFF2-40B4-BE49-F238E27FC236}">
                <a16:creationId xmlns:a16="http://schemas.microsoft.com/office/drawing/2014/main" id="{59EF2882-D531-FF4A-8A92-CFD61B7D62FA}"/>
              </a:ext>
            </a:extLst>
          </p:cNvPr>
          <p:cNvSpPr>
            <a:spLocks noGrp="1"/>
          </p:cNvSpPr>
          <p:nvPr>
            <p:ph type="sldNum" sz="quarter" idx="12"/>
          </p:nvPr>
        </p:nvSpPr>
        <p:spPr/>
        <p:txBody>
          <a:bodyPr/>
          <a:lstStyle/>
          <a:p>
            <a:fld id="{3552B95B-556F-44BD-91A5-D80C1B9E2BB3}" type="slidenum">
              <a:rPr lang="en-US" smtClean="0"/>
              <a:pPr/>
              <a:t>33</a:t>
            </a:fld>
            <a:endParaRPr lang="en-US"/>
          </a:p>
        </p:txBody>
      </p:sp>
    </p:spTree>
    <p:extLst>
      <p:ext uri="{BB962C8B-B14F-4D97-AF65-F5344CB8AC3E}">
        <p14:creationId xmlns:p14="http://schemas.microsoft.com/office/powerpoint/2010/main" val="1301975383"/>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FB2CF-0DCE-3A49-A20F-DF6DED4AFD16}"/>
              </a:ext>
            </a:extLst>
          </p:cNvPr>
          <p:cNvSpPr>
            <a:spLocks noGrp="1"/>
          </p:cNvSpPr>
          <p:nvPr>
            <p:ph type="ctrTitle"/>
          </p:nvPr>
        </p:nvSpPr>
        <p:spPr/>
        <p:txBody>
          <a:bodyPr/>
          <a:lstStyle/>
          <a:p>
            <a:r>
              <a:rPr lang="en-US" dirty="0"/>
              <a:t>Languages without Semantic Analysis?</a:t>
            </a:r>
          </a:p>
        </p:txBody>
      </p:sp>
      <p:sp>
        <p:nvSpPr>
          <p:cNvPr id="3" name="Slide Number Placeholder 2">
            <a:extLst>
              <a:ext uri="{FF2B5EF4-FFF2-40B4-BE49-F238E27FC236}">
                <a16:creationId xmlns:a16="http://schemas.microsoft.com/office/drawing/2014/main" id="{7831CBEA-AC1F-3B40-9446-16CC82BDCF2E}"/>
              </a:ext>
            </a:extLst>
          </p:cNvPr>
          <p:cNvSpPr>
            <a:spLocks noGrp="1"/>
          </p:cNvSpPr>
          <p:nvPr>
            <p:ph type="sldNum" sz="quarter" idx="12"/>
          </p:nvPr>
        </p:nvSpPr>
        <p:spPr/>
        <p:txBody>
          <a:bodyPr/>
          <a:lstStyle/>
          <a:p>
            <a:fld id="{3552B95B-556F-44BD-91A5-D80C1B9E2BB3}" type="slidenum">
              <a:rPr lang="en-US" smtClean="0"/>
              <a:pPr/>
              <a:t>34</a:t>
            </a:fld>
            <a:endParaRPr lang="en-US"/>
          </a:p>
        </p:txBody>
      </p:sp>
    </p:spTree>
    <p:extLst>
      <p:ext uri="{BB962C8B-B14F-4D97-AF65-F5344CB8AC3E}">
        <p14:creationId xmlns:p14="http://schemas.microsoft.com/office/powerpoint/2010/main" val="1778107371"/>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FA166-E0F4-FF4E-AF19-33D115983183}"/>
              </a:ext>
            </a:extLst>
          </p:cNvPr>
          <p:cNvSpPr>
            <a:spLocks noGrp="1"/>
          </p:cNvSpPr>
          <p:nvPr>
            <p:ph type="title"/>
          </p:nvPr>
        </p:nvSpPr>
        <p:spPr/>
        <p:txBody>
          <a:bodyPr/>
          <a:lstStyle/>
          <a:p>
            <a:r>
              <a:rPr lang="en-US" dirty="0"/>
              <a:t>Who needs semantic analysis anyway</a:t>
            </a:r>
          </a:p>
        </p:txBody>
      </p:sp>
      <p:sp>
        <p:nvSpPr>
          <p:cNvPr id="3" name="Content Placeholder 2">
            <a:extLst>
              <a:ext uri="{FF2B5EF4-FFF2-40B4-BE49-F238E27FC236}">
                <a16:creationId xmlns:a16="http://schemas.microsoft.com/office/drawing/2014/main" id="{FE057311-EB6F-D24D-AD4C-575EF1672AB6}"/>
              </a:ext>
            </a:extLst>
          </p:cNvPr>
          <p:cNvSpPr>
            <a:spLocks noGrp="1"/>
          </p:cNvSpPr>
          <p:nvPr>
            <p:ph idx="1"/>
          </p:nvPr>
        </p:nvSpPr>
        <p:spPr>
          <a:xfrm>
            <a:off x="152400" y="495301"/>
            <a:ext cx="8991600" cy="838199"/>
          </a:xfrm>
        </p:spPr>
        <p:txBody>
          <a:bodyPr/>
          <a:lstStyle/>
          <a:p>
            <a:r>
              <a:rPr lang="en-US" dirty="0"/>
              <a:t>depending on how the language is designed, </a:t>
            </a:r>
            <a:r>
              <a:rPr lang="en-US" b="1" dirty="0"/>
              <a:t>we may not have to do any semantic analysis </a:t>
            </a:r>
            <a:r>
              <a:rPr lang="en-US" b="1" i="1" dirty="0"/>
              <a:t>in the compiler.</a:t>
            </a:r>
          </a:p>
        </p:txBody>
      </p:sp>
      <p:sp>
        <p:nvSpPr>
          <p:cNvPr id="4" name="Slide Number Placeholder 3">
            <a:extLst>
              <a:ext uri="{FF2B5EF4-FFF2-40B4-BE49-F238E27FC236}">
                <a16:creationId xmlns:a16="http://schemas.microsoft.com/office/drawing/2014/main" id="{CA2658BB-10E0-CE4B-BC89-6A0ABE1EB604}"/>
              </a:ext>
            </a:extLst>
          </p:cNvPr>
          <p:cNvSpPr>
            <a:spLocks noGrp="1"/>
          </p:cNvSpPr>
          <p:nvPr>
            <p:ph type="sldNum" sz="quarter" idx="12"/>
          </p:nvPr>
        </p:nvSpPr>
        <p:spPr/>
        <p:txBody>
          <a:bodyPr/>
          <a:lstStyle/>
          <a:p>
            <a:fld id="{3552B95B-556F-44BD-91A5-D80C1B9E2BB3}" type="slidenum">
              <a:rPr lang="en-US" smtClean="0"/>
              <a:pPr/>
              <a:t>35</a:t>
            </a:fld>
            <a:endParaRPr lang="en-US"/>
          </a:p>
        </p:txBody>
      </p:sp>
      <p:sp>
        <p:nvSpPr>
          <p:cNvPr id="5" name="TextBox 4">
            <a:extLst>
              <a:ext uri="{FF2B5EF4-FFF2-40B4-BE49-F238E27FC236}">
                <a16:creationId xmlns:a16="http://schemas.microsoft.com/office/drawing/2014/main" id="{D3FC36A9-1F21-A945-9C4A-DFE902E2FBFC}"/>
              </a:ext>
            </a:extLst>
          </p:cNvPr>
          <p:cNvSpPr txBox="1"/>
          <p:nvPr/>
        </p:nvSpPr>
        <p:spPr>
          <a:xfrm>
            <a:off x="457200" y="1485900"/>
            <a:ext cx="2517036" cy="2462213"/>
          </a:xfrm>
          <a:prstGeom prst="rect">
            <a:avLst/>
          </a:prstGeom>
          <a:noFill/>
        </p:spPr>
        <p:txBody>
          <a:bodyPr wrap="none" rtlCol="0">
            <a:spAutoFit/>
          </a:bodyPr>
          <a:lstStyle/>
          <a:p>
            <a:r>
              <a:rPr lang="en-US" sz="2200" b="1" dirty="0">
                <a:solidFill>
                  <a:srgbClr val="FF0000"/>
                </a:solidFill>
                <a:latin typeface="Consolas" panose="020B0609020204030204" pitchFamily="49" charset="0"/>
                <a:cs typeface="Consolas" panose="020B0609020204030204" pitchFamily="49" charset="0"/>
              </a:rPr>
              <a:t>def </a:t>
            </a:r>
            <a:r>
              <a:rPr lang="en-US" sz="2200" b="1" dirty="0">
                <a:latin typeface="Consolas" panose="020B0609020204030204" pitchFamily="49" charset="0"/>
                <a:cs typeface="Consolas" panose="020B0609020204030204" pitchFamily="49" charset="0"/>
              </a:rPr>
              <a:t>test():</a:t>
            </a:r>
          </a:p>
          <a:p>
            <a:r>
              <a:rPr lang="en-US" sz="2200" b="1" dirty="0">
                <a:latin typeface="Consolas" panose="020B0609020204030204" pitchFamily="49" charset="0"/>
                <a:cs typeface="Consolas" panose="020B0609020204030204" pitchFamily="49" charset="0"/>
              </a:rPr>
              <a:t>    x = </a:t>
            </a:r>
            <a:r>
              <a:rPr lang="en-US" sz="2200" b="1" dirty="0">
                <a:solidFill>
                  <a:schemeClr val="accent3">
                    <a:lumMod val="75000"/>
                  </a:schemeClr>
                </a:solidFill>
                <a:latin typeface="Consolas" panose="020B0609020204030204" pitchFamily="49" charset="0"/>
                <a:cs typeface="Consolas" panose="020B0609020204030204" pitchFamily="49" charset="0"/>
              </a:rPr>
              <a:t>10</a:t>
            </a:r>
          </a:p>
          <a:p>
            <a:r>
              <a:rPr lang="en-US" sz="2200" b="1" dirty="0">
                <a:latin typeface="Consolas" panose="020B0609020204030204" pitchFamily="49" charset="0"/>
                <a:cs typeface="Consolas" panose="020B0609020204030204" pitchFamily="49" charset="0"/>
              </a:rPr>
              <a:t>    x = </a:t>
            </a:r>
            <a:r>
              <a:rPr lang="en-US" sz="2200" b="1" dirty="0">
                <a:solidFill>
                  <a:schemeClr val="accent6">
                    <a:lumMod val="75000"/>
                  </a:schemeClr>
                </a:solidFill>
                <a:latin typeface="Consolas" panose="020B0609020204030204" pitchFamily="49" charset="0"/>
                <a:cs typeface="Consolas" panose="020B0609020204030204" pitchFamily="49" charset="0"/>
              </a:rPr>
              <a:t>"hello"</a:t>
            </a:r>
          </a:p>
          <a:p>
            <a:r>
              <a:rPr lang="en-US" sz="2200" b="1" dirty="0">
                <a:latin typeface="Consolas" panose="020B0609020204030204" pitchFamily="49" charset="0"/>
                <a:cs typeface="Consolas" panose="020B0609020204030204" pitchFamily="49" charset="0"/>
              </a:rPr>
              <a:t>    x = print</a:t>
            </a:r>
          </a:p>
          <a:p>
            <a:r>
              <a:rPr lang="en-US" sz="2200" b="1" dirty="0">
                <a:latin typeface="Consolas" panose="020B0609020204030204" pitchFamily="49" charset="0"/>
                <a:cs typeface="Consolas" panose="020B0609020204030204" pitchFamily="49" charset="0"/>
              </a:rPr>
              <a:t>    x(</a:t>
            </a:r>
            <a:r>
              <a:rPr lang="en-US" sz="2200" b="1" dirty="0">
                <a:solidFill>
                  <a:schemeClr val="accent6">
                    <a:lumMod val="75000"/>
                  </a:schemeClr>
                </a:solidFill>
                <a:latin typeface="Consolas" panose="020B0609020204030204" pitchFamily="49" charset="0"/>
                <a:cs typeface="Consolas" panose="020B0609020204030204" pitchFamily="49" charset="0"/>
              </a:rPr>
              <a:t>"hi!"</a:t>
            </a:r>
            <a:r>
              <a:rPr lang="en-US" sz="2200" b="1" dirty="0">
                <a:latin typeface="Consolas" panose="020B0609020204030204" pitchFamily="49" charset="0"/>
                <a:cs typeface="Consolas" panose="020B0609020204030204" pitchFamily="49" charset="0"/>
              </a:rPr>
              <a:t>)</a:t>
            </a:r>
          </a:p>
          <a:p>
            <a:endParaRPr lang="en-US" sz="2200" b="1" dirty="0">
              <a:latin typeface="Consolas" panose="020B0609020204030204" pitchFamily="49" charset="0"/>
              <a:cs typeface="Consolas" panose="020B0609020204030204" pitchFamily="49" charset="0"/>
            </a:endParaRPr>
          </a:p>
          <a:p>
            <a:r>
              <a:rPr lang="en-US" sz="2200" b="1" dirty="0">
                <a:latin typeface="Consolas" panose="020B0609020204030204" pitchFamily="49" charset="0"/>
                <a:cs typeface="Consolas" panose="020B0609020204030204" pitchFamily="49" charset="0"/>
              </a:rPr>
              <a:t>test()</a:t>
            </a:r>
          </a:p>
        </p:txBody>
      </p:sp>
      <p:sp>
        <p:nvSpPr>
          <p:cNvPr id="6" name="TextBox 5">
            <a:extLst>
              <a:ext uri="{FF2B5EF4-FFF2-40B4-BE49-F238E27FC236}">
                <a16:creationId xmlns:a16="http://schemas.microsoft.com/office/drawing/2014/main" id="{C0042B69-D94C-C246-B65A-3264FD21A3AA}"/>
              </a:ext>
            </a:extLst>
          </p:cNvPr>
          <p:cNvSpPr txBox="1"/>
          <p:nvPr/>
        </p:nvSpPr>
        <p:spPr>
          <a:xfrm>
            <a:off x="2879466" y="1485900"/>
            <a:ext cx="6264534" cy="430887"/>
          </a:xfrm>
          <a:prstGeom prst="rect">
            <a:avLst/>
          </a:prstGeom>
          <a:noFill/>
        </p:spPr>
        <p:txBody>
          <a:bodyPr wrap="square" rtlCol="0">
            <a:spAutoFit/>
          </a:bodyPr>
          <a:lstStyle/>
          <a:p>
            <a:pPr algn="ctr"/>
            <a:r>
              <a:rPr lang="en-US" sz="2200" dirty="0"/>
              <a:t>Python is a </a:t>
            </a:r>
            <a:r>
              <a:rPr lang="en-US" sz="2200" b="1" dirty="0"/>
              <a:t>dynamically-typed language. </a:t>
            </a:r>
            <a:endParaRPr lang="en-US" sz="2200" dirty="0"/>
          </a:p>
        </p:txBody>
      </p:sp>
      <p:sp>
        <p:nvSpPr>
          <p:cNvPr id="7" name="TextBox 6">
            <a:extLst>
              <a:ext uri="{FF2B5EF4-FFF2-40B4-BE49-F238E27FC236}">
                <a16:creationId xmlns:a16="http://schemas.microsoft.com/office/drawing/2014/main" id="{571131EA-11B1-CB4C-BA52-6B337D19AE1C}"/>
              </a:ext>
            </a:extLst>
          </p:cNvPr>
          <p:cNvSpPr txBox="1"/>
          <p:nvPr/>
        </p:nvSpPr>
        <p:spPr>
          <a:xfrm>
            <a:off x="2879466" y="2088059"/>
            <a:ext cx="6264534" cy="769441"/>
          </a:xfrm>
          <a:prstGeom prst="rect">
            <a:avLst/>
          </a:prstGeom>
          <a:noFill/>
        </p:spPr>
        <p:txBody>
          <a:bodyPr wrap="square" rtlCol="0">
            <a:spAutoFit/>
          </a:bodyPr>
          <a:lstStyle/>
          <a:p>
            <a:pPr algn="ctr"/>
            <a:r>
              <a:rPr lang="en-US" sz="2200" dirty="0"/>
              <a:t>that means the semantic rules of its type system are checked </a:t>
            </a:r>
            <a:r>
              <a:rPr lang="en-US" sz="2200" b="1" dirty="0"/>
              <a:t>at runtime,</a:t>
            </a:r>
            <a:r>
              <a:rPr lang="en-US" sz="2200" dirty="0"/>
              <a:t> as the code executes.</a:t>
            </a:r>
          </a:p>
        </p:txBody>
      </p:sp>
      <p:sp>
        <p:nvSpPr>
          <p:cNvPr id="8" name="TextBox 7">
            <a:extLst>
              <a:ext uri="{FF2B5EF4-FFF2-40B4-BE49-F238E27FC236}">
                <a16:creationId xmlns:a16="http://schemas.microsoft.com/office/drawing/2014/main" id="{E07BBDEC-63FF-B24C-ACF7-32EB965FC441}"/>
              </a:ext>
            </a:extLst>
          </p:cNvPr>
          <p:cNvSpPr txBox="1"/>
          <p:nvPr/>
        </p:nvSpPr>
        <p:spPr>
          <a:xfrm>
            <a:off x="2590800" y="3156431"/>
            <a:ext cx="6264534" cy="769441"/>
          </a:xfrm>
          <a:prstGeom prst="rect">
            <a:avLst/>
          </a:prstGeom>
          <a:noFill/>
        </p:spPr>
        <p:txBody>
          <a:bodyPr wrap="square" rtlCol="0">
            <a:spAutoFit/>
          </a:bodyPr>
          <a:lstStyle/>
          <a:p>
            <a:pPr algn="ctr"/>
            <a:r>
              <a:rPr lang="en-US" sz="2200" dirty="0"/>
              <a:t>this is totally valid Python code, but there's </a:t>
            </a:r>
            <a:r>
              <a:rPr lang="en-US" sz="2200" b="1" dirty="0"/>
              <a:t>no way for the compiler to tell. </a:t>
            </a:r>
            <a:r>
              <a:rPr lang="en-US" sz="2200" dirty="0"/>
              <a:t>so, it… doesn't.</a:t>
            </a:r>
          </a:p>
        </p:txBody>
      </p:sp>
      <p:sp>
        <p:nvSpPr>
          <p:cNvPr id="9" name="TextBox 8">
            <a:extLst>
              <a:ext uri="{FF2B5EF4-FFF2-40B4-BE49-F238E27FC236}">
                <a16:creationId xmlns:a16="http://schemas.microsoft.com/office/drawing/2014/main" id="{603C63A7-320B-6547-B0D2-3E5F6F8ACF40}"/>
              </a:ext>
            </a:extLst>
          </p:cNvPr>
          <p:cNvSpPr txBox="1"/>
          <p:nvPr/>
        </p:nvSpPr>
        <p:spPr>
          <a:xfrm>
            <a:off x="1177066" y="4262904"/>
            <a:ext cx="6789867" cy="769441"/>
          </a:xfrm>
          <a:prstGeom prst="rect">
            <a:avLst/>
          </a:prstGeom>
          <a:noFill/>
        </p:spPr>
        <p:txBody>
          <a:bodyPr wrap="square" rtlCol="0">
            <a:spAutoFit/>
          </a:bodyPr>
          <a:lstStyle/>
          <a:p>
            <a:pPr algn="ctr"/>
            <a:r>
              <a:rPr lang="en-US" sz="2200" dirty="0"/>
              <a:t>compilers for dynamic languages can be pretty simple: lex, parse, and then… well, right to execution!</a:t>
            </a:r>
          </a:p>
        </p:txBody>
      </p:sp>
    </p:spTree>
    <p:extLst>
      <p:ext uri="{BB962C8B-B14F-4D97-AF65-F5344CB8AC3E}">
        <p14:creationId xmlns:p14="http://schemas.microsoft.com/office/powerpoint/2010/main" val="101250179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C9B9A-134B-D046-8696-132FF5D5EEEE}"/>
              </a:ext>
            </a:extLst>
          </p:cNvPr>
          <p:cNvSpPr>
            <a:spLocks noGrp="1"/>
          </p:cNvSpPr>
          <p:nvPr>
            <p:ph type="title"/>
          </p:nvPr>
        </p:nvSpPr>
        <p:spPr/>
        <p:txBody>
          <a:bodyPr/>
          <a:lstStyle/>
          <a:p>
            <a:r>
              <a:rPr lang="en-US" dirty="0"/>
              <a:t>Executing the AST</a:t>
            </a:r>
          </a:p>
        </p:txBody>
      </p:sp>
      <p:sp>
        <p:nvSpPr>
          <p:cNvPr id="3" name="Content Placeholder 2">
            <a:extLst>
              <a:ext uri="{FF2B5EF4-FFF2-40B4-BE49-F238E27FC236}">
                <a16:creationId xmlns:a16="http://schemas.microsoft.com/office/drawing/2014/main" id="{664F6E84-40BD-DA46-9F9F-36FF3C6A3216}"/>
              </a:ext>
            </a:extLst>
          </p:cNvPr>
          <p:cNvSpPr>
            <a:spLocks noGrp="1"/>
          </p:cNvSpPr>
          <p:nvPr>
            <p:ph idx="1"/>
          </p:nvPr>
        </p:nvSpPr>
        <p:spPr/>
        <p:txBody>
          <a:bodyPr/>
          <a:lstStyle/>
          <a:p>
            <a:r>
              <a:rPr lang="en-US" dirty="0"/>
              <a:t>we saw this already with the </a:t>
            </a:r>
            <a:r>
              <a:rPr lang="en-US" b="1" dirty="0" err="1"/>
              <a:t>ast_math</a:t>
            </a:r>
            <a:r>
              <a:rPr lang="en-US" dirty="0"/>
              <a:t> example!</a:t>
            </a:r>
          </a:p>
          <a:p>
            <a:pPr lvl="1"/>
            <a:r>
              <a:rPr lang="en-US" dirty="0"/>
              <a:t>once you build the AST, you just write some recursive methods to </a:t>
            </a:r>
            <a:r>
              <a:rPr lang="en-US" b="1" dirty="0"/>
              <a:t>visit all the AST nodes in order, </a:t>
            </a:r>
            <a:r>
              <a:rPr lang="en-US" dirty="0"/>
              <a:t>evaluating them as you go.</a:t>
            </a:r>
          </a:p>
          <a:p>
            <a:pPr lvl="1"/>
            <a:r>
              <a:rPr lang="en-US" dirty="0"/>
              <a:t>it's not hard to extend this concept to AST nodes for loops, conditionals, function calls etc.</a:t>
            </a:r>
          </a:p>
          <a:p>
            <a:r>
              <a:rPr lang="en-US" dirty="0"/>
              <a:t>this is an </a:t>
            </a:r>
            <a:r>
              <a:rPr lang="en-US" b="1" dirty="0"/>
              <a:t>AST interpreter,</a:t>
            </a:r>
            <a:r>
              <a:rPr lang="en-US" dirty="0"/>
              <a:t> and is a really quick-and-dirty way to get </a:t>
            </a:r>
            <a:r>
              <a:rPr lang="en-US" i="1" dirty="0"/>
              <a:t>something</a:t>
            </a:r>
            <a:r>
              <a:rPr lang="en-US" dirty="0"/>
              <a:t> running.</a:t>
            </a:r>
          </a:p>
          <a:p>
            <a:pPr lvl="1"/>
            <a:r>
              <a:rPr lang="en-US" dirty="0"/>
              <a:t>from what I understand, Ruby used exactly this execution strategy for over 10 years!</a:t>
            </a:r>
          </a:p>
          <a:p>
            <a:r>
              <a:rPr lang="en-US" dirty="0"/>
              <a:t>but as you might imagine, </a:t>
            </a:r>
            <a:r>
              <a:rPr lang="en-US" i="1" dirty="0"/>
              <a:t>it is not fast at all.</a:t>
            </a:r>
          </a:p>
          <a:p>
            <a:pPr lvl="1"/>
            <a:r>
              <a:rPr lang="en-US" dirty="0"/>
              <a:t>consider all the interpreter code that needs to run just to, say, add a couple numbers together.</a:t>
            </a:r>
          </a:p>
          <a:p>
            <a:r>
              <a:rPr lang="en-US" dirty="0"/>
              <a:t>but this topic is better left for after the midterm…</a:t>
            </a:r>
          </a:p>
        </p:txBody>
      </p:sp>
      <p:sp>
        <p:nvSpPr>
          <p:cNvPr id="4" name="Slide Number Placeholder 3">
            <a:extLst>
              <a:ext uri="{FF2B5EF4-FFF2-40B4-BE49-F238E27FC236}">
                <a16:creationId xmlns:a16="http://schemas.microsoft.com/office/drawing/2014/main" id="{C49FFD4E-F217-1D45-BA92-83EE3D2EBCD1}"/>
              </a:ext>
            </a:extLst>
          </p:cNvPr>
          <p:cNvSpPr>
            <a:spLocks noGrp="1"/>
          </p:cNvSpPr>
          <p:nvPr>
            <p:ph type="sldNum" sz="quarter" idx="12"/>
          </p:nvPr>
        </p:nvSpPr>
        <p:spPr/>
        <p:txBody>
          <a:bodyPr/>
          <a:lstStyle/>
          <a:p>
            <a:fld id="{3552B95B-556F-44BD-91A5-D80C1B9E2BB3}" type="slidenum">
              <a:rPr lang="en-US" smtClean="0"/>
              <a:pPr/>
              <a:t>36</a:t>
            </a:fld>
            <a:endParaRPr lang="en-US"/>
          </a:p>
        </p:txBody>
      </p:sp>
    </p:spTree>
    <p:extLst>
      <p:ext uri="{BB962C8B-B14F-4D97-AF65-F5344CB8AC3E}">
        <p14:creationId xmlns:p14="http://schemas.microsoft.com/office/powerpoint/2010/main" val="2481686078"/>
      </p:ext>
    </p:extLst>
  </p:cSld>
  <p:clrMapOvr>
    <a:masterClrMapping/>
  </p:clrMapOvr>
  <p:transition/>
</p:sld>
</file>

<file path=ppt/theme/theme1.xml><?xml version="1.0" encoding="utf-8"?>
<a:theme xmlns:a="http://schemas.openxmlformats.org/drawingml/2006/main" name="02 - C - Basics">
  <a:themeElements>
    <a:clrScheme name="Custom 2">
      <a:dk1>
        <a:srgbClr val="000000"/>
      </a:dk1>
      <a:lt1>
        <a:srgbClr val="FFFFFF"/>
      </a:lt1>
      <a:dk2>
        <a:srgbClr val="3B481E"/>
      </a:dk2>
      <a:lt2>
        <a:srgbClr val="FFFFFF"/>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Segoe WP Semibold"/>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lides_fall_2017" id="{93D034CE-FEB5-4D4D-96F7-6B7F8A5EB99A}" vid="{194AE869-5029-ED49-81EA-C574BDDBE67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01 - Welcome and Review</Template>
  <TotalTime>16157</TotalTime>
  <Words>3683</Words>
  <Application>Microsoft Macintosh PowerPoint</Application>
  <PresentationFormat>On-screen Show (16:10)</PresentationFormat>
  <Paragraphs>411</Paragraphs>
  <Slides>36</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36</vt:i4>
      </vt:variant>
    </vt:vector>
  </HeadingPairs>
  <TitlesOfParts>
    <vt:vector size="45" baseType="lpstr">
      <vt:lpstr>Arial</vt:lpstr>
      <vt:lpstr>Calibri</vt:lpstr>
      <vt:lpstr>Consolas</vt:lpstr>
      <vt:lpstr>Courier New</vt:lpstr>
      <vt:lpstr>Segoe UI</vt:lpstr>
      <vt:lpstr>Segoe WP Semibold</vt:lpstr>
      <vt:lpstr>Trebuchet MS</vt:lpstr>
      <vt:lpstr>Wingdings</vt:lpstr>
      <vt:lpstr>02 - C - Basics</vt:lpstr>
      <vt:lpstr>Semantic Analysis</vt:lpstr>
      <vt:lpstr>Class Announcements</vt:lpstr>
      <vt:lpstr>Semantics</vt:lpstr>
      <vt:lpstr>What does it all MEAN</vt:lpstr>
      <vt:lpstr>Static vs. Dynamic</vt:lpstr>
      <vt:lpstr>Abstraction</vt:lpstr>
      <vt:lpstr>Compile-time and runtime guarantees</vt:lpstr>
      <vt:lpstr>Semantic analysis can get tricky</vt:lpstr>
      <vt:lpstr>Types</vt:lpstr>
      <vt:lpstr>Types and typing</vt:lpstr>
      <vt:lpstr>You have to listen to the notes they don't play</vt:lpstr>
      <vt:lpstr>A vast sea of garbage</vt:lpstr>
      <vt:lpstr>The soul of a programming language</vt:lpstr>
      <vt:lpstr>Type systems</vt:lpstr>
      <vt:lpstr>Primitive types</vt:lpstr>
      <vt:lpstr>Compound types</vt:lpstr>
      <vt:lpstr>Generic types</vt:lpstr>
      <vt:lpstr>And further still…</vt:lpstr>
      <vt:lpstr>Naming</vt:lpstr>
      <vt:lpstr>Hello, my name is…</vt:lpstr>
      <vt:lpstr>Scoping and name resolution</vt:lpstr>
      <vt:lpstr>Static vs. dynamic name resolution</vt:lpstr>
      <vt:lpstr>Round and round</vt:lpstr>
      <vt:lpstr>Scoping</vt:lpstr>
      <vt:lpstr>What is it?</vt:lpstr>
      <vt:lpstr>Static vs. dynamic</vt:lpstr>
      <vt:lpstr>Shadowing</vt:lpstr>
      <vt:lpstr>Shadowing isn't always a mistake</vt:lpstr>
      <vt:lpstr>Evaluation and Execution</vt:lpstr>
      <vt:lpstr>Evaluation and Side Effects</vt:lpstr>
      <vt:lpstr>Evaluation Order</vt:lpstr>
      <vt:lpstr>Eager vs. Lazy</vt:lpstr>
      <vt:lpstr>You never knew you were using it</vt:lpstr>
      <vt:lpstr>Languages without Semantic Analysis?</vt:lpstr>
      <vt:lpstr>Who needs semantic analysis anyway</vt:lpstr>
      <vt:lpstr>Executing the AST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Intro to Computer Architecture!</dc:title>
  <dc:creator>me</dc:creator>
  <cp:lastModifiedBy>Billingsley, Jarrett F</cp:lastModifiedBy>
  <cp:revision>744</cp:revision>
  <dcterms:created xsi:type="dcterms:W3CDTF">2017-01-05T04:29:56Z</dcterms:created>
  <dcterms:modified xsi:type="dcterms:W3CDTF">2022-06-07T16:06:56Z</dcterms:modified>
</cp:coreProperties>
</file>