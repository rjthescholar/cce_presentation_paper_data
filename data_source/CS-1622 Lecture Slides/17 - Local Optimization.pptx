
<file path=[Content_Types].xml><?xml version="1.0" encoding="utf-8"?>
<Types xmlns="http://schemas.openxmlformats.org/package/2006/content-types">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3"/>
  </p:notesMasterIdLst>
  <p:sldIdLst>
    <p:sldId id="256" r:id="rId2"/>
    <p:sldId id="519" r:id="rId3"/>
    <p:sldId id="520" r:id="rId4"/>
    <p:sldId id="521" r:id="rId5"/>
    <p:sldId id="522" r:id="rId6"/>
    <p:sldId id="523" r:id="rId7"/>
    <p:sldId id="551" r:id="rId8"/>
    <p:sldId id="550" r:id="rId9"/>
    <p:sldId id="524" r:id="rId10"/>
    <p:sldId id="525" r:id="rId11"/>
    <p:sldId id="526" r:id="rId12"/>
    <p:sldId id="549" r:id="rId13"/>
    <p:sldId id="530" r:id="rId14"/>
    <p:sldId id="527" r:id="rId15"/>
    <p:sldId id="534" r:id="rId16"/>
    <p:sldId id="532" r:id="rId17"/>
    <p:sldId id="533" r:id="rId18"/>
    <p:sldId id="529" r:id="rId19"/>
    <p:sldId id="548" r:id="rId20"/>
    <p:sldId id="536" r:id="rId21"/>
    <p:sldId id="535" r:id="rId22"/>
    <p:sldId id="538" r:id="rId23"/>
    <p:sldId id="539" r:id="rId24"/>
    <p:sldId id="537" r:id="rId25"/>
    <p:sldId id="540" r:id="rId26"/>
    <p:sldId id="541" r:id="rId27"/>
    <p:sldId id="545" r:id="rId28"/>
    <p:sldId id="542" r:id="rId29"/>
    <p:sldId id="543" r:id="rId30"/>
    <p:sldId id="544" r:id="rId31"/>
    <p:sldId id="547" r:id="rId32"/>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99D"/>
    <a:srgbClr val="B7D4D9"/>
    <a:srgbClr val="FFDF7F"/>
    <a:srgbClr val="6098C0"/>
    <a:srgbClr val="58B080"/>
    <a:srgbClr val="FF7F81"/>
    <a:srgbClr val="000000"/>
    <a:srgbClr val="FF6567"/>
    <a:srgbClr val="FF3200"/>
    <a:srgbClr val="FF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15" autoAdjust="0"/>
    <p:restoredTop sz="89155" autoAdjust="0"/>
  </p:normalViewPr>
  <p:slideViewPr>
    <p:cSldViewPr>
      <p:cViewPr varScale="1">
        <p:scale>
          <a:sx n="131" d="100"/>
          <a:sy n="131" d="100"/>
        </p:scale>
        <p:origin x="1304" y="208"/>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7/23/22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two function calls that use the same long expression as their argument. the optimized version puts the result of that long expression into a variable, then uses that variable as the argument to the two function calls, so it’s only evaluated once instead of twice. this is “common subexpression elimination (CSE)”.]</a:t>
            </a:r>
          </a:p>
          <a:p>
            <a:r>
              <a:rPr lang="en-US" dirty="0"/>
              <a:t>[example 2: “let x = 1024 * 4;”. this is optimized to “let x = 4096;”. this is “constant folding.”]</a:t>
            </a:r>
          </a:p>
          <a:p>
            <a:r>
              <a:rPr lang="en-US" dirty="0"/>
              <a:t>[example 3: “let x = pow(y, 2);” this is optimized to “let x = y * y;” this is “strength reduction,” since multiplication is a “weaker” (and therefore faster) operation than exponentiation.]</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2701657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if I had a nickel for every time I had to explain poor naming choices in my field of study, I'd have like. I </a:t>
            </a:r>
            <a:r>
              <a:rPr lang="en-US" dirty="0" err="1"/>
              <a:t>dunno</a:t>
            </a:r>
            <a:r>
              <a:rPr lang="en-US" dirty="0"/>
              <a:t>. a few bucks. that's a lot of nickels though</a:t>
            </a:r>
          </a:p>
          <a:p>
            <a:pPr marL="171450" indent="-171450">
              <a:buFontTx/>
              <a:buChar char="-"/>
            </a:pPr>
            <a:endParaRPr lang="en-US" dirty="0"/>
          </a:p>
          <a:p>
            <a:pPr marL="0" indent="0">
              <a:buFontTx/>
              <a:buNone/>
            </a:pPr>
            <a:r>
              <a:rPr lang="en-US" dirty="0"/>
              <a:t>[diagram: two functions’ control flow graphs. a local optimization works on a single basic block within a function’s CFG. a global optimization works on a single function’s whole CFG, NOT globally across the program. </a:t>
            </a:r>
            <a:r>
              <a:rPr lang="en-US" dirty="0" err="1"/>
              <a:t>interprocedural</a:t>
            </a:r>
            <a:r>
              <a:rPr lang="en-US" dirty="0"/>
              <a:t> optimizations work on multiple functions across the program.]</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904402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 static final </a:t>
            </a:r>
            <a:r>
              <a:rPr lang="en-US" dirty="0" err="1"/>
              <a:t>boolean</a:t>
            </a:r>
            <a:r>
              <a:rPr lang="en-US" dirty="0"/>
              <a:t> DEBUG is set to false. in the </a:t>
            </a:r>
            <a:r>
              <a:rPr lang="en-US" dirty="0" err="1"/>
              <a:t>getWhatever</a:t>
            </a:r>
            <a:r>
              <a:rPr lang="en-US" dirty="0"/>
              <a:t> method, if DEBUG is true, we print a debugging message, before returning some value. DCE removes the whole “if DEBUG” statement leaving us with just a single control flow path.]</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130042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think about all the one-line getter and setter methods you’ve seen in object-oriented code. this can save a lot of function calls and time!</a:t>
            </a:r>
          </a:p>
          <a:p>
            <a:pPr marL="171450" indent="-171450">
              <a:buFontTx/>
              <a:buChar char="-"/>
            </a:pPr>
            <a:r>
              <a:rPr lang="en-US" dirty="0"/>
              <a:t>things get more complicated if the </a:t>
            </a:r>
            <a:r>
              <a:rPr lang="en-US" dirty="0" err="1"/>
              <a:t>callee</a:t>
            </a:r>
            <a:r>
              <a:rPr lang="en-US" dirty="0"/>
              <a:t> declares local variables (which then have to be incorporated into the caller’s stack frame); or if the “complexity” of the </a:t>
            </a:r>
            <a:r>
              <a:rPr lang="en-US" dirty="0" err="1"/>
              <a:t>callee</a:t>
            </a:r>
            <a:r>
              <a:rPr lang="en-US" dirty="0"/>
              <a:t> gets too high (e.g. nested control structures, nested function calls).</a:t>
            </a:r>
          </a:p>
          <a:p>
            <a:pPr marL="171450" indent="-171450">
              <a:buFontTx/>
              <a:buChar char="-"/>
            </a:pPr>
            <a:r>
              <a:rPr lang="en-US" dirty="0"/>
              <a:t>if you inline </a:t>
            </a:r>
            <a:r>
              <a:rPr lang="en-US" i="1" dirty="0"/>
              <a:t>everything,</a:t>
            </a:r>
            <a:r>
              <a:rPr lang="en-US" i="0" dirty="0"/>
              <a:t> you can end up with an enormous program that’s </a:t>
            </a:r>
            <a:r>
              <a:rPr lang="en-US" i="1" dirty="0"/>
              <a:t>slower</a:t>
            </a:r>
            <a:r>
              <a:rPr lang="en-US" i="0" dirty="0"/>
              <a:t> than the original, mostly because of the behavior of the CPU instruction cache. </a:t>
            </a:r>
            <a:endParaRPr lang="en-US" dirty="0"/>
          </a:p>
          <a:p>
            <a:endParaRPr lang="en-US" dirty="0"/>
          </a:p>
          <a:p>
            <a:r>
              <a:rPr lang="en-US" dirty="0"/>
              <a:t>[example: a method “</a:t>
            </a:r>
            <a:r>
              <a:rPr lang="en-US" dirty="0" err="1"/>
              <a:t>printWhatever</a:t>
            </a:r>
            <a:r>
              <a:rPr lang="en-US" dirty="0"/>
              <a:t>” uses “</a:t>
            </a:r>
            <a:r>
              <a:rPr lang="en-US" dirty="0" err="1"/>
              <a:t>this.getWhatever</a:t>
            </a:r>
            <a:r>
              <a:rPr lang="en-US" dirty="0"/>
              <a:t>()” to get a value, then prints it. but the “</a:t>
            </a:r>
            <a:r>
              <a:rPr lang="en-US" dirty="0" err="1"/>
              <a:t>getWhatever</a:t>
            </a:r>
            <a:r>
              <a:rPr lang="en-US" dirty="0"/>
              <a:t>” method is just “return </a:t>
            </a:r>
            <a:r>
              <a:rPr lang="en-US" dirty="0" err="1"/>
              <a:t>this.whatever</a:t>
            </a:r>
            <a:r>
              <a:rPr lang="en-US" dirty="0"/>
              <a:t>”. </a:t>
            </a:r>
            <a:r>
              <a:rPr lang="en-US" dirty="0" err="1"/>
              <a:t>inlining</a:t>
            </a:r>
            <a:r>
              <a:rPr lang="en-US" dirty="0"/>
              <a:t> that method into “</a:t>
            </a:r>
            <a:r>
              <a:rPr lang="en-US" dirty="0" err="1"/>
              <a:t>printWhatever</a:t>
            </a:r>
            <a:r>
              <a:rPr lang="en-US" dirty="0"/>
              <a:t>” makes it get the value from “</a:t>
            </a:r>
            <a:r>
              <a:rPr lang="en-US" dirty="0" err="1"/>
              <a:t>this.whatever</a:t>
            </a:r>
            <a:r>
              <a:rPr lang="en-US" dirty="0"/>
              <a:t>” directly, without having to do a method call.]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8</a:t>
            </a:fld>
            <a:endParaRPr lang="en-US"/>
          </a:p>
        </p:txBody>
      </p:sp>
    </p:spTree>
    <p:extLst>
      <p:ext uri="{BB962C8B-B14F-4D97-AF65-F5344CB8AC3E}">
        <p14:creationId xmlns:p14="http://schemas.microsoft.com/office/powerpoint/2010/main" val="4162122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"problem" were a </a:t>
            </a:r>
            <a:r>
              <a:rPr lang="en-US" i="1" dirty="0"/>
              <a:t>pure</a:t>
            </a:r>
            <a:r>
              <a:rPr lang="en-US" i="0" dirty="0"/>
              <a:t> function (one with no side effects, output depends only on its arguments), this </a:t>
            </a:r>
            <a:r>
              <a:rPr lang="en-US" i="1" dirty="0"/>
              <a:t>would</a:t>
            </a:r>
            <a:r>
              <a:rPr lang="en-US" i="0" dirty="0"/>
              <a:t> be a valid optimization.</a:t>
            </a:r>
          </a:p>
          <a:p>
            <a:r>
              <a:rPr lang="en-US" i="0" dirty="0"/>
              <a:t>	- this is one of the reasons functional languages push the purity stuff so hard.</a:t>
            </a:r>
          </a:p>
          <a:p>
            <a:endParaRPr lang="en-US" i="0" dirty="0"/>
          </a:p>
          <a:p>
            <a:r>
              <a:rPr lang="en-US" i="0" dirty="0"/>
              <a:t>[example: a similar common subexpression elimination example to the one from a couple slides ago, but this time, the “common expression” is a function call to “problem(1)”. but the “problem” function has a side effect in that it prints out its argument. so, “func1(problem(1)); func2(problem(1));” does something different from “let v = problem(1); func1(v); func2(v);”, since the optimized version only calls it once!]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2404242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compilation speed is of particular importance to JIT compilers, like the one in your browser that compiles JavaScript</a:t>
            </a:r>
          </a:p>
          <a:p>
            <a:r>
              <a:rPr lang="en-US" dirty="0"/>
              <a:t>	- maybe it can improve the speed of the JS by 20% by running an optimization pass on it…</a:t>
            </a:r>
          </a:p>
          <a:p>
            <a:r>
              <a:rPr lang="en-US" dirty="0"/>
              <a:t>	- but if that optimization pass </a:t>
            </a:r>
            <a:r>
              <a:rPr lang="en-US" i="1" dirty="0"/>
              <a:t>itself</a:t>
            </a:r>
            <a:r>
              <a:rPr lang="en-US" i="0" dirty="0"/>
              <a:t> takes </a:t>
            </a:r>
            <a:r>
              <a:rPr lang="en-US" i="1" dirty="0"/>
              <a:t>longer than the amount of time you save</a:t>
            </a:r>
            <a:r>
              <a:rPr lang="en-US" i="0" dirty="0"/>
              <a:t> from faster compiled code…</a:t>
            </a:r>
          </a:p>
          <a:p>
            <a:r>
              <a:rPr lang="en-US" i="0" dirty="0"/>
              <a:t>	- then it isn't worth it!</a:t>
            </a:r>
          </a:p>
          <a:p>
            <a:r>
              <a:rPr lang="en-US" i="0" dirty="0"/>
              <a:t>- JS JIT is also operating in an environment where delays of even a few milliseconds cause the whole browser to feel unresponsive</a:t>
            </a:r>
          </a:p>
          <a:p>
            <a:r>
              <a:rPr lang="en-US" i="0" dirty="0"/>
              <a:t>	- because you are interacting with the page at the same time the JIT compiler is doing its work</a:t>
            </a:r>
          </a:p>
          <a:p>
            <a:r>
              <a:rPr lang="en-US" i="0" dirty="0"/>
              <a:t>	- so any delays are immediately noticeable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522848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original code is “a = 5 == 5; if a then bb1 else bb2;”. a peephole optimization turns “a = 5 == 5” into “a = true”. a local optimization sees that a is a constant true, so it turns “if a then bb1 else bb2” into “if true then bb1 else bb2.” a global optimization sees that the condition is now a constant, so it can turn “if true then bb1 else bb2” into just “</a:t>
            </a:r>
            <a:r>
              <a:rPr lang="en-US" dirty="0" err="1"/>
              <a:t>goto</a:t>
            </a:r>
            <a:r>
              <a:rPr lang="en-US" dirty="0"/>
              <a:t> bb1”, and delete bb2 if it isn’t used anymore.]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1734758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1980616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713232" rtl="0" eaLnBrk="1" fontAlgn="auto" latinLnBrk="0" hangingPunct="1">
              <a:lnSpc>
                <a:spcPct val="100000"/>
              </a:lnSpc>
              <a:spcBef>
                <a:spcPts val="0"/>
              </a:spcBef>
              <a:spcAft>
                <a:spcPts val="0"/>
              </a:spcAft>
              <a:buClrTx/>
              <a:buSzTx/>
              <a:buFontTx/>
              <a:buChar char="-"/>
              <a:tabLst/>
              <a:defRPr/>
            </a:pPr>
            <a:r>
              <a:rPr lang="en-US" sz="1000" dirty="0"/>
              <a:t>"if a tree is divided by zero in a forest, but no one is around to see it happen, does it crash the universe?”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1651660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frustratingly, the "a == a" rule doesn't apply to IEEE 754 floats.</a:t>
            </a:r>
          </a:p>
          <a:p>
            <a:r>
              <a:rPr lang="en-US" dirty="0"/>
              <a:t>	- if a is </a:t>
            </a:r>
            <a:r>
              <a:rPr lang="en-US" dirty="0" err="1"/>
              <a:t>NaN</a:t>
            </a:r>
            <a:r>
              <a:rPr lang="en-US" dirty="0"/>
              <a:t>, then "a == a" is false, not true.</a:t>
            </a:r>
          </a:p>
          <a:p>
            <a:r>
              <a:rPr lang="en-US" dirty="0"/>
              <a:t>	- there has to be a good reason for this, but god does it really fuck things up for programming languages and compilers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3177050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many compilers have this idea of </a:t>
            </a:r>
            <a:r>
              <a:rPr lang="en-US" i="1" dirty="0" err="1"/>
              <a:t>intrinsics</a:t>
            </a:r>
            <a:r>
              <a:rPr lang="en-US" i="1" dirty="0"/>
              <a:t>: </a:t>
            </a:r>
            <a:r>
              <a:rPr lang="en-US" i="0" dirty="0"/>
              <a:t>functions that the compiler knows about and can reason about</a:t>
            </a:r>
          </a:p>
          <a:p>
            <a:r>
              <a:rPr lang="en-US" i="0" dirty="0"/>
              <a:t>	- pretty much the entire standard library of math functions qualifies</a:t>
            </a:r>
          </a:p>
          <a:p>
            <a:r>
              <a:rPr lang="en-US" i="0" dirty="0"/>
              <a:t>	- many of these can also be </a:t>
            </a:r>
            <a:r>
              <a:rPr lang="en-US" i="0" dirty="0" err="1"/>
              <a:t>codegenned</a:t>
            </a:r>
            <a:r>
              <a:rPr lang="en-US" i="0" dirty="0"/>
              <a:t> as a single instruction, too</a:t>
            </a:r>
            <a:endParaRPr lang="en-US" dirty="0"/>
          </a:p>
          <a:p>
            <a:r>
              <a:rPr lang="en-US" dirty="0"/>
              <a:t>- division is so slow that compilers do </a:t>
            </a:r>
            <a:r>
              <a:rPr lang="en-US" i="1" dirty="0"/>
              <a:t>absolutely batshit stuff</a:t>
            </a:r>
            <a:r>
              <a:rPr lang="en-US" i="0" dirty="0"/>
              <a:t> to replace division-by-a-constant.</a:t>
            </a:r>
          </a:p>
          <a:p>
            <a:r>
              <a:rPr lang="en-US" i="0" dirty="0"/>
              <a:t>	- in simple cases it's just "</a:t>
            </a:r>
            <a:r>
              <a:rPr lang="en-US" i="0" dirty="0" err="1"/>
              <a:t>bitshift</a:t>
            </a:r>
            <a:r>
              <a:rPr lang="en-US" i="0" dirty="0"/>
              <a:t> right"</a:t>
            </a:r>
          </a:p>
          <a:p>
            <a:r>
              <a:rPr lang="en-US" i="0" dirty="0"/>
              <a:t>	- but in other cases it's… </a:t>
            </a:r>
            <a:r>
              <a:rPr lang="en-US" i="0" dirty="0" err="1"/>
              <a:t>whoo</a:t>
            </a:r>
            <a:r>
              <a:rPr lang="en-US" i="0" dirty="0"/>
              <a:t>. turning it into a multiplication by a fixed-point reciprocal, done at double bit precision, followed by a shift and other checks to ensure the right semantics…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2882826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2438597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we do constant folding on “x = 10 * 16” yielding “x = 160”. we do strength reduction on “x = x * 4” giving “x = x &lt;&lt; 2”. we do algebraic simplification on “x = x * 1” which can be completely removed. but the resulting code still seems a bit suboptimal. the x variable really only holds some constant on each line, and we’re not doing anything interesting with x.]</a:t>
            </a:r>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522853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each assignment to x is rewritten so that it assigns a new “version” of x; then each use of x is replaced with a use of the most recent “version” of x. so here, x1 is set to 10 * 16, and the first print prints x1. x2 is set to x1 * 4, and the second print prints x2. x3 is set to x2 * 1, and the third print prints x3. finally x3 is returned by assigning it into t0 (the special local used for return values).]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1765366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ɸ</a:t>
            </a:r>
            <a:r>
              <a:rPr lang="en-US" dirty="0"/>
              <a:t> is a "phi function" used in SSA to account for the same variable possibly taking on multiple values</a:t>
            </a:r>
          </a:p>
          <a:p>
            <a:r>
              <a:rPr lang="en-US" dirty="0"/>
              <a:t>	- it's </a:t>
            </a:r>
            <a:r>
              <a:rPr lang="en-US" dirty="0" err="1"/>
              <a:t>kinda</a:t>
            </a:r>
            <a:r>
              <a:rPr lang="en-US" dirty="0"/>
              <a:t> beyond the scope of this lecture so I'm not </a:t>
            </a:r>
            <a:r>
              <a:rPr lang="en-US" dirty="0" err="1"/>
              <a:t>gonna</a:t>
            </a:r>
            <a:r>
              <a:rPr lang="en-US" dirty="0"/>
              <a:t> get into it, but look it up</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401432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technically the code doesn't have to be converted to SSA for this to work.</a:t>
            </a:r>
          </a:p>
          <a:p>
            <a:r>
              <a:rPr lang="en-US" dirty="0"/>
              <a:t>	- without SSA you could define it as "if you see a move x = y, </a:t>
            </a:r>
            <a:r>
              <a:rPr lang="en-US" i="1" dirty="0"/>
              <a:t>and x is never assigned to again, </a:t>
            </a:r>
            <a:r>
              <a:rPr lang="en-US" i="0" dirty="0"/>
              <a:t>then we can replace all uses of x with y."</a:t>
            </a:r>
          </a:p>
          <a:p>
            <a:r>
              <a:rPr lang="en-US" i="0" dirty="0"/>
              <a:t>	- but it's that "is never assigned to again" that increases the complexity – you have to prove that, whereas in SSA it's trivially true.</a:t>
            </a:r>
          </a:p>
          <a:p>
            <a:r>
              <a:rPr lang="en-US" i="0" dirty="0"/>
              <a:t>- there’s another way of doing this called “destination propagation” that kind of does the same thing but backwards. if you have “x = a; b = x;” then x is just being used as an intermediate location for the final destination of the value, b. so we propagate b backwards, leaving us with “b = a;” and eliminating the “b = x;” step.</a:t>
            </a:r>
          </a:p>
          <a:p>
            <a:r>
              <a:rPr lang="en-US" i="0" dirty="0"/>
              <a:t>	- the rust compiler does this as of a couple years ago, because apparently this gives them more bang for their buck than copy propagation did. but the rust compiler is outputting LLIR to LLVM, so it probably has different optimization goals than a compiler that outputs real machine code.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409188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may be able to rewrite "x = f()" to just "f()", though, and still remove x from the list of locals.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2292270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does </a:t>
            </a:r>
            <a:r>
              <a:rPr lang="en-US" i="1" dirty="0"/>
              <a:t>anyone</a:t>
            </a:r>
            <a:r>
              <a:rPr lang="en-US" i="0" dirty="0"/>
              <a:t> know about Office Space? shit, even I was too young to get it when it came out lol</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1003850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technically speaking there are some guarantees of termination going on here that we aren’t talking about, but we’ll talk about them when we get to global optimization; those same ideas can be applied to local optimization termination too.</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3378717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a:t>
            </a:r>
          </a:p>
          <a:p>
            <a:pPr marL="228600" indent="-228600">
              <a:buAutoNum type="arabicPeriod"/>
            </a:pPr>
            <a:r>
              <a:rPr lang="en-US" dirty="0"/>
              <a:t>peephole opts: “10 * 16” is replaced with 160; “x1 * 4” is replaced with “x1 &lt;&lt; 2”; “x2 * 1” is replaced with “x2”.</a:t>
            </a:r>
          </a:p>
          <a:p>
            <a:pPr marL="228600" indent="-228600">
              <a:buAutoNum type="arabicPeriod"/>
            </a:pPr>
            <a:r>
              <a:rPr lang="en-US" dirty="0"/>
              <a:t>copy propagation: since we have “x1 = 160”, we can replace x1 with 160 in two locations: “</a:t>
            </a:r>
            <a:r>
              <a:rPr lang="en-US" dirty="0" err="1"/>
              <a:t>println_i</a:t>
            </a:r>
            <a:r>
              <a:rPr lang="en-US" dirty="0"/>
              <a:t>(160)” and “x2 = 160 &lt;&lt; 2”. since we have “x3 = x2”, we can replace x3 with x2 in two locations: “</a:t>
            </a:r>
            <a:r>
              <a:rPr lang="en-US" dirty="0" err="1"/>
              <a:t>println_i</a:t>
            </a:r>
            <a:r>
              <a:rPr lang="en-US" dirty="0"/>
              <a:t>(x2) and “t0 = x2”.</a:t>
            </a:r>
          </a:p>
          <a:p>
            <a:pPr marL="228600" indent="-228600">
              <a:buAutoNum type="arabicPeriod"/>
            </a:pPr>
            <a:r>
              <a:rPr lang="en-US" dirty="0"/>
              <a:t>dead store elimination: since the copy prop made x1 and x3 </a:t>
            </a:r>
            <a:r>
              <a:rPr lang="en-US" dirty="0" err="1"/>
              <a:t>redunant</a:t>
            </a:r>
            <a:r>
              <a:rPr lang="en-US" dirty="0"/>
              <a:t>, we remove the assignments to them.</a:t>
            </a:r>
          </a:p>
          <a:p>
            <a:pPr marL="228600" indent="-228600">
              <a:buAutoNum type="arabicPeriod"/>
            </a:pPr>
            <a:r>
              <a:rPr lang="en-US" dirty="0"/>
              <a:t>peephole round two: replace “160 &lt;&lt; 2” with “640”.</a:t>
            </a:r>
          </a:p>
          <a:p>
            <a:pPr marL="228600" indent="-228600">
              <a:buAutoNum type="arabicPeriod"/>
            </a:pPr>
            <a:r>
              <a:rPr lang="en-US" dirty="0"/>
              <a:t>copy prop round two: now that we have “x2 = 640”, we can replace all the uses of it with 640: “</a:t>
            </a:r>
            <a:r>
              <a:rPr lang="en-US" dirty="0" err="1"/>
              <a:t>println_i</a:t>
            </a:r>
            <a:r>
              <a:rPr lang="en-US" dirty="0"/>
              <a:t>(640)” twice, then “t0 = 640”.</a:t>
            </a:r>
          </a:p>
          <a:p>
            <a:pPr marL="228600" indent="-228600">
              <a:buAutoNum type="arabicPeriod"/>
            </a:pPr>
            <a:r>
              <a:rPr lang="en-US" dirty="0"/>
              <a:t>dead store elimination round two: x2 is no longer used, so we delete it. this leaves us with three calls to </a:t>
            </a:r>
            <a:r>
              <a:rPr lang="en-US" dirty="0" err="1"/>
              <a:t>println_i</a:t>
            </a:r>
            <a:r>
              <a:rPr lang="en-US" dirty="0"/>
              <a:t> with constants, and then returning a constant. </a:t>
            </a:r>
          </a:p>
          <a:p>
            <a:r>
              <a:rPr lang="en-US" dirty="0"/>
              <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30</a:t>
            </a:fld>
            <a:endParaRPr lang="en-US"/>
          </a:p>
        </p:txBody>
      </p:sp>
    </p:spTree>
    <p:extLst>
      <p:ext uri="{BB962C8B-B14F-4D97-AF65-F5344CB8AC3E}">
        <p14:creationId xmlns:p14="http://schemas.microsoft.com/office/powerpoint/2010/main" val="1245588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the original code has “func_1(</a:t>
            </a:r>
            <a:r>
              <a:rPr lang="en-US" dirty="0" err="1"/>
              <a:t>a.x</a:t>
            </a:r>
            <a:r>
              <a:rPr lang="en-US" dirty="0"/>
              <a:t> + </a:t>
            </a:r>
            <a:r>
              <a:rPr lang="en-US" dirty="0" err="1"/>
              <a:t>b.y</a:t>
            </a:r>
            <a:r>
              <a:rPr lang="en-US" dirty="0"/>
              <a:t> - c); func_2(</a:t>
            </a:r>
            <a:r>
              <a:rPr lang="en-US" dirty="0" err="1"/>
              <a:t>a.x</a:t>
            </a:r>
            <a:r>
              <a:rPr lang="en-US" dirty="0"/>
              <a:t> + </a:t>
            </a:r>
            <a:r>
              <a:rPr lang="en-US" dirty="0" err="1"/>
              <a:t>b.y</a:t>
            </a:r>
            <a:r>
              <a:rPr lang="en-US" dirty="0"/>
              <a:t> - c);” the common subexpression “</a:t>
            </a:r>
            <a:r>
              <a:rPr lang="en-US" dirty="0" err="1"/>
              <a:t>a.x</a:t>
            </a:r>
            <a:r>
              <a:rPr lang="en-US" dirty="0"/>
              <a:t> + </a:t>
            </a:r>
            <a:r>
              <a:rPr lang="en-US" dirty="0" err="1"/>
              <a:t>b.y</a:t>
            </a:r>
            <a:r>
              <a:rPr lang="en-US" dirty="0"/>
              <a:t> - c” can be eliminated through several rounds of local optimizations.</a:t>
            </a:r>
          </a:p>
          <a:p>
            <a:pPr marL="228600" indent="-228600">
              <a:buAutoNum type="arabicPeriod"/>
            </a:pPr>
            <a:r>
              <a:rPr lang="en-US" dirty="0"/>
              <a:t>we have “t1 = </a:t>
            </a:r>
            <a:r>
              <a:rPr lang="en-US" dirty="0" err="1"/>
              <a:t>a.x</a:t>
            </a:r>
            <a:r>
              <a:rPr lang="en-US" dirty="0"/>
              <a:t> + </a:t>
            </a:r>
            <a:r>
              <a:rPr lang="en-US" dirty="0" err="1"/>
              <a:t>b.y</a:t>
            </a:r>
            <a:r>
              <a:rPr lang="en-US" dirty="0"/>
              <a:t>” and “t3 = </a:t>
            </a:r>
            <a:r>
              <a:rPr lang="en-US" dirty="0" err="1"/>
              <a:t>a.x</a:t>
            </a:r>
            <a:r>
              <a:rPr lang="en-US" dirty="0"/>
              <a:t> + </a:t>
            </a:r>
            <a:r>
              <a:rPr lang="en-US" dirty="0" err="1"/>
              <a:t>b.y</a:t>
            </a:r>
            <a:r>
              <a:rPr lang="en-US" dirty="0"/>
              <a:t>”. since they have the same RHS, we can replace the second instruction with “t3 = t1”.</a:t>
            </a:r>
          </a:p>
          <a:p>
            <a:pPr marL="228600" indent="-228600">
              <a:buAutoNum type="arabicPeriod"/>
            </a:pPr>
            <a:r>
              <a:rPr lang="en-US" dirty="0"/>
              <a:t>that opens up a copy propagation, so “t4 = t3 - c” becomes “t4 = t1 - c”.</a:t>
            </a:r>
          </a:p>
          <a:p>
            <a:pPr marL="228600" indent="-228600">
              <a:buAutoNum type="arabicPeriod"/>
            </a:pPr>
            <a:r>
              <a:rPr lang="en-US" dirty="0"/>
              <a:t>dead store elimination deletes t3 entirely.</a:t>
            </a:r>
          </a:p>
          <a:p>
            <a:pPr marL="228600" indent="-228600">
              <a:buAutoNum type="arabicPeriod"/>
            </a:pPr>
            <a:r>
              <a:rPr lang="en-US" dirty="0"/>
              <a:t>now we have “t2 = t1 - c” and “t4 = t1 - c”. again, since they have the same RHS, the second instruction becomes “t4 = t2”. </a:t>
            </a:r>
          </a:p>
          <a:p>
            <a:pPr marL="228600" indent="-228600">
              <a:buAutoNum type="arabicPeriod"/>
            </a:pPr>
            <a:r>
              <a:rPr lang="en-US" dirty="0"/>
              <a:t>copy propagation makes “func_2(t4)” become “func_2(t2)”.</a:t>
            </a:r>
          </a:p>
          <a:p>
            <a:pPr marL="228600" indent="-228600">
              <a:buAutoNum type="arabicPeriod"/>
            </a:pPr>
            <a:r>
              <a:rPr lang="en-US" dirty="0"/>
              <a:t>dead store elimination deletes t4 entirely.</a:t>
            </a:r>
          </a:p>
          <a:p>
            <a:pPr marL="228600" indent="-228600">
              <a:buAutoNum type="arabicPeriod"/>
            </a:pPr>
            <a:r>
              <a:rPr lang="en-US" dirty="0"/>
              <a:t>this leaves us with one calculation of “</a:t>
            </a:r>
            <a:r>
              <a:rPr lang="en-US" dirty="0" err="1"/>
              <a:t>a.x</a:t>
            </a:r>
            <a:r>
              <a:rPr lang="en-US" dirty="0"/>
              <a:t> + </a:t>
            </a:r>
            <a:r>
              <a:rPr lang="en-US" dirty="0" err="1"/>
              <a:t>b.y</a:t>
            </a:r>
            <a:r>
              <a:rPr lang="en-US" dirty="0"/>
              <a:t> - c”, which is put in t2; then we call func_1(t2) and func_2(t2). </a:t>
            </a:r>
          </a:p>
          <a:p>
            <a:pPr marL="0" indent="0">
              <a:buNone/>
            </a:pPr>
            <a:r>
              <a:rPr lang="en-US" dirty="0"/>
              <a:t>]</a:t>
            </a:r>
          </a:p>
          <a:p>
            <a:pPr marL="0" indent="0">
              <a:buNone/>
            </a:pPr>
            <a:r>
              <a:rPr lang="en-US" dirty="0"/>
              <a:t>[image: Marge Simpson holding up a potato saying “I just think they’re neat!” cause idk I think this stuff is neat]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3093102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Local Optimization</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err="1"/>
              <a:t>buhhhhhhh</a:t>
            </a:r>
            <a:r>
              <a:rPr lang="en-US" dirty="0"/>
              <a:t>??????</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08796-4F47-EA4B-95BC-2D5256EC9DAE}"/>
              </a:ext>
            </a:extLst>
          </p:cNvPr>
          <p:cNvSpPr>
            <a:spLocks noGrp="1"/>
          </p:cNvSpPr>
          <p:nvPr>
            <p:ph type="ctrTitle"/>
          </p:nvPr>
        </p:nvSpPr>
        <p:spPr/>
        <p:txBody>
          <a:bodyPr/>
          <a:lstStyle/>
          <a:p>
            <a:r>
              <a:rPr lang="en-US" dirty="0"/>
              <a:t>Optimization</a:t>
            </a:r>
          </a:p>
        </p:txBody>
      </p:sp>
      <p:sp>
        <p:nvSpPr>
          <p:cNvPr id="3" name="Slide Number Placeholder 2">
            <a:extLst>
              <a:ext uri="{FF2B5EF4-FFF2-40B4-BE49-F238E27FC236}">
                <a16:creationId xmlns:a16="http://schemas.microsoft.com/office/drawing/2014/main" id="{6E5119E5-E10C-0B47-BE14-F5EA6DB7F19A}"/>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72018924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7B43-5D35-1B44-914A-02FC96BED3F4}"/>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B0FFA366-F9FE-5F4B-B365-6822E7CF0BD6}"/>
              </a:ext>
            </a:extLst>
          </p:cNvPr>
          <p:cNvSpPr>
            <a:spLocks noGrp="1"/>
          </p:cNvSpPr>
          <p:nvPr>
            <p:ph idx="1"/>
          </p:nvPr>
        </p:nvSpPr>
        <p:spPr/>
        <p:txBody>
          <a:bodyPr/>
          <a:lstStyle/>
          <a:p>
            <a:r>
              <a:rPr lang="en-US" b="1" dirty="0"/>
              <a:t>optimization</a:t>
            </a:r>
            <a:r>
              <a:rPr lang="en-US" dirty="0"/>
              <a:t> is the name for any technique which:</a:t>
            </a:r>
          </a:p>
          <a:p>
            <a:pPr lvl="1"/>
            <a:r>
              <a:rPr lang="en-US" b="1" dirty="0"/>
              <a:t>rewrites </a:t>
            </a:r>
            <a:r>
              <a:rPr lang="en-US" dirty="0"/>
              <a:t>part of a program…</a:t>
            </a:r>
          </a:p>
          <a:p>
            <a:pPr lvl="1"/>
            <a:r>
              <a:rPr lang="en-US" dirty="0"/>
              <a:t>in order to </a:t>
            </a:r>
            <a:r>
              <a:rPr lang="en-US" b="1" dirty="0"/>
              <a:t>improve resource utilization…</a:t>
            </a:r>
          </a:p>
          <a:p>
            <a:pPr lvl="1"/>
            <a:r>
              <a:rPr lang="en-US" i="1" dirty="0"/>
              <a:t>without</a:t>
            </a:r>
            <a:r>
              <a:rPr lang="en-US" b="1" dirty="0"/>
              <a:t> </a:t>
            </a:r>
            <a:r>
              <a:rPr lang="en-US" dirty="0"/>
              <a:t>changing its </a:t>
            </a:r>
            <a:r>
              <a:rPr lang="en-US" b="1" dirty="0"/>
              <a:t>behavior.</a:t>
            </a:r>
          </a:p>
          <a:p>
            <a:r>
              <a:rPr lang="en-US" dirty="0"/>
              <a:t>"resource utilization" can mean many things, such as:</a:t>
            </a:r>
          </a:p>
          <a:p>
            <a:pPr lvl="1"/>
            <a:r>
              <a:rPr lang="en-US" b="1" dirty="0"/>
              <a:t>time </a:t>
            </a:r>
            <a:r>
              <a:rPr lang="en-US" dirty="0"/>
              <a:t>(how quickly the code executes)</a:t>
            </a:r>
          </a:p>
          <a:p>
            <a:pPr lvl="1"/>
            <a:r>
              <a:rPr lang="en-US" b="1" dirty="0"/>
              <a:t>code size </a:t>
            </a:r>
            <a:r>
              <a:rPr lang="en-US" dirty="0"/>
              <a:t>(how many bytes the code takes up)</a:t>
            </a:r>
          </a:p>
          <a:p>
            <a:pPr lvl="1"/>
            <a:r>
              <a:rPr lang="en-US" b="1" dirty="0"/>
              <a:t>memory size </a:t>
            </a:r>
            <a:r>
              <a:rPr lang="en-US" dirty="0"/>
              <a:t>(how many bytes the </a:t>
            </a:r>
            <a:r>
              <a:rPr lang="en-US" i="1" dirty="0"/>
              <a:t>data/variables</a:t>
            </a:r>
            <a:r>
              <a:rPr lang="en-US" dirty="0"/>
              <a:t> take up)</a:t>
            </a:r>
            <a:endParaRPr lang="en-US" b="1" dirty="0"/>
          </a:p>
          <a:p>
            <a:pPr lvl="1"/>
            <a:r>
              <a:rPr lang="en-US" b="1" dirty="0"/>
              <a:t>power </a:t>
            </a:r>
            <a:r>
              <a:rPr lang="en-US" dirty="0"/>
              <a:t>(how many watts the code uses when executed)</a:t>
            </a:r>
          </a:p>
          <a:p>
            <a:pPr lvl="1"/>
            <a:r>
              <a:rPr lang="en-US" b="1" dirty="0"/>
              <a:t>registers </a:t>
            </a:r>
            <a:r>
              <a:rPr lang="en-US" dirty="0"/>
              <a:t>(how many/what kinds of registers are used)</a:t>
            </a:r>
          </a:p>
          <a:p>
            <a:r>
              <a:rPr lang="en-US" dirty="0"/>
              <a:t>some of these goals are even contradictory!</a:t>
            </a:r>
          </a:p>
          <a:p>
            <a:pPr lvl="1"/>
            <a:r>
              <a:rPr lang="en-US" dirty="0"/>
              <a:t>so compilers let you control which optimizations are performed.</a:t>
            </a:r>
          </a:p>
        </p:txBody>
      </p:sp>
      <p:sp>
        <p:nvSpPr>
          <p:cNvPr id="4" name="Slide Number Placeholder 3">
            <a:extLst>
              <a:ext uri="{FF2B5EF4-FFF2-40B4-BE49-F238E27FC236}">
                <a16:creationId xmlns:a16="http://schemas.microsoft.com/office/drawing/2014/main" id="{4D017AE7-10DC-E249-86C1-7B83A96FF0AB}"/>
              </a:ext>
            </a:extLst>
          </p:cNvPr>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8987807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8F94-46EC-5F48-A75B-2470EB616A4C}"/>
              </a:ext>
            </a:extLst>
          </p:cNvPr>
          <p:cNvSpPr>
            <a:spLocks noGrp="1"/>
          </p:cNvSpPr>
          <p:nvPr>
            <p:ph type="title"/>
          </p:nvPr>
        </p:nvSpPr>
        <p:spPr/>
        <p:txBody>
          <a:bodyPr/>
          <a:lstStyle/>
          <a:p>
            <a:r>
              <a:rPr lang="en-US" dirty="0"/>
              <a:t>We do it all the time</a:t>
            </a:r>
          </a:p>
        </p:txBody>
      </p:sp>
      <p:sp>
        <p:nvSpPr>
          <p:cNvPr id="3" name="Content Placeholder 2">
            <a:extLst>
              <a:ext uri="{FF2B5EF4-FFF2-40B4-BE49-F238E27FC236}">
                <a16:creationId xmlns:a16="http://schemas.microsoft.com/office/drawing/2014/main" id="{C17C41A6-3B7D-7648-9782-DFEA06E4658F}"/>
              </a:ext>
            </a:extLst>
          </p:cNvPr>
          <p:cNvSpPr>
            <a:spLocks noGrp="1"/>
          </p:cNvSpPr>
          <p:nvPr>
            <p:ph idx="1"/>
          </p:nvPr>
        </p:nvSpPr>
        <p:spPr>
          <a:xfrm>
            <a:off x="152400" y="495301"/>
            <a:ext cx="8991600" cy="838199"/>
          </a:xfrm>
        </p:spPr>
        <p:txBody>
          <a:bodyPr/>
          <a:lstStyle/>
          <a:p>
            <a:r>
              <a:rPr lang="en-US" dirty="0"/>
              <a:t>many of the optimizations we'll discuss are just </a:t>
            </a:r>
            <a:r>
              <a:rPr lang="en-US" b="1" dirty="0"/>
              <a:t>automated</a:t>
            </a:r>
            <a:r>
              <a:rPr lang="en-US" dirty="0"/>
              <a:t> versions of things human programmers do.</a:t>
            </a:r>
          </a:p>
        </p:txBody>
      </p:sp>
      <p:sp>
        <p:nvSpPr>
          <p:cNvPr id="4" name="Slide Number Placeholder 3">
            <a:extLst>
              <a:ext uri="{FF2B5EF4-FFF2-40B4-BE49-F238E27FC236}">
                <a16:creationId xmlns:a16="http://schemas.microsoft.com/office/drawing/2014/main" id="{1927BCE9-89F4-9C4E-A8C5-65030AA48A26}"/>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7F3A0459-A8CD-9647-9AF2-BFEEFEA31BE7}"/>
              </a:ext>
            </a:extLst>
          </p:cNvPr>
          <p:cNvSpPr txBox="1"/>
          <p:nvPr/>
        </p:nvSpPr>
        <p:spPr>
          <a:xfrm>
            <a:off x="76200" y="1257300"/>
            <a:ext cx="4134465" cy="707886"/>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func1(</a:t>
            </a:r>
            <a:r>
              <a:rPr lang="en-US" sz="2000" b="1" dirty="0" err="1">
                <a:latin typeface="Consolas" panose="020B0609020204030204" pitchFamily="49" charset="0"/>
                <a:cs typeface="Consolas" panose="020B0609020204030204" pitchFamily="49" charset="0"/>
              </a:rPr>
              <a:t>some.long</a:t>
            </a:r>
            <a:r>
              <a:rPr lang="en-US" sz="2000" b="1" dirty="0">
                <a:latin typeface="Consolas" panose="020B0609020204030204" pitchFamily="49" charset="0"/>
                <a:cs typeface="Consolas" panose="020B0609020204030204" pitchFamily="49" charset="0"/>
              </a:rPr>
              <a:t> + code[i]);</a:t>
            </a:r>
          </a:p>
          <a:p>
            <a:r>
              <a:rPr lang="en-US" sz="2000" b="1" dirty="0">
                <a:latin typeface="Consolas" panose="020B0609020204030204" pitchFamily="49" charset="0"/>
                <a:cs typeface="Consolas" panose="020B0609020204030204" pitchFamily="49" charset="0"/>
              </a:rPr>
              <a:t>func2(</a:t>
            </a:r>
            <a:r>
              <a:rPr lang="en-US" sz="2000" b="1" dirty="0" err="1">
                <a:latin typeface="Consolas" panose="020B0609020204030204" pitchFamily="49" charset="0"/>
                <a:cs typeface="Consolas" panose="020B0609020204030204" pitchFamily="49" charset="0"/>
              </a:rPr>
              <a:t>some.long</a:t>
            </a:r>
            <a:r>
              <a:rPr lang="en-US" sz="2000" b="1" dirty="0">
                <a:latin typeface="Consolas" panose="020B0609020204030204" pitchFamily="49" charset="0"/>
                <a:cs typeface="Consolas" panose="020B0609020204030204" pitchFamily="49" charset="0"/>
              </a:rPr>
              <a:t> + code[i]);</a:t>
            </a:r>
          </a:p>
        </p:txBody>
      </p:sp>
      <p:sp>
        <p:nvSpPr>
          <p:cNvPr id="6" name="TextBox 5">
            <a:extLst>
              <a:ext uri="{FF2B5EF4-FFF2-40B4-BE49-F238E27FC236}">
                <a16:creationId xmlns:a16="http://schemas.microsoft.com/office/drawing/2014/main" id="{3EA50330-7A02-1247-8768-64302BA91392}"/>
              </a:ext>
            </a:extLst>
          </p:cNvPr>
          <p:cNvSpPr txBox="1"/>
          <p:nvPr/>
        </p:nvSpPr>
        <p:spPr>
          <a:xfrm>
            <a:off x="4792271" y="1257300"/>
            <a:ext cx="4134465" cy="1015663"/>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v = </a:t>
            </a:r>
            <a:r>
              <a:rPr lang="en-US" sz="2000" b="1" dirty="0" err="1">
                <a:latin typeface="Consolas" panose="020B0609020204030204" pitchFamily="49" charset="0"/>
                <a:cs typeface="Consolas" panose="020B0609020204030204" pitchFamily="49" charset="0"/>
              </a:rPr>
              <a:t>some.long</a:t>
            </a:r>
            <a:r>
              <a:rPr lang="en-US" sz="2000" b="1" dirty="0">
                <a:latin typeface="Consolas" panose="020B0609020204030204" pitchFamily="49" charset="0"/>
                <a:cs typeface="Consolas" panose="020B0609020204030204" pitchFamily="49" charset="0"/>
              </a:rPr>
              <a:t> + code[i];</a:t>
            </a:r>
          </a:p>
          <a:p>
            <a:r>
              <a:rPr lang="en-US" sz="2000" b="1" dirty="0">
                <a:latin typeface="Consolas" panose="020B0609020204030204" pitchFamily="49" charset="0"/>
                <a:cs typeface="Consolas" panose="020B0609020204030204" pitchFamily="49" charset="0"/>
              </a:rPr>
              <a:t>func1(v);</a:t>
            </a:r>
          </a:p>
          <a:p>
            <a:r>
              <a:rPr lang="en-US" sz="2000" b="1" dirty="0">
                <a:latin typeface="Consolas" panose="020B0609020204030204" pitchFamily="49" charset="0"/>
                <a:cs typeface="Consolas" panose="020B0609020204030204" pitchFamily="49" charset="0"/>
              </a:rPr>
              <a:t>func2(v);</a:t>
            </a:r>
          </a:p>
        </p:txBody>
      </p:sp>
      <p:sp>
        <p:nvSpPr>
          <p:cNvPr id="7" name="Down Arrow 6">
            <a:extLst>
              <a:ext uri="{FF2B5EF4-FFF2-40B4-BE49-F238E27FC236}">
                <a16:creationId xmlns:a16="http://schemas.microsoft.com/office/drawing/2014/main" id="{DF302316-EE3A-DA4C-A33F-EA533BD32A14}"/>
              </a:ext>
            </a:extLst>
          </p:cNvPr>
          <p:cNvSpPr/>
          <p:nvPr/>
        </p:nvSpPr>
        <p:spPr>
          <a:xfrm rot="16200000">
            <a:off x="4155583" y="1337199"/>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C287DCB-AE26-9846-9BA0-31D40F0AFAE8}"/>
              </a:ext>
            </a:extLst>
          </p:cNvPr>
          <p:cNvSpPr txBox="1"/>
          <p:nvPr/>
        </p:nvSpPr>
        <p:spPr>
          <a:xfrm>
            <a:off x="76216" y="2199168"/>
            <a:ext cx="8991584" cy="430887"/>
          </a:xfrm>
          <a:prstGeom prst="rect">
            <a:avLst/>
          </a:prstGeom>
          <a:noFill/>
        </p:spPr>
        <p:txBody>
          <a:bodyPr wrap="square" rtlCol="0">
            <a:spAutoFit/>
          </a:bodyPr>
          <a:lstStyle/>
          <a:p>
            <a:pPr algn="ctr"/>
            <a:r>
              <a:rPr lang="en-US" sz="2200" dirty="0"/>
              <a:t>this technique is called </a:t>
            </a:r>
            <a:r>
              <a:rPr lang="en-US" sz="2200" b="1" dirty="0"/>
              <a:t>common subexpression elimination (CSE).</a:t>
            </a:r>
            <a:endParaRPr lang="en-US" sz="2200" dirty="0"/>
          </a:p>
        </p:txBody>
      </p:sp>
      <p:sp>
        <p:nvSpPr>
          <p:cNvPr id="15" name="TextBox 14">
            <a:extLst>
              <a:ext uri="{FF2B5EF4-FFF2-40B4-BE49-F238E27FC236}">
                <a16:creationId xmlns:a16="http://schemas.microsoft.com/office/drawing/2014/main" id="{59500716-E3B0-FF44-BB80-35090C9ECC7C}"/>
              </a:ext>
            </a:extLst>
          </p:cNvPr>
          <p:cNvSpPr txBox="1"/>
          <p:nvPr/>
        </p:nvSpPr>
        <p:spPr>
          <a:xfrm>
            <a:off x="1433094" y="2771376"/>
            <a:ext cx="2582758"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1024</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4</a:t>
            </a:r>
            <a:r>
              <a:rPr lang="en-US" sz="2000" b="1" dirty="0">
                <a:latin typeface="Consolas" panose="020B0609020204030204" pitchFamily="49" charset="0"/>
                <a:cs typeface="Consolas" panose="020B0609020204030204" pitchFamily="49" charset="0"/>
              </a:rPr>
              <a:t>;</a:t>
            </a:r>
          </a:p>
        </p:txBody>
      </p:sp>
      <p:sp>
        <p:nvSpPr>
          <p:cNvPr id="16" name="TextBox 15">
            <a:extLst>
              <a:ext uri="{FF2B5EF4-FFF2-40B4-BE49-F238E27FC236}">
                <a16:creationId xmlns:a16="http://schemas.microsoft.com/office/drawing/2014/main" id="{06438BA8-62AA-1C45-9351-B171061F7304}"/>
              </a:ext>
            </a:extLst>
          </p:cNvPr>
          <p:cNvSpPr txBox="1"/>
          <p:nvPr/>
        </p:nvSpPr>
        <p:spPr>
          <a:xfrm>
            <a:off x="4792271" y="2770254"/>
            <a:ext cx="2018501"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a:t>
            </a:r>
            <a:r>
              <a:rPr lang="en-US" sz="2000" b="1" dirty="0">
                <a:solidFill>
                  <a:schemeClr val="accent3">
                    <a:lumMod val="75000"/>
                  </a:schemeClr>
                </a:solidFill>
                <a:latin typeface="Consolas" panose="020B0609020204030204" pitchFamily="49" charset="0"/>
                <a:cs typeface="Consolas" panose="020B0609020204030204" pitchFamily="49" charset="0"/>
              </a:rPr>
              <a:t>4096</a:t>
            </a:r>
            <a:r>
              <a:rPr lang="en-US" sz="2000" b="1" dirty="0">
                <a:latin typeface="Consolas" panose="020B0609020204030204" pitchFamily="49" charset="0"/>
                <a:cs typeface="Consolas" panose="020B0609020204030204" pitchFamily="49" charset="0"/>
              </a:rPr>
              <a:t>;</a:t>
            </a:r>
          </a:p>
        </p:txBody>
      </p:sp>
      <p:sp>
        <p:nvSpPr>
          <p:cNvPr id="17" name="Down Arrow 16">
            <a:extLst>
              <a:ext uri="{FF2B5EF4-FFF2-40B4-BE49-F238E27FC236}">
                <a16:creationId xmlns:a16="http://schemas.microsoft.com/office/drawing/2014/main" id="{09F4F22A-AEF0-2141-A598-D433AB7B8C07}"/>
              </a:ext>
            </a:extLst>
          </p:cNvPr>
          <p:cNvSpPr/>
          <p:nvPr/>
        </p:nvSpPr>
        <p:spPr>
          <a:xfrm rot="16200000">
            <a:off x="4155583" y="27073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601CF22-7A87-5642-819D-683FB93DC135}"/>
              </a:ext>
            </a:extLst>
          </p:cNvPr>
          <p:cNvSpPr txBox="1"/>
          <p:nvPr/>
        </p:nvSpPr>
        <p:spPr>
          <a:xfrm>
            <a:off x="2743216" y="3310563"/>
            <a:ext cx="3657584" cy="430887"/>
          </a:xfrm>
          <a:prstGeom prst="rect">
            <a:avLst/>
          </a:prstGeom>
          <a:noFill/>
        </p:spPr>
        <p:txBody>
          <a:bodyPr wrap="square" rtlCol="0">
            <a:spAutoFit/>
          </a:bodyPr>
          <a:lstStyle/>
          <a:p>
            <a:pPr algn="ctr"/>
            <a:r>
              <a:rPr lang="en-US" sz="2200" dirty="0"/>
              <a:t>this is </a:t>
            </a:r>
            <a:r>
              <a:rPr lang="en-US" sz="2200" b="1" dirty="0"/>
              <a:t>constant folding.</a:t>
            </a:r>
            <a:endParaRPr lang="en-US" sz="2200" dirty="0"/>
          </a:p>
        </p:txBody>
      </p:sp>
      <p:sp>
        <p:nvSpPr>
          <p:cNvPr id="19" name="TextBox 18">
            <a:extLst>
              <a:ext uri="{FF2B5EF4-FFF2-40B4-BE49-F238E27FC236}">
                <a16:creationId xmlns:a16="http://schemas.microsoft.com/office/drawing/2014/main" id="{47EA3065-DD83-C648-9818-9499E3CC2509}"/>
              </a:ext>
            </a:extLst>
          </p:cNvPr>
          <p:cNvSpPr txBox="1"/>
          <p:nvPr/>
        </p:nvSpPr>
        <p:spPr>
          <a:xfrm>
            <a:off x="1433086" y="3947185"/>
            <a:ext cx="2723823"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pow(y, </a:t>
            </a:r>
            <a:r>
              <a:rPr lang="en-US" sz="2000" b="1" dirty="0">
                <a:solidFill>
                  <a:schemeClr val="accent3">
                    <a:lumMod val="75000"/>
                  </a:schemeClr>
                </a:solidFill>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p:txBody>
      </p:sp>
      <p:sp>
        <p:nvSpPr>
          <p:cNvPr id="20" name="TextBox 19">
            <a:extLst>
              <a:ext uri="{FF2B5EF4-FFF2-40B4-BE49-F238E27FC236}">
                <a16:creationId xmlns:a16="http://schemas.microsoft.com/office/drawing/2014/main" id="{0B31F12C-E46D-A14A-883F-2AB6956CD500}"/>
              </a:ext>
            </a:extLst>
          </p:cNvPr>
          <p:cNvSpPr txBox="1"/>
          <p:nvPr/>
        </p:nvSpPr>
        <p:spPr>
          <a:xfrm>
            <a:off x="4792263" y="3946063"/>
            <a:ext cx="2159566" cy="400110"/>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x = y * y;</a:t>
            </a:r>
          </a:p>
        </p:txBody>
      </p:sp>
      <p:sp>
        <p:nvSpPr>
          <p:cNvPr id="21" name="Down Arrow 20">
            <a:extLst>
              <a:ext uri="{FF2B5EF4-FFF2-40B4-BE49-F238E27FC236}">
                <a16:creationId xmlns:a16="http://schemas.microsoft.com/office/drawing/2014/main" id="{D0DB0B76-E51F-0F4C-99FE-41F1EDCD769F}"/>
              </a:ext>
            </a:extLst>
          </p:cNvPr>
          <p:cNvSpPr/>
          <p:nvPr/>
        </p:nvSpPr>
        <p:spPr>
          <a:xfrm rot="16200000">
            <a:off x="4155575" y="388319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27ECB0E-D7CA-7748-9642-AAD5DA6BE42A}"/>
              </a:ext>
            </a:extLst>
          </p:cNvPr>
          <p:cNvSpPr txBox="1"/>
          <p:nvPr/>
        </p:nvSpPr>
        <p:spPr>
          <a:xfrm>
            <a:off x="609600" y="4486372"/>
            <a:ext cx="7924800" cy="769441"/>
          </a:xfrm>
          <a:prstGeom prst="rect">
            <a:avLst/>
          </a:prstGeom>
          <a:noFill/>
        </p:spPr>
        <p:txBody>
          <a:bodyPr wrap="square" rtlCol="0">
            <a:spAutoFit/>
          </a:bodyPr>
          <a:lstStyle/>
          <a:p>
            <a:pPr algn="ctr"/>
            <a:r>
              <a:rPr lang="en-US" sz="2200" dirty="0"/>
              <a:t>this is </a:t>
            </a:r>
            <a:r>
              <a:rPr lang="en-US" sz="2200" b="1" dirty="0"/>
              <a:t>strength reduction: </a:t>
            </a:r>
            <a:r>
              <a:rPr lang="en-US" sz="2200" dirty="0"/>
              <a:t>using a simpler, faster operation that gives the same answer as a more complex one.</a:t>
            </a:r>
          </a:p>
        </p:txBody>
      </p:sp>
    </p:spTree>
    <p:extLst>
      <p:ext uri="{BB962C8B-B14F-4D97-AF65-F5344CB8AC3E}">
        <p14:creationId xmlns:p14="http://schemas.microsoft.com/office/powerpoint/2010/main" val="9471893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9" grpId="0"/>
      <p:bldP spid="15" grpId="0"/>
      <p:bldP spid="16" grpId="0"/>
      <p:bldP spid="17" grpId="0" animBg="1"/>
      <p:bldP spid="18" grpId="0"/>
      <p:bldP spid="19" grpId="0"/>
      <p:bldP spid="20" grpId="0"/>
      <p:bldP spid="21" grpId="0" animBg="1"/>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E77DB-300C-9347-9359-4BE0C0346C62}"/>
              </a:ext>
            </a:extLst>
          </p:cNvPr>
          <p:cNvSpPr>
            <a:spLocks noGrp="1"/>
          </p:cNvSpPr>
          <p:nvPr>
            <p:ph type="title"/>
          </p:nvPr>
        </p:nvSpPr>
        <p:spPr/>
        <p:txBody>
          <a:bodyPr/>
          <a:lstStyle/>
          <a:p>
            <a:r>
              <a:rPr lang="en-US" dirty="0"/>
              <a:t>Optimization scope</a:t>
            </a:r>
          </a:p>
        </p:txBody>
      </p:sp>
      <p:sp>
        <p:nvSpPr>
          <p:cNvPr id="3" name="Content Placeholder 2">
            <a:extLst>
              <a:ext uri="{FF2B5EF4-FFF2-40B4-BE49-F238E27FC236}">
                <a16:creationId xmlns:a16="http://schemas.microsoft.com/office/drawing/2014/main" id="{592E87CD-780B-9545-91F4-578EBFCB225E}"/>
              </a:ext>
            </a:extLst>
          </p:cNvPr>
          <p:cNvSpPr>
            <a:spLocks noGrp="1"/>
          </p:cNvSpPr>
          <p:nvPr>
            <p:ph idx="1"/>
          </p:nvPr>
        </p:nvSpPr>
        <p:spPr>
          <a:xfrm>
            <a:off x="152400" y="495302"/>
            <a:ext cx="8991600" cy="495300"/>
          </a:xfrm>
        </p:spPr>
        <p:txBody>
          <a:bodyPr/>
          <a:lstStyle/>
          <a:p>
            <a:r>
              <a:rPr lang="en-US" dirty="0"/>
              <a:t>we'll be doing optimizations on our IR, rather than the AST.</a:t>
            </a:r>
          </a:p>
        </p:txBody>
      </p:sp>
      <p:sp>
        <p:nvSpPr>
          <p:cNvPr id="4" name="Slide Number Placeholder 3">
            <a:extLst>
              <a:ext uri="{FF2B5EF4-FFF2-40B4-BE49-F238E27FC236}">
                <a16:creationId xmlns:a16="http://schemas.microsoft.com/office/drawing/2014/main" id="{F3B10D67-2AC8-554F-B31F-C226FB6B65CF}"/>
              </a:ext>
            </a:extLst>
          </p:cNvPr>
          <p:cNvSpPr>
            <a:spLocks noGrp="1"/>
          </p:cNvSpPr>
          <p:nvPr>
            <p:ph type="sldNum" sz="quarter" idx="12"/>
          </p:nvPr>
        </p:nvSpPr>
        <p:spPr/>
        <p:txBody>
          <a:bodyPr/>
          <a:lstStyle/>
          <a:p>
            <a:fld id="{3552B95B-556F-44BD-91A5-D80C1B9E2BB3}" type="slidenum">
              <a:rPr lang="en-US" smtClean="0"/>
              <a:pPr/>
              <a:t>6</a:t>
            </a:fld>
            <a:endParaRPr lang="en-US"/>
          </a:p>
        </p:txBody>
      </p:sp>
      <p:grpSp>
        <p:nvGrpSpPr>
          <p:cNvPr id="5" name="Group 4">
            <a:extLst>
              <a:ext uri="{FF2B5EF4-FFF2-40B4-BE49-F238E27FC236}">
                <a16:creationId xmlns:a16="http://schemas.microsoft.com/office/drawing/2014/main" id="{ECC73DBF-8BDA-F34B-BB5D-6701E5FDD4FE}"/>
              </a:ext>
            </a:extLst>
          </p:cNvPr>
          <p:cNvGrpSpPr/>
          <p:nvPr/>
        </p:nvGrpSpPr>
        <p:grpSpPr>
          <a:xfrm>
            <a:off x="3675765" y="1734356"/>
            <a:ext cx="1054802" cy="1770673"/>
            <a:chOff x="533400" y="1181100"/>
            <a:chExt cx="1054802" cy="1770673"/>
          </a:xfrm>
        </p:grpSpPr>
        <p:sp>
          <p:nvSpPr>
            <p:cNvPr id="6" name="Rounded Rectangle 5">
              <a:extLst>
                <a:ext uri="{FF2B5EF4-FFF2-40B4-BE49-F238E27FC236}">
                  <a16:creationId xmlns:a16="http://schemas.microsoft.com/office/drawing/2014/main" id="{E56FE2D9-F4BD-8945-AF66-EC205FF0BB9C}"/>
                </a:ext>
              </a:extLst>
            </p:cNvPr>
            <p:cNvSpPr/>
            <p:nvPr/>
          </p:nvSpPr>
          <p:spPr>
            <a:xfrm>
              <a:off x="533676" y="1181100"/>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Rounded Rectangle 6">
              <a:extLst>
                <a:ext uri="{FF2B5EF4-FFF2-40B4-BE49-F238E27FC236}">
                  <a16:creationId xmlns:a16="http://schemas.microsoft.com/office/drawing/2014/main" id="{581CAAAC-DD0A-9640-A22D-22FB19EBFEA8}"/>
                </a:ext>
              </a:extLst>
            </p:cNvPr>
            <p:cNvSpPr/>
            <p:nvPr/>
          </p:nvSpPr>
          <p:spPr>
            <a:xfrm>
              <a:off x="978602" y="185585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8" name="Rounded Rectangle 7">
              <a:extLst>
                <a:ext uri="{FF2B5EF4-FFF2-40B4-BE49-F238E27FC236}">
                  <a16:creationId xmlns:a16="http://schemas.microsoft.com/office/drawing/2014/main" id="{0AEDB7D9-4753-BD4D-A61D-1026C403A5B0}"/>
                </a:ext>
              </a:extLst>
            </p:cNvPr>
            <p:cNvSpPr/>
            <p:nvPr/>
          </p:nvSpPr>
          <p:spPr>
            <a:xfrm>
              <a:off x="533400" y="2509099"/>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9" name="Curved Connector 8">
              <a:extLst>
                <a:ext uri="{FF2B5EF4-FFF2-40B4-BE49-F238E27FC236}">
                  <a16:creationId xmlns:a16="http://schemas.microsoft.com/office/drawing/2014/main" id="{AC0C2A20-1C4B-444D-8B4C-B92D65C040A6}"/>
                </a:ext>
              </a:extLst>
            </p:cNvPr>
            <p:cNvCxnSpPr>
              <a:cxnSpLocks/>
              <a:stCxn id="6" idx="2"/>
              <a:endCxn id="7" idx="0"/>
            </p:cNvCxnSpPr>
            <p:nvPr/>
          </p:nvCxnSpPr>
          <p:spPr>
            <a:xfrm rot="16200000" flipH="1">
              <a:off x="944901" y="1517349"/>
              <a:ext cx="232076" cy="444926"/>
            </a:xfrm>
            <a:prstGeom prst="curvedConnector3">
              <a:avLst>
                <a:gd name="adj1" fmla="val 50000"/>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B3AAD80E-E86B-3449-A4DD-1D14BE35CA4B}"/>
                </a:ext>
              </a:extLst>
            </p:cNvPr>
            <p:cNvCxnSpPr>
              <a:cxnSpLocks/>
              <a:stCxn id="7" idx="2"/>
              <a:endCxn id="8" idx="0"/>
            </p:cNvCxnSpPr>
            <p:nvPr/>
          </p:nvCxnSpPr>
          <p:spPr>
            <a:xfrm rot="5400000">
              <a:off x="955514" y="2181210"/>
              <a:ext cx="210575" cy="445202"/>
            </a:xfrm>
            <a:prstGeom prst="curved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2">
              <a:extLst>
                <a:ext uri="{FF2B5EF4-FFF2-40B4-BE49-F238E27FC236}">
                  <a16:creationId xmlns:a16="http://schemas.microsoft.com/office/drawing/2014/main" id="{86E84690-2D4D-504F-9C22-657E1ED547B5}"/>
                </a:ext>
              </a:extLst>
            </p:cNvPr>
            <p:cNvCxnSpPr>
              <a:cxnSpLocks/>
              <a:stCxn id="6" idx="2"/>
              <a:endCxn id="8" idx="0"/>
            </p:cNvCxnSpPr>
            <p:nvPr/>
          </p:nvCxnSpPr>
          <p:spPr>
            <a:xfrm flipH="1">
              <a:off x="838200" y="1623774"/>
              <a:ext cx="276" cy="88532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60E90D15-2123-9E4C-AD05-96FFF4E226A2}"/>
              </a:ext>
            </a:extLst>
          </p:cNvPr>
          <p:cNvGrpSpPr/>
          <p:nvPr/>
        </p:nvGrpSpPr>
        <p:grpSpPr>
          <a:xfrm>
            <a:off x="5178676" y="1428694"/>
            <a:ext cx="622300" cy="3078652"/>
            <a:chOff x="7024181" y="1181100"/>
            <a:chExt cx="622300" cy="3078652"/>
          </a:xfrm>
        </p:grpSpPr>
        <p:sp>
          <p:nvSpPr>
            <p:cNvPr id="13" name="Rounded Rectangle 12">
              <a:extLst>
                <a:ext uri="{FF2B5EF4-FFF2-40B4-BE49-F238E27FC236}">
                  <a16:creationId xmlns:a16="http://schemas.microsoft.com/office/drawing/2014/main" id="{E53B73C7-AB9D-4A4F-B22A-0463CAD1A09E}"/>
                </a:ext>
              </a:extLst>
            </p:cNvPr>
            <p:cNvSpPr/>
            <p:nvPr/>
          </p:nvSpPr>
          <p:spPr>
            <a:xfrm>
              <a:off x="7024181" y="1847906"/>
              <a:ext cx="609600" cy="442674"/>
            </a:xfrm>
            <a:prstGeom prst="roundRect">
              <a:avLst/>
            </a:prstGeom>
            <a:solidFill>
              <a:schemeClr val="accent6"/>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4" name="Curved Connector 13">
              <a:extLst>
                <a:ext uri="{FF2B5EF4-FFF2-40B4-BE49-F238E27FC236}">
                  <a16:creationId xmlns:a16="http://schemas.microsoft.com/office/drawing/2014/main" id="{C92661C5-A999-8B47-9E15-79E52B727C3D}"/>
                </a:ext>
              </a:extLst>
            </p:cNvPr>
            <p:cNvCxnSpPr>
              <a:cxnSpLocks/>
              <a:stCxn id="13" idx="3"/>
              <a:endCxn id="17" idx="3"/>
            </p:cNvCxnSpPr>
            <p:nvPr/>
          </p:nvCxnSpPr>
          <p:spPr>
            <a:xfrm>
              <a:off x="7633781" y="2069243"/>
              <a:ext cx="12700" cy="1969172"/>
            </a:xfrm>
            <a:prstGeom prst="curvedConnector3">
              <a:avLst>
                <a:gd name="adj1" fmla="val 180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93186951-6F90-1C4B-A66B-0B777474A41D}"/>
                </a:ext>
              </a:extLst>
            </p:cNvPr>
            <p:cNvSpPr/>
            <p:nvPr/>
          </p:nvSpPr>
          <p:spPr>
            <a:xfrm>
              <a:off x="7024181" y="2533706"/>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6" name="Curved Connector 128">
              <a:extLst>
                <a:ext uri="{FF2B5EF4-FFF2-40B4-BE49-F238E27FC236}">
                  <a16:creationId xmlns:a16="http://schemas.microsoft.com/office/drawing/2014/main" id="{42D9DB20-4DE1-B04E-8074-640320145727}"/>
                </a:ext>
              </a:extLst>
            </p:cNvPr>
            <p:cNvCxnSpPr>
              <a:cxnSpLocks/>
              <a:stCxn id="13" idx="2"/>
              <a:endCxn id="15" idx="0"/>
            </p:cNvCxnSpPr>
            <p:nvPr/>
          </p:nvCxnSpPr>
          <p:spPr>
            <a:xfrm>
              <a:off x="7328981" y="2290580"/>
              <a:ext cx="0" cy="24312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5A249387-5B58-7A46-8415-EDC1C2727113}"/>
                </a:ext>
              </a:extLst>
            </p:cNvPr>
            <p:cNvSpPr/>
            <p:nvPr/>
          </p:nvSpPr>
          <p:spPr>
            <a:xfrm>
              <a:off x="7024181" y="3817078"/>
              <a:ext cx="609600" cy="442674"/>
            </a:xfrm>
            <a:prstGeom prst="roundRect">
              <a:avLst/>
            </a:prstGeom>
            <a:solidFill>
              <a:schemeClr val="accent2"/>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8" name="Rounded Rectangle 17">
              <a:extLst>
                <a:ext uri="{FF2B5EF4-FFF2-40B4-BE49-F238E27FC236}">
                  <a16:creationId xmlns:a16="http://schemas.microsoft.com/office/drawing/2014/main" id="{629DBB68-766F-A14C-BD13-2F34E37CC3B2}"/>
                </a:ext>
              </a:extLst>
            </p:cNvPr>
            <p:cNvSpPr/>
            <p:nvPr/>
          </p:nvSpPr>
          <p:spPr>
            <a:xfrm>
              <a:off x="7024181" y="1181100"/>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19" name="Curved Connector 12">
              <a:extLst>
                <a:ext uri="{FF2B5EF4-FFF2-40B4-BE49-F238E27FC236}">
                  <a16:creationId xmlns:a16="http://schemas.microsoft.com/office/drawing/2014/main" id="{B820EE86-F484-134E-A0BD-E3A8D60A5FD3}"/>
                </a:ext>
              </a:extLst>
            </p:cNvPr>
            <p:cNvCxnSpPr>
              <a:cxnSpLocks/>
              <a:stCxn id="18" idx="2"/>
              <a:endCxn id="13" idx="0"/>
            </p:cNvCxnSpPr>
            <p:nvPr/>
          </p:nvCxnSpPr>
          <p:spPr>
            <a:xfrm>
              <a:off x="7328981" y="1623774"/>
              <a:ext cx="0" cy="22413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2F269768-08CF-9F47-B890-1EC1E6AAF240}"/>
                </a:ext>
              </a:extLst>
            </p:cNvPr>
            <p:cNvSpPr/>
            <p:nvPr/>
          </p:nvSpPr>
          <p:spPr>
            <a:xfrm>
              <a:off x="7024181" y="3219506"/>
              <a:ext cx="609600" cy="442674"/>
            </a:xfrm>
            <a:prstGeom prst="roundRect">
              <a:avLst/>
            </a:prstGeom>
            <a:solidFill>
              <a:schemeClr val="accent1"/>
            </a:solidFill>
            <a:ln w="19050">
              <a:solidFill>
                <a:schemeClr val="tx1"/>
              </a:solidFill>
            </a:ln>
          </p:spPr>
          <p:txBody>
            <a:bodyPr wrap="square">
              <a:spAutoFit/>
            </a:bodyPr>
            <a:lstStyle/>
            <a:p>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cxnSp>
          <p:nvCxnSpPr>
            <p:cNvPr id="21" name="Curved Connector 12">
              <a:extLst>
                <a:ext uri="{FF2B5EF4-FFF2-40B4-BE49-F238E27FC236}">
                  <a16:creationId xmlns:a16="http://schemas.microsoft.com/office/drawing/2014/main" id="{1E110A58-B241-1C43-A931-919C11522699}"/>
                </a:ext>
              </a:extLst>
            </p:cNvPr>
            <p:cNvCxnSpPr>
              <a:cxnSpLocks/>
              <a:stCxn id="15" idx="2"/>
              <a:endCxn id="20" idx="0"/>
            </p:cNvCxnSpPr>
            <p:nvPr/>
          </p:nvCxnSpPr>
          <p:spPr>
            <a:xfrm>
              <a:off x="7328981" y="2976380"/>
              <a:ext cx="0" cy="24312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a:extLst>
                <a:ext uri="{FF2B5EF4-FFF2-40B4-BE49-F238E27FC236}">
                  <a16:creationId xmlns:a16="http://schemas.microsoft.com/office/drawing/2014/main" id="{6DCCDD82-AFC0-6949-A22A-DFFBF8234922}"/>
                </a:ext>
              </a:extLst>
            </p:cNvPr>
            <p:cNvCxnSpPr>
              <a:cxnSpLocks/>
              <a:stCxn id="20" idx="1"/>
              <a:endCxn id="13" idx="1"/>
            </p:cNvCxnSpPr>
            <p:nvPr/>
          </p:nvCxnSpPr>
          <p:spPr>
            <a:xfrm rot="10800000">
              <a:off x="7024181" y="2069243"/>
              <a:ext cx="12700" cy="1371600"/>
            </a:xfrm>
            <a:prstGeom prst="curvedConnector3">
              <a:avLst>
                <a:gd name="adj1" fmla="val 180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3" name="Rounded Rectangle 22">
            <a:extLst>
              <a:ext uri="{FF2B5EF4-FFF2-40B4-BE49-F238E27FC236}">
                <a16:creationId xmlns:a16="http://schemas.microsoft.com/office/drawing/2014/main" id="{62A6360F-B73F-A149-9F29-3A6F63F0E437}"/>
              </a:ext>
            </a:extLst>
          </p:cNvPr>
          <p:cNvSpPr/>
          <p:nvPr/>
        </p:nvSpPr>
        <p:spPr>
          <a:xfrm>
            <a:off x="3620494" y="1679712"/>
            <a:ext cx="705679" cy="536713"/>
          </a:xfrm>
          <a:prstGeom prst="roundRect">
            <a:avLst>
              <a:gd name="adj" fmla="val 7371"/>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7030A0"/>
              </a:solidFill>
            </a:endParaRPr>
          </a:p>
        </p:txBody>
      </p:sp>
      <p:sp>
        <p:nvSpPr>
          <p:cNvPr id="24" name="Rounded Rectangle 23">
            <a:extLst>
              <a:ext uri="{FF2B5EF4-FFF2-40B4-BE49-F238E27FC236}">
                <a16:creationId xmlns:a16="http://schemas.microsoft.com/office/drawing/2014/main" id="{69A4A2ED-AA77-4540-A560-2C679D6ABD08}"/>
              </a:ext>
            </a:extLst>
          </p:cNvPr>
          <p:cNvSpPr/>
          <p:nvPr/>
        </p:nvSpPr>
        <p:spPr>
          <a:xfrm>
            <a:off x="3411773" y="1063487"/>
            <a:ext cx="2792896" cy="3601127"/>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25" name="Rounded Rectangle 24">
            <a:extLst>
              <a:ext uri="{FF2B5EF4-FFF2-40B4-BE49-F238E27FC236}">
                <a16:creationId xmlns:a16="http://schemas.microsoft.com/office/drawing/2014/main" id="{9F0E5819-6CFB-E040-9ABD-138D3A764438}"/>
              </a:ext>
            </a:extLst>
          </p:cNvPr>
          <p:cNvSpPr/>
          <p:nvPr/>
        </p:nvSpPr>
        <p:spPr>
          <a:xfrm>
            <a:off x="3531489" y="1333500"/>
            <a:ext cx="1302559" cy="2258045"/>
          </a:xfrm>
          <a:prstGeom prst="roundRect">
            <a:avLst>
              <a:gd name="adj" fmla="val 7551"/>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00B050"/>
              </a:solidFill>
            </a:endParaRPr>
          </a:p>
        </p:txBody>
      </p:sp>
      <p:sp>
        <p:nvSpPr>
          <p:cNvPr id="26" name="TextBox 25">
            <a:extLst>
              <a:ext uri="{FF2B5EF4-FFF2-40B4-BE49-F238E27FC236}">
                <a16:creationId xmlns:a16="http://schemas.microsoft.com/office/drawing/2014/main" id="{641EEAFC-764D-0245-843E-A4D1494A6AD7}"/>
              </a:ext>
            </a:extLst>
          </p:cNvPr>
          <p:cNvSpPr txBox="1"/>
          <p:nvPr/>
        </p:nvSpPr>
        <p:spPr>
          <a:xfrm>
            <a:off x="3607914" y="1390554"/>
            <a:ext cx="691215" cy="369332"/>
          </a:xfrm>
          <a:prstGeom prst="rect">
            <a:avLst/>
          </a:prstGeom>
          <a:noFill/>
        </p:spPr>
        <p:txBody>
          <a:bodyPr wrap="none" rtlCol="0">
            <a:spAutoFit/>
          </a:bodyPr>
          <a:lstStyle/>
          <a:p>
            <a:pPr algn="ctr"/>
            <a:r>
              <a:rPr lang="en-US" sz="1800" b="1" dirty="0">
                <a:latin typeface="Consolas" panose="020B0609020204030204" pitchFamily="49" charset="0"/>
                <a:cs typeface="Consolas" panose="020B0609020204030204" pitchFamily="49" charset="0"/>
              </a:rPr>
              <a:t>main</a:t>
            </a:r>
          </a:p>
        </p:txBody>
      </p:sp>
      <p:sp>
        <p:nvSpPr>
          <p:cNvPr id="27" name="TextBox 26">
            <a:extLst>
              <a:ext uri="{FF2B5EF4-FFF2-40B4-BE49-F238E27FC236}">
                <a16:creationId xmlns:a16="http://schemas.microsoft.com/office/drawing/2014/main" id="{0A5EFE8C-91E4-164E-B8A2-369656FA5FC3}"/>
              </a:ext>
            </a:extLst>
          </p:cNvPr>
          <p:cNvSpPr txBox="1"/>
          <p:nvPr/>
        </p:nvSpPr>
        <p:spPr>
          <a:xfrm>
            <a:off x="5137869" y="1050386"/>
            <a:ext cx="691215" cy="369332"/>
          </a:xfrm>
          <a:prstGeom prst="rect">
            <a:avLst/>
          </a:prstGeom>
          <a:noFill/>
        </p:spPr>
        <p:txBody>
          <a:bodyPr wrap="none" rtlCol="0">
            <a:spAutoFit/>
          </a:bodyPr>
          <a:lstStyle/>
          <a:p>
            <a:pPr algn="ctr"/>
            <a:r>
              <a:rPr lang="en-US" sz="1800" b="1" dirty="0" err="1">
                <a:latin typeface="Consolas" panose="020B0609020204030204" pitchFamily="49" charset="0"/>
                <a:cs typeface="Consolas" panose="020B0609020204030204" pitchFamily="49" charset="0"/>
              </a:rPr>
              <a:t>func</a:t>
            </a:r>
            <a:endParaRPr lang="en-US" sz="1800" b="1" dirty="0">
              <a:latin typeface="Consolas" panose="020B0609020204030204" pitchFamily="49" charset="0"/>
              <a:cs typeface="Consolas" panose="020B0609020204030204" pitchFamily="49" charset="0"/>
            </a:endParaRPr>
          </a:p>
        </p:txBody>
      </p:sp>
      <p:sp>
        <p:nvSpPr>
          <p:cNvPr id="28" name="TextBox 27">
            <a:extLst>
              <a:ext uri="{FF2B5EF4-FFF2-40B4-BE49-F238E27FC236}">
                <a16:creationId xmlns:a16="http://schemas.microsoft.com/office/drawing/2014/main" id="{D3D05A9A-EDAC-A440-AEEB-07B11752D49E}"/>
              </a:ext>
            </a:extLst>
          </p:cNvPr>
          <p:cNvSpPr txBox="1"/>
          <p:nvPr/>
        </p:nvSpPr>
        <p:spPr>
          <a:xfrm>
            <a:off x="457200" y="1419718"/>
            <a:ext cx="2792782" cy="1107996"/>
          </a:xfrm>
          <a:prstGeom prst="rect">
            <a:avLst/>
          </a:prstGeom>
          <a:noFill/>
        </p:spPr>
        <p:txBody>
          <a:bodyPr wrap="square" rtlCol="0">
            <a:spAutoFit/>
          </a:bodyPr>
          <a:lstStyle/>
          <a:p>
            <a:pPr algn="ctr"/>
            <a:r>
              <a:rPr lang="en-US" sz="2200" b="1" dirty="0">
                <a:solidFill>
                  <a:srgbClr val="7030A0"/>
                </a:solidFill>
              </a:rPr>
              <a:t>local optimizations</a:t>
            </a:r>
            <a:r>
              <a:rPr lang="en-US" sz="2200" b="1" dirty="0"/>
              <a:t> </a:t>
            </a:r>
            <a:r>
              <a:rPr lang="en-US" sz="2200" dirty="0"/>
              <a:t>work on code within </a:t>
            </a:r>
            <a:r>
              <a:rPr lang="en-US" sz="2200" b="1" dirty="0"/>
              <a:t>a single BB.</a:t>
            </a:r>
          </a:p>
        </p:txBody>
      </p:sp>
      <p:sp>
        <p:nvSpPr>
          <p:cNvPr id="29" name="TextBox 28">
            <a:extLst>
              <a:ext uri="{FF2B5EF4-FFF2-40B4-BE49-F238E27FC236}">
                <a16:creationId xmlns:a16="http://schemas.microsoft.com/office/drawing/2014/main" id="{62E60C1A-EDF1-754C-88BB-B32F321118B5}"/>
              </a:ext>
            </a:extLst>
          </p:cNvPr>
          <p:cNvSpPr txBox="1"/>
          <p:nvPr/>
        </p:nvSpPr>
        <p:spPr>
          <a:xfrm>
            <a:off x="152400" y="2690922"/>
            <a:ext cx="3154551" cy="1277273"/>
          </a:xfrm>
          <a:prstGeom prst="rect">
            <a:avLst/>
          </a:prstGeom>
          <a:noFill/>
        </p:spPr>
        <p:txBody>
          <a:bodyPr wrap="square" rtlCol="0">
            <a:spAutoFit/>
          </a:bodyPr>
          <a:lstStyle/>
          <a:p>
            <a:pPr algn="ctr"/>
            <a:r>
              <a:rPr lang="en-US" sz="2200" b="1" dirty="0">
                <a:solidFill>
                  <a:srgbClr val="00B050"/>
                </a:solidFill>
              </a:rPr>
              <a:t>global optimizations </a:t>
            </a:r>
            <a:r>
              <a:rPr lang="en-US" sz="2200" dirty="0"/>
              <a:t>work on </a:t>
            </a:r>
            <a:r>
              <a:rPr lang="en-US" sz="2200" b="1" i="1" dirty="0"/>
              <a:t>one function's</a:t>
            </a:r>
            <a:r>
              <a:rPr lang="en-US" sz="2200" b="1" dirty="0"/>
              <a:t> </a:t>
            </a:r>
            <a:r>
              <a:rPr lang="en-US" sz="2200" dirty="0"/>
              <a:t>whole CFG. </a:t>
            </a:r>
            <a:r>
              <a:rPr lang="en-US" sz="1100" dirty="0"/>
              <a:t>(I know, "global" sounds like it should be the whole program but it's not)</a:t>
            </a:r>
            <a:endParaRPr lang="en-US" sz="2200" dirty="0"/>
          </a:p>
        </p:txBody>
      </p:sp>
      <p:sp>
        <p:nvSpPr>
          <p:cNvPr id="32" name="TextBox 31">
            <a:extLst>
              <a:ext uri="{FF2B5EF4-FFF2-40B4-BE49-F238E27FC236}">
                <a16:creationId xmlns:a16="http://schemas.microsoft.com/office/drawing/2014/main" id="{1F9493A9-3901-BF46-8385-5911261CAB69}"/>
              </a:ext>
            </a:extLst>
          </p:cNvPr>
          <p:cNvSpPr txBox="1"/>
          <p:nvPr/>
        </p:nvSpPr>
        <p:spPr>
          <a:xfrm>
            <a:off x="6281094" y="2154279"/>
            <a:ext cx="2714261" cy="1446550"/>
          </a:xfrm>
          <a:prstGeom prst="rect">
            <a:avLst/>
          </a:prstGeom>
          <a:noFill/>
        </p:spPr>
        <p:txBody>
          <a:bodyPr wrap="square" rtlCol="0">
            <a:spAutoFit/>
          </a:bodyPr>
          <a:lstStyle/>
          <a:p>
            <a:pPr algn="ctr"/>
            <a:r>
              <a:rPr lang="en-US" sz="2200" b="1" dirty="0" err="1">
                <a:solidFill>
                  <a:srgbClr val="FF0000"/>
                </a:solidFill>
              </a:rPr>
              <a:t>interprocedural</a:t>
            </a:r>
            <a:r>
              <a:rPr lang="en-US" sz="2200" b="1" dirty="0">
                <a:solidFill>
                  <a:srgbClr val="FF0000"/>
                </a:solidFill>
              </a:rPr>
              <a:t> optimizations</a:t>
            </a:r>
            <a:r>
              <a:rPr lang="en-US" sz="2200" b="1" dirty="0">
                <a:solidFill>
                  <a:srgbClr val="00B050"/>
                </a:solidFill>
              </a:rPr>
              <a:t> </a:t>
            </a:r>
            <a:r>
              <a:rPr lang="en-US" sz="2200" dirty="0"/>
              <a:t>work on </a:t>
            </a:r>
            <a:r>
              <a:rPr lang="en-US" sz="2200" b="1" i="1" dirty="0"/>
              <a:t>all functions in the program.</a:t>
            </a:r>
            <a:endParaRPr lang="en-US" sz="2200" dirty="0"/>
          </a:p>
        </p:txBody>
      </p:sp>
      <p:sp>
        <p:nvSpPr>
          <p:cNvPr id="34" name="TextBox 33">
            <a:extLst>
              <a:ext uri="{FF2B5EF4-FFF2-40B4-BE49-F238E27FC236}">
                <a16:creationId xmlns:a16="http://schemas.microsoft.com/office/drawing/2014/main" id="{9B7BA3B8-61E5-6645-AC9A-393B3753DC4A}"/>
              </a:ext>
            </a:extLst>
          </p:cNvPr>
          <p:cNvSpPr txBox="1"/>
          <p:nvPr/>
        </p:nvSpPr>
        <p:spPr>
          <a:xfrm>
            <a:off x="736407" y="4764507"/>
            <a:ext cx="7988319" cy="769441"/>
          </a:xfrm>
          <a:prstGeom prst="rect">
            <a:avLst/>
          </a:prstGeom>
          <a:noFill/>
        </p:spPr>
        <p:txBody>
          <a:bodyPr wrap="square" rtlCol="0">
            <a:spAutoFit/>
          </a:bodyPr>
          <a:lstStyle/>
          <a:p>
            <a:pPr algn="ctr"/>
            <a:r>
              <a:rPr lang="en-US" sz="2200" dirty="0"/>
              <a:t>as you might imagine, </a:t>
            </a:r>
            <a:r>
              <a:rPr lang="en-US" sz="2200" b="1" dirty="0"/>
              <a:t>local </a:t>
            </a:r>
            <a:r>
              <a:rPr lang="en-US" sz="2200" dirty="0"/>
              <a:t>is the simplest; </a:t>
            </a:r>
            <a:r>
              <a:rPr lang="en-US" sz="2200" b="1" dirty="0"/>
              <a:t>global </a:t>
            </a:r>
            <a:r>
              <a:rPr lang="en-US" sz="2200" dirty="0"/>
              <a:t>is more complex; and </a:t>
            </a:r>
            <a:r>
              <a:rPr lang="en-US" sz="2200" b="1" dirty="0" err="1"/>
              <a:t>interprocedural</a:t>
            </a:r>
            <a:r>
              <a:rPr lang="en-US" sz="2200" b="1" dirty="0"/>
              <a:t> </a:t>
            </a:r>
            <a:r>
              <a:rPr lang="en-US" sz="2200" dirty="0"/>
              <a:t>is the most complex.</a:t>
            </a:r>
          </a:p>
        </p:txBody>
      </p:sp>
    </p:spTree>
    <p:extLst>
      <p:ext uri="{BB962C8B-B14F-4D97-AF65-F5344CB8AC3E}">
        <p14:creationId xmlns:p14="http://schemas.microsoft.com/office/powerpoint/2010/main" val="33273082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p:bldP spid="27" grpId="0"/>
      <p:bldP spid="28" grpId="0"/>
      <p:bldP spid="29" grpId="0"/>
      <p:bldP spid="32"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45832-AB59-744C-9587-BBF879DE78C1}"/>
              </a:ext>
            </a:extLst>
          </p:cNvPr>
          <p:cNvSpPr>
            <a:spLocks noGrp="1"/>
          </p:cNvSpPr>
          <p:nvPr>
            <p:ph type="title"/>
          </p:nvPr>
        </p:nvSpPr>
        <p:spPr/>
        <p:txBody>
          <a:bodyPr/>
          <a:lstStyle/>
          <a:p>
            <a:r>
              <a:rPr lang="en-US" dirty="0"/>
              <a:t>Dead code elimination (DCE)</a:t>
            </a:r>
          </a:p>
        </p:txBody>
      </p:sp>
      <p:sp>
        <p:nvSpPr>
          <p:cNvPr id="3" name="Content Placeholder 2">
            <a:extLst>
              <a:ext uri="{FF2B5EF4-FFF2-40B4-BE49-F238E27FC236}">
                <a16:creationId xmlns:a16="http://schemas.microsoft.com/office/drawing/2014/main" id="{0952B17C-19C6-9E4A-B803-FB86F5806544}"/>
              </a:ext>
            </a:extLst>
          </p:cNvPr>
          <p:cNvSpPr>
            <a:spLocks noGrp="1"/>
          </p:cNvSpPr>
          <p:nvPr>
            <p:ph idx="1"/>
          </p:nvPr>
        </p:nvSpPr>
        <p:spPr>
          <a:xfrm>
            <a:off x="152400" y="495301"/>
            <a:ext cx="8991600" cy="1219199"/>
          </a:xfrm>
        </p:spPr>
        <p:txBody>
          <a:bodyPr/>
          <a:lstStyle/>
          <a:p>
            <a:r>
              <a:rPr lang="en-US" dirty="0"/>
              <a:t>a common technique in Java is to use </a:t>
            </a:r>
            <a:r>
              <a:rPr lang="en-US" b="1" dirty="0">
                <a:solidFill>
                  <a:srgbClr val="FF0000"/>
                </a:solidFill>
                <a:latin typeface="Consolas" panose="020B0609020204030204" pitchFamily="49" charset="0"/>
                <a:cs typeface="Consolas" panose="020B0609020204030204" pitchFamily="49" charset="0"/>
              </a:rPr>
              <a:t>static final</a:t>
            </a:r>
            <a:r>
              <a:rPr lang="en-US" dirty="0"/>
              <a:t> variables to enable or disable pieces of code. in those cases, the condition is a constant, and one or more control paths become “dead code.”</a:t>
            </a:r>
          </a:p>
        </p:txBody>
      </p:sp>
      <p:sp>
        <p:nvSpPr>
          <p:cNvPr id="4" name="Slide Number Placeholder 3">
            <a:extLst>
              <a:ext uri="{FF2B5EF4-FFF2-40B4-BE49-F238E27FC236}">
                <a16:creationId xmlns:a16="http://schemas.microsoft.com/office/drawing/2014/main" id="{10BCFE70-4636-224E-B9FF-6D2880F4A673}"/>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55FDEAEE-A8E2-6A41-AE36-6334E06A625A}"/>
              </a:ext>
            </a:extLst>
          </p:cNvPr>
          <p:cNvSpPr txBox="1"/>
          <p:nvPr/>
        </p:nvSpPr>
        <p:spPr>
          <a:xfrm>
            <a:off x="34047" y="1714500"/>
            <a:ext cx="5121915" cy="2554545"/>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static final </a:t>
            </a:r>
            <a:r>
              <a:rPr lang="en-US" sz="2000" b="1" dirty="0" err="1">
                <a:solidFill>
                  <a:srgbClr val="FF0000"/>
                </a:solidFill>
                <a:latin typeface="Consolas" panose="020B0609020204030204" pitchFamily="49" charset="0"/>
                <a:cs typeface="Consolas" panose="020B0609020204030204" pitchFamily="49" charset="0"/>
              </a:rPr>
              <a:t>boolean</a:t>
            </a:r>
            <a:r>
              <a:rPr lang="en-US" sz="2000" b="1" dirty="0">
                <a:latin typeface="Consolas" panose="020B0609020204030204" pitchFamily="49" charset="0"/>
                <a:cs typeface="Consolas" panose="020B0609020204030204" pitchFamily="49" charset="0"/>
              </a:rPr>
              <a:t> DEBUG = </a:t>
            </a:r>
            <a:r>
              <a:rPr lang="en-US" sz="2000" b="1" dirty="0">
                <a:solidFill>
                  <a:srgbClr val="FF0000"/>
                </a:solidFill>
                <a:latin typeface="Consolas" panose="020B0609020204030204" pitchFamily="49" charset="0"/>
                <a:cs typeface="Consolas" panose="020B0609020204030204" pitchFamily="49" charset="0"/>
              </a:rPr>
              <a:t>false</a:t>
            </a:r>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public </a:t>
            </a:r>
            <a:r>
              <a:rPr lang="en-US" sz="2000" b="1" dirty="0" err="1">
                <a:solidFill>
                  <a:srgbClr val="FF0000"/>
                </a:solidFill>
                <a:latin typeface="Consolas" panose="020B0609020204030204" pitchFamily="49" charset="0"/>
                <a:cs typeface="Consolas" panose="020B0609020204030204" pitchFamily="49" charset="0"/>
              </a:rPr>
              <a:t>int</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getWhatever</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(DEBUG)</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System.err.println</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"here"</a:t>
            </a:r>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.whatever</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531CB74B-6284-EF44-89A5-4E52C1D1671A}"/>
              </a:ext>
            </a:extLst>
          </p:cNvPr>
          <p:cNvSpPr txBox="1"/>
          <p:nvPr/>
        </p:nvSpPr>
        <p:spPr>
          <a:xfrm>
            <a:off x="5190009" y="2324100"/>
            <a:ext cx="3852337" cy="1015663"/>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public </a:t>
            </a:r>
            <a:r>
              <a:rPr lang="en-US" sz="2000" b="1" dirty="0" err="1">
                <a:solidFill>
                  <a:srgbClr val="FF0000"/>
                </a:solidFill>
                <a:latin typeface="Consolas" panose="020B0609020204030204" pitchFamily="49" charset="0"/>
                <a:cs typeface="Consolas" panose="020B0609020204030204" pitchFamily="49" charset="0"/>
              </a:rPr>
              <a:t>int</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getWhatever</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.whatever</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7" name="Down Arrow 6">
            <a:extLst>
              <a:ext uri="{FF2B5EF4-FFF2-40B4-BE49-F238E27FC236}">
                <a16:creationId xmlns:a16="http://schemas.microsoft.com/office/drawing/2014/main" id="{A71014BE-04B1-6647-98DB-B04D87FB7D2E}"/>
              </a:ext>
            </a:extLst>
          </p:cNvPr>
          <p:cNvSpPr/>
          <p:nvPr/>
        </p:nvSpPr>
        <p:spPr>
          <a:xfrm rot="16200000">
            <a:off x="4493518" y="240258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7BBFAF4-4CDA-F245-9813-7537C274EF5B}"/>
              </a:ext>
            </a:extLst>
          </p:cNvPr>
          <p:cNvSpPr txBox="1"/>
          <p:nvPr/>
        </p:nvSpPr>
        <p:spPr>
          <a:xfrm>
            <a:off x="736407" y="4303902"/>
            <a:ext cx="7988319" cy="769441"/>
          </a:xfrm>
          <a:prstGeom prst="rect">
            <a:avLst/>
          </a:prstGeom>
          <a:noFill/>
        </p:spPr>
        <p:txBody>
          <a:bodyPr wrap="square" rtlCol="0">
            <a:spAutoFit/>
          </a:bodyPr>
          <a:lstStyle/>
          <a:p>
            <a:pPr algn="ctr"/>
            <a:r>
              <a:rPr lang="en-US" sz="2200" dirty="0"/>
              <a:t>this is a </a:t>
            </a:r>
            <a:r>
              <a:rPr lang="en-US" sz="2200" b="1" dirty="0"/>
              <a:t>global </a:t>
            </a:r>
            <a:r>
              <a:rPr lang="en-US" sz="2200" dirty="0"/>
              <a:t>optimization, as it operates on the CFG of the method. some BBs were removed from this method.</a:t>
            </a:r>
          </a:p>
        </p:txBody>
      </p:sp>
    </p:spTree>
    <p:extLst>
      <p:ext uri="{BB962C8B-B14F-4D97-AF65-F5344CB8AC3E}">
        <p14:creationId xmlns:p14="http://schemas.microsoft.com/office/powerpoint/2010/main" val="39739552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F19CC-4095-124F-BBF1-D0245D7BCCAC}"/>
              </a:ext>
            </a:extLst>
          </p:cNvPr>
          <p:cNvSpPr>
            <a:spLocks noGrp="1"/>
          </p:cNvSpPr>
          <p:nvPr>
            <p:ph type="title"/>
          </p:nvPr>
        </p:nvSpPr>
        <p:spPr/>
        <p:txBody>
          <a:bodyPr/>
          <a:lstStyle/>
          <a:p>
            <a:r>
              <a:rPr lang="en-US" dirty="0"/>
              <a:t>Function (or method) </a:t>
            </a:r>
            <a:r>
              <a:rPr lang="en-US" dirty="0" err="1"/>
              <a:t>inlining</a:t>
            </a:r>
            <a:endParaRPr lang="en-US" dirty="0"/>
          </a:p>
        </p:txBody>
      </p:sp>
      <p:sp>
        <p:nvSpPr>
          <p:cNvPr id="3" name="Content Placeholder 2">
            <a:extLst>
              <a:ext uri="{FF2B5EF4-FFF2-40B4-BE49-F238E27FC236}">
                <a16:creationId xmlns:a16="http://schemas.microsoft.com/office/drawing/2014/main" id="{D72E5A39-7DAE-D54C-B78A-6F38C2A23042}"/>
              </a:ext>
            </a:extLst>
          </p:cNvPr>
          <p:cNvSpPr>
            <a:spLocks noGrp="1"/>
          </p:cNvSpPr>
          <p:nvPr>
            <p:ph idx="1"/>
          </p:nvPr>
        </p:nvSpPr>
        <p:spPr>
          <a:xfrm>
            <a:off x="152400" y="495301"/>
            <a:ext cx="8991600" cy="838199"/>
          </a:xfrm>
        </p:spPr>
        <p:txBody>
          <a:bodyPr/>
          <a:lstStyle/>
          <a:p>
            <a:r>
              <a:rPr lang="en-US" dirty="0"/>
              <a:t>a very common </a:t>
            </a:r>
            <a:r>
              <a:rPr lang="en-US" dirty="0" err="1"/>
              <a:t>interprocedural</a:t>
            </a:r>
            <a:r>
              <a:rPr lang="en-US" dirty="0"/>
              <a:t> optimization is </a:t>
            </a:r>
            <a:r>
              <a:rPr lang="en-US" b="1" dirty="0"/>
              <a:t>function </a:t>
            </a:r>
            <a:r>
              <a:rPr lang="en-US" b="1" dirty="0" err="1"/>
              <a:t>inlining</a:t>
            </a:r>
            <a:r>
              <a:rPr lang="en-US" b="1" dirty="0"/>
              <a:t>: </a:t>
            </a:r>
            <a:r>
              <a:rPr lang="en-US" dirty="0"/>
              <a:t>eliminating a call by copying the code of the </a:t>
            </a:r>
            <a:r>
              <a:rPr lang="en-US" dirty="0" err="1"/>
              <a:t>callee</a:t>
            </a:r>
            <a:r>
              <a:rPr lang="en-US" dirty="0"/>
              <a:t> into the caller.</a:t>
            </a:r>
          </a:p>
        </p:txBody>
      </p:sp>
      <p:sp>
        <p:nvSpPr>
          <p:cNvPr id="4" name="Slide Number Placeholder 3">
            <a:extLst>
              <a:ext uri="{FF2B5EF4-FFF2-40B4-BE49-F238E27FC236}">
                <a16:creationId xmlns:a16="http://schemas.microsoft.com/office/drawing/2014/main" id="{76058D67-8577-484B-ADB2-CC10CE90DE76}"/>
              </a:ext>
            </a:extLst>
          </p:cNvPr>
          <p:cNvSpPr>
            <a:spLocks noGrp="1"/>
          </p:cNvSpPr>
          <p:nvPr>
            <p:ph type="sldNum" sz="quarter" idx="12"/>
          </p:nvPr>
        </p:nvSpPr>
        <p:spPr/>
        <p:txBody>
          <a:bodyPr/>
          <a:lstStyle/>
          <a:p>
            <a:fld id="{3552B95B-556F-44BD-91A5-D80C1B9E2BB3}" type="slidenum">
              <a:rPr lang="en-US" smtClean="0"/>
              <a:pPr/>
              <a:t>8</a:t>
            </a:fld>
            <a:endParaRPr lang="en-US"/>
          </a:p>
        </p:txBody>
      </p:sp>
      <p:sp>
        <p:nvSpPr>
          <p:cNvPr id="5" name="TextBox 4">
            <a:extLst>
              <a:ext uri="{FF2B5EF4-FFF2-40B4-BE49-F238E27FC236}">
                <a16:creationId xmlns:a16="http://schemas.microsoft.com/office/drawing/2014/main" id="{563AC816-DD65-DE4C-A3AD-B54D817679F9}"/>
              </a:ext>
            </a:extLst>
          </p:cNvPr>
          <p:cNvSpPr txBox="1"/>
          <p:nvPr/>
        </p:nvSpPr>
        <p:spPr>
          <a:xfrm>
            <a:off x="34047" y="1333500"/>
            <a:ext cx="4275529" cy="2554545"/>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public void</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printWhatever</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w =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.getWhatever</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System.out.println</a:t>
            </a:r>
            <a:r>
              <a:rPr lang="en-US" sz="2000" b="1" dirty="0">
                <a:latin typeface="Consolas" panose="020B0609020204030204" pitchFamily="49" charset="0"/>
                <a:cs typeface="Consolas" panose="020B0609020204030204" pitchFamily="49" charset="0"/>
              </a:rPr>
              <a:t>(w);</a:t>
            </a:r>
          </a:p>
          <a:p>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public </a:t>
            </a:r>
            <a:r>
              <a:rPr lang="en-US" sz="2000" b="1" dirty="0" err="1">
                <a:solidFill>
                  <a:srgbClr val="FF0000"/>
                </a:solidFill>
                <a:latin typeface="Consolas" panose="020B0609020204030204" pitchFamily="49" charset="0"/>
                <a:cs typeface="Consolas" panose="020B0609020204030204" pitchFamily="49" charset="0"/>
              </a:rPr>
              <a:t>int</a:t>
            </a:r>
            <a:r>
              <a:rPr lang="en-US" sz="2000" b="1" dirty="0">
                <a:solidFill>
                  <a:srgbClr val="FF0000"/>
                </a:solidFill>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getWhatever</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.whatever</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85F73F07-CF74-B248-8C77-267106E3B306}"/>
              </a:ext>
            </a:extLst>
          </p:cNvPr>
          <p:cNvSpPr txBox="1"/>
          <p:nvPr/>
        </p:nvSpPr>
        <p:spPr>
          <a:xfrm>
            <a:off x="4868471" y="1333499"/>
            <a:ext cx="4275529" cy="1323439"/>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public void</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printWhatever</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err="1">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w = </a:t>
            </a:r>
            <a:r>
              <a:rPr lang="en-US" sz="2000" b="1" dirty="0" err="1">
                <a:solidFill>
                  <a:srgbClr val="FF0000"/>
                </a:solidFill>
                <a:latin typeface="Consolas" panose="020B0609020204030204" pitchFamily="49" charset="0"/>
                <a:cs typeface="Consolas" panose="020B0609020204030204" pitchFamily="49" charset="0"/>
              </a:rPr>
              <a:t>this</a:t>
            </a:r>
            <a:r>
              <a:rPr lang="en-US" sz="2000" b="1" dirty="0" err="1">
                <a:latin typeface="Consolas" panose="020B0609020204030204" pitchFamily="49" charset="0"/>
                <a:cs typeface="Consolas" panose="020B0609020204030204" pitchFamily="49" charset="0"/>
              </a:rPr>
              <a:t>.whatever</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System.out.println</a:t>
            </a:r>
            <a:r>
              <a:rPr lang="en-US" sz="2000" b="1" dirty="0">
                <a:latin typeface="Consolas" panose="020B0609020204030204" pitchFamily="49" charset="0"/>
                <a:cs typeface="Consolas" panose="020B0609020204030204" pitchFamily="49" charset="0"/>
              </a:rPr>
              <a:t>(w);</a:t>
            </a:r>
          </a:p>
          <a:p>
            <a:r>
              <a:rPr lang="en-US" sz="2000" b="1" dirty="0">
                <a:latin typeface="Consolas" panose="020B0609020204030204" pitchFamily="49" charset="0"/>
                <a:cs typeface="Consolas" panose="020B0609020204030204" pitchFamily="49" charset="0"/>
              </a:rPr>
              <a:t>}</a:t>
            </a:r>
          </a:p>
        </p:txBody>
      </p:sp>
      <p:sp>
        <p:nvSpPr>
          <p:cNvPr id="7" name="Down Arrow 6">
            <a:extLst>
              <a:ext uri="{FF2B5EF4-FFF2-40B4-BE49-F238E27FC236}">
                <a16:creationId xmlns:a16="http://schemas.microsoft.com/office/drawing/2014/main" id="{54ACA1C5-B349-7343-A4CF-4B2AC705E68C}"/>
              </a:ext>
            </a:extLst>
          </p:cNvPr>
          <p:cNvSpPr/>
          <p:nvPr/>
        </p:nvSpPr>
        <p:spPr>
          <a:xfrm rot="16200000">
            <a:off x="4290338" y="1820490"/>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5203EF-D3BF-7545-950F-50ABDEE9965B}"/>
              </a:ext>
            </a:extLst>
          </p:cNvPr>
          <p:cNvSpPr txBox="1"/>
          <p:nvPr/>
        </p:nvSpPr>
        <p:spPr>
          <a:xfrm>
            <a:off x="4114800" y="2771862"/>
            <a:ext cx="4762326" cy="1446550"/>
          </a:xfrm>
          <a:prstGeom prst="rect">
            <a:avLst/>
          </a:prstGeom>
          <a:noFill/>
        </p:spPr>
        <p:txBody>
          <a:bodyPr wrap="square" rtlCol="0">
            <a:spAutoFit/>
          </a:bodyPr>
          <a:lstStyle/>
          <a:p>
            <a:pPr algn="ctr"/>
            <a:r>
              <a:rPr lang="en-US" sz="2200" dirty="0"/>
              <a:t>think about all the work this is saving – no more passing arguments, doing the function prologue and epilogue, messing with the stack…</a:t>
            </a:r>
          </a:p>
        </p:txBody>
      </p:sp>
      <p:sp>
        <p:nvSpPr>
          <p:cNvPr id="9" name="TextBox 8">
            <a:extLst>
              <a:ext uri="{FF2B5EF4-FFF2-40B4-BE49-F238E27FC236}">
                <a16:creationId xmlns:a16="http://schemas.microsoft.com/office/drawing/2014/main" id="{85807972-C27B-5740-8E48-E9A41D1FE9EF}"/>
              </a:ext>
            </a:extLst>
          </p:cNvPr>
          <p:cNvSpPr txBox="1"/>
          <p:nvPr/>
        </p:nvSpPr>
        <p:spPr>
          <a:xfrm>
            <a:off x="393566" y="4387835"/>
            <a:ext cx="8598034" cy="769441"/>
          </a:xfrm>
          <a:prstGeom prst="rect">
            <a:avLst/>
          </a:prstGeom>
          <a:noFill/>
        </p:spPr>
        <p:txBody>
          <a:bodyPr wrap="square" rtlCol="0">
            <a:spAutoFit/>
          </a:bodyPr>
          <a:lstStyle/>
          <a:p>
            <a:pPr algn="ctr"/>
            <a:r>
              <a:rPr lang="en-US" sz="2200" dirty="0"/>
              <a:t>but knowing when it’s </a:t>
            </a:r>
            <a:r>
              <a:rPr lang="en-US" sz="2200" b="1" dirty="0"/>
              <a:t>okay to do this,</a:t>
            </a:r>
            <a:r>
              <a:rPr lang="en-US" sz="2200" dirty="0"/>
              <a:t> and knowing whether doing this will </a:t>
            </a:r>
            <a:r>
              <a:rPr lang="en-US" sz="2200" b="1" dirty="0"/>
              <a:t>save time or waste time </a:t>
            </a:r>
            <a:r>
              <a:rPr lang="en-US" sz="2200" dirty="0"/>
              <a:t>is really, really complicated.</a:t>
            </a:r>
          </a:p>
        </p:txBody>
      </p:sp>
    </p:spTree>
    <p:extLst>
      <p:ext uri="{BB962C8B-B14F-4D97-AF65-F5344CB8AC3E}">
        <p14:creationId xmlns:p14="http://schemas.microsoft.com/office/powerpoint/2010/main" val="13177076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3ED9-E9EF-684F-8C19-D95B1865981B}"/>
              </a:ext>
            </a:extLst>
          </p:cNvPr>
          <p:cNvSpPr>
            <a:spLocks noGrp="1"/>
          </p:cNvSpPr>
          <p:nvPr>
            <p:ph type="title"/>
          </p:nvPr>
        </p:nvSpPr>
        <p:spPr/>
        <p:txBody>
          <a:bodyPr/>
          <a:lstStyle/>
          <a:p>
            <a:r>
              <a:rPr lang="en-US" dirty="0"/>
              <a:t>Careful now…</a:t>
            </a:r>
          </a:p>
        </p:txBody>
      </p:sp>
      <p:sp>
        <p:nvSpPr>
          <p:cNvPr id="3" name="Content Placeholder 2">
            <a:extLst>
              <a:ext uri="{FF2B5EF4-FFF2-40B4-BE49-F238E27FC236}">
                <a16:creationId xmlns:a16="http://schemas.microsoft.com/office/drawing/2014/main" id="{B5E59E6B-0DD7-1548-BD24-15646EFB1954}"/>
              </a:ext>
            </a:extLst>
          </p:cNvPr>
          <p:cNvSpPr>
            <a:spLocks noGrp="1"/>
          </p:cNvSpPr>
          <p:nvPr>
            <p:ph idx="1"/>
          </p:nvPr>
        </p:nvSpPr>
        <p:spPr>
          <a:xfrm>
            <a:off x="152400" y="495301"/>
            <a:ext cx="8991600" cy="533401"/>
          </a:xfrm>
        </p:spPr>
        <p:txBody>
          <a:bodyPr/>
          <a:lstStyle/>
          <a:p>
            <a:r>
              <a:rPr lang="en-US" dirty="0"/>
              <a:t>remember the "without changing its behavior" part of the definition?</a:t>
            </a:r>
          </a:p>
        </p:txBody>
      </p:sp>
      <p:sp>
        <p:nvSpPr>
          <p:cNvPr id="4" name="Slide Number Placeholder 3">
            <a:extLst>
              <a:ext uri="{FF2B5EF4-FFF2-40B4-BE49-F238E27FC236}">
                <a16:creationId xmlns:a16="http://schemas.microsoft.com/office/drawing/2014/main" id="{3609CE6E-E53B-6B40-9EF2-CBBC660AD81E}"/>
              </a:ext>
            </a:extLst>
          </p:cNvPr>
          <p:cNvSpPr>
            <a:spLocks noGrp="1"/>
          </p:cNvSpPr>
          <p:nvPr>
            <p:ph type="sldNum" sz="quarter" idx="12"/>
          </p:nvPr>
        </p:nvSpPr>
        <p:spPr/>
        <p:txBody>
          <a:bodyPr/>
          <a:lstStyle/>
          <a:p>
            <a:fld id="{3552B95B-556F-44BD-91A5-D80C1B9E2BB3}" type="slidenum">
              <a:rPr lang="en-US" smtClean="0"/>
              <a:pPr/>
              <a:t>9</a:t>
            </a:fld>
            <a:endParaRPr lang="en-US"/>
          </a:p>
        </p:txBody>
      </p:sp>
      <p:sp>
        <p:nvSpPr>
          <p:cNvPr id="5" name="TextBox 4">
            <a:extLst>
              <a:ext uri="{FF2B5EF4-FFF2-40B4-BE49-F238E27FC236}">
                <a16:creationId xmlns:a16="http://schemas.microsoft.com/office/drawing/2014/main" id="{11CCC7B7-722A-D14A-AF2F-5EB7CED621EF}"/>
              </a:ext>
            </a:extLst>
          </p:cNvPr>
          <p:cNvSpPr txBox="1"/>
          <p:nvPr/>
        </p:nvSpPr>
        <p:spPr>
          <a:xfrm>
            <a:off x="1328472" y="952500"/>
            <a:ext cx="2723823" cy="707886"/>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func1(problem(</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func2(problem(</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CB75B07-31C3-B043-A299-FABED10B72C6}"/>
              </a:ext>
            </a:extLst>
          </p:cNvPr>
          <p:cNvSpPr txBox="1"/>
          <p:nvPr/>
        </p:nvSpPr>
        <p:spPr>
          <a:xfrm>
            <a:off x="4792271" y="952500"/>
            <a:ext cx="2864887" cy="1015663"/>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let</a:t>
            </a:r>
            <a:r>
              <a:rPr lang="en-US" sz="2000" b="1" dirty="0">
                <a:latin typeface="Consolas" panose="020B0609020204030204" pitchFamily="49" charset="0"/>
                <a:cs typeface="Consolas" panose="020B0609020204030204" pitchFamily="49" charset="0"/>
              </a:rPr>
              <a:t> v = problem(</a:t>
            </a:r>
            <a:r>
              <a:rPr lang="en-US" sz="2000" b="1" dirty="0">
                <a:solidFill>
                  <a:schemeClr val="accent3">
                    <a:lumMod val="75000"/>
                  </a:schemeClr>
                </a:solidFill>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func1(v);</a:t>
            </a:r>
          </a:p>
          <a:p>
            <a:r>
              <a:rPr lang="en-US" sz="2000" b="1" dirty="0">
                <a:latin typeface="Consolas" panose="020B0609020204030204" pitchFamily="49" charset="0"/>
                <a:cs typeface="Consolas" panose="020B0609020204030204" pitchFamily="49" charset="0"/>
              </a:rPr>
              <a:t>func2(v);</a:t>
            </a:r>
          </a:p>
        </p:txBody>
      </p:sp>
      <p:sp>
        <p:nvSpPr>
          <p:cNvPr id="7" name="Down Arrow 6">
            <a:extLst>
              <a:ext uri="{FF2B5EF4-FFF2-40B4-BE49-F238E27FC236}">
                <a16:creationId xmlns:a16="http://schemas.microsoft.com/office/drawing/2014/main" id="{E3D8D0AB-8320-694E-8791-447A91143EAC}"/>
              </a:ext>
            </a:extLst>
          </p:cNvPr>
          <p:cNvSpPr/>
          <p:nvPr/>
        </p:nvSpPr>
        <p:spPr>
          <a:xfrm rot="16200000">
            <a:off x="4155583" y="1032399"/>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B3683C8-D189-7245-AB30-99B5D5B06C99}"/>
              </a:ext>
            </a:extLst>
          </p:cNvPr>
          <p:cNvSpPr txBox="1"/>
          <p:nvPr/>
        </p:nvSpPr>
        <p:spPr>
          <a:xfrm>
            <a:off x="304800" y="1902141"/>
            <a:ext cx="5193932" cy="430887"/>
          </a:xfrm>
          <a:prstGeom prst="rect">
            <a:avLst/>
          </a:prstGeom>
          <a:noFill/>
        </p:spPr>
        <p:txBody>
          <a:bodyPr wrap="square" rtlCol="0">
            <a:spAutoFit/>
          </a:bodyPr>
          <a:lstStyle/>
          <a:p>
            <a:r>
              <a:rPr lang="en-US" sz="2200" dirty="0"/>
              <a:t>what if </a:t>
            </a:r>
            <a:r>
              <a:rPr lang="en-US" sz="2200" b="1" dirty="0">
                <a:latin typeface="Consolas" panose="020B0609020204030204" pitchFamily="49" charset="0"/>
                <a:cs typeface="Consolas" panose="020B0609020204030204" pitchFamily="49" charset="0"/>
              </a:rPr>
              <a:t>problem</a:t>
            </a:r>
            <a:r>
              <a:rPr lang="en-US" sz="2200" dirty="0"/>
              <a:t> were defined like this:</a:t>
            </a:r>
          </a:p>
        </p:txBody>
      </p:sp>
      <p:sp>
        <p:nvSpPr>
          <p:cNvPr id="9" name="TextBox 8">
            <a:extLst>
              <a:ext uri="{FF2B5EF4-FFF2-40B4-BE49-F238E27FC236}">
                <a16:creationId xmlns:a16="http://schemas.microsoft.com/office/drawing/2014/main" id="{A954A298-82EA-6143-ACA0-8151439CF563}"/>
              </a:ext>
            </a:extLst>
          </p:cNvPr>
          <p:cNvSpPr txBox="1"/>
          <p:nvPr/>
        </p:nvSpPr>
        <p:spPr>
          <a:xfrm>
            <a:off x="304800" y="2347223"/>
            <a:ext cx="3711272" cy="1631216"/>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fn</a:t>
            </a:r>
            <a:r>
              <a:rPr lang="en-US" sz="2000" b="1" dirty="0">
                <a:latin typeface="Consolas" panose="020B0609020204030204" pitchFamily="49" charset="0"/>
                <a:cs typeface="Consolas" panose="020B0609020204030204" pitchFamily="49" charset="0"/>
              </a:rPr>
              <a:t> problem(x: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"problem: "</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return</a:t>
            </a:r>
            <a:r>
              <a:rPr lang="en-US" sz="2000" b="1" dirty="0">
                <a:latin typeface="Consolas" panose="020B0609020204030204" pitchFamily="49" charset="0"/>
                <a:cs typeface="Consolas" panose="020B0609020204030204" pitchFamily="49" charset="0"/>
              </a:rPr>
              <a:t> x;</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657991AA-2BAC-DD48-9AD7-E0A55C6F6B1F}"/>
              </a:ext>
            </a:extLst>
          </p:cNvPr>
          <p:cNvSpPr txBox="1"/>
          <p:nvPr/>
        </p:nvSpPr>
        <p:spPr>
          <a:xfrm>
            <a:off x="4335854" y="2671652"/>
            <a:ext cx="4495800" cy="769441"/>
          </a:xfrm>
          <a:prstGeom prst="rect">
            <a:avLst/>
          </a:prstGeom>
          <a:noFill/>
        </p:spPr>
        <p:txBody>
          <a:bodyPr wrap="square" rtlCol="0">
            <a:spAutoFit/>
          </a:bodyPr>
          <a:lstStyle/>
          <a:p>
            <a:pPr algn="ctr"/>
            <a:r>
              <a:rPr lang="en-US" sz="2200" dirty="0"/>
              <a:t>now the original and "optimized" versions </a:t>
            </a:r>
            <a:r>
              <a:rPr lang="en-US" sz="2200" b="1" dirty="0"/>
              <a:t>do different things!</a:t>
            </a:r>
            <a:endParaRPr lang="en-US" sz="2200" dirty="0"/>
          </a:p>
        </p:txBody>
      </p:sp>
      <p:sp>
        <p:nvSpPr>
          <p:cNvPr id="11" name="TextBox 10">
            <a:extLst>
              <a:ext uri="{FF2B5EF4-FFF2-40B4-BE49-F238E27FC236}">
                <a16:creationId xmlns:a16="http://schemas.microsoft.com/office/drawing/2014/main" id="{FA023E27-C9EE-2D4D-AC25-918A1F75BFF6}"/>
              </a:ext>
            </a:extLst>
          </p:cNvPr>
          <p:cNvSpPr txBox="1"/>
          <p:nvPr/>
        </p:nvSpPr>
        <p:spPr>
          <a:xfrm>
            <a:off x="839541" y="3992634"/>
            <a:ext cx="7464918" cy="1107996"/>
          </a:xfrm>
          <a:prstGeom prst="rect">
            <a:avLst/>
          </a:prstGeom>
          <a:noFill/>
        </p:spPr>
        <p:txBody>
          <a:bodyPr wrap="square" rtlCol="0">
            <a:spAutoFit/>
          </a:bodyPr>
          <a:lstStyle/>
          <a:p>
            <a:pPr algn="ctr"/>
            <a:r>
              <a:rPr lang="en-US" sz="2200" dirty="0"/>
              <a:t>when performing optimizations, we must respect the </a:t>
            </a:r>
            <a:r>
              <a:rPr lang="en-US" sz="2200" b="1" dirty="0"/>
              <a:t>semantics</a:t>
            </a:r>
            <a:r>
              <a:rPr lang="en-US" sz="2200" dirty="0"/>
              <a:t> and </a:t>
            </a:r>
            <a:r>
              <a:rPr lang="en-US" sz="2200" b="1" dirty="0"/>
              <a:t>evaluation rules</a:t>
            </a:r>
            <a:r>
              <a:rPr lang="en-US" sz="2200" dirty="0"/>
              <a:t> of the source language, and we </a:t>
            </a:r>
            <a:r>
              <a:rPr lang="en-US" sz="2200" b="1" dirty="0"/>
              <a:t>cannot ignore side effects.</a:t>
            </a:r>
            <a:endParaRPr lang="en-US" sz="2200" dirty="0"/>
          </a:p>
        </p:txBody>
      </p:sp>
    </p:spTree>
    <p:extLst>
      <p:ext uri="{BB962C8B-B14F-4D97-AF65-F5344CB8AC3E}">
        <p14:creationId xmlns:p14="http://schemas.microsoft.com/office/powerpoint/2010/main" val="40490424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4DA9-B86C-A74A-85BC-1F8BF5CBFA8F}"/>
              </a:ext>
            </a:extLst>
          </p:cNvPr>
          <p:cNvSpPr>
            <a:spLocks noGrp="1"/>
          </p:cNvSpPr>
          <p:nvPr>
            <p:ph type="title"/>
          </p:nvPr>
        </p:nvSpPr>
        <p:spPr/>
        <p:txBody>
          <a:bodyPr/>
          <a:lstStyle/>
          <a:p>
            <a:r>
              <a:rPr lang="en-US" dirty="0"/>
              <a:t>To optimize, or not to optimize?</a:t>
            </a:r>
          </a:p>
        </p:txBody>
      </p:sp>
      <p:sp>
        <p:nvSpPr>
          <p:cNvPr id="3" name="Content Placeholder 2">
            <a:extLst>
              <a:ext uri="{FF2B5EF4-FFF2-40B4-BE49-F238E27FC236}">
                <a16:creationId xmlns:a16="http://schemas.microsoft.com/office/drawing/2014/main" id="{B7236394-31A7-DF41-933C-6A4F493630CC}"/>
              </a:ext>
            </a:extLst>
          </p:cNvPr>
          <p:cNvSpPr>
            <a:spLocks noGrp="1"/>
          </p:cNvSpPr>
          <p:nvPr>
            <p:ph idx="1"/>
          </p:nvPr>
        </p:nvSpPr>
        <p:spPr>
          <a:xfrm>
            <a:off x="152400" y="495301"/>
            <a:ext cx="8991600" cy="495301"/>
          </a:xfrm>
        </p:spPr>
        <p:txBody>
          <a:bodyPr/>
          <a:lstStyle/>
          <a:p>
            <a:r>
              <a:rPr lang="en-US" dirty="0"/>
              <a:t>optimization might sound like a no-brainer. why </a:t>
            </a:r>
            <a:r>
              <a:rPr lang="en-US" i="1" dirty="0"/>
              <a:t>not</a:t>
            </a:r>
            <a:r>
              <a:rPr lang="en-US" dirty="0"/>
              <a:t> do it? well…</a:t>
            </a:r>
          </a:p>
        </p:txBody>
      </p:sp>
      <p:sp>
        <p:nvSpPr>
          <p:cNvPr id="4" name="Slide Number Placeholder 3">
            <a:extLst>
              <a:ext uri="{FF2B5EF4-FFF2-40B4-BE49-F238E27FC236}">
                <a16:creationId xmlns:a16="http://schemas.microsoft.com/office/drawing/2014/main" id="{70611A5C-435E-C64B-81C0-77A3C241EF52}"/>
              </a:ext>
            </a:extLst>
          </p:cNvPr>
          <p:cNvSpPr>
            <a:spLocks noGrp="1"/>
          </p:cNvSpPr>
          <p:nvPr>
            <p:ph type="sldNum" sz="quarter" idx="12"/>
          </p:nvPr>
        </p:nvSpPr>
        <p:spPr/>
        <p:txBody>
          <a:bodyPr/>
          <a:lstStyle/>
          <a:p>
            <a:fld id="{3552B95B-556F-44BD-91A5-D80C1B9E2BB3}" type="slidenum">
              <a:rPr lang="en-US" smtClean="0"/>
              <a:pPr/>
              <a:t>10</a:t>
            </a:fld>
            <a:endParaRPr lang="en-US"/>
          </a:p>
        </p:txBody>
      </p:sp>
      <p:sp>
        <p:nvSpPr>
          <p:cNvPr id="5" name="TextBox 4">
            <a:extLst>
              <a:ext uri="{FF2B5EF4-FFF2-40B4-BE49-F238E27FC236}">
                <a16:creationId xmlns:a16="http://schemas.microsoft.com/office/drawing/2014/main" id="{9D697480-59F0-844D-B031-1196ACE171E2}"/>
              </a:ext>
            </a:extLst>
          </p:cNvPr>
          <p:cNvSpPr txBox="1"/>
          <p:nvPr/>
        </p:nvSpPr>
        <p:spPr>
          <a:xfrm>
            <a:off x="914400" y="1075296"/>
            <a:ext cx="3200400" cy="769441"/>
          </a:xfrm>
          <a:prstGeom prst="rect">
            <a:avLst/>
          </a:prstGeom>
          <a:noFill/>
        </p:spPr>
        <p:txBody>
          <a:bodyPr wrap="square" rtlCol="0">
            <a:spAutoFit/>
          </a:bodyPr>
          <a:lstStyle/>
          <a:p>
            <a:pPr algn="ctr"/>
            <a:r>
              <a:rPr lang="en-US" sz="2200" dirty="0"/>
              <a:t>they can </a:t>
            </a:r>
            <a:r>
              <a:rPr lang="en-US" sz="2200" b="1" dirty="0"/>
              <a:t>slow down compilation, </a:t>
            </a:r>
            <a:r>
              <a:rPr lang="en-US" sz="2200" b="1" i="1" dirty="0"/>
              <a:t>a lot.</a:t>
            </a:r>
            <a:endParaRPr lang="en-US" sz="2200" b="1" dirty="0"/>
          </a:p>
        </p:txBody>
      </p:sp>
      <p:sp>
        <p:nvSpPr>
          <p:cNvPr id="6" name="TextBox 5">
            <a:extLst>
              <a:ext uri="{FF2B5EF4-FFF2-40B4-BE49-F238E27FC236}">
                <a16:creationId xmlns:a16="http://schemas.microsoft.com/office/drawing/2014/main" id="{8E240056-3723-2A44-93CE-B20C7421DD67}"/>
              </a:ext>
            </a:extLst>
          </p:cNvPr>
          <p:cNvSpPr txBox="1"/>
          <p:nvPr/>
        </p:nvSpPr>
        <p:spPr>
          <a:xfrm>
            <a:off x="4953000" y="1017984"/>
            <a:ext cx="3287428" cy="769441"/>
          </a:xfrm>
          <a:prstGeom prst="rect">
            <a:avLst/>
          </a:prstGeom>
          <a:noFill/>
        </p:spPr>
        <p:txBody>
          <a:bodyPr wrap="square" rtlCol="0">
            <a:spAutoFit/>
          </a:bodyPr>
          <a:lstStyle/>
          <a:p>
            <a:pPr algn="ctr"/>
            <a:r>
              <a:rPr lang="en-US" sz="2200" dirty="0"/>
              <a:t>they can be </a:t>
            </a:r>
            <a:r>
              <a:rPr lang="en-US" sz="2200" b="1" dirty="0"/>
              <a:t>difficult to implement correctly.</a:t>
            </a:r>
          </a:p>
        </p:txBody>
      </p:sp>
      <p:sp>
        <p:nvSpPr>
          <p:cNvPr id="7" name="TextBox 6">
            <a:extLst>
              <a:ext uri="{FF2B5EF4-FFF2-40B4-BE49-F238E27FC236}">
                <a16:creationId xmlns:a16="http://schemas.microsoft.com/office/drawing/2014/main" id="{3636A072-35C1-0D4F-B5AA-69C2C8EC5AF1}"/>
              </a:ext>
            </a:extLst>
          </p:cNvPr>
          <p:cNvSpPr txBox="1"/>
          <p:nvPr/>
        </p:nvSpPr>
        <p:spPr>
          <a:xfrm>
            <a:off x="914400" y="2926259"/>
            <a:ext cx="3276600" cy="769441"/>
          </a:xfrm>
          <a:prstGeom prst="rect">
            <a:avLst/>
          </a:prstGeom>
          <a:noFill/>
        </p:spPr>
        <p:txBody>
          <a:bodyPr wrap="square" rtlCol="0">
            <a:spAutoFit/>
          </a:bodyPr>
          <a:lstStyle/>
          <a:p>
            <a:pPr algn="ctr"/>
            <a:r>
              <a:rPr lang="en-US" sz="2200" dirty="0"/>
              <a:t>they may </a:t>
            </a:r>
            <a:r>
              <a:rPr lang="en-US" sz="2200" b="1" dirty="0"/>
              <a:t>only give a small improvement.</a:t>
            </a:r>
          </a:p>
        </p:txBody>
      </p:sp>
      <p:sp>
        <p:nvSpPr>
          <p:cNvPr id="8" name="TextBox 7">
            <a:extLst>
              <a:ext uri="{FF2B5EF4-FFF2-40B4-BE49-F238E27FC236}">
                <a16:creationId xmlns:a16="http://schemas.microsoft.com/office/drawing/2014/main" id="{4ADB46FA-78A3-3B45-A9AB-828C5E47B5A3}"/>
              </a:ext>
            </a:extLst>
          </p:cNvPr>
          <p:cNvSpPr txBox="1"/>
          <p:nvPr/>
        </p:nvSpPr>
        <p:spPr>
          <a:xfrm>
            <a:off x="4748864" y="2917257"/>
            <a:ext cx="3709336" cy="769441"/>
          </a:xfrm>
          <a:prstGeom prst="rect">
            <a:avLst/>
          </a:prstGeom>
          <a:noFill/>
        </p:spPr>
        <p:txBody>
          <a:bodyPr wrap="square" rtlCol="0">
            <a:spAutoFit/>
          </a:bodyPr>
          <a:lstStyle/>
          <a:p>
            <a:pPr algn="ctr"/>
            <a:r>
              <a:rPr lang="en-US" sz="2200" dirty="0"/>
              <a:t>they can make it </a:t>
            </a:r>
            <a:r>
              <a:rPr lang="en-US" sz="2200" b="1" dirty="0"/>
              <a:t>harder to debug a running program.</a:t>
            </a:r>
          </a:p>
        </p:txBody>
      </p:sp>
      <p:sp>
        <p:nvSpPr>
          <p:cNvPr id="9" name="TextBox 8">
            <a:extLst>
              <a:ext uri="{FF2B5EF4-FFF2-40B4-BE49-F238E27FC236}">
                <a16:creationId xmlns:a16="http://schemas.microsoft.com/office/drawing/2014/main" id="{65775DD0-9484-2A4D-B702-6CA706247F60}"/>
              </a:ext>
            </a:extLst>
          </p:cNvPr>
          <p:cNvSpPr txBox="1"/>
          <p:nvPr/>
        </p:nvSpPr>
        <p:spPr>
          <a:xfrm>
            <a:off x="457200" y="1915394"/>
            <a:ext cx="4114800" cy="307777"/>
          </a:xfrm>
          <a:prstGeom prst="rect">
            <a:avLst/>
          </a:prstGeom>
          <a:solidFill>
            <a:schemeClr val="tx1"/>
          </a:solidFill>
        </p:spPr>
        <p:txBody>
          <a:bodyPr wrap="square" rtlCol="0">
            <a:spAutoFit/>
          </a:bodyPr>
          <a:lstStyle/>
          <a:p>
            <a:r>
              <a:rPr lang="en-US" sz="1400" b="1" dirty="0">
                <a:solidFill>
                  <a:srgbClr val="00B050"/>
                </a:solidFill>
                <a:latin typeface="Consolas" panose="020B0609020204030204" pitchFamily="49" charset="0"/>
                <a:cs typeface="Consolas" panose="020B0609020204030204" pitchFamily="49" charset="0"/>
              </a:rPr>
              <a:t>Finished</a:t>
            </a:r>
            <a:r>
              <a:rPr lang="en-US" sz="1400" b="1" dirty="0">
                <a:solidFill>
                  <a:schemeClr val="accent3">
                    <a:lumMod val="75000"/>
                  </a:schemeClr>
                </a:solidFill>
                <a:latin typeface="Consolas" panose="020B0609020204030204" pitchFamily="49" charset="0"/>
                <a:cs typeface="Consolas" panose="020B0609020204030204" pitchFamily="49" charset="0"/>
              </a:rPr>
              <a:t> </a:t>
            </a:r>
            <a:r>
              <a:rPr lang="en-US" sz="1400" b="1" dirty="0">
                <a:solidFill>
                  <a:schemeClr val="bg2"/>
                </a:solidFill>
                <a:latin typeface="Consolas" panose="020B0609020204030204" pitchFamily="49" charset="0"/>
                <a:cs typeface="Consolas" panose="020B0609020204030204" pitchFamily="49" charset="0"/>
              </a:rPr>
              <a:t>[release] target(s) in 1859.3s</a:t>
            </a:r>
          </a:p>
        </p:txBody>
      </p:sp>
      <p:sp>
        <p:nvSpPr>
          <p:cNvPr id="10" name="TextBox 9">
            <a:extLst>
              <a:ext uri="{FF2B5EF4-FFF2-40B4-BE49-F238E27FC236}">
                <a16:creationId xmlns:a16="http://schemas.microsoft.com/office/drawing/2014/main" id="{6A301F60-013C-914F-98FD-C17C2DECDE38}"/>
              </a:ext>
            </a:extLst>
          </p:cNvPr>
          <p:cNvSpPr txBox="1"/>
          <p:nvPr/>
        </p:nvSpPr>
        <p:spPr>
          <a:xfrm>
            <a:off x="5477376" y="1915394"/>
            <a:ext cx="2252312" cy="954107"/>
          </a:xfrm>
          <a:prstGeom prst="rect">
            <a:avLst/>
          </a:prstGeom>
          <a:solidFill>
            <a:schemeClr val="tx1"/>
          </a:solidFill>
        </p:spPr>
        <p:txBody>
          <a:bodyPr wrap="square" rtlCol="0">
            <a:spAutoFit/>
          </a:bodyPr>
          <a:lstStyle/>
          <a:p>
            <a:r>
              <a:rPr lang="en-US" sz="1400" b="1" dirty="0">
                <a:solidFill>
                  <a:schemeClr val="bg2"/>
                </a:solidFill>
                <a:latin typeface="Consolas" panose="020B0609020204030204" pitchFamily="49" charset="0"/>
                <a:cs typeface="Consolas" panose="020B0609020204030204" pitchFamily="49" charset="0"/>
              </a:rPr>
              <a:t>$ ./hello</a:t>
            </a:r>
          </a:p>
          <a:p>
            <a:r>
              <a:rPr lang="en-US" sz="1400" b="1" dirty="0">
                <a:solidFill>
                  <a:schemeClr val="bg2"/>
                </a:solidFill>
                <a:latin typeface="Consolas" panose="020B0609020204030204" pitchFamily="49" charset="0"/>
                <a:cs typeface="Consolas" panose="020B0609020204030204" pitchFamily="49" charset="0"/>
              </a:rPr>
              <a:t>Hello, world!</a:t>
            </a:r>
          </a:p>
          <a:p>
            <a:r>
              <a:rPr lang="en-US" sz="1400" b="1" dirty="0">
                <a:solidFill>
                  <a:schemeClr val="bg2"/>
                </a:solidFill>
                <a:latin typeface="Consolas" panose="020B0609020204030204" pitchFamily="49" charset="0"/>
                <a:cs typeface="Consolas" panose="020B0609020204030204" pitchFamily="49" charset="0"/>
              </a:rPr>
              <a:t>$ ./</a:t>
            </a:r>
            <a:r>
              <a:rPr lang="en-US" sz="1400" b="1" dirty="0" err="1">
                <a:solidFill>
                  <a:schemeClr val="bg2"/>
                </a:solidFill>
                <a:latin typeface="Consolas" panose="020B0609020204030204" pitchFamily="49" charset="0"/>
                <a:cs typeface="Consolas" panose="020B0609020204030204" pitchFamily="49" charset="0"/>
              </a:rPr>
              <a:t>hello_optimized</a:t>
            </a:r>
            <a:endParaRPr lang="en-US" sz="1400" b="1" dirty="0">
              <a:solidFill>
                <a:schemeClr val="bg2"/>
              </a:solidFill>
              <a:latin typeface="Consolas" panose="020B0609020204030204" pitchFamily="49" charset="0"/>
              <a:cs typeface="Consolas" panose="020B0609020204030204" pitchFamily="49" charset="0"/>
            </a:endParaRPr>
          </a:p>
          <a:p>
            <a:r>
              <a:rPr lang="en-US" sz="1400" b="1" dirty="0">
                <a:solidFill>
                  <a:schemeClr val="bg2"/>
                </a:solidFill>
                <a:latin typeface="Consolas" panose="020B0609020204030204" pitchFamily="49" charset="0"/>
                <a:cs typeface="Consolas" panose="020B0609020204030204" pitchFamily="49" charset="0"/>
              </a:rPr>
              <a:t>Segmentation fault</a:t>
            </a:r>
          </a:p>
        </p:txBody>
      </p:sp>
      <p:sp>
        <p:nvSpPr>
          <p:cNvPr id="11" name="TextBox 10">
            <a:extLst>
              <a:ext uri="{FF2B5EF4-FFF2-40B4-BE49-F238E27FC236}">
                <a16:creationId xmlns:a16="http://schemas.microsoft.com/office/drawing/2014/main" id="{40585A5D-4EE5-114B-AB3A-A450E1A11FF7}"/>
              </a:ext>
            </a:extLst>
          </p:cNvPr>
          <p:cNvSpPr txBox="1"/>
          <p:nvPr/>
        </p:nvSpPr>
        <p:spPr>
          <a:xfrm>
            <a:off x="1426544" y="3771900"/>
            <a:ext cx="2252312" cy="954107"/>
          </a:xfrm>
          <a:prstGeom prst="rect">
            <a:avLst/>
          </a:prstGeom>
          <a:solidFill>
            <a:schemeClr val="tx1"/>
          </a:solidFill>
        </p:spPr>
        <p:txBody>
          <a:bodyPr wrap="square" rtlCol="0">
            <a:spAutoFit/>
          </a:bodyPr>
          <a:lstStyle/>
          <a:p>
            <a:r>
              <a:rPr lang="en-US" sz="1400" b="1" dirty="0">
                <a:solidFill>
                  <a:schemeClr val="bg2"/>
                </a:solidFill>
                <a:latin typeface="Consolas" panose="020B0609020204030204" pitchFamily="49" charset="0"/>
                <a:cs typeface="Consolas" panose="020B0609020204030204" pitchFamily="49" charset="0"/>
              </a:rPr>
              <a:t>$ ./bench</a:t>
            </a:r>
          </a:p>
          <a:p>
            <a:r>
              <a:rPr lang="en-US" sz="1400" b="1" dirty="0">
                <a:solidFill>
                  <a:schemeClr val="bg2"/>
                </a:solidFill>
                <a:latin typeface="Consolas" panose="020B0609020204030204" pitchFamily="49" charset="0"/>
                <a:cs typeface="Consolas" panose="020B0609020204030204" pitchFamily="49" charset="0"/>
              </a:rPr>
              <a:t>18.93s</a:t>
            </a:r>
          </a:p>
          <a:p>
            <a:r>
              <a:rPr lang="en-US" sz="1400" b="1" dirty="0">
                <a:solidFill>
                  <a:schemeClr val="bg2"/>
                </a:solidFill>
                <a:latin typeface="Consolas" panose="020B0609020204030204" pitchFamily="49" charset="0"/>
                <a:cs typeface="Consolas" panose="020B0609020204030204" pitchFamily="49" charset="0"/>
              </a:rPr>
              <a:t>$ ./</a:t>
            </a:r>
            <a:r>
              <a:rPr lang="en-US" sz="1400" b="1" dirty="0" err="1">
                <a:solidFill>
                  <a:schemeClr val="bg2"/>
                </a:solidFill>
                <a:latin typeface="Consolas" panose="020B0609020204030204" pitchFamily="49" charset="0"/>
                <a:cs typeface="Consolas" panose="020B0609020204030204" pitchFamily="49" charset="0"/>
              </a:rPr>
              <a:t>bench_optimized</a:t>
            </a:r>
            <a:endParaRPr lang="en-US" sz="1400" b="1" dirty="0">
              <a:solidFill>
                <a:schemeClr val="bg2"/>
              </a:solidFill>
              <a:latin typeface="Consolas" panose="020B0609020204030204" pitchFamily="49" charset="0"/>
              <a:cs typeface="Consolas" panose="020B0609020204030204" pitchFamily="49" charset="0"/>
            </a:endParaRPr>
          </a:p>
          <a:p>
            <a:r>
              <a:rPr lang="en-US" sz="1400" b="1" dirty="0">
                <a:solidFill>
                  <a:schemeClr val="bg2"/>
                </a:solidFill>
                <a:latin typeface="Consolas" panose="020B0609020204030204" pitchFamily="49" charset="0"/>
                <a:cs typeface="Consolas" panose="020B0609020204030204" pitchFamily="49" charset="0"/>
              </a:rPr>
              <a:t>18.11s</a:t>
            </a:r>
          </a:p>
        </p:txBody>
      </p:sp>
      <p:sp>
        <p:nvSpPr>
          <p:cNvPr id="12" name="TextBox 11">
            <a:extLst>
              <a:ext uri="{FF2B5EF4-FFF2-40B4-BE49-F238E27FC236}">
                <a16:creationId xmlns:a16="http://schemas.microsoft.com/office/drawing/2014/main" id="{D7D16C20-AA09-764B-976F-AAB1F15E2A4F}"/>
              </a:ext>
            </a:extLst>
          </p:cNvPr>
          <p:cNvSpPr txBox="1"/>
          <p:nvPr/>
        </p:nvSpPr>
        <p:spPr>
          <a:xfrm>
            <a:off x="5053664" y="3740217"/>
            <a:ext cx="3099736" cy="954107"/>
          </a:xfrm>
          <a:prstGeom prst="rect">
            <a:avLst/>
          </a:prstGeom>
          <a:solidFill>
            <a:schemeClr val="tx1"/>
          </a:solidFill>
        </p:spPr>
        <p:txBody>
          <a:bodyPr wrap="square" rtlCol="0">
            <a:spAutoFit/>
          </a:bodyPr>
          <a:lstStyle/>
          <a:p>
            <a:r>
              <a:rPr lang="en-US" sz="1400" b="1" dirty="0">
                <a:solidFill>
                  <a:schemeClr val="bg2"/>
                </a:solidFill>
                <a:latin typeface="Consolas" panose="020B0609020204030204" pitchFamily="49" charset="0"/>
                <a:cs typeface="Consolas" panose="020B0609020204030204" pitchFamily="49" charset="0"/>
              </a:rPr>
              <a:t>$ </a:t>
            </a:r>
            <a:r>
              <a:rPr lang="en-US" sz="1400" b="1" dirty="0" err="1">
                <a:solidFill>
                  <a:schemeClr val="bg2"/>
                </a:solidFill>
                <a:latin typeface="Consolas" panose="020B0609020204030204" pitchFamily="49" charset="0"/>
                <a:cs typeface="Consolas" panose="020B0609020204030204" pitchFamily="49" charset="0"/>
              </a:rPr>
              <a:t>gdb</a:t>
            </a:r>
            <a:r>
              <a:rPr lang="en-US" sz="1400" b="1" dirty="0">
                <a:solidFill>
                  <a:schemeClr val="bg2"/>
                </a:solidFill>
                <a:latin typeface="Consolas" panose="020B0609020204030204" pitchFamily="49" charset="0"/>
                <a:cs typeface="Consolas" panose="020B0609020204030204" pitchFamily="49" charset="0"/>
              </a:rPr>
              <a:t> </a:t>
            </a:r>
            <a:r>
              <a:rPr lang="en-US" sz="1400" b="1" dirty="0" err="1">
                <a:solidFill>
                  <a:schemeClr val="bg2"/>
                </a:solidFill>
                <a:latin typeface="Consolas" panose="020B0609020204030204" pitchFamily="49" charset="0"/>
                <a:cs typeface="Consolas" panose="020B0609020204030204" pitchFamily="49" charset="0"/>
              </a:rPr>
              <a:t>bench_optimized</a:t>
            </a:r>
            <a:endParaRPr lang="en-US" sz="1400" b="1" dirty="0">
              <a:solidFill>
                <a:schemeClr val="bg2"/>
              </a:solidFill>
              <a:latin typeface="Consolas" panose="020B0609020204030204" pitchFamily="49" charset="0"/>
              <a:cs typeface="Consolas" panose="020B0609020204030204" pitchFamily="49" charset="0"/>
            </a:endParaRPr>
          </a:p>
          <a:p>
            <a:r>
              <a:rPr lang="en-US" sz="1400" b="1" dirty="0">
                <a:solidFill>
                  <a:schemeClr val="bg2"/>
                </a:solidFill>
                <a:latin typeface="Consolas" panose="020B0609020204030204" pitchFamily="49" charset="0"/>
                <a:cs typeface="Consolas" panose="020B0609020204030204" pitchFamily="49" charset="0"/>
              </a:rPr>
              <a:t>(</a:t>
            </a:r>
            <a:r>
              <a:rPr lang="en-US" sz="1400" b="1" dirty="0" err="1">
                <a:solidFill>
                  <a:schemeClr val="bg2"/>
                </a:solidFill>
                <a:latin typeface="Consolas" panose="020B0609020204030204" pitchFamily="49" charset="0"/>
                <a:cs typeface="Consolas" panose="020B0609020204030204" pitchFamily="49" charset="0"/>
              </a:rPr>
              <a:t>gdb</a:t>
            </a:r>
            <a:r>
              <a:rPr lang="en-US" sz="1400" b="1" dirty="0">
                <a:solidFill>
                  <a:schemeClr val="bg2"/>
                </a:solidFill>
                <a:latin typeface="Consolas" panose="020B0609020204030204" pitchFamily="49" charset="0"/>
                <a:cs typeface="Consolas" panose="020B0609020204030204" pitchFamily="49" charset="0"/>
              </a:rPr>
              <a:t>) b main</a:t>
            </a:r>
          </a:p>
          <a:p>
            <a:r>
              <a:rPr lang="en-US" sz="1400" b="1" dirty="0">
                <a:solidFill>
                  <a:schemeClr val="bg2"/>
                </a:solidFill>
                <a:latin typeface="Consolas" panose="020B0609020204030204" pitchFamily="49" charset="0"/>
                <a:cs typeface="Consolas" panose="020B0609020204030204" pitchFamily="49" charset="0"/>
              </a:rPr>
              <a:t>Function "main" not defined.</a:t>
            </a:r>
          </a:p>
          <a:p>
            <a:r>
              <a:rPr lang="en-US" sz="1400" b="1" dirty="0">
                <a:solidFill>
                  <a:schemeClr val="bg2"/>
                </a:solidFill>
                <a:latin typeface="Consolas" panose="020B0609020204030204" pitchFamily="49" charset="0"/>
                <a:cs typeface="Consolas" panose="020B0609020204030204" pitchFamily="49" charset="0"/>
              </a:rPr>
              <a:t>(</a:t>
            </a:r>
            <a:r>
              <a:rPr lang="en-US" sz="1400" b="1" dirty="0" err="1">
                <a:solidFill>
                  <a:schemeClr val="bg2"/>
                </a:solidFill>
                <a:latin typeface="Consolas" panose="020B0609020204030204" pitchFamily="49" charset="0"/>
                <a:cs typeface="Consolas" panose="020B0609020204030204" pitchFamily="49" charset="0"/>
              </a:rPr>
              <a:t>gdb</a:t>
            </a:r>
            <a:r>
              <a:rPr lang="en-US" sz="1400" b="1" dirty="0">
                <a:solidFill>
                  <a:schemeClr val="bg2"/>
                </a:solidFill>
                <a:latin typeface="Consolas" panose="020B0609020204030204" pitchFamily="49" charset="0"/>
                <a:cs typeface="Consolas" panose="020B0609020204030204" pitchFamily="49" charset="0"/>
              </a:rPr>
              <a:t>) _</a:t>
            </a:r>
          </a:p>
        </p:txBody>
      </p:sp>
      <p:sp>
        <p:nvSpPr>
          <p:cNvPr id="13" name="TextBox 12">
            <a:extLst>
              <a:ext uri="{FF2B5EF4-FFF2-40B4-BE49-F238E27FC236}">
                <a16:creationId xmlns:a16="http://schemas.microsoft.com/office/drawing/2014/main" id="{4D22EAFA-5883-9647-85F1-3E838E1C7BD0}"/>
              </a:ext>
            </a:extLst>
          </p:cNvPr>
          <p:cNvSpPr txBox="1"/>
          <p:nvPr/>
        </p:nvSpPr>
        <p:spPr>
          <a:xfrm>
            <a:off x="2133600" y="4875075"/>
            <a:ext cx="4876800" cy="430887"/>
          </a:xfrm>
          <a:prstGeom prst="rect">
            <a:avLst/>
          </a:prstGeom>
          <a:noFill/>
        </p:spPr>
        <p:txBody>
          <a:bodyPr wrap="square" rtlCol="0">
            <a:spAutoFit/>
          </a:bodyPr>
          <a:lstStyle/>
          <a:p>
            <a:pPr algn="ctr"/>
            <a:r>
              <a:rPr lang="en-US" sz="2200" dirty="0"/>
              <a:t>or some combination of all of these!</a:t>
            </a:r>
            <a:endParaRPr lang="en-US" sz="2200" b="1" dirty="0"/>
          </a:p>
        </p:txBody>
      </p:sp>
    </p:spTree>
    <p:extLst>
      <p:ext uri="{BB962C8B-B14F-4D97-AF65-F5344CB8AC3E}">
        <p14:creationId xmlns:p14="http://schemas.microsoft.com/office/powerpoint/2010/main" val="14311461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animBg="1"/>
      <p:bldP spid="10" grpId="0" animBg="1"/>
      <p:bldP spid="11" grpId="0" animBg="1"/>
      <p:bldP spid="12"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19E-3A00-8F44-97EB-D8BCDFF374CE}"/>
              </a:ext>
            </a:extLst>
          </p:cNvPr>
          <p:cNvSpPr>
            <a:spLocks noGrp="1"/>
          </p:cNvSpPr>
          <p:nvPr>
            <p:ph type="ctrTitle"/>
          </p:nvPr>
        </p:nvSpPr>
        <p:spPr/>
        <p:txBody>
          <a:bodyPr/>
          <a:lstStyle/>
          <a:p>
            <a:r>
              <a:rPr lang="en-US" dirty="0"/>
              <a:t>Peephole Optimizations</a:t>
            </a:r>
          </a:p>
        </p:txBody>
      </p:sp>
      <p:sp>
        <p:nvSpPr>
          <p:cNvPr id="3" name="Slide Number Placeholder 2">
            <a:extLst>
              <a:ext uri="{FF2B5EF4-FFF2-40B4-BE49-F238E27FC236}">
                <a16:creationId xmlns:a16="http://schemas.microsoft.com/office/drawing/2014/main" id="{EA6BD6AD-CA40-3949-B363-43E4120591CB}"/>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33494425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B245-C5DE-C44B-AD25-94BF5A6AEAB9}"/>
              </a:ext>
            </a:extLst>
          </p:cNvPr>
          <p:cNvSpPr>
            <a:spLocks noGrp="1"/>
          </p:cNvSpPr>
          <p:nvPr>
            <p:ph type="title"/>
          </p:nvPr>
        </p:nvSpPr>
        <p:spPr/>
        <p:txBody>
          <a:bodyPr/>
          <a:lstStyle/>
          <a:p>
            <a:r>
              <a:rPr lang="en-US" dirty="0"/>
              <a:t>Starting small</a:t>
            </a:r>
          </a:p>
        </p:txBody>
      </p:sp>
      <p:sp>
        <p:nvSpPr>
          <p:cNvPr id="3" name="Content Placeholder 2">
            <a:extLst>
              <a:ext uri="{FF2B5EF4-FFF2-40B4-BE49-F238E27FC236}">
                <a16:creationId xmlns:a16="http://schemas.microsoft.com/office/drawing/2014/main" id="{11CFEAF5-641D-B949-AD2A-66576EACF115}"/>
              </a:ext>
            </a:extLst>
          </p:cNvPr>
          <p:cNvSpPr>
            <a:spLocks noGrp="1"/>
          </p:cNvSpPr>
          <p:nvPr>
            <p:ph idx="1"/>
          </p:nvPr>
        </p:nvSpPr>
        <p:spPr>
          <a:xfrm>
            <a:off x="152400" y="495301"/>
            <a:ext cx="8991600" cy="1523999"/>
          </a:xfrm>
        </p:spPr>
        <p:txBody>
          <a:bodyPr/>
          <a:lstStyle/>
          <a:p>
            <a:r>
              <a:rPr lang="en-US" dirty="0"/>
              <a:t>the simplest kinds of optimizations are </a:t>
            </a:r>
            <a:r>
              <a:rPr lang="en-US" b="1" dirty="0"/>
              <a:t>peephole optimizations: </a:t>
            </a:r>
            <a:r>
              <a:rPr lang="en-US" dirty="0"/>
              <a:t>they work on the level of one or two instructions at a time.</a:t>
            </a:r>
          </a:p>
          <a:p>
            <a:r>
              <a:rPr lang="en-US" dirty="0"/>
              <a:t>despite their simplicity, </a:t>
            </a:r>
            <a:r>
              <a:rPr lang="en-US" b="1" dirty="0"/>
              <a:t>they are the foundation </a:t>
            </a:r>
            <a:r>
              <a:rPr lang="en-US" dirty="0"/>
              <a:t>of all the more complicated kinds of optimizations.</a:t>
            </a:r>
          </a:p>
        </p:txBody>
      </p:sp>
      <p:sp>
        <p:nvSpPr>
          <p:cNvPr id="4" name="Slide Number Placeholder 3">
            <a:extLst>
              <a:ext uri="{FF2B5EF4-FFF2-40B4-BE49-F238E27FC236}">
                <a16:creationId xmlns:a16="http://schemas.microsoft.com/office/drawing/2014/main" id="{502F8810-371F-D647-AA22-5B32931B5801}"/>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5" name="TextBox 4">
            <a:extLst>
              <a:ext uri="{FF2B5EF4-FFF2-40B4-BE49-F238E27FC236}">
                <a16:creationId xmlns:a16="http://schemas.microsoft.com/office/drawing/2014/main" id="{5ACAB442-0883-AE43-BE87-E71FF2BF3111}"/>
              </a:ext>
            </a:extLst>
          </p:cNvPr>
          <p:cNvSpPr txBox="1"/>
          <p:nvPr/>
        </p:nvSpPr>
        <p:spPr>
          <a:xfrm>
            <a:off x="228600" y="4076700"/>
            <a:ext cx="2514600" cy="769441"/>
          </a:xfrm>
          <a:prstGeom prst="rect">
            <a:avLst/>
          </a:prstGeom>
          <a:noFill/>
        </p:spPr>
        <p:txBody>
          <a:bodyPr wrap="square" rtlCol="0">
            <a:spAutoFit/>
          </a:bodyPr>
          <a:lstStyle/>
          <a:p>
            <a:pPr algn="ctr"/>
            <a:r>
              <a:rPr lang="en-US" sz="2200" dirty="0"/>
              <a:t>doing peephole optimizations…</a:t>
            </a:r>
          </a:p>
        </p:txBody>
      </p:sp>
      <p:sp>
        <p:nvSpPr>
          <p:cNvPr id="6" name="TextBox 5">
            <a:extLst>
              <a:ext uri="{FF2B5EF4-FFF2-40B4-BE49-F238E27FC236}">
                <a16:creationId xmlns:a16="http://schemas.microsoft.com/office/drawing/2014/main" id="{C5D22958-37D2-B448-8BDA-9FA006DFF0C8}"/>
              </a:ext>
            </a:extLst>
          </p:cNvPr>
          <p:cNvSpPr txBox="1"/>
          <p:nvPr/>
        </p:nvSpPr>
        <p:spPr>
          <a:xfrm>
            <a:off x="2782111" y="4076700"/>
            <a:ext cx="3200400" cy="1107996"/>
          </a:xfrm>
          <a:prstGeom prst="rect">
            <a:avLst/>
          </a:prstGeom>
          <a:noFill/>
        </p:spPr>
        <p:txBody>
          <a:bodyPr wrap="square" rtlCol="0">
            <a:spAutoFit/>
          </a:bodyPr>
          <a:lstStyle/>
          <a:p>
            <a:pPr algn="ctr"/>
            <a:r>
              <a:rPr lang="en-US" sz="2200" dirty="0"/>
              <a:t>…can open up opportunities for larger local optimizations…</a:t>
            </a:r>
          </a:p>
        </p:txBody>
      </p:sp>
      <p:sp>
        <p:nvSpPr>
          <p:cNvPr id="7" name="TextBox 6">
            <a:extLst>
              <a:ext uri="{FF2B5EF4-FFF2-40B4-BE49-F238E27FC236}">
                <a16:creationId xmlns:a16="http://schemas.microsoft.com/office/drawing/2014/main" id="{39D7D916-4210-784E-8677-4EB0D28B3F18}"/>
              </a:ext>
            </a:extLst>
          </p:cNvPr>
          <p:cNvSpPr txBox="1"/>
          <p:nvPr/>
        </p:nvSpPr>
        <p:spPr>
          <a:xfrm>
            <a:off x="6249211" y="4076700"/>
            <a:ext cx="2551889" cy="1107996"/>
          </a:xfrm>
          <a:prstGeom prst="rect">
            <a:avLst/>
          </a:prstGeom>
          <a:noFill/>
        </p:spPr>
        <p:txBody>
          <a:bodyPr wrap="square" rtlCol="0">
            <a:spAutoFit/>
          </a:bodyPr>
          <a:lstStyle/>
          <a:p>
            <a:pPr algn="ctr"/>
            <a:r>
              <a:rPr lang="en-US" sz="2200" dirty="0"/>
              <a:t>…which are the basis for global optimizations.</a:t>
            </a:r>
          </a:p>
        </p:txBody>
      </p:sp>
      <p:sp>
        <p:nvSpPr>
          <p:cNvPr id="8" name="TextBox 7">
            <a:extLst>
              <a:ext uri="{FF2B5EF4-FFF2-40B4-BE49-F238E27FC236}">
                <a16:creationId xmlns:a16="http://schemas.microsoft.com/office/drawing/2014/main" id="{EF9B1785-33FB-BB42-8680-BA4B796CB934}"/>
              </a:ext>
            </a:extLst>
          </p:cNvPr>
          <p:cNvSpPr txBox="1"/>
          <p:nvPr/>
        </p:nvSpPr>
        <p:spPr>
          <a:xfrm>
            <a:off x="688245" y="2152590"/>
            <a:ext cx="1595309"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a = </a:t>
            </a:r>
            <a:r>
              <a:rPr lang="en-US" sz="2000" b="1" dirty="0">
                <a:solidFill>
                  <a:schemeClr val="accent3">
                    <a:lumMod val="75000"/>
                  </a:schemeClr>
                </a:solidFill>
                <a:latin typeface="Consolas" panose="020B0609020204030204" pitchFamily="49" charset="0"/>
                <a:cs typeface="Consolas" panose="020B0609020204030204" pitchFamily="49" charset="0"/>
              </a:rPr>
              <a:t>5</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9" name="TextBox 8">
            <a:extLst>
              <a:ext uri="{FF2B5EF4-FFF2-40B4-BE49-F238E27FC236}">
                <a16:creationId xmlns:a16="http://schemas.microsoft.com/office/drawing/2014/main" id="{B5373BF8-16BA-D947-9A1F-75DDADE7E7F9}"/>
              </a:ext>
            </a:extLst>
          </p:cNvPr>
          <p:cNvSpPr txBox="1"/>
          <p:nvPr/>
        </p:nvSpPr>
        <p:spPr>
          <a:xfrm>
            <a:off x="688245" y="3134274"/>
            <a:ext cx="1313180" cy="400110"/>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a = </a:t>
            </a:r>
            <a:r>
              <a:rPr lang="en-US" sz="2000" b="1" dirty="0">
                <a:solidFill>
                  <a:srgbClr val="FF0000"/>
                </a:solidFill>
                <a:latin typeface="Consolas" panose="020B0609020204030204" pitchFamily="49" charset="0"/>
                <a:cs typeface="Consolas" panose="020B0609020204030204" pitchFamily="49" charset="0"/>
              </a:rPr>
              <a:t>true</a:t>
            </a:r>
          </a:p>
        </p:txBody>
      </p:sp>
      <p:sp>
        <p:nvSpPr>
          <p:cNvPr id="10" name="Down Arrow 9">
            <a:extLst>
              <a:ext uri="{FF2B5EF4-FFF2-40B4-BE49-F238E27FC236}">
                <a16:creationId xmlns:a16="http://schemas.microsoft.com/office/drawing/2014/main" id="{DC298CF8-DF20-3843-8E4E-96D3BB02FCC8}"/>
              </a:ext>
            </a:extLst>
          </p:cNvPr>
          <p:cNvSpPr/>
          <p:nvPr/>
        </p:nvSpPr>
        <p:spPr>
          <a:xfrm>
            <a:off x="1295398" y="2668629"/>
            <a:ext cx="381001" cy="377741"/>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67C586-23A9-4E40-8622-0A5BFAA3221B}"/>
              </a:ext>
            </a:extLst>
          </p:cNvPr>
          <p:cNvSpPr txBox="1"/>
          <p:nvPr/>
        </p:nvSpPr>
        <p:spPr>
          <a:xfrm>
            <a:off x="3011826" y="2003167"/>
            <a:ext cx="1957587" cy="923330"/>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a = </a:t>
            </a:r>
            <a:r>
              <a:rPr lang="en-US" sz="1800" b="1" dirty="0">
                <a:solidFill>
                  <a:srgbClr val="FF0000"/>
                </a:solidFill>
                <a:latin typeface="Consolas" panose="020B0609020204030204" pitchFamily="49" charset="0"/>
                <a:cs typeface="Consolas" panose="020B0609020204030204" pitchFamily="49" charset="0"/>
              </a:rPr>
              <a:t>true</a:t>
            </a:r>
          </a:p>
          <a:p>
            <a:r>
              <a:rPr lang="en-US" sz="1800" b="1" dirty="0">
                <a:solidFill>
                  <a:srgbClr val="FF0000"/>
                </a:solidFill>
                <a:latin typeface="Consolas" panose="020B0609020204030204" pitchFamily="49" charset="0"/>
                <a:cs typeface="Consolas" panose="020B0609020204030204" pitchFamily="49" charset="0"/>
              </a:rPr>
              <a:t>if </a:t>
            </a:r>
            <a:r>
              <a:rPr lang="en-US" sz="1800" b="1" dirty="0">
                <a:latin typeface="Consolas" panose="020B0609020204030204" pitchFamily="49" charset="0"/>
                <a:cs typeface="Consolas" panose="020B0609020204030204" pitchFamily="49" charset="0"/>
              </a:rPr>
              <a:t>a</a:t>
            </a:r>
            <a:r>
              <a:rPr lang="en-US" sz="1800" b="1" dirty="0">
                <a:solidFill>
                  <a:srgbClr val="FF0000"/>
                </a:solidFill>
                <a:latin typeface="Consolas" panose="020B0609020204030204" pitchFamily="49" charset="0"/>
                <a:cs typeface="Consolas" panose="020B0609020204030204" pitchFamily="49" charset="0"/>
              </a:rPr>
              <a:t> then </a:t>
            </a:r>
            <a:r>
              <a:rPr lang="en-US" sz="1800" b="1" dirty="0">
                <a:latin typeface="Consolas" panose="020B0609020204030204" pitchFamily="49" charset="0"/>
                <a:cs typeface="Consolas" panose="020B0609020204030204" pitchFamily="49" charset="0"/>
              </a:rPr>
              <a:t>bb1</a:t>
            </a:r>
            <a:r>
              <a:rPr lang="en-US" sz="1800" b="1" dirty="0">
                <a:solidFill>
                  <a:srgbClr val="FF0000"/>
                </a:solidFill>
                <a:latin typeface="Consolas" panose="020B0609020204030204" pitchFamily="49" charset="0"/>
                <a:cs typeface="Consolas" panose="020B0609020204030204" pitchFamily="49" charset="0"/>
              </a:rPr>
              <a:t> </a:t>
            </a:r>
          </a:p>
          <a:p>
            <a:r>
              <a:rPr lang="en-US" sz="1800" b="1" dirty="0">
                <a:solidFill>
                  <a:srgbClr val="FF0000"/>
                </a:solidFill>
                <a:latin typeface="Consolas" panose="020B0609020204030204" pitchFamily="49" charset="0"/>
                <a:cs typeface="Consolas" panose="020B0609020204030204" pitchFamily="49" charset="0"/>
              </a:rPr>
              <a:t>     else </a:t>
            </a:r>
            <a:r>
              <a:rPr lang="en-US" sz="1800" b="1" dirty="0">
                <a:latin typeface="Consolas" panose="020B0609020204030204" pitchFamily="49" charset="0"/>
                <a:cs typeface="Consolas" panose="020B0609020204030204" pitchFamily="49" charset="0"/>
              </a:rPr>
              <a:t>bb2</a:t>
            </a:r>
          </a:p>
        </p:txBody>
      </p:sp>
      <p:sp>
        <p:nvSpPr>
          <p:cNvPr id="12" name="TextBox 11">
            <a:extLst>
              <a:ext uri="{FF2B5EF4-FFF2-40B4-BE49-F238E27FC236}">
                <a16:creationId xmlns:a16="http://schemas.microsoft.com/office/drawing/2014/main" id="{94733068-E9D5-F84E-8BD3-17F0C763675C}"/>
              </a:ext>
            </a:extLst>
          </p:cNvPr>
          <p:cNvSpPr txBox="1"/>
          <p:nvPr/>
        </p:nvSpPr>
        <p:spPr>
          <a:xfrm>
            <a:off x="3011826" y="3340268"/>
            <a:ext cx="2337499" cy="646331"/>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if true then </a:t>
            </a:r>
            <a:r>
              <a:rPr lang="en-US" sz="1800" b="1" dirty="0">
                <a:latin typeface="Consolas" panose="020B0609020204030204" pitchFamily="49" charset="0"/>
                <a:cs typeface="Consolas" panose="020B0609020204030204" pitchFamily="49" charset="0"/>
              </a:rPr>
              <a:t>bb1</a:t>
            </a:r>
            <a:r>
              <a:rPr lang="en-US" sz="1800" b="1" dirty="0">
                <a:solidFill>
                  <a:srgbClr val="FF0000"/>
                </a:solidFill>
                <a:latin typeface="Consolas" panose="020B0609020204030204" pitchFamily="49" charset="0"/>
                <a:cs typeface="Consolas" panose="020B0609020204030204" pitchFamily="49" charset="0"/>
              </a:rPr>
              <a:t> </a:t>
            </a:r>
          </a:p>
          <a:p>
            <a:r>
              <a:rPr lang="en-US" sz="1800" b="1" dirty="0">
                <a:solidFill>
                  <a:srgbClr val="FF0000"/>
                </a:solidFill>
                <a:latin typeface="Consolas" panose="020B0609020204030204" pitchFamily="49" charset="0"/>
                <a:cs typeface="Consolas" panose="020B0609020204030204" pitchFamily="49" charset="0"/>
              </a:rPr>
              <a:t>        else </a:t>
            </a:r>
            <a:r>
              <a:rPr lang="en-US" sz="1800" b="1" dirty="0">
                <a:latin typeface="Consolas" panose="020B0609020204030204" pitchFamily="49" charset="0"/>
                <a:cs typeface="Consolas" panose="020B0609020204030204" pitchFamily="49" charset="0"/>
              </a:rPr>
              <a:t>bb2</a:t>
            </a:r>
          </a:p>
        </p:txBody>
      </p:sp>
      <p:sp>
        <p:nvSpPr>
          <p:cNvPr id="13" name="Down Arrow 12">
            <a:extLst>
              <a:ext uri="{FF2B5EF4-FFF2-40B4-BE49-F238E27FC236}">
                <a16:creationId xmlns:a16="http://schemas.microsoft.com/office/drawing/2014/main" id="{F8BC8503-36F3-3D41-B116-E04F262F047C}"/>
              </a:ext>
            </a:extLst>
          </p:cNvPr>
          <p:cNvSpPr/>
          <p:nvPr/>
        </p:nvSpPr>
        <p:spPr>
          <a:xfrm>
            <a:off x="4267200" y="3016597"/>
            <a:ext cx="381001" cy="377741"/>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B402104-564E-B344-AE46-FD18D355B89B}"/>
              </a:ext>
            </a:extLst>
          </p:cNvPr>
          <p:cNvSpPr txBox="1"/>
          <p:nvPr/>
        </p:nvSpPr>
        <p:spPr>
          <a:xfrm>
            <a:off x="6249211" y="1988402"/>
            <a:ext cx="2337499" cy="646331"/>
          </a:xfrm>
          <a:prstGeom prst="rect">
            <a:avLst/>
          </a:prstGeom>
          <a:noFill/>
        </p:spPr>
        <p:txBody>
          <a:bodyPr wrap="none" rtlCol="0">
            <a:spAutoFit/>
          </a:bodyPr>
          <a:lstStyle/>
          <a:p>
            <a:r>
              <a:rPr lang="en-US" sz="1800" b="1" dirty="0">
                <a:solidFill>
                  <a:srgbClr val="FF0000"/>
                </a:solidFill>
                <a:latin typeface="Consolas" panose="020B0609020204030204" pitchFamily="49" charset="0"/>
                <a:cs typeface="Consolas" panose="020B0609020204030204" pitchFamily="49" charset="0"/>
              </a:rPr>
              <a:t>if true then </a:t>
            </a:r>
            <a:r>
              <a:rPr lang="en-US" sz="1800" b="1" dirty="0">
                <a:latin typeface="Consolas" panose="020B0609020204030204" pitchFamily="49" charset="0"/>
                <a:cs typeface="Consolas" panose="020B0609020204030204" pitchFamily="49" charset="0"/>
              </a:rPr>
              <a:t>bb1</a:t>
            </a:r>
            <a:r>
              <a:rPr lang="en-US" sz="1800" b="1" dirty="0">
                <a:solidFill>
                  <a:srgbClr val="FF0000"/>
                </a:solidFill>
                <a:latin typeface="Consolas" panose="020B0609020204030204" pitchFamily="49" charset="0"/>
                <a:cs typeface="Consolas" panose="020B0609020204030204" pitchFamily="49" charset="0"/>
              </a:rPr>
              <a:t> </a:t>
            </a:r>
          </a:p>
          <a:p>
            <a:r>
              <a:rPr lang="en-US" sz="1800" b="1" dirty="0">
                <a:solidFill>
                  <a:srgbClr val="FF0000"/>
                </a:solidFill>
                <a:latin typeface="Consolas" panose="020B0609020204030204" pitchFamily="49" charset="0"/>
                <a:cs typeface="Consolas" panose="020B0609020204030204" pitchFamily="49" charset="0"/>
              </a:rPr>
              <a:t>        else </a:t>
            </a:r>
            <a:r>
              <a:rPr lang="en-US" sz="1800" b="1" dirty="0">
                <a:latin typeface="Consolas" panose="020B0609020204030204" pitchFamily="49" charset="0"/>
                <a:cs typeface="Consolas" panose="020B0609020204030204" pitchFamily="49" charset="0"/>
              </a:rPr>
              <a:t>bb2</a:t>
            </a:r>
          </a:p>
        </p:txBody>
      </p:sp>
      <p:sp>
        <p:nvSpPr>
          <p:cNvPr id="15" name="TextBox 14">
            <a:extLst>
              <a:ext uri="{FF2B5EF4-FFF2-40B4-BE49-F238E27FC236}">
                <a16:creationId xmlns:a16="http://schemas.microsoft.com/office/drawing/2014/main" id="{61D2EC00-90FF-3C45-A5D0-3906118D62D3}"/>
              </a:ext>
            </a:extLst>
          </p:cNvPr>
          <p:cNvSpPr txBox="1"/>
          <p:nvPr/>
        </p:nvSpPr>
        <p:spPr>
          <a:xfrm>
            <a:off x="6832886" y="3205467"/>
            <a:ext cx="1704313" cy="646331"/>
          </a:xfrm>
          <a:prstGeom prst="rect">
            <a:avLst/>
          </a:prstGeom>
          <a:noFill/>
        </p:spPr>
        <p:txBody>
          <a:bodyPr wrap="none" rtlCol="0">
            <a:spAutoFit/>
          </a:bodyPr>
          <a:lstStyle/>
          <a:p>
            <a:r>
              <a:rPr lang="en-US" sz="1800" b="1" dirty="0" err="1">
                <a:solidFill>
                  <a:srgbClr val="FF0000"/>
                </a:solidFill>
                <a:latin typeface="Consolas" panose="020B0609020204030204" pitchFamily="49" charset="0"/>
                <a:cs typeface="Consolas" panose="020B0609020204030204" pitchFamily="49" charset="0"/>
              </a:rPr>
              <a:t>goto</a:t>
            </a:r>
            <a:r>
              <a:rPr lang="en-US" sz="1800" b="1" dirty="0">
                <a:solidFill>
                  <a:srgbClr val="FF0000"/>
                </a:solidFill>
                <a:latin typeface="Consolas" panose="020B0609020204030204" pitchFamily="49" charset="0"/>
                <a:cs typeface="Consolas" panose="020B0609020204030204" pitchFamily="49" charset="0"/>
              </a:rPr>
              <a:t> </a:t>
            </a:r>
            <a:r>
              <a:rPr lang="en-US" sz="1800" b="1" dirty="0">
                <a:latin typeface="Consolas" panose="020B0609020204030204" pitchFamily="49" charset="0"/>
                <a:cs typeface="Consolas" panose="020B0609020204030204" pitchFamily="49" charset="0"/>
              </a:rPr>
              <a:t>bb1</a:t>
            </a:r>
          </a:p>
          <a:p>
            <a:r>
              <a:rPr lang="en-US" sz="1800" i="1" dirty="0">
                <a:latin typeface="Consolas" panose="020B0609020204030204" pitchFamily="49" charset="0"/>
                <a:cs typeface="Consolas" panose="020B0609020204030204" pitchFamily="49" charset="0"/>
              </a:rPr>
              <a:t>&lt;delete bb2&gt;</a:t>
            </a:r>
          </a:p>
        </p:txBody>
      </p:sp>
      <p:sp>
        <p:nvSpPr>
          <p:cNvPr id="16" name="Down Arrow 15">
            <a:extLst>
              <a:ext uri="{FF2B5EF4-FFF2-40B4-BE49-F238E27FC236}">
                <a16:creationId xmlns:a16="http://schemas.microsoft.com/office/drawing/2014/main" id="{C657CA88-8375-F749-A936-660BC57FFDEE}"/>
              </a:ext>
            </a:extLst>
          </p:cNvPr>
          <p:cNvSpPr/>
          <p:nvPr/>
        </p:nvSpPr>
        <p:spPr>
          <a:xfrm>
            <a:off x="7241268" y="2753580"/>
            <a:ext cx="381001" cy="377741"/>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47445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p:bldP spid="12" grpId="0"/>
      <p:bldP spid="13" grpId="0" animBg="1"/>
      <p:bldP spid="14" grpId="0"/>
      <p:bldP spid="15"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E6A1-7029-464A-856A-89FB237326D5}"/>
              </a:ext>
            </a:extLst>
          </p:cNvPr>
          <p:cNvSpPr>
            <a:spLocks noGrp="1"/>
          </p:cNvSpPr>
          <p:nvPr>
            <p:ph type="title"/>
          </p:nvPr>
        </p:nvSpPr>
        <p:spPr/>
        <p:txBody>
          <a:bodyPr/>
          <a:lstStyle/>
          <a:p>
            <a:r>
              <a:rPr lang="en-US" dirty="0"/>
              <a:t>Operations vs. Moves (assignments)</a:t>
            </a:r>
          </a:p>
        </p:txBody>
      </p:sp>
      <p:sp>
        <p:nvSpPr>
          <p:cNvPr id="3" name="Content Placeholder 2">
            <a:extLst>
              <a:ext uri="{FF2B5EF4-FFF2-40B4-BE49-F238E27FC236}">
                <a16:creationId xmlns:a16="http://schemas.microsoft.com/office/drawing/2014/main" id="{50A77175-185B-7C4D-9841-D1D25DE15401}"/>
              </a:ext>
            </a:extLst>
          </p:cNvPr>
          <p:cNvSpPr>
            <a:spLocks noGrp="1"/>
          </p:cNvSpPr>
          <p:nvPr>
            <p:ph idx="1"/>
          </p:nvPr>
        </p:nvSpPr>
        <p:spPr/>
        <p:txBody>
          <a:bodyPr/>
          <a:lstStyle/>
          <a:p>
            <a:r>
              <a:rPr lang="en-US" dirty="0"/>
              <a:t>each instruction in our IR looks (basically) like one of these two:</a:t>
            </a:r>
          </a:p>
          <a:p>
            <a:pPr marL="515780" lvl="2" indent="0">
              <a:buNone/>
            </a:pPr>
            <a:r>
              <a:rPr lang="en-US" b="1" dirty="0">
                <a:latin typeface="Consolas" panose="020B0609020204030204" pitchFamily="49" charset="0"/>
                <a:cs typeface="Consolas" panose="020B0609020204030204" pitchFamily="49" charset="0"/>
              </a:rPr>
              <a:t>x = y + z</a:t>
            </a:r>
          </a:p>
          <a:p>
            <a:pPr marL="515780" lvl="2" indent="0">
              <a:buNone/>
            </a:pPr>
            <a:r>
              <a:rPr lang="en-US" b="1" dirty="0">
                <a:latin typeface="Consolas" panose="020B0609020204030204" pitchFamily="49" charset="0"/>
                <a:cs typeface="Consolas" panose="020B0609020204030204" pitchFamily="49" charset="0"/>
              </a:rPr>
              <a:t>a = b</a:t>
            </a:r>
          </a:p>
          <a:p>
            <a:r>
              <a:rPr lang="en-US" dirty="0"/>
              <a:t>the first is an </a:t>
            </a:r>
            <a:r>
              <a:rPr lang="en-US" b="1" dirty="0"/>
              <a:t>operation: </a:t>
            </a:r>
            <a:r>
              <a:rPr lang="en-US" dirty="0"/>
              <a:t>it requires computation to complete.</a:t>
            </a:r>
          </a:p>
          <a:p>
            <a:r>
              <a:rPr lang="en-US" dirty="0"/>
              <a:t>the second is a </a:t>
            </a:r>
            <a:r>
              <a:rPr lang="en-US" b="1" dirty="0"/>
              <a:t>move: </a:t>
            </a:r>
            <a:r>
              <a:rPr lang="en-US" dirty="0"/>
              <a:t>copying a value from place to place.</a:t>
            </a:r>
          </a:p>
          <a:p>
            <a:pPr lvl="1"/>
            <a:r>
              <a:rPr lang="en-US" dirty="0"/>
              <a:t>but, </a:t>
            </a:r>
            <a:r>
              <a:rPr lang="en-US" b="1" dirty="0"/>
              <a:t>a lot of moves are unnecessary</a:t>
            </a:r>
            <a:r>
              <a:rPr lang="en-US" dirty="0"/>
              <a:t> and </a:t>
            </a:r>
            <a:r>
              <a:rPr lang="en-US" i="1" dirty="0"/>
              <a:t>could</a:t>
            </a:r>
            <a:r>
              <a:rPr lang="en-US" dirty="0"/>
              <a:t> be eliminated.</a:t>
            </a:r>
          </a:p>
          <a:p>
            <a:r>
              <a:rPr lang="en-US" dirty="0"/>
              <a:t>furthermore, if we can somehow </a:t>
            </a:r>
            <a:r>
              <a:rPr lang="en-US" b="1" dirty="0"/>
              <a:t>convert operations into moves…</a:t>
            </a:r>
          </a:p>
          <a:p>
            <a:pPr lvl="1"/>
            <a:r>
              <a:rPr lang="en-US" dirty="0"/>
              <a:t>we can eliminate entire steps of the program.</a:t>
            </a:r>
          </a:p>
          <a:p>
            <a:r>
              <a:rPr lang="en-US" dirty="0"/>
              <a:t>all the local optimizations basically follow these principles:</a:t>
            </a:r>
          </a:p>
          <a:p>
            <a:pPr lvl="1"/>
            <a:r>
              <a:rPr lang="en-US" dirty="0"/>
              <a:t>make operations </a:t>
            </a:r>
            <a:r>
              <a:rPr lang="en-US" b="1" dirty="0"/>
              <a:t>simpler than what was written;</a:t>
            </a:r>
          </a:p>
          <a:p>
            <a:pPr lvl="1"/>
            <a:r>
              <a:rPr lang="en-US" b="1" dirty="0"/>
              <a:t>turn operations into moves </a:t>
            </a:r>
            <a:r>
              <a:rPr lang="en-US" dirty="0"/>
              <a:t>if possible; and then</a:t>
            </a:r>
          </a:p>
          <a:p>
            <a:pPr lvl="1"/>
            <a:r>
              <a:rPr lang="en-US" b="1" dirty="0"/>
              <a:t>eliminate the moves.</a:t>
            </a:r>
          </a:p>
          <a:p>
            <a:r>
              <a:rPr lang="en-US" dirty="0"/>
              <a:t>and then </a:t>
            </a:r>
            <a:r>
              <a:rPr lang="en-US" b="1" dirty="0">
                <a:solidFill>
                  <a:srgbClr val="00B050"/>
                </a:solidFill>
              </a:rPr>
              <a:t>repeat!</a:t>
            </a:r>
          </a:p>
        </p:txBody>
      </p:sp>
      <p:sp>
        <p:nvSpPr>
          <p:cNvPr id="4" name="Slide Number Placeholder 3">
            <a:extLst>
              <a:ext uri="{FF2B5EF4-FFF2-40B4-BE49-F238E27FC236}">
                <a16:creationId xmlns:a16="http://schemas.microsoft.com/office/drawing/2014/main" id="{1E390AFE-522F-3B46-B77C-EA6FFC101A70}"/>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309372752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D093F-B3DF-9E44-8733-40CC0640E9BD}"/>
              </a:ext>
            </a:extLst>
          </p:cNvPr>
          <p:cNvSpPr>
            <a:spLocks noGrp="1"/>
          </p:cNvSpPr>
          <p:nvPr>
            <p:ph type="title"/>
          </p:nvPr>
        </p:nvSpPr>
        <p:spPr/>
        <p:txBody>
          <a:bodyPr/>
          <a:lstStyle/>
          <a:p>
            <a:r>
              <a:rPr lang="en-US" dirty="0"/>
              <a:t>Constant Folding</a:t>
            </a:r>
          </a:p>
        </p:txBody>
      </p:sp>
      <p:sp>
        <p:nvSpPr>
          <p:cNvPr id="3" name="Content Placeholder 2">
            <a:extLst>
              <a:ext uri="{FF2B5EF4-FFF2-40B4-BE49-F238E27FC236}">
                <a16:creationId xmlns:a16="http://schemas.microsoft.com/office/drawing/2014/main" id="{9E1F4228-AB28-7448-90DA-B95C939FF416}"/>
              </a:ext>
            </a:extLst>
          </p:cNvPr>
          <p:cNvSpPr>
            <a:spLocks noGrp="1"/>
          </p:cNvSpPr>
          <p:nvPr>
            <p:ph idx="1"/>
          </p:nvPr>
        </p:nvSpPr>
        <p:spPr>
          <a:xfrm>
            <a:off x="152400" y="495301"/>
            <a:ext cx="8991600" cy="838199"/>
          </a:xfrm>
        </p:spPr>
        <p:txBody>
          <a:bodyPr/>
          <a:lstStyle/>
          <a:p>
            <a:r>
              <a:rPr lang="en-US" dirty="0"/>
              <a:t>this one is easy: </a:t>
            </a:r>
            <a:r>
              <a:rPr lang="en-US" b="1" dirty="0"/>
              <a:t>if you see arithmetic being done on constants, replace the arithmetic with the result of the operation.</a:t>
            </a:r>
            <a:endParaRPr lang="en-US" dirty="0"/>
          </a:p>
        </p:txBody>
      </p:sp>
      <p:sp>
        <p:nvSpPr>
          <p:cNvPr id="4" name="Slide Number Placeholder 3">
            <a:extLst>
              <a:ext uri="{FF2B5EF4-FFF2-40B4-BE49-F238E27FC236}">
                <a16:creationId xmlns:a16="http://schemas.microsoft.com/office/drawing/2014/main" id="{201FC678-6281-AB42-9284-EF87A5DF9706}"/>
              </a:ext>
            </a:extLst>
          </p:cNvPr>
          <p:cNvSpPr>
            <a:spLocks noGrp="1"/>
          </p:cNvSpPr>
          <p:nvPr>
            <p:ph type="sldNum" sz="quarter" idx="12"/>
          </p:nvPr>
        </p:nvSpPr>
        <p:spPr/>
        <p:txBody>
          <a:bodyPr/>
          <a:lstStyle/>
          <a:p>
            <a:fld id="{3552B95B-556F-44BD-91A5-D80C1B9E2BB3}" type="slidenum">
              <a:rPr lang="en-US" smtClean="0"/>
              <a:pPr/>
              <a:t>14</a:t>
            </a:fld>
            <a:endParaRPr lang="en-US"/>
          </a:p>
        </p:txBody>
      </p:sp>
      <p:sp>
        <p:nvSpPr>
          <p:cNvPr id="5" name="TextBox 4">
            <a:extLst>
              <a:ext uri="{FF2B5EF4-FFF2-40B4-BE49-F238E27FC236}">
                <a16:creationId xmlns:a16="http://schemas.microsoft.com/office/drawing/2014/main" id="{AFCED86A-5C09-1645-8E23-B5955111FA4A}"/>
              </a:ext>
            </a:extLst>
          </p:cNvPr>
          <p:cNvSpPr txBox="1"/>
          <p:nvPr/>
        </p:nvSpPr>
        <p:spPr>
          <a:xfrm>
            <a:off x="1219200" y="1445741"/>
            <a:ext cx="2393604"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640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480</a:t>
            </a:r>
          </a:p>
        </p:txBody>
      </p:sp>
      <p:sp>
        <p:nvSpPr>
          <p:cNvPr id="6" name="TextBox 5">
            <a:extLst>
              <a:ext uri="{FF2B5EF4-FFF2-40B4-BE49-F238E27FC236}">
                <a16:creationId xmlns:a16="http://schemas.microsoft.com/office/drawing/2014/main" id="{EF0A5E05-8818-0A49-97CF-09974FDDC047}"/>
              </a:ext>
            </a:extLst>
          </p:cNvPr>
          <p:cNvSpPr txBox="1"/>
          <p:nvPr/>
        </p:nvSpPr>
        <p:spPr>
          <a:xfrm>
            <a:off x="1219200" y="2061464"/>
            <a:ext cx="2223686"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b = </a:t>
            </a:r>
            <a:r>
              <a:rPr lang="en-US" sz="2400" b="1" dirty="0">
                <a:solidFill>
                  <a:srgbClr val="FF0000"/>
                </a:solidFill>
                <a:latin typeface="Consolas" panose="020B0609020204030204" pitchFamily="49" charset="0"/>
                <a:cs typeface="Consolas" panose="020B0609020204030204" pitchFamily="49" charset="0"/>
              </a:rPr>
              <a:t>not</a:t>
            </a:r>
            <a:r>
              <a:rPr lang="en-US" sz="2400" b="1" dirty="0">
                <a:latin typeface="Consolas" panose="020B0609020204030204" pitchFamily="49" charset="0"/>
                <a:cs typeface="Consolas" panose="020B0609020204030204" pitchFamily="49" charset="0"/>
              </a:rPr>
              <a:t> </a:t>
            </a:r>
            <a:r>
              <a:rPr lang="en-US" sz="2400" b="1" dirty="0">
                <a:solidFill>
                  <a:srgbClr val="FF0000"/>
                </a:solidFill>
                <a:latin typeface="Consolas" panose="020B0609020204030204" pitchFamily="49" charset="0"/>
                <a:cs typeface="Consolas" panose="020B0609020204030204" pitchFamily="49" charset="0"/>
              </a:rPr>
              <a:t>true</a:t>
            </a:r>
          </a:p>
        </p:txBody>
      </p:sp>
      <p:sp>
        <p:nvSpPr>
          <p:cNvPr id="7" name="TextBox 6">
            <a:extLst>
              <a:ext uri="{FF2B5EF4-FFF2-40B4-BE49-F238E27FC236}">
                <a16:creationId xmlns:a16="http://schemas.microsoft.com/office/drawing/2014/main" id="{84301D33-CD8B-1145-A547-369BBDACA438}"/>
              </a:ext>
            </a:extLst>
          </p:cNvPr>
          <p:cNvSpPr txBox="1"/>
          <p:nvPr/>
        </p:nvSpPr>
        <p:spPr>
          <a:xfrm>
            <a:off x="1219200" y="2677187"/>
            <a:ext cx="2903359"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c = </a:t>
            </a:r>
            <a:r>
              <a:rPr lang="en-US" sz="2400" b="1" dirty="0">
                <a:solidFill>
                  <a:schemeClr val="accent6">
                    <a:lumMod val="75000"/>
                  </a:schemeClr>
                </a:solidFill>
                <a:latin typeface="Consolas" panose="020B0609020204030204" pitchFamily="49" charset="0"/>
                <a:cs typeface="Consolas" panose="020B0609020204030204" pitchFamily="49" charset="0"/>
              </a:rPr>
              <a:t>"hi"</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"bye"</a:t>
            </a:r>
          </a:p>
        </p:txBody>
      </p:sp>
      <p:sp>
        <p:nvSpPr>
          <p:cNvPr id="8" name="TextBox 7">
            <a:extLst>
              <a:ext uri="{FF2B5EF4-FFF2-40B4-BE49-F238E27FC236}">
                <a16:creationId xmlns:a16="http://schemas.microsoft.com/office/drawing/2014/main" id="{1F7040E6-1589-B742-92E4-8BFE33AAF483}"/>
              </a:ext>
            </a:extLst>
          </p:cNvPr>
          <p:cNvSpPr txBox="1"/>
          <p:nvPr/>
        </p:nvSpPr>
        <p:spPr>
          <a:xfrm>
            <a:off x="5261433" y="1445741"/>
            <a:ext cx="1883849"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307200</a:t>
            </a:r>
          </a:p>
        </p:txBody>
      </p:sp>
      <p:sp>
        <p:nvSpPr>
          <p:cNvPr id="9" name="TextBox 8">
            <a:extLst>
              <a:ext uri="{FF2B5EF4-FFF2-40B4-BE49-F238E27FC236}">
                <a16:creationId xmlns:a16="http://schemas.microsoft.com/office/drawing/2014/main" id="{00B9CD9A-6F31-1F46-B172-A0DFA6B3206D}"/>
              </a:ext>
            </a:extLst>
          </p:cNvPr>
          <p:cNvSpPr txBox="1"/>
          <p:nvPr/>
        </p:nvSpPr>
        <p:spPr>
          <a:xfrm>
            <a:off x="5261433" y="2061464"/>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b = </a:t>
            </a:r>
            <a:r>
              <a:rPr lang="en-US" sz="2400" b="1" dirty="0">
                <a:solidFill>
                  <a:srgbClr val="FF0000"/>
                </a:solidFill>
                <a:latin typeface="Consolas" panose="020B0609020204030204" pitchFamily="49" charset="0"/>
                <a:cs typeface="Consolas" panose="020B0609020204030204" pitchFamily="49" charset="0"/>
              </a:rPr>
              <a:t>false</a:t>
            </a:r>
          </a:p>
        </p:txBody>
      </p:sp>
      <p:sp>
        <p:nvSpPr>
          <p:cNvPr id="10" name="TextBox 9">
            <a:extLst>
              <a:ext uri="{FF2B5EF4-FFF2-40B4-BE49-F238E27FC236}">
                <a16:creationId xmlns:a16="http://schemas.microsoft.com/office/drawing/2014/main" id="{2DD40262-167F-DB46-AC36-44F750469D1D}"/>
              </a:ext>
            </a:extLst>
          </p:cNvPr>
          <p:cNvSpPr txBox="1"/>
          <p:nvPr/>
        </p:nvSpPr>
        <p:spPr>
          <a:xfrm>
            <a:off x="5261433" y="2677187"/>
            <a:ext cx="205376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c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err="1">
                <a:solidFill>
                  <a:schemeClr val="accent6">
                    <a:lumMod val="75000"/>
                  </a:schemeClr>
                </a:solidFill>
                <a:latin typeface="Consolas" panose="020B0609020204030204" pitchFamily="49" charset="0"/>
                <a:cs typeface="Consolas" panose="020B0609020204030204" pitchFamily="49" charset="0"/>
              </a:rPr>
              <a:t>hibye</a:t>
            </a:r>
            <a:r>
              <a:rPr lang="en-US" sz="2400" b="1" dirty="0">
                <a:solidFill>
                  <a:schemeClr val="accent6">
                    <a:lumMod val="75000"/>
                  </a:schemeClr>
                </a:solidFill>
                <a:latin typeface="Consolas" panose="020B0609020204030204" pitchFamily="49" charset="0"/>
                <a:cs typeface="Consolas" panose="020B0609020204030204" pitchFamily="49" charset="0"/>
              </a:rPr>
              <a:t>"</a:t>
            </a:r>
          </a:p>
        </p:txBody>
      </p:sp>
      <p:sp>
        <p:nvSpPr>
          <p:cNvPr id="11" name="Down Arrow 10">
            <a:extLst>
              <a:ext uri="{FF2B5EF4-FFF2-40B4-BE49-F238E27FC236}">
                <a16:creationId xmlns:a16="http://schemas.microsoft.com/office/drawing/2014/main" id="{E672470B-5604-3744-9215-B9BC9A1DEF4B}"/>
              </a:ext>
            </a:extLst>
          </p:cNvPr>
          <p:cNvSpPr/>
          <p:nvPr/>
        </p:nvSpPr>
        <p:spPr>
          <a:xfrm rot="16200000">
            <a:off x="4421882" y="14119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016BAB90-9AE3-524C-8596-5767F1B562F1}"/>
              </a:ext>
            </a:extLst>
          </p:cNvPr>
          <p:cNvSpPr/>
          <p:nvPr/>
        </p:nvSpPr>
        <p:spPr>
          <a:xfrm rot="16200000">
            <a:off x="4421882" y="2027878"/>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3B7404B4-AD53-934E-90B3-54FAE2266011}"/>
              </a:ext>
            </a:extLst>
          </p:cNvPr>
          <p:cNvSpPr/>
          <p:nvPr/>
        </p:nvSpPr>
        <p:spPr>
          <a:xfrm rot="16200000">
            <a:off x="4421882" y="264360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EEE5688-CF61-B74D-AA11-558527E94DDC}"/>
              </a:ext>
            </a:extLst>
          </p:cNvPr>
          <p:cNvSpPr txBox="1"/>
          <p:nvPr/>
        </p:nvSpPr>
        <p:spPr>
          <a:xfrm>
            <a:off x="381000" y="3257867"/>
            <a:ext cx="8229600" cy="430887"/>
          </a:xfrm>
          <a:prstGeom prst="rect">
            <a:avLst/>
          </a:prstGeom>
          <a:noFill/>
        </p:spPr>
        <p:txBody>
          <a:bodyPr wrap="square" rtlCol="0">
            <a:spAutoFit/>
          </a:bodyPr>
          <a:lstStyle/>
          <a:p>
            <a:pPr algn="ctr"/>
            <a:r>
              <a:rPr lang="en-US" sz="2200" dirty="0"/>
              <a:t>this turns each operation into a move. nice! but what about:</a:t>
            </a:r>
            <a:endParaRPr lang="en-US" sz="2200" b="1" dirty="0"/>
          </a:p>
        </p:txBody>
      </p:sp>
      <p:sp>
        <p:nvSpPr>
          <p:cNvPr id="15" name="TextBox 14">
            <a:extLst>
              <a:ext uri="{FF2B5EF4-FFF2-40B4-BE49-F238E27FC236}">
                <a16:creationId xmlns:a16="http://schemas.microsoft.com/office/drawing/2014/main" id="{09D6C217-7779-6A47-B1A3-18A09DDC0D5E}"/>
              </a:ext>
            </a:extLst>
          </p:cNvPr>
          <p:cNvSpPr txBox="1"/>
          <p:nvPr/>
        </p:nvSpPr>
        <p:spPr>
          <a:xfrm>
            <a:off x="1219200" y="3726044"/>
            <a:ext cx="2733441"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t>
            </a:r>
            <a:r>
              <a:rPr lang="en-US" sz="2400" b="1" dirty="0">
                <a:solidFill>
                  <a:schemeClr val="accent3">
                    <a:lumMod val="75000"/>
                  </a:schemeClr>
                </a:solidFill>
                <a:latin typeface="Consolas" panose="020B0609020204030204" pitchFamily="49" charset="0"/>
                <a:cs typeface="Consolas" panose="020B0609020204030204" pitchFamily="49" charset="0"/>
              </a:rPr>
              <a:t>640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480</a:t>
            </a:r>
          </a:p>
          <a:p>
            <a:r>
              <a:rPr lang="en-US" sz="2400" b="1" dirty="0">
                <a:latin typeface="Consolas" panose="020B0609020204030204" pitchFamily="49" charset="0"/>
                <a:cs typeface="Consolas" panose="020B0609020204030204" pitchFamily="49" charset="0"/>
              </a:rPr>
              <a:t>x   = $t1 * </a:t>
            </a:r>
            <a:r>
              <a:rPr lang="en-US" sz="2400" b="1" dirty="0">
                <a:solidFill>
                  <a:schemeClr val="accent3">
                    <a:lumMod val="75000"/>
                  </a:schemeClr>
                </a:solidFill>
                <a:latin typeface="Consolas" panose="020B0609020204030204" pitchFamily="49" charset="0"/>
                <a:cs typeface="Consolas" panose="020B0609020204030204" pitchFamily="49" charset="0"/>
              </a:rPr>
              <a:t>32</a:t>
            </a:r>
          </a:p>
        </p:txBody>
      </p:sp>
      <p:sp>
        <p:nvSpPr>
          <p:cNvPr id="16" name="TextBox 15">
            <a:extLst>
              <a:ext uri="{FF2B5EF4-FFF2-40B4-BE49-F238E27FC236}">
                <a16:creationId xmlns:a16="http://schemas.microsoft.com/office/drawing/2014/main" id="{45D60744-C83B-4F46-B13E-C01B3C5A84D5}"/>
              </a:ext>
            </a:extLst>
          </p:cNvPr>
          <p:cNvSpPr txBox="1"/>
          <p:nvPr/>
        </p:nvSpPr>
        <p:spPr>
          <a:xfrm>
            <a:off x="5261433" y="3726044"/>
            <a:ext cx="2563522"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t>
            </a:r>
            <a:r>
              <a:rPr lang="en-US" sz="2400" b="1" dirty="0">
                <a:solidFill>
                  <a:schemeClr val="accent3">
                    <a:lumMod val="75000"/>
                  </a:schemeClr>
                </a:solidFill>
                <a:latin typeface="Consolas" panose="020B0609020204030204" pitchFamily="49" charset="0"/>
                <a:cs typeface="Consolas" panose="020B0609020204030204" pitchFamily="49" charset="0"/>
              </a:rPr>
              <a:t>307200</a:t>
            </a:r>
          </a:p>
          <a:p>
            <a:r>
              <a:rPr lang="en-US" sz="2400" b="1" dirty="0">
                <a:latin typeface="Consolas" panose="020B0609020204030204" pitchFamily="49" charset="0"/>
                <a:cs typeface="Consolas" panose="020B0609020204030204" pitchFamily="49" charset="0"/>
              </a:rPr>
              <a:t>x   = $t1 * </a:t>
            </a:r>
            <a:r>
              <a:rPr lang="en-US" sz="2400" b="1" dirty="0">
                <a:solidFill>
                  <a:schemeClr val="accent3">
                    <a:lumMod val="75000"/>
                  </a:schemeClr>
                </a:solidFill>
                <a:latin typeface="Consolas" panose="020B0609020204030204" pitchFamily="49" charset="0"/>
                <a:cs typeface="Consolas" panose="020B0609020204030204" pitchFamily="49" charset="0"/>
              </a:rPr>
              <a:t>32</a:t>
            </a:r>
          </a:p>
        </p:txBody>
      </p:sp>
      <p:sp>
        <p:nvSpPr>
          <p:cNvPr id="17" name="Down Arrow 16">
            <a:extLst>
              <a:ext uri="{FF2B5EF4-FFF2-40B4-BE49-F238E27FC236}">
                <a16:creationId xmlns:a16="http://schemas.microsoft.com/office/drawing/2014/main" id="{1982A657-89BF-4948-96A5-58625D2C734B}"/>
              </a:ext>
            </a:extLst>
          </p:cNvPr>
          <p:cNvSpPr/>
          <p:nvPr/>
        </p:nvSpPr>
        <p:spPr>
          <a:xfrm rot="16200000">
            <a:off x="4421882" y="388453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AA40785-5B47-BF4A-8F5F-A5DDB02D76C6}"/>
              </a:ext>
            </a:extLst>
          </p:cNvPr>
          <p:cNvSpPr txBox="1"/>
          <p:nvPr/>
        </p:nvSpPr>
        <p:spPr>
          <a:xfrm>
            <a:off x="457200" y="4636413"/>
            <a:ext cx="8229600" cy="430887"/>
          </a:xfrm>
          <a:prstGeom prst="rect">
            <a:avLst/>
          </a:prstGeom>
          <a:noFill/>
        </p:spPr>
        <p:txBody>
          <a:bodyPr wrap="square" rtlCol="0">
            <a:spAutoFit/>
          </a:bodyPr>
          <a:lstStyle/>
          <a:p>
            <a:pPr algn="ctr"/>
            <a:r>
              <a:rPr lang="en-US" sz="2200" dirty="0"/>
              <a:t>clearly there's more work to be done, but we'll come back to this.</a:t>
            </a:r>
            <a:endParaRPr lang="en-US" sz="2200" b="1" dirty="0"/>
          </a:p>
        </p:txBody>
      </p:sp>
    </p:spTree>
    <p:extLst>
      <p:ext uri="{BB962C8B-B14F-4D97-AF65-F5344CB8AC3E}">
        <p14:creationId xmlns:p14="http://schemas.microsoft.com/office/powerpoint/2010/main" val="31811445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animBg="1"/>
      <p:bldP spid="12" grpId="0" animBg="1"/>
      <p:bldP spid="13" grpId="0" animBg="1"/>
      <p:bldP spid="14" grpId="0"/>
      <p:bldP spid="15" grpId="0"/>
      <p:bldP spid="16" grpId="0"/>
      <p:bldP spid="17" grpId="0" animBg="1"/>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D40D0-1709-2E4B-A4BD-E3A58AAF7A78}"/>
              </a:ext>
            </a:extLst>
          </p:cNvPr>
          <p:cNvSpPr>
            <a:spLocks noGrp="1"/>
          </p:cNvSpPr>
          <p:nvPr>
            <p:ph type="title"/>
          </p:nvPr>
        </p:nvSpPr>
        <p:spPr/>
        <p:txBody>
          <a:bodyPr/>
          <a:lstStyle/>
          <a:p>
            <a:r>
              <a:rPr lang="en-US" dirty="0"/>
              <a:t>Danger ahead</a:t>
            </a:r>
          </a:p>
        </p:txBody>
      </p:sp>
      <p:sp>
        <p:nvSpPr>
          <p:cNvPr id="3" name="Content Placeholder 2">
            <a:extLst>
              <a:ext uri="{FF2B5EF4-FFF2-40B4-BE49-F238E27FC236}">
                <a16:creationId xmlns:a16="http://schemas.microsoft.com/office/drawing/2014/main" id="{1405357B-78E7-9844-88D9-C26B28895272}"/>
              </a:ext>
            </a:extLst>
          </p:cNvPr>
          <p:cNvSpPr>
            <a:spLocks noGrp="1"/>
          </p:cNvSpPr>
          <p:nvPr>
            <p:ph idx="1"/>
          </p:nvPr>
        </p:nvSpPr>
        <p:spPr>
          <a:xfrm>
            <a:off x="152400" y="495302"/>
            <a:ext cx="8991600" cy="495300"/>
          </a:xfrm>
        </p:spPr>
        <p:txBody>
          <a:bodyPr/>
          <a:lstStyle/>
          <a:p>
            <a:r>
              <a:rPr lang="en-US" dirty="0"/>
              <a:t>some mathematical operations can cause… problems.</a:t>
            </a:r>
            <a:endParaRPr lang="en-US" b="1" dirty="0"/>
          </a:p>
        </p:txBody>
      </p:sp>
      <p:sp>
        <p:nvSpPr>
          <p:cNvPr id="4" name="Slide Number Placeholder 3">
            <a:extLst>
              <a:ext uri="{FF2B5EF4-FFF2-40B4-BE49-F238E27FC236}">
                <a16:creationId xmlns:a16="http://schemas.microsoft.com/office/drawing/2014/main" id="{2542B91E-F1E8-F34E-A1D5-3D2B37C74FB0}"/>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TextBox 4">
            <a:extLst>
              <a:ext uri="{FF2B5EF4-FFF2-40B4-BE49-F238E27FC236}">
                <a16:creationId xmlns:a16="http://schemas.microsoft.com/office/drawing/2014/main" id="{67B0B615-0E69-034C-A8CA-D5707270740A}"/>
              </a:ext>
            </a:extLst>
          </p:cNvPr>
          <p:cNvSpPr txBox="1"/>
          <p:nvPr/>
        </p:nvSpPr>
        <p:spPr>
          <a:xfrm>
            <a:off x="1638706" y="1217141"/>
            <a:ext cx="2223686"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1000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6" name="Down Arrow 5">
            <a:extLst>
              <a:ext uri="{FF2B5EF4-FFF2-40B4-BE49-F238E27FC236}">
                <a16:creationId xmlns:a16="http://schemas.microsoft.com/office/drawing/2014/main" id="{A3D03C82-8D5B-584F-8F76-29B827F75BD3}"/>
              </a:ext>
            </a:extLst>
          </p:cNvPr>
          <p:cNvSpPr/>
          <p:nvPr/>
        </p:nvSpPr>
        <p:spPr>
          <a:xfrm rot="16200000">
            <a:off x="4141402" y="11833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E3020D7-04A6-5048-A93A-621C9FA00B2B}"/>
              </a:ext>
            </a:extLst>
          </p:cNvPr>
          <p:cNvSpPr txBox="1"/>
          <p:nvPr/>
        </p:nvSpPr>
        <p:spPr>
          <a:xfrm>
            <a:off x="4839106" y="1063079"/>
            <a:ext cx="4000094" cy="769441"/>
          </a:xfrm>
          <a:prstGeom prst="rect">
            <a:avLst/>
          </a:prstGeom>
          <a:noFill/>
        </p:spPr>
        <p:txBody>
          <a:bodyPr wrap="square" rtlCol="0">
            <a:spAutoFit/>
          </a:bodyPr>
          <a:lstStyle/>
          <a:p>
            <a:pPr algn="ctr"/>
            <a:r>
              <a:rPr lang="en-US" sz="2200" dirty="0"/>
              <a:t>uh oh. don't try to simplify this or you'll </a:t>
            </a:r>
            <a:r>
              <a:rPr lang="en-US" sz="2200" b="1" dirty="0"/>
              <a:t>crash the compiler!</a:t>
            </a:r>
          </a:p>
        </p:txBody>
      </p:sp>
      <p:sp>
        <p:nvSpPr>
          <p:cNvPr id="12" name="TextBox 11">
            <a:extLst>
              <a:ext uri="{FF2B5EF4-FFF2-40B4-BE49-F238E27FC236}">
                <a16:creationId xmlns:a16="http://schemas.microsoft.com/office/drawing/2014/main" id="{F2742845-49FA-DA47-BA90-D8263AE5656A}"/>
              </a:ext>
            </a:extLst>
          </p:cNvPr>
          <p:cNvSpPr txBox="1"/>
          <p:nvPr/>
        </p:nvSpPr>
        <p:spPr>
          <a:xfrm>
            <a:off x="619196" y="2032898"/>
            <a:ext cx="3243196"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1000000000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5" name="Down Arrow 14">
            <a:extLst>
              <a:ext uri="{FF2B5EF4-FFF2-40B4-BE49-F238E27FC236}">
                <a16:creationId xmlns:a16="http://schemas.microsoft.com/office/drawing/2014/main" id="{4AC6C4D6-B0B3-6044-9664-49C9200C38EE}"/>
              </a:ext>
            </a:extLst>
          </p:cNvPr>
          <p:cNvSpPr/>
          <p:nvPr/>
        </p:nvSpPr>
        <p:spPr>
          <a:xfrm rot="16200000">
            <a:off x="4141402" y="2021583"/>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F4C23D9-2E64-1444-8F16-11A595F2F3A1}"/>
              </a:ext>
            </a:extLst>
          </p:cNvPr>
          <p:cNvSpPr txBox="1"/>
          <p:nvPr/>
        </p:nvSpPr>
        <p:spPr>
          <a:xfrm>
            <a:off x="4839106" y="2048286"/>
            <a:ext cx="4000094" cy="430887"/>
          </a:xfrm>
          <a:prstGeom prst="rect">
            <a:avLst/>
          </a:prstGeom>
          <a:noFill/>
        </p:spPr>
        <p:txBody>
          <a:bodyPr wrap="square" rtlCol="0">
            <a:spAutoFit/>
          </a:bodyPr>
          <a:lstStyle/>
          <a:p>
            <a:pPr algn="ctr"/>
            <a:r>
              <a:rPr lang="en-US" sz="2200" dirty="0"/>
              <a:t>that doesn't fit in a 32-bit int…</a:t>
            </a:r>
            <a:endParaRPr lang="en-US" sz="2200" b="1" dirty="0"/>
          </a:p>
        </p:txBody>
      </p:sp>
      <p:sp>
        <p:nvSpPr>
          <p:cNvPr id="17" name="TextBox 16">
            <a:extLst>
              <a:ext uri="{FF2B5EF4-FFF2-40B4-BE49-F238E27FC236}">
                <a16:creationId xmlns:a16="http://schemas.microsoft.com/office/drawing/2014/main" id="{B49BA2A9-E4DD-794A-A3A8-554142455456}"/>
              </a:ext>
            </a:extLst>
          </p:cNvPr>
          <p:cNvSpPr txBox="1"/>
          <p:nvPr/>
        </p:nvSpPr>
        <p:spPr>
          <a:xfrm>
            <a:off x="228600" y="2721102"/>
            <a:ext cx="8686800" cy="769441"/>
          </a:xfrm>
          <a:prstGeom prst="rect">
            <a:avLst/>
          </a:prstGeom>
          <a:noFill/>
        </p:spPr>
        <p:txBody>
          <a:bodyPr wrap="square" rtlCol="0">
            <a:spAutoFit/>
          </a:bodyPr>
          <a:lstStyle/>
          <a:p>
            <a:pPr algn="ctr"/>
            <a:r>
              <a:rPr lang="en-US" sz="2200" dirty="0"/>
              <a:t>confusingly, these </a:t>
            </a:r>
            <a:r>
              <a:rPr lang="en-US" sz="2200" b="1" dirty="0"/>
              <a:t>may or may not </a:t>
            </a:r>
            <a:r>
              <a:rPr lang="en-US" sz="2200" dirty="0"/>
              <a:t>be errors in the code, so we probably shouldn't give an error here; just give up instead.</a:t>
            </a:r>
            <a:endParaRPr lang="en-US" sz="2200" b="1" dirty="0"/>
          </a:p>
        </p:txBody>
      </p:sp>
      <p:sp>
        <p:nvSpPr>
          <p:cNvPr id="18" name="TextBox 17">
            <a:extLst>
              <a:ext uri="{FF2B5EF4-FFF2-40B4-BE49-F238E27FC236}">
                <a16:creationId xmlns:a16="http://schemas.microsoft.com/office/drawing/2014/main" id="{EF9E7D0D-8148-0442-96FD-35C104C2D7CF}"/>
              </a:ext>
            </a:extLst>
          </p:cNvPr>
          <p:cNvSpPr txBox="1"/>
          <p:nvPr/>
        </p:nvSpPr>
        <p:spPr>
          <a:xfrm>
            <a:off x="1436302" y="3559303"/>
            <a:ext cx="6423796" cy="769441"/>
          </a:xfrm>
          <a:prstGeom prst="rect">
            <a:avLst/>
          </a:prstGeom>
          <a:noFill/>
        </p:spPr>
        <p:txBody>
          <a:bodyPr wrap="square" rtlCol="0">
            <a:spAutoFit/>
          </a:bodyPr>
          <a:lstStyle/>
          <a:p>
            <a:pPr algn="ctr"/>
            <a:r>
              <a:rPr lang="en-US" sz="2200" dirty="0"/>
              <a:t>due to interactions with control flow analysis, these </a:t>
            </a:r>
            <a:r>
              <a:rPr lang="en-US" sz="2200" i="1" dirty="0"/>
              <a:t>may not even get executed at runtime.</a:t>
            </a:r>
            <a:endParaRPr lang="en-US" sz="2200" b="1" i="1" dirty="0"/>
          </a:p>
        </p:txBody>
      </p:sp>
      <p:sp>
        <p:nvSpPr>
          <p:cNvPr id="20" name="TextBox 19">
            <a:extLst>
              <a:ext uri="{FF2B5EF4-FFF2-40B4-BE49-F238E27FC236}">
                <a16:creationId xmlns:a16="http://schemas.microsoft.com/office/drawing/2014/main" id="{3E5A7836-7A37-9B48-A918-C0FD2F27ACD1}"/>
              </a:ext>
            </a:extLst>
          </p:cNvPr>
          <p:cNvSpPr txBox="1"/>
          <p:nvPr/>
        </p:nvSpPr>
        <p:spPr>
          <a:xfrm>
            <a:off x="734440" y="4423540"/>
            <a:ext cx="7876160" cy="1107996"/>
          </a:xfrm>
          <a:prstGeom prst="rect">
            <a:avLst/>
          </a:prstGeom>
          <a:noFill/>
        </p:spPr>
        <p:txBody>
          <a:bodyPr wrap="square" rtlCol="0">
            <a:spAutoFit/>
          </a:bodyPr>
          <a:lstStyle/>
          <a:p>
            <a:pPr algn="ctr"/>
            <a:r>
              <a:rPr lang="en-US" sz="2200" dirty="0"/>
              <a:t>last, unless we're explicitly looking for errors, we really should just let the code through. </a:t>
            </a:r>
            <a:r>
              <a:rPr lang="en-US" sz="2200" b="1" dirty="0"/>
              <a:t>we can't catch every mistake. </a:t>
            </a:r>
            <a:r>
              <a:rPr lang="en-US" sz="2200" dirty="0"/>
              <a:t>it’s never wrong to </a:t>
            </a:r>
            <a:r>
              <a:rPr lang="en-US" sz="2200" i="1" dirty="0"/>
              <a:t>leave code the way the programmer wrote it.</a:t>
            </a:r>
            <a:endParaRPr lang="en-US" sz="2200" b="1" i="1" dirty="0"/>
          </a:p>
        </p:txBody>
      </p:sp>
    </p:spTree>
    <p:extLst>
      <p:ext uri="{BB962C8B-B14F-4D97-AF65-F5344CB8AC3E}">
        <p14:creationId xmlns:p14="http://schemas.microsoft.com/office/powerpoint/2010/main" val="8733514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12" grpId="0"/>
      <p:bldP spid="15" grpId="0" animBg="1"/>
      <p:bldP spid="16" grpId="0"/>
      <p:bldP spid="17" grpId="0"/>
      <p:bldP spid="18"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009A-92C1-8F44-9E1D-C17BFCF3D502}"/>
              </a:ext>
            </a:extLst>
          </p:cNvPr>
          <p:cNvSpPr>
            <a:spLocks noGrp="1"/>
          </p:cNvSpPr>
          <p:nvPr>
            <p:ph type="title"/>
          </p:nvPr>
        </p:nvSpPr>
        <p:spPr/>
        <p:txBody>
          <a:bodyPr/>
          <a:lstStyle/>
          <a:p>
            <a:r>
              <a:rPr lang="en-US" dirty="0"/>
              <a:t>Algebraic Simplification</a:t>
            </a:r>
          </a:p>
        </p:txBody>
      </p:sp>
      <p:sp>
        <p:nvSpPr>
          <p:cNvPr id="3" name="Content Placeholder 2">
            <a:extLst>
              <a:ext uri="{FF2B5EF4-FFF2-40B4-BE49-F238E27FC236}">
                <a16:creationId xmlns:a16="http://schemas.microsoft.com/office/drawing/2014/main" id="{2BB5BE8E-F538-5546-A5B9-F65AC1593ACA}"/>
              </a:ext>
            </a:extLst>
          </p:cNvPr>
          <p:cNvSpPr>
            <a:spLocks noGrp="1"/>
          </p:cNvSpPr>
          <p:nvPr>
            <p:ph idx="1"/>
          </p:nvPr>
        </p:nvSpPr>
        <p:spPr>
          <a:xfrm>
            <a:off x="152400" y="495302"/>
            <a:ext cx="8991600" cy="495300"/>
          </a:xfrm>
        </p:spPr>
        <p:txBody>
          <a:bodyPr/>
          <a:lstStyle/>
          <a:p>
            <a:r>
              <a:rPr lang="en-US" dirty="0"/>
              <a:t>this uses </a:t>
            </a:r>
            <a:r>
              <a:rPr lang="en-US" b="1" dirty="0"/>
              <a:t>algebraic laws </a:t>
            </a:r>
            <a:r>
              <a:rPr lang="en-US" dirty="0"/>
              <a:t>to simplify or even eliminate operations.</a:t>
            </a:r>
          </a:p>
        </p:txBody>
      </p:sp>
      <p:sp>
        <p:nvSpPr>
          <p:cNvPr id="4" name="Slide Number Placeholder 3">
            <a:extLst>
              <a:ext uri="{FF2B5EF4-FFF2-40B4-BE49-F238E27FC236}">
                <a16:creationId xmlns:a16="http://schemas.microsoft.com/office/drawing/2014/main" id="{3B05D9A1-245A-1745-B460-F94AB9A75FFE}"/>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43904DFC-E1B4-F74B-A772-61C79B39A761}"/>
              </a:ext>
            </a:extLst>
          </p:cNvPr>
          <p:cNvSpPr txBox="1"/>
          <p:nvPr/>
        </p:nvSpPr>
        <p:spPr>
          <a:xfrm>
            <a:off x="1911923" y="1064741"/>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1</a:t>
            </a:r>
          </a:p>
        </p:txBody>
      </p:sp>
      <p:sp>
        <p:nvSpPr>
          <p:cNvPr id="6" name="TextBox 5">
            <a:extLst>
              <a:ext uri="{FF2B5EF4-FFF2-40B4-BE49-F238E27FC236}">
                <a16:creationId xmlns:a16="http://schemas.microsoft.com/office/drawing/2014/main" id="{20906230-44B9-B344-85A9-42F6485DD5CB}"/>
              </a:ext>
            </a:extLst>
          </p:cNvPr>
          <p:cNvSpPr txBox="1"/>
          <p:nvPr/>
        </p:nvSpPr>
        <p:spPr>
          <a:xfrm>
            <a:off x="5261433" y="1064741"/>
            <a:ext cx="103425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Down Arrow 6">
            <a:extLst>
              <a:ext uri="{FF2B5EF4-FFF2-40B4-BE49-F238E27FC236}">
                <a16:creationId xmlns:a16="http://schemas.microsoft.com/office/drawing/2014/main" id="{87B46E58-61BE-8247-B744-3C8FA772BD16}"/>
              </a:ext>
            </a:extLst>
          </p:cNvPr>
          <p:cNvSpPr/>
          <p:nvPr/>
        </p:nvSpPr>
        <p:spPr>
          <a:xfrm rot="16200000">
            <a:off x="4421882" y="10309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E42CED6-86AB-AE4D-AA05-F876C02D1E38}"/>
              </a:ext>
            </a:extLst>
          </p:cNvPr>
          <p:cNvSpPr txBox="1"/>
          <p:nvPr/>
        </p:nvSpPr>
        <p:spPr>
          <a:xfrm>
            <a:off x="1911923" y="1714500"/>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9" name="TextBox 8">
            <a:extLst>
              <a:ext uri="{FF2B5EF4-FFF2-40B4-BE49-F238E27FC236}">
                <a16:creationId xmlns:a16="http://schemas.microsoft.com/office/drawing/2014/main" id="{C4EA01EE-A8F7-5943-BAA3-2EC588170605}"/>
              </a:ext>
            </a:extLst>
          </p:cNvPr>
          <p:cNvSpPr txBox="1"/>
          <p:nvPr/>
        </p:nvSpPr>
        <p:spPr>
          <a:xfrm>
            <a:off x="5261433" y="1714500"/>
            <a:ext cx="103425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10" name="Down Arrow 9">
            <a:extLst>
              <a:ext uri="{FF2B5EF4-FFF2-40B4-BE49-F238E27FC236}">
                <a16:creationId xmlns:a16="http://schemas.microsoft.com/office/drawing/2014/main" id="{EC86F000-C743-E64B-9F9D-3931F6ECF905}"/>
              </a:ext>
            </a:extLst>
          </p:cNvPr>
          <p:cNvSpPr/>
          <p:nvPr/>
        </p:nvSpPr>
        <p:spPr>
          <a:xfrm rot="16200000">
            <a:off x="4421882" y="168074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FCD4B22-DD91-DC44-B298-6111141CF1E7}"/>
              </a:ext>
            </a:extLst>
          </p:cNvPr>
          <p:cNvSpPr txBox="1"/>
          <p:nvPr/>
        </p:nvSpPr>
        <p:spPr>
          <a:xfrm>
            <a:off x="1911923" y="2360141"/>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14" name="TextBox 13">
            <a:extLst>
              <a:ext uri="{FF2B5EF4-FFF2-40B4-BE49-F238E27FC236}">
                <a16:creationId xmlns:a16="http://schemas.microsoft.com/office/drawing/2014/main" id="{5FCF301A-C95E-8243-BC3C-5D09D2D1AA89}"/>
              </a:ext>
            </a:extLst>
          </p:cNvPr>
          <p:cNvSpPr txBox="1"/>
          <p:nvPr/>
        </p:nvSpPr>
        <p:spPr>
          <a:xfrm>
            <a:off x="5261433" y="2360141"/>
            <a:ext cx="103425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15" name="Down Arrow 14">
            <a:extLst>
              <a:ext uri="{FF2B5EF4-FFF2-40B4-BE49-F238E27FC236}">
                <a16:creationId xmlns:a16="http://schemas.microsoft.com/office/drawing/2014/main" id="{3B90C4B1-24E8-864C-87CB-72E32DE5C77F}"/>
              </a:ext>
            </a:extLst>
          </p:cNvPr>
          <p:cNvSpPr/>
          <p:nvPr/>
        </p:nvSpPr>
        <p:spPr>
          <a:xfrm rot="16200000">
            <a:off x="4421882" y="23263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2ECE2AE-835D-F04D-86D1-23D8CBBFB608}"/>
              </a:ext>
            </a:extLst>
          </p:cNvPr>
          <p:cNvSpPr txBox="1"/>
          <p:nvPr/>
        </p:nvSpPr>
        <p:spPr>
          <a:xfrm>
            <a:off x="1911923" y="3005783"/>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 + </a:t>
            </a:r>
            <a:r>
              <a:rPr lang="en-US" sz="2400" b="1" dirty="0">
                <a:solidFill>
                  <a:schemeClr val="accent3">
                    <a:lumMod val="75000"/>
                  </a:schemeClr>
                </a:solidFill>
                <a:latin typeface="Consolas" panose="020B0609020204030204" pitchFamily="49" charset="0"/>
                <a:cs typeface="Consolas" panose="020B0609020204030204" pitchFamily="49" charset="0"/>
              </a:rPr>
              <a:t>0</a:t>
            </a:r>
          </a:p>
        </p:txBody>
      </p:sp>
      <p:sp>
        <p:nvSpPr>
          <p:cNvPr id="18" name="Down Arrow 17">
            <a:extLst>
              <a:ext uri="{FF2B5EF4-FFF2-40B4-BE49-F238E27FC236}">
                <a16:creationId xmlns:a16="http://schemas.microsoft.com/office/drawing/2014/main" id="{E303DCC1-B34E-3A4F-A549-9BC867F0523C}"/>
              </a:ext>
            </a:extLst>
          </p:cNvPr>
          <p:cNvSpPr/>
          <p:nvPr/>
        </p:nvSpPr>
        <p:spPr>
          <a:xfrm rot="16200000">
            <a:off x="4421882" y="2972024"/>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A9B5740-C21F-3E40-89AE-843AF47AACA2}"/>
              </a:ext>
            </a:extLst>
          </p:cNvPr>
          <p:cNvSpPr txBox="1"/>
          <p:nvPr/>
        </p:nvSpPr>
        <p:spPr>
          <a:xfrm>
            <a:off x="6241430" y="2974208"/>
            <a:ext cx="1600200" cy="430887"/>
          </a:xfrm>
          <a:prstGeom prst="rect">
            <a:avLst/>
          </a:prstGeom>
          <a:noFill/>
        </p:spPr>
        <p:txBody>
          <a:bodyPr wrap="square" rtlCol="0">
            <a:spAutoFit/>
          </a:bodyPr>
          <a:lstStyle/>
          <a:p>
            <a:pPr algn="ctr"/>
            <a:r>
              <a:rPr lang="en-US" sz="2200" i="1" dirty="0"/>
              <a:t>(nothing!)</a:t>
            </a:r>
            <a:endParaRPr lang="en-US" sz="2200" b="1" i="1" dirty="0"/>
          </a:p>
        </p:txBody>
      </p:sp>
      <p:sp>
        <p:nvSpPr>
          <p:cNvPr id="20" name="TextBox 19">
            <a:extLst>
              <a:ext uri="{FF2B5EF4-FFF2-40B4-BE49-F238E27FC236}">
                <a16:creationId xmlns:a16="http://schemas.microsoft.com/office/drawing/2014/main" id="{B18127FE-2E3F-7642-837B-66C11F3BBB1A}"/>
              </a:ext>
            </a:extLst>
          </p:cNvPr>
          <p:cNvSpPr txBox="1"/>
          <p:nvPr/>
        </p:nvSpPr>
        <p:spPr>
          <a:xfrm>
            <a:off x="1911923" y="3705779"/>
            <a:ext cx="2223686"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 == a</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21" name="TextBox 20">
            <a:extLst>
              <a:ext uri="{FF2B5EF4-FFF2-40B4-BE49-F238E27FC236}">
                <a16:creationId xmlns:a16="http://schemas.microsoft.com/office/drawing/2014/main" id="{753D5B4E-EFC6-704D-9125-2809640C77F7}"/>
              </a:ext>
            </a:extLst>
          </p:cNvPr>
          <p:cNvSpPr txBox="1"/>
          <p:nvPr/>
        </p:nvSpPr>
        <p:spPr>
          <a:xfrm>
            <a:off x="5258120" y="3705779"/>
            <a:ext cx="1883849"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t>
            </a:r>
            <a:r>
              <a:rPr lang="en-US" sz="2400" b="1" dirty="0">
                <a:solidFill>
                  <a:srgbClr val="FF0000"/>
                </a:solidFill>
                <a:latin typeface="Consolas" panose="020B0609020204030204" pitchFamily="49" charset="0"/>
                <a:cs typeface="Consolas" panose="020B0609020204030204" pitchFamily="49" charset="0"/>
              </a:rPr>
              <a:t>true</a:t>
            </a:r>
          </a:p>
        </p:txBody>
      </p:sp>
      <p:sp>
        <p:nvSpPr>
          <p:cNvPr id="22" name="Down Arrow 21">
            <a:extLst>
              <a:ext uri="{FF2B5EF4-FFF2-40B4-BE49-F238E27FC236}">
                <a16:creationId xmlns:a16="http://schemas.microsoft.com/office/drawing/2014/main" id="{B83CD0DE-B035-AF42-A710-A2A77A393E66}"/>
              </a:ext>
            </a:extLst>
          </p:cNvPr>
          <p:cNvSpPr/>
          <p:nvPr/>
        </p:nvSpPr>
        <p:spPr>
          <a:xfrm rot="16200000">
            <a:off x="4418569" y="3672020"/>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8EEF473-4F0B-CB49-8BD8-8D7B53E95EB1}"/>
              </a:ext>
            </a:extLst>
          </p:cNvPr>
          <p:cNvSpPr txBox="1"/>
          <p:nvPr/>
        </p:nvSpPr>
        <p:spPr>
          <a:xfrm>
            <a:off x="1908610" y="4324064"/>
            <a:ext cx="205376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 &lt; a</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24" name="TextBox 23">
            <a:extLst>
              <a:ext uri="{FF2B5EF4-FFF2-40B4-BE49-F238E27FC236}">
                <a16:creationId xmlns:a16="http://schemas.microsoft.com/office/drawing/2014/main" id="{AA90CFD3-DA39-D04C-8079-860E57612B0D}"/>
              </a:ext>
            </a:extLst>
          </p:cNvPr>
          <p:cNvSpPr txBox="1"/>
          <p:nvPr/>
        </p:nvSpPr>
        <p:spPr>
          <a:xfrm>
            <a:off x="5254807" y="4324064"/>
            <a:ext cx="2053767"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$t1 = </a:t>
            </a:r>
            <a:r>
              <a:rPr lang="en-US" sz="2400" b="1" dirty="0">
                <a:solidFill>
                  <a:srgbClr val="FF0000"/>
                </a:solidFill>
                <a:latin typeface="Consolas" panose="020B0609020204030204" pitchFamily="49" charset="0"/>
                <a:cs typeface="Consolas" panose="020B0609020204030204" pitchFamily="49" charset="0"/>
              </a:rPr>
              <a:t>false</a:t>
            </a:r>
          </a:p>
        </p:txBody>
      </p:sp>
      <p:sp>
        <p:nvSpPr>
          <p:cNvPr id="25" name="Down Arrow 24">
            <a:extLst>
              <a:ext uri="{FF2B5EF4-FFF2-40B4-BE49-F238E27FC236}">
                <a16:creationId xmlns:a16="http://schemas.microsoft.com/office/drawing/2014/main" id="{B6B1D0D9-9EE9-004D-903C-13742A566E6C}"/>
              </a:ext>
            </a:extLst>
          </p:cNvPr>
          <p:cNvSpPr/>
          <p:nvPr/>
        </p:nvSpPr>
        <p:spPr>
          <a:xfrm rot="16200000">
            <a:off x="4415256" y="4290305"/>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7710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animBg="1"/>
      <p:bldP spid="13" grpId="0"/>
      <p:bldP spid="14" grpId="0"/>
      <p:bldP spid="15" grpId="0" animBg="1"/>
      <p:bldP spid="16" grpId="0"/>
      <p:bldP spid="18" grpId="0" animBg="1"/>
      <p:bldP spid="19" grpId="0"/>
      <p:bldP spid="20" grpId="0"/>
      <p:bldP spid="21" grpId="0"/>
      <p:bldP spid="22" grpId="0" animBg="1"/>
      <p:bldP spid="23" grpId="0"/>
      <p:bldP spid="24" grpId="0"/>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B53D9-05F4-C64B-9090-82276482D953}"/>
              </a:ext>
            </a:extLst>
          </p:cNvPr>
          <p:cNvSpPr>
            <a:spLocks noGrp="1"/>
          </p:cNvSpPr>
          <p:nvPr>
            <p:ph type="title"/>
          </p:nvPr>
        </p:nvSpPr>
        <p:spPr/>
        <p:txBody>
          <a:bodyPr/>
          <a:lstStyle/>
          <a:p>
            <a:r>
              <a:rPr lang="en-US" dirty="0"/>
              <a:t>Strength Reduction</a:t>
            </a:r>
          </a:p>
        </p:txBody>
      </p:sp>
      <p:sp>
        <p:nvSpPr>
          <p:cNvPr id="3" name="Content Placeholder 2">
            <a:extLst>
              <a:ext uri="{FF2B5EF4-FFF2-40B4-BE49-F238E27FC236}">
                <a16:creationId xmlns:a16="http://schemas.microsoft.com/office/drawing/2014/main" id="{1C6D037A-665E-FD4C-AE40-3F88FC14C6B7}"/>
              </a:ext>
            </a:extLst>
          </p:cNvPr>
          <p:cNvSpPr>
            <a:spLocks noGrp="1"/>
          </p:cNvSpPr>
          <p:nvPr>
            <p:ph idx="1"/>
          </p:nvPr>
        </p:nvSpPr>
        <p:spPr>
          <a:xfrm>
            <a:off x="152400" y="495301"/>
            <a:ext cx="8991600" cy="914399"/>
          </a:xfrm>
        </p:spPr>
        <p:txBody>
          <a:bodyPr>
            <a:normAutofit/>
          </a:bodyPr>
          <a:lstStyle/>
          <a:p>
            <a:r>
              <a:rPr lang="en-US" b="1" dirty="0"/>
              <a:t>strength reduction </a:t>
            </a:r>
            <a:r>
              <a:rPr lang="en-US" dirty="0"/>
              <a:t>might not reduce complexity, but it can improve performance by using </a:t>
            </a:r>
            <a:r>
              <a:rPr lang="en-US" b="1" dirty="0"/>
              <a:t>cheaper operations</a:t>
            </a:r>
            <a:r>
              <a:rPr lang="en-US" dirty="0"/>
              <a:t> to do the same task.</a:t>
            </a:r>
            <a:endParaRPr lang="en-US" b="1" dirty="0"/>
          </a:p>
        </p:txBody>
      </p:sp>
      <p:sp>
        <p:nvSpPr>
          <p:cNvPr id="4" name="Slide Number Placeholder 3">
            <a:extLst>
              <a:ext uri="{FF2B5EF4-FFF2-40B4-BE49-F238E27FC236}">
                <a16:creationId xmlns:a16="http://schemas.microsoft.com/office/drawing/2014/main" id="{4EAA47F3-DDB6-C640-A050-31C03295EED4}"/>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827FB11C-36AF-B24C-9CAA-33D3A875F39B}"/>
              </a:ext>
            </a:extLst>
          </p:cNvPr>
          <p:cNvSpPr txBox="1"/>
          <p:nvPr/>
        </p:nvSpPr>
        <p:spPr>
          <a:xfrm>
            <a:off x="536690" y="1445742"/>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2</a:t>
            </a:r>
          </a:p>
        </p:txBody>
      </p:sp>
      <p:sp>
        <p:nvSpPr>
          <p:cNvPr id="6" name="TextBox 5">
            <a:extLst>
              <a:ext uri="{FF2B5EF4-FFF2-40B4-BE49-F238E27FC236}">
                <a16:creationId xmlns:a16="http://schemas.microsoft.com/office/drawing/2014/main" id="{D4B65A3F-D949-004D-9E36-F2D9C8D45201}"/>
              </a:ext>
            </a:extLst>
          </p:cNvPr>
          <p:cNvSpPr txBox="1"/>
          <p:nvPr/>
        </p:nvSpPr>
        <p:spPr>
          <a:xfrm>
            <a:off x="3886200" y="1445742"/>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b</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Down Arrow 6">
            <a:extLst>
              <a:ext uri="{FF2B5EF4-FFF2-40B4-BE49-F238E27FC236}">
                <a16:creationId xmlns:a16="http://schemas.microsoft.com/office/drawing/2014/main" id="{D714CB80-B39F-A24C-B505-64D63CF7A37C}"/>
              </a:ext>
            </a:extLst>
          </p:cNvPr>
          <p:cNvSpPr/>
          <p:nvPr/>
        </p:nvSpPr>
        <p:spPr>
          <a:xfrm rot="16200000">
            <a:off x="3046649" y="1411983"/>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6027B6E-6A02-9E48-89CF-A40D597589EC}"/>
              </a:ext>
            </a:extLst>
          </p:cNvPr>
          <p:cNvSpPr txBox="1"/>
          <p:nvPr/>
        </p:nvSpPr>
        <p:spPr>
          <a:xfrm>
            <a:off x="536690" y="2207741"/>
            <a:ext cx="2393604"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pow(b, </a:t>
            </a:r>
            <a:r>
              <a:rPr lang="en-US" sz="2400" b="1" dirty="0">
                <a:solidFill>
                  <a:schemeClr val="accent3">
                    <a:lumMod val="75000"/>
                  </a:schemeClr>
                </a:solidFill>
                <a:latin typeface="Consolas" panose="020B0609020204030204" pitchFamily="49" charset="0"/>
                <a:cs typeface="Consolas" panose="020B0609020204030204" pitchFamily="49" charset="0"/>
              </a:rPr>
              <a:t>2</a:t>
            </a:r>
            <a:r>
              <a:rPr lang="en-US" sz="2400" b="1" dirty="0">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431434EA-5B4F-5247-AF0B-F9A3527CA808}"/>
              </a:ext>
            </a:extLst>
          </p:cNvPr>
          <p:cNvSpPr txBox="1"/>
          <p:nvPr/>
        </p:nvSpPr>
        <p:spPr>
          <a:xfrm>
            <a:off x="3886200" y="2207741"/>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b</a:t>
            </a:r>
            <a:endParaRPr lang="en-US" sz="2400" b="1" dirty="0">
              <a:solidFill>
                <a:schemeClr val="accent3">
                  <a:lumMod val="75000"/>
                </a:schemeClr>
              </a:solidFill>
              <a:latin typeface="Consolas" panose="020B0609020204030204" pitchFamily="49" charset="0"/>
              <a:cs typeface="Consolas" panose="020B0609020204030204" pitchFamily="49" charset="0"/>
            </a:endParaRPr>
          </a:p>
        </p:txBody>
      </p:sp>
      <p:sp>
        <p:nvSpPr>
          <p:cNvPr id="11" name="Down Arrow 10">
            <a:extLst>
              <a:ext uri="{FF2B5EF4-FFF2-40B4-BE49-F238E27FC236}">
                <a16:creationId xmlns:a16="http://schemas.microsoft.com/office/drawing/2014/main" id="{0DD75980-6359-7841-B851-263EBC4A06B2}"/>
              </a:ext>
            </a:extLst>
          </p:cNvPr>
          <p:cNvSpPr/>
          <p:nvPr/>
        </p:nvSpPr>
        <p:spPr>
          <a:xfrm rot="16200000">
            <a:off x="3046649" y="21739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7C5BE7-24F7-A345-9F0E-1F3AEE117AE9}"/>
              </a:ext>
            </a:extLst>
          </p:cNvPr>
          <p:cNvSpPr txBox="1"/>
          <p:nvPr/>
        </p:nvSpPr>
        <p:spPr>
          <a:xfrm>
            <a:off x="5715000" y="2034786"/>
            <a:ext cx="3269974" cy="830997"/>
          </a:xfrm>
          <a:prstGeom prst="rect">
            <a:avLst/>
          </a:prstGeom>
          <a:noFill/>
        </p:spPr>
        <p:txBody>
          <a:bodyPr wrap="square" rtlCol="0">
            <a:spAutoFit/>
          </a:bodyPr>
          <a:lstStyle/>
          <a:p>
            <a:pPr algn="ctr"/>
            <a:r>
              <a:rPr lang="en-US" sz="1600" dirty="0"/>
              <a:t>(many compilers "know" about standard library math functions and can optimize them out.)</a:t>
            </a:r>
            <a:endParaRPr lang="en-US" sz="1600" b="1" dirty="0"/>
          </a:p>
        </p:txBody>
      </p:sp>
      <p:sp>
        <p:nvSpPr>
          <p:cNvPr id="13" name="TextBox 12">
            <a:extLst>
              <a:ext uri="{FF2B5EF4-FFF2-40B4-BE49-F238E27FC236}">
                <a16:creationId xmlns:a16="http://schemas.microsoft.com/office/drawing/2014/main" id="{B574BAC7-9D0F-3146-8EF9-3C58B0981F11}"/>
              </a:ext>
            </a:extLst>
          </p:cNvPr>
          <p:cNvSpPr txBox="1"/>
          <p:nvPr/>
        </p:nvSpPr>
        <p:spPr>
          <a:xfrm>
            <a:off x="536690" y="2893542"/>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8</a:t>
            </a:r>
          </a:p>
        </p:txBody>
      </p:sp>
      <p:sp>
        <p:nvSpPr>
          <p:cNvPr id="14" name="TextBox 13">
            <a:extLst>
              <a:ext uri="{FF2B5EF4-FFF2-40B4-BE49-F238E27FC236}">
                <a16:creationId xmlns:a16="http://schemas.microsoft.com/office/drawing/2014/main" id="{6541FB5E-6D44-FB40-AB95-06E406C409BF}"/>
              </a:ext>
            </a:extLst>
          </p:cNvPr>
          <p:cNvSpPr txBox="1"/>
          <p:nvPr/>
        </p:nvSpPr>
        <p:spPr>
          <a:xfrm>
            <a:off x="3886200" y="2893542"/>
            <a:ext cx="1883849"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&lt;&lt; </a:t>
            </a:r>
            <a:r>
              <a:rPr lang="en-US" sz="2400" b="1" dirty="0">
                <a:solidFill>
                  <a:schemeClr val="accent3">
                    <a:lumMod val="75000"/>
                  </a:schemeClr>
                </a:solidFill>
                <a:latin typeface="Consolas" panose="020B0609020204030204" pitchFamily="49" charset="0"/>
                <a:cs typeface="Consolas" panose="020B0609020204030204" pitchFamily="49" charset="0"/>
              </a:rPr>
              <a:t>3</a:t>
            </a:r>
          </a:p>
        </p:txBody>
      </p:sp>
      <p:sp>
        <p:nvSpPr>
          <p:cNvPr id="15" name="Down Arrow 14">
            <a:extLst>
              <a:ext uri="{FF2B5EF4-FFF2-40B4-BE49-F238E27FC236}">
                <a16:creationId xmlns:a16="http://schemas.microsoft.com/office/drawing/2014/main" id="{050189D8-4576-1B4B-9EAC-B165E80AD8E4}"/>
              </a:ext>
            </a:extLst>
          </p:cNvPr>
          <p:cNvSpPr/>
          <p:nvPr/>
        </p:nvSpPr>
        <p:spPr>
          <a:xfrm rot="16200000">
            <a:off x="3046649" y="2859783"/>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8DF37F3-F4CD-214C-9584-18F1A57E22DD}"/>
              </a:ext>
            </a:extLst>
          </p:cNvPr>
          <p:cNvSpPr txBox="1"/>
          <p:nvPr/>
        </p:nvSpPr>
        <p:spPr>
          <a:xfrm>
            <a:off x="536690" y="3807941"/>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9</a:t>
            </a:r>
          </a:p>
        </p:txBody>
      </p:sp>
      <p:sp>
        <p:nvSpPr>
          <p:cNvPr id="17" name="TextBox 16">
            <a:extLst>
              <a:ext uri="{FF2B5EF4-FFF2-40B4-BE49-F238E27FC236}">
                <a16:creationId xmlns:a16="http://schemas.microsoft.com/office/drawing/2014/main" id="{AE753C55-97B8-EC47-8EBC-3737F3738049}"/>
              </a:ext>
            </a:extLst>
          </p:cNvPr>
          <p:cNvSpPr txBox="1"/>
          <p:nvPr/>
        </p:nvSpPr>
        <p:spPr>
          <a:xfrm>
            <a:off x="3886200" y="3614983"/>
            <a:ext cx="1883849"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&lt;&lt; </a:t>
            </a:r>
            <a:r>
              <a:rPr lang="en-US" sz="2400" b="1" dirty="0">
                <a:solidFill>
                  <a:schemeClr val="accent3">
                    <a:lumMod val="75000"/>
                  </a:schemeClr>
                </a:solidFill>
                <a:latin typeface="Consolas" panose="020B0609020204030204" pitchFamily="49" charset="0"/>
                <a:cs typeface="Consolas" panose="020B0609020204030204" pitchFamily="49" charset="0"/>
              </a:rPr>
              <a:t>3</a:t>
            </a:r>
          </a:p>
          <a:p>
            <a:r>
              <a:rPr lang="en-US" sz="2400" b="1" dirty="0">
                <a:latin typeface="Consolas" panose="020B0609020204030204" pitchFamily="49" charset="0"/>
                <a:cs typeface="Consolas" panose="020B0609020204030204" pitchFamily="49" charset="0"/>
              </a:rPr>
              <a:t>a = a + b</a:t>
            </a:r>
          </a:p>
        </p:txBody>
      </p:sp>
      <p:sp>
        <p:nvSpPr>
          <p:cNvPr id="18" name="Down Arrow 17">
            <a:extLst>
              <a:ext uri="{FF2B5EF4-FFF2-40B4-BE49-F238E27FC236}">
                <a16:creationId xmlns:a16="http://schemas.microsoft.com/office/drawing/2014/main" id="{9EF6E84E-A759-9A47-817E-1ADF7BD3CFA1}"/>
              </a:ext>
            </a:extLst>
          </p:cNvPr>
          <p:cNvSpPr/>
          <p:nvPr/>
        </p:nvSpPr>
        <p:spPr>
          <a:xfrm rot="16200000">
            <a:off x="3046649" y="377418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286C6B0-1BF7-2E46-A06B-46D2B71E7ED9}"/>
              </a:ext>
            </a:extLst>
          </p:cNvPr>
          <p:cNvSpPr txBox="1"/>
          <p:nvPr/>
        </p:nvSpPr>
        <p:spPr>
          <a:xfrm>
            <a:off x="5829300" y="3484602"/>
            <a:ext cx="3041374" cy="1107996"/>
          </a:xfrm>
          <a:prstGeom prst="rect">
            <a:avLst/>
          </a:prstGeom>
          <a:noFill/>
        </p:spPr>
        <p:txBody>
          <a:bodyPr wrap="square" rtlCol="0">
            <a:spAutoFit/>
          </a:bodyPr>
          <a:lstStyle/>
          <a:p>
            <a:pPr algn="ctr"/>
            <a:r>
              <a:rPr lang="en-US" sz="2200" i="1" dirty="0"/>
              <a:t>two</a:t>
            </a:r>
            <a:r>
              <a:rPr lang="en-US" sz="2200" dirty="0"/>
              <a:t> instructions may still be faster than a single multiplication!</a:t>
            </a:r>
            <a:endParaRPr lang="en-US" sz="2200" b="1" i="1" dirty="0"/>
          </a:p>
        </p:txBody>
      </p:sp>
      <p:sp>
        <p:nvSpPr>
          <p:cNvPr id="20" name="TextBox 19">
            <a:extLst>
              <a:ext uri="{FF2B5EF4-FFF2-40B4-BE49-F238E27FC236}">
                <a16:creationId xmlns:a16="http://schemas.microsoft.com/office/drawing/2014/main" id="{CF142CCF-9B0A-FF4D-AEFE-23A0DE8078EA}"/>
              </a:ext>
            </a:extLst>
          </p:cNvPr>
          <p:cNvSpPr txBox="1"/>
          <p:nvPr/>
        </p:nvSpPr>
        <p:spPr>
          <a:xfrm>
            <a:off x="536690" y="4806154"/>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a:t>
            </a:r>
            <a:r>
              <a:rPr lang="en-US" sz="2400" b="1" dirty="0">
                <a:solidFill>
                  <a:schemeClr val="accent3">
                    <a:lumMod val="75000"/>
                  </a:schemeClr>
                </a:solidFill>
                <a:latin typeface="Consolas" panose="020B0609020204030204" pitchFamily="49" charset="0"/>
                <a:cs typeface="Consolas" panose="020B0609020204030204" pitchFamily="49" charset="0"/>
              </a:rPr>
              <a:t>8</a:t>
            </a:r>
          </a:p>
        </p:txBody>
      </p:sp>
      <p:sp>
        <p:nvSpPr>
          <p:cNvPr id="21" name="TextBox 20">
            <a:extLst>
              <a:ext uri="{FF2B5EF4-FFF2-40B4-BE49-F238E27FC236}">
                <a16:creationId xmlns:a16="http://schemas.microsoft.com/office/drawing/2014/main" id="{AA7A6043-844E-C243-99A1-E42CB3347B24}"/>
              </a:ext>
            </a:extLst>
          </p:cNvPr>
          <p:cNvSpPr txBox="1"/>
          <p:nvPr/>
        </p:nvSpPr>
        <p:spPr>
          <a:xfrm>
            <a:off x="3886200" y="4805980"/>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&amp; </a:t>
            </a:r>
            <a:r>
              <a:rPr lang="en-US" sz="2400" b="1" dirty="0">
                <a:solidFill>
                  <a:schemeClr val="accent3">
                    <a:lumMod val="75000"/>
                  </a:schemeClr>
                </a:solidFill>
                <a:latin typeface="Consolas" panose="020B0609020204030204" pitchFamily="49" charset="0"/>
                <a:cs typeface="Consolas" panose="020B0609020204030204" pitchFamily="49" charset="0"/>
              </a:rPr>
              <a:t>7</a:t>
            </a:r>
          </a:p>
        </p:txBody>
      </p:sp>
      <p:sp>
        <p:nvSpPr>
          <p:cNvPr id="22" name="Down Arrow 21">
            <a:extLst>
              <a:ext uri="{FF2B5EF4-FFF2-40B4-BE49-F238E27FC236}">
                <a16:creationId xmlns:a16="http://schemas.microsoft.com/office/drawing/2014/main" id="{6A793121-BEAD-D04E-84D3-51BB3BD9A444}"/>
              </a:ext>
            </a:extLst>
          </p:cNvPr>
          <p:cNvSpPr/>
          <p:nvPr/>
        </p:nvSpPr>
        <p:spPr>
          <a:xfrm rot="16200000">
            <a:off x="3046649" y="4772395"/>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829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9" grpId="0"/>
      <p:bldP spid="10" grpId="0"/>
      <p:bldP spid="11" grpId="0" animBg="1"/>
      <p:bldP spid="12" grpId="0"/>
      <p:bldP spid="13" grpId="0"/>
      <p:bldP spid="14" grpId="0"/>
      <p:bldP spid="15" grpId="0" animBg="1"/>
      <p:bldP spid="16" grpId="0"/>
      <p:bldP spid="17" grpId="0"/>
      <p:bldP spid="18" grpId="0" animBg="1"/>
      <p:bldP spid="19" grpId="0"/>
      <p:bldP spid="20" grpId="0"/>
      <p:bldP spid="21" grpId="0"/>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ADC95-3814-9B47-BB01-FB3DEAC95074}"/>
              </a:ext>
            </a:extLst>
          </p:cNvPr>
          <p:cNvSpPr>
            <a:spLocks noGrp="1"/>
          </p:cNvSpPr>
          <p:nvPr>
            <p:ph type="title"/>
          </p:nvPr>
        </p:nvSpPr>
        <p:spPr/>
        <p:txBody>
          <a:bodyPr/>
          <a:lstStyle/>
          <a:p>
            <a:r>
              <a:rPr lang="en-US" dirty="0"/>
              <a:t>Optimization: not just for IR</a:t>
            </a:r>
          </a:p>
        </p:txBody>
      </p:sp>
      <p:sp>
        <p:nvSpPr>
          <p:cNvPr id="3" name="Content Placeholder 2">
            <a:extLst>
              <a:ext uri="{FF2B5EF4-FFF2-40B4-BE49-F238E27FC236}">
                <a16:creationId xmlns:a16="http://schemas.microsoft.com/office/drawing/2014/main" id="{8D513ABA-05A1-494F-BA45-715EF0C0A671}"/>
              </a:ext>
            </a:extLst>
          </p:cNvPr>
          <p:cNvSpPr>
            <a:spLocks noGrp="1"/>
          </p:cNvSpPr>
          <p:nvPr>
            <p:ph idx="1"/>
          </p:nvPr>
        </p:nvSpPr>
        <p:spPr>
          <a:xfrm>
            <a:off x="152400" y="495301"/>
            <a:ext cx="8991600" cy="914399"/>
          </a:xfrm>
        </p:spPr>
        <p:txBody>
          <a:bodyPr/>
          <a:lstStyle/>
          <a:p>
            <a:r>
              <a:rPr lang="en-US" dirty="0"/>
              <a:t>peephole optimizations can be done </a:t>
            </a:r>
            <a:r>
              <a:rPr lang="en-US" i="1" dirty="0"/>
              <a:t>on the target code too. </a:t>
            </a:r>
          </a:p>
          <a:p>
            <a:r>
              <a:rPr lang="en-US" dirty="0"/>
              <a:t>here are some Silly Sequences my code generator is producing:</a:t>
            </a:r>
          </a:p>
        </p:txBody>
      </p:sp>
      <p:sp>
        <p:nvSpPr>
          <p:cNvPr id="4" name="Slide Number Placeholder 3">
            <a:extLst>
              <a:ext uri="{FF2B5EF4-FFF2-40B4-BE49-F238E27FC236}">
                <a16:creationId xmlns:a16="http://schemas.microsoft.com/office/drawing/2014/main" id="{D852D567-E173-C44F-B204-E8B3E50EC7F4}"/>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TextBox 4">
            <a:extLst>
              <a:ext uri="{FF2B5EF4-FFF2-40B4-BE49-F238E27FC236}">
                <a16:creationId xmlns:a16="http://schemas.microsoft.com/office/drawing/2014/main" id="{629EB092-8139-AB43-9FF0-B43002416533}"/>
              </a:ext>
            </a:extLst>
          </p:cNvPr>
          <p:cNvSpPr txBox="1"/>
          <p:nvPr/>
        </p:nvSpPr>
        <p:spPr>
          <a:xfrm>
            <a:off x="1295400" y="1485900"/>
            <a:ext cx="2300630" cy="707886"/>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p:txBody>
      </p:sp>
      <p:sp>
        <p:nvSpPr>
          <p:cNvPr id="6" name="TextBox 5">
            <a:extLst>
              <a:ext uri="{FF2B5EF4-FFF2-40B4-BE49-F238E27FC236}">
                <a16:creationId xmlns:a16="http://schemas.microsoft.com/office/drawing/2014/main" id="{48171128-F9DC-C24D-BE1F-7CB41122C841}"/>
              </a:ext>
            </a:extLst>
          </p:cNvPr>
          <p:cNvSpPr txBox="1"/>
          <p:nvPr/>
        </p:nvSpPr>
        <p:spPr>
          <a:xfrm>
            <a:off x="1091065" y="2251501"/>
            <a:ext cx="2709300" cy="769441"/>
          </a:xfrm>
          <a:prstGeom prst="rect">
            <a:avLst/>
          </a:prstGeom>
          <a:noFill/>
        </p:spPr>
        <p:txBody>
          <a:bodyPr wrap="square" rtlCol="0">
            <a:spAutoFit/>
          </a:bodyPr>
          <a:lstStyle/>
          <a:p>
            <a:pPr algn="ctr"/>
            <a:r>
              <a:rPr lang="en-US" sz="2200" i="1" dirty="0"/>
              <a:t>shows up in nested calls like </a:t>
            </a:r>
            <a:r>
              <a:rPr lang="en-US" sz="2200" b="1" i="1" dirty="0">
                <a:latin typeface="Consolas" panose="020B0609020204030204" pitchFamily="49" charset="0"/>
                <a:cs typeface="Consolas" panose="020B0609020204030204" pitchFamily="49" charset="0"/>
              </a:rPr>
              <a:t>f(g(x))</a:t>
            </a:r>
            <a:endParaRPr lang="en-US" sz="2400" b="1" i="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A0BAB8FE-584D-A74C-8537-86A51233464D}"/>
              </a:ext>
            </a:extLst>
          </p:cNvPr>
          <p:cNvSpPr txBox="1"/>
          <p:nvPr/>
        </p:nvSpPr>
        <p:spPr>
          <a:xfrm>
            <a:off x="4793906" y="1488904"/>
            <a:ext cx="2159566" cy="70788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s2,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a:solidFill>
                  <a:srgbClr val="FF0000"/>
                </a:solidFill>
                <a:latin typeface="Consolas" panose="020B0609020204030204" pitchFamily="49" charset="0"/>
                <a:cs typeface="Consolas" panose="020B0609020204030204" pitchFamily="49" charset="0"/>
              </a:rPr>
              <a:t>add</a:t>
            </a:r>
            <a:r>
              <a:rPr lang="en-US" sz="2000" b="1" dirty="0">
                <a:latin typeface="Consolas" panose="020B0609020204030204" pitchFamily="49" charset="0"/>
                <a:cs typeface="Consolas" panose="020B0609020204030204" pitchFamily="49" charset="0"/>
              </a:rPr>
              <a:t> s1, s1, s2</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99EC0020-8FAF-814D-8556-BECD5BA0C923}"/>
              </a:ext>
            </a:extLst>
          </p:cNvPr>
          <p:cNvSpPr txBox="1"/>
          <p:nvPr/>
        </p:nvSpPr>
        <p:spPr>
          <a:xfrm>
            <a:off x="4539269" y="2254505"/>
            <a:ext cx="2709300" cy="769441"/>
          </a:xfrm>
          <a:prstGeom prst="rect">
            <a:avLst/>
          </a:prstGeom>
          <a:noFill/>
        </p:spPr>
        <p:txBody>
          <a:bodyPr wrap="square" rtlCol="0">
            <a:spAutoFit/>
          </a:bodyPr>
          <a:lstStyle/>
          <a:p>
            <a:pPr algn="ctr"/>
            <a:r>
              <a:rPr lang="en-US" sz="2200" i="1" dirty="0"/>
              <a:t>adding a constant to a variable, </a:t>
            </a:r>
            <a:r>
              <a:rPr lang="en-US" sz="2200" b="1" i="1" dirty="0">
                <a:latin typeface="Consolas" panose="020B0609020204030204" pitchFamily="49" charset="0"/>
                <a:cs typeface="Consolas" panose="020B0609020204030204" pitchFamily="49" charset="0"/>
              </a:rPr>
              <a:t>x + 5</a:t>
            </a:r>
            <a:endParaRPr lang="en-US" sz="2400" b="1" i="1"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FC7E8F23-1A89-DF44-84E0-62A91DB97412}"/>
              </a:ext>
            </a:extLst>
          </p:cNvPr>
          <p:cNvSpPr txBox="1"/>
          <p:nvPr/>
        </p:nvSpPr>
        <p:spPr>
          <a:xfrm>
            <a:off x="1295400" y="3237108"/>
            <a:ext cx="2441694" cy="1015663"/>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s0, v0</a:t>
            </a: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-16</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1AF2F0F0-174A-1B43-858E-3F2E2460261A}"/>
              </a:ext>
            </a:extLst>
          </p:cNvPr>
          <p:cNvSpPr txBox="1"/>
          <p:nvPr/>
        </p:nvSpPr>
        <p:spPr>
          <a:xfrm>
            <a:off x="1161597" y="4275944"/>
            <a:ext cx="2709300" cy="769441"/>
          </a:xfrm>
          <a:prstGeom prst="rect">
            <a:avLst/>
          </a:prstGeom>
          <a:noFill/>
        </p:spPr>
        <p:txBody>
          <a:bodyPr wrap="square" rtlCol="0">
            <a:spAutoFit/>
          </a:bodyPr>
          <a:lstStyle/>
          <a:p>
            <a:pPr algn="ctr"/>
            <a:r>
              <a:rPr lang="en-US" sz="2200" i="1" dirty="0"/>
              <a:t>assigning a return value to a variable</a:t>
            </a:r>
            <a:endParaRPr lang="en-US" sz="2400" b="1" i="1" dirty="0">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385C6BC9-B374-4542-BCF6-256F4CA64CCA}"/>
              </a:ext>
            </a:extLst>
          </p:cNvPr>
          <p:cNvSpPr txBox="1"/>
          <p:nvPr/>
        </p:nvSpPr>
        <p:spPr>
          <a:xfrm>
            <a:off x="4815903" y="3237108"/>
            <a:ext cx="1736373" cy="1015663"/>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s0, v0</a:t>
            </a: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v0, s0</a:t>
            </a:r>
          </a:p>
        </p:txBody>
      </p:sp>
      <p:sp>
        <p:nvSpPr>
          <p:cNvPr id="15" name="TextBox 14">
            <a:extLst>
              <a:ext uri="{FF2B5EF4-FFF2-40B4-BE49-F238E27FC236}">
                <a16:creationId xmlns:a16="http://schemas.microsoft.com/office/drawing/2014/main" id="{D05212B3-8276-D740-8D37-2F21C39AF1D3}"/>
              </a:ext>
            </a:extLst>
          </p:cNvPr>
          <p:cNvSpPr txBox="1"/>
          <p:nvPr/>
        </p:nvSpPr>
        <p:spPr>
          <a:xfrm>
            <a:off x="4682100" y="4275944"/>
            <a:ext cx="2709300" cy="769441"/>
          </a:xfrm>
          <a:prstGeom prst="rect">
            <a:avLst/>
          </a:prstGeom>
          <a:noFill/>
        </p:spPr>
        <p:txBody>
          <a:bodyPr wrap="square" rtlCol="0">
            <a:spAutoFit/>
          </a:bodyPr>
          <a:lstStyle/>
          <a:p>
            <a:pPr algn="ctr"/>
            <a:r>
              <a:rPr lang="en-US" sz="2200" i="1" dirty="0"/>
              <a:t>returning the value that a call returned</a:t>
            </a:r>
            <a:endParaRPr lang="en-US" sz="2400" b="1" i="1"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10973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957C4-B2E4-9D4E-BDC8-EF9A347F71D6}"/>
              </a:ext>
            </a:extLst>
          </p:cNvPr>
          <p:cNvSpPr>
            <a:spLocks noGrp="1"/>
          </p:cNvSpPr>
          <p:nvPr>
            <p:ph type="title"/>
          </p:nvPr>
        </p:nvSpPr>
        <p:spPr/>
        <p:txBody>
          <a:bodyPr/>
          <a:lstStyle/>
          <a:p>
            <a:r>
              <a:rPr lang="en-US" dirty="0"/>
              <a:t>Make it better, do it faster</a:t>
            </a:r>
          </a:p>
        </p:txBody>
      </p:sp>
      <p:sp>
        <p:nvSpPr>
          <p:cNvPr id="3" name="Content Placeholder 2">
            <a:extLst>
              <a:ext uri="{FF2B5EF4-FFF2-40B4-BE49-F238E27FC236}">
                <a16:creationId xmlns:a16="http://schemas.microsoft.com/office/drawing/2014/main" id="{D1076C7D-AFAC-D246-9051-F7F1BF7F114C}"/>
              </a:ext>
            </a:extLst>
          </p:cNvPr>
          <p:cNvSpPr>
            <a:spLocks noGrp="1"/>
          </p:cNvSpPr>
          <p:nvPr>
            <p:ph idx="1"/>
          </p:nvPr>
        </p:nvSpPr>
        <p:spPr>
          <a:xfrm>
            <a:off x="152400" y="495301"/>
            <a:ext cx="8991600" cy="838199"/>
          </a:xfrm>
        </p:spPr>
        <p:txBody>
          <a:bodyPr/>
          <a:lstStyle/>
          <a:p>
            <a:r>
              <a:rPr lang="en-US" dirty="0"/>
              <a:t>a final pass after </a:t>
            </a:r>
            <a:r>
              <a:rPr lang="en-US" dirty="0" err="1"/>
              <a:t>codegen</a:t>
            </a:r>
            <a:r>
              <a:rPr lang="en-US" dirty="0"/>
              <a:t> can go through and replace these silly sequences with simpler equivalent sequences.</a:t>
            </a:r>
          </a:p>
        </p:txBody>
      </p:sp>
      <p:sp>
        <p:nvSpPr>
          <p:cNvPr id="4" name="Slide Number Placeholder 3">
            <a:extLst>
              <a:ext uri="{FF2B5EF4-FFF2-40B4-BE49-F238E27FC236}">
                <a16:creationId xmlns:a16="http://schemas.microsoft.com/office/drawing/2014/main" id="{4BE8F159-4E67-FB4C-8D46-30AEAE700F40}"/>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F688038C-EC89-A845-9557-D8D50A91BC7D}"/>
              </a:ext>
            </a:extLst>
          </p:cNvPr>
          <p:cNvSpPr txBox="1"/>
          <p:nvPr/>
        </p:nvSpPr>
        <p:spPr>
          <a:xfrm>
            <a:off x="1488494" y="1384879"/>
            <a:ext cx="2300630" cy="707886"/>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-4</a:t>
            </a:r>
          </a:p>
        </p:txBody>
      </p:sp>
      <p:sp>
        <p:nvSpPr>
          <p:cNvPr id="6" name="TextBox 5">
            <a:extLst>
              <a:ext uri="{FF2B5EF4-FFF2-40B4-BE49-F238E27FC236}">
                <a16:creationId xmlns:a16="http://schemas.microsoft.com/office/drawing/2014/main" id="{8DE7AAB5-8E09-9245-9D17-D57EABC1EAC0}"/>
              </a:ext>
            </a:extLst>
          </p:cNvPr>
          <p:cNvSpPr txBox="1"/>
          <p:nvPr/>
        </p:nvSpPr>
        <p:spPr>
          <a:xfrm>
            <a:off x="1488494" y="2294883"/>
            <a:ext cx="2159566" cy="707886"/>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li</a:t>
            </a:r>
            <a:r>
              <a:rPr lang="en-US" sz="2000" b="1" dirty="0">
                <a:latin typeface="Consolas" panose="020B0609020204030204" pitchFamily="49" charset="0"/>
                <a:cs typeface="Consolas" panose="020B0609020204030204" pitchFamily="49" charset="0"/>
              </a:rPr>
              <a:t>  s2, </a:t>
            </a:r>
            <a:r>
              <a:rPr lang="en-US" sz="2000" b="1" dirty="0">
                <a:solidFill>
                  <a:schemeClr val="accent3">
                    <a:lumMod val="75000"/>
                  </a:schemeClr>
                </a:solidFill>
                <a:latin typeface="Consolas" panose="020B0609020204030204" pitchFamily="49" charset="0"/>
                <a:cs typeface="Consolas" panose="020B0609020204030204" pitchFamily="49" charset="0"/>
              </a:rPr>
              <a:t>5</a:t>
            </a:r>
          </a:p>
          <a:p>
            <a:r>
              <a:rPr lang="en-US" sz="2000" b="1" dirty="0">
                <a:solidFill>
                  <a:srgbClr val="FF0000"/>
                </a:solidFill>
                <a:latin typeface="Consolas" panose="020B0609020204030204" pitchFamily="49" charset="0"/>
                <a:cs typeface="Consolas" panose="020B0609020204030204" pitchFamily="49" charset="0"/>
              </a:rPr>
              <a:t>add</a:t>
            </a:r>
            <a:r>
              <a:rPr lang="en-US" sz="2000" b="1" dirty="0">
                <a:latin typeface="Consolas" panose="020B0609020204030204" pitchFamily="49" charset="0"/>
                <a:cs typeface="Consolas" panose="020B0609020204030204" pitchFamily="49" charset="0"/>
              </a:rPr>
              <a:t> s1, s1, s2</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D758AF52-9A6F-6344-B975-8FE4A1E4CB65}"/>
              </a:ext>
            </a:extLst>
          </p:cNvPr>
          <p:cNvSpPr txBox="1"/>
          <p:nvPr/>
        </p:nvSpPr>
        <p:spPr>
          <a:xfrm>
            <a:off x="1488494" y="3204887"/>
            <a:ext cx="2441694" cy="1015663"/>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s0, v0</a:t>
            </a: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s0, </a:t>
            </a:r>
            <a:r>
              <a:rPr lang="en-US" sz="2000" b="1" dirty="0">
                <a:solidFill>
                  <a:schemeClr val="accent3">
                    <a:lumMod val="75000"/>
                  </a:schemeClr>
                </a:solidFill>
                <a:latin typeface="Consolas" panose="020B0609020204030204" pitchFamily="49" charset="0"/>
                <a:cs typeface="Consolas" panose="020B0609020204030204" pitchFamily="49" charset="0"/>
              </a:rPr>
              <a:t>-16</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2DE7AE77-205E-C04D-AA85-72BA11C1CC55}"/>
              </a:ext>
            </a:extLst>
          </p:cNvPr>
          <p:cNvSpPr txBox="1"/>
          <p:nvPr/>
        </p:nvSpPr>
        <p:spPr>
          <a:xfrm>
            <a:off x="1488494" y="4422668"/>
            <a:ext cx="1736373" cy="1015663"/>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s0, v0</a:t>
            </a:r>
          </a:p>
          <a:p>
            <a:r>
              <a:rPr lang="en-US" sz="2000" b="1" dirty="0">
                <a:solidFill>
                  <a:srgbClr val="FF0000"/>
                </a:solidFill>
                <a:latin typeface="Consolas" panose="020B0609020204030204" pitchFamily="49" charset="0"/>
                <a:cs typeface="Consolas" panose="020B0609020204030204" pitchFamily="49" charset="0"/>
              </a:rPr>
              <a:t>move</a:t>
            </a:r>
            <a:r>
              <a:rPr lang="en-US" sz="2000" b="1" dirty="0">
                <a:latin typeface="Consolas" panose="020B0609020204030204" pitchFamily="49" charset="0"/>
                <a:cs typeface="Consolas" panose="020B0609020204030204" pitchFamily="49" charset="0"/>
              </a:rPr>
              <a:t> v0, s0</a:t>
            </a:r>
          </a:p>
        </p:txBody>
      </p:sp>
      <p:sp>
        <p:nvSpPr>
          <p:cNvPr id="9" name="TextBox 8">
            <a:extLst>
              <a:ext uri="{FF2B5EF4-FFF2-40B4-BE49-F238E27FC236}">
                <a16:creationId xmlns:a16="http://schemas.microsoft.com/office/drawing/2014/main" id="{F4A6C916-BF2F-5748-BCAA-F0A075C01645}"/>
              </a:ext>
            </a:extLst>
          </p:cNvPr>
          <p:cNvSpPr txBox="1"/>
          <p:nvPr/>
        </p:nvSpPr>
        <p:spPr>
          <a:xfrm>
            <a:off x="4710169" y="1507334"/>
            <a:ext cx="2300630" cy="400110"/>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sp</a:t>
            </a:r>
            <a:r>
              <a:rPr lang="en-US" sz="2000" b="1" dirty="0">
                <a:latin typeface="Consolas" panose="020B0609020204030204" pitchFamily="49" charset="0"/>
                <a:cs typeface="Consolas" panose="020B0609020204030204" pitchFamily="49" charset="0"/>
              </a:rPr>
              <a:t>, </a:t>
            </a:r>
            <a:r>
              <a:rPr lang="en-US" sz="2000" b="1" dirty="0">
                <a:solidFill>
                  <a:schemeClr val="accent3">
                    <a:lumMod val="75000"/>
                  </a:schemeClr>
                </a:solidFill>
                <a:latin typeface="Consolas" panose="020B0609020204030204" pitchFamily="49" charset="0"/>
                <a:cs typeface="Consolas" panose="020B0609020204030204" pitchFamily="49" charset="0"/>
              </a:rPr>
              <a:t>-8</a:t>
            </a:r>
          </a:p>
        </p:txBody>
      </p:sp>
      <p:sp>
        <p:nvSpPr>
          <p:cNvPr id="10" name="Down Arrow 9">
            <a:extLst>
              <a:ext uri="{FF2B5EF4-FFF2-40B4-BE49-F238E27FC236}">
                <a16:creationId xmlns:a16="http://schemas.microsoft.com/office/drawing/2014/main" id="{31E8A6F1-423B-BF42-A80E-6239C7115E6D}"/>
              </a:ext>
            </a:extLst>
          </p:cNvPr>
          <p:cNvSpPr/>
          <p:nvPr/>
        </p:nvSpPr>
        <p:spPr>
          <a:xfrm rot="16200000">
            <a:off x="4058947" y="1464629"/>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A248A9F-B5FC-694A-ACB5-58092E035C52}"/>
              </a:ext>
            </a:extLst>
          </p:cNvPr>
          <p:cNvSpPr txBox="1"/>
          <p:nvPr/>
        </p:nvSpPr>
        <p:spPr>
          <a:xfrm>
            <a:off x="4710169" y="2458740"/>
            <a:ext cx="2159566" cy="400110"/>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addi</a:t>
            </a:r>
            <a:r>
              <a:rPr lang="en-US" sz="2000" b="1" dirty="0">
                <a:latin typeface="Consolas" panose="020B0609020204030204" pitchFamily="49" charset="0"/>
                <a:cs typeface="Consolas" panose="020B0609020204030204" pitchFamily="49" charset="0"/>
              </a:rPr>
              <a:t> s1, s1, </a:t>
            </a:r>
            <a:r>
              <a:rPr lang="en-US" sz="20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2" name="Down Arrow 11">
            <a:extLst>
              <a:ext uri="{FF2B5EF4-FFF2-40B4-BE49-F238E27FC236}">
                <a16:creationId xmlns:a16="http://schemas.microsoft.com/office/drawing/2014/main" id="{21A44B25-907A-3445-BA95-C84D2337AF0C}"/>
              </a:ext>
            </a:extLst>
          </p:cNvPr>
          <p:cNvSpPr/>
          <p:nvPr/>
        </p:nvSpPr>
        <p:spPr>
          <a:xfrm rot="16200000">
            <a:off x="4058947" y="2416035"/>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EB1D67E-7DF8-D748-AD68-E6EA33FAAEB0}"/>
              </a:ext>
            </a:extLst>
          </p:cNvPr>
          <p:cNvSpPr txBox="1"/>
          <p:nvPr/>
        </p:nvSpPr>
        <p:spPr>
          <a:xfrm>
            <a:off x="4721106" y="3365311"/>
            <a:ext cx="2441694" cy="707886"/>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sw</a:t>
            </a:r>
            <a:r>
              <a:rPr lang="en-US" sz="2000" b="1" dirty="0">
                <a:latin typeface="Consolas" panose="020B0609020204030204" pitchFamily="49" charset="0"/>
                <a:cs typeface="Consolas" panose="020B0609020204030204" pitchFamily="49" charset="0"/>
              </a:rPr>
              <a:t>   v0, </a:t>
            </a:r>
            <a:r>
              <a:rPr lang="en-US" sz="2000" b="1" dirty="0">
                <a:solidFill>
                  <a:schemeClr val="accent3">
                    <a:lumMod val="75000"/>
                  </a:schemeClr>
                </a:solidFill>
                <a:latin typeface="Consolas" panose="020B0609020204030204" pitchFamily="49" charset="0"/>
                <a:cs typeface="Consolas" panose="020B0609020204030204" pitchFamily="49" charset="0"/>
              </a:rPr>
              <a:t>-16</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fp</a:t>
            </a:r>
            <a:r>
              <a:rPr lang="en-US" sz="2000" b="1" dirty="0">
                <a:latin typeface="Consolas" panose="020B0609020204030204" pitchFamily="49" charset="0"/>
                <a:cs typeface="Consolas" panose="020B0609020204030204" pitchFamily="49" charset="0"/>
              </a:rPr>
              <a:t>)</a:t>
            </a:r>
          </a:p>
        </p:txBody>
      </p:sp>
      <p:sp>
        <p:nvSpPr>
          <p:cNvPr id="14" name="Down Arrow 13">
            <a:extLst>
              <a:ext uri="{FF2B5EF4-FFF2-40B4-BE49-F238E27FC236}">
                <a16:creationId xmlns:a16="http://schemas.microsoft.com/office/drawing/2014/main" id="{383C6633-986A-4B44-AAD7-E089F31E1D80}"/>
              </a:ext>
            </a:extLst>
          </p:cNvPr>
          <p:cNvSpPr/>
          <p:nvPr/>
        </p:nvSpPr>
        <p:spPr>
          <a:xfrm rot="16200000">
            <a:off x="4058947" y="3454836"/>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AB1FF83-420F-6049-912C-D79616B64D7E}"/>
              </a:ext>
            </a:extLst>
          </p:cNvPr>
          <p:cNvSpPr txBox="1"/>
          <p:nvPr/>
        </p:nvSpPr>
        <p:spPr>
          <a:xfrm>
            <a:off x="4721106" y="4690606"/>
            <a:ext cx="1454244" cy="400110"/>
          </a:xfrm>
          <a:prstGeom prst="rect">
            <a:avLst/>
          </a:prstGeom>
          <a:noFill/>
        </p:spPr>
        <p:txBody>
          <a:bodyPr wrap="none" rtlCol="0">
            <a:spAutoFit/>
          </a:bodyPr>
          <a:lstStyle/>
          <a:p>
            <a:r>
              <a:rPr lang="en-US" sz="2000" b="1" dirty="0" err="1">
                <a:solidFill>
                  <a:srgbClr val="FF0000"/>
                </a:solidFill>
                <a:latin typeface="Consolas" panose="020B0609020204030204" pitchFamily="49" charset="0"/>
                <a:cs typeface="Consolas" panose="020B0609020204030204" pitchFamily="49" charset="0"/>
              </a:rPr>
              <a:t>jal</a:t>
            </a: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func</a:t>
            </a:r>
            <a:endParaRPr lang="en-US" sz="2000" b="1" dirty="0">
              <a:solidFill>
                <a:schemeClr val="accent3">
                  <a:lumMod val="75000"/>
                </a:schemeClr>
              </a:solidFill>
              <a:latin typeface="Consolas" panose="020B0609020204030204" pitchFamily="49" charset="0"/>
              <a:cs typeface="Consolas" panose="020B0609020204030204" pitchFamily="49" charset="0"/>
            </a:endParaRPr>
          </a:p>
        </p:txBody>
      </p:sp>
      <p:sp>
        <p:nvSpPr>
          <p:cNvPr id="16" name="Down Arrow 15">
            <a:extLst>
              <a:ext uri="{FF2B5EF4-FFF2-40B4-BE49-F238E27FC236}">
                <a16:creationId xmlns:a16="http://schemas.microsoft.com/office/drawing/2014/main" id="{E42740CD-C3E1-3448-90C0-2747AD43EF0E}"/>
              </a:ext>
            </a:extLst>
          </p:cNvPr>
          <p:cNvSpPr/>
          <p:nvPr/>
        </p:nvSpPr>
        <p:spPr>
          <a:xfrm rot="16200000">
            <a:off x="4058947" y="4634515"/>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07298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animBg="1"/>
      <p:bldP spid="11" grpId="0"/>
      <p:bldP spid="12" grpId="0" animBg="1"/>
      <p:bldP spid="13" grpId="0"/>
      <p:bldP spid="14" grpId="0" animBg="1"/>
      <p:bldP spid="15" grpId="0"/>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EC9C-9A5F-9948-939B-CAD783146E9A}"/>
              </a:ext>
            </a:extLst>
          </p:cNvPr>
          <p:cNvSpPr>
            <a:spLocks noGrp="1"/>
          </p:cNvSpPr>
          <p:nvPr>
            <p:ph type="ctrTitle"/>
          </p:nvPr>
        </p:nvSpPr>
        <p:spPr/>
        <p:txBody>
          <a:bodyPr/>
          <a:lstStyle/>
          <a:p>
            <a:r>
              <a:rPr lang="en-US" dirty="0"/>
              <a:t>Single Static </a:t>
            </a:r>
            <a:br>
              <a:rPr lang="en-US" dirty="0"/>
            </a:br>
            <a:r>
              <a:rPr lang="en-US" dirty="0"/>
              <a:t>Assignment Form (SSA)</a:t>
            </a:r>
          </a:p>
        </p:txBody>
      </p:sp>
      <p:sp>
        <p:nvSpPr>
          <p:cNvPr id="3" name="Slide Number Placeholder 2">
            <a:extLst>
              <a:ext uri="{FF2B5EF4-FFF2-40B4-BE49-F238E27FC236}">
                <a16:creationId xmlns:a16="http://schemas.microsoft.com/office/drawing/2014/main" id="{D2D9B2EB-05E6-FD43-83D2-28BF7BD12182}"/>
              </a:ext>
            </a:extLst>
          </p:cNvPr>
          <p:cNvSpPr>
            <a:spLocks noGrp="1"/>
          </p:cNvSpPr>
          <p:nvPr>
            <p:ph type="sldNum" sz="quarter" idx="12"/>
          </p:nvPr>
        </p:nvSpPr>
        <p:spPr/>
        <p:txBody>
          <a:bodyPr/>
          <a:lstStyle/>
          <a:p>
            <a:fld id="{3552B95B-556F-44BD-91A5-D80C1B9E2BB3}" type="slidenum">
              <a:rPr lang="en-US" smtClean="0"/>
              <a:pPr/>
              <a:t>20</a:t>
            </a:fld>
            <a:endParaRPr lang="en-US"/>
          </a:p>
        </p:txBody>
      </p:sp>
    </p:spTree>
    <p:extLst>
      <p:ext uri="{BB962C8B-B14F-4D97-AF65-F5344CB8AC3E}">
        <p14:creationId xmlns:p14="http://schemas.microsoft.com/office/powerpoint/2010/main" val="75036573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B48D-D5A5-5A4A-B82D-F41CA87D34AB}"/>
              </a:ext>
            </a:extLst>
          </p:cNvPr>
          <p:cNvSpPr>
            <a:spLocks noGrp="1"/>
          </p:cNvSpPr>
          <p:nvPr>
            <p:ph type="title"/>
          </p:nvPr>
        </p:nvSpPr>
        <p:spPr/>
        <p:txBody>
          <a:bodyPr/>
          <a:lstStyle/>
          <a:p>
            <a:r>
              <a:rPr lang="en-US" dirty="0"/>
              <a:t>Hitting a wall</a:t>
            </a:r>
          </a:p>
        </p:txBody>
      </p:sp>
      <p:sp>
        <p:nvSpPr>
          <p:cNvPr id="3" name="Content Placeholder 2">
            <a:extLst>
              <a:ext uri="{FF2B5EF4-FFF2-40B4-BE49-F238E27FC236}">
                <a16:creationId xmlns:a16="http://schemas.microsoft.com/office/drawing/2014/main" id="{0B107F06-DBE1-C549-82C8-0B208F851127}"/>
              </a:ext>
            </a:extLst>
          </p:cNvPr>
          <p:cNvSpPr>
            <a:spLocks noGrp="1"/>
          </p:cNvSpPr>
          <p:nvPr>
            <p:ph idx="1"/>
          </p:nvPr>
        </p:nvSpPr>
        <p:spPr>
          <a:xfrm>
            <a:off x="152400" y="495302"/>
            <a:ext cx="8991600" cy="495300"/>
          </a:xfrm>
        </p:spPr>
        <p:txBody>
          <a:bodyPr/>
          <a:lstStyle/>
          <a:p>
            <a:r>
              <a:rPr lang="en-US" dirty="0"/>
              <a:t>let's apply all the optimizations we've seen to this bit of code.</a:t>
            </a:r>
          </a:p>
        </p:txBody>
      </p:sp>
      <p:sp>
        <p:nvSpPr>
          <p:cNvPr id="4" name="Slide Number Placeholder 3">
            <a:extLst>
              <a:ext uri="{FF2B5EF4-FFF2-40B4-BE49-F238E27FC236}">
                <a16:creationId xmlns:a16="http://schemas.microsoft.com/office/drawing/2014/main" id="{0C36A060-5E20-8845-B899-41D0B8113116}"/>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5" name="TextBox 4">
            <a:extLst>
              <a:ext uri="{FF2B5EF4-FFF2-40B4-BE49-F238E27FC236}">
                <a16:creationId xmlns:a16="http://schemas.microsoft.com/office/drawing/2014/main" id="{85FAE41C-2767-1046-9085-EE603AA8B9F1}"/>
              </a:ext>
            </a:extLst>
          </p:cNvPr>
          <p:cNvSpPr txBox="1"/>
          <p:nvPr/>
        </p:nvSpPr>
        <p:spPr>
          <a:xfrm>
            <a:off x="304800" y="1008649"/>
            <a:ext cx="2050561" cy="280076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10</a:t>
            </a:r>
            <a:r>
              <a:rPr lang="en-US" sz="2200" b="1" dirty="0">
                <a:latin typeface="Consolas" panose="020B0609020204030204" pitchFamily="49" charset="0"/>
                <a:cs typeface="Consolas" panose="020B0609020204030204" pitchFamily="49" charset="0"/>
              </a:rPr>
              <a:t> * </a:t>
            </a:r>
            <a:r>
              <a:rPr lang="en-US" sz="2200" b="1" dirty="0">
                <a:solidFill>
                  <a:schemeClr val="accent3">
                    <a:lumMod val="75000"/>
                  </a:schemeClr>
                </a:solidFill>
                <a:latin typeface="Consolas" panose="020B0609020204030204" pitchFamily="49" charset="0"/>
                <a:cs typeface="Consolas" panose="020B0609020204030204" pitchFamily="49" charset="0"/>
              </a:rPr>
              <a:t>16</a:t>
            </a: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r>
              <a:rPr lang="en-US" sz="2200" b="1" dirty="0">
                <a:latin typeface="Consolas" panose="020B0609020204030204" pitchFamily="49" charset="0"/>
                <a:cs typeface="Consolas" panose="020B0609020204030204" pitchFamily="49" charset="0"/>
              </a:rPr>
              <a:t>x = x * </a:t>
            </a:r>
            <a:r>
              <a:rPr lang="en-US" sz="2200" b="1" dirty="0">
                <a:solidFill>
                  <a:schemeClr val="accent3">
                    <a:lumMod val="75000"/>
                  </a:schemeClr>
                </a:solidFill>
                <a:latin typeface="Consolas" panose="020B0609020204030204" pitchFamily="49" charset="0"/>
                <a:cs typeface="Consolas" panose="020B0609020204030204" pitchFamily="49" charset="0"/>
              </a:rPr>
              <a:t>4</a:t>
            </a: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r>
              <a:rPr lang="en-US" sz="2200" b="1" dirty="0">
                <a:latin typeface="Consolas" panose="020B0609020204030204" pitchFamily="49" charset="0"/>
                <a:cs typeface="Consolas" panose="020B0609020204030204" pitchFamily="49" charset="0"/>
              </a:rPr>
              <a:t>x = x * </a:t>
            </a:r>
            <a:r>
              <a:rPr lang="en-US" sz="2200" b="1" dirty="0">
                <a:solidFill>
                  <a:schemeClr val="accent3">
                    <a:lumMod val="75000"/>
                  </a:schemeClr>
                </a:solidFill>
                <a:latin typeface="Consolas" panose="020B0609020204030204" pitchFamily="49" charset="0"/>
                <a:cs typeface="Consolas" panose="020B0609020204030204" pitchFamily="49" charset="0"/>
              </a:rPr>
              <a:t>1</a:t>
            </a: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r>
              <a:rPr lang="en-US" sz="2200" b="1" dirty="0">
                <a:latin typeface="Consolas" panose="020B0609020204030204" pitchFamily="49" charset="0"/>
                <a:cs typeface="Consolas" panose="020B0609020204030204" pitchFamily="49" charset="0"/>
              </a:rPr>
              <a:t>$t0 = x</a:t>
            </a:r>
          </a:p>
          <a:p>
            <a:r>
              <a:rPr lang="en-US" sz="2200" b="1" dirty="0">
                <a:solidFill>
                  <a:srgbClr val="FF0000"/>
                </a:solidFill>
                <a:latin typeface="Consolas" panose="020B0609020204030204" pitchFamily="49" charset="0"/>
                <a:cs typeface="Consolas" panose="020B0609020204030204" pitchFamily="49" charset="0"/>
              </a:rPr>
              <a:t>return</a:t>
            </a:r>
          </a:p>
        </p:txBody>
      </p:sp>
      <p:sp>
        <p:nvSpPr>
          <p:cNvPr id="6" name="TextBox 5">
            <a:extLst>
              <a:ext uri="{FF2B5EF4-FFF2-40B4-BE49-F238E27FC236}">
                <a16:creationId xmlns:a16="http://schemas.microsoft.com/office/drawing/2014/main" id="{FBF1BEB8-AB33-6B4F-8314-1D992F0F2CB0}"/>
              </a:ext>
            </a:extLst>
          </p:cNvPr>
          <p:cNvSpPr txBox="1"/>
          <p:nvPr/>
        </p:nvSpPr>
        <p:spPr>
          <a:xfrm>
            <a:off x="6822691" y="1040926"/>
            <a:ext cx="2050561" cy="2800767"/>
          </a:xfrm>
          <a:prstGeom prst="rect">
            <a:avLst/>
          </a:prstGeom>
          <a:noFill/>
        </p:spPr>
        <p:txBody>
          <a:bodyPr wrap="none" rtlCol="0">
            <a:spAutoFit/>
          </a:bodyPr>
          <a:lstStyle/>
          <a:p>
            <a:r>
              <a:rPr lang="en-US" sz="2200" b="1" dirty="0">
                <a:latin typeface="Consolas" panose="020B0609020204030204" pitchFamily="49" charset="0"/>
                <a:cs typeface="Consolas" panose="020B0609020204030204" pitchFamily="49" charset="0"/>
              </a:rPr>
              <a:t>x = </a:t>
            </a:r>
            <a:r>
              <a:rPr lang="en-US" sz="2200" b="1" dirty="0">
                <a:solidFill>
                  <a:schemeClr val="accent3">
                    <a:lumMod val="75000"/>
                  </a:schemeClr>
                </a:solidFill>
                <a:latin typeface="Consolas" panose="020B0609020204030204" pitchFamily="49" charset="0"/>
                <a:cs typeface="Consolas" panose="020B0609020204030204" pitchFamily="49" charset="0"/>
              </a:rPr>
              <a:t>160</a:t>
            </a: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r>
              <a:rPr lang="en-US" sz="2200" b="1" dirty="0">
                <a:latin typeface="Consolas" panose="020B0609020204030204" pitchFamily="49" charset="0"/>
                <a:cs typeface="Consolas" panose="020B0609020204030204" pitchFamily="49" charset="0"/>
              </a:rPr>
              <a:t>x = x &lt;&lt; </a:t>
            </a:r>
            <a:r>
              <a:rPr lang="en-US" sz="2200" b="1" dirty="0">
                <a:solidFill>
                  <a:schemeClr val="accent3">
                    <a:lumMod val="75000"/>
                  </a:schemeClr>
                </a:solidFill>
                <a:latin typeface="Consolas" panose="020B0609020204030204" pitchFamily="49" charset="0"/>
                <a:cs typeface="Consolas" panose="020B0609020204030204" pitchFamily="49" charset="0"/>
              </a:rPr>
              <a:t>2</a:t>
            </a: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endParaRPr lang="en-US" sz="2200" b="1" dirty="0">
              <a:latin typeface="Consolas" panose="020B0609020204030204" pitchFamily="49" charset="0"/>
              <a:cs typeface="Consolas" panose="020B0609020204030204" pitchFamily="49" charset="0"/>
            </a:endParaRPr>
          </a:p>
          <a:p>
            <a:r>
              <a:rPr lang="en-US" sz="2200" b="1" dirty="0" err="1">
                <a:latin typeface="Consolas" panose="020B0609020204030204" pitchFamily="49" charset="0"/>
                <a:cs typeface="Consolas" panose="020B0609020204030204" pitchFamily="49" charset="0"/>
              </a:rPr>
              <a:t>println_i</a:t>
            </a:r>
            <a:r>
              <a:rPr lang="en-US" sz="2200" b="1" dirty="0">
                <a:latin typeface="Consolas" panose="020B0609020204030204" pitchFamily="49" charset="0"/>
                <a:cs typeface="Consolas" panose="020B0609020204030204" pitchFamily="49" charset="0"/>
              </a:rPr>
              <a:t>(x)</a:t>
            </a:r>
          </a:p>
          <a:p>
            <a:r>
              <a:rPr lang="en-US" sz="2200" b="1" dirty="0">
                <a:latin typeface="Consolas" panose="020B0609020204030204" pitchFamily="49" charset="0"/>
                <a:cs typeface="Consolas" panose="020B0609020204030204" pitchFamily="49" charset="0"/>
              </a:rPr>
              <a:t>$t0 = x</a:t>
            </a:r>
          </a:p>
          <a:p>
            <a:r>
              <a:rPr lang="en-US" sz="2200" b="1" dirty="0">
                <a:solidFill>
                  <a:srgbClr val="FF0000"/>
                </a:solidFill>
                <a:latin typeface="Consolas" panose="020B0609020204030204" pitchFamily="49" charset="0"/>
                <a:cs typeface="Consolas" panose="020B0609020204030204" pitchFamily="49" charset="0"/>
              </a:rPr>
              <a:t>return</a:t>
            </a:r>
          </a:p>
        </p:txBody>
      </p:sp>
      <p:sp>
        <p:nvSpPr>
          <p:cNvPr id="7" name="Rounded Rectangle 6">
            <a:extLst>
              <a:ext uri="{FF2B5EF4-FFF2-40B4-BE49-F238E27FC236}">
                <a16:creationId xmlns:a16="http://schemas.microsoft.com/office/drawing/2014/main" id="{E9FBCECF-54A5-DE40-97A8-A862DDDD5629}"/>
              </a:ext>
            </a:extLst>
          </p:cNvPr>
          <p:cNvSpPr/>
          <p:nvPr/>
        </p:nvSpPr>
        <p:spPr>
          <a:xfrm>
            <a:off x="990601" y="1039724"/>
            <a:ext cx="1143000" cy="381572"/>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8" name="TextBox 7">
            <a:extLst>
              <a:ext uri="{FF2B5EF4-FFF2-40B4-BE49-F238E27FC236}">
                <a16:creationId xmlns:a16="http://schemas.microsoft.com/office/drawing/2014/main" id="{AEEB04DB-C7D8-B845-8149-B0D6B06ECB69}"/>
              </a:ext>
            </a:extLst>
          </p:cNvPr>
          <p:cNvSpPr txBox="1"/>
          <p:nvPr/>
        </p:nvSpPr>
        <p:spPr>
          <a:xfrm>
            <a:off x="2362200" y="1022529"/>
            <a:ext cx="2714261" cy="430887"/>
          </a:xfrm>
          <a:prstGeom prst="rect">
            <a:avLst/>
          </a:prstGeom>
          <a:noFill/>
        </p:spPr>
        <p:txBody>
          <a:bodyPr wrap="square" rtlCol="0">
            <a:spAutoFit/>
          </a:bodyPr>
          <a:lstStyle/>
          <a:p>
            <a:r>
              <a:rPr lang="en-US" sz="2200" b="1" dirty="0">
                <a:solidFill>
                  <a:srgbClr val="00B050"/>
                </a:solidFill>
              </a:rPr>
              <a:t>constant folding…</a:t>
            </a:r>
          </a:p>
        </p:txBody>
      </p:sp>
      <p:sp>
        <p:nvSpPr>
          <p:cNvPr id="9" name="Rounded Rectangle 8">
            <a:extLst>
              <a:ext uri="{FF2B5EF4-FFF2-40B4-BE49-F238E27FC236}">
                <a16:creationId xmlns:a16="http://schemas.microsoft.com/office/drawing/2014/main" id="{FC8DBC24-B14C-9C43-859B-5D4F0C92A59E}"/>
              </a:ext>
            </a:extLst>
          </p:cNvPr>
          <p:cNvSpPr/>
          <p:nvPr/>
        </p:nvSpPr>
        <p:spPr>
          <a:xfrm>
            <a:off x="966537" y="1741004"/>
            <a:ext cx="911959" cy="336274"/>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0" name="TextBox 9">
            <a:extLst>
              <a:ext uri="{FF2B5EF4-FFF2-40B4-BE49-F238E27FC236}">
                <a16:creationId xmlns:a16="http://schemas.microsoft.com/office/drawing/2014/main" id="{64E5C70F-07C1-E541-B58E-4709A3FA849D}"/>
              </a:ext>
            </a:extLst>
          </p:cNvPr>
          <p:cNvSpPr txBox="1"/>
          <p:nvPr/>
        </p:nvSpPr>
        <p:spPr>
          <a:xfrm>
            <a:off x="2338137" y="1654077"/>
            <a:ext cx="2995863" cy="430887"/>
          </a:xfrm>
          <a:prstGeom prst="rect">
            <a:avLst/>
          </a:prstGeom>
          <a:noFill/>
        </p:spPr>
        <p:txBody>
          <a:bodyPr wrap="square" rtlCol="0">
            <a:spAutoFit/>
          </a:bodyPr>
          <a:lstStyle/>
          <a:p>
            <a:r>
              <a:rPr lang="en-US" sz="2200" b="1" dirty="0">
                <a:solidFill>
                  <a:srgbClr val="00B050"/>
                </a:solidFill>
              </a:rPr>
              <a:t>strength reduction…</a:t>
            </a:r>
          </a:p>
        </p:txBody>
      </p:sp>
      <p:sp>
        <p:nvSpPr>
          <p:cNvPr id="11" name="Rounded Rectangle 10">
            <a:extLst>
              <a:ext uri="{FF2B5EF4-FFF2-40B4-BE49-F238E27FC236}">
                <a16:creationId xmlns:a16="http://schemas.microsoft.com/office/drawing/2014/main" id="{25BBF827-5EC2-9C48-AC93-42F86740875E}"/>
              </a:ext>
            </a:extLst>
          </p:cNvPr>
          <p:cNvSpPr/>
          <p:nvPr/>
        </p:nvSpPr>
        <p:spPr>
          <a:xfrm>
            <a:off x="339290" y="2421715"/>
            <a:ext cx="1549145" cy="321485"/>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2" name="TextBox 11">
            <a:extLst>
              <a:ext uri="{FF2B5EF4-FFF2-40B4-BE49-F238E27FC236}">
                <a16:creationId xmlns:a16="http://schemas.microsoft.com/office/drawing/2014/main" id="{DE068E7A-3954-F040-B5DB-BE8BF7C91A0C}"/>
              </a:ext>
            </a:extLst>
          </p:cNvPr>
          <p:cNvSpPr txBox="1"/>
          <p:nvPr/>
        </p:nvSpPr>
        <p:spPr>
          <a:xfrm>
            <a:off x="2362200" y="2367013"/>
            <a:ext cx="3505200" cy="430887"/>
          </a:xfrm>
          <a:prstGeom prst="rect">
            <a:avLst/>
          </a:prstGeom>
          <a:noFill/>
        </p:spPr>
        <p:txBody>
          <a:bodyPr wrap="square" rtlCol="0">
            <a:spAutoFit/>
          </a:bodyPr>
          <a:lstStyle/>
          <a:p>
            <a:r>
              <a:rPr lang="en-US" sz="2200" b="1" dirty="0">
                <a:solidFill>
                  <a:srgbClr val="00B050"/>
                </a:solidFill>
              </a:rPr>
              <a:t>algebraic simplification…</a:t>
            </a:r>
          </a:p>
        </p:txBody>
      </p:sp>
      <p:sp>
        <p:nvSpPr>
          <p:cNvPr id="13" name="Down Arrow 12">
            <a:extLst>
              <a:ext uri="{FF2B5EF4-FFF2-40B4-BE49-F238E27FC236}">
                <a16:creationId xmlns:a16="http://schemas.microsoft.com/office/drawing/2014/main" id="{F443DCC6-8794-344C-AFE8-0FEFA9895353}"/>
              </a:ext>
            </a:extLst>
          </p:cNvPr>
          <p:cNvSpPr/>
          <p:nvPr/>
        </p:nvSpPr>
        <p:spPr>
          <a:xfrm rot="16200000">
            <a:off x="5967540" y="2171695"/>
            <a:ext cx="688751" cy="68285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65AE59-EA52-A94B-A309-CF571A4A70E0}"/>
              </a:ext>
            </a:extLst>
          </p:cNvPr>
          <p:cNvSpPr txBox="1"/>
          <p:nvPr/>
        </p:nvSpPr>
        <p:spPr>
          <a:xfrm>
            <a:off x="2573146" y="3114920"/>
            <a:ext cx="3505200" cy="769441"/>
          </a:xfrm>
          <a:prstGeom prst="rect">
            <a:avLst/>
          </a:prstGeom>
          <a:noFill/>
        </p:spPr>
        <p:txBody>
          <a:bodyPr wrap="square" rtlCol="0">
            <a:spAutoFit/>
          </a:bodyPr>
          <a:lstStyle/>
          <a:p>
            <a:pPr algn="ctr"/>
            <a:r>
              <a:rPr lang="en-US" sz="2200" dirty="0"/>
              <a:t>kind of leaves something to be desired, no?</a:t>
            </a:r>
            <a:endParaRPr lang="en-US" sz="2200" b="1" dirty="0"/>
          </a:p>
        </p:txBody>
      </p:sp>
      <p:sp>
        <p:nvSpPr>
          <p:cNvPr id="15" name="TextBox 14">
            <a:extLst>
              <a:ext uri="{FF2B5EF4-FFF2-40B4-BE49-F238E27FC236}">
                <a16:creationId xmlns:a16="http://schemas.microsoft.com/office/drawing/2014/main" id="{9B9E5494-1017-AA49-8F32-2DFE3F94C1FD}"/>
              </a:ext>
            </a:extLst>
          </p:cNvPr>
          <p:cNvSpPr txBox="1"/>
          <p:nvPr/>
        </p:nvSpPr>
        <p:spPr>
          <a:xfrm>
            <a:off x="685800" y="3958867"/>
            <a:ext cx="7543800" cy="430887"/>
          </a:xfrm>
          <a:prstGeom prst="rect">
            <a:avLst/>
          </a:prstGeom>
          <a:noFill/>
        </p:spPr>
        <p:txBody>
          <a:bodyPr wrap="square" rtlCol="0">
            <a:spAutoFit/>
          </a:bodyPr>
          <a:lstStyle/>
          <a:p>
            <a:pPr algn="ctr"/>
            <a:r>
              <a:rPr lang="en-US" sz="2200" dirty="0"/>
              <a:t>think about it: </a:t>
            </a:r>
            <a:r>
              <a:rPr lang="en-US" sz="2200" b="1" dirty="0"/>
              <a:t>do we really even </a:t>
            </a:r>
            <a:r>
              <a:rPr lang="en-US" sz="2200" b="1" i="1" dirty="0"/>
              <a:t>need</a:t>
            </a:r>
            <a:r>
              <a:rPr lang="en-US" sz="2200" b="1" dirty="0"/>
              <a:t> this x variable?</a:t>
            </a:r>
          </a:p>
        </p:txBody>
      </p:sp>
      <p:sp>
        <p:nvSpPr>
          <p:cNvPr id="16" name="TextBox 15">
            <a:extLst>
              <a:ext uri="{FF2B5EF4-FFF2-40B4-BE49-F238E27FC236}">
                <a16:creationId xmlns:a16="http://schemas.microsoft.com/office/drawing/2014/main" id="{07752096-7C4C-0A44-9B96-5F9CFE12776E}"/>
              </a:ext>
            </a:extLst>
          </p:cNvPr>
          <p:cNvSpPr txBox="1"/>
          <p:nvPr/>
        </p:nvSpPr>
        <p:spPr>
          <a:xfrm>
            <a:off x="800100" y="4527946"/>
            <a:ext cx="7543800" cy="769441"/>
          </a:xfrm>
          <a:prstGeom prst="rect">
            <a:avLst/>
          </a:prstGeom>
          <a:noFill/>
        </p:spPr>
        <p:txBody>
          <a:bodyPr wrap="square" rtlCol="0">
            <a:spAutoFit/>
          </a:bodyPr>
          <a:lstStyle/>
          <a:p>
            <a:pPr algn="ctr"/>
            <a:r>
              <a:rPr lang="en-US" sz="2200" dirty="0"/>
              <a:t>well, to make things easier on ourselves, first we're going to convert the code into a </a:t>
            </a:r>
            <a:r>
              <a:rPr lang="en-US" sz="2200" b="1" dirty="0"/>
              <a:t>single assignment form.</a:t>
            </a:r>
          </a:p>
        </p:txBody>
      </p:sp>
    </p:spTree>
    <p:extLst>
      <p:ext uri="{BB962C8B-B14F-4D97-AF65-F5344CB8AC3E}">
        <p14:creationId xmlns:p14="http://schemas.microsoft.com/office/powerpoint/2010/main" val="2062924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animBg="1"/>
      <p:bldP spid="10" grpId="0"/>
      <p:bldP spid="11" grpId="0" animBg="1"/>
      <p:bldP spid="12" grpId="0"/>
      <p:bldP spid="13" grpId="0" animBg="1"/>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651C-C2B8-F546-9977-0FCD7889AFE9}"/>
              </a:ext>
            </a:extLst>
          </p:cNvPr>
          <p:cNvSpPr>
            <a:spLocks noGrp="1"/>
          </p:cNvSpPr>
          <p:nvPr>
            <p:ph type="title"/>
          </p:nvPr>
        </p:nvSpPr>
        <p:spPr/>
        <p:txBody>
          <a:bodyPr/>
          <a:lstStyle/>
          <a:p>
            <a:r>
              <a:rPr lang="en-US" dirty="0"/>
              <a:t>I AM LEAVING OUT A LOT OF DETAILS HERE</a:t>
            </a:r>
          </a:p>
        </p:txBody>
      </p:sp>
      <p:sp>
        <p:nvSpPr>
          <p:cNvPr id="3" name="Content Placeholder 2">
            <a:extLst>
              <a:ext uri="{FF2B5EF4-FFF2-40B4-BE49-F238E27FC236}">
                <a16:creationId xmlns:a16="http://schemas.microsoft.com/office/drawing/2014/main" id="{7FE26EBF-C492-BD44-A96E-90B5EC512C63}"/>
              </a:ext>
            </a:extLst>
          </p:cNvPr>
          <p:cNvSpPr>
            <a:spLocks noGrp="1"/>
          </p:cNvSpPr>
          <p:nvPr>
            <p:ph idx="1"/>
          </p:nvPr>
        </p:nvSpPr>
        <p:spPr>
          <a:xfrm>
            <a:off x="152400" y="495301"/>
            <a:ext cx="8991600" cy="1447799"/>
          </a:xfrm>
        </p:spPr>
        <p:txBody>
          <a:bodyPr/>
          <a:lstStyle/>
          <a:p>
            <a:r>
              <a:rPr lang="en-US" b="1" dirty="0"/>
              <a:t>single static assignment (SSA) form </a:t>
            </a:r>
            <a:r>
              <a:rPr lang="en-US" dirty="0"/>
              <a:t>rewrites the code so that each location is only assigned </a:t>
            </a:r>
            <a:r>
              <a:rPr lang="en-US" i="1" dirty="0"/>
              <a:t>once, </a:t>
            </a:r>
            <a:r>
              <a:rPr lang="en-US" dirty="0"/>
              <a:t>and is never </a:t>
            </a:r>
            <a:r>
              <a:rPr lang="en-US" i="1" dirty="0"/>
              <a:t>reassigned.</a:t>
            </a:r>
          </a:p>
          <a:p>
            <a:r>
              <a:rPr lang="en-US" b="1" dirty="0">
                <a:solidFill>
                  <a:srgbClr val="FF0000"/>
                </a:solidFill>
              </a:rPr>
              <a:t>this does not "optimize" the code at all,</a:t>
            </a:r>
            <a:r>
              <a:rPr lang="en-US" b="1" dirty="0"/>
              <a:t> </a:t>
            </a:r>
            <a:r>
              <a:rPr lang="en-US" dirty="0"/>
              <a:t>but it </a:t>
            </a:r>
            <a:r>
              <a:rPr lang="en-US" i="1" dirty="0"/>
              <a:t>does</a:t>
            </a:r>
            <a:r>
              <a:rPr lang="en-US" dirty="0"/>
              <a:t> make several other optimizations </a:t>
            </a:r>
            <a:r>
              <a:rPr lang="en-US" i="1" dirty="0"/>
              <a:t>much </a:t>
            </a:r>
            <a:r>
              <a:rPr lang="en-US" dirty="0"/>
              <a:t>easier to perform.</a:t>
            </a:r>
            <a:endParaRPr lang="en-US" b="1" dirty="0"/>
          </a:p>
        </p:txBody>
      </p:sp>
      <p:sp>
        <p:nvSpPr>
          <p:cNvPr id="4" name="Slide Number Placeholder 3">
            <a:extLst>
              <a:ext uri="{FF2B5EF4-FFF2-40B4-BE49-F238E27FC236}">
                <a16:creationId xmlns:a16="http://schemas.microsoft.com/office/drawing/2014/main" id="{0E901DD9-0266-4841-AD97-BF9D92B31737}"/>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TextBox 4">
            <a:extLst>
              <a:ext uri="{FF2B5EF4-FFF2-40B4-BE49-F238E27FC236}">
                <a16:creationId xmlns:a16="http://schemas.microsoft.com/office/drawing/2014/main" id="{CBBD6F66-65BC-524D-96A5-3B2EDA763D07}"/>
              </a:ext>
            </a:extLst>
          </p:cNvPr>
          <p:cNvSpPr txBox="1"/>
          <p:nvPr/>
        </p:nvSpPr>
        <p:spPr>
          <a:xfrm>
            <a:off x="381000" y="2171700"/>
            <a:ext cx="1877437" cy="2554545"/>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16</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x = x *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x = x * </a:t>
            </a:r>
            <a:r>
              <a:rPr lang="en-US" sz="2000" b="1" dirty="0">
                <a:solidFill>
                  <a:schemeClr val="accent3">
                    <a:lumMod val="75000"/>
                  </a:schemeClr>
                </a:solidFill>
                <a:latin typeface="Consolas" panose="020B0609020204030204" pitchFamily="49" charset="0"/>
                <a:cs typeface="Consolas" panose="020B0609020204030204" pitchFamily="49" charset="0"/>
              </a:rPr>
              <a:t>1</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p>
          <a:p>
            <a:r>
              <a:rPr lang="en-US" sz="2000" b="1" dirty="0">
                <a:latin typeface="Consolas" panose="020B0609020204030204" pitchFamily="49" charset="0"/>
                <a:cs typeface="Consolas" panose="020B0609020204030204" pitchFamily="49" charset="0"/>
              </a:rPr>
              <a:t>$t0 = x</a:t>
            </a: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6" name="TextBox 5">
            <a:extLst>
              <a:ext uri="{FF2B5EF4-FFF2-40B4-BE49-F238E27FC236}">
                <a16:creationId xmlns:a16="http://schemas.microsoft.com/office/drawing/2014/main" id="{4F462560-D80F-944D-9917-1ACA2F3AA28F}"/>
              </a:ext>
            </a:extLst>
          </p:cNvPr>
          <p:cNvSpPr txBox="1"/>
          <p:nvPr/>
        </p:nvSpPr>
        <p:spPr>
          <a:xfrm>
            <a:off x="3227967" y="2171700"/>
            <a:ext cx="1972015" cy="2554545"/>
          </a:xfrm>
          <a:prstGeom prst="rect">
            <a:avLst/>
          </a:prstGeom>
          <a:noFill/>
        </p:spPr>
        <p:txBody>
          <a:bodyPr wrap="none" rtlCol="0">
            <a:spAutoFit/>
          </a:bodyPr>
          <a:lstStyle/>
          <a:p>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16</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 = x</a:t>
            </a:r>
            <a:r>
              <a:rPr lang="en-US" sz="2000" b="1" baseline="-25000" dirty="0">
                <a:latin typeface="Consolas" panose="020B0609020204030204" pitchFamily="49" charset="0"/>
                <a:cs typeface="Consolas" panose="020B0609020204030204" pitchFamily="49" charset="0"/>
              </a:rPr>
              <a:t>1</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4</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 = x</a:t>
            </a:r>
            <a:r>
              <a:rPr lang="en-US" sz="2000" b="1" baseline="-25000" dirty="0">
                <a:latin typeface="Consolas" panose="020B0609020204030204" pitchFamily="49" charset="0"/>
                <a:cs typeface="Consolas" panose="020B0609020204030204" pitchFamily="49" charset="0"/>
              </a:rPr>
              <a:t>2</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a:t>
            </a:r>
          </a:p>
          <a:p>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(x</a:t>
            </a:r>
            <a:r>
              <a:rPr lang="en-US" sz="2000" b="1" baseline="-25000" dirty="0">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$t0 = x</a:t>
            </a:r>
            <a:r>
              <a:rPr lang="en-US" sz="2000" b="1" baseline="-25000" dirty="0">
                <a:latin typeface="Consolas" panose="020B0609020204030204" pitchFamily="49" charset="0"/>
                <a:cs typeface="Consolas" panose="020B0609020204030204" pitchFamily="49" charset="0"/>
              </a:rPr>
              <a:t>3</a:t>
            </a:r>
          </a:p>
          <a:p>
            <a:r>
              <a:rPr lang="en-US" sz="2000" b="1" dirty="0">
                <a:solidFill>
                  <a:srgbClr val="FF0000"/>
                </a:solidFill>
                <a:latin typeface="Consolas" panose="020B0609020204030204" pitchFamily="49" charset="0"/>
                <a:cs typeface="Consolas" panose="020B0609020204030204" pitchFamily="49" charset="0"/>
              </a:rPr>
              <a:t>return</a:t>
            </a:r>
          </a:p>
        </p:txBody>
      </p:sp>
      <p:sp>
        <p:nvSpPr>
          <p:cNvPr id="7" name="Right Arrow 6">
            <a:extLst>
              <a:ext uri="{FF2B5EF4-FFF2-40B4-BE49-F238E27FC236}">
                <a16:creationId xmlns:a16="http://schemas.microsoft.com/office/drawing/2014/main" id="{44F22A8A-D0E6-9443-A45F-F41D6AC1981D}"/>
              </a:ext>
            </a:extLst>
          </p:cNvPr>
          <p:cNvSpPr/>
          <p:nvPr/>
        </p:nvSpPr>
        <p:spPr>
          <a:xfrm>
            <a:off x="2362200" y="2978092"/>
            <a:ext cx="762004" cy="68285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SSA!</a:t>
            </a:r>
          </a:p>
        </p:txBody>
      </p:sp>
      <p:sp>
        <p:nvSpPr>
          <p:cNvPr id="8" name="TextBox 7">
            <a:extLst>
              <a:ext uri="{FF2B5EF4-FFF2-40B4-BE49-F238E27FC236}">
                <a16:creationId xmlns:a16="http://schemas.microsoft.com/office/drawing/2014/main" id="{ABB618C4-5CA3-EF41-81E7-F3302A0457D8}"/>
              </a:ext>
            </a:extLst>
          </p:cNvPr>
          <p:cNvSpPr txBox="1"/>
          <p:nvPr/>
        </p:nvSpPr>
        <p:spPr>
          <a:xfrm>
            <a:off x="5486400" y="2156791"/>
            <a:ext cx="3429000" cy="1107996"/>
          </a:xfrm>
          <a:prstGeom prst="rect">
            <a:avLst/>
          </a:prstGeom>
          <a:noFill/>
        </p:spPr>
        <p:txBody>
          <a:bodyPr wrap="square" rtlCol="0">
            <a:spAutoFit/>
          </a:bodyPr>
          <a:lstStyle/>
          <a:p>
            <a:pPr algn="ctr"/>
            <a:r>
              <a:rPr lang="en-US" sz="2200" dirty="0"/>
              <a:t>each time </a:t>
            </a:r>
            <a:r>
              <a:rPr lang="en-US" sz="2200" b="1" dirty="0">
                <a:solidFill>
                  <a:srgbClr val="00B050"/>
                </a:solidFill>
                <a:latin typeface="Consolas" panose="020B0609020204030204" pitchFamily="49" charset="0"/>
                <a:cs typeface="Consolas" panose="020B0609020204030204" pitchFamily="49" charset="0"/>
              </a:rPr>
              <a:t>x</a:t>
            </a:r>
            <a:r>
              <a:rPr lang="en-US" sz="2200" b="1" dirty="0">
                <a:solidFill>
                  <a:srgbClr val="00B050"/>
                </a:solidFill>
              </a:rPr>
              <a:t> is assigned, </a:t>
            </a:r>
            <a:r>
              <a:rPr lang="en-US" sz="2200" dirty="0"/>
              <a:t>we replace it with a new, unique variable.</a:t>
            </a:r>
            <a:endParaRPr lang="en-US" sz="2200" b="1" dirty="0"/>
          </a:p>
        </p:txBody>
      </p:sp>
      <p:sp>
        <p:nvSpPr>
          <p:cNvPr id="9" name="TextBox 8">
            <a:extLst>
              <a:ext uri="{FF2B5EF4-FFF2-40B4-BE49-F238E27FC236}">
                <a16:creationId xmlns:a16="http://schemas.microsoft.com/office/drawing/2014/main" id="{D3F1FE6A-4E13-4B41-8A10-1CF95ECABFFD}"/>
              </a:ext>
            </a:extLst>
          </p:cNvPr>
          <p:cNvSpPr txBox="1"/>
          <p:nvPr/>
        </p:nvSpPr>
        <p:spPr>
          <a:xfrm>
            <a:off x="5486400" y="3463135"/>
            <a:ext cx="3429000" cy="1107996"/>
          </a:xfrm>
          <a:prstGeom prst="rect">
            <a:avLst/>
          </a:prstGeom>
          <a:noFill/>
        </p:spPr>
        <p:txBody>
          <a:bodyPr wrap="square" rtlCol="0">
            <a:spAutoFit/>
          </a:bodyPr>
          <a:lstStyle/>
          <a:p>
            <a:pPr algn="ctr"/>
            <a:r>
              <a:rPr lang="en-US" sz="2200" b="1" dirty="0">
                <a:solidFill>
                  <a:srgbClr val="FF0000"/>
                </a:solidFill>
              </a:rPr>
              <a:t>references to </a:t>
            </a:r>
            <a:r>
              <a:rPr lang="en-US" sz="2200" b="1" dirty="0">
                <a:solidFill>
                  <a:srgbClr val="FF0000"/>
                </a:solidFill>
                <a:latin typeface="Consolas" panose="020B0609020204030204" pitchFamily="49" charset="0"/>
                <a:cs typeface="Consolas" panose="020B0609020204030204" pitchFamily="49" charset="0"/>
              </a:rPr>
              <a:t>x</a:t>
            </a:r>
            <a:r>
              <a:rPr lang="en-US" sz="2200" dirty="0"/>
              <a:t> are replaced with the "most recent version" of </a:t>
            </a:r>
            <a:r>
              <a:rPr lang="en-US" sz="2200" b="1" dirty="0">
                <a:latin typeface="Consolas" panose="020B0609020204030204" pitchFamily="49" charset="0"/>
                <a:cs typeface="Consolas" panose="020B0609020204030204" pitchFamily="49" charset="0"/>
              </a:rPr>
              <a:t>x</a:t>
            </a:r>
            <a:r>
              <a:rPr lang="en-US" sz="2200" dirty="0"/>
              <a:t>.</a:t>
            </a:r>
            <a:endParaRPr lang="en-US" sz="2200" b="1" dirty="0"/>
          </a:p>
        </p:txBody>
      </p:sp>
      <p:sp>
        <p:nvSpPr>
          <p:cNvPr id="10" name="Rounded Rectangle 9">
            <a:extLst>
              <a:ext uri="{FF2B5EF4-FFF2-40B4-BE49-F238E27FC236}">
                <a16:creationId xmlns:a16="http://schemas.microsoft.com/office/drawing/2014/main" id="{E4AFAD7C-8F9F-1E49-8BBB-AA0890221549}"/>
              </a:ext>
            </a:extLst>
          </p:cNvPr>
          <p:cNvSpPr/>
          <p:nvPr/>
        </p:nvSpPr>
        <p:spPr>
          <a:xfrm>
            <a:off x="3227967" y="2220890"/>
            <a:ext cx="353433" cy="321485"/>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1" name="Rounded Rectangle 10">
            <a:extLst>
              <a:ext uri="{FF2B5EF4-FFF2-40B4-BE49-F238E27FC236}">
                <a16:creationId xmlns:a16="http://schemas.microsoft.com/office/drawing/2014/main" id="{A980B0B3-7879-CC47-9C48-03D913B5C932}"/>
              </a:ext>
            </a:extLst>
          </p:cNvPr>
          <p:cNvSpPr/>
          <p:nvPr/>
        </p:nvSpPr>
        <p:spPr>
          <a:xfrm>
            <a:off x="3227967" y="2839040"/>
            <a:ext cx="353433" cy="321485"/>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2" name="Rounded Rectangle 11">
            <a:extLst>
              <a:ext uri="{FF2B5EF4-FFF2-40B4-BE49-F238E27FC236}">
                <a16:creationId xmlns:a16="http://schemas.microsoft.com/office/drawing/2014/main" id="{C8A603E5-1CAA-784F-8408-195B3B195988}"/>
              </a:ext>
            </a:extLst>
          </p:cNvPr>
          <p:cNvSpPr/>
          <p:nvPr/>
        </p:nvSpPr>
        <p:spPr>
          <a:xfrm>
            <a:off x="3227967" y="3457190"/>
            <a:ext cx="353433" cy="321485"/>
          </a:xfrm>
          <a:prstGeom prst="roundRect">
            <a:avLst>
              <a:gd name="adj" fmla="val 8057"/>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3" name="Rounded Rectangle 12">
            <a:extLst>
              <a:ext uri="{FF2B5EF4-FFF2-40B4-BE49-F238E27FC236}">
                <a16:creationId xmlns:a16="http://schemas.microsoft.com/office/drawing/2014/main" id="{7D307B93-A6A5-4142-83CC-6021839D02EC}"/>
              </a:ext>
            </a:extLst>
          </p:cNvPr>
          <p:cNvSpPr/>
          <p:nvPr/>
        </p:nvSpPr>
        <p:spPr>
          <a:xfrm>
            <a:off x="4653330" y="2526077"/>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4" name="Rounded Rectangle 13">
            <a:extLst>
              <a:ext uri="{FF2B5EF4-FFF2-40B4-BE49-F238E27FC236}">
                <a16:creationId xmlns:a16="http://schemas.microsoft.com/office/drawing/2014/main" id="{538FCB0E-D831-F049-96D6-867BBE666D51}"/>
              </a:ext>
            </a:extLst>
          </p:cNvPr>
          <p:cNvSpPr/>
          <p:nvPr/>
        </p:nvSpPr>
        <p:spPr>
          <a:xfrm>
            <a:off x="3888016" y="2826175"/>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5" name="Rounded Rectangle 14">
            <a:extLst>
              <a:ext uri="{FF2B5EF4-FFF2-40B4-BE49-F238E27FC236}">
                <a16:creationId xmlns:a16="http://schemas.microsoft.com/office/drawing/2014/main" id="{8BA9935B-4950-AB49-AB0F-F77281D9EC97}"/>
              </a:ext>
            </a:extLst>
          </p:cNvPr>
          <p:cNvSpPr/>
          <p:nvPr/>
        </p:nvSpPr>
        <p:spPr>
          <a:xfrm>
            <a:off x="4643390" y="3146151"/>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6" name="Rounded Rectangle 15">
            <a:extLst>
              <a:ext uri="{FF2B5EF4-FFF2-40B4-BE49-F238E27FC236}">
                <a16:creationId xmlns:a16="http://schemas.microsoft.com/office/drawing/2014/main" id="{6EB8F70F-39E8-3648-8E1E-1E59114C8612}"/>
              </a:ext>
            </a:extLst>
          </p:cNvPr>
          <p:cNvSpPr/>
          <p:nvPr/>
        </p:nvSpPr>
        <p:spPr>
          <a:xfrm>
            <a:off x="3889508" y="3457190"/>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7" name="Rounded Rectangle 16">
            <a:extLst>
              <a:ext uri="{FF2B5EF4-FFF2-40B4-BE49-F238E27FC236}">
                <a16:creationId xmlns:a16="http://schemas.microsoft.com/office/drawing/2014/main" id="{BE9948DA-83DB-7F49-9CD7-991B89538B25}"/>
              </a:ext>
            </a:extLst>
          </p:cNvPr>
          <p:cNvSpPr/>
          <p:nvPr/>
        </p:nvSpPr>
        <p:spPr>
          <a:xfrm>
            <a:off x="4656313" y="3758290"/>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8" name="Rounded Rectangle 17">
            <a:extLst>
              <a:ext uri="{FF2B5EF4-FFF2-40B4-BE49-F238E27FC236}">
                <a16:creationId xmlns:a16="http://schemas.microsoft.com/office/drawing/2014/main" id="{545750F2-3D85-014D-9B6E-C846FE7C416D}"/>
              </a:ext>
            </a:extLst>
          </p:cNvPr>
          <p:cNvSpPr/>
          <p:nvPr/>
        </p:nvSpPr>
        <p:spPr>
          <a:xfrm>
            <a:off x="4096194" y="4066670"/>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Tree>
    <p:extLst>
      <p:ext uri="{BB962C8B-B14F-4D97-AF65-F5344CB8AC3E}">
        <p14:creationId xmlns:p14="http://schemas.microsoft.com/office/powerpoint/2010/main" val="18736780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EA68-B0E6-FF41-B542-BB8D02B36074}"/>
              </a:ext>
            </a:extLst>
          </p:cNvPr>
          <p:cNvSpPr>
            <a:spLocks noGrp="1"/>
          </p:cNvSpPr>
          <p:nvPr>
            <p:ph type="title"/>
          </p:nvPr>
        </p:nvSpPr>
        <p:spPr/>
        <p:txBody>
          <a:bodyPr/>
          <a:lstStyle/>
          <a:p>
            <a:r>
              <a:rPr lang="en-US" dirty="0"/>
              <a:t>Not a requirement</a:t>
            </a:r>
          </a:p>
        </p:txBody>
      </p:sp>
      <p:sp>
        <p:nvSpPr>
          <p:cNvPr id="3" name="Content Placeholder 2">
            <a:extLst>
              <a:ext uri="{FF2B5EF4-FFF2-40B4-BE49-F238E27FC236}">
                <a16:creationId xmlns:a16="http://schemas.microsoft.com/office/drawing/2014/main" id="{EC5E604D-2044-344D-96B3-923FAAD4DBE2}"/>
              </a:ext>
            </a:extLst>
          </p:cNvPr>
          <p:cNvSpPr>
            <a:spLocks noGrp="1"/>
          </p:cNvSpPr>
          <p:nvPr>
            <p:ph idx="1"/>
          </p:nvPr>
        </p:nvSpPr>
        <p:spPr/>
        <p:txBody>
          <a:bodyPr/>
          <a:lstStyle/>
          <a:p>
            <a:r>
              <a:rPr lang="en-US" dirty="0"/>
              <a:t>SSA is a super useful form for optimization </a:t>
            </a:r>
            <a:r>
              <a:rPr lang="en-US" i="1" dirty="0" err="1"/>
              <a:t>buuuuuuuuuut</a:t>
            </a:r>
            <a:r>
              <a:rPr lang="en-US" i="1" dirty="0"/>
              <a:t>…</a:t>
            </a:r>
          </a:p>
          <a:p>
            <a:pPr lvl="1"/>
            <a:r>
              <a:rPr lang="en-US" dirty="0"/>
              <a:t>it has to be done on the whole CFG, which is </a:t>
            </a:r>
            <a:r>
              <a:rPr lang="en-US" b="1" dirty="0"/>
              <a:t>complicated.</a:t>
            </a:r>
            <a:endParaRPr lang="en-US" dirty="0"/>
          </a:p>
          <a:p>
            <a:pPr lvl="1"/>
            <a:r>
              <a:rPr lang="en-US" dirty="0"/>
              <a:t>consider a </a:t>
            </a:r>
            <a:r>
              <a:rPr lang="en-US" b="1" dirty="0">
                <a:solidFill>
                  <a:srgbClr val="FF0000"/>
                </a:solidFill>
                <a:latin typeface="Consolas" panose="020B0609020204030204" pitchFamily="49" charset="0"/>
                <a:cs typeface="Consolas" panose="020B0609020204030204" pitchFamily="49" charset="0"/>
              </a:rPr>
              <a:t>for</a:t>
            </a:r>
            <a:r>
              <a:rPr lang="en-US" dirty="0"/>
              <a:t> loop. how do you represent the counter variable in this form at all?? </a:t>
            </a:r>
            <a:r>
              <a:rPr lang="en-US" sz="1600" dirty="0"/>
              <a:t>(</a:t>
            </a:r>
            <a:r>
              <a:rPr lang="en-US" sz="1600" dirty="0" err="1"/>
              <a:t>heheheheh</a:t>
            </a:r>
            <a:r>
              <a:rPr lang="en-US" sz="1600" dirty="0"/>
              <a:t> </a:t>
            </a:r>
            <a:r>
              <a:rPr lang="en-US" sz="1600" dirty="0" err="1"/>
              <a:t>hahah</a:t>
            </a:r>
            <a:r>
              <a:rPr lang="en-US" sz="1600" dirty="0"/>
              <a:t> </a:t>
            </a:r>
            <a:r>
              <a:rPr lang="en-US" sz="1600" dirty="0" err="1"/>
              <a:t>hohohoho</a:t>
            </a:r>
            <a:r>
              <a:rPr lang="en-US" sz="1600" dirty="0"/>
              <a:t> </a:t>
            </a:r>
            <a:r>
              <a:rPr lang="en-US" sz="1600" dirty="0" err="1"/>
              <a:t>ɸ</a:t>
            </a:r>
            <a:r>
              <a:rPr lang="en-US" sz="1600" dirty="0"/>
              <a:t>)</a:t>
            </a:r>
          </a:p>
          <a:p>
            <a:r>
              <a:rPr lang="en-US" dirty="0"/>
              <a:t>then, once you're done optimizing, </a:t>
            </a:r>
            <a:r>
              <a:rPr lang="en-US" b="1" dirty="0"/>
              <a:t>you have to convert back out of SSA</a:t>
            </a:r>
            <a:r>
              <a:rPr lang="en-US" dirty="0"/>
              <a:t> to do the final </a:t>
            </a:r>
            <a:r>
              <a:rPr lang="en-US" dirty="0" err="1"/>
              <a:t>codegen</a:t>
            </a:r>
            <a:r>
              <a:rPr lang="en-US" dirty="0"/>
              <a:t>.</a:t>
            </a:r>
          </a:p>
          <a:p>
            <a:pPr lvl="1"/>
            <a:r>
              <a:rPr lang="en-US" dirty="0"/>
              <a:t>so it's a bit of a mixed bag, depending on what kinds of optimizations you want to do.</a:t>
            </a:r>
          </a:p>
          <a:p>
            <a:r>
              <a:rPr lang="en-US" dirty="0"/>
              <a:t>it's not </a:t>
            </a:r>
            <a:r>
              <a:rPr lang="en-US" i="1" dirty="0"/>
              <a:t>required</a:t>
            </a:r>
            <a:r>
              <a:rPr lang="en-US" dirty="0"/>
              <a:t> for all optimizations, it just simplifies a lot of them.</a:t>
            </a:r>
          </a:p>
          <a:p>
            <a:pPr lvl="1"/>
            <a:r>
              <a:rPr lang="en-US" dirty="0"/>
              <a:t>the other local optimizations we’ll talk about can be implemented with or without SSA, but the algorithms for detecting and applying them are more complicated without it.</a:t>
            </a:r>
          </a:p>
        </p:txBody>
      </p:sp>
      <p:sp>
        <p:nvSpPr>
          <p:cNvPr id="4" name="Slide Number Placeholder 3">
            <a:extLst>
              <a:ext uri="{FF2B5EF4-FFF2-40B4-BE49-F238E27FC236}">
                <a16:creationId xmlns:a16="http://schemas.microsoft.com/office/drawing/2014/main" id="{2C15758C-92DF-9C48-A7D0-E47694EA40DB}"/>
              </a:ext>
            </a:extLst>
          </p:cNvPr>
          <p:cNvSpPr>
            <a:spLocks noGrp="1"/>
          </p:cNvSpPr>
          <p:nvPr>
            <p:ph type="sldNum" sz="quarter" idx="12"/>
          </p:nvPr>
        </p:nvSpPr>
        <p:spPr/>
        <p:txBody>
          <a:bodyPr/>
          <a:lstStyle/>
          <a:p>
            <a:fld id="{3552B95B-556F-44BD-91A5-D80C1B9E2BB3}" type="slidenum">
              <a:rPr lang="en-US" smtClean="0"/>
              <a:pPr/>
              <a:t>23</a:t>
            </a:fld>
            <a:endParaRPr lang="en-US"/>
          </a:p>
        </p:txBody>
      </p:sp>
    </p:spTree>
    <p:extLst>
      <p:ext uri="{BB962C8B-B14F-4D97-AF65-F5344CB8AC3E}">
        <p14:creationId xmlns:p14="http://schemas.microsoft.com/office/powerpoint/2010/main" val="144110453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5EC9C-9A5F-9948-939B-CAD783146E9A}"/>
              </a:ext>
            </a:extLst>
          </p:cNvPr>
          <p:cNvSpPr>
            <a:spLocks noGrp="1"/>
          </p:cNvSpPr>
          <p:nvPr>
            <p:ph type="ctrTitle"/>
          </p:nvPr>
        </p:nvSpPr>
        <p:spPr/>
        <p:txBody>
          <a:bodyPr/>
          <a:lstStyle/>
          <a:p>
            <a:r>
              <a:rPr lang="en-US" dirty="0"/>
              <a:t>More advanced </a:t>
            </a:r>
            <a:br>
              <a:rPr lang="en-US" dirty="0"/>
            </a:br>
            <a:r>
              <a:rPr lang="en-US" dirty="0"/>
              <a:t>local optimizations</a:t>
            </a:r>
          </a:p>
        </p:txBody>
      </p:sp>
      <p:sp>
        <p:nvSpPr>
          <p:cNvPr id="3" name="Slide Number Placeholder 2">
            <a:extLst>
              <a:ext uri="{FF2B5EF4-FFF2-40B4-BE49-F238E27FC236}">
                <a16:creationId xmlns:a16="http://schemas.microsoft.com/office/drawing/2014/main" id="{D2D9B2EB-05E6-FD43-83D2-28BF7BD12182}"/>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103079308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0F3E3-640F-C44B-929A-F4CB308C643D}"/>
              </a:ext>
            </a:extLst>
          </p:cNvPr>
          <p:cNvSpPr>
            <a:spLocks noGrp="1"/>
          </p:cNvSpPr>
          <p:nvPr>
            <p:ph type="title"/>
          </p:nvPr>
        </p:nvSpPr>
        <p:spPr/>
        <p:txBody>
          <a:bodyPr/>
          <a:lstStyle/>
          <a:p>
            <a:r>
              <a:rPr lang="en-US" dirty="0"/>
              <a:t>Copy Propagation</a:t>
            </a:r>
          </a:p>
        </p:txBody>
      </p:sp>
      <p:sp>
        <p:nvSpPr>
          <p:cNvPr id="3" name="Content Placeholder 2">
            <a:extLst>
              <a:ext uri="{FF2B5EF4-FFF2-40B4-BE49-F238E27FC236}">
                <a16:creationId xmlns:a16="http://schemas.microsoft.com/office/drawing/2014/main" id="{F6B63D61-1EE8-6E41-8A45-A6D246842782}"/>
              </a:ext>
            </a:extLst>
          </p:cNvPr>
          <p:cNvSpPr>
            <a:spLocks noGrp="1"/>
          </p:cNvSpPr>
          <p:nvPr>
            <p:ph idx="1"/>
          </p:nvPr>
        </p:nvSpPr>
        <p:spPr>
          <a:xfrm>
            <a:off x="152400" y="495301"/>
            <a:ext cx="8991600" cy="838199"/>
          </a:xfrm>
        </p:spPr>
        <p:txBody>
          <a:bodyPr/>
          <a:lstStyle/>
          <a:p>
            <a:r>
              <a:rPr lang="en-US" b="1" dirty="0"/>
              <a:t>if the code is in SSA form, </a:t>
            </a:r>
            <a:r>
              <a:rPr lang="en-US" dirty="0"/>
              <a:t>we "unlock" this optimization:</a:t>
            </a:r>
          </a:p>
          <a:p>
            <a:r>
              <a:rPr lang="en-US" dirty="0"/>
              <a:t>if we see a move </a:t>
            </a:r>
            <a:r>
              <a:rPr lang="en-US" b="1" dirty="0">
                <a:latin typeface="Consolas" panose="020B0609020204030204" pitchFamily="49" charset="0"/>
                <a:cs typeface="Consolas" panose="020B0609020204030204" pitchFamily="49" charset="0"/>
              </a:rPr>
              <a:t>x = y</a:t>
            </a:r>
            <a:r>
              <a:rPr lang="en-US" dirty="0"/>
              <a:t>, then we can replace all uses of </a:t>
            </a:r>
            <a:r>
              <a:rPr lang="en-US" b="1" dirty="0">
                <a:latin typeface="Consolas" panose="020B0609020204030204" pitchFamily="49" charset="0"/>
                <a:cs typeface="Consolas" panose="020B0609020204030204" pitchFamily="49" charset="0"/>
              </a:rPr>
              <a:t>x</a:t>
            </a:r>
            <a:r>
              <a:rPr lang="en-US" dirty="0"/>
              <a:t> with </a:t>
            </a:r>
            <a:r>
              <a:rPr lang="en-US" b="1" dirty="0">
                <a:latin typeface="Consolas" panose="020B0609020204030204" pitchFamily="49" charset="0"/>
                <a:cs typeface="Consolas" panose="020B0609020204030204" pitchFamily="49" charset="0"/>
              </a:rPr>
              <a:t>y</a:t>
            </a:r>
            <a:r>
              <a:rPr lang="en-US" dirty="0"/>
              <a:t>.</a:t>
            </a:r>
          </a:p>
        </p:txBody>
      </p:sp>
      <p:sp>
        <p:nvSpPr>
          <p:cNvPr id="4" name="Slide Number Placeholder 3">
            <a:extLst>
              <a:ext uri="{FF2B5EF4-FFF2-40B4-BE49-F238E27FC236}">
                <a16:creationId xmlns:a16="http://schemas.microsoft.com/office/drawing/2014/main" id="{09913530-D390-264E-9D60-0A6DC2034022}"/>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9F72C3B5-D89F-4C47-B3D1-BA941D00C05A}"/>
              </a:ext>
            </a:extLst>
          </p:cNvPr>
          <p:cNvSpPr txBox="1"/>
          <p:nvPr/>
        </p:nvSpPr>
        <p:spPr>
          <a:xfrm>
            <a:off x="2193420" y="1299002"/>
            <a:ext cx="1713931"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a:t>
            </a:r>
          </a:p>
          <a:p>
            <a:r>
              <a:rPr lang="en-US" sz="2400" b="1" dirty="0">
                <a:latin typeface="Consolas" panose="020B0609020204030204" pitchFamily="49" charset="0"/>
                <a:cs typeface="Consolas" panose="020B0609020204030204" pitchFamily="49" charset="0"/>
              </a:rPr>
              <a:t>b = x + c</a:t>
            </a:r>
          </a:p>
        </p:txBody>
      </p:sp>
      <p:sp>
        <p:nvSpPr>
          <p:cNvPr id="6" name="TextBox 5">
            <a:extLst>
              <a:ext uri="{FF2B5EF4-FFF2-40B4-BE49-F238E27FC236}">
                <a16:creationId xmlns:a16="http://schemas.microsoft.com/office/drawing/2014/main" id="{0EA4AFFA-98BB-EF48-9F1A-199AEC82E64C}"/>
              </a:ext>
            </a:extLst>
          </p:cNvPr>
          <p:cNvSpPr txBox="1"/>
          <p:nvPr/>
        </p:nvSpPr>
        <p:spPr>
          <a:xfrm>
            <a:off x="5126551" y="1299002"/>
            <a:ext cx="1713931"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a:t>
            </a:r>
          </a:p>
          <a:p>
            <a:r>
              <a:rPr lang="en-US" sz="2400" b="1" dirty="0">
                <a:latin typeface="Consolas" panose="020B0609020204030204" pitchFamily="49" charset="0"/>
                <a:cs typeface="Consolas" panose="020B0609020204030204" pitchFamily="49" charset="0"/>
              </a:rPr>
              <a:t>b = a + c</a:t>
            </a:r>
          </a:p>
        </p:txBody>
      </p:sp>
      <p:sp>
        <p:nvSpPr>
          <p:cNvPr id="7" name="Down Arrow 6">
            <a:extLst>
              <a:ext uri="{FF2B5EF4-FFF2-40B4-BE49-F238E27FC236}">
                <a16:creationId xmlns:a16="http://schemas.microsoft.com/office/drawing/2014/main" id="{7E9F1B9B-8400-4245-A35D-C51E16BF116E}"/>
              </a:ext>
            </a:extLst>
          </p:cNvPr>
          <p:cNvSpPr/>
          <p:nvPr/>
        </p:nvSpPr>
        <p:spPr>
          <a:xfrm rot="16200000">
            <a:off x="4250251" y="1497860"/>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AE050E-799A-A641-9BFD-F9B1FE3A2462}"/>
              </a:ext>
            </a:extLst>
          </p:cNvPr>
          <p:cNvSpPr txBox="1"/>
          <p:nvPr/>
        </p:nvSpPr>
        <p:spPr>
          <a:xfrm>
            <a:off x="2193420" y="2407503"/>
            <a:ext cx="1713931"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t>
            </a:r>
            <a:r>
              <a:rPr lang="en-US" sz="2400" b="1" dirty="0">
                <a:solidFill>
                  <a:schemeClr val="accent3">
                    <a:lumMod val="75000"/>
                  </a:schemeClr>
                </a:solidFill>
                <a:latin typeface="Consolas" panose="020B0609020204030204" pitchFamily="49" charset="0"/>
                <a:cs typeface="Consolas" panose="020B0609020204030204" pitchFamily="49" charset="0"/>
              </a:rPr>
              <a:t>10</a:t>
            </a:r>
          </a:p>
          <a:p>
            <a:r>
              <a:rPr lang="en-US" sz="2400" b="1" dirty="0">
                <a:latin typeface="Consolas" panose="020B0609020204030204" pitchFamily="49" charset="0"/>
                <a:cs typeface="Consolas" panose="020B0609020204030204" pitchFamily="49" charset="0"/>
              </a:rPr>
              <a:t>a = x + </a:t>
            </a:r>
            <a:r>
              <a:rPr lang="en-US" sz="24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9" name="TextBox 8">
            <a:extLst>
              <a:ext uri="{FF2B5EF4-FFF2-40B4-BE49-F238E27FC236}">
                <a16:creationId xmlns:a16="http://schemas.microsoft.com/office/drawing/2014/main" id="{6EAB7D6E-015A-DE47-966B-6F65717A02E5}"/>
              </a:ext>
            </a:extLst>
          </p:cNvPr>
          <p:cNvSpPr txBox="1"/>
          <p:nvPr/>
        </p:nvSpPr>
        <p:spPr>
          <a:xfrm>
            <a:off x="5126551" y="2407503"/>
            <a:ext cx="1883849"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t>
            </a:r>
            <a:r>
              <a:rPr lang="en-US" sz="2400" b="1" dirty="0">
                <a:solidFill>
                  <a:schemeClr val="accent3">
                    <a:lumMod val="75000"/>
                  </a:schemeClr>
                </a:solidFill>
                <a:latin typeface="Consolas" panose="020B0609020204030204" pitchFamily="49" charset="0"/>
                <a:cs typeface="Consolas" panose="020B0609020204030204" pitchFamily="49" charset="0"/>
              </a:rPr>
              <a:t>10</a:t>
            </a:r>
          </a:p>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0" name="Down Arrow 9">
            <a:extLst>
              <a:ext uri="{FF2B5EF4-FFF2-40B4-BE49-F238E27FC236}">
                <a16:creationId xmlns:a16="http://schemas.microsoft.com/office/drawing/2014/main" id="{FF714B19-4358-D14F-BEE1-0DF2594EB2C2}"/>
              </a:ext>
            </a:extLst>
          </p:cNvPr>
          <p:cNvSpPr/>
          <p:nvPr/>
        </p:nvSpPr>
        <p:spPr>
          <a:xfrm rot="16200000">
            <a:off x="4250251" y="260636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E4037274-DA85-6E42-91D4-4CE5260CA771}"/>
              </a:ext>
            </a:extLst>
          </p:cNvPr>
          <p:cNvSpPr/>
          <p:nvPr/>
        </p:nvSpPr>
        <p:spPr>
          <a:xfrm>
            <a:off x="2870158" y="1757599"/>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2" name="Rounded Rectangle 11">
            <a:extLst>
              <a:ext uri="{FF2B5EF4-FFF2-40B4-BE49-F238E27FC236}">
                <a16:creationId xmlns:a16="http://schemas.microsoft.com/office/drawing/2014/main" id="{02EC385F-B7D8-4147-93F4-7B650FA18237}"/>
              </a:ext>
            </a:extLst>
          </p:cNvPr>
          <p:cNvSpPr/>
          <p:nvPr/>
        </p:nvSpPr>
        <p:spPr>
          <a:xfrm>
            <a:off x="5795575" y="1741034"/>
            <a:ext cx="353433" cy="321485"/>
          </a:xfrm>
          <a:prstGeom prst="roundRect">
            <a:avLst>
              <a:gd name="adj" fmla="val 805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solidFill>
                <a:srgbClr val="FF0000"/>
              </a:solidFill>
            </a:endParaRPr>
          </a:p>
        </p:txBody>
      </p:sp>
      <p:sp>
        <p:nvSpPr>
          <p:cNvPr id="14" name="TextBox 13">
            <a:extLst>
              <a:ext uri="{FF2B5EF4-FFF2-40B4-BE49-F238E27FC236}">
                <a16:creationId xmlns:a16="http://schemas.microsoft.com/office/drawing/2014/main" id="{33BEB953-75E8-F549-A137-CC6A901231BD}"/>
              </a:ext>
            </a:extLst>
          </p:cNvPr>
          <p:cNvSpPr txBox="1"/>
          <p:nvPr/>
        </p:nvSpPr>
        <p:spPr>
          <a:xfrm>
            <a:off x="2735685" y="3382714"/>
            <a:ext cx="3562531" cy="430887"/>
          </a:xfrm>
          <a:prstGeom prst="rect">
            <a:avLst/>
          </a:prstGeom>
          <a:noFill/>
        </p:spPr>
        <p:txBody>
          <a:bodyPr wrap="square" rtlCol="0">
            <a:spAutoFit/>
          </a:bodyPr>
          <a:lstStyle/>
          <a:p>
            <a:pPr algn="ctr"/>
            <a:r>
              <a:rPr lang="en-US" sz="2200" dirty="0"/>
              <a:t>two things to notice here:</a:t>
            </a:r>
            <a:endParaRPr lang="en-US" sz="2200" b="1" dirty="0"/>
          </a:p>
        </p:txBody>
      </p:sp>
      <p:sp>
        <p:nvSpPr>
          <p:cNvPr id="15" name="TextBox 14">
            <a:extLst>
              <a:ext uri="{FF2B5EF4-FFF2-40B4-BE49-F238E27FC236}">
                <a16:creationId xmlns:a16="http://schemas.microsoft.com/office/drawing/2014/main" id="{BA0BE3A3-52A1-F340-865C-7DCF008EE44B}"/>
              </a:ext>
            </a:extLst>
          </p:cNvPr>
          <p:cNvSpPr txBox="1"/>
          <p:nvPr/>
        </p:nvSpPr>
        <p:spPr>
          <a:xfrm>
            <a:off x="1261500" y="3813601"/>
            <a:ext cx="6510900" cy="769441"/>
          </a:xfrm>
          <a:prstGeom prst="rect">
            <a:avLst/>
          </a:prstGeom>
          <a:noFill/>
        </p:spPr>
        <p:txBody>
          <a:bodyPr wrap="square" rtlCol="0">
            <a:spAutoFit/>
          </a:bodyPr>
          <a:lstStyle/>
          <a:p>
            <a:pPr algn="ctr"/>
            <a:r>
              <a:rPr lang="en-US" sz="2200" dirty="0"/>
              <a:t>in the second example, we've produced something that can be </a:t>
            </a:r>
            <a:r>
              <a:rPr lang="en-US" sz="2200" b="1" dirty="0"/>
              <a:t>further optimized </a:t>
            </a:r>
            <a:r>
              <a:rPr lang="en-US" sz="2200" dirty="0"/>
              <a:t>to </a:t>
            </a:r>
            <a:r>
              <a:rPr lang="en-US" sz="2200" b="1" dirty="0">
                <a:latin typeface="Consolas" panose="020B0609020204030204" pitchFamily="49" charset="0"/>
                <a:cs typeface="Consolas" panose="020B0609020204030204" pitchFamily="49" charset="0"/>
              </a:rPr>
              <a:t>a = </a:t>
            </a:r>
            <a:r>
              <a:rPr lang="en-US" sz="2200" b="1" dirty="0">
                <a:solidFill>
                  <a:schemeClr val="accent3">
                    <a:lumMod val="75000"/>
                  </a:schemeClr>
                </a:solidFill>
                <a:latin typeface="Consolas" panose="020B0609020204030204" pitchFamily="49" charset="0"/>
                <a:cs typeface="Consolas" panose="020B0609020204030204" pitchFamily="49" charset="0"/>
              </a:rPr>
              <a:t>15</a:t>
            </a:r>
            <a:r>
              <a:rPr lang="en-US" sz="2200" dirty="0"/>
              <a:t>!</a:t>
            </a:r>
            <a:endParaRPr lang="en-US" sz="2200" b="1" dirty="0"/>
          </a:p>
        </p:txBody>
      </p:sp>
      <p:sp>
        <p:nvSpPr>
          <p:cNvPr id="16" name="TextBox 15">
            <a:extLst>
              <a:ext uri="{FF2B5EF4-FFF2-40B4-BE49-F238E27FC236}">
                <a16:creationId xmlns:a16="http://schemas.microsoft.com/office/drawing/2014/main" id="{0D5FB6A1-A40E-8F46-8783-3209756C5112}"/>
              </a:ext>
            </a:extLst>
          </p:cNvPr>
          <p:cNvSpPr txBox="1"/>
          <p:nvPr/>
        </p:nvSpPr>
        <p:spPr>
          <a:xfrm>
            <a:off x="1143000" y="4592236"/>
            <a:ext cx="6629400" cy="769441"/>
          </a:xfrm>
          <a:prstGeom prst="rect">
            <a:avLst/>
          </a:prstGeom>
          <a:noFill/>
        </p:spPr>
        <p:txBody>
          <a:bodyPr wrap="square" rtlCol="0">
            <a:spAutoFit/>
          </a:bodyPr>
          <a:lstStyle/>
          <a:p>
            <a:pPr algn="ctr"/>
            <a:r>
              <a:rPr lang="en-US" sz="2200" dirty="0"/>
              <a:t>in both examples, </a:t>
            </a:r>
            <a:r>
              <a:rPr lang="en-US" sz="2200" b="1" dirty="0">
                <a:solidFill>
                  <a:srgbClr val="FF0000"/>
                </a:solidFill>
              </a:rPr>
              <a:t>x is no longer used anywhere.</a:t>
            </a:r>
            <a:r>
              <a:rPr lang="en-US" sz="2200" dirty="0"/>
              <a:t> so what do we do with it?</a:t>
            </a:r>
            <a:endParaRPr lang="en-US" sz="2200" b="1" dirty="0"/>
          </a:p>
        </p:txBody>
      </p:sp>
    </p:spTree>
    <p:extLst>
      <p:ext uri="{BB962C8B-B14F-4D97-AF65-F5344CB8AC3E}">
        <p14:creationId xmlns:p14="http://schemas.microsoft.com/office/powerpoint/2010/main" val="11810944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animBg="1"/>
      <p:bldP spid="11" grpId="0" animBg="1"/>
      <p:bldP spid="12" grpId="0" animBg="1"/>
      <p:bldP spid="14" grpId="0"/>
      <p:bldP spid="15" grpId="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E2503-326F-604B-B97F-40E909BA1457}"/>
              </a:ext>
            </a:extLst>
          </p:cNvPr>
          <p:cNvSpPr>
            <a:spLocks noGrp="1"/>
          </p:cNvSpPr>
          <p:nvPr>
            <p:ph type="title"/>
          </p:nvPr>
        </p:nvSpPr>
        <p:spPr/>
        <p:txBody>
          <a:bodyPr/>
          <a:lstStyle/>
          <a:p>
            <a:r>
              <a:rPr lang="en-US" dirty="0"/>
              <a:t>Dead store elimination</a:t>
            </a:r>
          </a:p>
        </p:txBody>
      </p:sp>
      <p:sp>
        <p:nvSpPr>
          <p:cNvPr id="3" name="Content Placeholder 2">
            <a:extLst>
              <a:ext uri="{FF2B5EF4-FFF2-40B4-BE49-F238E27FC236}">
                <a16:creationId xmlns:a16="http://schemas.microsoft.com/office/drawing/2014/main" id="{42D9CE12-9582-FE43-A551-097BD8CACCFD}"/>
              </a:ext>
            </a:extLst>
          </p:cNvPr>
          <p:cNvSpPr>
            <a:spLocks noGrp="1"/>
          </p:cNvSpPr>
          <p:nvPr>
            <p:ph idx="1"/>
          </p:nvPr>
        </p:nvSpPr>
        <p:spPr>
          <a:xfrm>
            <a:off x="152400" y="495301"/>
            <a:ext cx="8991600" cy="1597966"/>
          </a:xfrm>
        </p:spPr>
        <p:txBody>
          <a:bodyPr>
            <a:normAutofit/>
          </a:bodyPr>
          <a:lstStyle/>
          <a:p>
            <a:r>
              <a:rPr lang="en-US" dirty="0"/>
              <a:t>if a variable is assigned a value, </a:t>
            </a:r>
            <a:r>
              <a:rPr lang="en-US" b="1" dirty="0"/>
              <a:t>and that value is never read, </a:t>
            </a:r>
            <a:r>
              <a:rPr lang="en-US" dirty="0"/>
              <a:t>then the assignment is a </a:t>
            </a:r>
            <a:r>
              <a:rPr lang="en-US" b="1" dirty="0"/>
              <a:t>dead store</a:t>
            </a:r>
            <a:r>
              <a:rPr lang="en-US" dirty="0"/>
              <a:t> and can be </a:t>
            </a:r>
            <a:r>
              <a:rPr lang="en-US" b="1" dirty="0"/>
              <a:t>removed.</a:t>
            </a:r>
          </a:p>
          <a:p>
            <a:pPr lvl="1"/>
            <a:r>
              <a:rPr lang="en-US" i="1" dirty="0"/>
              <a:t>…as long as </a:t>
            </a:r>
            <a:r>
              <a:rPr lang="en-US" b="1" i="1" dirty="0"/>
              <a:t>the assignment has no side effects!</a:t>
            </a:r>
          </a:p>
          <a:p>
            <a:r>
              <a:rPr lang="en-US" dirty="0"/>
              <a:t>so continuing with the improved code from last slide:</a:t>
            </a:r>
          </a:p>
        </p:txBody>
      </p:sp>
      <p:sp>
        <p:nvSpPr>
          <p:cNvPr id="4" name="Slide Number Placeholder 3">
            <a:extLst>
              <a:ext uri="{FF2B5EF4-FFF2-40B4-BE49-F238E27FC236}">
                <a16:creationId xmlns:a16="http://schemas.microsoft.com/office/drawing/2014/main" id="{9E1C58E7-76FD-8646-B566-D6DF3A70D3B8}"/>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5" name="TextBox 4">
            <a:extLst>
              <a:ext uri="{FF2B5EF4-FFF2-40B4-BE49-F238E27FC236}">
                <a16:creationId xmlns:a16="http://schemas.microsoft.com/office/drawing/2014/main" id="{2B217D4F-A651-444B-B230-13A134DD3570}"/>
              </a:ext>
            </a:extLst>
          </p:cNvPr>
          <p:cNvSpPr txBox="1"/>
          <p:nvPr/>
        </p:nvSpPr>
        <p:spPr>
          <a:xfrm>
            <a:off x="1507620" y="1943100"/>
            <a:ext cx="1713931"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a:t>
            </a:r>
          </a:p>
          <a:p>
            <a:r>
              <a:rPr lang="en-US" sz="2400" b="1" dirty="0">
                <a:latin typeface="Consolas" panose="020B0609020204030204" pitchFamily="49" charset="0"/>
                <a:cs typeface="Consolas" panose="020B0609020204030204" pitchFamily="49" charset="0"/>
              </a:rPr>
              <a:t>b = a + c</a:t>
            </a:r>
          </a:p>
        </p:txBody>
      </p:sp>
      <p:sp>
        <p:nvSpPr>
          <p:cNvPr id="6" name="TextBox 5">
            <a:extLst>
              <a:ext uri="{FF2B5EF4-FFF2-40B4-BE49-F238E27FC236}">
                <a16:creationId xmlns:a16="http://schemas.microsoft.com/office/drawing/2014/main" id="{534A9BD7-6152-1A42-AD5A-AF2AC61C62E0}"/>
              </a:ext>
            </a:extLst>
          </p:cNvPr>
          <p:cNvSpPr txBox="1"/>
          <p:nvPr/>
        </p:nvSpPr>
        <p:spPr>
          <a:xfrm>
            <a:off x="4434334" y="2134968"/>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b = a + c</a:t>
            </a:r>
          </a:p>
        </p:txBody>
      </p:sp>
      <p:sp>
        <p:nvSpPr>
          <p:cNvPr id="7" name="Down Arrow 6">
            <a:extLst>
              <a:ext uri="{FF2B5EF4-FFF2-40B4-BE49-F238E27FC236}">
                <a16:creationId xmlns:a16="http://schemas.microsoft.com/office/drawing/2014/main" id="{46CDBC83-3E81-1046-A28A-96231F637F83}"/>
              </a:ext>
            </a:extLst>
          </p:cNvPr>
          <p:cNvSpPr/>
          <p:nvPr/>
        </p:nvSpPr>
        <p:spPr>
          <a:xfrm rot="16200000">
            <a:off x="3564451" y="2141958"/>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F65B399-E433-264F-BBE8-46A0DE6074AD}"/>
              </a:ext>
            </a:extLst>
          </p:cNvPr>
          <p:cNvSpPr txBox="1"/>
          <p:nvPr/>
        </p:nvSpPr>
        <p:spPr>
          <a:xfrm>
            <a:off x="1507620" y="2940903"/>
            <a:ext cx="1883849" cy="830997"/>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t>
            </a:r>
            <a:r>
              <a:rPr lang="en-US" sz="2400" b="1" dirty="0">
                <a:solidFill>
                  <a:schemeClr val="accent3">
                    <a:lumMod val="75000"/>
                  </a:schemeClr>
                </a:solidFill>
                <a:latin typeface="Consolas" panose="020B0609020204030204" pitchFamily="49" charset="0"/>
                <a:cs typeface="Consolas" panose="020B0609020204030204" pitchFamily="49" charset="0"/>
              </a:rPr>
              <a:t>10</a:t>
            </a:r>
          </a:p>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9" name="TextBox 8">
            <a:extLst>
              <a:ext uri="{FF2B5EF4-FFF2-40B4-BE49-F238E27FC236}">
                <a16:creationId xmlns:a16="http://schemas.microsoft.com/office/drawing/2014/main" id="{FBB9A831-1B43-B743-B8A5-D6FD0599FC71}"/>
              </a:ext>
            </a:extLst>
          </p:cNvPr>
          <p:cNvSpPr txBox="1"/>
          <p:nvPr/>
        </p:nvSpPr>
        <p:spPr>
          <a:xfrm>
            <a:off x="4440751" y="3167800"/>
            <a:ext cx="1883849"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5</a:t>
            </a:r>
          </a:p>
        </p:txBody>
      </p:sp>
      <p:sp>
        <p:nvSpPr>
          <p:cNvPr id="10" name="Down Arrow 9">
            <a:extLst>
              <a:ext uri="{FF2B5EF4-FFF2-40B4-BE49-F238E27FC236}">
                <a16:creationId xmlns:a16="http://schemas.microsoft.com/office/drawing/2014/main" id="{2B29CFEA-DEF1-334A-9852-DF956D50107F}"/>
              </a:ext>
            </a:extLst>
          </p:cNvPr>
          <p:cNvSpPr/>
          <p:nvPr/>
        </p:nvSpPr>
        <p:spPr>
          <a:xfrm rot="16200000">
            <a:off x="3564451" y="3139761"/>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CF73291-B072-AC49-8565-D2701926DD98}"/>
              </a:ext>
            </a:extLst>
          </p:cNvPr>
          <p:cNvSpPr txBox="1"/>
          <p:nvPr/>
        </p:nvSpPr>
        <p:spPr>
          <a:xfrm>
            <a:off x="480736" y="4385220"/>
            <a:ext cx="1026884" cy="430887"/>
          </a:xfrm>
          <a:prstGeom prst="rect">
            <a:avLst/>
          </a:prstGeom>
          <a:noFill/>
        </p:spPr>
        <p:txBody>
          <a:bodyPr wrap="square" rtlCol="0">
            <a:spAutoFit/>
          </a:bodyPr>
          <a:lstStyle/>
          <a:p>
            <a:pPr algn="ctr"/>
            <a:r>
              <a:rPr lang="en-US" sz="2200" b="1" dirty="0">
                <a:solidFill>
                  <a:srgbClr val="FF0000"/>
                </a:solidFill>
              </a:rPr>
              <a:t>but:</a:t>
            </a:r>
          </a:p>
        </p:txBody>
      </p:sp>
      <p:sp>
        <p:nvSpPr>
          <p:cNvPr id="12" name="TextBox 11">
            <a:extLst>
              <a:ext uri="{FF2B5EF4-FFF2-40B4-BE49-F238E27FC236}">
                <a16:creationId xmlns:a16="http://schemas.microsoft.com/office/drawing/2014/main" id="{A7A45480-FD96-ED46-A297-999F2139E9B6}"/>
              </a:ext>
            </a:extLst>
          </p:cNvPr>
          <p:cNvSpPr txBox="1"/>
          <p:nvPr/>
        </p:nvSpPr>
        <p:spPr>
          <a:xfrm>
            <a:off x="1507620" y="4000500"/>
            <a:ext cx="1374094" cy="1200329"/>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f()</a:t>
            </a:r>
          </a:p>
          <a:p>
            <a:r>
              <a:rPr lang="en-US" sz="2400" b="1" dirty="0">
                <a:latin typeface="Consolas" panose="020B0609020204030204" pitchFamily="49" charset="0"/>
                <a:cs typeface="Consolas" panose="020B0609020204030204" pitchFamily="49" charset="0"/>
              </a:rPr>
              <a:t>$t0 = </a:t>
            </a:r>
            <a:r>
              <a:rPr lang="en-US" sz="2400" b="1" dirty="0">
                <a:solidFill>
                  <a:schemeClr val="accent3">
                    <a:lumMod val="75000"/>
                  </a:schemeClr>
                </a:solidFill>
                <a:latin typeface="Consolas" panose="020B0609020204030204" pitchFamily="49" charset="0"/>
                <a:cs typeface="Consolas" panose="020B0609020204030204" pitchFamily="49" charset="0"/>
              </a:rPr>
              <a:t>5</a:t>
            </a:r>
          </a:p>
          <a:p>
            <a:r>
              <a:rPr lang="en-US" sz="2400" b="1" dirty="0">
                <a:solidFill>
                  <a:srgbClr val="FF0000"/>
                </a:solidFill>
                <a:latin typeface="Consolas" panose="020B0609020204030204" pitchFamily="49" charset="0"/>
                <a:cs typeface="Consolas" panose="020B0609020204030204" pitchFamily="49" charset="0"/>
              </a:rPr>
              <a:t>return</a:t>
            </a:r>
          </a:p>
        </p:txBody>
      </p:sp>
      <p:sp>
        <p:nvSpPr>
          <p:cNvPr id="13" name="TextBox 12">
            <a:extLst>
              <a:ext uri="{FF2B5EF4-FFF2-40B4-BE49-F238E27FC236}">
                <a16:creationId xmlns:a16="http://schemas.microsoft.com/office/drawing/2014/main" id="{A9713ACA-AC59-BB46-A3CD-6D6213AD1F51}"/>
              </a:ext>
            </a:extLst>
          </p:cNvPr>
          <p:cNvSpPr txBox="1"/>
          <p:nvPr/>
        </p:nvSpPr>
        <p:spPr>
          <a:xfrm>
            <a:off x="3048000" y="4104251"/>
            <a:ext cx="5291700" cy="769441"/>
          </a:xfrm>
          <a:prstGeom prst="rect">
            <a:avLst/>
          </a:prstGeom>
          <a:noFill/>
        </p:spPr>
        <p:txBody>
          <a:bodyPr wrap="square" rtlCol="0">
            <a:spAutoFit/>
          </a:bodyPr>
          <a:lstStyle/>
          <a:p>
            <a:pPr algn="ctr"/>
            <a:r>
              <a:rPr lang="en-US" sz="2200" dirty="0"/>
              <a:t>we can't remove the assignment to </a:t>
            </a:r>
            <a:r>
              <a:rPr lang="en-US" sz="2200" b="1" dirty="0">
                <a:latin typeface="Consolas" panose="020B0609020204030204" pitchFamily="49" charset="0"/>
                <a:cs typeface="Consolas" panose="020B0609020204030204" pitchFamily="49" charset="0"/>
              </a:rPr>
              <a:t>x</a:t>
            </a:r>
            <a:r>
              <a:rPr lang="en-US" sz="2200" dirty="0"/>
              <a:t>, because </a:t>
            </a:r>
            <a:r>
              <a:rPr lang="en-US" sz="2200" b="1" dirty="0">
                <a:latin typeface="Consolas" panose="020B0609020204030204" pitchFamily="49" charset="0"/>
                <a:cs typeface="Consolas" panose="020B0609020204030204" pitchFamily="49" charset="0"/>
              </a:rPr>
              <a:t>f()</a:t>
            </a:r>
            <a:r>
              <a:rPr lang="en-US" sz="2200" dirty="0"/>
              <a:t> may have side effects.</a:t>
            </a:r>
          </a:p>
        </p:txBody>
      </p:sp>
    </p:spTree>
    <p:extLst>
      <p:ext uri="{BB962C8B-B14F-4D97-AF65-F5344CB8AC3E}">
        <p14:creationId xmlns:p14="http://schemas.microsoft.com/office/powerpoint/2010/main" val="40540695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9" grpId="0"/>
      <p:bldP spid="10" grpId="0" animBg="1"/>
      <p:bldP spid="11" grpId="0"/>
      <p:bldP spid="12"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1BBCD-A48F-964D-B768-85EDCAF72964}"/>
              </a:ext>
            </a:extLst>
          </p:cNvPr>
          <p:cNvSpPr>
            <a:spLocks noGrp="1"/>
          </p:cNvSpPr>
          <p:nvPr>
            <p:ph type="title"/>
          </p:nvPr>
        </p:nvSpPr>
        <p:spPr/>
        <p:txBody>
          <a:bodyPr/>
          <a:lstStyle/>
          <a:p>
            <a:r>
              <a:rPr lang="en-US" dirty="0"/>
              <a:t>Common subexpression elimination (CSE)</a:t>
            </a:r>
          </a:p>
        </p:txBody>
      </p:sp>
      <p:sp>
        <p:nvSpPr>
          <p:cNvPr id="3" name="Content Placeholder 2">
            <a:extLst>
              <a:ext uri="{FF2B5EF4-FFF2-40B4-BE49-F238E27FC236}">
                <a16:creationId xmlns:a16="http://schemas.microsoft.com/office/drawing/2014/main" id="{0ABD7ED0-BBC0-3240-9FF9-70F700B27ACB}"/>
              </a:ext>
            </a:extLst>
          </p:cNvPr>
          <p:cNvSpPr>
            <a:spLocks noGrp="1"/>
          </p:cNvSpPr>
          <p:nvPr>
            <p:ph idx="1"/>
          </p:nvPr>
        </p:nvSpPr>
        <p:spPr>
          <a:xfrm>
            <a:off x="152400" y="495301"/>
            <a:ext cx="8991600" cy="1832520"/>
          </a:xfrm>
        </p:spPr>
        <p:txBody>
          <a:bodyPr>
            <a:normAutofit/>
          </a:bodyPr>
          <a:lstStyle/>
          <a:p>
            <a:r>
              <a:rPr lang="en-US" b="1" dirty="0"/>
              <a:t>if the code is in SSA form…</a:t>
            </a:r>
          </a:p>
          <a:p>
            <a:pPr lvl="1"/>
            <a:r>
              <a:rPr lang="en-US" dirty="0"/>
              <a:t>and two variable assignments have the </a:t>
            </a:r>
            <a:r>
              <a:rPr lang="en-US" b="1" dirty="0"/>
              <a:t>same </a:t>
            </a:r>
            <a:r>
              <a:rPr lang="en-US" b="1" dirty="0" err="1"/>
              <a:t>rhs</a:t>
            </a:r>
            <a:r>
              <a:rPr lang="en-US" b="1" dirty="0"/>
              <a:t>…</a:t>
            </a:r>
          </a:p>
          <a:p>
            <a:pPr lvl="1"/>
            <a:r>
              <a:rPr lang="en-US" b="1" dirty="0">
                <a:solidFill>
                  <a:srgbClr val="FF0000"/>
                </a:solidFill>
              </a:rPr>
              <a:t>and the </a:t>
            </a:r>
            <a:r>
              <a:rPr lang="en-US" b="1" dirty="0" err="1">
                <a:solidFill>
                  <a:srgbClr val="FF0000"/>
                </a:solidFill>
              </a:rPr>
              <a:t>rhs</a:t>
            </a:r>
            <a:r>
              <a:rPr lang="en-US" b="1" dirty="0">
                <a:solidFill>
                  <a:srgbClr val="FF0000"/>
                </a:solidFill>
              </a:rPr>
              <a:t> has no side effects…</a:t>
            </a:r>
          </a:p>
          <a:p>
            <a:r>
              <a:rPr lang="en-US" dirty="0"/>
              <a:t>then the second variable assignment can be changed to a </a:t>
            </a:r>
            <a:r>
              <a:rPr lang="en-US" b="1" dirty="0"/>
              <a:t>move from the first variable.</a:t>
            </a:r>
          </a:p>
        </p:txBody>
      </p:sp>
      <p:sp>
        <p:nvSpPr>
          <p:cNvPr id="4" name="Slide Number Placeholder 3">
            <a:extLst>
              <a:ext uri="{FF2B5EF4-FFF2-40B4-BE49-F238E27FC236}">
                <a16:creationId xmlns:a16="http://schemas.microsoft.com/office/drawing/2014/main" id="{AE0A1239-7F39-7E4D-8D82-9E549B0EBE30}"/>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5" name="TextBox 4">
            <a:extLst>
              <a:ext uri="{FF2B5EF4-FFF2-40B4-BE49-F238E27FC236}">
                <a16:creationId xmlns:a16="http://schemas.microsoft.com/office/drawing/2014/main" id="{E3DEE4CD-6DBE-7F42-A169-D5F7540FD9FF}"/>
              </a:ext>
            </a:extLst>
          </p:cNvPr>
          <p:cNvSpPr txBox="1"/>
          <p:nvPr/>
        </p:nvSpPr>
        <p:spPr>
          <a:xfrm>
            <a:off x="1803236" y="2366190"/>
            <a:ext cx="2223686" cy="1569660"/>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t>
            </a:r>
            <a:r>
              <a:rPr lang="en-US" sz="2400" b="1" dirty="0">
                <a:highlight>
                  <a:srgbClr val="FFFF00"/>
                </a:highlight>
                <a:latin typeface="Consolas" panose="020B0609020204030204" pitchFamily="49" charset="0"/>
                <a:cs typeface="Consolas" panose="020B0609020204030204" pitchFamily="49" charset="0"/>
              </a:rPr>
              <a:t>a + c</a:t>
            </a:r>
          </a:p>
          <a:p>
            <a:r>
              <a:rPr lang="en-US" sz="2400" b="1" dirty="0" err="1">
                <a:latin typeface="Consolas" panose="020B0609020204030204" pitchFamily="49" charset="0"/>
                <a:cs typeface="Consolas" panose="020B0609020204030204" pitchFamily="49" charset="0"/>
              </a:rPr>
              <a:t>println_i</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y = </a:t>
            </a:r>
            <a:r>
              <a:rPr lang="en-US" sz="2400" b="1" dirty="0">
                <a:highlight>
                  <a:srgbClr val="FFFF00"/>
                </a:highlight>
                <a:latin typeface="Consolas" panose="020B0609020204030204" pitchFamily="49" charset="0"/>
                <a:cs typeface="Consolas" panose="020B0609020204030204" pitchFamily="49" charset="0"/>
              </a:rPr>
              <a:t>a + c</a:t>
            </a:r>
          </a:p>
          <a:p>
            <a:r>
              <a:rPr lang="en-US" sz="2400" b="1" dirty="0" err="1">
                <a:latin typeface="Consolas" panose="020B0609020204030204" pitchFamily="49" charset="0"/>
                <a:cs typeface="Consolas" panose="020B0609020204030204" pitchFamily="49" charset="0"/>
              </a:rPr>
              <a:t>println_i</a:t>
            </a:r>
            <a:r>
              <a:rPr lang="en-US" sz="2400" b="1" dirty="0">
                <a:latin typeface="Consolas" panose="020B0609020204030204" pitchFamily="49" charset="0"/>
                <a:cs typeface="Consolas" panose="020B0609020204030204" pitchFamily="49" charset="0"/>
              </a:rPr>
              <a:t>(y)</a:t>
            </a:r>
          </a:p>
        </p:txBody>
      </p:sp>
      <p:sp>
        <p:nvSpPr>
          <p:cNvPr id="6" name="TextBox 5">
            <a:extLst>
              <a:ext uri="{FF2B5EF4-FFF2-40B4-BE49-F238E27FC236}">
                <a16:creationId xmlns:a16="http://schemas.microsoft.com/office/drawing/2014/main" id="{E23BAF57-366A-084B-BAD9-5DFB4AC574EA}"/>
              </a:ext>
            </a:extLst>
          </p:cNvPr>
          <p:cNvSpPr txBox="1"/>
          <p:nvPr/>
        </p:nvSpPr>
        <p:spPr>
          <a:xfrm>
            <a:off x="5015314" y="2366190"/>
            <a:ext cx="2223686" cy="1569660"/>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x = a + c</a:t>
            </a:r>
          </a:p>
          <a:p>
            <a:r>
              <a:rPr lang="en-US" sz="2400" b="1" dirty="0" err="1">
                <a:latin typeface="Consolas" panose="020B0609020204030204" pitchFamily="49" charset="0"/>
                <a:cs typeface="Consolas" panose="020B0609020204030204" pitchFamily="49" charset="0"/>
              </a:rPr>
              <a:t>println_i</a:t>
            </a:r>
            <a:r>
              <a:rPr lang="en-US" sz="2400" b="1" dirty="0">
                <a:latin typeface="Consolas" panose="020B0609020204030204" pitchFamily="49" charset="0"/>
                <a:cs typeface="Consolas" panose="020B0609020204030204" pitchFamily="49" charset="0"/>
              </a:rPr>
              <a:t>(x)</a:t>
            </a:r>
          </a:p>
          <a:p>
            <a:r>
              <a:rPr lang="en-US" sz="2400" b="1" dirty="0">
                <a:latin typeface="Consolas" panose="020B0609020204030204" pitchFamily="49" charset="0"/>
                <a:cs typeface="Consolas" panose="020B0609020204030204" pitchFamily="49" charset="0"/>
              </a:rPr>
              <a:t>y = x</a:t>
            </a:r>
          </a:p>
          <a:p>
            <a:r>
              <a:rPr lang="en-US" sz="2400" b="1" dirty="0" err="1">
                <a:latin typeface="Consolas" panose="020B0609020204030204" pitchFamily="49" charset="0"/>
                <a:cs typeface="Consolas" panose="020B0609020204030204" pitchFamily="49" charset="0"/>
              </a:rPr>
              <a:t>println_i</a:t>
            </a:r>
            <a:r>
              <a:rPr lang="en-US" sz="2400" b="1" dirty="0">
                <a:latin typeface="Consolas" panose="020B0609020204030204" pitchFamily="49" charset="0"/>
                <a:cs typeface="Consolas" panose="020B0609020204030204" pitchFamily="49" charset="0"/>
              </a:rPr>
              <a:t>(y)</a:t>
            </a:r>
          </a:p>
        </p:txBody>
      </p:sp>
      <p:sp>
        <p:nvSpPr>
          <p:cNvPr id="7" name="Down Arrow 6">
            <a:extLst>
              <a:ext uri="{FF2B5EF4-FFF2-40B4-BE49-F238E27FC236}">
                <a16:creationId xmlns:a16="http://schemas.microsoft.com/office/drawing/2014/main" id="{7C668564-0F13-B240-B527-607FAB971933}"/>
              </a:ext>
            </a:extLst>
          </p:cNvPr>
          <p:cNvSpPr/>
          <p:nvPr/>
        </p:nvSpPr>
        <p:spPr>
          <a:xfrm rot="16200000">
            <a:off x="4167718" y="2886602"/>
            <a:ext cx="533400" cy="52883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82B1AE4-2EA9-1E46-9FC5-2650180B8724}"/>
              </a:ext>
            </a:extLst>
          </p:cNvPr>
          <p:cNvSpPr txBox="1"/>
          <p:nvPr/>
        </p:nvSpPr>
        <p:spPr>
          <a:xfrm>
            <a:off x="643500" y="4069259"/>
            <a:ext cx="7814700" cy="1015663"/>
          </a:xfrm>
          <a:prstGeom prst="rect">
            <a:avLst/>
          </a:prstGeom>
          <a:noFill/>
        </p:spPr>
        <p:txBody>
          <a:bodyPr wrap="square" rtlCol="0">
            <a:spAutoFit/>
          </a:bodyPr>
          <a:lstStyle/>
          <a:p>
            <a:pPr algn="ctr"/>
            <a:r>
              <a:rPr lang="en-US" sz="2200" dirty="0"/>
              <a:t>because we're using SSA, the variables on the RHS are guaranteed not to change value between the assignments. </a:t>
            </a:r>
          </a:p>
          <a:p>
            <a:pPr algn="ctr"/>
            <a:r>
              <a:rPr lang="en-US" sz="1400" dirty="0"/>
              <a:t>(if we weren't using SSA, we'd have to check that.)</a:t>
            </a:r>
            <a:endParaRPr lang="en-US" sz="2400" dirty="0"/>
          </a:p>
        </p:txBody>
      </p:sp>
    </p:spTree>
    <p:extLst>
      <p:ext uri="{BB962C8B-B14F-4D97-AF65-F5344CB8AC3E}">
        <p14:creationId xmlns:p14="http://schemas.microsoft.com/office/powerpoint/2010/main" val="6290306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15114-DFF2-5642-90EC-C8D9A443E8BC}"/>
              </a:ext>
            </a:extLst>
          </p:cNvPr>
          <p:cNvSpPr>
            <a:spLocks noGrp="1"/>
          </p:cNvSpPr>
          <p:nvPr>
            <p:ph type="title"/>
          </p:nvPr>
        </p:nvSpPr>
        <p:spPr/>
        <p:txBody>
          <a:bodyPr/>
          <a:lstStyle/>
          <a:p>
            <a:r>
              <a:rPr lang="en-US" dirty="0"/>
              <a:t>Teamwork makes the dream work</a:t>
            </a:r>
          </a:p>
        </p:txBody>
      </p:sp>
      <p:sp>
        <p:nvSpPr>
          <p:cNvPr id="3" name="Content Placeholder 2">
            <a:extLst>
              <a:ext uri="{FF2B5EF4-FFF2-40B4-BE49-F238E27FC236}">
                <a16:creationId xmlns:a16="http://schemas.microsoft.com/office/drawing/2014/main" id="{012FACA7-F2E5-4C43-9A5F-A3399F2A36D2}"/>
              </a:ext>
            </a:extLst>
          </p:cNvPr>
          <p:cNvSpPr>
            <a:spLocks noGrp="1"/>
          </p:cNvSpPr>
          <p:nvPr>
            <p:ph idx="1"/>
          </p:nvPr>
        </p:nvSpPr>
        <p:spPr>
          <a:xfrm>
            <a:off x="152400" y="495301"/>
            <a:ext cx="8991600" cy="1142999"/>
          </a:xfrm>
        </p:spPr>
        <p:txBody>
          <a:bodyPr/>
          <a:lstStyle/>
          <a:p>
            <a:r>
              <a:rPr lang="en-US" dirty="0"/>
              <a:t>each local optimization </a:t>
            </a:r>
            <a:r>
              <a:rPr lang="en-US" b="1" dirty="0"/>
              <a:t>only does a little work.</a:t>
            </a:r>
          </a:p>
          <a:p>
            <a:r>
              <a:rPr lang="en-US" dirty="0"/>
              <a:t>but every time you run one, it can make it possible for another one to do a little more work…</a:t>
            </a:r>
          </a:p>
        </p:txBody>
      </p:sp>
      <p:sp>
        <p:nvSpPr>
          <p:cNvPr id="4" name="Slide Number Placeholder 3">
            <a:extLst>
              <a:ext uri="{FF2B5EF4-FFF2-40B4-BE49-F238E27FC236}">
                <a16:creationId xmlns:a16="http://schemas.microsoft.com/office/drawing/2014/main" id="{30CD4FA4-AE9B-B946-94CC-75DDE4050F64}"/>
              </a:ext>
            </a:extLst>
          </p:cNvPr>
          <p:cNvSpPr>
            <a:spLocks noGrp="1"/>
          </p:cNvSpPr>
          <p:nvPr>
            <p:ph type="sldNum" sz="quarter" idx="12"/>
          </p:nvPr>
        </p:nvSpPr>
        <p:spPr/>
        <p:txBody>
          <a:bodyPr/>
          <a:lstStyle/>
          <a:p>
            <a:fld id="{3552B95B-556F-44BD-91A5-D80C1B9E2BB3}" type="slidenum">
              <a:rPr lang="en-US" smtClean="0"/>
              <a:pPr/>
              <a:t>28</a:t>
            </a:fld>
            <a:endParaRPr lang="en-US"/>
          </a:p>
        </p:txBody>
      </p:sp>
      <p:pic>
        <p:nvPicPr>
          <p:cNvPr id="5" name="Picture 4">
            <a:extLst>
              <a:ext uri="{FF2B5EF4-FFF2-40B4-BE49-F238E27FC236}">
                <a16:creationId xmlns:a16="http://schemas.microsoft.com/office/drawing/2014/main" id="{2DC55EE1-67BB-F04C-B089-FDC00BEE41FC}"/>
              </a:ext>
            </a:extLst>
          </p:cNvPr>
          <p:cNvPicPr>
            <a:picLocks noChangeAspect="1"/>
          </p:cNvPicPr>
          <p:nvPr/>
        </p:nvPicPr>
        <p:blipFill>
          <a:blip r:embed="rId3"/>
          <a:stretch>
            <a:fillRect/>
          </a:stretch>
        </p:blipFill>
        <p:spPr>
          <a:xfrm>
            <a:off x="457200" y="1790700"/>
            <a:ext cx="3983125" cy="2654379"/>
          </a:xfrm>
          <a:prstGeom prst="rect">
            <a:avLst/>
          </a:prstGeom>
        </p:spPr>
      </p:pic>
      <p:sp>
        <p:nvSpPr>
          <p:cNvPr id="6" name="TextBox 5">
            <a:extLst>
              <a:ext uri="{FF2B5EF4-FFF2-40B4-BE49-F238E27FC236}">
                <a16:creationId xmlns:a16="http://schemas.microsoft.com/office/drawing/2014/main" id="{EE95236E-BE99-CA4E-937F-1697E5CCDC4E}"/>
              </a:ext>
            </a:extLst>
          </p:cNvPr>
          <p:cNvSpPr txBox="1"/>
          <p:nvPr/>
        </p:nvSpPr>
        <p:spPr>
          <a:xfrm>
            <a:off x="4876800" y="1405979"/>
            <a:ext cx="4114800" cy="769441"/>
          </a:xfrm>
          <a:prstGeom prst="rect">
            <a:avLst/>
          </a:prstGeom>
          <a:noFill/>
        </p:spPr>
        <p:txBody>
          <a:bodyPr wrap="square" rtlCol="0">
            <a:spAutoFit/>
          </a:bodyPr>
          <a:lstStyle/>
          <a:p>
            <a:pPr algn="ctr"/>
            <a:r>
              <a:rPr lang="en-US" sz="2200" dirty="0"/>
              <a:t>a copy propagation makes a constant folding possible;</a:t>
            </a:r>
          </a:p>
        </p:txBody>
      </p:sp>
      <p:sp>
        <p:nvSpPr>
          <p:cNvPr id="7" name="TextBox 6">
            <a:extLst>
              <a:ext uri="{FF2B5EF4-FFF2-40B4-BE49-F238E27FC236}">
                <a16:creationId xmlns:a16="http://schemas.microsoft.com/office/drawing/2014/main" id="{B172DA3C-B430-D644-AFA0-46CCFB45C7F2}"/>
              </a:ext>
            </a:extLst>
          </p:cNvPr>
          <p:cNvSpPr txBox="1"/>
          <p:nvPr/>
        </p:nvSpPr>
        <p:spPr>
          <a:xfrm>
            <a:off x="4876800" y="2303502"/>
            <a:ext cx="4114800" cy="1107996"/>
          </a:xfrm>
          <a:prstGeom prst="rect">
            <a:avLst/>
          </a:prstGeom>
          <a:noFill/>
        </p:spPr>
        <p:txBody>
          <a:bodyPr wrap="square" rtlCol="0">
            <a:spAutoFit/>
          </a:bodyPr>
          <a:lstStyle/>
          <a:p>
            <a:pPr algn="ctr"/>
            <a:r>
              <a:rPr lang="en-US" sz="2200" dirty="0"/>
              <a:t>which makes another copy propagation possible, followed by a dead store elimination;</a:t>
            </a:r>
          </a:p>
        </p:txBody>
      </p:sp>
      <p:sp>
        <p:nvSpPr>
          <p:cNvPr id="8" name="TextBox 7">
            <a:extLst>
              <a:ext uri="{FF2B5EF4-FFF2-40B4-BE49-F238E27FC236}">
                <a16:creationId xmlns:a16="http://schemas.microsoft.com/office/drawing/2014/main" id="{6F51C5E7-9806-824D-BE27-FEE79BBC9D3B}"/>
              </a:ext>
            </a:extLst>
          </p:cNvPr>
          <p:cNvSpPr txBox="1"/>
          <p:nvPr/>
        </p:nvSpPr>
        <p:spPr>
          <a:xfrm>
            <a:off x="5105400" y="3506884"/>
            <a:ext cx="3657600" cy="1107996"/>
          </a:xfrm>
          <a:prstGeom prst="rect">
            <a:avLst/>
          </a:prstGeom>
          <a:noFill/>
        </p:spPr>
        <p:txBody>
          <a:bodyPr wrap="square" rtlCol="0">
            <a:spAutoFit/>
          </a:bodyPr>
          <a:lstStyle/>
          <a:p>
            <a:pPr algn="ctr"/>
            <a:r>
              <a:rPr lang="en-US" sz="2200" b="1" dirty="0"/>
              <a:t>around and around</a:t>
            </a:r>
            <a:r>
              <a:rPr lang="en-US" sz="2200" dirty="0"/>
              <a:t> until the code is as "simple" as we can make it.</a:t>
            </a:r>
          </a:p>
        </p:txBody>
      </p:sp>
    </p:spTree>
    <p:extLst>
      <p:ext uri="{BB962C8B-B14F-4D97-AF65-F5344CB8AC3E}">
        <p14:creationId xmlns:p14="http://schemas.microsoft.com/office/powerpoint/2010/main" val="12404853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0D1B5-C719-4141-B3E8-394313E9A604}"/>
              </a:ext>
            </a:extLst>
          </p:cNvPr>
          <p:cNvSpPr>
            <a:spLocks noGrp="1"/>
          </p:cNvSpPr>
          <p:nvPr>
            <p:ph type="title"/>
          </p:nvPr>
        </p:nvSpPr>
        <p:spPr/>
        <p:txBody>
          <a:bodyPr/>
          <a:lstStyle/>
          <a:p>
            <a:r>
              <a:rPr lang="en-US" dirty="0"/>
              <a:t>How the compiler does it</a:t>
            </a:r>
          </a:p>
        </p:txBody>
      </p:sp>
      <p:sp>
        <p:nvSpPr>
          <p:cNvPr id="3" name="Content Placeholder 2">
            <a:extLst>
              <a:ext uri="{FF2B5EF4-FFF2-40B4-BE49-F238E27FC236}">
                <a16:creationId xmlns:a16="http://schemas.microsoft.com/office/drawing/2014/main" id="{32F12FE1-0656-4E4B-AF6D-1B77F5CC993C}"/>
              </a:ext>
            </a:extLst>
          </p:cNvPr>
          <p:cNvSpPr>
            <a:spLocks noGrp="1"/>
          </p:cNvSpPr>
          <p:nvPr>
            <p:ph idx="1"/>
          </p:nvPr>
        </p:nvSpPr>
        <p:spPr>
          <a:xfrm>
            <a:off x="152400" y="495301"/>
            <a:ext cx="8991600" cy="838199"/>
          </a:xfrm>
        </p:spPr>
        <p:txBody>
          <a:bodyPr/>
          <a:lstStyle/>
          <a:p>
            <a:r>
              <a:rPr lang="en-US" dirty="0"/>
              <a:t>it just does a simple round-robin scheme:</a:t>
            </a:r>
          </a:p>
        </p:txBody>
      </p:sp>
      <p:sp>
        <p:nvSpPr>
          <p:cNvPr id="4" name="Slide Number Placeholder 3">
            <a:extLst>
              <a:ext uri="{FF2B5EF4-FFF2-40B4-BE49-F238E27FC236}">
                <a16:creationId xmlns:a16="http://schemas.microsoft.com/office/drawing/2014/main" id="{09844691-C0CE-1A44-8A25-D27D0ADEA4D3}"/>
              </a:ext>
            </a:extLst>
          </p:cNvPr>
          <p:cNvSpPr>
            <a:spLocks noGrp="1"/>
          </p:cNvSpPr>
          <p:nvPr>
            <p:ph type="sldNum" sz="quarter" idx="12"/>
          </p:nvPr>
        </p:nvSpPr>
        <p:spPr/>
        <p:txBody>
          <a:bodyPr/>
          <a:lstStyle/>
          <a:p>
            <a:fld id="{3552B95B-556F-44BD-91A5-D80C1B9E2BB3}" type="slidenum">
              <a:rPr lang="en-US" smtClean="0"/>
              <a:pPr/>
              <a:t>29</a:t>
            </a:fld>
            <a:endParaRPr lang="en-US"/>
          </a:p>
        </p:txBody>
      </p:sp>
      <p:sp>
        <p:nvSpPr>
          <p:cNvPr id="5" name="TextBox 4">
            <a:extLst>
              <a:ext uri="{FF2B5EF4-FFF2-40B4-BE49-F238E27FC236}">
                <a16:creationId xmlns:a16="http://schemas.microsoft.com/office/drawing/2014/main" id="{DAF91718-4822-9541-A6CA-7EAC48954C0F}"/>
              </a:ext>
            </a:extLst>
          </p:cNvPr>
          <p:cNvSpPr txBox="1"/>
          <p:nvPr/>
        </p:nvSpPr>
        <p:spPr>
          <a:xfrm>
            <a:off x="212035" y="914400"/>
            <a:ext cx="3570208" cy="2246769"/>
          </a:xfrm>
          <a:prstGeom prst="rect">
            <a:avLst/>
          </a:prstGeom>
          <a:noFill/>
        </p:spPr>
        <p:txBody>
          <a:bodyPr wrap="none" rtlCol="0">
            <a:spAutoFit/>
          </a:bodyPr>
          <a:lstStyle/>
          <a:p>
            <a:r>
              <a:rPr lang="en-US" sz="2000" b="1" dirty="0">
                <a:solidFill>
                  <a:srgbClr val="FF0000"/>
                </a:solidFill>
                <a:latin typeface="Consolas" panose="020B0609020204030204" pitchFamily="49" charset="0"/>
                <a:cs typeface="Consolas" panose="020B0609020204030204" pitchFamily="49" charset="0"/>
              </a:rPr>
              <a:t>do</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const_fold</a:t>
            </a:r>
            <a:r>
              <a:rPr lang="en-US" sz="2000" b="1" dirty="0">
                <a:latin typeface="Consolas" panose="020B0609020204030204" pitchFamily="49" charset="0"/>
                <a:cs typeface="Consolas" panose="020B0609020204030204" pitchFamily="49" charset="0"/>
              </a:rPr>
              <a:t>(bb);</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strength_reduce</a:t>
            </a:r>
            <a:r>
              <a:rPr lang="en-US" sz="2000" b="1" dirty="0">
                <a:latin typeface="Consolas" panose="020B0609020204030204" pitchFamily="49" charset="0"/>
                <a:cs typeface="Consolas" panose="020B0609020204030204" pitchFamily="49" charset="0"/>
              </a:rPr>
              <a:t>(bb);</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algebraic_simpl</a:t>
            </a:r>
            <a:r>
              <a:rPr lang="en-US" sz="2000" b="1" dirty="0">
                <a:latin typeface="Consolas" panose="020B0609020204030204" pitchFamily="49" charset="0"/>
                <a:cs typeface="Consolas" panose="020B0609020204030204" pitchFamily="49" charset="0"/>
              </a:rPr>
              <a:t>(bb);</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copy_propagate</a:t>
            </a:r>
            <a:r>
              <a:rPr lang="en-US" sz="2000" b="1" dirty="0">
                <a:latin typeface="Consolas" panose="020B0609020204030204" pitchFamily="49" charset="0"/>
                <a:cs typeface="Consolas" panose="020B0609020204030204" pitchFamily="49" charset="0"/>
              </a:rPr>
              <a:t>(bb);</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dead_store_elim</a:t>
            </a:r>
            <a:r>
              <a:rPr lang="en-US" sz="2000" b="1" dirty="0">
                <a:latin typeface="Consolas" panose="020B0609020204030204" pitchFamily="49" charset="0"/>
                <a:cs typeface="Consolas" panose="020B0609020204030204" pitchFamily="49" charset="0"/>
              </a:rPr>
              <a:t>(bb);</a:t>
            </a:r>
          </a:p>
          <a:p>
            <a:r>
              <a:rPr lang="en-US" sz="2000" b="1" dirty="0">
                <a:latin typeface="Consolas" panose="020B0609020204030204" pitchFamily="49" charset="0"/>
                <a:cs typeface="Consolas" panose="020B0609020204030204" pitchFamily="49" charset="0"/>
              </a:rPr>
              <a:t>} </a:t>
            </a:r>
            <a:r>
              <a:rPr lang="en-US" sz="2000" b="1" dirty="0">
                <a:solidFill>
                  <a:srgbClr val="FF0000"/>
                </a:solidFill>
                <a:latin typeface="Consolas" panose="020B0609020204030204" pitchFamily="49" charset="0"/>
                <a:cs typeface="Consolas" panose="020B0609020204030204" pitchFamily="49" charset="0"/>
              </a:rPr>
              <a:t>while</a:t>
            </a:r>
            <a:r>
              <a:rPr lang="en-US" sz="2000" b="1" dirty="0">
                <a:latin typeface="Consolas" panose="020B0609020204030204" pitchFamily="49" charset="0"/>
                <a:cs typeface="Consolas" panose="020B0609020204030204" pitchFamily="49" charset="0"/>
              </a:rPr>
              <a:t>(the bb changed);</a:t>
            </a:r>
          </a:p>
        </p:txBody>
      </p:sp>
      <p:sp>
        <p:nvSpPr>
          <p:cNvPr id="6" name="TextBox 5">
            <a:extLst>
              <a:ext uri="{FF2B5EF4-FFF2-40B4-BE49-F238E27FC236}">
                <a16:creationId xmlns:a16="http://schemas.microsoft.com/office/drawing/2014/main" id="{E45B11E8-7635-F14F-A78E-9FDC6C43D015}"/>
              </a:ext>
            </a:extLst>
          </p:cNvPr>
          <p:cNvSpPr txBox="1"/>
          <p:nvPr/>
        </p:nvSpPr>
        <p:spPr>
          <a:xfrm>
            <a:off x="3770243" y="961262"/>
            <a:ext cx="5067300" cy="1107996"/>
          </a:xfrm>
          <a:prstGeom prst="rect">
            <a:avLst/>
          </a:prstGeom>
          <a:noFill/>
        </p:spPr>
        <p:txBody>
          <a:bodyPr wrap="square" rtlCol="0">
            <a:spAutoFit/>
          </a:bodyPr>
          <a:lstStyle/>
          <a:p>
            <a:pPr algn="ctr"/>
            <a:r>
              <a:rPr lang="en-US" sz="2200" dirty="0"/>
              <a:t>each optimization is so simple and quick that you just… keep doing them until they don't do anything anymore.</a:t>
            </a:r>
          </a:p>
        </p:txBody>
      </p:sp>
      <p:sp>
        <p:nvSpPr>
          <p:cNvPr id="7" name="TextBox 6">
            <a:extLst>
              <a:ext uri="{FF2B5EF4-FFF2-40B4-BE49-F238E27FC236}">
                <a16:creationId xmlns:a16="http://schemas.microsoft.com/office/drawing/2014/main" id="{BD3CBC4F-7E2F-BC4C-BEF2-70A907717E1B}"/>
              </a:ext>
            </a:extLst>
          </p:cNvPr>
          <p:cNvSpPr txBox="1"/>
          <p:nvPr/>
        </p:nvSpPr>
        <p:spPr>
          <a:xfrm>
            <a:off x="4261805" y="2118543"/>
            <a:ext cx="4142557" cy="1107996"/>
          </a:xfrm>
          <a:prstGeom prst="rect">
            <a:avLst/>
          </a:prstGeom>
          <a:noFill/>
        </p:spPr>
        <p:txBody>
          <a:bodyPr wrap="square" rtlCol="0">
            <a:spAutoFit/>
          </a:bodyPr>
          <a:lstStyle/>
          <a:p>
            <a:pPr algn="ctr"/>
            <a:r>
              <a:rPr lang="en-US" sz="2200" i="1" dirty="0"/>
              <a:t>it is literally more work to "check if the optimization is possible" than it is to just try to do it</a:t>
            </a:r>
          </a:p>
        </p:txBody>
      </p:sp>
      <p:sp>
        <p:nvSpPr>
          <p:cNvPr id="8" name="TextBox 7">
            <a:extLst>
              <a:ext uri="{FF2B5EF4-FFF2-40B4-BE49-F238E27FC236}">
                <a16:creationId xmlns:a16="http://schemas.microsoft.com/office/drawing/2014/main" id="{C5953885-2969-DC48-B811-8C6D6E18CD3F}"/>
              </a:ext>
            </a:extLst>
          </p:cNvPr>
          <p:cNvSpPr txBox="1"/>
          <p:nvPr/>
        </p:nvSpPr>
        <p:spPr>
          <a:xfrm>
            <a:off x="657216" y="3307298"/>
            <a:ext cx="7747146" cy="769441"/>
          </a:xfrm>
          <a:prstGeom prst="rect">
            <a:avLst/>
          </a:prstGeom>
          <a:noFill/>
        </p:spPr>
        <p:txBody>
          <a:bodyPr wrap="square" rtlCol="0">
            <a:spAutoFit/>
          </a:bodyPr>
          <a:lstStyle/>
          <a:p>
            <a:pPr algn="ctr"/>
            <a:r>
              <a:rPr lang="en-US" sz="2200" dirty="0"/>
              <a:t>if this makes you feel uneasy (couldn't it get stuck in an infinite loop??), I'm with you! but if it works, it works.</a:t>
            </a:r>
          </a:p>
        </p:txBody>
      </p:sp>
      <p:sp>
        <p:nvSpPr>
          <p:cNvPr id="9" name="TextBox 8">
            <a:extLst>
              <a:ext uri="{FF2B5EF4-FFF2-40B4-BE49-F238E27FC236}">
                <a16:creationId xmlns:a16="http://schemas.microsoft.com/office/drawing/2014/main" id="{03349406-DC87-C249-925B-9B92897D8766}"/>
              </a:ext>
            </a:extLst>
          </p:cNvPr>
          <p:cNvSpPr txBox="1"/>
          <p:nvPr/>
        </p:nvSpPr>
        <p:spPr>
          <a:xfrm>
            <a:off x="1536627" y="4214543"/>
            <a:ext cx="6070746" cy="369332"/>
          </a:xfrm>
          <a:prstGeom prst="rect">
            <a:avLst/>
          </a:prstGeom>
          <a:noFill/>
        </p:spPr>
        <p:txBody>
          <a:bodyPr wrap="square" rtlCol="0">
            <a:spAutoFit/>
          </a:bodyPr>
          <a:lstStyle/>
          <a:p>
            <a:pPr algn="ctr"/>
            <a:r>
              <a:rPr lang="en-US" sz="1800" dirty="0"/>
              <a:t>(the compiler might stop after some </a:t>
            </a:r>
            <a:r>
              <a:rPr lang="en-US" sz="1800" i="1" dirty="0"/>
              <a:t>n</a:t>
            </a:r>
            <a:r>
              <a:rPr lang="en-US" sz="1800" dirty="0"/>
              <a:t> iterations anyway).</a:t>
            </a:r>
          </a:p>
        </p:txBody>
      </p:sp>
    </p:spTree>
    <p:extLst>
      <p:ext uri="{BB962C8B-B14F-4D97-AF65-F5344CB8AC3E}">
        <p14:creationId xmlns:p14="http://schemas.microsoft.com/office/powerpoint/2010/main" val="19537126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P spid="6" grpId="0"/>
      <p:bldP spid="7" grpId="0"/>
      <p:bldP spid="8"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0C2E0-0079-0B4A-ABFB-8126B52CF6C5}"/>
              </a:ext>
            </a:extLst>
          </p:cNvPr>
          <p:cNvSpPr>
            <a:spLocks noGrp="1"/>
          </p:cNvSpPr>
          <p:nvPr>
            <p:ph type="title"/>
          </p:nvPr>
        </p:nvSpPr>
        <p:spPr/>
        <p:txBody>
          <a:bodyPr/>
          <a:lstStyle/>
          <a:p>
            <a:r>
              <a:rPr lang="en-US" dirty="0"/>
              <a:t>An example</a:t>
            </a:r>
          </a:p>
        </p:txBody>
      </p:sp>
      <p:sp>
        <p:nvSpPr>
          <p:cNvPr id="3" name="Content Placeholder 2">
            <a:extLst>
              <a:ext uri="{FF2B5EF4-FFF2-40B4-BE49-F238E27FC236}">
                <a16:creationId xmlns:a16="http://schemas.microsoft.com/office/drawing/2014/main" id="{CB804D42-D15C-EF40-BE49-8E38D12C2E26}"/>
              </a:ext>
            </a:extLst>
          </p:cNvPr>
          <p:cNvSpPr>
            <a:spLocks noGrp="1"/>
          </p:cNvSpPr>
          <p:nvPr>
            <p:ph idx="1"/>
          </p:nvPr>
        </p:nvSpPr>
        <p:spPr>
          <a:xfrm>
            <a:off x="152400" y="495301"/>
            <a:ext cx="8991600" cy="495301"/>
          </a:xfrm>
        </p:spPr>
        <p:txBody>
          <a:bodyPr/>
          <a:lstStyle/>
          <a:p>
            <a:r>
              <a:rPr lang="en-US" dirty="0"/>
              <a:t>let's take that code from before and optimize it real good.</a:t>
            </a:r>
          </a:p>
        </p:txBody>
      </p:sp>
      <p:sp>
        <p:nvSpPr>
          <p:cNvPr id="4" name="Slide Number Placeholder 3">
            <a:extLst>
              <a:ext uri="{FF2B5EF4-FFF2-40B4-BE49-F238E27FC236}">
                <a16:creationId xmlns:a16="http://schemas.microsoft.com/office/drawing/2014/main" id="{D67397FD-C731-6444-AE04-3C5320330816}"/>
              </a:ext>
            </a:extLst>
          </p:cNvPr>
          <p:cNvSpPr>
            <a:spLocks noGrp="1"/>
          </p:cNvSpPr>
          <p:nvPr>
            <p:ph type="sldNum" sz="quarter" idx="12"/>
          </p:nvPr>
        </p:nvSpPr>
        <p:spPr/>
        <p:txBody>
          <a:bodyPr/>
          <a:lstStyle/>
          <a:p>
            <a:fld id="{3552B95B-556F-44BD-91A5-D80C1B9E2BB3}" type="slidenum">
              <a:rPr lang="en-US" smtClean="0"/>
              <a:pPr/>
              <a:t>30</a:t>
            </a:fld>
            <a:endParaRPr lang="en-US"/>
          </a:p>
        </p:txBody>
      </p:sp>
      <p:sp>
        <p:nvSpPr>
          <p:cNvPr id="5" name="TextBox 4">
            <a:extLst>
              <a:ext uri="{FF2B5EF4-FFF2-40B4-BE49-F238E27FC236}">
                <a16:creationId xmlns:a16="http://schemas.microsoft.com/office/drawing/2014/main" id="{4CE16287-D6BB-3349-8899-9C775E9C50B2}"/>
              </a:ext>
            </a:extLst>
          </p:cNvPr>
          <p:cNvSpPr txBox="1"/>
          <p:nvPr/>
        </p:nvSpPr>
        <p:spPr>
          <a:xfrm>
            <a:off x="304800" y="990602"/>
            <a:ext cx="1789272" cy="2308324"/>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16</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4</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3</a:t>
            </a:r>
            <a:r>
              <a:rPr lang="en-US" sz="1800" b="1" dirty="0">
                <a:latin typeface="Consolas" panose="020B0609020204030204" pitchFamily="49" charset="0"/>
                <a:cs typeface="Consolas" panose="020B0609020204030204" pitchFamily="49" charset="0"/>
              </a:rPr>
              <a:t> = 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1</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3</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x</a:t>
            </a:r>
            <a:r>
              <a:rPr lang="en-US" sz="1800" b="1" baseline="-25000" dirty="0">
                <a:latin typeface="Consolas" panose="020B0609020204030204" pitchFamily="49" charset="0"/>
                <a:cs typeface="Consolas" panose="020B0609020204030204" pitchFamily="49" charset="0"/>
              </a:rPr>
              <a:t>3</a:t>
            </a: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6" name="TextBox 5">
            <a:extLst>
              <a:ext uri="{FF2B5EF4-FFF2-40B4-BE49-F238E27FC236}">
                <a16:creationId xmlns:a16="http://schemas.microsoft.com/office/drawing/2014/main" id="{7D35AAE3-CFCE-154A-9EB2-616F4ECBDDEA}"/>
              </a:ext>
            </a:extLst>
          </p:cNvPr>
          <p:cNvSpPr txBox="1"/>
          <p:nvPr/>
        </p:nvSpPr>
        <p:spPr>
          <a:xfrm>
            <a:off x="2438400" y="990602"/>
            <a:ext cx="1789272" cy="2308324"/>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160</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highlight>
                  <a:srgbClr val="FFFF00"/>
                </a:highlight>
                <a:latin typeface="Consolas" panose="020B0609020204030204" pitchFamily="49" charset="0"/>
                <a:cs typeface="Consolas" panose="020B0609020204030204" pitchFamily="49" charset="0"/>
              </a:rPr>
              <a:t>x</a:t>
            </a:r>
            <a:r>
              <a:rPr lang="en-US" sz="1800" b="1" baseline="-25000" dirty="0">
                <a:highlight>
                  <a:srgbClr val="FFFF00"/>
                </a:highlight>
                <a:latin typeface="Consolas" panose="020B0609020204030204" pitchFamily="49" charset="0"/>
                <a:cs typeface="Consolas" panose="020B0609020204030204" pitchFamily="49" charset="0"/>
              </a:rPr>
              <a:t>1</a:t>
            </a:r>
            <a:r>
              <a:rPr lang="en-US" sz="1800" b="1" dirty="0">
                <a:highlight>
                  <a:srgbClr val="FFFF00"/>
                </a:highlight>
                <a:latin typeface="Consolas" panose="020B0609020204030204" pitchFamily="49" charset="0"/>
                <a:cs typeface="Consolas" panose="020B0609020204030204" pitchFamily="49" charset="0"/>
              </a:rPr>
              <a:t> &lt;&lt; </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2</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3</a:t>
            </a:r>
            <a:r>
              <a:rPr lang="en-US" sz="1800" b="1" dirty="0">
                <a:latin typeface="Consolas" panose="020B0609020204030204" pitchFamily="49" charset="0"/>
                <a:cs typeface="Consolas" panose="020B0609020204030204" pitchFamily="49" charset="0"/>
              </a:rPr>
              <a:t> = </a:t>
            </a:r>
            <a:r>
              <a:rPr lang="en-US" sz="1800" b="1" dirty="0">
                <a:highlight>
                  <a:srgbClr val="FFFF00"/>
                </a:highlight>
                <a:latin typeface="Consolas" panose="020B0609020204030204" pitchFamily="49" charset="0"/>
                <a:cs typeface="Consolas" panose="020B0609020204030204" pitchFamily="49" charset="0"/>
              </a:rPr>
              <a:t>x</a:t>
            </a:r>
            <a:r>
              <a:rPr lang="en-US" sz="1800" b="1" baseline="-25000" dirty="0">
                <a:highlight>
                  <a:srgbClr val="FFFF00"/>
                </a:highlight>
                <a:latin typeface="Consolas" panose="020B0609020204030204" pitchFamily="49" charset="0"/>
                <a:cs typeface="Consolas" panose="020B0609020204030204" pitchFamily="49" charset="0"/>
              </a:rPr>
              <a:t>2</a:t>
            </a:r>
            <a:endPar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endParaRP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3</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x</a:t>
            </a:r>
            <a:r>
              <a:rPr lang="en-US" sz="1800" b="1" baseline="-25000" dirty="0">
                <a:latin typeface="Consolas" panose="020B0609020204030204" pitchFamily="49" charset="0"/>
                <a:cs typeface="Consolas" panose="020B0609020204030204" pitchFamily="49" charset="0"/>
              </a:rPr>
              <a:t>3</a:t>
            </a: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7" name="TextBox 6">
            <a:extLst>
              <a:ext uri="{FF2B5EF4-FFF2-40B4-BE49-F238E27FC236}">
                <a16:creationId xmlns:a16="http://schemas.microsoft.com/office/drawing/2014/main" id="{C317983B-D9CF-FE46-B4BC-BE538B3211F0}"/>
              </a:ext>
            </a:extLst>
          </p:cNvPr>
          <p:cNvSpPr txBox="1"/>
          <p:nvPr/>
        </p:nvSpPr>
        <p:spPr>
          <a:xfrm>
            <a:off x="4572000" y="990602"/>
            <a:ext cx="1957587" cy="2308324"/>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1</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160</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 &lt;&lt; </a:t>
            </a:r>
            <a:r>
              <a:rPr lang="en-US" sz="1800" b="1" dirty="0">
                <a:solidFill>
                  <a:schemeClr val="accent3">
                    <a:lumMod val="75000"/>
                  </a:schemeClr>
                </a:solidFill>
                <a:latin typeface="Consolas" panose="020B0609020204030204" pitchFamily="49" charset="0"/>
                <a:cs typeface="Consolas" panose="020B0609020204030204" pitchFamily="49" charset="0"/>
              </a:rPr>
              <a:t>2</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3</a:t>
            </a:r>
            <a:r>
              <a:rPr lang="en-US" sz="1800" b="1" dirty="0">
                <a:latin typeface="Consolas" panose="020B0609020204030204" pitchFamily="49" charset="0"/>
                <a:cs typeface="Consolas" panose="020B0609020204030204" pitchFamily="49" charset="0"/>
              </a:rPr>
              <a:t> = x</a:t>
            </a:r>
            <a:r>
              <a:rPr lang="en-US" sz="1800" b="1" baseline="-25000" dirty="0">
                <a:latin typeface="Consolas" panose="020B0609020204030204" pitchFamily="49" charset="0"/>
                <a:cs typeface="Consolas" panose="020B0609020204030204" pitchFamily="49" charset="0"/>
              </a:rPr>
              <a:t>2</a:t>
            </a:r>
            <a:endParaRPr lang="en-US" sz="1800" b="1" dirty="0">
              <a:solidFill>
                <a:schemeClr val="accent3">
                  <a:lumMod val="75000"/>
                </a:schemeClr>
              </a:solidFill>
              <a:latin typeface="Consolas" panose="020B0609020204030204" pitchFamily="49" charset="0"/>
              <a:cs typeface="Consolas" panose="020B0609020204030204" pitchFamily="49" charset="0"/>
            </a:endParaRP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highlight>
                  <a:srgbClr val="FFFF00"/>
                </a:highlight>
                <a:latin typeface="Consolas" panose="020B0609020204030204" pitchFamily="49" charset="0"/>
                <a:cs typeface="Consolas" panose="020B0609020204030204" pitchFamily="49" charset="0"/>
              </a:rPr>
              <a:t>x</a:t>
            </a:r>
            <a:r>
              <a:rPr lang="en-US" sz="1800" b="1" baseline="-25000" dirty="0">
                <a:highlight>
                  <a:srgbClr val="FFFF00"/>
                </a:highlight>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a:t>
            </a:r>
            <a:r>
              <a:rPr lang="en-US" sz="1800" b="1" dirty="0">
                <a:highlight>
                  <a:srgbClr val="FFFF00"/>
                </a:highlight>
                <a:latin typeface="Consolas" panose="020B0609020204030204" pitchFamily="49" charset="0"/>
                <a:cs typeface="Consolas" panose="020B0609020204030204" pitchFamily="49" charset="0"/>
              </a:rPr>
              <a:t>x</a:t>
            </a:r>
            <a:r>
              <a:rPr lang="en-US" sz="1800" b="1" baseline="-25000" dirty="0">
                <a:highlight>
                  <a:srgbClr val="FFFF00"/>
                </a:highlight>
                <a:latin typeface="Consolas" panose="020B0609020204030204" pitchFamily="49" charset="0"/>
                <a:cs typeface="Consolas" panose="020B0609020204030204" pitchFamily="49" charset="0"/>
              </a:rPr>
              <a:t>2</a:t>
            </a: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8" name="TextBox 7">
            <a:extLst>
              <a:ext uri="{FF2B5EF4-FFF2-40B4-BE49-F238E27FC236}">
                <a16:creationId xmlns:a16="http://schemas.microsoft.com/office/drawing/2014/main" id="{B0485072-0A55-EB4E-B6F8-109FDE2DA626}"/>
              </a:ext>
            </a:extLst>
          </p:cNvPr>
          <p:cNvSpPr txBox="1"/>
          <p:nvPr/>
        </p:nvSpPr>
        <p:spPr>
          <a:xfrm>
            <a:off x="6705600" y="990602"/>
            <a:ext cx="1957587" cy="1754326"/>
          </a:xfrm>
          <a:prstGeom prst="rect">
            <a:avLst/>
          </a:prstGeom>
          <a:noFill/>
        </p:spPr>
        <p:txBody>
          <a:bodyPr wrap="none" rtlCol="0">
            <a:spAutoFit/>
          </a:bodyPr>
          <a:lstStyle/>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 &lt;&lt; </a:t>
            </a:r>
            <a:r>
              <a:rPr lang="en-US" sz="1800" b="1" dirty="0">
                <a:solidFill>
                  <a:schemeClr val="accent3">
                    <a:lumMod val="75000"/>
                  </a:schemeClr>
                </a:solidFill>
                <a:latin typeface="Consolas" panose="020B0609020204030204" pitchFamily="49" charset="0"/>
                <a:cs typeface="Consolas" panose="020B0609020204030204" pitchFamily="49" charset="0"/>
              </a:rPr>
              <a:t>2</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x</a:t>
            </a:r>
            <a:r>
              <a:rPr lang="en-US" sz="1800" b="1" baseline="-25000" dirty="0">
                <a:latin typeface="Consolas" panose="020B0609020204030204" pitchFamily="49" charset="0"/>
                <a:cs typeface="Consolas" panose="020B0609020204030204" pitchFamily="49" charset="0"/>
              </a:rPr>
              <a:t>2</a:t>
            </a: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9" name="TextBox 8">
            <a:extLst>
              <a:ext uri="{FF2B5EF4-FFF2-40B4-BE49-F238E27FC236}">
                <a16:creationId xmlns:a16="http://schemas.microsoft.com/office/drawing/2014/main" id="{9FD96B97-CC29-3D4A-9F35-D54D900CB4C8}"/>
              </a:ext>
            </a:extLst>
          </p:cNvPr>
          <p:cNvSpPr txBox="1"/>
          <p:nvPr/>
        </p:nvSpPr>
        <p:spPr>
          <a:xfrm>
            <a:off x="304800" y="3524484"/>
            <a:ext cx="1957587" cy="1754326"/>
          </a:xfrm>
          <a:prstGeom prst="rect">
            <a:avLst/>
          </a:prstGeom>
          <a:noFill/>
        </p:spPr>
        <p:txBody>
          <a:bodyPr wrap="none" rtlCol="0">
            <a:spAutoFit/>
          </a:bodyPr>
          <a:lstStyle/>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640</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x</a:t>
            </a:r>
            <a:r>
              <a:rPr lang="en-US" sz="1800" b="1" baseline="-25000" dirty="0">
                <a:latin typeface="Consolas" panose="020B0609020204030204" pitchFamily="49" charset="0"/>
                <a:cs typeface="Consolas" panose="020B0609020204030204" pitchFamily="49" charset="0"/>
              </a:rPr>
              <a:t>2</a:t>
            </a: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11" name="TextBox 10">
            <a:extLst>
              <a:ext uri="{FF2B5EF4-FFF2-40B4-BE49-F238E27FC236}">
                <a16:creationId xmlns:a16="http://schemas.microsoft.com/office/drawing/2014/main" id="{0F2E9073-FDD6-2644-80F7-D71D80CC5500}"/>
              </a:ext>
            </a:extLst>
          </p:cNvPr>
          <p:cNvSpPr txBox="1"/>
          <p:nvPr/>
        </p:nvSpPr>
        <p:spPr>
          <a:xfrm>
            <a:off x="2438400" y="3524484"/>
            <a:ext cx="1957587" cy="1754326"/>
          </a:xfrm>
          <a:prstGeom prst="rect">
            <a:avLst/>
          </a:prstGeom>
          <a:noFill/>
        </p:spPr>
        <p:txBody>
          <a:bodyPr wrap="none" rtlCol="0">
            <a:spAutoFit/>
          </a:bodyPr>
          <a:lstStyle/>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x</a:t>
            </a:r>
            <a:r>
              <a:rPr lang="en-US" sz="1800" b="1" baseline="-25000" dirty="0">
                <a:latin typeface="Consolas" panose="020B0609020204030204" pitchFamily="49" charset="0"/>
                <a:cs typeface="Consolas" panose="020B0609020204030204" pitchFamily="49" charset="0"/>
              </a:rPr>
              <a:t>2</a:t>
            </a:r>
            <a:r>
              <a:rPr lang="en-US" sz="1800" b="1" dirty="0">
                <a:latin typeface="Consolas" panose="020B0609020204030204" pitchFamily="49" charset="0"/>
                <a:cs typeface="Consolas" panose="020B0609020204030204" pitchFamily="49" charset="0"/>
              </a:rPr>
              <a:t> = </a:t>
            </a:r>
            <a:r>
              <a:rPr lang="en-US" sz="1800" b="1" dirty="0">
                <a:solidFill>
                  <a:schemeClr val="accent3">
                    <a:lumMod val="75000"/>
                  </a:schemeClr>
                </a:solidFill>
                <a:latin typeface="Consolas" panose="020B0609020204030204" pitchFamily="49" charset="0"/>
                <a:cs typeface="Consolas" panose="020B0609020204030204" pitchFamily="49" charset="0"/>
              </a:rPr>
              <a:t>640</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640</a:t>
            </a:r>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640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a:t>
            </a:r>
            <a:r>
              <a:rPr lang="en-US" sz="1800" b="1" dirty="0">
                <a:solidFill>
                  <a:schemeClr val="accent3">
                    <a:lumMod val="75000"/>
                  </a:schemeClr>
                </a:solidFill>
                <a:highlight>
                  <a:srgbClr val="FFFF00"/>
                </a:highlight>
                <a:latin typeface="Consolas" panose="020B0609020204030204" pitchFamily="49" charset="0"/>
                <a:cs typeface="Consolas" panose="020B0609020204030204" pitchFamily="49" charset="0"/>
              </a:rPr>
              <a:t>640</a:t>
            </a:r>
            <a:endParaRPr lang="en-US" sz="1800" b="1" baseline="-25000" dirty="0">
              <a:highlight>
                <a:srgbClr val="FFFF00"/>
              </a:highlight>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12" name="TextBox 11">
            <a:extLst>
              <a:ext uri="{FF2B5EF4-FFF2-40B4-BE49-F238E27FC236}">
                <a16:creationId xmlns:a16="http://schemas.microsoft.com/office/drawing/2014/main" id="{76B9AA73-A001-A247-9C5B-CFC64975017E}"/>
              </a:ext>
            </a:extLst>
          </p:cNvPr>
          <p:cNvSpPr txBox="1"/>
          <p:nvPr/>
        </p:nvSpPr>
        <p:spPr>
          <a:xfrm>
            <a:off x="4572000" y="3524484"/>
            <a:ext cx="1957587" cy="1477328"/>
          </a:xfrm>
          <a:prstGeom prst="rect">
            <a:avLst/>
          </a:prstGeom>
          <a:noFill/>
        </p:spPr>
        <p:txBody>
          <a:bodyPr wrap="none" rtlCol="0">
            <a:spAutoFit/>
          </a:bodyPr>
          <a:lstStyle/>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160</a:t>
            </a:r>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640</a:t>
            </a:r>
            <a:r>
              <a:rPr lang="en-US" sz="1800" b="1" dirty="0">
                <a:latin typeface="Consolas" panose="020B0609020204030204" pitchFamily="49" charset="0"/>
                <a:cs typeface="Consolas" panose="020B0609020204030204" pitchFamily="49" charset="0"/>
              </a:rPr>
              <a:t>)</a:t>
            </a:r>
          </a:p>
          <a:p>
            <a:r>
              <a:rPr lang="en-US" sz="1800" b="1" dirty="0" err="1">
                <a:latin typeface="Consolas" panose="020B0609020204030204" pitchFamily="49" charset="0"/>
                <a:cs typeface="Consolas" panose="020B0609020204030204" pitchFamily="49" charset="0"/>
              </a:rPr>
              <a:t>println_i</a:t>
            </a:r>
            <a:r>
              <a:rPr lang="en-US" sz="1800" b="1" dirty="0">
                <a:latin typeface="Consolas" panose="020B0609020204030204" pitchFamily="49" charset="0"/>
                <a:cs typeface="Consolas" panose="020B0609020204030204" pitchFamily="49" charset="0"/>
              </a:rPr>
              <a:t>(</a:t>
            </a:r>
            <a:r>
              <a:rPr lang="en-US" sz="1800" b="1" dirty="0">
                <a:solidFill>
                  <a:schemeClr val="accent3">
                    <a:lumMod val="75000"/>
                  </a:schemeClr>
                </a:solidFill>
                <a:latin typeface="Consolas" panose="020B0609020204030204" pitchFamily="49" charset="0"/>
                <a:cs typeface="Consolas" panose="020B0609020204030204" pitchFamily="49" charset="0"/>
              </a:rPr>
              <a:t>640</a:t>
            </a:r>
            <a:r>
              <a:rPr lang="en-US" sz="1800" b="1" dirty="0">
                <a:latin typeface="Consolas" panose="020B0609020204030204" pitchFamily="49" charset="0"/>
                <a:cs typeface="Consolas" panose="020B0609020204030204" pitchFamily="49" charset="0"/>
              </a:rPr>
              <a:t>)</a:t>
            </a:r>
          </a:p>
          <a:p>
            <a:r>
              <a:rPr lang="en-US" sz="1800" b="1" dirty="0">
                <a:latin typeface="Consolas" panose="020B0609020204030204" pitchFamily="49" charset="0"/>
                <a:cs typeface="Consolas" panose="020B0609020204030204" pitchFamily="49" charset="0"/>
              </a:rPr>
              <a:t>$t0 = </a:t>
            </a:r>
            <a:r>
              <a:rPr lang="en-US" sz="1800" b="1" dirty="0">
                <a:solidFill>
                  <a:schemeClr val="accent3">
                    <a:lumMod val="75000"/>
                  </a:schemeClr>
                </a:solidFill>
                <a:latin typeface="Consolas" panose="020B0609020204030204" pitchFamily="49" charset="0"/>
                <a:cs typeface="Consolas" panose="020B0609020204030204" pitchFamily="49" charset="0"/>
              </a:rPr>
              <a:t>640</a:t>
            </a:r>
            <a:endParaRPr lang="en-US" sz="1800" b="1" baseline="-25000" dirty="0">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return</a:t>
            </a:r>
          </a:p>
        </p:txBody>
      </p:sp>
      <p:sp>
        <p:nvSpPr>
          <p:cNvPr id="13" name="TextBox 12">
            <a:extLst>
              <a:ext uri="{FF2B5EF4-FFF2-40B4-BE49-F238E27FC236}">
                <a16:creationId xmlns:a16="http://schemas.microsoft.com/office/drawing/2014/main" id="{5A876B80-84DD-8E42-87E8-E27910E348EE}"/>
              </a:ext>
            </a:extLst>
          </p:cNvPr>
          <p:cNvSpPr txBox="1"/>
          <p:nvPr/>
        </p:nvSpPr>
        <p:spPr>
          <a:xfrm>
            <a:off x="6698974" y="4047704"/>
            <a:ext cx="2140226" cy="430887"/>
          </a:xfrm>
          <a:prstGeom prst="rect">
            <a:avLst/>
          </a:prstGeom>
          <a:noFill/>
        </p:spPr>
        <p:txBody>
          <a:bodyPr wrap="square" rtlCol="0">
            <a:spAutoFit/>
          </a:bodyPr>
          <a:lstStyle/>
          <a:p>
            <a:pPr algn="ctr"/>
            <a:r>
              <a:rPr lang="en-US" sz="2200" dirty="0"/>
              <a:t>whew!</a:t>
            </a:r>
          </a:p>
        </p:txBody>
      </p:sp>
    </p:spTree>
    <p:extLst>
      <p:ext uri="{BB962C8B-B14F-4D97-AF65-F5344CB8AC3E}">
        <p14:creationId xmlns:p14="http://schemas.microsoft.com/office/powerpoint/2010/main" val="37046684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0F365-465F-1F40-B569-906E9238E851}"/>
              </a:ext>
            </a:extLst>
          </p:cNvPr>
          <p:cNvSpPr>
            <a:spLocks noGrp="1"/>
          </p:cNvSpPr>
          <p:nvPr>
            <p:ph type="title"/>
          </p:nvPr>
        </p:nvSpPr>
        <p:spPr/>
        <p:txBody>
          <a:bodyPr/>
          <a:lstStyle/>
          <a:p>
            <a:r>
              <a:rPr lang="en-US" dirty="0"/>
              <a:t>A bigger example of CSE</a:t>
            </a:r>
          </a:p>
        </p:txBody>
      </p:sp>
      <p:sp>
        <p:nvSpPr>
          <p:cNvPr id="3" name="Content Placeholder 2">
            <a:extLst>
              <a:ext uri="{FF2B5EF4-FFF2-40B4-BE49-F238E27FC236}">
                <a16:creationId xmlns:a16="http://schemas.microsoft.com/office/drawing/2014/main" id="{3CFC5CAB-B6BA-B043-A34F-4AE09A29BB25}"/>
              </a:ext>
            </a:extLst>
          </p:cNvPr>
          <p:cNvSpPr>
            <a:spLocks noGrp="1"/>
          </p:cNvSpPr>
          <p:nvPr>
            <p:ph idx="1"/>
          </p:nvPr>
        </p:nvSpPr>
        <p:spPr>
          <a:xfrm>
            <a:off x="152400" y="495301"/>
            <a:ext cx="8991600" cy="482237"/>
          </a:xfrm>
        </p:spPr>
        <p:txBody>
          <a:bodyPr/>
          <a:lstStyle/>
          <a:p>
            <a:r>
              <a:rPr lang="en-US" dirty="0"/>
              <a:t>even larger common subexpressions can be eliminated.</a:t>
            </a:r>
          </a:p>
        </p:txBody>
      </p:sp>
      <p:sp>
        <p:nvSpPr>
          <p:cNvPr id="4" name="Slide Number Placeholder 3">
            <a:extLst>
              <a:ext uri="{FF2B5EF4-FFF2-40B4-BE49-F238E27FC236}">
                <a16:creationId xmlns:a16="http://schemas.microsoft.com/office/drawing/2014/main" id="{A0370474-2C85-E54B-B873-AE352FF52CBB}"/>
              </a:ext>
            </a:extLst>
          </p:cNvPr>
          <p:cNvSpPr>
            <a:spLocks noGrp="1"/>
          </p:cNvSpPr>
          <p:nvPr>
            <p:ph type="sldNum" sz="quarter" idx="12"/>
          </p:nvPr>
        </p:nvSpPr>
        <p:spPr/>
        <p:txBody>
          <a:bodyPr/>
          <a:lstStyle/>
          <a:p>
            <a:fld id="{3552B95B-556F-44BD-91A5-D80C1B9E2BB3}" type="slidenum">
              <a:rPr lang="en-US" smtClean="0"/>
              <a:pPr/>
              <a:t>31</a:t>
            </a:fld>
            <a:endParaRPr lang="en-US"/>
          </a:p>
        </p:txBody>
      </p:sp>
      <p:sp>
        <p:nvSpPr>
          <p:cNvPr id="5" name="TextBox 4">
            <a:extLst>
              <a:ext uri="{FF2B5EF4-FFF2-40B4-BE49-F238E27FC236}">
                <a16:creationId xmlns:a16="http://schemas.microsoft.com/office/drawing/2014/main" id="{E014F62E-6023-FB47-A11A-5219093F7DC4}"/>
              </a:ext>
            </a:extLst>
          </p:cNvPr>
          <p:cNvSpPr txBox="1"/>
          <p:nvPr/>
        </p:nvSpPr>
        <p:spPr>
          <a:xfrm>
            <a:off x="3162857" y="927917"/>
            <a:ext cx="2970685" cy="646331"/>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func_1(</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r>
              <a:rPr lang="en-US" sz="1800" b="1" dirty="0">
                <a:latin typeface="Consolas" panose="020B0609020204030204" pitchFamily="49" charset="0"/>
                <a:cs typeface="Consolas" panose="020B0609020204030204" pitchFamily="49" charset="0"/>
              </a:rPr>
              <a:t> - c);</a:t>
            </a:r>
          </a:p>
          <a:p>
            <a:r>
              <a:rPr lang="en-US" sz="1800" b="1" dirty="0">
                <a:latin typeface="Consolas" panose="020B0609020204030204" pitchFamily="49" charset="0"/>
                <a:cs typeface="Consolas" panose="020B0609020204030204" pitchFamily="49" charset="0"/>
              </a:rPr>
              <a:t>func_2(</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r>
              <a:rPr lang="en-US" sz="1800" b="1" dirty="0">
                <a:latin typeface="Consolas" panose="020B0609020204030204" pitchFamily="49" charset="0"/>
                <a:cs typeface="Consolas" panose="020B0609020204030204" pitchFamily="49" charset="0"/>
              </a:rPr>
              <a:t> - c);</a:t>
            </a:r>
            <a:endParaRPr lang="en-US" sz="1800" b="1" dirty="0">
              <a:solidFill>
                <a:srgbClr val="FF0000"/>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E92439BE-C7F6-6B45-A771-FB62979D6276}"/>
              </a:ext>
            </a:extLst>
          </p:cNvPr>
          <p:cNvSpPr txBox="1"/>
          <p:nvPr/>
        </p:nvSpPr>
        <p:spPr>
          <a:xfrm>
            <a:off x="304800" y="1714500"/>
            <a:ext cx="2084225" cy="1754326"/>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$t3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$t4 = $t3 - c</a:t>
            </a:r>
          </a:p>
          <a:p>
            <a:r>
              <a:rPr lang="en-US" sz="1800" b="1" dirty="0">
                <a:latin typeface="Consolas" panose="020B0609020204030204" pitchFamily="49" charset="0"/>
                <a:cs typeface="Consolas" panose="020B0609020204030204" pitchFamily="49" charset="0"/>
              </a:rPr>
              <a:t>func_2($t4)</a:t>
            </a:r>
            <a:endParaRPr lang="en-US" sz="1800" b="1" dirty="0">
              <a:solidFill>
                <a:srgbClr val="FF0000"/>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D639DB6A-4D5C-944D-9451-4BE875277DFC}"/>
              </a:ext>
            </a:extLst>
          </p:cNvPr>
          <p:cNvSpPr txBox="1"/>
          <p:nvPr/>
        </p:nvSpPr>
        <p:spPr>
          <a:xfrm>
            <a:off x="2547410" y="1714500"/>
            <a:ext cx="2084225" cy="1754326"/>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highlight>
                  <a:srgbClr val="FFFF00"/>
                </a:highlight>
                <a:latin typeface="Consolas" panose="020B0609020204030204" pitchFamily="49" charset="0"/>
                <a:cs typeface="Consolas" panose="020B0609020204030204" pitchFamily="49" charset="0"/>
              </a:rPr>
              <a:t>$t3 = $t1</a:t>
            </a:r>
          </a:p>
          <a:p>
            <a:r>
              <a:rPr lang="en-US" sz="1800" b="1" dirty="0">
                <a:latin typeface="Consolas" panose="020B0609020204030204" pitchFamily="49" charset="0"/>
                <a:cs typeface="Consolas" panose="020B0609020204030204" pitchFamily="49" charset="0"/>
              </a:rPr>
              <a:t>$t4 = $t3 - c</a:t>
            </a:r>
          </a:p>
          <a:p>
            <a:r>
              <a:rPr lang="en-US" sz="1800" b="1" dirty="0">
                <a:latin typeface="Consolas" panose="020B0609020204030204" pitchFamily="49" charset="0"/>
                <a:cs typeface="Consolas" panose="020B0609020204030204" pitchFamily="49" charset="0"/>
              </a:rPr>
              <a:t>func_2($t4)</a:t>
            </a:r>
            <a:endParaRPr lang="en-US" sz="1800" b="1" dirty="0">
              <a:solidFill>
                <a:srgbClr val="FF0000"/>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3B7CAB25-4DCE-3F41-AB9E-69EEC009CE04}"/>
              </a:ext>
            </a:extLst>
          </p:cNvPr>
          <p:cNvSpPr txBox="1"/>
          <p:nvPr/>
        </p:nvSpPr>
        <p:spPr>
          <a:xfrm>
            <a:off x="4773455" y="1714500"/>
            <a:ext cx="2084225" cy="1754326"/>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$t3 = $t1</a:t>
            </a:r>
          </a:p>
          <a:p>
            <a:r>
              <a:rPr lang="en-US" sz="1800" b="1" dirty="0">
                <a:latin typeface="Consolas" panose="020B0609020204030204" pitchFamily="49" charset="0"/>
                <a:cs typeface="Consolas" panose="020B0609020204030204" pitchFamily="49" charset="0"/>
              </a:rPr>
              <a:t>$t4 = </a:t>
            </a:r>
            <a:r>
              <a:rPr lang="en-US" sz="1800" b="1" dirty="0">
                <a:highlight>
                  <a:srgbClr val="FFFF00"/>
                </a:highlight>
                <a:latin typeface="Consolas" panose="020B0609020204030204" pitchFamily="49" charset="0"/>
                <a:cs typeface="Consolas" panose="020B0609020204030204" pitchFamily="49" charset="0"/>
              </a:rPr>
              <a:t>$t1</a:t>
            </a:r>
            <a:r>
              <a:rPr lang="en-US" sz="1800" b="1" dirty="0">
                <a:latin typeface="Consolas" panose="020B0609020204030204" pitchFamily="49" charset="0"/>
                <a:cs typeface="Consolas" panose="020B0609020204030204" pitchFamily="49" charset="0"/>
              </a:rPr>
              <a:t> - c</a:t>
            </a:r>
          </a:p>
          <a:p>
            <a:r>
              <a:rPr lang="en-US" sz="1800" b="1" dirty="0">
                <a:latin typeface="Consolas" panose="020B0609020204030204" pitchFamily="49" charset="0"/>
                <a:cs typeface="Consolas" panose="020B0609020204030204" pitchFamily="49" charset="0"/>
              </a:rPr>
              <a:t>func_2($t4)</a:t>
            </a:r>
            <a:endParaRPr lang="en-US" sz="1800" b="1" dirty="0">
              <a:solidFill>
                <a:srgbClr val="FF0000"/>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4BB83DAC-3A36-A84F-B68C-7F14C23FBC7E}"/>
              </a:ext>
            </a:extLst>
          </p:cNvPr>
          <p:cNvSpPr txBox="1"/>
          <p:nvPr/>
        </p:nvSpPr>
        <p:spPr>
          <a:xfrm>
            <a:off x="6999500" y="1706217"/>
            <a:ext cx="2084225" cy="1477328"/>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$t4 = $t1 - c</a:t>
            </a:r>
          </a:p>
          <a:p>
            <a:r>
              <a:rPr lang="en-US" sz="1800" b="1" dirty="0">
                <a:latin typeface="Consolas" panose="020B0609020204030204" pitchFamily="49" charset="0"/>
                <a:cs typeface="Consolas" panose="020B0609020204030204" pitchFamily="49" charset="0"/>
              </a:rPr>
              <a:t>func_2($t4)</a:t>
            </a:r>
            <a:endParaRPr lang="en-US" sz="1800" b="1" dirty="0">
              <a:solidFill>
                <a:srgbClr val="FF0000"/>
              </a:solidFill>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37925056-90B7-D94C-B670-1D25C8056C10}"/>
              </a:ext>
            </a:extLst>
          </p:cNvPr>
          <p:cNvSpPr txBox="1"/>
          <p:nvPr/>
        </p:nvSpPr>
        <p:spPr>
          <a:xfrm>
            <a:off x="304800" y="3742371"/>
            <a:ext cx="2084225" cy="1477328"/>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$t4 = </a:t>
            </a:r>
            <a:r>
              <a:rPr lang="en-US" sz="1800" b="1" dirty="0">
                <a:highlight>
                  <a:srgbClr val="FFFF00"/>
                </a:highlight>
                <a:latin typeface="Consolas" panose="020B0609020204030204" pitchFamily="49" charset="0"/>
                <a:cs typeface="Consolas" panose="020B0609020204030204" pitchFamily="49" charset="0"/>
              </a:rPr>
              <a:t>$t2</a:t>
            </a:r>
          </a:p>
          <a:p>
            <a:r>
              <a:rPr lang="en-US" sz="1800" b="1" dirty="0">
                <a:latin typeface="Consolas" panose="020B0609020204030204" pitchFamily="49" charset="0"/>
                <a:cs typeface="Consolas" panose="020B0609020204030204" pitchFamily="49" charset="0"/>
              </a:rPr>
              <a:t>func_2($t4)</a:t>
            </a:r>
            <a:endParaRPr lang="en-US" sz="1800" b="1" dirty="0">
              <a:solidFill>
                <a:srgbClr val="FF0000"/>
              </a:solidFill>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126A6474-0880-5C4F-AF82-3F7E5CBD8C18}"/>
              </a:ext>
            </a:extLst>
          </p:cNvPr>
          <p:cNvSpPr txBox="1"/>
          <p:nvPr/>
        </p:nvSpPr>
        <p:spPr>
          <a:xfrm>
            <a:off x="2530845" y="3742371"/>
            <a:ext cx="2084225" cy="1477328"/>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$t4 = $t2</a:t>
            </a:r>
          </a:p>
          <a:p>
            <a:r>
              <a:rPr lang="en-US" sz="1800" b="1" dirty="0">
                <a:latin typeface="Consolas" panose="020B0609020204030204" pitchFamily="49" charset="0"/>
                <a:cs typeface="Consolas" panose="020B0609020204030204" pitchFamily="49" charset="0"/>
              </a:rPr>
              <a:t>func_2(</a:t>
            </a:r>
            <a:r>
              <a:rPr lang="en-US" sz="1800" b="1" dirty="0">
                <a:highlight>
                  <a:srgbClr val="FFFF00"/>
                </a:highlight>
                <a:latin typeface="Consolas" panose="020B0609020204030204" pitchFamily="49" charset="0"/>
                <a:cs typeface="Consolas" panose="020B0609020204030204" pitchFamily="49" charset="0"/>
              </a:rPr>
              <a:t>$t2</a:t>
            </a:r>
            <a:r>
              <a:rPr lang="en-US" sz="1800" b="1" dirty="0">
                <a:latin typeface="Consolas" panose="020B0609020204030204" pitchFamily="49" charset="0"/>
                <a:cs typeface="Consolas" panose="020B0609020204030204" pitchFamily="49" charset="0"/>
              </a:rPr>
              <a:t>)</a:t>
            </a:r>
            <a:endParaRPr lang="en-US" sz="1800" b="1" dirty="0">
              <a:solidFill>
                <a:srgbClr val="FF0000"/>
              </a:solidFill>
              <a:latin typeface="Consolas" panose="020B0609020204030204" pitchFamily="49" charset="0"/>
              <a:cs typeface="Consolas" panose="020B0609020204030204" pitchFamily="49" charset="0"/>
            </a:endParaRPr>
          </a:p>
        </p:txBody>
      </p:sp>
      <p:sp>
        <p:nvSpPr>
          <p:cNvPr id="16" name="TextBox 15">
            <a:extLst>
              <a:ext uri="{FF2B5EF4-FFF2-40B4-BE49-F238E27FC236}">
                <a16:creationId xmlns:a16="http://schemas.microsoft.com/office/drawing/2014/main" id="{69D68946-D40C-E748-A207-38D3B27892E7}"/>
              </a:ext>
            </a:extLst>
          </p:cNvPr>
          <p:cNvSpPr txBox="1"/>
          <p:nvPr/>
        </p:nvSpPr>
        <p:spPr>
          <a:xfrm>
            <a:off x="4756891" y="3742371"/>
            <a:ext cx="2084225" cy="1200329"/>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$t1 = </a:t>
            </a:r>
            <a:r>
              <a:rPr lang="en-US" sz="1800" b="1" dirty="0" err="1">
                <a:latin typeface="Consolas" panose="020B0609020204030204" pitchFamily="49" charset="0"/>
                <a:cs typeface="Consolas" panose="020B0609020204030204" pitchFamily="49" charset="0"/>
              </a:rPr>
              <a:t>a.x</a:t>
            </a:r>
            <a:r>
              <a:rPr lang="en-US" sz="1800" b="1" dirty="0">
                <a:latin typeface="Consolas" panose="020B0609020204030204" pitchFamily="49" charset="0"/>
                <a:cs typeface="Consolas" panose="020B0609020204030204" pitchFamily="49" charset="0"/>
              </a:rPr>
              <a:t> + </a:t>
            </a:r>
            <a:r>
              <a:rPr lang="en-US" sz="1800" b="1" dirty="0" err="1">
                <a:latin typeface="Consolas" panose="020B0609020204030204" pitchFamily="49" charset="0"/>
                <a:cs typeface="Consolas" panose="020B0609020204030204" pitchFamily="49" charset="0"/>
              </a:rPr>
              <a:t>b.y</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$t2 = $t1 - c</a:t>
            </a:r>
          </a:p>
          <a:p>
            <a:r>
              <a:rPr lang="en-US" sz="1800" b="1" dirty="0">
                <a:latin typeface="Consolas" panose="020B0609020204030204" pitchFamily="49" charset="0"/>
                <a:cs typeface="Consolas" panose="020B0609020204030204" pitchFamily="49" charset="0"/>
              </a:rPr>
              <a:t>func_1($t2)</a:t>
            </a:r>
          </a:p>
          <a:p>
            <a:r>
              <a:rPr lang="en-US" sz="1800" b="1" dirty="0">
                <a:latin typeface="Consolas" panose="020B0609020204030204" pitchFamily="49" charset="0"/>
                <a:cs typeface="Consolas" panose="020B0609020204030204" pitchFamily="49" charset="0"/>
              </a:rPr>
              <a:t>func_2($t2)</a:t>
            </a:r>
            <a:endParaRPr lang="en-US" sz="1800" b="1" dirty="0">
              <a:solidFill>
                <a:srgbClr val="FF0000"/>
              </a:solidFill>
              <a:latin typeface="Consolas" panose="020B0609020204030204" pitchFamily="49" charset="0"/>
              <a:cs typeface="Consolas" panose="020B0609020204030204" pitchFamily="49" charset="0"/>
            </a:endParaRPr>
          </a:p>
        </p:txBody>
      </p:sp>
      <p:pic>
        <p:nvPicPr>
          <p:cNvPr id="17" name="Picture 16">
            <a:extLst>
              <a:ext uri="{FF2B5EF4-FFF2-40B4-BE49-F238E27FC236}">
                <a16:creationId xmlns:a16="http://schemas.microsoft.com/office/drawing/2014/main" id="{6FB7D621-3130-AB41-8C46-6A193EFBBAB8}"/>
              </a:ext>
            </a:extLst>
          </p:cNvPr>
          <p:cNvPicPr>
            <a:picLocks noChangeAspect="1"/>
          </p:cNvPicPr>
          <p:nvPr/>
        </p:nvPicPr>
        <p:blipFill rotWithShape="1">
          <a:blip r:embed="rId3"/>
          <a:srcRect r="1863"/>
          <a:stretch/>
        </p:blipFill>
        <p:spPr>
          <a:xfrm>
            <a:off x="7081078" y="3814285"/>
            <a:ext cx="1744870" cy="1333500"/>
          </a:xfrm>
          <a:prstGeom prst="rect">
            <a:avLst/>
          </a:prstGeom>
        </p:spPr>
      </p:pic>
    </p:spTree>
    <p:extLst>
      <p:ext uri="{BB962C8B-B14F-4D97-AF65-F5344CB8AC3E}">
        <p14:creationId xmlns:p14="http://schemas.microsoft.com/office/powerpoint/2010/main" val="39462043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2" grpId="0"/>
      <p:bldP spid="14" grpId="0"/>
      <p:bldP spid="15" grpId="0"/>
      <p:bldP spid="16" grpId="0"/>
    </p:bldLst>
  </p:timing>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28155</TotalTime>
  <Words>4713</Words>
  <Application>Microsoft Macintosh PowerPoint</Application>
  <PresentationFormat>On-screen Show (16:10)</PresentationFormat>
  <Paragraphs>548</Paragraphs>
  <Slides>31</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Consolas</vt:lpstr>
      <vt:lpstr>Courier New</vt:lpstr>
      <vt:lpstr>Segoe UI</vt:lpstr>
      <vt:lpstr>Segoe WP Semibold</vt:lpstr>
      <vt:lpstr>Trebuchet MS</vt:lpstr>
      <vt:lpstr>Wingdings</vt:lpstr>
      <vt:lpstr>02 - C - Basics</vt:lpstr>
      <vt:lpstr>Local Optimization</vt:lpstr>
      <vt:lpstr>Class Announcements</vt:lpstr>
      <vt:lpstr>Optimization</vt:lpstr>
      <vt:lpstr>What is it?</vt:lpstr>
      <vt:lpstr>We do it all the time</vt:lpstr>
      <vt:lpstr>Optimization scope</vt:lpstr>
      <vt:lpstr>Dead code elimination (DCE)</vt:lpstr>
      <vt:lpstr>Function (or method) inlining</vt:lpstr>
      <vt:lpstr>Careful now…</vt:lpstr>
      <vt:lpstr>To optimize, or not to optimize?</vt:lpstr>
      <vt:lpstr>Peephole Optimizations</vt:lpstr>
      <vt:lpstr>Starting small</vt:lpstr>
      <vt:lpstr>Operations vs. Moves (assignments)</vt:lpstr>
      <vt:lpstr>Constant Folding</vt:lpstr>
      <vt:lpstr>Danger ahead</vt:lpstr>
      <vt:lpstr>Algebraic Simplification</vt:lpstr>
      <vt:lpstr>Strength Reduction</vt:lpstr>
      <vt:lpstr>Optimization: not just for IR</vt:lpstr>
      <vt:lpstr>Make it better, do it faster</vt:lpstr>
      <vt:lpstr>Single Static  Assignment Form (SSA)</vt:lpstr>
      <vt:lpstr>Hitting a wall</vt:lpstr>
      <vt:lpstr>I AM LEAVING OUT A LOT OF DETAILS HERE</vt:lpstr>
      <vt:lpstr>Not a requirement</vt:lpstr>
      <vt:lpstr>More advanced  local optimizations</vt:lpstr>
      <vt:lpstr>Copy Propagation</vt:lpstr>
      <vt:lpstr>Dead store elimination</vt:lpstr>
      <vt:lpstr>Common subexpression elimination (CSE)</vt:lpstr>
      <vt:lpstr>Teamwork makes the dream work</vt:lpstr>
      <vt:lpstr>How the compiler does it</vt:lpstr>
      <vt:lpstr>An example</vt:lpstr>
      <vt:lpstr>A bigger example of CSE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1289</cp:revision>
  <dcterms:created xsi:type="dcterms:W3CDTF">2017-01-05T04:29:56Z</dcterms:created>
  <dcterms:modified xsi:type="dcterms:W3CDTF">2022-07-24T19:22:54Z</dcterms:modified>
</cp:coreProperties>
</file>