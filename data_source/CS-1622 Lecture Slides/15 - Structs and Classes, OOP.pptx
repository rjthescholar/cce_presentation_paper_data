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3"/>
  </p:notesMasterIdLst>
  <p:sldIdLst>
    <p:sldId id="256" r:id="rId2"/>
    <p:sldId id="519" r:id="rId3"/>
    <p:sldId id="527" r:id="rId4"/>
    <p:sldId id="608" r:id="rId5"/>
    <p:sldId id="609" r:id="rId6"/>
    <p:sldId id="610" r:id="rId7"/>
    <p:sldId id="611" r:id="rId8"/>
    <p:sldId id="612" r:id="rId9"/>
    <p:sldId id="616" r:id="rId10"/>
    <p:sldId id="617" r:id="rId11"/>
    <p:sldId id="638" r:id="rId12"/>
    <p:sldId id="622" r:id="rId13"/>
    <p:sldId id="618" r:id="rId14"/>
    <p:sldId id="619" r:id="rId15"/>
    <p:sldId id="621" r:id="rId16"/>
    <p:sldId id="635" r:id="rId17"/>
    <p:sldId id="623" r:id="rId18"/>
    <p:sldId id="636" r:id="rId19"/>
    <p:sldId id="624" r:id="rId20"/>
    <p:sldId id="637" r:id="rId21"/>
    <p:sldId id="625" r:id="rId22"/>
    <p:sldId id="639" r:id="rId23"/>
    <p:sldId id="626" r:id="rId24"/>
    <p:sldId id="627" r:id="rId25"/>
    <p:sldId id="628" r:id="rId26"/>
    <p:sldId id="630" r:id="rId27"/>
    <p:sldId id="629" r:id="rId28"/>
    <p:sldId id="631" r:id="rId29"/>
    <p:sldId id="632" r:id="rId30"/>
    <p:sldId id="633" r:id="rId31"/>
    <p:sldId id="634" r:id="rId32"/>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99D"/>
    <a:srgbClr val="B7D4D9"/>
    <a:srgbClr val="FFDF7F"/>
    <a:srgbClr val="6098C0"/>
    <a:srgbClr val="58B080"/>
    <a:srgbClr val="FF7F81"/>
    <a:srgbClr val="000000"/>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43" autoAdjust="0"/>
    <p:restoredTop sz="90563" autoAdjust="0"/>
  </p:normalViewPr>
  <p:slideViewPr>
    <p:cSldViewPr>
      <p:cViewPr varScale="1">
        <p:scale>
          <a:sx n="134" d="100"/>
          <a:sy n="134" d="100"/>
        </p:scale>
        <p:origin x="1192" y="168"/>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93" d="100"/>
          <a:sy n="93" d="100"/>
        </p:scale>
        <p:origin x="3784"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7/17/22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struples</a:t>
            </a:r>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2618252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arrays are ordered sequences of </a:t>
            </a:r>
            <a:r>
              <a:rPr lang="en-US" i="1" dirty="0"/>
              <a:t>homogeneous </a:t>
            </a:r>
            <a:r>
              <a:rPr lang="en-US" i="0" dirty="0"/>
              <a:t>types.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86672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you can index arrays at runtime because even though you don't know what the length will be, you do know what type the items are, and you know how far apart they are in memory.</a:t>
            </a:r>
          </a:p>
          <a:p>
            <a:pPr marL="528066" lvl="1" indent="-171450">
              <a:buFontTx/>
              <a:buChar char="-"/>
            </a:pPr>
            <a:r>
              <a:rPr lang="en-US" dirty="0"/>
              <a:t>(and you can also check if the index is within the array bounds at runtime too.)</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2476272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don’t actually have the “new Point(3, 8)” syntax in Truss, but just to keep the slide short…</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3356171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nominal = "by name"</a:t>
            </a:r>
          </a:p>
          <a:p>
            <a:r>
              <a:rPr lang="en-US" dirty="0"/>
              <a:t>- although both Point3D and Color have the same </a:t>
            </a:r>
            <a:r>
              <a:rPr lang="en-US" i="1" dirty="0"/>
              <a:t>structure</a:t>
            </a:r>
            <a:r>
              <a:rPr lang="en-US" i="0" dirty="0"/>
              <a:t> (correspond to the same tuple), they have different </a:t>
            </a:r>
            <a:r>
              <a:rPr lang="en-US" i="1" dirty="0"/>
              <a:t>names</a:t>
            </a:r>
          </a:p>
          <a:p>
            <a:r>
              <a:rPr lang="en-US" i="1" dirty="0"/>
              <a:t>	- </a:t>
            </a:r>
            <a:r>
              <a:rPr lang="en-US" i="0" dirty="0"/>
              <a:t>and are therefore considered different, incompatible types.</a:t>
            </a:r>
          </a:p>
          <a:p>
            <a:r>
              <a:rPr lang="en-US" i="0" dirty="0"/>
              <a:t>	- this matches our human intuition, because the names have meanings to us. (the computer doesn't care or see any distinction.)</a:t>
            </a:r>
            <a:endParaRPr lang="en-US" i="1"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3867934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2169115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not that value types are harder. they're actually easier to understand in a lot of ways!</a:t>
            </a:r>
          </a:p>
          <a:p>
            <a:r>
              <a:rPr lang="en-US" dirty="0"/>
              <a:t>	- I've noticed a lot of beginner programmers </a:t>
            </a:r>
            <a:r>
              <a:rPr lang="en-US" i="1" dirty="0"/>
              <a:t>expect everything to be value types </a:t>
            </a:r>
            <a:r>
              <a:rPr lang="en-US" b="0" i="0" dirty="0"/>
              <a:t>and are </a:t>
            </a:r>
            <a:r>
              <a:rPr lang="en-US" b="0" i="1" dirty="0"/>
              <a:t>surprised</a:t>
            </a:r>
            <a:r>
              <a:rPr lang="en-US" b="0" i="0" dirty="0"/>
              <a:t> by how reference types work.</a:t>
            </a:r>
          </a:p>
          <a:p>
            <a:r>
              <a:rPr lang="en-US" b="0" i="0" dirty="0"/>
              <a:t>	- immutable strings are "reference types," but immutable reference types basically act like value types for practical purposes.</a:t>
            </a:r>
          </a:p>
          <a:p>
            <a:pPr marL="0" marR="0" lvl="0" indent="0" algn="l" defTabSz="713232" rtl="0" eaLnBrk="1" fontAlgn="auto" latinLnBrk="0" hangingPunct="1">
              <a:lnSpc>
                <a:spcPct val="100000"/>
              </a:lnSpc>
              <a:spcBef>
                <a:spcPts val="0"/>
              </a:spcBef>
              <a:spcAft>
                <a:spcPts val="0"/>
              </a:spcAft>
              <a:buClrTx/>
              <a:buSzTx/>
              <a:buFontTx/>
              <a:buNone/>
              <a:tabLst/>
              <a:defRPr/>
            </a:pPr>
            <a:r>
              <a:rPr lang="en-US" b="0" i="0" dirty="0"/>
              <a:t>- "simplicity" is a bit misleading. it'll be simpler to deal with in the compiler, but…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b="0" i="0" dirty="0"/>
              <a:t>	- then we have to deal with dynamic memory management. </a:t>
            </a:r>
          </a:p>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b="0" i="0" dirty="0"/>
              <a:t>references give us another kind of indirection, and that can solve lots of problems.</a:t>
            </a:r>
          </a:p>
          <a:p>
            <a:pPr marL="528066" marR="0" lvl="1" indent="-171450" algn="l" defTabSz="713232" rtl="0" eaLnBrk="1" fontAlgn="auto" latinLnBrk="0" hangingPunct="1">
              <a:lnSpc>
                <a:spcPct val="100000"/>
              </a:lnSpc>
              <a:spcBef>
                <a:spcPts val="0"/>
              </a:spcBef>
              <a:spcAft>
                <a:spcPts val="0"/>
              </a:spcAft>
              <a:buClrTx/>
              <a:buSzTx/>
              <a:buFontTx/>
              <a:buChar char="-"/>
              <a:tabLst/>
              <a:defRPr/>
            </a:pPr>
            <a:r>
              <a:rPr lang="en-US" b="0" i="0" dirty="0"/>
              <a:t>but in languages like Java, every custom type has to be behind a reference, even tiny little objects that only contain a couple value types and which are created, used once, and then thrown away. super common to have a Point class in Java for things like GUIs and these Points are created and destroyed SO OFTEN.</a:t>
            </a:r>
          </a:p>
          <a:p>
            <a:pPr marL="528066" marR="0" lvl="1" indent="-171450" algn="l" defTabSz="713232" rtl="0" eaLnBrk="1" fontAlgn="auto" latinLnBrk="0" hangingPunct="1">
              <a:lnSpc>
                <a:spcPct val="100000"/>
              </a:lnSpc>
              <a:spcBef>
                <a:spcPts val="0"/>
              </a:spcBef>
              <a:spcAft>
                <a:spcPts val="0"/>
              </a:spcAft>
              <a:buClrTx/>
              <a:buSzTx/>
              <a:buFontTx/>
              <a:buChar char="-"/>
              <a:tabLst/>
              <a:defRPr/>
            </a:pPr>
            <a:r>
              <a:rPr lang="en-US" b="0" i="0" dirty="0"/>
              <a:t>this is slower (because of the need to access the items of the object indirectly); takes up more memory (because each object has some other hidden stuff stored in it that you don’t see, plus you have to store the reference in addition to the thing it references); and creates more pressure on the garbage collector (because now it has a lot more objects to worry about).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3948506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dirty="0"/>
              <a:t>the slide title is a reference to Tony (aka C.A.R.) Hoare, who added null to Algol in 1965 “because it was easy to add” and it has ended up being a huge mistake in language design for decades since.</a:t>
            </a:r>
          </a:p>
          <a:p>
            <a:pPr marL="528066" marR="0" lvl="1" indent="-171450" algn="l" defTabSz="713232" rtl="0" eaLnBrk="1" fontAlgn="auto" latinLnBrk="0" hangingPunct="1">
              <a:lnSpc>
                <a:spcPct val="100000"/>
              </a:lnSpc>
              <a:spcBef>
                <a:spcPts val="0"/>
              </a:spcBef>
              <a:spcAft>
                <a:spcPts val="0"/>
              </a:spcAft>
              <a:buClrTx/>
              <a:buSzTx/>
              <a:buFontTx/>
              <a:buChar char="-"/>
              <a:tabLst/>
              <a:defRPr/>
            </a:pPr>
            <a:r>
              <a:rPr lang="en-US" dirty="0"/>
              <a:t>the “right” way to add null to a language is to either have something like Rust’s Option, or if you don’t want to go full “polymorphic types,” you can have a special syntax to just make reference types nullable. </a:t>
            </a:r>
          </a:p>
          <a:p>
            <a:pPr marL="884682" marR="0" lvl="2" indent="-171450" algn="l" defTabSz="713232" rtl="0" eaLnBrk="1" fontAlgn="auto" latinLnBrk="0" hangingPunct="1">
              <a:lnSpc>
                <a:spcPct val="100000"/>
              </a:lnSpc>
              <a:spcBef>
                <a:spcPts val="0"/>
              </a:spcBef>
              <a:spcAft>
                <a:spcPts val="0"/>
              </a:spcAft>
              <a:buClrTx/>
              <a:buSzTx/>
              <a:buFontTx/>
              <a:buChar char="-"/>
              <a:tabLst/>
              <a:defRPr/>
            </a:pPr>
            <a:r>
              <a:rPr lang="en-US" dirty="0"/>
              <a:t>for example you could make it so the type “Object” can never be null, but the type “Object?” is possibly null, and you’d be forced to check it for null before using it.</a:t>
            </a:r>
          </a:p>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dirty="0"/>
              <a:t>if you’re wondering yes, there are top types as well. Java’s Object is the top type of its class system.</a:t>
            </a:r>
          </a:p>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dirty="0"/>
              <a:t>there’s a joke in here somewhere. the joke is left as an exercise to the reader.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1789010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struct Point3D which has 3 </a:t>
            </a:r>
            <a:r>
              <a:rPr lang="en-US" dirty="0" err="1"/>
              <a:t>int</a:t>
            </a:r>
            <a:r>
              <a:rPr lang="en-US" dirty="0"/>
              <a:t> members x, y, and z is represented as 12 contiguous bytes. measuring from the beginning of the blob of bytes, x is at byte offset 0; y is at byte offset 4; and z is at byte offset 8.]</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2783559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unaligned loads/stores are slower because memory circuitry is designed to access values larger than a byte.</a:t>
            </a:r>
          </a:p>
          <a:p>
            <a:r>
              <a:rPr lang="en-US" dirty="0"/>
              <a:t>	- e.g. a word, or 2 words, or 4 words at a time</a:t>
            </a:r>
          </a:p>
          <a:p>
            <a:r>
              <a:rPr lang="en-US" dirty="0"/>
              <a:t>- therefore doing an unaligned access can "cross the boundary" between two of these groups of bytes…</a:t>
            </a:r>
          </a:p>
          <a:p>
            <a:r>
              <a:rPr lang="en-US" dirty="0"/>
              <a:t>	- forcing the memory circuitry to do </a:t>
            </a:r>
            <a:r>
              <a:rPr lang="en-US" i="1" dirty="0"/>
              <a:t>two </a:t>
            </a:r>
            <a:r>
              <a:rPr lang="en-US" i="0" dirty="0"/>
              <a:t>accesses to get one value.</a:t>
            </a:r>
          </a:p>
          <a:p>
            <a:endParaRPr lang="en-US" i="0" dirty="0"/>
          </a:p>
          <a:p>
            <a:r>
              <a:rPr lang="en-US" i="0" dirty="0"/>
              <a:t>[diagram: the struct Hmm has a bool member b followed by an </a:t>
            </a:r>
            <a:r>
              <a:rPr lang="en-US" i="0" dirty="0" err="1"/>
              <a:t>int</a:t>
            </a:r>
            <a:r>
              <a:rPr lang="en-US" i="0" dirty="0"/>
              <a:t> member </a:t>
            </a:r>
            <a:r>
              <a:rPr lang="en-US" i="0" dirty="0" err="1"/>
              <a:t>i</a:t>
            </a:r>
            <a:r>
              <a:rPr lang="en-US" i="0" dirty="0"/>
              <a:t>. b is at offset 0, and </a:t>
            </a:r>
            <a:r>
              <a:rPr lang="en-US" i="0" dirty="0" err="1"/>
              <a:t>i</a:t>
            </a:r>
            <a:r>
              <a:rPr lang="en-US" i="0" dirty="0"/>
              <a:t> is at offset 1 (taking up offsets 2, 3, and 4 also), giving us a struct that is 5 bytes long.]</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2696896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the same struct, but now 8 bytes instead of 5. b is at offset 0, and </a:t>
            </a:r>
            <a:r>
              <a:rPr lang="en-US" dirty="0" err="1"/>
              <a:t>i</a:t>
            </a:r>
            <a:r>
              <a:rPr lang="en-US" dirty="0"/>
              <a:t> is at offset 4. bytes 1, 2, and 3 are padding and are unused.]</a:t>
            </a:r>
          </a:p>
          <a:p>
            <a:r>
              <a:rPr lang="en-US" dirty="0"/>
              <a:t>[diagram 2: if we swap the order of the fields in the struct and put </a:t>
            </a:r>
            <a:r>
              <a:rPr lang="en-US" dirty="0" err="1"/>
              <a:t>i</a:t>
            </a:r>
            <a:r>
              <a:rPr lang="en-US" dirty="0"/>
              <a:t> before b, we still get an 8 byte struct. </a:t>
            </a:r>
            <a:r>
              <a:rPr lang="en-US" dirty="0" err="1"/>
              <a:t>i</a:t>
            </a:r>
            <a:r>
              <a:rPr lang="en-US" dirty="0"/>
              <a:t> is at offset 0, and b is at offset 4, and now bytes 5, 6, and 7 are padding. yes, the struct ends with padding bytes with nothing after them. next slide explains why.]</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519626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two arrays using two different struct layouts for the same struct with fields </a:t>
            </a:r>
            <a:r>
              <a:rPr lang="en-US" dirty="0" err="1"/>
              <a:t>i</a:t>
            </a:r>
            <a:r>
              <a:rPr lang="en-US" dirty="0"/>
              <a:t> as </a:t>
            </a:r>
            <a:r>
              <a:rPr lang="en-US" dirty="0" err="1"/>
              <a:t>int</a:t>
            </a:r>
            <a:r>
              <a:rPr lang="en-US" dirty="0"/>
              <a:t> and b as bool. the first array puts 3 bytes of padding after b, making it 8 bytes. the second array puts no padding after b, making it 5 bytes. in the first array, the second item’s </a:t>
            </a:r>
            <a:r>
              <a:rPr lang="en-US" dirty="0" err="1"/>
              <a:t>i</a:t>
            </a:r>
            <a:r>
              <a:rPr lang="en-US" dirty="0"/>
              <a:t> field is at memory offset 8, because the padding from the first item pushes it there. in the second array, the second item’s </a:t>
            </a:r>
            <a:r>
              <a:rPr lang="en-US" dirty="0" err="1"/>
              <a:t>i</a:t>
            </a:r>
            <a:r>
              <a:rPr lang="en-US" dirty="0"/>
              <a:t> field is at memory offset 5 instead, and that’s no good, because now we have an </a:t>
            </a:r>
            <a:r>
              <a:rPr lang="en-US" dirty="0" err="1"/>
              <a:t>int</a:t>
            </a:r>
            <a:r>
              <a:rPr lang="en-US" dirty="0"/>
              <a:t> at a memory address that is not a multiple of 4.]</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27643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 "4 bytes" here, but runtimes will typically use "the maximum alignment for any type", whatever that happens to be for the platform.</a:t>
            </a:r>
          </a:p>
          <a:p>
            <a:r>
              <a:rPr lang="en-US" i="0" dirty="0"/>
              <a:t>	- e.g. on modern x64 machines, the maximum alignment is 16 bytes, because that's the biggest "single value" the CPU can load/store.</a:t>
            </a:r>
          </a:p>
          <a:p>
            <a:endParaRPr lang="en-US" i="0" dirty="0"/>
          </a:p>
          <a:p>
            <a:r>
              <a:rPr lang="en-US" i="0" dirty="0"/>
              <a:t>[diagram: a struct Thing with a string name, bool </a:t>
            </a:r>
            <a:r>
              <a:rPr lang="en-US" i="0" dirty="0" err="1"/>
              <a:t>in_use</a:t>
            </a:r>
            <a:r>
              <a:rPr lang="en-US" i="0" dirty="0"/>
              <a:t>, bool flag, and </a:t>
            </a:r>
            <a:r>
              <a:rPr lang="en-US" i="0" dirty="0" err="1"/>
              <a:t>int</a:t>
            </a:r>
            <a:r>
              <a:rPr lang="en-US" i="0" dirty="0"/>
              <a:t> count. this struct is 12 bytes including the padding. the expression “new Thing()” gets compiled into a function call to </a:t>
            </a:r>
            <a:r>
              <a:rPr lang="en-US" i="0" dirty="0" err="1"/>
              <a:t>rt$new</a:t>
            </a:r>
            <a:r>
              <a:rPr lang="en-US" i="0" dirty="0"/>
              <a:t>(12).</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3464614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 the sizes of the types is laid out by the language specification, and possibly by the ABI as well.</a:t>
            </a:r>
          </a:p>
          <a:p>
            <a:r>
              <a:rPr lang="en-US" i="0" dirty="0"/>
              <a:t>	- e.g. in Java, </a:t>
            </a:r>
            <a:r>
              <a:rPr lang="en-US" i="0" dirty="0" err="1"/>
              <a:t>ints</a:t>
            </a:r>
            <a:r>
              <a:rPr lang="en-US" i="0" dirty="0"/>
              <a:t> are always 4 bytes, but that's not the case in C and C++; the size of an int can vary depending on the platform.</a:t>
            </a:r>
          </a:p>
          <a:p>
            <a:endParaRPr lang="en-US" i="0" dirty="0"/>
          </a:p>
          <a:p>
            <a:r>
              <a:rPr lang="en-US" i="0" dirty="0"/>
              <a:t>[diagram: same struct. string name is at offset 0, bool </a:t>
            </a:r>
            <a:r>
              <a:rPr lang="en-US" i="0" dirty="0" err="1"/>
              <a:t>in_use</a:t>
            </a:r>
            <a:r>
              <a:rPr lang="en-US" i="0" dirty="0"/>
              <a:t> at offset 4, bool flag at offset 5, and </a:t>
            </a:r>
            <a:r>
              <a:rPr lang="en-US" i="0" dirty="0" err="1"/>
              <a:t>int</a:t>
            </a:r>
            <a:r>
              <a:rPr lang="en-US" i="0" dirty="0"/>
              <a:t> count at offset 8. to set the </a:t>
            </a:r>
            <a:r>
              <a:rPr lang="en-US" i="0" dirty="0" err="1"/>
              <a:t>in_use</a:t>
            </a:r>
            <a:r>
              <a:rPr lang="en-US" i="0" dirty="0"/>
              <a:t> field, we use “</a:t>
            </a:r>
            <a:r>
              <a:rPr lang="en-US" i="0" dirty="0" err="1"/>
              <a:t>sb</a:t>
            </a:r>
            <a:r>
              <a:rPr lang="en-US" i="0" dirty="0"/>
              <a:t>” to store a byte (because bools are only one byte) at offset 4 past the start of the struct instance. so, “</a:t>
            </a:r>
            <a:r>
              <a:rPr lang="en-US" i="0" dirty="0" err="1"/>
              <a:t>sb</a:t>
            </a:r>
            <a:r>
              <a:rPr lang="en-US" i="0" dirty="0"/>
              <a:t> s1, 4(s0)”. to set an </a:t>
            </a:r>
            <a:r>
              <a:rPr lang="en-US" i="0" dirty="0" err="1"/>
              <a:t>int</a:t>
            </a:r>
            <a:r>
              <a:rPr lang="en-US" i="0" dirty="0"/>
              <a:t> field like count, we do “</a:t>
            </a:r>
            <a:r>
              <a:rPr lang="en-US" i="0" dirty="0" err="1"/>
              <a:t>sw</a:t>
            </a:r>
            <a:r>
              <a:rPr lang="en-US" i="0" dirty="0"/>
              <a:t> s1, 8(s0)” – </a:t>
            </a:r>
            <a:r>
              <a:rPr lang="en-US" i="0" dirty="0" err="1"/>
              <a:t>sw</a:t>
            </a:r>
            <a:r>
              <a:rPr lang="en-US" i="0" dirty="0"/>
              <a:t> because it’s an </a:t>
            </a:r>
            <a:r>
              <a:rPr lang="en-US" i="0" dirty="0" err="1"/>
              <a:t>int</a:t>
            </a:r>
            <a:r>
              <a:rPr lang="en-US" i="0" dirty="0"/>
              <a:t>, and 8 because count’s offset is 8.]</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3381169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said "encapsulation," that's something that can be achieved in many different ways, with or without OOP.</a:t>
            </a:r>
          </a:p>
          <a:p>
            <a:r>
              <a:rPr lang="en-US" dirty="0"/>
              <a:t>	- if you add a privacy mechanism (public/private/protected), boom, you have encapsulation in your classes</a:t>
            </a:r>
          </a:p>
          <a:p>
            <a:r>
              <a:rPr lang="en-US" dirty="0"/>
              <a:t>	- but it's not like you </a:t>
            </a:r>
            <a:r>
              <a:rPr lang="en-US" i="1" dirty="0"/>
              <a:t>need</a:t>
            </a:r>
            <a:r>
              <a:rPr lang="en-US" i="0" dirty="0"/>
              <a:t> OOP to have encapsulation. </a:t>
            </a:r>
          </a:p>
          <a:p>
            <a:r>
              <a:rPr lang="en-US" i="0" dirty="0"/>
              <a:t>	- C does it by making functions inaccessible from other source files if declared "static". (totally different meaning than Java.)</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781124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Rust's structs and </a:t>
            </a:r>
            <a:r>
              <a:rPr lang="en-US" dirty="0" err="1"/>
              <a:t>impls</a:t>
            </a:r>
            <a:r>
              <a:rPr lang="en-US" dirty="0"/>
              <a:t> are basically this. </a:t>
            </a:r>
            <a:r>
              <a:rPr lang="en-US" i="1" dirty="0"/>
              <a:t>sort of.</a:t>
            </a:r>
          </a:p>
          <a:p>
            <a:r>
              <a:rPr lang="en-US" i="1" dirty="0"/>
              <a:t>	- </a:t>
            </a:r>
            <a:r>
              <a:rPr lang="en-US" i="0" dirty="0"/>
              <a:t>but Rust DOES give us dynamic dispatch if we ask for it with the </a:t>
            </a:r>
            <a:r>
              <a:rPr lang="en-US" b="1" i="0" dirty="0" err="1"/>
              <a:t>dyn</a:t>
            </a:r>
            <a:r>
              <a:rPr lang="en-US" b="1" i="0" dirty="0"/>
              <a:t> </a:t>
            </a:r>
            <a:r>
              <a:rPr lang="en-US" b="0" i="0" dirty="0"/>
              <a:t>keyword.</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892531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Java has defined default values for all types, and it pretty much boils down to “0, false, or null, whichever makes sense”.</a:t>
            </a:r>
          </a:p>
          <a:p>
            <a:r>
              <a:rPr lang="en-US" dirty="0"/>
              <a:t>- Rust steps around these problems by making the constructor a free function which is responsible for creating the object itself. it is impossible to call methods on an incompletely-initialized object in Rust because it is impossible to </a:t>
            </a:r>
            <a:r>
              <a:rPr lang="en-US" i="1" dirty="0"/>
              <a:t>create</a:t>
            </a:r>
            <a:r>
              <a:rPr lang="en-US" i="0" dirty="0"/>
              <a:t> an incompletely-initialized object. the only thing you can do is specify values for all fields.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1728438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inheritance isn't actually </a:t>
            </a:r>
            <a:r>
              <a:rPr lang="en-US" i="1" dirty="0"/>
              <a:t>required </a:t>
            </a:r>
            <a:r>
              <a:rPr lang="en-US" dirty="0"/>
              <a:t>for OOP. it's just really common.</a:t>
            </a:r>
          </a:p>
          <a:p>
            <a:r>
              <a:rPr lang="en-US" dirty="0"/>
              <a:t>- idk if this has a name, per se, but I've seen it called "</a:t>
            </a:r>
            <a:r>
              <a:rPr lang="en-US" dirty="0" err="1"/>
              <a:t>mixins</a:t>
            </a:r>
            <a:r>
              <a:rPr lang="en-US" dirty="0"/>
              <a:t>" in various languages</a:t>
            </a:r>
          </a:p>
          <a:p>
            <a:r>
              <a:rPr lang="en-US" dirty="0"/>
              <a:t>- the "Derived: Base" syntax is used in C# and D, so I'm borrowing it.</a:t>
            </a:r>
          </a:p>
          <a:p>
            <a:pPr marL="171450" indent="-171450">
              <a:buFontTx/>
              <a:buChar char="-"/>
            </a:pPr>
            <a:r>
              <a:rPr lang="en-US" dirty="0"/>
              <a:t>I'm using byte offsets for the fields in the memory diagrams here.</a:t>
            </a:r>
          </a:p>
          <a:p>
            <a:pPr marL="171450" indent="-171450">
              <a:buFontTx/>
              <a:buChar char="-"/>
            </a:pPr>
            <a:endParaRPr lang="en-US" dirty="0"/>
          </a:p>
          <a:p>
            <a:pPr marL="0" indent="0">
              <a:buFontTx/>
              <a:buNone/>
            </a:pPr>
            <a:r>
              <a:rPr lang="en-US" dirty="0"/>
              <a:t>[diagram: two classes. RGB has three fields r, g, b. RGBA extends RGB by adding a fourth field a. the r, g, b fields are automatically copied into RGBA without the programmer having to list them. at runtime, RGB is represented as a 12-byte struct with r at 0, g at 4, and b at 8. RGBA is represented as a 16-byte struct with r, g, b at the exact same locations, and then a at 12. so, every RGBA instance starts with (is “prefixed” with) an RGB instance.]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261815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struct Cat, species is at 0, and whiskers is at 4. </a:t>
            </a:r>
          </a:p>
          <a:p>
            <a:r>
              <a:rPr lang="en-US" dirty="0"/>
              <a:t>	- when we pass a Cat instance to </a:t>
            </a:r>
            <a:r>
              <a:rPr lang="en-US" dirty="0" err="1"/>
              <a:t>Animal.to_string</a:t>
            </a:r>
            <a:r>
              <a:rPr lang="en-US" dirty="0"/>
              <a:t>(), all it accesses (and all it can even see!) is the species field.</a:t>
            </a:r>
          </a:p>
          <a:p>
            <a:r>
              <a:rPr lang="en-US" dirty="0"/>
              <a:t>- remember this smiley </a:t>
            </a:r>
            <a:r>
              <a:rPr lang="en-US" dirty="0" err="1"/>
              <a:t>boi</a:t>
            </a:r>
            <a:r>
              <a:rPr lang="en-US" dirty="0"/>
              <a:t>? Cat &lt;: Animal</a:t>
            </a:r>
          </a:p>
          <a:p>
            <a:r>
              <a:rPr lang="en-US" dirty="0"/>
              <a:t>- that means, </a:t>
            </a:r>
            <a:r>
              <a:rPr lang="en-US" b="1" dirty="0"/>
              <a:t>anywhere an Animal is expected, we can use a Cat instead.</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3796737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“c = new Cat()” and “d = new Dog()”. c points to an object which contains not just the fields that the programmer defined, but an additional secret field “type” that identifies this object as being an instance of Cat. similarly, d has a field “type” that identifies this object as being an instance of Dog. that way, at runtime, a method call like “</a:t>
            </a:r>
            <a:r>
              <a:rPr lang="en-US" dirty="0" err="1"/>
              <a:t>a.to_string</a:t>
            </a:r>
            <a:r>
              <a:rPr lang="en-US" dirty="0"/>
              <a:t>()” where a is an Animal will be able to look at the secret ”type” field and determine which version of </a:t>
            </a:r>
            <a:r>
              <a:rPr lang="en-US" dirty="0" err="1"/>
              <a:t>to_string</a:t>
            </a:r>
            <a:r>
              <a:rPr lang="en-US" dirty="0"/>
              <a:t> to call. but doing it as a big if-else-if is incredible inefficient, so we don’t actually implement it like that.]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1761370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every problem can be solved with another layer of indirection!</a:t>
            </a:r>
          </a:p>
          <a:p>
            <a:r>
              <a:rPr lang="en-US" dirty="0"/>
              <a:t>- by default each subclass's </a:t>
            </a:r>
            <a:r>
              <a:rPr lang="en-US" dirty="0" err="1"/>
              <a:t>vtable</a:t>
            </a:r>
            <a:r>
              <a:rPr lang="en-US" dirty="0"/>
              <a:t> starts as a copy of its superclass's.</a:t>
            </a:r>
          </a:p>
          <a:p>
            <a:r>
              <a:rPr lang="en-US" dirty="0"/>
              <a:t>	- like here, Cat and Dog both use </a:t>
            </a:r>
            <a:r>
              <a:rPr lang="en-US" dirty="0" err="1"/>
              <a:t>Animal.breathe</a:t>
            </a:r>
            <a:r>
              <a:rPr lang="en-US" dirty="0"/>
              <a:t>().</a:t>
            </a:r>
          </a:p>
          <a:p>
            <a:pPr marL="171450" indent="-171450">
              <a:buFontTx/>
              <a:buChar char="-"/>
            </a:pPr>
            <a:r>
              <a:rPr lang="en-US" dirty="0"/>
              <a:t>when you override methods, you are replacing entries in the </a:t>
            </a:r>
            <a:r>
              <a:rPr lang="en-US" dirty="0" err="1"/>
              <a:t>vtable</a:t>
            </a:r>
            <a:r>
              <a:rPr lang="en-US" dirty="0"/>
              <a:t>.</a:t>
            </a:r>
          </a:p>
          <a:p>
            <a:pPr marL="171450" indent="-171450">
              <a:buFontTx/>
              <a:buChar char="-"/>
            </a:pPr>
            <a:endParaRPr lang="en-US" dirty="0"/>
          </a:p>
          <a:p>
            <a:pPr marL="0" indent="0">
              <a:buFontTx/>
              <a:buNone/>
            </a:pPr>
            <a:r>
              <a:rPr lang="en-US" dirty="0"/>
              <a:t>[diagram: assume there is a class Animal from which Cat and Dog both derive. the first field of each instance of Cat and Dog is a “virtual method table” pointer, or “v-table” pointer. Each class has its own v-table. Every instance of Cat will point to the Cat v-table, and every instance of Dog will point to the Dog v-table. The v-table contains pointers to every method declared in the class. Methods that are inherited from the base class – here, the methods “breathe” and “</a:t>
            </a:r>
            <a:r>
              <a:rPr lang="en-US" dirty="0" err="1"/>
              <a:t>to_string</a:t>
            </a:r>
            <a:r>
              <a:rPr lang="en-US" dirty="0"/>
              <a:t>” are inherited from Animal – will appear at the same position in every subclass’s v-table. So it does not matter if you call </a:t>
            </a:r>
            <a:r>
              <a:rPr lang="en-US" dirty="0" err="1"/>
              <a:t>to_string</a:t>
            </a:r>
            <a:r>
              <a:rPr lang="en-US" dirty="0"/>
              <a:t> on a Cat or a Dog or an Animal, the pointer to that method is always going to be at ”offset 4” in this example. now, each class can make their own implementations of each method, and all that means is that the v-table pointers are changed. here, Cat and Dog both use the default implementation of ”breathe” from the Animal class. but they also both have their own implementations of </a:t>
            </a:r>
            <a:r>
              <a:rPr lang="en-US" dirty="0" err="1"/>
              <a:t>to_string</a:t>
            </a:r>
            <a:r>
              <a:rPr lang="en-US" dirty="0"/>
              <a:t>, </a:t>
            </a:r>
            <a:r>
              <a:rPr lang="en-US" dirty="0" err="1"/>
              <a:t>play_string</a:t>
            </a:r>
            <a:r>
              <a:rPr lang="en-US" dirty="0"/>
              <a:t>, and </a:t>
            </a:r>
            <a:r>
              <a:rPr lang="en-US" dirty="0" err="1"/>
              <a:t>play_fetch</a:t>
            </a:r>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16659993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 the </a:t>
            </a:r>
            <a:r>
              <a:rPr lang="en-US" dirty="0" err="1"/>
              <a:t>vtables</a:t>
            </a:r>
            <a:r>
              <a:rPr lang="en-US" dirty="0"/>
              <a:t> are like objects that inherit from one another, too!</a:t>
            </a:r>
          </a:p>
          <a:p>
            <a:pPr marL="171450" indent="-171450">
              <a:buFontTx/>
              <a:buChar char="-"/>
            </a:pPr>
            <a:r>
              <a:rPr lang="en-US" dirty="0"/>
              <a:t>the use of an indirect call instruction here implies something: for efficient virtual method dispatch, the target language needs some way to do an indirect call like this. (I’m not aware of any other equally-performant way of implementing them.)</a:t>
            </a:r>
          </a:p>
          <a:p>
            <a:pPr marL="528066" lvl="1" indent="-171450">
              <a:buFontTx/>
              <a:buChar char="-"/>
            </a:pPr>
            <a:r>
              <a:rPr lang="en-US" dirty="0"/>
              <a:t>this is something that even some modern microcontrollers struggle with, making virtual dispatch on those platforms less performant.</a:t>
            </a:r>
          </a:p>
          <a:p>
            <a:pPr marL="528066" lvl="1" indent="-171450">
              <a:buFontTx/>
              <a:buChar char="-"/>
            </a:pPr>
            <a:endParaRPr lang="en-US" dirty="0"/>
          </a:p>
          <a:p>
            <a:pPr marL="0" indent="0">
              <a:buFontTx/>
              <a:buNone/>
            </a:pPr>
            <a:r>
              <a:rPr lang="en-US" dirty="0"/>
              <a:t>[diagram: a function that takes an Animal reference a and calls </a:t>
            </a:r>
            <a:r>
              <a:rPr lang="en-US" dirty="0" err="1"/>
              <a:t>a.to_string</a:t>
            </a:r>
            <a:r>
              <a:rPr lang="en-US" dirty="0"/>
              <a:t>(). The way that gets generated is something more like “</a:t>
            </a:r>
            <a:r>
              <a:rPr lang="en-US" dirty="0" err="1"/>
              <a:t>a.vtbl</a:t>
            </a:r>
            <a:r>
              <a:rPr lang="en-US" dirty="0"/>
              <a:t>[1](a)”, that is, it indexes the v-table using the index for “</a:t>
            </a:r>
            <a:r>
              <a:rPr lang="en-US" dirty="0" err="1"/>
              <a:t>to_string</a:t>
            </a:r>
            <a:r>
              <a:rPr lang="en-US" dirty="0"/>
              <a:t>” to get the pointer to that method; then it calls that method using “a” as the first argument so it becomes the “this” pointer in the method. in MIPS, this gets generated as a </a:t>
            </a:r>
            <a:r>
              <a:rPr lang="en-US" dirty="0" err="1"/>
              <a:t>lw</a:t>
            </a:r>
            <a:r>
              <a:rPr lang="en-US" dirty="0"/>
              <a:t> to get “a” off the stack; then a </a:t>
            </a:r>
            <a:r>
              <a:rPr lang="en-US" dirty="0" err="1"/>
              <a:t>lw</a:t>
            </a:r>
            <a:r>
              <a:rPr lang="en-US" dirty="0"/>
              <a:t> to get its v-table field like any other struct access; then a final </a:t>
            </a:r>
            <a:r>
              <a:rPr lang="en-US" dirty="0" err="1"/>
              <a:t>lw</a:t>
            </a:r>
            <a:r>
              <a:rPr lang="en-US" dirty="0"/>
              <a:t> to get the method out of the v-table, which is finally called using the “</a:t>
            </a:r>
            <a:r>
              <a:rPr lang="en-US" dirty="0" err="1"/>
              <a:t>jalr</a:t>
            </a:r>
            <a:r>
              <a:rPr lang="en-US" dirty="0"/>
              <a:t>” instruction. “</a:t>
            </a:r>
            <a:r>
              <a:rPr lang="en-US" dirty="0" err="1"/>
              <a:t>jalr</a:t>
            </a:r>
            <a:r>
              <a:rPr lang="en-US" dirty="0"/>
              <a:t>” calls a function whose address is in a register.]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2479538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way of representing interface variables is to use a "fat pointer"</a:t>
            </a:r>
          </a:p>
          <a:p>
            <a:r>
              <a:rPr lang="en-US" dirty="0"/>
              <a:t>	- the interface variable is a tuple of (object, offset) where "offset" is the beginning of the </a:t>
            </a:r>
            <a:r>
              <a:rPr lang="en-US" dirty="0" err="1"/>
              <a:t>vtable</a:t>
            </a:r>
            <a:r>
              <a:rPr lang="en-US" dirty="0"/>
              <a:t> slice</a:t>
            </a:r>
          </a:p>
          <a:p>
            <a:r>
              <a:rPr lang="en-US" dirty="0"/>
              <a:t>	- to call interface method </a:t>
            </a:r>
            <a:r>
              <a:rPr lang="en-US" i="1" dirty="0"/>
              <a:t>n</a:t>
            </a:r>
            <a:r>
              <a:rPr lang="en-US" i="0" dirty="0"/>
              <a:t> on</a:t>
            </a:r>
            <a:r>
              <a:rPr lang="en-US" dirty="0"/>
              <a:t> it, you do </a:t>
            </a:r>
            <a:r>
              <a:rPr lang="en-US" dirty="0" err="1"/>
              <a:t>object.vtable</a:t>
            </a:r>
            <a:r>
              <a:rPr lang="en-US" dirty="0"/>
              <a:t>[offset + </a:t>
            </a:r>
            <a:r>
              <a:rPr lang="en-US" i="1" dirty="0"/>
              <a:t>n</a:t>
            </a:r>
            <a:r>
              <a:rPr lang="en-US" dirty="0"/>
              <a:t>](object)</a:t>
            </a:r>
          </a:p>
          <a:p>
            <a:r>
              <a:rPr lang="en-US" dirty="0"/>
              <a:t>	- there are other ways to do this if you don't want interface variables to be "bigger", but they're more complex…</a:t>
            </a:r>
          </a:p>
          <a:p>
            <a:r>
              <a:rPr lang="en-US" dirty="0"/>
              <a:t>- multiple inheritance is of questionable utility and is </a:t>
            </a:r>
            <a:r>
              <a:rPr lang="en-US" i="1" dirty="0"/>
              <a:t>really</a:t>
            </a:r>
            <a:r>
              <a:rPr lang="en-US" i="0" dirty="0"/>
              <a:t> hard to implement "right" in a compiled language.</a:t>
            </a:r>
          </a:p>
          <a:p>
            <a:r>
              <a:rPr lang="en-US" i="0" dirty="0"/>
              <a:t>	- Python can get away with it because of its dynamic nature, but even then, it's confusing to the programmer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3250365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Structs and Classes, OOP</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yet another "real example" of adding a language feature</a:t>
            </a:r>
          </a:p>
          <a:p>
            <a:pPr lvl="1"/>
            <a:r>
              <a:rPr lang="en-US" dirty="0"/>
              <a:t>though you already did the lexing, parsing, and some of the semantic analysis for this stuff in the projects…</a:t>
            </a:r>
          </a:p>
          <a:p>
            <a:pPr lvl="1"/>
            <a:r>
              <a:rPr lang="en-US" dirty="0"/>
              <a:t>so we’ll </a:t>
            </a:r>
            <a:r>
              <a:rPr lang="en-US" dirty="0" err="1"/>
              <a:t>kinda</a:t>
            </a:r>
            <a:r>
              <a:rPr lang="en-US" dirty="0"/>
              <a:t> skip that stuff!</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Structured types</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FDAE-892F-7148-9B49-0C31F0E9B3DC}"/>
              </a:ext>
            </a:extLst>
          </p:cNvPr>
          <p:cNvSpPr>
            <a:spLocks noGrp="1"/>
          </p:cNvSpPr>
          <p:nvPr>
            <p:ph type="title"/>
          </p:nvPr>
        </p:nvSpPr>
        <p:spPr/>
        <p:txBody>
          <a:bodyPr/>
          <a:lstStyle/>
          <a:p>
            <a:r>
              <a:rPr lang="en-US" dirty="0"/>
              <a:t>Type survey</a:t>
            </a:r>
          </a:p>
        </p:txBody>
      </p:sp>
      <p:sp>
        <p:nvSpPr>
          <p:cNvPr id="3" name="Content Placeholder 2">
            <a:extLst>
              <a:ext uri="{FF2B5EF4-FFF2-40B4-BE49-F238E27FC236}">
                <a16:creationId xmlns:a16="http://schemas.microsoft.com/office/drawing/2014/main" id="{60D08FB8-DE71-6B47-988C-A874FBD7FEF7}"/>
              </a:ext>
            </a:extLst>
          </p:cNvPr>
          <p:cNvSpPr>
            <a:spLocks noGrp="1"/>
          </p:cNvSpPr>
          <p:nvPr>
            <p:ph idx="1"/>
          </p:nvPr>
        </p:nvSpPr>
        <p:spPr/>
        <p:txBody>
          <a:bodyPr/>
          <a:lstStyle/>
          <a:p>
            <a:r>
              <a:rPr lang="en-US" dirty="0"/>
              <a:t>primitive types can only get you so far.</a:t>
            </a:r>
          </a:p>
          <a:p>
            <a:pPr lvl="1"/>
            <a:r>
              <a:rPr lang="en-US" dirty="0"/>
              <a:t>remember these are things like </a:t>
            </a:r>
            <a:r>
              <a:rPr lang="en-US" b="1" dirty="0">
                <a:solidFill>
                  <a:srgbClr val="FF0000"/>
                </a:solidFill>
                <a:latin typeface="Consolas" panose="020B0609020204030204" pitchFamily="49" charset="0"/>
                <a:cs typeface="Consolas" panose="020B0609020204030204" pitchFamily="49" charset="0"/>
              </a:rPr>
              <a:t>int</a:t>
            </a:r>
            <a:r>
              <a:rPr lang="en-US" b="1" dirty="0"/>
              <a:t>, </a:t>
            </a:r>
            <a:r>
              <a:rPr lang="en-US" b="1" dirty="0">
                <a:solidFill>
                  <a:srgbClr val="FF0000"/>
                </a:solidFill>
                <a:latin typeface="Consolas" panose="020B0609020204030204" pitchFamily="49" charset="0"/>
                <a:cs typeface="Consolas" panose="020B0609020204030204" pitchFamily="49" charset="0"/>
              </a:rPr>
              <a:t>bool</a:t>
            </a:r>
            <a:r>
              <a:rPr lang="en-US" b="1" dirty="0"/>
              <a:t>, </a:t>
            </a:r>
            <a:r>
              <a:rPr lang="en-US" dirty="0"/>
              <a:t>and </a:t>
            </a:r>
            <a:r>
              <a:rPr lang="en-US" b="1" dirty="0">
                <a:solidFill>
                  <a:srgbClr val="FF0000"/>
                </a:solidFill>
                <a:latin typeface="Consolas" panose="020B0609020204030204" pitchFamily="49" charset="0"/>
                <a:cs typeface="Consolas" panose="020B0609020204030204" pitchFamily="49" charset="0"/>
              </a:rPr>
              <a:t>char</a:t>
            </a:r>
            <a:r>
              <a:rPr lang="en-US" b="1" dirty="0"/>
              <a:t>.</a:t>
            </a:r>
            <a:endParaRPr lang="en-US" dirty="0"/>
          </a:p>
          <a:p>
            <a:r>
              <a:rPr lang="en-US" b="1" dirty="0"/>
              <a:t>arrays</a:t>
            </a:r>
            <a:r>
              <a:rPr lang="en-US" dirty="0"/>
              <a:t> give the programmer a lot of problem-solving power.</a:t>
            </a:r>
          </a:p>
          <a:p>
            <a:pPr lvl="1"/>
            <a:r>
              <a:rPr lang="en-US" dirty="0"/>
              <a:t>even in very simplistic languages (like old BASIC dialects), arrays give you the power of </a:t>
            </a:r>
            <a:r>
              <a:rPr lang="en-US" b="1" dirty="0"/>
              <a:t>indirection </a:t>
            </a:r>
            <a:r>
              <a:rPr lang="en-US" dirty="0"/>
              <a:t>and </a:t>
            </a:r>
            <a:r>
              <a:rPr lang="en-US" b="1" dirty="0"/>
              <a:t>dynamically-sized data structures, </a:t>
            </a:r>
            <a:r>
              <a:rPr lang="en-US" dirty="0"/>
              <a:t>which you can't do with primitives.</a:t>
            </a:r>
          </a:p>
          <a:p>
            <a:r>
              <a:rPr lang="en-US" dirty="0"/>
              <a:t>but more complex problems will require the user to define their </a:t>
            </a:r>
            <a:r>
              <a:rPr lang="en-US" b="1" dirty="0"/>
              <a:t>own types </a:t>
            </a:r>
            <a:r>
              <a:rPr lang="en-US" dirty="0"/>
              <a:t>suited to solving the problem.</a:t>
            </a:r>
          </a:p>
          <a:p>
            <a:pPr lvl="1"/>
            <a:r>
              <a:rPr lang="en-US" dirty="0"/>
              <a:t>and if we want to let the user define their </a:t>
            </a:r>
            <a:r>
              <a:rPr lang="en-US" i="1" dirty="0"/>
              <a:t>own</a:t>
            </a:r>
            <a:r>
              <a:rPr lang="en-US" dirty="0"/>
              <a:t> types, the most obvious place to start is with… </a:t>
            </a:r>
            <a:r>
              <a:rPr lang="en-US" strike="sngStrike" dirty="0"/>
              <a:t>classes</a:t>
            </a:r>
            <a:r>
              <a:rPr lang="en-US" dirty="0"/>
              <a:t> </a:t>
            </a:r>
            <a:r>
              <a:rPr lang="en-US" strike="sngStrike" dirty="0"/>
              <a:t>structs</a:t>
            </a:r>
            <a:r>
              <a:rPr lang="en-US" dirty="0"/>
              <a:t> </a:t>
            </a:r>
            <a:r>
              <a:rPr lang="en-US" b="1" dirty="0"/>
              <a:t>tuples!</a:t>
            </a:r>
          </a:p>
        </p:txBody>
      </p:sp>
      <p:sp>
        <p:nvSpPr>
          <p:cNvPr id="4" name="Slide Number Placeholder 3">
            <a:extLst>
              <a:ext uri="{FF2B5EF4-FFF2-40B4-BE49-F238E27FC236}">
                <a16:creationId xmlns:a16="http://schemas.microsoft.com/office/drawing/2014/main" id="{E0A79B26-1038-7A40-BB13-86645E520349}"/>
              </a:ext>
            </a:extLst>
          </p:cNvPr>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383407426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A8027-13B7-FB47-A448-3CFF9A74311B}"/>
              </a:ext>
            </a:extLst>
          </p:cNvPr>
          <p:cNvSpPr>
            <a:spLocks noGrp="1"/>
          </p:cNvSpPr>
          <p:nvPr>
            <p:ph type="title"/>
          </p:nvPr>
        </p:nvSpPr>
        <p:spPr/>
        <p:txBody>
          <a:bodyPr/>
          <a:lstStyle/>
          <a:p>
            <a:r>
              <a:rPr lang="en-US" dirty="0"/>
              <a:t>Tuples??</a:t>
            </a:r>
          </a:p>
        </p:txBody>
      </p:sp>
      <p:sp>
        <p:nvSpPr>
          <p:cNvPr id="3" name="Content Placeholder 2">
            <a:extLst>
              <a:ext uri="{FF2B5EF4-FFF2-40B4-BE49-F238E27FC236}">
                <a16:creationId xmlns:a16="http://schemas.microsoft.com/office/drawing/2014/main" id="{3BDAF3DD-E805-C74C-B598-634A5B66A667}"/>
              </a:ext>
            </a:extLst>
          </p:cNvPr>
          <p:cNvSpPr>
            <a:spLocks noGrp="1"/>
          </p:cNvSpPr>
          <p:nvPr>
            <p:ph idx="1"/>
          </p:nvPr>
        </p:nvSpPr>
        <p:spPr/>
        <p:txBody>
          <a:bodyPr/>
          <a:lstStyle/>
          <a:p>
            <a:r>
              <a:rPr lang="en-US" dirty="0"/>
              <a:t>a </a:t>
            </a:r>
            <a:r>
              <a:rPr lang="en-US" b="1" dirty="0"/>
              <a:t>tuple</a:t>
            </a:r>
            <a:r>
              <a:rPr lang="en-US" dirty="0"/>
              <a:t> is an ordered sequence of </a:t>
            </a:r>
            <a:r>
              <a:rPr lang="en-US" b="1" dirty="0"/>
              <a:t>heterogeneous types.</a:t>
            </a:r>
          </a:p>
          <a:p>
            <a:pPr lvl="1"/>
            <a:r>
              <a:rPr lang="en-US" dirty="0"/>
              <a:t>heterogeneous = "they can be different"</a:t>
            </a:r>
          </a:p>
          <a:p>
            <a:r>
              <a:rPr lang="en-US" dirty="0"/>
              <a:t>typically, tuple types are written in </a:t>
            </a:r>
            <a:r>
              <a:rPr lang="en-US" dirty="0" err="1"/>
              <a:t>parens</a:t>
            </a:r>
            <a:r>
              <a:rPr lang="en-US" dirty="0"/>
              <a:t>, like </a:t>
            </a:r>
            <a:r>
              <a:rPr lang="en-US" b="1" dirty="0">
                <a:latin typeface="Consolas" panose="020B0609020204030204" pitchFamily="49" charset="0"/>
                <a:cs typeface="Consolas" panose="020B0609020204030204" pitchFamily="49" charset="0"/>
              </a:rPr>
              <a:t>(T</a:t>
            </a:r>
            <a:r>
              <a:rPr lang="en-US" b="1" baseline="-25000" dirty="0">
                <a:latin typeface="Consolas" panose="020B0609020204030204" pitchFamily="49" charset="0"/>
                <a:cs typeface="Consolas" panose="020B0609020204030204" pitchFamily="49" charset="0"/>
              </a:rPr>
              <a:t>1</a:t>
            </a:r>
            <a:r>
              <a:rPr lang="en-US" b="1" dirty="0">
                <a:latin typeface="Consolas" panose="020B0609020204030204" pitchFamily="49" charset="0"/>
                <a:cs typeface="Consolas" panose="020B0609020204030204" pitchFamily="49" charset="0"/>
              </a:rPr>
              <a:t>, …, T</a:t>
            </a:r>
            <a:r>
              <a:rPr lang="en-US" b="1" baseline="-25000" dirty="0">
                <a:latin typeface="Consolas" panose="020B0609020204030204" pitchFamily="49" charset="0"/>
                <a:cs typeface="Consolas" panose="020B0609020204030204" pitchFamily="49" charset="0"/>
              </a:rPr>
              <a:t>n</a:t>
            </a:r>
            <a:r>
              <a:rPr lang="en-US" b="1" dirty="0">
                <a:latin typeface="Consolas" panose="020B0609020204030204" pitchFamily="49" charset="0"/>
                <a:cs typeface="Consolas" panose="020B0609020204030204" pitchFamily="49" charset="0"/>
              </a:rPr>
              <a:t>)</a:t>
            </a:r>
            <a:endParaRPr lang="en-US" dirty="0"/>
          </a:p>
          <a:p>
            <a:r>
              <a:rPr lang="en-US" dirty="0"/>
              <a:t>you could use them to represent…</a:t>
            </a:r>
          </a:p>
          <a:p>
            <a:pPr lvl="1"/>
            <a:r>
              <a:rPr lang="en-US" dirty="0"/>
              <a:t>coordinates in an </a:t>
            </a:r>
            <a:r>
              <a:rPr lang="en-US" i="1" dirty="0"/>
              <a:t>n</a:t>
            </a:r>
            <a:r>
              <a:rPr lang="en-US" dirty="0"/>
              <a:t>-dimensional space: </a:t>
            </a:r>
            <a:r>
              <a:rPr lang="en-US" b="1" dirty="0">
                <a:latin typeface="Consolas" panose="020B0609020204030204" pitchFamily="49" charset="0"/>
                <a:cs typeface="Consolas" panose="020B0609020204030204" pitchFamily="49" charset="0"/>
              </a:rPr>
              <a:t>(</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4</a:t>
            </a:r>
            <a:r>
              <a:rPr lang="en-US" b="1" dirty="0">
                <a:latin typeface="Consolas" panose="020B0609020204030204" pitchFamily="49" charset="0"/>
                <a:cs typeface="Consolas" panose="020B0609020204030204" pitchFamily="49" charset="0"/>
              </a:rPr>
              <a:t>)</a:t>
            </a:r>
          </a:p>
          <a:p>
            <a:pPr lvl="2"/>
            <a:r>
              <a:rPr lang="en-US" dirty="0"/>
              <a:t>this one's type is </a:t>
            </a:r>
            <a:r>
              <a:rPr lang="en-US" b="1" dirty="0">
                <a:latin typeface="Consolas" panose="020B0609020204030204" pitchFamily="49" charset="0"/>
                <a:cs typeface="Consolas" panose="020B0609020204030204" pitchFamily="49" charset="0"/>
              </a:rPr>
              <a:t>(</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p>
          <a:p>
            <a:pPr lvl="1"/>
            <a:r>
              <a:rPr lang="en-US" dirty="0"/>
              <a:t>the absence of a value: </a:t>
            </a:r>
            <a:r>
              <a:rPr lang="en-US" b="1" dirty="0">
                <a:latin typeface="Consolas" panose="020B0609020204030204" pitchFamily="49" charset="0"/>
                <a:cs typeface="Consolas" panose="020B0609020204030204" pitchFamily="49" charset="0"/>
              </a:rPr>
              <a:t>()</a:t>
            </a:r>
          </a:p>
          <a:p>
            <a:pPr lvl="2"/>
            <a:r>
              <a:rPr lang="en-US" dirty="0"/>
              <a:t>this is also called </a:t>
            </a:r>
            <a:r>
              <a:rPr lang="en-US" b="1" dirty="0"/>
              <a:t>unit</a:t>
            </a:r>
            <a:r>
              <a:rPr lang="en-US" dirty="0"/>
              <a:t> or, in our language, </a:t>
            </a:r>
            <a:r>
              <a:rPr lang="en-US" b="1" dirty="0"/>
              <a:t>void</a:t>
            </a:r>
            <a:endParaRPr lang="en-US" dirty="0"/>
          </a:p>
          <a:p>
            <a:pPr lvl="1"/>
            <a:r>
              <a:rPr lang="en-US" dirty="0"/>
              <a:t>simple </a:t>
            </a:r>
            <a:r>
              <a:rPr lang="en-US" b="1" dirty="0"/>
              <a:t>objects: </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"Billingsley"</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"Jarrett"</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35</a:t>
            </a:r>
            <a:r>
              <a:rPr lang="en-US" b="1" dirty="0">
                <a:latin typeface="Consolas" panose="020B0609020204030204" pitchFamily="49" charset="0"/>
                <a:cs typeface="Consolas" panose="020B0609020204030204" pitchFamily="49" charset="0"/>
              </a:rPr>
              <a:t>)</a:t>
            </a:r>
          </a:p>
          <a:p>
            <a:pPr lvl="2"/>
            <a:r>
              <a:rPr lang="en-US" dirty="0"/>
              <a:t>this one's type is </a:t>
            </a:r>
            <a:r>
              <a:rPr lang="en-US" b="1" dirty="0">
                <a:latin typeface="Consolas" panose="020B0609020204030204" pitchFamily="49" charset="0"/>
                <a:cs typeface="Consolas" panose="020B0609020204030204" pitchFamily="49" charset="0"/>
              </a:rPr>
              <a:t>(</a:t>
            </a:r>
            <a:r>
              <a:rPr lang="en-US" b="1" dirty="0">
                <a:solidFill>
                  <a:srgbClr val="FF0000"/>
                </a:solidFill>
                <a:latin typeface="Consolas" panose="020B0609020204030204" pitchFamily="49" charset="0"/>
                <a:cs typeface="Consolas" panose="020B0609020204030204" pitchFamily="49" charset="0"/>
              </a:rPr>
              <a:t>string</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string</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endParaRPr lang="en-US" dirty="0"/>
          </a:p>
          <a:p>
            <a:pPr lvl="1"/>
            <a:r>
              <a:rPr lang="en-US" dirty="0"/>
              <a:t>maybe you can see where this is going…</a:t>
            </a:r>
          </a:p>
        </p:txBody>
      </p:sp>
      <p:sp>
        <p:nvSpPr>
          <p:cNvPr id="4" name="Slide Number Placeholder 3">
            <a:extLst>
              <a:ext uri="{FF2B5EF4-FFF2-40B4-BE49-F238E27FC236}">
                <a16:creationId xmlns:a16="http://schemas.microsoft.com/office/drawing/2014/main" id="{8A65CF92-F30F-154E-BEF2-37CE2C4057F9}"/>
              </a:ext>
            </a:extLst>
          </p:cNvPr>
          <p:cNvSpPr>
            <a:spLocks noGrp="1"/>
          </p:cNvSpPr>
          <p:nvPr>
            <p:ph type="sldNum" sz="quarter" idx="12"/>
          </p:nvPr>
        </p:nvSpPr>
        <p:spPr/>
        <p:txBody>
          <a:bodyPr/>
          <a:lstStyle/>
          <a:p>
            <a:fld id="{3552B95B-556F-44BD-91A5-D80C1B9E2BB3}" type="slidenum">
              <a:rPr lang="en-US" smtClean="0"/>
              <a:pPr/>
              <a:t>5</a:t>
            </a:fld>
            <a:endParaRPr lang="en-US"/>
          </a:p>
        </p:txBody>
      </p:sp>
    </p:spTree>
    <p:extLst>
      <p:ext uri="{BB962C8B-B14F-4D97-AF65-F5344CB8AC3E}">
        <p14:creationId xmlns:p14="http://schemas.microsoft.com/office/powerpoint/2010/main" val="18350519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1106-2647-9848-9E9A-D87B5D81E82E}"/>
              </a:ext>
            </a:extLst>
          </p:cNvPr>
          <p:cNvSpPr>
            <a:spLocks noGrp="1"/>
          </p:cNvSpPr>
          <p:nvPr>
            <p:ph type="title"/>
          </p:nvPr>
        </p:nvSpPr>
        <p:spPr/>
        <p:txBody>
          <a:bodyPr/>
          <a:lstStyle/>
          <a:p>
            <a:r>
              <a:rPr lang="en-US" dirty="0"/>
              <a:t>Operations on tuples</a:t>
            </a:r>
          </a:p>
        </p:txBody>
      </p:sp>
      <p:sp>
        <p:nvSpPr>
          <p:cNvPr id="3" name="Content Placeholder 2">
            <a:extLst>
              <a:ext uri="{FF2B5EF4-FFF2-40B4-BE49-F238E27FC236}">
                <a16:creationId xmlns:a16="http://schemas.microsoft.com/office/drawing/2014/main" id="{DFAA932F-46D3-684B-9BFD-9ADEE2797303}"/>
              </a:ext>
            </a:extLst>
          </p:cNvPr>
          <p:cNvSpPr>
            <a:spLocks noGrp="1"/>
          </p:cNvSpPr>
          <p:nvPr>
            <p:ph idx="1"/>
          </p:nvPr>
        </p:nvSpPr>
        <p:spPr/>
        <p:txBody>
          <a:bodyPr/>
          <a:lstStyle/>
          <a:p>
            <a:r>
              <a:rPr lang="en-US" dirty="0"/>
              <a:t>like arrays, we can </a:t>
            </a:r>
            <a:r>
              <a:rPr lang="en-US" b="1" dirty="0"/>
              <a:t>index </a:t>
            </a:r>
            <a:r>
              <a:rPr lang="en-US" dirty="0"/>
              <a:t>them to access their values:</a:t>
            </a:r>
          </a:p>
          <a:p>
            <a:pPr lvl="1"/>
            <a:r>
              <a:rPr lang="en-US" b="1" dirty="0">
                <a:latin typeface="Consolas" panose="020B0609020204030204" pitchFamily="49" charset="0"/>
                <a:cs typeface="Consolas" panose="020B0609020204030204" pitchFamily="49" charset="0"/>
              </a:rPr>
              <a:t>t[</a:t>
            </a:r>
            <a:r>
              <a:rPr lang="en-US" b="1" dirty="0">
                <a:solidFill>
                  <a:schemeClr val="accent3">
                    <a:lumMod val="75000"/>
                  </a:schemeClr>
                </a:solidFill>
                <a:latin typeface="Consolas" panose="020B0609020204030204" pitchFamily="49" charset="0"/>
                <a:cs typeface="Consolas" panose="020B0609020204030204" pitchFamily="49" charset="0"/>
              </a:rPr>
              <a:t>2</a:t>
            </a:r>
            <a:r>
              <a:rPr lang="en-US" b="1" dirty="0">
                <a:latin typeface="Consolas" panose="020B0609020204030204" pitchFamily="49" charset="0"/>
                <a:cs typeface="Consolas" panose="020B0609020204030204" pitchFamily="49" charset="0"/>
              </a:rPr>
              <a:t>] = </a:t>
            </a:r>
            <a:r>
              <a:rPr lang="en-US" b="1" dirty="0">
                <a:solidFill>
                  <a:schemeClr val="accent3">
                    <a:lumMod val="75000"/>
                  </a:schemeClr>
                </a:solidFill>
                <a:latin typeface="Consolas" panose="020B0609020204030204" pitchFamily="49" charset="0"/>
                <a:cs typeface="Consolas" panose="020B0609020204030204" pitchFamily="49" charset="0"/>
              </a:rPr>
              <a:t>34</a:t>
            </a:r>
            <a:r>
              <a:rPr lang="en-US" b="1" dirty="0">
                <a:latin typeface="Consolas" panose="020B0609020204030204" pitchFamily="49" charset="0"/>
                <a:cs typeface="Consolas" panose="020B0609020204030204" pitchFamily="49" charset="0"/>
              </a:rPr>
              <a:t>;</a:t>
            </a:r>
          </a:p>
          <a:p>
            <a:r>
              <a:rPr lang="en-US" i="1" dirty="0"/>
              <a:t>unlike</a:t>
            </a:r>
            <a:r>
              <a:rPr lang="en-US" dirty="0"/>
              <a:t> arrays, we know their length </a:t>
            </a:r>
            <a:r>
              <a:rPr lang="en-US" b="1" dirty="0"/>
              <a:t>statically…</a:t>
            </a:r>
          </a:p>
          <a:p>
            <a:pPr lvl="1"/>
            <a:r>
              <a:rPr lang="en-US" dirty="0"/>
              <a:t>but each element can be a </a:t>
            </a:r>
            <a:r>
              <a:rPr lang="en-US" b="1" dirty="0"/>
              <a:t>different type!</a:t>
            </a:r>
          </a:p>
          <a:p>
            <a:pPr lvl="1"/>
            <a:r>
              <a:rPr lang="en-US" dirty="0"/>
              <a:t>therefore: </a:t>
            </a:r>
            <a:r>
              <a:rPr lang="en-US" b="1" dirty="0">
                <a:solidFill>
                  <a:srgbClr val="FF0000"/>
                </a:solidFill>
              </a:rPr>
              <a:t>we can only index them with </a:t>
            </a:r>
            <a:r>
              <a:rPr lang="en-US" b="1" i="1" dirty="0">
                <a:solidFill>
                  <a:srgbClr val="FF0000"/>
                </a:solidFill>
              </a:rPr>
              <a:t>constant </a:t>
            </a:r>
            <a:r>
              <a:rPr lang="en-US" b="1" dirty="0">
                <a:solidFill>
                  <a:srgbClr val="FF0000"/>
                </a:solidFill>
              </a:rPr>
              <a:t>values.</a:t>
            </a:r>
            <a:endParaRPr lang="en-US" dirty="0"/>
          </a:p>
          <a:p>
            <a:r>
              <a:rPr lang="en-US" dirty="0"/>
              <a:t>what if we had a way of defining named constants?</a:t>
            </a:r>
          </a:p>
          <a:p>
            <a:pPr marL="522923" lvl="2" indent="0">
              <a:buNone/>
            </a:pPr>
            <a:r>
              <a:rPr lang="en-US" b="1" dirty="0" err="1">
                <a:solidFill>
                  <a:srgbClr val="FF0000"/>
                </a:solidFill>
                <a:latin typeface="Consolas" panose="020B0609020204030204" pitchFamily="49" charset="0"/>
                <a:cs typeface="Consolas" panose="020B0609020204030204" pitchFamily="49" charset="0"/>
              </a:rPr>
              <a:t>const</a:t>
            </a:r>
            <a:r>
              <a:rPr lang="en-US" b="1" dirty="0">
                <a:latin typeface="Consolas" panose="020B0609020204030204" pitchFamily="49" charset="0"/>
                <a:cs typeface="Consolas" panose="020B0609020204030204" pitchFamily="49" charset="0"/>
              </a:rPr>
              <a:t> LNAME = </a:t>
            </a:r>
            <a:r>
              <a:rPr lang="en-US" b="1" dirty="0">
                <a:solidFill>
                  <a:schemeClr val="accent3">
                    <a:lumMod val="75000"/>
                  </a:schemeClr>
                </a:solidFill>
                <a:latin typeface="Consolas" panose="020B0609020204030204" pitchFamily="49" charset="0"/>
                <a:cs typeface="Consolas" panose="020B0609020204030204" pitchFamily="49" charset="0"/>
              </a:rPr>
              <a:t>0</a:t>
            </a:r>
            <a:r>
              <a:rPr lang="en-US" b="1" dirty="0">
                <a:latin typeface="Consolas" panose="020B0609020204030204" pitchFamily="49" charset="0"/>
                <a:cs typeface="Consolas" panose="020B0609020204030204" pitchFamily="49" charset="0"/>
              </a:rPr>
              <a:t>;</a:t>
            </a:r>
          </a:p>
          <a:p>
            <a:pPr marL="522923" lvl="2" indent="0">
              <a:buNone/>
            </a:pPr>
            <a:r>
              <a:rPr lang="en-US" b="1" dirty="0" err="1">
                <a:solidFill>
                  <a:srgbClr val="FF0000"/>
                </a:solidFill>
                <a:latin typeface="Consolas" panose="020B0609020204030204" pitchFamily="49" charset="0"/>
                <a:cs typeface="Consolas" panose="020B0609020204030204" pitchFamily="49" charset="0"/>
              </a:rPr>
              <a:t>const</a:t>
            </a:r>
            <a:r>
              <a:rPr lang="en-US" b="1" dirty="0">
                <a:latin typeface="Consolas" panose="020B0609020204030204" pitchFamily="49" charset="0"/>
                <a:cs typeface="Consolas" panose="020B0609020204030204" pitchFamily="49" charset="0"/>
              </a:rPr>
              <a:t> FNAME = </a:t>
            </a:r>
            <a:r>
              <a:rPr lang="en-US" b="1" dirty="0">
                <a:solidFill>
                  <a:schemeClr val="accent3">
                    <a:lumMod val="75000"/>
                  </a:schemeClr>
                </a:solidFill>
                <a:latin typeface="Consolas" panose="020B0609020204030204" pitchFamily="49" charset="0"/>
                <a:cs typeface="Consolas" panose="020B0609020204030204" pitchFamily="49" charset="0"/>
              </a:rPr>
              <a:t>1</a:t>
            </a:r>
            <a:r>
              <a:rPr lang="en-US" b="1" dirty="0">
                <a:latin typeface="Consolas" panose="020B0609020204030204" pitchFamily="49" charset="0"/>
                <a:cs typeface="Consolas" panose="020B0609020204030204" pitchFamily="49" charset="0"/>
              </a:rPr>
              <a:t>;</a:t>
            </a:r>
          </a:p>
          <a:p>
            <a:pPr marL="522923" lvl="2" indent="0">
              <a:buNone/>
            </a:pPr>
            <a:r>
              <a:rPr lang="en-US" b="1" dirty="0" err="1">
                <a:solidFill>
                  <a:srgbClr val="FF0000"/>
                </a:solidFill>
                <a:latin typeface="Consolas" panose="020B0609020204030204" pitchFamily="49" charset="0"/>
                <a:cs typeface="Consolas" panose="020B0609020204030204" pitchFamily="49" charset="0"/>
              </a:rPr>
              <a:t>const</a:t>
            </a:r>
            <a:r>
              <a:rPr lang="en-US" b="1" dirty="0">
                <a:latin typeface="Consolas" panose="020B0609020204030204" pitchFamily="49" charset="0"/>
                <a:cs typeface="Consolas" panose="020B0609020204030204" pitchFamily="49" charset="0"/>
              </a:rPr>
              <a:t> AGE   = </a:t>
            </a:r>
            <a:r>
              <a:rPr lang="en-US" b="1" dirty="0">
                <a:solidFill>
                  <a:schemeClr val="accent3">
                    <a:lumMod val="75000"/>
                  </a:schemeClr>
                </a:solidFill>
                <a:latin typeface="Consolas" panose="020B0609020204030204" pitchFamily="49" charset="0"/>
                <a:cs typeface="Consolas" panose="020B0609020204030204" pitchFamily="49" charset="0"/>
              </a:rPr>
              <a:t>2</a:t>
            </a:r>
            <a:r>
              <a:rPr lang="en-US" b="1" dirty="0">
                <a:latin typeface="Consolas" panose="020B0609020204030204" pitchFamily="49" charset="0"/>
                <a:cs typeface="Consolas" panose="020B0609020204030204" pitchFamily="49" charset="0"/>
              </a:rPr>
              <a:t>;</a:t>
            </a:r>
          </a:p>
          <a:p>
            <a:pPr marL="522923"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me = (</a:t>
            </a:r>
            <a:r>
              <a:rPr lang="en-US" b="1" dirty="0">
                <a:solidFill>
                  <a:schemeClr val="accent6">
                    <a:lumMod val="75000"/>
                  </a:schemeClr>
                </a:solidFill>
                <a:latin typeface="Consolas" panose="020B0609020204030204" pitchFamily="49" charset="0"/>
                <a:cs typeface="Consolas" panose="020B0609020204030204" pitchFamily="49" charset="0"/>
              </a:rPr>
              <a:t>"Billingsley"</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"Jarrett"</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35</a:t>
            </a:r>
            <a:r>
              <a:rPr lang="en-US" b="1" dirty="0">
                <a:latin typeface="Consolas" panose="020B0609020204030204" pitchFamily="49" charset="0"/>
                <a:cs typeface="Consolas" panose="020B0609020204030204" pitchFamily="49" charset="0"/>
              </a:rPr>
              <a:t>);</a:t>
            </a:r>
          </a:p>
          <a:p>
            <a:pPr marL="522923" lvl="2" indent="0">
              <a:buNone/>
            </a:pPr>
            <a:r>
              <a:rPr lang="en-US" b="1" dirty="0">
                <a:latin typeface="Consolas" panose="020B0609020204030204" pitchFamily="49" charset="0"/>
                <a:cs typeface="Consolas" panose="020B0609020204030204" pitchFamily="49" charset="0"/>
              </a:rPr>
              <a:t>me[AGE] = </a:t>
            </a:r>
            <a:r>
              <a:rPr lang="en-US" b="1" dirty="0">
                <a:solidFill>
                  <a:schemeClr val="accent3">
                    <a:lumMod val="75000"/>
                  </a:schemeClr>
                </a:solidFill>
                <a:latin typeface="Consolas" panose="020B0609020204030204" pitchFamily="49" charset="0"/>
                <a:cs typeface="Consolas" panose="020B0609020204030204" pitchFamily="49" charset="0"/>
              </a:rPr>
              <a:t>36</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next year..</a:t>
            </a:r>
          </a:p>
          <a:p>
            <a:r>
              <a:rPr lang="en-US" sz="4000" dirty="0"/>
              <a:t>🤔</a:t>
            </a:r>
          </a:p>
        </p:txBody>
      </p:sp>
      <p:sp>
        <p:nvSpPr>
          <p:cNvPr id="4" name="Slide Number Placeholder 3">
            <a:extLst>
              <a:ext uri="{FF2B5EF4-FFF2-40B4-BE49-F238E27FC236}">
                <a16:creationId xmlns:a16="http://schemas.microsoft.com/office/drawing/2014/main" id="{ADF78BCF-03EE-0741-94BB-552F05A60D44}"/>
              </a:ext>
            </a:extLst>
          </p:cNvPr>
          <p:cNvSpPr>
            <a:spLocks noGrp="1"/>
          </p:cNvSpPr>
          <p:nvPr>
            <p:ph type="sldNum" sz="quarter" idx="12"/>
          </p:nvPr>
        </p:nvSpPr>
        <p:spPr/>
        <p:txBody>
          <a:bodyPr/>
          <a:lstStyle/>
          <a:p>
            <a:fld id="{3552B95B-556F-44BD-91A5-D80C1B9E2BB3}" type="slidenum">
              <a:rPr lang="en-US" smtClean="0"/>
              <a:pPr/>
              <a:t>6</a:t>
            </a:fld>
            <a:endParaRPr lang="en-US"/>
          </a:p>
        </p:txBody>
      </p:sp>
    </p:spTree>
    <p:extLst>
      <p:ext uri="{BB962C8B-B14F-4D97-AF65-F5344CB8AC3E}">
        <p14:creationId xmlns:p14="http://schemas.microsoft.com/office/powerpoint/2010/main" val="357980655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4830-ADD1-F74F-B745-570F4861E845}"/>
              </a:ext>
            </a:extLst>
          </p:cNvPr>
          <p:cNvSpPr>
            <a:spLocks noGrp="1"/>
          </p:cNvSpPr>
          <p:nvPr>
            <p:ph type="title"/>
          </p:nvPr>
        </p:nvSpPr>
        <p:spPr/>
        <p:txBody>
          <a:bodyPr/>
          <a:lstStyle/>
          <a:p>
            <a:r>
              <a:rPr lang="en-US" dirty="0"/>
              <a:t>…yeah okay that's basically a struct isn't it</a:t>
            </a:r>
          </a:p>
        </p:txBody>
      </p:sp>
      <p:sp>
        <p:nvSpPr>
          <p:cNvPr id="3" name="Content Placeholder 2">
            <a:extLst>
              <a:ext uri="{FF2B5EF4-FFF2-40B4-BE49-F238E27FC236}">
                <a16:creationId xmlns:a16="http://schemas.microsoft.com/office/drawing/2014/main" id="{3BF55A65-CCDC-5041-85EE-65BAD0E83625}"/>
              </a:ext>
            </a:extLst>
          </p:cNvPr>
          <p:cNvSpPr>
            <a:spLocks noGrp="1"/>
          </p:cNvSpPr>
          <p:nvPr>
            <p:ph idx="1"/>
          </p:nvPr>
        </p:nvSpPr>
        <p:spPr>
          <a:xfrm>
            <a:off x="152400" y="495301"/>
            <a:ext cx="8991600" cy="1523999"/>
          </a:xfrm>
        </p:spPr>
        <p:txBody>
          <a:bodyPr/>
          <a:lstStyle/>
          <a:p>
            <a:r>
              <a:rPr lang="en-US" dirty="0"/>
              <a:t>a </a:t>
            </a:r>
            <a:r>
              <a:rPr lang="en-US" b="1" dirty="0"/>
              <a:t>struct</a:t>
            </a:r>
            <a:r>
              <a:rPr lang="en-US" dirty="0"/>
              <a:t> or </a:t>
            </a:r>
            <a:r>
              <a:rPr lang="en-US" b="1" dirty="0"/>
              <a:t>record type </a:t>
            </a:r>
            <a:r>
              <a:rPr lang="en-US" dirty="0"/>
              <a:t>is like a class that </a:t>
            </a:r>
            <a:r>
              <a:rPr lang="en-US" i="1" dirty="0"/>
              <a:t>only </a:t>
            </a:r>
            <a:r>
              <a:rPr lang="en-US" dirty="0"/>
              <a:t>has data.</a:t>
            </a:r>
          </a:p>
          <a:p>
            <a:r>
              <a:rPr lang="en-US" dirty="0"/>
              <a:t>tuples and structs are almost the same thing, except…</a:t>
            </a:r>
          </a:p>
          <a:p>
            <a:pPr lvl="1"/>
            <a:r>
              <a:rPr lang="en-US" dirty="0"/>
              <a:t>tuples' fields are </a:t>
            </a:r>
            <a:r>
              <a:rPr lang="en-US" b="1" dirty="0"/>
              <a:t>anonymous </a:t>
            </a:r>
            <a:r>
              <a:rPr lang="en-US" dirty="0"/>
              <a:t>while structs' fields are </a:t>
            </a:r>
            <a:r>
              <a:rPr lang="en-US" b="1" dirty="0"/>
              <a:t>named.</a:t>
            </a:r>
          </a:p>
          <a:p>
            <a:r>
              <a:rPr lang="en-US" dirty="0"/>
              <a:t>it's probably pretty obvious now how structs work:</a:t>
            </a:r>
          </a:p>
        </p:txBody>
      </p:sp>
      <p:sp>
        <p:nvSpPr>
          <p:cNvPr id="4" name="Slide Number Placeholder 3">
            <a:extLst>
              <a:ext uri="{FF2B5EF4-FFF2-40B4-BE49-F238E27FC236}">
                <a16:creationId xmlns:a16="http://schemas.microsoft.com/office/drawing/2014/main" id="{9644828D-DE04-8F41-AA7F-35B9AD4DEB07}"/>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Rectangle 4">
            <a:extLst>
              <a:ext uri="{FF2B5EF4-FFF2-40B4-BE49-F238E27FC236}">
                <a16:creationId xmlns:a16="http://schemas.microsoft.com/office/drawing/2014/main" id="{B5E04665-2E10-B142-BA49-CE5A3099B1DB}"/>
              </a:ext>
            </a:extLst>
          </p:cNvPr>
          <p:cNvSpPr/>
          <p:nvPr/>
        </p:nvSpPr>
        <p:spPr>
          <a:xfrm>
            <a:off x="361950" y="2019300"/>
            <a:ext cx="3505200" cy="1200329"/>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struct</a:t>
            </a:r>
            <a:r>
              <a:rPr lang="en-US" sz="2400" b="1" dirty="0">
                <a:latin typeface="Consolas" panose="020B0609020204030204" pitchFamily="49" charset="0"/>
                <a:cs typeface="Consolas" panose="020B0609020204030204" pitchFamily="49" charset="0"/>
              </a:rPr>
              <a:t> Point {</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  x: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a:t>
            </a:r>
            <a:r>
              <a:rPr lang="en-US" sz="2400" b="1" dirty="0" err="1">
                <a:solidFill>
                  <a:srgbClr val="FF0000"/>
                </a:solidFill>
                <a:latin typeface="Consolas" panose="020B0609020204030204" pitchFamily="49" charset="0"/>
                <a:cs typeface="Consolas" panose="020B0609020204030204" pitchFamily="49" charset="0"/>
              </a:rPr>
              <a:t>int</a:t>
            </a:r>
            <a:endParaRPr lang="en-US" sz="2400" b="1" dirty="0">
              <a:latin typeface="Consolas" panose="020B0609020204030204" pitchFamily="49" charset="0"/>
              <a:cs typeface="Consolas" panose="020B0609020204030204" pitchFamily="49" charset="0"/>
            </a:endParaRPr>
          </a:p>
          <a:p>
            <a:r>
              <a:rPr lang="en-US" sz="2400" b="1"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F99D12CB-833B-084E-B0E4-596C0FE45E18}"/>
              </a:ext>
            </a:extLst>
          </p:cNvPr>
          <p:cNvSpPr/>
          <p:nvPr/>
        </p:nvSpPr>
        <p:spPr>
          <a:xfrm>
            <a:off x="5454087" y="2388632"/>
            <a:ext cx="1905000" cy="461665"/>
          </a:xfrm>
          <a:prstGeom prst="rect">
            <a:avLst/>
          </a:prstGeom>
        </p:spPr>
        <p:txBody>
          <a:bodyPr wrap="square">
            <a:spAutoFit/>
          </a:bodyPr>
          <a:lstStyle/>
          <a:p>
            <a:r>
              <a:rPr lang="en-US" sz="2400" b="1" dirty="0">
                <a:latin typeface="Consolas" panose="020B0609020204030204" pitchFamily="49" charset="0"/>
                <a:cs typeface="Consolas" panose="020B0609020204030204" pitchFamily="49" charset="0"/>
              </a:rPr>
              <a:t>(</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295B21D2-8588-7145-9B9D-3F7BBF2829C1}"/>
              </a:ext>
            </a:extLst>
          </p:cNvPr>
          <p:cNvSpPr txBox="1"/>
          <p:nvPr/>
        </p:nvSpPr>
        <p:spPr>
          <a:xfrm>
            <a:off x="4572000" y="2099370"/>
            <a:ext cx="729687" cy="1015663"/>
          </a:xfrm>
          <a:prstGeom prst="rect">
            <a:avLst/>
          </a:prstGeom>
          <a:noFill/>
        </p:spPr>
        <p:txBody>
          <a:bodyPr wrap="none" rtlCol="0">
            <a:spAutoFit/>
          </a:bodyPr>
          <a:lstStyle/>
          <a:p>
            <a:r>
              <a:rPr lang="en-US" sz="6000" b="1" dirty="0">
                <a:solidFill>
                  <a:srgbClr val="0070C0"/>
                </a:solidFill>
              </a:rPr>
              <a:t>≈</a:t>
            </a:r>
          </a:p>
        </p:txBody>
      </p:sp>
      <p:sp>
        <p:nvSpPr>
          <p:cNvPr id="9" name="Rectangle 8">
            <a:extLst>
              <a:ext uri="{FF2B5EF4-FFF2-40B4-BE49-F238E27FC236}">
                <a16:creationId xmlns:a16="http://schemas.microsoft.com/office/drawing/2014/main" id="{4DD98A61-2705-6248-ADC6-770F372605D3}"/>
              </a:ext>
            </a:extLst>
          </p:cNvPr>
          <p:cNvSpPr/>
          <p:nvPr/>
        </p:nvSpPr>
        <p:spPr>
          <a:xfrm>
            <a:off x="361949" y="3197840"/>
            <a:ext cx="4547163" cy="461665"/>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p = </a:t>
            </a:r>
            <a:r>
              <a:rPr lang="en-US" sz="2400" b="1" dirty="0">
                <a:solidFill>
                  <a:srgbClr val="FF0000"/>
                </a:solidFill>
                <a:latin typeface="Consolas" panose="020B0609020204030204" pitchFamily="49" charset="0"/>
                <a:cs typeface="Consolas" panose="020B0609020204030204" pitchFamily="49" charset="0"/>
              </a:rPr>
              <a:t>new</a:t>
            </a:r>
            <a:r>
              <a:rPr lang="en-US" sz="2400" b="1" dirty="0">
                <a:latin typeface="Consolas" panose="020B0609020204030204" pitchFamily="49" charset="0"/>
                <a:cs typeface="Consolas" panose="020B0609020204030204" pitchFamily="49" charset="0"/>
              </a:rPr>
              <a:t> Point(</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8</a:t>
            </a:r>
            <a:r>
              <a:rPr lang="en-US" sz="2400" b="1" dirty="0">
                <a:latin typeface="Consolas" panose="020B0609020204030204" pitchFamily="49" charset="0"/>
                <a:cs typeface="Consolas" panose="020B0609020204030204" pitchFamily="49" charset="0"/>
              </a:rPr>
              <a:t>);</a:t>
            </a:r>
          </a:p>
        </p:txBody>
      </p:sp>
      <p:sp>
        <p:nvSpPr>
          <p:cNvPr id="10" name="Rectangle 9">
            <a:extLst>
              <a:ext uri="{FF2B5EF4-FFF2-40B4-BE49-F238E27FC236}">
                <a16:creationId xmlns:a16="http://schemas.microsoft.com/office/drawing/2014/main" id="{A86C51C4-063D-4F4C-A159-7E7D258A332E}"/>
              </a:ext>
            </a:extLst>
          </p:cNvPr>
          <p:cNvSpPr/>
          <p:nvPr/>
        </p:nvSpPr>
        <p:spPr>
          <a:xfrm>
            <a:off x="361950" y="3848280"/>
            <a:ext cx="3733800" cy="461665"/>
          </a:xfrm>
          <a:prstGeom prst="rect">
            <a:avLst/>
          </a:prstGeom>
        </p:spPr>
        <p:txBody>
          <a:bodyPr wrap="square">
            <a:spAutoFit/>
          </a:bodyPr>
          <a:lstStyle/>
          <a:p>
            <a:r>
              <a:rPr lang="en-US" sz="2400" b="1" dirty="0" err="1">
                <a:latin typeface="Consolas" panose="020B0609020204030204" pitchFamily="49" charset="0"/>
                <a:cs typeface="Consolas" panose="020B0609020204030204" pitchFamily="49" charset="0"/>
              </a:rPr>
              <a:t>p.x</a:t>
            </a:r>
            <a:r>
              <a:rPr lang="en-US" sz="2400" b="1" dirty="0">
                <a:latin typeface="Consolas" panose="020B0609020204030204" pitchFamily="49" charset="0"/>
                <a:cs typeface="Consolas" panose="020B0609020204030204" pitchFamily="49" charset="0"/>
              </a:rPr>
              <a:t> = </a:t>
            </a:r>
            <a:r>
              <a:rPr lang="en-US" sz="2400" b="1" dirty="0" err="1">
                <a:latin typeface="Consolas" panose="020B0609020204030204" pitchFamily="49" charset="0"/>
                <a:cs typeface="Consolas" panose="020B0609020204030204" pitchFamily="49" charset="0"/>
              </a:rPr>
              <a:t>p.x</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p:txBody>
      </p:sp>
      <p:sp>
        <p:nvSpPr>
          <p:cNvPr id="11" name="Rectangle 10">
            <a:extLst>
              <a:ext uri="{FF2B5EF4-FFF2-40B4-BE49-F238E27FC236}">
                <a16:creationId xmlns:a16="http://schemas.microsoft.com/office/drawing/2014/main" id="{B04A92CE-81A5-1948-B462-FF1A64ED8F22}"/>
              </a:ext>
            </a:extLst>
          </p:cNvPr>
          <p:cNvSpPr/>
          <p:nvPr/>
        </p:nvSpPr>
        <p:spPr>
          <a:xfrm>
            <a:off x="5454087" y="3197840"/>
            <a:ext cx="2819400" cy="461665"/>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p =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8</a:t>
            </a:r>
            <a:r>
              <a:rPr lang="en-US" sz="24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E2540B4C-D04A-3E49-8231-1575715F02A3}"/>
              </a:ext>
            </a:extLst>
          </p:cNvPr>
          <p:cNvSpPr txBox="1"/>
          <p:nvPr/>
        </p:nvSpPr>
        <p:spPr>
          <a:xfrm>
            <a:off x="4572000" y="2908578"/>
            <a:ext cx="729687" cy="1015663"/>
          </a:xfrm>
          <a:prstGeom prst="rect">
            <a:avLst/>
          </a:prstGeom>
          <a:noFill/>
        </p:spPr>
        <p:txBody>
          <a:bodyPr wrap="none" rtlCol="0">
            <a:spAutoFit/>
          </a:bodyPr>
          <a:lstStyle/>
          <a:p>
            <a:r>
              <a:rPr lang="en-US" sz="6000" b="1" dirty="0">
                <a:solidFill>
                  <a:srgbClr val="0070C0"/>
                </a:solidFill>
              </a:rPr>
              <a:t>≈</a:t>
            </a:r>
          </a:p>
        </p:txBody>
      </p:sp>
      <p:sp>
        <p:nvSpPr>
          <p:cNvPr id="13" name="Rectangle 12">
            <a:extLst>
              <a:ext uri="{FF2B5EF4-FFF2-40B4-BE49-F238E27FC236}">
                <a16:creationId xmlns:a16="http://schemas.microsoft.com/office/drawing/2014/main" id="{6F1E02F6-C31C-3F47-8191-131BE254A6FB}"/>
              </a:ext>
            </a:extLst>
          </p:cNvPr>
          <p:cNvSpPr/>
          <p:nvPr/>
        </p:nvSpPr>
        <p:spPr>
          <a:xfrm>
            <a:off x="5454087" y="3798004"/>
            <a:ext cx="3733800" cy="461665"/>
          </a:xfrm>
          <a:prstGeom prst="rect">
            <a:avLst/>
          </a:prstGeom>
        </p:spPr>
        <p:txBody>
          <a:bodyPr wrap="square">
            <a:spAutoFit/>
          </a:bodyPr>
          <a:lstStyle/>
          <a:p>
            <a:r>
              <a:rPr lang="en-US" sz="2400" b="1" dirty="0">
                <a:latin typeface="Consolas" panose="020B0609020204030204" pitchFamily="49" charset="0"/>
                <a:cs typeface="Consolas" panose="020B0609020204030204" pitchFamily="49" charset="0"/>
              </a:rPr>
              <a:t>p[</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 = p[</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p:txBody>
      </p:sp>
      <p:sp>
        <p:nvSpPr>
          <p:cNvPr id="14" name="TextBox 13">
            <a:extLst>
              <a:ext uri="{FF2B5EF4-FFF2-40B4-BE49-F238E27FC236}">
                <a16:creationId xmlns:a16="http://schemas.microsoft.com/office/drawing/2014/main" id="{37DF18AD-5A8B-DE49-B345-667DD6C0698E}"/>
              </a:ext>
            </a:extLst>
          </p:cNvPr>
          <p:cNvSpPr txBox="1"/>
          <p:nvPr/>
        </p:nvSpPr>
        <p:spPr>
          <a:xfrm>
            <a:off x="4572000" y="3526275"/>
            <a:ext cx="729687" cy="1015663"/>
          </a:xfrm>
          <a:prstGeom prst="rect">
            <a:avLst/>
          </a:prstGeom>
          <a:noFill/>
        </p:spPr>
        <p:txBody>
          <a:bodyPr wrap="none" rtlCol="0">
            <a:spAutoFit/>
          </a:bodyPr>
          <a:lstStyle/>
          <a:p>
            <a:r>
              <a:rPr lang="en-US" sz="6000" b="1" dirty="0">
                <a:solidFill>
                  <a:srgbClr val="0070C0"/>
                </a:solidFill>
              </a:rPr>
              <a:t>≈</a:t>
            </a:r>
          </a:p>
        </p:txBody>
      </p:sp>
    </p:spTree>
    <p:extLst>
      <p:ext uri="{BB962C8B-B14F-4D97-AF65-F5344CB8AC3E}">
        <p14:creationId xmlns:p14="http://schemas.microsoft.com/office/powerpoint/2010/main" val="27256472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ECFB-F55F-EF4B-8131-5AE20E9BE22E}"/>
              </a:ext>
            </a:extLst>
          </p:cNvPr>
          <p:cNvSpPr>
            <a:spLocks noGrp="1"/>
          </p:cNvSpPr>
          <p:nvPr>
            <p:ph type="title"/>
          </p:nvPr>
        </p:nvSpPr>
        <p:spPr/>
        <p:txBody>
          <a:bodyPr/>
          <a:lstStyle/>
          <a:p>
            <a:r>
              <a:rPr lang="en-US" dirty="0"/>
              <a:t>One important difference</a:t>
            </a:r>
          </a:p>
        </p:txBody>
      </p:sp>
      <p:sp>
        <p:nvSpPr>
          <p:cNvPr id="3" name="Content Placeholder 2">
            <a:extLst>
              <a:ext uri="{FF2B5EF4-FFF2-40B4-BE49-F238E27FC236}">
                <a16:creationId xmlns:a16="http://schemas.microsoft.com/office/drawing/2014/main" id="{BDD714C0-FD98-E942-B57D-99904CF7979F}"/>
              </a:ext>
            </a:extLst>
          </p:cNvPr>
          <p:cNvSpPr>
            <a:spLocks noGrp="1"/>
          </p:cNvSpPr>
          <p:nvPr>
            <p:ph idx="1"/>
          </p:nvPr>
        </p:nvSpPr>
        <p:spPr>
          <a:xfrm>
            <a:off x="152400" y="495301"/>
            <a:ext cx="8991600" cy="1142999"/>
          </a:xfrm>
        </p:spPr>
        <p:txBody>
          <a:bodyPr/>
          <a:lstStyle/>
          <a:p>
            <a:r>
              <a:rPr lang="en-US" dirty="0"/>
              <a:t>in most languages that have both structs and tuples:</a:t>
            </a:r>
          </a:p>
          <a:p>
            <a:pPr lvl="1"/>
            <a:r>
              <a:rPr lang="en-US" dirty="0"/>
              <a:t>tuples have </a:t>
            </a:r>
            <a:r>
              <a:rPr lang="en-US" b="1" dirty="0"/>
              <a:t>structural identity, </a:t>
            </a:r>
            <a:r>
              <a:rPr lang="en-US" dirty="0"/>
              <a:t>but</a:t>
            </a:r>
            <a:r>
              <a:rPr lang="en-US" b="1" dirty="0"/>
              <a:t> </a:t>
            </a:r>
            <a:r>
              <a:rPr lang="en-US" dirty="0"/>
              <a:t>structs have </a:t>
            </a:r>
            <a:r>
              <a:rPr lang="en-US" b="1" dirty="0"/>
              <a:t>nominal identity</a:t>
            </a:r>
          </a:p>
          <a:p>
            <a:r>
              <a:rPr lang="en-US" dirty="0"/>
              <a:t>what </a:t>
            </a:r>
            <a:r>
              <a:rPr lang="en-US" i="1" dirty="0"/>
              <a:t>that</a:t>
            </a:r>
            <a:r>
              <a:rPr lang="en-US" dirty="0"/>
              <a:t> means is:</a:t>
            </a:r>
          </a:p>
        </p:txBody>
      </p:sp>
      <p:sp>
        <p:nvSpPr>
          <p:cNvPr id="4" name="Slide Number Placeholder 3">
            <a:extLst>
              <a:ext uri="{FF2B5EF4-FFF2-40B4-BE49-F238E27FC236}">
                <a16:creationId xmlns:a16="http://schemas.microsoft.com/office/drawing/2014/main" id="{B2E089FC-63F7-DF42-8429-6D06FBF4728C}"/>
              </a:ext>
            </a:extLst>
          </p:cNvPr>
          <p:cNvSpPr>
            <a:spLocks noGrp="1"/>
          </p:cNvSpPr>
          <p:nvPr>
            <p:ph type="sldNum" sz="quarter" idx="12"/>
          </p:nvPr>
        </p:nvSpPr>
        <p:spPr/>
        <p:txBody>
          <a:bodyPr/>
          <a:lstStyle/>
          <a:p>
            <a:fld id="{3552B95B-556F-44BD-91A5-D80C1B9E2BB3}" type="slidenum">
              <a:rPr lang="en-US" smtClean="0"/>
              <a:pPr/>
              <a:t>8</a:t>
            </a:fld>
            <a:endParaRPr lang="en-US"/>
          </a:p>
        </p:txBody>
      </p:sp>
      <p:sp>
        <p:nvSpPr>
          <p:cNvPr id="5" name="Rectangle 4">
            <a:extLst>
              <a:ext uri="{FF2B5EF4-FFF2-40B4-BE49-F238E27FC236}">
                <a16:creationId xmlns:a16="http://schemas.microsoft.com/office/drawing/2014/main" id="{E399F68F-B9DE-5142-B7E0-43D2DCA8CC14}"/>
              </a:ext>
            </a:extLst>
          </p:cNvPr>
          <p:cNvSpPr/>
          <p:nvPr/>
        </p:nvSpPr>
        <p:spPr>
          <a:xfrm>
            <a:off x="4114800" y="1466932"/>
            <a:ext cx="4514850" cy="1200329"/>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struct</a:t>
            </a:r>
            <a:r>
              <a:rPr lang="en-US" sz="2400" b="1" dirty="0">
                <a:latin typeface="Consolas" panose="020B0609020204030204" pitchFamily="49" charset="0"/>
                <a:cs typeface="Consolas" panose="020B0609020204030204" pitchFamily="49" charset="0"/>
              </a:rPr>
              <a:t> Point3D {</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  x: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z: </a:t>
            </a:r>
            <a:r>
              <a:rPr lang="en-US" sz="2400" b="1" dirty="0">
                <a:solidFill>
                  <a:srgbClr val="FF0000"/>
                </a:solidFill>
                <a:latin typeface="Consolas" panose="020B0609020204030204" pitchFamily="49" charset="0"/>
                <a:cs typeface="Consolas" panose="020B0609020204030204" pitchFamily="49" charset="0"/>
              </a:rPr>
              <a:t>int</a:t>
            </a:r>
          </a:p>
          <a:p>
            <a:r>
              <a:rPr lang="en-US" sz="24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BCD57D9C-7EA0-4142-9F21-E811C0A523D1}"/>
              </a:ext>
            </a:extLst>
          </p:cNvPr>
          <p:cNvSpPr/>
          <p:nvPr/>
        </p:nvSpPr>
        <p:spPr>
          <a:xfrm>
            <a:off x="609600" y="1836264"/>
            <a:ext cx="2800350" cy="461665"/>
          </a:xfrm>
          <a:prstGeom prst="rect">
            <a:avLst/>
          </a:prstGeom>
        </p:spPr>
        <p:txBody>
          <a:bodyPr wrap="square">
            <a:spAutoFit/>
          </a:bodyPr>
          <a:lstStyle/>
          <a:p>
            <a:r>
              <a:rPr lang="en-US" sz="2400" b="1" dirty="0">
                <a:latin typeface="Consolas" panose="020B0609020204030204" pitchFamily="49" charset="0"/>
                <a:cs typeface="Consolas" panose="020B0609020204030204" pitchFamily="49" charset="0"/>
              </a:rPr>
              <a:t>(</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A56AC5CC-8EBB-0E45-80E0-72A131F0A92B}"/>
              </a:ext>
            </a:extLst>
          </p:cNvPr>
          <p:cNvSpPr/>
          <p:nvPr/>
        </p:nvSpPr>
        <p:spPr>
          <a:xfrm>
            <a:off x="4114800" y="3714571"/>
            <a:ext cx="4514850" cy="1200329"/>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struct</a:t>
            </a:r>
            <a:r>
              <a:rPr lang="en-US" sz="2400" b="1" dirty="0">
                <a:latin typeface="Consolas" panose="020B0609020204030204" pitchFamily="49" charset="0"/>
                <a:cs typeface="Consolas" panose="020B0609020204030204" pitchFamily="49" charset="0"/>
              </a:rPr>
              <a:t> Color {</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  r: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g: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b: </a:t>
            </a:r>
            <a:r>
              <a:rPr lang="en-US" sz="2400" b="1" dirty="0">
                <a:solidFill>
                  <a:srgbClr val="FF0000"/>
                </a:solidFill>
                <a:latin typeface="Consolas" panose="020B0609020204030204" pitchFamily="49" charset="0"/>
                <a:cs typeface="Consolas" panose="020B0609020204030204" pitchFamily="49" charset="0"/>
              </a:rPr>
              <a:t>int</a:t>
            </a:r>
          </a:p>
          <a:p>
            <a:r>
              <a:rPr lang="en-US" sz="2400" b="1" dirty="0">
                <a:latin typeface="Consolas" panose="020B0609020204030204" pitchFamily="49" charset="0"/>
                <a:cs typeface="Consolas" panose="020B0609020204030204" pitchFamily="49" charset="0"/>
              </a:rPr>
              <a:t>}</a:t>
            </a:r>
          </a:p>
        </p:txBody>
      </p:sp>
      <p:sp>
        <p:nvSpPr>
          <p:cNvPr id="11" name="Rectangle 10">
            <a:extLst>
              <a:ext uri="{FF2B5EF4-FFF2-40B4-BE49-F238E27FC236}">
                <a16:creationId xmlns:a16="http://schemas.microsoft.com/office/drawing/2014/main" id="{70F45F20-3A01-F742-A542-D4540640E923}"/>
              </a:ext>
            </a:extLst>
          </p:cNvPr>
          <p:cNvSpPr/>
          <p:nvPr/>
        </p:nvSpPr>
        <p:spPr>
          <a:xfrm>
            <a:off x="609600" y="4083902"/>
            <a:ext cx="2800350" cy="461665"/>
          </a:xfrm>
          <a:prstGeom prst="rect">
            <a:avLst/>
          </a:prstGeom>
        </p:spPr>
        <p:txBody>
          <a:bodyPr wrap="square">
            <a:spAutoFit/>
          </a:bodyPr>
          <a:lstStyle/>
          <a:p>
            <a:r>
              <a:rPr lang="en-US" sz="2400" b="1" dirty="0">
                <a:latin typeface="Consolas" panose="020B0609020204030204" pitchFamily="49" charset="0"/>
                <a:cs typeface="Consolas" panose="020B0609020204030204" pitchFamily="49" charset="0"/>
              </a:rPr>
              <a:t>(</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a:t>
            </a:r>
          </a:p>
        </p:txBody>
      </p:sp>
      <p:grpSp>
        <p:nvGrpSpPr>
          <p:cNvPr id="19" name="Group 18">
            <a:extLst>
              <a:ext uri="{FF2B5EF4-FFF2-40B4-BE49-F238E27FC236}">
                <a16:creationId xmlns:a16="http://schemas.microsoft.com/office/drawing/2014/main" id="{5CE62337-9A78-F945-83B5-D1CA4514036E}"/>
              </a:ext>
            </a:extLst>
          </p:cNvPr>
          <p:cNvGrpSpPr/>
          <p:nvPr/>
        </p:nvGrpSpPr>
        <p:grpSpPr>
          <a:xfrm>
            <a:off x="609600" y="2495371"/>
            <a:ext cx="2800350" cy="1227328"/>
            <a:chOff x="5429250" y="2705100"/>
            <a:chExt cx="2800350" cy="1227328"/>
          </a:xfrm>
        </p:grpSpPr>
        <p:sp>
          <p:nvSpPr>
            <p:cNvPr id="12" name="TextBox 11">
              <a:extLst>
                <a:ext uri="{FF2B5EF4-FFF2-40B4-BE49-F238E27FC236}">
                  <a16:creationId xmlns:a16="http://schemas.microsoft.com/office/drawing/2014/main" id="{EDF0BA66-8A1E-2747-A95B-50BD5EDF561E}"/>
                </a:ext>
              </a:extLst>
            </p:cNvPr>
            <p:cNvSpPr txBox="1"/>
            <p:nvPr/>
          </p:nvSpPr>
          <p:spPr>
            <a:xfrm>
              <a:off x="5429250" y="3029134"/>
              <a:ext cx="2800350" cy="523220"/>
            </a:xfrm>
            <a:prstGeom prst="rect">
              <a:avLst/>
            </a:prstGeom>
            <a:noFill/>
          </p:spPr>
          <p:txBody>
            <a:bodyPr wrap="square" rtlCol="0">
              <a:spAutoFit/>
            </a:bodyPr>
            <a:lstStyle/>
            <a:p>
              <a:pPr algn="ctr"/>
              <a:r>
                <a:rPr lang="en-US" sz="2800" b="1" dirty="0"/>
                <a:t>same type!</a:t>
              </a:r>
            </a:p>
          </p:txBody>
        </p:sp>
        <p:sp>
          <p:nvSpPr>
            <p:cNvPr id="15" name="Up Arrow 14">
              <a:extLst>
                <a:ext uri="{FF2B5EF4-FFF2-40B4-BE49-F238E27FC236}">
                  <a16:creationId xmlns:a16="http://schemas.microsoft.com/office/drawing/2014/main" id="{D522913B-F508-8648-B746-0F55C0DFF014}"/>
                </a:ext>
              </a:extLst>
            </p:cNvPr>
            <p:cNvSpPr/>
            <p:nvPr/>
          </p:nvSpPr>
          <p:spPr>
            <a:xfrm>
              <a:off x="6638925" y="2705100"/>
              <a:ext cx="381000" cy="32403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 Arrow 15">
              <a:extLst>
                <a:ext uri="{FF2B5EF4-FFF2-40B4-BE49-F238E27FC236}">
                  <a16:creationId xmlns:a16="http://schemas.microsoft.com/office/drawing/2014/main" id="{2AC84152-C68A-6F4C-B70E-0DA562DD7A89}"/>
                </a:ext>
              </a:extLst>
            </p:cNvPr>
            <p:cNvSpPr/>
            <p:nvPr/>
          </p:nvSpPr>
          <p:spPr>
            <a:xfrm rot="10800000">
              <a:off x="6638926" y="3608394"/>
              <a:ext cx="381000" cy="32403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56943762-E731-8540-85B1-907ED356ABD6}"/>
              </a:ext>
            </a:extLst>
          </p:cNvPr>
          <p:cNvGrpSpPr/>
          <p:nvPr/>
        </p:nvGrpSpPr>
        <p:grpSpPr>
          <a:xfrm>
            <a:off x="4800600" y="2495371"/>
            <a:ext cx="2800350" cy="1227328"/>
            <a:chOff x="1066800" y="2705100"/>
            <a:chExt cx="2800350" cy="1227328"/>
          </a:xfrm>
        </p:grpSpPr>
        <p:sp>
          <p:nvSpPr>
            <p:cNvPr id="14" name="TextBox 13">
              <a:extLst>
                <a:ext uri="{FF2B5EF4-FFF2-40B4-BE49-F238E27FC236}">
                  <a16:creationId xmlns:a16="http://schemas.microsoft.com/office/drawing/2014/main" id="{A0335B0B-AC75-B74B-82D7-E999458EA9EF}"/>
                </a:ext>
              </a:extLst>
            </p:cNvPr>
            <p:cNvSpPr txBox="1"/>
            <p:nvPr/>
          </p:nvSpPr>
          <p:spPr>
            <a:xfrm>
              <a:off x="1066800" y="3029134"/>
              <a:ext cx="2800350" cy="523220"/>
            </a:xfrm>
            <a:prstGeom prst="rect">
              <a:avLst/>
            </a:prstGeom>
            <a:noFill/>
          </p:spPr>
          <p:txBody>
            <a:bodyPr wrap="square" rtlCol="0">
              <a:spAutoFit/>
            </a:bodyPr>
            <a:lstStyle/>
            <a:p>
              <a:pPr algn="ctr"/>
              <a:r>
                <a:rPr lang="en-US" sz="2800" b="1" i="1" dirty="0"/>
                <a:t>different </a:t>
              </a:r>
              <a:r>
                <a:rPr lang="en-US" sz="2800" b="1" dirty="0"/>
                <a:t>types!</a:t>
              </a:r>
            </a:p>
          </p:txBody>
        </p:sp>
        <p:sp>
          <p:nvSpPr>
            <p:cNvPr id="17" name="Up Arrow 16">
              <a:extLst>
                <a:ext uri="{FF2B5EF4-FFF2-40B4-BE49-F238E27FC236}">
                  <a16:creationId xmlns:a16="http://schemas.microsoft.com/office/drawing/2014/main" id="{9F8AE048-CF76-7A44-AB18-B99F75D266BE}"/>
                </a:ext>
              </a:extLst>
            </p:cNvPr>
            <p:cNvSpPr/>
            <p:nvPr/>
          </p:nvSpPr>
          <p:spPr>
            <a:xfrm>
              <a:off x="2276475" y="2705100"/>
              <a:ext cx="381000" cy="32403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p Arrow 17">
              <a:extLst>
                <a:ext uri="{FF2B5EF4-FFF2-40B4-BE49-F238E27FC236}">
                  <a16:creationId xmlns:a16="http://schemas.microsoft.com/office/drawing/2014/main" id="{C3E5E091-753C-1440-894F-46C130C991D2}"/>
                </a:ext>
              </a:extLst>
            </p:cNvPr>
            <p:cNvSpPr/>
            <p:nvPr/>
          </p:nvSpPr>
          <p:spPr>
            <a:xfrm rot="10800000">
              <a:off x="2276476" y="3608394"/>
              <a:ext cx="381000" cy="32403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CB15A227-7EEA-2B4E-B199-6F019B6E3CCB}"/>
              </a:ext>
            </a:extLst>
          </p:cNvPr>
          <p:cNvSpPr txBox="1"/>
          <p:nvPr/>
        </p:nvSpPr>
        <p:spPr>
          <a:xfrm>
            <a:off x="3427975" y="1489770"/>
            <a:ext cx="729687" cy="1015663"/>
          </a:xfrm>
          <a:prstGeom prst="rect">
            <a:avLst/>
          </a:prstGeom>
          <a:noFill/>
        </p:spPr>
        <p:txBody>
          <a:bodyPr wrap="none" rtlCol="0">
            <a:spAutoFit/>
          </a:bodyPr>
          <a:lstStyle/>
          <a:p>
            <a:r>
              <a:rPr lang="en-US" sz="6000" b="1" dirty="0">
                <a:solidFill>
                  <a:srgbClr val="0070C0"/>
                </a:solidFill>
              </a:rPr>
              <a:t>≈</a:t>
            </a:r>
          </a:p>
        </p:txBody>
      </p:sp>
      <p:sp>
        <p:nvSpPr>
          <p:cNvPr id="22" name="TextBox 21">
            <a:extLst>
              <a:ext uri="{FF2B5EF4-FFF2-40B4-BE49-F238E27FC236}">
                <a16:creationId xmlns:a16="http://schemas.microsoft.com/office/drawing/2014/main" id="{8FF4A2FA-05C7-8345-BD07-0FE1B7401361}"/>
              </a:ext>
            </a:extLst>
          </p:cNvPr>
          <p:cNvSpPr txBox="1"/>
          <p:nvPr/>
        </p:nvSpPr>
        <p:spPr>
          <a:xfrm>
            <a:off x="3438525" y="3806902"/>
            <a:ext cx="729687" cy="1015663"/>
          </a:xfrm>
          <a:prstGeom prst="rect">
            <a:avLst/>
          </a:prstGeom>
          <a:noFill/>
        </p:spPr>
        <p:txBody>
          <a:bodyPr wrap="none" rtlCol="0">
            <a:spAutoFit/>
          </a:bodyPr>
          <a:lstStyle/>
          <a:p>
            <a:r>
              <a:rPr lang="en-US" sz="6000" b="1" dirty="0">
                <a:solidFill>
                  <a:srgbClr val="0070C0"/>
                </a:solidFill>
              </a:rPr>
              <a:t>≈</a:t>
            </a:r>
          </a:p>
        </p:txBody>
      </p:sp>
    </p:spTree>
    <p:extLst>
      <p:ext uri="{BB962C8B-B14F-4D97-AF65-F5344CB8AC3E}">
        <p14:creationId xmlns:p14="http://schemas.microsoft.com/office/powerpoint/2010/main" val="2968567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1"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749A2-9685-9F4D-99B2-8EC547A0A872}"/>
              </a:ext>
            </a:extLst>
          </p:cNvPr>
          <p:cNvSpPr>
            <a:spLocks noGrp="1"/>
          </p:cNvSpPr>
          <p:nvPr>
            <p:ph type="title"/>
          </p:nvPr>
        </p:nvSpPr>
        <p:spPr/>
        <p:txBody>
          <a:bodyPr/>
          <a:lstStyle/>
          <a:p>
            <a:r>
              <a:rPr lang="en-US" dirty="0"/>
              <a:t>Value types and reference types</a:t>
            </a:r>
          </a:p>
        </p:txBody>
      </p:sp>
      <p:sp>
        <p:nvSpPr>
          <p:cNvPr id="3" name="Content Placeholder 2">
            <a:extLst>
              <a:ext uri="{FF2B5EF4-FFF2-40B4-BE49-F238E27FC236}">
                <a16:creationId xmlns:a16="http://schemas.microsoft.com/office/drawing/2014/main" id="{FE1DED6A-6C4B-2E48-A90C-58D423AB124E}"/>
              </a:ext>
            </a:extLst>
          </p:cNvPr>
          <p:cNvSpPr>
            <a:spLocks noGrp="1"/>
          </p:cNvSpPr>
          <p:nvPr>
            <p:ph idx="1"/>
          </p:nvPr>
        </p:nvSpPr>
        <p:spPr/>
        <p:txBody>
          <a:bodyPr/>
          <a:lstStyle/>
          <a:p>
            <a:r>
              <a:rPr lang="en-US" i="1" dirty="0"/>
              <a:t>all </a:t>
            </a:r>
            <a:r>
              <a:rPr lang="en-US" dirty="0"/>
              <a:t>variables contain bit patterns.</a:t>
            </a:r>
          </a:p>
          <a:p>
            <a:r>
              <a:rPr lang="en-US" dirty="0"/>
              <a:t>for </a:t>
            </a:r>
            <a:r>
              <a:rPr lang="en-US" b="1" dirty="0"/>
              <a:t>value type </a:t>
            </a:r>
            <a:r>
              <a:rPr lang="en-US" dirty="0"/>
              <a:t>variables,</a:t>
            </a:r>
            <a:r>
              <a:rPr lang="en-US" b="1" dirty="0"/>
              <a:t> </a:t>
            </a:r>
            <a:r>
              <a:rPr lang="en-US" dirty="0"/>
              <a:t>that bit pattern </a:t>
            </a:r>
            <a:r>
              <a:rPr lang="en-US" i="1" dirty="0"/>
              <a:t>is the value.</a:t>
            </a:r>
          </a:p>
          <a:p>
            <a:pPr lvl="1"/>
            <a:r>
              <a:rPr lang="en-US" dirty="0"/>
              <a:t>examples include </a:t>
            </a:r>
            <a:r>
              <a:rPr lang="en-US" b="1" dirty="0">
                <a:solidFill>
                  <a:srgbClr val="FF0000"/>
                </a:solidFill>
                <a:latin typeface="Consolas" panose="020B0609020204030204" pitchFamily="49" charset="0"/>
                <a:cs typeface="Consolas" panose="020B0609020204030204" pitchFamily="49" charset="0"/>
              </a:rPr>
              <a:t>int</a:t>
            </a:r>
            <a:r>
              <a:rPr lang="en-US" dirty="0"/>
              <a:t>, </a:t>
            </a:r>
            <a:r>
              <a:rPr lang="en-US" b="1" dirty="0">
                <a:solidFill>
                  <a:srgbClr val="FF0000"/>
                </a:solidFill>
                <a:latin typeface="Consolas" panose="020B0609020204030204" pitchFamily="49" charset="0"/>
                <a:cs typeface="Consolas" panose="020B0609020204030204" pitchFamily="49" charset="0"/>
              </a:rPr>
              <a:t>float</a:t>
            </a:r>
            <a:r>
              <a:rPr lang="en-US" dirty="0"/>
              <a:t>, </a:t>
            </a:r>
            <a:r>
              <a:rPr lang="en-US" b="1" dirty="0">
                <a:solidFill>
                  <a:srgbClr val="FF0000"/>
                </a:solidFill>
                <a:latin typeface="Consolas" panose="020B0609020204030204" pitchFamily="49" charset="0"/>
                <a:cs typeface="Consolas" panose="020B0609020204030204" pitchFamily="49" charset="0"/>
              </a:rPr>
              <a:t>char</a:t>
            </a:r>
            <a:r>
              <a:rPr lang="en-US" dirty="0"/>
              <a:t>, and </a:t>
            </a:r>
            <a:r>
              <a:rPr lang="en-US" b="1" dirty="0">
                <a:solidFill>
                  <a:srgbClr val="FF0000"/>
                </a:solidFill>
                <a:latin typeface="Consolas" panose="020B0609020204030204" pitchFamily="49" charset="0"/>
                <a:cs typeface="Consolas" panose="020B0609020204030204" pitchFamily="49" charset="0"/>
              </a:rPr>
              <a:t>bool</a:t>
            </a:r>
            <a:r>
              <a:rPr lang="en-US" dirty="0"/>
              <a:t>.</a:t>
            </a:r>
          </a:p>
          <a:p>
            <a:r>
              <a:rPr lang="en-US" dirty="0"/>
              <a:t>for </a:t>
            </a:r>
            <a:r>
              <a:rPr lang="en-US" b="1" dirty="0"/>
              <a:t>reference type</a:t>
            </a:r>
            <a:r>
              <a:rPr lang="en-US" dirty="0"/>
              <a:t> variables, that bit pattern is </a:t>
            </a:r>
            <a:r>
              <a:rPr lang="en-US" i="1" dirty="0"/>
              <a:t>a memory address.</a:t>
            </a:r>
          </a:p>
          <a:p>
            <a:pPr lvl="1"/>
            <a:r>
              <a:rPr lang="en-US" dirty="0"/>
              <a:t>examples include Java arrays and objects.</a:t>
            </a:r>
          </a:p>
          <a:p>
            <a:r>
              <a:rPr lang="en-US" b="1" dirty="0"/>
              <a:t>assigning </a:t>
            </a:r>
            <a:r>
              <a:rPr lang="en-US" dirty="0"/>
              <a:t>from one variable to another </a:t>
            </a:r>
            <a:r>
              <a:rPr lang="en-US" b="1" dirty="0"/>
              <a:t>copies the bit patterns.</a:t>
            </a:r>
          </a:p>
          <a:p>
            <a:r>
              <a:rPr lang="en-US" dirty="0"/>
              <a:t>for </a:t>
            </a:r>
            <a:r>
              <a:rPr lang="en-US" b="1" dirty="0"/>
              <a:t>value types, </a:t>
            </a:r>
            <a:r>
              <a:rPr lang="en-US" dirty="0"/>
              <a:t>that means you </a:t>
            </a:r>
            <a:r>
              <a:rPr lang="en-US" i="1" dirty="0"/>
              <a:t>copy the entire value.</a:t>
            </a:r>
          </a:p>
          <a:p>
            <a:pPr marL="515780" lvl="2" indent="0">
              <a:buNone/>
            </a:pP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x = </a:t>
            </a:r>
            <a:r>
              <a:rPr lang="en-US" b="1" dirty="0">
                <a:solidFill>
                  <a:schemeClr val="accent3">
                    <a:lumMod val="75000"/>
                  </a:schemeClr>
                </a:solidFill>
                <a:latin typeface="Consolas" panose="020B0609020204030204" pitchFamily="49" charset="0"/>
                <a:cs typeface="Consolas" panose="020B0609020204030204" pitchFamily="49" charset="0"/>
              </a:rPr>
              <a:t>5</a:t>
            </a:r>
            <a:r>
              <a:rPr lang="en-US" b="1" dirty="0">
                <a:latin typeface="Consolas" panose="020B0609020204030204" pitchFamily="49" charset="0"/>
                <a:cs typeface="Consolas" panose="020B0609020204030204" pitchFamily="49" charset="0"/>
              </a:rPr>
              <a:t>;</a:t>
            </a:r>
          </a:p>
          <a:p>
            <a:pPr marL="515780" lvl="2" indent="0">
              <a:buNone/>
            </a:pP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y = x; </a:t>
            </a:r>
            <a:r>
              <a:rPr lang="en-US" i="1" dirty="0">
                <a:solidFill>
                  <a:schemeClr val="accent3">
                    <a:lumMod val="50000"/>
                  </a:schemeClr>
                </a:solidFill>
                <a:latin typeface="Consolas" panose="020B0609020204030204" pitchFamily="49" charset="0"/>
                <a:cs typeface="Consolas" panose="020B0609020204030204" pitchFamily="49" charset="0"/>
              </a:rPr>
              <a:t>// now we have two 5s!</a:t>
            </a:r>
          </a:p>
          <a:p>
            <a:r>
              <a:rPr lang="en-US" dirty="0"/>
              <a:t>but for </a:t>
            </a:r>
            <a:r>
              <a:rPr lang="en-US" b="1" dirty="0"/>
              <a:t>reference types, </a:t>
            </a:r>
            <a:r>
              <a:rPr lang="en-US" b="1" dirty="0">
                <a:solidFill>
                  <a:srgbClr val="FF0000"/>
                </a:solidFill>
              </a:rPr>
              <a:t>you only copy </a:t>
            </a:r>
            <a:r>
              <a:rPr lang="en-US" b="1" i="1" dirty="0">
                <a:solidFill>
                  <a:srgbClr val="FF0000"/>
                </a:solidFill>
              </a:rPr>
              <a:t>the address.</a:t>
            </a:r>
          </a:p>
          <a:p>
            <a:pPr marL="515780" lvl="2" indent="0">
              <a:buNone/>
            </a:pPr>
            <a:r>
              <a:rPr lang="en-US" b="1" dirty="0">
                <a:latin typeface="Consolas" panose="020B0609020204030204" pitchFamily="49" charset="0"/>
                <a:cs typeface="Consolas" panose="020B0609020204030204" pitchFamily="49" charset="0"/>
              </a:rPr>
              <a:t>Object x = </a:t>
            </a:r>
            <a:r>
              <a:rPr lang="en-US" b="1" dirty="0">
                <a:solidFill>
                  <a:srgbClr val="FF0000"/>
                </a:solidFill>
                <a:latin typeface="Consolas" panose="020B0609020204030204" pitchFamily="49" charset="0"/>
                <a:cs typeface="Consolas" panose="020B0609020204030204" pitchFamily="49" charset="0"/>
              </a:rPr>
              <a:t>new</a:t>
            </a:r>
            <a:r>
              <a:rPr lang="en-US" b="1" dirty="0">
                <a:latin typeface="Consolas" panose="020B0609020204030204" pitchFamily="49" charset="0"/>
                <a:cs typeface="Consolas" panose="020B0609020204030204" pitchFamily="49" charset="0"/>
              </a:rPr>
              <a:t> Object();</a:t>
            </a:r>
          </a:p>
          <a:p>
            <a:pPr marL="515780" lvl="2" indent="0">
              <a:buNone/>
            </a:pPr>
            <a:r>
              <a:rPr lang="en-US" b="1" dirty="0">
                <a:latin typeface="Consolas" panose="020B0609020204030204" pitchFamily="49" charset="0"/>
                <a:cs typeface="Consolas" panose="020B0609020204030204" pitchFamily="49" charset="0"/>
              </a:rPr>
              <a:t>Object y = x; </a:t>
            </a:r>
            <a:r>
              <a:rPr lang="en-US" i="1" dirty="0">
                <a:solidFill>
                  <a:schemeClr val="accent3">
                    <a:lumMod val="50000"/>
                  </a:schemeClr>
                </a:solidFill>
                <a:latin typeface="Consolas" panose="020B0609020204030204" pitchFamily="49" charset="0"/>
                <a:cs typeface="Consolas" panose="020B0609020204030204" pitchFamily="49" charset="0"/>
              </a:rPr>
              <a:t>// still only one Object...</a:t>
            </a:r>
          </a:p>
        </p:txBody>
      </p:sp>
      <p:sp>
        <p:nvSpPr>
          <p:cNvPr id="4" name="Slide Number Placeholder 3">
            <a:extLst>
              <a:ext uri="{FF2B5EF4-FFF2-40B4-BE49-F238E27FC236}">
                <a16:creationId xmlns:a16="http://schemas.microsoft.com/office/drawing/2014/main" id="{632DFB0E-FFB5-8841-87C0-B232040EA36B}"/>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80181564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566BF-47D3-D146-ACDC-80E68C8D3006}"/>
              </a:ext>
            </a:extLst>
          </p:cNvPr>
          <p:cNvSpPr>
            <a:spLocks noGrp="1"/>
          </p:cNvSpPr>
          <p:nvPr>
            <p:ph type="title"/>
          </p:nvPr>
        </p:nvSpPr>
        <p:spPr/>
        <p:txBody>
          <a:bodyPr/>
          <a:lstStyle/>
          <a:p>
            <a:r>
              <a:rPr lang="en-US" dirty="0"/>
              <a:t>Decision time!</a:t>
            </a:r>
          </a:p>
        </p:txBody>
      </p:sp>
      <p:sp>
        <p:nvSpPr>
          <p:cNvPr id="3" name="Content Placeholder 2">
            <a:extLst>
              <a:ext uri="{FF2B5EF4-FFF2-40B4-BE49-F238E27FC236}">
                <a16:creationId xmlns:a16="http://schemas.microsoft.com/office/drawing/2014/main" id="{1829BBA1-8A58-0849-A338-6BD14C5449DF}"/>
              </a:ext>
            </a:extLst>
          </p:cNvPr>
          <p:cNvSpPr>
            <a:spLocks noGrp="1"/>
          </p:cNvSpPr>
          <p:nvPr>
            <p:ph idx="1"/>
          </p:nvPr>
        </p:nvSpPr>
        <p:spPr/>
        <p:txBody>
          <a:bodyPr/>
          <a:lstStyle/>
          <a:p>
            <a:r>
              <a:rPr lang="en-US" dirty="0"/>
              <a:t>Rust, C, C++, and C# consider structs to be </a:t>
            </a:r>
            <a:r>
              <a:rPr lang="en-US" i="1" dirty="0"/>
              <a:t>value types. </a:t>
            </a:r>
            <a:r>
              <a:rPr lang="en-US" dirty="0"/>
              <a:t>In Rust:</a:t>
            </a:r>
          </a:p>
          <a:p>
            <a:pPr marL="522923"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s = Point { x: </a:t>
            </a:r>
            <a:r>
              <a:rPr lang="en-US" b="1" dirty="0">
                <a:solidFill>
                  <a:schemeClr val="accent3">
                    <a:lumMod val="75000"/>
                  </a:schemeClr>
                </a:solidFill>
                <a:latin typeface="Consolas" panose="020B0609020204030204" pitchFamily="49" charset="0"/>
                <a:cs typeface="Consolas" panose="020B0609020204030204" pitchFamily="49" charset="0"/>
              </a:rPr>
              <a:t>3</a:t>
            </a:r>
            <a:r>
              <a:rPr lang="en-US" b="1" dirty="0">
                <a:latin typeface="Consolas" panose="020B0609020204030204" pitchFamily="49" charset="0"/>
                <a:cs typeface="Consolas" panose="020B0609020204030204" pitchFamily="49" charset="0"/>
              </a:rPr>
              <a:t>, y: </a:t>
            </a:r>
            <a:r>
              <a:rPr lang="en-US" b="1" dirty="0">
                <a:solidFill>
                  <a:schemeClr val="accent3">
                    <a:lumMod val="75000"/>
                  </a:schemeClr>
                </a:solidFill>
                <a:latin typeface="Consolas" panose="020B0609020204030204" pitchFamily="49" charset="0"/>
                <a:cs typeface="Consolas" panose="020B0609020204030204" pitchFamily="49" charset="0"/>
              </a:rPr>
              <a:t>8</a:t>
            </a:r>
            <a:r>
              <a:rPr lang="en-US" b="1" dirty="0">
                <a:latin typeface="Consolas" panose="020B0609020204030204" pitchFamily="49" charset="0"/>
                <a:cs typeface="Consolas" panose="020B0609020204030204" pitchFamily="49" charset="0"/>
              </a:rPr>
              <a:t> };</a:t>
            </a:r>
          </a:p>
          <a:p>
            <a:pPr marL="522923"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t = s; </a:t>
            </a:r>
            <a:r>
              <a:rPr lang="en-US" i="1" dirty="0">
                <a:solidFill>
                  <a:schemeClr val="accent3">
                    <a:lumMod val="50000"/>
                  </a:schemeClr>
                </a:solidFill>
                <a:latin typeface="Consolas" panose="020B0609020204030204" pitchFamily="49" charset="0"/>
                <a:cs typeface="Consolas" panose="020B0609020204030204" pitchFamily="49" charset="0"/>
              </a:rPr>
              <a:t>// now we have two Points, both {3, 8}!</a:t>
            </a:r>
          </a:p>
          <a:p>
            <a:r>
              <a:rPr lang="en-US" dirty="0"/>
              <a:t>in these languages, this is nonsense: </a:t>
            </a:r>
            <a:r>
              <a:rPr lang="en-US" b="1" dirty="0">
                <a:solidFill>
                  <a:srgbClr val="FF0000"/>
                </a:solidFill>
                <a:latin typeface="Consolas" panose="020B0609020204030204" pitchFamily="49" charset="0"/>
                <a:cs typeface="Consolas" panose="020B0609020204030204" pitchFamily="49" charset="0"/>
              </a:rPr>
              <a:t>struct</a:t>
            </a:r>
            <a:r>
              <a:rPr lang="en-US" b="1" dirty="0">
                <a:latin typeface="Consolas" panose="020B0609020204030204" pitchFamily="49" charset="0"/>
                <a:cs typeface="Consolas" panose="020B0609020204030204" pitchFamily="49" charset="0"/>
              </a:rPr>
              <a:t> Node { next: Node }</a:t>
            </a:r>
            <a:endParaRPr lang="en-US" dirty="0"/>
          </a:p>
          <a:p>
            <a:pPr lvl="1"/>
            <a:r>
              <a:rPr lang="en-US" dirty="0"/>
              <a:t>how can something contain itself??</a:t>
            </a:r>
          </a:p>
          <a:p>
            <a:r>
              <a:rPr lang="en-US" dirty="0"/>
              <a:t>Java </a:t>
            </a:r>
            <a:r>
              <a:rPr lang="en-US" b="1" dirty="0"/>
              <a:t>doesn't let the programmer create their own value types.</a:t>
            </a:r>
            <a:endParaRPr lang="en-US" dirty="0"/>
          </a:p>
          <a:p>
            <a:pPr lvl="1"/>
            <a:r>
              <a:rPr lang="en-US" dirty="0"/>
              <a:t>so, this is fine: </a:t>
            </a:r>
            <a:r>
              <a:rPr lang="en-US" b="1" dirty="0">
                <a:solidFill>
                  <a:srgbClr val="FF0000"/>
                </a:solidFill>
                <a:latin typeface="Consolas" panose="020B0609020204030204" pitchFamily="49" charset="0"/>
                <a:cs typeface="Consolas" panose="020B0609020204030204" pitchFamily="49" charset="0"/>
              </a:rPr>
              <a:t>class</a:t>
            </a:r>
            <a:r>
              <a:rPr lang="en-US" b="1" dirty="0">
                <a:latin typeface="Consolas" panose="020B0609020204030204" pitchFamily="49" charset="0"/>
                <a:cs typeface="Consolas" panose="020B0609020204030204" pitchFamily="49" charset="0"/>
              </a:rPr>
              <a:t> Node { Node next; }</a:t>
            </a:r>
            <a:r>
              <a:rPr lang="en-US" dirty="0"/>
              <a:t> </a:t>
            </a:r>
          </a:p>
          <a:p>
            <a:pPr lvl="1"/>
            <a:r>
              <a:rPr lang="en-US" dirty="0"/>
              <a:t>because </a:t>
            </a:r>
            <a:r>
              <a:rPr lang="en-US" b="1" dirty="0">
                <a:latin typeface="Consolas" panose="020B0609020204030204" pitchFamily="49" charset="0"/>
                <a:cs typeface="Consolas" panose="020B0609020204030204" pitchFamily="49" charset="0"/>
              </a:rPr>
              <a:t>Node next;</a:t>
            </a:r>
            <a:r>
              <a:rPr lang="en-US" dirty="0"/>
              <a:t> declares a </a:t>
            </a:r>
            <a:r>
              <a:rPr lang="en-US" i="1" dirty="0"/>
              <a:t>reference</a:t>
            </a:r>
            <a:r>
              <a:rPr lang="en-US" dirty="0"/>
              <a:t> variable.</a:t>
            </a:r>
          </a:p>
          <a:p>
            <a:r>
              <a:rPr lang="en-US" dirty="0"/>
              <a:t>so: should Truss’s structs be </a:t>
            </a:r>
            <a:r>
              <a:rPr lang="en-US" b="1" dirty="0"/>
              <a:t>value types,</a:t>
            </a:r>
            <a:r>
              <a:rPr lang="en-US" dirty="0"/>
              <a:t> or </a:t>
            </a:r>
            <a:r>
              <a:rPr lang="en-US" b="1" dirty="0"/>
              <a:t>reference types?</a:t>
            </a:r>
          </a:p>
          <a:p>
            <a:r>
              <a:rPr lang="en-US" dirty="0"/>
              <a:t>well, for "simplicity," let's stick with </a:t>
            </a:r>
            <a:r>
              <a:rPr lang="en-US" b="1" dirty="0"/>
              <a:t>reference types.</a:t>
            </a:r>
          </a:p>
          <a:p>
            <a:pPr lvl="1"/>
            <a:r>
              <a:rPr lang="en-US" dirty="0"/>
              <a:t>reference types let us </a:t>
            </a:r>
            <a:r>
              <a:rPr lang="en-US" b="1" dirty="0"/>
              <a:t>solve more problems </a:t>
            </a:r>
            <a:r>
              <a:rPr lang="en-US" dirty="0"/>
              <a:t>than value types do, just sometimes with more space/time overhead.</a:t>
            </a:r>
          </a:p>
          <a:p>
            <a:r>
              <a:rPr lang="en-US" dirty="0"/>
              <a:t>but if we have references, then we probably need… </a:t>
            </a:r>
            <a:r>
              <a:rPr lang="en-US" b="1" dirty="0">
                <a:solidFill>
                  <a:srgbClr val="FF0000"/>
                </a:solidFill>
                <a:latin typeface="Consolas" panose="020B0609020204030204" pitchFamily="49" charset="0"/>
                <a:cs typeface="Consolas" panose="020B0609020204030204" pitchFamily="49" charset="0"/>
              </a:rPr>
              <a:t>null</a:t>
            </a:r>
            <a:r>
              <a:rPr lang="en-US" dirty="0"/>
              <a:t>.</a:t>
            </a:r>
          </a:p>
        </p:txBody>
      </p:sp>
      <p:sp>
        <p:nvSpPr>
          <p:cNvPr id="4" name="Slide Number Placeholder 3">
            <a:extLst>
              <a:ext uri="{FF2B5EF4-FFF2-40B4-BE49-F238E27FC236}">
                <a16:creationId xmlns:a16="http://schemas.microsoft.com/office/drawing/2014/main" id="{AFAB9113-0CFF-2149-9A22-2C4DE611FB51}"/>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234653860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A4165-0EB6-7248-98DF-63344DA68397}"/>
              </a:ext>
            </a:extLst>
          </p:cNvPr>
          <p:cNvSpPr>
            <a:spLocks noGrp="1"/>
          </p:cNvSpPr>
          <p:nvPr>
            <p:ph type="title"/>
          </p:nvPr>
        </p:nvSpPr>
        <p:spPr/>
        <p:txBody>
          <a:bodyPr/>
          <a:lstStyle/>
          <a:p>
            <a:r>
              <a:rPr lang="en-US" dirty="0"/>
              <a:t>The billion dollar mistake: null</a:t>
            </a:r>
          </a:p>
        </p:txBody>
      </p:sp>
      <p:sp>
        <p:nvSpPr>
          <p:cNvPr id="3" name="Content Placeholder 2">
            <a:extLst>
              <a:ext uri="{FF2B5EF4-FFF2-40B4-BE49-F238E27FC236}">
                <a16:creationId xmlns:a16="http://schemas.microsoft.com/office/drawing/2014/main" id="{F7F531E5-D37D-7C49-B63D-2F0E07C39244}"/>
              </a:ext>
            </a:extLst>
          </p:cNvPr>
          <p:cNvSpPr>
            <a:spLocks noGrp="1"/>
          </p:cNvSpPr>
          <p:nvPr>
            <p:ph idx="1"/>
          </p:nvPr>
        </p:nvSpPr>
        <p:spPr/>
        <p:txBody>
          <a:bodyPr/>
          <a:lstStyle/>
          <a:p>
            <a:r>
              <a:rPr lang="en-US" b="1" dirty="0">
                <a:solidFill>
                  <a:srgbClr val="FF0000"/>
                </a:solidFill>
                <a:latin typeface="Consolas" panose="020B0609020204030204" pitchFamily="49" charset="0"/>
                <a:cs typeface="Consolas" panose="020B0609020204030204" pitchFamily="49" charset="0"/>
              </a:rPr>
              <a:t>null</a:t>
            </a:r>
            <a:r>
              <a:rPr lang="en-US" dirty="0"/>
              <a:t> is a </a:t>
            </a:r>
            <a:r>
              <a:rPr lang="en-US" i="1" dirty="0"/>
              <a:t>special value</a:t>
            </a:r>
            <a:r>
              <a:rPr lang="en-US" dirty="0"/>
              <a:t> you can put into a reference variable to indicate that it is uninitialized or “not pointing to anything.”</a:t>
            </a:r>
          </a:p>
          <a:p>
            <a:r>
              <a:rPr lang="en-US" dirty="0"/>
              <a:t>trying to perform any operation besides assignment on </a:t>
            </a:r>
            <a:r>
              <a:rPr lang="en-US" b="1" dirty="0">
                <a:solidFill>
                  <a:srgbClr val="FF0000"/>
                </a:solidFill>
                <a:latin typeface="Consolas" panose="020B0609020204030204" pitchFamily="49" charset="0"/>
                <a:cs typeface="Consolas" panose="020B0609020204030204" pitchFamily="49" charset="0"/>
              </a:rPr>
              <a:t>null</a:t>
            </a:r>
            <a:r>
              <a:rPr lang="en-US" dirty="0"/>
              <a:t> will lead to a </a:t>
            </a:r>
            <a:r>
              <a:rPr lang="en-US" b="1" dirty="0"/>
              <a:t>runtime error </a:t>
            </a:r>
            <a:r>
              <a:rPr lang="en-US" dirty="0"/>
              <a:t>(a crash).</a:t>
            </a:r>
          </a:p>
          <a:p>
            <a:r>
              <a:rPr lang="en-US" dirty="0"/>
              <a:t>unfortunately, </a:t>
            </a:r>
            <a:r>
              <a:rPr lang="en-US" i="1" dirty="0"/>
              <a:t>most of the time, you do not want references to be null.</a:t>
            </a:r>
          </a:p>
          <a:p>
            <a:pPr lvl="1"/>
            <a:r>
              <a:rPr lang="en-US" dirty="0"/>
              <a:t>so by putting </a:t>
            </a:r>
            <a:r>
              <a:rPr lang="en-US" b="1" dirty="0">
                <a:solidFill>
                  <a:srgbClr val="FF0000"/>
                </a:solidFill>
                <a:latin typeface="Consolas" panose="020B0609020204030204" pitchFamily="49" charset="0"/>
                <a:cs typeface="Consolas" panose="020B0609020204030204" pitchFamily="49" charset="0"/>
              </a:rPr>
              <a:t>null</a:t>
            </a:r>
            <a:r>
              <a:rPr lang="en-US" dirty="0"/>
              <a:t> in a language, and </a:t>
            </a:r>
            <a:r>
              <a:rPr lang="en-US" i="1" dirty="0"/>
              <a:t>not </a:t>
            </a:r>
            <a:r>
              <a:rPr lang="en-US" dirty="0"/>
              <a:t>requiring checks before using a reference, you are adding a </a:t>
            </a:r>
            <a:r>
              <a:rPr lang="en-US" b="1" dirty="0"/>
              <a:t>huge number </a:t>
            </a:r>
            <a:r>
              <a:rPr lang="en-US" dirty="0"/>
              <a:t>of potential crashes into virtually every program.</a:t>
            </a:r>
          </a:p>
          <a:p>
            <a:r>
              <a:rPr lang="en-US" dirty="0"/>
              <a:t>also it’s just </a:t>
            </a:r>
            <a:r>
              <a:rPr lang="en-US" i="1" dirty="0"/>
              <a:t>weird</a:t>
            </a:r>
            <a:r>
              <a:rPr lang="en-US" dirty="0"/>
              <a:t> when it comes to </a:t>
            </a:r>
            <a:r>
              <a:rPr lang="en-US" dirty="0" err="1"/>
              <a:t>typechecking</a:t>
            </a:r>
            <a:r>
              <a:rPr lang="en-US" dirty="0"/>
              <a:t>.</a:t>
            </a:r>
          </a:p>
          <a:p>
            <a:pPr lvl="1"/>
            <a:r>
              <a:rPr lang="en-US" dirty="0"/>
              <a:t>it’s the only value that can be put into </a:t>
            </a:r>
            <a:r>
              <a:rPr lang="en-US" i="1" dirty="0"/>
              <a:t>multiple different types.</a:t>
            </a:r>
          </a:p>
          <a:p>
            <a:pPr lvl="1"/>
            <a:r>
              <a:rPr lang="en-US" b="1" dirty="0">
                <a:latin typeface="Consolas" panose="020B0609020204030204" pitchFamily="49" charset="0"/>
                <a:cs typeface="Consolas" panose="020B0609020204030204" pitchFamily="49" charset="0"/>
              </a:rPr>
              <a:t>String s = </a:t>
            </a:r>
            <a:r>
              <a:rPr lang="en-US" b="1" dirty="0">
                <a:solidFill>
                  <a:srgbClr val="FF0000"/>
                </a:solidFill>
                <a:latin typeface="Consolas" panose="020B0609020204030204" pitchFamily="49" charset="0"/>
                <a:cs typeface="Consolas" panose="020B0609020204030204" pitchFamily="49" charset="0"/>
              </a:rPr>
              <a:t>null</a:t>
            </a:r>
            <a:r>
              <a:rPr lang="en-US" b="1" dirty="0">
                <a:latin typeface="Consolas" panose="020B0609020204030204" pitchFamily="49" charset="0"/>
                <a:cs typeface="Consolas" panose="020B0609020204030204" pitchFamily="49" charset="0"/>
              </a:rPr>
              <a:t>;</a:t>
            </a:r>
            <a:r>
              <a:rPr lang="en-US" b="1" dirty="0">
                <a:solidFill>
                  <a:srgbClr val="FF0000"/>
                </a:solidFill>
                <a:latin typeface="Consolas" panose="020B0609020204030204" pitchFamily="49" charset="0"/>
                <a:cs typeface="Consolas" panose="020B0609020204030204" pitchFamily="49" charset="0"/>
              </a:rPr>
              <a:t> </a:t>
            </a:r>
            <a:r>
              <a:rPr lang="en-US" b="1" dirty="0">
                <a:latin typeface="Consolas" panose="020B0609020204030204" pitchFamily="49" charset="0"/>
                <a:cs typeface="Consolas" panose="020B0609020204030204" pitchFamily="49" charset="0"/>
              </a:rPr>
              <a:t>Object o = </a:t>
            </a:r>
            <a:r>
              <a:rPr lang="en-US" b="1" dirty="0">
                <a:solidFill>
                  <a:srgbClr val="FF0000"/>
                </a:solidFill>
                <a:latin typeface="Consolas" panose="020B0609020204030204" pitchFamily="49" charset="0"/>
                <a:cs typeface="Consolas" panose="020B0609020204030204" pitchFamily="49" charset="0"/>
              </a:rPr>
              <a:t>null</a:t>
            </a:r>
            <a:r>
              <a:rPr lang="en-US" b="1"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 = </a:t>
            </a:r>
            <a:r>
              <a:rPr lang="en-US" b="1" dirty="0">
                <a:solidFill>
                  <a:srgbClr val="FF0000"/>
                </a:solidFill>
                <a:latin typeface="Consolas" panose="020B0609020204030204" pitchFamily="49" charset="0"/>
                <a:cs typeface="Consolas" panose="020B0609020204030204" pitchFamily="49" charset="0"/>
              </a:rPr>
              <a:t>null</a:t>
            </a:r>
            <a:r>
              <a:rPr lang="en-US" b="1" dirty="0">
                <a:latin typeface="Consolas" panose="020B0609020204030204" pitchFamily="49" charset="0"/>
                <a:cs typeface="Consolas" panose="020B0609020204030204" pitchFamily="49" charset="0"/>
              </a:rPr>
              <a:t>; </a:t>
            </a:r>
          </a:p>
          <a:p>
            <a:r>
              <a:rPr lang="en-US" dirty="0"/>
              <a:t>so </a:t>
            </a:r>
            <a:r>
              <a:rPr lang="en-US" b="1" dirty="0">
                <a:solidFill>
                  <a:srgbClr val="FF0000"/>
                </a:solidFill>
                <a:latin typeface="Consolas" panose="020B0609020204030204" pitchFamily="49" charset="0"/>
                <a:cs typeface="Consolas" panose="020B0609020204030204" pitchFamily="49" charset="0"/>
              </a:rPr>
              <a:t>null</a:t>
            </a:r>
            <a:r>
              <a:rPr lang="en-US" b="1" dirty="0">
                <a:solidFill>
                  <a:srgbClr val="FF0000"/>
                </a:solidFill>
              </a:rPr>
              <a:t> </a:t>
            </a:r>
            <a:r>
              <a:rPr lang="en-US" dirty="0"/>
              <a:t>does not have a type of its own! type theory calls it a </a:t>
            </a:r>
            <a:r>
              <a:rPr lang="en-US" b="1" dirty="0"/>
              <a:t>bottom type, </a:t>
            </a:r>
            <a:r>
              <a:rPr lang="en-US" dirty="0"/>
              <a:t>because it is at the bottom of the type hierarchy and acts as a subtype of all other types.</a:t>
            </a:r>
            <a:endParaRPr lang="en-US" b="1" dirty="0"/>
          </a:p>
        </p:txBody>
      </p:sp>
      <p:sp>
        <p:nvSpPr>
          <p:cNvPr id="4" name="Slide Number Placeholder 3">
            <a:extLst>
              <a:ext uri="{FF2B5EF4-FFF2-40B4-BE49-F238E27FC236}">
                <a16:creationId xmlns:a16="http://schemas.microsoft.com/office/drawing/2014/main" id="{0A2C3657-E8AE-6344-94D1-BB183DAA0144}"/>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152411327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28C88-3F5A-D24B-A8D5-964EE66B1D89}"/>
              </a:ext>
            </a:extLst>
          </p:cNvPr>
          <p:cNvSpPr>
            <a:spLocks noGrp="1"/>
          </p:cNvSpPr>
          <p:nvPr>
            <p:ph type="ctrTitle"/>
          </p:nvPr>
        </p:nvSpPr>
        <p:spPr/>
        <p:txBody>
          <a:bodyPr/>
          <a:lstStyle/>
          <a:p>
            <a:r>
              <a:rPr lang="en-US" dirty="0"/>
              <a:t>Struct Runtime Representation</a:t>
            </a:r>
          </a:p>
        </p:txBody>
      </p:sp>
      <p:sp>
        <p:nvSpPr>
          <p:cNvPr id="3" name="Slide Number Placeholder 2">
            <a:extLst>
              <a:ext uri="{FF2B5EF4-FFF2-40B4-BE49-F238E27FC236}">
                <a16:creationId xmlns:a16="http://schemas.microsoft.com/office/drawing/2014/main" id="{EE5E61E5-F397-E649-9B48-7708E9416515}"/>
              </a:ext>
            </a:extLst>
          </p:cNvPr>
          <p:cNvSpPr>
            <a:spLocks noGrp="1"/>
          </p:cNvSpPr>
          <p:nvPr>
            <p:ph type="sldNum" sz="quarter" idx="12"/>
          </p:nvPr>
        </p:nvSpPr>
        <p:spPr/>
        <p:txBody>
          <a:bodyPr/>
          <a:lstStyle/>
          <a:p>
            <a:fld id="{3552B95B-556F-44BD-91A5-D80C1B9E2BB3}" type="slidenum">
              <a:rPr lang="en-US" smtClean="0"/>
              <a:pPr/>
              <a:t>12</a:t>
            </a:fld>
            <a:endParaRPr lang="en-US"/>
          </a:p>
        </p:txBody>
      </p:sp>
    </p:spTree>
    <p:extLst>
      <p:ext uri="{BB962C8B-B14F-4D97-AF65-F5344CB8AC3E}">
        <p14:creationId xmlns:p14="http://schemas.microsoft.com/office/powerpoint/2010/main" val="48868305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4B942-0B2E-F247-B00A-9F37DA0206CB}"/>
              </a:ext>
            </a:extLst>
          </p:cNvPr>
          <p:cNvSpPr>
            <a:spLocks noGrp="1"/>
          </p:cNvSpPr>
          <p:nvPr>
            <p:ph type="title"/>
          </p:nvPr>
        </p:nvSpPr>
        <p:spPr/>
        <p:txBody>
          <a:bodyPr/>
          <a:lstStyle/>
          <a:p>
            <a:r>
              <a:rPr lang="en-US" dirty="0"/>
              <a:t>Data layout</a:t>
            </a:r>
          </a:p>
        </p:txBody>
      </p:sp>
      <p:sp>
        <p:nvSpPr>
          <p:cNvPr id="3" name="Content Placeholder 2">
            <a:extLst>
              <a:ext uri="{FF2B5EF4-FFF2-40B4-BE49-F238E27FC236}">
                <a16:creationId xmlns:a16="http://schemas.microsoft.com/office/drawing/2014/main" id="{0A17756F-F43A-3842-B823-512349744E16}"/>
              </a:ext>
            </a:extLst>
          </p:cNvPr>
          <p:cNvSpPr>
            <a:spLocks noGrp="1"/>
          </p:cNvSpPr>
          <p:nvPr>
            <p:ph idx="1"/>
          </p:nvPr>
        </p:nvSpPr>
        <p:spPr>
          <a:xfrm>
            <a:off x="152400" y="495302"/>
            <a:ext cx="8991600" cy="1185950"/>
          </a:xfrm>
        </p:spPr>
        <p:txBody>
          <a:bodyPr/>
          <a:lstStyle/>
          <a:p>
            <a:r>
              <a:rPr lang="en-US" dirty="0"/>
              <a:t>how are structs </a:t>
            </a:r>
            <a:r>
              <a:rPr lang="en-US" sz="1400" dirty="0"/>
              <a:t>(and classes?)</a:t>
            </a:r>
            <a:r>
              <a:rPr lang="en-US" dirty="0"/>
              <a:t> going to be represented </a:t>
            </a:r>
            <a:r>
              <a:rPr lang="en-US" b="1" dirty="0"/>
              <a:t>in memory?</a:t>
            </a:r>
            <a:endParaRPr lang="en-US" dirty="0"/>
          </a:p>
          <a:p>
            <a:pPr lvl="1"/>
            <a:r>
              <a:rPr lang="en-US" dirty="0"/>
              <a:t>arrays work by putting the values next to each other.</a:t>
            </a:r>
          </a:p>
          <a:p>
            <a:pPr lvl="1"/>
            <a:r>
              <a:rPr lang="en-US" b="1" dirty="0"/>
              <a:t>okay, let's do that.</a:t>
            </a:r>
          </a:p>
        </p:txBody>
      </p:sp>
      <p:sp>
        <p:nvSpPr>
          <p:cNvPr id="4" name="Slide Number Placeholder 3">
            <a:extLst>
              <a:ext uri="{FF2B5EF4-FFF2-40B4-BE49-F238E27FC236}">
                <a16:creationId xmlns:a16="http://schemas.microsoft.com/office/drawing/2014/main" id="{ACB7B596-485E-374A-91E1-3538C2AD348D}"/>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Rectangle 4">
            <a:extLst>
              <a:ext uri="{FF2B5EF4-FFF2-40B4-BE49-F238E27FC236}">
                <a16:creationId xmlns:a16="http://schemas.microsoft.com/office/drawing/2014/main" id="{7D8ABE6D-E611-7A4C-8A99-79AE43E09371}"/>
              </a:ext>
            </a:extLst>
          </p:cNvPr>
          <p:cNvSpPr/>
          <p:nvPr/>
        </p:nvSpPr>
        <p:spPr>
          <a:xfrm>
            <a:off x="381000" y="1638300"/>
            <a:ext cx="7467600" cy="461665"/>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struct</a:t>
            </a:r>
            <a:r>
              <a:rPr lang="en-US" sz="2400" b="1" dirty="0">
                <a:latin typeface="Consolas" panose="020B0609020204030204" pitchFamily="49" charset="0"/>
                <a:cs typeface="Consolas" panose="020B0609020204030204" pitchFamily="49" charset="0"/>
              </a:rPr>
              <a:t> Point3D { </a:t>
            </a:r>
            <a:r>
              <a:rPr lang="en-US" sz="2400" b="1" dirty="0">
                <a:solidFill>
                  <a:srgbClr val="00B050"/>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y</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rgbClr val="7030A0"/>
                </a:solidFill>
                <a:latin typeface="Consolas" panose="020B0609020204030204" pitchFamily="49" charset="0"/>
                <a:cs typeface="Consolas" panose="020B0609020204030204" pitchFamily="49" charset="0"/>
              </a:rPr>
              <a:t>z</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p>
        </p:txBody>
      </p:sp>
      <p:graphicFrame>
        <p:nvGraphicFramePr>
          <p:cNvPr id="6" name="Table 5">
            <a:extLst>
              <a:ext uri="{FF2B5EF4-FFF2-40B4-BE49-F238E27FC236}">
                <a16:creationId xmlns:a16="http://schemas.microsoft.com/office/drawing/2014/main" id="{4768625F-AC79-B54E-B4AA-245E3C540564}"/>
              </a:ext>
            </a:extLst>
          </p:cNvPr>
          <p:cNvGraphicFramePr>
            <a:graphicFrameLocks noGrp="1"/>
          </p:cNvGraphicFramePr>
          <p:nvPr>
            <p:extLst>
              <p:ext uri="{D42A27DB-BD31-4B8C-83A1-F6EECF244321}">
                <p14:modId xmlns:p14="http://schemas.microsoft.com/office/powerpoint/2010/main" val="791081434"/>
              </p:ext>
            </p:extLst>
          </p:nvPr>
        </p:nvGraphicFramePr>
        <p:xfrm>
          <a:off x="891540" y="3152865"/>
          <a:ext cx="7680960" cy="64008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3463030415"/>
                    </a:ext>
                  </a:extLst>
                </a:gridCol>
                <a:gridCol w="640080">
                  <a:extLst>
                    <a:ext uri="{9D8B030D-6E8A-4147-A177-3AD203B41FA5}">
                      <a16:colId xmlns:a16="http://schemas.microsoft.com/office/drawing/2014/main" val="33902713"/>
                    </a:ext>
                  </a:extLst>
                </a:gridCol>
                <a:gridCol w="640080">
                  <a:extLst>
                    <a:ext uri="{9D8B030D-6E8A-4147-A177-3AD203B41FA5}">
                      <a16:colId xmlns:a16="http://schemas.microsoft.com/office/drawing/2014/main" val="2786119553"/>
                    </a:ext>
                  </a:extLst>
                </a:gridCol>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1780978681"/>
                    </a:ext>
                  </a:extLst>
                </a:gridCol>
                <a:gridCol w="640080">
                  <a:extLst>
                    <a:ext uri="{9D8B030D-6E8A-4147-A177-3AD203B41FA5}">
                      <a16:colId xmlns:a16="http://schemas.microsoft.com/office/drawing/2014/main" val="1832378760"/>
                    </a:ext>
                  </a:extLst>
                </a:gridCol>
                <a:gridCol w="640080">
                  <a:extLst>
                    <a:ext uri="{9D8B030D-6E8A-4147-A177-3AD203B41FA5}">
                      <a16:colId xmlns:a16="http://schemas.microsoft.com/office/drawing/2014/main" val="3304038371"/>
                    </a:ext>
                  </a:extLst>
                </a:gridCol>
                <a:gridCol w="640080">
                  <a:extLst>
                    <a:ext uri="{9D8B030D-6E8A-4147-A177-3AD203B41FA5}">
                      <a16:colId xmlns:a16="http://schemas.microsoft.com/office/drawing/2014/main" val="23745763"/>
                    </a:ext>
                  </a:extLst>
                </a:gridCol>
                <a:gridCol w="640080">
                  <a:extLst>
                    <a:ext uri="{9D8B030D-6E8A-4147-A177-3AD203B41FA5}">
                      <a16:colId xmlns:a16="http://schemas.microsoft.com/office/drawing/2014/main" val="4129598966"/>
                    </a:ext>
                  </a:extLst>
                </a:gridCol>
                <a:gridCol w="640080">
                  <a:extLst>
                    <a:ext uri="{9D8B030D-6E8A-4147-A177-3AD203B41FA5}">
                      <a16:colId xmlns:a16="http://schemas.microsoft.com/office/drawing/2014/main" val="440861265"/>
                    </a:ext>
                  </a:extLst>
                </a:gridCol>
                <a:gridCol w="640080">
                  <a:extLst>
                    <a:ext uri="{9D8B030D-6E8A-4147-A177-3AD203B41FA5}">
                      <a16:colId xmlns:a16="http://schemas.microsoft.com/office/drawing/2014/main" val="126631814"/>
                    </a:ext>
                  </a:extLst>
                </a:gridCol>
              </a:tblGrid>
              <a:tr h="640080">
                <a:tc>
                  <a:txBody>
                    <a:bodyPr/>
                    <a:lstStyle/>
                    <a:p>
                      <a:endParaRPr lang="en-US" dirty="0"/>
                    </a:p>
                  </a:txBody>
                  <a:tcPr>
                    <a:solidFill>
                      <a:srgbClr val="00B050"/>
                    </a:solidFill>
                  </a:tcPr>
                </a:tc>
                <a:tc>
                  <a:txBody>
                    <a:bodyPr/>
                    <a:lstStyle/>
                    <a:p>
                      <a:endParaRPr lang="en-US" dirty="0"/>
                    </a:p>
                  </a:txBody>
                  <a:tcPr>
                    <a:solidFill>
                      <a:srgbClr val="00B050"/>
                    </a:solidFill>
                  </a:tcPr>
                </a:tc>
                <a:tc>
                  <a:txBody>
                    <a:bodyPr/>
                    <a:lstStyle/>
                    <a:p>
                      <a:endParaRPr lang="en-US" dirty="0"/>
                    </a:p>
                  </a:txBody>
                  <a:tcPr>
                    <a:solidFill>
                      <a:srgbClr val="00B050"/>
                    </a:solidFill>
                  </a:tcPr>
                </a:tc>
                <a:tc>
                  <a:txBody>
                    <a:bodyPr/>
                    <a:lstStyle/>
                    <a:p>
                      <a:endParaRPr lang="en-US" dirty="0"/>
                    </a:p>
                  </a:txBody>
                  <a:tcPr>
                    <a:solidFill>
                      <a:srgbClr val="00B050"/>
                    </a:solidFill>
                  </a:tcPr>
                </a:tc>
                <a:tc>
                  <a:txBody>
                    <a:bodyPr/>
                    <a:lstStyle/>
                    <a:p>
                      <a:endParaRPr lang="en-US" dirty="0"/>
                    </a:p>
                  </a:txBody>
                  <a:tcPr>
                    <a:solidFill>
                      <a:schemeClr val="accent6">
                        <a:lumMod val="75000"/>
                      </a:schemeClr>
                    </a:solidFill>
                  </a:tcPr>
                </a:tc>
                <a:tc>
                  <a:txBody>
                    <a:bodyPr/>
                    <a:lstStyle/>
                    <a:p>
                      <a:endParaRPr lang="en-US" dirty="0"/>
                    </a:p>
                  </a:txBody>
                  <a:tcPr>
                    <a:solidFill>
                      <a:schemeClr val="accent6">
                        <a:lumMod val="75000"/>
                      </a:schemeClr>
                    </a:solidFill>
                  </a:tcPr>
                </a:tc>
                <a:tc>
                  <a:txBody>
                    <a:bodyPr/>
                    <a:lstStyle/>
                    <a:p>
                      <a:endParaRPr lang="en-US" dirty="0"/>
                    </a:p>
                  </a:txBody>
                  <a:tcPr>
                    <a:solidFill>
                      <a:schemeClr val="accent6">
                        <a:lumMod val="75000"/>
                      </a:schemeClr>
                    </a:solidFill>
                  </a:tcPr>
                </a:tc>
                <a:tc>
                  <a:txBody>
                    <a:bodyPr/>
                    <a:lstStyle/>
                    <a:p>
                      <a:endParaRPr lang="en-US" dirty="0"/>
                    </a:p>
                  </a:txBody>
                  <a:tcPr>
                    <a:solidFill>
                      <a:schemeClr val="accent6">
                        <a:lumMod val="75000"/>
                      </a:schemeClr>
                    </a:solidFill>
                  </a:tcPr>
                </a:tc>
                <a:tc>
                  <a:txBody>
                    <a:bodyPr/>
                    <a:lstStyle/>
                    <a:p>
                      <a:endParaRPr lang="en-US" dirty="0"/>
                    </a:p>
                  </a:txBody>
                  <a:tcPr>
                    <a:solidFill>
                      <a:srgbClr val="7030A0"/>
                    </a:solidFill>
                  </a:tcPr>
                </a:tc>
                <a:tc>
                  <a:txBody>
                    <a:bodyPr/>
                    <a:lstStyle/>
                    <a:p>
                      <a:endParaRPr lang="en-US" dirty="0"/>
                    </a:p>
                  </a:txBody>
                  <a:tcPr>
                    <a:solidFill>
                      <a:srgbClr val="7030A0"/>
                    </a:solidFill>
                  </a:tcPr>
                </a:tc>
                <a:tc>
                  <a:txBody>
                    <a:bodyPr/>
                    <a:lstStyle/>
                    <a:p>
                      <a:endParaRPr lang="en-US" dirty="0"/>
                    </a:p>
                  </a:txBody>
                  <a:tcPr>
                    <a:solidFill>
                      <a:srgbClr val="7030A0"/>
                    </a:solidFill>
                  </a:tcPr>
                </a:tc>
                <a:tc>
                  <a:txBody>
                    <a:bodyPr/>
                    <a:lstStyle/>
                    <a:p>
                      <a:endParaRPr lang="en-US" dirty="0"/>
                    </a:p>
                  </a:txBody>
                  <a:tcPr>
                    <a:solidFill>
                      <a:srgbClr val="7030A0"/>
                    </a:solidFill>
                  </a:tcPr>
                </a:tc>
                <a:extLst>
                  <a:ext uri="{0D108BD9-81ED-4DB2-BD59-A6C34878D82A}">
                    <a16:rowId xmlns:a16="http://schemas.microsoft.com/office/drawing/2014/main" val="639513657"/>
                  </a:ext>
                </a:extLst>
              </a:tr>
            </a:tbl>
          </a:graphicData>
        </a:graphic>
      </p:graphicFrame>
      <p:sp>
        <p:nvSpPr>
          <p:cNvPr id="7" name="TextBox 6">
            <a:extLst>
              <a:ext uri="{FF2B5EF4-FFF2-40B4-BE49-F238E27FC236}">
                <a16:creationId xmlns:a16="http://schemas.microsoft.com/office/drawing/2014/main" id="{6829F960-6FCC-064E-973F-914D9E752C3B}"/>
              </a:ext>
            </a:extLst>
          </p:cNvPr>
          <p:cNvSpPr txBox="1"/>
          <p:nvPr/>
        </p:nvSpPr>
        <p:spPr>
          <a:xfrm>
            <a:off x="6572250" y="2104430"/>
            <a:ext cx="2381250" cy="769441"/>
          </a:xfrm>
          <a:prstGeom prst="rect">
            <a:avLst/>
          </a:prstGeom>
          <a:noFill/>
        </p:spPr>
        <p:txBody>
          <a:bodyPr wrap="square" rtlCol="0">
            <a:spAutoFit/>
          </a:bodyPr>
          <a:lstStyle/>
          <a:p>
            <a:pPr algn="ctr"/>
            <a:r>
              <a:rPr lang="en-US" sz="2200" dirty="0"/>
              <a:t>assuming </a:t>
            </a:r>
            <a:r>
              <a:rPr lang="en-US" sz="2200" b="1" dirty="0"/>
              <a:t>int </a:t>
            </a:r>
            <a:r>
              <a:rPr lang="en-US" sz="2200" dirty="0"/>
              <a:t>is 32 bits (4 Bytes)…</a:t>
            </a:r>
          </a:p>
        </p:txBody>
      </p:sp>
      <p:graphicFrame>
        <p:nvGraphicFramePr>
          <p:cNvPr id="8" name="Table 7">
            <a:extLst>
              <a:ext uri="{FF2B5EF4-FFF2-40B4-BE49-F238E27FC236}">
                <a16:creationId xmlns:a16="http://schemas.microsoft.com/office/drawing/2014/main" id="{CBAC70B0-F510-B24E-B66D-A2D5E7703250}"/>
              </a:ext>
            </a:extLst>
          </p:cNvPr>
          <p:cNvGraphicFramePr>
            <a:graphicFrameLocks noGrp="1"/>
          </p:cNvGraphicFramePr>
          <p:nvPr>
            <p:extLst>
              <p:ext uri="{D42A27DB-BD31-4B8C-83A1-F6EECF244321}">
                <p14:modId xmlns:p14="http://schemas.microsoft.com/office/powerpoint/2010/main" val="2070988508"/>
              </p:ext>
            </p:extLst>
          </p:nvPr>
        </p:nvGraphicFramePr>
        <p:xfrm>
          <a:off x="891540" y="3792945"/>
          <a:ext cx="7680960" cy="45720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3463030415"/>
                    </a:ext>
                  </a:extLst>
                </a:gridCol>
                <a:gridCol w="640080">
                  <a:extLst>
                    <a:ext uri="{9D8B030D-6E8A-4147-A177-3AD203B41FA5}">
                      <a16:colId xmlns:a16="http://schemas.microsoft.com/office/drawing/2014/main" val="33902713"/>
                    </a:ext>
                  </a:extLst>
                </a:gridCol>
                <a:gridCol w="640080">
                  <a:extLst>
                    <a:ext uri="{9D8B030D-6E8A-4147-A177-3AD203B41FA5}">
                      <a16:colId xmlns:a16="http://schemas.microsoft.com/office/drawing/2014/main" val="2786119553"/>
                    </a:ext>
                  </a:extLst>
                </a:gridCol>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1780978681"/>
                    </a:ext>
                  </a:extLst>
                </a:gridCol>
                <a:gridCol w="640080">
                  <a:extLst>
                    <a:ext uri="{9D8B030D-6E8A-4147-A177-3AD203B41FA5}">
                      <a16:colId xmlns:a16="http://schemas.microsoft.com/office/drawing/2014/main" val="1832378760"/>
                    </a:ext>
                  </a:extLst>
                </a:gridCol>
                <a:gridCol w="640080">
                  <a:extLst>
                    <a:ext uri="{9D8B030D-6E8A-4147-A177-3AD203B41FA5}">
                      <a16:colId xmlns:a16="http://schemas.microsoft.com/office/drawing/2014/main" val="3304038371"/>
                    </a:ext>
                  </a:extLst>
                </a:gridCol>
                <a:gridCol w="640080">
                  <a:extLst>
                    <a:ext uri="{9D8B030D-6E8A-4147-A177-3AD203B41FA5}">
                      <a16:colId xmlns:a16="http://schemas.microsoft.com/office/drawing/2014/main" val="23745763"/>
                    </a:ext>
                  </a:extLst>
                </a:gridCol>
                <a:gridCol w="640080">
                  <a:extLst>
                    <a:ext uri="{9D8B030D-6E8A-4147-A177-3AD203B41FA5}">
                      <a16:colId xmlns:a16="http://schemas.microsoft.com/office/drawing/2014/main" val="4129598966"/>
                    </a:ext>
                  </a:extLst>
                </a:gridCol>
                <a:gridCol w="640080">
                  <a:extLst>
                    <a:ext uri="{9D8B030D-6E8A-4147-A177-3AD203B41FA5}">
                      <a16:colId xmlns:a16="http://schemas.microsoft.com/office/drawing/2014/main" val="440861265"/>
                    </a:ext>
                  </a:extLst>
                </a:gridCol>
                <a:gridCol w="640080">
                  <a:extLst>
                    <a:ext uri="{9D8B030D-6E8A-4147-A177-3AD203B41FA5}">
                      <a16:colId xmlns:a16="http://schemas.microsoft.com/office/drawing/2014/main" val="126631814"/>
                    </a:ext>
                  </a:extLst>
                </a:gridCol>
              </a:tblGrid>
              <a:tr h="456140">
                <a:tc>
                  <a:txBody>
                    <a:bodyPr/>
                    <a:lstStyle/>
                    <a:p>
                      <a:pPr algn="ctr"/>
                      <a:r>
                        <a:rPr lang="en-US" sz="2400" b="0" i="1" dirty="0">
                          <a:latin typeface="Consolas" panose="020B0609020204030204" pitchFamily="49" charset="0"/>
                          <a:cs typeface="Consolas" panose="020B0609020204030204" pitchFamily="49" charset="0"/>
                        </a:rPr>
                        <a:t>0</a:t>
                      </a:r>
                    </a:p>
                  </a:txBody>
                  <a:tcPr>
                    <a:noFill/>
                  </a:tcPr>
                </a:tc>
                <a:tc>
                  <a:txBody>
                    <a:bodyPr/>
                    <a:lstStyle/>
                    <a:p>
                      <a:pPr algn="ctr"/>
                      <a:r>
                        <a:rPr lang="en-US" sz="2400" b="0" i="1" dirty="0">
                          <a:latin typeface="Consolas" panose="020B0609020204030204" pitchFamily="49" charset="0"/>
                          <a:cs typeface="Consolas" panose="020B0609020204030204" pitchFamily="49" charset="0"/>
                        </a:rPr>
                        <a:t>1</a:t>
                      </a:r>
                    </a:p>
                  </a:txBody>
                  <a:tcPr>
                    <a:noFill/>
                  </a:tcPr>
                </a:tc>
                <a:tc>
                  <a:txBody>
                    <a:bodyPr/>
                    <a:lstStyle/>
                    <a:p>
                      <a:pPr algn="ctr"/>
                      <a:r>
                        <a:rPr lang="en-US" sz="2400" b="0" i="1" dirty="0">
                          <a:latin typeface="Consolas" panose="020B0609020204030204" pitchFamily="49" charset="0"/>
                          <a:cs typeface="Consolas" panose="020B0609020204030204" pitchFamily="49" charset="0"/>
                        </a:rPr>
                        <a:t>2</a:t>
                      </a:r>
                    </a:p>
                  </a:txBody>
                  <a:tcPr>
                    <a:noFill/>
                  </a:tcPr>
                </a:tc>
                <a:tc>
                  <a:txBody>
                    <a:bodyPr/>
                    <a:lstStyle/>
                    <a:p>
                      <a:pPr algn="ctr"/>
                      <a:r>
                        <a:rPr lang="en-US" sz="2400" b="0" i="1" dirty="0">
                          <a:latin typeface="Consolas" panose="020B0609020204030204" pitchFamily="49" charset="0"/>
                          <a:cs typeface="Consolas" panose="020B0609020204030204" pitchFamily="49" charset="0"/>
                        </a:rPr>
                        <a:t>3</a:t>
                      </a:r>
                    </a:p>
                  </a:txBody>
                  <a:tcPr>
                    <a:noFill/>
                  </a:tcPr>
                </a:tc>
                <a:tc>
                  <a:txBody>
                    <a:bodyPr/>
                    <a:lstStyle/>
                    <a:p>
                      <a:pPr algn="ctr"/>
                      <a:r>
                        <a:rPr lang="en-US" sz="2400" b="0" i="1" dirty="0">
                          <a:latin typeface="Consolas" panose="020B0609020204030204" pitchFamily="49" charset="0"/>
                          <a:cs typeface="Consolas" panose="020B0609020204030204" pitchFamily="49" charset="0"/>
                        </a:rPr>
                        <a:t>4</a:t>
                      </a:r>
                    </a:p>
                  </a:txBody>
                  <a:tcPr>
                    <a:noFill/>
                  </a:tcPr>
                </a:tc>
                <a:tc>
                  <a:txBody>
                    <a:bodyPr/>
                    <a:lstStyle/>
                    <a:p>
                      <a:pPr algn="ctr"/>
                      <a:r>
                        <a:rPr lang="en-US" sz="2400" b="0" i="1" dirty="0">
                          <a:latin typeface="Consolas" panose="020B0609020204030204" pitchFamily="49" charset="0"/>
                          <a:cs typeface="Consolas" panose="020B0609020204030204" pitchFamily="49" charset="0"/>
                        </a:rPr>
                        <a:t>5</a:t>
                      </a:r>
                    </a:p>
                  </a:txBody>
                  <a:tcPr>
                    <a:noFill/>
                  </a:tcPr>
                </a:tc>
                <a:tc>
                  <a:txBody>
                    <a:bodyPr/>
                    <a:lstStyle/>
                    <a:p>
                      <a:pPr algn="ctr"/>
                      <a:r>
                        <a:rPr lang="en-US" sz="2400" b="0" i="1" dirty="0">
                          <a:latin typeface="Consolas" panose="020B0609020204030204" pitchFamily="49" charset="0"/>
                          <a:cs typeface="Consolas" panose="020B0609020204030204" pitchFamily="49" charset="0"/>
                        </a:rPr>
                        <a:t>6</a:t>
                      </a:r>
                    </a:p>
                  </a:txBody>
                  <a:tcPr>
                    <a:noFill/>
                  </a:tcPr>
                </a:tc>
                <a:tc>
                  <a:txBody>
                    <a:bodyPr/>
                    <a:lstStyle/>
                    <a:p>
                      <a:pPr algn="ctr"/>
                      <a:r>
                        <a:rPr lang="en-US" sz="2400" b="0" i="1" dirty="0">
                          <a:latin typeface="Consolas" panose="020B0609020204030204" pitchFamily="49" charset="0"/>
                          <a:cs typeface="Consolas" panose="020B0609020204030204" pitchFamily="49" charset="0"/>
                        </a:rPr>
                        <a:t>7</a:t>
                      </a:r>
                    </a:p>
                  </a:txBody>
                  <a:tcPr>
                    <a:noFill/>
                  </a:tcPr>
                </a:tc>
                <a:tc>
                  <a:txBody>
                    <a:bodyPr/>
                    <a:lstStyle/>
                    <a:p>
                      <a:pPr algn="ctr"/>
                      <a:r>
                        <a:rPr lang="en-US" sz="2400" b="0" i="1" dirty="0">
                          <a:latin typeface="Consolas" panose="020B0609020204030204" pitchFamily="49" charset="0"/>
                          <a:cs typeface="Consolas" panose="020B0609020204030204" pitchFamily="49" charset="0"/>
                        </a:rPr>
                        <a:t>8</a:t>
                      </a:r>
                    </a:p>
                  </a:txBody>
                  <a:tcPr>
                    <a:noFill/>
                  </a:tcPr>
                </a:tc>
                <a:tc>
                  <a:txBody>
                    <a:bodyPr/>
                    <a:lstStyle/>
                    <a:p>
                      <a:pPr algn="ctr"/>
                      <a:r>
                        <a:rPr lang="en-US" sz="2400" b="0" i="1" dirty="0">
                          <a:latin typeface="Consolas" panose="020B0609020204030204" pitchFamily="49" charset="0"/>
                          <a:cs typeface="Consolas" panose="020B0609020204030204" pitchFamily="49" charset="0"/>
                        </a:rPr>
                        <a:t>9</a:t>
                      </a:r>
                    </a:p>
                  </a:txBody>
                  <a:tcPr>
                    <a:noFill/>
                  </a:tcPr>
                </a:tc>
                <a:tc>
                  <a:txBody>
                    <a:bodyPr/>
                    <a:lstStyle/>
                    <a:p>
                      <a:pPr algn="ctr"/>
                      <a:r>
                        <a:rPr lang="en-US" sz="2400" b="0" i="1" dirty="0">
                          <a:latin typeface="Consolas" panose="020B0609020204030204" pitchFamily="49" charset="0"/>
                          <a:cs typeface="Consolas" panose="020B0609020204030204" pitchFamily="49" charset="0"/>
                        </a:rPr>
                        <a:t>10</a:t>
                      </a:r>
                    </a:p>
                  </a:txBody>
                  <a:tcPr>
                    <a:noFill/>
                  </a:tcPr>
                </a:tc>
                <a:tc>
                  <a:txBody>
                    <a:bodyPr/>
                    <a:lstStyle/>
                    <a:p>
                      <a:pPr algn="ctr"/>
                      <a:r>
                        <a:rPr lang="en-US" sz="2400" b="0" i="1" dirty="0">
                          <a:latin typeface="Consolas" panose="020B0609020204030204" pitchFamily="49" charset="0"/>
                          <a:cs typeface="Consolas" panose="020B0609020204030204" pitchFamily="49" charset="0"/>
                        </a:rPr>
                        <a:t>11</a:t>
                      </a:r>
                    </a:p>
                  </a:txBody>
                  <a:tcPr>
                    <a:noFill/>
                  </a:tcPr>
                </a:tc>
                <a:extLst>
                  <a:ext uri="{0D108BD9-81ED-4DB2-BD59-A6C34878D82A}">
                    <a16:rowId xmlns:a16="http://schemas.microsoft.com/office/drawing/2014/main" val="639513657"/>
                  </a:ext>
                </a:extLst>
              </a:tr>
            </a:tbl>
          </a:graphicData>
        </a:graphic>
      </p:graphicFrame>
      <p:cxnSp>
        <p:nvCxnSpPr>
          <p:cNvPr id="10" name="Straight Arrow Connector 9">
            <a:extLst>
              <a:ext uri="{FF2B5EF4-FFF2-40B4-BE49-F238E27FC236}">
                <a16:creationId xmlns:a16="http://schemas.microsoft.com/office/drawing/2014/main" id="{DAB9DE9C-6B5A-164F-BC75-67E6DE28B9FC}"/>
              </a:ext>
            </a:extLst>
          </p:cNvPr>
          <p:cNvCxnSpPr>
            <a:cxnSpLocks/>
          </p:cNvCxnSpPr>
          <p:nvPr/>
        </p:nvCxnSpPr>
        <p:spPr>
          <a:xfrm flipH="1">
            <a:off x="1295400" y="1992720"/>
            <a:ext cx="1828800" cy="13981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894B4A6-2F2D-2F46-9ED8-2C87BF45780D}"/>
              </a:ext>
            </a:extLst>
          </p:cNvPr>
          <p:cNvCxnSpPr>
            <a:cxnSpLocks/>
          </p:cNvCxnSpPr>
          <p:nvPr/>
        </p:nvCxnSpPr>
        <p:spPr>
          <a:xfrm flipH="1">
            <a:off x="3810000" y="2066925"/>
            <a:ext cx="685800" cy="13525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AC54361-D5A1-EF43-AEB1-7808F1519C3E}"/>
              </a:ext>
            </a:extLst>
          </p:cNvPr>
          <p:cNvCxnSpPr>
            <a:cxnSpLocks/>
          </p:cNvCxnSpPr>
          <p:nvPr/>
        </p:nvCxnSpPr>
        <p:spPr>
          <a:xfrm>
            <a:off x="5953125" y="2028825"/>
            <a:ext cx="352425" cy="13335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378DBCD-7024-1C49-936B-C943E3894D4B}"/>
              </a:ext>
            </a:extLst>
          </p:cNvPr>
          <p:cNvSpPr txBox="1"/>
          <p:nvPr/>
        </p:nvSpPr>
        <p:spPr>
          <a:xfrm>
            <a:off x="609600" y="4217581"/>
            <a:ext cx="8077200" cy="646331"/>
          </a:xfrm>
          <a:prstGeom prst="rect">
            <a:avLst/>
          </a:prstGeom>
          <a:noFill/>
        </p:spPr>
        <p:txBody>
          <a:bodyPr wrap="square" rtlCol="0">
            <a:spAutoFit/>
          </a:bodyPr>
          <a:lstStyle/>
          <a:p>
            <a:pPr algn="ctr"/>
            <a:r>
              <a:rPr lang="en-US" sz="2200" dirty="0"/>
              <a:t>these numbers are the </a:t>
            </a:r>
            <a:r>
              <a:rPr lang="en-US" sz="2200" b="1" dirty="0"/>
              <a:t>offsets </a:t>
            </a:r>
            <a:r>
              <a:rPr lang="en-US" sz="2200" dirty="0"/>
              <a:t>from the beginning of the struct. </a:t>
            </a:r>
            <a:r>
              <a:rPr lang="en-US" sz="1400" dirty="0"/>
              <a:t>(assuming we're using a </a:t>
            </a:r>
            <a:r>
              <a:rPr lang="en-US" sz="1400" i="1" dirty="0"/>
              <a:t>byte-addressable</a:t>
            </a:r>
            <a:r>
              <a:rPr lang="en-US" sz="1400" dirty="0"/>
              <a:t> machine)</a:t>
            </a:r>
            <a:endParaRPr lang="en-US" sz="2200" dirty="0"/>
          </a:p>
        </p:txBody>
      </p:sp>
      <p:sp>
        <p:nvSpPr>
          <p:cNvPr id="24" name="TextBox 23">
            <a:extLst>
              <a:ext uri="{FF2B5EF4-FFF2-40B4-BE49-F238E27FC236}">
                <a16:creationId xmlns:a16="http://schemas.microsoft.com/office/drawing/2014/main" id="{614F2F2E-C888-7843-8306-8673A3321201}"/>
              </a:ext>
            </a:extLst>
          </p:cNvPr>
          <p:cNvSpPr txBox="1"/>
          <p:nvPr/>
        </p:nvSpPr>
        <p:spPr>
          <a:xfrm>
            <a:off x="533400" y="4849325"/>
            <a:ext cx="8077200" cy="430887"/>
          </a:xfrm>
          <a:prstGeom prst="rect">
            <a:avLst/>
          </a:prstGeom>
          <a:noFill/>
        </p:spPr>
        <p:txBody>
          <a:bodyPr wrap="square" rtlCol="0">
            <a:spAutoFit/>
          </a:bodyPr>
          <a:lstStyle/>
          <a:p>
            <a:pPr algn="ctr"/>
            <a:r>
              <a:rPr lang="en-US" sz="2200" dirty="0"/>
              <a:t>they say how far "into the struct" each field is.</a:t>
            </a:r>
          </a:p>
        </p:txBody>
      </p:sp>
    </p:spTree>
    <p:extLst>
      <p:ext uri="{BB962C8B-B14F-4D97-AF65-F5344CB8AC3E}">
        <p14:creationId xmlns:p14="http://schemas.microsoft.com/office/powerpoint/2010/main" val="34716653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23" grpId="0"/>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7EDC3-CB87-3843-9530-04650A1732B3}"/>
              </a:ext>
            </a:extLst>
          </p:cNvPr>
          <p:cNvSpPr>
            <a:spLocks noGrp="1"/>
          </p:cNvSpPr>
          <p:nvPr>
            <p:ph type="title"/>
          </p:nvPr>
        </p:nvSpPr>
        <p:spPr/>
        <p:txBody>
          <a:bodyPr/>
          <a:lstStyle/>
          <a:p>
            <a:r>
              <a:rPr lang="en-US" dirty="0"/>
              <a:t>Not so fast, Mister Gordon!</a:t>
            </a:r>
          </a:p>
        </p:txBody>
      </p:sp>
      <p:sp>
        <p:nvSpPr>
          <p:cNvPr id="3" name="Content Placeholder 2">
            <a:extLst>
              <a:ext uri="{FF2B5EF4-FFF2-40B4-BE49-F238E27FC236}">
                <a16:creationId xmlns:a16="http://schemas.microsoft.com/office/drawing/2014/main" id="{71458A02-2A50-1649-BE30-C06021A6CCD4}"/>
              </a:ext>
            </a:extLst>
          </p:cNvPr>
          <p:cNvSpPr>
            <a:spLocks noGrp="1"/>
          </p:cNvSpPr>
          <p:nvPr>
            <p:ph idx="1"/>
          </p:nvPr>
        </p:nvSpPr>
        <p:spPr>
          <a:xfrm>
            <a:off x="152400" y="495301"/>
            <a:ext cx="8991600" cy="914399"/>
          </a:xfrm>
        </p:spPr>
        <p:txBody>
          <a:bodyPr/>
          <a:lstStyle/>
          <a:p>
            <a:r>
              <a:rPr lang="en-US" dirty="0"/>
              <a:t>since </a:t>
            </a:r>
            <a:r>
              <a:rPr lang="en-US" b="1" dirty="0">
                <a:solidFill>
                  <a:srgbClr val="FF0000"/>
                </a:solidFill>
              </a:rPr>
              <a:t>bool</a:t>
            </a:r>
            <a:r>
              <a:rPr lang="en-US" b="1" dirty="0"/>
              <a:t> </a:t>
            </a:r>
            <a:r>
              <a:rPr lang="en-US" dirty="0"/>
              <a:t>takes up 1 byte, what if we had a struct like this:</a:t>
            </a:r>
          </a:p>
          <a:p>
            <a:pPr marL="522923" lvl="2" indent="0">
              <a:buNone/>
            </a:pPr>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Hmm { b: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i: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endParaRPr lang="en-US" dirty="0"/>
          </a:p>
        </p:txBody>
      </p:sp>
      <p:sp>
        <p:nvSpPr>
          <p:cNvPr id="4" name="Slide Number Placeholder 3">
            <a:extLst>
              <a:ext uri="{FF2B5EF4-FFF2-40B4-BE49-F238E27FC236}">
                <a16:creationId xmlns:a16="http://schemas.microsoft.com/office/drawing/2014/main" id="{1996A192-6227-C045-98E1-AA7F22D5C7A2}"/>
              </a:ext>
            </a:extLst>
          </p:cNvPr>
          <p:cNvSpPr>
            <a:spLocks noGrp="1"/>
          </p:cNvSpPr>
          <p:nvPr>
            <p:ph type="sldNum" sz="quarter" idx="12"/>
          </p:nvPr>
        </p:nvSpPr>
        <p:spPr/>
        <p:txBody>
          <a:bodyPr/>
          <a:lstStyle/>
          <a:p>
            <a:fld id="{3552B95B-556F-44BD-91A5-D80C1B9E2BB3}" type="slidenum">
              <a:rPr lang="en-US" smtClean="0"/>
              <a:pPr/>
              <a:t>14</a:t>
            </a:fld>
            <a:endParaRPr lang="en-US"/>
          </a:p>
        </p:txBody>
      </p:sp>
      <p:graphicFrame>
        <p:nvGraphicFramePr>
          <p:cNvPr id="5" name="Table 4">
            <a:extLst>
              <a:ext uri="{FF2B5EF4-FFF2-40B4-BE49-F238E27FC236}">
                <a16:creationId xmlns:a16="http://schemas.microsoft.com/office/drawing/2014/main" id="{4B95268D-6E3D-3E4B-88EA-7355A1B1B714}"/>
              </a:ext>
            </a:extLst>
          </p:cNvPr>
          <p:cNvGraphicFramePr>
            <a:graphicFrameLocks noGrp="1"/>
          </p:cNvGraphicFramePr>
          <p:nvPr>
            <p:extLst>
              <p:ext uri="{D42A27DB-BD31-4B8C-83A1-F6EECF244321}">
                <p14:modId xmlns:p14="http://schemas.microsoft.com/office/powerpoint/2010/main" val="3546397511"/>
              </p:ext>
            </p:extLst>
          </p:nvPr>
        </p:nvGraphicFramePr>
        <p:xfrm>
          <a:off x="533400" y="1409700"/>
          <a:ext cx="3200400" cy="64008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1780978681"/>
                    </a:ext>
                  </a:extLst>
                </a:gridCol>
                <a:gridCol w="640080">
                  <a:extLst>
                    <a:ext uri="{9D8B030D-6E8A-4147-A177-3AD203B41FA5}">
                      <a16:colId xmlns:a16="http://schemas.microsoft.com/office/drawing/2014/main" val="1832378760"/>
                    </a:ext>
                  </a:extLst>
                </a:gridCol>
                <a:gridCol w="640080">
                  <a:extLst>
                    <a:ext uri="{9D8B030D-6E8A-4147-A177-3AD203B41FA5}">
                      <a16:colId xmlns:a16="http://schemas.microsoft.com/office/drawing/2014/main" val="3304038371"/>
                    </a:ext>
                  </a:extLst>
                </a:gridCol>
              </a:tblGrid>
              <a:tr h="640080">
                <a:tc>
                  <a:txBody>
                    <a:bodyPr/>
                    <a:lstStyle/>
                    <a:p>
                      <a:pPr algn="ctr"/>
                      <a:r>
                        <a:rPr lang="en-US" sz="2800" b="1" dirty="0">
                          <a:latin typeface="Consolas" panose="020B0609020204030204" pitchFamily="49" charset="0"/>
                          <a:cs typeface="Consolas" panose="020B0609020204030204" pitchFamily="49" charset="0"/>
                        </a:rPr>
                        <a:t>b</a:t>
                      </a:r>
                    </a:p>
                  </a:txBody>
                  <a:tcPr anchor="ctr">
                    <a:solidFill>
                      <a:srgbClr val="00B050"/>
                    </a:solidFill>
                  </a:tcPr>
                </a:tc>
                <a:tc>
                  <a:txBody>
                    <a:bodyPr/>
                    <a:lstStyle/>
                    <a:p>
                      <a:pPr algn="ctr"/>
                      <a:r>
                        <a:rPr lang="en-US" sz="2800" b="1" dirty="0">
                          <a:latin typeface="Consolas" panose="020B0609020204030204" pitchFamily="49" charset="0"/>
                          <a:cs typeface="Consolas" panose="020B0609020204030204" pitchFamily="49" charset="0"/>
                        </a:rPr>
                        <a:t>i</a:t>
                      </a: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extLst>
                  <a:ext uri="{0D108BD9-81ED-4DB2-BD59-A6C34878D82A}">
                    <a16:rowId xmlns:a16="http://schemas.microsoft.com/office/drawing/2014/main" val="639513657"/>
                  </a:ext>
                </a:extLst>
              </a:tr>
            </a:tbl>
          </a:graphicData>
        </a:graphic>
      </p:graphicFrame>
      <p:graphicFrame>
        <p:nvGraphicFramePr>
          <p:cNvPr id="6" name="Table 5">
            <a:extLst>
              <a:ext uri="{FF2B5EF4-FFF2-40B4-BE49-F238E27FC236}">
                <a16:creationId xmlns:a16="http://schemas.microsoft.com/office/drawing/2014/main" id="{66C9128E-DB10-8C4F-8432-08BD500C938E}"/>
              </a:ext>
            </a:extLst>
          </p:cNvPr>
          <p:cNvGraphicFramePr>
            <a:graphicFrameLocks noGrp="1"/>
          </p:cNvGraphicFramePr>
          <p:nvPr>
            <p:extLst>
              <p:ext uri="{D42A27DB-BD31-4B8C-83A1-F6EECF244321}">
                <p14:modId xmlns:p14="http://schemas.microsoft.com/office/powerpoint/2010/main" val="684701341"/>
              </p:ext>
            </p:extLst>
          </p:nvPr>
        </p:nvGraphicFramePr>
        <p:xfrm>
          <a:off x="533400" y="2049780"/>
          <a:ext cx="3200400" cy="45720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3463030415"/>
                    </a:ext>
                  </a:extLst>
                </a:gridCol>
                <a:gridCol w="640080">
                  <a:extLst>
                    <a:ext uri="{9D8B030D-6E8A-4147-A177-3AD203B41FA5}">
                      <a16:colId xmlns:a16="http://schemas.microsoft.com/office/drawing/2014/main" val="33902713"/>
                    </a:ext>
                  </a:extLst>
                </a:gridCol>
                <a:gridCol w="640080">
                  <a:extLst>
                    <a:ext uri="{9D8B030D-6E8A-4147-A177-3AD203B41FA5}">
                      <a16:colId xmlns:a16="http://schemas.microsoft.com/office/drawing/2014/main" val="2786119553"/>
                    </a:ext>
                  </a:extLst>
                </a:gridCol>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tblGrid>
              <a:tr h="456140">
                <a:tc>
                  <a:txBody>
                    <a:bodyPr/>
                    <a:lstStyle/>
                    <a:p>
                      <a:pPr algn="ctr"/>
                      <a:r>
                        <a:rPr lang="en-US" sz="2400" b="0" i="1" dirty="0">
                          <a:latin typeface="Consolas" panose="020B0609020204030204" pitchFamily="49" charset="0"/>
                          <a:cs typeface="Consolas" panose="020B0609020204030204" pitchFamily="49" charset="0"/>
                        </a:rPr>
                        <a:t>0</a:t>
                      </a:r>
                    </a:p>
                  </a:txBody>
                  <a:tcPr>
                    <a:noFill/>
                  </a:tcPr>
                </a:tc>
                <a:tc>
                  <a:txBody>
                    <a:bodyPr/>
                    <a:lstStyle/>
                    <a:p>
                      <a:pPr algn="ctr"/>
                      <a:r>
                        <a:rPr lang="en-US" sz="2400" b="0" i="1" dirty="0">
                          <a:latin typeface="Consolas" panose="020B0609020204030204" pitchFamily="49" charset="0"/>
                          <a:cs typeface="Consolas" panose="020B0609020204030204" pitchFamily="49" charset="0"/>
                        </a:rPr>
                        <a:t>1</a:t>
                      </a:r>
                    </a:p>
                  </a:txBody>
                  <a:tcPr>
                    <a:noFill/>
                  </a:tcPr>
                </a:tc>
                <a:tc>
                  <a:txBody>
                    <a:bodyPr/>
                    <a:lstStyle/>
                    <a:p>
                      <a:pPr algn="ctr"/>
                      <a:r>
                        <a:rPr lang="en-US" sz="2400" b="0" i="1" dirty="0">
                          <a:latin typeface="Consolas" panose="020B0609020204030204" pitchFamily="49" charset="0"/>
                          <a:cs typeface="Consolas" panose="020B0609020204030204" pitchFamily="49" charset="0"/>
                        </a:rPr>
                        <a:t>2</a:t>
                      </a:r>
                    </a:p>
                  </a:txBody>
                  <a:tcPr>
                    <a:noFill/>
                  </a:tcPr>
                </a:tc>
                <a:tc>
                  <a:txBody>
                    <a:bodyPr/>
                    <a:lstStyle/>
                    <a:p>
                      <a:pPr algn="ctr"/>
                      <a:r>
                        <a:rPr lang="en-US" sz="2400" b="0" i="1" dirty="0">
                          <a:latin typeface="Consolas" panose="020B0609020204030204" pitchFamily="49" charset="0"/>
                          <a:cs typeface="Consolas" panose="020B0609020204030204" pitchFamily="49" charset="0"/>
                        </a:rPr>
                        <a:t>3</a:t>
                      </a:r>
                    </a:p>
                  </a:txBody>
                  <a:tcPr>
                    <a:noFill/>
                  </a:tcPr>
                </a:tc>
                <a:tc>
                  <a:txBody>
                    <a:bodyPr/>
                    <a:lstStyle/>
                    <a:p>
                      <a:pPr algn="ctr"/>
                      <a:r>
                        <a:rPr lang="en-US" sz="2400" b="0" i="1" dirty="0">
                          <a:latin typeface="Consolas" panose="020B0609020204030204" pitchFamily="49" charset="0"/>
                          <a:cs typeface="Consolas" panose="020B0609020204030204" pitchFamily="49" charset="0"/>
                        </a:rPr>
                        <a:t>4</a:t>
                      </a:r>
                    </a:p>
                  </a:txBody>
                  <a:tcPr>
                    <a:noFill/>
                  </a:tcPr>
                </a:tc>
                <a:extLst>
                  <a:ext uri="{0D108BD9-81ED-4DB2-BD59-A6C34878D82A}">
                    <a16:rowId xmlns:a16="http://schemas.microsoft.com/office/drawing/2014/main" val="639513657"/>
                  </a:ext>
                </a:extLst>
              </a:tr>
            </a:tbl>
          </a:graphicData>
        </a:graphic>
      </p:graphicFrame>
      <p:sp>
        <p:nvSpPr>
          <p:cNvPr id="7" name="TextBox 6">
            <a:extLst>
              <a:ext uri="{FF2B5EF4-FFF2-40B4-BE49-F238E27FC236}">
                <a16:creationId xmlns:a16="http://schemas.microsoft.com/office/drawing/2014/main" id="{5441EFF4-E108-584C-8E66-A0345DAC5FF0}"/>
              </a:ext>
            </a:extLst>
          </p:cNvPr>
          <p:cNvSpPr txBox="1"/>
          <p:nvPr/>
        </p:nvSpPr>
        <p:spPr>
          <a:xfrm>
            <a:off x="3924300" y="1312009"/>
            <a:ext cx="5029200" cy="430887"/>
          </a:xfrm>
          <a:prstGeom prst="rect">
            <a:avLst/>
          </a:prstGeom>
          <a:noFill/>
        </p:spPr>
        <p:txBody>
          <a:bodyPr wrap="square" rtlCol="0">
            <a:spAutoFit/>
          </a:bodyPr>
          <a:lstStyle/>
          <a:p>
            <a:pPr algn="ctr"/>
            <a:r>
              <a:rPr lang="en-US" sz="2200" dirty="0"/>
              <a:t>this is a totally valid way of doing it.</a:t>
            </a:r>
          </a:p>
        </p:txBody>
      </p:sp>
      <p:sp>
        <p:nvSpPr>
          <p:cNvPr id="8" name="TextBox 7">
            <a:extLst>
              <a:ext uri="{FF2B5EF4-FFF2-40B4-BE49-F238E27FC236}">
                <a16:creationId xmlns:a16="http://schemas.microsoft.com/office/drawing/2014/main" id="{D4EF99B5-321F-E94E-93E9-DDFCC510B582}"/>
              </a:ext>
            </a:extLst>
          </p:cNvPr>
          <p:cNvSpPr txBox="1"/>
          <p:nvPr/>
        </p:nvSpPr>
        <p:spPr>
          <a:xfrm>
            <a:off x="4572000" y="1731645"/>
            <a:ext cx="3733800" cy="769441"/>
          </a:xfrm>
          <a:prstGeom prst="rect">
            <a:avLst/>
          </a:prstGeom>
          <a:noFill/>
        </p:spPr>
        <p:txBody>
          <a:bodyPr wrap="square" rtlCol="0">
            <a:spAutoFit/>
          </a:bodyPr>
          <a:lstStyle/>
          <a:p>
            <a:pPr algn="ctr"/>
            <a:r>
              <a:rPr lang="en-US" sz="2200" dirty="0"/>
              <a:t>unfortunately, </a:t>
            </a:r>
            <a:r>
              <a:rPr lang="en-US" sz="2200" b="1" dirty="0"/>
              <a:t>lots of CPU architectures </a:t>
            </a:r>
            <a:r>
              <a:rPr lang="en-US" sz="2200" b="1" i="1" dirty="0"/>
              <a:t>hate this.</a:t>
            </a:r>
            <a:endParaRPr lang="en-US" sz="2200" dirty="0"/>
          </a:p>
        </p:txBody>
      </p:sp>
      <p:sp>
        <p:nvSpPr>
          <p:cNvPr id="9" name="TextBox 8">
            <a:extLst>
              <a:ext uri="{FF2B5EF4-FFF2-40B4-BE49-F238E27FC236}">
                <a16:creationId xmlns:a16="http://schemas.microsoft.com/office/drawing/2014/main" id="{74DF8837-0370-C64D-8A0F-E243F9AEFBAF}"/>
              </a:ext>
            </a:extLst>
          </p:cNvPr>
          <p:cNvSpPr txBox="1"/>
          <p:nvPr/>
        </p:nvSpPr>
        <p:spPr>
          <a:xfrm>
            <a:off x="938212" y="2524507"/>
            <a:ext cx="7419975" cy="769441"/>
          </a:xfrm>
          <a:prstGeom prst="rect">
            <a:avLst/>
          </a:prstGeom>
          <a:noFill/>
        </p:spPr>
        <p:txBody>
          <a:bodyPr wrap="square" rtlCol="0">
            <a:spAutoFit/>
          </a:bodyPr>
          <a:lstStyle/>
          <a:p>
            <a:pPr algn="ctr"/>
            <a:r>
              <a:rPr lang="en-US" sz="2200" dirty="0"/>
              <a:t>CPUs like values to be </a:t>
            </a:r>
            <a:r>
              <a:rPr lang="en-US" sz="2200" b="1" dirty="0"/>
              <a:t>aligned. </a:t>
            </a:r>
            <a:r>
              <a:rPr lang="en-US" sz="2200" dirty="0"/>
              <a:t>that means:</a:t>
            </a:r>
            <a:r>
              <a:rPr lang="en-US" sz="2200" b="1" dirty="0"/>
              <a:t> </a:t>
            </a:r>
            <a:r>
              <a:rPr lang="en-US" sz="2200" dirty="0">
                <a:solidFill>
                  <a:srgbClr val="FF0000"/>
                </a:solidFill>
              </a:rPr>
              <a:t>the memory address in an </a:t>
            </a:r>
            <a:r>
              <a:rPr lang="en-US" sz="2200" i="1" dirty="0">
                <a:solidFill>
                  <a:srgbClr val="FF0000"/>
                </a:solidFill>
              </a:rPr>
              <a:t>n-</a:t>
            </a:r>
            <a:r>
              <a:rPr lang="en-US" sz="2200" dirty="0">
                <a:solidFill>
                  <a:srgbClr val="FF0000"/>
                </a:solidFill>
              </a:rPr>
              <a:t>byte load/store </a:t>
            </a:r>
            <a:r>
              <a:rPr lang="en-US" sz="2200" b="1" dirty="0">
                <a:solidFill>
                  <a:srgbClr val="FF0000"/>
                </a:solidFill>
              </a:rPr>
              <a:t>must be a multiple of </a:t>
            </a:r>
            <a:r>
              <a:rPr lang="en-US" sz="2200" b="1" i="1" dirty="0">
                <a:solidFill>
                  <a:srgbClr val="FF0000"/>
                </a:solidFill>
              </a:rPr>
              <a:t>n</a:t>
            </a:r>
            <a:r>
              <a:rPr lang="en-US" sz="2200" b="1" dirty="0">
                <a:solidFill>
                  <a:srgbClr val="FF0000"/>
                </a:solidFill>
              </a:rPr>
              <a:t>.</a:t>
            </a:r>
            <a:endParaRPr lang="en-US" sz="2200" dirty="0">
              <a:solidFill>
                <a:srgbClr val="FF0000"/>
              </a:solidFill>
            </a:endParaRPr>
          </a:p>
        </p:txBody>
      </p:sp>
      <p:sp>
        <p:nvSpPr>
          <p:cNvPr id="10" name="TextBox 9">
            <a:extLst>
              <a:ext uri="{FF2B5EF4-FFF2-40B4-BE49-F238E27FC236}">
                <a16:creationId xmlns:a16="http://schemas.microsoft.com/office/drawing/2014/main" id="{BD18E8FC-4F90-F142-80B6-02F4DB3A5710}"/>
              </a:ext>
            </a:extLst>
          </p:cNvPr>
          <p:cNvSpPr txBox="1"/>
          <p:nvPr/>
        </p:nvSpPr>
        <p:spPr>
          <a:xfrm>
            <a:off x="304800" y="3383954"/>
            <a:ext cx="6858000" cy="769441"/>
          </a:xfrm>
          <a:prstGeom prst="rect">
            <a:avLst/>
          </a:prstGeom>
          <a:noFill/>
        </p:spPr>
        <p:txBody>
          <a:bodyPr wrap="square" rtlCol="0">
            <a:spAutoFit/>
          </a:bodyPr>
          <a:lstStyle/>
          <a:p>
            <a:pPr algn="ctr"/>
            <a:r>
              <a:rPr lang="en-US" sz="2200" dirty="0"/>
              <a:t>x86 CPUs will access unaligned values </a:t>
            </a:r>
            <a:r>
              <a:rPr lang="en-US" sz="2200" i="1" dirty="0"/>
              <a:t>very slowly</a:t>
            </a:r>
            <a:r>
              <a:rPr lang="en-US" sz="2200" dirty="0"/>
              <a:t>. MIPS CPUs will crash. </a:t>
            </a:r>
            <a:r>
              <a:rPr lang="en-US" sz="1200" dirty="0"/>
              <a:t>(unless you use the much slower unaligned loads/stores)</a:t>
            </a:r>
            <a:endParaRPr lang="en-US" sz="2200" dirty="0">
              <a:solidFill>
                <a:srgbClr val="FF0000"/>
              </a:solidFill>
            </a:endParaRPr>
          </a:p>
        </p:txBody>
      </p:sp>
      <p:sp>
        <p:nvSpPr>
          <p:cNvPr id="11" name="TextBox 10">
            <a:extLst>
              <a:ext uri="{FF2B5EF4-FFF2-40B4-BE49-F238E27FC236}">
                <a16:creationId xmlns:a16="http://schemas.microsoft.com/office/drawing/2014/main" id="{3791D848-1214-B248-9B85-5069600A1825}"/>
              </a:ext>
            </a:extLst>
          </p:cNvPr>
          <p:cNvSpPr txBox="1"/>
          <p:nvPr/>
        </p:nvSpPr>
        <p:spPr>
          <a:xfrm>
            <a:off x="1905001" y="4305300"/>
            <a:ext cx="7048500" cy="769441"/>
          </a:xfrm>
          <a:prstGeom prst="rect">
            <a:avLst/>
          </a:prstGeom>
          <a:noFill/>
        </p:spPr>
        <p:txBody>
          <a:bodyPr wrap="square" rtlCol="0">
            <a:spAutoFit/>
          </a:bodyPr>
          <a:lstStyle/>
          <a:p>
            <a:pPr algn="ctr"/>
            <a:r>
              <a:rPr lang="en-US" sz="2200" dirty="0"/>
              <a:t>so, we need to insert </a:t>
            </a:r>
            <a:r>
              <a:rPr lang="en-US" sz="2200" b="1" dirty="0"/>
              <a:t>padding </a:t>
            </a:r>
            <a:r>
              <a:rPr lang="en-US" sz="2200" dirty="0"/>
              <a:t>(extra unused bytes) into our structs to ensure each field is properly aligned.</a:t>
            </a:r>
            <a:endParaRPr lang="en-US" sz="2200" dirty="0">
              <a:solidFill>
                <a:srgbClr val="FF0000"/>
              </a:solidFill>
            </a:endParaRPr>
          </a:p>
        </p:txBody>
      </p:sp>
    </p:spTree>
    <p:extLst>
      <p:ext uri="{BB962C8B-B14F-4D97-AF65-F5344CB8AC3E}">
        <p14:creationId xmlns:p14="http://schemas.microsoft.com/office/powerpoint/2010/main" val="10907392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482E3-E927-214E-9A92-79686B4254AB}"/>
              </a:ext>
            </a:extLst>
          </p:cNvPr>
          <p:cNvSpPr>
            <a:spLocks noGrp="1"/>
          </p:cNvSpPr>
          <p:nvPr>
            <p:ph type="title"/>
          </p:nvPr>
        </p:nvSpPr>
        <p:spPr/>
        <p:txBody>
          <a:bodyPr/>
          <a:lstStyle/>
          <a:p>
            <a:r>
              <a:rPr lang="en-US" dirty="0"/>
              <a:t>Struct padding</a:t>
            </a:r>
          </a:p>
        </p:txBody>
      </p:sp>
      <p:sp>
        <p:nvSpPr>
          <p:cNvPr id="3" name="Content Placeholder 2">
            <a:extLst>
              <a:ext uri="{FF2B5EF4-FFF2-40B4-BE49-F238E27FC236}">
                <a16:creationId xmlns:a16="http://schemas.microsoft.com/office/drawing/2014/main" id="{EE60A99D-7FDD-AE4E-87F9-1760F14454F7}"/>
              </a:ext>
            </a:extLst>
          </p:cNvPr>
          <p:cNvSpPr>
            <a:spLocks noGrp="1"/>
          </p:cNvSpPr>
          <p:nvPr>
            <p:ph idx="1"/>
          </p:nvPr>
        </p:nvSpPr>
        <p:spPr>
          <a:xfrm>
            <a:off x="152400" y="495301"/>
            <a:ext cx="8991600" cy="1600199"/>
          </a:xfrm>
        </p:spPr>
        <p:txBody>
          <a:bodyPr/>
          <a:lstStyle/>
          <a:p>
            <a:r>
              <a:rPr lang="en-US" dirty="0"/>
              <a:t>we place each field </a:t>
            </a:r>
            <a:r>
              <a:rPr lang="en-US" b="1" dirty="0"/>
              <a:t>at an offset that is a multiple of its alignment.</a:t>
            </a:r>
          </a:p>
          <a:p>
            <a:r>
              <a:rPr lang="en-US" dirty="0"/>
              <a:t>then, the </a:t>
            </a:r>
            <a:r>
              <a:rPr lang="en-US" dirty="0" err="1"/>
              <a:t>struct's</a:t>
            </a:r>
            <a:r>
              <a:rPr lang="en-US" dirty="0"/>
              <a:t> size </a:t>
            </a:r>
            <a:r>
              <a:rPr lang="en-US" b="1" dirty="0"/>
              <a:t>as a whole </a:t>
            </a:r>
            <a:r>
              <a:rPr lang="en-US" dirty="0"/>
              <a:t>is rounded up to the </a:t>
            </a:r>
            <a:r>
              <a:rPr lang="en-US" b="1" dirty="0"/>
              <a:t>largest alignment of any field. </a:t>
            </a:r>
            <a:r>
              <a:rPr lang="en-US" sz="1600" dirty="0"/>
              <a:t>(this is important for arrays of structs.)</a:t>
            </a:r>
            <a:endParaRPr lang="en-US" dirty="0"/>
          </a:p>
          <a:p>
            <a:r>
              <a:rPr lang="en-US" dirty="0"/>
              <a:t>so for this: </a:t>
            </a:r>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Hmm { b: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i: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endParaRPr lang="en-US" dirty="0"/>
          </a:p>
        </p:txBody>
      </p:sp>
      <p:sp>
        <p:nvSpPr>
          <p:cNvPr id="4" name="Slide Number Placeholder 3">
            <a:extLst>
              <a:ext uri="{FF2B5EF4-FFF2-40B4-BE49-F238E27FC236}">
                <a16:creationId xmlns:a16="http://schemas.microsoft.com/office/drawing/2014/main" id="{2616108D-FC1E-5F4D-A4EC-F4E51F233410}"/>
              </a:ext>
            </a:extLst>
          </p:cNvPr>
          <p:cNvSpPr>
            <a:spLocks noGrp="1"/>
          </p:cNvSpPr>
          <p:nvPr>
            <p:ph type="sldNum" sz="quarter" idx="12"/>
          </p:nvPr>
        </p:nvSpPr>
        <p:spPr/>
        <p:txBody>
          <a:bodyPr/>
          <a:lstStyle/>
          <a:p>
            <a:fld id="{3552B95B-556F-44BD-91A5-D80C1B9E2BB3}" type="slidenum">
              <a:rPr lang="en-US" smtClean="0"/>
              <a:pPr/>
              <a:t>15</a:t>
            </a:fld>
            <a:endParaRPr lang="en-US"/>
          </a:p>
        </p:txBody>
      </p:sp>
      <p:graphicFrame>
        <p:nvGraphicFramePr>
          <p:cNvPr id="5" name="Table 4">
            <a:extLst>
              <a:ext uri="{FF2B5EF4-FFF2-40B4-BE49-F238E27FC236}">
                <a16:creationId xmlns:a16="http://schemas.microsoft.com/office/drawing/2014/main" id="{87244F4B-0B81-3244-BCEF-CE0076729CBA}"/>
              </a:ext>
            </a:extLst>
          </p:cNvPr>
          <p:cNvGraphicFramePr>
            <a:graphicFrameLocks noGrp="1"/>
          </p:cNvGraphicFramePr>
          <p:nvPr>
            <p:extLst>
              <p:ext uri="{D42A27DB-BD31-4B8C-83A1-F6EECF244321}">
                <p14:modId xmlns:p14="http://schemas.microsoft.com/office/powerpoint/2010/main" val="3359108882"/>
              </p:ext>
            </p:extLst>
          </p:nvPr>
        </p:nvGraphicFramePr>
        <p:xfrm>
          <a:off x="609600" y="2114550"/>
          <a:ext cx="5120640" cy="64008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40484686"/>
                    </a:ext>
                  </a:extLst>
                </a:gridCol>
                <a:gridCol w="640080">
                  <a:extLst>
                    <a:ext uri="{9D8B030D-6E8A-4147-A177-3AD203B41FA5}">
                      <a16:colId xmlns:a16="http://schemas.microsoft.com/office/drawing/2014/main" val="2323569510"/>
                    </a:ext>
                  </a:extLst>
                </a:gridCol>
                <a:gridCol w="640080">
                  <a:extLst>
                    <a:ext uri="{9D8B030D-6E8A-4147-A177-3AD203B41FA5}">
                      <a16:colId xmlns:a16="http://schemas.microsoft.com/office/drawing/2014/main" val="1434421848"/>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1780978681"/>
                    </a:ext>
                  </a:extLst>
                </a:gridCol>
                <a:gridCol w="640080">
                  <a:extLst>
                    <a:ext uri="{9D8B030D-6E8A-4147-A177-3AD203B41FA5}">
                      <a16:colId xmlns:a16="http://schemas.microsoft.com/office/drawing/2014/main" val="1832378760"/>
                    </a:ext>
                  </a:extLst>
                </a:gridCol>
                <a:gridCol w="640080">
                  <a:extLst>
                    <a:ext uri="{9D8B030D-6E8A-4147-A177-3AD203B41FA5}">
                      <a16:colId xmlns:a16="http://schemas.microsoft.com/office/drawing/2014/main" val="3304038371"/>
                    </a:ext>
                  </a:extLst>
                </a:gridCol>
              </a:tblGrid>
              <a:tr h="640080">
                <a:tc>
                  <a:txBody>
                    <a:bodyPr/>
                    <a:lstStyle/>
                    <a:p>
                      <a:pPr algn="ctr"/>
                      <a:r>
                        <a:rPr lang="en-US" sz="2800" b="1" dirty="0">
                          <a:latin typeface="Consolas" panose="020B0609020204030204" pitchFamily="49" charset="0"/>
                          <a:cs typeface="Consolas" panose="020B0609020204030204" pitchFamily="49" charset="0"/>
                        </a:rPr>
                        <a:t>b</a:t>
                      </a:r>
                    </a:p>
                  </a:txBody>
                  <a:tcPr anchor="ctr">
                    <a:solidFill>
                      <a:srgbClr val="00B050"/>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tc>
                  <a:txBody>
                    <a:bodyPr/>
                    <a:lstStyle/>
                    <a:p>
                      <a:pPr algn="ctr"/>
                      <a:r>
                        <a:rPr lang="en-US" sz="2800" b="1" dirty="0">
                          <a:latin typeface="Consolas" panose="020B0609020204030204" pitchFamily="49" charset="0"/>
                          <a:cs typeface="Consolas" panose="020B0609020204030204" pitchFamily="49" charset="0"/>
                        </a:rPr>
                        <a:t>i</a:t>
                      </a: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extLst>
                  <a:ext uri="{0D108BD9-81ED-4DB2-BD59-A6C34878D82A}">
                    <a16:rowId xmlns:a16="http://schemas.microsoft.com/office/drawing/2014/main" val="639513657"/>
                  </a:ext>
                </a:extLst>
              </a:tr>
            </a:tbl>
          </a:graphicData>
        </a:graphic>
      </p:graphicFrame>
      <p:graphicFrame>
        <p:nvGraphicFramePr>
          <p:cNvPr id="6" name="Table 5">
            <a:extLst>
              <a:ext uri="{FF2B5EF4-FFF2-40B4-BE49-F238E27FC236}">
                <a16:creationId xmlns:a16="http://schemas.microsoft.com/office/drawing/2014/main" id="{0FD6D20C-5E58-874B-A83E-2A3551039ACD}"/>
              </a:ext>
            </a:extLst>
          </p:cNvPr>
          <p:cNvGraphicFramePr>
            <a:graphicFrameLocks noGrp="1"/>
          </p:cNvGraphicFramePr>
          <p:nvPr>
            <p:extLst>
              <p:ext uri="{D42A27DB-BD31-4B8C-83A1-F6EECF244321}">
                <p14:modId xmlns:p14="http://schemas.microsoft.com/office/powerpoint/2010/main" val="1880246847"/>
              </p:ext>
            </p:extLst>
          </p:nvPr>
        </p:nvGraphicFramePr>
        <p:xfrm>
          <a:off x="609600" y="2754630"/>
          <a:ext cx="5120640" cy="45720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3463030415"/>
                    </a:ext>
                  </a:extLst>
                </a:gridCol>
                <a:gridCol w="640080">
                  <a:extLst>
                    <a:ext uri="{9D8B030D-6E8A-4147-A177-3AD203B41FA5}">
                      <a16:colId xmlns:a16="http://schemas.microsoft.com/office/drawing/2014/main" val="33902713"/>
                    </a:ext>
                  </a:extLst>
                </a:gridCol>
                <a:gridCol w="640080">
                  <a:extLst>
                    <a:ext uri="{9D8B030D-6E8A-4147-A177-3AD203B41FA5}">
                      <a16:colId xmlns:a16="http://schemas.microsoft.com/office/drawing/2014/main" val="2786119553"/>
                    </a:ext>
                  </a:extLst>
                </a:gridCol>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705944900"/>
                    </a:ext>
                  </a:extLst>
                </a:gridCol>
                <a:gridCol w="640080">
                  <a:extLst>
                    <a:ext uri="{9D8B030D-6E8A-4147-A177-3AD203B41FA5}">
                      <a16:colId xmlns:a16="http://schemas.microsoft.com/office/drawing/2014/main" val="2266819911"/>
                    </a:ext>
                  </a:extLst>
                </a:gridCol>
                <a:gridCol w="640080">
                  <a:extLst>
                    <a:ext uri="{9D8B030D-6E8A-4147-A177-3AD203B41FA5}">
                      <a16:colId xmlns:a16="http://schemas.microsoft.com/office/drawing/2014/main" val="3507915913"/>
                    </a:ext>
                  </a:extLst>
                </a:gridCol>
              </a:tblGrid>
              <a:tr h="456140">
                <a:tc>
                  <a:txBody>
                    <a:bodyPr/>
                    <a:lstStyle/>
                    <a:p>
                      <a:pPr algn="ctr"/>
                      <a:r>
                        <a:rPr lang="en-US" sz="2400" b="0" i="1" dirty="0">
                          <a:latin typeface="Consolas" panose="020B0609020204030204" pitchFamily="49" charset="0"/>
                          <a:cs typeface="Consolas" panose="020B0609020204030204" pitchFamily="49" charset="0"/>
                        </a:rPr>
                        <a:t>0</a:t>
                      </a:r>
                    </a:p>
                  </a:txBody>
                  <a:tcPr>
                    <a:noFill/>
                  </a:tcPr>
                </a:tc>
                <a:tc>
                  <a:txBody>
                    <a:bodyPr/>
                    <a:lstStyle/>
                    <a:p>
                      <a:pPr algn="ctr"/>
                      <a:r>
                        <a:rPr lang="en-US" sz="2400" b="0" i="1" dirty="0">
                          <a:latin typeface="Consolas" panose="020B0609020204030204" pitchFamily="49" charset="0"/>
                          <a:cs typeface="Consolas" panose="020B0609020204030204" pitchFamily="49" charset="0"/>
                        </a:rPr>
                        <a:t>1</a:t>
                      </a:r>
                    </a:p>
                  </a:txBody>
                  <a:tcPr>
                    <a:noFill/>
                  </a:tcPr>
                </a:tc>
                <a:tc>
                  <a:txBody>
                    <a:bodyPr/>
                    <a:lstStyle/>
                    <a:p>
                      <a:pPr algn="ctr"/>
                      <a:r>
                        <a:rPr lang="en-US" sz="2400" b="0" i="1" dirty="0">
                          <a:latin typeface="Consolas" panose="020B0609020204030204" pitchFamily="49" charset="0"/>
                          <a:cs typeface="Consolas" panose="020B0609020204030204" pitchFamily="49" charset="0"/>
                        </a:rPr>
                        <a:t>2</a:t>
                      </a:r>
                    </a:p>
                  </a:txBody>
                  <a:tcPr>
                    <a:noFill/>
                  </a:tcPr>
                </a:tc>
                <a:tc>
                  <a:txBody>
                    <a:bodyPr/>
                    <a:lstStyle/>
                    <a:p>
                      <a:pPr algn="ctr"/>
                      <a:r>
                        <a:rPr lang="en-US" sz="2400" b="0" i="1" dirty="0">
                          <a:latin typeface="Consolas" panose="020B0609020204030204" pitchFamily="49" charset="0"/>
                          <a:cs typeface="Consolas" panose="020B0609020204030204" pitchFamily="49" charset="0"/>
                        </a:rPr>
                        <a:t>3</a:t>
                      </a:r>
                    </a:p>
                  </a:txBody>
                  <a:tcPr>
                    <a:noFill/>
                  </a:tcPr>
                </a:tc>
                <a:tc>
                  <a:txBody>
                    <a:bodyPr/>
                    <a:lstStyle/>
                    <a:p>
                      <a:pPr algn="ctr"/>
                      <a:r>
                        <a:rPr lang="en-US" sz="2400" b="0" i="1" dirty="0">
                          <a:latin typeface="Consolas" panose="020B0609020204030204" pitchFamily="49" charset="0"/>
                          <a:cs typeface="Consolas" panose="020B0609020204030204" pitchFamily="49" charset="0"/>
                        </a:rPr>
                        <a:t>4</a:t>
                      </a:r>
                    </a:p>
                  </a:txBody>
                  <a:tcPr>
                    <a:noFill/>
                  </a:tcPr>
                </a:tc>
                <a:tc>
                  <a:txBody>
                    <a:bodyPr/>
                    <a:lstStyle/>
                    <a:p>
                      <a:pPr algn="ctr"/>
                      <a:r>
                        <a:rPr lang="en-US" sz="2400" b="0" i="1" dirty="0">
                          <a:latin typeface="Consolas" panose="020B0609020204030204" pitchFamily="49" charset="0"/>
                          <a:cs typeface="Consolas" panose="020B0609020204030204" pitchFamily="49" charset="0"/>
                        </a:rPr>
                        <a:t>5</a:t>
                      </a:r>
                    </a:p>
                  </a:txBody>
                  <a:tcPr>
                    <a:noFill/>
                  </a:tcPr>
                </a:tc>
                <a:tc>
                  <a:txBody>
                    <a:bodyPr/>
                    <a:lstStyle/>
                    <a:p>
                      <a:pPr algn="ctr"/>
                      <a:r>
                        <a:rPr lang="en-US" sz="2400" b="0" i="1" dirty="0">
                          <a:latin typeface="Consolas" panose="020B0609020204030204" pitchFamily="49" charset="0"/>
                          <a:cs typeface="Consolas" panose="020B0609020204030204" pitchFamily="49" charset="0"/>
                        </a:rPr>
                        <a:t>6</a:t>
                      </a:r>
                    </a:p>
                  </a:txBody>
                  <a:tcPr>
                    <a:noFill/>
                  </a:tcPr>
                </a:tc>
                <a:tc>
                  <a:txBody>
                    <a:bodyPr/>
                    <a:lstStyle/>
                    <a:p>
                      <a:pPr algn="ctr"/>
                      <a:r>
                        <a:rPr lang="en-US" sz="2400" b="0" i="1" dirty="0">
                          <a:latin typeface="Consolas" panose="020B0609020204030204" pitchFamily="49" charset="0"/>
                          <a:cs typeface="Consolas" panose="020B0609020204030204" pitchFamily="49" charset="0"/>
                        </a:rPr>
                        <a:t>7</a:t>
                      </a:r>
                    </a:p>
                  </a:txBody>
                  <a:tcPr>
                    <a:noFill/>
                  </a:tcPr>
                </a:tc>
                <a:extLst>
                  <a:ext uri="{0D108BD9-81ED-4DB2-BD59-A6C34878D82A}">
                    <a16:rowId xmlns:a16="http://schemas.microsoft.com/office/drawing/2014/main" val="639513657"/>
                  </a:ext>
                </a:extLst>
              </a:tr>
            </a:tbl>
          </a:graphicData>
        </a:graphic>
      </p:graphicFrame>
      <p:graphicFrame>
        <p:nvGraphicFramePr>
          <p:cNvPr id="7" name="Table 6">
            <a:extLst>
              <a:ext uri="{FF2B5EF4-FFF2-40B4-BE49-F238E27FC236}">
                <a16:creationId xmlns:a16="http://schemas.microsoft.com/office/drawing/2014/main" id="{05C712F8-D136-1C44-9496-5FD292826D73}"/>
              </a:ext>
            </a:extLst>
          </p:cNvPr>
          <p:cNvGraphicFramePr>
            <a:graphicFrameLocks noGrp="1"/>
          </p:cNvGraphicFramePr>
          <p:nvPr>
            <p:extLst>
              <p:ext uri="{D42A27DB-BD31-4B8C-83A1-F6EECF244321}">
                <p14:modId xmlns:p14="http://schemas.microsoft.com/office/powerpoint/2010/main" val="3438197112"/>
              </p:ext>
            </p:extLst>
          </p:nvPr>
        </p:nvGraphicFramePr>
        <p:xfrm>
          <a:off x="609600" y="4122420"/>
          <a:ext cx="5120640" cy="64008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1780978681"/>
                    </a:ext>
                  </a:extLst>
                </a:gridCol>
                <a:gridCol w="640080">
                  <a:extLst>
                    <a:ext uri="{9D8B030D-6E8A-4147-A177-3AD203B41FA5}">
                      <a16:colId xmlns:a16="http://schemas.microsoft.com/office/drawing/2014/main" val="1832378760"/>
                    </a:ext>
                  </a:extLst>
                </a:gridCol>
                <a:gridCol w="640080">
                  <a:extLst>
                    <a:ext uri="{9D8B030D-6E8A-4147-A177-3AD203B41FA5}">
                      <a16:colId xmlns:a16="http://schemas.microsoft.com/office/drawing/2014/main" val="3304038371"/>
                    </a:ext>
                  </a:extLst>
                </a:gridCol>
                <a:gridCol w="640080">
                  <a:extLst>
                    <a:ext uri="{9D8B030D-6E8A-4147-A177-3AD203B41FA5}">
                      <a16:colId xmlns:a16="http://schemas.microsoft.com/office/drawing/2014/main" val="1436632240"/>
                    </a:ext>
                  </a:extLst>
                </a:gridCol>
                <a:gridCol w="640080">
                  <a:extLst>
                    <a:ext uri="{9D8B030D-6E8A-4147-A177-3AD203B41FA5}">
                      <a16:colId xmlns:a16="http://schemas.microsoft.com/office/drawing/2014/main" val="2611026515"/>
                    </a:ext>
                  </a:extLst>
                </a:gridCol>
                <a:gridCol w="640080">
                  <a:extLst>
                    <a:ext uri="{9D8B030D-6E8A-4147-A177-3AD203B41FA5}">
                      <a16:colId xmlns:a16="http://schemas.microsoft.com/office/drawing/2014/main" val="799626535"/>
                    </a:ext>
                  </a:extLst>
                </a:gridCol>
                <a:gridCol w="640080">
                  <a:extLst>
                    <a:ext uri="{9D8B030D-6E8A-4147-A177-3AD203B41FA5}">
                      <a16:colId xmlns:a16="http://schemas.microsoft.com/office/drawing/2014/main" val="4139380425"/>
                    </a:ext>
                  </a:extLst>
                </a:gridCol>
              </a:tblGrid>
              <a:tr h="640080">
                <a:tc>
                  <a:txBody>
                    <a:bodyPr/>
                    <a:lstStyle/>
                    <a:p>
                      <a:pPr algn="ctr"/>
                      <a:r>
                        <a:rPr lang="en-US" sz="2800" b="1" dirty="0">
                          <a:latin typeface="Consolas" panose="020B0609020204030204" pitchFamily="49" charset="0"/>
                          <a:cs typeface="Consolas" panose="020B0609020204030204" pitchFamily="49" charset="0"/>
                        </a:rPr>
                        <a:t>i</a:t>
                      </a: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accent6">
                        <a:lumMod val="75000"/>
                      </a:schemeClr>
                    </a:solidFill>
                  </a:tcPr>
                </a:tc>
                <a:tc>
                  <a:txBody>
                    <a:bodyPr/>
                    <a:lstStyle/>
                    <a:p>
                      <a:pPr algn="ctr"/>
                      <a:r>
                        <a:rPr lang="en-US" sz="2800" b="1" dirty="0">
                          <a:latin typeface="Consolas" panose="020B0609020204030204" pitchFamily="49" charset="0"/>
                          <a:cs typeface="Consolas" panose="020B0609020204030204" pitchFamily="49" charset="0"/>
                        </a:rPr>
                        <a:t>b</a:t>
                      </a:r>
                    </a:p>
                  </a:txBody>
                  <a:tcPr anchor="ctr">
                    <a:solidFill>
                      <a:srgbClr val="00B050"/>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tc>
                  <a:txBody>
                    <a:bodyPr/>
                    <a:lstStyle/>
                    <a:p>
                      <a:pPr algn="ctr"/>
                      <a:endParaRPr lang="en-US" sz="2800" b="1" dirty="0">
                        <a:latin typeface="Consolas" panose="020B0609020204030204" pitchFamily="49" charset="0"/>
                        <a:cs typeface="Consolas" panose="020B0609020204030204" pitchFamily="49" charset="0"/>
                      </a:endParaRPr>
                    </a:p>
                  </a:txBody>
                  <a:tcPr anchor="ctr">
                    <a:solidFill>
                      <a:schemeClr val="bg1">
                        <a:lumMod val="75000"/>
                      </a:schemeClr>
                    </a:solidFill>
                  </a:tcPr>
                </a:tc>
                <a:extLst>
                  <a:ext uri="{0D108BD9-81ED-4DB2-BD59-A6C34878D82A}">
                    <a16:rowId xmlns:a16="http://schemas.microsoft.com/office/drawing/2014/main" val="639513657"/>
                  </a:ext>
                </a:extLst>
              </a:tr>
            </a:tbl>
          </a:graphicData>
        </a:graphic>
      </p:graphicFrame>
      <p:graphicFrame>
        <p:nvGraphicFramePr>
          <p:cNvPr id="8" name="Table 7">
            <a:extLst>
              <a:ext uri="{FF2B5EF4-FFF2-40B4-BE49-F238E27FC236}">
                <a16:creationId xmlns:a16="http://schemas.microsoft.com/office/drawing/2014/main" id="{C62F908A-8F0E-174A-854B-016269104068}"/>
              </a:ext>
            </a:extLst>
          </p:cNvPr>
          <p:cNvGraphicFramePr>
            <a:graphicFrameLocks noGrp="1"/>
          </p:cNvGraphicFramePr>
          <p:nvPr>
            <p:extLst>
              <p:ext uri="{D42A27DB-BD31-4B8C-83A1-F6EECF244321}">
                <p14:modId xmlns:p14="http://schemas.microsoft.com/office/powerpoint/2010/main" val="2088259926"/>
              </p:ext>
            </p:extLst>
          </p:nvPr>
        </p:nvGraphicFramePr>
        <p:xfrm>
          <a:off x="609600" y="4762500"/>
          <a:ext cx="5120640" cy="457200"/>
        </p:xfrm>
        <a:graphic>
          <a:graphicData uri="http://schemas.openxmlformats.org/drawingml/2006/table">
            <a:tbl>
              <a:tblPr bandRow="1">
                <a:tableStyleId>{5C22544A-7EE6-4342-B048-85BDC9FD1C3A}</a:tableStyleId>
              </a:tblPr>
              <a:tblGrid>
                <a:gridCol w="640080">
                  <a:extLst>
                    <a:ext uri="{9D8B030D-6E8A-4147-A177-3AD203B41FA5}">
                      <a16:colId xmlns:a16="http://schemas.microsoft.com/office/drawing/2014/main" val="3463030415"/>
                    </a:ext>
                  </a:extLst>
                </a:gridCol>
                <a:gridCol w="640080">
                  <a:extLst>
                    <a:ext uri="{9D8B030D-6E8A-4147-A177-3AD203B41FA5}">
                      <a16:colId xmlns:a16="http://schemas.microsoft.com/office/drawing/2014/main" val="33902713"/>
                    </a:ext>
                  </a:extLst>
                </a:gridCol>
                <a:gridCol w="640080">
                  <a:extLst>
                    <a:ext uri="{9D8B030D-6E8A-4147-A177-3AD203B41FA5}">
                      <a16:colId xmlns:a16="http://schemas.microsoft.com/office/drawing/2014/main" val="2786119553"/>
                    </a:ext>
                  </a:extLst>
                </a:gridCol>
                <a:gridCol w="640080">
                  <a:extLst>
                    <a:ext uri="{9D8B030D-6E8A-4147-A177-3AD203B41FA5}">
                      <a16:colId xmlns:a16="http://schemas.microsoft.com/office/drawing/2014/main" val="713538104"/>
                    </a:ext>
                  </a:extLst>
                </a:gridCol>
                <a:gridCol w="640080">
                  <a:extLst>
                    <a:ext uri="{9D8B030D-6E8A-4147-A177-3AD203B41FA5}">
                      <a16:colId xmlns:a16="http://schemas.microsoft.com/office/drawing/2014/main" val="801561722"/>
                    </a:ext>
                  </a:extLst>
                </a:gridCol>
                <a:gridCol w="640080">
                  <a:extLst>
                    <a:ext uri="{9D8B030D-6E8A-4147-A177-3AD203B41FA5}">
                      <a16:colId xmlns:a16="http://schemas.microsoft.com/office/drawing/2014/main" val="705944900"/>
                    </a:ext>
                  </a:extLst>
                </a:gridCol>
                <a:gridCol w="640080">
                  <a:extLst>
                    <a:ext uri="{9D8B030D-6E8A-4147-A177-3AD203B41FA5}">
                      <a16:colId xmlns:a16="http://schemas.microsoft.com/office/drawing/2014/main" val="2266819911"/>
                    </a:ext>
                  </a:extLst>
                </a:gridCol>
                <a:gridCol w="640080">
                  <a:extLst>
                    <a:ext uri="{9D8B030D-6E8A-4147-A177-3AD203B41FA5}">
                      <a16:colId xmlns:a16="http://schemas.microsoft.com/office/drawing/2014/main" val="3507915913"/>
                    </a:ext>
                  </a:extLst>
                </a:gridCol>
              </a:tblGrid>
              <a:tr h="456140">
                <a:tc>
                  <a:txBody>
                    <a:bodyPr/>
                    <a:lstStyle/>
                    <a:p>
                      <a:pPr algn="ctr"/>
                      <a:r>
                        <a:rPr lang="en-US" sz="2400" b="0" i="1" dirty="0">
                          <a:latin typeface="Consolas" panose="020B0609020204030204" pitchFamily="49" charset="0"/>
                          <a:cs typeface="Consolas" panose="020B0609020204030204" pitchFamily="49" charset="0"/>
                        </a:rPr>
                        <a:t>0</a:t>
                      </a:r>
                    </a:p>
                  </a:txBody>
                  <a:tcPr>
                    <a:noFill/>
                  </a:tcPr>
                </a:tc>
                <a:tc>
                  <a:txBody>
                    <a:bodyPr/>
                    <a:lstStyle/>
                    <a:p>
                      <a:pPr algn="ctr"/>
                      <a:r>
                        <a:rPr lang="en-US" sz="2400" b="0" i="1" dirty="0">
                          <a:latin typeface="Consolas" panose="020B0609020204030204" pitchFamily="49" charset="0"/>
                          <a:cs typeface="Consolas" panose="020B0609020204030204" pitchFamily="49" charset="0"/>
                        </a:rPr>
                        <a:t>1</a:t>
                      </a:r>
                    </a:p>
                  </a:txBody>
                  <a:tcPr>
                    <a:noFill/>
                  </a:tcPr>
                </a:tc>
                <a:tc>
                  <a:txBody>
                    <a:bodyPr/>
                    <a:lstStyle/>
                    <a:p>
                      <a:pPr algn="ctr"/>
                      <a:r>
                        <a:rPr lang="en-US" sz="2400" b="0" i="1" dirty="0">
                          <a:latin typeface="Consolas" panose="020B0609020204030204" pitchFamily="49" charset="0"/>
                          <a:cs typeface="Consolas" panose="020B0609020204030204" pitchFamily="49" charset="0"/>
                        </a:rPr>
                        <a:t>2</a:t>
                      </a:r>
                    </a:p>
                  </a:txBody>
                  <a:tcPr>
                    <a:noFill/>
                  </a:tcPr>
                </a:tc>
                <a:tc>
                  <a:txBody>
                    <a:bodyPr/>
                    <a:lstStyle/>
                    <a:p>
                      <a:pPr algn="ctr"/>
                      <a:r>
                        <a:rPr lang="en-US" sz="2400" b="0" i="1" dirty="0">
                          <a:latin typeface="Consolas" panose="020B0609020204030204" pitchFamily="49" charset="0"/>
                          <a:cs typeface="Consolas" panose="020B0609020204030204" pitchFamily="49" charset="0"/>
                        </a:rPr>
                        <a:t>3</a:t>
                      </a:r>
                    </a:p>
                  </a:txBody>
                  <a:tcPr>
                    <a:noFill/>
                  </a:tcPr>
                </a:tc>
                <a:tc>
                  <a:txBody>
                    <a:bodyPr/>
                    <a:lstStyle/>
                    <a:p>
                      <a:pPr algn="ctr"/>
                      <a:r>
                        <a:rPr lang="en-US" sz="2400" b="0" i="1" dirty="0">
                          <a:latin typeface="Consolas" panose="020B0609020204030204" pitchFamily="49" charset="0"/>
                          <a:cs typeface="Consolas" panose="020B0609020204030204" pitchFamily="49" charset="0"/>
                        </a:rPr>
                        <a:t>4</a:t>
                      </a:r>
                    </a:p>
                  </a:txBody>
                  <a:tcPr>
                    <a:noFill/>
                  </a:tcPr>
                </a:tc>
                <a:tc>
                  <a:txBody>
                    <a:bodyPr/>
                    <a:lstStyle/>
                    <a:p>
                      <a:pPr algn="ctr"/>
                      <a:r>
                        <a:rPr lang="en-US" sz="2400" b="0" i="1" dirty="0">
                          <a:latin typeface="Consolas" panose="020B0609020204030204" pitchFamily="49" charset="0"/>
                          <a:cs typeface="Consolas" panose="020B0609020204030204" pitchFamily="49" charset="0"/>
                        </a:rPr>
                        <a:t>5</a:t>
                      </a:r>
                    </a:p>
                  </a:txBody>
                  <a:tcPr>
                    <a:noFill/>
                  </a:tcPr>
                </a:tc>
                <a:tc>
                  <a:txBody>
                    <a:bodyPr/>
                    <a:lstStyle/>
                    <a:p>
                      <a:pPr algn="ctr"/>
                      <a:r>
                        <a:rPr lang="en-US" sz="2400" b="0" i="1" dirty="0">
                          <a:latin typeface="Consolas" panose="020B0609020204030204" pitchFamily="49" charset="0"/>
                          <a:cs typeface="Consolas" panose="020B0609020204030204" pitchFamily="49" charset="0"/>
                        </a:rPr>
                        <a:t>6</a:t>
                      </a:r>
                    </a:p>
                  </a:txBody>
                  <a:tcPr>
                    <a:noFill/>
                  </a:tcPr>
                </a:tc>
                <a:tc>
                  <a:txBody>
                    <a:bodyPr/>
                    <a:lstStyle/>
                    <a:p>
                      <a:pPr algn="ctr"/>
                      <a:r>
                        <a:rPr lang="en-US" sz="2400" b="0" i="1" dirty="0">
                          <a:latin typeface="Consolas" panose="020B0609020204030204" pitchFamily="49" charset="0"/>
                          <a:cs typeface="Consolas" panose="020B0609020204030204" pitchFamily="49" charset="0"/>
                        </a:rPr>
                        <a:t>7</a:t>
                      </a:r>
                    </a:p>
                  </a:txBody>
                  <a:tcPr>
                    <a:noFill/>
                  </a:tcPr>
                </a:tc>
                <a:extLst>
                  <a:ext uri="{0D108BD9-81ED-4DB2-BD59-A6C34878D82A}">
                    <a16:rowId xmlns:a16="http://schemas.microsoft.com/office/drawing/2014/main" val="639513657"/>
                  </a:ext>
                </a:extLst>
              </a:tr>
            </a:tbl>
          </a:graphicData>
        </a:graphic>
      </p:graphicFrame>
      <p:sp>
        <p:nvSpPr>
          <p:cNvPr id="9" name="TextBox 8">
            <a:extLst>
              <a:ext uri="{FF2B5EF4-FFF2-40B4-BE49-F238E27FC236}">
                <a16:creationId xmlns:a16="http://schemas.microsoft.com/office/drawing/2014/main" id="{18DBAE46-C0BC-0643-8E52-FB6EC21AA241}"/>
              </a:ext>
            </a:extLst>
          </p:cNvPr>
          <p:cNvSpPr txBox="1"/>
          <p:nvPr/>
        </p:nvSpPr>
        <p:spPr>
          <a:xfrm>
            <a:off x="701040" y="3385185"/>
            <a:ext cx="5029200" cy="430887"/>
          </a:xfrm>
          <a:prstGeom prst="rect">
            <a:avLst/>
          </a:prstGeom>
          <a:noFill/>
        </p:spPr>
        <p:txBody>
          <a:bodyPr wrap="square" rtlCol="0">
            <a:spAutoFit/>
          </a:bodyPr>
          <a:lstStyle/>
          <a:p>
            <a:pPr algn="ctr"/>
            <a:r>
              <a:rPr lang="en-US" sz="2200" dirty="0"/>
              <a:t>and if we </a:t>
            </a:r>
            <a:r>
              <a:rPr lang="en-US" sz="2200" b="1" dirty="0"/>
              <a:t>swapped b and i:</a:t>
            </a:r>
            <a:endParaRPr lang="en-US" sz="2200" dirty="0"/>
          </a:p>
        </p:txBody>
      </p:sp>
      <p:sp>
        <p:nvSpPr>
          <p:cNvPr id="10" name="TextBox 9">
            <a:extLst>
              <a:ext uri="{FF2B5EF4-FFF2-40B4-BE49-F238E27FC236}">
                <a16:creationId xmlns:a16="http://schemas.microsoft.com/office/drawing/2014/main" id="{0C02AA64-61E7-3048-9BD9-107E4107B06E}"/>
              </a:ext>
            </a:extLst>
          </p:cNvPr>
          <p:cNvSpPr txBox="1"/>
          <p:nvPr/>
        </p:nvSpPr>
        <p:spPr>
          <a:xfrm>
            <a:off x="5943600" y="3623311"/>
            <a:ext cx="3124200" cy="1446550"/>
          </a:xfrm>
          <a:prstGeom prst="rect">
            <a:avLst/>
          </a:prstGeom>
          <a:noFill/>
        </p:spPr>
        <p:txBody>
          <a:bodyPr wrap="square" rtlCol="0">
            <a:spAutoFit/>
          </a:bodyPr>
          <a:lstStyle/>
          <a:p>
            <a:pPr algn="ctr"/>
            <a:r>
              <a:rPr lang="en-US" sz="2200" dirty="0"/>
              <a:t>either way, the struct is </a:t>
            </a:r>
            <a:r>
              <a:rPr lang="en-US" sz="2200" b="1" dirty="0"/>
              <a:t>8 bytes, </a:t>
            </a:r>
            <a:r>
              <a:rPr lang="en-US" sz="2200" dirty="0"/>
              <a:t>and it must be </a:t>
            </a:r>
            <a:r>
              <a:rPr lang="en-US" sz="2200" b="1" dirty="0"/>
              <a:t>4-byte aligned </a:t>
            </a:r>
            <a:r>
              <a:rPr lang="en-US" sz="2200" dirty="0"/>
              <a:t>because of the </a:t>
            </a:r>
            <a:r>
              <a:rPr lang="en-US" sz="2200" b="1" dirty="0"/>
              <a:t>int.</a:t>
            </a:r>
            <a:endParaRPr lang="en-US" sz="2200" dirty="0"/>
          </a:p>
        </p:txBody>
      </p:sp>
    </p:spTree>
    <p:extLst>
      <p:ext uri="{BB962C8B-B14F-4D97-AF65-F5344CB8AC3E}">
        <p14:creationId xmlns:p14="http://schemas.microsoft.com/office/powerpoint/2010/main" val="27157021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B8E7-7BEB-0D4D-8818-A43A919E0C09}"/>
              </a:ext>
            </a:extLst>
          </p:cNvPr>
          <p:cNvSpPr>
            <a:spLocks noGrp="1"/>
          </p:cNvSpPr>
          <p:nvPr>
            <p:ph type="title"/>
          </p:nvPr>
        </p:nvSpPr>
        <p:spPr/>
        <p:txBody>
          <a:bodyPr/>
          <a:lstStyle/>
          <a:p>
            <a:r>
              <a:rPr lang="en-US" dirty="0"/>
              <a:t>Wait, why does the </a:t>
            </a:r>
            <a:r>
              <a:rPr lang="en-US" i="1" dirty="0"/>
              <a:t>whole</a:t>
            </a:r>
            <a:r>
              <a:rPr lang="en-US" dirty="0"/>
              <a:t> struct need to be padded?</a:t>
            </a:r>
          </a:p>
        </p:txBody>
      </p:sp>
      <p:sp>
        <p:nvSpPr>
          <p:cNvPr id="3" name="Content Placeholder 2">
            <a:extLst>
              <a:ext uri="{FF2B5EF4-FFF2-40B4-BE49-F238E27FC236}">
                <a16:creationId xmlns:a16="http://schemas.microsoft.com/office/drawing/2014/main" id="{D794A744-9C2B-3149-80AD-7088576AD06D}"/>
              </a:ext>
            </a:extLst>
          </p:cNvPr>
          <p:cNvSpPr>
            <a:spLocks noGrp="1"/>
          </p:cNvSpPr>
          <p:nvPr>
            <p:ph idx="1"/>
          </p:nvPr>
        </p:nvSpPr>
        <p:spPr>
          <a:xfrm>
            <a:off x="152400" y="495301"/>
            <a:ext cx="8991600" cy="1600199"/>
          </a:xfrm>
        </p:spPr>
        <p:txBody>
          <a:bodyPr/>
          <a:lstStyle/>
          <a:p>
            <a:r>
              <a:rPr lang="en-US" dirty="0"/>
              <a:t>strictly speaking, for our language where structs are </a:t>
            </a:r>
            <a:r>
              <a:rPr lang="en-US" i="1" dirty="0"/>
              <a:t>reference types</a:t>
            </a:r>
            <a:r>
              <a:rPr lang="en-US" dirty="0"/>
              <a:t>, the structs </a:t>
            </a:r>
            <a:r>
              <a:rPr lang="en-US" b="1" dirty="0"/>
              <a:t>don't </a:t>
            </a:r>
            <a:r>
              <a:rPr lang="en-US" dirty="0"/>
              <a:t>need padding at the end.</a:t>
            </a:r>
          </a:p>
          <a:p>
            <a:r>
              <a:rPr lang="en-US" dirty="0"/>
              <a:t>but in languages where they're </a:t>
            </a:r>
            <a:r>
              <a:rPr lang="en-US" i="1" dirty="0"/>
              <a:t>value types, </a:t>
            </a:r>
            <a:r>
              <a:rPr lang="en-US" dirty="0"/>
              <a:t>it's crucial for maintaining alignment in </a:t>
            </a:r>
            <a:r>
              <a:rPr lang="en-US" b="1" dirty="0"/>
              <a:t>arrays of structs. </a:t>
            </a:r>
            <a:r>
              <a:rPr lang="en-US" dirty="0"/>
              <a:t>consider these arrays of two structs:</a:t>
            </a:r>
          </a:p>
        </p:txBody>
      </p:sp>
      <p:sp>
        <p:nvSpPr>
          <p:cNvPr id="4" name="Slide Number Placeholder 3">
            <a:extLst>
              <a:ext uri="{FF2B5EF4-FFF2-40B4-BE49-F238E27FC236}">
                <a16:creationId xmlns:a16="http://schemas.microsoft.com/office/drawing/2014/main" id="{4FAF3B32-DF1D-DA41-83FF-FA4088FD932F}"/>
              </a:ext>
            </a:extLst>
          </p:cNvPr>
          <p:cNvSpPr>
            <a:spLocks noGrp="1"/>
          </p:cNvSpPr>
          <p:nvPr>
            <p:ph type="sldNum" sz="quarter" idx="12"/>
          </p:nvPr>
        </p:nvSpPr>
        <p:spPr/>
        <p:txBody>
          <a:bodyPr/>
          <a:lstStyle/>
          <a:p>
            <a:fld id="{3552B95B-556F-44BD-91A5-D80C1B9E2BB3}" type="slidenum">
              <a:rPr lang="en-US" smtClean="0"/>
              <a:pPr/>
              <a:t>16</a:t>
            </a:fld>
            <a:endParaRPr lang="en-US"/>
          </a:p>
        </p:txBody>
      </p:sp>
      <p:graphicFrame>
        <p:nvGraphicFramePr>
          <p:cNvPr id="5" name="Table 4">
            <a:extLst>
              <a:ext uri="{FF2B5EF4-FFF2-40B4-BE49-F238E27FC236}">
                <a16:creationId xmlns:a16="http://schemas.microsoft.com/office/drawing/2014/main" id="{6B2B3B69-1579-9646-A826-3AA35660290F}"/>
              </a:ext>
            </a:extLst>
          </p:cNvPr>
          <p:cNvGraphicFramePr>
            <a:graphicFrameLocks noGrp="1"/>
          </p:cNvGraphicFramePr>
          <p:nvPr>
            <p:extLst>
              <p:ext uri="{D42A27DB-BD31-4B8C-83A1-F6EECF244321}">
                <p14:modId xmlns:p14="http://schemas.microsoft.com/office/powerpoint/2010/main" val="3000471037"/>
              </p:ext>
            </p:extLst>
          </p:nvPr>
        </p:nvGraphicFramePr>
        <p:xfrm>
          <a:off x="609600" y="2019300"/>
          <a:ext cx="3581400" cy="447675"/>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1780978681"/>
                    </a:ext>
                  </a:extLst>
                </a:gridCol>
                <a:gridCol w="447675">
                  <a:extLst>
                    <a:ext uri="{9D8B030D-6E8A-4147-A177-3AD203B41FA5}">
                      <a16:colId xmlns:a16="http://schemas.microsoft.com/office/drawing/2014/main" val="1832378760"/>
                    </a:ext>
                  </a:extLst>
                </a:gridCol>
                <a:gridCol w="447675">
                  <a:extLst>
                    <a:ext uri="{9D8B030D-6E8A-4147-A177-3AD203B41FA5}">
                      <a16:colId xmlns:a16="http://schemas.microsoft.com/office/drawing/2014/main" val="3304038371"/>
                    </a:ext>
                  </a:extLst>
                </a:gridCol>
                <a:gridCol w="447675">
                  <a:extLst>
                    <a:ext uri="{9D8B030D-6E8A-4147-A177-3AD203B41FA5}">
                      <a16:colId xmlns:a16="http://schemas.microsoft.com/office/drawing/2014/main" val="1436632240"/>
                    </a:ext>
                  </a:extLst>
                </a:gridCol>
                <a:gridCol w="447675">
                  <a:extLst>
                    <a:ext uri="{9D8B030D-6E8A-4147-A177-3AD203B41FA5}">
                      <a16:colId xmlns:a16="http://schemas.microsoft.com/office/drawing/2014/main" val="2611026515"/>
                    </a:ext>
                  </a:extLst>
                </a:gridCol>
                <a:gridCol w="447675">
                  <a:extLst>
                    <a:ext uri="{9D8B030D-6E8A-4147-A177-3AD203B41FA5}">
                      <a16:colId xmlns:a16="http://schemas.microsoft.com/office/drawing/2014/main" val="799626535"/>
                    </a:ext>
                  </a:extLst>
                </a:gridCol>
                <a:gridCol w="447675">
                  <a:extLst>
                    <a:ext uri="{9D8B030D-6E8A-4147-A177-3AD203B41FA5}">
                      <a16:colId xmlns:a16="http://schemas.microsoft.com/office/drawing/2014/main" val="4139380425"/>
                    </a:ext>
                  </a:extLst>
                </a:gridCol>
              </a:tblGrid>
              <a:tr h="447675">
                <a:tc>
                  <a:txBody>
                    <a:bodyPr/>
                    <a:lstStyle/>
                    <a:p>
                      <a:pPr algn="ctr"/>
                      <a:r>
                        <a:rPr lang="en-US" sz="2000" b="1" dirty="0">
                          <a:latin typeface="Consolas" panose="020B0609020204030204" pitchFamily="49" charset="0"/>
                          <a:cs typeface="Consolas" panose="020B0609020204030204" pitchFamily="49" charset="0"/>
                        </a:rPr>
                        <a:t>i</a:t>
                      </a: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r>
                        <a:rPr lang="en-US" sz="2000" b="1" dirty="0">
                          <a:latin typeface="Consolas" panose="020B0609020204030204" pitchFamily="49" charset="0"/>
                          <a:cs typeface="Consolas" panose="020B0609020204030204" pitchFamily="49" charset="0"/>
                        </a:rPr>
                        <a:t>b</a:t>
                      </a:r>
                    </a:p>
                  </a:txBody>
                  <a:tcPr marL="63954" marR="63954" marT="31977" marB="31977" anchor="ctr">
                    <a:solidFill>
                      <a:srgbClr val="00B050"/>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extLst>
                  <a:ext uri="{0D108BD9-81ED-4DB2-BD59-A6C34878D82A}">
                    <a16:rowId xmlns:a16="http://schemas.microsoft.com/office/drawing/2014/main" val="639513657"/>
                  </a:ext>
                </a:extLst>
              </a:tr>
            </a:tbl>
          </a:graphicData>
        </a:graphic>
      </p:graphicFrame>
      <p:graphicFrame>
        <p:nvGraphicFramePr>
          <p:cNvPr id="6" name="Table 5">
            <a:extLst>
              <a:ext uri="{FF2B5EF4-FFF2-40B4-BE49-F238E27FC236}">
                <a16:creationId xmlns:a16="http://schemas.microsoft.com/office/drawing/2014/main" id="{3DE3EEC6-12F9-5941-ABD0-A8EE49AAC893}"/>
              </a:ext>
            </a:extLst>
          </p:cNvPr>
          <p:cNvGraphicFramePr>
            <a:graphicFrameLocks noGrp="1"/>
          </p:cNvGraphicFramePr>
          <p:nvPr>
            <p:extLst>
              <p:ext uri="{D42A27DB-BD31-4B8C-83A1-F6EECF244321}">
                <p14:modId xmlns:p14="http://schemas.microsoft.com/office/powerpoint/2010/main" val="2340117459"/>
              </p:ext>
            </p:extLst>
          </p:nvPr>
        </p:nvGraphicFramePr>
        <p:xfrm>
          <a:off x="609600" y="2464986"/>
          <a:ext cx="3581400" cy="323034"/>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3463030415"/>
                    </a:ext>
                  </a:extLst>
                </a:gridCol>
                <a:gridCol w="447675">
                  <a:extLst>
                    <a:ext uri="{9D8B030D-6E8A-4147-A177-3AD203B41FA5}">
                      <a16:colId xmlns:a16="http://schemas.microsoft.com/office/drawing/2014/main" val="33902713"/>
                    </a:ext>
                  </a:extLst>
                </a:gridCol>
                <a:gridCol w="447675">
                  <a:extLst>
                    <a:ext uri="{9D8B030D-6E8A-4147-A177-3AD203B41FA5}">
                      <a16:colId xmlns:a16="http://schemas.microsoft.com/office/drawing/2014/main" val="2786119553"/>
                    </a:ext>
                  </a:extLst>
                </a:gridCol>
                <a:gridCol w="447675">
                  <a:extLst>
                    <a:ext uri="{9D8B030D-6E8A-4147-A177-3AD203B41FA5}">
                      <a16:colId xmlns:a16="http://schemas.microsoft.com/office/drawing/2014/main" val="713538104"/>
                    </a:ext>
                  </a:extLst>
                </a:gridCol>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705944900"/>
                    </a:ext>
                  </a:extLst>
                </a:gridCol>
                <a:gridCol w="447675">
                  <a:extLst>
                    <a:ext uri="{9D8B030D-6E8A-4147-A177-3AD203B41FA5}">
                      <a16:colId xmlns:a16="http://schemas.microsoft.com/office/drawing/2014/main" val="2266819911"/>
                    </a:ext>
                  </a:extLst>
                </a:gridCol>
                <a:gridCol w="447675">
                  <a:extLst>
                    <a:ext uri="{9D8B030D-6E8A-4147-A177-3AD203B41FA5}">
                      <a16:colId xmlns:a16="http://schemas.microsoft.com/office/drawing/2014/main" val="3507915913"/>
                    </a:ext>
                  </a:extLst>
                </a:gridCol>
              </a:tblGrid>
              <a:tr h="319768">
                <a:tc>
                  <a:txBody>
                    <a:bodyPr/>
                    <a:lstStyle/>
                    <a:p>
                      <a:pPr algn="ctr"/>
                      <a:r>
                        <a:rPr lang="en-US" sz="1700" b="0" i="1" dirty="0">
                          <a:latin typeface="Consolas" panose="020B0609020204030204" pitchFamily="49" charset="0"/>
                          <a:cs typeface="Consolas" panose="020B0609020204030204" pitchFamily="49" charset="0"/>
                        </a:rPr>
                        <a:t>0</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2</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3</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4</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5</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6</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7</a:t>
                      </a:r>
                    </a:p>
                  </a:txBody>
                  <a:tcPr marL="63954" marR="63954" marT="31977" marB="31977">
                    <a:noFill/>
                  </a:tcPr>
                </a:tc>
                <a:extLst>
                  <a:ext uri="{0D108BD9-81ED-4DB2-BD59-A6C34878D82A}">
                    <a16:rowId xmlns:a16="http://schemas.microsoft.com/office/drawing/2014/main" val="639513657"/>
                  </a:ext>
                </a:extLst>
              </a:tr>
            </a:tbl>
          </a:graphicData>
        </a:graphic>
      </p:graphicFrame>
      <p:graphicFrame>
        <p:nvGraphicFramePr>
          <p:cNvPr id="7" name="Table 6">
            <a:extLst>
              <a:ext uri="{FF2B5EF4-FFF2-40B4-BE49-F238E27FC236}">
                <a16:creationId xmlns:a16="http://schemas.microsoft.com/office/drawing/2014/main" id="{B01D9D6C-350D-4B4D-B037-A6FA0B39C4C4}"/>
              </a:ext>
            </a:extLst>
          </p:cNvPr>
          <p:cNvGraphicFramePr>
            <a:graphicFrameLocks noGrp="1"/>
          </p:cNvGraphicFramePr>
          <p:nvPr>
            <p:extLst>
              <p:ext uri="{D42A27DB-BD31-4B8C-83A1-F6EECF244321}">
                <p14:modId xmlns:p14="http://schemas.microsoft.com/office/powerpoint/2010/main" val="433486139"/>
              </p:ext>
            </p:extLst>
          </p:nvPr>
        </p:nvGraphicFramePr>
        <p:xfrm>
          <a:off x="4191000" y="2019300"/>
          <a:ext cx="3581400" cy="447675"/>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1780978681"/>
                    </a:ext>
                  </a:extLst>
                </a:gridCol>
                <a:gridCol w="447675">
                  <a:extLst>
                    <a:ext uri="{9D8B030D-6E8A-4147-A177-3AD203B41FA5}">
                      <a16:colId xmlns:a16="http://schemas.microsoft.com/office/drawing/2014/main" val="1832378760"/>
                    </a:ext>
                  </a:extLst>
                </a:gridCol>
                <a:gridCol w="447675">
                  <a:extLst>
                    <a:ext uri="{9D8B030D-6E8A-4147-A177-3AD203B41FA5}">
                      <a16:colId xmlns:a16="http://schemas.microsoft.com/office/drawing/2014/main" val="3304038371"/>
                    </a:ext>
                  </a:extLst>
                </a:gridCol>
                <a:gridCol w="447675">
                  <a:extLst>
                    <a:ext uri="{9D8B030D-6E8A-4147-A177-3AD203B41FA5}">
                      <a16:colId xmlns:a16="http://schemas.microsoft.com/office/drawing/2014/main" val="1436632240"/>
                    </a:ext>
                  </a:extLst>
                </a:gridCol>
                <a:gridCol w="447675">
                  <a:extLst>
                    <a:ext uri="{9D8B030D-6E8A-4147-A177-3AD203B41FA5}">
                      <a16:colId xmlns:a16="http://schemas.microsoft.com/office/drawing/2014/main" val="2611026515"/>
                    </a:ext>
                  </a:extLst>
                </a:gridCol>
                <a:gridCol w="447675">
                  <a:extLst>
                    <a:ext uri="{9D8B030D-6E8A-4147-A177-3AD203B41FA5}">
                      <a16:colId xmlns:a16="http://schemas.microsoft.com/office/drawing/2014/main" val="799626535"/>
                    </a:ext>
                  </a:extLst>
                </a:gridCol>
                <a:gridCol w="447675">
                  <a:extLst>
                    <a:ext uri="{9D8B030D-6E8A-4147-A177-3AD203B41FA5}">
                      <a16:colId xmlns:a16="http://schemas.microsoft.com/office/drawing/2014/main" val="4139380425"/>
                    </a:ext>
                  </a:extLst>
                </a:gridCol>
              </a:tblGrid>
              <a:tr h="447675">
                <a:tc>
                  <a:txBody>
                    <a:bodyPr/>
                    <a:lstStyle/>
                    <a:p>
                      <a:pPr algn="ctr"/>
                      <a:r>
                        <a:rPr lang="en-US" sz="2000" b="1" dirty="0">
                          <a:latin typeface="Consolas" panose="020B0609020204030204" pitchFamily="49" charset="0"/>
                          <a:cs typeface="Consolas" panose="020B0609020204030204" pitchFamily="49" charset="0"/>
                        </a:rPr>
                        <a:t>i</a:t>
                      </a: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r>
                        <a:rPr lang="en-US" sz="2000" b="1" dirty="0">
                          <a:latin typeface="Consolas" panose="020B0609020204030204" pitchFamily="49" charset="0"/>
                          <a:cs typeface="Consolas" panose="020B0609020204030204" pitchFamily="49" charset="0"/>
                        </a:rPr>
                        <a:t>b</a:t>
                      </a:r>
                    </a:p>
                  </a:txBody>
                  <a:tcPr marL="63954" marR="63954" marT="31977" marB="31977" anchor="ctr">
                    <a:solidFill>
                      <a:srgbClr val="00B050"/>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bg1">
                        <a:lumMod val="75000"/>
                      </a:schemeClr>
                    </a:solidFill>
                  </a:tcPr>
                </a:tc>
                <a:extLst>
                  <a:ext uri="{0D108BD9-81ED-4DB2-BD59-A6C34878D82A}">
                    <a16:rowId xmlns:a16="http://schemas.microsoft.com/office/drawing/2014/main" val="639513657"/>
                  </a:ext>
                </a:extLst>
              </a:tr>
            </a:tbl>
          </a:graphicData>
        </a:graphic>
      </p:graphicFrame>
      <p:graphicFrame>
        <p:nvGraphicFramePr>
          <p:cNvPr id="8" name="Table 7">
            <a:extLst>
              <a:ext uri="{FF2B5EF4-FFF2-40B4-BE49-F238E27FC236}">
                <a16:creationId xmlns:a16="http://schemas.microsoft.com/office/drawing/2014/main" id="{D491A972-6968-714B-BC85-C17EAB5FCAD0}"/>
              </a:ext>
            </a:extLst>
          </p:cNvPr>
          <p:cNvGraphicFramePr>
            <a:graphicFrameLocks noGrp="1"/>
          </p:cNvGraphicFramePr>
          <p:nvPr>
            <p:extLst>
              <p:ext uri="{D42A27DB-BD31-4B8C-83A1-F6EECF244321}">
                <p14:modId xmlns:p14="http://schemas.microsoft.com/office/powerpoint/2010/main" val="1564007102"/>
              </p:ext>
            </p:extLst>
          </p:nvPr>
        </p:nvGraphicFramePr>
        <p:xfrm>
          <a:off x="4191000" y="2464986"/>
          <a:ext cx="3581400" cy="323034"/>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3463030415"/>
                    </a:ext>
                  </a:extLst>
                </a:gridCol>
                <a:gridCol w="447675">
                  <a:extLst>
                    <a:ext uri="{9D8B030D-6E8A-4147-A177-3AD203B41FA5}">
                      <a16:colId xmlns:a16="http://schemas.microsoft.com/office/drawing/2014/main" val="33902713"/>
                    </a:ext>
                  </a:extLst>
                </a:gridCol>
                <a:gridCol w="447675">
                  <a:extLst>
                    <a:ext uri="{9D8B030D-6E8A-4147-A177-3AD203B41FA5}">
                      <a16:colId xmlns:a16="http://schemas.microsoft.com/office/drawing/2014/main" val="2786119553"/>
                    </a:ext>
                  </a:extLst>
                </a:gridCol>
                <a:gridCol w="447675">
                  <a:extLst>
                    <a:ext uri="{9D8B030D-6E8A-4147-A177-3AD203B41FA5}">
                      <a16:colId xmlns:a16="http://schemas.microsoft.com/office/drawing/2014/main" val="713538104"/>
                    </a:ext>
                  </a:extLst>
                </a:gridCol>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705944900"/>
                    </a:ext>
                  </a:extLst>
                </a:gridCol>
                <a:gridCol w="447675">
                  <a:extLst>
                    <a:ext uri="{9D8B030D-6E8A-4147-A177-3AD203B41FA5}">
                      <a16:colId xmlns:a16="http://schemas.microsoft.com/office/drawing/2014/main" val="2266819911"/>
                    </a:ext>
                  </a:extLst>
                </a:gridCol>
                <a:gridCol w="447675">
                  <a:extLst>
                    <a:ext uri="{9D8B030D-6E8A-4147-A177-3AD203B41FA5}">
                      <a16:colId xmlns:a16="http://schemas.microsoft.com/office/drawing/2014/main" val="3507915913"/>
                    </a:ext>
                  </a:extLst>
                </a:gridCol>
              </a:tblGrid>
              <a:tr h="319768">
                <a:tc>
                  <a:txBody>
                    <a:bodyPr/>
                    <a:lstStyle/>
                    <a:p>
                      <a:pPr algn="ctr"/>
                      <a:r>
                        <a:rPr lang="en-US" sz="1700" b="0" i="1" dirty="0">
                          <a:latin typeface="Consolas" panose="020B0609020204030204" pitchFamily="49" charset="0"/>
                          <a:cs typeface="Consolas" panose="020B0609020204030204" pitchFamily="49" charset="0"/>
                        </a:rPr>
                        <a:t>8</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9</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10</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11</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12</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13</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14</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15</a:t>
                      </a:r>
                    </a:p>
                  </a:txBody>
                  <a:tcPr marL="63954" marR="63954" marT="31977" marB="31977">
                    <a:noFill/>
                  </a:tcPr>
                </a:tc>
                <a:extLst>
                  <a:ext uri="{0D108BD9-81ED-4DB2-BD59-A6C34878D82A}">
                    <a16:rowId xmlns:a16="http://schemas.microsoft.com/office/drawing/2014/main" val="639513657"/>
                  </a:ext>
                </a:extLst>
              </a:tr>
            </a:tbl>
          </a:graphicData>
        </a:graphic>
      </p:graphicFrame>
      <p:graphicFrame>
        <p:nvGraphicFramePr>
          <p:cNvPr id="9" name="Table 8">
            <a:extLst>
              <a:ext uri="{FF2B5EF4-FFF2-40B4-BE49-F238E27FC236}">
                <a16:creationId xmlns:a16="http://schemas.microsoft.com/office/drawing/2014/main" id="{262D0A73-840B-F845-8916-44FACCD17C88}"/>
              </a:ext>
            </a:extLst>
          </p:cNvPr>
          <p:cNvGraphicFramePr>
            <a:graphicFrameLocks noGrp="1"/>
          </p:cNvGraphicFramePr>
          <p:nvPr>
            <p:extLst>
              <p:ext uri="{D42A27DB-BD31-4B8C-83A1-F6EECF244321}">
                <p14:modId xmlns:p14="http://schemas.microsoft.com/office/powerpoint/2010/main" val="366373315"/>
              </p:ext>
            </p:extLst>
          </p:nvPr>
        </p:nvGraphicFramePr>
        <p:xfrm>
          <a:off x="609600" y="3009900"/>
          <a:ext cx="2238375" cy="447675"/>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1780978681"/>
                    </a:ext>
                  </a:extLst>
                </a:gridCol>
                <a:gridCol w="447675">
                  <a:extLst>
                    <a:ext uri="{9D8B030D-6E8A-4147-A177-3AD203B41FA5}">
                      <a16:colId xmlns:a16="http://schemas.microsoft.com/office/drawing/2014/main" val="1832378760"/>
                    </a:ext>
                  </a:extLst>
                </a:gridCol>
                <a:gridCol w="447675">
                  <a:extLst>
                    <a:ext uri="{9D8B030D-6E8A-4147-A177-3AD203B41FA5}">
                      <a16:colId xmlns:a16="http://schemas.microsoft.com/office/drawing/2014/main" val="3304038371"/>
                    </a:ext>
                  </a:extLst>
                </a:gridCol>
                <a:gridCol w="447675">
                  <a:extLst>
                    <a:ext uri="{9D8B030D-6E8A-4147-A177-3AD203B41FA5}">
                      <a16:colId xmlns:a16="http://schemas.microsoft.com/office/drawing/2014/main" val="1436632240"/>
                    </a:ext>
                  </a:extLst>
                </a:gridCol>
              </a:tblGrid>
              <a:tr h="447675">
                <a:tc>
                  <a:txBody>
                    <a:bodyPr/>
                    <a:lstStyle/>
                    <a:p>
                      <a:pPr algn="ctr"/>
                      <a:r>
                        <a:rPr lang="en-US" sz="2000" b="1" dirty="0">
                          <a:latin typeface="Consolas" panose="020B0609020204030204" pitchFamily="49" charset="0"/>
                          <a:cs typeface="Consolas" panose="020B0609020204030204" pitchFamily="49" charset="0"/>
                        </a:rPr>
                        <a:t>i</a:t>
                      </a: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r>
                        <a:rPr lang="en-US" sz="2000" b="1" dirty="0">
                          <a:latin typeface="Consolas" panose="020B0609020204030204" pitchFamily="49" charset="0"/>
                          <a:cs typeface="Consolas" panose="020B0609020204030204" pitchFamily="49" charset="0"/>
                        </a:rPr>
                        <a:t>b</a:t>
                      </a:r>
                    </a:p>
                  </a:txBody>
                  <a:tcPr marL="63954" marR="63954" marT="31977" marB="31977" anchor="ctr">
                    <a:solidFill>
                      <a:srgbClr val="00B050"/>
                    </a:solidFill>
                  </a:tcPr>
                </a:tc>
                <a:extLst>
                  <a:ext uri="{0D108BD9-81ED-4DB2-BD59-A6C34878D82A}">
                    <a16:rowId xmlns:a16="http://schemas.microsoft.com/office/drawing/2014/main" val="639513657"/>
                  </a:ext>
                </a:extLst>
              </a:tr>
            </a:tbl>
          </a:graphicData>
        </a:graphic>
      </p:graphicFrame>
      <p:graphicFrame>
        <p:nvGraphicFramePr>
          <p:cNvPr id="10" name="Table 9">
            <a:extLst>
              <a:ext uri="{FF2B5EF4-FFF2-40B4-BE49-F238E27FC236}">
                <a16:creationId xmlns:a16="http://schemas.microsoft.com/office/drawing/2014/main" id="{B1803B52-13E1-9B4A-8A27-13152BFA0BFF}"/>
              </a:ext>
            </a:extLst>
          </p:cNvPr>
          <p:cNvGraphicFramePr>
            <a:graphicFrameLocks noGrp="1"/>
          </p:cNvGraphicFramePr>
          <p:nvPr>
            <p:extLst>
              <p:ext uri="{D42A27DB-BD31-4B8C-83A1-F6EECF244321}">
                <p14:modId xmlns:p14="http://schemas.microsoft.com/office/powerpoint/2010/main" val="3243257961"/>
              </p:ext>
            </p:extLst>
          </p:nvPr>
        </p:nvGraphicFramePr>
        <p:xfrm>
          <a:off x="609600" y="3448866"/>
          <a:ext cx="2238375" cy="323034"/>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3463030415"/>
                    </a:ext>
                  </a:extLst>
                </a:gridCol>
                <a:gridCol w="447675">
                  <a:extLst>
                    <a:ext uri="{9D8B030D-6E8A-4147-A177-3AD203B41FA5}">
                      <a16:colId xmlns:a16="http://schemas.microsoft.com/office/drawing/2014/main" val="33902713"/>
                    </a:ext>
                  </a:extLst>
                </a:gridCol>
                <a:gridCol w="447675">
                  <a:extLst>
                    <a:ext uri="{9D8B030D-6E8A-4147-A177-3AD203B41FA5}">
                      <a16:colId xmlns:a16="http://schemas.microsoft.com/office/drawing/2014/main" val="2786119553"/>
                    </a:ext>
                  </a:extLst>
                </a:gridCol>
                <a:gridCol w="447675">
                  <a:extLst>
                    <a:ext uri="{9D8B030D-6E8A-4147-A177-3AD203B41FA5}">
                      <a16:colId xmlns:a16="http://schemas.microsoft.com/office/drawing/2014/main" val="713538104"/>
                    </a:ext>
                  </a:extLst>
                </a:gridCol>
                <a:gridCol w="447675">
                  <a:extLst>
                    <a:ext uri="{9D8B030D-6E8A-4147-A177-3AD203B41FA5}">
                      <a16:colId xmlns:a16="http://schemas.microsoft.com/office/drawing/2014/main" val="801561722"/>
                    </a:ext>
                  </a:extLst>
                </a:gridCol>
              </a:tblGrid>
              <a:tr h="319768">
                <a:tc>
                  <a:txBody>
                    <a:bodyPr/>
                    <a:lstStyle/>
                    <a:p>
                      <a:pPr algn="ctr"/>
                      <a:r>
                        <a:rPr lang="en-US" sz="1700" b="0" i="1" dirty="0">
                          <a:latin typeface="Consolas" panose="020B0609020204030204" pitchFamily="49" charset="0"/>
                          <a:cs typeface="Consolas" panose="020B0609020204030204" pitchFamily="49" charset="0"/>
                        </a:rPr>
                        <a:t>0</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1</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2</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3</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4</a:t>
                      </a:r>
                    </a:p>
                  </a:txBody>
                  <a:tcPr marL="63954" marR="63954" marT="31977" marB="31977">
                    <a:noFill/>
                  </a:tcPr>
                </a:tc>
                <a:extLst>
                  <a:ext uri="{0D108BD9-81ED-4DB2-BD59-A6C34878D82A}">
                    <a16:rowId xmlns:a16="http://schemas.microsoft.com/office/drawing/2014/main" val="639513657"/>
                  </a:ext>
                </a:extLst>
              </a:tr>
            </a:tbl>
          </a:graphicData>
        </a:graphic>
      </p:graphicFrame>
      <p:graphicFrame>
        <p:nvGraphicFramePr>
          <p:cNvPr id="13" name="Table 12">
            <a:extLst>
              <a:ext uri="{FF2B5EF4-FFF2-40B4-BE49-F238E27FC236}">
                <a16:creationId xmlns:a16="http://schemas.microsoft.com/office/drawing/2014/main" id="{813D3E46-DBF1-A740-ABA8-8FB1EEE32814}"/>
              </a:ext>
            </a:extLst>
          </p:cNvPr>
          <p:cNvGraphicFramePr>
            <a:graphicFrameLocks noGrp="1"/>
          </p:cNvGraphicFramePr>
          <p:nvPr>
            <p:extLst>
              <p:ext uri="{D42A27DB-BD31-4B8C-83A1-F6EECF244321}">
                <p14:modId xmlns:p14="http://schemas.microsoft.com/office/powerpoint/2010/main" val="3336536024"/>
              </p:ext>
            </p:extLst>
          </p:nvPr>
        </p:nvGraphicFramePr>
        <p:xfrm>
          <a:off x="2847975" y="3009900"/>
          <a:ext cx="2238375" cy="447675"/>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801561722"/>
                    </a:ext>
                  </a:extLst>
                </a:gridCol>
                <a:gridCol w="447675">
                  <a:extLst>
                    <a:ext uri="{9D8B030D-6E8A-4147-A177-3AD203B41FA5}">
                      <a16:colId xmlns:a16="http://schemas.microsoft.com/office/drawing/2014/main" val="1780978681"/>
                    </a:ext>
                  </a:extLst>
                </a:gridCol>
                <a:gridCol w="447675">
                  <a:extLst>
                    <a:ext uri="{9D8B030D-6E8A-4147-A177-3AD203B41FA5}">
                      <a16:colId xmlns:a16="http://schemas.microsoft.com/office/drawing/2014/main" val="1832378760"/>
                    </a:ext>
                  </a:extLst>
                </a:gridCol>
                <a:gridCol w="447675">
                  <a:extLst>
                    <a:ext uri="{9D8B030D-6E8A-4147-A177-3AD203B41FA5}">
                      <a16:colId xmlns:a16="http://schemas.microsoft.com/office/drawing/2014/main" val="3304038371"/>
                    </a:ext>
                  </a:extLst>
                </a:gridCol>
                <a:gridCol w="447675">
                  <a:extLst>
                    <a:ext uri="{9D8B030D-6E8A-4147-A177-3AD203B41FA5}">
                      <a16:colId xmlns:a16="http://schemas.microsoft.com/office/drawing/2014/main" val="1436632240"/>
                    </a:ext>
                  </a:extLst>
                </a:gridCol>
              </a:tblGrid>
              <a:tr h="447675">
                <a:tc>
                  <a:txBody>
                    <a:bodyPr/>
                    <a:lstStyle/>
                    <a:p>
                      <a:pPr algn="ctr"/>
                      <a:r>
                        <a:rPr lang="en-US" sz="2000" b="1" dirty="0">
                          <a:latin typeface="Consolas" panose="020B0609020204030204" pitchFamily="49" charset="0"/>
                          <a:cs typeface="Consolas" panose="020B0609020204030204" pitchFamily="49" charset="0"/>
                        </a:rPr>
                        <a:t>i</a:t>
                      </a: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endParaRPr lang="en-US" sz="2000" b="1" dirty="0">
                        <a:latin typeface="Consolas" panose="020B0609020204030204" pitchFamily="49" charset="0"/>
                        <a:cs typeface="Consolas" panose="020B0609020204030204" pitchFamily="49" charset="0"/>
                      </a:endParaRPr>
                    </a:p>
                  </a:txBody>
                  <a:tcPr marL="63954" marR="63954" marT="31977" marB="31977" anchor="ctr">
                    <a:solidFill>
                      <a:schemeClr val="accent6">
                        <a:lumMod val="75000"/>
                      </a:schemeClr>
                    </a:solidFill>
                  </a:tcPr>
                </a:tc>
                <a:tc>
                  <a:txBody>
                    <a:bodyPr/>
                    <a:lstStyle/>
                    <a:p>
                      <a:pPr algn="ctr"/>
                      <a:r>
                        <a:rPr lang="en-US" sz="2000" b="1" dirty="0">
                          <a:latin typeface="Consolas" panose="020B0609020204030204" pitchFamily="49" charset="0"/>
                          <a:cs typeface="Consolas" panose="020B0609020204030204" pitchFamily="49" charset="0"/>
                        </a:rPr>
                        <a:t>b</a:t>
                      </a:r>
                    </a:p>
                  </a:txBody>
                  <a:tcPr marL="63954" marR="63954" marT="31977" marB="31977" anchor="ctr">
                    <a:solidFill>
                      <a:srgbClr val="00B050"/>
                    </a:solidFill>
                  </a:tcPr>
                </a:tc>
                <a:extLst>
                  <a:ext uri="{0D108BD9-81ED-4DB2-BD59-A6C34878D82A}">
                    <a16:rowId xmlns:a16="http://schemas.microsoft.com/office/drawing/2014/main" val="639513657"/>
                  </a:ext>
                </a:extLst>
              </a:tr>
            </a:tbl>
          </a:graphicData>
        </a:graphic>
      </p:graphicFrame>
      <p:graphicFrame>
        <p:nvGraphicFramePr>
          <p:cNvPr id="14" name="Table 13">
            <a:extLst>
              <a:ext uri="{FF2B5EF4-FFF2-40B4-BE49-F238E27FC236}">
                <a16:creationId xmlns:a16="http://schemas.microsoft.com/office/drawing/2014/main" id="{8477F915-FB89-EE42-91D0-7AC4060AD881}"/>
              </a:ext>
            </a:extLst>
          </p:cNvPr>
          <p:cNvGraphicFramePr>
            <a:graphicFrameLocks noGrp="1"/>
          </p:cNvGraphicFramePr>
          <p:nvPr>
            <p:extLst>
              <p:ext uri="{D42A27DB-BD31-4B8C-83A1-F6EECF244321}">
                <p14:modId xmlns:p14="http://schemas.microsoft.com/office/powerpoint/2010/main" val="817003401"/>
              </p:ext>
            </p:extLst>
          </p:nvPr>
        </p:nvGraphicFramePr>
        <p:xfrm>
          <a:off x="2847975" y="3448866"/>
          <a:ext cx="2238375" cy="323034"/>
        </p:xfrm>
        <a:graphic>
          <a:graphicData uri="http://schemas.openxmlformats.org/drawingml/2006/table">
            <a:tbl>
              <a:tblPr bandRow="1">
                <a:tableStyleId>{5C22544A-7EE6-4342-B048-85BDC9FD1C3A}</a:tableStyleId>
              </a:tblPr>
              <a:tblGrid>
                <a:gridCol w="447675">
                  <a:extLst>
                    <a:ext uri="{9D8B030D-6E8A-4147-A177-3AD203B41FA5}">
                      <a16:colId xmlns:a16="http://schemas.microsoft.com/office/drawing/2014/main" val="3463030415"/>
                    </a:ext>
                  </a:extLst>
                </a:gridCol>
                <a:gridCol w="447675">
                  <a:extLst>
                    <a:ext uri="{9D8B030D-6E8A-4147-A177-3AD203B41FA5}">
                      <a16:colId xmlns:a16="http://schemas.microsoft.com/office/drawing/2014/main" val="33902713"/>
                    </a:ext>
                  </a:extLst>
                </a:gridCol>
                <a:gridCol w="447675">
                  <a:extLst>
                    <a:ext uri="{9D8B030D-6E8A-4147-A177-3AD203B41FA5}">
                      <a16:colId xmlns:a16="http://schemas.microsoft.com/office/drawing/2014/main" val="2786119553"/>
                    </a:ext>
                  </a:extLst>
                </a:gridCol>
                <a:gridCol w="447675">
                  <a:extLst>
                    <a:ext uri="{9D8B030D-6E8A-4147-A177-3AD203B41FA5}">
                      <a16:colId xmlns:a16="http://schemas.microsoft.com/office/drawing/2014/main" val="713538104"/>
                    </a:ext>
                  </a:extLst>
                </a:gridCol>
                <a:gridCol w="447675">
                  <a:extLst>
                    <a:ext uri="{9D8B030D-6E8A-4147-A177-3AD203B41FA5}">
                      <a16:colId xmlns:a16="http://schemas.microsoft.com/office/drawing/2014/main" val="801561722"/>
                    </a:ext>
                  </a:extLst>
                </a:gridCol>
              </a:tblGrid>
              <a:tr h="319768">
                <a:tc>
                  <a:txBody>
                    <a:bodyPr/>
                    <a:lstStyle/>
                    <a:p>
                      <a:pPr algn="ctr"/>
                      <a:r>
                        <a:rPr lang="en-US" sz="1700" b="1" i="1" dirty="0">
                          <a:solidFill>
                            <a:srgbClr val="FF0000"/>
                          </a:solidFill>
                          <a:latin typeface="Consolas" panose="020B0609020204030204" pitchFamily="49" charset="0"/>
                          <a:cs typeface="Consolas" panose="020B0609020204030204" pitchFamily="49" charset="0"/>
                        </a:rPr>
                        <a:t>5</a:t>
                      </a:r>
                    </a:p>
                  </a:txBody>
                  <a:tcPr marL="63954" marR="63954" marT="31977" marB="31977">
                    <a:noFill/>
                  </a:tcPr>
                </a:tc>
                <a:tc>
                  <a:txBody>
                    <a:bodyPr/>
                    <a:lstStyle/>
                    <a:p>
                      <a:pPr algn="ctr"/>
                      <a:r>
                        <a:rPr lang="en-US" sz="1700" b="1" i="1" dirty="0">
                          <a:solidFill>
                            <a:srgbClr val="FF0000"/>
                          </a:solidFill>
                          <a:latin typeface="Consolas" panose="020B0609020204030204" pitchFamily="49" charset="0"/>
                          <a:cs typeface="Consolas" panose="020B0609020204030204" pitchFamily="49" charset="0"/>
                        </a:rPr>
                        <a:t>6</a:t>
                      </a:r>
                    </a:p>
                  </a:txBody>
                  <a:tcPr marL="63954" marR="63954" marT="31977" marB="31977">
                    <a:noFill/>
                  </a:tcPr>
                </a:tc>
                <a:tc>
                  <a:txBody>
                    <a:bodyPr/>
                    <a:lstStyle/>
                    <a:p>
                      <a:pPr algn="ctr"/>
                      <a:r>
                        <a:rPr lang="en-US" sz="1700" b="1" i="1" dirty="0">
                          <a:solidFill>
                            <a:srgbClr val="FF0000"/>
                          </a:solidFill>
                          <a:latin typeface="Consolas" panose="020B0609020204030204" pitchFamily="49" charset="0"/>
                          <a:cs typeface="Consolas" panose="020B0609020204030204" pitchFamily="49" charset="0"/>
                        </a:rPr>
                        <a:t>7</a:t>
                      </a:r>
                    </a:p>
                  </a:txBody>
                  <a:tcPr marL="63954" marR="63954" marT="31977" marB="31977">
                    <a:noFill/>
                  </a:tcPr>
                </a:tc>
                <a:tc>
                  <a:txBody>
                    <a:bodyPr/>
                    <a:lstStyle/>
                    <a:p>
                      <a:pPr algn="ctr"/>
                      <a:r>
                        <a:rPr lang="en-US" sz="1700" b="1" i="1" dirty="0">
                          <a:solidFill>
                            <a:srgbClr val="FF0000"/>
                          </a:solidFill>
                          <a:latin typeface="Consolas" panose="020B0609020204030204" pitchFamily="49" charset="0"/>
                          <a:cs typeface="Consolas" panose="020B0609020204030204" pitchFamily="49" charset="0"/>
                        </a:rPr>
                        <a:t>8</a:t>
                      </a:r>
                    </a:p>
                  </a:txBody>
                  <a:tcPr marL="63954" marR="63954" marT="31977" marB="31977">
                    <a:noFill/>
                  </a:tcPr>
                </a:tc>
                <a:tc>
                  <a:txBody>
                    <a:bodyPr/>
                    <a:lstStyle/>
                    <a:p>
                      <a:pPr algn="ctr"/>
                      <a:r>
                        <a:rPr lang="en-US" sz="1700" b="0" i="1" dirty="0">
                          <a:latin typeface="Consolas" panose="020B0609020204030204" pitchFamily="49" charset="0"/>
                          <a:cs typeface="Consolas" panose="020B0609020204030204" pitchFamily="49" charset="0"/>
                        </a:rPr>
                        <a:t>9</a:t>
                      </a:r>
                    </a:p>
                  </a:txBody>
                  <a:tcPr marL="63954" marR="63954" marT="31977" marB="31977">
                    <a:noFill/>
                  </a:tcPr>
                </a:tc>
                <a:extLst>
                  <a:ext uri="{0D108BD9-81ED-4DB2-BD59-A6C34878D82A}">
                    <a16:rowId xmlns:a16="http://schemas.microsoft.com/office/drawing/2014/main" val="639513657"/>
                  </a:ext>
                </a:extLst>
              </a:tr>
            </a:tbl>
          </a:graphicData>
        </a:graphic>
      </p:graphicFrame>
      <p:sp>
        <p:nvSpPr>
          <p:cNvPr id="15" name="TextBox 14">
            <a:extLst>
              <a:ext uri="{FF2B5EF4-FFF2-40B4-BE49-F238E27FC236}">
                <a16:creationId xmlns:a16="http://schemas.microsoft.com/office/drawing/2014/main" id="{4510C6FB-D13D-4F45-A342-602FF81FFE21}"/>
              </a:ext>
            </a:extLst>
          </p:cNvPr>
          <p:cNvSpPr txBox="1"/>
          <p:nvPr/>
        </p:nvSpPr>
        <p:spPr>
          <a:xfrm>
            <a:off x="190500" y="4190184"/>
            <a:ext cx="5162550" cy="769441"/>
          </a:xfrm>
          <a:prstGeom prst="rect">
            <a:avLst/>
          </a:prstGeom>
          <a:noFill/>
        </p:spPr>
        <p:txBody>
          <a:bodyPr wrap="square" rtlCol="0">
            <a:spAutoFit/>
          </a:bodyPr>
          <a:lstStyle/>
          <a:p>
            <a:pPr algn="ctr"/>
            <a:r>
              <a:rPr lang="en-US" sz="2200" dirty="0"/>
              <a:t>without the end-padding, this int field of the second item is now misaligned.</a:t>
            </a:r>
          </a:p>
        </p:txBody>
      </p:sp>
      <p:cxnSp>
        <p:nvCxnSpPr>
          <p:cNvPr id="16" name="Straight Arrow Connector 15">
            <a:extLst>
              <a:ext uri="{FF2B5EF4-FFF2-40B4-BE49-F238E27FC236}">
                <a16:creationId xmlns:a16="http://schemas.microsoft.com/office/drawing/2014/main" id="{4170E455-E601-5F45-AB09-628ADB139310}"/>
              </a:ext>
            </a:extLst>
          </p:cNvPr>
          <p:cNvCxnSpPr>
            <a:cxnSpLocks/>
          </p:cNvCxnSpPr>
          <p:nvPr/>
        </p:nvCxnSpPr>
        <p:spPr>
          <a:xfrm flipV="1">
            <a:off x="3048000" y="3761559"/>
            <a:ext cx="0" cy="428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F9647D7-627D-9540-8403-375A49CDD8FC}"/>
              </a:ext>
            </a:extLst>
          </p:cNvPr>
          <p:cNvSpPr txBox="1"/>
          <p:nvPr/>
        </p:nvSpPr>
        <p:spPr>
          <a:xfrm>
            <a:off x="5353050" y="3937771"/>
            <a:ext cx="3657597" cy="1446550"/>
          </a:xfrm>
          <a:prstGeom prst="rect">
            <a:avLst/>
          </a:prstGeom>
          <a:noFill/>
        </p:spPr>
        <p:txBody>
          <a:bodyPr wrap="square" rtlCol="0">
            <a:spAutoFit/>
          </a:bodyPr>
          <a:lstStyle/>
          <a:p>
            <a:pPr algn="ctr"/>
            <a:r>
              <a:rPr lang="en-US" sz="2200" dirty="0"/>
              <a:t>the </a:t>
            </a:r>
            <a:r>
              <a:rPr lang="en-US" sz="2200" b="1" dirty="0"/>
              <a:t>memory allocator </a:t>
            </a:r>
            <a:r>
              <a:rPr lang="en-US" sz="2200" dirty="0"/>
              <a:t>will have to allocate things at aligned memory addresses as well, for this to work.</a:t>
            </a:r>
          </a:p>
        </p:txBody>
      </p:sp>
    </p:spTree>
    <p:extLst>
      <p:ext uri="{BB962C8B-B14F-4D97-AF65-F5344CB8AC3E}">
        <p14:creationId xmlns:p14="http://schemas.microsoft.com/office/powerpoint/2010/main" val="21344136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0A9D-490D-E84E-8EA7-CB9497A3F2CB}"/>
              </a:ext>
            </a:extLst>
          </p:cNvPr>
          <p:cNvSpPr>
            <a:spLocks noGrp="1"/>
          </p:cNvSpPr>
          <p:nvPr>
            <p:ph type="title"/>
          </p:nvPr>
        </p:nvSpPr>
        <p:spPr/>
        <p:txBody>
          <a:bodyPr/>
          <a:lstStyle/>
          <a:p>
            <a:r>
              <a:rPr lang="en-US" dirty="0"/>
              <a:t>Anyway… allocation</a:t>
            </a:r>
          </a:p>
        </p:txBody>
      </p:sp>
      <p:sp>
        <p:nvSpPr>
          <p:cNvPr id="3" name="Content Placeholder 2">
            <a:extLst>
              <a:ext uri="{FF2B5EF4-FFF2-40B4-BE49-F238E27FC236}">
                <a16:creationId xmlns:a16="http://schemas.microsoft.com/office/drawing/2014/main" id="{069F8FA3-9CF5-8541-8C07-45F621EDE3E7}"/>
              </a:ext>
            </a:extLst>
          </p:cNvPr>
          <p:cNvSpPr>
            <a:spLocks noGrp="1"/>
          </p:cNvSpPr>
          <p:nvPr>
            <p:ph idx="1"/>
          </p:nvPr>
        </p:nvSpPr>
        <p:spPr>
          <a:xfrm>
            <a:off x="152400" y="495301"/>
            <a:ext cx="8991600" cy="1600199"/>
          </a:xfrm>
        </p:spPr>
        <p:txBody>
          <a:bodyPr/>
          <a:lstStyle/>
          <a:p>
            <a:r>
              <a:rPr lang="en-US" dirty="0"/>
              <a:t>now we know the </a:t>
            </a:r>
            <a:r>
              <a:rPr lang="en-US" b="1" dirty="0"/>
              <a:t>size</a:t>
            </a:r>
            <a:r>
              <a:rPr lang="en-US" dirty="0"/>
              <a:t> and </a:t>
            </a:r>
            <a:r>
              <a:rPr lang="en-US" b="1" dirty="0"/>
              <a:t>alignment</a:t>
            </a:r>
            <a:r>
              <a:rPr lang="en-US" dirty="0"/>
              <a:t> of each struct.</a:t>
            </a:r>
          </a:p>
          <a:p>
            <a:r>
              <a:rPr lang="en-US" dirty="0"/>
              <a:t>we'll need a </a:t>
            </a:r>
            <a:r>
              <a:rPr lang="en-US" b="1" dirty="0"/>
              <a:t>runtime library function </a:t>
            </a:r>
            <a:r>
              <a:rPr lang="en-US" dirty="0"/>
              <a:t>to dynamically allocate structs.</a:t>
            </a:r>
          </a:p>
          <a:p>
            <a:pPr lvl="1"/>
            <a:r>
              <a:rPr lang="en-US" dirty="0"/>
              <a:t>let's call it </a:t>
            </a:r>
            <a:r>
              <a:rPr lang="en-US" sz="2000" b="1" dirty="0" err="1">
                <a:latin typeface="Consolas" panose="020B0609020204030204" pitchFamily="49" charset="0"/>
                <a:cs typeface="Consolas" panose="020B0609020204030204" pitchFamily="49" charset="0"/>
              </a:rPr>
              <a:t>rt$new</a:t>
            </a:r>
            <a:r>
              <a:rPr lang="en-US" sz="2000" b="1" dirty="0">
                <a:latin typeface="Consolas" panose="020B0609020204030204" pitchFamily="49" charset="0"/>
                <a:cs typeface="Consolas" panose="020B0609020204030204" pitchFamily="49" charset="0"/>
              </a:rPr>
              <a:t>(size: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a:t>
            </a:r>
            <a:r>
              <a:rPr lang="en-US" dirty="0"/>
              <a:t>. it'll return an </a:t>
            </a:r>
            <a:r>
              <a:rPr lang="en-US" i="1" dirty="0"/>
              <a:t>address.</a:t>
            </a:r>
          </a:p>
          <a:p>
            <a:pPr lvl="1"/>
            <a:r>
              <a:rPr lang="en-US" dirty="0"/>
              <a:t>to keep it simple, it'll always align things to 4 bytes.</a:t>
            </a:r>
          </a:p>
        </p:txBody>
      </p:sp>
      <p:sp>
        <p:nvSpPr>
          <p:cNvPr id="4" name="Slide Number Placeholder 3">
            <a:extLst>
              <a:ext uri="{FF2B5EF4-FFF2-40B4-BE49-F238E27FC236}">
                <a16:creationId xmlns:a16="http://schemas.microsoft.com/office/drawing/2014/main" id="{CBFC9A90-0976-5944-AA8B-3A7576F87DA3}"/>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Rectangle 4">
            <a:extLst>
              <a:ext uri="{FF2B5EF4-FFF2-40B4-BE49-F238E27FC236}">
                <a16:creationId xmlns:a16="http://schemas.microsoft.com/office/drawing/2014/main" id="{B6F7830B-A551-FE48-A537-719C69D6D19B}"/>
              </a:ext>
            </a:extLst>
          </p:cNvPr>
          <p:cNvSpPr/>
          <p:nvPr/>
        </p:nvSpPr>
        <p:spPr>
          <a:xfrm>
            <a:off x="304800" y="2190115"/>
            <a:ext cx="5715000" cy="2554545"/>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Thing {    </a:t>
            </a:r>
            <a:r>
              <a:rPr lang="en-US" sz="2000" i="1" dirty="0">
                <a:solidFill>
                  <a:schemeClr val="accent3">
                    <a:lumMod val="50000"/>
                  </a:schemeClr>
                </a:solidFill>
                <a:latin typeface="Consolas" panose="020B0609020204030204" pitchFamily="49" charset="0"/>
                <a:cs typeface="Consolas" panose="020B0609020204030204" pitchFamily="49" charset="0"/>
              </a:rPr>
              <a:t>// size: 12</a:t>
            </a:r>
            <a:br>
              <a:rPr lang="en-US" sz="2000" i="1" dirty="0">
                <a:solidFill>
                  <a:schemeClr val="accent3">
                    <a:lumMod val="50000"/>
                  </a:schemeClr>
                </a:solidFill>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name: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in_use</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flag: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count: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t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Thing();</a:t>
            </a:r>
          </a:p>
        </p:txBody>
      </p:sp>
      <p:sp>
        <p:nvSpPr>
          <p:cNvPr id="6" name="Rectangle 5">
            <a:extLst>
              <a:ext uri="{FF2B5EF4-FFF2-40B4-BE49-F238E27FC236}">
                <a16:creationId xmlns:a16="http://schemas.microsoft.com/office/drawing/2014/main" id="{2951B5D1-9959-5F41-9811-E76DE545BA48}"/>
              </a:ext>
            </a:extLst>
          </p:cNvPr>
          <p:cNvSpPr/>
          <p:nvPr/>
        </p:nvSpPr>
        <p:spPr>
          <a:xfrm>
            <a:off x="4870174" y="3802970"/>
            <a:ext cx="3276600" cy="1631216"/>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12</a:t>
            </a: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size</a:t>
            </a:r>
          </a:p>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rt$new</a:t>
            </a:r>
            <a:endParaRPr lang="en-US" sz="2000" b="1" dirty="0">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-24</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t</a:t>
            </a:r>
          </a:p>
        </p:txBody>
      </p:sp>
      <p:grpSp>
        <p:nvGrpSpPr>
          <p:cNvPr id="16" name="Group 15">
            <a:extLst>
              <a:ext uri="{FF2B5EF4-FFF2-40B4-BE49-F238E27FC236}">
                <a16:creationId xmlns:a16="http://schemas.microsoft.com/office/drawing/2014/main" id="{E45EA984-128E-3A48-92D1-B83C8A539057}"/>
              </a:ext>
            </a:extLst>
          </p:cNvPr>
          <p:cNvGrpSpPr/>
          <p:nvPr/>
        </p:nvGrpSpPr>
        <p:grpSpPr>
          <a:xfrm>
            <a:off x="3276600" y="3912699"/>
            <a:ext cx="1546363" cy="1434551"/>
            <a:chOff x="1774963" y="3588915"/>
            <a:chExt cx="1546363" cy="398184"/>
          </a:xfrm>
        </p:grpSpPr>
        <p:sp>
          <p:nvSpPr>
            <p:cNvPr id="7" name="Left Brace 6">
              <a:extLst>
                <a:ext uri="{FF2B5EF4-FFF2-40B4-BE49-F238E27FC236}">
                  <a16:creationId xmlns:a16="http://schemas.microsoft.com/office/drawing/2014/main" id="{7C8025CC-8E27-874E-84C0-5D69EFC62221}"/>
                </a:ext>
              </a:extLst>
            </p:cNvPr>
            <p:cNvSpPr/>
            <p:nvPr/>
          </p:nvSpPr>
          <p:spPr>
            <a:xfrm>
              <a:off x="2978426" y="3588915"/>
              <a:ext cx="342900" cy="398184"/>
            </a:xfrm>
            <a:prstGeom prst="leftBrace">
              <a:avLst>
                <a:gd name="adj1" fmla="val 36458"/>
                <a:gd name="adj2" fmla="val 4377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8A7C7E0-F117-C94A-BE0B-595469657839}"/>
                </a:ext>
              </a:extLst>
            </p:cNvPr>
            <p:cNvCxnSpPr>
              <a:cxnSpLocks/>
            </p:cNvCxnSpPr>
            <p:nvPr/>
          </p:nvCxnSpPr>
          <p:spPr>
            <a:xfrm flipH="1">
              <a:off x="1774963" y="3762464"/>
              <a:ext cx="12349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3BD76118-6FEE-FF45-B9DE-DEDFEA69CD3D}"/>
              </a:ext>
            </a:extLst>
          </p:cNvPr>
          <p:cNvSpPr txBox="1"/>
          <p:nvPr/>
        </p:nvSpPr>
        <p:spPr>
          <a:xfrm>
            <a:off x="4822963" y="2920275"/>
            <a:ext cx="3651595" cy="769441"/>
          </a:xfrm>
          <a:prstGeom prst="rect">
            <a:avLst/>
          </a:prstGeom>
          <a:noFill/>
        </p:spPr>
        <p:txBody>
          <a:bodyPr wrap="square" rtlCol="0">
            <a:spAutoFit/>
          </a:bodyPr>
          <a:lstStyle/>
          <a:p>
            <a:pPr algn="ctr"/>
            <a:r>
              <a:rPr lang="en-US" sz="2200" dirty="0"/>
              <a:t>allocations get generated as calls to this function.</a:t>
            </a:r>
          </a:p>
        </p:txBody>
      </p:sp>
    </p:spTree>
    <p:extLst>
      <p:ext uri="{BB962C8B-B14F-4D97-AF65-F5344CB8AC3E}">
        <p14:creationId xmlns:p14="http://schemas.microsoft.com/office/powerpoint/2010/main" val="38999429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0A9D-490D-E84E-8EA7-CB9497A3F2CB}"/>
              </a:ext>
            </a:extLst>
          </p:cNvPr>
          <p:cNvSpPr>
            <a:spLocks noGrp="1"/>
          </p:cNvSpPr>
          <p:nvPr>
            <p:ph type="title"/>
          </p:nvPr>
        </p:nvSpPr>
        <p:spPr/>
        <p:txBody>
          <a:bodyPr/>
          <a:lstStyle/>
          <a:p>
            <a:r>
              <a:rPr lang="en-US" dirty="0"/>
              <a:t>Accessing fields</a:t>
            </a:r>
          </a:p>
        </p:txBody>
      </p:sp>
      <p:sp>
        <p:nvSpPr>
          <p:cNvPr id="3" name="Content Placeholder 2">
            <a:extLst>
              <a:ext uri="{FF2B5EF4-FFF2-40B4-BE49-F238E27FC236}">
                <a16:creationId xmlns:a16="http://schemas.microsoft.com/office/drawing/2014/main" id="{069F8FA3-9CF5-8541-8C07-45F621EDE3E7}"/>
              </a:ext>
            </a:extLst>
          </p:cNvPr>
          <p:cNvSpPr>
            <a:spLocks noGrp="1"/>
          </p:cNvSpPr>
          <p:nvPr>
            <p:ph idx="1"/>
          </p:nvPr>
        </p:nvSpPr>
        <p:spPr>
          <a:xfrm>
            <a:off x="152400" y="495302"/>
            <a:ext cx="8991600" cy="495300"/>
          </a:xfrm>
        </p:spPr>
        <p:txBody>
          <a:bodyPr/>
          <a:lstStyle/>
          <a:p>
            <a:r>
              <a:rPr lang="en-US" dirty="0"/>
              <a:t>we use the fields' </a:t>
            </a:r>
            <a:r>
              <a:rPr lang="en-US" b="1" dirty="0"/>
              <a:t>offsets </a:t>
            </a:r>
            <a:r>
              <a:rPr lang="en-US" dirty="0"/>
              <a:t>and </a:t>
            </a:r>
            <a:r>
              <a:rPr lang="en-US" b="1" dirty="0"/>
              <a:t>types </a:t>
            </a:r>
            <a:r>
              <a:rPr lang="en-US" dirty="0"/>
              <a:t>to generate code for field access.</a:t>
            </a:r>
            <a:endParaRPr lang="en-US" i="1" dirty="0"/>
          </a:p>
        </p:txBody>
      </p:sp>
      <p:sp>
        <p:nvSpPr>
          <p:cNvPr id="4" name="Slide Number Placeholder 3">
            <a:extLst>
              <a:ext uri="{FF2B5EF4-FFF2-40B4-BE49-F238E27FC236}">
                <a16:creationId xmlns:a16="http://schemas.microsoft.com/office/drawing/2014/main" id="{CBFC9A90-0976-5944-AA8B-3A7576F87DA3}"/>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Rectangle 4">
            <a:extLst>
              <a:ext uri="{FF2B5EF4-FFF2-40B4-BE49-F238E27FC236}">
                <a16:creationId xmlns:a16="http://schemas.microsoft.com/office/drawing/2014/main" id="{B6F7830B-A551-FE48-A537-719C69D6D19B}"/>
              </a:ext>
            </a:extLst>
          </p:cNvPr>
          <p:cNvSpPr/>
          <p:nvPr/>
        </p:nvSpPr>
        <p:spPr>
          <a:xfrm>
            <a:off x="304800" y="938215"/>
            <a:ext cx="4572000" cy="4093428"/>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Thing {    </a:t>
            </a:r>
            <a:br>
              <a:rPr lang="en-US" sz="2000" i="1" dirty="0">
                <a:solidFill>
                  <a:schemeClr val="accent3">
                    <a:lumMod val="50000"/>
                  </a:schemeClr>
                </a:solidFill>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name: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offs: 0</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in_use</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offs: 4</a:t>
            </a:r>
          </a:p>
          <a:p>
            <a:r>
              <a:rPr lang="en-US" sz="2000" b="1" dirty="0">
                <a:latin typeface="Consolas" panose="020B0609020204030204" pitchFamily="49" charset="0"/>
                <a:cs typeface="Consolas" panose="020B0609020204030204" pitchFamily="49" charset="0"/>
              </a:rPr>
              <a:t>  flag: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offs: 5</a:t>
            </a:r>
          </a:p>
          <a:p>
            <a:r>
              <a:rPr lang="en-US" sz="2000" b="1" dirty="0">
                <a:latin typeface="Consolas" panose="020B0609020204030204" pitchFamily="49" charset="0"/>
                <a:cs typeface="Consolas" panose="020B0609020204030204" pitchFamily="49" charset="0"/>
              </a:rPr>
              <a:t>  count: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offs: 8</a:t>
            </a:r>
          </a:p>
          <a:p>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t = new Thing();</a:t>
            </a:r>
          </a:p>
          <a:p>
            <a:endParaRPr lang="en-US" sz="2000" b="1" dirty="0">
              <a:latin typeface="Consolas" panose="020B0609020204030204" pitchFamily="49" charset="0"/>
              <a:cs typeface="Consolas" panose="020B0609020204030204" pitchFamily="49" charset="0"/>
            </a:endParaRPr>
          </a:p>
          <a:p>
            <a:r>
              <a:rPr lang="en-US" sz="2000" b="1" dirty="0" err="1">
                <a:latin typeface="Consolas" panose="020B0609020204030204" pitchFamily="49" charset="0"/>
                <a:cs typeface="Consolas" panose="020B0609020204030204" pitchFamily="49" charset="0"/>
              </a:rPr>
              <a:t>t.in_use</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true</a:t>
            </a:r>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endParaRPr lang="en-US" sz="2000" b="1" dirty="0">
              <a:latin typeface="Consolas" panose="020B0609020204030204" pitchFamily="49" charset="0"/>
              <a:cs typeface="Consolas" panose="020B0609020204030204" pitchFamily="49" charset="0"/>
            </a:endParaRPr>
          </a:p>
          <a:p>
            <a:r>
              <a:rPr lang="en-US" sz="2000" b="1" dirty="0" err="1">
                <a:latin typeface="Consolas" panose="020B0609020204030204" pitchFamily="49" charset="0"/>
                <a:cs typeface="Consolas" panose="020B0609020204030204" pitchFamily="49" charset="0"/>
              </a:rPr>
              <a:t>t.count</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20</a:t>
            </a:r>
            <a:r>
              <a:rPr lang="en-US" sz="20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2951B5D1-9959-5F41-9811-E76DE545BA48}"/>
              </a:ext>
            </a:extLst>
          </p:cNvPr>
          <p:cNvSpPr/>
          <p:nvPr/>
        </p:nvSpPr>
        <p:spPr>
          <a:xfrm>
            <a:off x="3693008" y="3382272"/>
            <a:ext cx="4895850" cy="1015663"/>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-24</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t</a:t>
            </a:r>
          </a:p>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s1, </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true</a:t>
            </a:r>
          </a:p>
          <a:p>
            <a:r>
              <a:rPr lang="en-US" sz="2000" b="1" dirty="0" err="1">
                <a:solidFill>
                  <a:srgbClr val="FF0000"/>
                </a:solidFill>
                <a:latin typeface="Consolas" panose="020B0609020204030204" pitchFamily="49" charset="0"/>
                <a:cs typeface="Consolas" panose="020B0609020204030204" pitchFamily="49" charset="0"/>
              </a:rPr>
              <a:t>sb</a:t>
            </a:r>
            <a:r>
              <a:rPr lang="en-US" sz="2000" b="1" dirty="0">
                <a:latin typeface="Consolas" panose="020B0609020204030204" pitchFamily="49" charset="0"/>
                <a:cs typeface="Consolas" panose="020B0609020204030204" pitchFamily="49" charset="0"/>
              </a:rPr>
              <a:t> s1, </a:t>
            </a:r>
            <a:r>
              <a:rPr lang="en-US" sz="2000" b="1" dirty="0">
                <a:solidFill>
                  <a:schemeClr val="accent3">
                    <a:lumMod val="75000"/>
                  </a:schemeClr>
                </a:solidFill>
                <a:latin typeface="Consolas" panose="020B0609020204030204" pitchFamily="49" charset="0"/>
                <a:cs typeface="Consolas" panose="020B0609020204030204" pitchFamily="49" charset="0"/>
              </a:rPr>
              <a:t>4</a:t>
            </a:r>
            <a:r>
              <a:rPr lang="en-US" sz="2000" b="1" dirty="0">
                <a:latin typeface="Consolas" panose="020B0609020204030204" pitchFamily="49" charset="0"/>
                <a:cs typeface="Consolas" panose="020B0609020204030204" pitchFamily="49" charset="0"/>
              </a:rPr>
              <a:t>(s0)   </a:t>
            </a:r>
            <a:r>
              <a:rPr lang="en-US" sz="2000" i="1" dirty="0">
                <a:solidFill>
                  <a:schemeClr val="accent3">
                    <a:lumMod val="50000"/>
                  </a:schemeClr>
                </a:solidFill>
                <a:latin typeface="Consolas" panose="020B0609020204030204" pitchFamily="49" charset="0"/>
                <a:cs typeface="Consolas" panose="020B0609020204030204" pitchFamily="49" charset="0"/>
              </a:rPr>
              <a:t># </a:t>
            </a:r>
            <a:r>
              <a:rPr lang="en-US" sz="2000" i="1" dirty="0" err="1">
                <a:solidFill>
                  <a:schemeClr val="accent3">
                    <a:lumMod val="50000"/>
                  </a:schemeClr>
                </a:solidFill>
                <a:latin typeface="Consolas" panose="020B0609020204030204" pitchFamily="49" charset="0"/>
                <a:cs typeface="Consolas" panose="020B0609020204030204" pitchFamily="49" charset="0"/>
              </a:rPr>
              <a:t>t.in_use</a:t>
            </a:r>
            <a:r>
              <a:rPr lang="en-US" sz="2000" i="1" dirty="0">
                <a:solidFill>
                  <a:schemeClr val="accent3">
                    <a:lumMod val="50000"/>
                  </a:schemeClr>
                </a:solidFill>
                <a:latin typeface="Consolas" panose="020B0609020204030204" pitchFamily="49" charset="0"/>
                <a:cs typeface="Consolas" panose="020B0609020204030204" pitchFamily="49" charset="0"/>
              </a:rPr>
              <a:t> = true</a:t>
            </a:r>
          </a:p>
        </p:txBody>
      </p:sp>
      <p:grpSp>
        <p:nvGrpSpPr>
          <p:cNvPr id="16" name="Group 15">
            <a:extLst>
              <a:ext uri="{FF2B5EF4-FFF2-40B4-BE49-F238E27FC236}">
                <a16:creationId xmlns:a16="http://schemas.microsoft.com/office/drawing/2014/main" id="{E45EA984-128E-3A48-92D1-B83C8A539057}"/>
              </a:ext>
            </a:extLst>
          </p:cNvPr>
          <p:cNvGrpSpPr/>
          <p:nvPr/>
        </p:nvGrpSpPr>
        <p:grpSpPr>
          <a:xfrm>
            <a:off x="2667000" y="3483525"/>
            <a:ext cx="935935" cy="855234"/>
            <a:chOff x="2228850" y="3483525"/>
            <a:chExt cx="935935" cy="855234"/>
          </a:xfrm>
        </p:grpSpPr>
        <p:sp>
          <p:nvSpPr>
            <p:cNvPr id="7" name="Left Brace 6">
              <a:extLst>
                <a:ext uri="{FF2B5EF4-FFF2-40B4-BE49-F238E27FC236}">
                  <a16:creationId xmlns:a16="http://schemas.microsoft.com/office/drawing/2014/main" id="{7C8025CC-8E27-874E-84C0-5D69EFC62221}"/>
                </a:ext>
              </a:extLst>
            </p:cNvPr>
            <p:cNvSpPr/>
            <p:nvPr/>
          </p:nvSpPr>
          <p:spPr>
            <a:xfrm>
              <a:off x="2879035" y="3483525"/>
              <a:ext cx="285750" cy="855234"/>
            </a:xfrm>
            <a:prstGeom prst="leftBrace">
              <a:avLst>
                <a:gd name="adj1" fmla="val 36458"/>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8A7C7E0-F117-C94A-BE0B-595469657839}"/>
                </a:ext>
              </a:extLst>
            </p:cNvPr>
            <p:cNvCxnSpPr>
              <a:cxnSpLocks/>
              <a:stCxn id="7" idx="1"/>
            </p:cNvCxnSpPr>
            <p:nvPr/>
          </p:nvCxnSpPr>
          <p:spPr>
            <a:xfrm flipH="1">
              <a:off x="2228850" y="3911142"/>
              <a:ext cx="6501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2576BEAB-2B4E-3342-93BD-47488C2805BD}"/>
              </a:ext>
            </a:extLst>
          </p:cNvPr>
          <p:cNvSpPr txBox="1"/>
          <p:nvPr/>
        </p:nvSpPr>
        <p:spPr>
          <a:xfrm>
            <a:off x="4962939" y="1564572"/>
            <a:ext cx="3886200" cy="1446550"/>
          </a:xfrm>
          <a:prstGeom prst="rect">
            <a:avLst/>
          </a:prstGeom>
          <a:noFill/>
        </p:spPr>
        <p:txBody>
          <a:bodyPr wrap="square" rtlCol="0">
            <a:spAutoFit/>
          </a:bodyPr>
          <a:lstStyle/>
          <a:p>
            <a:pPr algn="ctr"/>
            <a:r>
              <a:rPr lang="en-US" sz="2200" dirty="0"/>
              <a:t>to access a field, we add its </a:t>
            </a:r>
            <a:r>
              <a:rPr lang="en-US" sz="2200" b="1" dirty="0"/>
              <a:t>offset</a:t>
            </a:r>
            <a:r>
              <a:rPr lang="en-US" sz="2200" dirty="0"/>
              <a:t> to the struct instance's address, then use the right "flavor" of load/store.</a:t>
            </a:r>
          </a:p>
        </p:txBody>
      </p:sp>
      <p:sp>
        <p:nvSpPr>
          <p:cNvPr id="24" name="Rectangle 23">
            <a:extLst>
              <a:ext uri="{FF2B5EF4-FFF2-40B4-BE49-F238E27FC236}">
                <a16:creationId xmlns:a16="http://schemas.microsoft.com/office/drawing/2014/main" id="{14D3911C-0C4C-EE48-8AC7-E724FB0CC35E}"/>
              </a:ext>
            </a:extLst>
          </p:cNvPr>
          <p:cNvSpPr/>
          <p:nvPr/>
        </p:nvSpPr>
        <p:spPr>
          <a:xfrm>
            <a:off x="3693008" y="4305300"/>
            <a:ext cx="4895850" cy="1015663"/>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-24</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t</a:t>
            </a:r>
          </a:p>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s1, </a:t>
            </a:r>
            <a:r>
              <a:rPr lang="en-US" sz="2000" b="1" dirty="0">
                <a:solidFill>
                  <a:schemeClr val="accent3">
                    <a:lumMod val="75000"/>
                  </a:schemeClr>
                </a:solidFill>
                <a:latin typeface="Consolas" panose="020B0609020204030204" pitchFamily="49" charset="0"/>
                <a:cs typeface="Consolas" panose="020B0609020204030204" pitchFamily="49" charset="0"/>
              </a:rPr>
              <a:t>20</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s1, </a:t>
            </a:r>
            <a:r>
              <a:rPr lang="en-US" sz="2000" b="1" dirty="0">
                <a:solidFill>
                  <a:schemeClr val="accent3">
                    <a:lumMod val="75000"/>
                  </a:schemeClr>
                </a:solidFill>
                <a:latin typeface="Consolas" panose="020B0609020204030204" pitchFamily="49" charset="0"/>
                <a:cs typeface="Consolas" panose="020B0609020204030204" pitchFamily="49" charset="0"/>
              </a:rPr>
              <a:t>8</a:t>
            </a:r>
            <a:r>
              <a:rPr lang="en-US" sz="2000" b="1" dirty="0">
                <a:latin typeface="Consolas" panose="020B0609020204030204" pitchFamily="49" charset="0"/>
                <a:cs typeface="Consolas" panose="020B0609020204030204" pitchFamily="49" charset="0"/>
              </a:rPr>
              <a:t>(s0)   </a:t>
            </a:r>
            <a:r>
              <a:rPr lang="en-US" sz="2000" i="1" dirty="0">
                <a:solidFill>
                  <a:schemeClr val="accent3">
                    <a:lumMod val="50000"/>
                  </a:schemeClr>
                </a:solidFill>
                <a:latin typeface="Consolas" panose="020B0609020204030204" pitchFamily="49" charset="0"/>
                <a:cs typeface="Consolas" panose="020B0609020204030204" pitchFamily="49" charset="0"/>
              </a:rPr>
              <a:t># </a:t>
            </a:r>
            <a:r>
              <a:rPr lang="en-US" sz="2000" i="1" dirty="0" err="1">
                <a:solidFill>
                  <a:schemeClr val="accent3">
                    <a:lumMod val="50000"/>
                  </a:schemeClr>
                </a:solidFill>
                <a:latin typeface="Consolas" panose="020B0609020204030204" pitchFamily="49" charset="0"/>
                <a:cs typeface="Consolas" panose="020B0609020204030204" pitchFamily="49" charset="0"/>
              </a:rPr>
              <a:t>t.count</a:t>
            </a:r>
            <a:r>
              <a:rPr lang="en-US" sz="2000" i="1" dirty="0">
                <a:solidFill>
                  <a:schemeClr val="accent3">
                    <a:lumMod val="50000"/>
                  </a:schemeClr>
                </a:solidFill>
                <a:latin typeface="Consolas" panose="020B0609020204030204" pitchFamily="49" charset="0"/>
                <a:cs typeface="Consolas" panose="020B0609020204030204" pitchFamily="49" charset="0"/>
              </a:rPr>
              <a:t> = 20</a:t>
            </a:r>
          </a:p>
        </p:txBody>
      </p:sp>
      <p:grpSp>
        <p:nvGrpSpPr>
          <p:cNvPr id="25" name="Group 24">
            <a:extLst>
              <a:ext uri="{FF2B5EF4-FFF2-40B4-BE49-F238E27FC236}">
                <a16:creationId xmlns:a16="http://schemas.microsoft.com/office/drawing/2014/main" id="{B2DB3287-D9E4-0142-AEEE-2F6D1ADF7B24}"/>
              </a:ext>
            </a:extLst>
          </p:cNvPr>
          <p:cNvGrpSpPr/>
          <p:nvPr/>
        </p:nvGrpSpPr>
        <p:grpSpPr>
          <a:xfrm>
            <a:off x="2667000" y="4406553"/>
            <a:ext cx="935935" cy="855234"/>
            <a:chOff x="2228850" y="3483525"/>
            <a:chExt cx="935935" cy="855234"/>
          </a:xfrm>
        </p:grpSpPr>
        <p:sp>
          <p:nvSpPr>
            <p:cNvPr id="27" name="Left Brace 26">
              <a:extLst>
                <a:ext uri="{FF2B5EF4-FFF2-40B4-BE49-F238E27FC236}">
                  <a16:creationId xmlns:a16="http://schemas.microsoft.com/office/drawing/2014/main" id="{E415D91C-1369-BC4E-838D-91B962737E50}"/>
                </a:ext>
              </a:extLst>
            </p:cNvPr>
            <p:cNvSpPr/>
            <p:nvPr/>
          </p:nvSpPr>
          <p:spPr>
            <a:xfrm>
              <a:off x="2879035" y="3483525"/>
              <a:ext cx="285750" cy="855234"/>
            </a:xfrm>
            <a:prstGeom prst="leftBrace">
              <a:avLst>
                <a:gd name="adj1" fmla="val 36458"/>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EA44A2BC-E54B-0849-BF59-7B3B11B65B05}"/>
                </a:ext>
              </a:extLst>
            </p:cNvPr>
            <p:cNvCxnSpPr>
              <a:cxnSpLocks/>
              <a:stCxn id="27" idx="1"/>
            </p:cNvCxnSpPr>
            <p:nvPr/>
          </p:nvCxnSpPr>
          <p:spPr>
            <a:xfrm flipH="1">
              <a:off x="2228850" y="3911142"/>
              <a:ext cx="6501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63791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6"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72E6-09AA-1640-9B28-D00DE6676B62}"/>
              </a:ext>
            </a:extLst>
          </p:cNvPr>
          <p:cNvSpPr>
            <a:spLocks noGrp="1"/>
          </p:cNvSpPr>
          <p:nvPr>
            <p:ph type="ctrTitle"/>
          </p:nvPr>
        </p:nvSpPr>
        <p:spPr/>
        <p:txBody>
          <a:bodyPr/>
          <a:lstStyle/>
          <a:p>
            <a:r>
              <a:rPr lang="en-US" dirty="0"/>
              <a:t>OOP</a:t>
            </a:r>
          </a:p>
        </p:txBody>
      </p:sp>
      <p:sp>
        <p:nvSpPr>
          <p:cNvPr id="3" name="Slide Number Placeholder 2">
            <a:extLst>
              <a:ext uri="{FF2B5EF4-FFF2-40B4-BE49-F238E27FC236}">
                <a16:creationId xmlns:a16="http://schemas.microsoft.com/office/drawing/2014/main" id="{87CB78FC-62E3-5A4F-A1AE-261842999B68}"/>
              </a:ext>
            </a:extLst>
          </p:cNvPr>
          <p:cNvSpPr>
            <a:spLocks noGrp="1"/>
          </p:cNvSpPr>
          <p:nvPr>
            <p:ph type="sldNum" sz="quarter" idx="12"/>
          </p:nvPr>
        </p:nvSpPr>
        <p:spPr/>
        <p:txBody>
          <a:bodyPr/>
          <a:lstStyle/>
          <a:p>
            <a:fld id="{3552B95B-556F-44BD-91A5-D80C1B9E2BB3}" type="slidenum">
              <a:rPr lang="en-US" smtClean="0"/>
              <a:pPr/>
              <a:t>19</a:t>
            </a:fld>
            <a:endParaRPr lang="en-US"/>
          </a:p>
        </p:txBody>
      </p:sp>
    </p:spTree>
    <p:extLst>
      <p:ext uri="{BB962C8B-B14F-4D97-AF65-F5344CB8AC3E}">
        <p14:creationId xmlns:p14="http://schemas.microsoft.com/office/powerpoint/2010/main" val="65900516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43455-2F91-FA4C-95A8-7C297E838F91}"/>
              </a:ext>
            </a:extLst>
          </p:cNvPr>
          <p:cNvSpPr>
            <a:spLocks noGrp="1"/>
          </p:cNvSpPr>
          <p:nvPr>
            <p:ph type="title"/>
          </p:nvPr>
        </p:nvSpPr>
        <p:spPr/>
        <p:txBody>
          <a:bodyPr/>
          <a:lstStyle/>
          <a:p>
            <a:r>
              <a:rPr lang="en-US" dirty="0"/>
              <a:t>What </a:t>
            </a:r>
            <a:r>
              <a:rPr lang="en-US" i="1" dirty="0"/>
              <a:t>is</a:t>
            </a:r>
            <a:r>
              <a:rPr lang="en-US" dirty="0"/>
              <a:t> OOP (object-oriented programming)?</a:t>
            </a:r>
          </a:p>
        </p:txBody>
      </p:sp>
      <p:sp>
        <p:nvSpPr>
          <p:cNvPr id="3" name="Content Placeholder 2">
            <a:extLst>
              <a:ext uri="{FF2B5EF4-FFF2-40B4-BE49-F238E27FC236}">
                <a16:creationId xmlns:a16="http://schemas.microsoft.com/office/drawing/2014/main" id="{475176C8-F164-0C46-B4DF-22A6CA5B59D2}"/>
              </a:ext>
            </a:extLst>
          </p:cNvPr>
          <p:cNvSpPr>
            <a:spLocks noGrp="1"/>
          </p:cNvSpPr>
          <p:nvPr>
            <p:ph idx="1"/>
          </p:nvPr>
        </p:nvSpPr>
        <p:spPr/>
        <p:txBody>
          <a:bodyPr/>
          <a:lstStyle/>
          <a:p>
            <a:r>
              <a:rPr lang="en-US" dirty="0"/>
              <a:t>we might gesture vaguely in Java's direction and say "it's like that"</a:t>
            </a:r>
          </a:p>
          <a:p>
            <a:pPr lvl="1"/>
            <a:r>
              <a:rPr lang="en-US" dirty="0"/>
              <a:t>but "Java-flavored OOP" isn't the only kind…</a:t>
            </a:r>
          </a:p>
          <a:p>
            <a:r>
              <a:rPr lang="en-US" dirty="0"/>
              <a:t>C has structs, but it </a:t>
            </a:r>
            <a:r>
              <a:rPr lang="en-US" b="1" dirty="0"/>
              <a:t>isn't</a:t>
            </a:r>
            <a:r>
              <a:rPr lang="en-US" dirty="0"/>
              <a:t> "OOP." C++ has "classes", and it </a:t>
            </a:r>
            <a:r>
              <a:rPr lang="en-US" b="1" dirty="0"/>
              <a:t>is </a:t>
            </a:r>
            <a:r>
              <a:rPr lang="en-US" dirty="0"/>
              <a:t>"OOP."</a:t>
            </a:r>
          </a:p>
          <a:p>
            <a:r>
              <a:rPr lang="en-US" dirty="0"/>
              <a:t>the core idea of OOP is packaging </a:t>
            </a:r>
            <a:r>
              <a:rPr lang="en-US" b="1" dirty="0"/>
              <a:t>data</a:t>
            </a:r>
            <a:r>
              <a:rPr lang="en-US" dirty="0"/>
              <a:t> alongside </a:t>
            </a:r>
            <a:r>
              <a:rPr lang="en-US" b="1" dirty="0"/>
              <a:t>operations on that data </a:t>
            </a:r>
            <a:r>
              <a:rPr lang="en-US" dirty="0"/>
              <a:t>into a single, indivisible entity.</a:t>
            </a:r>
          </a:p>
          <a:p>
            <a:pPr lvl="1"/>
            <a:r>
              <a:rPr lang="en-US" dirty="0"/>
              <a:t>so: the main thing that distinguishes C++ from C… is </a:t>
            </a:r>
            <a:r>
              <a:rPr lang="en-US" b="1" dirty="0"/>
              <a:t>methods.</a:t>
            </a:r>
            <a:endParaRPr lang="en-US" dirty="0"/>
          </a:p>
          <a:p>
            <a:r>
              <a:rPr lang="en-US" dirty="0"/>
              <a:t>a </a:t>
            </a:r>
            <a:r>
              <a:rPr lang="en-US" b="1" dirty="0"/>
              <a:t>method call </a:t>
            </a:r>
            <a:r>
              <a:rPr lang="en-US" dirty="0"/>
              <a:t>is a special kind of function call:</a:t>
            </a:r>
            <a:endParaRPr lang="en-US" b="1" dirty="0"/>
          </a:p>
          <a:p>
            <a:pPr marL="258605" lvl="1" indent="0">
              <a:buNone/>
            </a:pP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obj.method</a:t>
            </a:r>
            <a:r>
              <a:rPr lang="en-US" b="1" dirty="0">
                <a:latin typeface="Consolas" panose="020B0609020204030204" pitchFamily="49" charset="0"/>
                <a:cs typeface="Consolas" panose="020B0609020204030204" pitchFamily="49" charset="0"/>
              </a:rPr>
              <a:t>();</a:t>
            </a:r>
          </a:p>
          <a:p>
            <a:pPr lvl="1"/>
            <a:r>
              <a:rPr lang="en-US" dirty="0"/>
              <a:t>method calls can be more complex than "regular" function calls.</a:t>
            </a:r>
          </a:p>
          <a:p>
            <a:r>
              <a:rPr lang="en-US" dirty="0"/>
              <a:t>other OOP concepts, which are not </a:t>
            </a:r>
            <a:r>
              <a:rPr lang="en-US" i="1" dirty="0"/>
              <a:t>required</a:t>
            </a:r>
            <a:r>
              <a:rPr lang="en-US" dirty="0"/>
              <a:t> but are common, include </a:t>
            </a:r>
            <a:r>
              <a:rPr lang="en-US" b="1" dirty="0"/>
              <a:t>inheritance, subtyping, interfaces, privacy, constructors, </a:t>
            </a:r>
            <a:r>
              <a:rPr lang="en-US" dirty="0"/>
              <a:t>and </a:t>
            </a:r>
            <a:r>
              <a:rPr lang="en-US" b="1" dirty="0"/>
              <a:t>run-time type identification.</a:t>
            </a:r>
            <a:endParaRPr lang="en-US" dirty="0"/>
          </a:p>
        </p:txBody>
      </p:sp>
      <p:sp>
        <p:nvSpPr>
          <p:cNvPr id="4" name="Slide Number Placeholder 3">
            <a:extLst>
              <a:ext uri="{FF2B5EF4-FFF2-40B4-BE49-F238E27FC236}">
                <a16:creationId xmlns:a16="http://schemas.microsoft.com/office/drawing/2014/main" id="{EB3D8CA1-58DD-ED45-927E-FAF6E8270F1E}"/>
              </a:ext>
            </a:extLst>
          </p:cNvPr>
          <p:cNvSpPr>
            <a:spLocks noGrp="1"/>
          </p:cNvSpPr>
          <p:nvPr>
            <p:ph type="sldNum" sz="quarter" idx="12"/>
          </p:nvPr>
        </p:nvSpPr>
        <p:spPr/>
        <p:txBody>
          <a:bodyPr/>
          <a:lstStyle/>
          <a:p>
            <a:fld id="{3552B95B-556F-44BD-91A5-D80C1B9E2BB3}" type="slidenum">
              <a:rPr lang="en-US" smtClean="0"/>
              <a:pPr/>
              <a:t>20</a:t>
            </a:fld>
            <a:endParaRPr lang="en-US"/>
          </a:p>
        </p:txBody>
      </p:sp>
    </p:spTree>
    <p:extLst>
      <p:ext uri="{BB962C8B-B14F-4D97-AF65-F5344CB8AC3E}">
        <p14:creationId xmlns:p14="http://schemas.microsoft.com/office/powerpoint/2010/main" val="356604239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46C5-0658-8F49-B736-CD353BB5B160}"/>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271AEDF5-FA6D-E541-BA90-58DB26A708E6}"/>
              </a:ext>
            </a:extLst>
          </p:cNvPr>
          <p:cNvSpPr>
            <a:spLocks noGrp="1"/>
          </p:cNvSpPr>
          <p:nvPr>
            <p:ph idx="1"/>
          </p:nvPr>
        </p:nvSpPr>
        <p:spPr>
          <a:xfrm>
            <a:off x="152400" y="495301"/>
            <a:ext cx="8991600" cy="914399"/>
          </a:xfrm>
        </p:spPr>
        <p:txBody>
          <a:bodyPr>
            <a:normAutofit/>
          </a:bodyPr>
          <a:lstStyle/>
          <a:p>
            <a:r>
              <a:rPr lang="en-US" b="1" dirty="0"/>
              <a:t>methods </a:t>
            </a:r>
            <a:r>
              <a:rPr lang="en-US" dirty="0"/>
              <a:t>are</a:t>
            </a:r>
            <a:r>
              <a:rPr lang="en-US" b="1" dirty="0"/>
              <a:t> </a:t>
            </a:r>
            <a:r>
              <a:rPr lang="en-US" dirty="0"/>
              <a:t>special functions which are associated with an object.</a:t>
            </a:r>
          </a:p>
          <a:p>
            <a:r>
              <a:rPr lang="en-US" dirty="0"/>
              <a:t>they take the object they are called on </a:t>
            </a:r>
            <a:r>
              <a:rPr lang="en-US" b="1" dirty="0"/>
              <a:t>as an argument.</a:t>
            </a:r>
            <a:endParaRPr lang="en-US" dirty="0"/>
          </a:p>
        </p:txBody>
      </p:sp>
      <p:sp>
        <p:nvSpPr>
          <p:cNvPr id="4" name="Slide Number Placeholder 3">
            <a:extLst>
              <a:ext uri="{FF2B5EF4-FFF2-40B4-BE49-F238E27FC236}">
                <a16:creationId xmlns:a16="http://schemas.microsoft.com/office/drawing/2014/main" id="{F51F61AC-76EF-4F49-964B-676809CA8341}"/>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5" name="Rectangle 4">
            <a:extLst>
              <a:ext uri="{FF2B5EF4-FFF2-40B4-BE49-F238E27FC236}">
                <a16:creationId xmlns:a16="http://schemas.microsoft.com/office/drawing/2014/main" id="{77DB148D-2577-D845-BA33-15644BAF88CD}"/>
              </a:ext>
            </a:extLst>
          </p:cNvPr>
          <p:cNvSpPr/>
          <p:nvPr/>
        </p:nvSpPr>
        <p:spPr>
          <a:xfrm>
            <a:off x="381000" y="1322004"/>
            <a:ext cx="8458200" cy="2246769"/>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Point {</a:t>
            </a:r>
            <a:br>
              <a:rPr lang="en-US" sz="2000" i="1" dirty="0">
                <a:solidFill>
                  <a:schemeClr val="accent3">
                    <a:lumMod val="50000"/>
                  </a:schemeClr>
                </a:solidFill>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x: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y: </a:t>
            </a:r>
            <a:r>
              <a:rPr lang="en-US" sz="2000" b="1" dirty="0" err="1">
                <a:solidFill>
                  <a:srgbClr val="FF0000"/>
                </a:solidFill>
                <a:latin typeface="Consolas" panose="020B0609020204030204" pitchFamily="49" charset="0"/>
                <a:cs typeface="Consolas" panose="020B0609020204030204" pitchFamily="49" charset="0"/>
              </a:rPr>
              <a:t>int</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.x</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 +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.y</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2B0F0722-64F6-3B4A-A5AE-E95F7786A238}"/>
              </a:ext>
            </a:extLst>
          </p:cNvPr>
          <p:cNvSpPr txBox="1"/>
          <p:nvPr/>
        </p:nvSpPr>
        <p:spPr>
          <a:xfrm>
            <a:off x="4448173" y="1466962"/>
            <a:ext cx="3505204" cy="769441"/>
          </a:xfrm>
          <a:prstGeom prst="rect">
            <a:avLst/>
          </a:prstGeom>
          <a:noFill/>
        </p:spPr>
        <p:txBody>
          <a:bodyPr wrap="square" rtlCol="0">
            <a:spAutoFit/>
          </a:bodyPr>
          <a:lstStyle/>
          <a:p>
            <a:pPr algn="ctr"/>
            <a:r>
              <a:rPr lang="en-US" sz="2200" b="1" dirty="0"/>
              <a:t>this </a:t>
            </a:r>
            <a:r>
              <a:rPr lang="en-US" sz="2200" dirty="0"/>
              <a:t>is passed </a:t>
            </a:r>
            <a:r>
              <a:rPr lang="en-US" sz="2200" i="1" dirty="0"/>
              <a:t>implicitly, </a:t>
            </a:r>
            <a:r>
              <a:rPr lang="en-US" sz="2200" dirty="0"/>
              <a:t>but it's still an argument.</a:t>
            </a:r>
          </a:p>
        </p:txBody>
      </p:sp>
      <p:sp>
        <p:nvSpPr>
          <p:cNvPr id="8" name="Rectangle 7">
            <a:extLst>
              <a:ext uri="{FF2B5EF4-FFF2-40B4-BE49-F238E27FC236}">
                <a16:creationId xmlns:a16="http://schemas.microsoft.com/office/drawing/2014/main" id="{188E25D2-0343-7E4A-AC7F-631A196D9F53}"/>
              </a:ext>
            </a:extLst>
          </p:cNvPr>
          <p:cNvSpPr/>
          <p:nvPr/>
        </p:nvSpPr>
        <p:spPr>
          <a:xfrm>
            <a:off x="381000" y="3606985"/>
            <a:ext cx="3848100" cy="707886"/>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p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Point(</a:t>
            </a:r>
            <a:r>
              <a:rPr lang="en-US" sz="2000" b="1" dirty="0">
                <a:solidFill>
                  <a:schemeClr val="accent3">
                    <a:lumMod val="75000"/>
                  </a:schemeClr>
                </a:solidFill>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8</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p.to_string</a:t>
            </a:r>
            <a:r>
              <a:rPr lang="en-US" sz="2000" b="1" dirty="0">
                <a:latin typeface="Consolas" panose="020B0609020204030204" pitchFamily="49" charset="0"/>
                <a:cs typeface="Consolas" panose="020B0609020204030204" pitchFamily="49" charset="0"/>
              </a:rPr>
              <a:t>());</a:t>
            </a:r>
          </a:p>
        </p:txBody>
      </p:sp>
      <p:sp>
        <p:nvSpPr>
          <p:cNvPr id="9" name="TextBox 8">
            <a:extLst>
              <a:ext uri="{FF2B5EF4-FFF2-40B4-BE49-F238E27FC236}">
                <a16:creationId xmlns:a16="http://schemas.microsoft.com/office/drawing/2014/main" id="{BCA0B8FD-C633-6C4B-A699-F0002B157B83}"/>
              </a:ext>
            </a:extLst>
          </p:cNvPr>
          <p:cNvSpPr txBox="1"/>
          <p:nvPr/>
        </p:nvSpPr>
        <p:spPr>
          <a:xfrm>
            <a:off x="4343400" y="3461519"/>
            <a:ext cx="4295778" cy="1107996"/>
          </a:xfrm>
          <a:prstGeom prst="rect">
            <a:avLst/>
          </a:prstGeom>
          <a:noFill/>
        </p:spPr>
        <p:txBody>
          <a:bodyPr wrap="square" rtlCol="0">
            <a:spAutoFit/>
          </a:bodyPr>
          <a:lstStyle/>
          <a:p>
            <a:pPr algn="ctr"/>
            <a:r>
              <a:rPr lang="en-US" sz="2200" dirty="0"/>
              <a:t>here, the method call is </a:t>
            </a:r>
            <a:r>
              <a:rPr lang="en-US" sz="2200" b="1" dirty="0"/>
              <a:t>syntactic sugar </a:t>
            </a:r>
            <a:r>
              <a:rPr lang="en-US" sz="2200" dirty="0"/>
              <a:t>for something like:</a:t>
            </a:r>
          </a:p>
          <a:p>
            <a:pPr algn="ctr"/>
            <a:r>
              <a:rPr lang="en-US" sz="2200" b="1" dirty="0" err="1">
                <a:latin typeface="Consolas" panose="020B0609020204030204" pitchFamily="49" charset="0"/>
                <a:cs typeface="Consolas" panose="020B0609020204030204" pitchFamily="49" charset="0"/>
              </a:rPr>
              <a:t>Point.to_string</a:t>
            </a:r>
            <a:r>
              <a:rPr lang="en-US" sz="2200" b="1" dirty="0">
                <a:latin typeface="Consolas" panose="020B0609020204030204" pitchFamily="49" charset="0"/>
                <a:cs typeface="Consolas" panose="020B0609020204030204" pitchFamily="49" charset="0"/>
              </a:rPr>
              <a:t>(p)</a:t>
            </a:r>
          </a:p>
        </p:txBody>
      </p:sp>
      <p:sp>
        <p:nvSpPr>
          <p:cNvPr id="10" name="TextBox 9">
            <a:extLst>
              <a:ext uri="{FF2B5EF4-FFF2-40B4-BE49-F238E27FC236}">
                <a16:creationId xmlns:a16="http://schemas.microsoft.com/office/drawing/2014/main" id="{3CBE08AF-E6CC-CB45-969C-03A71AA70E32}"/>
              </a:ext>
            </a:extLst>
          </p:cNvPr>
          <p:cNvSpPr txBox="1"/>
          <p:nvPr/>
        </p:nvSpPr>
        <p:spPr>
          <a:xfrm>
            <a:off x="1143000" y="4701560"/>
            <a:ext cx="6553202" cy="769441"/>
          </a:xfrm>
          <a:prstGeom prst="rect">
            <a:avLst/>
          </a:prstGeom>
          <a:noFill/>
        </p:spPr>
        <p:txBody>
          <a:bodyPr wrap="square" rtlCol="0">
            <a:spAutoFit/>
          </a:bodyPr>
          <a:lstStyle/>
          <a:p>
            <a:pPr algn="ctr"/>
            <a:r>
              <a:rPr lang="en-US" sz="2200" dirty="0"/>
              <a:t>this is </a:t>
            </a:r>
            <a:r>
              <a:rPr lang="en-US" sz="2200" b="1" dirty="0"/>
              <a:t>static dispatch, </a:t>
            </a:r>
            <a:r>
              <a:rPr lang="en-US" sz="2200" dirty="0"/>
              <a:t>because we can determine which method to call at compile-time.</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9133284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BB36-F782-574A-9004-83502A7F441D}"/>
              </a:ext>
            </a:extLst>
          </p:cNvPr>
          <p:cNvSpPr>
            <a:spLocks noGrp="1"/>
          </p:cNvSpPr>
          <p:nvPr>
            <p:ph type="title"/>
          </p:nvPr>
        </p:nvSpPr>
        <p:spPr/>
        <p:txBody>
          <a:bodyPr/>
          <a:lstStyle/>
          <a:p>
            <a:r>
              <a:rPr lang="en-US" dirty="0"/>
              <a:t>Constructors</a:t>
            </a:r>
          </a:p>
        </p:txBody>
      </p:sp>
      <p:sp>
        <p:nvSpPr>
          <p:cNvPr id="3" name="Content Placeholder 2">
            <a:extLst>
              <a:ext uri="{FF2B5EF4-FFF2-40B4-BE49-F238E27FC236}">
                <a16:creationId xmlns:a16="http://schemas.microsoft.com/office/drawing/2014/main" id="{C3CEE13D-787E-F243-8573-B7E24F81C323}"/>
              </a:ext>
            </a:extLst>
          </p:cNvPr>
          <p:cNvSpPr>
            <a:spLocks noGrp="1"/>
          </p:cNvSpPr>
          <p:nvPr>
            <p:ph idx="1"/>
          </p:nvPr>
        </p:nvSpPr>
        <p:spPr>
          <a:xfrm>
            <a:off x="152400" y="495302"/>
            <a:ext cx="8991600" cy="835132"/>
          </a:xfrm>
        </p:spPr>
        <p:txBody>
          <a:bodyPr/>
          <a:lstStyle/>
          <a:p>
            <a:r>
              <a:rPr lang="en-US" dirty="0"/>
              <a:t>a </a:t>
            </a:r>
            <a:r>
              <a:rPr lang="en-US" b="1" dirty="0"/>
              <a:t>constructor </a:t>
            </a:r>
            <a:r>
              <a:rPr lang="en-US" dirty="0"/>
              <a:t>is just a method that is called on an instance of an object immediately after allocating it, to let you initialize its fields.</a:t>
            </a:r>
          </a:p>
        </p:txBody>
      </p:sp>
      <p:sp>
        <p:nvSpPr>
          <p:cNvPr id="4" name="Slide Number Placeholder 3">
            <a:extLst>
              <a:ext uri="{FF2B5EF4-FFF2-40B4-BE49-F238E27FC236}">
                <a16:creationId xmlns:a16="http://schemas.microsoft.com/office/drawing/2014/main" id="{410CB3C7-131F-9F44-919E-544B8E1414DE}"/>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6" name="Rectangle 5">
            <a:extLst>
              <a:ext uri="{FF2B5EF4-FFF2-40B4-BE49-F238E27FC236}">
                <a16:creationId xmlns:a16="http://schemas.microsoft.com/office/drawing/2014/main" id="{B1211D83-6FCC-3546-9BCA-CEFD756AF4FE}"/>
              </a:ext>
            </a:extLst>
          </p:cNvPr>
          <p:cNvSpPr/>
          <p:nvPr/>
        </p:nvSpPr>
        <p:spPr>
          <a:xfrm>
            <a:off x="381000" y="1333500"/>
            <a:ext cx="2552700" cy="3170099"/>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class</a:t>
            </a:r>
            <a:r>
              <a:rPr lang="en-US" sz="2000" b="1" dirty="0">
                <a:latin typeface="Consolas" panose="020B0609020204030204" pitchFamily="49" charset="0"/>
                <a:cs typeface="Consolas" panose="020B0609020204030204" pitchFamily="49" charset="0"/>
              </a:rPr>
              <a:t> C {</a:t>
            </a:r>
            <a:br>
              <a:rPr lang="en-US" sz="2000" i="1" dirty="0">
                <a:solidFill>
                  <a:schemeClr val="accent3">
                    <a:lumMod val="50000"/>
                  </a:schemeClr>
                </a:solidFill>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String s;</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C()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s == null</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s = </a:t>
            </a:r>
            <a:r>
              <a:rPr lang="en-US" sz="2000" b="1" dirty="0">
                <a:solidFill>
                  <a:schemeClr val="accent6">
                    <a:lumMod val="75000"/>
                  </a:schemeClr>
                </a:solidFill>
                <a:latin typeface="Consolas" panose="020B0609020204030204" pitchFamily="49" charset="0"/>
                <a:cs typeface="Consolas" panose="020B0609020204030204" pitchFamily="49" charset="0"/>
              </a:rPr>
              <a:t>"hi"</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C c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C();</a:t>
            </a:r>
          </a:p>
        </p:txBody>
      </p:sp>
      <p:sp>
        <p:nvSpPr>
          <p:cNvPr id="7" name="TextBox 6">
            <a:extLst>
              <a:ext uri="{FF2B5EF4-FFF2-40B4-BE49-F238E27FC236}">
                <a16:creationId xmlns:a16="http://schemas.microsoft.com/office/drawing/2014/main" id="{0D910302-F07F-A34C-A8DB-288A389E4B79}"/>
              </a:ext>
            </a:extLst>
          </p:cNvPr>
          <p:cNvSpPr txBox="1"/>
          <p:nvPr/>
        </p:nvSpPr>
        <p:spPr>
          <a:xfrm>
            <a:off x="2819400" y="1415069"/>
            <a:ext cx="5943600" cy="430887"/>
          </a:xfrm>
          <a:prstGeom prst="rect">
            <a:avLst/>
          </a:prstGeom>
          <a:noFill/>
        </p:spPr>
        <p:txBody>
          <a:bodyPr wrap="square" rtlCol="0">
            <a:spAutoFit/>
          </a:bodyPr>
          <a:lstStyle/>
          <a:p>
            <a:r>
              <a:rPr lang="en-US" sz="2200" dirty="0"/>
              <a:t>in this Java code,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C()</a:t>
            </a:r>
            <a:r>
              <a:rPr lang="en-US" sz="2200" b="1" dirty="0"/>
              <a:t> </a:t>
            </a:r>
            <a:r>
              <a:rPr lang="en-US" sz="2200" dirty="0"/>
              <a:t>does the following:</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A1A19D0B-5828-7D42-8BDC-DF9842096098}"/>
              </a:ext>
            </a:extLst>
          </p:cNvPr>
          <p:cNvSpPr txBox="1"/>
          <p:nvPr/>
        </p:nvSpPr>
        <p:spPr>
          <a:xfrm>
            <a:off x="3200400" y="1832635"/>
            <a:ext cx="5334000" cy="430887"/>
          </a:xfrm>
          <a:prstGeom prst="rect">
            <a:avLst/>
          </a:prstGeom>
          <a:noFill/>
        </p:spPr>
        <p:txBody>
          <a:bodyPr wrap="square" rtlCol="0">
            <a:spAutoFit/>
          </a:bodyPr>
          <a:lstStyle/>
          <a:p>
            <a:r>
              <a:rPr lang="en-US" sz="2200" dirty="0"/>
              <a:t>1. allocates an instance of C</a:t>
            </a:r>
          </a:p>
        </p:txBody>
      </p:sp>
      <p:sp>
        <p:nvSpPr>
          <p:cNvPr id="9" name="TextBox 8">
            <a:extLst>
              <a:ext uri="{FF2B5EF4-FFF2-40B4-BE49-F238E27FC236}">
                <a16:creationId xmlns:a16="http://schemas.microsoft.com/office/drawing/2014/main" id="{3884ECC8-88E4-8C4B-B954-3A9BDF13FFB6}"/>
              </a:ext>
            </a:extLst>
          </p:cNvPr>
          <p:cNvSpPr txBox="1"/>
          <p:nvPr/>
        </p:nvSpPr>
        <p:spPr>
          <a:xfrm>
            <a:off x="3200400" y="2250201"/>
            <a:ext cx="5334000" cy="430887"/>
          </a:xfrm>
          <a:prstGeom prst="rect">
            <a:avLst/>
          </a:prstGeom>
          <a:noFill/>
        </p:spPr>
        <p:txBody>
          <a:bodyPr wrap="square" rtlCol="0">
            <a:spAutoFit/>
          </a:bodyPr>
          <a:lstStyle/>
          <a:p>
            <a:r>
              <a:rPr lang="en-US" sz="2200" dirty="0"/>
              <a:t>2. initializes all its fields to default values*</a:t>
            </a:r>
          </a:p>
        </p:txBody>
      </p:sp>
      <p:sp>
        <p:nvSpPr>
          <p:cNvPr id="10" name="TextBox 9">
            <a:extLst>
              <a:ext uri="{FF2B5EF4-FFF2-40B4-BE49-F238E27FC236}">
                <a16:creationId xmlns:a16="http://schemas.microsoft.com/office/drawing/2014/main" id="{5EF29C51-82FC-5641-903E-71D4B67BCEDE}"/>
              </a:ext>
            </a:extLst>
          </p:cNvPr>
          <p:cNvSpPr txBox="1"/>
          <p:nvPr/>
        </p:nvSpPr>
        <p:spPr>
          <a:xfrm>
            <a:off x="3200400" y="2667768"/>
            <a:ext cx="5334000" cy="430887"/>
          </a:xfrm>
          <a:prstGeom prst="rect">
            <a:avLst/>
          </a:prstGeom>
          <a:noFill/>
        </p:spPr>
        <p:txBody>
          <a:bodyPr wrap="square" rtlCol="0">
            <a:spAutoFit/>
          </a:bodyPr>
          <a:lstStyle/>
          <a:p>
            <a:r>
              <a:rPr lang="en-US" sz="2200" dirty="0"/>
              <a:t>3. calls the constructor on that instance</a:t>
            </a:r>
          </a:p>
        </p:txBody>
      </p:sp>
      <p:sp>
        <p:nvSpPr>
          <p:cNvPr id="12" name="TextBox 11">
            <a:extLst>
              <a:ext uri="{FF2B5EF4-FFF2-40B4-BE49-F238E27FC236}">
                <a16:creationId xmlns:a16="http://schemas.microsoft.com/office/drawing/2014/main" id="{85E30160-CD79-064B-866A-CD42D4A73225}"/>
              </a:ext>
            </a:extLst>
          </p:cNvPr>
          <p:cNvSpPr txBox="1"/>
          <p:nvPr/>
        </p:nvSpPr>
        <p:spPr>
          <a:xfrm>
            <a:off x="2905125" y="3357951"/>
            <a:ext cx="5943600" cy="1785104"/>
          </a:xfrm>
          <a:prstGeom prst="rect">
            <a:avLst/>
          </a:prstGeom>
          <a:noFill/>
        </p:spPr>
        <p:txBody>
          <a:bodyPr wrap="square" rtlCol="0">
            <a:spAutoFit/>
          </a:bodyPr>
          <a:lstStyle/>
          <a:p>
            <a:pPr algn="ctr"/>
            <a:r>
              <a:rPr lang="en-US" sz="2200" dirty="0"/>
              <a:t>but Java doesn’t really </a:t>
            </a:r>
            <a:r>
              <a:rPr lang="en-US" sz="2200" i="1" dirty="0"/>
              <a:t>enforce</a:t>
            </a:r>
            <a:r>
              <a:rPr lang="en-US" sz="2200" dirty="0"/>
              <a:t> that you do anything useful in the constructor, and before it completes, the object may be in an </a:t>
            </a:r>
            <a:r>
              <a:rPr lang="en-US" sz="2200" b="1" dirty="0"/>
              <a:t>inconsistent state</a:t>
            </a:r>
            <a:r>
              <a:rPr lang="en-US" sz="2200" dirty="0"/>
              <a:t> (i.e. calling methods on </a:t>
            </a:r>
            <a:r>
              <a:rPr lang="en-US" sz="2200" b="1" dirty="0">
                <a:solidFill>
                  <a:srgbClr val="FF0000"/>
                </a:solidFill>
                <a:latin typeface="Consolas" panose="020B0609020204030204" pitchFamily="49" charset="0"/>
                <a:cs typeface="Consolas" panose="020B0609020204030204" pitchFamily="49" charset="0"/>
              </a:rPr>
              <a:t>this</a:t>
            </a:r>
            <a:r>
              <a:rPr lang="en-US" sz="2200" dirty="0"/>
              <a:t> may behave erratically or crash).</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44203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37CCD-5740-4A4E-B032-A9EB1BF13665}"/>
              </a:ext>
            </a:extLst>
          </p:cNvPr>
          <p:cNvSpPr>
            <a:spLocks noGrp="1"/>
          </p:cNvSpPr>
          <p:nvPr>
            <p:ph type="title"/>
          </p:nvPr>
        </p:nvSpPr>
        <p:spPr/>
        <p:txBody>
          <a:bodyPr/>
          <a:lstStyle/>
          <a:p>
            <a:r>
              <a:rPr lang="en-US" dirty="0"/>
              <a:t>Data inheritance</a:t>
            </a:r>
          </a:p>
        </p:txBody>
      </p:sp>
      <p:sp>
        <p:nvSpPr>
          <p:cNvPr id="3" name="Content Placeholder 2">
            <a:extLst>
              <a:ext uri="{FF2B5EF4-FFF2-40B4-BE49-F238E27FC236}">
                <a16:creationId xmlns:a16="http://schemas.microsoft.com/office/drawing/2014/main" id="{4309A8B0-ABE4-0E4D-BA3D-D2EAE7BA08E3}"/>
              </a:ext>
            </a:extLst>
          </p:cNvPr>
          <p:cNvSpPr>
            <a:spLocks noGrp="1"/>
          </p:cNvSpPr>
          <p:nvPr>
            <p:ph idx="1"/>
          </p:nvPr>
        </p:nvSpPr>
        <p:spPr>
          <a:xfrm>
            <a:off x="152400" y="495301"/>
            <a:ext cx="8991600" cy="849299"/>
          </a:xfrm>
        </p:spPr>
        <p:txBody>
          <a:bodyPr/>
          <a:lstStyle/>
          <a:p>
            <a:r>
              <a:rPr lang="en-US" dirty="0"/>
              <a:t>first, let's look at a simpler kind of inheritance, which </a:t>
            </a:r>
            <a:r>
              <a:rPr lang="en-US" i="1" dirty="0"/>
              <a:t>just</a:t>
            </a:r>
            <a:r>
              <a:rPr lang="en-US" dirty="0"/>
              <a:t> inherits data fields </a:t>
            </a:r>
            <a:r>
              <a:rPr lang="en-US" b="1" dirty="0"/>
              <a:t>without</a:t>
            </a:r>
            <a:r>
              <a:rPr lang="en-US" dirty="0"/>
              <a:t> inheriting methods, and does not imply subtyping.</a:t>
            </a:r>
          </a:p>
        </p:txBody>
      </p:sp>
      <p:sp>
        <p:nvSpPr>
          <p:cNvPr id="4" name="Slide Number Placeholder 3">
            <a:extLst>
              <a:ext uri="{FF2B5EF4-FFF2-40B4-BE49-F238E27FC236}">
                <a16:creationId xmlns:a16="http://schemas.microsoft.com/office/drawing/2014/main" id="{2EE2763C-A7FB-CF40-B3DB-ED4838421735}"/>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Rectangle 4">
            <a:extLst>
              <a:ext uri="{FF2B5EF4-FFF2-40B4-BE49-F238E27FC236}">
                <a16:creationId xmlns:a16="http://schemas.microsoft.com/office/drawing/2014/main" id="{7C8E2EFF-B5C8-024A-99B2-C5EFBD00A5F1}"/>
              </a:ext>
            </a:extLst>
          </p:cNvPr>
          <p:cNvSpPr/>
          <p:nvPr/>
        </p:nvSpPr>
        <p:spPr>
          <a:xfrm>
            <a:off x="271461" y="1382462"/>
            <a:ext cx="5519739" cy="1015663"/>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RGB { r: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g: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b: </a:t>
            </a:r>
            <a:r>
              <a:rPr lang="en-US" sz="2000" b="1" dirty="0">
                <a:solidFill>
                  <a:srgbClr val="FF0000"/>
                </a:solidFill>
                <a:latin typeface="Consolas" panose="020B0609020204030204" pitchFamily="49" charset="0"/>
                <a:cs typeface="Consolas" panose="020B0609020204030204" pitchFamily="49" charset="0"/>
              </a:rPr>
              <a:t>int </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RGBA : RGB { a: </a:t>
            </a:r>
            <a:r>
              <a:rPr lang="en-US" sz="2000" b="1" dirty="0">
                <a:solidFill>
                  <a:srgbClr val="FF0000"/>
                </a:solidFill>
                <a:latin typeface="Consolas" panose="020B0609020204030204" pitchFamily="49" charset="0"/>
                <a:cs typeface="Consolas" panose="020B0609020204030204" pitchFamily="49" charset="0"/>
              </a:rPr>
              <a:t>int </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color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RGBA(</a:t>
            </a:r>
            <a:r>
              <a:rPr lang="en-US" sz="2000" b="1" dirty="0">
                <a:solidFill>
                  <a:schemeClr val="accent3">
                    <a:lumMod val="75000"/>
                  </a:schemeClr>
                </a:solidFill>
                <a:latin typeface="Consolas" panose="020B0609020204030204" pitchFamily="49" charset="0"/>
                <a:cs typeface="Consolas" panose="020B0609020204030204" pitchFamily="49" charset="0"/>
              </a:rPr>
              <a:t>255</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127</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95</a:t>
            </a:r>
            <a:r>
              <a:rPr lang="en-US" sz="20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4597F819-C1CF-9447-A6ED-52360A6EA6FA}"/>
              </a:ext>
            </a:extLst>
          </p:cNvPr>
          <p:cNvSpPr txBox="1"/>
          <p:nvPr/>
        </p:nvSpPr>
        <p:spPr>
          <a:xfrm>
            <a:off x="5638800" y="1377076"/>
            <a:ext cx="3457573" cy="1107996"/>
          </a:xfrm>
          <a:prstGeom prst="rect">
            <a:avLst/>
          </a:prstGeom>
          <a:noFill/>
        </p:spPr>
        <p:txBody>
          <a:bodyPr wrap="square" rtlCol="0">
            <a:spAutoFit/>
          </a:bodyPr>
          <a:lstStyle/>
          <a:p>
            <a:pPr algn="ctr"/>
            <a:r>
              <a:rPr lang="en-US" sz="2200" dirty="0"/>
              <a:t>the base class's fields are </a:t>
            </a:r>
            <a:r>
              <a:rPr lang="en-US" sz="2200" b="1" dirty="0"/>
              <a:t>copied </a:t>
            </a:r>
            <a:r>
              <a:rPr lang="en-US" sz="2200" dirty="0"/>
              <a:t>into the derived class's definition.</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79433771-BEAB-A143-B2FD-51F1EF08EF41}"/>
              </a:ext>
            </a:extLst>
          </p:cNvPr>
          <p:cNvSpPr txBox="1"/>
          <p:nvPr/>
        </p:nvSpPr>
        <p:spPr>
          <a:xfrm>
            <a:off x="123829" y="2410745"/>
            <a:ext cx="5667371" cy="769441"/>
          </a:xfrm>
          <a:prstGeom prst="rect">
            <a:avLst/>
          </a:prstGeom>
          <a:noFill/>
        </p:spPr>
        <p:txBody>
          <a:bodyPr wrap="square" rtlCol="0">
            <a:spAutoFit/>
          </a:bodyPr>
          <a:lstStyle/>
          <a:p>
            <a:pPr algn="ctr"/>
            <a:r>
              <a:rPr lang="en-US" sz="2200" dirty="0"/>
              <a:t>we represent this in memory by </a:t>
            </a:r>
            <a:r>
              <a:rPr lang="en-US" sz="2200" b="1" dirty="0"/>
              <a:t>prefixing: </a:t>
            </a:r>
            <a:r>
              <a:rPr lang="en-US" sz="2200" dirty="0"/>
              <a:t>the beginning of an RGBA </a:t>
            </a:r>
            <a:r>
              <a:rPr lang="en-US" sz="2200" i="1" dirty="0"/>
              <a:t>is an RGB.</a:t>
            </a:r>
            <a:endParaRPr lang="en-US" sz="2200" b="1" dirty="0">
              <a:latin typeface="Consolas" panose="020B0609020204030204" pitchFamily="49" charset="0"/>
              <a:cs typeface="Consolas" panose="020B0609020204030204" pitchFamily="49" charset="0"/>
            </a:endParaRPr>
          </a:p>
        </p:txBody>
      </p:sp>
      <p:graphicFrame>
        <p:nvGraphicFramePr>
          <p:cNvPr id="9" name="Table 8">
            <a:extLst>
              <a:ext uri="{FF2B5EF4-FFF2-40B4-BE49-F238E27FC236}">
                <a16:creationId xmlns:a16="http://schemas.microsoft.com/office/drawing/2014/main" id="{3B0ED9EB-2ABA-1242-B3EE-578D1111697D}"/>
              </a:ext>
            </a:extLst>
          </p:cNvPr>
          <p:cNvGraphicFramePr>
            <a:graphicFrameLocks noGrp="1"/>
          </p:cNvGraphicFramePr>
          <p:nvPr>
            <p:extLst>
              <p:ext uri="{D42A27DB-BD31-4B8C-83A1-F6EECF244321}">
                <p14:modId xmlns:p14="http://schemas.microsoft.com/office/powerpoint/2010/main" val="872510620"/>
              </p:ext>
            </p:extLst>
          </p:nvPr>
        </p:nvGraphicFramePr>
        <p:xfrm>
          <a:off x="1463040" y="4352120"/>
          <a:ext cx="2194560" cy="548640"/>
        </p:xfrm>
        <a:graphic>
          <a:graphicData uri="http://schemas.openxmlformats.org/drawingml/2006/table">
            <a:tbl>
              <a:tblPr bandRow="1">
                <a:tableStyleId>{5C22544A-7EE6-4342-B048-85BDC9FD1C3A}</a:tableStyleId>
              </a:tblPr>
              <a:tblGrid>
                <a:gridCol w="548640">
                  <a:extLst>
                    <a:ext uri="{9D8B030D-6E8A-4147-A177-3AD203B41FA5}">
                      <a16:colId xmlns:a16="http://schemas.microsoft.com/office/drawing/2014/main" val="801561722"/>
                    </a:ext>
                  </a:extLst>
                </a:gridCol>
                <a:gridCol w="548640">
                  <a:extLst>
                    <a:ext uri="{9D8B030D-6E8A-4147-A177-3AD203B41FA5}">
                      <a16:colId xmlns:a16="http://schemas.microsoft.com/office/drawing/2014/main" val="1780978681"/>
                    </a:ext>
                  </a:extLst>
                </a:gridCol>
                <a:gridCol w="548640">
                  <a:extLst>
                    <a:ext uri="{9D8B030D-6E8A-4147-A177-3AD203B41FA5}">
                      <a16:colId xmlns:a16="http://schemas.microsoft.com/office/drawing/2014/main" val="1832378760"/>
                    </a:ext>
                  </a:extLst>
                </a:gridCol>
                <a:gridCol w="548640">
                  <a:extLst>
                    <a:ext uri="{9D8B030D-6E8A-4147-A177-3AD203B41FA5}">
                      <a16:colId xmlns:a16="http://schemas.microsoft.com/office/drawing/2014/main" val="3304038371"/>
                    </a:ext>
                  </a:extLst>
                </a:gridCol>
              </a:tblGrid>
              <a:tr h="548640">
                <a:tc>
                  <a:txBody>
                    <a:bodyPr/>
                    <a:lstStyle/>
                    <a:p>
                      <a:pPr algn="ctr"/>
                      <a:r>
                        <a:rPr lang="en-US" sz="2400" b="1" dirty="0">
                          <a:latin typeface="Consolas" panose="020B0609020204030204" pitchFamily="49" charset="0"/>
                          <a:cs typeface="Consolas" panose="020B0609020204030204" pitchFamily="49" charset="0"/>
                        </a:rPr>
                        <a:t>r</a:t>
                      </a:r>
                    </a:p>
                  </a:txBody>
                  <a:tcPr marL="45720" marR="45720" anchor="ctr">
                    <a:solidFill>
                      <a:srgbClr val="FF7F81"/>
                    </a:solidFill>
                  </a:tcPr>
                </a:tc>
                <a:tc>
                  <a:txBody>
                    <a:bodyPr/>
                    <a:lstStyle/>
                    <a:p>
                      <a:pPr algn="ctr"/>
                      <a:r>
                        <a:rPr lang="en-US" sz="2400" b="1" dirty="0">
                          <a:latin typeface="Consolas" panose="020B0609020204030204" pitchFamily="49" charset="0"/>
                          <a:cs typeface="Consolas" panose="020B0609020204030204" pitchFamily="49" charset="0"/>
                        </a:rPr>
                        <a:t>g</a:t>
                      </a:r>
                    </a:p>
                  </a:txBody>
                  <a:tcPr marL="45720" marR="45720" anchor="ctr">
                    <a:solidFill>
                      <a:srgbClr val="58B080"/>
                    </a:solidFill>
                  </a:tcPr>
                </a:tc>
                <a:tc>
                  <a:txBody>
                    <a:bodyPr/>
                    <a:lstStyle/>
                    <a:p>
                      <a:pPr algn="ctr"/>
                      <a:r>
                        <a:rPr lang="en-US" sz="2400" b="1" dirty="0">
                          <a:latin typeface="Consolas" panose="020B0609020204030204" pitchFamily="49" charset="0"/>
                          <a:cs typeface="Consolas" panose="020B0609020204030204" pitchFamily="49" charset="0"/>
                        </a:rPr>
                        <a:t>b</a:t>
                      </a:r>
                    </a:p>
                  </a:txBody>
                  <a:tcPr marL="45720" marR="45720" anchor="ctr">
                    <a:solidFill>
                      <a:srgbClr val="6098C0"/>
                    </a:solidFill>
                  </a:tcPr>
                </a:tc>
                <a:tc>
                  <a:txBody>
                    <a:bodyPr/>
                    <a:lstStyle/>
                    <a:p>
                      <a:pPr algn="ctr"/>
                      <a:r>
                        <a:rPr lang="en-US" sz="2400" b="1" dirty="0">
                          <a:latin typeface="Consolas" panose="020B0609020204030204" pitchFamily="49" charset="0"/>
                          <a:cs typeface="Consolas" panose="020B0609020204030204" pitchFamily="49" charset="0"/>
                        </a:rPr>
                        <a:t>a</a:t>
                      </a:r>
                    </a:p>
                  </a:txBody>
                  <a:tcPr marL="45720" marR="45720" anchor="ctr">
                    <a:gradFill flip="none" rotWithShape="1">
                      <a:gsLst>
                        <a:gs pos="0">
                          <a:schemeClr val="bg1">
                            <a:lumMod val="85000"/>
                          </a:schemeClr>
                        </a:gs>
                        <a:gs pos="100000">
                          <a:schemeClr val="bg1">
                            <a:lumMod val="50000"/>
                          </a:schemeClr>
                        </a:gs>
                      </a:gsLst>
                      <a:lin ang="2700000" scaled="0"/>
                      <a:tileRect/>
                    </a:gradFill>
                  </a:tcPr>
                </a:tc>
                <a:extLst>
                  <a:ext uri="{0D108BD9-81ED-4DB2-BD59-A6C34878D82A}">
                    <a16:rowId xmlns:a16="http://schemas.microsoft.com/office/drawing/2014/main" val="639513657"/>
                  </a:ext>
                </a:extLst>
              </a:tr>
            </a:tbl>
          </a:graphicData>
        </a:graphic>
      </p:graphicFrame>
      <p:graphicFrame>
        <p:nvGraphicFramePr>
          <p:cNvPr id="10" name="Table 9">
            <a:extLst>
              <a:ext uri="{FF2B5EF4-FFF2-40B4-BE49-F238E27FC236}">
                <a16:creationId xmlns:a16="http://schemas.microsoft.com/office/drawing/2014/main" id="{A53D8709-E5B2-3F43-A67D-E26CC9651BF6}"/>
              </a:ext>
            </a:extLst>
          </p:cNvPr>
          <p:cNvGraphicFramePr>
            <a:graphicFrameLocks noGrp="1"/>
          </p:cNvGraphicFramePr>
          <p:nvPr>
            <p:extLst>
              <p:ext uri="{D42A27DB-BD31-4B8C-83A1-F6EECF244321}">
                <p14:modId xmlns:p14="http://schemas.microsoft.com/office/powerpoint/2010/main" val="1927887131"/>
              </p:ext>
            </p:extLst>
          </p:nvPr>
        </p:nvGraphicFramePr>
        <p:xfrm>
          <a:off x="1463040" y="4899660"/>
          <a:ext cx="2194560" cy="396240"/>
        </p:xfrm>
        <a:graphic>
          <a:graphicData uri="http://schemas.openxmlformats.org/drawingml/2006/table">
            <a:tbl>
              <a:tblPr bandRow="1">
                <a:tableStyleId>{5C22544A-7EE6-4342-B048-85BDC9FD1C3A}</a:tableStyleId>
              </a:tblPr>
              <a:tblGrid>
                <a:gridCol w="548640">
                  <a:extLst>
                    <a:ext uri="{9D8B030D-6E8A-4147-A177-3AD203B41FA5}">
                      <a16:colId xmlns:a16="http://schemas.microsoft.com/office/drawing/2014/main" val="3463030415"/>
                    </a:ext>
                  </a:extLst>
                </a:gridCol>
                <a:gridCol w="548640">
                  <a:extLst>
                    <a:ext uri="{9D8B030D-6E8A-4147-A177-3AD203B41FA5}">
                      <a16:colId xmlns:a16="http://schemas.microsoft.com/office/drawing/2014/main" val="33902713"/>
                    </a:ext>
                  </a:extLst>
                </a:gridCol>
                <a:gridCol w="548640">
                  <a:extLst>
                    <a:ext uri="{9D8B030D-6E8A-4147-A177-3AD203B41FA5}">
                      <a16:colId xmlns:a16="http://schemas.microsoft.com/office/drawing/2014/main" val="2786119553"/>
                    </a:ext>
                  </a:extLst>
                </a:gridCol>
                <a:gridCol w="548640">
                  <a:extLst>
                    <a:ext uri="{9D8B030D-6E8A-4147-A177-3AD203B41FA5}">
                      <a16:colId xmlns:a16="http://schemas.microsoft.com/office/drawing/2014/main" val="713538104"/>
                    </a:ext>
                  </a:extLst>
                </a:gridCol>
              </a:tblGrid>
              <a:tr h="377279">
                <a:tc>
                  <a:txBody>
                    <a:bodyPr/>
                    <a:lstStyle/>
                    <a:p>
                      <a:pPr algn="ctr"/>
                      <a:r>
                        <a:rPr lang="en-US" sz="2000" b="0" i="1" dirty="0">
                          <a:latin typeface="Consolas" panose="020B0609020204030204" pitchFamily="49" charset="0"/>
                          <a:cs typeface="Consolas" panose="020B0609020204030204" pitchFamily="49" charset="0"/>
                        </a:rPr>
                        <a:t>0</a:t>
                      </a:r>
                    </a:p>
                  </a:txBody>
                  <a:tcPr>
                    <a:noFill/>
                  </a:tcPr>
                </a:tc>
                <a:tc>
                  <a:txBody>
                    <a:bodyPr/>
                    <a:lstStyle/>
                    <a:p>
                      <a:pPr algn="ctr"/>
                      <a:r>
                        <a:rPr lang="en-US" sz="2000" b="0" i="1" dirty="0">
                          <a:latin typeface="Consolas" panose="020B0609020204030204" pitchFamily="49" charset="0"/>
                          <a:cs typeface="Consolas" panose="020B0609020204030204" pitchFamily="49" charset="0"/>
                        </a:rPr>
                        <a:t>4</a:t>
                      </a:r>
                    </a:p>
                  </a:txBody>
                  <a:tcPr>
                    <a:noFill/>
                  </a:tcPr>
                </a:tc>
                <a:tc>
                  <a:txBody>
                    <a:bodyPr/>
                    <a:lstStyle/>
                    <a:p>
                      <a:pPr algn="ctr"/>
                      <a:r>
                        <a:rPr lang="en-US" sz="2000" b="0" i="1" dirty="0">
                          <a:latin typeface="Consolas" panose="020B0609020204030204" pitchFamily="49" charset="0"/>
                          <a:cs typeface="Consolas" panose="020B0609020204030204" pitchFamily="49" charset="0"/>
                        </a:rPr>
                        <a:t>8</a:t>
                      </a:r>
                    </a:p>
                  </a:txBody>
                  <a:tcPr>
                    <a:noFill/>
                  </a:tcPr>
                </a:tc>
                <a:tc>
                  <a:txBody>
                    <a:bodyPr/>
                    <a:lstStyle/>
                    <a:p>
                      <a:pPr algn="ctr"/>
                      <a:r>
                        <a:rPr lang="en-US" sz="2000" b="0" i="1" dirty="0">
                          <a:latin typeface="Consolas" panose="020B0609020204030204" pitchFamily="49" charset="0"/>
                          <a:cs typeface="Consolas" panose="020B0609020204030204" pitchFamily="49" charset="0"/>
                        </a:rPr>
                        <a:t>12</a:t>
                      </a:r>
                    </a:p>
                  </a:txBody>
                  <a:tcPr>
                    <a:noFill/>
                  </a:tcPr>
                </a:tc>
                <a:extLst>
                  <a:ext uri="{0D108BD9-81ED-4DB2-BD59-A6C34878D82A}">
                    <a16:rowId xmlns:a16="http://schemas.microsoft.com/office/drawing/2014/main" val="639513657"/>
                  </a:ext>
                </a:extLst>
              </a:tr>
            </a:tbl>
          </a:graphicData>
        </a:graphic>
      </p:graphicFrame>
      <p:graphicFrame>
        <p:nvGraphicFramePr>
          <p:cNvPr id="11" name="Table 10">
            <a:extLst>
              <a:ext uri="{FF2B5EF4-FFF2-40B4-BE49-F238E27FC236}">
                <a16:creationId xmlns:a16="http://schemas.microsoft.com/office/drawing/2014/main" id="{A8440272-9C05-254C-A1B5-995977CB5FF4}"/>
              </a:ext>
            </a:extLst>
          </p:cNvPr>
          <p:cNvGraphicFramePr>
            <a:graphicFrameLocks noGrp="1"/>
          </p:cNvGraphicFramePr>
          <p:nvPr>
            <p:extLst>
              <p:ext uri="{D42A27DB-BD31-4B8C-83A1-F6EECF244321}">
                <p14:modId xmlns:p14="http://schemas.microsoft.com/office/powerpoint/2010/main" val="540573653"/>
              </p:ext>
            </p:extLst>
          </p:nvPr>
        </p:nvGraphicFramePr>
        <p:xfrm>
          <a:off x="1463040" y="3375864"/>
          <a:ext cx="1645920" cy="548640"/>
        </p:xfrm>
        <a:graphic>
          <a:graphicData uri="http://schemas.openxmlformats.org/drawingml/2006/table">
            <a:tbl>
              <a:tblPr bandRow="1">
                <a:tableStyleId>{5C22544A-7EE6-4342-B048-85BDC9FD1C3A}</a:tableStyleId>
              </a:tblPr>
              <a:tblGrid>
                <a:gridCol w="548640">
                  <a:extLst>
                    <a:ext uri="{9D8B030D-6E8A-4147-A177-3AD203B41FA5}">
                      <a16:colId xmlns:a16="http://schemas.microsoft.com/office/drawing/2014/main" val="801561722"/>
                    </a:ext>
                  </a:extLst>
                </a:gridCol>
                <a:gridCol w="548640">
                  <a:extLst>
                    <a:ext uri="{9D8B030D-6E8A-4147-A177-3AD203B41FA5}">
                      <a16:colId xmlns:a16="http://schemas.microsoft.com/office/drawing/2014/main" val="1780978681"/>
                    </a:ext>
                  </a:extLst>
                </a:gridCol>
                <a:gridCol w="548640">
                  <a:extLst>
                    <a:ext uri="{9D8B030D-6E8A-4147-A177-3AD203B41FA5}">
                      <a16:colId xmlns:a16="http://schemas.microsoft.com/office/drawing/2014/main" val="1832378760"/>
                    </a:ext>
                  </a:extLst>
                </a:gridCol>
              </a:tblGrid>
              <a:tr h="548640">
                <a:tc>
                  <a:txBody>
                    <a:bodyPr/>
                    <a:lstStyle/>
                    <a:p>
                      <a:pPr algn="ctr"/>
                      <a:r>
                        <a:rPr lang="en-US" sz="2400" b="1" dirty="0">
                          <a:latin typeface="Consolas" panose="020B0609020204030204" pitchFamily="49" charset="0"/>
                          <a:cs typeface="Consolas" panose="020B0609020204030204" pitchFamily="49" charset="0"/>
                        </a:rPr>
                        <a:t>r</a:t>
                      </a:r>
                    </a:p>
                  </a:txBody>
                  <a:tcPr marL="45720" marR="45720" anchor="ctr">
                    <a:solidFill>
                      <a:srgbClr val="FF7F81"/>
                    </a:solidFill>
                  </a:tcPr>
                </a:tc>
                <a:tc>
                  <a:txBody>
                    <a:bodyPr/>
                    <a:lstStyle/>
                    <a:p>
                      <a:pPr algn="ctr"/>
                      <a:r>
                        <a:rPr lang="en-US" sz="2400" b="1" dirty="0">
                          <a:latin typeface="Consolas" panose="020B0609020204030204" pitchFamily="49" charset="0"/>
                          <a:cs typeface="Consolas" panose="020B0609020204030204" pitchFamily="49" charset="0"/>
                        </a:rPr>
                        <a:t>g</a:t>
                      </a:r>
                    </a:p>
                  </a:txBody>
                  <a:tcPr marL="45720" marR="45720" anchor="ctr">
                    <a:solidFill>
                      <a:srgbClr val="58B080"/>
                    </a:solidFill>
                  </a:tcPr>
                </a:tc>
                <a:tc>
                  <a:txBody>
                    <a:bodyPr/>
                    <a:lstStyle/>
                    <a:p>
                      <a:pPr algn="ctr"/>
                      <a:r>
                        <a:rPr lang="en-US" sz="2400" b="1" dirty="0">
                          <a:latin typeface="Consolas" panose="020B0609020204030204" pitchFamily="49" charset="0"/>
                          <a:cs typeface="Consolas" panose="020B0609020204030204" pitchFamily="49" charset="0"/>
                        </a:rPr>
                        <a:t>b</a:t>
                      </a:r>
                    </a:p>
                  </a:txBody>
                  <a:tcPr marL="45720" marR="45720" anchor="ctr">
                    <a:solidFill>
                      <a:srgbClr val="6098C0"/>
                    </a:solidFill>
                  </a:tcPr>
                </a:tc>
                <a:extLst>
                  <a:ext uri="{0D108BD9-81ED-4DB2-BD59-A6C34878D82A}">
                    <a16:rowId xmlns:a16="http://schemas.microsoft.com/office/drawing/2014/main" val="639513657"/>
                  </a:ext>
                </a:extLst>
              </a:tr>
            </a:tbl>
          </a:graphicData>
        </a:graphic>
      </p:graphicFrame>
      <p:graphicFrame>
        <p:nvGraphicFramePr>
          <p:cNvPr id="12" name="Table 11">
            <a:extLst>
              <a:ext uri="{FF2B5EF4-FFF2-40B4-BE49-F238E27FC236}">
                <a16:creationId xmlns:a16="http://schemas.microsoft.com/office/drawing/2014/main" id="{28F3F2B8-A1A4-7944-BAA9-853CC42B8822}"/>
              </a:ext>
            </a:extLst>
          </p:cNvPr>
          <p:cNvGraphicFramePr>
            <a:graphicFrameLocks noGrp="1"/>
          </p:cNvGraphicFramePr>
          <p:nvPr>
            <p:extLst>
              <p:ext uri="{D42A27DB-BD31-4B8C-83A1-F6EECF244321}">
                <p14:modId xmlns:p14="http://schemas.microsoft.com/office/powerpoint/2010/main" val="1867735217"/>
              </p:ext>
            </p:extLst>
          </p:nvPr>
        </p:nvGraphicFramePr>
        <p:xfrm>
          <a:off x="1463040" y="3923404"/>
          <a:ext cx="1645920" cy="396240"/>
        </p:xfrm>
        <a:graphic>
          <a:graphicData uri="http://schemas.openxmlformats.org/drawingml/2006/table">
            <a:tbl>
              <a:tblPr bandRow="1">
                <a:tableStyleId>{5C22544A-7EE6-4342-B048-85BDC9FD1C3A}</a:tableStyleId>
              </a:tblPr>
              <a:tblGrid>
                <a:gridCol w="548640">
                  <a:extLst>
                    <a:ext uri="{9D8B030D-6E8A-4147-A177-3AD203B41FA5}">
                      <a16:colId xmlns:a16="http://schemas.microsoft.com/office/drawing/2014/main" val="3463030415"/>
                    </a:ext>
                  </a:extLst>
                </a:gridCol>
                <a:gridCol w="548640">
                  <a:extLst>
                    <a:ext uri="{9D8B030D-6E8A-4147-A177-3AD203B41FA5}">
                      <a16:colId xmlns:a16="http://schemas.microsoft.com/office/drawing/2014/main" val="33902713"/>
                    </a:ext>
                  </a:extLst>
                </a:gridCol>
                <a:gridCol w="548640">
                  <a:extLst>
                    <a:ext uri="{9D8B030D-6E8A-4147-A177-3AD203B41FA5}">
                      <a16:colId xmlns:a16="http://schemas.microsoft.com/office/drawing/2014/main" val="2786119553"/>
                    </a:ext>
                  </a:extLst>
                </a:gridCol>
              </a:tblGrid>
              <a:tr h="377279">
                <a:tc>
                  <a:txBody>
                    <a:bodyPr/>
                    <a:lstStyle/>
                    <a:p>
                      <a:pPr algn="ctr"/>
                      <a:r>
                        <a:rPr lang="en-US" sz="2000" b="0" i="1" dirty="0">
                          <a:latin typeface="Consolas" panose="020B0609020204030204" pitchFamily="49" charset="0"/>
                          <a:cs typeface="Consolas" panose="020B0609020204030204" pitchFamily="49" charset="0"/>
                        </a:rPr>
                        <a:t>0</a:t>
                      </a:r>
                    </a:p>
                  </a:txBody>
                  <a:tcPr>
                    <a:noFill/>
                  </a:tcPr>
                </a:tc>
                <a:tc>
                  <a:txBody>
                    <a:bodyPr/>
                    <a:lstStyle/>
                    <a:p>
                      <a:pPr algn="ctr"/>
                      <a:r>
                        <a:rPr lang="en-US" sz="2000" b="0" i="1" dirty="0">
                          <a:latin typeface="Consolas" panose="020B0609020204030204" pitchFamily="49" charset="0"/>
                          <a:cs typeface="Consolas" panose="020B0609020204030204" pitchFamily="49" charset="0"/>
                        </a:rPr>
                        <a:t>4</a:t>
                      </a:r>
                    </a:p>
                  </a:txBody>
                  <a:tcPr>
                    <a:noFill/>
                  </a:tcPr>
                </a:tc>
                <a:tc>
                  <a:txBody>
                    <a:bodyPr/>
                    <a:lstStyle/>
                    <a:p>
                      <a:pPr algn="ctr"/>
                      <a:r>
                        <a:rPr lang="en-US" sz="2000" b="0" i="1" dirty="0">
                          <a:latin typeface="Consolas" panose="020B0609020204030204" pitchFamily="49" charset="0"/>
                          <a:cs typeface="Consolas" panose="020B0609020204030204" pitchFamily="49" charset="0"/>
                        </a:rPr>
                        <a:t>8</a:t>
                      </a:r>
                    </a:p>
                  </a:txBody>
                  <a:tcPr>
                    <a:noFill/>
                  </a:tcPr>
                </a:tc>
                <a:extLst>
                  <a:ext uri="{0D108BD9-81ED-4DB2-BD59-A6C34878D82A}">
                    <a16:rowId xmlns:a16="http://schemas.microsoft.com/office/drawing/2014/main" val="639513657"/>
                  </a:ext>
                </a:extLst>
              </a:tr>
            </a:tbl>
          </a:graphicData>
        </a:graphic>
      </p:graphicFrame>
      <p:sp>
        <p:nvSpPr>
          <p:cNvPr id="13" name="Rectangle 12">
            <a:extLst>
              <a:ext uri="{FF2B5EF4-FFF2-40B4-BE49-F238E27FC236}">
                <a16:creationId xmlns:a16="http://schemas.microsoft.com/office/drawing/2014/main" id="{D79E9B3F-68B8-834C-A16F-00059E20823D}"/>
              </a:ext>
            </a:extLst>
          </p:cNvPr>
          <p:cNvSpPr/>
          <p:nvPr/>
        </p:nvSpPr>
        <p:spPr>
          <a:xfrm>
            <a:off x="381000" y="3356935"/>
            <a:ext cx="990600" cy="523220"/>
          </a:xfrm>
          <a:prstGeom prst="rect">
            <a:avLst/>
          </a:prstGeom>
        </p:spPr>
        <p:txBody>
          <a:bodyPr wrap="square">
            <a:spAutoFit/>
          </a:bodyPr>
          <a:lstStyle/>
          <a:p>
            <a:pPr algn="r"/>
            <a:r>
              <a:rPr lang="en-US" sz="2800" b="1" dirty="0">
                <a:latin typeface="Consolas" panose="020B0609020204030204" pitchFamily="49" charset="0"/>
                <a:cs typeface="Consolas" panose="020B0609020204030204" pitchFamily="49" charset="0"/>
              </a:rPr>
              <a:t>RGB</a:t>
            </a:r>
          </a:p>
        </p:txBody>
      </p:sp>
      <p:sp>
        <p:nvSpPr>
          <p:cNvPr id="14" name="Rectangle 13">
            <a:extLst>
              <a:ext uri="{FF2B5EF4-FFF2-40B4-BE49-F238E27FC236}">
                <a16:creationId xmlns:a16="http://schemas.microsoft.com/office/drawing/2014/main" id="{AF47E725-E379-684F-AEB1-003B6563AC0D}"/>
              </a:ext>
            </a:extLst>
          </p:cNvPr>
          <p:cNvSpPr/>
          <p:nvPr/>
        </p:nvSpPr>
        <p:spPr>
          <a:xfrm>
            <a:off x="381000" y="4333068"/>
            <a:ext cx="990600" cy="523220"/>
          </a:xfrm>
          <a:prstGeom prst="rect">
            <a:avLst/>
          </a:prstGeom>
        </p:spPr>
        <p:txBody>
          <a:bodyPr wrap="square">
            <a:spAutoFit/>
          </a:bodyPr>
          <a:lstStyle/>
          <a:p>
            <a:pPr algn="r"/>
            <a:r>
              <a:rPr lang="en-US" sz="2800" b="1" dirty="0">
                <a:latin typeface="Consolas" panose="020B0609020204030204" pitchFamily="49" charset="0"/>
                <a:cs typeface="Consolas" panose="020B0609020204030204" pitchFamily="49" charset="0"/>
              </a:rPr>
              <a:t>RGBA</a:t>
            </a:r>
          </a:p>
        </p:txBody>
      </p:sp>
      <p:sp>
        <p:nvSpPr>
          <p:cNvPr id="15" name="TextBox 14">
            <a:extLst>
              <a:ext uri="{FF2B5EF4-FFF2-40B4-BE49-F238E27FC236}">
                <a16:creationId xmlns:a16="http://schemas.microsoft.com/office/drawing/2014/main" id="{C582FAEB-458B-E748-A5A4-8B1B07E31D9D}"/>
              </a:ext>
            </a:extLst>
          </p:cNvPr>
          <p:cNvSpPr txBox="1"/>
          <p:nvPr/>
        </p:nvSpPr>
        <p:spPr>
          <a:xfrm>
            <a:off x="4781550" y="3650184"/>
            <a:ext cx="3962400" cy="1107996"/>
          </a:xfrm>
          <a:prstGeom prst="rect">
            <a:avLst/>
          </a:prstGeom>
          <a:noFill/>
        </p:spPr>
        <p:txBody>
          <a:bodyPr wrap="square" rtlCol="0">
            <a:spAutoFit/>
          </a:bodyPr>
          <a:lstStyle/>
          <a:p>
            <a:pPr algn="ctr"/>
            <a:r>
              <a:rPr lang="en-US" sz="2200" dirty="0"/>
              <a:t>reusing </a:t>
            </a:r>
            <a:r>
              <a:rPr lang="en-US" sz="2200" i="1" dirty="0"/>
              <a:t>only</a:t>
            </a:r>
            <a:r>
              <a:rPr lang="en-US" sz="2200" dirty="0"/>
              <a:t> the data is limited in usefulness. reusing </a:t>
            </a:r>
            <a:r>
              <a:rPr lang="en-US" sz="2200" b="1" dirty="0"/>
              <a:t>methods </a:t>
            </a:r>
            <a:r>
              <a:rPr lang="en-US" sz="2200" dirty="0"/>
              <a:t>is much more useful.</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290330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2F580-4466-E745-A971-6557EB8B9DB6}"/>
              </a:ext>
            </a:extLst>
          </p:cNvPr>
          <p:cNvSpPr>
            <a:spLocks noGrp="1"/>
          </p:cNvSpPr>
          <p:nvPr>
            <p:ph type="title"/>
          </p:nvPr>
        </p:nvSpPr>
        <p:spPr/>
        <p:txBody>
          <a:bodyPr/>
          <a:lstStyle/>
          <a:p>
            <a:r>
              <a:rPr lang="en-US" dirty="0"/>
              <a:t>Method inheritance</a:t>
            </a:r>
          </a:p>
        </p:txBody>
      </p:sp>
      <p:sp>
        <p:nvSpPr>
          <p:cNvPr id="3" name="Content Placeholder 2">
            <a:extLst>
              <a:ext uri="{FF2B5EF4-FFF2-40B4-BE49-F238E27FC236}">
                <a16:creationId xmlns:a16="http://schemas.microsoft.com/office/drawing/2014/main" id="{6F51743F-7973-C445-B0E2-1006E2B61E50}"/>
              </a:ext>
            </a:extLst>
          </p:cNvPr>
          <p:cNvSpPr>
            <a:spLocks noGrp="1"/>
          </p:cNvSpPr>
          <p:nvPr>
            <p:ph idx="1"/>
          </p:nvPr>
        </p:nvSpPr>
        <p:spPr>
          <a:xfrm>
            <a:off x="152400" y="495301"/>
            <a:ext cx="8991600" cy="1219199"/>
          </a:xfrm>
        </p:spPr>
        <p:txBody>
          <a:bodyPr/>
          <a:lstStyle/>
          <a:p>
            <a:r>
              <a:rPr lang="en-US" dirty="0"/>
              <a:t>method inheritance takes advantage of the </a:t>
            </a:r>
            <a:r>
              <a:rPr lang="en-US" b="1" dirty="0"/>
              <a:t>prefixed </a:t>
            </a:r>
            <a:r>
              <a:rPr lang="en-US" dirty="0"/>
              <a:t>representation.</a:t>
            </a:r>
          </a:p>
          <a:p>
            <a:pPr lvl="1"/>
            <a:r>
              <a:rPr lang="en-US" dirty="0"/>
              <a:t>base class methods can be called on derived class instances, because the base class fields are </a:t>
            </a:r>
            <a:r>
              <a:rPr lang="en-US" i="1" dirty="0"/>
              <a:t>at the same offsets.</a:t>
            </a:r>
            <a:endParaRPr lang="en-US" dirty="0"/>
          </a:p>
        </p:txBody>
      </p:sp>
      <p:sp>
        <p:nvSpPr>
          <p:cNvPr id="4" name="Slide Number Placeholder 3">
            <a:extLst>
              <a:ext uri="{FF2B5EF4-FFF2-40B4-BE49-F238E27FC236}">
                <a16:creationId xmlns:a16="http://schemas.microsoft.com/office/drawing/2014/main" id="{6ABD77AA-0ABF-AD46-83D4-6965A0CC2BD8}"/>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Rectangle 4">
            <a:extLst>
              <a:ext uri="{FF2B5EF4-FFF2-40B4-BE49-F238E27FC236}">
                <a16:creationId xmlns:a16="http://schemas.microsoft.com/office/drawing/2014/main" id="{B4C2BB4D-DC07-C44D-BFBA-654A59A01E21}"/>
              </a:ext>
            </a:extLst>
          </p:cNvPr>
          <p:cNvSpPr/>
          <p:nvPr/>
        </p:nvSpPr>
        <p:spPr>
          <a:xfrm>
            <a:off x="381000" y="1714500"/>
            <a:ext cx="6172200" cy="2862322"/>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Animal {</a:t>
            </a:r>
          </a:p>
          <a:p>
            <a:r>
              <a:rPr lang="en-US" sz="2000" b="1" dirty="0">
                <a:latin typeface="Consolas" panose="020B0609020204030204" pitchFamily="49" charset="0"/>
                <a:cs typeface="Consolas" panose="020B0609020204030204" pitchFamily="49" charset="0"/>
              </a:rPr>
              <a:t>  species: </a:t>
            </a:r>
            <a:r>
              <a:rPr lang="en-US" sz="2000" b="1" dirty="0">
                <a:solidFill>
                  <a:srgbClr val="FF0000"/>
                </a:solidFill>
                <a:latin typeface="Consolas" panose="020B0609020204030204" pitchFamily="49" charset="0"/>
                <a:cs typeface="Consolas" panose="020B0609020204030204" pitchFamily="49" charset="0"/>
              </a:rPr>
              <a:t>string</a:t>
            </a:r>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fn</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"Animal("</a:t>
            </a:r>
            <a:r>
              <a:rPr lang="en-US" sz="2000" b="1" dirty="0">
                <a:latin typeface="Consolas" panose="020B0609020204030204" pitchFamily="49" charset="0"/>
                <a:cs typeface="Consolas" panose="020B0609020204030204" pitchFamily="49" charset="0"/>
              </a:rPr>
              <a:t> +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.species</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Cat : Animal { whiskers: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c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Cat(</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err="1">
                <a:solidFill>
                  <a:schemeClr val="accent6">
                    <a:lumMod val="75000"/>
                  </a:schemeClr>
                </a:solidFill>
                <a:latin typeface="Consolas" panose="020B0609020204030204" pitchFamily="49" charset="0"/>
                <a:cs typeface="Consolas" panose="020B0609020204030204" pitchFamily="49" charset="0"/>
              </a:rPr>
              <a:t>felis</a:t>
            </a:r>
            <a:r>
              <a:rPr lang="en-US" sz="2000" b="1" dirty="0">
                <a:solidFill>
                  <a:schemeClr val="accent6">
                    <a:lumMod val="75000"/>
                  </a:schemeClr>
                </a:solidFill>
                <a:latin typeface="Consolas" panose="020B0609020204030204" pitchFamily="49" charset="0"/>
                <a:cs typeface="Consolas" panose="020B0609020204030204" pitchFamily="49" charset="0"/>
              </a:rPr>
              <a:t> </a:t>
            </a:r>
            <a:r>
              <a:rPr lang="en-US" sz="2000" b="1" dirty="0" err="1">
                <a:solidFill>
                  <a:schemeClr val="accent6">
                    <a:lumMod val="75000"/>
                  </a:schemeClr>
                </a:solidFill>
                <a:latin typeface="Consolas" panose="020B0609020204030204" pitchFamily="49" charset="0"/>
                <a:cs typeface="Consolas" panose="020B0609020204030204" pitchFamily="49" charset="0"/>
              </a:rPr>
              <a:t>cattus</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15</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c.to_string</a:t>
            </a:r>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FFC8F206-46F7-D045-B8A9-E6BFA6AC04AB}"/>
              </a:ext>
            </a:extLst>
          </p:cNvPr>
          <p:cNvSpPr txBox="1"/>
          <p:nvPr/>
        </p:nvSpPr>
        <p:spPr>
          <a:xfrm>
            <a:off x="152400" y="4679654"/>
            <a:ext cx="5314950" cy="769441"/>
          </a:xfrm>
          <a:prstGeom prst="rect">
            <a:avLst/>
          </a:prstGeom>
          <a:noFill/>
        </p:spPr>
        <p:txBody>
          <a:bodyPr wrap="square" rtlCol="0">
            <a:spAutoFit/>
          </a:bodyPr>
          <a:lstStyle/>
          <a:p>
            <a:pPr algn="ctr"/>
            <a:r>
              <a:rPr lang="en-US" sz="2200" dirty="0"/>
              <a:t>this is </a:t>
            </a:r>
            <a:r>
              <a:rPr lang="en-US" sz="2200" b="1" dirty="0"/>
              <a:t>still static dispatch: </a:t>
            </a:r>
            <a:r>
              <a:rPr lang="en-US" sz="2200" dirty="0"/>
              <a:t>the method call is sugar for </a:t>
            </a:r>
            <a:r>
              <a:rPr lang="en-US" sz="2200" b="1" dirty="0" err="1">
                <a:latin typeface="Consolas" panose="020B0609020204030204" pitchFamily="49" charset="0"/>
                <a:cs typeface="Consolas" panose="020B0609020204030204" pitchFamily="49" charset="0"/>
              </a:rPr>
              <a:t>Animal.to_string</a:t>
            </a:r>
            <a:r>
              <a:rPr lang="en-US" sz="2200" b="1" dirty="0">
                <a:latin typeface="Consolas" panose="020B0609020204030204" pitchFamily="49" charset="0"/>
                <a:cs typeface="Consolas" panose="020B0609020204030204" pitchFamily="49" charset="0"/>
              </a:rPr>
              <a:t>(c)</a:t>
            </a:r>
            <a:r>
              <a:rPr lang="en-US" sz="2200" dirty="0"/>
              <a:t>.</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E92A39B0-99FA-CC4D-9C7E-303E8ED56E9E}"/>
              </a:ext>
            </a:extLst>
          </p:cNvPr>
          <p:cNvSpPr txBox="1"/>
          <p:nvPr/>
        </p:nvSpPr>
        <p:spPr>
          <a:xfrm>
            <a:off x="5543550" y="4679654"/>
            <a:ext cx="3409950" cy="769441"/>
          </a:xfrm>
          <a:prstGeom prst="rect">
            <a:avLst/>
          </a:prstGeom>
          <a:noFill/>
        </p:spPr>
        <p:txBody>
          <a:bodyPr wrap="square" rtlCol="0">
            <a:spAutoFit/>
          </a:bodyPr>
          <a:lstStyle/>
          <a:p>
            <a:pPr algn="ctr"/>
            <a:r>
              <a:rPr lang="en-US" sz="2200" dirty="0"/>
              <a:t>we can now say that </a:t>
            </a:r>
            <a:r>
              <a:rPr lang="en-US" sz="2200" b="1" dirty="0"/>
              <a:t>Cat</a:t>
            </a:r>
            <a:r>
              <a:rPr lang="en-US" sz="2200" dirty="0"/>
              <a:t> is a </a:t>
            </a:r>
            <a:r>
              <a:rPr lang="en-US" sz="2200" b="1" dirty="0"/>
              <a:t>subtype </a:t>
            </a:r>
            <a:r>
              <a:rPr lang="en-US" sz="2200" dirty="0"/>
              <a:t>of </a:t>
            </a:r>
            <a:r>
              <a:rPr lang="en-US" sz="2200" b="1" dirty="0"/>
              <a:t>Animal.</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45821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AD357-DB67-7D42-BA3C-F3E1B588A2A2}"/>
              </a:ext>
            </a:extLst>
          </p:cNvPr>
          <p:cNvSpPr>
            <a:spLocks noGrp="1"/>
          </p:cNvSpPr>
          <p:nvPr>
            <p:ph type="title"/>
          </p:nvPr>
        </p:nvSpPr>
        <p:spPr/>
        <p:txBody>
          <a:bodyPr/>
          <a:lstStyle/>
          <a:p>
            <a:r>
              <a:rPr lang="en-US" dirty="0"/>
              <a:t>Where it starts getting crazy</a:t>
            </a:r>
          </a:p>
        </p:txBody>
      </p:sp>
      <p:sp>
        <p:nvSpPr>
          <p:cNvPr id="3" name="Content Placeholder 2">
            <a:extLst>
              <a:ext uri="{FF2B5EF4-FFF2-40B4-BE49-F238E27FC236}">
                <a16:creationId xmlns:a16="http://schemas.microsoft.com/office/drawing/2014/main" id="{FAF36272-06ED-CF4E-A699-76D05F0B5970}"/>
              </a:ext>
            </a:extLst>
          </p:cNvPr>
          <p:cNvSpPr>
            <a:spLocks noGrp="1"/>
          </p:cNvSpPr>
          <p:nvPr>
            <p:ph idx="1"/>
          </p:nvPr>
        </p:nvSpPr>
        <p:spPr>
          <a:xfrm>
            <a:off x="152400" y="495302"/>
            <a:ext cx="8991600" cy="438554"/>
          </a:xfrm>
        </p:spPr>
        <p:txBody>
          <a:bodyPr/>
          <a:lstStyle/>
          <a:p>
            <a:r>
              <a:rPr lang="en-US" dirty="0"/>
              <a:t>what if we want to </a:t>
            </a:r>
            <a:r>
              <a:rPr lang="en-US" b="1" dirty="0"/>
              <a:t>specialize </a:t>
            </a:r>
            <a:r>
              <a:rPr lang="en-US" b="1" dirty="0" err="1">
                <a:latin typeface="Consolas" panose="020B0609020204030204" pitchFamily="49" charset="0"/>
                <a:cs typeface="Consolas" panose="020B0609020204030204" pitchFamily="49" charset="0"/>
              </a:rPr>
              <a:t>to_string</a:t>
            </a:r>
            <a:r>
              <a:rPr lang="en-US" b="1" dirty="0">
                <a:latin typeface="Consolas" panose="020B0609020204030204" pitchFamily="49" charset="0"/>
                <a:cs typeface="Consolas" panose="020B0609020204030204" pitchFamily="49" charset="0"/>
              </a:rPr>
              <a:t>()</a:t>
            </a:r>
            <a:r>
              <a:rPr lang="en-US" dirty="0"/>
              <a:t> in the </a:t>
            </a:r>
            <a:r>
              <a:rPr lang="en-US" b="1" dirty="0">
                <a:latin typeface="Consolas" panose="020B0609020204030204" pitchFamily="49" charset="0"/>
                <a:cs typeface="Consolas" panose="020B0609020204030204" pitchFamily="49" charset="0"/>
              </a:rPr>
              <a:t>Cat</a:t>
            </a:r>
            <a:r>
              <a:rPr lang="en-US" dirty="0"/>
              <a:t> struct?</a:t>
            </a:r>
          </a:p>
        </p:txBody>
      </p:sp>
      <p:sp>
        <p:nvSpPr>
          <p:cNvPr id="4" name="Slide Number Placeholder 3">
            <a:extLst>
              <a:ext uri="{FF2B5EF4-FFF2-40B4-BE49-F238E27FC236}">
                <a16:creationId xmlns:a16="http://schemas.microsoft.com/office/drawing/2014/main" id="{9553544E-8DD5-774B-B9CC-BB2A776C4E8D}"/>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Rectangle 4">
            <a:extLst>
              <a:ext uri="{FF2B5EF4-FFF2-40B4-BE49-F238E27FC236}">
                <a16:creationId xmlns:a16="http://schemas.microsoft.com/office/drawing/2014/main" id="{012F15F7-64D9-6E4E-B907-FB4EB820EDFB}"/>
              </a:ext>
            </a:extLst>
          </p:cNvPr>
          <p:cNvSpPr/>
          <p:nvPr/>
        </p:nvSpPr>
        <p:spPr>
          <a:xfrm>
            <a:off x="228600" y="933856"/>
            <a:ext cx="6172200" cy="4401205"/>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Animal {</a:t>
            </a:r>
          </a:p>
          <a:p>
            <a:r>
              <a:rPr lang="en-US" sz="2000" b="1" dirty="0">
                <a:latin typeface="Consolas" panose="020B0609020204030204" pitchFamily="49" charset="0"/>
                <a:cs typeface="Consolas" panose="020B0609020204030204" pitchFamily="49" charset="0"/>
              </a:rPr>
              <a:t>  species: </a:t>
            </a:r>
            <a:r>
              <a:rPr lang="en-US" sz="2000" b="1" dirty="0">
                <a:solidFill>
                  <a:srgbClr val="FF0000"/>
                </a:solidFill>
                <a:latin typeface="Consolas" panose="020B0609020204030204" pitchFamily="49" charset="0"/>
                <a:cs typeface="Consolas" panose="020B0609020204030204" pitchFamily="49" charset="0"/>
              </a:rPr>
              <a:t>string</a:t>
            </a:r>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fn</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"Animal("</a:t>
            </a:r>
            <a:r>
              <a:rPr lang="en-US" sz="2000" b="1" dirty="0">
                <a:latin typeface="Consolas" panose="020B0609020204030204" pitchFamily="49" charset="0"/>
                <a:cs typeface="Consolas" panose="020B0609020204030204" pitchFamily="49" charset="0"/>
              </a:rPr>
              <a:t> +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.species</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struct</a:t>
            </a:r>
            <a:r>
              <a:rPr lang="en-US" sz="2000" b="1" dirty="0">
                <a:latin typeface="Consolas" panose="020B0609020204030204" pitchFamily="49" charset="0"/>
                <a:cs typeface="Consolas" panose="020B0609020204030204" pitchFamily="49" charset="0"/>
              </a:rPr>
              <a:t> Cat : Animal {</a:t>
            </a:r>
          </a:p>
          <a:p>
            <a:r>
              <a:rPr lang="en-US" sz="2000" b="1" dirty="0">
                <a:latin typeface="Consolas" panose="020B0609020204030204" pitchFamily="49" charset="0"/>
                <a:cs typeface="Consolas" panose="020B0609020204030204" pitchFamily="49" charset="0"/>
              </a:rPr>
              <a:t>  whiskers: </a:t>
            </a:r>
            <a:r>
              <a:rPr lang="en-US" sz="2000" b="1" dirty="0" err="1">
                <a:solidFill>
                  <a:srgbClr val="FF0000"/>
                </a:solidFill>
                <a:latin typeface="Consolas" panose="020B0609020204030204" pitchFamily="49" charset="0"/>
                <a:cs typeface="Consolas" panose="020B0609020204030204" pitchFamily="49" charset="0"/>
              </a:rPr>
              <a:t>int</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fn</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to_string</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"meow meow meow!"</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c = </a:t>
            </a:r>
            <a:r>
              <a:rPr lang="en-US" sz="2000" b="1" dirty="0">
                <a:solidFill>
                  <a:srgbClr val="FF0000"/>
                </a:solidFill>
                <a:latin typeface="Consolas" panose="020B0609020204030204" pitchFamily="49" charset="0"/>
                <a:cs typeface="Consolas" panose="020B0609020204030204" pitchFamily="49" charset="0"/>
              </a:rPr>
              <a:t>new </a:t>
            </a:r>
            <a:r>
              <a:rPr lang="en-US" sz="2000" b="1" dirty="0">
                <a:latin typeface="Consolas" panose="020B0609020204030204" pitchFamily="49" charset="0"/>
                <a:cs typeface="Consolas" panose="020B0609020204030204" pitchFamily="49" charset="0"/>
              </a:rPr>
              <a:t>Cat(</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err="1">
                <a:solidFill>
                  <a:schemeClr val="accent6">
                    <a:lumMod val="75000"/>
                  </a:schemeClr>
                </a:solidFill>
                <a:latin typeface="Consolas" panose="020B0609020204030204" pitchFamily="49" charset="0"/>
                <a:cs typeface="Consolas" panose="020B0609020204030204" pitchFamily="49" charset="0"/>
              </a:rPr>
              <a:t>felis</a:t>
            </a:r>
            <a:r>
              <a:rPr lang="en-US" sz="2000" b="1" dirty="0">
                <a:solidFill>
                  <a:schemeClr val="accent6">
                    <a:lumMod val="75000"/>
                  </a:schemeClr>
                </a:solidFill>
                <a:latin typeface="Consolas" panose="020B0609020204030204" pitchFamily="49" charset="0"/>
                <a:cs typeface="Consolas" panose="020B0609020204030204" pitchFamily="49" charset="0"/>
              </a:rPr>
              <a:t> </a:t>
            </a:r>
            <a:r>
              <a:rPr lang="en-US" sz="2000" b="1" dirty="0" err="1">
                <a:solidFill>
                  <a:schemeClr val="accent6">
                    <a:lumMod val="75000"/>
                  </a:schemeClr>
                </a:solidFill>
                <a:latin typeface="Consolas" panose="020B0609020204030204" pitchFamily="49" charset="0"/>
                <a:cs typeface="Consolas" panose="020B0609020204030204" pitchFamily="49" charset="0"/>
              </a:rPr>
              <a:t>cattus</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15</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c.to_string</a:t>
            </a:r>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B814C148-17CF-124B-86AF-3DCE828BEFE0}"/>
              </a:ext>
            </a:extLst>
          </p:cNvPr>
          <p:cNvSpPr txBox="1"/>
          <p:nvPr/>
        </p:nvSpPr>
        <p:spPr>
          <a:xfrm>
            <a:off x="4495803" y="2345966"/>
            <a:ext cx="4714868" cy="1107996"/>
          </a:xfrm>
          <a:prstGeom prst="rect">
            <a:avLst/>
          </a:prstGeom>
          <a:noFill/>
        </p:spPr>
        <p:txBody>
          <a:bodyPr wrap="square" rtlCol="0">
            <a:spAutoFit/>
          </a:bodyPr>
          <a:lstStyle/>
          <a:p>
            <a:pPr algn="ctr"/>
            <a:r>
              <a:rPr lang="en-US" sz="2200" dirty="0"/>
              <a:t>the compiler </a:t>
            </a:r>
            <a:r>
              <a:rPr lang="en-US" sz="2200" i="1" dirty="0"/>
              <a:t>might</a:t>
            </a:r>
            <a:r>
              <a:rPr lang="en-US" sz="2200" dirty="0"/>
              <a:t> be able to statically determine in </a:t>
            </a:r>
            <a:r>
              <a:rPr lang="en-US" sz="2200" i="1" dirty="0"/>
              <a:t>this </a:t>
            </a:r>
            <a:r>
              <a:rPr lang="en-US" sz="2200" dirty="0"/>
              <a:t>case that it should call </a:t>
            </a:r>
            <a:r>
              <a:rPr lang="en-US" sz="2200" b="1" dirty="0" err="1">
                <a:latin typeface="Consolas" panose="020B0609020204030204" pitchFamily="49" charset="0"/>
                <a:cs typeface="Consolas" panose="020B0609020204030204" pitchFamily="49" charset="0"/>
              </a:rPr>
              <a:t>Cat.toString</a:t>
            </a:r>
            <a:r>
              <a:rPr lang="en-US" sz="2200" b="1" dirty="0">
                <a:latin typeface="Consolas" panose="020B0609020204030204" pitchFamily="49" charset="0"/>
                <a:cs typeface="Consolas" panose="020B0609020204030204" pitchFamily="49" charset="0"/>
              </a:rPr>
              <a:t>(c)</a:t>
            </a:r>
            <a:r>
              <a:rPr lang="en-US" sz="2200" dirty="0"/>
              <a:t>.</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8B2EA45B-F422-1B4C-AF22-F81CC390B0DD}"/>
              </a:ext>
            </a:extLst>
          </p:cNvPr>
          <p:cNvSpPr txBox="1"/>
          <p:nvPr/>
        </p:nvSpPr>
        <p:spPr>
          <a:xfrm>
            <a:off x="4648199" y="3650485"/>
            <a:ext cx="4410075" cy="769441"/>
          </a:xfrm>
          <a:prstGeom prst="rect">
            <a:avLst/>
          </a:prstGeom>
          <a:noFill/>
        </p:spPr>
        <p:txBody>
          <a:bodyPr wrap="square" rtlCol="0">
            <a:spAutoFit/>
          </a:bodyPr>
          <a:lstStyle/>
          <a:p>
            <a:pPr algn="ctr"/>
            <a:r>
              <a:rPr lang="en-US" sz="2200" dirty="0"/>
              <a:t>but </a:t>
            </a:r>
            <a:r>
              <a:rPr lang="en-US" sz="2200" b="1" dirty="0">
                <a:solidFill>
                  <a:srgbClr val="FF0000"/>
                </a:solidFill>
              </a:rPr>
              <a:t>it can't determine that in the general case.</a:t>
            </a:r>
            <a:endParaRPr lang="en-US" sz="2200" b="1" dirty="0">
              <a:solidFill>
                <a:srgbClr val="FF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196920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5"/>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A834B-C7F1-C744-AC6C-82834286FB47}"/>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3FC998C4-EB20-2B47-93E5-2F06497465CA}"/>
              </a:ext>
            </a:extLst>
          </p:cNvPr>
          <p:cNvSpPr>
            <a:spLocks noGrp="1"/>
          </p:cNvSpPr>
          <p:nvPr>
            <p:ph idx="1"/>
          </p:nvPr>
        </p:nvSpPr>
        <p:spPr>
          <a:xfrm>
            <a:off x="152400" y="495301"/>
            <a:ext cx="8991600" cy="1828799"/>
          </a:xfrm>
        </p:spPr>
        <p:txBody>
          <a:bodyPr/>
          <a:lstStyle/>
          <a:p>
            <a:r>
              <a:rPr lang="en-US" dirty="0"/>
              <a:t>since a subtype can be used anywhere a base type is expected…</a:t>
            </a:r>
          </a:p>
          <a:p>
            <a:pPr lvl="1"/>
            <a:r>
              <a:rPr lang="en-US" dirty="0"/>
              <a:t>a base type variable can contain </a:t>
            </a:r>
            <a:r>
              <a:rPr lang="en-US" b="1" dirty="0"/>
              <a:t>different types of values.</a:t>
            </a:r>
            <a:endParaRPr lang="en-US" dirty="0"/>
          </a:p>
          <a:p>
            <a:r>
              <a:rPr lang="en-US" dirty="0"/>
              <a:t>and since subtypes can have </a:t>
            </a:r>
            <a:r>
              <a:rPr lang="en-US" b="1" dirty="0"/>
              <a:t>different implementations </a:t>
            </a:r>
            <a:r>
              <a:rPr lang="en-US" dirty="0"/>
              <a:t>of the </a:t>
            </a:r>
            <a:r>
              <a:rPr lang="en-US" b="1" dirty="0"/>
              <a:t>same methods </a:t>
            </a:r>
            <a:r>
              <a:rPr lang="en-US" dirty="0"/>
              <a:t>as the supertype…</a:t>
            </a:r>
          </a:p>
          <a:p>
            <a:pPr lvl="1"/>
            <a:r>
              <a:rPr lang="en-US" dirty="0">
                <a:solidFill>
                  <a:srgbClr val="FF0000"/>
                </a:solidFill>
              </a:rPr>
              <a:t>you can't know what subtype implementation to call until runtime!</a:t>
            </a:r>
          </a:p>
        </p:txBody>
      </p:sp>
      <p:sp>
        <p:nvSpPr>
          <p:cNvPr id="4" name="Slide Number Placeholder 3">
            <a:extLst>
              <a:ext uri="{FF2B5EF4-FFF2-40B4-BE49-F238E27FC236}">
                <a16:creationId xmlns:a16="http://schemas.microsoft.com/office/drawing/2014/main" id="{B0E96B57-06B5-E649-A493-BA4444442309}"/>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7" name="TextBox 6">
            <a:extLst>
              <a:ext uri="{FF2B5EF4-FFF2-40B4-BE49-F238E27FC236}">
                <a16:creationId xmlns:a16="http://schemas.microsoft.com/office/drawing/2014/main" id="{E113FA6F-A2BE-5548-BEE2-1C1603A7CE05}"/>
              </a:ext>
            </a:extLst>
          </p:cNvPr>
          <p:cNvSpPr txBox="1"/>
          <p:nvPr/>
        </p:nvSpPr>
        <p:spPr>
          <a:xfrm>
            <a:off x="4419600" y="2523359"/>
            <a:ext cx="4562468" cy="1446550"/>
          </a:xfrm>
          <a:prstGeom prst="rect">
            <a:avLst/>
          </a:prstGeom>
          <a:noFill/>
        </p:spPr>
        <p:txBody>
          <a:bodyPr wrap="square" rtlCol="0">
            <a:spAutoFit/>
          </a:bodyPr>
          <a:lstStyle/>
          <a:p>
            <a:pPr algn="ctr"/>
            <a:r>
              <a:rPr lang="en-US" sz="2200" dirty="0"/>
              <a:t>the problem (as it often is) is that </a:t>
            </a:r>
            <a:r>
              <a:rPr lang="en-US" sz="2200" b="1" dirty="0"/>
              <a:t>we lose type information </a:t>
            </a:r>
            <a:r>
              <a:rPr lang="en-US" sz="2200" dirty="0"/>
              <a:t>in the translation from the source language to the target language.</a:t>
            </a:r>
            <a:endParaRPr lang="en-US" sz="2200" b="1" dirty="0"/>
          </a:p>
        </p:txBody>
      </p:sp>
      <p:sp>
        <p:nvSpPr>
          <p:cNvPr id="8" name="TextBox 7">
            <a:extLst>
              <a:ext uri="{FF2B5EF4-FFF2-40B4-BE49-F238E27FC236}">
                <a16:creationId xmlns:a16="http://schemas.microsoft.com/office/drawing/2014/main" id="{AA5200CB-A942-3B4B-B50F-BB3A258A2233}"/>
              </a:ext>
            </a:extLst>
          </p:cNvPr>
          <p:cNvSpPr txBox="1"/>
          <p:nvPr/>
        </p:nvSpPr>
        <p:spPr>
          <a:xfrm>
            <a:off x="4648200" y="4248714"/>
            <a:ext cx="4105268" cy="769441"/>
          </a:xfrm>
          <a:prstGeom prst="rect">
            <a:avLst/>
          </a:prstGeom>
          <a:noFill/>
        </p:spPr>
        <p:txBody>
          <a:bodyPr wrap="square" rtlCol="0">
            <a:spAutoFit/>
          </a:bodyPr>
          <a:lstStyle/>
          <a:p>
            <a:pPr algn="ctr"/>
            <a:r>
              <a:rPr lang="en-US" sz="2200" dirty="0"/>
              <a:t>so, let's… </a:t>
            </a:r>
            <a:r>
              <a:rPr lang="en-US" sz="2200" i="1" dirty="0"/>
              <a:t>not</a:t>
            </a:r>
            <a:r>
              <a:rPr lang="en-US" sz="2200" dirty="0"/>
              <a:t> do that. </a:t>
            </a:r>
            <a:r>
              <a:rPr lang="en-US" sz="2200" b="1" dirty="0"/>
              <a:t>let's keep some of that type info.</a:t>
            </a:r>
          </a:p>
        </p:txBody>
      </p:sp>
      <p:sp>
        <p:nvSpPr>
          <p:cNvPr id="9" name="Rectangle 8">
            <a:extLst>
              <a:ext uri="{FF2B5EF4-FFF2-40B4-BE49-F238E27FC236}">
                <a16:creationId xmlns:a16="http://schemas.microsoft.com/office/drawing/2014/main" id="{8719E9BD-FEFB-FA45-A5BD-1DC2D518BCBF}"/>
              </a:ext>
            </a:extLst>
          </p:cNvPr>
          <p:cNvSpPr/>
          <p:nvPr/>
        </p:nvSpPr>
        <p:spPr>
          <a:xfrm>
            <a:off x="314326" y="2324100"/>
            <a:ext cx="4191000" cy="3046988"/>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print(a: Animal) {</a:t>
            </a:r>
          </a:p>
          <a:p>
            <a:r>
              <a:rPr lang="en-US" sz="2000" i="1" dirty="0">
                <a:solidFill>
                  <a:schemeClr val="accent3">
                    <a:lumMod val="50000"/>
                  </a:schemeClr>
                </a:solidFill>
                <a:latin typeface="Consolas" panose="020B0609020204030204" pitchFamily="49" charset="0"/>
                <a:cs typeface="Consolas" panose="020B0609020204030204" pitchFamily="49" charset="0"/>
              </a:rPr>
              <a:t>  // how does this call to</a:t>
            </a:r>
          </a:p>
          <a:p>
            <a:r>
              <a:rPr lang="en-US" sz="2000" i="1" dirty="0">
                <a:solidFill>
                  <a:schemeClr val="accent3">
                    <a:lumMod val="50000"/>
                  </a:schemeClr>
                </a:solidFill>
                <a:latin typeface="Consolas" panose="020B0609020204030204" pitchFamily="49" charset="0"/>
                <a:cs typeface="Consolas" panose="020B0609020204030204" pitchFamily="49" charset="0"/>
              </a:rPr>
              <a:t>  // </a:t>
            </a:r>
            <a:r>
              <a:rPr lang="en-US" sz="2000" i="1" dirty="0" err="1">
                <a:solidFill>
                  <a:schemeClr val="accent3">
                    <a:lumMod val="50000"/>
                  </a:schemeClr>
                </a:solidFill>
                <a:latin typeface="Consolas" panose="020B0609020204030204" pitchFamily="49" charset="0"/>
                <a:cs typeface="Consolas" panose="020B0609020204030204" pitchFamily="49" charset="0"/>
              </a:rPr>
              <a:t>to_string</a:t>
            </a:r>
            <a:r>
              <a:rPr lang="en-US" sz="2000" i="1" dirty="0">
                <a:solidFill>
                  <a:schemeClr val="accent3">
                    <a:lumMod val="50000"/>
                  </a:schemeClr>
                </a:solidFill>
                <a:latin typeface="Consolas" panose="020B0609020204030204" pitchFamily="49" charset="0"/>
                <a:cs typeface="Consolas" panose="020B0609020204030204" pitchFamily="49" charset="0"/>
              </a:rPr>
              <a:t> know which</a:t>
            </a:r>
          </a:p>
          <a:p>
            <a:r>
              <a:rPr lang="en-US" sz="2000" i="1" dirty="0">
                <a:solidFill>
                  <a:schemeClr val="accent3">
                    <a:lumMod val="50000"/>
                  </a:schemeClr>
                </a:solidFill>
                <a:latin typeface="Consolas" panose="020B0609020204030204" pitchFamily="49" charset="0"/>
                <a:cs typeface="Consolas" panose="020B0609020204030204" pitchFamily="49" charset="0"/>
              </a:rPr>
              <a:t>  // implementation to use?</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a.to_string</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endParaRPr lang="en-US" sz="1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print(</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Cat());</a:t>
            </a:r>
          </a:p>
          <a:p>
            <a:r>
              <a:rPr lang="en-US" sz="2000" b="1" dirty="0">
                <a:latin typeface="Consolas" panose="020B0609020204030204" pitchFamily="49" charset="0"/>
                <a:cs typeface="Consolas" panose="020B0609020204030204" pitchFamily="49" charset="0"/>
              </a:rPr>
              <a:t>print(</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Dog()); </a:t>
            </a:r>
          </a:p>
          <a:p>
            <a:r>
              <a:rPr lang="en-US" sz="2000" b="1" dirty="0">
                <a:latin typeface="Consolas" panose="020B0609020204030204" pitchFamily="49" charset="0"/>
                <a:cs typeface="Consolas" panose="020B0609020204030204" pitchFamily="49" charset="0"/>
              </a:rPr>
              <a:t>print(</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Horse());</a:t>
            </a:r>
          </a:p>
        </p:txBody>
      </p:sp>
    </p:spTree>
    <p:extLst>
      <p:ext uri="{BB962C8B-B14F-4D97-AF65-F5344CB8AC3E}">
        <p14:creationId xmlns:p14="http://schemas.microsoft.com/office/powerpoint/2010/main" val="8182784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uiExpand="1" bldLvl="5"/>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23CD-6D56-2047-A6D6-A434A34C87C9}"/>
              </a:ext>
            </a:extLst>
          </p:cNvPr>
          <p:cNvSpPr>
            <a:spLocks noGrp="1"/>
          </p:cNvSpPr>
          <p:nvPr>
            <p:ph type="ctrTitle"/>
          </p:nvPr>
        </p:nvSpPr>
        <p:spPr/>
        <p:txBody>
          <a:bodyPr/>
          <a:lstStyle/>
          <a:p>
            <a:r>
              <a:rPr lang="en-US" dirty="0"/>
              <a:t>Virtual Methods and Dynamic Dispatch</a:t>
            </a:r>
          </a:p>
        </p:txBody>
      </p:sp>
      <p:sp>
        <p:nvSpPr>
          <p:cNvPr id="3" name="Slide Number Placeholder 2">
            <a:extLst>
              <a:ext uri="{FF2B5EF4-FFF2-40B4-BE49-F238E27FC236}">
                <a16:creationId xmlns:a16="http://schemas.microsoft.com/office/drawing/2014/main" id="{3B96A585-BDF0-9847-9141-B33755E5B6E2}"/>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20251964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C55E2-1E28-1C46-8027-4ED55C978F45}"/>
              </a:ext>
            </a:extLst>
          </p:cNvPr>
          <p:cNvSpPr>
            <a:spLocks noGrp="1"/>
          </p:cNvSpPr>
          <p:nvPr>
            <p:ph type="title"/>
          </p:nvPr>
        </p:nvSpPr>
        <p:spPr/>
        <p:txBody>
          <a:bodyPr/>
          <a:lstStyle/>
          <a:p>
            <a:r>
              <a:rPr lang="en-US" dirty="0"/>
              <a:t>RTTI (Run-time Type Identification)</a:t>
            </a:r>
          </a:p>
        </p:txBody>
      </p:sp>
      <p:sp>
        <p:nvSpPr>
          <p:cNvPr id="3" name="Content Placeholder 2">
            <a:extLst>
              <a:ext uri="{FF2B5EF4-FFF2-40B4-BE49-F238E27FC236}">
                <a16:creationId xmlns:a16="http://schemas.microsoft.com/office/drawing/2014/main" id="{926928E9-20D9-094B-8C0E-B89D6073700F}"/>
              </a:ext>
            </a:extLst>
          </p:cNvPr>
          <p:cNvSpPr>
            <a:spLocks noGrp="1"/>
          </p:cNvSpPr>
          <p:nvPr>
            <p:ph idx="1"/>
          </p:nvPr>
        </p:nvSpPr>
        <p:spPr>
          <a:xfrm>
            <a:off x="152400" y="495301"/>
            <a:ext cx="8991600" cy="838199"/>
          </a:xfrm>
        </p:spPr>
        <p:txBody>
          <a:bodyPr/>
          <a:lstStyle/>
          <a:p>
            <a:r>
              <a:rPr lang="en-US" dirty="0"/>
              <a:t>the solution is to make each class instance </a:t>
            </a:r>
            <a:r>
              <a:rPr lang="en-US" b="1" dirty="0"/>
              <a:t>carry an ID card.</a:t>
            </a:r>
          </a:p>
          <a:p>
            <a:pPr lvl="1"/>
            <a:r>
              <a:rPr lang="en-US" dirty="0"/>
              <a:t>this is implemented as a "secret" field in </a:t>
            </a:r>
            <a:r>
              <a:rPr lang="en-US" b="1" dirty="0"/>
              <a:t>every </a:t>
            </a:r>
            <a:r>
              <a:rPr lang="en-US" dirty="0"/>
              <a:t>class instance.</a:t>
            </a:r>
          </a:p>
        </p:txBody>
      </p:sp>
      <p:sp>
        <p:nvSpPr>
          <p:cNvPr id="4" name="Slide Number Placeholder 3">
            <a:extLst>
              <a:ext uri="{FF2B5EF4-FFF2-40B4-BE49-F238E27FC236}">
                <a16:creationId xmlns:a16="http://schemas.microsoft.com/office/drawing/2014/main" id="{511C1ECB-07AD-AF4A-8EBC-667D0D220553}"/>
              </a:ext>
            </a:extLst>
          </p:cNvPr>
          <p:cNvSpPr>
            <a:spLocks noGrp="1"/>
          </p:cNvSpPr>
          <p:nvPr>
            <p:ph type="sldNum" sz="quarter" idx="12"/>
          </p:nvPr>
        </p:nvSpPr>
        <p:spPr/>
        <p:txBody>
          <a:bodyPr/>
          <a:lstStyle/>
          <a:p>
            <a:fld id="{3552B95B-556F-44BD-91A5-D80C1B9E2BB3}" type="slidenum">
              <a:rPr lang="en-US" smtClean="0"/>
              <a:pPr/>
              <a:t>28</a:t>
            </a:fld>
            <a:endParaRPr lang="en-US"/>
          </a:p>
        </p:txBody>
      </p:sp>
      <p:sp>
        <p:nvSpPr>
          <p:cNvPr id="5" name="Rectangle 4">
            <a:extLst>
              <a:ext uri="{FF2B5EF4-FFF2-40B4-BE49-F238E27FC236}">
                <a16:creationId xmlns:a16="http://schemas.microsoft.com/office/drawing/2014/main" id="{3814CB46-677D-4C47-A88C-77F4DB51F9D3}"/>
              </a:ext>
            </a:extLst>
          </p:cNvPr>
          <p:cNvSpPr/>
          <p:nvPr/>
        </p:nvSpPr>
        <p:spPr>
          <a:xfrm>
            <a:off x="228600" y="1333500"/>
            <a:ext cx="28956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c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Cat(…);</a:t>
            </a:r>
          </a:p>
        </p:txBody>
      </p:sp>
      <p:sp>
        <p:nvSpPr>
          <p:cNvPr id="6" name="Rectangle 5">
            <a:extLst>
              <a:ext uri="{FF2B5EF4-FFF2-40B4-BE49-F238E27FC236}">
                <a16:creationId xmlns:a16="http://schemas.microsoft.com/office/drawing/2014/main" id="{779E43F4-BDDC-A449-959C-601CC279A739}"/>
              </a:ext>
            </a:extLst>
          </p:cNvPr>
          <p:cNvSpPr/>
          <p:nvPr/>
        </p:nvSpPr>
        <p:spPr>
          <a:xfrm>
            <a:off x="228600" y="2907887"/>
            <a:ext cx="28956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d = </a:t>
            </a:r>
            <a:r>
              <a:rPr lang="en-US" sz="2200" b="1" dirty="0">
                <a:solidFill>
                  <a:srgbClr val="FF0000"/>
                </a:solidFill>
                <a:latin typeface="Consolas" panose="020B0609020204030204" pitchFamily="49" charset="0"/>
                <a:cs typeface="Consolas" panose="020B0609020204030204" pitchFamily="49" charset="0"/>
              </a:rPr>
              <a:t>new </a:t>
            </a:r>
            <a:r>
              <a:rPr lang="en-US" sz="2200" b="1" dirty="0">
                <a:latin typeface="Consolas" panose="020B0609020204030204" pitchFamily="49" charset="0"/>
                <a:cs typeface="Consolas" panose="020B0609020204030204" pitchFamily="49" charset="0"/>
              </a:rPr>
              <a:t>Dog(…);</a:t>
            </a:r>
          </a:p>
        </p:txBody>
      </p:sp>
      <p:sp>
        <p:nvSpPr>
          <p:cNvPr id="11" name="Bent-Up Arrow 10">
            <a:extLst>
              <a:ext uri="{FF2B5EF4-FFF2-40B4-BE49-F238E27FC236}">
                <a16:creationId xmlns:a16="http://schemas.microsoft.com/office/drawing/2014/main" id="{5FFCB68E-0D6F-A44E-A031-A3AEAE75D762}"/>
              </a:ext>
            </a:extLst>
          </p:cNvPr>
          <p:cNvSpPr/>
          <p:nvPr/>
        </p:nvSpPr>
        <p:spPr>
          <a:xfrm rot="5400000">
            <a:off x="218747" y="1914199"/>
            <a:ext cx="659786" cy="312420"/>
          </a:xfrm>
          <a:prstGeom prst="bentUpArrow">
            <a:avLst>
              <a:gd name="adj1" fmla="val 18826"/>
              <a:gd name="adj2" fmla="val 31656"/>
              <a:gd name="adj3" fmla="val 4634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D56D8F2-13B7-4743-91CA-FEECB959E091}"/>
              </a:ext>
            </a:extLst>
          </p:cNvPr>
          <p:cNvSpPr/>
          <p:nvPr/>
        </p:nvSpPr>
        <p:spPr>
          <a:xfrm>
            <a:off x="762000" y="1795165"/>
            <a:ext cx="3124200" cy="1062335"/>
          </a:xfrm>
          <a:prstGeom prst="roundRect">
            <a:avLst>
              <a:gd name="adj" fmla="val 5011"/>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latin typeface="Consolas" panose="020B0609020204030204" pitchFamily="49" charset="0"/>
                <a:cs typeface="Consolas" panose="020B0609020204030204" pitchFamily="49" charset="0"/>
              </a:rPr>
              <a:t>type: Cat</a:t>
            </a:r>
          </a:p>
          <a:p>
            <a:r>
              <a:rPr lang="en-US" sz="1800" b="1" dirty="0">
                <a:solidFill>
                  <a:schemeClr val="tx1"/>
                </a:solidFill>
                <a:latin typeface="Consolas" panose="020B0609020204030204" pitchFamily="49" charset="0"/>
                <a:cs typeface="Consolas" panose="020B0609020204030204" pitchFamily="49" charset="0"/>
              </a:rPr>
              <a:t>species: </a:t>
            </a:r>
            <a:r>
              <a:rPr lang="en-US" sz="1800" b="1" dirty="0">
                <a:solidFill>
                  <a:schemeClr val="accent6">
                    <a:lumMod val="75000"/>
                  </a:schemeClr>
                </a:solidFill>
                <a:latin typeface="Consolas" panose="020B0609020204030204" pitchFamily="49" charset="0"/>
                <a:cs typeface="Consolas" panose="020B0609020204030204" pitchFamily="49" charset="0"/>
              </a:rPr>
              <a:t>"</a:t>
            </a:r>
            <a:r>
              <a:rPr lang="en-US" sz="1800" b="1" dirty="0" err="1">
                <a:solidFill>
                  <a:schemeClr val="accent6">
                    <a:lumMod val="75000"/>
                  </a:schemeClr>
                </a:solidFill>
                <a:latin typeface="Consolas" panose="020B0609020204030204" pitchFamily="49" charset="0"/>
                <a:cs typeface="Consolas" panose="020B0609020204030204" pitchFamily="49" charset="0"/>
              </a:rPr>
              <a:t>felis</a:t>
            </a:r>
            <a:r>
              <a:rPr lang="en-US" sz="1800" b="1" dirty="0">
                <a:solidFill>
                  <a:schemeClr val="accent6">
                    <a:lumMod val="75000"/>
                  </a:schemeClr>
                </a:solidFill>
                <a:latin typeface="Consolas" panose="020B0609020204030204" pitchFamily="49" charset="0"/>
                <a:cs typeface="Consolas" panose="020B0609020204030204" pitchFamily="49" charset="0"/>
              </a:rPr>
              <a:t> </a:t>
            </a:r>
            <a:r>
              <a:rPr lang="en-US" sz="1800" b="1" dirty="0" err="1">
                <a:solidFill>
                  <a:schemeClr val="accent6">
                    <a:lumMod val="75000"/>
                  </a:schemeClr>
                </a:solidFill>
                <a:latin typeface="Consolas" panose="020B0609020204030204" pitchFamily="49" charset="0"/>
                <a:cs typeface="Consolas" panose="020B0609020204030204" pitchFamily="49" charset="0"/>
              </a:rPr>
              <a:t>cattus</a:t>
            </a:r>
            <a:r>
              <a:rPr lang="en-US" sz="1800" b="1" dirty="0">
                <a:solidFill>
                  <a:schemeClr val="accent6">
                    <a:lumMod val="75000"/>
                  </a:schemeClr>
                </a:solidFill>
                <a:latin typeface="Consolas" panose="020B0609020204030204" pitchFamily="49" charset="0"/>
                <a:cs typeface="Consolas" panose="020B0609020204030204" pitchFamily="49" charset="0"/>
              </a:rPr>
              <a:t>"</a:t>
            </a:r>
          </a:p>
          <a:p>
            <a:r>
              <a:rPr lang="en-US" sz="1800" b="1" dirty="0">
                <a:solidFill>
                  <a:schemeClr val="tx1"/>
                </a:solidFill>
                <a:latin typeface="Consolas" panose="020B0609020204030204" pitchFamily="49" charset="0"/>
                <a:cs typeface="Consolas" panose="020B0609020204030204" pitchFamily="49" charset="0"/>
              </a:rPr>
              <a:t>whiskers: </a:t>
            </a:r>
            <a:r>
              <a:rPr lang="en-US" sz="1800" b="1" dirty="0">
                <a:solidFill>
                  <a:schemeClr val="accent3">
                    <a:lumMod val="75000"/>
                  </a:schemeClr>
                </a:solidFill>
                <a:latin typeface="Consolas" panose="020B0609020204030204" pitchFamily="49" charset="0"/>
                <a:cs typeface="Consolas" panose="020B0609020204030204" pitchFamily="49" charset="0"/>
              </a:rPr>
              <a:t>15</a:t>
            </a:r>
          </a:p>
        </p:txBody>
      </p:sp>
      <p:sp>
        <p:nvSpPr>
          <p:cNvPr id="15" name="Rounded Rectangle 14">
            <a:extLst>
              <a:ext uri="{FF2B5EF4-FFF2-40B4-BE49-F238E27FC236}">
                <a16:creationId xmlns:a16="http://schemas.microsoft.com/office/drawing/2014/main" id="{C8E2EFA1-2423-2B40-9127-B69651728D15}"/>
              </a:ext>
            </a:extLst>
          </p:cNvPr>
          <p:cNvSpPr/>
          <p:nvPr/>
        </p:nvSpPr>
        <p:spPr>
          <a:xfrm>
            <a:off x="762000" y="3484112"/>
            <a:ext cx="3124200" cy="1062335"/>
          </a:xfrm>
          <a:prstGeom prst="roundRect">
            <a:avLst>
              <a:gd name="adj" fmla="val 5011"/>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latin typeface="Consolas" panose="020B0609020204030204" pitchFamily="49" charset="0"/>
                <a:cs typeface="Consolas" panose="020B0609020204030204" pitchFamily="49" charset="0"/>
              </a:rPr>
              <a:t>type: Dog</a:t>
            </a:r>
          </a:p>
          <a:p>
            <a:r>
              <a:rPr lang="en-US" sz="1800" b="1" dirty="0">
                <a:solidFill>
                  <a:schemeClr val="tx1"/>
                </a:solidFill>
                <a:latin typeface="Consolas" panose="020B0609020204030204" pitchFamily="49" charset="0"/>
                <a:cs typeface="Consolas" panose="020B0609020204030204" pitchFamily="49" charset="0"/>
              </a:rPr>
              <a:t>species: </a:t>
            </a:r>
            <a:r>
              <a:rPr lang="en-US" sz="1800" b="1" dirty="0">
                <a:solidFill>
                  <a:schemeClr val="accent6">
                    <a:lumMod val="75000"/>
                  </a:schemeClr>
                </a:solidFill>
                <a:latin typeface="Consolas" panose="020B0609020204030204" pitchFamily="49" charset="0"/>
                <a:cs typeface="Consolas" panose="020B0609020204030204" pitchFamily="49" charset="0"/>
              </a:rPr>
              <a:t>"</a:t>
            </a:r>
            <a:r>
              <a:rPr lang="en-US" sz="1800" b="1" dirty="0" err="1">
                <a:solidFill>
                  <a:schemeClr val="accent6">
                    <a:lumMod val="75000"/>
                  </a:schemeClr>
                </a:solidFill>
                <a:latin typeface="Consolas" panose="020B0609020204030204" pitchFamily="49" charset="0"/>
                <a:cs typeface="Consolas" panose="020B0609020204030204" pitchFamily="49" charset="0"/>
              </a:rPr>
              <a:t>canis</a:t>
            </a:r>
            <a:r>
              <a:rPr lang="en-US" sz="1800" b="1" dirty="0">
                <a:solidFill>
                  <a:schemeClr val="accent6">
                    <a:lumMod val="75000"/>
                  </a:schemeClr>
                </a:solidFill>
                <a:latin typeface="Consolas" panose="020B0609020204030204" pitchFamily="49" charset="0"/>
                <a:cs typeface="Consolas" panose="020B0609020204030204" pitchFamily="49" charset="0"/>
              </a:rPr>
              <a:t> lupus"</a:t>
            </a:r>
          </a:p>
          <a:p>
            <a:r>
              <a:rPr lang="en-US" sz="1800" b="1" dirty="0" err="1">
                <a:solidFill>
                  <a:schemeClr val="tx1"/>
                </a:solidFill>
                <a:latin typeface="Consolas" panose="020B0609020204030204" pitchFamily="49" charset="0"/>
                <a:cs typeface="Consolas" panose="020B0609020204030204" pitchFamily="49" charset="0"/>
              </a:rPr>
              <a:t>drooly</a:t>
            </a:r>
            <a:r>
              <a:rPr lang="en-US" sz="1800" b="1" dirty="0">
                <a:solidFill>
                  <a:schemeClr val="tx1"/>
                </a:solidFill>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true</a:t>
            </a:r>
          </a:p>
        </p:txBody>
      </p:sp>
      <p:sp>
        <p:nvSpPr>
          <p:cNvPr id="16" name="Bent-Up Arrow 15">
            <a:extLst>
              <a:ext uri="{FF2B5EF4-FFF2-40B4-BE49-F238E27FC236}">
                <a16:creationId xmlns:a16="http://schemas.microsoft.com/office/drawing/2014/main" id="{F24900DA-CD8D-1F4A-BF16-303425DABC3D}"/>
              </a:ext>
            </a:extLst>
          </p:cNvPr>
          <p:cNvSpPr/>
          <p:nvPr/>
        </p:nvSpPr>
        <p:spPr>
          <a:xfrm rot="5400000">
            <a:off x="218747" y="3543235"/>
            <a:ext cx="659786" cy="312420"/>
          </a:xfrm>
          <a:prstGeom prst="bentUpArrow">
            <a:avLst>
              <a:gd name="adj1" fmla="val 18826"/>
              <a:gd name="adj2" fmla="val 31656"/>
              <a:gd name="adj3" fmla="val 4634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D13D0DD-6CB6-E549-A374-E47655A1916B}"/>
              </a:ext>
            </a:extLst>
          </p:cNvPr>
          <p:cNvSpPr/>
          <p:nvPr/>
        </p:nvSpPr>
        <p:spPr>
          <a:xfrm>
            <a:off x="4124325" y="1369034"/>
            <a:ext cx="4410075" cy="1107996"/>
          </a:xfrm>
          <a:prstGeom prst="rect">
            <a:avLst/>
          </a:prstGeom>
        </p:spPr>
        <p:txBody>
          <a:bodyPr wrap="square">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print(a: Animal)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println_s</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a.to_string</a:t>
            </a:r>
            <a:r>
              <a:rPr lang="en-US" sz="2200" b="1" dirty="0">
                <a:latin typeface="Consolas" panose="020B0609020204030204" pitchFamily="49" charset="0"/>
                <a:cs typeface="Consolas" panose="020B0609020204030204" pitchFamily="49" charset="0"/>
              </a:rPr>
              <a:t>());</a:t>
            </a:r>
            <a:br>
              <a:rPr lang="en-US" sz="2200" b="1" dirty="0">
                <a:latin typeface="Consolas" panose="020B0609020204030204" pitchFamily="49" charset="0"/>
                <a:cs typeface="Consolas" panose="020B0609020204030204" pitchFamily="49" charset="0"/>
              </a:rPr>
            </a:br>
            <a:r>
              <a:rPr lang="en-US" sz="2200" b="1" dirty="0">
                <a:latin typeface="Consolas" panose="020B0609020204030204" pitchFamily="49" charset="0"/>
                <a:cs typeface="Consolas" panose="020B0609020204030204" pitchFamily="49" charset="0"/>
              </a:rPr>
              <a:t>}</a:t>
            </a:r>
          </a:p>
        </p:txBody>
      </p:sp>
      <p:sp>
        <p:nvSpPr>
          <p:cNvPr id="19" name="Rectangle 18">
            <a:extLst>
              <a:ext uri="{FF2B5EF4-FFF2-40B4-BE49-F238E27FC236}">
                <a16:creationId xmlns:a16="http://schemas.microsoft.com/office/drawing/2014/main" id="{4ED98A4D-D80A-8142-8F02-6E837F2BB814}"/>
              </a:ext>
            </a:extLst>
          </p:cNvPr>
          <p:cNvSpPr/>
          <p:nvPr/>
        </p:nvSpPr>
        <p:spPr>
          <a:xfrm>
            <a:off x="4152900" y="3100797"/>
            <a:ext cx="4410075" cy="1785104"/>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a.type</a:t>
            </a:r>
            <a:r>
              <a:rPr lang="en-US" sz="2200" b="1" dirty="0">
                <a:latin typeface="Consolas" panose="020B0609020204030204" pitchFamily="49" charset="0"/>
                <a:cs typeface="Consolas" panose="020B0609020204030204" pitchFamily="49" charset="0"/>
              </a:rPr>
              <a:t> == Cat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Cat.to_string</a:t>
            </a:r>
            <a:r>
              <a:rPr lang="en-US" sz="2200" b="1" dirty="0">
                <a:latin typeface="Consolas" panose="020B0609020204030204" pitchFamily="49" charset="0"/>
                <a:cs typeface="Consolas" panose="020B0609020204030204" pitchFamily="49" charset="0"/>
              </a:rPr>
              <a:t>(a)</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else if</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a.type</a:t>
            </a:r>
            <a:r>
              <a:rPr lang="en-US" sz="2200" b="1" dirty="0">
                <a:latin typeface="Consolas" panose="020B0609020204030204" pitchFamily="49" charset="0"/>
                <a:cs typeface="Consolas" panose="020B0609020204030204" pitchFamily="49" charset="0"/>
              </a:rPr>
              <a:t> == Dog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Dog.to_string</a:t>
            </a:r>
            <a:r>
              <a:rPr lang="en-US" sz="2200" b="1" dirty="0">
                <a:latin typeface="Consolas" panose="020B0609020204030204" pitchFamily="49" charset="0"/>
                <a:cs typeface="Consolas" panose="020B0609020204030204" pitchFamily="49" charset="0"/>
              </a:rPr>
              <a:t>(a)</a:t>
            </a:r>
          </a:p>
          <a:p>
            <a:r>
              <a:rPr lang="en-US" sz="2200" b="1" dirty="0">
                <a:latin typeface="Consolas" panose="020B0609020204030204" pitchFamily="49" charset="0"/>
                <a:cs typeface="Consolas" panose="020B0609020204030204" pitchFamily="49" charset="0"/>
              </a:rPr>
              <a:t>}</a:t>
            </a:r>
          </a:p>
        </p:txBody>
      </p:sp>
      <p:grpSp>
        <p:nvGrpSpPr>
          <p:cNvPr id="26" name="Group 25">
            <a:extLst>
              <a:ext uri="{FF2B5EF4-FFF2-40B4-BE49-F238E27FC236}">
                <a16:creationId xmlns:a16="http://schemas.microsoft.com/office/drawing/2014/main" id="{6387E944-D372-3042-81B3-434BE2336D41}"/>
              </a:ext>
            </a:extLst>
          </p:cNvPr>
          <p:cNvGrpSpPr/>
          <p:nvPr/>
        </p:nvGrpSpPr>
        <p:grpSpPr>
          <a:xfrm>
            <a:off x="3943350" y="2135943"/>
            <a:ext cx="4410075" cy="959830"/>
            <a:chOff x="3943350" y="2135943"/>
            <a:chExt cx="4410075" cy="959830"/>
          </a:xfrm>
        </p:grpSpPr>
        <p:sp>
          <p:nvSpPr>
            <p:cNvPr id="20" name="TextBox 19">
              <a:extLst>
                <a:ext uri="{FF2B5EF4-FFF2-40B4-BE49-F238E27FC236}">
                  <a16:creationId xmlns:a16="http://schemas.microsoft.com/office/drawing/2014/main" id="{FA2ECBAB-C72E-2A48-AB3E-1708C84E5CAE}"/>
                </a:ext>
              </a:extLst>
            </p:cNvPr>
            <p:cNvSpPr txBox="1"/>
            <p:nvPr/>
          </p:nvSpPr>
          <p:spPr>
            <a:xfrm>
              <a:off x="3943350" y="2326332"/>
              <a:ext cx="4410075" cy="769441"/>
            </a:xfrm>
            <a:prstGeom prst="rect">
              <a:avLst/>
            </a:prstGeom>
            <a:noFill/>
          </p:spPr>
          <p:txBody>
            <a:bodyPr wrap="square" rtlCol="0">
              <a:spAutoFit/>
            </a:bodyPr>
            <a:lstStyle/>
            <a:p>
              <a:pPr algn="ctr"/>
              <a:r>
                <a:rPr lang="en-US" sz="2200" dirty="0"/>
                <a:t>this method call </a:t>
              </a:r>
              <a:r>
                <a:rPr lang="en-US" sz="2200" i="1" dirty="0"/>
                <a:t>could </a:t>
              </a:r>
              <a:r>
                <a:rPr lang="en-US" sz="2200" dirty="0"/>
                <a:t>be implemented something like:</a:t>
              </a:r>
              <a:endParaRPr lang="en-US" sz="2200" b="1" i="1" dirty="0">
                <a:latin typeface="Consolas" panose="020B0609020204030204" pitchFamily="49" charset="0"/>
                <a:cs typeface="Consolas" panose="020B0609020204030204" pitchFamily="49" charset="0"/>
              </a:endParaRPr>
            </a:p>
          </p:txBody>
        </p:sp>
        <p:cxnSp>
          <p:nvCxnSpPr>
            <p:cNvPr id="22" name="Straight Arrow Connector 21">
              <a:extLst>
                <a:ext uri="{FF2B5EF4-FFF2-40B4-BE49-F238E27FC236}">
                  <a16:creationId xmlns:a16="http://schemas.microsoft.com/office/drawing/2014/main" id="{80EAC2F2-4CE4-2346-8F16-934F1F5DB5F9}"/>
                </a:ext>
              </a:extLst>
            </p:cNvPr>
            <p:cNvCxnSpPr>
              <a:cxnSpLocks/>
            </p:cNvCxnSpPr>
            <p:nvPr/>
          </p:nvCxnSpPr>
          <p:spPr>
            <a:xfrm flipV="1">
              <a:off x="6148387" y="2135943"/>
              <a:ext cx="0" cy="2643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54DF3967-22AF-8942-9502-041652EDA2B6}"/>
              </a:ext>
            </a:extLst>
          </p:cNvPr>
          <p:cNvSpPr txBox="1"/>
          <p:nvPr/>
        </p:nvSpPr>
        <p:spPr>
          <a:xfrm>
            <a:off x="3609974" y="4957506"/>
            <a:ext cx="5076825" cy="430887"/>
          </a:xfrm>
          <a:prstGeom prst="rect">
            <a:avLst/>
          </a:prstGeom>
          <a:noFill/>
        </p:spPr>
        <p:txBody>
          <a:bodyPr wrap="square" rtlCol="0">
            <a:spAutoFit/>
          </a:bodyPr>
          <a:lstStyle/>
          <a:p>
            <a:pPr algn="ctr"/>
            <a:r>
              <a:rPr lang="en-US" sz="2200" dirty="0"/>
              <a:t>but that would be horribly inefficient.</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926265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animBg="1"/>
      <p:bldP spid="12" grpId="0" animBg="1"/>
      <p:bldP spid="15" grpId="0" animBg="1"/>
      <p:bldP spid="16" grpId="0" animBg="1"/>
      <p:bldP spid="18" grpId="0"/>
      <p:bldP spid="19"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B3571-58BD-AA49-A581-43C2CC7EF3A7}"/>
              </a:ext>
            </a:extLst>
          </p:cNvPr>
          <p:cNvSpPr>
            <a:spLocks noGrp="1"/>
          </p:cNvSpPr>
          <p:nvPr>
            <p:ph type="title"/>
          </p:nvPr>
        </p:nvSpPr>
        <p:spPr/>
        <p:txBody>
          <a:bodyPr/>
          <a:lstStyle/>
          <a:p>
            <a:r>
              <a:rPr lang="en-US" dirty="0"/>
              <a:t>Virtual method tables (</a:t>
            </a:r>
            <a:r>
              <a:rPr lang="en-US" dirty="0" err="1"/>
              <a:t>vtables</a:t>
            </a:r>
            <a:r>
              <a:rPr lang="en-US" dirty="0"/>
              <a:t>)</a:t>
            </a:r>
          </a:p>
        </p:txBody>
      </p:sp>
      <p:sp>
        <p:nvSpPr>
          <p:cNvPr id="3" name="Content Placeholder 2">
            <a:extLst>
              <a:ext uri="{FF2B5EF4-FFF2-40B4-BE49-F238E27FC236}">
                <a16:creationId xmlns:a16="http://schemas.microsoft.com/office/drawing/2014/main" id="{80D93883-993B-1E43-A6EF-5C5E05190283}"/>
              </a:ext>
            </a:extLst>
          </p:cNvPr>
          <p:cNvSpPr>
            <a:spLocks noGrp="1"/>
          </p:cNvSpPr>
          <p:nvPr>
            <p:ph idx="1"/>
          </p:nvPr>
        </p:nvSpPr>
        <p:spPr>
          <a:xfrm>
            <a:off x="152400" y="495301"/>
            <a:ext cx="8991600" cy="914399"/>
          </a:xfrm>
        </p:spPr>
        <p:txBody>
          <a:bodyPr/>
          <a:lstStyle/>
          <a:p>
            <a:r>
              <a:rPr lang="en-US" dirty="0"/>
              <a:t>to implement this </a:t>
            </a:r>
            <a:r>
              <a:rPr lang="en-US" b="1" dirty="0"/>
              <a:t>efficiently</a:t>
            </a:r>
            <a:r>
              <a:rPr lang="en-US" i="1" dirty="0"/>
              <a:t>, </a:t>
            </a:r>
            <a:r>
              <a:rPr lang="en-US" dirty="0"/>
              <a:t>and to allow an </a:t>
            </a:r>
            <a:r>
              <a:rPr lang="en-US" b="1" dirty="0"/>
              <a:t>unlimited</a:t>
            </a:r>
            <a:r>
              <a:rPr lang="en-US" dirty="0"/>
              <a:t> number of subtypes, the "ID card" is a pointer to </a:t>
            </a:r>
            <a:r>
              <a:rPr lang="en-US" b="1" dirty="0"/>
              <a:t>an array of function pointers.</a:t>
            </a:r>
            <a:endParaRPr lang="en-US" dirty="0"/>
          </a:p>
        </p:txBody>
      </p:sp>
      <p:sp>
        <p:nvSpPr>
          <p:cNvPr id="4" name="Slide Number Placeholder 3">
            <a:extLst>
              <a:ext uri="{FF2B5EF4-FFF2-40B4-BE49-F238E27FC236}">
                <a16:creationId xmlns:a16="http://schemas.microsoft.com/office/drawing/2014/main" id="{A2FE198C-6C24-3D4F-83D5-1C21C1E53BF3}"/>
              </a:ext>
            </a:extLst>
          </p:cNvPr>
          <p:cNvSpPr>
            <a:spLocks noGrp="1"/>
          </p:cNvSpPr>
          <p:nvPr>
            <p:ph type="sldNum" sz="quarter" idx="12"/>
          </p:nvPr>
        </p:nvSpPr>
        <p:spPr/>
        <p:txBody>
          <a:bodyPr/>
          <a:lstStyle/>
          <a:p>
            <a:fld id="{3552B95B-556F-44BD-91A5-D80C1B9E2BB3}" type="slidenum">
              <a:rPr lang="en-US" smtClean="0"/>
              <a:pPr/>
              <a:t>29</a:t>
            </a:fld>
            <a:endParaRPr lang="en-US"/>
          </a:p>
        </p:txBody>
      </p:sp>
      <p:graphicFrame>
        <p:nvGraphicFramePr>
          <p:cNvPr id="5" name="Table 4">
            <a:extLst>
              <a:ext uri="{FF2B5EF4-FFF2-40B4-BE49-F238E27FC236}">
                <a16:creationId xmlns:a16="http://schemas.microsoft.com/office/drawing/2014/main" id="{258ABA53-1ECF-3A40-8601-0851B4DD49C6}"/>
              </a:ext>
            </a:extLst>
          </p:cNvPr>
          <p:cNvGraphicFramePr>
            <a:graphicFrameLocks noGrp="1"/>
          </p:cNvGraphicFramePr>
          <p:nvPr>
            <p:extLst>
              <p:ext uri="{D42A27DB-BD31-4B8C-83A1-F6EECF244321}">
                <p14:modId xmlns:p14="http://schemas.microsoft.com/office/powerpoint/2010/main" val="1466054468"/>
              </p:ext>
            </p:extLst>
          </p:nvPr>
        </p:nvGraphicFramePr>
        <p:xfrm>
          <a:off x="533400" y="1943100"/>
          <a:ext cx="1973580" cy="118872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201275354"/>
                    </a:ext>
                  </a:extLst>
                </a:gridCol>
                <a:gridCol w="1440180">
                  <a:extLst>
                    <a:ext uri="{9D8B030D-6E8A-4147-A177-3AD203B41FA5}">
                      <a16:colId xmlns:a16="http://schemas.microsoft.com/office/drawing/2014/main" val="1051893523"/>
                    </a:ext>
                  </a:extLst>
                </a:gridCol>
              </a:tblGrid>
              <a:tr h="370840">
                <a:tc>
                  <a:txBody>
                    <a:bodyPr/>
                    <a:lstStyle/>
                    <a:p>
                      <a:pPr algn="r"/>
                      <a:r>
                        <a:rPr lang="en-US" sz="2000" b="0" i="1" dirty="0">
                          <a:latin typeface="Consolas" panose="020B0609020204030204" pitchFamily="49" charset="0"/>
                          <a:cs typeface="Consolas" panose="020B0609020204030204" pitchFamily="49" charset="0"/>
                        </a:rPr>
                        <a:t>0</a:t>
                      </a:r>
                    </a:p>
                  </a:txBody>
                  <a:tcPr>
                    <a:noFill/>
                  </a:tcPr>
                </a:tc>
                <a:tc>
                  <a:txBody>
                    <a:bodyPr/>
                    <a:lstStyle/>
                    <a:p>
                      <a:r>
                        <a:rPr lang="en-US" sz="2000" b="0" i="1" dirty="0" err="1">
                          <a:latin typeface="Consolas" panose="020B0609020204030204" pitchFamily="49" charset="0"/>
                          <a:cs typeface="Consolas" panose="020B0609020204030204" pitchFamily="49" charset="0"/>
                        </a:rPr>
                        <a:t>vtbl</a:t>
                      </a:r>
                      <a:endParaRPr lang="en-US" sz="2000" b="0" i="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313431803"/>
                  </a:ext>
                </a:extLst>
              </a:tr>
              <a:tr h="370840">
                <a:tc>
                  <a:txBody>
                    <a:bodyPr/>
                    <a:lstStyle/>
                    <a:p>
                      <a:pPr algn="r"/>
                      <a:r>
                        <a:rPr lang="en-US" sz="2000" b="0" i="1" dirty="0">
                          <a:latin typeface="Consolas" panose="020B0609020204030204" pitchFamily="49" charset="0"/>
                          <a:cs typeface="Consolas" panose="020B0609020204030204" pitchFamily="49" charset="0"/>
                        </a:rPr>
                        <a:t>4</a:t>
                      </a:r>
                    </a:p>
                  </a:txBody>
                  <a:tcPr>
                    <a:noFill/>
                  </a:tcPr>
                </a:tc>
                <a:tc>
                  <a:txBody>
                    <a:bodyPr/>
                    <a:lstStyle/>
                    <a:p>
                      <a:r>
                        <a:rPr lang="en-US" sz="2000" b="1" dirty="0">
                          <a:latin typeface="Consolas" panose="020B0609020204030204" pitchFamily="49" charset="0"/>
                          <a:cs typeface="Consolas" panose="020B0609020204030204" pitchFamily="49" charset="0"/>
                        </a:rPr>
                        <a:t>species</a:t>
                      </a:r>
                    </a:p>
                  </a:txBody>
                  <a:tcPr/>
                </a:tc>
                <a:extLst>
                  <a:ext uri="{0D108BD9-81ED-4DB2-BD59-A6C34878D82A}">
                    <a16:rowId xmlns:a16="http://schemas.microsoft.com/office/drawing/2014/main" val="1739709510"/>
                  </a:ext>
                </a:extLst>
              </a:tr>
              <a:tr h="370840">
                <a:tc>
                  <a:txBody>
                    <a:bodyPr/>
                    <a:lstStyle/>
                    <a:p>
                      <a:pPr algn="r"/>
                      <a:r>
                        <a:rPr lang="en-US" sz="2000" b="0" i="1" dirty="0">
                          <a:latin typeface="Consolas" panose="020B0609020204030204" pitchFamily="49" charset="0"/>
                          <a:cs typeface="Consolas" panose="020B0609020204030204" pitchFamily="49" charset="0"/>
                        </a:rPr>
                        <a:t>8</a:t>
                      </a:r>
                    </a:p>
                  </a:txBody>
                  <a:tcPr>
                    <a:noFill/>
                  </a:tcPr>
                </a:tc>
                <a:tc>
                  <a:txBody>
                    <a:bodyPr/>
                    <a:lstStyle/>
                    <a:p>
                      <a:r>
                        <a:rPr lang="en-US" sz="2000" b="1" dirty="0">
                          <a:latin typeface="Consolas" panose="020B0609020204030204" pitchFamily="49" charset="0"/>
                          <a:cs typeface="Consolas" panose="020B0609020204030204" pitchFamily="49" charset="0"/>
                        </a:rPr>
                        <a:t>whiskers</a:t>
                      </a:r>
                    </a:p>
                  </a:txBody>
                  <a:tcPr/>
                </a:tc>
                <a:extLst>
                  <a:ext uri="{0D108BD9-81ED-4DB2-BD59-A6C34878D82A}">
                    <a16:rowId xmlns:a16="http://schemas.microsoft.com/office/drawing/2014/main" val="4147271392"/>
                  </a:ext>
                </a:extLst>
              </a:tr>
            </a:tbl>
          </a:graphicData>
        </a:graphic>
      </p:graphicFrame>
      <p:graphicFrame>
        <p:nvGraphicFramePr>
          <p:cNvPr id="6" name="Table 5">
            <a:extLst>
              <a:ext uri="{FF2B5EF4-FFF2-40B4-BE49-F238E27FC236}">
                <a16:creationId xmlns:a16="http://schemas.microsoft.com/office/drawing/2014/main" id="{8D3396DB-5257-EA41-AC02-93BD0621AA37}"/>
              </a:ext>
            </a:extLst>
          </p:cNvPr>
          <p:cNvGraphicFramePr>
            <a:graphicFrameLocks noGrp="1"/>
          </p:cNvGraphicFramePr>
          <p:nvPr>
            <p:extLst>
              <p:ext uri="{D42A27DB-BD31-4B8C-83A1-F6EECF244321}">
                <p14:modId xmlns:p14="http://schemas.microsoft.com/office/powerpoint/2010/main" val="1726578466"/>
              </p:ext>
            </p:extLst>
          </p:nvPr>
        </p:nvGraphicFramePr>
        <p:xfrm>
          <a:off x="533400" y="3757708"/>
          <a:ext cx="1973580" cy="118872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201275354"/>
                    </a:ext>
                  </a:extLst>
                </a:gridCol>
                <a:gridCol w="1440180">
                  <a:extLst>
                    <a:ext uri="{9D8B030D-6E8A-4147-A177-3AD203B41FA5}">
                      <a16:colId xmlns:a16="http://schemas.microsoft.com/office/drawing/2014/main" val="1051893523"/>
                    </a:ext>
                  </a:extLst>
                </a:gridCol>
              </a:tblGrid>
              <a:tr h="370840">
                <a:tc>
                  <a:txBody>
                    <a:bodyPr/>
                    <a:lstStyle/>
                    <a:p>
                      <a:pPr algn="r"/>
                      <a:r>
                        <a:rPr lang="en-US" sz="2000" b="0" i="1" dirty="0">
                          <a:latin typeface="Consolas" panose="020B0609020204030204" pitchFamily="49" charset="0"/>
                          <a:cs typeface="Consolas" panose="020B0609020204030204" pitchFamily="49" charset="0"/>
                        </a:rPr>
                        <a:t>0</a:t>
                      </a:r>
                    </a:p>
                  </a:txBody>
                  <a:tcPr>
                    <a:noFill/>
                  </a:tcPr>
                </a:tc>
                <a:tc>
                  <a:txBody>
                    <a:bodyPr/>
                    <a:lstStyle/>
                    <a:p>
                      <a:r>
                        <a:rPr lang="en-US" sz="2000" b="0" i="1" dirty="0" err="1">
                          <a:latin typeface="Consolas" panose="020B0609020204030204" pitchFamily="49" charset="0"/>
                          <a:cs typeface="Consolas" panose="020B0609020204030204" pitchFamily="49" charset="0"/>
                        </a:rPr>
                        <a:t>vtbl</a:t>
                      </a:r>
                      <a:endParaRPr lang="en-US" sz="2000" b="0" i="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313431803"/>
                  </a:ext>
                </a:extLst>
              </a:tr>
              <a:tr h="370840">
                <a:tc>
                  <a:txBody>
                    <a:bodyPr/>
                    <a:lstStyle/>
                    <a:p>
                      <a:pPr algn="r"/>
                      <a:r>
                        <a:rPr lang="en-US" sz="2000" b="0" i="1" dirty="0">
                          <a:latin typeface="Consolas" panose="020B0609020204030204" pitchFamily="49" charset="0"/>
                          <a:cs typeface="Consolas" panose="020B0609020204030204" pitchFamily="49" charset="0"/>
                        </a:rPr>
                        <a:t>4</a:t>
                      </a:r>
                    </a:p>
                  </a:txBody>
                  <a:tcPr>
                    <a:noFill/>
                  </a:tcPr>
                </a:tc>
                <a:tc>
                  <a:txBody>
                    <a:bodyPr/>
                    <a:lstStyle/>
                    <a:p>
                      <a:r>
                        <a:rPr lang="en-US" sz="2000" b="1" dirty="0">
                          <a:latin typeface="Consolas" panose="020B0609020204030204" pitchFamily="49" charset="0"/>
                          <a:cs typeface="Consolas" panose="020B0609020204030204" pitchFamily="49" charset="0"/>
                        </a:rPr>
                        <a:t>species</a:t>
                      </a:r>
                    </a:p>
                  </a:txBody>
                  <a:tcPr/>
                </a:tc>
                <a:extLst>
                  <a:ext uri="{0D108BD9-81ED-4DB2-BD59-A6C34878D82A}">
                    <a16:rowId xmlns:a16="http://schemas.microsoft.com/office/drawing/2014/main" val="1739709510"/>
                  </a:ext>
                </a:extLst>
              </a:tr>
              <a:tr h="370840">
                <a:tc>
                  <a:txBody>
                    <a:bodyPr/>
                    <a:lstStyle/>
                    <a:p>
                      <a:pPr algn="r"/>
                      <a:r>
                        <a:rPr lang="en-US" sz="2000" b="0" i="1" dirty="0">
                          <a:latin typeface="Consolas" panose="020B0609020204030204" pitchFamily="49" charset="0"/>
                          <a:cs typeface="Consolas" panose="020B0609020204030204" pitchFamily="49" charset="0"/>
                        </a:rPr>
                        <a:t>8</a:t>
                      </a:r>
                    </a:p>
                  </a:txBody>
                  <a:tcPr>
                    <a:noFill/>
                  </a:tcPr>
                </a:tc>
                <a:tc>
                  <a:txBody>
                    <a:bodyPr/>
                    <a:lstStyle/>
                    <a:p>
                      <a:r>
                        <a:rPr lang="en-US" sz="2000" b="1" dirty="0" err="1">
                          <a:latin typeface="Consolas" panose="020B0609020204030204" pitchFamily="49" charset="0"/>
                          <a:cs typeface="Consolas" panose="020B0609020204030204" pitchFamily="49" charset="0"/>
                        </a:rPr>
                        <a:t>drooly</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4147271392"/>
                  </a:ext>
                </a:extLst>
              </a:tr>
            </a:tbl>
          </a:graphicData>
        </a:graphic>
      </p:graphicFrame>
      <p:sp>
        <p:nvSpPr>
          <p:cNvPr id="7" name="Rectangle 6">
            <a:extLst>
              <a:ext uri="{FF2B5EF4-FFF2-40B4-BE49-F238E27FC236}">
                <a16:creationId xmlns:a16="http://schemas.microsoft.com/office/drawing/2014/main" id="{62F7E2FA-D3EE-DC48-B73C-564D161B2F6E}"/>
              </a:ext>
            </a:extLst>
          </p:cNvPr>
          <p:cNvSpPr/>
          <p:nvPr/>
        </p:nvSpPr>
        <p:spPr>
          <a:xfrm>
            <a:off x="228600" y="1333500"/>
            <a:ext cx="28956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c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Cat(…);</a:t>
            </a:r>
          </a:p>
        </p:txBody>
      </p:sp>
      <p:sp>
        <p:nvSpPr>
          <p:cNvPr id="8" name="Rectangle 7">
            <a:extLst>
              <a:ext uri="{FF2B5EF4-FFF2-40B4-BE49-F238E27FC236}">
                <a16:creationId xmlns:a16="http://schemas.microsoft.com/office/drawing/2014/main" id="{17DE464C-974E-E644-9CC2-8996B35DCD70}"/>
              </a:ext>
            </a:extLst>
          </p:cNvPr>
          <p:cNvSpPr/>
          <p:nvPr/>
        </p:nvSpPr>
        <p:spPr>
          <a:xfrm>
            <a:off x="228600" y="3238500"/>
            <a:ext cx="28956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d = </a:t>
            </a:r>
            <a:r>
              <a:rPr lang="en-US" sz="2200" b="1" dirty="0">
                <a:solidFill>
                  <a:srgbClr val="FF0000"/>
                </a:solidFill>
                <a:latin typeface="Consolas" panose="020B0609020204030204" pitchFamily="49" charset="0"/>
                <a:cs typeface="Consolas" panose="020B0609020204030204" pitchFamily="49" charset="0"/>
              </a:rPr>
              <a:t>new </a:t>
            </a:r>
            <a:r>
              <a:rPr lang="en-US" sz="2200" b="1" dirty="0">
                <a:latin typeface="Consolas" panose="020B0609020204030204" pitchFamily="49" charset="0"/>
                <a:cs typeface="Consolas" panose="020B0609020204030204" pitchFamily="49" charset="0"/>
              </a:rPr>
              <a:t>Dog(…);</a:t>
            </a:r>
          </a:p>
        </p:txBody>
      </p:sp>
      <p:sp>
        <p:nvSpPr>
          <p:cNvPr id="9" name="Bent-Up Arrow 8">
            <a:extLst>
              <a:ext uri="{FF2B5EF4-FFF2-40B4-BE49-F238E27FC236}">
                <a16:creationId xmlns:a16="http://schemas.microsoft.com/office/drawing/2014/main" id="{5CC0BF21-14F7-B34C-A665-95C5A85E74BA}"/>
              </a:ext>
            </a:extLst>
          </p:cNvPr>
          <p:cNvSpPr/>
          <p:nvPr/>
        </p:nvSpPr>
        <p:spPr>
          <a:xfrm rot="5400000">
            <a:off x="218747" y="1914199"/>
            <a:ext cx="659786" cy="312420"/>
          </a:xfrm>
          <a:prstGeom prst="bentUpArrow">
            <a:avLst>
              <a:gd name="adj1" fmla="val 18826"/>
              <a:gd name="adj2" fmla="val 31656"/>
              <a:gd name="adj3" fmla="val 4634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Bent-Up Arrow 9">
            <a:extLst>
              <a:ext uri="{FF2B5EF4-FFF2-40B4-BE49-F238E27FC236}">
                <a16:creationId xmlns:a16="http://schemas.microsoft.com/office/drawing/2014/main" id="{62BCC53F-2D0B-D148-8F9B-58AE34B4C3F3}"/>
              </a:ext>
            </a:extLst>
          </p:cNvPr>
          <p:cNvSpPr/>
          <p:nvPr/>
        </p:nvSpPr>
        <p:spPr>
          <a:xfrm rot="5400000">
            <a:off x="218747" y="3873848"/>
            <a:ext cx="659786" cy="312420"/>
          </a:xfrm>
          <a:prstGeom prst="bentUpArrow">
            <a:avLst>
              <a:gd name="adj1" fmla="val 18826"/>
              <a:gd name="adj2" fmla="val 31656"/>
              <a:gd name="adj3" fmla="val 4634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87225532-3E3E-5244-82E1-ED0884AE6C1F}"/>
              </a:ext>
            </a:extLst>
          </p:cNvPr>
          <p:cNvGraphicFramePr>
            <a:graphicFrameLocks noGrp="1"/>
          </p:cNvGraphicFramePr>
          <p:nvPr>
            <p:extLst>
              <p:ext uri="{D42A27DB-BD31-4B8C-83A1-F6EECF244321}">
                <p14:modId xmlns:p14="http://schemas.microsoft.com/office/powerpoint/2010/main" val="3917460309"/>
              </p:ext>
            </p:extLst>
          </p:nvPr>
        </p:nvGraphicFramePr>
        <p:xfrm>
          <a:off x="2743200" y="1943100"/>
          <a:ext cx="2253492" cy="1188720"/>
        </p:xfrm>
        <a:graphic>
          <a:graphicData uri="http://schemas.openxmlformats.org/drawingml/2006/table">
            <a:tbl>
              <a:tblPr bandRow="1">
                <a:tableStyleId>{00A15C55-8517-42AA-B614-E9B94910E393}</a:tableStyleId>
              </a:tblPr>
              <a:tblGrid>
                <a:gridCol w="449842">
                  <a:extLst>
                    <a:ext uri="{9D8B030D-6E8A-4147-A177-3AD203B41FA5}">
                      <a16:colId xmlns:a16="http://schemas.microsoft.com/office/drawing/2014/main" val="2201275354"/>
                    </a:ext>
                  </a:extLst>
                </a:gridCol>
                <a:gridCol w="1803650">
                  <a:extLst>
                    <a:ext uri="{9D8B030D-6E8A-4147-A177-3AD203B41FA5}">
                      <a16:colId xmlns:a16="http://schemas.microsoft.com/office/drawing/2014/main" val="1051893523"/>
                    </a:ext>
                  </a:extLst>
                </a:gridCol>
              </a:tblGrid>
              <a:tr h="370840">
                <a:tc>
                  <a:txBody>
                    <a:bodyPr/>
                    <a:lstStyle/>
                    <a:p>
                      <a:pPr algn="r"/>
                      <a:r>
                        <a:rPr lang="en-US" sz="2000" b="0" i="1" dirty="0">
                          <a:latin typeface="Consolas" panose="020B0609020204030204" pitchFamily="49" charset="0"/>
                          <a:cs typeface="Consolas" panose="020B0609020204030204" pitchFamily="49" charset="0"/>
                        </a:rPr>
                        <a:t>0</a:t>
                      </a:r>
                    </a:p>
                  </a:txBody>
                  <a:tcPr>
                    <a:noFill/>
                  </a:tcPr>
                </a:tc>
                <a:tc>
                  <a:txBody>
                    <a:bodyPr/>
                    <a:lstStyle/>
                    <a:p>
                      <a:r>
                        <a:rPr lang="en-US" sz="2000" b="1" dirty="0">
                          <a:latin typeface="Consolas" panose="020B0609020204030204" pitchFamily="49" charset="0"/>
                          <a:cs typeface="Consolas" panose="020B0609020204030204" pitchFamily="49" charset="0"/>
                        </a:rPr>
                        <a:t>breathe</a:t>
                      </a:r>
                    </a:p>
                  </a:txBody>
                  <a:tcPr/>
                </a:tc>
                <a:extLst>
                  <a:ext uri="{0D108BD9-81ED-4DB2-BD59-A6C34878D82A}">
                    <a16:rowId xmlns:a16="http://schemas.microsoft.com/office/drawing/2014/main" val="1313431803"/>
                  </a:ext>
                </a:extLst>
              </a:tr>
              <a:tr h="370840">
                <a:tc>
                  <a:txBody>
                    <a:bodyPr/>
                    <a:lstStyle/>
                    <a:p>
                      <a:pPr algn="r"/>
                      <a:r>
                        <a:rPr lang="en-US" sz="2000" b="0" i="1" dirty="0">
                          <a:latin typeface="Consolas" panose="020B0609020204030204" pitchFamily="49" charset="0"/>
                          <a:cs typeface="Consolas" panose="020B0609020204030204" pitchFamily="49" charset="0"/>
                        </a:rPr>
                        <a:t>4</a:t>
                      </a:r>
                    </a:p>
                  </a:txBody>
                  <a:tcPr>
                    <a:noFill/>
                  </a:tcPr>
                </a:tc>
                <a:tc>
                  <a:txBody>
                    <a:bodyPr/>
                    <a:lstStyle/>
                    <a:p>
                      <a:r>
                        <a:rPr lang="en-US" sz="2000" b="1" dirty="0" err="1">
                          <a:latin typeface="Consolas" panose="020B0609020204030204" pitchFamily="49" charset="0"/>
                          <a:cs typeface="Consolas" panose="020B0609020204030204" pitchFamily="49" charset="0"/>
                        </a:rPr>
                        <a:t>to_string</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496739171"/>
                  </a:ext>
                </a:extLst>
              </a:tr>
              <a:tr h="370840">
                <a:tc>
                  <a:txBody>
                    <a:bodyPr/>
                    <a:lstStyle/>
                    <a:p>
                      <a:pPr algn="r"/>
                      <a:r>
                        <a:rPr lang="en-US" sz="2000" b="0" i="1" dirty="0">
                          <a:latin typeface="Consolas" panose="020B0609020204030204" pitchFamily="49" charset="0"/>
                          <a:cs typeface="Consolas" panose="020B0609020204030204" pitchFamily="49" charset="0"/>
                        </a:rPr>
                        <a:t>8</a:t>
                      </a:r>
                    </a:p>
                  </a:txBody>
                  <a:tcPr>
                    <a:noFill/>
                  </a:tcPr>
                </a:tc>
                <a:tc>
                  <a:txBody>
                    <a:bodyPr/>
                    <a:lstStyle/>
                    <a:p>
                      <a:r>
                        <a:rPr lang="en-US" sz="2000" b="1" dirty="0" err="1">
                          <a:latin typeface="Consolas" panose="020B0609020204030204" pitchFamily="49" charset="0"/>
                          <a:cs typeface="Consolas" panose="020B0609020204030204" pitchFamily="49" charset="0"/>
                        </a:rPr>
                        <a:t>play_string</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67938554"/>
                  </a:ext>
                </a:extLst>
              </a:tr>
            </a:tbl>
          </a:graphicData>
        </a:graphic>
      </p:graphicFrame>
      <p:graphicFrame>
        <p:nvGraphicFramePr>
          <p:cNvPr id="12" name="Table 11">
            <a:extLst>
              <a:ext uri="{FF2B5EF4-FFF2-40B4-BE49-F238E27FC236}">
                <a16:creationId xmlns:a16="http://schemas.microsoft.com/office/drawing/2014/main" id="{A17818E1-86BA-194C-82C0-98820CB4C468}"/>
              </a:ext>
            </a:extLst>
          </p:cNvPr>
          <p:cNvGraphicFramePr>
            <a:graphicFrameLocks noGrp="1"/>
          </p:cNvGraphicFramePr>
          <p:nvPr>
            <p:extLst>
              <p:ext uri="{D42A27DB-BD31-4B8C-83A1-F6EECF244321}">
                <p14:modId xmlns:p14="http://schemas.microsoft.com/office/powerpoint/2010/main" val="4105930775"/>
              </p:ext>
            </p:extLst>
          </p:nvPr>
        </p:nvGraphicFramePr>
        <p:xfrm>
          <a:off x="2743200" y="3757708"/>
          <a:ext cx="2245995" cy="1188720"/>
        </p:xfrm>
        <a:graphic>
          <a:graphicData uri="http://schemas.openxmlformats.org/drawingml/2006/table">
            <a:tbl>
              <a:tblPr bandRow="1">
                <a:tableStyleId>{00A15C55-8517-42AA-B614-E9B94910E393}</a:tableStyleId>
              </a:tblPr>
              <a:tblGrid>
                <a:gridCol w="449842">
                  <a:extLst>
                    <a:ext uri="{9D8B030D-6E8A-4147-A177-3AD203B41FA5}">
                      <a16:colId xmlns:a16="http://schemas.microsoft.com/office/drawing/2014/main" val="2201275354"/>
                    </a:ext>
                  </a:extLst>
                </a:gridCol>
                <a:gridCol w="1796153">
                  <a:extLst>
                    <a:ext uri="{9D8B030D-6E8A-4147-A177-3AD203B41FA5}">
                      <a16:colId xmlns:a16="http://schemas.microsoft.com/office/drawing/2014/main" val="1051893523"/>
                    </a:ext>
                  </a:extLst>
                </a:gridCol>
              </a:tblGrid>
              <a:tr h="370840">
                <a:tc>
                  <a:txBody>
                    <a:bodyPr/>
                    <a:lstStyle/>
                    <a:p>
                      <a:pPr algn="r"/>
                      <a:r>
                        <a:rPr lang="en-US" sz="2000" b="0" i="1" dirty="0">
                          <a:latin typeface="Consolas" panose="020B0609020204030204" pitchFamily="49" charset="0"/>
                          <a:cs typeface="Consolas" panose="020B0609020204030204" pitchFamily="49" charset="0"/>
                        </a:rPr>
                        <a:t>0</a:t>
                      </a:r>
                    </a:p>
                  </a:txBody>
                  <a:tcPr>
                    <a:noFill/>
                  </a:tcPr>
                </a:tc>
                <a:tc>
                  <a:txBody>
                    <a:bodyPr/>
                    <a:lstStyle/>
                    <a:p>
                      <a:r>
                        <a:rPr lang="en-US" sz="2000" b="1" dirty="0">
                          <a:latin typeface="Consolas" panose="020B0609020204030204" pitchFamily="49" charset="0"/>
                          <a:cs typeface="Consolas" panose="020B0609020204030204" pitchFamily="49" charset="0"/>
                        </a:rPr>
                        <a:t>breathe</a:t>
                      </a:r>
                    </a:p>
                  </a:txBody>
                  <a:tcPr/>
                </a:tc>
                <a:extLst>
                  <a:ext uri="{0D108BD9-81ED-4DB2-BD59-A6C34878D82A}">
                    <a16:rowId xmlns:a16="http://schemas.microsoft.com/office/drawing/2014/main" val="1313431803"/>
                  </a:ext>
                </a:extLst>
              </a:tr>
              <a:tr h="370840">
                <a:tc>
                  <a:txBody>
                    <a:bodyPr/>
                    <a:lstStyle/>
                    <a:p>
                      <a:pPr algn="r"/>
                      <a:r>
                        <a:rPr lang="en-US" sz="2000" b="0" i="1" dirty="0">
                          <a:latin typeface="Consolas" panose="020B0609020204030204" pitchFamily="49" charset="0"/>
                          <a:cs typeface="Consolas" panose="020B0609020204030204" pitchFamily="49" charset="0"/>
                        </a:rPr>
                        <a:t>4</a:t>
                      </a:r>
                    </a:p>
                  </a:txBody>
                  <a:tcPr>
                    <a:noFill/>
                  </a:tcPr>
                </a:tc>
                <a:tc>
                  <a:txBody>
                    <a:bodyPr/>
                    <a:lstStyle/>
                    <a:p>
                      <a:r>
                        <a:rPr lang="en-US" sz="2000" b="1" dirty="0" err="1">
                          <a:latin typeface="Consolas" panose="020B0609020204030204" pitchFamily="49" charset="0"/>
                          <a:cs typeface="Consolas" panose="020B0609020204030204" pitchFamily="49" charset="0"/>
                        </a:rPr>
                        <a:t>to_string</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496739171"/>
                  </a:ext>
                </a:extLst>
              </a:tr>
              <a:tr h="370840">
                <a:tc>
                  <a:txBody>
                    <a:bodyPr/>
                    <a:lstStyle/>
                    <a:p>
                      <a:pPr algn="r"/>
                      <a:r>
                        <a:rPr lang="en-US" sz="2000" b="0" i="1" dirty="0">
                          <a:latin typeface="Consolas" panose="020B0609020204030204" pitchFamily="49" charset="0"/>
                          <a:cs typeface="Consolas" panose="020B0609020204030204" pitchFamily="49" charset="0"/>
                        </a:rPr>
                        <a:t>8</a:t>
                      </a:r>
                    </a:p>
                  </a:txBody>
                  <a:tcPr>
                    <a:noFill/>
                  </a:tcPr>
                </a:tc>
                <a:tc>
                  <a:txBody>
                    <a:bodyPr/>
                    <a:lstStyle/>
                    <a:p>
                      <a:r>
                        <a:rPr lang="en-US" sz="2000" b="1" dirty="0" err="1">
                          <a:latin typeface="Consolas" panose="020B0609020204030204" pitchFamily="49" charset="0"/>
                          <a:cs typeface="Consolas" panose="020B0609020204030204" pitchFamily="49" charset="0"/>
                        </a:rPr>
                        <a:t>play_fetch</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262829293"/>
                  </a:ext>
                </a:extLst>
              </a:tr>
            </a:tbl>
          </a:graphicData>
        </a:graphic>
      </p:graphicFrame>
      <p:cxnSp>
        <p:nvCxnSpPr>
          <p:cNvPr id="14" name="Straight Arrow Connector 13">
            <a:extLst>
              <a:ext uri="{FF2B5EF4-FFF2-40B4-BE49-F238E27FC236}">
                <a16:creationId xmlns:a16="http://schemas.microsoft.com/office/drawing/2014/main" id="{BAE2F9D0-7A58-7645-830E-366A26818780}"/>
              </a:ext>
            </a:extLst>
          </p:cNvPr>
          <p:cNvCxnSpPr/>
          <p:nvPr/>
        </p:nvCxnSpPr>
        <p:spPr>
          <a:xfrm>
            <a:off x="1981200" y="2125058"/>
            <a:ext cx="914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6BE52D-C7FB-2948-8627-1B5F45A68F8E}"/>
              </a:ext>
            </a:extLst>
          </p:cNvPr>
          <p:cNvCxnSpPr/>
          <p:nvPr/>
        </p:nvCxnSpPr>
        <p:spPr>
          <a:xfrm>
            <a:off x="1981200" y="3969561"/>
            <a:ext cx="914400"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60AF40F-BCBA-9B4A-A840-C30EF31EF462}"/>
              </a:ext>
            </a:extLst>
          </p:cNvPr>
          <p:cNvSpPr/>
          <p:nvPr/>
        </p:nvSpPr>
        <p:spPr>
          <a:xfrm>
            <a:off x="3160395" y="1460956"/>
            <a:ext cx="18288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Cat </a:t>
            </a:r>
            <a:r>
              <a:rPr lang="en-US" sz="2200" b="1" dirty="0" err="1">
                <a:latin typeface="Consolas" panose="020B0609020204030204" pitchFamily="49" charset="0"/>
                <a:cs typeface="Consolas" panose="020B0609020204030204" pitchFamily="49" charset="0"/>
              </a:rPr>
              <a:t>vtable</a:t>
            </a:r>
            <a:endParaRPr lang="en-US" sz="2200" b="1" dirty="0">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8C9D143F-B3DA-BE44-9795-D83BD81278AE}"/>
              </a:ext>
            </a:extLst>
          </p:cNvPr>
          <p:cNvSpPr/>
          <p:nvPr/>
        </p:nvSpPr>
        <p:spPr>
          <a:xfrm>
            <a:off x="3160395" y="3326821"/>
            <a:ext cx="18288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Dog </a:t>
            </a:r>
            <a:r>
              <a:rPr lang="en-US" sz="2200" b="1" dirty="0" err="1">
                <a:latin typeface="Consolas" panose="020B0609020204030204" pitchFamily="49" charset="0"/>
                <a:cs typeface="Consolas" panose="020B0609020204030204" pitchFamily="49" charset="0"/>
              </a:rPr>
              <a:t>vtable</a:t>
            </a:r>
            <a:endParaRPr lang="en-US" sz="2200" b="1" dirty="0">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A68F7679-2FD1-AF4F-BB42-15D5025C011D}"/>
              </a:ext>
            </a:extLst>
          </p:cNvPr>
          <p:cNvSpPr/>
          <p:nvPr/>
        </p:nvSpPr>
        <p:spPr>
          <a:xfrm>
            <a:off x="5764530" y="1854965"/>
            <a:ext cx="2922270" cy="430887"/>
          </a:xfrm>
          <a:prstGeom prst="rect">
            <a:avLst/>
          </a:prstGeom>
        </p:spPr>
        <p:txBody>
          <a:bodyPr wrap="square">
            <a:spAutoFit/>
          </a:bodyPr>
          <a:lstStyle/>
          <a:p>
            <a:r>
              <a:rPr lang="en-US" sz="2200" b="1" dirty="0" err="1">
                <a:latin typeface="Consolas" panose="020B0609020204030204" pitchFamily="49" charset="0"/>
                <a:cs typeface="Consolas" panose="020B0609020204030204" pitchFamily="49" charset="0"/>
              </a:rPr>
              <a:t>Animal.breathe</a:t>
            </a:r>
            <a:r>
              <a:rPr lang="en-US" sz="2200" b="1" dirty="0">
                <a:latin typeface="Consolas" panose="020B0609020204030204" pitchFamily="49" charset="0"/>
                <a:cs typeface="Consolas" panose="020B0609020204030204" pitchFamily="49" charset="0"/>
              </a:rPr>
              <a:t>()</a:t>
            </a:r>
          </a:p>
        </p:txBody>
      </p:sp>
      <p:sp>
        <p:nvSpPr>
          <p:cNvPr id="20" name="Rectangle 19">
            <a:extLst>
              <a:ext uri="{FF2B5EF4-FFF2-40B4-BE49-F238E27FC236}">
                <a16:creationId xmlns:a16="http://schemas.microsoft.com/office/drawing/2014/main" id="{8A0B8B0F-6DFA-C749-AA71-2539579DC628}"/>
              </a:ext>
            </a:extLst>
          </p:cNvPr>
          <p:cNvSpPr/>
          <p:nvPr/>
        </p:nvSpPr>
        <p:spPr>
          <a:xfrm>
            <a:off x="5764530" y="2352679"/>
            <a:ext cx="2922270" cy="430887"/>
          </a:xfrm>
          <a:prstGeom prst="rect">
            <a:avLst/>
          </a:prstGeom>
        </p:spPr>
        <p:txBody>
          <a:bodyPr wrap="square">
            <a:spAutoFit/>
          </a:bodyPr>
          <a:lstStyle/>
          <a:p>
            <a:r>
              <a:rPr lang="en-US" sz="2200" b="1" dirty="0" err="1">
                <a:latin typeface="Consolas" panose="020B0609020204030204" pitchFamily="49" charset="0"/>
                <a:cs typeface="Consolas" panose="020B0609020204030204" pitchFamily="49" charset="0"/>
              </a:rPr>
              <a:t>Cat.to_string</a:t>
            </a:r>
            <a:r>
              <a:rPr lang="en-US" sz="2200" b="1" dirty="0">
                <a:latin typeface="Consolas" panose="020B0609020204030204" pitchFamily="49" charset="0"/>
                <a:cs typeface="Consolas" panose="020B0609020204030204" pitchFamily="49" charset="0"/>
              </a:rPr>
              <a:t>()</a:t>
            </a:r>
          </a:p>
        </p:txBody>
      </p:sp>
      <p:sp>
        <p:nvSpPr>
          <p:cNvPr id="21" name="Rectangle 20">
            <a:extLst>
              <a:ext uri="{FF2B5EF4-FFF2-40B4-BE49-F238E27FC236}">
                <a16:creationId xmlns:a16="http://schemas.microsoft.com/office/drawing/2014/main" id="{5CFFCDC9-B47F-E241-BEC0-3E4094080886}"/>
              </a:ext>
            </a:extLst>
          </p:cNvPr>
          <p:cNvSpPr/>
          <p:nvPr/>
        </p:nvSpPr>
        <p:spPr>
          <a:xfrm>
            <a:off x="5764530" y="2850393"/>
            <a:ext cx="2922270" cy="430887"/>
          </a:xfrm>
          <a:prstGeom prst="rect">
            <a:avLst/>
          </a:prstGeom>
        </p:spPr>
        <p:txBody>
          <a:bodyPr wrap="square">
            <a:spAutoFit/>
          </a:bodyPr>
          <a:lstStyle/>
          <a:p>
            <a:r>
              <a:rPr lang="en-US" sz="2200" b="1" dirty="0" err="1">
                <a:latin typeface="Consolas" panose="020B0609020204030204" pitchFamily="49" charset="0"/>
                <a:cs typeface="Consolas" panose="020B0609020204030204" pitchFamily="49" charset="0"/>
              </a:rPr>
              <a:t>Cat.play_string</a:t>
            </a:r>
            <a:r>
              <a:rPr lang="en-US" sz="2200" b="1" dirty="0">
                <a:latin typeface="Consolas" panose="020B0609020204030204" pitchFamily="49" charset="0"/>
                <a:cs typeface="Consolas" panose="020B0609020204030204" pitchFamily="49" charset="0"/>
              </a:rPr>
              <a:t>()</a:t>
            </a:r>
          </a:p>
        </p:txBody>
      </p:sp>
      <p:sp>
        <p:nvSpPr>
          <p:cNvPr id="25" name="Rectangle 24">
            <a:extLst>
              <a:ext uri="{FF2B5EF4-FFF2-40B4-BE49-F238E27FC236}">
                <a16:creationId xmlns:a16="http://schemas.microsoft.com/office/drawing/2014/main" id="{9E2891F7-C985-1345-AA54-B3042AE0E326}"/>
              </a:ext>
            </a:extLst>
          </p:cNvPr>
          <p:cNvSpPr/>
          <p:nvPr/>
        </p:nvSpPr>
        <p:spPr>
          <a:xfrm>
            <a:off x="5764530" y="4086088"/>
            <a:ext cx="2922270" cy="430887"/>
          </a:xfrm>
          <a:prstGeom prst="rect">
            <a:avLst/>
          </a:prstGeom>
        </p:spPr>
        <p:txBody>
          <a:bodyPr wrap="square">
            <a:spAutoFit/>
          </a:bodyPr>
          <a:lstStyle/>
          <a:p>
            <a:r>
              <a:rPr lang="en-US" sz="2200" b="1" dirty="0" err="1">
                <a:latin typeface="Consolas" panose="020B0609020204030204" pitchFamily="49" charset="0"/>
                <a:cs typeface="Consolas" panose="020B0609020204030204" pitchFamily="49" charset="0"/>
              </a:rPr>
              <a:t>Dog.to_string</a:t>
            </a:r>
            <a:r>
              <a:rPr lang="en-US" sz="2200" b="1" dirty="0">
                <a:latin typeface="Consolas" panose="020B0609020204030204" pitchFamily="49" charset="0"/>
                <a:cs typeface="Consolas" panose="020B0609020204030204" pitchFamily="49" charset="0"/>
              </a:rPr>
              <a:t>()</a:t>
            </a:r>
          </a:p>
        </p:txBody>
      </p:sp>
      <p:sp>
        <p:nvSpPr>
          <p:cNvPr id="26" name="Rectangle 25">
            <a:extLst>
              <a:ext uri="{FF2B5EF4-FFF2-40B4-BE49-F238E27FC236}">
                <a16:creationId xmlns:a16="http://schemas.microsoft.com/office/drawing/2014/main" id="{D248C2BB-083B-364A-87DC-92AEDB46FFE8}"/>
              </a:ext>
            </a:extLst>
          </p:cNvPr>
          <p:cNvSpPr/>
          <p:nvPr/>
        </p:nvSpPr>
        <p:spPr>
          <a:xfrm>
            <a:off x="5764530" y="4583802"/>
            <a:ext cx="2922270" cy="430887"/>
          </a:xfrm>
          <a:prstGeom prst="rect">
            <a:avLst/>
          </a:prstGeom>
        </p:spPr>
        <p:txBody>
          <a:bodyPr wrap="square">
            <a:spAutoFit/>
          </a:bodyPr>
          <a:lstStyle/>
          <a:p>
            <a:r>
              <a:rPr lang="en-US" sz="2200" b="1" dirty="0" err="1">
                <a:latin typeface="Consolas" panose="020B0609020204030204" pitchFamily="49" charset="0"/>
                <a:cs typeface="Consolas" panose="020B0609020204030204" pitchFamily="49" charset="0"/>
              </a:rPr>
              <a:t>Dog.play_fetch</a:t>
            </a:r>
            <a:r>
              <a:rPr lang="en-US" sz="2200" b="1" dirty="0">
                <a:latin typeface="Consolas" panose="020B0609020204030204" pitchFamily="49" charset="0"/>
                <a:cs typeface="Consolas" panose="020B0609020204030204" pitchFamily="49" charset="0"/>
              </a:rPr>
              <a:t>()</a:t>
            </a:r>
          </a:p>
        </p:txBody>
      </p:sp>
      <p:sp>
        <p:nvSpPr>
          <p:cNvPr id="41" name="Freeform 40">
            <a:extLst>
              <a:ext uri="{FF2B5EF4-FFF2-40B4-BE49-F238E27FC236}">
                <a16:creationId xmlns:a16="http://schemas.microsoft.com/office/drawing/2014/main" id="{FA2C1654-372F-9947-8FD1-922E35494BE6}"/>
              </a:ext>
            </a:extLst>
          </p:cNvPr>
          <p:cNvSpPr/>
          <p:nvPr/>
        </p:nvSpPr>
        <p:spPr>
          <a:xfrm>
            <a:off x="4572000" y="2162110"/>
            <a:ext cx="1143000" cy="1807451"/>
          </a:xfrm>
          <a:custGeom>
            <a:avLst/>
            <a:gdLst>
              <a:gd name="connsiteX0" fmla="*/ 0 w 1143000"/>
              <a:gd name="connsiteY0" fmla="*/ 1748695 h 1779558"/>
              <a:gd name="connsiteX1" fmla="*/ 657225 w 1143000"/>
              <a:gd name="connsiteY1" fmla="*/ 1577245 h 1779558"/>
              <a:gd name="connsiteX2" fmla="*/ 771525 w 1143000"/>
              <a:gd name="connsiteY2" fmla="*/ 224695 h 1779558"/>
              <a:gd name="connsiteX3" fmla="*/ 1143000 w 1143000"/>
              <a:gd name="connsiteY3" fmla="*/ 15145 h 1779558"/>
              <a:gd name="connsiteX0" fmla="*/ 0 w 1143000"/>
              <a:gd name="connsiteY0" fmla="*/ 1733550 h 1764413"/>
              <a:gd name="connsiteX1" fmla="*/ 657225 w 1143000"/>
              <a:gd name="connsiteY1" fmla="*/ 1562100 h 1764413"/>
              <a:gd name="connsiteX2" fmla="*/ 771525 w 1143000"/>
              <a:gd name="connsiteY2" fmla="*/ 209550 h 1764413"/>
              <a:gd name="connsiteX3" fmla="*/ 1143000 w 1143000"/>
              <a:gd name="connsiteY3" fmla="*/ 0 h 1764413"/>
              <a:gd name="connsiteX0" fmla="*/ 0 w 1143000"/>
              <a:gd name="connsiteY0" fmla="*/ 1733550 h 1764413"/>
              <a:gd name="connsiteX1" fmla="*/ 657225 w 1143000"/>
              <a:gd name="connsiteY1" fmla="*/ 1562100 h 1764413"/>
              <a:gd name="connsiteX2" fmla="*/ 771525 w 1143000"/>
              <a:gd name="connsiteY2" fmla="*/ 209550 h 1764413"/>
              <a:gd name="connsiteX3" fmla="*/ 1143000 w 1143000"/>
              <a:gd name="connsiteY3" fmla="*/ 0 h 1764413"/>
              <a:gd name="connsiteX0" fmla="*/ 0 w 1143000"/>
              <a:gd name="connsiteY0" fmla="*/ 1733550 h 1748417"/>
              <a:gd name="connsiteX1" fmla="*/ 657225 w 1143000"/>
              <a:gd name="connsiteY1" fmla="*/ 1562100 h 1748417"/>
              <a:gd name="connsiteX2" fmla="*/ 771525 w 1143000"/>
              <a:gd name="connsiteY2" fmla="*/ 209550 h 1748417"/>
              <a:gd name="connsiteX3" fmla="*/ 1143000 w 1143000"/>
              <a:gd name="connsiteY3" fmla="*/ 0 h 1748417"/>
              <a:gd name="connsiteX0" fmla="*/ 0 w 1143000"/>
              <a:gd name="connsiteY0" fmla="*/ 1733550 h 1740506"/>
              <a:gd name="connsiteX1" fmla="*/ 657225 w 1143000"/>
              <a:gd name="connsiteY1" fmla="*/ 1562100 h 1740506"/>
              <a:gd name="connsiteX2" fmla="*/ 771525 w 1143000"/>
              <a:gd name="connsiteY2" fmla="*/ 209550 h 1740506"/>
              <a:gd name="connsiteX3" fmla="*/ 1143000 w 1143000"/>
              <a:gd name="connsiteY3" fmla="*/ 0 h 1740506"/>
              <a:gd name="connsiteX0" fmla="*/ 0 w 1143000"/>
              <a:gd name="connsiteY0" fmla="*/ 1733550 h 1733550"/>
              <a:gd name="connsiteX1" fmla="*/ 657225 w 1143000"/>
              <a:gd name="connsiteY1" fmla="*/ 1562100 h 1733550"/>
              <a:gd name="connsiteX2" fmla="*/ 771525 w 1143000"/>
              <a:gd name="connsiteY2" fmla="*/ 209550 h 1733550"/>
              <a:gd name="connsiteX3" fmla="*/ 1143000 w 1143000"/>
              <a:gd name="connsiteY3" fmla="*/ 0 h 1733550"/>
            </a:gdLst>
            <a:ahLst/>
            <a:cxnLst>
              <a:cxn ang="0">
                <a:pos x="connsiteX0" y="connsiteY0"/>
              </a:cxn>
              <a:cxn ang="0">
                <a:pos x="connsiteX1" y="connsiteY1"/>
              </a:cxn>
              <a:cxn ang="0">
                <a:pos x="connsiteX2" y="connsiteY2"/>
              </a:cxn>
              <a:cxn ang="0">
                <a:pos x="connsiteX3" y="connsiteY3"/>
              </a:cxn>
            </a:cxnLst>
            <a:rect l="l" t="t" r="r" b="b"/>
            <a:pathLst>
              <a:path w="1143000" h="1733550">
                <a:moveTo>
                  <a:pt x="0" y="1733550"/>
                </a:moveTo>
                <a:cubicBezTo>
                  <a:pt x="283369" y="1720012"/>
                  <a:pt x="576263" y="1669932"/>
                  <a:pt x="657225" y="1562100"/>
                </a:cubicBezTo>
                <a:cubicBezTo>
                  <a:pt x="738187" y="1454268"/>
                  <a:pt x="690562" y="469900"/>
                  <a:pt x="771525" y="209550"/>
                </a:cubicBezTo>
                <a:cubicBezTo>
                  <a:pt x="852488" y="-50800"/>
                  <a:pt x="845344" y="12700"/>
                  <a:pt x="1143000" y="0"/>
                </a:cubicBezTo>
              </a:path>
            </a:pathLst>
          </a:custGeom>
          <a:noFill/>
          <a:ln w="38100">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3F17405D-9798-D545-812A-C5861C0AC0C6}"/>
              </a:ext>
            </a:extLst>
          </p:cNvPr>
          <p:cNvCxnSpPr/>
          <p:nvPr/>
        </p:nvCxnSpPr>
        <p:spPr>
          <a:xfrm>
            <a:off x="4724400" y="2070408"/>
            <a:ext cx="990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80237FF-AF04-7A49-B998-3CD508F68862}"/>
              </a:ext>
            </a:extLst>
          </p:cNvPr>
          <p:cNvCxnSpPr>
            <a:cxnSpLocks/>
          </p:cNvCxnSpPr>
          <p:nvPr/>
        </p:nvCxnSpPr>
        <p:spPr>
          <a:xfrm>
            <a:off x="4800600" y="2543175"/>
            <a:ext cx="914400" cy="249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B4A81BC-953C-B04A-BE2D-E5D1CF716671}"/>
              </a:ext>
            </a:extLst>
          </p:cNvPr>
          <p:cNvCxnSpPr>
            <a:cxnSpLocks/>
          </p:cNvCxnSpPr>
          <p:nvPr/>
        </p:nvCxnSpPr>
        <p:spPr>
          <a:xfrm>
            <a:off x="4905375" y="2943225"/>
            <a:ext cx="859155" cy="12261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608DEB9-AF7A-6F43-A3D7-D09D5E5E8983}"/>
              </a:ext>
            </a:extLst>
          </p:cNvPr>
          <p:cNvCxnSpPr>
            <a:cxnSpLocks/>
            <a:endCxn id="25" idx="1"/>
          </p:cNvCxnSpPr>
          <p:nvPr/>
        </p:nvCxnSpPr>
        <p:spPr>
          <a:xfrm flipV="1">
            <a:off x="4790122" y="4301532"/>
            <a:ext cx="974408" cy="4313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14A3251-04BA-D246-838E-BEA1B2F3182E}"/>
              </a:ext>
            </a:extLst>
          </p:cNvPr>
          <p:cNvCxnSpPr>
            <a:cxnSpLocks/>
            <a:endCxn id="26" idx="1"/>
          </p:cNvCxnSpPr>
          <p:nvPr/>
        </p:nvCxnSpPr>
        <p:spPr>
          <a:xfrm>
            <a:off x="4800600" y="4750676"/>
            <a:ext cx="963930" cy="485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0920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animBg="1"/>
      <p:bldP spid="16" grpId="0"/>
      <p:bldP spid="17" grpId="0"/>
      <p:bldP spid="19" grpId="0"/>
      <p:bldP spid="20" grpId="0"/>
      <p:bldP spid="21" grpId="0"/>
      <p:bldP spid="25" grpId="0"/>
      <p:bldP spid="26" grpId="0"/>
      <p:bldP spid="4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9047D-615A-EC4D-B5FD-500C1F2D89DE}"/>
              </a:ext>
            </a:extLst>
          </p:cNvPr>
          <p:cNvSpPr>
            <a:spLocks noGrp="1"/>
          </p:cNvSpPr>
          <p:nvPr>
            <p:ph type="title"/>
          </p:nvPr>
        </p:nvSpPr>
        <p:spPr/>
        <p:txBody>
          <a:bodyPr/>
          <a:lstStyle/>
          <a:p>
            <a:r>
              <a:rPr lang="en-US" dirty="0"/>
              <a:t>Virtual method calls</a:t>
            </a:r>
          </a:p>
        </p:txBody>
      </p:sp>
      <p:sp>
        <p:nvSpPr>
          <p:cNvPr id="3" name="Content Placeholder 2">
            <a:extLst>
              <a:ext uri="{FF2B5EF4-FFF2-40B4-BE49-F238E27FC236}">
                <a16:creationId xmlns:a16="http://schemas.microsoft.com/office/drawing/2014/main" id="{27E02091-FE17-624A-8785-E093B8E260ED}"/>
              </a:ext>
            </a:extLst>
          </p:cNvPr>
          <p:cNvSpPr>
            <a:spLocks noGrp="1"/>
          </p:cNvSpPr>
          <p:nvPr>
            <p:ph idx="1"/>
          </p:nvPr>
        </p:nvSpPr>
        <p:spPr>
          <a:xfrm>
            <a:off x="152400" y="495301"/>
            <a:ext cx="8991600" cy="838199"/>
          </a:xfrm>
        </p:spPr>
        <p:txBody>
          <a:bodyPr/>
          <a:lstStyle/>
          <a:p>
            <a:r>
              <a:rPr lang="en-US" dirty="0"/>
              <a:t>to call a virtual method, we </a:t>
            </a:r>
            <a:r>
              <a:rPr lang="en-US" b="1" dirty="0"/>
              <a:t>index the table </a:t>
            </a:r>
            <a:r>
              <a:rPr lang="en-US" dirty="0"/>
              <a:t>to get the address…</a:t>
            </a:r>
          </a:p>
          <a:p>
            <a:pPr lvl="1"/>
            <a:r>
              <a:rPr lang="en-US" dirty="0"/>
              <a:t>and do an </a:t>
            </a:r>
            <a:r>
              <a:rPr lang="en-US" b="1" dirty="0"/>
              <a:t>indirect function call </a:t>
            </a:r>
            <a:r>
              <a:rPr lang="en-US" dirty="0"/>
              <a:t>to that address.</a:t>
            </a:r>
          </a:p>
        </p:txBody>
      </p:sp>
      <p:sp>
        <p:nvSpPr>
          <p:cNvPr id="4" name="Slide Number Placeholder 3">
            <a:extLst>
              <a:ext uri="{FF2B5EF4-FFF2-40B4-BE49-F238E27FC236}">
                <a16:creationId xmlns:a16="http://schemas.microsoft.com/office/drawing/2014/main" id="{FCCF82D4-4DB4-E04F-A97E-0D004689D4ED}"/>
              </a:ext>
            </a:extLst>
          </p:cNvPr>
          <p:cNvSpPr>
            <a:spLocks noGrp="1"/>
          </p:cNvSpPr>
          <p:nvPr>
            <p:ph type="sldNum" sz="quarter" idx="12"/>
          </p:nvPr>
        </p:nvSpPr>
        <p:spPr/>
        <p:txBody>
          <a:bodyPr/>
          <a:lstStyle/>
          <a:p>
            <a:fld id="{3552B95B-556F-44BD-91A5-D80C1B9E2BB3}" type="slidenum">
              <a:rPr lang="en-US" smtClean="0"/>
              <a:pPr/>
              <a:t>30</a:t>
            </a:fld>
            <a:endParaRPr lang="en-US"/>
          </a:p>
        </p:txBody>
      </p:sp>
      <p:sp>
        <p:nvSpPr>
          <p:cNvPr id="5" name="Rectangle 4">
            <a:extLst>
              <a:ext uri="{FF2B5EF4-FFF2-40B4-BE49-F238E27FC236}">
                <a16:creationId xmlns:a16="http://schemas.microsoft.com/office/drawing/2014/main" id="{FC664ACE-B6ED-9149-975C-F3B5A55FC21B}"/>
              </a:ext>
            </a:extLst>
          </p:cNvPr>
          <p:cNvSpPr/>
          <p:nvPr/>
        </p:nvSpPr>
        <p:spPr>
          <a:xfrm>
            <a:off x="304800" y="1333500"/>
            <a:ext cx="4410075" cy="1107996"/>
          </a:xfrm>
          <a:prstGeom prst="rect">
            <a:avLst/>
          </a:prstGeom>
        </p:spPr>
        <p:txBody>
          <a:bodyPr wrap="square">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print(a: Animal)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println_s</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a.to_string</a:t>
            </a:r>
            <a:r>
              <a:rPr lang="en-US" sz="2200" b="1" dirty="0">
                <a:latin typeface="Consolas" panose="020B0609020204030204" pitchFamily="49" charset="0"/>
                <a:cs typeface="Consolas" panose="020B0609020204030204" pitchFamily="49" charset="0"/>
              </a:rPr>
              <a:t>());</a:t>
            </a:r>
            <a:br>
              <a:rPr lang="en-US" sz="2200" b="1" dirty="0">
                <a:latin typeface="Consolas" panose="020B0609020204030204" pitchFamily="49" charset="0"/>
                <a:cs typeface="Consolas" panose="020B0609020204030204" pitchFamily="49" charset="0"/>
              </a:rPr>
            </a:br>
            <a:r>
              <a:rPr lang="en-US" sz="22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75ABB3D3-ABDF-5041-8DA1-06344A8EF560}"/>
              </a:ext>
            </a:extLst>
          </p:cNvPr>
          <p:cNvSpPr/>
          <p:nvPr/>
        </p:nvSpPr>
        <p:spPr>
          <a:xfrm>
            <a:off x="5248275" y="1658505"/>
            <a:ext cx="2286000" cy="430887"/>
          </a:xfrm>
          <a:prstGeom prst="rect">
            <a:avLst/>
          </a:prstGeom>
        </p:spPr>
        <p:txBody>
          <a:bodyPr wrap="square">
            <a:spAutoFit/>
          </a:bodyPr>
          <a:lstStyle/>
          <a:p>
            <a:pPr algn="ctr"/>
            <a:r>
              <a:rPr lang="en-US" sz="2200" b="1" dirty="0" err="1">
                <a:latin typeface="Consolas" panose="020B0609020204030204" pitchFamily="49" charset="0"/>
                <a:cs typeface="Consolas" panose="020B0609020204030204" pitchFamily="49" charset="0"/>
              </a:rPr>
              <a:t>a.vtbl</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](a)</a:t>
            </a:r>
          </a:p>
        </p:txBody>
      </p:sp>
      <p:grpSp>
        <p:nvGrpSpPr>
          <p:cNvPr id="7" name="Group 6">
            <a:extLst>
              <a:ext uri="{FF2B5EF4-FFF2-40B4-BE49-F238E27FC236}">
                <a16:creationId xmlns:a16="http://schemas.microsoft.com/office/drawing/2014/main" id="{C656A703-12B7-DB46-BCE2-12F47DD722C8}"/>
              </a:ext>
            </a:extLst>
          </p:cNvPr>
          <p:cNvGrpSpPr/>
          <p:nvPr/>
        </p:nvGrpSpPr>
        <p:grpSpPr>
          <a:xfrm>
            <a:off x="3505200" y="1300589"/>
            <a:ext cx="4943475" cy="489948"/>
            <a:chOff x="3409950" y="2624219"/>
            <a:chExt cx="4943475" cy="489948"/>
          </a:xfrm>
        </p:grpSpPr>
        <p:sp>
          <p:nvSpPr>
            <p:cNvPr id="8" name="TextBox 7">
              <a:extLst>
                <a:ext uri="{FF2B5EF4-FFF2-40B4-BE49-F238E27FC236}">
                  <a16:creationId xmlns:a16="http://schemas.microsoft.com/office/drawing/2014/main" id="{44826057-E395-1B4B-8817-F529C3C95E66}"/>
                </a:ext>
              </a:extLst>
            </p:cNvPr>
            <p:cNvSpPr txBox="1"/>
            <p:nvPr/>
          </p:nvSpPr>
          <p:spPr>
            <a:xfrm>
              <a:off x="3943350" y="2624219"/>
              <a:ext cx="4410075" cy="430887"/>
            </a:xfrm>
            <a:prstGeom prst="rect">
              <a:avLst/>
            </a:prstGeom>
            <a:noFill/>
          </p:spPr>
          <p:txBody>
            <a:bodyPr wrap="square" rtlCol="0">
              <a:spAutoFit/>
            </a:bodyPr>
            <a:lstStyle/>
            <a:p>
              <a:pPr algn="ctr"/>
              <a:r>
                <a:rPr lang="en-US" sz="2200" dirty="0"/>
                <a:t>this method call becomes:</a:t>
              </a:r>
              <a:endParaRPr lang="en-US" sz="2200" b="1" dirty="0">
                <a:latin typeface="Consolas" panose="020B0609020204030204" pitchFamily="49" charset="0"/>
                <a:cs typeface="Consolas" panose="020B0609020204030204" pitchFamily="49" charset="0"/>
              </a:endParaRPr>
            </a:p>
          </p:txBody>
        </p:sp>
        <p:cxnSp>
          <p:nvCxnSpPr>
            <p:cNvPr id="9" name="Straight Arrow Connector 8">
              <a:extLst>
                <a:ext uri="{FF2B5EF4-FFF2-40B4-BE49-F238E27FC236}">
                  <a16:creationId xmlns:a16="http://schemas.microsoft.com/office/drawing/2014/main" id="{A75CAAA1-65BE-8747-BD36-AAC3E8300ED9}"/>
                </a:ext>
              </a:extLst>
            </p:cNvPr>
            <p:cNvCxnSpPr>
              <a:cxnSpLocks/>
            </p:cNvCxnSpPr>
            <p:nvPr/>
          </p:nvCxnSpPr>
          <p:spPr>
            <a:xfrm flipH="1">
              <a:off x="3409950" y="2885730"/>
              <a:ext cx="1066800" cy="2284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FB5ADD2A-1522-C24C-B566-A1262C5D9E90}"/>
              </a:ext>
            </a:extLst>
          </p:cNvPr>
          <p:cNvSpPr/>
          <p:nvPr/>
        </p:nvSpPr>
        <p:spPr>
          <a:xfrm>
            <a:off x="4033837" y="2555768"/>
            <a:ext cx="4876800" cy="1938992"/>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-16</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s0 = a</a:t>
            </a: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pass 'this'</a:t>
            </a:r>
          </a:p>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(s0)   </a:t>
            </a:r>
            <a:r>
              <a:rPr lang="en-US" sz="2000" i="1" dirty="0">
                <a:solidFill>
                  <a:schemeClr val="accent3">
                    <a:lumMod val="50000"/>
                  </a:schemeClr>
                </a:solidFill>
                <a:latin typeface="Consolas" panose="020B0609020204030204" pitchFamily="49" charset="0"/>
                <a:cs typeface="Consolas" panose="020B0609020204030204" pitchFamily="49" charset="0"/>
              </a:rPr>
              <a:t># s0 = </a:t>
            </a:r>
            <a:r>
              <a:rPr lang="en-US" sz="2000" i="1" dirty="0" err="1">
                <a:solidFill>
                  <a:schemeClr val="accent3">
                    <a:lumMod val="50000"/>
                  </a:schemeClr>
                </a:solidFill>
                <a:latin typeface="Consolas" panose="020B0609020204030204" pitchFamily="49" charset="0"/>
                <a:cs typeface="Consolas" panose="020B0609020204030204" pitchFamily="49" charset="0"/>
              </a:rPr>
              <a:t>a.vtbl</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4</a:t>
            </a:r>
            <a:r>
              <a:rPr lang="en-US" sz="2000" b="1" dirty="0">
                <a:latin typeface="Consolas" panose="020B0609020204030204" pitchFamily="49" charset="0"/>
                <a:cs typeface="Consolas" panose="020B0609020204030204" pitchFamily="49" charset="0"/>
              </a:rPr>
              <a:t>(s0)   </a:t>
            </a:r>
            <a:r>
              <a:rPr lang="en-US" sz="2000" i="1" dirty="0">
                <a:solidFill>
                  <a:schemeClr val="accent3">
                    <a:lumMod val="50000"/>
                  </a:schemeClr>
                </a:solidFill>
                <a:latin typeface="Consolas" panose="020B0609020204030204" pitchFamily="49" charset="0"/>
                <a:cs typeface="Consolas" panose="020B0609020204030204" pitchFamily="49" charset="0"/>
              </a:rPr>
              <a:t># s0 = </a:t>
            </a:r>
            <a:r>
              <a:rPr lang="en-US" sz="2000" i="1" dirty="0" err="1">
                <a:solidFill>
                  <a:schemeClr val="accent3">
                    <a:lumMod val="50000"/>
                  </a:schemeClr>
                </a:solidFill>
                <a:latin typeface="Consolas" panose="020B0609020204030204" pitchFamily="49" charset="0"/>
                <a:cs typeface="Consolas" panose="020B0609020204030204" pitchFamily="49" charset="0"/>
              </a:rPr>
              <a:t>a.vtbl</a:t>
            </a:r>
            <a:r>
              <a:rPr lang="en-US" sz="2000" i="1" dirty="0">
                <a:solidFill>
                  <a:schemeClr val="accent3">
                    <a:lumMod val="50000"/>
                  </a:schemeClr>
                </a:solidFill>
                <a:latin typeface="Consolas" panose="020B0609020204030204" pitchFamily="49" charset="0"/>
                <a:cs typeface="Consolas" panose="020B0609020204030204" pitchFamily="49" charset="0"/>
              </a:rPr>
              <a:t>[1]</a:t>
            </a:r>
          </a:p>
          <a:p>
            <a:r>
              <a:rPr lang="en-US" sz="2000" b="1" dirty="0" err="1">
                <a:solidFill>
                  <a:srgbClr val="FF0000"/>
                </a:solidFill>
                <a:latin typeface="Consolas" panose="020B0609020204030204" pitchFamily="49" charset="0"/>
                <a:cs typeface="Consolas" panose="020B0609020204030204" pitchFamily="49" charset="0"/>
              </a:rPr>
              <a:t>jalr</a:t>
            </a:r>
            <a:r>
              <a:rPr lang="en-US" sz="2000" b="1" dirty="0">
                <a:latin typeface="Consolas" panose="020B0609020204030204" pitchFamily="49" charset="0"/>
                <a:cs typeface="Consolas" panose="020B0609020204030204" pitchFamily="49" charset="0"/>
              </a:rPr>
              <a:t> s0          </a:t>
            </a:r>
            <a:r>
              <a:rPr lang="en-US" sz="2000" i="1" dirty="0">
                <a:solidFill>
                  <a:schemeClr val="accent3">
                    <a:lumMod val="50000"/>
                  </a:schemeClr>
                </a:solidFill>
                <a:latin typeface="Consolas" panose="020B0609020204030204" pitchFamily="49" charset="0"/>
                <a:cs typeface="Consolas" panose="020B0609020204030204" pitchFamily="49" charset="0"/>
              </a:rPr>
              <a:t># call </a:t>
            </a:r>
            <a:r>
              <a:rPr lang="en-US" sz="2000" i="1" dirty="0" err="1">
                <a:solidFill>
                  <a:schemeClr val="accent3">
                    <a:lumMod val="50000"/>
                  </a:schemeClr>
                </a:solidFill>
                <a:latin typeface="Consolas" panose="020B0609020204030204" pitchFamily="49" charset="0"/>
                <a:cs typeface="Consolas" panose="020B0609020204030204" pitchFamily="49" charset="0"/>
              </a:rPr>
              <a:t>to_string</a:t>
            </a:r>
            <a:endParaRPr lang="en-US" sz="2000" b="1"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F6FADEE2-8492-B34D-93A7-CFA373FA9239}"/>
              </a:ext>
            </a:extLst>
          </p:cNvPr>
          <p:cNvSpPr txBox="1"/>
          <p:nvPr/>
        </p:nvSpPr>
        <p:spPr>
          <a:xfrm>
            <a:off x="3586163" y="4583425"/>
            <a:ext cx="5314948" cy="769441"/>
          </a:xfrm>
          <a:prstGeom prst="rect">
            <a:avLst/>
          </a:prstGeom>
          <a:noFill/>
        </p:spPr>
        <p:txBody>
          <a:bodyPr wrap="square" rtlCol="0">
            <a:spAutoFit/>
          </a:bodyPr>
          <a:lstStyle/>
          <a:p>
            <a:pPr algn="ctr"/>
            <a:r>
              <a:rPr lang="en-US" sz="2200" b="1" dirty="0" err="1">
                <a:solidFill>
                  <a:srgbClr val="FF0000"/>
                </a:solidFill>
                <a:latin typeface="Consolas" panose="020B0609020204030204" pitchFamily="49" charset="0"/>
                <a:cs typeface="Consolas" panose="020B0609020204030204" pitchFamily="49" charset="0"/>
              </a:rPr>
              <a:t>jalr</a:t>
            </a:r>
            <a:r>
              <a:rPr lang="en-US" sz="2200" dirty="0"/>
              <a:t> works like </a:t>
            </a:r>
            <a:r>
              <a:rPr lang="en-US" sz="2200" b="1" dirty="0" err="1">
                <a:solidFill>
                  <a:srgbClr val="FF0000"/>
                </a:solidFill>
                <a:latin typeface="Consolas" panose="020B0609020204030204" pitchFamily="49" charset="0"/>
                <a:cs typeface="Consolas" panose="020B0609020204030204" pitchFamily="49" charset="0"/>
              </a:rPr>
              <a:t>jal</a:t>
            </a:r>
            <a:r>
              <a:rPr lang="en-US" sz="2200" dirty="0"/>
              <a:t>, but uses a register as the address of the function to call.</a:t>
            </a:r>
            <a:endParaRPr lang="en-US" sz="2200" b="1" dirty="0">
              <a:latin typeface="Consolas" panose="020B0609020204030204" pitchFamily="49" charset="0"/>
              <a:cs typeface="Consolas" panose="020B0609020204030204" pitchFamily="49" charset="0"/>
            </a:endParaRPr>
          </a:p>
        </p:txBody>
      </p:sp>
      <p:sp>
        <p:nvSpPr>
          <p:cNvPr id="16" name="TextBox 15">
            <a:extLst>
              <a:ext uri="{FF2B5EF4-FFF2-40B4-BE49-F238E27FC236}">
                <a16:creationId xmlns:a16="http://schemas.microsoft.com/office/drawing/2014/main" id="{9B5D2FCF-ADBF-404A-B1A6-E2D5AFCB8CC6}"/>
              </a:ext>
            </a:extLst>
          </p:cNvPr>
          <p:cNvSpPr txBox="1"/>
          <p:nvPr/>
        </p:nvSpPr>
        <p:spPr>
          <a:xfrm>
            <a:off x="5162549" y="2022734"/>
            <a:ext cx="2457452" cy="430887"/>
          </a:xfrm>
          <a:prstGeom prst="rect">
            <a:avLst/>
          </a:prstGeom>
          <a:noFill/>
        </p:spPr>
        <p:txBody>
          <a:bodyPr wrap="square" rtlCol="0">
            <a:spAutoFit/>
          </a:bodyPr>
          <a:lstStyle/>
          <a:p>
            <a:pPr algn="ctr"/>
            <a:r>
              <a:rPr lang="en-US" sz="2200" dirty="0"/>
              <a:t>or in assembly:</a:t>
            </a:r>
            <a:endParaRPr lang="en-US" sz="2200" b="1" dirty="0">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4EF93ACF-048E-F849-8B02-53784E246E67}"/>
              </a:ext>
            </a:extLst>
          </p:cNvPr>
          <p:cNvSpPr txBox="1"/>
          <p:nvPr/>
        </p:nvSpPr>
        <p:spPr>
          <a:xfrm>
            <a:off x="233363" y="2466344"/>
            <a:ext cx="3352800" cy="1446550"/>
          </a:xfrm>
          <a:prstGeom prst="rect">
            <a:avLst/>
          </a:prstGeom>
          <a:noFill/>
        </p:spPr>
        <p:txBody>
          <a:bodyPr wrap="square" rtlCol="0">
            <a:spAutoFit/>
          </a:bodyPr>
          <a:lstStyle/>
          <a:p>
            <a:pPr algn="ctr"/>
            <a:r>
              <a:rPr lang="en-US" sz="2200" dirty="0"/>
              <a:t>the compiler knows the method indexes because the </a:t>
            </a:r>
            <a:r>
              <a:rPr lang="en-US" sz="2200" dirty="0" err="1"/>
              <a:t>vtables</a:t>
            </a:r>
            <a:r>
              <a:rPr lang="en-US" sz="2200" b="1" dirty="0"/>
              <a:t> </a:t>
            </a:r>
            <a:r>
              <a:rPr lang="en-US" sz="2200" dirty="0"/>
              <a:t>for each class use </a:t>
            </a:r>
            <a:r>
              <a:rPr lang="en-US" sz="2200" b="1" dirty="0"/>
              <a:t>prefixing:</a:t>
            </a:r>
            <a:endParaRPr lang="en-US" sz="2200" b="1" dirty="0">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FD68D4C5-70EB-754B-A0E2-A4D44253A1FB}"/>
              </a:ext>
            </a:extLst>
          </p:cNvPr>
          <p:cNvSpPr txBox="1"/>
          <p:nvPr/>
        </p:nvSpPr>
        <p:spPr>
          <a:xfrm>
            <a:off x="171451" y="4029427"/>
            <a:ext cx="3414712" cy="1107996"/>
          </a:xfrm>
          <a:prstGeom prst="rect">
            <a:avLst/>
          </a:prstGeom>
          <a:noFill/>
        </p:spPr>
        <p:txBody>
          <a:bodyPr wrap="square" rtlCol="0">
            <a:spAutoFit/>
          </a:bodyPr>
          <a:lstStyle/>
          <a:p>
            <a:pPr algn="ctr"/>
            <a:r>
              <a:rPr lang="en-US" sz="2200" dirty="0"/>
              <a:t>subtypes' </a:t>
            </a:r>
            <a:r>
              <a:rPr lang="en-US" sz="2200" dirty="0" err="1"/>
              <a:t>vtables</a:t>
            </a:r>
            <a:r>
              <a:rPr lang="en-US" sz="2200" dirty="0"/>
              <a:t> are prefixed with their supertype's </a:t>
            </a:r>
            <a:r>
              <a:rPr lang="en-US" sz="2200" dirty="0" err="1"/>
              <a:t>vtable</a:t>
            </a:r>
            <a:r>
              <a:rPr lang="en-US" sz="2200" dirty="0"/>
              <a:t>.</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428524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uiExpand="1" build="p" bldLvl="5"/>
      <p:bldP spid="12" grpId="0"/>
      <p:bldP spid="16"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7519F-4C71-6644-8934-52463D3E6BAF}"/>
              </a:ext>
            </a:extLst>
          </p:cNvPr>
          <p:cNvSpPr>
            <a:spLocks noGrp="1"/>
          </p:cNvSpPr>
          <p:nvPr>
            <p:ph type="title"/>
          </p:nvPr>
        </p:nvSpPr>
        <p:spPr/>
        <p:txBody>
          <a:bodyPr/>
          <a:lstStyle/>
          <a:p>
            <a:r>
              <a:rPr lang="en-US" dirty="0"/>
              <a:t>Things to ponder on</a:t>
            </a:r>
          </a:p>
        </p:txBody>
      </p:sp>
      <p:sp>
        <p:nvSpPr>
          <p:cNvPr id="3" name="Content Placeholder 2">
            <a:extLst>
              <a:ext uri="{FF2B5EF4-FFF2-40B4-BE49-F238E27FC236}">
                <a16:creationId xmlns:a16="http://schemas.microsoft.com/office/drawing/2014/main" id="{661E77D0-77F1-094C-B50A-339629DA2FF9}"/>
              </a:ext>
            </a:extLst>
          </p:cNvPr>
          <p:cNvSpPr>
            <a:spLocks noGrp="1"/>
          </p:cNvSpPr>
          <p:nvPr>
            <p:ph idx="1"/>
          </p:nvPr>
        </p:nvSpPr>
        <p:spPr/>
        <p:txBody>
          <a:bodyPr/>
          <a:lstStyle/>
          <a:p>
            <a:r>
              <a:rPr lang="en-US" dirty="0"/>
              <a:t>what are </a:t>
            </a:r>
            <a:r>
              <a:rPr lang="en-US" b="1" dirty="0"/>
              <a:t>interfaces</a:t>
            </a:r>
            <a:r>
              <a:rPr lang="en-US" dirty="0"/>
              <a:t>, then?</a:t>
            </a:r>
          </a:p>
          <a:p>
            <a:pPr lvl="1"/>
            <a:r>
              <a:rPr lang="en-US" dirty="0"/>
              <a:t>a "slice" of a </a:t>
            </a:r>
            <a:r>
              <a:rPr lang="en-US" dirty="0" err="1"/>
              <a:t>vtable</a:t>
            </a:r>
            <a:r>
              <a:rPr lang="en-US" dirty="0"/>
              <a:t>, sort of!</a:t>
            </a:r>
          </a:p>
          <a:p>
            <a:pPr lvl="1"/>
            <a:r>
              <a:rPr lang="en-US" dirty="0"/>
              <a:t>when a class implements an interface, those methods are present in its </a:t>
            </a:r>
            <a:r>
              <a:rPr lang="en-US" dirty="0" err="1"/>
              <a:t>vtable</a:t>
            </a:r>
            <a:r>
              <a:rPr lang="en-US" dirty="0"/>
              <a:t> at runtime.</a:t>
            </a:r>
          </a:p>
          <a:p>
            <a:r>
              <a:rPr lang="en-US" dirty="0"/>
              <a:t>what about </a:t>
            </a:r>
            <a:r>
              <a:rPr lang="en-US" b="1" dirty="0"/>
              <a:t>public/protected/private?</a:t>
            </a:r>
            <a:r>
              <a:rPr lang="en-US" dirty="0"/>
              <a:t> </a:t>
            </a:r>
            <a:r>
              <a:rPr lang="en-US" b="1" dirty="0"/>
              <a:t>final? override?</a:t>
            </a:r>
          </a:p>
          <a:p>
            <a:pPr lvl="1"/>
            <a:r>
              <a:rPr lang="en-US" dirty="0"/>
              <a:t>these are all </a:t>
            </a:r>
            <a:r>
              <a:rPr lang="en-US" b="1" dirty="0"/>
              <a:t>semantic; </a:t>
            </a:r>
            <a:r>
              <a:rPr lang="en-US" dirty="0"/>
              <a:t>they have no effect on the implementation.</a:t>
            </a:r>
          </a:p>
          <a:p>
            <a:r>
              <a:rPr lang="en-US" dirty="0"/>
              <a:t>what about </a:t>
            </a:r>
            <a:r>
              <a:rPr lang="en-US" b="1" dirty="0"/>
              <a:t>static </a:t>
            </a:r>
            <a:r>
              <a:rPr lang="en-US" dirty="0"/>
              <a:t>variables/methods?</a:t>
            </a:r>
          </a:p>
          <a:p>
            <a:pPr lvl="1"/>
            <a:r>
              <a:rPr lang="en-US" dirty="0"/>
              <a:t>they're </a:t>
            </a:r>
            <a:r>
              <a:rPr lang="en-US" dirty="0" err="1"/>
              <a:t>globals</a:t>
            </a:r>
            <a:r>
              <a:rPr lang="en-US" dirty="0"/>
              <a:t> whose names happen to be scoped inside a class.</a:t>
            </a:r>
          </a:p>
          <a:p>
            <a:r>
              <a:rPr lang="en-US" dirty="0"/>
              <a:t>what about </a:t>
            </a:r>
            <a:r>
              <a:rPr lang="en-US" b="1" dirty="0">
                <a:solidFill>
                  <a:srgbClr val="FF0000"/>
                </a:solidFill>
                <a:latin typeface="Consolas" panose="020B0609020204030204" pitchFamily="49" charset="0"/>
                <a:cs typeface="Consolas" panose="020B0609020204030204" pitchFamily="49" charset="0"/>
              </a:rPr>
              <a:t>null</a:t>
            </a:r>
            <a:r>
              <a:rPr lang="en-US" b="1" dirty="0"/>
              <a:t>? </a:t>
            </a:r>
            <a:endParaRPr lang="en-US" dirty="0"/>
          </a:p>
          <a:p>
            <a:pPr lvl="1"/>
            <a:r>
              <a:rPr lang="en-US" dirty="0"/>
              <a:t>we could have </a:t>
            </a:r>
            <a:r>
              <a:rPr lang="en-US" b="1" dirty="0"/>
              <a:t>nullable reference types, </a:t>
            </a:r>
            <a:r>
              <a:rPr lang="en-US" dirty="0"/>
              <a:t>like a restricted form of Rust's </a:t>
            </a:r>
            <a:r>
              <a:rPr lang="en-US" b="1" dirty="0">
                <a:latin typeface="Consolas" panose="020B0609020204030204" pitchFamily="49" charset="0"/>
                <a:cs typeface="Consolas" panose="020B0609020204030204" pitchFamily="49" charset="0"/>
              </a:rPr>
              <a:t>Option&lt;T&gt;</a:t>
            </a:r>
            <a:r>
              <a:rPr lang="en-US" dirty="0"/>
              <a:t> that only works for references.</a:t>
            </a:r>
          </a:p>
          <a:p>
            <a:r>
              <a:rPr lang="en-US" dirty="0"/>
              <a:t>what about inheriting from </a:t>
            </a:r>
            <a:r>
              <a:rPr lang="en-US" b="1" dirty="0"/>
              <a:t>multiple classes?</a:t>
            </a:r>
          </a:p>
          <a:p>
            <a:pPr lvl="1"/>
            <a:r>
              <a:rPr lang="en-US" dirty="0"/>
              <a:t>don't even go there. </a:t>
            </a:r>
            <a:r>
              <a:rPr lang="en-US" dirty="0" err="1"/>
              <a:t>noooooope</a:t>
            </a:r>
            <a:r>
              <a:rPr lang="en-US" dirty="0"/>
              <a:t> nope nope</a:t>
            </a:r>
          </a:p>
        </p:txBody>
      </p:sp>
      <p:sp>
        <p:nvSpPr>
          <p:cNvPr id="4" name="Slide Number Placeholder 3">
            <a:extLst>
              <a:ext uri="{FF2B5EF4-FFF2-40B4-BE49-F238E27FC236}">
                <a16:creationId xmlns:a16="http://schemas.microsoft.com/office/drawing/2014/main" id="{35758268-DFCD-124E-8E57-8F49ED01C5BB}"/>
              </a:ext>
            </a:extLst>
          </p:cNvPr>
          <p:cNvSpPr>
            <a:spLocks noGrp="1"/>
          </p:cNvSpPr>
          <p:nvPr>
            <p:ph type="sldNum" sz="quarter" idx="12"/>
          </p:nvPr>
        </p:nvSpPr>
        <p:spPr/>
        <p:txBody>
          <a:bodyPr/>
          <a:lstStyle/>
          <a:p>
            <a:fld id="{3552B95B-556F-44BD-91A5-D80C1B9E2BB3}" type="slidenum">
              <a:rPr lang="en-US" smtClean="0"/>
              <a:pPr/>
              <a:t>31</a:t>
            </a:fld>
            <a:endParaRPr lang="en-US"/>
          </a:p>
        </p:txBody>
      </p:sp>
    </p:spTree>
    <p:extLst>
      <p:ext uri="{BB962C8B-B14F-4D97-AF65-F5344CB8AC3E}">
        <p14:creationId xmlns:p14="http://schemas.microsoft.com/office/powerpoint/2010/main" val="3168084172"/>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23840</TotalTime>
  <Words>4571</Words>
  <Application>Microsoft Macintosh PowerPoint</Application>
  <PresentationFormat>On-screen Show (16:10)</PresentationFormat>
  <Paragraphs>572</Paragraphs>
  <Slides>31</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Consolas</vt:lpstr>
      <vt:lpstr>Courier New</vt:lpstr>
      <vt:lpstr>Segoe UI</vt:lpstr>
      <vt:lpstr>Segoe WP Semibold</vt:lpstr>
      <vt:lpstr>Trebuchet MS</vt:lpstr>
      <vt:lpstr>Wingdings</vt:lpstr>
      <vt:lpstr>02 - C - Basics</vt:lpstr>
      <vt:lpstr>Structs and Classes, OOP</vt:lpstr>
      <vt:lpstr>Class Announcements</vt:lpstr>
      <vt:lpstr>Structured types</vt:lpstr>
      <vt:lpstr>Type survey</vt:lpstr>
      <vt:lpstr>Tuples??</vt:lpstr>
      <vt:lpstr>Operations on tuples</vt:lpstr>
      <vt:lpstr>…yeah okay that's basically a struct isn't it</vt:lpstr>
      <vt:lpstr>One important difference</vt:lpstr>
      <vt:lpstr>Value types and reference types</vt:lpstr>
      <vt:lpstr>Decision time!</vt:lpstr>
      <vt:lpstr>The billion dollar mistake: null</vt:lpstr>
      <vt:lpstr>Struct Runtime Representation</vt:lpstr>
      <vt:lpstr>Data layout</vt:lpstr>
      <vt:lpstr>Not so fast, Mister Gordon!</vt:lpstr>
      <vt:lpstr>Struct padding</vt:lpstr>
      <vt:lpstr>Wait, why does the whole struct need to be padded?</vt:lpstr>
      <vt:lpstr>Anyway… allocation</vt:lpstr>
      <vt:lpstr>Accessing fields</vt:lpstr>
      <vt:lpstr>OOP</vt:lpstr>
      <vt:lpstr>What is OOP (object-oriented programming)?</vt:lpstr>
      <vt:lpstr>Methods</vt:lpstr>
      <vt:lpstr>Constructors</vt:lpstr>
      <vt:lpstr>Data inheritance</vt:lpstr>
      <vt:lpstr>Method inheritance</vt:lpstr>
      <vt:lpstr>Where it starts getting crazy</vt:lpstr>
      <vt:lpstr>The problem</vt:lpstr>
      <vt:lpstr>Virtual Methods and Dynamic Dispatch</vt:lpstr>
      <vt:lpstr>RTTI (Run-time Type Identification)</vt:lpstr>
      <vt:lpstr>Virtual method tables (vtables)</vt:lpstr>
      <vt:lpstr>Virtual method calls</vt:lpstr>
      <vt:lpstr>Things to ponder 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1149</cp:revision>
  <dcterms:created xsi:type="dcterms:W3CDTF">2017-01-05T04:29:56Z</dcterms:created>
  <dcterms:modified xsi:type="dcterms:W3CDTF">2022-07-18T03:37:03Z</dcterms:modified>
</cp:coreProperties>
</file>