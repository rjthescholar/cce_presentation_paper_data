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8"/>
  </p:notesMasterIdLst>
  <p:sldIdLst>
    <p:sldId id="256" r:id="rId2"/>
    <p:sldId id="519" r:id="rId3"/>
    <p:sldId id="590" r:id="rId4"/>
    <p:sldId id="588" r:id="rId5"/>
    <p:sldId id="591" r:id="rId6"/>
    <p:sldId id="592" r:id="rId7"/>
    <p:sldId id="593" r:id="rId8"/>
    <p:sldId id="594" r:id="rId9"/>
    <p:sldId id="595" r:id="rId10"/>
    <p:sldId id="596" r:id="rId11"/>
    <p:sldId id="597" r:id="rId12"/>
    <p:sldId id="598" r:id="rId13"/>
    <p:sldId id="599" r:id="rId14"/>
    <p:sldId id="600" r:id="rId15"/>
    <p:sldId id="601" r:id="rId16"/>
    <p:sldId id="602" r:id="rId17"/>
    <p:sldId id="603" r:id="rId18"/>
    <p:sldId id="604" r:id="rId19"/>
    <p:sldId id="605" r:id="rId20"/>
    <p:sldId id="606" r:id="rId21"/>
    <p:sldId id="607" r:id="rId22"/>
    <p:sldId id="608" r:id="rId23"/>
    <p:sldId id="622" r:id="rId24"/>
    <p:sldId id="610" r:id="rId25"/>
    <p:sldId id="611" r:id="rId26"/>
    <p:sldId id="623" r:id="rId27"/>
    <p:sldId id="612" r:id="rId28"/>
    <p:sldId id="613" r:id="rId29"/>
    <p:sldId id="614" r:id="rId30"/>
    <p:sldId id="615" r:id="rId31"/>
    <p:sldId id="616" r:id="rId32"/>
    <p:sldId id="617" r:id="rId33"/>
    <p:sldId id="618" r:id="rId34"/>
    <p:sldId id="619" r:id="rId35"/>
    <p:sldId id="620" r:id="rId36"/>
    <p:sldId id="621" r:id="rId37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1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200"/>
    <a:srgbClr val="FF5200"/>
    <a:srgbClr val="FF5C00"/>
    <a:srgbClr val="592A04"/>
    <a:srgbClr val="8DB000"/>
    <a:srgbClr val="FCECD6"/>
    <a:srgbClr val="FCF9C5"/>
    <a:srgbClr val="8BD5F4"/>
    <a:srgbClr val="FA0AB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04" autoAdjust="0"/>
    <p:restoredTop sz="87887" autoAdjust="0"/>
  </p:normalViewPr>
  <p:slideViewPr>
    <p:cSldViewPr>
      <p:cViewPr varScale="1">
        <p:scale>
          <a:sx n="129" d="100"/>
          <a:sy n="129" d="100"/>
        </p:scale>
        <p:origin x="1344" y="208"/>
      </p:cViewPr>
      <p:guideLst>
        <p:guide orient="horz" pos="1800"/>
        <p:guide pos="1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93253-51AE-4C40-AB6B-AA3A7DF4D210}" type="datetimeFigureOut">
              <a:rPr lang="en-US" smtClean="0"/>
              <a:pPr/>
              <a:t>7/11/22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729AB-B77D-48AE-AA10-D1BD2B4D03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0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[diagram: a “stack” of ABIs, with the Architectural ABIs on the bottom serving as the foundation; the OS ABI on top of it; and the Language ABI on the top of that.]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26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ISA = Instruction Set Architecture; which is the definition of the machine code used to control the CPU.</a:t>
            </a:r>
          </a:p>
          <a:p>
            <a:r>
              <a:rPr lang="en-US" dirty="0"/>
              <a:t>	- it defines the registers, memory model, and instructions available.</a:t>
            </a:r>
          </a:p>
          <a:p>
            <a:pPr marL="171450" indent="-171450">
              <a:buFontTx/>
              <a:buChar char="-"/>
            </a:pPr>
            <a:r>
              <a:rPr lang="en-US" dirty="0"/>
              <a:t>as an example, https://</a:t>
            </a:r>
            <a:r>
              <a:rPr lang="en-US" dirty="0" err="1"/>
              <a:t>developer.arm.com</a:t>
            </a:r>
            <a:r>
              <a:rPr lang="en-US" dirty="0"/>
              <a:t>/architectures/system-architectures/software-standards/</a:t>
            </a:r>
            <a:r>
              <a:rPr lang="en-US" dirty="0" err="1"/>
              <a:t>abi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[images: some popular microcontrollers including the ESP32, a </a:t>
            </a:r>
            <a:r>
              <a:rPr lang="en-US" dirty="0" err="1"/>
              <a:t>ATTiny</a:t>
            </a:r>
            <a:r>
              <a:rPr lang="en-US" dirty="0"/>
              <a:t> chip, and an Arduino board]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19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asynchronous messages might be things like: "the user clicked on your window at this position" or "the battery is at 5%" or "the system is going into hibernation" or "the user is closing your program, make sure to save everything"</a:t>
            </a:r>
          </a:p>
          <a:p>
            <a:r>
              <a:rPr lang="en-US" dirty="0"/>
              <a:t>- as an example: https://</a:t>
            </a:r>
            <a:r>
              <a:rPr lang="en-US" dirty="0" err="1"/>
              <a:t>developer.apple.com</a:t>
            </a:r>
            <a:r>
              <a:rPr lang="en-US" dirty="0"/>
              <a:t>/documentation/</a:t>
            </a:r>
            <a:r>
              <a:rPr lang="en-US" dirty="0" err="1"/>
              <a:t>xcode</a:t>
            </a:r>
            <a:r>
              <a:rPr lang="en-US" dirty="0"/>
              <a:t>/writing-arm64-code-for-apple-platforms</a:t>
            </a:r>
          </a:p>
          <a:p>
            <a:r>
              <a:rPr lang="en-US" dirty="0"/>
              <a:t>	- there are lots of sections on this page that explain how the Apple ABI diverges/differs from the standard ABI</a:t>
            </a:r>
          </a:p>
          <a:p>
            <a:r>
              <a:rPr lang="en-US" dirty="0"/>
              <a:t>	- I'm sure they have their reasons…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07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function closure example is C++ code.</a:t>
            </a:r>
          </a:p>
          <a:p>
            <a:r>
              <a:rPr lang="en-US" dirty="0"/>
              <a:t>	- a "closure" is a bit like an object with one method, packaged along with any variables it needs to operate. </a:t>
            </a:r>
          </a:p>
          <a:p>
            <a:r>
              <a:rPr lang="en-US" dirty="0"/>
              <a:t>	- they're common in functional languages but they've been getting popular in imperative languages over the past decade or so.</a:t>
            </a:r>
          </a:p>
          <a:p>
            <a:r>
              <a:rPr lang="en-US" dirty="0"/>
              <a:t>	- even Java has them now! or at least, it has syntactic sugar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67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a really common situation where ABI collisions occur, but it can happen in other ways:</a:t>
            </a:r>
          </a:p>
          <a:p>
            <a:r>
              <a:rPr lang="en-US" dirty="0"/>
              <a:t>	- trying to statically link a library compiled with a different compiler into your program</a:t>
            </a:r>
          </a:p>
          <a:p>
            <a:r>
              <a:rPr lang="en-US" dirty="0"/>
              <a:t>	- using the same compiler, but using different compilation options/flags for different parts of your program</a:t>
            </a:r>
          </a:p>
          <a:p>
            <a:r>
              <a:rPr lang="en-US" dirty="0"/>
              <a:t>	- using different versions of the same compiler for different parts of your program</a:t>
            </a:r>
          </a:p>
          <a:p>
            <a:r>
              <a:rPr lang="en-US" dirty="0"/>
              <a:t>	- using the wrong ABI for the OS you're compiling for</a:t>
            </a:r>
          </a:p>
          <a:p>
            <a:endParaRPr lang="en-US" dirty="0"/>
          </a:p>
          <a:p>
            <a:r>
              <a:rPr lang="en-US" dirty="0"/>
              <a:t>[diagram: a program tries to make a method call to an object in a plugin, but the program and the plugin were compiled with different compilers. what happens? who knows!]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35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man, managing complexity is a lot of hard work. </a:t>
            </a:r>
            <a:r>
              <a:rPr lang="en-US" dirty="0" err="1"/>
              <a:t>kinda</a:t>
            </a:r>
            <a:r>
              <a:rPr lang="en-US" dirty="0"/>
              <a:t> makes you wanna go live in a cave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46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it might be hard to believe, but there was a time when the idea of "functions calling other functions" was revolutionary.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- and computers designed before this idea had no way to easily implement a call stack!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- the performance of some HLLs suffered on these architectures </a:t>
            </a:r>
            <a:r>
              <a:rPr lang="en-US" i="1" dirty="0"/>
              <a:t>just because pushing and popping things was so expensive.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- these example instructions are from x86. x86 has several stack instructions, but MIPS has none.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	- in fact MIPS doesn't even have a dedicated stack pointer register. any register </a:t>
            </a:r>
            <a:r>
              <a:rPr lang="en-US" i="1" dirty="0"/>
              <a:t>could</a:t>
            </a:r>
            <a:r>
              <a:rPr lang="en-US" i="0" dirty="0"/>
              <a:t> be used as one. we just agree to use $29.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i="0" dirty="0"/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[diagram: a stack with some random values that don’t matter. the stack pointer register points to the most-recently-pushed item, the top of the stack.]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50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even if you don't have an OS (i.e. your code is running on an embedded system) the same issue applies.</a:t>
            </a:r>
          </a:p>
          <a:p>
            <a:r>
              <a:rPr lang="en-US" dirty="0"/>
              <a:t>	- you don't have infinite memory, so eventually you will run out.</a:t>
            </a:r>
          </a:p>
          <a:p>
            <a:r>
              <a:rPr lang="en-US" dirty="0"/>
              <a:t>- interestingly Rust programs can use quite a bit of stack space because of the language design.</a:t>
            </a:r>
          </a:p>
          <a:p>
            <a:r>
              <a:rPr lang="en-US" dirty="0"/>
              <a:t>	- I wonder if this will put pressure on the OSes to start giving programs bigger stacks…?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06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maybe you had me for 447 and I drilled that calling convention into you…</a:t>
            </a:r>
          </a:p>
          <a:p>
            <a:r>
              <a:rPr lang="en-US" dirty="0"/>
              <a:t>	- arguments go in the </a:t>
            </a:r>
            <a:r>
              <a:rPr lang="en-US" b="1" dirty="0"/>
              <a:t>a</a:t>
            </a:r>
            <a:r>
              <a:rPr lang="en-US" dirty="0"/>
              <a:t> registers! why is that so hard to remember! THEY START WITH 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75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[diagram: a call graph of a small program. several of the functions are written in Your Language (whatever language you like). but some of those functions have to call functions that use the OS ABI. Scary!]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80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81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3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what things are in the standard library, what classes and functions it provides, how it solves common problems…</a:t>
            </a:r>
          </a:p>
          <a:p>
            <a:r>
              <a:rPr lang="en-US" dirty="0"/>
              <a:t>	- that's up to the language designer, and it's just called "programming." it doesn't really have anything to do with compilers.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43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46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would that make it the nonstandard library? ;D</a:t>
            </a:r>
          </a:p>
          <a:p>
            <a:r>
              <a:rPr lang="en-US" dirty="0"/>
              <a:t>- if you play games, chances are you've run into this.</a:t>
            </a:r>
          </a:p>
          <a:p>
            <a:r>
              <a:rPr lang="en-US" dirty="0"/>
              <a:t>	- there are lots of versions of Visual C++ (MS's C++ compiler), and each game may be compiled with a different version</a:t>
            </a:r>
          </a:p>
          <a:p>
            <a:r>
              <a:rPr lang="en-US" dirty="0"/>
              <a:t>	- so you might have to have a dozen versions of the runtime library installed. </a:t>
            </a:r>
            <a:r>
              <a:rPr lang="en-US" dirty="0" err="1"/>
              <a:t>whee</a:t>
            </a:r>
            <a:r>
              <a:rPr lang="en-US"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782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555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if you haven't seen the ".word name" syntax in MIPS, it means to use the </a:t>
            </a:r>
            <a:r>
              <a:rPr lang="en-US" i="1" dirty="0"/>
              <a:t>memory address</a:t>
            </a:r>
            <a:r>
              <a:rPr lang="en-US" i="0" dirty="0"/>
              <a:t> of that name as the value for that variable.</a:t>
            </a:r>
          </a:p>
          <a:p>
            <a:r>
              <a:rPr lang="en-US" i="0" dirty="0"/>
              <a:t>	- so here, if STRLIT$0 has a memory address of 0x10010000….</a:t>
            </a:r>
          </a:p>
          <a:p>
            <a:r>
              <a:rPr lang="en-US" i="0" dirty="0"/>
              <a:t>	- then </a:t>
            </a:r>
            <a:r>
              <a:rPr lang="en-US" i="0" dirty="0" err="1"/>
              <a:t>svar's</a:t>
            </a:r>
            <a:r>
              <a:rPr lang="en-US" i="0" dirty="0"/>
              <a:t> </a:t>
            </a:r>
            <a:r>
              <a:rPr lang="en-US" i="1" dirty="0"/>
              <a:t>value</a:t>
            </a:r>
            <a:r>
              <a:rPr lang="en-US" i="0" dirty="0"/>
              <a:t> will be that address – 0x10010000, which is exactly what we want, because strings are reference types in this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26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[diagram: the HLL function call “f(1, 2)” gets generated as a sequence of 6 instructions. first we move the stack pointer down by 8 bytes, which is space for 2 4-byte arguments. then we evaluate the arguments left-to-right and put them on the stack; for example, “li t0, 1” puts 1 into register t0; then “</a:t>
            </a:r>
            <a:r>
              <a:rPr lang="en-US" dirty="0" err="1"/>
              <a:t>sw</a:t>
            </a:r>
            <a:r>
              <a:rPr lang="en-US" dirty="0"/>
              <a:t> t0, 0(</a:t>
            </a:r>
            <a:r>
              <a:rPr lang="en-US" dirty="0" err="1"/>
              <a:t>sp</a:t>
            </a:r>
            <a:r>
              <a:rPr lang="en-US" dirty="0"/>
              <a:t>)” copies the value from t0 onto the stack at location “</a:t>
            </a:r>
            <a:r>
              <a:rPr lang="en-US" dirty="0" err="1"/>
              <a:t>sp</a:t>
            </a:r>
            <a:r>
              <a:rPr lang="en-US" dirty="0"/>
              <a:t> + 0”. the second argument is placed at “</a:t>
            </a:r>
            <a:r>
              <a:rPr lang="en-US" dirty="0" err="1"/>
              <a:t>sp</a:t>
            </a:r>
            <a:r>
              <a:rPr lang="en-US" dirty="0"/>
              <a:t> + 4” and so on. finally, we call the function with “</a:t>
            </a:r>
            <a:r>
              <a:rPr lang="en-US" dirty="0" err="1"/>
              <a:t>jal</a:t>
            </a:r>
            <a:r>
              <a:rPr lang="en-US" dirty="0"/>
              <a:t> f”.]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72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 call this the ATV rule because it's about the A, T, V registers, and everyone forgets it.</a:t>
            </a:r>
          </a:p>
          <a:p>
            <a:r>
              <a:rPr lang="en-US" dirty="0"/>
              <a:t>	- fortunately, compilers can't forget. (unless we have a bug in our </a:t>
            </a:r>
            <a:r>
              <a:rPr lang="en-US" dirty="0" err="1"/>
              <a:t>codegen</a:t>
            </a:r>
            <a:r>
              <a:rPr lang="en-US" dirty="0"/>
              <a:t>. lol.)</a:t>
            </a:r>
          </a:p>
          <a:p>
            <a:endParaRPr lang="en-US" dirty="0"/>
          </a:p>
          <a:p>
            <a:r>
              <a:rPr lang="en-US" dirty="0"/>
              <a:t>[diagram: the code “glob = f(1)”, assuming “glob” is a global, is generated as a function call as before, but after the “</a:t>
            </a:r>
            <a:r>
              <a:rPr lang="en-US" dirty="0" err="1"/>
              <a:t>jal</a:t>
            </a:r>
            <a:r>
              <a:rPr lang="en-US" dirty="0"/>
              <a:t> f” we now have “</a:t>
            </a:r>
            <a:r>
              <a:rPr lang="en-US" dirty="0" err="1"/>
              <a:t>sw</a:t>
            </a:r>
            <a:r>
              <a:rPr lang="en-US" dirty="0"/>
              <a:t> v0, glob” to store the return value into “glob.” there is a conceptual “line” after the </a:t>
            </a:r>
            <a:r>
              <a:rPr lang="en-US" dirty="0" err="1"/>
              <a:t>jal</a:t>
            </a:r>
            <a:r>
              <a:rPr lang="en-US" dirty="0"/>
              <a:t>, after which the “a”, “t”, and “v” registers may contain different values than they did before the “</a:t>
            </a:r>
            <a:r>
              <a:rPr lang="en-US" dirty="0" err="1"/>
              <a:t>jal</a:t>
            </a:r>
            <a:r>
              <a:rPr lang="en-US" dirty="0"/>
              <a:t>”, but “s” registers are guaranteed to have the same value.]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73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[diagram: the “simple” function takes a single argument “x”. its stack frame is two slots: first is “x”, which was pushed by the caller; then comes the return address (“</a:t>
            </a:r>
            <a:r>
              <a:rPr lang="en-US" dirty="0" err="1"/>
              <a:t>ra</a:t>
            </a:r>
            <a:r>
              <a:rPr lang="en-US" dirty="0"/>
              <a:t>”), which this function pushes. remember that the stack grows down, so ”x” was pushed first, then “</a:t>
            </a:r>
            <a:r>
              <a:rPr lang="en-US" dirty="0" err="1"/>
              <a:t>ra</a:t>
            </a:r>
            <a:r>
              <a:rPr lang="en-US" dirty="0"/>
              <a:t>”, and if we push more things, they will go “below” </a:t>
            </a:r>
            <a:r>
              <a:rPr lang="en-US" dirty="0" err="1"/>
              <a:t>ra</a:t>
            </a:r>
            <a:r>
              <a:rPr lang="en-US" dirty="0"/>
              <a:t> but be conceptually on “top”.]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792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[diagram: a more complex function. it has an argument “x”, and two local variables “y” and “</a:t>
            </a:r>
            <a:r>
              <a:rPr lang="en-US" dirty="0" err="1"/>
              <a:t>i</a:t>
            </a:r>
            <a:r>
              <a:rPr lang="en-US" dirty="0"/>
              <a:t>”. every local variable gets its own stack slot, so from first thing pushed to last we have “x”, “</a:t>
            </a:r>
            <a:r>
              <a:rPr lang="en-US" dirty="0" err="1"/>
              <a:t>ra</a:t>
            </a:r>
            <a:r>
              <a:rPr lang="en-US" dirty="0"/>
              <a:t>”, “</a:t>
            </a:r>
            <a:r>
              <a:rPr lang="en-US" dirty="0" err="1"/>
              <a:t>i</a:t>
            </a:r>
            <a:r>
              <a:rPr lang="en-US" dirty="0"/>
              <a:t>”, and “y.” since </a:t>
            </a:r>
            <a:r>
              <a:rPr lang="en-US" dirty="0" err="1"/>
              <a:t>sp</a:t>
            </a:r>
            <a:r>
              <a:rPr lang="en-US" dirty="0"/>
              <a:t> is pointing to ”y”, we can access the locals and arguments by adding offsets to sp. “y” is at “</a:t>
            </a:r>
            <a:r>
              <a:rPr lang="en-US" dirty="0" err="1"/>
              <a:t>sp</a:t>
            </a:r>
            <a:r>
              <a:rPr lang="en-US" dirty="0"/>
              <a:t> + 0” (or ”0(</a:t>
            </a:r>
            <a:r>
              <a:rPr lang="en-US" dirty="0" err="1"/>
              <a:t>sp</a:t>
            </a:r>
            <a:r>
              <a:rPr lang="en-US" dirty="0"/>
              <a:t>)” in MIPS syntax); “</a:t>
            </a:r>
            <a:r>
              <a:rPr lang="en-US" dirty="0" err="1"/>
              <a:t>i</a:t>
            </a:r>
            <a:r>
              <a:rPr lang="en-US" dirty="0"/>
              <a:t>” is at “</a:t>
            </a:r>
            <a:r>
              <a:rPr lang="en-US" dirty="0" err="1"/>
              <a:t>sp</a:t>
            </a:r>
            <a:r>
              <a:rPr lang="en-US" dirty="0"/>
              <a:t> + 4”; and “x” is at “</a:t>
            </a:r>
            <a:r>
              <a:rPr lang="en-US" dirty="0" err="1"/>
              <a:t>sp</a:t>
            </a:r>
            <a:r>
              <a:rPr lang="en-US" dirty="0"/>
              <a:t> + 12”. remember the offsets are measured in bytes, so each slot is at a multiple of 4 bytes away from sp.]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282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[diagram: still the same function, where ”y” is at “</a:t>
            </a:r>
            <a:r>
              <a:rPr lang="en-US" dirty="0" err="1"/>
              <a:t>sp</a:t>
            </a:r>
            <a:r>
              <a:rPr lang="en-US" dirty="0"/>
              <a:t> + 0”, “</a:t>
            </a:r>
            <a:r>
              <a:rPr lang="en-US" dirty="0" err="1"/>
              <a:t>i</a:t>
            </a:r>
            <a:r>
              <a:rPr lang="en-US" dirty="0"/>
              <a:t>” is at “</a:t>
            </a:r>
            <a:r>
              <a:rPr lang="en-US" dirty="0" err="1"/>
              <a:t>sp</a:t>
            </a:r>
            <a:r>
              <a:rPr lang="en-US" dirty="0"/>
              <a:t> + 4”, and “x” is at ”</a:t>
            </a:r>
            <a:r>
              <a:rPr lang="en-US" dirty="0" err="1"/>
              <a:t>sp</a:t>
            </a:r>
            <a:r>
              <a:rPr lang="en-US" dirty="0"/>
              <a:t> + 12”. but now we try to generate code for the call to </a:t>
            </a:r>
            <a:r>
              <a:rPr lang="en-US" dirty="0" err="1"/>
              <a:t>println_i</a:t>
            </a:r>
            <a:r>
              <a:rPr lang="en-US" dirty="0"/>
              <a:t>. the first thing we do there is subtract 4 from </a:t>
            </a:r>
            <a:r>
              <a:rPr lang="en-US" dirty="0" err="1"/>
              <a:t>sp</a:t>
            </a:r>
            <a:r>
              <a:rPr lang="en-US" dirty="0"/>
              <a:t>, which totally messes up all our offsets! now “y” is at “</a:t>
            </a:r>
            <a:r>
              <a:rPr lang="en-US" dirty="0" err="1"/>
              <a:t>sp</a:t>
            </a:r>
            <a:r>
              <a:rPr lang="en-US" dirty="0"/>
              <a:t> + 4”, “</a:t>
            </a:r>
            <a:r>
              <a:rPr lang="en-US" dirty="0" err="1"/>
              <a:t>i</a:t>
            </a:r>
            <a:r>
              <a:rPr lang="en-US" dirty="0"/>
              <a:t>” is at “</a:t>
            </a:r>
            <a:r>
              <a:rPr lang="en-US" dirty="0" err="1"/>
              <a:t>sp</a:t>
            </a:r>
            <a:r>
              <a:rPr lang="en-US" dirty="0"/>
              <a:t> + 8”, and ”x” is at “</a:t>
            </a:r>
            <a:r>
              <a:rPr lang="en-US" dirty="0" err="1"/>
              <a:t>sp</a:t>
            </a:r>
            <a:r>
              <a:rPr lang="en-US" dirty="0"/>
              <a:t> + 16”. this is annoying, and it’s possible to make our compiler adjust the offsets automatically, but we’re </a:t>
            </a:r>
            <a:r>
              <a:rPr lang="en-US" dirty="0" err="1"/>
              <a:t>gonna</a:t>
            </a:r>
            <a:r>
              <a:rPr lang="en-US" dirty="0"/>
              <a:t> do something else.]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486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many architectures have a "frame" or "base" pointer register. x86 calls it </a:t>
            </a:r>
            <a:r>
              <a:rPr lang="en-US" dirty="0" err="1"/>
              <a:t>ebp</a:t>
            </a:r>
            <a:r>
              <a:rPr lang="en-US" dirty="0"/>
              <a:t> (or </a:t>
            </a:r>
            <a:r>
              <a:rPr lang="en-US" dirty="0" err="1"/>
              <a:t>rbp</a:t>
            </a:r>
            <a:r>
              <a:rPr lang="en-US" dirty="0"/>
              <a:t> on x64).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[diagram: going back to the “simple” function which just has an argument “x” and no locals. when we enter this function, we will push “</a:t>
            </a:r>
            <a:r>
              <a:rPr lang="en-US" dirty="0" err="1"/>
              <a:t>fp</a:t>
            </a:r>
            <a:r>
              <a:rPr lang="en-US" dirty="0"/>
              <a:t>” and “</a:t>
            </a:r>
            <a:r>
              <a:rPr lang="en-US" dirty="0" err="1"/>
              <a:t>ra</a:t>
            </a:r>
            <a:r>
              <a:rPr lang="en-US" dirty="0"/>
              <a:t>”, and then make “</a:t>
            </a:r>
            <a:r>
              <a:rPr lang="en-US" dirty="0" err="1"/>
              <a:t>fp</a:t>
            </a:r>
            <a:r>
              <a:rPr lang="en-US" dirty="0"/>
              <a:t>” point at the argument “x”. now “</a:t>
            </a:r>
            <a:r>
              <a:rPr lang="en-US" dirty="0" err="1"/>
              <a:t>fp</a:t>
            </a:r>
            <a:r>
              <a:rPr lang="en-US" dirty="0"/>
              <a:t>” and “</a:t>
            </a:r>
            <a:r>
              <a:rPr lang="en-US" dirty="0" err="1"/>
              <a:t>sp</a:t>
            </a:r>
            <a:r>
              <a:rPr lang="en-US" dirty="0"/>
              <a:t>” point to different parts of the stack frame: ”</a:t>
            </a:r>
            <a:r>
              <a:rPr lang="en-US" dirty="0" err="1"/>
              <a:t>fp</a:t>
            </a:r>
            <a:r>
              <a:rPr lang="en-US" dirty="0"/>
              <a:t>” points at the first argument, and “</a:t>
            </a:r>
            <a:r>
              <a:rPr lang="en-US" dirty="0" err="1"/>
              <a:t>sp</a:t>
            </a:r>
            <a:r>
              <a:rPr lang="en-US" dirty="0"/>
              <a:t>” points at the most-recently-pushed thing.]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303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[diagram: back to the more complex function, with argument ”x” and locals “y” and “</a:t>
            </a:r>
            <a:r>
              <a:rPr lang="en-US" dirty="0" err="1"/>
              <a:t>i</a:t>
            </a:r>
            <a:r>
              <a:rPr lang="en-US" dirty="0"/>
              <a:t>”. the trick is to refer to all the arguments AND local variables using offsets from “</a:t>
            </a:r>
            <a:r>
              <a:rPr lang="en-US" dirty="0" err="1"/>
              <a:t>fp</a:t>
            </a:r>
            <a:r>
              <a:rPr lang="en-US" dirty="0"/>
              <a:t>” instead of “</a:t>
            </a:r>
            <a:r>
              <a:rPr lang="en-US" dirty="0" err="1"/>
              <a:t>sp</a:t>
            </a:r>
            <a:r>
              <a:rPr lang="en-US" dirty="0"/>
              <a:t>,” using negative offsets for the locals. the stack frame from top to bottom is ”x”, “</a:t>
            </a:r>
            <a:r>
              <a:rPr lang="en-US" dirty="0" err="1"/>
              <a:t>fp</a:t>
            </a:r>
            <a:r>
              <a:rPr lang="en-US" dirty="0"/>
              <a:t>”, “</a:t>
            </a:r>
            <a:r>
              <a:rPr lang="en-US" dirty="0" err="1"/>
              <a:t>ra</a:t>
            </a:r>
            <a:r>
              <a:rPr lang="en-US" dirty="0"/>
              <a:t>”, “</a:t>
            </a:r>
            <a:r>
              <a:rPr lang="en-US" dirty="0" err="1"/>
              <a:t>i</a:t>
            </a:r>
            <a:r>
              <a:rPr lang="en-US" dirty="0"/>
              <a:t>”, and “y”. “x” is the argument and is at “</a:t>
            </a:r>
            <a:r>
              <a:rPr lang="en-US" dirty="0" err="1"/>
              <a:t>fp</a:t>
            </a:r>
            <a:r>
              <a:rPr lang="en-US" dirty="0"/>
              <a:t> + 0”. “</a:t>
            </a:r>
            <a:r>
              <a:rPr lang="en-US" dirty="0" err="1"/>
              <a:t>i</a:t>
            </a:r>
            <a:r>
              <a:rPr lang="en-US" dirty="0"/>
              <a:t>” is a local and is at “</a:t>
            </a:r>
            <a:r>
              <a:rPr lang="en-US" dirty="0" err="1"/>
              <a:t>fp</a:t>
            </a:r>
            <a:r>
              <a:rPr lang="en-US" dirty="0"/>
              <a:t> - 12”. ”y” is another local and is at “</a:t>
            </a:r>
            <a:r>
              <a:rPr lang="en-US" dirty="0" err="1"/>
              <a:t>fp</a:t>
            </a:r>
            <a:r>
              <a:rPr lang="en-US" dirty="0"/>
              <a:t> - 16”. Now, it doesn’t matter if we move </a:t>
            </a:r>
            <a:r>
              <a:rPr lang="en-US" dirty="0" err="1"/>
              <a:t>sp</a:t>
            </a:r>
            <a:r>
              <a:rPr lang="en-US" dirty="0"/>
              <a:t> up or down, because those offsets from </a:t>
            </a:r>
            <a:r>
              <a:rPr lang="en-US" dirty="0" err="1"/>
              <a:t>fp</a:t>
            </a:r>
            <a:r>
              <a:rPr lang="en-US" dirty="0"/>
              <a:t> never change.]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917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remember that "</a:t>
            </a:r>
            <a:r>
              <a:rPr lang="en-US" b="1" dirty="0"/>
              <a:t>move </a:t>
            </a:r>
            <a:r>
              <a:rPr lang="en-US" b="1" dirty="0" err="1"/>
              <a:t>fp</a:t>
            </a:r>
            <a:r>
              <a:rPr lang="en-US" b="1" dirty="0"/>
              <a:t>, </a:t>
            </a:r>
            <a:r>
              <a:rPr lang="en-US" b="1" dirty="0" err="1"/>
              <a:t>sp</a:t>
            </a:r>
            <a:r>
              <a:rPr lang="en-US" dirty="0"/>
              <a:t>" is like "</a:t>
            </a:r>
            <a:r>
              <a:rPr lang="en-US" b="1" dirty="0" err="1"/>
              <a:t>fp</a:t>
            </a:r>
            <a:r>
              <a:rPr lang="en-US" b="1" dirty="0"/>
              <a:t> = </a:t>
            </a:r>
            <a:r>
              <a:rPr lang="en-US" b="1" dirty="0" err="1"/>
              <a:t>sp</a:t>
            </a:r>
            <a:r>
              <a:rPr lang="en-US" dirty="0"/>
              <a:t>", </a:t>
            </a:r>
            <a:r>
              <a:rPr lang="en-US" i="1" dirty="0"/>
              <a:t>NOT "move </a:t>
            </a:r>
            <a:r>
              <a:rPr lang="en-US" i="1" dirty="0" err="1"/>
              <a:t>fp</a:t>
            </a:r>
            <a:r>
              <a:rPr lang="en-US" i="1" dirty="0"/>
              <a:t> into </a:t>
            </a:r>
            <a:r>
              <a:rPr lang="en-US" i="1" dirty="0" err="1"/>
              <a:t>sp</a:t>
            </a:r>
            <a:r>
              <a:rPr lang="en-US" i="1" dirty="0"/>
              <a:t>"</a:t>
            </a:r>
          </a:p>
          <a:p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74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0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14501"/>
            <a:ext cx="7772400" cy="1225021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77645"/>
            <a:ext cx="7772400" cy="1460500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162300"/>
            <a:ext cx="9144000" cy="18288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</p:spTree>
    <p:extLst/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801659"/>
          </a:xfrm>
        </p:spPr>
        <p:txBody>
          <a:bodyPr>
            <a:normAutofit/>
          </a:bodyPr>
          <a:lstStyle>
            <a:lvl1pPr marL="257175" indent="-257175">
              <a:buSzPct val="100000"/>
              <a:buFont typeface="Trebuchet MS" pitchFamily="34" charset="0"/>
              <a:buChar char="●"/>
              <a:defRPr sz="2200"/>
            </a:lvl1pPr>
            <a:lvl2pPr marL="515780" indent="-257175">
              <a:defRPr sz="2200"/>
            </a:lvl2pPr>
            <a:lvl3pPr marL="772955" indent="-250032">
              <a:tabLst/>
              <a:defRPr sz="2200" b="0"/>
            </a:lvl3pPr>
            <a:lvl4pPr marL="1031558" indent="-257175">
              <a:tabLst/>
              <a:defRPr sz="2200" b="0"/>
            </a:lvl4pPr>
            <a:lvl5pPr marL="1285875" indent="-254318"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Title and Content (no ani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801659"/>
          </a:xfrm>
        </p:spPr>
        <p:txBody>
          <a:bodyPr>
            <a:normAutofit/>
          </a:bodyPr>
          <a:lstStyle>
            <a:lvl1pPr marL="257175" indent="-257175">
              <a:buSzPct val="100000"/>
              <a:buFont typeface="Trebuchet MS" pitchFamily="34" charset="0"/>
              <a:buChar char="●"/>
              <a:defRPr sz="2200"/>
            </a:lvl1pPr>
            <a:lvl2pPr marL="515780" indent="-257175">
              <a:defRPr sz="2200"/>
            </a:lvl2pPr>
            <a:lvl3pPr marL="772955" indent="-250032">
              <a:tabLst/>
              <a:defRPr sz="2200" b="0"/>
            </a:lvl3pPr>
            <a:lvl4pPr marL="1031558" indent="-257175">
              <a:tabLst/>
              <a:defRPr sz="2200" b="0"/>
            </a:lvl4pPr>
            <a:lvl5pPr marL="1285875" indent="-254318"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0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14501"/>
            <a:ext cx="7772400" cy="1225021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162300"/>
            <a:ext cx="9144000" cy="18288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</p:spTree>
    <p:extLst/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4"/>
            <a:ext cx="5111750" cy="4877594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9"/>
            <a:ext cx="3008313" cy="3909219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3"/>
            <a:ext cx="5486400" cy="670719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7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7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5600700"/>
            <a:ext cx="9144000" cy="114300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495300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495301"/>
            <a:ext cx="8991600" cy="4801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5296960"/>
            <a:ext cx="12192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5296960"/>
            <a:ext cx="6858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ransition/>
  <p:hf hdr="0" ftr="0" dt="0"/>
  <p:txStyles>
    <p:titleStyle>
      <a:lvl1pPr algn="l" defTabSz="82296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+mj-lt"/>
          <a:ea typeface="GulimChe" pitchFamily="49" charset="-127"/>
          <a:cs typeface="MoolBoran" pitchFamily="34" charset="0"/>
        </a:defRPr>
      </a:lvl1pPr>
    </p:titleStyle>
    <p:bodyStyle>
      <a:lvl1pPr marL="204312" indent="-204312" algn="l" defTabSz="822960" rtl="0" eaLnBrk="1" latinLnBrk="0" hangingPunct="1">
        <a:spcBef>
          <a:spcPts val="0"/>
        </a:spcBef>
        <a:buSzPct val="150000"/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5767" indent="-207170" algn="l" defTabSz="822960" rtl="0" eaLnBrk="1" latinLnBrk="0" hangingPunct="1">
        <a:spcBef>
          <a:spcPts val="0"/>
        </a:spcBef>
        <a:buFont typeface="Courier New" pitchFamily="49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620078" indent="-205740" algn="l" defTabSz="822960" rtl="0" eaLnBrk="1" latinLnBrk="0" hangingPunct="1">
        <a:spcBef>
          <a:spcPts val="0"/>
        </a:spcBef>
        <a:buFont typeface="Wingdings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821532" indent="-205740" algn="l" defTabSz="822960" rtl="0" eaLnBrk="1" latinLnBrk="0" hangingPunct="1">
        <a:spcBef>
          <a:spcPts val="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205740" algn="l" defTabSz="822960" rtl="0" eaLnBrk="1" latinLnBrk="0" hangingPunct="1">
        <a:spcBef>
          <a:spcPts val="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ABI and </a:t>
            </a:r>
            <a:r>
              <a:rPr lang="en-US" dirty="0" err="1"/>
              <a:t>Codegen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 1622</a:t>
            </a:r>
          </a:p>
          <a:p>
            <a:r>
              <a:rPr lang="en-US" dirty="0"/>
              <a:t>Jarrett Billingsley</a:t>
            </a:r>
          </a:p>
        </p:txBody>
      </p:sp>
    </p:spTree>
    <p:extLst>
      <p:ext uri="{BB962C8B-B14F-4D97-AF65-F5344CB8AC3E}">
        <p14:creationId xmlns:p14="http://schemas.microsoft.com/office/powerpoint/2010/main" val="36120865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17CE-A372-C744-8763-80C56E42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EBBF7-1C6E-294A-B5C4-174BB20AA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how's the project?</a:t>
            </a:r>
          </a:p>
          <a:p>
            <a:r>
              <a:rPr lang="en-US" dirty="0"/>
              <a:t>project 2 grades will be posted today!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C32BD-B01F-C646-91E9-D5AAEE75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7440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4D4EF-DD95-E842-993F-FFCE525367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Application </a:t>
            </a:r>
            <a:br>
              <a:rPr lang="en-US" dirty="0"/>
            </a:br>
            <a:r>
              <a:rPr lang="en-US" dirty="0"/>
              <a:t>Binary Interfaces (ABIs)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7E100F-6013-D24E-B2CE-7878D12A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103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29531-B2C5-7B45-BC9E-D72C23AB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API, but with a B instead of a 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BBE66-A094-A849-9F48-A6AACBAC4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828799"/>
          </a:xfrm>
        </p:spPr>
        <p:txBody>
          <a:bodyPr/>
          <a:lstStyle/>
          <a:p>
            <a:r>
              <a:rPr lang="en-US" dirty="0"/>
              <a:t>the backend converts the concept of "a program" into something the CPU can actually execute – </a:t>
            </a:r>
            <a:r>
              <a:rPr lang="en-US" b="1" dirty="0"/>
              <a:t>machine code.</a:t>
            </a:r>
            <a:endParaRPr lang="en-US" dirty="0"/>
          </a:p>
          <a:p>
            <a:r>
              <a:rPr lang="en-US" dirty="0"/>
              <a:t>an </a:t>
            </a:r>
            <a:r>
              <a:rPr lang="en-US" b="1" dirty="0"/>
              <a:t>Application Binary Interface </a:t>
            </a:r>
            <a:r>
              <a:rPr lang="en-US" dirty="0"/>
              <a:t>is a </a:t>
            </a:r>
            <a:r>
              <a:rPr lang="en-US" b="1" dirty="0"/>
              <a:t>set of rules </a:t>
            </a:r>
            <a:r>
              <a:rPr lang="en-US" dirty="0"/>
              <a:t>that sets the standards for how </a:t>
            </a:r>
            <a:r>
              <a:rPr lang="en-US" b="1" dirty="0"/>
              <a:t>machine code</a:t>
            </a:r>
            <a:r>
              <a:rPr lang="en-US" dirty="0"/>
              <a:t> programs look and work.</a:t>
            </a:r>
          </a:p>
          <a:p>
            <a:pPr lvl="1"/>
            <a:r>
              <a:rPr lang="en-US" dirty="0"/>
              <a:t>so, the ABI will guide how we actually generate the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B5138-6FE3-C24C-8170-F24E1FA0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8200" y="5296960"/>
            <a:ext cx="685800" cy="304271"/>
          </a:xfrm>
        </p:spPr>
        <p:txBody>
          <a:bodyPr/>
          <a:lstStyle/>
          <a:p>
            <a:fld id="{3552B95B-556F-44BD-91A5-D80C1B9E2BB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63E9C8-E490-634A-9EF3-E71EEED2F0F0}"/>
              </a:ext>
            </a:extLst>
          </p:cNvPr>
          <p:cNvSpPr/>
          <p:nvPr/>
        </p:nvSpPr>
        <p:spPr>
          <a:xfrm>
            <a:off x="5334000" y="4153960"/>
            <a:ext cx="3352800" cy="6868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Architectural ABI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0048FD-A260-9F4E-A088-F86AE1F1E003}"/>
              </a:ext>
            </a:extLst>
          </p:cNvPr>
          <p:cNvSpPr/>
          <p:nvPr/>
        </p:nvSpPr>
        <p:spPr>
          <a:xfrm>
            <a:off x="5486400" y="3467100"/>
            <a:ext cx="3048000" cy="68686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OS ABI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00C2C4-35AE-FD43-A98C-FE0896DF5698}"/>
              </a:ext>
            </a:extLst>
          </p:cNvPr>
          <p:cNvSpPr/>
          <p:nvPr/>
        </p:nvSpPr>
        <p:spPr>
          <a:xfrm>
            <a:off x="5638800" y="2780240"/>
            <a:ext cx="2743200" cy="68686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Language ABI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6EBD7-95FF-2742-B045-5883E77F9927}"/>
              </a:ext>
            </a:extLst>
          </p:cNvPr>
          <p:cNvSpPr txBox="1"/>
          <p:nvPr/>
        </p:nvSpPr>
        <p:spPr>
          <a:xfrm>
            <a:off x="457200" y="2702534"/>
            <a:ext cx="4343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to make things more interesting, "the" ABI is probably composed of multiple layers of rules.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C3858-48B5-2948-9C4B-120CDDA96C0D}"/>
              </a:ext>
            </a:extLst>
          </p:cNvPr>
          <p:cNvSpPr txBox="1"/>
          <p:nvPr/>
        </p:nvSpPr>
        <p:spPr>
          <a:xfrm>
            <a:off x="228600" y="4054873"/>
            <a:ext cx="48620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things can get very interesting at the </a:t>
            </a:r>
            <a:r>
              <a:rPr lang="en-US" sz="2200" b="1" dirty="0"/>
              <a:t>boundaries</a:t>
            </a:r>
            <a:r>
              <a:rPr lang="en-US" sz="2200" dirty="0"/>
              <a:t> between these layers…</a:t>
            </a:r>
          </a:p>
        </p:txBody>
      </p:sp>
    </p:spTree>
    <p:extLst>
      <p:ext uri="{BB962C8B-B14F-4D97-AF65-F5344CB8AC3E}">
        <p14:creationId xmlns:p14="http://schemas.microsoft.com/office/powerpoint/2010/main" val="34053283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27E9-DB9E-614F-AECE-FB239CDF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lowest layer: the Architectural ABI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D5BB8-0122-B740-BB51-C9E7E0A87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828799"/>
          </a:xfrm>
        </p:spPr>
        <p:txBody>
          <a:bodyPr/>
          <a:lstStyle/>
          <a:p>
            <a:r>
              <a:rPr lang="en-US" dirty="0"/>
              <a:t>the designers of an ISA </a:t>
            </a:r>
            <a:r>
              <a:rPr lang="en-US" i="1" dirty="0"/>
              <a:t>may</a:t>
            </a:r>
            <a:r>
              <a:rPr lang="en-US" dirty="0"/>
              <a:t> define an ABI to go with it.</a:t>
            </a:r>
          </a:p>
          <a:p>
            <a:pPr lvl="1"/>
            <a:r>
              <a:rPr lang="en-US" dirty="0"/>
              <a:t>as the designers, they may have included special features for e.g. making function calls faster if you use those features as intended.</a:t>
            </a:r>
          </a:p>
          <a:p>
            <a:r>
              <a:rPr lang="en-US" dirty="0"/>
              <a:t>these may be bare-bones, including rules on how to do </a:t>
            </a:r>
            <a:r>
              <a:rPr lang="en-US" b="1" dirty="0"/>
              <a:t>function calls </a:t>
            </a:r>
            <a:r>
              <a:rPr lang="en-US" dirty="0"/>
              <a:t>and </a:t>
            </a:r>
            <a:r>
              <a:rPr lang="en-US" b="1" dirty="0"/>
              <a:t>object file formats,</a:t>
            </a:r>
            <a:r>
              <a:rPr lang="en-US" dirty="0"/>
              <a:t> and not much else.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CB167-22D5-6543-A87E-244AE4A0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97FE1-B2AB-2347-BB74-7BA2E906644B}"/>
              </a:ext>
            </a:extLst>
          </p:cNvPr>
          <p:cNvSpPr txBox="1"/>
          <p:nvPr/>
        </p:nvSpPr>
        <p:spPr>
          <a:xfrm>
            <a:off x="685800" y="2490476"/>
            <a:ext cx="48620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these are widely used on </a:t>
            </a:r>
            <a:r>
              <a:rPr lang="en-US" sz="2200" b="1" dirty="0"/>
              <a:t>embedded devices</a:t>
            </a:r>
            <a:r>
              <a:rPr lang="en-US" sz="2200" dirty="0"/>
              <a:t> where there is no OS – your program runs "on the bare metal." </a:t>
            </a:r>
          </a:p>
        </p:txBody>
      </p:sp>
      <p:pic>
        <p:nvPicPr>
          <p:cNvPr id="6" name="Shape 137" descr="Image result for arduino">
            <a:extLst>
              <a:ext uri="{FF2B5EF4-FFF2-40B4-BE49-F238E27FC236}">
                <a16:creationId xmlns:a16="http://schemas.microsoft.com/office/drawing/2014/main" id="{25BE7F46-F1E8-9345-9093-295CD537109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0772" y="2857500"/>
            <a:ext cx="2717429" cy="190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 descr="mage result for esp32">
            <a:extLst>
              <a:ext uri="{FF2B5EF4-FFF2-40B4-BE49-F238E27FC236}">
                <a16:creationId xmlns:a16="http://schemas.microsoft.com/office/drawing/2014/main" id="{F0937E1E-5AD2-1040-9ED7-9A272FA7B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788199"/>
            <a:ext cx="1723369" cy="150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Shape 135" descr="Image result for attiny">
            <a:extLst>
              <a:ext uri="{FF2B5EF4-FFF2-40B4-BE49-F238E27FC236}">
                <a16:creationId xmlns:a16="http://schemas.microsoft.com/office/drawing/2014/main" id="{44A2CE16-57CE-9042-86C9-387869A7F1C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9780" t="6569" r="19786" b="2180"/>
          <a:stretch/>
        </p:blipFill>
        <p:spPr>
          <a:xfrm>
            <a:off x="4569542" y="3802499"/>
            <a:ext cx="933063" cy="10566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59582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15108-46E3-A943-BF59-F8A2BF359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Operating Systems have opinions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1AB84-462D-304F-A35D-9D4DD50C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of an operating system is to </a:t>
            </a:r>
            <a:r>
              <a:rPr lang="en-US" b="1" dirty="0"/>
              <a:t>control access to your computer's resources </a:t>
            </a:r>
            <a:r>
              <a:rPr lang="en-US" dirty="0"/>
              <a:t>and make the programs </a:t>
            </a:r>
            <a:r>
              <a:rPr lang="en-US" b="1" dirty="0"/>
              <a:t>share</a:t>
            </a:r>
            <a:r>
              <a:rPr lang="en-US" dirty="0"/>
              <a:t> them.</a:t>
            </a:r>
          </a:p>
          <a:p>
            <a:r>
              <a:rPr lang="en-US" dirty="0"/>
              <a:t>so, the designers of OSes will define their </a:t>
            </a:r>
            <a:r>
              <a:rPr lang="en-US" b="1" dirty="0"/>
              <a:t>own </a:t>
            </a:r>
            <a:r>
              <a:rPr lang="en-US" dirty="0"/>
              <a:t>ABI which are much more extensive, including rules for:</a:t>
            </a:r>
          </a:p>
          <a:p>
            <a:pPr lvl="1"/>
            <a:r>
              <a:rPr lang="en-US" dirty="0"/>
              <a:t>how </a:t>
            </a:r>
            <a:r>
              <a:rPr lang="en-US" b="1" dirty="0"/>
              <a:t>function calls</a:t>
            </a:r>
            <a:r>
              <a:rPr lang="en-US" dirty="0"/>
              <a:t> work</a:t>
            </a:r>
          </a:p>
          <a:p>
            <a:pPr lvl="2"/>
            <a:r>
              <a:rPr lang="en-US" dirty="0"/>
              <a:t>this </a:t>
            </a:r>
            <a:r>
              <a:rPr lang="en-US" i="1" dirty="0"/>
              <a:t>may</a:t>
            </a:r>
            <a:r>
              <a:rPr lang="en-US" dirty="0"/>
              <a:t> be built on the architectural ABI, or it may be unique!</a:t>
            </a:r>
          </a:p>
          <a:p>
            <a:pPr lvl="1"/>
            <a:r>
              <a:rPr lang="en-US" dirty="0"/>
              <a:t>how </a:t>
            </a:r>
            <a:r>
              <a:rPr lang="en-US" b="1" dirty="0"/>
              <a:t>system calls</a:t>
            </a:r>
            <a:r>
              <a:rPr lang="en-US" dirty="0"/>
              <a:t> work, to ask the OS to do things for you</a:t>
            </a:r>
          </a:p>
          <a:p>
            <a:pPr lvl="1"/>
            <a:r>
              <a:rPr lang="en-US" dirty="0"/>
              <a:t>how </a:t>
            </a:r>
            <a:r>
              <a:rPr lang="en-US" b="1" dirty="0"/>
              <a:t>asynchronous messages</a:t>
            </a:r>
            <a:r>
              <a:rPr lang="en-US" dirty="0"/>
              <a:t> are delivered to running programs</a:t>
            </a:r>
          </a:p>
          <a:p>
            <a:pPr lvl="1"/>
            <a:r>
              <a:rPr lang="en-US" dirty="0"/>
              <a:t>how </a:t>
            </a:r>
            <a:r>
              <a:rPr lang="en-US" b="1" dirty="0"/>
              <a:t>executables</a:t>
            </a:r>
            <a:r>
              <a:rPr lang="en-US" dirty="0"/>
              <a:t> and </a:t>
            </a:r>
            <a:r>
              <a:rPr lang="en-US" b="1" dirty="0"/>
              <a:t>shared libraries</a:t>
            </a:r>
            <a:r>
              <a:rPr lang="en-US" dirty="0"/>
              <a:t> are packaged</a:t>
            </a:r>
          </a:p>
          <a:p>
            <a:pPr lvl="1"/>
            <a:r>
              <a:rPr lang="en-US" dirty="0"/>
              <a:t>how </a:t>
            </a:r>
            <a:r>
              <a:rPr lang="en-US" b="1" dirty="0"/>
              <a:t>memory </a:t>
            </a:r>
            <a:r>
              <a:rPr lang="en-US" dirty="0"/>
              <a:t>is laid out and where parts of your program exist</a:t>
            </a:r>
          </a:p>
          <a:p>
            <a:r>
              <a:rPr lang="en-US" b="1" dirty="0"/>
              <a:t>these </a:t>
            </a:r>
            <a:r>
              <a:rPr lang="en-US" dirty="0"/>
              <a:t>are the kinds of ABIs most compilers are generating code for, most of the time.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D256C-25DD-2242-8FA5-0F7887D59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554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3F30-E651-C34D-A1D8-09AA34F5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highest layer: your language's own ABI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EB0E2-04C1-F24D-A41A-A811A4CF7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dirty="0"/>
              <a:t>HLLs can have features which are not accounted for by either the architectural or OS ABIs, so they have to make their own rules.</a:t>
            </a:r>
          </a:p>
          <a:p>
            <a:r>
              <a:rPr lang="en-US" dirty="0"/>
              <a:t>this might include features like: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73AA3-169A-2B44-BF45-0EE4890B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3786B0-E383-E042-A179-29EDB1A53780}"/>
              </a:ext>
            </a:extLst>
          </p:cNvPr>
          <p:cNvSpPr txBox="1"/>
          <p:nvPr/>
        </p:nvSpPr>
        <p:spPr>
          <a:xfrm>
            <a:off x="1295400" y="2134731"/>
            <a:ext cx="215956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...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throw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catch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(...) {</a:t>
            </a:r>
            <a:b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...</a:t>
            </a:r>
            <a:b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finally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...</a:t>
            </a:r>
            <a:b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4D9C7-51DF-344F-9CA8-DE06E1B47A66}"/>
              </a:ext>
            </a:extLst>
          </p:cNvPr>
          <p:cNvSpPr txBox="1"/>
          <p:nvPr/>
        </p:nvSpPr>
        <p:spPr>
          <a:xfrm>
            <a:off x="1297858" y="1667397"/>
            <a:ext cx="18632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exceptions!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DEC00F-AF03-1F4F-B2F3-79810FDDC266}"/>
              </a:ext>
            </a:extLst>
          </p:cNvPr>
          <p:cNvSpPr txBox="1"/>
          <p:nvPr/>
        </p:nvSpPr>
        <p:spPr>
          <a:xfrm>
            <a:off x="4114800" y="2134731"/>
            <a:ext cx="3852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String s = </a:t>
            </a:r>
            <a:r>
              <a:rPr lang="en-US" sz="2000" b="1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obj.toString</a:t>
            </a:r>
            <a:r>
              <a:rPr lang="en-US" sz="2000" b="1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0F1E86-6A6E-454C-A121-A1380180C5FA}"/>
              </a:ext>
            </a:extLst>
          </p:cNvPr>
          <p:cNvSpPr txBox="1"/>
          <p:nvPr/>
        </p:nvSpPr>
        <p:spPr>
          <a:xfrm>
            <a:off x="4114800" y="1667397"/>
            <a:ext cx="373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dynamic method dispatch!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1230CB-CE07-F145-AACC-2B21A13D0BAF}"/>
              </a:ext>
            </a:extLst>
          </p:cNvPr>
          <p:cNvSpPr txBox="1"/>
          <p:nvPr/>
        </p:nvSpPr>
        <p:spPr>
          <a:xfrm>
            <a:off x="4724400" y="3199031"/>
            <a:ext cx="31470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auto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f = [&amp;]() {</a:t>
            </a:r>
            <a:b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wheee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!\n"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F4ED2A-B641-4747-BAD0-711973C764EF}"/>
              </a:ext>
            </a:extLst>
          </p:cNvPr>
          <p:cNvSpPr txBox="1"/>
          <p:nvPr/>
        </p:nvSpPr>
        <p:spPr>
          <a:xfrm>
            <a:off x="5004965" y="2781300"/>
            <a:ext cx="25858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function closures!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49709-CE8B-354C-A038-25744FEB9F3C}"/>
              </a:ext>
            </a:extLst>
          </p:cNvPr>
          <p:cNvSpPr txBox="1"/>
          <p:nvPr/>
        </p:nvSpPr>
        <p:spPr>
          <a:xfrm>
            <a:off x="533400" y="4498151"/>
            <a:ext cx="8431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however, if you're not careful defining your language, </a:t>
            </a:r>
            <a:r>
              <a:rPr lang="en-US" sz="2200" b="1" dirty="0"/>
              <a:t>different compilers </a:t>
            </a:r>
            <a:r>
              <a:rPr lang="en-US" sz="2200" dirty="0"/>
              <a:t>for the </a:t>
            </a:r>
            <a:r>
              <a:rPr lang="en-US" sz="2200" b="1" dirty="0"/>
              <a:t>same language</a:t>
            </a:r>
            <a:r>
              <a:rPr lang="en-US" sz="2200" dirty="0"/>
              <a:t> can use different ABIs…</a:t>
            </a:r>
          </a:p>
        </p:txBody>
      </p:sp>
    </p:spTree>
    <p:extLst>
      <p:ext uri="{BB962C8B-B14F-4D97-AF65-F5344CB8AC3E}">
        <p14:creationId xmlns:p14="http://schemas.microsoft.com/office/powerpoint/2010/main" val="4859736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DCBA-8C2A-F849-A6D4-1DD995D2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ABIs collide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C56AD-01B4-9A4B-83A7-476584E28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dirty="0"/>
              <a:t>let's say a language has </a:t>
            </a:r>
            <a:r>
              <a:rPr lang="en-US" b="1" dirty="0"/>
              <a:t>no standardized ABI for method calls.</a:t>
            </a:r>
          </a:p>
          <a:p>
            <a:r>
              <a:rPr lang="en-US" dirty="0"/>
              <a:t>then, different compilers may have their own </a:t>
            </a:r>
            <a:r>
              <a:rPr lang="en-US" b="1" dirty="0"/>
              <a:t>incompatible </a:t>
            </a:r>
            <a:r>
              <a:rPr lang="en-US" dirty="0"/>
              <a:t>ways of generating code for method calls, leading to really nasty situations.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137C3-8080-9447-B08B-A0F644C2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958838-6E69-C347-8D82-8A5B0F7D5CE7}"/>
              </a:ext>
            </a:extLst>
          </p:cNvPr>
          <p:cNvSpPr/>
          <p:nvPr/>
        </p:nvSpPr>
        <p:spPr>
          <a:xfrm>
            <a:off x="1367296" y="2479132"/>
            <a:ext cx="1532603" cy="99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/>
              <a:t>Program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37FB1-C11B-C740-A944-4F495F0A7849}"/>
              </a:ext>
            </a:extLst>
          </p:cNvPr>
          <p:cNvSpPr txBox="1"/>
          <p:nvPr/>
        </p:nvSpPr>
        <p:spPr>
          <a:xfrm>
            <a:off x="352731" y="1611737"/>
            <a:ext cx="35617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program was compiled with </a:t>
            </a:r>
            <a:r>
              <a:rPr lang="en-US" sz="2200" b="1" dirty="0"/>
              <a:t>Compiler A.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A4FE59-A59F-214D-BF76-8AEC17A225A0}"/>
              </a:ext>
            </a:extLst>
          </p:cNvPr>
          <p:cNvSpPr txBox="1"/>
          <p:nvPr/>
        </p:nvSpPr>
        <p:spPr>
          <a:xfrm>
            <a:off x="4227254" y="1611737"/>
            <a:ext cx="4764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you wrote a </a:t>
            </a:r>
            <a:r>
              <a:rPr lang="en-US" sz="2200" b="1" dirty="0"/>
              <a:t>plugin </a:t>
            </a:r>
            <a:r>
              <a:rPr lang="en-US" sz="2200" dirty="0"/>
              <a:t>in the </a:t>
            </a:r>
            <a:r>
              <a:rPr lang="en-US" sz="2200" i="1" dirty="0"/>
              <a:t>same language,</a:t>
            </a:r>
            <a:r>
              <a:rPr lang="en-US" sz="2200" dirty="0"/>
              <a:t> but you used </a:t>
            </a:r>
            <a:r>
              <a:rPr lang="en-US" sz="2200" b="1" dirty="0"/>
              <a:t>Compiler B.</a:t>
            </a:r>
            <a:endParaRPr lang="en-US" sz="2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5F5F60-5CD4-E347-B3E3-447388FBA174}"/>
              </a:ext>
            </a:extLst>
          </p:cNvPr>
          <p:cNvSpPr/>
          <p:nvPr/>
        </p:nvSpPr>
        <p:spPr>
          <a:xfrm>
            <a:off x="5943600" y="2479132"/>
            <a:ext cx="1532603" cy="990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/>
              <a:t>Plugin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A074D8-6604-9B44-BFBC-2F9C0CA5FDF0}"/>
              </a:ext>
            </a:extLst>
          </p:cNvPr>
          <p:cNvSpPr txBox="1"/>
          <p:nvPr/>
        </p:nvSpPr>
        <p:spPr>
          <a:xfrm>
            <a:off x="1981200" y="3615780"/>
            <a:ext cx="50292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program tries to </a:t>
            </a:r>
            <a:r>
              <a:rPr lang="en-US" sz="2200" b="1" dirty="0"/>
              <a:t>call a method </a:t>
            </a:r>
            <a:r>
              <a:rPr lang="en-US" sz="2200" dirty="0"/>
              <a:t>in your plugin, and… what happens?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947370-9005-8148-B197-F31A35C9DB0D}"/>
              </a:ext>
            </a:extLst>
          </p:cNvPr>
          <p:cNvSpPr txBox="1"/>
          <p:nvPr/>
        </p:nvSpPr>
        <p:spPr>
          <a:xfrm>
            <a:off x="340440" y="4538580"/>
            <a:ext cx="84606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i="1" dirty="0"/>
              <a:t>who knows? </a:t>
            </a:r>
            <a:r>
              <a:rPr lang="en-US" sz="2200" dirty="0"/>
              <a:t>it might silently fail, it might crash immediately, it might corrupt the stack or heap in more subtle ways, etc.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B750E9A-9509-5D47-AB75-F0B033975D9D}"/>
              </a:ext>
            </a:extLst>
          </p:cNvPr>
          <p:cNvGrpSpPr/>
          <p:nvPr/>
        </p:nvGrpSpPr>
        <p:grpSpPr>
          <a:xfrm>
            <a:off x="2899899" y="2525124"/>
            <a:ext cx="3043701" cy="449308"/>
            <a:chOff x="2899899" y="2525124"/>
            <a:chExt cx="3043701" cy="449308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E7BAF57-B0EB-7D45-89DD-0C0D31135F88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>
              <a:off x="2899899" y="2974432"/>
              <a:ext cx="304370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5754A5-47E0-DB45-8C4C-3BEC78FC525A}"/>
                </a:ext>
              </a:extLst>
            </p:cNvPr>
            <p:cNvSpPr txBox="1"/>
            <p:nvPr/>
          </p:nvSpPr>
          <p:spPr>
            <a:xfrm>
              <a:off x="3060442" y="2525124"/>
              <a:ext cx="27816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plugin.getName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96602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6566D-5BDF-F84C-84A3-F77B8D8D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the rules, get a broken program.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85E0C-04D8-8C40-A58B-5BBA3D7FA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b="1" dirty="0"/>
              <a:t>two pieces of code </a:t>
            </a:r>
            <a:r>
              <a:rPr lang="en-US" dirty="0"/>
              <a:t>use </a:t>
            </a:r>
            <a:r>
              <a:rPr lang="en-US" b="1" dirty="0"/>
              <a:t>different ABIs…</a:t>
            </a:r>
          </a:p>
          <a:p>
            <a:r>
              <a:rPr lang="en-US" dirty="0"/>
              <a:t>or if your compiler </a:t>
            </a:r>
            <a:r>
              <a:rPr lang="en-US" b="1" dirty="0"/>
              <a:t>generates code</a:t>
            </a:r>
            <a:r>
              <a:rPr lang="en-US" dirty="0"/>
              <a:t> that doesn't follow the ABI…</a:t>
            </a:r>
          </a:p>
          <a:p>
            <a:r>
              <a:rPr lang="en-US" b="1" dirty="0">
                <a:solidFill>
                  <a:srgbClr val="FF0000"/>
                </a:solidFill>
              </a:rPr>
              <a:t>you lose all the nice abstraction guarantees of the HLL.</a:t>
            </a:r>
          </a:p>
          <a:p>
            <a:r>
              <a:rPr lang="en-US" dirty="0"/>
              <a:t>think back to when you were writing MIPS in 447.</a:t>
            </a:r>
          </a:p>
          <a:p>
            <a:pPr lvl="1"/>
            <a:r>
              <a:rPr lang="en-US" i="1" dirty="0"/>
              <a:t>do you really want to deal with </a:t>
            </a:r>
            <a:r>
              <a:rPr lang="en-US" b="1" i="1" dirty="0"/>
              <a:t>those</a:t>
            </a:r>
            <a:r>
              <a:rPr lang="en-US" i="1" dirty="0"/>
              <a:t> kinds of bugs again?</a:t>
            </a:r>
          </a:p>
          <a:p>
            <a:r>
              <a:rPr lang="en-US" dirty="0"/>
              <a:t>C – or rather its ABI – has remained popular for decades. why?</a:t>
            </a:r>
          </a:p>
          <a:p>
            <a:pPr lvl="1"/>
            <a:r>
              <a:rPr lang="en-US" dirty="0"/>
              <a:t>because it's </a:t>
            </a:r>
            <a:r>
              <a:rPr lang="en-US" b="1" dirty="0"/>
              <a:t>super simple, </a:t>
            </a:r>
            <a:r>
              <a:rPr lang="en-US" dirty="0"/>
              <a:t>meaning just about every OS and compiler can follow it without much difficulty.</a:t>
            </a:r>
          </a:p>
          <a:p>
            <a:pPr lvl="1"/>
            <a:r>
              <a:rPr lang="en-US" dirty="0"/>
              <a:t>with it, you can hook pieces of machine code together </a:t>
            </a:r>
            <a:r>
              <a:rPr lang="en-US" b="1" dirty="0"/>
              <a:t>reliably.</a:t>
            </a:r>
          </a:p>
          <a:p>
            <a:r>
              <a:rPr lang="en-US" dirty="0"/>
              <a:t>but, its simplicity means </a:t>
            </a:r>
            <a:r>
              <a:rPr lang="en-US" b="1" dirty="0"/>
              <a:t>it doesn't support advanced features…</a:t>
            </a:r>
          </a:p>
          <a:p>
            <a:pPr lvl="1"/>
            <a:r>
              <a:rPr lang="en-US" dirty="0"/>
              <a:t>so it's up to you, as the language designer or compiler writer, to decide how those features are implemented.</a:t>
            </a:r>
          </a:p>
          <a:p>
            <a:r>
              <a:rPr lang="en-US" dirty="0"/>
              <a:t>so! what goes into an ABI, anyway?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DCA4D-0DA3-CB47-A94B-567E5B28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8958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6F00D-D59D-3449-8035-A4AB79C64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Parts of an ABI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8FD49D-D047-B74F-B53F-B98AD07F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1566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21A61-68C4-1640-97A6-C0222989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call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8B90A-84B9-6E41-8E6C-FD5D33443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2"/>
            <a:ext cx="8991600" cy="512104"/>
          </a:xfrm>
        </p:spPr>
        <p:txBody>
          <a:bodyPr/>
          <a:lstStyle/>
          <a:p>
            <a:r>
              <a:rPr lang="en-US" dirty="0"/>
              <a:t>any ISA from the last 50 years or so will have provisions for a </a:t>
            </a:r>
            <a:r>
              <a:rPr lang="en-US" b="1" dirty="0"/>
              <a:t>stack.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FA018-7765-8547-9A51-93840381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4CFF4-A855-4D42-A297-9AD01EB6CBBF}"/>
              </a:ext>
            </a:extLst>
          </p:cNvPr>
          <p:cNvSpPr txBox="1"/>
          <p:nvPr/>
        </p:nvSpPr>
        <p:spPr>
          <a:xfrm>
            <a:off x="463462" y="1039372"/>
            <a:ext cx="8893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u="sng" dirty="0"/>
              <a:t>Stack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CD2C103-E166-1241-8FAE-FFF007634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536924"/>
              </p:ext>
            </p:extLst>
          </p:nvPr>
        </p:nvGraphicFramePr>
        <p:xfrm>
          <a:off x="216072" y="1519029"/>
          <a:ext cx="1384127" cy="27979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84127">
                  <a:extLst>
                    <a:ext uri="{9D8B030D-6E8A-4147-A177-3AD203B41FA5}">
                      <a16:colId xmlns:a16="http://schemas.microsoft.com/office/drawing/2014/main" val="2316474700"/>
                    </a:ext>
                  </a:extLst>
                </a:gridCol>
              </a:tblGrid>
              <a:tr h="466322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16</a:t>
                      </a:r>
                    </a:p>
                  </a:txBody>
                  <a:tcPr marL="103810" marR="103810" marT="51905" marB="51905"/>
                </a:tc>
                <a:extLst>
                  <a:ext uri="{0D108BD9-81ED-4DB2-BD59-A6C34878D82A}">
                    <a16:rowId xmlns:a16="http://schemas.microsoft.com/office/drawing/2014/main" val="755637787"/>
                  </a:ext>
                </a:extLst>
              </a:tr>
              <a:tr h="466322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103810" marR="103810" marT="51905" marB="51905"/>
                </a:tc>
                <a:extLst>
                  <a:ext uri="{0D108BD9-81ED-4DB2-BD59-A6C34878D82A}">
                    <a16:rowId xmlns:a16="http://schemas.microsoft.com/office/drawing/2014/main" val="1557730229"/>
                  </a:ext>
                </a:extLst>
              </a:tr>
              <a:tr h="466322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48580372</a:t>
                      </a:r>
                    </a:p>
                  </a:txBody>
                  <a:tcPr marL="103810" marR="103810" marT="51905" marB="51905"/>
                </a:tc>
                <a:extLst>
                  <a:ext uri="{0D108BD9-81ED-4DB2-BD59-A6C34878D82A}">
                    <a16:rowId xmlns:a16="http://schemas.microsoft.com/office/drawing/2014/main" val="1043228899"/>
                  </a:ext>
                </a:extLst>
              </a:tr>
              <a:tr h="466322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103810" marR="103810" marT="51905" marB="51905"/>
                </a:tc>
                <a:extLst>
                  <a:ext uri="{0D108BD9-81ED-4DB2-BD59-A6C34878D82A}">
                    <a16:rowId xmlns:a16="http://schemas.microsoft.com/office/drawing/2014/main" val="1466082048"/>
                  </a:ext>
                </a:extLst>
              </a:tr>
              <a:tr h="466322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103810" marR="103810" marT="51905" marB="51905"/>
                </a:tc>
                <a:extLst>
                  <a:ext uri="{0D108BD9-81ED-4DB2-BD59-A6C34878D82A}">
                    <a16:rowId xmlns:a16="http://schemas.microsoft.com/office/drawing/2014/main" val="2234256403"/>
                  </a:ext>
                </a:extLst>
              </a:tr>
              <a:tr h="466322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103810" marR="103810" marT="51905" marB="51905"/>
                </a:tc>
                <a:extLst>
                  <a:ext uri="{0D108BD9-81ED-4DB2-BD59-A6C34878D82A}">
                    <a16:rowId xmlns:a16="http://schemas.microsoft.com/office/drawing/2014/main" val="1207073424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722B01D8-F50D-3D49-A45F-DFB1AC26C900}"/>
              </a:ext>
            </a:extLst>
          </p:cNvPr>
          <p:cNvGrpSpPr/>
          <p:nvPr/>
        </p:nvGrpSpPr>
        <p:grpSpPr>
          <a:xfrm>
            <a:off x="1676400" y="2426613"/>
            <a:ext cx="876649" cy="430887"/>
            <a:chOff x="1676400" y="2426613"/>
            <a:chExt cx="876649" cy="43088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D3A236-C25C-9D49-BFAD-C91C1AD6E412}"/>
                </a:ext>
              </a:extLst>
            </p:cNvPr>
            <p:cNvSpPr txBox="1"/>
            <p:nvPr/>
          </p:nvSpPr>
          <p:spPr>
            <a:xfrm>
              <a:off x="2057400" y="2426613"/>
              <a:ext cx="49564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endParaRPr lang="en-US" sz="2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033A680-393C-114F-9D1F-4A4AC56F48C0}"/>
                </a:ext>
              </a:extLst>
            </p:cNvPr>
            <p:cNvCxnSpPr>
              <a:stCxn id="7" idx="1"/>
            </p:cNvCxnSpPr>
            <p:nvPr/>
          </p:nvCxnSpPr>
          <p:spPr>
            <a:xfrm flipH="1" flipV="1">
              <a:off x="1676400" y="2642056"/>
              <a:ext cx="381000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2AF8CDF-CC71-5848-BE71-B730BEF4A4F1}"/>
              </a:ext>
            </a:extLst>
          </p:cNvPr>
          <p:cNvSpPr txBox="1"/>
          <p:nvPr/>
        </p:nvSpPr>
        <p:spPr>
          <a:xfrm>
            <a:off x="2541640" y="1104900"/>
            <a:ext cx="6425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it'll have, at the very least, a register that points to the top of the stack… a </a:t>
            </a:r>
            <a:r>
              <a:rPr lang="en-US" sz="2200" i="1" dirty="0"/>
              <a:t>stack pointer, </a:t>
            </a:r>
            <a:r>
              <a:rPr lang="en-US" sz="2200" dirty="0"/>
              <a:t>if you will.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0B333E-45EC-A04A-BAFF-5A966C005718}"/>
              </a:ext>
            </a:extLst>
          </p:cNvPr>
          <p:cNvSpPr txBox="1"/>
          <p:nvPr/>
        </p:nvSpPr>
        <p:spPr>
          <a:xfrm>
            <a:off x="2553049" y="1871287"/>
            <a:ext cx="6425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(well, maybe it has two registers. we'll get to that.)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5C3A1F-34C2-AB43-8782-899BEF9F6D96}"/>
              </a:ext>
            </a:extLst>
          </p:cNvPr>
          <p:cNvSpPr txBox="1"/>
          <p:nvPr/>
        </p:nvSpPr>
        <p:spPr>
          <a:xfrm>
            <a:off x="2534266" y="2322646"/>
            <a:ext cx="6425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it </a:t>
            </a:r>
            <a:r>
              <a:rPr lang="en-US" sz="2200" i="1" dirty="0"/>
              <a:t>might</a:t>
            </a:r>
            <a:r>
              <a:rPr lang="en-US" sz="2200" dirty="0"/>
              <a:t> have special instructions for pushing and popping things to this stack, or it might not.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BB20F1-413C-434B-AF4C-7E34CC9C26E8}"/>
              </a:ext>
            </a:extLst>
          </p:cNvPr>
          <p:cNvSpPr txBox="1"/>
          <p:nvPr/>
        </p:nvSpPr>
        <p:spPr>
          <a:xfrm>
            <a:off x="2864783" y="3159879"/>
            <a:ext cx="14285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eax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6DFE2-5D35-D14E-8D60-B0831D1EF4CA}"/>
              </a:ext>
            </a:extLst>
          </p:cNvPr>
          <p:cNvSpPr txBox="1"/>
          <p:nvPr/>
        </p:nvSpPr>
        <p:spPr>
          <a:xfrm>
            <a:off x="4615593" y="3159878"/>
            <a:ext cx="12731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ecx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E8B6DD-18FC-A04B-953A-D203347B6378}"/>
              </a:ext>
            </a:extLst>
          </p:cNvPr>
          <p:cNvSpPr txBox="1"/>
          <p:nvPr/>
        </p:nvSpPr>
        <p:spPr>
          <a:xfrm>
            <a:off x="6208235" y="3159879"/>
            <a:ext cx="15840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call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64B375-CB0E-CE46-BD54-1112CC5B9BF5}"/>
              </a:ext>
            </a:extLst>
          </p:cNvPr>
          <p:cNvSpPr txBox="1"/>
          <p:nvPr/>
        </p:nvSpPr>
        <p:spPr>
          <a:xfrm>
            <a:off x="8111860" y="3165923"/>
            <a:ext cx="6511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046B9B-66E7-664D-99D3-EC1602EE7A59}"/>
              </a:ext>
            </a:extLst>
          </p:cNvPr>
          <p:cNvSpPr txBox="1"/>
          <p:nvPr/>
        </p:nvSpPr>
        <p:spPr>
          <a:xfrm>
            <a:off x="2305224" y="3688259"/>
            <a:ext cx="64253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ABI defines things like: the </a:t>
            </a:r>
            <a:r>
              <a:rPr lang="en-US" sz="2200" b="1" dirty="0"/>
              <a:t>direction </a:t>
            </a:r>
            <a:r>
              <a:rPr lang="en-US" sz="2200" dirty="0"/>
              <a:t>the stack grows; the </a:t>
            </a:r>
            <a:r>
              <a:rPr lang="en-US" sz="2200" b="1" dirty="0"/>
              <a:t>size</a:t>
            </a:r>
            <a:r>
              <a:rPr lang="en-US" sz="2200" dirty="0"/>
              <a:t> of each item on the stack; stack </a:t>
            </a:r>
            <a:r>
              <a:rPr lang="en-US" sz="2200" b="1" dirty="0"/>
              <a:t>alignment </a:t>
            </a:r>
            <a:r>
              <a:rPr lang="en-US" sz="2200" dirty="0"/>
              <a:t>(if the stack pointer must move in multiples of some number); and so on.</a:t>
            </a:r>
          </a:p>
        </p:txBody>
      </p:sp>
    </p:spTree>
    <p:extLst>
      <p:ext uri="{BB962C8B-B14F-4D97-AF65-F5344CB8AC3E}">
        <p14:creationId xmlns:p14="http://schemas.microsoft.com/office/powerpoint/2010/main" val="17811430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AF63E-B1F0-8146-B258-529D8B436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can't stack things up forever…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97867-5D4E-6443-85A7-B7ED53719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statistically, most programs never need more than a few megabytes of stack space, and most use </a:t>
            </a:r>
            <a:r>
              <a:rPr lang="en-US" i="1" dirty="0"/>
              <a:t>far, far less </a:t>
            </a:r>
            <a:r>
              <a:rPr lang="en-US" dirty="0"/>
              <a:t>than that.</a:t>
            </a:r>
          </a:p>
          <a:p>
            <a:r>
              <a:rPr lang="en-US" dirty="0"/>
              <a:t>since the OS makes all the programs share resources, it may only allocate something like </a:t>
            </a:r>
            <a:r>
              <a:rPr lang="en-US" b="1" dirty="0"/>
              <a:t>4-16 MB of memory </a:t>
            </a:r>
            <a:r>
              <a:rPr lang="en-US" dirty="0"/>
              <a:t>for your program.</a:t>
            </a:r>
          </a:p>
          <a:p>
            <a:pPr lvl="1"/>
            <a:r>
              <a:rPr lang="en-US" dirty="0"/>
              <a:t>this is allocated </a:t>
            </a:r>
            <a:r>
              <a:rPr lang="en-US" i="1" dirty="0"/>
              <a:t>before your program starts;</a:t>
            </a:r>
            <a:r>
              <a:rPr lang="en-US" dirty="0"/>
              <a:t> you don't have to do anything to get it.</a:t>
            </a:r>
          </a:p>
          <a:p>
            <a:r>
              <a:rPr lang="en-US" dirty="0"/>
              <a:t>and what happens if you push more than that on the stack?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stack overflow!</a:t>
            </a:r>
            <a:r>
              <a:rPr lang="en-US" b="1" dirty="0"/>
              <a:t> yay!</a:t>
            </a:r>
          </a:p>
          <a:p>
            <a:r>
              <a:rPr lang="en-US" dirty="0"/>
              <a:t>so, </a:t>
            </a:r>
            <a:r>
              <a:rPr lang="en-US" i="1" dirty="0"/>
              <a:t>however</a:t>
            </a:r>
            <a:r>
              <a:rPr lang="en-US" dirty="0"/>
              <a:t> we implement our language's ABI, it will have to work </a:t>
            </a:r>
            <a:r>
              <a:rPr lang="en-US" b="1" dirty="0"/>
              <a:t>within this limit.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D8C80-B05E-FB43-A81F-6BB2A871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2925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969AB-E67D-3B43-8F04-298DFEAD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calling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6C5FA-FF42-3442-B7A0-3D2416DDB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8199"/>
          </a:xfrm>
        </p:spPr>
        <p:txBody>
          <a:bodyPr/>
          <a:lstStyle/>
          <a:p>
            <a:r>
              <a:rPr lang="en-US" dirty="0"/>
              <a:t>this is the set of rules used to </a:t>
            </a:r>
            <a:r>
              <a:rPr lang="en-US" b="1" dirty="0"/>
              <a:t>call </a:t>
            </a:r>
            <a:r>
              <a:rPr lang="en-US" dirty="0"/>
              <a:t>and </a:t>
            </a:r>
            <a:r>
              <a:rPr lang="en-US" b="1" dirty="0"/>
              <a:t>return from </a:t>
            </a:r>
            <a:r>
              <a:rPr lang="en-US" dirty="0"/>
              <a:t>functions.</a:t>
            </a:r>
          </a:p>
          <a:p>
            <a:r>
              <a:rPr lang="en-US" dirty="0"/>
              <a:t>it defines things like: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9208A-888F-5D41-B929-3BAC69AC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83AA0-82BF-5F44-AB54-CA6B4926BC78}"/>
              </a:ext>
            </a:extLst>
          </p:cNvPr>
          <p:cNvSpPr txBox="1"/>
          <p:nvPr/>
        </p:nvSpPr>
        <p:spPr>
          <a:xfrm>
            <a:off x="3313471" y="1873186"/>
            <a:ext cx="4693914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add(x: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y: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sum = x + y;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println_i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(sum);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sum;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F7DD9-2BCC-1844-B2F8-9148D5E23C20}"/>
              </a:ext>
            </a:extLst>
          </p:cNvPr>
          <p:cNvSpPr txBox="1"/>
          <p:nvPr/>
        </p:nvSpPr>
        <p:spPr>
          <a:xfrm>
            <a:off x="3735645" y="1104900"/>
            <a:ext cx="3619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how arguments are passed;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1B911-C89A-244F-9046-AD6F7F5E1422}"/>
              </a:ext>
            </a:extLst>
          </p:cNvPr>
          <p:cNvSpPr txBox="1"/>
          <p:nvPr/>
        </p:nvSpPr>
        <p:spPr>
          <a:xfrm>
            <a:off x="5219700" y="3442846"/>
            <a:ext cx="3619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how values are returned;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C96788-EFBA-2349-AABF-A430F4B03A8A}"/>
              </a:ext>
            </a:extLst>
          </p:cNvPr>
          <p:cNvSpPr txBox="1"/>
          <p:nvPr/>
        </p:nvSpPr>
        <p:spPr>
          <a:xfrm>
            <a:off x="254410" y="2312380"/>
            <a:ext cx="28882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how the return address is calculated and where it's stored;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D887F-BD0D-7446-B370-A22B1430AE28}"/>
              </a:ext>
            </a:extLst>
          </p:cNvPr>
          <p:cNvSpPr txBox="1"/>
          <p:nvPr/>
        </p:nvSpPr>
        <p:spPr>
          <a:xfrm>
            <a:off x="419100" y="4229005"/>
            <a:ext cx="46939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which CPU registers must be saved, and which can be used freely.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151F66A-BFF0-FF4C-93E4-183D51D05D05}"/>
              </a:ext>
            </a:extLst>
          </p:cNvPr>
          <p:cNvSpPr/>
          <p:nvPr/>
        </p:nvSpPr>
        <p:spPr>
          <a:xfrm rot="16200000">
            <a:off x="5354646" y="653005"/>
            <a:ext cx="381499" cy="2175389"/>
          </a:xfrm>
          <a:prstGeom prst="rightBrace">
            <a:avLst>
              <a:gd name="adj1" fmla="val 5144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66B4FA-C85D-A444-BCE0-5657F62CDD1A}"/>
              </a:ext>
            </a:extLst>
          </p:cNvPr>
          <p:cNvCxnSpPr>
            <a:cxnSpLocks/>
          </p:cNvCxnSpPr>
          <p:nvPr/>
        </p:nvCxnSpPr>
        <p:spPr>
          <a:xfrm flipH="1" flipV="1">
            <a:off x="5113015" y="3227403"/>
            <a:ext cx="297185" cy="3969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9AB831D-4A5F-F947-AC0A-59A265185FBF}"/>
              </a:ext>
            </a:extLst>
          </p:cNvPr>
          <p:cNvCxnSpPr>
            <a:cxnSpLocks/>
          </p:cNvCxnSpPr>
          <p:nvPr/>
        </p:nvCxnSpPr>
        <p:spPr>
          <a:xfrm>
            <a:off x="3086100" y="3016186"/>
            <a:ext cx="6096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91AC8A-3CB5-2949-B43E-824846AA798F}"/>
              </a:ext>
            </a:extLst>
          </p:cNvPr>
          <p:cNvSpPr txBox="1"/>
          <p:nvPr/>
        </p:nvSpPr>
        <p:spPr>
          <a:xfrm>
            <a:off x="5598423" y="4307913"/>
            <a:ext cx="4956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s0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2F1652-B8B4-BE48-A0B5-4BDE77954E00}"/>
              </a:ext>
            </a:extLst>
          </p:cNvPr>
          <p:cNvSpPr txBox="1"/>
          <p:nvPr/>
        </p:nvSpPr>
        <p:spPr>
          <a:xfrm>
            <a:off x="6043275" y="4738800"/>
            <a:ext cx="4956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t0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0D3566-4B91-FE4E-8973-A9D600F54C0E}"/>
              </a:ext>
            </a:extLst>
          </p:cNvPr>
          <p:cNvSpPr txBox="1"/>
          <p:nvPr/>
        </p:nvSpPr>
        <p:spPr>
          <a:xfrm>
            <a:off x="6465809" y="4182838"/>
            <a:ext cx="4956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v0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F874F5-1850-E243-81DC-B9AC87744001}"/>
              </a:ext>
            </a:extLst>
          </p:cNvPr>
          <p:cNvSpPr txBox="1"/>
          <p:nvPr/>
        </p:nvSpPr>
        <p:spPr>
          <a:xfrm>
            <a:off x="6859496" y="4688359"/>
            <a:ext cx="4956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a0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6198BA-6798-3949-A781-E0F0213CEC88}"/>
              </a:ext>
            </a:extLst>
          </p:cNvPr>
          <p:cNvSpPr txBox="1"/>
          <p:nvPr/>
        </p:nvSpPr>
        <p:spPr>
          <a:xfrm>
            <a:off x="7209283" y="4160934"/>
            <a:ext cx="4956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ra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A9E3FF-6C4C-FB41-A01D-532F1AF4D28E}"/>
              </a:ext>
            </a:extLst>
          </p:cNvPr>
          <p:cNvSpPr txBox="1"/>
          <p:nvPr/>
        </p:nvSpPr>
        <p:spPr>
          <a:xfrm>
            <a:off x="7499686" y="4688359"/>
            <a:ext cx="4956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9DD366-B383-0E4E-9FF6-76AA218D2FD3}"/>
              </a:ext>
            </a:extLst>
          </p:cNvPr>
          <p:cNvSpPr txBox="1"/>
          <p:nvPr/>
        </p:nvSpPr>
        <p:spPr>
          <a:xfrm>
            <a:off x="7984712" y="4307912"/>
            <a:ext cx="4956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f0</a:t>
            </a:r>
          </a:p>
        </p:txBody>
      </p:sp>
    </p:spTree>
    <p:extLst>
      <p:ext uri="{BB962C8B-B14F-4D97-AF65-F5344CB8AC3E}">
        <p14:creationId xmlns:p14="http://schemas.microsoft.com/office/powerpoint/2010/main" val="19744229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8B5D1-8818-0643-A791-786545345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Border conflicts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3CA4C-BDEE-2E45-B982-CFCD2AC84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i="1" dirty="0"/>
              <a:t>within</a:t>
            </a:r>
            <a:r>
              <a:rPr lang="en-US" dirty="0"/>
              <a:t> your language, you can use any calling convention you like.</a:t>
            </a:r>
          </a:p>
          <a:p>
            <a:pPr lvl="1"/>
            <a:r>
              <a:rPr lang="en-US" dirty="0"/>
              <a:t>as long as every function uses the </a:t>
            </a:r>
            <a:r>
              <a:rPr lang="en-US" b="1" dirty="0"/>
              <a:t>same rules,</a:t>
            </a:r>
            <a:r>
              <a:rPr lang="en-US" dirty="0"/>
              <a:t> it will work fine.</a:t>
            </a:r>
          </a:p>
          <a:p>
            <a:r>
              <a:rPr lang="en-US" dirty="0"/>
              <a:t>it's at the </a:t>
            </a:r>
            <a:r>
              <a:rPr lang="en-US" b="1" dirty="0"/>
              <a:t>boundaries </a:t>
            </a:r>
            <a:r>
              <a:rPr lang="en-US" dirty="0"/>
              <a:t>where things get tricky.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98CDC-71A4-5545-BCBB-5A52F8EB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311BD7-FDEF-6240-9DC6-9390EC0BEC3C}"/>
              </a:ext>
            </a:extLst>
          </p:cNvPr>
          <p:cNvSpPr/>
          <p:nvPr/>
        </p:nvSpPr>
        <p:spPr>
          <a:xfrm>
            <a:off x="-152400" y="1715295"/>
            <a:ext cx="3581400" cy="3733800"/>
          </a:xfrm>
          <a:prstGeom prst="roundRect">
            <a:avLst>
              <a:gd name="adj" fmla="val 403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Your Language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430C6CF-7EB2-2A4C-99FC-4881FC55CCD2}"/>
              </a:ext>
            </a:extLst>
          </p:cNvPr>
          <p:cNvSpPr/>
          <p:nvPr/>
        </p:nvSpPr>
        <p:spPr>
          <a:xfrm>
            <a:off x="2041422" y="3428205"/>
            <a:ext cx="1214284" cy="6096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prompt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1F646-F148-2447-9D5D-337D9ED2683C}"/>
              </a:ext>
            </a:extLst>
          </p:cNvPr>
          <p:cNvSpPr txBox="1"/>
          <p:nvPr/>
        </p:nvSpPr>
        <p:spPr>
          <a:xfrm>
            <a:off x="3733800" y="2794456"/>
            <a:ext cx="10967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/>
              <a:t>OS API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A525E0-F0B5-264F-800E-4305C269F582}"/>
              </a:ext>
            </a:extLst>
          </p:cNvPr>
          <p:cNvSpPr/>
          <p:nvPr/>
        </p:nvSpPr>
        <p:spPr>
          <a:xfrm>
            <a:off x="2244212" y="2551110"/>
            <a:ext cx="803788" cy="6096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BE34746-2FD9-A749-B379-76CE828D2697}"/>
              </a:ext>
            </a:extLst>
          </p:cNvPr>
          <p:cNvSpPr/>
          <p:nvPr/>
        </p:nvSpPr>
        <p:spPr>
          <a:xfrm>
            <a:off x="2008238" y="4305300"/>
            <a:ext cx="1247468" cy="6096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6AE4461-A0B8-304F-8001-6B99DD88D3D1}"/>
              </a:ext>
            </a:extLst>
          </p:cNvPr>
          <p:cNvSpPr/>
          <p:nvPr/>
        </p:nvSpPr>
        <p:spPr>
          <a:xfrm>
            <a:off x="3857932" y="3428205"/>
            <a:ext cx="936524" cy="609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read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2CBEE7-6CEA-4B44-BBE8-4F1B76C887DF}"/>
              </a:ext>
            </a:extLst>
          </p:cNvPr>
          <p:cNvSpPr/>
          <p:nvPr/>
        </p:nvSpPr>
        <p:spPr>
          <a:xfrm>
            <a:off x="3857932" y="4305300"/>
            <a:ext cx="1095068" cy="609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write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D89BAE-4AD6-0C43-BCD7-EB38FD951A00}"/>
              </a:ext>
            </a:extLst>
          </p:cNvPr>
          <p:cNvCxnSpPr>
            <a:endCxn id="10" idx="1"/>
          </p:cNvCxnSpPr>
          <p:nvPr/>
        </p:nvCxnSpPr>
        <p:spPr>
          <a:xfrm flipV="1">
            <a:off x="1371600" y="2855910"/>
            <a:ext cx="872612" cy="6111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6A709B-5B6C-DE47-ABAE-3AADBE04FC6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476682" y="3733005"/>
            <a:ext cx="5647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E13953-2B44-9948-99A8-D5BC66FFAC0E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371600" y="3924300"/>
            <a:ext cx="636638" cy="685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146F7AB-8662-CF4B-839E-BAB1A6F0E724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3255706" y="3733005"/>
            <a:ext cx="602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5D3D5E8-B8F4-304B-A88A-3D90F6AE1509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3255706" y="4610100"/>
            <a:ext cx="602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641E076-011F-FC44-AE65-E101B7A9E96F}"/>
              </a:ext>
            </a:extLst>
          </p:cNvPr>
          <p:cNvSpPr txBox="1"/>
          <p:nvPr/>
        </p:nvSpPr>
        <p:spPr>
          <a:xfrm>
            <a:off x="4953000" y="1787108"/>
            <a:ext cx="40329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functions from </a:t>
            </a:r>
            <a:r>
              <a:rPr lang="en-US" sz="2200" b="1" dirty="0"/>
              <a:t>outside your language </a:t>
            </a:r>
            <a:r>
              <a:rPr lang="en-US" sz="2200" dirty="0"/>
              <a:t>may use a </a:t>
            </a:r>
            <a:r>
              <a:rPr lang="en-US" sz="2200" b="1" dirty="0"/>
              <a:t>different ABI, </a:t>
            </a:r>
            <a:r>
              <a:rPr lang="en-US" sz="2200" dirty="0"/>
              <a:t>so your code generator must be very careful about it.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D9D698-CBD8-CE40-AB1E-F5D9709A8B83}"/>
              </a:ext>
            </a:extLst>
          </p:cNvPr>
          <p:cNvSpPr/>
          <p:nvPr/>
        </p:nvSpPr>
        <p:spPr>
          <a:xfrm>
            <a:off x="409882" y="3428205"/>
            <a:ext cx="1066800" cy="6096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12E851-832C-F14D-AADB-5E72F0E6AA4D}"/>
              </a:ext>
            </a:extLst>
          </p:cNvPr>
          <p:cNvSpPr txBox="1"/>
          <p:nvPr/>
        </p:nvSpPr>
        <p:spPr>
          <a:xfrm>
            <a:off x="4953000" y="3370302"/>
            <a:ext cx="40329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it has to know </a:t>
            </a:r>
            <a:r>
              <a:rPr lang="en-US" sz="2200" b="1" dirty="0"/>
              <a:t>what ABI </a:t>
            </a:r>
            <a:r>
              <a:rPr lang="en-US" sz="2200" dirty="0"/>
              <a:t>each function uses, so it can use the right rules when calling them.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D9DA96-4C84-8D40-AC44-C1CD723FDB11}"/>
              </a:ext>
            </a:extLst>
          </p:cNvPr>
          <p:cNvSpPr txBox="1"/>
          <p:nvPr/>
        </p:nvSpPr>
        <p:spPr>
          <a:xfrm>
            <a:off x="4953000" y="4576516"/>
            <a:ext cx="4032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or, we could punt it…</a:t>
            </a:r>
          </a:p>
        </p:txBody>
      </p:sp>
    </p:spTree>
    <p:extLst>
      <p:ext uri="{BB962C8B-B14F-4D97-AF65-F5344CB8AC3E}">
        <p14:creationId xmlns:p14="http://schemas.microsoft.com/office/powerpoint/2010/main" val="22725163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/>
      <p:bldP spid="10" grpId="0" animBg="1"/>
      <p:bldP spid="11" grpId="0" animBg="1"/>
      <p:bldP spid="12" grpId="0" animBg="1"/>
      <p:bldP spid="13" grpId="0" animBg="1"/>
      <p:bldP spid="30" grpId="0"/>
      <p:bldP spid="6" grpId="0" animBg="1"/>
      <p:bldP spid="33" grpId="0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219E-8B4E-6845-A145-CB89AE61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it hurts, don't do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6BF45-91A4-1A4C-A7EE-4A22E2558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could make it so </a:t>
            </a:r>
            <a:r>
              <a:rPr lang="en-US" b="1" dirty="0"/>
              <a:t>you can't directly call functions from other languages/which use different ABIs.</a:t>
            </a:r>
            <a:endParaRPr lang="en-US" dirty="0"/>
          </a:p>
          <a:p>
            <a:r>
              <a:rPr lang="en-US" dirty="0"/>
              <a:t>Java does this.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static </a:t>
            </a:r>
            <a:r>
              <a:rPr lang="en-US" b="1" u="sng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native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someExternalFunction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lvl="1"/>
            <a:r>
              <a:rPr lang="en-US" dirty="0"/>
              <a:t>this function is not written in Java. </a:t>
            </a:r>
          </a:p>
          <a:p>
            <a:pPr lvl="1"/>
            <a:r>
              <a:rPr lang="en-US" dirty="0"/>
              <a:t>instead, it's probably written in C++, and compiled into a plugin.</a:t>
            </a:r>
          </a:p>
          <a:p>
            <a:pPr lvl="1"/>
            <a:r>
              <a:rPr lang="en-US" dirty="0"/>
              <a:t>that plugin is then loaded into the JVM when your program runs.</a:t>
            </a:r>
          </a:p>
          <a:p>
            <a:r>
              <a:rPr lang="en-US" dirty="0"/>
              <a:t>this provides a controlled boundary between "the safe Java world" and "the scary non-Java world," and lets Java programs call functions they would normally be unable to.</a:t>
            </a:r>
          </a:p>
          <a:p>
            <a:r>
              <a:rPr lang="en-US" b="1" dirty="0"/>
              <a:t>systems </a:t>
            </a:r>
            <a:r>
              <a:rPr lang="en-US" dirty="0"/>
              <a:t>programming languages will give you a way to deal with calling conventions yourself.</a:t>
            </a:r>
          </a:p>
          <a:p>
            <a:pPr lvl="1"/>
            <a:r>
              <a:rPr lang="en-US" dirty="0"/>
              <a:t>but Java isn't a systems language, and there's no shame in saying "hey, it's not my language's responsibility!"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F9827-8027-2E4D-8F43-12A66494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1813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8AA94-AABC-E94B-9FBD-0CAB4DB2A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kind of call, another calling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203CC-1862-B74A-B979-4152F151B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system calls </a:t>
            </a:r>
            <a:r>
              <a:rPr lang="en-US" dirty="0"/>
              <a:t>are how your program asks the OS to do things on the program's behalf: I/O, resource management, even </a:t>
            </a:r>
            <a:r>
              <a:rPr lang="en-US" i="1" dirty="0"/>
              <a:t>exiting…</a:t>
            </a:r>
          </a:p>
          <a:p>
            <a:pPr lvl="1"/>
            <a:r>
              <a:rPr lang="en-US" dirty="0"/>
              <a:t>without </a:t>
            </a:r>
            <a:r>
              <a:rPr lang="en-US" dirty="0" err="1"/>
              <a:t>syscalls</a:t>
            </a:r>
            <a:r>
              <a:rPr lang="en-US" dirty="0"/>
              <a:t>, about all a program can do is make the CPU hot.</a:t>
            </a:r>
          </a:p>
          <a:p>
            <a:r>
              <a:rPr lang="en-US" dirty="0"/>
              <a:t>the </a:t>
            </a:r>
            <a:r>
              <a:rPr lang="en-US" b="1" dirty="0"/>
              <a:t>ISA</a:t>
            </a:r>
            <a:r>
              <a:rPr lang="en-US" dirty="0"/>
              <a:t> defines the system call (syscall) mechanism…</a:t>
            </a:r>
          </a:p>
          <a:p>
            <a:pPr lvl="1"/>
            <a:r>
              <a:rPr lang="en-US" dirty="0"/>
              <a:t>which usually requires using a special instruction. (like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syscall</a:t>
            </a:r>
            <a:r>
              <a:rPr lang="en-US" dirty="0"/>
              <a:t>.)</a:t>
            </a:r>
          </a:p>
          <a:p>
            <a:pPr lvl="1"/>
            <a:r>
              <a:rPr lang="en-US" dirty="0"/>
              <a:t>the OS will also define how values are passed into/out of them.</a:t>
            </a:r>
          </a:p>
          <a:p>
            <a:r>
              <a:rPr lang="en-US" dirty="0"/>
              <a:t>essentially this is </a:t>
            </a:r>
            <a:r>
              <a:rPr lang="en-US" b="1" dirty="0"/>
              <a:t>just another calling convention, </a:t>
            </a:r>
            <a:r>
              <a:rPr lang="en-US" dirty="0"/>
              <a:t>meaning we will run into the same issues as before.</a:t>
            </a:r>
          </a:p>
          <a:p>
            <a:pPr lvl="1"/>
            <a:r>
              <a:rPr lang="en-US" dirty="0"/>
              <a:t>if a language cannot use </a:t>
            </a:r>
            <a:r>
              <a:rPr lang="en-US" dirty="0" err="1"/>
              <a:t>syscalls</a:t>
            </a:r>
            <a:r>
              <a:rPr lang="en-US" dirty="0"/>
              <a:t> directly, it will have to rely on code written in some other language to do so.</a:t>
            </a:r>
          </a:p>
          <a:p>
            <a:r>
              <a:rPr lang="en-US" dirty="0"/>
              <a:t>it feels like this </a:t>
            </a:r>
            <a:r>
              <a:rPr lang="en-US" b="1" dirty="0"/>
              <a:t>interface between our language and the OS </a:t>
            </a:r>
            <a:r>
              <a:rPr lang="en-US" dirty="0"/>
              <a:t>is going to have to be somewhat… substantial. so let's talk about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B61A8-46F7-E247-AB9A-B5B043D70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57632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AF96-797A-5F40-B5EC-979EC777E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Standard and </a:t>
            </a:r>
            <a:br>
              <a:rPr lang="en-US" dirty="0"/>
            </a:br>
            <a:r>
              <a:rPr lang="en-US" dirty="0"/>
              <a:t>Runtime Libraries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2D4B5F-C32E-7C48-9F9D-324B27A5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3772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82003-06F5-654A-ADC7-8F39F625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std</a:t>
            </a:r>
            <a:r>
              <a:rPr lang="en-US" dirty="0"/>
              <a:t>::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6B59A-9082-7D4F-B9C6-8913DD05D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kind of take the standard library (</a:t>
            </a:r>
            <a:r>
              <a:rPr lang="en-US" dirty="0" err="1"/>
              <a:t>stdlib</a:t>
            </a:r>
            <a:r>
              <a:rPr lang="en-US" dirty="0"/>
              <a:t>) for granted.</a:t>
            </a:r>
          </a:p>
          <a:p>
            <a:pPr lvl="1"/>
            <a:r>
              <a:rPr lang="en-US" dirty="0"/>
              <a:t>there are these functions and classes that are just… there!</a:t>
            </a:r>
          </a:p>
          <a:p>
            <a:pPr lvl="1"/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 and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dirty="0"/>
              <a:t> and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Vec</a:t>
            </a:r>
            <a:r>
              <a:rPr lang="en-US" dirty="0"/>
              <a:t> and so on.</a:t>
            </a:r>
          </a:p>
          <a:p>
            <a:pPr lvl="1"/>
            <a:r>
              <a:rPr lang="en-US" dirty="0"/>
              <a:t>but </a:t>
            </a:r>
            <a:r>
              <a:rPr lang="en-US" i="1" dirty="0"/>
              <a:t>someone</a:t>
            </a:r>
            <a:r>
              <a:rPr lang="en-US" dirty="0"/>
              <a:t> had to write them. and if you're making your own language, </a:t>
            </a:r>
            <a:r>
              <a:rPr lang="en-US" b="1" dirty="0"/>
              <a:t>that "someone" is going to be </a:t>
            </a:r>
            <a:r>
              <a:rPr lang="en-US" b="1" i="1" dirty="0"/>
              <a:t>you.</a:t>
            </a:r>
          </a:p>
          <a:p>
            <a:r>
              <a:rPr lang="en-US" dirty="0"/>
              <a:t>standard libraries are out of the scope of this course, but…</a:t>
            </a:r>
          </a:p>
          <a:p>
            <a:pPr lvl="1"/>
            <a:r>
              <a:rPr lang="en-US" dirty="0"/>
              <a:t>the standard library </a:t>
            </a:r>
            <a:r>
              <a:rPr lang="en-US" i="1" dirty="0"/>
              <a:t>is </a:t>
            </a:r>
            <a:r>
              <a:rPr lang="en-US" dirty="0"/>
              <a:t>going to have to make calls to OS APIs to do things like input and output, </a:t>
            </a:r>
            <a:r>
              <a:rPr lang="en-US" i="1" dirty="0"/>
              <a:t>somehow.</a:t>
            </a:r>
          </a:p>
          <a:p>
            <a:r>
              <a:rPr lang="en-US" dirty="0"/>
              <a:t>and </a:t>
            </a:r>
            <a:r>
              <a:rPr lang="en-US" i="1" dirty="0"/>
              <a:t>all</a:t>
            </a:r>
            <a:r>
              <a:rPr lang="en-US" dirty="0"/>
              <a:t> code in your language will rely on some special hidden code to work properly at runtime.</a:t>
            </a:r>
          </a:p>
          <a:p>
            <a:pPr lvl="1"/>
            <a:r>
              <a:rPr lang="en-US" dirty="0"/>
              <a:t>and </a:t>
            </a:r>
            <a:r>
              <a:rPr lang="en-US" b="1" dirty="0"/>
              <a:t>the compiler</a:t>
            </a:r>
            <a:r>
              <a:rPr lang="en-US" dirty="0"/>
              <a:t> will be relying on that code as well!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ADD76-D449-A742-BF75-6237D3FD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3018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66917-3730-F645-A0F7-C9E872647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core::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CB671-5242-C844-A1B0-612229C0A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8199"/>
          </a:xfrm>
        </p:spPr>
        <p:txBody>
          <a:bodyPr/>
          <a:lstStyle/>
          <a:p>
            <a:r>
              <a:rPr lang="en-US" dirty="0"/>
              <a:t>there are likely many operations in your HLL that don't map neatly onto a few instructions in the target ISA.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E3553-84D1-6341-8540-76866EC4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C12D2B-5181-3D4E-96D4-4301D54765B2}"/>
              </a:ext>
            </a:extLst>
          </p:cNvPr>
          <p:cNvSpPr txBox="1"/>
          <p:nvPr/>
        </p:nvSpPr>
        <p:spPr>
          <a:xfrm>
            <a:off x="1269852" y="2117036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"hi"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"bye"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357288-4BD7-D54C-976B-05C7B4EF0260}"/>
              </a:ext>
            </a:extLst>
          </p:cNvPr>
          <p:cNvSpPr txBox="1"/>
          <p:nvPr/>
        </p:nvSpPr>
        <p:spPr>
          <a:xfrm>
            <a:off x="381000" y="1296531"/>
            <a:ext cx="36551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is there a MIPS instruction for string concatenation?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2AD50-5E53-F040-91EF-5C68BA91F26F}"/>
              </a:ext>
            </a:extLst>
          </p:cNvPr>
          <p:cNvSpPr txBox="1"/>
          <p:nvPr/>
        </p:nvSpPr>
        <p:spPr>
          <a:xfrm>
            <a:off x="5596249" y="2117036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Cat()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02E190-986E-E642-9A1E-AE32527ED865}"/>
              </a:ext>
            </a:extLst>
          </p:cNvPr>
          <p:cNvSpPr txBox="1"/>
          <p:nvPr/>
        </p:nvSpPr>
        <p:spPr>
          <a:xfrm>
            <a:off x="4495800" y="1333500"/>
            <a:ext cx="36551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how about for allocating objects on the heap?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7673C-4596-0C44-9856-0EBC5C7589F2}"/>
              </a:ext>
            </a:extLst>
          </p:cNvPr>
          <p:cNvSpPr txBox="1"/>
          <p:nvPr/>
        </p:nvSpPr>
        <p:spPr>
          <a:xfrm>
            <a:off x="1240355" y="3219390"/>
            <a:ext cx="2018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1000000000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EB148-C2AF-004B-BA12-98F8E061C3FA}"/>
              </a:ext>
            </a:extLst>
          </p:cNvPr>
          <p:cNvSpPr txBox="1"/>
          <p:nvPr/>
        </p:nvSpPr>
        <p:spPr>
          <a:xfrm>
            <a:off x="351503" y="2749054"/>
            <a:ext cx="36551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checking array bounds?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49E6A9-0708-9B44-B7D2-3D795CCDA8CD}"/>
              </a:ext>
            </a:extLst>
          </p:cNvPr>
          <p:cNvSpPr txBox="1"/>
          <p:nvPr/>
        </p:nvSpPr>
        <p:spPr>
          <a:xfrm>
            <a:off x="3958713" y="3142002"/>
            <a:ext cx="5121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throw new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OhMyGodWhyAreAllTheExcept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ionNamesSoLongException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477CF4-8A28-B340-92F6-75A457FA7D99}"/>
              </a:ext>
            </a:extLst>
          </p:cNvPr>
          <p:cNvSpPr txBox="1"/>
          <p:nvPr/>
        </p:nvSpPr>
        <p:spPr>
          <a:xfrm>
            <a:off x="4643976" y="2749053"/>
            <a:ext cx="36551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throwing exceptions?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244AB2-6C26-AE4E-94E7-55F81D281E6D}"/>
              </a:ext>
            </a:extLst>
          </p:cNvPr>
          <p:cNvSpPr txBox="1"/>
          <p:nvPr/>
        </p:nvSpPr>
        <p:spPr>
          <a:xfrm>
            <a:off x="496529" y="4086324"/>
            <a:ext cx="81509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there are a lot of hidden operations going on in each of these cases, and it is the </a:t>
            </a:r>
            <a:r>
              <a:rPr lang="en-US" sz="2200" b="1" dirty="0"/>
              <a:t>runtime library </a:t>
            </a:r>
            <a:r>
              <a:rPr lang="en-US" sz="2200" dirty="0"/>
              <a:t>which implements them.</a:t>
            </a:r>
          </a:p>
        </p:txBody>
      </p:sp>
    </p:spTree>
    <p:extLst>
      <p:ext uri="{BB962C8B-B14F-4D97-AF65-F5344CB8AC3E}">
        <p14:creationId xmlns:p14="http://schemas.microsoft.com/office/powerpoint/2010/main" val="30680039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6034-ED9C-1D46-8050-D41723C40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language 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756D8-C734-C243-8404-5F3215BF9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language's </a:t>
            </a:r>
            <a:r>
              <a:rPr lang="en-US" b="1" dirty="0"/>
              <a:t>runtime library </a:t>
            </a:r>
            <a:r>
              <a:rPr lang="en-US" dirty="0"/>
              <a:t>implements the features which would be difficult or impossible to </a:t>
            </a:r>
            <a:r>
              <a:rPr lang="en-US" dirty="0" err="1"/>
              <a:t>codegen</a:t>
            </a:r>
            <a:r>
              <a:rPr lang="en-US" dirty="0"/>
              <a:t> directly.</a:t>
            </a:r>
          </a:p>
          <a:p>
            <a:r>
              <a:rPr lang="en-US" dirty="0"/>
              <a:t>unlike the standard library, this is tied more closely to the </a:t>
            </a:r>
            <a:r>
              <a:rPr lang="en-US" b="1" dirty="0"/>
              <a:t>compiler </a:t>
            </a:r>
            <a:r>
              <a:rPr lang="en-US" dirty="0"/>
              <a:t>and how the compiler has decided to implement those features.</a:t>
            </a:r>
          </a:p>
          <a:p>
            <a:pPr lvl="1"/>
            <a:r>
              <a:rPr lang="en-US" dirty="0"/>
              <a:t>so, different compilers – and even different versions of the </a:t>
            </a:r>
            <a:r>
              <a:rPr lang="en-US" i="1" dirty="0"/>
              <a:t>same </a:t>
            </a:r>
            <a:r>
              <a:rPr lang="en-US" dirty="0"/>
              <a:t>compiler – can have </a:t>
            </a:r>
            <a:r>
              <a:rPr lang="en-US" b="1" dirty="0"/>
              <a:t>different runtime libraries.</a:t>
            </a:r>
          </a:p>
          <a:p>
            <a:pPr lvl="1"/>
            <a:r>
              <a:rPr lang="en-US" dirty="0"/>
              <a:t>ever install the many versions of Visual C++ Redistributable?</a:t>
            </a:r>
          </a:p>
          <a:p>
            <a:pPr lvl="2"/>
            <a:r>
              <a:rPr lang="en-US" dirty="0" err="1"/>
              <a:t>thaaaaat's</a:t>
            </a:r>
            <a:r>
              <a:rPr lang="en-US" dirty="0"/>
              <a:t> what it </a:t>
            </a:r>
            <a:r>
              <a:rPr lang="en-US" dirty="0" err="1"/>
              <a:t>iiiiiiiis</a:t>
            </a:r>
            <a:endParaRPr lang="en-US" dirty="0"/>
          </a:p>
          <a:p>
            <a:r>
              <a:rPr lang="en-US" dirty="0"/>
              <a:t>the runtime may be written in a different language (like C or C++) from the source language that the compiler compiles.</a:t>
            </a:r>
          </a:p>
          <a:p>
            <a:pPr lvl="1"/>
            <a:r>
              <a:rPr lang="en-US" dirty="0"/>
              <a:t>in our case, Truss's tiny runtime library is written in MIPS.</a:t>
            </a:r>
            <a:r>
              <a:rPr lang="en-US" sz="1600" dirty="0"/>
              <a:t> (so is its "standard library" of a few print functions, lol.)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B8802-0A68-1B47-85D3-D8F3648B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9989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13DC0-3250-2040-9B0E-59EC8BFA1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compiler's job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49F81-25BA-9E4F-98D4-92E30338E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dirty="0"/>
              <a:t>during </a:t>
            </a:r>
            <a:r>
              <a:rPr lang="en-US" dirty="0" err="1"/>
              <a:t>codegen</a:t>
            </a:r>
            <a:r>
              <a:rPr lang="en-US" dirty="0"/>
              <a:t>, the compiler is essentially going to turn some pieces of code into </a:t>
            </a:r>
            <a:r>
              <a:rPr lang="en-US" b="1" dirty="0"/>
              <a:t>function calls</a:t>
            </a:r>
            <a:r>
              <a:rPr lang="en-US" dirty="0"/>
              <a:t> into the runtime library.</a:t>
            </a:r>
          </a:p>
          <a:p>
            <a:r>
              <a:rPr lang="en-US" dirty="0"/>
              <a:t>if we take string concatenation as an example: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80653-A823-8941-A639-D663F045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1B42A-EA00-B047-9E1B-33C413A3854B}"/>
              </a:ext>
            </a:extLst>
          </p:cNvPr>
          <p:cNvSpPr txBox="1"/>
          <p:nvPr/>
        </p:nvSpPr>
        <p:spPr>
          <a:xfrm>
            <a:off x="3130358" y="1768495"/>
            <a:ext cx="4134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"hello, "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+ name;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0C558-FD71-5B43-89BB-DB270D33CAB5}"/>
              </a:ext>
            </a:extLst>
          </p:cNvPr>
          <p:cNvSpPr txBox="1"/>
          <p:nvPr/>
        </p:nvSpPr>
        <p:spPr>
          <a:xfrm>
            <a:off x="1143001" y="1737718"/>
            <a:ext cx="19646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dirty="0"/>
              <a:t>source 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D747F4-7AC9-4444-B7F3-88A82FC1FE16}"/>
              </a:ext>
            </a:extLst>
          </p:cNvPr>
          <p:cNvSpPr txBox="1"/>
          <p:nvPr/>
        </p:nvSpPr>
        <p:spPr>
          <a:xfrm>
            <a:off x="3130358" y="2507277"/>
            <a:ext cx="5404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rt$concat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"hello, "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, name);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CE815-BA2F-E84B-8C06-C80CA743130D}"/>
              </a:ext>
            </a:extLst>
          </p:cNvPr>
          <p:cNvSpPr txBox="1"/>
          <p:nvPr/>
        </p:nvSpPr>
        <p:spPr>
          <a:xfrm>
            <a:off x="3130359" y="3181432"/>
            <a:ext cx="258275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addi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-8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 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t0, STRLIT$3</a:t>
            </a:r>
          </a:p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t0,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t0,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t0,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jal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rt$concat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v0,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-20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631CC-CD53-5743-A2EF-5DCBA8289B16}"/>
              </a:ext>
            </a:extLst>
          </p:cNvPr>
          <p:cNvSpPr txBox="1"/>
          <p:nvPr/>
        </p:nvSpPr>
        <p:spPr>
          <a:xfrm>
            <a:off x="304800" y="2476500"/>
            <a:ext cx="28255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dirty="0" err="1"/>
              <a:t>codegen</a:t>
            </a:r>
            <a:r>
              <a:rPr lang="en-US" sz="2200" b="1" dirty="0"/>
              <a:t> treats it as: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93F268-F639-124A-9C62-64ADDB380166}"/>
              </a:ext>
            </a:extLst>
          </p:cNvPr>
          <p:cNvSpPr txBox="1"/>
          <p:nvPr/>
        </p:nvSpPr>
        <p:spPr>
          <a:xfrm>
            <a:off x="457200" y="3193552"/>
            <a:ext cx="26706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dirty="0"/>
              <a:t>gets generated as: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75AC7F-E6A5-9D42-B5AC-B6430925ECD7}"/>
              </a:ext>
            </a:extLst>
          </p:cNvPr>
          <p:cNvSpPr txBox="1"/>
          <p:nvPr/>
        </p:nvSpPr>
        <p:spPr>
          <a:xfrm>
            <a:off x="5543786" y="4281464"/>
            <a:ext cx="31034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err="1"/>
              <a:t>fp</a:t>
            </a:r>
            <a:r>
              <a:rPr lang="en-US" sz="2200" b="1" dirty="0"/>
              <a:t>?</a:t>
            </a:r>
            <a:r>
              <a:rPr lang="en-US" sz="2200" dirty="0"/>
              <a:t> what's that??</a:t>
            </a:r>
          </a:p>
        </p:txBody>
      </p:sp>
    </p:spTree>
    <p:extLst>
      <p:ext uri="{BB962C8B-B14F-4D97-AF65-F5344CB8AC3E}">
        <p14:creationId xmlns:p14="http://schemas.microsoft.com/office/powerpoint/2010/main" val="18159011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CEAE-9BF2-9B4B-97FF-BC943C6264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Truss's MIPS ABI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D5645C-6835-604D-B280-1C915D64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2708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D879-F54D-1442-8B95-BC863F83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Kind of standard, kind of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E7F49-42A6-2A4E-A3A9-5541BB1F3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Truss’s MIPS ABI is </a:t>
            </a:r>
            <a:r>
              <a:rPr lang="en-US" i="1" dirty="0"/>
              <a:t>based on </a:t>
            </a:r>
            <a:r>
              <a:rPr lang="en-US" dirty="0"/>
              <a:t>the standard MIPS ABI, but is more limited in some ways in order to make the </a:t>
            </a:r>
            <a:r>
              <a:rPr lang="en-US" dirty="0" err="1"/>
              <a:t>codegen</a:t>
            </a:r>
            <a:r>
              <a:rPr lang="en-US" dirty="0"/>
              <a:t> simpler.</a:t>
            </a:r>
          </a:p>
          <a:p>
            <a:r>
              <a:rPr lang="en-US" dirty="0"/>
              <a:t>we’re generating code for a slightly weird target, MARS, which:</a:t>
            </a:r>
          </a:p>
          <a:p>
            <a:pPr lvl="1"/>
            <a:r>
              <a:rPr lang="en-US" dirty="0"/>
              <a:t>has no operating system</a:t>
            </a:r>
          </a:p>
          <a:p>
            <a:pPr lvl="1"/>
            <a:r>
              <a:rPr lang="en-US" dirty="0"/>
              <a:t>has no executable format, only </a:t>
            </a:r>
            <a:r>
              <a:rPr lang="en-US" i="1" dirty="0"/>
              <a:t>textual</a:t>
            </a:r>
            <a:r>
              <a:rPr lang="en-US" dirty="0"/>
              <a:t> assembly as input</a:t>
            </a:r>
          </a:p>
          <a:p>
            <a:r>
              <a:rPr lang="en-US" dirty="0"/>
              <a:t>those aspects will </a:t>
            </a:r>
            <a:r>
              <a:rPr lang="en-US" i="1" dirty="0"/>
              <a:t>also</a:t>
            </a:r>
            <a:r>
              <a:rPr lang="en-US" dirty="0"/>
              <a:t> simplify our job!</a:t>
            </a:r>
          </a:p>
          <a:p>
            <a:r>
              <a:rPr lang="en-US" dirty="0"/>
              <a:t>a large part of the ABI is the calling convention, but first, we have to specify…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80E47-7E07-7540-B107-3AC7F93E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3333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2731-DD96-4F42-840A-BEFFDD9C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649A6-7128-DC41-8578-5E394FBC8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dirty="0"/>
              <a:t>there are </a:t>
            </a:r>
            <a:r>
              <a:rPr lang="en-US" b="1" dirty="0"/>
              <a:t>three </a:t>
            </a:r>
            <a:r>
              <a:rPr lang="en-US" dirty="0"/>
              <a:t>regions of memory.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0513D-078E-BF42-9277-9105F66A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84D11F-5821-554C-8975-9DC7F3617137}"/>
              </a:ext>
            </a:extLst>
          </p:cNvPr>
          <p:cNvSpPr txBox="1"/>
          <p:nvPr/>
        </p:nvSpPr>
        <p:spPr>
          <a:xfrm>
            <a:off x="3844413" y="1222285"/>
            <a:ext cx="487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the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.data</a:t>
            </a:r>
            <a:r>
              <a:rPr lang="en-US" sz="2200" dirty="0"/>
              <a:t> </a:t>
            </a:r>
            <a:r>
              <a:rPr lang="en-US" sz="2200" b="1" dirty="0"/>
              <a:t>segment</a:t>
            </a:r>
            <a:r>
              <a:rPr lang="en-US" sz="2200" dirty="0"/>
              <a:t> holds the global variables and any string literals.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76DD4-97CD-6048-9780-FB913D73C025}"/>
              </a:ext>
            </a:extLst>
          </p:cNvPr>
          <p:cNvSpPr txBox="1"/>
          <p:nvPr/>
        </p:nvSpPr>
        <p:spPr>
          <a:xfrm>
            <a:off x="381000" y="1222285"/>
            <a:ext cx="391645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g1 =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g2 =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"world"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sz="2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println_i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(g1);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"hi, 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+ g2;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println_s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84D0E40-3FA8-984D-9A84-E35E68957B3E}"/>
              </a:ext>
            </a:extLst>
          </p:cNvPr>
          <p:cNvSpPr/>
          <p:nvPr/>
        </p:nvSpPr>
        <p:spPr>
          <a:xfrm>
            <a:off x="3276600" y="1333501"/>
            <a:ext cx="381499" cy="658226"/>
          </a:xfrm>
          <a:prstGeom prst="rightBrace">
            <a:avLst>
              <a:gd name="adj1" fmla="val 5144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1ABB1-42C6-5C40-9E64-9B1AE84AF064}"/>
              </a:ext>
            </a:extLst>
          </p:cNvPr>
          <p:cNvSpPr txBox="1"/>
          <p:nvPr/>
        </p:nvSpPr>
        <p:spPr>
          <a:xfrm>
            <a:off x="398206" y="3884553"/>
            <a:ext cx="3124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the stack</a:t>
            </a:r>
            <a:r>
              <a:rPr lang="en-US" sz="2200" dirty="0"/>
              <a:t> holds the local variables.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28CD6-0E2D-4040-AAF2-C814FF086C5F}"/>
              </a:ext>
            </a:extLst>
          </p:cNvPr>
          <p:cNvSpPr txBox="1"/>
          <p:nvPr/>
        </p:nvSpPr>
        <p:spPr>
          <a:xfrm>
            <a:off x="4156587" y="2260573"/>
            <a:ext cx="40694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the heap</a:t>
            </a:r>
            <a:r>
              <a:rPr lang="en-US" sz="2200" dirty="0"/>
              <a:t> holds dynamically-allocated strings and structs (like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Cat()</a:t>
            </a:r>
            <a:r>
              <a:rPr lang="en-US" sz="2200" dirty="0"/>
              <a:t>).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2A3E6D-8236-E04D-A570-88C295ABD65C}"/>
              </a:ext>
            </a:extLst>
          </p:cNvPr>
          <p:cNvCxnSpPr>
            <a:cxnSpLocks/>
          </p:cNvCxnSpPr>
          <p:nvPr/>
        </p:nvCxnSpPr>
        <p:spPr>
          <a:xfrm flipH="1" flipV="1">
            <a:off x="1066800" y="3238501"/>
            <a:ext cx="152400" cy="7769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1EB695-94AF-5C4E-9BA0-47D8D834D05F}"/>
              </a:ext>
            </a:extLst>
          </p:cNvPr>
          <p:cNvCxnSpPr>
            <a:cxnSpLocks/>
            <a:stCxn id="6" idx="3"/>
          </p:cNvCxnSpPr>
          <p:nvPr/>
        </p:nvCxnSpPr>
        <p:spPr>
          <a:xfrm flipH="1">
            <a:off x="3522407" y="2622669"/>
            <a:ext cx="775050" cy="3872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3304D05-0A77-FC4E-A3A8-F242D1B15AAB}"/>
              </a:ext>
            </a:extLst>
          </p:cNvPr>
          <p:cNvSpPr txBox="1"/>
          <p:nvPr/>
        </p:nvSpPr>
        <p:spPr>
          <a:xfrm>
            <a:off x="4208206" y="3801416"/>
            <a:ext cx="4366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heap </a:t>
            </a:r>
            <a:r>
              <a:rPr lang="en-US" sz="2200" i="1" dirty="0"/>
              <a:t>could</a:t>
            </a:r>
            <a:r>
              <a:rPr lang="en-US" sz="2200" dirty="0"/>
              <a:t> be managed with a tracing garbage collector, if this were a real language. but our implementation won't. </a:t>
            </a:r>
          </a:p>
        </p:txBody>
      </p:sp>
    </p:spTree>
    <p:extLst>
      <p:ext uri="{BB962C8B-B14F-4D97-AF65-F5344CB8AC3E}">
        <p14:creationId xmlns:p14="http://schemas.microsoft.com/office/powerpoint/2010/main" val="14331273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69EB-7D2F-9E44-AA14-5158F8505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global variables are generated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B08C7-E6CA-BC4E-B0F7-99EF4FC38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b="1" dirty="0"/>
              <a:t>int </a:t>
            </a:r>
            <a:r>
              <a:rPr lang="en-US" dirty="0"/>
              <a:t>and </a:t>
            </a:r>
            <a:r>
              <a:rPr lang="en-US" b="1" dirty="0"/>
              <a:t>bool</a:t>
            </a:r>
            <a:r>
              <a:rPr lang="en-US" dirty="0"/>
              <a:t> </a:t>
            </a:r>
            <a:r>
              <a:rPr lang="en-US" dirty="0" err="1"/>
              <a:t>globals</a:t>
            </a:r>
            <a:r>
              <a:rPr lang="en-US" dirty="0"/>
              <a:t> become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.word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.byte</a:t>
            </a:r>
            <a:r>
              <a:rPr lang="en-US" dirty="0"/>
              <a:t> variables, respectively.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16F6B-040D-4E45-8144-BCA9B533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61523-CB60-A647-B520-89ECAED35CA5}"/>
              </a:ext>
            </a:extLst>
          </p:cNvPr>
          <p:cNvSpPr txBox="1"/>
          <p:nvPr/>
        </p:nvSpPr>
        <p:spPr>
          <a:xfrm>
            <a:off x="122903" y="4055881"/>
            <a:ext cx="373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bools </a:t>
            </a:r>
            <a:r>
              <a:rPr lang="en-US" sz="2200" dirty="0"/>
              <a:t>are represented with 1 for true and 0 for false.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EC782-51E8-5D46-9FA5-A44E63E01892}"/>
              </a:ext>
            </a:extLst>
          </p:cNvPr>
          <p:cNvSpPr txBox="1"/>
          <p:nvPr/>
        </p:nvSpPr>
        <p:spPr>
          <a:xfrm>
            <a:off x="685800" y="1407689"/>
            <a:ext cx="26725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ivar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bvar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FA127-BB88-7345-83BF-BB2386AC2A30}"/>
              </a:ext>
            </a:extLst>
          </p:cNvPr>
          <p:cNvSpPr txBox="1"/>
          <p:nvPr/>
        </p:nvSpPr>
        <p:spPr>
          <a:xfrm>
            <a:off x="683037" y="2811173"/>
            <a:ext cx="23615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.data</a:t>
            </a:r>
          </a:p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ivar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.word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bvar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.byte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63FEBC88-025F-D345-B2FB-AFB7642EFB00}"/>
              </a:ext>
            </a:extLst>
          </p:cNvPr>
          <p:cNvSpPr/>
          <p:nvPr/>
        </p:nvSpPr>
        <p:spPr>
          <a:xfrm>
            <a:off x="1520909" y="2294227"/>
            <a:ext cx="685800" cy="63947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BB3F50-D6A8-4C4F-9B20-B151DCA3CE79}"/>
              </a:ext>
            </a:extLst>
          </p:cNvPr>
          <p:cNvSpPr txBox="1"/>
          <p:nvPr/>
        </p:nvSpPr>
        <p:spPr>
          <a:xfrm>
            <a:off x="4343400" y="1104900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strings </a:t>
            </a:r>
            <a:r>
              <a:rPr lang="en-US" sz="2200" dirty="0"/>
              <a:t>are more subtle…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17741A-83A8-144E-B764-E67D1588D8DE}"/>
              </a:ext>
            </a:extLst>
          </p:cNvPr>
          <p:cNvSpPr txBox="1"/>
          <p:nvPr/>
        </p:nvSpPr>
        <p:spPr>
          <a:xfrm>
            <a:off x="4779289" y="1586287"/>
            <a:ext cx="26725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svar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"hi"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3122E-16B9-224C-B8F7-746D20144D43}"/>
              </a:ext>
            </a:extLst>
          </p:cNvPr>
          <p:cNvSpPr txBox="1"/>
          <p:nvPr/>
        </p:nvSpPr>
        <p:spPr>
          <a:xfrm>
            <a:off x="4776526" y="2786543"/>
            <a:ext cx="360547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.data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STRLIT$0: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asciiz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"hi"</a:t>
            </a:r>
          </a:p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svar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.word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STRLIT$0</a:t>
            </a: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9065CA71-7C28-DF42-A3D0-D9C93E3709FC}"/>
              </a:ext>
            </a:extLst>
          </p:cNvPr>
          <p:cNvSpPr/>
          <p:nvPr/>
        </p:nvSpPr>
        <p:spPr>
          <a:xfrm>
            <a:off x="5614398" y="2095132"/>
            <a:ext cx="685800" cy="63947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6278D4-AC7C-F24A-A120-BE376A1FA714}"/>
              </a:ext>
            </a:extLst>
          </p:cNvPr>
          <p:cNvSpPr txBox="1"/>
          <p:nvPr/>
        </p:nvSpPr>
        <p:spPr>
          <a:xfrm>
            <a:off x="4038600" y="4080289"/>
            <a:ext cx="49062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every </a:t>
            </a:r>
            <a:r>
              <a:rPr lang="en-US" sz="2200" dirty="0"/>
              <a:t>string literal in the program gets a uniquely-named </a:t>
            </a:r>
            <a:r>
              <a:rPr lang="en-US" sz="2200" b="1" dirty="0"/>
              <a:t>STRLIT</a:t>
            </a:r>
            <a:r>
              <a:rPr lang="en-US" sz="2200" dirty="0"/>
              <a:t> label; string </a:t>
            </a:r>
            <a:r>
              <a:rPr lang="en-US" sz="2200" i="1" dirty="0"/>
              <a:t>variables</a:t>
            </a:r>
            <a:r>
              <a:rPr lang="en-US" sz="2200" dirty="0"/>
              <a:t> just </a:t>
            </a:r>
            <a:r>
              <a:rPr lang="en-US" sz="2200" i="1" dirty="0"/>
              <a:t>point</a:t>
            </a:r>
            <a:r>
              <a:rPr lang="en-US" sz="2200" dirty="0"/>
              <a:t> to strings.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6545850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12" grpId="0"/>
      <p:bldP spid="16" grpId="0"/>
      <p:bldP spid="17" grpId="0"/>
      <p:bldP spid="18" grpId="0" animBg="1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A4559-E415-5040-8624-FB24838F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data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9FF9D-6FCB-1041-B4CB-9ED98AECF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 thorough we have to define how </a:t>
            </a:r>
            <a:r>
              <a:rPr lang="en-US" i="1" dirty="0"/>
              <a:t>every </a:t>
            </a:r>
            <a:r>
              <a:rPr lang="en-US" dirty="0"/>
              <a:t>type in the language is represented at runtime. fortunately, Truss doesn’t have many!</a:t>
            </a:r>
          </a:p>
          <a:p>
            <a:pPr lvl="1"/>
            <a:r>
              <a:rPr lang="en-US" dirty="0"/>
              <a:t>we already saw </a:t>
            </a:r>
            <a:r>
              <a:rPr lang="en-US" b="1" dirty="0" err="1"/>
              <a:t>int</a:t>
            </a:r>
            <a:r>
              <a:rPr lang="en-US" dirty="0"/>
              <a:t> and </a:t>
            </a:r>
            <a:r>
              <a:rPr lang="en-US" b="1" dirty="0"/>
              <a:t>bool</a:t>
            </a:r>
            <a:r>
              <a:rPr lang="en-US" dirty="0"/>
              <a:t> on the previous slide.</a:t>
            </a:r>
          </a:p>
          <a:p>
            <a:r>
              <a:rPr lang="en-US" b="1" dirty="0"/>
              <a:t>strings, function pointers, </a:t>
            </a:r>
            <a:r>
              <a:rPr lang="en-US" dirty="0"/>
              <a:t>and </a:t>
            </a:r>
            <a:r>
              <a:rPr lang="en-US" b="1" dirty="0"/>
              <a:t>struct references </a:t>
            </a:r>
            <a:r>
              <a:rPr lang="en-US" dirty="0"/>
              <a:t>are all </a:t>
            </a:r>
            <a:r>
              <a:rPr lang="en-US" i="1" dirty="0"/>
              <a:t>reference types, </a:t>
            </a:r>
            <a:r>
              <a:rPr lang="en-US" dirty="0"/>
              <a:t>meaning they are represented as a pointer, which is a </a:t>
            </a:r>
            <a:r>
              <a:rPr lang="en-US" b="1" dirty="0"/>
              <a:t>word.</a:t>
            </a:r>
          </a:p>
          <a:p>
            <a:r>
              <a:rPr lang="en-US" dirty="0"/>
              <a:t>the </a:t>
            </a:r>
            <a:r>
              <a:rPr lang="en-US" i="1" dirty="0"/>
              <a:t>data</a:t>
            </a:r>
            <a:r>
              <a:rPr lang="en-US" dirty="0"/>
              <a:t> of a </a:t>
            </a:r>
            <a:r>
              <a:rPr lang="en-US" b="1" dirty="0"/>
              <a:t>string</a:t>
            </a:r>
            <a:r>
              <a:rPr lang="en-US" dirty="0"/>
              <a:t> is defined as zero-terminated ASCII, which is kind of a terrible string representation but is exactly what MARS wants, so.</a:t>
            </a:r>
          </a:p>
          <a:p>
            <a:r>
              <a:rPr lang="en-US" dirty="0"/>
              <a:t>the </a:t>
            </a:r>
            <a:r>
              <a:rPr lang="en-US" i="1" dirty="0"/>
              <a:t>data</a:t>
            </a:r>
            <a:r>
              <a:rPr lang="en-US" dirty="0"/>
              <a:t> of a struct is… well… we’ll come back to structs. ;o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43587-75F2-7244-B7C8-4B571B62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8668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6FFD-1DD9-BB42-953A-3FB7DE82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0D2AC-EFDE-DB49-A4E7-5B3048B08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52399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caller </a:t>
            </a:r>
            <a:r>
              <a:rPr lang="en-US" dirty="0"/>
              <a:t>has an easy time calling functions, but the protocol is a little different than you may remember from 447.</a:t>
            </a:r>
          </a:p>
          <a:p>
            <a:r>
              <a:rPr lang="en-US" dirty="0"/>
              <a:t>rather than using those </a:t>
            </a:r>
            <a:r>
              <a:rPr lang="en-US" b="1" dirty="0"/>
              <a:t>a </a:t>
            </a:r>
            <a:r>
              <a:rPr lang="en-US" dirty="0"/>
              <a:t>registers, </a:t>
            </a:r>
            <a:r>
              <a:rPr lang="en-US" b="1" dirty="0"/>
              <a:t>all arguments are passed on the stack, in the same order they are written in the source.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E314D-DFCD-0340-AEC0-F75835B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41413-7365-C94B-AFB5-5210D892EDED}"/>
              </a:ext>
            </a:extLst>
          </p:cNvPr>
          <p:cNvSpPr txBox="1"/>
          <p:nvPr/>
        </p:nvSpPr>
        <p:spPr>
          <a:xfrm>
            <a:off x="457200" y="1918686"/>
            <a:ext cx="14285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f(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C6E25-3875-D74D-A3F4-AD60F8A4FBB9}"/>
              </a:ext>
            </a:extLst>
          </p:cNvPr>
          <p:cNvSpPr txBox="1"/>
          <p:nvPr/>
        </p:nvSpPr>
        <p:spPr>
          <a:xfrm>
            <a:off x="457200" y="3111729"/>
            <a:ext cx="251703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addi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-8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t0,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t0,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t0,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t0,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jal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f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165986CB-B65E-3849-AA79-B7F6BE953649}"/>
              </a:ext>
            </a:extLst>
          </p:cNvPr>
          <p:cNvSpPr/>
          <p:nvPr/>
        </p:nvSpPr>
        <p:spPr>
          <a:xfrm>
            <a:off x="809642" y="2429286"/>
            <a:ext cx="561958" cy="523997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4D08BA-44CC-4D4D-AC8D-7ED76D63BB2E}"/>
              </a:ext>
            </a:extLst>
          </p:cNvPr>
          <p:cNvSpPr txBox="1"/>
          <p:nvPr/>
        </p:nvSpPr>
        <p:spPr>
          <a:xfrm>
            <a:off x="2949634" y="2147204"/>
            <a:ext cx="4038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each stack slot is 4 bytes, so 2 arguments requires 8 bytes.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F093DA-B034-3F4C-87A7-0F5A51372364}"/>
              </a:ext>
            </a:extLst>
          </p:cNvPr>
          <p:cNvCxnSpPr>
            <a:cxnSpLocks/>
          </p:cNvCxnSpPr>
          <p:nvPr/>
        </p:nvCxnSpPr>
        <p:spPr>
          <a:xfrm flipH="1">
            <a:off x="2895601" y="2888276"/>
            <a:ext cx="304799" cy="3104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D1DCCAA-C048-B247-8077-484778A159AF}"/>
              </a:ext>
            </a:extLst>
          </p:cNvPr>
          <p:cNvSpPr txBox="1"/>
          <p:nvPr/>
        </p:nvSpPr>
        <p:spPr>
          <a:xfrm>
            <a:off x="3581400" y="3785056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recall this means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+ sp</a:t>
            </a:r>
            <a:r>
              <a:rPr lang="en-US" sz="2200" dirty="0"/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F10A26-C674-7A45-8866-B9EE6AC6F68A}"/>
              </a:ext>
            </a:extLst>
          </p:cNvPr>
          <p:cNvCxnSpPr>
            <a:cxnSpLocks/>
          </p:cNvCxnSpPr>
          <p:nvPr/>
        </p:nvCxnSpPr>
        <p:spPr>
          <a:xfrm flipH="1">
            <a:off x="2861188" y="4000500"/>
            <a:ext cx="58747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870D7F-7798-534C-9ECF-61496AFD4765}"/>
              </a:ext>
            </a:extLst>
          </p:cNvPr>
          <p:cNvSpPr txBox="1"/>
          <p:nvPr/>
        </p:nvSpPr>
        <p:spPr>
          <a:xfrm>
            <a:off x="3581400" y="4457700"/>
            <a:ext cx="472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second argument is at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dirty="0"/>
              <a:t>; the third at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dirty="0"/>
              <a:t> etc.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A938BA-BA00-3448-8B2C-496D1FB19F75}"/>
              </a:ext>
            </a:extLst>
          </p:cNvPr>
          <p:cNvCxnSpPr>
            <a:cxnSpLocks/>
          </p:cNvCxnSpPr>
          <p:nvPr/>
        </p:nvCxnSpPr>
        <p:spPr>
          <a:xfrm flipH="1">
            <a:off x="2861188" y="4673144"/>
            <a:ext cx="58747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4878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15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57B2-EBC9-6E4C-A104-EA515C1D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the call completes…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7A3A1-6053-CB4F-9A09-B96293A05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70846"/>
          </a:xfrm>
        </p:spPr>
        <p:txBody>
          <a:bodyPr/>
          <a:lstStyle/>
          <a:p>
            <a:r>
              <a:rPr lang="en-US" dirty="0"/>
              <a:t>return values come out in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v0</a:t>
            </a:r>
            <a:r>
              <a:rPr lang="en-US" b="1" dirty="0"/>
              <a:t>, </a:t>
            </a:r>
            <a:r>
              <a:rPr lang="en-US" dirty="0"/>
              <a:t>like you learned before.</a:t>
            </a:r>
          </a:p>
          <a:p>
            <a:r>
              <a:rPr lang="en-US" dirty="0"/>
              <a:t>assuming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glob</a:t>
            </a:r>
            <a:r>
              <a:rPr lang="en-US" dirty="0"/>
              <a:t> is a global variable…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2E0AE-1540-204A-A728-A9190A01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998BB-0554-3F4F-A510-6FFFBB31A7DF}"/>
              </a:ext>
            </a:extLst>
          </p:cNvPr>
          <p:cNvSpPr txBox="1"/>
          <p:nvPr/>
        </p:nvSpPr>
        <p:spPr>
          <a:xfrm>
            <a:off x="454764" y="1409700"/>
            <a:ext cx="20505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glob = f(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31E5-E216-9E47-B90F-32F883F1556B}"/>
              </a:ext>
            </a:extLst>
          </p:cNvPr>
          <p:cNvSpPr txBox="1"/>
          <p:nvPr/>
        </p:nvSpPr>
        <p:spPr>
          <a:xfrm>
            <a:off x="454764" y="2554729"/>
            <a:ext cx="2517036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addi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-4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t0,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t0,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jal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f</a:t>
            </a: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v0, glob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08345AFC-8895-BA41-95BC-CDE64E44F5FE}"/>
              </a:ext>
            </a:extLst>
          </p:cNvPr>
          <p:cNvSpPr/>
          <p:nvPr/>
        </p:nvSpPr>
        <p:spPr>
          <a:xfrm>
            <a:off x="807206" y="1965042"/>
            <a:ext cx="561958" cy="523997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7D657-B189-624D-9F49-1B81BF061E86}"/>
              </a:ext>
            </a:extLst>
          </p:cNvPr>
          <p:cNvSpPr txBox="1"/>
          <p:nvPr/>
        </p:nvSpPr>
        <p:spPr>
          <a:xfrm>
            <a:off x="2971800" y="1458043"/>
            <a:ext cx="6019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notice: the caller </a:t>
            </a:r>
            <a:r>
              <a:rPr lang="en-US" sz="2200" b="1" dirty="0"/>
              <a:t>changes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/>
              <a:t> </a:t>
            </a:r>
            <a:r>
              <a:rPr lang="en-US" sz="2200" b="1" i="1" dirty="0"/>
              <a:t>before</a:t>
            </a:r>
            <a:r>
              <a:rPr lang="en-US" sz="2200" b="1" dirty="0"/>
              <a:t> calling, </a:t>
            </a:r>
            <a:r>
              <a:rPr lang="en-US" sz="2200" dirty="0"/>
              <a:t>but it does not change it </a:t>
            </a:r>
            <a:r>
              <a:rPr lang="en-US" sz="2200" i="1" dirty="0"/>
              <a:t>after. </a:t>
            </a:r>
            <a:r>
              <a:rPr lang="en-US" sz="2200" dirty="0"/>
              <a:t>we say the </a:t>
            </a:r>
            <a:r>
              <a:rPr lang="en-US" sz="2200" b="1" dirty="0"/>
              <a:t>callee "cleans the stack" </a:t>
            </a:r>
            <a:r>
              <a:rPr lang="en-US" sz="1400" dirty="0"/>
              <a:t>(as we'll see shortly)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023F40-AA16-B147-BC66-C1F1FBB6E1F7}"/>
              </a:ext>
            </a:extLst>
          </p:cNvPr>
          <p:cNvSpPr txBox="1"/>
          <p:nvPr/>
        </p:nvSpPr>
        <p:spPr>
          <a:xfrm>
            <a:off x="2984090" y="3419464"/>
            <a:ext cx="6019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important: there is a line here. below this line, the contents of the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2200" dirty="0"/>
              <a:t>,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200" dirty="0"/>
              <a:t>, and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200" dirty="0"/>
              <a:t> registers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</a:rPr>
              <a:t>may be different </a:t>
            </a:r>
            <a:r>
              <a:rPr lang="en-US" sz="2200" dirty="0">
                <a:solidFill>
                  <a:srgbClr val="FF0000"/>
                </a:solidFill>
              </a:rPr>
              <a:t>than they were before the </a:t>
            </a:r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jal</a:t>
            </a:r>
            <a:r>
              <a:rPr lang="en-US" sz="2200" b="1" dirty="0">
                <a:solidFill>
                  <a:srgbClr val="FF0000"/>
                </a:solidFill>
              </a:rPr>
              <a:t>.</a:t>
            </a:r>
            <a:endParaRPr lang="en-US" sz="2800" b="1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F31F76-E01F-834C-8199-8ACB4E6EFD2A}"/>
              </a:ext>
            </a:extLst>
          </p:cNvPr>
          <p:cNvCxnSpPr>
            <a:cxnSpLocks/>
          </p:cNvCxnSpPr>
          <p:nvPr/>
        </p:nvCxnSpPr>
        <p:spPr>
          <a:xfrm>
            <a:off x="285135" y="3973462"/>
            <a:ext cx="2809568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8768835-A448-654D-8136-DEDDF3BA5C20}"/>
              </a:ext>
            </a:extLst>
          </p:cNvPr>
          <p:cNvSpPr txBox="1"/>
          <p:nvPr/>
        </p:nvSpPr>
        <p:spPr>
          <a:xfrm>
            <a:off x="1503396" y="4666358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however, the contents of the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2200" b="1" dirty="0"/>
              <a:t> </a:t>
            </a:r>
            <a:r>
              <a:rPr lang="en-US" sz="2200" dirty="0"/>
              <a:t>registers </a:t>
            </a:r>
            <a:r>
              <a:rPr lang="en-US" sz="2200" b="1" dirty="0"/>
              <a:t>are guaranteed to be </a:t>
            </a:r>
            <a:r>
              <a:rPr lang="en-US" sz="2200" b="1" dirty="0">
                <a:solidFill>
                  <a:srgbClr val="00B050"/>
                </a:solidFill>
              </a:rPr>
              <a:t>the same as before the </a:t>
            </a:r>
            <a:r>
              <a:rPr lang="en-US" sz="22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jal</a:t>
            </a:r>
            <a:r>
              <a:rPr lang="en-US" sz="2200" b="1" dirty="0">
                <a:solidFill>
                  <a:srgbClr val="00B050"/>
                </a:solidFill>
              </a:rPr>
              <a:t>.</a:t>
            </a:r>
            <a:endParaRPr lang="en-US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4776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/>
      <p:bldP spid="9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47814-5764-7B43-B2BD-F715C3B4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0A67D-CE3A-C04B-B7F6-7E86F3DA6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dirty="0"/>
              <a:t>every function in the program needs a </a:t>
            </a:r>
            <a:r>
              <a:rPr lang="en-US" b="1" dirty="0"/>
              <a:t>stack frame: </a:t>
            </a:r>
            <a:r>
              <a:rPr lang="en-US" dirty="0"/>
              <a:t>a way of storing all the arguments, variables, and saved registers on the stack.</a:t>
            </a:r>
          </a:p>
          <a:p>
            <a:r>
              <a:rPr lang="en-US" dirty="0"/>
              <a:t>let's look at a super simple function's stack frame first.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66A84-9E0E-C149-B73E-19AFCDB4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F84D9A-BEE4-C94A-8B5E-E6683DF02143}"/>
              </a:ext>
            </a:extLst>
          </p:cNvPr>
          <p:cNvSpPr txBox="1"/>
          <p:nvPr/>
        </p:nvSpPr>
        <p:spPr>
          <a:xfrm>
            <a:off x="381000" y="1749504"/>
            <a:ext cx="313900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simple(x: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println_i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06EAF8-FA4C-BF46-9F33-E41F71F4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95560"/>
              </p:ext>
            </p:extLst>
          </p:nvPr>
        </p:nvGraphicFramePr>
        <p:xfrm>
          <a:off x="381000" y="3009900"/>
          <a:ext cx="1142999" cy="853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1816345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95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ra</a:t>
                      </a:r>
                      <a:endParaRPr lang="en-US" sz="22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459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D424853-9CB8-9D4C-9D48-221662F4F0DE}"/>
              </a:ext>
            </a:extLst>
          </p:cNvPr>
          <p:cNvSpPr txBox="1"/>
          <p:nvPr/>
        </p:nvSpPr>
        <p:spPr>
          <a:xfrm>
            <a:off x="2142229" y="3009900"/>
            <a:ext cx="6400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there's the argument. it was pushed by the caller.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9C28A7-030F-E648-953D-59894963A46F}"/>
              </a:ext>
            </a:extLst>
          </p:cNvPr>
          <p:cNvCxnSpPr>
            <a:cxnSpLocks/>
          </p:cNvCxnSpPr>
          <p:nvPr/>
        </p:nvCxnSpPr>
        <p:spPr>
          <a:xfrm flipH="1">
            <a:off x="1597747" y="3245590"/>
            <a:ext cx="54448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BF2B7F1-84AF-7C46-A8D3-C2BEB4E1AF17}"/>
              </a:ext>
            </a:extLst>
          </p:cNvPr>
          <p:cNvSpPr txBox="1"/>
          <p:nvPr/>
        </p:nvSpPr>
        <p:spPr>
          <a:xfrm>
            <a:off x="2142228" y="3432453"/>
            <a:ext cx="65445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we're going to push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ra</a:t>
            </a:r>
            <a:r>
              <a:rPr lang="en-US" sz="2200" b="1" dirty="0"/>
              <a:t>, </a:t>
            </a:r>
            <a:r>
              <a:rPr lang="en-US" sz="2200" dirty="0"/>
              <a:t>the return address register, so we won't lose our way back to the caller when we call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println_i</a:t>
            </a:r>
            <a:r>
              <a:rPr lang="en-US" sz="2200" dirty="0"/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425071-9ABF-784D-9603-3F10B89959B5}"/>
              </a:ext>
            </a:extLst>
          </p:cNvPr>
          <p:cNvCxnSpPr>
            <a:cxnSpLocks/>
          </p:cNvCxnSpPr>
          <p:nvPr/>
        </p:nvCxnSpPr>
        <p:spPr>
          <a:xfrm flipH="1">
            <a:off x="1597747" y="3668143"/>
            <a:ext cx="54448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D19A37-0738-434D-95A1-5936ABC3398E}"/>
              </a:ext>
            </a:extLst>
          </p:cNvPr>
          <p:cNvSpPr txBox="1"/>
          <p:nvPr/>
        </p:nvSpPr>
        <p:spPr>
          <a:xfrm>
            <a:off x="1299714" y="4736187"/>
            <a:ext cx="65445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what about when we have</a:t>
            </a:r>
            <a:r>
              <a:rPr lang="en-US" sz="2200" b="1" dirty="0"/>
              <a:t> local variables?</a:t>
            </a:r>
          </a:p>
        </p:txBody>
      </p:sp>
    </p:spTree>
    <p:extLst>
      <p:ext uri="{BB962C8B-B14F-4D97-AF65-F5344CB8AC3E}">
        <p14:creationId xmlns:p14="http://schemas.microsoft.com/office/powerpoint/2010/main" val="17290914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F989F-8026-D14C-A63F-8DA0FE50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D2916-816E-8746-9867-F7737D631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2"/>
            <a:ext cx="8991600" cy="495300"/>
          </a:xfrm>
        </p:spPr>
        <p:txBody>
          <a:bodyPr/>
          <a:lstStyle/>
          <a:p>
            <a:r>
              <a:rPr lang="en-US" dirty="0"/>
              <a:t>after pushing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ra</a:t>
            </a:r>
            <a:r>
              <a:rPr lang="en-US" dirty="0"/>
              <a:t>, we will then make space for the locals.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D0777-B286-1144-904D-E34D13BA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9FC68-5A43-5B45-9639-6FC15DC66ED9}"/>
              </a:ext>
            </a:extLst>
          </p:cNvPr>
          <p:cNvSpPr txBox="1"/>
          <p:nvPr/>
        </p:nvSpPr>
        <p:spPr>
          <a:xfrm>
            <a:off x="656303" y="911944"/>
            <a:ext cx="407194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more_complex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(x: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y = x +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i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y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println_i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(i);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471B5B-EC9B-974A-820D-D46BA3593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136345"/>
              </p:ext>
            </p:extLst>
          </p:nvPr>
        </p:nvGraphicFramePr>
        <p:xfrm>
          <a:off x="5025972" y="1063113"/>
          <a:ext cx="1142999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1816345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95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ra</a:t>
                      </a:r>
                      <a:endParaRPr lang="en-US" sz="22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45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4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748450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86E37A32-2DF1-7145-940B-6624D598B7F8}"/>
              </a:ext>
            </a:extLst>
          </p:cNvPr>
          <p:cNvGrpSpPr/>
          <p:nvPr/>
        </p:nvGrpSpPr>
        <p:grpSpPr>
          <a:xfrm>
            <a:off x="6349986" y="2339106"/>
            <a:ext cx="1343123" cy="430887"/>
            <a:chOff x="1676400" y="2426613"/>
            <a:chExt cx="1343123" cy="43088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367E00-E836-9543-8FCD-5B919EE0687C}"/>
                </a:ext>
              </a:extLst>
            </p:cNvPr>
            <p:cNvSpPr txBox="1"/>
            <p:nvPr/>
          </p:nvSpPr>
          <p:spPr>
            <a:xfrm>
              <a:off x="2057400" y="2426613"/>
              <a:ext cx="9621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1FF7C54-8B10-6245-9133-BD8C2A28A29C}"/>
                </a:ext>
              </a:extLst>
            </p:cNvPr>
            <p:cNvCxnSpPr>
              <a:stCxn id="8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117C72-E6B0-E141-BCFD-49BC4D5266AC}"/>
              </a:ext>
            </a:extLst>
          </p:cNvPr>
          <p:cNvGrpSpPr/>
          <p:nvPr/>
        </p:nvGrpSpPr>
        <p:grpSpPr>
          <a:xfrm>
            <a:off x="6349986" y="1916553"/>
            <a:ext cx="1343123" cy="430887"/>
            <a:chOff x="1676400" y="2426613"/>
            <a:chExt cx="1343123" cy="43088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A32513-0331-3F48-8F68-7633FFE1F2C0}"/>
                </a:ext>
              </a:extLst>
            </p:cNvPr>
            <p:cNvSpPr txBox="1"/>
            <p:nvPr/>
          </p:nvSpPr>
          <p:spPr>
            <a:xfrm>
              <a:off x="2057400" y="2426613"/>
              <a:ext cx="9621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281C3BC-DB5F-9F4D-B908-45F99EA4F600}"/>
                </a:ext>
              </a:extLst>
            </p:cNvPr>
            <p:cNvCxnSpPr>
              <a:stCxn id="14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F3857A-C1A3-BB4D-94A1-E63E04000CBD}"/>
              </a:ext>
            </a:extLst>
          </p:cNvPr>
          <p:cNvGrpSpPr/>
          <p:nvPr/>
        </p:nvGrpSpPr>
        <p:grpSpPr>
          <a:xfrm>
            <a:off x="6349986" y="1061830"/>
            <a:ext cx="1498614" cy="430887"/>
            <a:chOff x="1676400" y="2426613"/>
            <a:chExt cx="1498614" cy="43088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860B65B-BC77-3D4F-92F1-E28C61080840}"/>
                </a:ext>
              </a:extLst>
            </p:cNvPr>
            <p:cNvSpPr txBox="1"/>
            <p:nvPr/>
          </p:nvSpPr>
          <p:spPr>
            <a:xfrm>
              <a:off x="2057400" y="2426613"/>
              <a:ext cx="111761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54DFA5D-25F6-DB4F-B6BB-3236B699349F}"/>
                </a:ext>
              </a:extLst>
            </p:cNvPr>
            <p:cNvCxnSpPr>
              <a:stCxn id="17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CD8200A-C0B3-2943-943D-8DF18337267F}"/>
              </a:ext>
            </a:extLst>
          </p:cNvPr>
          <p:cNvSpPr txBox="1"/>
          <p:nvPr/>
        </p:nvSpPr>
        <p:spPr>
          <a:xfrm>
            <a:off x="203596" y="2974818"/>
            <a:ext cx="63270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every</a:t>
            </a:r>
            <a:r>
              <a:rPr lang="en-US" sz="2200" dirty="0"/>
              <a:t> local variable gets its own stack slot.</a:t>
            </a:r>
            <a:endParaRPr lang="en-US" sz="2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FFA08-99BA-594C-8349-44D28FE55D03}"/>
              </a:ext>
            </a:extLst>
          </p:cNvPr>
          <p:cNvSpPr txBox="1"/>
          <p:nvPr/>
        </p:nvSpPr>
        <p:spPr>
          <a:xfrm>
            <a:off x="1524000" y="3441251"/>
            <a:ext cx="75462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since the </a:t>
            </a:r>
            <a:r>
              <a:rPr lang="en-US" sz="2200" b="1" dirty="0"/>
              <a:t>stack pointer </a:t>
            </a:r>
            <a:r>
              <a:rPr lang="en-US" sz="2200" dirty="0"/>
              <a:t>is pointing at the lowest slot, we can access the locals and arguments with offsets from it.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D810B7-891C-A947-BDCC-D1AEB22E375B}"/>
              </a:ext>
            </a:extLst>
          </p:cNvPr>
          <p:cNvSpPr txBox="1"/>
          <p:nvPr/>
        </p:nvSpPr>
        <p:spPr>
          <a:xfrm>
            <a:off x="2589571" y="4235759"/>
            <a:ext cx="6211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but that's going to make things difficult for us when we want to actually call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println_i</a:t>
            </a:r>
            <a:r>
              <a:rPr lang="en-US" sz="2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420688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20" grpId="0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95085-44B1-4347-BF16-C4A353AD2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Shifting sands </a:t>
            </a:r>
            <a:r>
              <a:rPr lang="en-US" sz="2000" dirty="0"/>
              <a:t>(animated)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2B526-A091-6742-B85E-CD8817904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dirty="0"/>
              <a:t>let's say we're generating code for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println_i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(i)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73257-8326-734A-8CAE-3FEEB50A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D5ED09-7856-B649-B263-578C801E8ED9}"/>
              </a:ext>
            </a:extLst>
          </p:cNvPr>
          <p:cNvSpPr txBox="1"/>
          <p:nvPr/>
        </p:nvSpPr>
        <p:spPr>
          <a:xfrm>
            <a:off x="322007" y="945126"/>
            <a:ext cx="407194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more_complex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(x: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y = x +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i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y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println_i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(i);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2A5EA3-E5D0-D54C-9478-8C8B10289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724840"/>
              </p:ext>
            </p:extLst>
          </p:nvPr>
        </p:nvGraphicFramePr>
        <p:xfrm>
          <a:off x="428586" y="3163583"/>
          <a:ext cx="1142999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1816345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95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ra</a:t>
                      </a:r>
                      <a:endParaRPr lang="en-US" sz="22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45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4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748450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69800718-2086-2844-B8E1-69077BC0F4CB}"/>
              </a:ext>
            </a:extLst>
          </p:cNvPr>
          <p:cNvGrpSpPr/>
          <p:nvPr/>
        </p:nvGrpSpPr>
        <p:grpSpPr>
          <a:xfrm>
            <a:off x="1747829" y="4439576"/>
            <a:ext cx="1343123" cy="430887"/>
            <a:chOff x="1676400" y="2426613"/>
            <a:chExt cx="1343123" cy="4308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A875D1-093E-FF46-97E0-1114E74F212D}"/>
                </a:ext>
              </a:extLst>
            </p:cNvPr>
            <p:cNvSpPr txBox="1"/>
            <p:nvPr/>
          </p:nvSpPr>
          <p:spPr>
            <a:xfrm>
              <a:off x="2057400" y="2426613"/>
              <a:ext cx="9621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9082B7A-16CA-E84A-9EB5-F42D86782D06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36304BB-4819-434E-905A-9B6819163769}"/>
              </a:ext>
            </a:extLst>
          </p:cNvPr>
          <p:cNvGrpSpPr/>
          <p:nvPr/>
        </p:nvGrpSpPr>
        <p:grpSpPr>
          <a:xfrm>
            <a:off x="1747829" y="4017023"/>
            <a:ext cx="1343123" cy="430887"/>
            <a:chOff x="1676400" y="2426613"/>
            <a:chExt cx="1343123" cy="43088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F79B6C4-43AD-5A4F-9792-278556C3402B}"/>
                </a:ext>
              </a:extLst>
            </p:cNvPr>
            <p:cNvSpPr txBox="1"/>
            <p:nvPr/>
          </p:nvSpPr>
          <p:spPr>
            <a:xfrm>
              <a:off x="2057400" y="2426613"/>
              <a:ext cx="9621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7DFC244-5AE6-FC48-9174-742D1F862F3B}"/>
                </a:ext>
              </a:extLst>
            </p:cNvPr>
            <p:cNvCxnSpPr>
              <a:stCxn id="15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FDAA52-C5D8-5241-A77B-388A72BA74DC}"/>
              </a:ext>
            </a:extLst>
          </p:cNvPr>
          <p:cNvGrpSpPr/>
          <p:nvPr/>
        </p:nvGrpSpPr>
        <p:grpSpPr>
          <a:xfrm>
            <a:off x="1747829" y="3162300"/>
            <a:ext cx="1498614" cy="430887"/>
            <a:chOff x="1676400" y="2426613"/>
            <a:chExt cx="1498614" cy="4308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A399CC-AE41-B34B-8D4D-B505F27025D4}"/>
                </a:ext>
              </a:extLst>
            </p:cNvPr>
            <p:cNvSpPr txBox="1"/>
            <p:nvPr/>
          </p:nvSpPr>
          <p:spPr>
            <a:xfrm>
              <a:off x="2057400" y="2426613"/>
              <a:ext cx="111761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7589E2C-5C63-834A-A996-532091AA4E12}"/>
                </a:ext>
              </a:extLst>
            </p:cNvPr>
            <p:cNvCxnSpPr>
              <a:stCxn id="18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30B6223-B55B-5F49-BDF1-44A3970B5622}"/>
              </a:ext>
            </a:extLst>
          </p:cNvPr>
          <p:cNvSpPr txBox="1"/>
          <p:nvPr/>
        </p:nvSpPr>
        <p:spPr>
          <a:xfrm>
            <a:off x="5186101" y="1936248"/>
            <a:ext cx="2517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addi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E2B6F4-E79A-C14D-AA1F-2D332FC8DD71}"/>
              </a:ext>
            </a:extLst>
          </p:cNvPr>
          <p:cNvSpPr txBox="1"/>
          <p:nvPr/>
        </p:nvSpPr>
        <p:spPr>
          <a:xfrm>
            <a:off x="4424101" y="1133731"/>
            <a:ext cx="415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</a:t>
            </a:r>
            <a:r>
              <a:rPr lang="en-US" sz="2200" b="1" dirty="0"/>
              <a:t>first thing we do</a:t>
            </a:r>
            <a:r>
              <a:rPr lang="en-US" sz="2200" dirty="0"/>
              <a:t> is make room for the argument.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3DFC002D-4408-974F-9F82-55F821C60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049995"/>
              </p:ext>
            </p:extLst>
          </p:nvPr>
        </p:nvGraphicFramePr>
        <p:xfrm>
          <a:off x="428586" y="4870463"/>
          <a:ext cx="1142999" cy="426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1816345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95182"/>
                  </a:ext>
                </a:extLst>
              </a:tr>
            </a:tbl>
          </a:graphicData>
        </a:graphic>
      </p:graphicFrame>
      <p:grpSp>
        <p:nvGrpSpPr>
          <p:cNvPr id="51" name="Group 50">
            <a:extLst>
              <a:ext uri="{FF2B5EF4-FFF2-40B4-BE49-F238E27FC236}">
                <a16:creationId xmlns:a16="http://schemas.microsoft.com/office/drawing/2014/main" id="{2E1E5DCE-FD97-2B4D-9677-B185EE2EB692}"/>
              </a:ext>
            </a:extLst>
          </p:cNvPr>
          <p:cNvGrpSpPr/>
          <p:nvPr/>
        </p:nvGrpSpPr>
        <p:grpSpPr>
          <a:xfrm>
            <a:off x="1747829" y="4439576"/>
            <a:ext cx="1343123" cy="430887"/>
            <a:chOff x="1676400" y="2426613"/>
            <a:chExt cx="1343123" cy="43088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45130D2-9DCF-1448-BF06-4717171C4784}"/>
                </a:ext>
              </a:extLst>
            </p:cNvPr>
            <p:cNvSpPr txBox="1"/>
            <p:nvPr/>
          </p:nvSpPr>
          <p:spPr>
            <a:xfrm>
              <a:off x="2057400" y="2426613"/>
              <a:ext cx="9621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3384DE74-0797-D645-B524-4A18D000A3C0}"/>
                </a:ext>
              </a:extLst>
            </p:cNvPr>
            <p:cNvCxnSpPr>
              <a:stCxn id="52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4F0ABA0-7D3F-7948-BF27-0FAF8A618AEF}"/>
              </a:ext>
            </a:extLst>
          </p:cNvPr>
          <p:cNvGrpSpPr/>
          <p:nvPr/>
        </p:nvGrpSpPr>
        <p:grpSpPr>
          <a:xfrm>
            <a:off x="1747829" y="4017023"/>
            <a:ext cx="1343123" cy="430887"/>
            <a:chOff x="1676400" y="2426613"/>
            <a:chExt cx="1343123" cy="430887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A586062-205E-D449-B4C8-57BCAC15C76B}"/>
                </a:ext>
              </a:extLst>
            </p:cNvPr>
            <p:cNvSpPr txBox="1"/>
            <p:nvPr/>
          </p:nvSpPr>
          <p:spPr>
            <a:xfrm>
              <a:off x="2057400" y="2426613"/>
              <a:ext cx="9621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4DDDF8C6-0A20-BC44-98AB-ABF4DB7376DA}"/>
                </a:ext>
              </a:extLst>
            </p:cNvPr>
            <p:cNvCxnSpPr>
              <a:stCxn id="55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AD99A26-FF8C-F446-A84B-AD21B06B1961}"/>
              </a:ext>
            </a:extLst>
          </p:cNvPr>
          <p:cNvGrpSpPr/>
          <p:nvPr/>
        </p:nvGrpSpPr>
        <p:grpSpPr>
          <a:xfrm>
            <a:off x="1747829" y="3162300"/>
            <a:ext cx="1498614" cy="430887"/>
            <a:chOff x="1676400" y="2426613"/>
            <a:chExt cx="1498614" cy="43088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D8460AE-5AE8-4F45-A504-DFAD98A54995}"/>
                </a:ext>
              </a:extLst>
            </p:cNvPr>
            <p:cNvSpPr txBox="1"/>
            <p:nvPr/>
          </p:nvSpPr>
          <p:spPr>
            <a:xfrm>
              <a:off x="2057400" y="2426613"/>
              <a:ext cx="111761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16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6B9365A-63B3-AA41-80B5-3F54329DE28C}"/>
                </a:ext>
              </a:extLst>
            </p:cNvPr>
            <p:cNvCxnSpPr>
              <a:stCxn id="58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3741498-2769-3342-9381-5DA3846BC227}"/>
              </a:ext>
            </a:extLst>
          </p:cNvPr>
          <p:cNvGrpSpPr/>
          <p:nvPr/>
        </p:nvGrpSpPr>
        <p:grpSpPr>
          <a:xfrm>
            <a:off x="1747829" y="4862131"/>
            <a:ext cx="1343123" cy="430887"/>
            <a:chOff x="1676400" y="2426613"/>
            <a:chExt cx="1343123" cy="430887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3E060A3-D435-3640-B01C-DC017987CF08}"/>
                </a:ext>
              </a:extLst>
            </p:cNvPr>
            <p:cNvSpPr txBox="1"/>
            <p:nvPr/>
          </p:nvSpPr>
          <p:spPr>
            <a:xfrm>
              <a:off x="2057400" y="2426613"/>
              <a:ext cx="9621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6DCFA1AA-355C-A84B-9290-58234A00A682}"/>
                </a:ext>
              </a:extLst>
            </p:cNvPr>
            <p:cNvCxnSpPr>
              <a:stCxn id="61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818A50DA-8953-4647-AF0D-EB1843018E01}"/>
              </a:ext>
            </a:extLst>
          </p:cNvPr>
          <p:cNvSpPr txBox="1"/>
          <p:nvPr/>
        </p:nvSpPr>
        <p:spPr>
          <a:xfrm>
            <a:off x="4627057" y="2427610"/>
            <a:ext cx="3733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but </a:t>
            </a:r>
            <a:r>
              <a:rPr lang="en-US" sz="2200" b="1" dirty="0"/>
              <a:t>what does that do </a:t>
            </a:r>
            <a:r>
              <a:rPr lang="en-US" sz="2200" dirty="0"/>
              <a:t>to the offsets from </a:t>
            </a:r>
            <a:r>
              <a:rPr lang="en-US" sz="2200" dirty="0" err="1"/>
              <a:t>sp</a:t>
            </a:r>
            <a:r>
              <a:rPr lang="en-US" sz="2200" dirty="0"/>
              <a:t>??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02C9C9-406F-7546-9930-76D123A726B5}"/>
              </a:ext>
            </a:extLst>
          </p:cNvPr>
          <p:cNvSpPr txBox="1"/>
          <p:nvPr/>
        </p:nvSpPr>
        <p:spPr>
          <a:xfrm>
            <a:off x="3668293" y="3415625"/>
            <a:ext cx="53678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it's absolutely possible to keep track of the "virtual </a:t>
            </a:r>
            <a:r>
              <a:rPr lang="en-US" sz="2200" dirty="0" err="1"/>
              <a:t>sp</a:t>
            </a:r>
            <a:r>
              <a:rPr lang="en-US" sz="2200" dirty="0"/>
              <a:t>" and adjust the offsets accordingly. </a:t>
            </a:r>
            <a:r>
              <a:rPr lang="en-US" sz="2200" i="1" dirty="0"/>
              <a:t>but I don't </a:t>
            </a:r>
            <a:r>
              <a:rPr lang="en-US" sz="2200" i="1" dirty="0" err="1"/>
              <a:t>waaaaanna</a:t>
            </a:r>
            <a:endParaRPr lang="en-US" sz="2200" i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A51BA0-ED0E-6A40-91E1-F7BF661E7C7F}"/>
              </a:ext>
            </a:extLst>
          </p:cNvPr>
          <p:cNvSpPr txBox="1"/>
          <p:nvPr/>
        </p:nvSpPr>
        <p:spPr>
          <a:xfrm>
            <a:off x="3669968" y="4581237"/>
            <a:ext cx="5367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what if we had a </a:t>
            </a:r>
            <a:r>
              <a:rPr lang="en-US" sz="2200" b="1" dirty="0"/>
              <a:t>second stack pointer, </a:t>
            </a:r>
            <a:r>
              <a:rPr lang="en-US" sz="2200" dirty="0"/>
              <a:t>one that </a:t>
            </a:r>
            <a:r>
              <a:rPr lang="en-US" sz="2200" b="1" dirty="0"/>
              <a:t>didn't move around?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535997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  <p:bldP spid="21" grpId="0"/>
      <p:bldP spid="63" grpId="0"/>
      <p:bldP spid="64" grpId="0"/>
      <p:bldP spid="6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3FE4-01F5-2B43-A4B4-950347DAF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Frame Pointer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9D34E-55E2-454C-B44C-B2BEE551D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523999"/>
          </a:xfrm>
        </p:spPr>
        <p:txBody>
          <a:bodyPr/>
          <a:lstStyle/>
          <a:p>
            <a:r>
              <a:rPr lang="en-US" dirty="0"/>
              <a:t>MIPS has a second register for just this purpose, called </a:t>
            </a:r>
            <a:r>
              <a:rPr lang="en-US" b="1" dirty="0"/>
              <a:t>fp. </a:t>
            </a:r>
          </a:p>
          <a:p>
            <a:r>
              <a:rPr lang="en-US" dirty="0"/>
              <a:t>this will point sort of weirdly into the </a:t>
            </a:r>
            <a:r>
              <a:rPr lang="en-US" i="1" dirty="0"/>
              <a:t>middle</a:t>
            </a:r>
            <a:r>
              <a:rPr lang="en-US" dirty="0"/>
              <a:t> of the stack frame, giving us a </a:t>
            </a:r>
            <a:r>
              <a:rPr lang="en-US" b="1" dirty="0"/>
              <a:t>stationary reference point </a:t>
            </a:r>
            <a:r>
              <a:rPr lang="en-US" dirty="0"/>
              <a:t>for accessing locals.</a:t>
            </a:r>
          </a:p>
          <a:p>
            <a:r>
              <a:rPr lang="en-US" dirty="0"/>
              <a:t>going back to the super simple function…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D221B-93DC-4F4B-BF7F-DCFDB8226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575979-115E-8648-93A3-FB6A0D3E9CF3}"/>
              </a:ext>
            </a:extLst>
          </p:cNvPr>
          <p:cNvSpPr txBox="1"/>
          <p:nvPr/>
        </p:nvSpPr>
        <p:spPr>
          <a:xfrm>
            <a:off x="1111429" y="2047755"/>
            <a:ext cx="313900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simple(x: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println_i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(x);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80E58C-A316-964C-8497-6DA6F61B2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979264"/>
              </p:ext>
            </p:extLst>
          </p:nvPr>
        </p:nvGraphicFramePr>
        <p:xfrm>
          <a:off x="4464228" y="2128362"/>
          <a:ext cx="1142999" cy="1280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1816345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95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fp</a:t>
                      </a:r>
                      <a:endParaRPr lang="en-US" sz="22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45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ra</a:t>
                      </a:r>
                      <a:endParaRPr lang="en-US" sz="22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76533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86EAB1A-079F-8145-9EF1-17BE3E51054E}"/>
              </a:ext>
            </a:extLst>
          </p:cNvPr>
          <p:cNvSpPr txBox="1"/>
          <p:nvPr/>
        </p:nvSpPr>
        <p:spPr>
          <a:xfrm>
            <a:off x="1200680" y="3481374"/>
            <a:ext cx="4939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we're going to push both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2200" dirty="0"/>
              <a:t> </a:t>
            </a:r>
            <a:r>
              <a:rPr lang="en-US" sz="2200" i="1" dirty="0"/>
              <a:t>and</a:t>
            </a:r>
            <a:r>
              <a:rPr lang="en-US" sz="2200" dirty="0"/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ra</a:t>
            </a:r>
            <a:r>
              <a:rPr lang="en-US" sz="2200" b="1" dirty="0"/>
              <a:t>!</a:t>
            </a:r>
            <a:endParaRPr lang="en-US" sz="2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D3B780-FA3C-DC44-A990-8CF258B521C0}"/>
              </a:ext>
            </a:extLst>
          </p:cNvPr>
          <p:cNvGrpSpPr/>
          <p:nvPr/>
        </p:nvGrpSpPr>
        <p:grpSpPr>
          <a:xfrm>
            <a:off x="5759627" y="3013223"/>
            <a:ext cx="876649" cy="430887"/>
            <a:chOff x="1676400" y="2426613"/>
            <a:chExt cx="876649" cy="43088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D53FA3-01CC-F248-A281-DB037781C4F8}"/>
                </a:ext>
              </a:extLst>
            </p:cNvPr>
            <p:cNvSpPr txBox="1"/>
            <p:nvPr/>
          </p:nvSpPr>
          <p:spPr>
            <a:xfrm>
              <a:off x="2057400" y="2426613"/>
              <a:ext cx="49564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endParaRPr lang="en-US" sz="2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FF8387F-DEFF-DA4B-ACC7-9A83325BC463}"/>
                </a:ext>
              </a:extLst>
            </p:cNvPr>
            <p:cNvCxnSpPr>
              <a:stCxn id="13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4A6B0F-E9A8-9E43-AB69-07FF1E31F1BD}"/>
              </a:ext>
            </a:extLst>
          </p:cNvPr>
          <p:cNvGrpSpPr/>
          <p:nvPr/>
        </p:nvGrpSpPr>
        <p:grpSpPr>
          <a:xfrm>
            <a:off x="5759627" y="2129479"/>
            <a:ext cx="876649" cy="430887"/>
            <a:chOff x="1676400" y="2426613"/>
            <a:chExt cx="876649" cy="43088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972CEA-C825-9B45-A581-9A4149E71F5B}"/>
                </a:ext>
              </a:extLst>
            </p:cNvPr>
            <p:cNvSpPr txBox="1"/>
            <p:nvPr/>
          </p:nvSpPr>
          <p:spPr>
            <a:xfrm>
              <a:off x="2057400" y="2426613"/>
              <a:ext cx="49564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fp</a:t>
              </a:r>
              <a:endParaRPr lang="en-US" sz="2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5E46977-79B3-6D4A-96C2-22750E222923}"/>
                </a:ext>
              </a:extLst>
            </p:cNvPr>
            <p:cNvCxnSpPr>
              <a:stCxn id="16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EBE3EAD-55BE-574A-A75A-89B1F3710021}"/>
              </a:ext>
            </a:extLst>
          </p:cNvPr>
          <p:cNvSpPr txBox="1"/>
          <p:nvPr/>
        </p:nvSpPr>
        <p:spPr>
          <a:xfrm>
            <a:off x="1828800" y="4088252"/>
            <a:ext cx="49399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2200" dirty="0"/>
              <a:t> points at </a:t>
            </a:r>
            <a:r>
              <a:rPr lang="en-US" sz="2200" b="1" dirty="0"/>
              <a:t>the first argument, </a:t>
            </a:r>
            <a:r>
              <a:rPr lang="en-US" sz="2200" dirty="0"/>
              <a:t>and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dirty="0"/>
              <a:t> still points at the top of the stack.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75DA2C-13C8-EB4A-8FD0-79B3BDA5ED7F}"/>
              </a:ext>
            </a:extLst>
          </p:cNvPr>
          <p:cNvSpPr txBox="1"/>
          <p:nvPr/>
        </p:nvSpPr>
        <p:spPr>
          <a:xfrm>
            <a:off x="4007027" y="4925445"/>
            <a:ext cx="3505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and what about locals?</a:t>
            </a:r>
          </a:p>
        </p:txBody>
      </p:sp>
    </p:spTree>
    <p:extLst>
      <p:ext uri="{BB962C8B-B14F-4D97-AF65-F5344CB8AC3E}">
        <p14:creationId xmlns:p14="http://schemas.microsoft.com/office/powerpoint/2010/main" val="2075778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8" grpId="0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88F3-CCFC-3543-828E-35EEBCE8C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local problem, solved </a:t>
            </a:r>
            <a:r>
              <a:rPr lang="en-US" sz="2000" dirty="0"/>
              <a:t>(animated)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C6136-1150-2647-AB8E-66B328879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dirty="0"/>
              <a:t>you aren't restricted to </a:t>
            </a:r>
            <a:r>
              <a:rPr lang="en-US" i="1" dirty="0"/>
              <a:t>positive</a:t>
            </a:r>
            <a:r>
              <a:rPr lang="en-US" dirty="0"/>
              <a:t> offsets from the stack/frame pointers!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0579C-F078-6B48-9A1E-DCABE03F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CEF2A-21AC-5C45-B352-1CF236F846B4}"/>
              </a:ext>
            </a:extLst>
          </p:cNvPr>
          <p:cNvSpPr txBox="1"/>
          <p:nvPr/>
        </p:nvSpPr>
        <p:spPr>
          <a:xfrm>
            <a:off x="656303" y="1028700"/>
            <a:ext cx="407194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more_complex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(x: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y = x +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i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y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println_i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(i);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864AC5-215B-C440-A357-D5231A6A4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782354"/>
              </p:ext>
            </p:extLst>
          </p:nvPr>
        </p:nvGraphicFramePr>
        <p:xfrm>
          <a:off x="5025972" y="1179869"/>
          <a:ext cx="1142999" cy="2133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1816345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95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fp</a:t>
                      </a:r>
                      <a:endParaRPr lang="en-US" sz="22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903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ra</a:t>
                      </a:r>
                      <a:endParaRPr lang="en-US" sz="22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45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4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748450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681CF4E-3374-7442-8321-200721E7BD16}"/>
              </a:ext>
            </a:extLst>
          </p:cNvPr>
          <p:cNvGrpSpPr/>
          <p:nvPr/>
        </p:nvGrpSpPr>
        <p:grpSpPr>
          <a:xfrm>
            <a:off x="6349986" y="2863409"/>
            <a:ext cx="1654105" cy="430887"/>
            <a:chOff x="1676400" y="2426613"/>
            <a:chExt cx="1654105" cy="43088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CE4672-BE29-C647-B5DC-077259BB9027}"/>
                </a:ext>
              </a:extLst>
            </p:cNvPr>
            <p:cNvSpPr txBox="1"/>
            <p:nvPr/>
          </p:nvSpPr>
          <p:spPr>
            <a:xfrm>
              <a:off x="2057400" y="2426613"/>
              <a:ext cx="127310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-16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0776AD6-BC83-9A48-A8C3-AF06B9A17D62}"/>
                </a:ext>
              </a:extLst>
            </p:cNvPr>
            <p:cNvCxnSpPr>
              <a:stCxn id="8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69E2D31-9F19-304C-8659-7C3519F7BA6A}"/>
              </a:ext>
            </a:extLst>
          </p:cNvPr>
          <p:cNvGrpSpPr/>
          <p:nvPr/>
        </p:nvGrpSpPr>
        <p:grpSpPr>
          <a:xfrm>
            <a:off x="6349986" y="2440856"/>
            <a:ext cx="1654105" cy="430887"/>
            <a:chOff x="1676400" y="2426613"/>
            <a:chExt cx="1654105" cy="43088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533BEA-BC4F-7146-80B5-FE7F2632403D}"/>
                </a:ext>
              </a:extLst>
            </p:cNvPr>
            <p:cNvSpPr txBox="1"/>
            <p:nvPr/>
          </p:nvSpPr>
          <p:spPr>
            <a:xfrm>
              <a:off x="2057400" y="2426613"/>
              <a:ext cx="127310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-12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55113CF-CF23-6E46-8FA5-8DB6D8F608A1}"/>
                </a:ext>
              </a:extLst>
            </p:cNvPr>
            <p:cNvCxnSpPr>
              <a:stCxn id="11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F2A0B4-CBF7-FF40-BEEF-8E75B7F98C72}"/>
              </a:ext>
            </a:extLst>
          </p:cNvPr>
          <p:cNvGrpSpPr/>
          <p:nvPr/>
        </p:nvGrpSpPr>
        <p:grpSpPr>
          <a:xfrm>
            <a:off x="6349986" y="1178586"/>
            <a:ext cx="1343123" cy="430887"/>
            <a:chOff x="1676400" y="2426613"/>
            <a:chExt cx="1343123" cy="43088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C7DDD3-D425-9449-B422-58826E8D2114}"/>
                </a:ext>
              </a:extLst>
            </p:cNvPr>
            <p:cNvSpPr txBox="1"/>
            <p:nvPr/>
          </p:nvSpPr>
          <p:spPr>
            <a:xfrm>
              <a:off x="2057400" y="2426613"/>
              <a:ext cx="9621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fp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780987D-02BB-B040-AAC7-01ACC9CBBED7}"/>
                </a:ext>
              </a:extLst>
            </p:cNvPr>
            <p:cNvCxnSpPr>
              <a:stCxn id="14" idx="1"/>
            </p:cNvCxnSpPr>
            <p:nvPr/>
          </p:nvCxnSpPr>
          <p:spPr>
            <a:xfrm flipH="1">
              <a:off x="1676400" y="2642057"/>
              <a:ext cx="381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2080E52-EC6A-8E4C-A39D-6FFA188A6F89}"/>
              </a:ext>
            </a:extLst>
          </p:cNvPr>
          <p:cNvGrpSpPr/>
          <p:nvPr/>
        </p:nvGrpSpPr>
        <p:grpSpPr>
          <a:xfrm>
            <a:off x="3914620" y="2884722"/>
            <a:ext cx="991298" cy="430887"/>
            <a:chOff x="2057400" y="2426613"/>
            <a:chExt cx="991298" cy="43088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590A5F-ADAC-F146-8F82-A4BA6C5FDE84}"/>
                </a:ext>
              </a:extLst>
            </p:cNvPr>
            <p:cNvSpPr txBox="1"/>
            <p:nvPr/>
          </p:nvSpPr>
          <p:spPr>
            <a:xfrm>
              <a:off x="2057400" y="2426613"/>
              <a:ext cx="49564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sp</a:t>
              </a:r>
              <a:endParaRPr lang="en-US" sz="22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0C0DD49-4176-EE44-B07E-4603C0672C5F}"/>
                </a:ext>
              </a:extLst>
            </p:cNvPr>
            <p:cNvCxnSpPr>
              <a:cxnSpLocks/>
            </p:cNvCxnSpPr>
            <p:nvPr/>
          </p:nvCxnSpPr>
          <p:spPr>
            <a:xfrm>
              <a:off x="2553049" y="2642057"/>
              <a:ext cx="49564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FB46E2A-9AF8-8643-B3B4-A392F7FF0191}"/>
              </a:ext>
            </a:extLst>
          </p:cNvPr>
          <p:cNvSpPr txBox="1"/>
          <p:nvPr/>
        </p:nvSpPr>
        <p:spPr>
          <a:xfrm>
            <a:off x="1519334" y="3936249"/>
            <a:ext cx="61053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now, even when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dirty="0"/>
              <a:t> moves around during the function, the offsets from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2200" dirty="0"/>
              <a:t> never change.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A76426E-9238-644B-AFF6-41B5EBAE2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619043"/>
              </p:ext>
            </p:extLst>
          </p:nvPr>
        </p:nvGraphicFramePr>
        <p:xfrm>
          <a:off x="5025971" y="3313469"/>
          <a:ext cx="1142999" cy="426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1816345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95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1442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 L -1.66667E-6 0.07472 " pathEditMode="relative" rAng="0" ptsTypes="AA">
                                      <p:cBhvr>
                                        <p:cTn id="32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B4B8-0045-2545-89D3-AE23015C5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Prologue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881B0-667D-2F41-909B-A1FD89B9C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13109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function prologue</a:t>
            </a:r>
            <a:r>
              <a:rPr lang="en-US" dirty="0"/>
              <a:t> is the code that sets up the stack frame, essentially switching stack frames </a:t>
            </a:r>
            <a:r>
              <a:rPr lang="en-US" b="1" dirty="0"/>
              <a:t>from </a:t>
            </a:r>
            <a:r>
              <a:rPr lang="en-US" dirty="0"/>
              <a:t>the caller </a:t>
            </a:r>
            <a:r>
              <a:rPr lang="en-US" b="1" dirty="0"/>
              <a:t>to </a:t>
            </a:r>
            <a:r>
              <a:rPr lang="en-US" dirty="0"/>
              <a:t>the callee.</a:t>
            </a:r>
          </a:p>
          <a:p>
            <a:r>
              <a:rPr lang="en-US" dirty="0"/>
              <a:t>it looks like this: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315FF-223B-1C45-9F34-D07E5FF3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DA3A6-327F-7044-BF8A-DBA3C249DF06}"/>
              </a:ext>
            </a:extLst>
          </p:cNvPr>
          <p:cNvSpPr txBox="1"/>
          <p:nvPr/>
        </p:nvSpPr>
        <p:spPr>
          <a:xfrm>
            <a:off x="457200" y="1702593"/>
            <a:ext cx="2517036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-4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ra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-8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2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move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addi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200" b="1" i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EAA546-9C08-5345-B6F6-86FF559DF34B}"/>
              </a:ext>
            </a:extLst>
          </p:cNvPr>
          <p:cNvSpPr txBox="1"/>
          <p:nvPr/>
        </p:nvSpPr>
        <p:spPr>
          <a:xfrm>
            <a:off x="3090363" y="1562100"/>
            <a:ext cx="5748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pushes the </a:t>
            </a:r>
            <a:r>
              <a:rPr lang="en-US" sz="2200" i="1" dirty="0"/>
              <a:t>caller's </a:t>
            </a:r>
            <a:r>
              <a:rPr lang="en-US" sz="2200" dirty="0"/>
              <a:t>frame pointer, so we can get it back later.</a:t>
            </a:r>
            <a:endParaRPr lang="en-US" sz="22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7F506-74AD-0F42-ABEC-EDB63C18F9E4}"/>
              </a:ext>
            </a:extLst>
          </p:cNvPr>
          <p:cNvSpPr txBox="1"/>
          <p:nvPr/>
        </p:nvSpPr>
        <p:spPr>
          <a:xfrm>
            <a:off x="3089134" y="2368172"/>
            <a:ext cx="57488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pushes </a:t>
            </a:r>
            <a:r>
              <a:rPr lang="en-US" sz="2200" i="1" dirty="0"/>
              <a:t>the </a:t>
            </a:r>
            <a:r>
              <a:rPr lang="en-US" sz="2200" i="1" dirty="0" err="1"/>
              <a:t>callee's</a:t>
            </a:r>
            <a:r>
              <a:rPr lang="en-US" sz="2200" dirty="0"/>
              <a:t> return address.</a:t>
            </a:r>
            <a:endParaRPr lang="en-US" sz="22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981662-AF99-694F-ABEF-46B45C45CC93}"/>
              </a:ext>
            </a:extLst>
          </p:cNvPr>
          <p:cNvSpPr txBox="1"/>
          <p:nvPr/>
        </p:nvSpPr>
        <p:spPr>
          <a:xfrm>
            <a:off x="3089134" y="2889705"/>
            <a:ext cx="5748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sets up the </a:t>
            </a:r>
            <a:r>
              <a:rPr lang="en-US" sz="2200" i="1" dirty="0" err="1"/>
              <a:t>callee's</a:t>
            </a:r>
            <a:r>
              <a:rPr lang="en-US" sz="2200" i="1" dirty="0"/>
              <a:t> </a:t>
            </a:r>
            <a:r>
              <a:rPr lang="en-US" sz="2200" dirty="0"/>
              <a:t>frame pointer, so it points to the first argument (if any).</a:t>
            </a:r>
            <a:endParaRPr lang="en-US" sz="22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9A198-B659-D342-B72B-4C1527425218}"/>
              </a:ext>
            </a:extLst>
          </p:cNvPr>
          <p:cNvSpPr txBox="1"/>
          <p:nvPr/>
        </p:nvSpPr>
        <p:spPr>
          <a:xfrm>
            <a:off x="3089134" y="3703155"/>
            <a:ext cx="5748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and finally, this sets up the </a:t>
            </a:r>
            <a:r>
              <a:rPr lang="en-US" sz="2200" i="1" dirty="0" err="1"/>
              <a:t>callee's</a:t>
            </a:r>
            <a:r>
              <a:rPr lang="en-US" sz="2200" i="1" dirty="0"/>
              <a:t> </a:t>
            </a:r>
            <a:r>
              <a:rPr lang="en-US" sz="2200" dirty="0"/>
              <a:t>stack pointer, so we have room for the locals.</a:t>
            </a:r>
            <a:endParaRPr lang="en-US" sz="22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2A7D79-0797-A440-BBB8-D79457C15F20}"/>
              </a:ext>
            </a:extLst>
          </p:cNvPr>
          <p:cNvSpPr txBox="1"/>
          <p:nvPr/>
        </p:nvSpPr>
        <p:spPr>
          <a:xfrm>
            <a:off x="1295400" y="4527519"/>
            <a:ext cx="63977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here, </a:t>
            </a:r>
            <a:r>
              <a:rPr lang="en-US" sz="2200" i="1" dirty="0"/>
              <a:t>n</a:t>
            </a:r>
            <a:r>
              <a:rPr lang="en-US" sz="2200" dirty="0"/>
              <a:t> is the number of bytes needed for all the locals, plus the two saved registers from above.</a:t>
            </a:r>
            <a:endParaRPr lang="en-US" sz="2200" i="1" dirty="0"/>
          </a:p>
        </p:txBody>
      </p:sp>
    </p:spTree>
    <p:extLst>
      <p:ext uri="{BB962C8B-B14F-4D97-AF65-F5344CB8AC3E}">
        <p14:creationId xmlns:p14="http://schemas.microsoft.com/office/powerpoint/2010/main" val="33438631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E4DBC-7CC6-8844-BF96-4C40EACAA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Epilogue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60F03-83E4-E341-935B-7DDCFAB4F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914399"/>
          </a:xfrm>
        </p:spPr>
        <p:txBody>
          <a:bodyPr/>
          <a:lstStyle/>
          <a:p>
            <a:r>
              <a:rPr lang="en-US" dirty="0"/>
              <a:t>finally, the </a:t>
            </a:r>
            <a:r>
              <a:rPr lang="en-US" b="1" dirty="0"/>
              <a:t>epilogue</a:t>
            </a:r>
            <a:r>
              <a:rPr lang="en-US" dirty="0"/>
              <a:t> does the opposite: it restores the stack and required registers to </a:t>
            </a:r>
            <a:r>
              <a:rPr lang="en-US" b="1" dirty="0"/>
              <a:t>the way they were when the function began.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CA336-CE9D-BE4F-B332-A41BE608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96C164-960B-0448-9D1A-62FF91EAAA98}"/>
              </a:ext>
            </a:extLst>
          </p:cNvPr>
          <p:cNvSpPr txBox="1"/>
          <p:nvPr/>
        </p:nvSpPr>
        <p:spPr>
          <a:xfrm>
            <a:off x="457200" y="1714500"/>
            <a:ext cx="2517036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ra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-8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-4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2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addi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i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  <a:p>
            <a:endParaRPr lang="en-US" sz="2200" b="1" i="1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ra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71FE9-55CE-7F45-A434-D52E1E5A8AF9}"/>
              </a:ext>
            </a:extLst>
          </p:cNvPr>
          <p:cNvSpPr txBox="1"/>
          <p:nvPr/>
        </p:nvSpPr>
        <p:spPr>
          <a:xfrm>
            <a:off x="3090363" y="1660183"/>
            <a:ext cx="57488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restores our return address.</a:t>
            </a:r>
            <a:endParaRPr lang="en-US" sz="22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43B9D-733E-FF4F-85AF-B517C6DECE94}"/>
              </a:ext>
            </a:extLst>
          </p:cNvPr>
          <p:cNvSpPr txBox="1"/>
          <p:nvPr/>
        </p:nvSpPr>
        <p:spPr>
          <a:xfrm>
            <a:off x="3089134" y="2368172"/>
            <a:ext cx="57488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restores the </a:t>
            </a:r>
            <a:r>
              <a:rPr lang="en-US" sz="2200" i="1" dirty="0"/>
              <a:t>caller's</a:t>
            </a:r>
            <a:r>
              <a:rPr lang="en-US" sz="2200" dirty="0"/>
              <a:t> frame pointer.</a:t>
            </a:r>
            <a:endParaRPr lang="en-US" sz="22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B5869B-EA02-2A47-922C-9F27AAAB098D}"/>
              </a:ext>
            </a:extLst>
          </p:cNvPr>
          <p:cNvSpPr txBox="1"/>
          <p:nvPr/>
        </p:nvSpPr>
        <p:spPr>
          <a:xfrm>
            <a:off x="3089134" y="2889705"/>
            <a:ext cx="5748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</a:t>
            </a:r>
            <a:r>
              <a:rPr lang="en-US" sz="2200" b="1" dirty="0"/>
              <a:t>completely cleans the stack, </a:t>
            </a:r>
            <a:r>
              <a:rPr lang="en-US" sz="2200" dirty="0"/>
              <a:t>removing the locals, saved </a:t>
            </a:r>
            <a:r>
              <a:rPr lang="en-US" sz="2200" dirty="0" err="1"/>
              <a:t>regs</a:t>
            </a:r>
            <a:r>
              <a:rPr lang="en-US" sz="2200" dirty="0"/>
              <a:t>, </a:t>
            </a:r>
            <a:r>
              <a:rPr lang="en-US" sz="2200" i="1" dirty="0"/>
              <a:t>and</a:t>
            </a:r>
            <a:r>
              <a:rPr lang="en-US" sz="2200" dirty="0"/>
              <a:t> all arguments.</a:t>
            </a:r>
            <a:endParaRPr lang="en-US" sz="22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AC6D7-7E72-944A-83CE-994E19E5FA46}"/>
              </a:ext>
            </a:extLst>
          </p:cNvPr>
          <p:cNvSpPr txBox="1"/>
          <p:nvPr/>
        </p:nvSpPr>
        <p:spPr>
          <a:xfrm>
            <a:off x="3089134" y="3749792"/>
            <a:ext cx="57488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and this returns!</a:t>
            </a:r>
            <a:endParaRPr lang="en-US" sz="2200" i="1" dirty="0"/>
          </a:p>
        </p:txBody>
      </p:sp>
    </p:spTree>
    <p:extLst>
      <p:ext uri="{BB962C8B-B14F-4D97-AF65-F5344CB8AC3E}">
        <p14:creationId xmlns:p14="http://schemas.microsoft.com/office/powerpoint/2010/main" val="13348376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987AA-8F16-B14D-A7D8-178C2431F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juicy middles?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D426D-B345-B34D-A957-60A7A99F5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seems like a lot of buildup to only a handful of instructions, but…</a:t>
            </a:r>
          </a:p>
          <a:p>
            <a:pPr lvl="1"/>
            <a:r>
              <a:rPr lang="en-US" dirty="0"/>
              <a:t>this shit is important okay</a:t>
            </a:r>
          </a:p>
          <a:p>
            <a:pPr lvl="1"/>
            <a:r>
              <a:rPr lang="en-US" dirty="0"/>
              <a:t>we have to do this right or else our program falls apart!!</a:t>
            </a:r>
          </a:p>
          <a:p>
            <a:r>
              <a:rPr lang="en-US" dirty="0"/>
              <a:t>but by setting up our stack frame neatly like this, it will make generating the code </a:t>
            </a:r>
            <a:r>
              <a:rPr lang="en-US" i="1" dirty="0"/>
              <a:t>inside</a:t>
            </a:r>
            <a:r>
              <a:rPr lang="en-US" dirty="0"/>
              <a:t> the functions a lot more straightforward.</a:t>
            </a:r>
          </a:p>
          <a:p>
            <a:pPr lvl="1"/>
            <a:r>
              <a:rPr lang="en-US" dirty="0"/>
              <a:t>and that's what we'll talk about next time!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5A2EB-92F7-6F44-9881-46C3ED6B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6530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02 - C - Basics">
  <a:themeElements>
    <a:clrScheme name="Custom 2">
      <a:dk1>
        <a:srgbClr val="000000"/>
      </a:dk1>
      <a:lt1>
        <a:srgbClr val="FFFFFF"/>
      </a:lt1>
      <a:dk2>
        <a:srgbClr val="3B481E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Segoe WP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_fall_2017" id="{93D034CE-FEB5-4D4D-96F7-6B7F8A5EB99A}" vid="{194AE869-5029-ED49-81EA-C574BDDBE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01 - Welcome and Review</Template>
  <TotalTime>22222</TotalTime>
  <Words>4645</Words>
  <Application>Microsoft Macintosh PowerPoint</Application>
  <PresentationFormat>On-screen Show (16:10)</PresentationFormat>
  <Paragraphs>497</Paragraphs>
  <Slides>36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Consolas</vt:lpstr>
      <vt:lpstr>Courier New</vt:lpstr>
      <vt:lpstr>Segoe UI</vt:lpstr>
      <vt:lpstr>Segoe WP Semibold</vt:lpstr>
      <vt:lpstr>Trebuchet MS</vt:lpstr>
      <vt:lpstr>Wingdings</vt:lpstr>
      <vt:lpstr>02 - C - Basics</vt:lpstr>
      <vt:lpstr>ABI and Codegen</vt:lpstr>
      <vt:lpstr>Class Announcements</vt:lpstr>
      <vt:lpstr>Application  Binary Interfaces (ABIs)</vt:lpstr>
      <vt:lpstr>Like API, but with a B instead of a P</vt:lpstr>
      <vt:lpstr>The lowest layer: the Architectural ABI</vt:lpstr>
      <vt:lpstr>But Operating Systems have opinions</vt:lpstr>
      <vt:lpstr>The highest layer: your language's own ABI</vt:lpstr>
      <vt:lpstr>When ABIs collide</vt:lpstr>
      <vt:lpstr>Break the rules, get a broken program.</vt:lpstr>
      <vt:lpstr>Parts of an ABI</vt:lpstr>
      <vt:lpstr>The call stack</vt:lpstr>
      <vt:lpstr>You can't stack things up forever…</vt:lpstr>
      <vt:lpstr>The calling convention</vt:lpstr>
      <vt:lpstr>Border conflicts</vt:lpstr>
      <vt:lpstr>If it hurts, don't do it</vt:lpstr>
      <vt:lpstr>Another kind of call, another calling convention</vt:lpstr>
      <vt:lpstr>Standard and  Runtime Libraries</vt:lpstr>
      <vt:lpstr>std::</vt:lpstr>
      <vt:lpstr>core::</vt:lpstr>
      <vt:lpstr>The language runtime</vt:lpstr>
      <vt:lpstr>The compiler's job</vt:lpstr>
      <vt:lpstr>Truss's MIPS ABI</vt:lpstr>
      <vt:lpstr>Kind of standard, kind of not</vt:lpstr>
      <vt:lpstr>Memory regions</vt:lpstr>
      <vt:lpstr>How global variables are generated</vt:lpstr>
      <vt:lpstr>Runtime data representation</vt:lpstr>
      <vt:lpstr>Function calls</vt:lpstr>
      <vt:lpstr>After the call completes…</vt:lpstr>
      <vt:lpstr>Stack Frames</vt:lpstr>
      <vt:lpstr>Local variables</vt:lpstr>
      <vt:lpstr>Shifting sands (animated)</vt:lpstr>
      <vt:lpstr>The Frame Pointer register</vt:lpstr>
      <vt:lpstr>The local problem, solved (animated)</vt:lpstr>
      <vt:lpstr>Function Prologue</vt:lpstr>
      <vt:lpstr>Function Epilogue</vt:lpstr>
      <vt:lpstr>What about the juicy middles?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Intro to Computer Architecture!</dc:title>
  <dc:creator>me</dc:creator>
  <cp:lastModifiedBy>Billingsley, Jarrett F</cp:lastModifiedBy>
  <cp:revision>967</cp:revision>
  <dcterms:created xsi:type="dcterms:W3CDTF">2017-01-05T04:29:56Z</dcterms:created>
  <dcterms:modified xsi:type="dcterms:W3CDTF">2022-07-11T05:58:41Z</dcterms:modified>
</cp:coreProperties>
</file>