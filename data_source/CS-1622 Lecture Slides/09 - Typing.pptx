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1"/>
  </p:notesMasterIdLst>
  <p:sldIdLst>
    <p:sldId id="256" r:id="rId2"/>
    <p:sldId id="519" r:id="rId3"/>
    <p:sldId id="527" r:id="rId4"/>
    <p:sldId id="569" r:id="rId5"/>
    <p:sldId id="550" r:id="rId6"/>
    <p:sldId id="552" r:id="rId7"/>
    <p:sldId id="554" r:id="rId8"/>
    <p:sldId id="555" r:id="rId9"/>
    <p:sldId id="551" r:id="rId10"/>
    <p:sldId id="553" r:id="rId11"/>
    <p:sldId id="530" r:id="rId12"/>
    <p:sldId id="522" r:id="rId13"/>
    <p:sldId id="556" r:id="rId14"/>
    <p:sldId id="557" r:id="rId15"/>
    <p:sldId id="548" r:id="rId16"/>
    <p:sldId id="558" r:id="rId17"/>
    <p:sldId id="559" r:id="rId18"/>
    <p:sldId id="560" r:id="rId19"/>
    <p:sldId id="561" r:id="rId20"/>
    <p:sldId id="563" r:id="rId21"/>
    <p:sldId id="564" r:id="rId22"/>
    <p:sldId id="565" r:id="rId23"/>
    <p:sldId id="571" r:id="rId24"/>
    <p:sldId id="566" r:id="rId25"/>
    <p:sldId id="572" r:id="rId26"/>
    <p:sldId id="567" r:id="rId27"/>
    <p:sldId id="573" r:id="rId28"/>
    <p:sldId id="562" r:id="rId29"/>
    <p:sldId id="574" r:id="rId30"/>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200"/>
    <a:srgbClr val="FF5200"/>
    <a:srgbClr val="FF5C00"/>
    <a:srgbClr val="592A04"/>
    <a:srgbClr val="8DB000"/>
    <a:srgbClr val="FCECD6"/>
    <a:srgbClr val="FCF9C5"/>
    <a:srgbClr val="8BD5F4"/>
    <a:srgbClr val="FA0AB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15" autoAdjust="0"/>
    <p:restoredTop sz="90282" autoAdjust="0"/>
  </p:normalViewPr>
  <p:slideViewPr>
    <p:cSldViewPr>
      <p:cViewPr varScale="1">
        <p:scale>
          <a:sx n="133" d="100"/>
          <a:sy n="133" d="100"/>
        </p:scale>
        <p:origin x="1264" y="184"/>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6/14/22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little a type theory, as a treat.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3</a:t>
            </a:fld>
            <a:endParaRPr lang="en-US"/>
          </a:p>
        </p:txBody>
      </p:sp>
    </p:spTree>
    <p:extLst>
      <p:ext uri="{BB962C8B-B14F-4D97-AF65-F5344CB8AC3E}">
        <p14:creationId xmlns:p14="http://schemas.microsoft.com/office/powerpoint/2010/main" val="1457553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 were languages with advanced type-theoretical constructs built into them long before 30 years ago</a:t>
            </a:r>
          </a:p>
          <a:p>
            <a:r>
              <a:rPr lang="en-US" dirty="0"/>
              <a:t>	- but they were academic languages with little or no real-world use</a:t>
            </a:r>
          </a:p>
          <a:p>
            <a:r>
              <a:rPr lang="en-US" dirty="0"/>
              <a:t>- type theory started to become an important part of </a:t>
            </a:r>
            <a:r>
              <a:rPr lang="en-US" i="1" dirty="0"/>
              <a:t>mainstream</a:t>
            </a:r>
            <a:r>
              <a:rPr lang="en-US" dirty="0"/>
              <a:t> language design starting around the early 90s</a:t>
            </a:r>
          </a:p>
          <a:p>
            <a:r>
              <a:rPr lang="en-US" dirty="0"/>
              <a:t>- do you want C?? cause this is how you get C!!!</a:t>
            </a:r>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420922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just a simple first-order logic proof, with premises and steps and conclusions, and on each step there is a justification saying which other steps it depends on. those justifications are the proof-theoretic equivalent of type checking.]</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3813427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2754897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 spec is littered with UB, and every single piece of UB means "the implementation can choose whatever the hell it wants to do."</a:t>
            </a:r>
          </a:p>
          <a:p>
            <a:r>
              <a:rPr lang="en-US" dirty="0"/>
              <a:t>	- it COULD give an "array index out of bounds" error at runtime! that conforms to the spec!</a:t>
            </a:r>
          </a:p>
          <a:p>
            <a:r>
              <a:rPr lang="en-US" dirty="0"/>
              <a:t>	- but there are no guarantees, so there are an infinite number of possible "next steps."</a:t>
            </a:r>
          </a:p>
          <a:p>
            <a:r>
              <a:rPr lang="en-US" dirty="0"/>
              <a:t>- a violation of preservation is also related to the idea of "soundness" – the idea that the type of a value never changes.</a:t>
            </a:r>
          </a:p>
          <a:p>
            <a:r>
              <a:rPr lang="en-US" dirty="0"/>
              <a:t>	- there are other ways to violate preservation, but this is the most basic and egregious way.</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1451415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1281502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2555228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Java's interfaces and bounded generics are two other kinds of existential polymorphism.</a:t>
            </a:r>
          </a:p>
          <a:p>
            <a:r>
              <a:rPr lang="en-US" dirty="0"/>
              <a:t>	- both let you use many different types in one place, but both also impose some set of operations that they must support.</a:t>
            </a:r>
          </a:p>
          <a:p>
            <a:r>
              <a:rPr lang="en-US" dirty="0"/>
              <a:t>- "existential" as in the backwards capital E thing, yes</a:t>
            </a:r>
          </a:p>
          <a:p>
            <a:r>
              <a:rPr lang="en-US" dirty="0"/>
              <a:t>	- next class…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3463632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C code on the left is “stepping around” the type of b as a bool, and putting 700 in it. Which is bad and will Cause Issues.</a:t>
            </a:r>
          </a:p>
          <a:p>
            <a:pPr marL="528066" lvl="1" indent="-171450">
              <a:buFontTx/>
              <a:buChar char="-"/>
            </a:pPr>
            <a:r>
              <a:rPr lang="en-US" dirty="0"/>
              <a:t>cause the abstraction given to you by bool says there are two values, true and false, and what is 700? it’s neither of those.</a:t>
            </a:r>
          </a:p>
          <a:p>
            <a:pPr marL="528066" lvl="1" indent="-171450">
              <a:buFontTx/>
              <a:buChar char="-"/>
            </a:pPr>
            <a:r>
              <a:rPr lang="en-US" dirty="0"/>
              <a:t>so all the code that relies on b containing true or false might now behave very strangely.</a:t>
            </a:r>
          </a:p>
          <a:p>
            <a:pPr marL="171450" lvl="0" indent="-171450">
              <a:buFontTx/>
              <a:buChar char="-"/>
            </a:pPr>
            <a:r>
              <a:rPr lang="en-US" dirty="0"/>
              <a:t>the JavaScript code on the right is showing just how strange the “plus” operator is.</a:t>
            </a:r>
          </a:p>
          <a:p>
            <a:pPr marL="528066" lvl="1" indent="-171450">
              <a:buFontTx/>
              <a:buChar char="-"/>
            </a:pPr>
            <a:r>
              <a:rPr lang="en-US" dirty="0"/>
              <a:t>empty square brackets create an array object; empty curly braces create a “class-like” object</a:t>
            </a:r>
          </a:p>
          <a:p>
            <a:pPr marL="528066" lvl="1" indent="-171450">
              <a:buFontTx/>
              <a:buChar char="-"/>
            </a:pPr>
            <a:r>
              <a:rPr lang="en-US" dirty="0"/>
              <a:t>what does it mean to “add” two arrays? apparently it means “turn them both to strings and then concatenate the results”</a:t>
            </a:r>
          </a:p>
          <a:p>
            <a:pPr marL="528066" lvl="1" indent="-171450">
              <a:buFontTx/>
              <a:buChar char="-"/>
            </a:pPr>
            <a:r>
              <a:rPr lang="en-US" dirty="0"/>
              <a:t>but if an object is involved, it turns the operands to numbers? or something? it’s really confusing</a:t>
            </a:r>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3572905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you could probably do a good/evil-lawful/chaotic one too. I mean clearly C is chaotic evil…</a:t>
            </a:r>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strong/static is the most rigid, which catches a lot of bugs, but that rigidity can be taken to an irritating extreme, making certain programming styles very awkward and unnatural</a:t>
            </a:r>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weak/dynamic is the most flexible, but it can feel a bit like programming on shifting sand, since there's not much keeping you from messing up</a:t>
            </a:r>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strong/dynamic is also flexible, but leaves you kind of feeling "why isn't this statically typed?"</a:t>
            </a:r>
          </a:p>
          <a:p>
            <a:pPr marL="171450" marR="0" lvl="0" indent="-171450" algn="l" defTabSz="713232" rtl="0" eaLnBrk="1" fontAlgn="auto" latinLnBrk="0" hangingPunct="1">
              <a:lnSpc>
                <a:spcPct val="100000"/>
              </a:lnSpc>
              <a:spcBef>
                <a:spcPts val="0"/>
              </a:spcBef>
              <a:spcAft>
                <a:spcPts val="0"/>
              </a:spcAft>
              <a:buClrTx/>
              <a:buSzTx/>
              <a:buFontTx/>
              <a:buChar char="-"/>
              <a:tabLst/>
              <a:defRPr/>
            </a:pPr>
            <a:r>
              <a:rPr lang="en-US" dirty="0"/>
              <a:t>weak/static is kind of the worst of both worlds? like why even bother with types at that point lol</a:t>
            </a:r>
          </a:p>
          <a:p>
            <a:pPr marL="171450" marR="0" lvl="0" indent="-171450" algn="l" defTabSz="713232"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[diagram: a two-dimensional space where the axes are static-dynamic and strong-weak, and some widely-used languages are placed in this space. Fortran is very strong and totally static. Python is strong, but totally dynamic. PHP is weak and dynamic. C is weak and static. C++ is kind of smack in the middle. Java is somewhat strong, but in the middle of static and dynamic. Rust is very strong, more static than dynamic, but has enough dynamic features to put it sort of close to Java. JavaScript is pretty weak and totally dynamic. TypeScript is more dynamic than static, and on the strong side, but it’s in kind of an interesting position that not many other languages are.]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2071627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remember, integer addition and float addition are totally different operations!</a:t>
            </a:r>
          </a:p>
          <a:p>
            <a:r>
              <a:rPr lang="en-US" dirty="0"/>
              <a:t>	- and Java also uses + for string concatenation, so the compiler has to check for that too.</a:t>
            </a:r>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Rust has a rule that </a:t>
            </a:r>
            <a:r>
              <a:rPr lang="en-US" dirty="0" err="1"/>
              <a:t>unsuffixed</a:t>
            </a:r>
            <a:r>
              <a:rPr lang="en-US" dirty="0"/>
              <a:t> integers, with no other constraints on them, will become i32. https://</a:t>
            </a:r>
            <a:r>
              <a:rPr lang="en-US" dirty="0" err="1"/>
              <a:t>doc.rust-lang.org</a:t>
            </a:r>
            <a:r>
              <a:rPr lang="en-US" dirty="0"/>
              <a:t>/stable/rust-by-example/types/</a:t>
            </a:r>
            <a:r>
              <a:rPr lang="en-US" dirty="0" err="1"/>
              <a:t>literals.html</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4234846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 TypeScript, JS, Python, Haskell, </a:t>
            </a:r>
            <a:r>
              <a:rPr lang="en-US" sz="1000" dirty="0" err="1"/>
              <a:t>OCaml</a:t>
            </a:r>
            <a:r>
              <a:rPr lang="en-US" sz="1000" dirty="0"/>
              <a:t>, and many, many other languages also use this syntax.</a:t>
            </a:r>
          </a:p>
          <a:p>
            <a:r>
              <a:rPr lang="en-US" sz="1000" dirty="0"/>
              <a:t>	- it's really just C and some of its descendants – LIKE JAVA – that do the "type-before-the-name" thing.</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2706644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 looks a bit funny, but it's just an implication. or a really vertically-compressed proof.</a:t>
            </a:r>
          </a:p>
          <a:p>
            <a:r>
              <a:rPr lang="en-US" dirty="0"/>
              <a:t>	- </a:t>
            </a:r>
            <a:r>
              <a:rPr lang="en-US" dirty="0" err="1"/>
              <a:t>t:int</a:t>
            </a:r>
            <a:r>
              <a:rPr lang="en-US" dirty="0"/>
              <a:t> ∧ </a:t>
            </a:r>
            <a:r>
              <a:rPr lang="en-US" dirty="0" err="1"/>
              <a:t>u:int</a:t>
            </a:r>
            <a:r>
              <a:rPr lang="en-US" dirty="0"/>
              <a:t> → (t + u):</a:t>
            </a:r>
            <a:r>
              <a:rPr lang="en-US" dirty="0" err="1"/>
              <a:t>int</a:t>
            </a:r>
            <a:endParaRPr lang="en-US" dirty="0"/>
          </a:p>
          <a:p>
            <a:endParaRPr lang="en-US" dirty="0"/>
          </a:p>
          <a:p>
            <a:r>
              <a:rPr lang="en-US" dirty="0"/>
              <a:t>[diagram: the way typing rules are usually written is as a short proof where the premises are listed above a bar and the conclusion is below it. the typing rule here has “</a:t>
            </a:r>
            <a:r>
              <a:rPr lang="en-US" dirty="0" err="1"/>
              <a:t>t:int</a:t>
            </a:r>
            <a:r>
              <a:rPr lang="en-US" dirty="0"/>
              <a:t>   </a:t>
            </a:r>
            <a:r>
              <a:rPr lang="en-US" dirty="0" err="1"/>
              <a:t>u:int</a:t>
            </a:r>
            <a:r>
              <a:rPr lang="en-US" dirty="0"/>
              <a:t>” above the bar, and “(t + u):</a:t>
            </a:r>
            <a:r>
              <a:rPr lang="en-US" dirty="0" err="1"/>
              <a:t>int</a:t>
            </a:r>
            <a:r>
              <a:rPr lang="en-US" dirty="0"/>
              <a:t>” below the bar. so, it means “if t is an </a:t>
            </a:r>
            <a:r>
              <a:rPr lang="en-US" dirty="0" err="1"/>
              <a:t>int</a:t>
            </a:r>
            <a:r>
              <a:rPr lang="en-US" dirty="0"/>
              <a:t> and u is an </a:t>
            </a:r>
            <a:r>
              <a:rPr lang="en-US" dirty="0" err="1"/>
              <a:t>int</a:t>
            </a:r>
            <a:r>
              <a:rPr lang="en-US" dirty="0"/>
              <a:t>, then the result of adding t and u is an int.”]</a:t>
            </a:r>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6122364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latin typeface="Consolas" panose="020B0609020204030204" pitchFamily="49" charset="0"/>
                <a:cs typeface="Consolas" panose="020B0609020204030204" pitchFamily="49" charset="0"/>
              </a:rPr>
              <a:t>- in Truss, all variable declarations are required to have initializers so the inference is very simple.</a:t>
            </a:r>
          </a:p>
          <a:p>
            <a:r>
              <a:rPr lang="en-US" sz="1000" dirty="0">
                <a:latin typeface="Consolas" panose="020B0609020204030204" pitchFamily="49" charset="0"/>
                <a:cs typeface="Consolas" panose="020B0609020204030204" pitchFamily="49" charset="0"/>
              </a:rPr>
              <a:t>- in Rust, you can skip the initializer and assign it in multiple places, requiring much more sophisticated algorithms to figure out exactly what type the variable should be.</a:t>
            </a:r>
          </a:p>
          <a:p>
            <a:r>
              <a:rPr lang="en-US" sz="1000" dirty="0">
                <a:latin typeface="Consolas" panose="020B0609020204030204" pitchFamily="49" charset="0"/>
                <a:cs typeface="Consolas" panose="020B0609020204030204" pitchFamily="49" charset="0"/>
              </a:rPr>
              <a:t>	- but in return, you get a much more expressive language that doesn't require as much typing. like, "typing on the keyboard" typing. lol.</a:t>
            </a:r>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328281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a technically-finite-but-practically-infinite number of possible values for strings!</a:t>
            </a:r>
          </a:p>
          <a:p>
            <a:r>
              <a:rPr lang="en-US" dirty="0"/>
              <a:t>- and 0 valid values for () - it is an </a:t>
            </a:r>
            <a:r>
              <a:rPr lang="en-US" b="1" dirty="0"/>
              <a:t>empty type. </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22</a:t>
            </a:fld>
            <a:endParaRPr lang="en-US"/>
          </a:p>
        </p:txBody>
      </p:sp>
    </p:spTree>
    <p:extLst>
      <p:ext uri="{BB962C8B-B14F-4D97-AF65-F5344CB8AC3E}">
        <p14:creationId xmlns:p14="http://schemas.microsoft.com/office/powerpoint/2010/main" val="27207417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some languages – like Java – have a concept of a function type </a:t>
            </a:r>
            <a:r>
              <a:rPr lang="en-US" i="1" dirty="0"/>
              <a:t>within the compiler </a:t>
            </a:r>
            <a:r>
              <a:rPr lang="en-US" i="0" dirty="0"/>
              <a:t>but it is not possible to express them in the language.</a:t>
            </a:r>
          </a:p>
          <a:p>
            <a:r>
              <a:rPr lang="en-US" i="0" dirty="0"/>
              <a:t>	- if your language doesn't have higher-order functions, you don't really need to be able to write them.</a:t>
            </a:r>
          </a:p>
          <a:p>
            <a:r>
              <a:rPr lang="en-US" i="0" dirty="0"/>
              <a:t>	- but higher-order functions are stupidly useful so I put them in Truss so THERE.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272799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rule 1 says “</a:t>
            </a:r>
            <a:r>
              <a:rPr lang="en-US" dirty="0" err="1"/>
              <a:t>t:int</a:t>
            </a:r>
            <a:r>
              <a:rPr lang="en-US" dirty="0"/>
              <a:t> and </a:t>
            </a:r>
            <a:r>
              <a:rPr lang="en-US" dirty="0" err="1"/>
              <a:t>u:int</a:t>
            </a:r>
            <a:r>
              <a:rPr lang="en-US" dirty="0"/>
              <a:t> implies (t op u):</a:t>
            </a:r>
            <a:r>
              <a:rPr lang="en-US" dirty="0" err="1"/>
              <a:t>int</a:t>
            </a:r>
            <a:r>
              <a:rPr lang="en-US" dirty="0"/>
              <a:t>, for any of the ops +, -, *, /, and %.” rule 2 says “</a:t>
            </a:r>
            <a:r>
              <a:rPr lang="en-US" dirty="0" err="1"/>
              <a:t>t:string</a:t>
            </a:r>
            <a:r>
              <a:rPr lang="en-US" dirty="0"/>
              <a:t> and </a:t>
            </a:r>
            <a:r>
              <a:rPr lang="en-US" dirty="0" err="1"/>
              <a:t>u:string</a:t>
            </a:r>
            <a:r>
              <a:rPr lang="en-US" dirty="0"/>
              <a:t> implies (t + u):string.” that’s for string concatenation. rule 3 says “</a:t>
            </a:r>
            <a:r>
              <a:rPr lang="en-US" dirty="0" err="1"/>
              <a:t>t:int</a:t>
            </a:r>
            <a:r>
              <a:rPr lang="en-US" dirty="0"/>
              <a:t> and </a:t>
            </a:r>
            <a:r>
              <a:rPr lang="en-US" dirty="0" err="1"/>
              <a:t>u:int</a:t>
            </a:r>
            <a:r>
              <a:rPr lang="en-US" dirty="0"/>
              <a:t> implies (t op u):bool, for any of the ops ==, !=, &lt;, &lt;=, &gt;, and &gt;=.” rule 4 says “</a:t>
            </a:r>
            <a:r>
              <a:rPr lang="en-US" dirty="0" err="1"/>
              <a:t>t:bool</a:t>
            </a:r>
            <a:r>
              <a:rPr lang="en-US" dirty="0"/>
              <a:t> and </a:t>
            </a:r>
            <a:r>
              <a:rPr lang="en-US" dirty="0" err="1"/>
              <a:t>u:bool</a:t>
            </a:r>
            <a:r>
              <a:rPr lang="en-US" dirty="0"/>
              <a:t> implies (t op u):bool, for any of the ops ‘and’ and ‘or’” (these are the Truss equivalents of &amp;&amp; and ||). finally, rule 5 says “if f is a function type with argument types A0, A1, etc. and it returns type R, and you pass it values with those argument types, then the function call itself has type R.”]</a:t>
            </a:r>
          </a:p>
        </p:txBody>
      </p:sp>
      <p:sp>
        <p:nvSpPr>
          <p:cNvPr id="4" name="Slide Number Placeholder 3"/>
          <p:cNvSpPr>
            <a:spLocks noGrp="1"/>
          </p:cNvSpPr>
          <p:nvPr>
            <p:ph type="sldNum" sz="quarter" idx="5"/>
          </p:nvPr>
        </p:nvSpPr>
        <p:spPr/>
        <p:txBody>
          <a:bodyPr/>
          <a:lstStyle/>
          <a:p>
            <a:fld id="{999729AB-B77D-48AE-AA10-D1BD2B4D03EA}" type="slidenum">
              <a:rPr lang="en-US" smtClean="0"/>
              <a:pPr/>
              <a:t>24</a:t>
            </a:fld>
            <a:endParaRPr lang="en-US"/>
          </a:p>
        </p:txBody>
      </p:sp>
    </p:spTree>
    <p:extLst>
      <p:ext uri="{BB962C8B-B14F-4D97-AF65-F5344CB8AC3E}">
        <p14:creationId xmlns:p14="http://schemas.microsoft.com/office/powerpoint/2010/main" val="18913815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19761158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AST for “f(y+2)” again. the leaves are “f”, “y”, and “2”. “2” is given type </a:t>
            </a:r>
            <a:r>
              <a:rPr lang="en-US" dirty="0" err="1"/>
              <a:t>int</a:t>
            </a:r>
            <a:r>
              <a:rPr lang="en-US" dirty="0"/>
              <a:t> according to the axiomatic rule that says integer literals have type int. “y” is given type </a:t>
            </a:r>
            <a:r>
              <a:rPr lang="en-US" dirty="0" err="1"/>
              <a:t>int</a:t>
            </a:r>
            <a:r>
              <a:rPr lang="en-US" dirty="0"/>
              <a:t> because the type context says it was declared as int. similarly “f” is given type “function that takes an </a:t>
            </a:r>
            <a:r>
              <a:rPr lang="en-US" dirty="0" err="1"/>
              <a:t>int</a:t>
            </a:r>
            <a:r>
              <a:rPr lang="en-US" dirty="0"/>
              <a:t> and returns void” for the same reason. “y + 2” is given type </a:t>
            </a:r>
            <a:r>
              <a:rPr lang="en-US" dirty="0" err="1"/>
              <a:t>int</a:t>
            </a:r>
            <a:r>
              <a:rPr lang="en-US" dirty="0"/>
              <a:t> because of the rule that says if you add </a:t>
            </a:r>
            <a:r>
              <a:rPr lang="en-US" dirty="0" err="1"/>
              <a:t>ints</a:t>
            </a:r>
            <a:r>
              <a:rPr lang="en-US" dirty="0"/>
              <a:t>, you get an int. and finally, “f(y+2)” is given type void, because the function takes an </a:t>
            </a:r>
            <a:r>
              <a:rPr lang="en-US" dirty="0" err="1"/>
              <a:t>int</a:t>
            </a:r>
            <a:r>
              <a:rPr lang="en-US" dirty="0"/>
              <a:t> and returns void.]</a:t>
            </a:r>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1362194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a:t>
            </a:r>
            <a:r>
              <a:rPr lang="en-US" dirty="0" err="1"/>
              <a:t>t:int</a:t>
            </a:r>
            <a:r>
              <a:rPr lang="en-US" dirty="0"/>
              <a:t> and </a:t>
            </a:r>
            <a:r>
              <a:rPr lang="en-US" dirty="0" err="1"/>
              <a:t>u:int</a:t>
            </a:r>
            <a:r>
              <a:rPr lang="en-US"/>
              <a:t> implies (t op u):bool, for any of the ops ==, !=, &lt;, &lt;=, &gt;, and &gt;=.”]</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2864077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Typing</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a:t>I may hold some Extra Office Hours on Friday… what time would be best for those of you who think you may need them?</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A little Type Theory</a:t>
            </a:r>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208364185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5E856-2F2E-E947-A227-50CB1E624F7F}"/>
              </a:ext>
            </a:extLst>
          </p:cNvPr>
          <p:cNvSpPr>
            <a:spLocks noGrp="1"/>
          </p:cNvSpPr>
          <p:nvPr>
            <p:ph type="title"/>
          </p:nvPr>
        </p:nvSpPr>
        <p:spPr/>
        <p:txBody>
          <a:bodyPr/>
          <a:lstStyle/>
          <a:p>
            <a:r>
              <a:rPr lang="en-US" dirty="0"/>
              <a:t>Remember what a type is?</a:t>
            </a:r>
          </a:p>
        </p:txBody>
      </p:sp>
      <p:sp>
        <p:nvSpPr>
          <p:cNvPr id="3" name="Content Placeholder 2">
            <a:extLst>
              <a:ext uri="{FF2B5EF4-FFF2-40B4-BE49-F238E27FC236}">
                <a16:creationId xmlns:a16="http://schemas.microsoft.com/office/drawing/2014/main" id="{DE651647-597C-1646-9B6C-624B39840905}"/>
              </a:ext>
            </a:extLst>
          </p:cNvPr>
          <p:cNvSpPr>
            <a:spLocks noGrp="1"/>
          </p:cNvSpPr>
          <p:nvPr>
            <p:ph idx="1"/>
          </p:nvPr>
        </p:nvSpPr>
        <p:spPr/>
        <p:txBody>
          <a:bodyPr/>
          <a:lstStyle/>
          <a:p>
            <a:r>
              <a:rPr lang="en-US" dirty="0"/>
              <a:t>a </a:t>
            </a:r>
            <a:r>
              <a:rPr lang="en-US" b="1" dirty="0"/>
              <a:t>type</a:t>
            </a:r>
            <a:r>
              <a:rPr lang="en-US" dirty="0"/>
              <a:t> is:</a:t>
            </a:r>
          </a:p>
          <a:p>
            <a:pPr lvl="1"/>
            <a:r>
              <a:rPr lang="en-US" dirty="0"/>
              <a:t>a </a:t>
            </a:r>
            <a:r>
              <a:rPr lang="en-US" b="1" dirty="0"/>
              <a:t>set of valid values, </a:t>
            </a:r>
            <a:r>
              <a:rPr lang="en-US" dirty="0"/>
              <a:t>plus:</a:t>
            </a:r>
            <a:endParaRPr lang="en-US" b="1" dirty="0"/>
          </a:p>
          <a:p>
            <a:pPr lvl="1"/>
            <a:r>
              <a:rPr lang="en-US" dirty="0"/>
              <a:t>a </a:t>
            </a:r>
            <a:r>
              <a:rPr lang="en-US" b="1" dirty="0"/>
              <a:t>set of valid operations on those values</a:t>
            </a:r>
          </a:p>
          <a:p>
            <a:r>
              <a:rPr lang="en-US" dirty="0"/>
              <a:t>think about </a:t>
            </a:r>
            <a:r>
              <a:rPr lang="en-US" b="1" dirty="0" err="1">
                <a:solidFill>
                  <a:srgbClr val="FF0000"/>
                </a:solidFill>
                <a:latin typeface="Consolas" panose="020B0609020204030204" pitchFamily="49" charset="0"/>
                <a:cs typeface="Consolas" panose="020B0609020204030204" pitchFamily="49" charset="0"/>
              </a:rPr>
              <a:t>int</a:t>
            </a:r>
            <a:r>
              <a:rPr lang="en-US" dirty="0" err="1"/>
              <a:t>s</a:t>
            </a:r>
            <a:r>
              <a:rPr lang="en-US" dirty="0"/>
              <a:t>:</a:t>
            </a:r>
          </a:p>
          <a:p>
            <a:pPr lvl="1"/>
            <a:r>
              <a:rPr lang="en-US" dirty="0"/>
              <a:t>there's a range of valid values of an </a:t>
            </a:r>
            <a:r>
              <a:rPr lang="en-US" b="1" dirty="0">
                <a:solidFill>
                  <a:srgbClr val="FF0000"/>
                </a:solidFill>
                <a:latin typeface="Consolas" panose="020B0609020204030204" pitchFamily="49" charset="0"/>
                <a:cs typeface="Consolas" panose="020B0609020204030204" pitchFamily="49" charset="0"/>
              </a:rPr>
              <a:t>int</a:t>
            </a:r>
            <a:r>
              <a:rPr lang="en-US" b="1" dirty="0"/>
              <a:t> </a:t>
            </a:r>
            <a:r>
              <a:rPr lang="en-US" dirty="0"/>
              <a:t>variable</a:t>
            </a:r>
          </a:p>
          <a:p>
            <a:pPr lvl="1"/>
            <a:r>
              <a:rPr lang="en-US" dirty="0"/>
              <a:t>and a set of </a:t>
            </a:r>
            <a:r>
              <a:rPr lang="en-US" b="1" dirty="0"/>
              <a:t>operators </a:t>
            </a:r>
            <a:r>
              <a:rPr lang="en-US" dirty="0"/>
              <a:t>and other things you can use on them</a:t>
            </a:r>
          </a:p>
          <a:p>
            <a:r>
              <a:rPr lang="en-US" b="1" dirty="0"/>
              <a:t>type theory </a:t>
            </a:r>
            <a:r>
              <a:rPr lang="en-US" dirty="0"/>
              <a:t>is a branch of mathematics</a:t>
            </a:r>
          </a:p>
          <a:p>
            <a:pPr lvl="1"/>
            <a:r>
              <a:rPr lang="en-US" dirty="0"/>
              <a:t>it might seem kind of abstract and confusing (as most math does)</a:t>
            </a:r>
          </a:p>
          <a:p>
            <a:pPr lvl="1"/>
            <a:r>
              <a:rPr lang="en-US" dirty="0"/>
              <a:t>but it has had </a:t>
            </a:r>
            <a:r>
              <a:rPr lang="en-US" b="1" dirty="0"/>
              <a:t>profound impacts </a:t>
            </a:r>
            <a:r>
              <a:rPr lang="en-US" dirty="0"/>
              <a:t>on the design and behaviors of programming languages, especially in the past 30 years</a:t>
            </a:r>
          </a:p>
          <a:p>
            <a:r>
              <a:rPr lang="en-US" dirty="0"/>
              <a:t>without rigorous type theory, you get C 😬</a:t>
            </a:r>
          </a:p>
        </p:txBody>
      </p:sp>
      <p:sp>
        <p:nvSpPr>
          <p:cNvPr id="4" name="Slide Number Placeholder 3">
            <a:extLst>
              <a:ext uri="{FF2B5EF4-FFF2-40B4-BE49-F238E27FC236}">
                <a16:creationId xmlns:a16="http://schemas.microsoft.com/office/drawing/2014/main" id="{9948FDEF-8199-AE40-8020-85E329F69210}"/>
              </a:ext>
            </a:extLst>
          </p:cNvPr>
          <p:cNvSpPr>
            <a:spLocks noGrp="1"/>
          </p:cNvSpPr>
          <p:nvPr>
            <p:ph type="sldNum" sz="quarter" idx="12"/>
          </p:nvPr>
        </p:nvSpPr>
        <p:spPr/>
        <p:txBody>
          <a:bodyPr/>
          <a:lstStyle/>
          <a:p>
            <a:fld id="{3552B95B-556F-44BD-91A5-D80C1B9E2BB3}" type="slidenum">
              <a:rPr lang="en-US" smtClean="0"/>
              <a:pPr/>
              <a:t>4</a:t>
            </a:fld>
            <a:endParaRPr lang="en-US"/>
          </a:p>
        </p:txBody>
      </p:sp>
    </p:spTree>
    <p:extLst>
      <p:ext uri="{BB962C8B-B14F-4D97-AF65-F5344CB8AC3E}">
        <p14:creationId xmlns:p14="http://schemas.microsoft.com/office/powerpoint/2010/main" val="182489444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1CB93-5D9D-A843-8111-00FC4D680169}"/>
              </a:ext>
            </a:extLst>
          </p:cNvPr>
          <p:cNvSpPr>
            <a:spLocks noGrp="1"/>
          </p:cNvSpPr>
          <p:nvPr>
            <p:ph type="title"/>
          </p:nvPr>
        </p:nvSpPr>
        <p:spPr/>
        <p:txBody>
          <a:bodyPr/>
          <a:lstStyle/>
          <a:p>
            <a:r>
              <a:rPr lang="en-US" dirty="0"/>
              <a:t>I'll Curry YOUR Howards, isomorphically</a:t>
            </a:r>
          </a:p>
        </p:txBody>
      </p:sp>
      <p:sp>
        <p:nvSpPr>
          <p:cNvPr id="3" name="Content Placeholder 2">
            <a:extLst>
              <a:ext uri="{FF2B5EF4-FFF2-40B4-BE49-F238E27FC236}">
                <a16:creationId xmlns:a16="http://schemas.microsoft.com/office/drawing/2014/main" id="{1EFF6C74-FA64-0A42-A502-E015589AD922}"/>
              </a:ext>
            </a:extLst>
          </p:cNvPr>
          <p:cNvSpPr>
            <a:spLocks noGrp="1"/>
          </p:cNvSpPr>
          <p:nvPr>
            <p:ph idx="1"/>
          </p:nvPr>
        </p:nvSpPr>
        <p:spPr>
          <a:xfrm>
            <a:off x="152400" y="495302"/>
            <a:ext cx="8991600" cy="858187"/>
          </a:xfrm>
        </p:spPr>
        <p:txBody>
          <a:bodyPr>
            <a:normAutofit/>
          </a:bodyPr>
          <a:lstStyle/>
          <a:p>
            <a:r>
              <a:rPr lang="en-US" dirty="0"/>
              <a:t>remember from the beginning of the term: </a:t>
            </a:r>
            <a:r>
              <a:rPr lang="en-US" b="1" dirty="0"/>
              <a:t>programs are proofs.</a:t>
            </a:r>
          </a:p>
          <a:p>
            <a:r>
              <a:rPr lang="en-US" dirty="0"/>
              <a:t>type systems are essentially </a:t>
            </a:r>
            <a:r>
              <a:rPr lang="en-US" b="1" dirty="0"/>
              <a:t>proof justifications.</a:t>
            </a:r>
            <a:endParaRPr lang="en-US" dirty="0"/>
          </a:p>
        </p:txBody>
      </p:sp>
      <p:sp>
        <p:nvSpPr>
          <p:cNvPr id="4" name="Slide Number Placeholder 3">
            <a:extLst>
              <a:ext uri="{FF2B5EF4-FFF2-40B4-BE49-F238E27FC236}">
                <a16:creationId xmlns:a16="http://schemas.microsoft.com/office/drawing/2014/main" id="{567A8DA5-0428-B843-85ED-A57374171D53}"/>
              </a:ext>
            </a:extLst>
          </p:cNvPr>
          <p:cNvSpPr>
            <a:spLocks noGrp="1"/>
          </p:cNvSpPr>
          <p:nvPr>
            <p:ph type="sldNum" sz="quarter" idx="12"/>
          </p:nvPr>
        </p:nvSpPr>
        <p:spPr/>
        <p:txBody>
          <a:bodyPr/>
          <a:lstStyle/>
          <a:p>
            <a:fld id="{3552B95B-556F-44BD-91A5-D80C1B9E2BB3}" type="slidenum">
              <a:rPr lang="en-US" smtClean="0"/>
              <a:pPr/>
              <a:t>5</a:t>
            </a:fld>
            <a:endParaRPr lang="en-US"/>
          </a:p>
        </p:txBody>
      </p:sp>
      <p:pic>
        <p:nvPicPr>
          <p:cNvPr id="5" name="Picture 2" descr="Natural deduction proof editor and checker">
            <a:extLst>
              <a:ext uri="{FF2B5EF4-FFF2-40B4-BE49-F238E27FC236}">
                <a16:creationId xmlns:a16="http://schemas.microsoft.com/office/drawing/2014/main" id="{6CC2FB25-0451-7249-B548-18D9394A03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80" t="2379" r="13479" b="2141"/>
          <a:stretch/>
        </p:blipFill>
        <p:spPr bwMode="auto">
          <a:xfrm>
            <a:off x="533400" y="1761821"/>
            <a:ext cx="3657600" cy="259882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30107EA-92F1-B74A-A209-89D09DAE5303}"/>
              </a:ext>
            </a:extLst>
          </p:cNvPr>
          <p:cNvSpPr txBox="1"/>
          <p:nvPr/>
        </p:nvSpPr>
        <p:spPr>
          <a:xfrm>
            <a:off x="2095500" y="1409700"/>
            <a:ext cx="4419600" cy="1107996"/>
          </a:xfrm>
          <a:prstGeom prst="rect">
            <a:avLst/>
          </a:prstGeom>
          <a:noFill/>
        </p:spPr>
        <p:txBody>
          <a:bodyPr wrap="square" rtlCol="0">
            <a:spAutoFit/>
          </a:bodyPr>
          <a:lstStyle/>
          <a:p>
            <a:pPr algn="ctr"/>
            <a:r>
              <a:rPr lang="en-US" sz="2200" dirty="0"/>
              <a:t>these justifications are saying, "look, I'm using only </a:t>
            </a:r>
            <a:r>
              <a:rPr lang="en-US" sz="2200" b="1" dirty="0"/>
              <a:t>valid operations</a:t>
            </a:r>
            <a:r>
              <a:rPr lang="en-US" sz="2200" dirty="0"/>
              <a:t> on these values!"</a:t>
            </a:r>
          </a:p>
        </p:txBody>
      </p:sp>
      <p:sp>
        <p:nvSpPr>
          <p:cNvPr id="7" name="Rounded Rectangle 6">
            <a:extLst>
              <a:ext uri="{FF2B5EF4-FFF2-40B4-BE49-F238E27FC236}">
                <a16:creationId xmlns:a16="http://schemas.microsoft.com/office/drawing/2014/main" id="{37951238-9D3D-B141-8D36-F925FCCDA584}"/>
              </a:ext>
            </a:extLst>
          </p:cNvPr>
          <p:cNvSpPr/>
          <p:nvPr/>
        </p:nvSpPr>
        <p:spPr>
          <a:xfrm>
            <a:off x="3048000" y="2604032"/>
            <a:ext cx="1219200" cy="1981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5B2CFBF-44A5-4A46-A65E-490F06D753BB}"/>
              </a:ext>
            </a:extLst>
          </p:cNvPr>
          <p:cNvSpPr txBox="1"/>
          <p:nvPr/>
        </p:nvSpPr>
        <p:spPr>
          <a:xfrm>
            <a:off x="4543425" y="2857500"/>
            <a:ext cx="4419600" cy="1446550"/>
          </a:xfrm>
          <a:prstGeom prst="rect">
            <a:avLst/>
          </a:prstGeom>
          <a:noFill/>
        </p:spPr>
        <p:txBody>
          <a:bodyPr wrap="square" rtlCol="0">
            <a:spAutoFit/>
          </a:bodyPr>
          <a:lstStyle/>
          <a:p>
            <a:pPr algn="ctr"/>
            <a:r>
              <a:rPr lang="en-US" sz="2200" dirty="0"/>
              <a:t>similarly, when you say "this variable is an int," the compiler uses that information to </a:t>
            </a:r>
            <a:r>
              <a:rPr lang="en-US" sz="2200" b="1" dirty="0"/>
              <a:t>justify</a:t>
            </a:r>
            <a:r>
              <a:rPr lang="en-US" sz="2200" dirty="0"/>
              <a:t> the steps of your program.</a:t>
            </a:r>
          </a:p>
        </p:txBody>
      </p:sp>
      <p:sp>
        <p:nvSpPr>
          <p:cNvPr id="10" name="TextBox 9">
            <a:extLst>
              <a:ext uri="{FF2B5EF4-FFF2-40B4-BE49-F238E27FC236}">
                <a16:creationId xmlns:a16="http://schemas.microsoft.com/office/drawing/2014/main" id="{90F90F29-2195-554E-A85F-E22630CECDF1}"/>
              </a:ext>
            </a:extLst>
          </p:cNvPr>
          <p:cNvSpPr txBox="1"/>
          <p:nvPr/>
        </p:nvSpPr>
        <p:spPr>
          <a:xfrm>
            <a:off x="4552950" y="4344749"/>
            <a:ext cx="4419600" cy="430887"/>
          </a:xfrm>
          <a:prstGeom prst="rect">
            <a:avLst/>
          </a:prstGeom>
          <a:noFill/>
        </p:spPr>
        <p:txBody>
          <a:bodyPr wrap="square" rtlCol="0">
            <a:spAutoFit/>
          </a:bodyPr>
          <a:lstStyle/>
          <a:p>
            <a:pPr algn="ctr"/>
            <a:r>
              <a:rPr lang="en-US" sz="2200" dirty="0"/>
              <a:t>if it can't… </a:t>
            </a:r>
            <a:r>
              <a:rPr lang="en-US" sz="2200" b="1" dirty="0"/>
              <a:t>that's a type error!</a:t>
            </a:r>
            <a:endParaRPr lang="en-US" sz="2200" dirty="0"/>
          </a:p>
        </p:txBody>
      </p:sp>
    </p:spTree>
    <p:extLst>
      <p:ext uri="{BB962C8B-B14F-4D97-AF65-F5344CB8AC3E}">
        <p14:creationId xmlns:p14="http://schemas.microsoft.com/office/powerpoint/2010/main" val="10545328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022E9-97E0-4840-8F21-45766320BA33}"/>
              </a:ext>
            </a:extLst>
          </p:cNvPr>
          <p:cNvSpPr>
            <a:spLocks noGrp="1"/>
          </p:cNvSpPr>
          <p:nvPr>
            <p:ph type="title"/>
          </p:nvPr>
        </p:nvSpPr>
        <p:spPr/>
        <p:txBody>
          <a:bodyPr/>
          <a:lstStyle/>
          <a:p>
            <a:r>
              <a:rPr lang="en-US" dirty="0"/>
              <a:t>Type Safety = Progress + Preservation</a:t>
            </a:r>
          </a:p>
        </p:txBody>
      </p:sp>
      <p:sp>
        <p:nvSpPr>
          <p:cNvPr id="3" name="Content Placeholder 2">
            <a:extLst>
              <a:ext uri="{FF2B5EF4-FFF2-40B4-BE49-F238E27FC236}">
                <a16:creationId xmlns:a16="http://schemas.microsoft.com/office/drawing/2014/main" id="{2FC9EB7D-8572-AA4C-B0C9-DF4D6C0C78CC}"/>
              </a:ext>
            </a:extLst>
          </p:cNvPr>
          <p:cNvSpPr>
            <a:spLocks noGrp="1"/>
          </p:cNvSpPr>
          <p:nvPr>
            <p:ph idx="1"/>
          </p:nvPr>
        </p:nvSpPr>
        <p:spPr>
          <a:xfrm>
            <a:off x="152400" y="495301"/>
            <a:ext cx="8991600" cy="838199"/>
          </a:xfrm>
        </p:spPr>
        <p:txBody>
          <a:bodyPr/>
          <a:lstStyle/>
          <a:p>
            <a:r>
              <a:rPr lang="en-US" b="1" dirty="0"/>
              <a:t>type safety </a:t>
            </a:r>
            <a:r>
              <a:rPr lang="en-US" dirty="0"/>
              <a:t>means that you know exactly what will happen at every step of your program, because you know the types of everything.</a:t>
            </a:r>
            <a:endParaRPr lang="en-US" b="1" dirty="0"/>
          </a:p>
        </p:txBody>
      </p:sp>
      <p:sp>
        <p:nvSpPr>
          <p:cNvPr id="4" name="Slide Number Placeholder 3">
            <a:extLst>
              <a:ext uri="{FF2B5EF4-FFF2-40B4-BE49-F238E27FC236}">
                <a16:creationId xmlns:a16="http://schemas.microsoft.com/office/drawing/2014/main" id="{7693563C-30A8-2F40-8A5C-254638FF86BA}"/>
              </a:ext>
            </a:extLst>
          </p:cNvPr>
          <p:cNvSpPr>
            <a:spLocks noGrp="1"/>
          </p:cNvSpPr>
          <p:nvPr>
            <p:ph type="sldNum" sz="quarter" idx="12"/>
          </p:nvPr>
        </p:nvSpPr>
        <p:spPr/>
        <p:txBody>
          <a:bodyPr/>
          <a:lstStyle/>
          <a:p>
            <a:fld id="{3552B95B-556F-44BD-91A5-D80C1B9E2BB3}" type="slidenum">
              <a:rPr lang="en-US" smtClean="0"/>
              <a:pPr/>
              <a:t>6</a:t>
            </a:fld>
            <a:endParaRPr lang="en-US"/>
          </a:p>
        </p:txBody>
      </p:sp>
      <p:sp>
        <p:nvSpPr>
          <p:cNvPr id="5" name="TextBox 4">
            <a:extLst>
              <a:ext uri="{FF2B5EF4-FFF2-40B4-BE49-F238E27FC236}">
                <a16:creationId xmlns:a16="http://schemas.microsoft.com/office/drawing/2014/main" id="{61198151-F590-B143-B5D5-A1A552FD6AE6}"/>
              </a:ext>
            </a:extLst>
          </p:cNvPr>
          <p:cNvSpPr txBox="1"/>
          <p:nvPr/>
        </p:nvSpPr>
        <p:spPr>
          <a:xfrm>
            <a:off x="685800" y="1333500"/>
            <a:ext cx="7505700" cy="430887"/>
          </a:xfrm>
          <a:prstGeom prst="rect">
            <a:avLst/>
          </a:prstGeom>
          <a:noFill/>
        </p:spPr>
        <p:txBody>
          <a:bodyPr wrap="square" rtlCol="0">
            <a:spAutoFit/>
          </a:bodyPr>
          <a:lstStyle/>
          <a:p>
            <a:pPr algn="ctr"/>
            <a:r>
              <a:rPr lang="en-US" sz="2200" b="1" dirty="0"/>
              <a:t>progress </a:t>
            </a:r>
            <a:r>
              <a:rPr lang="en-US" sz="2200" dirty="0"/>
              <a:t>means that at every step of computation:</a:t>
            </a:r>
            <a:endParaRPr lang="en-US" sz="2200" b="1" dirty="0"/>
          </a:p>
        </p:txBody>
      </p:sp>
      <p:sp>
        <p:nvSpPr>
          <p:cNvPr id="6" name="TextBox 5">
            <a:extLst>
              <a:ext uri="{FF2B5EF4-FFF2-40B4-BE49-F238E27FC236}">
                <a16:creationId xmlns:a16="http://schemas.microsoft.com/office/drawing/2014/main" id="{4F903F5B-1A3B-3F4A-8BE6-84E51EA63A13}"/>
              </a:ext>
            </a:extLst>
          </p:cNvPr>
          <p:cNvSpPr txBox="1"/>
          <p:nvPr/>
        </p:nvSpPr>
        <p:spPr>
          <a:xfrm>
            <a:off x="304800" y="2081147"/>
            <a:ext cx="3714750" cy="430887"/>
          </a:xfrm>
          <a:prstGeom prst="rect">
            <a:avLst/>
          </a:prstGeom>
          <a:noFill/>
        </p:spPr>
        <p:txBody>
          <a:bodyPr wrap="square" rtlCol="0">
            <a:spAutoFit/>
          </a:bodyPr>
          <a:lstStyle/>
          <a:p>
            <a:pPr algn="ctr"/>
            <a:r>
              <a:rPr lang="en-US" sz="2200" dirty="0"/>
              <a:t>either the program </a:t>
            </a:r>
            <a:r>
              <a:rPr lang="en-US" sz="2200" b="1" dirty="0"/>
              <a:t>halts…</a:t>
            </a:r>
            <a:endParaRPr lang="en-US" sz="2200" dirty="0"/>
          </a:p>
        </p:txBody>
      </p:sp>
      <p:sp>
        <p:nvSpPr>
          <p:cNvPr id="7" name="TextBox 6">
            <a:extLst>
              <a:ext uri="{FF2B5EF4-FFF2-40B4-BE49-F238E27FC236}">
                <a16:creationId xmlns:a16="http://schemas.microsoft.com/office/drawing/2014/main" id="{B03F06E1-2DFC-4F40-9979-DCC9ED4D9804}"/>
              </a:ext>
            </a:extLst>
          </p:cNvPr>
          <p:cNvSpPr txBox="1"/>
          <p:nvPr/>
        </p:nvSpPr>
        <p:spPr>
          <a:xfrm>
            <a:off x="4895852" y="1742593"/>
            <a:ext cx="3867150" cy="769441"/>
          </a:xfrm>
          <a:prstGeom prst="rect">
            <a:avLst/>
          </a:prstGeom>
          <a:noFill/>
        </p:spPr>
        <p:txBody>
          <a:bodyPr wrap="square" rtlCol="0">
            <a:spAutoFit/>
          </a:bodyPr>
          <a:lstStyle/>
          <a:p>
            <a:pPr algn="ctr"/>
            <a:r>
              <a:rPr lang="en-US" sz="2200" dirty="0"/>
              <a:t>…or there is </a:t>
            </a:r>
            <a:r>
              <a:rPr lang="en-US" sz="2200" b="1" dirty="0"/>
              <a:t>exactly </a:t>
            </a:r>
            <a:r>
              <a:rPr lang="en-US" sz="2200" b="1" dirty="0">
                <a:solidFill>
                  <a:srgbClr val="FF0000"/>
                </a:solidFill>
              </a:rPr>
              <a:t>one thing </a:t>
            </a:r>
            <a:r>
              <a:rPr lang="en-US" sz="2200" b="1" dirty="0"/>
              <a:t>that can happen.</a:t>
            </a:r>
            <a:endParaRPr lang="en-US" sz="2200" dirty="0"/>
          </a:p>
        </p:txBody>
      </p:sp>
      <p:sp>
        <p:nvSpPr>
          <p:cNvPr id="8" name="TextBox 7">
            <a:extLst>
              <a:ext uri="{FF2B5EF4-FFF2-40B4-BE49-F238E27FC236}">
                <a16:creationId xmlns:a16="http://schemas.microsoft.com/office/drawing/2014/main" id="{15987A4E-B738-2B4A-8E56-1B26F919C506}"/>
              </a:ext>
            </a:extLst>
          </p:cNvPr>
          <p:cNvSpPr txBox="1"/>
          <p:nvPr/>
        </p:nvSpPr>
        <p:spPr>
          <a:xfrm>
            <a:off x="457200" y="2545788"/>
            <a:ext cx="3714750" cy="769441"/>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a = { </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a:t>
            </a:r>
            <a:r>
              <a:rPr lang="en-US" sz="2200" i="1" dirty="0">
                <a:solidFill>
                  <a:schemeClr val="accent3">
                    <a:lumMod val="50000"/>
                  </a:schemeClr>
                </a:solidFill>
                <a:latin typeface="Consolas" panose="020B0609020204030204" pitchFamily="49" charset="0"/>
                <a:cs typeface="Consolas" panose="020B0609020204030204" pitchFamily="49" charset="0"/>
              </a:rPr>
              <a:t>// halts</a:t>
            </a:r>
          </a:p>
        </p:txBody>
      </p:sp>
      <p:sp>
        <p:nvSpPr>
          <p:cNvPr id="9" name="TextBox 8">
            <a:extLst>
              <a:ext uri="{FF2B5EF4-FFF2-40B4-BE49-F238E27FC236}">
                <a16:creationId xmlns:a16="http://schemas.microsoft.com/office/drawing/2014/main" id="{3E6DB1C4-99C0-2044-8904-54EB8EBFA552}"/>
              </a:ext>
            </a:extLst>
          </p:cNvPr>
          <p:cNvSpPr txBox="1"/>
          <p:nvPr/>
        </p:nvSpPr>
        <p:spPr>
          <a:xfrm>
            <a:off x="4972052" y="2545788"/>
            <a:ext cx="3714750" cy="769441"/>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a = { </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a:t>
            </a:r>
            <a:r>
              <a:rPr lang="en-US" sz="2200" i="1" dirty="0">
                <a:solidFill>
                  <a:schemeClr val="accent3">
                    <a:lumMod val="50000"/>
                  </a:schemeClr>
                </a:solidFill>
                <a:latin typeface="Consolas" panose="020B0609020204030204" pitchFamily="49" charset="0"/>
                <a:cs typeface="Consolas" panose="020B0609020204030204" pitchFamily="49" charset="0"/>
              </a:rPr>
              <a:t>// assigns</a:t>
            </a:r>
          </a:p>
        </p:txBody>
      </p:sp>
      <p:sp>
        <p:nvSpPr>
          <p:cNvPr id="10" name="TextBox 9">
            <a:extLst>
              <a:ext uri="{FF2B5EF4-FFF2-40B4-BE49-F238E27FC236}">
                <a16:creationId xmlns:a16="http://schemas.microsoft.com/office/drawing/2014/main" id="{5EF9B9C5-7633-8642-B29F-838BE5AC76BA}"/>
              </a:ext>
            </a:extLst>
          </p:cNvPr>
          <p:cNvSpPr txBox="1"/>
          <p:nvPr/>
        </p:nvSpPr>
        <p:spPr>
          <a:xfrm>
            <a:off x="304800" y="3366750"/>
            <a:ext cx="8534400" cy="769441"/>
          </a:xfrm>
          <a:prstGeom prst="rect">
            <a:avLst/>
          </a:prstGeom>
          <a:noFill/>
        </p:spPr>
        <p:txBody>
          <a:bodyPr wrap="square" rtlCol="0">
            <a:spAutoFit/>
          </a:bodyPr>
          <a:lstStyle/>
          <a:p>
            <a:pPr algn="ctr"/>
            <a:r>
              <a:rPr lang="en-US" sz="2200" b="1" dirty="0"/>
              <a:t>preservation </a:t>
            </a:r>
            <a:r>
              <a:rPr lang="en-US" sz="2200" dirty="0"/>
              <a:t>means that you </a:t>
            </a:r>
            <a:r>
              <a:rPr lang="en-US" sz="2200" b="1" dirty="0"/>
              <a:t>know the type </a:t>
            </a:r>
            <a:r>
              <a:rPr lang="en-US" sz="2200" dirty="0"/>
              <a:t>of </a:t>
            </a:r>
            <a:r>
              <a:rPr lang="en-US" sz="2200" b="1" dirty="0"/>
              <a:t>every value,</a:t>
            </a:r>
            <a:r>
              <a:rPr lang="en-US" sz="2200" dirty="0"/>
              <a:t> at </a:t>
            </a:r>
            <a:r>
              <a:rPr lang="en-US" sz="2200" b="1" dirty="0"/>
              <a:t>every step</a:t>
            </a:r>
            <a:r>
              <a:rPr lang="en-US" sz="2200" dirty="0"/>
              <a:t> of computation. </a:t>
            </a:r>
            <a:r>
              <a:rPr lang="en-US" sz="1600" dirty="0"/>
              <a:t>(you never "leave the walls" of the type system.)</a:t>
            </a:r>
            <a:endParaRPr lang="en-US" sz="2200" b="1" dirty="0"/>
          </a:p>
        </p:txBody>
      </p:sp>
      <p:sp>
        <p:nvSpPr>
          <p:cNvPr id="12" name="TextBox 11">
            <a:extLst>
              <a:ext uri="{FF2B5EF4-FFF2-40B4-BE49-F238E27FC236}">
                <a16:creationId xmlns:a16="http://schemas.microsoft.com/office/drawing/2014/main" id="{364B0F49-B826-5447-BB31-C3D478E46E97}"/>
              </a:ext>
            </a:extLst>
          </p:cNvPr>
          <p:cNvSpPr txBox="1"/>
          <p:nvPr/>
        </p:nvSpPr>
        <p:spPr>
          <a:xfrm>
            <a:off x="304800" y="4260554"/>
            <a:ext cx="8534400" cy="430887"/>
          </a:xfrm>
          <a:prstGeom prst="rect">
            <a:avLst/>
          </a:prstGeom>
          <a:noFill/>
        </p:spPr>
        <p:txBody>
          <a:bodyPr wrap="square" rtlCol="0">
            <a:spAutoFit/>
          </a:bodyPr>
          <a:lstStyle/>
          <a:p>
            <a:pPr algn="ctr"/>
            <a:r>
              <a:rPr lang="en-US" sz="2200" b="1" dirty="0"/>
              <a:t>Java </a:t>
            </a:r>
            <a:r>
              <a:rPr lang="en-US" sz="2200" i="1" dirty="0"/>
              <a:t>is</a:t>
            </a:r>
            <a:r>
              <a:rPr lang="en-US" sz="2200" dirty="0"/>
              <a:t> a type-safe language, so I can't give an example of that.</a:t>
            </a:r>
            <a:endParaRPr lang="en-US" sz="2200" b="1" dirty="0"/>
          </a:p>
        </p:txBody>
      </p:sp>
      <p:sp>
        <p:nvSpPr>
          <p:cNvPr id="13" name="TextBox 12">
            <a:extLst>
              <a:ext uri="{FF2B5EF4-FFF2-40B4-BE49-F238E27FC236}">
                <a16:creationId xmlns:a16="http://schemas.microsoft.com/office/drawing/2014/main" id="{9213E9C7-64EA-3241-97D4-B4725674F295}"/>
              </a:ext>
            </a:extLst>
          </p:cNvPr>
          <p:cNvSpPr txBox="1"/>
          <p:nvPr/>
        </p:nvSpPr>
        <p:spPr>
          <a:xfrm>
            <a:off x="762000" y="4864320"/>
            <a:ext cx="7620000" cy="584775"/>
          </a:xfrm>
          <a:prstGeom prst="rect">
            <a:avLst/>
          </a:prstGeom>
          <a:noFill/>
        </p:spPr>
        <p:txBody>
          <a:bodyPr wrap="square" rtlCol="0">
            <a:spAutoFit/>
          </a:bodyPr>
          <a:lstStyle/>
          <a:p>
            <a:pPr algn="ctr"/>
            <a:r>
              <a:rPr lang="en-US" sz="1600" dirty="0"/>
              <a:t>but what about the most popular language used for programming our operating systems, device drivers, embedded device firmware etc.? 🙃</a:t>
            </a:r>
          </a:p>
        </p:txBody>
      </p:sp>
    </p:spTree>
    <p:extLst>
      <p:ext uri="{BB962C8B-B14F-4D97-AF65-F5344CB8AC3E}">
        <p14:creationId xmlns:p14="http://schemas.microsoft.com/office/powerpoint/2010/main" val="36627865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6515-487C-AB44-92B6-FC928E6110CF}"/>
              </a:ext>
            </a:extLst>
          </p:cNvPr>
          <p:cNvSpPr>
            <a:spLocks noGrp="1"/>
          </p:cNvSpPr>
          <p:nvPr>
            <p:ph type="title"/>
          </p:nvPr>
        </p:nvSpPr>
        <p:spPr/>
        <p:txBody>
          <a:bodyPr/>
          <a:lstStyle/>
          <a:p>
            <a:r>
              <a:rPr lang="en-US" dirty="0"/>
              <a:t>A very unsafe language</a:t>
            </a:r>
          </a:p>
        </p:txBody>
      </p:sp>
      <p:sp>
        <p:nvSpPr>
          <p:cNvPr id="3" name="Content Placeholder 2">
            <a:extLst>
              <a:ext uri="{FF2B5EF4-FFF2-40B4-BE49-F238E27FC236}">
                <a16:creationId xmlns:a16="http://schemas.microsoft.com/office/drawing/2014/main" id="{59FFAA89-F6B0-D64E-80B9-240486CFCB1D}"/>
              </a:ext>
            </a:extLst>
          </p:cNvPr>
          <p:cNvSpPr>
            <a:spLocks noGrp="1"/>
          </p:cNvSpPr>
          <p:nvPr>
            <p:ph idx="1"/>
          </p:nvPr>
        </p:nvSpPr>
        <p:spPr>
          <a:xfrm>
            <a:off x="152400" y="495301"/>
            <a:ext cx="8991600" cy="495301"/>
          </a:xfrm>
        </p:spPr>
        <p:txBody>
          <a:bodyPr/>
          <a:lstStyle/>
          <a:p>
            <a:r>
              <a:rPr lang="en-US" dirty="0"/>
              <a:t>in C, the type system was an afterthought.</a:t>
            </a:r>
          </a:p>
        </p:txBody>
      </p:sp>
      <p:sp>
        <p:nvSpPr>
          <p:cNvPr id="4" name="Slide Number Placeholder 3">
            <a:extLst>
              <a:ext uri="{FF2B5EF4-FFF2-40B4-BE49-F238E27FC236}">
                <a16:creationId xmlns:a16="http://schemas.microsoft.com/office/drawing/2014/main" id="{D2DB559D-BF22-5240-B9B1-EC7A18593275}"/>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5" name="Rectangle 4">
            <a:extLst>
              <a:ext uri="{FF2B5EF4-FFF2-40B4-BE49-F238E27FC236}">
                <a16:creationId xmlns:a16="http://schemas.microsoft.com/office/drawing/2014/main" id="{F9046EF7-3AFD-5149-954F-184B6D3BFE68}"/>
              </a:ext>
            </a:extLst>
          </p:cNvPr>
          <p:cNvSpPr/>
          <p:nvPr/>
        </p:nvSpPr>
        <p:spPr>
          <a:xfrm>
            <a:off x="457200" y="1078819"/>
            <a:ext cx="4114800" cy="1569660"/>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float </a:t>
            </a:r>
            <a:r>
              <a:rPr lang="en-US" sz="2400" b="1" dirty="0">
                <a:latin typeface="Consolas" panose="020B0609020204030204" pitchFamily="49" charset="0"/>
                <a:cs typeface="Consolas" panose="020B0609020204030204" pitchFamily="49" charset="0"/>
              </a:rPr>
              <a:t>f =</a:t>
            </a:r>
            <a:r>
              <a:rPr lang="en-US" sz="2400" b="1" dirty="0">
                <a:solidFill>
                  <a:srgbClr val="FF0000"/>
                </a:solidFill>
                <a:latin typeface="Consolas" panose="020B0609020204030204" pitchFamily="49" charset="0"/>
                <a:cs typeface="Consolas" panose="020B0609020204030204" pitchFamily="49" charset="0"/>
              </a:rPr>
              <a:t> </a:t>
            </a:r>
            <a:r>
              <a:rPr lang="en-US" sz="2400" b="1" dirty="0">
                <a:solidFill>
                  <a:schemeClr val="accent3">
                    <a:lumMod val="75000"/>
                  </a:schemeClr>
                </a:solidFill>
                <a:latin typeface="Consolas" panose="020B0609020204030204" pitchFamily="49" charset="0"/>
                <a:cs typeface="Consolas" panose="020B0609020204030204" pitchFamily="49" charset="0"/>
              </a:rPr>
              <a:t>3.4</a:t>
            </a:r>
            <a:r>
              <a:rPr lang="en-US" sz="2400" b="1" dirty="0">
                <a:latin typeface="Consolas" panose="020B0609020204030204" pitchFamily="49" charset="0"/>
                <a:cs typeface="Consolas" panose="020B0609020204030204" pitchFamily="49" charset="0"/>
              </a:rPr>
              <a:t>;</a:t>
            </a:r>
          </a:p>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a[</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0xDEADBEEF</a:t>
            </a:r>
            <a:r>
              <a:rPr lang="en-US" sz="2400" b="1" dirty="0">
                <a:latin typeface="Consolas" panose="020B0609020204030204" pitchFamily="49" charset="0"/>
                <a:cs typeface="Consolas" panose="020B0609020204030204" pitchFamily="49" charset="0"/>
              </a:rPr>
              <a:t>;</a:t>
            </a:r>
          </a:p>
          <a:p>
            <a:r>
              <a:rPr lang="en-US" sz="2400" b="1" dirty="0" err="1">
                <a:latin typeface="Consolas" panose="020B0609020204030204" pitchFamily="49" charset="0"/>
                <a:cs typeface="Consolas" panose="020B0609020204030204" pitchFamily="49" charset="0"/>
              </a:rPr>
              <a:t>printf</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"%f\n"</a:t>
            </a:r>
            <a:r>
              <a:rPr lang="en-US" sz="2400" b="1" dirty="0">
                <a:latin typeface="Consolas" panose="020B0609020204030204" pitchFamily="49" charset="0"/>
                <a:cs typeface="Consolas" panose="020B0609020204030204" pitchFamily="49" charset="0"/>
              </a:rPr>
              <a:t>, f);</a:t>
            </a:r>
          </a:p>
        </p:txBody>
      </p:sp>
      <p:sp>
        <p:nvSpPr>
          <p:cNvPr id="6" name="TextBox 5">
            <a:extLst>
              <a:ext uri="{FF2B5EF4-FFF2-40B4-BE49-F238E27FC236}">
                <a16:creationId xmlns:a16="http://schemas.microsoft.com/office/drawing/2014/main" id="{50675815-E097-E342-8DC7-D6809BBA4ACF}"/>
              </a:ext>
            </a:extLst>
          </p:cNvPr>
          <p:cNvSpPr txBox="1"/>
          <p:nvPr/>
        </p:nvSpPr>
        <p:spPr>
          <a:xfrm>
            <a:off x="3724277" y="1647241"/>
            <a:ext cx="4695824" cy="769441"/>
          </a:xfrm>
          <a:prstGeom prst="rect">
            <a:avLst/>
          </a:prstGeom>
          <a:noFill/>
        </p:spPr>
        <p:txBody>
          <a:bodyPr wrap="square" rtlCol="0">
            <a:spAutoFit/>
          </a:bodyPr>
          <a:lstStyle/>
          <a:p>
            <a:pPr algn="ctr"/>
            <a:r>
              <a:rPr lang="en-US" sz="2200" dirty="0"/>
              <a:t>this line of code </a:t>
            </a:r>
            <a:r>
              <a:rPr lang="en-US" sz="2200" b="1" dirty="0">
                <a:solidFill>
                  <a:srgbClr val="FF0000"/>
                </a:solidFill>
              </a:rPr>
              <a:t>violates both progress and preservation.</a:t>
            </a:r>
            <a:endParaRPr lang="en-US" sz="2200" dirty="0">
              <a:solidFill>
                <a:srgbClr val="FF0000"/>
              </a:solidFill>
            </a:endParaRPr>
          </a:p>
        </p:txBody>
      </p:sp>
      <p:sp>
        <p:nvSpPr>
          <p:cNvPr id="7" name="Rounded Rectangle 6">
            <a:extLst>
              <a:ext uri="{FF2B5EF4-FFF2-40B4-BE49-F238E27FC236}">
                <a16:creationId xmlns:a16="http://schemas.microsoft.com/office/drawing/2014/main" id="{49F8018F-94C9-5F4D-A4A4-C5616BBB8A24}"/>
              </a:ext>
            </a:extLst>
          </p:cNvPr>
          <p:cNvSpPr/>
          <p:nvPr/>
        </p:nvSpPr>
        <p:spPr>
          <a:xfrm>
            <a:off x="457199" y="1858616"/>
            <a:ext cx="3324225" cy="3892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9F25338-25F2-F640-B05C-CD0E52F34F91}"/>
              </a:ext>
            </a:extLst>
          </p:cNvPr>
          <p:cNvSpPr txBox="1"/>
          <p:nvPr/>
        </p:nvSpPr>
        <p:spPr>
          <a:xfrm>
            <a:off x="457199" y="4269370"/>
            <a:ext cx="8382000" cy="800219"/>
          </a:xfrm>
          <a:prstGeom prst="rect">
            <a:avLst/>
          </a:prstGeom>
          <a:noFill/>
        </p:spPr>
        <p:txBody>
          <a:bodyPr wrap="square" rtlCol="0">
            <a:spAutoFit/>
          </a:bodyPr>
          <a:lstStyle/>
          <a:p>
            <a:pPr algn="ctr"/>
            <a:r>
              <a:rPr lang="en-US" sz="2200" dirty="0"/>
              <a:t>depending on the platform and compilation settings, this </a:t>
            </a:r>
            <a:r>
              <a:rPr lang="en-US" sz="2200" b="1" dirty="0" err="1"/>
              <a:t>printf</a:t>
            </a:r>
            <a:r>
              <a:rPr lang="en-US" sz="2200" dirty="0"/>
              <a:t> might show </a:t>
            </a:r>
            <a:r>
              <a:rPr lang="en-US" sz="2200" b="1" dirty="0">
                <a:solidFill>
                  <a:schemeClr val="accent3">
                    <a:lumMod val="75000"/>
                  </a:schemeClr>
                </a:solidFill>
              </a:rPr>
              <a:t>3.4</a:t>
            </a:r>
            <a:r>
              <a:rPr lang="en-US" sz="2200" dirty="0"/>
              <a:t> or </a:t>
            </a:r>
            <a:r>
              <a:rPr lang="en-US" sz="2400" b="1" dirty="0">
                <a:solidFill>
                  <a:schemeClr val="accent3">
                    <a:lumMod val="75000"/>
                  </a:schemeClr>
                </a:solidFill>
              </a:rPr>
              <a:t>-6259853398707798016.000000</a:t>
            </a:r>
            <a:r>
              <a:rPr lang="en-US" sz="2400" b="1" dirty="0"/>
              <a:t>!</a:t>
            </a:r>
            <a:endParaRPr lang="en-US" sz="2200" b="1" dirty="0"/>
          </a:p>
        </p:txBody>
      </p:sp>
      <p:sp>
        <p:nvSpPr>
          <p:cNvPr id="9" name="TextBox 8">
            <a:extLst>
              <a:ext uri="{FF2B5EF4-FFF2-40B4-BE49-F238E27FC236}">
                <a16:creationId xmlns:a16="http://schemas.microsoft.com/office/drawing/2014/main" id="{1A390D4A-432C-5D47-9847-DBE392D5E4F5}"/>
              </a:ext>
            </a:extLst>
          </p:cNvPr>
          <p:cNvSpPr txBox="1"/>
          <p:nvPr/>
        </p:nvSpPr>
        <p:spPr>
          <a:xfrm>
            <a:off x="173829" y="2647844"/>
            <a:ext cx="8665370" cy="769441"/>
          </a:xfrm>
          <a:prstGeom prst="rect">
            <a:avLst/>
          </a:prstGeom>
          <a:noFill/>
        </p:spPr>
        <p:txBody>
          <a:bodyPr wrap="square" rtlCol="0">
            <a:spAutoFit/>
          </a:bodyPr>
          <a:lstStyle/>
          <a:p>
            <a:pPr algn="ctr"/>
            <a:r>
              <a:rPr lang="en-US" sz="2200" dirty="0"/>
              <a:t>it violates </a:t>
            </a:r>
            <a:r>
              <a:rPr lang="en-US" sz="2200" b="1" dirty="0"/>
              <a:t>progress</a:t>
            </a:r>
            <a:r>
              <a:rPr lang="en-US" sz="2200" dirty="0"/>
              <a:t> because accessing an array out-of-bounds is "undefined behavior" (</a:t>
            </a:r>
            <a:r>
              <a:rPr lang="en-US" sz="2200" b="1" dirty="0"/>
              <a:t>UB</a:t>
            </a:r>
            <a:r>
              <a:rPr lang="en-US" sz="2200" dirty="0"/>
              <a:t>), which means "anything could happen."</a:t>
            </a:r>
          </a:p>
        </p:txBody>
      </p:sp>
      <p:sp>
        <p:nvSpPr>
          <p:cNvPr id="11" name="TextBox 10">
            <a:extLst>
              <a:ext uri="{FF2B5EF4-FFF2-40B4-BE49-F238E27FC236}">
                <a16:creationId xmlns:a16="http://schemas.microsoft.com/office/drawing/2014/main" id="{CBC7D6E7-4A44-B84C-B7D8-C663BB1FA7CC}"/>
              </a:ext>
            </a:extLst>
          </p:cNvPr>
          <p:cNvSpPr txBox="1"/>
          <p:nvPr/>
        </p:nvSpPr>
        <p:spPr>
          <a:xfrm>
            <a:off x="239315" y="3458607"/>
            <a:ext cx="8665370" cy="769441"/>
          </a:xfrm>
          <a:prstGeom prst="rect">
            <a:avLst/>
          </a:prstGeom>
          <a:noFill/>
        </p:spPr>
        <p:txBody>
          <a:bodyPr wrap="square" rtlCol="0">
            <a:spAutoFit/>
          </a:bodyPr>
          <a:lstStyle/>
          <a:p>
            <a:pPr algn="ctr"/>
            <a:r>
              <a:rPr lang="en-US" sz="2200" dirty="0"/>
              <a:t>it violates </a:t>
            </a:r>
            <a:r>
              <a:rPr lang="en-US" sz="2200" b="1" dirty="0"/>
              <a:t>preservation</a:t>
            </a:r>
            <a:r>
              <a:rPr lang="en-US" sz="2200" dirty="0"/>
              <a:t> because one of the things that </a:t>
            </a:r>
            <a:r>
              <a:rPr lang="en-US" sz="2200" i="1" dirty="0"/>
              <a:t>could</a:t>
            </a:r>
            <a:r>
              <a:rPr lang="en-US" sz="2200" dirty="0"/>
              <a:t> happen is that this line </a:t>
            </a:r>
            <a:r>
              <a:rPr lang="en-US" sz="2200" b="1" dirty="0"/>
              <a:t>overwrites the value in f, violating its type.</a:t>
            </a:r>
            <a:endParaRPr lang="en-US" sz="2200" dirty="0"/>
          </a:p>
        </p:txBody>
      </p:sp>
    </p:spTree>
    <p:extLst>
      <p:ext uri="{BB962C8B-B14F-4D97-AF65-F5344CB8AC3E}">
        <p14:creationId xmlns:p14="http://schemas.microsoft.com/office/powerpoint/2010/main" val="1063485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6" grpId="0"/>
      <p:bldP spid="7" grpId="0" animBg="1"/>
      <p:bldP spid="8" grpId="0"/>
      <p:bldP spid="9"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80482-10E2-3E41-87AB-971E11F8778B}"/>
              </a:ext>
            </a:extLst>
          </p:cNvPr>
          <p:cNvSpPr>
            <a:spLocks noGrp="1"/>
          </p:cNvSpPr>
          <p:nvPr>
            <p:ph type="title"/>
          </p:nvPr>
        </p:nvSpPr>
        <p:spPr/>
        <p:txBody>
          <a:bodyPr/>
          <a:lstStyle/>
          <a:p>
            <a:r>
              <a:rPr lang="en-US" dirty="0"/>
              <a:t>Safety has to be built-in</a:t>
            </a:r>
          </a:p>
        </p:txBody>
      </p:sp>
      <p:sp>
        <p:nvSpPr>
          <p:cNvPr id="3" name="Content Placeholder 2">
            <a:extLst>
              <a:ext uri="{FF2B5EF4-FFF2-40B4-BE49-F238E27FC236}">
                <a16:creationId xmlns:a16="http://schemas.microsoft.com/office/drawing/2014/main" id="{BF7DE28F-25A1-064D-A944-858C5E0C5274}"/>
              </a:ext>
            </a:extLst>
          </p:cNvPr>
          <p:cNvSpPr>
            <a:spLocks noGrp="1"/>
          </p:cNvSpPr>
          <p:nvPr>
            <p:ph idx="1"/>
          </p:nvPr>
        </p:nvSpPr>
        <p:spPr/>
        <p:txBody>
          <a:bodyPr/>
          <a:lstStyle/>
          <a:p>
            <a:r>
              <a:rPr lang="en-US" dirty="0"/>
              <a:t>once you step into UB, </a:t>
            </a:r>
            <a:r>
              <a:rPr lang="en-US" b="1" dirty="0"/>
              <a:t>you cannot guarantee anything.</a:t>
            </a:r>
          </a:p>
          <a:p>
            <a:pPr lvl="1"/>
            <a:r>
              <a:rPr lang="en-US" dirty="0"/>
              <a:t>it's like writing </a:t>
            </a:r>
            <a:r>
              <a:rPr lang="en-US" b="1" dirty="0">
                <a:solidFill>
                  <a:srgbClr val="FF0000"/>
                </a:solidFill>
              </a:rPr>
              <a:t>a proof with an incorrect step.</a:t>
            </a:r>
          </a:p>
          <a:p>
            <a:pPr lvl="1"/>
            <a:r>
              <a:rPr lang="en-US" dirty="0"/>
              <a:t>all the steps after </a:t>
            </a:r>
            <a:r>
              <a:rPr lang="en-US" i="1" dirty="0"/>
              <a:t>may or may not </a:t>
            </a:r>
            <a:r>
              <a:rPr lang="en-US" dirty="0"/>
              <a:t>be invalid!</a:t>
            </a:r>
          </a:p>
          <a:p>
            <a:pPr lvl="1"/>
            <a:r>
              <a:rPr lang="en-US" dirty="0"/>
              <a:t>HLLs are a set of abstractions, and type-unsafety lets you </a:t>
            </a:r>
            <a:r>
              <a:rPr lang="en-US" b="1" dirty="0"/>
              <a:t>ruin those abstractions entirely.</a:t>
            </a:r>
            <a:endParaRPr lang="en-US" dirty="0"/>
          </a:p>
          <a:p>
            <a:r>
              <a:rPr lang="en-US" dirty="0"/>
              <a:t>you </a:t>
            </a:r>
            <a:r>
              <a:rPr lang="en-US" b="1" dirty="0"/>
              <a:t>can't make C safe. </a:t>
            </a:r>
            <a:r>
              <a:rPr lang="en-US" dirty="0"/>
              <a:t>this has big consequences:</a:t>
            </a:r>
          </a:p>
          <a:p>
            <a:pPr lvl="1"/>
            <a:r>
              <a:rPr lang="en-US" dirty="0"/>
              <a:t>you </a:t>
            </a:r>
            <a:r>
              <a:rPr lang="en-US" b="1" dirty="0"/>
              <a:t>can't do automatic memory management, </a:t>
            </a:r>
            <a:r>
              <a:rPr lang="en-US" dirty="0"/>
              <a:t>because that requires you to know the types of every value in the program.</a:t>
            </a:r>
          </a:p>
          <a:p>
            <a:pPr lvl="1"/>
            <a:r>
              <a:rPr lang="en-US" dirty="0"/>
              <a:t>you </a:t>
            </a:r>
            <a:r>
              <a:rPr lang="en-US" b="1" dirty="0"/>
              <a:t>can't prove that a C program is correct, </a:t>
            </a:r>
            <a:r>
              <a:rPr lang="en-US" dirty="0"/>
              <a:t>because there are many "correct" programs which actually violate type safety.</a:t>
            </a:r>
          </a:p>
          <a:p>
            <a:r>
              <a:rPr lang="en-US" dirty="0"/>
              <a:t>you </a:t>
            </a:r>
            <a:r>
              <a:rPr lang="en-US" b="1" dirty="0"/>
              <a:t>can't be superhuman. </a:t>
            </a:r>
            <a:r>
              <a:rPr lang="en-US" dirty="0"/>
              <a:t>sorry, but no amount of "just write the code correctly" is going to lead to correct C code. mistakes happen.</a:t>
            </a:r>
          </a:p>
          <a:p>
            <a:pPr lvl="1"/>
            <a:r>
              <a:rPr lang="en-US" dirty="0"/>
              <a:t>this is </a:t>
            </a:r>
            <a:r>
              <a:rPr lang="en-US" i="1" dirty="0"/>
              <a:t>why </a:t>
            </a:r>
            <a:r>
              <a:rPr lang="en-US" dirty="0"/>
              <a:t>languages like Java and Rust exist!</a:t>
            </a:r>
          </a:p>
        </p:txBody>
      </p:sp>
      <p:sp>
        <p:nvSpPr>
          <p:cNvPr id="4" name="Slide Number Placeholder 3">
            <a:extLst>
              <a:ext uri="{FF2B5EF4-FFF2-40B4-BE49-F238E27FC236}">
                <a16:creationId xmlns:a16="http://schemas.microsoft.com/office/drawing/2014/main" id="{D293447E-F47E-4C48-AE36-A149CB7E6CE7}"/>
              </a:ext>
            </a:extLst>
          </p:cNvPr>
          <p:cNvSpPr>
            <a:spLocks noGrp="1"/>
          </p:cNvSpPr>
          <p:nvPr>
            <p:ph type="sldNum" sz="quarter" idx="12"/>
          </p:nvPr>
        </p:nvSpPr>
        <p:spPr/>
        <p:txBody>
          <a:bodyPr/>
          <a:lstStyle/>
          <a:p>
            <a:fld id="{3552B95B-556F-44BD-91A5-D80C1B9E2BB3}" type="slidenum">
              <a:rPr lang="en-US" smtClean="0"/>
              <a:pPr/>
              <a:t>8</a:t>
            </a:fld>
            <a:endParaRPr lang="en-US"/>
          </a:p>
        </p:txBody>
      </p:sp>
    </p:spTree>
    <p:extLst>
      <p:ext uri="{BB962C8B-B14F-4D97-AF65-F5344CB8AC3E}">
        <p14:creationId xmlns:p14="http://schemas.microsoft.com/office/powerpoint/2010/main" val="352257104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9BB7-903A-8E44-B62F-E9C71079A25E}"/>
              </a:ext>
            </a:extLst>
          </p:cNvPr>
          <p:cNvSpPr>
            <a:spLocks noGrp="1"/>
          </p:cNvSpPr>
          <p:nvPr>
            <p:ph type="title"/>
          </p:nvPr>
        </p:nvSpPr>
        <p:spPr/>
        <p:txBody>
          <a:bodyPr/>
          <a:lstStyle/>
          <a:p>
            <a:r>
              <a:rPr lang="en-US"/>
              <a:t>Decidability</a:t>
            </a:r>
            <a:endParaRPr lang="en-US" dirty="0"/>
          </a:p>
        </p:txBody>
      </p:sp>
      <p:sp>
        <p:nvSpPr>
          <p:cNvPr id="3" name="Content Placeholder 2">
            <a:extLst>
              <a:ext uri="{FF2B5EF4-FFF2-40B4-BE49-F238E27FC236}">
                <a16:creationId xmlns:a16="http://schemas.microsoft.com/office/drawing/2014/main" id="{CE3D309D-FD4A-6B4C-A6FF-9CE27955C6B9}"/>
              </a:ext>
            </a:extLst>
          </p:cNvPr>
          <p:cNvSpPr>
            <a:spLocks noGrp="1"/>
          </p:cNvSpPr>
          <p:nvPr>
            <p:ph idx="1"/>
          </p:nvPr>
        </p:nvSpPr>
        <p:spPr/>
        <p:txBody>
          <a:bodyPr/>
          <a:lstStyle/>
          <a:p>
            <a:r>
              <a:rPr lang="en-US" b="1" dirty="0"/>
              <a:t>decidable </a:t>
            </a:r>
            <a:r>
              <a:rPr lang="en-US" dirty="0"/>
              <a:t>means:</a:t>
            </a:r>
            <a:r>
              <a:rPr lang="en-US" b="1" dirty="0"/>
              <a:t> </a:t>
            </a:r>
            <a:r>
              <a:rPr lang="en-US" dirty="0"/>
              <a:t>"can this question be answered in finite time?"</a:t>
            </a:r>
          </a:p>
          <a:p>
            <a:r>
              <a:rPr lang="en-US" dirty="0"/>
              <a:t>type-checking is </a:t>
            </a:r>
            <a:r>
              <a:rPr lang="en-US" b="1" dirty="0"/>
              <a:t>an algorithm,</a:t>
            </a:r>
            <a:r>
              <a:rPr lang="en-US" dirty="0"/>
              <a:t> so </a:t>
            </a:r>
            <a:r>
              <a:rPr lang="en-US" b="1" dirty="0"/>
              <a:t>it </a:t>
            </a:r>
            <a:r>
              <a:rPr lang="en-US" b="1" i="1" dirty="0"/>
              <a:t>can</a:t>
            </a:r>
            <a:r>
              <a:rPr lang="en-US" b="1" dirty="0"/>
              <a:t> be undecidable.</a:t>
            </a:r>
          </a:p>
          <a:p>
            <a:pPr lvl="1"/>
            <a:r>
              <a:rPr lang="en-US" dirty="0"/>
              <a:t>we can make our type system so powerful that we'd have to </a:t>
            </a:r>
            <a:r>
              <a:rPr lang="en-US" b="1" dirty="0"/>
              <a:t>solve the halting problem to check our program's types!</a:t>
            </a:r>
          </a:p>
          <a:p>
            <a:pPr lvl="2"/>
            <a:r>
              <a:rPr lang="en-US" dirty="0"/>
              <a:t>which maybe seems like a bad thing, right?</a:t>
            </a:r>
          </a:p>
          <a:p>
            <a:r>
              <a:rPr lang="en-US" dirty="0"/>
              <a:t>there's this other related thing that I think is related to decidability?</a:t>
            </a:r>
          </a:p>
          <a:p>
            <a:pPr lvl="1"/>
            <a:r>
              <a:rPr lang="en-US" dirty="0"/>
              <a:t>you </a:t>
            </a:r>
            <a:r>
              <a:rPr lang="en-US" b="1" dirty="0"/>
              <a:t>can't predict the future.</a:t>
            </a:r>
            <a:endParaRPr lang="en-US" dirty="0"/>
          </a:p>
          <a:p>
            <a:pPr lvl="1"/>
            <a:r>
              <a:rPr lang="en-US" dirty="0"/>
              <a:t>that means </a:t>
            </a:r>
            <a:r>
              <a:rPr lang="en-US" b="1" dirty="0"/>
              <a:t>sometimes you can't know what type something is until runtime, no matter how clever your type system is.</a:t>
            </a:r>
          </a:p>
          <a:p>
            <a:r>
              <a:rPr lang="en-US" dirty="0"/>
              <a:t>so if you want programmers to have that (very useful!) ability, you have to design your type system to allow for it </a:t>
            </a:r>
            <a:r>
              <a:rPr lang="en-US" b="1" dirty="0"/>
              <a:t>in a safe way.</a:t>
            </a:r>
            <a:r>
              <a:rPr lang="en-US" dirty="0"/>
              <a:t> </a:t>
            </a:r>
          </a:p>
          <a:p>
            <a:pPr lvl="1"/>
            <a:r>
              <a:rPr lang="en-US" dirty="0"/>
              <a:t>we'll see some examples shortly.</a:t>
            </a:r>
          </a:p>
        </p:txBody>
      </p:sp>
      <p:sp>
        <p:nvSpPr>
          <p:cNvPr id="4" name="Slide Number Placeholder 3">
            <a:extLst>
              <a:ext uri="{FF2B5EF4-FFF2-40B4-BE49-F238E27FC236}">
                <a16:creationId xmlns:a16="http://schemas.microsoft.com/office/drawing/2014/main" id="{EC935DF8-9576-C34D-9999-1C5ED501ED81}"/>
              </a:ext>
            </a:extLst>
          </p:cNvPr>
          <p:cNvSpPr>
            <a:spLocks noGrp="1"/>
          </p:cNvSpPr>
          <p:nvPr>
            <p:ph type="sldNum" sz="quarter" idx="12"/>
          </p:nvPr>
        </p:nvSpPr>
        <p:spPr/>
        <p:txBody>
          <a:bodyPr/>
          <a:lstStyle/>
          <a:p>
            <a:fld id="{3552B95B-556F-44BD-91A5-D80C1B9E2BB3}" type="slidenum">
              <a:rPr lang="en-US" smtClean="0"/>
              <a:pPr/>
              <a:t>9</a:t>
            </a:fld>
            <a:endParaRPr lang="en-US"/>
          </a:p>
        </p:txBody>
      </p:sp>
    </p:spTree>
    <p:extLst>
      <p:ext uri="{BB962C8B-B14F-4D97-AF65-F5344CB8AC3E}">
        <p14:creationId xmlns:p14="http://schemas.microsoft.com/office/powerpoint/2010/main" val="319912495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53254-80A4-0344-87E0-A6980BA07BBE}"/>
              </a:ext>
            </a:extLst>
          </p:cNvPr>
          <p:cNvSpPr>
            <a:spLocks noGrp="1"/>
          </p:cNvSpPr>
          <p:nvPr>
            <p:ph type="ctrTitle"/>
          </p:nvPr>
        </p:nvSpPr>
        <p:spPr/>
        <p:txBody>
          <a:bodyPr/>
          <a:lstStyle/>
          <a:p>
            <a:r>
              <a:rPr lang="en-US" dirty="0"/>
              <a:t>Type systems</a:t>
            </a:r>
          </a:p>
        </p:txBody>
      </p:sp>
      <p:sp>
        <p:nvSpPr>
          <p:cNvPr id="3" name="Slide Number Placeholder 2">
            <a:extLst>
              <a:ext uri="{FF2B5EF4-FFF2-40B4-BE49-F238E27FC236}">
                <a16:creationId xmlns:a16="http://schemas.microsoft.com/office/drawing/2014/main" id="{6F8524DE-1D4D-8846-8CA5-A74A66A08284}"/>
              </a:ext>
            </a:extLst>
          </p:cNvPr>
          <p:cNvSpPr>
            <a:spLocks noGrp="1"/>
          </p:cNvSpPr>
          <p:nvPr>
            <p:ph type="sldNum" sz="quarter" idx="12"/>
          </p:nvPr>
        </p:nvSpPr>
        <p:spPr/>
        <p:txBody>
          <a:bodyPr/>
          <a:lstStyle/>
          <a:p>
            <a:fld id="{3552B95B-556F-44BD-91A5-D80C1B9E2BB3}" type="slidenum">
              <a:rPr lang="en-US" smtClean="0"/>
              <a:pPr/>
              <a:t>10</a:t>
            </a:fld>
            <a:endParaRPr lang="en-US"/>
          </a:p>
        </p:txBody>
      </p:sp>
    </p:spTree>
    <p:extLst>
      <p:ext uri="{BB962C8B-B14F-4D97-AF65-F5344CB8AC3E}">
        <p14:creationId xmlns:p14="http://schemas.microsoft.com/office/powerpoint/2010/main" val="147285860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AF9C9-8C3F-A347-A411-BD5F7EC61A47}"/>
              </a:ext>
            </a:extLst>
          </p:cNvPr>
          <p:cNvSpPr>
            <a:spLocks noGrp="1"/>
          </p:cNvSpPr>
          <p:nvPr>
            <p:ph type="title"/>
          </p:nvPr>
        </p:nvSpPr>
        <p:spPr/>
        <p:txBody>
          <a:bodyPr/>
          <a:lstStyle/>
          <a:p>
            <a:r>
              <a:rPr lang="en-US" dirty="0"/>
              <a:t>The primitive types</a:t>
            </a:r>
          </a:p>
        </p:txBody>
      </p:sp>
      <p:sp>
        <p:nvSpPr>
          <p:cNvPr id="3" name="Content Placeholder 2">
            <a:extLst>
              <a:ext uri="{FF2B5EF4-FFF2-40B4-BE49-F238E27FC236}">
                <a16:creationId xmlns:a16="http://schemas.microsoft.com/office/drawing/2014/main" id="{64D718DD-69C9-3A4D-9BFA-0D42930DB63A}"/>
              </a:ext>
            </a:extLst>
          </p:cNvPr>
          <p:cNvSpPr>
            <a:spLocks noGrp="1"/>
          </p:cNvSpPr>
          <p:nvPr>
            <p:ph idx="1"/>
          </p:nvPr>
        </p:nvSpPr>
        <p:spPr/>
        <p:txBody>
          <a:bodyPr/>
          <a:lstStyle/>
          <a:p>
            <a:r>
              <a:rPr lang="en-US" dirty="0"/>
              <a:t>a language's </a:t>
            </a:r>
            <a:r>
              <a:rPr lang="en-US" b="1" dirty="0"/>
              <a:t>problem domain</a:t>
            </a:r>
            <a:r>
              <a:rPr lang="en-US" dirty="0"/>
              <a:t> is the problems it's designed to solve.</a:t>
            </a:r>
          </a:p>
          <a:p>
            <a:pPr lvl="1"/>
            <a:r>
              <a:rPr lang="en-US" dirty="0"/>
              <a:t>most languages try to be "general purpose" and therefore give you relatively few, simple primitive types, like </a:t>
            </a:r>
            <a:r>
              <a:rPr lang="en-US" b="1" dirty="0"/>
              <a:t>int</a:t>
            </a:r>
            <a:r>
              <a:rPr lang="en-US" dirty="0"/>
              <a:t>, </a:t>
            </a:r>
            <a:r>
              <a:rPr lang="en-US" b="1" dirty="0"/>
              <a:t>char</a:t>
            </a:r>
            <a:r>
              <a:rPr lang="en-US" dirty="0"/>
              <a:t>, </a:t>
            </a:r>
            <a:r>
              <a:rPr lang="en-US" b="1" dirty="0"/>
              <a:t>bool</a:t>
            </a:r>
            <a:r>
              <a:rPr lang="en-US" dirty="0"/>
              <a:t>, etc.</a:t>
            </a:r>
          </a:p>
          <a:p>
            <a:r>
              <a:rPr lang="en-US" dirty="0"/>
              <a:t>the </a:t>
            </a:r>
            <a:r>
              <a:rPr lang="en-US" b="1" dirty="0"/>
              <a:t>hardware</a:t>
            </a:r>
            <a:r>
              <a:rPr lang="en-US" dirty="0"/>
              <a:t> also dictates what primitives are available.</a:t>
            </a:r>
          </a:p>
          <a:p>
            <a:pPr lvl="1"/>
            <a:r>
              <a:rPr lang="en-US" dirty="0"/>
              <a:t>e.g. on GPUs, 4-element vectors and 4x4 matrices are primitives!</a:t>
            </a:r>
          </a:p>
          <a:p>
            <a:r>
              <a:rPr lang="en-US" b="1" dirty="0"/>
              <a:t>domain-specific languages </a:t>
            </a:r>
            <a:r>
              <a:rPr lang="en-US" dirty="0"/>
              <a:t>(DSLs) are designed to do one job well.</a:t>
            </a:r>
          </a:p>
          <a:p>
            <a:pPr lvl="1"/>
            <a:r>
              <a:rPr lang="en-US" dirty="0"/>
              <a:t>these might have many primitive types, including types which don't seem very "primitive" at all.</a:t>
            </a:r>
          </a:p>
          <a:p>
            <a:pPr lvl="1"/>
            <a:r>
              <a:rPr lang="en-US" dirty="0"/>
              <a:t>for example, a shell scripting language may have primitive types like files, processes, and terminal emulators.</a:t>
            </a:r>
          </a:p>
          <a:p>
            <a:r>
              <a:rPr lang="en-US" dirty="0"/>
              <a:t>the set of primitive types is really a product of </a:t>
            </a:r>
            <a:r>
              <a:rPr lang="en-US" b="1" dirty="0"/>
              <a:t>what problems you want your language to be able to solve easily.</a:t>
            </a:r>
            <a:endParaRPr lang="en-US" dirty="0"/>
          </a:p>
        </p:txBody>
      </p:sp>
      <p:sp>
        <p:nvSpPr>
          <p:cNvPr id="4" name="Slide Number Placeholder 3">
            <a:extLst>
              <a:ext uri="{FF2B5EF4-FFF2-40B4-BE49-F238E27FC236}">
                <a16:creationId xmlns:a16="http://schemas.microsoft.com/office/drawing/2014/main" id="{C61B95E6-63D7-104D-BDFC-85E0488F7358}"/>
              </a:ext>
            </a:extLst>
          </p:cNvPr>
          <p:cNvSpPr>
            <a:spLocks noGrp="1"/>
          </p:cNvSpPr>
          <p:nvPr>
            <p:ph type="sldNum" sz="quarter" idx="12"/>
          </p:nvPr>
        </p:nvSpPr>
        <p:spPr/>
        <p:txBody>
          <a:bodyPr/>
          <a:lstStyle/>
          <a:p>
            <a:fld id="{3552B95B-556F-44BD-91A5-D80C1B9E2BB3}" type="slidenum">
              <a:rPr lang="en-US" smtClean="0"/>
              <a:pPr/>
              <a:t>11</a:t>
            </a:fld>
            <a:endParaRPr lang="en-US"/>
          </a:p>
        </p:txBody>
      </p:sp>
    </p:spTree>
    <p:extLst>
      <p:ext uri="{BB962C8B-B14F-4D97-AF65-F5344CB8AC3E}">
        <p14:creationId xmlns:p14="http://schemas.microsoft.com/office/powerpoint/2010/main" val="70356806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54B78-24C4-8E4E-854B-AF3905C44324}"/>
              </a:ext>
            </a:extLst>
          </p:cNvPr>
          <p:cNvSpPr>
            <a:spLocks noGrp="1"/>
          </p:cNvSpPr>
          <p:nvPr>
            <p:ph type="title"/>
          </p:nvPr>
        </p:nvSpPr>
        <p:spPr/>
        <p:txBody>
          <a:bodyPr/>
          <a:lstStyle/>
          <a:p>
            <a:r>
              <a:rPr lang="en-US" dirty="0"/>
              <a:t>Static vs. Dynamic typing</a:t>
            </a:r>
          </a:p>
        </p:txBody>
      </p:sp>
      <p:sp>
        <p:nvSpPr>
          <p:cNvPr id="3" name="Content Placeholder 2">
            <a:extLst>
              <a:ext uri="{FF2B5EF4-FFF2-40B4-BE49-F238E27FC236}">
                <a16:creationId xmlns:a16="http://schemas.microsoft.com/office/drawing/2014/main" id="{34F7759A-914A-AE4F-BB39-83B5BAB8B3EA}"/>
              </a:ext>
            </a:extLst>
          </p:cNvPr>
          <p:cNvSpPr>
            <a:spLocks noGrp="1"/>
          </p:cNvSpPr>
          <p:nvPr>
            <p:ph idx="1"/>
          </p:nvPr>
        </p:nvSpPr>
        <p:spPr>
          <a:xfrm>
            <a:off x="152400" y="495301"/>
            <a:ext cx="8991600" cy="495301"/>
          </a:xfrm>
        </p:spPr>
        <p:txBody>
          <a:bodyPr>
            <a:normAutofit/>
          </a:bodyPr>
          <a:lstStyle/>
          <a:p>
            <a:r>
              <a:rPr lang="en-US" dirty="0"/>
              <a:t>remember: </a:t>
            </a:r>
            <a:r>
              <a:rPr lang="en-US" b="1" dirty="0"/>
              <a:t>static </a:t>
            </a:r>
            <a:r>
              <a:rPr lang="en-US" dirty="0"/>
              <a:t>="before runtime;" </a:t>
            </a:r>
            <a:r>
              <a:rPr lang="en-US" b="1" dirty="0"/>
              <a:t>dynamic</a:t>
            </a:r>
            <a:r>
              <a:rPr lang="en-US" dirty="0"/>
              <a:t> = "at runtime."</a:t>
            </a:r>
            <a:endParaRPr lang="en-US" b="1" dirty="0"/>
          </a:p>
        </p:txBody>
      </p:sp>
      <p:sp>
        <p:nvSpPr>
          <p:cNvPr id="4" name="Slide Number Placeholder 3">
            <a:extLst>
              <a:ext uri="{FF2B5EF4-FFF2-40B4-BE49-F238E27FC236}">
                <a16:creationId xmlns:a16="http://schemas.microsoft.com/office/drawing/2014/main" id="{9CD4CE21-D82A-CD40-9C49-8DFF8348182C}"/>
              </a:ext>
            </a:extLst>
          </p:cNvPr>
          <p:cNvSpPr>
            <a:spLocks noGrp="1"/>
          </p:cNvSpPr>
          <p:nvPr>
            <p:ph type="sldNum" sz="quarter" idx="12"/>
          </p:nvPr>
        </p:nvSpPr>
        <p:spPr/>
        <p:txBody>
          <a:bodyPr/>
          <a:lstStyle/>
          <a:p>
            <a:fld id="{3552B95B-556F-44BD-91A5-D80C1B9E2BB3}" type="slidenum">
              <a:rPr lang="en-US" smtClean="0"/>
              <a:pPr/>
              <a:t>12</a:t>
            </a:fld>
            <a:endParaRPr lang="en-US"/>
          </a:p>
        </p:txBody>
      </p:sp>
      <p:sp>
        <p:nvSpPr>
          <p:cNvPr id="5" name="TextBox 4">
            <a:extLst>
              <a:ext uri="{FF2B5EF4-FFF2-40B4-BE49-F238E27FC236}">
                <a16:creationId xmlns:a16="http://schemas.microsoft.com/office/drawing/2014/main" id="{4DDED614-2CFB-0A41-9678-2A1EED4933C4}"/>
              </a:ext>
            </a:extLst>
          </p:cNvPr>
          <p:cNvSpPr txBox="1"/>
          <p:nvPr/>
        </p:nvSpPr>
        <p:spPr>
          <a:xfrm>
            <a:off x="219075" y="990602"/>
            <a:ext cx="4038124" cy="769441"/>
          </a:xfrm>
          <a:prstGeom prst="rect">
            <a:avLst/>
          </a:prstGeom>
          <a:noFill/>
        </p:spPr>
        <p:txBody>
          <a:bodyPr wrap="square" rtlCol="0">
            <a:spAutoFit/>
          </a:bodyPr>
          <a:lstStyle/>
          <a:p>
            <a:pPr algn="ctr"/>
            <a:r>
              <a:rPr lang="en-US" sz="2200" b="1" dirty="0"/>
              <a:t>statically typed languages</a:t>
            </a:r>
            <a:r>
              <a:rPr lang="en-US" sz="2200" dirty="0"/>
              <a:t> associate types with </a:t>
            </a:r>
            <a:r>
              <a:rPr lang="en-US" sz="2200" i="1" dirty="0"/>
              <a:t>variables.</a:t>
            </a:r>
            <a:endParaRPr lang="en-US" sz="2200" b="1" i="1" dirty="0"/>
          </a:p>
        </p:txBody>
      </p:sp>
      <p:sp>
        <p:nvSpPr>
          <p:cNvPr id="6" name="TextBox 5">
            <a:extLst>
              <a:ext uri="{FF2B5EF4-FFF2-40B4-BE49-F238E27FC236}">
                <a16:creationId xmlns:a16="http://schemas.microsoft.com/office/drawing/2014/main" id="{A72EF99B-FE5E-8A40-B11F-5543A8E01DA8}"/>
              </a:ext>
            </a:extLst>
          </p:cNvPr>
          <p:cNvSpPr txBox="1"/>
          <p:nvPr/>
        </p:nvSpPr>
        <p:spPr>
          <a:xfrm>
            <a:off x="4762976" y="990604"/>
            <a:ext cx="4038124" cy="769441"/>
          </a:xfrm>
          <a:prstGeom prst="rect">
            <a:avLst/>
          </a:prstGeom>
          <a:noFill/>
        </p:spPr>
        <p:txBody>
          <a:bodyPr wrap="square" rtlCol="0">
            <a:spAutoFit/>
          </a:bodyPr>
          <a:lstStyle/>
          <a:p>
            <a:pPr algn="ctr"/>
            <a:r>
              <a:rPr lang="en-US" sz="2200" b="1" dirty="0"/>
              <a:t>dynamically typed languages</a:t>
            </a:r>
            <a:r>
              <a:rPr lang="en-US" sz="2200" dirty="0"/>
              <a:t> associate types with </a:t>
            </a:r>
            <a:r>
              <a:rPr lang="en-US" sz="2200" i="1" dirty="0"/>
              <a:t>values.</a:t>
            </a:r>
            <a:endParaRPr lang="en-US" sz="2200" b="1" i="1" dirty="0"/>
          </a:p>
        </p:txBody>
      </p:sp>
      <p:sp>
        <p:nvSpPr>
          <p:cNvPr id="7" name="Rectangle 6">
            <a:extLst>
              <a:ext uri="{FF2B5EF4-FFF2-40B4-BE49-F238E27FC236}">
                <a16:creationId xmlns:a16="http://schemas.microsoft.com/office/drawing/2014/main" id="{49A51595-C3F7-D949-9643-52EC4439E4D5}"/>
              </a:ext>
            </a:extLst>
          </p:cNvPr>
          <p:cNvSpPr/>
          <p:nvPr/>
        </p:nvSpPr>
        <p:spPr>
          <a:xfrm>
            <a:off x="509350" y="1830859"/>
            <a:ext cx="3457574" cy="1569660"/>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let </a:t>
            </a:r>
            <a:r>
              <a:rPr lang="en-US" sz="2400" b="1" dirty="0" err="1">
                <a:solidFill>
                  <a:srgbClr val="FF0000"/>
                </a:solidFill>
                <a:latin typeface="Consolas" panose="020B0609020204030204" pitchFamily="49" charset="0"/>
                <a:cs typeface="Consolas" panose="020B0609020204030204" pitchFamily="49" charset="0"/>
              </a:rPr>
              <a:t>mut</a:t>
            </a:r>
            <a:r>
              <a:rPr lang="en-US" sz="2400" b="1" dirty="0">
                <a:latin typeface="Consolas" panose="020B0609020204030204" pitchFamily="49" charset="0"/>
                <a:cs typeface="Consolas" panose="020B0609020204030204" pitchFamily="49" charset="0"/>
              </a:rPr>
              <a:t> a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20</a:t>
            </a:r>
            <a:r>
              <a:rPr lang="en-US" sz="2400" b="1" dirty="0">
                <a:latin typeface="Consolas" panose="020B0609020204030204" pitchFamily="49" charset="0"/>
                <a:cs typeface="Consolas" panose="020B0609020204030204" pitchFamily="49" charset="0"/>
              </a:rPr>
              <a:t>;      </a:t>
            </a:r>
            <a:r>
              <a:rPr lang="en-US" sz="2400" dirty="0">
                <a:solidFill>
                  <a:schemeClr val="accent3">
                    <a:lumMod val="50000"/>
                  </a:schemeClr>
                </a:solidFill>
                <a:latin typeface="Consolas" panose="020B0609020204030204" pitchFamily="49" charset="0"/>
                <a:cs typeface="Consolas" panose="020B0609020204030204" pitchFamily="49" charset="0"/>
              </a:rPr>
              <a:t>// ok</a:t>
            </a:r>
          </a:p>
          <a:p>
            <a:r>
              <a:rPr lang="en-US" sz="2400" b="1" dirty="0">
                <a:latin typeface="Consolas" panose="020B0609020204030204" pitchFamily="49" charset="0"/>
                <a:cs typeface="Consolas" panose="020B0609020204030204" pitchFamily="49" charset="0"/>
              </a:rPr>
              <a:t>a = </a:t>
            </a:r>
            <a:r>
              <a:rPr lang="en-US" sz="2400" b="1" dirty="0">
                <a:solidFill>
                  <a:schemeClr val="accent6">
                    <a:lumMod val="75000"/>
                  </a:schemeClr>
                </a:solidFill>
                <a:latin typeface="Consolas" panose="020B0609020204030204" pitchFamily="49" charset="0"/>
                <a:cs typeface="Consolas" panose="020B0609020204030204" pitchFamily="49" charset="0"/>
              </a:rPr>
              <a:t>"hello"</a:t>
            </a:r>
            <a:r>
              <a:rPr lang="en-US" sz="2400" b="1" dirty="0">
                <a:latin typeface="Consolas" panose="020B0609020204030204" pitchFamily="49" charset="0"/>
                <a:cs typeface="Consolas" panose="020B0609020204030204" pitchFamily="49" charset="0"/>
              </a:rPr>
              <a:t>; </a:t>
            </a:r>
            <a:r>
              <a:rPr lang="en-US" sz="2400" dirty="0">
                <a:solidFill>
                  <a:schemeClr val="accent3">
                    <a:lumMod val="50000"/>
                  </a:schemeClr>
                </a:solidFill>
                <a:latin typeface="Consolas" panose="020B0609020204030204" pitchFamily="49" charset="0"/>
                <a:cs typeface="Consolas" panose="020B0609020204030204" pitchFamily="49" charset="0"/>
              </a:rPr>
              <a:t>// bad</a:t>
            </a:r>
          </a:p>
          <a:p>
            <a:r>
              <a:rPr lang="en-US" sz="2400" b="1" dirty="0">
                <a:latin typeface="Consolas" panose="020B0609020204030204" pitchFamily="49" charset="0"/>
                <a:cs typeface="Consolas" panose="020B0609020204030204" pitchFamily="49" charset="0"/>
              </a:rPr>
              <a:t>a = a / </a:t>
            </a:r>
            <a:r>
              <a:rPr lang="en-US" sz="2400" b="1" dirty="0">
                <a:solidFill>
                  <a:schemeClr val="accent3">
                    <a:lumMod val="75000"/>
                  </a:schemeClr>
                </a:solidFill>
                <a:latin typeface="Consolas" panose="020B0609020204030204" pitchFamily="49" charset="0"/>
                <a:cs typeface="Consolas" panose="020B0609020204030204" pitchFamily="49" charset="0"/>
              </a:rPr>
              <a:t>2</a:t>
            </a:r>
            <a:r>
              <a:rPr lang="en-US" sz="2400" b="1" dirty="0">
                <a:latin typeface="Consolas" panose="020B0609020204030204" pitchFamily="49" charset="0"/>
                <a:cs typeface="Consolas" panose="020B0609020204030204" pitchFamily="49" charset="0"/>
              </a:rPr>
              <a:t>;   </a:t>
            </a:r>
            <a:r>
              <a:rPr lang="en-US" sz="2400" dirty="0">
                <a:solidFill>
                  <a:schemeClr val="accent3">
                    <a:lumMod val="50000"/>
                  </a:schemeClr>
                </a:solidFill>
                <a:latin typeface="Consolas" panose="020B0609020204030204" pitchFamily="49" charset="0"/>
                <a:cs typeface="Consolas" panose="020B0609020204030204" pitchFamily="49" charset="0"/>
              </a:rPr>
              <a:t>// ok</a:t>
            </a:r>
          </a:p>
        </p:txBody>
      </p:sp>
      <p:sp>
        <p:nvSpPr>
          <p:cNvPr id="8" name="Rectangle 7">
            <a:extLst>
              <a:ext uri="{FF2B5EF4-FFF2-40B4-BE49-F238E27FC236}">
                <a16:creationId xmlns:a16="http://schemas.microsoft.com/office/drawing/2014/main" id="{8AE86E59-F766-134A-9D8A-C6A170228F3F}"/>
              </a:ext>
            </a:extLst>
          </p:cNvPr>
          <p:cNvSpPr/>
          <p:nvPr/>
        </p:nvSpPr>
        <p:spPr>
          <a:xfrm>
            <a:off x="5053250" y="1832918"/>
            <a:ext cx="3457575" cy="1569660"/>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let</a:t>
            </a:r>
            <a:r>
              <a:rPr lang="en-US" sz="2400" b="1" dirty="0">
                <a:latin typeface="Consolas" panose="020B0609020204030204" pitchFamily="49" charset="0"/>
                <a:cs typeface="Consolas" panose="020B0609020204030204" pitchFamily="49" charset="0"/>
              </a:rPr>
              <a:t> a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  </a:t>
            </a:r>
            <a:r>
              <a:rPr lang="en-US" sz="2400" dirty="0">
                <a:solidFill>
                  <a:schemeClr val="accent3">
                    <a:lumMod val="50000"/>
                  </a:schemeClr>
                </a:solidFill>
                <a:latin typeface="Consolas" panose="020B0609020204030204" pitchFamily="49" charset="0"/>
                <a:cs typeface="Consolas" panose="020B0609020204030204" pitchFamily="49" charset="0"/>
              </a:rPr>
              <a:t>// JS</a:t>
            </a:r>
          </a:p>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20</a:t>
            </a:r>
            <a:r>
              <a:rPr lang="en-US" sz="2400" b="1" dirty="0">
                <a:latin typeface="Consolas" panose="020B0609020204030204" pitchFamily="49" charset="0"/>
                <a:cs typeface="Consolas" panose="020B0609020204030204" pitchFamily="49" charset="0"/>
              </a:rPr>
              <a:t>;      </a:t>
            </a:r>
            <a:r>
              <a:rPr lang="en-US" sz="2400" dirty="0">
                <a:solidFill>
                  <a:schemeClr val="accent3">
                    <a:lumMod val="50000"/>
                  </a:schemeClr>
                </a:solidFill>
                <a:latin typeface="Consolas" panose="020B0609020204030204" pitchFamily="49" charset="0"/>
                <a:cs typeface="Consolas" panose="020B0609020204030204" pitchFamily="49" charset="0"/>
              </a:rPr>
              <a:t>// ok</a:t>
            </a:r>
          </a:p>
          <a:p>
            <a:r>
              <a:rPr lang="en-US" sz="2400" b="1" dirty="0">
                <a:latin typeface="Consolas" panose="020B0609020204030204" pitchFamily="49" charset="0"/>
                <a:cs typeface="Consolas" panose="020B0609020204030204" pitchFamily="49" charset="0"/>
              </a:rPr>
              <a:t>a = </a:t>
            </a:r>
            <a:r>
              <a:rPr lang="en-US" sz="2400" b="1" dirty="0">
                <a:solidFill>
                  <a:schemeClr val="accent6">
                    <a:lumMod val="75000"/>
                  </a:schemeClr>
                </a:solidFill>
                <a:latin typeface="Consolas" panose="020B0609020204030204" pitchFamily="49" charset="0"/>
                <a:cs typeface="Consolas" panose="020B0609020204030204" pitchFamily="49" charset="0"/>
              </a:rPr>
              <a:t>"hello"</a:t>
            </a:r>
            <a:r>
              <a:rPr lang="en-US" sz="2400" b="1" dirty="0">
                <a:latin typeface="Consolas" panose="020B0609020204030204" pitchFamily="49" charset="0"/>
                <a:cs typeface="Consolas" panose="020B0609020204030204" pitchFamily="49" charset="0"/>
              </a:rPr>
              <a:t>; </a:t>
            </a:r>
            <a:r>
              <a:rPr lang="en-US" sz="2400" dirty="0">
                <a:solidFill>
                  <a:schemeClr val="accent3">
                    <a:lumMod val="50000"/>
                  </a:schemeClr>
                </a:solidFill>
                <a:latin typeface="Consolas" panose="020B0609020204030204" pitchFamily="49" charset="0"/>
                <a:cs typeface="Consolas" panose="020B0609020204030204" pitchFamily="49" charset="0"/>
              </a:rPr>
              <a:t>// ok!</a:t>
            </a:r>
          </a:p>
          <a:p>
            <a:r>
              <a:rPr lang="en-US" sz="2400" b="1" dirty="0">
                <a:latin typeface="Consolas" panose="020B0609020204030204" pitchFamily="49" charset="0"/>
                <a:cs typeface="Consolas" panose="020B0609020204030204" pitchFamily="49" charset="0"/>
              </a:rPr>
              <a:t>a = a / </a:t>
            </a:r>
            <a:r>
              <a:rPr lang="en-US" sz="2400" b="1" dirty="0">
                <a:solidFill>
                  <a:schemeClr val="accent3">
                    <a:lumMod val="75000"/>
                  </a:schemeClr>
                </a:solidFill>
                <a:latin typeface="Consolas" panose="020B0609020204030204" pitchFamily="49" charset="0"/>
                <a:cs typeface="Consolas" panose="020B0609020204030204" pitchFamily="49" charset="0"/>
              </a:rPr>
              <a:t>2</a:t>
            </a:r>
            <a:r>
              <a:rPr lang="en-US" sz="2400" b="1" dirty="0">
                <a:latin typeface="Consolas" panose="020B0609020204030204" pitchFamily="49" charset="0"/>
                <a:cs typeface="Consolas" panose="020B0609020204030204" pitchFamily="49" charset="0"/>
              </a:rPr>
              <a:t>;   </a:t>
            </a:r>
            <a:r>
              <a:rPr lang="en-US" sz="2400" dirty="0">
                <a:solidFill>
                  <a:schemeClr val="accent3">
                    <a:lumMod val="50000"/>
                  </a:schemeClr>
                </a:solidFill>
                <a:latin typeface="Consolas" panose="020B0609020204030204" pitchFamily="49" charset="0"/>
                <a:cs typeface="Consolas" panose="020B0609020204030204" pitchFamily="49" charset="0"/>
              </a:rPr>
              <a:t>// bad</a:t>
            </a:r>
          </a:p>
        </p:txBody>
      </p:sp>
      <p:sp>
        <p:nvSpPr>
          <p:cNvPr id="11" name="TextBox 10">
            <a:extLst>
              <a:ext uri="{FF2B5EF4-FFF2-40B4-BE49-F238E27FC236}">
                <a16:creationId xmlns:a16="http://schemas.microsoft.com/office/drawing/2014/main" id="{22FD7D7C-353B-1C40-AE41-469D435A31CD}"/>
              </a:ext>
            </a:extLst>
          </p:cNvPr>
          <p:cNvSpPr txBox="1"/>
          <p:nvPr/>
        </p:nvSpPr>
        <p:spPr>
          <a:xfrm>
            <a:off x="1524000" y="3471335"/>
            <a:ext cx="6096000" cy="769441"/>
          </a:xfrm>
          <a:prstGeom prst="rect">
            <a:avLst/>
          </a:prstGeom>
          <a:noFill/>
        </p:spPr>
        <p:txBody>
          <a:bodyPr wrap="square" rtlCol="0">
            <a:spAutoFit/>
          </a:bodyPr>
          <a:lstStyle/>
          <a:p>
            <a:pPr algn="ctr"/>
            <a:r>
              <a:rPr lang="en-US" sz="2200" dirty="0"/>
              <a:t>in dynamically typed languages, </a:t>
            </a:r>
            <a:r>
              <a:rPr lang="en-US" sz="2200" b="1" dirty="0">
                <a:solidFill>
                  <a:srgbClr val="FF0000"/>
                </a:solidFill>
              </a:rPr>
              <a:t>type errors cannot be found until you run the program.</a:t>
            </a:r>
            <a:endParaRPr lang="en-US" sz="2200" i="1" dirty="0">
              <a:solidFill>
                <a:srgbClr val="FF0000"/>
              </a:solidFill>
            </a:endParaRPr>
          </a:p>
        </p:txBody>
      </p:sp>
      <p:sp>
        <p:nvSpPr>
          <p:cNvPr id="12" name="TextBox 11">
            <a:extLst>
              <a:ext uri="{FF2B5EF4-FFF2-40B4-BE49-F238E27FC236}">
                <a16:creationId xmlns:a16="http://schemas.microsoft.com/office/drawing/2014/main" id="{A988D52A-FD14-F141-94F5-4341CF8B2E01}"/>
              </a:ext>
            </a:extLst>
          </p:cNvPr>
          <p:cNvSpPr txBox="1"/>
          <p:nvPr/>
        </p:nvSpPr>
        <p:spPr>
          <a:xfrm>
            <a:off x="1295400" y="4384147"/>
            <a:ext cx="6705600" cy="769441"/>
          </a:xfrm>
          <a:prstGeom prst="rect">
            <a:avLst/>
          </a:prstGeom>
          <a:noFill/>
        </p:spPr>
        <p:txBody>
          <a:bodyPr wrap="square" rtlCol="0">
            <a:spAutoFit/>
          </a:bodyPr>
          <a:lstStyle/>
          <a:p>
            <a:pPr algn="ctr"/>
            <a:r>
              <a:rPr lang="en-US" sz="2200" dirty="0"/>
              <a:t>but this is a </a:t>
            </a:r>
            <a:r>
              <a:rPr lang="en-US" sz="2200" i="1" dirty="0"/>
              <a:t>spectrum: </a:t>
            </a:r>
            <a:r>
              <a:rPr lang="en-US" sz="2200" dirty="0"/>
              <a:t>many statically-typed languages </a:t>
            </a:r>
            <a:r>
              <a:rPr lang="en-US" sz="2200" i="1" dirty="0"/>
              <a:t>include</a:t>
            </a:r>
            <a:r>
              <a:rPr lang="en-US" sz="2200" dirty="0"/>
              <a:t> dynamically-typed features too!</a:t>
            </a:r>
            <a:endParaRPr lang="en-US" sz="2200" i="1" dirty="0">
              <a:solidFill>
                <a:srgbClr val="FF0000"/>
              </a:solidFill>
            </a:endParaRPr>
          </a:p>
        </p:txBody>
      </p:sp>
    </p:spTree>
    <p:extLst>
      <p:ext uri="{BB962C8B-B14F-4D97-AF65-F5344CB8AC3E}">
        <p14:creationId xmlns:p14="http://schemas.microsoft.com/office/powerpoint/2010/main" val="31127863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build="p" bldLvl="5"/>
      <p:bldP spid="8" grpId="0" build="p" bldLvl="5"/>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F373F-419D-4748-AB50-095E5FB0E94E}"/>
              </a:ext>
            </a:extLst>
          </p:cNvPr>
          <p:cNvSpPr>
            <a:spLocks noGrp="1"/>
          </p:cNvSpPr>
          <p:nvPr>
            <p:ph type="title"/>
          </p:nvPr>
        </p:nvSpPr>
        <p:spPr/>
        <p:txBody>
          <a:bodyPr/>
          <a:lstStyle/>
          <a:p>
            <a:r>
              <a:rPr lang="en-US" dirty="0"/>
              <a:t>Dynamic types in static languages</a:t>
            </a:r>
          </a:p>
        </p:txBody>
      </p:sp>
      <p:sp>
        <p:nvSpPr>
          <p:cNvPr id="3" name="Content Placeholder 2">
            <a:extLst>
              <a:ext uri="{FF2B5EF4-FFF2-40B4-BE49-F238E27FC236}">
                <a16:creationId xmlns:a16="http://schemas.microsoft.com/office/drawing/2014/main" id="{45ED94C9-72B3-8345-ADB3-7C0B911A6A67}"/>
              </a:ext>
            </a:extLst>
          </p:cNvPr>
          <p:cNvSpPr>
            <a:spLocks noGrp="1"/>
          </p:cNvSpPr>
          <p:nvPr>
            <p:ph idx="1"/>
          </p:nvPr>
        </p:nvSpPr>
        <p:spPr>
          <a:xfrm>
            <a:off x="152400" y="495301"/>
            <a:ext cx="8991600" cy="495301"/>
          </a:xfrm>
        </p:spPr>
        <p:txBody>
          <a:bodyPr/>
          <a:lstStyle/>
          <a:p>
            <a:r>
              <a:rPr lang="en-US" dirty="0"/>
              <a:t>sometimes it's </a:t>
            </a:r>
            <a:r>
              <a:rPr lang="en-US" i="1" dirty="0"/>
              <a:t>useful</a:t>
            </a:r>
            <a:r>
              <a:rPr lang="en-US" dirty="0"/>
              <a:t> not to know the type until runtime.</a:t>
            </a:r>
          </a:p>
        </p:txBody>
      </p:sp>
      <p:sp>
        <p:nvSpPr>
          <p:cNvPr id="4" name="Slide Number Placeholder 3">
            <a:extLst>
              <a:ext uri="{FF2B5EF4-FFF2-40B4-BE49-F238E27FC236}">
                <a16:creationId xmlns:a16="http://schemas.microsoft.com/office/drawing/2014/main" id="{AE936571-2548-BB47-94B7-B4697094C387}"/>
              </a:ext>
            </a:extLst>
          </p:cNvPr>
          <p:cNvSpPr>
            <a:spLocks noGrp="1"/>
          </p:cNvSpPr>
          <p:nvPr>
            <p:ph type="sldNum" sz="quarter" idx="12"/>
          </p:nvPr>
        </p:nvSpPr>
        <p:spPr/>
        <p:txBody>
          <a:bodyPr/>
          <a:lstStyle/>
          <a:p>
            <a:fld id="{3552B95B-556F-44BD-91A5-D80C1B9E2BB3}" type="slidenum">
              <a:rPr lang="en-US" smtClean="0"/>
              <a:pPr/>
              <a:t>13</a:t>
            </a:fld>
            <a:endParaRPr lang="en-US"/>
          </a:p>
        </p:txBody>
      </p:sp>
      <p:sp>
        <p:nvSpPr>
          <p:cNvPr id="5" name="TextBox 4">
            <a:extLst>
              <a:ext uri="{FF2B5EF4-FFF2-40B4-BE49-F238E27FC236}">
                <a16:creationId xmlns:a16="http://schemas.microsoft.com/office/drawing/2014/main" id="{1EBA52BC-5947-174D-A5FE-C36543F03DFA}"/>
              </a:ext>
            </a:extLst>
          </p:cNvPr>
          <p:cNvSpPr txBox="1"/>
          <p:nvPr/>
        </p:nvSpPr>
        <p:spPr>
          <a:xfrm>
            <a:off x="381000" y="1000127"/>
            <a:ext cx="7181774" cy="3816429"/>
          </a:xfrm>
          <a:prstGeom prst="rect">
            <a:avLst/>
          </a:prstGeom>
          <a:noFill/>
        </p:spPr>
        <p:txBody>
          <a:bodyPr wrap="none" rtlCol="0">
            <a:spAutoFit/>
          </a:bodyPr>
          <a:lstStyle/>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A { String </a:t>
            </a:r>
            <a:r>
              <a:rPr lang="en-US" sz="2200" b="1" dirty="0" err="1">
                <a:latin typeface="Consolas" panose="020B0609020204030204" pitchFamily="49" charset="0"/>
                <a:cs typeface="Consolas" panose="020B0609020204030204" pitchFamily="49" charset="0"/>
              </a:rPr>
              <a:t>toString</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 </a:t>
            </a:r>
            <a:r>
              <a:rPr lang="en-US" sz="2200" b="1" dirty="0">
                <a:solidFill>
                  <a:schemeClr val="accent6">
                    <a:lumMod val="75000"/>
                  </a:schemeClr>
                </a:solidFill>
                <a:latin typeface="Consolas" panose="020B0609020204030204" pitchFamily="49" charset="0"/>
                <a:cs typeface="Consolas" panose="020B0609020204030204" pitchFamily="49" charset="0"/>
              </a:rPr>
              <a:t>"A"</a:t>
            </a:r>
            <a:r>
              <a:rPr lang="en-US" sz="2200" b="1" dirty="0">
                <a:latin typeface="Consolas" panose="020B0609020204030204" pitchFamily="49" charset="0"/>
                <a:cs typeface="Consolas" panose="020B0609020204030204" pitchFamily="49" charset="0"/>
              </a:rPr>
              <a:t>; } }</a:t>
            </a:r>
          </a:p>
          <a:p>
            <a:r>
              <a:rPr lang="en-US" sz="2200" b="1" dirty="0">
                <a:solidFill>
                  <a:srgbClr val="FF0000"/>
                </a:solidFill>
                <a:latin typeface="Consolas" panose="020B0609020204030204" pitchFamily="49" charset="0"/>
                <a:cs typeface="Consolas" panose="020B0609020204030204" pitchFamily="49" charset="0"/>
              </a:rPr>
              <a:t>class</a:t>
            </a:r>
            <a:r>
              <a:rPr lang="en-US" sz="2200" b="1" dirty="0">
                <a:latin typeface="Consolas" panose="020B0609020204030204" pitchFamily="49" charset="0"/>
                <a:cs typeface="Consolas" panose="020B0609020204030204" pitchFamily="49" charset="0"/>
              </a:rPr>
              <a:t> B { String </a:t>
            </a:r>
            <a:r>
              <a:rPr lang="en-US" sz="2200" b="1" dirty="0" err="1">
                <a:latin typeface="Consolas" panose="020B0609020204030204" pitchFamily="49" charset="0"/>
                <a:cs typeface="Consolas" panose="020B0609020204030204" pitchFamily="49" charset="0"/>
              </a:rPr>
              <a:t>toString</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 </a:t>
            </a:r>
            <a:r>
              <a:rPr lang="en-US" sz="2200" b="1" dirty="0">
                <a:solidFill>
                  <a:schemeClr val="accent6">
                    <a:lumMod val="75000"/>
                  </a:schemeClr>
                </a:solidFill>
                <a:latin typeface="Consolas" panose="020B0609020204030204" pitchFamily="49" charset="0"/>
                <a:cs typeface="Consolas" panose="020B0609020204030204" pitchFamily="49" charset="0"/>
              </a:rPr>
              <a:t>"B"</a:t>
            </a:r>
            <a:r>
              <a:rPr lang="en-US" sz="2200" b="1" dirty="0">
                <a:latin typeface="Consolas" panose="020B0609020204030204" pitchFamily="49" charset="0"/>
                <a:cs typeface="Consolas" panose="020B0609020204030204" pitchFamily="49" charset="0"/>
              </a:rPr>
              <a:t>; } }</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Object o;</a:t>
            </a:r>
          </a:p>
          <a:p>
            <a:endParaRPr lang="en-US" sz="2200" b="1" dirty="0">
              <a:latin typeface="Consolas" panose="020B0609020204030204" pitchFamily="49" charset="0"/>
              <a:cs typeface="Consolas" panose="020B0609020204030204" pitchFamily="49" charset="0"/>
            </a:endParaRPr>
          </a:p>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(user types A)</a:t>
            </a:r>
          </a:p>
          <a:p>
            <a:r>
              <a:rPr lang="en-US" sz="2200" b="1" dirty="0">
                <a:latin typeface="Consolas" panose="020B0609020204030204" pitchFamily="49" charset="0"/>
                <a:cs typeface="Consolas" panose="020B0609020204030204" pitchFamily="49" charset="0"/>
              </a:rPr>
              <a:t>  o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a:t>
            </a:r>
          </a:p>
          <a:p>
            <a:r>
              <a:rPr lang="en-US" sz="2200" b="1" dirty="0">
                <a:solidFill>
                  <a:srgbClr val="FF0000"/>
                </a:solidFill>
                <a:latin typeface="Consolas" panose="020B0609020204030204" pitchFamily="49" charset="0"/>
                <a:cs typeface="Consolas" panose="020B0609020204030204" pitchFamily="49" charset="0"/>
              </a:rPr>
              <a:t>else</a:t>
            </a:r>
          </a:p>
          <a:p>
            <a:r>
              <a:rPr lang="en-US" sz="2200" b="1" dirty="0">
                <a:latin typeface="Consolas" panose="020B0609020204030204" pitchFamily="49" charset="0"/>
                <a:cs typeface="Consolas" panose="020B0609020204030204" pitchFamily="49" charset="0"/>
              </a:rPr>
              <a:t>  o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B();</a:t>
            </a:r>
            <a:br>
              <a:rPr lang="en-US" sz="2200" b="1" dirty="0">
                <a:latin typeface="Consolas" panose="020B0609020204030204" pitchFamily="49" charset="0"/>
                <a:cs typeface="Consolas" panose="020B0609020204030204" pitchFamily="49" charset="0"/>
              </a:rPr>
            </a:br>
            <a:endParaRPr lang="en-US" sz="2200" b="1" dirty="0">
              <a:latin typeface="Consolas" panose="020B0609020204030204" pitchFamily="49" charset="0"/>
              <a:cs typeface="Consolas" panose="020B0609020204030204" pitchFamily="49" charset="0"/>
            </a:endParaRPr>
          </a:p>
          <a:p>
            <a:r>
              <a:rPr lang="en-US" sz="2200" b="1" dirty="0" err="1">
                <a:latin typeface="Consolas" panose="020B0609020204030204" pitchFamily="49" charset="0"/>
                <a:cs typeface="Consolas" panose="020B0609020204030204" pitchFamily="49" charset="0"/>
              </a:rPr>
              <a:t>o.toString</a:t>
            </a:r>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A3606FA6-E954-7E4B-8A77-D9697F588A97}"/>
              </a:ext>
            </a:extLst>
          </p:cNvPr>
          <p:cNvSpPr txBox="1"/>
          <p:nvPr/>
        </p:nvSpPr>
        <p:spPr>
          <a:xfrm>
            <a:off x="3505200" y="1989619"/>
            <a:ext cx="5029200" cy="769441"/>
          </a:xfrm>
          <a:prstGeom prst="rect">
            <a:avLst/>
          </a:prstGeom>
          <a:noFill/>
        </p:spPr>
        <p:txBody>
          <a:bodyPr wrap="square" rtlCol="0">
            <a:spAutoFit/>
          </a:bodyPr>
          <a:lstStyle/>
          <a:p>
            <a:pPr algn="ctr"/>
            <a:r>
              <a:rPr lang="en-US" sz="2200" dirty="0"/>
              <a:t>this works because of Java's </a:t>
            </a:r>
            <a:r>
              <a:rPr lang="en-US" sz="2200" b="1" dirty="0"/>
              <a:t>subtyping</a:t>
            </a:r>
            <a:r>
              <a:rPr lang="en-US" sz="2200" i="1" dirty="0"/>
              <a:t> </a:t>
            </a:r>
            <a:r>
              <a:rPr lang="en-US" sz="2200" dirty="0"/>
              <a:t>rules and </a:t>
            </a:r>
            <a:r>
              <a:rPr lang="en-US" sz="2200" b="1" dirty="0"/>
              <a:t>virtual methods.</a:t>
            </a:r>
            <a:endParaRPr lang="en-US" sz="2200" i="1" dirty="0">
              <a:solidFill>
                <a:srgbClr val="FF0000"/>
              </a:solidFill>
            </a:endParaRPr>
          </a:p>
        </p:txBody>
      </p:sp>
      <p:sp>
        <p:nvSpPr>
          <p:cNvPr id="7" name="TextBox 6">
            <a:extLst>
              <a:ext uri="{FF2B5EF4-FFF2-40B4-BE49-F238E27FC236}">
                <a16:creationId xmlns:a16="http://schemas.microsoft.com/office/drawing/2014/main" id="{EE61722C-A444-7D40-B956-B67BB0DE44BC}"/>
              </a:ext>
            </a:extLst>
          </p:cNvPr>
          <p:cNvSpPr txBox="1"/>
          <p:nvPr/>
        </p:nvSpPr>
        <p:spPr>
          <a:xfrm>
            <a:off x="2971800" y="2979111"/>
            <a:ext cx="6096000" cy="769441"/>
          </a:xfrm>
          <a:prstGeom prst="rect">
            <a:avLst/>
          </a:prstGeom>
          <a:noFill/>
        </p:spPr>
        <p:txBody>
          <a:bodyPr wrap="square" rtlCol="0">
            <a:spAutoFit/>
          </a:bodyPr>
          <a:lstStyle/>
          <a:p>
            <a:pPr algn="ctr"/>
            <a:r>
              <a:rPr lang="en-US" sz="2200" dirty="0"/>
              <a:t>calling </a:t>
            </a:r>
            <a:r>
              <a:rPr lang="en-US" sz="2200" b="1" dirty="0" err="1"/>
              <a:t>toString</a:t>
            </a:r>
            <a:r>
              <a:rPr lang="en-US" sz="2200" b="1" dirty="0"/>
              <a:t>()</a:t>
            </a:r>
            <a:r>
              <a:rPr lang="en-US" sz="2200" dirty="0"/>
              <a:t> is a valid operation on any </a:t>
            </a:r>
            <a:r>
              <a:rPr lang="en-US" sz="2200" b="1" dirty="0"/>
              <a:t>Object</a:t>
            </a:r>
            <a:r>
              <a:rPr lang="en-US" sz="2200" dirty="0"/>
              <a:t>, and every class instance is an </a:t>
            </a:r>
            <a:r>
              <a:rPr lang="en-US" sz="2200" b="1" dirty="0"/>
              <a:t>Object</a:t>
            </a:r>
            <a:r>
              <a:rPr lang="en-US" sz="2200" dirty="0"/>
              <a:t>.</a:t>
            </a:r>
            <a:endParaRPr lang="en-US" sz="2200" i="1" dirty="0">
              <a:solidFill>
                <a:srgbClr val="FF0000"/>
              </a:solidFill>
            </a:endParaRPr>
          </a:p>
        </p:txBody>
      </p:sp>
      <p:sp>
        <p:nvSpPr>
          <p:cNvPr id="8" name="TextBox 7">
            <a:extLst>
              <a:ext uri="{FF2B5EF4-FFF2-40B4-BE49-F238E27FC236}">
                <a16:creationId xmlns:a16="http://schemas.microsoft.com/office/drawing/2014/main" id="{EC3F55CE-7CFB-A74E-849B-C3D027884F86}"/>
              </a:ext>
            </a:extLst>
          </p:cNvPr>
          <p:cNvSpPr txBox="1"/>
          <p:nvPr/>
        </p:nvSpPr>
        <p:spPr>
          <a:xfrm>
            <a:off x="2971800" y="3995285"/>
            <a:ext cx="6096000" cy="1107996"/>
          </a:xfrm>
          <a:prstGeom prst="rect">
            <a:avLst/>
          </a:prstGeom>
          <a:noFill/>
        </p:spPr>
        <p:txBody>
          <a:bodyPr wrap="square" rtlCol="0">
            <a:spAutoFit/>
          </a:bodyPr>
          <a:lstStyle/>
          <a:p>
            <a:pPr algn="ctr"/>
            <a:r>
              <a:rPr lang="en-US" sz="2200" dirty="0"/>
              <a:t>this is a form of </a:t>
            </a:r>
            <a:r>
              <a:rPr lang="en-US" sz="2200" i="1" dirty="0"/>
              <a:t>existential polymorphism: </a:t>
            </a:r>
            <a:r>
              <a:rPr lang="en-US" sz="2200" dirty="0"/>
              <a:t>we don't know </a:t>
            </a:r>
            <a:r>
              <a:rPr lang="en-US" sz="2200" b="1" dirty="0"/>
              <a:t>what type</a:t>
            </a:r>
            <a:r>
              <a:rPr lang="en-US" sz="2200" dirty="0"/>
              <a:t> it is until runtime, but we </a:t>
            </a:r>
            <a:r>
              <a:rPr lang="en-US" sz="2200" i="1" dirty="0"/>
              <a:t>at least </a:t>
            </a:r>
            <a:r>
              <a:rPr lang="en-US" sz="2200" dirty="0"/>
              <a:t>know that it </a:t>
            </a:r>
            <a:r>
              <a:rPr lang="en-US" sz="2200" b="1" dirty="0"/>
              <a:t>will </a:t>
            </a:r>
            <a:r>
              <a:rPr lang="en-US" sz="2200" dirty="0"/>
              <a:t>support this operation!</a:t>
            </a:r>
            <a:endParaRPr lang="en-US" sz="2200" i="1" dirty="0">
              <a:solidFill>
                <a:srgbClr val="FF0000"/>
              </a:solidFill>
            </a:endParaRPr>
          </a:p>
        </p:txBody>
      </p:sp>
    </p:spTree>
    <p:extLst>
      <p:ext uri="{BB962C8B-B14F-4D97-AF65-F5344CB8AC3E}">
        <p14:creationId xmlns:p14="http://schemas.microsoft.com/office/powerpoint/2010/main" val="31833116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CF516-3A1A-B342-AFF0-597460A215E8}"/>
              </a:ext>
            </a:extLst>
          </p:cNvPr>
          <p:cNvSpPr>
            <a:spLocks noGrp="1"/>
          </p:cNvSpPr>
          <p:nvPr>
            <p:ph type="title"/>
          </p:nvPr>
        </p:nvSpPr>
        <p:spPr/>
        <p:txBody>
          <a:bodyPr/>
          <a:lstStyle/>
          <a:p>
            <a:r>
              <a:rPr lang="en-US" dirty="0"/>
              <a:t>Type coercion ("punning") and conversion</a:t>
            </a:r>
          </a:p>
        </p:txBody>
      </p:sp>
      <p:sp>
        <p:nvSpPr>
          <p:cNvPr id="3" name="Content Placeholder 2">
            <a:extLst>
              <a:ext uri="{FF2B5EF4-FFF2-40B4-BE49-F238E27FC236}">
                <a16:creationId xmlns:a16="http://schemas.microsoft.com/office/drawing/2014/main" id="{FC73A361-6E4A-A642-A125-7835D77FD489}"/>
              </a:ext>
            </a:extLst>
          </p:cNvPr>
          <p:cNvSpPr>
            <a:spLocks noGrp="1"/>
          </p:cNvSpPr>
          <p:nvPr>
            <p:ph idx="1"/>
          </p:nvPr>
        </p:nvSpPr>
        <p:spPr>
          <a:xfrm>
            <a:off x="152400" y="495301"/>
            <a:ext cx="8991600" cy="1523999"/>
          </a:xfrm>
        </p:spPr>
        <p:txBody>
          <a:bodyPr>
            <a:normAutofit/>
          </a:bodyPr>
          <a:lstStyle/>
          <a:p>
            <a:r>
              <a:rPr lang="en-US" b="1" dirty="0"/>
              <a:t>type coercion </a:t>
            </a:r>
            <a:r>
              <a:rPr lang="en-US" dirty="0"/>
              <a:t>is when the language will let you use the "wrong" type and it will automatically turn it into the "right" one.</a:t>
            </a:r>
          </a:p>
          <a:p>
            <a:r>
              <a:rPr lang="en-US" b="1" dirty="0"/>
              <a:t>type conversion </a:t>
            </a:r>
            <a:r>
              <a:rPr lang="en-US" dirty="0"/>
              <a:t>creates a new value of a different type.</a:t>
            </a:r>
          </a:p>
          <a:p>
            <a:pPr lvl="1"/>
            <a:r>
              <a:rPr lang="en-US" dirty="0"/>
              <a:t>some type coercions do a type conversion; some don't!</a:t>
            </a:r>
          </a:p>
        </p:txBody>
      </p:sp>
      <p:sp>
        <p:nvSpPr>
          <p:cNvPr id="4" name="Slide Number Placeholder 3">
            <a:extLst>
              <a:ext uri="{FF2B5EF4-FFF2-40B4-BE49-F238E27FC236}">
                <a16:creationId xmlns:a16="http://schemas.microsoft.com/office/drawing/2014/main" id="{56E2C7F6-2DE7-214A-968A-D94F3972C30D}"/>
              </a:ext>
            </a:extLst>
          </p:cNvPr>
          <p:cNvSpPr>
            <a:spLocks noGrp="1"/>
          </p:cNvSpPr>
          <p:nvPr>
            <p:ph type="sldNum" sz="quarter" idx="12"/>
          </p:nvPr>
        </p:nvSpPr>
        <p:spPr/>
        <p:txBody>
          <a:bodyPr/>
          <a:lstStyle/>
          <a:p>
            <a:fld id="{3552B95B-556F-44BD-91A5-D80C1B9E2BB3}" type="slidenum">
              <a:rPr lang="en-US" smtClean="0"/>
              <a:pPr/>
              <a:t>14</a:t>
            </a:fld>
            <a:endParaRPr lang="en-US"/>
          </a:p>
        </p:txBody>
      </p:sp>
      <p:sp>
        <p:nvSpPr>
          <p:cNvPr id="5" name="Rectangle 4">
            <a:extLst>
              <a:ext uri="{FF2B5EF4-FFF2-40B4-BE49-F238E27FC236}">
                <a16:creationId xmlns:a16="http://schemas.microsoft.com/office/drawing/2014/main" id="{9DD1C262-47C2-C64F-B9CD-597F2DDF0A8F}"/>
              </a:ext>
            </a:extLst>
          </p:cNvPr>
          <p:cNvSpPr/>
          <p:nvPr/>
        </p:nvSpPr>
        <p:spPr>
          <a:xfrm>
            <a:off x="533400" y="2019300"/>
            <a:ext cx="3886200" cy="2462213"/>
          </a:xfrm>
          <a:prstGeom prst="rect">
            <a:avLst/>
          </a:prstGeom>
        </p:spPr>
        <p:txBody>
          <a:bodyPr wrap="square">
            <a:spAutoFit/>
          </a:bodyPr>
          <a:lstStyle/>
          <a:p>
            <a:r>
              <a:rPr lang="en-US" sz="2200" i="1" dirty="0">
                <a:solidFill>
                  <a:schemeClr val="accent3">
                    <a:lumMod val="50000"/>
                  </a:schemeClr>
                </a:solidFill>
                <a:latin typeface="Consolas" panose="020B0609020204030204" pitchFamily="49" charset="0"/>
                <a:cs typeface="Consolas" panose="020B0609020204030204" pitchFamily="49" charset="0"/>
              </a:rPr>
              <a:t>// Java</a:t>
            </a:r>
            <a:endParaRPr lang="en-US" sz="2200" b="1" dirty="0">
              <a:solidFill>
                <a:srgbClr val="FF0000"/>
              </a:solidFill>
              <a:latin typeface="Consolas" panose="020B0609020204030204" pitchFamily="49" charset="0"/>
              <a:cs typeface="Consolas" panose="020B0609020204030204" pitchFamily="49" charset="0"/>
            </a:endParaRPr>
          </a:p>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float</a:t>
            </a:r>
            <a:r>
              <a:rPr lang="en-US" sz="2200" b="1" dirty="0">
                <a:latin typeface="Consolas" panose="020B0609020204030204" pitchFamily="49" charset="0"/>
                <a:cs typeface="Consolas" panose="020B0609020204030204" pitchFamily="49" charset="0"/>
              </a:rPr>
              <a:t> f = x;</a:t>
            </a:r>
          </a:p>
          <a:p>
            <a:r>
              <a:rPr lang="en-US" sz="2200" i="1" dirty="0">
                <a:solidFill>
                  <a:schemeClr val="accent3">
                    <a:lumMod val="50000"/>
                  </a:schemeClr>
                </a:solidFill>
                <a:latin typeface="Consolas" panose="020B0609020204030204" pitchFamily="49" charset="0"/>
                <a:cs typeface="Consolas" panose="020B0609020204030204" pitchFamily="49" charset="0"/>
              </a:rPr>
              <a:t>// now f == 10.0</a:t>
            </a:r>
          </a:p>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String s = </a:t>
            </a:r>
            <a:r>
              <a:rPr lang="en-US" sz="2200" b="1" dirty="0">
                <a:solidFill>
                  <a:schemeClr val="accent6">
                    <a:lumMod val="75000"/>
                  </a:schemeClr>
                </a:solidFill>
                <a:latin typeface="Consolas" panose="020B0609020204030204" pitchFamily="49" charset="0"/>
                <a:cs typeface="Consolas" panose="020B0609020204030204" pitchFamily="49" charset="0"/>
              </a:rPr>
              <a:t>"x = "</a:t>
            </a:r>
            <a:r>
              <a:rPr lang="en-US" sz="2200" b="1" dirty="0">
                <a:latin typeface="Consolas" panose="020B0609020204030204" pitchFamily="49" charset="0"/>
                <a:cs typeface="Consolas" panose="020B0609020204030204" pitchFamily="49" charset="0"/>
              </a:rPr>
              <a:t> + x;</a:t>
            </a:r>
          </a:p>
          <a:p>
            <a:r>
              <a:rPr lang="en-US" sz="2200" i="1" dirty="0">
                <a:solidFill>
                  <a:schemeClr val="accent3">
                    <a:lumMod val="50000"/>
                  </a:schemeClr>
                </a:solidFill>
                <a:latin typeface="Consolas" panose="020B0609020204030204" pitchFamily="49" charset="0"/>
                <a:cs typeface="Consolas" panose="020B0609020204030204" pitchFamily="49" charset="0"/>
              </a:rPr>
              <a:t>// now s is "x = 10"</a:t>
            </a:r>
          </a:p>
        </p:txBody>
      </p:sp>
      <p:sp>
        <p:nvSpPr>
          <p:cNvPr id="7" name="TextBox 6">
            <a:extLst>
              <a:ext uri="{FF2B5EF4-FFF2-40B4-BE49-F238E27FC236}">
                <a16:creationId xmlns:a16="http://schemas.microsoft.com/office/drawing/2014/main" id="{7A315A08-77F2-4B45-A07C-6A480431BE3F}"/>
              </a:ext>
            </a:extLst>
          </p:cNvPr>
          <p:cNvSpPr txBox="1"/>
          <p:nvPr/>
        </p:nvSpPr>
        <p:spPr>
          <a:xfrm>
            <a:off x="3629025" y="1943100"/>
            <a:ext cx="5181600" cy="769441"/>
          </a:xfrm>
          <a:prstGeom prst="rect">
            <a:avLst/>
          </a:prstGeom>
          <a:noFill/>
        </p:spPr>
        <p:txBody>
          <a:bodyPr wrap="square" rtlCol="0">
            <a:spAutoFit/>
          </a:bodyPr>
          <a:lstStyle/>
          <a:p>
            <a:pPr algn="ctr"/>
            <a:r>
              <a:rPr lang="en-US" sz="2200" b="1" dirty="0"/>
              <a:t>implicit</a:t>
            </a:r>
            <a:r>
              <a:rPr lang="en-US" sz="2200" dirty="0"/>
              <a:t> </a:t>
            </a:r>
            <a:r>
              <a:rPr lang="en-US" sz="2200" b="1" dirty="0"/>
              <a:t>conversions</a:t>
            </a:r>
            <a:r>
              <a:rPr lang="en-US" sz="2200" dirty="0"/>
              <a:t> like these can make code shorter and more readable…</a:t>
            </a:r>
            <a:endParaRPr lang="en-US" sz="2200" i="1" dirty="0">
              <a:solidFill>
                <a:schemeClr val="accent6">
                  <a:lumMod val="75000"/>
                </a:schemeClr>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FBA32653-9120-1F4C-96F4-7A93FA96F3AD}"/>
              </a:ext>
            </a:extLst>
          </p:cNvPr>
          <p:cNvSpPr txBox="1"/>
          <p:nvPr/>
        </p:nvSpPr>
        <p:spPr>
          <a:xfrm>
            <a:off x="3390900" y="2675324"/>
            <a:ext cx="5676900" cy="430887"/>
          </a:xfrm>
          <a:prstGeom prst="rect">
            <a:avLst/>
          </a:prstGeom>
          <a:noFill/>
        </p:spPr>
        <p:txBody>
          <a:bodyPr wrap="square" rtlCol="0">
            <a:spAutoFit/>
          </a:bodyPr>
          <a:lstStyle/>
          <a:p>
            <a:pPr algn="ctr"/>
            <a:r>
              <a:rPr lang="en-US" sz="2200" dirty="0"/>
              <a:t>but they can be confusing too:</a:t>
            </a:r>
            <a:endParaRPr lang="en-US" sz="2200" i="1" dirty="0">
              <a:solidFill>
                <a:schemeClr val="accent6">
                  <a:lumMod val="75000"/>
                </a:schemeClr>
              </a:solidFill>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E3F33F8D-71D0-9946-AE78-B7687A2F0125}"/>
              </a:ext>
            </a:extLst>
          </p:cNvPr>
          <p:cNvSpPr/>
          <p:nvPr/>
        </p:nvSpPr>
        <p:spPr>
          <a:xfrm>
            <a:off x="4953000" y="3129795"/>
            <a:ext cx="2971800" cy="1785104"/>
          </a:xfrm>
          <a:prstGeom prst="rect">
            <a:avLst/>
          </a:prstGeom>
        </p:spPr>
        <p:txBody>
          <a:bodyPr wrap="square">
            <a:spAutoFit/>
          </a:bodyPr>
          <a:lstStyle/>
          <a:p>
            <a:r>
              <a:rPr lang="en-US" sz="2200" i="1" dirty="0">
                <a:solidFill>
                  <a:schemeClr val="accent3">
                    <a:lumMod val="50000"/>
                  </a:schemeClr>
                </a:solidFill>
                <a:latin typeface="Consolas" panose="020B0609020204030204" pitchFamily="49" charset="0"/>
                <a:cs typeface="Consolas" panose="020B0609020204030204" pitchFamily="49" charset="0"/>
              </a:rPr>
              <a:t>// JavaScript</a:t>
            </a:r>
          </a:p>
          <a:p>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 </a:t>
            </a:r>
            <a:r>
              <a:rPr lang="en-US" sz="2200" b="1" dirty="0">
                <a:solidFill>
                  <a:schemeClr val="accent6">
                    <a:lumMod val="75000"/>
                  </a:schemeClr>
                </a:solidFill>
                <a:latin typeface="Consolas" panose="020B0609020204030204" pitchFamily="49" charset="0"/>
                <a:cs typeface="Consolas" panose="020B0609020204030204" pitchFamily="49" charset="0"/>
              </a:rPr>
              <a:t>"20"</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y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 </a:t>
            </a:r>
            <a:r>
              <a:rPr lang="en-US" sz="2200" b="1" dirty="0">
                <a:solidFill>
                  <a:schemeClr val="accent6">
                    <a:lumMod val="75000"/>
                  </a:schemeClr>
                </a:solidFill>
                <a:latin typeface="Consolas" panose="020B0609020204030204" pitchFamily="49" charset="0"/>
                <a:cs typeface="Consolas" panose="020B0609020204030204" pitchFamily="49" charset="0"/>
              </a:rPr>
              <a:t>"20"</a:t>
            </a:r>
            <a:r>
              <a:rPr lang="en-US" sz="2200" b="1" dirty="0">
                <a:latin typeface="Consolas" panose="020B0609020204030204" pitchFamily="49" charset="0"/>
                <a:cs typeface="Consolas" panose="020B0609020204030204" pitchFamily="49" charset="0"/>
              </a:rPr>
              <a:t>;</a:t>
            </a:r>
          </a:p>
          <a:p>
            <a:r>
              <a:rPr lang="en-US" sz="2200" i="1" dirty="0">
                <a:solidFill>
                  <a:schemeClr val="accent3">
                    <a:lumMod val="50000"/>
                  </a:schemeClr>
                </a:solidFill>
                <a:latin typeface="Consolas" panose="020B0609020204030204" pitchFamily="49" charset="0"/>
                <a:cs typeface="Consolas" panose="020B0609020204030204" pitchFamily="49" charset="0"/>
              </a:rPr>
              <a:t>// x == "1020"</a:t>
            </a:r>
          </a:p>
          <a:p>
            <a:r>
              <a:rPr lang="en-US" sz="2200" i="1" dirty="0">
                <a:solidFill>
                  <a:schemeClr val="accent3">
                    <a:lumMod val="50000"/>
                  </a:schemeClr>
                </a:solidFill>
                <a:latin typeface="Consolas" panose="020B0609020204030204" pitchFamily="49" charset="0"/>
                <a:cs typeface="Consolas" panose="020B0609020204030204" pitchFamily="49" charset="0"/>
              </a:rPr>
              <a:t>// y == -10 ?!</a:t>
            </a:r>
          </a:p>
        </p:txBody>
      </p:sp>
    </p:spTree>
    <p:extLst>
      <p:ext uri="{BB962C8B-B14F-4D97-AF65-F5344CB8AC3E}">
        <p14:creationId xmlns:p14="http://schemas.microsoft.com/office/powerpoint/2010/main" val="35950445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7" grpId="0"/>
      <p:bldP spid="8" grpId="0"/>
      <p:bldP spid="9" grpId="0" bldLvl="5"/>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9C689-A056-CF46-AA01-9577F0734EDE}"/>
              </a:ext>
            </a:extLst>
          </p:cNvPr>
          <p:cNvSpPr>
            <a:spLocks noGrp="1"/>
          </p:cNvSpPr>
          <p:nvPr>
            <p:ph type="title"/>
          </p:nvPr>
        </p:nvSpPr>
        <p:spPr/>
        <p:txBody>
          <a:bodyPr/>
          <a:lstStyle/>
          <a:p>
            <a:r>
              <a:rPr lang="en-US" dirty="0"/>
              <a:t>Strong vs. Weak typing</a:t>
            </a:r>
          </a:p>
        </p:txBody>
      </p:sp>
      <p:sp>
        <p:nvSpPr>
          <p:cNvPr id="3" name="Content Placeholder 2">
            <a:extLst>
              <a:ext uri="{FF2B5EF4-FFF2-40B4-BE49-F238E27FC236}">
                <a16:creationId xmlns:a16="http://schemas.microsoft.com/office/drawing/2014/main" id="{FEA0513A-9C13-0D43-8E2E-690CEE9900B7}"/>
              </a:ext>
            </a:extLst>
          </p:cNvPr>
          <p:cNvSpPr>
            <a:spLocks noGrp="1"/>
          </p:cNvSpPr>
          <p:nvPr>
            <p:ph idx="1"/>
          </p:nvPr>
        </p:nvSpPr>
        <p:spPr>
          <a:xfrm>
            <a:off x="152400" y="495302"/>
            <a:ext cx="8991600" cy="495300"/>
          </a:xfrm>
        </p:spPr>
        <p:txBody>
          <a:bodyPr>
            <a:normAutofit/>
          </a:bodyPr>
          <a:lstStyle/>
          <a:p>
            <a:r>
              <a:rPr lang="en-US" dirty="0"/>
              <a:t>different people use “strong” and “weak” to mean different things.</a:t>
            </a:r>
          </a:p>
        </p:txBody>
      </p:sp>
      <p:sp>
        <p:nvSpPr>
          <p:cNvPr id="4" name="Slide Number Placeholder 3">
            <a:extLst>
              <a:ext uri="{FF2B5EF4-FFF2-40B4-BE49-F238E27FC236}">
                <a16:creationId xmlns:a16="http://schemas.microsoft.com/office/drawing/2014/main" id="{1EC66AB5-A808-F548-BECD-F9E3B240FE7A}"/>
              </a:ext>
            </a:extLst>
          </p:cNvPr>
          <p:cNvSpPr>
            <a:spLocks noGrp="1"/>
          </p:cNvSpPr>
          <p:nvPr>
            <p:ph type="sldNum" sz="quarter" idx="12"/>
          </p:nvPr>
        </p:nvSpPr>
        <p:spPr/>
        <p:txBody>
          <a:bodyPr/>
          <a:lstStyle/>
          <a:p>
            <a:fld id="{3552B95B-556F-44BD-91A5-D80C1B9E2BB3}" type="slidenum">
              <a:rPr lang="en-US" smtClean="0"/>
              <a:pPr/>
              <a:t>15</a:t>
            </a:fld>
            <a:endParaRPr lang="en-US"/>
          </a:p>
        </p:txBody>
      </p:sp>
      <p:sp>
        <p:nvSpPr>
          <p:cNvPr id="8" name="Rectangle 7">
            <a:extLst>
              <a:ext uri="{FF2B5EF4-FFF2-40B4-BE49-F238E27FC236}">
                <a16:creationId xmlns:a16="http://schemas.microsoft.com/office/drawing/2014/main" id="{D8331F4A-A2AE-D543-B061-BC4A8D741712}"/>
              </a:ext>
            </a:extLst>
          </p:cNvPr>
          <p:cNvSpPr/>
          <p:nvPr/>
        </p:nvSpPr>
        <p:spPr>
          <a:xfrm>
            <a:off x="682487" y="3103104"/>
            <a:ext cx="3457574" cy="1446550"/>
          </a:xfrm>
          <a:prstGeom prst="rect">
            <a:avLst/>
          </a:prstGeom>
        </p:spPr>
        <p:txBody>
          <a:bodyPr wrap="square">
            <a:spAutoFit/>
          </a:bodyPr>
          <a:lstStyle/>
          <a:p>
            <a:r>
              <a:rPr lang="en-US" sz="2200" i="1" dirty="0">
                <a:solidFill>
                  <a:schemeClr val="accent3">
                    <a:lumMod val="50000"/>
                  </a:schemeClr>
                </a:solidFill>
                <a:latin typeface="Consolas" panose="020B0609020204030204" pitchFamily="49" charset="0"/>
                <a:cs typeface="Consolas" panose="020B0609020204030204" pitchFamily="49" charset="0"/>
              </a:rPr>
              <a:t>// C</a:t>
            </a:r>
          </a:p>
          <a:p>
            <a:r>
              <a:rPr lang="en-US" sz="2200" b="1" dirty="0">
                <a:solidFill>
                  <a:srgbClr val="FF0000"/>
                </a:solidFill>
                <a:latin typeface="Consolas" panose="020B0609020204030204" pitchFamily="49" charset="0"/>
                <a:cs typeface="Consolas" panose="020B0609020204030204" pitchFamily="49" charset="0"/>
              </a:rPr>
              <a:t>bool</a:t>
            </a:r>
            <a:r>
              <a:rPr lang="en-US" sz="2200" b="1" dirty="0">
                <a:latin typeface="Consolas" panose="020B0609020204030204" pitchFamily="49" charset="0"/>
                <a:cs typeface="Consolas" panose="020B0609020204030204" pitchFamily="49" charset="0"/>
              </a:rPr>
              <a:t> b = </a:t>
            </a:r>
            <a:r>
              <a:rPr lang="en-US" sz="2200" b="1" dirty="0">
                <a:solidFill>
                  <a:srgbClr val="FF0000"/>
                </a:solidFill>
                <a:latin typeface="Consolas" panose="020B0609020204030204" pitchFamily="49" charset="0"/>
                <a:cs typeface="Consolas" panose="020B0609020204030204" pitchFamily="49" charset="0"/>
              </a:rPr>
              <a:t>true</a:t>
            </a:r>
            <a:r>
              <a:rPr lang="en-US" sz="2200" b="1" dirty="0">
                <a:latin typeface="Consolas" panose="020B0609020204030204" pitchFamily="49" charset="0"/>
                <a:cs typeface="Consolas" panose="020B0609020204030204" pitchFamily="49" charset="0"/>
              </a:rPr>
              <a:t>;</a:t>
            </a:r>
          </a:p>
          <a:p>
            <a:r>
              <a:rPr lang="en-US" sz="2200" b="1" dirty="0" err="1">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p = (</a:t>
            </a:r>
            <a:r>
              <a:rPr lang="en-US" sz="2200" b="1" dirty="0" err="1">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*)&amp;b;</a:t>
            </a:r>
          </a:p>
          <a:p>
            <a:r>
              <a:rPr lang="en-US" sz="2200" b="1" dirty="0">
                <a:latin typeface="Consolas" panose="020B0609020204030204" pitchFamily="49" charset="0"/>
                <a:cs typeface="Consolas" panose="020B0609020204030204" pitchFamily="49" charset="0"/>
              </a:rPr>
              <a:t>*p = </a:t>
            </a:r>
            <a:r>
              <a:rPr lang="en-US" sz="2200" b="1" dirty="0">
                <a:solidFill>
                  <a:schemeClr val="accent3">
                    <a:lumMod val="75000"/>
                  </a:schemeClr>
                </a:solidFill>
                <a:latin typeface="Consolas" panose="020B0609020204030204" pitchFamily="49" charset="0"/>
                <a:cs typeface="Consolas" panose="020B0609020204030204" pitchFamily="49" charset="0"/>
              </a:rPr>
              <a:t>700</a:t>
            </a:r>
            <a:r>
              <a:rPr lang="en-US" sz="2200" b="1" dirty="0">
                <a:latin typeface="Consolas" panose="020B0609020204030204" pitchFamily="49" charset="0"/>
                <a:cs typeface="Consolas" panose="020B0609020204030204" pitchFamily="49" charset="0"/>
              </a:rPr>
              <a:t>; </a:t>
            </a:r>
            <a:r>
              <a:rPr lang="en-US" sz="2200" i="1" dirty="0">
                <a:solidFill>
                  <a:schemeClr val="accent3">
                    <a:lumMod val="50000"/>
                  </a:schemeClr>
                </a:solidFill>
                <a:latin typeface="Consolas" panose="020B0609020204030204" pitchFamily="49" charset="0"/>
                <a:cs typeface="Consolas" panose="020B0609020204030204" pitchFamily="49" charset="0"/>
              </a:rPr>
              <a:t>// wat.</a:t>
            </a:r>
          </a:p>
        </p:txBody>
      </p:sp>
      <p:sp>
        <p:nvSpPr>
          <p:cNvPr id="11" name="TextBox 10">
            <a:extLst>
              <a:ext uri="{FF2B5EF4-FFF2-40B4-BE49-F238E27FC236}">
                <a16:creationId xmlns:a16="http://schemas.microsoft.com/office/drawing/2014/main" id="{890CF483-0230-AF47-85E2-21F3B72CC889}"/>
              </a:ext>
            </a:extLst>
          </p:cNvPr>
          <p:cNvSpPr txBox="1"/>
          <p:nvPr/>
        </p:nvSpPr>
        <p:spPr>
          <a:xfrm>
            <a:off x="304800" y="1000981"/>
            <a:ext cx="3886200" cy="2123658"/>
          </a:xfrm>
          <a:prstGeom prst="rect">
            <a:avLst/>
          </a:prstGeom>
          <a:noFill/>
        </p:spPr>
        <p:txBody>
          <a:bodyPr wrap="square" rtlCol="0">
            <a:spAutoFit/>
          </a:bodyPr>
          <a:lstStyle/>
          <a:p>
            <a:pPr algn="ctr"/>
            <a:r>
              <a:rPr lang="en-US" sz="2200" dirty="0"/>
              <a:t>one definition is basically the same as </a:t>
            </a:r>
            <a:r>
              <a:rPr lang="en-US" sz="2200" b="1" dirty="0"/>
              <a:t>type safety: </a:t>
            </a:r>
            <a:r>
              <a:rPr lang="en-US" sz="2200" dirty="0"/>
              <a:t>it says that weakly-typed languages let you “step around” the type system, while strongly-typed languages keep you in.</a:t>
            </a:r>
            <a:endParaRPr lang="en-US" sz="2200" i="1" dirty="0">
              <a:solidFill>
                <a:schemeClr val="accent6">
                  <a:lumMod val="75000"/>
                </a:schemeClr>
              </a:solidFill>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CA82CD98-72A0-7343-A21F-1CF973DAE593}"/>
              </a:ext>
            </a:extLst>
          </p:cNvPr>
          <p:cNvSpPr/>
          <p:nvPr/>
        </p:nvSpPr>
        <p:spPr>
          <a:xfrm>
            <a:off x="4598504" y="2863449"/>
            <a:ext cx="4267200" cy="1785104"/>
          </a:xfrm>
          <a:prstGeom prst="rect">
            <a:avLst/>
          </a:prstGeom>
        </p:spPr>
        <p:txBody>
          <a:bodyPr wrap="square">
            <a:spAutoFit/>
          </a:bodyPr>
          <a:lstStyle/>
          <a:p>
            <a:r>
              <a:rPr lang="en-US" sz="2200" i="1" dirty="0">
                <a:solidFill>
                  <a:schemeClr val="accent3">
                    <a:lumMod val="50000"/>
                  </a:schemeClr>
                </a:solidFill>
                <a:latin typeface="Consolas" panose="020B0609020204030204" pitchFamily="49" charset="0"/>
                <a:cs typeface="Consolas" panose="020B0609020204030204" pitchFamily="49" charset="0"/>
              </a:rPr>
              <a:t>// JavaScript again</a:t>
            </a:r>
          </a:p>
          <a:p>
            <a:r>
              <a:rPr lang="en-US" sz="2200" b="1" dirty="0">
                <a:latin typeface="Consolas" panose="020B0609020204030204" pitchFamily="49" charset="0"/>
                <a:cs typeface="Consolas" panose="020B0609020204030204" pitchFamily="49" charset="0"/>
              </a:rPr>
              <a:t>alert([] + []); </a:t>
            </a:r>
            <a:r>
              <a:rPr lang="en-US" sz="2200" i="1" dirty="0">
                <a:solidFill>
                  <a:schemeClr val="accent3">
                    <a:lumMod val="50000"/>
                  </a:schemeClr>
                </a:solidFill>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alert({} + {}); </a:t>
            </a:r>
            <a:r>
              <a:rPr lang="en-US" sz="2200" i="1" dirty="0">
                <a:solidFill>
                  <a:schemeClr val="accent3">
                    <a:lumMod val="50000"/>
                  </a:schemeClr>
                </a:solidFill>
                <a:latin typeface="Consolas" panose="020B0609020204030204" pitchFamily="49" charset="0"/>
                <a:cs typeface="Consolas" panose="020B0609020204030204" pitchFamily="49" charset="0"/>
              </a:rPr>
              <a:t>// </a:t>
            </a:r>
            <a:r>
              <a:rPr lang="en-US" sz="2200" i="1" dirty="0" err="1">
                <a:solidFill>
                  <a:schemeClr val="accent3">
                    <a:lumMod val="50000"/>
                  </a:schemeClr>
                </a:solidFill>
                <a:latin typeface="Consolas" panose="020B0609020204030204" pitchFamily="49" charset="0"/>
                <a:cs typeface="Consolas" panose="020B0609020204030204" pitchFamily="49" charset="0"/>
              </a:rPr>
              <a:t>NaN</a:t>
            </a:r>
            <a:endParaRPr lang="en-US" sz="2200" i="1" dirty="0">
              <a:solidFill>
                <a:schemeClr val="accent3">
                  <a:lumMod val="50000"/>
                </a:schemeClr>
              </a:solidFill>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alert({} + []); </a:t>
            </a:r>
            <a:r>
              <a:rPr lang="en-US" sz="2200" i="1" dirty="0">
                <a:solidFill>
                  <a:schemeClr val="accent3">
                    <a:lumMod val="50000"/>
                  </a:schemeClr>
                </a:solidFill>
                <a:latin typeface="Consolas" panose="020B0609020204030204" pitchFamily="49" charset="0"/>
                <a:cs typeface="Consolas" panose="020B0609020204030204" pitchFamily="49" charset="0"/>
              </a:rPr>
              <a:t>// 0</a:t>
            </a:r>
          </a:p>
          <a:p>
            <a:r>
              <a:rPr lang="en-US" sz="2200" b="1" dirty="0">
                <a:latin typeface="Consolas" panose="020B0609020204030204" pitchFamily="49" charset="0"/>
                <a:cs typeface="Consolas" panose="020B0609020204030204" pitchFamily="49" charset="0"/>
              </a:rPr>
              <a:t>alert([] + {}); </a:t>
            </a:r>
            <a:r>
              <a:rPr lang="en-US" sz="2200" i="1" dirty="0">
                <a:solidFill>
                  <a:schemeClr val="accent3">
                    <a:lumMod val="50000"/>
                  </a:schemeClr>
                </a:solidFill>
                <a:latin typeface="Consolas" panose="020B0609020204030204" pitchFamily="49" charset="0"/>
                <a:cs typeface="Consolas" panose="020B0609020204030204" pitchFamily="49" charset="0"/>
              </a:rPr>
              <a:t>// {}</a:t>
            </a:r>
          </a:p>
        </p:txBody>
      </p:sp>
      <p:sp>
        <p:nvSpPr>
          <p:cNvPr id="14" name="TextBox 13">
            <a:extLst>
              <a:ext uri="{FF2B5EF4-FFF2-40B4-BE49-F238E27FC236}">
                <a16:creationId xmlns:a16="http://schemas.microsoft.com/office/drawing/2014/main" id="{961AB6BF-DE35-8548-937B-2FB8BCDB525D}"/>
              </a:ext>
            </a:extLst>
          </p:cNvPr>
          <p:cNvSpPr txBox="1"/>
          <p:nvPr/>
        </p:nvSpPr>
        <p:spPr>
          <a:xfrm>
            <a:off x="4648200" y="1005673"/>
            <a:ext cx="4267200" cy="1785104"/>
          </a:xfrm>
          <a:prstGeom prst="rect">
            <a:avLst/>
          </a:prstGeom>
          <a:noFill/>
        </p:spPr>
        <p:txBody>
          <a:bodyPr wrap="square" rtlCol="0">
            <a:spAutoFit/>
          </a:bodyPr>
          <a:lstStyle/>
          <a:p>
            <a:pPr algn="ctr"/>
            <a:r>
              <a:rPr lang="en-US" sz="2200" dirty="0"/>
              <a:t>another definition is that weakly-typed languages do </a:t>
            </a:r>
            <a:r>
              <a:rPr lang="en-US" sz="2200" b="1" dirty="0"/>
              <a:t>lots of implicit conversions </a:t>
            </a:r>
            <a:r>
              <a:rPr lang="en-US" sz="2200" dirty="0"/>
              <a:t>and almost never give </a:t>
            </a:r>
            <a:r>
              <a:rPr lang="en-US" sz="2200" b="1" dirty="0"/>
              <a:t>type errors, </a:t>
            </a:r>
            <a:r>
              <a:rPr lang="en-US" sz="2200" dirty="0"/>
              <a:t>instead choosing to “do something else.”</a:t>
            </a:r>
            <a:endParaRPr lang="en-US" sz="2200" i="1" dirty="0">
              <a:solidFill>
                <a:schemeClr val="accent6">
                  <a:lumMod val="75000"/>
                </a:schemeClr>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51F6A33E-FFCB-944C-9B44-5211D0F70114}"/>
              </a:ext>
            </a:extLst>
          </p:cNvPr>
          <p:cNvSpPr txBox="1"/>
          <p:nvPr/>
        </p:nvSpPr>
        <p:spPr>
          <a:xfrm>
            <a:off x="1725474" y="4843064"/>
            <a:ext cx="5693052" cy="584775"/>
          </a:xfrm>
          <a:prstGeom prst="rect">
            <a:avLst/>
          </a:prstGeom>
          <a:noFill/>
        </p:spPr>
        <p:txBody>
          <a:bodyPr wrap="square" rtlCol="0">
            <a:spAutoFit/>
          </a:bodyPr>
          <a:lstStyle/>
          <a:p>
            <a:pPr algn="ctr"/>
            <a:r>
              <a:rPr lang="en-US" sz="1600" dirty="0"/>
              <a:t>I like to think ”weakly-typed” means “the language doesn’t care about types, for some value of ‘doesn’t care’” lol</a:t>
            </a:r>
            <a:endParaRPr lang="en-US" sz="1600" i="1" dirty="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375902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5"/>
      <p:bldP spid="11" grpId="0"/>
      <p:bldP spid="13" grpId="0" bldLvl="5"/>
      <p:bldP spid="14"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22ABD-A433-1645-AD90-E8F42F6669E9}"/>
              </a:ext>
            </a:extLst>
          </p:cNvPr>
          <p:cNvSpPr>
            <a:spLocks noGrp="1"/>
          </p:cNvSpPr>
          <p:nvPr>
            <p:ph type="title"/>
          </p:nvPr>
        </p:nvSpPr>
        <p:spPr/>
        <p:txBody>
          <a:bodyPr/>
          <a:lstStyle/>
          <a:p>
            <a:r>
              <a:rPr lang="en-US" dirty="0"/>
              <a:t>The typing alignment chart</a:t>
            </a:r>
          </a:p>
        </p:txBody>
      </p:sp>
      <p:sp>
        <p:nvSpPr>
          <p:cNvPr id="3" name="Content Placeholder 2">
            <a:extLst>
              <a:ext uri="{FF2B5EF4-FFF2-40B4-BE49-F238E27FC236}">
                <a16:creationId xmlns:a16="http://schemas.microsoft.com/office/drawing/2014/main" id="{FD28F89A-8218-5B4F-86C4-085A22507338}"/>
              </a:ext>
            </a:extLst>
          </p:cNvPr>
          <p:cNvSpPr>
            <a:spLocks noGrp="1"/>
          </p:cNvSpPr>
          <p:nvPr>
            <p:ph idx="1"/>
          </p:nvPr>
        </p:nvSpPr>
        <p:spPr>
          <a:xfrm>
            <a:off x="152400" y="495302"/>
            <a:ext cx="8991600" cy="495300"/>
          </a:xfrm>
        </p:spPr>
        <p:txBody>
          <a:bodyPr/>
          <a:lstStyle/>
          <a:p>
            <a:r>
              <a:rPr lang="en-US" dirty="0"/>
              <a:t>if we treat strong/weak and static/dynamic as axes on a spectrum…</a:t>
            </a:r>
          </a:p>
        </p:txBody>
      </p:sp>
      <p:sp>
        <p:nvSpPr>
          <p:cNvPr id="4" name="Slide Number Placeholder 3">
            <a:extLst>
              <a:ext uri="{FF2B5EF4-FFF2-40B4-BE49-F238E27FC236}">
                <a16:creationId xmlns:a16="http://schemas.microsoft.com/office/drawing/2014/main" id="{5F2BBC98-3EAE-A047-94F9-B1A2D7857411}"/>
              </a:ext>
            </a:extLst>
          </p:cNvPr>
          <p:cNvSpPr>
            <a:spLocks noGrp="1"/>
          </p:cNvSpPr>
          <p:nvPr>
            <p:ph type="sldNum" sz="quarter" idx="12"/>
          </p:nvPr>
        </p:nvSpPr>
        <p:spPr/>
        <p:txBody>
          <a:bodyPr/>
          <a:lstStyle/>
          <a:p>
            <a:fld id="{3552B95B-556F-44BD-91A5-D80C1B9E2BB3}" type="slidenum">
              <a:rPr lang="en-US" smtClean="0"/>
              <a:pPr/>
              <a:t>16</a:t>
            </a:fld>
            <a:endParaRPr lang="en-US"/>
          </a:p>
        </p:txBody>
      </p:sp>
      <p:sp>
        <p:nvSpPr>
          <p:cNvPr id="14" name="TextBox 13">
            <a:extLst>
              <a:ext uri="{FF2B5EF4-FFF2-40B4-BE49-F238E27FC236}">
                <a16:creationId xmlns:a16="http://schemas.microsoft.com/office/drawing/2014/main" id="{54E88CED-1878-314C-8499-CF645EBCB432}"/>
              </a:ext>
            </a:extLst>
          </p:cNvPr>
          <p:cNvSpPr txBox="1"/>
          <p:nvPr/>
        </p:nvSpPr>
        <p:spPr>
          <a:xfrm>
            <a:off x="6177093" y="4902477"/>
            <a:ext cx="360996" cy="430887"/>
          </a:xfrm>
          <a:prstGeom prst="rect">
            <a:avLst/>
          </a:prstGeom>
          <a:noFill/>
        </p:spPr>
        <p:txBody>
          <a:bodyPr wrap="none" rtlCol="0">
            <a:spAutoFit/>
          </a:bodyPr>
          <a:lstStyle/>
          <a:p>
            <a:pPr algn="ctr"/>
            <a:r>
              <a:rPr lang="en-US" sz="2200" b="1" dirty="0">
                <a:solidFill>
                  <a:srgbClr val="FF0000"/>
                </a:solidFill>
              </a:rPr>
              <a:t>C</a:t>
            </a:r>
          </a:p>
        </p:txBody>
      </p:sp>
      <p:sp>
        <p:nvSpPr>
          <p:cNvPr id="15" name="TextBox 14">
            <a:extLst>
              <a:ext uri="{FF2B5EF4-FFF2-40B4-BE49-F238E27FC236}">
                <a16:creationId xmlns:a16="http://schemas.microsoft.com/office/drawing/2014/main" id="{B42E115E-E351-9447-AFDD-8714EA40F6DD}"/>
              </a:ext>
            </a:extLst>
          </p:cNvPr>
          <p:cNvSpPr txBox="1"/>
          <p:nvPr/>
        </p:nvSpPr>
        <p:spPr>
          <a:xfrm>
            <a:off x="4192729" y="3116879"/>
            <a:ext cx="758541" cy="430887"/>
          </a:xfrm>
          <a:prstGeom prst="rect">
            <a:avLst/>
          </a:prstGeom>
          <a:noFill/>
        </p:spPr>
        <p:txBody>
          <a:bodyPr wrap="none" rtlCol="0">
            <a:spAutoFit/>
          </a:bodyPr>
          <a:lstStyle/>
          <a:p>
            <a:pPr algn="ctr"/>
            <a:r>
              <a:rPr lang="en-US" sz="2200" b="1" dirty="0">
                <a:solidFill>
                  <a:srgbClr val="FF0000"/>
                </a:solidFill>
              </a:rPr>
              <a:t>C++</a:t>
            </a:r>
          </a:p>
        </p:txBody>
      </p:sp>
      <p:sp>
        <p:nvSpPr>
          <p:cNvPr id="16" name="TextBox 15">
            <a:extLst>
              <a:ext uri="{FF2B5EF4-FFF2-40B4-BE49-F238E27FC236}">
                <a16:creationId xmlns:a16="http://schemas.microsoft.com/office/drawing/2014/main" id="{387F0546-3EA2-D541-8240-18CC04A78935}"/>
              </a:ext>
            </a:extLst>
          </p:cNvPr>
          <p:cNvSpPr txBox="1"/>
          <p:nvPr/>
        </p:nvSpPr>
        <p:spPr>
          <a:xfrm>
            <a:off x="4122525" y="1763434"/>
            <a:ext cx="759503" cy="430887"/>
          </a:xfrm>
          <a:prstGeom prst="rect">
            <a:avLst/>
          </a:prstGeom>
          <a:noFill/>
        </p:spPr>
        <p:txBody>
          <a:bodyPr wrap="none" rtlCol="0">
            <a:spAutoFit/>
          </a:bodyPr>
          <a:lstStyle/>
          <a:p>
            <a:pPr algn="ctr"/>
            <a:r>
              <a:rPr lang="en-US" sz="2200" b="1" dirty="0">
                <a:solidFill>
                  <a:srgbClr val="FF0000"/>
                </a:solidFill>
              </a:rPr>
              <a:t>Java</a:t>
            </a:r>
          </a:p>
        </p:txBody>
      </p:sp>
      <p:sp>
        <p:nvSpPr>
          <p:cNvPr id="18" name="TextBox 17">
            <a:extLst>
              <a:ext uri="{FF2B5EF4-FFF2-40B4-BE49-F238E27FC236}">
                <a16:creationId xmlns:a16="http://schemas.microsoft.com/office/drawing/2014/main" id="{809D1317-5267-6B46-95CB-EC927EEB6121}"/>
              </a:ext>
            </a:extLst>
          </p:cNvPr>
          <p:cNvSpPr txBox="1"/>
          <p:nvPr/>
        </p:nvSpPr>
        <p:spPr>
          <a:xfrm>
            <a:off x="2492780" y="1315338"/>
            <a:ext cx="1132618" cy="430887"/>
          </a:xfrm>
          <a:prstGeom prst="rect">
            <a:avLst/>
          </a:prstGeom>
          <a:noFill/>
        </p:spPr>
        <p:txBody>
          <a:bodyPr wrap="none" rtlCol="0">
            <a:spAutoFit/>
          </a:bodyPr>
          <a:lstStyle/>
          <a:p>
            <a:pPr algn="ctr"/>
            <a:r>
              <a:rPr lang="en-US" sz="2200" b="1" dirty="0">
                <a:solidFill>
                  <a:srgbClr val="FF0000"/>
                </a:solidFill>
              </a:rPr>
              <a:t>Python</a:t>
            </a:r>
          </a:p>
        </p:txBody>
      </p:sp>
      <p:sp>
        <p:nvSpPr>
          <p:cNvPr id="19" name="TextBox 18">
            <a:extLst>
              <a:ext uri="{FF2B5EF4-FFF2-40B4-BE49-F238E27FC236}">
                <a16:creationId xmlns:a16="http://schemas.microsoft.com/office/drawing/2014/main" id="{6F16DB45-54DC-664C-A005-F6101A28A34A}"/>
              </a:ext>
            </a:extLst>
          </p:cNvPr>
          <p:cNvSpPr txBox="1"/>
          <p:nvPr/>
        </p:nvSpPr>
        <p:spPr>
          <a:xfrm>
            <a:off x="2476369" y="4883274"/>
            <a:ext cx="747320" cy="430887"/>
          </a:xfrm>
          <a:prstGeom prst="rect">
            <a:avLst/>
          </a:prstGeom>
          <a:noFill/>
        </p:spPr>
        <p:txBody>
          <a:bodyPr wrap="none" rtlCol="0">
            <a:spAutoFit/>
          </a:bodyPr>
          <a:lstStyle/>
          <a:p>
            <a:pPr algn="ctr"/>
            <a:r>
              <a:rPr lang="en-US" sz="2200" b="1" dirty="0">
                <a:solidFill>
                  <a:srgbClr val="FF0000"/>
                </a:solidFill>
              </a:rPr>
              <a:t>PHP</a:t>
            </a:r>
          </a:p>
        </p:txBody>
      </p:sp>
      <p:sp>
        <p:nvSpPr>
          <p:cNvPr id="20" name="TextBox 19">
            <a:extLst>
              <a:ext uri="{FF2B5EF4-FFF2-40B4-BE49-F238E27FC236}">
                <a16:creationId xmlns:a16="http://schemas.microsoft.com/office/drawing/2014/main" id="{27DEAECE-360B-6941-9FAE-84DB1B6BB7BD}"/>
              </a:ext>
            </a:extLst>
          </p:cNvPr>
          <p:cNvSpPr txBox="1"/>
          <p:nvPr/>
        </p:nvSpPr>
        <p:spPr>
          <a:xfrm>
            <a:off x="2490701" y="3729405"/>
            <a:ext cx="468398" cy="430887"/>
          </a:xfrm>
          <a:prstGeom prst="rect">
            <a:avLst/>
          </a:prstGeom>
          <a:noFill/>
        </p:spPr>
        <p:txBody>
          <a:bodyPr wrap="none" rtlCol="0">
            <a:spAutoFit/>
          </a:bodyPr>
          <a:lstStyle/>
          <a:p>
            <a:pPr algn="ctr"/>
            <a:r>
              <a:rPr lang="en-US" sz="2200" b="1" dirty="0">
                <a:solidFill>
                  <a:srgbClr val="FF0000"/>
                </a:solidFill>
              </a:rPr>
              <a:t>JS</a:t>
            </a:r>
          </a:p>
        </p:txBody>
      </p:sp>
      <p:sp>
        <p:nvSpPr>
          <p:cNvPr id="21" name="TextBox 20">
            <a:extLst>
              <a:ext uri="{FF2B5EF4-FFF2-40B4-BE49-F238E27FC236}">
                <a16:creationId xmlns:a16="http://schemas.microsoft.com/office/drawing/2014/main" id="{140E79D5-317E-D546-B493-4926B65702AC}"/>
              </a:ext>
            </a:extLst>
          </p:cNvPr>
          <p:cNvSpPr txBox="1"/>
          <p:nvPr/>
        </p:nvSpPr>
        <p:spPr>
          <a:xfrm>
            <a:off x="4579116" y="1357730"/>
            <a:ext cx="771365" cy="430887"/>
          </a:xfrm>
          <a:prstGeom prst="rect">
            <a:avLst/>
          </a:prstGeom>
          <a:noFill/>
        </p:spPr>
        <p:txBody>
          <a:bodyPr wrap="none" rtlCol="0">
            <a:spAutoFit/>
          </a:bodyPr>
          <a:lstStyle/>
          <a:p>
            <a:pPr algn="ctr"/>
            <a:r>
              <a:rPr lang="en-US" sz="2200" b="1" dirty="0">
                <a:solidFill>
                  <a:srgbClr val="FF0000"/>
                </a:solidFill>
              </a:rPr>
              <a:t>Rust</a:t>
            </a:r>
          </a:p>
        </p:txBody>
      </p:sp>
      <p:grpSp>
        <p:nvGrpSpPr>
          <p:cNvPr id="30" name="Group 29">
            <a:extLst>
              <a:ext uri="{FF2B5EF4-FFF2-40B4-BE49-F238E27FC236}">
                <a16:creationId xmlns:a16="http://schemas.microsoft.com/office/drawing/2014/main" id="{826CCFFB-81CC-B042-9E42-970E21F0DDC4}"/>
              </a:ext>
            </a:extLst>
          </p:cNvPr>
          <p:cNvGrpSpPr/>
          <p:nvPr/>
        </p:nvGrpSpPr>
        <p:grpSpPr>
          <a:xfrm>
            <a:off x="647314" y="876300"/>
            <a:ext cx="7355529" cy="4805550"/>
            <a:chOff x="647314" y="876300"/>
            <a:chExt cx="7355529" cy="4805550"/>
          </a:xfrm>
        </p:grpSpPr>
        <p:cxnSp>
          <p:nvCxnSpPr>
            <p:cNvPr id="6" name="Straight Arrow Connector 5">
              <a:extLst>
                <a:ext uri="{FF2B5EF4-FFF2-40B4-BE49-F238E27FC236}">
                  <a16:creationId xmlns:a16="http://schemas.microsoft.com/office/drawing/2014/main" id="{437BB028-7C67-AD4A-AC3C-1CB07D475A19}"/>
                </a:ext>
              </a:extLst>
            </p:cNvPr>
            <p:cNvCxnSpPr>
              <a:cxnSpLocks/>
              <a:stCxn id="22" idx="0"/>
              <a:endCxn id="22" idx="2"/>
            </p:cNvCxnSpPr>
            <p:nvPr/>
          </p:nvCxnSpPr>
          <p:spPr>
            <a:xfrm>
              <a:off x="4502277" y="1294764"/>
              <a:ext cx="0" cy="4023360"/>
            </a:xfrm>
            <a:prstGeom prst="straightConnector1">
              <a:avLst/>
            </a:prstGeom>
            <a:ln w="317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7EDDA9A-CAA8-B342-B03E-E684F9556295}"/>
                </a:ext>
              </a:extLst>
            </p:cNvPr>
            <p:cNvCxnSpPr>
              <a:cxnSpLocks/>
              <a:stCxn id="22" idx="3"/>
              <a:endCxn id="22" idx="1"/>
            </p:cNvCxnSpPr>
            <p:nvPr/>
          </p:nvCxnSpPr>
          <p:spPr>
            <a:xfrm flipH="1">
              <a:off x="2490701" y="3306444"/>
              <a:ext cx="4023152" cy="0"/>
            </a:xfrm>
            <a:prstGeom prst="straightConnector1">
              <a:avLst/>
            </a:prstGeom>
            <a:ln w="317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760A873-F02A-7644-8BEB-3D6970651E2C}"/>
                </a:ext>
              </a:extLst>
            </p:cNvPr>
            <p:cNvSpPr txBox="1"/>
            <p:nvPr/>
          </p:nvSpPr>
          <p:spPr>
            <a:xfrm>
              <a:off x="3972804" y="876300"/>
              <a:ext cx="1045992" cy="430887"/>
            </a:xfrm>
            <a:prstGeom prst="rect">
              <a:avLst/>
            </a:prstGeom>
            <a:noFill/>
          </p:spPr>
          <p:txBody>
            <a:bodyPr wrap="none" rtlCol="0">
              <a:spAutoFit/>
            </a:bodyPr>
            <a:lstStyle/>
            <a:p>
              <a:pPr algn="ctr"/>
              <a:r>
                <a:rPr lang="en-US" sz="2200" b="1" dirty="0"/>
                <a:t>strong</a:t>
              </a:r>
            </a:p>
          </p:txBody>
        </p:sp>
        <p:sp>
          <p:nvSpPr>
            <p:cNvPr id="10" name="TextBox 9">
              <a:extLst>
                <a:ext uri="{FF2B5EF4-FFF2-40B4-BE49-F238E27FC236}">
                  <a16:creationId xmlns:a16="http://schemas.microsoft.com/office/drawing/2014/main" id="{F88FA582-1AC4-CB41-9FE9-94BDAD0C2154}"/>
                </a:ext>
              </a:extLst>
            </p:cNvPr>
            <p:cNvSpPr txBox="1"/>
            <p:nvPr/>
          </p:nvSpPr>
          <p:spPr>
            <a:xfrm>
              <a:off x="4061096" y="5250963"/>
              <a:ext cx="869405" cy="430887"/>
            </a:xfrm>
            <a:prstGeom prst="rect">
              <a:avLst/>
            </a:prstGeom>
            <a:noFill/>
          </p:spPr>
          <p:txBody>
            <a:bodyPr wrap="none" rtlCol="0">
              <a:spAutoFit/>
            </a:bodyPr>
            <a:lstStyle/>
            <a:p>
              <a:pPr algn="ctr"/>
              <a:r>
                <a:rPr lang="en-US" sz="2200" b="1" dirty="0"/>
                <a:t>weak</a:t>
              </a:r>
            </a:p>
          </p:txBody>
        </p:sp>
        <p:sp>
          <p:nvSpPr>
            <p:cNvPr id="11" name="TextBox 10">
              <a:extLst>
                <a:ext uri="{FF2B5EF4-FFF2-40B4-BE49-F238E27FC236}">
                  <a16:creationId xmlns:a16="http://schemas.microsoft.com/office/drawing/2014/main" id="{5D43BA04-7052-364B-8C22-DC567080F3E9}"/>
                </a:ext>
              </a:extLst>
            </p:cNvPr>
            <p:cNvSpPr txBox="1"/>
            <p:nvPr/>
          </p:nvSpPr>
          <p:spPr>
            <a:xfrm>
              <a:off x="7109650" y="3050996"/>
              <a:ext cx="893193" cy="430887"/>
            </a:xfrm>
            <a:prstGeom prst="rect">
              <a:avLst/>
            </a:prstGeom>
            <a:noFill/>
          </p:spPr>
          <p:txBody>
            <a:bodyPr wrap="none" rtlCol="0">
              <a:spAutoFit/>
            </a:bodyPr>
            <a:lstStyle/>
            <a:p>
              <a:pPr algn="ctr"/>
              <a:r>
                <a:rPr lang="en-US" sz="2200" b="1" dirty="0"/>
                <a:t>static</a:t>
              </a:r>
            </a:p>
          </p:txBody>
        </p:sp>
        <p:sp>
          <p:nvSpPr>
            <p:cNvPr id="12" name="TextBox 11">
              <a:extLst>
                <a:ext uri="{FF2B5EF4-FFF2-40B4-BE49-F238E27FC236}">
                  <a16:creationId xmlns:a16="http://schemas.microsoft.com/office/drawing/2014/main" id="{32ADA631-5ED1-864E-960B-C05DB1CC09CE}"/>
                </a:ext>
              </a:extLst>
            </p:cNvPr>
            <p:cNvSpPr txBox="1"/>
            <p:nvPr/>
          </p:nvSpPr>
          <p:spPr>
            <a:xfrm>
              <a:off x="647314" y="3050996"/>
              <a:ext cx="1306768" cy="430887"/>
            </a:xfrm>
            <a:prstGeom prst="rect">
              <a:avLst/>
            </a:prstGeom>
            <a:noFill/>
          </p:spPr>
          <p:txBody>
            <a:bodyPr wrap="none" rtlCol="0">
              <a:spAutoFit/>
            </a:bodyPr>
            <a:lstStyle/>
            <a:p>
              <a:pPr algn="ctr"/>
              <a:r>
                <a:rPr lang="en-US" sz="2200" b="1" dirty="0"/>
                <a:t>dynamic</a:t>
              </a:r>
            </a:p>
          </p:txBody>
        </p:sp>
        <p:sp>
          <p:nvSpPr>
            <p:cNvPr id="22" name="Rectangle 21">
              <a:extLst>
                <a:ext uri="{FF2B5EF4-FFF2-40B4-BE49-F238E27FC236}">
                  <a16:creationId xmlns:a16="http://schemas.microsoft.com/office/drawing/2014/main" id="{9A544B5E-5D35-D243-B48F-7A4B6CC73424}"/>
                </a:ext>
              </a:extLst>
            </p:cNvPr>
            <p:cNvSpPr/>
            <p:nvPr/>
          </p:nvSpPr>
          <p:spPr>
            <a:xfrm>
              <a:off x="2490701" y="1294764"/>
              <a:ext cx="4023152" cy="402336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a:extLst>
              <a:ext uri="{FF2B5EF4-FFF2-40B4-BE49-F238E27FC236}">
                <a16:creationId xmlns:a16="http://schemas.microsoft.com/office/drawing/2014/main" id="{5B522741-A350-F04E-A1B1-7968BA4C008A}"/>
              </a:ext>
            </a:extLst>
          </p:cNvPr>
          <p:cNvSpPr txBox="1"/>
          <p:nvPr/>
        </p:nvSpPr>
        <p:spPr>
          <a:xfrm>
            <a:off x="3059089" y="2378150"/>
            <a:ext cx="1586909" cy="430887"/>
          </a:xfrm>
          <a:prstGeom prst="rect">
            <a:avLst/>
          </a:prstGeom>
          <a:noFill/>
        </p:spPr>
        <p:txBody>
          <a:bodyPr wrap="none" rtlCol="0">
            <a:spAutoFit/>
          </a:bodyPr>
          <a:lstStyle/>
          <a:p>
            <a:pPr algn="ctr"/>
            <a:r>
              <a:rPr lang="en-US" sz="2200" b="1" dirty="0">
                <a:solidFill>
                  <a:srgbClr val="FF0000"/>
                </a:solidFill>
              </a:rPr>
              <a:t>TypeScript</a:t>
            </a:r>
          </a:p>
        </p:txBody>
      </p:sp>
      <p:sp>
        <p:nvSpPr>
          <p:cNvPr id="35" name="TextBox 34">
            <a:extLst>
              <a:ext uri="{FF2B5EF4-FFF2-40B4-BE49-F238E27FC236}">
                <a16:creationId xmlns:a16="http://schemas.microsoft.com/office/drawing/2014/main" id="{FD5525A7-B98E-E14C-AC1B-99AE641E0718}"/>
              </a:ext>
            </a:extLst>
          </p:cNvPr>
          <p:cNvSpPr txBox="1"/>
          <p:nvPr/>
        </p:nvSpPr>
        <p:spPr>
          <a:xfrm>
            <a:off x="5369050" y="1261093"/>
            <a:ext cx="1169039" cy="430887"/>
          </a:xfrm>
          <a:prstGeom prst="rect">
            <a:avLst/>
          </a:prstGeom>
          <a:noFill/>
        </p:spPr>
        <p:txBody>
          <a:bodyPr wrap="none" rtlCol="0">
            <a:spAutoFit/>
          </a:bodyPr>
          <a:lstStyle/>
          <a:p>
            <a:pPr algn="ctr"/>
            <a:r>
              <a:rPr lang="en-US" sz="2200" b="1" dirty="0">
                <a:solidFill>
                  <a:srgbClr val="FF0000"/>
                </a:solidFill>
              </a:rPr>
              <a:t>Fortran</a:t>
            </a:r>
          </a:p>
        </p:txBody>
      </p:sp>
    </p:spTree>
    <p:extLst>
      <p:ext uri="{BB962C8B-B14F-4D97-AF65-F5344CB8AC3E}">
        <p14:creationId xmlns:p14="http://schemas.microsoft.com/office/powerpoint/2010/main" val="37136820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8" grpId="0"/>
      <p:bldP spid="19" grpId="0"/>
      <p:bldP spid="20" grpId="0"/>
      <p:bldP spid="21" grpId="0"/>
      <p:bldP spid="34" grpId="0"/>
      <p:bldP spid="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2B9D1-FA7C-DA44-A0FA-3BB3EE7CE76F}"/>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27012358-6ECD-AB4F-A1E9-908B594783F2}"/>
              </a:ext>
            </a:extLst>
          </p:cNvPr>
          <p:cNvSpPr>
            <a:spLocks noGrp="1"/>
          </p:cNvSpPr>
          <p:nvPr>
            <p:ph idx="1"/>
          </p:nvPr>
        </p:nvSpPr>
        <p:spPr>
          <a:xfrm>
            <a:off x="152400" y="495301"/>
            <a:ext cx="8991600" cy="914399"/>
          </a:xfrm>
        </p:spPr>
        <p:txBody>
          <a:bodyPr/>
          <a:lstStyle/>
          <a:p>
            <a:r>
              <a:rPr lang="en-US" b="1" dirty="0"/>
              <a:t>type inference </a:t>
            </a:r>
            <a:r>
              <a:rPr lang="en-US" i="1" dirty="0"/>
              <a:t>automatically </a:t>
            </a:r>
            <a:r>
              <a:rPr lang="en-US" dirty="0"/>
              <a:t>determines what type something is.</a:t>
            </a:r>
          </a:p>
          <a:p>
            <a:r>
              <a:rPr lang="en-US" dirty="0"/>
              <a:t>you may not know it, but you've been using it for years.</a:t>
            </a:r>
          </a:p>
        </p:txBody>
      </p:sp>
      <p:sp>
        <p:nvSpPr>
          <p:cNvPr id="4" name="Slide Number Placeholder 3">
            <a:extLst>
              <a:ext uri="{FF2B5EF4-FFF2-40B4-BE49-F238E27FC236}">
                <a16:creationId xmlns:a16="http://schemas.microsoft.com/office/drawing/2014/main" id="{C1B48536-25AE-D34A-97CE-9FF6C60C5F27}"/>
              </a:ext>
            </a:extLst>
          </p:cNvPr>
          <p:cNvSpPr>
            <a:spLocks noGrp="1"/>
          </p:cNvSpPr>
          <p:nvPr>
            <p:ph type="sldNum" sz="quarter" idx="12"/>
          </p:nvPr>
        </p:nvSpPr>
        <p:spPr/>
        <p:txBody>
          <a:bodyPr/>
          <a:lstStyle/>
          <a:p>
            <a:fld id="{3552B95B-556F-44BD-91A5-D80C1B9E2BB3}" type="slidenum">
              <a:rPr lang="en-US" smtClean="0"/>
              <a:pPr/>
              <a:t>17</a:t>
            </a:fld>
            <a:endParaRPr lang="en-US"/>
          </a:p>
        </p:txBody>
      </p:sp>
      <p:sp>
        <p:nvSpPr>
          <p:cNvPr id="5" name="Rectangle 4">
            <a:extLst>
              <a:ext uri="{FF2B5EF4-FFF2-40B4-BE49-F238E27FC236}">
                <a16:creationId xmlns:a16="http://schemas.microsoft.com/office/drawing/2014/main" id="{4FC8316B-FFE1-A24D-BFED-0B179FA3E988}"/>
              </a:ext>
            </a:extLst>
          </p:cNvPr>
          <p:cNvSpPr/>
          <p:nvPr/>
        </p:nvSpPr>
        <p:spPr>
          <a:xfrm>
            <a:off x="381000" y="1391478"/>
            <a:ext cx="2590800" cy="830997"/>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x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a:t>
            </a:r>
          </a:p>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y = x + </a:t>
            </a:r>
            <a:r>
              <a:rPr lang="en-US" sz="2400" b="1" dirty="0">
                <a:solidFill>
                  <a:schemeClr val="accent3">
                    <a:lumMod val="75000"/>
                  </a:schemeClr>
                </a:solidFill>
                <a:latin typeface="Consolas" panose="020B0609020204030204" pitchFamily="49" charset="0"/>
                <a:cs typeface="Consolas" panose="020B0609020204030204" pitchFamily="49" charset="0"/>
              </a:rPr>
              <a:t>5</a:t>
            </a:r>
            <a:r>
              <a:rPr lang="en-US" sz="2400" b="1" dirty="0">
                <a:latin typeface="Consolas" panose="020B0609020204030204" pitchFamily="49" charset="0"/>
                <a:cs typeface="Consolas" panose="020B0609020204030204" pitchFamily="49" charset="0"/>
              </a:rPr>
              <a:t>;</a:t>
            </a:r>
          </a:p>
        </p:txBody>
      </p:sp>
      <p:sp>
        <p:nvSpPr>
          <p:cNvPr id="6" name="Rectangle 5">
            <a:extLst>
              <a:ext uri="{FF2B5EF4-FFF2-40B4-BE49-F238E27FC236}">
                <a16:creationId xmlns:a16="http://schemas.microsoft.com/office/drawing/2014/main" id="{81EE68E5-33C3-0640-923F-8D0D2AEDCE0C}"/>
              </a:ext>
            </a:extLst>
          </p:cNvPr>
          <p:cNvSpPr/>
          <p:nvPr/>
        </p:nvSpPr>
        <p:spPr>
          <a:xfrm>
            <a:off x="381000" y="2874422"/>
            <a:ext cx="5105400" cy="830997"/>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x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i="1" dirty="0">
                <a:solidFill>
                  <a:srgbClr val="0070C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a:t>
            </a:r>
          </a:p>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y = </a:t>
            </a:r>
            <a:r>
              <a:rPr lang="en-US" sz="2400" b="1" dirty="0" err="1">
                <a:latin typeface="Consolas" panose="020B0609020204030204" pitchFamily="49" charset="0"/>
                <a:cs typeface="Consolas" panose="020B0609020204030204" pitchFamily="49" charset="0"/>
              </a:rPr>
              <a:t>x</a:t>
            </a:r>
            <a:r>
              <a:rPr lang="en-US" sz="2400" i="1" dirty="0" err="1">
                <a:solidFill>
                  <a:srgbClr val="0070C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r>
              <a:rPr lang="en-US" sz="2400" i="1" dirty="0">
                <a:solidFill>
                  <a:srgbClr val="0070C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r>
              <a:rPr lang="en-US" sz="2400" b="1" dirty="0">
                <a:solidFill>
                  <a:schemeClr val="accent3">
                    <a:lumMod val="75000"/>
                  </a:schemeClr>
                </a:solidFill>
                <a:latin typeface="Consolas" panose="020B0609020204030204" pitchFamily="49" charset="0"/>
                <a:cs typeface="Consolas" panose="020B0609020204030204" pitchFamily="49" charset="0"/>
              </a:rPr>
              <a:t>5</a:t>
            </a:r>
            <a:r>
              <a:rPr lang="en-US" sz="2400" i="1" dirty="0">
                <a:solidFill>
                  <a:srgbClr val="0070C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FC09E610-1293-5F41-8225-DDF872EF8D66}"/>
              </a:ext>
            </a:extLst>
          </p:cNvPr>
          <p:cNvSpPr txBox="1"/>
          <p:nvPr/>
        </p:nvSpPr>
        <p:spPr>
          <a:xfrm>
            <a:off x="2933700" y="1326263"/>
            <a:ext cx="5610225" cy="1107996"/>
          </a:xfrm>
          <a:prstGeom prst="rect">
            <a:avLst/>
          </a:prstGeom>
          <a:noFill/>
        </p:spPr>
        <p:txBody>
          <a:bodyPr wrap="square" rtlCol="0">
            <a:spAutoFit/>
          </a:bodyPr>
          <a:lstStyle/>
          <a:p>
            <a:pPr algn="ctr"/>
            <a:r>
              <a:rPr lang="en-US" sz="2200" dirty="0"/>
              <a:t>the compiler </a:t>
            </a:r>
            <a:r>
              <a:rPr lang="en-US" sz="2200" b="1" dirty="0"/>
              <a:t>implicitly </a:t>
            </a:r>
            <a:r>
              <a:rPr lang="en-US" sz="2200" dirty="0"/>
              <a:t>determines the types of the parts of the expressions, and </a:t>
            </a:r>
            <a:r>
              <a:rPr lang="en-US" sz="2200" b="1" dirty="0"/>
              <a:t>which addition operation</a:t>
            </a:r>
            <a:r>
              <a:rPr lang="en-US" sz="2200" dirty="0"/>
              <a:t> to do.</a:t>
            </a:r>
            <a:endParaRPr lang="en-US" sz="2200" i="1" dirty="0">
              <a:solidFill>
                <a:schemeClr val="accent6">
                  <a:lumMod val="75000"/>
                </a:schemeClr>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04D3D2A2-058E-AC40-B444-00E9404DAB82}"/>
              </a:ext>
            </a:extLst>
          </p:cNvPr>
          <p:cNvSpPr txBox="1"/>
          <p:nvPr/>
        </p:nvSpPr>
        <p:spPr>
          <a:xfrm>
            <a:off x="381000" y="2459247"/>
            <a:ext cx="4343400" cy="430887"/>
          </a:xfrm>
          <a:prstGeom prst="rect">
            <a:avLst/>
          </a:prstGeom>
          <a:noFill/>
        </p:spPr>
        <p:txBody>
          <a:bodyPr wrap="square" rtlCol="0">
            <a:spAutoFit/>
          </a:bodyPr>
          <a:lstStyle/>
          <a:p>
            <a:r>
              <a:rPr lang="en-US" sz="2200" dirty="0"/>
              <a:t>imagine having to write this…</a:t>
            </a:r>
            <a:endParaRPr lang="en-US" sz="2200" i="1" dirty="0">
              <a:solidFill>
                <a:schemeClr val="accent6">
                  <a:lumMod val="75000"/>
                </a:schemeClr>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14C77F9F-28E5-DB41-90E9-006372023F00}"/>
              </a:ext>
            </a:extLst>
          </p:cNvPr>
          <p:cNvSpPr txBox="1"/>
          <p:nvPr/>
        </p:nvSpPr>
        <p:spPr>
          <a:xfrm>
            <a:off x="381000" y="3778586"/>
            <a:ext cx="8353425" cy="430887"/>
          </a:xfrm>
          <a:prstGeom prst="rect">
            <a:avLst/>
          </a:prstGeom>
          <a:noFill/>
        </p:spPr>
        <p:txBody>
          <a:bodyPr wrap="square" rtlCol="0">
            <a:spAutoFit/>
          </a:bodyPr>
          <a:lstStyle/>
          <a:p>
            <a:r>
              <a:rPr lang="en-US" sz="2200" dirty="0"/>
              <a:t>type inference can go further, too, like variables in Rust!</a:t>
            </a:r>
            <a:endParaRPr lang="en-US" sz="2200" i="1" dirty="0">
              <a:solidFill>
                <a:schemeClr val="accent6">
                  <a:lumMod val="75000"/>
                </a:schemeClr>
              </a:solidFill>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8D2B0487-5FF3-6F46-B840-0AF3DCC0BE0E}"/>
              </a:ext>
            </a:extLst>
          </p:cNvPr>
          <p:cNvSpPr/>
          <p:nvPr/>
        </p:nvSpPr>
        <p:spPr>
          <a:xfrm>
            <a:off x="381000" y="4259449"/>
            <a:ext cx="6858000" cy="830997"/>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let</a:t>
            </a:r>
            <a:r>
              <a:rPr lang="en-US" sz="2400" b="1" dirty="0">
                <a:latin typeface="Consolas" panose="020B0609020204030204" pitchFamily="49" charset="0"/>
                <a:cs typeface="Consolas" panose="020B0609020204030204" pitchFamily="49" charset="0"/>
              </a:rPr>
              <a:t> x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      </a:t>
            </a:r>
            <a:r>
              <a:rPr lang="en-US" sz="2400" i="1" dirty="0">
                <a:solidFill>
                  <a:schemeClr val="accent3">
                    <a:lumMod val="50000"/>
                  </a:schemeClr>
                </a:solidFill>
                <a:latin typeface="Consolas" panose="020B0609020204030204" pitchFamily="49" charset="0"/>
                <a:cs typeface="Consolas" panose="020B0609020204030204" pitchFamily="49" charset="0"/>
              </a:rPr>
              <a:t>// x: i32</a:t>
            </a:r>
          </a:p>
          <a:p>
            <a:r>
              <a:rPr lang="en-US" sz="2400" b="1" dirty="0">
                <a:solidFill>
                  <a:srgbClr val="FF0000"/>
                </a:solidFill>
                <a:latin typeface="Consolas" panose="020B0609020204030204" pitchFamily="49" charset="0"/>
                <a:cs typeface="Consolas" panose="020B0609020204030204" pitchFamily="49" charset="0"/>
              </a:rPr>
              <a:t>let</a:t>
            </a:r>
            <a:r>
              <a:rPr lang="en-US" sz="2400" b="1" dirty="0">
                <a:latin typeface="Consolas" panose="020B0609020204030204" pitchFamily="49" charset="0"/>
                <a:cs typeface="Consolas" panose="020B0609020204030204" pitchFamily="49" charset="0"/>
              </a:rPr>
              <a:t> y = Some(x); </a:t>
            </a:r>
            <a:r>
              <a:rPr lang="en-US" sz="2400" i="1" dirty="0">
                <a:solidFill>
                  <a:schemeClr val="accent3">
                    <a:lumMod val="50000"/>
                  </a:schemeClr>
                </a:solidFill>
                <a:latin typeface="Consolas" panose="020B0609020204030204" pitchFamily="49" charset="0"/>
                <a:cs typeface="Consolas" panose="020B0609020204030204" pitchFamily="49" charset="0"/>
              </a:rPr>
              <a:t>// y: Option&lt;i32&gt;</a:t>
            </a:r>
          </a:p>
        </p:txBody>
      </p:sp>
    </p:spTree>
    <p:extLst>
      <p:ext uri="{BB962C8B-B14F-4D97-AF65-F5344CB8AC3E}">
        <p14:creationId xmlns:p14="http://schemas.microsoft.com/office/powerpoint/2010/main" val="6863600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6" grpId="0" bldLvl="5"/>
      <p:bldP spid="7" grpId="0"/>
      <p:bldP spid="8" grpId="0"/>
      <p:bldP spid="9" grpId="0"/>
      <p:bldP spid="10" grpId="0" bldLvl="5"/>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10C3-7A1F-214A-9738-1D9C2A2F7BD1}"/>
              </a:ext>
            </a:extLst>
          </p:cNvPr>
          <p:cNvSpPr>
            <a:spLocks noGrp="1"/>
          </p:cNvSpPr>
          <p:nvPr>
            <p:ph type="ctrTitle"/>
          </p:nvPr>
        </p:nvSpPr>
        <p:spPr/>
        <p:txBody>
          <a:bodyPr/>
          <a:lstStyle/>
          <a:p>
            <a:r>
              <a:rPr lang="en-US" dirty="0"/>
              <a:t>Defining Type Systems</a:t>
            </a:r>
          </a:p>
        </p:txBody>
      </p:sp>
      <p:sp>
        <p:nvSpPr>
          <p:cNvPr id="3" name="Slide Number Placeholder 2">
            <a:extLst>
              <a:ext uri="{FF2B5EF4-FFF2-40B4-BE49-F238E27FC236}">
                <a16:creationId xmlns:a16="http://schemas.microsoft.com/office/drawing/2014/main" id="{11484BCF-7DD9-2541-B4AB-0C92D80C4A67}"/>
              </a:ext>
            </a:extLst>
          </p:cNvPr>
          <p:cNvSpPr>
            <a:spLocks noGrp="1"/>
          </p:cNvSpPr>
          <p:nvPr>
            <p:ph type="sldNum" sz="quarter" idx="12"/>
          </p:nvPr>
        </p:nvSpPr>
        <p:spPr/>
        <p:txBody>
          <a:bodyPr/>
          <a:lstStyle/>
          <a:p>
            <a:fld id="{3552B95B-556F-44BD-91A5-D80C1B9E2BB3}" type="slidenum">
              <a:rPr lang="en-US" smtClean="0"/>
              <a:pPr/>
              <a:t>18</a:t>
            </a:fld>
            <a:endParaRPr lang="en-US"/>
          </a:p>
        </p:txBody>
      </p:sp>
    </p:spTree>
    <p:extLst>
      <p:ext uri="{BB962C8B-B14F-4D97-AF65-F5344CB8AC3E}">
        <p14:creationId xmlns:p14="http://schemas.microsoft.com/office/powerpoint/2010/main" val="424328901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2165E-6A38-C144-A276-FEB3B664B284}"/>
              </a:ext>
            </a:extLst>
          </p:cNvPr>
          <p:cNvSpPr>
            <a:spLocks noGrp="1"/>
          </p:cNvSpPr>
          <p:nvPr>
            <p:ph type="title"/>
          </p:nvPr>
        </p:nvSpPr>
        <p:spPr/>
        <p:txBody>
          <a:bodyPr/>
          <a:lstStyle/>
          <a:p>
            <a:r>
              <a:rPr lang="en-US" dirty="0"/>
              <a:t>Terms and types</a:t>
            </a:r>
          </a:p>
        </p:txBody>
      </p:sp>
      <p:sp>
        <p:nvSpPr>
          <p:cNvPr id="3" name="Content Placeholder 2">
            <a:extLst>
              <a:ext uri="{FF2B5EF4-FFF2-40B4-BE49-F238E27FC236}">
                <a16:creationId xmlns:a16="http://schemas.microsoft.com/office/drawing/2014/main" id="{B3146071-FC24-A948-9A37-120499C69576}"/>
              </a:ext>
            </a:extLst>
          </p:cNvPr>
          <p:cNvSpPr>
            <a:spLocks noGrp="1"/>
          </p:cNvSpPr>
          <p:nvPr>
            <p:ph idx="1"/>
          </p:nvPr>
        </p:nvSpPr>
        <p:spPr>
          <a:xfrm>
            <a:off x="152400" y="495301"/>
            <a:ext cx="8991600" cy="1523999"/>
          </a:xfrm>
        </p:spPr>
        <p:txBody>
          <a:bodyPr/>
          <a:lstStyle/>
          <a:p>
            <a:r>
              <a:rPr lang="en-US" dirty="0"/>
              <a:t>a </a:t>
            </a:r>
            <a:r>
              <a:rPr lang="en-US" b="1" dirty="0"/>
              <a:t>term </a:t>
            </a:r>
            <a:r>
              <a:rPr lang="en-US" dirty="0"/>
              <a:t>is a thing that </a:t>
            </a:r>
            <a:r>
              <a:rPr lang="en-US" b="1" dirty="0"/>
              <a:t>has a value.</a:t>
            </a:r>
          </a:p>
          <a:p>
            <a:pPr lvl="1"/>
            <a:r>
              <a:rPr lang="en-US" dirty="0"/>
              <a:t>it's either a value itself, or it can be </a:t>
            </a:r>
            <a:r>
              <a:rPr lang="en-US" i="1" dirty="0"/>
              <a:t>evaluated </a:t>
            </a:r>
            <a:r>
              <a:rPr lang="en-US" dirty="0"/>
              <a:t>to get one.</a:t>
            </a:r>
          </a:p>
          <a:p>
            <a:pPr lvl="2"/>
            <a:r>
              <a:rPr lang="en-US" dirty="0"/>
              <a:t>(that sounds a lot like an </a:t>
            </a:r>
            <a:r>
              <a:rPr lang="en-US" b="1" dirty="0"/>
              <a:t>expression…</a:t>
            </a:r>
            <a:r>
              <a:rPr lang="en-US" dirty="0"/>
              <a:t>)</a:t>
            </a:r>
          </a:p>
          <a:p>
            <a:r>
              <a:rPr lang="en-US" dirty="0"/>
              <a:t>every value </a:t>
            </a:r>
            <a:r>
              <a:rPr lang="en-US" b="1" dirty="0"/>
              <a:t>has a type, </a:t>
            </a:r>
            <a:r>
              <a:rPr lang="en-US" dirty="0"/>
              <a:t>and therefore every term </a:t>
            </a:r>
            <a:r>
              <a:rPr lang="en-US" b="1" dirty="0"/>
              <a:t>has a type.</a:t>
            </a:r>
          </a:p>
        </p:txBody>
      </p:sp>
      <p:sp>
        <p:nvSpPr>
          <p:cNvPr id="4" name="Slide Number Placeholder 3">
            <a:extLst>
              <a:ext uri="{FF2B5EF4-FFF2-40B4-BE49-F238E27FC236}">
                <a16:creationId xmlns:a16="http://schemas.microsoft.com/office/drawing/2014/main" id="{6C9F33D3-D506-7143-BCD6-4BF4DFB5FBC8}"/>
              </a:ext>
            </a:extLst>
          </p:cNvPr>
          <p:cNvSpPr>
            <a:spLocks noGrp="1"/>
          </p:cNvSpPr>
          <p:nvPr>
            <p:ph type="sldNum" sz="quarter" idx="12"/>
          </p:nvPr>
        </p:nvSpPr>
        <p:spPr/>
        <p:txBody>
          <a:bodyPr/>
          <a:lstStyle/>
          <a:p>
            <a:fld id="{3552B95B-556F-44BD-91A5-D80C1B9E2BB3}" type="slidenum">
              <a:rPr lang="en-US" smtClean="0"/>
              <a:pPr/>
              <a:t>19</a:t>
            </a:fld>
            <a:endParaRPr lang="en-US"/>
          </a:p>
        </p:txBody>
      </p:sp>
      <p:sp>
        <p:nvSpPr>
          <p:cNvPr id="5" name="TextBox 4">
            <a:extLst>
              <a:ext uri="{FF2B5EF4-FFF2-40B4-BE49-F238E27FC236}">
                <a16:creationId xmlns:a16="http://schemas.microsoft.com/office/drawing/2014/main" id="{D517AD7B-6953-644E-87E4-45E010F610D0}"/>
              </a:ext>
            </a:extLst>
          </p:cNvPr>
          <p:cNvSpPr txBox="1"/>
          <p:nvPr/>
        </p:nvSpPr>
        <p:spPr>
          <a:xfrm>
            <a:off x="1600200" y="2038350"/>
            <a:ext cx="5610225" cy="769441"/>
          </a:xfrm>
          <a:prstGeom prst="rect">
            <a:avLst/>
          </a:prstGeom>
          <a:noFill/>
        </p:spPr>
        <p:txBody>
          <a:bodyPr wrap="square" rtlCol="0">
            <a:spAutoFit/>
          </a:bodyPr>
          <a:lstStyle/>
          <a:p>
            <a:pPr algn="ctr"/>
            <a:r>
              <a:rPr lang="en-US" sz="2200" dirty="0"/>
              <a:t>PL theory writes this relation like so:</a:t>
            </a:r>
          </a:p>
          <a:p>
            <a:pPr algn="ctr"/>
            <a:r>
              <a:rPr lang="en-US" sz="2200" b="1" dirty="0" err="1">
                <a:latin typeface="Consolas" panose="020B0609020204030204" pitchFamily="49" charset="0"/>
                <a:cs typeface="Consolas" panose="020B0609020204030204" pitchFamily="49" charset="0"/>
              </a:rPr>
              <a:t>term</a:t>
            </a:r>
            <a:r>
              <a:rPr lang="en-US" sz="2200" b="1" dirty="0" err="1">
                <a:solidFill>
                  <a:srgbClr val="0070C0"/>
                </a:solidFill>
                <a:latin typeface="Consolas" panose="020B0609020204030204" pitchFamily="49" charset="0"/>
                <a:cs typeface="Consolas" panose="020B0609020204030204" pitchFamily="49" charset="0"/>
              </a:rPr>
              <a:t>:Type</a:t>
            </a:r>
            <a:endParaRPr lang="en-US" sz="2200" b="1" dirty="0">
              <a:solidFill>
                <a:srgbClr val="0070C0"/>
              </a:solidFill>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914B05F7-4373-E845-8107-42ADB4A9344D}"/>
              </a:ext>
            </a:extLst>
          </p:cNvPr>
          <p:cNvSpPr txBox="1"/>
          <p:nvPr/>
        </p:nvSpPr>
        <p:spPr>
          <a:xfrm>
            <a:off x="504823" y="3695701"/>
            <a:ext cx="7800978" cy="430887"/>
          </a:xfrm>
          <a:prstGeom prst="rect">
            <a:avLst/>
          </a:prstGeom>
          <a:noFill/>
        </p:spPr>
        <p:txBody>
          <a:bodyPr wrap="square" rtlCol="0">
            <a:spAutoFit/>
          </a:bodyPr>
          <a:lstStyle/>
          <a:p>
            <a:pPr algn="ctr"/>
            <a:r>
              <a:rPr lang="en-US" sz="2200" dirty="0"/>
              <a:t>and now you know why Rust uses this syntax.</a:t>
            </a:r>
            <a:endParaRPr lang="en-US" sz="2200" b="1"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11BCDEA3-AC9A-264D-A9DA-DF4932B83615}"/>
              </a:ext>
            </a:extLst>
          </p:cNvPr>
          <p:cNvSpPr txBox="1"/>
          <p:nvPr/>
        </p:nvSpPr>
        <p:spPr>
          <a:xfrm>
            <a:off x="1619250" y="2888688"/>
            <a:ext cx="5610225" cy="769441"/>
          </a:xfrm>
          <a:prstGeom prst="rect">
            <a:avLst/>
          </a:prstGeom>
          <a:noFill/>
        </p:spPr>
        <p:txBody>
          <a:bodyPr wrap="square" rtlCol="0">
            <a:spAutoFit/>
          </a:bodyPr>
          <a:lstStyle/>
          <a:p>
            <a:pPr algn="ctr"/>
            <a:r>
              <a:rPr lang="en-US" sz="2200" dirty="0"/>
              <a:t>like:</a:t>
            </a:r>
          </a:p>
          <a:p>
            <a:pPr algn="ctr"/>
            <a:r>
              <a:rPr lang="en-US" sz="2200" b="1" dirty="0">
                <a:latin typeface="Consolas" panose="020B0609020204030204" pitchFamily="49" charset="0"/>
                <a:cs typeface="Consolas" panose="020B0609020204030204" pitchFamily="49" charset="0"/>
              </a:rPr>
              <a:t>x</a:t>
            </a:r>
            <a:r>
              <a:rPr lang="en-US" sz="2200" b="1" dirty="0">
                <a:solidFill>
                  <a:srgbClr val="0070C0"/>
                </a:solidFill>
                <a:latin typeface="Consolas" panose="020B0609020204030204" pitchFamily="49" charset="0"/>
                <a:cs typeface="Consolas" panose="020B0609020204030204" pitchFamily="49" charset="0"/>
              </a:rPr>
              <a:t>:i32</a:t>
            </a:r>
          </a:p>
        </p:txBody>
      </p:sp>
    </p:spTree>
    <p:extLst>
      <p:ext uri="{BB962C8B-B14F-4D97-AF65-F5344CB8AC3E}">
        <p14:creationId xmlns:p14="http://schemas.microsoft.com/office/powerpoint/2010/main" val="14008522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2C05B-05AE-9A49-9673-AA58035B92F2}"/>
              </a:ext>
            </a:extLst>
          </p:cNvPr>
          <p:cNvSpPr>
            <a:spLocks noGrp="1"/>
          </p:cNvSpPr>
          <p:nvPr>
            <p:ph type="title"/>
          </p:nvPr>
        </p:nvSpPr>
        <p:spPr/>
        <p:txBody>
          <a:bodyPr/>
          <a:lstStyle/>
          <a:p>
            <a:r>
              <a:rPr lang="en-US" dirty="0"/>
              <a:t>Inference rules</a:t>
            </a:r>
          </a:p>
        </p:txBody>
      </p:sp>
      <p:sp>
        <p:nvSpPr>
          <p:cNvPr id="3" name="Content Placeholder 2">
            <a:extLst>
              <a:ext uri="{FF2B5EF4-FFF2-40B4-BE49-F238E27FC236}">
                <a16:creationId xmlns:a16="http://schemas.microsoft.com/office/drawing/2014/main" id="{E1281A8D-E65D-3843-9914-D2E70D645764}"/>
              </a:ext>
            </a:extLst>
          </p:cNvPr>
          <p:cNvSpPr>
            <a:spLocks noGrp="1"/>
          </p:cNvSpPr>
          <p:nvPr>
            <p:ph idx="1"/>
          </p:nvPr>
        </p:nvSpPr>
        <p:spPr>
          <a:xfrm>
            <a:off x="152400" y="495301"/>
            <a:ext cx="8991600" cy="1219199"/>
          </a:xfrm>
        </p:spPr>
        <p:txBody>
          <a:bodyPr/>
          <a:lstStyle/>
          <a:p>
            <a:r>
              <a:rPr lang="en-US" dirty="0"/>
              <a:t>a type system's </a:t>
            </a:r>
            <a:r>
              <a:rPr lang="en-US" b="1" dirty="0"/>
              <a:t>inference rules </a:t>
            </a:r>
            <a:r>
              <a:rPr lang="en-US" dirty="0"/>
              <a:t>explain how to give a type to a term.</a:t>
            </a:r>
          </a:p>
          <a:p>
            <a:r>
              <a:rPr lang="en-US" dirty="0"/>
              <a:t>some rules are </a:t>
            </a:r>
            <a:r>
              <a:rPr lang="en-US" i="1" dirty="0"/>
              <a:t>axiomatic: </a:t>
            </a:r>
            <a:r>
              <a:rPr lang="en-US" dirty="0"/>
              <a:t>they are the "ground truth" of the types.</a:t>
            </a:r>
          </a:p>
          <a:p>
            <a:r>
              <a:rPr lang="en-US" dirty="0"/>
              <a:t>others say how to determine the type of a </a:t>
            </a:r>
            <a:r>
              <a:rPr lang="en-US" b="1" dirty="0"/>
              <a:t>more complex</a:t>
            </a:r>
            <a:r>
              <a:rPr lang="en-US" dirty="0"/>
              <a:t> term.</a:t>
            </a:r>
          </a:p>
        </p:txBody>
      </p:sp>
      <p:sp>
        <p:nvSpPr>
          <p:cNvPr id="4" name="Slide Number Placeholder 3">
            <a:extLst>
              <a:ext uri="{FF2B5EF4-FFF2-40B4-BE49-F238E27FC236}">
                <a16:creationId xmlns:a16="http://schemas.microsoft.com/office/drawing/2014/main" id="{B6A3F10B-5407-3B43-8415-8CCBC8481014}"/>
              </a:ext>
            </a:extLst>
          </p:cNvPr>
          <p:cNvSpPr>
            <a:spLocks noGrp="1"/>
          </p:cNvSpPr>
          <p:nvPr>
            <p:ph type="sldNum" sz="quarter" idx="12"/>
          </p:nvPr>
        </p:nvSpPr>
        <p:spPr/>
        <p:txBody>
          <a:bodyPr/>
          <a:lstStyle/>
          <a:p>
            <a:fld id="{3552B95B-556F-44BD-91A5-D80C1B9E2BB3}" type="slidenum">
              <a:rPr lang="en-US" smtClean="0"/>
              <a:pPr/>
              <a:t>20</a:t>
            </a:fld>
            <a:endParaRPr lang="en-US"/>
          </a:p>
        </p:txBody>
      </p:sp>
      <p:sp>
        <p:nvSpPr>
          <p:cNvPr id="5" name="TextBox 4">
            <a:extLst>
              <a:ext uri="{FF2B5EF4-FFF2-40B4-BE49-F238E27FC236}">
                <a16:creationId xmlns:a16="http://schemas.microsoft.com/office/drawing/2014/main" id="{C18A4274-72CF-5D49-843D-6E89BD913D2B}"/>
              </a:ext>
            </a:extLst>
          </p:cNvPr>
          <p:cNvSpPr txBox="1"/>
          <p:nvPr/>
        </p:nvSpPr>
        <p:spPr>
          <a:xfrm>
            <a:off x="321366" y="1790700"/>
            <a:ext cx="4678017" cy="1446550"/>
          </a:xfrm>
          <a:prstGeom prst="rect">
            <a:avLst/>
          </a:prstGeom>
          <a:noFill/>
        </p:spPr>
        <p:txBody>
          <a:bodyPr wrap="square" rtlCol="0">
            <a:spAutoFit/>
          </a:bodyPr>
          <a:lstStyle/>
          <a:p>
            <a:pPr algn="ctr"/>
            <a:r>
              <a:rPr lang="en-US" sz="2200" dirty="0"/>
              <a:t>here's an axiomatic rule that says </a:t>
            </a:r>
            <a:r>
              <a:rPr lang="en-US" sz="2200" b="1" dirty="0"/>
              <a:t>all integer literals</a:t>
            </a:r>
            <a:r>
              <a:rPr lang="en-US" sz="2200" dirty="0"/>
              <a:t> are of type </a:t>
            </a:r>
            <a:r>
              <a:rPr lang="en-US" sz="2200" b="1" dirty="0"/>
              <a:t>int:</a:t>
            </a:r>
          </a:p>
          <a:p>
            <a:pPr algn="ctr"/>
            <a:endParaRPr lang="en-US" sz="2200" b="1" dirty="0"/>
          </a:p>
          <a:p>
            <a:pPr algn="ctr"/>
            <a:r>
              <a:rPr lang="en-US" sz="2200" b="1" dirty="0">
                <a:latin typeface="Consolas" panose="020B0609020204030204" pitchFamily="49" charset="0"/>
                <a:cs typeface="Consolas" panose="020B0609020204030204" pitchFamily="49" charset="0"/>
              </a:rPr>
              <a:t>&lt;</a:t>
            </a:r>
            <a:r>
              <a:rPr lang="en-US" sz="2200" b="1" dirty="0" err="1">
                <a:latin typeface="Consolas" panose="020B0609020204030204" pitchFamily="49" charset="0"/>
                <a:cs typeface="Consolas" panose="020B0609020204030204" pitchFamily="49" charset="0"/>
              </a:rPr>
              <a:t>IntExp</a:t>
            </a:r>
            <a:r>
              <a:rPr lang="en-US" sz="2200" b="1" dirty="0">
                <a:latin typeface="Consolas" panose="020B0609020204030204" pitchFamily="49" charset="0"/>
                <a:cs typeface="Consolas" panose="020B0609020204030204" pitchFamily="49" charset="0"/>
              </a:rPr>
              <a:t>&gt;</a:t>
            </a:r>
            <a:r>
              <a:rPr lang="en-US" sz="2200" b="1" dirty="0">
                <a:solidFill>
                  <a:srgbClr val="0070C0"/>
                </a:solidFill>
                <a:latin typeface="Consolas" panose="020B0609020204030204" pitchFamily="49" charset="0"/>
                <a:cs typeface="Consolas" panose="020B0609020204030204" pitchFamily="49" charset="0"/>
              </a:rPr>
              <a:t>:int</a:t>
            </a:r>
          </a:p>
        </p:txBody>
      </p:sp>
      <p:sp>
        <p:nvSpPr>
          <p:cNvPr id="7" name="TextBox 6">
            <a:extLst>
              <a:ext uri="{FF2B5EF4-FFF2-40B4-BE49-F238E27FC236}">
                <a16:creationId xmlns:a16="http://schemas.microsoft.com/office/drawing/2014/main" id="{F55586DE-5C93-E149-A291-429C6977F556}"/>
              </a:ext>
            </a:extLst>
          </p:cNvPr>
          <p:cNvSpPr txBox="1"/>
          <p:nvPr/>
        </p:nvSpPr>
        <p:spPr>
          <a:xfrm>
            <a:off x="672547" y="3577973"/>
            <a:ext cx="3975654" cy="646331"/>
          </a:xfrm>
          <a:prstGeom prst="rect">
            <a:avLst/>
          </a:prstGeom>
          <a:noFill/>
        </p:spPr>
        <p:txBody>
          <a:bodyPr wrap="square" rtlCol="0">
            <a:spAutoFit/>
          </a:bodyPr>
          <a:lstStyle/>
          <a:p>
            <a:pPr algn="ctr"/>
            <a:r>
              <a:rPr lang="en-US" sz="1800" dirty="0"/>
              <a:t>(where </a:t>
            </a:r>
            <a:r>
              <a:rPr lang="en-US" sz="1800" b="1" dirty="0" err="1">
                <a:latin typeface="Consolas" panose="020B0609020204030204" pitchFamily="49" charset="0"/>
                <a:cs typeface="Consolas" panose="020B0609020204030204" pitchFamily="49" charset="0"/>
              </a:rPr>
              <a:t>IntExp</a:t>
            </a:r>
            <a:r>
              <a:rPr lang="en-US" sz="1800" dirty="0"/>
              <a:t> is the kind of AST node that represents integer literals.)</a:t>
            </a:r>
            <a:endParaRPr lang="en-US" sz="1800" b="1" dirty="0">
              <a:solidFill>
                <a:srgbClr val="0070C0"/>
              </a:solidFill>
              <a:latin typeface="Consolas" panose="020B0609020204030204" pitchFamily="49" charset="0"/>
              <a:cs typeface="Consolas" panose="020B0609020204030204" pitchFamily="49"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D695044-1B89-C342-91BE-41E7D120FA62}"/>
                  </a:ext>
                </a:extLst>
              </p:cNvPr>
              <p:cNvSpPr txBox="1"/>
              <p:nvPr/>
            </p:nvSpPr>
            <p:spPr>
              <a:xfrm>
                <a:off x="5532783" y="1790700"/>
                <a:ext cx="3382617" cy="1801968"/>
              </a:xfrm>
              <a:prstGeom prst="rect">
                <a:avLst/>
              </a:prstGeom>
              <a:noFill/>
            </p:spPr>
            <p:txBody>
              <a:bodyPr wrap="square" rtlCol="0">
                <a:spAutoFit/>
              </a:bodyPr>
              <a:lstStyle/>
              <a:p>
                <a:pPr algn="ctr"/>
                <a:r>
                  <a:rPr lang="en-US" sz="2200" dirty="0"/>
                  <a:t>and here's a rule for integer addition:</a:t>
                </a:r>
              </a:p>
              <a:p>
                <a:pPr algn="ctr"/>
                <a:endParaRPr lang="en-US" sz="2200" dirty="0"/>
              </a:p>
              <a:p>
                <a:pPr algn="ctr"/>
                <a14:m>
                  <m:oMathPara xmlns:m="http://schemas.openxmlformats.org/officeDocument/2006/math">
                    <m:oMathParaPr>
                      <m:jc m:val="centerGroup"/>
                    </m:oMathParaPr>
                    <m:oMath xmlns:m="http://schemas.openxmlformats.org/officeDocument/2006/math">
                      <m:f>
                        <m:fPr>
                          <m:ctrlPr>
                            <a:rPr lang="en-US" sz="2200" b="1" i="1" smtClean="0">
                              <a:latin typeface="Cambria Math" panose="02040503050406030204" pitchFamily="18" charset="0"/>
                            </a:rPr>
                          </m:ctrlPr>
                        </m:fPr>
                        <m:num>
                          <m:r>
                            <m:rPr>
                              <m:nor/>
                            </m:rPr>
                            <a:rPr lang="en-US" sz="2200" b="1" i="0" smtClean="0">
                              <a:latin typeface="Consolas" panose="020B0609020204030204" pitchFamily="49" charset="0"/>
                              <a:cs typeface="Consolas" panose="020B0609020204030204" pitchFamily="49" charset="0"/>
                            </a:rPr>
                            <m:t>t</m:t>
                          </m:r>
                          <m:r>
                            <m:rPr>
                              <m:nor/>
                            </m:rPr>
                            <a:rPr lang="en-US" sz="2200" b="1" i="0" smtClean="0">
                              <a:solidFill>
                                <a:srgbClr val="0070C0"/>
                              </a:solidFill>
                              <a:latin typeface="Consolas" panose="020B0609020204030204" pitchFamily="49" charset="0"/>
                              <a:cs typeface="Consolas" panose="020B0609020204030204" pitchFamily="49" charset="0"/>
                            </a:rPr>
                            <m:t>:</m:t>
                          </m:r>
                          <m:r>
                            <m:rPr>
                              <m:nor/>
                            </m:rPr>
                            <a:rPr lang="en-US" sz="2200" b="1" i="0" smtClean="0">
                              <a:solidFill>
                                <a:srgbClr val="0070C0"/>
                              </a:solidFill>
                              <a:latin typeface="Consolas" panose="020B0609020204030204" pitchFamily="49" charset="0"/>
                              <a:cs typeface="Consolas" panose="020B0609020204030204" pitchFamily="49" charset="0"/>
                            </a:rPr>
                            <m:t>int</m:t>
                          </m:r>
                          <m:r>
                            <m:rPr>
                              <m:nor/>
                            </m:rPr>
                            <a:rPr lang="en-US" sz="2200" b="1" i="0" smtClean="0">
                              <a:latin typeface="Consolas" panose="020B0609020204030204" pitchFamily="49" charset="0"/>
                              <a:cs typeface="Consolas" panose="020B0609020204030204" pitchFamily="49" charset="0"/>
                            </a:rPr>
                            <m:t>  </m:t>
                          </m:r>
                          <m:r>
                            <m:rPr>
                              <m:nor/>
                            </m:rPr>
                            <a:rPr lang="en-US" sz="2200" b="1" i="0" smtClean="0">
                              <a:latin typeface="Consolas" panose="020B0609020204030204" pitchFamily="49" charset="0"/>
                              <a:cs typeface="Consolas" panose="020B0609020204030204" pitchFamily="49" charset="0"/>
                            </a:rPr>
                            <m:t>u</m:t>
                          </m:r>
                          <m:r>
                            <m:rPr>
                              <m:nor/>
                            </m:rPr>
                            <a:rPr lang="en-US" sz="2200" b="1" i="0" smtClean="0">
                              <a:solidFill>
                                <a:srgbClr val="0070C0"/>
                              </a:solidFill>
                              <a:latin typeface="Consolas" panose="020B0609020204030204" pitchFamily="49" charset="0"/>
                              <a:cs typeface="Consolas" panose="020B0609020204030204" pitchFamily="49" charset="0"/>
                            </a:rPr>
                            <m:t>:</m:t>
                          </m:r>
                          <m:r>
                            <m:rPr>
                              <m:nor/>
                            </m:rPr>
                            <a:rPr lang="en-US" sz="2200" b="1" i="0" smtClean="0">
                              <a:solidFill>
                                <a:srgbClr val="0070C0"/>
                              </a:solidFill>
                              <a:latin typeface="Consolas" panose="020B0609020204030204" pitchFamily="49" charset="0"/>
                              <a:cs typeface="Consolas" panose="020B0609020204030204" pitchFamily="49" charset="0"/>
                            </a:rPr>
                            <m:t>int</m:t>
                          </m:r>
                        </m:num>
                        <m:den>
                          <m:d>
                            <m:dPr>
                              <m:ctrlPr>
                                <a:rPr lang="en-US" sz="2200" b="1" i="1" smtClean="0">
                                  <a:latin typeface="Cambria Math" panose="02040503050406030204" pitchFamily="18" charset="0"/>
                                </a:rPr>
                              </m:ctrlPr>
                            </m:dPr>
                            <m:e>
                              <m:r>
                                <m:rPr>
                                  <m:nor/>
                                </m:rPr>
                                <a:rPr lang="en-US" sz="2200" b="1" i="0" smtClean="0">
                                  <a:latin typeface="Consolas" panose="020B0609020204030204" pitchFamily="49" charset="0"/>
                                  <a:cs typeface="Consolas" panose="020B0609020204030204" pitchFamily="49" charset="0"/>
                                </a:rPr>
                                <m:t>t</m:t>
                              </m:r>
                              <m:r>
                                <m:rPr>
                                  <m:nor/>
                                </m:rPr>
                                <a:rPr lang="en-US" sz="2200" b="1" i="0" smtClean="0">
                                  <a:latin typeface="Consolas" panose="020B0609020204030204" pitchFamily="49" charset="0"/>
                                  <a:cs typeface="Consolas" panose="020B0609020204030204" pitchFamily="49" charset="0"/>
                                </a:rPr>
                                <m:t> + </m:t>
                              </m:r>
                              <m:r>
                                <m:rPr>
                                  <m:nor/>
                                </m:rPr>
                                <a:rPr lang="en-US" sz="2200" b="1" i="0" smtClean="0">
                                  <a:latin typeface="Consolas" panose="020B0609020204030204" pitchFamily="49" charset="0"/>
                                  <a:cs typeface="Consolas" panose="020B0609020204030204" pitchFamily="49" charset="0"/>
                                </a:rPr>
                                <m:t>u</m:t>
                              </m:r>
                            </m:e>
                          </m:d>
                          <m:r>
                            <m:rPr>
                              <m:nor/>
                            </m:rPr>
                            <a:rPr lang="en-US" sz="2200" b="1" i="0" smtClean="0">
                              <a:solidFill>
                                <a:srgbClr val="0070C0"/>
                              </a:solidFill>
                              <a:latin typeface="Consolas" panose="020B0609020204030204" pitchFamily="49" charset="0"/>
                              <a:cs typeface="Consolas" panose="020B0609020204030204" pitchFamily="49" charset="0"/>
                            </a:rPr>
                            <m:t>:</m:t>
                          </m:r>
                          <m:r>
                            <m:rPr>
                              <m:nor/>
                            </m:rPr>
                            <a:rPr lang="en-US" sz="2200" b="1" i="0" smtClean="0">
                              <a:solidFill>
                                <a:srgbClr val="0070C0"/>
                              </a:solidFill>
                              <a:latin typeface="Consolas" panose="020B0609020204030204" pitchFamily="49" charset="0"/>
                              <a:cs typeface="Consolas" panose="020B0609020204030204" pitchFamily="49" charset="0"/>
                            </a:rPr>
                            <m:t>int</m:t>
                          </m:r>
                        </m:den>
                      </m:f>
                    </m:oMath>
                  </m:oMathPara>
                </a14:m>
                <a:endParaRPr lang="en-US" sz="2200" b="1" dirty="0">
                  <a:latin typeface="Consolas" panose="020B0609020204030204" pitchFamily="49" charset="0"/>
                  <a:cs typeface="Consolas" panose="020B0609020204030204" pitchFamily="49" charset="0"/>
                </a:endParaRPr>
              </a:p>
            </p:txBody>
          </p:sp>
        </mc:Choice>
        <mc:Fallback xmlns="">
          <p:sp>
            <p:nvSpPr>
              <p:cNvPr id="9" name="TextBox 8">
                <a:extLst>
                  <a:ext uri="{FF2B5EF4-FFF2-40B4-BE49-F238E27FC236}">
                    <a16:creationId xmlns:a16="http://schemas.microsoft.com/office/drawing/2014/main" id="{3D695044-1B89-C342-91BE-41E7D120FA62}"/>
                  </a:ext>
                </a:extLst>
              </p:cNvPr>
              <p:cNvSpPr txBox="1">
                <a:spLocks noRot="1" noChangeAspect="1" noMove="1" noResize="1" noEditPoints="1" noAdjustHandles="1" noChangeArrowheads="1" noChangeShapeType="1" noTextEdit="1"/>
              </p:cNvSpPr>
              <p:nvPr/>
            </p:nvSpPr>
            <p:spPr>
              <a:xfrm>
                <a:off x="5532783" y="1790700"/>
                <a:ext cx="3382617" cy="1801968"/>
              </a:xfrm>
              <a:prstGeom prst="rect">
                <a:avLst/>
              </a:prstGeom>
              <a:blipFill>
                <a:blip r:embed="rId3"/>
                <a:stretch>
                  <a:fillRect t="-2098" b="-489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1E5ECF2-15BC-F445-BA53-0B67CC8CBE1D}"/>
              </a:ext>
            </a:extLst>
          </p:cNvPr>
          <p:cNvSpPr txBox="1"/>
          <p:nvPr/>
        </p:nvSpPr>
        <p:spPr>
          <a:xfrm>
            <a:off x="929308" y="4422795"/>
            <a:ext cx="7437784" cy="430887"/>
          </a:xfrm>
          <a:prstGeom prst="rect">
            <a:avLst/>
          </a:prstGeom>
          <a:noFill/>
        </p:spPr>
        <p:txBody>
          <a:bodyPr wrap="square" rtlCol="0">
            <a:spAutoFit/>
          </a:bodyPr>
          <a:lstStyle/>
          <a:p>
            <a:pPr algn="ctr"/>
            <a:r>
              <a:rPr lang="en-US" sz="2200" dirty="0"/>
              <a:t>our type checking algorithm will be driven by these rules. </a:t>
            </a:r>
            <a:endParaRPr lang="en-US" sz="2200" b="1" dirty="0">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A0C56CFB-4B17-E744-87DD-52A35D29A19E}"/>
              </a:ext>
            </a:extLst>
          </p:cNvPr>
          <p:cNvSpPr txBox="1"/>
          <p:nvPr/>
        </p:nvSpPr>
        <p:spPr>
          <a:xfrm>
            <a:off x="929308" y="4788813"/>
            <a:ext cx="7437784" cy="430887"/>
          </a:xfrm>
          <a:prstGeom prst="rect">
            <a:avLst/>
          </a:prstGeom>
          <a:noFill/>
        </p:spPr>
        <p:txBody>
          <a:bodyPr wrap="square" rtlCol="0">
            <a:spAutoFit/>
          </a:bodyPr>
          <a:lstStyle/>
          <a:p>
            <a:pPr algn="ctr"/>
            <a:r>
              <a:rPr lang="en-US" sz="2200" dirty="0"/>
              <a:t>if no rule can be applied,</a:t>
            </a:r>
            <a:r>
              <a:rPr lang="en-US" sz="2200" b="1" dirty="0">
                <a:solidFill>
                  <a:srgbClr val="FF0000"/>
                </a:solidFill>
              </a:rPr>
              <a:t> it's a type error!</a:t>
            </a:r>
            <a:endParaRPr lang="en-US" sz="2200" b="1" dirty="0">
              <a:solidFill>
                <a:srgbClr val="FF0000"/>
              </a:solidFill>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9332AF02-5857-104F-BEDC-BB38C835AACA}"/>
              </a:ext>
            </a:extLst>
          </p:cNvPr>
          <p:cNvSpPr txBox="1"/>
          <p:nvPr/>
        </p:nvSpPr>
        <p:spPr>
          <a:xfrm>
            <a:off x="5458651" y="3668868"/>
            <a:ext cx="3332924" cy="707886"/>
          </a:xfrm>
          <a:prstGeom prst="rect">
            <a:avLst/>
          </a:prstGeom>
          <a:noFill/>
        </p:spPr>
        <p:txBody>
          <a:bodyPr wrap="square" rtlCol="0">
            <a:spAutoFit/>
          </a:bodyPr>
          <a:lstStyle/>
          <a:p>
            <a:pPr algn="ctr"/>
            <a:r>
              <a:rPr lang="en-US" sz="2000" dirty="0"/>
              <a:t>"</a:t>
            </a:r>
            <a:r>
              <a:rPr lang="en-US" sz="2000" b="1" dirty="0"/>
              <a:t>if</a:t>
            </a:r>
            <a:r>
              <a:rPr lang="en-US" sz="2000" dirty="0"/>
              <a:t> t is an int and u is an int, </a:t>
            </a:r>
            <a:r>
              <a:rPr lang="en-US" sz="2000" b="1" dirty="0"/>
              <a:t>then</a:t>
            </a:r>
            <a:r>
              <a:rPr lang="en-US" sz="2000" dirty="0"/>
              <a:t> (</a:t>
            </a:r>
            <a:r>
              <a:rPr lang="en-US" sz="2000" dirty="0" err="1"/>
              <a:t>t+u</a:t>
            </a:r>
            <a:r>
              <a:rPr lang="en-US" sz="2000" dirty="0"/>
              <a:t>) is an int."</a:t>
            </a:r>
            <a:endParaRPr lang="en-US" sz="2000" b="1" dirty="0">
              <a:solidFill>
                <a:srgbClr val="0070C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9897443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0" grpId="0"/>
      <p:bldP spid="12"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F582-C5C6-8645-A332-CF0FB81092AA}"/>
              </a:ext>
            </a:extLst>
          </p:cNvPr>
          <p:cNvSpPr>
            <a:spLocks noGrp="1"/>
          </p:cNvSpPr>
          <p:nvPr>
            <p:ph type="title"/>
          </p:nvPr>
        </p:nvSpPr>
        <p:spPr/>
        <p:txBody>
          <a:bodyPr/>
          <a:lstStyle/>
          <a:p>
            <a:r>
              <a:rPr lang="en-US" dirty="0"/>
              <a:t>The type context</a:t>
            </a:r>
          </a:p>
        </p:txBody>
      </p:sp>
      <p:sp>
        <p:nvSpPr>
          <p:cNvPr id="3" name="Content Placeholder 2">
            <a:extLst>
              <a:ext uri="{FF2B5EF4-FFF2-40B4-BE49-F238E27FC236}">
                <a16:creationId xmlns:a16="http://schemas.microsoft.com/office/drawing/2014/main" id="{0802FADF-7850-8741-90E1-9E94B429A0BE}"/>
              </a:ext>
            </a:extLst>
          </p:cNvPr>
          <p:cNvSpPr>
            <a:spLocks noGrp="1"/>
          </p:cNvSpPr>
          <p:nvPr>
            <p:ph idx="1"/>
          </p:nvPr>
        </p:nvSpPr>
        <p:spPr>
          <a:xfrm>
            <a:off x="152400" y="495302"/>
            <a:ext cx="8991600" cy="830996"/>
          </a:xfrm>
        </p:spPr>
        <p:txBody>
          <a:bodyPr/>
          <a:lstStyle/>
          <a:p>
            <a:r>
              <a:rPr lang="en-US" dirty="0"/>
              <a:t>in addition to the axiomatic rules, we also need some </a:t>
            </a:r>
            <a:r>
              <a:rPr lang="en-US" i="1" dirty="0"/>
              <a:t>context</a:t>
            </a:r>
            <a:r>
              <a:rPr lang="en-US" dirty="0"/>
              <a:t> to assign types to some terms, like </a:t>
            </a:r>
            <a:r>
              <a:rPr lang="en-US" b="1" dirty="0"/>
              <a:t>variables.</a:t>
            </a:r>
          </a:p>
        </p:txBody>
      </p:sp>
      <p:sp>
        <p:nvSpPr>
          <p:cNvPr id="4" name="Slide Number Placeholder 3">
            <a:extLst>
              <a:ext uri="{FF2B5EF4-FFF2-40B4-BE49-F238E27FC236}">
                <a16:creationId xmlns:a16="http://schemas.microsoft.com/office/drawing/2014/main" id="{1F2B79D6-67F5-1D45-BCB4-A599CA455163}"/>
              </a:ext>
            </a:extLst>
          </p:cNvPr>
          <p:cNvSpPr>
            <a:spLocks noGrp="1"/>
          </p:cNvSpPr>
          <p:nvPr>
            <p:ph type="sldNum" sz="quarter" idx="12"/>
          </p:nvPr>
        </p:nvSpPr>
        <p:spPr/>
        <p:txBody>
          <a:bodyPr/>
          <a:lstStyle/>
          <a:p>
            <a:fld id="{3552B95B-556F-44BD-91A5-D80C1B9E2BB3}" type="slidenum">
              <a:rPr lang="en-US" smtClean="0"/>
              <a:pPr/>
              <a:t>21</a:t>
            </a:fld>
            <a:endParaRPr lang="en-US"/>
          </a:p>
        </p:txBody>
      </p:sp>
      <p:sp>
        <p:nvSpPr>
          <p:cNvPr id="5" name="Rectangle 4">
            <a:extLst>
              <a:ext uri="{FF2B5EF4-FFF2-40B4-BE49-F238E27FC236}">
                <a16:creationId xmlns:a16="http://schemas.microsoft.com/office/drawing/2014/main" id="{DB92D271-5E3B-1E4B-B670-7D44A175DE34}"/>
              </a:ext>
            </a:extLst>
          </p:cNvPr>
          <p:cNvSpPr/>
          <p:nvPr/>
        </p:nvSpPr>
        <p:spPr>
          <a:xfrm>
            <a:off x="399219" y="1278463"/>
            <a:ext cx="2590800" cy="830997"/>
          </a:xfrm>
          <a:prstGeom prst="rect">
            <a:avLst/>
          </a:prstGeom>
        </p:spPr>
        <p:txBody>
          <a:bodyPr wrap="square">
            <a:spAutoFit/>
          </a:bodyPr>
          <a:lstStyle/>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x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a:t>
            </a:r>
          </a:p>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y = x + </a:t>
            </a:r>
            <a:r>
              <a:rPr lang="en-US" sz="2400" b="1" dirty="0">
                <a:solidFill>
                  <a:schemeClr val="accent3">
                    <a:lumMod val="75000"/>
                  </a:schemeClr>
                </a:solidFill>
                <a:latin typeface="Consolas" panose="020B0609020204030204" pitchFamily="49" charset="0"/>
                <a:cs typeface="Consolas" panose="020B0609020204030204" pitchFamily="49" charset="0"/>
              </a:rPr>
              <a:t>5</a:t>
            </a:r>
            <a:r>
              <a:rPr lang="en-US" sz="24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BAF50604-DDFE-E346-BA46-6BE6D55CFC1C}"/>
              </a:ext>
            </a:extLst>
          </p:cNvPr>
          <p:cNvSpPr txBox="1"/>
          <p:nvPr/>
        </p:nvSpPr>
        <p:spPr>
          <a:xfrm>
            <a:off x="3007420" y="1492750"/>
            <a:ext cx="4391024" cy="430887"/>
          </a:xfrm>
          <a:prstGeom prst="rect">
            <a:avLst/>
          </a:prstGeom>
          <a:noFill/>
        </p:spPr>
        <p:txBody>
          <a:bodyPr wrap="square" rtlCol="0">
            <a:spAutoFit/>
          </a:bodyPr>
          <a:lstStyle/>
          <a:p>
            <a:r>
              <a:rPr lang="en-US" sz="2200" dirty="0"/>
              <a:t>how do we know what type x is?</a:t>
            </a:r>
            <a:endParaRPr lang="en-US" sz="2200" dirty="0">
              <a:solidFill>
                <a:srgbClr val="FF0000"/>
              </a:solidFill>
            </a:endParaRPr>
          </a:p>
        </p:txBody>
      </p:sp>
      <p:sp>
        <p:nvSpPr>
          <p:cNvPr id="7" name="Rounded Rectangle 6">
            <a:extLst>
              <a:ext uri="{FF2B5EF4-FFF2-40B4-BE49-F238E27FC236}">
                <a16:creationId xmlns:a16="http://schemas.microsoft.com/office/drawing/2014/main" id="{72DD36CC-41CB-EE4A-9BA1-218DFE8DE96B}"/>
              </a:ext>
            </a:extLst>
          </p:cNvPr>
          <p:cNvSpPr/>
          <p:nvPr/>
        </p:nvSpPr>
        <p:spPr>
          <a:xfrm>
            <a:off x="1736031" y="1689870"/>
            <a:ext cx="369406" cy="3892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DB05374-90D4-7F4F-A803-EE578F9B3F4D}"/>
              </a:ext>
            </a:extLst>
          </p:cNvPr>
          <p:cNvSpPr txBox="1"/>
          <p:nvPr/>
        </p:nvSpPr>
        <p:spPr>
          <a:xfrm>
            <a:off x="3007420" y="1849801"/>
            <a:ext cx="5388868" cy="430887"/>
          </a:xfrm>
          <a:prstGeom prst="rect">
            <a:avLst/>
          </a:prstGeom>
          <a:noFill/>
        </p:spPr>
        <p:txBody>
          <a:bodyPr wrap="square" rtlCol="0">
            <a:spAutoFit/>
          </a:bodyPr>
          <a:lstStyle/>
          <a:p>
            <a:r>
              <a:rPr lang="en-US" sz="2200" dirty="0"/>
              <a:t>we have to </a:t>
            </a:r>
            <a:r>
              <a:rPr lang="en-US" sz="2200" b="1" dirty="0"/>
              <a:t>look back to its declaration.</a:t>
            </a:r>
            <a:endParaRPr lang="en-US" sz="2200" dirty="0">
              <a:solidFill>
                <a:srgbClr val="FF0000"/>
              </a:solidFill>
            </a:endParaRPr>
          </a:p>
        </p:txBody>
      </p:sp>
      <p:sp>
        <p:nvSpPr>
          <p:cNvPr id="11" name="TextBox 10">
            <a:extLst>
              <a:ext uri="{FF2B5EF4-FFF2-40B4-BE49-F238E27FC236}">
                <a16:creationId xmlns:a16="http://schemas.microsoft.com/office/drawing/2014/main" id="{01DCB54D-709C-CF4A-A681-4DBA31F83F0F}"/>
              </a:ext>
            </a:extLst>
          </p:cNvPr>
          <p:cNvSpPr txBox="1"/>
          <p:nvPr/>
        </p:nvSpPr>
        <p:spPr>
          <a:xfrm>
            <a:off x="2806254" y="2287489"/>
            <a:ext cx="5791200" cy="769441"/>
          </a:xfrm>
          <a:prstGeom prst="rect">
            <a:avLst/>
          </a:prstGeom>
          <a:noFill/>
        </p:spPr>
        <p:txBody>
          <a:bodyPr wrap="square" rtlCol="0">
            <a:spAutoFit/>
          </a:bodyPr>
          <a:lstStyle/>
          <a:p>
            <a:pPr algn="ctr"/>
            <a:r>
              <a:rPr lang="en-US" sz="2200" dirty="0"/>
              <a:t>fortunately, </a:t>
            </a:r>
            <a:r>
              <a:rPr lang="en-US" sz="2200" b="1" dirty="0"/>
              <a:t>name resolution </a:t>
            </a:r>
            <a:r>
              <a:rPr lang="en-US" sz="2200" dirty="0"/>
              <a:t>has already determined which symbol </a:t>
            </a:r>
            <a:r>
              <a:rPr lang="en-US" sz="2200" b="1" dirty="0"/>
              <a:t>x</a:t>
            </a:r>
            <a:r>
              <a:rPr lang="en-US" sz="2200" dirty="0"/>
              <a:t> refers to!</a:t>
            </a:r>
            <a:endParaRPr lang="en-US" sz="2200" dirty="0">
              <a:solidFill>
                <a:srgbClr val="FF0000"/>
              </a:solidFill>
            </a:endParaRPr>
          </a:p>
        </p:txBody>
      </p:sp>
      <p:sp>
        <p:nvSpPr>
          <p:cNvPr id="12" name="TextBox 11">
            <a:extLst>
              <a:ext uri="{FF2B5EF4-FFF2-40B4-BE49-F238E27FC236}">
                <a16:creationId xmlns:a16="http://schemas.microsoft.com/office/drawing/2014/main" id="{CDB78413-B02B-BA48-B2D6-6742141C0CEE}"/>
              </a:ext>
            </a:extLst>
          </p:cNvPr>
          <p:cNvSpPr txBox="1"/>
          <p:nvPr/>
        </p:nvSpPr>
        <p:spPr>
          <a:xfrm>
            <a:off x="1120583" y="3070651"/>
            <a:ext cx="7055234" cy="769441"/>
          </a:xfrm>
          <a:prstGeom prst="rect">
            <a:avLst/>
          </a:prstGeom>
          <a:noFill/>
        </p:spPr>
        <p:txBody>
          <a:bodyPr wrap="square" rtlCol="0">
            <a:spAutoFit/>
          </a:bodyPr>
          <a:lstStyle/>
          <a:p>
            <a:pPr algn="ctr"/>
            <a:r>
              <a:rPr lang="en-US" sz="2200" dirty="0"/>
              <a:t>the </a:t>
            </a:r>
            <a:r>
              <a:rPr lang="en-US" sz="2200" b="1" dirty="0"/>
              <a:t>type context</a:t>
            </a:r>
            <a:r>
              <a:rPr lang="en-US" sz="2200" dirty="0"/>
              <a:t> is another mapping: it associates </a:t>
            </a:r>
            <a:r>
              <a:rPr lang="en-US" sz="2200" b="1" dirty="0"/>
              <a:t>symbols in the symbol table </a:t>
            </a:r>
            <a:r>
              <a:rPr lang="en-US" sz="2200" dirty="0"/>
              <a:t>with </a:t>
            </a:r>
            <a:r>
              <a:rPr lang="en-US" sz="2200" b="1" dirty="0"/>
              <a:t>types.</a:t>
            </a:r>
            <a:endParaRPr lang="en-US" sz="2200" b="1" dirty="0">
              <a:solidFill>
                <a:srgbClr val="FF0000"/>
              </a:solidFill>
            </a:endParaRPr>
          </a:p>
        </p:txBody>
      </p:sp>
      <p:sp>
        <p:nvSpPr>
          <p:cNvPr id="13" name="Freeform 12">
            <a:extLst>
              <a:ext uri="{FF2B5EF4-FFF2-40B4-BE49-F238E27FC236}">
                <a16:creationId xmlns:a16="http://schemas.microsoft.com/office/drawing/2014/main" id="{281AFE54-8278-894B-B326-87FC0C456628}"/>
              </a:ext>
            </a:extLst>
          </p:cNvPr>
          <p:cNvSpPr/>
          <p:nvPr/>
        </p:nvSpPr>
        <p:spPr>
          <a:xfrm>
            <a:off x="1333500" y="1273820"/>
            <a:ext cx="542925" cy="402579"/>
          </a:xfrm>
          <a:custGeom>
            <a:avLst/>
            <a:gdLst>
              <a:gd name="connsiteX0" fmla="*/ 542925 w 542925"/>
              <a:gd name="connsiteY0" fmla="*/ 383596 h 383596"/>
              <a:gd name="connsiteX1" fmla="*/ 304800 w 542925"/>
              <a:gd name="connsiteY1" fmla="*/ 12121 h 383596"/>
              <a:gd name="connsiteX2" fmla="*/ 0 w 542925"/>
              <a:gd name="connsiteY2" fmla="*/ 126421 h 383596"/>
              <a:gd name="connsiteX0" fmla="*/ 542925 w 542925"/>
              <a:gd name="connsiteY0" fmla="*/ 402579 h 402579"/>
              <a:gd name="connsiteX1" fmla="*/ 304800 w 542925"/>
              <a:gd name="connsiteY1" fmla="*/ 31104 h 402579"/>
              <a:gd name="connsiteX2" fmla="*/ 0 w 542925"/>
              <a:gd name="connsiteY2" fmla="*/ 145404 h 402579"/>
            </a:gdLst>
            <a:ahLst/>
            <a:cxnLst>
              <a:cxn ang="0">
                <a:pos x="connsiteX0" y="connsiteY0"/>
              </a:cxn>
              <a:cxn ang="0">
                <a:pos x="connsiteX1" y="connsiteY1"/>
              </a:cxn>
              <a:cxn ang="0">
                <a:pos x="connsiteX2" y="connsiteY2"/>
              </a:cxn>
            </a:cxnLst>
            <a:rect l="l" t="t" r="r" b="b"/>
            <a:pathLst>
              <a:path w="542925" h="402579">
                <a:moveTo>
                  <a:pt x="542925" y="402579"/>
                </a:moveTo>
                <a:cubicBezTo>
                  <a:pt x="469106" y="238273"/>
                  <a:pt x="395288" y="73967"/>
                  <a:pt x="304800" y="31104"/>
                </a:cubicBezTo>
                <a:cubicBezTo>
                  <a:pt x="214312" y="-11759"/>
                  <a:pt x="50006" y="-37953"/>
                  <a:pt x="0" y="145404"/>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C6DB223-9D49-554D-B0FE-AA3B96FCF6D5}"/>
              </a:ext>
            </a:extLst>
          </p:cNvPr>
          <p:cNvSpPr txBox="1"/>
          <p:nvPr/>
        </p:nvSpPr>
        <p:spPr>
          <a:xfrm>
            <a:off x="1120583" y="3977908"/>
            <a:ext cx="7055234" cy="430887"/>
          </a:xfrm>
          <a:prstGeom prst="rect">
            <a:avLst/>
          </a:prstGeom>
          <a:noFill/>
        </p:spPr>
        <p:txBody>
          <a:bodyPr wrap="square" rtlCol="0">
            <a:spAutoFit/>
          </a:bodyPr>
          <a:lstStyle/>
          <a:p>
            <a:pPr algn="ctr"/>
            <a:r>
              <a:rPr lang="en-US" sz="2200" dirty="0"/>
              <a:t>here,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a:t>
            </a:r>
            <a:r>
              <a:rPr lang="en-US" sz="2200" b="1" dirty="0"/>
              <a:t> </a:t>
            </a:r>
            <a:r>
              <a:rPr lang="en-US" sz="2200" i="1" dirty="0"/>
              <a:t>explicitly</a:t>
            </a:r>
            <a:r>
              <a:rPr lang="en-US" sz="2200" dirty="0"/>
              <a:t> associates </a:t>
            </a:r>
            <a:r>
              <a:rPr lang="en-US" sz="2200" b="1" dirty="0">
                <a:latin typeface="Consolas" panose="020B0609020204030204" pitchFamily="49" charset="0"/>
                <a:cs typeface="Consolas" panose="020B0609020204030204" pitchFamily="49" charset="0"/>
              </a:rPr>
              <a:t>x</a:t>
            </a:r>
            <a:r>
              <a:rPr lang="en-US" dirty="0"/>
              <a:t> </a:t>
            </a:r>
            <a:r>
              <a:rPr lang="en-US" sz="2200" dirty="0"/>
              <a:t>with the type </a:t>
            </a:r>
            <a:r>
              <a:rPr lang="en-US" sz="2200" b="1" dirty="0">
                <a:solidFill>
                  <a:srgbClr val="FF0000"/>
                </a:solidFill>
                <a:latin typeface="Consolas" panose="020B0609020204030204" pitchFamily="49" charset="0"/>
                <a:cs typeface="Consolas" panose="020B0609020204030204" pitchFamily="49" charset="0"/>
              </a:rPr>
              <a:t>int</a:t>
            </a:r>
            <a:r>
              <a:rPr lang="en-US" sz="2200" b="1" dirty="0"/>
              <a:t>…</a:t>
            </a:r>
            <a:endParaRPr lang="en-US" sz="2200" b="1" dirty="0">
              <a:solidFill>
                <a:srgbClr val="FF0000"/>
              </a:solidFill>
            </a:endParaRPr>
          </a:p>
        </p:txBody>
      </p:sp>
      <p:sp>
        <p:nvSpPr>
          <p:cNvPr id="15" name="TextBox 14">
            <a:extLst>
              <a:ext uri="{FF2B5EF4-FFF2-40B4-BE49-F238E27FC236}">
                <a16:creationId xmlns:a16="http://schemas.microsoft.com/office/drawing/2014/main" id="{B49C1191-47F3-0246-B185-C15707584465}"/>
              </a:ext>
            </a:extLst>
          </p:cNvPr>
          <p:cNvSpPr txBox="1"/>
          <p:nvPr/>
        </p:nvSpPr>
        <p:spPr>
          <a:xfrm>
            <a:off x="1120583" y="4585839"/>
            <a:ext cx="7055234" cy="769441"/>
          </a:xfrm>
          <a:prstGeom prst="rect">
            <a:avLst/>
          </a:prstGeom>
          <a:noFill/>
        </p:spPr>
        <p:txBody>
          <a:bodyPr wrap="square" rtlCol="0">
            <a:spAutoFit/>
          </a:bodyPr>
          <a:lstStyle/>
          <a:p>
            <a:pPr algn="ctr"/>
            <a:r>
              <a:rPr lang="en-US" sz="2200" dirty="0"/>
              <a:t>but in languages with </a:t>
            </a:r>
            <a:r>
              <a:rPr lang="en-US" sz="2200" b="1" dirty="0"/>
              <a:t>type inference, </a:t>
            </a:r>
            <a:r>
              <a:rPr lang="en-US" sz="2200" dirty="0"/>
              <a:t>the type of the initializer would have to be determined first.</a:t>
            </a:r>
            <a:endParaRPr lang="en-US" sz="2200" b="1" dirty="0">
              <a:solidFill>
                <a:srgbClr val="FF0000"/>
              </a:solidFill>
            </a:endParaRPr>
          </a:p>
        </p:txBody>
      </p:sp>
    </p:spTree>
    <p:extLst>
      <p:ext uri="{BB962C8B-B14F-4D97-AF65-F5344CB8AC3E}">
        <p14:creationId xmlns:p14="http://schemas.microsoft.com/office/powerpoint/2010/main" val="40311889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6" grpId="0"/>
      <p:bldP spid="7" grpId="0" animBg="1"/>
      <p:bldP spid="8" grpId="0"/>
      <p:bldP spid="11" grpId="0"/>
      <p:bldP spid="12" grpId="0"/>
      <p:bldP spid="13" grpId="0" animBg="1"/>
      <p:bldP spid="14"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0CB17-B9C4-F244-A6F3-01E0E161000D}"/>
              </a:ext>
            </a:extLst>
          </p:cNvPr>
          <p:cNvSpPr>
            <a:spLocks noGrp="1"/>
          </p:cNvSpPr>
          <p:nvPr>
            <p:ph type="title"/>
          </p:nvPr>
        </p:nvSpPr>
        <p:spPr/>
        <p:txBody>
          <a:bodyPr/>
          <a:lstStyle/>
          <a:p>
            <a:r>
              <a:rPr lang="en-US" dirty="0"/>
              <a:t>Truss's type system</a:t>
            </a:r>
          </a:p>
        </p:txBody>
      </p:sp>
      <p:sp>
        <p:nvSpPr>
          <p:cNvPr id="3" name="Content Placeholder 2">
            <a:extLst>
              <a:ext uri="{FF2B5EF4-FFF2-40B4-BE49-F238E27FC236}">
                <a16:creationId xmlns:a16="http://schemas.microsoft.com/office/drawing/2014/main" id="{257BBAB0-D29B-9946-BABB-4F6646B0117C}"/>
              </a:ext>
            </a:extLst>
          </p:cNvPr>
          <p:cNvSpPr>
            <a:spLocks noGrp="1"/>
          </p:cNvSpPr>
          <p:nvPr>
            <p:ph idx="1"/>
          </p:nvPr>
        </p:nvSpPr>
        <p:spPr/>
        <p:txBody>
          <a:bodyPr/>
          <a:lstStyle/>
          <a:p>
            <a:r>
              <a:rPr lang="en-US" dirty="0"/>
              <a:t>let's examine the type system of this toy language to get familiar with how these concepts play out.</a:t>
            </a:r>
          </a:p>
          <a:p>
            <a:r>
              <a:rPr lang="en-US" dirty="0"/>
              <a:t>first, it has a set of four </a:t>
            </a:r>
            <a:r>
              <a:rPr lang="en-US" b="1" dirty="0"/>
              <a:t>primitive types.</a:t>
            </a:r>
          </a:p>
          <a:p>
            <a:pPr lvl="1"/>
            <a:r>
              <a:rPr lang="en-US" b="1" dirty="0">
                <a:solidFill>
                  <a:srgbClr val="FF0000"/>
                </a:solidFill>
                <a:latin typeface="Consolas" panose="020B0609020204030204" pitchFamily="49" charset="0"/>
                <a:cs typeface="Consolas" panose="020B0609020204030204" pitchFamily="49" charset="0"/>
              </a:rPr>
              <a:t>int</a:t>
            </a:r>
            <a:r>
              <a:rPr lang="en-US" dirty="0"/>
              <a:t>: a signed 32-bit integer</a:t>
            </a:r>
          </a:p>
          <a:p>
            <a:pPr lvl="1"/>
            <a:r>
              <a:rPr lang="en-US" b="1" dirty="0">
                <a:solidFill>
                  <a:srgbClr val="FF0000"/>
                </a:solidFill>
                <a:latin typeface="Consolas" panose="020B0609020204030204" pitchFamily="49" charset="0"/>
                <a:cs typeface="Consolas" panose="020B0609020204030204" pitchFamily="49" charset="0"/>
              </a:rPr>
              <a:t>bool</a:t>
            </a:r>
            <a:r>
              <a:rPr lang="en-US" dirty="0"/>
              <a:t>: a truth value, true or false</a:t>
            </a:r>
          </a:p>
          <a:p>
            <a:pPr lvl="1"/>
            <a:r>
              <a:rPr lang="en-US" b="1" dirty="0">
                <a:solidFill>
                  <a:srgbClr val="FF0000"/>
                </a:solidFill>
                <a:latin typeface="Consolas" panose="020B0609020204030204" pitchFamily="49" charset="0"/>
                <a:cs typeface="Consolas" panose="020B0609020204030204" pitchFamily="49" charset="0"/>
              </a:rPr>
              <a:t>string</a:t>
            </a:r>
            <a:r>
              <a:rPr lang="en-US" dirty="0"/>
              <a:t>: an immutable sequence of 0 or more codepoints</a:t>
            </a:r>
          </a:p>
          <a:p>
            <a:pPr lvl="1"/>
            <a:r>
              <a:rPr lang="en-US" b="1" dirty="0">
                <a:latin typeface="Consolas" panose="020B0609020204030204" pitchFamily="49" charset="0"/>
                <a:cs typeface="Consolas" panose="020B0609020204030204" pitchFamily="49" charset="0"/>
              </a:rPr>
              <a:t>()</a:t>
            </a:r>
            <a:r>
              <a:rPr lang="en-US" dirty="0"/>
              <a:t>: the absence of a type, called </a:t>
            </a:r>
            <a:r>
              <a:rPr lang="en-US" b="1" dirty="0"/>
              <a:t>void</a:t>
            </a:r>
          </a:p>
          <a:p>
            <a:pPr lvl="2"/>
            <a:r>
              <a:rPr lang="en-US" dirty="0"/>
              <a:t>this is only used for function return types.</a:t>
            </a:r>
          </a:p>
          <a:p>
            <a:r>
              <a:rPr lang="en-US" dirty="0"/>
              <a:t>it might not look like it, but we've sort of implicitly defined </a:t>
            </a:r>
            <a:r>
              <a:rPr lang="en-US" b="1" dirty="0"/>
              <a:t>the sets of valid values </a:t>
            </a:r>
            <a:r>
              <a:rPr lang="en-US" dirty="0"/>
              <a:t>for each type.</a:t>
            </a:r>
          </a:p>
          <a:p>
            <a:pPr lvl="1"/>
            <a:r>
              <a:rPr lang="en-US" dirty="0"/>
              <a:t>there are 2</a:t>
            </a:r>
            <a:r>
              <a:rPr lang="en-US" baseline="30000" dirty="0"/>
              <a:t>32</a:t>
            </a:r>
            <a:r>
              <a:rPr lang="en-US" dirty="0"/>
              <a:t> valid values for </a:t>
            </a:r>
            <a:r>
              <a:rPr lang="en-US" b="1" dirty="0">
                <a:solidFill>
                  <a:srgbClr val="FF0000"/>
                </a:solidFill>
                <a:latin typeface="Consolas" panose="020B0609020204030204" pitchFamily="49" charset="0"/>
                <a:cs typeface="Consolas" panose="020B0609020204030204" pitchFamily="49" charset="0"/>
              </a:rPr>
              <a:t>int</a:t>
            </a:r>
            <a:r>
              <a:rPr lang="en-US" dirty="0"/>
              <a:t>…</a:t>
            </a:r>
          </a:p>
          <a:p>
            <a:pPr lvl="1"/>
            <a:r>
              <a:rPr lang="en-US" dirty="0"/>
              <a:t>2 valid values for </a:t>
            </a:r>
            <a:r>
              <a:rPr lang="en-US" b="1" dirty="0">
                <a:solidFill>
                  <a:srgbClr val="FF0000"/>
                </a:solidFill>
                <a:latin typeface="Consolas" panose="020B0609020204030204" pitchFamily="49" charset="0"/>
                <a:cs typeface="Consolas" panose="020B0609020204030204" pitchFamily="49" charset="0"/>
              </a:rPr>
              <a:t>bool</a:t>
            </a:r>
            <a:r>
              <a:rPr lang="en-US" dirty="0"/>
              <a:t>…</a:t>
            </a:r>
          </a:p>
          <a:p>
            <a:pPr lvl="1"/>
            <a:r>
              <a:rPr lang="en-US" dirty="0"/>
              <a:t>and so on.</a:t>
            </a:r>
          </a:p>
        </p:txBody>
      </p:sp>
      <p:sp>
        <p:nvSpPr>
          <p:cNvPr id="4" name="Slide Number Placeholder 3">
            <a:extLst>
              <a:ext uri="{FF2B5EF4-FFF2-40B4-BE49-F238E27FC236}">
                <a16:creationId xmlns:a16="http://schemas.microsoft.com/office/drawing/2014/main" id="{0FB0462F-2B0F-0B4C-9BC1-46105EBEAC6A}"/>
              </a:ext>
            </a:extLst>
          </p:cNvPr>
          <p:cNvSpPr>
            <a:spLocks noGrp="1"/>
          </p:cNvSpPr>
          <p:nvPr>
            <p:ph type="sldNum" sz="quarter" idx="12"/>
          </p:nvPr>
        </p:nvSpPr>
        <p:spPr/>
        <p:txBody>
          <a:bodyPr/>
          <a:lstStyle/>
          <a:p>
            <a:fld id="{3552B95B-556F-44BD-91A5-D80C1B9E2BB3}" type="slidenum">
              <a:rPr lang="en-US" smtClean="0"/>
              <a:pPr/>
              <a:t>22</a:t>
            </a:fld>
            <a:endParaRPr lang="en-US"/>
          </a:p>
        </p:txBody>
      </p:sp>
    </p:spTree>
    <p:extLst>
      <p:ext uri="{BB962C8B-B14F-4D97-AF65-F5344CB8AC3E}">
        <p14:creationId xmlns:p14="http://schemas.microsoft.com/office/powerpoint/2010/main" val="403737555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09EE5-9F47-8A42-88E8-7E3AA14FE4B4}"/>
              </a:ext>
            </a:extLst>
          </p:cNvPr>
          <p:cNvSpPr>
            <a:spLocks noGrp="1"/>
          </p:cNvSpPr>
          <p:nvPr>
            <p:ph type="title"/>
          </p:nvPr>
        </p:nvSpPr>
        <p:spPr/>
        <p:txBody>
          <a:bodyPr/>
          <a:lstStyle/>
          <a:p>
            <a:r>
              <a:rPr lang="en-US" dirty="0"/>
              <a:t>Function Types</a:t>
            </a:r>
          </a:p>
        </p:txBody>
      </p:sp>
      <p:sp>
        <p:nvSpPr>
          <p:cNvPr id="3" name="Content Placeholder 2">
            <a:extLst>
              <a:ext uri="{FF2B5EF4-FFF2-40B4-BE49-F238E27FC236}">
                <a16:creationId xmlns:a16="http://schemas.microsoft.com/office/drawing/2014/main" id="{77F74BB1-64BC-1544-BDC3-35EE9A7C0B04}"/>
              </a:ext>
            </a:extLst>
          </p:cNvPr>
          <p:cNvSpPr>
            <a:spLocks noGrp="1"/>
          </p:cNvSpPr>
          <p:nvPr>
            <p:ph idx="1"/>
          </p:nvPr>
        </p:nvSpPr>
        <p:spPr>
          <a:xfrm>
            <a:off x="152400" y="495301"/>
            <a:ext cx="8991600" cy="914399"/>
          </a:xfrm>
        </p:spPr>
        <p:txBody>
          <a:bodyPr/>
          <a:lstStyle/>
          <a:p>
            <a:r>
              <a:rPr lang="en-US" dirty="0"/>
              <a:t>any language that has functions will also need a type for them.</a:t>
            </a:r>
          </a:p>
          <a:p>
            <a:r>
              <a:rPr lang="en-US" dirty="0"/>
              <a:t>or to be more accurate, </a:t>
            </a:r>
            <a:r>
              <a:rPr lang="en-US" b="1" dirty="0"/>
              <a:t>a type constructor</a:t>
            </a:r>
            <a:r>
              <a:rPr lang="en-US" dirty="0"/>
              <a:t> for them.</a:t>
            </a:r>
          </a:p>
        </p:txBody>
      </p:sp>
      <p:sp>
        <p:nvSpPr>
          <p:cNvPr id="4" name="Slide Number Placeholder 3">
            <a:extLst>
              <a:ext uri="{FF2B5EF4-FFF2-40B4-BE49-F238E27FC236}">
                <a16:creationId xmlns:a16="http://schemas.microsoft.com/office/drawing/2014/main" id="{98B54971-97A5-4E4B-BF4C-905994FA73E5}"/>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5" name="TextBox 4">
            <a:extLst>
              <a:ext uri="{FF2B5EF4-FFF2-40B4-BE49-F238E27FC236}">
                <a16:creationId xmlns:a16="http://schemas.microsoft.com/office/drawing/2014/main" id="{994289EF-CD29-9F44-A1CB-E25A4B0AF390}"/>
              </a:ext>
            </a:extLst>
          </p:cNvPr>
          <p:cNvSpPr txBox="1"/>
          <p:nvPr/>
        </p:nvSpPr>
        <p:spPr>
          <a:xfrm>
            <a:off x="762000" y="1333500"/>
            <a:ext cx="7848600" cy="769441"/>
          </a:xfrm>
          <a:prstGeom prst="rect">
            <a:avLst/>
          </a:prstGeom>
          <a:noFill/>
        </p:spPr>
        <p:txBody>
          <a:bodyPr wrap="square" rtlCol="0">
            <a:spAutoFit/>
          </a:bodyPr>
          <a:lstStyle/>
          <a:p>
            <a:pPr algn="ctr"/>
            <a:r>
              <a:rPr lang="en-US" sz="2200" dirty="0"/>
              <a:t>Truss writes its function types like: </a:t>
            </a:r>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(A</a:t>
            </a:r>
            <a:r>
              <a:rPr lang="en-US" sz="2200" b="1" baseline="-25000" dirty="0">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A</a:t>
            </a:r>
            <a:r>
              <a:rPr lang="en-US" sz="2200" b="1" baseline="-25000" dirty="0">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a:t>
            </a:r>
            <a:r>
              <a:rPr lang="en-US" sz="2200" b="1" baseline="-25000" dirty="0">
                <a:latin typeface="Consolas" panose="020B0609020204030204" pitchFamily="49" charset="0"/>
                <a:cs typeface="Consolas" panose="020B0609020204030204" pitchFamily="49" charset="0"/>
              </a:rPr>
              <a:t> </a:t>
            </a:r>
            <a:r>
              <a:rPr lang="en-US" sz="2200" b="1" dirty="0">
                <a:latin typeface="Consolas" panose="020B0609020204030204" pitchFamily="49" charset="0"/>
                <a:cs typeface="Consolas" panose="020B0609020204030204" pitchFamily="49" charset="0"/>
              </a:rPr>
              <a:t>…): R</a:t>
            </a:r>
            <a:r>
              <a:rPr lang="en-US" dirty="0"/>
              <a:t>, </a:t>
            </a:r>
          </a:p>
          <a:p>
            <a:pPr algn="ctr"/>
            <a:r>
              <a:rPr lang="en-US" sz="2200" dirty="0"/>
              <a:t>where </a:t>
            </a:r>
            <a:r>
              <a:rPr lang="en-US" sz="2200" b="1" dirty="0">
                <a:latin typeface="Consolas" panose="020B0609020204030204" pitchFamily="49" charset="0"/>
                <a:cs typeface="Consolas" panose="020B0609020204030204" pitchFamily="49" charset="0"/>
              </a:rPr>
              <a:t>A</a:t>
            </a:r>
            <a:r>
              <a:rPr lang="en-US" sz="2200" b="1" baseline="-25000" dirty="0">
                <a:latin typeface="Consolas" panose="020B0609020204030204" pitchFamily="49" charset="0"/>
                <a:cs typeface="Consolas" panose="020B0609020204030204" pitchFamily="49" charset="0"/>
              </a:rPr>
              <a:t>0</a:t>
            </a:r>
            <a:r>
              <a:rPr lang="en-US" sz="2200" dirty="0"/>
              <a:t>, </a:t>
            </a:r>
            <a:r>
              <a:rPr lang="en-US" sz="2200" b="1" dirty="0">
                <a:latin typeface="Consolas" panose="020B0609020204030204" pitchFamily="49" charset="0"/>
                <a:cs typeface="Consolas" panose="020B0609020204030204" pitchFamily="49" charset="0"/>
              </a:rPr>
              <a:t>A</a:t>
            </a:r>
            <a:r>
              <a:rPr lang="en-US" sz="2200" b="1" baseline="-25000" dirty="0">
                <a:latin typeface="Consolas" panose="020B0609020204030204" pitchFamily="49" charset="0"/>
                <a:cs typeface="Consolas" panose="020B0609020204030204" pitchFamily="49" charset="0"/>
              </a:rPr>
              <a:t>1</a:t>
            </a:r>
            <a:r>
              <a:rPr lang="en-US" sz="2200" dirty="0"/>
              <a:t> etc. are the arguments and </a:t>
            </a:r>
            <a:r>
              <a:rPr lang="en-US" sz="2200" b="1" dirty="0">
                <a:latin typeface="Consolas" panose="020B0609020204030204" pitchFamily="49" charset="0"/>
                <a:cs typeface="Consolas" panose="020B0609020204030204" pitchFamily="49" charset="0"/>
              </a:rPr>
              <a:t>R</a:t>
            </a:r>
            <a:r>
              <a:rPr lang="en-US" sz="2200" dirty="0"/>
              <a:t> is the return type.</a:t>
            </a:r>
          </a:p>
        </p:txBody>
      </p:sp>
      <p:sp>
        <p:nvSpPr>
          <p:cNvPr id="7" name="TextBox 6">
            <a:extLst>
              <a:ext uri="{FF2B5EF4-FFF2-40B4-BE49-F238E27FC236}">
                <a16:creationId xmlns:a16="http://schemas.microsoft.com/office/drawing/2014/main" id="{C89E1034-6AEC-1145-90DB-D7B8BF18C9D9}"/>
              </a:ext>
            </a:extLst>
          </p:cNvPr>
          <p:cNvSpPr txBox="1"/>
          <p:nvPr/>
        </p:nvSpPr>
        <p:spPr>
          <a:xfrm>
            <a:off x="1066800" y="2199168"/>
            <a:ext cx="7162800" cy="769441"/>
          </a:xfrm>
          <a:prstGeom prst="rect">
            <a:avLst/>
          </a:prstGeom>
          <a:noFill/>
        </p:spPr>
        <p:txBody>
          <a:bodyPr wrap="square" rtlCol="0">
            <a:spAutoFit/>
          </a:bodyPr>
          <a:lstStyle/>
          <a:p>
            <a:pPr algn="ctr"/>
            <a:r>
              <a:rPr lang="en-US" sz="2200" dirty="0"/>
              <a:t>functions can have </a:t>
            </a:r>
            <a:r>
              <a:rPr lang="en-US" sz="2200" b="1" dirty="0"/>
              <a:t>any number </a:t>
            </a:r>
            <a:r>
              <a:rPr lang="en-US" sz="2200" dirty="0"/>
              <a:t>of arguments, which is why the argument types are written like that.</a:t>
            </a:r>
            <a:endParaRPr lang="en-US" sz="2200" b="1" dirty="0">
              <a:solidFill>
                <a:srgbClr val="FF0000"/>
              </a:solidFill>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463E72B0-AC2C-1340-87B1-8D8FC3A97FF4}"/>
              </a:ext>
            </a:extLst>
          </p:cNvPr>
          <p:cNvSpPr txBox="1"/>
          <p:nvPr/>
        </p:nvSpPr>
        <p:spPr>
          <a:xfrm>
            <a:off x="381000" y="3017436"/>
            <a:ext cx="5067300" cy="430887"/>
          </a:xfrm>
          <a:prstGeom prst="rect">
            <a:avLst/>
          </a:prstGeom>
          <a:noFill/>
        </p:spPr>
        <p:txBody>
          <a:bodyPr wrap="square" rtlCol="0">
            <a:spAutoFit/>
          </a:bodyPr>
          <a:lstStyle/>
          <a:p>
            <a:r>
              <a:rPr lang="en-US" sz="2200" dirty="0"/>
              <a:t>here are some valid function types:</a:t>
            </a:r>
            <a:endParaRPr lang="en-US" sz="2200" b="1" dirty="0">
              <a:solidFill>
                <a:srgbClr val="FF0000"/>
              </a:solidFill>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54C76916-38F6-1243-958E-2EBCDF6BBD88}"/>
              </a:ext>
            </a:extLst>
          </p:cNvPr>
          <p:cNvSpPr txBox="1"/>
          <p:nvPr/>
        </p:nvSpPr>
        <p:spPr>
          <a:xfrm>
            <a:off x="381000" y="3544550"/>
            <a:ext cx="3962400" cy="1446550"/>
          </a:xfrm>
          <a:prstGeom prst="rect">
            <a:avLst/>
          </a:prstGeom>
          <a:noFill/>
        </p:spPr>
        <p:txBody>
          <a:bodyPr wrap="square" rtlCol="0">
            <a:spAutoFit/>
          </a:bodyPr>
          <a:lstStyle/>
          <a:p>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 ()</a:t>
            </a:r>
          </a:p>
          <a:p>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int</a:t>
            </a:r>
          </a:p>
          <a:p>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a:t>
            </a:r>
            <a:r>
              <a:rPr lang="en-US" sz="2200" b="1" dirty="0">
                <a:solidFill>
                  <a:srgbClr val="FF0000"/>
                </a:solidFill>
                <a:latin typeface="Consolas" panose="020B0609020204030204" pitchFamily="49" charset="0"/>
                <a:cs typeface="Consolas" panose="020B0609020204030204" pitchFamily="49" charset="0"/>
              </a:rPr>
              <a:t>string</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string</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bool</a:t>
            </a:r>
          </a:p>
          <a:p>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a:t>
            </a:r>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 ()</a:t>
            </a:r>
          </a:p>
        </p:txBody>
      </p:sp>
      <p:sp>
        <p:nvSpPr>
          <p:cNvPr id="13" name="TextBox 12">
            <a:extLst>
              <a:ext uri="{FF2B5EF4-FFF2-40B4-BE49-F238E27FC236}">
                <a16:creationId xmlns:a16="http://schemas.microsoft.com/office/drawing/2014/main" id="{4E003F29-5723-2C4F-A7A2-BC0836332355}"/>
              </a:ext>
            </a:extLst>
          </p:cNvPr>
          <p:cNvSpPr txBox="1"/>
          <p:nvPr/>
        </p:nvSpPr>
        <p:spPr>
          <a:xfrm>
            <a:off x="4610100" y="3780102"/>
            <a:ext cx="3771900" cy="1107996"/>
          </a:xfrm>
          <a:prstGeom prst="rect">
            <a:avLst/>
          </a:prstGeom>
          <a:noFill/>
        </p:spPr>
        <p:txBody>
          <a:bodyPr wrap="square" rtlCol="0">
            <a:spAutoFit/>
          </a:bodyPr>
          <a:lstStyle/>
          <a:p>
            <a:pPr algn="ctr"/>
            <a:r>
              <a:rPr lang="en-US" sz="2200" dirty="0"/>
              <a:t>the last one is a </a:t>
            </a:r>
            <a:r>
              <a:rPr lang="en-US" sz="2200" b="1" dirty="0"/>
              <a:t>higher order function: </a:t>
            </a:r>
            <a:r>
              <a:rPr lang="en-US" sz="2200" dirty="0"/>
              <a:t>it takes a function as an argument!</a:t>
            </a:r>
            <a:endParaRPr lang="en-US" sz="2200" b="1" dirty="0">
              <a:solidFill>
                <a:srgbClr val="FF0000"/>
              </a:solidFill>
              <a:latin typeface="Consolas" panose="020B0609020204030204" pitchFamily="49" charset="0"/>
              <a:cs typeface="Consolas" panose="020B0609020204030204" pitchFamily="49" charset="0"/>
            </a:endParaRPr>
          </a:p>
        </p:txBody>
      </p:sp>
      <p:sp>
        <p:nvSpPr>
          <p:cNvPr id="14" name="TextBox 13">
            <a:extLst>
              <a:ext uri="{FF2B5EF4-FFF2-40B4-BE49-F238E27FC236}">
                <a16:creationId xmlns:a16="http://schemas.microsoft.com/office/drawing/2014/main" id="{669672A4-1498-F248-B010-BD7FD7AD25D8}"/>
              </a:ext>
            </a:extLst>
          </p:cNvPr>
          <p:cNvSpPr txBox="1"/>
          <p:nvPr/>
        </p:nvSpPr>
        <p:spPr>
          <a:xfrm>
            <a:off x="2362199" y="5125484"/>
            <a:ext cx="6105525" cy="369332"/>
          </a:xfrm>
          <a:prstGeom prst="rect">
            <a:avLst/>
          </a:prstGeom>
          <a:noFill/>
        </p:spPr>
        <p:txBody>
          <a:bodyPr wrap="square" rtlCol="0">
            <a:spAutoFit/>
          </a:bodyPr>
          <a:lstStyle/>
          <a:p>
            <a:pPr algn="ctr"/>
            <a:r>
              <a:rPr lang="en-US" sz="1800" dirty="0"/>
              <a:t>Truss also has structs, but we'll come back for those later…</a:t>
            </a:r>
            <a:endParaRPr lang="en-US" sz="1800" b="1" dirty="0">
              <a:solidFill>
                <a:srgbClr val="FF000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5029086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11" grpId="0" build="p" bldLvl="5"/>
      <p:bldP spid="13"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38F67-A1EC-3D42-9D33-F22923607A69}"/>
              </a:ext>
            </a:extLst>
          </p:cNvPr>
          <p:cNvSpPr>
            <a:spLocks noGrp="1"/>
          </p:cNvSpPr>
          <p:nvPr>
            <p:ph type="title"/>
          </p:nvPr>
        </p:nvSpPr>
        <p:spPr/>
        <p:txBody>
          <a:bodyPr/>
          <a:lstStyle/>
          <a:p>
            <a:r>
              <a:rPr lang="en-US" dirty="0"/>
              <a:t>Inference rules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4FCC84F-DFFA-9645-9552-81CF847FB8AF}"/>
                  </a:ext>
                </a:extLst>
              </p:cNvPr>
              <p:cNvSpPr>
                <a:spLocks noGrp="1"/>
              </p:cNvSpPr>
              <p:nvPr>
                <p:ph idx="1"/>
              </p:nvPr>
            </p:nvSpPr>
            <p:spPr/>
            <p:txBody>
              <a:bodyPr>
                <a:normAutofit/>
              </a:bodyPr>
              <a:lstStyle/>
              <a:p>
                <a:r>
                  <a:rPr lang="en-US" dirty="0"/>
                  <a:t>we need rules for </a:t>
                </a:r>
                <a:r>
                  <a:rPr lang="en-US" b="1" dirty="0"/>
                  <a:t>every operation in the language. </a:t>
                </a:r>
                <a:r>
                  <a:rPr lang="en-US" dirty="0"/>
                  <a:t>examples:</a:t>
                </a:r>
              </a:p>
              <a:p>
                <a:pPr marL="258605" lvl="1" indent="0">
                  <a:spcBef>
                    <a:spcPts val="600"/>
                  </a:spcBef>
                  <a:spcAft>
                    <a:spcPts val="600"/>
                  </a:spcAft>
                  <a:buNone/>
                </a:pPr>
                <a14:m>
                  <m:oMath xmlns:m="http://schemas.openxmlformats.org/officeDocument/2006/math">
                    <m:f>
                      <m:fPr>
                        <m:ctrlPr>
                          <a:rPr lang="en-US" b="1" i="1">
                            <a:latin typeface="Cambria Math" panose="02040503050406030204" pitchFamily="18" charset="0"/>
                          </a:rPr>
                        </m:ctrlPr>
                      </m:fPr>
                      <m:num>
                        <m:r>
                          <m:rPr>
                            <m:nor/>
                          </m:rPr>
                          <a:rPr lang="en-US" b="1">
                            <a:latin typeface="Consolas" panose="020B0609020204030204" pitchFamily="49" charset="0"/>
                            <a:cs typeface="Consolas" panose="020B0609020204030204" pitchFamily="49" charset="0"/>
                          </a:rPr>
                          <m:t>t</m:t>
                        </m:r>
                        <m:r>
                          <m:rPr>
                            <m:nor/>
                          </m:rPr>
                          <a:rPr lang="en-US" b="1">
                            <a:solidFill>
                              <a:srgbClr val="0070C0"/>
                            </a:solidFill>
                            <a:latin typeface="Consolas" panose="020B0609020204030204" pitchFamily="49" charset="0"/>
                            <a:cs typeface="Consolas" panose="020B0609020204030204" pitchFamily="49" charset="0"/>
                          </a:rPr>
                          <m:t>:</m:t>
                        </m:r>
                        <m:r>
                          <m:rPr>
                            <m:nor/>
                          </m:rPr>
                          <a:rPr lang="en-US" b="1">
                            <a:solidFill>
                              <a:srgbClr val="0070C0"/>
                            </a:solidFill>
                            <a:latin typeface="Consolas" panose="020B0609020204030204" pitchFamily="49" charset="0"/>
                            <a:cs typeface="Consolas" panose="020B0609020204030204" pitchFamily="49" charset="0"/>
                          </a:rPr>
                          <m:t>int</m:t>
                        </m:r>
                        <m:r>
                          <m:rPr>
                            <m:nor/>
                          </m:rPr>
                          <a:rPr lang="en-US" b="1">
                            <a:latin typeface="Consolas" panose="020B0609020204030204" pitchFamily="49"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u</m:t>
                        </m:r>
                        <m:r>
                          <m:rPr>
                            <m:nor/>
                          </m:rPr>
                          <a:rPr lang="en-US" b="1">
                            <a:solidFill>
                              <a:srgbClr val="0070C0"/>
                            </a:solidFill>
                            <a:latin typeface="Consolas" panose="020B0609020204030204" pitchFamily="49" charset="0"/>
                            <a:cs typeface="Consolas" panose="020B0609020204030204" pitchFamily="49" charset="0"/>
                          </a:rPr>
                          <m:t>:</m:t>
                        </m:r>
                        <m:r>
                          <m:rPr>
                            <m:nor/>
                          </m:rPr>
                          <a:rPr lang="en-US" b="1">
                            <a:solidFill>
                              <a:srgbClr val="0070C0"/>
                            </a:solidFill>
                            <a:latin typeface="Consolas" panose="020B0609020204030204" pitchFamily="49" charset="0"/>
                            <a:cs typeface="Consolas" panose="020B0609020204030204" pitchFamily="49" charset="0"/>
                          </a:rPr>
                          <m:t>int</m:t>
                        </m:r>
                      </m:num>
                      <m:den>
                        <m:d>
                          <m:dPr>
                            <m:ctrlPr>
                              <a:rPr lang="en-US" b="1" i="1">
                                <a:latin typeface="Cambria Math" panose="02040503050406030204" pitchFamily="18" charset="0"/>
                              </a:rPr>
                            </m:ctrlPr>
                          </m:dPr>
                          <m:e>
                            <m:r>
                              <m:rPr>
                                <m:nor/>
                              </m:rPr>
                              <a:rPr lang="en-US" b="1">
                                <a:latin typeface="Consolas" panose="020B0609020204030204" pitchFamily="49" charset="0"/>
                                <a:cs typeface="Consolas" panose="020B0609020204030204" pitchFamily="49" charset="0"/>
                              </a:rPr>
                              <m:t>t</m:t>
                            </m:r>
                            <m:r>
                              <m:rPr>
                                <m:nor/>
                              </m:rPr>
                              <a:rPr lang="en-US" b="1">
                                <a:latin typeface="Consolas" panose="020B0609020204030204" pitchFamily="49" charset="0"/>
                                <a:cs typeface="Consolas" panose="020B0609020204030204" pitchFamily="49" charset="0"/>
                              </a:rPr>
                              <m:t> </m:t>
                            </m:r>
                            <m:r>
                              <m:rPr>
                                <m:nor/>
                              </m:rPr>
                              <a:rPr lang="en-US" b="1" i="1" smtClean="0">
                                <a:latin typeface="Consolas" panose="020B0609020204030204" pitchFamily="49" charset="0"/>
                                <a:cs typeface="Consolas" panose="020B0609020204030204" pitchFamily="49" charset="0"/>
                              </a:rPr>
                              <m:t>op</m:t>
                            </m:r>
                            <m:r>
                              <m:rPr>
                                <m:nor/>
                              </m:rPr>
                              <a:rPr lang="en-US" b="1">
                                <a:latin typeface="Consolas" panose="020B0609020204030204" pitchFamily="49"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u</m:t>
                            </m:r>
                          </m:e>
                        </m:d>
                        <m:r>
                          <m:rPr>
                            <m:nor/>
                          </m:rPr>
                          <a:rPr lang="en-US" b="1">
                            <a:solidFill>
                              <a:srgbClr val="0070C0"/>
                            </a:solidFill>
                            <a:latin typeface="Consolas" panose="020B0609020204030204" pitchFamily="49" charset="0"/>
                            <a:cs typeface="Consolas" panose="020B0609020204030204" pitchFamily="49" charset="0"/>
                          </a:rPr>
                          <m:t>:</m:t>
                        </m:r>
                        <m:r>
                          <m:rPr>
                            <m:nor/>
                          </m:rPr>
                          <a:rPr lang="en-US" b="1">
                            <a:solidFill>
                              <a:srgbClr val="0070C0"/>
                            </a:solidFill>
                            <a:latin typeface="Consolas" panose="020B0609020204030204" pitchFamily="49" charset="0"/>
                            <a:cs typeface="Consolas" panose="020B0609020204030204" pitchFamily="49" charset="0"/>
                          </a:rPr>
                          <m:t>int</m:t>
                        </m:r>
                      </m:den>
                    </m:f>
                    <m:r>
                      <a:rPr lang="en-US" b="0" i="0" smtClean="0">
                        <a:solidFill>
                          <a:srgbClr val="0070C0"/>
                        </a:solidFill>
                        <a:latin typeface="Cambria Math" panose="02040503050406030204" pitchFamily="18" charset="0"/>
                        <a:cs typeface="Consolas" panose="020B0609020204030204" pitchFamily="49" charset="0"/>
                      </a:rPr>
                      <m:t> </m:t>
                    </m:r>
                  </m:oMath>
                </a14:m>
                <a:r>
                  <a:rPr lang="en-US" dirty="0"/>
                  <a:t> for any </a:t>
                </a:r>
                <a:r>
                  <a:rPr lang="en-US" b="1" dirty="0"/>
                  <a:t>op</a:t>
                </a:r>
                <a:r>
                  <a:rPr lang="en-US" dirty="0"/>
                  <a:t> in </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p>
              <a:p>
                <a:pPr marL="258605" lvl="1" indent="0">
                  <a:lnSpc>
                    <a:spcPct val="110000"/>
                  </a:lnSpc>
                  <a:spcBef>
                    <a:spcPts val="600"/>
                  </a:spcBef>
                  <a:spcAft>
                    <a:spcPts val="600"/>
                  </a:spcAft>
                  <a:buNone/>
                </a:pPr>
                <a14:m>
                  <m:oMath xmlns:m="http://schemas.openxmlformats.org/officeDocument/2006/math">
                    <m:f>
                      <m:fPr>
                        <m:ctrlPr>
                          <a:rPr lang="en-US" b="1" i="1">
                            <a:latin typeface="Cambria Math" panose="02040503050406030204" pitchFamily="18" charset="0"/>
                          </a:rPr>
                        </m:ctrlPr>
                      </m:fPr>
                      <m:num>
                        <m:r>
                          <m:rPr>
                            <m:nor/>
                          </m:rPr>
                          <a:rPr lang="en-US" b="1">
                            <a:latin typeface="Consolas" panose="020B0609020204030204" pitchFamily="49" charset="0"/>
                            <a:cs typeface="Consolas" panose="020B0609020204030204" pitchFamily="49" charset="0"/>
                          </a:rPr>
                          <m:t>t</m:t>
                        </m:r>
                        <m:r>
                          <m:rPr>
                            <m:nor/>
                          </m:rPr>
                          <a:rPr lang="en-US" b="1">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string</m:t>
                        </m:r>
                        <m:r>
                          <m:rPr>
                            <m:nor/>
                          </m:rPr>
                          <a:rPr lang="en-US" b="1">
                            <a:latin typeface="Consolas" panose="020B0609020204030204" pitchFamily="49"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u</m:t>
                        </m:r>
                        <m:r>
                          <m:rPr>
                            <m:nor/>
                          </m:rPr>
                          <a:rPr lang="en-US" b="1">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string</m:t>
                        </m:r>
                      </m:num>
                      <m:den>
                        <m:d>
                          <m:dPr>
                            <m:ctrlPr>
                              <a:rPr lang="en-US" b="1" i="1">
                                <a:latin typeface="Cambria Math" panose="02040503050406030204" pitchFamily="18" charset="0"/>
                              </a:rPr>
                            </m:ctrlPr>
                          </m:dPr>
                          <m:e>
                            <m:r>
                              <m:rPr>
                                <m:nor/>
                              </m:rPr>
                              <a:rPr lang="en-US" b="1">
                                <a:latin typeface="Consolas" panose="020B0609020204030204" pitchFamily="49" charset="0"/>
                                <a:cs typeface="Consolas" panose="020B0609020204030204" pitchFamily="49" charset="0"/>
                              </a:rPr>
                              <m:t>t</m:t>
                            </m:r>
                            <m:r>
                              <m:rPr>
                                <m:nor/>
                              </m:rPr>
                              <a:rPr lang="en-US" b="1">
                                <a:latin typeface="Consolas" panose="020B0609020204030204" pitchFamily="49" charset="0"/>
                                <a:cs typeface="Consolas" panose="020B0609020204030204" pitchFamily="49" charset="0"/>
                              </a:rPr>
                              <m:t> + </m:t>
                            </m:r>
                            <m:r>
                              <m:rPr>
                                <m:nor/>
                              </m:rPr>
                              <a:rPr lang="en-US" b="1">
                                <a:latin typeface="Consolas" panose="020B0609020204030204" pitchFamily="49" charset="0"/>
                                <a:cs typeface="Consolas" panose="020B0609020204030204" pitchFamily="49" charset="0"/>
                              </a:rPr>
                              <m:t>u</m:t>
                            </m:r>
                          </m:e>
                        </m:d>
                        <m:r>
                          <m:rPr>
                            <m:nor/>
                          </m:rPr>
                          <a:rPr lang="en-US" b="1">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string</m:t>
                        </m:r>
                      </m:den>
                    </m:f>
                  </m:oMath>
                </a14:m>
                <a:r>
                  <a:rPr lang="en-US" dirty="0"/>
                  <a:t>   (this is for string concatenation!)</a:t>
                </a:r>
              </a:p>
              <a:p>
                <a:pPr marL="258605" lvl="1" indent="0">
                  <a:spcBef>
                    <a:spcPts val="600"/>
                  </a:spcBef>
                  <a:spcAft>
                    <a:spcPts val="600"/>
                  </a:spcAft>
                  <a:buNone/>
                </a:pPr>
                <a14:m>
                  <m:oMath xmlns:m="http://schemas.openxmlformats.org/officeDocument/2006/math">
                    <m:f>
                      <m:fPr>
                        <m:ctrlPr>
                          <a:rPr lang="en-US" b="1" i="1">
                            <a:latin typeface="Cambria Math" panose="02040503050406030204" pitchFamily="18" charset="0"/>
                          </a:rPr>
                        </m:ctrlPr>
                      </m:fPr>
                      <m:num>
                        <m:r>
                          <m:rPr>
                            <m:nor/>
                          </m:rPr>
                          <a:rPr lang="en-US" b="1">
                            <a:latin typeface="Consolas" panose="020B0609020204030204" pitchFamily="49" charset="0"/>
                            <a:cs typeface="Consolas" panose="020B0609020204030204" pitchFamily="49" charset="0"/>
                          </a:rPr>
                          <m:t>t</m:t>
                        </m:r>
                        <m:r>
                          <m:rPr>
                            <m:nor/>
                          </m:rPr>
                          <a:rPr lang="en-US" b="1">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int</m:t>
                        </m:r>
                        <m:r>
                          <m:rPr>
                            <m:nor/>
                          </m:rPr>
                          <a:rPr lang="en-US" b="1">
                            <a:latin typeface="Consolas" panose="020B0609020204030204" pitchFamily="49"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u</m:t>
                        </m:r>
                        <m:r>
                          <m:rPr>
                            <m:nor/>
                          </m:rPr>
                          <a:rPr lang="en-US" b="1">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int</m:t>
                        </m:r>
                      </m:num>
                      <m:den>
                        <m:d>
                          <m:dPr>
                            <m:ctrlPr>
                              <a:rPr lang="en-US" b="1" i="1">
                                <a:latin typeface="Cambria Math" panose="02040503050406030204" pitchFamily="18" charset="0"/>
                              </a:rPr>
                            </m:ctrlPr>
                          </m:dPr>
                          <m:e>
                            <m:r>
                              <m:rPr>
                                <m:nor/>
                              </m:rPr>
                              <a:rPr lang="en-US" b="1">
                                <a:latin typeface="Consolas" panose="020B0609020204030204" pitchFamily="49" charset="0"/>
                                <a:cs typeface="Consolas" panose="020B0609020204030204" pitchFamily="49" charset="0"/>
                              </a:rPr>
                              <m:t>t</m:t>
                            </m:r>
                            <m:r>
                              <m:rPr>
                                <m:nor/>
                              </m:rPr>
                              <a:rPr lang="en-US" b="1">
                                <a:latin typeface="Consolas" panose="020B0609020204030204" pitchFamily="49" charset="0"/>
                                <a:cs typeface="Consolas" panose="020B0609020204030204" pitchFamily="49" charset="0"/>
                              </a:rPr>
                              <m:t> </m:t>
                            </m:r>
                            <m:r>
                              <m:rPr>
                                <m:nor/>
                              </m:rPr>
                              <a:rPr lang="en-US" b="1" i="1">
                                <a:latin typeface="Consolas" panose="020B0609020204030204" pitchFamily="49" charset="0"/>
                                <a:cs typeface="Consolas" panose="020B0609020204030204" pitchFamily="49" charset="0"/>
                              </a:rPr>
                              <m:t>op</m:t>
                            </m:r>
                            <m:r>
                              <m:rPr>
                                <m:nor/>
                              </m:rPr>
                              <a:rPr lang="en-US" b="1">
                                <a:latin typeface="Consolas" panose="020B0609020204030204" pitchFamily="49"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u</m:t>
                            </m:r>
                          </m:e>
                        </m:d>
                        <m:r>
                          <m:rPr>
                            <m:nor/>
                          </m:rPr>
                          <a:rPr lang="en-US" b="1">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bool</m:t>
                        </m:r>
                      </m:den>
                    </m:f>
                    <m:r>
                      <a:rPr lang="en-US">
                        <a:solidFill>
                          <a:srgbClr val="0070C0"/>
                        </a:solidFill>
                        <a:latin typeface="Cambria Math" panose="02040503050406030204" pitchFamily="18" charset="0"/>
                        <a:cs typeface="Consolas" panose="020B0609020204030204" pitchFamily="49" charset="0"/>
                      </a:rPr>
                      <m:t> </m:t>
                    </m:r>
                  </m:oMath>
                </a14:m>
                <a:r>
                  <a:rPr lang="en-US" dirty="0"/>
                  <a:t> for any </a:t>
                </a:r>
                <a:r>
                  <a:rPr lang="en-US" b="1" dirty="0"/>
                  <a:t>op</a:t>
                </a:r>
                <a:r>
                  <a:rPr lang="en-US" dirty="0"/>
                  <a:t> in </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&lt;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&lt;=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&gt;</a:t>
                </a:r>
                <a:r>
                  <a:rPr lang="en-US" sz="2400" b="1" dirty="0">
                    <a:latin typeface="Consolas" panose="020B0609020204030204" pitchFamily="49" charset="0"/>
                    <a:cs typeface="Consolas" panose="020B0609020204030204" pitchFamily="49" charset="0"/>
                  </a:rPr>
                  <a:t>,</a:t>
                </a:r>
                <a:r>
                  <a:rPr lang="en-US" sz="2400" b="1" dirty="0">
                    <a:solidFill>
                      <a:srgbClr val="FF0000"/>
                    </a:solidFill>
                    <a:latin typeface="Consolas" panose="020B0609020204030204" pitchFamily="49" charset="0"/>
                    <a:cs typeface="Consolas" panose="020B0609020204030204" pitchFamily="49" charset="0"/>
                  </a:rPr>
                  <a:t> &gt;=</a:t>
                </a:r>
                <a:r>
                  <a:rPr lang="en-US" sz="2400" b="1" dirty="0">
                    <a:latin typeface="Consolas" panose="020B0609020204030204" pitchFamily="49" charset="0"/>
                    <a:cs typeface="Consolas" panose="020B0609020204030204" pitchFamily="49" charset="0"/>
                  </a:rPr>
                  <a:t> }</a:t>
                </a:r>
                <a:endParaRPr lang="en-US" dirty="0"/>
              </a:p>
              <a:p>
                <a:pPr marL="258605" lvl="1" indent="0">
                  <a:spcBef>
                    <a:spcPts val="600"/>
                  </a:spcBef>
                  <a:spcAft>
                    <a:spcPts val="600"/>
                  </a:spcAft>
                  <a:buNone/>
                </a:pPr>
                <a14:m>
                  <m:oMath xmlns:m="http://schemas.openxmlformats.org/officeDocument/2006/math">
                    <m:f>
                      <m:fPr>
                        <m:ctrlPr>
                          <a:rPr lang="en-US" b="1" i="1">
                            <a:latin typeface="Cambria Math" panose="02040503050406030204" pitchFamily="18" charset="0"/>
                          </a:rPr>
                        </m:ctrlPr>
                      </m:fPr>
                      <m:num>
                        <m:r>
                          <m:rPr>
                            <m:nor/>
                          </m:rPr>
                          <a:rPr lang="en-US" b="1">
                            <a:latin typeface="Consolas" panose="020B0609020204030204" pitchFamily="49" charset="0"/>
                            <a:cs typeface="Consolas" panose="020B0609020204030204" pitchFamily="49" charset="0"/>
                          </a:rPr>
                          <m:t>t</m:t>
                        </m:r>
                        <m:r>
                          <m:rPr>
                            <m:nor/>
                          </m:rPr>
                          <a:rPr lang="en-US" b="1">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bool</m:t>
                        </m:r>
                        <m:r>
                          <m:rPr>
                            <m:nor/>
                          </m:rPr>
                          <a:rPr lang="en-US" b="1">
                            <a:latin typeface="Consolas" panose="020B0609020204030204" pitchFamily="49"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u</m:t>
                        </m:r>
                        <m:r>
                          <m:rPr>
                            <m:nor/>
                          </m:rPr>
                          <a:rPr lang="en-US" b="1">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bool</m:t>
                        </m:r>
                      </m:num>
                      <m:den>
                        <m:d>
                          <m:dPr>
                            <m:ctrlPr>
                              <a:rPr lang="en-US" b="1" i="1">
                                <a:latin typeface="Cambria Math" panose="02040503050406030204" pitchFamily="18" charset="0"/>
                              </a:rPr>
                            </m:ctrlPr>
                          </m:dPr>
                          <m:e>
                            <m:r>
                              <m:rPr>
                                <m:nor/>
                              </m:rPr>
                              <a:rPr lang="en-US" b="1">
                                <a:latin typeface="Consolas" panose="020B0609020204030204" pitchFamily="49" charset="0"/>
                                <a:cs typeface="Consolas" panose="020B0609020204030204" pitchFamily="49" charset="0"/>
                              </a:rPr>
                              <m:t>t</m:t>
                            </m:r>
                            <m:r>
                              <m:rPr>
                                <m:nor/>
                              </m:rPr>
                              <a:rPr lang="en-US" b="1">
                                <a:latin typeface="Consolas" panose="020B0609020204030204" pitchFamily="49" charset="0"/>
                                <a:cs typeface="Consolas" panose="020B0609020204030204" pitchFamily="49" charset="0"/>
                              </a:rPr>
                              <m:t> </m:t>
                            </m:r>
                            <m:r>
                              <m:rPr>
                                <m:nor/>
                              </m:rPr>
                              <a:rPr lang="en-US" b="1" i="1">
                                <a:latin typeface="Consolas" panose="020B0609020204030204" pitchFamily="49" charset="0"/>
                                <a:cs typeface="Consolas" panose="020B0609020204030204" pitchFamily="49" charset="0"/>
                              </a:rPr>
                              <m:t>op</m:t>
                            </m:r>
                            <m:r>
                              <m:rPr>
                                <m:nor/>
                              </m:rPr>
                              <a:rPr lang="en-US" b="1">
                                <a:latin typeface="Consolas" panose="020B0609020204030204" pitchFamily="49"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u</m:t>
                            </m:r>
                          </m:e>
                        </m:d>
                        <m:r>
                          <m:rPr>
                            <m:nor/>
                          </m:rPr>
                          <a:rPr lang="en-US" b="1">
                            <a:solidFill>
                              <a:srgbClr val="0070C0"/>
                            </a:solidFill>
                            <a:latin typeface="Consolas" panose="020B0609020204030204" pitchFamily="49" charset="0"/>
                            <a:cs typeface="Consolas" panose="020B0609020204030204" pitchFamily="49" charset="0"/>
                          </a:rPr>
                          <m:t>:</m:t>
                        </m:r>
                        <m:r>
                          <m:rPr>
                            <m:nor/>
                          </m:rPr>
                          <a:rPr lang="en-US" b="1">
                            <a:solidFill>
                              <a:srgbClr val="0070C0"/>
                            </a:solidFill>
                            <a:latin typeface="Consolas" panose="020B0609020204030204" pitchFamily="49" charset="0"/>
                            <a:cs typeface="Consolas" panose="020B0609020204030204" pitchFamily="49" charset="0"/>
                          </a:rPr>
                          <m:t>bool</m:t>
                        </m:r>
                      </m:den>
                    </m:f>
                    <m:r>
                      <a:rPr lang="en-US">
                        <a:solidFill>
                          <a:srgbClr val="0070C0"/>
                        </a:solidFill>
                        <a:latin typeface="Cambria Math" panose="02040503050406030204" pitchFamily="18" charset="0"/>
                        <a:cs typeface="Consolas" panose="020B0609020204030204" pitchFamily="49" charset="0"/>
                      </a:rPr>
                      <m:t> </m:t>
                    </m:r>
                  </m:oMath>
                </a14:m>
                <a:r>
                  <a:rPr lang="en-US" dirty="0"/>
                  <a:t> for any </a:t>
                </a:r>
                <a:r>
                  <a:rPr lang="en-US" b="1" dirty="0"/>
                  <a:t>op</a:t>
                </a:r>
                <a:r>
                  <a:rPr lang="en-US" dirty="0"/>
                  <a:t> in </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and</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or</a:t>
                </a:r>
                <a:r>
                  <a:rPr lang="en-US" sz="2400" b="1" dirty="0">
                    <a:latin typeface="Consolas" panose="020B0609020204030204" pitchFamily="49" charset="0"/>
                    <a:cs typeface="Consolas" panose="020B0609020204030204" pitchFamily="49" charset="0"/>
                  </a:rPr>
                  <a:t> }</a:t>
                </a:r>
              </a:p>
              <a:p>
                <a:pPr marL="265748" lvl="1" indent="0">
                  <a:spcBef>
                    <a:spcPts val="600"/>
                  </a:spcBef>
                  <a:spcAft>
                    <a:spcPts val="600"/>
                  </a:spcAft>
                  <a:buNone/>
                </a:pPr>
                <a14:m>
                  <m:oMath xmlns:m="http://schemas.openxmlformats.org/officeDocument/2006/math">
                    <m:f>
                      <m:fPr>
                        <m:ctrlPr>
                          <a:rPr lang="en-US" b="1" i="1">
                            <a:latin typeface="Cambria Math" panose="02040503050406030204" pitchFamily="18" charset="0"/>
                          </a:rPr>
                        </m:ctrlPr>
                      </m:fPr>
                      <m:num>
                        <m:r>
                          <m:rPr>
                            <m:nor/>
                          </m:rPr>
                          <a:rPr lang="en-US" b="1" i="0" smtClean="0">
                            <a:latin typeface="Consolas" panose="020B0609020204030204" pitchFamily="49" charset="0"/>
                            <a:cs typeface="Consolas" panose="020B0609020204030204" pitchFamily="49" charset="0"/>
                          </a:rPr>
                          <m:t>f</m:t>
                        </m:r>
                        <m:r>
                          <m:rPr>
                            <m:nor/>
                          </m:rPr>
                          <a:rPr lang="en-US" b="1">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fn</m:t>
                        </m:r>
                        <m:r>
                          <m:rPr>
                            <m:nor/>
                          </m:rPr>
                          <a:rPr lang="en-US" b="1" i="0" smtClean="0">
                            <a:solidFill>
                              <a:srgbClr val="0070C0"/>
                            </a:solidFill>
                            <a:latin typeface="Consolas" panose="020B0609020204030204" pitchFamily="49" charset="0"/>
                            <a:cs typeface="Consolas" panose="020B0609020204030204" pitchFamily="49" charset="0"/>
                          </a:rPr>
                          <m:t>(</m:t>
                        </m:r>
                        <m:sSub>
                          <m:sSubPr>
                            <m:ctrlPr>
                              <a:rPr lang="en-US" b="1" i="1" smtClean="0">
                                <a:solidFill>
                                  <a:srgbClr val="0070C0"/>
                                </a:solidFill>
                                <a:latin typeface="Cambria Math" panose="02040503050406030204" pitchFamily="18" charset="0"/>
                                <a:cs typeface="Consolas" panose="020B0609020204030204" pitchFamily="49" charset="0"/>
                              </a:rPr>
                            </m:ctrlPr>
                          </m:sSubPr>
                          <m:e>
                            <m:r>
                              <m:rPr>
                                <m:nor/>
                              </m:rPr>
                              <a:rPr lang="en-US" b="1">
                                <a:solidFill>
                                  <a:srgbClr val="0070C0"/>
                                </a:solidFill>
                                <a:latin typeface="Consolas" panose="020B0609020204030204" pitchFamily="49" charset="0"/>
                                <a:cs typeface="Consolas" panose="020B0609020204030204" pitchFamily="49" charset="0"/>
                              </a:rPr>
                              <m:t>A</m:t>
                            </m:r>
                          </m:e>
                          <m:sub>
                            <m:r>
                              <a:rPr lang="en-US" b="1" i="1" smtClean="0">
                                <a:solidFill>
                                  <a:srgbClr val="0070C0"/>
                                </a:solidFill>
                                <a:latin typeface="Cambria Math" panose="02040503050406030204" pitchFamily="18" charset="0"/>
                                <a:cs typeface="Consolas" panose="020B0609020204030204" pitchFamily="49" charset="0"/>
                              </a:rPr>
                              <m:t>𝟎</m:t>
                            </m:r>
                          </m:sub>
                        </m:sSub>
                        <m:r>
                          <a:rPr lang="en-US" b="1" i="1" smtClean="0">
                            <a:solidFill>
                              <a:srgbClr val="0070C0"/>
                            </a:solidFill>
                            <a:latin typeface="Cambria Math" panose="02040503050406030204" pitchFamily="18" charset="0"/>
                            <a:cs typeface="Consolas" panose="020B0609020204030204" pitchFamily="49" charset="0"/>
                          </a:rPr>
                          <m:t>,</m:t>
                        </m:r>
                        <m:sSub>
                          <m:sSubPr>
                            <m:ctrlPr>
                              <a:rPr lang="en-US" b="1" i="1">
                                <a:solidFill>
                                  <a:srgbClr val="0070C0"/>
                                </a:solidFill>
                                <a:latin typeface="Cambria Math" panose="02040503050406030204" pitchFamily="18" charset="0"/>
                                <a:cs typeface="Consolas" panose="020B0609020204030204" pitchFamily="49" charset="0"/>
                              </a:rPr>
                            </m:ctrlPr>
                          </m:sSubPr>
                          <m:e>
                            <m:r>
                              <m:rPr>
                                <m:nor/>
                              </m:rPr>
                              <a:rPr lang="en-US" b="1">
                                <a:solidFill>
                                  <a:srgbClr val="0070C0"/>
                                </a:solidFill>
                                <a:latin typeface="Consolas" panose="020B0609020204030204" pitchFamily="49" charset="0"/>
                                <a:cs typeface="Consolas" panose="020B0609020204030204" pitchFamily="49" charset="0"/>
                              </a:rPr>
                              <m:t>A</m:t>
                            </m:r>
                          </m:e>
                          <m:sub>
                            <m:r>
                              <a:rPr lang="en-US" b="1" i="1" smtClean="0">
                                <a:solidFill>
                                  <a:srgbClr val="0070C0"/>
                                </a:solidFill>
                                <a:latin typeface="Cambria Math" panose="02040503050406030204" pitchFamily="18" charset="0"/>
                                <a:cs typeface="Consolas" panose="020B0609020204030204" pitchFamily="49" charset="0"/>
                              </a:rPr>
                              <m:t>𝟏</m:t>
                            </m:r>
                          </m:sub>
                        </m:sSub>
                        <m:r>
                          <a:rPr lang="en-US" b="1" i="1">
                            <a:solidFill>
                              <a:srgbClr val="0070C0"/>
                            </a:solidFill>
                            <a:latin typeface="Cambria Math" panose="02040503050406030204" pitchFamily="18" charset="0"/>
                            <a:cs typeface="Consolas" panose="020B0609020204030204" pitchFamily="49" charset="0"/>
                          </a:rPr>
                          <m:t>,</m:t>
                        </m:r>
                        <m:r>
                          <a:rPr lang="en-US" b="1" i="1" smtClean="0">
                            <a:solidFill>
                              <a:srgbClr val="0070C0"/>
                            </a:solidFill>
                            <a:latin typeface="Cambria Math" panose="02040503050406030204" pitchFamily="18"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R</m:t>
                        </m:r>
                        <m:r>
                          <m:rPr>
                            <m:nor/>
                          </m:rPr>
                          <a:rPr lang="en-US" b="1">
                            <a:latin typeface="Consolas" panose="020B0609020204030204" pitchFamily="49" charset="0"/>
                            <a:cs typeface="Consolas" panose="020B0609020204030204" pitchFamily="49" charset="0"/>
                          </a:rPr>
                          <m:t> </m:t>
                        </m:r>
                        <m:r>
                          <m:rPr>
                            <m:nor/>
                          </m:rPr>
                          <a:rPr lang="en-US" b="1" i="0" smtClean="0">
                            <a:latin typeface="Consolas" panose="020B0609020204030204" pitchFamily="49" charset="0"/>
                            <a:cs typeface="Consolas" panose="020B0609020204030204" pitchFamily="49" charset="0"/>
                          </a:rPr>
                          <m:t> </m:t>
                        </m:r>
                        <m:sSub>
                          <m:sSubPr>
                            <m:ctrlPr>
                              <a:rPr lang="en-US" b="1" i="1" smtClean="0">
                                <a:latin typeface="Cambria Math" panose="02040503050406030204" pitchFamily="18" charset="0"/>
                                <a:cs typeface="Consolas" panose="020B0609020204030204" pitchFamily="49" charset="0"/>
                              </a:rPr>
                            </m:ctrlPr>
                          </m:sSubPr>
                          <m:e>
                            <m:r>
                              <m:rPr>
                                <m:nor/>
                              </m:rPr>
                              <a:rPr lang="en-US" b="1">
                                <a:latin typeface="Consolas" panose="020B0609020204030204" pitchFamily="49" charset="0"/>
                                <a:cs typeface="Consolas" panose="020B0609020204030204" pitchFamily="49" charset="0"/>
                              </a:rPr>
                              <m:t>a</m:t>
                            </m:r>
                          </m:e>
                          <m:sub>
                            <m:r>
                              <a:rPr lang="en-US" b="1" i="1" smtClean="0">
                                <a:latin typeface="Cambria Math" panose="02040503050406030204" pitchFamily="18" charset="0"/>
                                <a:cs typeface="Consolas" panose="020B0609020204030204" pitchFamily="49" charset="0"/>
                              </a:rPr>
                              <m:t>𝟎</m:t>
                            </m:r>
                          </m:sub>
                        </m:sSub>
                        <m:r>
                          <m:rPr>
                            <m:nor/>
                          </m:rPr>
                          <a:rPr lang="en-US" b="1">
                            <a:solidFill>
                              <a:srgbClr val="0070C0"/>
                            </a:solidFill>
                            <a:latin typeface="Consolas" panose="020B0609020204030204" pitchFamily="49" charset="0"/>
                            <a:cs typeface="Consolas" panose="020B0609020204030204" pitchFamily="49" charset="0"/>
                          </a:rPr>
                          <m:t>:</m:t>
                        </m:r>
                        <m:sSub>
                          <m:sSubPr>
                            <m:ctrlPr>
                              <a:rPr lang="en-US" b="1" i="1">
                                <a:solidFill>
                                  <a:srgbClr val="0070C0"/>
                                </a:solidFill>
                                <a:latin typeface="Cambria Math" panose="02040503050406030204" pitchFamily="18" charset="0"/>
                                <a:cs typeface="Consolas" panose="020B0609020204030204" pitchFamily="49" charset="0"/>
                              </a:rPr>
                            </m:ctrlPr>
                          </m:sSubPr>
                          <m:e>
                            <m:r>
                              <m:rPr>
                                <m:nor/>
                              </m:rPr>
                              <a:rPr lang="en-US" b="1">
                                <a:solidFill>
                                  <a:srgbClr val="0070C0"/>
                                </a:solidFill>
                                <a:latin typeface="Consolas" panose="020B0609020204030204" pitchFamily="49" charset="0"/>
                                <a:cs typeface="Consolas" panose="020B0609020204030204" pitchFamily="49" charset="0"/>
                              </a:rPr>
                              <m:t>A</m:t>
                            </m:r>
                          </m:e>
                          <m:sub>
                            <m:r>
                              <a:rPr lang="en-US" b="1" i="1">
                                <a:solidFill>
                                  <a:srgbClr val="0070C0"/>
                                </a:solidFill>
                                <a:latin typeface="Cambria Math" panose="02040503050406030204" pitchFamily="18" charset="0"/>
                                <a:cs typeface="Consolas" panose="020B0609020204030204" pitchFamily="49" charset="0"/>
                              </a:rPr>
                              <m:t>𝟎</m:t>
                            </m:r>
                          </m:sub>
                        </m:sSub>
                        <m:r>
                          <a:rPr lang="en-US" b="1" i="1" smtClean="0">
                            <a:solidFill>
                              <a:srgbClr val="0070C0"/>
                            </a:solidFill>
                            <a:latin typeface="Cambria Math" panose="02040503050406030204" pitchFamily="18" charset="0"/>
                            <a:cs typeface="Consolas" panose="020B0609020204030204" pitchFamily="49" charset="0"/>
                          </a:rPr>
                          <m:t>    </m:t>
                        </m:r>
                        <m:sSub>
                          <m:sSubPr>
                            <m:ctrlPr>
                              <a:rPr lang="en-US" b="1" i="1">
                                <a:latin typeface="Cambria Math" panose="02040503050406030204" pitchFamily="18" charset="0"/>
                                <a:cs typeface="Consolas" panose="020B0609020204030204" pitchFamily="49" charset="0"/>
                              </a:rPr>
                            </m:ctrlPr>
                          </m:sSubPr>
                          <m:e>
                            <m:r>
                              <a:rPr lang="en-US" b="1" i="1" smtClean="0">
                                <a:latin typeface="Cambria Math" panose="02040503050406030204" pitchFamily="18"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a</m:t>
                            </m:r>
                          </m:e>
                          <m:sub>
                            <m:r>
                              <a:rPr lang="en-US" b="1" i="1" smtClean="0">
                                <a:latin typeface="Cambria Math" panose="02040503050406030204" pitchFamily="18" charset="0"/>
                                <a:cs typeface="Consolas" panose="020B0609020204030204" pitchFamily="49" charset="0"/>
                              </a:rPr>
                              <m:t>𝟏</m:t>
                            </m:r>
                          </m:sub>
                        </m:sSub>
                        <m:r>
                          <m:rPr>
                            <m:nor/>
                          </m:rPr>
                          <a:rPr lang="en-US" b="1">
                            <a:solidFill>
                              <a:srgbClr val="0070C0"/>
                            </a:solidFill>
                            <a:latin typeface="Consolas" panose="020B0609020204030204" pitchFamily="49" charset="0"/>
                            <a:cs typeface="Consolas" panose="020B0609020204030204" pitchFamily="49" charset="0"/>
                          </a:rPr>
                          <m:t>:</m:t>
                        </m:r>
                        <m:sSub>
                          <m:sSubPr>
                            <m:ctrlPr>
                              <a:rPr lang="en-US" b="1" i="1">
                                <a:solidFill>
                                  <a:srgbClr val="0070C0"/>
                                </a:solidFill>
                                <a:latin typeface="Cambria Math" panose="02040503050406030204" pitchFamily="18" charset="0"/>
                                <a:cs typeface="Consolas" panose="020B0609020204030204" pitchFamily="49" charset="0"/>
                              </a:rPr>
                            </m:ctrlPr>
                          </m:sSubPr>
                          <m:e>
                            <m:r>
                              <m:rPr>
                                <m:nor/>
                              </m:rPr>
                              <a:rPr lang="en-US" b="1">
                                <a:solidFill>
                                  <a:srgbClr val="0070C0"/>
                                </a:solidFill>
                                <a:latin typeface="Consolas" panose="020B0609020204030204" pitchFamily="49" charset="0"/>
                                <a:cs typeface="Consolas" panose="020B0609020204030204" pitchFamily="49" charset="0"/>
                              </a:rPr>
                              <m:t>A</m:t>
                            </m:r>
                          </m:e>
                          <m:sub>
                            <m:r>
                              <a:rPr lang="en-US" b="1" i="1" smtClean="0">
                                <a:solidFill>
                                  <a:srgbClr val="0070C0"/>
                                </a:solidFill>
                                <a:latin typeface="Cambria Math" panose="02040503050406030204" pitchFamily="18" charset="0"/>
                                <a:cs typeface="Consolas" panose="020B0609020204030204" pitchFamily="49" charset="0"/>
                              </a:rPr>
                              <m:t>𝟏</m:t>
                            </m:r>
                          </m:sub>
                        </m:sSub>
                        <m:r>
                          <a:rPr lang="en-US" b="1" i="1" smtClean="0">
                            <a:solidFill>
                              <a:srgbClr val="0070C0"/>
                            </a:solidFill>
                            <a:latin typeface="Cambria Math" panose="02040503050406030204" pitchFamily="18" charset="0"/>
                            <a:cs typeface="Consolas" panose="020B0609020204030204" pitchFamily="49" charset="0"/>
                          </a:rPr>
                          <m:t>    …</m:t>
                        </m:r>
                      </m:num>
                      <m:den>
                        <m:r>
                          <m:rPr>
                            <m:nor/>
                          </m:rPr>
                          <a:rPr lang="en-US" b="1" i="0" smtClean="0">
                            <a:solidFill>
                              <a:schemeClr val="tx1"/>
                            </a:solidFill>
                            <a:latin typeface="Consolas" panose="020B0609020204030204" pitchFamily="49" charset="0"/>
                            <a:cs typeface="Consolas" panose="020B0609020204030204" pitchFamily="49" charset="0"/>
                          </a:rPr>
                          <m:t>f</m:t>
                        </m:r>
                        <m:r>
                          <m:rPr>
                            <m:nor/>
                          </m:rPr>
                          <a:rPr lang="en-US" b="1" smtClean="0">
                            <a:solidFill>
                              <a:schemeClr val="tx1"/>
                            </a:solidFill>
                            <a:latin typeface="Consolas" panose="020B0609020204030204" pitchFamily="49" charset="0"/>
                            <a:cs typeface="Consolas" panose="020B0609020204030204" pitchFamily="49" charset="0"/>
                          </a:rPr>
                          <m:t>(</m:t>
                        </m:r>
                        <m:sSub>
                          <m:sSubPr>
                            <m:ctrlPr>
                              <a:rPr lang="en-US" b="1" i="1">
                                <a:latin typeface="Cambria Math" panose="02040503050406030204" pitchFamily="18" charset="0"/>
                                <a:cs typeface="Consolas" panose="020B0609020204030204" pitchFamily="49" charset="0"/>
                              </a:rPr>
                            </m:ctrlPr>
                          </m:sSubPr>
                          <m:e>
                            <m:r>
                              <m:rPr>
                                <m:nor/>
                              </m:rPr>
                              <a:rPr lang="en-US" b="1">
                                <a:latin typeface="Consolas" panose="020B0609020204030204" pitchFamily="49" charset="0"/>
                                <a:cs typeface="Consolas" panose="020B0609020204030204" pitchFamily="49" charset="0"/>
                              </a:rPr>
                              <m:t>a</m:t>
                            </m:r>
                          </m:e>
                          <m:sub>
                            <m:r>
                              <a:rPr lang="en-US" b="1" i="1">
                                <a:latin typeface="Cambria Math" panose="02040503050406030204" pitchFamily="18" charset="0"/>
                                <a:cs typeface="Consolas" panose="020B0609020204030204" pitchFamily="49" charset="0"/>
                              </a:rPr>
                              <m:t>𝟎</m:t>
                            </m:r>
                          </m:sub>
                        </m:sSub>
                        <m:r>
                          <m:rPr>
                            <m:nor/>
                          </m:rPr>
                          <a:rPr lang="en-US" b="1" i="0" smtClean="0">
                            <a:solidFill>
                              <a:schemeClr val="tx1"/>
                            </a:solidFill>
                            <a:latin typeface="Consolas" panose="020B0609020204030204" pitchFamily="49" charset="0"/>
                            <a:cs typeface="Consolas" panose="020B0609020204030204" pitchFamily="49" charset="0"/>
                          </a:rPr>
                          <m:t>,</m:t>
                        </m:r>
                        <m:sSub>
                          <m:sSubPr>
                            <m:ctrlPr>
                              <a:rPr lang="en-US" b="1" i="1">
                                <a:latin typeface="Cambria Math" panose="02040503050406030204" pitchFamily="18" charset="0"/>
                                <a:cs typeface="Consolas" panose="020B0609020204030204" pitchFamily="49" charset="0"/>
                              </a:rPr>
                            </m:ctrlPr>
                          </m:sSubPr>
                          <m:e>
                            <m:r>
                              <a:rPr lang="en-US" b="1" i="1">
                                <a:latin typeface="Cambria Math" panose="02040503050406030204" pitchFamily="18"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a</m:t>
                            </m:r>
                          </m:e>
                          <m:sub>
                            <m:r>
                              <a:rPr lang="en-US" b="1" i="1">
                                <a:latin typeface="Cambria Math" panose="02040503050406030204" pitchFamily="18" charset="0"/>
                                <a:cs typeface="Consolas" panose="020B0609020204030204" pitchFamily="49" charset="0"/>
                              </a:rPr>
                              <m:t>𝟏</m:t>
                            </m:r>
                          </m:sub>
                        </m:sSub>
                        <m:r>
                          <m:rPr>
                            <m:nor/>
                          </m:rPr>
                          <a:rPr lang="en-US" b="1" i="0" smtClean="0">
                            <a:solidFill>
                              <a:schemeClr val="tx1"/>
                            </a:solidFill>
                            <a:latin typeface="Consolas" panose="020B0609020204030204" pitchFamily="49" charset="0"/>
                            <a:cs typeface="Consolas" panose="020B0609020204030204" pitchFamily="49" charset="0"/>
                          </a:rPr>
                          <m:t>,</m:t>
                        </m:r>
                        <m:r>
                          <a:rPr lang="en-US" b="1" i="1" smtClean="0">
                            <a:solidFill>
                              <a:schemeClr val="tx1"/>
                            </a:solidFill>
                            <a:latin typeface="Cambria Math" panose="02040503050406030204" pitchFamily="18" charset="0"/>
                            <a:cs typeface="Consolas" panose="020B0609020204030204" pitchFamily="49" charset="0"/>
                          </a:rPr>
                          <m:t>…</m:t>
                        </m:r>
                        <m:r>
                          <m:rPr>
                            <m:nor/>
                          </m:rPr>
                          <a:rPr lang="en-US" b="1" smtClean="0">
                            <a:solidFill>
                              <a:schemeClr val="tx1"/>
                            </a:solidFill>
                            <a:latin typeface="Consolas" panose="020B0609020204030204" pitchFamily="49" charset="0"/>
                            <a:cs typeface="Consolas" panose="020B0609020204030204" pitchFamily="49" charset="0"/>
                          </a:rPr>
                          <m:t>)</m:t>
                        </m:r>
                        <m:r>
                          <m:rPr>
                            <m:nor/>
                          </m:rPr>
                          <a:rPr lang="en-US" b="1" i="0" smtClean="0">
                            <a:solidFill>
                              <a:srgbClr val="0070C0"/>
                            </a:solidFill>
                            <a:latin typeface="Consolas" panose="020B0609020204030204" pitchFamily="49" charset="0"/>
                            <a:cs typeface="Consolas" panose="020B0609020204030204" pitchFamily="49" charset="0"/>
                          </a:rPr>
                          <m:t>:</m:t>
                        </m:r>
                        <m:r>
                          <m:rPr>
                            <m:nor/>
                          </m:rPr>
                          <a:rPr lang="en-US" b="1">
                            <a:solidFill>
                              <a:srgbClr val="0070C0"/>
                            </a:solidFill>
                            <a:latin typeface="Consolas" panose="020B0609020204030204" pitchFamily="49" charset="0"/>
                            <a:cs typeface="Consolas" panose="020B0609020204030204" pitchFamily="49" charset="0"/>
                          </a:rPr>
                          <m:t>R</m:t>
                        </m:r>
                      </m:den>
                    </m:f>
                  </m:oMath>
                </a14:m>
                <a:r>
                  <a:rPr lang="en-US" dirty="0"/>
                  <a:t>  </a:t>
                </a:r>
              </a:p>
              <a:p>
                <a:pPr marL="265748" lvl="1" indent="0">
                  <a:spcBef>
                    <a:spcPts val="600"/>
                  </a:spcBef>
                  <a:spcAft>
                    <a:spcPts val="600"/>
                  </a:spcAft>
                  <a:buNone/>
                </a:pPr>
                <a:r>
                  <a:rPr lang="en-US" dirty="0"/>
                  <a:t>this says, "the type of a function call is the function's return type."</a:t>
                </a:r>
              </a:p>
            </p:txBody>
          </p:sp>
        </mc:Choice>
        <mc:Fallback>
          <p:sp>
            <p:nvSpPr>
              <p:cNvPr id="3" name="Content Placeholder 2">
                <a:extLst>
                  <a:ext uri="{FF2B5EF4-FFF2-40B4-BE49-F238E27FC236}">
                    <a16:creationId xmlns:a16="http://schemas.microsoft.com/office/drawing/2014/main" id="{64FCC84F-DFFA-9645-9552-81CF847FB8AF}"/>
                  </a:ext>
                </a:extLst>
              </p:cNvPr>
              <p:cNvSpPr>
                <a:spLocks noGrp="1" noRot="1" noChangeAspect="1" noMove="1" noResize="1" noEditPoints="1" noAdjustHandles="1" noChangeArrowheads="1" noChangeShapeType="1" noTextEdit="1"/>
              </p:cNvSpPr>
              <p:nvPr>
                <p:ph idx="1"/>
              </p:nvPr>
            </p:nvSpPr>
            <p:spPr>
              <a:blipFill>
                <a:blip r:embed="rId3"/>
                <a:stretch>
                  <a:fillRect l="-989" t="-528" b="-79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D7ED3F3-F29D-514C-BC19-9752E4EEF016}"/>
              </a:ext>
            </a:extLst>
          </p:cNvPr>
          <p:cNvSpPr>
            <a:spLocks noGrp="1"/>
          </p:cNvSpPr>
          <p:nvPr>
            <p:ph type="sldNum" sz="quarter" idx="12"/>
          </p:nvPr>
        </p:nvSpPr>
        <p:spPr/>
        <p:txBody>
          <a:bodyPr/>
          <a:lstStyle/>
          <a:p>
            <a:fld id="{3552B95B-556F-44BD-91A5-D80C1B9E2BB3}" type="slidenum">
              <a:rPr lang="en-US" smtClean="0"/>
              <a:pPr/>
              <a:t>24</a:t>
            </a:fld>
            <a:endParaRPr lang="en-US"/>
          </a:p>
        </p:txBody>
      </p:sp>
    </p:spTree>
    <p:extLst>
      <p:ext uri="{BB962C8B-B14F-4D97-AF65-F5344CB8AC3E}">
        <p14:creationId xmlns:p14="http://schemas.microsoft.com/office/powerpoint/2010/main" val="158771209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46228-58C4-3548-87FB-42241C8A7BAC}"/>
              </a:ext>
            </a:extLst>
          </p:cNvPr>
          <p:cNvSpPr>
            <a:spLocks noGrp="1"/>
          </p:cNvSpPr>
          <p:nvPr>
            <p:ph type="title"/>
          </p:nvPr>
        </p:nvSpPr>
        <p:spPr/>
        <p:txBody>
          <a:bodyPr/>
          <a:lstStyle/>
          <a:p>
            <a:r>
              <a:rPr lang="en-US" dirty="0"/>
              <a:t>What about statements?</a:t>
            </a:r>
          </a:p>
        </p:txBody>
      </p:sp>
      <p:sp>
        <p:nvSpPr>
          <p:cNvPr id="3" name="Content Placeholder 2">
            <a:extLst>
              <a:ext uri="{FF2B5EF4-FFF2-40B4-BE49-F238E27FC236}">
                <a16:creationId xmlns:a16="http://schemas.microsoft.com/office/drawing/2014/main" id="{5CD867CF-30F6-B643-B20D-ED1604B25C2E}"/>
              </a:ext>
            </a:extLst>
          </p:cNvPr>
          <p:cNvSpPr>
            <a:spLocks noGrp="1"/>
          </p:cNvSpPr>
          <p:nvPr>
            <p:ph idx="1"/>
          </p:nvPr>
        </p:nvSpPr>
        <p:spPr>
          <a:xfrm>
            <a:off x="152400" y="495301"/>
            <a:ext cx="8991600" cy="1219199"/>
          </a:xfrm>
        </p:spPr>
        <p:txBody>
          <a:bodyPr/>
          <a:lstStyle/>
          <a:p>
            <a:r>
              <a:rPr lang="en-US" b="1" dirty="0"/>
              <a:t>statements </a:t>
            </a:r>
            <a:r>
              <a:rPr lang="en-US" dirty="0"/>
              <a:t>have gotten left out of the discussion, because they don't evaluate to a value, and therefore </a:t>
            </a:r>
            <a:r>
              <a:rPr lang="en-US" b="1" dirty="0"/>
              <a:t>have no type.</a:t>
            </a:r>
          </a:p>
          <a:p>
            <a:r>
              <a:rPr lang="en-US" i="1" dirty="0"/>
              <a:t>but</a:t>
            </a:r>
            <a:r>
              <a:rPr lang="en-US" dirty="0"/>
              <a:t> statements </a:t>
            </a:r>
            <a:r>
              <a:rPr lang="en-US" i="1" dirty="0"/>
              <a:t>can</a:t>
            </a:r>
            <a:r>
              <a:rPr lang="en-US" dirty="0"/>
              <a:t> interact with the type system nonetheless.</a:t>
            </a:r>
            <a:endParaRPr lang="en-US" i="1" dirty="0"/>
          </a:p>
        </p:txBody>
      </p:sp>
      <p:sp>
        <p:nvSpPr>
          <p:cNvPr id="4" name="Slide Number Placeholder 3">
            <a:extLst>
              <a:ext uri="{FF2B5EF4-FFF2-40B4-BE49-F238E27FC236}">
                <a16:creationId xmlns:a16="http://schemas.microsoft.com/office/drawing/2014/main" id="{DB662630-F515-A64A-8F4B-B022A19A1D04}"/>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5" name="TextBox 4">
            <a:extLst>
              <a:ext uri="{FF2B5EF4-FFF2-40B4-BE49-F238E27FC236}">
                <a16:creationId xmlns:a16="http://schemas.microsoft.com/office/drawing/2014/main" id="{F53A2EE9-841F-AE48-8E53-9B3392D682C4}"/>
              </a:ext>
            </a:extLst>
          </p:cNvPr>
          <p:cNvSpPr txBox="1"/>
          <p:nvPr/>
        </p:nvSpPr>
        <p:spPr>
          <a:xfrm>
            <a:off x="457200" y="2247900"/>
            <a:ext cx="2895600" cy="769441"/>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(x &lt;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println</a:t>
            </a:r>
            <a:r>
              <a:rPr lang="en-US" sz="2200" b="1" dirty="0">
                <a:latin typeface="Consolas" panose="020B0609020204030204" pitchFamily="49" charset="0"/>
                <a:cs typeface="Consolas" panose="020B0609020204030204" pitchFamily="49" charset="0"/>
              </a:rPr>
              <a:t>(</a:t>
            </a:r>
            <a:r>
              <a:rPr lang="en-US" sz="2200" b="1" dirty="0">
                <a:solidFill>
                  <a:schemeClr val="accent6">
                    <a:lumMod val="75000"/>
                  </a:schemeClr>
                </a:solidFill>
                <a:latin typeface="Consolas" panose="020B0609020204030204" pitchFamily="49" charset="0"/>
                <a:cs typeface="Consolas" panose="020B0609020204030204" pitchFamily="49" charset="0"/>
              </a:rPr>
              <a:t>"yep"</a:t>
            </a:r>
            <a:r>
              <a:rPr lang="en-US" sz="2200" b="1" dirty="0">
                <a:latin typeface="Consolas" panose="020B0609020204030204" pitchFamily="49" charset="0"/>
                <a:cs typeface="Consolas" panose="020B0609020204030204" pitchFamily="49" charset="0"/>
              </a:rPr>
              <a:t>);</a:t>
            </a:r>
          </a:p>
        </p:txBody>
      </p:sp>
      <p:grpSp>
        <p:nvGrpSpPr>
          <p:cNvPr id="8" name="Group 7">
            <a:extLst>
              <a:ext uri="{FF2B5EF4-FFF2-40B4-BE49-F238E27FC236}">
                <a16:creationId xmlns:a16="http://schemas.microsoft.com/office/drawing/2014/main" id="{709F1BD1-A9FE-DF43-AD58-811723316687}"/>
              </a:ext>
            </a:extLst>
          </p:cNvPr>
          <p:cNvGrpSpPr/>
          <p:nvPr/>
        </p:nvGrpSpPr>
        <p:grpSpPr>
          <a:xfrm>
            <a:off x="1485900" y="1797963"/>
            <a:ext cx="6591300" cy="755267"/>
            <a:chOff x="1485900" y="1797963"/>
            <a:chExt cx="6591300" cy="755267"/>
          </a:xfrm>
        </p:grpSpPr>
        <p:sp>
          <p:nvSpPr>
            <p:cNvPr id="6" name="TextBox 5">
              <a:extLst>
                <a:ext uri="{FF2B5EF4-FFF2-40B4-BE49-F238E27FC236}">
                  <a16:creationId xmlns:a16="http://schemas.microsoft.com/office/drawing/2014/main" id="{FBED92AF-8435-BB41-946A-8F604749CB1B}"/>
                </a:ext>
              </a:extLst>
            </p:cNvPr>
            <p:cNvSpPr txBox="1"/>
            <p:nvPr/>
          </p:nvSpPr>
          <p:spPr>
            <a:xfrm>
              <a:off x="1752600" y="1797963"/>
              <a:ext cx="6324600" cy="430887"/>
            </a:xfrm>
            <a:prstGeom prst="rect">
              <a:avLst/>
            </a:prstGeom>
            <a:noFill/>
          </p:spPr>
          <p:txBody>
            <a:bodyPr wrap="square" rtlCol="0">
              <a:spAutoFit/>
            </a:bodyPr>
            <a:lstStyle/>
            <a:p>
              <a:pPr algn="ctr"/>
              <a:r>
                <a:rPr lang="en-US" sz="2200" dirty="0"/>
                <a:t>what type does the condition have to be, in Java?</a:t>
              </a:r>
              <a:endParaRPr lang="en-US" sz="2200" b="1" dirty="0">
                <a:solidFill>
                  <a:srgbClr val="FF0000"/>
                </a:solidFill>
                <a:latin typeface="Consolas" panose="020B0609020204030204" pitchFamily="49" charset="0"/>
                <a:cs typeface="Consolas" panose="020B0609020204030204" pitchFamily="49" charset="0"/>
              </a:endParaRPr>
            </a:p>
          </p:txBody>
        </p:sp>
        <p:sp>
          <p:nvSpPr>
            <p:cNvPr id="7" name="Arc 6">
              <a:extLst>
                <a:ext uri="{FF2B5EF4-FFF2-40B4-BE49-F238E27FC236}">
                  <a16:creationId xmlns:a16="http://schemas.microsoft.com/office/drawing/2014/main" id="{20C7D400-3E71-5240-9286-D87B8C9E0FBF}"/>
                </a:ext>
              </a:extLst>
            </p:cNvPr>
            <p:cNvSpPr/>
            <p:nvPr/>
          </p:nvSpPr>
          <p:spPr>
            <a:xfrm flipH="1">
              <a:off x="1485900" y="2019830"/>
              <a:ext cx="533400" cy="533400"/>
            </a:xfrm>
            <a:prstGeom prst="arc">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9" name="TextBox 8">
            <a:extLst>
              <a:ext uri="{FF2B5EF4-FFF2-40B4-BE49-F238E27FC236}">
                <a16:creationId xmlns:a16="http://schemas.microsoft.com/office/drawing/2014/main" id="{095C608D-E46E-9044-A9A6-9C089F0B5582}"/>
              </a:ext>
            </a:extLst>
          </p:cNvPr>
          <p:cNvSpPr txBox="1"/>
          <p:nvPr/>
        </p:nvSpPr>
        <p:spPr>
          <a:xfrm>
            <a:off x="6781800" y="2277005"/>
            <a:ext cx="1752600" cy="430887"/>
          </a:xfrm>
          <a:prstGeom prst="rect">
            <a:avLst/>
          </a:prstGeom>
          <a:noFill/>
        </p:spPr>
        <p:txBody>
          <a:bodyPr wrap="square" rtlCol="0">
            <a:spAutoFit/>
          </a:bodyPr>
          <a:lstStyle/>
          <a:p>
            <a:pPr algn="ctr"/>
            <a:r>
              <a:rPr lang="en-US" sz="2200" b="1" dirty="0" err="1">
                <a:solidFill>
                  <a:srgbClr val="FF0000"/>
                </a:solidFill>
                <a:latin typeface="Consolas" panose="020B0609020204030204" pitchFamily="49" charset="0"/>
                <a:cs typeface="Consolas" panose="020B0609020204030204" pitchFamily="49" charset="0"/>
              </a:rPr>
              <a:t>boolean</a:t>
            </a:r>
            <a:r>
              <a:rPr lang="en-US" sz="2200" dirty="0"/>
              <a:t>.</a:t>
            </a:r>
            <a:endParaRPr lang="en-US" sz="2200" b="1" dirty="0">
              <a:solidFill>
                <a:srgbClr val="FF0000"/>
              </a:solidFill>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EB350A0F-1BF1-FB4B-B631-0E98444FDCC7}"/>
              </a:ext>
            </a:extLst>
          </p:cNvPr>
          <p:cNvSpPr txBox="1"/>
          <p:nvPr/>
        </p:nvSpPr>
        <p:spPr>
          <a:xfrm>
            <a:off x="676275" y="3308319"/>
            <a:ext cx="7810500" cy="769441"/>
          </a:xfrm>
          <a:prstGeom prst="rect">
            <a:avLst/>
          </a:prstGeom>
          <a:noFill/>
        </p:spPr>
        <p:txBody>
          <a:bodyPr wrap="square" rtlCol="0">
            <a:spAutoFit/>
          </a:bodyPr>
          <a:lstStyle/>
          <a:p>
            <a:pPr algn="ctr"/>
            <a:r>
              <a:rPr lang="en-US" sz="2200" dirty="0"/>
              <a:t>similar things apply for loops, </a:t>
            </a:r>
            <a:r>
              <a:rPr lang="en-US" sz="2200" b="1" dirty="0">
                <a:solidFill>
                  <a:srgbClr val="FF0000"/>
                </a:solidFill>
                <a:latin typeface="Consolas" panose="020B0609020204030204" pitchFamily="49" charset="0"/>
                <a:cs typeface="Consolas" panose="020B0609020204030204" pitchFamily="49" charset="0"/>
              </a:rPr>
              <a:t>switch</a:t>
            </a:r>
            <a:r>
              <a:rPr lang="en-US" sz="2200" dirty="0"/>
              <a:t>es (and Rust </a:t>
            </a:r>
            <a:r>
              <a:rPr lang="en-US" sz="2200" b="1" dirty="0">
                <a:solidFill>
                  <a:srgbClr val="FF0000"/>
                </a:solidFill>
                <a:latin typeface="Consolas" panose="020B0609020204030204" pitchFamily="49" charset="0"/>
                <a:cs typeface="Consolas" panose="020B0609020204030204" pitchFamily="49" charset="0"/>
              </a:rPr>
              <a:t>match</a:t>
            </a:r>
            <a:r>
              <a:rPr lang="en-US" sz="2200" dirty="0"/>
              <a:t>es), </a:t>
            </a:r>
            <a:r>
              <a:rPr lang="en-US" sz="2200" b="1" dirty="0">
                <a:solidFill>
                  <a:srgbClr val="FF0000"/>
                </a:solidFill>
                <a:latin typeface="Consolas" panose="020B0609020204030204" pitchFamily="49" charset="0"/>
                <a:cs typeface="Consolas" panose="020B0609020204030204" pitchFamily="49" charset="0"/>
              </a:rPr>
              <a:t>return</a:t>
            </a:r>
            <a:r>
              <a:rPr lang="en-US" sz="2200" dirty="0"/>
              <a:t> statements, and so on.</a:t>
            </a:r>
            <a:endParaRPr lang="en-US" sz="2200" b="1" dirty="0">
              <a:solidFill>
                <a:srgbClr val="FF0000"/>
              </a:solidFill>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292559A8-B4B0-DC4E-A2CF-F00ACD42AAF6}"/>
              </a:ext>
            </a:extLst>
          </p:cNvPr>
          <p:cNvSpPr txBox="1"/>
          <p:nvPr/>
        </p:nvSpPr>
        <p:spPr>
          <a:xfrm>
            <a:off x="533400" y="4293466"/>
            <a:ext cx="8001000" cy="769441"/>
          </a:xfrm>
          <a:prstGeom prst="rect">
            <a:avLst/>
          </a:prstGeom>
          <a:noFill/>
        </p:spPr>
        <p:txBody>
          <a:bodyPr wrap="square" rtlCol="0">
            <a:spAutoFit/>
          </a:bodyPr>
          <a:lstStyle/>
          <a:p>
            <a:pPr algn="ctr"/>
            <a:r>
              <a:rPr lang="en-US" sz="2200" dirty="0"/>
              <a:t>(we </a:t>
            </a:r>
            <a:r>
              <a:rPr lang="en-US" sz="2200" i="1" dirty="0"/>
              <a:t>could</a:t>
            </a:r>
            <a:r>
              <a:rPr lang="en-US" sz="2200" dirty="0"/>
              <a:t> also say that statements have a type like </a:t>
            </a:r>
            <a:r>
              <a:rPr lang="en-US" sz="2200" b="1" dirty="0">
                <a:latin typeface="Consolas" panose="020B0609020204030204" pitchFamily="49" charset="0"/>
                <a:cs typeface="Consolas" panose="020B0609020204030204" pitchFamily="49" charset="0"/>
              </a:rPr>
              <a:t>()</a:t>
            </a:r>
            <a:r>
              <a:rPr lang="en-US" sz="2200" dirty="0"/>
              <a:t> or </a:t>
            </a:r>
            <a:r>
              <a:rPr lang="en-US" sz="2200" b="1" dirty="0">
                <a:solidFill>
                  <a:srgbClr val="FF0000"/>
                </a:solidFill>
                <a:latin typeface="Consolas" panose="020B0609020204030204" pitchFamily="49" charset="0"/>
                <a:cs typeface="Consolas" panose="020B0609020204030204" pitchFamily="49" charset="0"/>
              </a:rPr>
              <a:t>void</a:t>
            </a:r>
            <a:r>
              <a:rPr lang="en-US" sz="2200" dirty="0"/>
              <a:t>, but it isn't strictly necessary to do this.)</a:t>
            </a:r>
            <a:endParaRPr lang="en-US" sz="2200" b="1" dirty="0">
              <a:solidFill>
                <a:srgbClr val="FF000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8081413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9" grpId="0"/>
      <p:bldP spid="11"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10C3-7A1F-214A-9738-1D9C2A2F7BD1}"/>
              </a:ext>
            </a:extLst>
          </p:cNvPr>
          <p:cNvSpPr>
            <a:spLocks noGrp="1"/>
          </p:cNvSpPr>
          <p:nvPr>
            <p:ph type="ctrTitle"/>
          </p:nvPr>
        </p:nvSpPr>
        <p:spPr/>
        <p:txBody>
          <a:bodyPr/>
          <a:lstStyle/>
          <a:p>
            <a:r>
              <a:rPr lang="en-US" dirty="0"/>
              <a:t>Implementation Details</a:t>
            </a:r>
          </a:p>
        </p:txBody>
      </p:sp>
      <p:sp>
        <p:nvSpPr>
          <p:cNvPr id="3" name="Slide Number Placeholder 2">
            <a:extLst>
              <a:ext uri="{FF2B5EF4-FFF2-40B4-BE49-F238E27FC236}">
                <a16:creationId xmlns:a16="http://schemas.microsoft.com/office/drawing/2014/main" id="{11484BCF-7DD9-2541-B4AB-0C92D80C4A67}"/>
              </a:ext>
            </a:extLst>
          </p:cNvPr>
          <p:cNvSpPr>
            <a:spLocks noGrp="1"/>
          </p:cNvSpPr>
          <p:nvPr>
            <p:ph type="sldNum" sz="quarter" idx="12"/>
          </p:nvPr>
        </p:nvSpPr>
        <p:spPr/>
        <p:txBody>
          <a:bodyPr/>
          <a:lstStyle/>
          <a:p>
            <a:fld id="{3552B95B-556F-44BD-91A5-D80C1B9E2BB3}" type="slidenum">
              <a:rPr lang="en-US" smtClean="0"/>
              <a:pPr/>
              <a:t>26</a:t>
            </a:fld>
            <a:endParaRPr lang="en-US"/>
          </a:p>
        </p:txBody>
      </p:sp>
    </p:spTree>
    <p:extLst>
      <p:ext uri="{BB962C8B-B14F-4D97-AF65-F5344CB8AC3E}">
        <p14:creationId xmlns:p14="http://schemas.microsoft.com/office/powerpoint/2010/main" val="405018369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6B97-70C0-604B-B92F-D9A42C3244A7}"/>
              </a:ext>
            </a:extLst>
          </p:cNvPr>
          <p:cNvSpPr>
            <a:spLocks noGrp="1"/>
          </p:cNvSpPr>
          <p:nvPr>
            <p:ph type="title"/>
          </p:nvPr>
        </p:nvSpPr>
        <p:spPr/>
        <p:txBody>
          <a:bodyPr/>
          <a:lstStyle/>
          <a:p>
            <a:r>
              <a:rPr lang="en-US" dirty="0"/>
              <a:t>Data structures needed</a:t>
            </a:r>
          </a:p>
        </p:txBody>
      </p:sp>
      <p:sp>
        <p:nvSpPr>
          <p:cNvPr id="3" name="Content Placeholder 2">
            <a:extLst>
              <a:ext uri="{FF2B5EF4-FFF2-40B4-BE49-F238E27FC236}">
                <a16:creationId xmlns:a16="http://schemas.microsoft.com/office/drawing/2014/main" id="{9038030C-E908-5947-A0A3-B5AA0F0905B8}"/>
              </a:ext>
            </a:extLst>
          </p:cNvPr>
          <p:cNvSpPr>
            <a:spLocks noGrp="1"/>
          </p:cNvSpPr>
          <p:nvPr>
            <p:ph idx="1"/>
          </p:nvPr>
        </p:nvSpPr>
        <p:spPr/>
        <p:txBody>
          <a:bodyPr/>
          <a:lstStyle/>
          <a:p>
            <a:r>
              <a:rPr lang="en-US" dirty="0"/>
              <a:t>we'll need to represent </a:t>
            </a:r>
            <a:r>
              <a:rPr lang="en-US" b="1" dirty="0"/>
              <a:t>types </a:t>
            </a:r>
            <a:r>
              <a:rPr lang="en-US" dirty="0"/>
              <a:t>in the compiler.</a:t>
            </a:r>
          </a:p>
          <a:p>
            <a:pPr lvl="1"/>
            <a:r>
              <a:rPr lang="en-US" dirty="0"/>
              <a:t>this can be as simple as a Rust </a:t>
            </a:r>
            <a:r>
              <a:rPr lang="en-US" b="1" dirty="0" err="1"/>
              <a:t>enum</a:t>
            </a:r>
            <a:r>
              <a:rPr lang="en-US" b="1" dirty="0"/>
              <a:t>, </a:t>
            </a:r>
            <a:r>
              <a:rPr lang="en-US" dirty="0"/>
              <a:t>very similar to how we represent the kinds of AST nodes.</a:t>
            </a:r>
          </a:p>
          <a:p>
            <a:r>
              <a:rPr lang="en-US" dirty="0"/>
              <a:t>we'll also need the </a:t>
            </a:r>
            <a:r>
              <a:rPr lang="en-US" b="1" dirty="0"/>
              <a:t>type context</a:t>
            </a:r>
            <a:r>
              <a:rPr lang="en-US" dirty="0"/>
              <a:t> like we said before.</a:t>
            </a:r>
          </a:p>
          <a:p>
            <a:pPr lvl="1"/>
            <a:r>
              <a:rPr lang="en-US" dirty="0"/>
              <a:t>we said we needed this to map from </a:t>
            </a:r>
            <a:r>
              <a:rPr lang="en-US" b="1" i="1" dirty="0"/>
              <a:t>symbols</a:t>
            </a:r>
            <a:r>
              <a:rPr lang="en-US" b="1" dirty="0"/>
              <a:t> to types…</a:t>
            </a:r>
          </a:p>
          <a:p>
            <a:pPr lvl="1"/>
            <a:r>
              <a:rPr lang="en-US" dirty="0"/>
              <a:t>but we're going to extend this to </a:t>
            </a:r>
            <a:r>
              <a:rPr lang="en-US" b="1" i="1" dirty="0"/>
              <a:t>all AST nodes </a:t>
            </a:r>
            <a:r>
              <a:rPr lang="en-US" b="1" dirty="0"/>
              <a:t>that can have types, </a:t>
            </a:r>
            <a:r>
              <a:rPr lang="en-US" dirty="0"/>
              <a:t>because subsequent compiler passes will need this info.</a:t>
            </a:r>
          </a:p>
          <a:p>
            <a:pPr lvl="1"/>
            <a:r>
              <a:rPr lang="en-US" dirty="0"/>
              <a:t>this will get filled in as we do type checking.</a:t>
            </a:r>
          </a:p>
          <a:p>
            <a:r>
              <a:rPr lang="en-US" dirty="0"/>
              <a:t>finally, we need a way to represent the </a:t>
            </a:r>
            <a:r>
              <a:rPr lang="en-US" b="1" dirty="0"/>
              <a:t>terms…</a:t>
            </a:r>
          </a:p>
          <a:p>
            <a:pPr lvl="1"/>
            <a:r>
              <a:rPr lang="en-US" dirty="0"/>
              <a:t>wait, don't we have that already?</a:t>
            </a:r>
          </a:p>
        </p:txBody>
      </p:sp>
      <p:sp>
        <p:nvSpPr>
          <p:cNvPr id="4" name="Slide Number Placeholder 3">
            <a:extLst>
              <a:ext uri="{FF2B5EF4-FFF2-40B4-BE49-F238E27FC236}">
                <a16:creationId xmlns:a16="http://schemas.microsoft.com/office/drawing/2014/main" id="{1A1FB9EE-D09B-6C45-B11A-D90C21AD3B15}"/>
              </a:ext>
            </a:extLst>
          </p:cNvPr>
          <p:cNvSpPr>
            <a:spLocks noGrp="1"/>
          </p:cNvSpPr>
          <p:nvPr>
            <p:ph type="sldNum" sz="quarter" idx="12"/>
          </p:nvPr>
        </p:nvSpPr>
        <p:spPr/>
        <p:txBody>
          <a:bodyPr/>
          <a:lstStyle/>
          <a:p>
            <a:fld id="{3552B95B-556F-44BD-91A5-D80C1B9E2BB3}" type="slidenum">
              <a:rPr lang="en-US" smtClean="0"/>
              <a:pPr/>
              <a:t>27</a:t>
            </a:fld>
            <a:endParaRPr lang="en-US"/>
          </a:p>
        </p:txBody>
      </p:sp>
    </p:spTree>
    <p:extLst>
      <p:ext uri="{BB962C8B-B14F-4D97-AF65-F5344CB8AC3E}">
        <p14:creationId xmlns:p14="http://schemas.microsoft.com/office/powerpoint/2010/main" val="82167606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CC93-6324-0847-A09F-7C469B3E77AA}"/>
              </a:ext>
            </a:extLst>
          </p:cNvPr>
          <p:cNvSpPr>
            <a:spLocks noGrp="1"/>
          </p:cNvSpPr>
          <p:nvPr>
            <p:ph type="title"/>
          </p:nvPr>
        </p:nvSpPr>
        <p:spPr/>
        <p:txBody>
          <a:bodyPr/>
          <a:lstStyle/>
          <a:p>
            <a:r>
              <a:rPr lang="en-US" dirty="0"/>
              <a:t>OH, right, the AST!</a:t>
            </a:r>
          </a:p>
        </p:txBody>
      </p:sp>
      <p:sp>
        <p:nvSpPr>
          <p:cNvPr id="3" name="Content Placeholder 2">
            <a:extLst>
              <a:ext uri="{FF2B5EF4-FFF2-40B4-BE49-F238E27FC236}">
                <a16:creationId xmlns:a16="http://schemas.microsoft.com/office/drawing/2014/main" id="{EDEDABCD-617B-A149-9FEA-C9772CD3AE1D}"/>
              </a:ext>
            </a:extLst>
          </p:cNvPr>
          <p:cNvSpPr>
            <a:spLocks noGrp="1"/>
          </p:cNvSpPr>
          <p:nvPr>
            <p:ph idx="1"/>
          </p:nvPr>
        </p:nvSpPr>
        <p:spPr>
          <a:xfrm>
            <a:off x="152400" y="495302"/>
            <a:ext cx="8991600" cy="894656"/>
          </a:xfrm>
        </p:spPr>
        <p:txBody>
          <a:bodyPr/>
          <a:lstStyle/>
          <a:p>
            <a:r>
              <a:rPr lang="en-US" dirty="0"/>
              <a:t>the AST encodes terms as </a:t>
            </a:r>
            <a:r>
              <a:rPr lang="en-US" b="1" dirty="0"/>
              <a:t>trees.</a:t>
            </a:r>
          </a:p>
          <a:p>
            <a:r>
              <a:rPr lang="en-US" dirty="0"/>
              <a:t>this implies a relatively straightforward way to check for types:</a:t>
            </a:r>
          </a:p>
        </p:txBody>
      </p:sp>
      <p:sp>
        <p:nvSpPr>
          <p:cNvPr id="4" name="Slide Number Placeholder 3">
            <a:extLst>
              <a:ext uri="{FF2B5EF4-FFF2-40B4-BE49-F238E27FC236}">
                <a16:creationId xmlns:a16="http://schemas.microsoft.com/office/drawing/2014/main" id="{27A37099-207B-9B42-9F5D-6A2E997432D1}"/>
              </a:ext>
            </a:extLst>
          </p:cNvPr>
          <p:cNvSpPr>
            <a:spLocks noGrp="1"/>
          </p:cNvSpPr>
          <p:nvPr>
            <p:ph type="sldNum" sz="quarter" idx="12"/>
          </p:nvPr>
        </p:nvSpPr>
        <p:spPr/>
        <p:txBody>
          <a:bodyPr/>
          <a:lstStyle/>
          <a:p>
            <a:fld id="{3552B95B-556F-44BD-91A5-D80C1B9E2BB3}" type="slidenum">
              <a:rPr lang="en-US" smtClean="0"/>
              <a:pPr/>
              <a:t>28</a:t>
            </a:fld>
            <a:endParaRPr lang="en-US"/>
          </a:p>
        </p:txBody>
      </p:sp>
      <p:graphicFrame>
        <p:nvGraphicFramePr>
          <p:cNvPr id="18" name="Table 17">
            <a:extLst>
              <a:ext uri="{FF2B5EF4-FFF2-40B4-BE49-F238E27FC236}">
                <a16:creationId xmlns:a16="http://schemas.microsoft.com/office/drawing/2014/main" id="{C17FE67B-B8C2-7642-A1D3-8F14D5184C74}"/>
              </a:ext>
            </a:extLst>
          </p:cNvPr>
          <p:cNvGraphicFramePr>
            <a:graphicFrameLocks noGrp="1"/>
          </p:cNvGraphicFramePr>
          <p:nvPr>
            <p:extLst>
              <p:ext uri="{D42A27DB-BD31-4B8C-83A1-F6EECF244321}">
                <p14:modId xmlns:p14="http://schemas.microsoft.com/office/powerpoint/2010/main" val="3181734594"/>
              </p:ext>
            </p:extLst>
          </p:nvPr>
        </p:nvGraphicFramePr>
        <p:xfrm>
          <a:off x="3921817" y="2734909"/>
          <a:ext cx="1519618" cy="857680"/>
        </p:xfrm>
        <a:graphic>
          <a:graphicData uri="http://schemas.openxmlformats.org/drawingml/2006/table">
            <a:tbl>
              <a:tblPr firstRow="1">
                <a:tableStyleId>{93296810-A885-4BE3-A3E7-6D5BEEA58F35}</a:tableStyleId>
              </a:tblPr>
              <a:tblGrid>
                <a:gridCol w="840105">
                  <a:extLst>
                    <a:ext uri="{9D8B030D-6E8A-4147-A177-3AD203B41FA5}">
                      <a16:colId xmlns:a16="http://schemas.microsoft.com/office/drawing/2014/main" val="2725398507"/>
                    </a:ext>
                  </a:extLst>
                </a:gridCol>
                <a:gridCol w="679513">
                  <a:extLst>
                    <a:ext uri="{9D8B030D-6E8A-4147-A177-3AD203B41FA5}">
                      <a16:colId xmlns:a16="http://schemas.microsoft.com/office/drawing/2014/main" val="2193986552"/>
                    </a:ext>
                  </a:extLst>
                </a:gridCol>
              </a:tblGrid>
              <a:tr h="428840">
                <a:tc gridSpan="2">
                  <a:txBody>
                    <a:bodyPr/>
                    <a:lstStyle/>
                    <a:p>
                      <a:pPr algn="ctr"/>
                      <a:r>
                        <a:rPr lang="en-US" sz="1800" b="1" dirty="0" err="1">
                          <a:latin typeface="Consolas" panose="020B0609020204030204" pitchFamily="49" charset="0"/>
                          <a:cs typeface="Consolas" panose="020B0609020204030204" pitchFamily="49" charset="0"/>
                        </a:rPr>
                        <a:t>IdentExp</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name</a:t>
                      </a:r>
                    </a:p>
                  </a:txBody>
                  <a:tcPr/>
                </a:tc>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"f"</a:t>
                      </a:r>
                    </a:p>
                  </a:txBody>
                  <a:tcPr/>
                </a:tc>
                <a:extLst>
                  <a:ext uri="{0D108BD9-81ED-4DB2-BD59-A6C34878D82A}">
                    <a16:rowId xmlns:a16="http://schemas.microsoft.com/office/drawing/2014/main" val="1383516035"/>
                  </a:ext>
                </a:extLst>
              </a:tr>
            </a:tbl>
          </a:graphicData>
        </a:graphic>
      </p:graphicFrame>
      <p:graphicFrame>
        <p:nvGraphicFramePr>
          <p:cNvPr id="19" name="Table 18">
            <a:extLst>
              <a:ext uri="{FF2B5EF4-FFF2-40B4-BE49-F238E27FC236}">
                <a16:creationId xmlns:a16="http://schemas.microsoft.com/office/drawing/2014/main" id="{6C132300-058D-3A48-ACA8-AE2233190AB0}"/>
              </a:ext>
            </a:extLst>
          </p:cNvPr>
          <p:cNvGraphicFramePr>
            <a:graphicFrameLocks noGrp="1"/>
          </p:cNvGraphicFramePr>
          <p:nvPr>
            <p:extLst>
              <p:ext uri="{D42A27DB-BD31-4B8C-83A1-F6EECF244321}">
                <p14:modId xmlns:p14="http://schemas.microsoft.com/office/powerpoint/2010/main" val="2501274773"/>
              </p:ext>
            </p:extLst>
          </p:nvPr>
        </p:nvGraphicFramePr>
        <p:xfrm>
          <a:off x="6166929" y="2734909"/>
          <a:ext cx="1642428" cy="857680"/>
        </p:xfrm>
        <a:graphic>
          <a:graphicData uri="http://schemas.openxmlformats.org/drawingml/2006/table">
            <a:tbl>
              <a:tblPr firstRow="1">
                <a:tableStyleId>{93296810-A885-4BE3-A3E7-6D5BEEA58F35}</a:tableStyleId>
              </a:tblPr>
              <a:tblGrid>
                <a:gridCol w="821214">
                  <a:extLst>
                    <a:ext uri="{9D8B030D-6E8A-4147-A177-3AD203B41FA5}">
                      <a16:colId xmlns:a16="http://schemas.microsoft.com/office/drawing/2014/main" val="2725398507"/>
                    </a:ext>
                  </a:extLst>
                </a:gridCol>
                <a:gridCol w="821214">
                  <a:extLst>
                    <a:ext uri="{9D8B030D-6E8A-4147-A177-3AD203B41FA5}">
                      <a16:colId xmlns:a16="http://schemas.microsoft.com/office/drawing/2014/main" val="2193986552"/>
                    </a:ext>
                  </a:extLst>
                </a:gridCol>
              </a:tblGrid>
              <a:tr h="428840">
                <a:tc gridSpan="2">
                  <a:txBody>
                    <a:bodyPr/>
                    <a:lstStyle/>
                    <a:p>
                      <a:pPr algn="ctr"/>
                      <a:r>
                        <a:rPr lang="en-US" sz="1800" b="1" dirty="0" err="1">
                          <a:latin typeface="Consolas" panose="020B0609020204030204" pitchFamily="49" charset="0"/>
                          <a:cs typeface="Consolas" panose="020B0609020204030204" pitchFamily="49" charset="0"/>
                        </a:rPr>
                        <a:t>AddExp</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err="1">
                          <a:latin typeface="Consolas" panose="020B0609020204030204" pitchFamily="49" charset="0"/>
                          <a:cs typeface="Consolas" panose="020B0609020204030204" pitchFamily="49" charset="0"/>
                        </a:rPr>
                        <a:t>lhs</a:t>
                      </a:r>
                      <a:endParaRPr lang="en-US" sz="1800" b="1" dirty="0">
                        <a:latin typeface="Consolas" panose="020B0609020204030204" pitchFamily="49" charset="0"/>
                        <a:cs typeface="Consolas" panose="020B0609020204030204" pitchFamily="49" charset="0"/>
                      </a:endParaRPr>
                    </a:p>
                  </a:txBody>
                  <a:tcPr/>
                </a:tc>
                <a:tc>
                  <a:txBody>
                    <a:bodyPr/>
                    <a:lstStyle/>
                    <a:p>
                      <a:pPr algn="ctr"/>
                      <a:r>
                        <a:rPr lang="en-US" sz="1800" b="1" dirty="0" err="1">
                          <a:latin typeface="Consolas" panose="020B0609020204030204" pitchFamily="49" charset="0"/>
                          <a:cs typeface="Consolas" panose="020B0609020204030204" pitchFamily="49" charset="0"/>
                        </a:rPr>
                        <a:t>rhs</a:t>
                      </a:r>
                      <a:endParaRPr lang="en-US" sz="18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383516035"/>
                  </a:ext>
                </a:extLst>
              </a:tr>
            </a:tbl>
          </a:graphicData>
        </a:graphic>
      </p:graphicFrame>
      <p:graphicFrame>
        <p:nvGraphicFramePr>
          <p:cNvPr id="20" name="Table 19">
            <a:extLst>
              <a:ext uri="{FF2B5EF4-FFF2-40B4-BE49-F238E27FC236}">
                <a16:creationId xmlns:a16="http://schemas.microsoft.com/office/drawing/2014/main" id="{FA88EC46-9DC0-2D44-9671-4F6A89AA67F5}"/>
              </a:ext>
            </a:extLst>
          </p:cNvPr>
          <p:cNvGraphicFramePr>
            <a:graphicFrameLocks noGrp="1"/>
          </p:cNvGraphicFramePr>
          <p:nvPr>
            <p:extLst>
              <p:ext uri="{D42A27DB-BD31-4B8C-83A1-F6EECF244321}">
                <p14:modId xmlns:p14="http://schemas.microsoft.com/office/powerpoint/2010/main" val="914351728"/>
              </p:ext>
            </p:extLst>
          </p:nvPr>
        </p:nvGraphicFramePr>
        <p:xfrm>
          <a:off x="5334000" y="4180279"/>
          <a:ext cx="1519618" cy="857680"/>
        </p:xfrm>
        <a:graphic>
          <a:graphicData uri="http://schemas.openxmlformats.org/drawingml/2006/table">
            <a:tbl>
              <a:tblPr firstRow="1">
                <a:tableStyleId>{93296810-A885-4BE3-A3E7-6D5BEEA58F35}</a:tableStyleId>
              </a:tblPr>
              <a:tblGrid>
                <a:gridCol w="840105">
                  <a:extLst>
                    <a:ext uri="{9D8B030D-6E8A-4147-A177-3AD203B41FA5}">
                      <a16:colId xmlns:a16="http://schemas.microsoft.com/office/drawing/2014/main" val="2725398507"/>
                    </a:ext>
                  </a:extLst>
                </a:gridCol>
                <a:gridCol w="679513">
                  <a:extLst>
                    <a:ext uri="{9D8B030D-6E8A-4147-A177-3AD203B41FA5}">
                      <a16:colId xmlns:a16="http://schemas.microsoft.com/office/drawing/2014/main" val="2193986552"/>
                    </a:ext>
                  </a:extLst>
                </a:gridCol>
              </a:tblGrid>
              <a:tr h="428840">
                <a:tc gridSpan="2">
                  <a:txBody>
                    <a:bodyPr/>
                    <a:lstStyle/>
                    <a:p>
                      <a:pPr algn="ctr"/>
                      <a:r>
                        <a:rPr lang="en-US" sz="1800" b="1" dirty="0" err="1">
                          <a:latin typeface="Consolas" panose="020B0609020204030204" pitchFamily="49" charset="0"/>
                          <a:cs typeface="Consolas" panose="020B0609020204030204" pitchFamily="49" charset="0"/>
                        </a:rPr>
                        <a:t>IdentExp</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name</a:t>
                      </a:r>
                    </a:p>
                  </a:txBody>
                  <a:tcPr/>
                </a:tc>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"y"</a:t>
                      </a:r>
                    </a:p>
                  </a:txBody>
                  <a:tcPr/>
                </a:tc>
                <a:extLst>
                  <a:ext uri="{0D108BD9-81ED-4DB2-BD59-A6C34878D82A}">
                    <a16:rowId xmlns:a16="http://schemas.microsoft.com/office/drawing/2014/main" val="1383516035"/>
                  </a:ext>
                </a:extLst>
              </a:tr>
            </a:tbl>
          </a:graphicData>
        </a:graphic>
      </p:graphicFrame>
      <p:graphicFrame>
        <p:nvGraphicFramePr>
          <p:cNvPr id="21" name="Table 20">
            <a:extLst>
              <a:ext uri="{FF2B5EF4-FFF2-40B4-BE49-F238E27FC236}">
                <a16:creationId xmlns:a16="http://schemas.microsoft.com/office/drawing/2014/main" id="{A1C2F0C5-98B1-6F4A-8BB8-C859789796A0}"/>
              </a:ext>
            </a:extLst>
          </p:cNvPr>
          <p:cNvGraphicFramePr>
            <a:graphicFrameLocks noGrp="1"/>
          </p:cNvGraphicFramePr>
          <p:nvPr>
            <p:extLst>
              <p:ext uri="{D42A27DB-BD31-4B8C-83A1-F6EECF244321}">
                <p14:modId xmlns:p14="http://schemas.microsoft.com/office/powerpoint/2010/main" val="2366121502"/>
              </p:ext>
            </p:extLst>
          </p:nvPr>
        </p:nvGraphicFramePr>
        <p:xfrm>
          <a:off x="7167182" y="4180279"/>
          <a:ext cx="1519618" cy="857680"/>
        </p:xfrm>
        <a:graphic>
          <a:graphicData uri="http://schemas.openxmlformats.org/drawingml/2006/table">
            <a:tbl>
              <a:tblPr firstRow="1">
                <a:tableStyleId>{93296810-A885-4BE3-A3E7-6D5BEEA58F35}</a:tableStyleId>
              </a:tblPr>
              <a:tblGrid>
                <a:gridCol w="840105">
                  <a:extLst>
                    <a:ext uri="{9D8B030D-6E8A-4147-A177-3AD203B41FA5}">
                      <a16:colId xmlns:a16="http://schemas.microsoft.com/office/drawing/2014/main" val="2725398507"/>
                    </a:ext>
                  </a:extLst>
                </a:gridCol>
                <a:gridCol w="679513">
                  <a:extLst>
                    <a:ext uri="{9D8B030D-6E8A-4147-A177-3AD203B41FA5}">
                      <a16:colId xmlns:a16="http://schemas.microsoft.com/office/drawing/2014/main" val="2193986552"/>
                    </a:ext>
                  </a:extLst>
                </a:gridCol>
              </a:tblGrid>
              <a:tr h="428840">
                <a:tc gridSpan="2">
                  <a:txBody>
                    <a:bodyPr/>
                    <a:lstStyle/>
                    <a:p>
                      <a:pPr algn="ctr"/>
                      <a:r>
                        <a:rPr lang="en-US" sz="1800" b="1" dirty="0" err="1">
                          <a:latin typeface="Consolas" panose="020B0609020204030204" pitchFamily="49" charset="0"/>
                          <a:cs typeface="Consolas" panose="020B0609020204030204" pitchFamily="49" charset="0"/>
                        </a:rPr>
                        <a:t>IntExp</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value</a:t>
                      </a:r>
                    </a:p>
                  </a:txBody>
                  <a:tcPr/>
                </a:tc>
                <a:tc>
                  <a:txBody>
                    <a:bodyPr/>
                    <a:lstStyle/>
                    <a:p>
                      <a:pPr algn="ctr"/>
                      <a:r>
                        <a:rPr lang="en-US" sz="1800" b="1" dirty="0">
                          <a:solidFill>
                            <a:schemeClr val="accent3">
                              <a:lumMod val="75000"/>
                            </a:schemeClr>
                          </a:solidFill>
                          <a:latin typeface="Consolas" panose="020B0609020204030204" pitchFamily="49" charset="0"/>
                          <a:cs typeface="Consolas" panose="020B0609020204030204" pitchFamily="49" charset="0"/>
                        </a:rPr>
                        <a:t>2</a:t>
                      </a:r>
                    </a:p>
                  </a:txBody>
                  <a:tcPr/>
                </a:tc>
                <a:extLst>
                  <a:ext uri="{0D108BD9-81ED-4DB2-BD59-A6C34878D82A}">
                    <a16:rowId xmlns:a16="http://schemas.microsoft.com/office/drawing/2014/main" val="1383516035"/>
                  </a:ext>
                </a:extLst>
              </a:tr>
            </a:tbl>
          </a:graphicData>
        </a:graphic>
      </p:graphicFrame>
      <p:cxnSp>
        <p:nvCxnSpPr>
          <p:cNvPr id="26" name="Curved Connector 25">
            <a:extLst>
              <a:ext uri="{FF2B5EF4-FFF2-40B4-BE49-F238E27FC236}">
                <a16:creationId xmlns:a16="http://schemas.microsoft.com/office/drawing/2014/main" id="{1F553DD1-2DE0-7F4C-B70C-839EC6314E68}"/>
              </a:ext>
            </a:extLst>
          </p:cNvPr>
          <p:cNvCxnSpPr>
            <a:cxnSpLocks/>
            <a:endCxn id="20" idx="0"/>
          </p:cNvCxnSpPr>
          <p:nvPr/>
        </p:nvCxnSpPr>
        <p:spPr>
          <a:xfrm rot="5400000">
            <a:off x="5958598" y="3727801"/>
            <a:ext cx="587689" cy="317266"/>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urved Connector 26">
            <a:extLst>
              <a:ext uri="{FF2B5EF4-FFF2-40B4-BE49-F238E27FC236}">
                <a16:creationId xmlns:a16="http://schemas.microsoft.com/office/drawing/2014/main" id="{8C198B81-D8C0-D943-9E19-A78490877589}"/>
              </a:ext>
            </a:extLst>
          </p:cNvPr>
          <p:cNvCxnSpPr>
            <a:cxnSpLocks/>
            <a:endCxn id="21" idx="0"/>
          </p:cNvCxnSpPr>
          <p:nvPr/>
        </p:nvCxnSpPr>
        <p:spPr>
          <a:xfrm rot="16200000" flipH="1">
            <a:off x="7424419" y="3677707"/>
            <a:ext cx="592056" cy="413088"/>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2" name="Table 31">
            <a:extLst>
              <a:ext uri="{FF2B5EF4-FFF2-40B4-BE49-F238E27FC236}">
                <a16:creationId xmlns:a16="http://schemas.microsoft.com/office/drawing/2014/main" id="{CBB6E38B-9920-C94F-A35A-84D613D73D33}"/>
              </a:ext>
            </a:extLst>
          </p:cNvPr>
          <p:cNvGraphicFramePr>
            <a:graphicFrameLocks noGrp="1"/>
          </p:cNvGraphicFramePr>
          <p:nvPr>
            <p:extLst>
              <p:ext uri="{D42A27DB-BD31-4B8C-83A1-F6EECF244321}">
                <p14:modId xmlns:p14="http://schemas.microsoft.com/office/powerpoint/2010/main" val="4143227624"/>
              </p:ext>
            </p:extLst>
          </p:nvPr>
        </p:nvGraphicFramePr>
        <p:xfrm>
          <a:off x="5308946" y="1389958"/>
          <a:ext cx="2055210" cy="857680"/>
        </p:xfrm>
        <a:graphic>
          <a:graphicData uri="http://schemas.openxmlformats.org/drawingml/2006/table">
            <a:tbl>
              <a:tblPr firstRow="1">
                <a:tableStyleId>{93296810-A885-4BE3-A3E7-6D5BEEA58F35}</a:tableStyleId>
              </a:tblPr>
              <a:tblGrid>
                <a:gridCol w="1027605">
                  <a:extLst>
                    <a:ext uri="{9D8B030D-6E8A-4147-A177-3AD203B41FA5}">
                      <a16:colId xmlns:a16="http://schemas.microsoft.com/office/drawing/2014/main" val="2725398507"/>
                    </a:ext>
                  </a:extLst>
                </a:gridCol>
                <a:gridCol w="1027605">
                  <a:extLst>
                    <a:ext uri="{9D8B030D-6E8A-4147-A177-3AD203B41FA5}">
                      <a16:colId xmlns:a16="http://schemas.microsoft.com/office/drawing/2014/main" val="2193986552"/>
                    </a:ext>
                  </a:extLst>
                </a:gridCol>
              </a:tblGrid>
              <a:tr h="428840">
                <a:tc gridSpan="2">
                  <a:txBody>
                    <a:bodyPr/>
                    <a:lstStyle/>
                    <a:p>
                      <a:pPr algn="ctr"/>
                      <a:r>
                        <a:rPr lang="en-US" sz="1800" b="1" dirty="0" err="1">
                          <a:latin typeface="Consolas" panose="020B0609020204030204" pitchFamily="49" charset="0"/>
                          <a:cs typeface="Consolas" panose="020B0609020204030204" pitchFamily="49" charset="0"/>
                        </a:rPr>
                        <a:t>CallExp</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callee</a:t>
                      </a:r>
                    </a:p>
                  </a:txBody>
                  <a:tcPr/>
                </a:tc>
                <a:tc>
                  <a:txBody>
                    <a:bodyPr/>
                    <a:lstStyle/>
                    <a:p>
                      <a:pPr algn="ctr"/>
                      <a:r>
                        <a:rPr lang="en-US" sz="1800" b="1" dirty="0" err="1">
                          <a:latin typeface="Consolas" panose="020B0609020204030204" pitchFamily="49" charset="0"/>
                          <a:cs typeface="Consolas" panose="020B0609020204030204" pitchFamily="49" charset="0"/>
                        </a:rPr>
                        <a:t>args</a:t>
                      </a:r>
                      <a:r>
                        <a:rPr lang="en-US" sz="1800" b="1" dirty="0">
                          <a:latin typeface="Consolas" panose="020B0609020204030204" pitchFamily="49" charset="0"/>
                          <a:cs typeface="Consolas" panose="020B0609020204030204" pitchFamily="49" charset="0"/>
                        </a:rPr>
                        <a:t>[]</a:t>
                      </a:r>
                    </a:p>
                  </a:txBody>
                  <a:tcPr/>
                </a:tc>
                <a:extLst>
                  <a:ext uri="{0D108BD9-81ED-4DB2-BD59-A6C34878D82A}">
                    <a16:rowId xmlns:a16="http://schemas.microsoft.com/office/drawing/2014/main" val="1383516035"/>
                  </a:ext>
                </a:extLst>
              </a:tr>
            </a:tbl>
          </a:graphicData>
        </a:graphic>
      </p:graphicFrame>
      <p:cxnSp>
        <p:nvCxnSpPr>
          <p:cNvPr id="23" name="Curved Connector 22">
            <a:extLst>
              <a:ext uri="{FF2B5EF4-FFF2-40B4-BE49-F238E27FC236}">
                <a16:creationId xmlns:a16="http://schemas.microsoft.com/office/drawing/2014/main" id="{2202A3FD-0929-8341-AAF7-991953F46D48}"/>
              </a:ext>
            </a:extLst>
          </p:cNvPr>
          <p:cNvCxnSpPr>
            <a:cxnSpLocks/>
            <a:endCxn id="18" idx="0"/>
          </p:cNvCxnSpPr>
          <p:nvPr/>
        </p:nvCxnSpPr>
        <p:spPr>
          <a:xfrm rot="10800000" flipV="1">
            <a:off x="4681627" y="2038349"/>
            <a:ext cx="713045" cy="696559"/>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a:extLst>
              <a:ext uri="{FF2B5EF4-FFF2-40B4-BE49-F238E27FC236}">
                <a16:creationId xmlns:a16="http://schemas.microsoft.com/office/drawing/2014/main" id="{4303815A-6BF2-5E4C-A0EE-07ADF3643E02}"/>
              </a:ext>
            </a:extLst>
          </p:cNvPr>
          <p:cNvCxnSpPr>
            <a:cxnSpLocks/>
            <a:endCxn id="19" idx="0"/>
          </p:cNvCxnSpPr>
          <p:nvPr/>
        </p:nvCxnSpPr>
        <p:spPr>
          <a:xfrm rot="16200000" flipH="1">
            <a:off x="6656008" y="2402774"/>
            <a:ext cx="529744" cy="134525"/>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F62748E-4BAA-B448-9A18-2E08E7F60558}"/>
              </a:ext>
            </a:extLst>
          </p:cNvPr>
          <p:cNvSpPr txBox="1"/>
          <p:nvPr/>
        </p:nvSpPr>
        <p:spPr>
          <a:xfrm>
            <a:off x="183028" y="1257300"/>
            <a:ext cx="3748338" cy="1446550"/>
          </a:xfrm>
          <a:prstGeom prst="rect">
            <a:avLst/>
          </a:prstGeom>
          <a:noFill/>
        </p:spPr>
        <p:txBody>
          <a:bodyPr wrap="square" rtlCol="0">
            <a:spAutoFit/>
          </a:bodyPr>
          <a:lstStyle/>
          <a:p>
            <a:r>
              <a:rPr lang="en-US" sz="2200" dirty="0"/>
              <a:t>1. do a </a:t>
            </a:r>
            <a:r>
              <a:rPr lang="en-US" sz="2200" b="1" dirty="0"/>
              <a:t>depth-first</a:t>
            </a:r>
            <a:r>
              <a:rPr lang="en-US" sz="2200" dirty="0"/>
              <a:t> traversal to </a:t>
            </a:r>
            <a:r>
              <a:rPr lang="en-US" sz="2200" dirty="0" err="1"/>
              <a:t>typecheck</a:t>
            </a:r>
            <a:r>
              <a:rPr lang="en-US" sz="2200" dirty="0"/>
              <a:t> the </a:t>
            </a:r>
            <a:r>
              <a:rPr lang="en-US" sz="2200" b="1" dirty="0"/>
              <a:t>leaves, </a:t>
            </a:r>
            <a:r>
              <a:rPr lang="en-US" sz="2200" dirty="0"/>
              <a:t>using the axiomatic rules and type context;</a:t>
            </a:r>
            <a:endParaRPr lang="en-US" sz="2200" b="1" i="1" dirty="0">
              <a:latin typeface="Consolas" panose="020B0609020204030204" pitchFamily="49" charset="0"/>
              <a:cs typeface="Consolas" panose="020B0609020204030204" pitchFamily="49" charset="0"/>
            </a:endParaRPr>
          </a:p>
        </p:txBody>
      </p:sp>
      <p:sp>
        <p:nvSpPr>
          <p:cNvPr id="40" name="TextBox 39">
            <a:extLst>
              <a:ext uri="{FF2B5EF4-FFF2-40B4-BE49-F238E27FC236}">
                <a16:creationId xmlns:a16="http://schemas.microsoft.com/office/drawing/2014/main" id="{C8DFFB69-EAA9-BC49-B309-2DCA0974DA9C}"/>
              </a:ext>
            </a:extLst>
          </p:cNvPr>
          <p:cNvSpPr txBox="1"/>
          <p:nvPr/>
        </p:nvSpPr>
        <p:spPr>
          <a:xfrm>
            <a:off x="183028" y="2911113"/>
            <a:ext cx="3346074" cy="1446550"/>
          </a:xfrm>
          <a:prstGeom prst="rect">
            <a:avLst/>
          </a:prstGeom>
          <a:noFill/>
        </p:spPr>
        <p:txBody>
          <a:bodyPr wrap="square" rtlCol="0">
            <a:spAutoFit/>
          </a:bodyPr>
          <a:lstStyle/>
          <a:p>
            <a:r>
              <a:rPr lang="en-US" sz="2200" dirty="0"/>
              <a:t>2. </a:t>
            </a:r>
            <a:r>
              <a:rPr lang="en-US" sz="2200" dirty="0" err="1"/>
              <a:t>typecheck</a:t>
            </a:r>
            <a:r>
              <a:rPr lang="en-US" sz="2200" dirty="0"/>
              <a:t> the internal nodes </a:t>
            </a:r>
            <a:r>
              <a:rPr lang="en-US" sz="2200" b="1" dirty="0"/>
              <a:t>according to the types of their children,</a:t>
            </a:r>
            <a:r>
              <a:rPr lang="en-US" sz="2200" b="1" i="1" dirty="0">
                <a:latin typeface="Consolas" panose="020B0609020204030204" pitchFamily="49" charset="0"/>
                <a:cs typeface="Consolas" panose="020B0609020204030204" pitchFamily="49" charset="0"/>
              </a:rPr>
              <a:t> </a:t>
            </a:r>
            <a:r>
              <a:rPr lang="en-US" sz="2200" dirty="0"/>
              <a:t>using the inference rules.</a:t>
            </a:r>
            <a:endParaRPr lang="en-US" sz="2200" b="1" dirty="0"/>
          </a:p>
        </p:txBody>
      </p:sp>
      <p:sp>
        <p:nvSpPr>
          <p:cNvPr id="41" name="TextBox 40">
            <a:extLst>
              <a:ext uri="{FF2B5EF4-FFF2-40B4-BE49-F238E27FC236}">
                <a16:creationId xmlns:a16="http://schemas.microsoft.com/office/drawing/2014/main" id="{C5828FE5-0061-B546-BB4B-7B3FE1CAD2E8}"/>
              </a:ext>
            </a:extLst>
          </p:cNvPr>
          <p:cNvSpPr txBox="1"/>
          <p:nvPr/>
        </p:nvSpPr>
        <p:spPr>
          <a:xfrm>
            <a:off x="7395781" y="4983969"/>
            <a:ext cx="1062420" cy="430887"/>
          </a:xfrm>
          <a:prstGeom prst="rect">
            <a:avLst/>
          </a:prstGeom>
          <a:noFill/>
        </p:spPr>
        <p:txBody>
          <a:bodyPr wrap="square" rtlCol="0">
            <a:spAutoFit/>
          </a:bodyPr>
          <a:lstStyle/>
          <a:p>
            <a:pPr algn="ctr"/>
            <a:r>
              <a:rPr lang="en-US" sz="2200" b="1" dirty="0">
                <a:solidFill>
                  <a:srgbClr val="0070C0"/>
                </a:solidFill>
                <a:latin typeface="Consolas" panose="020B0609020204030204" pitchFamily="49" charset="0"/>
                <a:cs typeface="Consolas" panose="020B0609020204030204" pitchFamily="49" charset="0"/>
              </a:rPr>
              <a:t>2:int</a:t>
            </a:r>
            <a:endParaRPr lang="en-US" sz="2200" b="1" i="1" dirty="0">
              <a:solidFill>
                <a:srgbClr val="0070C0"/>
              </a:solidFill>
              <a:latin typeface="Consolas" panose="020B0609020204030204" pitchFamily="49" charset="0"/>
              <a:cs typeface="Consolas" panose="020B0609020204030204" pitchFamily="49" charset="0"/>
            </a:endParaRPr>
          </a:p>
        </p:txBody>
      </p:sp>
      <p:sp>
        <p:nvSpPr>
          <p:cNvPr id="43" name="TextBox 42">
            <a:extLst>
              <a:ext uri="{FF2B5EF4-FFF2-40B4-BE49-F238E27FC236}">
                <a16:creationId xmlns:a16="http://schemas.microsoft.com/office/drawing/2014/main" id="{6F292125-46D6-F048-B08D-1D88A9E056DE}"/>
              </a:ext>
            </a:extLst>
          </p:cNvPr>
          <p:cNvSpPr txBox="1"/>
          <p:nvPr/>
        </p:nvSpPr>
        <p:spPr>
          <a:xfrm>
            <a:off x="5334000" y="5004254"/>
            <a:ext cx="1519618" cy="430887"/>
          </a:xfrm>
          <a:prstGeom prst="rect">
            <a:avLst/>
          </a:prstGeom>
          <a:noFill/>
        </p:spPr>
        <p:txBody>
          <a:bodyPr wrap="square" rtlCol="0">
            <a:spAutoFit/>
          </a:bodyPr>
          <a:lstStyle/>
          <a:p>
            <a:pPr algn="ctr"/>
            <a:r>
              <a:rPr lang="en-US" sz="2200" b="1" dirty="0" err="1">
                <a:solidFill>
                  <a:srgbClr val="0070C0"/>
                </a:solidFill>
                <a:latin typeface="Consolas" panose="020B0609020204030204" pitchFamily="49" charset="0"/>
                <a:cs typeface="Consolas" panose="020B0609020204030204" pitchFamily="49" charset="0"/>
              </a:rPr>
              <a:t>y:int</a:t>
            </a:r>
            <a:endParaRPr lang="en-US" sz="2200" b="1" i="1" dirty="0">
              <a:solidFill>
                <a:srgbClr val="0070C0"/>
              </a:solidFill>
              <a:latin typeface="Consolas" panose="020B0609020204030204" pitchFamily="49" charset="0"/>
              <a:cs typeface="Consolas" panose="020B0609020204030204" pitchFamily="49" charset="0"/>
            </a:endParaRPr>
          </a:p>
        </p:txBody>
      </p:sp>
      <p:sp>
        <p:nvSpPr>
          <p:cNvPr id="44" name="TextBox 43">
            <a:extLst>
              <a:ext uri="{FF2B5EF4-FFF2-40B4-BE49-F238E27FC236}">
                <a16:creationId xmlns:a16="http://schemas.microsoft.com/office/drawing/2014/main" id="{ED8C5399-A73D-F645-AB04-3DCE29DD2FEB}"/>
              </a:ext>
            </a:extLst>
          </p:cNvPr>
          <p:cNvSpPr txBox="1"/>
          <p:nvPr/>
        </p:nvSpPr>
        <p:spPr>
          <a:xfrm>
            <a:off x="3441257" y="3588222"/>
            <a:ext cx="2338988" cy="430887"/>
          </a:xfrm>
          <a:prstGeom prst="rect">
            <a:avLst/>
          </a:prstGeom>
          <a:noFill/>
        </p:spPr>
        <p:txBody>
          <a:bodyPr wrap="square" rtlCol="0">
            <a:spAutoFit/>
          </a:bodyPr>
          <a:lstStyle/>
          <a:p>
            <a:pPr algn="ctr"/>
            <a:r>
              <a:rPr lang="en-US" sz="2200" b="1" dirty="0" err="1">
                <a:solidFill>
                  <a:srgbClr val="0070C0"/>
                </a:solidFill>
                <a:latin typeface="Consolas" panose="020B0609020204030204" pitchFamily="49" charset="0"/>
                <a:cs typeface="Consolas" panose="020B0609020204030204" pitchFamily="49" charset="0"/>
              </a:rPr>
              <a:t>f:fn</a:t>
            </a:r>
            <a:r>
              <a:rPr lang="en-US" sz="2200" b="1" dirty="0">
                <a:solidFill>
                  <a:srgbClr val="0070C0"/>
                </a:solidFill>
                <a:latin typeface="Consolas" panose="020B0609020204030204" pitchFamily="49" charset="0"/>
                <a:cs typeface="Consolas" panose="020B0609020204030204" pitchFamily="49" charset="0"/>
              </a:rPr>
              <a:t>(int):()</a:t>
            </a:r>
            <a:endParaRPr lang="en-US" sz="2200" b="1" i="1" dirty="0">
              <a:solidFill>
                <a:srgbClr val="0070C0"/>
              </a:solidFill>
              <a:latin typeface="Consolas" panose="020B0609020204030204" pitchFamily="49" charset="0"/>
              <a:cs typeface="Consolas" panose="020B0609020204030204" pitchFamily="49" charset="0"/>
            </a:endParaRPr>
          </a:p>
        </p:txBody>
      </p:sp>
      <p:sp>
        <p:nvSpPr>
          <p:cNvPr id="46" name="TextBox 45">
            <a:extLst>
              <a:ext uri="{FF2B5EF4-FFF2-40B4-BE49-F238E27FC236}">
                <a16:creationId xmlns:a16="http://schemas.microsoft.com/office/drawing/2014/main" id="{07550E33-302C-EE4C-86DA-8D2423F15251}"/>
              </a:ext>
            </a:extLst>
          </p:cNvPr>
          <p:cNvSpPr txBox="1"/>
          <p:nvPr/>
        </p:nvSpPr>
        <p:spPr>
          <a:xfrm>
            <a:off x="7364156" y="1603354"/>
            <a:ext cx="1596816" cy="769441"/>
          </a:xfrm>
          <a:prstGeom prst="rect">
            <a:avLst/>
          </a:prstGeom>
          <a:noFill/>
        </p:spPr>
        <p:txBody>
          <a:bodyPr wrap="square" rtlCol="0">
            <a:spAutoFit/>
          </a:bodyPr>
          <a:lstStyle/>
          <a:p>
            <a:pPr algn="ctr"/>
            <a:r>
              <a:rPr lang="en-US" sz="2200" b="1" dirty="0">
                <a:solidFill>
                  <a:srgbClr val="0070C0"/>
                </a:solidFill>
                <a:latin typeface="Consolas" panose="020B0609020204030204" pitchFamily="49" charset="0"/>
                <a:cs typeface="Consolas" panose="020B0609020204030204" pitchFamily="49" charset="0"/>
              </a:rPr>
              <a:t>f(y+2)</a:t>
            </a:r>
          </a:p>
          <a:p>
            <a:pPr algn="ctr"/>
            <a:r>
              <a:rPr lang="en-US" sz="2200" b="1" dirty="0">
                <a:solidFill>
                  <a:srgbClr val="0070C0"/>
                </a:solidFill>
                <a:latin typeface="Consolas" panose="020B0609020204030204" pitchFamily="49" charset="0"/>
                <a:cs typeface="Consolas" panose="020B0609020204030204" pitchFamily="49" charset="0"/>
              </a:rPr>
              <a:t>:()</a:t>
            </a:r>
            <a:endParaRPr lang="en-US" sz="2200" b="1" i="1" dirty="0">
              <a:solidFill>
                <a:srgbClr val="0070C0"/>
              </a:solidFill>
              <a:latin typeface="Consolas" panose="020B0609020204030204" pitchFamily="49" charset="0"/>
              <a:cs typeface="Consolas" panose="020B0609020204030204" pitchFamily="49" charset="0"/>
            </a:endParaRPr>
          </a:p>
        </p:txBody>
      </p:sp>
      <p:sp>
        <p:nvSpPr>
          <p:cNvPr id="47" name="TextBox 46">
            <a:extLst>
              <a:ext uri="{FF2B5EF4-FFF2-40B4-BE49-F238E27FC236}">
                <a16:creationId xmlns:a16="http://schemas.microsoft.com/office/drawing/2014/main" id="{B688E704-36AA-5B41-B5A0-226B8DD013C9}"/>
              </a:ext>
            </a:extLst>
          </p:cNvPr>
          <p:cNvSpPr txBox="1"/>
          <p:nvPr/>
        </p:nvSpPr>
        <p:spPr>
          <a:xfrm>
            <a:off x="7660606" y="2791764"/>
            <a:ext cx="1519618" cy="769441"/>
          </a:xfrm>
          <a:prstGeom prst="rect">
            <a:avLst/>
          </a:prstGeom>
          <a:noFill/>
        </p:spPr>
        <p:txBody>
          <a:bodyPr wrap="square" rtlCol="0">
            <a:spAutoFit/>
          </a:bodyPr>
          <a:lstStyle/>
          <a:p>
            <a:pPr algn="ctr"/>
            <a:r>
              <a:rPr lang="en-US" sz="2200" b="1" dirty="0">
                <a:solidFill>
                  <a:srgbClr val="0070C0"/>
                </a:solidFill>
                <a:latin typeface="Consolas" panose="020B0609020204030204" pitchFamily="49" charset="0"/>
                <a:cs typeface="Consolas" panose="020B0609020204030204" pitchFamily="49" charset="0"/>
              </a:rPr>
              <a:t>y+2</a:t>
            </a:r>
          </a:p>
          <a:p>
            <a:pPr algn="ctr"/>
            <a:r>
              <a:rPr lang="en-US" sz="2200" b="1" dirty="0">
                <a:solidFill>
                  <a:srgbClr val="0070C0"/>
                </a:solidFill>
                <a:latin typeface="Consolas" panose="020B0609020204030204" pitchFamily="49" charset="0"/>
                <a:cs typeface="Consolas" panose="020B0609020204030204" pitchFamily="49" charset="0"/>
              </a:rPr>
              <a:t>:int</a:t>
            </a:r>
            <a:endParaRPr lang="en-US" sz="2200" b="1" i="1" dirty="0">
              <a:solidFill>
                <a:srgbClr val="0070C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557281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3" grpId="0"/>
      <p:bldP spid="44" grpId="0"/>
      <p:bldP spid="46" grpId="0"/>
      <p:bldP spid="4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01930-8AE6-7F4E-8390-FA55634D7691}"/>
              </a:ext>
            </a:extLst>
          </p:cNvPr>
          <p:cNvSpPr>
            <a:spLocks noGrp="1"/>
          </p:cNvSpPr>
          <p:nvPr>
            <p:ph type="title"/>
          </p:nvPr>
        </p:nvSpPr>
        <p:spPr/>
        <p:txBody>
          <a:bodyPr/>
          <a:lstStyle/>
          <a:p>
            <a:r>
              <a:rPr lang="en-US" dirty="0"/>
              <a:t>Implementing the inference rules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18AFAE-08F7-0745-A314-DFB870F1F2E1}"/>
                  </a:ext>
                </a:extLst>
              </p:cNvPr>
              <p:cNvSpPr>
                <a:spLocks noGrp="1"/>
              </p:cNvSpPr>
              <p:nvPr>
                <p:ph idx="1"/>
              </p:nvPr>
            </p:nvSpPr>
            <p:spPr/>
            <p:txBody>
              <a:bodyPr/>
              <a:lstStyle/>
              <a:p>
                <a:r>
                  <a:rPr lang="en-US" dirty="0"/>
                  <a:t>the inference rules are easier to implement than they might seem.</a:t>
                </a:r>
              </a:p>
              <a:p>
                <a:r>
                  <a:rPr lang="en-US" dirty="0"/>
                  <a:t>most of the checks boil down to: </a:t>
                </a:r>
                <a:r>
                  <a:rPr lang="en-US" b="1" dirty="0"/>
                  <a:t>is this type equal to that type?</a:t>
                </a:r>
              </a:p>
              <a:p>
                <a:r>
                  <a:rPr lang="en-US" dirty="0"/>
                  <a:t>for instance in this rule:</a:t>
                </a:r>
              </a:p>
              <a:p>
                <a:pPr lvl="1"/>
                <a14:m>
                  <m:oMath xmlns:m="http://schemas.openxmlformats.org/officeDocument/2006/math">
                    <m:f>
                      <m:fPr>
                        <m:ctrlPr>
                          <a:rPr lang="en-US" b="1" i="1">
                            <a:latin typeface="Cambria Math" panose="02040503050406030204" pitchFamily="18" charset="0"/>
                          </a:rPr>
                        </m:ctrlPr>
                      </m:fPr>
                      <m:num>
                        <m:r>
                          <m:rPr>
                            <m:nor/>
                          </m:rPr>
                          <a:rPr lang="en-US" b="1">
                            <a:latin typeface="Consolas" panose="020B0609020204030204" pitchFamily="49" charset="0"/>
                            <a:cs typeface="Consolas" panose="020B0609020204030204" pitchFamily="49" charset="0"/>
                          </a:rPr>
                          <m:t>t</m:t>
                        </m:r>
                        <m:r>
                          <m:rPr>
                            <m:nor/>
                          </m:rPr>
                          <a:rPr lang="en-US" b="1">
                            <a:solidFill>
                              <a:srgbClr val="0070C0"/>
                            </a:solidFill>
                            <a:latin typeface="Consolas" panose="020B0609020204030204" pitchFamily="49" charset="0"/>
                            <a:cs typeface="Consolas" panose="020B0609020204030204" pitchFamily="49" charset="0"/>
                          </a:rPr>
                          <m:t>:</m:t>
                        </m:r>
                        <m:r>
                          <m:rPr>
                            <m:nor/>
                          </m:rPr>
                          <a:rPr lang="en-US" b="1">
                            <a:solidFill>
                              <a:srgbClr val="0070C0"/>
                            </a:solidFill>
                            <a:latin typeface="Consolas" panose="020B0609020204030204" pitchFamily="49" charset="0"/>
                            <a:cs typeface="Consolas" panose="020B0609020204030204" pitchFamily="49" charset="0"/>
                          </a:rPr>
                          <m:t>int</m:t>
                        </m:r>
                        <m:r>
                          <m:rPr>
                            <m:nor/>
                          </m:rPr>
                          <a:rPr lang="en-US" b="1">
                            <a:latin typeface="Consolas" panose="020B0609020204030204" pitchFamily="49"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u</m:t>
                        </m:r>
                        <m:r>
                          <m:rPr>
                            <m:nor/>
                          </m:rPr>
                          <a:rPr lang="en-US" b="1">
                            <a:solidFill>
                              <a:srgbClr val="0070C0"/>
                            </a:solidFill>
                            <a:latin typeface="Consolas" panose="020B0609020204030204" pitchFamily="49" charset="0"/>
                            <a:cs typeface="Consolas" panose="020B0609020204030204" pitchFamily="49" charset="0"/>
                          </a:rPr>
                          <m:t>:</m:t>
                        </m:r>
                        <m:r>
                          <m:rPr>
                            <m:nor/>
                          </m:rPr>
                          <a:rPr lang="en-US" b="1">
                            <a:solidFill>
                              <a:srgbClr val="0070C0"/>
                            </a:solidFill>
                            <a:latin typeface="Consolas" panose="020B0609020204030204" pitchFamily="49" charset="0"/>
                            <a:cs typeface="Consolas" panose="020B0609020204030204" pitchFamily="49" charset="0"/>
                          </a:rPr>
                          <m:t>int</m:t>
                        </m:r>
                      </m:num>
                      <m:den>
                        <m:d>
                          <m:dPr>
                            <m:ctrlPr>
                              <a:rPr lang="en-US" b="1" i="1">
                                <a:latin typeface="Cambria Math" panose="02040503050406030204" pitchFamily="18" charset="0"/>
                              </a:rPr>
                            </m:ctrlPr>
                          </m:dPr>
                          <m:e>
                            <m:r>
                              <m:rPr>
                                <m:nor/>
                              </m:rPr>
                              <a:rPr lang="en-US" b="1">
                                <a:latin typeface="Consolas" panose="020B0609020204030204" pitchFamily="49" charset="0"/>
                                <a:cs typeface="Consolas" panose="020B0609020204030204" pitchFamily="49" charset="0"/>
                              </a:rPr>
                              <m:t>t</m:t>
                            </m:r>
                            <m:r>
                              <m:rPr>
                                <m:nor/>
                              </m:rPr>
                              <a:rPr lang="en-US" b="1">
                                <a:latin typeface="Consolas" panose="020B0609020204030204" pitchFamily="49" charset="0"/>
                                <a:cs typeface="Consolas" panose="020B0609020204030204" pitchFamily="49" charset="0"/>
                              </a:rPr>
                              <m:t> </m:t>
                            </m:r>
                            <m:r>
                              <m:rPr>
                                <m:nor/>
                              </m:rPr>
                              <a:rPr lang="en-US" b="1" i="1">
                                <a:latin typeface="Consolas" panose="020B0609020204030204" pitchFamily="49" charset="0"/>
                                <a:cs typeface="Consolas" panose="020B0609020204030204" pitchFamily="49" charset="0"/>
                              </a:rPr>
                              <m:t>op</m:t>
                            </m:r>
                            <m:r>
                              <m:rPr>
                                <m:nor/>
                              </m:rPr>
                              <a:rPr lang="en-US" b="1">
                                <a:latin typeface="Consolas" panose="020B0609020204030204" pitchFamily="49" charset="0"/>
                                <a:cs typeface="Consolas" panose="020B0609020204030204" pitchFamily="49" charset="0"/>
                              </a:rPr>
                              <m:t> </m:t>
                            </m:r>
                            <m:r>
                              <m:rPr>
                                <m:nor/>
                              </m:rPr>
                              <a:rPr lang="en-US" b="1">
                                <a:latin typeface="Consolas" panose="020B0609020204030204" pitchFamily="49" charset="0"/>
                                <a:cs typeface="Consolas" panose="020B0609020204030204" pitchFamily="49" charset="0"/>
                              </a:rPr>
                              <m:t>u</m:t>
                            </m:r>
                          </m:e>
                        </m:d>
                        <m:r>
                          <m:rPr>
                            <m:nor/>
                          </m:rPr>
                          <a:rPr lang="en-US" b="1">
                            <a:solidFill>
                              <a:srgbClr val="0070C0"/>
                            </a:solidFill>
                            <a:latin typeface="Consolas" panose="020B0609020204030204" pitchFamily="49" charset="0"/>
                            <a:cs typeface="Consolas" panose="020B0609020204030204" pitchFamily="49" charset="0"/>
                          </a:rPr>
                          <m:t>:</m:t>
                        </m:r>
                        <m:r>
                          <m:rPr>
                            <m:nor/>
                          </m:rPr>
                          <a:rPr lang="en-US" b="1">
                            <a:solidFill>
                              <a:srgbClr val="0070C0"/>
                            </a:solidFill>
                            <a:latin typeface="Consolas" panose="020B0609020204030204" pitchFamily="49" charset="0"/>
                            <a:cs typeface="Consolas" panose="020B0609020204030204" pitchFamily="49" charset="0"/>
                          </a:rPr>
                          <m:t>bool</m:t>
                        </m:r>
                      </m:den>
                    </m:f>
                  </m:oMath>
                </a14:m>
                <a:r>
                  <a:rPr lang="en-US" dirty="0"/>
                  <a:t>  for any </a:t>
                </a:r>
                <a:r>
                  <a:rPr lang="en-US" b="1" dirty="0"/>
                  <a:t>op</a:t>
                </a:r>
                <a:r>
                  <a:rPr lang="en-US" dirty="0"/>
                  <a:t> in </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&lt;</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&lt;=</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&gt;</a:t>
                </a:r>
                <a:r>
                  <a:rPr lang="en-US" sz="2000" b="1" dirty="0">
                    <a:latin typeface="Consolas" panose="020B0609020204030204" pitchFamily="49" charset="0"/>
                    <a:cs typeface="Consolas" panose="020B0609020204030204" pitchFamily="49" charset="0"/>
                  </a:rPr>
                  <a:t>,</a:t>
                </a:r>
                <a:r>
                  <a:rPr lang="en-US" sz="2000" b="1" dirty="0">
                    <a:solidFill>
                      <a:srgbClr val="FF0000"/>
                    </a:solidFill>
                    <a:latin typeface="Consolas" panose="020B0609020204030204" pitchFamily="49" charset="0"/>
                    <a:cs typeface="Consolas" panose="020B0609020204030204" pitchFamily="49" charset="0"/>
                  </a:rPr>
                  <a:t> &gt;=</a:t>
                </a:r>
                <a:r>
                  <a:rPr lang="en-US" sz="2000" b="1" dirty="0">
                    <a:latin typeface="Consolas" panose="020B0609020204030204" pitchFamily="49" charset="0"/>
                    <a:cs typeface="Consolas" panose="020B0609020204030204" pitchFamily="49" charset="0"/>
                  </a:rPr>
                  <a:t> }</a:t>
                </a:r>
                <a:endParaRPr lang="en-US" dirty="0"/>
              </a:p>
              <a:p>
                <a:r>
                  <a:rPr lang="en-US" dirty="0"/>
                  <a:t>if I am looking at an AST node for a </a:t>
                </a:r>
                <a:r>
                  <a:rPr lang="en-US" b="1" dirty="0"/>
                  <a:t>==</a:t>
                </a:r>
                <a:r>
                  <a:rPr lang="en-US" dirty="0"/>
                  <a:t>, the check goes like this:</a:t>
                </a:r>
              </a:p>
              <a:p>
                <a:pPr marL="715805" lvl="1" indent="-457200">
                  <a:buFont typeface="+mj-lt"/>
                  <a:buAutoNum type="arabicPeriod"/>
                </a:pPr>
                <a:r>
                  <a:rPr lang="en-US" dirty="0"/>
                  <a:t>check that LHS's type equals </a:t>
                </a:r>
                <a:r>
                  <a:rPr lang="en-US" b="1" dirty="0">
                    <a:solidFill>
                      <a:srgbClr val="FF0000"/>
                    </a:solidFill>
                    <a:latin typeface="Consolas" panose="020B0609020204030204" pitchFamily="49" charset="0"/>
                    <a:cs typeface="Consolas" panose="020B0609020204030204" pitchFamily="49" charset="0"/>
                  </a:rPr>
                  <a:t>int</a:t>
                </a:r>
                <a:r>
                  <a:rPr lang="en-US" dirty="0"/>
                  <a:t>, and give an error if not.</a:t>
                </a:r>
              </a:p>
              <a:p>
                <a:pPr marL="715805" lvl="1" indent="-457200">
                  <a:buFont typeface="+mj-lt"/>
                  <a:buAutoNum type="arabicPeriod"/>
                </a:pPr>
                <a:r>
                  <a:rPr lang="en-US" dirty="0"/>
                  <a:t>check that RHS's type equals </a:t>
                </a:r>
                <a:r>
                  <a:rPr lang="en-US" b="1" dirty="0">
                    <a:solidFill>
                      <a:srgbClr val="FF0000"/>
                    </a:solidFill>
                    <a:latin typeface="Consolas" panose="020B0609020204030204" pitchFamily="49" charset="0"/>
                    <a:cs typeface="Consolas" panose="020B0609020204030204" pitchFamily="49" charset="0"/>
                  </a:rPr>
                  <a:t>int</a:t>
                </a:r>
                <a:r>
                  <a:rPr lang="en-US" dirty="0"/>
                  <a:t>, and give an error if not.</a:t>
                </a:r>
              </a:p>
              <a:p>
                <a:pPr marL="715805" lvl="1" indent="-457200">
                  <a:buFont typeface="+mj-lt"/>
                  <a:buAutoNum type="arabicPeriod"/>
                </a:pPr>
                <a:r>
                  <a:rPr lang="en-US" dirty="0"/>
                  <a:t>set this </a:t>
                </a:r>
                <a:r>
                  <a:rPr lang="en-US" b="1" dirty="0">
                    <a:latin typeface="Consolas" panose="020B0609020204030204" pitchFamily="49" charset="0"/>
                    <a:cs typeface="Consolas" panose="020B0609020204030204" pitchFamily="49" charset="0"/>
                  </a:rPr>
                  <a:t>==</a:t>
                </a:r>
                <a:r>
                  <a:rPr lang="en-US" dirty="0"/>
                  <a:t> AST node's type to </a:t>
                </a:r>
                <a:r>
                  <a:rPr lang="en-US" b="1" dirty="0">
                    <a:solidFill>
                      <a:srgbClr val="FF0000"/>
                    </a:solidFill>
                    <a:latin typeface="Consolas" panose="020B0609020204030204" pitchFamily="49" charset="0"/>
                    <a:cs typeface="Consolas" panose="020B0609020204030204" pitchFamily="49" charset="0"/>
                  </a:rPr>
                  <a:t>bool</a:t>
                </a:r>
                <a:r>
                  <a:rPr lang="en-US" dirty="0"/>
                  <a:t> in the type context.</a:t>
                </a:r>
              </a:p>
              <a:p>
                <a:r>
                  <a:rPr lang="en-US" dirty="0"/>
                  <a:t>that's it. some of the rules are more involved, but it's rarely much more complex than just checking type equality.</a:t>
                </a:r>
              </a:p>
            </p:txBody>
          </p:sp>
        </mc:Choice>
        <mc:Fallback xmlns="">
          <p:sp>
            <p:nvSpPr>
              <p:cNvPr id="3" name="Content Placeholder 2">
                <a:extLst>
                  <a:ext uri="{FF2B5EF4-FFF2-40B4-BE49-F238E27FC236}">
                    <a16:creationId xmlns:a16="http://schemas.microsoft.com/office/drawing/2014/main" id="{D118AFAE-08F7-0745-A314-DFB870F1F2E1}"/>
                  </a:ext>
                </a:extLst>
              </p:cNvPr>
              <p:cNvSpPr>
                <a:spLocks noGrp="1" noRot="1" noChangeAspect="1" noMove="1" noResize="1" noEditPoints="1" noAdjustHandles="1" noChangeArrowheads="1" noChangeShapeType="1" noTextEdit="1"/>
              </p:cNvSpPr>
              <p:nvPr>
                <p:ph idx="1"/>
              </p:nvPr>
            </p:nvSpPr>
            <p:spPr>
              <a:blipFill>
                <a:blip r:embed="rId3"/>
                <a:stretch>
                  <a:fillRect l="-989" t="-52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014404D-7808-204B-8248-EA4EAB938F8A}"/>
              </a:ext>
            </a:extLst>
          </p:cNvPr>
          <p:cNvSpPr>
            <a:spLocks noGrp="1"/>
          </p:cNvSpPr>
          <p:nvPr>
            <p:ph type="sldNum" sz="quarter" idx="12"/>
          </p:nvPr>
        </p:nvSpPr>
        <p:spPr/>
        <p:txBody>
          <a:bodyPr/>
          <a:lstStyle/>
          <a:p>
            <a:fld id="{3552B95B-556F-44BD-91A5-D80C1B9E2BB3}" type="slidenum">
              <a:rPr lang="en-US" smtClean="0"/>
              <a:pPr/>
              <a:t>29</a:t>
            </a:fld>
            <a:endParaRPr lang="en-US"/>
          </a:p>
        </p:txBody>
      </p:sp>
    </p:spTree>
    <p:extLst>
      <p:ext uri="{BB962C8B-B14F-4D97-AF65-F5344CB8AC3E}">
        <p14:creationId xmlns:p14="http://schemas.microsoft.com/office/powerpoint/2010/main" val="2902798394"/>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18779</TotalTime>
  <Words>3822</Words>
  <Application>Microsoft Macintosh PowerPoint</Application>
  <PresentationFormat>On-screen Show (16:10)</PresentationFormat>
  <Paragraphs>385</Paragraphs>
  <Slides>29</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Calibri</vt:lpstr>
      <vt:lpstr>Cambria Math</vt:lpstr>
      <vt:lpstr>Consolas</vt:lpstr>
      <vt:lpstr>Courier New</vt:lpstr>
      <vt:lpstr>Segoe UI</vt:lpstr>
      <vt:lpstr>Segoe WP Semibold</vt:lpstr>
      <vt:lpstr>Trebuchet MS</vt:lpstr>
      <vt:lpstr>Wingdings</vt:lpstr>
      <vt:lpstr>02 - C - Basics</vt:lpstr>
      <vt:lpstr>Typing</vt:lpstr>
      <vt:lpstr>Class Announcements</vt:lpstr>
      <vt:lpstr>A little Type Theory</vt:lpstr>
      <vt:lpstr>Remember what a type is?</vt:lpstr>
      <vt:lpstr>I'll Curry YOUR Howards, isomorphically</vt:lpstr>
      <vt:lpstr>Type Safety = Progress + Preservation</vt:lpstr>
      <vt:lpstr>A very unsafe language</vt:lpstr>
      <vt:lpstr>Safety has to be built-in</vt:lpstr>
      <vt:lpstr>Decidability</vt:lpstr>
      <vt:lpstr>Type systems</vt:lpstr>
      <vt:lpstr>The primitive types</vt:lpstr>
      <vt:lpstr>Static vs. Dynamic typing</vt:lpstr>
      <vt:lpstr>Dynamic types in static languages</vt:lpstr>
      <vt:lpstr>Type coercion ("punning") and conversion</vt:lpstr>
      <vt:lpstr>Strong vs. Weak typing</vt:lpstr>
      <vt:lpstr>The typing alignment chart</vt:lpstr>
      <vt:lpstr>Type inference</vt:lpstr>
      <vt:lpstr>Defining Type Systems</vt:lpstr>
      <vt:lpstr>Terms and types</vt:lpstr>
      <vt:lpstr>Inference rules</vt:lpstr>
      <vt:lpstr>The type context</vt:lpstr>
      <vt:lpstr>Truss's type system</vt:lpstr>
      <vt:lpstr>Function Types</vt:lpstr>
      <vt:lpstr>Inference rules</vt:lpstr>
      <vt:lpstr>What about statements?</vt:lpstr>
      <vt:lpstr>Implementation Details</vt:lpstr>
      <vt:lpstr>Data structures needed</vt:lpstr>
      <vt:lpstr>OH, right, the AST!</vt:lpstr>
      <vt:lpstr>Implementing the inference rules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791</cp:revision>
  <dcterms:created xsi:type="dcterms:W3CDTF">2017-01-05T04:29:56Z</dcterms:created>
  <dcterms:modified xsi:type="dcterms:W3CDTF">2022-06-15T05:18:01Z</dcterms:modified>
</cp:coreProperties>
</file>