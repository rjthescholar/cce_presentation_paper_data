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7"/>
  </p:notesMasterIdLst>
  <p:sldIdLst>
    <p:sldId id="256" r:id="rId2"/>
    <p:sldId id="519" r:id="rId3"/>
    <p:sldId id="595" r:id="rId4"/>
    <p:sldId id="594" r:id="rId5"/>
    <p:sldId id="596" r:id="rId6"/>
    <p:sldId id="597" r:id="rId7"/>
    <p:sldId id="598" r:id="rId8"/>
    <p:sldId id="599" r:id="rId9"/>
    <p:sldId id="601" r:id="rId10"/>
    <p:sldId id="600" r:id="rId11"/>
    <p:sldId id="602" r:id="rId12"/>
    <p:sldId id="603" r:id="rId13"/>
    <p:sldId id="586" r:id="rId14"/>
    <p:sldId id="604" r:id="rId15"/>
    <p:sldId id="605" r:id="rId16"/>
    <p:sldId id="606" r:id="rId17"/>
    <p:sldId id="607" r:id="rId18"/>
    <p:sldId id="588" r:id="rId19"/>
    <p:sldId id="609" r:id="rId20"/>
    <p:sldId id="611" r:id="rId21"/>
    <p:sldId id="610" r:id="rId22"/>
    <p:sldId id="612" r:id="rId23"/>
    <p:sldId id="614" r:id="rId24"/>
    <p:sldId id="613" r:id="rId25"/>
    <p:sldId id="615" r:id="rId26"/>
    <p:sldId id="616" r:id="rId27"/>
    <p:sldId id="617" r:id="rId28"/>
    <p:sldId id="618" r:id="rId29"/>
    <p:sldId id="620" r:id="rId30"/>
    <p:sldId id="619" r:id="rId31"/>
    <p:sldId id="621" r:id="rId32"/>
    <p:sldId id="623" r:id="rId33"/>
    <p:sldId id="624" r:id="rId34"/>
    <p:sldId id="622" r:id="rId35"/>
    <p:sldId id="625" r:id="rId36"/>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84999D"/>
    <a:srgbClr val="B7D4D9"/>
    <a:srgbClr val="FFDF7F"/>
    <a:srgbClr val="6098C0"/>
    <a:srgbClr val="58B080"/>
    <a:srgbClr val="FF7F81"/>
    <a:srgbClr val="FF6567"/>
    <a:srgbClr val="FF3200"/>
    <a:srgbClr val="FF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58" autoAdjust="0"/>
    <p:restoredTop sz="90423" autoAdjust="0"/>
  </p:normalViewPr>
  <p:slideViewPr>
    <p:cSldViewPr>
      <p:cViewPr varScale="1">
        <p:scale>
          <a:sx n="133" d="100"/>
          <a:sy n="133" d="100"/>
        </p:scale>
        <p:origin x="1296" y="192"/>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7/31/22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[diagram: a basic block with one predecessor and two successors. but now, we’re demonstrating a backwards analysis. in this kind of analysis, information (state) flows from the successors into the current block, then backwards from the last instruction to the first instruction, where it then flows into this block’s predecessors. instead of using the terms “in-state” and “out-state” for the state flowing out the two ends of the basic block, I’m going to say “before-state” for the state before the first instruction and “after-state” for the state after the last instruction. so in this backwards analysis, the join function takes the successors’ before-states, and joins them together to produce this block’s after-state. that after-state is used in the transfer function in reverse instruction order, which produces this block’s before-state.]</a:t>
            </a:r>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128611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 reality this algorithm tracks the liveness of </a:t>
            </a:r>
            <a:r>
              <a:rPr lang="en-US" i="1" dirty="0"/>
              <a:t>all</a:t>
            </a:r>
            <a:r>
              <a:rPr lang="en-US" dirty="0"/>
              <a:t> variables simultaneously.</a:t>
            </a:r>
          </a:p>
          <a:p>
            <a:pPr marL="171450" indent="-171450">
              <a:buFontTx/>
              <a:buChar char="-"/>
            </a:pPr>
            <a:endParaRPr lang="en-US" dirty="0"/>
          </a:p>
          <a:p>
            <a:pPr marL="0" indent="0">
              <a:buFontTx/>
              <a:buNone/>
            </a:pPr>
            <a:r>
              <a:rPr lang="en-US" dirty="0"/>
              <a:t>[case 1: an instruction uses x: ”</a:t>
            </a:r>
            <a:r>
              <a:rPr lang="en-US" dirty="0" err="1"/>
              <a:t>println_i</a:t>
            </a:r>
            <a:r>
              <a:rPr lang="en-US" dirty="0"/>
              <a:t>(x)”. so, x is LIVE before it.]</a:t>
            </a:r>
          </a:p>
          <a:p>
            <a:pPr marL="0" indent="0">
              <a:buFontTx/>
              <a:buNone/>
            </a:pPr>
            <a:r>
              <a:rPr lang="en-US" dirty="0"/>
              <a:t>[case 2: if case 1 does not apply, but the instruction </a:t>
            </a:r>
            <a:r>
              <a:rPr lang="en-US" dirty="0" err="1"/>
              <a:t>defs</a:t>
            </a:r>
            <a:r>
              <a:rPr lang="en-US" dirty="0"/>
              <a:t> x: “x = 5”, then x is DEAD before it. note that “x = x + 1” is covered by case 1, since it uses x.]</a:t>
            </a:r>
          </a:p>
          <a:p>
            <a:pPr marL="0" indent="0">
              <a:buFontTx/>
              <a:buNone/>
            </a:pPr>
            <a:r>
              <a:rPr lang="en-US" dirty="0"/>
              <a:t>[case 3: if neither of those cases apply, then we just copy the after-state to the before-state. in “y = 5”, if x was DEAD after, then it’s DEAD before; if x was LIVE after, then it’s LIVE before.]</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368865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1: a block has 3 successors s1, s2, s3. the before-state of those successors for x is DEAD, LIVE, DEAD respectively. the join function says “if any successors’ before-state is LIVE, then this block’s after-state is LIVE.” so in this case, x is LIVE at the end of this block.]</a:t>
            </a:r>
          </a:p>
          <a:p>
            <a:r>
              <a:rPr lang="en-US" dirty="0"/>
              <a:t>[diagram 2: same 3 successors, but now they all say x is DEAD as their before-states. so, the join function says x is DEAD at the end of this block.]</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3962021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short piece of code “x = </a:t>
            </a:r>
            <a:r>
              <a:rPr lang="en-US" dirty="0" err="1"/>
              <a:t>arg</a:t>
            </a:r>
            <a:r>
              <a:rPr lang="en-US" dirty="0"/>
              <a:t> + 10; print(x); t0 = x; return”. we start with x = DEAD everywhere. then we start at the end and go backwards. “return” doesn’t touch x, so x is still DEAD before it. then “t0 = x” uses x, so x is LIVE before it. “print(x)” uses x, so x is LIVE before it. then “x = </a:t>
            </a:r>
            <a:r>
              <a:rPr lang="en-US" dirty="0" err="1"/>
              <a:t>arg</a:t>
            </a:r>
            <a:r>
              <a:rPr lang="en-US" dirty="0"/>
              <a:t> + 10” </a:t>
            </a:r>
            <a:r>
              <a:rPr lang="en-US" dirty="0" err="1"/>
              <a:t>defs</a:t>
            </a:r>
            <a:r>
              <a:rPr lang="en-US" dirty="0"/>
              <a:t> x, so x is DEAD before it. so the algorithm tells us x is live after the “x = </a:t>
            </a:r>
            <a:r>
              <a:rPr lang="en-US" dirty="0" err="1"/>
              <a:t>arg</a:t>
            </a:r>
            <a:r>
              <a:rPr lang="en-US" dirty="0"/>
              <a:t> + 10” line until the “t0 = x” line, which is exactly what we’d expect.]</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4229186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CFG for the code “x = 10; if </a:t>
            </a:r>
            <a:r>
              <a:rPr lang="en-US" dirty="0" err="1"/>
              <a:t>arg</a:t>
            </a:r>
            <a:r>
              <a:rPr lang="en-US" dirty="0"/>
              <a:t> { print(“argh!”); } else { print(“x = “); print(x); } return”. so x is set to 10 before the if, then is only used on the else side and nowhere else.</a:t>
            </a:r>
          </a:p>
          <a:p>
            <a:r>
              <a:rPr lang="en-US" dirty="0"/>
              <a:t>our algorithm starts with x dead everywhere. we start at the return node and go backwards to its predecessors. return doesn’t change x’s liveness so the return block’s before-state is “x = DEAD”.</a:t>
            </a:r>
          </a:p>
          <a:p>
            <a:r>
              <a:rPr lang="en-US" dirty="0"/>
              <a:t>the first predecessor is the “print(‘argh’)” block. it doesn’t touch x, so its before-state is “x = DEAD” as well.</a:t>
            </a:r>
          </a:p>
          <a:p>
            <a:r>
              <a:rPr lang="en-US" dirty="0"/>
              <a:t>we keep going and arrive at the “if” block. its two successors both say “x = DEAD” so it assumes x is DEAD. the “x = 10” line doesn’t change that.</a:t>
            </a:r>
          </a:p>
          <a:p>
            <a:r>
              <a:rPr lang="en-US" dirty="0"/>
              <a:t>but then we go down the other path. the other predecessor to the “return” block is the “else” block. this one uses x in “print(x)”, so x is live before it. </a:t>
            </a:r>
          </a:p>
          <a:p>
            <a:r>
              <a:rPr lang="en-US" dirty="0"/>
              <a:t>now we re-visit the “if” block, and this time the join function sees x is DEAD on one successor but LIVE in the other, so now x is LIVE at the end of the “if” block. we propagate it backwards, and the “x = 10” line makes it DEAD before.</a:t>
            </a:r>
          </a:p>
          <a:p>
            <a:r>
              <a:rPr lang="en-US" dirty="0"/>
              <a:t>at the end, we end up with x being live after the “x = 10” line in the “if” block, and before the “print(x)” in the “else” block, but dead everywhere else.]</a:t>
            </a:r>
          </a:p>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2922020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CFG for the code “print(“start!”); x = 0; for </a:t>
            </a:r>
            <a:r>
              <a:rPr lang="en-US" dirty="0" err="1"/>
              <a:t>i</a:t>
            </a:r>
            <a:r>
              <a:rPr lang="en-US" dirty="0"/>
              <a:t> in 0, 10 { print(x); } return 5;” there is the start block that does the print and “x = 0”; the loop condition block; the loop body block which points back to the condition; and the return block after the loop condition is false.</a:t>
            </a:r>
          </a:p>
          <a:p>
            <a:r>
              <a:rPr lang="en-US" dirty="0"/>
              <a:t>the return block doesn’t mention x, so its before-state is x = DEAD.</a:t>
            </a:r>
          </a:p>
          <a:p>
            <a:r>
              <a:rPr lang="en-US" dirty="0"/>
              <a:t>then we visit the condition block. its successors both say x = DEAD, so it assumes x = DEAD. it also doesn’t mention x, so it tells its predecessors that x = DEAD.</a:t>
            </a:r>
          </a:p>
          <a:p>
            <a:r>
              <a:rPr lang="en-US" dirty="0"/>
              <a:t>but one of its predecessors is the loop body. when we visit that, we see “print(x)” and learn that x = LIVE before the loop body.</a:t>
            </a:r>
          </a:p>
          <a:p>
            <a:r>
              <a:rPr lang="en-US" dirty="0"/>
              <a:t>so we revisit the loop condition, and now one of its successors – the loop body – says x = LIVE, so it assumes x = LIVE as well.</a:t>
            </a:r>
          </a:p>
          <a:p>
            <a:r>
              <a:rPr lang="en-US" dirty="0"/>
              <a:t>that liveness propagates back into the start block, and x is dead before the “x = 0” line and live after it. </a:t>
            </a:r>
          </a:p>
          <a:p>
            <a:r>
              <a:rPr lang="en-US" dirty="0"/>
              <a:t>the final outcome is: x becomes live at ”x = 0”, is live throughout the whole loop, and is dead after it.]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884562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a function that takes an argument “a”. it does “let x = whatever(); print(a);” the liveness algorithm finds that x is dead everywhere. why? because it’s never used. uses make a variable live before them, and there are none here. so a compiler could give an error here about “unused variable x” or whatever.]</a:t>
            </a:r>
          </a:p>
          <a:p>
            <a:r>
              <a:rPr lang="en-US" dirty="0"/>
              <a:t>[example 2: “let x = 10; x = 20; print(x);” the liveness algorithm sees the use of “print(x)” and makes it live before, but the def of “x = 20” makes x dead before it. so, right after “let x = 10”, x is dead! this is another “flavor” of “you never used this variable” but it’s more subtle – you didn’t use this </a:t>
            </a:r>
            <a:r>
              <a:rPr lang="en-US" i="1" dirty="0"/>
              <a:t>particular value</a:t>
            </a:r>
            <a:r>
              <a:rPr lang="en-US" i="0" dirty="0"/>
              <a:t> that you assigned into the variable, but you did use the other value (x = 20). it’s neat how granular this is.]</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104706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code “x = y + z”, assuming all variables are on the stack, turns into two loads to get the values of y and z, an add, and a store to put the sum into x.]</a:t>
            </a:r>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3111488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if we instead never put x, y, or z on the stack and keep them in the registers s0, s1, s2, then the code “x = y + z” becomes one instruction, “add s0, s1, s2”.]</a:t>
            </a:r>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180670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 function “</a:t>
            </a:r>
            <a:r>
              <a:rPr lang="en-US" dirty="0" err="1"/>
              <a:t>riggy</a:t>
            </a:r>
            <a:r>
              <a:rPr lang="en-US" dirty="0"/>
              <a:t>” with one argument “a”. it does “x = a + 10; print(x); y = “---”; print(y); return a;” a’s liveness lasts for the whole function. x is only live from the “let x” to the “print x”, and y is only live from the “let y” to the “print y”.]</a:t>
            </a:r>
          </a:p>
          <a:p>
            <a:r>
              <a:rPr lang="en-US" dirty="0"/>
              <a:t>[diagram: the RIG for this function has three nodes, a, x, and y. it is an undirected graph so there is no directionality associated with the edges. there is an edge between ”a” and “x”, and an edge between ”a” and “y”. there is no edge between “x” and “y”.]</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3761861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 and i do NOT interfere; n's liveness ends right before i's begins. it's hard to see in the source code, but in the IR it's more obvious.</a:t>
            </a:r>
          </a:p>
          <a:p>
            <a:r>
              <a:rPr lang="en-US" dirty="0"/>
              <a:t>- there's actually a couple hidden locals here but the diagram is busy enough.</a:t>
            </a:r>
          </a:p>
          <a:p>
            <a:r>
              <a:rPr lang="en-US" dirty="0"/>
              <a:t>	- one is for holding the upper bound of the for loop; the other for the result of ==.</a:t>
            </a:r>
          </a:p>
          <a:p>
            <a:r>
              <a:rPr lang="en-US" dirty="0"/>
              <a:t>- $t0 – the return place – is special. the “return” terminator in the return block kind of counts as a “use” of t0. incidentally, this is how a more sophisticated compiler can determine whether or not you actually returned a value on all control flow paths - if the return place is “dead” on any predecessor to the return block, then not all control flow paths actually returned a value. that liveness info is useful for a lot of things!</a:t>
            </a:r>
          </a:p>
          <a:p>
            <a:endParaRPr lang="en-US" dirty="0"/>
          </a:p>
          <a:p>
            <a:r>
              <a:rPr lang="en-US" dirty="0"/>
              <a:t>[diagram: the function from the last class that searches a list for a value and returns whether or not it was found. the liveness ranges for each of the 6 locals are indicated. we also create the RIG as a graph with 6 nodes – one for each local – and no edges. we then march through every point in the function’s CFG, and look at the liveness info at each point. if we see two locals live at that point, we add an edge between them in the RIG, because that indicates that those locals “interfere” with each other. </a:t>
            </a:r>
          </a:p>
          <a:p>
            <a:r>
              <a:rPr lang="en-US" dirty="0"/>
              <a:t>the outcome of running this algorithm on this code gives us a RIG with 6 nodes in a nearly-fully-connected graph. there are </a:t>
            </a:r>
            <a:r>
              <a:rPr lang="en-US" i="1" dirty="0"/>
              <a:t>no</a:t>
            </a:r>
            <a:r>
              <a:rPr lang="en-US" i="0" dirty="0"/>
              <a:t> edges between “</a:t>
            </a:r>
            <a:r>
              <a:rPr lang="en-US" i="0" dirty="0" err="1"/>
              <a:t>obj</a:t>
            </a:r>
            <a:r>
              <a:rPr lang="en-US" i="0" dirty="0"/>
              <a:t>” and “n”, and between “n” and “</a:t>
            </a:r>
            <a:r>
              <a:rPr lang="en-US" i="0" dirty="0" err="1"/>
              <a:t>i</a:t>
            </a:r>
            <a:r>
              <a:rPr lang="en-US" i="0" dirty="0"/>
              <a:t>” though.]</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3800118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that RIG we just built. we can now “color” the graph by picking an arbitrary color for each node. the “color” in our case will really correspond to a CPU register. maybe red is s0, green is s1, blue is s2, etc. the rules for graph coloring mean that no two nodes that share an edge can be the same color – so for our RIG, that means that no two variables that are live at the same time can share a register. but nodes that </a:t>
            </a:r>
            <a:r>
              <a:rPr lang="en-US" i="1" dirty="0"/>
              <a:t>don’t</a:t>
            </a:r>
            <a:r>
              <a:rPr lang="en-US" i="0" dirty="0"/>
              <a:t> share an edge can be the same color – so for our RIG, that means we can reuse the same register for all variables that are the same color. here I present an example coloring that uses 5 colors for the 6 nodes, and “</a:t>
            </a:r>
            <a:r>
              <a:rPr lang="en-US" i="0" dirty="0" err="1"/>
              <a:t>obj</a:t>
            </a:r>
            <a:r>
              <a:rPr lang="en-US" i="0" dirty="0"/>
              <a:t>” and “n” are both red and could be represented by the same register in the output code.]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822646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simpler RIG from before with “a” connected to “x” and “y”, but no edge between ”x” and “y”. </a:t>
            </a:r>
          </a:p>
          <a:p>
            <a:r>
              <a:rPr lang="en-US" dirty="0"/>
              <a:t>a “trivial” coloring just uses a different color (register) for each node, so we could color “a” red, ”x” green, and “y” blue. but that’s not too interesting.</a:t>
            </a:r>
          </a:p>
          <a:p>
            <a:r>
              <a:rPr lang="en-US" dirty="0"/>
              <a:t>what’s more interesting is the </a:t>
            </a:r>
            <a:r>
              <a:rPr lang="en-US" i="1" dirty="0"/>
              <a:t>minimum</a:t>
            </a:r>
            <a:r>
              <a:rPr lang="en-US" i="0" dirty="0"/>
              <a:t> number of colors needed to color the graph. we could color “a” red, and both “x” and “y” green, and now we’ve colored it with only 2 colors. that’s the minimum number of colors, a.k.a. the </a:t>
            </a:r>
            <a:r>
              <a:rPr lang="en-US" i="1" dirty="0"/>
              <a:t>chromatic number</a:t>
            </a:r>
            <a:r>
              <a:rPr lang="en-US" i="0" dirty="0"/>
              <a:t> of this graph.]</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2269057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uncolored 6-node RIG. we want to remove nodes with &lt; 5 neighbors (edges). as we do so, we will remove those edges, and place the node on a stack.</a:t>
            </a:r>
          </a:p>
          <a:p>
            <a:r>
              <a:rPr lang="en-US" dirty="0"/>
              <a:t>at the beginning, there are three nodes with &lt; 5 neighbors: “</a:t>
            </a:r>
            <a:r>
              <a:rPr lang="en-US" dirty="0" err="1"/>
              <a:t>obj</a:t>
            </a:r>
            <a:r>
              <a:rPr lang="en-US" dirty="0"/>
              <a:t>”, “n”, and “</a:t>
            </a:r>
            <a:r>
              <a:rPr lang="en-US" dirty="0" err="1"/>
              <a:t>i</a:t>
            </a:r>
            <a:r>
              <a:rPr lang="en-US" dirty="0"/>
              <a:t>”. it does not matter which we choose, so we choose “</a:t>
            </a:r>
            <a:r>
              <a:rPr lang="en-US" dirty="0" err="1"/>
              <a:t>obj</a:t>
            </a:r>
            <a:r>
              <a:rPr lang="en-US" dirty="0"/>
              <a:t>”. this removes some edges from the graph, which decreases the neighbor count of other nodes in the graph. </a:t>
            </a:r>
          </a:p>
          <a:p>
            <a:r>
              <a:rPr lang="en-US" dirty="0"/>
              <a:t>on the next step, we arbitrarily choose “</a:t>
            </a:r>
            <a:r>
              <a:rPr lang="en-US" dirty="0" err="1"/>
              <a:t>val</a:t>
            </a:r>
            <a:r>
              <a:rPr lang="en-US" dirty="0"/>
              <a:t>” and put it on the stack. then come “l”, “found”, ”n”, and “</a:t>
            </a:r>
            <a:r>
              <a:rPr lang="en-US" dirty="0" err="1"/>
              <a:t>i</a:t>
            </a:r>
            <a:r>
              <a:rPr lang="en-US" dirty="0"/>
              <a:t>”. </a:t>
            </a:r>
          </a:p>
          <a:p>
            <a:r>
              <a:rPr lang="en-US" dirty="0"/>
              <a:t>the graph is now empty and the stack, from top to bottom, reads “</a:t>
            </a:r>
            <a:r>
              <a:rPr lang="en-US" dirty="0" err="1"/>
              <a:t>i</a:t>
            </a:r>
            <a:r>
              <a:rPr lang="en-US" dirty="0"/>
              <a:t>, n, found, l, </a:t>
            </a:r>
            <a:r>
              <a:rPr lang="en-US" dirty="0" err="1"/>
              <a:t>val</a:t>
            </a:r>
            <a:r>
              <a:rPr lang="en-US" dirty="0"/>
              <a:t>, </a:t>
            </a:r>
            <a:r>
              <a:rPr lang="en-US" dirty="0" err="1"/>
              <a:t>obj</a:t>
            </a:r>
            <a:r>
              <a:rPr lang="en-US" dirty="0"/>
              <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1044163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we bring back all the nodes and edges that we started with, but now we have a stack which gives us a coloring order.</a:t>
            </a:r>
          </a:p>
          <a:p>
            <a:r>
              <a:rPr lang="en-US" dirty="0"/>
              <a:t>first we pop ”</a:t>
            </a:r>
            <a:r>
              <a:rPr lang="en-US" dirty="0" err="1"/>
              <a:t>i</a:t>
            </a:r>
            <a:r>
              <a:rPr lang="en-US" dirty="0"/>
              <a:t>”, and since all its neighbors are uncolored, we can color it red.</a:t>
            </a:r>
          </a:p>
          <a:p>
            <a:r>
              <a:rPr lang="en-US" dirty="0"/>
              <a:t>then we pop “n”, and conveniently, it has no edge connecting it to “</a:t>
            </a:r>
            <a:r>
              <a:rPr lang="en-US" dirty="0" err="1"/>
              <a:t>i</a:t>
            </a:r>
            <a:r>
              <a:rPr lang="en-US" dirty="0"/>
              <a:t>", so again all its neighbors are uncolored and we can color it red too.</a:t>
            </a:r>
          </a:p>
          <a:p>
            <a:r>
              <a:rPr lang="en-US" dirty="0"/>
              <a:t>then comes “found”. it is connected to two red neighbors, so we make it green.</a:t>
            </a:r>
          </a:p>
          <a:p>
            <a:r>
              <a:rPr lang="en-US" dirty="0"/>
              <a:t>then “l”, which has red and green neighbors, so we make it blue.</a:t>
            </a:r>
          </a:p>
          <a:p>
            <a:r>
              <a:rPr lang="en-US" dirty="0"/>
              <a:t>then </a:t>
            </a:r>
            <a:r>
              <a:rPr lang="en-US" dirty="0" err="1"/>
              <a:t>val</a:t>
            </a:r>
            <a:r>
              <a:rPr lang="en-US" dirty="0"/>
              <a:t>, which has red, green, and blue neighbors, so we make it yellow.</a:t>
            </a:r>
          </a:p>
          <a:p>
            <a:r>
              <a:rPr lang="en-US" dirty="0"/>
              <a:t>finally </a:t>
            </a:r>
            <a:r>
              <a:rPr lang="en-US" dirty="0" err="1"/>
              <a:t>obj</a:t>
            </a:r>
            <a:r>
              <a:rPr lang="en-US" dirty="0"/>
              <a:t>, which has red, green, blue, and yellow neighbors, so we make it purple.</a:t>
            </a:r>
          </a:p>
          <a:p>
            <a:r>
              <a:rPr lang="en-US" dirty="0"/>
              <a:t>at the end, we have a coloring of the RIG that’s different from the one I gave before but is just as valid. this time “n” and “</a:t>
            </a:r>
            <a:r>
              <a:rPr lang="en-US" dirty="0" err="1"/>
              <a:t>i</a:t>
            </a:r>
            <a:r>
              <a:rPr lang="en-US" dirty="0"/>
              <a:t>” share the same color – so they will share the same register in the output code.]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11554172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same uncolored 6-node RIG. this time, however, our constraint is tighter. we have only 4 registers, so we can only remove nodes with fewer than 4 neighbors. </a:t>
            </a:r>
          </a:p>
          <a:p>
            <a:r>
              <a:rPr lang="en-US" dirty="0"/>
              <a:t>at first, we can remove “n” from the graph and push it on the stack, but then we get stuck. everyone has at least 4 neighbors. to see what will break, we arbitrarily choose to remove “l” from the graph and carry on. after that weird step, the rest of the nodes are easily removed – “</a:t>
            </a:r>
            <a:r>
              <a:rPr lang="en-US" dirty="0" err="1"/>
              <a:t>i</a:t>
            </a:r>
            <a:r>
              <a:rPr lang="en-US" dirty="0"/>
              <a:t>”, then ”</a:t>
            </a:r>
            <a:r>
              <a:rPr lang="en-US" dirty="0" err="1"/>
              <a:t>val</a:t>
            </a:r>
            <a:r>
              <a:rPr lang="en-US" dirty="0"/>
              <a:t>”, then “</a:t>
            </a:r>
            <a:r>
              <a:rPr lang="en-US" dirty="0" err="1"/>
              <a:t>obj</a:t>
            </a:r>
            <a:r>
              <a:rPr lang="en-US" dirty="0"/>
              <a:t>”, then “found.”</a:t>
            </a:r>
          </a:p>
          <a:p>
            <a:r>
              <a:rPr lang="en-US" dirty="0"/>
              <a:t>now we move onto the “pop and color” phase. we bring the original graph back. </a:t>
            </a:r>
          </a:p>
          <a:p>
            <a:r>
              <a:rPr lang="en-US" dirty="0"/>
              <a:t>we pop “found” and color it red.</a:t>
            </a:r>
          </a:p>
          <a:p>
            <a:r>
              <a:rPr lang="en-US" dirty="0"/>
              <a:t>we pop “</a:t>
            </a:r>
            <a:r>
              <a:rPr lang="en-US" dirty="0" err="1"/>
              <a:t>obj</a:t>
            </a:r>
            <a:r>
              <a:rPr lang="en-US" dirty="0"/>
              <a:t>” and color it green, since it is neighbors with “found.”</a:t>
            </a:r>
          </a:p>
          <a:p>
            <a:r>
              <a:rPr lang="en-US" dirty="0"/>
              <a:t>we pop “</a:t>
            </a:r>
            <a:r>
              <a:rPr lang="en-US" dirty="0" err="1"/>
              <a:t>val</a:t>
            </a:r>
            <a:r>
              <a:rPr lang="en-US" dirty="0"/>
              <a:t>”, and since it’s neighbors with both of those, we color it blue.</a:t>
            </a:r>
          </a:p>
          <a:p>
            <a:r>
              <a:rPr lang="en-US" dirty="0"/>
              <a:t>we pop “</a:t>
            </a:r>
            <a:r>
              <a:rPr lang="en-US" dirty="0" err="1"/>
              <a:t>i</a:t>
            </a:r>
            <a:r>
              <a:rPr lang="en-US" dirty="0"/>
              <a:t>”, and since it’s neighbors with all of those, we color it yellow.</a:t>
            </a:r>
          </a:p>
          <a:p>
            <a:r>
              <a:rPr lang="en-US" dirty="0"/>
              <a:t>but then we run into a wall. we pop “l”, but “l” is neighbors with red, green, blue, and yellow nodes. but we only have 4 colors to work with! so this graph is uncolorable.</a:t>
            </a:r>
          </a:p>
          <a:p>
            <a:r>
              <a:rPr lang="en-US" dirty="0"/>
              <a:t>notice that “l” was the one we arbitrarily chose to remove against the rules during the pushing phase, and “l” is where we ran into the problem during the popping phase. that’s no coincidence!]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2524681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we could do it perfectly, but I mean “we can’t do it perfectly </a:t>
            </a:r>
            <a:r>
              <a:rPr lang="en-US" i="1" dirty="0"/>
              <a:t>in a reasonable amount of time</a:t>
            </a:r>
            <a:r>
              <a:rPr lang="en-US" dirty="0"/>
              <a:t>.”</a:t>
            </a:r>
          </a:p>
          <a:p>
            <a:pPr marL="171450" indent="-171450">
              <a:buFontTx/>
              <a:buChar char="-"/>
            </a:pPr>
            <a:endParaRPr lang="en-US" dirty="0"/>
          </a:p>
          <a:p>
            <a:pPr marL="0" indent="0">
              <a:buFontTx/>
              <a:buNone/>
            </a:pPr>
            <a:r>
              <a:rPr lang="en-US" dirty="0"/>
              <a:t>[diagram: the list search function from before. the two short-lived variables ”n” and “</a:t>
            </a:r>
            <a:r>
              <a:rPr lang="en-US" dirty="0" err="1"/>
              <a:t>obj</a:t>
            </a:r>
            <a:r>
              <a:rPr lang="en-US" dirty="0"/>
              <a:t>” don’t seem like good spilling candidates because they exist so briefly. for the long-lived variables, ”l”, “</a:t>
            </a:r>
            <a:r>
              <a:rPr lang="en-US" dirty="0" err="1"/>
              <a:t>val</a:t>
            </a:r>
            <a:r>
              <a:rPr lang="en-US" dirty="0"/>
              <a:t>”, and “</a:t>
            </a:r>
            <a:r>
              <a:rPr lang="en-US" dirty="0" err="1"/>
              <a:t>i</a:t>
            </a:r>
            <a:r>
              <a:rPr lang="en-US" dirty="0"/>
              <a:t>” are used repeatedly in a loop, which means we’d add a lot of extra loads and stores by spilling them. but “found” is set once before the loop, probably only once inside it, and used once after it. that looks like our choice.]</a:t>
            </a:r>
          </a:p>
        </p:txBody>
      </p:sp>
      <p:sp>
        <p:nvSpPr>
          <p:cNvPr id="4" name="Slide Number Placeholder 3"/>
          <p:cNvSpPr>
            <a:spLocks noGrp="1"/>
          </p:cNvSpPr>
          <p:nvPr>
            <p:ph type="sldNum" sz="quarter" idx="5"/>
          </p:nvPr>
        </p:nvSpPr>
        <p:spPr/>
        <p:txBody>
          <a:bodyPr/>
          <a:lstStyle/>
          <a:p>
            <a:fld id="{999729AB-B77D-48AE-AA10-D1BD2B4D03EA}" type="slidenum">
              <a:rPr lang="en-US" smtClean="0"/>
              <a:pPr/>
              <a:t>31</a:t>
            </a:fld>
            <a:endParaRPr lang="en-US"/>
          </a:p>
        </p:txBody>
      </p:sp>
    </p:spTree>
    <p:extLst>
      <p:ext uri="{BB962C8B-B14F-4D97-AF65-F5344CB8AC3E}">
        <p14:creationId xmlns:p14="http://schemas.microsoft.com/office/powerpoint/2010/main" val="2751014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33</a:t>
            </a:fld>
            <a:endParaRPr lang="en-US"/>
          </a:p>
        </p:txBody>
      </p:sp>
    </p:spTree>
    <p:extLst>
      <p:ext uri="{BB962C8B-B14F-4D97-AF65-F5344CB8AC3E}">
        <p14:creationId xmlns:p14="http://schemas.microsoft.com/office/powerpoint/2010/main" val="2595482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flowchart for the algorithm. we start by computing the liveness, and from that the RIG. then we remove nodes and push them onto the stack, potentially picking spill candidates along the way. once all nodes are on the stack, we pop and color. if we reach an uncolorable spill, we have to rewrite the code, then start back over with liveness and do it all again. but if we do color everything successfully, we’re done!]</a:t>
            </a:r>
          </a:p>
        </p:txBody>
      </p:sp>
      <p:sp>
        <p:nvSpPr>
          <p:cNvPr id="4" name="Slide Number Placeholder 3"/>
          <p:cNvSpPr>
            <a:spLocks noGrp="1"/>
          </p:cNvSpPr>
          <p:nvPr>
            <p:ph type="sldNum" sz="quarter" idx="5"/>
          </p:nvPr>
        </p:nvSpPr>
        <p:spPr/>
        <p:txBody>
          <a:bodyPr/>
          <a:lstStyle/>
          <a:p>
            <a:fld id="{999729AB-B77D-48AE-AA10-D1BD2B4D03EA}" type="slidenum">
              <a:rPr lang="en-US" smtClean="0"/>
              <a:pPr/>
              <a:t>34</a:t>
            </a:fld>
            <a:endParaRPr lang="en-US"/>
          </a:p>
        </p:txBody>
      </p:sp>
    </p:spTree>
    <p:extLst>
      <p:ext uri="{BB962C8B-B14F-4D97-AF65-F5344CB8AC3E}">
        <p14:creationId xmlns:p14="http://schemas.microsoft.com/office/powerpoint/2010/main" val="2523751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Liveness and </a:t>
            </a:r>
            <a:br>
              <a:rPr lang="en-US" dirty="0"/>
            </a:br>
            <a:r>
              <a:rPr lang="en-US" dirty="0"/>
              <a:t>Register Allocation</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err="1"/>
              <a:t>uhhhhhh</a:t>
            </a:r>
            <a:r>
              <a:rPr lang="en-US" dirty="0"/>
              <a:t> exam Wednesday! woo!</a:t>
            </a:r>
          </a:p>
          <a:p>
            <a:r>
              <a:rPr lang="en-US" dirty="0"/>
              <a:t>keep in mind this stuff from today, while interesting, is not likely to be covered </a:t>
            </a:r>
            <a:r>
              <a:rPr lang="en-US" i="1" dirty="0"/>
              <a:t>in-depth</a:t>
            </a:r>
            <a:r>
              <a:rPr lang="en-US" dirty="0"/>
              <a:t> on the exam for obvious practical reasons</a:t>
            </a:r>
          </a:p>
          <a:p>
            <a:r>
              <a:rPr lang="en-US" dirty="0"/>
              <a:t>also I should acknowledge Stephen Chong of Harvard’s CS department as I would not have understood this stuff myself nearly as well without the slides from his compilers course</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D9A88-0532-3F4A-A011-6D68A939FA67}"/>
              </a:ext>
            </a:extLst>
          </p:cNvPr>
          <p:cNvSpPr>
            <a:spLocks noGrp="1"/>
          </p:cNvSpPr>
          <p:nvPr>
            <p:ph type="ctrTitle"/>
          </p:nvPr>
        </p:nvSpPr>
        <p:spPr/>
        <p:txBody>
          <a:bodyPr/>
          <a:lstStyle/>
          <a:p>
            <a:r>
              <a:rPr lang="en-US" dirty="0"/>
              <a:t>The liveness algorithm</a:t>
            </a:r>
          </a:p>
        </p:txBody>
      </p:sp>
      <p:sp>
        <p:nvSpPr>
          <p:cNvPr id="3" name="Slide Number Placeholder 2">
            <a:extLst>
              <a:ext uri="{FF2B5EF4-FFF2-40B4-BE49-F238E27FC236}">
                <a16:creationId xmlns:a16="http://schemas.microsoft.com/office/drawing/2014/main" id="{BBC75B6C-9960-764B-A7AB-CA2BDE7831B8}"/>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188901710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4BF08-158C-E74C-BC22-DE5B56E90141}"/>
              </a:ext>
            </a:extLst>
          </p:cNvPr>
          <p:cNvSpPr>
            <a:spLocks noGrp="1"/>
          </p:cNvSpPr>
          <p:nvPr>
            <p:ph type="title"/>
          </p:nvPr>
        </p:nvSpPr>
        <p:spPr/>
        <p:txBody>
          <a:bodyPr/>
          <a:lstStyle/>
          <a:p>
            <a:r>
              <a:rPr lang="en-US" dirty="0"/>
              <a:t>Backwards Analyses</a:t>
            </a:r>
          </a:p>
        </p:txBody>
      </p:sp>
      <p:sp>
        <p:nvSpPr>
          <p:cNvPr id="3" name="Content Placeholder 2">
            <a:extLst>
              <a:ext uri="{FF2B5EF4-FFF2-40B4-BE49-F238E27FC236}">
                <a16:creationId xmlns:a16="http://schemas.microsoft.com/office/drawing/2014/main" id="{853DE104-C6B8-CF49-9C29-7FC59992469D}"/>
              </a:ext>
            </a:extLst>
          </p:cNvPr>
          <p:cNvSpPr>
            <a:spLocks noGrp="1"/>
          </p:cNvSpPr>
          <p:nvPr>
            <p:ph idx="1"/>
          </p:nvPr>
        </p:nvSpPr>
        <p:spPr>
          <a:xfrm>
            <a:off x="152400" y="495301"/>
            <a:ext cx="8991600" cy="495301"/>
          </a:xfrm>
        </p:spPr>
        <p:txBody>
          <a:bodyPr/>
          <a:lstStyle/>
          <a:p>
            <a:r>
              <a:rPr lang="en-US" dirty="0"/>
              <a:t>it sounds silly, but some analyses make more sense to do </a:t>
            </a:r>
            <a:r>
              <a:rPr lang="en-US" i="1" dirty="0"/>
              <a:t>backwards.</a:t>
            </a:r>
            <a:endParaRPr lang="en-US" dirty="0"/>
          </a:p>
        </p:txBody>
      </p:sp>
      <p:sp>
        <p:nvSpPr>
          <p:cNvPr id="4" name="Slide Number Placeholder 3">
            <a:extLst>
              <a:ext uri="{FF2B5EF4-FFF2-40B4-BE49-F238E27FC236}">
                <a16:creationId xmlns:a16="http://schemas.microsoft.com/office/drawing/2014/main" id="{9F0DB29F-EAFE-2C44-A689-40854F40F550}"/>
              </a:ext>
            </a:extLst>
          </p:cNvPr>
          <p:cNvSpPr>
            <a:spLocks noGrp="1"/>
          </p:cNvSpPr>
          <p:nvPr>
            <p:ph type="sldNum" sz="quarter" idx="12"/>
          </p:nvPr>
        </p:nvSpPr>
        <p:spPr/>
        <p:txBody>
          <a:bodyPr/>
          <a:lstStyle/>
          <a:p>
            <a:fld id="{3552B95B-556F-44BD-91A5-D80C1B9E2BB3}" type="slidenum">
              <a:rPr lang="en-US" smtClean="0"/>
              <a:pPr/>
              <a:t>4</a:t>
            </a:fld>
            <a:endParaRPr lang="en-US"/>
          </a:p>
        </p:txBody>
      </p:sp>
      <p:grpSp>
        <p:nvGrpSpPr>
          <p:cNvPr id="9" name="Group 8">
            <a:extLst>
              <a:ext uri="{FF2B5EF4-FFF2-40B4-BE49-F238E27FC236}">
                <a16:creationId xmlns:a16="http://schemas.microsoft.com/office/drawing/2014/main" id="{056BF91E-03BD-2245-9FF0-25811DF0E1BB}"/>
              </a:ext>
            </a:extLst>
          </p:cNvPr>
          <p:cNvGrpSpPr/>
          <p:nvPr/>
        </p:nvGrpSpPr>
        <p:grpSpPr>
          <a:xfrm>
            <a:off x="228600" y="1028471"/>
            <a:ext cx="2665091" cy="3564192"/>
            <a:chOff x="2727862" y="1028471"/>
            <a:chExt cx="2665091" cy="3564192"/>
          </a:xfrm>
        </p:grpSpPr>
        <p:sp>
          <p:nvSpPr>
            <p:cNvPr id="25" name="TextBox 24">
              <a:extLst>
                <a:ext uri="{FF2B5EF4-FFF2-40B4-BE49-F238E27FC236}">
                  <a16:creationId xmlns:a16="http://schemas.microsoft.com/office/drawing/2014/main" id="{3E6AF792-9134-4B40-B7A9-0CBD3BF0418E}"/>
                </a:ext>
              </a:extLst>
            </p:cNvPr>
            <p:cNvSpPr txBox="1"/>
            <p:nvPr/>
          </p:nvSpPr>
          <p:spPr>
            <a:xfrm>
              <a:off x="3291424" y="1671223"/>
              <a:ext cx="2101529" cy="1569660"/>
            </a:xfrm>
            <a:prstGeom prst="rect">
              <a:avLst/>
            </a:prstGeom>
            <a:solidFill>
              <a:schemeClr val="accent1">
                <a:lumMod val="40000"/>
                <a:lumOff val="60000"/>
              </a:schemeClr>
            </a:solidFill>
          </p:spPr>
          <p:txBody>
            <a:bodyPr wrap="square" rtlCol="0">
              <a:spAutoFit/>
            </a:bodyPr>
            <a:lstStyle/>
            <a:p>
              <a:r>
                <a:rPr lang="en-US" sz="1600" b="1" dirty="0">
                  <a:latin typeface="Consolas" panose="020B0609020204030204" pitchFamily="49" charset="0"/>
                  <a:cs typeface="Consolas" panose="020B0609020204030204" pitchFamily="49" charset="0"/>
                </a:rPr>
                <a:t>inst1</a:t>
              </a:r>
            </a:p>
            <a:p>
              <a:r>
                <a:rPr lang="en-US" sz="1600" b="1" dirty="0">
                  <a:latin typeface="Consolas" panose="020B0609020204030204" pitchFamily="49" charset="0"/>
                  <a:cs typeface="Consolas" panose="020B0609020204030204" pitchFamily="49" charset="0"/>
                </a:rPr>
                <a:t>inst2</a:t>
              </a:r>
            </a:p>
            <a:p>
              <a:r>
                <a:rPr lang="en-US" sz="1600" b="1" dirty="0">
                  <a:latin typeface="Consolas" panose="020B0609020204030204" pitchFamily="49" charset="0"/>
                  <a:cs typeface="Consolas" panose="020B0609020204030204" pitchFamily="49" charset="0"/>
                </a:rPr>
                <a:t>inst3</a:t>
              </a:r>
            </a:p>
            <a:p>
              <a:r>
                <a:rPr lang="en-US" sz="1600" b="1" dirty="0">
                  <a:latin typeface="Consolas" panose="020B0609020204030204" pitchFamily="49" charset="0"/>
                  <a:cs typeface="Consolas" panose="020B0609020204030204" pitchFamily="49" charset="0"/>
                </a:rPr>
                <a:t>inst4</a:t>
              </a:r>
            </a:p>
            <a:p>
              <a:r>
                <a:rPr lang="en-US" sz="1600" b="1" dirty="0">
                  <a:latin typeface="Consolas" panose="020B0609020204030204" pitchFamily="49" charset="0"/>
                  <a:cs typeface="Consolas" panose="020B0609020204030204" pitchFamily="49" charset="0"/>
                </a:rPr>
                <a:t>inst5</a:t>
              </a:r>
            </a:p>
            <a:p>
              <a:r>
                <a:rPr lang="en-US" sz="1600" b="1" dirty="0">
                  <a:solidFill>
                    <a:srgbClr val="FF0000"/>
                  </a:solidFill>
                  <a:latin typeface="Consolas" panose="020B0609020204030204" pitchFamily="49" charset="0"/>
                  <a:cs typeface="Consolas" panose="020B0609020204030204" pitchFamily="49" charset="0"/>
                </a:rPr>
                <a:t>if </a:t>
              </a:r>
              <a:r>
                <a:rPr lang="en-US" sz="1600" b="1" dirty="0">
                  <a:latin typeface="Consolas" panose="020B0609020204030204" pitchFamily="49" charset="0"/>
                  <a:cs typeface="Consolas" panose="020B0609020204030204" pitchFamily="49" charset="0"/>
                </a:rPr>
                <a:t>x bb2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bb3</a:t>
              </a:r>
            </a:p>
          </p:txBody>
        </p:sp>
        <p:sp>
          <p:nvSpPr>
            <p:cNvPr id="26" name="TextBox 25">
              <a:extLst>
                <a:ext uri="{FF2B5EF4-FFF2-40B4-BE49-F238E27FC236}">
                  <a16:creationId xmlns:a16="http://schemas.microsoft.com/office/drawing/2014/main" id="{768C8D1D-3044-0F42-8586-7F76B9ADD680}"/>
                </a:ext>
              </a:extLst>
            </p:cNvPr>
            <p:cNvSpPr txBox="1"/>
            <p:nvPr/>
          </p:nvSpPr>
          <p:spPr>
            <a:xfrm>
              <a:off x="2804062" y="3802930"/>
              <a:ext cx="2209800" cy="338554"/>
            </a:xfrm>
            <a:prstGeom prst="rect">
              <a:avLst/>
            </a:prstGeom>
            <a:solidFill>
              <a:schemeClr val="accent3">
                <a:lumMod val="40000"/>
                <a:lumOff val="60000"/>
              </a:schemeClr>
            </a:solidFill>
          </p:spPr>
          <p:txBody>
            <a:bodyPr wrap="square" rtlCol="0">
              <a:spAutoFit/>
            </a:bodyPr>
            <a:lstStyle/>
            <a:p>
              <a:pPr algn="ctr"/>
              <a:r>
                <a:rPr lang="en-US" sz="1600" i="1" dirty="0">
                  <a:latin typeface="Consolas" panose="020B0609020204030204" pitchFamily="49" charset="0"/>
                  <a:cs typeface="Consolas" panose="020B0609020204030204" pitchFamily="49" charset="0"/>
                </a:rPr>
                <a:t>join(s1, s2)</a:t>
              </a:r>
            </a:p>
          </p:txBody>
        </p:sp>
        <p:cxnSp>
          <p:nvCxnSpPr>
            <p:cNvPr id="27" name="Straight Arrow Connector 26">
              <a:extLst>
                <a:ext uri="{FF2B5EF4-FFF2-40B4-BE49-F238E27FC236}">
                  <a16:creationId xmlns:a16="http://schemas.microsoft.com/office/drawing/2014/main" id="{774ED236-602A-1A4A-91E5-3C297DF31C90}"/>
                </a:ext>
              </a:extLst>
            </p:cNvPr>
            <p:cNvCxnSpPr>
              <a:cxnSpLocks/>
            </p:cNvCxnSpPr>
            <p:nvPr/>
          </p:nvCxnSpPr>
          <p:spPr>
            <a:xfrm>
              <a:off x="3902928" y="1104900"/>
              <a:ext cx="0" cy="566323"/>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Arc 27">
              <a:extLst>
                <a:ext uri="{FF2B5EF4-FFF2-40B4-BE49-F238E27FC236}">
                  <a16:creationId xmlns:a16="http://schemas.microsoft.com/office/drawing/2014/main" id="{D5B8D792-0428-774A-A45E-E5249D9C1891}"/>
                </a:ext>
              </a:extLst>
            </p:cNvPr>
            <p:cNvSpPr/>
            <p:nvPr/>
          </p:nvSpPr>
          <p:spPr>
            <a:xfrm flipH="1">
              <a:off x="3126734" y="1719661"/>
              <a:ext cx="355805" cy="204309"/>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Arc 29">
              <a:extLst>
                <a:ext uri="{FF2B5EF4-FFF2-40B4-BE49-F238E27FC236}">
                  <a16:creationId xmlns:a16="http://schemas.microsoft.com/office/drawing/2014/main" id="{A8DAFAD2-7AC1-E845-8BE1-53A26395CA3B}"/>
                </a:ext>
              </a:extLst>
            </p:cNvPr>
            <p:cNvSpPr/>
            <p:nvPr/>
          </p:nvSpPr>
          <p:spPr>
            <a:xfrm flipH="1">
              <a:off x="3126734" y="1968474"/>
              <a:ext cx="355805" cy="204309"/>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Arc 31">
              <a:extLst>
                <a:ext uri="{FF2B5EF4-FFF2-40B4-BE49-F238E27FC236}">
                  <a16:creationId xmlns:a16="http://schemas.microsoft.com/office/drawing/2014/main" id="{BFB38A56-0EE1-754F-AA7A-16CDC7DA4727}"/>
                </a:ext>
              </a:extLst>
            </p:cNvPr>
            <p:cNvSpPr/>
            <p:nvPr/>
          </p:nvSpPr>
          <p:spPr>
            <a:xfrm flipH="1">
              <a:off x="3126734" y="2217287"/>
              <a:ext cx="355805" cy="204309"/>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3212B639-C220-024A-AC1D-7D66D085A58D}"/>
                </a:ext>
              </a:extLst>
            </p:cNvPr>
            <p:cNvSpPr/>
            <p:nvPr/>
          </p:nvSpPr>
          <p:spPr>
            <a:xfrm flipH="1">
              <a:off x="3126734" y="2466100"/>
              <a:ext cx="355805" cy="204309"/>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Arc 39">
              <a:extLst>
                <a:ext uri="{FF2B5EF4-FFF2-40B4-BE49-F238E27FC236}">
                  <a16:creationId xmlns:a16="http://schemas.microsoft.com/office/drawing/2014/main" id="{12D1BEEC-3845-C348-B1E6-503CADE25B69}"/>
                </a:ext>
              </a:extLst>
            </p:cNvPr>
            <p:cNvSpPr/>
            <p:nvPr/>
          </p:nvSpPr>
          <p:spPr>
            <a:xfrm flipH="1">
              <a:off x="3126734" y="2714913"/>
              <a:ext cx="355805" cy="204309"/>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Arc 40">
              <a:extLst>
                <a:ext uri="{FF2B5EF4-FFF2-40B4-BE49-F238E27FC236}">
                  <a16:creationId xmlns:a16="http://schemas.microsoft.com/office/drawing/2014/main" id="{E7FAB018-A4C8-6A40-838F-AF0B651D12E1}"/>
                </a:ext>
              </a:extLst>
            </p:cNvPr>
            <p:cNvSpPr/>
            <p:nvPr/>
          </p:nvSpPr>
          <p:spPr>
            <a:xfrm flipH="1">
              <a:off x="2727862" y="1686429"/>
              <a:ext cx="1141806" cy="1569661"/>
            </a:xfrm>
            <a:prstGeom prst="arc">
              <a:avLst>
                <a:gd name="adj1" fmla="val 16200000"/>
                <a:gd name="adj2" fmla="val 5439158"/>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5A83B828-8E41-744D-A3DC-EF40F1CA174B}"/>
                </a:ext>
              </a:extLst>
            </p:cNvPr>
            <p:cNvCxnSpPr>
              <a:cxnSpLocks/>
            </p:cNvCxnSpPr>
            <p:nvPr/>
          </p:nvCxnSpPr>
          <p:spPr>
            <a:xfrm>
              <a:off x="3893403" y="3240883"/>
              <a:ext cx="0" cy="566323"/>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A0FF030-D905-294F-AE44-B63CCBB9DD26}"/>
                </a:ext>
              </a:extLst>
            </p:cNvPr>
            <p:cNvCxnSpPr>
              <a:cxnSpLocks/>
            </p:cNvCxnSpPr>
            <p:nvPr/>
          </p:nvCxnSpPr>
          <p:spPr>
            <a:xfrm>
              <a:off x="4399999" y="4141484"/>
              <a:ext cx="398873" cy="394867"/>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F77B810-E02E-CB44-88E1-1486C9AA7152}"/>
                </a:ext>
              </a:extLst>
            </p:cNvPr>
            <p:cNvCxnSpPr>
              <a:cxnSpLocks/>
            </p:cNvCxnSpPr>
            <p:nvPr/>
          </p:nvCxnSpPr>
          <p:spPr>
            <a:xfrm flipH="1">
              <a:off x="3021756" y="4141484"/>
              <a:ext cx="334963" cy="451179"/>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CCD52A64-9C4C-4E49-98CC-4EDB13413922}"/>
                </a:ext>
              </a:extLst>
            </p:cNvPr>
            <p:cNvSpPr txBox="1"/>
            <p:nvPr/>
          </p:nvSpPr>
          <p:spPr>
            <a:xfrm>
              <a:off x="4015960" y="1028471"/>
              <a:ext cx="1165640" cy="369332"/>
            </a:xfrm>
            <a:prstGeom prst="rect">
              <a:avLst/>
            </a:prstGeom>
            <a:noFill/>
          </p:spPr>
          <p:txBody>
            <a:bodyPr wrap="none" rtlCol="0">
              <a:spAutoFit/>
            </a:bodyPr>
            <a:lstStyle/>
            <a:p>
              <a:r>
                <a:rPr lang="en-US" sz="1800" b="1" dirty="0"/>
                <a:t>out-state</a:t>
              </a:r>
            </a:p>
          </p:txBody>
        </p:sp>
        <p:sp>
          <p:nvSpPr>
            <p:cNvPr id="47" name="TextBox 46">
              <a:extLst>
                <a:ext uri="{FF2B5EF4-FFF2-40B4-BE49-F238E27FC236}">
                  <a16:creationId xmlns:a16="http://schemas.microsoft.com/office/drawing/2014/main" id="{A38BB3C2-D79B-8F44-BCD9-822ABE89C114}"/>
                </a:ext>
              </a:extLst>
            </p:cNvPr>
            <p:cNvSpPr txBox="1"/>
            <p:nvPr/>
          </p:nvSpPr>
          <p:spPr>
            <a:xfrm>
              <a:off x="4015960" y="3195241"/>
              <a:ext cx="1010918" cy="369332"/>
            </a:xfrm>
            <a:prstGeom prst="rect">
              <a:avLst/>
            </a:prstGeom>
            <a:noFill/>
          </p:spPr>
          <p:txBody>
            <a:bodyPr wrap="none" rtlCol="0">
              <a:spAutoFit/>
            </a:bodyPr>
            <a:lstStyle/>
            <a:p>
              <a:r>
                <a:rPr lang="en-US" sz="1800" b="1" dirty="0"/>
                <a:t>in-state</a:t>
              </a:r>
            </a:p>
          </p:txBody>
        </p:sp>
        <p:sp>
          <p:nvSpPr>
            <p:cNvPr id="29" name="Arc 28">
              <a:extLst>
                <a:ext uri="{FF2B5EF4-FFF2-40B4-BE49-F238E27FC236}">
                  <a16:creationId xmlns:a16="http://schemas.microsoft.com/office/drawing/2014/main" id="{5DA84B15-B996-FD44-9AA6-5ED77E50A676}"/>
                </a:ext>
              </a:extLst>
            </p:cNvPr>
            <p:cNvSpPr/>
            <p:nvPr/>
          </p:nvSpPr>
          <p:spPr>
            <a:xfrm flipH="1">
              <a:off x="3113521" y="2953270"/>
              <a:ext cx="355805" cy="204309"/>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8" name="TextBox 47">
            <a:extLst>
              <a:ext uri="{FF2B5EF4-FFF2-40B4-BE49-F238E27FC236}">
                <a16:creationId xmlns:a16="http://schemas.microsoft.com/office/drawing/2014/main" id="{6A3BE82A-85DF-E345-8E37-82A5C5E76A0A}"/>
              </a:ext>
            </a:extLst>
          </p:cNvPr>
          <p:cNvSpPr txBox="1"/>
          <p:nvPr/>
        </p:nvSpPr>
        <p:spPr>
          <a:xfrm>
            <a:off x="3048000" y="1064787"/>
            <a:ext cx="5962750" cy="1107996"/>
          </a:xfrm>
          <a:prstGeom prst="rect">
            <a:avLst/>
          </a:prstGeom>
          <a:noFill/>
        </p:spPr>
        <p:txBody>
          <a:bodyPr wrap="square" rtlCol="0">
            <a:spAutoFit/>
          </a:bodyPr>
          <a:lstStyle/>
          <a:p>
            <a:pPr algn="ctr"/>
            <a:r>
              <a:rPr lang="en-US" sz="2200" dirty="0"/>
              <a:t>a </a:t>
            </a:r>
            <a:r>
              <a:rPr lang="en-US" sz="2200" b="1" dirty="0"/>
              <a:t>backwards analysis </a:t>
            </a:r>
            <a:r>
              <a:rPr lang="en-US" sz="2200" dirty="0"/>
              <a:t>works </a:t>
            </a:r>
            <a:r>
              <a:rPr lang="en-US" sz="2200" i="1" dirty="0"/>
              <a:t>exactly the same way, </a:t>
            </a:r>
            <a:r>
              <a:rPr lang="en-US" sz="2200" dirty="0"/>
              <a:t>but in the opposite direction: state flows </a:t>
            </a:r>
            <a:r>
              <a:rPr lang="en-US" sz="2200" i="1" dirty="0"/>
              <a:t>from the </a:t>
            </a:r>
            <a:r>
              <a:rPr lang="en-US" sz="2200" b="1" i="1" dirty="0"/>
              <a:t>successors</a:t>
            </a:r>
            <a:r>
              <a:rPr lang="en-US" sz="2200" i="1" dirty="0"/>
              <a:t> </a:t>
            </a:r>
            <a:r>
              <a:rPr lang="en-US" sz="2200" dirty="0"/>
              <a:t>into the join function.</a:t>
            </a:r>
            <a:endParaRPr lang="en-US" sz="2200" b="1" dirty="0"/>
          </a:p>
        </p:txBody>
      </p:sp>
      <p:sp>
        <p:nvSpPr>
          <p:cNvPr id="49" name="TextBox 48">
            <a:extLst>
              <a:ext uri="{FF2B5EF4-FFF2-40B4-BE49-F238E27FC236}">
                <a16:creationId xmlns:a16="http://schemas.microsoft.com/office/drawing/2014/main" id="{D1380E76-7F82-7F41-A736-99A59D8416E7}"/>
              </a:ext>
            </a:extLst>
          </p:cNvPr>
          <p:cNvSpPr txBox="1"/>
          <p:nvPr/>
        </p:nvSpPr>
        <p:spPr>
          <a:xfrm>
            <a:off x="2829792" y="2183533"/>
            <a:ext cx="6288085" cy="769441"/>
          </a:xfrm>
          <a:prstGeom prst="rect">
            <a:avLst/>
          </a:prstGeom>
          <a:noFill/>
        </p:spPr>
        <p:txBody>
          <a:bodyPr wrap="square" rtlCol="0">
            <a:spAutoFit/>
          </a:bodyPr>
          <a:lstStyle/>
          <a:p>
            <a:pPr algn="ctr"/>
            <a:r>
              <a:rPr lang="en-US" sz="2200" dirty="0"/>
              <a:t>the terms "in-state" and "out-state" take on different meanings, so it can get confusing…</a:t>
            </a:r>
            <a:endParaRPr lang="en-US" sz="2200" b="1" dirty="0"/>
          </a:p>
        </p:txBody>
      </p:sp>
      <p:sp>
        <p:nvSpPr>
          <p:cNvPr id="50" name="TextBox 49">
            <a:extLst>
              <a:ext uri="{FF2B5EF4-FFF2-40B4-BE49-F238E27FC236}">
                <a16:creationId xmlns:a16="http://schemas.microsoft.com/office/drawing/2014/main" id="{F3CA1CD5-34CF-4340-910B-1C43CA8B83A6}"/>
              </a:ext>
            </a:extLst>
          </p:cNvPr>
          <p:cNvSpPr txBox="1"/>
          <p:nvPr/>
        </p:nvSpPr>
        <p:spPr>
          <a:xfrm>
            <a:off x="3534802" y="3033489"/>
            <a:ext cx="4893901" cy="769441"/>
          </a:xfrm>
          <a:prstGeom prst="rect">
            <a:avLst/>
          </a:prstGeom>
          <a:noFill/>
        </p:spPr>
        <p:txBody>
          <a:bodyPr wrap="square" rtlCol="0">
            <a:spAutoFit/>
          </a:bodyPr>
          <a:lstStyle/>
          <a:p>
            <a:pPr algn="ctr"/>
            <a:r>
              <a:rPr lang="en-US" sz="2200" dirty="0"/>
              <a:t>so I'm going to use </a:t>
            </a:r>
            <a:r>
              <a:rPr lang="en-US" sz="2200" b="1" dirty="0"/>
              <a:t>before </a:t>
            </a:r>
            <a:r>
              <a:rPr lang="en-US" sz="2200" dirty="0"/>
              <a:t>and </a:t>
            </a:r>
            <a:r>
              <a:rPr lang="en-US" sz="2200" b="1" dirty="0"/>
              <a:t>after </a:t>
            </a:r>
            <a:r>
              <a:rPr lang="en-US" sz="2200" dirty="0"/>
              <a:t>instead of </a:t>
            </a:r>
            <a:r>
              <a:rPr lang="en-US" sz="2200" b="1" dirty="0"/>
              <a:t>in</a:t>
            </a:r>
            <a:r>
              <a:rPr lang="en-US" sz="2200" dirty="0"/>
              <a:t> and </a:t>
            </a:r>
            <a:r>
              <a:rPr lang="en-US" sz="2200" b="1" dirty="0"/>
              <a:t>out.</a:t>
            </a:r>
          </a:p>
        </p:txBody>
      </p:sp>
      <p:sp>
        <p:nvSpPr>
          <p:cNvPr id="51" name="TextBox 50">
            <a:extLst>
              <a:ext uri="{FF2B5EF4-FFF2-40B4-BE49-F238E27FC236}">
                <a16:creationId xmlns:a16="http://schemas.microsoft.com/office/drawing/2014/main" id="{4A104DCA-5EB9-C346-A533-FE168687ACA9}"/>
              </a:ext>
            </a:extLst>
          </p:cNvPr>
          <p:cNvSpPr txBox="1"/>
          <p:nvPr/>
        </p:nvSpPr>
        <p:spPr>
          <a:xfrm>
            <a:off x="1516698" y="1282651"/>
            <a:ext cx="1518173" cy="369332"/>
          </a:xfrm>
          <a:prstGeom prst="rect">
            <a:avLst/>
          </a:prstGeom>
          <a:noFill/>
        </p:spPr>
        <p:txBody>
          <a:bodyPr wrap="none" rtlCol="0">
            <a:spAutoFit/>
          </a:bodyPr>
          <a:lstStyle/>
          <a:p>
            <a:r>
              <a:rPr lang="en-US" sz="1800" b="1" dirty="0"/>
              <a:t>before-state</a:t>
            </a:r>
          </a:p>
        </p:txBody>
      </p:sp>
      <p:sp>
        <p:nvSpPr>
          <p:cNvPr id="52" name="TextBox 51">
            <a:extLst>
              <a:ext uri="{FF2B5EF4-FFF2-40B4-BE49-F238E27FC236}">
                <a16:creationId xmlns:a16="http://schemas.microsoft.com/office/drawing/2014/main" id="{92EB3933-AB41-0D42-967A-00A466A75218}"/>
              </a:ext>
            </a:extLst>
          </p:cNvPr>
          <p:cNvSpPr txBox="1"/>
          <p:nvPr/>
        </p:nvSpPr>
        <p:spPr>
          <a:xfrm>
            <a:off x="1516697" y="3461667"/>
            <a:ext cx="1315553" cy="369332"/>
          </a:xfrm>
          <a:prstGeom prst="rect">
            <a:avLst/>
          </a:prstGeom>
          <a:noFill/>
        </p:spPr>
        <p:txBody>
          <a:bodyPr wrap="none" rtlCol="0">
            <a:spAutoFit/>
          </a:bodyPr>
          <a:lstStyle/>
          <a:p>
            <a:r>
              <a:rPr lang="en-US" sz="1800" b="1" dirty="0"/>
              <a:t>after-state</a:t>
            </a:r>
          </a:p>
        </p:txBody>
      </p:sp>
      <p:cxnSp>
        <p:nvCxnSpPr>
          <p:cNvPr id="12" name="Straight Connector 11">
            <a:extLst>
              <a:ext uri="{FF2B5EF4-FFF2-40B4-BE49-F238E27FC236}">
                <a16:creationId xmlns:a16="http://schemas.microsoft.com/office/drawing/2014/main" id="{51A649D0-D9B7-A348-837A-D58D02014C2A}"/>
              </a:ext>
            </a:extLst>
          </p:cNvPr>
          <p:cNvCxnSpPr>
            <a:cxnSpLocks/>
          </p:cNvCxnSpPr>
          <p:nvPr/>
        </p:nvCxnSpPr>
        <p:spPr>
          <a:xfrm flipV="1">
            <a:off x="1503569" y="1149490"/>
            <a:ext cx="1138012" cy="16554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1289717-5575-DF49-A0FE-CBFE0A1C3F6C}"/>
              </a:ext>
            </a:extLst>
          </p:cNvPr>
          <p:cNvCxnSpPr>
            <a:cxnSpLocks/>
          </p:cNvCxnSpPr>
          <p:nvPr/>
        </p:nvCxnSpPr>
        <p:spPr>
          <a:xfrm flipV="1">
            <a:off x="1468027" y="3327560"/>
            <a:ext cx="1138012" cy="16554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4EEAFB06-88CE-EA41-B3A7-AF8D0F713585}"/>
              </a:ext>
            </a:extLst>
          </p:cNvPr>
          <p:cNvSpPr txBox="1"/>
          <p:nvPr/>
        </p:nvSpPr>
        <p:spPr>
          <a:xfrm>
            <a:off x="3050458" y="3982353"/>
            <a:ext cx="5646533" cy="769441"/>
          </a:xfrm>
          <a:prstGeom prst="rect">
            <a:avLst/>
          </a:prstGeom>
          <a:noFill/>
        </p:spPr>
        <p:txBody>
          <a:bodyPr wrap="square" rtlCol="0">
            <a:spAutoFit/>
          </a:bodyPr>
          <a:lstStyle/>
          <a:p>
            <a:pPr algn="ctr"/>
            <a:r>
              <a:rPr lang="en-US" sz="2200" dirty="0"/>
              <a:t>in forward, state goes </a:t>
            </a:r>
            <a:r>
              <a:rPr lang="en-US" sz="2200" b="1" dirty="0"/>
              <a:t>before</a:t>
            </a:r>
            <a:r>
              <a:rPr lang="en-US" sz="2200" dirty="0"/>
              <a:t> → </a:t>
            </a:r>
            <a:r>
              <a:rPr lang="en-US" sz="2200" b="1" dirty="0"/>
              <a:t>after</a:t>
            </a:r>
            <a:r>
              <a:rPr lang="en-US" sz="2200" dirty="0"/>
              <a:t>; </a:t>
            </a:r>
          </a:p>
          <a:p>
            <a:pPr algn="ctr"/>
            <a:r>
              <a:rPr lang="en-US" sz="2200" dirty="0"/>
              <a:t>in backward, state goes </a:t>
            </a:r>
            <a:r>
              <a:rPr lang="en-US" sz="2200" b="1" dirty="0"/>
              <a:t>after</a:t>
            </a:r>
            <a:r>
              <a:rPr lang="en-US" sz="2200" dirty="0"/>
              <a:t> → </a:t>
            </a:r>
            <a:r>
              <a:rPr lang="en-US" sz="2200" b="1" dirty="0"/>
              <a:t>before</a:t>
            </a:r>
            <a:r>
              <a:rPr lang="en-US" sz="2200" dirty="0"/>
              <a:t>.</a:t>
            </a:r>
            <a:endParaRPr lang="en-US" sz="2200" b="1" dirty="0"/>
          </a:p>
        </p:txBody>
      </p:sp>
    </p:spTree>
    <p:extLst>
      <p:ext uri="{BB962C8B-B14F-4D97-AF65-F5344CB8AC3E}">
        <p14:creationId xmlns:p14="http://schemas.microsoft.com/office/powerpoint/2010/main" val="31278744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F8B32-B07A-6C49-99C6-3CE89B86C23C}"/>
              </a:ext>
            </a:extLst>
          </p:cNvPr>
          <p:cNvSpPr>
            <a:spLocks noGrp="1"/>
          </p:cNvSpPr>
          <p:nvPr>
            <p:ph type="title"/>
          </p:nvPr>
        </p:nvSpPr>
        <p:spPr/>
        <p:txBody>
          <a:bodyPr/>
          <a:lstStyle/>
          <a:p>
            <a:r>
              <a:rPr lang="en-US" dirty="0"/>
              <a:t>States and transfer function</a:t>
            </a:r>
          </a:p>
        </p:txBody>
      </p:sp>
      <p:sp>
        <p:nvSpPr>
          <p:cNvPr id="3" name="Content Placeholder 2">
            <a:extLst>
              <a:ext uri="{FF2B5EF4-FFF2-40B4-BE49-F238E27FC236}">
                <a16:creationId xmlns:a16="http://schemas.microsoft.com/office/drawing/2014/main" id="{C3E022E0-2C07-FA42-AE64-8A192F6F6546}"/>
              </a:ext>
            </a:extLst>
          </p:cNvPr>
          <p:cNvSpPr>
            <a:spLocks noGrp="1"/>
          </p:cNvSpPr>
          <p:nvPr>
            <p:ph idx="1"/>
          </p:nvPr>
        </p:nvSpPr>
        <p:spPr>
          <a:xfrm>
            <a:off x="152400" y="495301"/>
            <a:ext cx="8991600" cy="1904999"/>
          </a:xfrm>
        </p:spPr>
        <p:txBody>
          <a:bodyPr/>
          <a:lstStyle/>
          <a:p>
            <a:r>
              <a:rPr lang="en-US" dirty="0"/>
              <a:t>let's just focus on one variable </a:t>
            </a:r>
            <a:r>
              <a:rPr lang="en-US" b="1" dirty="0">
                <a:latin typeface="Consolas" panose="020B0609020204030204" pitchFamily="49" charset="0"/>
                <a:cs typeface="Consolas" panose="020B0609020204030204" pitchFamily="49" charset="0"/>
              </a:rPr>
              <a:t>x</a:t>
            </a:r>
            <a:r>
              <a:rPr lang="en-US" b="1" dirty="0"/>
              <a:t> </a:t>
            </a:r>
            <a:r>
              <a:rPr lang="en-US" dirty="0"/>
              <a:t>for now.</a:t>
            </a:r>
          </a:p>
          <a:p>
            <a:r>
              <a:rPr lang="en-US" b="1" dirty="0">
                <a:latin typeface="Consolas" panose="020B0609020204030204" pitchFamily="49" charset="0"/>
                <a:cs typeface="Consolas" panose="020B0609020204030204" pitchFamily="49" charset="0"/>
              </a:rPr>
              <a:t>x</a:t>
            </a:r>
            <a:r>
              <a:rPr lang="en-US" dirty="0"/>
              <a:t> can be in one of two states: </a:t>
            </a:r>
            <a:r>
              <a:rPr lang="en-US" b="1" dirty="0">
                <a:latin typeface="Consolas" panose="020B0609020204030204" pitchFamily="49" charset="0"/>
                <a:cs typeface="Consolas" panose="020B0609020204030204" pitchFamily="49" charset="0"/>
              </a:rPr>
              <a:t>DEAD</a:t>
            </a:r>
            <a:r>
              <a:rPr lang="en-US" dirty="0"/>
              <a:t> or </a:t>
            </a:r>
            <a:r>
              <a:rPr lang="en-US" b="1" dirty="0">
                <a:latin typeface="Consolas" panose="020B0609020204030204" pitchFamily="49" charset="0"/>
                <a:cs typeface="Consolas" panose="020B0609020204030204" pitchFamily="49" charset="0"/>
              </a:rPr>
              <a:t>LIVE</a:t>
            </a:r>
            <a:r>
              <a:rPr lang="en-US" dirty="0"/>
              <a:t>.</a:t>
            </a:r>
          </a:p>
          <a:p>
            <a:pPr lvl="1"/>
            <a:r>
              <a:rPr lang="en-US" b="1" dirty="0">
                <a:latin typeface="Consolas" panose="020B0609020204030204" pitchFamily="49" charset="0"/>
                <a:cs typeface="Consolas" panose="020B0609020204030204" pitchFamily="49" charset="0"/>
              </a:rPr>
              <a:t>DEAD</a:t>
            </a:r>
            <a:r>
              <a:rPr lang="en-US" dirty="0"/>
              <a:t> is also the initial value, so the whole CFG is filled with it.</a:t>
            </a:r>
          </a:p>
          <a:p>
            <a:pPr lvl="1"/>
            <a:r>
              <a:rPr lang="en-US" b="1" dirty="0">
                <a:latin typeface="Consolas" panose="020B0609020204030204" pitchFamily="49" charset="0"/>
                <a:cs typeface="Consolas" panose="020B0609020204030204" pitchFamily="49" charset="0"/>
              </a:rPr>
              <a:t>DEAD</a:t>
            </a:r>
            <a:r>
              <a:rPr lang="en-US" dirty="0"/>
              <a:t> is </a:t>
            </a:r>
            <a:r>
              <a:rPr lang="en-US" i="1" dirty="0"/>
              <a:t>also</a:t>
            </a:r>
            <a:r>
              <a:rPr lang="en-US" dirty="0"/>
              <a:t> pulling triple duty as the "unvisited/unknown" value.</a:t>
            </a:r>
          </a:p>
          <a:p>
            <a:r>
              <a:rPr lang="en-US" dirty="0"/>
              <a:t>the transfer function works like this:</a:t>
            </a:r>
          </a:p>
        </p:txBody>
      </p:sp>
      <p:sp>
        <p:nvSpPr>
          <p:cNvPr id="4" name="Slide Number Placeholder 3">
            <a:extLst>
              <a:ext uri="{FF2B5EF4-FFF2-40B4-BE49-F238E27FC236}">
                <a16:creationId xmlns:a16="http://schemas.microsoft.com/office/drawing/2014/main" id="{F4A9858F-718B-8843-AA4A-03A87BA90CCC}"/>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6" name="Rectangle 5">
            <a:extLst>
              <a:ext uri="{FF2B5EF4-FFF2-40B4-BE49-F238E27FC236}">
                <a16:creationId xmlns:a16="http://schemas.microsoft.com/office/drawing/2014/main" id="{D1DBBC90-D861-404E-B447-3C9559F3C5E7}"/>
              </a:ext>
            </a:extLst>
          </p:cNvPr>
          <p:cNvSpPr/>
          <p:nvPr/>
        </p:nvSpPr>
        <p:spPr>
          <a:xfrm>
            <a:off x="609601" y="2712595"/>
            <a:ext cx="2057400" cy="400110"/>
          </a:xfrm>
          <a:prstGeom prst="rect">
            <a:avLst/>
          </a:prstGeom>
        </p:spPr>
        <p:txBody>
          <a:bodyPr wrap="square">
            <a:spAutoFit/>
          </a:bodyPr>
          <a:lstStyle/>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a:t>
            </a:r>
            <a:r>
              <a:rPr lang="en-US" sz="2000" b="1" dirty="0">
                <a:highlight>
                  <a:srgbClr val="FFFF00"/>
                </a:highlight>
                <a:latin typeface="Consolas" panose="020B0609020204030204" pitchFamily="49" charset="0"/>
                <a:cs typeface="Consolas" panose="020B0609020204030204" pitchFamily="49" charset="0"/>
              </a:rPr>
              <a:t>x</a:t>
            </a:r>
            <a:r>
              <a:rPr lang="en-US" sz="2000" b="1" dirty="0">
                <a:latin typeface="Consolas" panose="020B0609020204030204" pitchFamily="49" charset="0"/>
                <a:cs typeface="Consolas" panose="020B0609020204030204" pitchFamily="49" charset="0"/>
              </a:rPr>
              <a:t>)</a:t>
            </a:r>
          </a:p>
        </p:txBody>
      </p:sp>
      <p:sp>
        <p:nvSpPr>
          <p:cNvPr id="7" name="Arc 6">
            <a:extLst>
              <a:ext uri="{FF2B5EF4-FFF2-40B4-BE49-F238E27FC236}">
                <a16:creationId xmlns:a16="http://schemas.microsoft.com/office/drawing/2014/main" id="{B70ABEA6-1CD4-7D4C-8522-DF782C461964}"/>
              </a:ext>
            </a:extLst>
          </p:cNvPr>
          <p:cNvSpPr/>
          <p:nvPr/>
        </p:nvSpPr>
        <p:spPr>
          <a:xfrm flipH="1">
            <a:off x="457199" y="2712596"/>
            <a:ext cx="381001" cy="400110"/>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952D0C05-AED8-9F46-87CE-F7CB0AE4782F}"/>
              </a:ext>
            </a:extLst>
          </p:cNvPr>
          <p:cNvSpPr txBox="1"/>
          <p:nvPr/>
        </p:nvSpPr>
        <p:spPr>
          <a:xfrm>
            <a:off x="647699" y="2400300"/>
            <a:ext cx="1313180" cy="400110"/>
          </a:xfrm>
          <a:prstGeom prst="rect">
            <a:avLst/>
          </a:prstGeom>
          <a:noFill/>
        </p:spPr>
        <p:txBody>
          <a:bodyPr wrap="none" rtlCol="0">
            <a:spAutoFit/>
          </a:bodyPr>
          <a:lstStyle/>
          <a:p>
            <a:r>
              <a:rPr lang="en-US" sz="2000" i="1" dirty="0">
                <a:solidFill>
                  <a:schemeClr val="tx1">
                    <a:lumMod val="75000"/>
                    <a:lumOff val="25000"/>
                  </a:schemeClr>
                </a:solidFill>
                <a:latin typeface="Consolas" panose="020B0609020204030204" pitchFamily="49" charset="0"/>
                <a:cs typeface="Consolas" panose="020B0609020204030204" pitchFamily="49" charset="0"/>
              </a:rPr>
              <a:t>x = LIVE</a:t>
            </a:r>
          </a:p>
        </p:txBody>
      </p:sp>
      <p:sp>
        <p:nvSpPr>
          <p:cNvPr id="9" name="TextBox 8">
            <a:extLst>
              <a:ext uri="{FF2B5EF4-FFF2-40B4-BE49-F238E27FC236}">
                <a16:creationId xmlns:a16="http://schemas.microsoft.com/office/drawing/2014/main" id="{F85761B3-2666-8543-979B-AEF7E8450E51}"/>
              </a:ext>
            </a:extLst>
          </p:cNvPr>
          <p:cNvSpPr txBox="1"/>
          <p:nvPr/>
        </p:nvSpPr>
        <p:spPr>
          <a:xfrm>
            <a:off x="152401" y="3314700"/>
            <a:ext cx="2590799" cy="1107996"/>
          </a:xfrm>
          <a:prstGeom prst="rect">
            <a:avLst/>
          </a:prstGeom>
          <a:noFill/>
        </p:spPr>
        <p:txBody>
          <a:bodyPr wrap="square" rtlCol="0">
            <a:spAutoFit/>
          </a:bodyPr>
          <a:lstStyle/>
          <a:p>
            <a:pPr algn="ctr"/>
            <a:r>
              <a:rPr lang="en-US" sz="2200" dirty="0"/>
              <a:t>if an instruction </a:t>
            </a:r>
            <a:r>
              <a:rPr lang="en-US" sz="2200" b="1" dirty="0"/>
              <a:t>uses </a:t>
            </a:r>
            <a:r>
              <a:rPr lang="en-US" sz="2200" b="1" dirty="0">
                <a:latin typeface="Consolas" panose="020B0609020204030204" pitchFamily="49" charset="0"/>
                <a:cs typeface="Consolas" panose="020B0609020204030204" pitchFamily="49" charset="0"/>
              </a:rPr>
              <a:t>x</a:t>
            </a:r>
            <a:r>
              <a:rPr lang="en-US" sz="2200" b="1" dirty="0"/>
              <a:t>, </a:t>
            </a:r>
            <a:r>
              <a:rPr lang="en-US" sz="2200" dirty="0"/>
              <a:t>then </a:t>
            </a:r>
            <a:r>
              <a:rPr lang="en-US" sz="2200" b="1" dirty="0">
                <a:latin typeface="Consolas" panose="020B0609020204030204" pitchFamily="49" charset="0"/>
                <a:cs typeface="Consolas" panose="020B0609020204030204" pitchFamily="49" charset="0"/>
              </a:rPr>
              <a:t>x</a:t>
            </a:r>
            <a:r>
              <a:rPr lang="en-US" sz="2200" dirty="0"/>
              <a:t> is </a:t>
            </a:r>
            <a:r>
              <a:rPr lang="en-US" sz="2200" b="1" dirty="0">
                <a:latin typeface="Consolas" panose="020B0609020204030204" pitchFamily="49" charset="0"/>
                <a:cs typeface="Consolas" panose="020B0609020204030204" pitchFamily="49" charset="0"/>
              </a:rPr>
              <a:t>LIVE</a:t>
            </a:r>
            <a:r>
              <a:rPr lang="en-US" sz="2200" dirty="0"/>
              <a:t> </a:t>
            </a:r>
            <a:r>
              <a:rPr lang="en-US" sz="2200" b="1" dirty="0"/>
              <a:t>before</a:t>
            </a:r>
            <a:r>
              <a:rPr lang="en-US" sz="2200" dirty="0"/>
              <a:t> it.</a:t>
            </a:r>
            <a:endParaRPr lang="en-US" sz="2200" b="1" dirty="0"/>
          </a:p>
        </p:txBody>
      </p:sp>
      <p:sp>
        <p:nvSpPr>
          <p:cNvPr id="10" name="Rectangle 9">
            <a:extLst>
              <a:ext uri="{FF2B5EF4-FFF2-40B4-BE49-F238E27FC236}">
                <a16:creationId xmlns:a16="http://schemas.microsoft.com/office/drawing/2014/main" id="{77871781-30C7-E844-9D3E-89EFEAF52CE9}"/>
              </a:ext>
            </a:extLst>
          </p:cNvPr>
          <p:cNvSpPr/>
          <p:nvPr/>
        </p:nvSpPr>
        <p:spPr>
          <a:xfrm>
            <a:off x="3505200" y="2712595"/>
            <a:ext cx="1313180" cy="400110"/>
          </a:xfrm>
          <a:prstGeom prst="rect">
            <a:avLst/>
          </a:prstGeom>
        </p:spPr>
        <p:txBody>
          <a:bodyPr wrap="square">
            <a:spAutoFit/>
          </a:bodyPr>
          <a:lstStyle/>
          <a:p>
            <a:r>
              <a:rPr lang="en-US" sz="2000" b="1" dirty="0">
                <a:highlight>
                  <a:srgbClr val="FFFF00"/>
                </a:highlight>
                <a:latin typeface="Consolas" panose="020B0609020204030204" pitchFamily="49" charset="0"/>
                <a:cs typeface="Consolas" panose="020B0609020204030204" pitchFamily="49" charset="0"/>
              </a:rPr>
              <a:t>x</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11" name="Arc 10">
            <a:extLst>
              <a:ext uri="{FF2B5EF4-FFF2-40B4-BE49-F238E27FC236}">
                <a16:creationId xmlns:a16="http://schemas.microsoft.com/office/drawing/2014/main" id="{E59B341A-8BC8-AA4E-BF89-09DDFAE8A2F9}"/>
              </a:ext>
            </a:extLst>
          </p:cNvPr>
          <p:cNvSpPr/>
          <p:nvPr/>
        </p:nvSpPr>
        <p:spPr>
          <a:xfrm flipH="1">
            <a:off x="3352798" y="2712596"/>
            <a:ext cx="381001" cy="400110"/>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58549895-B6F2-CB41-AD31-D0DEA1600625}"/>
              </a:ext>
            </a:extLst>
          </p:cNvPr>
          <p:cNvSpPr txBox="1"/>
          <p:nvPr/>
        </p:nvSpPr>
        <p:spPr>
          <a:xfrm>
            <a:off x="3543298" y="2400300"/>
            <a:ext cx="1313180" cy="400110"/>
          </a:xfrm>
          <a:prstGeom prst="rect">
            <a:avLst/>
          </a:prstGeom>
          <a:noFill/>
        </p:spPr>
        <p:txBody>
          <a:bodyPr wrap="none" rtlCol="0">
            <a:spAutoFit/>
          </a:bodyPr>
          <a:lstStyle/>
          <a:p>
            <a:r>
              <a:rPr lang="en-US" sz="2000" i="1" dirty="0">
                <a:solidFill>
                  <a:schemeClr val="tx1">
                    <a:lumMod val="75000"/>
                    <a:lumOff val="25000"/>
                  </a:schemeClr>
                </a:solidFill>
                <a:latin typeface="Consolas" panose="020B0609020204030204" pitchFamily="49" charset="0"/>
                <a:cs typeface="Consolas" panose="020B0609020204030204" pitchFamily="49" charset="0"/>
              </a:rPr>
              <a:t>x = DEAD</a:t>
            </a:r>
          </a:p>
        </p:txBody>
      </p:sp>
      <p:sp>
        <p:nvSpPr>
          <p:cNvPr id="13" name="TextBox 12">
            <a:extLst>
              <a:ext uri="{FF2B5EF4-FFF2-40B4-BE49-F238E27FC236}">
                <a16:creationId xmlns:a16="http://schemas.microsoft.com/office/drawing/2014/main" id="{CE2A796A-4B7D-9446-9940-3C185FF6E506}"/>
              </a:ext>
            </a:extLst>
          </p:cNvPr>
          <p:cNvSpPr txBox="1"/>
          <p:nvPr/>
        </p:nvSpPr>
        <p:spPr>
          <a:xfrm>
            <a:off x="2743200" y="3314700"/>
            <a:ext cx="2819400" cy="1107996"/>
          </a:xfrm>
          <a:prstGeom prst="rect">
            <a:avLst/>
          </a:prstGeom>
          <a:noFill/>
        </p:spPr>
        <p:txBody>
          <a:bodyPr wrap="square" rtlCol="0">
            <a:spAutoFit/>
          </a:bodyPr>
          <a:lstStyle/>
          <a:p>
            <a:pPr algn="ctr"/>
            <a:r>
              <a:rPr lang="en-US" sz="2200" b="1" dirty="0">
                <a:solidFill>
                  <a:srgbClr val="FF0000"/>
                </a:solidFill>
              </a:rPr>
              <a:t>else,</a:t>
            </a:r>
            <a:r>
              <a:rPr lang="en-US" sz="2200" dirty="0"/>
              <a:t> if an instruction </a:t>
            </a:r>
            <a:r>
              <a:rPr lang="en-US" sz="2200" b="1" dirty="0" err="1"/>
              <a:t>defs</a:t>
            </a:r>
            <a:r>
              <a:rPr lang="en-US" sz="2200" b="1" dirty="0"/>
              <a:t> </a:t>
            </a:r>
            <a:r>
              <a:rPr lang="en-US" sz="2200" b="1" dirty="0">
                <a:latin typeface="Consolas" panose="020B0609020204030204" pitchFamily="49" charset="0"/>
                <a:cs typeface="Consolas" panose="020B0609020204030204" pitchFamily="49" charset="0"/>
              </a:rPr>
              <a:t>x</a:t>
            </a:r>
            <a:r>
              <a:rPr lang="en-US" sz="2200" b="1" dirty="0"/>
              <a:t>, </a:t>
            </a:r>
            <a:r>
              <a:rPr lang="en-US" sz="2200" dirty="0"/>
              <a:t>then </a:t>
            </a:r>
            <a:r>
              <a:rPr lang="en-US" sz="2200" b="1" dirty="0">
                <a:latin typeface="Consolas" panose="020B0609020204030204" pitchFamily="49" charset="0"/>
                <a:cs typeface="Consolas" panose="020B0609020204030204" pitchFamily="49" charset="0"/>
              </a:rPr>
              <a:t>x</a:t>
            </a:r>
            <a:r>
              <a:rPr lang="en-US" sz="2200" dirty="0"/>
              <a:t> is </a:t>
            </a:r>
            <a:r>
              <a:rPr lang="en-US" sz="2200" b="1" dirty="0">
                <a:latin typeface="Consolas" panose="020B0609020204030204" pitchFamily="49" charset="0"/>
                <a:cs typeface="Consolas" panose="020B0609020204030204" pitchFamily="49" charset="0"/>
              </a:rPr>
              <a:t>DEAD</a:t>
            </a:r>
            <a:r>
              <a:rPr lang="en-US" sz="2200" dirty="0"/>
              <a:t> </a:t>
            </a:r>
            <a:r>
              <a:rPr lang="en-US" sz="2200" b="1" dirty="0"/>
              <a:t>before</a:t>
            </a:r>
            <a:r>
              <a:rPr lang="en-US" sz="2200" dirty="0"/>
              <a:t> it.</a:t>
            </a:r>
            <a:endParaRPr lang="en-US" sz="2200" b="1" dirty="0"/>
          </a:p>
        </p:txBody>
      </p:sp>
      <p:sp>
        <p:nvSpPr>
          <p:cNvPr id="14" name="TextBox 13">
            <a:extLst>
              <a:ext uri="{FF2B5EF4-FFF2-40B4-BE49-F238E27FC236}">
                <a16:creationId xmlns:a16="http://schemas.microsoft.com/office/drawing/2014/main" id="{6659CDF5-FCB1-F042-ADF7-901799C6A65B}"/>
              </a:ext>
            </a:extLst>
          </p:cNvPr>
          <p:cNvSpPr txBox="1"/>
          <p:nvPr/>
        </p:nvSpPr>
        <p:spPr>
          <a:xfrm>
            <a:off x="428934" y="4527519"/>
            <a:ext cx="4800600" cy="769441"/>
          </a:xfrm>
          <a:prstGeom prst="rect">
            <a:avLst/>
          </a:prstGeom>
          <a:noFill/>
        </p:spPr>
        <p:txBody>
          <a:bodyPr wrap="square" rtlCol="0">
            <a:spAutoFit/>
          </a:bodyPr>
          <a:lstStyle/>
          <a:p>
            <a:pPr algn="ctr"/>
            <a:r>
              <a:rPr lang="en-US" sz="2200" dirty="0"/>
              <a:t>(in </a:t>
            </a:r>
            <a:r>
              <a:rPr lang="en-US" sz="2200" b="1" dirty="0">
                <a:latin typeface="Consolas" panose="020B0609020204030204" pitchFamily="49" charset="0"/>
                <a:cs typeface="Consolas" panose="020B0609020204030204" pitchFamily="49" charset="0"/>
              </a:rPr>
              <a:t>x = x + </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dirty="0"/>
              <a:t>, the first rule takes precedence, so </a:t>
            </a:r>
            <a:r>
              <a:rPr lang="en-US" sz="2200" b="1" dirty="0">
                <a:latin typeface="Consolas" panose="020B0609020204030204" pitchFamily="49" charset="0"/>
                <a:cs typeface="Consolas" panose="020B0609020204030204" pitchFamily="49" charset="0"/>
              </a:rPr>
              <a:t>x</a:t>
            </a:r>
            <a:r>
              <a:rPr lang="en-US" sz="2200" dirty="0"/>
              <a:t> is </a:t>
            </a:r>
            <a:r>
              <a:rPr lang="en-US" sz="2200" b="1" dirty="0">
                <a:latin typeface="Consolas" panose="020B0609020204030204" pitchFamily="49" charset="0"/>
                <a:cs typeface="Consolas" panose="020B0609020204030204" pitchFamily="49" charset="0"/>
              </a:rPr>
              <a:t>LIVE</a:t>
            </a:r>
            <a:r>
              <a:rPr lang="en-US" sz="2200" dirty="0"/>
              <a:t> before it.)</a:t>
            </a:r>
            <a:endParaRPr lang="en-US" sz="2200" b="1" dirty="0"/>
          </a:p>
        </p:txBody>
      </p:sp>
      <p:sp>
        <p:nvSpPr>
          <p:cNvPr id="15" name="Rectangle 14">
            <a:extLst>
              <a:ext uri="{FF2B5EF4-FFF2-40B4-BE49-F238E27FC236}">
                <a16:creationId xmlns:a16="http://schemas.microsoft.com/office/drawing/2014/main" id="{16AECF91-A949-2E42-8728-F084121C1234}"/>
              </a:ext>
            </a:extLst>
          </p:cNvPr>
          <p:cNvSpPr/>
          <p:nvPr/>
        </p:nvSpPr>
        <p:spPr>
          <a:xfrm>
            <a:off x="5867402" y="2624792"/>
            <a:ext cx="1313180" cy="400110"/>
          </a:xfrm>
          <a:prstGeom prst="rect">
            <a:avLst/>
          </a:prstGeom>
        </p:spPr>
        <p:txBody>
          <a:bodyPr wrap="square">
            <a:spAutoFit/>
          </a:bodyPr>
          <a:lstStyle/>
          <a:p>
            <a:r>
              <a:rPr lang="en-US" sz="2000" b="1" dirty="0">
                <a:latin typeface="Consolas" panose="020B0609020204030204" pitchFamily="49" charset="0"/>
                <a:cs typeface="Consolas" panose="020B0609020204030204" pitchFamily="49" charset="0"/>
              </a:rPr>
              <a:t>y = </a:t>
            </a:r>
            <a:r>
              <a:rPr lang="en-US" sz="20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16" name="Arc 15">
            <a:extLst>
              <a:ext uri="{FF2B5EF4-FFF2-40B4-BE49-F238E27FC236}">
                <a16:creationId xmlns:a16="http://schemas.microsoft.com/office/drawing/2014/main" id="{8EFBC064-7099-C848-B032-34B36AA84914}"/>
              </a:ext>
            </a:extLst>
          </p:cNvPr>
          <p:cNvSpPr/>
          <p:nvPr/>
        </p:nvSpPr>
        <p:spPr>
          <a:xfrm flipH="1">
            <a:off x="5715000" y="2624793"/>
            <a:ext cx="381001" cy="400110"/>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20B929F8-185C-8743-8548-D0A88602BC35}"/>
              </a:ext>
            </a:extLst>
          </p:cNvPr>
          <p:cNvSpPr txBox="1"/>
          <p:nvPr/>
        </p:nvSpPr>
        <p:spPr>
          <a:xfrm>
            <a:off x="5905500" y="2304990"/>
            <a:ext cx="1313180" cy="400110"/>
          </a:xfrm>
          <a:prstGeom prst="rect">
            <a:avLst/>
          </a:prstGeom>
          <a:noFill/>
        </p:spPr>
        <p:txBody>
          <a:bodyPr wrap="none" rtlCol="0">
            <a:spAutoFit/>
          </a:bodyPr>
          <a:lstStyle/>
          <a:p>
            <a:r>
              <a:rPr lang="en-US" sz="2000" i="1" dirty="0">
                <a:solidFill>
                  <a:schemeClr val="tx1">
                    <a:lumMod val="75000"/>
                    <a:lumOff val="25000"/>
                  </a:schemeClr>
                </a:solidFill>
                <a:latin typeface="Consolas" panose="020B0609020204030204" pitchFamily="49" charset="0"/>
                <a:cs typeface="Consolas" panose="020B0609020204030204" pitchFamily="49" charset="0"/>
              </a:rPr>
              <a:t>x = DEAD</a:t>
            </a:r>
          </a:p>
        </p:txBody>
      </p:sp>
      <p:sp>
        <p:nvSpPr>
          <p:cNvPr id="18" name="TextBox 17">
            <a:extLst>
              <a:ext uri="{FF2B5EF4-FFF2-40B4-BE49-F238E27FC236}">
                <a16:creationId xmlns:a16="http://schemas.microsoft.com/office/drawing/2014/main" id="{4A2B29B5-3284-1F41-AA78-9C7C4C80D77A}"/>
              </a:ext>
            </a:extLst>
          </p:cNvPr>
          <p:cNvSpPr txBox="1"/>
          <p:nvPr/>
        </p:nvSpPr>
        <p:spPr>
          <a:xfrm>
            <a:off x="6006281" y="3314700"/>
            <a:ext cx="2819400" cy="769441"/>
          </a:xfrm>
          <a:prstGeom prst="rect">
            <a:avLst/>
          </a:prstGeom>
          <a:noFill/>
        </p:spPr>
        <p:txBody>
          <a:bodyPr wrap="square" rtlCol="0">
            <a:spAutoFit/>
          </a:bodyPr>
          <a:lstStyle/>
          <a:p>
            <a:pPr algn="ctr"/>
            <a:r>
              <a:rPr lang="en-US" sz="2200" b="1" dirty="0">
                <a:solidFill>
                  <a:srgbClr val="FF0000"/>
                </a:solidFill>
              </a:rPr>
              <a:t>else,</a:t>
            </a:r>
            <a:r>
              <a:rPr lang="en-US" sz="2200" dirty="0"/>
              <a:t> </a:t>
            </a:r>
            <a:r>
              <a:rPr lang="en-US" sz="2200" b="1" dirty="0"/>
              <a:t>before</a:t>
            </a:r>
            <a:r>
              <a:rPr lang="en-US" sz="2200" dirty="0"/>
              <a:t> = </a:t>
            </a:r>
            <a:r>
              <a:rPr lang="en-US" sz="2200" b="1" dirty="0"/>
              <a:t>after</a:t>
            </a:r>
            <a:r>
              <a:rPr lang="en-US" sz="2200" dirty="0"/>
              <a:t> (just copy the state).</a:t>
            </a:r>
            <a:endParaRPr lang="en-US" sz="2200" b="1" dirty="0"/>
          </a:p>
        </p:txBody>
      </p:sp>
      <p:sp>
        <p:nvSpPr>
          <p:cNvPr id="19" name="TextBox 18">
            <a:extLst>
              <a:ext uri="{FF2B5EF4-FFF2-40B4-BE49-F238E27FC236}">
                <a16:creationId xmlns:a16="http://schemas.microsoft.com/office/drawing/2014/main" id="{3029161D-F5AD-C441-9B1A-EA795812DAF3}"/>
              </a:ext>
            </a:extLst>
          </p:cNvPr>
          <p:cNvSpPr txBox="1"/>
          <p:nvPr/>
        </p:nvSpPr>
        <p:spPr>
          <a:xfrm>
            <a:off x="5905500" y="2941207"/>
            <a:ext cx="1313180" cy="400110"/>
          </a:xfrm>
          <a:prstGeom prst="rect">
            <a:avLst/>
          </a:prstGeom>
          <a:noFill/>
        </p:spPr>
        <p:txBody>
          <a:bodyPr wrap="none" rtlCol="0">
            <a:spAutoFit/>
          </a:bodyPr>
          <a:lstStyle/>
          <a:p>
            <a:r>
              <a:rPr lang="en-US" sz="2000" i="1" dirty="0">
                <a:solidFill>
                  <a:schemeClr val="tx1">
                    <a:lumMod val="75000"/>
                    <a:lumOff val="25000"/>
                  </a:schemeClr>
                </a:solidFill>
                <a:latin typeface="Consolas" panose="020B0609020204030204" pitchFamily="49" charset="0"/>
                <a:cs typeface="Consolas" panose="020B0609020204030204" pitchFamily="49" charset="0"/>
              </a:rPr>
              <a:t>x = DEAD</a:t>
            </a:r>
          </a:p>
        </p:txBody>
      </p:sp>
      <p:sp>
        <p:nvSpPr>
          <p:cNvPr id="24" name="Rectangle 23">
            <a:extLst>
              <a:ext uri="{FF2B5EF4-FFF2-40B4-BE49-F238E27FC236}">
                <a16:creationId xmlns:a16="http://schemas.microsoft.com/office/drawing/2014/main" id="{E82578E3-0F94-2E4E-B7AB-769BD33270EC}"/>
              </a:ext>
            </a:extLst>
          </p:cNvPr>
          <p:cNvSpPr/>
          <p:nvPr/>
        </p:nvSpPr>
        <p:spPr>
          <a:xfrm>
            <a:off x="7624547" y="2624792"/>
            <a:ext cx="1313180" cy="400110"/>
          </a:xfrm>
          <a:prstGeom prst="rect">
            <a:avLst/>
          </a:prstGeom>
        </p:spPr>
        <p:txBody>
          <a:bodyPr wrap="square">
            <a:spAutoFit/>
          </a:bodyPr>
          <a:lstStyle/>
          <a:p>
            <a:r>
              <a:rPr lang="en-US" sz="2000" b="1" dirty="0">
                <a:latin typeface="Consolas" panose="020B0609020204030204" pitchFamily="49" charset="0"/>
                <a:cs typeface="Consolas" panose="020B0609020204030204" pitchFamily="49" charset="0"/>
              </a:rPr>
              <a:t>y = </a:t>
            </a:r>
            <a:r>
              <a:rPr lang="en-US" sz="20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25" name="Arc 24">
            <a:extLst>
              <a:ext uri="{FF2B5EF4-FFF2-40B4-BE49-F238E27FC236}">
                <a16:creationId xmlns:a16="http://schemas.microsoft.com/office/drawing/2014/main" id="{2D956BF8-BC28-7E46-BF29-C1CC37FFB535}"/>
              </a:ext>
            </a:extLst>
          </p:cNvPr>
          <p:cNvSpPr/>
          <p:nvPr/>
        </p:nvSpPr>
        <p:spPr>
          <a:xfrm flipH="1">
            <a:off x="7472145" y="2624793"/>
            <a:ext cx="381001" cy="400110"/>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AD78F913-F019-D442-B839-2C14528E83CB}"/>
              </a:ext>
            </a:extLst>
          </p:cNvPr>
          <p:cNvSpPr txBox="1"/>
          <p:nvPr/>
        </p:nvSpPr>
        <p:spPr>
          <a:xfrm>
            <a:off x="7662645" y="2304990"/>
            <a:ext cx="1313180" cy="400110"/>
          </a:xfrm>
          <a:prstGeom prst="rect">
            <a:avLst/>
          </a:prstGeom>
          <a:noFill/>
        </p:spPr>
        <p:txBody>
          <a:bodyPr wrap="none" rtlCol="0">
            <a:spAutoFit/>
          </a:bodyPr>
          <a:lstStyle/>
          <a:p>
            <a:r>
              <a:rPr lang="en-US" sz="2000" i="1" dirty="0">
                <a:solidFill>
                  <a:schemeClr val="tx1">
                    <a:lumMod val="75000"/>
                    <a:lumOff val="25000"/>
                  </a:schemeClr>
                </a:solidFill>
                <a:latin typeface="Consolas" panose="020B0609020204030204" pitchFamily="49" charset="0"/>
                <a:cs typeface="Consolas" panose="020B0609020204030204" pitchFamily="49" charset="0"/>
              </a:rPr>
              <a:t>x = LIVE</a:t>
            </a:r>
          </a:p>
        </p:txBody>
      </p:sp>
      <p:sp>
        <p:nvSpPr>
          <p:cNvPr id="27" name="TextBox 26">
            <a:extLst>
              <a:ext uri="{FF2B5EF4-FFF2-40B4-BE49-F238E27FC236}">
                <a16:creationId xmlns:a16="http://schemas.microsoft.com/office/drawing/2014/main" id="{0DDE0673-B607-0C4F-A4DB-2F9F9C223D33}"/>
              </a:ext>
            </a:extLst>
          </p:cNvPr>
          <p:cNvSpPr txBox="1"/>
          <p:nvPr/>
        </p:nvSpPr>
        <p:spPr>
          <a:xfrm>
            <a:off x="7662645" y="2941207"/>
            <a:ext cx="1313180" cy="400110"/>
          </a:xfrm>
          <a:prstGeom prst="rect">
            <a:avLst/>
          </a:prstGeom>
          <a:noFill/>
        </p:spPr>
        <p:txBody>
          <a:bodyPr wrap="none" rtlCol="0">
            <a:spAutoFit/>
          </a:bodyPr>
          <a:lstStyle/>
          <a:p>
            <a:r>
              <a:rPr lang="en-US" sz="2000" i="1" dirty="0">
                <a:solidFill>
                  <a:schemeClr val="tx1">
                    <a:lumMod val="75000"/>
                    <a:lumOff val="25000"/>
                  </a:schemeClr>
                </a:solidFill>
                <a:latin typeface="Consolas" panose="020B0609020204030204" pitchFamily="49" charset="0"/>
                <a:cs typeface="Consolas" panose="020B0609020204030204" pitchFamily="49" charset="0"/>
              </a:rPr>
              <a:t>x = LIVE</a:t>
            </a:r>
          </a:p>
        </p:txBody>
      </p:sp>
    </p:spTree>
    <p:extLst>
      <p:ext uri="{BB962C8B-B14F-4D97-AF65-F5344CB8AC3E}">
        <p14:creationId xmlns:p14="http://schemas.microsoft.com/office/powerpoint/2010/main" val="37297142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p:bldP spid="10" grpId="0"/>
      <p:bldP spid="11" grpId="0" animBg="1"/>
      <p:bldP spid="12" grpId="0"/>
      <p:bldP spid="13" grpId="0"/>
      <p:bldP spid="14" grpId="0"/>
      <p:bldP spid="15" grpId="0"/>
      <p:bldP spid="16" grpId="0" animBg="1"/>
      <p:bldP spid="17" grpId="0"/>
      <p:bldP spid="18" grpId="0"/>
      <p:bldP spid="19" grpId="0"/>
      <p:bldP spid="24" grpId="0"/>
      <p:bldP spid="25" grpId="0" animBg="1"/>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0DCBA-FA14-B64C-B77F-4FDC42F065C9}"/>
              </a:ext>
            </a:extLst>
          </p:cNvPr>
          <p:cNvSpPr>
            <a:spLocks noGrp="1"/>
          </p:cNvSpPr>
          <p:nvPr>
            <p:ph type="title"/>
          </p:nvPr>
        </p:nvSpPr>
        <p:spPr/>
        <p:txBody>
          <a:bodyPr/>
          <a:lstStyle/>
          <a:p>
            <a:r>
              <a:rPr lang="en-US" dirty="0"/>
              <a:t>The join function</a:t>
            </a:r>
          </a:p>
        </p:txBody>
      </p:sp>
      <p:sp>
        <p:nvSpPr>
          <p:cNvPr id="3" name="Content Placeholder 2">
            <a:extLst>
              <a:ext uri="{FF2B5EF4-FFF2-40B4-BE49-F238E27FC236}">
                <a16:creationId xmlns:a16="http://schemas.microsoft.com/office/drawing/2014/main" id="{30659FA8-9D3F-7D49-AD99-87ECE9337727}"/>
              </a:ext>
            </a:extLst>
          </p:cNvPr>
          <p:cNvSpPr>
            <a:spLocks noGrp="1"/>
          </p:cNvSpPr>
          <p:nvPr>
            <p:ph idx="1"/>
          </p:nvPr>
        </p:nvSpPr>
        <p:spPr>
          <a:xfrm>
            <a:off x="152400" y="495301"/>
            <a:ext cx="8991600" cy="609599"/>
          </a:xfrm>
        </p:spPr>
        <p:txBody>
          <a:bodyPr/>
          <a:lstStyle/>
          <a:p>
            <a:r>
              <a:rPr lang="en-US" dirty="0"/>
              <a:t>the join function is pretty simple.</a:t>
            </a:r>
          </a:p>
        </p:txBody>
      </p:sp>
      <p:sp>
        <p:nvSpPr>
          <p:cNvPr id="4" name="Slide Number Placeholder 3">
            <a:extLst>
              <a:ext uri="{FF2B5EF4-FFF2-40B4-BE49-F238E27FC236}">
                <a16:creationId xmlns:a16="http://schemas.microsoft.com/office/drawing/2014/main" id="{6334F5D3-E286-504C-A2F1-5C49995BF514}"/>
              </a:ext>
            </a:extLst>
          </p:cNvPr>
          <p:cNvSpPr>
            <a:spLocks noGrp="1"/>
          </p:cNvSpPr>
          <p:nvPr>
            <p:ph type="sldNum" sz="quarter" idx="12"/>
          </p:nvPr>
        </p:nvSpPr>
        <p:spPr/>
        <p:txBody>
          <a:bodyPr/>
          <a:lstStyle/>
          <a:p>
            <a:fld id="{3552B95B-556F-44BD-91A5-D80C1B9E2BB3}" type="slidenum">
              <a:rPr lang="en-US" smtClean="0"/>
              <a:pPr/>
              <a:t>6</a:t>
            </a:fld>
            <a:endParaRPr lang="en-US"/>
          </a:p>
        </p:txBody>
      </p:sp>
      <p:grpSp>
        <p:nvGrpSpPr>
          <p:cNvPr id="82" name="Group 81">
            <a:extLst>
              <a:ext uri="{FF2B5EF4-FFF2-40B4-BE49-F238E27FC236}">
                <a16:creationId xmlns:a16="http://schemas.microsoft.com/office/drawing/2014/main" id="{2A55327B-2823-2249-AF29-D9CE72668198}"/>
              </a:ext>
            </a:extLst>
          </p:cNvPr>
          <p:cNvGrpSpPr/>
          <p:nvPr/>
        </p:nvGrpSpPr>
        <p:grpSpPr>
          <a:xfrm>
            <a:off x="1224779" y="2171700"/>
            <a:ext cx="2445898" cy="1900713"/>
            <a:chOff x="1224779" y="2171700"/>
            <a:chExt cx="2445898" cy="1900713"/>
          </a:xfrm>
        </p:grpSpPr>
        <p:cxnSp>
          <p:nvCxnSpPr>
            <p:cNvPr id="14" name="Curved Connector 12">
              <a:extLst>
                <a:ext uri="{FF2B5EF4-FFF2-40B4-BE49-F238E27FC236}">
                  <a16:creationId xmlns:a16="http://schemas.microsoft.com/office/drawing/2014/main" id="{890DC09E-BE51-BD48-A54E-7BBD416E791E}"/>
                </a:ext>
              </a:extLst>
            </p:cNvPr>
            <p:cNvCxnSpPr>
              <a:cxnSpLocks/>
              <a:stCxn id="22" idx="2"/>
              <a:endCxn id="23" idx="0"/>
            </p:cNvCxnSpPr>
            <p:nvPr/>
          </p:nvCxnSpPr>
          <p:spPr>
            <a:xfrm rot="5400000">
              <a:off x="1475472" y="2668482"/>
              <a:ext cx="1015365" cy="907149"/>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B0D53F98-FA5F-6443-9CFC-6302AF4EF10C}"/>
                </a:ext>
              </a:extLst>
            </p:cNvPr>
            <p:cNvSpPr/>
            <p:nvPr/>
          </p:nvSpPr>
          <p:spPr>
            <a:xfrm>
              <a:off x="2131928" y="2171700"/>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23" name="Rounded Rectangle 22">
              <a:extLst>
                <a:ext uri="{FF2B5EF4-FFF2-40B4-BE49-F238E27FC236}">
                  <a16:creationId xmlns:a16="http://schemas.microsoft.com/office/drawing/2014/main" id="{16ED9EEC-7140-2C4E-A7F7-A54A9C6E10AB}"/>
                </a:ext>
              </a:extLst>
            </p:cNvPr>
            <p:cNvSpPr/>
            <p:nvPr/>
          </p:nvSpPr>
          <p:spPr>
            <a:xfrm>
              <a:off x="1224779" y="3629739"/>
              <a:ext cx="609600" cy="442674"/>
            </a:xfrm>
            <a:prstGeom prst="roundRect">
              <a:avLst/>
            </a:prstGeom>
            <a:solidFill>
              <a:schemeClr val="accent1"/>
            </a:solidFill>
            <a:ln w="19050">
              <a:solidFill>
                <a:schemeClr val="tx1"/>
              </a:solidFill>
            </a:ln>
          </p:spPr>
          <p:txBody>
            <a:bodyPr wrap="square">
              <a:spAutoFit/>
            </a:bodyPr>
            <a:lstStyle/>
            <a:p>
              <a:pPr algn="ctr"/>
              <a:r>
                <a:rPr lang="en-US" sz="2000" i="1" dirty="0">
                  <a:solidFill>
                    <a:schemeClr val="bg1"/>
                  </a:solidFill>
                  <a:latin typeface="Consolas" panose="020B0609020204030204" pitchFamily="49" charset="0"/>
                  <a:cs typeface="Consolas" panose="020B0609020204030204" pitchFamily="49" charset="0"/>
                </a:rPr>
                <a:t>s1</a:t>
              </a:r>
            </a:p>
          </p:txBody>
        </p:sp>
        <p:sp>
          <p:nvSpPr>
            <p:cNvPr id="26" name="Rounded Rectangle 25">
              <a:extLst>
                <a:ext uri="{FF2B5EF4-FFF2-40B4-BE49-F238E27FC236}">
                  <a16:creationId xmlns:a16="http://schemas.microsoft.com/office/drawing/2014/main" id="{EC392418-7F52-A341-9386-C29F7C93627C}"/>
                </a:ext>
              </a:extLst>
            </p:cNvPr>
            <p:cNvSpPr/>
            <p:nvPr/>
          </p:nvSpPr>
          <p:spPr>
            <a:xfrm>
              <a:off x="2131928" y="3629739"/>
              <a:ext cx="609600" cy="442674"/>
            </a:xfrm>
            <a:prstGeom prst="roundRect">
              <a:avLst/>
            </a:prstGeom>
            <a:solidFill>
              <a:schemeClr val="accent1"/>
            </a:solidFill>
            <a:ln w="19050">
              <a:solidFill>
                <a:schemeClr val="tx1"/>
              </a:solidFill>
            </a:ln>
          </p:spPr>
          <p:txBody>
            <a:bodyPr wrap="square">
              <a:spAutoFit/>
            </a:bodyPr>
            <a:lstStyle/>
            <a:p>
              <a:pPr algn="ctr"/>
              <a:r>
                <a:rPr lang="en-US" sz="2000" i="1" dirty="0">
                  <a:solidFill>
                    <a:schemeClr val="bg1"/>
                  </a:solidFill>
                  <a:latin typeface="Consolas" panose="020B0609020204030204" pitchFamily="49" charset="0"/>
                  <a:cs typeface="Consolas" panose="020B0609020204030204" pitchFamily="49" charset="0"/>
                </a:rPr>
                <a:t>s2</a:t>
              </a:r>
            </a:p>
          </p:txBody>
        </p:sp>
        <p:sp>
          <p:nvSpPr>
            <p:cNvPr id="27" name="Rounded Rectangle 26">
              <a:extLst>
                <a:ext uri="{FF2B5EF4-FFF2-40B4-BE49-F238E27FC236}">
                  <a16:creationId xmlns:a16="http://schemas.microsoft.com/office/drawing/2014/main" id="{18F64A51-BC54-2142-8BDA-19071E433DB4}"/>
                </a:ext>
              </a:extLst>
            </p:cNvPr>
            <p:cNvSpPr/>
            <p:nvPr/>
          </p:nvSpPr>
          <p:spPr>
            <a:xfrm>
              <a:off x="3061077" y="3629739"/>
              <a:ext cx="609600" cy="442674"/>
            </a:xfrm>
            <a:prstGeom prst="roundRect">
              <a:avLst/>
            </a:prstGeom>
            <a:solidFill>
              <a:schemeClr val="accent1"/>
            </a:solidFill>
            <a:ln w="19050">
              <a:solidFill>
                <a:schemeClr val="tx1"/>
              </a:solidFill>
            </a:ln>
          </p:spPr>
          <p:txBody>
            <a:bodyPr wrap="square">
              <a:spAutoFit/>
            </a:bodyPr>
            <a:lstStyle/>
            <a:p>
              <a:pPr algn="ctr"/>
              <a:r>
                <a:rPr lang="en-US" sz="2000" i="1" dirty="0">
                  <a:solidFill>
                    <a:schemeClr val="bg1"/>
                  </a:solidFill>
                  <a:latin typeface="Consolas" panose="020B0609020204030204" pitchFamily="49" charset="0"/>
                  <a:cs typeface="Consolas" panose="020B0609020204030204" pitchFamily="49" charset="0"/>
                </a:rPr>
                <a:t>s3</a:t>
              </a:r>
            </a:p>
          </p:txBody>
        </p:sp>
        <p:cxnSp>
          <p:nvCxnSpPr>
            <p:cNvPr id="28" name="Curved Connector 12">
              <a:extLst>
                <a:ext uri="{FF2B5EF4-FFF2-40B4-BE49-F238E27FC236}">
                  <a16:creationId xmlns:a16="http://schemas.microsoft.com/office/drawing/2014/main" id="{BEECECFB-0D07-474F-A924-3CD25F72627D}"/>
                </a:ext>
              </a:extLst>
            </p:cNvPr>
            <p:cNvCxnSpPr>
              <a:cxnSpLocks/>
              <a:stCxn id="22" idx="2"/>
              <a:endCxn id="26" idx="0"/>
            </p:cNvCxnSpPr>
            <p:nvPr/>
          </p:nvCxnSpPr>
          <p:spPr>
            <a:xfrm>
              <a:off x="2436728" y="2614374"/>
              <a:ext cx="0" cy="10153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12">
              <a:extLst>
                <a:ext uri="{FF2B5EF4-FFF2-40B4-BE49-F238E27FC236}">
                  <a16:creationId xmlns:a16="http://schemas.microsoft.com/office/drawing/2014/main" id="{34DBE00E-8AEF-034E-82BD-05EEB96DD0A4}"/>
                </a:ext>
              </a:extLst>
            </p:cNvPr>
            <p:cNvCxnSpPr>
              <a:cxnSpLocks/>
              <a:stCxn id="22" idx="2"/>
              <a:endCxn id="27" idx="0"/>
            </p:cNvCxnSpPr>
            <p:nvPr/>
          </p:nvCxnSpPr>
          <p:spPr>
            <a:xfrm rot="16200000" flipH="1">
              <a:off x="2393620" y="2657481"/>
              <a:ext cx="1015365" cy="929149"/>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TextBox 39">
            <a:extLst>
              <a:ext uri="{FF2B5EF4-FFF2-40B4-BE49-F238E27FC236}">
                <a16:creationId xmlns:a16="http://schemas.microsoft.com/office/drawing/2014/main" id="{11E069C3-E422-0946-801A-79E992ACFFA1}"/>
              </a:ext>
            </a:extLst>
          </p:cNvPr>
          <p:cNvSpPr txBox="1"/>
          <p:nvPr/>
        </p:nvSpPr>
        <p:spPr>
          <a:xfrm>
            <a:off x="600997" y="952500"/>
            <a:ext cx="3800168" cy="1107996"/>
          </a:xfrm>
          <a:prstGeom prst="rect">
            <a:avLst/>
          </a:prstGeom>
          <a:noFill/>
        </p:spPr>
        <p:txBody>
          <a:bodyPr wrap="square" rtlCol="0">
            <a:spAutoFit/>
          </a:bodyPr>
          <a:lstStyle/>
          <a:p>
            <a:pPr algn="ctr"/>
            <a:r>
              <a:rPr lang="en-US" sz="2200" dirty="0"/>
              <a:t>if </a:t>
            </a:r>
            <a:r>
              <a:rPr lang="en-US" sz="2200" b="1" dirty="0">
                <a:latin typeface="Consolas" panose="020B0609020204030204" pitchFamily="49" charset="0"/>
                <a:cs typeface="Consolas" panose="020B0609020204030204" pitchFamily="49" charset="0"/>
              </a:rPr>
              <a:t>x</a:t>
            </a:r>
            <a:r>
              <a:rPr lang="en-US" sz="2200" dirty="0"/>
              <a:t> is </a:t>
            </a:r>
            <a:r>
              <a:rPr lang="en-US" sz="2200" b="1" dirty="0">
                <a:latin typeface="Consolas" panose="020B0609020204030204" pitchFamily="49" charset="0"/>
                <a:cs typeface="Consolas" panose="020B0609020204030204" pitchFamily="49" charset="0"/>
              </a:rPr>
              <a:t>LIVE</a:t>
            </a:r>
            <a:r>
              <a:rPr lang="en-US" sz="2200" dirty="0"/>
              <a:t> at the beginning of </a:t>
            </a:r>
            <a:r>
              <a:rPr lang="en-US" sz="2200" b="1" dirty="0">
                <a:solidFill>
                  <a:srgbClr val="FF0000"/>
                </a:solidFill>
              </a:rPr>
              <a:t>any</a:t>
            </a:r>
            <a:r>
              <a:rPr lang="en-US" sz="2200" b="1" dirty="0"/>
              <a:t> </a:t>
            </a:r>
            <a:r>
              <a:rPr lang="en-US" sz="2200" dirty="0"/>
              <a:t>successor, then </a:t>
            </a:r>
            <a:r>
              <a:rPr lang="en-US" sz="2200" b="1" dirty="0">
                <a:latin typeface="Consolas" panose="020B0609020204030204" pitchFamily="49" charset="0"/>
                <a:cs typeface="Consolas" panose="020B0609020204030204" pitchFamily="49" charset="0"/>
              </a:rPr>
              <a:t>x</a:t>
            </a:r>
            <a:r>
              <a:rPr lang="en-US" sz="2200" dirty="0"/>
              <a:t> is </a:t>
            </a:r>
            <a:r>
              <a:rPr lang="en-US" sz="2200" b="1" dirty="0">
                <a:latin typeface="Consolas" panose="020B0609020204030204" pitchFamily="49" charset="0"/>
                <a:cs typeface="Consolas" panose="020B0609020204030204" pitchFamily="49" charset="0"/>
              </a:rPr>
              <a:t>LIVE</a:t>
            </a:r>
            <a:r>
              <a:rPr lang="en-US" sz="2200" dirty="0"/>
              <a:t> at the end of this block.</a:t>
            </a:r>
          </a:p>
        </p:txBody>
      </p:sp>
      <p:sp>
        <p:nvSpPr>
          <p:cNvPr id="41" name="TextBox 40">
            <a:extLst>
              <a:ext uri="{FF2B5EF4-FFF2-40B4-BE49-F238E27FC236}">
                <a16:creationId xmlns:a16="http://schemas.microsoft.com/office/drawing/2014/main" id="{6B1E7A0E-BFF1-294F-9849-2F4C42D3F2CD}"/>
              </a:ext>
            </a:extLst>
          </p:cNvPr>
          <p:cNvSpPr txBox="1"/>
          <p:nvPr/>
        </p:nvSpPr>
        <p:spPr>
          <a:xfrm>
            <a:off x="1181100" y="4429540"/>
            <a:ext cx="6781800" cy="769441"/>
          </a:xfrm>
          <a:prstGeom prst="rect">
            <a:avLst/>
          </a:prstGeom>
          <a:noFill/>
        </p:spPr>
        <p:txBody>
          <a:bodyPr wrap="square" rtlCol="0">
            <a:spAutoFit/>
          </a:bodyPr>
          <a:lstStyle/>
          <a:p>
            <a:pPr algn="ctr"/>
            <a:r>
              <a:rPr lang="en-US" sz="2200" dirty="0"/>
              <a:t>(yeah, in </a:t>
            </a:r>
            <a:r>
              <a:rPr lang="en-US" sz="2200" i="1" dirty="0"/>
              <a:t>our</a:t>
            </a:r>
            <a:r>
              <a:rPr lang="en-US" sz="2200" dirty="0"/>
              <a:t> IR, BBs can have at most 2 successors, but this rule works for any number of successors.)</a:t>
            </a:r>
          </a:p>
        </p:txBody>
      </p:sp>
      <p:sp>
        <p:nvSpPr>
          <p:cNvPr id="46" name="TextBox 45">
            <a:extLst>
              <a:ext uri="{FF2B5EF4-FFF2-40B4-BE49-F238E27FC236}">
                <a16:creationId xmlns:a16="http://schemas.microsoft.com/office/drawing/2014/main" id="{AE8D2C53-DFB1-7A44-B31C-B3F415122920}"/>
              </a:ext>
            </a:extLst>
          </p:cNvPr>
          <p:cNvSpPr txBox="1"/>
          <p:nvPr/>
        </p:nvSpPr>
        <p:spPr>
          <a:xfrm>
            <a:off x="3365877" y="3187237"/>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p>
        </p:txBody>
      </p:sp>
      <p:sp>
        <p:nvSpPr>
          <p:cNvPr id="47" name="TextBox 46">
            <a:extLst>
              <a:ext uri="{FF2B5EF4-FFF2-40B4-BE49-F238E27FC236}">
                <a16:creationId xmlns:a16="http://schemas.microsoft.com/office/drawing/2014/main" id="{BBD2AF1D-84C2-0349-9F8D-C28439C9D940}"/>
              </a:ext>
            </a:extLst>
          </p:cNvPr>
          <p:cNvSpPr txBox="1"/>
          <p:nvPr/>
        </p:nvSpPr>
        <p:spPr>
          <a:xfrm>
            <a:off x="2442873" y="3187237"/>
            <a:ext cx="748923" cy="400110"/>
          </a:xfrm>
          <a:prstGeom prst="rect">
            <a:avLst/>
          </a:prstGeom>
          <a:noFill/>
        </p:spPr>
        <p:txBody>
          <a:bodyPr wrap="none" rtlCol="0">
            <a:spAutoFit/>
          </a:bodyPr>
          <a:lstStyle/>
          <a:p>
            <a:r>
              <a:rPr lang="en-US" sz="2000" i="1" dirty="0">
                <a:solidFill>
                  <a:srgbClr val="00B050"/>
                </a:solidFill>
                <a:latin typeface="Consolas" panose="020B0609020204030204" pitchFamily="49" charset="0"/>
                <a:cs typeface="Consolas" panose="020B0609020204030204" pitchFamily="49" charset="0"/>
              </a:rPr>
              <a:t>LIVE</a:t>
            </a:r>
          </a:p>
        </p:txBody>
      </p:sp>
      <p:sp>
        <p:nvSpPr>
          <p:cNvPr id="48" name="TextBox 47">
            <a:extLst>
              <a:ext uri="{FF2B5EF4-FFF2-40B4-BE49-F238E27FC236}">
                <a16:creationId xmlns:a16="http://schemas.microsoft.com/office/drawing/2014/main" id="{378680E9-9BCC-6043-8E85-E62B2344E041}"/>
              </a:ext>
            </a:extLst>
          </p:cNvPr>
          <p:cNvSpPr txBox="1"/>
          <p:nvPr/>
        </p:nvSpPr>
        <p:spPr>
          <a:xfrm>
            <a:off x="1600764" y="3187237"/>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p>
        </p:txBody>
      </p:sp>
      <p:sp>
        <p:nvSpPr>
          <p:cNvPr id="49" name="TextBox 48">
            <a:extLst>
              <a:ext uri="{FF2B5EF4-FFF2-40B4-BE49-F238E27FC236}">
                <a16:creationId xmlns:a16="http://schemas.microsoft.com/office/drawing/2014/main" id="{5222076F-7705-E04B-831D-07D03AFCA83A}"/>
              </a:ext>
            </a:extLst>
          </p:cNvPr>
          <p:cNvSpPr txBox="1"/>
          <p:nvPr/>
        </p:nvSpPr>
        <p:spPr>
          <a:xfrm>
            <a:off x="1465743" y="2500695"/>
            <a:ext cx="748923" cy="400110"/>
          </a:xfrm>
          <a:prstGeom prst="rect">
            <a:avLst/>
          </a:prstGeom>
          <a:noFill/>
        </p:spPr>
        <p:txBody>
          <a:bodyPr wrap="none" rtlCol="0">
            <a:spAutoFit/>
          </a:bodyPr>
          <a:lstStyle/>
          <a:p>
            <a:r>
              <a:rPr lang="en-US" sz="2000" i="1" dirty="0">
                <a:solidFill>
                  <a:srgbClr val="00B050"/>
                </a:solidFill>
                <a:latin typeface="Consolas" panose="020B0609020204030204" pitchFamily="49" charset="0"/>
                <a:cs typeface="Consolas" panose="020B0609020204030204" pitchFamily="49" charset="0"/>
              </a:rPr>
              <a:t>LIVE</a:t>
            </a:r>
          </a:p>
        </p:txBody>
      </p:sp>
      <p:sp>
        <p:nvSpPr>
          <p:cNvPr id="66" name="TextBox 65">
            <a:extLst>
              <a:ext uri="{FF2B5EF4-FFF2-40B4-BE49-F238E27FC236}">
                <a16:creationId xmlns:a16="http://schemas.microsoft.com/office/drawing/2014/main" id="{E60A4BA4-3865-364F-B7D1-1F307727C663}"/>
              </a:ext>
            </a:extLst>
          </p:cNvPr>
          <p:cNvSpPr txBox="1"/>
          <p:nvPr/>
        </p:nvSpPr>
        <p:spPr>
          <a:xfrm>
            <a:off x="5257800" y="989627"/>
            <a:ext cx="3029564" cy="769441"/>
          </a:xfrm>
          <a:prstGeom prst="rect">
            <a:avLst/>
          </a:prstGeom>
          <a:noFill/>
        </p:spPr>
        <p:txBody>
          <a:bodyPr wrap="square" rtlCol="0">
            <a:spAutoFit/>
          </a:bodyPr>
          <a:lstStyle/>
          <a:p>
            <a:pPr algn="ctr"/>
            <a:r>
              <a:rPr lang="en-US" sz="2200" b="1" dirty="0">
                <a:solidFill>
                  <a:srgbClr val="FF0000"/>
                </a:solidFill>
              </a:rPr>
              <a:t>else,</a:t>
            </a:r>
            <a:r>
              <a:rPr lang="en-US" sz="2200" dirty="0"/>
              <a:t> </a:t>
            </a:r>
            <a:r>
              <a:rPr lang="en-US" sz="2200" b="1" dirty="0">
                <a:latin typeface="Consolas" panose="020B0609020204030204" pitchFamily="49" charset="0"/>
                <a:cs typeface="Consolas" panose="020B0609020204030204" pitchFamily="49" charset="0"/>
              </a:rPr>
              <a:t>x</a:t>
            </a:r>
            <a:r>
              <a:rPr lang="en-US" sz="2200" dirty="0"/>
              <a:t> is </a:t>
            </a:r>
            <a:r>
              <a:rPr lang="en-US" sz="2200" b="1" dirty="0">
                <a:latin typeface="Consolas" panose="020B0609020204030204" pitchFamily="49" charset="0"/>
                <a:cs typeface="Consolas" panose="020B0609020204030204" pitchFamily="49" charset="0"/>
              </a:rPr>
              <a:t>DEAD</a:t>
            </a:r>
            <a:r>
              <a:rPr lang="en-US" sz="2200" dirty="0"/>
              <a:t> at the end of this block.</a:t>
            </a:r>
          </a:p>
        </p:txBody>
      </p:sp>
      <p:grpSp>
        <p:nvGrpSpPr>
          <p:cNvPr id="83" name="Group 82">
            <a:extLst>
              <a:ext uri="{FF2B5EF4-FFF2-40B4-BE49-F238E27FC236}">
                <a16:creationId xmlns:a16="http://schemas.microsoft.com/office/drawing/2014/main" id="{E0686403-2062-C547-8CFE-E7EFBB87A384}"/>
              </a:ext>
            </a:extLst>
          </p:cNvPr>
          <p:cNvGrpSpPr/>
          <p:nvPr/>
        </p:nvGrpSpPr>
        <p:grpSpPr>
          <a:xfrm>
            <a:off x="5706938" y="2177042"/>
            <a:ext cx="2445898" cy="1900713"/>
            <a:chOff x="5706938" y="2177042"/>
            <a:chExt cx="2445898" cy="1900713"/>
          </a:xfrm>
        </p:grpSpPr>
        <p:cxnSp>
          <p:nvCxnSpPr>
            <p:cNvPr id="71" name="Curved Connector 12">
              <a:extLst>
                <a:ext uri="{FF2B5EF4-FFF2-40B4-BE49-F238E27FC236}">
                  <a16:creationId xmlns:a16="http://schemas.microsoft.com/office/drawing/2014/main" id="{6572EB15-10A5-E74A-8918-5DBD37A5DDFC}"/>
                </a:ext>
              </a:extLst>
            </p:cNvPr>
            <p:cNvCxnSpPr>
              <a:cxnSpLocks/>
              <a:stCxn id="72" idx="2"/>
              <a:endCxn id="73" idx="0"/>
            </p:cNvCxnSpPr>
            <p:nvPr/>
          </p:nvCxnSpPr>
          <p:spPr>
            <a:xfrm rot="5400000">
              <a:off x="5957631" y="2673824"/>
              <a:ext cx="1015365" cy="907149"/>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Rounded Rectangle 71">
              <a:extLst>
                <a:ext uri="{FF2B5EF4-FFF2-40B4-BE49-F238E27FC236}">
                  <a16:creationId xmlns:a16="http://schemas.microsoft.com/office/drawing/2014/main" id="{0E2B07E5-02F2-EB42-A0E1-D733F2E80C8A}"/>
                </a:ext>
              </a:extLst>
            </p:cNvPr>
            <p:cNvSpPr/>
            <p:nvPr/>
          </p:nvSpPr>
          <p:spPr>
            <a:xfrm>
              <a:off x="6614087" y="2177042"/>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73" name="Rounded Rectangle 72">
              <a:extLst>
                <a:ext uri="{FF2B5EF4-FFF2-40B4-BE49-F238E27FC236}">
                  <a16:creationId xmlns:a16="http://schemas.microsoft.com/office/drawing/2014/main" id="{F939A614-09F5-CC48-A40F-FB45ADC09B79}"/>
                </a:ext>
              </a:extLst>
            </p:cNvPr>
            <p:cNvSpPr/>
            <p:nvPr/>
          </p:nvSpPr>
          <p:spPr>
            <a:xfrm>
              <a:off x="5706938" y="3635081"/>
              <a:ext cx="609600" cy="442674"/>
            </a:xfrm>
            <a:prstGeom prst="roundRect">
              <a:avLst/>
            </a:prstGeom>
            <a:solidFill>
              <a:schemeClr val="accent1"/>
            </a:solidFill>
            <a:ln w="19050">
              <a:solidFill>
                <a:schemeClr val="tx1"/>
              </a:solidFill>
            </a:ln>
          </p:spPr>
          <p:txBody>
            <a:bodyPr wrap="square">
              <a:spAutoFit/>
            </a:bodyPr>
            <a:lstStyle/>
            <a:p>
              <a:pPr algn="ctr"/>
              <a:r>
                <a:rPr lang="en-US" sz="2000" i="1" dirty="0">
                  <a:solidFill>
                    <a:schemeClr val="bg1"/>
                  </a:solidFill>
                  <a:latin typeface="Consolas" panose="020B0609020204030204" pitchFamily="49" charset="0"/>
                  <a:cs typeface="Consolas" panose="020B0609020204030204" pitchFamily="49" charset="0"/>
                </a:rPr>
                <a:t>s1</a:t>
              </a:r>
            </a:p>
          </p:txBody>
        </p:sp>
        <p:sp>
          <p:nvSpPr>
            <p:cNvPr id="74" name="Rounded Rectangle 73">
              <a:extLst>
                <a:ext uri="{FF2B5EF4-FFF2-40B4-BE49-F238E27FC236}">
                  <a16:creationId xmlns:a16="http://schemas.microsoft.com/office/drawing/2014/main" id="{8DEB92E2-2DCB-A344-A2EC-A32BDB8D2487}"/>
                </a:ext>
              </a:extLst>
            </p:cNvPr>
            <p:cNvSpPr/>
            <p:nvPr/>
          </p:nvSpPr>
          <p:spPr>
            <a:xfrm>
              <a:off x="6614087" y="3635081"/>
              <a:ext cx="609600" cy="442674"/>
            </a:xfrm>
            <a:prstGeom prst="roundRect">
              <a:avLst/>
            </a:prstGeom>
            <a:solidFill>
              <a:schemeClr val="accent1"/>
            </a:solidFill>
            <a:ln w="19050">
              <a:solidFill>
                <a:schemeClr val="tx1"/>
              </a:solidFill>
            </a:ln>
          </p:spPr>
          <p:txBody>
            <a:bodyPr wrap="square">
              <a:spAutoFit/>
            </a:bodyPr>
            <a:lstStyle/>
            <a:p>
              <a:pPr algn="ctr"/>
              <a:r>
                <a:rPr lang="en-US" sz="2000" i="1" dirty="0">
                  <a:solidFill>
                    <a:schemeClr val="bg1"/>
                  </a:solidFill>
                  <a:latin typeface="Consolas" panose="020B0609020204030204" pitchFamily="49" charset="0"/>
                  <a:cs typeface="Consolas" panose="020B0609020204030204" pitchFamily="49" charset="0"/>
                </a:rPr>
                <a:t>s2</a:t>
              </a:r>
            </a:p>
          </p:txBody>
        </p:sp>
        <p:sp>
          <p:nvSpPr>
            <p:cNvPr id="75" name="Rounded Rectangle 74">
              <a:extLst>
                <a:ext uri="{FF2B5EF4-FFF2-40B4-BE49-F238E27FC236}">
                  <a16:creationId xmlns:a16="http://schemas.microsoft.com/office/drawing/2014/main" id="{83622FF1-89EF-B44F-BE57-07A58FBADB99}"/>
                </a:ext>
              </a:extLst>
            </p:cNvPr>
            <p:cNvSpPr/>
            <p:nvPr/>
          </p:nvSpPr>
          <p:spPr>
            <a:xfrm>
              <a:off x="7543236" y="3635081"/>
              <a:ext cx="609600" cy="442674"/>
            </a:xfrm>
            <a:prstGeom prst="roundRect">
              <a:avLst/>
            </a:prstGeom>
            <a:solidFill>
              <a:schemeClr val="accent1"/>
            </a:solidFill>
            <a:ln w="19050">
              <a:solidFill>
                <a:schemeClr val="tx1"/>
              </a:solidFill>
            </a:ln>
          </p:spPr>
          <p:txBody>
            <a:bodyPr wrap="square">
              <a:spAutoFit/>
            </a:bodyPr>
            <a:lstStyle/>
            <a:p>
              <a:pPr algn="ctr"/>
              <a:r>
                <a:rPr lang="en-US" sz="2000" i="1" dirty="0">
                  <a:solidFill>
                    <a:schemeClr val="bg1"/>
                  </a:solidFill>
                  <a:latin typeface="Consolas" panose="020B0609020204030204" pitchFamily="49" charset="0"/>
                  <a:cs typeface="Consolas" panose="020B0609020204030204" pitchFamily="49" charset="0"/>
                </a:rPr>
                <a:t>s3</a:t>
              </a:r>
            </a:p>
          </p:txBody>
        </p:sp>
        <p:cxnSp>
          <p:nvCxnSpPr>
            <p:cNvPr id="76" name="Curved Connector 12">
              <a:extLst>
                <a:ext uri="{FF2B5EF4-FFF2-40B4-BE49-F238E27FC236}">
                  <a16:creationId xmlns:a16="http://schemas.microsoft.com/office/drawing/2014/main" id="{8B8B16F6-57F9-774E-B5A0-B5D7272B8864}"/>
                </a:ext>
              </a:extLst>
            </p:cNvPr>
            <p:cNvCxnSpPr>
              <a:cxnSpLocks/>
              <a:stCxn id="72" idx="2"/>
              <a:endCxn id="74" idx="0"/>
            </p:cNvCxnSpPr>
            <p:nvPr/>
          </p:nvCxnSpPr>
          <p:spPr>
            <a:xfrm>
              <a:off x="6918887" y="2619716"/>
              <a:ext cx="0" cy="10153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urved Connector 12">
              <a:extLst>
                <a:ext uri="{FF2B5EF4-FFF2-40B4-BE49-F238E27FC236}">
                  <a16:creationId xmlns:a16="http://schemas.microsoft.com/office/drawing/2014/main" id="{9007983A-18B0-794B-B115-6CB9433AB505}"/>
                </a:ext>
              </a:extLst>
            </p:cNvPr>
            <p:cNvCxnSpPr>
              <a:cxnSpLocks/>
              <a:stCxn id="72" idx="2"/>
              <a:endCxn id="75" idx="0"/>
            </p:cNvCxnSpPr>
            <p:nvPr/>
          </p:nvCxnSpPr>
          <p:spPr>
            <a:xfrm rot="16200000" flipH="1">
              <a:off x="6875779" y="2662823"/>
              <a:ext cx="1015365" cy="929149"/>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8" name="TextBox 77">
            <a:extLst>
              <a:ext uri="{FF2B5EF4-FFF2-40B4-BE49-F238E27FC236}">
                <a16:creationId xmlns:a16="http://schemas.microsoft.com/office/drawing/2014/main" id="{C7D43931-83B8-B94B-BE43-84BA620EB10F}"/>
              </a:ext>
            </a:extLst>
          </p:cNvPr>
          <p:cNvSpPr txBox="1"/>
          <p:nvPr/>
        </p:nvSpPr>
        <p:spPr>
          <a:xfrm>
            <a:off x="7848036" y="3192579"/>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p>
        </p:txBody>
      </p:sp>
      <p:sp>
        <p:nvSpPr>
          <p:cNvPr id="79" name="TextBox 78">
            <a:extLst>
              <a:ext uri="{FF2B5EF4-FFF2-40B4-BE49-F238E27FC236}">
                <a16:creationId xmlns:a16="http://schemas.microsoft.com/office/drawing/2014/main" id="{A56BAA46-8EA2-C746-A583-A0649C9B4317}"/>
              </a:ext>
            </a:extLst>
          </p:cNvPr>
          <p:cNvSpPr txBox="1"/>
          <p:nvPr/>
        </p:nvSpPr>
        <p:spPr>
          <a:xfrm>
            <a:off x="6925032" y="3192579"/>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endParaRPr lang="en-US" sz="2000" i="1" dirty="0">
              <a:solidFill>
                <a:srgbClr val="00B050"/>
              </a:solidFill>
              <a:latin typeface="Consolas" panose="020B0609020204030204" pitchFamily="49" charset="0"/>
              <a:cs typeface="Consolas" panose="020B0609020204030204" pitchFamily="49" charset="0"/>
            </a:endParaRPr>
          </a:p>
        </p:txBody>
      </p:sp>
      <p:sp>
        <p:nvSpPr>
          <p:cNvPr id="80" name="TextBox 79">
            <a:extLst>
              <a:ext uri="{FF2B5EF4-FFF2-40B4-BE49-F238E27FC236}">
                <a16:creationId xmlns:a16="http://schemas.microsoft.com/office/drawing/2014/main" id="{B1D21E3E-DD52-C14D-B249-1F7D44DB519E}"/>
              </a:ext>
            </a:extLst>
          </p:cNvPr>
          <p:cNvSpPr txBox="1"/>
          <p:nvPr/>
        </p:nvSpPr>
        <p:spPr>
          <a:xfrm>
            <a:off x="6082923" y="3192579"/>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p>
        </p:txBody>
      </p:sp>
      <p:sp>
        <p:nvSpPr>
          <p:cNvPr id="81" name="TextBox 80">
            <a:extLst>
              <a:ext uri="{FF2B5EF4-FFF2-40B4-BE49-F238E27FC236}">
                <a16:creationId xmlns:a16="http://schemas.microsoft.com/office/drawing/2014/main" id="{66764A33-3BF5-5840-9B74-A83E721BA866}"/>
              </a:ext>
            </a:extLst>
          </p:cNvPr>
          <p:cNvSpPr txBox="1"/>
          <p:nvPr/>
        </p:nvSpPr>
        <p:spPr>
          <a:xfrm>
            <a:off x="5947902" y="2506037"/>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endParaRPr lang="en-US" sz="2000" i="1" dirty="0">
              <a:solidFill>
                <a:srgbClr val="00B05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4951095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500"/>
                                  </p:stCondLst>
                                  <p:childTnLst>
                                    <p:set>
                                      <p:cBhvr>
                                        <p:cTn id="13" dur="1" fill="hold">
                                          <p:stCondLst>
                                            <p:cond delay="0"/>
                                          </p:stCondLst>
                                        </p:cTn>
                                        <p:tgtEl>
                                          <p:spTgt spid="48"/>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500"/>
                                  </p:stCondLst>
                                  <p:childTnLst>
                                    <p:set>
                                      <p:cBhvr>
                                        <p:cTn id="16" dur="1" fill="hold">
                                          <p:stCondLst>
                                            <p:cond delay="0"/>
                                          </p:stCondLst>
                                        </p:cTn>
                                        <p:tgtEl>
                                          <p:spTgt spid="47"/>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500"/>
                                  </p:stCondLst>
                                  <p:childTnLst>
                                    <p:set>
                                      <p:cBhvr>
                                        <p:cTn id="19" dur="1" fill="hold">
                                          <p:stCondLst>
                                            <p:cond delay="0"/>
                                          </p:stCondLst>
                                        </p:cTn>
                                        <p:tgtEl>
                                          <p:spTgt spid="46"/>
                                        </p:tgtEl>
                                        <p:attrNameLst>
                                          <p:attrName>style.visibility</p:attrName>
                                        </p:attrNameLst>
                                      </p:cBhvr>
                                      <p:to>
                                        <p:strVal val="visible"/>
                                      </p:to>
                                    </p:set>
                                  </p:childTnLst>
                                </p:cTn>
                              </p:par>
                            </p:childTnLst>
                          </p:cTn>
                        </p:par>
                        <p:par>
                          <p:cTn id="20" fill="hold">
                            <p:stCondLst>
                              <p:cond delay="1500"/>
                            </p:stCondLst>
                            <p:childTnLst>
                              <p:par>
                                <p:cTn id="21" presetID="1" presetClass="entr" presetSubtype="0" fill="hold" grpId="0" nodeType="afterEffect">
                                  <p:stCondLst>
                                    <p:cond delay="50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500"/>
                                  </p:stCondLst>
                                  <p:childTnLst>
                                    <p:set>
                                      <p:cBhvr>
                                        <p:cTn id="31" dur="1" fill="hold">
                                          <p:stCondLst>
                                            <p:cond delay="0"/>
                                          </p:stCondLst>
                                        </p:cTn>
                                        <p:tgtEl>
                                          <p:spTgt spid="80"/>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500"/>
                                  </p:stCondLst>
                                  <p:childTnLst>
                                    <p:set>
                                      <p:cBhvr>
                                        <p:cTn id="34" dur="1" fill="hold">
                                          <p:stCondLst>
                                            <p:cond delay="0"/>
                                          </p:stCondLst>
                                        </p:cTn>
                                        <p:tgtEl>
                                          <p:spTgt spid="79"/>
                                        </p:tgtEl>
                                        <p:attrNameLst>
                                          <p:attrName>style.visibility</p:attrName>
                                        </p:attrNameLst>
                                      </p:cBhvr>
                                      <p:to>
                                        <p:strVal val="visible"/>
                                      </p:to>
                                    </p:set>
                                  </p:childTnLst>
                                </p:cTn>
                              </p:par>
                            </p:childTnLst>
                          </p:cTn>
                        </p:par>
                        <p:par>
                          <p:cTn id="35" fill="hold">
                            <p:stCondLst>
                              <p:cond delay="1000"/>
                            </p:stCondLst>
                            <p:childTnLst>
                              <p:par>
                                <p:cTn id="36" presetID="1" presetClass="entr" presetSubtype="0" fill="hold" grpId="0" nodeType="afterEffect">
                                  <p:stCondLst>
                                    <p:cond delay="500"/>
                                  </p:stCondLst>
                                  <p:childTnLst>
                                    <p:set>
                                      <p:cBhvr>
                                        <p:cTn id="37" dur="1" fill="hold">
                                          <p:stCondLst>
                                            <p:cond delay="0"/>
                                          </p:stCondLst>
                                        </p:cTn>
                                        <p:tgtEl>
                                          <p:spTgt spid="78"/>
                                        </p:tgtEl>
                                        <p:attrNameLst>
                                          <p:attrName>style.visibility</p:attrName>
                                        </p:attrNameLst>
                                      </p:cBhvr>
                                      <p:to>
                                        <p:strVal val="visible"/>
                                      </p:to>
                                    </p:set>
                                  </p:childTnLst>
                                </p:cTn>
                              </p:par>
                            </p:childTnLst>
                          </p:cTn>
                        </p:par>
                        <p:par>
                          <p:cTn id="38" fill="hold">
                            <p:stCondLst>
                              <p:cond delay="1500"/>
                            </p:stCondLst>
                            <p:childTnLst>
                              <p:par>
                                <p:cTn id="39" presetID="1" presetClass="entr" presetSubtype="0" fill="hold" grpId="0" nodeType="afterEffect">
                                  <p:stCondLst>
                                    <p:cond delay="500"/>
                                  </p:stCondLst>
                                  <p:childTnLst>
                                    <p:set>
                                      <p:cBhvr>
                                        <p:cTn id="40" dur="1" fill="hold">
                                          <p:stCondLst>
                                            <p:cond delay="0"/>
                                          </p:stCondLst>
                                        </p:cTn>
                                        <p:tgtEl>
                                          <p:spTgt spid="8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6" grpId="0"/>
      <p:bldP spid="47" grpId="0"/>
      <p:bldP spid="48" grpId="0"/>
      <p:bldP spid="49" grpId="0"/>
      <p:bldP spid="66" grpId="0"/>
      <p:bldP spid="78" grpId="0"/>
      <p:bldP spid="79" grpId="0"/>
      <p:bldP spid="80" grpId="0"/>
      <p:bldP spid="8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0829C-F72C-C349-8970-EAD3C54E9EFD}"/>
              </a:ext>
            </a:extLst>
          </p:cNvPr>
          <p:cNvSpPr>
            <a:spLocks noGrp="1"/>
          </p:cNvSpPr>
          <p:nvPr>
            <p:ph type="title"/>
          </p:nvPr>
        </p:nvSpPr>
        <p:spPr/>
        <p:txBody>
          <a:bodyPr/>
          <a:lstStyle/>
          <a:p>
            <a:r>
              <a:rPr lang="en-US" dirty="0"/>
              <a:t>Trying it out </a:t>
            </a:r>
            <a:r>
              <a:rPr lang="en-US" sz="2000" dirty="0"/>
              <a:t>(animated)</a:t>
            </a:r>
            <a:endParaRPr lang="en-US" dirty="0"/>
          </a:p>
        </p:txBody>
      </p:sp>
      <p:sp>
        <p:nvSpPr>
          <p:cNvPr id="3" name="Content Placeholder 2">
            <a:extLst>
              <a:ext uri="{FF2B5EF4-FFF2-40B4-BE49-F238E27FC236}">
                <a16:creationId xmlns:a16="http://schemas.microsoft.com/office/drawing/2014/main" id="{D1B49EF1-E1B7-D249-91A7-EE584348132D}"/>
              </a:ext>
            </a:extLst>
          </p:cNvPr>
          <p:cNvSpPr>
            <a:spLocks noGrp="1"/>
          </p:cNvSpPr>
          <p:nvPr>
            <p:ph idx="1"/>
          </p:nvPr>
        </p:nvSpPr>
        <p:spPr>
          <a:xfrm>
            <a:off x="152400" y="495302"/>
            <a:ext cx="8991600" cy="495300"/>
          </a:xfrm>
        </p:spPr>
        <p:txBody>
          <a:bodyPr/>
          <a:lstStyle/>
          <a:p>
            <a:r>
              <a:rPr lang="en-US" dirty="0"/>
              <a:t>let's try it on this simple, one-BB function.</a:t>
            </a:r>
          </a:p>
        </p:txBody>
      </p:sp>
      <p:sp>
        <p:nvSpPr>
          <p:cNvPr id="4" name="Slide Number Placeholder 3">
            <a:extLst>
              <a:ext uri="{FF2B5EF4-FFF2-40B4-BE49-F238E27FC236}">
                <a16:creationId xmlns:a16="http://schemas.microsoft.com/office/drawing/2014/main" id="{A034D502-161B-124D-A712-FB5CE8A9D004}"/>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Rectangle 4">
            <a:extLst>
              <a:ext uri="{FF2B5EF4-FFF2-40B4-BE49-F238E27FC236}">
                <a16:creationId xmlns:a16="http://schemas.microsoft.com/office/drawing/2014/main" id="{6F809A43-3914-D641-88C4-A38FA21D4350}"/>
              </a:ext>
            </a:extLst>
          </p:cNvPr>
          <p:cNvSpPr/>
          <p:nvPr/>
        </p:nvSpPr>
        <p:spPr>
          <a:xfrm>
            <a:off x="1752600" y="2402323"/>
            <a:ext cx="2057400" cy="2158861"/>
          </a:xfrm>
          <a:prstGeom prst="rect">
            <a:avLst/>
          </a:prstGeom>
        </p:spPr>
        <p:txBody>
          <a:bodyPr wrap="square">
            <a:spAutoFit/>
          </a:bodyPr>
          <a:lstStyle/>
          <a:p>
            <a:r>
              <a:rPr lang="en-US" sz="2000" b="1" dirty="0">
                <a:latin typeface="Consolas" panose="020B0609020204030204" pitchFamily="49" charset="0"/>
                <a:cs typeface="Consolas" panose="020B0609020204030204" pitchFamily="49" charset="0"/>
              </a:rPr>
              <a:t>x = </a:t>
            </a:r>
            <a:r>
              <a:rPr lang="en-US" sz="2000" b="1" dirty="0" err="1">
                <a:latin typeface="Consolas" panose="020B0609020204030204" pitchFamily="49" charset="0"/>
                <a:cs typeface="Consolas" panose="020B0609020204030204" pitchFamily="49" charset="0"/>
              </a:rPr>
              <a:t>arg</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10</a:t>
            </a:r>
          </a:p>
          <a:p>
            <a:pPr>
              <a:lnSpc>
                <a:spcPct val="200000"/>
              </a:lnSpc>
            </a:pP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pPr>
              <a:lnSpc>
                <a:spcPct val="200000"/>
              </a:lnSpc>
            </a:pPr>
            <a:r>
              <a:rPr lang="en-US" sz="2000" b="1" dirty="0">
                <a:latin typeface="Consolas" panose="020B0609020204030204" pitchFamily="49" charset="0"/>
                <a:cs typeface="Consolas" panose="020B0609020204030204" pitchFamily="49" charset="0"/>
              </a:rPr>
              <a:t>$t0 = x</a:t>
            </a:r>
          </a:p>
          <a:p>
            <a:pPr>
              <a:lnSpc>
                <a:spcPct val="200000"/>
              </a:lnSpc>
            </a:pPr>
            <a:r>
              <a:rPr lang="en-US" sz="2000" b="1" dirty="0">
                <a:solidFill>
                  <a:srgbClr val="FF0000"/>
                </a:solidFill>
                <a:latin typeface="Consolas" panose="020B0609020204030204" pitchFamily="49" charset="0"/>
                <a:cs typeface="Consolas" panose="020B0609020204030204" pitchFamily="49" charset="0"/>
              </a:rPr>
              <a:t>return</a:t>
            </a:r>
            <a:endParaRPr lang="en-US" sz="20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443EA19C-89B0-2647-A859-B431EBA86EA8}"/>
              </a:ext>
            </a:extLst>
          </p:cNvPr>
          <p:cNvSpPr txBox="1"/>
          <p:nvPr/>
        </p:nvSpPr>
        <p:spPr>
          <a:xfrm>
            <a:off x="927477" y="2152677"/>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endParaRPr lang="en-US" sz="2000" i="1" dirty="0">
              <a:solidFill>
                <a:srgbClr val="00B050"/>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AA4423C5-0414-534A-9B3C-1FC9641A734F}"/>
              </a:ext>
            </a:extLst>
          </p:cNvPr>
          <p:cNvSpPr txBox="1"/>
          <p:nvPr/>
        </p:nvSpPr>
        <p:spPr>
          <a:xfrm>
            <a:off x="927477" y="2703252"/>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endParaRPr lang="en-US" sz="2000" i="1" dirty="0">
              <a:solidFill>
                <a:srgbClr val="00B050"/>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C3799927-3B75-F14D-B128-E7F069FA7A90}"/>
              </a:ext>
            </a:extLst>
          </p:cNvPr>
          <p:cNvSpPr txBox="1"/>
          <p:nvPr/>
        </p:nvSpPr>
        <p:spPr>
          <a:xfrm>
            <a:off x="927477" y="3281698"/>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endParaRPr lang="en-US" sz="2000" i="1" dirty="0">
              <a:solidFill>
                <a:srgbClr val="00B050"/>
              </a:solidFill>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E74F7345-4278-0847-95A8-FC905CC27EA8}"/>
              </a:ext>
            </a:extLst>
          </p:cNvPr>
          <p:cNvSpPr txBox="1"/>
          <p:nvPr/>
        </p:nvSpPr>
        <p:spPr>
          <a:xfrm>
            <a:off x="927477" y="3860144"/>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endParaRPr lang="en-US" sz="2000" i="1" dirty="0">
              <a:solidFill>
                <a:srgbClr val="00B050"/>
              </a:solidFill>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ACBE6AA3-F453-A943-83AC-27374475C7BD}"/>
              </a:ext>
            </a:extLst>
          </p:cNvPr>
          <p:cNvSpPr txBox="1"/>
          <p:nvPr/>
        </p:nvSpPr>
        <p:spPr>
          <a:xfrm>
            <a:off x="927477" y="4438590"/>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endParaRPr lang="en-US" sz="2000" i="1" dirty="0">
              <a:solidFill>
                <a:srgbClr val="00B050"/>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E2FB5EE7-C9E3-304F-B212-C6FF6545DFAB}"/>
              </a:ext>
            </a:extLst>
          </p:cNvPr>
          <p:cNvSpPr txBox="1"/>
          <p:nvPr/>
        </p:nvSpPr>
        <p:spPr>
          <a:xfrm>
            <a:off x="1121664" y="1764890"/>
            <a:ext cx="325730" cy="400110"/>
          </a:xfrm>
          <a:prstGeom prst="rect">
            <a:avLst/>
          </a:prstGeom>
          <a:noFill/>
        </p:spPr>
        <p:txBody>
          <a:bodyPr wrap="none" rtlCol="0">
            <a:spAutoFit/>
          </a:bodyPr>
          <a:lstStyle/>
          <a:p>
            <a:r>
              <a:rPr lang="en-US" sz="2000" b="1" u="sng" dirty="0">
                <a:latin typeface="Consolas" panose="020B0609020204030204" pitchFamily="49" charset="0"/>
                <a:cs typeface="Consolas" panose="020B0609020204030204" pitchFamily="49" charset="0"/>
              </a:rPr>
              <a:t>x</a:t>
            </a:r>
          </a:p>
        </p:txBody>
      </p:sp>
      <p:sp>
        <p:nvSpPr>
          <p:cNvPr id="13" name="TextBox 12">
            <a:extLst>
              <a:ext uri="{FF2B5EF4-FFF2-40B4-BE49-F238E27FC236}">
                <a16:creationId xmlns:a16="http://schemas.microsoft.com/office/drawing/2014/main" id="{CE845AFE-88AA-654D-8141-6091DDD71E8F}"/>
              </a:ext>
            </a:extLst>
          </p:cNvPr>
          <p:cNvSpPr txBox="1"/>
          <p:nvPr/>
        </p:nvSpPr>
        <p:spPr>
          <a:xfrm>
            <a:off x="481817" y="930345"/>
            <a:ext cx="3581400" cy="769441"/>
          </a:xfrm>
          <a:prstGeom prst="rect">
            <a:avLst/>
          </a:prstGeom>
          <a:noFill/>
        </p:spPr>
        <p:txBody>
          <a:bodyPr wrap="square" rtlCol="0">
            <a:spAutoFit/>
          </a:bodyPr>
          <a:lstStyle/>
          <a:p>
            <a:pPr algn="ctr"/>
            <a:r>
              <a:rPr lang="en-US" sz="2200" dirty="0"/>
              <a:t>we initialize it by setting </a:t>
            </a:r>
            <a:r>
              <a:rPr lang="en-US" sz="2200" b="1" dirty="0">
                <a:latin typeface="Consolas" panose="020B0609020204030204" pitchFamily="49" charset="0"/>
                <a:cs typeface="Consolas" panose="020B0609020204030204" pitchFamily="49" charset="0"/>
              </a:rPr>
              <a:t>x</a:t>
            </a:r>
            <a:r>
              <a:rPr lang="en-US" sz="2200" dirty="0"/>
              <a:t> to </a:t>
            </a:r>
            <a:r>
              <a:rPr lang="en-US" sz="2200" b="1" dirty="0">
                <a:latin typeface="Consolas" panose="020B0609020204030204" pitchFamily="49" charset="0"/>
                <a:cs typeface="Consolas" panose="020B0609020204030204" pitchFamily="49" charset="0"/>
              </a:rPr>
              <a:t>DEAD</a:t>
            </a:r>
            <a:r>
              <a:rPr lang="en-US" sz="2200" dirty="0"/>
              <a:t> everywhere.</a:t>
            </a:r>
            <a:endParaRPr lang="en-US" sz="2200" b="1" dirty="0"/>
          </a:p>
        </p:txBody>
      </p:sp>
      <p:sp>
        <p:nvSpPr>
          <p:cNvPr id="14" name="Arc 13">
            <a:extLst>
              <a:ext uri="{FF2B5EF4-FFF2-40B4-BE49-F238E27FC236}">
                <a16:creationId xmlns:a16="http://schemas.microsoft.com/office/drawing/2014/main" id="{E3B28351-F4C9-624D-A68F-2B395245DB14}"/>
              </a:ext>
            </a:extLst>
          </p:cNvPr>
          <p:cNvSpPr/>
          <p:nvPr/>
        </p:nvSpPr>
        <p:spPr>
          <a:xfrm flipH="1">
            <a:off x="1622321" y="4118609"/>
            <a:ext cx="381001" cy="400110"/>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756D9038-21BE-2D45-9DBC-696354435AB9}"/>
              </a:ext>
            </a:extLst>
          </p:cNvPr>
          <p:cNvSpPr txBox="1"/>
          <p:nvPr/>
        </p:nvSpPr>
        <p:spPr>
          <a:xfrm>
            <a:off x="4257404" y="990602"/>
            <a:ext cx="4087763" cy="769441"/>
          </a:xfrm>
          <a:prstGeom prst="rect">
            <a:avLst/>
          </a:prstGeom>
          <a:noFill/>
        </p:spPr>
        <p:txBody>
          <a:bodyPr wrap="square" rtlCol="0">
            <a:spAutoFit/>
          </a:bodyPr>
          <a:lstStyle/>
          <a:p>
            <a:pPr algn="ctr"/>
            <a:r>
              <a:rPr lang="en-US" sz="2200" dirty="0"/>
              <a:t>then we run the transfer function on each instruction.</a:t>
            </a:r>
            <a:endParaRPr lang="en-US" sz="2200" b="1" dirty="0"/>
          </a:p>
        </p:txBody>
      </p:sp>
      <p:sp>
        <p:nvSpPr>
          <p:cNvPr id="16" name="Arc 15">
            <a:extLst>
              <a:ext uri="{FF2B5EF4-FFF2-40B4-BE49-F238E27FC236}">
                <a16:creationId xmlns:a16="http://schemas.microsoft.com/office/drawing/2014/main" id="{F17D7FAB-362C-0148-A935-5DBF2B59B71A}"/>
              </a:ext>
            </a:extLst>
          </p:cNvPr>
          <p:cNvSpPr/>
          <p:nvPr/>
        </p:nvSpPr>
        <p:spPr>
          <a:xfrm flipH="1">
            <a:off x="1616178" y="3574293"/>
            <a:ext cx="381001" cy="400110"/>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EE159750-7553-134C-A84B-01ADB2DA23BC}"/>
              </a:ext>
            </a:extLst>
          </p:cNvPr>
          <p:cNvSpPr txBox="1"/>
          <p:nvPr/>
        </p:nvSpPr>
        <p:spPr>
          <a:xfrm>
            <a:off x="927477" y="3281698"/>
            <a:ext cx="748923" cy="400110"/>
          </a:xfrm>
          <a:prstGeom prst="rect">
            <a:avLst/>
          </a:prstGeom>
          <a:noFill/>
        </p:spPr>
        <p:txBody>
          <a:bodyPr wrap="none" rtlCol="0">
            <a:spAutoFit/>
          </a:bodyPr>
          <a:lstStyle/>
          <a:p>
            <a:r>
              <a:rPr lang="en-US" sz="2000" i="1" dirty="0">
                <a:solidFill>
                  <a:srgbClr val="00B050"/>
                </a:solidFill>
                <a:latin typeface="Consolas" panose="020B0609020204030204" pitchFamily="49" charset="0"/>
                <a:cs typeface="Consolas" panose="020B0609020204030204" pitchFamily="49" charset="0"/>
              </a:rPr>
              <a:t>LIVE</a:t>
            </a:r>
          </a:p>
        </p:txBody>
      </p:sp>
      <p:sp>
        <p:nvSpPr>
          <p:cNvPr id="19" name="TextBox 18">
            <a:extLst>
              <a:ext uri="{FF2B5EF4-FFF2-40B4-BE49-F238E27FC236}">
                <a16:creationId xmlns:a16="http://schemas.microsoft.com/office/drawing/2014/main" id="{22E1CDDB-70A1-5F4C-9078-DBF45ADA511A}"/>
              </a:ext>
            </a:extLst>
          </p:cNvPr>
          <p:cNvSpPr txBox="1"/>
          <p:nvPr/>
        </p:nvSpPr>
        <p:spPr>
          <a:xfrm>
            <a:off x="927477" y="2703252"/>
            <a:ext cx="748923" cy="400110"/>
          </a:xfrm>
          <a:prstGeom prst="rect">
            <a:avLst/>
          </a:prstGeom>
          <a:noFill/>
        </p:spPr>
        <p:txBody>
          <a:bodyPr wrap="none" rtlCol="0">
            <a:spAutoFit/>
          </a:bodyPr>
          <a:lstStyle/>
          <a:p>
            <a:r>
              <a:rPr lang="en-US" sz="2000" i="1" dirty="0">
                <a:solidFill>
                  <a:srgbClr val="00B050"/>
                </a:solidFill>
                <a:latin typeface="Consolas" panose="020B0609020204030204" pitchFamily="49" charset="0"/>
                <a:cs typeface="Consolas" panose="020B0609020204030204" pitchFamily="49" charset="0"/>
              </a:rPr>
              <a:t>LIVE</a:t>
            </a:r>
          </a:p>
        </p:txBody>
      </p:sp>
      <p:sp>
        <p:nvSpPr>
          <p:cNvPr id="20" name="Arc 19">
            <a:extLst>
              <a:ext uri="{FF2B5EF4-FFF2-40B4-BE49-F238E27FC236}">
                <a16:creationId xmlns:a16="http://schemas.microsoft.com/office/drawing/2014/main" id="{F3F318C6-4366-6C46-85F9-1014CFEC2EFD}"/>
              </a:ext>
            </a:extLst>
          </p:cNvPr>
          <p:cNvSpPr/>
          <p:nvPr/>
        </p:nvSpPr>
        <p:spPr>
          <a:xfrm flipH="1">
            <a:off x="1616177" y="2975410"/>
            <a:ext cx="381001" cy="400110"/>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9D60C0C2-432E-AA4E-8C61-A9B563969E03}"/>
              </a:ext>
            </a:extLst>
          </p:cNvPr>
          <p:cNvSpPr/>
          <p:nvPr/>
        </p:nvSpPr>
        <p:spPr>
          <a:xfrm flipH="1">
            <a:off x="1616176" y="2376527"/>
            <a:ext cx="381001" cy="400110"/>
          </a:xfrm>
          <a:prstGeom prst="arc">
            <a:avLst>
              <a:gd name="adj1" fmla="val 16200000"/>
              <a:gd name="adj2" fmla="val 5439158"/>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9B683266-A08B-2648-94D0-2E675E70D2CF}"/>
              </a:ext>
            </a:extLst>
          </p:cNvPr>
          <p:cNvSpPr txBox="1"/>
          <p:nvPr/>
        </p:nvSpPr>
        <p:spPr>
          <a:xfrm>
            <a:off x="2781300" y="3524071"/>
            <a:ext cx="1677631" cy="430887"/>
          </a:xfrm>
          <a:prstGeom prst="rect">
            <a:avLst/>
          </a:prstGeom>
          <a:noFill/>
        </p:spPr>
        <p:txBody>
          <a:bodyPr wrap="square" rtlCol="0">
            <a:spAutoFit/>
          </a:bodyPr>
          <a:lstStyle/>
          <a:p>
            <a:pPr algn="ctr"/>
            <a:r>
              <a:rPr lang="en-US" sz="2200" dirty="0"/>
              <a:t>uses </a:t>
            </a:r>
            <a:r>
              <a:rPr lang="en-US" sz="2200" b="1" dirty="0">
                <a:latin typeface="Consolas" panose="020B0609020204030204" pitchFamily="49" charset="0"/>
                <a:cs typeface="Consolas" panose="020B0609020204030204" pitchFamily="49" charset="0"/>
              </a:rPr>
              <a:t>x</a:t>
            </a:r>
            <a:r>
              <a:rPr lang="en-US" sz="2200" dirty="0"/>
              <a:t>…</a:t>
            </a:r>
            <a:endParaRPr lang="en-US" sz="2200" b="1" dirty="0"/>
          </a:p>
        </p:txBody>
      </p:sp>
      <p:sp>
        <p:nvSpPr>
          <p:cNvPr id="24" name="TextBox 23">
            <a:extLst>
              <a:ext uri="{FF2B5EF4-FFF2-40B4-BE49-F238E27FC236}">
                <a16:creationId xmlns:a16="http://schemas.microsoft.com/office/drawing/2014/main" id="{EA506171-9803-EB4D-AC0A-B63F674ABEAE}"/>
              </a:ext>
            </a:extLst>
          </p:cNvPr>
          <p:cNvSpPr txBox="1"/>
          <p:nvPr/>
        </p:nvSpPr>
        <p:spPr>
          <a:xfrm>
            <a:off x="3418588" y="2903307"/>
            <a:ext cx="1677631" cy="430887"/>
          </a:xfrm>
          <a:prstGeom prst="rect">
            <a:avLst/>
          </a:prstGeom>
          <a:noFill/>
        </p:spPr>
        <p:txBody>
          <a:bodyPr wrap="square" rtlCol="0">
            <a:spAutoFit/>
          </a:bodyPr>
          <a:lstStyle/>
          <a:p>
            <a:pPr algn="ctr"/>
            <a:r>
              <a:rPr lang="en-US" sz="2200" dirty="0"/>
              <a:t>uses </a:t>
            </a:r>
            <a:r>
              <a:rPr lang="en-US" sz="2200" b="1" dirty="0">
                <a:latin typeface="Consolas" panose="020B0609020204030204" pitchFamily="49" charset="0"/>
                <a:cs typeface="Consolas" panose="020B0609020204030204" pitchFamily="49" charset="0"/>
              </a:rPr>
              <a:t>x</a:t>
            </a:r>
            <a:r>
              <a:rPr lang="en-US" sz="2200" dirty="0"/>
              <a:t>…</a:t>
            </a:r>
            <a:endParaRPr lang="en-US" sz="2200" b="1" dirty="0"/>
          </a:p>
        </p:txBody>
      </p:sp>
      <p:sp>
        <p:nvSpPr>
          <p:cNvPr id="25" name="TextBox 24">
            <a:extLst>
              <a:ext uri="{FF2B5EF4-FFF2-40B4-BE49-F238E27FC236}">
                <a16:creationId xmlns:a16="http://schemas.microsoft.com/office/drawing/2014/main" id="{FE564E5C-1872-5C41-B63F-2BDAE19E6889}"/>
              </a:ext>
            </a:extLst>
          </p:cNvPr>
          <p:cNvSpPr txBox="1"/>
          <p:nvPr/>
        </p:nvSpPr>
        <p:spPr>
          <a:xfrm>
            <a:off x="3418587" y="2361138"/>
            <a:ext cx="1677631" cy="430887"/>
          </a:xfrm>
          <a:prstGeom prst="rect">
            <a:avLst/>
          </a:prstGeom>
          <a:noFill/>
        </p:spPr>
        <p:txBody>
          <a:bodyPr wrap="square" rtlCol="0">
            <a:spAutoFit/>
          </a:bodyPr>
          <a:lstStyle/>
          <a:p>
            <a:pPr algn="ctr"/>
            <a:r>
              <a:rPr lang="en-US" sz="2200" dirty="0" err="1"/>
              <a:t>defs</a:t>
            </a:r>
            <a:r>
              <a:rPr lang="en-US" sz="2200" dirty="0"/>
              <a:t> </a:t>
            </a:r>
            <a:r>
              <a:rPr lang="en-US" sz="2200" b="1" dirty="0">
                <a:latin typeface="Consolas" panose="020B0609020204030204" pitchFamily="49" charset="0"/>
                <a:cs typeface="Consolas" panose="020B0609020204030204" pitchFamily="49" charset="0"/>
              </a:rPr>
              <a:t>x</a:t>
            </a:r>
            <a:r>
              <a:rPr lang="en-US" sz="2200" dirty="0"/>
              <a:t>…</a:t>
            </a:r>
            <a:endParaRPr lang="en-US" sz="2200" b="1" dirty="0"/>
          </a:p>
        </p:txBody>
      </p:sp>
      <p:sp>
        <p:nvSpPr>
          <p:cNvPr id="26" name="TextBox 25">
            <a:extLst>
              <a:ext uri="{FF2B5EF4-FFF2-40B4-BE49-F238E27FC236}">
                <a16:creationId xmlns:a16="http://schemas.microsoft.com/office/drawing/2014/main" id="{696324BD-74F2-8846-B96B-3AEA37A3F789}"/>
              </a:ext>
            </a:extLst>
          </p:cNvPr>
          <p:cNvSpPr txBox="1"/>
          <p:nvPr/>
        </p:nvSpPr>
        <p:spPr>
          <a:xfrm>
            <a:off x="2761635" y="4130297"/>
            <a:ext cx="2334583" cy="430887"/>
          </a:xfrm>
          <a:prstGeom prst="rect">
            <a:avLst/>
          </a:prstGeom>
          <a:noFill/>
        </p:spPr>
        <p:txBody>
          <a:bodyPr wrap="square" rtlCol="0">
            <a:spAutoFit/>
          </a:bodyPr>
          <a:lstStyle/>
          <a:p>
            <a:pPr algn="ctr"/>
            <a:r>
              <a:rPr lang="en-US" sz="2200" dirty="0"/>
              <a:t>doesn't touch </a:t>
            </a:r>
            <a:r>
              <a:rPr lang="en-US" sz="2200" b="1" dirty="0">
                <a:latin typeface="Consolas" panose="020B0609020204030204" pitchFamily="49" charset="0"/>
                <a:cs typeface="Consolas" panose="020B0609020204030204" pitchFamily="49" charset="0"/>
              </a:rPr>
              <a:t>x</a:t>
            </a:r>
            <a:r>
              <a:rPr lang="en-US" sz="2200" dirty="0"/>
              <a:t>…</a:t>
            </a:r>
            <a:endParaRPr lang="en-US" sz="2200" b="1" dirty="0"/>
          </a:p>
        </p:txBody>
      </p:sp>
      <p:sp>
        <p:nvSpPr>
          <p:cNvPr id="27" name="TextBox 26">
            <a:extLst>
              <a:ext uri="{FF2B5EF4-FFF2-40B4-BE49-F238E27FC236}">
                <a16:creationId xmlns:a16="http://schemas.microsoft.com/office/drawing/2014/main" id="{EBCA28CB-6B1D-504C-A4C9-3A515FF95832}"/>
              </a:ext>
            </a:extLst>
          </p:cNvPr>
          <p:cNvSpPr txBox="1"/>
          <p:nvPr/>
        </p:nvSpPr>
        <p:spPr>
          <a:xfrm>
            <a:off x="5334000" y="2039899"/>
            <a:ext cx="3249563" cy="430887"/>
          </a:xfrm>
          <a:prstGeom prst="rect">
            <a:avLst/>
          </a:prstGeom>
          <a:noFill/>
        </p:spPr>
        <p:txBody>
          <a:bodyPr wrap="square" rtlCol="0">
            <a:spAutoFit/>
          </a:bodyPr>
          <a:lstStyle/>
          <a:p>
            <a:pPr algn="ctr"/>
            <a:r>
              <a:rPr lang="en-US" sz="2200" dirty="0"/>
              <a:t>and there we go!</a:t>
            </a:r>
            <a:endParaRPr lang="en-US" sz="2200" b="1" dirty="0"/>
          </a:p>
        </p:txBody>
      </p:sp>
      <p:sp>
        <p:nvSpPr>
          <p:cNvPr id="28" name="TextBox 27">
            <a:extLst>
              <a:ext uri="{FF2B5EF4-FFF2-40B4-BE49-F238E27FC236}">
                <a16:creationId xmlns:a16="http://schemas.microsoft.com/office/drawing/2014/main" id="{C73BAE66-8405-0D4F-AD95-F5CD5E721717}"/>
              </a:ext>
            </a:extLst>
          </p:cNvPr>
          <p:cNvSpPr txBox="1"/>
          <p:nvPr/>
        </p:nvSpPr>
        <p:spPr>
          <a:xfrm>
            <a:off x="5334000" y="2768026"/>
            <a:ext cx="3467100" cy="1785104"/>
          </a:xfrm>
          <a:prstGeom prst="rect">
            <a:avLst/>
          </a:prstGeom>
          <a:noFill/>
        </p:spPr>
        <p:txBody>
          <a:bodyPr wrap="square" rtlCol="0">
            <a:spAutoFit/>
          </a:bodyPr>
          <a:lstStyle/>
          <a:p>
            <a:pPr algn="ctr"/>
            <a:r>
              <a:rPr lang="en-US" sz="2200" dirty="0"/>
              <a:t>notice how on the last step (the </a:t>
            </a:r>
            <a:r>
              <a:rPr lang="en-US" sz="2200" i="1" dirty="0"/>
              <a:t>first</a:t>
            </a:r>
            <a:r>
              <a:rPr lang="en-US" sz="2200" dirty="0"/>
              <a:t> instruction), </a:t>
            </a:r>
            <a:r>
              <a:rPr lang="en-US" sz="2200" b="1" dirty="0">
                <a:latin typeface="Consolas" panose="020B0609020204030204" pitchFamily="49" charset="0"/>
                <a:cs typeface="Consolas" panose="020B0609020204030204" pitchFamily="49" charset="0"/>
              </a:rPr>
              <a:t>x</a:t>
            </a:r>
            <a:r>
              <a:rPr lang="en-US" sz="2200" dirty="0"/>
              <a:t> was marked dead before it, so </a:t>
            </a:r>
            <a:r>
              <a:rPr lang="en-US" sz="2200" b="1" dirty="0"/>
              <a:t>we didn't have to change that state.</a:t>
            </a:r>
          </a:p>
        </p:txBody>
      </p:sp>
      <p:sp>
        <p:nvSpPr>
          <p:cNvPr id="29" name="TextBox 28">
            <a:extLst>
              <a:ext uri="{FF2B5EF4-FFF2-40B4-BE49-F238E27FC236}">
                <a16:creationId xmlns:a16="http://schemas.microsoft.com/office/drawing/2014/main" id="{826EDAED-6180-EA43-8F5F-E689A1BA4996}"/>
              </a:ext>
            </a:extLst>
          </p:cNvPr>
          <p:cNvSpPr txBox="1"/>
          <p:nvPr/>
        </p:nvSpPr>
        <p:spPr>
          <a:xfrm>
            <a:off x="5225231" y="4707620"/>
            <a:ext cx="3467100" cy="430887"/>
          </a:xfrm>
          <a:prstGeom prst="rect">
            <a:avLst/>
          </a:prstGeom>
          <a:noFill/>
        </p:spPr>
        <p:txBody>
          <a:bodyPr wrap="square" rtlCol="0">
            <a:spAutoFit/>
          </a:bodyPr>
          <a:lstStyle/>
          <a:p>
            <a:pPr algn="ctr"/>
            <a:r>
              <a:rPr lang="en-US" sz="2200" dirty="0"/>
              <a:t>and? why's that matter?</a:t>
            </a:r>
            <a:endParaRPr lang="en-US" sz="2200" b="1" dirty="0"/>
          </a:p>
        </p:txBody>
      </p:sp>
    </p:spTree>
    <p:extLst>
      <p:ext uri="{BB962C8B-B14F-4D97-AF65-F5344CB8AC3E}">
        <p14:creationId xmlns:p14="http://schemas.microsoft.com/office/powerpoint/2010/main" val="20517776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xit" presetSubtype="0" fill="hold" grpId="1" nodeType="withEffect">
                                  <p:stCondLst>
                                    <p:cond delay="0"/>
                                  </p:stCondLst>
                                  <p:childTnLst>
                                    <p:set>
                                      <p:cBhvr>
                                        <p:cTn id="60" dur="1" fill="hold">
                                          <p:stCondLst>
                                            <p:cond delay="0"/>
                                          </p:stCondLst>
                                        </p:cTn>
                                        <p:tgtEl>
                                          <p:spTgt spid="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8" grpId="1"/>
      <p:bldP spid="9" grpId="0"/>
      <p:bldP spid="9" grpId="1"/>
      <p:bldP spid="10" grpId="0"/>
      <p:bldP spid="11" grpId="0"/>
      <p:bldP spid="12" grpId="0"/>
      <p:bldP spid="13" grpId="0"/>
      <p:bldP spid="14" grpId="0" animBg="1"/>
      <p:bldP spid="15" grpId="0"/>
      <p:bldP spid="16" grpId="0" animBg="1"/>
      <p:bldP spid="17" grpId="0"/>
      <p:bldP spid="19" grpId="0"/>
      <p:bldP spid="20" grpId="0" animBg="1"/>
      <p:bldP spid="21" grpId="0" animBg="1"/>
      <p:bldP spid="22" grpId="0"/>
      <p:bldP spid="24" grpId="0"/>
      <p:bldP spid="25" grpId="0"/>
      <p:bldP spid="26" grpId="0"/>
      <p:bldP spid="27" grpId="0"/>
      <p:bldP spid="28"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174B-AB40-1346-818C-23910F79C108}"/>
              </a:ext>
            </a:extLst>
          </p:cNvPr>
          <p:cNvSpPr>
            <a:spLocks noGrp="1"/>
          </p:cNvSpPr>
          <p:nvPr>
            <p:ph type="title"/>
          </p:nvPr>
        </p:nvSpPr>
        <p:spPr/>
        <p:txBody>
          <a:bodyPr/>
          <a:lstStyle/>
          <a:p>
            <a:r>
              <a:rPr lang="en-US" dirty="0"/>
              <a:t>It matters for termination</a:t>
            </a:r>
          </a:p>
        </p:txBody>
      </p:sp>
      <p:sp>
        <p:nvSpPr>
          <p:cNvPr id="3" name="Content Placeholder 2">
            <a:extLst>
              <a:ext uri="{FF2B5EF4-FFF2-40B4-BE49-F238E27FC236}">
                <a16:creationId xmlns:a16="http://schemas.microsoft.com/office/drawing/2014/main" id="{C9366378-4353-0A40-80A8-A75B004A6202}"/>
              </a:ext>
            </a:extLst>
          </p:cNvPr>
          <p:cNvSpPr>
            <a:spLocks noGrp="1"/>
          </p:cNvSpPr>
          <p:nvPr>
            <p:ph idx="1"/>
          </p:nvPr>
        </p:nvSpPr>
        <p:spPr/>
        <p:txBody>
          <a:bodyPr/>
          <a:lstStyle/>
          <a:p>
            <a:r>
              <a:rPr lang="en-US" dirty="0"/>
              <a:t>we have a finite number of states (2)…</a:t>
            </a:r>
          </a:p>
          <a:p>
            <a:r>
              <a:rPr lang="en-US" i="1" dirty="0"/>
              <a:t>and</a:t>
            </a:r>
            <a:r>
              <a:rPr lang="en-US" dirty="0"/>
              <a:t> the states only change </a:t>
            </a:r>
            <a:r>
              <a:rPr lang="en-US" b="1" dirty="0"/>
              <a:t>monotonically:</a:t>
            </a:r>
          </a:p>
          <a:p>
            <a:pPr lvl="1"/>
            <a:r>
              <a:rPr lang="en-US" dirty="0"/>
              <a:t>every location </a:t>
            </a:r>
            <a:r>
              <a:rPr lang="en-US" b="1" dirty="0"/>
              <a:t>starts</a:t>
            </a:r>
            <a:r>
              <a:rPr lang="en-US" dirty="0"/>
              <a:t> as </a:t>
            </a:r>
            <a:r>
              <a:rPr lang="en-US" b="1" dirty="0">
                <a:latin typeface="Consolas" panose="020B0609020204030204" pitchFamily="49" charset="0"/>
                <a:cs typeface="Consolas" panose="020B0609020204030204" pitchFamily="49" charset="0"/>
              </a:rPr>
              <a:t>DEAD</a:t>
            </a:r>
            <a:r>
              <a:rPr lang="en-US" dirty="0"/>
              <a:t>.</a:t>
            </a:r>
          </a:p>
          <a:p>
            <a:pPr lvl="1"/>
            <a:r>
              <a:rPr lang="en-US" dirty="0"/>
              <a:t>a location's </a:t>
            </a:r>
            <a:r>
              <a:rPr lang="en-US" b="1" dirty="0">
                <a:latin typeface="Consolas" panose="020B0609020204030204" pitchFamily="49" charset="0"/>
                <a:cs typeface="Consolas" panose="020B0609020204030204" pitchFamily="49" charset="0"/>
              </a:rPr>
              <a:t>DEAD</a:t>
            </a:r>
            <a:r>
              <a:rPr lang="en-US" b="1" dirty="0"/>
              <a:t> </a:t>
            </a:r>
            <a:r>
              <a:rPr lang="en-US" dirty="0"/>
              <a:t>can become </a:t>
            </a:r>
            <a:r>
              <a:rPr lang="en-US" b="1" dirty="0">
                <a:latin typeface="Consolas" panose="020B0609020204030204" pitchFamily="49" charset="0"/>
                <a:cs typeface="Consolas" panose="020B0609020204030204" pitchFamily="49" charset="0"/>
              </a:rPr>
              <a:t>LIVE</a:t>
            </a:r>
            <a:r>
              <a:rPr lang="en-US" b="1" dirty="0"/>
              <a:t>, </a:t>
            </a:r>
            <a:r>
              <a:rPr lang="en-US" dirty="0"/>
              <a:t>but not the other way around.</a:t>
            </a:r>
          </a:p>
          <a:p>
            <a:pPr lvl="1"/>
            <a:r>
              <a:rPr lang="en-US" dirty="0"/>
              <a:t>"changing" </a:t>
            </a:r>
            <a:r>
              <a:rPr lang="en-US" b="1" dirty="0">
                <a:latin typeface="Consolas" panose="020B0609020204030204" pitchFamily="49" charset="0"/>
                <a:cs typeface="Consolas" panose="020B0609020204030204" pitchFamily="49" charset="0"/>
              </a:rPr>
              <a:t>DEAD</a:t>
            </a:r>
            <a:r>
              <a:rPr lang="en-US" b="1" dirty="0"/>
              <a:t> </a:t>
            </a:r>
            <a:r>
              <a:rPr lang="en-US" dirty="0"/>
              <a:t>to </a:t>
            </a:r>
            <a:r>
              <a:rPr lang="en-US" b="1" dirty="0">
                <a:latin typeface="Consolas" panose="020B0609020204030204" pitchFamily="49" charset="0"/>
                <a:cs typeface="Consolas" panose="020B0609020204030204" pitchFamily="49" charset="0"/>
              </a:rPr>
              <a:t>DEAD</a:t>
            </a:r>
            <a:r>
              <a:rPr lang="en-US" dirty="0"/>
              <a:t> like in that last step is not breaking the rule, because you're not changing anything!</a:t>
            </a:r>
          </a:p>
          <a:p>
            <a:r>
              <a:rPr lang="en-US" dirty="0"/>
              <a:t>so we've satisfied the conditions for termination!</a:t>
            </a:r>
          </a:p>
          <a:p>
            <a:pPr lvl="1"/>
            <a:r>
              <a:rPr lang="en-US" dirty="0"/>
              <a:t>let's try it on some more complex functions to convince ourselves.</a:t>
            </a:r>
          </a:p>
        </p:txBody>
      </p:sp>
      <p:sp>
        <p:nvSpPr>
          <p:cNvPr id="4" name="Slide Number Placeholder 3">
            <a:extLst>
              <a:ext uri="{FF2B5EF4-FFF2-40B4-BE49-F238E27FC236}">
                <a16:creationId xmlns:a16="http://schemas.microsoft.com/office/drawing/2014/main" id="{C3F0C405-7E21-574D-A482-002A1610CE11}"/>
              </a:ext>
            </a:extLst>
          </p:cNvPr>
          <p:cNvSpPr>
            <a:spLocks noGrp="1"/>
          </p:cNvSpPr>
          <p:nvPr>
            <p:ph type="sldNum" sz="quarter" idx="12"/>
          </p:nvPr>
        </p:nvSpPr>
        <p:spPr/>
        <p:txBody>
          <a:bodyPr/>
          <a:lstStyle/>
          <a:p>
            <a:fld id="{3552B95B-556F-44BD-91A5-D80C1B9E2BB3}" type="slidenum">
              <a:rPr lang="en-US" smtClean="0"/>
              <a:pPr/>
              <a:t>8</a:t>
            </a:fld>
            <a:endParaRPr lang="en-US"/>
          </a:p>
        </p:txBody>
      </p:sp>
    </p:spTree>
    <p:extLst>
      <p:ext uri="{BB962C8B-B14F-4D97-AF65-F5344CB8AC3E}">
        <p14:creationId xmlns:p14="http://schemas.microsoft.com/office/powerpoint/2010/main" val="278675747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9A9BE-7689-704A-A694-69DFCE56D1F9}"/>
              </a:ext>
            </a:extLst>
          </p:cNvPr>
          <p:cNvSpPr>
            <a:spLocks noGrp="1"/>
          </p:cNvSpPr>
          <p:nvPr>
            <p:ph type="title"/>
          </p:nvPr>
        </p:nvSpPr>
        <p:spPr/>
        <p:txBody>
          <a:bodyPr/>
          <a:lstStyle/>
          <a:p>
            <a:r>
              <a:rPr lang="en-US" dirty="0"/>
              <a:t>One with a diamond </a:t>
            </a:r>
            <a:r>
              <a:rPr lang="en-US" sz="2000" dirty="0"/>
              <a:t>(animated)</a:t>
            </a:r>
            <a:endParaRPr lang="en-US" dirty="0"/>
          </a:p>
        </p:txBody>
      </p:sp>
      <p:sp>
        <p:nvSpPr>
          <p:cNvPr id="3" name="Content Placeholder 2">
            <a:extLst>
              <a:ext uri="{FF2B5EF4-FFF2-40B4-BE49-F238E27FC236}">
                <a16:creationId xmlns:a16="http://schemas.microsoft.com/office/drawing/2014/main" id="{4718E256-631C-374B-BA72-029573C6588E}"/>
              </a:ext>
            </a:extLst>
          </p:cNvPr>
          <p:cNvSpPr>
            <a:spLocks noGrp="1"/>
          </p:cNvSpPr>
          <p:nvPr>
            <p:ph idx="1"/>
          </p:nvPr>
        </p:nvSpPr>
        <p:spPr>
          <a:xfrm>
            <a:off x="152400" y="495301"/>
            <a:ext cx="8991600" cy="501915"/>
          </a:xfrm>
        </p:spPr>
        <p:txBody>
          <a:bodyPr/>
          <a:lstStyle/>
          <a:p>
            <a:r>
              <a:rPr lang="en-US" dirty="0"/>
              <a:t>a diamond shape will force us to visit some nodes twice.</a:t>
            </a:r>
          </a:p>
        </p:txBody>
      </p:sp>
      <p:sp>
        <p:nvSpPr>
          <p:cNvPr id="4" name="Slide Number Placeholder 3">
            <a:extLst>
              <a:ext uri="{FF2B5EF4-FFF2-40B4-BE49-F238E27FC236}">
                <a16:creationId xmlns:a16="http://schemas.microsoft.com/office/drawing/2014/main" id="{E49A838E-B555-BE49-BF6A-1230E2D6ABA2}"/>
              </a:ext>
            </a:extLst>
          </p:cNvPr>
          <p:cNvSpPr>
            <a:spLocks noGrp="1"/>
          </p:cNvSpPr>
          <p:nvPr>
            <p:ph type="sldNum" sz="quarter" idx="12"/>
          </p:nvPr>
        </p:nvSpPr>
        <p:spPr/>
        <p:txBody>
          <a:bodyPr/>
          <a:lstStyle/>
          <a:p>
            <a:fld id="{3552B95B-556F-44BD-91A5-D80C1B9E2BB3}" type="slidenum">
              <a:rPr lang="en-US" smtClean="0"/>
              <a:pPr/>
              <a:t>9</a:t>
            </a:fld>
            <a:endParaRPr lang="en-US"/>
          </a:p>
        </p:txBody>
      </p:sp>
      <p:grpSp>
        <p:nvGrpSpPr>
          <p:cNvPr id="58" name="Group 57">
            <a:extLst>
              <a:ext uri="{FF2B5EF4-FFF2-40B4-BE49-F238E27FC236}">
                <a16:creationId xmlns:a16="http://schemas.microsoft.com/office/drawing/2014/main" id="{7F39B526-B954-EE41-AE66-E0EE9F3A240A}"/>
              </a:ext>
            </a:extLst>
          </p:cNvPr>
          <p:cNvGrpSpPr/>
          <p:nvPr/>
        </p:nvGrpSpPr>
        <p:grpSpPr>
          <a:xfrm>
            <a:off x="1947389" y="997217"/>
            <a:ext cx="5054344" cy="4486934"/>
            <a:chOff x="1947389" y="997217"/>
            <a:chExt cx="5054344" cy="4486934"/>
          </a:xfrm>
        </p:grpSpPr>
        <p:sp>
          <p:nvSpPr>
            <p:cNvPr id="15" name="TextBox 14">
              <a:extLst>
                <a:ext uri="{FF2B5EF4-FFF2-40B4-BE49-F238E27FC236}">
                  <a16:creationId xmlns:a16="http://schemas.microsoft.com/office/drawing/2014/main" id="{0F16B575-01A1-944F-B161-DB2172D790FE}"/>
                </a:ext>
              </a:extLst>
            </p:cNvPr>
            <p:cNvSpPr txBox="1"/>
            <p:nvPr/>
          </p:nvSpPr>
          <p:spPr>
            <a:xfrm>
              <a:off x="2934955" y="997217"/>
              <a:ext cx="2316660" cy="1323439"/>
            </a:xfrm>
            <a:prstGeom prst="rect">
              <a:avLst/>
            </a:prstGeom>
            <a:solidFill>
              <a:schemeClr val="accent6">
                <a:lumMod val="40000"/>
                <a:lumOff val="60000"/>
              </a:schemeClr>
            </a:solidFill>
          </p:spPr>
          <p:txBody>
            <a:bodyPr wrap="none" rtlCol="0">
              <a:spAutoFit/>
            </a:bodyPr>
            <a:lstStyle/>
            <a:p>
              <a:endParaRPr lang="en-US" sz="1600" b="1" dirty="0">
                <a:latin typeface="Consolas" panose="020B0609020204030204" pitchFamily="49" charset="0"/>
                <a:cs typeface="Consolas" panose="020B0609020204030204" pitchFamily="49" charset="0"/>
              </a:endParaRPr>
            </a:p>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endParaRPr lang="en-US" sz="1600" b="1" dirty="0">
                <a:solidFill>
                  <a:schemeClr val="accent3">
                    <a:lumMod val="75000"/>
                  </a:schemeClr>
                </a:solidFill>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arg</a:t>
              </a:r>
              <a:r>
                <a:rPr lang="en-US" sz="1600" b="1" dirty="0">
                  <a:latin typeface="Consolas" panose="020B0609020204030204" pitchFamily="49" charset="0"/>
                  <a:cs typeface="Consolas" panose="020B0609020204030204" pitchFamily="49" charset="0"/>
                </a:rPr>
                <a:t> bb1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bb2</a:t>
              </a:r>
            </a:p>
            <a:p>
              <a:endParaRPr lang="en-US" sz="1600" b="1"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FDA9CCE0-663E-F44F-B6A5-EC8803C941DF}"/>
                </a:ext>
              </a:extLst>
            </p:cNvPr>
            <p:cNvSpPr txBox="1"/>
            <p:nvPr/>
          </p:nvSpPr>
          <p:spPr>
            <a:xfrm>
              <a:off x="3886200" y="4653154"/>
              <a:ext cx="857927" cy="830997"/>
            </a:xfrm>
            <a:prstGeom prst="rect">
              <a:avLst/>
            </a:prstGeom>
            <a:solidFill>
              <a:schemeClr val="accent2">
                <a:lumMod val="40000"/>
                <a:lumOff val="60000"/>
              </a:schemeClr>
            </a:solidFill>
          </p:spPr>
          <p:txBody>
            <a:bodyPr wrap="none" rtlCol="0">
              <a:spAutoFit/>
            </a:bodyPr>
            <a:lstStyle/>
            <a:p>
              <a:endParaRPr lang="en-US" sz="1600" b="1" dirty="0">
                <a:solidFill>
                  <a:srgbClr val="FF0000"/>
                </a:solidFill>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return</a:t>
              </a:r>
            </a:p>
            <a:p>
              <a:endParaRPr lang="en-US" sz="1600" b="1" dirty="0">
                <a:solidFill>
                  <a:srgbClr val="FF0000"/>
                </a:solidFill>
                <a:latin typeface="Consolas" panose="020B0609020204030204" pitchFamily="49" charset="0"/>
                <a:cs typeface="Consolas" panose="020B0609020204030204" pitchFamily="49" charset="0"/>
              </a:endParaRPr>
            </a:p>
          </p:txBody>
        </p:sp>
        <p:cxnSp>
          <p:nvCxnSpPr>
            <p:cNvPr id="9" name="Straight Arrow Connector 8">
              <a:extLst>
                <a:ext uri="{FF2B5EF4-FFF2-40B4-BE49-F238E27FC236}">
                  <a16:creationId xmlns:a16="http://schemas.microsoft.com/office/drawing/2014/main" id="{B8915BF4-3FFA-B044-BAA9-44315426EB4E}"/>
                </a:ext>
              </a:extLst>
            </p:cNvPr>
            <p:cNvCxnSpPr>
              <a:cxnSpLocks/>
              <a:endCxn id="16" idx="0"/>
            </p:cNvCxnSpPr>
            <p:nvPr/>
          </p:nvCxnSpPr>
          <p:spPr>
            <a:xfrm flipH="1">
              <a:off x="3196648" y="2320656"/>
              <a:ext cx="689552" cy="66907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86A5256-0DED-5B4C-8CBB-6CA6D56CBAA8}"/>
                </a:ext>
              </a:extLst>
            </p:cNvPr>
            <p:cNvCxnSpPr>
              <a:cxnSpLocks/>
            </p:cNvCxnSpPr>
            <p:nvPr/>
          </p:nvCxnSpPr>
          <p:spPr>
            <a:xfrm>
              <a:off x="5029200" y="2320656"/>
              <a:ext cx="304800" cy="4409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087A367-4D01-4B4A-B7AC-5A74E248C632}"/>
                </a:ext>
              </a:extLst>
            </p:cNvPr>
            <p:cNvCxnSpPr>
              <a:cxnSpLocks/>
            </p:cNvCxnSpPr>
            <p:nvPr/>
          </p:nvCxnSpPr>
          <p:spPr>
            <a:xfrm>
              <a:off x="3429000" y="3820723"/>
              <a:ext cx="716460" cy="8324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6C621CF-3E98-AB4C-AC78-D5EB4F5F548E}"/>
                </a:ext>
              </a:extLst>
            </p:cNvPr>
            <p:cNvSpPr txBox="1"/>
            <p:nvPr/>
          </p:nvSpPr>
          <p:spPr>
            <a:xfrm>
              <a:off x="1947389" y="2989726"/>
              <a:ext cx="2498517" cy="830997"/>
            </a:xfrm>
            <a:prstGeom prst="rect">
              <a:avLst/>
            </a:prstGeom>
            <a:solidFill>
              <a:schemeClr val="accent1">
                <a:lumMod val="40000"/>
                <a:lumOff val="60000"/>
              </a:schemeClr>
            </a:solidFill>
          </p:spPr>
          <p:txBody>
            <a:bodyPr wrap="square" rtlCol="0">
              <a:spAutoFit/>
            </a:bodyPr>
            <a:lstStyle/>
            <a:p>
              <a:endParaRPr lang="en-US" sz="1600" b="1" dirty="0">
                <a:latin typeface="Consolas" panose="020B0609020204030204" pitchFamily="49" charset="0"/>
                <a:cs typeface="Consolas" panose="020B0609020204030204" pitchFamily="49" charset="0"/>
              </a:endParaRPr>
            </a:p>
            <a:p>
              <a:r>
                <a:rPr lang="en-US" sz="1600" b="1" dirty="0" err="1">
                  <a:latin typeface="Consolas" panose="020B0609020204030204" pitchFamily="49" charset="0"/>
                  <a:cs typeface="Consolas" panose="020B0609020204030204" pitchFamily="49" charset="0"/>
                </a:rPr>
                <a:t>println_s</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"argh!"</a:t>
              </a:r>
              <a:r>
                <a:rPr lang="en-US" sz="1600" b="1" dirty="0">
                  <a:latin typeface="Consolas" panose="020B0609020204030204" pitchFamily="49" charset="0"/>
                  <a:cs typeface="Consolas" panose="020B0609020204030204" pitchFamily="49" charset="0"/>
                </a:rPr>
                <a:t>)</a:t>
              </a:r>
            </a:p>
            <a:p>
              <a:endParaRPr lang="en-US" sz="1600" b="1" dirty="0">
                <a:solidFill>
                  <a:schemeClr val="accent3">
                    <a:lumMod val="75000"/>
                  </a:schemeClr>
                </a:solidFill>
                <a:latin typeface="Consolas" panose="020B0609020204030204" pitchFamily="49" charset="0"/>
                <a:cs typeface="Consolas" panose="020B0609020204030204" pitchFamily="49" charset="0"/>
              </a:endParaRPr>
            </a:p>
          </p:txBody>
        </p:sp>
        <p:sp>
          <p:nvSpPr>
            <p:cNvPr id="21" name="TextBox 20">
              <a:extLst>
                <a:ext uri="{FF2B5EF4-FFF2-40B4-BE49-F238E27FC236}">
                  <a16:creationId xmlns:a16="http://schemas.microsoft.com/office/drawing/2014/main" id="{D38EC49F-66C1-3342-BFBE-C3774CF231A1}"/>
                </a:ext>
              </a:extLst>
            </p:cNvPr>
            <p:cNvSpPr txBox="1"/>
            <p:nvPr/>
          </p:nvSpPr>
          <p:spPr>
            <a:xfrm>
              <a:off x="4685073" y="2761591"/>
              <a:ext cx="2316660" cy="1323439"/>
            </a:xfrm>
            <a:prstGeom prst="rect">
              <a:avLst/>
            </a:prstGeom>
            <a:solidFill>
              <a:schemeClr val="accent1">
                <a:lumMod val="40000"/>
                <a:lumOff val="60000"/>
              </a:schemeClr>
            </a:solidFill>
          </p:spPr>
          <p:txBody>
            <a:bodyPr wrap="square" rtlCol="0">
              <a:spAutoFit/>
            </a:bodyPr>
            <a:lstStyle/>
            <a:p>
              <a:endParaRPr lang="en-US" sz="1600" b="1" dirty="0">
                <a:latin typeface="Consolas" panose="020B0609020204030204" pitchFamily="49" charset="0"/>
                <a:cs typeface="Consolas" panose="020B0609020204030204" pitchFamily="49" charset="0"/>
              </a:endParaRPr>
            </a:p>
            <a:p>
              <a:r>
                <a:rPr lang="en-US" sz="1600" b="1" dirty="0" err="1">
                  <a:latin typeface="Consolas" panose="020B0609020204030204" pitchFamily="49" charset="0"/>
                  <a:cs typeface="Consolas" panose="020B0609020204030204" pitchFamily="49" charset="0"/>
                </a:rPr>
                <a:t>print_s</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"x = "</a:t>
              </a:r>
              <a:r>
                <a:rPr lang="en-US" sz="1600" b="1" dirty="0">
                  <a:latin typeface="Consolas" panose="020B0609020204030204" pitchFamily="49" charset="0"/>
                  <a:cs typeface="Consolas" panose="020B0609020204030204" pitchFamily="49" charset="0"/>
                </a:rPr>
                <a:t>)</a:t>
              </a:r>
            </a:p>
            <a:p>
              <a:endParaRPr lang="en-US" sz="1600" b="1" dirty="0">
                <a:latin typeface="Consolas" panose="020B0609020204030204" pitchFamily="49" charset="0"/>
                <a:cs typeface="Consolas" panose="020B0609020204030204" pitchFamily="49" charset="0"/>
              </a:endParaRPr>
            </a:p>
            <a:p>
              <a:r>
                <a:rPr lang="en-US" sz="1600" b="1" dirty="0" err="1">
                  <a:latin typeface="Consolas" panose="020B0609020204030204" pitchFamily="49" charset="0"/>
                  <a:cs typeface="Consolas" panose="020B0609020204030204" pitchFamily="49" charset="0"/>
                </a:rPr>
                <a:t>println_i</a:t>
              </a:r>
              <a:r>
                <a:rPr lang="en-US" sz="1600" b="1" dirty="0">
                  <a:latin typeface="Consolas" panose="020B0609020204030204" pitchFamily="49" charset="0"/>
                  <a:cs typeface="Consolas" panose="020B0609020204030204" pitchFamily="49" charset="0"/>
                </a:rPr>
                <a:t>(x)</a:t>
              </a:r>
            </a:p>
            <a:p>
              <a:endParaRPr lang="en-US" sz="1600" b="1" dirty="0">
                <a:latin typeface="Consolas" panose="020B0609020204030204" pitchFamily="49" charset="0"/>
                <a:cs typeface="Consolas" panose="020B0609020204030204" pitchFamily="49" charset="0"/>
              </a:endParaRPr>
            </a:p>
          </p:txBody>
        </p:sp>
        <p:cxnSp>
          <p:nvCxnSpPr>
            <p:cNvPr id="29" name="Straight Arrow Connector 28">
              <a:extLst>
                <a:ext uri="{FF2B5EF4-FFF2-40B4-BE49-F238E27FC236}">
                  <a16:creationId xmlns:a16="http://schemas.microsoft.com/office/drawing/2014/main" id="{71FF51BD-0203-A24B-89D7-5505EEF1B450}"/>
                </a:ext>
              </a:extLst>
            </p:cNvPr>
            <p:cNvCxnSpPr>
              <a:cxnSpLocks/>
            </p:cNvCxnSpPr>
            <p:nvPr/>
          </p:nvCxnSpPr>
          <p:spPr>
            <a:xfrm flipH="1">
              <a:off x="4445906" y="4085030"/>
              <a:ext cx="1428194" cy="5681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4AE87C85-44D7-2F43-8B3B-771F32B73A16}"/>
              </a:ext>
            </a:extLst>
          </p:cNvPr>
          <p:cNvSpPr txBox="1"/>
          <p:nvPr/>
        </p:nvSpPr>
        <p:spPr>
          <a:xfrm>
            <a:off x="4685321" y="3243391"/>
            <a:ext cx="691215" cy="369332"/>
          </a:xfrm>
          <a:prstGeom prst="rect">
            <a:avLst/>
          </a:prstGeom>
          <a:noFill/>
        </p:spPr>
        <p:txBody>
          <a:bodyPr wrap="none" rtlCol="0">
            <a:spAutoFit/>
          </a:bodyPr>
          <a:lstStyle/>
          <a:p>
            <a:r>
              <a:rPr lang="en-US" sz="1800" i="1" dirty="0">
                <a:solidFill>
                  <a:srgbClr val="00B050"/>
                </a:solidFill>
                <a:latin typeface="Consolas" panose="020B0609020204030204" pitchFamily="49" charset="0"/>
                <a:cs typeface="Consolas" panose="020B0609020204030204" pitchFamily="49" charset="0"/>
              </a:rPr>
              <a:t>LIVE</a:t>
            </a:r>
          </a:p>
        </p:txBody>
      </p:sp>
      <p:sp>
        <p:nvSpPr>
          <p:cNvPr id="38" name="TextBox 37">
            <a:extLst>
              <a:ext uri="{FF2B5EF4-FFF2-40B4-BE49-F238E27FC236}">
                <a16:creationId xmlns:a16="http://schemas.microsoft.com/office/drawing/2014/main" id="{E4EEC174-B496-1148-A9F8-98D65EA65D4E}"/>
              </a:ext>
            </a:extLst>
          </p:cNvPr>
          <p:cNvSpPr txBox="1"/>
          <p:nvPr/>
        </p:nvSpPr>
        <p:spPr>
          <a:xfrm>
            <a:off x="3896032" y="5096905"/>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0" name="TextBox 39">
            <a:extLst>
              <a:ext uri="{FF2B5EF4-FFF2-40B4-BE49-F238E27FC236}">
                <a16:creationId xmlns:a16="http://schemas.microsoft.com/office/drawing/2014/main" id="{6CB1AE8E-5F57-7F44-8425-751E3F986861}"/>
              </a:ext>
            </a:extLst>
          </p:cNvPr>
          <p:cNvSpPr txBox="1"/>
          <p:nvPr/>
        </p:nvSpPr>
        <p:spPr>
          <a:xfrm>
            <a:off x="3896032" y="4648564"/>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1" name="TextBox 40">
            <a:extLst>
              <a:ext uri="{FF2B5EF4-FFF2-40B4-BE49-F238E27FC236}">
                <a16:creationId xmlns:a16="http://schemas.microsoft.com/office/drawing/2014/main" id="{631B6156-4EF8-9944-9855-585A2CFA3A86}"/>
              </a:ext>
            </a:extLst>
          </p:cNvPr>
          <p:cNvSpPr txBox="1"/>
          <p:nvPr/>
        </p:nvSpPr>
        <p:spPr>
          <a:xfrm>
            <a:off x="4683592" y="3730797"/>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2" name="TextBox 41">
            <a:extLst>
              <a:ext uri="{FF2B5EF4-FFF2-40B4-BE49-F238E27FC236}">
                <a16:creationId xmlns:a16="http://schemas.microsoft.com/office/drawing/2014/main" id="{6852FFF5-47FD-2348-B31F-C4588E37E140}"/>
              </a:ext>
            </a:extLst>
          </p:cNvPr>
          <p:cNvSpPr txBox="1"/>
          <p:nvPr/>
        </p:nvSpPr>
        <p:spPr>
          <a:xfrm>
            <a:off x="4683592" y="3245686"/>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3" name="TextBox 42">
            <a:extLst>
              <a:ext uri="{FF2B5EF4-FFF2-40B4-BE49-F238E27FC236}">
                <a16:creationId xmlns:a16="http://schemas.microsoft.com/office/drawing/2014/main" id="{54DE0734-F0EE-DF48-B7B9-68C00FD93A7E}"/>
              </a:ext>
            </a:extLst>
          </p:cNvPr>
          <p:cNvSpPr txBox="1"/>
          <p:nvPr/>
        </p:nvSpPr>
        <p:spPr>
          <a:xfrm>
            <a:off x="4683592" y="2760575"/>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4" name="TextBox 43">
            <a:extLst>
              <a:ext uri="{FF2B5EF4-FFF2-40B4-BE49-F238E27FC236}">
                <a16:creationId xmlns:a16="http://schemas.microsoft.com/office/drawing/2014/main" id="{85743220-0CBA-7D42-8EE7-BC2A920A0E9F}"/>
              </a:ext>
            </a:extLst>
          </p:cNvPr>
          <p:cNvSpPr txBox="1"/>
          <p:nvPr/>
        </p:nvSpPr>
        <p:spPr>
          <a:xfrm>
            <a:off x="1947389" y="3451391"/>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6" name="TextBox 45">
            <a:extLst>
              <a:ext uri="{FF2B5EF4-FFF2-40B4-BE49-F238E27FC236}">
                <a16:creationId xmlns:a16="http://schemas.microsoft.com/office/drawing/2014/main" id="{3B767403-EA6F-1847-9AE0-3F110052FD97}"/>
              </a:ext>
            </a:extLst>
          </p:cNvPr>
          <p:cNvSpPr txBox="1"/>
          <p:nvPr/>
        </p:nvSpPr>
        <p:spPr>
          <a:xfrm>
            <a:off x="1947389" y="2996305"/>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7" name="TextBox 46">
            <a:extLst>
              <a:ext uri="{FF2B5EF4-FFF2-40B4-BE49-F238E27FC236}">
                <a16:creationId xmlns:a16="http://schemas.microsoft.com/office/drawing/2014/main" id="{19276872-37BF-6B4A-B8A8-8A1282CBDBEE}"/>
              </a:ext>
            </a:extLst>
          </p:cNvPr>
          <p:cNvSpPr txBox="1"/>
          <p:nvPr/>
        </p:nvSpPr>
        <p:spPr>
          <a:xfrm>
            <a:off x="2939068" y="1949029"/>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8" name="TextBox 47">
            <a:extLst>
              <a:ext uri="{FF2B5EF4-FFF2-40B4-BE49-F238E27FC236}">
                <a16:creationId xmlns:a16="http://schemas.microsoft.com/office/drawing/2014/main" id="{2A327404-219A-5A4C-AE99-A337832789AF}"/>
              </a:ext>
            </a:extLst>
          </p:cNvPr>
          <p:cNvSpPr txBox="1"/>
          <p:nvPr/>
        </p:nvSpPr>
        <p:spPr>
          <a:xfrm>
            <a:off x="2939068" y="1474270"/>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49" name="TextBox 48">
            <a:extLst>
              <a:ext uri="{FF2B5EF4-FFF2-40B4-BE49-F238E27FC236}">
                <a16:creationId xmlns:a16="http://schemas.microsoft.com/office/drawing/2014/main" id="{EEE7ADC2-0517-1149-96C4-53BCCAC7BC4D}"/>
              </a:ext>
            </a:extLst>
          </p:cNvPr>
          <p:cNvSpPr txBox="1"/>
          <p:nvPr/>
        </p:nvSpPr>
        <p:spPr>
          <a:xfrm>
            <a:off x="2939068" y="999511"/>
            <a:ext cx="691215" cy="369332"/>
          </a:xfrm>
          <a:prstGeom prst="rect">
            <a:avLst/>
          </a:prstGeom>
          <a:noFill/>
        </p:spPr>
        <p:txBody>
          <a:bodyPr wrap="none" rtlCol="0">
            <a:spAutoFit/>
          </a:bodyPr>
          <a:lstStyle/>
          <a:p>
            <a:r>
              <a:rPr lang="en-US" sz="1800" i="1" dirty="0">
                <a:solidFill>
                  <a:srgbClr val="FF0000"/>
                </a:solidFill>
                <a:latin typeface="Consolas" panose="020B0609020204030204" pitchFamily="49" charset="0"/>
                <a:cs typeface="Consolas" panose="020B0609020204030204" pitchFamily="49" charset="0"/>
              </a:rPr>
              <a:t>DEAD</a:t>
            </a:r>
          </a:p>
        </p:txBody>
      </p:sp>
      <p:sp>
        <p:nvSpPr>
          <p:cNvPr id="50" name="TextBox 49">
            <a:extLst>
              <a:ext uri="{FF2B5EF4-FFF2-40B4-BE49-F238E27FC236}">
                <a16:creationId xmlns:a16="http://schemas.microsoft.com/office/drawing/2014/main" id="{5F0330E0-6258-5F46-955E-1D7E8D845081}"/>
              </a:ext>
            </a:extLst>
          </p:cNvPr>
          <p:cNvSpPr txBox="1"/>
          <p:nvPr/>
        </p:nvSpPr>
        <p:spPr>
          <a:xfrm>
            <a:off x="1529457" y="4715489"/>
            <a:ext cx="2100826" cy="769441"/>
          </a:xfrm>
          <a:prstGeom prst="rect">
            <a:avLst/>
          </a:prstGeom>
          <a:noFill/>
        </p:spPr>
        <p:txBody>
          <a:bodyPr wrap="square" rtlCol="0">
            <a:spAutoFit/>
          </a:bodyPr>
          <a:lstStyle/>
          <a:p>
            <a:pPr algn="ctr"/>
            <a:r>
              <a:rPr lang="en-US" sz="2200" dirty="0"/>
              <a:t>we </a:t>
            </a:r>
            <a:r>
              <a:rPr lang="en-US" sz="2200" b="1" dirty="0"/>
              <a:t>start</a:t>
            </a:r>
            <a:r>
              <a:rPr lang="en-US" sz="2200" dirty="0"/>
              <a:t> at the </a:t>
            </a:r>
            <a:r>
              <a:rPr lang="en-US" sz="2200" b="1" dirty="0">
                <a:solidFill>
                  <a:srgbClr val="FF0000"/>
                </a:solidFill>
                <a:latin typeface="Consolas" panose="020B0609020204030204" pitchFamily="49" charset="0"/>
                <a:cs typeface="Consolas" panose="020B0609020204030204" pitchFamily="49" charset="0"/>
              </a:rPr>
              <a:t>return</a:t>
            </a:r>
            <a:r>
              <a:rPr lang="en-US" sz="2200" dirty="0"/>
              <a:t> node.</a:t>
            </a:r>
          </a:p>
        </p:txBody>
      </p:sp>
      <p:sp>
        <p:nvSpPr>
          <p:cNvPr id="52" name="TextBox 51">
            <a:extLst>
              <a:ext uri="{FF2B5EF4-FFF2-40B4-BE49-F238E27FC236}">
                <a16:creationId xmlns:a16="http://schemas.microsoft.com/office/drawing/2014/main" id="{7EB8908A-0214-4C4F-A02F-722D0007EA03}"/>
              </a:ext>
            </a:extLst>
          </p:cNvPr>
          <p:cNvSpPr txBox="1"/>
          <p:nvPr/>
        </p:nvSpPr>
        <p:spPr>
          <a:xfrm>
            <a:off x="1548330" y="4044959"/>
            <a:ext cx="2100826" cy="430887"/>
          </a:xfrm>
          <a:prstGeom prst="rect">
            <a:avLst/>
          </a:prstGeom>
          <a:noFill/>
        </p:spPr>
        <p:txBody>
          <a:bodyPr wrap="square" rtlCol="0">
            <a:spAutoFit/>
          </a:bodyPr>
          <a:lstStyle/>
          <a:p>
            <a:pPr algn="ctr"/>
            <a:r>
              <a:rPr lang="en-US" sz="2200" dirty="0"/>
              <a:t>let's go left..</a:t>
            </a:r>
          </a:p>
        </p:txBody>
      </p:sp>
      <p:sp>
        <p:nvSpPr>
          <p:cNvPr id="53" name="TextBox 52">
            <a:extLst>
              <a:ext uri="{FF2B5EF4-FFF2-40B4-BE49-F238E27FC236}">
                <a16:creationId xmlns:a16="http://schemas.microsoft.com/office/drawing/2014/main" id="{22803CD5-AEC8-214D-84A2-2630E36BE4AB}"/>
              </a:ext>
            </a:extLst>
          </p:cNvPr>
          <p:cNvSpPr txBox="1"/>
          <p:nvPr/>
        </p:nvSpPr>
        <p:spPr>
          <a:xfrm>
            <a:off x="569043" y="2112815"/>
            <a:ext cx="2586798" cy="769441"/>
          </a:xfrm>
          <a:prstGeom prst="rect">
            <a:avLst/>
          </a:prstGeom>
          <a:noFill/>
        </p:spPr>
        <p:txBody>
          <a:bodyPr wrap="square" rtlCol="0">
            <a:spAutoFit/>
          </a:bodyPr>
          <a:lstStyle/>
          <a:p>
            <a:pPr algn="ctr"/>
            <a:r>
              <a:rPr lang="en-US" sz="2200" dirty="0"/>
              <a:t>join </a:t>
            </a:r>
            <a:r>
              <a:rPr lang="en-US" sz="2200" b="1" dirty="0">
                <a:latin typeface="Consolas" panose="020B0609020204030204" pitchFamily="49" charset="0"/>
                <a:cs typeface="Consolas" panose="020B0609020204030204" pitchFamily="49" charset="0"/>
              </a:rPr>
              <a:t>DEAD</a:t>
            </a:r>
            <a:r>
              <a:rPr lang="en-US" sz="2200" dirty="0"/>
              <a:t> with </a:t>
            </a:r>
            <a:r>
              <a:rPr lang="en-US" sz="2200" b="1" dirty="0">
                <a:latin typeface="Consolas" panose="020B0609020204030204" pitchFamily="49" charset="0"/>
                <a:cs typeface="Consolas" panose="020B0609020204030204" pitchFamily="49" charset="0"/>
              </a:rPr>
              <a:t>DEAD</a:t>
            </a:r>
            <a:r>
              <a:rPr lang="en-US" sz="2200" dirty="0"/>
              <a:t>, get </a:t>
            </a:r>
            <a:r>
              <a:rPr lang="en-US" sz="2200" b="1" dirty="0">
                <a:latin typeface="Consolas" panose="020B0609020204030204" pitchFamily="49" charset="0"/>
                <a:cs typeface="Consolas" panose="020B0609020204030204" pitchFamily="49" charset="0"/>
              </a:rPr>
              <a:t>DEAD</a:t>
            </a:r>
            <a:r>
              <a:rPr lang="en-US" sz="2200" dirty="0"/>
              <a:t>.</a:t>
            </a:r>
          </a:p>
        </p:txBody>
      </p:sp>
      <p:sp>
        <p:nvSpPr>
          <p:cNvPr id="54" name="TextBox 53">
            <a:extLst>
              <a:ext uri="{FF2B5EF4-FFF2-40B4-BE49-F238E27FC236}">
                <a16:creationId xmlns:a16="http://schemas.microsoft.com/office/drawing/2014/main" id="{58F5EFA1-F728-9747-BB2E-70877C6DC9B7}"/>
              </a:ext>
            </a:extLst>
          </p:cNvPr>
          <p:cNvSpPr txBox="1"/>
          <p:nvPr/>
        </p:nvSpPr>
        <p:spPr>
          <a:xfrm>
            <a:off x="678413" y="1069476"/>
            <a:ext cx="2174157" cy="769441"/>
          </a:xfrm>
          <a:prstGeom prst="rect">
            <a:avLst/>
          </a:prstGeom>
          <a:noFill/>
        </p:spPr>
        <p:txBody>
          <a:bodyPr wrap="square" rtlCol="0">
            <a:spAutoFit/>
          </a:bodyPr>
          <a:lstStyle/>
          <a:p>
            <a:pPr algn="ctr"/>
            <a:r>
              <a:rPr lang="en-US" sz="2200" dirty="0"/>
              <a:t>just a def here, no change.</a:t>
            </a:r>
          </a:p>
        </p:txBody>
      </p:sp>
      <p:sp>
        <p:nvSpPr>
          <p:cNvPr id="55" name="TextBox 54">
            <a:extLst>
              <a:ext uri="{FF2B5EF4-FFF2-40B4-BE49-F238E27FC236}">
                <a16:creationId xmlns:a16="http://schemas.microsoft.com/office/drawing/2014/main" id="{F580149D-666B-324F-A327-9A203BB99BAD}"/>
              </a:ext>
            </a:extLst>
          </p:cNvPr>
          <p:cNvSpPr txBox="1"/>
          <p:nvPr/>
        </p:nvSpPr>
        <p:spPr>
          <a:xfrm>
            <a:off x="5240656" y="4256874"/>
            <a:ext cx="2100826" cy="769441"/>
          </a:xfrm>
          <a:prstGeom prst="rect">
            <a:avLst/>
          </a:prstGeom>
          <a:noFill/>
        </p:spPr>
        <p:txBody>
          <a:bodyPr wrap="square" rtlCol="0">
            <a:spAutoFit/>
          </a:bodyPr>
          <a:lstStyle/>
          <a:p>
            <a:pPr algn="ctr"/>
            <a:r>
              <a:rPr lang="en-US" sz="2200" dirty="0"/>
              <a:t>wait, we have this other path.</a:t>
            </a:r>
          </a:p>
        </p:txBody>
      </p:sp>
      <p:sp>
        <p:nvSpPr>
          <p:cNvPr id="57" name="TextBox 56">
            <a:extLst>
              <a:ext uri="{FF2B5EF4-FFF2-40B4-BE49-F238E27FC236}">
                <a16:creationId xmlns:a16="http://schemas.microsoft.com/office/drawing/2014/main" id="{E1ECF51E-0B06-CF49-B5B6-3B026D1E6471}"/>
              </a:ext>
            </a:extLst>
          </p:cNvPr>
          <p:cNvSpPr txBox="1"/>
          <p:nvPr/>
        </p:nvSpPr>
        <p:spPr>
          <a:xfrm>
            <a:off x="7001733" y="3389836"/>
            <a:ext cx="2100826" cy="430887"/>
          </a:xfrm>
          <a:prstGeom prst="rect">
            <a:avLst/>
          </a:prstGeom>
          <a:noFill/>
        </p:spPr>
        <p:txBody>
          <a:bodyPr wrap="square" rtlCol="0">
            <a:spAutoFit/>
          </a:bodyPr>
          <a:lstStyle/>
          <a:p>
            <a:pPr algn="ctr"/>
            <a:r>
              <a:rPr lang="en-US" sz="2200" dirty="0"/>
              <a:t>ooh, a use!</a:t>
            </a:r>
          </a:p>
        </p:txBody>
      </p:sp>
      <p:sp>
        <p:nvSpPr>
          <p:cNvPr id="59" name="TextBox 58">
            <a:extLst>
              <a:ext uri="{FF2B5EF4-FFF2-40B4-BE49-F238E27FC236}">
                <a16:creationId xmlns:a16="http://schemas.microsoft.com/office/drawing/2014/main" id="{D371DC1E-1679-C24A-A6EB-960F4C2691DB}"/>
              </a:ext>
            </a:extLst>
          </p:cNvPr>
          <p:cNvSpPr txBox="1"/>
          <p:nvPr/>
        </p:nvSpPr>
        <p:spPr>
          <a:xfrm>
            <a:off x="4683592" y="2755987"/>
            <a:ext cx="691215" cy="369332"/>
          </a:xfrm>
          <a:prstGeom prst="rect">
            <a:avLst/>
          </a:prstGeom>
          <a:noFill/>
        </p:spPr>
        <p:txBody>
          <a:bodyPr wrap="none" rtlCol="0">
            <a:spAutoFit/>
          </a:bodyPr>
          <a:lstStyle/>
          <a:p>
            <a:r>
              <a:rPr lang="en-US" sz="1800" i="1" dirty="0">
                <a:solidFill>
                  <a:srgbClr val="00B050"/>
                </a:solidFill>
                <a:latin typeface="Consolas" panose="020B0609020204030204" pitchFamily="49" charset="0"/>
                <a:cs typeface="Consolas" panose="020B0609020204030204" pitchFamily="49" charset="0"/>
              </a:rPr>
              <a:t>LIVE</a:t>
            </a:r>
          </a:p>
        </p:txBody>
      </p:sp>
      <p:sp>
        <p:nvSpPr>
          <p:cNvPr id="60" name="TextBox 59">
            <a:extLst>
              <a:ext uri="{FF2B5EF4-FFF2-40B4-BE49-F238E27FC236}">
                <a16:creationId xmlns:a16="http://schemas.microsoft.com/office/drawing/2014/main" id="{09295533-093C-D443-B86A-19E5710260DC}"/>
              </a:ext>
            </a:extLst>
          </p:cNvPr>
          <p:cNvSpPr txBox="1"/>
          <p:nvPr/>
        </p:nvSpPr>
        <p:spPr>
          <a:xfrm>
            <a:off x="5447372" y="2008491"/>
            <a:ext cx="2586798" cy="769441"/>
          </a:xfrm>
          <a:prstGeom prst="rect">
            <a:avLst/>
          </a:prstGeom>
          <a:noFill/>
        </p:spPr>
        <p:txBody>
          <a:bodyPr wrap="square" rtlCol="0">
            <a:spAutoFit/>
          </a:bodyPr>
          <a:lstStyle/>
          <a:p>
            <a:pPr algn="ctr"/>
            <a:r>
              <a:rPr lang="en-US" sz="2200" dirty="0"/>
              <a:t>join </a:t>
            </a:r>
            <a:r>
              <a:rPr lang="en-US" sz="2200" b="1" dirty="0">
                <a:latin typeface="Consolas" panose="020B0609020204030204" pitchFamily="49" charset="0"/>
                <a:cs typeface="Consolas" panose="020B0609020204030204" pitchFamily="49" charset="0"/>
              </a:rPr>
              <a:t>DEAD</a:t>
            </a:r>
            <a:r>
              <a:rPr lang="en-US" sz="2200" dirty="0"/>
              <a:t> with </a:t>
            </a:r>
            <a:r>
              <a:rPr lang="en-US" sz="2200" b="1" dirty="0">
                <a:latin typeface="Consolas" panose="020B0609020204030204" pitchFamily="49" charset="0"/>
                <a:cs typeface="Consolas" panose="020B0609020204030204" pitchFamily="49" charset="0"/>
              </a:rPr>
              <a:t>LIVE</a:t>
            </a:r>
            <a:r>
              <a:rPr lang="en-US" sz="2200" dirty="0"/>
              <a:t>, get </a:t>
            </a:r>
            <a:r>
              <a:rPr lang="en-US" sz="2200" b="1" dirty="0">
                <a:latin typeface="Consolas" panose="020B0609020204030204" pitchFamily="49" charset="0"/>
                <a:cs typeface="Consolas" panose="020B0609020204030204" pitchFamily="49" charset="0"/>
              </a:rPr>
              <a:t>LIVE</a:t>
            </a:r>
            <a:r>
              <a:rPr lang="en-US" sz="2200" dirty="0"/>
              <a:t>!</a:t>
            </a:r>
          </a:p>
        </p:txBody>
      </p:sp>
      <p:sp>
        <p:nvSpPr>
          <p:cNvPr id="61" name="TextBox 60">
            <a:extLst>
              <a:ext uri="{FF2B5EF4-FFF2-40B4-BE49-F238E27FC236}">
                <a16:creationId xmlns:a16="http://schemas.microsoft.com/office/drawing/2014/main" id="{C0A707B7-9AC4-A042-B1EB-A11CB2568B6D}"/>
              </a:ext>
            </a:extLst>
          </p:cNvPr>
          <p:cNvSpPr txBox="1"/>
          <p:nvPr/>
        </p:nvSpPr>
        <p:spPr>
          <a:xfrm>
            <a:off x="2940797" y="1961674"/>
            <a:ext cx="691215" cy="369332"/>
          </a:xfrm>
          <a:prstGeom prst="rect">
            <a:avLst/>
          </a:prstGeom>
          <a:noFill/>
        </p:spPr>
        <p:txBody>
          <a:bodyPr wrap="none" rtlCol="0">
            <a:spAutoFit/>
          </a:bodyPr>
          <a:lstStyle/>
          <a:p>
            <a:r>
              <a:rPr lang="en-US" sz="1800" i="1" dirty="0">
                <a:solidFill>
                  <a:srgbClr val="00B050"/>
                </a:solidFill>
                <a:latin typeface="Consolas" panose="020B0609020204030204" pitchFamily="49" charset="0"/>
                <a:cs typeface="Consolas" panose="020B0609020204030204" pitchFamily="49" charset="0"/>
              </a:rPr>
              <a:t>LIVE</a:t>
            </a:r>
          </a:p>
        </p:txBody>
      </p:sp>
      <p:sp>
        <p:nvSpPr>
          <p:cNvPr id="62" name="TextBox 61">
            <a:extLst>
              <a:ext uri="{FF2B5EF4-FFF2-40B4-BE49-F238E27FC236}">
                <a16:creationId xmlns:a16="http://schemas.microsoft.com/office/drawing/2014/main" id="{A43D137E-142B-3A46-9C3C-F0D1A3D1A21A}"/>
              </a:ext>
            </a:extLst>
          </p:cNvPr>
          <p:cNvSpPr txBox="1"/>
          <p:nvPr/>
        </p:nvSpPr>
        <p:spPr>
          <a:xfrm>
            <a:off x="2939068" y="1474270"/>
            <a:ext cx="691215" cy="369332"/>
          </a:xfrm>
          <a:prstGeom prst="rect">
            <a:avLst/>
          </a:prstGeom>
          <a:noFill/>
        </p:spPr>
        <p:txBody>
          <a:bodyPr wrap="none" rtlCol="0">
            <a:spAutoFit/>
          </a:bodyPr>
          <a:lstStyle/>
          <a:p>
            <a:r>
              <a:rPr lang="en-US" sz="1800" i="1" dirty="0">
                <a:solidFill>
                  <a:srgbClr val="00B050"/>
                </a:solidFill>
                <a:latin typeface="Consolas" panose="020B0609020204030204" pitchFamily="49" charset="0"/>
                <a:cs typeface="Consolas" panose="020B0609020204030204" pitchFamily="49" charset="0"/>
              </a:rPr>
              <a:t>LIVE</a:t>
            </a:r>
          </a:p>
        </p:txBody>
      </p:sp>
    </p:spTree>
    <p:extLst>
      <p:ext uri="{BB962C8B-B14F-4D97-AF65-F5344CB8AC3E}">
        <p14:creationId xmlns:p14="http://schemas.microsoft.com/office/powerpoint/2010/main" val="42784221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53"/>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42"/>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4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1"/>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4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2"/>
                                        </p:tgtEl>
                                        <p:attrNameLst>
                                          <p:attrName>style.visibility</p:attrName>
                                        </p:attrNameLst>
                                      </p:cBhvr>
                                      <p:to>
                                        <p:strVal val="visible"/>
                                      </p:to>
                                    </p:set>
                                  </p:childTnLst>
                                </p:cTn>
                              </p:par>
                              <p:par>
                                <p:cTn id="83" presetID="1" presetClass="exit" presetSubtype="0" fill="hold" grpId="1" nodeType="withEffect">
                                  <p:stCondLst>
                                    <p:cond delay="0"/>
                                  </p:stCondLst>
                                  <p:childTnLst>
                                    <p:set>
                                      <p:cBhvr>
                                        <p:cTn id="84" dur="1" fill="hold">
                                          <p:stCondLst>
                                            <p:cond delay="0"/>
                                          </p:stCondLst>
                                        </p:cTn>
                                        <p:tgtEl>
                                          <p:spTgt spid="4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40" grpId="0"/>
      <p:bldP spid="41" grpId="0"/>
      <p:bldP spid="42" grpId="0"/>
      <p:bldP spid="42" grpId="1"/>
      <p:bldP spid="43" grpId="0"/>
      <p:bldP spid="43" grpId="1"/>
      <p:bldP spid="44" grpId="0"/>
      <p:bldP spid="46" grpId="0"/>
      <p:bldP spid="47" grpId="0"/>
      <p:bldP spid="47" grpId="1"/>
      <p:bldP spid="48" grpId="0"/>
      <p:bldP spid="48" grpId="1"/>
      <p:bldP spid="49" grpId="0"/>
      <p:bldP spid="50" grpId="0"/>
      <p:bldP spid="52" grpId="0"/>
      <p:bldP spid="53" grpId="0"/>
      <p:bldP spid="53" grpId="1"/>
      <p:bldP spid="54" grpId="0"/>
      <p:bldP spid="54" grpId="1"/>
      <p:bldP spid="55" grpId="0"/>
      <p:bldP spid="57" grpId="0"/>
      <p:bldP spid="59" grpId="0"/>
      <p:bldP spid="60" grpId="0"/>
      <p:bldP spid="61" grpId="0"/>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A1C91-3F94-B649-A111-E6D85F52E16A}"/>
              </a:ext>
            </a:extLst>
          </p:cNvPr>
          <p:cNvSpPr>
            <a:spLocks noGrp="1"/>
          </p:cNvSpPr>
          <p:nvPr>
            <p:ph type="title"/>
          </p:nvPr>
        </p:nvSpPr>
        <p:spPr/>
        <p:txBody>
          <a:bodyPr/>
          <a:lstStyle/>
          <a:p>
            <a:r>
              <a:rPr lang="en-US" dirty="0"/>
              <a:t>One with a loop </a:t>
            </a:r>
            <a:r>
              <a:rPr lang="en-US" sz="2000" dirty="0"/>
              <a:t>(animated)</a:t>
            </a:r>
            <a:endParaRPr lang="en-US" dirty="0"/>
          </a:p>
        </p:txBody>
      </p:sp>
      <p:sp>
        <p:nvSpPr>
          <p:cNvPr id="3" name="Content Placeholder 2">
            <a:extLst>
              <a:ext uri="{FF2B5EF4-FFF2-40B4-BE49-F238E27FC236}">
                <a16:creationId xmlns:a16="http://schemas.microsoft.com/office/drawing/2014/main" id="{F9821969-07EB-4240-94D0-C432AF0F91F5}"/>
              </a:ext>
            </a:extLst>
          </p:cNvPr>
          <p:cNvSpPr>
            <a:spLocks noGrp="1"/>
          </p:cNvSpPr>
          <p:nvPr>
            <p:ph idx="1"/>
          </p:nvPr>
        </p:nvSpPr>
        <p:spPr>
          <a:xfrm>
            <a:off x="152400" y="495302"/>
            <a:ext cx="8991600" cy="495300"/>
          </a:xfrm>
        </p:spPr>
        <p:txBody>
          <a:bodyPr/>
          <a:lstStyle/>
          <a:p>
            <a:r>
              <a:rPr lang="en-US" dirty="0"/>
              <a:t>this should be interesting…</a:t>
            </a:r>
          </a:p>
        </p:txBody>
      </p:sp>
      <p:sp>
        <p:nvSpPr>
          <p:cNvPr id="4" name="Slide Number Placeholder 3">
            <a:extLst>
              <a:ext uri="{FF2B5EF4-FFF2-40B4-BE49-F238E27FC236}">
                <a16:creationId xmlns:a16="http://schemas.microsoft.com/office/drawing/2014/main" id="{2C3902D5-D5C2-4A47-B21E-3407679039D1}"/>
              </a:ext>
            </a:extLst>
          </p:cNvPr>
          <p:cNvSpPr>
            <a:spLocks noGrp="1"/>
          </p:cNvSpPr>
          <p:nvPr>
            <p:ph type="sldNum" sz="quarter" idx="12"/>
          </p:nvPr>
        </p:nvSpPr>
        <p:spPr/>
        <p:txBody>
          <a:bodyPr/>
          <a:lstStyle/>
          <a:p>
            <a:fld id="{3552B95B-556F-44BD-91A5-D80C1B9E2BB3}" type="slidenum">
              <a:rPr lang="en-US" smtClean="0"/>
              <a:pPr/>
              <a:t>10</a:t>
            </a:fld>
            <a:endParaRPr lang="en-US"/>
          </a:p>
        </p:txBody>
      </p:sp>
      <p:grpSp>
        <p:nvGrpSpPr>
          <p:cNvPr id="49" name="Group 48">
            <a:extLst>
              <a:ext uri="{FF2B5EF4-FFF2-40B4-BE49-F238E27FC236}">
                <a16:creationId xmlns:a16="http://schemas.microsoft.com/office/drawing/2014/main" id="{51472B03-5ECA-D14D-B04A-A4A77F66FA31}"/>
              </a:ext>
            </a:extLst>
          </p:cNvPr>
          <p:cNvGrpSpPr/>
          <p:nvPr/>
        </p:nvGrpSpPr>
        <p:grpSpPr>
          <a:xfrm>
            <a:off x="2088788" y="999442"/>
            <a:ext cx="2730762" cy="3622790"/>
            <a:chOff x="2088788" y="999442"/>
            <a:chExt cx="2730762" cy="3622790"/>
          </a:xfrm>
        </p:grpSpPr>
        <p:sp>
          <p:nvSpPr>
            <p:cNvPr id="6" name="TextBox 5">
              <a:extLst>
                <a:ext uri="{FF2B5EF4-FFF2-40B4-BE49-F238E27FC236}">
                  <a16:creationId xmlns:a16="http://schemas.microsoft.com/office/drawing/2014/main" id="{D52335FC-2573-1641-BDF1-5F160F8A2FFC}"/>
                </a:ext>
              </a:extLst>
            </p:cNvPr>
            <p:cNvSpPr txBox="1"/>
            <p:nvPr/>
          </p:nvSpPr>
          <p:spPr>
            <a:xfrm>
              <a:off x="3849413" y="4037457"/>
              <a:ext cx="970137" cy="584775"/>
            </a:xfrm>
            <a:prstGeom prst="rect">
              <a:avLst/>
            </a:prstGeom>
            <a:solidFill>
              <a:schemeClr val="accent2">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$t0 = </a:t>
              </a:r>
              <a:r>
                <a:rPr lang="en-US" sz="1600" b="1" dirty="0">
                  <a:solidFill>
                    <a:schemeClr val="accent3">
                      <a:lumMod val="75000"/>
                    </a:schemeClr>
                  </a:solidFill>
                  <a:latin typeface="Consolas" panose="020B0609020204030204" pitchFamily="49" charset="0"/>
                  <a:cs typeface="Consolas" panose="020B0609020204030204" pitchFamily="49" charset="0"/>
                </a:rPr>
                <a:t>5</a:t>
              </a:r>
            </a:p>
            <a:p>
              <a:r>
                <a:rPr lang="en-US" sz="1600" b="1" dirty="0">
                  <a:solidFill>
                    <a:srgbClr val="FF0000"/>
                  </a:solidFill>
                  <a:latin typeface="Consolas" panose="020B0609020204030204" pitchFamily="49" charset="0"/>
                  <a:cs typeface="Consolas" panose="020B0609020204030204" pitchFamily="49" charset="0"/>
                </a:rPr>
                <a:t>return</a:t>
              </a:r>
            </a:p>
          </p:txBody>
        </p:sp>
        <p:sp>
          <p:nvSpPr>
            <p:cNvPr id="9" name="TextBox 8">
              <a:extLst>
                <a:ext uri="{FF2B5EF4-FFF2-40B4-BE49-F238E27FC236}">
                  <a16:creationId xmlns:a16="http://schemas.microsoft.com/office/drawing/2014/main" id="{DAFAC00C-407F-5B4A-AE3E-92F1D9B90143}"/>
                </a:ext>
              </a:extLst>
            </p:cNvPr>
            <p:cNvSpPr txBox="1"/>
            <p:nvPr/>
          </p:nvSpPr>
          <p:spPr>
            <a:xfrm>
              <a:off x="2343814" y="2582714"/>
              <a:ext cx="2316660" cy="584775"/>
            </a:xfrm>
            <a:prstGeom prst="rect">
              <a:avLst/>
            </a:prstGeom>
            <a:solidFill>
              <a:schemeClr val="accent6">
                <a:lumMod val="40000"/>
                <a:lumOff val="60000"/>
              </a:schemeClr>
            </a:solidFill>
          </p:spPr>
          <p:txBody>
            <a:bodyPr wrap="none" rtlCol="0">
              <a:spAutoFit/>
            </a:bodyPr>
            <a:lstStyle/>
            <a:p>
              <a:r>
                <a:rPr lang="en-US" sz="1600" b="1" dirty="0">
                  <a:latin typeface="Consolas" panose="020B0609020204030204" pitchFamily="49" charset="0"/>
                  <a:cs typeface="Consolas" panose="020B0609020204030204" pitchFamily="49" charset="0"/>
                </a:rPr>
                <a:t>$t1 = i &lt; </a:t>
              </a:r>
              <a:r>
                <a:rPr lang="en-US" sz="1600" b="1" dirty="0">
                  <a:solidFill>
                    <a:schemeClr val="accent3">
                      <a:lumMod val="75000"/>
                    </a:schemeClr>
                  </a:solidFill>
                  <a:latin typeface="Consolas" panose="020B0609020204030204" pitchFamily="49" charset="0"/>
                  <a:cs typeface="Consolas" panose="020B0609020204030204" pitchFamily="49" charset="0"/>
                </a:rPr>
                <a:t>10</a:t>
              </a:r>
            </a:p>
            <a:p>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$t1 bb2 </a:t>
              </a:r>
              <a:r>
                <a:rPr lang="en-US" sz="1600" b="1" dirty="0">
                  <a:solidFill>
                    <a:srgbClr val="FF0000"/>
                  </a:solidFill>
                  <a:latin typeface="Consolas" panose="020B0609020204030204" pitchFamily="49" charset="0"/>
                  <a:cs typeface="Consolas" panose="020B0609020204030204" pitchFamily="49" charset="0"/>
                </a:rPr>
                <a:t>else</a:t>
              </a:r>
              <a:r>
                <a:rPr lang="en-US" sz="1600" b="1" dirty="0">
                  <a:latin typeface="Consolas" panose="020B0609020204030204" pitchFamily="49" charset="0"/>
                  <a:cs typeface="Consolas" panose="020B0609020204030204" pitchFamily="49" charset="0"/>
                </a:rPr>
                <a:t> bb3</a:t>
              </a:r>
            </a:p>
          </p:txBody>
        </p:sp>
        <p:sp>
          <p:nvSpPr>
            <p:cNvPr id="12" name="TextBox 11">
              <a:extLst>
                <a:ext uri="{FF2B5EF4-FFF2-40B4-BE49-F238E27FC236}">
                  <a16:creationId xmlns:a16="http://schemas.microsoft.com/office/drawing/2014/main" id="{7FE6D532-4B5D-A04A-BEFC-8BD068338123}"/>
                </a:ext>
              </a:extLst>
            </p:cNvPr>
            <p:cNvSpPr txBox="1"/>
            <p:nvPr/>
          </p:nvSpPr>
          <p:spPr>
            <a:xfrm>
              <a:off x="2088789" y="4037457"/>
              <a:ext cx="1624819" cy="584775"/>
            </a:xfrm>
            <a:prstGeom prst="rect">
              <a:avLst/>
            </a:prstGeom>
            <a:solidFill>
              <a:schemeClr val="accent1">
                <a:lumMod val="40000"/>
                <a:lumOff val="60000"/>
              </a:schemeClr>
            </a:solidFill>
          </p:spPr>
          <p:txBody>
            <a:bodyPr wrap="square" rtlCol="0">
              <a:spAutoFit/>
            </a:bodyPr>
            <a:lstStyle/>
            <a:p>
              <a:r>
                <a:rPr lang="en-US" sz="1600" b="1" dirty="0" err="1">
                  <a:latin typeface="Consolas" panose="020B0609020204030204" pitchFamily="49" charset="0"/>
                  <a:cs typeface="Consolas" panose="020B0609020204030204" pitchFamily="49" charset="0"/>
                </a:rPr>
                <a:t>println_i</a:t>
              </a:r>
              <a:r>
                <a:rPr lang="en-US" sz="1600" b="1" dirty="0">
                  <a:latin typeface="Consolas" panose="020B0609020204030204" pitchFamily="49" charset="0"/>
                  <a:cs typeface="Consolas" panose="020B0609020204030204" pitchFamily="49" charset="0"/>
                </a:rPr>
                <a:t>(x)</a:t>
              </a:r>
              <a:endParaRPr lang="en-US" sz="1600" b="1" dirty="0">
                <a:solidFill>
                  <a:schemeClr val="accent3">
                    <a:lumMod val="75000"/>
                  </a:schemeClr>
                </a:solidFill>
                <a:latin typeface="Consolas" panose="020B0609020204030204" pitchFamily="49" charset="0"/>
                <a:cs typeface="Consolas" panose="020B0609020204030204" pitchFamily="49" charset="0"/>
              </a:endParaRPr>
            </a:p>
            <a:p>
              <a:r>
                <a:rPr lang="en-US" sz="1600" b="1" dirty="0">
                  <a:latin typeface="Consolas" panose="020B0609020204030204" pitchFamily="49" charset="0"/>
                  <a:cs typeface="Consolas" panose="020B0609020204030204" pitchFamily="49" charset="0"/>
                </a:rPr>
                <a:t>i = i + </a:t>
              </a:r>
              <a:r>
                <a:rPr lang="en-US" sz="1600" b="1" dirty="0">
                  <a:solidFill>
                    <a:schemeClr val="accent3">
                      <a:lumMod val="75000"/>
                    </a:schemeClr>
                  </a:solidFill>
                  <a:latin typeface="Consolas" panose="020B0609020204030204" pitchFamily="49" charset="0"/>
                  <a:cs typeface="Consolas" panose="020B0609020204030204" pitchFamily="49" charset="0"/>
                </a:rPr>
                <a:t>1</a:t>
              </a:r>
            </a:p>
          </p:txBody>
        </p:sp>
        <p:cxnSp>
          <p:nvCxnSpPr>
            <p:cNvPr id="14" name="Straight Arrow Connector 13">
              <a:extLst>
                <a:ext uri="{FF2B5EF4-FFF2-40B4-BE49-F238E27FC236}">
                  <a16:creationId xmlns:a16="http://schemas.microsoft.com/office/drawing/2014/main" id="{DFAD13EE-998D-FC4D-95DD-F7012AA34096}"/>
                </a:ext>
              </a:extLst>
            </p:cNvPr>
            <p:cNvCxnSpPr>
              <a:cxnSpLocks/>
            </p:cNvCxnSpPr>
            <p:nvPr/>
          </p:nvCxnSpPr>
          <p:spPr>
            <a:xfrm>
              <a:off x="3258214" y="3167228"/>
              <a:ext cx="0" cy="87022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B22B71B-8C4E-9847-84FA-4F0EAA88E496}"/>
                </a:ext>
              </a:extLst>
            </p:cNvPr>
            <p:cNvCxnSpPr>
              <a:cxnSpLocks/>
            </p:cNvCxnSpPr>
            <p:nvPr/>
          </p:nvCxnSpPr>
          <p:spPr>
            <a:xfrm>
              <a:off x="4436053" y="3143614"/>
              <a:ext cx="0" cy="8938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26">
              <a:extLst>
                <a:ext uri="{FF2B5EF4-FFF2-40B4-BE49-F238E27FC236}">
                  <a16:creationId xmlns:a16="http://schemas.microsoft.com/office/drawing/2014/main" id="{47BAC1AE-DB72-DA48-B8DC-2A16F7C3008F}"/>
                </a:ext>
              </a:extLst>
            </p:cNvPr>
            <p:cNvCxnSpPr>
              <a:cxnSpLocks/>
              <a:stCxn id="12" idx="1"/>
              <a:endCxn id="9" idx="1"/>
            </p:cNvCxnSpPr>
            <p:nvPr/>
          </p:nvCxnSpPr>
          <p:spPr>
            <a:xfrm rot="10800000" flipH="1">
              <a:off x="2088788" y="2875103"/>
              <a:ext cx="255025" cy="1454743"/>
            </a:xfrm>
            <a:prstGeom prst="bentConnector3">
              <a:avLst>
                <a:gd name="adj1" fmla="val -89638"/>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84BD02E-E6EE-2B45-B587-C6289C37B791}"/>
                </a:ext>
              </a:extLst>
            </p:cNvPr>
            <p:cNvSpPr txBox="1"/>
            <p:nvPr/>
          </p:nvSpPr>
          <p:spPr>
            <a:xfrm>
              <a:off x="2343814" y="999442"/>
              <a:ext cx="2316660" cy="830997"/>
            </a:xfrm>
            <a:prstGeom prst="rect">
              <a:avLst/>
            </a:prstGeom>
            <a:solidFill>
              <a:schemeClr val="accent1">
                <a:lumMod val="40000"/>
                <a:lumOff val="60000"/>
              </a:schemeClr>
            </a:solidFill>
          </p:spPr>
          <p:txBody>
            <a:bodyPr wrap="square" rtlCol="0">
              <a:spAutoFit/>
            </a:bodyPr>
            <a:lstStyle/>
            <a:p>
              <a:r>
                <a:rPr lang="en-US" sz="1600" b="1" dirty="0" err="1">
                  <a:latin typeface="Consolas" panose="020B0609020204030204" pitchFamily="49" charset="0"/>
                  <a:cs typeface="Consolas" panose="020B0609020204030204" pitchFamily="49" charset="0"/>
                </a:rPr>
                <a:t>println_s</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"start!"</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x = </a:t>
              </a:r>
              <a:r>
                <a:rPr lang="en-US" sz="1600" b="1" dirty="0">
                  <a:solidFill>
                    <a:schemeClr val="accent3">
                      <a:lumMod val="75000"/>
                    </a:schemeClr>
                  </a:solidFill>
                  <a:latin typeface="Consolas" panose="020B0609020204030204" pitchFamily="49" charset="0"/>
                  <a:cs typeface="Consolas" panose="020B0609020204030204" pitchFamily="49" charset="0"/>
                </a:rPr>
                <a:t>0</a:t>
              </a:r>
            </a:p>
            <a:p>
              <a:r>
                <a:rPr lang="en-US" sz="1600" b="1" dirty="0">
                  <a:latin typeface="Consolas" panose="020B0609020204030204" pitchFamily="49" charset="0"/>
                  <a:cs typeface="Consolas" panose="020B0609020204030204" pitchFamily="49" charset="0"/>
                </a:rPr>
                <a:t>i = </a:t>
              </a:r>
              <a:r>
                <a:rPr lang="en-US" sz="1600" b="1" dirty="0">
                  <a:solidFill>
                    <a:schemeClr val="accent3">
                      <a:lumMod val="75000"/>
                    </a:schemeClr>
                  </a:solidFill>
                  <a:latin typeface="Consolas" panose="020B0609020204030204" pitchFamily="49" charset="0"/>
                  <a:cs typeface="Consolas" panose="020B0609020204030204" pitchFamily="49" charset="0"/>
                </a:rPr>
                <a:t>0</a:t>
              </a:r>
            </a:p>
          </p:txBody>
        </p:sp>
        <p:cxnSp>
          <p:nvCxnSpPr>
            <p:cNvPr id="20" name="Straight Arrow Connector 19">
              <a:extLst>
                <a:ext uri="{FF2B5EF4-FFF2-40B4-BE49-F238E27FC236}">
                  <a16:creationId xmlns:a16="http://schemas.microsoft.com/office/drawing/2014/main" id="{2A57F98D-6BDE-EC4B-A1FF-1C8329D72074}"/>
                </a:ext>
              </a:extLst>
            </p:cNvPr>
            <p:cNvCxnSpPr>
              <a:cxnSpLocks/>
            </p:cNvCxnSpPr>
            <p:nvPr/>
          </p:nvCxnSpPr>
          <p:spPr>
            <a:xfrm>
              <a:off x="2904862" y="1830439"/>
              <a:ext cx="1" cy="7522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F2FF3093-ECF5-C349-AEE0-E3686B48621E}"/>
              </a:ext>
            </a:extLst>
          </p:cNvPr>
          <p:cNvSpPr txBox="1"/>
          <p:nvPr/>
        </p:nvSpPr>
        <p:spPr>
          <a:xfrm>
            <a:off x="4912769" y="4087619"/>
            <a:ext cx="3240631" cy="769441"/>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x</a:t>
            </a:r>
            <a:r>
              <a:rPr lang="en-US" sz="2200" dirty="0"/>
              <a:t> isn't mentioned, so it's dead before this BB.</a:t>
            </a:r>
            <a:endParaRPr lang="en-US" sz="2200" b="1" dirty="0"/>
          </a:p>
        </p:txBody>
      </p:sp>
      <p:sp>
        <p:nvSpPr>
          <p:cNvPr id="30" name="TextBox 29">
            <a:extLst>
              <a:ext uri="{FF2B5EF4-FFF2-40B4-BE49-F238E27FC236}">
                <a16:creationId xmlns:a16="http://schemas.microsoft.com/office/drawing/2014/main" id="{05CA09D8-2A78-7C4C-88C7-9EEF33DA16CA}"/>
              </a:ext>
            </a:extLst>
          </p:cNvPr>
          <p:cNvSpPr txBox="1"/>
          <p:nvPr/>
        </p:nvSpPr>
        <p:spPr>
          <a:xfrm>
            <a:off x="2509291" y="3567442"/>
            <a:ext cx="748923" cy="400110"/>
          </a:xfrm>
          <a:prstGeom prst="rect">
            <a:avLst/>
          </a:prstGeom>
          <a:noFill/>
        </p:spPr>
        <p:txBody>
          <a:bodyPr wrap="none" rtlCol="0">
            <a:spAutoFit/>
          </a:bodyPr>
          <a:lstStyle/>
          <a:p>
            <a:r>
              <a:rPr lang="en-US" sz="2000" i="1" dirty="0">
                <a:solidFill>
                  <a:srgbClr val="00B050"/>
                </a:solidFill>
                <a:latin typeface="Consolas" panose="020B0609020204030204" pitchFamily="49" charset="0"/>
                <a:cs typeface="Consolas" panose="020B0609020204030204" pitchFamily="49" charset="0"/>
              </a:rPr>
              <a:t>LIVE</a:t>
            </a:r>
          </a:p>
        </p:txBody>
      </p:sp>
      <p:sp>
        <p:nvSpPr>
          <p:cNvPr id="36" name="TextBox 35">
            <a:extLst>
              <a:ext uri="{FF2B5EF4-FFF2-40B4-BE49-F238E27FC236}">
                <a16:creationId xmlns:a16="http://schemas.microsoft.com/office/drawing/2014/main" id="{142B7565-7980-4A4C-8044-25B2094F3DD1}"/>
              </a:ext>
            </a:extLst>
          </p:cNvPr>
          <p:cNvSpPr txBox="1"/>
          <p:nvPr/>
        </p:nvSpPr>
        <p:spPr>
          <a:xfrm>
            <a:off x="4647023" y="2542291"/>
            <a:ext cx="3087930" cy="769441"/>
          </a:xfrm>
          <a:prstGeom prst="rect">
            <a:avLst/>
          </a:prstGeom>
          <a:noFill/>
        </p:spPr>
        <p:txBody>
          <a:bodyPr wrap="square" rtlCol="0">
            <a:spAutoFit/>
          </a:bodyPr>
          <a:lstStyle/>
          <a:p>
            <a:pPr algn="ctr"/>
            <a:r>
              <a:rPr lang="en-US" sz="2200" dirty="0"/>
              <a:t>join </a:t>
            </a:r>
            <a:r>
              <a:rPr lang="en-US" sz="2200" b="1" dirty="0">
                <a:latin typeface="Consolas" panose="020B0609020204030204" pitchFamily="49" charset="0"/>
                <a:cs typeface="Consolas" panose="020B0609020204030204" pitchFamily="49" charset="0"/>
              </a:rPr>
              <a:t>DEAD</a:t>
            </a:r>
            <a:r>
              <a:rPr lang="en-US" sz="2200" dirty="0"/>
              <a:t> with </a:t>
            </a:r>
            <a:r>
              <a:rPr lang="en-US" sz="2200" b="1" dirty="0">
                <a:latin typeface="Consolas" panose="020B0609020204030204" pitchFamily="49" charset="0"/>
                <a:cs typeface="Consolas" panose="020B0609020204030204" pitchFamily="49" charset="0"/>
              </a:rPr>
              <a:t>DEAD</a:t>
            </a:r>
            <a:r>
              <a:rPr lang="en-US" sz="2200" dirty="0"/>
              <a:t>, get </a:t>
            </a:r>
            <a:r>
              <a:rPr lang="en-US" sz="2200" b="1" dirty="0">
                <a:latin typeface="Consolas" panose="020B0609020204030204" pitchFamily="49" charset="0"/>
                <a:cs typeface="Consolas" panose="020B0609020204030204" pitchFamily="49" charset="0"/>
              </a:rPr>
              <a:t>DEAD</a:t>
            </a:r>
            <a:r>
              <a:rPr lang="en-US" sz="2200" dirty="0"/>
              <a:t>.</a:t>
            </a:r>
          </a:p>
        </p:txBody>
      </p:sp>
      <p:sp>
        <p:nvSpPr>
          <p:cNvPr id="38" name="TextBox 37">
            <a:extLst>
              <a:ext uri="{FF2B5EF4-FFF2-40B4-BE49-F238E27FC236}">
                <a16:creationId xmlns:a16="http://schemas.microsoft.com/office/drawing/2014/main" id="{30729BD3-A19D-7540-85C2-ABAFC091FE5E}"/>
              </a:ext>
            </a:extLst>
          </p:cNvPr>
          <p:cNvSpPr txBox="1"/>
          <p:nvPr/>
        </p:nvSpPr>
        <p:spPr>
          <a:xfrm>
            <a:off x="89499" y="3122738"/>
            <a:ext cx="1883268" cy="769441"/>
          </a:xfrm>
          <a:prstGeom prst="rect">
            <a:avLst/>
          </a:prstGeom>
          <a:noFill/>
        </p:spPr>
        <p:txBody>
          <a:bodyPr wrap="square" rtlCol="0">
            <a:spAutoFit/>
          </a:bodyPr>
          <a:lstStyle/>
          <a:p>
            <a:pPr algn="ctr"/>
            <a:r>
              <a:rPr lang="en-US" sz="2200" dirty="0"/>
              <a:t>follow the loop back…</a:t>
            </a:r>
            <a:endParaRPr lang="en-US" sz="2200" b="1" dirty="0"/>
          </a:p>
        </p:txBody>
      </p:sp>
      <p:sp>
        <p:nvSpPr>
          <p:cNvPr id="39" name="TextBox 38">
            <a:extLst>
              <a:ext uri="{FF2B5EF4-FFF2-40B4-BE49-F238E27FC236}">
                <a16:creationId xmlns:a16="http://schemas.microsoft.com/office/drawing/2014/main" id="{63BD0EF6-8128-6F4E-B2BA-9A4803986A97}"/>
              </a:ext>
            </a:extLst>
          </p:cNvPr>
          <p:cNvSpPr txBox="1"/>
          <p:nvPr/>
        </p:nvSpPr>
        <p:spPr>
          <a:xfrm>
            <a:off x="4436053" y="3645029"/>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p>
        </p:txBody>
      </p:sp>
      <p:sp>
        <p:nvSpPr>
          <p:cNvPr id="40" name="TextBox 39">
            <a:extLst>
              <a:ext uri="{FF2B5EF4-FFF2-40B4-BE49-F238E27FC236}">
                <a16:creationId xmlns:a16="http://schemas.microsoft.com/office/drawing/2014/main" id="{55975CAD-7EEF-0C46-BED7-2E9D1E46ED91}"/>
              </a:ext>
            </a:extLst>
          </p:cNvPr>
          <p:cNvSpPr txBox="1"/>
          <p:nvPr/>
        </p:nvSpPr>
        <p:spPr>
          <a:xfrm>
            <a:off x="2134829" y="2193029"/>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p>
        </p:txBody>
      </p:sp>
      <p:sp>
        <p:nvSpPr>
          <p:cNvPr id="42" name="TextBox 41">
            <a:extLst>
              <a:ext uri="{FF2B5EF4-FFF2-40B4-BE49-F238E27FC236}">
                <a16:creationId xmlns:a16="http://schemas.microsoft.com/office/drawing/2014/main" id="{38EB40D7-0AB1-F044-9D4B-8FF6C12EA6FE}"/>
              </a:ext>
            </a:extLst>
          </p:cNvPr>
          <p:cNvSpPr txBox="1"/>
          <p:nvPr/>
        </p:nvSpPr>
        <p:spPr>
          <a:xfrm>
            <a:off x="1594890" y="2487699"/>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p>
        </p:txBody>
      </p:sp>
      <p:sp>
        <p:nvSpPr>
          <p:cNvPr id="43" name="TextBox 42">
            <a:extLst>
              <a:ext uri="{FF2B5EF4-FFF2-40B4-BE49-F238E27FC236}">
                <a16:creationId xmlns:a16="http://schemas.microsoft.com/office/drawing/2014/main" id="{83AA3E4F-9E65-CC49-B7DB-82FDDA76397A}"/>
              </a:ext>
            </a:extLst>
          </p:cNvPr>
          <p:cNvSpPr txBox="1"/>
          <p:nvPr/>
        </p:nvSpPr>
        <p:spPr>
          <a:xfrm>
            <a:off x="2088790" y="4676053"/>
            <a:ext cx="1883268" cy="769441"/>
          </a:xfrm>
          <a:prstGeom prst="rect">
            <a:avLst/>
          </a:prstGeom>
          <a:noFill/>
        </p:spPr>
        <p:txBody>
          <a:bodyPr wrap="square" rtlCol="0">
            <a:spAutoFit/>
          </a:bodyPr>
          <a:lstStyle/>
          <a:p>
            <a:pPr algn="ctr"/>
            <a:r>
              <a:rPr lang="en-US" sz="2200" dirty="0"/>
              <a:t>oh that's interesting!</a:t>
            </a:r>
            <a:endParaRPr lang="en-US" sz="2200" b="1" dirty="0"/>
          </a:p>
        </p:txBody>
      </p:sp>
      <p:sp>
        <p:nvSpPr>
          <p:cNvPr id="44" name="TextBox 43">
            <a:extLst>
              <a:ext uri="{FF2B5EF4-FFF2-40B4-BE49-F238E27FC236}">
                <a16:creationId xmlns:a16="http://schemas.microsoft.com/office/drawing/2014/main" id="{18459598-4CAE-E34F-B16F-DF845F3F7780}"/>
              </a:ext>
            </a:extLst>
          </p:cNvPr>
          <p:cNvSpPr txBox="1"/>
          <p:nvPr/>
        </p:nvSpPr>
        <p:spPr>
          <a:xfrm>
            <a:off x="4660474" y="2556999"/>
            <a:ext cx="3087930" cy="769441"/>
          </a:xfrm>
          <a:prstGeom prst="rect">
            <a:avLst/>
          </a:prstGeom>
          <a:noFill/>
        </p:spPr>
        <p:txBody>
          <a:bodyPr wrap="square" rtlCol="0">
            <a:spAutoFit/>
          </a:bodyPr>
          <a:lstStyle/>
          <a:p>
            <a:pPr algn="ctr"/>
            <a:r>
              <a:rPr lang="en-US" sz="2200" dirty="0"/>
              <a:t>things are different the second time around!</a:t>
            </a:r>
            <a:endParaRPr lang="en-US" sz="2200" b="1" dirty="0"/>
          </a:p>
        </p:txBody>
      </p:sp>
      <p:sp>
        <p:nvSpPr>
          <p:cNvPr id="45" name="TextBox 44">
            <a:extLst>
              <a:ext uri="{FF2B5EF4-FFF2-40B4-BE49-F238E27FC236}">
                <a16:creationId xmlns:a16="http://schemas.microsoft.com/office/drawing/2014/main" id="{EE65EA4B-C87F-594B-94C4-1B8E13E8DBCC}"/>
              </a:ext>
            </a:extLst>
          </p:cNvPr>
          <p:cNvSpPr txBox="1"/>
          <p:nvPr/>
        </p:nvSpPr>
        <p:spPr>
          <a:xfrm>
            <a:off x="1594890" y="2487699"/>
            <a:ext cx="748923" cy="400110"/>
          </a:xfrm>
          <a:prstGeom prst="rect">
            <a:avLst/>
          </a:prstGeom>
          <a:noFill/>
        </p:spPr>
        <p:txBody>
          <a:bodyPr wrap="none" rtlCol="0">
            <a:spAutoFit/>
          </a:bodyPr>
          <a:lstStyle/>
          <a:p>
            <a:r>
              <a:rPr lang="en-US" sz="2000" i="1" dirty="0">
                <a:solidFill>
                  <a:srgbClr val="00B050"/>
                </a:solidFill>
                <a:latin typeface="Consolas" panose="020B0609020204030204" pitchFamily="49" charset="0"/>
                <a:cs typeface="Consolas" panose="020B0609020204030204" pitchFamily="49" charset="0"/>
              </a:rPr>
              <a:t>LIVE</a:t>
            </a:r>
          </a:p>
        </p:txBody>
      </p:sp>
      <p:sp>
        <p:nvSpPr>
          <p:cNvPr id="46" name="TextBox 45">
            <a:extLst>
              <a:ext uri="{FF2B5EF4-FFF2-40B4-BE49-F238E27FC236}">
                <a16:creationId xmlns:a16="http://schemas.microsoft.com/office/drawing/2014/main" id="{2CB79BF1-1FE2-9B4E-B3F8-0E195C87656C}"/>
              </a:ext>
            </a:extLst>
          </p:cNvPr>
          <p:cNvSpPr txBox="1"/>
          <p:nvPr/>
        </p:nvSpPr>
        <p:spPr>
          <a:xfrm>
            <a:off x="1594890" y="1376611"/>
            <a:ext cx="748923" cy="400110"/>
          </a:xfrm>
          <a:prstGeom prst="rect">
            <a:avLst/>
          </a:prstGeom>
          <a:noFill/>
        </p:spPr>
        <p:txBody>
          <a:bodyPr wrap="none" rtlCol="0">
            <a:spAutoFit/>
          </a:bodyPr>
          <a:lstStyle/>
          <a:p>
            <a:r>
              <a:rPr lang="en-US" sz="2000" i="1" dirty="0">
                <a:solidFill>
                  <a:srgbClr val="00B050"/>
                </a:solidFill>
                <a:latin typeface="Consolas" panose="020B0609020204030204" pitchFamily="49" charset="0"/>
                <a:cs typeface="Consolas" panose="020B0609020204030204" pitchFamily="49" charset="0"/>
              </a:rPr>
              <a:t>LIVE</a:t>
            </a:r>
          </a:p>
        </p:txBody>
      </p:sp>
      <p:sp>
        <p:nvSpPr>
          <p:cNvPr id="47" name="TextBox 46">
            <a:extLst>
              <a:ext uri="{FF2B5EF4-FFF2-40B4-BE49-F238E27FC236}">
                <a16:creationId xmlns:a16="http://schemas.microsoft.com/office/drawing/2014/main" id="{7895DFBE-6D4D-D540-8DF5-C492DA843E88}"/>
              </a:ext>
            </a:extLst>
          </p:cNvPr>
          <p:cNvSpPr txBox="1"/>
          <p:nvPr/>
        </p:nvSpPr>
        <p:spPr>
          <a:xfrm>
            <a:off x="1594890" y="1112126"/>
            <a:ext cx="748923" cy="400110"/>
          </a:xfrm>
          <a:prstGeom prst="rect">
            <a:avLst/>
          </a:prstGeom>
          <a:noFill/>
        </p:spPr>
        <p:txBody>
          <a:bodyPr wrap="none" rtlCol="0">
            <a:spAutoFit/>
          </a:bodyPr>
          <a:lstStyle/>
          <a:p>
            <a:r>
              <a:rPr lang="en-US" sz="2000" i="1" dirty="0">
                <a:solidFill>
                  <a:srgbClr val="FF0000"/>
                </a:solidFill>
                <a:latin typeface="Consolas" panose="020B0609020204030204" pitchFamily="49" charset="0"/>
                <a:cs typeface="Consolas" panose="020B0609020204030204" pitchFamily="49" charset="0"/>
              </a:rPr>
              <a:t>DEAD</a:t>
            </a:r>
          </a:p>
        </p:txBody>
      </p:sp>
      <p:sp>
        <p:nvSpPr>
          <p:cNvPr id="48" name="TextBox 47">
            <a:extLst>
              <a:ext uri="{FF2B5EF4-FFF2-40B4-BE49-F238E27FC236}">
                <a16:creationId xmlns:a16="http://schemas.microsoft.com/office/drawing/2014/main" id="{1B2FA851-0131-B640-A173-3A2B9710A371}"/>
              </a:ext>
            </a:extLst>
          </p:cNvPr>
          <p:cNvSpPr txBox="1"/>
          <p:nvPr/>
        </p:nvSpPr>
        <p:spPr>
          <a:xfrm>
            <a:off x="4660474" y="1017816"/>
            <a:ext cx="3087930" cy="769441"/>
          </a:xfrm>
          <a:prstGeom prst="rect">
            <a:avLst/>
          </a:prstGeom>
          <a:noFill/>
        </p:spPr>
        <p:txBody>
          <a:bodyPr wrap="square" rtlCol="0">
            <a:spAutoFit/>
          </a:bodyPr>
          <a:lstStyle/>
          <a:p>
            <a:pPr algn="ctr"/>
            <a:r>
              <a:rPr lang="en-US" sz="2200" dirty="0"/>
              <a:t>the liveness changes in the middle of this BB.</a:t>
            </a:r>
          </a:p>
        </p:txBody>
      </p:sp>
      <p:sp>
        <p:nvSpPr>
          <p:cNvPr id="37" name="TextBox 36">
            <a:extLst>
              <a:ext uri="{FF2B5EF4-FFF2-40B4-BE49-F238E27FC236}">
                <a16:creationId xmlns:a16="http://schemas.microsoft.com/office/drawing/2014/main" id="{DD3882EA-41F6-804A-984C-018CFDB49FE1}"/>
              </a:ext>
            </a:extLst>
          </p:cNvPr>
          <p:cNvSpPr txBox="1"/>
          <p:nvPr/>
        </p:nvSpPr>
        <p:spPr>
          <a:xfrm>
            <a:off x="2134829" y="2193029"/>
            <a:ext cx="748923" cy="400110"/>
          </a:xfrm>
          <a:prstGeom prst="rect">
            <a:avLst/>
          </a:prstGeom>
          <a:noFill/>
        </p:spPr>
        <p:txBody>
          <a:bodyPr wrap="none" rtlCol="0">
            <a:spAutoFit/>
          </a:bodyPr>
          <a:lstStyle/>
          <a:p>
            <a:r>
              <a:rPr lang="en-US" sz="2000" i="1" dirty="0">
                <a:solidFill>
                  <a:srgbClr val="00B050"/>
                </a:solidFill>
                <a:latin typeface="Consolas" panose="020B0609020204030204" pitchFamily="49" charset="0"/>
                <a:cs typeface="Consolas" panose="020B0609020204030204" pitchFamily="49" charset="0"/>
              </a:rPr>
              <a:t>LIVE</a:t>
            </a:r>
          </a:p>
        </p:txBody>
      </p:sp>
    </p:spTree>
    <p:extLst>
      <p:ext uri="{BB962C8B-B14F-4D97-AF65-F5344CB8AC3E}">
        <p14:creationId xmlns:p14="http://schemas.microsoft.com/office/powerpoint/2010/main" val="9279349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3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42"/>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36" grpId="0"/>
      <p:bldP spid="36" grpId="1"/>
      <p:bldP spid="38" grpId="0"/>
      <p:bldP spid="39" grpId="0"/>
      <p:bldP spid="40" grpId="0"/>
      <p:bldP spid="40" grpId="1"/>
      <p:bldP spid="42" grpId="0"/>
      <p:bldP spid="42" grpId="1"/>
      <p:bldP spid="43" grpId="0"/>
      <p:bldP spid="44" grpId="0"/>
      <p:bldP spid="45" grpId="0"/>
      <p:bldP spid="46" grpId="0"/>
      <p:bldP spid="47" grpId="0"/>
      <p:bldP spid="48" grpId="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6BAB1-7530-AD4E-9CFC-A75498FBBB80}"/>
              </a:ext>
            </a:extLst>
          </p:cNvPr>
          <p:cNvSpPr>
            <a:spLocks noGrp="1"/>
          </p:cNvSpPr>
          <p:nvPr>
            <p:ph type="title"/>
          </p:nvPr>
        </p:nvSpPr>
        <p:spPr/>
        <p:txBody>
          <a:bodyPr/>
          <a:lstStyle/>
          <a:p>
            <a:r>
              <a:rPr lang="en-US" dirty="0"/>
              <a:t>Wait, is that right…?</a:t>
            </a:r>
          </a:p>
        </p:txBody>
      </p:sp>
      <p:sp>
        <p:nvSpPr>
          <p:cNvPr id="3" name="Content Placeholder 2">
            <a:extLst>
              <a:ext uri="{FF2B5EF4-FFF2-40B4-BE49-F238E27FC236}">
                <a16:creationId xmlns:a16="http://schemas.microsoft.com/office/drawing/2014/main" id="{812906E1-1DF8-4544-BDD9-90AAAACE3784}"/>
              </a:ext>
            </a:extLst>
          </p:cNvPr>
          <p:cNvSpPr>
            <a:spLocks noGrp="1"/>
          </p:cNvSpPr>
          <p:nvPr>
            <p:ph idx="1"/>
          </p:nvPr>
        </p:nvSpPr>
        <p:spPr>
          <a:xfrm>
            <a:off x="152400" y="495301"/>
            <a:ext cx="8991600" cy="838199"/>
          </a:xfrm>
        </p:spPr>
        <p:txBody>
          <a:bodyPr/>
          <a:lstStyle/>
          <a:p>
            <a:r>
              <a:rPr lang="en-US" dirty="0"/>
              <a:t>these might look wrong at first, but the liveness algorithm is telling you something important about </a:t>
            </a:r>
            <a:r>
              <a:rPr lang="en-US" b="1" dirty="0">
                <a:latin typeface="Consolas" panose="020B0609020204030204" pitchFamily="49" charset="0"/>
                <a:cs typeface="Consolas" panose="020B0609020204030204" pitchFamily="49" charset="0"/>
              </a:rPr>
              <a:t>x</a:t>
            </a:r>
            <a:r>
              <a:rPr lang="en-US" dirty="0"/>
              <a:t>.</a:t>
            </a:r>
          </a:p>
        </p:txBody>
      </p:sp>
      <p:sp>
        <p:nvSpPr>
          <p:cNvPr id="4" name="Slide Number Placeholder 3">
            <a:extLst>
              <a:ext uri="{FF2B5EF4-FFF2-40B4-BE49-F238E27FC236}">
                <a16:creationId xmlns:a16="http://schemas.microsoft.com/office/drawing/2014/main" id="{3E6F148B-F7C8-DF49-A365-71A9B139B8D3}"/>
              </a:ext>
            </a:extLst>
          </p:cNvPr>
          <p:cNvSpPr>
            <a:spLocks noGrp="1"/>
          </p:cNvSpPr>
          <p:nvPr>
            <p:ph type="sldNum" sz="quarter" idx="12"/>
          </p:nvPr>
        </p:nvSpPr>
        <p:spPr/>
        <p:txBody>
          <a:bodyPr/>
          <a:lstStyle/>
          <a:p>
            <a:fld id="{3552B95B-556F-44BD-91A5-D80C1B9E2BB3}" type="slidenum">
              <a:rPr lang="en-US" smtClean="0"/>
              <a:pPr/>
              <a:t>11</a:t>
            </a:fld>
            <a:endParaRPr lang="en-US"/>
          </a:p>
        </p:txBody>
      </p:sp>
      <p:sp>
        <p:nvSpPr>
          <p:cNvPr id="5" name="Rectangle 4">
            <a:extLst>
              <a:ext uri="{FF2B5EF4-FFF2-40B4-BE49-F238E27FC236}">
                <a16:creationId xmlns:a16="http://schemas.microsoft.com/office/drawing/2014/main" id="{CEFD9C3C-B17F-B840-B190-81D971BD8BE3}"/>
              </a:ext>
            </a:extLst>
          </p:cNvPr>
          <p:cNvSpPr/>
          <p:nvPr/>
        </p:nvSpPr>
        <p:spPr>
          <a:xfrm>
            <a:off x="832673" y="1409700"/>
            <a:ext cx="3200400" cy="2246769"/>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f(a: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whatever();</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(a);</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a:t>
            </a:r>
          </a:p>
        </p:txBody>
      </p:sp>
      <p:sp>
        <p:nvSpPr>
          <p:cNvPr id="6" name="Multiply 5">
            <a:extLst>
              <a:ext uri="{FF2B5EF4-FFF2-40B4-BE49-F238E27FC236}">
                <a16:creationId xmlns:a16="http://schemas.microsoft.com/office/drawing/2014/main" id="{D22613F0-3A39-CD40-AB04-EBBF490DE0BC}"/>
              </a:ext>
            </a:extLst>
          </p:cNvPr>
          <p:cNvSpPr/>
          <p:nvPr/>
        </p:nvSpPr>
        <p:spPr>
          <a:xfrm>
            <a:off x="457202" y="1851190"/>
            <a:ext cx="377929" cy="37792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nut 6">
            <a:extLst>
              <a:ext uri="{FF2B5EF4-FFF2-40B4-BE49-F238E27FC236}">
                <a16:creationId xmlns:a16="http://schemas.microsoft.com/office/drawing/2014/main" id="{6BBBBA2B-D4EE-6646-BAF8-6580618E852B}"/>
              </a:ext>
            </a:extLst>
          </p:cNvPr>
          <p:cNvSpPr/>
          <p:nvPr/>
        </p:nvSpPr>
        <p:spPr>
          <a:xfrm>
            <a:off x="5253193" y="2717489"/>
            <a:ext cx="304800" cy="304800"/>
          </a:xfrm>
          <a:prstGeom prst="donu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Multiply 7">
            <a:extLst>
              <a:ext uri="{FF2B5EF4-FFF2-40B4-BE49-F238E27FC236}">
                <a16:creationId xmlns:a16="http://schemas.microsoft.com/office/drawing/2014/main" id="{1D9E60D6-5977-0F47-8F1E-3323AEDBB927}"/>
              </a:ext>
            </a:extLst>
          </p:cNvPr>
          <p:cNvSpPr/>
          <p:nvPr/>
        </p:nvSpPr>
        <p:spPr>
          <a:xfrm>
            <a:off x="457201" y="2373047"/>
            <a:ext cx="377929" cy="37792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ultiply 8">
            <a:extLst>
              <a:ext uri="{FF2B5EF4-FFF2-40B4-BE49-F238E27FC236}">
                <a16:creationId xmlns:a16="http://schemas.microsoft.com/office/drawing/2014/main" id="{215938BE-970F-B640-B15C-6578E1E756A9}"/>
              </a:ext>
            </a:extLst>
          </p:cNvPr>
          <p:cNvSpPr/>
          <p:nvPr/>
        </p:nvSpPr>
        <p:spPr>
          <a:xfrm>
            <a:off x="457200" y="2894904"/>
            <a:ext cx="377929" cy="37792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EAF1FBF-A00C-8C41-B15F-BE9064D16B61}"/>
              </a:ext>
            </a:extLst>
          </p:cNvPr>
          <p:cNvSpPr txBox="1"/>
          <p:nvPr/>
        </p:nvSpPr>
        <p:spPr>
          <a:xfrm>
            <a:off x="381000" y="3691311"/>
            <a:ext cx="3240631" cy="430887"/>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x</a:t>
            </a:r>
            <a:r>
              <a:rPr lang="en-US" sz="2200" dirty="0"/>
              <a:t> is </a:t>
            </a:r>
            <a:r>
              <a:rPr lang="en-US" sz="2200" i="1" dirty="0"/>
              <a:t>always dead??</a:t>
            </a:r>
            <a:endParaRPr lang="en-US" sz="2200" b="1" dirty="0"/>
          </a:p>
        </p:txBody>
      </p:sp>
      <p:sp>
        <p:nvSpPr>
          <p:cNvPr id="11" name="TextBox 10">
            <a:extLst>
              <a:ext uri="{FF2B5EF4-FFF2-40B4-BE49-F238E27FC236}">
                <a16:creationId xmlns:a16="http://schemas.microsoft.com/office/drawing/2014/main" id="{7CAC8D07-96DB-E143-A6A8-3A9DA7D4C05B}"/>
              </a:ext>
            </a:extLst>
          </p:cNvPr>
          <p:cNvSpPr txBox="1"/>
          <p:nvPr/>
        </p:nvSpPr>
        <p:spPr>
          <a:xfrm>
            <a:off x="304800" y="4220373"/>
            <a:ext cx="3962401" cy="1107996"/>
          </a:xfrm>
          <a:prstGeom prst="rect">
            <a:avLst/>
          </a:prstGeom>
          <a:noFill/>
        </p:spPr>
        <p:txBody>
          <a:bodyPr wrap="square" rtlCol="0">
            <a:spAutoFit/>
          </a:bodyPr>
          <a:lstStyle/>
          <a:p>
            <a:pPr algn="ctr"/>
            <a:r>
              <a:rPr lang="en-US" sz="2200" dirty="0"/>
              <a:t>yeah, </a:t>
            </a:r>
            <a:r>
              <a:rPr lang="en-US" sz="2200" dirty="0">
                <a:solidFill>
                  <a:srgbClr val="FF0000"/>
                </a:solidFill>
              </a:rPr>
              <a:t>the code </a:t>
            </a:r>
            <a:r>
              <a:rPr lang="en-US" sz="2200" b="1" dirty="0">
                <a:solidFill>
                  <a:srgbClr val="FF0000"/>
                </a:solidFill>
              </a:rPr>
              <a:t>never used </a:t>
            </a:r>
            <a:r>
              <a:rPr lang="en-US" sz="2200" b="1" dirty="0">
                <a:solidFill>
                  <a:srgbClr val="FF0000"/>
                </a:solidFill>
                <a:latin typeface="Consolas" panose="020B0609020204030204" pitchFamily="49" charset="0"/>
                <a:cs typeface="Consolas" panose="020B0609020204030204" pitchFamily="49" charset="0"/>
              </a:rPr>
              <a:t>x</a:t>
            </a:r>
            <a:r>
              <a:rPr lang="en-US" sz="2200" b="1" dirty="0">
                <a:solidFill>
                  <a:srgbClr val="FF0000"/>
                </a:solidFill>
              </a:rPr>
              <a:t>. </a:t>
            </a:r>
            <a:r>
              <a:rPr lang="en-US" sz="2200" dirty="0"/>
              <a:t>maybe the compiler would report a warning/error here.</a:t>
            </a:r>
          </a:p>
        </p:txBody>
      </p:sp>
      <p:sp>
        <p:nvSpPr>
          <p:cNvPr id="12" name="Rectangle 11">
            <a:extLst>
              <a:ext uri="{FF2B5EF4-FFF2-40B4-BE49-F238E27FC236}">
                <a16:creationId xmlns:a16="http://schemas.microsoft.com/office/drawing/2014/main" id="{6F568752-F3B7-D04F-BB38-B25D68A1904C}"/>
              </a:ext>
            </a:extLst>
          </p:cNvPr>
          <p:cNvSpPr/>
          <p:nvPr/>
        </p:nvSpPr>
        <p:spPr>
          <a:xfrm>
            <a:off x="5587182" y="1711179"/>
            <a:ext cx="2109018" cy="1631216"/>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20</a:t>
            </a:r>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p:txBody>
      </p:sp>
      <p:sp>
        <p:nvSpPr>
          <p:cNvPr id="13" name="Multiply 12">
            <a:extLst>
              <a:ext uri="{FF2B5EF4-FFF2-40B4-BE49-F238E27FC236}">
                <a16:creationId xmlns:a16="http://schemas.microsoft.com/office/drawing/2014/main" id="{AE14F080-C9E8-5C4C-BAC6-4F5995A80860}"/>
              </a:ext>
            </a:extLst>
          </p:cNvPr>
          <p:cNvSpPr/>
          <p:nvPr/>
        </p:nvSpPr>
        <p:spPr>
          <a:xfrm>
            <a:off x="5216629" y="1410906"/>
            <a:ext cx="377929" cy="37792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ultiply 14">
            <a:extLst>
              <a:ext uri="{FF2B5EF4-FFF2-40B4-BE49-F238E27FC236}">
                <a16:creationId xmlns:a16="http://schemas.microsoft.com/office/drawing/2014/main" id="{4BDF6703-1B46-CB41-8549-5FE4F572E0FF}"/>
              </a:ext>
            </a:extLst>
          </p:cNvPr>
          <p:cNvSpPr/>
          <p:nvPr/>
        </p:nvSpPr>
        <p:spPr>
          <a:xfrm>
            <a:off x="5216629" y="2044071"/>
            <a:ext cx="377929" cy="37792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Multiply 15">
            <a:extLst>
              <a:ext uri="{FF2B5EF4-FFF2-40B4-BE49-F238E27FC236}">
                <a16:creationId xmlns:a16="http://schemas.microsoft.com/office/drawing/2014/main" id="{9AEDC310-399F-F04B-B94C-5E6E5FEE4D7E}"/>
              </a:ext>
            </a:extLst>
          </p:cNvPr>
          <p:cNvSpPr/>
          <p:nvPr/>
        </p:nvSpPr>
        <p:spPr>
          <a:xfrm>
            <a:off x="5216629" y="3241571"/>
            <a:ext cx="377929" cy="37792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2B8BC87-7C19-5F48-AA95-D08056587870}"/>
              </a:ext>
            </a:extLst>
          </p:cNvPr>
          <p:cNvSpPr txBox="1"/>
          <p:nvPr/>
        </p:nvSpPr>
        <p:spPr>
          <a:xfrm>
            <a:off x="4431891" y="3691310"/>
            <a:ext cx="4419600" cy="430887"/>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x</a:t>
            </a:r>
            <a:r>
              <a:rPr lang="en-US" sz="2200" dirty="0"/>
              <a:t> is only live for </a:t>
            </a:r>
            <a:r>
              <a:rPr lang="en-US" sz="2200" i="1" dirty="0"/>
              <a:t>one</a:t>
            </a:r>
            <a:r>
              <a:rPr lang="en-US" sz="2200" dirty="0"/>
              <a:t> instruction??</a:t>
            </a:r>
            <a:endParaRPr lang="en-US" sz="2200" b="1" dirty="0"/>
          </a:p>
        </p:txBody>
      </p:sp>
      <p:sp>
        <p:nvSpPr>
          <p:cNvPr id="18" name="TextBox 17">
            <a:extLst>
              <a:ext uri="{FF2B5EF4-FFF2-40B4-BE49-F238E27FC236}">
                <a16:creationId xmlns:a16="http://schemas.microsoft.com/office/drawing/2014/main" id="{E8DC6B0D-CFA8-AB4D-95FB-4C2A3F46E6D6}"/>
              </a:ext>
            </a:extLst>
          </p:cNvPr>
          <p:cNvSpPr txBox="1"/>
          <p:nvPr/>
        </p:nvSpPr>
        <p:spPr>
          <a:xfrm>
            <a:off x="4660490" y="4220373"/>
            <a:ext cx="3962401" cy="1107996"/>
          </a:xfrm>
          <a:prstGeom prst="rect">
            <a:avLst/>
          </a:prstGeom>
          <a:noFill/>
        </p:spPr>
        <p:txBody>
          <a:bodyPr wrap="square" rtlCol="0">
            <a:spAutoFit/>
          </a:bodyPr>
          <a:lstStyle/>
          <a:p>
            <a:pPr algn="ctr"/>
            <a:r>
              <a:rPr lang="en-US" sz="2200" dirty="0">
                <a:solidFill>
                  <a:srgbClr val="FF0000"/>
                </a:solidFill>
              </a:rPr>
              <a:t>the code </a:t>
            </a:r>
            <a:r>
              <a:rPr lang="en-US" sz="2200" b="1" dirty="0">
                <a:solidFill>
                  <a:srgbClr val="FF0000"/>
                </a:solidFill>
              </a:rPr>
              <a:t>never uses the first value</a:t>
            </a:r>
            <a:r>
              <a:rPr lang="en-US" sz="2200" dirty="0">
                <a:solidFill>
                  <a:srgbClr val="FF0000"/>
                </a:solidFill>
              </a:rPr>
              <a:t> assigned to </a:t>
            </a:r>
            <a:r>
              <a:rPr lang="en-US" sz="2200" b="1" dirty="0">
                <a:solidFill>
                  <a:srgbClr val="FF0000"/>
                </a:solidFill>
                <a:latin typeface="Consolas" panose="020B0609020204030204" pitchFamily="49" charset="0"/>
                <a:cs typeface="Consolas" panose="020B0609020204030204" pitchFamily="49" charset="0"/>
              </a:rPr>
              <a:t>x</a:t>
            </a:r>
            <a:r>
              <a:rPr lang="en-US" sz="2200" dirty="0">
                <a:solidFill>
                  <a:srgbClr val="FF0000"/>
                </a:solidFill>
              </a:rPr>
              <a:t>.</a:t>
            </a:r>
            <a:r>
              <a:rPr lang="en-US" sz="2200" dirty="0"/>
              <a:t> maybe a warning/error again!</a:t>
            </a:r>
          </a:p>
        </p:txBody>
      </p:sp>
    </p:spTree>
    <p:extLst>
      <p:ext uri="{BB962C8B-B14F-4D97-AF65-F5344CB8AC3E}">
        <p14:creationId xmlns:p14="http://schemas.microsoft.com/office/powerpoint/2010/main" val="11821646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p:bldP spid="11" grpId="0"/>
      <p:bldP spid="12" grpId="0"/>
      <p:bldP spid="13" grpId="0" animBg="1"/>
      <p:bldP spid="15" grpId="0" animBg="1"/>
      <p:bldP spid="16" grpId="0" animBg="1"/>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8982-246F-954C-B321-93EC2CA8D34F}"/>
              </a:ext>
            </a:extLst>
          </p:cNvPr>
          <p:cNvSpPr>
            <a:spLocks noGrp="1"/>
          </p:cNvSpPr>
          <p:nvPr>
            <p:ph type="title"/>
          </p:nvPr>
        </p:nvSpPr>
        <p:spPr/>
        <p:txBody>
          <a:bodyPr/>
          <a:lstStyle/>
          <a:p>
            <a:r>
              <a:rPr lang="en-US" dirty="0"/>
              <a:t>Some implementation thoughts</a:t>
            </a:r>
          </a:p>
        </p:txBody>
      </p:sp>
      <p:sp>
        <p:nvSpPr>
          <p:cNvPr id="3" name="Content Placeholder 2">
            <a:extLst>
              <a:ext uri="{FF2B5EF4-FFF2-40B4-BE49-F238E27FC236}">
                <a16:creationId xmlns:a16="http://schemas.microsoft.com/office/drawing/2014/main" id="{9654F05A-0C6D-EF46-8E02-67F5665537B3}"/>
              </a:ext>
            </a:extLst>
          </p:cNvPr>
          <p:cNvSpPr>
            <a:spLocks noGrp="1"/>
          </p:cNvSpPr>
          <p:nvPr>
            <p:ph idx="1"/>
          </p:nvPr>
        </p:nvSpPr>
        <p:spPr/>
        <p:txBody>
          <a:bodyPr/>
          <a:lstStyle/>
          <a:p>
            <a:r>
              <a:rPr lang="en-US" dirty="0"/>
              <a:t>there are only </a:t>
            </a:r>
            <a:r>
              <a:rPr lang="en-US" b="1" dirty="0"/>
              <a:t>two states. </a:t>
            </a:r>
          </a:p>
          <a:p>
            <a:pPr lvl="1"/>
            <a:r>
              <a:rPr lang="en-US" dirty="0"/>
              <a:t>so we could store the state of one variable with </a:t>
            </a:r>
            <a:r>
              <a:rPr lang="en-US" b="1" dirty="0"/>
              <a:t>one bit. </a:t>
            </a:r>
            <a:r>
              <a:rPr lang="en-US" dirty="0"/>
              <a:t>efficient!</a:t>
            </a:r>
          </a:p>
          <a:p>
            <a:r>
              <a:rPr lang="en-US" dirty="0"/>
              <a:t>therefore, to track </a:t>
            </a:r>
            <a:r>
              <a:rPr lang="en-US" i="1" dirty="0"/>
              <a:t>n </a:t>
            </a:r>
            <a:r>
              <a:rPr lang="en-US" dirty="0"/>
              <a:t>variables' states, we'd need </a:t>
            </a:r>
            <a:r>
              <a:rPr lang="en-US" i="1" dirty="0"/>
              <a:t>n</a:t>
            </a:r>
            <a:r>
              <a:rPr lang="en-US" dirty="0"/>
              <a:t> bits per location.</a:t>
            </a:r>
          </a:p>
          <a:p>
            <a:pPr lvl="1"/>
            <a:r>
              <a:rPr lang="en-US" dirty="0"/>
              <a:t>e.g. if we have 3 variables </a:t>
            </a:r>
            <a:r>
              <a:rPr lang="en-US" b="1" dirty="0">
                <a:latin typeface="Consolas" panose="020B0609020204030204" pitchFamily="49" charset="0"/>
                <a:cs typeface="Consolas" panose="020B0609020204030204" pitchFamily="49" charset="0"/>
              </a:rPr>
              <a:t>x</a:t>
            </a:r>
            <a:r>
              <a:rPr lang="en-US" dirty="0"/>
              <a:t>,</a:t>
            </a:r>
            <a:r>
              <a:rPr lang="en-US" b="1" dirty="0"/>
              <a:t> </a:t>
            </a:r>
            <a:r>
              <a:rPr lang="en-US" b="1" dirty="0">
                <a:latin typeface="Consolas" panose="020B0609020204030204" pitchFamily="49" charset="0"/>
                <a:cs typeface="Consolas" panose="020B0609020204030204" pitchFamily="49" charset="0"/>
              </a:rPr>
              <a:t>y</a:t>
            </a:r>
            <a:r>
              <a:rPr lang="en-US" dirty="0"/>
              <a:t>,</a:t>
            </a:r>
            <a:r>
              <a:rPr lang="en-US" b="1" dirty="0"/>
              <a:t> </a:t>
            </a:r>
            <a:r>
              <a:rPr lang="en-US" b="1" dirty="0">
                <a:latin typeface="Consolas" panose="020B0609020204030204" pitchFamily="49" charset="0"/>
                <a:cs typeface="Consolas" panose="020B0609020204030204" pitchFamily="49" charset="0"/>
              </a:rPr>
              <a:t>z…</a:t>
            </a:r>
          </a:p>
          <a:p>
            <a:pPr lvl="2"/>
            <a:r>
              <a:rPr lang="en-US" dirty="0"/>
              <a:t>then </a:t>
            </a:r>
            <a:r>
              <a:rPr lang="en-US" b="1" dirty="0">
                <a:solidFill>
                  <a:srgbClr val="FF0000"/>
                </a:solidFill>
                <a:latin typeface="Consolas" panose="020B0609020204030204" pitchFamily="49" charset="0"/>
                <a:cs typeface="Consolas" panose="020B0609020204030204" pitchFamily="49" charset="0"/>
              </a:rPr>
              <a:t>000</a:t>
            </a:r>
            <a:r>
              <a:rPr lang="en-US" dirty="0"/>
              <a:t> would mean all 3 are dead</a:t>
            </a:r>
          </a:p>
          <a:p>
            <a:pPr lvl="2"/>
            <a:r>
              <a:rPr lang="en-US" dirty="0"/>
              <a:t>and  </a:t>
            </a:r>
            <a:r>
              <a:rPr lang="en-US" b="1" dirty="0">
                <a:solidFill>
                  <a:srgbClr val="FF0000"/>
                </a:solidFill>
                <a:latin typeface="Consolas" panose="020B0609020204030204" pitchFamily="49" charset="0"/>
                <a:cs typeface="Consolas" panose="020B0609020204030204" pitchFamily="49" charset="0"/>
              </a:rPr>
              <a:t>0</a:t>
            </a:r>
            <a:r>
              <a:rPr lang="en-US" b="1" dirty="0">
                <a:solidFill>
                  <a:schemeClr val="accent3">
                    <a:lumMod val="75000"/>
                  </a:schemeClr>
                </a:solidFill>
                <a:latin typeface="Consolas" panose="020B0609020204030204" pitchFamily="49" charset="0"/>
                <a:cs typeface="Consolas" panose="020B0609020204030204" pitchFamily="49" charset="0"/>
              </a:rPr>
              <a:t>1</a:t>
            </a:r>
            <a:r>
              <a:rPr lang="en-US" b="1" dirty="0">
                <a:solidFill>
                  <a:srgbClr val="FF0000"/>
                </a:solidFill>
                <a:latin typeface="Consolas" panose="020B0609020204030204" pitchFamily="49" charset="0"/>
                <a:cs typeface="Consolas" panose="020B0609020204030204" pitchFamily="49" charset="0"/>
              </a:rPr>
              <a:t>0</a:t>
            </a:r>
            <a:r>
              <a:rPr lang="en-US" dirty="0"/>
              <a:t> would mean </a:t>
            </a:r>
            <a:r>
              <a:rPr lang="en-US" b="1" dirty="0">
                <a:latin typeface="Consolas" panose="020B0609020204030204" pitchFamily="49" charset="0"/>
                <a:cs typeface="Consolas" panose="020B0609020204030204" pitchFamily="49" charset="0"/>
              </a:rPr>
              <a:t>y</a:t>
            </a:r>
            <a:r>
              <a:rPr lang="en-US" dirty="0"/>
              <a:t> is live and </a:t>
            </a:r>
            <a:r>
              <a:rPr lang="en-US" b="1" dirty="0">
                <a:latin typeface="Consolas" panose="020B0609020204030204" pitchFamily="49" charset="0"/>
                <a:cs typeface="Consolas" panose="020B0609020204030204" pitchFamily="49" charset="0"/>
              </a:rPr>
              <a:t>x</a:t>
            </a:r>
            <a:r>
              <a:rPr lang="en-US" dirty="0"/>
              <a:t>/</a:t>
            </a:r>
            <a:r>
              <a:rPr lang="en-US" b="1" dirty="0">
                <a:latin typeface="Consolas" panose="020B0609020204030204" pitchFamily="49" charset="0"/>
                <a:cs typeface="Consolas" panose="020B0609020204030204" pitchFamily="49" charset="0"/>
              </a:rPr>
              <a:t>z</a:t>
            </a:r>
            <a:r>
              <a:rPr lang="en-US" dirty="0"/>
              <a:t> are dead.</a:t>
            </a:r>
          </a:p>
          <a:p>
            <a:r>
              <a:rPr lang="en-US" dirty="0"/>
              <a:t>this places liveness into a special class of analysis problems called </a:t>
            </a:r>
            <a:r>
              <a:rPr lang="en-US" b="1" dirty="0"/>
              <a:t>bit vector problems, </a:t>
            </a:r>
            <a:r>
              <a:rPr lang="en-US" dirty="0"/>
              <a:t>and you can guess why they're called that.</a:t>
            </a:r>
          </a:p>
          <a:p>
            <a:pPr lvl="1"/>
            <a:r>
              <a:rPr lang="en-US" dirty="0"/>
              <a:t>bitwise operations are fast, and bits are tiny!</a:t>
            </a:r>
          </a:p>
          <a:p>
            <a:pPr lvl="1"/>
            <a:r>
              <a:rPr lang="en-US" dirty="0"/>
              <a:t>think about the join function: if </a:t>
            </a:r>
            <a:r>
              <a:rPr lang="en-US" b="1" dirty="0"/>
              <a:t>any</a:t>
            </a:r>
            <a:r>
              <a:rPr lang="en-US" dirty="0"/>
              <a:t> of the successors are live (1)…</a:t>
            </a:r>
          </a:p>
          <a:p>
            <a:pPr lvl="2"/>
            <a:r>
              <a:rPr lang="en-US" dirty="0"/>
              <a:t>that means just </a:t>
            </a:r>
            <a:r>
              <a:rPr lang="en-US" dirty="0" err="1"/>
              <a:t>ORing</a:t>
            </a:r>
            <a:r>
              <a:rPr lang="en-US" dirty="0"/>
              <a:t> together all the successors.</a:t>
            </a:r>
          </a:p>
          <a:p>
            <a:r>
              <a:rPr lang="en-US" dirty="0"/>
              <a:t>okay. enough about liveness. how do we allocate registers?</a:t>
            </a:r>
          </a:p>
        </p:txBody>
      </p:sp>
      <p:sp>
        <p:nvSpPr>
          <p:cNvPr id="4" name="Slide Number Placeholder 3">
            <a:extLst>
              <a:ext uri="{FF2B5EF4-FFF2-40B4-BE49-F238E27FC236}">
                <a16:creationId xmlns:a16="http://schemas.microsoft.com/office/drawing/2014/main" id="{7C45CBB1-41AF-BA46-BC55-A7B14E08E3F8}"/>
              </a:ext>
            </a:extLst>
          </p:cNvPr>
          <p:cNvSpPr>
            <a:spLocks noGrp="1"/>
          </p:cNvSpPr>
          <p:nvPr>
            <p:ph type="sldNum" sz="quarter" idx="12"/>
          </p:nvPr>
        </p:nvSpPr>
        <p:spPr/>
        <p:txBody>
          <a:bodyPr/>
          <a:lstStyle/>
          <a:p>
            <a:fld id="{3552B95B-556F-44BD-91A5-D80C1B9E2BB3}" type="slidenum">
              <a:rPr lang="en-US" smtClean="0"/>
              <a:pPr/>
              <a:t>12</a:t>
            </a:fld>
            <a:endParaRPr lang="en-US"/>
          </a:p>
        </p:txBody>
      </p:sp>
    </p:spTree>
    <p:extLst>
      <p:ext uri="{BB962C8B-B14F-4D97-AF65-F5344CB8AC3E}">
        <p14:creationId xmlns:p14="http://schemas.microsoft.com/office/powerpoint/2010/main" val="91627235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167E7-EEC8-8B41-8646-273D34BF25E7}"/>
              </a:ext>
            </a:extLst>
          </p:cNvPr>
          <p:cNvSpPr>
            <a:spLocks noGrp="1"/>
          </p:cNvSpPr>
          <p:nvPr>
            <p:ph type="ctrTitle"/>
          </p:nvPr>
        </p:nvSpPr>
        <p:spPr/>
        <p:txBody>
          <a:bodyPr/>
          <a:lstStyle/>
          <a:p>
            <a:r>
              <a:rPr lang="en-US" dirty="0"/>
              <a:t>Register Allocation</a:t>
            </a:r>
            <a:br>
              <a:rPr lang="en-US" dirty="0"/>
            </a:br>
            <a:r>
              <a:rPr lang="en-US" sz="1050" dirty="0"/>
              <a:t>time check ≤ 27</a:t>
            </a:r>
            <a:endParaRPr lang="en-US" dirty="0"/>
          </a:p>
        </p:txBody>
      </p:sp>
      <p:sp>
        <p:nvSpPr>
          <p:cNvPr id="3" name="Slide Number Placeholder 2">
            <a:extLst>
              <a:ext uri="{FF2B5EF4-FFF2-40B4-BE49-F238E27FC236}">
                <a16:creationId xmlns:a16="http://schemas.microsoft.com/office/drawing/2014/main" id="{7CBC0F8B-A8AF-E64E-9CAD-CC03F688B63E}"/>
              </a:ext>
            </a:extLst>
          </p:cNvPr>
          <p:cNvSpPr>
            <a:spLocks noGrp="1"/>
          </p:cNvSpPr>
          <p:nvPr>
            <p:ph type="sldNum" sz="quarter" idx="12"/>
          </p:nvPr>
        </p:nvSpPr>
        <p:spPr/>
        <p:txBody>
          <a:bodyPr/>
          <a:lstStyle/>
          <a:p>
            <a:fld id="{3552B95B-556F-44BD-91A5-D80C1B9E2BB3}" type="slidenum">
              <a:rPr lang="en-US" smtClean="0"/>
              <a:pPr/>
              <a:t>13</a:t>
            </a:fld>
            <a:endParaRPr lang="en-US"/>
          </a:p>
        </p:txBody>
      </p:sp>
    </p:spTree>
    <p:extLst>
      <p:ext uri="{BB962C8B-B14F-4D97-AF65-F5344CB8AC3E}">
        <p14:creationId xmlns:p14="http://schemas.microsoft.com/office/powerpoint/2010/main" val="246060137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4D457-34F0-C74E-9E1E-4B827295E3F7}"/>
              </a:ext>
            </a:extLst>
          </p:cNvPr>
          <p:cNvSpPr>
            <a:spLocks noGrp="1"/>
          </p:cNvSpPr>
          <p:nvPr>
            <p:ph type="title"/>
          </p:nvPr>
        </p:nvSpPr>
        <p:spPr/>
        <p:txBody>
          <a:bodyPr/>
          <a:lstStyle/>
          <a:p>
            <a:r>
              <a:rPr lang="en-US" dirty="0"/>
              <a:t>State of the art circa 1980</a:t>
            </a:r>
          </a:p>
        </p:txBody>
      </p:sp>
      <p:sp>
        <p:nvSpPr>
          <p:cNvPr id="3" name="Content Placeholder 2">
            <a:extLst>
              <a:ext uri="{FF2B5EF4-FFF2-40B4-BE49-F238E27FC236}">
                <a16:creationId xmlns:a16="http://schemas.microsoft.com/office/drawing/2014/main" id="{4D094863-EE21-8049-9F69-57421243BA7F}"/>
              </a:ext>
            </a:extLst>
          </p:cNvPr>
          <p:cNvSpPr>
            <a:spLocks noGrp="1"/>
          </p:cNvSpPr>
          <p:nvPr>
            <p:ph idx="1"/>
          </p:nvPr>
        </p:nvSpPr>
        <p:spPr>
          <a:xfrm>
            <a:off x="152400" y="495301"/>
            <a:ext cx="8991600" cy="838199"/>
          </a:xfrm>
        </p:spPr>
        <p:txBody>
          <a:bodyPr/>
          <a:lstStyle/>
          <a:p>
            <a:r>
              <a:rPr lang="en-US" b="1" dirty="0"/>
              <a:t>currently, </a:t>
            </a:r>
            <a:r>
              <a:rPr lang="en-US" dirty="0"/>
              <a:t>our compiler places </a:t>
            </a:r>
            <a:r>
              <a:rPr lang="en-US" i="1" dirty="0"/>
              <a:t>all</a:t>
            </a:r>
            <a:r>
              <a:rPr lang="en-US" dirty="0"/>
              <a:t> locals (including </a:t>
            </a:r>
            <a:r>
              <a:rPr lang="en-US" dirty="0" err="1"/>
              <a:t>args</a:t>
            </a:r>
            <a:r>
              <a:rPr lang="en-US" dirty="0"/>
              <a:t>) </a:t>
            </a:r>
            <a:r>
              <a:rPr lang="en-US" b="1" dirty="0"/>
              <a:t>in memory.</a:t>
            </a:r>
          </a:p>
          <a:p>
            <a:pPr lvl="1"/>
            <a:r>
              <a:rPr lang="en-US" dirty="0"/>
              <a:t>so, accessing them requires loads and stores.</a:t>
            </a:r>
          </a:p>
        </p:txBody>
      </p:sp>
      <p:sp>
        <p:nvSpPr>
          <p:cNvPr id="4" name="Slide Number Placeholder 3">
            <a:extLst>
              <a:ext uri="{FF2B5EF4-FFF2-40B4-BE49-F238E27FC236}">
                <a16:creationId xmlns:a16="http://schemas.microsoft.com/office/drawing/2014/main" id="{50310C17-7BBE-B745-A190-026830B7A2EE}"/>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5" name="Rectangle 4">
            <a:extLst>
              <a:ext uri="{FF2B5EF4-FFF2-40B4-BE49-F238E27FC236}">
                <a16:creationId xmlns:a16="http://schemas.microsoft.com/office/drawing/2014/main" id="{63136DDD-47F4-994F-88AF-CE08E6868FFD}"/>
              </a:ext>
            </a:extLst>
          </p:cNvPr>
          <p:cNvSpPr/>
          <p:nvPr/>
        </p:nvSpPr>
        <p:spPr>
          <a:xfrm>
            <a:off x="1103366" y="1438512"/>
            <a:ext cx="1758127"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x = y + z;</a:t>
            </a:r>
          </a:p>
        </p:txBody>
      </p:sp>
      <p:sp>
        <p:nvSpPr>
          <p:cNvPr id="6" name="Down Arrow 5">
            <a:extLst>
              <a:ext uri="{FF2B5EF4-FFF2-40B4-BE49-F238E27FC236}">
                <a16:creationId xmlns:a16="http://schemas.microsoft.com/office/drawing/2014/main" id="{F501A594-A1C6-694A-88A9-7EB412ED8962}"/>
              </a:ext>
            </a:extLst>
          </p:cNvPr>
          <p:cNvSpPr/>
          <p:nvPr/>
        </p:nvSpPr>
        <p:spPr>
          <a:xfrm>
            <a:off x="1560566" y="1926458"/>
            <a:ext cx="609600" cy="6096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F864828-DA78-EE4E-BA6F-7BD34382A666}"/>
              </a:ext>
            </a:extLst>
          </p:cNvPr>
          <p:cNvSpPr/>
          <p:nvPr/>
        </p:nvSpPr>
        <p:spPr>
          <a:xfrm>
            <a:off x="610828" y="2582762"/>
            <a:ext cx="2743201" cy="1446550"/>
          </a:xfrm>
          <a:prstGeom prst="rect">
            <a:avLst/>
          </a:prstGeom>
        </p:spPr>
        <p:txBody>
          <a:bodyPr wrap="square">
            <a:spAutoFit/>
          </a:bodyPr>
          <a:lstStyle/>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s0, </a:t>
            </a:r>
            <a:r>
              <a:rPr lang="en-US" sz="2200" b="1" dirty="0">
                <a:solidFill>
                  <a:schemeClr val="accent3">
                    <a:lumMod val="75000"/>
                  </a:schemeClr>
                </a:solidFill>
                <a:latin typeface="Consolas" panose="020B0609020204030204" pitchFamily="49" charset="0"/>
                <a:cs typeface="Consolas" panose="020B0609020204030204" pitchFamily="49" charset="0"/>
              </a:rPr>
              <a:t>-12</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s1, </a:t>
            </a:r>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s0, s0, s1</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s0, </a:t>
            </a:r>
            <a:r>
              <a:rPr lang="en-US" sz="2200" b="1" dirty="0">
                <a:solidFill>
                  <a:schemeClr val="accent3">
                    <a:lumMod val="75000"/>
                  </a:schemeClr>
                </a:solidFill>
                <a:latin typeface="Consolas" panose="020B0609020204030204" pitchFamily="49" charset="0"/>
                <a:cs typeface="Consolas" panose="020B0609020204030204" pitchFamily="49" charset="0"/>
              </a:rPr>
              <a:t>-20</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3477A554-EF5E-A94C-BE84-11979883F049}"/>
              </a:ext>
            </a:extLst>
          </p:cNvPr>
          <p:cNvSpPr txBox="1"/>
          <p:nvPr/>
        </p:nvSpPr>
        <p:spPr>
          <a:xfrm>
            <a:off x="3541766" y="1333500"/>
            <a:ext cx="5297434" cy="769441"/>
          </a:xfrm>
          <a:prstGeom prst="rect">
            <a:avLst/>
          </a:prstGeom>
          <a:noFill/>
        </p:spPr>
        <p:txBody>
          <a:bodyPr wrap="square" rtlCol="0">
            <a:spAutoFit/>
          </a:bodyPr>
          <a:lstStyle/>
          <a:p>
            <a:pPr algn="ctr"/>
            <a:r>
              <a:rPr lang="en-US" sz="2200" dirty="0"/>
              <a:t>this is definitely </a:t>
            </a:r>
            <a:r>
              <a:rPr lang="en-US" sz="2200" b="1" dirty="0"/>
              <a:t>correct</a:t>
            </a:r>
            <a:r>
              <a:rPr lang="en-US" sz="2200" dirty="0"/>
              <a:t> (our main goal),</a:t>
            </a:r>
            <a:r>
              <a:rPr lang="en-US" sz="2200" b="1" dirty="0"/>
              <a:t> </a:t>
            </a:r>
            <a:r>
              <a:rPr lang="en-US" sz="2200" dirty="0"/>
              <a:t>but it has serious performance problems.</a:t>
            </a:r>
          </a:p>
        </p:txBody>
      </p:sp>
      <p:sp>
        <p:nvSpPr>
          <p:cNvPr id="9" name="TextBox 8">
            <a:extLst>
              <a:ext uri="{FF2B5EF4-FFF2-40B4-BE49-F238E27FC236}">
                <a16:creationId xmlns:a16="http://schemas.microsoft.com/office/drawing/2014/main" id="{BA22A46D-EDEE-9346-A3E4-2F8E64662726}"/>
              </a:ext>
            </a:extLst>
          </p:cNvPr>
          <p:cNvSpPr txBox="1"/>
          <p:nvPr/>
        </p:nvSpPr>
        <p:spPr>
          <a:xfrm>
            <a:off x="3541766" y="2149107"/>
            <a:ext cx="5297434" cy="769441"/>
          </a:xfrm>
          <a:prstGeom prst="rect">
            <a:avLst/>
          </a:prstGeom>
          <a:noFill/>
        </p:spPr>
        <p:txBody>
          <a:bodyPr wrap="square" rtlCol="0">
            <a:spAutoFit/>
          </a:bodyPr>
          <a:lstStyle/>
          <a:p>
            <a:pPr algn="ctr"/>
            <a:r>
              <a:rPr lang="en-US" sz="2200" dirty="0"/>
              <a:t>in, say, 1980, the memory in your computer was </a:t>
            </a:r>
            <a:r>
              <a:rPr lang="en-US" sz="2200" b="1" dirty="0"/>
              <a:t>faster than the CPU.</a:t>
            </a:r>
          </a:p>
        </p:txBody>
      </p:sp>
      <p:sp>
        <p:nvSpPr>
          <p:cNvPr id="10" name="TextBox 9">
            <a:extLst>
              <a:ext uri="{FF2B5EF4-FFF2-40B4-BE49-F238E27FC236}">
                <a16:creationId xmlns:a16="http://schemas.microsoft.com/office/drawing/2014/main" id="{E65D02CC-24CF-5F47-9A1F-C0C0F59F9DD8}"/>
              </a:ext>
            </a:extLst>
          </p:cNvPr>
          <p:cNvSpPr txBox="1"/>
          <p:nvPr/>
        </p:nvSpPr>
        <p:spPr>
          <a:xfrm>
            <a:off x="3541766" y="2988066"/>
            <a:ext cx="5297434" cy="769441"/>
          </a:xfrm>
          <a:prstGeom prst="rect">
            <a:avLst/>
          </a:prstGeom>
          <a:noFill/>
        </p:spPr>
        <p:txBody>
          <a:bodyPr wrap="square" rtlCol="0">
            <a:spAutoFit/>
          </a:bodyPr>
          <a:lstStyle/>
          <a:p>
            <a:pPr algn="ctr"/>
            <a:r>
              <a:rPr lang="en-US" sz="2200" dirty="0"/>
              <a:t>so loads, stores, and adds all took the </a:t>
            </a:r>
            <a:r>
              <a:rPr lang="en-US" sz="2200" b="1" dirty="0"/>
              <a:t>same amount of time.</a:t>
            </a:r>
          </a:p>
        </p:txBody>
      </p:sp>
      <p:sp>
        <p:nvSpPr>
          <p:cNvPr id="11" name="TextBox 10">
            <a:extLst>
              <a:ext uri="{FF2B5EF4-FFF2-40B4-BE49-F238E27FC236}">
                <a16:creationId xmlns:a16="http://schemas.microsoft.com/office/drawing/2014/main" id="{06F81E27-E334-BE43-8BA0-DBB212B5BC9B}"/>
              </a:ext>
            </a:extLst>
          </p:cNvPr>
          <p:cNvSpPr txBox="1"/>
          <p:nvPr/>
        </p:nvSpPr>
        <p:spPr>
          <a:xfrm>
            <a:off x="3541766" y="3827025"/>
            <a:ext cx="5297434" cy="430887"/>
          </a:xfrm>
          <a:prstGeom prst="rect">
            <a:avLst/>
          </a:prstGeom>
          <a:noFill/>
        </p:spPr>
        <p:txBody>
          <a:bodyPr wrap="square" rtlCol="0">
            <a:spAutoFit/>
          </a:bodyPr>
          <a:lstStyle/>
          <a:p>
            <a:pPr algn="ctr"/>
            <a:r>
              <a:rPr lang="en-US" sz="2200" i="1" dirty="0">
                <a:solidFill>
                  <a:srgbClr val="FF0000"/>
                </a:solidFill>
              </a:rPr>
              <a:t>that is absolutely not the case anymore.</a:t>
            </a:r>
            <a:endParaRPr lang="en-US" sz="2200" b="1" i="1" dirty="0">
              <a:solidFill>
                <a:srgbClr val="FF0000"/>
              </a:solidFill>
            </a:endParaRPr>
          </a:p>
        </p:txBody>
      </p:sp>
      <p:sp>
        <p:nvSpPr>
          <p:cNvPr id="12" name="TextBox 11">
            <a:extLst>
              <a:ext uri="{FF2B5EF4-FFF2-40B4-BE49-F238E27FC236}">
                <a16:creationId xmlns:a16="http://schemas.microsoft.com/office/drawing/2014/main" id="{D032BE10-E45D-7F4E-B00C-05482DDF9528}"/>
              </a:ext>
            </a:extLst>
          </p:cNvPr>
          <p:cNvSpPr txBox="1"/>
          <p:nvPr/>
        </p:nvSpPr>
        <p:spPr>
          <a:xfrm>
            <a:off x="1371600" y="4450258"/>
            <a:ext cx="6400800" cy="769441"/>
          </a:xfrm>
          <a:prstGeom prst="rect">
            <a:avLst/>
          </a:prstGeom>
          <a:noFill/>
        </p:spPr>
        <p:txBody>
          <a:bodyPr wrap="square" rtlCol="0">
            <a:spAutoFit/>
          </a:bodyPr>
          <a:lstStyle/>
          <a:p>
            <a:pPr algn="ctr"/>
            <a:r>
              <a:rPr lang="en-US" sz="2200" dirty="0"/>
              <a:t>in the absolute worst case, a load or store can take around</a:t>
            </a:r>
            <a:r>
              <a:rPr lang="en-US" sz="2200" dirty="0">
                <a:solidFill>
                  <a:srgbClr val="FF0000"/>
                </a:solidFill>
              </a:rPr>
              <a:t> </a:t>
            </a:r>
            <a:r>
              <a:rPr lang="en-US" sz="2200" b="1" dirty="0">
                <a:solidFill>
                  <a:srgbClr val="FF0000"/>
                </a:solidFill>
              </a:rPr>
              <a:t>100 times longer than an add.</a:t>
            </a:r>
          </a:p>
        </p:txBody>
      </p:sp>
    </p:spTree>
    <p:extLst>
      <p:ext uri="{BB962C8B-B14F-4D97-AF65-F5344CB8AC3E}">
        <p14:creationId xmlns:p14="http://schemas.microsoft.com/office/powerpoint/2010/main" val="11839977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P spid="10"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52DCA-48E4-8D4A-8340-B46CFB646188}"/>
              </a:ext>
            </a:extLst>
          </p:cNvPr>
          <p:cNvSpPr>
            <a:spLocks noGrp="1"/>
          </p:cNvSpPr>
          <p:nvPr>
            <p:ph type="title"/>
          </p:nvPr>
        </p:nvSpPr>
        <p:spPr/>
        <p:txBody>
          <a:bodyPr/>
          <a:lstStyle/>
          <a:p>
            <a:r>
              <a:rPr lang="en-US" dirty="0"/>
              <a:t>Not all doom and gloom</a:t>
            </a:r>
          </a:p>
        </p:txBody>
      </p:sp>
      <p:sp>
        <p:nvSpPr>
          <p:cNvPr id="3" name="Content Placeholder 2">
            <a:extLst>
              <a:ext uri="{FF2B5EF4-FFF2-40B4-BE49-F238E27FC236}">
                <a16:creationId xmlns:a16="http://schemas.microsoft.com/office/drawing/2014/main" id="{F6E59B20-A2B4-0A4E-9C87-1DE02D08048C}"/>
              </a:ext>
            </a:extLst>
          </p:cNvPr>
          <p:cNvSpPr>
            <a:spLocks noGrp="1"/>
          </p:cNvSpPr>
          <p:nvPr>
            <p:ph idx="1"/>
          </p:nvPr>
        </p:nvSpPr>
        <p:spPr>
          <a:xfrm>
            <a:off x="152400" y="495301"/>
            <a:ext cx="8991600" cy="1904999"/>
          </a:xfrm>
        </p:spPr>
        <p:txBody>
          <a:bodyPr/>
          <a:lstStyle/>
          <a:p>
            <a:r>
              <a:rPr lang="en-US" dirty="0"/>
              <a:t>due to Reasons You Learn In 1541™, that's just the </a:t>
            </a:r>
            <a:r>
              <a:rPr lang="en-US" i="1" dirty="0"/>
              <a:t>worst</a:t>
            </a:r>
            <a:r>
              <a:rPr lang="en-US" dirty="0"/>
              <a:t> case performance. some memory accesses </a:t>
            </a:r>
            <a:r>
              <a:rPr lang="en-US" i="1" dirty="0"/>
              <a:t>are</a:t>
            </a:r>
            <a:r>
              <a:rPr lang="en-US" dirty="0"/>
              <a:t> as fast as an add!</a:t>
            </a:r>
          </a:p>
          <a:p>
            <a:r>
              <a:rPr lang="en-US" dirty="0"/>
              <a:t>but memory accesses still cause issues for the CPU's pipeline.</a:t>
            </a:r>
          </a:p>
          <a:p>
            <a:r>
              <a:rPr lang="en-US" dirty="0"/>
              <a:t>and it's still, like, </a:t>
            </a:r>
            <a:r>
              <a:rPr lang="en-US" i="1" dirty="0"/>
              <a:t>more instructions. </a:t>
            </a:r>
            <a:r>
              <a:rPr lang="en-US" dirty="0"/>
              <a:t>cause what if our variables lived in registers instead?</a:t>
            </a:r>
          </a:p>
        </p:txBody>
      </p:sp>
      <p:sp>
        <p:nvSpPr>
          <p:cNvPr id="4" name="Slide Number Placeholder 3">
            <a:extLst>
              <a:ext uri="{FF2B5EF4-FFF2-40B4-BE49-F238E27FC236}">
                <a16:creationId xmlns:a16="http://schemas.microsoft.com/office/drawing/2014/main" id="{2C32A3B5-F3ED-DF4A-9AAD-CACF9DA5C5F2}"/>
              </a:ext>
            </a:extLst>
          </p:cNvPr>
          <p:cNvSpPr>
            <a:spLocks noGrp="1"/>
          </p:cNvSpPr>
          <p:nvPr>
            <p:ph type="sldNum" sz="quarter" idx="12"/>
          </p:nvPr>
        </p:nvSpPr>
        <p:spPr/>
        <p:txBody>
          <a:bodyPr/>
          <a:lstStyle/>
          <a:p>
            <a:fld id="{3552B95B-556F-44BD-91A5-D80C1B9E2BB3}" type="slidenum">
              <a:rPr lang="en-US" smtClean="0"/>
              <a:pPr/>
              <a:t>15</a:t>
            </a:fld>
            <a:endParaRPr lang="en-US"/>
          </a:p>
        </p:txBody>
      </p:sp>
      <p:sp>
        <p:nvSpPr>
          <p:cNvPr id="5" name="Rectangle 4">
            <a:extLst>
              <a:ext uri="{FF2B5EF4-FFF2-40B4-BE49-F238E27FC236}">
                <a16:creationId xmlns:a16="http://schemas.microsoft.com/office/drawing/2014/main" id="{67C22497-AF60-1945-97AC-EFEB8E71F477}"/>
              </a:ext>
            </a:extLst>
          </p:cNvPr>
          <p:cNvSpPr/>
          <p:nvPr/>
        </p:nvSpPr>
        <p:spPr>
          <a:xfrm>
            <a:off x="1213673" y="2628900"/>
            <a:ext cx="1758127"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x = y + z;</a:t>
            </a:r>
          </a:p>
        </p:txBody>
      </p:sp>
      <p:sp>
        <p:nvSpPr>
          <p:cNvPr id="6" name="Down Arrow 5">
            <a:extLst>
              <a:ext uri="{FF2B5EF4-FFF2-40B4-BE49-F238E27FC236}">
                <a16:creationId xmlns:a16="http://schemas.microsoft.com/office/drawing/2014/main" id="{604684C8-5A09-1840-8254-660F29D1A41A}"/>
              </a:ext>
            </a:extLst>
          </p:cNvPr>
          <p:cNvSpPr/>
          <p:nvPr/>
        </p:nvSpPr>
        <p:spPr>
          <a:xfrm>
            <a:off x="1787937" y="3106491"/>
            <a:ext cx="609600" cy="6096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049A915-4D2D-A343-BE28-DC92E8E7E34C}"/>
              </a:ext>
            </a:extLst>
          </p:cNvPr>
          <p:cNvSpPr/>
          <p:nvPr/>
        </p:nvSpPr>
        <p:spPr>
          <a:xfrm>
            <a:off x="838200" y="3762795"/>
            <a:ext cx="2438400" cy="430887"/>
          </a:xfrm>
          <a:prstGeom prst="rect">
            <a:avLst/>
          </a:prstGeom>
        </p:spPr>
        <p:txBody>
          <a:bodyPr wrap="square">
            <a:spAutoFit/>
          </a:bodyPr>
          <a:lstStyle/>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s0, s1, s2</a:t>
            </a:r>
          </a:p>
        </p:txBody>
      </p:sp>
      <p:sp>
        <p:nvSpPr>
          <p:cNvPr id="8" name="TextBox 7">
            <a:extLst>
              <a:ext uri="{FF2B5EF4-FFF2-40B4-BE49-F238E27FC236}">
                <a16:creationId xmlns:a16="http://schemas.microsoft.com/office/drawing/2014/main" id="{E5FEDD27-B20F-8143-8878-7D5B6A53D944}"/>
              </a:ext>
            </a:extLst>
          </p:cNvPr>
          <p:cNvSpPr txBox="1"/>
          <p:nvPr/>
        </p:nvSpPr>
        <p:spPr>
          <a:xfrm>
            <a:off x="3394278" y="2273629"/>
            <a:ext cx="5555847" cy="1107996"/>
          </a:xfrm>
          <a:prstGeom prst="rect">
            <a:avLst/>
          </a:prstGeom>
          <a:noFill/>
        </p:spPr>
        <p:txBody>
          <a:bodyPr wrap="square" rtlCol="0">
            <a:spAutoFit/>
          </a:bodyPr>
          <a:lstStyle/>
          <a:p>
            <a:pPr algn="ctr"/>
            <a:r>
              <a:rPr lang="en-US" sz="2200" dirty="0"/>
              <a:t>this is one of the reasons RISC ISAs like MIPS have so many registers to begin with: so you can use them for stuff like this.</a:t>
            </a:r>
            <a:endParaRPr lang="en-US" sz="2200" b="1" dirty="0">
              <a:solidFill>
                <a:srgbClr val="FF0000"/>
              </a:solidFill>
            </a:endParaRPr>
          </a:p>
        </p:txBody>
      </p:sp>
      <p:sp>
        <p:nvSpPr>
          <p:cNvPr id="9" name="TextBox 8">
            <a:extLst>
              <a:ext uri="{FF2B5EF4-FFF2-40B4-BE49-F238E27FC236}">
                <a16:creationId xmlns:a16="http://schemas.microsoft.com/office/drawing/2014/main" id="{E04F9DCC-E3A8-BA47-89D7-F4CD0B1FB5E4}"/>
              </a:ext>
            </a:extLst>
          </p:cNvPr>
          <p:cNvSpPr txBox="1"/>
          <p:nvPr/>
        </p:nvSpPr>
        <p:spPr>
          <a:xfrm>
            <a:off x="4097439" y="3470407"/>
            <a:ext cx="4149523" cy="1446550"/>
          </a:xfrm>
          <a:prstGeom prst="rect">
            <a:avLst/>
          </a:prstGeom>
          <a:noFill/>
        </p:spPr>
        <p:txBody>
          <a:bodyPr wrap="square" rtlCol="0">
            <a:spAutoFit/>
          </a:bodyPr>
          <a:lstStyle/>
          <a:p>
            <a:pPr algn="ctr"/>
            <a:r>
              <a:rPr lang="en-US" sz="2200" b="1" dirty="0"/>
              <a:t>more values in registers </a:t>
            </a:r>
            <a:r>
              <a:rPr lang="en-US" sz="2200" dirty="0"/>
              <a:t>means </a:t>
            </a:r>
            <a:r>
              <a:rPr lang="en-US" sz="2200" b="1" dirty="0"/>
              <a:t>fewer in memory </a:t>
            </a:r>
            <a:r>
              <a:rPr lang="en-US" sz="2200" dirty="0"/>
              <a:t>means </a:t>
            </a:r>
            <a:r>
              <a:rPr lang="en-US" sz="2200" b="1" dirty="0"/>
              <a:t>fewer loads/stores </a:t>
            </a:r>
            <a:r>
              <a:rPr lang="en-US" sz="2200" dirty="0"/>
              <a:t>means </a:t>
            </a:r>
            <a:r>
              <a:rPr lang="en-US" sz="2200" b="1" dirty="0"/>
              <a:t>higher performance.</a:t>
            </a:r>
            <a:endParaRPr lang="en-US" sz="2200" b="1" dirty="0">
              <a:solidFill>
                <a:srgbClr val="FF0000"/>
              </a:solidFill>
            </a:endParaRPr>
          </a:p>
        </p:txBody>
      </p:sp>
    </p:spTree>
    <p:extLst>
      <p:ext uri="{BB962C8B-B14F-4D97-AF65-F5344CB8AC3E}">
        <p14:creationId xmlns:p14="http://schemas.microsoft.com/office/powerpoint/2010/main" val="42091999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DA4BD-51E2-6F4B-A60F-90D8573129EB}"/>
              </a:ext>
            </a:extLst>
          </p:cNvPr>
          <p:cNvSpPr>
            <a:spLocks noGrp="1"/>
          </p:cNvSpPr>
          <p:nvPr>
            <p:ph type="title"/>
          </p:nvPr>
        </p:nvSpPr>
        <p:spPr/>
        <p:txBody>
          <a:bodyPr/>
          <a:lstStyle/>
          <a:p>
            <a:r>
              <a:rPr lang="en-US" dirty="0"/>
              <a:t>Real ABIs use registers</a:t>
            </a:r>
          </a:p>
        </p:txBody>
      </p:sp>
      <p:sp>
        <p:nvSpPr>
          <p:cNvPr id="3" name="Content Placeholder 2">
            <a:extLst>
              <a:ext uri="{FF2B5EF4-FFF2-40B4-BE49-F238E27FC236}">
                <a16:creationId xmlns:a16="http://schemas.microsoft.com/office/drawing/2014/main" id="{114C36C7-E658-E94C-8168-CDA8E6BE8EA0}"/>
              </a:ext>
            </a:extLst>
          </p:cNvPr>
          <p:cNvSpPr>
            <a:spLocks noGrp="1"/>
          </p:cNvSpPr>
          <p:nvPr>
            <p:ph idx="1"/>
          </p:nvPr>
        </p:nvSpPr>
        <p:spPr/>
        <p:txBody>
          <a:bodyPr/>
          <a:lstStyle/>
          <a:p>
            <a:r>
              <a:rPr lang="en-US" dirty="0"/>
              <a:t>as you learned in 447, the real MIPS ABI has four main kinds:</a:t>
            </a:r>
          </a:p>
          <a:p>
            <a:pPr lvl="1"/>
            <a:r>
              <a:rPr lang="en-US" b="1" dirty="0">
                <a:latin typeface="Consolas" panose="020B0609020204030204" pitchFamily="49" charset="0"/>
                <a:cs typeface="Consolas" panose="020B0609020204030204" pitchFamily="49" charset="0"/>
              </a:rPr>
              <a:t>a</a:t>
            </a:r>
            <a:r>
              <a:rPr lang="en-US" dirty="0"/>
              <a:t> registers, for </a:t>
            </a:r>
            <a:r>
              <a:rPr lang="en-US" b="1" dirty="0"/>
              <a:t>passing arguments</a:t>
            </a:r>
            <a:r>
              <a:rPr lang="en-US" dirty="0"/>
              <a:t> (which we aren't using)</a:t>
            </a:r>
          </a:p>
          <a:p>
            <a:pPr lvl="1"/>
            <a:r>
              <a:rPr lang="en-US" b="1" dirty="0">
                <a:latin typeface="Consolas" panose="020B0609020204030204" pitchFamily="49" charset="0"/>
                <a:cs typeface="Consolas" panose="020B0609020204030204" pitchFamily="49" charset="0"/>
              </a:rPr>
              <a:t>v</a:t>
            </a:r>
            <a:r>
              <a:rPr lang="en-US" dirty="0"/>
              <a:t> registers, for </a:t>
            </a:r>
            <a:r>
              <a:rPr lang="en-US" b="1" dirty="0"/>
              <a:t>returning values</a:t>
            </a:r>
          </a:p>
          <a:p>
            <a:pPr lvl="1"/>
            <a:r>
              <a:rPr lang="en-US" b="1" dirty="0">
                <a:latin typeface="Consolas" panose="020B0609020204030204" pitchFamily="49" charset="0"/>
                <a:cs typeface="Consolas" panose="020B0609020204030204" pitchFamily="49" charset="0"/>
              </a:rPr>
              <a:t>t</a:t>
            </a:r>
            <a:r>
              <a:rPr lang="en-US" dirty="0"/>
              <a:t> registers, for </a:t>
            </a:r>
            <a:r>
              <a:rPr lang="en-US" b="1" dirty="0"/>
              <a:t>temporaries </a:t>
            </a:r>
            <a:r>
              <a:rPr lang="en-US" dirty="0"/>
              <a:t>which </a:t>
            </a:r>
            <a:r>
              <a:rPr lang="en-US" dirty="0">
                <a:solidFill>
                  <a:srgbClr val="FF0000"/>
                </a:solidFill>
              </a:rPr>
              <a:t>do not cross </a:t>
            </a:r>
            <a:r>
              <a:rPr lang="en-US" b="1" dirty="0" err="1">
                <a:solidFill>
                  <a:srgbClr val="FF0000"/>
                </a:solidFill>
                <a:latin typeface="Consolas" panose="020B0609020204030204" pitchFamily="49" charset="0"/>
                <a:cs typeface="Consolas" panose="020B0609020204030204" pitchFamily="49" charset="0"/>
              </a:rPr>
              <a:t>jal</a:t>
            </a:r>
            <a:r>
              <a:rPr lang="en-US" dirty="0" err="1">
                <a:solidFill>
                  <a:srgbClr val="FF0000"/>
                </a:solidFill>
              </a:rPr>
              <a:t>s</a:t>
            </a:r>
            <a:endParaRPr lang="en-US" dirty="0">
              <a:solidFill>
                <a:srgbClr val="FF0000"/>
              </a:solidFill>
            </a:endParaRPr>
          </a:p>
          <a:p>
            <a:pPr lvl="1"/>
            <a:r>
              <a:rPr lang="en-US" b="1" dirty="0">
                <a:latin typeface="Consolas" panose="020B0609020204030204" pitchFamily="49" charset="0"/>
                <a:cs typeface="Consolas" panose="020B0609020204030204" pitchFamily="49" charset="0"/>
              </a:rPr>
              <a:t>s</a:t>
            </a:r>
            <a:r>
              <a:rPr lang="en-US" dirty="0"/>
              <a:t> registers, for </a:t>
            </a:r>
            <a:r>
              <a:rPr lang="en-US" b="1" dirty="0"/>
              <a:t>temporaries</a:t>
            </a:r>
            <a:r>
              <a:rPr lang="en-US" dirty="0"/>
              <a:t> which </a:t>
            </a:r>
            <a:r>
              <a:rPr lang="en-US" dirty="0">
                <a:solidFill>
                  <a:srgbClr val="00B050"/>
                </a:solidFill>
              </a:rPr>
              <a:t>do cross </a:t>
            </a:r>
            <a:r>
              <a:rPr lang="en-US" b="1" dirty="0" err="1">
                <a:solidFill>
                  <a:srgbClr val="00B050"/>
                </a:solidFill>
                <a:latin typeface="Consolas" panose="020B0609020204030204" pitchFamily="49" charset="0"/>
                <a:cs typeface="Consolas" panose="020B0609020204030204" pitchFamily="49" charset="0"/>
              </a:rPr>
              <a:t>jal</a:t>
            </a:r>
            <a:r>
              <a:rPr lang="en-US" dirty="0" err="1">
                <a:solidFill>
                  <a:srgbClr val="00B050"/>
                </a:solidFill>
              </a:rPr>
              <a:t>s</a:t>
            </a:r>
            <a:endParaRPr lang="en-US" dirty="0">
              <a:solidFill>
                <a:srgbClr val="00B050"/>
              </a:solidFill>
            </a:endParaRPr>
          </a:p>
          <a:p>
            <a:r>
              <a:rPr lang="en-US" dirty="0"/>
              <a:t>our compiler isn't even using </a:t>
            </a:r>
            <a:r>
              <a:rPr lang="en-US" b="1" dirty="0">
                <a:latin typeface="Consolas" panose="020B0609020204030204" pitchFamily="49" charset="0"/>
                <a:cs typeface="Consolas" panose="020B0609020204030204" pitchFamily="49" charset="0"/>
              </a:rPr>
              <a:t>a</a:t>
            </a:r>
            <a:r>
              <a:rPr lang="en-US" dirty="0"/>
              <a:t> or </a:t>
            </a:r>
            <a:r>
              <a:rPr lang="en-US" b="1" dirty="0">
                <a:latin typeface="Consolas" panose="020B0609020204030204" pitchFamily="49" charset="0"/>
                <a:cs typeface="Consolas" panose="020B0609020204030204" pitchFamily="49" charset="0"/>
              </a:rPr>
              <a:t>t</a:t>
            </a:r>
            <a:r>
              <a:rPr lang="en-US" dirty="0"/>
              <a:t> registers! how wasteful.</a:t>
            </a:r>
          </a:p>
          <a:p>
            <a:r>
              <a:rPr lang="en-US" dirty="0"/>
              <a:t>register allocation algorithms allow us to set up constraints to say "hey, this value </a:t>
            </a:r>
            <a:r>
              <a:rPr lang="en-US" i="1" dirty="0"/>
              <a:t>must</a:t>
            </a:r>
            <a:r>
              <a:rPr lang="en-US" dirty="0"/>
              <a:t> go in </a:t>
            </a:r>
            <a:r>
              <a:rPr lang="en-US" b="1" dirty="0">
                <a:latin typeface="Consolas" panose="020B0609020204030204" pitchFamily="49" charset="0"/>
                <a:cs typeface="Consolas" panose="020B0609020204030204" pitchFamily="49" charset="0"/>
              </a:rPr>
              <a:t>a0</a:t>
            </a:r>
            <a:r>
              <a:rPr lang="en-US" dirty="0"/>
              <a:t>" or similar, so that we can generate code that follows these real ABIs.</a:t>
            </a:r>
          </a:p>
        </p:txBody>
      </p:sp>
      <p:sp>
        <p:nvSpPr>
          <p:cNvPr id="4" name="Slide Number Placeholder 3">
            <a:extLst>
              <a:ext uri="{FF2B5EF4-FFF2-40B4-BE49-F238E27FC236}">
                <a16:creationId xmlns:a16="http://schemas.microsoft.com/office/drawing/2014/main" id="{E490BE41-0559-C94B-AB99-DE1B54C14567}"/>
              </a:ext>
            </a:extLst>
          </p:cNvPr>
          <p:cNvSpPr>
            <a:spLocks noGrp="1"/>
          </p:cNvSpPr>
          <p:nvPr>
            <p:ph type="sldNum" sz="quarter" idx="12"/>
          </p:nvPr>
        </p:nvSpPr>
        <p:spPr/>
        <p:txBody>
          <a:bodyPr/>
          <a:lstStyle/>
          <a:p>
            <a:fld id="{3552B95B-556F-44BD-91A5-D80C1B9E2BB3}" type="slidenum">
              <a:rPr lang="en-US" smtClean="0"/>
              <a:pPr/>
              <a:t>16</a:t>
            </a:fld>
            <a:endParaRPr lang="en-US"/>
          </a:p>
        </p:txBody>
      </p:sp>
    </p:spTree>
    <p:extLst>
      <p:ext uri="{BB962C8B-B14F-4D97-AF65-F5344CB8AC3E}">
        <p14:creationId xmlns:p14="http://schemas.microsoft.com/office/powerpoint/2010/main" val="48391450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0CEA4-A2EC-EB43-9BC4-14F0217939E5}"/>
              </a:ext>
            </a:extLst>
          </p:cNvPr>
          <p:cNvSpPr>
            <a:spLocks noGrp="1"/>
          </p:cNvSpPr>
          <p:nvPr>
            <p:ph type="title"/>
          </p:nvPr>
        </p:nvSpPr>
        <p:spPr/>
        <p:txBody>
          <a:bodyPr/>
          <a:lstStyle/>
          <a:p>
            <a:r>
              <a:rPr lang="en-US" dirty="0"/>
              <a:t>Under pressure</a:t>
            </a:r>
          </a:p>
        </p:txBody>
      </p:sp>
      <p:sp>
        <p:nvSpPr>
          <p:cNvPr id="3" name="Content Placeholder 2">
            <a:extLst>
              <a:ext uri="{FF2B5EF4-FFF2-40B4-BE49-F238E27FC236}">
                <a16:creationId xmlns:a16="http://schemas.microsoft.com/office/drawing/2014/main" id="{909BCA9C-8149-DA46-8010-1503C99D0D21}"/>
              </a:ext>
            </a:extLst>
          </p:cNvPr>
          <p:cNvSpPr>
            <a:spLocks noGrp="1"/>
          </p:cNvSpPr>
          <p:nvPr>
            <p:ph idx="1"/>
          </p:nvPr>
        </p:nvSpPr>
        <p:spPr/>
        <p:txBody>
          <a:bodyPr/>
          <a:lstStyle/>
          <a:p>
            <a:r>
              <a:rPr lang="en-US" dirty="0"/>
              <a:t>the core idea of register allocation is simple:</a:t>
            </a:r>
          </a:p>
          <a:p>
            <a:pPr lvl="1"/>
            <a:r>
              <a:rPr lang="en-US" dirty="0"/>
              <a:t>a function has </a:t>
            </a:r>
            <a:r>
              <a:rPr lang="en-US" b="1" i="1" dirty="0"/>
              <a:t>v</a:t>
            </a:r>
            <a:r>
              <a:rPr lang="en-US" dirty="0"/>
              <a:t> variables, and the CPU has </a:t>
            </a:r>
            <a:r>
              <a:rPr lang="en-US" b="1" i="1" dirty="0"/>
              <a:t>r</a:t>
            </a:r>
            <a:r>
              <a:rPr lang="en-US" dirty="0"/>
              <a:t> registers.</a:t>
            </a:r>
          </a:p>
          <a:p>
            <a:pPr lvl="1"/>
            <a:r>
              <a:rPr lang="en-US" dirty="0"/>
              <a:t>if </a:t>
            </a:r>
            <a:r>
              <a:rPr lang="en-US" b="1" i="1" dirty="0"/>
              <a:t>v</a:t>
            </a:r>
            <a:r>
              <a:rPr lang="en-US" dirty="0"/>
              <a:t> ≤ </a:t>
            </a:r>
            <a:r>
              <a:rPr lang="en-US" b="1" i="1" dirty="0"/>
              <a:t>r</a:t>
            </a:r>
            <a:r>
              <a:rPr lang="en-US" dirty="0"/>
              <a:t>, it's easy: assign each variable to a register. done!</a:t>
            </a:r>
          </a:p>
          <a:p>
            <a:pPr lvl="1"/>
            <a:r>
              <a:rPr lang="en-US" dirty="0"/>
              <a:t>if </a:t>
            </a:r>
            <a:r>
              <a:rPr lang="en-US" b="1" i="1" dirty="0"/>
              <a:t>v</a:t>
            </a:r>
            <a:r>
              <a:rPr lang="en-US" dirty="0"/>
              <a:t> &gt; </a:t>
            </a:r>
            <a:r>
              <a:rPr lang="en-US" b="1" i="1" dirty="0"/>
              <a:t>r</a:t>
            </a:r>
            <a:r>
              <a:rPr lang="en-US" dirty="0"/>
              <a:t>, put (</a:t>
            </a:r>
            <a:r>
              <a:rPr lang="en-US" b="1" i="1" dirty="0"/>
              <a:t>v</a:t>
            </a:r>
            <a:r>
              <a:rPr lang="en-US" dirty="0"/>
              <a:t> - </a:t>
            </a:r>
            <a:r>
              <a:rPr lang="en-US" b="1" i="1" dirty="0"/>
              <a:t>r</a:t>
            </a:r>
            <a:r>
              <a:rPr lang="en-US" dirty="0"/>
              <a:t>) variables in memory, and the rest in registers.</a:t>
            </a:r>
          </a:p>
          <a:p>
            <a:r>
              <a:rPr lang="en-US" dirty="0"/>
              <a:t>but this is </a:t>
            </a:r>
            <a:r>
              <a:rPr lang="en-US" i="1" dirty="0"/>
              <a:t>too</a:t>
            </a:r>
            <a:r>
              <a:rPr lang="en-US" dirty="0"/>
              <a:t> simplistic, even for simple functions.</a:t>
            </a:r>
          </a:p>
          <a:p>
            <a:pPr lvl="1"/>
            <a:r>
              <a:rPr lang="en-US" dirty="0"/>
              <a:t>our IR creates a </a:t>
            </a:r>
            <a:r>
              <a:rPr lang="en-US" b="1" dirty="0"/>
              <a:t>lot </a:t>
            </a:r>
            <a:r>
              <a:rPr lang="en-US" dirty="0"/>
              <a:t>of temporary variables. </a:t>
            </a:r>
          </a:p>
          <a:p>
            <a:pPr lvl="1"/>
            <a:r>
              <a:rPr lang="en-US" dirty="0"/>
              <a:t>this increases </a:t>
            </a:r>
            <a:r>
              <a:rPr lang="en-US" b="1" dirty="0"/>
              <a:t>register pressure: </a:t>
            </a:r>
            <a:r>
              <a:rPr lang="en-US" dirty="0"/>
              <a:t>the number of values we "want" to keep in registers at any given time.</a:t>
            </a:r>
          </a:p>
          <a:p>
            <a:r>
              <a:rPr lang="en-US" dirty="0"/>
              <a:t>some optimization passes </a:t>
            </a:r>
            <a:r>
              <a:rPr lang="en-US" i="1" dirty="0"/>
              <a:t>also</a:t>
            </a:r>
            <a:r>
              <a:rPr lang="en-US" dirty="0"/>
              <a:t> increase register pressure!</a:t>
            </a:r>
          </a:p>
          <a:p>
            <a:pPr lvl="1"/>
            <a:r>
              <a:rPr lang="en-US" dirty="0"/>
              <a:t>e.g. </a:t>
            </a:r>
            <a:r>
              <a:rPr lang="en-US" b="1" dirty="0"/>
              <a:t>function </a:t>
            </a:r>
            <a:r>
              <a:rPr lang="en-US" b="1" dirty="0" err="1"/>
              <a:t>inlining</a:t>
            </a:r>
            <a:r>
              <a:rPr lang="en-US" b="1" dirty="0"/>
              <a:t> </a:t>
            </a:r>
            <a:r>
              <a:rPr lang="en-US" dirty="0"/>
              <a:t>can really blow up the number of locals.</a:t>
            </a:r>
          </a:p>
          <a:p>
            <a:r>
              <a:rPr lang="en-US" dirty="0"/>
              <a:t>so, we need something that tells us </a:t>
            </a:r>
            <a:r>
              <a:rPr lang="en-US" b="1" dirty="0"/>
              <a:t>which variables are "in use" at any given time, </a:t>
            </a:r>
            <a:r>
              <a:rPr lang="en-US" dirty="0"/>
              <a:t>and assign registers based on that.</a:t>
            </a:r>
          </a:p>
          <a:p>
            <a:pPr lvl="1"/>
            <a:r>
              <a:rPr lang="en-US" dirty="0"/>
              <a:t>…</a:t>
            </a:r>
          </a:p>
          <a:p>
            <a:pPr lvl="1"/>
            <a:r>
              <a:rPr lang="en-US" dirty="0"/>
              <a:t>…oh right, that's liveness :)</a:t>
            </a:r>
          </a:p>
        </p:txBody>
      </p:sp>
      <p:sp>
        <p:nvSpPr>
          <p:cNvPr id="4" name="Slide Number Placeholder 3">
            <a:extLst>
              <a:ext uri="{FF2B5EF4-FFF2-40B4-BE49-F238E27FC236}">
                <a16:creationId xmlns:a16="http://schemas.microsoft.com/office/drawing/2014/main" id="{34BA8D41-FAB7-C945-9B8B-0DA5FE378C21}"/>
              </a:ext>
            </a:extLst>
          </p:cNvPr>
          <p:cNvSpPr>
            <a:spLocks noGrp="1"/>
          </p:cNvSpPr>
          <p:nvPr>
            <p:ph type="sldNum" sz="quarter" idx="12"/>
          </p:nvPr>
        </p:nvSpPr>
        <p:spPr/>
        <p:txBody>
          <a:bodyPr/>
          <a:lstStyle/>
          <a:p>
            <a:fld id="{3552B95B-556F-44BD-91A5-D80C1B9E2BB3}" type="slidenum">
              <a:rPr lang="en-US" smtClean="0"/>
              <a:pPr/>
              <a:t>17</a:t>
            </a:fld>
            <a:endParaRPr lang="en-US"/>
          </a:p>
        </p:txBody>
      </p:sp>
    </p:spTree>
    <p:extLst>
      <p:ext uri="{BB962C8B-B14F-4D97-AF65-F5344CB8AC3E}">
        <p14:creationId xmlns:p14="http://schemas.microsoft.com/office/powerpoint/2010/main" val="367185228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EFD6-F5FA-A14A-9048-188044B7C3F5}"/>
              </a:ext>
            </a:extLst>
          </p:cNvPr>
          <p:cNvSpPr>
            <a:spLocks noGrp="1"/>
          </p:cNvSpPr>
          <p:nvPr>
            <p:ph type="ctrTitle"/>
          </p:nvPr>
        </p:nvSpPr>
        <p:spPr/>
        <p:txBody>
          <a:bodyPr/>
          <a:lstStyle/>
          <a:p>
            <a:r>
              <a:rPr lang="en-US" dirty="0"/>
              <a:t>The Register </a:t>
            </a:r>
            <a:br>
              <a:rPr lang="en-US" dirty="0"/>
            </a:br>
            <a:r>
              <a:rPr lang="en-US" dirty="0"/>
              <a:t>Interference Graph</a:t>
            </a:r>
            <a:br>
              <a:rPr lang="en-US" dirty="0"/>
            </a:br>
            <a:r>
              <a:rPr lang="en-US" sz="1050" dirty="0"/>
              <a:t>time check ≤ 40</a:t>
            </a:r>
            <a:endParaRPr lang="en-US" dirty="0"/>
          </a:p>
        </p:txBody>
      </p:sp>
      <p:sp>
        <p:nvSpPr>
          <p:cNvPr id="3" name="Slide Number Placeholder 2">
            <a:extLst>
              <a:ext uri="{FF2B5EF4-FFF2-40B4-BE49-F238E27FC236}">
                <a16:creationId xmlns:a16="http://schemas.microsoft.com/office/drawing/2014/main" id="{C51AE495-0F83-EC4E-A726-92BA62558464}"/>
              </a:ext>
            </a:extLst>
          </p:cNvPr>
          <p:cNvSpPr>
            <a:spLocks noGrp="1"/>
          </p:cNvSpPr>
          <p:nvPr>
            <p:ph type="sldNum" sz="quarter" idx="12"/>
          </p:nvPr>
        </p:nvSpPr>
        <p:spPr/>
        <p:txBody>
          <a:bodyPr/>
          <a:lstStyle/>
          <a:p>
            <a:fld id="{3552B95B-556F-44BD-91A5-D80C1B9E2BB3}" type="slidenum">
              <a:rPr lang="en-US" smtClean="0"/>
              <a:pPr/>
              <a:t>18</a:t>
            </a:fld>
            <a:endParaRPr lang="en-US"/>
          </a:p>
        </p:txBody>
      </p:sp>
    </p:spTree>
    <p:extLst>
      <p:ext uri="{BB962C8B-B14F-4D97-AF65-F5344CB8AC3E}">
        <p14:creationId xmlns:p14="http://schemas.microsoft.com/office/powerpoint/2010/main" val="333607411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AC396-556E-F14F-80E5-D1BC27FA2B10}"/>
              </a:ext>
            </a:extLst>
          </p:cNvPr>
          <p:cNvSpPr>
            <a:spLocks noGrp="1"/>
          </p:cNvSpPr>
          <p:nvPr>
            <p:ph type="title"/>
          </p:nvPr>
        </p:nvSpPr>
        <p:spPr/>
        <p:txBody>
          <a:bodyPr/>
          <a:lstStyle/>
          <a:p>
            <a:r>
              <a:rPr lang="en-US" dirty="0"/>
              <a:t>Oh boy, more graphs! </a:t>
            </a:r>
            <a:r>
              <a:rPr lang="en-US" dirty="0" err="1"/>
              <a:t>Whee</a:t>
            </a:r>
            <a:r>
              <a:rPr lang="en-US" dirty="0"/>
              <a:t>!</a:t>
            </a:r>
          </a:p>
        </p:txBody>
      </p:sp>
      <p:sp>
        <p:nvSpPr>
          <p:cNvPr id="3" name="Content Placeholder 2">
            <a:extLst>
              <a:ext uri="{FF2B5EF4-FFF2-40B4-BE49-F238E27FC236}">
                <a16:creationId xmlns:a16="http://schemas.microsoft.com/office/drawing/2014/main" id="{52502DC4-F475-6E41-9E75-9D179B8D13C7}"/>
              </a:ext>
            </a:extLst>
          </p:cNvPr>
          <p:cNvSpPr>
            <a:spLocks noGrp="1"/>
          </p:cNvSpPr>
          <p:nvPr>
            <p:ph idx="1"/>
          </p:nvPr>
        </p:nvSpPr>
        <p:spPr>
          <a:xfrm>
            <a:off x="152400" y="495301"/>
            <a:ext cx="8991600" cy="1828799"/>
          </a:xfrm>
        </p:spPr>
        <p:txBody>
          <a:bodyPr/>
          <a:lstStyle/>
          <a:p>
            <a:r>
              <a:rPr lang="en-US" dirty="0"/>
              <a:t>the Register Interference Graph (</a:t>
            </a:r>
            <a:r>
              <a:rPr lang="en-US" b="1" dirty="0"/>
              <a:t>RIG</a:t>
            </a:r>
            <a:r>
              <a:rPr lang="en-US" dirty="0"/>
              <a:t>) is the data structure used for register allocation. it is an</a:t>
            </a:r>
            <a:r>
              <a:rPr lang="en-US" b="1" dirty="0"/>
              <a:t> undirected graph </a:t>
            </a:r>
            <a:r>
              <a:rPr lang="en-US" dirty="0"/>
              <a:t>with:</a:t>
            </a:r>
          </a:p>
          <a:p>
            <a:pPr lvl="1"/>
            <a:r>
              <a:rPr lang="en-US" b="1" dirty="0"/>
              <a:t>one node</a:t>
            </a:r>
            <a:r>
              <a:rPr lang="en-US" dirty="0"/>
              <a:t> for </a:t>
            </a:r>
            <a:r>
              <a:rPr lang="en-US" b="1" dirty="0"/>
              <a:t>each local</a:t>
            </a:r>
            <a:r>
              <a:rPr lang="en-US" dirty="0"/>
              <a:t> in the function; and</a:t>
            </a:r>
          </a:p>
          <a:p>
            <a:pPr lvl="1"/>
            <a:r>
              <a:rPr lang="en-US" dirty="0"/>
              <a:t>an </a:t>
            </a:r>
            <a:r>
              <a:rPr lang="en-US" b="1" dirty="0"/>
              <a:t>edge </a:t>
            </a:r>
            <a:r>
              <a:rPr lang="en-US" dirty="0"/>
              <a:t>between any two locals which are </a:t>
            </a:r>
            <a:r>
              <a:rPr lang="en-US" b="1" dirty="0"/>
              <a:t>live at the same time.</a:t>
            </a:r>
          </a:p>
          <a:p>
            <a:r>
              <a:rPr lang="en-US" dirty="0"/>
              <a:t>here is a small function and its RIG.</a:t>
            </a:r>
          </a:p>
        </p:txBody>
      </p:sp>
      <p:sp>
        <p:nvSpPr>
          <p:cNvPr id="4" name="Slide Number Placeholder 3">
            <a:extLst>
              <a:ext uri="{FF2B5EF4-FFF2-40B4-BE49-F238E27FC236}">
                <a16:creationId xmlns:a16="http://schemas.microsoft.com/office/drawing/2014/main" id="{FB5BF56F-80A4-7540-B125-7EE9A8BB75AB}"/>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Rectangle 4">
            <a:extLst>
              <a:ext uri="{FF2B5EF4-FFF2-40B4-BE49-F238E27FC236}">
                <a16:creationId xmlns:a16="http://schemas.microsoft.com/office/drawing/2014/main" id="{DAF12638-E349-A243-BC9C-72A63641D4FF}"/>
              </a:ext>
            </a:extLst>
          </p:cNvPr>
          <p:cNvSpPr/>
          <p:nvPr/>
        </p:nvSpPr>
        <p:spPr>
          <a:xfrm>
            <a:off x="910737" y="2400300"/>
            <a:ext cx="3585063" cy="2246769"/>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riggy</a:t>
            </a:r>
            <a:r>
              <a:rPr lang="en-US" sz="2000" b="1" dirty="0">
                <a:latin typeface="Consolas" panose="020B0609020204030204" pitchFamily="49" charset="0"/>
                <a:cs typeface="Consolas" panose="020B0609020204030204" pitchFamily="49" charset="0"/>
              </a:rPr>
              <a:t>(a: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 +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let </a:t>
            </a:r>
            <a:r>
              <a:rPr lang="en-US" sz="2000" b="1" dirty="0">
                <a:latin typeface="Consolas" panose="020B0609020204030204" pitchFamily="49" charset="0"/>
                <a:cs typeface="Consolas" panose="020B0609020204030204" pitchFamily="49" charset="0"/>
              </a:rPr>
              <a:t>y = </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(y);</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a:t>
            </a:r>
          </a:p>
          <a:p>
            <a:r>
              <a:rPr lang="en-US" sz="2000" b="1" dirty="0">
                <a:latin typeface="Consolas" panose="020B0609020204030204" pitchFamily="49" charset="0"/>
                <a:cs typeface="Consolas" panose="020B0609020204030204" pitchFamily="49" charset="0"/>
              </a:rPr>
              <a:t>}</a:t>
            </a:r>
          </a:p>
        </p:txBody>
      </p:sp>
      <p:grpSp>
        <p:nvGrpSpPr>
          <p:cNvPr id="18" name="Group 17">
            <a:extLst>
              <a:ext uri="{FF2B5EF4-FFF2-40B4-BE49-F238E27FC236}">
                <a16:creationId xmlns:a16="http://schemas.microsoft.com/office/drawing/2014/main" id="{46CC386C-899A-D445-ABAA-1FD8125FF9AE}"/>
              </a:ext>
            </a:extLst>
          </p:cNvPr>
          <p:cNvGrpSpPr/>
          <p:nvPr/>
        </p:nvGrpSpPr>
        <p:grpSpPr>
          <a:xfrm>
            <a:off x="3200400" y="3543300"/>
            <a:ext cx="1756265" cy="1161484"/>
            <a:chOff x="3048000" y="3296216"/>
            <a:chExt cx="1756265" cy="1161484"/>
          </a:xfrm>
        </p:grpSpPr>
        <p:sp>
          <p:nvSpPr>
            <p:cNvPr id="6" name="Oval 5">
              <a:extLst>
                <a:ext uri="{FF2B5EF4-FFF2-40B4-BE49-F238E27FC236}">
                  <a16:creationId xmlns:a16="http://schemas.microsoft.com/office/drawing/2014/main" id="{0973BA52-1ADB-5F4D-9E82-A3DB5ACAA91A}"/>
                </a:ext>
              </a:extLst>
            </p:cNvPr>
            <p:cNvSpPr/>
            <p:nvPr/>
          </p:nvSpPr>
          <p:spPr>
            <a:xfrm>
              <a:off x="3657600" y="3296216"/>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a</a:t>
              </a:r>
            </a:p>
          </p:txBody>
        </p:sp>
        <p:sp>
          <p:nvSpPr>
            <p:cNvPr id="8" name="Oval 7">
              <a:extLst>
                <a:ext uri="{FF2B5EF4-FFF2-40B4-BE49-F238E27FC236}">
                  <a16:creationId xmlns:a16="http://schemas.microsoft.com/office/drawing/2014/main" id="{CAD43D7D-EC95-7E45-A7BB-C4848C16EF6C}"/>
                </a:ext>
              </a:extLst>
            </p:cNvPr>
            <p:cNvSpPr/>
            <p:nvPr/>
          </p:nvSpPr>
          <p:spPr>
            <a:xfrm>
              <a:off x="3048000" y="3962400"/>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x</a:t>
              </a:r>
            </a:p>
          </p:txBody>
        </p:sp>
        <p:sp>
          <p:nvSpPr>
            <p:cNvPr id="9" name="Oval 8">
              <a:extLst>
                <a:ext uri="{FF2B5EF4-FFF2-40B4-BE49-F238E27FC236}">
                  <a16:creationId xmlns:a16="http://schemas.microsoft.com/office/drawing/2014/main" id="{02E5A4E8-A3AC-9749-8BCF-1FB34C7B6AA7}"/>
                </a:ext>
              </a:extLst>
            </p:cNvPr>
            <p:cNvSpPr/>
            <p:nvPr/>
          </p:nvSpPr>
          <p:spPr>
            <a:xfrm>
              <a:off x="4308965" y="3962400"/>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y</a:t>
              </a:r>
            </a:p>
          </p:txBody>
        </p:sp>
        <p:cxnSp>
          <p:nvCxnSpPr>
            <p:cNvPr id="11" name="Straight Connector 10">
              <a:extLst>
                <a:ext uri="{FF2B5EF4-FFF2-40B4-BE49-F238E27FC236}">
                  <a16:creationId xmlns:a16="http://schemas.microsoft.com/office/drawing/2014/main" id="{2915E5C1-3609-D242-BD2F-C192762BC8B0}"/>
                </a:ext>
              </a:extLst>
            </p:cNvPr>
            <p:cNvCxnSpPr>
              <a:stCxn id="8" idx="7"/>
              <a:endCxn id="6" idx="3"/>
            </p:cNvCxnSpPr>
            <p:nvPr/>
          </p:nvCxnSpPr>
          <p:spPr>
            <a:xfrm flipV="1">
              <a:off x="3470765" y="3718981"/>
              <a:ext cx="259370" cy="3159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2C15176-D25E-8949-8881-DB1A7F0510F0}"/>
                </a:ext>
              </a:extLst>
            </p:cNvPr>
            <p:cNvCxnSpPr>
              <a:cxnSpLocks/>
              <a:stCxn id="9" idx="1"/>
              <a:endCxn id="6" idx="5"/>
            </p:cNvCxnSpPr>
            <p:nvPr/>
          </p:nvCxnSpPr>
          <p:spPr>
            <a:xfrm flipH="1" flipV="1">
              <a:off x="4080365" y="3718981"/>
              <a:ext cx="301135" cy="3159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7B2BD7FE-5C0A-C84F-82AC-7493A079F15E}"/>
              </a:ext>
            </a:extLst>
          </p:cNvPr>
          <p:cNvSpPr txBox="1"/>
          <p:nvPr/>
        </p:nvSpPr>
        <p:spPr>
          <a:xfrm>
            <a:off x="4800602" y="2350584"/>
            <a:ext cx="4149523" cy="1446550"/>
          </a:xfrm>
          <a:prstGeom prst="rect">
            <a:avLst/>
          </a:prstGeom>
          <a:noFill/>
        </p:spPr>
        <p:txBody>
          <a:bodyPr wrap="square" rtlCol="0">
            <a:spAutoFit/>
          </a:bodyPr>
          <a:lstStyle/>
          <a:p>
            <a:pPr algn="ctr"/>
            <a:r>
              <a:rPr lang="en-US" sz="2200" dirty="0"/>
              <a:t>these two edges indicate that </a:t>
            </a:r>
            <a:r>
              <a:rPr lang="en-US" sz="2200" b="1" dirty="0">
                <a:solidFill>
                  <a:srgbClr val="FF0000"/>
                </a:solidFill>
                <a:latin typeface="Consolas" panose="020B0609020204030204" pitchFamily="49" charset="0"/>
                <a:cs typeface="Consolas" panose="020B0609020204030204" pitchFamily="49" charset="0"/>
              </a:rPr>
              <a:t>a</a:t>
            </a:r>
            <a:r>
              <a:rPr lang="en-US" sz="2200" b="1" dirty="0">
                <a:solidFill>
                  <a:srgbClr val="FF0000"/>
                </a:solidFill>
              </a:rPr>
              <a:t> </a:t>
            </a:r>
            <a:r>
              <a:rPr lang="en-US" sz="2200" dirty="0">
                <a:solidFill>
                  <a:srgbClr val="FF0000"/>
                </a:solidFill>
              </a:rPr>
              <a:t>and </a:t>
            </a:r>
            <a:r>
              <a:rPr lang="en-US" sz="2200" b="1" dirty="0">
                <a:solidFill>
                  <a:srgbClr val="FF0000"/>
                </a:solidFill>
                <a:latin typeface="Consolas" panose="020B0609020204030204" pitchFamily="49" charset="0"/>
                <a:cs typeface="Consolas" panose="020B0609020204030204" pitchFamily="49" charset="0"/>
              </a:rPr>
              <a:t>x</a:t>
            </a:r>
            <a:r>
              <a:rPr lang="en-US" sz="2200" dirty="0">
                <a:solidFill>
                  <a:srgbClr val="FF0000"/>
                </a:solidFill>
              </a:rPr>
              <a:t> are live at the same time,</a:t>
            </a:r>
            <a:r>
              <a:rPr lang="en-US" sz="2200" dirty="0"/>
              <a:t> and </a:t>
            </a:r>
            <a:r>
              <a:rPr lang="en-US" sz="2200" dirty="0">
                <a:solidFill>
                  <a:srgbClr val="FF0000"/>
                </a:solidFill>
              </a:rPr>
              <a:t>so are </a:t>
            </a:r>
            <a:r>
              <a:rPr lang="en-US" sz="2200" b="1" dirty="0">
                <a:solidFill>
                  <a:srgbClr val="FF0000"/>
                </a:solidFill>
                <a:latin typeface="Consolas" panose="020B0609020204030204" pitchFamily="49" charset="0"/>
                <a:cs typeface="Consolas" panose="020B0609020204030204" pitchFamily="49" charset="0"/>
              </a:rPr>
              <a:t>a</a:t>
            </a:r>
            <a:r>
              <a:rPr lang="en-US" sz="2200" b="1" dirty="0">
                <a:solidFill>
                  <a:srgbClr val="FF0000"/>
                </a:solidFill>
              </a:rPr>
              <a:t> </a:t>
            </a:r>
            <a:r>
              <a:rPr lang="en-US" sz="2200" dirty="0">
                <a:solidFill>
                  <a:srgbClr val="FF0000"/>
                </a:solidFill>
              </a:rPr>
              <a:t>and </a:t>
            </a:r>
            <a:r>
              <a:rPr lang="en-US" sz="2200" b="1" dirty="0">
                <a:solidFill>
                  <a:srgbClr val="FF0000"/>
                </a:solidFill>
                <a:latin typeface="Consolas" panose="020B0609020204030204" pitchFamily="49" charset="0"/>
                <a:cs typeface="Consolas" panose="020B0609020204030204" pitchFamily="49" charset="0"/>
              </a:rPr>
              <a:t>y</a:t>
            </a:r>
            <a:r>
              <a:rPr lang="en-US" sz="2200" dirty="0">
                <a:solidFill>
                  <a:srgbClr val="FF0000"/>
                </a:solidFill>
              </a:rPr>
              <a:t>,</a:t>
            </a:r>
            <a:r>
              <a:rPr lang="en-US" sz="2200" dirty="0"/>
              <a:t> but </a:t>
            </a:r>
            <a:r>
              <a:rPr lang="en-US" sz="2200" b="1" dirty="0">
                <a:solidFill>
                  <a:srgbClr val="00B050"/>
                </a:solidFill>
                <a:latin typeface="Consolas" panose="020B0609020204030204" pitchFamily="49" charset="0"/>
                <a:cs typeface="Consolas" panose="020B0609020204030204" pitchFamily="49" charset="0"/>
              </a:rPr>
              <a:t>x</a:t>
            </a:r>
            <a:r>
              <a:rPr lang="en-US" sz="2200" b="1" dirty="0">
                <a:solidFill>
                  <a:srgbClr val="00B050"/>
                </a:solidFill>
              </a:rPr>
              <a:t> </a:t>
            </a:r>
            <a:r>
              <a:rPr lang="en-US" sz="2200" dirty="0">
                <a:solidFill>
                  <a:srgbClr val="00B050"/>
                </a:solidFill>
              </a:rPr>
              <a:t>and </a:t>
            </a:r>
            <a:r>
              <a:rPr lang="en-US" sz="2200" b="1" dirty="0">
                <a:solidFill>
                  <a:srgbClr val="00B050"/>
                </a:solidFill>
                <a:latin typeface="Consolas" panose="020B0609020204030204" pitchFamily="49" charset="0"/>
                <a:cs typeface="Consolas" panose="020B0609020204030204" pitchFamily="49" charset="0"/>
              </a:rPr>
              <a:t>y</a:t>
            </a:r>
            <a:r>
              <a:rPr lang="en-US" sz="2200" dirty="0">
                <a:solidFill>
                  <a:srgbClr val="00B050"/>
                </a:solidFill>
              </a:rPr>
              <a:t> are </a:t>
            </a:r>
            <a:r>
              <a:rPr lang="en-US" sz="2200" i="1" dirty="0">
                <a:solidFill>
                  <a:srgbClr val="00B050"/>
                </a:solidFill>
              </a:rPr>
              <a:t>not</a:t>
            </a:r>
            <a:r>
              <a:rPr lang="en-US" sz="2200" dirty="0">
                <a:solidFill>
                  <a:srgbClr val="00B050"/>
                </a:solidFill>
              </a:rPr>
              <a:t> live at the same time.</a:t>
            </a:r>
          </a:p>
        </p:txBody>
      </p:sp>
      <p:sp>
        <p:nvSpPr>
          <p:cNvPr id="20" name="TextBox 19">
            <a:extLst>
              <a:ext uri="{FF2B5EF4-FFF2-40B4-BE49-F238E27FC236}">
                <a16:creationId xmlns:a16="http://schemas.microsoft.com/office/drawing/2014/main" id="{A7A9C51B-5390-B448-8EC7-DAEE536ACDAE}"/>
              </a:ext>
            </a:extLst>
          </p:cNvPr>
          <p:cNvSpPr txBox="1"/>
          <p:nvPr/>
        </p:nvSpPr>
        <p:spPr>
          <a:xfrm>
            <a:off x="5093680" y="3930691"/>
            <a:ext cx="3775853" cy="1107996"/>
          </a:xfrm>
          <a:prstGeom prst="rect">
            <a:avLst/>
          </a:prstGeom>
          <a:noFill/>
        </p:spPr>
        <p:txBody>
          <a:bodyPr wrap="square" rtlCol="0">
            <a:spAutoFit/>
          </a:bodyPr>
          <a:lstStyle/>
          <a:p>
            <a:pPr algn="ctr"/>
            <a:r>
              <a:rPr lang="en-US" sz="2200" dirty="0"/>
              <a:t>clearly, "live at the same time" is derived directly from the liveness we computed!</a:t>
            </a:r>
            <a:endParaRPr lang="en-US" sz="2200" dirty="0">
              <a:solidFill>
                <a:srgbClr val="FF0000"/>
              </a:solidFill>
            </a:endParaRPr>
          </a:p>
        </p:txBody>
      </p:sp>
    </p:spTree>
    <p:extLst>
      <p:ext uri="{BB962C8B-B14F-4D97-AF65-F5344CB8AC3E}">
        <p14:creationId xmlns:p14="http://schemas.microsoft.com/office/powerpoint/2010/main" val="6061210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9"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60963-8F77-DC4D-9F57-BB64017D0FCF}"/>
              </a:ext>
            </a:extLst>
          </p:cNvPr>
          <p:cNvSpPr>
            <a:spLocks noGrp="1"/>
          </p:cNvSpPr>
          <p:nvPr>
            <p:ph type="title"/>
          </p:nvPr>
        </p:nvSpPr>
        <p:spPr/>
        <p:txBody>
          <a:bodyPr/>
          <a:lstStyle/>
          <a:p>
            <a:r>
              <a:rPr lang="en-US" dirty="0"/>
              <a:t>Building the RIG </a:t>
            </a:r>
            <a:r>
              <a:rPr lang="en-US" sz="2000" dirty="0"/>
              <a:t>(animated)</a:t>
            </a:r>
            <a:endParaRPr lang="en-US" dirty="0"/>
          </a:p>
        </p:txBody>
      </p:sp>
      <p:sp>
        <p:nvSpPr>
          <p:cNvPr id="3" name="Content Placeholder 2">
            <a:extLst>
              <a:ext uri="{FF2B5EF4-FFF2-40B4-BE49-F238E27FC236}">
                <a16:creationId xmlns:a16="http://schemas.microsoft.com/office/drawing/2014/main" id="{4C685445-1E29-2E47-B32F-B53E57F7BDB4}"/>
              </a:ext>
            </a:extLst>
          </p:cNvPr>
          <p:cNvSpPr>
            <a:spLocks noGrp="1"/>
          </p:cNvSpPr>
          <p:nvPr>
            <p:ph idx="1"/>
          </p:nvPr>
        </p:nvSpPr>
        <p:spPr>
          <a:xfrm>
            <a:off x="152400" y="495301"/>
            <a:ext cx="8991600" cy="898449"/>
          </a:xfrm>
        </p:spPr>
        <p:txBody>
          <a:bodyPr/>
          <a:lstStyle/>
          <a:p>
            <a:r>
              <a:rPr lang="en-US" dirty="0"/>
              <a:t>after you've computed liveness, it's really straightforward.</a:t>
            </a:r>
          </a:p>
          <a:p>
            <a:r>
              <a:rPr lang="en-US" dirty="0"/>
              <a:t>you start with a graph with </a:t>
            </a:r>
            <a:r>
              <a:rPr lang="en-US" b="1" dirty="0"/>
              <a:t>no edges.</a:t>
            </a:r>
            <a:endParaRPr lang="en-US" dirty="0"/>
          </a:p>
        </p:txBody>
      </p:sp>
      <p:sp>
        <p:nvSpPr>
          <p:cNvPr id="4" name="Slide Number Placeholder 3">
            <a:extLst>
              <a:ext uri="{FF2B5EF4-FFF2-40B4-BE49-F238E27FC236}">
                <a16:creationId xmlns:a16="http://schemas.microsoft.com/office/drawing/2014/main" id="{E18CBF1E-1F72-634E-8DA5-1A3DD6CDBF11}"/>
              </a:ext>
            </a:extLst>
          </p:cNvPr>
          <p:cNvSpPr>
            <a:spLocks noGrp="1"/>
          </p:cNvSpPr>
          <p:nvPr>
            <p:ph type="sldNum" sz="quarter" idx="12"/>
          </p:nvPr>
        </p:nvSpPr>
        <p:spPr/>
        <p:txBody>
          <a:bodyPr/>
          <a:lstStyle/>
          <a:p>
            <a:fld id="{3552B95B-556F-44BD-91A5-D80C1B9E2BB3}" type="slidenum">
              <a:rPr lang="en-US" smtClean="0"/>
              <a:pPr/>
              <a:t>20</a:t>
            </a:fld>
            <a:endParaRPr lang="en-US"/>
          </a:p>
        </p:txBody>
      </p:sp>
      <p:grpSp>
        <p:nvGrpSpPr>
          <p:cNvPr id="81" name="Group 80">
            <a:extLst>
              <a:ext uri="{FF2B5EF4-FFF2-40B4-BE49-F238E27FC236}">
                <a16:creationId xmlns:a16="http://schemas.microsoft.com/office/drawing/2014/main" id="{02FB5723-EF27-784B-AD22-76B9F991A87F}"/>
              </a:ext>
            </a:extLst>
          </p:cNvPr>
          <p:cNvGrpSpPr/>
          <p:nvPr/>
        </p:nvGrpSpPr>
        <p:grpSpPr>
          <a:xfrm>
            <a:off x="3742672" y="1866900"/>
            <a:ext cx="5782328" cy="3454624"/>
            <a:chOff x="3742672" y="1866900"/>
            <a:chExt cx="5782328" cy="3454624"/>
          </a:xfrm>
        </p:grpSpPr>
        <p:sp>
          <p:nvSpPr>
            <p:cNvPr id="5" name="Rectangle 4">
              <a:extLst>
                <a:ext uri="{FF2B5EF4-FFF2-40B4-BE49-F238E27FC236}">
                  <a16:creationId xmlns:a16="http://schemas.microsoft.com/office/drawing/2014/main" id="{B54DA3A2-8B97-B742-88D7-600064343987}"/>
                </a:ext>
              </a:extLst>
            </p:cNvPr>
            <p:cNvSpPr/>
            <p:nvPr/>
          </p:nvSpPr>
          <p:spPr>
            <a:xfrm>
              <a:off x="5146254" y="2182203"/>
              <a:ext cx="4378746" cy="3139321"/>
            </a:xfrm>
            <a:prstGeom prst="rect">
              <a:avLst/>
            </a:prstGeom>
          </p:spPr>
          <p:txBody>
            <a:bodyPr wrap="square">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has</a:t>
              </a:r>
              <a:r>
                <a:rPr lang="en-US" sz="1600" b="1" dirty="0">
                  <a:latin typeface="Consolas" panose="020B0609020204030204" pitchFamily="49" charset="0"/>
                  <a:cs typeface="Consolas" panose="020B0609020204030204" pitchFamily="49" charset="0"/>
                </a:rPr>
                <a:t>(l: List, </a:t>
              </a:r>
              <a:r>
                <a:rPr lang="en-US" sz="1600" b="1" dirty="0" err="1">
                  <a:latin typeface="Consolas" panose="020B0609020204030204" pitchFamily="49" charset="0"/>
                  <a:cs typeface="Consolas" panose="020B0609020204030204" pitchFamily="49" charset="0"/>
                </a:rPr>
                <a:t>val</a:t>
              </a:r>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int</a:t>
              </a:r>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bool</a:t>
              </a:r>
              <a:r>
                <a:rPr lang="en-US" sz="1600" b="1" dirty="0">
                  <a:latin typeface="Consolas" panose="020B0609020204030204" pitchFamily="49" charset="0"/>
                  <a:cs typeface="Consolas" panose="020B0609020204030204" pitchFamily="49" charset="0"/>
                </a:rPr>
                <a:t> </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n = </a:t>
              </a:r>
              <a:r>
                <a:rPr lang="en-US" sz="1800" b="1" dirty="0" err="1">
                  <a:latin typeface="Consolas" panose="020B0609020204030204" pitchFamily="49" charset="0"/>
                  <a:cs typeface="Consolas" panose="020B0609020204030204" pitchFamily="49" charset="0"/>
                </a:rPr>
                <a:t>l.length</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found = </a:t>
              </a:r>
              <a:r>
                <a:rPr lang="en-US" sz="1800" b="1" dirty="0">
                  <a:solidFill>
                    <a:srgbClr val="FF0000"/>
                  </a:solidFill>
                  <a:latin typeface="Consolas" panose="020B0609020204030204" pitchFamily="49" charset="0"/>
                  <a:cs typeface="Consolas" panose="020B0609020204030204" pitchFamily="49" charset="0"/>
                </a:rPr>
                <a:t>false</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for</a:t>
              </a:r>
              <a:r>
                <a:rPr lang="en-US" sz="1800" b="1" dirty="0">
                  <a:latin typeface="Consolas" panose="020B0609020204030204" pitchFamily="49" charset="0"/>
                  <a:cs typeface="Consolas" panose="020B0609020204030204" pitchFamily="49" charset="0"/>
                </a:rPr>
                <a:t> i </a:t>
              </a:r>
              <a:r>
                <a:rPr lang="en-US" sz="1800" b="1" dirty="0">
                  <a:solidFill>
                    <a:srgbClr val="FF0000"/>
                  </a:solidFill>
                  <a:latin typeface="Consolas" panose="020B0609020204030204" pitchFamily="49" charset="0"/>
                  <a:cs typeface="Consolas" panose="020B0609020204030204" pitchFamily="49" charset="0"/>
                </a:rPr>
                <a:t>in</a:t>
              </a:r>
              <a:r>
                <a:rPr lang="en-US" sz="1800" b="1" dirty="0">
                  <a:latin typeface="Consolas" panose="020B0609020204030204" pitchFamily="49" charset="0"/>
                  <a:cs typeface="Consolas" panose="020B0609020204030204" pitchFamily="49" charset="0"/>
                </a:rPr>
                <a:t>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 n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obj</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l.get</a:t>
              </a:r>
              <a:r>
                <a:rPr lang="en-US" sz="1800" b="1" dirty="0">
                  <a:latin typeface="Consolas" panose="020B0609020204030204" pitchFamily="49" charset="0"/>
                  <a:cs typeface="Consolas" panose="020B0609020204030204" pitchFamily="49" charset="0"/>
                </a:rPr>
                <a:t>(i);</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obj.value</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val</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found = </a:t>
              </a:r>
              <a:r>
                <a:rPr lang="en-US" sz="1800" b="1" dirty="0">
                  <a:solidFill>
                    <a:srgbClr val="FF0000"/>
                  </a:solidFill>
                  <a:latin typeface="Consolas" panose="020B0609020204030204" pitchFamily="49" charset="0"/>
                  <a:cs typeface="Consolas" panose="020B0609020204030204" pitchFamily="49" charset="0"/>
                </a:rPr>
                <a:t>true</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return</a:t>
              </a:r>
              <a:r>
                <a:rPr lang="en-US" sz="1800" b="1" dirty="0">
                  <a:latin typeface="Consolas" panose="020B0609020204030204" pitchFamily="49" charset="0"/>
                  <a:cs typeface="Consolas" panose="020B0609020204030204" pitchFamily="49" charset="0"/>
                </a:rPr>
                <a:t> found;</a:t>
              </a:r>
            </a:p>
            <a:p>
              <a:r>
                <a:rPr lang="en-US" sz="1800" b="1" dirty="0">
                  <a:latin typeface="Consolas" panose="020B0609020204030204" pitchFamily="49" charset="0"/>
                  <a:cs typeface="Consolas" panose="020B0609020204030204" pitchFamily="49" charset="0"/>
                </a:rPr>
                <a:t>}</a:t>
              </a:r>
            </a:p>
          </p:txBody>
        </p:sp>
        <p:grpSp>
          <p:nvGrpSpPr>
            <p:cNvPr id="6" name="Group 5">
              <a:extLst>
                <a:ext uri="{FF2B5EF4-FFF2-40B4-BE49-F238E27FC236}">
                  <a16:creationId xmlns:a16="http://schemas.microsoft.com/office/drawing/2014/main" id="{EF51AF6A-4BCD-A347-8BD6-52E51C67E3DA}"/>
                </a:ext>
              </a:extLst>
            </p:cNvPr>
            <p:cNvGrpSpPr/>
            <p:nvPr/>
          </p:nvGrpSpPr>
          <p:grpSpPr>
            <a:xfrm>
              <a:off x="4850018" y="2065672"/>
              <a:ext cx="308418" cy="2478731"/>
              <a:chOff x="4392818" y="1887648"/>
              <a:chExt cx="308418" cy="2478731"/>
            </a:xfrm>
          </p:grpSpPr>
          <p:cxnSp>
            <p:nvCxnSpPr>
              <p:cNvPr id="7" name="Straight Connector 6">
                <a:extLst>
                  <a:ext uri="{FF2B5EF4-FFF2-40B4-BE49-F238E27FC236}">
                    <a16:creationId xmlns:a16="http://schemas.microsoft.com/office/drawing/2014/main" id="{B5B9FA2A-2CE0-944E-9E02-AA6B92F71B0C}"/>
                  </a:ext>
                </a:extLst>
              </p:cNvPr>
              <p:cNvCxnSpPr>
                <a:cxnSpLocks/>
              </p:cNvCxnSpPr>
              <p:nvPr/>
            </p:nvCxnSpPr>
            <p:spPr>
              <a:xfrm>
                <a:off x="4553265" y="2224342"/>
                <a:ext cx="0" cy="2142037"/>
              </a:xfrm>
              <a:prstGeom prst="line">
                <a:avLst/>
              </a:prstGeom>
              <a:ln w="38100">
                <a:solidFill>
                  <a:srgbClr val="FF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BCD9A5A-60A8-884F-8DD7-FD752A950726}"/>
                  </a:ext>
                </a:extLst>
              </p:cNvPr>
              <p:cNvSpPr txBox="1"/>
              <p:nvPr/>
            </p:nvSpPr>
            <p:spPr>
              <a:xfrm rot="16200000">
                <a:off x="4405001" y="1875465"/>
                <a:ext cx="284052" cy="308418"/>
              </a:xfrm>
              <a:prstGeom prst="rect">
                <a:avLst/>
              </a:prstGeom>
              <a:noFill/>
            </p:spPr>
            <p:txBody>
              <a:bodyPr wrap="none" rtlCol="0">
                <a:spAutoFit/>
              </a:bodyPr>
              <a:lstStyle/>
              <a:p>
                <a:r>
                  <a:rPr lang="en-US" b="1" dirty="0">
                    <a:solidFill>
                      <a:srgbClr val="FF0000"/>
                    </a:solidFill>
                    <a:latin typeface="Consolas" panose="020B0609020204030204" pitchFamily="49" charset="0"/>
                    <a:cs typeface="Consolas" panose="020B0609020204030204" pitchFamily="49" charset="0"/>
                  </a:rPr>
                  <a:t>l</a:t>
                </a:r>
              </a:p>
            </p:txBody>
          </p:sp>
        </p:grpSp>
        <p:grpSp>
          <p:nvGrpSpPr>
            <p:cNvPr id="9" name="Group 8">
              <a:extLst>
                <a:ext uri="{FF2B5EF4-FFF2-40B4-BE49-F238E27FC236}">
                  <a16:creationId xmlns:a16="http://schemas.microsoft.com/office/drawing/2014/main" id="{4A1B6D19-E4E1-EF48-8A39-2456A809D041}"/>
                </a:ext>
              </a:extLst>
            </p:cNvPr>
            <p:cNvGrpSpPr/>
            <p:nvPr/>
          </p:nvGrpSpPr>
          <p:grpSpPr>
            <a:xfrm>
              <a:off x="4644582" y="1866900"/>
              <a:ext cx="308418" cy="2677503"/>
              <a:chOff x="4187382" y="1688876"/>
              <a:chExt cx="308418" cy="2677503"/>
            </a:xfrm>
          </p:grpSpPr>
          <p:cxnSp>
            <p:nvCxnSpPr>
              <p:cNvPr id="10" name="Straight Connector 9">
                <a:extLst>
                  <a:ext uri="{FF2B5EF4-FFF2-40B4-BE49-F238E27FC236}">
                    <a16:creationId xmlns:a16="http://schemas.microsoft.com/office/drawing/2014/main" id="{DBD906AC-EA2A-EA4F-97CC-B73A24ADD49F}"/>
                  </a:ext>
                </a:extLst>
              </p:cNvPr>
              <p:cNvCxnSpPr>
                <a:cxnSpLocks/>
              </p:cNvCxnSpPr>
              <p:nvPr/>
            </p:nvCxnSpPr>
            <p:spPr>
              <a:xfrm>
                <a:off x="4347829" y="2224342"/>
                <a:ext cx="0" cy="2142037"/>
              </a:xfrm>
              <a:prstGeom prst="line">
                <a:avLst/>
              </a:prstGeom>
              <a:ln w="38100">
                <a:solidFill>
                  <a:schemeClr val="accent6">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53ED8EC-E674-9743-B79C-1E618FF1F93D}"/>
                  </a:ext>
                </a:extLst>
              </p:cNvPr>
              <p:cNvSpPr txBox="1"/>
              <p:nvPr/>
            </p:nvSpPr>
            <p:spPr>
              <a:xfrm rot="16200000">
                <a:off x="4100179" y="1776079"/>
                <a:ext cx="482824" cy="308418"/>
              </a:xfrm>
              <a:prstGeom prst="rect">
                <a:avLst/>
              </a:prstGeom>
              <a:noFill/>
            </p:spPr>
            <p:txBody>
              <a:bodyPr wrap="none" rtlCol="0">
                <a:spAutoFit/>
              </a:bodyPr>
              <a:lstStyle/>
              <a:p>
                <a:r>
                  <a:rPr lang="en-US" b="1" dirty="0" err="1">
                    <a:solidFill>
                      <a:schemeClr val="accent6">
                        <a:lumMod val="75000"/>
                      </a:schemeClr>
                    </a:solidFill>
                    <a:latin typeface="Consolas" panose="020B0609020204030204" pitchFamily="49" charset="0"/>
                    <a:cs typeface="Consolas" panose="020B0609020204030204" pitchFamily="49" charset="0"/>
                  </a:rPr>
                  <a:t>val</a:t>
                </a:r>
                <a:endParaRPr lang="en-US" b="1" dirty="0">
                  <a:solidFill>
                    <a:schemeClr val="accent6">
                      <a:lumMod val="75000"/>
                    </a:schemeClr>
                  </a:solidFill>
                  <a:latin typeface="Consolas" panose="020B0609020204030204" pitchFamily="49" charset="0"/>
                  <a:cs typeface="Consolas" panose="020B0609020204030204" pitchFamily="49" charset="0"/>
                </a:endParaRPr>
              </a:p>
            </p:txBody>
          </p:sp>
        </p:grpSp>
        <p:grpSp>
          <p:nvGrpSpPr>
            <p:cNvPr id="12" name="Group 11">
              <a:extLst>
                <a:ext uri="{FF2B5EF4-FFF2-40B4-BE49-F238E27FC236}">
                  <a16:creationId xmlns:a16="http://schemas.microsoft.com/office/drawing/2014/main" id="{BDE7D2C6-A8B4-7F44-BF21-8D83EF6685BE}"/>
                </a:ext>
              </a:extLst>
            </p:cNvPr>
            <p:cNvGrpSpPr/>
            <p:nvPr/>
          </p:nvGrpSpPr>
          <p:grpSpPr>
            <a:xfrm>
              <a:off x="4399984" y="2260340"/>
              <a:ext cx="308418" cy="912463"/>
              <a:chOff x="3942784" y="2082316"/>
              <a:chExt cx="308418" cy="912463"/>
            </a:xfrm>
          </p:grpSpPr>
          <p:cxnSp>
            <p:nvCxnSpPr>
              <p:cNvPr id="13" name="Straight Connector 12">
                <a:extLst>
                  <a:ext uri="{FF2B5EF4-FFF2-40B4-BE49-F238E27FC236}">
                    <a16:creationId xmlns:a16="http://schemas.microsoft.com/office/drawing/2014/main" id="{9A4AEC32-5F28-0740-B2C9-74C4197B723C}"/>
                  </a:ext>
                </a:extLst>
              </p:cNvPr>
              <p:cNvCxnSpPr>
                <a:cxnSpLocks/>
              </p:cNvCxnSpPr>
              <p:nvPr/>
            </p:nvCxnSpPr>
            <p:spPr>
              <a:xfrm>
                <a:off x="4122847" y="2461379"/>
                <a:ext cx="0" cy="533400"/>
              </a:xfrm>
              <a:prstGeom prst="line">
                <a:avLst/>
              </a:prstGeom>
              <a:ln w="38100">
                <a:solidFill>
                  <a:srgbClr val="FFC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52E172D-BBF7-2145-8EB2-0E4D61E4B073}"/>
                  </a:ext>
                </a:extLst>
              </p:cNvPr>
              <p:cNvSpPr txBox="1"/>
              <p:nvPr/>
            </p:nvSpPr>
            <p:spPr>
              <a:xfrm rot="16200000">
                <a:off x="3954967" y="2070133"/>
                <a:ext cx="284052" cy="308418"/>
              </a:xfrm>
              <a:prstGeom prst="rect">
                <a:avLst/>
              </a:prstGeom>
              <a:noFill/>
            </p:spPr>
            <p:txBody>
              <a:bodyPr wrap="square" rtlCol="0">
                <a:spAutoFit/>
              </a:bodyPr>
              <a:lstStyle/>
              <a:p>
                <a:r>
                  <a:rPr lang="en-US" b="1" dirty="0">
                    <a:solidFill>
                      <a:srgbClr val="FFC000"/>
                    </a:solidFill>
                    <a:latin typeface="Consolas" panose="020B0609020204030204" pitchFamily="49" charset="0"/>
                    <a:cs typeface="Consolas" panose="020B0609020204030204" pitchFamily="49" charset="0"/>
                  </a:rPr>
                  <a:t>n</a:t>
                </a:r>
              </a:p>
            </p:txBody>
          </p:sp>
        </p:grpSp>
        <p:grpSp>
          <p:nvGrpSpPr>
            <p:cNvPr id="15" name="Group 14">
              <a:extLst>
                <a:ext uri="{FF2B5EF4-FFF2-40B4-BE49-F238E27FC236}">
                  <a16:creationId xmlns:a16="http://schemas.microsoft.com/office/drawing/2014/main" id="{2C4778E1-4667-6F4C-92A8-F47AA0CA461E}"/>
                </a:ext>
              </a:extLst>
            </p:cNvPr>
            <p:cNvGrpSpPr/>
            <p:nvPr/>
          </p:nvGrpSpPr>
          <p:grpSpPr>
            <a:xfrm>
              <a:off x="4214049" y="2081782"/>
              <a:ext cx="308418" cy="2706342"/>
              <a:chOff x="3756849" y="1903758"/>
              <a:chExt cx="308418" cy="2706342"/>
            </a:xfrm>
          </p:grpSpPr>
          <p:cxnSp>
            <p:nvCxnSpPr>
              <p:cNvPr id="16" name="Straight Connector 15">
                <a:extLst>
                  <a:ext uri="{FF2B5EF4-FFF2-40B4-BE49-F238E27FC236}">
                    <a16:creationId xmlns:a16="http://schemas.microsoft.com/office/drawing/2014/main" id="{00193FEF-6357-7348-9EB0-FF23E1430FF7}"/>
                  </a:ext>
                </a:extLst>
              </p:cNvPr>
              <p:cNvCxnSpPr>
                <a:cxnSpLocks/>
              </p:cNvCxnSpPr>
              <p:nvPr/>
            </p:nvCxnSpPr>
            <p:spPr>
              <a:xfrm>
                <a:off x="3918835" y="2698416"/>
                <a:ext cx="0" cy="1911684"/>
              </a:xfrm>
              <a:prstGeom prst="line">
                <a:avLst/>
              </a:prstGeom>
              <a:ln w="38100">
                <a:solidFill>
                  <a:srgbClr val="00B05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D110883-CA29-F940-810D-E836F5F18A61}"/>
                  </a:ext>
                </a:extLst>
              </p:cNvPr>
              <p:cNvSpPr txBox="1"/>
              <p:nvPr/>
            </p:nvSpPr>
            <p:spPr>
              <a:xfrm rot="16200000">
                <a:off x="3570259" y="2090348"/>
                <a:ext cx="681597" cy="308418"/>
              </a:xfrm>
              <a:prstGeom prst="rect">
                <a:avLst/>
              </a:prstGeom>
              <a:noFill/>
            </p:spPr>
            <p:txBody>
              <a:bodyPr wrap="none" rtlCol="0">
                <a:spAutoFit/>
              </a:bodyPr>
              <a:lstStyle/>
              <a:p>
                <a:r>
                  <a:rPr lang="en-US" b="1" dirty="0">
                    <a:solidFill>
                      <a:srgbClr val="00B050"/>
                    </a:solidFill>
                    <a:latin typeface="Consolas" panose="020B0609020204030204" pitchFamily="49" charset="0"/>
                    <a:cs typeface="Consolas" panose="020B0609020204030204" pitchFamily="49" charset="0"/>
                  </a:rPr>
                  <a:t>found</a:t>
                </a:r>
              </a:p>
            </p:txBody>
          </p:sp>
        </p:grpSp>
        <p:grpSp>
          <p:nvGrpSpPr>
            <p:cNvPr id="18" name="Group 17">
              <a:extLst>
                <a:ext uri="{FF2B5EF4-FFF2-40B4-BE49-F238E27FC236}">
                  <a16:creationId xmlns:a16="http://schemas.microsoft.com/office/drawing/2014/main" id="{42D9E9F3-2F7F-024C-ACF6-CEE3DDD64BD8}"/>
                </a:ext>
              </a:extLst>
            </p:cNvPr>
            <p:cNvGrpSpPr/>
            <p:nvPr/>
          </p:nvGrpSpPr>
          <p:grpSpPr>
            <a:xfrm>
              <a:off x="3976139" y="2764077"/>
              <a:ext cx="308418" cy="1780326"/>
              <a:chOff x="3518939" y="2586053"/>
              <a:chExt cx="308418" cy="1780326"/>
            </a:xfrm>
          </p:grpSpPr>
          <p:cxnSp>
            <p:nvCxnSpPr>
              <p:cNvPr id="19" name="Straight Connector 18">
                <a:extLst>
                  <a:ext uri="{FF2B5EF4-FFF2-40B4-BE49-F238E27FC236}">
                    <a16:creationId xmlns:a16="http://schemas.microsoft.com/office/drawing/2014/main" id="{3872DF90-0D96-B34F-968C-AD7F460A69DE}"/>
                  </a:ext>
                </a:extLst>
              </p:cNvPr>
              <p:cNvCxnSpPr>
                <a:cxnSpLocks/>
              </p:cNvCxnSpPr>
              <p:nvPr/>
            </p:nvCxnSpPr>
            <p:spPr>
              <a:xfrm>
                <a:off x="3680926" y="2994779"/>
                <a:ext cx="0" cy="1371600"/>
              </a:xfrm>
              <a:prstGeom prst="line">
                <a:avLst/>
              </a:prstGeom>
              <a:ln w="38100">
                <a:solidFill>
                  <a:srgbClr val="0070C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231C1E5-248B-9C49-9923-F6E8C8F32A4E}"/>
                  </a:ext>
                </a:extLst>
              </p:cNvPr>
              <p:cNvSpPr txBox="1"/>
              <p:nvPr/>
            </p:nvSpPr>
            <p:spPr>
              <a:xfrm rot="16200000">
                <a:off x="3531122" y="2573870"/>
                <a:ext cx="284052" cy="308418"/>
              </a:xfrm>
              <a:prstGeom prst="rect">
                <a:avLst/>
              </a:prstGeom>
              <a:noFill/>
            </p:spPr>
            <p:txBody>
              <a:bodyPr wrap="none" rtlCol="0">
                <a:spAutoFit/>
              </a:bodyPr>
              <a:lstStyle/>
              <a:p>
                <a:r>
                  <a:rPr lang="en-US" b="1" dirty="0">
                    <a:solidFill>
                      <a:srgbClr val="0070C0"/>
                    </a:solidFill>
                    <a:latin typeface="Consolas" panose="020B0609020204030204" pitchFamily="49" charset="0"/>
                    <a:cs typeface="Consolas" panose="020B0609020204030204" pitchFamily="49" charset="0"/>
                  </a:rPr>
                  <a:t>i</a:t>
                </a:r>
              </a:p>
            </p:txBody>
          </p:sp>
        </p:grpSp>
        <p:grpSp>
          <p:nvGrpSpPr>
            <p:cNvPr id="21" name="Group 20">
              <a:extLst>
                <a:ext uri="{FF2B5EF4-FFF2-40B4-BE49-F238E27FC236}">
                  <a16:creationId xmlns:a16="http://schemas.microsoft.com/office/drawing/2014/main" id="{CB95DC9F-7D2D-2A47-AF6C-5887E4AEA989}"/>
                </a:ext>
              </a:extLst>
            </p:cNvPr>
            <p:cNvGrpSpPr/>
            <p:nvPr/>
          </p:nvGrpSpPr>
          <p:grpSpPr>
            <a:xfrm>
              <a:off x="3742672" y="2811257"/>
              <a:ext cx="308418" cy="986267"/>
              <a:chOff x="3285472" y="2633233"/>
              <a:chExt cx="308418" cy="986267"/>
            </a:xfrm>
          </p:grpSpPr>
          <p:cxnSp>
            <p:nvCxnSpPr>
              <p:cNvPr id="22" name="Straight Connector 21">
                <a:extLst>
                  <a:ext uri="{FF2B5EF4-FFF2-40B4-BE49-F238E27FC236}">
                    <a16:creationId xmlns:a16="http://schemas.microsoft.com/office/drawing/2014/main" id="{F72F525E-1651-724D-98A3-6E13FC15AA28}"/>
                  </a:ext>
                </a:extLst>
              </p:cNvPr>
              <p:cNvCxnSpPr>
                <a:cxnSpLocks/>
              </p:cNvCxnSpPr>
              <p:nvPr/>
            </p:nvCxnSpPr>
            <p:spPr>
              <a:xfrm>
                <a:off x="3465534" y="3261643"/>
                <a:ext cx="0" cy="357857"/>
              </a:xfrm>
              <a:prstGeom prst="line">
                <a:avLst/>
              </a:prstGeom>
              <a:ln w="38100">
                <a:solidFill>
                  <a:srgbClr val="7030A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8301BD4-7F75-F049-A867-0A122E433CBC}"/>
                  </a:ext>
                </a:extLst>
              </p:cNvPr>
              <p:cNvSpPr txBox="1"/>
              <p:nvPr/>
            </p:nvSpPr>
            <p:spPr>
              <a:xfrm rot="16200000">
                <a:off x="3172981" y="2745724"/>
                <a:ext cx="533399" cy="308418"/>
              </a:xfrm>
              <a:prstGeom prst="rect">
                <a:avLst/>
              </a:prstGeom>
              <a:noFill/>
            </p:spPr>
            <p:txBody>
              <a:bodyPr wrap="square" rtlCol="0">
                <a:spAutoFit/>
              </a:bodyPr>
              <a:lstStyle/>
              <a:p>
                <a:r>
                  <a:rPr lang="en-US" b="1" dirty="0" err="1">
                    <a:solidFill>
                      <a:srgbClr val="7030A0"/>
                    </a:solidFill>
                    <a:latin typeface="Consolas" panose="020B0609020204030204" pitchFamily="49" charset="0"/>
                    <a:cs typeface="Consolas" panose="020B0609020204030204" pitchFamily="49" charset="0"/>
                  </a:rPr>
                  <a:t>obj</a:t>
                </a:r>
                <a:endParaRPr lang="en-US" b="1" dirty="0">
                  <a:solidFill>
                    <a:srgbClr val="7030A0"/>
                  </a:solidFill>
                  <a:latin typeface="Consolas" panose="020B0609020204030204" pitchFamily="49" charset="0"/>
                  <a:cs typeface="Consolas" panose="020B0609020204030204" pitchFamily="49" charset="0"/>
                </a:endParaRPr>
              </a:p>
            </p:txBody>
          </p:sp>
        </p:grpSp>
      </p:grpSp>
      <p:sp>
        <p:nvSpPr>
          <p:cNvPr id="25" name="Oval 24">
            <a:extLst>
              <a:ext uri="{FF2B5EF4-FFF2-40B4-BE49-F238E27FC236}">
                <a16:creationId xmlns:a16="http://schemas.microsoft.com/office/drawing/2014/main" id="{CD142823-1A9B-2241-98D6-5DE5133FB7BF}"/>
              </a:ext>
            </a:extLst>
          </p:cNvPr>
          <p:cNvSpPr/>
          <p:nvPr/>
        </p:nvSpPr>
        <p:spPr>
          <a:xfrm>
            <a:off x="1625437" y="1801045"/>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26" name="Oval 25">
            <a:extLst>
              <a:ext uri="{FF2B5EF4-FFF2-40B4-BE49-F238E27FC236}">
                <a16:creationId xmlns:a16="http://schemas.microsoft.com/office/drawing/2014/main" id="{E26955D3-8464-C243-A0DB-3FE5D142BA74}"/>
              </a:ext>
            </a:extLst>
          </p:cNvPr>
          <p:cNvSpPr/>
          <p:nvPr/>
        </p:nvSpPr>
        <p:spPr>
          <a:xfrm>
            <a:off x="322419" y="2459962"/>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27" name="Oval 26">
            <a:extLst>
              <a:ext uri="{FF2B5EF4-FFF2-40B4-BE49-F238E27FC236}">
                <a16:creationId xmlns:a16="http://schemas.microsoft.com/office/drawing/2014/main" id="{C05650B2-E6F8-D840-8606-A7384744329E}"/>
              </a:ext>
            </a:extLst>
          </p:cNvPr>
          <p:cNvSpPr/>
          <p:nvPr/>
        </p:nvSpPr>
        <p:spPr>
          <a:xfrm>
            <a:off x="2857500" y="2459962"/>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cxnSp>
        <p:nvCxnSpPr>
          <p:cNvPr id="28" name="Straight Connector 27">
            <a:extLst>
              <a:ext uri="{FF2B5EF4-FFF2-40B4-BE49-F238E27FC236}">
                <a16:creationId xmlns:a16="http://schemas.microsoft.com/office/drawing/2014/main" id="{D485CB84-2BD5-2548-8D2F-9B3130EC458B}"/>
              </a:ext>
            </a:extLst>
          </p:cNvPr>
          <p:cNvCxnSpPr>
            <a:cxnSpLocks/>
            <a:stCxn id="26" idx="7"/>
            <a:endCxn id="25" idx="3"/>
          </p:cNvCxnSpPr>
          <p:nvPr/>
        </p:nvCxnSpPr>
        <p:spPr>
          <a:xfrm flipV="1">
            <a:off x="810611" y="2223810"/>
            <a:ext cx="887361"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0FDE457-0004-C742-994A-596737436852}"/>
              </a:ext>
            </a:extLst>
          </p:cNvPr>
          <p:cNvCxnSpPr>
            <a:cxnSpLocks/>
            <a:stCxn id="27" idx="1"/>
            <a:endCxn id="25" idx="5"/>
          </p:cNvCxnSpPr>
          <p:nvPr/>
        </p:nvCxnSpPr>
        <p:spPr>
          <a:xfrm flipH="1" flipV="1">
            <a:off x="2048202" y="2223810"/>
            <a:ext cx="881833"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50A4EC2E-6649-024C-B58A-1C2FC922EC17}"/>
              </a:ext>
            </a:extLst>
          </p:cNvPr>
          <p:cNvSpPr/>
          <p:nvPr/>
        </p:nvSpPr>
        <p:spPr>
          <a:xfrm>
            <a:off x="2834834" y="3936606"/>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31" name="Oval 30">
            <a:extLst>
              <a:ext uri="{FF2B5EF4-FFF2-40B4-BE49-F238E27FC236}">
                <a16:creationId xmlns:a16="http://schemas.microsoft.com/office/drawing/2014/main" id="{05737DC0-BD52-524D-AAAA-0D1139ACE343}"/>
              </a:ext>
            </a:extLst>
          </p:cNvPr>
          <p:cNvSpPr/>
          <p:nvPr/>
        </p:nvSpPr>
        <p:spPr>
          <a:xfrm>
            <a:off x="1533112" y="4648200"/>
            <a:ext cx="685349"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32" name="Oval 31">
            <a:extLst>
              <a:ext uri="{FF2B5EF4-FFF2-40B4-BE49-F238E27FC236}">
                <a16:creationId xmlns:a16="http://schemas.microsoft.com/office/drawing/2014/main" id="{D7A07DC3-1789-6E41-AD80-35FD0AE58D0B}"/>
              </a:ext>
            </a:extLst>
          </p:cNvPr>
          <p:cNvSpPr/>
          <p:nvPr/>
        </p:nvSpPr>
        <p:spPr>
          <a:xfrm>
            <a:off x="322419" y="3936606"/>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sp>
        <p:nvSpPr>
          <p:cNvPr id="38" name="TextBox 37">
            <a:extLst>
              <a:ext uri="{FF2B5EF4-FFF2-40B4-BE49-F238E27FC236}">
                <a16:creationId xmlns:a16="http://schemas.microsoft.com/office/drawing/2014/main" id="{8313E355-79DE-C24A-B2F4-A1BC62325B8C}"/>
              </a:ext>
            </a:extLst>
          </p:cNvPr>
          <p:cNvSpPr txBox="1"/>
          <p:nvPr/>
        </p:nvSpPr>
        <p:spPr>
          <a:xfrm>
            <a:off x="3010392" y="1224614"/>
            <a:ext cx="6133608" cy="769441"/>
          </a:xfrm>
          <a:prstGeom prst="rect">
            <a:avLst/>
          </a:prstGeom>
          <a:noFill/>
        </p:spPr>
        <p:txBody>
          <a:bodyPr wrap="square" rtlCol="0">
            <a:spAutoFit/>
          </a:bodyPr>
          <a:lstStyle/>
          <a:p>
            <a:pPr algn="ctr"/>
            <a:r>
              <a:rPr lang="en-US" sz="2200" dirty="0"/>
              <a:t>at </a:t>
            </a:r>
            <a:r>
              <a:rPr lang="en-US" sz="2200" b="1" dirty="0"/>
              <a:t>every point </a:t>
            </a:r>
            <a:r>
              <a:rPr lang="en-US" sz="2200" dirty="0"/>
              <a:t>in the function, if two locals are live at that point, add an edge between them.</a:t>
            </a:r>
            <a:endParaRPr lang="en-US" sz="2200" dirty="0">
              <a:solidFill>
                <a:srgbClr val="FF0000"/>
              </a:solidFill>
            </a:endParaRPr>
          </a:p>
        </p:txBody>
      </p:sp>
      <p:cxnSp>
        <p:nvCxnSpPr>
          <p:cNvPr id="43" name="Straight Connector 42">
            <a:extLst>
              <a:ext uri="{FF2B5EF4-FFF2-40B4-BE49-F238E27FC236}">
                <a16:creationId xmlns:a16="http://schemas.microsoft.com/office/drawing/2014/main" id="{8024A631-5E50-2E43-AE45-669B867BC630}"/>
              </a:ext>
            </a:extLst>
          </p:cNvPr>
          <p:cNvCxnSpPr>
            <a:cxnSpLocks/>
            <a:stCxn id="26" idx="6"/>
            <a:endCxn id="27" idx="2"/>
          </p:cNvCxnSpPr>
          <p:nvPr/>
        </p:nvCxnSpPr>
        <p:spPr>
          <a:xfrm>
            <a:off x="894371" y="2707612"/>
            <a:ext cx="19631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C854459-8C20-9442-9173-8E93B7C3A7DF}"/>
              </a:ext>
            </a:extLst>
          </p:cNvPr>
          <p:cNvCxnSpPr>
            <a:cxnSpLocks/>
            <a:stCxn id="25" idx="4"/>
            <a:endCxn id="31" idx="0"/>
          </p:cNvCxnSpPr>
          <p:nvPr/>
        </p:nvCxnSpPr>
        <p:spPr>
          <a:xfrm>
            <a:off x="1873087" y="2296345"/>
            <a:ext cx="2700" cy="23518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C122378-2411-A947-B3B8-B56FB6E184AC}"/>
              </a:ext>
            </a:extLst>
          </p:cNvPr>
          <p:cNvCxnSpPr>
            <a:cxnSpLocks/>
            <a:stCxn id="26" idx="5"/>
            <a:endCxn id="31" idx="1"/>
          </p:cNvCxnSpPr>
          <p:nvPr/>
        </p:nvCxnSpPr>
        <p:spPr>
          <a:xfrm>
            <a:off x="810611" y="2882727"/>
            <a:ext cx="822868"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C98FF0B-7A77-2C4A-8311-C6EE0DEB9B19}"/>
              </a:ext>
            </a:extLst>
          </p:cNvPr>
          <p:cNvCxnSpPr>
            <a:cxnSpLocks/>
            <a:stCxn id="27" idx="3"/>
            <a:endCxn id="31" idx="7"/>
          </p:cNvCxnSpPr>
          <p:nvPr/>
        </p:nvCxnSpPr>
        <p:spPr>
          <a:xfrm flipH="1">
            <a:off x="2118094" y="2882727"/>
            <a:ext cx="811941"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067F08C-C01A-F545-A517-BBCB186E99DA}"/>
              </a:ext>
            </a:extLst>
          </p:cNvPr>
          <p:cNvCxnSpPr>
            <a:cxnSpLocks/>
            <a:stCxn id="30" idx="3"/>
            <a:endCxn id="31" idx="6"/>
          </p:cNvCxnSpPr>
          <p:nvPr/>
        </p:nvCxnSpPr>
        <p:spPr>
          <a:xfrm flipH="1">
            <a:off x="2218461" y="4359371"/>
            <a:ext cx="688908"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545F684-F384-444F-9483-1B8E5DFCB3A3}"/>
              </a:ext>
            </a:extLst>
          </p:cNvPr>
          <p:cNvCxnSpPr>
            <a:cxnSpLocks/>
            <a:stCxn id="30" idx="2"/>
            <a:endCxn id="26" idx="6"/>
          </p:cNvCxnSpPr>
          <p:nvPr/>
        </p:nvCxnSpPr>
        <p:spPr>
          <a:xfrm flipH="1" flipV="1">
            <a:off x="894371" y="2707612"/>
            <a:ext cx="1940463" cy="14766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5CC852E-741E-7840-8D7B-3F5158AF9285}"/>
              </a:ext>
            </a:extLst>
          </p:cNvPr>
          <p:cNvCxnSpPr>
            <a:cxnSpLocks/>
            <a:stCxn id="30" idx="1"/>
            <a:endCxn id="25" idx="4"/>
          </p:cNvCxnSpPr>
          <p:nvPr/>
        </p:nvCxnSpPr>
        <p:spPr>
          <a:xfrm flipH="1" flipV="1">
            <a:off x="1873087" y="2296345"/>
            <a:ext cx="1034282"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EF0025E-2CA3-F043-AC84-2E65298BAE3E}"/>
              </a:ext>
            </a:extLst>
          </p:cNvPr>
          <p:cNvCxnSpPr>
            <a:cxnSpLocks/>
            <a:stCxn id="30" idx="2"/>
            <a:endCxn id="32" idx="6"/>
          </p:cNvCxnSpPr>
          <p:nvPr/>
        </p:nvCxnSpPr>
        <p:spPr>
          <a:xfrm flipH="1">
            <a:off x="894371" y="4184256"/>
            <a:ext cx="19404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4CCBB66-1FDC-354D-8343-73344488837A}"/>
              </a:ext>
            </a:extLst>
          </p:cNvPr>
          <p:cNvCxnSpPr>
            <a:cxnSpLocks/>
            <a:stCxn id="31" idx="2"/>
            <a:endCxn id="32" idx="5"/>
          </p:cNvCxnSpPr>
          <p:nvPr/>
        </p:nvCxnSpPr>
        <p:spPr>
          <a:xfrm flipH="1" flipV="1">
            <a:off x="810611" y="4359371"/>
            <a:ext cx="722501"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C8C2807B-229E-3249-99FD-83AD26E42228}"/>
              </a:ext>
            </a:extLst>
          </p:cNvPr>
          <p:cNvCxnSpPr>
            <a:cxnSpLocks/>
            <a:stCxn id="26" idx="4"/>
            <a:endCxn id="32" idx="0"/>
          </p:cNvCxnSpPr>
          <p:nvPr/>
        </p:nvCxnSpPr>
        <p:spPr>
          <a:xfrm>
            <a:off x="608395" y="2955262"/>
            <a:ext cx="0" cy="9813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333F3E3-DB18-D940-884F-BC29436FBD48}"/>
              </a:ext>
            </a:extLst>
          </p:cNvPr>
          <p:cNvCxnSpPr>
            <a:cxnSpLocks/>
            <a:stCxn id="25" idx="4"/>
            <a:endCxn id="32" idx="7"/>
          </p:cNvCxnSpPr>
          <p:nvPr/>
        </p:nvCxnSpPr>
        <p:spPr>
          <a:xfrm flipH="1">
            <a:off x="810611" y="2296345"/>
            <a:ext cx="1062476"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75165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7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0" grpId="0" animBg="1"/>
      <p:bldP spid="31" grpId="0" animBg="1"/>
      <p:bldP spid="32" grpId="0" animBg="1"/>
      <p:bldP spid="3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E045-BDB4-084B-ADC7-EF82D64CF939}"/>
              </a:ext>
            </a:extLst>
          </p:cNvPr>
          <p:cNvSpPr>
            <a:spLocks noGrp="1"/>
          </p:cNvSpPr>
          <p:nvPr>
            <p:ph type="title"/>
          </p:nvPr>
        </p:nvSpPr>
        <p:spPr/>
        <p:txBody>
          <a:bodyPr/>
          <a:lstStyle/>
          <a:p>
            <a:r>
              <a:rPr lang="en-US" dirty="0"/>
              <a:t>Ok but what's it mean and </a:t>
            </a:r>
            <a:r>
              <a:rPr lang="en-US" i="1" dirty="0"/>
              <a:t>why is it a graph</a:t>
            </a:r>
            <a:endParaRPr lang="en-US" dirty="0"/>
          </a:p>
        </p:txBody>
      </p:sp>
      <p:sp>
        <p:nvSpPr>
          <p:cNvPr id="3" name="Content Placeholder 2">
            <a:extLst>
              <a:ext uri="{FF2B5EF4-FFF2-40B4-BE49-F238E27FC236}">
                <a16:creationId xmlns:a16="http://schemas.microsoft.com/office/drawing/2014/main" id="{4CB5D7A8-C402-BB43-982B-1FA84A2276F8}"/>
              </a:ext>
            </a:extLst>
          </p:cNvPr>
          <p:cNvSpPr>
            <a:spLocks noGrp="1"/>
          </p:cNvSpPr>
          <p:nvPr>
            <p:ph idx="1"/>
          </p:nvPr>
        </p:nvSpPr>
        <p:spPr>
          <a:xfrm>
            <a:off x="152400" y="495301"/>
            <a:ext cx="8991600" cy="1509703"/>
          </a:xfrm>
        </p:spPr>
        <p:txBody>
          <a:bodyPr/>
          <a:lstStyle/>
          <a:p>
            <a:r>
              <a:rPr lang="en-US" dirty="0"/>
              <a:t>it's the </a:t>
            </a:r>
            <a:r>
              <a:rPr lang="en-US" b="1" dirty="0"/>
              <a:t>register</a:t>
            </a:r>
            <a:r>
              <a:rPr lang="en-US" dirty="0"/>
              <a:t> </a:t>
            </a:r>
            <a:r>
              <a:rPr lang="en-US" b="1" dirty="0"/>
              <a:t>interference </a:t>
            </a:r>
            <a:r>
              <a:rPr lang="en-US" dirty="0"/>
              <a:t>graph: an edge between two nodes means that </a:t>
            </a:r>
            <a:r>
              <a:rPr lang="en-US" b="1" dirty="0"/>
              <a:t>those two locals </a:t>
            </a:r>
            <a:r>
              <a:rPr lang="en-US" b="1" dirty="0">
                <a:solidFill>
                  <a:srgbClr val="FF0000"/>
                </a:solidFill>
              </a:rPr>
              <a:t>cannot go in the same register!</a:t>
            </a:r>
          </a:p>
          <a:p>
            <a:pPr lvl="1"/>
            <a:r>
              <a:rPr lang="en-US" dirty="0"/>
              <a:t>but the </a:t>
            </a:r>
            <a:r>
              <a:rPr lang="en-US" i="1" dirty="0"/>
              <a:t>absence </a:t>
            </a:r>
            <a:r>
              <a:rPr lang="en-US" dirty="0"/>
              <a:t>of an edge means they </a:t>
            </a:r>
            <a:r>
              <a:rPr lang="en-US" i="1" dirty="0"/>
              <a:t>can</a:t>
            </a:r>
            <a:r>
              <a:rPr lang="en-US" dirty="0"/>
              <a:t> go in the same register.</a:t>
            </a:r>
          </a:p>
          <a:p>
            <a:r>
              <a:rPr lang="en-US" dirty="0"/>
              <a:t>as for "why a graph," well, lots of things </a:t>
            </a:r>
            <a:r>
              <a:rPr lang="en-US" b="1" dirty="0"/>
              <a:t>reduce to </a:t>
            </a:r>
            <a:r>
              <a:rPr lang="en-US" dirty="0"/>
              <a:t>graph algorithms.</a:t>
            </a:r>
          </a:p>
        </p:txBody>
      </p:sp>
      <p:sp>
        <p:nvSpPr>
          <p:cNvPr id="4" name="Slide Number Placeholder 3">
            <a:extLst>
              <a:ext uri="{FF2B5EF4-FFF2-40B4-BE49-F238E27FC236}">
                <a16:creationId xmlns:a16="http://schemas.microsoft.com/office/drawing/2014/main" id="{EDE43753-361F-464B-A66C-553D1F687BD9}"/>
              </a:ext>
            </a:extLst>
          </p:cNvPr>
          <p:cNvSpPr>
            <a:spLocks noGrp="1"/>
          </p:cNvSpPr>
          <p:nvPr>
            <p:ph type="sldNum" sz="quarter" idx="12"/>
          </p:nvPr>
        </p:nvSpPr>
        <p:spPr/>
        <p:txBody>
          <a:bodyPr/>
          <a:lstStyle/>
          <a:p>
            <a:fld id="{3552B95B-556F-44BD-91A5-D80C1B9E2BB3}" type="slidenum">
              <a:rPr lang="en-US" smtClean="0"/>
              <a:pPr/>
              <a:t>21</a:t>
            </a:fld>
            <a:endParaRPr lang="en-US"/>
          </a:p>
        </p:txBody>
      </p:sp>
      <p:grpSp>
        <p:nvGrpSpPr>
          <p:cNvPr id="52" name="Group 51">
            <a:extLst>
              <a:ext uri="{FF2B5EF4-FFF2-40B4-BE49-F238E27FC236}">
                <a16:creationId xmlns:a16="http://schemas.microsoft.com/office/drawing/2014/main" id="{9AF58774-2DFE-D741-8DD4-C45211D9CD10}"/>
              </a:ext>
            </a:extLst>
          </p:cNvPr>
          <p:cNvGrpSpPr/>
          <p:nvPr/>
        </p:nvGrpSpPr>
        <p:grpSpPr>
          <a:xfrm>
            <a:off x="360519" y="2046183"/>
            <a:ext cx="3030381" cy="3342455"/>
            <a:chOff x="360519" y="2046183"/>
            <a:chExt cx="3030381" cy="3342455"/>
          </a:xfrm>
        </p:grpSpPr>
        <p:sp>
          <p:nvSpPr>
            <p:cNvPr id="11" name="Oval 10">
              <a:extLst>
                <a:ext uri="{FF2B5EF4-FFF2-40B4-BE49-F238E27FC236}">
                  <a16:creationId xmlns:a16="http://schemas.microsoft.com/office/drawing/2014/main" id="{5C8B0643-8116-D24A-8151-843599AE441F}"/>
                </a:ext>
              </a:extLst>
            </p:cNvPr>
            <p:cNvSpPr/>
            <p:nvPr/>
          </p:nvSpPr>
          <p:spPr>
            <a:xfrm>
              <a:off x="1663537" y="2046183"/>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12" name="Oval 11">
              <a:extLst>
                <a:ext uri="{FF2B5EF4-FFF2-40B4-BE49-F238E27FC236}">
                  <a16:creationId xmlns:a16="http://schemas.microsoft.com/office/drawing/2014/main" id="{26F4A287-D3FE-BD4C-BDE0-8952BFD25801}"/>
                </a:ext>
              </a:extLst>
            </p:cNvPr>
            <p:cNvSpPr/>
            <p:nvPr/>
          </p:nvSpPr>
          <p:spPr>
            <a:xfrm>
              <a:off x="360519" y="2705100"/>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13" name="Oval 12">
              <a:extLst>
                <a:ext uri="{FF2B5EF4-FFF2-40B4-BE49-F238E27FC236}">
                  <a16:creationId xmlns:a16="http://schemas.microsoft.com/office/drawing/2014/main" id="{F803601E-BA7E-B643-B1E4-700F6AF95385}"/>
                </a:ext>
              </a:extLst>
            </p:cNvPr>
            <p:cNvSpPr/>
            <p:nvPr/>
          </p:nvSpPr>
          <p:spPr>
            <a:xfrm>
              <a:off x="2895600" y="2705100"/>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cxnSp>
          <p:nvCxnSpPr>
            <p:cNvPr id="14" name="Straight Connector 13">
              <a:extLst>
                <a:ext uri="{FF2B5EF4-FFF2-40B4-BE49-F238E27FC236}">
                  <a16:creationId xmlns:a16="http://schemas.microsoft.com/office/drawing/2014/main" id="{2D440AB7-FFA7-6940-9264-7BBCD2C13284}"/>
                </a:ext>
              </a:extLst>
            </p:cNvPr>
            <p:cNvCxnSpPr>
              <a:cxnSpLocks/>
              <a:stCxn id="12" idx="7"/>
              <a:endCxn id="11" idx="3"/>
            </p:cNvCxnSpPr>
            <p:nvPr/>
          </p:nvCxnSpPr>
          <p:spPr>
            <a:xfrm flipV="1">
              <a:off x="848711" y="2468948"/>
              <a:ext cx="887361"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4008715-4552-C044-AFE3-D83FD8E39933}"/>
                </a:ext>
              </a:extLst>
            </p:cNvPr>
            <p:cNvCxnSpPr>
              <a:cxnSpLocks/>
              <a:stCxn id="13" idx="1"/>
              <a:endCxn id="11" idx="5"/>
            </p:cNvCxnSpPr>
            <p:nvPr/>
          </p:nvCxnSpPr>
          <p:spPr>
            <a:xfrm flipH="1" flipV="1">
              <a:off x="2086302" y="2468948"/>
              <a:ext cx="881833"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028054E-A0B7-EF4E-AD0E-0B2862311FD3}"/>
                </a:ext>
              </a:extLst>
            </p:cNvPr>
            <p:cNvSpPr/>
            <p:nvPr/>
          </p:nvSpPr>
          <p:spPr>
            <a:xfrm>
              <a:off x="2872934" y="4181744"/>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17" name="Oval 16">
              <a:extLst>
                <a:ext uri="{FF2B5EF4-FFF2-40B4-BE49-F238E27FC236}">
                  <a16:creationId xmlns:a16="http://schemas.microsoft.com/office/drawing/2014/main" id="{72F61425-6F5B-2647-8D27-A07A1C282894}"/>
                </a:ext>
              </a:extLst>
            </p:cNvPr>
            <p:cNvSpPr/>
            <p:nvPr/>
          </p:nvSpPr>
          <p:spPr>
            <a:xfrm>
              <a:off x="1571212" y="4893338"/>
              <a:ext cx="685349"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18" name="Oval 17">
              <a:extLst>
                <a:ext uri="{FF2B5EF4-FFF2-40B4-BE49-F238E27FC236}">
                  <a16:creationId xmlns:a16="http://schemas.microsoft.com/office/drawing/2014/main" id="{53DC8A53-3A66-C84A-8D75-E82DE2D36D29}"/>
                </a:ext>
              </a:extLst>
            </p:cNvPr>
            <p:cNvSpPr/>
            <p:nvPr/>
          </p:nvSpPr>
          <p:spPr>
            <a:xfrm>
              <a:off x="360519" y="4181744"/>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cxnSp>
          <p:nvCxnSpPr>
            <p:cNvPr id="19" name="Straight Connector 18">
              <a:extLst>
                <a:ext uri="{FF2B5EF4-FFF2-40B4-BE49-F238E27FC236}">
                  <a16:creationId xmlns:a16="http://schemas.microsoft.com/office/drawing/2014/main" id="{E446B9A4-7CA1-B044-9E93-0276F520DBDD}"/>
                </a:ext>
              </a:extLst>
            </p:cNvPr>
            <p:cNvCxnSpPr>
              <a:cxnSpLocks/>
              <a:stCxn id="12" idx="6"/>
              <a:endCxn id="13" idx="2"/>
            </p:cNvCxnSpPr>
            <p:nvPr/>
          </p:nvCxnSpPr>
          <p:spPr>
            <a:xfrm>
              <a:off x="932471" y="2952750"/>
              <a:ext cx="19631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053332-6589-C348-9D75-6472F1829A71}"/>
                </a:ext>
              </a:extLst>
            </p:cNvPr>
            <p:cNvCxnSpPr>
              <a:cxnSpLocks/>
              <a:stCxn id="11" idx="4"/>
              <a:endCxn id="17" idx="0"/>
            </p:cNvCxnSpPr>
            <p:nvPr/>
          </p:nvCxnSpPr>
          <p:spPr>
            <a:xfrm>
              <a:off x="1911187" y="2541483"/>
              <a:ext cx="2700" cy="23518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B134B88-ED44-D342-8AA3-0AA14023C8E0}"/>
                </a:ext>
              </a:extLst>
            </p:cNvPr>
            <p:cNvCxnSpPr>
              <a:cxnSpLocks/>
              <a:stCxn id="12" idx="5"/>
              <a:endCxn id="17" idx="1"/>
            </p:cNvCxnSpPr>
            <p:nvPr/>
          </p:nvCxnSpPr>
          <p:spPr>
            <a:xfrm>
              <a:off x="848711" y="3127865"/>
              <a:ext cx="822868"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5D84DE-266D-6343-818B-F374E6E2EDF1}"/>
                </a:ext>
              </a:extLst>
            </p:cNvPr>
            <p:cNvCxnSpPr>
              <a:cxnSpLocks/>
              <a:stCxn id="13" idx="3"/>
              <a:endCxn id="17" idx="7"/>
            </p:cNvCxnSpPr>
            <p:nvPr/>
          </p:nvCxnSpPr>
          <p:spPr>
            <a:xfrm flipH="1">
              <a:off x="2156194" y="3127865"/>
              <a:ext cx="811941"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8547026-3F21-CB40-A79C-539C591AE041}"/>
                </a:ext>
              </a:extLst>
            </p:cNvPr>
            <p:cNvCxnSpPr>
              <a:cxnSpLocks/>
              <a:stCxn id="16" idx="3"/>
              <a:endCxn id="17" idx="6"/>
            </p:cNvCxnSpPr>
            <p:nvPr/>
          </p:nvCxnSpPr>
          <p:spPr>
            <a:xfrm flipH="1">
              <a:off x="2256561" y="4604509"/>
              <a:ext cx="688908"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0DB4A85-3DF5-4A4C-8C2E-8BE5560678E9}"/>
                </a:ext>
              </a:extLst>
            </p:cNvPr>
            <p:cNvCxnSpPr>
              <a:cxnSpLocks/>
              <a:stCxn id="16" idx="2"/>
              <a:endCxn id="34" idx="5"/>
            </p:cNvCxnSpPr>
            <p:nvPr/>
          </p:nvCxnSpPr>
          <p:spPr>
            <a:xfrm flipH="1" flipV="1">
              <a:off x="848711" y="3127865"/>
              <a:ext cx="2024223" cy="13015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1340425-106D-3C42-AF53-049B4FAFEB11}"/>
                </a:ext>
              </a:extLst>
            </p:cNvPr>
            <p:cNvCxnSpPr>
              <a:cxnSpLocks/>
              <a:stCxn id="16" idx="1"/>
              <a:endCxn id="11" idx="4"/>
            </p:cNvCxnSpPr>
            <p:nvPr/>
          </p:nvCxnSpPr>
          <p:spPr>
            <a:xfrm flipH="1" flipV="1">
              <a:off x="1911187" y="2541483"/>
              <a:ext cx="1034282"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830A00D-33B8-8F48-8263-2DD001C132A4}"/>
                </a:ext>
              </a:extLst>
            </p:cNvPr>
            <p:cNvCxnSpPr>
              <a:cxnSpLocks/>
              <a:stCxn id="16" idx="2"/>
              <a:endCxn id="18" idx="6"/>
            </p:cNvCxnSpPr>
            <p:nvPr/>
          </p:nvCxnSpPr>
          <p:spPr>
            <a:xfrm flipH="1">
              <a:off x="932471" y="4429394"/>
              <a:ext cx="19404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409FDB9-878D-324F-BB73-2B78DB78691B}"/>
                </a:ext>
              </a:extLst>
            </p:cNvPr>
            <p:cNvCxnSpPr>
              <a:cxnSpLocks/>
              <a:stCxn id="17" idx="2"/>
              <a:endCxn id="18" idx="5"/>
            </p:cNvCxnSpPr>
            <p:nvPr/>
          </p:nvCxnSpPr>
          <p:spPr>
            <a:xfrm flipH="1" flipV="1">
              <a:off x="848711" y="4604509"/>
              <a:ext cx="722501"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892FD6C-B225-FF47-959B-767065456C4B}"/>
                </a:ext>
              </a:extLst>
            </p:cNvPr>
            <p:cNvCxnSpPr>
              <a:cxnSpLocks/>
              <a:stCxn id="12" idx="4"/>
              <a:endCxn id="18" idx="0"/>
            </p:cNvCxnSpPr>
            <p:nvPr/>
          </p:nvCxnSpPr>
          <p:spPr>
            <a:xfrm>
              <a:off x="646495" y="3200400"/>
              <a:ext cx="0" cy="9813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CA643B-AE17-0E40-B806-DB24C9D54838}"/>
                </a:ext>
              </a:extLst>
            </p:cNvPr>
            <p:cNvCxnSpPr>
              <a:cxnSpLocks/>
              <a:stCxn id="11" idx="4"/>
              <a:endCxn id="18" idx="7"/>
            </p:cNvCxnSpPr>
            <p:nvPr/>
          </p:nvCxnSpPr>
          <p:spPr>
            <a:xfrm flipH="1">
              <a:off x="848711" y="2541483"/>
              <a:ext cx="1062476"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22FCAE4D-04CA-D840-B8F8-395167B86177}"/>
              </a:ext>
            </a:extLst>
          </p:cNvPr>
          <p:cNvSpPr/>
          <p:nvPr/>
        </p:nvSpPr>
        <p:spPr>
          <a:xfrm>
            <a:off x="1663537" y="2046183"/>
            <a:ext cx="495300" cy="49530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34" name="Oval 33">
            <a:extLst>
              <a:ext uri="{FF2B5EF4-FFF2-40B4-BE49-F238E27FC236}">
                <a16:creationId xmlns:a16="http://schemas.microsoft.com/office/drawing/2014/main" id="{B8AFF208-9F4B-5F47-A86E-83C85E7B5D69}"/>
              </a:ext>
            </a:extLst>
          </p:cNvPr>
          <p:cNvSpPr/>
          <p:nvPr/>
        </p:nvSpPr>
        <p:spPr>
          <a:xfrm>
            <a:off x="360519" y="2705100"/>
            <a:ext cx="571952" cy="4953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35" name="Oval 34">
            <a:extLst>
              <a:ext uri="{FF2B5EF4-FFF2-40B4-BE49-F238E27FC236}">
                <a16:creationId xmlns:a16="http://schemas.microsoft.com/office/drawing/2014/main" id="{3329E02B-23F2-1448-A4BB-446FE1BDC2C6}"/>
              </a:ext>
            </a:extLst>
          </p:cNvPr>
          <p:cNvSpPr/>
          <p:nvPr/>
        </p:nvSpPr>
        <p:spPr>
          <a:xfrm>
            <a:off x="2895600" y="2705100"/>
            <a:ext cx="495300" cy="495300"/>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sp>
        <p:nvSpPr>
          <p:cNvPr id="38" name="Oval 37">
            <a:extLst>
              <a:ext uri="{FF2B5EF4-FFF2-40B4-BE49-F238E27FC236}">
                <a16:creationId xmlns:a16="http://schemas.microsoft.com/office/drawing/2014/main" id="{5CF83994-089D-C04F-8B8E-F513FE5F160A}"/>
              </a:ext>
            </a:extLst>
          </p:cNvPr>
          <p:cNvSpPr/>
          <p:nvPr/>
        </p:nvSpPr>
        <p:spPr>
          <a:xfrm>
            <a:off x="2872934" y="4181744"/>
            <a:ext cx="495300" cy="495300"/>
          </a:xfrm>
          <a:prstGeom prst="ellips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39" name="Oval 38">
            <a:extLst>
              <a:ext uri="{FF2B5EF4-FFF2-40B4-BE49-F238E27FC236}">
                <a16:creationId xmlns:a16="http://schemas.microsoft.com/office/drawing/2014/main" id="{14ED93E8-4E15-8C4E-8B37-959F242BA4A4}"/>
              </a:ext>
            </a:extLst>
          </p:cNvPr>
          <p:cNvSpPr/>
          <p:nvPr/>
        </p:nvSpPr>
        <p:spPr>
          <a:xfrm>
            <a:off x="1571212" y="4893338"/>
            <a:ext cx="685349" cy="4953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40" name="Oval 39">
            <a:extLst>
              <a:ext uri="{FF2B5EF4-FFF2-40B4-BE49-F238E27FC236}">
                <a16:creationId xmlns:a16="http://schemas.microsoft.com/office/drawing/2014/main" id="{2AE67F8C-2D3E-0C4B-A80A-BA39221C1DE6}"/>
              </a:ext>
            </a:extLst>
          </p:cNvPr>
          <p:cNvSpPr/>
          <p:nvPr/>
        </p:nvSpPr>
        <p:spPr>
          <a:xfrm>
            <a:off x="360519" y="4181744"/>
            <a:ext cx="571952" cy="495300"/>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sp>
        <p:nvSpPr>
          <p:cNvPr id="53" name="TextBox 52">
            <a:extLst>
              <a:ext uri="{FF2B5EF4-FFF2-40B4-BE49-F238E27FC236}">
                <a16:creationId xmlns:a16="http://schemas.microsoft.com/office/drawing/2014/main" id="{B8D92661-E759-B843-AC2A-021276753399}"/>
              </a:ext>
            </a:extLst>
          </p:cNvPr>
          <p:cNvSpPr txBox="1"/>
          <p:nvPr/>
        </p:nvSpPr>
        <p:spPr>
          <a:xfrm>
            <a:off x="3581400" y="2019300"/>
            <a:ext cx="5468972" cy="1107996"/>
          </a:xfrm>
          <a:prstGeom prst="rect">
            <a:avLst/>
          </a:prstGeom>
          <a:noFill/>
        </p:spPr>
        <p:txBody>
          <a:bodyPr wrap="square" rtlCol="0">
            <a:spAutoFit/>
          </a:bodyPr>
          <a:lstStyle/>
          <a:p>
            <a:pPr algn="ctr"/>
            <a:r>
              <a:rPr lang="en-US" sz="2200" dirty="0"/>
              <a:t>this is </a:t>
            </a:r>
            <a:r>
              <a:rPr lang="en-US" sz="2200" b="1" dirty="0"/>
              <a:t>graph coloring: </a:t>
            </a:r>
            <a:r>
              <a:rPr lang="en-US" sz="2200" dirty="0"/>
              <a:t>we assign each node a color such that </a:t>
            </a:r>
            <a:r>
              <a:rPr lang="en-US" sz="2200" b="1" dirty="0"/>
              <a:t>no two nodes of the same color</a:t>
            </a:r>
            <a:r>
              <a:rPr lang="en-US" sz="2200" dirty="0"/>
              <a:t> share an edge (touch).</a:t>
            </a:r>
            <a:endParaRPr lang="en-US" sz="2200" dirty="0">
              <a:solidFill>
                <a:srgbClr val="FF0000"/>
              </a:solidFill>
            </a:endParaRPr>
          </a:p>
        </p:txBody>
      </p:sp>
      <p:sp>
        <p:nvSpPr>
          <p:cNvPr id="54" name="TextBox 53">
            <a:extLst>
              <a:ext uri="{FF2B5EF4-FFF2-40B4-BE49-F238E27FC236}">
                <a16:creationId xmlns:a16="http://schemas.microsoft.com/office/drawing/2014/main" id="{8C9FBEFF-8740-3841-BF3F-516BA983E227}"/>
              </a:ext>
            </a:extLst>
          </p:cNvPr>
          <p:cNvSpPr txBox="1"/>
          <p:nvPr/>
        </p:nvSpPr>
        <p:spPr>
          <a:xfrm>
            <a:off x="3644229" y="3324777"/>
            <a:ext cx="5468972" cy="1107996"/>
          </a:xfrm>
          <a:prstGeom prst="rect">
            <a:avLst/>
          </a:prstGeom>
          <a:noFill/>
        </p:spPr>
        <p:txBody>
          <a:bodyPr wrap="square" rtlCol="0">
            <a:spAutoFit/>
          </a:bodyPr>
          <a:lstStyle/>
          <a:p>
            <a:pPr algn="ctr"/>
            <a:r>
              <a:rPr lang="en-US" sz="2200" dirty="0"/>
              <a:t>the "color" is just an arbitrary label or set: for our purposes, "color" will mean </a:t>
            </a:r>
            <a:r>
              <a:rPr lang="en-US" sz="2200" b="1" dirty="0"/>
              <a:t>the register used to store the variable.</a:t>
            </a:r>
            <a:endParaRPr lang="en-US" sz="2200" dirty="0">
              <a:solidFill>
                <a:srgbClr val="FF0000"/>
              </a:solidFill>
            </a:endParaRPr>
          </a:p>
        </p:txBody>
      </p:sp>
      <p:sp>
        <p:nvSpPr>
          <p:cNvPr id="56" name="TextBox 55">
            <a:extLst>
              <a:ext uri="{FF2B5EF4-FFF2-40B4-BE49-F238E27FC236}">
                <a16:creationId xmlns:a16="http://schemas.microsoft.com/office/drawing/2014/main" id="{CBEAD055-73D6-D946-9ECD-F7C41FDC770B}"/>
              </a:ext>
            </a:extLst>
          </p:cNvPr>
          <p:cNvSpPr txBox="1"/>
          <p:nvPr/>
        </p:nvSpPr>
        <p:spPr>
          <a:xfrm>
            <a:off x="4084974" y="4604509"/>
            <a:ext cx="4605992" cy="769441"/>
          </a:xfrm>
          <a:prstGeom prst="rect">
            <a:avLst/>
          </a:prstGeom>
          <a:noFill/>
        </p:spPr>
        <p:txBody>
          <a:bodyPr wrap="square" rtlCol="0">
            <a:spAutoFit/>
          </a:bodyPr>
          <a:lstStyle/>
          <a:p>
            <a:pPr algn="ctr"/>
            <a:r>
              <a:rPr lang="en-US" sz="2200" dirty="0"/>
              <a:t>here, </a:t>
            </a:r>
            <a:r>
              <a:rPr lang="en-US" sz="2200" b="1" dirty="0">
                <a:latin typeface="Consolas" panose="020B0609020204030204" pitchFamily="49" charset="0"/>
                <a:cs typeface="Consolas" panose="020B0609020204030204" pitchFamily="49" charset="0"/>
              </a:rPr>
              <a:t>n</a:t>
            </a:r>
            <a:r>
              <a:rPr lang="en-US" sz="2200" dirty="0"/>
              <a:t> and </a:t>
            </a:r>
            <a:r>
              <a:rPr lang="en-US" sz="2200" b="1" dirty="0" err="1">
                <a:latin typeface="Consolas" panose="020B0609020204030204" pitchFamily="49" charset="0"/>
                <a:cs typeface="Consolas" panose="020B0609020204030204" pitchFamily="49" charset="0"/>
              </a:rPr>
              <a:t>obj</a:t>
            </a:r>
            <a:r>
              <a:rPr lang="en-US" sz="2200" dirty="0"/>
              <a:t> are the same color, so they can use the same register!</a:t>
            </a:r>
            <a:endParaRPr lang="en-US" sz="2200" dirty="0">
              <a:solidFill>
                <a:srgbClr val="FF0000"/>
              </a:solidFill>
            </a:endParaRPr>
          </a:p>
        </p:txBody>
      </p:sp>
    </p:spTree>
    <p:extLst>
      <p:ext uri="{BB962C8B-B14F-4D97-AF65-F5344CB8AC3E}">
        <p14:creationId xmlns:p14="http://schemas.microsoft.com/office/powerpoint/2010/main" val="27464981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8" grpId="0" animBg="1"/>
      <p:bldP spid="39" grpId="0" animBg="1"/>
      <p:bldP spid="40" grpId="0" animBg="1"/>
      <p:bldP spid="53" grpId="0"/>
      <p:bldP spid="54" grpId="0"/>
      <p:bldP spid="5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D30B-CD1A-8B4C-8BB7-F1CDD75E5564}"/>
              </a:ext>
            </a:extLst>
          </p:cNvPr>
          <p:cNvSpPr>
            <a:spLocks noGrp="1"/>
          </p:cNvSpPr>
          <p:nvPr>
            <p:ph type="ctrTitle"/>
          </p:nvPr>
        </p:nvSpPr>
        <p:spPr/>
        <p:txBody>
          <a:bodyPr/>
          <a:lstStyle/>
          <a:p>
            <a:r>
              <a:rPr lang="en-US" dirty="0"/>
              <a:t>Graph Coloring</a:t>
            </a:r>
            <a:br>
              <a:rPr lang="en-US" dirty="0"/>
            </a:br>
            <a:r>
              <a:rPr lang="en-US" sz="1050" dirty="0">
                <a:solidFill>
                  <a:srgbClr val="FFFFFF"/>
                </a:solidFill>
              </a:rPr>
              <a:t>time check ≤ 56</a:t>
            </a:r>
            <a:endParaRPr lang="en-US" dirty="0"/>
          </a:p>
        </p:txBody>
      </p:sp>
      <p:sp>
        <p:nvSpPr>
          <p:cNvPr id="3" name="Slide Number Placeholder 2">
            <a:extLst>
              <a:ext uri="{FF2B5EF4-FFF2-40B4-BE49-F238E27FC236}">
                <a16:creationId xmlns:a16="http://schemas.microsoft.com/office/drawing/2014/main" id="{9B2E095B-5ABF-6449-80D2-1254F9EA012A}"/>
              </a:ext>
            </a:extLst>
          </p:cNvPr>
          <p:cNvSpPr>
            <a:spLocks noGrp="1"/>
          </p:cNvSpPr>
          <p:nvPr>
            <p:ph type="sldNum" sz="quarter" idx="12"/>
          </p:nvPr>
        </p:nvSpPr>
        <p:spPr/>
        <p:txBody>
          <a:bodyPr/>
          <a:lstStyle/>
          <a:p>
            <a:fld id="{3552B95B-556F-44BD-91A5-D80C1B9E2BB3}" type="slidenum">
              <a:rPr lang="en-US" smtClean="0"/>
              <a:pPr/>
              <a:t>22</a:t>
            </a:fld>
            <a:endParaRPr lang="en-US"/>
          </a:p>
        </p:txBody>
      </p:sp>
    </p:spTree>
    <p:extLst>
      <p:ext uri="{BB962C8B-B14F-4D97-AF65-F5344CB8AC3E}">
        <p14:creationId xmlns:p14="http://schemas.microsoft.com/office/powerpoint/2010/main" val="172958813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AEB3A-E0D9-EC4B-8EA7-A4AA4CF3BC57}"/>
              </a:ext>
            </a:extLst>
          </p:cNvPr>
          <p:cNvSpPr>
            <a:spLocks noGrp="1"/>
          </p:cNvSpPr>
          <p:nvPr>
            <p:ph type="title"/>
          </p:nvPr>
        </p:nvSpPr>
        <p:spPr/>
        <p:txBody>
          <a:bodyPr/>
          <a:lstStyle/>
          <a:p>
            <a:r>
              <a:rPr lang="en-US" dirty="0" err="1"/>
              <a:t>Colorability</a:t>
            </a:r>
            <a:r>
              <a:rPr lang="en-US" dirty="0"/>
              <a:t> and chromatic number</a:t>
            </a:r>
          </a:p>
        </p:txBody>
      </p:sp>
      <p:sp>
        <p:nvSpPr>
          <p:cNvPr id="3" name="Content Placeholder 2">
            <a:extLst>
              <a:ext uri="{FF2B5EF4-FFF2-40B4-BE49-F238E27FC236}">
                <a16:creationId xmlns:a16="http://schemas.microsoft.com/office/drawing/2014/main" id="{A2BD9CF3-E9FD-5041-A1E6-FBFF1D0B3FA4}"/>
              </a:ext>
            </a:extLst>
          </p:cNvPr>
          <p:cNvSpPr>
            <a:spLocks noGrp="1"/>
          </p:cNvSpPr>
          <p:nvPr>
            <p:ph idx="1"/>
          </p:nvPr>
        </p:nvSpPr>
        <p:spPr>
          <a:xfrm>
            <a:off x="152400" y="495301"/>
            <a:ext cx="8991600" cy="1219199"/>
          </a:xfrm>
        </p:spPr>
        <p:txBody>
          <a:bodyPr/>
          <a:lstStyle/>
          <a:p>
            <a:r>
              <a:rPr lang="en-US" dirty="0"/>
              <a:t>because our "colors" represent the registers on the target CPU…</a:t>
            </a:r>
          </a:p>
          <a:p>
            <a:pPr lvl="1"/>
            <a:r>
              <a:rPr lang="en-US" dirty="0"/>
              <a:t>we have a </a:t>
            </a:r>
            <a:r>
              <a:rPr lang="en-US" b="1" dirty="0"/>
              <a:t>fixed number of colors to use.</a:t>
            </a:r>
          </a:p>
          <a:p>
            <a:r>
              <a:rPr lang="en-US" dirty="0"/>
              <a:t>we say a graph is </a:t>
            </a:r>
            <a:r>
              <a:rPr lang="en-US" i="1" dirty="0"/>
              <a:t>k</a:t>
            </a:r>
            <a:r>
              <a:rPr lang="en-US" dirty="0"/>
              <a:t>-colorable if it can be colored with </a:t>
            </a:r>
            <a:r>
              <a:rPr lang="en-US" i="1" dirty="0"/>
              <a:t>k </a:t>
            </a:r>
            <a:r>
              <a:rPr lang="en-US" dirty="0"/>
              <a:t>colors.</a:t>
            </a:r>
          </a:p>
        </p:txBody>
      </p:sp>
      <p:sp>
        <p:nvSpPr>
          <p:cNvPr id="4" name="Slide Number Placeholder 3">
            <a:extLst>
              <a:ext uri="{FF2B5EF4-FFF2-40B4-BE49-F238E27FC236}">
                <a16:creationId xmlns:a16="http://schemas.microsoft.com/office/drawing/2014/main" id="{1E78975C-473C-8F4F-B0BB-976AC241C440}"/>
              </a:ext>
            </a:extLst>
          </p:cNvPr>
          <p:cNvSpPr>
            <a:spLocks noGrp="1"/>
          </p:cNvSpPr>
          <p:nvPr>
            <p:ph type="sldNum" sz="quarter" idx="12"/>
          </p:nvPr>
        </p:nvSpPr>
        <p:spPr/>
        <p:txBody>
          <a:bodyPr/>
          <a:lstStyle/>
          <a:p>
            <a:fld id="{3552B95B-556F-44BD-91A5-D80C1B9E2BB3}" type="slidenum">
              <a:rPr lang="en-US" smtClean="0"/>
              <a:pPr/>
              <a:t>23</a:t>
            </a:fld>
            <a:endParaRPr lang="en-US"/>
          </a:p>
        </p:txBody>
      </p:sp>
      <p:grpSp>
        <p:nvGrpSpPr>
          <p:cNvPr id="5" name="Group 4">
            <a:extLst>
              <a:ext uri="{FF2B5EF4-FFF2-40B4-BE49-F238E27FC236}">
                <a16:creationId xmlns:a16="http://schemas.microsoft.com/office/drawing/2014/main" id="{FAFA5188-1093-7042-8B28-CA67AE434521}"/>
              </a:ext>
            </a:extLst>
          </p:cNvPr>
          <p:cNvGrpSpPr/>
          <p:nvPr/>
        </p:nvGrpSpPr>
        <p:grpSpPr>
          <a:xfrm>
            <a:off x="533400" y="1866900"/>
            <a:ext cx="1756265" cy="1161484"/>
            <a:chOff x="3048000" y="3296216"/>
            <a:chExt cx="1756265" cy="1161484"/>
          </a:xfrm>
        </p:grpSpPr>
        <p:sp>
          <p:nvSpPr>
            <p:cNvPr id="6" name="Oval 5">
              <a:extLst>
                <a:ext uri="{FF2B5EF4-FFF2-40B4-BE49-F238E27FC236}">
                  <a16:creationId xmlns:a16="http://schemas.microsoft.com/office/drawing/2014/main" id="{3AB873A9-AACC-634D-B327-CECDB6FEB47E}"/>
                </a:ext>
              </a:extLst>
            </p:cNvPr>
            <p:cNvSpPr/>
            <p:nvPr/>
          </p:nvSpPr>
          <p:spPr>
            <a:xfrm>
              <a:off x="3657600" y="3296216"/>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a</a:t>
              </a:r>
            </a:p>
          </p:txBody>
        </p:sp>
        <p:sp>
          <p:nvSpPr>
            <p:cNvPr id="7" name="Oval 6">
              <a:extLst>
                <a:ext uri="{FF2B5EF4-FFF2-40B4-BE49-F238E27FC236}">
                  <a16:creationId xmlns:a16="http://schemas.microsoft.com/office/drawing/2014/main" id="{6DE2DF6E-3A9C-1946-818C-127E2DFC777D}"/>
                </a:ext>
              </a:extLst>
            </p:cNvPr>
            <p:cNvSpPr/>
            <p:nvPr/>
          </p:nvSpPr>
          <p:spPr>
            <a:xfrm>
              <a:off x="3048000" y="3962400"/>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x</a:t>
              </a:r>
            </a:p>
          </p:txBody>
        </p:sp>
        <p:sp>
          <p:nvSpPr>
            <p:cNvPr id="8" name="Oval 7">
              <a:extLst>
                <a:ext uri="{FF2B5EF4-FFF2-40B4-BE49-F238E27FC236}">
                  <a16:creationId xmlns:a16="http://schemas.microsoft.com/office/drawing/2014/main" id="{48B8F506-BA64-6142-98F0-9D1AE64C23EB}"/>
                </a:ext>
              </a:extLst>
            </p:cNvPr>
            <p:cNvSpPr/>
            <p:nvPr/>
          </p:nvSpPr>
          <p:spPr>
            <a:xfrm>
              <a:off x="4308965" y="3962400"/>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y</a:t>
              </a:r>
            </a:p>
          </p:txBody>
        </p:sp>
        <p:cxnSp>
          <p:nvCxnSpPr>
            <p:cNvPr id="9" name="Straight Connector 8">
              <a:extLst>
                <a:ext uri="{FF2B5EF4-FFF2-40B4-BE49-F238E27FC236}">
                  <a16:creationId xmlns:a16="http://schemas.microsoft.com/office/drawing/2014/main" id="{1D2FC2B0-85C9-4442-89D7-62EAC305A1F7}"/>
                </a:ext>
              </a:extLst>
            </p:cNvPr>
            <p:cNvCxnSpPr>
              <a:stCxn id="7" idx="7"/>
              <a:endCxn id="6" idx="3"/>
            </p:cNvCxnSpPr>
            <p:nvPr/>
          </p:nvCxnSpPr>
          <p:spPr>
            <a:xfrm flipV="1">
              <a:off x="3470765" y="3718981"/>
              <a:ext cx="259370" cy="3159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913000B-3DD2-4144-A8B9-C0B5F0A91D1F}"/>
                </a:ext>
              </a:extLst>
            </p:cNvPr>
            <p:cNvCxnSpPr>
              <a:cxnSpLocks/>
              <a:stCxn id="8" idx="1"/>
              <a:endCxn id="6" idx="5"/>
            </p:cNvCxnSpPr>
            <p:nvPr/>
          </p:nvCxnSpPr>
          <p:spPr>
            <a:xfrm flipH="1" flipV="1">
              <a:off x="4080365" y="3718981"/>
              <a:ext cx="301135" cy="3159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1C6CA2AD-03C9-5A4E-9B2E-A3C9BBBA8726}"/>
              </a:ext>
            </a:extLst>
          </p:cNvPr>
          <p:cNvGrpSpPr/>
          <p:nvPr/>
        </p:nvGrpSpPr>
        <p:grpSpPr>
          <a:xfrm>
            <a:off x="3482485" y="1866900"/>
            <a:ext cx="1756265" cy="1161484"/>
            <a:chOff x="3076734" y="1866900"/>
            <a:chExt cx="1756265" cy="1161484"/>
          </a:xfrm>
        </p:grpSpPr>
        <p:sp>
          <p:nvSpPr>
            <p:cNvPr id="12" name="Oval 11">
              <a:extLst>
                <a:ext uri="{FF2B5EF4-FFF2-40B4-BE49-F238E27FC236}">
                  <a16:creationId xmlns:a16="http://schemas.microsoft.com/office/drawing/2014/main" id="{DCC82367-96DE-8048-8EEA-F8A10A85ED23}"/>
                </a:ext>
              </a:extLst>
            </p:cNvPr>
            <p:cNvSpPr/>
            <p:nvPr/>
          </p:nvSpPr>
          <p:spPr>
            <a:xfrm>
              <a:off x="3686334" y="1866900"/>
              <a:ext cx="495300" cy="495300"/>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a</a:t>
              </a:r>
            </a:p>
          </p:txBody>
        </p:sp>
        <p:sp>
          <p:nvSpPr>
            <p:cNvPr id="13" name="Oval 12">
              <a:extLst>
                <a:ext uri="{FF2B5EF4-FFF2-40B4-BE49-F238E27FC236}">
                  <a16:creationId xmlns:a16="http://schemas.microsoft.com/office/drawing/2014/main" id="{ADA263DE-FEEC-EE40-A8AF-A58CDE365E7F}"/>
                </a:ext>
              </a:extLst>
            </p:cNvPr>
            <p:cNvSpPr/>
            <p:nvPr/>
          </p:nvSpPr>
          <p:spPr>
            <a:xfrm>
              <a:off x="3076734" y="2533084"/>
              <a:ext cx="495300" cy="495300"/>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x</a:t>
              </a:r>
            </a:p>
          </p:txBody>
        </p:sp>
        <p:sp>
          <p:nvSpPr>
            <p:cNvPr id="14" name="Oval 13">
              <a:extLst>
                <a:ext uri="{FF2B5EF4-FFF2-40B4-BE49-F238E27FC236}">
                  <a16:creationId xmlns:a16="http://schemas.microsoft.com/office/drawing/2014/main" id="{793E4EEC-D14A-354A-8B07-959EB66974C5}"/>
                </a:ext>
              </a:extLst>
            </p:cNvPr>
            <p:cNvSpPr/>
            <p:nvPr/>
          </p:nvSpPr>
          <p:spPr>
            <a:xfrm>
              <a:off x="4337699" y="2533084"/>
              <a:ext cx="495300" cy="4953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y</a:t>
              </a:r>
            </a:p>
          </p:txBody>
        </p:sp>
        <p:cxnSp>
          <p:nvCxnSpPr>
            <p:cNvPr id="15" name="Straight Connector 14">
              <a:extLst>
                <a:ext uri="{FF2B5EF4-FFF2-40B4-BE49-F238E27FC236}">
                  <a16:creationId xmlns:a16="http://schemas.microsoft.com/office/drawing/2014/main" id="{7BE199CB-31CC-354C-913D-3A674484A74B}"/>
                </a:ext>
              </a:extLst>
            </p:cNvPr>
            <p:cNvCxnSpPr>
              <a:stCxn id="13" idx="7"/>
              <a:endCxn id="12" idx="3"/>
            </p:cNvCxnSpPr>
            <p:nvPr/>
          </p:nvCxnSpPr>
          <p:spPr>
            <a:xfrm flipV="1">
              <a:off x="3499499" y="2289665"/>
              <a:ext cx="259370" cy="3159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59E0B7-9959-484A-AC6C-1DD74678EFF8}"/>
                </a:ext>
              </a:extLst>
            </p:cNvPr>
            <p:cNvCxnSpPr>
              <a:cxnSpLocks/>
              <a:stCxn id="14" idx="1"/>
              <a:endCxn id="12" idx="5"/>
            </p:cNvCxnSpPr>
            <p:nvPr/>
          </p:nvCxnSpPr>
          <p:spPr>
            <a:xfrm flipH="1" flipV="1">
              <a:off x="4109099" y="2289665"/>
              <a:ext cx="301135" cy="3159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C52F170F-B17E-1A40-8DC6-0784951A4A60}"/>
              </a:ext>
            </a:extLst>
          </p:cNvPr>
          <p:cNvGrpSpPr/>
          <p:nvPr/>
        </p:nvGrpSpPr>
        <p:grpSpPr>
          <a:xfrm>
            <a:off x="6431570" y="1866900"/>
            <a:ext cx="1756265" cy="1161484"/>
            <a:chOff x="5620068" y="1866900"/>
            <a:chExt cx="1756265" cy="1161484"/>
          </a:xfrm>
        </p:grpSpPr>
        <p:sp>
          <p:nvSpPr>
            <p:cNvPr id="18" name="Oval 17">
              <a:extLst>
                <a:ext uri="{FF2B5EF4-FFF2-40B4-BE49-F238E27FC236}">
                  <a16:creationId xmlns:a16="http://schemas.microsoft.com/office/drawing/2014/main" id="{6EC95801-242C-2C4E-9EED-3E7203555795}"/>
                </a:ext>
              </a:extLst>
            </p:cNvPr>
            <p:cNvSpPr/>
            <p:nvPr/>
          </p:nvSpPr>
          <p:spPr>
            <a:xfrm>
              <a:off x="6229668" y="1866900"/>
              <a:ext cx="495300" cy="495300"/>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a</a:t>
              </a:r>
            </a:p>
          </p:txBody>
        </p:sp>
        <p:sp>
          <p:nvSpPr>
            <p:cNvPr id="19" name="Oval 18">
              <a:extLst>
                <a:ext uri="{FF2B5EF4-FFF2-40B4-BE49-F238E27FC236}">
                  <a16:creationId xmlns:a16="http://schemas.microsoft.com/office/drawing/2014/main" id="{169E7385-13D6-CF4A-9662-55B505B66AC7}"/>
                </a:ext>
              </a:extLst>
            </p:cNvPr>
            <p:cNvSpPr/>
            <p:nvPr/>
          </p:nvSpPr>
          <p:spPr>
            <a:xfrm>
              <a:off x="5620068" y="2533084"/>
              <a:ext cx="495300" cy="495300"/>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x</a:t>
              </a:r>
            </a:p>
          </p:txBody>
        </p:sp>
        <p:sp>
          <p:nvSpPr>
            <p:cNvPr id="20" name="Oval 19">
              <a:extLst>
                <a:ext uri="{FF2B5EF4-FFF2-40B4-BE49-F238E27FC236}">
                  <a16:creationId xmlns:a16="http://schemas.microsoft.com/office/drawing/2014/main" id="{E95CFF1D-CA0E-E14B-876D-27B98E661B4E}"/>
                </a:ext>
              </a:extLst>
            </p:cNvPr>
            <p:cNvSpPr/>
            <p:nvPr/>
          </p:nvSpPr>
          <p:spPr>
            <a:xfrm>
              <a:off x="6881033" y="2533084"/>
              <a:ext cx="495300" cy="495300"/>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Consolas" panose="020B0609020204030204" pitchFamily="49" charset="0"/>
                  <a:cs typeface="Consolas" panose="020B0609020204030204" pitchFamily="49" charset="0"/>
                </a:rPr>
                <a:t>y</a:t>
              </a:r>
            </a:p>
          </p:txBody>
        </p:sp>
        <p:cxnSp>
          <p:nvCxnSpPr>
            <p:cNvPr id="21" name="Straight Connector 20">
              <a:extLst>
                <a:ext uri="{FF2B5EF4-FFF2-40B4-BE49-F238E27FC236}">
                  <a16:creationId xmlns:a16="http://schemas.microsoft.com/office/drawing/2014/main" id="{0D842C55-92CA-164C-A38C-B0487163129D}"/>
                </a:ext>
              </a:extLst>
            </p:cNvPr>
            <p:cNvCxnSpPr>
              <a:stCxn id="19" idx="7"/>
              <a:endCxn id="18" idx="3"/>
            </p:cNvCxnSpPr>
            <p:nvPr/>
          </p:nvCxnSpPr>
          <p:spPr>
            <a:xfrm flipV="1">
              <a:off x="6042833" y="2289665"/>
              <a:ext cx="259370" cy="3159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8BE80D-D998-4648-A122-ADB6AE968C00}"/>
                </a:ext>
              </a:extLst>
            </p:cNvPr>
            <p:cNvCxnSpPr>
              <a:cxnSpLocks/>
              <a:stCxn id="20" idx="1"/>
              <a:endCxn id="18" idx="5"/>
            </p:cNvCxnSpPr>
            <p:nvPr/>
          </p:nvCxnSpPr>
          <p:spPr>
            <a:xfrm flipH="1" flipV="1">
              <a:off x="6652433" y="2289665"/>
              <a:ext cx="301135" cy="3159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82EAC13B-1AE2-9549-8B90-9C367C7A3A51}"/>
              </a:ext>
            </a:extLst>
          </p:cNvPr>
          <p:cNvSpPr txBox="1"/>
          <p:nvPr/>
        </p:nvSpPr>
        <p:spPr>
          <a:xfrm>
            <a:off x="2883547" y="3109382"/>
            <a:ext cx="2912375" cy="769441"/>
          </a:xfrm>
          <a:prstGeom prst="rect">
            <a:avLst/>
          </a:prstGeom>
          <a:noFill/>
        </p:spPr>
        <p:txBody>
          <a:bodyPr wrap="square" rtlCol="0">
            <a:spAutoFit/>
          </a:bodyPr>
          <a:lstStyle/>
          <a:p>
            <a:pPr algn="ctr"/>
            <a:r>
              <a:rPr lang="en-US" sz="2200" dirty="0"/>
              <a:t>we could color this graph with 3 colors…</a:t>
            </a:r>
            <a:endParaRPr lang="en-US" sz="2200" dirty="0">
              <a:solidFill>
                <a:srgbClr val="FF0000"/>
              </a:solidFill>
            </a:endParaRPr>
          </a:p>
        </p:txBody>
      </p:sp>
      <p:sp>
        <p:nvSpPr>
          <p:cNvPr id="26" name="TextBox 25">
            <a:extLst>
              <a:ext uri="{FF2B5EF4-FFF2-40B4-BE49-F238E27FC236}">
                <a16:creationId xmlns:a16="http://schemas.microsoft.com/office/drawing/2014/main" id="{E789E48D-11E2-AE4C-BEA7-6D9EC1E46143}"/>
              </a:ext>
            </a:extLst>
          </p:cNvPr>
          <p:cNvSpPr txBox="1"/>
          <p:nvPr/>
        </p:nvSpPr>
        <p:spPr>
          <a:xfrm>
            <a:off x="5989754" y="3109381"/>
            <a:ext cx="2598132" cy="769441"/>
          </a:xfrm>
          <a:prstGeom prst="rect">
            <a:avLst/>
          </a:prstGeom>
          <a:noFill/>
        </p:spPr>
        <p:txBody>
          <a:bodyPr wrap="square" rtlCol="0">
            <a:spAutoFit/>
          </a:bodyPr>
          <a:lstStyle/>
          <a:p>
            <a:pPr algn="ctr"/>
            <a:r>
              <a:rPr lang="en-US" sz="2200" dirty="0"/>
              <a:t>or just 2. </a:t>
            </a:r>
            <a:r>
              <a:rPr lang="en-US" sz="2200" b="1" dirty="0"/>
              <a:t>but 2 is the minimum.</a:t>
            </a:r>
            <a:endParaRPr lang="en-US" sz="2200" dirty="0">
              <a:solidFill>
                <a:srgbClr val="FF0000"/>
              </a:solidFill>
            </a:endParaRPr>
          </a:p>
        </p:txBody>
      </p:sp>
      <p:sp>
        <p:nvSpPr>
          <p:cNvPr id="27" name="TextBox 26">
            <a:extLst>
              <a:ext uri="{FF2B5EF4-FFF2-40B4-BE49-F238E27FC236}">
                <a16:creationId xmlns:a16="http://schemas.microsoft.com/office/drawing/2014/main" id="{C37E00D0-FE17-0A47-B2C0-6E60AB71C4E3}"/>
              </a:ext>
            </a:extLst>
          </p:cNvPr>
          <p:cNvSpPr txBox="1"/>
          <p:nvPr/>
        </p:nvSpPr>
        <p:spPr>
          <a:xfrm>
            <a:off x="1409700" y="3919317"/>
            <a:ext cx="6355370" cy="769441"/>
          </a:xfrm>
          <a:prstGeom prst="rect">
            <a:avLst/>
          </a:prstGeom>
          <a:noFill/>
        </p:spPr>
        <p:txBody>
          <a:bodyPr wrap="square" rtlCol="0">
            <a:spAutoFit/>
          </a:bodyPr>
          <a:lstStyle/>
          <a:p>
            <a:pPr algn="ctr"/>
            <a:r>
              <a:rPr lang="en-US" sz="2200" dirty="0"/>
              <a:t>the </a:t>
            </a:r>
            <a:r>
              <a:rPr lang="en-US" sz="2200" b="1" dirty="0"/>
              <a:t>chromatic number </a:t>
            </a:r>
            <a:r>
              <a:rPr lang="en-US" sz="2200" dirty="0"/>
              <a:t>of a graph is the </a:t>
            </a:r>
            <a:r>
              <a:rPr lang="en-US" sz="2200" b="1" dirty="0"/>
              <a:t>minimum number of colors needed to color it.</a:t>
            </a:r>
            <a:endParaRPr lang="en-US" sz="2200" dirty="0">
              <a:solidFill>
                <a:srgbClr val="FF0000"/>
              </a:solidFill>
            </a:endParaRPr>
          </a:p>
        </p:txBody>
      </p:sp>
      <p:sp>
        <p:nvSpPr>
          <p:cNvPr id="28" name="TextBox 27">
            <a:extLst>
              <a:ext uri="{FF2B5EF4-FFF2-40B4-BE49-F238E27FC236}">
                <a16:creationId xmlns:a16="http://schemas.microsoft.com/office/drawing/2014/main" id="{B4D79D05-C248-164A-AE79-3E0CBCAF17D5}"/>
              </a:ext>
            </a:extLst>
          </p:cNvPr>
          <p:cNvSpPr txBox="1"/>
          <p:nvPr/>
        </p:nvSpPr>
        <p:spPr>
          <a:xfrm>
            <a:off x="1603865" y="4729252"/>
            <a:ext cx="6088670" cy="769441"/>
          </a:xfrm>
          <a:prstGeom prst="rect">
            <a:avLst/>
          </a:prstGeom>
          <a:noFill/>
        </p:spPr>
        <p:txBody>
          <a:bodyPr wrap="square" rtlCol="0">
            <a:spAutoFit/>
          </a:bodyPr>
          <a:lstStyle/>
          <a:p>
            <a:pPr algn="ctr"/>
            <a:r>
              <a:rPr lang="en-US" sz="2200" dirty="0"/>
              <a:t>if we have </a:t>
            </a:r>
            <a:r>
              <a:rPr lang="en-US" sz="2200" i="1" dirty="0"/>
              <a:t>r</a:t>
            </a:r>
            <a:r>
              <a:rPr lang="en-US" sz="2200" dirty="0"/>
              <a:t> registers, we'd really like </a:t>
            </a:r>
            <a:r>
              <a:rPr lang="en-US" sz="2200" b="1" dirty="0"/>
              <a:t>the chromatic number of the RIG to be ≤ r!</a:t>
            </a:r>
            <a:endParaRPr lang="en-US" sz="2200" b="1" dirty="0">
              <a:solidFill>
                <a:srgbClr val="FF0000"/>
              </a:solidFill>
            </a:endParaRPr>
          </a:p>
        </p:txBody>
      </p:sp>
    </p:spTree>
    <p:extLst>
      <p:ext uri="{BB962C8B-B14F-4D97-AF65-F5344CB8AC3E}">
        <p14:creationId xmlns:p14="http://schemas.microsoft.com/office/powerpoint/2010/main" val="32355764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4B6C-2CAC-C645-BBE1-5D27139CC4EB}"/>
              </a:ext>
            </a:extLst>
          </p:cNvPr>
          <p:cNvSpPr>
            <a:spLocks noGrp="1"/>
          </p:cNvSpPr>
          <p:nvPr>
            <p:ph type="title"/>
          </p:nvPr>
        </p:nvSpPr>
        <p:spPr/>
        <p:txBody>
          <a:bodyPr/>
          <a:lstStyle/>
          <a:p>
            <a:r>
              <a:rPr lang="en-US" dirty="0"/>
              <a:t>You didn't think it would be THAT easy, did you</a:t>
            </a:r>
          </a:p>
        </p:txBody>
      </p:sp>
      <p:sp>
        <p:nvSpPr>
          <p:cNvPr id="3" name="Content Placeholder 2">
            <a:extLst>
              <a:ext uri="{FF2B5EF4-FFF2-40B4-BE49-F238E27FC236}">
                <a16:creationId xmlns:a16="http://schemas.microsoft.com/office/drawing/2014/main" id="{5196372C-25E2-1049-8363-D4C3709F2E5A}"/>
              </a:ext>
            </a:extLst>
          </p:cNvPr>
          <p:cNvSpPr>
            <a:spLocks noGrp="1"/>
          </p:cNvSpPr>
          <p:nvPr>
            <p:ph idx="1"/>
          </p:nvPr>
        </p:nvSpPr>
        <p:spPr/>
        <p:txBody>
          <a:bodyPr/>
          <a:lstStyle/>
          <a:p>
            <a:r>
              <a:rPr lang="en-US" dirty="0"/>
              <a:t>unfortunately, </a:t>
            </a:r>
            <a:r>
              <a:rPr lang="en-US" b="1" dirty="0"/>
              <a:t>determining k-</a:t>
            </a:r>
            <a:r>
              <a:rPr lang="en-US" b="1" dirty="0" err="1"/>
              <a:t>colorability</a:t>
            </a:r>
            <a:r>
              <a:rPr lang="en-US" b="1" dirty="0"/>
              <a:t> is NP-complete.</a:t>
            </a:r>
          </a:p>
          <a:p>
            <a:pPr lvl="1"/>
            <a:r>
              <a:rPr lang="en-US" sz="1600" dirty="0"/>
              <a:t>(and determining the chromatic number is NP-hard!)</a:t>
            </a:r>
          </a:p>
          <a:p>
            <a:r>
              <a:rPr lang="en-US" dirty="0"/>
              <a:t>so, what do we do?</a:t>
            </a:r>
          </a:p>
          <a:p>
            <a:pPr lvl="1"/>
            <a:r>
              <a:rPr lang="en-US" dirty="0"/>
              <a:t>sometimes, an </a:t>
            </a:r>
            <a:r>
              <a:rPr lang="en-US" b="1" dirty="0"/>
              <a:t>imperfect solution</a:t>
            </a:r>
            <a:r>
              <a:rPr lang="en-US" dirty="0"/>
              <a:t> is good enough.</a:t>
            </a:r>
          </a:p>
          <a:p>
            <a:r>
              <a:rPr lang="en-US" dirty="0"/>
              <a:t>we're going to use a </a:t>
            </a:r>
            <a:r>
              <a:rPr lang="en-US" b="1" dirty="0"/>
              <a:t>heuristic </a:t>
            </a:r>
            <a:r>
              <a:rPr lang="en-US" dirty="0"/>
              <a:t>to figure out a </a:t>
            </a:r>
            <a:r>
              <a:rPr lang="en-US" b="1" dirty="0"/>
              <a:t>coloring order </a:t>
            </a:r>
            <a:r>
              <a:rPr lang="en-US" dirty="0"/>
              <a:t>that is likely to lead to a successful coloring.</a:t>
            </a:r>
          </a:p>
          <a:p>
            <a:pPr lvl="1"/>
            <a:r>
              <a:rPr lang="en-US" dirty="0"/>
              <a:t>and if that fails, we can </a:t>
            </a:r>
            <a:r>
              <a:rPr lang="en-US" b="1" dirty="0"/>
              <a:t>tweak the graph a bit </a:t>
            </a:r>
            <a:r>
              <a:rPr lang="en-US" dirty="0"/>
              <a:t>and try it again.</a:t>
            </a:r>
          </a:p>
          <a:p>
            <a:r>
              <a:rPr lang="en-US" dirty="0"/>
              <a:t>this leads to an iterative solution that is </a:t>
            </a:r>
            <a:r>
              <a:rPr lang="en-US" b="1" dirty="0"/>
              <a:t>near-linear </a:t>
            </a:r>
            <a:r>
              <a:rPr lang="en-US" dirty="0"/>
              <a:t>for most common cases.</a:t>
            </a:r>
          </a:p>
          <a:p>
            <a:pPr lvl="1"/>
            <a:r>
              <a:rPr lang="en-US" dirty="0"/>
              <a:t>yeah we might not find the </a:t>
            </a:r>
            <a:r>
              <a:rPr lang="en-US" i="1" dirty="0"/>
              <a:t>perfect</a:t>
            </a:r>
            <a:r>
              <a:rPr lang="en-US" dirty="0"/>
              <a:t> register allocation, but perfection is the enemy of good.</a:t>
            </a:r>
          </a:p>
        </p:txBody>
      </p:sp>
      <p:sp>
        <p:nvSpPr>
          <p:cNvPr id="4" name="Slide Number Placeholder 3">
            <a:extLst>
              <a:ext uri="{FF2B5EF4-FFF2-40B4-BE49-F238E27FC236}">
                <a16:creationId xmlns:a16="http://schemas.microsoft.com/office/drawing/2014/main" id="{8873363A-455D-244E-B456-01CFF4C5C331}"/>
              </a:ext>
            </a:extLst>
          </p:cNvPr>
          <p:cNvSpPr>
            <a:spLocks noGrp="1"/>
          </p:cNvSpPr>
          <p:nvPr>
            <p:ph type="sldNum" sz="quarter" idx="12"/>
          </p:nvPr>
        </p:nvSpPr>
        <p:spPr/>
        <p:txBody>
          <a:bodyPr/>
          <a:lstStyle/>
          <a:p>
            <a:fld id="{3552B95B-556F-44BD-91A5-D80C1B9E2BB3}" type="slidenum">
              <a:rPr lang="en-US" smtClean="0"/>
              <a:pPr/>
              <a:t>24</a:t>
            </a:fld>
            <a:endParaRPr lang="en-US"/>
          </a:p>
        </p:txBody>
      </p:sp>
    </p:spTree>
    <p:extLst>
      <p:ext uri="{BB962C8B-B14F-4D97-AF65-F5344CB8AC3E}">
        <p14:creationId xmlns:p14="http://schemas.microsoft.com/office/powerpoint/2010/main" val="41574003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D5C72-53A4-804F-A5D9-3AC45755FE4A}"/>
              </a:ext>
            </a:extLst>
          </p:cNvPr>
          <p:cNvSpPr>
            <a:spLocks noGrp="1"/>
          </p:cNvSpPr>
          <p:nvPr>
            <p:ph type="title"/>
          </p:nvPr>
        </p:nvSpPr>
        <p:spPr/>
        <p:txBody>
          <a:bodyPr/>
          <a:lstStyle/>
          <a:p>
            <a:r>
              <a:rPr lang="en-US" dirty="0"/>
              <a:t>The coloring heuristic </a:t>
            </a:r>
            <a:r>
              <a:rPr lang="en-US" sz="2000" dirty="0"/>
              <a:t>(animated)</a:t>
            </a:r>
            <a:endParaRPr lang="en-US" dirty="0"/>
          </a:p>
        </p:txBody>
      </p:sp>
      <p:sp>
        <p:nvSpPr>
          <p:cNvPr id="3" name="Content Placeholder 2">
            <a:extLst>
              <a:ext uri="{FF2B5EF4-FFF2-40B4-BE49-F238E27FC236}">
                <a16:creationId xmlns:a16="http://schemas.microsoft.com/office/drawing/2014/main" id="{751B1894-45B3-D042-8220-A1B21B6D445F}"/>
              </a:ext>
            </a:extLst>
          </p:cNvPr>
          <p:cNvSpPr>
            <a:spLocks noGrp="1"/>
          </p:cNvSpPr>
          <p:nvPr>
            <p:ph idx="1"/>
          </p:nvPr>
        </p:nvSpPr>
        <p:spPr>
          <a:xfrm>
            <a:off x="152400" y="495301"/>
            <a:ext cx="8991600" cy="1526792"/>
          </a:xfrm>
        </p:spPr>
        <p:txBody>
          <a:bodyPr>
            <a:normAutofit/>
          </a:bodyPr>
          <a:lstStyle/>
          <a:p>
            <a:r>
              <a:rPr lang="en-US" dirty="0"/>
              <a:t>let's say </a:t>
            </a:r>
            <a:r>
              <a:rPr lang="en-US" b="1" i="1" dirty="0"/>
              <a:t>r</a:t>
            </a:r>
            <a:r>
              <a:rPr lang="en-US" b="1" dirty="0"/>
              <a:t> = 5 </a:t>
            </a:r>
            <a:r>
              <a:rPr lang="en-US" dirty="0"/>
              <a:t>(where </a:t>
            </a:r>
            <a:r>
              <a:rPr lang="en-US" i="1" dirty="0"/>
              <a:t>r</a:t>
            </a:r>
            <a:r>
              <a:rPr lang="en-US" dirty="0"/>
              <a:t> = number of CPU registers).</a:t>
            </a:r>
          </a:p>
          <a:p>
            <a:r>
              <a:rPr lang="en-US" dirty="0"/>
              <a:t>if the RIG has a node with &lt; </a:t>
            </a:r>
            <a:r>
              <a:rPr lang="en-US" i="1" dirty="0"/>
              <a:t>r</a:t>
            </a:r>
            <a:r>
              <a:rPr lang="en-US" dirty="0"/>
              <a:t> neighbors, and you remove that node…</a:t>
            </a:r>
          </a:p>
          <a:p>
            <a:pPr lvl="1"/>
            <a:r>
              <a:rPr lang="en-US" b="1" dirty="0">
                <a:solidFill>
                  <a:srgbClr val="FF0000"/>
                </a:solidFill>
              </a:rPr>
              <a:t>and</a:t>
            </a:r>
            <a:r>
              <a:rPr lang="en-US" dirty="0"/>
              <a:t> the </a:t>
            </a:r>
            <a:r>
              <a:rPr lang="en-US" b="1" dirty="0"/>
              <a:t>resulting graph </a:t>
            </a:r>
            <a:r>
              <a:rPr lang="en-US" dirty="0"/>
              <a:t>is </a:t>
            </a:r>
            <a:r>
              <a:rPr lang="en-US" i="1" dirty="0"/>
              <a:t>r</a:t>
            </a:r>
            <a:r>
              <a:rPr lang="en-US" dirty="0"/>
              <a:t>-colorable…</a:t>
            </a:r>
          </a:p>
          <a:p>
            <a:pPr lvl="1"/>
            <a:r>
              <a:rPr lang="en-US" dirty="0"/>
              <a:t>then the </a:t>
            </a:r>
            <a:r>
              <a:rPr lang="en-US" b="1" dirty="0">
                <a:solidFill>
                  <a:srgbClr val="00B050"/>
                </a:solidFill>
              </a:rPr>
              <a:t>original graph is </a:t>
            </a:r>
            <a:r>
              <a:rPr lang="en-US" b="1" i="1" dirty="0">
                <a:solidFill>
                  <a:srgbClr val="00B050"/>
                </a:solidFill>
              </a:rPr>
              <a:t>r</a:t>
            </a:r>
            <a:r>
              <a:rPr lang="en-US" b="1" dirty="0">
                <a:solidFill>
                  <a:srgbClr val="00B050"/>
                </a:solidFill>
              </a:rPr>
              <a:t>-colorable.</a:t>
            </a:r>
          </a:p>
        </p:txBody>
      </p:sp>
      <p:sp>
        <p:nvSpPr>
          <p:cNvPr id="4" name="Slide Number Placeholder 3">
            <a:extLst>
              <a:ext uri="{FF2B5EF4-FFF2-40B4-BE49-F238E27FC236}">
                <a16:creationId xmlns:a16="http://schemas.microsoft.com/office/drawing/2014/main" id="{88A24015-4985-4A43-83C4-A186001E1BEA}"/>
              </a:ext>
            </a:extLst>
          </p:cNvPr>
          <p:cNvSpPr>
            <a:spLocks noGrp="1"/>
          </p:cNvSpPr>
          <p:nvPr>
            <p:ph type="sldNum" sz="quarter" idx="12"/>
          </p:nvPr>
        </p:nvSpPr>
        <p:spPr/>
        <p:txBody>
          <a:bodyPr/>
          <a:lstStyle/>
          <a:p>
            <a:fld id="{3552B95B-556F-44BD-91A5-D80C1B9E2BB3}" type="slidenum">
              <a:rPr lang="en-US" smtClean="0"/>
              <a:pPr/>
              <a:t>25</a:t>
            </a:fld>
            <a:endParaRPr lang="en-US"/>
          </a:p>
        </p:txBody>
      </p:sp>
      <p:cxnSp>
        <p:nvCxnSpPr>
          <p:cNvPr id="9" name="Straight Connector 8">
            <a:extLst>
              <a:ext uri="{FF2B5EF4-FFF2-40B4-BE49-F238E27FC236}">
                <a16:creationId xmlns:a16="http://schemas.microsoft.com/office/drawing/2014/main" id="{20FD394D-EB7D-2C42-8715-17E7DAFF047D}"/>
              </a:ext>
            </a:extLst>
          </p:cNvPr>
          <p:cNvCxnSpPr>
            <a:cxnSpLocks/>
          </p:cNvCxnSpPr>
          <p:nvPr/>
        </p:nvCxnSpPr>
        <p:spPr>
          <a:xfrm flipV="1">
            <a:off x="963011" y="2442065"/>
            <a:ext cx="887361"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1C0379D-9244-BD43-B9EE-F87446715892}"/>
              </a:ext>
            </a:extLst>
          </p:cNvPr>
          <p:cNvCxnSpPr>
            <a:cxnSpLocks/>
          </p:cNvCxnSpPr>
          <p:nvPr/>
        </p:nvCxnSpPr>
        <p:spPr>
          <a:xfrm flipH="1" flipV="1">
            <a:off x="2200602" y="2442065"/>
            <a:ext cx="881833"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5A0298-70C4-F744-95AB-84FB7C6570EF}"/>
              </a:ext>
            </a:extLst>
          </p:cNvPr>
          <p:cNvCxnSpPr>
            <a:cxnSpLocks/>
          </p:cNvCxnSpPr>
          <p:nvPr/>
        </p:nvCxnSpPr>
        <p:spPr>
          <a:xfrm>
            <a:off x="1046771" y="2925867"/>
            <a:ext cx="19631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3C47B3C-89FD-3747-88FD-F7979B9484A9}"/>
              </a:ext>
            </a:extLst>
          </p:cNvPr>
          <p:cNvCxnSpPr>
            <a:cxnSpLocks/>
          </p:cNvCxnSpPr>
          <p:nvPr/>
        </p:nvCxnSpPr>
        <p:spPr>
          <a:xfrm>
            <a:off x="2025487" y="2514600"/>
            <a:ext cx="2700" cy="23518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F3247E2-3F4D-3645-A487-3A8E254BBAC7}"/>
              </a:ext>
            </a:extLst>
          </p:cNvPr>
          <p:cNvCxnSpPr>
            <a:cxnSpLocks/>
          </p:cNvCxnSpPr>
          <p:nvPr/>
        </p:nvCxnSpPr>
        <p:spPr>
          <a:xfrm>
            <a:off x="963011" y="3100982"/>
            <a:ext cx="822868"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7487E0E-3425-154F-96F4-EC10EEFA882E}"/>
              </a:ext>
            </a:extLst>
          </p:cNvPr>
          <p:cNvCxnSpPr>
            <a:cxnSpLocks/>
          </p:cNvCxnSpPr>
          <p:nvPr/>
        </p:nvCxnSpPr>
        <p:spPr>
          <a:xfrm flipH="1">
            <a:off x="2270494" y="3100982"/>
            <a:ext cx="811941"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36A995-12E9-4D4A-8C2C-E65F48EA802D}"/>
              </a:ext>
            </a:extLst>
          </p:cNvPr>
          <p:cNvCxnSpPr>
            <a:cxnSpLocks/>
          </p:cNvCxnSpPr>
          <p:nvPr/>
        </p:nvCxnSpPr>
        <p:spPr>
          <a:xfrm flipH="1">
            <a:off x="2370861" y="4577626"/>
            <a:ext cx="688908"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8E8FFE4-3D90-C14C-AB2C-5DE28E136389}"/>
              </a:ext>
            </a:extLst>
          </p:cNvPr>
          <p:cNvCxnSpPr>
            <a:cxnSpLocks/>
          </p:cNvCxnSpPr>
          <p:nvPr/>
        </p:nvCxnSpPr>
        <p:spPr>
          <a:xfrm flipH="1" flipV="1">
            <a:off x="963011" y="3100982"/>
            <a:ext cx="2024223" cy="13015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0B64974-2B9C-2A48-88C4-B7849268C900}"/>
              </a:ext>
            </a:extLst>
          </p:cNvPr>
          <p:cNvCxnSpPr>
            <a:cxnSpLocks/>
          </p:cNvCxnSpPr>
          <p:nvPr/>
        </p:nvCxnSpPr>
        <p:spPr>
          <a:xfrm flipH="1" flipV="1">
            <a:off x="2025487" y="2514600"/>
            <a:ext cx="1034282"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30DC112-FE6E-224C-8474-24AC04A2BED5}"/>
              </a:ext>
            </a:extLst>
          </p:cNvPr>
          <p:cNvCxnSpPr>
            <a:cxnSpLocks/>
          </p:cNvCxnSpPr>
          <p:nvPr/>
        </p:nvCxnSpPr>
        <p:spPr>
          <a:xfrm flipH="1">
            <a:off x="1046771" y="4402511"/>
            <a:ext cx="19404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762B345-A273-914D-928B-B60A160E1422}"/>
              </a:ext>
            </a:extLst>
          </p:cNvPr>
          <p:cNvCxnSpPr>
            <a:cxnSpLocks/>
          </p:cNvCxnSpPr>
          <p:nvPr/>
        </p:nvCxnSpPr>
        <p:spPr>
          <a:xfrm flipH="1" flipV="1">
            <a:off x="963011" y="4577626"/>
            <a:ext cx="722501"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27BF187-4F7A-2A42-B7A5-05BA96BB8C66}"/>
              </a:ext>
            </a:extLst>
          </p:cNvPr>
          <p:cNvCxnSpPr>
            <a:cxnSpLocks/>
          </p:cNvCxnSpPr>
          <p:nvPr/>
        </p:nvCxnSpPr>
        <p:spPr>
          <a:xfrm>
            <a:off x="760795" y="3173517"/>
            <a:ext cx="0" cy="9813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C46A6FD-EB0E-B146-8E26-40F1D2349FFD}"/>
              </a:ext>
            </a:extLst>
          </p:cNvPr>
          <p:cNvCxnSpPr>
            <a:cxnSpLocks/>
          </p:cNvCxnSpPr>
          <p:nvPr/>
        </p:nvCxnSpPr>
        <p:spPr>
          <a:xfrm flipH="1">
            <a:off x="963011" y="2514600"/>
            <a:ext cx="1062476"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3A8FE29-EF9F-8B46-8EFC-24FE7F9FD1F3}"/>
              </a:ext>
            </a:extLst>
          </p:cNvPr>
          <p:cNvSpPr txBox="1"/>
          <p:nvPr/>
        </p:nvSpPr>
        <p:spPr>
          <a:xfrm>
            <a:off x="4127327" y="1780902"/>
            <a:ext cx="889346" cy="430887"/>
          </a:xfrm>
          <a:prstGeom prst="rect">
            <a:avLst/>
          </a:prstGeom>
          <a:noFill/>
        </p:spPr>
        <p:txBody>
          <a:bodyPr wrap="none" rtlCol="0">
            <a:spAutoFit/>
          </a:bodyPr>
          <a:lstStyle/>
          <a:p>
            <a:r>
              <a:rPr lang="en-US" sz="2200" b="1" u="sng" dirty="0"/>
              <a:t>Stack</a:t>
            </a:r>
          </a:p>
        </p:txBody>
      </p:sp>
      <p:sp>
        <p:nvSpPr>
          <p:cNvPr id="32" name="TextBox 31">
            <a:extLst>
              <a:ext uri="{FF2B5EF4-FFF2-40B4-BE49-F238E27FC236}">
                <a16:creationId xmlns:a16="http://schemas.microsoft.com/office/drawing/2014/main" id="{2F2F7851-9AE1-EC4F-9956-164D12D1DD42}"/>
              </a:ext>
            </a:extLst>
          </p:cNvPr>
          <p:cNvSpPr txBox="1"/>
          <p:nvPr/>
        </p:nvSpPr>
        <p:spPr>
          <a:xfrm>
            <a:off x="5428587" y="1980120"/>
            <a:ext cx="3392654" cy="1446550"/>
          </a:xfrm>
          <a:prstGeom prst="rect">
            <a:avLst/>
          </a:prstGeom>
          <a:noFill/>
        </p:spPr>
        <p:txBody>
          <a:bodyPr wrap="square" rtlCol="0">
            <a:spAutoFit/>
          </a:bodyPr>
          <a:lstStyle/>
          <a:p>
            <a:pPr algn="ctr"/>
            <a:r>
              <a:rPr lang="en-US" sz="2200" dirty="0"/>
              <a:t>we'll repeatedly remove nodes with &lt; 5 neighbors (edges), and </a:t>
            </a:r>
            <a:r>
              <a:rPr lang="en-US" sz="2200" b="1" dirty="0"/>
              <a:t>put them in this stack </a:t>
            </a:r>
            <a:r>
              <a:rPr lang="en-US" sz="2200" dirty="0"/>
              <a:t>as we do so.</a:t>
            </a:r>
            <a:endParaRPr lang="en-US" sz="2200" b="1" dirty="0">
              <a:solidFill>
                <a:srgbClr val="FF0000"/>
              </a:solidFill>
            </a:endParaRPr>
          </a:p>
        </p:txBody>
      </p:sp>
      <p:sp>
        <p:nvSpPr>
          <p:cNvPr id="37" name="Oval 36">
            <a:extLst>
              <a:ext uri="{FF2B5EF4-FFF2-40B4-BE49-F238E27FC236}">
                <a16:creationId xmlns:a16="http://schemas.microsoft.com/office/drawing/2014/main" id="{01DBB97E-BE5E-354F-8F9F-704117C45EAC}"/>
              </a:ext>
            </a:extLst>
          </p:cNvPr>
          <p:cNvSpPr/>
          <p:nvPr/>
        </p:nvSpPr>
        <p:spPr>
          <a:xfrm>
            <a:off x="1777837" y="2019300"/>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38" name="Oval 37">
            <a:extLst>
              <a:ext uri="{FF2B5EF4-FFF2-40B4-BE49-F238E27FC236}">
                <a16:creationId xmlns:a16="http://schemas.microsoft.com/office/drawing/2014/main" id="{245AC14B-B206-AD40-9DA6-9C6BFEB60FD3}"/>
              </a:ext>
            </a:extLst>
          </p:cNvPr>
          <p:cNvSpPr/>
          <p:nvPr/>
        </p:nvSpPr>
        <p:spPr>
          <a:xfrm>
            <a:off x="474819" y="2678217"/>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39" name="Oval 38">
            <a:extLst>
              <a:ext uri="{FF2B5EF4-FFF2-40B4-BE49-F238E27FC236}">
                <a16:creationId xmlns:a16="http://schemas.microsoft.com/office/drawing/2014/main" id="{493616CA-CDF2-E44F-91F8-0E298AB5FB61}"/>
              </a:ext>
            </a:extLst>
          </p:cNvPr>
          <p:cNvSpPr/>
          <p:nvPr/>
        </p:nvSpPr>
        <p:spPr>
          <a:xfrm>
            <a:off x="3009900" y="2678217"/>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sp>
        <p:nvSpPr>
          <p:cNvPr id="40" name="Oval 39">
            <a:extLst>
              <a:ext uri="{FF2B5EF4-FFF2-40B4-BE49-F238E27FC236}">
                <a16:creationId xmlns:a16="http://schemas.microsoft.com/office/drawing/2014/main" id="{13B70FAD-096D-EB46-8E6E-110CF8B5F859}"/>
              </a:ext>
            </a:extLst>
          </p:cNvPr>
          <p:cNvSpPr/>
          <p:nvPr/>
        </p:nvSpPr>
        <p:spPr>
          <a:xfrm>
            <a:off x="2987234" y="4154861"/>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41" name="Oval 40">
            <a:extLst>
              <a:ext uri="{FF2B5EF4-FFF2-40B4-BE49-F238E27FC236}">
                <a16:creationId xmlns:a16="http://schemas.microsoft.com/office/drawing/2014/main" id="{6C1D8EE9-49C1-1B49-8558-FF83FC1CE368}"/>
              </a:ext>
            </a:extLst>
          </p:cNvPr>
          <p:cNvSpPr/>
          <p:nvPr/>
        </p:nvSpPr>
        <p:spPr>
          <a:xfrm>
            <a:off x="1685512" y="4866455"/>
            <a:ext cx="685349"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42" name="Oval 41">
            <a:extLst>
              <a:ext uri="{FF2B5EF4-FFF2-40B4-BE49-F238E27FC236}">
                <a16:creationId xmlns:a16="http://schemas.microsoft.com/office/drawing/2014/main" id="{C7A3B133-30D5-C542-B43E-8DE350BE5F67}"/>
              </a:ext>
            </a:extLst>
          </p:cNvPr>
          <p:cNvSpPr/>
          <p:nvPr/>
        </p:nvSpPr>
        <p:spPr>
          <a:xfrm>
            <a:off x="474819" y="4154861"/>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6482567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1" nodeType="clickEffect">
                                  <p:stCondLst>
                                    <p:cond delay="0"/>
                                  </p:stCondLst>
                                  <p:childTnLst>
                                    <p:animMotion origin="layout" path="M 2.77778E-7 2.22222E-6 L 0.41684 0.1625 " pathEditMode="relative" rAng="0" ptsTypes="AA">
                                      <p:cBhvr>
                                        <p:cTn id="52" dur="300" fill="hold"/>
                                        <p:tgtEl>
                                          <p:spTgt spid="42"/>
                                        </p:tgtEl>
                                        <p:attrNameLst>
                                          <p:attrName>ppt_x</p:attrName>
                                          <p:attrName>ppt_y</p:attrName>
                                        </p:attrNameLst>
                                      </p:cBhvr>
                                      <p:rCtr x="20833" y="8111"/>
                                    </p:animMotion>
                                  </p:childTnLst>
                                </p:cTn>
                              </p:par>
                              <p:par>
                                <p:cTn id="53" presetID="1" presetClass="exit" presetSubtype="0" fill="hold" nodeType="withEffect">
                                  <p:stCondLst>
                                    <p:cond delay="0"/>
                                  </p:stCondLst>
                                  <p:childTnLst>
                                    <p:set>
                                      <p:cBhvr>
                                        <p:cTn id="54" dur="1" fill="hold">
                                          <p:stCondLst>
                                            <p:cond delay="0"/>
                                          </p:stCondLst>
                                        </p:cTn>
                                        <p:tgtEl>
                                          <p:spTgt spid="23"/>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4"/>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21"/>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22"/>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42" presetClass="path" presetSubtype="0" accel="50000" decel="50000" fill="hold" grpId="1" nodeType="clickEffect">
                                  <p:stCondLst>
                                    <p:cond delay="0"/>
                                  </p:stCondLst>
                                  <p:childTnLst>
                                    <p:animMotion origin="layout" path="M 2.77778E-7 -4.44444E-6 L 0.41684 0.32167 " pathEditMode="relative" rAng="0" ptsTypes="AA">
                                      <p:cBhvr>
                                        <p:cTn id="64" dur="300" fill="hold"/>
                                        <p:tgtEl>
                                          <p:spTgt spid="38"/>
                                        </p:tgtEl>
                                        <p:attrNameLst>
                                          <p:attrName>ppt_x</p:attrName>
                                          <p:attrName>ppt_y</p:attrName>
                                        </p:attrNameLst>
                                      </p:cBhvr>
                                      <p:rCtr x="20833" y="16083"/>
                                    </p:animMotion>
                                  </p:childTnLst>
                                </p:cTn>
                              </p:par>
                              <p:par>
                                <p:cTn id="65" presetID="1" presetClass="exit" presetSubtype="0" fill="hold" nodeType="withEffect">
                                  <p:stCondLst>
                                    <p:cond delay="0"/>
                                  </p:stCondLst>
                                  <p:childTnLst>
                                    <p:set>
                                      <p:cBhvr>
                                        <p:cTn id="66" dur="1" fill="hold">
                                          <p:stCondLst>
                                            <p:cond delay="0"/>
                                          </p:stCondLst>
                                        </p:cTn>
                                        <p:tgtEl>
                                          <p:spTgt spid="16"/>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9"/>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9"/>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42" presetClass="path" presetSubtype="0" accel="50000" decel="50000" fill="hold" grpId="1" nodeType="clickEffect">
                                  <p:stCondLst>
                                    <p:cond delay="0"/>
                                  </p:stCondLst>
                                  <p:childTnLst>
                                    <p:animMotion origin="layout" path="M 2.22222E-6 3.33333E-6 L 0.27795 0.34305 " pathEditMode="relative" rAng="0" ptsTypes="AA">
                                      <p:cBhvr>
                                        <p:cTn id="76" dur="300" fill="hold"/>
                                        <p:tgtEl>
                                          <p:spTgt spid="37"/>
                                        </p:tgtEl>
                                        <p:attrNameLst>
                                          <p:attrName>ppt_x</p:attrName>
                                          <p:attrName>ppt_y</p:attrName>
                                        </p:attrNameLst>
                                      </p:cBhvr>
                                      <p:rCtr x="13889" y="17139"/>
                                    </p:animMotion>
                                  </p:childTnLst>
                                </p:cTn>
                              </p:par>
                              <p:par>
                                <p:cTn id="77" presetID="1" presetClass="exit" presetSubtype="0" fill="hold" nodeType="withEffect">
                                  <p:stCondLst>
                                    <p:cond delay="0"/>
                                  </p:stCondLst>
                                  <p:childTnLst>
                                    <p:set>
                                      <p:cBhvr>
                                        <p:cTn id="78" dur="1" fill="hold">
                                          <p:stCondLst>
                                            <p:cond delay="0"/>
                                          </p:stCondLst>
                                        </p:cTn>
                                        <p:tgtEl>
                                          <p:spTgt spid="15"/>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20"/>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10"/>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42" presetClass="path" presetSubtype="0" accel="50000" decel="50000" fill="hold" grpId="1" nodeType="clickEffect">
                                  <p:stCondLst>
                                    <p:cond delay="0"/>
                                  </p:stCondLst>
                                  <p:childTnLst>
                                    <p:animMotion origin="layout" path="M -1.38889E-6 -2.22222E-6 L 0.27795 -0.25833 " pathEditMode="relative" rAng="0" ptsTypes="AA">
                                      <p:cBhvr>
                                        <p:cTn id="86" dur="300" fill="hold"/>
                                        <p:tgtEl>
                                          <p:spTgt spid="41"/>
                                        </p:tgtEl>
                                        <p:attrNameLst>
                                          <p:attrName>ppt_x</p:attrName>
                                          <p:attrName>ppt_y</p:attrName>
                                        </p:attrNameLst>
                                      </p:cBhvr>
                                      <p:rCtr x="13889" y="-12917"/>
                                    </p:animMotion>
                                  </p:childTnLst>
                                </p:cTn>
                              </p:par>
                              <p:par>
                                <p:cTn id="87" presetID="1" presetClass="exit" presetSubtype="0" fill="hold" nodeType="withEffect">
                                  <p:stCondLst>
                                    <p:cond delay="0"/>
                                  </p:stCondLst>
                                  <p:childTnLst>
                                    <p:set>
                                      <p:cBhvr>
                                        <p:cTn id="88" dur="1" fill="hold">
                                          <p:stCondLst>
                                            <p:cond delay="0"/>
                                          </p:stCondLst>
                                        </p:cTn>
                                        <p:tgtEl>
                                          <p:spTgt spid="17"/>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8"/>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grpId="1" nodeType="clickEffect">
                                  <p:stCondLst>
                                    <p:cond delay="0"/>
                                  </p:stCondLst>
                                  <p:childTnLst>
                                    <p:animMotion origin="layout" path="M 0 -4.44444E-6 L 0.14375 0.01362 " pathEditMode="relative" rAng="0" ptsTypes="AA">
                                      <p:cBhvr>
                                        <p:cTn id="94" dur="300" fill="hold"/>
                                        <p:tgtEl>
                                          <p:spTgt spid="39"/>
                                        </p:tgtEl>
                                        <p:attrNameLst>
                                          <p:attrName>ppt_x</p:attrName>
                                          <p:attrName>ppt_y</p:attrName>
                                        </p:attrNameLst>
                                      </p:cBhvr>
                                      <p:rCtr x="7187" y="667"/>
                                    </p:animMotion>
                                  </p:childTnLst>
                                </p:cTn>
                              </p:par>
                            </p:childTnLst>
                          </p:cTn>
                        </p:par>
                      </p:childTnLst>
                    </p:cTn>
                  </p:par>
                  <p:par>
                    <p:cTn id="95" fill="hold">
                      <p:stCondLst>
                        <p:cond delay="indefinite"/>
                      </p:stCondLst>
                      <p:childTnLst>
                        <p:par>
                          <p:cTn id="96" fill="hold">
                            <p:stCondLst>
                              <p:cond delay="0"/>
                            </p:stCondLst>
                            <p:childTnLst>
                              <p:par>
                                <p:cTn id="97" presetID="42" presetClass="path" presetSubtype="0" accel="50000" decel="50000" fill="hold" grpId="1" nodeType="clickEffect">
                                  <p:stCondLst>
                                    <p:cond delay="0"/>
                                  </p:stCondLst>
                                  <p:childTnLst>
                                    <p:animMotion origin="layout" path="M 5.55556E-7 2.22222E-6 L 0.14618 -0.34306 " pathEditMode="relative" rAng="0" ptsTypes="AA">
                                      <p:cBhvr>
                                        <p:cTn id="98" dur="300" fill="hold"/>
                                        <p:tgtEl>
                                          <p:spTgt spid="40"/>
                                        </p:tgtEl>
                                        <p:attrNameLst>
                                          <p:attrName>ppt_x</p:attrName>
                                          <p:attrName>ppt_y</p:attrName>
                                        </p:attrNameLst>
                                      </p:cBhvr>
                                      <p:rCtr x="7309" y="-1716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0C95-B67E-F340-910C-B0EC595CE5FC}"/>
              </a:ext>
            </a:extLst>
          </p:cNvPr>
          <p:cNvSpPr>
            <a:spLocks noGrp="1"/>
          </p:cNvSpPr>
          <p:nvPr>
            <p:ph type="title"/>
          </p:nvPr>
        </p:nvSpPr>
        <p:spPr/>
        <p:txBody>
          <a:bodyPr/>
          <a:lstStyle/>
          <a:p>
            <a:r>
              <a:rPr lang="en-US" dirty="0" err="1"/>
              <a:t>Pop'n'color</a:t>
            </a:r>
            <a:r>
              <a:rPr lang="en-US" dirty="0"/>
              <a:t> </a:t>
            </a:r>
            <a:r>
              <a:rPr lang="en-US" sz="2000" dirty="0"/>
              <a:t>(animated)</a:t>
            </a:r>
            <a:endParaRPr lang="en-US" dirty="0"/>
          </a:p>
        </p:txBody>
      </p:sp>
      <p:sp>
        <p:nvSpPr>
          <p:cNvPr id="3" name="Content Placeholder 2">
            <a:extLst>
              <a:ext uri="{FF2B5EF4-FFF2-40B4-BE49-F238E27FC236}">
                <a16:creationId xmlns:a16="http://schemas.microsoft.com/office/drawing/2014/main" id="{33B56A7E-3075-2D41-BE40-1160E2FA3009}"/>
              </a:ext>
            </a:extLst>
          </p:cNvPr>
          <p:cNvSpPr>
            <a:spLocks noGrp="1"/>
          </p:cNvSpPr>
          <p:nvPr>
            <p:ph idx="1"/>
          </p:nvPr>
        </p:nvSpPr>
        <p:spPr>
          <a:xfrm>
            <a:off x="152400" y="495301"/>
            <a:ext cx="8991600" cy="819153"/>
          </a:xfrm>
        </p:spPr>
        <p:txBody>
          <a:bodyPr/>
          <a:lstStyle/>
          <a:p>
            <a:r>
              <a:rPr lang="en-US" dirty="0"/>
              <a:t>now we </a:t>
            </a:r>
            <a:r>
              <a:rPr lang="en-US" b="1" dirty="0"/>
              <a:t>pop</a:t>
            </a:r>
            <a:r>
              <a:rPr lang="en-US" dirty="0"/>
              <a:t> the nodes off the stack, and as we do so, </a:t>
            </a:r>
            <a:r>
              <a:rPr lang="en-US" b="1" dirty="0"/>
              <a:t>color them </a:t>
            </a:r>
            <a:r>
              <a:rPr lang="en-US" dirty="0"/>
              <a:t>according to what their neighbors are.</a:t>
            </a:r>
          </a:p>
        </p:txBody>
      </p:sp>
      <p:sp>
        <p:nvSpPr>
          <p:cNvPr id="4" name="Slide Number Placeholder 3">
            <a:extLst>
              <a:ext uri="{FF2B5EF4-FFF2-40B4-BE49-F238E27FC236}">
                <a16:creationId xmlns:a16="http://schemas.microsoft.com/office/drawing/2014/main" id="{617C4F51-87B7-6243-9EA0-97085893E6FF}"/>
              </a:ext>
            </a:extLst>
          </p:cNvPr>
          <p:cNvSpPr>
            <a:spLocks noGrp="1"/>
          </p:cNvSpPr>
          <p:nvPr>
            <p:ph type="sldNum" sz="quarter" idx="12"/>
          </p:nvPr>
        </p:nvSpPr>
        <p:spPr/>
        <p:txBody>
          <a:bodyPr/>
          <a:lstStyle/>
          <a:p>
            <a:fld id="{3552B95B-556F-44BD-91A5-D80C1B9E2BB3}" type="slidenum">
              <a:rPr lang="en-US" smtClean="0"/>
              <a:pPr/>
              <a:t>26</a:t>
            </a:fld>
            <a:endParaRPr lang="en-US"/>
          </a:p>
        </p:txBody>
      </p:sp>
      <p:sp>
        <p:nvSpPr>
          <p:cNvPr id="18" name="TextBox 17">
            <a:extLst>
              <a:ext uri="{FF2B5EF4-FFF2-40B4-BE49-F238E27FC236}">
                <a16:creationId xmlns:a16="http://schemas.microsoft.com/office/drawing/2014/main" id="{0323DB3B-4029-1043-B3EA-4B1B8F85123C}"/>
              </a:ext>
            </a:extLst>
          </p:cNvPr>
          <p:cNvSpPr txBox="1"/>
          <p:nvPr/>
        </p:nvSpPr>
        <p:spPr>
          <a:xfrm>
            <a:off x="304800" y="1409700"/>
            <a:ext cx="889346" cy="430887"/>
          </a:xfrm>
          <a:prstGeom prst="rect">
            <a:avLst/>
          </a:prstGeom>
          <a:noFill/>
        </p:spPr>
        <p:txBody>
          <a:bodyPr wrap="none" rtlCol="0">
            <a:spAutoFit/>
          </a:bodyPr>
          <a:lstStyle/>
          <a:p>
            <a:r>
              <a:rPr lang="en-US" sz="2200" b="1" u="sng" dirty="0"/>
              <a:t>Stack</a:t>
            </a:r>
          </a:p>
        </p:txBody>
      </p:sp>
      <p:grpSp>
        <p:nvGrpSpPr>
          <p:cNvPr id="37" name="Group 36">
            <a:extLst>
              <a:ext uri="{FF2B5EF4-FFF2-40B4-BE49-F238E27FC236}">
                <a16:creationId xmlns:a16="http://schemas.microsoft.com/office/drawing/2014/main" id="{90E4703E-7867-734A-AC4B-73FC8E990321}"/>
              </a:ext>
            </a:extLst>
          </p:cNvPr>
          <p:cNvGrpSpPr/>
          <p:nvPr/>
        </p:nvGrpSpPr>
        <p:grpSpPr>
          <a:xfrm>
            <a:off x="1524000" y="1724845"/>
            <a:ext cx="3030381" cy="3342455"/>
            <a:chOff x="1524000" y="1724845"/>
            <a:chExt cx="3030381" cy="3342455"/>
          </a:xfrm>
        </p:grpSpPr>
        <p:cxnSp>
          <p:nvCxnSpPr>
            <p:cNvPr id="5" name="Straight Connector 4">
              <a:extLst>
                <a:ext uri="{FF2B5EF4-FFF2-40B4-BE49-F238E27FC236}">
                  <a16:creationId xmlns:a16="http://schemas.microsoft.com/office/drawing/2014/main" id="{018967F7-1157-4240-87DA-718985EED164}"/>
                </a:ext>
              </a:extLst>
            </p:cNvPr>
            <p:cNvCxnSpPr>
              <a:cxnSpLocks/>
            </p:cNvCxnSpPr>
            <p:nvPr/>
          </p:nvCxnSpPr>
          <p:spPr>
            <a:xfrm flipV="1">
              <a:off x="2012192" y="2147610"/>
              <a:ext cx="887361"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1C3CCA9-D562-744C-8B2F-52347F0B0D11}"/>
                </a:ext>
              </a:extLst>
            </p:cNvPr>
            <p:cNvCxnSpPr>
              <a:cxnSpLocks/>
            </p:cNvCxnSpPr>
            <p:nvPr/>
          </p:nvCxnSpPr>
          <p:spPr>
            <a:xfrm flipH="1" flipV="1">
              <a:off x="3249783" y="2147610"/>
              <a:ext cx="881833"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7F16640-F2A9-C141-AB4E-CA076F5F019E}"/>
                </a:ext>
              </a:extLst>
            </p:cNvPr>
            <p:cNvCxnSpPr>
              <a:cxnSpLocks/>
            </p:cNvCxnSpPr>
            <p:nvPr/>
          </p:nvCxnSpPr>
          <p:spPr>
            <a:xfrm>
              <a:off x="2095952" y="2631412"/>
              <a:ext cx="19631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166B5CC-5EEF-8245-BA24-7B8F74995D5C}"/>
                </a:ext>
              </a:extLst>
            </p:cNvPr>
            <p:cNvCxnSpPr>
              <a:cxnSpLocks/>
            </p:cNvCxnSpPr>
            <p:nvPr/>
          </p:nvCxnSpPr>
          <p:spPr>
            <a:xfrm>
              <a:off x="3074668" y="2220145"/>
              <a:ext cx="2700" cy="23518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3C6A0A-CA31-124B-ACF4-B4884E091810}"/>
                </a:ext>
              </a:extLst>
            </p:cNvPr>
            <p:cNvCxnSpPr>
              <a:cxnSpLocks/>
            </p:cNvCxnSpPr>
            <p:nvPr/>
          </p:nvCxnSpPr>
          <p:spPr>
            <a:xfrm>
              <a:off x="2012192" y="2806527"/>
              <a:ext cx="822868"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D1A3671-98D0-9644-B6BC-E03C15B3FB2C}"/>
                </a:ext>
              </a:extLst>
            </p:cNvPr>
            <p:cNvCxnSpPr>
              <a:cxnSpLocks/>
            </p:cNvCxnSpPr>
            <p:nvPr/>
          </p:nvCxnSpPr>
          <p:spPr>
            <a:xfrm flipH="1">
              <a:off x="3319675" y="2806527"/>
              <a:ext cx="811941"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2B2C696-6557-6F48-8720-6B5782B51D35}"/>
                </a:ext>
              </a:extLst>
            </p:cNvPr>
            <p:cNvCxnSpPr>
              <a:cxnSpLocks/>
            </p:cNvCxnSpPr>
            <p:nvPr/>
          </p:nvCxnSpPr>
          <p:spPr>
            <a:xfrm flipH="1">
              <a:off x="3420042" y="4283171"/>
              <a:ext cx="688908"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F8A4B7-98B1-6B4D-8DD2-0973776D624F}"/>
                </a:ext>
              </a:extLst>
            </p:cNvPr>
            <p:cNvCxnSpPr>
              <a:cxnSpLocks/>
            </p:cNvCxnSpPr>
            <p:nvPr/>
          </p:nvCxnSpPr>
          <p:spPr>
            <a:xfrm flipH="1" flipV="1">
              <a:off x="2012192" y="2806527"/>
              <a:ext cx="2024223" cy="13015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DEE4DE6-9243-8241-87E9-6B39C3F8814C}"/>
                </a:ext>
              </a:extLst>
            </p:cNvPr>
            <p:cNvCxnSpPr>
              <a:cxnSpLocks/>
            </p:cNvCxnSpPr>
            <p:nvPr/>
          </p:nvCxnSpPr>
          <p:spPr>
            <a:xfrm flipH="1" flipV="1">
              <a:off x="3074668" y="2220145"/>
              <a:ext cx="1034282"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870CA6-672C-3944-A0D5-8157A65B4DD0}"/>
                </a:ext>
              </a:extLst>
            </p:cNvPr>
            <p:cNvCxnSpPr>
              <a:cxnSpLocks/>
            </p:cNvCxnSpPr>
            <p:nvPr/>
          </p:nvCxnSpPr>
          <p:spPr>
            <a:xfrm flipH="1">
              <a:off x="2095952" y="4108056"/>
              <a:ext cx="19404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C0323F1-018A-E54E-BE02-A148232CCAEA}"/>
                </a:ext>
              </a:extLst>
            </p:cNvPr>
            <p:cNvCxnSpPr>
              <a:cxnSpLocks/>
            </p:cNvCxnSpPr>
            <p:nvPr/>
          </p:nvCxnSpPr>
          <p:spPr>
            <a:xfrm flipH="1" flipV="1">
              <a:off x="2012192" y="4283171"/>
              <a:ext cx="722501"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2CE3E2C-912E-1941-8FF7-1F75C685B8CA}"/>
                </a:ext>
              </a:extLst>
            </p:cNvPr>
            <p:cNvCxnSpPr>
              <a:cxnSpLocks/>
            </p:cNvCxnSpPr>
            <p:nvPr/>
          </p:nvCxnSpPr>
          <p:spPr>
            <a:xfrm>
              <a:off x="1809976" y="2879062"/>
              <a:ext cx="0" cy="9813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FEDFDB9-D5C7-D64B-A4EC-1FA2A1A7E457}"/>
                </a:ext>
              </a:extLst>
            </p:cNvPr>
            <p:cNvCxnSpPr>
              <a:cxnSpLocks/>
            </p:cNvCxnSpPr>
            <p:nvPr/>
          </p:nvCxnSpPr>
          <p:spPr>
            <a:xfrm flipH="1">
              <a:off x="2012192" y="2220145"/>
              <a:ext cx="1062476"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5BA2BE5B-0AE4-3646-A698-E9B98FF80073}"/>
                </a:ext>
              </a:extLst>
            </p:cNvPr>
            <p:cNvSpPr/>
            <p:nvPr/>
          </p:nvSpPr>
          <p:spPr>
            <a:xfrm>
              <a:off x="2827018" y="1724845"/>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20" name="Oval 19">
              <a:extLst>
                <a:ext uri="{FF2B5EF4-FFF2-40B4-BE49-F238E27FC236}">
                  <a16:creationId xmlns:a16="http://schemas.microsoft.com/office/drawing/2014/main" id="{F51913F6-9237-5146-BBDF-0E55CB061352}"/>
                </a:ext>
              </a:extLst>
            </p:cNvPr>
            <p:cNvSpPr/>
            <p:nvPr/>
          </p:nvSpPr>
          <p:spPr>
            <a:xfrm>
              <a:off x="1524000" y="2383762"/>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21" name="Oval 20">
              <a:extLst>
                <a:ext uri="{FF2B5EF4-FFF2-40B4-BE49-F238E27FC236}">
                  <a16:creationId xmlns:a16="http://schemas.microsoft.com/office/drawing/2014/main" id="{023D22E5-AE37-D94A-A8F1-01FEA3BA6999}"/>
                </a:ext>
              </a:extLst>
            </p:cNvPr>
            <p:cNvSpPr/>
            <p:nvPr/>
          </p:nvSpPr>
          <p:spPr>
            <a:xfrm>
              <a:off x="4059081" y="2383762"/>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sp>
          <p:nvSpPr>
            <p:cNvPr id="22" name="Oval 21">
              <a:extLst>
                <a:ext uri="{FF2B5EF4-FFF2-40B4-BE49-F238E27FC236}">
                  <a16:creationId xmlns:a16="http://schemas.microsoft.com/office/drawing/2014/main" id="{1F83C9A6-8E91-4F47-AEB3-A8D2717B54B9}"/>
                </a:ext>
              </a:extLst>
            </p:cNvPr>
            <p:cNvSpPr/>
            <p:nvPr/>
          </p:nvSpPr>
          <p:spPr>
            <a:xfrm>
              <a:off x="4036415" y="3860406"/>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23" name="Oval 22">
              <a:extLst>
                <a:ext uri="{FF2B5EF4-FFF2-40B4-BE49-F238E27FC236}">
                  <a16:creationId xmlns:a16="http://schemas.microsoft.com/office/drawing/2014/main" id="{AB563799-4F3A-C243-907F-F6023E38C006}"/>
                </a:ext>
              </a:extLst>
            </p:cNvPr>
            <p:cNvSpPr/>
            <p:nvPr/>
          </p:nvSpPr>
          <p:spPr>
            <a:xfrm>
              <a:off x="2734693" y="4572000"/>
              <a:ext cx="685349"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24" name="Oval 23">
              <a:extLst>
                <a:ext uri="{FF2B5EF4-FFF2-40B4-BE49-F238E27FC236}">
                  <a16:creationId xmlns:a16="http://schemas.microsoft.com/office/drawing/2014/main" id="{9050BF7D-B43C-FE4B-AE35-DD7F830BEDB4}"/>
                </a:ext>
              </a:extLst>
            </p:cNvPr>
            <p:cNvSpPr/>
            <p:nvPr/>
          </p:nvSpPr>
          <p:spPr>
            <a:xfrm>
              <a:off x="1524000" y="3860406"/>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grpSp>
      <p:sp>
        <p:nvSpPr>
          <p:cNvPr id="25" name="Oval 24">
            <a:extLst>
              <a:ext uri="{FF2B5EF4-FFF2-40B4-BE49-F238E27FC236}">
                <a16:creationId xmlns:a16="http://schemas.microsoft.com/office/drawing/2014/main" id="{1279F91E-9C51-F048-AF7B-20E29D2CDCCA}"/>
              </a:ext>
            </a:extLst>
          </p:cNvPr>
          <p:cNvSpPr/>
          <p:nvPr/>
        </p:nvSpPr>
        <p:spPr>
          <a:xfrm>
            <a:off x="499848" y="3430321"/>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26" name="Oval 25">
            <a:extLst>
              <a:ext uri="{FF2B5EF4-FFF2-40B4-BE49-F238E27FC236}">
                <a16:creationId xmlns:a16="http://schemas.microsoft.com/office/drawing/2014/main" id="{DAF72D3B-9B3A-D24E-98F1-E587B5B0D820}"/>
              </a:ext>
            </a:extLst>
          </p:cNvPr>
          <p:cNvSpPr/>
          <p:nvPr/>
        </p:nvSpPr>
        <p:spPr>
          <a:xfrm>
            <a:off x="461522" y="3978283"/>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27" name="Oval 26">
            <a:extLst>
              <a:ext uri="{FF2B5EF4-FFF2-40B4-BE49-F238E27FC236}">
                <a16:creationId xmlns:a16="http://schemas.microsoft.com/office/drawing/2014/main" id="{D3C5B421-CFA0-AE4F-B91D-55AEAC76F9A3}"/>
              </a:ext>
            </a:extLst>
          </p:cNvPr>
          <p:cNvSpPr/>
          <p:nvPr/>
        </p:nvSpPr>
        <p:spPr>
          <a:xfrm>
            <a:off x="499849" y="2345139"/>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sp>
        <p:nvSpPr>
          <p:cNvPr id="28" name="Oval 27">
            <a:extLst>
              <a:ext uri="{FF2B5EF4-FFF2-40B4-BE49-F238E27FC236}">
                <a16:creationId xmlns:a16="http://schemas.microsoft.com/office/drawing/2014/main" id="{11AE7802-7F50-A348-A702-98A8C2A41C3F}"/>
              </a:ext>
            </a:extLst>
          </p:cNvPr>
          <p:cNvSpPr/>
          <p:nvPr/>
        </p:nvSpPr>
        <p:spPr>
          <a:xfrm>
            <a:off x="499849" y="1802548"/>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29" name="Oval 28">
            <a:extLst>
              <a:ext uri="{FF2B5EF4-FFF2-40B4-BE49-F238E27FC236}">
                <a16:creationId xmlns:a16="http://schemas.microsoft.com/office/drawing/2014/main" id="{ABE6E694-AEF7-4B45-A7CC-FAA82ABB4D65}"/>
              </a:ext>
            </a:extLst>
          </p:cNvPr>
          <p:cNvSpPr/>
          <p:nvPr/>
        </p:nvSpPr>
        <p:spPr>
          <a:xfrm>
            <a:off x="404824" y="2887730"/>
            <a:ext cx="685349"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30" name="Oval 29">
            <a:extLst>
              <a:ext uri="{FF2B5EF4-FFF2-40B4-BE49-F238E27FC236}">
                <a16:creationId xmlns:a16="http://schemas.microsoft.com/office/drawing/2014/main" id="{096CCA4C-1C0E-8F46-B9B1-1F859C902A4A}"/>
              </a:ext>
            </a:extLst>
          </p:cNvPr>
          <p:cNvSpPr/>
          <p:nvPr/>
        </p:nvSpPr>
        <p:spPr>
          <a:xfrm>
            <a:off x="461522" y="4520874"/>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sp>
        <p:nvSpPr>
          <p:cNvPr id="52" name="Oval 51">
            <a:extLst>
              <a:ext uri="{FF2B5EF4-FFF2-40B4-BE49-F238E27FC236}">
                <a16:creationId xmlns:a16="http://schemas.microsoft.com/office/drawing/2014/main" id="{45E423E1-C2D9-1C42-BF14-A70BAC6B6D8D}"/>
              </a:ext>
            </a:extLst>
          </p:cNvPr>
          <p:cNvSpPr/>
          <p:nvPr/>
        </p:nvSpPr>
        <p:spPr>
          <a:xfrm>
            <a:off x="2827018" y="1724845"/>
            <a:ext cx="495300" cy="4953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53" name="Oval 52">
            <a:extLst>
              <a:ext uri="{FF2B5EF4-FFF2-40B4-BE49-F238E27FC236}">
                <a16:creationId xmlns:a16="http://schemas.microsoft.com/office/drawing/2014/main" id="{866CD474-40B3-5C47-86E6-AF27F73C5BE6}"/>
              </a:ext>
            </a:extLst>
          </p:cNvPr>
          <p:cNvSpPr/>
          <p:nvPr/>
        </p:nvSpPr>
        <p:spPr>
          <a:xfrm>
            <a:off x="1524000" y="2383762"/>
            <a:ext cx="571952" cy="4953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54" name="Oval 53">
            <a:extLst>
              <a:ext uri="{FF2B5EF4-FFF2-40B4-BE49-F238E27FC236}">
                <a16:creationId xmlns:a16="http://schemas.microsoft.com/office/drawing/2014/main" id="{6A2121A5-E9C3-7849-A44F-04A2A1175D33}"/>
              </a:ext>
            </a:extLst>
          </p:cNvPr>
          <p:cNvSpPr/>
          <p:nvPr/>
        </p:nvSpPr>
        <p:spPr>
          <a:xfrm>
            <a:off x="4059081" y="2383762"/>
            <a:ext cx="495300" cy="495300"/>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sp>
        <p:nvSpPr>
          <p:cNvPr id="55" name="Oval 54">
            <a:extLst>
              <a:ext uri="{FF2B5EF4-FFF2-40B4-BE49-F238E27FC236}">
                <a16:creationId xmlns:a16="http://schemas.microsoft.com/office/drawing/2014/main" id="{572576C1-1154-174F-ABFE-B3735492D086}"/>
              </a:ext>
            </a:extLst>
          </p:cNvPr>
          <p:cNvSpPr/>
          <p:nvPr/>
        </p:nvSpPr>
        <p:spPr>
          <a:xfrm>
            <a:off x="4036415" y="3860406"/>
            <a:ext cx="495300" cy="495300"/>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56" name="Oval 55">
            <a:extLst>
              <a:ext uri="{FF2B5EF4-FFF2-40B4-BE49-F238E27FC236}">
                <a16:creationId xmlns:a16="http://schemas.microsoft.com/office/drawing/2014/main" id="{76325A05-BD05-CA41-A6B7-C5AB31A0FC7B}"/>
              </a:ext>
            </a:extLst>
          </p:cNvPr>
          <p:cNvSpPr/>
          <p:nvPr/>
        </p:nvSpPr>
        <p:spPr>
          <a:xfrm>
            <a:off x="2734693" y="4572000"/>
            <a:ext cx="685349" cy="495300"/>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57" name="Oval 56">
            <a:extLst>
              <a:ext uri="{FF2B5EF4-FFF2-40B4-BE49-F238E27FC236}">
                <a16:creationId xmlns:a16="http://schemas.microsoft.com/office/drawing/2014/main" id="{C0C908F1-15DF-2F49-B843-EAB37159ABE2}"/>
              </a:ext>
            </a:extLst>
          </p:cNvPr>
          <p:cNvSpPr/>
          <p:nvPr/>
        </p:nvSpPr>
        <p:spPr>
          <a:xfrm>
            <a:off x="1524000" y="3860406"/>
            <a:ext cx="571952" cy="495300"/>
          </a:xfrm>
          <a:prstGeom prst="ellips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sp>
        <p:nvSpPr>
          <p:cNvPr id="58" name="TextBox 57">
            <a:extLst>
              <a:ext uri="{FF2B5EF4-FFF2-40B4-BE49-F238E27FC236}">
                <a16:creationId xmlns:a16="http://schemas.microsoft.com/office/drawing/2014/main" id="{774C310B-EB9D-8843-870C-8C2EDC92F05D}"/>
              </a:ext>
            </a:extLst>
          </p:cNvPr>
          <p:cNvSpPr txBox="1"/>
          <p:nvPr/>
        </p:nvSpPr>
        <p:spPr>
          <a:xfrm>
            <a:off x="4435912" y="4020614"/>
            <a:ext cx="3880327" cy="769441"/>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i</a:t>
            </a:r>
            <a:r>
              <a:rPr lang="en-US" sz="2200" dirty="0"/>
              <a:t> has no colored neighbors, so let's make it red.</a:t>
            </a:r>
            <a:endParaRPr lang="en-US" sz="2200" b="1" dirty="0">
              <a:solidFill>
                <a:srgbClr val="FF0000"/>
              </a:solidFill>
            </a:endParaRPr>
          </a:p>
        </p:txBody>
      </p:sp>
      <p:sp>
        <p:nvSpPr>
          <p:cNvPr id="59" name="TextBox 58">
            <a:extLst>
              <a:ext uri="{FF2B5EF4-FFF2-40B4-BE49-F238E27FC236}">
                <a16:creationId xmlns:a16="http://schemas.microsoft.com/office/drawing/2014/main" id="{3826B8C2-DFA7-FC44-B6F2-7F1D14F0C6A0}"/>
              </a:ext>
            </a:extLst>
          </p:cNvPr>
          <p:cNvSpPr txBox="1"/>
          <p:nvPr/>
        </p:nvSpPr>
        <p:spPr>
          <a:xfrm>
            <a:off x="4369982" y="1993831"/>
            <a:ext cx="3880327" cy="769441"/>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n</a:t>
            </a:r>
            <a:r>
              <a:rPr lang="en-US" sz="2200" dirty="0"/>
              <a:t> has no colored neighbors, so let's make it red too.</a:t>
            </a:r>
            <a:endParaRPr lang="en-US" sz="2200" b="1" dirty="0">
              <a:solidFill>
                <a:srgbClr val="FF0000"/>
              </a:solidFill>
            </a:endParaRPr>
          </a:p>
        </p:txBody>
      </p:sp>
      <p:sp>
        <p:nvSpPr>
          <p:cNvPr id="60" name="TextBox 59">
            <a:extLst>
              <a:ext uri="{FF2B5EF4-FFF2-40B4-BE49-F238E27FC236}">
                <a16:creationId xmlns:a16="http://schemas.microsoft.com/office/drawing/2014/main" id="{06B91BEF-26DB-9C4C-9A4D-8374BFB38650}"/>
              </a:ext>
            </a:extLst>
          </p:cNvPr>
          <p:cNvSpPr txBox="1"/>
          <p:nvPr/>
        </p:nvSpPr>
        <p:spPr>
          <a:xfrm>
            <a:off x="3457194" y="4790988"/>
            <a:ext cx="3880327" cy="769441"/>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found</a:t>
            </a:r>
            <a:r>
              <a:rPr lang="en-US" sz="2200" dirty="0"/>
              <a:t> has two red neighbors, so let's make it green.</a:t>
            </a:r>
            <a:endParaRPr lang="en-US" sz="2200" b="1" dirty="0">
              <a:solidFill>
                <a:srgbClr val="FF0000"/>
              </a:solidFill>
            </a:endParaRPr>
          </a:p>
        </p:txBody>
      </p:sp>
      <p:sp>
        <p:nvSpPr>
          <p:cNvPr id="61" name="TextBox 60">
            <a:extLst>
              <a:ext uri="{FF2B5EF4-FFF2-40B4-BE49-F238E27FC236}">
                <a16:creationId xmlns:a16="http://schemas.microsoft.com/office/drawing/2014/main" id="{C070876A-E3D2-2F45-9956-3AE8A0D2B4A6}"/>
              </a:ext>
            </a:extLst>
          </p:cNvPr>
          <p:cNvSpPr txBox="1"/>
          <p:nvPr/>
        </p:nvSpPr>
        <p:spPr>
          <a:xfrm>
            <a:off x="2273589" y="1283494"/>
            <a:ext cx="4102486" cy="769441"/>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l</a:t>
            </a:r>
            <a:r>
              <a:rPr lang="en-US" sz="2200" dirty="0"/>
              <a:t> has red and green neighbors, so blue it is.</a:t>
            </a:r>
            <a:endParaRPr lang="en-US" sz="2200" b="1" dirty="0">
              <a:solidFill>
                <a:srgbClr val="FF0000"/>
              </a:solidFill>
            </a:endParaRPr>
          </a:p>
        </p:txBody>
      </p:sp>
      <p:sp>
        <p:nvSpPr>
          <p:cNvPr id="62" name="TextBox 61">
            <a:extLst>
              <a:ext uri="{FF2B5EF4-FFF2-40B4-BE49-F238E27FC236}">
                <a16:creationId xmlns:a16="http://schemas.microsoft.com/office/drawing/2014/main" id="{4A94419E-5CFD-BA41-AC4D-F0155257500C}"/>
              </a:ext>
            </a:extLst>
          </p:cNvPr>
          <p:cNvSpPr txBox="1"/>
          <p:nvPr/>
        </p:nvSpPr>
        <p:spPr>
          <a:xfrm>
            <a:off x="4369982" y="2857500"/>
            <a:ext cx="4453218" cy="430887"/>
          </a:xfrm>
          <a:prstGeom prst="rect">
            <a:avLst/>
          </a:prstGeom>
          <a:noFill/>
        </p:spPr>
        <p:txBody>
          <a:bodyPr wrap="square" rtlCol="0">
            <a:spAutoFit/>
          </a:bodyPr>
          <a:lstStyle/>
          <a:p>
            <a:pPr algn="ctr"/>
            <a:r>
              <a:rPr lang="en-US" sz="2200" b="1" dirty="0" err="1">
                <a:latin typeface="Consolas" panose="020B0609020204030204" pitchFamily="49" charset="0"/>
                <a:cs typeface="Consolas" panose="020B0609020204030204" pitchFamily="49" charset="0"/>
              </a:rPr>
              <a:t>val</a:t>
            </a:r>
            <a:r>
              <a:rPr lang="en-US" sz="2200" dirty="0"/>
              <a:t> needs to be a fourth color…</a:t>
            </a:r>
            <a:endParaRPr lang="en-US" sz="2200" b="1" dirty="0">
              <a:solidFill>
                <a:srgbClr val="FF0000"/>
              </a:solidFill>
            </a:endParaRPr>
          </a:p>
        </p:txBody>
      </p:sp>
      <p:sp>
        <p:nvSpPr>
          <p:cNvPr id="63" name="TextBox 62">
            <a:extLst>
              <a:ext uri="{FF2B5EF4-FFF2-40B4-BE49-F238E27FC236}">
                <a16:creationId xmlns:a16="http://schemas.microsoft.com/office/drawing/2014/main" id="{9E897251-A010-EA42-83C6-3628B648EFC5}"/>
              </a:ext>
            </a:extLst>
          </p:cNvPr>
          <p:cNvSpPr txBox="1"/>
          <p:nvPr/>
        </p:nvSpPr>
        <p:spPr>
          <a:xfrm>
            <a:off x="4521030" y="3373817"/>
            <a:ext cx="4453218" cy="430887"/>
          </a:xfrm>
          <a:prstGeom prst="rect">
            <a:avLst/>
          </a:prstGeom>
          <a:noFill/>
        </p:spPr>
        <p:txBody>
          <a:bodyPr wrap="square" rtlCol="0">
            <a:spAutoFit/>
          </a:bodyPr>
          <a:lstStyle/>
          <a:p>
            <a:pPr algn="ctr"/>
            <a:r>
              <a:rPr lang="en-US" sz="2200" dirty="0"/>
              <a:t>and </a:t>
            </a:r>
            <a:r>
              <a:rPr lang="en-US" sz="2200" b="1" dirty="0" err="1">
                <a:latin typeface="Consolas" panose="020B0609020204030204" pitchFamily="49" charset="0"/>
                <a:cs typeface="Consolas" panose="020B0609020204030204" pitchFamily="49" charset="0"/>
              </a:rPr>
              <a:t>obj</a:t>
            </a:r>
            <a:r>
              <a:rPr lang="en-US" sz="2200" dirty="0"/>
              <a:t> needs to be a fifth.</a:t>
            </a:r>
            <a:endParaRPr lang="en-US" sz="2200" b="1" dirty="0">
              <a:solidFill>
                <a:srgbClr val="FF0000"/>
              </a:solidFill>
            </a:endParaRPr>
          </a:p>
        </p:txBody>
      </p:sp>
    </p:spTree>
    <p:extLst>
      <p:ext uri="{BB962C8B-B14F-4D97-AF65-F5344CB8AC3E}">
        <p14:creationId xmlns:p14="http://schemas.microsoft.com/office/powerpoint/2010/main" val="13649801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28"/>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5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xit" presetSubtype="0" fill="hold" grpId="2" nodeType="withEffect">
                                  <p:stCondLst>
                                    <p:cond delay="0"/>
                                  </p:stCondLst>
                                  <p:childTnLst>
                                    <p:set>
                                      <p:cBhvr>
                                        <p:cTn id="42" dur="1" fill="hold">
                                          <p:stCondLst>
                                            <p:cond delay="0"/>
                                          </p:stCondLst>
                                        </p:cTn>
                                        <p:tgtEl>
                                          <p:spTgt spid="59"/>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2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60"/>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29"/>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61"/>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2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26"/>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62"/>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par>
                                <p:cTn id="89" presetID="1" presetClass="exit" presetSubtype="0" fill="hold" grpId="1" nodeType="withEffect">
                                  <p:stCondLst>
                                    <p:cond delay="0"/>
                                  </p:stCondLst>
                                  <p:childTnLst>
                                    <p:set>
                                      <p:cBhvr>
                                        <p:cTn id="90" dur="1" fill="hold">
                                          <p:stCondLst>
                                            <p:cond delay="0"/>
                                          </p:stCondLst>
                                        </p:cTn>
                                        <p:tgtEl>
                                          <p:spTgt spid="63"/>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52" grpId="0" animBg="1"/>
      <p:bldP spid="53" grpId="0" animBg="1"/>
      <p:bldP spid="54" grpId="0" animBg="1"/>
      <p:bldP spid="55" grpId="0" animBg="1"/>
      <p:bldP spid="56" grpId="0" animBg="1"/>
      <p:bldP spid="57" grpId="0" animBg="1"/>
      <p:bldP spid="58" grpId="0"/>
      <p:bldP spid="58" grpId="1"/>
      <p:bldP spid="59" grpId="0"/>
      <p:bldP spid="59" grpId="2"/>
      <p:bldP spid="60" grpId="0"/>
      <p:bldP spid="60" grpId="1"/>
      <p:bldP spid="61" grpId="0"/>
      <p:bldP spid="61" grpId="1"/>
      <p:bldP spid="62" grpId="0"/>
      <p:bldP spid="62" grpId="1"/>
      <p:bldP spid="63" grpId="0"/>
      <p:bldP spid="63"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0666F-7BF0-8341-85D0-A021135961D3}"/>
              </a:ext>
            </a:extLst>
          </p:cNvPr>
          <p:cNvSpPr>
            <a:spLocks noGrp="1"/>
          </p:cNvSpPr>
          <p:nvPr>
            <p:ph type="title"/>
          </p:nvPr>
        </p:nvSpPr>
        <p:spPr/>
        <p:txBody>
          <a:bodyPr/>
          <a:lstStyle/>
          <a:p>
            <a:r>
              <a:rPr lang="en-US" dirty="0"/>
              <a:t>This works??</a:t>
            </a:r>
          </a:p>
        </p:txBody>
      </p:sp>
      <p:sp>
        <p:nvSpPr>
          <p:cNvPr id="3" name="Content Placeholder 2">
            <a:extLst>
              <a:ext uri="{FF2B5EF4-FFF2-40B4-BE49-F238E27FC236}">
                <a16:creationId xmlns:a16="http://schemas.microsoft.com/office/drawing/2014/main" id="{0FC966FC-37EC-B547-8E1C-A0BFFD01B5F6}"/>
              </a:ext>
            </a:extLst>
          </p:cNvPr>
          <p:cNvSpPr>
            <a:spLocks noGrp="1"/>
          </p:cNvSpPr>
          <p:nvPr>
            <p:ph idx="1"/>
          </p:nvPr>
        </p:nvSpPr>
        <p:spPr/>
        <p:txBody>
          <a:bodyPr/>
          <a:lstStyle/>
          <a:p>
            <a:r>
              <a:rPr lang="en-US" dirty="0"/>
              <a:t>it's a little mind-blowing, but it does work, because that heuristic actually goes </a:t>
            </a:r>
            <a:r>
              <a:rPr lang="en-US" b="1" dirty="0"/>
              <a:t>both ways: </a:t>
            </a:r>
            <a:r>
              <a:rPr lang="en-US" dirty="0"/>
              <a:t>it's an "if and only if."</a:t>
            </a:r>
          </a:p>
          <a:p>
            <a:pPr lvl="1"/>
            <a:r>
              <a:rPr lang="en-US" dirty="0"/>
              <a:t>because we were able to 5-color each sub-graph of the RIG as we built it back up by popping…</a:t>
            </a:r>
          </a:p>
          <a:p>
            <a:pPr lvl="1"/>
            <a:r>
              <a:rPr lang="en-US" dirty="0"/>
              <a:t>then the whole RIG was 5-colorable.</a:t>
            </a:r>
          </a:p>
          <a:p>
            <a:r>
              <a:rPr lang="en-US" dirty="0"/>
              <a:t>BUT: it doesn't </a:t>
            </a:r>
            <a:r>
              <a:rPr lang="en-US" i="1" dirty="0"/>
              <a:t>always</a:t>
            </a:r>
            <a:r>
              <a:rPr lang="en-US" dirty="0"/>
              <a:t> work. if the RIG is not actually </a:t>
            </a:r>
            <a:r>
              <a:rPr lang="en-US" i="1" dirty="0"/>
              <a:t>r</a:t>
            </a:r>
            <a:r>
              <a:rPr lang="en-US" dirty="0"/>
              <a:t>-colorable, we will run into one of two things:</a:t>
            </a:r>
          </a:p>
          <a:p>
            <a:pPr lvl="1"/>
            <a:r>
              <a:rPr lang="en-US" dirty="0"/>
              <a:t>no nodes with &lt; r neighbors on the removal phase; or:</a:t>
            </a:r>
          </a:p>
          <a:p>
            <a:pPr lvl="1"/>
            <a:r>
              <a:rPr lang="en-US" dirty="0"/>
              <a:t>impossible-to-color nodes in the popping phase!</a:t>
            </a:r>
          </a:p>
        </p:txBody>
      </p:sp>
      <p:sp>
        <p:nvSpPr>
          <p:cNvPr id="4" name="Slide Number Placeholder 3">
            <a:extLst>
              <a:ext uri="{FF2B5EF4-FFF2-40B4-BE49-F238E27FC236}">
                <a16:creationId xmlns:a16="http://schemas.microsoft.com/office/drawing/2014/main" id="{B0F5F3A5-1DED-644D-B2C5-CA5AC20E866E}"/>
              </a:ext>
            </a:extLst>
          </p:cNvPr>
          <p:cNvSpPr>
            <a:spLocks noGrp="1"/>
          </p:cNvSpPr>
          <p:nvPr>
            <p:ph type="sldNum" sz="quarter" idx="12"/>
          </p:nvPr>
        </p:nvSpPr>
        <p:spPr/>
        <p:txBody>
          <a:bodyPr/>
          <a:lstStyle/>
          <a:p>
            <a:fld id="{3552B95B-556F-44BD-91A5-D80C1B9E2BB3}" type="slidenum">
              <a:rPr lang="en-US" smtClean="0"/>
              <a:pPr/>
              <a:t>27</a:t>
            </a:fld>
            <a:endParaRPr lang="en-US"/>
          </a:p>
        </p:txBody>
      </p:sp>
    </p:spTree>
    <p:extLst>
      <p:ext uri="{BB962C8B-B14F-4D97-AF65-F5344CB8AC3E}">
        <p14:creationId xmlns:p14="http://schemas.microsoft.com/office/powerpoint/2010/main" val="238817525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B4683-6E45-B74C-A2D1-F92AE5BB1AFB}"/>
              </a:ext>
            </a:extLst>
          </p:cNvPr>
          <p:cNvSpPr>
            <a:spLocks noGrp="1"/>
          </p:cNvSpPr>
          <p:nvPr>
            <p:ph type="title"/>
          </p:nvPr>
        </p:nvSpPr>
        <p:spPr/>
        <p:txBody>
          <a:bodyPr/>
          <a:lstStyle/>
          <a:p>
            <a:r>
              <a:rPr lang="en-US" dirty="0"/>
              <a:t>Failure to color</a:t>
            </a:r>
          </a:p>
        </p:txBody>
      </p:sp>
      <p:sp>
        <p:nvSpPr>
          <p:cNvPr id="3" name="Content Placeholder 2">
            <a:extLst>
              <a:ext uri="{FF2B5EF4-FFF2-40B4-BE49-F238E27FC236}">
                <a16:creationId xmlns:a16="http://schemas.microsoft.com/office/drawing/2014/main" id="{00EDF5BE-DEA2-824B-B1C8-170E27987F8C}"/>
              </a:ext>
            </a:extLst>
          </p:cNvPr>
          <p:cNvSpPr>
            <a:spLocks noGrp="1"/>
          </p:cNvSpPr>
          <p:nvPr>
            <p:ph idx="1"/>
          </p:nvPr>
        </p:nvSpPr>
        <p:spPr>
          <a:xfrm>
            <a:off x="152400" y="495301"/>
            <a:ext cx="8991600" cy="811947"/>
          </a:xfrm>
        </p:spPr>
        <p:txBody>
          <a:bodyPr/>
          <a:lstStyle/>
          <a:p>
            <a:r>
              <a:rPr lang="en-US" dirty="0"/>
              <a:t>let's see what happens on the same RIG if </a:t>
            </a:r>
            <a:r>
              <a:rPr lang="en-US" i="1" dirty="0"/>
              <a:t>r</a:t>
            </a:r>
            <a:r>
              <a:rPr lang="en-US" dirty="0"/>
              <a:t> = 4 instead.</a:t>
            </a:r>
          </a:p>
          <a:p>
            <a:pPr lvl="1"/>
            <a:r>
              <a:rPr lang="en-US" dirty="0"/>
              <a:t>we have to remove nodes with &lt; 4 neighbors now.</a:t>
            </a:r>
          </a:p>
        </p:txBody>
      </p:sp>
      <p:sp>
        <p:nvSpPr>
          <p:cNvPr id="4" name="Slide Number Placeholder 3">
            <a:extLst>
              <a:ext uri="{FF2B5EF4-FFF2-40B4-BE49-F238E27FC236}">
                <a16:creationId xmlns:a16="http://schemas.microsoft.com/office/drawing/2014/main" id="{AAEEA621-8D91-1045-96B4-AA2EB1C0C993}"/>
              </a:ext>
            </a:extLst>
          </p:cNvPr>
          <p:cNvSpPr>
            <a:spLocks noGrp="1"/>
          </p:cNvSpPr>
          <p:nvPr>
            <p:ph type="sldNum" sz="quarter" idx="12"/>
          </p:nvPr>
        </p:nvSpPr>
        <p:spPr/>
        <p:txBody>
          <a:bodyPr/>
          <a:lstStyle/>
          <a:p>
            <a:fld id="{3552B95B-556F-44BD-91A5-D80C1B9E2BB3}" type="slidenum">
              <a:rPr lang="en-US" smtClean="0"/>
              <a:pPr/>
              <a:t>28</a:t>
            </a:fld>
            <a:endParaRPr lang="en-US"/>
          </a:p>
        </p:txBody>
      </p:sp>
      <p:cxnSp>
        <p:nvCxnSpPr>
          <p:cNvPr id="6" name="Straight Connector 5">
            <a:extLst>
              <a:ext uri="{FF2B5EF4-FFF2-40B4-BE49-F238E27FC236}">
                <a16:creationId xmlns:a16="http://schemas.microsoft.com/office/drawing/2014/main" id="{17136F11-8CA9-9D41-A202-9C03663CDACC}"/>
              </a:ext>
            </a:extLst>
          </p:cNvPr>
          <p:cNvCxnSpPr>
            <a:cxnSpLocks/>
          </p:cNvCxnSpPr>
          <p:nvPr/>
        </p:nvCxnSpPr>
        <p:spPr>
          <a:xfrm flipV="1">
            <a:off x="2368138" y="2147610"/>
            <a:ext cx="887361"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BBAEAB-A2A6-9648-A327-37D7D3F2F319}"/>
              </a:ext>
            </a:extLst>
          </p:cNvPr>
          <p:cNvCxnSpPr>
            <a:cxnSpLocks/>
          </p:cNvCxnSpPr>
          <p:nvPr/>
        </p:nvCxnSpPr>
        <p:spPr>
          <a:xfrm flipH="1" flipV="1">
            <a:off x="3605729" y="2147610"/>
            <a:ext cx="881833" cy="3086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203267B-B639-2341-A2EA-FE15A1B9912F}"/>
              </a:ext>
            </a:extLst>
          </p:cNvPr>
          <p:cNvCxnSpPr>
            <a:cxnSpLocks/>
          </p:cNvCxnSpPr>
          <p:nvPr/>
        </p:nvCxnSpPr>
        <p:spPr>
          <a:xfrm>
            <a:off x="2451898" y="2631412"/>
            <a:ext cx="19631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B8C446E-0A5B-8A4E-B5A9-5E87BA12CE24}"/>
              </a:ext>
            </a:extLst>
          </p:cNvPr>
          <p:cNvCxnSpPr>
            <a:cxnSpLocks/>
          </p:cNvCxnSpPr>
          <p:nvPr/>
        </p:nvCxnSpPr>
        <p:spPr>
          <a:xfrm>
            <a:off x="3430614" y="2220145"/>
            <a:ext cx="2700" cy="23518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6C457D-60F5-E646-A26B-508AA13241CE}"/>
              </a:ext>
            </a:extLst>
          </p:cNvPr>
          <p:cNvCxnSpPr>
            <a:cxnSpLocks/>
          </p:cNvCxnSpPr>
          <p:nvPr/>
        </p:nvCxnSpPr>
        <p:spPr>
          <a:xfrm>
            <a:off x="2368138" y="2806527"/>
            <a:ext cx="822868"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AE9671-998B-5F4F-8F04-FC9BF30DEFCE}"/>
              </a:ext>
            </a:extLst>
          </p:cNvPr>
          <p:cNvCxnSpPr>
            <a:cxnSpLocks/>
          </p:cNvCxnSpPr>
          <p:nvPr/>
        </p:nvCxnSpPr>
        <p:spPr>
          <a:xfrm flipH="1">
            <a:off x="3675621" y="2806527"/>
            <a:ext cx="811941" cy="18380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7D2A73F-1506-FE4E-ADAC-E9C3C9893C6A}"/>
              </a:ext>
            </a:extLst>
          </p:cNvPr>
          <p:cNvCxnSpPr>
            <a:cxnSpLocks/>
          </p:cNvCxnSpPr>
          <p:nvPr/>
        </p:nvCxnSpPr>
        <p:spPr>
          <a:xfrm flipH="1">
            <a:off x="3775988" y="4283171"/>
            <a:ext cx="688908"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2887CF5-83B5-A84A-B697-FFD973BFD63E}"/>
              </a:ext>
            </a:extLst>
          </p:cNvPr>
          <p:cNvCxnSpPr>
            <a:cxnSpLocks/>
          </p:cNvCxnSpPr>
          <p:nvPr/>
        </p:nvCxnSpPr>
        <p:spPr>
          <a:xfrm flipH="1" flipV="1">
            <a:off x="2368138" y="2806527"/>
            <a:ext cx="2024223" cy="13015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EF3DAA3-70D2-EF4D-93FA-D7A053C5F81C}"/>
              </a:ext>
            </a:extLst>
          </p:cNvPr>
          <p:cNvCxnSpPr>
            <a:cxnSpLocks/>
          </p:cNvCxnSpPr>
          <p:nvPr/>
        </p:nvCxnSpPr>
        <p:spPr>
          <a:xfrm flipH="1" flipV="1">
            <a:off x="3430614" y="2220145"/>
            <a:ext cx="1034282"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DF11D42-F49E-4E42-8F7C-61B467688487}"/>
              </a:ext>
            </a:extLst>
          </p:cNvPr>
          <p:cNvCxnSpPr>
            <a:cxnSpLocks/>
          </p:cNvCxnSpPr>
          <p:nvPr/>
        </p:nvCxnSpPr>
        <p:spPr>
          <a:xfrm flipH="1">
            <a:off x="2451898" y="4108056"/>
            <a:ext cx="19404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C7B0FE9-CCD0-7345-B71D-F0DB0C9B1BAA}"/>
              </a:ext>
            </a:extLst>
          </p:cNvPr>
          <p:cNvCxnSpPr>
            <a:cxnSpLocks/>
          </p:cNvCxnSpPr>
          <p:nvPr/>
        </p:nvCxnSpPr>
        <p:spPr>
          <a:xfrm flipH="1" flipV="1">
            <a:off x="2368138" y="4283171"/>
            <a:ext cx="722501" cy="5364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887E6D1-87A6-844E-B374-29B8FCA1102C}"/>
              </a:ext>
            </a:extLst>
          </p:cNvPr>
          <p:cNvCxnSpPr>
            <a:cxnSpLocks/>
          </p:cNvCxnSpPr>
          <p:nvPr/>
        </p:nvCxnSpPr>
        <p:spPr>
          <a:xfrm>
            <a:off x="2165922" y="2879062"/>
            <a:ext cx="0" cy="9813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C895E01-5140-5243-B3F6-46F28591B402}"/>
              </a:ext>
            </a:extLst>
          </p:cNvPr>
          <p:cNvCxnSpPr>
            <a:cxnSpLocks/>
          </p:cNvCxnSpPr>
          <p:nvPr/>
        </p:nvCxnSpPr>
        <p:spPr>
          <a:xfrm flipH="1">
            <a:off x="2368138" y="2220145"/>
            <a:ext cx="1062476" cy="1712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371C16C-747D-B544-8AE7-84F392CD6DFC}"/>
              </a:ext>
            </a:extLst>
          </p:cNvPr>
          <p:cNvSpPr/>
          <p:nvPr/>
        </p:nvSpPr>
        <p:spPr>
          <a:xfrm>
            <a:off x="3182964" y="1724845"/>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20" name="Oval 19">
            <a:extLst>
              <a:ext uri="{FF2B5EF4-FFF2-40B4-BE49-F238E27FC236}">
                <a16:creationId xmlns:a16="http://schemas.microsoft.com/office/drawing/2014/main" id="{2EA563E0-ADC6-5C42-99B3-72820E3F49BE}"/>
              </a:ext>
            </a:extLst>
          </p:cNvPr>
          <p:cNvSpPr/>
          <p:nvPr/>
        </p:nvSpPr>
        <p:spPr>
          <a:xfrm>
            <a:off x="1879946" y="2383762"/>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21" name="Oval 20">
            <a:extLst>
              <a:ext uri="{FF2B5EF4-FFF2-40B4-BE49-F238E27FC236}">
                <a16:creationId xmlns:a16="http://schemas.microsoft.com/office/drawing/2014/main" id="{C51B6D79-22AA-8444-B61C-A4EE03A43076}"/>
              </a:ext>
            </a:extLst>
          </p:cNvPr>
          <p:cNvSpPr/>
          <p:nvPr/>
        </p:nvSpPr>
        <p:spPr>
          <a:xfrm>
            <a:off x="4415027" y="2383762"/>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sp>
        <p:nvSpPr>
          <p:cNvPr id="22" name="Oval 21">
            <a:extLst>
              <a:ext uri="{FF2B5EF4-FFF2-40B4-BE49-F238E27FC236}">
                <a16:creationId xmlns:a16="http://schemas.microsoft.com/office/drawing/2014/main" id="{4A5513F8-B65E-484D-9390-BBADF7DE25A9}"/>
              </a:ext>
            </a:extLst>
          </p:cNvPr>
          <p:cNvSpPr/>
          <p:nvPr/>
        </p:nvSpPr>
        <p:spPr>
          <a:xfrm>
            <a:off x="4392361" y="3860406"/>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23" name="Oval 22">
            <a:extLst>
              <a:ext uri="{FF2B5EF4-FFF2-40B4-BE49-F238E27FC236}">
                <a16:creationId xmlns:a16="http://schemas.microsoft.com/office/drawing/2014/main" id="{CBB618A7-2CA9-D74A-AD93-B85D4D8DCE8B}"/>
              </a:ext>
            </a:extLst>
          </p:cNvPr>
          <p:cNvSpPr/>
          <p:nvPr/>
        </p:nvSpPr>
        <p:spPr>
          <a:xfrm>
            <a:off x="3090639" y="4572000"/>
            <a:ext cx="685349"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24" name="Oval 23">
            <a:extLst>
              <a:ext uri="{FF2B5EF4-FFF2-40B4-BE49-F238E27FC236}">
                <a16:creationId xmlns:a16="http://schemas.microsoft.com/office/drawing/2014/main" id="{7128A801-BF53-B840-97DD-46810EBE794C}"/>
              </a:ext>
            </a:extLst>
          </p:cNvPr>
          <p:cNvSpPr/>
          <p:nvPr/>
        </p:nvSpPr>
        <p:spPr>
          <a:xfrm>
            <a:off x="1879946" y="3860406"/>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sp>
        <p:nvSpPr>
          <p:cNvPr id="25" name="TextBox 24">
            <a:extLst>
              <a:ext uri="{FF2B5EF4-FFF2-40B4-BE49-F238E27FC236}">
                <a16:creationId xmlns:a16="http://schemas.microsoft.com/office/drawing/2014/main" id="{C93E184E-2FFF-7648-ADCA-5F8D8333191D}"/>
              </a:ext>
            </a:extLst>
          </p:cNvPr>
          <p:cNvSpPr txBox="1"/>
          <p:nvPr/>
        </p:nvSpPr>
        <p:spPr>
          <a:xfrm>
            <a:off x="762000" y="1333500"/>
            <a:ext cx="889346" cy="430887"/>
          </a:xfrm>
          <a:prstGeom prst="rect">
            <a:avLst/>
          </a:prstGeom>
          <a:noFill/>
        </p:spPr>
        <p:txBody>
          <a:bodyPr wrap="none" rtlCol="0">
            <a:spAutoFit/>
          </a:bodyPr>
          <a:lstStyle/>
          <a:p>
            <a:r>
              <a:rPr lang="en-US" sz="2200" b="1" u="sng" dirty="0"/>
              <a:t>Stack</a:t>
            </a:r>
          </a:p>
        </p:txBody>
      </p:sp>
      <p:sp>
        <p:nvSpPr>
          <p:cNvPr id="26" name="Oval 25">
            <a:extLst>
              <a:ext uri="{FF2B5EF4-FFF2-40B4-BE49-F238E27FC236}">
                <a16:creationId xmlns:a16="http://schemas.microsoft.com/office/drawing/2014/main" id="{4805157D-5C91-7F4C-99E5-315C279DB0DE}"/>
              </a:ext>
            </a:extLst>
          </p:cNvPr>
          <p:cNvSpPr/>
          <p:nvPr/>
        </p:nvSpPr>
        <p:spPr>
          <a:xfrm>
            <a:off x="953801" y="3933415"/>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27" name="Oval 26">
            <a:extLst>
              <a:ext uri="{FF2B5EF4-FFF2-40B4-BE49-F238E27FC236}">
                <a16:creationId xmlns:a16="http://schemas.microsoft.com/office/drawing/2014/main" id="{2DE503E2-21CF-E646-8C92-14C061DF0F00}"/>
              </a:ext>
            </a:extLst>
          </p:cNvPr>
          <p:cNvSpPr/>
          <p:nvPr/>
        </p:nvSpPr>
        <p:spPr>
          <a:xfrm>
            <a:off x="918803" y="2859885"/>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28" name="Oval 27">
            <a:extLst>
              <a:ext uri="{FF2B5EF4-FFF2-40B4-BE49-F238E27FC236}">
                <a16:creationId xmlns:a16="http://schemas.microsoft.com/office/drawing/2014/main" id="{9138657B-EE34-2D4D-9CBE-8F76FAEB5F73}"/>
              </a:ext>
            </a:extLst>
          </p:cNvPr>
          <p:cNvSpPr/>
          <p:nvPr/>
        </p:nvSpPr>
        <p:spPr>
          <a:xfrm>
            <a:off x="959023" y="4469894"/>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n</a:t>
            </a:r>
          </a:p>
        </p:txBody>
      </p:sp>
      <p:sp>
        <p:nvSpPr>
          <p:cNvPr id="29" name="Oval 28">
            <a:extLst>
              <a:ext uri="{FF2B5EF4-FFF2-40B4-BE49-F238E27FC236}">
                <a16:creationId xmlns:a16="http://schemas.microsoft.com/office/drawing/2014/main" id="{B4F30CB9-CF3C-BC4B-8F09-8781602E0544}"/>
              </a:ext>
            </a:extLst>
          </p:cNvPr>
          <p:cNvSpPr/>
          <p:nvPr/>
        </p:nvSpPr>
        <p:spPr>
          <a:xfrm>
            <a:off x="952135" y="3396936"/>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30" name="Oval 29">
            <a:extLst>
              <a:ext uri="{FF2B5EF4-FFF2-40B4-BE49-F238E27FC236}">
                <a16:creationId xmlns:a16="http://schemas.microsoft.com/office/drawing/2014/main" id="{5DB8CE24-494D-0942-9E59-0C2C6C7FD34A}"/>
              </a:ext>
            </a:extLst>
          </p:cNvPr>
          <p:cNvSpPr/>
          <p:nvPr/>
        </p:nvSpPr>
        <p:spPr>
          <a:xfrm>
            <a:off x="857110" y="1785783"/>
            <a:ext cx="685349"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31" name="Oval 30">
            <a:extLst>
              <a:ext uri="{FF2B5EF4-FFF2-40B4-BE49-F238E27FC236}">
                <a16:creationId xmlns:a16="http://schemas.microsoft.com/office/drawing/2014/main" id="{5624733E-A500-424C-BC0A-B55C5B95ABCA}"/>
              </a:ext>
            </a:extLst>
          </p:cNvPr>
          <p:cNvSpPr/>
          <p:nvPr/>
        </p:nvSpPr>
        <p:spPr>
          <a:xfrm>
            <a:off x="918577" y="2322834"/>
            <a:ext cx="571952"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sp>
        <p:nvSpPr>
          <p:cNvPr id="32" name="Oval 31">
            <a:extLst>
              <a:ext uri="{FF2B5EF4-FFF2-40B4-BE49-F238E27FC236}">
                <a16:creationId xmlns:a16="http://schemas.microsoft.com/office/drawing/2014/main" id="{5C421CF6-0445-7742-8B83-C3696F436639}"/>
              </a:ext>
            </a:extLst>
          </p:cNvPr>
          <p:cNvSpPr/>
          <p:nvPr/>
        </p:nvSpPr>
        <p:spPr>
          <a:xfrm>
            <a:off x="3182964" y="1724845"/>
            <a:ext cx="495300" cy="495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l</a:t>
            </a:r>
          </a:p>
        </p:txBody>
      </p:sp>
      <p:sp>
        <p:nvSpPr>
          <p:cNvPr id="33" name="Oval 32">
            <a:extLst>
              <a:ext uri="{FF2B5EF4-FFF2-40B4-BE49-F238E27FC236}">
                <a16:creationId xmlns:a16="http://schemas.microsoft.com/office/drawing/2014/main" id="{C4B8888B-4E4F-214D-86BA-E8BB5DFEA11D}"/>
              </a:ext>
            </a:extLst>
          </p:cNvPr>
          <p:cNvSpPr/>
          <p:nvPr/>
        </p:nvSpPr>
        <p:spPr>
          <a:xfrm>
            <a:off x="1879946" y="2383762"/>
            <a:ext cx="571952" cy="4953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val</a:t>
            </a:r>
            <a:endParaRPr lang="en-US" sz="1800" b="1" dirty="0">
              <a:solidFill>
                <a:schemeClr val="tx1"/>
              </a:solidFill>
              <a:latin typeface="Consolas" panose="020B0609020204030204" pitchFamily="49" charset="0"/>
              <a:cs typeface="Consolas" panose="020B0609020204030204" pitchFamily="49" charset="0"/>
            </a:endParaRPr>
          </a:p>
        </p:txBody>
      </p:sp>
      <p:sp>
        <p:nvSpPr>
          <p:cNvPr id="35" name="Oval 34">
            <a:extLst>
              <a:ext uri="{FF2B5EF4-FFF2-40B4-BE49-F238E27FC236}">
                <a16:creationId xmlns:a16="http://schemas.microsoft.com/office/drawing/2014/main" id="{9C6D7F79-5C93-E245-BA4D-24189CEAAD82}"/>
              </a:ext>
            </a:extLst>
          </p:cNvPr>
          <p:cNvSpPr/>
          <p:nvPr/>
        </p:nvSpPr>
        <p:spPr>
          <a:xfrm>
            <a:off x="4392361" y="3860406"/>
            <a:ext cx="495300" cy="4953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i</a:t>
            </a:r>
          </a:p>
        </p:txBody>
      </p:sp>
      <p:sp>
        <p:nvSpPr>
          <p:cNvPr id="36" name="Oval 35">
            <a:extLst>
              <a:ext uri="{FF2B5EF4-FFF2-40B4-BE49-F238E27FC236}">
                <a16:creationId xmlns:a16="http://schemas.microsoft.com/office/drawing/2014/main" id="{0333DC42-1950-E54E-86AE-AA7AACC442A8}"/>
              </a:ext>
            </a:extLst>
          </p:cNvPr>
          <p:cNvSpPr/>
          <p:nvPr/>
        </p:nvSpPr>
        <p:spPr>
          <a:xfrm>
            <a:off x="3090639" y="4572000"/>
            <a:ext cx="685349" cy="495300"/>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found</a:t>
            </a:r>
          </a:p>
        </p:txBody>
      </p:sp>
      <p:sp>
        <p:nvSpPr>
          <p:cNvPr id="37" name="Oval 36">
            <a:extLst>
              <a:ext uri="{FF2B5EF4-FFF2-40B4-BE49-F238E27FC236}">
                <a16:creationId xmlns:a16="http://schemas.microsoft.com/office/drawing/2014/main" id="{E1B4F4DF-8151-8646-BB12-641E7C67C02E}"/>
              </a:ext>
            </a:extLst>
          </p:cNvPr>
          <p:cNvSpPr/>
          <p:nvPr/>
        </p:nvSpPr>
        <p:spPr>
          <a:xfrm>
            <a:off x="1879946" y="3860406"/>
            <a:ext cx="571952" cy="495300"/>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err="1">
                <a:solidFill>
                  <a:schemeClr val="tx1"/>
                </a:solidFill>
                <a:latin typeface="Consolas" panose="020B0609020204030204" pitchFamily="49" charset="0"/>
                <a:cs typeface="Consolas" panose="020B0609020204030204" pitchFamily="49" charset="0"/>
              </a:rPr>
              <a:t>obj</a:t>
            </a:r>
            <a:endParaRPr lang="en-US" sz="1800" b="1" dirty="0">
              <a:solidFill>
                <a:schemeClr val="tx1"/>
              </a:solidFill>
              <a:latin typeface="Consolas" panose="020B0609020204030204" pitchFamily="49" charset="0"/>
              <a:cs typeface="Consolas" panose="020B0609020204030204" pitchFamily="49" charset="0"/>
            </a:endParaRPr>
          </a:p>
        </p:txBody>
      </p:sp>
      <p:sp>
        <p:nvSpPr>
          <p:cNvPr id="38" name="TextBox 37">
            <a:extLst>
              <a:ext uri="{FF2B5EF4-FFF2-40B4-BE49-F238E27FC236}">
                <a16:creationId xmlns:a16="http://schemas.microsoft.com/office/drawing/2014/main" id="{3FE96EBB-AE5C-D94A-826F-CDB95E382E62}"/>
              </a:ext>
            </a:extLst>
          </p:cNvPr>
          <p:cNvSpPr txBox="1"/>
          <p:nvPr/>
        </p:nvSpPr>
        <p:spPr>
          <a:xfrm>
            <a:off x="4802088" y="2779469"/>
            <a:ext cx="3721987" cy="1107996"/>
          </a:xfrm>
          <a:prstGeom prst="rect">
            <a:avLst/>
          </a:prstGeom>
          <a:noFill/>
        </p:spPr>
        <p:txBody>
          <a:bodyPr wrap="square" rtlCol="0">
            <a:spAutoFit/>
          </a:bodyPr>
          <a:lstStyle/>
          <a:p>
            <a:pPr algn="ctr"/>
            <a:r>
              <a:rPr lang="en-US" sz="2200" dirty="0"/>
              <a:t>uh oh. </a:t>
            </a:r>
            <a:r>
              <a:rPr lang="en-US" sz="2200" b="1" dirty="0"/>
              <a:t>everyone has ≥ 4 neighbors. </a:t>
            </a:r>
            <a:r>
              <a:rPr lang="en-US" sz="2200" dirty="0"/>
              <a:t>let's just remove one and move on anyway.</a:t>
            </a:r>
            <a:endParaRPr lang="en-US" sz="2200" b="1" dirty="0">
              <a:solidFill>
                <a:srgbClr val="FF0000"/>
              </a:solidFill>
            </a:endParaRPr>
          </a:p>
        </p:txBody>
      </p:sp>
      <p:sp>
        <p:nvSpPr>
          <p:cNvPr id="40" name="TextBox 39">
            <a:extLst>
              <a:ext uri="{FF2B5EF4-FFF2-40B4-BE49-F238E27FC236}">
                <a16:creationId xmlns:a16="http://schemas.microsoft.com/office/drawing/2014/main" id="{C3DE9953-DFF4-8246-B644-3BD48866ECF1}"/>
              </a:ext>
            </a:extLst>
          </p:cNvPr>
          <p:cNvSpPr txBox="1"/>
          <p:nvPr/>
        </p:nvSpPr>
        <p:spPr>
          <a:xfrm>
            <a:off x="3675621" y="1381518"/>
            <a:ext cx="2847276" cy="769441"/>
          </a:xfrm>
          <a:prstGeom prst="rect">
            <a:avLst/>
          </a:prstGeom>
          <a:noFill/>
        </p:spPr>
        <p:txBody>
          <a:bodyPr wrap="square" rtlCol="0">
            <a:spAutoFit/>
          </a:bodyPr>
          <a:lstStyle/>
          <a:p>
            <a:pPr algn="ctr"/>
            <a:r>
              <a:rPr lang="en-US" sz="2200" dirty="0" err="1"/>
              <a:t>aaaand</a:t>
            </a:r>
            <a:r>
              <a:rPr lang="en-US" sz="2200" dirty="0"/>
              <a:t> we're stuck. we can't color </a:t>
            </a:r>
            <a:r>
              <a:rPr lang="en-US" sz="2200" b="1" dirty="0">
                <a:latin typeface="Consolas" panose="020B0609020204030204" pitchFamily="49" charset="0"/>
                <a:cs typeface="Consolas" panose="020B0609020204030204" pitchFamily="49" charset="0"/>
              </a:rPr>
              <a:t>l</a:t>
            </a:r>
            <a:r>
              <a:rPr lang="en-US" sz="2200" dirty="0"/>
              <a:t>!</a:t>
            </a:r>
            <a:endParaRPr lang="en-US" sz="2200" b="1" dirty="0">
              <a:solidFill>
                <a:srgbClr val="FF0000"/>
              </a:solidFill>
            </a:endParaRPr>
          </a:p>
        </p:txBody>
      </p:sp>
    </p:spTree>
    <p:extLst>
      <p:ext uri="{BB962C8B-B14F-4D97-AF65-F5344CB8AC3E}">
        <p14:creationId xmlns:p14="http://schemas.microsoft.com/office/powerpoint/2010/main" val="30904828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8"/>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4"/>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9"/>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3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3"/>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5"/>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xit"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0"/>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7"/>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xit"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6"/>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par>
                                <p:cTn id="73" presetID="1" presetClass="exit"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30"/>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par>
                                <p:cTn id="87" presetID="1" presetClass="exit" presetSubtype="0" fill="hold" grpId="1" nodeType="withEffect">
                                  <p:stCondLst>
                                    <p:cond delay="0"/>
                                  </p:stCondLst>
                                  <p:childTnLst>
                                    <p:set>
                                      <p:cBhvr>
                                        <p:cTn id="88" dur="1" fill="hold">
                                          <p:stCondLst>
                                            <p:cond delay="0"/>
                                          </p:stCondLst>
                                        </p:cTn>
                                        <p:tgtEl>
                                          <p:spTgt spid="31"/>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0"/>
                                        </p:tgtEl>
                                        <p:attrNameLst>
                                          <p:attrName>style.visibility</p:attrName>
                                        </p:attrNameLst>
                                      </p:cBhvr>
                                      <p:to>
                                        <p:strVal val="visible"/>
                                      </p:to>
                                    </p:set>
                                  </p:childTnLst>
                                </p:cTn>
                              </p:par>
                              <p:par>
                                <p:cTn id="97" presetID="1" presetClass="exit" presetSubtype="0" fill="hold" grpId="1" nodeType="withEffect">
                                  <p:stCondLst>
                                    <p:cond delay="0"/>
                                  </p:stCondLst>
                                  <p:childTnLst>
                                    <p:set>
                                      <p:cBhvr>
                                        <p:cTn id="98" dur="1" fill="hold">
                                          <p:stCondLst>
                                            <p:cond delay="0"/>
                                          </p:stCondLst>
                                        </p:cTn>
                                        <p:tgtEl>
                                          <p:spTgt spid="27"/>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3"/>
                                        </p:tgtEl>
                                        <p:attrNameLst>
                                          <p:attrName>style.visibility</p:attrName>
                                        </p:attrNameLst>
                                      </p:cBhvr>
                                      <p:to>
                                        <p:strVal val="visible"/>
                                      </p:to>
                                    </p:set>
                                  </p:childTnLst>
                                </p:cTn>
                              </p:par>
                              <p:par>
                                <p:cTn id="109" presetID="1" presetClass="exit" presetSubtype="0" fill="hold" grpId="1" nodeType="withEffect">
                                  <p:stCondLst>
                                    <p:cond delay="0"/>
                                  </p:stCondLst>
                                  <p:childTnLst>
                                    <p:set>
                                      <p:cBhvr>
                                        <p:cTn id="110" dur="1" fill="hold">
                                          <p:stCondLst>
                                            <p:cond delay="0"/>
                                          </p:stCondLst>
                                        </p:cTn>
                                        <p:tgtEl>
                                          <p:spTgt spid="29"/>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4"/>
                                        </p:tgtEl>
                                        <p:attrNameLst>
                                          <p:attrName>style.visibility</p:attrName>
                                        </p:attrNameLst>
                                      </p:cBhvr>
                                      <p:to>
                                        <p:strVal val="visible"/>
                                      </p:to>
                                    </p:set>
                                  </p:childTnLst>
                                </p:cTn>
                              </p:par>
                              <p:par>
                                <p:cTn id="123" presetID="1" presetClass="exit" presetSubtype="0" fill="hold" grpId="1" nodeType="withEffect">
                                  <p:stCondLst>
                                    <p:cond delay="0"/>
                                  </p:stCondLst>
                                  <p:childTnLst>
                                    <p:set>
                                      <p:cBhvr>
                                        <p:cTn id="124" dur="1" fill="hold">
                                          <p:stCondLst>
                                            <p:cond delay="0"/>
                                          </p:stCondLst>
                                        </p:cTn>
                                        <p:tgtEl>
                                          <p:spTgt spid="26"/>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6" grpId="0" animBg="1"/>
      <p:bldP spid="26" grpId="1" animBg="1"/>
      <p:bldP spid="27" grpId="0" animBg="1"/>
      <p:bldP spid="27" grpId="1" animBg="1"/>
      <p:bldP spid="28" grpId="0" animBg="1"/>
      <p:bldP spid="29" grpId="0" animBg="1"/>
      <p:bldP spid="29" grpId="1" animBg="1"/>
      <p:bldP spid="30" grpId="0" animBg="1"/>
      <p:bldP spid="30" grpId="1" animBg="1"/>
      <p:bldP spid="31" grpId="0" animBg="1"/>
      <p:bldP spid="31" grpId="1" animBg="1"/>
      <p:bldP spid="32" grpId="0" animBg="1"/>
      <p:bldP spid="33" grpId="0" animBg="1"/>
      <p:bldP spid="35" grpId="0" animBg="1"/>
      <p:bldP spid="36" grpId="0" animBg="1"/>
      <p:bldP spid="37" grpId="0" animBg="1"/>
      <p:bldP spid="38" grpId="0"/>
      <p:bldP spid="38" grpId="1"/>
      <p:bldP spid="4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0A41C-130F-7D42-B84E-F4D2FFA0EEDF}"/>
              </a:ext>
            </a:extLst>
          </p:cNvPr>
          <p:cNvSpPr>
            <a:spLocks noGrp="1"/>
          </p:cNvSpPr>
          <p:nvPr>
            <p:ph type="ctrTitle"/>
          </p:nvPr>
        </p:nvSpPr>
        <p:spPr/>
        <p:txBody>
          <a:bodyPr/>
          <a:lstStyle/>
          <a:p>
            <a:r>
              <a:rPr lang="en-US" dirty="0"/>
              <a:t>Spilling</a:t>
            </a:r>
            <a:br>
              <a:rPr lang="en-US" dirty="0"/>
            </a:br>
            <a:r>
              <a:rPr lang="en-US" sz="1050" dirty="0">
                <a:solidFill>
                  <a:srgbClr val="FFFFFF"/>
                </a:solidFill>
              </a:rPr>
              <a:t>time check ≤ 85</a:t>
            </a:r>
            <a:endParaRPr lang="en-US" dirty="0"/>
          </a:p>
        </p:txBody>
      </p:sp>
      <p:sp>
        <p:nvSpPr>
          <p:cNvPr id="3" name="Slide Number Placeholder 2">
            <a:extLst>
              <a:ext uri="{FF2B5EF4-FFF2-40B4-BE49-F238E27FC236}">
                <a16:creationId xmlns:a16="http://schemas.microsoft.com/office/drawing/2014/main" id="{076FC41F-8E00-7A43-92C5-2F4AA3E891D4}"/>
              </a:ext>
            </a:extLst>
          </p:cNvPr>
          <p:cNvSpPr>
            <a:spLocks noGrp="1"/>
          </p:cNvSpPr>
          <p:nvPr>
            <p:ph type="sldNum" sz="quarter" idx="12"/>
          </p:nvPr>
        </p:nvSpPr>
        <p:spPr/>
        <p:txBody>
          <a:bodyPr/>
          <a:lstStyle/>
          <a:p>
            <a:fld id="{3552B95B-556F-44BD-91A5-D80C1B9E2BB3}" type="slidenum">
              <a:rPr lang="en-US" smtClean="0"/>
              <a:pPr/>
              <a:t>29</a:t>
            </a:fld>
            <a:endParaRPr lang="en-US"/>
          </a:p>
        </p:txBody>
      </p:sp>
    </p:spTree>
    <p:extLst>
      <p:ext uri="{BB962C8B-B14F-4D97-AF65-F5344CB8AC3E}">
        <p14:creationId xmlns:p14="http://schemas.microsoft.com/office/powerpoint/2010/main" val="195602889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69BD5-197D-BB41-8C62-91AB86F8C4B8}"/>
              </a:ext>
            </a:extLst>
          </p:cNvPr>
          <p:cNvSpPr>
            <a:spLocks noGrp="1"/>
          </p:cNvSpPr>
          <p:nvPr>
            <p:ph type="title"/>
          </p:nvPr>
        </p:nvSpPr>
        <p:spPr/>
        <p:txBody>
          <a:bodyPr/>
          <a:lstStyle/>
          <a:p>
            <a:r>
              <a:rPr lang="en-US" dirty="0"/>
              <a:t>So what do we do??</a:t>
            </a:r>
          </a:p>
        </p:txBody>
      </p:sp>
      <p:sp>
        <p:nvSpPr>
          <p:cNvPr id="3" name="Content Placeholder 2">
            <a:extLst>
              <a:ext uri="{FF2B5EF4-FFF2-40B4-BE49-F238E27FC236}">
                <a16:creationId xmlns:a16="http://schemas.microsoft.com/office/drawing/2014/main" id="{C9DA10DC-1B12-5C42-A19E-6C6952DA3A9E}"/>
              </a:ext>
            </a:extLst>
          </p:cNvPr>
          <p:cNvSpPr>
            <a:spLocks noGrp="1"/>
          </p:cNvSpPr>
          <p:nvPr>
            <p:ph idx="1"/>
          </p:nvPr>
        </p:nvSpPr>
        <p:spPr/>
        <p:txBody>
          <a:bodyPr/>
          <a:lstStyle/>
          <a:p>
            <a:r>
              <a:rPr lang="en-US" dirty="0"/>
              <a:t>a failure to color the RIG means that </a:t>
            </a:r>
            <a:r>
              <a:rPr lang="en-US" b="1" dirty="0"/>
              <a:t>there are more values being used at one time than will fit into the CPU's registers.</a:t>
            </a:r>
            <a:endParaRPr lang="en-US" dirty="0"/>
          </a:p>
          <a:p>
            <a:pPr lvl="1"/>
            <a:r>
              <a:rPr lang="en-US" dirty="0"/>
              <a:t>it's a setback, but it's not </a:t>
            </a:r>
            <a:r>
              <a:rPr lang="en-US" i="1" dirty="0"/>
              <a:t>catastrophic, </a:t>
            </a:r>
            <a:r>
              <a:rPr lang="en-US" dirty="0"/>
              <a:t>right? we </a:t>
            </a:r>
            <a:r>
              <a:rPr lang="en-US" i="1" dirty="0"/>
              <a:t>can</a:t>
            </a:r>
            <a:r>
              <a:rPr lang="en-US" dirty="0"/>
              <a:t> use memory.</a:t>
            </a:r>
          </a:p>
          <a:p>
            <a:r>
              <a:rPr lang="en-US" dirty="0"/>
              <a:t>so in this case we turn to </a:t>
            </a:r>
            <a:r>
              <a:rPr lang="en-US" b="1" dirty="0"/>
              <a:t>spilling: </a:t>
            </a:r>
            <a:r>
              <a:rPr lang="en-US" dirty="0"/>
              <a:t>picking one or more locals to live </a:t>
            </a:r>
            <a:r>
              <a:rPr lang="en-US" i="1" dirty="0"/>
              <a:t>on the stack</a:t>
            </a:r>
            <a:r>
              <a:rPr lang="en-US" dirty="0"/>
              <a:t> instead of in registers.</a:t>
            </a:r>
          </a:p>
          <a:p>
            <a:r>
              <a:rPr lang="en-US" dirty="0"/>
              <a:t>ideally, we’d like to pick some local that </a:t>
            </a:r>
            <a:r>
              <a:rPr lang="en-US" b="1" dirty="0"/>
              <a:t>isn’t used very often</a:t>
            </a:r>
            <a:r>
              <a:rPr lang="en-US" dirty="0"/>
              <a:t> to be placed into memory instead of a register… but </a:t>
            </a:r>
            <a:r>
              <a:rPr lang="en-US" b="1" dirty="0"/>
              <a:t>which one?</a:t>
            </a:r>
          </a:p>
          <a:p>
            <a:pPr lvl="1"/>
            <a:r>
              <a:rPr lang="en-US" dirty="0"/>
              <a:t>if we pick poorly, we could slow down our program a lot by causing a bunch of excess loads and stores…</a:t>
            </a:r>
          </a:p>
        </p:txBody>
      </p:sp>
      <p:sp>
        <p:nvSpPr>
          <p:cNvPr id="4" name="Slide Number Placeholder 3">
            <a:extLst>
              <a:ext uri="{FF2B5EF4-FFF2-40B4-BE49-F238E27FC236}">
                <a16:creationId xmlns:a16="http://schemas.microsoft.com/office/drawing/2014/main" id="{5FBD1594-BC14-2641-9D86-0FC6397DEB84}"/>
              </a:ext>
            </a:extLst>
          </p:cNvPr>
          <p:cNvSpPr>
            <a:spLocks noGrp="1"/>
          </p:cNvSpPr>
          <p:nvPr>
            <p:ph type="sldNum" sz="quarter" idx="12"/>
          </p:nvPr>
        </p:nvSpPr>
        <p:spPr/>
        <p:txBody>
          <a:bodyPr/>
          <a:lstStyle/>
          <a:p>
            <a:fld id="{3552B95B-556F-44BD-91A5-D80C1B9E2BB3}" type="slidenum">
              <a:rPr lang="en-US" smtClean="0"/>
              <a:pPr/>
              <a:t>30</a:t>
            </a:fld>
            <a:endParaRPr lang="en-US"/>
          </a:p>
        </p:txBody>
      </p:sp>
    </p:spTree>
    <p:extLst>
      <p:ext uri="{BB962C8B-B14F-4D97-AF65-F5344CB8AC3E}">
        <p14:creationId xmlns:p14="http://schemas.microsoft.com/office/powerpoint/2010/main" val="230233114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7235-1812-9F46-A1B2-B97B9A0491A3}"/>
              </a:ext>
            </a:extLst>
          </p:cNvPr>
          <p:cNvSpPr>
            <a:spLocks noGrp="1"/>
          </p:cNvSpPr>
          <p:nvPr>
            <p:ph type="title"/>
          </p:nvPr>
        </p:nvSpPr>
        <p:spPr/>
        <p:txBody>
          <a:bodyPr/>
          <a:lstStyle/>
          <a:p>
            <a:r>
              <a:rPr lang="en-US" dirty="0"/>
              <a:t>Stop interfering with me!</a:t>
            </a:r>
          </a:p>
        </p:txBody>
      </p:sp>
      <p:sp>
        <p:nvSpPr>
          <p:cNvPr id="3" name="Content Placeholder 2">
            <a:extLst>
              <a:ext uri="{FF2B5EF4-FFF2-40B4-BE49-F238E27FC236}">
                <a16:creationId xmlns:a16="http://schemas.microsoft.com/office/drawing/2014/main" id="{B94EAD22-7D15-DF42-8B97-26057C5ABE6E}"/>
              </a:ext>
            </a:extLst>
          </p:cNvPr>
          <p:cNvSpPr>
            <a:spLocks noGrp="1"/>
          </p:cNvSpPr>
          <p:nvPr>
            <p:ph idx="1"/>
          </p:nvPr>
        </p:nvSpPr>
        <p:spPr>
          <a:xfrm>
            <a:off x="152400" y="495301"/>
            <a:ext cx="8991600" cy="1273843"/>
          </a:xfrm>
        </p:spPr>
        <p:txBody>
          <a:bodyPr>
            <a:normAutofit/>
          </a:bodyPr>
          <a:lstStyle/>
          <a:p>
            <a:r>
              <a:rPr lang="en-US" dirty="0"/>
              <a:t>picking which local to spill is, again, something we can’t do perfectly.</a:t>
            </a:r>
          </a:p>
          <a:p>
            <a:r>
              <a:rPr lang="en-US" dirty="0"/>
              <a:t>so we can again use heuristics to pick a likely candidate. maybe some variable that </a:t>
            </a:r>
            <a:r>
              <a:rPr lang="en-US" b="1" dirty="0"/>
              <a:t>interferes with a lot of others </a:t>
            </a:r>
            <a:r>
              <a:rPr lang="en-US" dirty="0"/>
              <a:t>but isn’t used much…</a:t>
            </a:r>
          </a:p>
        </p:txBody>
      </p:sp>
      <p:sp>
        <p:nvSpPr>
          <p:cNvPr id="4" name="Slide Number Placeholder 3">
            <a:extLst>
              <a:ext uri="{FF2B5EF4-FFF2-40B4-BE49-F238E27FC236}">
                <a16:creationId xmlns:a16="http://schemas.microsoft.com/office/drawing/2014/main" id="{C3638160-20CE-564A-AB20-F9FE6CD60144}"/>
              </a:ext>
            </a:extLst>
          </p:cNvPr>
          <p:cNvSpPr>
            <a:spLocks noGrp="1"/>
          </p:cNvSpPr>
          <p:nvPr>
            <p:ph type="sldNum" sz="quarter" idx="12"/>
          </p:nvPr>
        </p:nvSpPr>
        <p:spPr/>
        <p:txBody>
          <a:bodyPr/>
          <a:lstStyle/>
          <a:p>
            <a:fld id="{3552B95B-556F-44BD-91A5-D80C1B9E2BB3}" type="slidenum">
              <a:rPr lang="en-US" smtClean="0"/>
              <a:pPr/>
              <a:t>31</a:t>
            </a:fld>
            <a:endParaRPr lang="en-US"/>
          </a:p>
        </p:txBody>
      </p:sp>
      <p:sp>
        <p:nvSpPr>
          <p:cNvPr id="6" name="Rectangle 5">
            <a:extLst>
              <a:ext uri="{FF2B5EF4-FFF2-40B4-BE49-F238E27FC236}">
                <a16:creationId xmlns:a16="http://schemas.microsoft.com/office/drawing/2014/main" id="{D3A73C47-10D0-814B-B8AE-15330894078D}"/>
              </a:ext>
            </a:extLst>
          </p:cNvPr>
          <p:cNvSpPr/>
          <p:nvPr/>
        </p:nvSpPr>
        <p:spPr>
          <a:xfrm>
            <a:off x="1441281" y="1931946"/>
            <a:ext cx="4378746" cy="3139321"/>
          </a:xfrm>
          <a:prstGeom prst="rect">
            <a:avLst/>
          </a:prstGeom>
        </p:spPr>
        <p:txBody>
          <a:bodyPr wrap="square">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has</a:t>
            </a:r>
            <a:r>
              <a:rPr lang="en-US" sz="1600" b="1" dirty="0">
                <a:latin typeface="Consolas" panose="020B0609020204030204" pitchFamily="49" charset="0"/>
                <a:cs typeface="Consolas" panose="020B0609020204030204" pitchFamily="49" charset="0"/>
              </a:rPr>
              <a:t>(l: List, </a:t>
            </a:r>
            <a:r>
              <a:rPr lang="en-US" sz="1600" b="1" dirty="0" err="1">
                <a:latin typeface="Consolas" panose="020B0609020204030204" pitchFamily="49" charset="0"/>
                <a:cs typeface="Consolas" panose="020B0609020204030204" pitchFamily="49" charset="0"/>
              </a:rPr>
              <a:t>val</a:t>
            </a:r>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int</a:t>
            </a:r>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bool</a:t>
            </a:r>
            <a:r>
              <a:rPr lang="en-US" sz="1600" b="1" dirty="0">
                <a:latin typeface="Consolas" panose="020B0609020204030204" pitchFamily="49" charset="0"/>
                <a:cs typeface="Consolas" panose="020B0609020204030204" pitchFamily="49" charset="0"/>
              </a:rPr>
              <a:t> </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n = </a:t>
            </a:r>
            <a:r>
              <a:rPr lang="en-US" sz="1800" b="1" dirty="0" err="1">
                <a:latin typeface="Consolas" panose="020B0609020204030204" pitchFamily="49" charset="0"/>
                <a:cs typeface="Consolas" panose="020B0609020204030204" pitchFamily="49" charset="0"/>
              </a:rPr>
              <a:t>l.length</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found = </a:t>
            </a:r>
            <a:r>
              <a:rPr lang="en-US" sz="1800" b="1" dirty="0">
                <a:solidFill>
                  <a:srgbClr val="FF0000"/>
                </a:solidFill>
                <a:latin typeface="Consolas" panose="020B0609020204030204" pitchFamily="49" charset="0"/>
                <a:cs typeface="Consolas" panose="020B0609020204030204" pitchFamily="49" charset="0"/>
              </a:rPr>
              <a:t>false</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for</a:t>
            </a:r>
            <a:r>
              <a:rPr lang="en-US" sz="1800" b="1" dirty="0">
                <a:latin typeface="Consolas" panose="020B0609020204030204" pitchFamily="49" charset="0"/>
                <a:cs typeface="Consolas" panose="020B0609020204030204" pitchFamily="49" charset="0"/>
              </a:rPr>
              <a:t> i </a:t>
            </a:r>
            <a:r>
              <a:rPr lang="en-US" sz="1800" b="1" dirty="0">
                <a:solidFill>
                  <a:srgbClr val="FF0000"/>
                </a:solidFill>
                <a:latin typeface="Consolas" panose="020B0609020204030204" pitchFamily="49" charset="0"/>
                <a:cs typeface="Consolas" panose="020B0609020204030204" pitchFamily="49" charset="0"/>
              </a:rPr>
              <a:t>in</a:t>
            </a:r>
            <a:r>
              <a:rPr lang="en-US" sz="1800" b="1" dirty="0">
                <a:latin typeface="Consolas" panose="020B0609020204030204" pitchFamily="49" charset="0"/>
                <a:cs typeface="Consolas" panose="020B0609020204030204" pitchFamily="49" charset="0"/>
              </a:rPr>
              <a:t>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 n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obj</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l.get</a:t>
            </a:r>
            <a:r>
              <a:rPr lang="en-US" sz="1800" b="1" dirty="0">
                <a:latin typeface="Consolas" panose="020B0609020204030204" pitchFamily="49" charset="0"/>
                <a:cs typeface="Consolas" panose="020B0609020204030204" pitchFamily="49" charset="0"/>
              </a:rPr>
              <a:t>(i);</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obj.value</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val</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found = </a:t>
            </a:r>
            <a:r>
              <a:rPr lang="en-US" sz="1800" b="1" dirty="0">
                <a:solidFill>
                  <a:srgbClr val="FF0000"/>
                </a:solidFill>
                <a:latin typeface="Consolas" panose="020B0609020204030204" pitchFamily="49" charset="0"/>
                <a:cs typeface="Consolas" panose="020B0609020204030204" pitchFamily="49" charset="0"/>
              </a:rPr>
              <a:t>true</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return</a:t>
            </a:r>
            <a:r>
              <a:rPr lang="en-US" sz="1800" b="1" dirty="0">
                <a:latin typeface="Consolas" panose="020B0609020204030204" pitchFamily="49" charset="0"/>
                <a:cs typeface="Consolas" panose="020B0609020204030204" pitchFamily="49" charset="0"/>
              </a:rPr>
              <a:t> found;</a:t>
            </a:r>
          </a:p>
          <a:p>
            <a:r>
              <a:rPr lang="en-US" sz="1800" b="1" dirty="0">
                <a:latin typeface="Consolas" panose="020B0609020204030204" pitchFamily="49" charset="0"/>
                <a:cs typeface="Consolas" panose="020B0609020204030204" pitchFamily="49" charset="0"/>
              </a:rPr>
              <a:t>}</a:t>
            </a:r>
          </a:p>
        </p:txBody>
      </p:sp>
      <p:grpSp>
        <p:nvGrpSpPr>
          <p:cNvPr id="7" name="Group 6">
            <a:extLst>
              <a:ext uri="{FF2B5EF4-FFF2-40B4-BE49-F238E27FC236}">
                <a16:creationId xmlns:a16="http://schemas.microsoft.com/office/drawing/2014/main" id="{5E48ACC9-A6E2-8341-8A97-5531E0BF7892}"/>
              </a:ext>
            </a:extLst>
          </p:cNvPr>
          <p:cNvGrpSpPr/>
          <p:nvPr/>
        </p:nvGrpSpPr>
        <p:grpSpPr>
          <a:xfrm>
            <a:off x="1145045" y="1815415"/>
            <a:ext cx="308418" cy="2478731"/>
            <a:chOff x="4392818" y="1887648"/>
            <a:chExt cx="308418" cy="2478731"/>
          </a:xfrm>
        </p:grpSpPr>
        <p:cxnSp>
          <p:nvCxnSpPr>
            <p:cNvPr id="23" name="Straight Connector 22">
              <a:extLst>
                <a:ext uri="{FF2B5EF4-FFF2-40B4-BE49-F238E27FC236}">
                  <a16:creationId xmlns:a16="http://schemas.microsoft.com/office/drawing/2014/main" id="{85B1CADF-426E-1B46-8857-CAD91FA74440}"/>
                </a:ext>
              </a:extLst>
            </p:cNvPr>
            <p:cNvCxnSpPr>
              <a:cxnSpLocks/>
            </p:cNvCxnSpPr>
            <p:nvPr/>
          </p:nvCxnSpPr>
          <p:spPr>
            <a:xfrm>
              <a:off x="4553265" y="2224342"/>
              <a:ext cx="0" cy="2142037"/>
            </a:xfrm>
            <a:prstGeom prst="line">
              <a:avLst/>
            </a:prstGeom>
            <a:ln w="38100">
              <a:solidFill>
                <a:srgbClr val="FF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D689D5C-12E4-F745-84F8-E39CDD7182B3}"/>
                </a:ext>
              </a:extLst>
            </p:cNvPr>
            <p:cNvSpPr txBox="1"/>
            <p:nvPr/>
          </p:nvSpPr>
          <p:spPr>
            <a:xfrm rot="16200000">
              <a:off x="4405001" y="1875465"/>
              <a:ext cx="284052" cy="308418"/>
            </a:xfrm>
            <a:prstGeom prst="rect">
              <a:avLst/>
            </a:prstGeom>
            <a:noFill/>
          </p:spPr>
          <p:txBody>
            <a:bodyPr wrap="none" rtlCol="0">
              <a:spAutoFit/>
            </a:bodyPr>
            <a:lstStyle/>
            <a:p>
              <a:r>
                <a:rPr lang="en-US" b="1" dirty="0">
                  <a:solidFill>
                    <a:srgbClr val="FF0000"/>
                  </a:solidFill>
                  <a:latin typeface="Consolas" panose="020B0609020204030204" pitchFamily="49" charset="0"/>
                  <a:cs typeface="Consolas" panose="020B0609020204030204" pitchFamily="49" charset="0"/>
                </a:rPr>
                <a:t>l</a:t>
              </a:r>
            </a:p>
          </p:txBody>
        </p:sp>
      </p:grpSp>
      <p:grpSp>
        <p:nvGrpSpPr>
          <p:cNvPr id="8" name="Group 7">
            <a:extLst>
              <a:ext uri="{FF2B5EF4-FFF2-40B4-BE49-F238E27FC236}">
                <a16:creationId xmlns:a16="http://schemas.microsoft.com/office/drawing/2014/main" id="{7D649ABA-1389-C741-A628-830F120C99D4}"/>
              </a:ext>
            </a:extLst>
          </p:cNvPr>
          <p:cNvGrpSpPr/>
          <p:nvPr/>
        </p:nvGrpSpPr>
        <p:grpSpPr>
          <a:xfrm>
            <a:off x="939609" y="1616643"/>
            <a:ext cx="308418" cy="2677503"/>
            <a:chOff x="4187382" y="1688876"/>
            <a:chExt cx="308418" cy="2677503"/>
          </a:xfrm>
        </p:grpSpPr>
        <p:cxnSp>
          <p:nvCxnSpPr>
            <p:cNvPr id="21" name="Straight Connector 20">
              <a:extLst>
                <a:ext uri="{FF2B5EF4-FFF2-40B4-BE49-F238E27FC236}">
                  <a16:creationId xmlns:a16="http://schemas.microsoft.com/office/drawing/2014/main" id="{3D561B13-206C-3447-BDAC-CE4F56133E90}"/>
                </a:ext>
              </a:extLst>
            </p:cNvPr>
            <p:cNvCxnSpPr>
              <a:cxnSpLocks/>
            </p:cNvCxnSpPr>
            <p:nvPr/>
          </p:nvCxnSpPr>
          <p:spPr>
            <a:xfrm>
              <a:off x="4347829" y="2224342"/>
              <a:ext cx="0" cy="2142037"/>
            </a:xfrm>
            <a:prstGeom prst="line">
              <a:avLst/>
            </a:prstGeom>
            <a:ln w="38100">
              <a:solidFill>
                <a:schemeClr val="accent6">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BC0C97F-8EF2-B64F-BD91-A8443451385B}"/>
                </a:ext>
              </a:extLst>
            </p:cNvPr>
            <p:cNvSpPr txBox="1"/>
            <p:nvPr/>
          </p:nvSpPr>
          <p:spPr>
            <a:xfrm rot="16200000">
              <a:off x="4100179" y="1776079"/>
              <a:ext cx="482824" cy="308418"/>
            </a:xfrm>
            <a:prstGeom prst="rect">
              <a:avLst/>
            </a:prstGeom>
            <a:noFill/>
          </p:spPr>
          <p:txBody>
            <a:bodyPr wrap="none" rtlCol="0">
              <a:spAutoFit/>
            </a:bodyPr>
            <a:lstStyle/>
            <a:p>
              <a:r>
                <a:rPr lang="en-US" b="1" dirty="0" err="1">
                  <a:solidFill>
                    <a:schemeClr val="accent6">
                      <a:lumMod val="75000"/>
                    </a:schemeClr>
                  </a:solidFill>
                  <a:latin typeface="Consolas" panose="020B0609020204030204" pitchFamily="49" charset="0"/>
                  <a:cs typeface="Consolas" panose="020B0609020204030204" pitchFamily="49" charset="0"/>
                </a:rPr>
                <a:t>val</a:t>
              </a:r>
              <a:endParaRPr lang="en-US" b="1" dirty="0">
                <a:solidFill>
                  <a:schemeClr val="accent6">
                    <a:lumMod val="75000"/>
                  </a:schemeClr>
                </a:solidFill>
                <a:latin typeface="Consolas" panose="020B0609020204030204" pitchFamily="49" charset="0"/>
                <a:cs typeface="Consolas" panose="020B0609020204030204" pitchFamily="49" charset="0"/>
              </a:endParaRPr>
            </a:p>
          </p:txBody>
        </p:sp>
      </p:grpSp>
      <p:grpSp>
        <p:nvGrpSpPr>
          <p:cNvPr id="9" name="Group 8">
            <a:extLst>
              <a:ext uri="{FF2B5EF4-FFF2-40B4-BE49-F238E27FC236}">
                <a16:creationId xmlns:a16="http://schemas.microsoft.com/office/drawing/2014/main" id="{5048E153-8BAD-EC49-8613-6A6667ED6295}"/>
              </a:ext>
            </a:extLst>
          </p:cNvPr>
          <p:cNvGrpSpPr/>
          <p:nvPr/>
        </p:nvGrpSpPr>
        <p:grpSpPr>
          <a:xfrm>
            <a:off x="695011" y="2010083"/>
            <a:ext cx="308418" cy="912463"/>
            <a:chOff x="3942784" y="2082316"/>
            <a:chExt cx="308418" cy="912463"/>
          </a:xfrm>
        </p:grpSpPr>
        <p:cxnSp>
          <p:nvCxnSpPr>
            <p:cNvPr id="19" name="Straight Connector 18">
              <a:extLst>
                <a:ext uri="{FF2B5EF4-FFF2-40B4-BE49-F238E27FC236}">
                  <a16:creationId xmlns:a16="http://schemas.microsoft.com/office/drawing/2014/main" id="{0E62E930-D3CA-704E-8544-7D315BBDCBE6}"/>
                </a:ext>
              </a:extLst>
            </p:cNvPr>
            <p:cNvCxnSpPr>
              <a:cxnSpLocks/>
            </p:cNvCxnSpPr>
            <p:nvPr/>
          </p:nvCxnSpPr>
          <p:spPr>
            <a:xfrm>
              <a:off x="4122847" y="2461379"/>
              <a:ext cx="0" cy="533400"/>
            </a:xfrm>
            <a:prstGeom prst="line">
              <a:avLst/>
            </a:prstGeom>
            <a:ln w="38100">
              <a:solidFill>
                <a:srgbClr val="FFC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788AE7F-B748-384B-9FCF-F9AE304D47C7}"/>
                </a:ext>
              </a:extLst>
            </p:cNvPr>
            <p:cNvSpPr txBox="1"/>
            <p:nvPr/>
          </p:nvSpPr>
          <p:spPr>
            <a:xfrm rot="16200000">
              <a:off x="3954967" y="2070133"/>
              <a:ext cx="284052" cy="308418"/>
            </a:xfrm>
            <a:prstGeom prst="rect">
              <a:avLst/>
            </a:prstGeom>
            <a:noFill/>
          </p:spPr>
          <p:txBody>
            <a:bodyPr wrap="square" rtlCol="0">
              <a:spAutoFit/>
            </a:bodyPr>
            <a:lstStyle/>
            <a:p>
              <a:r>
                <a:rPr lang="en-US" b="1" dirty="0">
                  <a:solidFill>
                    <a:srgbClr val="FFC000"/>
                  </a:solidFill>
                  <a:latin typeface="Consolas" panose="020B0609020204030204" pitchFamily="49" charset="0"/>
                  <a:cs typeface="Consolas" panose="020B0609020204030204" pitchFamily="49" charset="0"/>
                </a:rPr>
                <a:t>n</a:t>
              </a:r>
            </a:p>
          </p:txBody>
        </p:sp>
      </p:grpSp>
      <p:grpSp>
        <p:nvGrpSpPr>
          <p:cNvPr id="10" name="Group 9">
            <a:extLst>
              <a:ext uri="{FF2B5EF4-FFF2-40B4-BE49-F238E27FC236}">
                <a16:creationId xmlns:a16="http://schemas.microsoft.com/office/drawing/2014/main" id="{052E0F96-2002-5146-8684-7856B91AA0B7}"/>
              </a:ext>
            </a:extLst>
          </p:cNvPr>
          <p:cNvGrpSpPr/>
          <p:nvPr/>
        </p:nvGrpSpPr>
        <p:grpSpPr>
          <a:xfrm>
            <a:off x="509076" y="1831525"/>
            <a:ext cx="308418" cy="2706342"/>
            <a:chOff x="3756849" y="1903758"/>
            <a:chExt cx="308418" cy="2706342"/>
          </a:xfrm>
        </p:grpSpPr>
        <p:cxnSp>
          <p:nvCxnSpPr>
            <p:cNvPr id="17" name="Straight Connector 16">
              <a:extLst>
                <a:ext uri="{FF2B5EF4-FFF2-40B4-BE49-F238E27FC236}">
                  <a16:creationId xmlns:a16="http://schemas.microsoft.com/office/drawing/2014/main" id="{9A8D29D2-A9D2-EB4D-BEFB-A1ABA9DFA1E3}"/>
                </a:ext>
              </a:extLst>
            </p:cNvPr>
            <p:cNvCxnSpPr>
              <a:cxnSpLocks/>
            </p:cNvCxnSpPr>
            <p:nvPr/>
          </p:nvCxnSpPr>
          <p:spPr>
            <a:xfrm>
              <a:off x="3918835" y="2698416"/>
              <a:ext cx="0" cy="1911684"/>
            </a:xfrm>
            <a:prstGeom prst="line">
              <a:avLst/>
            </a:prstGeom>
            <a:ln w="38100">
              <a:solidFill>
                <a:srgbClr val="00B05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CBE500E-C2DE-1649-A0DA-083073DC8051}"/>
                </a:ext>
              </a:extLst>
            </p:cNvPr>
            <p:cNvSpPr txBox="1"/>
            <p:nvPr/>
          </p:nvSpPr>
          <p:spPr>
            <a:xfrm rot="16200000">
              <a:off x="3570259" y="2090348"/>
              <a:ext cx="681597" cy="308418"/>
            </a:xfrm>
            <a:prstGeom prst="rect">
              <a:avLst/>
            </a:prstGeom>
            <a:noFill/>
          </p:spPr>
          <p:txBody>
            <a:bodyPr wrap="none" rtlCol="0">
              <a:spAutoFit/>
            </a:bodyPr>
            <a:lstStyle/>
            <a:p>
              <a:r>
                <a:rPr lang="en-US" b="1" dirty="0">
                  <a:solidFill>
                    <a:srgbClr val="00B050"/>
                  </a:solidFill>
                  <a:latin typeface="Consolas" panose="020B0609020204030204" pitchFamily="49" charset="0"/>
                  <a:cs typeface="Consolas" panose="020B0609020204030204" pitchFamily="49" charset="0"/>
                </a:rPr>
                <a:t>found</a:t>
              </a:r>
            </a:p>
          </p:txBody>
        </p:sp>
      </p:grpSp>
      <p:grpSp>
        <p:nvGrpSpPr>
          <p:cNvPr id="11" name="Group 10">
            <a:extLst>
              <a:ext uri="{FF2B5EF4-FFF2-40B4-BE49-F238E27FC236}">
                <a16:creationId xmlns:a16="http://schemas.microsoft.com/office/drawing/2014/main" id="{A43788D5-4A78-2F4E-ABF0-1AB2ED8BD0D5}"/>
              </a:ext>
            </a:extLst>
          </p:cNvPr>
          <p:cNvGrpSpPr/>
          <p:nvPr/>
        </p:nvGrpSpPr>
        <p:grpSpPr>
          <a:xfrm>
            <a:off x="271166" y="2513820"/>
            <a:ext cx="308418" cy="1780326"/>
            <a:chOff x="3518939" y="2586053"/>
            <a:chExt cx="308418" cy="1780326"/>
          </a:xfrm>
        </p:grpSpPr>
        <p:cxnSp>
          <p:nvCxnSpPr>
            <p:cNvPr id="15" name="Straight Connector 14">
              <a:extLst>
                <a:ext uri="{FF2B5EF4-FFF2-40B4-BE49-F238E27FC236}">
                  <a16:creationId xmlns:a16="http://schemas.microsoft.com/office/drawing/2014/main" id="{D41DA361-B2C7-3243-88C7-ADFCA3898C87}"/>
                </a:ext>
              </a:extLst>
            </p:cNvPr>
            <p:cNvCxnSpPr>
              <a:cxnSpLocks/>
            </p:cNvCxnSpPr>
            <p:nvPr/>
          </p:nvCxnSpPr>
          <p:spPr>
            <a:xfrm>
              <a:off x="3680926" y="2994779"/>
              <a:ext cx="0" cy="1371600"/>
            </a:xfrm>
            <a:prstGeom prst="line">
              <a:avLst/>
            </a:prstGeom>
            <a:ln w="38100">
              <a:solidFill>
                <a:srgbClr val="0070C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F929A6D-557C-E644-9DC3-FE39491612E0}"/>
                </a:ext>
              </a:extLst>
            </p:cNvPr>
            <p:cNvSpPr txBox="1"/>
            <p:nvPr/>
          </p:nvSpPr>
          <p:spPr>
            <a:xfrm rot="16200000">
              <a:off x="3531122" y="2573870"/>
              <a:ext cx="284052" cy="308418"/>
            </a:xfrm>
            <a:prstGeom prst="rect">
              <a:avLst/>
            </a:prstGeom>
            <a:noFill/>
          </p:spPr>
          <p:txBody>
            <a:bodyPr wrap="none" rtlCol="0">
              <a:spAutoFit/>
            </a:bodyPr>
            <a:lstStyle/>
            <a:p>
              <a:r>
                <a:rPr lang="en-US" b="1" dirty="0">
                  <a:solidFill>
                    <a:srgbClr val="0070C0"/>
                  </a:solidFill>
                  <a:latin typeface="Consolas" panose="020B0609020204030204" pitchFamily="49" charset="0"/>
                  <a:cs typeface="Consolas" panose="020B0609020204030204" pitchFamily="49" charset="0"/>
                </a:rPr>
                <a:t>i</a:t>
              </a:r>
            </a:p>
          </p:txBody>
        </p:sp>
      </p:grpSp>
      <p:grpSp>
        <p:nvGrpSpPr>
          <p:cNvPr id="12" name="Group 11">
            <a:extLst>
              <a:ext uri="{FF2B5EF4-FFF2-40B4-BE49-F238E27FC236}">
                <a16:creationId xmlns:a16="http://schemas.microsoft.com/office/drawing/2014/main" id="{6E20592D-416B-0B4F-996D-5EA7129A6195}"/>
              </a:ext>
            </a:extLst>
          </p:cNvPr>
          <p:cNvGrpSpPr/>
          <p:nvPr/>
        </p:nvGrpSpPr>
        <p:grpSpPr>
          <a:xfrm>
            <a:off x="37699" y="2561000"/>
            <a:ext cx="308418" cy="986267"/>
            <a:chOff x="3285472" y="2633233"/>
            <a:chExt cx="308418" cy="986267"/>
          </a:xfrm>
        </p:grpSpPr>
        <p:cxnSp>
          <p:nvCxnSpPr>
            <p:cNvPr id="13" name="Straight Connector 12">
              <a:extLst>
                <a:ext uri="{FF2B5EF4-FFF2-40B4-BE49-F238E27FC236}">
                  <a16:creationId xmlns:a16="http://schemas.microsoft.com/office/drawing/2014/main" id="{73C0AC0E-02A2-B74B-BAB4-F86D2D438FA6}"/>
                </a:ext>
              </a:extLst>
            </p:cNvPr>
            <p:cNvCxnSpPr>
              <a:cxnSpLocks/>
            </p:cNvCxnSpPr>
            <p:nvPr/>
          </p:nvCxnSpPr>
          <p:spPr>
            <a:xfrm>
              <a:off x="3465534" y="3261643"/>
              <a:ext cx="0" cy="357857"/>
            </a:xfrm>
            <a:prstGeom prst="line">
              <a:avLst/>
            </a:prstGeom>
            <a:ln w="38100">
              <a:solidFill>
                <a:srgbClr val="7030A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41C621E-B4E4-B848-AD9E-101EC23A2C70}"/>
                </a:ext>
              </a:extLst>
            </p:cNvPr>
            <p:cNvSpPr txBox="1"/>
            <p:nvPr/>
          </p:nvSpPr>
          <p:spPr>
            <a:xfrm rot="16200000">
              <a:off x="3172981" y="2745724"/>
              <a:ext cx="533399" cy="308418"/>
            </a:xfrm>
            <a:prstGeom prst="rect">
              <a:avLst/>
            </a:prstGeom>
            <a:noFill/>
          </p:spPr>
          <p:txBody>
            <a:bodyPr wrap="square" rtlCol="0">
              <a:spAutoFit/>
            </a:bodyPr>
            <a:lstStyle/>
            <a:p>
              <a:r>
                <a:rPr lang="en-US" b="1" dirty="0" err="1">
                  <a:solidFill>
                    <a:srgbClr val="7030A0"/>
                  </a:solidFill>
                  <a:latin typeface="Consolas" panose="020B0609020204030204" pitchFamily="49" charset="0"/>
                  <a:cs typeface="Consolas" panose="020B0609020204030204" pitchFamily="49" charset="0"/>
                </a:rPr>
                <a:t>obj</a:t>
              </a:r>
              <a:endParaRPr lang="en-US" b="1" dirty="0">
                <a:solidFill>
                  <a:srgbClr val="7030A0"/>
                </a:solidFill>
                <a:latin typeface="Consolas" panose="020B0609020204030204" pitchFamily="49" charset="0"/>
                <a:cs typeface="Consolas" panose="020B0609020204030204" pitchFamily="49" charset="0"/>
              </a:endParaRPr>
            </a:p>
          </p:txBody>
        </p:sp>
      </p:grpSp>
      <p:sp>
        <p:nvSpPr>
          <p:cNvPr id="25" name="TextBox 24">
            <a:extLst>
              <a:ext uri="{FF2B5EF4-FFF2-40B4-BE49-F238E27FC236}">
                <a16:creationId xmlns:a16="http://schemas.microsoft.com/office/drawing/2014/main" id="{E0809018-A176-3149-894A-CF2A2BD8619E}"/>
              </a:ext>
            </a:extLst>
          </p:cNvPr>
          <p:cNvSpPr txBox="1"/>
          <p:nvPr/>
        </p:nvSpPr>
        <p:spPr>
          <a:xfrm>
            <a:off x="5412454" y="1714500"/>
            <a:ext cx="3639640" cy="769441"/>
          </a:xfrm>
          <a:prstGeom prst="rect">
            <a:avLst/>
          </a:prstGeom>
          <a:noFill/>
        </p:spPr>
        <p:txBody>
          <a:bodyPr wrap="square" rtlCol="0">
            <a:spAutoFit/>
          </a:bodyPr>
          <a:lstStyle/>
          <a:p>
            <a:pPr algn="ctr"/>
            <a:r>
              <a:rPr lang="en-US" sz="2200" dirty="0"/>
              <a:t>locals with </a:t>
            </a:r>
            <a:r>
              <a:rPr lang="en-US" sz="2200" b="1" dirty="0"/>
              <a:t>long live ranges</a:t>
            </a:r>
            <a:r>
              <a:rPr lang="en-US" sz="2200" dirty="0"/>
              <a:t> tend to interfere a lot.</a:t>
            </a:r>
            <a:endParaRPr lang="en-US" sz="2200" b="1" dirty="0">
              <a:solidFill>
                <a:srgbClr val="FF0000"/>
              </a:solidFill>
            </a:endParaRPr>
          </a:p>
        </p:txBody>
      </p:sp>
      <p:sp>
        <p:nvSpPr>
          <p:cNvPr id="26" name="TextBox 25">
            <a:extLst>
              <a:ext uri="{FF2B5EF4-FFF2-40B4-BE49-F238E27FC236}">
                <a16:creationId xmlns:a16="http://schemas.microsoft.com/office/drawing/2014/main" id="{FF078D40-9D07-934C-9634-0A7BE53E9798}"/>
              </a:ext>
            </a:extLst>
          </p:cNvPr>
          <p:cNvSpPr txBox="1"/>
          <p:nvPr/>
        </p:nvSpPr>
        <p:spPr>
          <a:xfrm>
            <a:off x="5257800" y="2575618"/>
            <a:ext cx="3794294" cy="1785104"/>
          </a:xfrm>
          <a:prstGeom prst="rect">
            <a:avLst/>
          </a:prstGeom>
          <a:noFill/>
        </p:spPr>
        <p:txBody>
          <a:bodyPr wrap="square" rtlCol="0">
            <a:spAutoFit/>
          </a:bodyPr>
          <a:lstStyle/>
          <a:p>
            <a:pPr algn="ctr"/>
            <a:r>
              <a:rPr lang="en-US" sz="2200" dirty="0"/>
              <a:t>we also have to consider things like loops – how many accesses to the local will happen because of the loop? can we estimate that?</a:t>
            </a:r>
            <a:endParaRPr lang="en-US" sz="2200" b="1" dirty="0">
              <a:solidFill>
                <a:srgbClr val="FF0000"/>
              </a:solidFill>
            </a:endParaRPr>
          </a:p>
        </p:txBody>
      </p:sp>
      <p:sp>
        <p:nvSpPr>
          <p:cNvPr id="28" name="TextBox 27">
            <a:extLst>
              <a:ext uri="{FF2B5EF4-FFF2-40B4-BE49-F238E27FC236}">
                <a16:creationId xmlns:a16="http://schemas.microsoft.com/office/drawing/2014/main" id="{14491E75-32D1-8B4E-83EF-FCD0FED518CA}"/>
              </a:ext>
            </a:extLst>
          </p:cNvPr>
          <p:cNvSpPr txBox="1"/>
          <p:nvPr/>
        </p:nvSpPr>
        <p:spPr>
          <a:xfrm>
            <a:off x="5257800" y="4481127"/>
            <a:ext cx="3794294" cy="769441"/>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found</a:t>
            </a:r>
            <a:r>
              <a:rPr lang="en-US" sz="2200" b="1" dirty="0"/>
              <a:t> </a:t>
            </a:r>
            <a:r>
              <a:rPr lang="en-US" sz="2200" dirty="0"/>
              <a:t>seems like a good spilling candidate here.</a:t>
            </a:r>
            <a:endParaRPr lang="en-US" sz="2200" b="1" dirty="0">
              <a:solidFill>
                <a:srgbClr val="FF0000"/>
              </a:solidFill>
            </a:endParaRPr>
          </a:p>
        </p:txBody>
      </p:sp>
    </p:spTree>
    <p:extLst>
      <p:ext uri="{BB962C8B-B14F-4D97-AF65-F5344CB8AC3E}">
        <p14:creationId xmlns:p14="http://schemas.microsoft.com/office/powerpoint/2010/main" val="18709378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 grpId="0"/>
      <p:bldP spid="26" grpId="0"/>
      <p:bldP spid="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9947-8324-3E4C-B5C4-28486CC833D6}"/>
              </a:ext>
            </a:extLst>
          </p:cNvPr>
          <p:cNvSpPr>
            <a:spLocks noGrp="1"/>
          </p:cNvSpPr>
          <p:nvPr>
            <p:ph type="title"/>
          </p:nvPr>
        </p:nvSpPr>
        <p:spPr/>
        <p:txBody>
          <a:bodyPr/>
          <a:lstStyle/>
          <a:p>
            <a:r>
              <a:rPr lang="en-US" dirty="0"/>
              <a:t>So how does it work?</a:t>
            </a:r>
          </a:p>
        </p:txBody>
      </p:sp>
      <p:sp>
        <p:nvSpPr>
          <p:cNvPr id="3" name="Content Placeholder 2">
            <a:extLst>
              <a:ext uri="{FF2B5EF4-FFF2-40B4-BE49-F238E27FC236}">
                <a16:creationId xmlns:a16="http://schemas.microsoft.com/office/drawing/2014/main" id="{3BB0EB6D-F481-634E-AA8E-46938A3FE50B}"/>
              </a:ext>
            </a:extLst>
          </p:cNvPr>
          <p:cNvSpPr>
            <a:spLocks noGrp="1"/>
          </p:cNvSpPr>
          <p:nvPr>
            <p:ph idx="1"/>
          </p:nvPr>
        </p:nvSpPr>
        <p:spPr/>
        <p:txBody>
          <a:bodyPr/>
          <a:lstStyle/>
          <a:p>
            <a:r>
              <a:rPr lang="en-US" dirty="0"/>
              <a:t>if we </a:t>
            </a:r>
            <a:r>
              <a:rPr lang="en-US" b="1" dirty="0"/>
              <a:t>get stuck </a:t>
            </a:r>
            <a:r>
              <a:rPr lang="en-US" dirty="0"/>
              <a:t>when removing nodes from the RIG…</a:t>
            </a:r>
          </a:p>
          <a:p>
            <a:pPr lvl="1"/>
            <a:r>
              <a:rPr lang="en-US" dirty="0"/>
              <a:t>we pick a local to </a:t>
            </a:r>
            <a:r>
              <a:rPr lang="en-US" i="1" dirty="0"/>
              <a:t>maybe </a:t>
            </a:r>
            <a:r>
              <a:rPr lang="en-US" dirty="0"/>
              <a:t>spill. </a:t>
            </a:r>
            <a:r>
              <a:rPr lang="en-US" b="1" dirty="0"/>
              <a:t>but we don’t spill it yet.</a:t>
            </a:r>
          </a:p>
          <a:p>
            <a:pPr lvl="1"/>
            <a:r>
              <a:rPr lang="en-US" dirty="0"/>
              <a:t>we push that node on the stack, </a:t>
            </a:r>
            <a:r>
              <a:rPr lang="en-US" b="1" dirty="0"/>
              <a:t>along with a note </a:t>
            </a:r>
            <a:r>
              <a:rPr lang="en-US" dirty="0"/>
              <a:t>that says, “maybe spill this?”</a:t>
            </a:r>
          </a:p>
          <a:p>
            <a:r>
              <a:rPr lang="en-US" dirty="0"/>
              <a:t>then, when we pop-and-color…</a:t>
            </a:r>
          </a:p>
          <a:p>
            <a:pPr lvl="1"/>
            <a:r>
              <a:rPr lang="en-US" dirty="0"/>
              <a:t>if we get to a maybe-spill entry on the stack...</a:t>
            </a:r>
          </a:p>
          <a:p>
            <a:pPr lvl="1"/>
            <a:r>
              <a:rPr lang="en-US" dirty="0"/>
              <a:t>AND that node cannot be colored…</a:t>
            </a:r>
          </a:p>
          <a:p>
            <a:pPr lvl="1"/>
            <a:r>
              <a:rPr lang="en-US" dirty="0"/>
              <a:t>then we know that we have to spill it, and we </a:t>
            </a:r>
            <a:r>
              <a:rPr lang="en-US" b="1" dirty="0"/>
              <a:t>rewrite the code!</a:t>
            </a:r>
          </a:p>
          <a:p>
            <a:r>
              <a:rPr lang="en-US" dirty="0"/>
              <a:t>why do we wait to rewrite until the pop-and-color phase?</a:t>
            </a:r>
          </a:p>
          <a:p>
            <a:pPr lvl="1"/>
            <a:r>
              <a:rPr lang="en-US" dirty="0"/>
              <a:t>because we’re just using </a:t>
            </a:r>
            <a:r>
              <a:rPr lang="en-US" b="1" dirty="0"/>
              <a:t>heuristics </a:t>
            </a:r>
            <a:r>
              <a:rPr lang="en-US" dirty="0"/>
              <a:t>here. it’s entirely possible that the graph </a:t>
            </a:r>
            <a:r>
              <a:rPr lang="en-US" i="1" dirty="0"/>
              <a:t>is </a:t>
            </a:r>
            <a:r>
              <a:rPr lang="en-US" dirty="0"/>
              <a:t>colorable when we remove a node with ≥ </a:t>
            </a:r>
            <a:r>
              <a:rPr lang="en-US" i="1" dirty="0"/>
              <a:t>r</a:t>
            </a:r>
            <a:r>
              <a:rPr lang="en-US" dirty="0"/>
              <a:t> neighbors! so, we have to be conservative.</a:t>
            </a:r>
          </a:p>
        </p:txBody>
      </p:sp>
      <p:sp>
        <p:nvSpPr>
          <p:cNvPr id="4" name="Slide Number Placeholder 3">
            <a:extLst>
              <a:ext uri="{FF2B5EF4-FFF2-40B4-BE49-F238E27FC236}">
                <a16:creationId xmlns:a16="http://schemas.microsoft.com/office/drawing/2014/main" id="{C6732DE3-91B3-EC46-9347-EFE63D3C7E69}"/>
              </a:ext>
            </a:extLst>
          </p:cNvPr>
          <p:cNvSpPr>
            <a:spLocks noGrp="1"/>
          </p:cNvSpPr>
          <p:nvPr>
            <p:ph type="sldNum" sz="quarter" idx="12"/>
          </p:nvPr>
        </p:nvSpPr>
        <p:spPr/>
        <p:txBody>
          <a:bodyPr/>
          <a:lstStyle/>
          <a:p>
            <a:fld id="{3552B95B-556F-44BD-91A5-D80C1B9E2BB3}" type="slidenum">
              <a:rPr lang="en-US" smtClean="0"/>
              <a:pPr/>
              <a:t>32</a:t>
            </a:fld>
            <a:endParaRPr lang="en-US"/>
          </a:p>
        </p:txBody>
      </p:sp>
    </p:spTree>
    <p:extLst>
      <p:ext uri="{BB962C8B-B14F-4D97-AF65-F5344CB8AC3E}">
        <p14:creationId xmlns:p14="http://schemas.microsoft.com/office/powerpoint/2010/main" val="19706873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FCCB1-6FF2-E048-8DCA-2CF9E30D56EB}"/>
              </a:ext>
            </a:extLst>
          </p:cNvPr>
          <p:cNvSpPr>
            <a:spLocks noGrp="1"/>
          </p:cNvSpPr>
          <p:nvPr>
            <p:ph type="title"/>
          </p:nvPr>
        </p:nvSpPr>
        <p:spPr/>
        <p:txBody>
          <a:bodyPr/>
          <a:lstStyle/>
          <a:p>
            <a:r>
              <a:rPr lang="en-US" dirty="0"/>
              <a:t>How the code is rewritten</a:t>
            </a:r>
          </a:p>
        </p:txBody>
      </p:sp>
      <p:sp>
        <p:nvSpPr>
          <p:cNvPr id="3" name="Content Placeholder 2">
            <a:extLst>
              <a:ext uri="{FF2B5EF4-FFF2-40B4-BE49-F238E27FC236}">
                <a16:creationId xmlns:a16="http://schemas.microsoft.com/office/drawing/2014/main" id="{A8627EC1-42C5-1C4B-BAA4-756CACFBD319}"/>
              </a:ext>
            </a:extLst>
          </p:cNvPr>
          <p:cNvSpPr>
            <a:spLocks noGrp="1"/>
          </p:cNvSpPr>
          <p:nvPr>
            <p:ph idx="1"/>
          </p:nvPr>
        </p:nvSpPr>
        <p:spPr>
          <a:xfrm>
            <a:off x="152400" y="495301"/>
            <a:ext cx="8991600" cy="1142999"/>
          </a:xfrm>
        </p:spPr>
        <p:txBody>
          <a:bodyPr/>
          <a:lstStyle/>
          <a:p>
            <a:r>
              <a:rPr lang="en-US" dirty="0"/>
              <a:t>in our IR, we might add new instructions to represent loads/stores.</a:t>
            </a:r>
          </a:p>
          <a:p>
            <a:r>
              <a:rPr lang="en-US" dirty="0"/>
              <a:t>then, each use and def of the spilled variable is replaced with loads and stores to the stack.</a:t>
            </a:r>
          </a:p>
        </p:txBody>
      </p:sp>
      <p:sp>
        <p:nvSpPr>
          <p:cNvPr id="4" name="Slide Number Placeholder 3">
            <a:extLst>
              <a:ext uri="{FF2B5EF4-FFF2-40B4-BE49-F238E27FC236}">
                <a16:creationId xmlns:a16="http://schemas.microsoft.com/office/drawing/2014/main" id="{AB1F8230-B357-E249-8C5E-5C89A22FE146}"/>
              </a:ext>
            </a:extLst>
          </p:cNvPr>
          <p:cNvSpPr>
            <a:spLocks noGrp="1"/>
          </p:cNvSpPr>
          <p:nvPr>
            <p:ph type="sldNum" sz="quarter" idx="12"/>
          </p:nvPr>
        </p:nvSpPr>
        <p:spPr/>
        <p:txBody>
          <a:bodyPr/>
          <a:lstStyle/>
          <a:p>
            <a:fld id="{3552B95B-556F-44BD-91A5-D80C1B9E2BB3}" type="slidenum">
              <a:rPr lang="en-US" smtClean="0"/>
              <a:pPr/>
              <a:t>33</a:t>
            </a:fld>
            <a:endParaRPr lang="en-US"/>
          </a:p>
        </p:txBody>
      </p:sp>
      <p:sp>
        <p:nvSpPr>
          <p:cNvPr id="5" name="Rectangle 4">
            <a:extLst>
              <a:ext uri="{FF2B5EF4-FFF2-40B4-BE49-F238E27FC236}">
                <a16:creationId xmlns:a16="http://schemas.microsoft.com/office/drawing/2014/main" id="{D7DAD98A-35F0-6A46-BC6C-6AA7443E71A8}"/>
              </a:ext>
            </a:extLst>
          </p:cNvPr>
          <p:cNvSpPr/>
          <p:nvPr/>
        </p:nvSpPr>
        <p:spPr>
          <a:xfrm>
            <a:off x="1096987" y="1790700"/>
            <a:ext cx="2250665"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found = </a:t>
            </a:r>
            <a:r>
              <a:rPr lang="en-US" sz="2200" b="1" dirty="0">
                <a:solidFill>
                  <a:srgbClr val="FF0000"/>
                </a:solidFill>
                <a:latin typeface="Consolas" panose="020B0609020204030204" pitchFamily="49" charset="0"/>
                <a:cs typeface="Consolas" panose="020B0609020204030204" pitchFamily="49" charset="0"/>
              </a:rPr>
              <a:t>false</a:t>
            </a:r>
          </a:p>
        </p:txBody>
      </p:sp>
      <p:sp>
        <p:nvSpPr>
          <p:cNvPr id="6" name="Down Arrow 5">
            <a:extLst>
              <a:ext uri="{FF2B5EF4-FFF2-40B4-BE49-F238E27FC236}">
                <a16:creationId xmlns:a16="http://schemas.microsoft.com/office/drawing/2014/main" id="{04718DF2-319C-E543-8504-511BECCE0337}"/>
              </a:ext>
            </a:extLst>
          </p:cNvPr>
          <p:cNvSpPr/>
          <p:nvPr/>
        </p:nvSpPr>
        <p:spPr>
          <a:xfrm rot="16200000">
            <a:off x="3677297" y="1701342"/>
            <a:ext cx="609600" cy="6096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2E95BB1-804B-FB47-B936-3201D7FBAF08}"/>
              </a:ext>
            </a:extLst>
          </p:cNvPr>
          <p:cNvSpPr/>
          <p:nvPr/>
        </p:nvSpPr>
        <p:spPr>
          <a:xfrm>
            <a:off x="4573228" y="1621422"/>
            <a:ext cx="3427772" cy="769441"/>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found_1 = </a:t>
            </a:r>
            <a:r>
              <a:rPr lang="en-US" sz="2200" b="1" dirty="0">
                <a:solidFill>
                  <a:srgbClr val="FF0000"/>
                </a:solidFill>
                <a:latin typeface="Consolas" panose="020B0609020204030204" pitchFamily="49" charset="0"/>
                <a:cs typeface="Consolas" panose="020B0609020204030204" pitchFamily="49" charset="0"/>
              </a:rPr>
              <a:t>false</a:t>
            </a:r>
          </a:p>
          <a:p>
            <a:r>
              <a:rPr lang="en-US" sz="2200" b="1" dirty="0">
                <a:solidFill>
                  <a:srgbClr val="FF0000"/>
                </a:solidFill>
                <a:latin typeface="Consolas" panose="020B0609020204030204" pitchFamily="49" charset="0"/>
                <a:cs typeface="Consolas" panose="020B0609020204030204" pitchFamily="49" charset="0"/>
              </a:rPr>
              <a:t>Store</a:t>
            </a:r>
            <a:r>
              <a:rPr lang="en-US" sz="2200" b="1" dirty="0">
                <a:latin typeface="Consolas" panose="020B0609020204030204" pitchFamily="49" charset="0"/>
                <a:cs typeface="Consolas" panose="020B0609020204030204" pitchFamily="49" charset="0"/>
              </a:rPr>
              <a:t>(fp-12, found_1)</a:t>
            </a:r>
          </a:p>
        </p:txBody>
      </p:sp>
      <p:sp>
        <p:nvSpPr>
          <p:cNvPr id="8" name="Rectangle 7">
            <a:extLst>
              <a:ext uri="{FF2B5EF4-FFF2-40B4-BE49-F238E27FC236}">
                <a16:creationId xmlns:a16="http://schemas.microsoft.com/office/drawing/2014/main" id="{90172C1B-A220-A040-9EA1-AAA82A1B7CFA}"/>
              </a:ext>
            </a:extLst>
          </p:cNvPr>
          <p:cNvSpPr/>
          <p:nvPr/>
        </p:nvSpPr>
        <p:spPr>
          <a:xfrm>
            <a:off x="1096987" y="2721978"/>
            <a:ext cx="2250665"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found = </a:t>
            </a:r>
            <a:r>
              <a:rPr lang="en-US" sz="2200" b="1" dirty="0">
                <a:solidFill>
                  <a:srgbClr val="FF0000"/>
                </a:solidFill>
                <a:latin typeface="Consolas" panose="020B0609020204030204" pitchFamily="49" charset="0"/>
                <a:cs typeface="Consolas" panose="020B0609020204030204" pitchFamily="49" charset="0"/>
              </a:rPr>
              <a:t>true</a:t>
            </a:r>
          </a:p>
        </p:txBody>
      </p:sp>
      <p:sp>
        <p:nvSpPr>
          <p:cNvPr id="9" name="Down Arrow 8">
            <a:extLst>
              <a:ext uri="{FF2B5EF4-FFF2-40B4-BE49-F238E27FC236}">
                <a16:creationId xmlns:a16="http://schemas.microsoft.com/office/drawing/2014/main" id="{6CDBB5CB-7BE4-9744-BA54-0F1AC5428ECE}"/>
              </a:ext>
            </a:extLst>
          </p:cNvPr>
          <p:cNvSpPr/>
          <p:nvPr/>
        </p:nvSpPr>
        <p:spPr>
          <a:xfrm rot="16200000">
            <a:off x="3677297" y="2632620"/>
            <a:ext cx="609600" cy="6096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8FCEC15-5FC9-3743-9371-6E0EA1BCA47F}"/>
              </a:ext>
            </a:extLst>
          </p:cNvPr>
          <p:cNvSpPr/>
          <p:nvPr/>
        </p:nvSpPr>
        <p:spPr>
          <a:xfrm>
            <a:off x="4573228" y="2552700"/>
            <a:ext cx="3427772" cy="769441"/>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found_2 = </a:t>
            </a:r>
            <a:r>
              <a:rPr lang="en-US" sz="2200" b="1" dirty="0">
                <a:solidFill>
                  <a:srgbClr val="FF0000"/>
                </a:solidFill>
                <a:latin typeface="Consolas" panose="020B0609020204030204" pitchFamily="49" charset="0"/>
                <a:cs typeface="Consolas" panose="020B0609020204030204" pitchFamily="49" charset="0"/>
              </a:rPr>
              <a:t>true</a:t>
            </a:r>
          </a:p>
          <a:p>
            <a:r>
              <a:rPr lang="en-US" sz="2200" b="1" dirty="0">
                <a:solidFill>
                  <a:srgbClr val="FF0000"/>
                </a:solidFill>
                <a:latin typeface="Consolas" panose="020B0609020204030204" pitchFamily="49" charset="0"/>
                <a:cs typeface="Consolas" panose="020B0609020204030204" pitchFamily="49" charset="0"/>
              </a:rPr>
              <a:t>Store</a:t>
            </a:r>
            <a:r>
              <a:rPr lang="en-US" sz="2200" b="1" dirty="0">
                <a:latin typeface="Consolas" panose="020B0609020204030204" pitchFamily="49" charset="0"/>
                <a:cs typeface="Consolas" panose="020B0609020204030204" pitchFamily="49" charset="0"/>
              </a:rPr>
              <a:t>(fp-12, found_2)</a:t>
            </a:r>
          </a:p>
        </p:txBody>
      </p:sp>
      <p:sp>
        <p:nvSpPr>
          <p:cNvPr id="14" name="Rectangle 13">
            <a:extLst>
              <a:ext uri="{FF2B5EF4-FFF2-40B4-BE49-F238E27FC236}">
                <a16:creationId xmlns:a16="http://schemas.microsoft.com/office/drawing/2014/main" id="{1EDAD663-E8E2-1C48-B9EC-F24CD4B6506F}"/>
              </a:ext>
            </a:extLst>
          </p:cNvPr>
          <p:cNvSpPr/>
          <p:nvPr/>
        </p:nvSpPr>
        <p:spPr>
          <a:xfrm>
            <a:off x="1096987" y="3628938"/>
            <a:ext cx="2250665"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$t0 = found</a:t>
            </a:r>
            <a:endParaRPr lang="en-US" sz="2200" b="1" dirty="0">
              <a:solidFill>
                <a:srgbClr val="FF0000"/>
              </a:solidFill>
              <a:latin typeface="Consolas" panose="020B0609020204030204" pitchFamily="49" charset="0"/>
              <a:cs typeface="Consolas" panose="020B0609020204030204" pitchFamily="49" charset="0"/>
            </a:endParaRPr>
          </a:p>
        </p:txBody>
      </p:sp>
      <p:sp>
        <p:nvSpPr>
          <p:cNvPr id="15" name="Down Arrow 14">
            <a:extLst>
              <a:ext uri="{FF2B5EF4-FFF2-40B4-BE49-F238E27FC236}">
                <a16:creationId xmlns:a16="http://schemas.microsoft.com/office/drawing/2014/main" id="{A86A1448-C45E-AE41-8672-192C77FFFD03}"/>
              </a:ext>
            </a:extLst>
          </p:cNvPr>
          <p:cNvSpPr/>
          <p:nvPr/>
        </p:nvSpPr>
        <p:spPr>
          <a:xfrm rot="16200000">
            <a:off x="3677297" y="3539580"/>
            <a:ext cx="609600" cy="6096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6714E27-A91D-3B4D-A6A9-5FFE51B5544A}"/>
              </a:ext>
            </a:extLst>
          </p:cNvPr>
          <p:cNvSpPr/>
          <p:nvPr/>
        </p:nvSpPr>
        <p:spPr>
          <a:xfrm>
            <a:off x="4572000" y="3459659"/>
            <a:ext cx="3580172" cy="769441"/>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found_3 = </a:t>
            </a:r>
            <a:r>
              <a:rPr lang="en-US" sz="2200" b="1" dirty="0">
                <a:solidFill>
                  <a:srgbClr val="FF0000"/>
                </a:solidFill>
                <a:latin typeface="Consolas" panose="020B0609020204030204" pitchFamily="49" charset="0"/>
                <a:cs typeface="Consolas" panose="020B0609020204030204" pitchFamily="49" charset="0"/>
              </a:rPr>
              <a:t>Load</a:t>
            </a:r>
            <a:r>
              <a:rPr lang="en-US" sz="2200" b="1" dirty="0">
                <a:latin typeface="Consolas" panose="020B0609020204030204" pitchFamily="49" charset="0"/>
                <a:cs typeface="Consolas" panose="020B0609020204030204" pitchFamily="49" charset="0"/>
              </a:rPr>
              <a:t>(fp-12)</a:t>
            </a:r>
          </a:p>
          <a:p>
            <a:r>
              <a:rPr lang="en-US" sz="2200" b="1" dirty="0">
                <a:latin typeface="Consolas" panose="020B0609020204030204" pitchFamily="49" charset="0"/>
                <a:cs typeface="Consolas" panose="020B0609020204030204" pitchFamily="49" charset="0"/>
              </a:rPr>
              <a:t>$t0 = found_3</a:t>
            </a:r>
          </a:p>
        </p:txBody>
      </p:sp>
      <p:sp>
        <p:nvSpPr>
          <p:cNvPr id="17" name="TextBox 16">
            <a:extLst>
              <a:ext uri="{FF2B5EF4-FFF2-40B4-BE49-F238E27FC236}">
                <a16:creationId xmlns:a16="http://schemas.microsoft.com/office/drawing/2014/main" id="{42BD9EF9-686E-6542-9FD0-33695BACFF51}"/>
              </a:ext>
            </a:extLst>
          </p:cNvPr>
          <p:cNvSpPr txBox="1"/>
          <p:nvPr/>
        </p:nvSpPr>
        <p:spPr>
          <a:xfrm>
            <a:off x="457200" y="4320452"/>
            <a:ext cx="8382000" cy="769441"/>
          </a:xfrm>
          <a:prstGeom prst="rect">
            <a:avLst/>
          </a:prstGeom>
          <a:noFill/>
        </p:spPr>
        <p:txBody>
          <a:bodyPr wrap="square" rtlCol="0">
            <a:spAutoFit/>
          </a:bodyPr>
          <a:lstStyle/>
          <a:p>
            <a:pPr algn="ctr"/>
            <a:r>
              <a:rPr lang="en-US" sz="2200" dirty="0"/>
              <a:t>we also </a:t>
            </a:r>
            <a:r>
              <a:rPr lang="en-US" sz="2200" b="1" dirty="0"/>
              <a:t>rename</a:t>
            </a:r>
            <a:r>
              <a:rPr lang="en-US" sz="2200" dirty="0"/>
              <a:t> the spilled local at each use location with a unique name. each of these new locals has a very short live range!</a:t>
            </a:r>
            <a:endParaRPr lang="en-US" sz="2200" b="1" dirty="0">
              <a:solidFill>
                <a:srgbClr val="FF0000"/>
              </a:solidFill>
            </a:endParaRPr>
          </a:p>
        </p:txBody>
      </p:sp>
    </p:spTree>
    <p:extLst>
      <p:ext uri="{BB962C8B-B14F-4D97-AF65-F5344CB8AC3E}">
        <p14:creationId xmlns:p14="http://schemas.microsoft.com/office/powerpoint/2010/main" val="39276844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animBg="1"/>
      <p:bldP spid="10" grpId="0"/>
      <p:bldP spid="14" grpId="0"/>
      <p:bldP spid="15" grpId="0" animBg="1"/>
      <p:bldP spid="1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69BD5-197D-BB41-8C62-91AB86F8C4B8}"/>
              </a:ext>
            </a:extLst>
          </p:cNvPr>
          <p:cNvSpPr>
            <a:spLocks noGrp="1"/>
          </p:cNvSpPr>
          <p:nvPr>
            <p:ph type="title"/>
          </p:nvPr>
        </p:nvSpPr>
        <p:spPr/>
        <p:txBody>
          <a:bodyPr/>
          <a:lstStyle/>
          <a:p>
            <a:r>
              <a:rPr lang="en-US" dirty="0"/>
              <a:t>Then what?</a:t>
            </a:r>
          </a:p>
        </p:txBody>
      </p:sp>
      <p:sp>
        <p:nvSpPr>
          <p:cNvPr id="3" name="Content Placeholder 2">
            <a:extLst>
              <a:ext uri="{FF2B5EF4-FFF2-40B4-BE49-F238E27FC236}">
                <a16:creationId xmlns:a16="http://schemas.microsoft.com/office/drawing/2014/main" id="{C9DA10DC-1B12-5C42-A19E-6C6952DA3A9E}"/>
              </a:ext>
            </a:extLst>
          </p:cNvPr>
          <p:cNvSpPr>
            <a:spLocks noGrp="1"/>
          </p:cNvSpPr>
          <p:nvPr>
            <p:ph idx="1"/>
          </p:nvPr>
        </p:nvSpPr>
        <p:spPr>
          <a:xfrm>
            <a:off x="152400" y="495301"/>
            <a:ext cx="8991600" cy="838199"/>
          </a:xfrm>
        </p:spPr>
        <p:txBody>
          <a:bodyPr/>
          <a:lstStyle/>
          <a:p>
            <a:r>
              <a:rPr lang="en-US" dirty="0"/>
              <a:t>then… we </a:t>
            </a:r>
            <a:r>
              <a:rPr lang="en-US" b="1" dirty="0"/>
              <a:t>start all over again! </a:t>
            </a:r>
            <a:r>
              <a:rPr lang="en-US" dirty="0"/>
              <a:t>compute liveness, build the RIG…</a:t>
            </a:r>
          </a:p>
          <a:p>
            <a:r>
              <a:rPr lang="en-US" dirty="0"/>
              <a:t>this is the iterative register allocation algorithm in a nutshell:</a:t>
            </a:r>
          </a:p>
        </p:txBody>
      </p:sp>
      <p:sp>
        <p:nvSpPr>
          <p:cNvPr id="4" name="Slide Number Placeholder 3">
            <a:extLst>
              <a:ext uri="{FF2B5EF4-FFF2-40B4-BE49-F238E27FC236}">
                <a16:creationId xmlns:a16="http://schemas.microsoft.com/office/drawing/2014/main" id="{5FBD1594-BC14-2641-9D86-0FC6397DEB84}"/>
              </a:ext>
            </a:extLst>
          </p:cNvPr>
          <p:cNvSpPr>
            <a:spLocks noGrp="1"/>
          </p:cNvSpPr>
          <p:nvPr>
            <p:ph type="sldNum" sz="quarter" idx="12"/>
          </p:nvPr>
        </p:nvSpPr>
        <p:spPr/>
        <p:txBody>
          <a:bodyPr/>
          <a:lstStyle/>
          <a:p>
            <a:fld id="{3552B95B-556F-44BD-91A5-D80C1B9E2BB3}" type="slidenum">
              <a:rPr lang="en-US" smtClean="0"/>
              <a:pPr/>
              <a:t>34</a:t>
            </a:fld>
            <a:endParaRPr lang="en-US"/>
          </a:p>
        </p:txBody>
      </p:sp>
      <p:sp>
        <p:nvSpPr>
          <p:cNvPr id="5" name="Rounded Rectangle 4">
            <a:extLst>
              <a:ext uri="{FF2B5EF4-FFF2-40B4-BE49-F238E27FC236}">
                <a16:creationId xmlns:a16="http://schemas.microsoft.com/office/drawing/2014/main" id="{594B0DBE-95C9-134C-B985-FC432E3AEE6C}"/>
              </a:ext>
            </a:extLst>
          </p:cNvPr>
          <p:cNvSpPr/>
          <p:nvPr/>
        </p:nvSpPr>
        <p:spPr>
          <a:xfrm>
            <a:off x="1389245" y="2674821"/>
            <a:ext cx="1371600" cy="94989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Liveness and RIG</a:t>
            </a:r>
          </a:p>
        </p:txBody>
      </p:sp>
      <p:sp>
        <p:nvSpPr>
          <p:cNvPr id="7" name="Rounded Rectangle 6">
            <a:extLst>
              <a:ext uri="{FF2B5EF4-FFF2-40B4-BE49-F238E27FC236}">
                <a16:creationId xmlns:a16="http://schemas.microsoft.com/office/drawing/2014/main" id="{CFAEDF88-06AD-4349-BB18-90211C14B81A}"/>
              </a:ext>
            </a:extLst>
          </p:cNvPr>
          <p:cNvSpPr/>
          <p:nvPr/>
        </p:nvSpPr>
        <p:spPr>
          <a:xfrm>
            <a:off x="3318310" y="2674821"/>
            <a:ext cx="1371600" cy="94989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Remove nodes</a:t>
            </a:r>
          </a:p>
        </p:txBody>
      </p:sp>
      <p:sp>
        <p:nvSpPr>
          <p:cNvPr id="8" name="Rounded Rectangle 7">
            <a:extLst>
              <a:ext uri="{FF2B5EF4-FFF2-40B4-BE49-F238E27FC236}">
                <a16:creationId xmlns:a16="http://schemas.microsoft.com/office/drawing/2014/main" id="{0813E86A-F4B4-DC42-BBEC-D7575933ED62}"/>
              </a:ext>
            </a:extLst>
          </p:cNvPr>
          <p:cNvSpPr/>
          <p:nvPr/>
        </p:nvSpPr>
        <p:spPr>
          <a:xfrm>
            <a:off x="5171174" y="2669607"/>
            <a:ext cx="1371600" cy="94989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Pop and color</a:t>
            </a:r>
          </a:p>
        </p:txBody>
      </p:sp>
      <p:sp>
        <p:nvSpPr>
          <p:cNvPr id="9" name="Rounded Rectangle 8">
            <a:extLst>
              <a:ext uri="{FF2B5EF4-FFF2-40B4-BE49-F238E27FC236}">
                <a16:creationId xmlns:a16="http://schemas.microsoft.com/office/drawing/2014/main" id="{72CFA930-0E08-AE4B-970E-1B5482F9A4DA}"/>
              </a:ext>
            </a:extLst>
          </p:cNvPr>
          <p:cNvSpPr/>
          <p:nvPr/>
        </p:nvSpPr>
        <p:spPr>
          <a:xfrm>
            <a:off x="3242110" y="3812607"/>
            <a:ext cx="1524000" cy="949893"/>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Pick spill candidate</a:t>
            </a:r>
          </a:p>
        </p:txBody>
      </p:sp>
      <p:sp>
        <p:nvSpPr>
          <p:cNvPr id="10" name="Rounded Rectangle 9">
            <a:extLst>
              <a:ext uri="{FF2B5EF4-FFF2-40B4-BE49-F238E27FC236}">
                <a16:creationId xmlns:a16="http://schemas.microsoft.com/office/drawing/2014/main" id="{72058FEE-30A6-D74B-ABC7-E9A5627D4B8F}"/>
              </a:ext>
            </a:extLst>
          </p:cNvPr>
          <p:cNvSpPr/>
          <p:nvPr/>
        </p:nvSpPr>
        <p:spPr>
          <a:xfrm>
            <a:off x="5169569" y="1420128"/>
            <a:ext cx="1371600" cy="9498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Rewrite spill</a:t>
            </a:r>
          </a:p>
        </p:txBody>
      </p:sp>
      <p:sp>
        <p:nvSpPr>
          <p:cNvPr id="12" name="Rounded Rectangle 11">
            <a:extLst>
              <a:ext uri="{FF2B5EF4-FFF2-40B4-BE49-F238E27FC236}">
                <a16:creationId xmlns:a16="http://schemas.microsoft.com/office/drawing/2014/main" id="{35ED6D7F-0D90-EA4D-80B7-C689E8FCDBA0}"/>
              </a:ext>
            </a:extLst>
          </p:cNvPr>
          <p:cNvSpPr/>
          <p:nvPr/>
        </p:nvSpPr>
        <p:spPr>
          <a:xfrm>
            <a:off x="7041683" y="2669607"/>
            <a:ext cx="1371600" cy="94989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Done!</a:t>
            </a:r>
          </a:p>
        </p:txBody>
      </p:sp>
      <p:cxnSp>
        <p:nvCxnSpPr>
          <p:cNvPr id="15" name="Straight Arrow Connector 14">
            <a:extLst>
              <a:ext uri="{FF2B5EF4-FFF2-40B4-BE49-F238E27FC236}">
                <a16:creationId xmlns:a16="http://schemas.microsoft.com/office/drawing/2014/main" id="{DCC9E5F3-D5D8-2A41-92C3-27F420BC2178}"/>
              </a:ext>
            </a:extLst>
          </p:cNvPr>
          <p:cNvCxnSpPr>
            <a:cxnSpLocks/>
            <a:stCxn id="5" idx="3"/>
            <a:endCxn id="7" idx="1"/>
          </p:cNvCxnSpPr>
          <p:nvPr/>
        </p:nvCxnSpPr>
        <p:spPr>
          <a:xfrm>
            <a:off x="2760845" y="3149768"/>
            <a:ext cx="5574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312C526-438E-ED42-919F-D8944C6DF903}"/>
              </a:ext>
            </a:extLst>
          </p:cNvPr>
          <p:cNvCxnSpPr>
            <a:cxnSpLocks/>
            <a:stCxn id="7" idx="3"/>
            <a:endCxn id="8" idx="1"/>
          </p:cNvCxnSpPr>
          <p:nvPr/>
        </p:nvCxnSpPr>
        <p:spPr>
          <a:xfrm flipV="1">
            <a:off x="4689910" y="3144554"/>
            <a:ext cx="481264" cy="52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C5C9C30-C8AF-AE4F-942D-0BD3D07F2EFF}"/>
              </a:ext>
            </a:extLst>
          </p:cNvPr>
          <p:cNvCxnSpPr>
            <a:cxnSpLocks/>
            <a:stCxn id="8" idx="3"/>
            <a:endCxn id="12" idx="1"/>
          </p:cNvCxnSpPr>
          <p:nvPr/>
        </p:nvCxnSpPr>
        <p:spPr>
          <a:xfrm>
            <a:off x="6542774" y="3144554"/>
            <a:ext cx="49890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EFC16D1-6344-B141-849C-B6C7EBD43F73}"/>
              </a:ext>
            </a:extLst>
          </p:cNvPr>
          <p:cNvCxnSpPr>
            <a:cxnSpLocks/>
            <a:stCxn id="8" idx="0"/>
            <a:endCxn id="10" idx="2"/>
          </p:cNvCxnSpPr>
          <p:nvPr/>
        </p:nvCxnSpPr>
        <p:spPr>
          <a:xfrm flipH="1" flipV="1">
            <a:off x="5855369" y="2370021"/>
            <a:ext cx="1605" cy="2995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2958DA7-77B4-0343-BACB-16F7DC642E61}"/>
              </a:ext>
            </a:extLst>
          </p:cNvPr>
          <p:cNvCxnSpPr>
            <a:cxnSpLocks/>
            <a:stCxn id="10" idx="1"/>
            <a:endCxn id="5" idx="0"/>
          </p:cNvCxnSpPr>
          <p:nvPr/>
        </p:nvCxnSpPr>
        <p:spPr>
          <a:xfrm rot="10800000" flipV="1">
            <a:off x="2075045" y="1895075"/>
            <a:ext cx="3094524" cy="779746"/>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28">
            <a:extLst>
              <a:ext uri="{FF2B5EF4-FFF2-40B4-BE49-F238E27FC236}">
                <a16:creationId xmlns:a16="http://schemas.microsoft.com/office/drawing/2014/main" id="{A87BC931-CA17-DF4A-929A-4D450E5E4C01}"/>
              </a:ext>
            </a:extLst>
          </p:cNvPr>
          <p:cNvCxnSpPr>
            <a:cxnSpLocks/>
            <a:stCxn id="7" idx="3"/>
            <a:endCxn id="9" idx="3"/>
          </p:cNvCxnSpPr>
          <p:nvPr/>
        </p:nvCxnSpPr>
        <p:spPr>
          <a:xfrm>
            <a:off x="4689910" y="3149768"/>
            <a:ext cx="76200" cy="1137786"/>
          </a:xfrm>
          <a:prstGeom prst="curvedConnector3">
            <a:avLst>
              <a:gd name="adj1" fmla="val 40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28">
            <a:extLst>
              <a:ext uri="{FF2B5EF4-FFF2-40B4-BE49-F238E27FC236}">
                <a16:creationId xmlns:a16="http://schemas.microsoft.com/office/drawing/2014/main" id="{A055D58C-E9A9-4C44-99F3-91BF333FC12E}"/>
              </a:ext>
            </a:extLst>
          </p:cNvPr>
          <p:cNvCxnSpPr>
            <a:cxnSpLocks/>
            <a:stCxn id="9" idx="1"/>
            <a:endCxn id="7" idx="1"/>
          </p:cNvCxnSpPr>
          <p:nvPr/>
        </p:nvCxnSpPr>
        <p:spPr>
          <a:xfrm rot="10800000" flipH="1">
            <a:off x="3242110" y="3149768"/>
            <a:ext cx="76200" cy="1137786"/>
          </a:xfrm>
          <a:prstGeom prst="curvedConnector3">
            <a:avLst>
              <a:gd name="adj1" fmla="val -30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AD03568-D591-284C-9A7F-5718DD74C7D2}"/>
              </a:ext>
            </a:extLst>
          </p:cNvPr>
          <p:cNvCxnSpPr>
            <a:cxnSpLocks/>
            <a:endCxn id="5" idx="1"/>
          </p:cNvCxnSpPr>
          <p:nvPr/>
        </p:nvCxnSpPr>
        <p:spPr>
          <a:xfrm>
            <a:off x="730717" y="3144553"/>
            <a:ext cx="658528" cy="52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2249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6E64-B5F0-1D4A-9C0C-EF51C44C4DB4}"/>
              </a:ext>
            </a:extLst>
          </p:cNvPr>
          <p:cNvSpPr>
            <a:spLocks noGrp="1"/>
          </p:cNvSpPr>
          <p:nvPr>
            <p:ph type="title"/>
          </p:nvPr>
        </p:nvSpPr>
        <p:spPr/>
        <p:txBody>
          <a:bodyPr/>
          <a:lstStyle/>
          <a:p>
            <a:r>
              <a:rPr lang="en-US" dirty="0"/>
              <a:t>And it keeps going…</a:t>
            </a:r>
          </a:p>
        </p:txBody>
      </p:sp>
      <p:sp>
        <p:nvSpPr>
          <p:cNvPr id="3" name="Content Placeholder 2">
            <a:extLst>
              <a:ext uri="{FF2B5EF4-FFF2-40B4-BE49-F238E27FC236}">
                <a16:creationId xmlns:a16="http://schemas.microsoft.com/office/drawing/2014/main" id="{703F17BA-1EEC-374A-ADE9-947284E8E56E}"/>
              </a:ext>
            </a:extLst>
          </p:cNvPr>
          <p:cNvSpPr>
            <a:spLocks noGrp="1"/>
          </p:cNvSpPr>
          <p:nvPr>
            <p:ph idx="1"/>
          </p:nvPr>
        </p:nvSpPr>
        <p:spPr/>
        <p:txBody>
          <a:bodyPr/>
          <a:lstStyle/>
          <a:p>
            <a:r>
              <a:rPr lang="en-US" dirty="0"/>
              <a:t>this is just the basic shape of the algorithm.</a:t>
            </a:r>
          </a:p>
          <a:p>
            <a:r>
              <a:rPr lang="en-US" dirty="0"/>
              <a:t>there are several more features, such as:</a:t>
            </a:r>
          </a:p>
          <a:p>
            <a:pPr lvl="1"/>
            <a:r>
              <a:rPr lang="en-US" b="1" dirty="0"/>
              <a:t>coalescing </a:t>
            </a:r>
            <a:r>
              <a:rPr lang="en-US" dirty="0"/>
              <a:t>pairs of nodes that are likely to end up in the same register anyway</a:t>
            </a:r>
          </a:p>
          <a:p>
            <a:pPr lvl="2"/>
            <a:r>
              <a:rPr lang="en-US" dirty="0"/>
              <a:t>e.g. in </a:t>
            </a:r>
            <a:r>
              <a:rPr lang="en-US" b="1" dirty="0"/>
              <a:t>a = b </a:t>
            </a:r>
            <a:r>
              <a:rPr lang="en-US" dirty="0"/>
              <a:t>where their liveness doesn’t overlap</a:t>
            </a:r>
            <a:endParaRPr lang="en-US" b="1" dirty="0"/>
          </a:p>
          <a:p>
            <a:pPr lvl="1"/>
            <a:r>
              <a:rPr lang="en-US" b="1" dirty="0"/>
              <a:t>pre-coloring</a:t>
            </a:r>
            <a:r>
              <a:rPr lang="en-US" dirty="0"/>
              <a:t> some nodes to indicate they must be in certain registers. this is used for:</a:t>
            </a:r>
          </a:p>
          <a:p>
            <a:pPr lvl="2"/>
            <a:r>
              <a:rPr lang="en-US" dirty="0"/>
              <a:t>argument and return value registers (MIPS “a” and “v” registers)</a:t>
            </a:r>
          </a:p>
          <a:p>
            <a:pPr lvl="2"/>
            <a:r>
              <a:rPr lang="en-US" dirty="0"/>
              <a:t>saved temporary registers (MIPS “s” registers)</a:t>
            </a:r>
          </a:p>
          <a:p>
            <a:pPr lvl="1"/>
            <a:r>
              <a:rPr lang="en-US" dirty="0"/>
              <a:t>and more…</a:t>
            </a:r>
          </a:p>
        </p:txBody>
      </p:sp>
      <p:sp>
        <p:nvSpPr>
          <p:cNvPr id="4" name="Slide Number Placeholder 3">
            <a:extLst>
              <a:ext uri="{FF2B5EF4-FFF2-40B4-BE49-F238E27FC236}">
                <a16:creationId xmlns:a16="http://schemas.microsoft.com/office/drawing/2014/main" id="{78271B1C-25D8-3B49-9014-1DB9110D5DF9}"/>
              </a:ext>
            </a:extLst>
          </p:cNvPr>
          <p:cNvSpPr>
            <a:spLocks noGrp="1"/>
          </p:cNvSpPr>
          <p:nvPr>
            <p:ph type="sldNum" sz="quarter" idx="12"/>
          </p:nvPr>
        </p:nvSpPr>
        <p:spPr/>
        <p:txBody>
          <a:bodyPr/>
          <a:lstStyle/>
          <a:p>
            <a:fld id="{3552B95B-556F-44BD-91A5-D80C1B9E2BB3}" type="slidenum">
              <a:rPr lang="en-US" smtClean="0"/>
              <a:pPr/>
              <a:t>35</a:t>
            </a:fld>
            <a:endParaRPr lang="en-US"/>
          </a:p>
        </p:txBody>
      </p:sp>
    </p:spTree>
    <p:extLst>
      <p:ext uri="{BB962C8B-B14F-4D97-AF65-F5344CB8AC3E}">
        <p14:creationId xmlns:p14="http://schemas.microsoft.com/office/powerpoint/2010/main" val="3901918570"/>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32226</TotalTime>
  <Words>6141</Words>
  <Application>Microsoft Macintosh PowerPoint</Application>
  <PresentationFormat>On-screen Show (16:10)</PresentationFormat>
  <Paragraphs>580</Paragraphs>
  <Slides>35</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Consolas</vt:lpstr>
      <vt:lpstr>Courier New</vt:lpstr>
      <vt:lpstr>Segoe UI</vt:lpstr>
      <vt:lpstr>Segoe WP Semibold</vt:lpstr>
      <vt:lpstr>Trebuchet MS</vt:lpstr>
      <vt:lpstr>Wingdings</vt:lpstr>
      <vt:lpstr>02 - C - Basics</vt:lpstr>
      <vt:lpstr>Liveness and  Register Allocation</vt:lpstr>
      <vt:lpstr>Class Announcements</vt:lpstr>
      <vt:lpstr>The liveness algorithm</vt:lpstr>
      <vt:lpstr>Backwards Analyses</vt:lpstr>
      <vt:lpstr>States and transfer function</vt:lpstr>
      <vt:lpstr>The join function</vt:lpstr>
      <vt:lpstr>Trying it out (animated)</vt:lpstr>
      <vt:lpstr>It matters for termination</vt:lpstr>
      <vt:lpstr>One with a diamond (animated)</vt:lpstr>
      <vt:lpstr>One with a loop (animated)</vt:lpstr>
      <vt:lpstr>Wait, is that right…?</vt:lpstr>
      <vt:lpstr>Some implementation thoughts</vt:lpstr>
      <vt:lpstr>Register Allocation time check ≤ 27</vt:lpstr>
      <vt:lpstr>State of the art circa 1980</vt:lpstr>
      <vt:lpstr>Not all doom and gloom</vt:lpstr>
      <vt:lpstr>Real ABIs use registers</vt:lpstr>
      <vt:lpstr>Under pressure</vt:lpstr>
      <vt:lpstr>The Register  Interference Graph time check ≤ 40</vt:lpstr>
      <vt:lpstr>Oh boy, more graphs! Whee!</vt:lpstr>
      <vt:lpstr>Building the RIG (animated)</vt:lpstr>
      <vt:lpstr>Ok but what's it mean and why is it a graph</vt:lpstr>
      <vt:lpstr>Graph Coloring time check ≤ 56</vt:lpstr>
      <vt:lpstr>Colorability and chromatic number</vt:lpstr>
      <vt:lpstr>You didn't think it would be THAT easy, did you</vt:lpstr>
      <vt:lpstr>The coloring heuristic (animated)</vt:lpstr>
      <vt:lpstr>Pop'n'color (animated)</vt:lpstr>
      <vt:lpstr>This works??</vt:lpstr>
      <vt:lpstr>Failure to color</vt:lpstr>
      <vt:lpstr>Spilling time check ≤ 85</vt:lpstr>
      <vt:lpstr>So what do we do??</vt:lpstr>
      <vt:lpstr>Stop interfering with me!</vt:lpstr>
      <vt:lpstr>So how does it work?</vt:lpstr>
      <vt:lpstr>How the code is rewritten</vt:lpstr>
      <vt:lpstr>Then what?</vt:lpstr>
      <vt:lpstr>And it keeps going…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1503</cp:revision>
  <dcterms:created xsi:type="dcterms:W3CDTF">2017-01-05T04:29:56Z</dcterms:created>
  <dcterms:modified xsi:type="dcterms:W3CDTF">2022-08-01T06:22:15Z</dcterms:modified>
</cp:coreProperties>
</file>