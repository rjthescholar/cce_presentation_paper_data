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5"/>
  </p:notesMasterIdLst>
  <p:sldIdLst>
    <p:sldId id="256" r:id="rId2"/>
    <p:sldId id="519" r:id="rId3"/>
    <p:sldId id="557" r:id="rId4"/>
    <p:sldId id="573" r:id="rId5"/>
    <p:sldId id="558" r:id="rId6"/>
    <p:sldId id="574" r:id="rId7"/>
    <p:sldId id="575" r:id="rId8"/>
    <p:sldId id="571" r:id="rId9"/>
    <p:sldId id="576" r:id="rId10"/>
    <p:sldId id="577" r:id="rId11"/>
    <p:sldId id="578" r:id="rId12"/>
    <p:sldId id="570" r:id="rId13"/>
    <p:sldId id="579" r:id="rId14"/>
    <p:sldId id="580" r:id="rId15"/>
    <p:sldId id="581" r:id="rId16"/>
    <p:sldId id="562" r:id="rId17"/>
    <p:sldId id="584" r:id="rId18"/>
    <p:sldId id="587" r:id="rId19"/>
    <p:sldId id="583" r:id="rId20"/>
    <p:sldId id="564" r:id="rId21"/>
    <p:sldId id="586" r:id="rId22"/>
    <p:sldId id="565" r:id="rId23"/>
    <p:sldId id="566" r:id="rId24"/>
    <p:sldId id="567" r:id="rId25"/>
    <p:sldId id="534" r:id="rId26"/>
    <p:sldId id="535" r:id="rId27"/>
    <p:sldId id="536" r:id="rId28"/>
    <p:sldId id="537" r:id="rId29"/>
    <p:sldId id="538" r:id="rId30"/>
    <p:sldId id="541" r:id="rId31"/>
    <p:sldId id="539" r:id="rId32"/>
    <p:sldId id="540" r:id="rId33"/>
    <p:sldId id="542" r:id="rId34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1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200"/>
    <a:srgbClr val="FF5200"/>
    <a:srgbClr val="FF5C00"/>
    <a:srgbClr val="592A04"/>
    <a:srgbClr val="8DB000"/>
    <a:srgbClr val="FCECD6"/>
    <a:srgbClr val="FCF9C5"/>
    <a:srgbClr val="8BD5F4"/>
    <a:srgbClr val="FA0AB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04" autoAdjust="0"/>
    <p:restoredTop sz="88592" autoAdjust="0"/>
  </p:normalViewPr>
  <p:slideViewPr>
    <p:cSldViewPr>
      <p:cViewPr varScale="1">
        <p:scale>
          <a:sx n="130" d="100"/>
          <a:sy n="130" d="100"/>
        </p:scale>
        <p:origin x="1304" y="192"/>
      </p:cViewPr>
      <p:guideLst>
        <p:guide orient="horz" pos="1800"/>
        <p:guide pos="1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93253-51AE-4C40-AB6B-AA3A7DF4D210}" type="datetimeFigureOut">
              <a:rPr lang="en-US" smtClean="0"/>
              <a:pPr/>
              <a:t>5/31/22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729AB-B77D-48AE-AA10-D1BD2B4D03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0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view is often used by linguists, as they are trying to figure out the machinery in our brains that produces language.</a:t>
            </a:r>
          </a:p>
          <a:p>
            <a:r>
              <a:rPr lang="en-US" dirty="0"/>
              <a:t>- gee, I wonder what the answer is!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95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we're reverse-engineering the work that went into producing the input string.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lexing </a:t>
            </a:r>
            <a:r>
              <a:rPr lang="en-US" i="1" dirty="0"/>
              <a:t>is a kind of parsing, </a:t>
            </a:r>
            <a:r>
              <a:rPr lang="en-US" dirty="0"/>
              <a:t>but because of the "no recursion" restriction on the rules, it uses simpler algorithms.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if you want to get really technical, there is a </a:t>
            </a:r>
            <a:r>
              <a:rPr lang="en-US" i="1" dirty="0"/>
              <a:t>concrete</a:t>
            </a:r>
            <a:r>
              <a:rPr lang="en-US" i="0" dirty="0"/>
              <a:t> syntax tree which shows the </a:t>
            </a:r>
            <a:r>
              <a:rPr lang="en-US" i="1" dirty="0"/>
              <a:t>exact</a:t>
            </a:r>
            <a:r>
              <a:rPr lang="en-US" i="0" dirty="0"/>
              <a:t> sequence of rules needed to produce the sentence, and it includes every terminal (token) as the leaves…</a:t>
            </a:r>
          </a:p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	- but they're not really that useful for compilers, so we just skip directly to building the abstract syntax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0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modern descendants include Common Lisp, Racket, Clojure, and Scheme, but there are dozens of other varieties as well.</a:t>
            </a:r>
          </a:p>
          <a:p>
            <a:pPr marL="171450" indent="-171450">
              <a:buFontTx/>
              <a:buChar char="-"/>
            </a:pPr>
            <a:r>
              <a:rPr lang="en-US" dirty="0"/>
              <a:t>I know that multiple video games use Lisp dialects as their scripting languages (e.g. Halo 1)</a:t>
            </a:r>
          </a:p>
          <a:p>
            <a:pPr marL="528066" lvl="1" indent="-171450">
              <a:buFontTx/>
              <a:buChar char="-"/>
            </a:pPr>
            <a:r>
              <a:rPr lang="en-US" dirty="0"/>
              <a:t>naughty dog went absolutely ham on this idea and basically the entirety of </a:t>
            </a:r>
            <a:r>
              <a:rPr lang="en-US" dirty="0" err="1"/>
              <a:t>Jak</a:t>
            </a:r>
            <a:r>
              <a:rPr lang="en-US" dirty="0"/>
              <a:t> and Daxter was written in their Lisp dialect, GOAL: 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Game_Oriented_Assembly_Lisp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tree can be interpreted in two ways: either it's a </a:t>
            </a:r>
            <a:r>
              <a:rPr lang="en-US" i="1" dirty="0"/>
              <a:t>data structure</a:t>
            </a:r>
            <a:r>
              <a:rPr lang="en-US" i="0" dirty="0"/>
              <a:t> that represents the input, or it's a </a:t>
            </a:r>
            <a:r>
              <a:rPr lang="en-US" i="1" dirty="0"/>
              <a:t>derivation </a:t>
            </a:r>
            <a:r>
              <a:rPr lang="en-US" i="0" dirty="0"/>
              <a:t>of the grammar. </a:t>
            </a:r>
          </a:p>
          <a:p>
            <a:pPr marL="171450" indent="-171450">
              <a:buFontTx/>
              <a:buChar char="-"/>
            </a:pPr>
            <a:endParaRPr lang="en-US" i="0" dirty="0"/>
          </a:p>
          <a:p>
            <a:pPr marL="0" indent="0">
              <a:buFontTx/>
              <a:buNone/>
            </a:pPr>
            <a:r>
              <a:rPr lang="en-US" i="0" dirty="0"/>
              <a:t>[diagram: the AST of this Lisp code. honestly, there’s no need to describe it, because the Lisp code already does. Every time you see an open-parenthesis, that’s a new child of the current node.]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84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exceptions are </a:t>
            </a:r>
            <a:r>
              <a:rPr lang="en-US" i="1" dirty="0"/>
              <a:t>alright</a:t>
            </a:r>
            <a:r>
              <a:rPr lang="en-US" i="0" dirty="0"/>
              <a:t> but a few decades of experience with them has shown them to be kind of suboptimal for a few reasons</a:t>
            </a:r>
          </a:p>
          <a:p>
            <a:r>
              <a:rPr lang="en-US" i="0" dirty="0"/>
              <a:t>- well Rust does have panics, which kind of work like un-catchable exceptions, but…</a:t>
            </a:r>
          </a:p>
          <a:p>
            <a:r>
              <a:rPr lang="en-US" i="0" dirty="0"/>
              <a:t>- type aliases do not create NEW types, they just RENAME existing ones. </a:t>
            </a:r>
          </a:p>
          <a:p>
            <a:r>
              <a:rPr lang="en-US" i="0" dirty="0"/>
              <a:t>	- using </a:t>
            </a:r>
            <a:r>
              <a:rPr lang="en-US" i="0" dirty="0" err="1"/>
              <a:t>ParseResult</a:t>
            </a:r>
            <a:r>
              <a:rPr lang="en-US" i="0" dirty="0"/>
              <a:t> is exactly the same as typing out the whole thing after the =.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35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89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you can imagine every single line in Java ends with a ?, because every line could possibly throw an exception.</a:t>
            </a:r>
          </a:p>
          <a:p>
            <a:r>
              <a:rPr lang="en-US" dirty="0"/>
              <a:t>	- and whenever an exception is thrown, control immediately leaves the function (if there's no try{} around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95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there are some….. subtleties about the loop conditions for * and +, but we're keeping it simple for now and just getting a broad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22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you can see examples of alternation and + in the </a:t>
            </a:r>
            <a:r>
              <a:rPr lang="en-US" dirty="0" err="1"/>
              <a:t>parsing_lisp</a:t>
            </a:r>
            <a:r>
              <a:rPr lang="en-US" dirty="0"/>
              <a:t> example, and the parsing project will have examples of all of these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20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multiplication could be either parse too, because like addition, it's associative and commutative.</a:t>
            </a:r>
          </a:p>
          <a:p>
            <a:r>
              <a:rPr lang="en-US" dirty="0"/>
              <a:t>- for subtraction, (x - y - z) MUST be parsed as ((x - y) - z), because subtraction is not commutative.</a:t>
            </a:r>
          </a:p>
          <a:p>
            <a:r>
              <a:rPr lang="en-US" dirty="0"/>
              <a:t>	- the same applies for division, too.</a:t>
            </a:r>
          </a:p>
          <a:p>
            <a:r>
              <a:rPr lang="en-US" dirty="0"/>
              <a:t>- there's a nasty consideration with floating point arithmetic: because rounding occurs after each operation, ((x * y) * z) can give a different answer than (x * (y * z))!</a:t>
            </a:r>
          </a:p>
          <a:p>
            <a:r>
              <a:rPr lang="en-US" dirty="0"/>
              <a:t>	- so clearly, shrugging our shoulders and saying "whatever, it's fine" is not a great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53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42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40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11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78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14501"/>
            <a:ext cx="7772400" cy="1225021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77645"/>
            <a:ext cx="7772400" cy="1460500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162300"/>
            <a:ext cx="9144000" cy="18288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</p:spTree>
    <p:extLst/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>
            <a:normAutofit/>
          </a:bodyPr>
          <a:lstStyle>
            <a:lvl1pPr marL="257175" indent="-257175">
              <a:buSzPct val="100000"/>
              <a:buFont typeface="Trebuchet MS" pitchFamily="34" charset="0"/>
              <a:buChar char="●"/>
              <a:defRPr sz="2200"/>
            </a:lvl1pPr>
            <a:lvl2pPr marL="515780" indent="-257175">
              <a:defRPr sz="2200"/>
            </a:lvl2pPr>
            <a:lvl3pPr marL="772955" indent="-250032">
              <a:tabLst/>
              <a:defRPr sz="2200" b="0"/>
            </a:lvl3pPr>
            <a:lvl4pPr marL="1031558" indent="-257175">
              <a:tabLst/>
              <a:defRPr sz="2200" b="0"/>
            </a:lvl4pPr>
            <a:lvl5pPr marL="1285875" indent="-254318"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Title and Content (no ani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>
            <a:normAutofit/>
          </a:bodyPr>
          <a:lstStyle>
            <a:lvl1pPr marL="257175" indent="-257175">
              <a:buSzPct val="100000"/>
              <a:buFont typeface="Trebuchet MS" pitchFamily="34" charset="0"/>
              <a:buChar char="●"/>
              <a:defRPr sz="2200"/>
            </a:lvl1pPr>
            <a:lvl2pPr marL="515780" indent="-257175">
              <a:defRPr sz="2200"/>
            </a:lvl2pPr>
            <a:lvl3pPr marL="772955" indent="-250032">
              <a:tabLst/>
              <a:defRPr sz="2200" b="0"/>
            </a:lvl3pPr>
            <a:lvl4pPr marL="1031558" indent="-257175">
              <a:tabLst/>
              <a:defRPr sz="2200" b="0"/>
            </a:lvl4pPr>
            <a:lvl5pPr marL="1285875" indent="-254318"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14501"/>
            <a:ext cx="7772400" cy="1225021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162300"/>
            <a:ext cx="9144000" cy="18288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</p:spTree>
    <p:extLst/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4"/>
            <a:ext cx="5111750" cy="4877594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9"/>
            <a:ext cx="3008313" cy="3909219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3"/>
            <a:ext cx="5486400" cy="670719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7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7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5600700"/>
            <a:ext cx="9144000" cy="114300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495300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495301"/>
            <a:ext cx="8991600" cy="4801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5296960"/>
            <a:ext cx="12192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5296960"/>
            <a:ext cx="6858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ransition/>
  <p:hf hdr="0" ftr="0" dt="0"/>
  <p:txStyles>
    <p:titleStyle>
      <a:lvl1pPr algn="l" defTabSz="82296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+mj-lt"/>
          <a:ea typeface="GulimChe" pitchFamily="49" charset="-127"/>
          <a:cs typeface="MoolBoran" pitchFamily="34" charset="0"/>
        </a:defRPr>
      </a:lvl1pPr>
    </p:titleStyle>
    <p:bodyStyle>
      <a:lvl1pPr marL="204312" indent="-204312" algn="l" defTabSz="822960" rtl="0" eaLnBrk="1" latinLnBrk="0" hangingPunct="1">
        <a:spcBef>
          <a:spcPts val="0"/>
        </a:spcBef>
        <a:buSzPct val="150000"/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5767" indent="-207170" algn="l" defTabSz="822960" rtl="0" eaLnBrk="1" latinLnBrk="0" hangingPunct="1">
        <a:spcBef>
          <a:spcPts val="0"/>
        </a:spcBef>
        <a:buFont typeface="Courier New" pitchFamily="49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620078" indent="-205740" algn="l" defTabSz="822960" rtl="0" eaLnBrk="1" latinLnBrk="0" hangingPunct="1">
        <a:spcBef>
          <a:spcPts val="0"/>
        </a:spcBef>
        <a:buFont typeface="Wingdings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821532" indent="-205740" algn="l" defTabSz="822960" rtl="0" eaLnBrk="1" latinLnBrk="0" hangingPunct="1">
        <a:spcBef>
          <a:spcPts val="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205740" algn="l" defTabSz="822960" rtl="0" eaLnBrk="1" latinLnBrk="0" hangingPunct="1">
        <a:spcBef>
          <a:spcPts val="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 1622</a:t>
            </a:r>
          </a:p>
          <a:p>
            <a:r>
              <a:rPr lang="en-US" dirty="0"/>
              <a:t>Jarrett Billingsley</a:t>
            </a:r>
          </a:p>
        </p:txBody>
      </p:sp>
    </p:spTree>
    <p:extLst>
      <p:ext uri="{BB962C8B-B14F-4D97-AF65-F5344CB8AC3E}">
        <p14:creationId xmlns:p14="http://schemas.microsoft.com/office/powerpoint/2010/main" val="36120865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17CE-A372-C744-8763-80C56E42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BBF7-1C6E-294A-B5C4-174BB20A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was your </a:t>
            </a:r>
            <a:r>
              <a:rPr lang="en-US" dirty="0" err="1"/>
              <a:t>weekeeeeend</a:t>
            </a:r>
            <a:endParaRPr lang="en-US" dirty="0"/>
          </a:p>
          <a:p>
            <a:r>
              <a:rPr lang="en-US" dirty="0"/>
              <a:t>project 2 will come out this weekend so you’ll have 2 weeks for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C32BD-B01F-C646-91E9-D5AAEE75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7440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38AA-BBA7-614F-9617-8BD223513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82E36F-8E1A-1444-8777-EC5CB7E3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408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717C8-C687-BF4C-A8C5-4EC3D15F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generative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4CF61-B582-B94E-8605-C62416C2D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495300"/>
          </a:xfrm>
        </p:spPr>
        <p:txBody>
          <a:bodyPr/>
          <a:lstStyle/>
          <a:p>
            <a:r>
              <a:rPr lang="en-US" dirty="0"/>
              <a:t>one way to use a grammar is to </a:t>
            </a:r>
            <a:r>
              <a:rPr lang="en-US" b="1" dirty="0"/>
              <a:t>produce </a:t>
            </a:r>
            <a:r>
              <a:rPr lang="en-US" dirty="0"/>
              <a:t>sentences in the language.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EB8C1-6CB8-7244-B3F6-CA5E1779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A939A-AAFA-614A-AAB0-79E1A247FA4C}"/>
              </a:ext>
            </a:extLst>
          </p:cNvPr>
          <p:cNvSpPr txBox="1"/>
          <p:nvPr/>
        </p:nvSpPr>
        <p:spPr>
          <a:xfrm>
            <a:off x="381000" y="1104900"/>
            <a:ext cx="419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Id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Id:     &lt;id token&gt;</a:t>
            </a: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   &lt;int literal token&gt;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DC95D-2DCC-B740-B66D-F3185831654B}"/>
              </a:ext>
            </a:extLst>
          </p:cNvPr>
          <p:cNvSpPr txBox="1"/>
          <p:nvPr/>
        </p:nvSpPr>
        <p:spPr>
          <a:xfrm>
            <a:off x="323852" y="2523308"/>
            <a:ext cx="380999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we can produce valid sentences by starting at the </a:t>
            </a:r>
            <a:r>
              <a:rPr lang="en-US" sz="2200" b="1" dirty="0"/>
              <a:t>root rule </a:t>
            </a:r>
            <a:r>
              <a:rPr lang="en-US" sz="2200" dirty="0"/>
              <a:t>and repeatedly replacing </a:t>
            </a:r>
            <a:r>
              <a:rPr lang="en-US" sz="2200" dirty="0" err="1"/>
              <a:t>nonterminals</a:t>
            </a:r>
            <a:r>
              <a:rPr lang="en-US" sz="2200" dirty="0"/>
              <a:t> with their right-hand sides.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4467B9-3432-3C43-AD18-EAAA42D30CB7}"/>
              </a:ext>
            </a:extLst>
          </p:cNvPr>
          <p:cNvSpPr txBox="1"/>
          <p:nvPr/>
        </p:nvSpPr>
        <p:spPr>
          <a:xfrm>
            <a:off x="4800600" y="990602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D0103-7E14-584E-8434-39304CA4C1D9}"/>
              </a:ext>
            </a:extLst>
          </p:cNvPr>
          <p:cNvSpPr txBox="1"/>
          <p:nvPr/>
        </p:nvSpPr>
        <p:spPr>
          <a:xfrm>
            <a:off x="4800600" y="1380834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5E32-5473-7A48-ABFC-54A7367CA3DC}"/>
              </a:ext>
            </a:extLst>
          </p:cNvPr>
          <p:cNvSpPr txBox="1"/>
          <p:nvPr/>
        </p:nvSpPr>
        <p:spPr>
          <a:xfrm>
            <a:off x="4800600" y="1771066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6A4AD7-F8E3-6241-96C5-CFC5565C33C0}"/>
              </a:ext>
            </a:extLst>
          </p:cNvPr>
          <p:cNvSpPr txBox="1"/>
          <p:nvPr/>
        </p:nvSpPr>
        <p:spPr>
          <a:xfrm>
            <a:off x="4800600" y="2551530"/>
            <a:ext cx="3124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Id Id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82CB6D-62D7-654C-81CF-3C89D7F50B2B}"/>
              </a:ext>
            </a:extLst>
          </p:cNvPr>
          <p:cNvSpPr txBox="1"/>
          <p:nvPr/>
        </p:nvSpPr>
        <p:spPr>
          <a:xfrm>
            <a:off x="4800600" y="2941762"/>
            <a:ext cx="3542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 'add'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Id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CC2E96-431A-F243-81CB-43C096248F43}"/>
              </a:ext>
            </a:extLst>
          </p:cNvPr>
          <p:cNvSpPr txBox="1"/>
          <p:nvPr/>
        </p:nvSpPr>
        <p:spPr>
          <a:xfrm>
            <a:off x="4800600" y="3331994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 'add' 'x'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7C3C8D-E896-324E-8032-C2E3E1521631}"/>
              </a:ext>
            </a:extLst>
          </p:cNvPr>
          <p:cNvSpPr txBox="1"/>
          <p:nvPr/>
        </p:nvSpPr>
        <p:spPr>
          <a:xfrm>
            <a:off x="4800600" y="3722224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 'add' 'x' '3' ')'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64DD9F-9D39-9E4A-B55E-BEB519359B66}"/>
              </a:ext>
            </a:extLst>
          </p:cNvPr>
          <p:cNvSpPr txBox="1"/>
          <p:nvPr/>
        </p:nvSpPr>
        <p:spPr>
          <a:xfrm>
            <a:off x="4114800" y="4122334"/>
            <a:ext cx="48768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sequence is called a </a:t>
            </a:r>
            <a:r>
              <a:rPr lang="en-US" sz="2200" b="1" dirty="0"/>
              <a:t>derivation.</a:t>
            </a:r>
            <a:endParaRPr lang="en-US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0ED4E5-9C43-EF42-AC6F-0320695A20E0}"/>
              </a:ext>
            </a:extLst>
          </p:cNvPr>
          <p:cNvSpPr txBox="1"/>
          <p:nvPr/>
        </p:nvSpPr>
        <p:spPr>
          <a:xfrm>
            <a:off x="4800600" y="2161298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6F83CE-C44A-1547-B99C-6B81626EC261}"/>
              </a:ext>
            </a:extLst>
          </p:cNvPr>
          <p:cNvSpPr txBox="1"/>
          <p:nvPr/>
        </p:nvSpPr>
        <p:spPr>
          <a:xfrm>
            <a:off x="800100" y="4687518"/>
            <a:ext cx="7696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now suppose we were given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(add x 3) </a:t>
            </a:r>
            <a:r>
              <a:rPr lang="en-US" sz="2200" dirty="0"/>
              <a:t>as our </a:t>
            </a:r>
            <a:r>
              <a:rPr lang="en-US" sz="2200" i="1" dirty="0"/>
              <a:t>input.</a:t>
            </a:r>
            <a:r>
              <a:rPr lang="en-US" sz="2200" dirty="0"/>
              <a:t> </a:t>
            </a:r>
            <a:r>
              <a:rPr lang="en-US" sz="2200" b="1" dirty="0"/>
              <a:t>could we work </a:t>
            </a:r>
            <a:r>
              <a:rPr lang="en-US" sz="2200" b="1" i="1" dirty="0"/>
              <a:t>backwards</a:t>
            </a:r>
            <a:r>
              <a:rPr lang="en-US" sz="2200" b="1" dirty="0"/>
              <a:t> to figure out how to get to </a:t>
            </a:r>
            <a:r>
              <a:rPr lang="en-US" sz="2200" b="1" dirty="0" err="1"/>
              <a:t>Exp</a:t>
            </a:r>
            <a:r>
              <a:rPr lang="en-US" sz="2200" b="1" dirty="0"/>
              <a:t>?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26596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F769-FAD6-7741-9E33-F5E9D4F5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That's what parsing is.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BCB8-1498-7040-9E7C-6C3FD8CB1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1676398"/>
          </a:xfrm>
        </p:spPr>
        <p:txBody>
          <a:bodyPr>
            <a:normAutofit/>
          </a:bodyPr>
          <a:lstStyle/>
          <a:p>
            <a:r>
              <a:rPr lang="en-US" dirty="0"/>
              <a:t>given a </a:t>
            </a:r>
            <a:r>
              <a:rPr lang="en-US" b="1" dirty="0"/>
              <a:t>grammar</a:t>
            </a:r>
            <a:r>
              <a:rPr lang="en-US" dirty="0"/>
              <a:t> and an </a:t>
            </a:r>
            <a:r>
              <a:rPr lang="en-US" b="1" dirty="0"/>
              <a:t>input string…</a:t>
            </a:r>
          </a:p>
          <a:p>
            <a:r>
              <a:rPr lang="en-US" b="1" dirty="0"/>
              <a:t>parsing </a:t>
            </a:r>
            <a:r>
              <a:rPr lang="en-US" dirty="0"/>
              <a:t>is figuring out </a:t>
            </a:r>
            <a:r>
              <a:rPr lang="en-US" b="1" dirty="0"/>
              <a:t>the derivation that was needed </a:t>
            </a:r>
            <a:r>
              <a:rPr lang="en-US" dirty="0"/>
              <a:t>to produce the input string. </a:t>
            </a:r>
            <a:r>
              <a:rPr lang="en-US" sz="1600" dirty="0"/>
              <a:t>(and if there </a:t>
            </a:r>
            <a:r>
              <a:rPr lang="en-US" sz="1600" i="1" dirty="0"/>
              <a:t>is </a:t>
            </a:r>
            <a:r>
              <a:rPr lang="en-US" sz="1600" dirty="0"/>
              <a:t>no such derivation, it's an error!)</a:t>
            </a:r>
          </a:p>
          <a:p>
            <a:r>
              <a:rPr lang="en-US" dirty="0"/>
              <a:t>we represent the derivation as... an </a:t>
            </a:r>
            <a:r>
              <a:rPr lang="en-US" b="1" dirty="0"/>
              <a:t>abstract syntax tree!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83E72-A035-764C-82ED-60268E3F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0F85FA-7FC3-5648-8863-6EA4D4328256}"/>
              </a:ext>
            </a:extLst>
          </p:cNvPr>
          <p:cNvSpPr txBox="1"/>
          <p:nvPr/>
        </p:nvSpPr>
        <p:spPr>
          <a:xfrm>
            <a:off x="282576" y="2379384"/>
            <a:ext cx="3298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Id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Id:     &lt;id token&gt;</a:t>
            </a: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   &lt;int token&gt;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ADD7EA-F2FA-3946-9A05-01D10B2892A7}"/>
              </a:ext>
            </a:extLst>
          </p:cNvPr>
          <p:cNvSpPr txBox="1"/>
          <p:nvPr/>
        </p:nvSpPr>
        <p:spPr>
          <a:xfrm>
            <a:off x="3814189" y="2400300"/>
            <a:ext cx="106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(e)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(1 2)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e)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FD82C-BB99-2B48-A3A9-9DBCDB3632A7}"/>
              </a:ext>
            </a:extLst>
          </p:cNvPr>
          <p:cNvSpPr txBox="1"/>
          <p:nvPr/>
        </p:nvSpPr>
        <p:spPr>
          <a:xfrm>
            <a:off x="5033388" y="2400300"/>
            <a:ext cx="41106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Id(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"e"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(Id(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"e"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error!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error!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A78AA-D9E8-384A-953C-81667332E159}"/>
              </a:ext>
            </a:extLst>
          </p:cNvPr>
          <p:cNvSpPr txBox="1"/>
          <p:nvPr/>
        </p:nvSpPr>
        <p:spPr>
          <a:xfrm>
            <a:off x="3814189" y="1992511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Input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C624C6-23D6-2146-A2D9-F918E48F0CFC}"/>
              </a:ext>
            </a:extLst>
          </p:cNvPr>
          <p:cNvSpPr txBox="1"/>
          <p:nvPr/>
        </p:nvSpPr>
        <p:spPr>
          <a:xfrm>
            <a:off x="5033389" y="1992511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Output AST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19AFE-0EBC-9740-811B-DA8DF28DFD17}"/>
              </a:ext>
            </a:extLst>
          </p:cNvPr>
          <p:cNvSpPr txBox="1"/>
          <p:nvPr/>
        </p:nvSpPr>
        <p:spPr>
          <a:xfrm>
            <a:off x="3228907" y="4763670"/>
            <a:ext cx="548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last three would benefit from some </a:t>
            </a:r>
            <a:r>
              <a:rPr lang="en-US" sz="2200" i="1" dirty="0"/>
              <a:t>error messages </a:t>
            </a:r>
            <a:r>
              <a:rPr lang="en-US" sz="2200" dirty="0"/>
              <a:t>that help the programmer.</a:t>
            </a:r>
          </a:p>
        </p:txBody>
      </p:sp>
    </p:spTree>
    <p:extLst>
      <p:ext uri="{BB962C8B-B14F-4D97-AF65-F5344CB8AC3E}">
        <p14:creationId xmlns:p14="http://schemas.microsoft.com/office/powerpoint/2010/main" val="3841456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uiExpand="1" build="p"/>
      <p:bldP spid="13" grpId="0" uiExpand="1" build="p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4AF1-98EB-E843-A36B-D0F95DB0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Okay what </a:t>
            </a:r>
            <a:r>
              <a:rPr lang="en-US" i="1" dirty="0"/>
              <a:t>is</a:t>
            </a:r>
            <a:r>
              <a:rPr lang="en-US" dirty="0"/>
              <a:t> this language?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E1667-5BD6-7442-89EC-144F04ECF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dirty="0"/>
              <a:t>this is a variety of </a:t>
            </a:r>
            <a:r>
              <a:rPr lang="en-US" b="1" dirty="0"/>
              <a:t>Lisp, </a:t>
            </a:r>
            <a:r>
              <a:rPr lang="en-US" dirty="0"/>
              <a:t>a language family that started in 1958.</a:t>
            </a:r>
          </a:p>
          <a:p>
            <a:r>
              <a:rPr lang="en-US" dirty="0"/>
              <a:t>we're not going to get into what it </a:t>
            </a:r>
            <a:r>
              <a:rPr lang="en-US" i="1" dirty="0"/>
              <a:t>means, </a:t>
            </a:r>
            <a:r>
              <a:rPr lang="en-US" dirty="0"/>
              <a:t>but it's a very easy-to-parse example language.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54FA8-1885-E64C-9A41-046807BD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38CD4-6F7B-9647-B82C-F3919053BC6B}"/>
              </a:ext>
            </a:extLst>
          </p:cNvPr>
          <p:cNvSpPr txBox="1"/>
          <p:nvPr/>
        </p:nvSpPr>
        <p:spPr>
          <a:xfrm>
            <a:off x="228600" y="2019300"/>
            <a:ext cx="4381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defun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fact (x) 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x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(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x (fact 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x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)))))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5DCBE5-3E11-0C48-8787-A95976D23E2D}"/>
              </a:ext>
            </a:extLst>
          </p:cNvPr>
          <p:cNvSpPr txBox="1"/>
          <p:nvPr/>
        </p:nvSpPr>
        <p:spPr>
          <a:xfrm>
            <a:off x="932284" y="3741220"/>
            <a:ext cx="4762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Lisp code is basically an AST already; parentheses group children.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B77EC13-E785-DB42-A437-551BDB7DA958}"/>
              </a:ext>
            </a:extLst>
          </p:cNvPr>
          <p:cNvGrpSpPr/>
          <p:nvPr/>
        </p:nvGrpSpPr>
        <p:grpSpPr>
          <a:xfrm>
            <a:off x="4168260" y="1773823"/>
            <a:ext cx="4861688" cy="3141077"/>
            <a:chOff x="4168260" y="1545223"/>
            <a:chExt cx="4861688" cy="31410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5CA2A3-59D3-6148-BA71-ECE7079A6D61}"/>
                </a:ext>
              </a:extLst>
            </p:cNvPr>
            <p:cNvSpPr txBox="1"/>
            <p:nvPr/>
          </p:nvSpPr>
          <p:spPr>
            <a:xfrm>
              <a:off x="4168260" y="2206606"/>
              <a:ext cx="29899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defun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fact  ()        ()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641679-B21D-B948-ADFD-12B1C5479B21}"/>
                </a:ext>
              </a:extLst>
            </p:cNvPr>
            <p:cNvSpPr txBox="1"/>
            <p:nvPr/>
          </p:nvSpPr>
          <p:spPr>
            <a:xfrm>
              <a:off x="7234808" y="3285544"/>
              <a:ext cx="13067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mul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x  ()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AA22AF-5F1F-4F4D-AF74-BDA1ED255958}"/>
                </a:ext>
              </a:extLst>
            </p:cNvPr>
            <p:cNvSpPr txBox="1"/>
            <p:nvPr/>
          </p:nvSpPr>
          <p:spPr>
            <a:xfrm>
              <a:off x="5943148" y="3285544"/>
              <a:ext cx="1082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x  </a:t>
              </a:r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9D703C-F8C0-354E-9882-3C6F29970183}"/>
                </a:ext>
              </a:extLst>
            </p:cNvPr>
            <p:cNvSpPr txBox="1"/>
            <p:nvPr/>
          </p:nvSpPr>
          <p:spPr>
            <a:xfrm>
              <a:off x="5673282" y="2680304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C85288-224C-9641-927E-904AD878D651}"/>
                </a:ext>
              </a:extLst>
            </p:cNvPr>
            <p:cNvSpPr txBox="1"/>
            <p:nvPr/>
          </p:nvSpPr>
          <p:spPr>
            <a:xfrm>
              <a:off x="5120879" y="1545223"/>
              <a:ext cx="409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E85EE9-306E-3749-9E23-56639F98C56E}"/>
                </a:ext>
              </a:extLst>
            </p:cNvPr>
            <p:cNvSpPr txBox="1"/>
            <p:nvPr/>
          </p:nvSpPr>
          <p:spPr>
            <a:xfrm>
              <a:off x="6138766" y="2683581"/>
              <a:ext cx="16433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if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()  </a:t>
              </a:r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()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EC8BCB-9518-E348-9B6E-E5F4196AC853}"/>
                </a:ext>
              </a:extLst>
            </p:cNvPr>
            <p:cNvSpPr txBox="1"/>
            <p:nvPr/>
          </p:nvSpPr>
          <p:spPr>
            <a:xfrm>
              <a:off x="7782165" y="3831224"/>
              <a:ext cx="9701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fact ()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F73F04-5691-7447-9052-3E08AAB4A527}"/>
                </a:ext>
              </a:extLst>
            </p:cNvPr>
            <p:cNvSpPr txBox="1"/>
            <p:nvPr/>
          </p:nvSpPr>
          <p:spPr>
            <a:xfrm>
              <a:off x="7835390" y="4347746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sub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 x  </a:t>
              </a:r>
              <a:r>
                <a:rPr lang="en-US" sz="1600" b="1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728697-93E1-5840-BE07-8EAACE0045CB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 flipH="1">
              <a:off x="5286218" y="1883777"/>
              <a:ext cx="39204" cy="3585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01BF231-A6F8-8D48-8342-1344DA71795D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 flipH="1">
              <a:off x="4493955" y="1883777"/>
              <a:ext cx="831467" cy="3786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C3E73F7-E787-094F-AA51-4AC4E8EE7796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5325422" y="1883777"/>
              <a:ext cx="463933" cy="3228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232754-956B-744B-A63B-0AAF7C44400C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5325422" y="1883777"/>
              <a:ext cx="1532983" cy="3482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BEC3A08-BD53-6646-87C1-F8D658718365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5821720" y="2545161"/>
              <a:ext cx="0" cy="1351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0EC9E1A-774E-E946-BD75-241C265D27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3318" y="2507587"/>
              <a:ext cx="637430" cy="2268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14575BF-ABD6-D74C-8D6E-FE9D0029FB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4914" y="2516579"/>
              <a:ext cx="165834" cy="1954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C8AC47-FF57-3E45-B9B0-8D94BED38204}"/>
                </a:ext>
              </a:extLst>
            </p:cNvPr>
            <p:cNvCxnSpPr>
              <a:cxnSpLocks/>
            </p:cNvCxnSpPr>
            <p:nvPr/>
          </p:nvCxnSpPr>
          <p:spPr>
            <a:xfrm>
              <a:off x="6930748" y="2516579"/>
              <a:ext cx="230207" cy="2178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6F56C17-26D0-9E48-9CDC-B49273AFDF01}"/>
                </a:ext>
              </a:extLst>
            </p:cNvPr>
            <p:cNvCxnSpPr>
              <a:cxnSpLocks/>
            </p:cNvCxnSpPr>
            <p:nvPr/>
          </p:nvCxnSpPr>
          <p:spPr>
            <a:xfrm>
              <a:off x="6933600" y="2512800"/>
              <a:ext cx="592923" cy="167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CD3231-5C71-2749-946D-761C562316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8766" y="3009600"/>
              <a:ext cx="636434" cy="381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1A89408-3C88-E245-9A0F-BE2EFCB980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0374" y="3009600"/>
              <a:ext cx="262026" cy="3365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EACAD5F-3388-FF4E-B26A-2CA68D18028C}"/>
                </a:ext>
              </a:extLst>
            </p:cNvPr>
            <p:cNvCxnSpPr>
              <a:cxnSpLocks/>
            </p:cNvCxnSpPr>
            <p:nvPr/>
          </p:nvCxnSpPr>
          <p:spPr>
            <a:xfrm>
              <a:off x="6781630" y="3004457"/>
              <a:ext cx="103536" cy="3319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2A37B51-945D-4E4F-B0E5-8A343AEA8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5063" y="3004457"/>
              <a:ext cx="60290" cy="301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ABCAFA0-89CC-A44D-844E-B34ECC78EA64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7555353" y="3004457"/>
              <a:ext cx="332840" cy="2810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D8673A3-4E37-FB4D-BA2D-AAC7030CFB54}"/>
                </a:ext>
              </a:extLst>
            </p:cNvPr>
            <p:cNvCxnSpPr>
              <a:cxnSpLocks/>
            </p:cNvCxnSpPr>
            <p:nvPr/>
          </p:nvCxnSpPr>
          <p:spPr>
            <a:xfrm>
              <a:off x="7566409" y="3014505"/>
              <a:ext cx="718975" cy="3219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D22EC8-F627-0E4E-8806-F785B08A6E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8308" y="3624098"/>
              <a:ext cx="198935" cy="2071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F815A9B-F59C-CC4A-BC61-3F1ABBC62938}"/>
                </a:ext>
              </a:extLst>
            </p:cNvPr>
            <p:cNvCxnSpPr>
              <a:cxnSpLocks/>
            </p:cNvCxnSpPr>
            <p:nvPr/>
          </p:nvCxnSpPr>
          <p:spPr>
            <a:xfrm>
              <a:off x="8340132" y="3627455"/>
              <a:ext cx="170822" cy="1909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8EA346B-1B4D-2543-8AD9-1BA4E6D79E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9117" y="4132800"/>
              <a:ext cx="410083" cy="2985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D545186-27C2-654D-9BCC-D3F2BE9A214F}"/>
                </a:ext>
              </a:extLst>
            </p:cNvPr>
            <p:cNvCxnSpPr>
              <a:cxnSpLocks/>
            </p:cNvCxnSpPr>
            <p:nvPr/>
          </p:nvCxnSpPr>
          <p:spPr>
            <a:xfrm>
              <a:off x="8542800" y="4129200"/>
              <a:ext cx="8347" cy="2920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2827694-A31A-A648-8761-460466D465C5}"/>
                </a:ext>
              </a:extLst>
            </p:cNvPr>
            <p:cNvCxnSpPr>
              <a:cxnSpLocks/>
            </p:cNvCxnSpPr>
            <p:nvPr/>
          </p:nvCxnSpPr>
          <p:spPr>
            <a:xfrm>
              <a:off x="8541577" y="4125841"/>
              <a:ext cx="311021" cy="2853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01C908EA-6CDF-8C47-8C6D-2EF30FE49335}"/>
              </a:ext>
            </a:extLst>
          </p:cNvPr>
          <p:cNvSpPr txBox="1"/>
          <p:nvPr/>
        </p:nvSpPr>
        <p:spPr>
          <a:xfrm>
            <a:off x="2622664" y="4580919"/>
            <a:ext cx="4762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is going to make our job of parsing much easier.</a:t>
            </a:r>
          </a:p>
        </p:txBody>
      </p:sp>
    </p:spTree>
    <p:extLst>
      <p:ext uri="{BB962C8B-B14F-4D97-AF65-F5344CB8AC3E}">
        <p14:creationId xmlns:p14="http://schemas.microsoft.com/office/powerpoint/2010/main" val="32585782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777B-411C-E142-AAC4-861708BC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how do we do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4B939-516A-9E49-A8E2-017F174B5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 it's a bit like lexing:</a:t>
            </a:r>
          </a:p>
          <a:p>
            <a:pPr lvl="1"/>
            <a:r>
              <a:rPr lang="en-US" dirty="0"/>
              <a:t>we start at the beginning, looking at </a:t>
            </a:r>
            <a:r>
              <a:rPr lang="en-US" i="1" dirty="0"/>
              <a:t>tokens</a:t>
            </a:r>
            <a:r>
              <a:rPr lang="en-US" dirty="0"/>
              <a:t> one-by-one. </a:t>
            </a:r>
          </a:p>
          <a:p>
            <a:pPr lvl="1"/>
            <a:r>
              <a:rPr lang="en-US" dirty="0"/>
              <a:t>based on the token, we decide which </a:t>
            </a:r>
            <a:r>
              <a:rPr lang="en-US" b="1" dirty="0"/>
              <a:t>rule </a:t>
            </a:r>
            <a:r>
              <a:rPr lang="en-US" dirty="0"/>
              <a:t>we should use.</a:t>
            </a:r>
          </a:p>
          <a:p>
            <a:pPr lvl="1"/>
            <a:r>
              <a:rPr lang="en-US" dirty="0"/>
              <a:t>if none of the rules apply, or if we see something that we don't expect, we can give an </a:t>
            </a:r>
            <a:r>
              <a:rPr lang="en-US" b="1" dirty="0"/>
              <a:t>error.</a:t>
            </a:r>
          </a:p>
          <a:p>
            <a:r>
              <a:rPr lang="en-US" dirty="0"/>
              <a:t>speaking of which…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E3716-911D-894A-AD25-7EEB71E6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7006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829A-0A5F-9D42-B683-E2B97EBE22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Error Handling in Rust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374E9EE-0145-FB4B-BDF9-C72D071EF2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time check: ≤ 17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8BDE0C-5AEE-9241-8C73-3146F09A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1304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1E6F-FC13-2043-8DF5-14722D2E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Result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7F34D-B9A1-3B47-98D9-234062381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914399"/>
          </a:xfrm>
        </p:spPr>
        <p:txBody>
          <a:bodyPr/>
          <a:lstStyle/>
          <a:p>
            <a:r>
              <a:rPr lang="en-US" dirty="0"/>
              <a:t>Rust doesn't have exceptions like Java does. </a:t>
            </a:r>
          </a:p>
          <a:p>
            <a:r>
              <a:rPr lang="en-US" dirty="0"/>
              <a:t>if your function needs to indicate failure, it returns a </a:t>
            </a:r>
            <a:r>
              <a:rPr lang="en-US" b="1" dirty="0"/>
              <a:t>Result.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8C42A-0F30-D640-A54F-8DFB981B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716A9-26DB-1448-AAFD-5BA95D309114}"/>
              </a:ext>
            </a:extLst>
          </p:cNvPr>
          <p:cNvSpPr txBox="1"/>
          <p:nvPr/>
        </p:nvSpPr>
        <p:spPr>
          <a:xfrm>
            <a:off x="2590800" y="1343679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Result&lt;T, E&gt;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F9CE0-983A-6147-A8E7-44EB10BC7C24}"/>
              </a:ext>
            </a:extLst>
          </p:cNvPr>
          <p:cNvSpPr txBox="1"/>
          <p:nvPr/>
        </p:nvSpPr>
        <p:spPr>
          <a:xfrm>
            <a:off x="762000" y="1864815"/>
            <a:ext cx="3257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200" dirty="0"/>
              <a:t> is the type of value returned on </a:t>
            </a:r>
            <a:r>
              <a:rPr lang="en-US" sz="2200" b="1" dirty="0"/>
              <a:t>success. 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4BE12-6B89-D145-99C3-C12907D95EED}"/>
              </a:ext>
            </a:extLst>
          </p:cNvPr>
          <p:cNvSpPr txBox="1"/>
          <p:nvPr/>
        </p:nvSpPr>
        <p:spPr>
          <a:xfrm>
            <a:off x="4572000" y="1866899"/>
            <a:ext cx="3257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lang="en-US" sz="2200" dirty="0"/>
              <a:t> is the type of value returned for </a:t>
            </a:r>
            <a:r>
              <a:rPr lang="en-US" sz="2200" b="1" dirty="0"/>
              <a:t>errors. </a:t>
            </a: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11583-4866-B242-8A29-09DBFA348B7A}"/>
              </a:ext>
            </a:extLst>
          </p:cNvPr>
          <p:cNvSpPr txBox="1"/>
          <p:nvPr/>
        </p:nvSpPr>
        <p:spPr>
          <a:xfrm>
            <a:off x="381000" y="2713193"/>
            <a:ext cx="40195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if the function doesn't return any value on success, you can use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200" dirty="0"/>
              <a:t> – this is Rust's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2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9BB94A-F63D-6C4B-8639-F399DE84D396}"/>
              </a:ext>
            </a:extLst>
          </p:cNvPr>
          <p:cNvSpPr txBox="1"/>
          <p:nvPr/>
        </p:nvSpPr>
        <p:spPr>
          <a:xfrm>
            <a:off x="4572000" y="2857500"/>
            <a:ext cx="419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any type can be used for errors, but typically it's an </a:t>
            </a:r>
            <a:r>
              <a:rPr lang="en-US" sz="2200" dirty="0" err="1"/>
              <a:t>enum</a:t>
            </a:r>
            <a:r>
              <a:rPr lang="en-US" sz="22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FCC106-E766-3843-A0DB-A4DE5EB39D2D}"/>
              </a:ext>
            </a:extLst>
          </p:cNvPr>
          <p:cNvSpPr txBox="1"/>
          <p:nvPr/>
        </p:nvSpPr>
        <p:spPr>
          <a:xfrm>
            <a:off x="1095375" y="3881131"/>
            <a:ext cx="6743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Result&lt;Box&lt;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AstNode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&gt;, 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ParseError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39F44B-315E-EB4D-9C50-DD1D0B6CDEB7}"/>
              </a:ext>
            </a:extLst>
          </p:cNvPr>
          <p:cNvSpPr txBox="1"/>
          <p:nvPr/>
        </p:nvSpPr>
        <p:spPr>
          <a:xfrm>
            <a:off x="152400" y="4419939"/>
            <a:ext cx="86296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is a bit unwieldy, so we can use a type alias to shorten it: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A94969-9509-6C48-9C7F-B9B37650689A}"/>
              </a:ext>
            </a:extLst>
          </p:cNvPr>
          <p:cNvSpPr txBox="1"/>
          <p:nvPr/>
        </p:nvSpPr>
        <p:spPr>
          <a:xfrm>
            <a:off x="276225" y="4909238"/>
            <a:ext cx="85915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ParseResult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= Result&lt;Box&lt;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AstNode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&gt;,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ParseError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&gt;;</a:t>
            </a:r>
          </a:p>
        </p:txBody>
      </p:sp>
    </p:spTree>
    <p:extLst>
      <p:ext uri="{BB962C8B-B14F-4D97-AF65-F5344CB8AC3E}">
        <p14:creationId xmlns:p14="http://schemas.microsoft.com/office/powerpoint/2010/main" val="2583871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0332-5229-4D4F-84D7-F1738BD7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Err, ok…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D679C-9753-A64D-B592-D6009556D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609599"/>
          </a:xfrm>
        </p:spPr>
        <p:txBody>
          <a:bodyPr/>
          <a:lstStyle/>
          <a:p>
            <a:r>
              <a:rPr lang="en-US" dirty="0"/>
              <a:t>you create Results with the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Ok()</a:t>
            </a:r>
            <a:r>
              <a:rPr lang="en-US" dirty="0"/>
              <a:t> and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Err()</a:t>
            </a:r>
            <a:r>
              <a:rPr lang="en-US" dirty="0"/>
              <a:t> constructors.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49B68-D15F-7B4E-88D0-B8A5761E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C5C24-F043-3F40-A78C-EE1709FB5F9E}"/>
              </a:ext>
            </a:extLst>
          </p:cNvPr>
          <p:cNvSpPr txBox="1"/>
          <p:nvPr/>
        </p:nvSpPr>
        <p:spPr>
          <a:xfrm>
            <a:off x="838200" y="961007"/>
            <a:ext cx="74676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thing.is_bad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common to use 'return' to immediately</a:t>
            </a:r>
          </a:p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leave the function. </a:t>
            </a:r>
            <a:r>
              <a:rPr lang="en-US" sz="2200" i="1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kinda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like throwing</a:t>
            </a:r>
            <a:b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Err(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ParseError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::whatever());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77244F-1F02-1446-9827-A7DC31E29727}"/>
              </a:ext>
            </a:extLst>
          </p:cNvPr>
          <p:cNvSpPr txBox="1"/>
          <p:nvPr/>
        </p:nvSpPr>
        <p:spPr>
          <a:xfrm>
            <a:off x="152400" y="2857500"/>
            <a:ext cx="8001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you can </a:t>
            </a:r>
            <a:r>
              <a:rPr lang="en-US" sz="2200" b="1" dirty="0"/>
              <a:t>match </a:t>
            </a:r>
            <a:r>
              <a:rPr lang="en-US" sz="2200" dirty="0"/>
              <a:t>on a Result using 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Ok()</a:t>
            </a:r>
            <a:r>
              <a:rPr lang="en-US" sz="2200" dirty="0">
                <a:solidFill>
                  <a:srgbClr val="000000"/>
                </a:solidFill>
              </a:rPr>
              <a:t> and 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Err()</a:t>
            </a:r>
            <a:r>
              <a:rPr lang="en-US" sz="220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33733-555D-C947-A636-C6F674376F2D}"/>
              </a:ext>
            </a:extLst>
          </p:cNvPr>
          <p:cNvSpPr txBox="1"/>
          <p:nvPr/>
        </p:nvSpPr>
        <p:spPr>
          <a:xfrm>
            <a:off x="838199" y="3392840"/>
            <a:ext cx="73914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parse_thing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(input) {</a:t>
            </a:r>
            <a:b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Ok(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 =&gt; {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"{:?}"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); }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Err(e)  =&gt; {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 no: {}"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e); }    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55D6CD-FF6A-2641-9ED0-3D20CE45BEE5}"/>
              </a:ext>
            </a:extLst>
          </p:cNvPr>
          <p:cNvGrpSpPr/>
          <p:nvPr/>
        </p:nvGrpSpPr>
        <p:grpSpPr>
          <a:xfrm>
            <a:off x="2121076" y="4497884"/>
            <a:ext cx="7003874" cy="798016"/>
            <a:chOff x="2121076" y="3667125"/>
            <a:chExt cx="7003874" cy="79801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015BAA-21EE-334B-AB78-8B45843D8EA2}"/>
                </a:ext>
              </a:extLst>
            </p:cNvPr>
            <p:cNvSpPr txBox="1"/>
            <p:nvPr/>
          </p:nvSpPr>
          <p:spPr>
            <a:xfrm>
              <a:off x="2495550" y="3695700"/>
              <a:ext cx="66294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match patterns </a:t>
              </a:r>
              <a:r>
                <a:rPr lang="en-US" sz="2200" b="1" dirty="0"/>
                <a:t>declare local variables </a:t>
              </a:r>
              <a:r>
                <a:rPr lang="en-US" sz="2200" dirty="0"/>
                <a:t>usable in their code blocks, if that was unclear before.</a:t>
              </a:r>
            </a:p>
          </p:txBody>
        </p:sp>
        <p:sp>
          <p:nvSpPr>
            <p:cNvPr id="9" name="Bent Arrow 8">
              <a:extLst>
                <a:ext uri="{FF2B5EF4-FFF2-40B4-BE49-F238E27FC236}">
                  <a16:creationId xmlns:a16="http://schemas.microsoft.com/office/drawing/2014/main" id="{C6D3099F-BB7F-A04C-829C-3ED732898475}"/>
                </a:ext>
              </a:extLst>
            </p:cNvPr>
            <p:cNvSpPr/>
            <p:nvPr/>
          </p:nvSpPr>
          <p:spPr>
            <a:xfrm rot="16200000">
              <a:off x="2133503" y="3654698"/>
              <a:ext cx="368670" cy="393524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75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6193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58F9-DDC3-E948-BF20-3B759E8E7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???????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59AD7-32F2-FD4F-926A-2FEDC0322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609599"/>
          </a:xfrm>
        </p:spPr>
        <p:txBody>
          <a:bodyPr/>
          <a:lstStyle/>
          <a:p>
            <a:r>
              <a:rPr lang="en-US" dirty="0"/>
              <a:t>when using Result-returning functions, a really ugly pattern appears: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8FC46-9CFE-AE42-AB92-3C9707D1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6CADF-665C-574D-89AF-68A24985C8E8}"/>
              </a:ext>
            </a:extLst>
          </p:cNvPr>
          <p:cNvSpPr txBox="1"/>
          <p:nvPr/>
        </p:nvSpPr>
        <p:spPr>
          <a:xfrm>
            <a:off x="304800" y="1028700"/>
            <a:ext cx="4495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step_one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(input) {</a:t>
            </a:r>
            <a:b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Ok(a) =&gt; { 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step_two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(a) {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Ok(b) =&gt; { 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step_three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(b) {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Ok(c) =&gt; {</a:t>
            </a:r>
          </a:p>
          <a:p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return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Ok(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c.to_string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()); 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}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Err(e) =&gt; {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Err(e); }</a:t>
            </a:r>
            <a:b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Err(e) =&gt; {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Err(e); }</a:t>
            </a:r>
            <a:b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Err(e) =&gt; {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Err(e); }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9BF60-E81F-1D49-95C3-BCB0AC1719F7}"/>
              </a:ext>
            </a:extLst>
          </p:cNvPr>
          <p:cNvSpPr txBox="1"/>
          <p:nvPr/>
        </p:nvSpPr>
        <p:spPr>
          <a:xfrm>
            <a:off x="5257800" y="1064359"/>
            <a:ext cx="3124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is terrible. instead: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F52D8-7C59-3E4C-AC9F-E54EBAD14F82}"/>
              </a:ext>
            </a:extLst>
          </p:cNvPr>
          <p:cNvSpPr txBox="1"/>
          <p:nvPr/>
        </p:nvSpPr>
        <p:spPr>
          <a:xfrm>
            <a:off x="5129212" y="1631802"/>
            <a:ext cx="3771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a =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step_one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(input)?;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b =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step_two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(a)?;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c =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step_three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(b)?;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Ok(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c.to_string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F9692-140F-3847-BA61-42F915FF3627}"/>
              </a:ext>
            </a:extLst>
          </p:cNvPr>
          <p:cNvSpPr txBox="1"/>
          <p:nvPr/>
        </p:nvSpPr>
        <p:spPr>
          <a:xfrm>
            <a:off x="5257799" y="3091797"/>
            <a:ext cx="35147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x?</a:t>
            </a:r>
            <a:r>
              <a:rPr lang="en-US" sz="2200" dirty="0"/>
              <a:t> means, "if </a:t>
            </a:r>
            <a:r>
              <a:rPr lang="en-US" sz="2200" b="1" dirty="0"/>
              <a:t>x</a:t>
            </a:r>
            <a:r>
              <a:rPr lang="en-US" sz="2200" dirty="0"/>
              <a:t> is an error, return it; otherwise, give me the success value.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C5A9E-1FAB-AF45-A3A2-F4B610738A97}"/>
              </a:ext>
            </a:extLst>
          </p:cNvPr>
          <p:cNvSpPr txBox="1"/>
          <p:nvPr/>
        </p:nvSpPr>
        <p:spPr>
          <a:xfrm>
            <a:off x="5384007" y="4382706"/>
            <a:ext cx="31765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we'll be seeing this a lot in parsing code!</a:t>
            </a:r>
          </a:p>
        </p:txBody>
      </p:sp>
    </p:spTree>
    <p:extLst>
      <p:ext uri="{BB962C8B-B14F-4D97-AF65-F5344CB8AC3E}">
        <p14:creationId xmlns:p14="http://schemas.microsoft.com/office/powerpoint/2010/main" val="28364595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49A8D-0F1F-8A4A-A068-9ED6C63B70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Recursive Descent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7C2CBA6-7455-FC4A-BDC6-043FDDCF5C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sz="1400" dirty="0">
                <a:solidFill>
                  <a:srgbClr val="FFFFFF"/>
                </a:solidFill>
              </a:rPr>
              <a:t>time check: ≤ 34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D800C-588E-254D-9978-7F51703E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1224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B979F0-D7AB-3541-AF3E-69EE8FFFD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intuit our way through this?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B2EE9C-1443-B341-B44D-755A93FE1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57199"/>
          </a:xfrm>
        </p:spPr>
        <p:txBody>
          <a:bodyPr/>
          <a:lstStyle/>
          <a:p>
            <a:r>
              <a:rPr lang="en-US" dirty="0"/>
              <a:t>with this grammar, and this sequence of tokens as our input…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12BA4-1E34-3641-82EF-EC7B7AC9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F0C31-14C6-5E47-A2CA-85D716F5E2E7}"/>
              </a:ext>
            </a:extLst>
          </p:cNvPr>
          <p:cNvSpPr txBox="1"/>
          <p:nvPr/>
        </p:nvSpPr>
        <p:spPr>
          <a:xfrm>
            <a:off x="4810125" y="942975"/>
            <a:ext cx="419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Id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Id:     &lt;id token&gt;</a:t>
            </a: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   &lt;int literal token&gt;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C3144-ADD4-BB4C-9B49-B7B380B2A2AF}"/>
              </a:ext>
            </a:extLst>
          </p:cNvPr>
          <p:cNvSpPr txBox="1"/>
          <p:nvPr/>
        </p:nvSpPr>
        <p:spPr>
          <a:xfrm>
            <a:off x="304801" y="1866304"/>
            <a:ext cx="4267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'hi'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'5'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7D58AA-457D-3E43-833F-2ADE9D44737C}"/>
              </a:ext>
            </a:extLst>
          </p:cNvPr>
          <p:cNvGrpSpPr/>
          <p:nvPr/>
        </p:nvGrpSpPr>
        <p:grpSpPr>
          <a:xfrm>
            <a:off x="549451" y="2282809"/>
            <a:ext cx="8289748" cy="769441"/>
            <a:chOff x="2121076" y="3614225"/>
            <a:chExt cx="8289748" cy="76944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E0E4D5-6B7F-CF49-9C56-523704975ABD}"/>
                </a:ext>
              </a:extLst>
            </p:cNvPr>
            <p:cNvSpPr txBox="1"/>
            <p:nvPr/>
          </p:nvSpPr>
          <p:spPr>
            <a:xfrm>
              <a:off x="2514599" y="3614225"/>
              <a:ext cx="789622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we are here. our ultimate goal is to build an </a:t>
              </a:r>
              <a:r>
                <a:rPr lang="en-US" sz="2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Exp</a:t>
              </a:r>
              <a:r>
                <a:rPr lang="en-US" sz="2200" b="1" dirty="0"/>
                <a:t>. </a:t>
              </a:r>
              <a:r>
                <a:rPr lang="en-US" sz="2200" dirty="0"/>
                <a:t>this token is a left-</a:t>
              </a:r>
              <a:r>
                <a:rPr lang="en-US" sz="2200" dirty="0" err="1"/>
                <a:t>paren</a:t>
              </a:r>
              <a:r>
                <a:rPr lang="en-US" sz="2200" dirty="0"/>
                <a:t>, so </a:t>
              </a:r>
              <a:r>
                <a:rPr lang="en-US" sz="2200" b="1" dirty="0"/>
                <a:t>which rule </a:t>
              </a:r>
              <a:r>
                <a:rPr lang="en-US" sz="2200" dirty="0"/>
                <a:t>do we think applies here?</a:t>
              </a:r>
              <a:endParaRPr lang="en-US" sz="2200" b="1" dirty="0"/>
            </a:p>
          </p:txBody>
        </p:sp>
        <p:sp>
          <p:nvSpPr>
            <p:cNvPr id="10" name="Bent Arrow 9">
              <a:extLst>
                <a:ext uri="{FF2B5EF4-FFF2-40B4-BE49-F238E27FC236}">
                  <a16:creationId xmlns:a16="http://schemas.microsoft.com/office/drawing/2014/main" id="{3871D938-E561-9B4E-AC56-26AE1F8FAAA2}"/>
                </a:ext>
              </a:extLst>
            </p:cNvPr>
            <p:cNvSpPr/>
            <p:nvPr/>
          </p:nvSpPr>
          <p:spPr>
            <a:xfrm rot="16200000">
              <a:off x="2133503" y="3654698"/>
              <a:ext cx="368670" cy="393524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75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5D6ABFB-2033-1F47-AACB-613CE92ADE35}"/>
              </a:ext>
            </a:extLst>
          </p:cNvPr>
          <p:cNvSpPr txBox="1"/>
          <p:nvPr/>
        </p:nvSpPr>
        <p:spPr>
          <a:xfrm>
            <a:off x="6512101" y="3030484"/>
            <a:ext cx="1485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200" dirty="0"/>
              <a:t>!</a:t>
            </a:r>
            <a:endParaRPr lang="en-US" sz="2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DDC1E-AE77-0749-A1C9-7A98B1315334}"/>
              </a:ext>
            </a:extLst>
          </p:cNvPr>
          <p:cNvSpPr txBox="1"/>
          <p:nvPr/>
        </p:nvSpPr>
        <p:spPr>
          <a:xfrm>
            <a:off x="1666875" y="3512336"/>
            <a:ext cx="5962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after the left-</a:t>
            </a:r>
            <a:r>
              <a:rPr lang="en-US" sz="2200" dirty="0" err="1"/>
              <a:t>paren</a:t>
            </a:r>
            <a:r>
              <a:rPr lang="en-US" sz="2200" dirty="0"/>
              <a:t>, we should see </a:t>
            </a:r>
            <a:r>
              <a:rPr lang="en-US" sz="2200" b="1" dirty="0"/>
              <a:t>one or more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200" b="1" dirty="0" err="1"/>
              <a:t>s</a:t>
            </a:r>
            <a:r>
              <a:rPr lang="en-US" sz="2200" b="1" dirty="0"/>
              <a:t>, </a:t>
            </a:r>
            <a:r>
              <a:rPr lang="en-US" sz="2200" dirty="0"/>
              <a:t>followed by a right-paren.</a:t>
            </a:r>
            <a:endParaRPr lang="en-US" sz="2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424ED-EB85-A046-8F98-DEEF8E26434D}"/>
              </a:ext>
            </a:extLst>
          </p:cNvPr>
          <p:cNvSpPr txBox="1"/>
          <p:nvPr/>
        </p:nvSpPr>
        <p:spPr>
          <a:xfrm>
            <a:off x="1373980" y="4527519"/>
            <a:ext cx="63960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we're </a:t>
            </a:r>
            <a:r>
              <a:rPr lang="en-US" sz="2200" i="1" dirty="0"/>
              <a:t>already</a:t>
            </a:r>
            <a:r>
              <a:rPr lang="en-US" sz="2200" dirty="0"/>
              <a:t> trying to parse an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200" dirty="0"/>
              <a:t>. how do we parse a new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200" b="1" dirty="0"/>
              <a:t> </a:t>
            </a:r>
            <a:r>
              <a:rPr lang="en-US" sz="2200" dirty="0"/>
              <a:t>without finishing this one?</a:t>
            </a:r>
          </a:p>
        </p:txBody>
      </p:sp>
    </p:spTree>
    <p:extLst>
      <p:ext uri="{BB962C8B-B14F-4D97-AF65-F5344CB8AC3E}">
        <p14:creationId xmlns:p14="http://schemas.microsoft.com/office/powerpoint/2010/main" val="36394261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9DBF2-21A3-D744-AF89-D3C5BF61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rules are recursive, so…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544DE-62CE-0140-9984-01DF60E61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dirty="0"/>
              <a:t>recall that all CFGs have this </a:t>
            </a:r>
            <a:r>
              <a:rPr lang="en-US" b="1" dirty="0"/>
              <a:t>recursive rule structure. </a:t>
            </a:r>
            <a:endParaRPr lang="en-US" dirty="0"/>
          </a:p>
          <a:p>
            <a:r>
              <a:rPr lang="en-US" dirty="0"/>
              <a:t>well if the dependencies between the rules are recursive…</a:t>
            </a:r>
          </a:p>
          <a:p>
            <a:pPr lvl="1"/>
            <a:r>
              <a:rPr lang="en-US" dirty="0"/>
              <a:t>why not use recursive </a:t>
            </a:r>
            <a:r>
              <a:rPr lang="en-US" i="1" dirty="0"/>
              <a:t>functions</a:t>
            </a:r>
            <a:r>
              <a:rPr lang="en-US" dirty="0"/>
              <a:t> to model the rules?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E90E5-3E91-E849-B2A1-A055A10A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0DB4A-45C8-DE4D-9D09-B615F7D5F506}"/>
              </a:ext>
            </a:extLst>
          </p:cNvPr>
          <p:cNvSpPr txBox="1"/>
          <p:nvPr/>
        </p:nvSpPr>
        <p:spPr>
          <a:xfrm>
            <a:off x="180975" y="1643896"/>
            <a:ext cx="381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Id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'('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Id:     &lt;id token&gt;</a:t>
            </a:r>
          </a:p>
          <a:p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:    &lt;int token&gt;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43F2D-2697-C946-AF8E-5456DB97218A}"/>
              </a:ext>
            </a:extLst>
          </p:cNvPr>
          <p:cNvSpPr txBox="1"/>
          <p:nvPr/>
        </p:nvSpPr>
        <p:spPr>
          <a:xfrm>
            <a:off x="180975" y="3125331"/>
            <a:ext cx="4343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match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self.cur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Id     =&gt;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parse_id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IntLit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=&gt;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parse_num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(),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LParen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=&gt;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parse_parens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(),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BF5E3-A958-8249-9EC6-2A1330AE5BE6}"/>
              </a:ext>
            </a:extLst>
          </p:cNvPr>
          <p:cNvSpPr txBox="1"/>
          <p:nvPr/>
        </p:nvSpPr>
        <p:spPr>
          <a:xfrm>
            <a:off x="4848224" y="3125331"/>
            <a:ext cx="40862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parse_parens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eat_an_lparen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= …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parse_exp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()…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eat_an_rparen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exps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6BCAA-94E2-094F-AF07-72B7BF7A65A3}"/>
              </a:ext>
            </a:extLst>
          </p:cNvPr>
          <p:cNvSpPr txBox="1"/>
          <p:nvPr/>
        </p:nvSpPr>
        <p:spPr>
          <a:xfrm>
            <a:off x="4038600" y="1859459"/>
            <a:ext cx="419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let's write some </a:t>
            </a:r>
            <a:r>
              <a:rPr lang="en-US" sz="2200" b="1" dirty="0"/>
              <a:t>pseudocode</a:t>
            </a:r>
            <a:r>
              <a:rPr lang="en-US" sz="2200" dirty="0"/>
              <a:t> to get our thoughts down.</a:t>
            </a:r>
            <a:endParaRPr lang="en-US" sz="2200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3E3C606-5C69-A246-AD15-19E382292298}"/>
              </a:ext>
            </a:extLst>
          </p:cNvPr>
          <p:cNvGrpSpPr/>
          <p:nvPr/>
        </p:nvGrpSpPr>
        <p:grpSpPr>
          <a:xfrm>
            <a:off x="4958137" y="4144027"/>
            <a:ext cx="3461963" cy="1137033"/>
            <a:chOff x="6753224" y="2900672"/>
            <a:chExt cx="3461963" cy="113703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57D574-28BA-4249-B080-F342901AD194}"/>
                </a:ext>
              </a:extLst>
            </p:cNvPr>
            <p:cNvSpPr txBox="1"/>
            <p:nvPr/>
          </p:nvSpPr>
          <p:spPr>
            <a:xfrm>
              <a:off x="6753224" y="3668373"/>
              <a:ext cx="30560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00" dirty="0"/>
                <a:t>(looping happens here)</a:t>
              </a:r>
              <a:endParaRPr lang="en-US" sz="1800" b="1" dirty="0"/>
            </a:p>
          </p:txBody>
        </p:sp>
        <p:sp>
          <p:nvSpPr>
            <p:cNvPr id="11" name="Bent Arrow 10">
              <a:extLst>
                <a:ext uri="{FF2B5EF4-FFF2-40B4-BE49-F238E27FC236}">
                  <a16:creationId xmlns:a16="http://schemas.microsoft.com/office/drawing/2014/main" id="{B656C374-EE83-BF4E-9157-65D1EF29F1F2}"/>
                </a:ext>
              </a:extLst>
            </p:cNvPr>
            <p:cNvSpPr/>
            <p:nvPr/>
          </p:nvSpPr>
          <p:spPr>
            <a:xfrm rot="5400000" flipH="1">
              <a:off x="9500950" y="3208972"/>
              <a:ext cx="1022537" cy="405937"/>
            </a:xfrm>
            <a:prstGeom prst="bentArrow">
              <a:avLst>
                <a:gd name="adj1" fmla="val 25000"/>
                <a:gd name="adj2" fmla="val 25000"/>
                <a:gd name="adj3" fmla="val 25000"/>
                <a:gd name="adj4" fmla="val 75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81676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 bldLvl="5"/>
      <p:bldP spid="7" grpId="0" uiExpand="1" build="p" bldLvl="5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67A5-FE96-0647-A46D-114ED2C6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Believe it or not, that's pretty much right!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351B-83AC-8C4F-B614-C44F4367A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we've just (pseudo-)written is a </a:t>
            </a:r>
            <a:r>
              <a:rPr lang="en-US" b="1" dirty="0"/>
              <a:t>recursive descent parser:</a:t>
            </a:r>
          </a:p>
          <a:p>
            <a:pPr lvl="1"/>
            <a:r>
              <a:rPr lang="en-US" b="1" dirty="0"/>
              <a:t>recursive,</a:t>
            </a:r>
            <a:r>
              <a:rPr lang="en-US" dirty="0"/>
              <a:t> because uh, it is!</a:t>
            </a:r>
          </a:p>
          <a:p>
            <a:pPr lvl="1"/>
            <a:r>
              <a:rPr lang="en-US" dirty="0"/>
              <a:t>and </a:t>
            </a:r>
            <a:r>
              <a:rPr lang="en-US" b="1" dirty="0"/>
              <a:t>descent, </a:t>
            </a:r>
            <a:r>
              <a:rPr lang="en-US" dirty="0"/>
              <a:t>because we start at the </a:t>
            </a:r>
            <a:r>
              <a:rPr lang="en-US" b="1" dirty="0"/>
              <a:t>root rule,</a:t>
            </a:r>
            <a:r>
              <a:rPr lang="en-US" dirty="0"/>
              <a:t> and </a:t>
            </a:r>
            <a:r>
              <a:rPr lang="en-US" b="1" dirty="0"/>
              <a:t>descend </a:t>
            </a:r>
            <a:r>
              <a:rPr lang="en-US" dirty="0"/>
              <a:t>into the other rules until we get to the terminals.</a:t>
            </a:r>
          </a:p>
          <a:p>
            <a:r>
              <a:rPr lang="en-US" dirty="0"/>
              <a:t>the issue with "trying to parse an </a:t>
            </a:r>
            <a:r>
              <a:rPr lang="en-US" dirty="0" err="1"/>
              <a:t>Exp</a:t>
            </a:r>
            <a:r>
              <a:rPr lang="en-US" dirty="0"/>
              <a:t> while parsing an </a:t>
            </a:r>
            <a:r>
              <a:rPr lang="en-US" dirty="0" err="1"/>
              <a:t>Exp</a:t>
            </a:r>
            <a:r>
              <a:rPr lang="en-US" dirty="0"/>
              <a:t>" is solved </a:t>
            </a:r>
            <a:r>
              <a:rPr lang="en-US" b="1" dirty="0"/>
              <a:t>by using recursion</a:t>
            </a:r>
          </a:p>
          <a:p>
            <a:pPr lvl="1"/>
            <a:r>
              <a:rPr lang="en-US" dirty="0"/>
              <a:t>when you </a:t>
            </a:r>
            <a:r>
              <a:rPr lang="en-US" dirty="0" err="1"/>
              <a:t>recurse</a:t>
            </a:r>
            <a:r>
              <a:rPr lang="en-US" dirty="0"/>
              <a:t>, the caller rule's execution is paused, and it </a:t>
            </a:r>
            <a:r>
              <a:rPr lang="en-US" b="1" dirty="0"/>
              <a:t>remembers its place </a:t>
            </a:r>
            <a:r>
              <a:rPr lang="en-US" dirty="0"/>
              <a:t>in the rule.</a:t>
            </a:r>
          </a:p>
          <a:p>
            <a:pPr lvl="1"/>
            <a:r>
              <a:rPr lang="en-US" dirty="0"/>
              <a:t>it can then resume parsing after the callee rule has done its work.</a:t>
            </a:r>
          </a:p>
          <a:p>
            <a:r>
              <a:rPr lang="en-US" dirty="0"/>
              <a:t>so how can we be a little less "pseudo" about this code?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D3445-A575-2C46-9B4E-676B4C25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2366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8B94-B82D-0941-B3CE-40275732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Rules to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BD0B9-6E1C-9341-8F99-58C0F9270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>
            <a:normAutofit/>
          </a:bodyPr>
          <a:lstStyle/>
          <a:p>
            <a:r>
              <a:rPr lang="en-US" dirty="0"/>
              <a:t>each grammar rule is really a </a:t>
            </a:r>
            <a:r>
              <a:rPr lang="en-US" b="1" dirty="0"/>
              <a:t>list of steps, </a:t>
            </a:r>
            <a:r>
              <a:rPr lang="en-US" dirty="0"/>
              <a:t>and translating them to </a:t>
            </a:r>
            <a:r>
              <a:rPr lang="en-US" i="1" dirty="0"/>
              <a:t>real</a:t>
            </a:r>
            <a:r>
              <a:rPr lang="en-US" dirty="0"/>
              <a:t> code is relatively straightforward: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6C1D2-BC7F-5547-9DCD-6433B799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18EAB-6E50-3D4C-AEDD-C193698A8976}"/>
              </a:ext>
            </a:extLst>
          </p:cNvPr>
          <p:cNvSpPr txBox="1"/>
          <p:nvPr/>
        </p:nvSpPr>
        <p:spPr>
          <a:xfrm>
            <a:off x="1143000" y="1333500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'('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4C1C86-65BF-C74E-90B0-9FFAE99C4B4D}"/>
              </a:ext>
            </a:extLst>
          </p:cNvPr>
          <p:cNvSpPr txBox="1"/>
          <p:nvPr/>
        </p:nvSpPr>
        <p:spPr>
          <a:xfrm>
            <a:off x="1143000" y="1817905"/>
            <a:ext cx="6858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this says that to parse a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2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expect a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'('</a:t>
            </a:r>
            <a:r>
              <a:rPr lang="en-US" sz="2200" dirty="0"/>
              <a:t> token and skip it.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parse one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200" dirty="0"/>
              <a:t>, since that's the minimum number.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while we don't see a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  <a:r>
              <a:rPr lang="en-US" sz="2200" dirty="0"/>
              <a:t> token,</a:t>
            </a:r>
          </a:p>
          <a:p>
            <a:pPr marL="813816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keep parsing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</a:t>
            </a:r>
            <a:r>
              <a:rPr lang="en-US" sz="2200" dirty="0" err="1"/>
              <a:t>s</a:t>
            </a:r>
            <a:r>
              <a:rPr lang="en-US" sz="2200" dirty="0"/>
              <a:t> and put them into a list.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expect a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')'</a:t>
            </a:r>
            <a:r>
              <a:rPr lang="en-US" sz="2200" dirty="0"/>
              <a:t> token and skip 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AE0A7E-37EC-744A-8C8A-EB8A14962EF0}"/>
              </a:ext>
            </a:extLst>
          </p:cNvPr>
          <p:cNvSpPr txBox="1"/>
          <p:nvPr/>
        </p:nvSpPr>
        <p:spPr>
          <a:xfrm>
            <a:off x="1524000" y="4076700"/>
            <a:ext cx="624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if all of these steps succeed, we can create an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Parens</a:t>
            </a:r>
            <a:r>
              <a:rPr lang="en-US" sz="2200" dirty="0"/>
              <a:t> AST node and return it!</a:t>
            </a:r>
          </a:p>
        </p:txBody>
      </p:sp>
    </p:spTree>
    <p:extLst>
      <p:ext uri="{BB962C8B-B14F-4D97-AF65-F5344CB8AC3E}">
        <p14:creationId xmlns:p14="http://schemas.microsoft.com/office/powerpoint/2010/main" val="11205266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 bldLvl="5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354D-1451-464E-9D2D-44C1D8F3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metalanguage rule correspondences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C5D8-A395-0E42-B4F8-D6F8D44BB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dirty="0"/>
              <a:t>there's a nice correspondence between the things we see in the grammar metalanguage and the patterns we use in our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F8995-7506-4541-B2F7-E29BDFDC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FB072-C316-1743-98EB-B9AE1CEFEF8D}"/>
              </a:ext>
            </a:extLst>
          </p:cNvPr>
          <p:cNvSpPr txBox="1"/>
          <p:nvPr/>
        </p:nvSpPr>
        <p:spPr>
          <a:xfrm>
            <a:off x="838200" y="134361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FAEEE-260A-E943-9A71-E31C99C41890}"/>
              </a:ext>
            </a:extLst>
          </p:cNvPr>
          <p:cNvSpPr txBox="1"/>
          <p:nvPr/>
        </p:nvSpPr>
        <p:spPr>
          <a:xfrm>
            <a:off x="533400" y="2058769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 |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235AE-016E-AE48-B42B-381F6B3A41CB}"/>
              </a:ext>
            </a:extLst>
          </p:cNvPr>
          <p:cNvSpPr txBox="1"/>
          <p:nvPr/>
        </p:nvSpPr>
        <p:spPr>
          <a:xfrm>
            <a:off x="1066800" y="2973169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546B9-95FA-7D4D-8026-E6F5D2F77221}"/>
              </a:ext>
            </a:extLst>
          </p:cNvPr>
          <p:cNvSpPr txBox="1"/>
          <p:nvPr/>
        </p:nvSpPr>
        <p:spPr>
          <a:xfrm>
            <a:off x="1066800" y="3887569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AA78EF-2176-B44C-98CC-C9E63E7B8B79}"/>
              </a:ext>
            </a:extLst>
          </p:cNvPr>
          <p:cNvSpPr txBox="1"/>
          <p:nvPr/>
        </p:nvSpPr>
        <p:spPr>
          <a:xfrm>
            <a:off x="1066800" y="458187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B5BA7E-D1C0-4942-9555-1E24E8ADE311}"/>
              </a:ext>
            </a:extLst>
          </p:cNvPr>
          <p:cNvSpPr txBox="1"/>
          <p:nvPr/>
        </p:nvSpPr>
        <p:spPr>
          <a:xfrm>
            <a:off x="1828800" y="1389780"/>
            <a:ext cx="662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sequencing: </a:t>
            </a:r>
            <a:r>
              <a:rPr lang="en-US" sz="2200" dirty="0"/>
              <a:t>parse an </a:t>
            </a:r>
            <a:r>
              <a:rPr lang="en-US" sz="2200" b="1" dirty="0"/>
              <a:t>A</a:t>
            </a:r>
            <a:r>
              <a:rPr lang="en-US" sz="2200" dirty="0"/>
              <a:t>; </a:t>
            </a:r>
            <a:r>
              <a:rPr lang="en-US" sz="1100" dirty="0"/>
              <a:t>if that succeeds,</a:t>
            </a:r>
            <a:r>
              <a:rPr lang="en-US" sz="2200" dirty="0"/>
              <a:t> then parse a </a:t>
            </a:r>
            <a:r>
              <a:rPr lang="en-US" sz="2200" b="1" dirty="0"/>
              <a:t>B</a:t>
            </a:r>
            <a:r>
              <a:rPr lang="en-US" sz="2200" dirty="0"/>
              <a:t>.</a:t>
            </a:r>
            <a:endParaRPr lang="en-US" sz="2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2F38CA-031F-5846-963E-041EE4017353}"/>
              </a:ext>
            </a:extLst>
          </p:cNvPr>
          <p:cNvSpPr txBox="1"/>
          <p:nvPr/>
        </p:nvSpPr>
        <p:spPr>
          <a:xfrm>
            <a:off x="1828800" y="1935659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alternation: </a:t>
            </a:r>
            <a:r>
              <a:rPr lang="en-US" sz="2200" dirty="0"/>
              <a:t>an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if-else</a:t>
            </a:r>
            <a:r>
              <a:rPr lang="en-US" sz="2200" dirty="0"/>
              <a:t> (or a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sz="2200" dirty="0"/>
              <a:t>); either parse an </a:t>
            </a:r>
            <a:r>
              <a:rPr lang="en-US" sz="2200" b="1" dirty="0"/>
              <a:t>A</a:t>
            </a:r>
            <a:r>
              <a:rPr lang="en-US" sz="2200" dirty="0"/>
              <a:t> </a:t>
            </a:r>
            <a:r>
              <a:rPr lang="en-US" sz="2200" i="1" dirty="0"/>
              <a:t>or</a:t>
            </a:r>
            <a:r>
              <a:rPr lang="en-US" sz="2200" dirty="0"/>
              <a:t> parse a </a:t>
            </a:r>
            <a:r>
              <a:rPr lang="en-US" sz="2200" b="1" dirty="0"/>
              <a:t>B</a:t>
            </a:r>
            <a:r>
              <a:rPr lang="en-US" sz="2200" dirty="0"/>
              <a:t>.</a:t>
            </a:r>
            <a:endParaRPr lang="en-US" sz="2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196EFE-8BB5-AD46-8334-8A2F20AAA9BA}"/>
              </a:ext>
            </a:extLst>
          </p:cNvPr>
          <p:cNvSpPr txBox="1"/>
          <p:nvPr/>
        </p:nvSpPr>
        <p:spPr>
          <a:xfrm>
            <a:off x="1838325" y="2850059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0+ repetition: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200" dirty="0"/>
              <a:t> the next token looks like an </a:t>
            </a:r>
            <a:r>
              <a:rPr lang="en-US" sz="2200" b="1" dirty="0"/>
              <a:t>A</a:t>
            </a:r>
            <a:r>
              <a:rPr lang="en-US" sz="2200" dirty="0"/>
              <a:t>, keep parsing </a:t>
            </a:r>
            <a:r>
              <a:rPr lang="en-US" sz="2200" b="1" dirty="0"/>
              <a:t>A</a:t>
            </a:r>
            <a:r>
              <a:rPr lang="en-US" sz="2200" dirty="0"/>
              <a:t>s.</a:t>
            </a:r>
            <a:endParaRPr lang="en-US" sz="2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77FA6D-1CAD-174B-9259-D4ED38A1C7F7}"/>
              </a:ext>
            </a:extLst>
          </p:cNvPr>
          <p:cNvSpPr txBox="1"/>
          <p:nvPr/>
        </p:nvSpPr>
        <p:spPr>
          <a:xfrm>
            <a:off x="1847850" y="3764459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1+ repetition: </a:t>
            </a:r>
            <a:r>
              <a:rPr lang="en-US" sz="2200" dirty="0"/>
              <a:t>parse an </a:t>
            </a:r>
            <a:r>
              <a:rPr lang="en-US" sz="2200" b="1" dirty="0"/>
              <a:t>A</a:t>
            </a:r>
            <a:r>
              <a:rPr lang="en-US" sz="2200" dirty="0"/>
              <a:t>, then do a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200" dirty="0"/>
              <a:t> loop like for 0+.</a:t>
            </a:r>
            <a:endParaRPr lang="en-US" sz="2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CF8E30-02C6-AD4E-8BB7-EBD148516C5C}"/>
              </a:ext>
            </a:extLst>
          </p:cNvPr>
          <p:cNvSpPr txBox="1"/>
          <p:nvPr/>
        </p:nvSpPr>
        <p:spPr>
          <a:xfrm>
            <a:off x="1847850" y="4630720"/>
            <a:ext cx="662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optional: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200" dirty="0"/>
              <a:t> the next token looks like an </a:t>
            </a:r>
            <a:r>
              <a:rPr lang="en-US" sz="2200" b="1" dirty="0"/>
              <a:t>A</a:t>
            </a:r>
            <a:r>
              <a:rPr lang="en-US" sz="2200" dirty="0"/>
              <a:t>, parse it.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3927045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354D-1451-464E-9D2D-44C1D8F3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rules to AST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C5D8-A395-0E42-B4F8-D6F8D44BB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dirty="0"/>
              <a:t>similarly, when we design our AST nodes, these metalanguage rules imply different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F8995-7506-4541-B2F7-E29BDFDC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FB072-C316-1743-98EB-B9AE1CEFEF8D}"/>
              </a:ext>
            </a:extLst>
          </p:cNvPr>
          <p:cNvSpPr txBox="1"/>
          <p:nvPr/>
        </p:nvSpPr>
        <p:spPr>
          <a:xfrm>
            <a:off x="838200" y="134361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FAEEE-260A-E943-9A71-E31C99C41890}"/>
              </a:ext>
            </a:extLst>
          </p:cNvPr>
          <p:cNvSpPr txBox="1"/>
          <p:nvPr/>
        </p:nvSpPr>
        <p:spPr>
          <a:xfrm>
            <a:off x="533400" y="217170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 |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235AE-016E-AE48-B42B-381F6B3A41CB}"/>
              </a:ext>
            </a:extLst>
          </p:cNvPr>
          <p:cNvSpPr txBox="1"/>
          <p:nvPr/>
        </p:nvSpPr>
        <p:spPr>
          <a:xfrm>
            <a:off x="1066800" y="2973169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546B9-95FA-7D4D-8026-E6F5D2F77221}"/>
              </a:ext>
            </a:extLst>
          </p:cNvPr>
          <p:cNvSpPr txBox="1"/>
          <p:nvPr/>
        </p:nvSpPr>
        <p:spPr>
          <a:xfrm>
            <a:off x="1066800" y="3407505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AA78EF-2176-B44C-98CC-C9E63E7B8B79}"/>
              </a:ext>
            </a:extLst>
          </p:cNvPr>
          <p:cNvSpPr txBox="1"/>
          <p:nvPr/>
        </p:nvSpPr>
        <p:spPr>
          <a:xfrm>
            <a:off x="1066800" y="423928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A?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B5BA7E-D1C0-4942-9555-1E24E8ADE311}"/>
              </a:ext>
            </a:extLst>
          </p:cNvPr>
          <p:cNvSpPr txBox="1"/>
          <p:nvPr/>
        </p:nvSpPr>
        <p:spPr>
          <a:xfrm>
            <a:off x="1828800" y="1389780"/>
            <a:ext cx="662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 struct, </a:t>
            </a:r>
            <a:r>
              <a:rPr lang="en-US" sz="2200" dirty="0"/>
              <a:t>with an A field and a B field.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2F38CA-031F-5846-963E-041EE4017353}"/>
              </a:ext>
            </a:extLst>
          </p:cNvPr>
          <p:cNvSpPr txBox="1"/>
          <p:nvPr/>
        </p:nvSpPr>
        <p:spPr>
          <a:xfrm>
            <a:off x="1828800" y="2198983"/>
            <a:ext cx="662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an </a:t>
            </a:r>
            <a:r>
              <a:rPr lang="en-US" sz="2200" b="1" dirty="0" err="1"/>
              <a:t>enum</a:t>
            </a:r>
            <a:r>
              <a:rPr lang="en-US" sz="2200" b="1" dirty="0"/>
              <a:t>, </a:t>
            </a:r>
            <a:r>
              <a:rPr lang="en-US" sz="2200" dirty="0"/>
              <a:t>where A and B are two variants.</a:t>
            </a:r>
            <a:endParaRPr lang="en-US" sz="2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77FA6D-1CAD-174B-9259-D4ED38A1C7F7}"/>
              </a:ext>
            </a:extLst>
          </p:cNvPr>
          <p:cNvSpPr txBox="1"/>
          <p:nvPr/>
        </p:nvSpPr>
        <p:spPr>
          <a:xfrm>
            <a:off x="1847850" y="3062560"/>
            <a:ext cx="662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an array/vector, </a:t>
            </a:r>
            <a:r>
              <a:rPr lang="en-US" sz="2200" dirty="0"/>
              <a:t>whose length is the number of repetitions.</a:t>
            </a:r>
            <a:endParaRPr lang="en-US" sz="2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CF8E30-02C6-AD4E-8BB7-EBD148516C5C}"/>
              </a:ext>
            </a:extLst>
          </p:cNvPr>
          <p:cNvSpPr txBox="1"/>
          <p:nvPr/>
        </p:nvSpPr>
        <p:spPr>
          <a:xfrm>
            <a:off x="1847850" y="4288130"/>
            <a:ext cx="662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an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Option&lt;A&gt;</a:t>
            </a:r>
            <a:r>
              <a:rPr lang="en-US" sz="2200" b="1" dirty="0"/>
              <a:t> field, </a:t>
            </a:r>
            <a:r>
              <a:rPr lang="en-US" sz="2200" dirty="0"/>
              <a:t>since it might not exist.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8230942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2" grpId="0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67A5-FE96-0647-A46D-114ED2C6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351B-83AC-8C4F-B614-C44F4367A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let's have a look at the new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parsing_lisp</a:t>
            </a:r>
            <a:r>
              <a:rPr lang="en-US" b="1" dirty="0"/>
              <a:t> </a:t>
            </a:r>
            <a:r>
              <a:rPr lang="en-US" dirty="0"/>
              <a:t>example I added.</a:t>
            </a:r>
          </a:p>
          <a:p>
            <a:pPr lvl="1"/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lib.rs</a:t>
            </a:r>
            <a:r>
              <a:rPr lang="en-US" dirty="0"/>
              <a:t> is where all the goodies are.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Token</a:t>
            </a:r>
            <a:r>
              <a:rPr lang="en-US" dirty="0"/>
              <a:t> and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AstNode</a:t>
            </a:r>
            <a:r>
              <a:rPr lang="en-US" dirty="0"/>
              <a:t> types are familiar to you by now.</a:t>
            </a:r>
          </a:p>
          <a:p>
            <a:pPr lvl="2"/>
            <a:r>
              <a:rPr lang="en-US" dirty="0"/>
              <a:t>there's an extra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Program</a:t>
            </a:r>
            <a:r>
              <a:rPr lang="en-US" dirty="0"/>
              <a:t> rule in the grammar though.</a:t>
            </a:r>
          </a:p>
          <a:p>
            <a:pPr lvl="1"/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ParseError</a:t>
            </a:r>
            <a:r>
              <a:rPr lang="en-US" dirty="0"/>
              <a:t> is an example of an error </a:t>
            </a:r>
            <a:r>
              <a:rPr lang="en-US" dirty="0" err="1"/>
              <a:t>enum</a:t>
            </a:r>
            <a:r>
              <a:rPr lang="en-US" dirty="0"/>
              <a:t>. 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Parser</a:t>
            </a:r>
            <a:r>
              <a:rPr lang="en-US" dirty="0"/>
              <a:t> looks a lot like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Lexer</a:t>
            </a:r>
            <a:r>
              <a:rPr lang="en-US" dirty="0"/>
              <a:t> from your project…</a:t>
            </a:r>
          </a:p>
          <a:p>
            <a:pPr lvl="2"/>
            <a:r>
              <a:rPr lang="en-US" dirty="0"/>
              <a:t>except it iterates over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Token</a:t>
            </a:r>
            <a:r>
              <a:rPr lang="en-US" dirty="0"/>
              <a:t>s, not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dirty="0"/>
              <a:t>s.</a:t>
            </a:r>
          </a:p>
          <a:p>
            <a:pPr lvl="1"/>
            <a:r>
              <a:rPr lang="en-US" dirty="0"/>
              <a:t>and there are three parsing methods for the three main rules.</a:t>
            </a:r>
          </a:p>
          <a:p>
            <a:r>
              <a:rPr lang="en-US" dirty="0"/>
              <a:t>this real parser handles errors, too.</a:t>
            </a:r>
          </a:p>
          <a:p>
            <a:pPr lvl="1"/>
            <a:r>
              <a:rPr lang="en-US" dirty="0"/>
              <a:t>the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expect_blah</a:t>
            </a:r>
            <a:r>
              <a:rPr lang="en-US" dirty="0"/>
              <a:t> methods and the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dirty="0"/>
              <a:t> in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parse_exp</a:t>
            </a:r>
            <a:r>
              <a:rPr lang="en-US" dirty="0"/>
              <a:t> deal with unexpected terminals (tokens) in various positions.</a:t>
            </a:r>
          </a:p>
          <a:p>
            <a:pPr lvl="2"/>
            <a:r>
              <a:rPr lang="en-US" dirty="0"/>
              <a:t>they also give customized errors for each of these possibilities.</a:t>
            </a:r>
          </a:p>
          <a:p>
            <a:pPr lvl="2"/>
            <a:r>
              <a:rPr lang="en-US" sz="1400" dirty="0"/>
              <a:t>there's no location info, because it's an example. :B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D3445-A575-2C46-9B4E-676B4C25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2098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FCC49-EFDE-E242-AB8A-62AB855AA0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Limits of Recursive Descent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340E376-DF7A-EA4A-BBEF-1E8934ACA7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sz="1400" dirty="0">
                <a:solidFill>
                  <a:srgbClr val="FFFFFF"/>
                </a:solidFill>
              </a:rPr>
              <a:t>time check: ≤ 68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262402-9A99-F641-9EA5-1D121EB2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788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F475-D847-4D41-AFBC-F5C92F1B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it works so well, why not use it for everything?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3ED41-78B0-B243-BF3F-A9E3EB1E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lots of cases where recursive descent works great!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java.util.Arrays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::blah;</a:t>
            </a:r>
          </a:p>
          <a:p>
            <a:pPr lvl="1"/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name() { … }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 { … }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x == y { … }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match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value { … }</a:t>
            </a:r>
          </a:p>
          <a:p>
            <a:r>
              <a:rPr lang="en-US" dirty="0"/>
              <a:t>but there's something all of these things have in common: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they all </a:t>
            </a:r>
            <a:r>
              <a:rPr lang="en-US" b="1" i="1" dirty="0">
                <a:solidFill>
                  <a:srgbClr val="FF0000"/>
                </a:solidFill>
              </a:rPr>
              <a:t>start</a:t>
            </a:r>
            <a:r>
              <a:rPr lang="en-US" b="1" dirty="0">
                <a:solidFill>
                  <a:srgbClr val="FF0000"/>
                </a:solidFill>
              </a:rPr>
              <a:t> with a token that </a:t>
            </a:r>
            <a:r>
              <a:rPr lang="en-US" b="1" i="1" dirty="0">
                <a:solidFill>
                  <a:srgbClr val="FF0000"/>
                </a:solidFill>
              </a:rPr>
              <a:t>unambiguously</a:t>
            </a:r>
            <a:r>
              <a:rPr lang="en-US" b="1" dirty="0">
                <a:solidFill>
                  <a:srgbClr val="FF0000"/>
                </a:solidFill>
              </a:rPr>
              <a:t> indicates which rule should be used to parse them.</a:t>
            </a:r>
          </a:p>
          <a:p>
            <a:pPr lvl="1"/>
            <a:r>
              <a:rPr lang="en-US" dirty="0"/>
              <a:t>if you don't have that, recursive descent gets a lot harder to use.</a:t>
            </a:r>
          </a:p>
          <a:p>
            <a:r>
              <a:rPr lang="en-US" dirty="0"/>
              <a:t>but, what kind of code looks like that?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890FD-F93E-3F4C-AD91-0C8C42F0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7661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F7974-AC20-7143-9394-6C7AF4D2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79201-30DB-F84C-9B3A-10CB190D0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dirty="0"/>
              <a:t>we want to be able to write expressions like we do in math.</a:t>
            </a:r>
          </a:p>
          <a:p>
            <a:pPr lvl="1"/>
            <a:r>
              <a:rPr lang="en-US" dirty="0"/>
              <a:t>that is, we want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dirty="0"/>
              <a:t>, not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4 5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/>
              <a:t>.</a:t>
            </a:r>
          </a:p>
          <a:p>
            <a:r>
              <a:rPr lang="en-US" dirty="0"/>
              <a:t>but this presents a few problems.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BBC33-76E5-5D49-9CD8-13150820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D973A1-D3CD-0B4F-87AF-B84B2F927445}"/>
              </a:ext>
            </a:extLst>
          </p:cNvPr>
          <p:cNvSpPr txBox="1"/>
          <p:nvPr/>
        </p:nvSpPr>
        <p:spPr>
          <a:xfrm>
            <a:off x="971550" y="3272472"/>
            <a:ext cx="2033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x +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* 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5CB9E-F680-A64D-8A06-73C6BB1CD90E}"/>
              </a:ext>
            </a:extLst>
          </p:cNvPr>
          <p:cNvSpPr txBox="1"/>
          <p:nvPr/>
        </p:nvSpPr>
        <p:spPr>
          <a:xfrm>
            <a:off x="971550" y="4749343"/>
            <a:ext cx="2457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** x **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6784E-2821-6F4C-93AD-52CCE1D86D32}"/>
              </a:ext>
            </a:extLst>
          </p:cNvPr>
          <p:cNvSpPr txBox="1"/>
          <p:nvPr/>
        </p:nvSpPr>
        <p:spPr>
          <a:xfrm>
            <a:off x="971550" y="2148812"/>
            <a:ext cx="2033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x + y + 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EF370-FC76-F945-B7F7-DD11821F2760}"/>
              </a:ext>
            </a:extLst>
          </p:cNvPr>
          <p:cNvSpPr txBox="1"/>
          <p:nvPr/>
        </p:nvSpPr>
        <p:spPr>
          <a:xfrm>
            <a:off x="1955374" y="1548212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7A1BF-5B93-3942-BBE4-14C55A1B5F03}"/>
              </a:ext>
            </a:extLst>
          </p:cNvPr>
          <p:cNvSpPr txBox="1"/>
          <p:nvPr/>
        </p:nvSpPr>
        <p:spPr>
          <a:xfrm>
            <a:off x="3518321" y="1548212"/>
            <a:ext cx="1221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859CD-519D-1F48-A8CA-8BB727A7CF30}"/>
              </a:ext>
            </a:extLst>
          </p:cNvPr>
          <p:cNvSpPr txBox="1"/>
          <p:nvPr/>
        </p:nvSpPr>
        <p:spPr>
          <a:xfrm>
            <a:off x="3504252" y="1933369"/>
            <a:ext cx="30298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(x + y) + z </a:t>
            </a:r>
            <a:r>
              <a:rPr lang="en-US" sz="2800" i="1" dirty="0"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</a:p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x + (y + z) </a:t>
            </a:r>
            <a:r>
              <a:rPr lang="en-US" sz="2800" i="1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endParaRPr 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A0C3A6-520E-434D-BC1F-7E9B26667414}"/>
              </a:ext>
            </a:extLst>
          </p:cNvPr>
          <p:cNvSpPr txBox="1"/>
          <p:nvPr/>
        </p:nvSpPr>
        <p:spPr>
          <a:xfrm>
            <a:off x="3504252" y="3057029"/>
            <a:ext cx="30298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(x +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) * y </a:t>
            </a:r>
            <a:r>
              <a:rPr lang="en-US" sz="2800" i="1" dirty="0"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</a:p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x + (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* y) </a:t>
            </a:r>
            <a:r>
              <a:rPr lang="en-US" sz="2800" i="1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endParaRPr 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51C326-6070-A445-8280-4EA4D7B51F5D}"/>
              </a:ext>
            </a:extLst>
          </p:cNvPr>
          <p:cNvSpPr txBox="1"/>
          <p:nvPr/>
        </p:nvSpPr>
        <p:spPr>
          <a:xfrm>
            <a:off x="3518320" y="4533900"/>
            <a:ext cx="33396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** x) **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i="1" dirty="0">
                <a:latin typeface="Consolas" panose="020B0609020204030204" pitchFamily="49" charset="0"/>
                <a:cs typeface="Consolas" panose="020B0609020204030204" pitchFamily="49" charset="0"/>
              </a:rPr>
              <a:t>or</a:t>
            </a:r>
          </a:p>
          <a:p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 ** (x **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2800" i="1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endParaRPr 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4ED94-F369-C646-B507-1B57A0A48831}"/>
              </a:ext>
            </a:extLst>
          </p:cNvPr>
          <p:cNvSpPr txBox="1"/>
          <p:nvPr/>
        </p:nvSpPr>
        <p:spPr>
          <a:xfrm>
            <a:off x="6324600" y="2025701"/>
            <a:ext cx="281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either is fine..? what if it were *, -, or / 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9601DE-B76A-C345-A997-E6E9252602CF}"/>
              </a:ext>
            </a:extLst>
          </p:cNvPr>
          <p:cNvSpPr txBox="1"/>
          <p:nvPr/>
        </p:nvSpPr>
        <p:spPr>
          <a:xfrm>
            <a:off x="6686550" y="3149361"/>
            <a:ext cx="1952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second one is right.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10C1BA-6011-B24C-9BB6-F92670473D33}"/>
              </a:ext>
            </a:extLst>
          </p:cNvPr>
          <p:cNvSpPr txBox="1"/>
          <p:nvPr/>
        </p:nvSpPr>
        <p:spPr>
          <a:xfrm>
            <a:off x="6748681" y="4626232"/>
            <a:ext cx="1952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second one is right.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1DA887-CF1C-8E4D-B314-4E7B12DE9783}"/>
              </a:ext>
            </a:extLst>
          </p:cNvPr>
          <p:cNvSpPr txBox="1"/>
          <p:nvPr/>
        </p:nvSpPr>
        <p:spPr>
          <a:xfrm>
            <a:off x="1219200" y="4106095"/>
            <a:ext cx="59364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and if we allow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**</a:t>
            </a:r>
            <a:r>
              <a:rPr lang="en-US" sz="2200" dirty="0"/>
              <a:t> for exponents, like Python:</a:t>
            </a:r>
          </a:p>
        </p:txBody>
      </p:sp>
    </p:spTree>
    <p:extLst>
      <p:ext uri="{BB962C8B-B14F-4D97-AF65-F5344CB8AC3E}">
        <p14:creationId xmlns:p14="http://schemas.microsoft.com/office/powerpoint/2010/main" val="5971359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C0BB-AC90-9549-A8B3-D3F5DF704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worse…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7E877-C213-674D-8938-B517E8A2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b="1" dirty="0"/>
              <a:t>how do we know what kind of expression we're looking at?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C9252-0C1C-1541-A167-2F611147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6EBCD-A4AE-2942-9847-4BB4F83D806D}"/>
              </a:ext>
            </a:extLst>
          </p:cNvPr>
          <p:cNvSpPr txBox="1"/>
          <p:nvPr/>
        </p:nvSpPr>
        <p:spPr>
          <a:xfrm>
            <a:off x="1905000" y="990602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 + x + y * </a:t>
            </a: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) / </a:t>
            </a: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0890C4-B98C-7646-B1A9-5F479C58CA0D}"/>
              </a:ext>
            </a:extLst>
          </p:cNvPr>
          <p:cNvGrpSpPr/>
          <p:nvPr/>
        </p:nvGrpSpPr>
        <p:grpSpPr>
          <a:xfrm>
            <a:off x="457200" y="1636933"/>
            <a:ext cx="3657600" cy="1149069"/>
            <a:chOff x="914400" y="3543300"/>
            <a:chExt cx="3657600" cy="114906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B7427B-4849-A049-BF15-DAC32F592708}"/>
                </a:ext>
              </a:extLst>
            </p:cNvPr>
            <p:cNvSpPr txBox="1"/>
            <p:nvPr/>
          </p:nvSpPr>
          <p:spPr>
            <a:xfrm>
              <a:off x="914400" y="3922928"/>
              <a:ext cx="36576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let's say our parser is looking at this token….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2217573-2811-174D-8204-BBD1D22BE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3200" y="3543300"/>
              <a:ext cx="0" cy="37962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8648A8B-CAD9-A64A-B8A3-FA673714E9C5}"/>
              </a:ext>
            </a:extLst>
          </p:cNvPr>
          <p:cNvSpPr txBox="1"/>
          <p:nvPr/>
        </p:nvSpPr>
        <p:spPr>
          <a:xfrm>
            <a:off x="457200" y="3042520"/>
            <a:ext cx="548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so what do we do? </a:t>
            </a:r>
            <a:r>
              <a:rPr lang="en-US" sz="2200" b="1" dirty="0"/>
              <a:t>look ahead? </a:t>
            </a:r>
            <a:r>
              <a:rPr lang="en-US" sz="2200" dirty="0"/>
              <a:t>how many tokens? 5? 10? </a:t>
            </a:r>
            <a:r>
              <a:rPr lang="en-US" sz="2200" i="1" dirty="0"/>
              <a:t>is there a limit?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14D2C38-5CCB-9041-93B1-CA89ABF36ABA}"/>
              </a:ext>
            </a:extLst>
          </p:cNvPr>
          <p:cNvGrpSpPr/>
          <p:nvPr/>
        </p:nvGrpSpPr>
        <p:grpSpPr>
          <a:xfrm>
            <a:off x="4533903" y="1690205"/>
            <a:ext cx="3467094" cy="1095797"/>
            <a:chOff x="1009647" y="3543300"/>
            <a:chExt cx="3467094" cy="109579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A62EE7-F494-2046-84A8-426FC8988E10}"/>
                </a:ext>
              </a:extLst>
            </p:cNvPr>
            <p:cNvSpPr txBox="1"/>
            <p:nvPr/>
          </p:nvSpPr>
          <p:spPr>
            <a:xfrm>
              <a:off x="1009647" y="3869656"/>
              <a:ext cx="346709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…how will it know it's a division until it gets here?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0C817DB-9891-3846-8D48-F2FEC0242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3200" y="3543300"/>
              <a:ext cx="0" cy="37962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A7A43E6-237C-9445-84FC-7019DE636823}"/>
              </a:ext>
            </a:extLst>
          </p:cNvPr>
          <p:cNvSpPr txBox="1"/>
          <p:nvPr/>
        </p:nvSpPr>
        <p:spPr>
          <a:xfrm>
            <a:off x="1905000" y="3952771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what we would have to do here is </a:t>
            </a:r>
            <a:r>
              <a:rPr lang="en-US" sz="2200" b="1" dirty="0"/>
              <a:t>try each </a:t>
            </a:r>
            <a:r>
              <a:rPr lang="en-US" sz="2200" b="1" i="1" dirty="0"/>
              <a:t>possible</a:t>
            </a:r>
            <a:r>
              <a:rPr lang="en-US" sz="2200" b="1" dirty="0"/>
              <a:t> parse, </a:t>
            </a:r>
            <a:r>
              <a:rPr lang="en-US" sz="2200" dirty="0"/>
              <a:t>and </a:t>
            </a:r>
            <a:r>
              <a:rPr lang="en-US" sz="2200" b="1" dirty="0"/>
              <a:t>backtrack if we mess up.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604216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1687-17F6-1C41-95AB-75472D455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 NO, 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20050-A0E2-2A4B-AC4D-F869E5DDE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an </a:t>
            </a:r>
            <a:r>
              <a:rPr lang="en-US" b="1" dirty="0"/>
              <a:t>exponential time (O(2</a:t>
            </a:r>
            <a:r>
              <a:rPr lang="en-US" b="1" baseline="30000" dirty="0"/>
              <a:t>n</a:t>
            </a:r>
            <a:r>
              <a:rPr lang="en-US" b="1" dirty="0"/>
              <a:t>)) algorithm! </a:t>
            </a:r>
            <a:r>
              <a:rPr lang="en-US" dirty="0"/>
              <a:t>just awful!</a:t>
            </a:r>
          </a:p>
          <a:p>
            <a:pPr lvl="1"/>
            <a:r>
              <a:rPr lang="en-US" dirty="0"/>
              <a:t>and from an intuitive sense, it feels kind of silly to commit to parsing something when you </a:t>
            </a:r>
            <a:r>
              <a:rPr lang="en-US" i="1" dirty="0"/>
              <a:t>don't actually have enough information yet</a:t>
            </a:r>
            <a:r>
              <a:rPr lang="en-US" dirty="0"/>
              <a:t> to parse it.</a:t>
            </a:r>
          </a:p>
          <a:p>
            <a:r>
              <a:rPr lang="en-US" dirty="0"/>
              <a:t>so for these (and other similar) situations, there is another way to parse that's a little more mind-bending, but more powerful.</a:t>
            </a:r>
          </a:p>
          <a:p>
            <a:pPr lvl="1"/>
            <a:r>
              <a:rPr lang="en-US" dirty="0"/>
              <a:t>that's for next time!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9141D-1440-B64C-A969-8B37338B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8786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5226F-66C1-634B-BFA9-412709078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Error Reporting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874DF88-EF7A-C740-8ED9-2F878C2B7A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sz="1400" dirty="0">
                <a:solidFill>
                  <a:srgbClr val="FFFFFF"/>
                </a:solidFill>
              </a:rPr>
              <a:t>time check: ≤ 85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3EC8D4-121E-7749-ADD2-53679C0E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9979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90FE5-6634-1249-A2A7-4D7AE975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Compilers have a bit of a reputation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B3CD1-AA7B-5A48-B0A6-39B353BA0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/>
          <a:lstStyle/>
          <a:p>
            <a:r>
              <a:rPr lang="en-US" dirty="0"/>
              <a:t>how many times have you gotten compiler errors that:</a:t>
            </a:r>
          </a:p>
          <a:p>
            <a:pPr lvl="1"/>
            <a:r>
              <a:rPr lang="en-US" dirty="0"/>
              <a:t>seemed totally confused by very simple/common typos, like missing a semicolon or comma or closing brace?</a:t>
            </a:r>
          </a:p>
          <a:p>
            <a:pPr lvl="1"/>
            <a:r>
              <a:rPr lang="en-US" dirty="0"/>
              <a:t>pointed 100 lines after where the actual error was?</a:t>
            </a:r>
          </a:p>
          <a:p>
            <a:pPr lvl="1"/>
            <a:r>
              <a:rPr lang="en-US" dirty="0"/>
              <a:t>used weird terminology, like "specifier-qualifier-list"?</a:t>
            </a:r>
          </a:p>
          <a:p>
            <a:pPr lvl="1"/>
            <a:r>
              <a:rPr lang="en-US" dirty="0"/>
              <a:t>gave almost no information, like "syntax error"?</a:t>
            </a:r>
          </a:p>
          <a:p>
            <a:r>
              <a:rPr lang="en-US" dirty="0"/>
              <a:t>is it because the compiler writers suck?</a:t>
            </a:r>
          </a:p>
          <a:p>
            <a:pPr lvl="1"/>
            <a:r>
              <a:rPr lang="en-US" dirty="0"/>
              <a:t>no</a:t>
            </a:r>
          </a:p>
          <a:p>
            <a:pPr lvl="1"/>
            <a:r>
              <a:rPr lang="en-US" b="1" i="1" dirty="0"/>
              <a:t>good error reporting is really hard to do right, okay,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DD0F9-E7BE-B84A-9F7C-FAA14098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2399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3736-D470-6C4E-ACD3-A0652C0F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Who</a:t>
            </a:r>
            <a:r>
              <a:rPr lang="en-US" dirty="0"/>
              <a:t> are error messages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6F67E-49FC-3545-84AA-116E10EBB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142999"/>
          </a:xfrm>
        </p:spPr>
        <p:txBody>
          <a:bodyPr/>
          <a:lstStyle/>
          <a:p>
            <a:r>
              <a:rPr lang="en-US" dirty="0"/>
              <a:t>I've said it many times: programming languages exist for </a:t>
            </a:r>
            <a:r>
              <a:rPr lang="en-US" b="1" dirty="0"/>
              <a:t>humans.</a:t>
            </a:r>
          </a:p>
          <a:p>
            <a:r>
              <a:rPr lang="en-US" dirty="0"/>
              <a:t>so when a compiler gives errors, they should be… for </a:t>
            </a:r>
            <a:r>
              <a:rPr lang="en-US" b="1" dirty="0"/>
              <a:t>humans!</a:t>
            </a:r>
          </a:p>
          <a:p>
            <a:r>
              <a:rPr lang="en-US" dirty="0"/>
              <a:t>but there are two things working against us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42169-6D65-4942-8D65-F1D267D3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44014-DDF4-1C4E-86D7-7C0E13EA48B7}"/>
              </a:ext>
            </a:extLst>
          </p:cNvPr>
          <p:cNvSpPr txBox="1"/>
          <p:nvPr/>
        </p:nvSpPr>
        <p:spPr>
          <a:xfrm>
            <a:off x="447675" y="1799287"/>
            <a:ext cx="33718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compiler is a dumb algorithm that </a:t>
            </a:r>
            <a:r>
              <a:rPr lang="en-US" sz="2200" b="1" dirty="0"/>
              <a:t>doesn't understand our human mistakes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A3D6B-B935-F545-AD4C-E76FF5C82599}"/>
              </a:ext>
            </a:extLst>
          </p:cNvPr>
          <p:cNvSpPr txBox="1"/>
          <p:nvPr/>
        </p:nvSpPr>
        <p:spPr>
          <a:xfrm>
            <a:off x="447675" y="3504574"/>
            <a:ext cx="337185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people who write compilers tend to forget that </a:t>
            </a:r>
            <a:r>
              <a:rPr lang="en-US" sz="2200" i="1" dirty="0"/>
              <a:t>other</a:t>
            </a:r>
            <a:r>
              <a:rPr lang="en-US" sz="2200" dirty="0"/>
              <a:t> people </a:t>
            </a:r>
            <a:r>
              <a:rPr lang="en-US" sz="2200" b="1" dirty="0"/>
              <a:t>don't know how they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1CFF8-BA0E-2940-AAF6-E3C6F44EA13D}"/>
              </a:ext>
            </a:extLst>
          </p:cNvPr>
          <p:cNvSpPr txBox="1"/>
          <p:nvPr/>
        </p:nvSpPr>
        <p:spPr>
          <a:xfrm>
            <a:off x="4191000" y="1799287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f(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3 4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----^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expected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`)'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or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`,'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in argument-list, not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`4'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7294A-B3F8-6548-A051-306B0EE3C46E}"/>
              </a:ext>
            </a:extLst>
          </p:cNvPr>
          <p:cNvSpPr txBox="1"/>
          <p:nvPr/>
        </p:nvSpPr>
        <p:spPr>
          <a:xfrm>
            <a:off x="4190999" y="3673851"/>
            <a:ext cx="45053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(substitution of deduced template arguments resulted in errors seen above)</a:t>
            </a:r>
            <a:endParaRPr lang="en-US" sz="22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968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4EE6-CA24-644B-BA26-71ADF490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Carry on, my wayward 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F6BD5-42C5-814C-9C88-FC37B5A76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523999"/>
          </a:xfrm>
        </p:spPr>
        <p:txBody>
          <a:bodyPr/>
          <a:lstStyle/>
          <a:p>
            <a:r>
              <a:rPr lang="en-US" dirty="0"/>
              <a:t>you know how you sometimes get like 1000 error messages?</a:t>
            </a:r>
          </a:p>
          <a:p>
            <a:pPr lvl="1"/>
            <a:r>
              <a:rPr lang="en-US" dirty="0"/>
              <a:t>and it's all because you forgot ONE closing brace?</a:t>
            </a:r>
          </a:p>
          <a:p>
            <a:r>
              <a:rPr lang="en-US" dirty="0"/>
              <a:t>this is </a:t>
            </a:r>
            <a:r>
              <a:rPr lang="en-US" b="1" dirty="0"/>
              <a:t>error recovery: </a:t>
            </a:r>
            <a:r>
              <a:rPr lang="en-US" dirty="0"/>
              <a:t>instead of stopping at the first error, the compiler </a:t>
            </a:r>
            <a:r>
              <a:rPr lang="en-US" i="1" dirty="0"/>
              <a:t>tries</a:t>
            </a:r>
            <a:r>
              <a:rPr lang="en-US" dirty="0"/>
              <a:t> to keep going.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15D02-3338-8E4F-9BA0-7439C3CA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CECA1-95BC-5941-BF2F-F3F4103D1DAA}"/>
              </a:ext>
            </a:extLst>
          </p:cNvPr>
          <p:cNvSpPr txBox="1"/>
          <p:nvPr/>
        </p:nvSpPr>
        <p:spPr>
          <a:xfrm>
            <a:off x="2819400" y="2171700"/>
            <a:ext cx="5867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how would you </a:t>
            </a:r>
            <a:r>
              <a:rPr lang="en-US" sz="2200" i="1" dirty="0"/>
              <a:t>algorithmically</a:t>
            </a:r>
            <a:r>
              <a:rPr lang="en-US" sz="2200" dirty="0"/>
              <a:t> determine where the closing brace should go?</a:t>
            </a:r>
            <a:endParaRPr lang="en-US" sz="2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7B9BD-A811-D241-9B40-C0153C1D51EB}"/>
              </a:ext>
            </a:extLst>
          </p:cNvPr>
          <p:cNvSpPr txBox="1"/>
          <p:nvPr/>
        </p:nvSpPr>
        <p:spPr>
          <a:xfrm>
            <a:off x="295275" y="2019300"/>
            <a:ext cx="45053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E {</a:t>
            </a:r>
            <a:b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X,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Y</a:t>
            </a:r>
          </a:p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uh oh.</a:t>
            </a:r>
          </a:p>
          <a:p>
            <a:endParaRPr lang="en-US" sz="2200" i="1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x = E::X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oops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(blah).y();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FA7D5-29E3-744C-8451-9047421D9C5F}"/>
              </a:ext>
            </a:extLst>
          </p:cNvPr>
          <p:cNvSpPr txBox="1"/>
          <p:nvPr/>
        </p:nvSpPr>
        <p:spPr>
          <a:xfrm>
            <a:off x="4343400" y="3772960"/>
            <a:ext cx="4267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could even </a:t>
            </a:r>
            <a:r>
              <a:rPr lang="en-US" sz="2200" i="1" dirty="0"/>
              <a:t>parse</a:t>
            </a:r>
            <a:r>
              <a:rPr lang="en-US" sz="2200" dirty="0"/>
              <a:t> differently depending on where we infer the semicolon "should" be.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9431381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A7FED-A0A4-FA4E-8CB4-D3B61C12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recover or not?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FDE3D-16FB-724E-8608-83BCCBEBD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past, languages were simpler, and so was error recovery.</a:t>
            </a:r>
          </a:p>
          <a:p>
            <a:pPr lvl="1"/>
            <a:r>
              <a:rPr lang="en-US" dirty="0"/>
              <a:t>compilers also ran on huge computers in batch jobs.</a:t>
            </a:r>
          </a:p>
          <a:p>
            <a:pPr lvl="1"/>
            <a:r>
              <a:rPr lang="en-US" dirty="0"/>
              <a:t>since a compile might take hours, it was useful to report as many errors as possible.</a:t>
            </a:r>
          </a:p>
          <a:p>
            <a:r>
              <a:rPr lang="en-US" dirty="0"/>
              <a:t>but now, a really, </a:t>
            </a:r>
            <a:r>
              <a:rPr lang="en-US" i="1" dirty="0"/>
              <a:t>really</a:t>
            </a:r>
            <a:r>
              <a:rPr lang="en-US" dirty="0"/>
              <a:t> common thing to do is:</a:t>
            </a:r>
          </a:p>
          <a:p>
            <a:pPr lvl="1"/>
            <a:r>
              <a:rPr lang="en-US" dirty="0"/>
              <a:t>compile, fix the </a:t>
            </a:r>
            <a:r>
              <a:rPr lang="en-US" b="1" dirty="0"/>
              <a:t>first error, </a:t>
            </a:r>
            <a:r>
              <a:rPr lang="en-US" dirty="0"/>
              <a:t>repeat</a:t>
            </a:r>
          </a:p>
          <a:p>
            <a:pPr lvl="2"/>
            <a:r>
              <a:rPr lang="en-US" sz="1600" dirty="0"/>
              <a:t>(I really recommend you do this if you don't already)</a:t>
            </a:r>
          </a:p>
          <a:p>
            <a:r>
              <a:rPr lang="en-US" dirty="0"/>
              <a:t>so maybe stopping at the first error is fine?</a:t>
            </a:r>
          </a:p>
          <a:p>
            <a:pPr lvl="1"/>
            <a:r>
              <a:rPr lang="en-US" dirty="0"/>
              <a:t>but what about IDEs?</a:t>
            </a:r>
          </a:p>
          <a:p>
            <a:pPr lvl="1"/>
            <a:r>
              <a:rPr lang="en-US" dirty="0"/>
              <a:t>they can show multiple errors inline with the code</a:t>
            </a:r>
          </a:p>
          <a:p>
            <a:pPr lvl="1"/>
            <a:r>
              <a:rPr lang="en-US" dirty="0"/>
              <a:t>so maybe there's still some use to it?</a:t>
            </a:r>
          </a:p>
          <a:p>
            <a:pPr lvl="2"/>
            <a:r>
              <a:rPr lang="en-US" sz="1400" dirty="0"/>
              <a:t>or does it just make using an IDE more annoying? :^)</a:t>
            </a:r>
          </a:p>
          <a:p>
            <a:r>
              <a:rPr lang="en-US" dirty="0"/>
              <a:t>personally I think </a:t>
            </a:r>
            <a:r>
              <a:rPr lang="en-US" dirty="0" err="1"/>
              <a:t>lexing</a:t>
            </a:r>
            <a:r>
              <a:rPr lang="en-US" dirty="0"/>
              <a:t>/parsing error recovery is pointless, but giving multiple </a:t>
            </a:r>
            <a:r>
              <a:rPr lang="en-US" i="1" dirty="0"/>
              <a:t>semantic</a:t>
            </a:r>
            <a:r>
              <a:rPr lang="en-US" dirty="0"/>
              <a:t> errors can still be useful. </a:t>
            </a:r>
            <a:r>
              <a:rPr lang="en-US" sz="1400" dirty="0"/>
              <a:t>sometimes.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AA6D1-D4C1-7D46-BDBE-086426FA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3482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126B1-048B-1642-8A2A-20D8CCDE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philosophy for good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C4705-1E69-F842-9FD5-4664C743A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dirty="0"/>
              <a:t>there are three ways to improve error messages.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2B311-FFE2-9E45-AF4B-AB4440603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0BF09-3E05-1D40-9F15-62E93CC3F094}"/>
              </a:ext>
            </a:extLst>
          </p:cNvPr>
          <p:cNvSpPr txBox="1"/>
          <p:nvPr/>
        </p:nvSpPr>
        <p:spPr>
          <a:xfrm>
            <a:off x="304800" y="978813"/>
            <a:ext cx="2590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1. say</a:t>
            </a:r>
            <a:r>
              <a:rPr lang="en-US" sz="2200" b="1" dirty="0"/>
              <a:t> where it 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174B1-F0C8-DE4A-BD86-79532006835F}"/>
              </a:ext>
            </a:extLst>
          </p:cNvPr>
          <p:cNvSpPr txBox="1"/>
          <p:nvPr/>
        </p:nvSpPr>
        <p:spPr>
          <a:xfrm>
            <a:off x="1219200" y="1443454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test.foo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2200" b="1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19B07-0736-F14F-ADF5-0B4A796CD8D1}"/>
              </a:ext>
            </a:extLst>
          </p:cNvPr>
          <p:cNvSpPr txBox="1"/>
          <p:nvPr/>
        </p:nvSpPr>
        <p:spPr>
          <a:xfrm>
            <a:off x="4495800" y="1104900"/>
            <a:ext cx="3657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test.foo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^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88E69F-CBAB-714B-9046-E38E7D5E1A18}"/>
              </a:ext>
            </a:extLst>
          </p:cNvPr>
          <p:cNvSpPr txBox="1"/>
          <p:nvPr/>
        </p:nvSpPr>
        <p:spPr>
          <a:xfrm>
            <a:off x="685800" y="2045613"/>
            <a:ext cx="3276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bare minimum…</a:t>
            </a:r>
            <a:endParaRPr lang="en-US" sz="2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3E272-53F9-CB44-9C78-07AD95D116E3}"/>
              </a:ext>
            </a:extLst>
          </p:cNvPr>
          <p:cNvSpPr txBox="1"/>
          <p:nvPr/>
        </p:nvSpPr>
        <p:spPr>
          <a:xfrm>
            <a:off x="5638800" y="2045447"/>
            <a:ext cx="1371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00B050"/>
                </a:solidFill>
              </a:rPr>
              <a:t>better!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ABBED2-1827-7142-97CF-5504F4EC12C3}"/>
              </a:ext>
            </a:extLst>
          </p:cNvPr>
          <p:cNvSpPr txBox="1"/>
          <p:nvPr/>
        </p:nvSpPr>
        <p:spPr>
          <a:xfrm>
            <a:off x="304800" y="2476500"/>
            <a:ext cx="662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2. give a </a:t>
            </a:r>
            <a:r>
              <a:rPr lang="en-US" sz="2200" b="1" dirty="0"/>
              <a:t>unique message </a:t>
            </a:r>
            <a:r>
              <a:rPr lang="en-US" sz="2200" dirty="0"/>
              <a:t>for that particular error</a:t>
            </a:r>
            <a:endParaRPr lang="en-US" sz="2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5CBAFD-A8FA-544D-AE49-C26C28AB9C78}"/>
              </a:ext>
            </a:extLst>
          </p:cNvPr>
          <p:cNvSpPr txBox="1"/>
          <p:nvPr/>
        </p:nvSpPr>
        <p:spPr>
          <a:xfrm>
            <a:off x="457200" y="3003375"/>
            <a:ext cx="3429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expected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','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, not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'{'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844672-EBD4-E542-8B24-D42C1D61AC96}"/>
              </a:ext>
            </a:extLst>
          </p:cNvPr>
          <p:cNvSpPr txBox="1"/>
          <p:nvPr/>
        </p:nvSpPr>
        <p:spPr>
          <a:xfrm>
            <a:off x="4495800" y="2983587"/>
            <a:ext cx="449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-loop missing upper bound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FA57B-B3FA-5A40-812F-4E6F4BEAC38B}"/>
              </a:ext>
            </a:extLst>
          </p:cNvPr>
          <p:cNvSpPr txBox="1"/>
          <p:nvPr/>
        </p:nvSpPr>
        <p:spPr>
          <a:xfrm>
            <a:off x="1752600" y="3368973"/>
            <a:ext cx="1143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/>
              <a:t>ehh</a:t>
            </a:r>
            <a:r>
              <a:rPr lang="en-US" sz="2200" dirty="0"/>
              <a:t>…</a:t>
            </a:r>
            <a:endParaRPr lang="en-US" sz="2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581D88-FBDE-6944-BEBD-34B0F993657A}"/>
              </a:ext>
            </a:extLst>
          </p:cNvPr>
          <p:cNvSpPr txBox="1"/>
          <p:nvPr/>
        </p:nvSpPr>
        <p:spPr>
          <a:xfrm>
            <a:off x="5638800" y="3364042"/>
            <a:ext cx="1371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00B050"/>
                </a:solidFill>
              </a:rPr>
              <a:t>better!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D3BF05-BF90-9744-884D-965DDB90E64A}"/>
              </a:ext>
            </a:extLst>
          </p:cNvPr>
          <p:cNvSpPr txBox="1"/>
          <p:nvPr/>
        </p:nvSpPr>
        <p:spPr>
          <a:xfrm>
            <a:off x="304800" y="3959940"/>
            <a:ext cx="6629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3. extra credit: </a:t>
            </a:r>
            <a:r>
              <a:rPr lang="en-US" sz="2200" b="1" dirty="0"/>
              <a:t>tell the user how they might fix 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5F5D8A-468B-B049-A67D-60A12D6A0DC7}"/>
              </a:ext>
            </a:extLst>
          </p:cNvPr>
          <p:cNvSpPr txBox="1"/>
          <p:nvPr/>
        </p:nvSpPr>
        <p:spPr>
          <a:xfrm>
            <a:off x="685800" y="441659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help: maybe you meant "for </a:t>
            </a:r>
            <a:r>
              <a:rPr lang="en-US" sz="2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sz="2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10, something"?</a:t>
            </a:r>
          </a:p>
          <a:p>
            <a:r>
              <a:rPr lang="en-US" sz="2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^^^^^^^^^^^</a:t>
            </a:r>
          </a:p>
        </p:txBody>
      </p:sp>
    </p:spTree>
    <p:extLst>
      <p:ext uri="{BB962C8B-B14F-4D97-AF65-F5344CB8AC3E}">
        <p14:creationId xmlns:p14="http://schemas.microsoft.com/office/powerpoint/2010/main" val="39992576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7131-72F1-474B-9DAB-7DEAA3E4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First: location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1D5A7-F089-A342-A581-420F2C828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lexer</a:t>
            </a:r>
            <a:r>
              <a:rPr lang="en-US" dirty="0"/>
              <a:t> can associate a </a:t>
            </a:r>
            <a:r>
              <a:rPr lang="en-US" b="1" dirty="0"/>
              <a:t>line and column </a:t>
            </a:r>
            <a:r>
              <a:rPr lang="en-US" dirty="0"/>
              <a:t>with each token.</a:t>
            </a:r>
          </a:p>
          <a:p>
            <a:pPr lvl="1"/>
            <a:r>
              <a:rPr lang="en-US" dirty="0"/>
              <a:t>well, some tokens span more than one column…</a:t>
            </a:r>
          </a:p>
          <a:p>
            <a:pPr lvl="1"/>
            <a:r>
              <a:rPr lang="en-US" dirty="0"/>
              <a:t>or even more than one line, if you allow multi-line strings!</a:t>
            </a:r>
          </a:p>
          <a:p>
            <a:pPr lvl="1"/>
            <a:r>
              <a:rPr lang="en-US" dirty="0"/>
              <a:t>so maybe each token should have a </a:t>
            </a:r>
            <a:r>
              <a:rPr lang="en-US" i="1" dirty="0"/>
              <a:t>range</a:t>
            </a:r>
            <a:r>
              <a:rPr lang="en-US" dirty="0"/>
              <a:t> of locations? hmm</a:t>
            </a:r>
          </a:p>
          <a:p>
            <a:r>
              <a:rPr lang="en-US" dirty="0"/>
              <a:t>when parsing, that info can be carried from the tokens </a:t>
            </a:r>
            <a:r>
              <a:rPr lang="en-US" b="1" dirty="0"/>
              <a:t>into the AST.</a:t>
            </a:r>
          </a:p>
          <a:p>
            <a:pPr lvl="1"/>
            <a:r>
              <a:rPr lang="en-US" dirty="0"/>
              <a:t>that way, we can report errors during semantic analysis.</a:t>
            </a:r>
          </a:p>
          <a:p>
            <a:pPr lvl="1"/>
            <a:r>
              <a:rPr lang="en-US" dirty="0"/>
              <a:t>or maybe we want to </a:t>
            </a:r>
            <a:r>
              <a:rPr lang="en-US" b="1" dirty="0"/>
              <a:t>refer back to the token list</a:t>
            </a:r>
            <a:r>
              <a:rPr lang="en-US" dirty="0"/>
              <a:t> somehow…?</a:t>
            </a:r>
          </a:p>
          <a:p>
            <a:pPr lvl="2"/>
            <a:r>
              <a:rPr lang="en-US" dirty="0"/>
              <a:t>there are lots of ways to implement this!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DE5C9-D116-2046-A8B1-1895CEEA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5545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A3ABD-0944-394B-A1EF-777E0692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Second: accurate error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D6A3C-6FA3-3B4B-9BA5-9B065F116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it's really easy to make unhelpful, uninformative messages, sadly!</a:t>
            </a:r>
          </a:p>
          <a:p>
            <a:r>
              <a:rPr lang="en-US" b="1" dirty="0"/>
              <a:t>giving accurate errors</a:t>
            </a:r>
            <a:r>
              <a:rPr lang="en-US" dirty="0"/>
              <a:t> is largely about customizing the error messages for each place an error could happen.</a:t>
            </a:r>
          </a:p>
          <a:p>
            <a:pPr lvl="1"/>
            <a:r>
              <a:rPr lang="en-US" dirty="0"/>
              <a:t>looking through the parser code, every </a:t>
            </a:r>
            <a:r>
              <a:rPr lang="en-US" b="1" dirty="0"/>
              <a:t>?</a:t>
            </a:r>
            <a:r>
              <a:rPr lang="en-US" dirty="0"/>
              <a:t> is a potential error spot.</a:t>
            </a:r>
          </a:p>
          <a:p>
            <a:pPr lvl="1"/>
            <a:r>
              <a:rPr lang="en-US" dirty="0"/>
              <a:t>in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parse_paren_exp</a:t>
            </a:r>
            <a:r>
              <a:rPr lang="en-US" dirty="0"/>
              <a:t>, there are several of these.</a:t>
            </a:r>
            <a:endParaRPr lang="en-US" b="1" dirty="0"/>
          </a:p>
          <a:p>
            <a:r>
              <a:rPr lang="en-US" b="1" dirty="0"/>
              <a:t>matches </a:t>
            </a:r>
            <a:r>
              <a:rPr lang="en-US" dirty="0"/>
              <a:t>are another place ripe for better errors:</a:t>
            </a:r>
          </a:p>
          <a:p>
            <a:pPr lvl="1"/>
            <a:r>
              <a:rPr lang="en-US" dirty="0"/>
              <a:t>in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parse_exp</a:t>
            </a:r>
            <a:r>
              <a:rPr lang="en-US" b="1" dirty="0"/>
              <a:t>, </a:t>
            </a:r>
            <a:r>
              <a:rPr lang="en-US" dirty="0"/>
              <a:t>there are a number of possible options, so we should </a:t>
            </a:r>
            <a:r>
              <a:rPr lang="en-US" b="1" dirty="0"/>
              <a:t>list the options </a:t>
            </a:r>
            <a:r>
              <a:rPr lang="en-US" dirty="0"/>
              <a:t>in the error message, like "expected identifier, integer, or parenthesized expression, not blah blah"</a:t>
            </a:r>
          </a:p>
          <a:p>
            <a:r>
              <a:rPr lang="en-US" dirty="0"/>
              <a:t>one possibility is to pass some kind of "error context" to the parsing functions which can be used to tailor the messages better</a:t>
            </a:r>
          </a:p>
          <a:p>
            <a:pPr lvl="1"/>
            <a:r>
              <a:rPr lang="en-US" dirty="0"/>
              <a:t>since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parse_exp</a:t>
            </a:r>
            <a:r>
              <a:rPr lang="en-US" dirty="0"/>
              <a:t> is called from multiple places, the error message might be different depending on who calls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B7E9D-BBC6-4943-A88F-891C7600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0671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CFBB-ABA8-254B-AE2A-9C3C9724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Third: giving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2AF5E-27E6-A449-851F-22878C2C9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extremely broad and it's up to you what to say.</a:t>
            </a:r>
          </a:p>
          <a:p>
            <a:pPr lvl="1"/>
            <a:r>
              <a:rPr lang="en-US" dirty="0"/>
              <a:t>it's really kind of an extension of the previous rule.</a:t>
            </a:r>
          </a:p>
          <a:p>
            <a:r>
              <a:rPr lang="en-US" dirty="0"/>
              <a:t>have a look at the error messages Rust gives.</a:t>
            </a:r>
          </a:p>
          <a:p>
            <a:pPr lvl="1"/>
            <a:r>
              <a:rPr lang="en-US" dirty="0"/>
              <a:t>sometimes it's as simple as "remove this semicolon."</a:t>
            </a:r>
          </a:p>
          <a:p>
            <a:pPr lvl="1"/>
            <a:r>
              <a:rPr lang="en-US" dirty="0"/>
              <a:t>sometimes it links to the appropriate part of the docs.</a:t>
            </a:r>
          </a:p>
          <a:p>
            <a:pPr lvl="1"/>
            <a:r>
              <a:rPr lang="en-US" dirty="0"/>
              <a:t>sometimes it even detects common mistakes and explains why they won't work. it's amazing!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D805C-1FD4-DF4E-B8D9-792CCC1A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7419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02 - C - Basics">
  <a:themeElements>
    <a:clrScheme name="Custom 2">
      <a:dk1>
        <a:srgbClr val="000000"/>
      </a:dk1>
      <a:lt1>
        <a:srgbClr val="FFFFFF"/>
      </a:lt1>
      <a:dk2>
        <a:srgbClr val="3B481E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Segoe WP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fall_2017" id="{93D034CE-FEB5-4D4D-96F7-6B7F8A5EB99A}" vid="{194AE869-5029-ED49-81EA-C574BDDBE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01 - Welcome and Review</Template>
  <TotalTime>27349</TotalTime>
  <Words>3399</Words>
  <Application>Microsoft Macintosh PowerPoint</Application>
  <PresentationFormat>On-screen Show (16:10)</PresentationFormat>
  <Paragraphs>411</Paragraphs>
  <Slides>33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Consolas</vt:lpstr>
      <vt:lpstr>Courier New</vt:lpstr>
      <vt:lpstr>Segoe UI</vt:lpstr>
      <vt:lpstr>Segoe WP Semibold</vt:lpstr>
      <vt:lpstr>Trebuchet MS</vt:lpstr>
      <vt:lpstr>Wingdings</vt:lpstr>
      <vt:lpstr>02 - C - Basics</vt:lpstr>
      <vt:lpstr>Top-down Parsing</vt:lpstr>
      <vt:lpstr>Class Announcements</vt:lpstr>
      <vt:lpstr>Parsing</vt:lpstr>
      <vt:lpstr>A generative view</vt:lpstr>
      <vt:lpstr>That's what parsing is.</vt:lpstr>
      <vt:lpstr>Okay what is this language?</vt:lpstr>
      <vt:lpstr>So how do we do it?</vt:lpstr>
      <vt:lpstr>Error Handling in Rust</vt:lpstr>
      <vt:lpstr>The Result type</vt:lpstr>
      <vt:lpstr>Err, ok…</vt:lpstr>
      <vt:lpstr>???????</vt:lpstr>
      <vt:lpstr>Recursive Descent</vt:lpstr>
      <vt:lpstr>Can we intuit our way through this?</vt:lpstr>
      <vt:lpstr>The rules are recursive, so… </vt:lpstr>
      <vt:lpstr>Believe it or not, that's pretty much right!</vt:lpstr>
      <vt:lpstr>From Rules to Rust</vt:lpstr>
      <vt:lpstr>Other metalanguage rule correspondences</vt:lpstr>
      <vt:lpstr>From rules to AST nodes</vt:lpstr>
      <vt:lpstr>The example</vt:lpstr>
      <vt:lpstr>Limits of Recursive Descent</vt:lpstr>
      <vt:lpstr>If it works so well, why not use it for everything?</vt:lpstr>
      <vt:lpstr>Expressions!</vt:lpstr>
      <vt:lpstr>Even worse…</vt:lpstr>
      <vt:lpstr>OH NO, BACKTRACKING</vt:lpstr>
      <vt:lpstr>Error Reporting</vt:lpstr>
      <vt:lpstr>Compilers have a bit of a reputation</vt:lpstr>
      <vt:lpstr>Who are error messages for?</vt:lpstr>
      <vt:lpstr>Carry on, my wayward son</vt:lpstr>
      <vt:lpstr>To recover or not?</vt:lpstr>
      <vt:lpstr>A philosophy for good errors</vt:lpstr>
      <vt:lpstr>First: location information</vt:lpstr>
      <vt:lpstr>Second: accurate error messages</vt:lpstr>
      <vt:lpstr>Third: giving help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Intro to Computer Architecture!</dc:title>
  <dc:creator>me</dc:creator>
  <cp:lastModifiedBy>Billingsley, Jarrett F</cp:lastModifiedBy>
  <cp:revision>689</cp:revision>
  <dcterms:created xsi:type="dcterms:W3CDTF">2017-01-05T04:29:56Z</dcterms:created>
  <dcterms:modified xsi:type="dcterms:W3CDTF">2022-05-31T17:22:41Z</dcterms:modified>
</cp:coreProperties>
</file>