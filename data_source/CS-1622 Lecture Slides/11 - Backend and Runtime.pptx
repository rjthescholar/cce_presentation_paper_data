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33"/>
  </p:notesMasterIdLst>
  <p:sldIdLst>
    <p:sldId id="256" r:id="rId2"/>
    <p:sldId id="519" r:id="rId3"/>
    <p:sldId id="590" r:id="rId4"/>
    <p:sldId id="588" r:id="rId5"/>
    <p:sldId id="591" r:id="rId6"/>
    <p:sldId id="592" r:id="rId7"/>
    <p:sldId id="593" r:id="rId8"/>
    <p:sldId id="594" r:id="rId9"/>
    <p:sldId id="595" r:id="rId10"/>
    <p:sldId id="527" r:id="rId11"/>
    <p:sldId id="583" r:id="rId12"/>
    <p:sldId id="584" r:id="rId13"/>
    <p:sldId id="585" r:id="rId14"/>
    <p:sldId id="586" r:id="rId15"/>
    <p:sldId id="587" r:id="rId16"/>
    <p:sldId id="589" r:id="rId17"/>
    <p:sldId id="611" r:id="rId18"/>
    <p:sldId id="612" r:id="rId19"/>
    <p:sldId id="613" r:id="rId20"/>
    <p:sldId id="614" r:id="rId21"/>
    <p:sldId id="615" r:id="rId22"/>
    <p:sldId id="600" r:id="rId23"/>
    <p:sldId id="602" r:id="rId24"/>
    <p:sldId id="603" r:id="rId25"/>
    <p:sldId id="604" r:id="rId26"/>
    <p:sldId id="605" r:id="rId27"/>
    <p:sldId id="606" r:id="rId28"/>
    <p:sldId id="607" r:id="rId29"/>
    <p:sldId id="608" r:id="rId30"/>
    <p:sldId id="609" r:id="rId31"/>
    <p:sldId id="610" r:id="rId32"/>
  </p:sldIdLst>
  <p:sldSz cx="9144000" cy="5715000" type="screen16x10"/>
  <p:notesSz cx="6858000" cy="9144000"/>
  <p:defaultTextStyle>
    <a:defPPr>
      <a:defRPr lang="en-US"/>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userDrawn="1">
          <p15:clr>
            <a:srgbClr val="A4A3A4"/>
          </p15:clr>
        </p15:guide>
        <p15:guide id="2" pos="12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200"/>
    <a:srgbClr val="FF5200"/>
    <a:srgbClr val="FF5C00"/>
    <a:srgbClr val="592A04"/>
    <a:srgbClr val="8DB000"/>
    <a:srgbClr val="FCECD6"/>
    <a:srgbClr val="FCF9C5"/>
    <a:srgbClr val="8BD5F4"/>
    <a:srgbClr val="FA0AB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04" autoAdjust="0"/>
    <p:restoredTop sz="90423" autoAdjust="0"/>
  </p:normalViewPr>
  <p:slideViewPr>
    <p:cSldViewPr>
      <p:cViewPr varScale="1">
        <p:scale>
          <a:sx n="133" d="100"/>
          <a:sy n="133" d="100"/>
        </p:scale>
        <p:origin x="1224" y="192"/>
      </p:cViewPr>
      <p:guideLst>
        <p:guide orient="horz" pos="1800"/>
        <p:guide pos="1296"/>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093253-51AE-4C40-AB6B-AA3A7DF4D210}" type="datetimeFigureOut">
              <a:rPr lang="en-US" smtClean="0"/>
              <a:pPr/>
              <a:t>6/29/22</a:t>
            </a:fld>
            <a:endParaRPr lang="en-US"/>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9729AB-B77D-48AE-AA10-D1BD2B4D03EA}" type="slidenum">
              <a:rPr lang="en-US" smtClean="0"/>
              <a:pPr/>
              <a:t>‹#›</a:t>
            </a:fld>
            <a:endParaRPr lang="en-US"/>
          </a:p>
        </p:txBody>
      </p:sp>
    </p:spTree>
    <p:extLst>
      <p:ext uri="{BB962C8B-B14F-4D97-AF65-F5344CB8AC3E}">
        <p14:creationId xmlns:p14="http://schemas.microsoft.com/office/powerpoint/2010/main" val="2560305392"/>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99729AB-B77D-48AE-AA10-D1BD2B4D03E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4</a:t>
            </a:fld>
            <a:endParaRPr lang="en-US"/>
          </a:p>
        </p:txBody>
      </p:sp>
    </p:spTree>
    <p:extLst>
      <p:ext uri="{BB962C8B-B14F-4D97-AF65-F5344CB8AC3E}">
        <p14:creationId xmlns:p14="http://schemas.microsoft.com/office/powerpoint/2010/main" val="627026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5</a:t>
            </a:fld>
            <a:endParaRPr lang="en-US"/>
          </a:p>
        </p:txBody>
      </p:sp>
    </p:spTree>
    <p:extLst>
      <p:ext uri="{BB962C8B-B14F-4D97-AF65-F5344CB8AC3E}">
        <p14:creationId xmlns:p14="http://schemas.microsoft.com/office/powerpoint/2010/main" val="3804062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second one is actually possible if you're using </a:t>
            </a:r>
            <a:r>
              <a:rPr lang="en-US" i="1" dirty="0"/>
              <a:t>floats</a:t>
            </a:r>
            <a:r>
              <a:rPr lang="en-US" i="0" dirty="0"/>
              <a:t> on a platform that doesn't have float </a:t>
            </a:r>
            <a:r>
              <a:rPr lang="en-US" i="0" dirty="0" err="1"/>
              <a:t>regs</a:t>
            </a:r>
            <a:r>
              <a:rPr lang="en-US" i="0" dirty="0"/>
              <a:t>/instructions.</a:t>
            </a:r>
          </a:p>
          <a:p>
            <a:r>
              <a:rPr lang="en-US" i="0" dirty="0"/>
              <a:t>	- in those cases, every float arithmetic operation becomes a function call to some standard library function.</a:t>
            </a:r>
          </a:p>
          <a:p>
            <a:r>
              <a:rPr lang="en-US" i="0" dirty="0"/>
              <a:t>- the last one is possible if your compiler turns the code into some kind of stack machine representation…</a:t>
            </a:r>
          </a:p>
          <a:p>
            <a:r>
              <a:rPr lang="en-US" i="0" dirty="0"/>
              <a:t>	- and then blindly converts each stack operation into a sequence of MIPS instructions with no concern for speed.</a:t>
            </a:r>
          </a:p>
          <a:p>
            <a:r>
              <a:rPr lang="en-US" i="0" dirty="0"/>
              <a:t>	- I ran this code, it really does increment x!</a:t>
            </a:r>
          </a:p>
        </p:txBody>
      </p:sp>
      <p:sp>
        <p:nvSpPr>
          <p:cNvPr id="4" name="Slide Number Placeholder 3"/>
          <p:cNvSpPr>
            <a:spLocks noGrp="1"/>
          </p:cNvSpPr>
          <p:nvPr>
            <p:ph type="sldNum" sz="quarter" idx="5"/>
          </p:nvPr>
        </p:nvSpPr>
        <p:spPr/>
        <p:txBody>
          <a:bodyPr/>
          <a:lstStyle/>
          <a:p>
            <a:fld id="{999729AB-B77D-48AE-AA10-D1BD2B4D03EA}" type="slidenum">
              <a:rPr lang="en-US" smtClean="0"/>
              <a:pPr/>
              <a:t>7</a:t>
            </a:fld>
            <a:endParaRPr lang="en-US"/>
          </a:p>
        </p:txBody>
      </p:sp>
    </p:spTree>
    <p:extLst>
      <p:ext uri="{BB962C8B-B14F-4D97-AF65-F5344CB8AC3E}">
        <p14:creationId xmlns:p14="http://schemas.microsoft.com/office/powerpoint/2010/main" val="685660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depending on the target architecture, a 10-instruction loop may run much slower than 100 instructions that do the same thing without looping.</a:t>
            </a:r>
          </a:p>
          <a:p>
            <a:r>
              <a:rPr lang="en-US" dirty="0"/>
              <a:t>	- modern CPUs love running in a straight line and branches really slow them down.</a:t>
            </a:r>
          </a:p>
          <a:p>
            <a:r>
              <a:rPr lang="en-US" dirty="0"/>
              <a:t>- however, caches can come in and stomp all over our performance expectations…</a:t>
            </a:r>
          </a:p>
          <a:p>
            <a:r>
              <a:rPr lang="en-US" dirty="0"/>
              <a:t>	- if the memory bandwidth of fetching those 100 instructions exceeds the speed gained from avoiding branches…</a:t>
            </a:r>
          </a:p>
          <a:p>
            <a:r>
              <a:rPr lang="en-US" i="1" dirty="0"/>
              <a:t>	- </a:t>
            </a:r>
            <a:r>
              <a:rPr lang="en-US" i="0" dirty="0"/>
              <a:t>then the small loop of 10 instructions </a:t>
            </a:r>
            <a:r>
              <a:rPr lang="en-US" i="1" dirty="0"/>
              <a:t>can</a:t>
            </a:r>
            <a:r>
              <a:rPr lang="en-US" i="0" dirty="0"/>
              <a:t> be faster.</a:t>
            </a:r>
          </a:p>
          <a:p>
            <a:r>
              <a:rPr lang="en-US" i="0" dirty="0"/>
              <a:t>	- it depends, often on a case-by-case basis, and often long after the compiler has made the decision of which to use! </a:t>
            </a:r>
            <a:r>
              <a:rPr lang="en-US" i="0" dirty="0" err="1"/>
              <a:t>gah</a:t>
            </a:r>
            <a:r>
              <a:rPr lang="en-US" i="0" dirty="0"/>
              <a:t>!</a:t>
            </a:r>
          </a:p>
        </p:txBody>
      </p:sp>
      <p:sp>
        <p:nvSpPr>
          <p:cNvPr id="4" name="Slide Number Placeholder 3"/>
          <p:cNvSpPr>
            <a:spLocks noGrp="1"/>
          </p:cNvSpPr>
          <p:nvPr>
            <p:ph type="sldNum" sz="quarter" idx="5"/>
          </p:nvPr>
        </p:nvSpPr>
        <p:spPr/>
        <p:txBody>
          <a:bodyPr/>
          <a:lstStyle/>
          <a:p>
            <a:fld id="{999729AB-B77D-48AE-AA10-D1BD2B4D03EA}" type="slidenum">
              <a:rPr lang="en-US" smtClean="0"/>
              <a:pPr/>
              <a:t>8</a:t>
            </a:fld>
            <a:endParaRPr lang="en-US"/>
          </a:p>
        </p:txBody>
      </p:sp>
    </p:spTree>
    <p:extLst>
      <p:ext uri="{BB962C8B-B14F-4D97-AF65-F5344CB8AC3E}">
        <p14:creationId xmlns:p14="http://schemas.microsoft.com/office/powerpoint/2010/main" val="5010457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old days" = before around 1980.</a:t>
            </a:r>
          </a:p>
          <a:p>
            <a:r>
              <a:rPr lang="en-US" dirty="0"/>
              <a:t>- Single Static Assignment (SSA) form is one of these representations/algorithms, which wasn't invented until 1988</a:t>
            </a:r>
          </a:p>
          <a:p>
            <a:r>
              <a:rPr lang="en-US" dirty="0"/>
              <a:t>- optimization is like, grad compilers stuff.</a:t>
            </a:r>
          </a:p>
        </p:txBody>
      </p:sp>
      <p:sp>
        <p:nvSpPr>
          <p:cNvPr id="4" name="Slide Number Placeholder 3"/>
          <p:cNvSpPr>
            <a:spLocks noGrp="1"/>
          </p:cNvSpPr>
          <p:nvPr>
            <p:ph type="sldNum" sz="quarter" idx="5"/>
          </p:nvPr>
        </p:nvSpPr>
        <p:spPr/>
        <p:txBody>
          <a:bodyPr/>
          <a:lstStyle/>
          <a:p>
            <a:fld id="{999729AB-B77D-48AE-AA10-D1BD2B4D03EA}" type="slidenum">
              <a:rPr lang="en-US" smtClean="0"/>
              <a:pPr/>
              <a:t>9</a:t>
            </a:fld>
            <a:endParaRPr lang="en-US"/>
          </a:p>
        </p:txBody>
      </p:sp>
    </p:spTree>
    <p:extLst>
      <p:ext uri="{BB962C8B-B14F-4D97-AF65-F5344CB8AC3E}">
        <p14:creationId xmlns:p14="http://schemas.microsoft.com/office/powerpoint/2010/main" val="29956489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STAYS at runtime</a:t>
            </a:r>
          </a:p>
        </p:txBody>
      </p:sp>
      <p:sp>
        <p:nvSpPr>
          <p:cNvPr id="4" name="Slide Number Placeholder 3"/>
          <p:cNvSpPr>
            <a:spLocks noGrp="1"/>
          </p:cNvSpPr>
          <p:nvPr>
            <p:ph type="sldNum" sz="quarter" idx="5"/>
          </p:nvPr>
        </p:nvSpPr>
        <p:spPr/>
        <p:txBody>
          <a:bodyPr/>
          <a:lstStyle/>
          <a:p>
            <a:fld id="{999729AB-B77D-48AE-AA10-D1BD2B4D03EA}" type="slidenum">
              <a:rPr lang="en-US" smtClean="0"/>
              <a:pPr/>
              <a:t>10</a:t>
            </a:fld>
            <a:endParaRPr lang="en-US"/>
          </a:p>
        </p:txBody>
      </p:sp>
    </p:spTree>
    <p:extLst>
      <p:ext uri="{BB962C8B-B14F-4D97-AF65-F5344CB8AC3E}">
        <p14:creationId xmlns:p14="http://schemas.microsoft.com/office/powerpoint/2010/main" val="31630823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the case for a lot of architectures in common use today, but even C's "low-level" nature is a bit misleading these days.</a:t>
            </a:r>
          </a:p>
          <a:p>
            <a:r>
              <a:rPr lang="en-US" dirty="0"/>
              <a:t>	- the way modern CPUs work is a fair bit different from the way C expects them to…</a:t>
            </a:r>
          </a:p>
          <a:p>
            <a:endParaRPr lang="en-US" dirty="0"/>
          </a:p>
          <a:p>
            <a:r>
              <a:rPr lang="en-US" dirty="0"/>
              <a:t>[diagram: the C programming language maps very closely onto how most CPU ISAs work today, so there is very little runtime support needed for C programs (other than the standard library). Java however has a bunch of abstractions that do not exist in most CPU ISAs, like dynamic method dispatch, reflection, class loading, garbage collection, exceptions etc. which means those features need to be provided by extra code at runtime.]</a:t>
            </a:r>
          </a:p>
        </p:txBody>
      </p:sp>
      <p:sp>
        <p:nvSpPr>
          <p:cNvPr id="4" name="Slide Number Placeholder 3"/>
          <p:cNvSpPr>
            <a:spLocks noGrp="1"/>
          </p:cNvSpPr>
          <p:nvPr>
            <p:ph type="sldNum" sz="quarter" idx="5"/>
          </p:nvPr>
        </p:nvSpPr>
        <p:spPr/>
        <p:txBody>
          <a:bodyPr/>
          <a:lstStyle/>
          <a:p>
            <a:fld id="{999729AB-B77D-48AE-AA10-D1BD2B4D03EA}" type="slidenum">
              <a:rPr lang="en-US" smtClean="0"/>
              <a:pPr/>
              <a:t>11</a:t>
            </a:fld>
            <a:endParaRPr lang="en-US"/>
          </a:p>
        </p:txBody>
      </p:sp>
    </p:spTree>
    <p:extLst>
      <p:ext uri="{BB962C8B-B14F-4D97-AF65-F5344CB8AC3E}">
        <p14:creationId xmlns:p14="http://schemas.microsoft.com/office/powerpoint/2010/main" val="42838108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lang="en-US" sz="1000" dirty="0"/>
              <a:t>- VM = virtual machine, like the Java VM (JVM) which runs when you use the 'java' command.</a:t>
            </a:r>
          </a:p>
          <a:p>
            <a:pPr marL="0" marR="0" lvl="0" indent="0" algn="l" defTabSz="713232" rtl="0" eaLnBrk="1" fontAlgn="auto" latinLnBrk="0" hangingPunct="1">
              <a:lnSpc>
                <a:spcPct val="100000"/>
              </a:lnSpc>
              <a:spcBef>
                <a:spcPts val="0"/>
              </a:spcBef>
              <a:spcAft>
                <a:spcPts val="0"/>
              </a:spcAft>
              <a:buClrTx/>
              <a:buSzTx/>
              <a:buFontTx/>
              <a:buNone/>
              <a:tabLst/>
              <a:defRPr/>
            </a:pPr>
            <a:r>
              <a:rPr lang="en-US" sz="1000" dirty="0"/>
              <a:t>	- a VM is a valid solution, and one we'll look at next time.</a:t>
            </a:r>
          </a:p>
          <a:p>
            <a:pPr marL="0" marR="0" lvl="0" indent="0" algn="l" defTabSz="713232" rtl="0" eaLnBrk="1" fontAlgn="auto" latinLnBrk="0" hangingPunct="1">
              <a:lnSpc>
                <a:spcPct val="100000"/>
              </a:lnSpc>
              <a:spcBef>
                <a:spcPts val="0"/>
              </a:spcBef>
              <a:spcAft>
                <a:spcPts val="0"/>
              </a:spcAft>
              <a:buClrTx/>
              <a:buSzTx/>
              <a:buFontTx/>
              <a:buNone/>
              <a:tabLst/>
              <a:defRPr/>
            </a:pPr>
            <a:r>
              <a:rPr lang="en-US" sz="1000" dirty="0"/>
              <a:t>- lots of operations in HLLs will turn into multiple instructions in the machine code. that's kind of the point…</a:t>
            </a:r>
          </a:p>
          <a:p>
            <a:pPr marL="0" marR="0" lvl="0" indent="0" algn="l" defTabSz="713232" rtl="0" eaLnBrk="1" fontAlgn="auto" latinLnBrk="0" hangingPunct="1">
              <a:lnSpc>
                <a:spcPct val="100000"/>
              </a:lnSpc>
              <a:spcBef>
                <a:spcPts val="0"/>
              </a:spcBef>
              <a:spcAft>
                <a:spcPts val="0"/>
              </a:spcAft>
              <a:buClrTx/>
              <a:buSzTx/>
              <a:buFontTx/>
              <a:buNone/>
              <a:tabLst/>
              <a:defRPr/>
            </a:pPr>
            <a:r>
              <a:rPr lang="en-US" sz="1000" dirty="0"/>
              <a:t>	- but you don't necessarily need a special program to run your program.</a:t>
            </a:r>
          </a:p>
        </p:txBody>
      </p:sp>
      <p:sp>
        <p:nvSpPr>
          <p:cNvPr id="4" name="Slide Number Placeholder 3"/>
          <p:cNvSpPr>
            <a:spLocks noGrp="1"/>
          </p:cNvSpPr>
          <p:nvPr>
            <p:ph type="sldNum" sz="quarter" idx="5"/>
          </p:nvPr>
        </p:nvSpPr>
        <p:spPr/>
        <p:txBody>
          <a:bodyPr/>
          <a:lstStyle/>
          <a:p>
            <a:fld id="{999729AB-B77D-48AE-AA10-D1BD2B4D03EA}" type="slidenum">
              <a:rPr lang="en-US" smtClean="0"/>
              <a:pPr/>
              <a:t>12</a:t>
            </a:fld>
            <a:endParaRPr lang="en-US"/>
          </a:p>
        </p:txBody>
      </p:sp>
    </p:spTree>
    <p:extLst>
      <p:ext uri="{BB962C8B-B14F-4D97-AF65-F5344CB8AC3E}">
        <p14:creationId xmlns:p14="http://schemas.microsoft.com/office/powerpoint/2010/main" val="3348221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glossing over a ton of complexity and algorithms.</a:t>
            </a:r>
          </a:p>
        </p:txBody>
      </p:sp>
      <p:sp>
        <p:nvSpPr>
          <p:cNvPr id="4" name="Slide Number Placeholder 3"/>
          <p:cNvSpPr>
            <a:spLocks noGrp="1"/>
          </p:cNvSpPr>
          <p:nvPr>
            <p:ph type="sldNum" sz="quarter" idx="5"/>
          </p:nvPr>
        </p:nvSpPr>
        <p:spPr/>
        <p:txBody>
          <a:bodyPr/>
          <a:lstStyle/>
          <a:p>
            <a:fld id="{999729AB-B77D-48AE-AA10-D1BD2B4D03EA}" type="slidenum">
              <a:rPr lang="en-US" smtClean="0"/>
              <a:pPr/>
              <a:t>13</a:t>
            </a:fld>
            <a:endParaRPr lang="en-US"/>
          </a:p>
        </p:txBody>
      </p:sp>
    </p:spTree>
    <p:extLst>
      <p:ext uri="{BB962C8B-B14F-4D97-AF65-F5344CB8AC3E}">
        <p14:creationId xmlns:p14="http://schemas.microsoft.com/office/powerpoint/2010/main" val="18060617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ISA = Instruction Set Architecture, the programmer's software interface to the hardware of the CPU</a:t>
            </a:r>
          </a:p>
          <a:p>
            <a:r>
              <a:rPr lang="en-US" dirty="0"/>
              <a:t>	- which is yet another layer of abstraction that we're sitting on top of…</a:t>
            </a:r>
          </a:p>
          <a:p>
            <a:r>
              <a:rPr lang="en-US" dirty="0"/>
              <a:t>- the difference in ABI is the reason why you can have executables for Mac, Windows, and Linux which are all x86 but are all incompatible</a:t>
            </a:r>
          </a:p>
          <a:p>
            <a:r>
              <a:rPr lang="en-US" dirty="0"/>
              <a:t>	- different calling conventions, system calls, memory representation, executable formats, </a:t>
            </a:r>
            <a:r>
              <a:rPr lang="en-US" dirty="0" err="1"/>
              <a:t>etc</a:t>
            </a:r>
            <a:r>
              <a:rPr lang="en-US" dirty="0"/>
              <a:t>…</a:t>
            </a:r>
          </a:p>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14</a:t>
            </a:fld>
            <a:endParaRPr lang="en-US"/>
          </a:p>
        </p:txBody>
      </p:sp>
    </p:spTree>
    <p:extLst>
      <p:ext uri="{BB962C8B-B14F-4D97-AF65-F5344CB8AC3E}">
        <p14:creationId xmlns:p14="http://schemas.microsoft.com/office/powerpoint/2010/main" val="17891658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PURPLE EGG.</a:t>
            </a:r>
          </a:p>
          <a:p>
            <a:r>
              <a:rPr lang="en-US" dirty="0"/>
              <a:t>- the runtime/standard library is often packaged as a single thing and distributed as a shard library.</a:t>
            </a:r>
          </a:p>
          <a:p>
            <a:r>
              <a:rPr lang="en-US" dirty="0"/>
              <a:t>	- like the C or C++ runtimes, which you often need to install when installing new software/games.</a:t>
            </a:r>
          </a:p>
          <a:p>
            <a:r>
              <a:rPr lang="en-US" dirty="0"/>
              <a:t>- newer languages like Rust take a different approach because the internet exists and having a huge </a:t>
            </a:r>
            <a:r>
              <a:rPr lang="en-US" dirty="0" err="1"/>
              <a:t>stdlib</a:t>
            </a:r>
            <a:r>
              <a:rPr lang="en-US" dirty="0"/>
              <a:t> is not really useful anymore</a:t>
            </a:r>
          </a:p>
          <a:p>
            <a:r>
              <a:rPr lang="en-US" dirty="0"/>
              <a:t>	- Rust also targets platforms that have no OS so the </a:t>
            </a:r>
            <a:r>
              <a:rPr lang="en-US" dirty="0" err="1"/>
              <a:t>stdlib</a:t>
            </a:r>
            <a:r>
              <a:rPr lang="en-US" dirty="0"/>
              <a:t> and runtime are separate and the </a:t>
            </a:r>
            <a:r>
              <a:rPr lang="en-US" dirty="0" err="1"/>
              <a:t>stdlib</a:t>
            </a:r>
            <a:r>
              <a:rPr lang="en-US" dirty="0"/>
              <a:t> is optional</a:t>
            </a:r>
          </a:p>
          <a:p>
            <a:endParaRPr lang="en-US" dirty="0"/>
          </a:p>
          <a:p>
            <a:r>
              <a:rPr lang="en-US" dirty="0"/>
              <a:t>[diagram: the runtime is a small set of functionality. the standard library encompasses the runtime, and also adds lots more non-critical but useful functionality.]</a:t>
            </a:r>
          </a:p>
        </p:txBody>
      </p:sp>
      <p:sp>
        <p:nvSpPr>
          <p:cNvPr id="4" name="Slide Number Placeholder 3"/>
          <p:cNvSpPr>
            <a:spLocks noGrp="1"/>
          </p:cNvSpPr>
          <p:nvPr>
            <p:ph type="sldNum" sz="quarter" idx="5"/>
          </p:nvPr>
        </p:nvSpPr>
        <p:spPr/>
        <p:txBody>
          <a:bodyPr/>
          <a:lstStyle/>
          <a:p>
            <a:fld id="{999729AB-B77D-48AE-AA10-D1BD2B4D03EA}" type="slidenum">
              <a:rPr lang="en-US" smtClean="0"/>
              <a:pPr/>
              <a:t>15</a:t>
            </a:fld>
            <a:endParaRPr lang="en-US"/>
          </a:p>
        </p:txBody>
      </p:sp>
    </p:spTree>
    <p:extLst>
      <p:ext uri="{BB962C8B-B14F-4D97-AF65-F5344CB8AC3E}">
        <p14:creationId xmlns:p14="http://schemas.microsoft.com/office/powerpoint/2010/main" val="16496987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within the compiler, the AST is passed to the backend, which generates machine code and spits it out as an executable (maybe). that executable file may also include the runtime library within it. and when the executable is run, the runtime library handles the source-language features which don’t exist on the target CPU.]</a:t>
            </a:r>
          </a:p>
        </p:txBody>
      </p:sp>
      <p:sp>
        <p:nvSpPr>
          <p:cNvPr id="4" name="Slide Number Placeholder 3"/>
          <p:cNvSpPr>
            <a:spLocks noGrp="1"/>
          </p:cNvSpPr>
          <p:nvPr>
            <p:ph type="sldNum" sz="quarter" idx="5"/>
          </p:nvPr>
        </p:nvSpPr>
        <p:spPr/>
        <p:txBody>
          <a:bodyPr/>
          <a:lstStyle/>
          <a:p>
            <a:fld id="{999729AB-B77D-48AE-AA10-D1BD2B4D03EA}" type="slidenum">
              <a:rPr lang="en-US" smtClean="0"/>
              <a:pPr/>
              <a:t>16</a:t>
            </a:fld>
            <a:endParaRPr lang="en-US"/>
          </a:p>
        </p:txBody>
      </p:sp>
    </p:spTree>
    <p:extLst>
      <p:ext uri="{BB962C8B-B14F-4D97-AF65-F5344CB8AC3E}">
        <p14:creationId xmlns:p14="http://schemas.microsoft.com/office/powerpoint/2010/main" val="9284893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1: a ”while” loop with a condition and some code. the loop gets turned into a pair of labels; its condition gets turned into a branch instruction; and its code comes between the branch and the end label.]</a:t>
            </a:r>
          </a:p>
          <a:p>
            <a:r>
              <a:rPr lang="en-US" dirty="0"/>
              <a:t>[diagram 2: there are multiple local variables and multiple target ISA registers. the compiler decides which variables map onto which registers, and sometimes multiple variables can map onto the same register. the details aren’t important here. yet.]</a:t>
            </a:r>
          </a:p>
        </p:txBody>
      </p:sp>
      <p:sp>
        <p:nvSpPr>
          <p:cNvPr id="4" name="Slide Number Placeholder 3"/>
          <p:cNvSpPr>
            <a:spLocks noGrp="1"/>
          </p:cNvSpPr>
          <p:nvPr>
            <p:ph type="sldNum" sz="quarter" idx="5"/>
          </p:nvPr>
        </p:nvSpPr>
        <p:spPr/>
        <p:txBody>
          <a:bodyPr/>
          <a:lstStyle/>
          <a:p>
            <a:fld id="{999729AB-B77D-48AE-AA10-D1BD2B4D03EA}" type="slidenum">
              <a:rPr lang="en-US" smtClean="0"/>
              <a:pPr/>
              <a:t>18</a:t>
            </a:fld>
            <a:endParaRPr lang="en-US"/>
          </a:p>
        </p:txBody>
      </p:sp>
    </p:spTree>
    <p:extLst>
      <p:ext uri="{BB962C8B-B14F-4D97-AF65-F5344CB8AC3E}">
        <p14:creationId xmlns:p14="http://schemas.microsoft.com/office/powerpoint/2010/main" val="38756671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stack frame can be sized to hold all the locals plus any registers that we have to save…</a:t>
            </a:r>
          </a:p>
          <a:p>
            <a:r>
              <a:rPr lang="en-US" dirty="0"/>
              <a:t>	- but which registers to save depends on what registers the function body actually uses</a:t>
            </a:r>
          </a:p>
          <a:p>
            <a:r>
              <a:rPr lang="en-US" dirty="0"/>
              <a:t>	- so that can get Fun™</a:t>
            </a:r>
          </a:p>
          <a:p>
            <a:r>
              <a:rPr lang="en-US" dirty="0"/>
              <a:t>	- don't worry, the ABI we'll use will sidestep a lot of these problems.</a:t>
            </a:r>
          </a:p>
          <a:p>
            <a:endParaRPr lang="en-US" dirty="0"/>
          </a:p>
          <a:p>
            <a:r>
              <a:rPr lang="en-US" dirty="0"/>
              <a:t>[diagram: a piece of HLL code with the local variables highlighted. the symbol table for the function tells us how many local variables there are, and therefore how big the stack frame will have to be.]</a:t>
            </a:r>
          </a:p>
        </p:txBody>
      </p:sp>
      <p:sp>
        <p:nvSpPr>
          <p:cNvPr id="4" name="Slide Number Placeholder 3"/>
          <p:cNvSpPr>
            <a:spLocks noGrp="1"/>
          </p:cNvSpPr>
          <p:nvPr>
            <p:ph type="sldNum" sz="quarter" idx="5"/>
          </p:nvPr>
        </p:nvSpPr>
        <p:spPr/>
        <p:txBody>
          <a:bodyPr/>
          <a:lstStyle/>
          <a:p>
            <a:fld id="{999729AB-B77D-48AE-AA10-D1BD2B4D03EA}" type="slidenum">
              <a:rPr lang="en-US" smtClean="0"/>
              <a:pPr/>
              <a:t>19</a:t>
            </a:fld>
            <a:endParaRPr lang="en-US"/>
          </a:p>
        </p:txBody>
      </p:sp>
    </p:spTree>
    <p:extLst>
      <p:ext uri="{BB962C8B-B14F-4D97-AF65-F5344CB8AC3E}">
        <p14:creationId xmlns:p14="http://schemas.microsoft.com/office/powerpoint/2010/main" val="3583487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consider also "if x == 16" which would get turned into like "</a:t>
            </a:r>
            <a:r>
              <a:rPr lang="en-US" dirty="0" err="1"/>
              <a:t>bne</a:t>
            </a:r>
            <a:r>
              <a:rPr lang="en-US" dirty="0"/>
              <a:t> t0, 16, _blah" – yet another way it can be translated</a:t>
            </a:r>
          </a:p>
          <a:p>
            <a:r>
              <a:rPr lang="en-US" dirty="0"/>
              <a:t>- register allocation – deciding what things go into what registers, at what times – is an NP-complete problem</a:t>
            </a:r>
          </a:p>
          <a:p>
            <a:r>
              <a:rPr lang="en-US" dirty="0"/>
              <a:t>	- it also feels like a Fun Puzzle to humans, and boy do we love NP-complete puzzles</a:t>
            </a:r>
          </a:p>
          <a:p>
            <a:r>
              <a:rPr lang="en-US" dirty="0"/>
              <a:t>- we'll be lazy by kind of sidestepping the problem and turning it into something much simpler. think stacks!</a:t>
            </a:r>
          </a:p>
        </p:txBody>
      </p:sp>
      <p:sp>
        <p:nvSpPr>
          <p:cNvPr id="4" name="Slide Number Placeholder 3"/>
          <p:cNvSpPr>
            <a:spLocks noGrp="1"/>
          </p:cNvSpPr>
          <p:nvPr>
            <p:ph type="sldNum" sz="quarter" idx="5"/>
          </p:nvPr>
        </p:nvSpPr>
        <p:spPr/>
        <p:txBody>
          <a:bodyPr/>
          <a:lstStyle/>
          <a:p>
            <a:fld id="{999729AB-B77D-48AE-AA10-D1BD2B4D03EA}" type="slidenum">
              <a:rPr lang="en-US" smtClean="0"/>
              <a:pPr/>
              <a:t>20</a:t>
            </a:fld>
            <a:endParaRPr lang="en-US"/>
          </a:p>
        </p:txBody>
      </p:sp>
    </p:spTree>
    <p:extLst>
      <p:ext uri="{BB962C8B-B14F-4D97-AF65-F5344CB8AC3E}">
        <p14:creationId xmlns:p14="http://schemas.microsoft.com/office/powerpoint/2010/main" val="22989303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b="1" dirty="0" err="1"/>
              <a:t>jal</a:t>
            </a:r>
            <a:r>
              <a:rPr lang="en-US" b="1" dirty="0"/>
              <a:t> f</a:t>
            </a:r>
            <a:r>
              <a:rPr lang="en-US" dirty="0"/>
              <a:t> </a:t>
            </a:r>
            <a:r>
              <a:rPr lang="en-US" i="1" u="none" dirty="0"/>
              <a:t>should</a:t>
            </a:r>
            <a:r>
              <a:rPr lang="en-US" dirty="0"/>
              <a:t> jump to 0x1C; </a:t>
            </a:r>
            <a:r>
              <a:rPr lang="en-US" b="1" dirty="0" err="1"/>
              <a:t>jal</a:t>
            </a:r>
            <a:r>
              <a:rPr lang="en-US" b="1" dirty="0"/>
              <a:t> g</a:t>
            </a:r>
            <a:r>
              <a:rPr lang="en-US" dirty="0"/>
              <a:t> </a:t>
            </a:r>
            <a:r>
              <a:rPr lang="en-US" i="1" dirty="0"/>
              <a:t>should</a:t>
            </a:r>
            <a:r>
              <a:rPr lang="en-US" dirty="0"/>
              <a:t> jump to 0x10</a:t>
            </a:r>
          </a:p>
          <a:p>
            <a:r>
              <a:rPr lang="en-US" dirty="0"/>
              <a:t>- but we don't know the addresses until </a:t>
            </a:r>
            <a:r>
              <a:rPr lang="en-US" i="1" dirty="0"/>
              <a:t>after</a:t>
            </a:r>
            <a:r>
              <a:rPr lang="en-US" i="0" dirty="0"/>
              <a:t> we've concatenated all the function code together</a:t>
            </a:r>
          </a:p>
          <a:p>
            <a:r>
              <a:rPr lang="en-US" i="0" dirty="0"/>
              <a:t>- different orders -&gt; different addresses.</a:t>
            </a:r>
          </a:p>
          <a:p>
            <a:pPr marL="171450" indent="-171450">
              <a:buFontTx/>
              <a:buChar char="-"/>
            </a:pPr>
            <a:r>
              <a:rPr lang="en-US" i="0" dirty="0"/>
              <a:t>the </a:t>
            </a:r>
            <a:r>
              <a:rPr lang="en-US" i="0" dirty="0" err="1"/>
              <a:t>stdlib</a:t>
            </a:r>
            <a:r>
              <a:rPr lang="en-US" i="0" dirty="0"/>
              <a:t> needs to be concatenated to our program, and again, its functions could be at any addresses.</a:t>
            </a:r>
          </a:p>
          <a:p>
            <a:pPr marL="171450" indent="-171450">
              <a:buFontTx/>
              <a:buChar char="-"/>
            </a:pPr>
            <a:endParaRPr lang="en-US" i="0" dirty="0"/>
          </a:p>
          <a:p>
            <a:pPr marL="0" indent="0">
              <a:buFontTx/>
              <a:buNone/>
            </a:pPr>
            <a:r>
              <a:rPr lang="en-US" i="0" dirty="0"/>
              <a:t>[diagram: three HLL functions, each of which is turned into a sequence of instructions. the instructions for multiple functions are just concatenated together to make the whole program. each instruction has its own address… but the addresses of the instructions are not actually known until all the instructions are concatenated together. so how do you generate the call instructions – which require an address – before you know what the addresses are?]</a:t>
            </a:r>
          </a:p>
        </p:txBody>
      </p:sp>
      <p:sp>
        <p:nvSpPr>
          <p:cNvPr id="4" name="Slide Number Placeholder 3"/>
          <p:cNvSpPr>
            <a:spLocks noGrp="1"/>
          </p:cNvSpPr>
          <p:nvPr>
            <p:ph type="sldNum" sz="quarter" idx="5"/>
          </p:nvPr>
        </p:nvSpPr>
        <p:spPr/>
        <p:txBody>
          <a:bodyPr/>
          <a:lstStyle/>
          <a:p>
            <a:fld id="{999729AB-B77D-48AE-AA10-D1BD2B4D03EA}" type="slidenum">
              <a:rPr lang="en-US" smtClean="0"/>
              <a:pPr/>
              <a:t>23</a:t>
            </a:fld>
            <a:endParaRPr lang="en-US"/>
          </a:p>
        </p:txBody>
      </p:sp>
    </p:spTree>
    <p:extLst>
      <p:ext uri="{BB962C8B-B14F-4D97-AF65-F5344CB8AC3E}">
        <p14:creationId xmlns:p14="http://schemas.microsoft.com/office/powerpoint/2010/main" val="33586704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line between compiler and linker is getting more blurred, though…</a:t>
            </a:r>
          </a:p>
          <a:p>
            <a:r>
              <a:rPr lang="en-US" dirty="0"/>
              <a:t>	- linkers are a lot more complex and smarter than they used to be</a:t>
            </a:r>
          </a:p>
          <a:p>
            <a:r>
              <a:rPr lang="en-US" dirty="0"/>
              <a:t>	- the linker can do optimizations that the compiler wouldn't be able to (LTO: link-time optimization)</a:t>
            </a:r>
          </a:p>
          <a:p>
            <a:r>
              <a:rPr lang="en-US" dirty="0"/>
              <a:t>	- sometimes the linker can even generate code!</a:t>
            </a:r>
          </a:p>
          <a:p>
            <a:endParaRPr lang="en-US" dirty="0"/>
          </a:p>
          <a:p>
            <a:r>
              <a:rPr lang="en-US" dirty="0"/>
              <a:t>[diagram: a function call graph. each node is a function, and an edge from A to B means A calls B. here, “main” calls “f” and “</a:t>
            </a:r>
            <a:r>
              <a:rPr lang="en-US" dirty="0" err="1"/>
              <a:t>print_list</a:t>
            </a:r>
            <a:r>
              <a:rPr lang="en-US" dirty="0"/>
              <a:t>”. “</a:t>
            </a:r>
            <a:r>
              <a:rPr lang="en-US" dirty="0" err="1"/>
              <a:t>print_list</a:t>
            </a:r>
            <a:r>
              <a:rPr lang="en-US" dirty="0"/>
              <a:t>” calls itself recursively. “f” calls “g”. “g” calls nothing.]</a:t>
            </a:r>
          </a:p>
        </p:txBody>
      </p:sp>
      <p:sp>
        <p:nvSpPr>
          <p:cNvPr id="4" name="Slide Number Placeholder 3"/>
          <p:cNvSpPr>
            <a:spLocks noGrp="1"/>
          </p:cNvSpPr>
          <p:nvPr>
            <p:ph type="sldNum" sz="quarter" idx="5"/>
          </p:nvPr>
        </p:nvSpPr>
        <p:spPr/>
        <p:txBody>
          <a:bodyPr/>
          <a:lstStyle/>
          <a:p>
            <a:fld id="{999729AB-B77D-48AE-AA10-D1BD2B4D03EA}" type="slidenum">
              <a:rPr lang="en-US" smtClean="0"/>
              <a:pPr/>
              <a:t>24</a:t>
            </a:fld>
            <a:endParaRPr lang="en-US"/>
          </a:p>
        </p:txBody>
      </p:sp>
    </p:spTree>
    <p:extLst>
      <p:ext uri="{BB962C8B-B14F-4D97-AF65-F5344CB8AC3E}">
        <p14:creationId xmlns:p14="http://schemas.microsoft.com/office/powerpoint/2010/main" val="5015384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instead of outputting all the functions sequentially, the compiler outputs a collection of “code fragments” with no defined order. some fragments are incomplete and have “blanks” where they refer to other fragments by </a:t>
            </a:r>
            <a:r>
              <a:rPr lang="en-US" i="1" dirty="0"/>
              <a:t>name</a:t>
            </a:r>
            <a:r>
              <a:rPr lang="en-US" i="0" dirty="0"/>
              <a:t> rather than by address. the linker is then responsible for coming up with an order to put the fragments in, and for “filling in the blanks” once that’s done so that the code is complete.]</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25</a:t>
            </a:fld>
            <a:endParaRPr lang="en-US"/>
          </a:p>
        </p:txBody>
      </p:sp>
    </p:spTree>
    <p:extLst>
      <p:ext uri="{BB962C8B-B14F-4D97-AF65-F5344CB8AC3E}">
        <p14:creationId xmlns:p14="http://schemas.microsoft.com/office/powerpoint/2010/main" val="34292942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reasons include:</a:t>
            </a:r>
          </a:p>
          <a:p>
            <a:r>
              <a:rPr lang="en-US" dirty="0"/>
              <a:t>	- architectural requirements: the ISA may want certain things at certain memory addresses</a:t>
            </a:r>
          </a:p>
          <a:p>
            <a:r>
              <a:rPr lang="en-US" dirty="0"/>
              <a:t>	- OS requirements: if you're making a shared library, it may be loaded at a different address in each process</a:t>
            </a:r>
          </a:p>
          <a:p>
            <a:r>
              <a:rPr lang="en-US" dirty="0"/>
              <a:t>	- ASLR (address space layout randomization): every time your program runs, things are put at different addresses</a:t>
            </a:r>
          </a:p>
          <a:p>
            <a:r>
              <a:rPr lang="en-US" dirty="0"/>
              <a:t>		- this is a security feature to make it harder for malware to find things</a:t>
            </a:r>
          </a:p>
          <a:p>
            <a:pPr marL="171450" indent="-171450">
              <a:buFontTx/>
              <a:buChar char="-"/>
            </a:pPr>
            <a:r>
              <a:rPr lang="en-US" dirty="0"/>
              <a:t>"Jump26" is a reference to the fact that in MIPS J-type instructions (like </a:t>
            </a:r>
            <a:r>
              <a:rPr lang="en-US" dirty="0" err="1"/>
              <a:t>jal</a:t>
            </a:r>
            <a:r>
              <a:rPr lang="en-US" dirty="0"/>
              <a:t>), the target is a 26-bit number.</a:t>
            </a:r>
          </a:p>
          <a:p>
            <a:pPr marL="171450" indent="-171450">
              <a:buFontTx/>
              <a:buChar char="-"/>
            </a:pPr>
            <a:endParaRPr lang="en-US" dirty="0"/>
          </a:p>
          <a:p>
            <a:pPr marL="0" indent="0">
              <a:buFontTx/>
              <a:buNone/>
            </a:pPr>
            <a:r>
              <a:rPr lang="en-US" dirty="0"/>
              <a:t>[diagram: a more concrete example than the previous slide. in the executable, a fragment of code looks mostly normal, except the function call instructions say to call “address 0,” which is meaningless. that’s because the code is not complete. there are two tables alongside the code: the symbol table says where each named thing is </a:t>
            </a:r>
            <a:r>
              <a:rPr lang="en-US" i="1" dirty="0"/>
              <a:t>in the executable,</a:t>
            </a:r>
            <a:r>
              <a:rPr lang="en-US" i="0" dirty="0"/>
              <a:t> and the relocation table says where the “blanks” are – like those call instructions with their addresses set to 0. the loader decides the final address where the code will reside at runtime; then it can run through the relocations and “fill in the blanks” with the real addresses before the code starts executing.]</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26</a:t>
            </a:fld>
            <a:endParaRPr lang="en-US"/>
          </a:p>
        </p:txBody>
      </p:sp>
    </p:spTree>
    <p:extLst>
      <p:ext uri="{BB962C8B-B14F-4D97-AF65-F5344CB8AC3E}">
        <p14:creationId xmlns:p14="http://schemas.microsoft.com/office/powerpoint/2010/main" val="22489845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these are real MIPS instructions!</a:t>
            </a:r>
          </a:p>
          <a:p>
            <a:r>
              <a:rPr lang="en-US" dirty="0"/>
              <a:t>	- well, they're real </a:t>
            </a:r>
            <a:r>
              <a:rPr lang="en-US" dirty="0" err="1"/>
              <a:t>pseudoinstructions</a:t>
            </a:r>
            <a:r>
              <a:rPr lang="en-US" dirty="0"/>
              <a:t>, implemented with </a:t>
            </a:r>
            <a:r>
              <a:rPr lang="en-US" dirty="0" err="1"/>
              <a:t>bgezal</a:t>
            </a:r>
            <a:r>
              <a:rPr lang="en-US" dirty="0"/>
              <a:t> and </a:t>
            </a:r>
            <a:r>
              <a:rPr lang="en-US" dirty="0" err="1"/>
              <a:t>lwpc</a:t>
            </a:r>
            <a:r>
              <a:rPr lang="en-US" dirty="0"/>
              <a:t>…</a:t>
            </a:r>
          </a:p>
          <a:p>
            <a:r>
              <a:rPr lang="en-US" dirty="0"/>
              <a:t>- but </a:t>
            </a:r>
            <a:r>
              <a:rPr lang="en-US" dirty="0" err="1"/>
              <a:t>bal</a:t>
            </a:r>
            <a:r>
              <a:rPr lang="en-US" dirty="0"/>
              <a:t> computes the target PC as an offset from the current PC</a:t>
            </a:r>
          </a:p>
          <a:p>
            <a:r>
              <a:rPr lang="en-US" dirty="0"/>
              <a:t>- and </a:t>
            </a:r>
            <a:r>
              <a:rPr lang="en-US" dirty="0" err="1"/>
              <a:t>lwpc</a:t>
            </a:r>
            <a:r>
              <a:rPr lang="en-US" dirty="0"/>
              <a:t> uses the current PC as the base register for a load (and yes, there is </a:t>
            </a:r>
            <a:r>
              <a:rPr lang="en-US" dirty="0" err="1"/>
              <a:t>swpc</a:t>
            </a:r>
            <a:r>
              <a:rPr lang="en-US" dirty="0"/>
              <a:t> too)</a:t>
            </a:r>
          </a:p>
        </p:txBody>
      </p:sp>
      <p:sp>
        <p:nvSpPr>
          <p:cNvPr id="4" name="Slide Number Placeholder 3"/>
          <p:cNvSpPr>
            <a:spLocks noGrp="1"/>
          </p:cNvSpPr>
          <p:nvPr>
            <p:ph type="sldNum" sz="quarter" idx="5"/>
          </p:nvPr>
        </p:nvSpPr>
        <p:spPr/>
        <p:txBody>
          <a:bodyPr/>
          <a:lstStyle/>
          <a:p>
            <a:fld id="{999729AB-B77D-48AE-AA10-D1BD2B4D03EA}" type="slidenum">
              <a:rPr lang="en-US" smtClean="0"/>
              <a:pPr/>
              <a:t>27</a:t>
            </a:fld>
            <a:endParaRPr lang="en-US"/>
          </a:p>
        </p:txBody>
      </p:sp>
    </p:spTree>
    <p:extLst>
      <p:ext uri="{BB962C8B-B14F-4D97-AF65-F5344CB8AC3E}">
        <p14:creationId xmlns:p14="http://schemas.microsoft.com/office/powerpoint/2010/main" val="14649228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metadata = "data about some data"</a:t>
            </a:r>
          </a:p>
          <a:p>
            <a:r>
              <a:rPr lang="en-US" dirty="0"/>
              <a:t>- windows uses the PE format; mac uses Mach-O; and just about everything else uses ELF</a:t>
            </a:r>
          </a:p>
          <a:p>
            <a:r>
              <a:rPr lang="en-US" dirty="0"/>
              <a:t>- the symbol table </a:t>
            </a:r>
            <a:r>
              <a:rPr lang="en-US" i="0" dirty="0"/>
              <a:t>here is not </a:t>
            </a:r>
            <a:r>
              <a:rPr lang="en-US" i="1" dirty="0"/>
              <a:t>exactly</a:t>
            </a:r>
            <a:r>
              <a:rPr lang="en-US" i="0" dirty="0"/>
              <a:t> the same as the symbol table from the compiler, but it serves a similar purpose</a:t>
            </a:r>
          </a:p>
          <a:p>
            <a:r>
              <a:rPr lang="en-US" i="0" dirty="0"/>
              <a:t>	- a listing of all the "named things" that are in the executable, where they are, and info about them</a:t>
            </a:r>
          </a:p>
          <a:p>
            <a:endParaRPr lang="en-US" i="0" dirty="0"/>
          </a:p>
          <a:p>
            <a:r>
              <a:rPr lang="en-US" i="0" dirty="0"/>
              <a:t>[diagram: a simplified view of an executable format file with a header, symbol table, relocation table, and sections (or segments) for code, data, constants, debugging info, etc.]</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29</a:t>
            </a:fld>
            <a:endParaRPr lang="en-US"/>
          </a:p>
        </p:txBody>
      </p:sp>
    </p:spTree>
    <p:extLst>
      <p:ext uri="{BB962C8B-B14F-4D97-AF65-F5344CB8AC3E}">
        <p14:creationId xmlns:p14="http://schemas.microsoft.com/office/powerpoint/2010/main" val="27052405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if you haven't learned about static and dynamic linking, they both do the same thing, just at different </a:t>
            </a:r>
            <a:r>
              <a:rPr lang="en-US" b="1" dirty="0"/>
              <a:t>times.</a:t>
            </a:r>
            <a:endParaRPr lang="en-US" dirty="0"/>
          </a:p>
          <a:p>
            <a:r>
              <a:rPr lang="en-US" dirty="0"/>
              <a:t>	- dynamic linking happens at runtime, while static linking happens right after compilation.</a:t>
            </a:r>
          </a:p>
          <a:p>
            <a:endParaRPr lang="en-US" dirty="0"/>
          </a:p>
          <a:p>
            <a:r>
              <a:rPr lang="en-US" dirty="0"/>
              <a:t>[diagram: object files are like puzzle pieces which are incomplete. linking them together either produces an executable with an entry point, or a library without one.]</a:t>
            </a:r>
          </a:p>
        </p:txBody>
      </p:sp>
      <p:sp>
        <p:nvSpPr>
          <p:cNvPr id="4" name="Slide Number Placeholder 3"/>
          <p:cNvSpPr>
            <a:spLocks noGrp="1"/>
          </p:cNvSpPr>
          <p:nvPr>
            <p:ph type="sldNum" sz="quarter" idx="5"/>
          </p:nvPr>
        </p:nvSpPr>
        <p:spPr/>
        <p:txBody>
          <a:bodyPr/>
          <a:lstStyle/>
          <a:p>
            <a:fld id="{999729AB-B77D-48AE-AA10-D1BD2B4D03EA}" type="slidenum">
              <a:rPr lang="en-US" smtClean="0"/>
              <a:pPr/>
              <a:t>30</a:t>
            </a:fld>
            <a:endParaRPr lang="en-US"/>
          </a:p>
        </p:txBody>
      </p:sp>
    </p:spTree>
    <p:extLst>
      <p:ext uri="{BB962C8B-B14F-4D97-AF65-F5344CB8AC3E}">
        <p14:creationId xmlns:p14="http://schemas.microsoft.com/office/powerpoint/2010/main" val="27276921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there is no such thing as a linkers course, lol.</a:t>
            </a:r>
          </a:p>
        </p:txBody>
      </p:sp>
      <p:sp>
        <p:nvSpPr>
          <p:cNvPr id="4" name="Slide Number Placeholder 3"/>
          <p:cNvSpPr>
            <a:spLocks noGrp="1"/>
          </p:cNvSpPr>
          <p:nvPr>
            <p:ph type="sldNum" sz="quarter" idx="5"/>
          </p:nvPr>
        </p:nvSpPr>
        <p:spPr/>
        <p:txBody>
          <a:bodyPr/>
          <a:lstStyle/>
          <a:p>
            <a:fld id="{999729AB-B77D-48AE-AA10-D1BD2B4D03EA}" type="slidenum">
              <a:rPr lang="en-US" smtClean="0"/>
              <a:pPr/>
              <a:t>31</a:t>
            </a:fld>
            <a:endParaRPr lang="en-US"/>
          </a:p>
        </p:txBody>
      </p:sp>
    </p:spTree>
    <p:extLst>
      <p:ext uri="{BB962C8B-B14F-4D97-AF65-F5344CB8AC3E}">
        <p14:creationId xmlns:p14="http://schemas.microsoft.com/office/powerpoint/2010/main" val="2703066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3" name="Subtitle 2"/>
          <p:cNvSpPr>
            <a:spLocks noGrp="1"/>
          </p:cNvSpPr>
          <p:nvPr>
            <p:ph type="subTitle" idx="1"/>
          </p:nvPr>
        </p:nvSpPr>
        <p:spPr>
          <a:xfrm>
            <a:off x="685800" y="3177645"/>
            <a:ext cx="7772400" cy="1460500"/>
          </a:xfrm>
          <a:noFill/>
        </p:spPr>
        <p:txBody>
          <a:bodyPr>
            <a:normAutofit/>
          </a:bodyPr>
          <a:lstStyle>
            <a:lvl1pPr marL="0" indent="0" algn="l">
              <a:buNone/>
              <a:defRPr sz="2400">
                <a:solidFill>
                  <a:schemeClr val="bg1"/>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no anim)">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279261"/>
            <a:ext cx="4041775"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4645028" y="1812396"/>
            <a:ext cx="4041775"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5296960"/>
            <a:ext cx="2133600" cy="304271"/>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r>
              <a:rPr lang="cs-CZ"/>
              <a:t>CS447</a:t>
            </a:r>
            <a:endParaRPr lang="en-US"/>
          </a:p>
        </p:txBody>
      </p:sp>
      <p:sp>
        <p:nvSpPr>
          <p:cNvPr id="9" name="Slide Number Placeholder 8"/>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5296960"/>
            <a:ext cx="2133600" cy="304271"/>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cs-CZ"/>
              <a:t>CS447</a:t>
            </a:r>
            <a:endParaRPr lang="en-US"/>
          </a:p>
        </p:txBody>
      </p:sp>
      <p:sp>
        <p:nvSpPr>
          <p:cNvPr id="5" name="Slide Number Placeholder 4"/>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5296960"/>
            <a:ext cx="2133600" cy="304271"/>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cs-CZ"/>
              <a:t>CS447</a:t>
            </a:r>
            <a:endParaRPr lang="en-US"/>
          </a:p>
        </p:txBody>
      </p:sp>
      <p:sp>
        <p:nvSpPr>
          <p:cNvPr id="4" name="Slide Number Placeholder 3"/>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27541"/>
            <a:ext cx="3008313" cy="968376"/>
          </a:xfrm>
        </p:spPr>
        <p:txBody>
          <a:bodyPr anchor="b"/>
          <a:lstStyle>
            <a:lvl1pPr algn="l">
              <a:defRPr sz="1800" b="1"/>
            </a:lvl1pPr>
          </a:lstStyle>
          <a:p>
            <a:r>
              <a:rPr lang="en-US"/>
              <a:t>Click to edit Master title style</a:t>
            </a:r>
          </a:p>
        </p:txBody>
      </p:sp>
      <p:sp>
        <p:nvSpPr>
          <p:cNvPr id="3" name="Content Placeholder 2"/>
          <p:cNvSpPr>
            <a:spLocks noGrp="1"/>
          </p:cNvSpPr>
          <p:nvPr>
            <p:ph idx="1"/>
          </p:nvPr>
        </p:nvSpPr>
        <p:spPr>
          <a:xfrm>
            <a:off x="3575050" y="227544"/>
            <a:ext cx="5111750" cy="4877594"/>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195919"/>
            <a:ext cx="3008313" cy="39092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18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en-US" dirty="0"/>
              <a:t>Drag picture to placeholder or click icon to add</a:t>
            </a:r>
          </a:p>
        </p:txBody>
      </p:sp>
      <p:sp>
        <p:nvSpPr>
          <p:cNvPr id="4" name="Text Placeholder 3"/>
          <p:cNvSpPr>
            <a:spLocks noGrp="1"/>
          </p:cNvSpPr>
          <p:nvPr>
            <p:ph type="body" sz="half" idx="2"/>
          </p:nvPr>
        </p:nvSpPr>
        <p:spPr>
          <a:xfrm>
            <a:off x="1792288" y="4472783"/>
            <a:ext cx="5486400" cy="6707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7"/>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7"/>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Rectangle 8"/>
          <p:cNvSpPr/>
          <p:nvPr/>
        </p:nvSpPr>
        <p:spPr>
          <a:xfrm>
            <a:off x="0" y="5600700"/>
            <a:ext cx="9144000" cy="114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7" name="Rectangle 6"/>
          <p:cNvSpPr/>
          <p:nvPr/>
        </p:nvSpPr>
        <p:spPr>
          <a:xfrm>
            <a:off x="0" y="0"/>
            <a:ext cx="9144000" cy="495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2" name="Title Placeholder 1"/>
          <p:cNvSpPr>
            <a:spLocks noGrp="1"/>
          </p:cNvSpPr>
          <p:nvPr>
            <p:ph type="title"/>
          </p:nvPr>
        </p:nvSpPr>
        <p:spPr>
          <a:xfrm>
            <a:off x="152400" y="0"/>
            <a:ext cx="8991600" cy="4953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52400" y="495301"/>
            <a:ext cx="8991600" cy="4801659"/>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0" y="5296960"/>
            <a:ext cx="1219200" cy="304271"/>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cs-CZ"/>
              <a:t>CS447</a:t>
            </a:r>
            <a:endParaRPr lang="en-US" dirty="0"/>
          </a:p>
        </p:txBody>
      </p:sp>
      <p:sp>
        <p:nvSpPr>
          <p:cNvPr id="6" name="Slide Number Placeholder 5"/>
          <p:cNvSpPr>
            <a:spLocks noGrp="1"/>
          </p:cNvSpPr>
          <p:nvPr>
            <p:ph type="sldNum" sz="quarter" idx="4"/>
          </p:nvPr>
        </p:nvSpPr>
        <p:spPr>
          <a:xfrm>
            <a:off x="8458200" y="5296960"/>
            <a:ext cx="685800" cy="304271"/>
          </a:xfrm>
          <a:prstGeom prst="rect">
            <a:avLst/>
          </a:prstGeom>
        </p:spPr>
        <p:txBody>
          <a:bodyPr vert="horz" lIns="91440" tIns="45720" rIns="91440" bIns="45720" rtlCol="0" anchor="ctr"/>
          <a:lstStyle>
            <a:lvl1pPr algn="r">
              <a:defRPr sz="1200">
                <a:solidFill>
                  <a:schemeClr val="tx1">
                    <a:tint val="75000"/>
                  </a:schemeClr>
                </a:solidFill>
              </a:defRPr>
            </a:lvl1pPr>
          </a:lstStyle>
          <a:p>
            <a:fld id="{3552B95B-556F-44BD-91A5-D80C1B9E2BB3}" type="slidenum">
              <a:rPr lang="en-US" smtClean="0"/>
              <a:pPr/>
              <a:t>‹#›</a:t>
            </a:fld>
            <a:endParaRPr lang="en-US"/>
          </a:p>
        </p:txBody>
      </p:sp>
    </p:spTree>
    <p:extLst>
      <p:ext uri="{BB962C8B-B14F-4D97-AF65-F5344CB8AC3E}">
        <p14:creationId xmlns:p14="http://schemas.microsoft.com/office/powerpoint/2010/main" val="34903523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ransition/>
  <p:hf hdr="0" ftr="0" dt="0"/>
  <p:txStyles>
    <p:titleStyle>
      <a:lvl1pPr algn="l" defTabSz="822960" rtl="0" eaLnBrk="1" latinLnBrk="0" hangingPunct="1">
        <a:spcBef>
          <a:spcPct val="0"/>
        </a:spcBef>
        <a:buNone/>
        <a:defRPr sz="2800" b="1" kern="1200">
          <a:solidFill>
            <a:schemeClr val="bg1"/>
          </a:solidFill>
          <a:latin typeface="+mj-lt"/>
          <a:ea typeface="GulimChe" pitchFamily="49" charset="-127"/>
          <a:cs typeface="MoolBoran" pitchFamily="34" charset="0"/>
        </a:defRPr>
      </a:lvl1pPr>
    </p:titleStyle>
    <p:bodyStyle>
      <a:lvl1pPr marL="204312" indent="-204312" algn="l" defTabSz="822960" rtl="0" eaLnBrk="1" latinLnBrk="0" hangingPunct="1">
        <a:spcBef>
          <a:spcPts val="0"/>
        </a:spcBef>
        <a:buSzPct val="150000"/>
        <a:buFont typeface="Arial" pitchFamily="34" charset="0"/>
        <a:buChar char="•"/>
        <a:defRPr sz="2200" kern="1200">
          <a:solidFill>
            <a:schemeClr val="tx1"/>
          </a:solidFill>
          <a:latin typeface="+mn-lt"/>
          <a:ea typeface="+mn-ea"/>
          <a:cs typeface="+mn-cs"/>
        </a:defRPr>
      </a:lvl1pPr>
      <a:lvl2pPr marL="415767" indent="-207170" algn="l" defTabSz="822960" rtl="0" eaLnBrk="1" latinLnBrk="0" hangingPunct="1">
        <a:spcBef>
          <a:spcPts val="0"/>
        </a:spcBef>
        <a:buFont typeface="Courier New" pitchFamily="49" charset="0"/>
        <a:buChar char="o"/>
        <a:defRPr sz="2200" kern="1200">
          <a:solidFill>
            <a:schemeClr val="tx1"/>
          </a:solidFill>
          <a:latin typeface="+mn-lt"/>
          <a:ea typeface="+mn-ea"/>
          <a:cs typeface="+mn-cs"/>
        </a:defRPr>
      </a:lvl2pPr>
      <a:lvl3pPr marL="620078" indent="-205740" algn="l" defTabSz="822960" rtl="0" eaLnBrk="1" latinLnBrk="0" hangingPunct="1">
        <a:spcBef>
          <a:spcPts val="0"/>
        </a:spcBef>
        <a:buFont typeface="Wingdings" pitchFamily="2" charset="2"/>
        <a:buChar char="§"/>
        <a:defRPr sz="2200" kern="1200">
          <a:solidFill>
            <a:schemeClr val="tx1"/>
          </a:solidFill>
          <a:latin typeface="+mn-lt"/>
          <a:ea typeface="+mn-ea"/>
          <a:cs typeface="+mn-cs"/>
        </a:defRPr>
      </a:lvl3pPr>
      <a:lvl4pPr marL="821532"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4pPr>
      <a:lvl5pPr marL="1028700"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Backend and Runtime</a:t>
            </a:r>
            <a:endParaRPr lang="en-US" sz="2400" dirty="0"/>
          </a:p>
        </p:txBody>
      </p:sp>
      <p:sp>
        <p:nvSpPr>
          <p:cNvPr id="3" name="Subtitle 2"/>
          <p:cNvSpPr>
            <a:spLocks noGrp="1"/>
          </p:cNvSpPr>
          <p:nvPr>
            <p:ph type="subTitle" idx="1"/>
          </p:nvPr>
        </p:nvSpPr>
        <p:spPr/>
        <p:txBody>
          <a:bodyPr/>
          <a:lstStyle/>
          <a:p>
            <a:r>
              <a:rPr lang="en-US" dirty="0"/>
              <a:t>CS 1622</a:t>
            </a:r>
          </a:p>
          <a:p>
            <a:r>
              <a:rPr lang="en-US" dirty="0"/>
              <a:t>Jarrett Billingsley</a:t>
            </a:r>
          </a:p>
        </p:txBody>
      </p:sp>
    </p:spTree>
    <p:extLst>
      <p:ext uri="{BB962C8B-B14F-4D97-AF65-F5344CB8AC3E}">
        <p14:creationId xmlns:p14="http://schemas.microsoft.com/office/powerpoint/2010/main" val="361208656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017CE-A372-C744-8763-80C56E421E87}"/>
              </a:ext>
            </a:extLst>
          </p:cNvPr>
          <p:cNvSpPr>
            <a:spLocks noGrp="1"/>
          </p:cNvSpPr>
          <p:nvPr>
            <p:ph type="title"/>
          </p:nvPr>
        </p:nvSpPr>
        <p:spPr/>
        <p:txBody>
          <a:bodyPr/>
          <a:lstStyle/>
          <a:p>
            <a:r>
              <a:rPr lang="en-US" dirty="0"/>
              <a:t>Class Announcements</a:t>
            </a:r>
          </a:p>
        </p:txBody>
      </p:sp>
      <p:sp>
        <p:nvSpPr>
          <p:cNvPr id="3" name="Content Placeholder 2">
            <a:extLst>
              <a:ext uri="{FF2B5EF4-FFF2-40B4-BE49-F238E27FC236}">
                <a16:creationId xmlns:a16="http://schemas.microsoft.com/office/drawing/2014/main" id="{F4FEBBF7-1C6E-294A-B5C4-174BB20AAFA9}"/>
              </a:ext>
            </a:extLst>
          </p:cNvPr>
          <p:cNvSpPr>
            <a:spLocks noGrp="1"/>
          </p:cNvSpPr>
          <p:nvPr>
            <p:ph idx="1"/>
          </p:nvPr>
        </p:nvSpPr>
        <p:spPr/>
        <p:txBody>
          <a:bodyPr/>
          <a:lstStyle/>
          <a:p>
            <a:r>
              <a:rPr lang="en-US" dirty="0"/>
              <a:t>today is kind of an intro to the second half of the course</a:t>
            </a:r>
          </a:p>
          <a:p>
            <a:r>
              <a:rPr lang="en-US" dirty="0"/>
              <a:t>how was the </a:t>
            </a:r>
            <a:r>
              <a:rPr lang="en-US" dirty="0" err="1"/>
              <a:t>exaaaaaaaam</a:t>
            </a:r>
            <a:r>
              <a:rPr lang="en-US" dirty="0"/>
              <a:t>?</a:t>
            </a:r>
          </a:p>
          <a:p>
            <a:r>
              <a:rPr lang="en-US" dirty="0"/>
              <a:t>also I’m realizing that there are actually </a:t>
            </a:r>
            <a:r>
              <a:rPr lang="en-US" i="1" dirty="0"/>
              <a:t>way </a:t>
            </a:r>
            <a:r>
              <a:rPr lang="en-US" dirty="0"/>
              <a:t>more minutes of lecture in the summer term than in spring/fall so I shouldn’t feel pressured to make every lecture take all 105 minutes</a:t>
            </a:r>
          </a:p>
        </p:txBody>
      </p:sp>
      <p:sp>
        <p:nvSpPr>
          <p:cNvPr id="4" name="Slide Number Placeholder 3">
            <a:extLst>
              <a:ext uri="{FF2B5EF4-FFF2-40B4-BE49-F238E27FC236}">
                <a16:creationId xmlns:a16="http://schemas.microsoft.com/office/drawing/2014/main" id="{05CC32BD-B01F-C646-91E9-D5AAEE75AC36}"/>
              </a:ext>
            </a:extLst>
          </p:cNvPr>
          <p:cNvSpPr>
            <a:spLocks noGrp="1"/>
          </p:cNvSpPr>
          <p:nvPr>
            <p:ph type="sldNum" sz="quarter" idx="12"/>
          </p:nvPr>
        </p:nvSpPr>
        <p:spPr/>
        <p:txBody>
          <a:bodyPr/>
          <a:lstStyle/>
          <a:p>
            <a:fld id="{3552B95B-556F-44BD-91A5-D80C1B9E2BB3}" type="slidenum">
              <a:rPr lang="en-US" smtClean="0"/>
              <a:pPr/>
              <a:t>2</a:t>
            </a:fld>
            <a:endParaRPr lang="en-US"/>
          </a:p>
        </p:txBody>
      </p:sp>
    </p:spTree>
    <p:extLst>
      <p:ext uri="{BB962C8B-B14F-4D97-AF65-F5344CB8AC3E}">
        <p14:creationId xmlns:p14="http://schemas.microsoft.com/office/powerpoint/2010/main" val="243397440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4D4EF-DD95-E842-993F-FFCE5253679C}"/>
              </a:ext>
            </a:extLst>
          </p:cNvPr>
          <p:cNvSpPr>
            <a:spLocks noGrp="1"/>
          </p:cNvSpPr>
          <p:nvPr>
            <p:ph type="ctrTitle"/>
          </p:nvPr>
        </p:nvSpPr>
        <p:spPr/>
        <p:txBody>
          <a:bodyPr/>
          <a:lstStyle/>
          <a:p>
            <a:r>
              <a:rPr lang="en-US" dirty="0"/>
              <a:t>Welcome to the Backend!</a:t>
            </a:r>
          </a:p>
        </p:txBody>
      </p:sp>
      <p:sp>
        <p:nvSpPr>
          <p:cNvPr id="3" name="Slide Number Placeholder 2">
            <a:extLst>
              <a:ext uri="{FF2B5EF4-FFF2-40B4-BE49-F238E27FC236}">
                <a16:creationId xmlns:a16="http://schemas.microsoft.com/office/drawing/2014/main" id="{237E100F-6013-D24E-B2CE-7878D12A6FCA}"/>
              </a:ext>
            </a:extLst>
          </p:cNvPr>
          <p:cNvSpPr>
            <a:spLocks noGrp="1"/>
          </p:cNvSpPr>
          <p:nvPr>
            <p:ph type="sldNum" sz="quarter" idx="12"/>
          </p:nvPr>
        </p:nvSpPr>
        <p:spPr/>
        <p:txBody>
          <a:bodyPr/>
          <a:lstStyle/>
          <a:p>
            <a:fld id="{3552B95B-556F-44BD-91A5-D80C1B9E2BB3}" type="slidenum">
              <a:rPr lang="en-US" smtClean="0"/>
              <a:pPr/>
              <a:t>3</a:t>
            </a:fld>
            <a:endParaRPr lang="en-US"/>
          </a:p>
        </p:txBody>
      </p:sp>
    </p:spTree>
    <p:extLst>
      <p:ext uri="{BB962C8B-B14F-4D97-AF65-F5344CB8AC3E}">
        <p14:creationId xmlns:p14="http://schemas.microsoft.com/office/powerpoint/2010/main" val="120291034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29531-B2C5-7B45-BC9E-D72C23ABF8AB}"/>
              </a:ext>
            </a:extLst>
          </p:cNvPr>
          <p:cNvSpPr>
            <a:spLocks noGrp="1"/>
          </p:cNvSpPr>
          <p:nvPr>
            <p:ph type="title"/>
          </p:nvPr>
        </p:nvSpPr>
        <p:spPr/>
        <p:txBody>
          <a:bodyPr/>
          <a:lstStyle/>
          <a:p>
            <a:r>
              <a:rPr lang="en-US" dirty="0"/>
              <a:t>Through the looking glass</a:t>
            </a:r>
          </a:p>
        </p:txBody>
      </p:sp>
      <p:sp>
        <p:nvSpPr>
          <p:cNvPr id="3" name="Content Placeholder 2">
            <a:extLst>
              <a:ext uri="{FF2B5EF4-FFF2-40B4-BE49-F238E27FC236}">
                <a16:creationId xmlns:a16="http://schemas.microsoft.com/office/drawing/2014/main" id="{CDEBBE66-A094-A849-9F48-A6AACBAC40A5}"/>
              </a:ext>
            </a:extLst>
          </p:cNvPr>
          <p:cNvSpPr>
            <a:spLocks noGrp="1"/>
          </p:cNvSpPr>
          <p:nvPr>
            <p:ph idx="1"/>
          </p:nvPr>
        </p:nvSpPr>
        <p:spPr/>
        <p:txBody>
          <a:bodyPr/>
          <a:lstStyle/>
          <a:p>
            <a:r>
              <a:rPr lang="en-US" dirty="0"/>
              <a:t>a compiler translates from a source language to a target language.</a:t>
            </a:r>
          </a:p>
          <a:p>
            <a:pPr lvl="1"/>
            <a:r>
              <a:rPr lang="en-US" dirty="0"/>
              <a:t>well, now we're </a:t>
            </a:r>
            <a:r>
              <a:rPr lang="en-US" b="1" dirty="0"/>
              <a:t>done with the source language.</a:t>
            </a:r>
          </a:p>
          <a:p>
            <a:r>
              <a:rPr lang="en-US" dirty="0"/>
              <a:t>once the AST has been constructed and </a:t>
            </a:r>
            <a:r>
              <a:rPr lang="en-US" b="1" dirty="0"/>
              <a:t>semantically analyzed…</a:t>
            </a:r>
          </a:p>
          <a:p>
            <a:pPr lvl="1"/>
            <a:r>
              <a:rPr lang="en-US" dirty="0"/>
              <a:t>we have a "correct" program!</a:t>
            </a:r>
          </a:p>
          <a:p>
            <a:r>
              <a:rPr lang="en-US" dirty="0"/>
              <a:t>from here on out, we're assuming that we're working with </a:t>
            </a:r>
            <a:r>
              <a:rPr lang="en-US" b="1" dirty="0"/>
              <a:t>an AST that represents a correct program.</a:t>
            </a:r>
          </a:p>
          <a:p>
            <a:pPr lvl="1"/>
            <a:r>
              <a:rPr lang="en-US" dirty="0"/>
              <a:t>later we'll come back and look at </a:t>
            </a:r>
            <a:r>
              <a:rPr lang="en-US" b="1" dirty="0"/>
              <a:t>intermediate representation </a:t>
            </a:r>
            <a:r>
              <a:rPr lang="en-US" dirty="0"/>
              <a:t>(IR), which lets us abstract away even the AST itself.</a:t>
            </a:r>
          </a:p>
        </p:txBody>
      </p:sp>
      <p:sp>
        <p:nvSpPr>
          <p:cNvPr id="4" name="Slide Number Placeholder 3">
            <a:extLst>
              <a:ext uri="{FF2B5EF4-FFF2-40B4-BE49-F238E27FC236}">
                <a16:creationId xmlns:a16="http://schemas.microsoft.com/office/drawing/2014/main" id="{B25B5138-6FE3-C24C-8170-F24E1FA09B72}"/>
              </a:ext>
            </a:extLst>
          </p:cNvPr>
          <p:cNvSpPr>
            <a:spLocks noGrp="1"/>
          </p:cNvSpPr>
          <p:nvPr>
            <p:ph type="sldNum" sz="quarter" idx="12"/>
          </p:nvPr>
        </p:nvSpPr>
        <p:spPr/>
        <p:txBody>
          <a:bodyPr/>
          <a:lstStyle/>
          <a:p>
            <a:fld id="{3552B95B-556F-44BD-91A5-D80C1B9E2BB3}" type="slidenum">
              <a:rPr lang="en-US" smtClean="0"/>
              <a:pPr/>
              <a:t>4</a:t>
            </a:fld>
            <a:endParaRPr lang="en-US"/>
          </a:p>
        </p:txBody>
      </p:sp>
    </p:spTree>
    <p:extLst>
      <p:ext uri="{BB962C8B-B14F-4D97-AF65-F5344CB8AC3E}">
        <p14:creationId xmlns:p14="http://schemas.microsoft.com/office/powerpoint/2010/main" val="340532836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DA929-69B9-1D45-88C9-084EE5110C1A}"/>
              </a:ext>
            </a:extLst>
          </p:cNvPr>
          <p:cNvSpPr>
            <a:spLocks noGrp="1"/>
          </p:cNvSpPr>
          <p:nvPr>
            <p:ph type="title"/>
          </p:nvPr>
        </p:nvSpPr>
        <p:spPr/>
        <p:txBody>
          <a:bodyPr/>
          <a:lstStyle/>
          <a:p>
            <a:r>
              <a:rPr lang="en-US" dirty="0"/>
              <a:t>What is the backend responsible for?</a:t>
            </a:r>
          </a:p>
        </p:txBody>
      </p:sp>
      <p:sp>
        <p:nvSpPr>
          <p:cNvPr id="3" name="Content Placeholder 2">
            <a:extLst>
              <a:ext uri="{FF2B5EF4-FFF2-40B4-BE49-F238E27FC236}">
                <a16:creationId xmlns:a16="http://schemas.microsoft.com/office/drawing/2014/main" id="{8FC3BBB8-52BA-CA42-96A7-8AE5722DB3ED}"/>
              </a:ext>
            </a:extLst>
          </p:cNvPr>
          <p:cNvSpPr>
            <a:spLocks noGrp="1"/>
          </p:cNvSpPr>
          <p:nvPr>
            <p:ph idx="1"/>
          </p:nvPr>
        </p:nvSpPr>
        <p:spPr>
          <a:xfrm>
            <a:off x="152400" y="495301"/>
            <a:ext cx="8991600" cy="1219199"/>
          </a:xfrm>
        </p:spPr>
        <p:txBody>
          <a:bodyPr/>
          <a:lstStyle/>
          <a:p>
            <a:r>
              <a:rPr lang="en-US" dirty="0"/>
              <a:t>a compiler translates from the </a:t>
            </a:r>
            <a:r>
              <a:rPr lang="en-US" b="1" dirty="0"/>
              <a:t>source</a:t>
            </a:r>
            <a:r>
              <a:rPr lang="en-US" dirty="0"/>
              <a:t> language to the </a:t>
            </a:r>
            <a:r>
              <a:rPr lang="en-US" b="1" dirty="0"/>
              <a:t>target.</a:t>
            </a:r>
          </a:p>
          <a:p>
            <a:r>
              <a:rPr lang="en-US" dirty="0"/>
              <a:t>so far, all we've done is </a:t>
            </a:r>
            <a:r>
              <a:rPr lang="en-US" i="1" dirty="0"/>
              <a:t>validate</a:t>
            </a:r>
            <a:r>
              <a:rPr lang="en-US" dirty="0"/>
              <a:t> the source code.</a:t>
            </a:r>
          </a:p>
          <a:p>
            <a:r>
              <a:rPr lang="en-US" dirty="0"/>
              <a:t>that means the backend </a:t>
            </a:r>
            <a:r>
              <a:rPr lang="en-US" b="1" dirty="0"/>
              <a:t>does the actual translation!</a:t>
            </a:r>
          </a:p>
        </p:txBody>
      </p:sp>
      <p:sp>
        <p:nvSpPr>
          <p:cNvPr id="4" name="Slide Number Placeholder 3">
            <a:extLst>
              <a:ext uri="{FF2B5EF4-FFF2-40B4-BE49-F238E27FC236}">
                <a16:creationId xmlns:a16="http://schemas.microsoft.com/office/drawing/2014/main" id="{B13C81BE-A01E-394B-B465-D9E343DBD753}"/>
              </a:ext>
            </a:extLst>
          </p:cNvPr>
          <p:cNvSpPr>
            <a:spLocks noGrp="1"/>
          </p:cNvSpPr>
          <p:nvPr>
            <p:ph type="sldNum" sz="quarter" idx="12"/>
          </p:nvPr>
        </p:nvSpPr>
        <p:spPr/>
        <p:txBody>
          <a:bodyPr/>
          <a:lstStyle/>
          <a:p>
            <a:fld id="{3552B95B-556F-44BD-91A5-D80C1B9E2BB3}" type="slidenum">
              <a:rPr lang="en-US" smtClean="0"/>
              <a:pPr/>
              <a:t>5</a:t>
            </a:fld>
            <a:endParaRPr lang="en-US"/>
          </a:p>
        </p:txBody>
      </p:sp>
      <p:sp>
        <p:nvSpPr>
          <p:cNvPr id="5" name="TextBox 4">
            <a:extLst>
              <a:ext uri="{FF2B5EF4-FFF2-40B4-BE49-F238E27FC236}">
                <a16:creationId xmlns:a16="http://schemas.microsoft.com/office/drawing/2014/main" id="{78BEC79B-DCC5-8444-AAB2-89973B2CA513}"/>
              </a:ext>
            </a:extLst>
          </p:cNvPr>
          <p:cNvSpPr txBox="1"/>
          <p:nvPr/>
        </p:nvSpPr>
        <p:spPr>
          <a:xfrm>
            <a:off x="228600" y="1707059"/>
            <a:ext cx="8686800" cy="769441"/>
          </a:xfrm>
          <a:prstGeom prst="rect">
            <a:avLst/>
          </a:prstGeom>
          <a:noFill/>
        </p:spPr>
        <p:txBody>
          <a:bodyPr wrap="square" rtlCol="0">
            <a:spAutoFit/>
          </a:bodyPr>
          <a:lstStyle/>
          <a:p>
            <a:pPr algn="ctr"/>
            <a:r>
              <a:rPr lang="en-US" sz="2200" dirty="0"/>
              <a:t>it maps each part of the source language into some target language instructions that do </a:t>
            </a:r>
            <a:r>
              <a:rPr lang="en-US" sz="2200" b="1" dirty="0"/>
              <a:t>the same thing </a:t>
            </a:r>
            <a:r>
              <a:rPr lang="en-US" sz="2200" dirty="0"/>
              <a:t>as what the programmer wrote.</a:t>
            </a:r>
            <a:endParaRPr lang="en-US" sz="2200" b="1" dirty="0"/>
          </a:p>
        </p:txBody>
      </p:sp>
      <p:sp>
        <p:nvSpPr>
          <p:cNvPr id="7" name="TextBox 6">
            <a:extLst>
              <a:ext uri="{FF2B5EF4-FFF2-40B4-BE49-F238E27FC236}">
                <a16:creationId xmlns:a16="http://schemas.microsoft.com/office/drawing/2014/main" id="{E41E12DB-06DE-D943-A623-E0222F98EB1B}"/>
              </a:ext>
            </a:extLst>
          </p:cNvPr>
          <p:cNvSpPr txBox="1"/>
          <p:nvPr/>
        </p:nvSpPr>
        <p:spPr>
          <a:xfrm>
            <a:off x="2743200" y="2666632"/>
            <a:ext cx="748923" cy="400110"/>
          </a:xfrm>
          <a:prstGeom prst="rect">
            <a:avLst/>
          </a:prstGeom>
          <a:noFill/>
        </p:spPr>
        <p:txBody>
          <a:bodyPr wrap="none" rtlCol="0">
            <a:spAutoFit/>
          </a:bodyPr>
          <a:lstStyle/>
          <a:p>
            <a:r>
              <a:rPr lang="en-US" sz="2000" b="1" dirty="0">
                <a:latin typeface="Consolas" panose="020B0609020204030204" pitchFamily="49" charset="0"/>
                <a:cs typeface="Consolas" panose="020B0609020204030204" pitchFamily="49" charset="0"/>
              </a:rPr>
              <a:t>f();</a:t>
            </a:r>
          </a:p>
        </p:txBody>
      </p:sp>
      <p:sp>
        <p:nvSpPr>
          <p:cNvPr id="8" name="TextBox 7">
            <a:extLst>
              <a:ext uri="{FF2B5EF4-FFF2-40B4-BE49-F238E27FC236}">
                <a16:creationId xmlns:a16="http://schemas.microsoft.com/office/drawing/2014/main" id="{3CD3A689-9F25-0440-96EF-46736931C927}"/>
              </a:ext>
            </a:extLst>
          </p:cNvPr>
          <p:cNvSpPr txBox="1"/>
          <p:nvPr/>
        </p:nvSpPr>
        <p:spPr>
          <a:xfrm>
            <a:off x="5029200" y="2666632"/>
            <a:ext cx="1031051" cy="400110"/>
          </a:xfrm>
          <a:prstGeom prst="rect">
            <a:avLst/>
          </a:prstGeom>
          <a:noFill/>
        </p:spPr>
        <p:txBody>
          <a:bodyPr wrap="none" rtlCol="0">
            <a:spAutoFit/>
          </a:bodyPr>
          <a:lstStyle/>
          <a:p>
            <a:r>
              <a:rPr lang="en-US" sz="2000" b="1" dirty="0" err="1">
                <a:solidFill>
                  <a:srgbClr val="FF0000"/>
                </a:solidFill>
                <a:latin typeface="Consolas" panose="020B0609020204030204" pitchFamily="49" charset="0"/>
                <a:cs typeface="Consolas" panose="020B0609020204030204" pitchFamily="49" charset="0"/>
              </a:rPr>
              <a:t>jal</a:t>
            </a:r>
            <a:r>
              <a:rPr lang="en-US" sz="2000" b="1" dirty="0">
                <a:latin typeface="Consolas" panose="020B0609020204030204" pitchFamily="49" charset="0"/>
                <a:cs typeface="Consolas" panose="020B0609020204030204" pitchFamily="49" charset="0"/>
              </a:rPr>
              <a:t>  f</a:t>
            </a:r>
          </a:p>
        </p:txBody>
      </p:sp>
      <p:sp>
        <p:nvSpPr>
          <p:cNvPr id="9" name="TextBox 8">
            <a:extLst>
              <a:ext uri="{FF2B5EF4-FFF2-40B4-BE49-F238E27FC236}">
                <a16:creationId xmlns:a16="http://schemas.microsoft.com/office/drawing/2014/main" id="{A8B9BC4F-51D2-384E-B204-52EE8364AB87}"/>
              </a:ext>
            </a:extLst>
          </p:cNvPr>
          <p:cNvSpPr txBox="1"/>
          <p:nvPr/>
        </p:nvSpPr>
        <p:spPr>
          <a:xfrm>
            <a:off x="2743200" y="3475176"/>
            <a:ext cx="1031051" cy="400110"/>
          </a:xfrm>
          <a:prstGeom prst="rect">
            <a:avLst/>
          </a:prstGeom>
          <a:noFill/>
        </p:spPr>
        <p:txBody>
          <a:bodyPr wrap="none" rtlCol="0">
            <a:spAutoFit/>
          </a:bodyPr>
          <a:lstStyle/>
          <a:p>
            <a:r>
              <a:rPr lang="en-US" sz="2000" b="1" dirty="0">
                <a:latin typeface="Consolas" panose="020B0609020204030204" pitchFamily="49" charset="0"/>
                <a:cs typeface="Consolas" panose="020B0609020204030204" pitchFamily="49" charset="0"/>
              </a:rPr>
              <a:t>x = </a:t>
            </a:r>
            <a:r>
              <a:rPr lang="en-US" sz="2000" b="1" dirty="0">
                <a:solidFill>
                  <a:schemeClr val="accent3">
                    <a:lumMod val="75000"/>
                  </a:schemeClr>
                </a:solidFill>
                <a:latin typeface="Consolas" panose="020B0609020204030204" pitchFamily="49" charset="0"/>
                <a:cs typeface="Consolas" panose="020B0609020204030204" pitchFamily="49" charset="0"/>
              </a:rPr>
              <a:t>5</a:t>
            </a:r>
            <a:r>
              <a:rPr lang="en-US" sz="2000" b="1" dirty="0">
                <a:latin typeface="Consolas" panose="020B0609020204030204" pitchFamily="49" charset="0"/>
                <a:cs typeface="Consolas" panose="020B0609020204030204" pitchFamily="49" charset="0"/>
              </a:rPr>
              <a:t>;</a:t>
            </a:r>
          </a:p>
        </p:txBody>
      </p:sp>
      <p:sp>
        <p:nvSpPr>
          <p:cNvPr id="10" name="TextBox 9">
            <a:extLst>
              <a:ext uri="{FF2B5EF4-FFF2-40B4-BE49-F238E27FC236}">
                <a16:creationId xmlns:a16="http://schemas.microsoft.com/office/drawing/2014/main" id="{7B5C036C-3710-254F-AD5C-3242B466CDE8}"/>
              </a:ext>
            </a:extLst>
          </p:cNvPr>
          <p:cNvSpPr txBox="1"/>
          <p:nvPr/>
        </p:nvSpPr>
        <p:spPr>
          <a:xfrm>
            <a:off x="5029200" y="3325129"/>
            <a:ext cx="1595309" cy="707886"/>
          </a:xfrm>
          <a:prstGeom prst="rect">
            <a:avLst/>
          </a:prstGeom>
          <a:noFill/>
        </p:spPr>
        <p:txBody>
          <a:bodyPr wrap="none" rtlCol="0">
            <a:spAutoFit/>
          </a:bodyPr>
          <a:lstStyle/>
          <a:p>
            <a:r>
              <a:rPr lang="en-US" sz="2000" b="1" dirty="0">
                <a:solidFill>
                  <a:srgbClr val="FF0000"/>
                </a:solidFill>
                <a:latin typeface="Consolas" panose="020B0609020204030204" pitchFamily="49" charset="0"/>
                <a:cs typeface="Consolas" panose="020B0609020204030204" pitchFamily="49" charset="0"/>
              </a:rPr>
              <a:t>li</a:t>
            </a:r>
            <a:r>
              <a:rPr lang="en-US" sz="2000" b="1" dirty="0">
                <a:latin typeface="Consolas" panose="020B0609020204030204" pitchFamily="49" charset="0"/>
                <a:cs typeface="Consolas" panose="020B0609020204030204" pitchFamily="49" charset="0"/>
              </a:rPr>
              <a:t>   t0, </a:t>
            </a:r>
            <a:r>
              <a:rPr lang="en-US" sz="2000" b="1" dirty="0">
                <a:solidFill>
                  <a:schemeClr val="accent3">
                    <a:lumMod val="75000"/>
                  </a:schemeClr>
                </a:solidFill>
                <a:latin typeface="Consolas" panose="020B0609020204030204" pitchFamily="49" charset="0"/>
                <a:cs typeface="Consolas" panose="020B0609020204030204" pitchFamily="49" charset="0"/>
              </a:rPr>
              <a:t>5</a:t>
            </a:r>
          </a:p>
          <a:p>
            <a:r>
              <a:rPr lang="en-US" sz="2000" b="1" dirty="0" err="1">
                <a:solidFill>
                  <a:srgbClr val="FF0000"/>
                </a:solidFill>
                <a:latin typeface="Consolas" panose="020B0609020204030204" pitchFamily="49" charset="0"/>
                <a:cs typeface="Consolas" panose="020B0609020204030204" pitchFamily="49" charset="0"/>
              </a:rPr>
              <a:t>sw</a:t>
            </a:r>
            <a:r>
              <a:rPr lang="en-US" sz="2000" b="1" dirty="0">
                <a:latin typeface="Consolas" panose="020B0609020204030204" pitchFamily="49" charset="0"/>
                <a:cs typeface="Consolas" panose="020B0609020204030204" pitchFamily="49" charset="0"/>
              </a:rPr>
              <a:t>   t0, x</a:t>
            </a:r>
          </a:p>
        </p:txBody>
      </p:sp>
      <p:sp>
        <p:nvSpPr>
          <p:cNvPr id="11" name="TextBox 10">
            <a:extLst>
              <a:ext uri="{FF2B5EF4-FFF2-40B4-BE49-F238E27FC236}">
                <a16:creationId xmlns:a16="http://schemas.microsoft.com/office/drawing/2014/main" id="{545D8F10-9E60-8B46-8FF1-FB9437A032AD}"/>
              </a:ext>
            </a:extLst>
          </p:cNvPr>
          <p:cNvSpPr txBox="1"/>
          <p:nvPr/>
        </p:nvSpPr>
        <p:spPr>
          <a:xfrm>
            <a:off x="2743200" y="4588013"/>
            <a:ext cx="1454244" cy="400110"/>
          </a:xfrm>
          <a:prstGeom prst="rect">
            <a:avLst/>
          </a:prstGeom>
          <a:noFill/>
        </p:spPr>
        <p:txBody>
          <a:bodyPr wrap="none" rtlCol="0">
            <a:spAutoFit/>
          </a:bodyPr>
          <a:lstStyle/>
          <a:p>
            <a:r>
              <a:rPr lang="en-US" sz="2000" b="1" dirty="0">
                <a:latin typeface="Consolas" panose="020B0609020204030204" pitchFamily="49" charset="0"/>
                <a:cs typeface="Consolas" panose="020B0609020204030204" pitchFamily="49" charset="0"/>
              </a:rPr>
              <a:t>f(x + </a:t>
            </a:r>
            <a:r>
              <a:rPr lang="en-US" sz="2000" b="1" dirty="0">
                <a:solidFill>
                  <a:schemeClr val="accent3">
                    <a:lumMod val="75000"/>
                  </a:schemeClr>
                </a:solidFill>
                <a:latin typeface="Consolas" panose="020B0609020204030204" pitchFamily="49" charset="0"/>
                <a:cs typeface="Consolas" panose="020B0609020204030204" pitchFamily="49" charset="0"/>
              </a:rPr>
              <a:t>3</a:t>
            </a:r>
            <a:r>
              <a:rPr lang="en-US" sz="2000" b="1" dirty="0">
                <a:latin typeface="Consolas" panose="020B0609020204030204" pitchFamily="49" charset="0"/>
                <a:cs typeface="Consolas" panose="020B0609020204030204" pitchFamily="49" charset="0"/>
              </a:rPr>
              <a:t>);</a:t>
            </a:r>
          </a:p>
        </p:txBody>
      </p:sp>
      <p:sp>
        <p:nvSpPr>
          <p:cNvPr id="12" name="TextBox 11">
            <a:extLst>
              <a:ext uri="{FF2B5EF4-FFF2-40B4-BE49-F238E27FC236}">
                <a16:creationId xmlns:a16="http://schemas.microsoft.com/office/drawing/2014/main" id="{DFCE96EF-ED76-B943-BF9A-B8345C6AD9B3}"/>
              </a:ext>
            </a:extLst>
          </p:cNvPr>
          <p:cNvSpPr txBox="1"/>
          <p:nvPr/>
        </p:nvSpPr>
        <p:spPr>
          <a:xfrm>
            <a:off x="5029200" y="4280237"/>
            <a:ext cx="2159566" cy="1015663"/>
          </a:xfrm>
          <a:prstGeom prst="rect">
            <a:avLst/>
          </a:prstGeom>
          <a:noFill/>
        </p:spPr>
        <p:txBody>
          <a:bodyPr wrap="none" rtlCol="0">
            <a:spAutoFit/>
          </a:bodyPr>
          <a:lstStyle/>
          <a:p>
            <a:r>
              <a:rPr lang="en-US" sz="2000" b="1" dirty="0" err="1">
                <a:solidFill>
                  <a:srgbClr val="FF0000"/>
                </a:solidFill>
                <a:latin typeface="Consolas" panose="020B0609020204030204" pitchFamily="49" charset="0"/>
                <a:cs typeface="Consolas" panose="020B0609020204030204" pitchFamily="49" charset="0"/>
              </a:rPr>
              <a:t>lw</a:t>
            </a:r>
            <a:r>
              <a:rPr lang="en-US" sz="2000" b="1" dirty="0">
                <a:latin typeface="Consolas" panose="020B0609020204030204" pitchFamily="49" charset="0"/>
                <a:cs typeface="Consolas" panose="020B0609020204030204" pitchFamily="49" charset="0"/>
              </a:rPr>
              <a:t>   a0, x</a:t>
            </a:r>
          </a:p>
          <a:p>
            <a:r>
              <a:rPr lang="en-US" sz="2000" b="1" dirty="0">
                <a:solidFill>
                  <a:srgbClr val="FF0000"/>
                </a:solidFill>
                <a:latin typeface="Consolas" panose="020B0609020204030204" pitchFamily="49" charset="0"/>
                <a:cs typeface="Consolas" panose="020B0609020204030204" pitchFamily="49" charset="0"/>
              </a:rPr>
              <a:t>add</a:t>
            </a:r>
            <a:r>
              <a:rPr lang="en-US" sz="2000" b="1" dirty="0">
                <a:latin typeface="Consolas" panose="020B0609020204030204" pitchFamily="49" charset="0"/>
                <a:cs typeface="Consolas" panose="020B0609020204030204" pitchFamily="49" charset="0"/>
              </a:rPr>
              <a:t>  a0, a0, </a:t>
            </a:r>
            <a:r>
              <a:rPr lang="en-US" sz="2000" b="1" dirty="0">
                <a:solidFill>
                  <a:schemeClr val="accent3">
                    <a:lumMod val="75000"/>
                  </a:schemeClr>
                </a:solidFill>
                <a:latin typeface="Consolas" panose="020B0609020204030204" pitchFamily="49" charset="0"/>
                <a:cs typeface="Consolas" panose="020B0609020204030204" pitchFamily="49" charset="0"/>
              </a:rPr>
              <a:t>3</a:t>
            </a:r>
          </a:p>
          <a:p>
            <a:r>
              <a:rPr lang="en-US" sz="2000" b="1" dirty="0" err="1">
                <a:solidFill>
                  <a:srgbClr val="FF0000"/>
                </a:solidFill>
                <a:latin typeface="Consolas" panose="020B0609020204030204" pitchFamily="49" charset="0"/>
                <a:cs typeface="Consolas" panose="020B0609020204030204" pitchFamily="49" charset="0"/>
              </a:rPr>
              <a:t>jal</a:t>
            </a:r>
            <a:r>
              <a:rPr lang="en-US" sz="2000" b="1" dirty="0">
                <a:solidFill>
                  <a:srgbClr val="FF0000"/>
                </a:solidFill>
                <a:latin typeface="Consolas" panose="020B0609020204030204" pitchFamily="49" charset="0"/>
                <a:cs typeface="Consolas" panose="020B0609020204030204" pitchFamily="49" charset="0"/>
              </a:rPr>
              <a:t>  </a:t>
            </a:r>
            <a:r>
              <a:rPr lang="en-US" sz="2000" b="1" dirty="0">
                <a:latin typeface="Consolas" panose="020B0609020204030204" pitchFamily="49" charset="0"/>
                <a:cs typeface="Consolas" panose="020B0609020204030204" pitchFamily="49" charset="0"/>
              </a:rPr>
              <a:t>f</a:t>
            </a:r>
          </a:p>
        </p:txBody>
      </p:sp>
      <p:sp>
        <p:nvSpPr>
          <p:cNvPr id="13" name="Right Arrow 12">
            <a:extLst>
              <a:ext uri="{FF2B5EF4-FFF2-40B4-BE49-F238E27FC236}">
                <a16:creationId xmlns:a16="http://schemas.microsoft.com/office/drawing/2014/main" id="{541CE0DF-26F8-7F48-93CE-D512776FBAC9}"/>
              </a:ext>
            </a:extLst>
          </p:cNvPr>
          <p:cNvSpPr/>
          <p:nvPr/>
        </p:nvSpPr>
        <p:spPr>
          <a:xfrm>
            <a:off x="4422822" y="2675751"/>
            <a:ext cx="450756" cy="375783"/>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a:extLst>
              <a:ext uri="{FF2B5EF4-FFF2-40B4-BE49-F238E27FC236}">
                <a16:creationId xmlns:a16="http://schemas.microsoft.com/office/drawing/2014/main" id="{010A702C-9890-0E41-937A-96AC75E13833}"/>
              </a:ext>
            </a:extLst>
          </p:cNvPr>
          <p:cNvSpPr/>
          <p:nvPr/>
        </p:nvSpPr>
        <p:spPr>
          <a:xfrm>
            <a:off x="4422822" y="3487339"/>
            <a:ext cx="450756" cy="375783"/>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97CF6C5D-8980-2D45-AD62-768B67FBA4DC}"/>
              </a:ext>
            </a:extLst>
          </p:cNvPr>
          <p:cNvSpPr/>
          <p:nvPr/>
        </p:nvSpPr>
        <p:spPr>
          <a:xfrm>
            <a:off x="4422822" y="4600176"/>
            <a:ext cx="450756" cy="375783"/>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63737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P spid="12" grpId="0"/>
      <p:bldP spid="13" grpId="0" animBg="1"/>
      <p:bldP spid="14"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0F192-1330-8A4B-8A8D-2F0AB9846898}"/>
              </a:ext>
            </a:extLst>
          </p:cNvPr>
          <p:cNvSpPr>
            <a:spLocks noGrp="1"/>
          </p:cNvSpPr>
          <p:nvPr>
            <p:ph type="title"/>
          </p:nvPr>
        </p:nvSpPr>
        <p:spPr/>
        <p:txBody>
          <a:bodyPr/>
          <a:lstStyle/>
          <a:p>
            <a:r>
              <a:rPr lang="en-US" dirty="0"/>
              <a:t>Correctness</a:t>
            </a:r>
          </a:p>
        </p:txBody>
      </p:sp>
      <p:sp>
        <p:nvSpPr>
          <p:cNvPr id="3" name="Content Placeholder 2">
            <a:extLst>
              <a:ext uri="{FF2B5EF4-FFF2-40B4-BE49-F238E27FC236}">
                <a16:creationId xmlns:a16="http://schemas.microsoft.com/office/drawing/2014/main" id="{EFEBD358-87CB-304F-9ED9-D552065405B3}"/>
              </a:ext>
            </a:extLst>
          </p:cNvPr>
          <p:cNvSpPr>
            <a:spLocks noGrp="1"/>
          </p:cNvSpPr>
          <p:nvPr>
            <p:ph idx="1"/>
          </p:nvPr>
        </p:nvSpPr>
        <p:spPr/>
        <p:txBody>
          <a:bodyPr/>
          <a:lstStyle/>
          <a:p>
            <a:r>
              <a:rPr lang="en-US" dirty="0"/>
              <a:t>the goal of an HLL is to provide a </a:t>
            </a:r>
            <a:r>
              <a:rPr lang="en-US" b="1" dirty="0"/>
              <a:t>solid base</a:t>
            </a:r>
            <a:r>
              <a:rPr lang="en-US" dirty="0"/>
              <a:t> of abstractions on which you can build software </a:t>
            </a:r>
            <a:r>
              <a:rPr lang="en-US" i="1" dirty="0"/>
              <a:t>better than you could do in assembly.</a:t>
            </a:r>
          </a:p>
          <a:p>
            <a:r>
              <a:rPr lang="en-US" b="1" dirty="0"/>
              <a:t>above all,</a:t>
            </a:r>
            <a:r>
              <a:rPr lang="en-US" dirty="0"/>
              <a:t> a compiler's number one priority is to produce a </a:t>
            </a:r>
            <a:r>
              <a:rPr lang="en-US" b="1" dirty="0"/>
              <a:t>correct </a:t>
            </a:r>
            <a:r>
              <a:rPr lang="en-US" dirty="0"/>
              <a:t>translation of the source code.</a:t>
            </a:r>
          </a:p>
          <a:p>
            <a:pPr lvl="1"/>
            <a:r>
              <a:rPr lang="en-US" dirty="0"/>
              <a:t>if a compiler </a:t>
            </a:r>
            <a:r>
              <a:rPr lang="en-US" i="1" dirty="0"/>
              <a:t>mistranslates code,</a:t>
            </a:r>
            <a:r>
              <a:rPr lang="en-US" dirty="0"/>
              <a:t> you've lost all the supposed guarantees that the HLL provides.</a:t>
            </a:r>
          </a:p>
          <a:p>
            <a:r>
              <a:rPr lang="en-US" b="1" dirty="0"/>
              <a:t>bugs in compilers can be incredibly serious.</a:t>
            </a:r>
          </a:p>
          <a:p>
            <a:pPr lvl="1"/>
            <a:r>
              <a:rPr lang="en-US" dirty="0"/>
              <a:t>a compiler that fails to catch certain mistakes, or which produces incorrect code, can produce executables which leave </a:t>
            </a:r>
            <a:r>
              <a:rPr lang="en-US" i="1" dirty="0"/>
              <a:t>millions of computers </a:t>
            </a:r>
            <a:r>
              <a:rPr lang="en-US" dirty="0"/>
              <a:t>vulnerable to attacks, in the worst cases.</a:t>
            </a:r>
          </a:p>
          <a:p>
            <a:r>
              <a:rPr lang="en-US" dirty="0"/>
              <a:t>so, what does "correct" code look like?</a:t>
            </a:r>
          </a:p>
        </p:txBody>
      </p:sp>
      <p:sp>
        <p:nvSpPr>
          <p:cNvPr id="4" name="Slide Number Placeholder 3">
            <a:extLst>
              <a:ext uri="{FF2B5EF4-FFF2-40B4-BE49-F238E27FC236}">
                <a16:creationId xmlns:a16="http://schemas.microsoft.com/office/drawing/2014/main" id="{9B7FCF0E-F9CE-CB47-A481-12E1BB479EFE}"/>
              </a:ext>
            </a:extLst>
          </p:cNvPr>
          <p:cNvSpPr>
            <a:spLocks noGrp="1"/>
          </p:cNvSpPr>
          <p:nvPr>
            <p:ph type="sldNum" sz="quarter" idx="12"/>
          </p:nvPr>
        </p:nvSpPr>
        <p:spPr/>
        <p:txBody>
          <a:bodyPr/>
          <a:lstStyle/>
          <a:p>
            <a:fld id="{3552B95B-556F-44BD-91A5-D80C1B9E2BB3}" type="slidenum">
              <a:rPr lang="en-US" smtClean="0"/>
              <a:pPr/>
              <a:t>6</a:t>
            </a:fld>
            <a:endParaRPr lang="en-US"/>
          </a:p>
        </p:txBody>
      </p:sp>
    </p:spTree>
    <p:extLst>
      <p:ext uri="{BB962C8B-B14F-4D97-AF65-F5344CB8AC3E}">
        <p14:creationId xmlns:p14="http://schemas.microsoft.com/office/powerpoint/2010/main" val="71330976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CEA29-0820-CD45-BF67-5B7B3F4D2F23}"/>
              </a:ext>
            </a:extLst>
          </p:cNvPr>
          <p:cNvSpPr>
            <a:spLocks noGrp="1"/>
          </p:cNvSpPr>
          <p:nvPr>
            <p:ph type="title"/>
          </p:nvPr>
        </p:nvSpPr>
        <p:spPr/>
        <p:txBody>
          <a:bodyPr/>
          <a:lstStyle/>
          <a:p>
            <a:r>
              <a:rPr lang="en-US" dirty="0"/>
              <a:t>It doesn't have to look pretty</a:t>
            </a:r>
          </a:p>
        </p:txBody>
      </p:sp>
      <p:sp>
        <p:nvSpPr>
          <p:cNvPr id="3" name="Content Placeholder 2">
            <a:extLst>
              <a:ext uri="{FF2B5EF4-FFF2-40B4-BE49-F238E27FC236}">
                <a16:creationId xmlns:a16="http://schemas.microsoft.com/office/drawing/2014/main" id="{8E2E9E48-D9CD-4F4E-AB5C-646ABF2FD0A1}"/>
              </a:ext>
            </a:extLst>
          </p:cNvPr>
          <p:cNvSpPr>
            <a:spLocks noGrp="1"/>
          </p:cNvSpPr>
          <p:nvPr>
            <p:ph idx="1"/>
          </p:nvPr>
        </p:nvSpPr>
        <p:spPr>
          <a:xfrm>
            <a:off x="152400" y="495301"/>
            <a:ext cx="8991600" cy="495301"/>
          </a:xfrm>
        </p:spPr>
        <p:txBody>
          <a:bodyPr/>
          <a:lstStyle/>
          <a:p>
            <a:r>
              <a:rPr lang="en-US" dirty="0"/>
              <a:t>think back to 447. I want to do </a:t>
            </a:r>
            <a:r>
              <a:rPr lang="en-US" b="1" dirty="0"/>
              <a:t>x++ </a:t>
            </a:r>
            <a:r>
              <a:rPr lang="en-US" dirty="0"/>
              <a:t>for some global variable </a:t>
            </a:r>
            <a:r>
              <a:rPr lang="en-US" b="1" dirty="0"/>
              <a:t>x</a:t>
            </a:r>
            <a:r>
              <a:rPr lang="en-US" dirty="0"/>
              <a:t>.</a:t>
            </a:r>
          </a:p>
        </p:txBody>
      </p:sp>
      <p:sp>
        <p:nvSpPr>
          <p:cNvPr id="4" name="Slide Number Placeholder 3">
            <a:extLst>
              <a:ext uri="{FF2B5EF4-FFF2-40B4-BE49-F238E27FC236}">
                <a16:creationId xmlns:a16="http://schemas.microsoft.com/office/drawing/2014/main" id="{A03F7653-AEBC-1747-A392-8AF2C0973D4E}"/>
              </a:ext>
            </a:extLst>
          </p:cNvPr>
          <p:cNvSpPr>
            <a:spLocks noGrp="1"/>
          </p:cNvSpPr>
          <p:nvPr>
            <p:ph type="sldNum" sz="quarter" idx="12"/>
          </p:nvPr>
        </p:nvSpPr>
        <p:spPr/>
        <p:txBody>
          <a:bodyPr/>
          <a:lstStyle/>
          <a:p>
            <a:fld id="{3552B95B-556F-44BD-91A5-D80C1B9E2BB3}" type="slidenum">
              <a:rPr lang="en-US" smtClean="0"/>
              <a:pPr/>
              <a:t>7</a:t>
            </a:fld>
            <a:endParaRPr lang="en-US"/>
          </a:p>
        </p:txBody>
      </p:sp>
      <p:sp>
        <p:nvSpPr>
          <p:cNvPr id="5" name="TextBox 4">
            <a:extLst>
              <a:ext uri="{FF2B5EF4-FFF2-40B4-BE49-F238E27FC236}">
                <a16:creationId xmlns:a16="http://schemas.microsoft.com/office/drawing/2014/main" id="{8083BB13-817B-BF4F-980E-C0AF61E21625}"/>
              </a:ext>
            </a:extLst>
          </p:cNvPr>
          <p:cNvSpPr txBox="1"/>
          <p:nvPr/>
        </p:nvSpPr>
        <p:spPr>
          <a:xfrm>
            <a:off x="0" y="997208"/>
            <a:ext cx="2464136" cy="1200329"/>
          </a:xfrm>
          <a:prstGeom prst="rect">
            <a:avLst/>
          </a:prstGeom>
          <a:noFill/>
        </p:spPr>
        <p:txBody>
          <a:bodyPr wrap="none" rtlCol="0">
            <a:spAutoFit/>
          </a:bodyPr>
          <a:lstStyle/>
          <a:p>
            <a:r>
              <a:rPr lang="en-US" sz="1800" i="1" dirty="0">
                <a:solidFill>
                  <a:schemeClr val="accent3">
                    <a:lumMod val="50000"/>
                  </a:schemeClr>
                </a:solidFill>
                <a:latin typeface="Consolas" panose="020B0609020204030204" pitchFamily="49" charset="0"/>
                <a:cs typeface="Consolas" panose="020B0609020204030204" pitchFamily="49" charset="0"/>
              </a:rPr>
              <a:t>    # x++</a:t>
            </a:r>
          </a:p>
          <a:p>
            <a:r>
              <a:rPr lang="en-US" sz="1800" b="1" dirty="0">
                <a:latin typeface="Consolas" panose="020B0609020204030204" pitchFamily="49" charset="0"/>
                <a:cs typeface="Consolas" panose="020B0609020204030204" pitchFamily="49" charset="0"/>
              </a:rPr>
              <a:t>    </a:t>
            </a:r>
            <a:r>
              <a:rPr lang="en-US" sz="1800" b="1" dirty="0" err="1">
                <a:solidFill>
                  <a:srgbClr val="FF0000"/>
                </a:solidFill>
                <a:latin typeface="Consolas" panose="020B0609020204030204" pitchFamily="49" charset="0"/>
                <a:cs typeface="Consolas" panose="020B0609020204030204" pitchFamily="49" charset="0"/>
              </a:rPr>
              <a:t>lw</a:t>
            </a:r>
            <a:r>
              <a:rPr lang="en-US" sz="1800" b="1" dirty="0">
                <a:latin typeface="Consolas" panose="020B0609020204030204" pitchFamily="49" charset="0"/>
                <a:cs typeface="Consolas" panose="020B0609020204030204" pitchFamily="49" charset="0"/>
              </a:rPr>
              <a:t>   t0, x</a:t>
            </a:r>
          </a:p>
          <a:p>
            <a:r>
              <a:rPr lang="en-US" sz="1800" b="1" dirty="0">
                <a:latin typeface="Consolas" panose="020B0609020204030204" pitchFamily="49" charset="0"/>
                <a:cs typeface="Consolas" panose="020B0609020204030204" pitchFamily="49" charset="0"/>
              </a:rPr>
              <a:t>    </a:t>
            </a:r>
            <a:r>
              <a:rPr lang="en-US" sz="1800" b="1" dirty="0" err="1">
                <a:solidFill>
                  <a:srgbClr val="FF0000"/>
                </a:solidFill>
                <a:latin typeface="Consolas" panose="020B0609020204030204" pitchFamily="49" charset="0"/>
                <a:cs typeface="Consolas" panose="020B0609020204030204" pitchFamily="49" charset="0"/>
              </a:rPr>
              <a:t>addi</a:t>
            </a:r>
            <a:r>
              <a:rPr lang="en-US" sz="1800" b="1" dirty="0">
                <a:latin typeface="Consolas" panose="020B0609020204030204" pitchFamily="49" charset="0"/>
                <a:cs typeface="Consolas" panose="020B0609020204030204" pitchFamily="49" charset="0"/>
              </a:rPr>
              <a:t> t0, t0, </a:t>
            </a:r>
            <a:r>
              <a:rPr lang="en-US" sz="1800" b="1" dirty="0">
                <a:solidFill>
                  <a:schemeClr val="accent3">
                    <a:lumMod val="75000"/>
                  </a:schemeClr>
                </a:solidFill>
                <a:latin typeface="Consolas" panose="020B0609020204030204" pitchFamily="49" charset="0"/>
                <a:cs typeface="Consolas" panose="020B0609020204030204" pitchFamily="49" charset="0"/>
              </a:rPr>
              <a:t>1</a:t>
            </a:r>
          </a:p>
          <a:p>
            <a:r>
              <a:rPr lang="en-US" sz="1800" b="1" dirty="0">
                <a:latin typeface="Consolas" panose="020B0609020204030204" pitchFamily="49" charset="0"/>
                <a:cs typeface="Consolas" panose="020B0609020204030204" pitchFamily="49" charset="0"/>
              </a:rPr>
              <a:t>    </a:t>
            </a:r>
            <a:r>
              <a:rPr lang="en-US" sz="1800" b="1" dirty="0" err="1">
                <a:solidFill>
                  <a:srgbClr val="FF0000"/>
                </a:solidFill>
                <a:latin typeface="Consolas" panose="020B0609020204030204" pitchFamily="49" charset="0"/>
                <a:cs typeface="Consolas" panose="020B0609020204030204" pitchFamily="49" charset="0"/>
              </a:rPr>
              <a:t>sw</a:t>
            </a:r>
            <a:r>
              <a:rPr lang="en-US" sz="1800" b="1" dirty="0">
                <a:latin typeface="Consolas" panose="020B0609020204030204" pitchFamily="49" charset="0"/>
                <a:cs typeface="Consolas" panose="020B0609020204030204" pitchFamily="49" charset="0"/>
              </a:rPr>
              <a:t>   t0, x</a:t>
            </a:r>
          </a:p>
        </p:txBody>
      </p:sp>
      <p:sp>
        <p:nvSpPr>
          <p:cNvPr id="6" name="TextBox 5">
            <a:extLst>
              <a:ext uri="{FF2B5EF4-FFF2-40B4-BE49-F238E27FC236}">
                <a16:creationId xmlns:a16="http://schemas.microsoft.com/office/drawing/2014/main" id="{5F8E1FDF-8BA0-A04F-894C-54CBC451D2C3}"/>
              </a:ext>
            </a:extLst>
          </p:cNvPr>
          <p:cNvSpPr txBox="1"/>
          <p:nvPr/>
        </p:nvSpPr>
        <p:spPr>
          <a:xfrm>
            <a:off x="3276613" y="997208"/>
            <a:ext cx="2590774" cy="2862322"/>
          </a:xfrm>
          <a:prstGeom prst="rect">
            <a:avLst/>
          </a:prstGeom>
          <a:noFill/>
        </p:spPr>
        <p:txBody>
          <a:bodyPr wrap="none" rtlCol="0">
            <a:spAutoFit/>
          </a:bodyPr>
          <a:lstStyle/>
          <a:p>
            <a:r>
              <a:rPr lang="en-US" sz="1800" b="1" dirty="0" err="1">
                <a:latin typeface="Consolas" panose="020B0609020204030204" pitchFamily="49" charset="0"/>
                <a:cs typeface="Consolas" panose="020B0609020204030204" pitchFamily="49" charset="0"/>
              </a:rPr>
              <a:t>add_ints</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add</a:t>
            </a:r>
            <a:r>
              <a:rPr lang="en-US" sz="1800" b="1" dirty="0">
                <a:latin typeface="Consolas" panose="020B0609020204030204" pitchFamily="49" charset="0"/>
                <a:cs typeface="Consolas" panose="020B0609020204030204" pitchFamily="49" charset="0"/>
              </a:rPr>
              <a:t>  v0, a0, a1</a:t>
            </a:r>
          </a:p>
          <a:p>
            <a:r>
              <a:rPr lang="en-US" sz="1800" b="1" dirty="0">
                <a:latin typeface="Consolas" panose="020B0609020204030204" pitchFamily="49" charset="0"/>
                <a:cs typeface="Consolas" panose="020B0609020204030204" pitchFamily="49" charset="0"/>
              </a:rPr>
              <a:t>    </a:t>
            </a:r>
            <a:r>
              <a:rPr lang="en-US" sz="1800" b="1" dirty="0" err="1">
                <a:solidFill>
                  <a:srgbClr val="FF0000"/>
                </a:solidFill>
                <a:latin typeface="Consolas" panose="020B0609020204030204" pitchFamily="49" charset="0"/>
                <a:cs typeface="Consolas" panose="020B0609020204030204" pitchFamily="49" charset="0"/>
              </a:rPr>
              <a:t>jr</a:t>
            </a:r>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ra</a:t>
            </a:r>
            <a:endParaRPr lang="en-US" sz="1800" b="1" dirty="0">
              <a:latin typeface="Consolas" panose="020B0609020204030204" pitchFamily="49" charset="0"/>
              <a:cs typeface="Consolas" panose="020B0609020204030204" pitchFamily="49" charset="0"/>
            </a:endParaRPr>
          </a:p>
          <a:p>
            <a:endParaRPr lang="en-US" sz="1800" b="1" dirty="0">
              <a:latin typeface="Consolas" panose="020B0609020204030204" pitchFamily="49" charset="0"/>
              <a:cs typeface="Consolas" panose="020B0609020204030204" pitchFamily="49" charset="0"/>
            </a:endParaRPr>
          </a:p>
          <a:p>
            <a:r>
              <a:rPr lang="en-US" sz="1800" b="1" dirty="0">
                <a:latin typeface="Consolas" panose="020B0609020204030204" pitchFamily="49" charset="0"/>
                <a:cs typeface="Consolas" panose="020B0609020204030204" pitchFamily="49" charset="0"/>
              </a:rPr>
              <a:t>main:</a:t>
            </a:r>
          </a:p>
          <a:p>
            <a:r>
              <a:rPr lang="en-US" sz="1800" i="1" dirty="0">
                <a:solidFill>
                  <a:schemeClr val="accent3">
                    <a:lumMod val="50000"/>
                  </a:schemeClr>
                </a:solidFill>
                <a:latin typeface="Consolas" panose="020B0609020204030204" pitchFamily="49" charset="0"/>
                <a:cs typeface="Consolas" panose="020B0609020204030204" pitchFamily="49" charset="0"/>
              </a:rPr>
              <a:t>    # x++</a:t>
            </a:r>
          </a:p>
          <a:p>
            <a:r>
              <a:rPr lang="en-US" sz="1800" b="1" dirty="0">
                <a:latin typeface="Consolas" panose="020B0609020204030204" pitchFamily="49" charset="0"/>
                <a:cs typeface="Consolas" panose="020B0609020204030204" pitchFamily="49" charset="0"/>
              </a:rPr>
              <a:t>    </a:t>
            </a:r>
            <a:r>
              <a:rPr lang="en-US" sz="1800" b="1" dirty="0" err="1">
                <a:solidFill>
                  <a:srgbClr val="FF0000"/>
                </a:solidFill>
                <a:latin typeface="Consolas" panose="020B0609020204030204" pitchFamily="49" charset="0"/>
                <a:cs typeface="Consolas" panose="020B0609020204030204" pitchFamily="49" charset="0"/>
              </a:rPr>
              <a:t>lw</a:t>
            </a:r>
            <a:r>
              <a:rPr lang="en-US" sz="1800" b="1" dirty="0">
                <a:latin typeface="Consolas" panose="020B0609020204030204" pitchFamily="49" charset="0"/>
                <a:cs typeface="Consolas" panose="020B0609020204030204" pitchFamily="49" charset="0"/>
              </a:rPr>
              <a:t>   a0, x</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li</a:t>
            </a:r>
            <a:r>
              <a:rPr lang="en-US" sz="1800" b="1" dirty="0">
                <a:latin typeface="Consolas" panose="020B0609020204030204" pitchFamily="49" charset="0"/>
                <a:cs typeface="Consolas" panose="020B0609020204030204" pitchFamily="49" charset="0"/>
              </a:rPr>
              <a:t>   a1, </a:t>
            </a:r>
            <a:r>
              <a:rPr lang="en-US" sz="1800" b="1" dirty="0">
                <a:solidFill>
                  <a:schemeClr val="accent3">
                    <a:lumMod val="75000"/>
                  </a:schemeClr>
                </a:solidFill>
                <a:latin typeface="Consolas" panose="020B0609020204030204" pitchFamily="49" charset="0"/>
                <a:cs typeface="Consolas" panose="020B0609020204030204" pitchFamily="49" charset="0"/>
              </a:rPr>
              <a:t>1</a:t>
            </a:r>
          </a:p>
          <a:p>
            <a:r>
              <a:rPr lang="en-US" sz="1800" b="1" dirty="0">
                <a:latin typeface="Consolas" panose="020B0609020204030204" pitchFamily="49" charset="0"/>
                <a:cs typeface="Consolas" panose="020B0609020204030204" pitchFamily="49" charset="0"/>
              </a:rPr>
              <a:t>    </a:t>
            </a:r>
            <a:r>
              <a:rPr lang="en-US" sz="1800" b="1" dirty="0" err="1">
                <a:solidFill>
                  <a:srgbClr val="FF0000"/>
                </a:solidFill>
                <a:latin typeface="Consolas" panose="020B0609020204030204" pitchFamily="49" charset="0"/>
                <a:cs typeface="Consolas" panose="020B0609020204030204" pitchFamily="49" charset="0"/>
              </a:rPr>
              <a:t>jal</a:t>
            </a:r>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add_ints</a:t>
            </a:r>
            <a:endParaRPr lang="en-US" sz="1800" b="1" dirty="0">
              <a:latin typeface="Consolas" panose="020B0609020204030204" pitchFamily="49" charset="0"/>
              <a:cs typeface="Consolas" panose="020B0609020204030204" pitchFamily="49" charset="0"/>
            </a:endParaRPr>
          </a:p>
          <a:p>
            <a:r>
              <a:rPr lang="en-US" sz="1800" b="1" dirty="0">
                <a:latin typeface="Consolas" panose="020B0609020204030204" pitchFamily="49" charset="0"/>
                <a:cs typeface="Consolas" panose="020B0609020204030204" pitchFamily="49" charset="0"/>
              </a:rPr>
              <a:t>    </a:t>
            </a:r>
            <a:r>
              <a:rPr lang="en-US" sz="1800" b="1" dirty="0" err="1">
                <a:solidFill>
                  <a:srgbClr val="FF0000"/>
                </a:solidFill>
                <a:latin typeface="Consolas" panose="020B0609020204030204" pitchFamily="49" charset="0"/>
                <a:cs typeface="Consolas" panose="020B0609020204030204" pitchFamily="49" charset="0"/>
              </a:rPr>
              <a:t>sw</a:t>
            </a:r>
            <a:r>
              <a:rPr lang="en-US" sz="1800" b="1" dirty="0">
                <a:latin typeface="Consolas" panose="020B0609020204030204" pitchFamily="49" charset="0"/>
                <a:cs typeface="Consolas" panose="020B0609020204030204" pitchFamily="49" charset="0"/>
              </a:rPr>
              <a:t>   v0, x</a:t>
            </a:r>
          </a:p>
        </p:txBody>
      </p:sp>
      <p:sp>
        <p:nvSpPr>
          <p:cNvPr id="7" name="TextBox 6">
            <a:extLst>
              <a:ext uri="{FF2B5EF4-FFF2-40B4-BE49-F238E27FC236}">
                <a16:creationId xmlns:a16="http://schemas.microsoft.com/office/drawing/2014/main" id="{3A4CC59C-D89B-4F48-AEE0-A475A79D3ECF}"/>
              </a:ext>
            </a:extLst>
          </p:cNvPr>
          <p:cNvSpPr txBox="1"/>
          <p:nvPr/>
        </p:nvSpPr>
        <p:spPr>
          <a:xfrm>
            <a:off x="6384818" y="816233"/>
            <a:ext cx="2768707" cy="4832092"/>
          </a:xfrm>
          <a:prstGeom prst="rect">
            <a:avLst/>
          </a:prstGeom>
          <a:noFill/>
        </p:spPr>
        <p:txBody>
          <a:bodyPr wrap="none" rtlCol="0">
            <a:spAutoFit/>
          </a:bodyPr>
          <a:lstStyle/>
          <a:p>
            <a:r>
              <a:rPr lang="en-US" sz="1400" i="1" dirty="0">
                <a:solidFill>
                  <a:schemeClr val="accent3">
                    <a:lumMod val="50000"/>
                  </a:schemeClr>
                </a:solidFill>
                <a:latin typeface="Consolas" panose="020B0609020204030204" pitchFamily="49" charset="0"/>
                <a:cs typeface="Consolas" panose="020B0609020204030204" pitchFamily="49" charset="0"/>
              </a:rPr>
              <a:t>    # push 1</a:t>
            </a:r>
          </a:p>
          <a:p>
            <a:r>
              <a:rPr lang="en-US" sz="1400" b="1" dirty="0">
                <a:latin typeface="Consolas" panose="020B0609020204030204" pitchFamily="49" charset="0"/>
                <a:cs typeface="Consolas" panose="020B0609020204030204" pitchFamily="49" charset="0"/>
              </a:rPr>
              <a:t>    </a:t>
            </a:r>
            <a:r>
              <a:rPr lang="en-US" sz="1400" b="1" dirty="0">
                <a:solidFill>
                  <a:srgbClr val="FF0000"/>
                </a:solidFill>
                <a:latin typeface="Consolas" panose="020B0609020204030204" pitchFamily="49" charset="0"/>
                <a:cs typeface="Consolas" panose="020B0609020204030204" pitchFamily="49" charset="0"/>
              </a:rPr>
              <a:t>li</a:t>
            </a:r>
            <a:r>
              <a:rPr lang="en-US" sz="1400" b="1" dirty="0">
                <a:latin typeface="Consolas" panose="020B0609020204030204" pitchFamily="49" charset="0"/>
                <a:cs typeface="Consolas" panose="020B0609020204030204" pitchFamily="49" charset="0"/>
              </a:rPr>
              <a:t>   t0, </a:t>
            </a:r>
            <a:r>
              <a:rPr lang="en-US" sz="1400" b="1" dirty="0">
                <a:solidFill>
                  <a:schemeClr val="accent3">
                    <a:lumMod val="75000"/>
                  </a:schemeClr>
                </a:solidFill>
                <a:latin typeface="Consolas" panose="020B0609020204030204" pitchFamily="49" charset="0"/>
                <a:cs typeface="Consolas" panose="020B0609020204030204" pitchFamily="49" charset="0"/>
              </a:rPr>
              <a:t>1</a:t>
            </a:r>
          </a:p>
          <a:p>
            <a:r>
              <a:rPr lang="en-US" sz="1400" b="1" dirty="0">
                <a:latin typeface="Consolas" panose="020B0609020204030204" pitchFamily="49" charset="0"/>
                <a:cs typeface="Consolas" panose="020B0609020204030204" pitchFamily="49" charset="0"/>
              </a:rPr>
              <a:t>    </a:t>
            </a:r>
            <a:r>
              <a:rPr lang="en-US" sz="1400" b="1" dirty="0" err="1">
                <a:solidFill>
                  <a:srgbClr val="FF0000"/>
                </a:solidFill>
                <a:latin typeface="Consolas" panose="020B0609020204030204" pitchFamily="49" charset="0"/>
                <a:cs typeface="Consolas" panose="020B0609020204030204" pitchFamily="49" charset="0"/>
              </a:rPr>
              <a:t>addi</a:t>
            </a:r>
            <a:r>
              <a:rPr lang="en-US" sz="1400" b="1" dirty="0">
                <a:latin typeface="Consolas" panose="020B0609020204030204" pitchFamily="49" charset="0"/>
                <a:cs typeface="Consolas" panose="020B0609020204030204" pitchFamily="49" charset="0"/>
              </a:rPr>
              <a:t> </a:t>
            </a:r>
            <a:r>
              <a:rPr lang="en-US" sz="1400" b="1" dirty="0" err="1">
                <a:latin typeface="Consolas" panose="020B0609020204030204" pitchFamily="49" charset="0"/>
                <a:cs typeface="Consolas" panose="020B0609020204030204" pitchFamily="49" charset="0"/>
              </a:rPr>
              <a:t>sp</a:t>
            </a:r>
            <a:r>
              <a:rPr lang="en-US" sz="1400" b="1" dirty="0">
                <a:latin typeface="Consolas" panose="020B0609020204030204" pitchFamily="49" charset="0"/>
                <a:cs typeface="Consolas" panose="020B0609020204030204" pitchFamily="49" charset="0"/>
              </a:rPr>
              <a:t>, </a:t>
            </a:r>
            <a:r>
              <a:rPr lang="en-US" sz="1400" b="1" dirty="0" err="1">
                <a:latin typeface="Consolas" panose="020B0609020204030204" pitchFamily="49" charset="0"/>
                <a:cs typeface="Consolas" panose="020B0609020204030204" pitchFamily="49" charset="0"/>
              </a:rPr>
              <a:t>sp</a:t>
            </a:r>
            <a:r>
              <a:rPr lang="en-US" sz="1400" b="1" dirty="0">
                <a:latin typeface="Consolas" panose="020B0609020204030204" pitchFamily="49" charset="0"/>
                <a:cs typeface="Consolas" panose="020B0609020204030204" pitchFamily="49" charset="0"/>
              </a:rPr>
              <a:t>, -</a:t>
            </a:r>
            <a:r>
              <a:rPr lang="en-US" sz="1400" b="1" dirty="0">
                <a:solidFill>
                  <a:schemeClr val="accent3">
                    <a:lumMod val="75000"/>
                  </a:schemeClr>
                </a:solidFill>
                <a:latin typeface="Consolas" panose="020B0609020204030204" pitchFamily="49" charset="0"/>
                <a:cs typeface="Consolas" panose="020B0609020204030204" pitchFamily="49" charset="0"/>
              </a:rPr>
              <a:t>4</a:t>
            </a:r>
          </a:p>
          <a:p>
            <a:r>
              <a:rPr lang="en-US" sz="1400" b="1" dirty="0">
                <a:latin typeface="Consolas" panose="020B0609020204030204" pitchFamily="49" charset="0"/>
                <a:cs typeface="Consolas" panose="020B0609020204030204" pitchFamily="49" charset="0"/>
              </a:rPr>
              <a:t>    </a:t>
            </a:r>
            <a:r>
              <a:rPr lang="en-US" sz="1400" b="1" dirty="0" err="1">
                <a:solidFill>
                  <a:srgbClr val="FF0000"/>
                </a:solidFill>
                <a:latin typeface="Consolas" panose="020B0609020204030204" pitchFamily="49" charset="0"/>
                <a:cs typeface="Consolas" panose="020B0609020204030204" pitchFamily="49" charset="0"/>
              </a:rPr>
              <a:t>sw</a:t>
            </a:r>
            <a:r>
              <a:rPr lang="en-US" sz="1400" b="1" dirty="0">
                <a:latin typeface="Consolas" panose="020B0609020204030204" pitchFamily="49" charset="0"/>
                <a:cs typeface="Consolas" panose="020B0609020204030204" pitchFamily="49" charset="0"/>
              </a:rPr>
              <a:t>   t0, </a:t>
            </a:r>
            <a:r>
              <a:rPr lang="en-US" sz="1400" b="1" dirty="0">
                <a:solidFill>
                  <a:schemeClr val="accent3">
                    <a:lumMod val="75000"/>
                  </a:schemeClr>
                </a:solidFill>
                <a:latin typeface="Consolas" panose="020B0609020204030204" pitchFamily="49" charset="0"/>
                <a:cs typeface="Consolas" panose="020B0609020204030204" pitchFamily="49" charset="0"/>
              </a:rPr>
              <a:t>0</a:t>
            </a:r>
            <a:r>
              <a:rPr lang="en-US" sz="1400" b="1" dirty="0">
                <a:latin typeface="Consolas" panose="020B0609020204030204" pitchFamily="49" charset="0"/>
                <a:cs typeface="Consolas" panose="020B0609020204030204" pitchFamily="49" charset="0"/>
              </a:rPr>
              <a:t>(</a:t>
            </a:r>
            <a:r>
              <a:rPr lang="en-US" sz="1400" b="1" dirty="0" err="1">
                <a:latin typeface="Consolas" panose="020B0609020204030204" pitchFamily="49" charset="0"/>
                <a:cs typeface="Consolas" panose="020B0609020204030204" pitchFamily="49" charset="0"/>
              </a:rPr>
              <a:t>sp</a:t>
            </a:r>
            <a:r>
              <a:rPr lang="en-US" sz="1400" b="1" dirty="0">
                <a:latin typeface="Consolas" panose="020B0609020204030204" pitchFamily="49" charset="0"/>
                <a:cs typeface="Consolas" panose="020B0609020204030204" pitchFamily="49" charset="0"/>
              </a:rPr>
              <a:t>)</a:t>
            </a:r>
          </a:p>
          <a:p>
            <a:r>
              <a:rPr lang="en-US" sz="1400" b="1" dirty="0">
                <a:latin typeface="Consolas" panose="020B0609020204030204" pitchFamily="49" charset="0"/>
                <a:cs typeface="Consolas" panose="020B0609020204030204" pitchFamily="49" charset="0"/>
              </a:rPr>
              <a:t>    </a:t>
            </a:r>
          </a:p>
          <a:p>
            <a:r>
              <a:rPr lang="en-US" sz="1400" i="1" dirty="0">
                <a:solidFill>
                  <a:schemeClr val="accent3">
                    <a:lumMod val="50000"/>
                  </a:schemeClr>
                </a:solidFill>
                <a:latin typeface="Consolas" panose="020B0609020204030204" pitchFamily="49" charset="0"/>
                <a:cs typeface="Consolas" panose="020B0609020204030204" pitchFamily="49" charset="0"/>
              </a:rPr>
              <a:t>    # push x</a:t>
            </a:r>
          </a:p>
          <a:p>
            <a:r>
              <a:rPr lang="en-US" sz="1400" b="1" dirty="0">
                <a:latin typeface="Consolas" panose="020B0609020204030204" pitchFamily="49" charset="0"/>
                <a:cs typeface="Consolas" panose="020B0609020204030204" pitchFamily="49" charset="0"/>
              </a:rPr>
              <a:t>    </a:t>
            </a:r>
            <a:r>
              <a:rPr lang="en-US" sz="1400" b="1" dirty="0" err="1">
                <a:solidFill>
                  <a:srgbClr val="FF0000"/>
                </a:solidFill>
                <a:latin typeface="Consolas" panose="020B0609020204030204" pitchFamily="49" charset="0"/>
                <a:cs typeface="Consolas" panose="020B0609020204030204" pitchFamily="49" charset="0"/>
              </a:rPr>
              <a:t>lw</a:t>
            </a:r>
            <a:r>
              <a:rPr lang="en-US" sz="1400" b="1" dirty="0">
                <a:latin typeface="Consolas" panose="020B0609020204030204" pitchFamily="49" charset="0"/>
                <a:cs typeface="Consolas" panose="020B0609020204030204" pitchFamily="49" charset="0"/>
              </a:rPr>
              <a:t>   t0, x</a:t>
            </a:r>
          </a:p>
          <a:p>
            <a:r>
              <a:rPr lang="en-US" sz="1400" b="1" dirty="0">
                <a:latin typeface="Consolas" panose="020B0609020204030204" pitchFamily="49" charset="0"/>
                <a:cs typeface="Consolas" panose="020B0609020204030204" pitchFamily="49" charset="0"/>
              </a:rPr>
              <a:t>    </a:t>
            </a:r>
            <a:r>
              <a:rPr lang="en-US" sz="1400" b="1" dirty="0" err="1">
                <a:solidFill>
                  <a:srgbClr val="FF0000"/>
                </a:solidFill>
                <a:latin typeface="Consolas" panose="020B0609020204030204" pitchFamily="49" charset="0"/>
                <a:cs typeface="Consolas" panose="020B0609020204030204" pitchFamily="49" charset="0"/>
              </a:rPr>
              <a:t>addi</a:t>
            </a:r>
            <a:r>
              <a:rPr lang="en-US" sz="1400" b="1" dirty="0">
                <a:latin typeface="Consolas" panose="020B0609020204030204" pitchFamily="49" charset="0"/>
                <a:cs typeface="Consolas" panose="020B0609020204030204" pitchFamily="49" charset="0"/>
              </a:rPr>
              <a:t> </a:t>
            </a:r>
            <a:r>
              <a:rPr lang="en-US" sz="1400" b="1" dirty="0" err="1">
                <a:latin typeface="Consolas" panose="020B0609020204030204" pitchFamily="49" charset="0"/>
                <a:cs typeface="Consolas" panose="020B0609020204030204" pitchFamily="49" charset="0"/>
              </a:rPr>
              <a:t>sp</a:t>
            </a:r>
            <a:r>
              <a:rPr lang="en-US" sz="1400" b="1" dirty="0">
                <a:latin typeface="Consolas" panose="020B0609020204030204" pitchFamily="49" charset="0"/>
                <a:cs typeface="Consolas" panose="020B0609020204030204" pitchFamily="49" charset="0"/>
              </a:rPr>
              <a:t>, </a:t>
            </a:r>
            <a:r>
              <a:rPr lang="en-US" sz="1400" b="1" dirty="0" err="1">
                <a:latin typeface="Consolas" panose="020B0609020204030204" pitchFamily="49" charset="0"/>
                <a:cs typeface="Consolas" panose="020B0609020204030204" pitchFamily="49" charset="0"/>
              </a:rPr>
              <a:t>sp</a:t>
            </a:r>
            <a:r>
              <a:rPr lang="en-US" sz="1400" b="1" dirty="0">
                <a:latin typeface="Consolas" panose="020B0609020204030204" pitchFamily="49" charset="0"/>
                <a:cs typeface="Consolas" panose="020B0609020204030204" pitchFamily="49" charset="0"/>
              </a:rPr>
              <a:t>, -</a:t>
            </a:r>
            <a:r>
              <a:rPr lang="en-US" sz="1400" b="1" dirty="0">
                <a:solidFill>
                  <a:schemeClr val="accent3">
                    <a:lumMod val="75000"/>
                  </a:schemeClr>
                </a:solidFill>
                <a:latin typeface="Consolas" panose="020B0609020204030204" pitchFamily="49" charset="0"/>
                <a:cs typeface="Consolas" panose="020B0609020204030204" pitchFamily="49" charset="0"/>
              </a:rPr>
              <a:t>4</a:t>
            </a:r>
          </a:p>
          <a:p>
            <a:r>
              <a:rPr lang="en-US" sz="1400" b="1" dirty="0">
                <a:latin typeface="Consolas" panose="020B0609020204030204" pitchFamily="49" charset="0"/>
                <a:cs typeface="Consolas" panose="020B0609020204030204" pitchFamily="49" charset="0"/>
              </a:rPr>
              <a:t>    </a:t>
            </a:r>
            <a:r>
              <a:rPr lang="en-US" sz="1400" b="1" dirty="0" err="1">
                <a:solidFill>
                  <a:srgbClr val="FF0000"/>
                </a:solidFill>
                <a:latin typeface="Consolas" panose="020B0609020204030204" pitchFamily="49" charset="0"/>
                <a:cs typeface="Consolas" panose="020B0609020204030204" pitchFamily="49" charset="0"/>
              </a:rPr>
              <a:t>sw</a:t>
            </a:r>
            <a:r>
              <a:rPr lang="en-US" sz="1400" b="1" dirty="0">
                <a:latin typeface="Consolas" panose="020B0609020204030204" pitchFamily="49" charset="0"/>
                <a:cs typeface="Consolas" panose="020B0609020204030204" pitchFamily="49" charset="0"/>
              </a:rPr>
              <a:t>   t0, </a:t>
            </a:r>
            <a:r>
              <a:rPr lang="en-US" sz="1400" b="1" dirty="0">
                <a:solidFill>
                  <a:schemeClr val="accent3">
                    <a:lumMod val="75000"/>
                  </a:schemeClr>
                </a:solidFill>
                <a:latin typeface="Consolas" panose="020B0609020204030204" pitchFamily="49" charset="0"/>
                <a:cs typeface="Consolas" panose="020B0609020204030204" pitchFamily="49" charset="0"/>
              </a:rPr>
              <a:t>0</a:t>
            </a:r>
            <a:r>
              <a:rPr lang="en-US" sz="1400" b="1" dirty="0">
                <a:latin typeface="Consolas" panose="020B0609020204030204" pitchFamily="49" charset="0"/>
                <a:cs typeface="Consolas" panose="020B0609020204030204" pitchFamily="49" charset="0"/>
              </a:rPr>
              <a:t>(</a:t>
            </a:r>
            <a:r>
              <a:rPr lang="en-US" sz="1400" b="1" dirty="0" err="1">
                <a:latin typeface="Consolas" panose="020B0609020204030204" pitchFamily="49" charset="0"/>
                <a:cs typeface="Consolas" panose="020B0609020204030204" pitchFamily="49" charset="0"/>
              </a:rPr>
              <a:t>sp</a:t>
            </a:r>
            <a:r>
              <a:rPr lang="en-US" sz="1400" b="1" dirty="0">
                <a:latin typeface="Consolas" panose="020B0609020204030204" pitchFamily="49" charset="0"/>
                <a:cs typeface="Consolas" panose="020B0609020204030204" pitchFamily="49" charset="0"/>
              </a:rPr>
              <a:t>)</a:t>
            </a:r>
          </a:p>
          <a:p>
            <a:r>
              <a:rPr lang="en-US" sz="1400" b="1" dirty="0">
                <a:latin typeface="Consolas" panose="020B0609020204030204" pitchFamily="49" charset="0"/>
                <a:cs typeface="Consolas" panose="020B0609020204030204" pitchFamily="49" charset="0"/>
              </a:rPr>
              <a:t>    </a:t>
            </a:r>
          </a:p>
          <a:p>
            <a:r>
              <a:rPr lang="en-US" sz="1400" i="1" dirty="0">
                <a:solidFill>
                  <a:schemeClr val="accent3">
                    <a:lumMod val="50000"/>
                  </a:schemeClr>
                </a:solidFill>
                <a:latin typeface="Consolas" panose="020B0609020204030204" pitchFamily="49" charset="0"/>
                <a:cs typeface="Consolas" panose="020B0609020204030204" pitchFamily="49" charset="0"/>
              </a:rPr>
              <a:t>    # pop 2, add, push sum</a:t>
            </a:r>
          </a:p>
          <a:p>
            <a:r>
              <a:rPr lang="en-US" sz="1400" b="1" dirty="0">
                <a:latin typeface="Consolas" panose="020B0609020204030204" pitchFamily="49" charset="0"/>
                <a:cs typeface="Consolas" panose="020B0609020204030204" pitchFamily="49" charset="0"/>
              </a:rPr>
              <a:t>    </a:t>
            </a:r>
            <a:r>
              <a:rPr lang="en-US" sz="1400" b="1" dirty="0" err="1">
                <a:solidFill>
                  <a:srgbClr val="FF0000"/>
                </a:solidFill>
                <a:latin typeface="Consolas" panose="020B0609020204030204" pitchFamily="49" charset="0"/>
                <a:cs typeface="Consolas" panose="020B0609020204030204" pitchFamily="49" charset="0"/>
              </a:rPr>
              <a:t>lw</a:t>
            </a:r>
            <a:r>
              <a:rPr lang="en-US" sz="1400" b="1" dirty="0">
                <a:latin typeface="Consolas" panose="020B0609020204030204" pitchFamily="49" charset="0"/>
                <a:cs typeface="Consolas" panose="020B0609020204030204" pitchFamily="49" charset="0"/>
              </a:rPr>
              <a:t>   t0, </a:t>
            </a:r>
            <a:r>
              <a:rPr lang="en-US" sz="1400" b="1" dirty="0">
                <a:solidFill>
                  <a:schemeClr val="accent3">
                    <a:lumMod val="75000"/>
                  </a:schemeClr>
                </a:solidFill>
                <a:latin typeface="Consolas" panose="020B0609020204030204" pitchFamily="49" charset="0"/>
                <a:cs typeface="Consolas" panose="020B0609020204030204" pitchFamily="49" charset="0"/>
              </a:rPr>
              <a:t>0</a:t>
            </a:r>
            <a:r>
              <a:rPr lang="en-US" sz="1400" b="1" dirty="0">
                <a:latin typeface="Consolas" panose="020B0609020204030204" pitchFamily="49" charset="0"/>
                <a:cs typeface="Consolas" panose="020B0609020204030204" pitchFamily="49" charset="0"/>
              </a:rPr>
              <a:t>(</a:t>
            </a:r>
            <a:r>
              <a:rPr lang="en-US" sz="1400" b="1" dirty="0" err="1">
                <a:latin typeface="Consolas" panose="020B0609020204030204" pitchFamily="49" charset="0"/>
                <a:cs typeface="Consolas" panose="020B0609020204030204" pitchFamily="49" charset="0"/>
              </a:rPr>
              <a:t>sp</a:t>
            </a:r>
            <a:r>
              <a:rPr lang="en-US" sz="1400" b="1" dirty="0">
                <a:latin typeface="Consolas" panose="020B0609020204030204" pitchFamily="49" charset="0"/>
                <a:cs typeface="Consolas" panose="020B0609020204030204" pitchFamily="49" charset="0"/>
              </a:rPr>
              <a:t>)</a:t>
            </a:r>
          </a:p>
          <a:p>
            <a:r>
              <a:rPr lang="en-US" sz="1400" b="1" dirty="0">
                <a:latin typeface="Consolas" panose="020B0609020204030204" pitchFamily="49" charset="0"/>
                <a:cs typeface="Consolas" panose="020B0609020204030204" pitchFamily="49" charset="0"/>
              </a:rPr>
              <a:t>    </a:t>
            </a:r>
            <a:r>
              <a:rPr lang="en-US" sz="1400" b="1" dirty="0" err="1">
                <a:solidFill>
                  <a:srgbClr val="FF0000"/>
                </a:solidFill>
                <a:latin typeface="Consolas" panose="020B0609020204030204" pitchFamily="49" charset="0"/>
                <a:cs typeface="Consolas" panose="020B0609020204030204" pitchFamily="49" charset="0"/>
              </a:rPr>
              <a:t>lw</a:t>
            </a:r>
            <a:r>
              <a:rPr lang="en-US" sz="1400" b="1" dirty="0">
                <a:latin typeface="Consolas" panose="020B0609020204030204" pitchFamily="49" charset="0"/>
                <a:cs typeface="Consolas" panose="020B0609020204030204" pitchFamily="49" charset="0"/>
              </a:rPr>
              <a:t>   t1, </a:t>
            </a:r>
            <a:r>
              <a:rPr lang="en-US" sz="1400" b="1" dirty="0">
                <a:solidFill>
                  <a:schemeClr val="accent3">
                    <a:lumMod val="75000"/>
                  </a:schemeClr>
                </a:solidFill>
                <a:latin typeface="Consolas" panose="020B0609020204030204" pitchFamily="49" charset="0"/>
                <a:cs typeface="Consolas" panose="020B0609020204030204" pitchFamily="49" charset="0"/>
              </a:rPr>
              <a:t>4</a:t>
            </a:r>
            <a:r>
              <a:rPr lang="en-US" sz="1400" b="1" dirty="0">
                <a:latin typeface="Consolas" panose="020B0609020204030204" pitchFamily="49" charset="0"/>
                <a:cs typeface="Consolas" panose="020B0609020204030204" pitchFamily="49" charset="0"/>
              </a:rPr>
              <a:t>(</a:t>
            </a:r>
            <a:r>
              <a:rPr lang="en-US" sz="1400" b="1" dirty="0" err="1">
                <a:latin typeface="Consolas" panose="020B0609020204030204" pitchFamily="49" charset="0"/>
                <a:cs typeface="Consolas" panose="020B0609020204030204" pitchFamily="49" charset="0"/>
              </a:rPr>
              <a:t>sp</a:t>
            </a:r>
            <a:r>
              <a:rPr lang="en-US" sz="1400" b="1" dirty="0">
                <a:latin typeface="Consolas" panose="020B0609020204030204" pitchFamily="49" charset="0"/>
                <a:cs typeface="Consolas" panose="020B0609020204030204" pitchFamily="49" charset="0"/>
              </a:rPr>
              <a:t>)</a:t>
            </a:r>
          </a:p>
          <a:p>
            <a:r>
              <a:rPr lang="en-US" sz="1400" b="1" dirty="0">
                <a:latin typeface="Consolas" panose="020B0609020204030204" pitchFamily="49" charset="0"/>
                <a:cs typeface="Consolas" panose="020B0609020204030204" pitchFamily="49" charset="0"/>
              </a:rPr>
              <a:t>    </a:t>
            </a:r>
            <a:r>
              <a:rPr lang="en-US" sz="1400" b="1" dirty="0" err="1">
                <a:solidFill>
                  <a:srgbClr val="FF0000"/>
                </a:solidFill>
                <a:latin typeface="Consolas" panose="020B0609020204030204" pitchFamily="49" charset="0"/>
                <a:cs typeface="Consolas" panose="020B0609020204030204" pitchFamily="49" charset="0"/>
              </a:rPr>
              <a:t>addi</a:t>
            </a:r>
            <a:r>
              <a:rPr lang="en-US" sz="1400" b="1" dirty="0">
                <a:latin typeface="Consolas" panose="020B0609020204030204" pitchFamily="49" charset="0"/>
                <a:cs typeface="Consolas" panose="020B0609020204030204" pitchFamily="49" charset="0"/>
              </a:rPr>
              <a:t> </a:t>
            </a:r>
            <a:r>
              <a:rPr lang="en-US" sz="1400" b="1" dirty="0" err="1">
                <a:latin typeface="Consolas" panose="020B0609020204030204" pitchFamily="49" charset="0"/>
                <a:cs typeface="Consolas" panose="020B0609020204030204" pitchFamily="49" charset="0"/>
              </a:rPr>
              <a:t>sp</a:t>
            </a:r>
            <a:r>
              <a:rPr lang="en-US" sz="1400" b="1" dirty="0">
                <a:latin typeface="Consolas" panose="020B0609020204030204" pitchFamily="49" charset="0"/>
                <a:cs typeface="Consolas" panose="020B0609020204030204" pitchFamily="49" charset="0"/>
              </a:rPr>
              <a:t>, </a:t>
            </a:r>
            <a:r>
              <a:rPr lang="en-US" sz="1400" b="1" dirty="0" err="1">
                <a:latin typeface="Consolas" panose="020B0609020204030204" pitchFamily="49" charset="0"/>
                <a:cs typeface="Consolas" panose="020B0609020204030204" pitchFamily="49" charset="0"/>
              </a:rPr>
              <a:t>sp</a:t>
            </a:r>
            <a:r>
              <a:rPr lang="en-US" sz="1400" b="1" dirty="0">
                <a:latin typeface="Consolas" panose="020B0609020204030204" pitchFamily="49" charset="0"/>
                <a:cs typeface="Consolas" panose="020B0609020204030204" pitchFamily="49" charset="0"/>
              </a:rPr>
              <a:t>, </a:t>
            </a:r>
            <a:r>
              <a:rPr lang="en-US" sz="1400" b="1" dirty="0">
                <a:solidFill>
                  <a:schemeClr val="accent3">
                    <a:lumMod val="75000"/>
                  </a:schemeClr>
                </a:solidFill>
                <a:latin typeface="Consolas" panose="020B0609020204030204" pitchFamily="49" charset="0"/>
                <a:cs typeface="Consolas" panose="020B0609020204030204" pitchFamily="49" charset="0"/>
              </a:rPr>
              <a:t>8</a:t>
            </a:r>
          </a:p>
          <a:p>
            <a:r>
              <a:rPr lang="en-US" sz="1400" b="1" dirty="0">
                <a:latin typeface="Consolas" panose="020B0609020204030204" pitchFamily="49" charset="0"/>
                <a:cs typeface="Consolas" panose="020B0609020204030204" pitchFamily="49" charset="0"/>
              </a:rPr>
              <a:t>    </a:t>
            </a:r>
            <a:r>
              <a:rPr lang="en-US" sz="1400" b="1" dirty="0">
                <a:solidFill>
                  <a:srgbClr val="FF0000"/>
                </a:solidFill>
                <a:latin typeface="Consolas" panose="020B0609020204030204" pitchFamily="49" charset="0"/>
                <a:cs typeface="Consolas" panose="020B0609020204030204" pitchFamily="49" charset="0"/>
              </a:rPr>
              <a:t>add</a:t>
            </a:r>
            <a:r>
              <a:rPr lang="en-US" sz="1400" b="1" dirty="0">
                <a:latin typeface="Consolas" panose="020B0609020204030204" pitchFamily="49" charset="0"/>
                <a:cs typeface="Consolas" panose="020B0609020204030204" pitchFamily="49" charset="0"/>
              </a:rPr>
              <a:t>  t0, t0, t1</a:t>
            </a:r>
          </a:p>
          <a:p>
            <a:r>
              <a:rPr lang="en-US" sz="1400" b="1" dirty="0">
                <a:latin typeface="Consolas" panose="020B0609020204030204" pitchFamily="49" charset="0"/>
                <a:cs typeface="Consolas" panose="020B0609020204030204" pitchFamily="49" charset="0"/>
              </a:rPr>
              <a:t>    </a:t>
            </a:r>
            <a:r>
              <a:rPr lang="en-US" sz="1400" b="1" dirty="0" err="1">
                <a:solidFill>
                  <a:srgbClr val="FF0000"/>
                </a:solidFill>
                <a:latin typeface="Consolas" panose="020B0609020204030204" pitchFamily="49" charset="0"/>
                <a:cs typeface="Consolas" panose="020B0609020204030204" pitchFamily="49" charset="0"/>
              </a:rPr>
              <a:t>addi</a:t>
            </a:r>
            <a:r>
              <a:rPr lang="en-US" sz="1400" b="1" dirty="0">
                <a:latin typeface="Consolas" panose="020B0609020204030204" pitchFamily="49" charset="0"/>
                <a:cs typeface="Consolas" panose="020B0609020204030204" pitchFamily="49" charset="0"/>
              </a:rPr>
              <a:t> </a:t>
            </a:r>
            <a:r>
              <a:rPr lang="en-US" sz="1400" b="1" dirty="0" err="1">
                <a:latin typeface="Consolas" panose="020B0609020204030204" pitchFamily="49" charset="0"/>
                <a:cs typeface="Consolas" panose="020B0609020204030204" pitchFamily="49" charset="0"/>
              </a:rPr>
              <a:t>sp</a:t>
            </a:r>
            <a:r>
              <a:rPr lang="en-US" sz="1400" b="1" dirty="0">
                <a:latin typeface="Consolas" panose="020B0609020204030204" pitchFamily="49" charset="0"/>
                <a:cs typeface="Consolas" panose="020B0609020204030204" pitchFamily="49" charset="0"/>
              </a:rPr>
              <a:t>, </a:t>
            </a:r>
            <a:r>
              <a:rPr lang="en-US" sz="1400" b="1" dirty="0" err="1">
                <a:latin typeface="Consolas" panose="020B0609020204030204" pitchFamily="49" charset="0"/>
                <a:cs typeface="Consolas" panose="020B0609020204030204" pitchFamily="49" charset="0"/>
              </a:rPr>
              <a:t>sp</a:t>
            </a:r>
            <a:r>
              <a:rPr lang="en-US" sz="1400" b="1" dirty="0">
                <a:latin typeface="Consolas" panose="020B0609020204030204" pitchFamily="49" charset="0"/>
                <a:cs typeface="Consolas" panose="020B0609020204030204" pitchFamily="49" charset="0"/>
              </a:rPr>
              <a:t>, -</a:t>
            </a:r>
            <a:r>
              <a:rPr lang="en-US" sz="1400" b="1" dirty="0">
                <a:solidFill>
                  <a:schemeClr val="accent3">
                    <a:lumMod val="75000"/>
                  </a:schemeClr>
                </a:solidFill>
                <a:latin typeface="Consolas" panose="020B0609020204030204" pitchFamily="49" charset="0"/>
                <a:cs typeface="Consolas" panose="020B0609020204030204" pitchFamily="49" charset="0"/>
              </a:rPr>
              <a:t>4</a:t>
            </a:r>
          </a:p>
          <a:p>
            <a:r>
              <a:rPr lang="en-US" sz="1400" b="1" dirty="0">
                <a:latin typeface="Consolas" panose="020B0609020204030204" pitchFamily="49" charset="0"/>
                <a:cs typeface="Consolas" panose="020B0609020204030204" pitchFamily="49" charset="0"/>
              </a:rPr>
              <a:t>    </a:t>
            </a:r>
            <a:r>
              <a:rPr lang="en-US" sz="1400" b="1" dirty="0" err="1">
                <a:solidFill>
                  <a:srgbClr val="FF0000"/>
                </a:solidFill>
                <a:latin typeface="Consolas" panose="020B0609020204030204" pitchFamily="49" charset="0"/>
                <a:cs typeface="Consolas" panose="020B0609020204030204" pitchFamily="49" charset="0"/>
              </a:rPr>
              <a:t>sw</a:t>
            </a:r>
            <a:r>
              <a:rPr lang="en-US" sz="1400" b="1" dirty="0">
                <a:latin typeface="Consolas" panose="020B0609020204030204" pitchFamily="49" charset="0"/>
                <a:cs typeface="Consolas" panose="020B0609020204030204" pitchFamily="49" charset="0"/>
              </a:rPr>
              <a:t>   t0, </a:t>
            </a:r>
            <a:r>
              <a:rPr lang="en-US" sz="1400" b="1" dirty="0">
                <a:solidFill>
                  <a:schemeClr val="accent3">
                    <a:lumMod val="75000"/>
                  </a:schemeClr>
                </a:solidFill>
                <a:latin typeface="Consolas" panose="020B0609020204030204" pitchFamily="49" charset="0"/>
                <a:cs typeface="Consolas" panose="020B0609020204030204" pitchFamily="49" charset="0"/>
              </a:rPr>
              <a:t>0</a:t>
            </a:r>
            <a:r>
              <a:rPr lang="en-US" sz="1400" b="1" dirty="0">
                <a:latin typeface="Consolas" panose="020B0609020204030204" pitchFamily="49" charset="0"/>
                <a:cs typeface="Consolas" panose="020B0609020204030204" pitchFamily="49" charset="0"/>
              </a:rPr>
              <a:t>(</a:t>
            </a:r>
            <a:r>
              <a:rPr lang="en-US" sz="1400" b="1" dirty="0" err="1">
                <a:latin typeface="Consolas" panose="020B0609020204030204" pitchFamily="49" charset="0"/>
                <a:cs typeface="Consolas" panose="020B0609020204030204" pitchFamily="49" charset="0"/>
              </a:rPr>
              <a:t>sp</a:t>
            </a:r>
            <a:r>
              <a:rPr lang="en-US" sz="1400" b="1" dirty="0">
                <a:latin typeface="Consolas" panose="020B0609020204030204" pitchFamily="49" charset="0"/>
                <a:cs typeface="Consolas" panose="020B0609020204030204" pitchFamily="49" charset="0"/>
              </a:rPr>
              <a:t>)</a:t>
            </a:r>
          </a:p>
          <a:p>
            <a:r>
              <a:rPr lang="en-US" sz="1400" b="1" dirty="0">
                <a:latin typeface="Consolas" panose="020B0609020204030204" pitchFamily="49" charset="0"/>
                <a:cs typeface="Consolas" panose="020B0609020204030204" pitchFamily="49" charset="0"/>
              </a:rPr>
              <a:t>    </a:t>
            </a:r>
          </a:p>
          <a:p>
            <a:r>
              <a:rPr lang="en-US" sz="1400" i="1" dirty="0">
                <a:solidFill>
                  <a:schemeClr val="accent3">
                    <a:lumMod val="50000"/>
                  </a:schemeClr>
                </a:solidFill>
                <a:latin typeface="Consolas" panose="020B0609020204030204" pitchFamily="49" charset="0"/>
                <a:cs typeface="Consolas" panose="020B0609020204030204" pitchFamily="49" charset="0"/>
              </a:rPr>
              <a:t>    # pop x</a:t>
            </a:r>
          </a:p>
          <a:p>
            <a:r>
              <a:rPr lang="en-US" sz="1400" b="1" dirty="0">
                <a:latin typeface="Consolas" panose="020B0609020204030204" pitchFamily="49" charset="0"/>
                <a:cs typeface="Consolas" panose="020B0609020204030204" pitchFamily="49" charset="0"/>
              </a:rPr>
              <a:t>    </a:t>
            </a:r>
            <a:r>
              <a:rPr lang="en-US" sz="1400" b="1" dirty="0" err="1">
                <a:solidFill>
                  <a:srgbClr val="FF0000"/>
                </a:solidFill>
                <a:latin typeface="Consolas" panose="020B0609020204030204" pitchFamily="49" charset="0"/>
                <a:cs typeface="Consolas" panose="020B0609020204030204" pitchFamily="49" charset="0"/>
              </a:rPr>
              <a:t>lw</a:t>
            </a:r>
            <a:r>
              <a:rPr lang="en-US" sz="1400" b="1" dirty="0">
                <a:latin typeface="Consolas" panose="020B0609020204030204" pitchFamily="49" charset="0"/>
                <a:cs typeface="Consolas" panose="020B0609020204030204" pitchFamily="49" charset="0"/>
              </a:rPr>
              <a:t>   t0, </a:t>
            </a:r>
            <a:r>
              <a:rPr lang="en-US" sz="1400" b="1" dirty="0">
                <a:solidFill>
                  <a:schemeClr val="accent3">
                    <a:lumMod val="75000"/>
                  </a:schemeClr>
                </a:solidFill>
                <a:latin typeface="Consolas" panose="020B0609020204030204" pitchFamily="49" charset="0"/>
                <a:cs typeface="Consolas" panose="020B0609020204030204" pitchFamily="49" charset="0"/>
              </a:rPr>
              <a:t>0</a:t>
            </a:r>
            <a:r>
              <a:rPr lang="en-US" sz="1400" b="1" dirty="0">
                <a:latin typeface="Consolas" panose="020B0609020204030204" pitchFamily="49" charset="0"/>
                <a:cs typeface="Consolas" panose="020B0609020204030204" pitchFamily="49" charset="0"/>
              </a:rPr>
              <a:t>(</a:t>
            </a:r>
            <a:r>
              <a:rPr lang="en-US" sz="1400" b="1" dirty="0" err="1">
                <a:latin typeface="Consolas" panose="020B0609020204030204" pitchFamily="49" charset="0"/>
                <a:cs typeface="Consolas" panose="020B0609020204030204" pitchFamily="49" charset="0"/>
              </a:rPr>
              <a:t>sp</a:t>
            </a:r>
            <a:r>
              <a:rPr lang="en-US" sz="1400" b="1" dirty="0">
                <a:latin typeface="Consolas" panose="020B0609020204030204" pitchFamily="49" charset="0"/>
                <a:cs typeface="Consolas" panose="020B0609020204030204" pitchFamily="49" charset="0"/>
              </a:rPr>
              <a:t>)</a:t>
            </a:r>
          </a:p>
          <a:p>
            <a:r>
              <a:rPr lang="en-US" sz="1400" b="1" dirty="0">
                <a:latin typeface="Consolas" panose="020B0609020204030204" pitchFamily="49" charset="0"/>
                <a:cs typeface="Consolas" panose="020B0609020204030204" pitchFamily="49" charset="0"/>
              </a:rPr>
              <a:t>    </a:t>
            </a:r>
            <a:r>
              <a:rPr lang="en-US" sz="1400" b="1" dirty="0" err="1">
                <a:solidFill>
                  <a:srgbClr val="FF0000"/>
                </a:solidFill>
                <a:latin typeface="Consolas" panose="020B0609020204030204" pitchFamily="49" charset="0"/>
                <a:cs typeface="Consolas" panose="020B0609020204030204" pitchFamily="49" charset="0"/>
              </a:rPr>
              <a:t>addi</a:t>
            </a:r>
            <a:r>
              <a:rPr lang="en-US" sz="1400" b="1" dirty="0">
                <a:latin typeface="Consolas" panose="020B0609020204030204" pitchFamily="49" charset="0"/>
                <a:cs typeface="Consolas" panose="020B0609020204030204" pitchFamily="49" charset="0"/>
              </a:rPr>
              <a:t> </a:t>
            </a:r>
            <a:r>
              <a:rPr lang="en-US" sz="1400" b="1" dirty="0" err="1">
                <a:latin typeface="Consolas" panose="020B0609020204030204" pitchFamily="49" charset="0"/>
                <a:cs typeface="Consolas" panose="020B0609020204030204" pitchFamily="49" charset="0"/>
              </a:rPr>
              <a:t>sp</a:t>
            </a:r>
            <a:r>
              <a:rPr lang="en-US" sz="1400" b="1" dirty="0">
                <a:latin typeface="Consolas" panose="020B0609020204030204" pitchFamily="49" charset="0"/>
                <a:cs typeface="Consolas" panose="020B0609020204030204" pitchFamily="49" charset="0"/>
              </a:rPr>
              <a:t>, </a:t>
            </a:r>
            <a:r>
              <a:rPr lang="en-US" sz="1400" b="1" dirty="0" err="1">
                <a:latin typeface="Consolas" panose="020B0609020204030204" pitchFamily="49" charset="0"/>
                <a:cs typeface="Consolas" panose="020B0609020204030204" pitchFamily="49" charset="0"/>
              </a:rPr>
              <a:t>sp</a:t>
            </a:r>
            <a:r>
              <a:rPr lang="en-US" sz="1400" b="1" dirty="0">
                <a:latin typeface="Consolas" panose="020B0609020204030204" pitchFamily="49" charset="0"/>
                <a:cs typeface="Consolas" panose="020B0609020204030204" pitchFamily="49" charset="0"/>
              </a:rPr>
              <a:t>, </a:t>
            </a:r>
            <a:r>
              <a:rPr lang="en-US" sz="1400" b="1" dirty="0">
                <a:solidFill>
                  <a:schemeClr val="accent3">
                    <a:lumMod val="75000"/>
                  </a:schemeClr>
                </a:solidFill>
                <a:latin typeface="Consolas" panose="020B0609020204030204" pitchFamily="49" charset="0"/>
                <a:cs typeface="Consolas" panose="020B0609020204030204" pitchFamily="49" charset="0"/>
              </a:rPr>
              <a:t>4</a:t>
            </a:r>
          </a:p>
          <a:p>
            <a:r>
              <a:rPr lang="en-US" sz="1400" b="1" dirty="0">
                <a:latin typeface="Consolas" panose="020B0609020204030204" pitchFamily="49" charset="0"/>
                <a:cs typeface="Consolas" panose="020B0609020204030204" pitchFamily="49" charset="0"/>
              </a:rPr>
              <a:t>    </a:t>
            </a:r>
            <a:r>
              <a:rPr lang="en-US" sz="1400" b="1" dirty="0" err="1">
                <a:solidFill>
                  <a:srgbClr val="FF0000"/>
                </a:solidFill>
                <a:latin typeface="Consolas" panose="020B0609020204030204" pitchFamily="49" charset="0"/>
                <a:cs typeface="Consolas" panose="020B0609020204030204" pitchFamily="49" charset="0"/>
              </a:rPr>
              <a:t>sw</a:t>
            </a:r>
            <a:r>
              <a:rPr lang="en-US" sz="1400" b="1" dirty="0">
                <a:latin typeface="Consolas" panose="020B0609020204030204" pitchFamily="49" charset="0"/>
                <a:cs typeface="Consolas" panose="020B0609020204030204" pitchFamily="49" charset="0"/>
              </a:rPr>
              <a:t>   t0, x</a:t>
            </a:r>
          </a:p>
        </p:txBody>
      </p:sp>
      <p:sp>
        <p:nvSpPr>
          <p:cNvPr id="8" name="TextBox 7">
            <a:extLst>
              <a:ext uri="{FF2B5EF4-FFF2-40B4-BE49-F238E27FC236}">
                <a16:creationId xmlns:a16="http://schemas.microsoft.com/office/drawing/2014/main" id="{1C707627-6E01-6A4E-88D8-9374E9903020}"/>
              </a:ext>
            </a:extLst>
          </p:cNvPr>
          <p:cNvSpPr txBox="1"/>
          <p:nvPr/>
        </p:nvSpPr>
        <p:spPr>
          <a:xfrm>
            <a:off x="674357" y="3948351"/>
            <a:ext cx="5710458" cy="769441"/>
          </a:xfrm>
          <a:prstGeom prst="rect">
            <a:avLst/>
          </a:prstGeom>
          <a:noFill/>
        </p:spPr>
        <p:txBody>
          <a:bodyPr wrap="square" rtlCol="0">
            <a:spAutoFit/>
          </a:bodyPr>
          <a:lstStyle/>
          <a:p>
            <a:pPr algn="ctr"/>
            <a:r>
              <a:rPr lang="en-US" sz="2200" dirty="0"/>
              <a:t>these all have the </a:t>
            </a:r>
            <a:r>
              <a:rPr lang="en-US" sz="2200" b="1" dirty="0"/>
              <a:t>same effect: </a:t>
            </a:r>
            <a:r>
              <a:rPr lang="en-US" sz="2200" dirty="0"/>
              <a:t>x's value is incremented by 1. so, they are all </a:t>
            </a:r>
            <a:r>
              <a:rPr lang="en-US" sz="2200" b="1" dirty="0"/>
              <a:t>correct.</a:t>
            </a:r>
          </a:p>
        </p:txBody>
      </p:sp>
      <p:sp>
        <p:nvSpPr>
          <p:cNvPr id="9" name="TextBox 8">
            <a:extLst>
              <a:ext uri="{FF2B5EF4-FFF2-40B4-BE49-F238E27FC236}">
                <a16:creationId xmlns:a16="http://schemas.microsoft.com/office/drawing/2014/main" id="{4FD307AA-D017-BF4C-B979-83B3A35E3E5F}"/>
              </a:ext>
            </a:extLst>
          </p:cNvPr>
          <p:cNvSpPr txBox="1"/>
          <p:nvPr/>
        </p:nvSpPr>
        <p:spPr>
          <a:xfrm>
            <a:off x="505972" y="4828043"/>
            <a:ext cx="6047228" cy="430887"/>
          </a:xfrm>
          <a:prstGeom prst="rect">
            <a:avLst/>
          </a:prstGeom>
          <a:noFill/>
        </p:spPr>
        <p:txBody>
          <a:bodyPr wrap="square" rtlCol="0">
            <a:spAutoFit/>
          </a:bodyPr>
          <a:lstStyle/>
          <a:p>
            <a:pPr algn="ctr"/>
            <a:r>
              <a:rPr lang="en-US" sz="2200" dirty="0"/>
              <a:t>what varies between them is the </a:t>
            </a:r>
            <a:r>
              <a:rPr lang="en-US" sz="2200" b="1" dirty="0"/>
              <a:t>code quality.</a:t>
            </a:r>
          </a:p>
        </p:txBody>
      </p:sp>
      <p:cxnSp>
        <p:nvCxnSpPr>
          <p:cNvPr id="11" name="Straight Connector 10">
            <a:extLst>
              <a:ext uri="{FF2B5EF4-FFF2-40B4-BE49-F238E27FC236}">
                <a16:creationId xmlns:a16="http://schemas.microsoft.com/office/drawing/2014/main" id="{1C95BA0A-6046-FA4F-A41B-6EFFB0607BFA}"/>
              </a:ext>
            </a:extLst>
          </p:cNvPr>
          <p:cNvCxnSpPr/>
          <p:nvPr/>
        </p:nvCxnSpPr>
        <p:spPr>
          <a:xfrm>
            <a:off x="2743200" y="997208"/>
            <a:ext cx="0" cy="14030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D7F6168-850B-6E4B-BC19-3B5129468000}"/>
              </a:ext>
            </a:extLst>
          </p:cNvPr>
          <p:cNvCxnSpPr>
            <a:cxnSpLocks/>
          </p:cNvCxnSpPr>
          <p:nvPr/>
        </p:nvCxnSpPr>
        <p:spPr>
          <a:xfrm>
            <a:off x="6356243" y="997208"/>
            <a:ext cx="0" cy="25853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28107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925C5-D9B0-6540-B036-F6715A639FEF}"/>
              </a:ext>
            </a:extLst>
          </p:cNvPr>
          <p:cNvSpPr>
            <a:spLocks noGrp="1"/>
          </p:cNvSpPr>
          <p:nvPr>
            <p:ph type="title"/>
          </p:nvPr>
        </p:nvSpPr>
        <p:spPr/>
        <p:txBody>
          <a:bodyPr/>
          <a:lstStyle/>
          <a:p>
            <a:r>
              <a:rPr lang="en-US" dirty="0"/>
              <a:t>Output code quality</a:t>
            </a:r>
          </a:p>
        </p:txBody>
      </p:sp>
      <p:sp>
        <p:nvSpPr>
          <p:cNvPr id="3" name="Content Placeholder 2">
            <a:extLst>
              <a:ext uri="{FF2B5EF4-FFF2-40B4-BE49-F238E27FC236}">
                <a16:creationId xmlns:a16="http://schemas.microsoft.com/office/drawing/2014/main" id="{D75352B5-D625-B34B-8F0A-D7E84CB485A4}"/>
              </a:ext>
            </a:extLst>
          </p:cNvPr>
          <p:cNvSpPr>
            <a:spLocks noGrp="1"/>
          </p:cNvSpPr>
          <p:nvPr>
            <p:ph idx="1"/>
          </p:nvPr>
        </p:nvSpPr>
        <p:spPr/>
        <p:txBody>
          <a:bodyPr/>
          <a:lstStyle/>
          <a:p>
            <a:r>
              <a:rPr lang="en-US" dirty="0"/>
              <a:t>the code our compiler outputs can be measured in a few ways:</a:t>
            </a:r>
          </a:p>
          <a:p>
            <a:pPr lvl="1"/>
            <a:r>
              <a:rPr lang="en-US" b="1" dirty="0"/>
              <a:t>speed: </a:t>
            </a:r>
            <a:r>
              <a:rPr lang="en-US" dirty="0"/>
              <a:t>how fast the output code runs</a:t>
            </a:r>
          </a:p>
          <a:p>
            <a:pPr lvl="2"/>
            <a:r>
              <a:rPr lang="en-US" dirty="0"/>
              <a:t>in the same span of time, a fast program can do more useful work than a slow program can.</a:t>
            </a:r>
          </a:p>
          <a:p>
            <a:pPr lvl="1"/>
            <a:r>
              <a:rPr lang="en-US" b="1" dirty="0"/>
              <a:t>size: </a:t>
            </a:r>
            <a:r>
              <a:rPr lang="en-US" dirty="0"/>
              <a:t>how many bytes the output code takes up</a:t>
            </a:r>
          </a:p>
          <a:p>
            <a:pPr lvl="2"/>
            <a:r>
              <a:rPr lang="en-US" dirty="0"/>
              <a:t>if e.g. your target is a microcontroller with 4 KiB of ROM…</a:t>
            </a:r>
          </a:p>
          <a:p>
            <a:pPr lvl="2"/>
            <a:r>
              <a:rPr lang="en-US" dirty="0"/>
              <a:t>your output code has to be as small as possible to fit.</a:t>
            </a:r>
          </a:p>
          <a:p>
            <a:r>
              <a:rPr lang="en-US" dirty="0"/>
              <a:t>despite the last slide, </a:t>
            </a:r>
            <a:r>
              <a:rPr lang="en-US" b="1" dirty="0"/>
              <a:t>smaller </a:t>
            </a:r>
            <a:r>
              <a:rPr lang="en-US" dirty="0"/>
              <a:t>code is </a:t>
            </a:r>
            <a:r>
              <a:rPr lang="en-US" i="1" dirty="0"/>
              <a:t>not necessarily </a:t>
            </a:r>
            <a:r>
              <a:rPr lang="en-US" dirty="0"/>
              <a:t>faster code…</a:t>
            </a:r>
          </a:p>
          <a:p>
            <a:pPr lvl="1"/>
            <a:r>
              <a:rPr lang="en-US" dirty="0"/>
              <a:t>so compilers often give you the choice of which to </a:t>
            </a:r>
            <a:r>
              <a:rPr lang="en-US" b="1" dirty="0"/>
              <a:t>optimize for.</a:t>
            </a:r>
          </a:p>
          <a:p>
            <a:pPr lvl="1"/>
            <a:r>
              <a:rPr lang="en-US" dirty="0"/>
              <a:t>but optimizing code to be faster or smaller is an </a:t>
            </a:r>
            <a:r>
              <a:rPr lang="en-US" i="1" dirty="0"/>
              <a:t>optional</a:t>
            </a:r>
            <a:r>
              <a:rPr lang="en-US" dirty="0"/>
              <a:t> task, and is not required for correct output.</a:t>
            </a:r>
          </a:p>
        </p:txBody>
      </p:sp>
      <p:sp>
        <p:nvSpPr>
          <p:cNvPr id="4" name="Slide Number Placeholder 3">
            <a:extLst>
              <a:ext uri="{FF2B5EF4-FFF2-40B4-BE49-F238E27FC236}">
                <a16:creationId xmlns:a16="http://schemas.microsoft.com/office/drawing/2014/main" id="{F147D943-04FB-0D4E-A75E-67EFA14AB620}"/>
              </a:ext>
            </a:extLst>
          </p:cNvPr>
          <p:cNvSpPr>
            <a:spLocks noGrp="1"/>
          </p:cNvSpPr>
          <p:nvPr>
            <p:ph type="sldNum" sz="quarter" idx="12"/>
          </p:nvPr>
        </p:nvSpPr>
        <p:spPr/>
        <p:txBody>
          <a:bodyPr/>
          <a:lstStyle/>
          <a:p>
            <a:fld id="{3552B95B-556F-44BD-91A5-D80C1B9E2BB3}" type="slidenum">
              <a:rPr lang="en-US" smtClean="0"/>
              <a:pPr/>
              <a:t>8</a:t>
            </a:fld>
            <a:endParaRPr lang="en-US"/>
          </a:p>
        </p:txBody>
      </p:sp>
    </p:spTree>
    <p:extLst>
      <p:ext uri="{BB962C8B-B14F-4D97-AF65-F5344CB8AC3E}">
        <p14:creationId xmlns:p14="http://schemas.microsoft.com/office/powerpoint/2010/main" val="217564568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7851C-11F9-F844-A977-C673730CEE91}"/>
              </a:ext>
            </a:extLst>
          </p:cNvPr>
          <p:cNvSpPr>
            <a:spLocks noGrp="1"/>
          </p:cNvSpPr>
          <p:nvPr>
            <p:ph type="title"/>
          </p:nvPr>
        </p:nvSpPr>
        <p:spPr/>
        <p:txBody>
          <a:bodyPr/>
          <a:lstStyle/>
          <a:p>
            <a:r>
              <a:rPr lang="en-US" dirty="0"/>
              <a:t>Goals and non-goals</a:t>
            </a:r>
          </a:p>
        </p:txBody>
      </p:sp>
      <p:sp>
        <p:nvSpPr>
          <p:cNvPr id="3" name="Content Placeholder 2">
            <a:extLst>
              <a:ext uri="{FF2B5EF4-FFF2-40B4-BE49-F238E27FC236}">
                <a16:creationId xmlns:a16="http://schemas.microsoft.com/office/drawing/2014/main" id="{05A579C5-E658-1146-BBE8-A8CB9D877F61}"/>
              </a:ext>
            </a:extLst>
          </p:cNvPr>
          <p:cNvSpPr>
            <a:spLocks noGrp="1"/>
          </p:cNvSpPr>
          <p:nvPr>
            <p:ph idx="1"/>
          </p:nvPr>
        </p:nvSpPr>
        <p:spPr/>
        <p:txBody>
          <a:bodyPr/>
          <a:lstStyle/>
          <a:p>
            <a:r>
              <a:rPr lang="en-US" dirty="0"/>
              <a:t>in the old days, the code quality of most compilers was… lacking.</a:t>
            </a:r>
          </a:p>
          <a:p>
            <a:pPr lvl="1"/>
            <a:r>
              <a:rPr lang="en-US" dirty="0"/>
              <a:t>much more like the third example on that slide than like the first.</a:t>
            </a:r>
          </a:p>
          <a:p>
            <a:r>
              <a:rPr lang="en-US" dirty="0"/>
              <a:t>higher code quality requires </a:t>
            </a:r>
            <a:r>
              <a:rPr lang="en-US" b="1" dirty="0"/>
              <a:t>a more sophisticated backend.</a:t>
            </a:r>
          </a:p>
          <a:p>
            <a:pPr lvl="1"/>
            <a:r>
              <a:rPr lang="en-US" dirty="0"/>
              <a:t>these algorithms were impractical on the slow computers those early compilers ran on, or literally </a:t>
            </a:r>
            <a:r>
              <a:rPr lang="en-US" i="1" dirty="0"/>
              <a:t>hadn't been invented yet.</a:t>
            </a:r>
            <a:endParaRPr lang="en-US" dirty="0"/>
          </a:p>
          <a:p>
            <a:r>
              <a:rPr lang="en-US" dirty="0"/>
              <a:t>but more complex algorithms means </a:t>
            </a:r>
            <a:r>
              <a:rPr lang="en-US" b="1" dirty="0">
                <a:solidFill>
                  <a:srgbClr val="FF0000"/>
                </a:solidFill>
              </a:rPr>
              <a:t>a higher chance of messing them up</a:t>
            </a:r>
            <a:r>
              <a:rPr lang="en-US" b="1" dirty="0"/>
              <a:t> </a:t>
            </a:r>
            <a:r>
              <a:rPr lang="en-US" dirty="0"/>
              <a:t>and making a compiler that produces </a:t>
            </a:r>
            <a:r>
              <a:rPr lang="en-US" b="1" dirty="0"/>
              <a:t>incorrect code!</a:t>
            </a:r>
          </a:p>
          <a:p>
            <a:r>
              <a:rPr lang="en-US" dirty="0"/>
              <a:t>so </a:t>
            </a:r>
            <a:r>
              <a:rPr lang="en-US" b="1" dirty="0"/>
              <a:t>our goal in this class</a:t>
            </a:r>
            <a:r>
              <a:rPr lang="en-US" dirty="0"/>
              <a:t> will be to make a </a:t>
            </a:r>
            <a:r>
              <a:rPr lang="en-US" b="1" i="1" dirty="0"/>
              <a:t>correct</a:t>
            </a:r>
            <a:r>
              <a:rPr lang="en-US" dirty="0"/>
              <a:t> compiler.</a:t>
            </a:r>
          </a:p>
          <a:p>
            <a:pPr lvl="1"/>
            <a:r>
              <a:rPr lang="en-US" dirty="0"/>
              <a:t>the code it produces may be </a:t>
            </a:r>
            <a:r>
              <a:rPr lang="en-US" i="1" dirty="0"/>
              <a:t>big, slow, and ugly,</a:t>
            </a:r>
            <a:r>
              <a:rPr lang="en-US" dirty="0"/>
              <a:t> but it's okay for teaching purposes.</a:t>
            </a:r>
          </a:p>
          <a:p>
            <a:r>
              <a:rPr lang="en-US" dirty="0"/>
              <a:t>towards the end we'll start to look at improving code quality…</a:t>
            </a:r>
          </a:p>
          <a:p>
            <a:pPr lvl="1"/>
            <a:r>
              <a:rPr lang="en-US" dirty="0"/>
              <a:t>but you won't be implementing that. it's some </a:t>
            </a:r>
            <a:r>
              <a:rPr lang="en-US" i="1" dirty="0"/>
              <a:t>heavy</a:t>
            </a:r>
            <a:r>
              <a:rPr lang="en-US" dirty="0"/>
              <a:t> stuff.</a:t>
            </a:r>
          </a:p>
        </p:txBody>
      </p:sp>
      <p:sp>
        <p:nvSpPr>
          <p:cNvPr id="4" name="Slide Number Placeholder 3">
            <a:extLst>
              <a:ext uri="{FF2B5EF4-FFF2-40B4-BE49-F238E27FC236}">
                <a16:creationId xmlns:a16="http://schemas.microsoft.com/office/drawing/2014/main" id="{864C1752-AD1A-DD4E-A6F3-6A437274EDEA}"/>
              </a:ext>
            </a:extLst>
          </p:cNvPr>
          <p:cNvSpPr>
            <a:spLocks noGrp="1"/>
          </p:cNvSpPr>
          <p:nvPr>
            <p:ph type="sldNum" sz="quarter" idx="12"/>
          </p:nvPr>
        </p:nvSpPr>
        <p:spPr/>
        <p:txBody>
          <a:bodyPr/>
          <a:lstStyle/>
          <a:p>
            <a:fld id="{3552B95B-556F-44BD-91A5-D80C1B9E2BB3}" type="slidenum">
              <a:rPr lang="en-US" smtClean="0"/>
              <a:pPr/>
              <a:t>9</a:t>
            </a:fld>
            <a:endParaRPr lang="en-US"/>
          </a:p>
        </p:txBody>
      </p:sp>
    </p:spTree>
    <p:extLst>
      <p:ext uri="{BB962C8B-B14F-4D97-AF65-F5344CB8AC3E}">
        <p14:creationId xmlns:p14="http://schemas.microsoft.com/office/powerpoint/2010/main" val="92104151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A0496-4154-7246-8172-01DC1201085E}"/>
              </a:ext>
            </a:extLst>
          </p:cNvPr>
          <p:cNvSpPr>
            <a:spLocks noGrp="1"/>
          </p:cNvSpPr>
          <p:nvPr>
            <p:ph type="ctrTitle"/>
          </p:nvPr>
        </p:nvSpPr>
        <p:spPr/>
        <p:txBody>
          <a:bodyPr/>
          <a:lstStyle/>
          <a:p>
            <a:r>
              <a:rPr lang="en-US" dirty="0"/>
              <a:t>Runtime</a:t>
            </a:r>
          </a:p>
        </p:txBody>
      </p:sp>
      <p:sp>
        <p:nvSpPr>
          <p:cNvPr id="3" name="Slide Number Placeholder 2">
            <a:extLst>
              <a:ext uri="{FF2B5EF4-FFF2-40B4-BE49-F238E27FC236}">
                <a16:creationId xmlns:a16="http://schemas.microsoft.com/office/drawing/2014/main" id="{13D12E16-0708-C243-A93F-5066E8EB79ED}"/>
              </a:ext>
            </a:extLst>
          </p:cNvPr>
          <p:cNvSpPr>
            <a:spLocks noGrp="1"/>
          </p:cNvSpPr>
          <p:nvPr>
            <p:ph type="sldNum" sz="quarter" idx="12"/>
          </p:nvPr>
        </p:nvSpPr>
        <p:spPr/>
        <p:txBody>
          <a:bodyPr/>
          <a:lstStyle/>
          <a:p>
            <a:fld id="{3552B95B-556F-44BD-91A5-D80C1B9E2BB3}" type="slidenum">
              <a:rPr lang="en-US" smtClean="0"/>
              <a:pPr/>
              <a:t>10</a:t>
            </a:fld>
            <a:endParaRPr lang="en-US"/>
          </a:p>
        </p:txBody>
      </p:sp>
    </p:spTree>
    <p:extLst>
      <p:ext uri="{BB962C8B-B14F-4D97-AF65-F5344CB8AC3E}">
        <p14:creationId xmlns:p14="http://schemas.microsoft.com/office/powerpoint/2010/main" val="108139521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F042BE3-C2A2-7E41-AF17-C04E2BCB3EF6}"/>
              </a:ext>
            </a:extLst>
          </p:cNvPr>
          <p:cNvSpPr>
            <a:spLocks noGrp="1"/>
          </p:cNvSpPr>
          <p:nvPr>
            <p:ph type="title"/>
          </p:nvPr>
        </p:nvSpPr>
        <p:spPr/>
        <p:txBody>
          <a:bodyPr/>
          <a:lstStyle/>
          <a:p>
            <a:r>
              <a:rPr lang="en-US" dirty="0"/>
              <a:t>From compile-time to runtime</a:t>
            </a:r>
          </a:p>
        </p:txBody>
      </p:sp>
      <p:sp>
        <p:nvSpPr>
          <p:cNvPr id="5" name="Content Placeholder 4">
            <a:extLst>
              <a:ext uri="{FF2B5EF4-FFF2-40B4-BE49-F238E27FC236}">
                <a16:creationId xmlns:a16="http://schemas.microsoft.com/office/drawing/2014/main" id="{FDE06224-2332-A443-8D20-7234F62A46CB}"/>
              </a:ext>
            </a:extLst>
          </p:cNvPr>
          <p:cNvSpPr>
            <a:spLocks noGrp="1"/>
          </p:cNvSpPr>
          <p:nvPr>
            <p:ph idx="1"/>
          </p:nvPr>
        </p:nvSpPr>
        <p:spPr>
          <a:xfrm>
            <a:off x="152400" y="495302"/>
            <a:ext cx="8991600" cy="1179244"/>
          </a:xfrm>
        </p:spPr>
        <p:txBody>
          <a:bodyPr/>
          <a:lstStyle/>
          <a:p>
            <a:r>
              <a:rPr lang="en-US" dirty="0"/>
              <a:t>the compiler is just the </a:t>
            </a:r>
            <a:r>
              <a:rPr lang="en-US" i="1" dirty="0"/>
              <a:t>first part</a:t>
            </a:r>
            <a:r>
              <a:rPr lang="en-US" dirty="0"/>
              <a:t> of enforcing the HLL's abstractions.</a:t>
            </a:r>
          </a:p>
          <a:p>
            <a:r>
              <a:rPr lang="en-US" dirty="0"/>
              <a:t>depending on how well the </a:t>
            </a:r>
            <a:r>
              <a:rPr lang="en-US" b="1" dirty="0"/>
              <a:t>source language's semantics match the target's,</a:t>
            </a:r>
            <a:r>
              <a:rPr lang="en-US" dirty="0"/>
              <a:t> we can have a little or a </a:t>
            </a:r>
            <a:r>
              <a:rPr lang="en-US" b="1" dirty="0"/>
              <a:t>lot </a:t>
            </a:r>
            <a:r>
              <a:rPr lang="en-US" dirty="0"/>
              <a:t>to do at runtime.</a:t>
            </a:r>
          </a:p>
        </p:txBody>
      </p:sp>
      <p:sp>
        <p:nvSpPr>
          <p:cNvPr id="3" name="Slide Number Placeholder 2">
            <a:extLst>
              <a:ext uri="{FF2B5EF4-FFF2-40B4-BE49-F238E27FC236}">
                <a16:creationId xmlns:a16="http://schemas.microsoft.com/office/drawing/2014/main" id="{7E592CB6-6E79-9047-9B51-803836294B35}"/>
              </a:ext>
            </a:extLst>
          </p:cNvPr>
          <p:cNvSpPr>
            <a:spLocks noGrp="1"/>
          </p:cNvSpPr>
          <p:nvPr>
            <p:ph type="sldNum" sz="quarter" idx="12"/>
          </p:nvPr>
        </p:nvSpPr>
        <p:spPr/>
        <p:txBody>
          <a:bodyPr/>
          <a:lstStyle/>
          <a:p>
            <a:fld id="{3552B95B-556F-44BD-91A5-D80C1B9E2BB3}" type="slidenum">
              <a:rPr lang="en-US" smtClean="0"/>
              <a:pPr/>
              <a:t>11</a:t>
            </a:fld>
            <a:endParaRPr lang="en-US"/>
          </a:p>
        </p:txBody>
      </p:sp>
      <p:sp>
        <p:nvSpPr>
          <p:cNvPr id="6" name="TextBox 5">
            <a:extLst>
              <a:ext uri="{FF2B5EF4-FFF2-40B4-BE49-F238E27FC236}">
                <a16:creationId xmlns:a16="http://schemas.microsoft.com/office/drawing/2014/main" id="{416E0714-AA21-2342-BAB1-548279C37450}"/>
              </a:ext>
            </a:extLst>
          </p:cNvPr>
          <p:cNvSpPr txBox="1"/>
          <p:nvPr/>
        </p:nvSpPr>
        <p:spPr>
          <a:xfrm>
            <a:off x="4114802" y="1866900"/>
            <a:ext cx="2209800" cy="1015663"/>
          </a:xfrm>
          <a:prstGeom prst="rect">
            <a:avLst/>
          </a:prstGeom>
          <a:noFill/>
        </p:spPr>
        <p:txBody>
          <a:bodyPr wrap="square" rtlCol="0">
            <a:spAutoFit/>
          </a:bodyPr>
          <a:lstStyle/>
          <a:p>
            <a:pPr algn="ctr"/>
            <a:r>
              <a:rPr lang="en-US" sz="6000" b="1" dirty="0">
                <a:latin typeface="Consolas" panose="020B0609020204030204" pitchFamily="49" charset="0"/>
                <a:cs typeface="Consolas" panose="020B0609020204030204" pitchFamily="49" charset="0"/>
              </a:rPr>
              <a:t>C ≅</a:t>
            </a:r>
            <a:endParaRPr lang="en-US" sz="6000" b="1" dirty="0">
              <a:solidFill>
                <a:srgbClr val="FF0000"/>
              </a:solidFill>
              <a:latin typeface="Consolas" panose="020B0609020204030204" pitchFamily="49" charset="0"/>
              <a:cs typeface="Consolas" panose="020B0609020204030204" pitchFamily="49" charset="0"/>
            </a:endParaRPr>
          </a:p>
        </p:txBody>
      </p:sp>
      <p:sp>
        <p:nvSpPr>
          <p:cNvPr id="7" name="Octagon 6">
            <a:extLst>
              <a:ext uri="{FF2B5EF4-FFF2-40B4-BE49-F238E27FC236}">
                <a16:creationId xmlns:a16="http://schemas.microsoft.com/office/drawing/2014/main" id="{1231C6EA-E43C-8B4B-BCA8-788AFAC9A6AD}"/>
              </a:ext>
            </a:extLst>
          </p:cNvPr>
          <p:cNvSpPr/>
          <p:nvPr/>
        </p:nvSpPr>
        <p:spPr>
          <a:xfrm>
            <a:off x="6273463" y="2120562"/>
            <a:ext cx="2489537" cy="2489537"/>
          </a:xfrm>
          <a:prstGeom prst="octagon">
            <a:avLst>
              <a:gd name="adj" fmla="val 8637"/>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CPU</a:t>
            </a:r>
          </a:p>
        </p:txBody>
      </p:sp>
      <p:sp>
        <p:nvSpPr>
          <p:cNvPr id="10" name="TextBox 9">
            <a:extLst>
              <a:ext uri="{FF2B5EF4-FFF2-40B4-BE49-F238E27FC236}">
                <a16:creationId xmlns:a16="http://schemas.microsoft.com/office/drawing/2014/main" id="{F83275D5-BF09-4C4F-81E2-ADC19A713044}"/>
              </a:ext>
            </a:extLst>
          </p:cNvPr>
          <p:cNvSpPr txBox="1"/>
          <p:nvPr/>
        </p:nvSpPr>
        <p:spPr>
          <a:xfrm>
            <a:off x="228602" y="3225968"/>
            <a:ext cx="2209800" cy="1015663"/>
          </a:xfrm>
          <a:prstGeom prst="rect">
            <a:avLst/>
          </a:prstGeom>
          <a:noFill/>
        </p:spPr>
        <p:txBody>
          <a:bodyPr wrap="square" rtlCol="0">
            <a:spAutoFit/>
          </a:bodyPr>
          <a:lstStyle/>
          <a:p>
            <a:pPr algn="ctr"/>
            <a:r>
              <a:rPr lang="en-US" sz="6000" b="1" dirty="0">
                <a:latin typeface="Consolas" panose="020B0609020204030204" pitchFamily="49" charset="0"/>
                <a:cs typeface="Consolas" panose="020B0609020204030204" pitchFamily="49" charset="0"/>
              </a:rPr>
              <a:t>Java</a:t>
            </a:r>
            <a:endParaRPr lang="en-US" sz="6000" b="1" dirty="0">
              <a:solidFill>
                <a:srgbClr val="FF0000"/>
              </a:solidFill>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BC723403-B997-234F-9964-758BC6087130}"/>
              </a:ext>
            </a:extLst>
          </p:cNvPr>
          <p:cNvSpPr/>
          <p:nvPr/>
        </p:nvSpPr>
        <p:spPr>
          <a:xfrm>
            <a:off x="2438402" y="2857500"/>
            <a:ext cx="3657600" cy="1752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6ABE9E1-8D21-D146-87FE-CA800195D1FD}"/>
              </a:ext>
            </a:extLst>
          </p:cNvPr>
          <p:cNvSpPr txBox="1"/>
          <p:nvPr/>
        </p:nvSpPr>
        <p:spPr>
          <a:xfrm>
            <a:off x="3237791" y="2911353"/>
            <a:ext cx="2077877" cy="369332"/>
          </a:xfrm>
          <a:prstGeom prst="rect">
            <a:avLst/>
          </a:prstGeom>
          <a:noFill/>
        </p:spPr>
        <p:txBody>
          <a:bodyPr wrap="none" rtlCol="0">
            <a:spAutoFit/>
          </a:bodyPr>
          <a:lstStyle/>
          <a:p>
            <a:pPr algn="ctr"/>
            <a:r>
              <a:rPr lang="en-US" sz="1800" b="1" dirty="0">
                <a:solidFill>
                  <a:schemeClr val="bg1"/>
                </a:solidFill>
              </a:rPr>
              <a:t>dynamic dispatch</a:t>
            </a:r>
          </a:p>
        </p:txBody>
      </p:sp>
      <p:sp>
        <p:nvSpPr>
          <p:cNvPr id="14" name="TextBox 13">
            <a:extLst>
              <a:ext uri="{FF2B5EF4-FFF2-40B4-BE49-F238E27FC236}">
                <a16:creationId xmlns:a16="http://schemas.microsoft.com/office/drawing/2014/main" id="{38D73F60-EED8-734B-924B-6C4D4B34ACEF}"/>
              </a:ext>
            </a:extLst>
          </p:cNvPr>
          <p:cNvSpPr txBox="1"/>
          <p:nvPr/>
        </p:nvSpPr>
        <p:spPr>
          <a:xfrm>
            <a:off x="4178318" y="3444523"/>
            <a:ext cx="1569019" cy="369332"/>
          </a:xfrm>
          <a:prstGeom prst="rect">
            <a:avLst/>
          </a:prstGeom>
          <a:noFill/>
        </p:spPr>
        <p:txBody>
          <a:bodyPr wrap="none" rtlCol="0">
            <a:spAutoFit/>
          </a:bodyPr>
          <a:lstStyle/>
          <a:p>
            <a:pPr algn="ctr"/>
            <a:r>
              <a:rPr lang="en-US" sz="1800" b="1" dirty="0">
                <a:solidFill>
                  <a:schemeClr val="bg1"/>
                </a:solidFill>
              </a:rPr>
              <a:t>class loading</a:t>
            </a:r>
          </a:p>
        </p:txBody>
      </p:sp>
      <p:sp>
        <p:nvSpPr>
          <p:cNvPr id="15" name="TextBox 14">
            <a:extLst>
              <a:ext uri="{FF2B5EF4-FFF2-40B4-BE49-F238E27FC236}">
                <a16:creationId xmlns:a16="http://schemas.microsoft.com/office/drawing/2014/main" id="{4E0C8B87-408C-144D-BD66-117405F416F3}"/>
              </a:ext>
            </a:extLst>
          </p:cNvPr>
          <p:cNvSpPr txBox="1"/>
          <p:nvPr/>
        </p:nvSpPr>
        <p:spPr>
          <a:xfrm>
            <a:off x="2822523" y="3270766"/>
            <a:ext cx="1226874" cy="369332"/>
          </a:xfrm>
          <a:prstGeom prst="rect">
            <a:avLst/>
          </a:prstGeom>
          <a:noFill/>
        </p:spPr>
        <p:txBody>
          <a:bodyPr wrap="none" rtlCol="0">
            <a:spAutoFit/>
          </a:bodyPr>
          <a:lstStyle/>
          <a:p>
            <a:pPr algn="ctr"/>
            <a:r>
              <a:rPr lang="en-US" sz="1800" b="1" dirty="0">
                <a:solidFill>
                  <a:schemeClr val="bg1"/>
                </a:solidFill>
              </a:rPr>
              <a:t>reflection</a:t>
            </a:r>
          </a:p>
        </p:txBody>
      </p:sp>
      <p:sp>
        <p:nvSpPr>
          <p:cNvPr id="16" name="TextBox 15">
            <a:extLst>
              <a:ext uri="{FF2B5EF4-FFF2-40B4-BE49-F238E27FC236}">
                <a16:creationId xmlns:a16="http://schemas.microsoft.com/office/drawing/2014/main" id="{887FC342-A610-C245-8EA5-0D1CEA9A8C41}"/>
              </a:ext>
            </a:extLst>
          </p:cNvPr>
          <p:cNvSpPr txBox="1"/>
          <p:nvPr/>
        </p:nvSpPr>
        <p:spPr>
          <a:xfrm>
            <a:off x="2591400" y="3813855"/>
            <a:ext cx="2192588" cy="369332"/>
          </a:xfrm>
          <a:prstGeom prst="rect">
            <a:avLst/>
          </a:prstGeom>
          <a:noFill/>
        </p:spPr>
        <p:txBody>
          <a:bodyPr wrap="none" rtlCol="0">
            <a:spAutoFit/>
          </a:bodyPr>
          <a:lstStyle/>
          <a:p>
            <a:pPr algn="ctr"/>
            <a:r>
              <a:rPr lang="en-US" sz="1800" b="1" dirty="0">
                <a:solidFill>
                  <a:schemeClr val="bg1"/>
                </a:solidFill>
              </a:rPr>
              <a:t>garbage collection</a:t>
            </a:r>
          </a:p>
        </p:txBody>
      </p:sp>
      <p:sp>
        <p:nvSpPr>
          <p:cNvPr id="17" name="TextBox 16">
            <a:extLst>
              <a:ext uri="{FF2B5EF4-FFF2-40B4-BE49-F238E27FC236}">
                <a16:creationId xmlns:a16="http://schemas.microsoft.com/office/drawing/2014/main" id="{2AD2673D-3259-6D4A-B7DF-818FCFD8AB21}"/>
              </a:ext>
            </a:extLst>
          </p:cNvPr>
          <p:cNvSpPr txBox="1"/>
          <p:nvPr/>
        </p:nvSpPr>
        <p:spPr>
          <a:xfrm>
            <a:off x="4519493" y="4061809"/>
            <a:ext cx="1349280" cy="369332"/>
          </a:xfrm>
          <a:prstGeom prst="rect">
            <a:avLst/>
          </a:prstGeom>
          <a:noFill/>
        </p:spPr>
        <p:txBody>
          <a:bodyPr wrap="none" rtlCol="0">
            <a:spAutoFit/>
          </a:bodyPr>
          <a:lstStyle/>
          <a:p>
            <a:pPr algn="ctr"/>
            <a:r>
              <a:rPr lang="en-US" sz="1800" b="1" dirty="0">
                <a:solidFill>
                  <a:schemeClr val="bg1"/>
                </a:solidFill>
              </a:rPr>
              <a:t>exceptions</a:t>
            </a:r>
          </a:p>
        </p:txBody>
      </p:sp>
    </p:spTree>
    <p:extLst>
      <p:ext uri="{BB962C8B-B14F-4D97-AF65-F5344CB8AC3E}">
        <p14:creationId xmlns:p14="http://schemas.microsoft.com/office/powerpoint/2010/main" val="245010706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10" grpId="0"/>
      <p:bldP spid="12" grpId="0" animBg="1"/>
      <p:bldP spid="13" grpId="0"/>
      <p:bldP spid="14" grpId="0"/>
      <p:bldP spid="15" grpId="0"/>
      <p:bldP spid="16" grpId="0"/>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9F9D5-F5F7-F34D-8E45-93EACCF9EFF4}"/>
              </a:ext>
            </a:extLst>
          </p:cNvPr>
          <p:cNvSpPr>
            <a:spLocks noGrp="1"/>
          </p:cNvSpPr>
          <p:nvPr>
            <p:ph type="title"/>
          </p:nvPr>
        </p:nvSpPr>
        <p:spPr/>
        <p:txBody>
          <a:bodyPr/>
          <a:lstStyle/>
          <a:p>
            <a:r>
              <a:rPr lang="en-US" dirty="0"/>
              <a:t>Does that mean we need a VM?</a:t>
            </a:r>
          </a:p>
        </p:txBody>
      </p:sp>
      <p:sp>
        <p:nvSpPr>
          <p:cNvPr id="3" name="Content Placeholder 2">
            <a:extLst>
              <a:ext uri="{FF2B5EF4-FFF2-40B4-BE49-F238E27FC236}">
                <a16:creationId xmlns:a16="http://schemas.microsoft.com/office/drawing/2014/main" id="{338CBBBC-8980-6240-B05B-FBD2906B0124}"/>
              </a:ext>
            </a:extLst>
          </p:cNvPr>
          <p:cNvSpPr>
            <a:spLocks noGrp="1"/>
          </p:cNvSpPr>
          <p:nvPr>
            <p:ph idx="1"/>
          </p:nvPr>
        </p:nvSpPr>
        <p:spPr/>
        <p:txBody>
          <a:bodyPr/>
          <a:lstStyle/>
          <a:p>
            <a:r>
              <a:rPr lang="en-US" dirty="0"/>
              <a:t>well, not necessarily…</a:t>
            </a:r>
          </a:p>
          <a:p>
            <a:r>
              <a:rPr lang="en-US" dirty="0"/>
              <a:t>there can be many </a:t>
            </a:r>
            <a:r>
              <a:rPr lang="en-US" b="1" dirty="0"/>
              <a:t>source language features which the target language does not support, </a:t>
            </a:r>
            <a:r>
              <a:rPr lang="en-US" dirty="0"/>
              <a:t>which can be even small things.</a:t>
            </a:r>
            <a:endParaRPr lang="en-US" b="1" dirty="0"/>
          </a:p>
          <a:p>
            <a:pPr lvl="1"/>
            <a:r>
              <a:rPr lang="en-US" dirty="0"/>
              <a:t>think about it: does MIPS have an </a:t>
            </a:r>
            <a:r>
              <a:rPr lang="en-US" b="1" dirty="0"/>
              <a:t>if-else</a:t>
            </a:r>
            <a:r>
              <a:rPr lang="en-US" dirty="0"/>
              <a:t> instruction?</a:t>
            </a:r>
          </a:p>
          <a:p>
            <a:pPr lvl="2"/>
            <a:r>
              <a:rPr lang="en-US" i="1" dirty="0"/>
              <a:t>no.</a:t>
            </a:r>
            <a:r>
              <a:rPr lang="en-US" dirty="0"/>
              <a:t> so those have to be built out of simpler instructions.</a:t>
            </a:r>
          </a:p>
          <a:p>
            <a:r>
              <a:rPr lang="en-US" dirty="0"/>
              <a:t>if the target language is a CPU, chances are all it can do is:</a:t>
            </a:r>
          </a:p>
          <a:p>
            <a:pPr lvl="1"/>
            <a:r>
              <a:rPr lang="en-US" dirty="0"/>
              <a:t>move numbers around</a:t>
            </a:r>
          </a:p>
          <a:p>
            <a:pPr lvl="1"/>
            <a:r>
              <a:rPr lang="en-US" dirty="0"/>
              <a:t>do arithmetic and logical operations on numbers</a:t>
            </a:r>
          </a:p>
          <a:p>
            <a:pPr lvl="1"/>
            <a:r>
              <a:rPr lang="en-US" dirty="0"/>
              <a:t>choose which steps to go to</a:t>
            </a:r>
          </a:p>
          <a:p>
            <a:pPr lvl="1"/>
            <a:r>
              <a:rPr lang="en-US" sz="1050" dirty="0" err="1"/>
              <a:t>uhhhhhhhhhhhhhhhhhhh</a:t>
            </a:r>
            <a:r>
              <a:rPr lang="en-US" dirty="0"/>
              <a:t> </a:t>
            </a:r>
            <a:r>
              <a:rPr lang="en-US" b="1" dirty="0"/>
              <a:t>that's it!</a:t>
            </a:r>
          </a:p>
          <a:p>
            <a:r>
              <a:rPr lang="en-US" dirty="0"/>
              <a:t>so there are like, three parts to this?</a:t>
            </a:r>
          </a:p>
          <a:p>
            <a:pPr lvl="1"/>
            <a:r>
              <a:rPr lang="en-US" dirty="0"/>
              <a:t>the </a:t>
            </a:r>
            <a:r>
              <a:rPr lang="en-US" b="1" dirty="0"/>
              <a:t>code generation</a:t>
            </a:r>
            <a:endParaRPr lang="en-US" dirty="0"/>
          </a:p>
          <a:p>
            <a:pPr lvl="1"/>
            <a:r>
              <a:rPr lang="en-US" dirty="0"/>
              <a:t>the </a:t>
            </a:r>
            <a:r>
              <a:rPr lang="en-US" b="1" dirty="0"/>
              <a:t>ABI (application binary interface)</a:t>
            </a:r>
          </a:p>
          <a:p>
            <a:pPr lvl="1"/>
            <a:r>
              <a:rPr lang="en-US" dirty="0"/>
              <a:t>and the </a:t>
            </a:r>
            <a:r>
              <a:rPr lang="en-US" b="1" dirty="0"/>
              <a:t>runtime library</a:t>
            </a:r>
            <a:endParaRPr lang="en-US" dirty="0"/>
          </a:p>
        </p:txBody>
      </p:sp>
      <p:sp>
        <p:nvSpPr>
          <p:cNvPr id="4" name="Slide Number Placeholder 3">
            <a:extLst>
              <a:ext uri="{FF2B5EF4-FFF2-40B4-BE49-F238E27FC236}">
                <a16:creationId xmlns:a16="http://schemas.microsoft.com/office/drawing/2014/main" id="{95B1AE18-B244-3C40-AF8F-C9BE01706171}"/>
              </a:ext>
            </a:extLst>
          </p:cNvPr>
          <p:cNvSpPr>
            <a:spLocks noGrp="1"/>
          </p:cNvSpPr>
          <p:nvPr>
            <p:ph type="sldNum" sz="quarter" idx="12"/>
          </p:nvPr>
        </p:nvSpPr>
        <p:spPr/>
        <p:txBody>
          <a:bodyPr/>
          <a:lstStyle/>
          <a:p>
            <a:fld id="{3552B95B-556F-44BD-91A5-D80C1B9E2BB3}" type="slidenum">
              <a:rPr lang="en-US" smtClean="0"/>
              <a:pPr/>
              <a:t>12</a:t>
            </a:fld>
            <a:endParaRPr lang="en-US"/>
          </a:p>
        </p:txBody>
      </p:sp>
    </p:spTree>
    <p:extLst>
      <p:ext uri="{BB962C8B-B14F-4D97-AF65-F5344CB8AC3E}">
        <p14:creationId xmlns:p14="http://schemas.microsoft.com/office/powerpoint/2010/main" val="56938632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CA207-5E55-774A-BD7B-C928D81700DD}"/>
              </a:ext>
            </a:extLst>
          </p:cNvPr>
          <p:cNvSpPr>
            <a:spLocks noGrp="1"/>
          </p:cNvSpPr>
          <p:nvPr>
            <p:ph type="title"/>
          </p:nvPr>
        </p:nvSpPr>
        <p:spPr/>
        <p:txBody>
          <a:bodyPr/>
          <a:lstStyle/>
          <a:p>
            <a:r>
              <a:rPr lang="en-US" dirty="0"/>
              <a:t>Code generation (</a:t>
            </a:r>
            <a:r>
              <a:rPr lang="en-US" dirty="0" err="1"/>
              <a:t>codegen</a:t>
            </a:r>
            <a:r>
              <a:rPr lang="en-US" dirty="0"/>
              <a:t>)</a:t>
            </a:r>
          </a:p>
        </p:txBody>
      </p:sp>
      <p:sp>
        <p:nvSpPr>
          <p:cNvPr id="3" name="Content Placeholder 2">
            <a:extLst>
              <a:ext uri="{FF2B5EF4-FFF2-40B4-BE49-F238E27FC236}">
                <a16:creationId xmlns:a16="http://schemas.microsoft.com/office/drawing/2014/main" id="{1952977C-F5B0-9B45-9054-3F97AF6BDFF2}"/>
              </a:ext>
            </a:extLst>
          </p:cNvPr>
          <p:cNvSpPr>
            <a:spLocks noGrp="1"/>
          </p:cNvSpPr>
          <p:nvPr>
            <p:ph idx="1"/>
          </p:nvPr>
        </p:nvSpPr>
        <p:spPr>
          <a:xfrm>
            <a:off x="152400" y="495301"/>
            <a:ext cx="8991600" cy="838199"/>
          </a:xfrm>
        </p:spPr>
        <p:txBody>
          <a:bodyPr/>
          <a:lstStyle/>
          <a:p>
            <a:r>
              <a:rPr lang="en-US" dirty="0"/>
              <a:t>we saw this: </a:t>
            </a:r>
            <a:r>
              <a:rPr lang="en-US" b="1" dirty="0" err="1"/>
              <a:t>codegen</a:t>
            </a:r>
            <a:r>
              <a:rPr lang="en-US" b="1" dirty="0"/>
              <a:t> </a:t>
            </a:r>
            <a:r>
              <a:rPr lang="en-US" dirty="0"/>
              <a:t>is where each operation in the source language is mapped to the target language.</a:t>
            </a:r>
            <a:endParaRPr lang="en-US" b="1" dirty="0"/>
          </a:p>
        </p:txBody>
      </p:sp>
      <p:sp>
        <p:nvSpPr>
          <p:cNvPr id="4" name="Slide Number Placeholder 3">
            <a:extLst>
              <a:ext uri="{FF2B5EF4-FFF2-40B4-BE49-F238E27FC236}">
                <a16:creationId xmlns:a16="http://schemas.microsoft.com/office/drawing/2014/main" id="{2E6D44B0-12CD-1B4D-A48A-0699F0229FD2}"/>
              </a:ext>
            </a:extLst>
          </p:cNvPr>
          <p:cNvSpPr>
            <a:spLocks noGrp="1"/>
          </p:cNvSpPr>
          <p:nvPr>
            <p:ph type="sldNum" sz="quarter" idx="12"/>
          </p:nvPr>
        </p:nvSpPr>
        <p:spPr/>
        <p:txBody>
          <a:bodyPr/>
          <a:lstStyle/>
          <a:p>
            <a:fld id="{3552B95B-556F-44BD-91A5-D80C1B9E2BB3}" type="slidenum">
              <a:rPr lang="en-US" smtClean="0"/>
              <a:pPr/>
              <a:t>13</a:t>
            </a:fld>
            <a:endParaRPr lang="en-US"/>
          </a:p>
        </p:txBody>
      </p:sp>
      <p:sp>
        <p:nvSpPr>
          <p:cNvPr id="5" name="Rectangle 4">
            <a:extLst>
              <a:ext uri="{FF2B5EF4-FFF2-40B4-BE49-F238E27FC236}">
                <a16:creationId xmlns:a16="http://schemas.microsoft.com/office/drawing/2014/main" id="{B595786B-FF6B-3B4A-8CE7-CCE92B109254}"/>
              </a:ext>
            </a:extLst>
          </p:cNvPr>
          <p:cNvSpPr/>
          <p:nvPr/>
        </p:nvSpPr>
        <p:spPr>
          <a:xfrm>
            <a:off x="2057400" y="1625143"/>
            <a:ext cx="1371600" cy="523220"/>
          </a:xfrm>
          <a:prstGeom prst="rect">
            <a:avLst/>
          </a:prstGeom>
        </p:spPr>
        <p:txBody>
          <a:bodyPr wrap="square">
            <a:spAutoFit/>
          </a:bodyPr>
          <a:lstStyle/>
          <a:p>
            <a:pPr algn="r"/>
            <a:r>
              <a:rPr lang="en-US" sz="2800" b="1" dirty="0">
                <a:latin typeface="Consolas" panose="020B0609020204030204" pitchFamily="49" charset="0"/>
                <a:cs typeface="Consolas" panose="020B0609020204030204" pitchFamily="49" charset="0"/>
              </a:rPr>
              <a:t>x = y</a:t>
            </a:r>
          </a:p>
        </p:txBody>
      </p:sp>
      <p:sp>
        <p:nvSpPr>
          <p:cNvPr id="7" name="Rectangle 6">
            <a:extLst>
              <a:ext uri="{FF2B5EF4-FFF2-40B4-BE49-F238E27FC236}">
                <a16:creationId xmlns:a16="http://schemas.microsoft.com/office/drawing/2014/main" id="{FA5A0090-793E-2346-BCE4-972A4117EEAA}"/>
              </a:ext>
            </a:extLst>
          </p:cNvPr>
          <p:cNvSpPr/>
          <p:nvPr/>
        </p:nvSpPr>
        <p:spPr>
          <a:xfrm>
            <a:off x="2057400" y="2920543"/>
            <a:ext cx="1371600" cy="523220"/>
          </a:xfrm>
          <a:prstGeom prst="rect">
            <a:avLst/>
          </a:prstGeom>
        </p:spPr>
        <p:txBody>
          <a:bodyPr wrap="square">
            <a:spAutoFit/>
          </a:bodyPr>
          <a:lstStyle/>
          <a:p>
            <a:pPr algn="r"/>
            <a:r>
              <a:rPr lang="en-US" sz="2800" b="1" dirty="0">
                <a:latin typeface="Consolas" panose="020B0609020204030204" pitchFamily="49" charset="0"/>
                <a:cs typeface="Consolas" panose="020B0609020204030204" pitchFamily="49" charset="0"/>
              </a:rPr>
              <a:t>f(x)</a:t>
            </a:r>
          </a:p>
        </p:txBody>
      </p:sp>
      <p:sp>
        <p:nvSpPr>
          <p:cNvPr id="8" name="Rectangle 7">
            <a:extLst>
              <a:ext uri="{FF2B5EF4-FFF2-40B4-BE49-F238E27FC236}">
                <a16:creationId xmlns:a16="http://schemas.microsoft.com/office/drawing/2014/main" id="{28240CD9-F54F-EA4F-9493-789E8E5FF7ED}"/>
              </a:ext>
            </a:extLst>
          </p:cNvPr>
          <p:cNvSpPr/>
          <p:nvPr/>
        </p:nvSpPr>
        <p:spPr>
          <a:xfrm>
            <a:off x="457200" y="4278987"/>
            <a:ext cx="2971800" cy="523220"/>
          </a:xfrm>
          <a:prstGeom prst="rect">
            <a:avLst/>
          </a:prstGeom>
        </p:spPr>
        <p:txBody>
          <a:bodyPr wrap="square">
            <a:spAutoFit/>
          </a:bodyPr>
          <a:lstStyle/>
          <a:p>
            <a:pPr algn="r"/>
            <a:r>
              <a:rPr lang="en-US" sz="2800" b="1" dirty="0">
                <a:solidFill>
                  <a:srgbClr val="FF0000"/>
                </a:solidFill>
                <a:latin typeface="Consolas" panose="020B0609020204030204" pitchFamily="49" charset="0"/>
                <a:cs typeface="Consolas" panose="020B0609020204030204" pitchFamily="49" charset="0"/>
              </a:rPr>
              <a:t>while</a:t>
            </a:r>
            <a:r>
              <a:rPr lang="en-US" sz="2800" b="1" dirty="0">
                <a:latin typeface="Consolas" panose="020B0609020204030204" pitchFamily="49" charset="0"/>
                <a:cs typeface="Consolas" panose="020B0609020204030204" pitchFamily="49" charset="0"/>
              </a:rPr>
              <a:t>(x != </a:t>
            </a:r>
            <a:r>
              <a:rPr lang="en-US" sz="2800" b="1" dirty="0">
                <a:solidFill>
                  <a:schemeClr val="accent3">
                    <a:lumMod val="75000"/>
                  </a:schemeClr>
                </a:solidFill>
                <a:latin typeface="Consolas" panose="020B0609020204030204" pitchFamily="49" charset="0"/>
                <a:cs typeface="Consolas" panose="020B0609020204030204" pitchFamily="49" charset="0"/>
              </a:rPr>
              <a:t>10</a:t>
            </a:r>
            <a:r>
              <a:rPr lang="en-US" sz="2800" b="1" dirty="0">
                <a:latin typeface="Consolas" panose="020B0609020204030204" pitchFamily="49" charset="0"/>
                <a:cs typeface="Consolas" panose="020B0609020204030204" pitchFamily="49" charset="0"/>
              </a:rPr>
              <a:t>)</a:t>
            </a:r>
          </a:p>
        </p:txBody>
      </p:sp>
      <p:sp>
        <p:nvSpPr>
          <p:cNvPr id="9" name="Right Arrow 8">
            <a:extLst>
              <a:ext uri="{FF2B5EF4-FFF2-40B4-BE49-F238E27FC236}">
                <a16:creationId xmlns:a16="http://schemas.microsoft.com/office/drawing/2014/main" id="{F3CF0BA8-3C96-294E-9950-4C79D9A1086C}"/>
              </a:ext>
            </a:extLst>
          </p:cNvPr>
          <p:cNvSpPr/>
          <p:nvPr/>
        </p:nvSpPr>
        <p:spPr>
          <a:xfrm>
            <a:off x="3771900" y="1625143"/>
            <a:ext cx="609600" cy="52322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C060E0C-2569-E64D-B7CF-54E4EED580E7}"/>
              </a:ext>
            </a:extLst>
          </p:cNvPr>
          <p:cNvSpPr/>
          <p:nvPr/>
        </p:nvSpPr>
        <p:spPr>
          <a:xfrm>
            <a:off x="4724400" y="1409700"/>
            <a:ext cx="2971800" cy="954107"/>
          </a:xfrm>
          <a:prstGeom prst="rect">
            <a:avLst/>
          </a:prstGeom>
        </p:spPr>
        <p:txBody>
          <a:bodyPr wrap="square">
            <a:spAutoFit/>
          </a:bodyPr>
          <a:lstStyle/>
          <a:p>
            <a:r>
              <a:rPr lang="en-US" sz="2800" b="1" dirty="0">
                <a:solidFill>
                  <a:srgbClr val="FF0000"/>
                </a:solidFill>
                <a:latin typeface="Consolas" panose="020B0609020204030204" pitchFamily="49" charset="0"/>
                <a:cs typeface="Consolas" panose="020B0609020204030204" pitchFamily="49" charset="0"/>
              </a:rPr>
              <a:t>  </a:t>
            </a:r>
            <a:r>
              <a:rPr lang="en-US" sz="2800" b="1" dirty="0" err="1">
                <a:solidFill>
                  <a:srgbClr val="FF0000"/>
                </a:solidFill>
                <a:latin typeface="Consolas" panose="020B0609020204030204" pitchFamily="49" charset="0"/>
                <a:cs typeface="Consolas" panose="020B0609020204030204" pitchFamily="49" charset="0"/>
              </a:rPr>
              <a:t>lw</a:t>
            </a:r>
            <a:r>
              <a:rPr lang="en-US" sz="2800" b="1" dirty="0">
                <a:latin typeface="Consolas" panose="020B0609020204030204" pitchFamily="49" charset="0"/>
                <a:cs typeface="Consolas" panose="020B0609020204030204" pitchFamily="49" charset="0"/>
              </a:rPr>
              <a:t>  t0, y</a:t>
            </a:r>
          </a:p>
          <a:p>
            <a:r>
              <a:rPr lang="en-US" sz="2800" b="1" dirty="0">
                <a:solidFill>
                  <a:srgbClr val="FF0000"/>
                </a:solidFill>
                <a:latin typeface="Consolas" panose="020B0609020204030204" pitchFamily="49" charset="0"/>
                <a:cs typeface="Consolas" panose="020B0609020204030204" pitchFamily="49" charset="0"/>
              </a:rPr>
              <a:t>  </a:t>
            </a:r>
            <a:r>
              <a:rPr lang="en-US" sz="2800" b="1" dirty="0" err="1">
                <a:solidFill>
                  <a:srgbClr val="FF0000"/>
                </a:solidFill>
                <a:latin typeface="Consolas" panose="020B0609020204030204" pitchFamily="49" charset="0"/>
                <a:cs typeface="Consolas" panose="020B0609020204030204" pitchFamily="49" charset="0"/>
              </a:rPr>
              <a:t>sw</a:t>
            </a:r>
            <a:r>
              <a:rPr lang="en-US" sz="2800" b="1" dirty="0">
                <a:latin typeface="Consolas" panose="020B0609020204030204" pitchFamily="49" charset="0"/>
                <a:cs typeface="Consolas" panose="020B0609020204030204" pitchFamily="49" charset="0"/>
              </a:rPr>
              <a:t>  t0, x</a:t>
            </a:r>
          </a:p>
        </p:txBody>
      </p:sp>
      <p:sp>
        <p:nvSpPr>
          <p:cNvPr id="12" name="Rectangle 11">
            <a:extLst>
              <a:ext uri="{FF2B5EF4-FFF2-40B4-BE49-F238E27FC236}">
                <a16:creationId xmlns:a16="http://schemas.microsoft.com/office/drawing/2014/main" id="{B4A04876-396D-BF4E-81AE-B15EE34C8666}"/>
              </a:ext>
            </a:extLst>
          </p:cNvPr>
          <p:cNvSpPr/>
          <p:nvPr/>
        </p:nvSpPr>
        <p:spPr>
          <a:xfrm>
            <a:off x="4724400" y="2705100"/>
            <a:ext cx="2971800" cy="954107"/>
          </a:xfrm>
          <a:prstGeom prst="rect">
            <a:avLst/>
          </a:prstGeom>
        </p:spPr>
        <p:txBody>
          <a:bodyPr wrap="square">
            <a:spAutoFit/>
          </a:bodyPr>
          <a:lstStyle/>
          <a:p>
            <a:r>
              <a:rPr lang="en-US" sz="2800" b="1" dirty="0">
                <a:solidFill>
                  <a:srgbClr val="FF0000"/>
                </a:solidFill>
                <a:latin typeface="Consolas" panose="020B0609020204030204" pitchFamily="49" charset="0"/>
                <a:cs typeface="Consolas" panose="020B0609020204030204" pitchFamily="49" charset="0"/>
              </a:rPr>
              <a:t>  </a:t>
            </a:r>
            <a:r>
              <a:rPr lang="en-US" sz="2800" b="1" dirty="0" err="1">
                <a:solidFill>
                  <a:srgbClr val="FF0000"/>
                </a:solidFill>
                <a:latin typeface="Consolas" panose="020B0609020204030204" pitchFamily="49" charset="0"/>
                <a:cs typeface="Consolas" panose="020B0609020204030204" pitchFamily="49" charset="0"/>
              </a:rPr>
              <a:t>lw</a:t>
            </a:r>
            <a:r>
              <a:rPr lang="en-US" sz="2800" b="1" dirty="0">
                <a:latin typeface="Consolas" panose="020B0609020204030204" pitchFamily="49" charset="0"/>
                <a:cs typeface="Consolas" panose="020B0609020204030204" pitchFamily="49" charset="0"/>
              </a:rPr>
              <a:t>  a0, x</a:t>
            </a:r>
          </a:p>
          <a:p>
            <a:r>
              <a:rPr lang="en-US" sz="2800" b="1" dirty="0">
                <a:solidFill>
                  <a:srgbClr val="FF0000"/>
                </a:solidFill>
                <a:latin typeface="Consolas" panose="020B0609020204030204" pitchFamily="49" charset="0"/>
                <a:cs typeface="Consolas" panose="020B0609020204030204" pitchFamily="49" charset="0"/>
              </a:rPr>
              <a:t>  </a:t>
            </a:r>
            <a:r>
              <a:rPr lang="en-US" sz="2800" b="1" dirty="0" err="1">
                <a:solidFill>
                  <a:srgbClr val="FF0000"/>
                </a:solidFill>
                <a:latin typeface="Consolas" panose="020B0609020204030204" pitchFamily="49" charset="0"/>
                <a:cs typeface="Consolas" panose="020B0609020204030204" pitchFamily="49" charset="0"/>
              </a:rPr>
              <a:t>jal</a:t>
            </a:r>
            <a:r>
              <a:rPr lang="en-US" sz="2800" b="1" dirty="0">
                <a:latin typeface="Consolas" panose="020B0609020204030204" pitchFamily="49" charset="0"/>
                <a:cs typeface="Consolas" panose="020B0609020204030204" pitchFamily="49" charset="0"/>
              </a:rPr>
              <a:t> f</a:t>
            </a:r>
          </a:p>
        </p:txBody>
      </p:sp>
      <p:sp>
        <p:nvSpPr>
          <p:cNvPr id="13" name="Rectangle 12">
            <a:extLst>
              <a:ext uri="{FF2B5EF4-FFF2-40B4-BE49-F238E27FC236}">
                <a16:creationId xmlns:a16="http://schemas.microsoft.com/office/drawing/2014/main" id="{2F8FC20F-6E11-0A42-B24F-94001D8EF446}"/>
              </a:ext>
            </a:extLst>
          </p:cNvPr>
          <p:cNvSpPr/>
          <p:nvPr/>
        </p:nvSpPr>
        <p:spPr>
          <a:xfrm>
            <a:off x="4724400" y="3848100"/>
            <a:ext cx="3962400" cy="1384995"/>
          </a:xfrm>
          <a:prstGeom prst="rect">
            <a:avLst/>
          </a:prstGeom>
        </p:spPr>
        <p:txBody>
          <a:bodyPr wrap="square">
            <a:spAutoFit/>
          </a:bodyPr>
          <a:lstStyle/>
          <a:p>
            <a:r>
              <a:rPr lang="en-US" sz="2800" b="1" dirty="0">
                <a:latin typeface="Consolas" panose="020B0609020204030204" pitchFamily="49" charset="0"/>
                <a:cs typeface="Consolas" panose="020B0609020204030204" pitchFamily="49" charset="0"/>
              </a:rPr>
              <a:t>_top:</a:t>
            </a:r>
          </a:p>
          <a:p>
            <a:r>
              <a:rPr lang="en-US" sz="2800" b="1" dirty="0">
                <a:solidFill>
                  <a:srgbClr val="FF0000"/>
                </a:solidFill>
                <a:latin typeface="Consolas" panose="020B0609020204030204" pitchFamily="49" charset="0"/>
                <a:cs typeface="Consolas" panose="020B0609020204030204" pitchFamily="49" charset="0"/>
              </a:rPr>
              <a:t>  </a:t>
            </a:r>
            <a:r>
              <a:rPr lang="en-US" sz="2800" b="1" dirty="0" err="1">
                <a:solidFill>
                  <a:srgbClr val="FF0000"/>
                </a:solidFill>
                <a:latin typeface="Consolas" panose="020B0609020204030204" pitchFamily="49" charset="0"/>
                <a:cs typeface="Consolas" panose="020B0609020204030204" pitchFamily="49" charset="0"/>
              </a:rPr>
              <a:t>lw</a:t>
            </a:r>
            <a:r>
              <a:rPr lang="en-US" sz="2800" b="1" dirty="0">
                <a:latin typeface="Consolas" panose="020B0609020204030204" pitchFamily="49" charset="0"/>
                <a:cs typeface="Consolas" panose="020B0609020204030204" pitchFamily="49" charset="0"/>
              </a:rPr>
              <a:t>  t0, x</a:t>
            </a:r>
          </a:p>
          <a:p>
            <a:r>
              <a:rPr lang="en-US" sz="2800" b="1" dirty="0">
                <a:solidFill>
                  <a:srgbClr val="FF0000"/>
                </a:solidFill>
                <a:latin typeface="Consolas" panose="020B0609020204030204" pitchFamily="49" charset="0"/>
                <a:cs typeface="Consolas" panose="020B0609020204030204" pitchFamily="49" charset="0"/>
              </a:rPr>
              <a:t>  </a:t>
            </a:r>
            <a:r>
              <a:rPr lang="en-US" sz="2800" b="1" dirty="0" err="1">
                <a:solidFill>
                  <a:srgbClr val="FF0000"/>
                </a:solidFill>
                <a:latin typeface="Consolas" panose="020B0609020204030204" pitchFamily="49" charset="0"/>
                <a:cs typeface="Consolas" panose="020B0609020204030204" pitchFamily="49" charset="0"/>
              </a:rPr>
              <a:t>beq</a:t>
            </a:r>
            <a:r>
              <a:rPr lang="en-US" sz="2800" b="1" dirty="0">
                <a:latin typeface="Consolas" panose="020B0609020204030204" pitchFamily="49" charset="0"/>
                <a:cs typeface="Consolas" panose="020B0609020204030204" pitchFamily="49" charset="0"/>
              </a:rPr>
              <a:t> t0, </a:t>
            </a:r>
            <a:r>
              <a:rPr lang="en-US" sz="2800" b="1" dirty="0">
                <a:solidFill>
                  <a:schemeClr val="accent3">
                    <a:lumMod val="75000"/>
                  </a:schemeClr>
                </a:solidFill>
                <a:latin typeface="Consolas" panose="020B0609020204030204" pitchFamily="49" charset="0"/>
                <a:cs typeface="Consolas" panose="020B0609020204030204" pitchFamily="49" charset="0"/>
              </a:rPr>
              <a:t>10</a:t>
            </a:r>
            <a:r>
              <a:rPr lang="en-US" sz="2800" b="1" dirty="0">
                <a:latin typeface="Consolas" panose="020B0609020204030204" pitchFamily="49" charset="0"/>
                <a:cs typeface="Consolas" panose="020B0609020204030204" pitchFamily="49" charset="0"/>
              </a:rPr>
              <a:t>, _end</a:t>
            </a:r>
          </a:p>
        </p:txBody>
      </p:sp>
      <p:sp>
        <p:nvSpPr>
          <p:cNvPr id="15" name="Right Arrow 14">
            <a:extLst>
              <a:ext uri="{FF2B5EF4-FFF2-40B4-BE49-F238E27FC236}">
                <a16:creationId xmlns:a16="http://schemas.microsoft.com/office/drawing/2014/main" id="{B3F241A2-C1FC-1E4C-AA66-5E1D72D3D636}"/>
              </a:ext>
            </a:extLst>
          </p:cNvPr>
          <p:cNvSpPr/>
          <p:nvPr/>
        </p:nvSpPr>
        <p:spPr>
          <a:xfrm>
            <a:off x="3771900" y="2920543"/>
            <a:ext cx="609600" cy="52322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a:extLst>
              <a:ext uri="{FF2B5EF4-FFF2-40B4-BE49-F238E27FC236}">
                <a16:creationId xmlns:a16="http://schemas.microsoft.com/office/drawing/2014/main" id="{E62C0839-B24F-4846-B641-01B218033CCF}"/>
              </a:ext>
            </a:extLst>
          </p:cNvPr>
          <p:cNvSpPr/>
          <p:nvPr/>
        </p:nvSpPr>
        <p:spPr>
          <a:xfrm>
            <a:off x="3771900" y="4278987"/>
            <a:ext cx="609600" cy="52322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47803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animBg="1"/>
      <p:bldP spid="11" grpId="0"/>
      <p:bldP spid="12" grpId="0"/>
      <p:bldP spid="13" grpId="0"/>
      <p:bldP spid="15" grpId="0" animBg="1"/>
      <p:bldP spid="1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2146D-4A0A-C642-A48A-719F67C58EA6}"/>
              </a:ext>
            </a:extLst>
          </p:cNvPr>
          <p:cNvSpPr>
            <a:spLocks noGrp="1"/>
          </p:cNvSpPr>
          <p:nvPr>
            <p:ph type="title"/>
          </p:nvPr>
        </p:nvSpPr>
        <p:spPr/>
        <p:txBody>
          <a:bodyPr/>
          <a:lstStyle/>
          <a:p>
            <a:r>
              <a:rPr lang="en-US" dirty="0"/>
              <a:t>The ABI</a:t>
            </a:r>
          </a:p>
        </p:txBody>
      </p:sp>
      <p:sp>
        <p:nvSpPr>
          <p:cNvPr id="3" name="Content Placeholder 2">
            <a:extLst>
              <a:ext uri="{FF2B5EF4-FFF2-40B4-BE49-F238E27FC236}">
                <a16:creationId xmlns:a16="http://schemas.microsoft.com/office/drawing/2014/main" id="{3397C535-36EB-F241-BE2F-63682CBE5110}"/>
              </a:ext>
            </a:extLst>
          </p:cNvPr>
          <p:cNvSpPr>
            <a:spLocks noGrp="1"/>
          </p:cNvSpPr>
          <p:nvPr>
            <p:ph idx="1"/>
          </p:nvPr>
        </p:nvSpPr>
        <p:spPr/>
        <p:txBody>
          <a:bodyPr/>
          <a:lstStyle/>
          <a:p>
            <a:r>
              <a:rPr lang="en-US" dirty="0"/>
              <a:t>most programs run on computers with </a:t>
            </a:r>
            <a:r>
              <a:rPr lang="en-US" b="1" dirty="0"/>
              <a:t>operating systems.</a:t>
            </a:r>
          </a:p>
          <a:p>
            <a:pPr lvl="1"/>
            <a:r>
              <a:rPr lang="en-US" dirty="0"/>
              <a:t>even those that don't, have to interact with the hardware and </a:t>
            </a:r>
            <a:r>
              <a:rPr lang="en-US" i="1" dirty="0"/>
              <a:t>themselves </a:t>
            </a:r>
            <a:r>
              <a:rPr lang="en-US" dirty="0"/>
              <a:t>(e.g. one function calling another).</a:t>
            </a:r>
          </a:p>
          <a:p>
            <a:r>
              <a:rPr lang="en-US" dirty="0"/>
              <a:t>the </a:t>
            </a:r>
            <a:r>
              <a:rPr lang="en-US" b="1" dirty="0"/>
              <a:t>Application Binary Interface (ABI) </a:t>
            </a:r>
            <a:r>
              <a:rPr lang="en-US" dirty="0"/>
              <a:t>defines several things:</a:t>
            </a:r>
          </a:p>
          <a:p>
            <a:pPr lvl="1"/>
            <a:r>
              <a:rPr lang="en-US" dirty="0"/>
              <a:t>the </a:t>
            </a:r>
            <a:r>
              <a:rPr lang="en-US" b="1" dirty="0"/>
              <a:t>target language </a:t>
            </a:r>
            <a:r>
              <a:rPr lang="en-US" dirty="0"/>
              <a:t>– which in our case is a CPU ISA</a:t>
            </a:r>
          </a:p>
          <a:p>
            <a:pPr lvl="1"/>
            <a:r>
              <a:rPr lang="en-US" dirty="0"/>
              <a:t>the </a:t>
            </a:r>
            <a:r>
              <a:rPr lang="en-US" b="1" dirty="0"/>
              <a:t>calling convention(s), </a:t>
            </a:r>
            <a:r>
              <a:rPr lang="en-US" dirty="0"/>
              <a:t>which dictate how function calls work</a:t>
            </a:r>
          </a:p>
          <a:p>
            <a:pPr lvl="1"/>
            <a:r>
              <a:rPr lang="en-US" dirty="0"/>
              <a:t>the way values are </a:t>
            </a:r>
            <a:r>
              <a:rPr lang="en-US" b="1" dirty="0"/>
              <a:t>represented in memory</a:t>
            </a:r>
          </a:p>
          <a:p>
            <a:pPr lvl="1"/>
            <a:r>
              <a:rPr lang="en-US" dirty="0"/>
              <a:t>how </a:t>
            </a:r>
            <a:r>
              <a:rPr lang="en-US" b="1" dirty="0"/>
              <a:t>system calls </a:t>
            </a:r>
            <a:r>
              <a:rPr lang="en-US" dirty="0"/>
              <a:t>work, for interacting with the OS</a:t>
            </a:r>
          </a:p>
          <a:p>
            <a:pPr lvl="1"/>
            <a:r>
              <a:rPr lang="en-US" dirty="0"/>
              <a:t>where things are </a:t>
            </a:r>
            <a:r>
              <a:rPr lang="en-US" b="1" dirty="0"/>
              <a:t>located in memory</a:t>
            </a:r>
            <a:r>
              <a:rPr lang="en-US" dirty="0"/>
              <a:t> (stack, heap, </a:t>
            </a:r>
            <a:r>
              <a:rPr lang="en-US" dirty="0" err="1"/>
              <a:t>globals</a:t>
            </a:r>
            <a:r>
              <a:rPr lang="en-US" dirty="0"/>
              <a:t>, etc.)</a:t>
            </a:r>
          </a:p>
          <a:p>
            <a:pPr lvl="1"/>
            <a:r>
              <a:rPr lang="en-US" dirty="0"/>
              <a:t>how the code is </a:t>
            </a:r>
            <a:r>
              <a:rPr lang="en-US" b="1" dirty="0"/>
              <a:t>packaged into an executable file</a:t>
            </a:r>
          </a:p>
          <a:p>
            <a:pPr lvl="1"/>
            <a:r>
              <a:rPr lang="en-US" dirty="0"/>
              <a:t>and much more!</a:t>
            </a:r>
          </a:p>
        </p:txBody>
      </p:sp>
      <p:sp>
        <p:nvSpPr>
          <p:cNvPr id="4" name="Slide Number Placeholder 3">
            <a:extLst>
              <a:ext uri="{FF2B5EF4-FFF2-40B4-BE49-F238E27FC236}">
                <a16:creationId xmlns:a16="http://schemas.microsoft.com/office/drawing/2014/main" id="{67C90E24-E12B-894C-8F74-39D27B30BE7C}"/>
              </a:ext>
            </a:extLst>
          </p:cNvPr>
          <p:cNvSpPr>
            <a:spLocks noGrp="1"/>
          </p:cNvSpPr>
          <p:nvPr>
            <p:ph type="sldNum" sz="quarter" idx="12"/>
          </p:nvPr>
        </p:nvSpPr>
        <p:spPr/>
        <p:txBody>
          <a:bodyPr/>
          <a:lstStyle/>
          <a:p>
            <a:fld id="{3552B95B-556F-44BD-91A5-D80C1B9E2BB3}" type="slidenum">
              <a:rPr lang="en-US" smtClean="0"/>
              <a:pPr/>
              <a:t>14</a:t>
            </a:fld>
            <a:endParaRPr lang="en-US"/>
          </a:p>
        </p:txBody>
      </p:sp>
    </p:spTree>
    <p:extLst>
      <p:ext uri="{BB962C8B-B14F-4D97-AF65-F5344CB8AC3E}">
        <p14:creationId xmlns:p14="http://schemas.microsoft.com/office/powerpoint/2010/main" val="68859857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642C4-3A77-B24E-A0E1-37366E1ED22E}"/>
              </a:ext>
            </a:extLst>
          </p:cNvPr>
          <p:cNvSpPr>
            <a:spLocks noGrp="1"/>
          </p:cNvSpPr>
          <p:nvPr>
            <p:ph type="title"/>
          </p:nvPr>
        </p:nvSpPr>
        <p:spPr/>
        <p:txBody>
          <a:bodyPr/>
          <a:lstStyle/>
          <a:p>
            <a:r>
              <a:rPr lang="en-US" dirty="0"/>
              <a:t>The runtime library</a:t>
            </a:r>
          </a:p>
        </p:txBody>
      </p:sp>
      <p:sp>
        <p:nvSpPr>
          <p:cNvPr id="3" name="Content Placeholder 2">
            <a:extLst>
              <a:ext uri="{FF2B5EF4-FFF2-40B4-BE49-F238E27FC236}">
                <a16:creationId xmlns:a16="http://schemas.microsoft.com/office/drawing/2014/main" id="{EAC7A91D-3444-914B-AB7E-049E5F295059}"/>
              </a:ext>
            </a:extLst>
          </p:cNvPr>
          <p:cNvSpPr>
            <a:spLocks noGrp="1"/>
          </p:cNvSpPr>
          <p:nvPr>
            <p:ph idx="1"/>
          </p:nvPr>
        </p:nvSpPr>
        <p:spPr>
          <a:xfrm>
            <a:off x="152400" y="495301"/>
            <a:ext cx="8991600" cy="1066799"/>
          </a:xfrm>
        </p:spPr>
        <p:txBody>
          <a:bodyPr/>
          <a:lstStyle/>
          <a:p>
            <a:r>
              <a:rPr lang="en-US" dirty="0"/>
              <a:t>also called "the runtime," confusingly</a:t>
            </a:r>
          </a:p>
          <a:p>
            <a:r>
              <a:rPr lang="en-US" dirty="0"/>
              <a:t>it comes with your language; either statically or dynamically linked</a:t>
            </a:r>
          </a:p>
          <a:p>
            <a:pPr lvl="1"/>
            <a:r>
              <a:rPr lang="en-US" sz="1400" dirty="0"/>
              <a:t>for real why is 449 </a:t>
            </a:r>
            <a:r>
              <a:rPr lang="en-US" sz="1400" i="1" dirty="0"/>
              <a:t>not</a:t>
            </a:r>
            <a:r>
              <a:rPr lang="en-US" sz="1400" dirty="0"/>
              <a:t> a </a:t>
            </a:r>
            <a:r>
              <a:rPr lang="en-US" sz="1400" dirty="0" err="1"/>
              <a:t>prereq</a:t>
            </a:r>
            <a:r>
              <a:rPr lang="en-US" sz="1400" dirty="0"/>
              <a:t> for this course</a:t>
            </a:r>
          </a:p>
        </p:txBody>
      </p:sp>
      <p:sp>
        <p:nvSpPr>
          <p:cNvPr id="4" name="Slide Number Placeholder 3">
            <a:extLst>
              <a:ext uri="{FF2B5EF4-FFF2-40B4-BE49-F238E27FC236}">
                <a16:creationId xmlns:a16="http://schemas.microsoft.com/office/drawing/2014/main" id="{832DB39F-C8BF-D641-ADDF-E1C5223917EA}"/>
              </a:ext>
            </a:extLst>
          </p:cNvPr>
          <p:cNvSpPr>
            <a:spLocks noGrp="1"/>
          </p:cNvSpPr>
          <p:nvPr>
            <p:ph type="sldNum" sz="quarter" idx="12"/>
          </p:nvPr>
        </p:nvSpPr>
        <p:spPr/>
        <p:txBody>
          <a:bodyPr/>
          <a:lstStyle/>
          <a:p>
            <a:fld id="{3552B95B-556F-44BD-91A5-D80C1B9E2BB3}" type="slidenum">
              <a:rPr lang="en-US" smtClean="0"/>
              <a:pPr/>
              <a:t>15</a:t>
            </a:fld>
            <a:endParaRPr lang="en-US"/>
          </a:p>
        </p:txBody>
      </p:sp>
      <p:sp>
        <p:nvSpPr>
          <p:cNvPr id="5" name="Oval 4">
            <a:extLst>
              <a:ext uri="{FF2B5EF4-FFF2-40B4-BE49-F238E27FC236}">
                <a16:creationId xmlns:a16="http://schemas.microsoft.com/office/drawing/2014/main" id="{55F5CB04-B145-914A-9FDB-989ACCD4BD18}"/>
              </a:ext>
            </a:extLst>
          </p:cNvPr>
          <p:cNvSpPr/>
          <p:nvPr/>
        </p:nvSpPr>
        <p:spPr>
          <a:xfrm>
            <a:off x="315307" y="1638300"/>
            <a:ext cx="3342294" cy="383821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400" b="1" dirty="0"/>
              <a:t>Standard Library (</a:t>
            </a:r>
            <a:r>
              <a:rPr lang="en-US" sz="2400" b="1" dirty="0" err="1"/>
              <a:t>stdlib</a:t>
            </a:r>
            <a:r>
              <a:rPr lang="en-US" sz="2400" b="1" dirty="0"/>
              <a:t>)</a:t>
            </a:r>
          </a:p>
        </p:txBody>
      </p:sp>
      <p:sp>
        <p:nvSpPr>
          <p:cNvPr id="6" name="Oval 5">
            <a:extLst>
              <a:ext uri="{FF2B5EF4-FFF2-40B4-BE49-F238E27FC236}">
                <a16:creationId xmlns:a16="http://schemas.microsoft.com/office/drawing/2014/main" id="{206FB571-D3DE-F642-BFBB-E9901863E9F6}"/>
              </a:ext>
            </a:extLst>
          </p:cNvPr>
          <p:cNvSpPr/>
          <p:nvPr/>
        </p:nvSpPr>
        <p:spPr>
          <a:xfrm>
            <a:off x="990601" y="3238500"/>
            <a:ext cx="1981200" cy="1981199"/>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Runtime</a:t>
            </a:r>
          </a:p>
        </p:txBody>
      </p:sp>
      <p:sp>
        <p:nvSpPr>
          <p:cNvPr id="7" name="TextBox 6">
            <a:extLst>
              <a:ext uri="{FF2B5EF4-FFF2-40B4-BE49-F238E27FC236}">
                <a16:creationId xmlns:a16="http://schemas.microsoft.com/office/drawing/2014/main" id="{377E96E8-3FB8-6741-B162-7FC1234FA112}"/>
              </a:ext>
            </a:extLst>
          </p:cNvPr>
          <p:cNvSpPr txBox="1"/>
          <p:nvPr/>
        </p:nvSpPr>
        <p:spPr>
          <a:xfrm>
            <a:off x="3154680" y="1636836"/>
            <a:ext cx="5715000" cy="769441"/>
          </a:xfrm>
          <a:prstGeom prst="rect">
            <a:avLst/>
          </a:prstGeom>
          <a:noFill/>
        </p:spPr>
        <p:txBody>
          <a:bodyPr wrap="square" rtlCol="0">
            <a:spAutoFit/>
          </a:bodyPr>
          <a:lstStyle/>
          <a:p>
            <a:pPr algn="ctr"/>
            <a:r>
              <a:rPr lang="en-US" sz="2200" dirty="0"/>
              <a:t>the </a:t>
            </a:r>
            <a:r>
              <a:rPr lang="en-US" sz="2200" b="1" dirty="0"/>
              <a:t>standard library (</a:t>
            </a:r>
            <a:r>
              <a:rPr lang="en-US" sz="2200" b="1" dirty="0" err="1"/>
              <a:t>stdlib</a:t>
            </a:r>
            <a:r>
              <a:rPr lang="en-US" sz="2200" b="1" dirty="0"/>
              <a:t>) </a:t>
            </a:r>
            <a:r>
              <a:rPr lang="en-US" sz="2200" dirty="0"/>
              <a:t>has a set of useful, but </a:t>
            </a:r>
            <a:r>
              <a:rPr lang="en-US" sz="2200" i="1" dirty="0"/>
              <a:t>non-critical</a:t>
            </a:r>
            <a:r>
              <a:rPr lang="en-US" sz="2200" dirty="0"/>
              <a:t> functionality.</a:t>
            </a:r>
          </a:p>
        </p:txBody>
      </p:sp>
      <p:sp>
        <p:nvSpPr>
          <p:cNvPr id="8" name="TextBox 7">
            <a:extLst>
              <a:ext uri="{FF2B5EF4-FFF2-40B4-BE49-F238E27FC236}">
                <a16:creationId xmlns:a16="http://schemas.microsoft.com/office/drawing/2014/main" id="{C5E7C13D-0932-EA49-8950-3CD97DC47E3E}"/>
              </a:ext>
            </a:extLst>
          </p:cNvPr>
          <p:cNvSpPr txBox="1"/>
          <p:nvPr/>
        </p:nvSpPr>
        <p:spPr>
          <a:xfrm>
            <a:off x="3892978" y="2615522"/>
            <a:ext cx="5209194" cy="769441"/>
          </a:xfrm>
          <a:prstGeom prst="rect">
            <a:avLst/>
          </a:prstGeom>
          <a:noFill/>
        </p:spPr>
        <p:txBody>
          <a:bodyPr wrap="square" rtlCol="0">
            <a:spAutoFit/>
          </a:bodyPr>
          <a:lstStyle/>
          <a:p>
            <a:pPr algn="ctr"/>
            <a:r>
              <a:rPr lang="en-US" sz="2200" dirty="0"/>
              <a:t>the </a:t>
            </a:r>
            <a:r>
              <a:rPr lang="en-US" sz="2200" b="1" dirty="0"/>
              <a:t>runtime library </a:t>
            </a:r>
            <a:r>
              <a:rPr lang="en-US" sz="2200" dirty="0"/>
              <a:t>is </a:t>
            </a:r>
            <a:r>
              <a:rPr lang="en-US" sz="2200" i="1" dirty="0"/>
              <a:t>essential </a:t>
            </a:r>
            <a:r>
              <a:rPr lang="en-US" sz="2200" dirty="0"/>
              <a:t>to make </a:t>
            </a:r>
            <a:r>
              <a:rPr lang="en-US" sz="2200" i="1" dirty="0"/>
              <a:t>language</a:t>
            </a:r>
            <a:r>
              <a:rPr lang="en-US" sz="2200" dirty="0"/>
              <a:t> features work at run-time.</a:t>
            </a:r>
          </a:p>
        </p:txBody>
      </p:sp>
      <p:sp>
        <p:nvSpPr>
          <p:cNvPr id="10" name="TextBox 9">
            <a:extLst>
              <a:ext uri="{FF2B5EF4-FFF2-40B4-BE49-F238E27FC236}">
                <a16:creationId xmlns:a16="http://schemas.microsoft.com/office/drawing/2014/main" id="{DC82B473-5CCD-0549-9B05-895C37640E61}"/>
              </a:ext>
            </a:extLst>
          </p:cNvPr>
          <p:cNvSpPr txBox="1"/>
          <p:nvPr/>
        </p:nvSpPr>
        <p:spPr>
          <a:xfrm>
            <a:off x="3892978" y="3594209"/>
            <a:ext cx="4803647" cy="769441"/>
          </a:xfrm>
          <a:prstGeom prst="rect">
            <a:avLst/>
          </a:prstGeom>
          <a:noFill/>
        </p:spPr>
        <p:txBody>
          <a:bodyPr wrap="square" rtlCol="0">
            <a:spAutoFit/>
          </a:bodyPr>
          <a:lstStyle/>
          <a:p>
            <a:pPr algn="ctr"/>
            <a:r>
              <a:rPr lang="en-US" sz="2200" dirty="0"/>
              <a:t>in Rust, the runtime is called "</a:t>
            </a:r>
            <a:r>
              <a:rPr lang="en-US" sz="2200" b="1" dirty="0"/>
              <a:t>core</a:t>
            </a:r>
            <a:r>
              <a:rPr lang="en-US" sz="2200" dirty="0"/>
              <a:t>", and the standard library is "</a:t>
            </a:r>
            <a:r>
              <a:rPr lang="en-US" sz="2200" b="1" dirty="0" err="1"/>
              <a:t>std</a:t>
            </a:r>
            <a:r>
              <a:rPr lang="en-US" sz="2200" dirty="0"/>
              <a:t>".</a:t>
            </a:r>
          </a:p>
        </p:txBody>
      </p:sp>
      <p:sp>
        <p:nvSpPr>
          <p:cNvPr id="11" name="TextBox 10">
            <a:extLst>
              <a:ext uri="{FF2B5EF4-FFF2-40B4-BE49-F238E27FC236}">
                <a16:creationId xmlns:a16="http://schemas.microsoft.com/office/drawing/2014/main" id="{0295FB8F-AA10-D543-AAED-5CD70B34E4B4}"/>
              </a:ext>
            </a:extLst>
          </p:cNvPr>
          <p:cNvSpPr txBox="1"/>
          <p:nvPr/>
        </p:nvSpPr>
        <p:spPr>
          <a:xfrm>
            <a:off x="3447289" y="4626667"/>
            <a:ext cx="5449823" cy="430887"/>
          </a:xfrm>
          <a:prstGeom prst="rect">
            <a:avLst/>
          </a:prstGeom>
          <a:noFill/>
        </p:spPr>
        <p:txBody>
          <a:bodyPr wrap="square" rtlCol="0">
            <a:spAutoFit/>
          </a:bodyPr>
          <a:lstStyle/>
          <a:p>
            <a:pPr algn="ctr"/>
            <a:r>
              <a:rPr lang="en-US" sz="2200" dirty="0"/>
              <a:t>in a lot of languages, the line is… blurrier.</a:t>
            </a:r>
          </a:p>
        </p:txBody>
      </p:sp>
    </p:spTree>
    <p:extLst>
      <p:ext uri="{BB962C8B-B14F-4D97-AF65-F5344CB8AC3E}">
        <p14:creationId xmlns:p14="http://schemas.microsoft.com/office/powerpoint/2010/main" val="9308276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p:bldP spid="10"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97149-82FF-964A-A489-8BC22CC5C9F6}"/>
              </a:ext>
            </a:extLst>
          </p:cNvPr>
          <p:cNvSpPr>
            <a:spLocks noGrp="1"/>
          </p:cNvSpPr>
          <p:nvPr>
            <p:ph type="title"/>
          </p:nvPr>
        </p:nvSpPr>
        <p:spPr/>
        <p:txBody>
          <a:bodyPr/>
          <a:lstStyle/>
          <a:p>
            <a:r>
              <a:rPr lang="en-US" dirty="0"/>
              <a:t>Putting it all together</a:t>
            </a:r>
          </a:p>
        </p:txBody>
      </p:sp>
      <p:sp>
        <p:nvSpPr>
          <p:cNvPr id="3" name="Content Placeholder 2">
            <a:extLst>
              <a:ext uri="{FF2B5EF4-FFF2-40B4-BE49-F238E27FC236}">
                <a16:creationId xmlns:a16="http://schemas.microsoft.com/office/drawing/2014/main" id="{D446E28B-D45A-C740-BF38-65A496C859AB}"/>
              </a:ext>
            </a:extLst>
          </p:cNvPr>
          <p:cNvSpPr>
            <a:spLocks noGrp="1"/>
          </p:cNvSpPr>
          <p:nvPr>
            <p:ph idx="1"/>
          </p:nvPr>
        </p:nvSpPr>
        <p:spPr>
          <a:xfrm>
            <a:off x="152400" y="495302"/>
            <a:ext cx="8991600" cy="495300"/>
          </a:xfrm>
        </p:spPr>
        <p:txBody>
          <a:bodyPr/>
          <a:lstStyle/>
          <a:p>
            <a:r>
              <a:rPr lang="en-US" dirty="0"/>
              <a:t>to sum up:</a:t>
            </a:r>
          </a:p>
        </p:txBody>
      </p:sp>
      <p:sp>
        <p:nvSpPr>
          <p:cNvPr id="4" name="Slide Number Placeholder 3">
            <a:extLst>
              <a:ext uri="{FF2B5EF4-FFF2-40B4-BE49-F238E27FC236}">
                <a16:creationId xmlns:a16="http://schemas.microsoft.com/office/drawing/2014/main" id="{6444BF4F-7BE0-E847-90D9-F30EC06137CD}"/>
              </a:ext>
            </a:extLst>
          </p:cNvPr>
          <p:cNvSpPr>
            <a:spLocks noGrp="1"/>
          </p:cNvSpPr>
          <p:nvPr>
            <p:ph type="sldNum" sz="quarter" idx="12"/>
          </p:nvPr>
        </p:nvSpPr>
        <p:spPr/>
        <p:txBody>
          <a:bodyPr/>
          <a:lstStyle/>
          <a:p>
            <a:fld id="{3552B95B-556F-44BD-91A5-D80C1B9E2BB3}" type="slidenum">
              <a:rPr lang="en-US" smtClean="0"/>
              <a:pPr/>
              <a:t>16</a:t>
            </a:fld>
            <a:endParaRPr lang="en-US"/>
          </a:p>
        </p:txBody>
      </p:sp>
      <p:sp>
        <p:nvSpPr>
          <p:cNvPr id="5" name="Rectangle 4">
            <a:extLst>
              <a:ext uri="{FF2B5EF4-FFF2-40B4-BE49-F238E27FC236}">
                <a16:creationId xmlns:a16="http://schemas.microsoft.com/office/drawing/2014/main" id="{4C840C67-781F-BB41-82B9-7E3D67880BE1}"/>
              </a:ext>
            </a:extLst>
          </p:cNvPr>
          <p:cNvSpPr/>
          <p:nvPr/>
        </p:nvSpPr>
        <p:spPr>
          <a:xfrm>
            <a:off x="-609600" y="1232545"/>
            <a:ext cx="3505200" cy="2209800"/>
          </a:xfrm>
          <a:prstGeom prst="rect">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400" b="1" dirty="0">
                <a:solidFill>
                  <a:schemeClr val="tx1"/>
                </a:solidFill>
              </a:rPr>
              <a:t>Compiler</a:t>
            </a:r>
          </a:p>
        </p:txBody>
      </p:sp>
      <p:sp>
        <p:nvSpPr>
          <p:cNvPr id="6" name="Right Arrow 5">
            <a:extLst>
              <a:ext uri="{FF2B5EF4-FFF2-40B4-BE49-F238E27FC236}">
                <a16:creationId xmlns:a16="http://schemas.microsoft.com/office/drawing/2014/main" id="{EDA96C29-9938-E54F-B781-D1420BA77383}"/>
              </a:ext>
            </a:extLst>
          </p:cNvPr>
          <p:cNvSpPr/>
          <p:nvPr/>
        </p:nvSpPr>
        <p:spPr>
          <a:xfrm>
            <a:off x="-76200" y="2208724"/>
            <a:ext cx="914400" cy="52322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lternate Process 6">
            <a:extLst>
              <a:ext uri="{FF2B5EF4-FFF2-40B4-BE49-F238E27FC236}">
                <a16:creationId xmlns:a16="http://schemas.microsoft.com/office/drawing/2014/main" id="{C6B9ED6E-9F9B-1E4B-B181-12C6F40EF35E}"/>
              </a:ext>
            </a:extLst>
          </p:cNvPr>
          <p:cNvSpPr/>
          <p:nvPr/>
        </p:nvSpPr>
        <p:spPr>
          <a:xfrm>
            <a:off x="838200" y="1765945"/>
            <a:ext cx="1600200" cy="1543581"/>
          </a:xfrm>
          <a:prstGeom prst="flowChartAlternateProcess">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t>Backend</a:t>
            </a:r>
          </a:p>
        </p:txBody>
      </p:sp>
      <p:sp>
        <p:nvSpPr>
          <p:cNvPr id="8" name="Right Arrow 7">
            <a:extLst>
              <a:ext uri="{FF2B5EF4-FFF2-40B4-BE49-F238E27FC236}">
                <a16:creationId xmlns:a16="http://schemas.microsoft.com/office/drawing/2014/main" id="{180AD4A0-1BD3-0041-8D76-16B1FA0CDB21}"/>
              </a:ext>
            </a:extLst>
          </p:cNvPr>
          <p:cNvSpPr/>
          <p:nvPr/>
        </p:nvSpPr>
        <p:spPr>
          <a:xfrm>
            <a:off x="2438400" y="2199925"/>
            <a:ext cx="914400" cy="52322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3365660-0F14-9741-B296-D23299098047}"/>
              </a:ext>
            </a:extLst>
          </p:cNvPr>
          <p:cNvSpPr/>
          <p:nvPr/>
        </p:nvSpPr>
        <p:spPr>
          <a:xfrm>
            <a:off x="3352800" y="2299345"/>
            <a:ext cx="1600200" cy="1086382"/>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t>Executable Program</a:t>
            </a:r>
          </a:p>
        </p:txBody>
      </p:sp>
      <p:sp>
        <p:nvSpPr>
          <p:cNvPr id="11" name="TextBox 10">
            <a:extLst>
              <a:ext uri="{FF2B5EF4-FFF2-40B4-BE49-F238E27FC236}">
                <a16:creationId xmlns:a16="http://schemas.microsoft.com/office/drawing/2014/main" id="{56FB9C76-2644-5B40-BA2D-C12DE4CCFEED}"/>
              </a:ext>
            </a:extLst>
          </p:cNvPr>
          <p:cNvSpPr txBox="1"/>
          <p:nvPr/>
        </p:nvSpPr>
        <p:spPr>
          <a:xfrm>
            <a:off x="-39620" y="1786707"/>
            <a:ext cx="877820" cy="430887"/>
          </a:xfrm>
          <a:prstGeom prst="rect">
            <a:avLst/>
          </a:prstGeom>
          <a:noFill/>
        </p:spPr>
        <p:txBody>
          <a:bodyPr wrap="square" rtlCol="0">
            <a:spAutoFit/>
          </a:bodyPr>
          <a:lstStyle/>
          <a:p>
            <a:pPr algn="ctr"/>
            <a:r>
              <a:rPr lang="en-US" sz="2200" b="1" dirty="0"/>
              <a:t>AST</a:t>
            </a:r>
          </a:p>
        </p:txBody>
      </p:sp>
      <p:sp>
        <p:nvSpPr>
          <p:cNvPr id="12" name="TextBox 11">
            <a:extLst>
              <a:ext uri="{FF2B5EF4-FFF2-40B4-BE49-F238E27FC236}">
                <a16:creationId xmlns:a16="http://schemas.microsoft.com/office/drawing/2014/main" id="{375B2828-5A43-0146-8522-F6ACE287ACEE}"/>
              </a:ext>
            </a:extLst>
          </p:cNvPr>
          <p:cNvSpPr txBox="1"/>
          <p:nvPr/>
        </p:nvSpPr>
        <p:spPr>
          <a:xfrm>
            <a:off x="152400" y="3507110"/>
            <a:ext cx="3432040" cy="1446550"/>
          </a:xfrm>
          <a:prstGeom prst="rect">
            <a:avLst/>
          </a:prstGeom>
          <a:noFill/>
        </p:spPr>
        <p:txBody>
          <a:bodyPr wrap="square" rtlCol="0">
            <a:spAutoFit/>
          </a:bodyPr>
          <a:lstStyle/>
          <a:p>
            <a:pPr algn="ctr"/>
            <a:r>
              <a:rPr lang="en-US" sz="2200" dirty="0"/>
              <a:t>the backend generates machine code and puts it in an executable which </a:t>
            </a:r>
            <a:r>
              <a:rPr lang="en-US" sz="2200" b="1" dirty="0"/>
              <a:t>conforms to the ABI.</a:t>
            </a:r>
          </a:p>
        </p:txBody>
      </p:sp>
      <p:sp>
        <p:nvSpPr>
          <p:cNvPr id="13" name="Rectangle 12">
            <a:extLst>
              <a:ext uri="{FF2B5EF4-FFF2-40B4-BE49-F238E27FC236}">
                <a16:creationId xmlns:a16="http://schemas.microsoft.com/office/drawing/2014/main" id="{F7B78E2E-0FE1-8047-9850-225E4EFB3693}"/>
              </a:ext>
            </a:extLst>
          </p:cNvPr>
          <p:cNvSpPr/>
          <p:nvPr/>
        </p:nvSpPr>
        <p:spPr>
          <a:xfrm>
            <a:off x="3352800" y="1481907"/>
            <a:ext cx="1600200" cy="81743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t>Runtime Library</a:t>
            </a:r>
          </a:p>
        </p:txBody>
      </p:sp>
      <p:sp>
        <p:nvSpPr>
          <p:cNvPr id="15" name="TextBox 14">
            <a:extLst>
              <a:ext uri="{FF2B5EF4-FFF2-40B4-BE49-F238E27FC236}">
                <a16:creationId xmlns:a16="http://schemas.microsoft.com/office/drawing/2014/main" id="{9A61A919-FE66-D240-A790-EC1AED05CC87}"/>
              </a:ext>
            </a:extLst>
          </p:cNvPr>
          <p:cNvSpPr txBox="1"/>
          <p:nvPr/>
        </p:nvSpPr>
        <p:spPr>
          <a:xfrm>
            <a:off x="2933700" y="1028700"/>
            <a:ext cx="4343400" cy="338554"/>
          </a:xfrm>
          <a:prstGeom prst="rect">
            <a:avLst/>
          </a:prstGeom>
          <a:noFill/>
        </p:spPr>
        <p:txBody>
          <a:bodyPr wrap="square" rtlCol="0">
            <a:spAutoFit/>
          </a:bodyPr>
          <a:lstStyle/>
          <a:p>
            <a:pPr algn="ctr"/>
            <a:r>
              <a:rPr lang="en-US" sz="1600" dirty="0"/>
              <a:t>(the runtime library might piggy-back on it.)</a:t>
            </a:r>
          </a:p>
        </p:txBody>
      </p:sp>
      <p:sp>
        <p:nvSpPr>
          <p:cNvPr id="16" name="TextBox 15">
            <a:extLst>
              <a:ext uri="{FF2B5EF4-FFF2-40B4-BE49-F238E27FC236}">
                <a16:creationId xmlns:a16="http://schemas.microsoft.com/office/drawing/2014/main" id="{C14E0521-AD81-434D-A828-D6558384CAE8}"/>
              </a:ext>
            </a:extLst>
          </p:cNvPr>
          <p:cNvSpPr txBox="1"/>
          <p:nvPr/>
        </p:nvSpPr>
        <p:spPr>
          <a:xfrm>
            <a:off x="5105400" y="1644198"/>
            <a:ext cx="3810000" cy="1446550"/>
          </a:xfrm>
          <a:prstGeom prst="rect">
            <a:avLst/>
          </a:prstGeom>
          <a:noFill/>
        </p:spPr>
        <p:txBody>
          <a:bodyPr wrap="square" rtlCol="0">
            <a:spAutoFit/>
          </a:bodyPr>
          <a:lstStyle/>
          <a:p>
            <a:pPr algn="ctr"/>
            <a:r>
              <a:rPr lang="en-US" sz="2200" dirty="0"/>
              <a:t>when executed, the </a:t>
            </a:r>
            <a:r>
              <a:rPr lang="en-US" sz="2200" b="1" dirty="0"/>
              <a:t>runtime library </a:t>
            </a:r>
            <a:r>
              <a:rPr lang="en-US" sz="2200" dirty="0"/>
              <a:t>handles the source-language features which </a:t>
            </a:r>
            <a:r>
              <a:rPr lang="en-US" sz="2200" b="1" dirty="0"/>
              <a:t>don't exist on the target.</a:t>
            </a:r>
          </a:p>
        </p:txBody>
      </p:sp>
      <p:sp>
        <p:nvSpPr>
          <p:cNvPr id="19" name="TextBox 18">
            <a:extLst>
              <a:ext uri="{FF2B5EF4-FFF2-40B4-BE49-F238E27FC236}">
                <a16:creationId xmlns:a16="http://schemas.microsoft.com/office/drawing/2014/main" id="{91C8D3AD-BA28-0940-8674-A74BF0BDA879}"/>
              </a:ext>
            </a:extLst>
          </p:cNvPr>
          <p:cNvSpPr txBox="1"/>
          <p:nvPr/>
        </p:nvSpPr>
        <p:spPr>
          <a:xfrm>
            <a:off x="4572000" y="3970846"/>
            <a:ext cx="4114800" cy="769441"/>
          </a:xfrm>
          <a:prstGeom prst="rect">
            <a:avLst/>
          </a:prstGeom>
          <a:noFill/>
        </p:spPr>
        <p:txBody>
          <a:bodyPr wrap="square" rtlCol="0">
            <a:spAutoFit/>
          </a:bodyPr>
          <a:lstStyle/>
          <a:p>
            <a:pPr algn="ctr"/>
            <a:r>
              <a:rPr lang="en-US" sz="2200" dirty="0" err="1"/>
              <a:t>uhh</a:t>
            </a:r>
            <a:r>
              <a:rPr lang="en-US" sz="2200" dirty="0"/>
              <a:t>… so how is this code generated, anyway?</a:t>
            </a:r>
            <a:endParaRPr lang="en-US" sz="2200" b="1" dirty="0"/>
          </a:p>
        </p:txBody>
      </p:sp>
    </p:spTree>
    <p:extLst>
      <p:ext uri="{BB962C8B-B14F-4D97-AF65-F5344CB8AC3E}">
        <p14:creationId xmlns:p14="http://schemas.microsoft.com/office/powerpoint/2010/main" val="28210694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p:bldP spid="12" grpId="0"/>
      <p:bldP spid="13" grpId="0" animBg="1"/>
      <p:bldP spid="15" grpId="0"/>
      <p:bldP spid="16" grpId="0"/>
      <p:bldP spid="1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8F996-C363-B34B-BBAC-7697DABBBEDC}"/>
              </a:ext>
            </a:extLst>
          </p:cNvPr>
          <p:cNvSpPr>
            <a:spLocks noGrp="1"/>
          </p:cNvSpPr>
          <p:nvPr>
            <p:ph type="ctrTitle"/>
          </p:nvPr>
        </p:nvSpPr>
        <p:spPr/>
        <p:txBody>
          <a:bodyPr/>
          <a:lstStyle/>
          <a:p>
            <a:r>
              <a:rPr lang="en-US" dirty="0" err="1"/>
              <a:t>Codegen</a:t>
            </a:r>
            <a:endParaRPr lang="en-US" dirty="0"/>
          </a:p>
        </p:txBody>
      </p:sp>
      <p:sp>
        <p:nvSpPr>
          <p:cNvPr id="3" name="Slide Number Placeholder 2">
            <a:extLst>
              <a:ext uri="{FF2B5EF4-FFF2-40B4-BE49-F238E27FC236}">
                <a16:creationId xmlns:a16="http://schemas.microsoft.com/office/drawing/2014/main" id="{5770E820-D7B9-D748-8CA9-5173B45D7BB6}"/>
              </a:ext>
            </a:extLst>
          </p:cNvPr>
          <p:cNvSpPr>
            <a:spLocks noGrp="1"/>
          </p:cNvSpPr>
          <p:nvPr>
            <p:ph type="sldNum" sz="quarter" idx="12"/>
          </p:nvPr>
        </p:nvSpPr>
        <p:spPr/>
        <p:txBody>
          <a:bodyPr/>
          <a:lstStyle/>
          <a:p>
            <a:fld id="{3552B95B-556F-44BD-91A5-D80C1B9E2BB3}" type="slidenum">
              <a:rPr lang="en-US" smtClean="0"/>
              <a:pPr/>
              <a:t>17</a:t>
            </a:fld>
            <a:endParaRPr lang="en-US"/>
          </a:p>
        </p:txBody>
      </p:sp>
    </p:spTree>
    <p:extLst>
      <p:ext uri="{BB962C8B-B14F-4D97-AF65-F5344CB8AC3E}">
        <p14:creationId xmlns:p14="http://schemas.microsoft.com/office/powerpoint/2010/main" val="55423304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59248-EDA0-E44C-855B-FC811820A936}"/>
              </a:ext>
            </a:extLst>
          </p:cNvPr>
          <p:cNvSpPr>
            <a:spLocks noGrp="1"/>
          </p:cNvSpPr>
          <p:nvPr>
            <p:ph type="title"/>
          </p:nvPr>
        </p:nvSpPr>
        <p:spPr/>
        <p:txBody>
          <a:bodyPr/>
          <a:lstStyle/>
          <a:p>
            <a:r>
              <a:rPr lang="en-US" dirty="0"/>
              <a:t>How do you eat an elephant?</a:t>
            </a:r>
          </a:p>
        </p:txBody>
      </p:sp>
      <p:sp>
        <p:nvSpPr>
          <p:cNvPr id="3" name="Content Placeholder 2">
            <a:extLst>
              <a:ext uri="{FF2B5EF4-FFF2-40B4-BE49-F238E27FC236}">
                <a16:creationId xmlns:a16="http://schemas.microsoft.com/office/drawing/2014/main" id="{331EB229-D2F0-8847-847C-9DD028FE44F9}"/>
              </a:ext>
            </a:extLst>
          </p:cNvPr>
          <p:cNvSpPr>
            <a:spLocks noGrp="1"/>
          </p:cNvSpPr>
          <p:nvPr>
            <p:ph idx="1"/>
          </p:nvPr>
        </p:nvSpPr>
        <p:spPr>
          <a:xfrm>
            <a:off x="152400" y="495301"/>
            <a:ext cx="8991600" cy="914399"/>
          </a:xfrm>
        </p:spPr>
        <p:txBody>
          <a:bodyPr/>
          <a:lstStyle/>
          <a:p>
            <a:r>
              <a:rPr lang="en-US" b="1" dirty="0" err="1"/>
              <a:t>codegen</a:t>
            </a:r>
            <a:r>
              <a:rPr lang="en-US" dirty="0"/>
              <a:t> seems like a giant problem with no easy place to start.</a:t>
            </a:r>
          </a:p>
          <a:p>
            <a:r>
              <a:rPr lang="en-US" dirty="0"/>
              <a:t>but </a:t>
            </a:r>
            <a:r>
              <a:rPr lang="en-US" i="1" dirty="0"/>
              <a:t>any</a:t>
            </a:r>
            <a:r>
              <a:rPr lang="en-US" dirty="0"/>
              <a:t> problem can be broken down into smaller ones.</a:t>
            </a:r>
          </a:p>
        </p:txBody>
      </p:sp>
      <p:sp>
        <p:nvSpPr>
          <p:cNvPr id="4" name="Slide Number Placeholder 3">
            <a:extLst>
              <a:ext uri="{FF2B5EF4-FFF2-40B4-BE49-F238E27FC236}">
                <a16:creationId xmlns:a16="http://schemas.microsoft.com/office/drawing/2014/main" id="{DB1C75BC-CB57-1D43-8080-DB67601B22D3}"/>
              </a:ext>
            </a:extLst>
          </p:cNvPr>
          <p:cNvSpPr>
            <a:spLocks noGrp="1"/>
          </p:cNvSpPr>
          <p:nvPr>
            <p:ph type="sldNum" sz="quarter" idx="12"/>
          </p:nvPr>
        </p:nvSpPr>
        <p:spPr/>
        <p:txBody>
          <a:bodyPr/>
          <a:lstStyle/>
          <a:p>
            <a:fld id="{3552B95B-556F-44BD-91A5-D80C1B9E2BB3}" type="slidenum">
              <a:rPr lang="en-US" smtClean="0"/>
              <a:pPr/>
              <a:t>18</a:t>
            </a:fld>
            <a:endParaRPr lang="en-US"/>
          </a:p>
        </p:txBody>
      </p:sp>
      <p:sp>
        <p:nvSpPr>
          <p:cNvPr id="5" name="TextBox 4">
            <a:extLst>
              <a:ext uri="{FF2B5EF4-FFF2-40B4-BE49-F238E27FC236}">
                <a16:creationId xmlns:a16="http://schemas.microsoft.com/office/drawing/2014/main" id="{F79C6ADF-FA11-B248-A708-7BAF40103451}"/>
              </a:ext>
            </a:extLst>
          </p:cNvPr>
          <p:cNvSpPr txBox="1"/>
          <p:nvPr/>
        </p:nvSpPr>
        <p:spPr>
          <a:xfrm>
            <a:off x="152400" y="1390650"/>
            <a:ext cx="4229100" cy="769441"/>
          </a:xfrm>
          <a:prstGeom prst="rect">
            <a:avLst/>
          </a:prstGeom>
          <a:noFill/>
        </p:spPr>
        <p:txBody>
          <a:bodyPr wrap="square" rtlCol="0">
            <a:spAutoFit/>
          </a:bodyPr>
          <a:lstStyle/>
          <a:p>
            <a:pPr algn="ctr"/>
            <a:r>
              <a:rPr lang="en-US" sz="2200" dirty="0"/>
              <a:t>a lot of it is </a:t>
            </a:r>
            <a:r>
              <a:rPr lang="en-US" sz="2200" b="1" dirty="0"/>
              <a:t>filling in templates, </a:t>
            </a:r>
            <a:r>
              <a:rPr lang="en-US" sz="2200" dirty="0"/>
              <a:t>like mad libs for code.</a:t>
            </a:r>
            <a:endParaRPr lang="en-US" sz="2200" b="1" dirty="0"/>
          </a:p>
        </p:txBody>
      </p:sp>
      <p:sp>
        <p:nvSpPr>
          <p:cNvPr id="6" name="Rectangle 5">
            <a:extLst>
              <a:ext uri="{FF2B5EF4-FFF2-40B4-BE49-F238E27FC236}">
                <a16:creationId xmlns:a16="http://schemas.microsoft.com/office/drawing/2014/main" id="{3A5F3E8A-7605-6A49-BF11-FC71C271D8BF}"/>
              </a:ext>
            </a:extLst>
          </p:cNvPr>
          <p:cNvSpPr/>
          <p:nvPr/>
        </p:nvSpPr>
        <p:spPr>
          <a:xfrm>
            <a:off x="847725" y="2171700"/>
            <a:ext cx="2324100" cy="1015663"/>
          </a:xfrm>
          <a:prstGeom prst="rect">
            <a:avLst/>
          </a:prstGeom>
        </p:spPr>
        <p:txBody>
          <a:bodyPr wrap="square">
            <a:spAutoFit/>
          </a:bodyPr>
          <a:lstStyle/>
          <a:p>
            <a:r>
              <a:rPr lang="en-US" sz="2000" b="1" dirty="0">
                <a:solidFill>
                  <a:srgbClr val="FF0000"/>
                </a:solidFill>
                <a:latin typeface="Consolas" panose="020B0609020204030204" pitchFamily="49" charset="0"/>
                <a:cs typeface="Consolas" panose="020B0609020204030204" pitchFamily="49" charset="0"/>
              </a:rPr>
              <a:t>while</a:t>
            </a:r>
            <a:r>
              <a:rPr lang="en-US" sz="2000" b="1" dirty="0">
                <a:latin typeface="Consolas" panose="020B0609020204030204" pitchFamily="49" charset="0"/>
                <a:cs typeface="Consolas" panose="020B0609020204030204" pitchFamily="49" charset="0"/>
              </a:rPr>
              <a:t> </a:t>
            </a:r>
            <a:r>
              <a:rPr lang="en-US" sz="2000" b="1" dirty="0" err="1">
                <a:highlight>
                  <a:srgbClr val="FFFF00"/>
                </a:highlight>
                <a:latin typeface="Consolas" panose="020B0609020204030204" pitchFamily="49" charset="0"/>
                <a:cs typeface="Consolas" panose="020B0609020204030204" pitchFamily="49" charset="0"/>
              </a:rPr>
              <a:t>cond</a:t>
            </a:r>
            <a:r>
              <a:rPr lang="en-US" sz="2000" b="1" dirty="0">
                <a:latin typeface="Consolas" panose="020B0609020204030204" pitchFamily="49" charset="0"/>
                <a:cs typeface="Consolas" panose="020B0609020204030204" pitchFamily="49" charset="0"/>
              </a:rPr>
              <a:t> {</a:t>
            </a:r>
            <a:br>
              <a:rPr lang="en-US" sz="2000" b="1" dirty="0">
                <a:latin typeface="Consolas" panose="020B0609020204030204" pitchFamily="49" charset="0"/>
                <a:cs typeface="Consolas" panose="020B0609020204030204" pitchFamily="49" charset="0"/>
              </a:rPr>
            </a:br>
            <a:r>
              <a:rPr lang="en-US" sz="2000" b="1" dirty="0">
                <a:latin typeface="Consolas" panose="020B0609020204030204" pitchFamily="49" charset="0"/>
                <a:cs typeface="Consolas" panose="020B0609020204030204" pitchFamily="49" charset="0"/>
              </a:rPr>
              <a:t>  </a:t>
            </a:r>
            <a:r>
              <a:rPr lang="en-US" sz="2000" b="1" dirty="0">
                <a:highlight>
                  <a:srgbClr val="00FFFF"/>
                </a:highlight>
                <a:latin typeface="Consolas" panose="020B0609020204030204" pitchFamily="49" charset="0"/>
                <a:cs typeface="Consolas" panose="020B0609020204030204" pitchFamily="49" charset="0"/>
              </a:rPr>
              <a:t>code</a:t>
            </a:r>
          </a:p>
          <a:p>
            <a:r>
              <a:rPr lang="en-US" sz="2000" b="1" dirty="0">
                <a:latin typeface="Consolas" panose="020B0609020204030204" pitchFamily="49" charset="0"/>
                <a:cs typeface="Consolas" panose="020B0609020204030204" pitchFamily="49" charset="0"/>
              </a:rPr>
              <a:t>}</a:t>
            </a:r>
          </a:p>
        </p:txBody>
      </p:sp>
      <p:sp>
        <p:nvSpPr>
          <p:cNvPr id="7" name="Right Arrow 6">
            <a:extLst>
              <a:ext uri="{FF2B5EF4-FFF2-40B4-BE49-F238E27FC236}">
                <a16:creationId xmlns:a16="http://schemas.microsoft.com/office/drawing/2014/main" id="{B88162EC-E14C-E944-97E8-54DF9A16BAD8}"/>
              </a:ext>
            </a:extLst>
          </p:cNvPr>
          <p:cNvSpPr/>
          <p:nvPr/>
        </p:nvSpPr>
        <p:spPr>
          <a:xfrm rot="5400000">
            <a:off x="1704975" y="3099935"/>
            <a:ext cx="609600" cy="52322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70FAF9C-4F92-DE43-AF8B-099946F73646}"/>
              </a:ext>
            </a:extLst>
          </p:cNvPr>
          <p:cNvSpPr/>
          <p:nvPr/>
        </p:nvSpPr>
        <p:spPr>
          <a:xfrm>
            <a:off x="838200" y="3782503"/>
            <a:ext cx="2971800" cy="1631216"/>
          </a:xfrm>
          <a:prstGeom prst="rect">
            <a:avLst/>
          </a:prstGeom>
        </p:spPr>
        <p:txBody>
          <a:bodyPr wrap="square">
            <a:spAutoFit/>
          </a:bodyPr>
          <a:lstStyle/>
          <a:p>
            <a:r>
              <a:rPr lang="en-US" sz="2000" b="1" dirty="0">
                <a:latin typeface="Consolas" panose="020B0609020204030204" pitchFamily="49" charset="0"/>
                <a:cs typeface="Consolas" panose="020B0609020204030204" pitchFamily="49" charset="0"/>
              </a:rPr>
              <a:t>_top:</a:t>
            </a:r>
            <a:endParaRPr lang="en-US" sz="2000" b="1" dirty="0">
              <a:highlight>
                <a:srgbClr val="FFFF00"/>
              </a:highlight>
              <a:latin typeface="Consolas" panose="020B0609020204030204" pitchFamily="49" charset="0"/>
              <a:cs typeface="Consolas" panose="020B0609020204030204" pitchFamily="49" charset="0"/>
            </a:endParaRP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b</a:t>
            </a:r>
            <a:r>
              <a:rPr lang="en-US" sz="2000" b="1" dirty="0">
                <a:solidFill>
                  <a:srgbClr val="FF0000"/>
                </a:solidFill>
                <a:highlight>
                  <a:srgbClr val="FFFF00"/>
                </a:highlight>
                <a:latin typeface="Consolas" panose="020B0609020204030204" pitchFamily="49" charset="0"/>
                <a:cs typeface="Consolas" panose="020B0609020204030204" pitchFamily="49" charset="0"/>
              </a:rPr>
              <a:t>__</a:t>
            </a:r>
            <a:r>
              <a:rPr lang="en-US" sz="2000" b="1" dirty="0">
                <a:latin typeface="Consolas" panose="020B0609020204030204" pitchFamily="49" charset="0"/>
                <a:cs typeface="Consolas" panose="020B0609020204030204" pitchFamily="49" charset="0"/>
              </a:rPr>
              <a:t> </a:t>
            </a:r>
            <a:r>
              <a:rPr lang="en-US" sz="2000" b="1" dirty="0">
                <a:highlight>
                  <a:srgbClr val="FFFF00"/>
                </a:highlight>
                <a:latin typeface="Consolas" panose="020B0609020204030204" pitchFamily="49" charset="0"/>
                <a:cs typeface="Consolas" panose="020B0609020204030204" pitchFamily="49" charset="0"/>
              </a:rPr>
              <a:t>__</a:t>
            </a:r>
            <a:r>
              <a:rPr lang="en-US" sz="2000" b="1" dirty="0">
                <a:latin typeface="Consolas" panose="020B0609020204030204" pitchFamily="49" charset="0"/>
                <a:cs typeface="Consolas" panose="020B0609020204030204" pitchFamily="49" charset="0"/>
              </a:rPr>
              <a:t>, </a:t>
            </a:r>
            <a:r>
              <a:rPr lang="en-US" sz="2000" b="1" dirty="0">
                <a:highlight>
                  <a:srgbClr val="FFFF00"/>
                </a:highlight>
                <a:latin typeface="Consolas" panose="020B0609020204030204" pitchFamily="49" charset="0"/>
                <a:cs typeface="Consolas" panose="020B0609020204030204" pitchFamily="49" charset="0"/>
              </a:rPr>
              <a:t>__</a:t>
            </a:r>
            <a:r>
              <a:rPr lang="en-US" sz="2000" b="1" dirty="0">
                <a:latin typeface="Consolas" panose="020B0609020204030204" pitchFamily="49" charset="0"/>
                <a:cs typeface="Consolas" panose="020B0609020204030204" pitchFamily="49" charset="0"/>
              </a:rPr>
              <a:t>, _end</a:t>
            </a:r>
          </a:p>
          <a:p>
            <a:r>
              <a:rPr lang="en-US" sz="2000" b="1" dirty="0">
                <a:solidFill>
                  <a:srgbClr val="FF0000"/>
                </a:solidFill>
                <a:latin typeface="Consolas" panose="020B0609020204030204" pitchFamily="49" charset="0"/>
                <a:cs typeface="Consolas" panose="020B0609020204030204" pitchFamily="49" charset="0"/>
              </a:rPr>
              <a:t>  </a:t>
            </a:r>
          </a:p>
          <a:p>
            <a:r>
              <a:rPr lang="en-US" sz="2000" b="1" dirty="0">
                <a:solidFill>
                  <a:srgbClr val="FF0000"/>
                </a:solidFill>
                <a:latin typeface="Consolas" panose="020B0609020204030204" pitchFamily="49" charset="0"/>
                <a:cs typeface="Consolas" panose="020B0609020204030204" pitchFamily="49" charset="0"/>
              </a:rPr>
              <a:t>  </a:t>
            </a:r>
            <a:r>
              <a:rPr lang="en-US" sz="2000" b="1" dirty="0">
                <a:highlight>
                  <a:srgbClr val="00FFFF"/>
                </a:highlight>
                <a:latin typeface="Consolas" panose="020B0609020204030204" pitchFamily="49" charset="0"/>
                <a:cs typeface="Consolas" panose="020B0609020204030204" pitchFamily="49" charset="0"/>
              </a:rPr>
              <a:t>code</a:t>
            </a:r>
          </a:p>
          <a:p>
            <a:r>
              <a:rPr lang="en-US" sz="2000" b="1" dirty="0">
                <a:latin typeface="Consolas" panose="020B0609020204030204" pitchFamily="49" charset="0"/>
                <a:cs typeface="Consolas" panose="020B0609020204030204" pitchFamily="49" charset="0"/>
              </a:rPr>
              <a:t>_end:</a:t>
            </a:r>
          </a:p>
        </p:txBody>
      </p:sp>
      <p:sp>
        <p:nvSpPr>
          <p:cNvPr id="9" name="TextBox 8">
            <a:extLst>
              <a:ext uri="{FF2B5EF4-FFF2-40B4-BE49-F238E27FC236}">
                <a16:creationId xmlns:a16="http://schemas.microsoft.com/office/drawing/2014/main" id="{E664029B-DC0B-4945-A1D9-B385653406A9}"/>
              </a:ext>
            </a:extLst>
          </p:cNvPr>
          <p:cNvSpPr txBox="1"/>
          <p:nvPr/>
        </p:nvSpPr>
        <p:spPr>
          <a:xfrm>
            <a:off x="4457700" y="1390650"/>
            <a:ext cx="4610100" cy="769441"/>
          </a:xfrm>
          <a:prstGeom prst="rect">
            <a:avLst/>
          </a:prstGeom>
          <a:noFill/>
        </p:spPr>
        <p:txBody>
          <a:bodyPr wrap="square" rtlCol="0">
            <a:spAutoFit/>
          </a:bodyPr>
          <a:lstStyle/>
          <a:p>
            <a:pPr algn="ctr"/>
            <a:r>
              <a:rPr lang="en-US" sz="2200" dirty="0"/>
              <a:t>other parts are </a:t>
            </a:r>
            <a:r>
              <a:rPr lang="en-US" sz="2200" b="1" dirty="0"/>
              <a:t>allocation, </a:t>
            </a:r>
            <a:r>
              <a:rPr lang="en-US" sz="2200" dirty="0"/>
              <a:t>deciding what lives where, and when.</a:t>
            </a:r>
            <a:endParaRPr lang="en-US" sz="2200" b="1" dirty="0"/>
          </a:p>
        </p:txBody>
      </p:sp>
      <p:sp>
        <p:nvSpPr>
          <p:cNvPr id="10" name="Rectangle 9">
            <a:extLst>
              <a:ext uri="{FF2B5EF4-FFF2-40B4-BE49-F238E27FC236}">
                <a16:creationId xmlns:a16="http://schemas.microsoft.com/office/drawing/2014/main" id="{3E0B8CF4-3C52-B748-B5DF-66FB05226F3C}"/>
              </a:ext>
            </a:extLst>
          </p:cNvPr>
          <p:cNvSpPr/>
          <p:nvPr/>
        </p:nvSpPr>
        <p:spPr>
          <a:xfrm>
            <a:off x="5010152" y="2709572"/>
            <a:ext cx="1447800" cy="1323439"/>
          </a:xfrm>
          <a:prstGeom prst="rect">
            <a:avLst/>
          </a:prstGeom>
        </p:spPr>
        <p:txBody>
          <a:bodyPr wrap="square">
            <a:spAutoFit/>
          </a:bodyPr>
          <a:lstStyle/>
          <a:p>
            <a:pPr algn="ctr"/>
            <a:r>
              <a:rPr lang="en-US" sz="2000" b="1" dirty="0">
                <a:latin typeface="Consolas" panose="020B0609020204030204" pitchFamily="49" charset="0"/>
                <a:cs typeface="Consolas" panose="020B0609020204030204" pitchFamily="49" charset="0"/>
              </a:rPr>
              <a:t>x</a:t>
            </a:r>
          </a:p>
          <a:p>
            <a:pPr algn="ctr"/>
            <a:r>
              <a:rPr lang="en-US" sz="2000" b="1" dirty="0">
                <a:latin typeface="Consolas" panose="020B0609020204030204" pitchFamily="49" charset="0"/>
                <a:cs typeface="Consolas" panose="020B0609020204030204" pitchFamily="49" charset="0"/>
              </a:rPr>
              <a:t>i</a:t>
            </a:r>
          </a:p>
          <a:p>
            <a:pPr algn="ctr"/>
            <a:r>
              <a:rPr lang="en-US" sz="2000" b="1" dirty="0">
                <a:latin typeface="Consolas" panose="020B0609020204030204" pitchFamily="49" charset="0"/>
                <a:cs typeface="Consolas" panose="020B0609020204030204" pitchFamily="49" charset="0"/>
              </a:rPr>
              <a:t>ret</a:t>
            </a:r>
          </a:p>
          <a:p>
            <a:pPr algn="ctr"/>
            <a:r>
              <a:rPr lang="en-US" sz="2000" b="1" dirty="0" err="1">
                <a:latin typeface="Consolas" panose="020B0609020204030204" pitchFamily="49" charset="0"/>
                <a:cs typeface="Consolas" panose="020B0609020204030204" pitchFamily="49" charset="0"/>
              </a:rPr>
              <a:t>num_cats</a:t>
            </a:r>
            <a:endParaRPr lang="en-US" sz="2000" b="1" dirty="0">
              <a:latin typeface="Consolas" panose="020B0609020204030204" pitchFamily="49" charset="0"/>
              <a:cs typeface="Consolas" panose="020B0609020204030204" pitchFamily="49" charset="0"/>
            </a:endParaRPr>
          </a:p>
        </p:txBody>
      </p:sp>
      <p:sp>
        <p:nvSpPr>
          <p:cNvPr id="11" name="TextBox 10">
            <a:extLst>
              <a:ext uri="{FF2B5EF4-FFF2-40B4-BE49-F238E27FC236}">
                <a16:creationId xmlns:a16="http://schemas.microsoft.com/office/drawing/2014/main" id="{56927683-0781-724F-ACD6-3B4FCDA201E1}"/>
              </a:ext>
            </a:extLst>
          </p:cNvPr>
          <p:cNvSpPr txBox="1"/>
          <p:nvPr/>
        </p:nvSpPr>
        <p:spPr>
          <a:xfrm>
            <a:off x="5048250" y="2287199"/>
            <a:ext cx="1379608" cy="430887"/>
          </a:xfrm>
          <a:prstGeom prst="rect">
            <a:avLst/>
          </a:prstGeom>
          <a:noFill/>
        </p:spPr>
        <p:txBody>
          <a:bodyPr wrap="none" rtlCol="0">
            <a:spAutoFit/>
          </a:bodyPr>
          <a:lstStyle/>
          <a:p>
            <a:pPr algn="ctr"/>
            <a:r>
              <a:rPr lang="en-US" sz="2200" b="1" u="sng" dirty="0"/>
              <a:t>Variables</a:t>
            </a:r>
          </a:p>
        </p:txBody>
      </p:sp>
      <p:sp>
        <p:nvSpPr>
          <p:cNvPr id="12" name="TextBox 11">
            <a:extLst>
              <a:ext uri="{FF2B5EF4-FFF2-40B4-BE49-F238E27FC236}">
                <a16:creationId xmlns:a16="http://schemas.microsoft.com/office/drawing/2014/main" id="{62E3D332-00D4-8443-9CB8-D0982720EFF1}"/>
              </a:ext>
            </a:extLst>
          </p:cNvPr>
          <p:cNvSpPr txBox="1"/>
          <p:nvPr/>
        </p:nvSpPr>
        <p:spPr>
          <a:xfrm>
            <a:off x="7010400" y="2290819"/>
            <a:ext cx="1390061" cy="430887"/>
          </a:xfrm>
          <a:prstGeom prst="rect">
            <a:avLst/>
          </a:prstGeom>
          <a:noFill/>
        </p:spPr>
        <p:txBody>
          <a:bodyPr wrap="none" rtlCol="0">
            <a:spAutoFit/>
          </a:bodyPr>
          <a:lstStyle/>
          <a:p>
            <a:pPr algn="ctr"/>
            <a:r>
              <a:rPr lang="en-US" sz="2200" b="1" u="sng" dirty="0"/>
              <a:t>Registers</a:t>
            </a:r>
          </a:p>
        </p:txBody>
      </p:sp>
      <p:sp>
        <p:nvSpPr>
          <p:cNvPr id="13" name="Rectangle 12">
            <a:extLst>
              <a:ext uri="{FF2B5EF4-FFF2-40B4-BE49-F238E27FC236}">
                <a16:creationId xmlns:a16="http://schemas.microsoft.com/office/drawing/2014/main" id="{2189D94A-4C36-5E47-AE8B-D166A08C0AA4}"/>
              </a:ext>
            </a:extLst>
          </p:cNvPr>
          <p:cNvSpPr/>
          <p:nvPr/>
        </p:nvSpPr>
        <p:spPr>
          <a:xfrm>
            <a:off x="7010400" y="2709572"/>
            <a:ext cx="1447800" cy="1323439"/>
          </a:xfrm>
          <a:prstGeom prst="rect">
            <a:avLst/>
          </a:prstGeom>
        </p:spPr>
        <p:txBody>
          <a:bodyPr wrap="square">
            <a:spAutoFit/>
          </a:bodyPr>
          <a:lstStyle/>
          <a:p>
            <a:pPr algn="ctr"/>
            <a:r>
              <a:rPr lang="en-US" sz="2000" b="1" dirty="0">
                <a:latin typeface="Consolas" panose="020B0609020204030204" pitchFamily="49" charset="0"/>
                <a:cs typeface="Consolas" panose="020B0609020204030204" pitchFamily="49" charset="0"/>
              </a:rPr>
              <a:t>s0</a:t>
            </a:r>
          </a:p>
          <a:p>
            <a:pPr algn="ctr"/>
            <a:r>
              <a:rPr lang="en-US" sz="2000" b="1" dirty="0">
                <a:latin typeface="Consolas" panose="020B0609020204030204" pitchFamily="49" charset="0"/>
                <a:cs typeface="Consolas" panose="020B0609020204030204" pitchFamily="49" charset="0"/>
              </a:rPr>
              <a:t>s1</a:t>
            </a:r>
          </a:p>
          <a:p>
            <a:pPr algn="ctr"/>
            <a:r>
              <a:rPr lang="en-US" sz="2000" b="1" dirty="0">
                <a:latin typeface="Consolas" panose="020B0609020204030204" pitchFamily="49" charset="0"/>
                <a:cs typeface="Consolas" panose="020B0609020204030204" pitchFamily="49" charset="0"/>
              </a:rPr>
              <a:t>t0</a:t>
            </a:r>
          </a:p>
          <a:p>
            <a:pPr algn="ctr"/>
            <a:r>
              <a:rPr lang="en-US" sz="2000" b="1" dirty="0">
                <a:latin typeface="Consolas" panose="020B0609020204030204" pitchFamily="49" charset="0"/>
                <a:cs typeface="Consolas" panose="020B0609020204030204" pitchFamily="49" charset="0"/>
              </a:rPr>
              <a:t>t1</a:t>
            </a:r>
          </a:p>
        </p:txBody>
      </p:sp>
      <p:cxnSp>
        <p:nvCxnSpPr>
          <p:cNvPr id="15" name="Straight Connector 14">
            <a:extLst>
              <a:ext uri="{FF2B5EF4-FFF2-40B4-BE49-F238E27FC236}">
                <a16:creationId xmlns:a16="http://schemas.microsoft.com/office/drawing/2014/main" id="{4CFDF760-96EC-CD4C-9A0D-84548A146DFF}"/>
              </a:ext>
            </a:extLst>
          </p:cNvPr>
          <p:cNvCxnSpPr>
            <a:cxnSpLocks/>
          </p:cNvCxnSpPr>
          <p:nvPr/>
        </p:nvCxnSpPr>
        <p:spPr>
          <a:xfrm>
            <a:off x="5876925" y="2971800"/>
            <a:ext cx="1609725" cy="2095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712DDBA-BFA3-9D4A-996A-94DC226C010A}"/>
              </a:ext>
            </a:extLst>
          </p:cNvPr>
          <p:cNvCxnSpPr>
            <a:cxnSpLocks/>
          </p:cNvCxnSpPr>
          <p:nvPr/>
        </p:nvCxnSpPr>
        <p:spPr>
          <a:xfrm flipV="1">
            <a:off x="5876925" y="2930081"/>
            <a:ext cx="1609725" cy="28936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E3291BE-6B5E-214A-8774-BD1A648EFE28}"/>
              </a:ext>
            </a:extLst>
          </p:cNvPr>
          <p:cNvCxnSpPr>
            <a:cxnSpLocks/>
          </p:cNvCxnSpPr>
          <p:nvPr/>
        </p:nvCxnSpPr>
        <p:spPr>
          <a:xfrm flipV="1">
            <a:off x="5972175" y="3505200"/>
            <a:ext cx="1533525" cy="190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63EF25E-D6B9-1F47-AD3E-3E7521045564}"/>
              </a:ext>
            </a:extLst>
          </p:cNvPr>
          <p:cNvCxnSpPr>
            <a:cxnSpLocks/>
          </p:cNvCxnSpPr>
          <p:nvPr/>
        </p:nvCxnSpPr>
        <p:spPr>
          <a:xfrm flipV="1">
            <a:off x="6362700" y="3581400"/>
            <a:ext cx="1190625" cy="25717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47962203-A1EF-7E4F-807C-D95755D7B7EE}"/>
              </a:ext>
            </a:extLst>
          </p:cNvPr>
          <p:cNvSpPr txBox="1"/>
          <p:nvPr/>
        </p:nvSpPr>
        <p:spPr>
          <a:xfrm>
            <a:off x="3810000" y="4527519"/>
            <a:ext cx="5105400" cy="769441"/>
          </a:xfrm>
          <a:prstGeom prst="rect">
            <a:avLst/>
          </a:prstGeom>
          <a:noFill/>
        </p:spPr>
        <p:txBody>
          <a:bodyPr wrap="square" rtlCol="0">
            <a:spAutoFit/>
          </a:bodyPr>
          <a:lstStyle/>
          <a:p>
            <a:pPr algn="ctr"/>
            <a:r>
              <a:rPr lang="en-US" sz="2200" dirty="0"/>
              <a:t>just keep in mind that our goal is to generate </a:t>
            </a:r>
            <a:r>
              <a:rPr lang="en-US" sz="2200" i="1" dirty="0"/>
              <a:t>correct</a:t>
            </a:r>
            <a:r>
              <a:rPr lang="en-US" sz="2200" dirty="0"/>
              <a:t> code, not </a:t>
            </a:r>
            <a:r>
              <a:rPr lang="en-US" sz="2200" i="1" dirty="0"/>
              <a:t>great</a:t>
            </a:r>
            <a:r>
              <a:rPr lang="en-US" sz="2200" dirty="0"/>
              <a:t> code.</a:t>
            </a:r>
            <a:endParaRPr lang="en-US" sz="2200" b="1" dirty="0"/>
          </a:p>
        </p:txBody>
      </p:sp>
    </p:spTree>
    <p:extLst>
      <p:ext uri="{BB962C8B-B14F-4D97-AF65-F5344CB8AC3E}">
        <p14:creationId xmlns:p14="http://schemas.microsoft.com/office/powerpoint/2010/main" val="377113804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9" grpId="0"/>
      <p:bldP spid="10" grpId="0"/>
      <p:bldP spid="11" grpId="0"/>
      <p:bldP spid="12" grpId="0"/>
      <p:bldP spid="13" grpId="0"/>
      <p:bldP spid="2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42E29-6177-C54E-A3AA-4A8CDB300EAB}"/>
              </a:ext>
            </a:extLst>
          </p:cNvPr>
          <p:cNvSpPr>
            <a:spLocks noGrp="1"/>
          </p:cNvSpPr>
          <p:nvPr>
            <p:ph type="title"/>
          </p:nvPr>
        </p:nvSpPr>
        <p:spPr/>
        <p:txBody>
          <a:bodyPr/>
          <a:lstStyle/>
          <a:p>
            <a:r>
              <a:rPr lang="en-US" dirty="0"/>
              <a:t>Getting a flavor of it: </a:t>
            </a:r>
            <a:r>
              <a:rPr lang="en-US" dirty="0" err="1"/>
              <a:t>codegen</a:t>
            </a:r>
            <a:r>
              <a:rPr lang="en-US" dirty="0"/>
              <a:t> for a function</a:t>
            </a:r>
          </a:p>
        </p:txBody>
      </p:sp>
      <p:sp>
        <p:nvSpPr>
          <p:cNvPr id="3" name="Content Placeholder 2">
            <a:extLst>
              <a:ext uri="{FF2B5EF4-FFF2-40B4-BE49-F238E27FC236}">
                <a16:creationId xmlns:a16="http://schemas.microsoft.com/office/drawing/2014/main" id="{DA8E80D4-CC20-354F-9BA8-C19AF16A6682}"/>
              </a:ext>
            </a:extLst>
          </p:cNvPr>
          <p:cNvSpPr>
            <a:spLocks noGrp="1"/>
          </p:cNvSpPr>
          <p:nvPr>
            <p:ph idx="1"/>
          </p:nvPr>
        </p:nvSpPr>
        <p:spPr>
          <a:xfrm>
            <a:off x="152400" y="495301"/>
            <a:ext cx="8991600" cy="914399"/>
          </a:xfrm>
        </p:spPr>
        <p:txBody>
          <a:bodyPr/>
          <a:lstStyle/>
          <a:p>
            <a:r>
              <a:rPr lang="en-US" dirty="0"/>
              <a:t>as you (hopefully) learned before, every function gets a </a:t>
            </a:r>
            <a:r>
              <a:rPr lang="en-US" b="1" dirty="0"/>
              <a:t>stack frame.</a:t>
            </a:r>
          </a:p>
          <a:p>
            <a:pPr lvl="1"/>
            <a:r>
              <a:rPr lang="en-US" dirty="0"/>
              <a:t>this is where it stores saved registers and local variables.</a:t>
            </a:r>
          </a:p>
        </p:txBody>
      </p:sp>
      <p:sp>
        <p:nvSpPr>
          <p:cNvPr id="4" name="Slide Number Placeholder 3">
            <a:extLst>
              <a:ext uri="{FF2B5EF4-FFF2-40B4-BE49-F238E27FC236}">
                <a16:creationId xmlns:a16="http://schemas.microsoft.com/office/drawing/2014/main" id="{A72A4C19-4A00-504D-9999-242B5587CC1D}"/>
              </a:ext>
            </a:extLst>
          </p:cNvPr>
          <p:cNvSpPr>
            <a:spLocks noGrp="1"/>
          </p:cNvSpPr>
          <p:nvPr>
            <p:ph type="sldNum" sz="quarter" idx="12"/>
          </p:nvPr>
        </p:nvSpPr>
        <p:spPr/>
        <p:txBody>
          <a:bodyPr/>
          <a:lstStyle/>
          <a:p>
            <a:fld id="{3552B95B-556F-44BD-91A5-D80C1B9E2BB3}" type="slidenum">
              <a:rPr lang="en-US" smtClean="0"/>
              <a:pPr/>
              <a:t>19</a:t>
            </a:fld>
            <a:endParaRPr lang="en-US"/>
          </a:p>
        </p:txBody>
      </p:sp>
      <p:sp>
        <p:nvSpPr>
          <p:cNvPr id="5" name="TextBox 4">
            <a:extLst>
              <a:ext uri="{FF2B5EF4-FFF2-40B4-BE49-F238E27FC236}">
                <a16:creationId xmlns:a16="http://schemas.microsoft.com/office/drawing/2014/main" id="{533F3140-4CBF-CA41-9833-61D2BE431FB9}"/>
              </a:ext>
            </a:extLst>
          </p:cNvPr>
          <p:cNvSpPr txBox="1"/>
          <p:nvPr/>
        </p:nvSpPr>
        <p:spPr>
          <a:xfrm>
            <a:off x="342900" y="1333500"/>
            <a:ext cx="3771900" cy="769441"/>
          </a:xfrm>
          <a:prstGeom prst="rect">
            <a:avLst/>
          </a:prstGeom>
          <a:noFill/>
        </p:spPr>
        <p:txBody>
          <a:bodyPr wrap="square" rtlCol="0">
            <a:spAutoFit/>
          </a:bodyPr>
          <a:lstStyle/>
          <a:p>
            <a:pPr algn="ctr"/>
            <a:r>
              <a:rPr lang="en-US" sz="2200" dirty="0"/>
              <a:t>the template for a function's code is something like…</a:t>
            </a:r>
            <a:endParaRPr lang="en-US" sz="2200" b="1" dirty="0"/>
          </a:p>
        </p:txBody>
      </p:sp>
      <p:sp>
        <p:nvSpPr>
          <p:cNvPr id="6" name="Rectangle 5">
            <a:extLst>
              <a:ext uri="{FF2B5EF4-FFF2-40B4-BE49-F238E27FC236}">
                <a16:creationId xmlns:a16="http://schemas.microsoft.com/office/drawing/2014/main" id="{05FA618F-B8F0-AC44-A8D4-3D246EF2217A}"/>
              </a:ext>
            </a:extLst>
          </p:cNvPr>
          <p:cNvSpPr/>
          <p:nvPr/>
        </p:nvSpPr>
        <p:spPr>
          <a:xfrm>
            <a:off x="781050" y="2217241"/>
            <a:ext cx="2895600" cy="2462213"/>
          </a:xfrm>
          <a:prstGeom prst="rect">
            <a:avLst/>
          </a:prstGeom>
        </p:spPr>
        <p:txBody>
          <a:bodyPr wrap="square">
            <a:spAutoFit/>
          </a:bodyPr>
          <a:lstStyle/>
          <a:p>
            <a:r>
              <a:rPr lang="en-US" sz="2200" b="1" dirty="0">
                <a:latin typeface="Consolas" panose="020B0609020204030204" pitchFamily="49" charset="0"/>
                <a:cs typeface="Consolas" panose="020B0609020204030204" pitchFamily="49" charset="0"/>
              </a:rPr>
              <a:t>name:</a:t>
            </a:r>
          </a:p>
          <a:p>
            <a:r>
              <a:rPr lang="en-US" sz="2200" i="1" dirty="0">
                <a:latin typeface="Consolas" panose="020B0609020204030204" pitchFamily="49" charset="0"/>
                <a:cs typeface="Consolas" panose="020B0609020204030204" pitchFamily="49" charset="0"/>
              </a:rPr>
              <a:t>  set up stack</a:t>
            </a:r>
          </a:p>
          <a:p>
            <a:endParaRPr lang="en-US" sz="2200" i="1" dirty="0">
              <a:latin typeface="Consolas" panose="020B0609020204030204" pitchFamily="49" charset="0"/>
              <a:cs typeface="Consolas" panose="020B0609020204030204" pitchFamily="49" charset="0"/>
            </a:endParaRPr>
          </a:p>
          <a:p>
            <a:r>
              <a:rPr lang="en-US" sz="2200" i="1" dirty="0">
                <a:latin typeface="Consolas" panose="020B0609020204030204" pitchFamily="49" charset="0"/>
                <a:cs typeface="Consolas" panose="020B0609020204030204" pitchFamily="49" charset="0"/>
              </a:rPr>
              <a:t>  function body</a:t>
            </a:r>
          </a:p>
          <a:p>
            <a:endParaRPr lang="en-US" sz="2200" i="1" dirty="0">
              <a:latin typeface="Consolas" panose="020B0609020204030204" pitchFamily="49" charset="0"/>
              <a:cs typeface="Consolas" panose="020B0609020204030204" pitchFamily="49" charset="0"/>
            </a:endParaRPr>
          </a:p>
          <a:p>
            <a:r>
              <a:rPr lang="en-US" sz="2200" i="1" dirty="0">
                <a:latin typeface="Consolas" panose="020B0609020204030204" pitchFamily="49" charset="0"/>
                <a:cs typeface="Consolas" panose="020B0609020204030204" pitchFamily="49" charset="0"/>
              </a:rPr>
              <a:t>  clean up stack</a:t>
            </a:r>
          </a:p>
          <a:p>
            <a:r>
              <a:rPr lang="en-US" sz="2200" b="1" dirty="0">
                <a:solidFill>
                  <a:srgbClr val="FF0000"/>
                </a:solidFill>
                <a:latin typeface="Consolas" panose="020B0609020204030204" pitchFamily="49" charset="0"/>
                <a:cs typeface="Consolas" panose="020B0609020204030204" pitchFamily="49" charset="0"/>
              </a:rPr>
              <a:t>  return</a:t>
            </a:r>
            <a:endParaRPr lang="en-US" sz="2200" b="1" dirty="0">
              <a:latin typeface="Consolas" panose="020B0609020204030204" pitchFamily="49" charset="0"/>
              <a:cs typeface="Consolas" panose="020B0609020204030204" pitchFamily="49" charset="0"/>
            </a:endParaRPr>
          </a:p>
        </p:txBody>
      </p:sp>
      <p:sp>
        <p:nvSpPr>
          <p:cNvPr id="11" name="TextBox 10">
            <a:extLst>
              <a:ext uri="{FF2B5EF4-FFF2-40B4-BE49-F238E27FC236}">
                <a16:creationId xmlns:a16="http://schemas.microsoft.com/office/drawing/2014/main" id="{6D768A1D-2B07-0A4D-A1F5-BF11D7E0B11A}"/>
              </a:ext>
            </a:extLst>
          </p:cNvPr>
          <p:cNvSpPr txBox="1"/>
          <p:nvPr/>
        </p:nvSpPr>
        <p:spPr>
          <a:xfrm>
            <a:off x="4495800" y="1409700"/>
            <a:ext cx="3771900" cy="769441"/>
          </a:xfrm>
          <a:prstGeom prst="rect">
            <a:avLst/>
          </a:prstGeom>
          <a:noFill/>
        </p:spPr>
        <p:txBody>
          <a:bodyPr wrap="square" rtlCol="0">
            <a:spAutoFit/>
          </a:bodyPr>
          <a:lstStyle/>
          <a:p>
            <a:pPr algn="ctr"/>
            <a:r>
              <a:rPr lang="en-US" sz="2200" dirty="0"/>
              <a:t>how </a:t>
            </a:r>
            <a:r>
              <a:rPr lang="en-US" sz="2200" b="1" dirty="0"/>
              <a:t>big</a:t>
            </a:r>
            <a:r>
              <a:rPr lang="en-US" sz="2200" dirty="0"/>
              <a:t> does the stack frame have to be?</a:t>
            </a:r>
          </a:p>
        </p:txBody>
      </p:sp>
      <p:sp>
        <p:nvSpPr>
          <p:cNvPr id="14" name="Rectangle 13">
            <a:extLst>
              <a:ext uri="{FF2B5EF4-FFF2-40B4-BE49-F238E27FC236}">
                <a16:creationId xmlns:a16="http://schemas.microsoft.com/office/drawing/2014/main" id="{0125D0BA-55ED-E944-8B8B-58A92A056AF3}"/>
              </a:ext>
            </a:extLst>
          </p:cNvPr>
          <p:cNvSpPr/>
          <p:nvPr/>
        </p:nvSpPr>
        <p:spPr>
          <a:xfrm>
            <a:off x="5201064" y="2247900"/>
            <a:ext cx="2571336" cy="2308324"/>
          </a:xfrm>
          <a:prstGeom prst="rect">
            <a:avLst/>
          </a:prstGeom>
        </p:spPr>
        <p:txBody>
          <a:bodyPr wrap="square">
            <a:spAutoFit/>
          </a:bodyPr>
          <a:lstStyle/>
          <a:p>
            <a:r>
              <a:rPr lang="en-US" sz="1800" b="1" dirty="0" err="1">
                <a:solidFill>
                  <a:srgbClr val="FF0000"/>
                </a:solidFill>
                <a:latin typeface="Consolas" panose="020B0609020204030204" pitchFamily="49" charset="0"/>
                <a:cs typeface="Consolas" panose="020B0609020204030204" pitchFamily="49" charset="0"/>
              </a:rPr>
              <a:t>fn</a:t>
            </a:r>
            <a:r>
              <a:rPr lang="en-US" sz="1800" b="1" dirty="0">
                <a:latin typeface="Consolas" panose="020B0609020204030204" pitchFamily="49" charset="0"/>
                <a:cs typeface="Consolas" panose="020B0609020204030204" pitchFamily="49" charset="0"/>
              </a:rPr>
              <a:t> main() {</a:t>
            </a:r>
            <a:br>
              <a:rPr lang="en-US" sz="1800" b="1" dirty="0">
                <a:latin typeface="Consolas" panose="020B0609020204030204" pitchFamily="49" charset="0"/>
                <a:cs typeface="Consolas" panose="020B0609020204030204" pitchFamily="49" charset="0"/>
              </a:rPr>
            </a:br>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let</a:t>
            </a:r>
            <a:r>
              <a:rPr lang="en-US" sz="1800" b="1" dirty="0">
                <a:latin typeface="Consolas" panose="020B0609020204030204" pitchFamily="49" charset="0"/>
                <a:cs typeface="Consolas" panose="020B0609020204030204" pitchFamily="49" charset="0"/>
              </a:rPr>
              <a:t> x = </a:t>
            </a:r>
            <a:r>
              <a:rPr lang="en-US" sz="1800" b="1" dirty="0">
                <a:solidFill>
                  <a:schemeClr val="accent3">
                    <a:lumMod val="75000"/>
                  </a:schemeClr>
                </a:solidFill>
                <a:latin typeface="Consolas" panose="020B0609020204030204" pitchFamily="49" charset="0"/>
                <a:cs typeface="Consolas" panose="020B0609020204030204" pitchFamily="49" charset="0"/>
              </a:rPr>
              <a:t>0</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for</a:t>
            </a:r>
            <a:r>
              <a:rPr lang="en-US" sz="1800" b="1" dirty="0">
                <a:latin typeface="Consolas" panose="020B0609020204030204" pitchFamily="49" charset="0"/>
                <a:cs typeface="Consolas" panose="020B0609020204030204" pitchFamily="49" charset="0"/>
              </a:rPr>
              <a:t> i </a:t>
            </a:r>
            <a:r>
              <a:rPr lang="en-US" sz="1800" b="1" dirty="0">
                <a:solidFill>
                  <a:srgbClr val="FF0000"/>
                </a:solidFill>
                <a:latin typeface="Consolas" panose="020B0609020204030204" pitchFamily="49" charset="0"/>
                <a:cs typeface="Consolas" panose="020B0609020204030204" pitchFamily="49" charset="0"/>
              </a:rPr>
              <a:t>in</a:t>
            </a:r>
            <a:r>
              <a:rPr lang="en-US" sz="1800" b="1" dirty="0">
                <a:latin typeface="Consolas" panose="020B0609020204030204" pitchFamily="49" charset="0"/>
                <a:cs typeface="Consolas" panose="020B0609020204030204" pitchFamily="49" charset="0"/>
              </a:rPr>
              <a:t> </a:t>
            </a:r>
            <a:r>
              <a:rPr lang="en-US" sz="1800" b="1" dirty="0">
                <a:solidFill>
                  <a:schemeClr val="accent3">
                    <a:lumMod val="75000"/>
                  </a:schemeClr>
                </a:solidFill>
                <a:latin typeface="Consolas" panose="020B0609020204030204" pitchFamily="49" charset="0"/>
                <a:cs typeface="Consolas" panose="020B0609020204030204" pitchFamily="49" charset="0"/>
              </a:rPr>
              <a:t>0</a:t>
            </a:r>
            <a:r>
              <a:rPr lang="en-US" sz="1800" b="1" dirty="0">
                <a:latin typeface="Consolas" panose="020B0609020204030204" pitchFamily="49" charset="0"/>
                <a:cs typeface="Consolas" panose="020B0609020204030204" pitchFamily="49" charset="0"/>
              </a:rPr>
              <a:t>, </a:t>
            </a:r>
            <a:r>
              <a:rPr lang="en-US" sz="1800" b="1" dirty="0">
                <a:solidFill>
                  <a:schemeClr val="accent3">
                    <a:lumMod val="75000"/>
                  </a:schemeClr>
                </a:solidFill>
                <a:latin typeface="Consolas" panose="020B0609020204030204" pitchFamily="49" charset="0"/>
                <a:cs typeface="Consolas" panose="020B0609020204030204" pitchFamily="49" charset="0"/>
              </a:rPr>
              <a:t>10</a:t>
            </a:r>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    x += i;</a:t>
            </a:r>
          </a:p>
          <a:p>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let</a:t>
            </a:r>
            <a:r>
              <a:rPr lang="en-US" sz="1800" b="1" dirty="0">
                <a:latin typeface="Consolas" panose="020B0609020204030204" pitchFamily="49" charset="0"/>
                <a:cs typeface="Consolas" panose="020B0609020204030204" pitchFamily="49" charset="0"/>
              </a:rPr>
              <a:t> y = g(x);</a:t>
            </a:r>
          </a:p>
          <a:p>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println</a:t>
            </a:r>
            <a:r>
              <a:rPr lang="en-US" sz="1800" b="1" dirty="0">
                <a:latin typeface="Consolas" panose="020B0609020204030204" pitchFamily="49" charset="0"/>
                <a:cs typeface="Consolas" panose="020B0609020204030204" pitchFamily="49" charset="0"/>
              </a:rPr>
              <a:t>(y);</a:t>
            </a:r>
          </a:p>
          <a:p>
            <a:r>
              <a:rPr lang="en-US" sz="1800" b="1" dirty="0">
                <a:latin typeface="Consolas" panose="020B0609020204030204" pitchFamily="49" charset="0"/>
                <a:cs typeface="Consolas" panose="020B0609020204030204" pitchFamily="49" charset="0"/>
              </a:rPr>
              <a:t>}</a:t>
            </a:r>
          </a:p>
        </p:txBody>
      </p:sp>
      <p:sp>
        <p:nvSpPr>
          <p:cNvPr id="15" name="Rounded Rectangle 14">
            <a:extLst>
              <a:ext uri="{FF2B5EF4-FFF2-40B4-BE49-F238E27FC236}">
                <a16:creationId xmlns:a16="http://schemas.microsoft.com/office/drawing/2014/main" id="{30318F33-1160-EC42-B646-2D2735F3D08C}"/>
              </a:ext>
            </a:extLst>
          </p:cNvPr>
          <p:cNvSpPr/>
          <p:nvPr/>
        </p:nvSpPr>
        <p:spPr>
          <a:xfrm>
            <a:off x="5943600" y="2577351"/>
            <a:ext cx="304800" cy="271669"/>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01514ADE-7785-8044-9331-D6AB322F5FED}"/>
              </a:ext>
            </a:extLst>
          </p:cNvPr>
          <p:cNvSpPr/>
          <p:nvPr/>
        </p:nvSpPr>
        <p:spPr>
          <a:xfrm>
            <a:off x="5946913" y="2849020"/>
            <a:ext cx="304800" cy="295703"/>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59B8DB85-413A-224E-A647-EF0946CCAC84}"/>
              </a:ext>
            </a:extLst>
          </p:cNvPr>
          <p:cNvSpPr/>
          <p:nvPr/>
        </p:nvSpPr>
        <p:spPr>
          <a:xfrm>
            <a:off x="5940287" y="3677281"/>
            <a:ext cx="304800" cy="295703"/>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66E4183-4AFF-4140-AD8C-3952DB83A695}"/>
              </a:ext>
            </a:extLst>
          </p:cNvPr>
          <p:cNvSpPr txBox="1"/>
          <p:nvPr/>
        </p:nvSpPr>
        <p:spPr>
          <a:xfrm>
            <a:off x="4183546" y="4649937"/>
            <a:ext cx="4419600" cy="769441"/>
          </a:xfrm>
          <a:prstGeom prst="rect">
            <a:avLst/>
          </a:prstGeom>
          <a:noFill/>
        </p:spPr>
        <p:txBody>
          <a:bodyPr wrap="square" rtlCol="0">
            <a:spAutoFit/>
          </a:bodyPr>
          <a:lstStyle/>
          <a:p>
            <a:pPr algn="ctr"/>
            <a:r>
              <a:rPr lang="en-US" sz="2200" dirty="0"/>
              <a:t>the </a:t>
            </a:r>
            <a:r>
              <a:rPr lang="en-US" sz="2200" b="1" dirty="0"/>
              <a:t>symbol table</a:t>
            </a:r>
            <a:r>
              <a:rPr lang="en-US" sz="2200" dirty="0"/>
              <a:t> can tell us how many local variables we have.</a:t>
            </a:r>
          </a:p>
        </p:txBody>
      </p:sp>
    </p:spTree>
    <p:extLst>
      <p:ext uri="{BB962C8B-B14F-4D97-AF65-F5344CB8AC3E}">
        <p14:creationId xmlns:p14="http://schemas.microsoft.com/office/powerpoint/2010/main" val="12980424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bldLvl="5"/>
      <p:bldP spid="11" grpId="0"/>
      <p:bldP spid="14" grpId="0" bldLvl="5"/>
      <p:bldP spid="15" grpId="0" animBg="1"/>
      <p:bldP spid="16" grpId="0" animBg="1"/>
      <p:bldP spid="17" grpId="0" animBg="1"/>
      <p:bldP spid="1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11481-46CB-654F-843E-D74D2B0E0C3F}"/>
              </a:ext>
            </a:extLst>
          </p:cNvPr>
          <p:cNvSpPr>
            <a:spLocks noGrp="1"/>
          </p:cNvSpPr>
          <p:nvPr>
            <p:ph type="title"/>
          </p:nvPr>
        </p:nvSpPr>
        <p:spPr/>
        <p:txBody>
          <a:bodyPr/>
          <a:lstStyle/>
          <a:p>
            <a:r>
              <a:rPr lang="en-US" dirty="0" err="1"/>
              <a:t>Codegen</a:t>
            </a:r>
            <a:r>
              <a:rPr lang="en-US" dirty="0"/>
              <a:t> for expressions</a:t>
            </a:r>
          </a:p>
        </p:txBody>
      </p:sp>
      <p:sp>
        <p:nvSpPr>
          <p:cNvPr id="3" name="Content Placeholder 2">
            <a:extLst>
              <a:ext uri="{FF2B5EF4-FFF2-40B4-BE49-F238E27FC236}">
                <a16:creationId xmlns:a16="http://schemas.microsoft.com/office/drawing/2014/main" id="{3E2E0978-EE1F-F243-9198-9D58D14CB975}"/>
              </a:ext>
            </a:extLst>
          </p:cNvPr>
          <p:cNvSpPr>
            <a:spLocks noGrp="1"/>
          </p:cNvSpPr>
          <p:nvPr>
            <p:ph idx="1"/>
          </p:nvPr>
        </p:nvSpPr>
        <p:spPr>
          <a:xfrm>
            <a:off x="152400" y="495301"/>
            <a:ext cx="8991600" cy="838199"/>
          </a:xfrm>
        </p:spPr>
        <p:txBody>
          <a:bodyPr/>
          <a:lstStyle/>
          <a:p>
            <a:r>
              <a:rPr lang="en-US" dirty="0"/>
              <a:t>expressions calculate </a:t>
            </a:r>
            <a:r>
              <a:rPr lang="en-US" b="1" dirty="0"/>
              <a:t>values, </a:t>
            </a:r>
            <a:r>
              <a:rPr lang="en-US" dirty="0"/>
              <a:t>and in a CPU values go in </a:t>
            </a:r>
            <a:r>
              <a:rPr lang="en-US" b="1" dirty="0"/>
              <a:t>registers.</a:t>
            </a:r>
          </a:p>
          <a:p>
            <a:r>
              <a:rPr lang="en-US" dirty="0"/>
              <a:t>an expression in </a:t>
            </a:r>
            <a:r>
              <a:rPr lang="en-US" i="1" dirty="0"/>
              <a:t>isolation</a:t>
            </a:r>
            <a:r>
              <a:rPr lang="en-US" dirty="0"/>
              <a:t> doesn't really tell you what to do though.</a:t>
            </a:r>
          </a:p>
        </p:txBody>
      </p:sp>
      <p:sp>
        <p:nvSpPr>
          <p:cNvPr id="4" name="Slide Number Placeholder 3">
            <a:extLst>
              <a:ext uri="{FF2B5EF4-FFF2-40B4-BE49-F238E27FC236}">
                <a16:creationId xmlns:a16="http://schemas.microsoft.com/office/drawing/2014/main" id="{6747988F-9D6C-4C48-954C-5075F007CBE7}"/>
              </a:ext>
            </a:extLst>
          </p:cNvPr>
          <p:cNvSpPr>
            <a:spLocks noGrp="1"/>
          </p:cNvSpPr>
          <p:nvPr>
            <p:ph type="sldNum" sz="quarter" idx="12"/>
          </p:nvPr>
        </p:nvSpPr>
        <p:spPr/>
        <p:txBody>
          <a:bodyPr/>
          <a:lstStyle/>
          <a:p>
            <a:fld id="{3552B95B-556F-44BD-91A5-D80C1B9E2BB3}" type="slidenum">
              <a:rPr lang="en-US" smtClean="0"/>
              <a:pPr/>
              <a:t>20</a:t>
            </a:fld>
            <a:endParaRPr lang="en-US"/>
          </a:p>
        </p:txBody>
      </p:sp>
      <p:sp>
        <p:nvSpPr>
          <p:cNvPr id="7" name="Rectangle 6">
            <a:extLst>
              <a:ext uri="{FF2B5EF4-FFF2-40B4-BE49-F238E27FC236}">
                <a16:creationId xmlns:a16="http://schemas.microsoft.com/office/drawing/2014/main" id="{EF06310C-4B0A-9848-A5B1-A365FE3891C1}"/>
              </a:ext>
            </a:extLst>
          </p:cNvPr>
          <p:cNvSpPr/>
          <p:nvPr/>
        </p:nvSpPr>
        <p:spPr>
          <a:xfrm>
            <a:off x="304800" y="1592728"/>
            <a:ext cx="1066800" cy="430887"/>
          </a:xfrm>
          <a:prstGeom prst="rect">
            <a:avLst/>
          </a:prstGeom>
        </p:spPr>
        <p:txBody>
          <a:bodyPr wrap="square">
            <a:spAutoFit/>
          </a:bodyPr>
          <a:lstStyle/>
          <a:p>
            <a:r>
              <a:rPr lang="en-US" sz="2200" b="1" dirty="0">
                <a:latin typeface="Consolas" panose="020B0609020204030204" pitchFamily="49" charset="0"/>
                <a:cs typeface="Consolas" panose="020B0609020204030204" pitchFamily="49" charset="0"/>
              </a:rPr>
              <a:t>f(</a:t>
            </a:r>
            <a:r>
              <a:rPr lang="en-US" sz="2200" b="1" dirty="0">
                <a:solidFill>
                  <a:schemeClr val="accent3">
                    <a:lumMod val="75000"/>
                  </a:schemeClr>
                </a:solidFill>
                <a:latin typeface="Consolas" panose="020B0609020204030204" pitchFamily="49" charset="0"/>
                <a:cs typeface="Consolas" panose="020B0609020204030204" pitchFamily="49" charset="0"/>
              </a:rPr>
              <a:t>16</a:t>
            </a:r>
            <a:r>
              <a:rPr lang="en-US" sz="2200" b="1" dirty="0">
                <a:latin typeface="Consolas" panose="020B0609020204030204" pitchFamily="49" charset="0"/>
                <a:cs typeface="Consolas" panose="020B0609020204030204" pitchFamily="49" charset="0"/>
              </a:rPr>
              <a:t>)</a:t>
            </a:r>
          </a:p>
        </p:txBody>
      </p:sp>
      <p:sp>
        <p:nvSpPr>
          <p:cNvPr id="8" name="Right Arrow 7">
            <a:extLst>
              <a:ext uri="{FF2B5EF4-FFF2-40B4-BE49-F238E27FC236}">
                <a16:creationId xmlns:a16="http://schemas.microsoft.com/office/drawing/2014/main" id="{47DCEFC6-DE13-1F44-A7D9-1D209C575394}"/>
              </a:ext>
            </a:extLst>
          </p:cNvPr>
          <p:cNvSpPr/>
          <p:nvPr/>
        </p:nvSpPr>
        <p:spPr>
          <a:xfrm>
            <a:off x="2057400" y="1546561"/>
            <a:ext cx="609600" cy="52322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4D19C11-8C75-2849-9D7E-C24FF3688126}"/>
              </a:ext>
            </a:extLst>
          </p:cNvPr>
          <p:cNvSpPr/>
          <p:nvPr/>
        </p:nvSpPr>
        <p:spPr>
          <a:xfrm>
            <a:off x="2971800" y="1409700"/>
            <a:ext cx="2286000" cy="769441"/>
          </a:xfrm>
          <a:prstGeom prst="rect">
            <a:avLst/>
          </a:prstGeom>
        </p:spPr>
        <p:txBody>
          <a:bodyPr wrap="square">
            <a:spAutoFit/>
          </a:bodyPr>
          <a:lstStyle/>
          <a:p>
            <a:r>
              <a:rPr lang="en-US" sz="2200" b="1" dirty="0">
                <a:solidFill>
                  <a:srgbClr val="FF0000"/>
                </a:solidFill>
                <a:latin typeface="Consolas" panose="020B0609020204030204" pitchFamily="49" charset="0"/>
                <a:cs typeface="Consolas" panose="020B0609020204030204" pitchFamily="49" charset="0"/>
              </a:rPr>
              <a:t>li</a:t>
            </a:r>
            <a:r>
              <a:rPr lang="en-US" sz="2200" b="1" dirty="0">
                <a:latin typeface="Consolas" panose="020B0609020204030204" pitchFamily="49" charset="0"/>
                <a:cs typeface="Consolas" panose="020B0609020204030204" pitchFamily="49" charset="0"/>
              </a:rPr>
              <a:t>  a0, </a:t>
            </a:r>
            <a:r>
              <a:rPr lang="en-US" sz="2200" b="1" dirty="0">
                <a:solidFill>
                  <a:schemeClr val="accent3">
                    <a:lumMod val="75000"/>
                  </a:schemeClr>
                </a:solidFill>
                <a:latin typeface="Consolas" panose="020B0609020204030204" pitchFamily="49" charset="0"/>
                <a:cs typeface="Consolas" panose="020B0609020204030204" pitchFamily="49" charset="0"/>
              </a:rPr>
              <a:t>16</a:t>
            </a:r>
          </a:p>
          <a:p>
            <a:r>
              <a:rPr lang="en-US" sz="2200" b="1" dirty="0" err="1">
                <a:solidFill>
                  <a:srgbClr val="FF0000"/>
                </a:solidFill>
                <a:latin typeface="Consolas" panose="020B0609020204030204" pitchFamily="49" charset="0"/>
                <a:cs typeface="Consolas" panose="020B0609020204030204" pitchFamily="49" charset="0"/>
              </a:rPr>
              <a:t>jal</a:t>
            </a:r>
            <a:r>
              <a:rPr lang="en-US" sz="2200" b="1" dirty="0">
                <a:latin typeface="Consolas" panose="020B0609020204030204" pitchFamily="49" charset="0"/>
                <a:cs typeface="Consolas" panose="020B0609020204030204" pitchFamily="49" charset="0"/>
              </a:rPr>
              <a:t> f</a:t>
            </a:r>
          </a:p>
        </p:txBody>
      </p:sp>
      <p:sp>
        <p:nvSpPr>
          <p:cNvPr id="13" name="Rectangle 12">
            <a:extLst>
              <a:ext uri="{FF2B5EF4-FFF2-40B4-BE49-F238E27FC236}">
                <a16:creationId xmlns:a16="http://schemas.microsoft.com/office/drawing/2014/main" id="{6E6F2183-5CBC-FD4A-ACC5-26D0D98E3457}"/>
              </a:ext>
            </a:extLst>
          </p:cNvPr>
          <p:cNvSpPr/>
          <p:nvPr/>
        </p:nvSpPr>
        <p:spPr>
          <a:xfrm>
            <a:off x="304800" y="2429630"/>
            <a:ext cx="1752600" cy="430887"/>
          </a:xfrm>
          <a:prstGeom prst="rect">
            <a:avLst/>
          </a:prstGeom>
        </p:spPr>
        <p:txBody>
          <a:bodyPr wrap="square">
            <a:spAutoFit/>
          </a:bodyPr>
          <a:lstStyle/>
          <a:p>
            <a:r>
              <a:rPr lang="en-US" sz="2200" b="1" dirty="0">
                <a:solidFill>
                  <a:srgbClr val="FF0000"/>
                </a:solidFill>
                <a:latin typeface="Consolas" panose="020B0609020204030204" pitchFamily="49" charset="0"/>
                <a:cs typeface="Consolas" panose="020B0609020204030204" pitchFamily="49" charset="0"/>
              </a:rPr>
              <a:t>return</a:t>
            </a:r>
            <a:r>
              <a:rPr lang="en-US" sz="2200" b="1" dirty="0">
                <a:latin typeface="Consolas" panose="020B0609020204030204" pitchFamily="49" charset="0"/>
                <a:cs typeface="Consolas" panose="020B0609020204030204" pitchFamily="49" charset="0"/>
              </a:rPr>
              <a:t> </a:t>
            </a:r>
            <a:r>
              <a:rPr lang="en-US" sz="2200" b="1" dirty="0">
                <a:solidFill>
                  <a:schemeClr val="accent3">
                    <a:lumMod val="75000"/>
                  </a:schemeClr>
                </a:solidFill>
                <a:latin typeface="Consolas" panose="020B0609020204030204" pitchFamily="49" charset="0"/>
                <a:cs typeface="Consolas" panose="020B0609020204030204" pitchFamily="49" charset="0"/>
              </a:rPr>
              <a:t>16</a:t>
            </a:r>
            <a:r>
              <a:rPr lang="en-US" sz="2200" b="1" dirty="0">
                <a:latin typeface="Consolas" panose="020B0609020204030204" pitchFamily="49" charset="0"/>
                <a:cs typeface="Consolas" panose="020B0609020204030204" pitchFamily="49" charset="0"/>
              </a:rPr>
              <a:t>;</a:t>
            </a:r>
          </a:p>
        </p:txBody>
      </p:sp>
      <p:sp>
        <p:nvSpPr>
          <p:cNvPr id="14" name="Right Arrow 13">
            <a:extLst>
              <a:ext uri="{FF2B5EF4-FFF2-40B4-BE49-F238E27FC236}">
                <a16:creationId xmlns:a16="http://schemas.microsoft.com/office/drawing/2014/main" id="{6F90E0D0-FA6F-2D4A-AB30-6F549A126D32}"/>
              </a:ext>
            </a:extLst>
          </p:cNvPr>
          <p:cNvSpPr/>
          <p:nvPr/>
        </p:nvSpPr>
        <p:spPr>
          <a:xfrm>
            <a:off x="2057400" y="2383463"/>
            <a:ext cx="609600" cy="52322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E7E420E-CAF1-464E-87FB-D43FA91122AA}"/>
              </a:ext>
            </a:extLst>
          </p:cNvPr>
          <p:cNvSpPr/>
          <p:nvPr/>
        </p:nvSpPr>
        <p:spPr>
          <a:xfrm>
            <a:off x="2971800" y="2287594"/>
            <a:ext cx="2133600" cy="769441"/>
          </a:xfrm>
          <a:prstGeom prst="rect">
            <a:avLst/>
          </a:prstGeom>
        </p:spPr>
        <p:txBody>
          <a:bodyPr wrap="square">
            <a:spAutoFit/>
          </a:bodyPr>
          <a:lstStyle/>
          <a:p>
            <a:r>
              <a:rPr lang="en-US" sz="2200" b="1" dirty="0">
                <a:solidFill>
                  <a:srgbClr val="FF0000"/>
                </a:solidFill>
                <a:latin typeface="Consolas" panose="020B0609020204030204" pitchFamily="49" charset="0"/>
                <a:cs typeface="Consolas" panose="020B0609020204030204" pitchFamily="49" charset="0"/>
              </a:rPr>
              <a:t>li</a:t>
            </a:r>
            <a:r>
              <a:rPr lang="en-US" sz="2200" b="1" dirty="0">
                <a:latin typeface="Consolas" panose="020B0609020204030204" pitchFamily="49" charset="0"/>
                <a:cs typeface="Consolas" panose="020B0609020204030204" pitchFamily="49" charset="0"/>
              </a:rPr>
              <a:t> v0, </a:t>
            </a:r>
            <a:r>
              <a:rPr lang="en-US" sz="2200" b="1" dirty="0">
                <a:solidFill>
                  <a:schemeClr val="accent3">
                    <a:lumMod val="75000"/>
                  </a:schemeClr>
                </a:solidFill>
                <a:latin typeface="Consolas" panose="020B0609020204030204" pitchFamily="49" charset="0"/>
                <a:cs typeface="Consolas" panose="020B0609020204030204" pitchFamily="49" charset="0"/>
              </a:rPr>
              <a:t>16</a:t>
            </a:r>
          </a:p>
          <a:p>
            <a:r>
              <a:rPr lang="en-US" sz="2200" b="1" dirty="0">
                <a:solidFill>
                  <a:srgbClr val="FF0000"/>
                </a:solidFill>
                <a:latin typeface="Consolas" panose="020B0609020204030204" pitchFamily="49" charset="0"/>
                <a:cs typeface="Consolas" panose="020B0609020204030204" pitchFamily="49" charset="0"/>
              </a:rPr>
              <a:t>j</a:t>
            </a:r>
            <a:r>
              <a:rPr lang="en-US" sz="2200" b="1" dirty="0">
                <a:latin typeface="Consolas" panose="020B0609020204030204" pitchFamily="49" charset="0"/>
                <a:cs typeface="Consolas" panose="020B0609020204030204" pitchFamily="49" charset="0"/>
              </a:rPr>
              <a:t>  _return</a:t>
            </a:r>
          </a:p>
        </p:txBody>
      </p:sp>
      <p:sp>
        <p:nvSpPr>
          <p:cNvPr id="16" name="Rectangle 15">
            <a:extLst>
              <a:ext uri="{FF2B5EF4-FFF2-40B4-BE49-F238E27FC236}">
                <a16:creationId xmlns:a16="http://schemas.microsoft.com/office/drawing/2014/main" id="{AAFC8220-768D-2B4F-81E5-69AB6F8B18D0}"/>
              </a:ext>
            </a:extLst>
          </p:cNvPr>
          <p:cNvSpPr/>
          <p:nvPr/>
        </p:nvSpPr>
        <p:spPr>
          <a:xfrm>
            <a:off x="304800" y="3358865"/>
            <a:ext cx="1752600" cy="430887"/>
          </a:xfrm>
          <a:prstGeom prst="rect">
            <a:avLst/>
          </a:prstGeom>
        </p:spPr>
        <p:txBody>
          <a:bodyPr wrap="square">
            <a:spAutoFit/>
          </a:bodyPr>
          <a:lstStyle/>
          <a:p>
            <a:r>
              <a:rPr lang="en-US" sz="2200" b="1" dirty="0">
                <a:latin typeface="Consolas" panose="020B0609020204030204" pitchFamily="49" charset="0"/>
                <a:cs typeface="Consolas" panose="020B0609020204030204" pitchFamily="49" charset="0"/>
              </a:rPr>
              <a:t>x = </a:t>
            </a:r>
            <a:r>
              <a:rPr lang="en-US" sz="2200" b="1" dirty="0">
                <a:solidFill>
                  <a:schemeClr val="accent3">
                    <a:lumMod val="75000"/>
                  </a:schemeClr>
                </a:solidFill>
                <a:latin typeface="Consolas" panose="020B0609020204030204" pitchFamily="49" charset="0"/>
                <a:cs typeface="Consolas" panose="020B0609020204030204" pitchFamily="49" charset="0"/>
              </a:rPr>
              <a:t>16</a:t>
            </a:r>
            <a:r>
              <a:rPr lang="en-US" sz="2200" b="1" dirty="0">
                <a:latin typeface="Consolas" panose="020B0609020204030204" pitchFamily="49" charset="0"/>
                <a:cs typeface="Consolas" panose="020B0609020204030204" pitchFamily="49" charset="0"/>
              </a:rPr>
              <a:t>;</a:t>
            </a:r>
          </a:p>
        </p:txBody>
      </p:sp>
      <p:sp>
        <p:nvSpPr>
          <p:cNvPr id="17" name="Right Arrow 16">
            <a:extLst>
              <a:ext uri="{FF2B5EF4-FFF2-40B4-BE49-F238E27FC236}">
                <a16:creationId xmlns:a16="http://schemas.microsoft.com/office/drawing/2014/main" id="{5A671DB5-1B4A-6349-89D9-3F3FF68FC466}"/>
              </a:ext>
            </a:extLst>
          </p:cNvPr>
          <p:cNvSpPr/>
          <p:nvPr/>
        </p:nvSpPr>
        <p:spPr>
          <a:xfrm>
            <a:off x="2057400" y="3312698"/>
            <a:ext cx="609600" cy="52322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0664DFE-6609-E94B-8D7C-71D2F2DE343E}"/>
              </a:ext>
            </a:extLst>
          </p:cNvPr>
          <p:cNvSpPr/>
          <p:nvPr/>
        </p:nvSpPr>
        <p:spPr>
          <a:xfrm>
            <a:off x="2971800" y="3174199"/>
            <a:ext cx="2057400" cy="769441"/>
          </a:xfrm>
          <a:prstGeom prst="rect">
            <a:avLst/>
          </a:prstGeom>
        </p:spPr>
        <p:txBody>
          <a:bodyPr wrap="square">
            <a:spAutoFit/>
          </a:bodyPr>
          <a:lstStyle/>
          <a:p>
            <a:r>
              <a:rPr lang="en-US" sz="2200" b="1" dirty="0">
                <a:solidFill>
                  <a:srgbClr val="FF0000"/>
                </a:solidFill>
                <a:latin typeface="Consolas" panose="020B0609020204030204" pitchFamily="49" charset="0"/>
                <a:cs typeface="Consolas" panose="020B0609020204030204" pitchFamily="49" charset="0"/>
              </a:rPr>
              <a:t>li</a:t>
            </a:r>
            <a:r>
              <a:rPr lang="en-US" sz="2200" b="1" dirty="0">
                <a:latin typeface="Consolas" panose="020B0609020204030204" pitchFamily="49" charset="0"/>
                <a:cs typeface="Consolas" panose="020B0609020204030204" pitchFamily="49" charset="0"/>
              </a:rPr>
              <a:t> t0, </a:t>
            </a:r>
            <a:r>
              <a:rPr lang="en-US" sz="2200" b="1" dirty="0">
                <a:solidFill>
                  <a:schemeClr val="accent3">
                    <a:lumMod val="75000"/>
                  </a:schemeClr>
                </a:solidFill>
                <a:latin typeface="Consolas" panose="020B0609020204030204" pitchFamily="49" charset="0"/>
                <a:cs typeface="Consolas" panose="020B0609020204030204" pitchFamily="49" charset="0"/>
              </a:rPr>
              <a:t>16</a:t>
            </a:r>
          </a:p>
          <a:p>
            <a:r>
              <a:rPr lang="en-US" sz="2200" b="1" dirty="0" err="1">
                <a:solidFill>
                  <a:srgbClr val="FF0000"/>
                </a:solidFill>
                <a:latin typeface="Consolas" panose="020B0609020204030204" pitchFamily="49" charset="0"/>
                <a:cs typeface="Consolas" panose="020B0609020204030204" pitchFamily="49" charset="0"/>
              </a:rPr>
              <a:t>sw</a:t>
            </a:r>
            <a:r>
              <a:rPr lang="en-US" sz="2200" b="1" dirty="0">
                <a:latin typeface="Consolas" panose="020B0609020204030204" pitchFamily="49" charset="0"/>
                <a:cs typeface="Consolas" panose="020B0609020204030204" pitchFamily="49" charset="0"/>
              </a:rPr>
              <a:t> t0, </a:t>
            </a:r>
            <a:r>
              <a:rPr lang="en-US" sz="2200" b="1" dirty="0">
                <a:solidFill>
                  <a:schemeClr val="accent3">
                    <a:lumMod val="75000"/>
                  </a:schemeClr>
                </a:solidFill>
                <a:latin typeface="Consolas" panose="020B0609020204030204" pitchFamily="49" charset="0"/>
                <a:cs typeface="Consolas" panose="020B0609020204030204" pitchFamily="49" charset="0"/>
              </a:rPr>
              <a:t>4</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sp</a:t>
            </a:r>
            <a:r>
              <a:rPr lang="en-US" sz="2200" b="1" dirty="0">
                <a:latin typeface="Consolas" panose="020B0609020204030204" pitchFamily="49" charset="0"/>
                <a:cs typeface="Consolas" panose="020B0609020204030204" pitchFamily="49" charset="0"/>
              </a:rPr>
              <a:t>)</a:t>
            </a:r>
          </a:p>
        </p:txBody>
      </p:sp>
      <p:sp>
        <p:nvSpPr>
          <p:cNvPr id="19" name="Rectangle 18">
            <a:extLst>
              <a:ext uri="{FF2B5EF4-FFF2-40B4-BE49-F238E27FC236}">
                <a16:creationId xmlns:a16="http://schemas.microsoft.com/office/drawing/2014/main" id="{20D3C7FC-AD32-E34C-A5B4-DB13FCB35AE3}"/>
              </a:ext>
            </a:extLst>
          </p:cNvPr>
          <p:cNvSpPr/>
          <p:nvPr/>
        </p:nvSpPr>
        <p:spPr>
          <a:xfrm>
            <a:off x="2971800" y="4316718"/>
            <a:ext cx="2057400" cy="769441"/>
          </a:xfrm>
          <a:prstGeom prst="rect">
            <a:avLst/>
          </a:prstGeom>
        </p:spPr>
        <p:txBody>
          <a:bodyPr wrap="square">
            <a:spAutoFit/>
          </a:bodyPr>
          <a:lstStyle/>
          <a:p>
            <a:r>
              <a:rPr lang="en-US" sz="2200" b="1" dirty="0">
                <a:solidFill>
                  <a:srgbClr val="FF0000"/>
                </a:solidFill>
                <a:latin typeface="Consolas" panose="020B0609020204030204" pitchFamily="49" charset="0"/>
                <a:cs typeface="Consolas" panose="020B0609020204030204" pitchFamily="49" charset="0"/>
              </a:rPr>
              <a:t>li</a:t>
            </a:r>
            <a:r>
              <a:rPr lang="en-US" sz="2200" b="1" dirty="0">
                <a:latin typeface="Consolas" panose="020B0609020204030204" pitchFamily="49" charset="0"/>
                <a:cs typeface="Consolas" panose="020B0609020204030204" pitchFamily="49" charset="0"/>
              </a:rPr>
              <a:t> t0, </a:t>
            </a:r>
            <a:r>
              <a:rPr lang="en-US" sz="2200" b="1" dirty="0">
                <a:solidFill>
                  <a:schemeClr val="accent3">
                    <a:lumMod val="75000"/>
                  </a:schemeClr>
                </a:solidFill>
                <a:latin typeface="Consolas" panose="020B0609020204030204" pitchFamily="49" charset="0"/>
                <a:cs typeface="Consolas" panose="020B0609020204030204" pitchFamily="49" charset="0"/>
              </a:rPr>
              <a:t>16</a:t>
            </a:r>
          </a:p>
          <a:p>
            <a:r>
              <a:rPr lang="en-US" sz="2200" b="1" dirty="0" err="1">
                <a:solidFill>
                  <a:srgbClr val="FF0000"/>
                </a:solidFill>
                <a:latin typeface="Consolas" panose="020B0609020204030204" pitchFamily="49" charset="0"/>
                <a:cs typeface="Consolas" panose="020B0609020204030204" pitchFamily="49" charset="0"/>
              </a:rPr>
              <a:t>sw</a:t>
            </a:r>
            <a:r>
              <a:rPr lang="en-US" sz="2200" b="1" dirty="0">
                <a:latin typeface="Consolas" panose="020B0609020204030204" pitchFamily="49" charset="0"/>
                <a:cs typeface="Consolas" panose="020B0609020204030204" pitchFamily="49" charset="0"/>
              </a:rPr>
              <a:t> t0, x</a:t>
            </a:r>
          </a:p>
        </p:txBody>
      </p:sp>
      <p:sp>
        <p:nvSpPr>
          <p:cNvPr id="20" name="TextBox 19">
            <a:extLst>
              <a:ext uri="{FF2B5EF4-FFF2-40B4-BE49-F238E27FC236}">
                <a16:creationId xmlns:a16="http://schemas.microsoft.com/office/drawing/2014/main" id="{F95D1593-675A-3948-B4FE-D9B498F1AC51}"/>
              </a:ext>
            </a:extLst>
          </p:cNvPr>
          <p:cNvSpPr txBox="1"/>
          <p:nvPr/>
        </p:nvSpPr>
        <p:spPr>
          <a:xfrm>
            <a:off x="3187764" y="3943640"/>
            <a:ext cx="1844416" cy="369332"/>
          </a:xfrm>
          <a:prstGeom prst="rect">
            <a:avLst/>
          </a:prstGeom>
          <a:noFill/>
        </p:spPr>
        <p:txBody>
          <a:bodyPr wrap="none" rtlCol="0">
            <a:spAutoFit/>
          </a:bodyPr>
          <a:lstStyle/>
          <a:p>
            <a:r>
              <a:rPr lang="en-US" sz="1800" dirty="0"/>
              <a:t>if it's a local, or…</a:t>
            </a:r>
          </a:p>
        </p:txBody>
      </p:sp>
      <p:sp>
        <p:nvSpPr>
          <p:cNvPr id="21" name="TextBox 20">
            <a:extLst>
              <a:ext uri="{FF2B5EF4-FFF2-40B4-BE49-F238E27FC236}">
                <a16:creationId xmlns:a16="http://schemas.microsoft.com/office/drawing/2014/main" id="{407AA5DE-4740-6A4F-9F0F-A8B9450B3C14}"/>
              </a:ext>
            </a:extLst>
          </p:cNvPr>
          <p:cNvSpPr txBox="1"/>
          <p:nvPr/>
        </p:nvSpPr>
        <p:spPr>
          <a:xfrm>
            <a:off x="3187764" y="5032801"/>
            <a:ext cx="1594475" cy="369332"/>
          </a:xfrm>
          <a:prstGeom prst="rect">
            <a:avLst/>
          </a:prstGeom>
          <a:noFill/>
        </p:spPr>
        <p:txBody>
          <a:bodyPr wrap="none" rtlCol="0">
            <a:spAutoFit/>
          </a:bodyPr>
          <a:lstStyle/>
          <a:p>
            <a:r>
              <a:rPr lang="en-US" sz="1800" dirty="0"/>
              <a:t>if it's a global!</a:t>
            </a:r>
          </a:p>
        </p:txBody>
      </p:sp>
      <p:sp>
        <p:nvSpPr>
          <p:cNvPr id="22" name="TextBox 21">
            <a:extLst>
              <a:ext uri="{FF2B5EF4-FFF2-40B4-BE49-F238E27FC236}">
                <a16:creationId xmlns:a16="http://schemas.microsoft.com/office/drawing/2014/main" id="{BF105AE2-571B-7F4B-84BB-40322213FE4B}"/>
              </a:ext>
            </a:extLst>
          </p:cNvPr>
          <p:cNvSpPr txBox="1"/>
          <p:nvPr/>
        </p:nvSpPr>
        <p:spPr>
          <a:xfrm>
            <a:off x="5029200" y="1532785"/>
            <a:ext cx="4024303" cy="1107996"/>
          </a:xfrm>
          <a:prstGeom prst="rect">
            <a:avLst/>
          </a:prstGeom>
          <a:noFill/>
        </p:spPr>
        <p:txBody>
          <a:bodyPr wrap="square" rtlCol="0">
            <a:spAutoFit/>
          </a:bodyPr>
          <a:lstStyle/>
          <a:p>
            <a:pPr algn="ctr"/>
            <a:r>
              <a:rPr lang="en-US" sz="2200" dirty="0"/>
              <a:t>the same expression </a:t>
            </a:r>
            <a:r>
              <a:rPr lang="en-US" sz="2200" b="1" dirty="0">
                <a:solidFill>
                  <a:schemeClr val="accent3">
                    <a:lumMod val="75000"/>
                  </a:schemeClr>
                </a:solidFill>
              </a:rPr>
              <a:t>16</a:t>
            </a:r>
            <a:r>
              <a:rPr lang="en-US" sz="2200" dirty="0"/>
              <a:t> is translated into different code depending on how it's used.</a:t>
            </a:r>
          </a:p>
        </p:txBody>
      </p:sp>
      <p:sp>
        <p:nvSpPr>
          <p:cNvPr id="23" name="TextBox 22">
            <a:extLst>
              <a:ext uri="{FF2B5EF4-FFF2-40B4-BE49-F238E27FC236}">
                <a16:creationId xmlns:a16="http://schemas.microsoft.com/office/drawing/2014/main" id="{2BABC446-AF7B-4D48-815D-BB741E717401}"/>
              </a:ext>
            </a:extLst>
          </p:cNvPr>
          <p:cNvSpPr txBox="1"/>
          <p:nvPr/>
        </p:nvSpPr>
        <p:spPr>
          <a:xfrm>
            <a:off x="5257800" y="2892748"/>
            <a:ext cx="3552032" cy="769441"/>
          </a:xfrm>
          <a:prstGeom prst="rect">
            <a:avLst/>
          </a:prstGeom>
          <a:noFill/>
        </p:spPr>
        <p:txBody>
          <a:bodyPr wrap="square" rtlCol="0">
            <a:spAutoFit/>
          </a:bodyPr>
          <a:lstStyle/>
          <a:p>
            <a:pPr algn="ctr"/>
            <a:r>
              <a:rPr lang="en-US" sz="2200" dirty="0"/>
              <a:t>if this seems complicated, </a:t>
            </a:r>
            <a:r>
              <a:rPr lang="en-US" sz="2200" b="1" i="1" dirty="0"/>
              <a:t>yeah, it is</a:t>
            </a:r>
          </a:p>
        </p:txBody>
      </p:sp>
      <p:sp>
        <p:nvSpPr>
          <p:cNvPr id="24" name="TextBox 23">
            <a:extLst>
              <a:ext uri="{FF2B5EF4-FFF2-40B4-BE49-F238E27FC236}">
                <a16:creationId xmlns:a16="http://schemas.microsoft.com/office/drawing/2014/main" id="{A82AF8DA-93DD-4F45-92C5-3BCD6DBFC1BD}"/>
              </a:ext>
            </a:extLst>
          </p:cNvPr>
          <p:cNvSpPr txBox="1"/>
          <p:nvPr/>
        </p:nvSpPr>
        <p:spPr>
          <a:xfrm>
            <a:off x="5363308" y="3989679"/>
            <a:ext cx="3552032" cy="769441"/>
          </a:xfrm>
          <a:prstGeom prst="rect">
            <a:avLst/>
          </a:prstGeom>
          <a:noFill/>
        </p:spPr>
        <p:txBody>
          <a:bodyPr wrap="square" rtlCol="0">
            <a:spAutoFit/>
          </a:bodyPr>
          <a:lstStyle/>
          <a:p>
            <a:pPr algn="ctr"/>
            <a:r>
              <a:rPr lang="en-US" sz="2200" dirty="0"/>
              <a:t>but we'll come back to this and solve it by being lazy!</a:t>
            </a:r>
          </a:p>
        </p:txBody>
      </p:sp>
    </p:spTree>
    <p:extLst>
      <p:ext uri="{BB962C8B-B14F-4D97-AF65-F5344CB8AC3E}">
        <p14:creationId xmlns:p14="http://schemas.microsoft.com/office/powerpoint/2010/main" val="4711387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5"/>
      <p:bldP spid="8" grpId="0" animBg="1"/>
      <p:bldP spid="9" grpId="0" bldLvl="5"/>
      <p:bldP spid="13" grpId="0" bldLvl="5"/>
      <p:bldP spid="14" grpId="0" animBg="1"/>
      <p:bldP spid="15" grpId="0" bldLvl="5"/>
      <p:bldP spid="16" grpId="0" bldLvl="5"/>
      <p:bldP spid="17" grpId="0" animBg="1"/>
      <p:bldP spid="18" grpId="0" bldLvl="5"/>
      <p:bldP spid="19" grpId="0" bldLvl="5"/>
      <p:bldP spid="20" grpId="0"/>
      <p:bldP spid="21" grpId="0"/>
      <p:bldP spid="22" grpId="0"/>
      <p:bldP spid="23" grpId="0"/>
      <p:bldP spid="2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96DA0-5347-EA48-B023-D01514B33059}"/>
              </a:ext>
            </a:extLst>
          </p:cNvPr>
          <p:cNvSpPr>
            <a:spLocks noGrp="1"/>
          </p:cNvSpPr>
          <p:nvPr>
            <p:ph type="title"/>
          </p:nvPr>
        </p:nvSpPr>
        <p:spPr/>
        <p:txBody>
          <a:bodyPr/>
          <a:lstStyle/>
          <a:p>
            <a:r>
              <a:rPr lang="en-US" dirty="0" err="1"/>
              <a:t>Codegen</a:t>
            </a:r>
            <a:r>
              <a:rPr lang="en-US" dirty="0"/>
              <a:t> for statements</a:t>
            </a:r>
          </a:p>
        </p:txBody>
      </p:sp>
      <p:sp>
        <p:nvSpPr>
          <p:cNvPr id="3" name="Content Placeholder 2">
            <a:extLst>
              <a:ext uri="{FF2B5EF4-FFF2-40B4-BE49-F238E27FC236}">
                <a16:creationId xmlns:a16="http://schemas.microsoft.com/office/drawing/2014/main" id="{DFCB1ED8-9088-0441-8766-D76241446556}"/>
              </a:ext>
            </a:extLst>
          </p:cNvPr>
          <p:cNvSpPr>
            <a:spLocks noGrp="1"/>
          </p:cNvSpPr>
          <p:nvPr>
            <p:ph idx="1"/>
          </p:nvPr>
        </p:nvSpPr>
        <p:spPr/>
        <p:txBody>
          <a:bodyPr/>
          <a:lstStyle/>
          <a:p>
            <a:r>
              <a:rPr lang="en-US" dirty="0"/>
              <a:t>lots of statements do </a:t>
            </a:r>
            <a:r>
              <a:rPr lang="en-US" b="1" dirty="0"/>
              <a:t>control flow, </a:t>
            </a:r>
            <a:r>
              <a:rPr lang="en-US" dirty="0"/>
              <a:t>meaning the output code is </a:t>
            </a:r>
            <a:r>
              <a:rPr lang="en-US" dirty="0" err="1"/>
              <a:t>gonna</a:t>
            </a:r>
            <a:r>
              <a:rPr lang="en-US" dirty="0"/>
              <a:t> have labels and jumps and branches (</a:t>
            </a:r>
            <a:r>
              <a:rPr lang="en-US" dirty="0" err="1"/>
              <a:t>ew</a:t>
            </a:r>
            <a:r>
              <a:rPr lang="en-US" dirty="0"/>
              <a:t>).</a:t>
            </a:r>
          </a:p>
          <a:p>
            <a:pPr lvl="1"/>
            <a:r>
              <a:rPr lang="en-US" dirty="0"/>
              <a:t>fortunately, the templates for these are pretty straightforward and set in stone – there's only one real "right" way to do an if-else.</a:t>
            </a:r>
          </a:p>
          <a:p>
            <a:r>
              <a:rPr lang="en-US" dirty="0"/>
              <a:t>sequential statements (like </a:t>
            </a:r>
            <a:r>
              <a:rPr lang="en-US" b="1" dirty="0"/>
              <a:t>{ </a:t>
            </a:r>
            <a:r>
              <a:rPr lang="en-US" dirty="0"/>
              <a:t>blocks </a:t>
            </a:r>
            <a:r>
              <a:rPr lang="en-US" b="1" dirty="0"/>
              <a:t>}</a:t>
            </a:r>
            <a:r>
              <a:rPr lang="en-US" dirty="0"/>
              <a:t>) are no problem.</a:t>
            </a:r>
          </a:p>
          <a:p>
            <a:pPr lvl="1"/>
            <a:r>
              <a:rPr lang="en-US" dirty="0"/>
              <a:t>you just translate each statement one after another, and </a:t>
            </a:r>
            <a:r>
              <a:rPr lang="en-US" b="1" dirty="0"/>
              <a:t>concatenate </a:t>
            </a:r>
            <a:r>
              <a:rPr lang="en-US" dirty="0"/>
              <a:t>the code together. (yes, seriously!)</a:t>
            </a:r>
          </a:p>
          <a:p>
            <a:r>
              <a:rPr lang="en-US" dirty="0"/>
              <a:t>even nested statements are simple thanks to the AST.</a:t>
            </a:r>
          </a:p>
          <a:p>
            <a:pPr lvl="1"/>
            <a:r>
              <a:rPr lang="en-US" dirty="0"/>
              <a:t>with the power of recursion, it all works out. </a:t>
            </a:r>
            <a:r>
              <a:rPr lang="en-US" i="1" dirty="0"/>
              <a:t>trust recursion.</a:t>
            </a:r>
          </a:p>
          <a:p>
            <a:r>
              <a:rPr lang="en-US" dirty="0"/>
              <a:t>but I think that's enough of an introduction to </a:t>
            </a:r>
            <a:r>
              <a:rPr lang="en-US" dirty="0" err="1"/>
              <a:t>codegen</a:t>
            </a:r>
            <a:r>
              <a:rPr lang="en-US" dirty="0"/>
              <a:t>.</a:t>
            </a:r>
          </a:p>
          <a:p>
            <a:r>
              <a:rPr lang="en-US" dirty="0"/>
              <a:t>let's assume we have it working. </a:t>
            </a:r>
            <a:r>
              <a:rPr lang="en-US" b="1" dirty="0"/>
              <a:t>does that mean we now have a working program? are we </a:t>
            </a:r>
            <a:r>
              <a:rPr lang="en-US" b="1" i="1" dirty="0"/>
              <a:t>done with compiler??</a:t>
            </a:r>
          </a:p>
          <a:p>
            <a:pPr lvl="1"/>
            <a:r>
              <a:rPr lang="en-US" dirty="0"/>
              <a:t>well…</a:t>
            </a:r>
          </a:p>
        </p:txBody>
      </p:sp>
      <p:sp>
        <p:nvSpPr>
          <p:cNvPr id="4" name="Slide Number Placeholder 3">
            <a:extLst>
              <a:ext uri="{FF2B5EF4-FFF2-40B4-BE49-F238E27FC236}">
                <a16:creationId xmlns:a16="http://schemas.microsoft.com/office/drawing/2014/main" id="{31D34DEE-54E7-5044-BEE1-567A512957C8}"/>
              </a:ext>
            </a:extLst>
          </p:cNvPr>
          <p:cNvSpPr>
            <a:spLocks noGrp="1"/>
          </p:cNvSpPr>
          <p:nvPr>
            <p:ph type="sldNum" sz="quarter" idx="12"/>
          </p:nvPr>
        </p:nvSpPr>
        <p:spPr/>
        <p:txBody>
          <a:bodyPr/>
          <a:lstStyle/>
          <a:p>
            <a:fld id="{3552B95B-556F-44BD-91A5-D80C1B9E2BB3}" type="slidenum">
              <a:rPr lang="en-US" smtClean="0"/>
              <a:pPr/>
              <a:t>21</a:t>
            </a:fld>
            <a:endParaRPr lang="en-US"/>
          </a:p>
        </p:txBody>
      </p:sp>
    </p:spTree>
    <p:extLst>
      <p:ext uri="{BB962C8B-B14F-4D97-AF65-F5344CB8AC3E}">
        <p14:creationId xmlns:p14="http://schemas.microsoft.com/office/powerpoint/2010/main" val="59330641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7EDB8-6DAA-7345-9B21-A25AF35CECE9}"/>
              </a:ext>
            </a:extLst>
          </p:cNvPr>
          <p:cNvSpPr>
            <a:spLocks noGrp="1"/>
          </p:cNvSpPr>
          <p:nvPr>
            <p:ph type="ctrTitle"/>
          </p:nvPr>
        </p:nvSpPr>
        <p:spPr/>
        <p:txBody>
          <a:bodyPr/>
          <a:lstStyle/>
          <a:p>
            <a:r>
              <a:rPr lang="en-US" dirty="0"/>
              <a:t>Linking and Executables</a:t>
            </a:r>
          </a:p>
        </p:txBody>
      </p:sp>
      <p:sp>
        <p:nvSpPr>
          <p:cNvPr id="3" name="Slide Number Placeholder 2">
            <a:extLst>
              <a:ext uri="{FF2B5EF4-FFF2-40B4-BE49-F238E27FC236}">
                <a16:creationId xmlns:a16="http://schemas.microsoft.com/office/drawing/2014/main" id="{E4A65BF2-CD2D-AC4C-A5D9-7EC308C0DCC4}"/>
              </a:ext>
            </a:extLst>
          </p:cNvPr>
          <p:cNvSpPr>
            <a:spLocks noGrp="1"/>
          </p:cNvSpPr>
          <p:nvPr>
            <p:ph type="sldNum" sz="quarter" idx="12"/>
          </p:nvPr>
        </p:nvSpPr>
        <p:spPr/>
        <p:txBody>
          <a:bodyPr/>
          <a:lstStyle/>
          <a:p>
            <a:fld id="{3552B95B-556F-44BD-91A5-D80C1B9E2BB3}" type="slidenum">
              <a:rPr lang="en-US" smtClean="0"/>
              <a:pPr/>
              <a:t>22</a:t>
            </a:fld>
            <a:endParaRPr lang="en-US"/>
          </a:p>
        </p:txBody>
      </p:sp>
    </p:spTree>
    <p:extLst>
      <p:ext uri="{BB962C8B-B14F-4D97-AF65-F5344CB8AC3E}">
        <p14:creationId xmlns:p14="http://schemas.microsoft.com/office/powerpoint/2010/main" val="291855408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A867D-9E2A-564C-976B-47C8E158F7C2}"/>
              </a:ext>
            </a:extLst>
          </p:cNvPr>
          <p:cNvSpPr>
            <a:spLocks noGrp="1"/>
          </p:cNvSpPr>
          <p:nvPr>
            <p:ph type="title"/>
          </p:nvPr>
        </p:nvSpPr>
        <p:spPr/>
        <p:txBody>
          <a:bodyPr/>
          <a:lstStyle/>
          <a:p>
            <a:r>
              <a:rPr lang="en-US" dirty="0" err="1"/>
              <a:t>Abunchafunctions</a:t>
            </a:r>
            <a:endParaRPr lang="en-US" dirty="0"/>
          </a:p>
        </p:txBody>
      </p:sp>
      <p:sp>
        <p:nvSpPr>
          <p:cNvPr id="3" name="Content Placeholder 2">
            <a:extLst>
              <a:ext uri="{FF2B5EF4-FFF2-40B4-BE49-F238E27FC236}">
                <a16:creationId xmlns:a16="http://schemas.microsoft.com/office/drawing/2014/main" id="{F52EA7C2-63B2-8D4A-A561-36A342305559}"/>
              </a:ext>
            </a:extLst>
          </p:cNvPr>
          <p:cNvSpPr>
            <a:spLocks noGrp="1"/>
          </p:cNvSpPr>
          <p:nvPr>
            <p:ph idx="1"/>
          </p:nvPr>
        </p:nvSpPr>
        <p:spPr>
          <a:xfrm>
            <a:off x="152400" y="495301"/>
            <a:ext cx="8991600" cy="783516"/>
          </a:xfrm>
        </p:spPr>
        <p:txBody>
          <a:bodyPr>
            <a:normAutofit/>
          </a:bodyPr>
          <a:lstStyle/>
          <a:p>
            <a:r>
              <a:rPr lang="en-US" dirty="0"/>
              <a:t>a simple program might be one </a:t>
            </a:r>
            <a:r>
              <a:rPr lang="en-US" b="1" dirty="0"/>
              <a:t>main()</a:t>
            </a:r>
            <a:r>
              <a:rPr lang="en-US" dirty="0"/>
              <a:t> function and nothing else.</a:t>
            </a:r>
          </a:p>
          <a:p>
            <a:r>
              <a:rPr lang="en-US" dirty="0"/>
              <a:t>if we have more functions, we can </a:t>
            </a:r>
            <a:r>
              <a:rPr lang="en-US" b="1" dirty="0"/>
              <a:t>concatenate </a:t>
            </a:r>
            <a:r>
              <a:rPr lang="en-US" dirty="0"/>
              <a:t>their code.</a:t>
            </a:r>
          </a:p>
          <a:p>
            <a:endParaRPr lang="en-US" dirty="0"/>
          </a:p>
        </p:txBody>
      </p:sp>
      <p:sp>
        <p:nvSpPr>
          <p:cNvPr id="4" name="Slide Number Placeholder 3">
            <a:extLst>
              <a:ext uri="{FF2B5EF4-FFF2-40B4-BE49-F238E27FC236}">
                <a16:creationId xmlns:a16="http://schemas.microsoft.com/office/drawing/2014/main" id="{10F165D0-28F0-AA44-8778-F96FA94E9DAB}"/>
              </a:ext>
            </a:extLst>
          </p:cNvPr>
          <p:cNvSpPr>
            <a:spLocks noGrp="1"/>
          </p:cNvSpPr>
          <p:nvPr>
            <p:ph type="sldNum" sz="quarter" idx="12"/>
          </p:nvPr>
        </p:nvSpPr>
        <p:spPr/>
        <p:txBody>
          <a:bodyPr/>
          <a:lstStyle/>
          <a:p>
            <a:fld id="{3552B95B-556F-44BD-91A5-D80C1B9E2BB3}" type="slidenum">
              <a:rPr lang="en-US" smtClean="0"/>
              <a:pPr/>
              <a:t>23</a:t>
            </a:fld>
            <a:endParaRPr lang="en-US"/>
          </a:p>
        </p:txBody>
      </p:sp>
      <p:sp>
        <p:nvSpPr>
          <p:cNvPr id="9" name="Rectangle 8">
            <a:extLst>
              <a:ext uri="{FF2B5EF4-FFF2-40B4-BE49-F238E27FC236}">
                <a16:creationId xmlns:a16="http://schemas.microsoft.com/office/drawing/2014/main" id="{A766DA98-A023-0F4E-ACEF-047EA1871A25}"/>
              </a:ext>
            </a:extLst>
          </p:cNvPr>
          <p:cNvSpPr/>
          <p:nvPr/>
        </p:nvSpPr>
        <p:spPr>
          <a:xfrm>
            <a:off x="271462" y="1202612"/>
            <a:ext cx="2209800" cy="3170099"/>
          </a:xfrm>
          <a:prstGeom prst="rect">
            <a:avLst/>
          </a:prstGeom>
        </p:spPr>
        <p:txBody>
          <a:bodyPr wrap="square">
            <a:spAutoFit/>
          </a:bodyPr>
          <a:lstStyle/>
          <a:p>
            <a:r>
              <a:rPr lang="en-US" sz="2000" b="1" dirty="0" err="1">
                <a:solidFill>
                  <a:srgbClr val="FF0000"/>
                </a:solidFill>
                <a:latin typeface="Consolas" panose="020B0609020204030204" pitchFamily="49" charset="0"/>
                <a:cs typeface="Consolas" panose="020B0609020204030204" pitchFamily="49" charset="0"/>
              </a:rPr>
              <a:t>fn</a:t>
            </a:r>
            <a:r>
              <a:rPr lang="en-US" sz="2000" b="1" dirty="0">
                <a:latin typeface="Consolas" panose="020B0609020204030204" pitchFamily="49" charset="0"/>
                <a:cs typeface="Consolas" panose="020B0609020204030204" pitchFamily="49" charset="0"/>
              </a:rPr>
              <a:t> main() { </a:t>
            </a:r>
          </a:p>
          <a:p>
            <a:r>
              <a:rPr lang="en-US" sz="2000" b="1" dirty="0">
                <a:latin typeface="Consolas" panose="020B0609020204030204" pitchFamily="49" charset="0"/>
                <a:cs typeface="Consolas" panose="020B0609020204030204" pitchFamily="49" charset="0"/>
              </a:rPr>
              <a:t>  f(</a:t>
            </a:r>
            <a:r>
              <a:rPr lang="en-US" sz="2000" b="1" dirty="0">
                <a:solidFill>
                  <a:schemeClr val="accent3">
                    <a:lumMod val="75000"/>
                  </a:schemeClr>
                </a:solidFill>
                <a:latin typeface="Consolas" panose="020B0609020204030204" pitchFamily="49" charset="0"/>
                <a:cs typeface="Consolas" panose="020B0609020204030204" pitchFamily="49" charset="0"/>
              </a:rPr>
              <a:t>10</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a:t>
            </a:r>
          </a:p>
          <a:p>
            <a:endParaRPr lang="en-US" sz="2000" b="1" dirty="0">
              <a:solidFill>
                <a:srgbClr val="FF0000"/>
              </a:solidFill>
              <a:latin typeface="Consolas" panose="020B0609020204030204" pitchFamily="49" charset="0"/>
              <a:cs typeface="Consolas" panose="020B0609020204030204" pitchFamily="49" charset="0"/>
            </a:endParaRPr>
          </a:p>
          <a:p>
            <a:r>
              <a:rPr lang="en-US" sz="2000" b="1" dirty="0" err="1">
                <a:solidFill>
                  <a:srgbClr val="FF0000"/>
                </a:solidFill>
                <a:latin typeface="Consolas" panose="020B0609020204030204" pitchFamily="49" charset="0"/>
                <a:cs typeface="Consolas" panose="020B0609020204030204" pitchFamily="49" charset="0"/>
              </a:rPr>
              <a:t>fn</a:t>
            </a:r>
            <a:r>
              <a:rPr lang="en-US" sz="2000" b="1" dirty="0">
                <a:latin typeface="Consolas" panose="020B0609020204030204" pitchFamily="49" charset="0"/>
                <a:cs typeface="Consolas" panose="020B0609020204030204" pitchFamily="49" charset="0"/>
              </a:rPr>
              <a:t> g(x) {</a:t>
            </a:r>
          </a:p>
          <a:p>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println</a:t>
            </a:r>
            <a:r>
              <a:rPr lang="en-US" sz="2000" b="1" dirty="0">
                <a:latin typeface="Consolas" panose="020B0609020204030204" pitchFamily="49" charset="0"/>
                <a:cs typeface="Consolas" panose="020B0609020204030204" pitchFamily="49" charset="0"/>
              </a:rPr>
              <a:t>(x);</a:t>
            </a:r>
          </a:p>
          <a:p>
            <a:r>
              <a:rPr lang="en-US" sz="2000" b="1" dirty="0">
                <a:latin typeface="Consolas" panose="020B0609020204030204" pitchFamily="49" charset="0"/>
                <a:cs typeface="Consolas" panose="020B0609020204030204" pitchFamily="49" charset="0"/>
              </a:rPr>
              <a:t>}</a:t>
            </a:r>
          </a:p>
          <a:p>
            <a:r>
              <a:rPr lang="en-US" sz="2000" b="1" dirty="0" err="1">
                <a:solidFill>
                  <a:srgbClr val="FF0000"/>
                </a:solidFill>
                <a:latin typeface="Consolas" panose="020B0609020204030204" pitchFamily="49" charset="0"/>
                <a:cs typeface="Consolas" panose="020B0609020204030204" pitchFamily="49" charset="0"/>
              </a:rPr>
              <a:t>fn</a:t>
            </a:r>
            <a:r>
              <a:rPr lang="en-US" sz="2000" b="1" dirty="0">
                <a:latin typeface="Consolas" panose="020B0609020204030204" pitchFamily="49" charset="0"/>
                <a:cs typeface="Consolas" panose="020B0609020204030204" pitchFamily="49" charset="0"/>
              </a:rPr>
              <a:t> f(x) {</a:t>
            </a:r>
          </a:p>
          <a:p>
            <a:r>
              <a:rPr lang="en-US" sz="2000" b="1" dirty="0">
                <a:latin typeface="Consolas" panose="020B0609020204030204" pitchFamily="49" charset="0"/>
                <a:cs typeface="Consolas" panose="020B0609020204030204" pitchFamily="49" charset="0"/>
              </a:rPr>
              <a:t>  g(x + </a:t>
            </a:r>
            <a:r>
              <a:rPr lang="en-US" sz="2000" b="1" dirty="0">
                <a:solidFill>
                  <a:schemeClr val="accent3">
                    <a:lumMod val="75000"/>
                  </a:schemeClr>
                </a:solidFill>
                <a:latin typeface="Consolas" panose="020B0609020204030204" pitchFamily="49" charset="0"/>
                <a:cs typeface="Consolas" panose="020B0609020204030204" pitchFamily="49" charset="0"/>
              </a:rPr>
              <a:t>5</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a:t>
            </a:r>
          </a:p>
        </p:txBody>
      </p:sp>
      <p:sp>
        <p:nvSpPr>
          <p:cNvPr id="11" name="Rectangle 10">
            <a:extLst>
              <a:ext uri="{FF2B5EF4-FFF2-40B4-BE49-F238E27FC236}">
                <a16:creationId xmlns:a16="http://schemas.microsoft.com/office/drawing/2014/main" id="{BEA125B1-8A1C-8E48-A0AA-7B77CA7A47E6}"/>
              </a:ext>
            </a:extLst>
          </p:cNvPr>
          <p:cNvSpPr/>
          <p:nvPr/>
        </p:nvSpPr>
        <p:spPr>
          <a:xfrm>
            <a:off x="2405062" y="1199495"/>
            <a:ext cx="2950369" cy="4401205"/>
          </a:xfrm>
          <a:prstGeom prst="rect">
            <a:avLst/>
          </a:prstGeom>
        </p:spPr>
        <p:txBody>
          <a:bodyPr wrap="square">
            <a:spAutoFit/>
          </a:bodyPr>
          <a:lstStyle/>
          <a:p>
            <a:r>
              <a:rPr lang="en-US" sz="2000" i="1" dirty="0">
                <a:latin typeface="Consolas" panose="020B0609020204030204" pitchFamily="49" charset="0"/>
                <a:cs typeface="Consolas" panose="020B0609020204030204" pitchFamily="49" charset="0"/>
              </a:rPr>
              <a:t>00: </a:t>
            </a:r>
            <a:r>
              <a:rPr lang="en-US" sz="2000" b="1" dirty="0">
                <a:solidFill>
                  <a:srgbClr val="FF0000"/>
                </a:solidFill>
                <a:latin typeface="Consolas" panose="020B0609020204030204" pitchFamily="49" charset="0"/>
                <a:cs typeface="Consolas" panose="020B0609020204030204" pitchFamily="49" charset="0"/>
              </a:rPr>
              <a:t>li</a:t>
            </a:r>
            <a:r>
              <a:rPr lang="en-US" sz="2000" b="1" dirty="0">
                <a:latin typeface="Consolas" panose="020B0609020204030204" pitchFamily="49" charset="0"/>
                <a:cs typeface="Consolas" panose="020B0609020204030204" pitchFamily="49" charset="0"/>
              </a:rPr>
              <a:t>   a0, </a:t>
            </a:r>
            <a:r>
              <a:rPr lang="en-US" sz="2000" b="1" dirty="0">
                <a:solidFill>
                  <a:schemeClr val="accent3">
                    <a:lumMod val="75000"/>
                  </a:schemeClr>
                </a:solidFill>
                <a:latin typeface="Consolas" panose="020B0609020204030204" pitchFamily="49" charset="0"/>
                <a:cs typeface="Consolas" panose="020B0609020204030204" pitchFamily="49" charset="0"/>
              </a:rPr>
              <a:t>10</a:t>
            </a:r>
          </a:p>
          <a:p>
            <a:r>
              <a:rPr lang="en-US" sz="2000" i="1" dirty="0">
                <a:latin typeface="Consolas" panose="020B0609020204030204" pitchFamily="49" charset="0"/>
                <a:cs typeface="Consolas" panose="020B0609020204030204" pitchFamily="49" charset="0"/>
              </a:rPr>
              <a:t>04: </a:t>
            </a:r>
            <a:r>
              <a:rPr lang="en-US" sz="2000" b="1" dirty="0" err="1">
                <a:solidFill>
                  <a:srgbClr val="FF0000"/>
                </a:solidFill>
                <a:latin typeface="Consolas" panose="020B0609020204030204" pitchFamily="49" charset="0"/>
                <a:cs typeface="Consolas" panose="020B0609020204030204" pitchFamily="49" charset="0"/>
              </a:rPr>
              <a:t>jal</a:t>
            </a:r>
            <a:r>
              <a:rPr lang="en-US" sz="2000" b="1" dirty="0">
                <a:solidFill>
                  <a:srgbClr val="FF0000"/>
                </a:solidFill>
                <a:latin typeface="Consolas" panose="020B0609020204030204" pitchFamily="49" charset="0"/>
                <a:cs typeface="Consolas" panose="020B0609020204030204" pitchFamily="49" charset="0"/>
              </a:rPr>
              <a:t>  </a:t>
            </a:r>
            <a:r>
              <a:rPr lang="en-US" sz="2000" b="1" dirty="0">
                <a:latin typeface="Consolas" panose="020B0609020204030204" pitchFamily="49" charset="0"/>
                <a:cs typeface="Consolas" panose="020B0609020204030204" pitchFamily="49" charset="0"/>
              </a:rPr>
              <a:t>f</a:t>
            </a:r>
          </a:p>
          <a:p>
            <a:r>
              <a:rPr lang="en-US" sz="2000" i="1" dirty="0">
                <a:latin typeface="Consolas" panose="020B0609020204030204" pitchFamily="49" charset="0"/>
                <a:cs typeface="Consolas" panose="020B0609020204030204" pitchFamily="49" charset="0"/>
              </a:rPr>
              <a:t>08: </a:t>
            </a:r>
            <a:r>
              <a:rPr lang="en-US" sz="2000" b="1" dirty="0">
                <a:solidFill>
                  <a:srgbClr val="FF0000"/>
                </a:solidFill>
                <a:latin typeface="Consolas" panose="020B0609020204030204" pitchFamily="49" charset="0"/>
                <a:cs typeface="Consolas" panose="020B0609020204030204" pitchFamily="49" charset="0"/>
              </a:rPr>
              <a:t>li</a:t>
            </a:r>
            <a:r>
              <a:rPr lang="en-US" sz="2000" b="1" dirty="0">
                <a:latin typeface="Consolas" panose="020B0609020204030204" pitchFamily="49" charset="0"/>
                <a:cs typeface="Consolas" panose="020B0609020204030204" pitchFamily="49" charset="0"/>
              </a:rPr>
              <a:t>   v0, </a:t>
            </a:r>
            <a:r>
              <a:rPr lang="en-US" sz="2000" b="1" dirty="0">
                <a:solidFill>
                  <a:schemeClr val="accent3">
                    <a:lumMod val="75000"/>
                  </a:schemeClr>
                </a:solidFill>
                <a:latin typeface="Consolas" panose="020B0609020204030204" pitchFamily="49" charset="0"/>
                <a:cs typeface="Consolas" panose="020B0609020204030204" pitchFamily="49" charset="0"/>
              </a:rPr>
              <a:t>10</a:t>
            </a:r>
            <a:endParaRPr lang="en-US" sz="2000" b="1" dirty="0">
              <a:latin typeface="Consolas" panose="020B0609020204030204" pitchFamily="49" charset="0"/>
              <a:cs typeface="Consolas" panose="020B0609020204030204" pitchFamily="49" charset="0"/>
            </a:endParaRPr>
          </a:p>
          <a:p>
            <a:r>
              <a:rPr lang="en-US" sz="2000" i="1" dirty="0">
                <a:latin typeface="Consolas" panose="020B0609020204030204" pitchFamily="49" charset="0"/>
                <a:cs typeface="Consolas" panose="020B0609020204030204" pitchFamily="49" charset="0"/>
              </a:rPr>
              <a:t>0C: </a:t>
            </a:r>
            <a:r>
              <a:rPr lang="en-US" sz="2000" b="1" dirty="0">
                <a:solidFill>
                  <a:srgbClr val="FF0000"/>
                </a:solidFill>
                <a:latin typeface="Consolas" panose="020B0609020204030204" pitchFamily="49" charset="0"/>
                <a:cs typeface="Consolas" panose="020B0609020204030204" pitchFamily="49" charset="0"/>
              </a:rPr>
              <a:t>syscall</a:t>
            </a:r>
          </a:p>
          <a:p>
            <a:r>
              <a:rPr lang="en-US" sz="2000" i="1" dirty="0">
                <a:latin typeface="Consolas" panose="020B0609020204030204" pitchFamily="49" charset="0"/>
                <a:cs typeface="Consolas" panose="020B0609020204030204" pitchFamily="49" charset="0"/>
              </a:rPr>
              <a:t>10: </a:t>
            </a:r>
            <a:r>
              <a:rPr lang="en-US" sz="2000" b="1" dirty="0">
                <a:solidFill>
                  <a:srgbClr val="FF0000"/>
                </a:solidFill>
                <a:latin typeface="Consolas" panose="020B0609020204030204" pitchFamily="49" charset="0"/>
                <a:cs typeface="Consolas" panose="020B0609020204030204" pitchFamily="49" charset="0"/>
              </a:rPr>
              <a:t>li</a:t>
            </a:r>
            <a:r>
              <a:rPr lang="en-US" sz="2000" b="1" dirty="0">
                <a:latin typeface="Consolas" panose="020B0609020204030204" pitchFamily="49" charset="0"/>
                <a:cs typeface="Consolas" panose="020B0609020204030204" pitchFamily="49" charset="0"/>
              </a:rPr>
              <a:t>   v0, </a:t>
            </a:r>
            <a:r>
              <a:rPr lang="en-US" sz="2000" b="1" dirty="0">
                <a:solidFill>
                  <a:schemeClr val="accent3">
                    <a:lumMod val="75000"/>
                  </a:schemeClr>
                </a:solidFill>
                <a:latin typeface="Consolas" panose="020B0609020204030204" pitchFamily="49" charset="0"/>
                <a:cs typeface="Consolas" panose="020B0609020204030204" pitchFamily="49" charset="0"/>
              </a:rPr>
              <a:t>1</a:t>
            </a:r>
          </a:p>
          <a:p>
            <a:r>
              <a:rPr lang="en-US" sz="2000" i="1" dirty="0">
                <a:latin typeface="Consolas" panose="020B0609020204030204" pitchFamily="49" charset="0"/>
                <a:cs typeface="Consolas" panose="020B0609020204030204" pitchFamily="49" charset="0"/>
              </a:rPr>
              <a:t>14: </a:t>
            </a:r>
            <a:r>
              <a:rPr lang="en-US" sz="2000" b="1" dirty="0">
                <a:solidFill>
                  <a:srgbClr val="FF0000"/>
                </a:solidFill>
                <a:latin typeface="Consolas" panose="020B0609020204030204" pitchFamily="49" charset="0"/>
                <a:cs typeface="Consolas" panose="020B0609020204030204" pitchFamily="49" charset="0"/>
              </a:rPr>
              <a:t>syscall</a:t>
            </a:r>
          </a:p>
          <a:p>
            <a:r>
              <a:rPr lang="en-US" sz="2000" i="1" dirty="0">
                <a:latin typeface="Consolas" panose="020B0609020204030204" pitchFamily="49" charset="0"/>
                <a:cs typeface="Consolas" panose="020B0609020204030204" pitchFamily="49" charset="0"/>
              </a:rPr>
              <a:t>18: </a:t>
            </a:r>
            <a:r>
              <a:rPr lang="en-US" sz="2000" b="1" dirty="0" err="1">
                <a:solidFill>
                  <a:srgbClr val="FF0000"/>
                </a:solidFill>
                <a:latin typeface="Consolas" panose="020B0609020204030204" pitchFamily="49" charset="0"/>
                <a:cs typeface="Consolas" panose="020B0609020204030204" pitchFamily="49" charset="0"/>
              </a:rPr>
              <a:t>jr</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ra</a:t>
            </a:r>
            <a:endParaRPr lang="en-US" sz="2000" i="1" dirty="0">
              <a:latin typeface="Consolas" panose="020B0609020204030204" pitchFamily="49" charset="0"/>
              <a:cs typeface="Consolas" panose="020B0609020204030204" pitchFamily="49" charset="0"/>
            </a:endParaRPr>
          </a:p>
          <a:p>
            <a:r>
              <a:rPr lang="en-US" sz="2000" i="1" dirty="0">
                <a:latin typeface="Consolas" panose="020B0609020204030204" pitchFamily="49" charset="0"/>
                <a:cs typeface="Consolas" panose="020B0609020204030204" pitchFamily="49" charset="0"/>
              </a:rPr>
              <a:t>1C: </a:t>
            </a:r>
            <a:r>
              <a:rPr lang="en-US" sz="2000" b="1" dirty="0">
                <a:solidFill>
                  <a:srgbClr val="FF0000"/>
                </a:solidFill>
                <a:latin typeface="Consolas" panose="020B0609020204030204" pitchFamily="49" charset="0"/>
                <a:cs typeface="Consolas" panose="020B0609020204030204" pitchFamily="49" charset="0"/>
              </a:rPr>
              <a:t>sub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4</a:t>
            </a:r>
          </a:p>
          <a:p>
            <a:r>
              <a:rPr lang="en-US" sz="2000" i="1" dirty="0">
                <a:latin typeface="Consolas" panose="020B0609020204030204" pitchFamily="49" charset="0"/>
                <a:cs typeface="Consolas" panose="020B0609020204030204" pitchFamily="49" charset="0"/>
              </a:rPr>
              <a:t>20: </a:t>
            </a:r>
            <a:r>
              <a:rPr lang="en-US" sz="2000" b="1" dirty="0" err="1">
                <a:solidFill>
                  <a:srgbClr val="FF0000"/>
                </a:solidFill>
                <a:latin typeface="Consolas" panose="020B0609020204030204" pitchFamily="49" charset="0"/>
                <a:cs typeface="Consolas" panose="020B0609020204030204" pitchFamily="49" charset="0"/>
              </a:rPr>
              <a:t>sw</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ra</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0</a:t>
            </a:r>
            <a:r>
              <a:rPr lang="en-US" sz="2000" b="1" dirty="0">
                <a:latin typeface="Consolas" panose="020B0609020204030204" pitchFamily="49" charset="0"/>
                <a:cs typeface="Consolas" panose="020B0609020204030204" pitchFamily="49" charset="0"/>
              </a:rPr>
              <a:t>(</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a:t>
            </a:r>
          </a:p>
          <a:p>
            <a:r>
              <a:rPr lang="en-US" sz="2000" i="1" dirty="0">
                <a:latin typeface="Consolas" panose="020B0609020204030204" pitchFamily="49" charset="0"/>
                <a:cs typeface="Consolas" panose="020B0609020204030204" pitchFamily="49" charset="0"/>
              </a:rPr>
              <a:t>24: </a:t>
            </a:r>
            <a:r>
              <a:rPr lang="en-US" sz="2000" b="1" dirty="0">
                <a:solidFill>
                  <a:srgbClr val="FF0000"/>
                </a:solidFill>
                <a:latin typeface="Consolas" panose="020B0609020204030204" pitchFamily="49" charset="0"/>
                <a:cs typeface="Consolas" panose="020B0609020204030204" pitchFamily="49" charset="0"/>
              </a:rPr>
              <a:t>add  </a:t>
            </a:r>
            <a:r>
              <a:rPr lang="en-US" sz="2000" b="1" dirty="0">
                <a:latin typeface="Consolas" panose="020B0609020204030204" pitchFamily="49" charset="0"/>
                <a:cs typeface="Consolas" panose="020B0609020204030204" pitchFamily="49" charset="0"/>
              </a:rPr>
              <a:t>a0, a0, </a:t>
            </a:r>
            <a:r>
              <a:rPr lang="en-US" sz="2000" b="1" dirty="0">
                <a:solidFill>
                  <a:schemeClr val="accent3">
                    <a:lumMod val="75000"/>
                  </a:schemeClr>
                </a:solidFill>
                <a:latin typeface="Consolas" panose="020B0609020204030204" pitchFamily="49" charset="0"/>
                <a:cs typeface="Consolas" panose="020B0609020204030204" pitchFamily="49" charset="0"/>
              </a:rPr>
              <a:t>5</a:t>
            </a:r>
          </a:p>
          <a:p>
            <a:r>
              <a:rPr lang="en-US" sz="2000" i="1" dirty="0">
                <a:latin typeface="Consolas" panose="020B0609020204030204" pitchFamily="49" charset="0"/>
                <a:cs typeface="Consolas" panose="020B0609020204030204" pitchFamily="49" charset="0"/>
              </a:rPr>
              <a:t>28: </a:t>
            </a:r>
            <a:r>
              <a:rPr lang="en-US" sz="2000" b="1" dirty="0" err="1">
                <a:solidFill>
                  <a:srgbClr val="FF0000"/>
                </a:solidFill>
                <a:latin typeface="Consolas" panose="020B0609020204030204" pitchFamily="49" charset="0"/>
                <a:cs typeface="Consolas" panose="020B0609020204030204" pitchFamily="49" charset="0"/>
              </a:rPr>
              <a:t>jal</a:t>
            </a:r>
            <a:r>
              <a:rPr lang="en-US" sz="2000" b="1" dirty="0">
                <a:latin typeface="Consolas" panose="020B0609020204030204" pitchFamily="49" charset="0"/>
                <a:cs typeface="Consolas" panose="020B0609020204030204" pitchFamily="49" charset="0"/>
              </a:rPr>
              <a:t>  g</a:t>
            </a:r>
            <a:endParaRPr lang="en-US" sz="2000" b="1" dirty="0">
              <a:solidFill>
                <a:srgbClr val="FF0000"/>
              </a:solidFill>
              <a:latin typeface="Consolas" panose="020B0609020204030204" pitchFamily="49" charset="0"/>
              <a:cs typeface="Consolas" panose="020B0609020204030204" pitchFamily="49" charset="0"/>
            </a:endParaRPr>
          </a:p>
          <a:p>
            <a:r>
              <a:rPr lang="en-US" sz="2000" i="1" dirty="0">
                <a:latin typeface="Consolas" panose="020B0609020204030204" pitchFamily="49" charset="0"/>
                <a:cs typeface="Consolas" panose="020B0609020204030204" pitchFamily="49" charset="0"/>
              </a:rPr>
              <a:t>2C: </a:t>
            </a:r>
            <a:r>
              <a:rPr lang="en-US" sz="2000" b="1" dirty="0" err="1">
                <a:solidFill>
                  <a:srgbClr val="FF0000"/>
                </a:solidFill>
                <a:latin typeface="Consolas" panose="020B0609020204030204" pitchFamily="49" charset="0"/>
                <a:cs typeface="Consolas" panose="020B0609020204030204" pitchFamily="49" charset="0"/>
              </a:rPr>
              <a:t>lw</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ra</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0</a:t>
            </a:r>
            <a:r>
              <a:rPr lang="en-US" sz="2000" b="1" dirty="0">
                <a:latin typeface="Consolas" panose="020B0609020204030204" pitchFamily="49" charset="0"/>
                <a:cs typeface="Consolas" panose="020B0609020204030204" pitchFamily="49" charset="0"/>
              </a:rPr>
              <a:t>(</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a:t>
            </a:r>
          </a:p>
          <a:p>
            <a:r>
              <a:rPr lang="en-US" sz="2000" i="1" dirty="0">
                <a:latin typeface="Consolas" panose="020B0609020204030204" pitchFamily="49" charset="0"/>
                <a:cs typeface="Consolas" panose="020B0609020204030204" pitchFamily="49" charset="0"/>
              </a:rPr>
              <a:t>30: </a:t>
            </a:r>
            <a:r>
              <a:rPr lang="en-US" sz="2000" b="1" dirty="0">
                <a:solidFill>
                  <a:srgbClr val="FF0000"/>
                </a:solidFill>
                <a:latin typeface="Consolas" panose="020B0609020204030204" pitchFamily="49" charset="0"/>
                <a:cs typeface="Consolas" panose="020B0609020204030204" pitchFamily="49" charset="0"/>
              </a:rPr>
              <a:t>add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4</a:t>
            </a:r>
          </a:p>
          <a:p>
            <a:r>
              <a:rPr lang="en-US" sz="2000" i="1" dirty="0">
                <a:latin typeface="Consolas" panose="020B0609020204030204" pitchFamily="49" charset="0"/>
                <a:cs typeface="Consolas" panose="020B0609020204030204" pitchFamily="49" charset="0"/>
              </a:rPr>
              <a:t>34: </a:t>
            </a:r>
            <a:r>
              <a:rPr lang="en-US" sz="2000" b="1" dirty="0" err="1">
                <a:solidFill>
                  <a:srgbClr val="FF0000"/>
                </a:solidFill>
                <a:latin typeface="Consolas" panose="020B0609020204030204" pitchFamily="49" charset="0"/>
                <a:cs typeface="Consolas" panose="020B0609020204030204" pitchFamily="49" charset="0"/>
              </a:rPr>
              <a:t>jr</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ra</a:t>
            </a:r>
            <a:endParaRPr lang="en-US" sz="2000" i="1" dirty="0">
              <a:latin typeface="Consolas" panose="020B0609020204030204" pitchFamily="49" charset="0"/>
              <a:cs typeface="Consolas" panose="020B0609020204030204" pitchFamily="49" charset="0"/>
            </a:endParaRPr>
          </a:p>
        </p:txBody>
      </p:sp>
      <p:cxnSp>
        <p:nvCxnSpPr>
          <p:cNvPr id="15" name="Straight Connector 14">
            <a:extLst>
              <a:ext uri="{FF2B5EF4-FFF2-40B4-BE49-F238E27FC236}">
                <a16:creationId xmlns:a16="http://schemas.microsoft.com/office/drawing/2014/main" id="{BD613B6B-F961-5B49-9C4A-6DB12B98BC9A}"/>
              </a:ext>
            </a:extLst>
          </p:cNvPr>
          <p:cNvCxnSpPr/>
          <p:nvPr/>
        </p:nvCxnSpPr>
        <p:spPr>
          <a:xfrm>
            <a:off x="138112" y="2472728"/>
            <a:ext cx="4114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F28C707-8253-B849-AD67-699DAEE7F606}"/>
              </a:ext>
            </a:extLst>
          </p:cNvPr>
          <p:cNvCxnSpPr/>
          <p:nvPr/>
        </p:nvCxnSpPr>
        <p:spPr>
          <a:xfrm>
            <a:off x="138112" y="3387128"/>
            <a:ext cx="4114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8F3CFCF-B74C-614E-B6DD-02117A5E5847}"/>
              </a:ext>
            </a:extLst>
          </p:cNvPr>
          <p:cNvSpPr txBox="1"/>
          <p:nvPr/>
        </p:nvSpPr>
        <p:spPr>
          <a:xfrm>
            <a:off x="5545931" y="1504492"/>
            <a:ext cx="3124200" cy="769441"/>
          </a:xfrm>
          <a:prstGeom prst="rect">
            <a:avLst/>
          </a:prstGeom>
          <a:noFill/>
        </p:spPr>
        <p:txBody>
          <a:bodyPr wrap="square" rtlCol="0">
            <a:spAutoFit/>
          </a:bodyPr>
          <a:lstStyle/>
          <a:p>
            <a:pPr algn="ctr"/>
            <a:r>
              <a:rPr lang="en-US" sz="2200" dirty="0"/>
              <a:t>what addresses should the </a:t>
            </a:r>
            <a:r>
              <a:rPr lang="en-US" sz="2200" b="1" dirty="0" err="1">
                <a:solidFill>
                  <a:srgbClr val="FF0000"/>
                </a:solidFill>
              </a:rPr>
              <a:t>jal</a:t>
            </a:r>
            <a:r>
              <a:rPr lang="en-US" sz="2200" dirty="0" err="1"/>
              <a:t>s</a:t>
            </a:r>
            <a:r>
              <a:rPr lang="en-US" sz="2200" dirty="0"/>
              <a:t> jump to?</a:t>
            </a:r>
          </a:p>
        </p:txBody>
      </p:sp>
      <p:sp>
        <p:nvSpPr>
          <p:cNvPr id="19" name="TextBox 18">
            <a:extLst>
              <a:ext uri="{FF2B5EF4-FFF2-40B4-BE49-F238E27FC236}">
                <a16:creationId xmlns:a16="http://schemas.microsoft.com/office/drawing/2014/main" id="{DCAD7A84-443A-0F44-8B2B-7ECA33DF18ED}"/>
              </a:ext>
            </a:extLst>
          </p:cNvPr>
          <p:cNvSpPr txBox="1"/>
          <p:nvPr/>
        </p:nvSpPr>
        <p:spPr>
          <a:xfrm>
            <a:off x="5197078" y="2472728"/>
            <a:ext cx="4105275" cy="769441"/>
          </a:xfrm>
          <a:prstGeom prst="rect">
            <a:avLst/>
          </a:prstGeom>
          <a:noFill/>
        </p:spPr>
        <p:txBody>
          <a:bodyPr wrap="square" rtlCol="0">
            <a:spAutoFit/>
          </a:bodyPr>
          <a:lstStyle/>
          <a:p>
            <a:pPr algn="ctr"/>
            <a:r>
              <a:rPr lang="en-US" sz="2200" dirty="0"/>
              <a:t>but </a:t>
            </a:r>
            <a:r>
              <a:rPr lang="en-US" sz="2200" i="1" dirty="0"/>
              <a:t>when</a:t>
            </a:r>
            <a:r>
              <a:rPr lang="en-US" sz="2200" dirty="0"/>
              <a:t> do we know the addresses of the functions?</a:t>
            </a:r>
          </a:p>
        </p:txBody>
      </p:sp>
      <p:sp>
        <p:nvSpPr>
          <p:cNvPr id="20" name="TextBox 19">
            <a:extLst>
              <a:ext uri="{FF2B5EF4-FFF2-40B4-BE49-F238E27FC236}">
                <a16:creationId xmlns:a16="http://schemas.microsoft.com/office/drawing/2014/main" id="{5952EB54-9A7F-F344-95E2-66186816EEF2}"/>
              </a:ext>
            </a:extLst>
          </p:cNvPr>
          <p:cNvSpPr txBox="1"/>
          <p:nvPr/>
        </p:nvSpPr>
        <p:spPr>
          <a:xfrm>
            <a:off x="5410199" y="3333416"/>
            <a:ext cx="3767138" cy="769441"/>
          </a:xfrm>
          <a:prstGeom prst="rect">
            <a:avLst/>
          </a:prstGeom>
          <a:noFill/>
        </p:spPr>
        <p:txBody>
          <a:bodyPr wrap="square" rtlCol="0">
            <a:spAutoFit/>
          </a:bodyPr>
          <a:lstStyle/>
          <a:p>
            <a:pPr algn="ctr"/>
            <a:r>
              <a:rPr lang="en-US" sz="2200" dirty="0"/>
              <a:t>what if I define the functions in a </a:t>
            </a:r>
            <a:r>
              <a:rPr lang="en-US" sz="2200" b="1" dirty="0"/>
              <a:t>different order?</a:t>
            </a:r>
          </a:p>
        </p:txBody>
      </p:sp>
      <p:sp>
        <p:nvSpPr>
          <p:cNvPr id="21" name="TextBox 20">
            <a:extLst>
              <a:ext uri="{FF2B5EF4-FFF2-40B4-BE49-F238E27FC236}">
                <a16:creationId xmlns:a16="http://schemas.microsoft.com/office/drawing/2014/main" id="{20B4CE81-74D5-E647-A863-FE86592820C1}"/>
              </a:ext>
            </a:extLst>
          </p:cNvPr>
          <p:cNvSpPr txBox="1"/>
          <p:nvPr/>
        </p:nvSpPr>
        <p:spPr>
          <a:xfrm>
            <a:off x="5661421" y="4291890"/>
            <a:ext cx="3309938" cy="769441"/>
          </a:xfrm>
          <a:prstGeom prst="rect">
            <a:avLst/>
          </a:prstGeom>
          <a:noFill/>
        </p:spPr>
        <p:txBody>
          <a:bodyPr wrap="square" rtlCol="0">
            <a:spAutoFit/>
          </a:bodyPr>
          <a:lstStyle/>
          <a:p>
            <a:pPr algn="ctr"/>
            <a:r>
              <a:rPr lang="en-US" sz="2200" dirty="0"/>
              <a:t>what if I call functions </a:t>
            </a:r>
            <a:r>
              <a:rPr lang="en-US" sz="2200" b="1" dirty="0"/>
              <a:t>from the </a:t>
            </a:r>
            <a:r>
              <a:rPr lang="en-US" sz="2200" b="1" dirty="0" err="1"/>
              <a:t>stdlib</a:t>
            </a:r>
            <a:r>
              <a:rPr lang="en-US" sz="2200" b="1" dirty="0"/>
              <a:t>?</a:t>
            </a:r>
          </a:p>
        </p:txBody>
      </p:sp>
    </p:spTree>
    <p:extLst>
      <p:ext uri="{BB962C8B-B14F-4D97-AF65-F5344CB8AC3E}">
        <p14:creationId xmlns:p14="http://schemas.microsoft.com/office/powerpoint/2010/main" val="429211696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8" grpId="0"/>
      <p:bldP spid="19" grpId="0"/>
      <p:bldP spid="20" grpId="0"/>
      <p:bldP spid="2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989BD-9D7E-EF4C-8042-1C68629694CE}"/>
              </a:ext>
            </a:extLst>
          </p:cNvPr>
          <p:cNvSpPr>
            <a:spLocks noGrp="1"/>
          </p:cNvSpPr>
          <p:nvPr>
            <p:ph type="title"/>
          </p:nvPr>
        </p:nvSpPr>
        <p:spPr/>
        <p:txBody>
          <a:bodyPr/>
          <a:lstStyle/>
          <a:p>
            <a:r>
              <a:rPr lang="en-US" dirty="0"/>
              <a:t>Trying to do too much at once</a:t>
            </a:r>
          </a:p>
        </p:txBody>
      </p:sp>
      <p:sp>
        <p:nvSpPr>
          <p:cNvPr id="3" name="Content Placeholder 2">
            <a:extLst>
              <a:ext uri="{FF2B5EF4-FFF2-40B4-BE49-F238E27FC236}">
                <a16:creationId xmlns:a16="http://schemas.microsoft.com/office/drawing/2014/main" id="{337F36F1-7A37-F342-9A14-0EEA41CC7FEC}"/>
              </a:ext>
            </a:extLst>
          </p:cNvPr>
          <p:cNvSpPr>
            <a:spLocks noGrp="1"/>
          </p:cNvSpPr>
          <p:nvPr>
            <p:ph idx="1"/>
          </p:nvPr>
        </p:nvSpPr>
        <p:spPr>
          <a:xfrm>
            <a:off x="152400" y="495302"/>
            <a:ext cx="8991600" cy="512292"/>
          </a:xfrm>
        </p:spPr>
        <p:txBody>
          <a:bodyPr/>
          <a:lstStyle/>
          <a:p>
            <a:r>
              <a:rPr lang="en-US" dirty="0"/>
              <a:t>really, we're moving past what the compiler should be doing…</a:t>
            </a:r>
          </a:p>
        </p:txBody>
      </p:sp>
      <p:sp>
        <p:nvSpPr>
          <p:cNvPr id="4" name="Slide Number Placeholder 3">
            <a:extLst>
              <a:ext uri="{FF2B5EF4-FFF2-40B4-BE49-F238E27FC236}">
                <a16:creationId xmlns:a16="http://schemas.microsoft.com/office/drawing/2014/main" id="{08DDC390-C2A6-4547-850E-2FF289AB9449}"/>
              </a:ext>
            </a:extLst>
          </p:cNvPr>
          <p:cNvSpPr>
            <a:spLocks noGrp="1"/>
          </p:cNvSpPr>
          <p:nvPr>
            <p:ph type="sldNum" sz="quarter" idx="12"/>
          </p:nvPr>
        </p:nvSpPr>
        <p:spPr/>
        <p:txBody>
          <a:bodyPr/>
          <a:lstStyle/>
          <a:p>
            <a:fld id="{3552B95B-556F-44BD-91A5-D80C1B9E2BB3}" type="slidenum">
              <a:rPr lang="en-US" smtClean="0"/>
              <a:pPr/>
              <a:t>24</a:t>
            </a:fld>
            <a:endParaRPr lang="en-US"/>
          </a:p>
        </p:txBody>
      </p:sp>
      <p:sp>
        <p:nvSpPr>
          <p:cNvPr id="5" name="Alternate Process 4">
            <a:extLst>
              <a:ext uri="{FF2B5EF4-FFF2-40B4-BE49-F238E27FC236}">
                <a16:creationId xmlns:a16="http://schemas.microsoft.com/office/drawing/2014/main" id="{5868AD0C-F516-0D4E-B31F-961ED630981D}"/>
              </a:ext>
            </a:extLst>
          </p:cNvPr>
          <p:cNvSpPr/>
          <p:nvPr/>
        </p:nvSpPr>
        <p:spPr>
          <a:xfrm>
            <a:off x="442212" y="1222582"/>
            <a:ext cx="1143000" cy="433804"/>
          </a:xfrm>
          <a:prstGeom prst="flowChartAlternateProcess">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Consolas" panose="020B0609020204030204" pitchFamily="49" charset="0"/>
                <a:cs typeface="Consolas" panose="020B0609020204030204" pitchFamily="49" charset="0"/>
              </a:rPr>
              <a:t>main</a:t>
            </a:r>
          </a:p>
        </p:txBody>
      </p:sp>
      <p:sp>
        <p:nvSpPr>
          <p:cNvPr id="6" name="Alternate Process 5">
            <a:extLst>
              <a:ext uri="{FF2B5EF4-FFF2-40B4-BE49-F238E27FC236}">
                <a16:creationId xmlns:a16="http://schemas.microsoft.com/office/drawing/2014/main" id="{CF551F92-52AD-8440-BF51-E56572CDE14D}"/>
              </a:ext>
            </a:extLst>
          </p:cNvPr>
          <p:cNvSpPr/>
          <p:nvPr/>
        </p:nvSpPr>
        <p:spPr>
          <a:xfrm>
            <a:off x="415668" y="2202289"/>
            <a:ext cx="533400" cy="433804"/>
          </a:xfrm>
          <a:prstGeom prst="flowChartAlternateProcess">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Consolas" panose="020B0609020204030204" pitchFamily="49" charset="0"/>
                <a:cs typeface="Consolas" panose="020B0609020204030204" pitchFamily="49" charset="0"/>
              </a:rPr>
              <a:t>f</a:t>
            </a:r>
          </a:p>
        </p:txBody>
      </p:sp>
      <p:sp>
        <p:nvSpPr>
          <p:cNvPr id="7" name="Alternate Process 6">
            <a:extLst>
              <a:ext uri="{FF2B5EF4-FFF2-40B4-BE49-F238E27FC236}">
                <a16:creationId xmlns:a16="http://schemas.microsoft.com/office/drawing/2014/main" id="{3888191A-EC95-D948-9F5B-6F4118ED51E8}"/>
              </a:ext>
            </a:extLst>
          </p:cNvPr>
          <p:cNvSpPr/>
          <p:nvPr/>
        </p:nvSpPr>
        <p:spPr>
          <a:xfrm>
            <a:off x="415668" y="2957096"/>
            <a:ext cx="533400" cy="433804"/>
          </a:xfrm>
          <a:prstGeom prst="flowChartAlternateProcess">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Consolas" panose="020B0609020204030204" pitchFamily="49" charset="0"/>
                <a:cs typeface="Consolas" panose="020B0609020204030204" pitchFamily="49" charset="0"/>
              </a:rPr>
              <a:t>g</a:t>
            </a:r>
          </a:p>
        </p:txBody>
      </p:sp>
      <p:sp>
        <p:nvSpPr>
          <p:cNvPr id="8" name="Alternate Process 7">
            <a:extLst>
              <a:ext uri="{FF2B5EF4-FFF2-40B4-BE49-F238E27FC236}">
                <a16:creationId xmlns:a16="http://schemas.microsoft.com/office/drawing/2014/main" id="{5BB902B7-F0CA-5646-B3C8-4A1595722EA4}"/>
              </a:ext>
            </a:extLst>
          </p:cNvPr>
          <p:cNvSpPr/>
          <p:nvPr/>
        </p:nvSpPr>
        <p:spPr>
          <a:xfrm>
            <a:off x="1330068" y="2202289"/>
            <a:ext cx="1752600" cy="433804"/>
          </a:xfrm>
          <a:prstGeom prst="flowChartAlternateProcess">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latin typeface="Consolas" panose="020B0609020204030204" pitchFamily="49" charset="0"/>
                <a:cs typeface="Consolas" panose="020B0609020204030204" pitchFamily="49" charset="0"/>
              </a:rPr>
              <a:t>print_list</a:t>
            </a:r>
            <a:endParaRPr lang="en-US" sz="2000" b="1" dirty="0">
              <a:latin typeface="Consolas" panose="020B0609020204030204" pitchFamily="49" charset="0"/>
              <a:cs typeface="Consolas" panose="020B0609020204030204" pitchFamily="49" charset="0"/>
            </a:endParaRPr>
          </a:p>
        </p:txBody>
      </p:sp>
      <p:cxnSp>
        <p:nvCxnSpPr>
          <p:cNvPr id="11" name="Straight Arrow Connector 10">
            <a:extLst>
              <a:ext uri="{FF2B5EF4-FFF2-40B4-BE49-F238E27FC236}">
                <a16:creationId xmlns:a16="http://schemas.microsoft.com/office/drawing/2014/main" id="{1BA80325-1DA5-CB49-B173-71DF6AE885C6}"/>
              </a:ext>
            </a:extLst>
          </p:cNvPr>
          <p:cNvCxnSpPr>
            <a:cxnSpLocks/>
            <a:endCxn id="6" idx="0"/>
          </p:cNvCxnSpPr>
          <p:nvPr/>
        </p:nvCxnSpPr>
        <p:spPr>
          <a:xfrm flipH="1">
            <a:off x="682368" y="1656386"/>
            <a:ext cx="79632" cy="54590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0D90775-246C-5447-ACBC-B596D922E3F0}"/>
              </a:ext>
            </a:extLst>
          </p:cNvPr>
          <p:cNvCxnSpPr>
            <a:cxnSpLocks/>
          </p:cNvCxnSpPr>
          <p:nvPr/>
        </p:nvCxnSpPr>
        <p:spPr>
          <a:xfrm>
            <a:off x="1330068" y="1656386"/>
            <a:ext cx="381000" cy="54590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B60FEA5-8E37-774B-A6E2-C945EBB2D896}"/>
              </a:ext>
            </a:extLst>
          </p:cNvPr>
          <p:cNvCxnSpPr>
            <a:cxnSpLocks/>
            <a:stCxn id="6" idx="2"/>
            <a:endCxn id="7" idx="0"/>
          </p:cNvCxnSpPr>
          <p:nvPr/>
        </p:nvCxnSpPr>
        <p:spPr>
          <a:xfrm>
            <a:off x="682368" y="2636093"/>
            <a:ext cx="0" cy="32100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3F1C5BB-E30E-E34F-BFD9-44FC6D4D6CE3}"/>
              </a:ext>
            </a:extLst>
          </p:cNvPr>
          <p:cNvCxnSpPr>
            <a:cxnSpLocks/>
            <a:stCxn id="8" idx="3"/>
            <a:endCxn id="8" idx="0"/>
          </p:cNvCxnSpPr>
          <p:nvPr/>
        </p:nvCxnSpPr>
        <p:spPr>
          <a:xfrm flipH="1" flipV="1">
            <a:off x="2206368" y="2202289"/>
            <a:ext cx="876300" cy="216902"/>
          </a:xfrm>
          <a:prstGeom prst="curvedConnector4">
            <a:avLst>
              <a:gd name="adj1" fmla="val -13043"/>
              <a:gd name="adj2" fmla="val 275655"/>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B21B6767-2221-E54E-8142-D6C248FFAE14}"/>
              </a:ext>
            </a:extLst>
          </p:cNvPr>
          <p:cNvSpPr txBox="1"/>
          <p:nvPr/>
        </p:nvSpPr>
        <p:spPr>
          <a:xfrm>
            <a:off x="3343275" y="1114685"/>
            <a:ext cx="5486400" cy="769441"/>
          </a:xfrm>
          <a:prstGeom prst="rect">
            <a:avLst/>
          </a:prstGeom>
          <a:noFill/>
        </p:spPr>
        <p:txBody>
          <a:bodyPr wrap="square" rtlCol="0">
            <a:spAutoFit/>
          </a:bodyPr>
          <a:lstStyle/>
          <a:p>
            <a:pPr algn="ctr"/>
            <a:r>
              <a:rPr lang="en-US" sz="2200" dirty="0"/>
              <a:t>a program's </a:t>
            </a:r>
            <a:r>
              <a:rPr lang="en-US" sz="2200" b="1" dirty="0"/>
              <a:t>call graph </a:t>
            </a:r>
            <a:r>
              <a:rPr lang="en-US" sz="2200" dirty="0"/>
              <a:t>can be complex, with cycles, multiple dependencies, etc.</a:t>
            </a:r>
          </a:p>
        </p:txBody>
      </p:sp>
      <p:sp>
        <p:nvSpPr>
          <p:cNvPr id="35" name="TextBox 34">
            <a:extLst>
              <a:ext uri="{FF2B5EF4-FFF2-40B4-BE49-F238E27FC236}">
                <a16:creationId xmlns:a16="http://schemas.microsoft.com/office/drawing/2014/main" id="{3107D31A-15D1-8941-ABF1-A06A23D2C7D5}"/>
              </a:ext>
            </a:extLst>
          </p:cNvPr>
          <p:cNvSpPr txBox="1"/>
          <p:nvPr/>
        </p:nvSpPr>
        <p:spPr>
          <a:xfrm>
            <a:off x="3590925" y="2034470"/>
            <a:ext cx="4991099" cy="769441"/>
          </a:xfrm>
          <a:prstGeom prst="rect">
            <a:avLst/>
          </a:prstGeom>
          <a:noFill/>
        </p:spPr>
        <p:txBody>
          <a:bodyPr wrap="square" rtlCol="0">
            <a:spAutoFit/>
          </a:bodyPr>
          <a:lstStyle/>
          <a:p>
            <a:pPr algn="ctr"/>
            <a:r>
              <a:rPr lang="en-US" sz="2200" dirty="0"/>
              <a:t>we have to </a:t>
            </a:r>
            <a:r>
              <a:rPr lang="en-US" sz="2200" b="1" dirty="0"/>
              <a:t>serialize </a:t>
            </a:r>
            <a:r>
              <a:rPr lang="en-US" sz="2200" dirty="0"/>
              <a:t>this graph when converting it to an executable form.</a:t>
            </a:r>
          </a:p>
        </p:txBody>
      </p:sp>
      <p:sp>
        <p:nvSpPr>
          <p:cNvPr id="36" name="TextBox 35">
            <a:extLst>
              <a:ext uri="{FF2B5EF4-FFF2-40B4-BE49-F238E27FC236}">
                <a16:creationId xmlns:a16="http://schemas.microsoft.com/office/drawing/2014/main" id="{0F05E559-70D4-2744-B1BD-CDC69A6DA95D}"/>
              </a:ext>
            </a:extLst>
          </p:cNvPr>
          <p:cNvSpPr txBox="1"/>
          <p:nvPr/>
        </p:nvSpPr>
        <p:spPr>
          <a:xfrm>
            <a:off x="3535490" y="2954255"/>
            <a:ext cx="5101968" cy="430887"/>
          </a:xfrm>
          <a:prstGeom prst="rect">
            <a:avLst/>
          </a:prstGeom>
          <a:noFill/>
        </p:spPr>
        <p:txBody>
          <a:bodyPr wrap="square" rtlCol="0">
            <a:spAutoFit/>
          </a:bodyPr>
          <a:lstStyle/>
          <a:p>
            <a:pPr algn="ctr"/>
            <a:r>
              <a:rPr lang="en-US" sz="2200" dirty="0"/>
              <a:t>this process is called </a:t>
            </a:r>
            <a:r>
              <a:rPr lang="en-US" sz="2200" b="1" dirty="0"/>
              <a:t>linking.</a:t>
            </a:r>
          </a:p>
        </p:txBody>
      </p:sp>
      <p:sp>
        <p:nvSpPr>
          <p:cNvPr id="38" name="TextBox 37">
            <a:extLst>
              <a:ext uri="{FF2B5EF4-FFF2-40B4-BE49-F238E27FC236}">
                <a16:creationId xmlns:a16="http://schemas.microsoft.com/office/drawing/2014/main" id="{38B57758-9A2D-D341-8647-71D71AB04AD7}"/>
              </a:ext>
            </a:extLst>
          </p:cNvPr>
          <p:cNvSpPr txBox="1"/>
          <p:nvPr/>
        </p:nvSpPr>
        <p:spPr>
          <a:xfrm>
            <a:off x="609600" y="3592407"/>
            <a:ext cx="8077200" cy="769441"/>
          </a:xfrm>
          <a:prstGeom prst="rect">
            <a:avLst/>
          </a:prstGeom>
          <a:noFill/>
        </p:spPr>
        <p:txBody>
          <a:bodyPr wrap="square" rtlCol="0">
            <a:spAutoFit/>
          </a:bodyPr>
          <a:lstStyle/>
          <a:p>
            <a:pPr algn="ctr"/>
            <a:r>
              <a:rPr lang="en-US" sz="2200" dirty="0"/>
              <a:t>rather than the compiler producing a whole program, we have it produce incomplete </a:t>
            </a:r>
            <a:r>
              <a:rPr lang="en-US" sz="2200" b="1" dirty="0"/>
              <a:t>fragments, </a:t>
            </a:r>
            <a:r>
              <a:rPr lang="en-US" sz="2200" dirty="0"/>
              <a:t>and let the linker finish the job.</a:t>
            </a:r>
            <a:endParaRPr lang="en-US" sz="2200" b="1" dirty="0"/>
          </a:p>
        </p:txBody>
      </p:sp>
    </p:spTree>
    <p:extLst>
      <p:ext uri="{BB962C8B-B14F-4D97-AF65-F5344CB8AC3E}">
        <p14:creationId xmlns:p14="http://schemas.microsoft.com/office/powerpoint/2010/main" val="7159426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5"/>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nodeType="afterEffect">
                                  <p:stCondLst>
                                    <p:cond delay="500"/>
                                  </p:stCondLst>
                                  <p:childTnLst>
                                    <p:set>
                                      <p:cBhvr>
                                        <p:cTn id="12" dur="1" fill="hold">
                                          <p:stCondLst>
                                            <p:cond delay="0"/>
                                          </p:stCondLst>
                                        </p:cTn>
                                        <p:tgtEl>
                                          <p:spTgt spid="11"/>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par>
                          <p:cTn id="16" fill="hold">
                            <p:stCondLst>
                              <p:cond delay="1000"/>
                            </p:stCondLst>
                            <p:childTnLst>
                              <p:par>
                                <p:cTn id="17" presetID="1" presetClass="entr" presetSubtype="0" fill="hold" nodeType="afterEffect">
                                  <p:stCondLst>
                                    <p:cond delay="500"/>
                                  </p:stCondLst>
                                  <p:childTnLst>
                                    <p:set>
                                      <p:cBhvr>
                                        <p:cTn id="18" dur="1" fill="hold">
                                          <p:stCondLst>
                                            <p:cond delay="0"/>
                                          </p:stCondLst>
                                        </p:cTn>
                                        <p:tgtEl>
                                          <p:spTgt spid="15"/>
                                        </p:tgtEl>
                                        <p:attrNameLst>
                                          <p:attrName>style.visibility</p:attrName>
                                        </p:attrNameLst>
                                      </p:cBhvr>
                                      <p:to>
                                        <p:strVal val="visible"/>
                                      </p:to>
                                    </p:set>
                                  </p:childTnLst>
                                </p:cTn>
                              </p:par>
                            </p:childTnLst>
                          </p:cTn>
                        </p:par>
                        <p:par>
                          <p:cTn id="19" fill="hold">
                            <p:stCondLst>
                              <p:cond delay="1500"/>
                            </p:stCondLst>
                            <p:childTnLst>
                              <p:par>
                                <p:cTn id="20" presetID="1"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par>
                          <p:cTn id="22" fill="hold">
                            <p:stCondLst>
                              <p:cond delay="1500"/>
                            </p:stCondLst>
                            <p:childTnLst>
                              <p:par>
                                <p:cTn id="23" presetID="1" presetClass="entr" presetSubtype="0" fill="hold" nodeType="afterEffect">
                                  <p:stCondLst>
                                    <p:cond delay="500"/>
                                  </p:stCondLst>
                                  <p:childTnLst>
                                    <p:set>
                                      <p:cBhvr>
                                        <p:cTn id="24" dur="1" fill="hold">
                                          <p:stCondLst>
                                            <p:cond delay="0"/>
                                          </p:stCondLst>
                                        </p:cTn>
                                        <p:tgtEl>
                                          <p:spTgt spid="12"/>
                                        </p:tgtEl>
                                        <p:attrNameLst>
                                          <p:attrName>style.visibility</p:attrName>
                                        </p:attrNameLst>
                                      </p:cBhvr>
                                      <p:to>
                                        <p:strVal val="visible"/>
                                      </p:to>
                                    </p:set>
                                  </p:childTnLst>
                                </p:cTn>
                              </p:par>
                            </p:childTnLst>
                          </p:cTn>
                        </p:par>
                        <p:par>
                          <p:cTn id="25" fill="hold">
                            <p:stCondLst>
                              <p:cond delay="2000"/>
                            </p:stCondLst>
                            <p:childTnLst>
                              <p:par>
                                <p:cTn id="26" presetID="1" presetClass="entr" presetSubtype="0"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par>
                          <p:cTn id="28" fill="hold">
                            <p:stCondLst>
                              <p:cond delay="2000"/>
                            </p:stCondLst>
                            <p:childTnLst>
                              <p:par>
                                <p:cTn id="29" presetID="1" presetClass="entr" presetSubtype="0" fill="hold" nodeType="afterEffect">
                                  <p:stCondLst>
                                    <p:cond delay="50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34" grpId="0"/>
      <p:bldP spid="35" grpId="0"/>
      <p:bldP spid="36" grpId="0"/>
      <p:bldP spid="3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DFCE4-1DB9-794C-B531-56103A89A365}"/>
              </a:ext>
            </a:extLst>
          </p:cNvPr>
          <p:cNvSpPr>
            <a:spLocks noGrp="1"/>
          </p:cNvSpPr>
          <p:nvPr>
            <p:ph type="title"/>
          </p:nvPr>
        </p:nvSpPr>
        <p:spPr/>
        <p:txBody>
          <a:bodyPr/>
          <a:lstStyle/>
          <a:p>
            <a:r>
              <a:rPr lang="en-US" dirty="0"/>
              <a:t>Symbolic linking</a:t>
            </a:r>
          </a:p>
        </p:txBody>
      </p:sp>
      <p:sp>
        <p:nvSpPr>
          <p:cNvPr id="3" name="Content Placeholder 2">
            <a:extLst>
              <a:ext uri="{FF2B5EF4-FFF2-40B4-BE49-F238E27FC236}">
                <a16:creationId xmlns:a16="http://schemas.microsoft.com/office/drawing/2014/main" id="{542A713C-E0DB-194E-901A-0AEC1E13806D}"/>
              </a:ext>
            </a:extLst>
          </p:cNvPr>
          <p:cNvSpPr>
            <a:spLocks noGrp="1"/>
          </p:cNvSpPr>
          <p:nvPr>
            <p:ph idx="1"/>
          </p:nvPr>
        </p:nvSpPr>
        <p:spPr>
          <a:xfrm>
            <a:off x="152400" y="495301"/>
            <a:ext cx="8991600" cy="838199"/>
          </a:xfrm>
        </p:spPr>
        <p:txBody>
          <a:bodyPr/>
          <a:lstStyle/>
          <a:p>
            <a:r>
              <a:rPr lang="en-US" dirty="0"/>
              <a:t>the dependencies between fragments are indicated </a:t>
            </a:r>
            <a:r>
              <a:rPr lang="en-US" b="1" dirty="0"/>
              <a:t>symbolically:</a:t>
            </a:r>
          </a:p>
          <a:p>
            <a:r>
              <a:rPr lang="en-US" dirty="0"/>
              <a:t>instead of referring to them by </a:t>
            </a:r>
            <a:r>
              <a:rPr lang="en-US" b="1" dirty="0"/>
              <a:t>address, </a:t>
            </a:r>
            <a:r>
              <a:rPr lang="en-US" dirty="0"/>
              <a:t>we do it by </a:t>
            </a:r>
            <a:r>
              <a:rPr lang="en-US" b="1" dirty="0"/>
              <a:t>name.</a:t>
            </a:r>
            <a:endParaRPr lang="en-US" dirty="0"/>
          </a:p>
        </p:txBody>
      </p:sp>
      <p:sp>
        <p:nvSpPr>
          <p:cNvPr id="4" name="Slide Number Placeholder 3">
            <a:extLst>
              <a:ext uri="{FF2B5EF4-FFF2-40B4-BE49-F238E27FC236}">
                <a16:creationId xmlns:a16="http://schemas.microsoft.com/office/drawing/2014/main" id="{5426B2D2-E778-2845-A8BC-2C2AECBB3660}"/>
              </a:ext>
            </a:extLst>
          </p:cNvPr>
          <p:cNvSpPr>
            <a:spLocks noGrp="1"/>
          </p:cNvSpPr>
          <p:nvPr>
            <p:ph type="sldNum" sz="quarter" idx="12"/>
          </p:nvPr>
        </p:nvSpPr>
        <p:spPr>
          <a:xfrm>
            <a:off x="8458200" y="5296960"/>
            <a:ext cx="685800" cy="304271"/>
          </a:xfrm>
        </p:spPr>
        <p:txBody>
          <a:bodyPr/>
          <a:lstStyle/>
          <a:p>
            <a:fld id="{3552B95B-556F-44BD-91A5-D80C1B9E2BB3}" type="slidenum">
              <a:rPr lang="en-US" smtClean="0"/>
              <a:pPr/>
              <a:t>25</a:t>
            </a:fld>
            <a:endParaRPr lang="en-US"/>
          </a:p>
        </p:txBody>
      </p:sp>
      <p:grpSp>
        <p:nvGrpSpPr>
          <p:cNvPr id="21" name="Group 20">
            <a:extLst>
              <a:ext uri="{FF2B5EF4-FFF2-40B4-BE49-F238E27FC236}">
                <a16:creationId xmlns:a16="http://schemas.microsoft.com/office/drawing/2014/main" id="{105D1465-D986-7442-B2D2-10C4F0BA6F5D}"/>
              </a:ext>
            </a:extLst>
          </p:cNvPr>
          <p:cNvGrpSpPr/>
          <p:nvPr/>
        </p:nvGrpSpPr>
        <p:grpSpPr>
          <a:xfrm>
            <a:off x="381000" y="1737795"/>
            <a:ext cx="1752600" cy="1409596"/>
            <a:chOff x="1066800" y="1669774"/>
            <a:chExt cx="1752600" cy="1409596"/>
          </a:xfrm>
        </p:grpSpPr>
        <p:sp>
          <p:nvSpPr>
            <p:cNvPr id="5" name="Alternate Process 4">
              <a:extLst>
                <a:ext uri="{FF2B5EF4-FFF2-40B4-BE49-F238E27FC236}">
                  <a16:creationId xmlns:a16="http://schemas.microsoft.com/office/drawing/2014/main" id="{2ED61895-BA7C-9B4C-8977-473D728744F8}"/>
                </a:ext>
              </a:extLst>
            </p:cNvPr>
            <p:cNvSpPr/>
            <p:nvPr/>
          </p:nvSpPr>
          <p:spPr>
            <a:xfrm>
              <a:off x="1066800" y="1669774"/>
              <a:ext cx="1752600" cy="1409596"/>
            </a:xfrm>
            <a:prstGeom prst="flowChartAlternateProcess">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b="1" dirty="0">
                  <a:solidFill>
                    <a:schemeClr val="bg1"/>
                  </a:solidFill>
                  <a:latin typeface="Consolas" panose="020B0609020204030204" pitchFamily="49" charset="0"/>
                  <a:cs typeface="Consolas" panose="020B0609020204030204" pitchFamily="49" charset="0"/>
                </a:rPr>
                <a:t>main</a:t>
              </a:r>
            </a:p>
            <a:p>
              <a:r>
                <a:rPr lang="en-US" sz="2000" b="1" dirty="0">
                  <a:solidFill>
                    <a:schemeClr val="tx1"/>
                  </a:solidFill>
                  <a:latin typeface="Consolas" panose="020B0609020204030204" pitchFamily="49" charset="0"/>
                  <a:cs typeface="Consolas" panose="020B0609020204030204" pitchFamily="49" charset="0"/>
                </a:rPr>
                <a:t>      blah</a:t>
              </a:r>
            </a:p>
            <a:p>
              <a:r>
                <a:rPr lang="en-US" sz="2000" b="1" dirty="0">
                  <a:solidFill>
                    <a:schemeClr val="tx1"/>
                  </a:solidFill>
                  <a:latin typeface="Consolas" panose="020B0609020204030204" pitchFamily="49" charset="0"/>
                  <a:cs typeface="Consolas" panose="020B0609020204030204" pitchFamily="49" charset="0"/>
                </a:rPr>
                <a:t>           </a:t>
              </a:r>
            </a:p>
          </p:txBody>
        </p:sp>
        <p:sp>
          <p:nvSpPr>
            <p:cNvPr id="13" name="Rectangle 12">
              <a:extLst>
                <a:ext uri="{FF2B5EF4-FFF2-40B4-BE49-F238E27FC236}">
                  <a16:creationId xmlns:a16="http://schemas.microsoft.com/office/drawing/2014/main" id="{941B1129-B84D-1D4E-B6F4-70158130966E}"/>
                </a:ext>
              </a:extLst>
            </p:cNvPr>
            <p:cNvSpPr/>
            <p:nvPr/>
          </p:nvSpPr>
          <p:spPr>
            <a:xfrm>
              <a:off x="1531454" y="2113566"/>
              <a:ext cx="457200" cy="285802"/>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Consolas" panose="020B0609020204030204" pitchFamily="49" charset="0"/>
                  <a:cs typeface="Consolas" panose="020B0609020204030204" pitchFamily="49" charset="0"/>
                </a:rPr>
                <a:t>f</a:t>
              </a:r>
            </a:p>
          </p:txBody>
        </p:sp>
        <p:sp>
          <p:nvSpPr>
            <p:cNvPr id="14" name="Rectangle 13">
              <a:extLst>
                <a:ext uri="{FF2B5EF4-FFF2-40B4-BE49-F238E27FC236}">
                  <a16:creationId xmlns:a16="http://schemas.microsoft.com/office/drawing/2014/main" id="{C53E3B8B-85D9-2348-8D27-CB0BE360A591}"/>
                </a:ext>
              </a:extLst>
            </p:cNvPr>
            <p:cNvSpPr/>
            <p:nvPr/>
          </p:nvSpPr>
          <p:spPr>
            <a:xfrm>
              <a:off x="1181100" y="2606485"/>
              <a:ext cx="1485900" cy="285802"/>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err="1">
                  <a:solidFill>
                    <a:schemeClr val="tx1"/>
                  </a:solidFill>
                  <a:latin typeface="Consolas" panose="020B0609020204030204" pitchFamily="49" charset="0"/>
                  <a:cs typeface="Consolas" panose="020B0609020204030204" pitchFamily="49" charset="0"/>
                </a:rPr>
                <a:t>print_list</a:t>
              </a:r>
              <a:endParaRPr lang="en-US" sz="1800" b="1" dirty="0">
                <a:solidFill>
                  <a:schemeClr val="tx1"/>
                </a:solidFill>
                <a:latin typeface="Consolas" panose="020B0609020204030204" pitchFamily="49" charset="0"/>
                <a:cs typeface="Consolas" panose="020B0609020204030204" pitchFamily="49" charset="0"/>
              </a:endParaRPr>
            </a:p>
          </p:txBody>
        </p:sp>
      </p:grpSp>
      <p:grpSp>
        <p:nvGrpSpPr>
          <p:cNvPr id="22" name="Group 21">
            <a:extLst>
              <a:ext uri="{FF2B5EF4-FFF2-40B4-BE49-F238E27FC236}">
                <a16:creationId xmlns:a16="http://schemas.microsoft.com/office/drawing/2014/main" id="{9FFA5E32-012B-4341-BDB6-BFCD335148E8}"/>
              </a:ext>
            </a:extLst>
          </p:cNvPr>
          <p:cNvGrpSpPr/>
          <p:nvPr/>
        </p:nvGrpSpPr>
        <p:grpSpPr>
          <a:xfrm>
            <a:off x="204580" y="3791315"/>
            <a:ext cx="1747630" cy="1409596"/>
            <a:chOff x="2133600" y="3619500"/>
            <a:chExt cx="1747630" cy="1409596"/>
          </a:xfrm>
        </p:grpSpPr>
        <p:sp>
          <p:nvSpPr>
            <p:cNvPr id="6" name="Alternate Process 5">
              <a:extLst>
                <a:ext uri="{FF2B5EF4-FFF2-40B4-BE49-F238E27FC236}">
                  <a16:creationId xmlns:a16="http://schemas.microsoft.com/office/drawing/2014/main" id="{9E35EF16-6AEB-3043-8054-DB33EEE14937}"/>
                </a:ext>
              </a:extLst>
            </p:cNvPr>
            <p:cNvSpPr/>
            <p:nvPr/>
          </p:nvSpPr>
          <p:spPr>
            <a:xfrm>
              <a:off x="2133600" y="3619500"/>
              <a:ext cx="1747630" cy="1409596"/>
            </a:xfrm>
            <a:prstGeom prst="flowChartAlternateProcess">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b="1" dirty="0">
                  <a:solidFill>
                    <a:schemeClr val="bg1"/>
                  </a:solidFill>
                  <a:latin typeface="Consolas" panose="020B0609020204030204" pitchFamily="49" charset="0"/>
                  <a:cs typeface="Consolas" panose="020B0609020204030204" pitchFamily="49" charset="0"/>
                </a:rPr>
                <a:t>f</a:t>
              </a:r>
            </a:p>
            <a:p>
              <a:r>
                <a:rPr lang="en-US" sz="2000" b="1" dirty="0">
                  <a:solidFill>
                    <a:schemeClr val="tx1"/>
                  </a:solidFill>
                  <a:latin typeface="Consolas" panose="020B0609020204030204" pitchFamily="49" charset="0"/>
                  <a:cs typeface="Consolas" panose="020B0609020204030204" pitchFamily="49" charset="0"/>
                </a:rPr>
                <a:t>code </a:t>
              </a:r>
            </a:p>
            <a:p>
              <a:r>
                <a:rPr lang="en-US" sz="2000" b="1" dirty="0">
                  <a:solidFill>
                    <a:schemeClr val="tx1"/>
                  </a:solidFill>
                  <a:latin typeface="Consolas" panose="020B0609020204030204" pitchFamily="49" charset="0"/>
                  <a:cs typeface="Consolas" panose="020B0609020204030204" pitchFamily="49" charset="0"/>
                </a:rPr>
                <a:t>more stuff</a:t>
              </a:r>
            </a:p>
          </p:txBody>
        </p:sp>
        <p:sp>
          <p:nvSpPr>
            <p:cNvPr id="15" name="Rectangle 14">
              <a:extLst>
                <a:ext uri="{FF2B5EF4-FFF2-40B4-BE49-F238E27FC236}">
                  <a16:creationId xmlns:a16="http://schemas.microsoft.com/office/drawing/2014/main" id="{0D0082FD-8A01-7940-BE2C-958FD5830726}"/>
                </a:ext>
              </a:extLst>
            </p:cNvPr>
            <p:cNvSpPr/>
            <p:nvPr/>
          </p:nvSpPr>
          <p:spPr>
            <a:xfrm>
              <a:off x="2937841" y="4091116"/>
              <a:ext cx="457200" cy="285802"/>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Consolas" panose="020B0609020204030204" pitchFamily="49" charset="0"/>
                  <a:cs typeface="Consolas" panose="020B0609020204030204" pitchFamily="49" charset="0"/>
                </a:rPr>
                <a:t>g</a:t>
              </a:r>
            </a:p>
          </p:txBody>
        </p:sp>
      </p:grpSp>
      <p:grpSp>
        <p:nvGrpSpPr>
          <p:cNvPr id="19" name="Group 18">
            <a:extLst>
              <a:ext uri="{FF2B5EF4-FFF2-40B4-BE49-F238E27FC236}">
                <a16:creationId xmlns:a16="http://schemas.microsoft.com/office/drawing/2014/main" id="{3E15ECAF-0E83-E048-B2AD-25DE8F5E6B37}"/>
              </a:ext>
            </a:extLst>
          </p:cNvPr>
          <p:cNvGrpSpPr/>
          <p:nvPr/>
        </p:nvGrpSpPr>
        <p:grpSpPr>
          <a:xfrm>
            <a:off x="2085560" y="3337764"/>
            <a:ext cx="1752600" cy="1409596"/>
            <a:chOff x="5715000" y="3467100"/>
            <a:chExt cx="1752600" cy="1409596"/>
          </a:xfrm>
        </p:grpSpPr>
        <p:sp>
          <p:nvSpPr>
            <p:cNvPr id="8" name="Alternate Process 7">
              <a:extLst>
                <a:ext uri="{FF2B5EF4-FFF2-40B4-BE49-F238E27FC236}">
                  <a16:creationId xmlns:a16="http://schemas.microsoft.com/office/drawing/2014/main" id="{30F81974-4B97-3B4D-9B4A-9D2417C42D8F}"/>
                </a:ext>
              </a:extLst>
            </p:cNvPr>
            <p:cNvSpPr/>
            <p:nvPr/>
          </p:nvSpPr>
          <p:spPr>
            <a:xfrm>
              <a:off x="5715000" y="3467100"/>
              <a:ext cx="1752600" cy="1409596"/>
            </a:xfrm>
            <a:prstGeom prst="flowChartAlternateProcess">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000" b="1" dirty="0" err="1">
                  <a:solidFill>
                    <a:schemeClr val="bg1"/>
                  </a:solidFill>
                  <a:latin typeface="Consolas" panose="020B0609020204030204" pitchFamily="49" charset="0"/>
                  <a:cs typeface="Consolas" panose="020B0609020204030204" pitchFamily="49" charset="0"/>
                </a:rPr>
                <a:t>print_list</a:t>
              </a:r>
              <a:endParaRPr lang="en-US" sz="2000" b="1" dirty="0">
                <a:solidFill>
                  <a:schemeClr val="bg1"/>
                </a:solidFill>
                <a:latin typeface="Consolas" panose="020B0609020204030204" pitchFamily="49" charset="0"/>
                <a:cs typeface="Consolas" panose="020B0609020204030204" pitchFamily="49" charset="0"/>
              </a:endParaRPr>
            </a:p>
            <a:p>
              <a:r>
                <a:rPr lang="en-US" sz="2000" b="1" dirty="0">
                  <a:solidFill>
                    <a:schemeClr val="tx1"/>
                  </a:solidFill>
                  <a:latin typeface="Consolas" panose="020B0609020204030204" pitchFamily="49" charset="0"/>
                  <a:cs typeface="Consolas" panose="020B0609020204030204" pitchFamily="49" charset="0"/>
                </a:rPr>
                <a:t>if { } else</a:t>
              </a:r>
            </a:p>
          </p:txBody>
        </p:sp>
        <p:sp>
          <p:nvSpPr>
            <p:cNvPr id="16" name="Rectangle 15">
              <a:extLst>
                <a:ext uri="{FF2B5EF4-FFF2-40B4-BE49-F238E27FC236}">
                  <a16:creationId xmlns:a16="http://schemas.microsoft.com/office/drawing/2014/main" id="{80F83001-B3EE-D54C-82E9-A96FD2058A5E}"/>
                </a:ext>
              </a:extLst>
            </p:cNvPr>
            <p:cNvSpPr/>
            <p:nvPr/>
          </p:nvSpPr>
          <p:spPr>
            <a:xfrm>
              <a:off x="5848350" y="4482548"/>
              <a:ext cx="1485900" cy="285802"/>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err="1">
                  <a:solidFill>
                    <a:schemeClr val="tx1"/>
                  </a:solidFill>
                  <a:latin typeface="Consolas" panose="020B0609020204030204" pitchFamily="49" charset="0"/>
                  <a:cs typeface="Consolas" panose="020B0609020204030204" pitchFamily="49" charset="0"/>
                </a:rPr>
                <a:t>print_list</a:t>
              </a:r>
              <a:endParaRPr lang="en-US" sz="1800" b="1" dirty="0">
                <a:solidFill>
                  <a:schemeClr val="tx1"/>
                </a:solidFill>
                <a:latin typeface="Consolas" panose="020B0609020204030204" pitchFamily="49" charset="0"/>
                <a:cs typeface="Consolas" panose="020B0609020204030204" pitchFamily="49" charset="0"/>
              </a:endParaRPr>
            </a:p>
          </p:txBody>
        </p:sp>
      </p:grpSp>
      <p:grpSp>
        <p:nvGrpSpPr>
          <p:cNvPr id="20" name="Group 19">
            <a:extLst>
              <a:ext uri="{FF2B5EF4-FFF2-40B4-BE49-F238E27FC236}">
                <a16:creationId xmlns:a16="http://schemas.microsoft.com/office/drawing/2014/main" id="{DF3259FA-837F-B643-86BF-3E50BF628773}"/>
              </a:ext>
            </a:extLst>
          </p:cNvPr>
          <p:cNvGrpSpPr/>
          <p:nvPr/>
        </p:nvGrpSpPr>
        <p:grpSpPr>
          <a:xfrm>
            <a:off x="2249971" y="1409700"/>
            <a:ext cx="1732722" cy="1409596"/>
            <a:chOff x="3781839" y="1669774"/>
            <a:chExt cx="1732722" cy="1409596"/>
          </a:xfrm>
        </p:grpSpPr>
        <p:sp>
          <p:nvSpPr>
            <p:cNvPr id="7" name="Alternate Process 6">
              <a:extLst>
                <a:ext uri="{FF2B5EF4-FFF2-40B4-BE49-F238E27FC236}">
                  <a16:creationId xmlns:a16="http://schemas.microsoft.com/office/drawing/2014/main" id="{3B073A6B-881B-374E-B27B-EBC21C01B3AC}"/>
                </a:ext>
              </a:extLst>
            </p:cNvPr>
            <p:cNvSpPr/>
            <p:nvPr/>
          </p:nvSpPr>
          <p:spPr>
            <a:xfrm>
              <a:off x="3781839" y="1669774"/>
              <a:ext cx="1732722" cy="1409596"/>
            </a:xfrm>
            <a:prstGeom prst="flowChartAlternateProcess">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b="1" dirty="0">
                  <a:solidFill>
                    <a:schemeClr val="bg1"/>
                  </a:solidFill>
                  <a:latin typeface="Consolas" panose="020B0609020204030204" pitchFamily="49" charset="0"/>
                  <a:cs typeface="Consolas" panose="020B0609020204030204" pitchFamily="49" charset="0"/>
                </a:rPr>
                <a:t>g</a:t>
              </a:r>
            </a:p>
            <a:p>
              <a:r>
                <a:rPr lang="en-US" sz="2000" b="1" dirty="0">
                  <a:solidFill>
                    <a:schemeClr val="tx1"/>
                  </a:solidFill>
                  <a:latin typeface="Consolas" panose="020B0609020204030204" pitchFamily="49" charset="0"/>
                  <a:cs typeface="Consolas" panose="020B0609020204030204" pitchFamily="49" charset="0"/>
                </a:rPr>
                <a:t>blah blah</a:t>
              </a:r>
            </a:p>
            <a:p>
              <a:r>
                <a:rPr lang="en-US" sz="2000" b="1" dirty="0">
                  <a:solidFill>
                    <a:schemeClr val="tx1"/>
                  </a:solidFill>
                  <a:latin typeface="Consolas" panose="020B0609020204030204" pitchFamily="49" charset="0"/>
                  <a:cs typeface="Consolas" panose="020B0609020204030204" pitchFamily="49" charset="0"/>
                </a:rPr>
                <a:t>         ;</a:t>
              </a:r>
            </a:p>
          </p:txBody>
        </p:sp>
        <p:sp>
          <p:nvSpPr>
            <p:cNvPr id="18" name="Rectangle 17">
              <a:extLst>
                <a:ext uri="{FF2B5EF4-FFF2-40B4-BE49-F238E27FC236}">
                  <a16:creationId xmlns:a16="http://schemas.microsoft.com/office/drawing/2014/main" id="{1A0E3898-3A84-D346-B1F4-04CFF573D59A}"/>
                </a:ext>
              </a:extLst>
            </p:cNvPr>
            <p:cNvSpPr/>
            <p:nvPr/>
          </p:nvSpPr>
          <p:spPr>
            <a:xfrm>
              <a:off x="3893653" y="2493790"/>
              <a:ext cx="1200150" cy="285802"/>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err="1">
                  <a:solidFill>
                    <a:schemeClr val="tx1"/>
                  </a:solidFill>
                  <a:latin typeface="Consolas" panose="020B0609020204030204" pitchFamily="49" charset="0"/>
                  <a:cs typeface="Consolas" panose="020B0609020204030204" pitchFamily="49" charset="0"/>
                </a:rPr>
                <a:t>println</a:t>
              </a:r>
              <a:endParaRPr lang="en-US" sz="1800" b="1" dirty="0">
                <a:solidFill>
                  <a:schemeClr val="tx1"/>
                </a:solidFill>
                <a:latin typeface="Consolas" panose="020B0609020204030204" pitchFamily="49" charset="0"/>
                <a:cs typeface="Consolas" panose="020B0609020204030204" pitchFamily="49" charset="0"/>
              </a:endParaRPr>
            </a:p>
          </p:txBody>
        </p:sp>
      </p:grpSp>
      <p:sp>
        <p:nvSpPr>
          <p:cNvPr id="23" name="TextBox 22">
            <a:extLst>
              <a:ext uri="{FF2B5EF4-FFF2-40B4-BE49-F238E27FC236}">
                <a16:creationId xmlns:a16="http://schemas.microsoft.com/office/drawing/2014/main" id="{C0CDF8CF-F947-8F42-9BC4-3F6732D094AC}"/>
              </a:ext>
            </a:extLst>
          </p:cNvPr>
          <p:cNvSpPr txBox="1"/>
          <p:nvPr/>
        </p:nvSpPr>
        <p:spPr>
          <a:xfrm>
            <a:off x="4090779" y="1462206"/>
            <a:ext cx="4824621" cy="769441"/>
          </a:xfrm>
          <a:prstGeom prst="rect">
            <a:avLst/>
          </a:prstGeom>
          <a:noFill/>
        </p:spPr>
        <p:txBody>
          <a:bodyPr wrap="square" rtlCol="0">
            <a:spAutoFit/>
          </a:bodyPr>
          <a:lstStyle/>
          <a:p>
            <a:pPr algn="ctr"/>
            <a:r>
              <a:rPr lang="en-US" sz="2200" dirty="0"/>
              <a:t>each fragment has "blanks" to indicate </a:t>
            </a:r>
            <a:r>
              <a:rPr lang="en-US" sz="2200" i="1" dirty="0"/>
              <a:t>what</a:t>
            </a:r>
            <a:r>
              <a:rPr lang="en-US" sz="2200" dirty="0"/>
              <a:t> it references.</a:t>
            </a:r>
          </a:p>
        </p:txBody>
      </p:sp>
      <p:sp>
        <p:nvSpPr>
          <p:cNvPr id="24" name="TextBox 23">
            <a:extLst>
              <a:ext uri="{FF2B5EF4-FFF2-40B4-BE49-F238E27FC236}">
                <a16:creationId xmlns:a16="http://schemas.microsoft.com/office/drawing/2014/main" id="{C1029FB3-4128-DB45-AC4D-58B7931EC3E6}"/>
              </a:ext>
            </a:extLst>
          </p:cNvPr>
          <p:cNvSpPr txBox="1"/>
          <p:nvPr/>
        </p:nvSpPr>
        <p:spPr>
          <a:xfrm>
            <a:off x="4119354" y="2467389"/>
            <a:ext cx="4824621" cy="769441"/>
          </a:xfrm>
          <a:prstGeom prst="rect">
            <a:avLst/>
          </a:prstGeom>
          <a:noFill/>
        </p:spPr>
        <p:txBody>
          <a:bodyPr wrap="square" rtlCol="0">
            <a:spAutoFit/>
          </a:bodyPr>
          <a:lstStyle/>
          <a:p>
            <a:pPr algn="ctr"/>
            <a:r>
              <a:rPr lang="en-US" sz="2200" dirty="0"/>
              <a:t>the linker serializes the fragments and "fills in the blanks."</a:t>
            </a:r>
          </a:p>
        </p:txBody>
      </p:sp>
      <p:sp>
        <p:nvSpPr>
          <p:cNvPr id="25" name="TextBox 24">
            <a:extLst>
              <a:ext uri="{FF2B5EF4-FFF2-40B4-BE49-F238E27FC236}">
                <a16:creationId xmlns:a16="http://schemas.microsoft.com/office/drawing/2014/main" id="{045AC5C5-25E0-CF49-B889-0C98BCA6D1F6}"/>
              </a:ext>
            </a:extLst>
          </p:cNvPr>
          <p:cNvSpPr txBox="1"/>
          <p:nvPr/>
        </p:nvSpPr>
        <p:spPr>
          <a:xfrm>
            <a:off x="4191000" y="3530662"/>
            <a:ext cx="4824621" cy="1107996"/>
          </a:xfrm>
          <a:prstGeom prst="rect">
            <a:avLst/>
          </a:prstGeom>
          <a:noFill/>
        </p:spPr>
        <p:txBody>
          <a:bodyPr wrap="square" rtlCol="0">
            <a:spAutoFit/>
          </a:bodyPr>
          <a:lstStyle/>
          <a:p>
            <a:pPr algn="ctr"/>
            <a:r>
              <a:rPr lang="en-US" sz="2200" dirty="0"/>
              <a:t>it can also include fragments from </a:t>
            </a:r>
            <a:r>
              <a:rPr lang="en-US" sz="2200" b="1" dirty="0"/>
              <a:t>other parts of the program </a:t>
            </a:r>
            <a:r>
              <a:rPr lang="en-US" sz="2200" dirty="0"/>
              <a:t>or from </a:t>
            </a:r>
            <a:r>
              <a:rPr lang="en-US" sz="2200" b="1" dirty="0"/>
              <a:t>libraries </a:t>
            </a:r>
            <a:r>
              <a:rPr lang="en-US" sz="2200" dirty="0"/>
              <a:t>(like the </a:t>
            </a:r>
            <a:r>
              <a:rPr lang="en-US" sz="2200" dirty="0" err="1"/>
              <a:t>stdlib</a:t>
            </a:r>
            <a:r>
              <a:rPr lang="en-US" sz="2200" dirty="0"/>
              <a:t>).</a:t>
            </a:r>
          </a:p>
        </p:txBody>
      </p:sp>
      <p:sp>
        <p:nvSpPr>
          <p:cNvPr id="27" name="Alternate Process 26">
            <a:extLst>
              <a:ext uri="{FF2B5EF4-FFF2-40B4-BE49-F238E27FC236}">
                <a16:creationId xmlns:a16="http://schemas.microsoft.com/office/drawing/2014/main" id="{62094FD0-B490-BD43-B5E3-BA650B1702DE}"/>
              </a:ext>
            </a:extLst>
          </p:cNvPr>
          <p:cNvSpPr/>
          <p:nvPr/>
        </p:nvSpPr>
        <p:spPr>
          <a:xfrm rot="20704014">
            <a:off x="6248362" y="5914450"/>
            <a:ext cx="1732722" cy="1409596"/>
          </a:xfrm>
          <a:prstGeom prst="flowChartAlternateProcess">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b="1" dirty="0" err="1">
                <a:solidFill>
                  <a:schemeClr val="bg1"/>
                </a:solidFill>
                <a:latin typeface="Consolas" panose="020B0609020204030204" pitchFamily="49" charset="0"/>
                <a:cs typeface="Consolas" panose="020B0609020204030204" pitchFamily="49" charset="0"/>
              </a:rPr>
              <a:t>println</a:t>
            </a:r>
            <a:endParaRPr lang="en-US" sz="2000" b="1" dirty="0">
              <a:solidFill>
                <a:schemeClr val="bg1"/>
              </a:solidFill>
              <a:latin typeface="Consolas" panose="020B0609020204030204" pitchFamily="49" charset="0"/>
              <a:cs typeface="Consolas" panose="020B0609020204030204" pitchFamily="49" charset="0"/>
            </a:endParaRPr>
          </a:p>
          <a:p>
            <a:r>
              <a:rPr lang="en-US" sz="2000" b="1" dirty="0">
                <a:solidFill>
                  <a:schemeClr val="tx1"/>
                </a:solidFill>
                <a:latin typeface="Consolas" panose="020B0609020204030204" pitchFamily="49" charset="0"/>
                <a:cs typeface="Consolas" panose="020B0609020204030204" pitchFamily="49" charset="0"/>
              </a:rPr>
              <a:t>here I am!</a:t>
            </a:r>
          </a:p>
        </p:txBody>
      </p:sp>
    </p:spTree>
    <p:extLst>
      <p:ext uri="{BB962C8B-B14F-4D97-AF65-F5344CB8AC3E}">
        <p14:creationId xmlns:p14="http://schemas.microsoft.com/office/powerpoint/2010/main" val="14481123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64" presetClass="path" presetSubtype="0" accel="50000" decel="50000" fill="hold" grpId="0" nodeType="clickEffect">
                                  <p:stCondLst>
                                    <p:cond delay="0"/>
                                  </p:stCondLst>
                                  <p:childTnLst>
                                    <p:animMotion origin="layout" path="M -1.38889E-6 -3.33333E-6 L -1.38889E-6 -0.20472 " pathEditMode="relative" rAng="0" ptsTypes="AA">
                                      <p:cBhvr>
                                        <p:cTn id="34" dur="300" fill="hold"/>
                                        <p:tgtEl>
                                          <p:spTgt spid="27"/>
                                        </p:tgtEl>
                                        <p:attrNameLst>
                                          <p:attrName>ppt_x</p:attrName>
                                          <p:attrName>ppt_y</p:attrName>
                                        </p:attrNameLst>
                                      </p:cBhvr>
                                      <p:rCtr x="0" y="-1025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90986-20CB-7446-A155-7A33A3FDA588}"/>
              </a:ext>
            </a:extLst>
          </p:cNvPr>
          <p:cNvSpPr>
            <a:spLocks noGrp="1"/>
          </p:cNvSpPr>
          <p:nvPr>
            <p:ph type="title"/>
          </p:nvPr>
        </p:nvSpPr>
        <p:spPr/>
        <p:txBody>
          <a:bodyPr/>
          <a:lstStyle/>
          <a:p>
            <a:r>
              <a:rPr lang="en-US" dirty="0"/>
              <a:t>Relocations</a:t>
            </a:r>
          </a:p>
        </p:txBody>
      </p:sp>
      <p:sp>
        <p:nvSpPr>
          <p:cNvPr id="3" name="Content Placeholder 2">
            <a:extLst>
              <a:ext uri="{FF2B5EF4-FFF2-40B4-BE49-F238E27FC236}">
                <a16:creationId xmlns:a16="http://schemas.microsoft.com/office/drawing/2014/main" id="{E78AFF38-9A4A-F842-A524-57A88366CF2A}"/>
              </a:ext>
            </a:extLst>
          </p:cNvPr>
          <p:cNvSpPr>
            <a:spLocks noGrp="1"/>
          </p:cNvSpPr>
          <p:nvPr>
            <p:ph idx="1"/>
          </p:nvPr>
        </p:nvSpPr>
        <p:spPr>
          <a:xfrm>
            <a:off x="152400" y="495301"/>
            <a:ext cx="8991600" cy="1447799"/>
          </a:xfrm>
        </p:spPr>
        <p:txBody>
          <a:bodyPr/>
          <a:lstStyle/>
          <a:p>
            <a:r>
              <a:rPr lang="en-US" dirty="0"/>
              <a:t>for a number of reasons, the addresses that your code and data end up at </a:t>
            </a:r>
            <a:r>
              <a:rPr lang="en-US" b="1" dirty="0"/>
              <a:t>may not be known until right before it's executed!</a:t>
            </a:r>
          </a:p>
          <a:p>
            <a:r>
              <a:rPr lang="en-US" dirty="0"/>
              <a:t>an executable file can have </a:t>
            </a:r>
            <a:r>
              <a:rPr lang="en-US" b="1" dirty="0"/>
              <a:t>relocations: </a:t>
            </a:r>
            <a:r>
              <a:rPr lang="en-US" dirty="0"/>
              <a:t>"blanks" where </a:t>
            </a:r>
            <a:r>
              <a:rPr lang="en-US" b="1" dirty="0"/>
              <a:t>absolute addresses </a:t>
            </a:r>
            <a:r>
              <a:rPr lang="en-US" dirty="0"/>
              <a:t>are needed, which are filled in at load-time.</a:t>
            </a:r>
          </a:p>
        </p:txBody>
      </p:sp>
      <p:sp>
        <p:nvSpPr>
          <p:cNvPr id="4" name="Slide Number Placeholder 3">
            <a:extLst>
              <a:ext uri="{FF2B5EF4-FFF2-40B4-BE49-F238E27FC236}">
                <a16:creationId xmlns:a16="http://schemas.microsoft.com/office/drawing/2014/main" id="{83A382B1-0DF0-5D44-88FD-2BAF54147DA8}"/>
              </a:ext>
            </a:extLst>
          </p:cNvPr>
          <p:cNvSpPr>
            <a:spLocks noGrp="1"/>
          </p:cNvSpPr>
          <p:nvPr>
            <p:ph type="sldNum" sz="quarter" idx="12"/>
          </p:nvPr>
        </p:nvSpPr>
        <p:spPr/>
        <p:txBody>
          <a:bodyPr/>
          <a:lstStyle/>
          <a:p>
            <a:fld id="{3552B95B-556F-44BD-91A5-D80C1B9E2BB3}" type="slidenum">
              <a:rPr lang="en-US" smtClean="0"/>
              <a:pPr/>
              <a:t>26</a:t>
            </a:fld>
            <a:endParaRPr lang="en-US"/>
          </a:p>
        </p:txBody>
      </p:sp>
      <p:sp>
        <p:nvSpPr>
          <p:cNvPr id="5" name="Rectangle 4">
            <a:extLst>
              <a:ext uri="{FF2B5EF4-FFF2-40B4-BE49-F238E27FC236}">
                <a16:creationId xmlns:a16="http://schemas.microsoft.com/office/drawing/2014/main" id="{32DE390C-590A-6D4F-BC3C-22E33A32E015}"/>
              </a:ext>
            </a:extLst>
          </p:cNvPr>
          <p:cNvSpPr/>
          <p:nvPr/>
        </p:nvSpPr>
        <p:spPr>
          <a:xfrm>
            <a:off x="381005" y="2463343"/>
            <a:ext cx="2590795" cy="2246769"/>
          </a:xfrm>
          <a:prstGeom prst="rect">
            <a:avLst/>
          </a:prstGeom>
        </p:spPr>
        <p:txBody>
          <a:bodyPr wrap="square">
            <a:spAutoFit/>
          </a:bodyPr>
          <a:lstStyle/>
          <a:p>
            <a:r>
              <a:rPr lang="en-US" sz="2000" i="1" dirty="0">
                <a:latin typeface="Consolas" panose="020B0609020204030204" pitchFamily="49" charset="0"/>
                <a:cs typeface="Consolas" panose="020B0609020204030204" pitchFamily="49" charset="0"/>
              </a:rPr>
              <a:t>00: </a:t>
            </a:r>
            <a:r>
              <a:rPr lang="en-US" sz="2000" b="1" dirty="0">
                <a:solidFill>
                  <a:srgbClr val="FF0000"/>
                </a:solidFill>
                <a:latin typeface="Consolas" panose="020B0609020204030204" pitchFamily="49" charset="0"/>
                <a:cs typeface="Consolas" panose="020B0609020204030204" pitchFamily="49" charset="0"/>
              </a:rPr>
              <a:t>li</a:t>
            </a:r>
            <a:r>
              <a:rPr lang="en-US" sz="2000" b="1" dirty="0">
                <a:latin typeface="Consolas" panose="020B0609020204030204" pitchFamily="49" charset="0"/>
                <a:cs typeface="Consolas" panose="020B0609020204030204" pitchFamily="49" charset="0"/>
              </a:rPr>
              <a:t>  a0, </a:t>
            </a:r>
            <a:r>
              <a:rPr lang="en-US" sz="2000" b="1" dirty="0">
                <a:solidFill>
                  <a:schemeClr val="accent3">
                    <a:lumMod val="75000"/>
                  </a:schemeClr>
                </a:solidFill>
                <a:latin typeface="Consolas" panose="020B0609020204030204" pitchFamily="49" charset="0"/>
                <a:cs typeface="Consolas" panose="020B0609020204030204" pitchFamily="49" charset="0"/>
              </a:rPr>
              <a:t>10</a:t>
            </a:r>
          </a:p>
          <a:p>
            <a:r>
              <a:rPr lang="en-US" sz="2000" b="1" i="1" dirty="0">
                <a:solidFill>
                  <a:srgbClr val="0070C0"/>
                </a:solidFill>
                <a:latin typeface="Consolas" panose="020B0609020204030204" pitchFamily="49" charset="0"/>
                <a:cs typeface="Consolas" panose="020B0609020204030204" pitchFamily="49" charset="0"/>
              </a:rPr>
              <a:t>04:</a:t>
            </a:r>
            <a:r>
              <a:rPr lang="en-US" sz="2000" i="1" dirty="0">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jal</a:t>
            </a:r>
            <a:r>
              <a:rPr lang="en-US" sz="2000" b="1" dirty="0">
                <a:solidFill>
                  <a:srgbClr val="FF0000"/>
                </a:solidFill>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0</a:t>
            </a:r>
          </a:p>
          <a:p>
            <a:r>
              <a:rPr lang="en-US" sz="2000" i="1" dirty="0">
                <a:latin typeface="Consolas" panose="020B0609020204030204" pitchFamily="49" charset="0"/>
                <a:cs typeface="Consolas" panose="020B0609020204030204" pitchFamily="49" charset="0"/>
              </a:rPr>
              <a:t>08: </a:t>
            </a:r>
            <a:r>
              <a:rPr lang="en-US" sz="2000" b="1" dirty="0">
                <a:solidFill>
                  <a:srgbClr val="FF0000"/>
                </a:solidFill>
                <a:latin typeface="Consolas" panose="020B0609020204030204" pitchFamily="49" charset="0"/>
                <a:cs typeface="Consolas" panose="020B0609020204030204" pitchFamily="49" charset="0"/>
              </a:rPr>
              <a:t>li</a:t>
            </a:r>
            <a:r>
              <a:rPr lang="en-US" sz="2000" b="1" dirty="0">
                <a:latin typeface="Consolas" panose="020B0609020204030204" pitchFamily="49" charset="0"/>
                <a:cs typeface="Consolas" panose="020B0609020204030204" pitchFamily="49" charset="0"/>
              </a:rPr>
              <a:t>  v0, </a:t>
            </a:r>
            <a:r>
              <a:rPr lang="en-US" sz="2000" b="1" dirty="0">
                <a:solidFill>
                  <a:schemeClr val="accent3">
                    <a:lumMod val="75000"/>
                  </a:schemeClr>
                </a:solidFill>
                <a:latin typeface="Consolas" panose="020B0609020204030204" pitchFamily="49" charset="0"/>
                <a:cs typeface="Consolas" panose="020B0609020204030204" pitchFamily="49" charset="0"/>
              </a:rPr>
              <a:t>10</a:t>
            </a:r>
            <a:endParaRPr lang="en-US" sz="2000" b="1" dirty="0">
              <a:latin typeface="Consolas" panose="020B0609020204030204" pitchFamily="49" charset="0"/>
              <a:cs typeface="Consolas" panose="020B0609020204030204" pitchFamily="49" charset="0"/>
            </a:endParaRPr>
          </a:p>
          <a:p>
            <a:r>
              <a:rPr lang="en-US" sz="2000" i="1" dirty="0">
                <a:latin typeface="Consolas" panose="020B0609020204030204" pitchFamily="49" charset="0"/>
                <a:cs typeface="Consolas" panose="020B0609020204030204" pitchFamily="49" charset="0"/>
              </a:rPr>
              <a:t>0C: </a:t>
            </a:r>
            <a:r>
              <a:rPr lang="en-US" sz="2000" b="1" dirty="0">
                <a:solidFill>
                  <a:srgbClr val="FF0000"/>
                </a:solidFill>
                <a:latin typeface="Consolas" panose="020B0609020204030204" pitchFamily="49" charset="0"/>
                <a:cs typeface="Consolas" panose="020B0609020204030204" pitchFamily="49" charset="0"/>
              </a:rPr>
              <a:t>syscall</a:t>
            </a:r>
          </a:p>
          <a:p>
            <a:r>
              <a:rPr lang="en-US" sz="2000" b="1" i="1" dirty="0">
                <a:solidFill>
                  <a:srgbClr val="00B050"/>
                </a:solidFill>
                <a:latin typeface="Consolas" panose="020B0609020204030204" pitchFamily="49" charset="0"/>
                <a:cs typeface="Consolas" panose="020B0609020204030204" pitchFamily="49" charset="0"/>
              </a:rPr>
              <a:t>10:</a:t>
            </a:r>
            <a:r>
              <a:rPr lang="en-US" sz="2000" i="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li</a:t>
            </a:r>
            <a:r>
              <a:rPr lang="en-US" sz="2000" b="1" dirty="0">
                <a:latin typeface="Consolas" panose="020B0609020204030204" pitchFamily="49" charset="0"/>
                <a:cs typeface="Consolas" panose="020B0609020204030204" pitchFamily="49" charset="0"/>
              </a:rPr>
              <a:t>  v0, </a:t>
            </a:r>
            <a:r>
              <a:rPr lang="en-US" sz="2000" b="1" dirty="0">
                <a:solidFill>
                  <a:schemeClr val="accent3">
                    <a:lumMod val="75000"/>
                  </a:schemeClr>
                </a:solidFill>
                <a:latin typeface="Consolas" panose="020B0609020204030204" pitchFamily="49" charset="0"/>
                <a:cs typeface="Consolas" panose="020B0609020204030204" pitchFamily="49" charset="0"/>
              </a:rPr>
              <a:t>1</a:t>
            </a:r>
          </a:p>
          <a:p>
            <a:r>
              <a:rPr lang="en-US" sz="2000" i="1" dirty="0">
                <a:latin typeface="Consolas" panose="020B0609020204030204" pitchFamily="49" charset="0"/>
                <a:cs typeface="Consolas" panose="020B0609020204030204" pitchFamily="49" charset="0"/>
              </a:rPr>
              <a:t>14: </a:t>
            </a:r>
            <a:r>
              <a:rPr lang="en-US" sz="2000" b="1" dirty="0">
                <a:solidFill>
                  <a:srgbClr val="FF0000"/>
                </a:solidFill>
                <a:latin typeface="Consolas" panose="020B0609020204030204" pitchFamily="49" charset="0"/>
                <a:cs typeface="Consolas" panose="020B0609020204030204" pitchFamily="49" charset="0"/>
              </a:rPr>
              <a:t>syscall</a:t>
            </a:r>
          </a:p>
          <a:p>
            <a:r>
              <a:rPr lang="en-US" sz="2000" i="1" dirty="0">
                <a:latin typeface="Consolas" panose="020B0609020204030204" pitchFamily="49" charset="0"/>
                <a:cs typeface="Consolas" panose="020B0609020204030204" pitchFamily="49" charset="0"/>
              </a:rPr>
              <a:t>18: </a:t>
            </a:r>
            <a:r>
              <a:rPr lang="en-US" sz="2000" b="1" dirty="0" err="1">
                <a:solidFill>
                  <a:srgbClr val="FF0000"/>
                </a:solidFill>
                <a:latin typeface="Consolas" panose="020B0609020204030204" pitchFamily="49" charset="0"/>
                <a:cs typeface="Consolas" panose="020B0609020204030204" pitchFamily="49" charset="0"/>
              </a:rPr>
              <a:t>jr</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ra</a:t>
            </a:r>
            <a:endParaRPr lang="en-US" sz="2000" i="1" dirty="0">
              <a:latin typeface="Consolas" panose="020B0609020204030204" pitchFamily="49" charset="0"/>
              <a:cs typeface="Consolas" panose="020B0609020204030204" pitchFamily="49" charset="0"/>
            </a:endParaRPr>
          </a:p>
        </p:txBody>
      </p:sp>
      <p:sp>
        <p:nvSpPr>
          <p:cNvPr id="6" name="Rectangle 5">
            <a:extLst>
              <a:ext uri="{FF2B5EF4-FFF2-40B4-BE49-F238E27FC236}">
                <a16:creationId xmlns:a16="http://schemas.microsoft.com/office/drawing/2014/main" id="{20A12412-08C7-D14C-B3C2-0FF40EE4CE62}"/>
              </a:ext>
            </a:extLst>
          </p:cNvPr>
          <p:cNvSpPr/>
          <p:nvPr/>
        </p:nvSpPr>
        <p:spPr>
          <a:xfrm>
            <a:off x="6324600" y="2463343"/>
            <a:ext cx="2590800" cy="2246769"/>
          </a:xfrm>
          <a:prstGeom prst="rect">
            <a:avLst/>
          </a:prstGeom>
        </p:spPr>
        <p:txBody>
          <a:bodyPr wrap="square">
            <a:spAutoFit/>
          </a:bodyPr>
          <a:lstStyle/>
          <a:p>
            <a:r>
              <a:rPr lang="en-US" sz="2000" i="1" dirty="0">
                <a:latin typeface="Consolas" panose="020B0609020204030204" pitchFamily="49" charset="0"/>
                <a:cs typeface="Consolas" panose="020B0609020204030204" pitchFamily="49" charset="0"/>
              </a:rPr>
              <a:t>8000: </a:t>
            </a:r>
            <a:r>
              <a:rPr lang="en-US" sz="2000" b="1" dirty="0">
                <a:solidFill>
                  <a:srgbClr val="FF0000"/>
                </a:solidFill>
                <a:latin typeface="Consolas" panose="020B0609020204030204" pitchFamily="49" charset="0"/>
                <a:cs typeface="Consolas" panose="020B0609020204030204" pitchFamily="49" charset="0"/>
              </a:rPr>
              <a:t>li</a:t>
            </a:r>
            <a:r>
              <a:rPr lang="en-US" sz="2000" b="1" dirty="0">
                <a:latin typeface="Consolas" panose="020B0609020204030204" pitchFamily="49" charset="0"/>
                <a:cs typeface="Consolas" panose="020B0609020204030204" pitchFamily="49" charset="0"/>
              </a:rPr>
              <a:t>  a0, </a:t>
            </a:r>
            <a:r>
              <a:rPr lang="en-US" sz="2000" b="1" dirty="0">
                <a:solidFill>
                  <a:schemeClr val="accent3">
                    <a:lumMod val="75000"/>
                  </a:schemeClr>
                </a:solidFill>
                <a:latin typeface="Consolas" panose="020B0609020204030204" pitchFamily="49" charset="0"/>
                <a:cs typeface="Consolas" panose="020B0609020204030204" pitchFamily="49" charset="0"/>
              </a:rPr>
              <a:t>10 </a:t>
            </a:r>
            <a:r>
              <a:rPr lang="en-US" sz="2000" i="1" dirty="0">
                <a:latin typeface="Consolas" panose="020B0609020204030204" pitchFamily="49" charset="0"/>
                <a:cs typeface="Consolas" panose="020B0609020204030204" pitchFamily="49" charset="0"/>
              </a:rPr>
              <a:t>8004: </a:t>
            </a:r>
            <a:r>
              <a:rPr lang="en-US" sz="2000" b="1" dirty="0" err="1">
                <a:solidFill>
                  <a:srgbClr val="FF0000"/>
                </a:solidFill>
                <a:latin typeface="Consolas" panose="020B0609020204030204" pitchFamily="49" charset="0"/>
                <a:cs typeface="Consolas" panose="020B0609020204030204" pitchFamily="49" charset="0"/>
              </a:rPr>
              <a:t>jal</a:t>
            </a:r>
            <a:r>
              <a:rPr lang="en-US" sz="2000" b="1" dirty="0">
                <a:solidFill>
                  <a:srgbClr val="FF0000"/>
                </a:solidFill>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0x8010</a:t>
            </a:r>
          </a:p>
          <a:p>
            <a:r>
              <a:rPr lang="en-US" sz="2000" i="1" dirty="0">
                <a:latin typeface="Consolas" panose="020B0609020204030204" pitchFamily="49" charset="0"/>
                <a:cs typeface="Consolas" panose="020B0609020204030204" pitchFamily="49" charset="0"/>
              </a:rPr>
              <a:t>8008: </a:t>
            </a:r>
            <a:r>
              <a:rPr lang="en-US" sz="2000" b="1" dirty="0">
                <a:solidFill>
                  <a:srgbClr val="FF0000"/>
                </a:solidFill>
                <a:latin typeface="Consolas" panose="020B0609020204030204" pitchFamily="49" charset="0"/>
                <a:cs typeface="Consolas" panose="020B0609020204030204" pitchFamily="49" charset="0"/>
              </a:rPr>
              <a:t>li</a:t>
            </a:r>
            <a:r>
              <a:rPr lang="en-US" sz="2000" b="1" dirty="0">
                <a:latin typeface="Consolas" panose="020B0609020204030204" pitchFamily="49" charset="0"/>
                <a:cs typeface="Consolas" panose="020B0609020204030204" pitchFamily="49" charset="0"/>
              </a:rPr>
              <a:t>  v0, </a:t>
            </a:r>
            <a:r>
              <a:rPr lang="en-US" sz="2000" b="1" dirty="0">
                <a:solidFill>
                  <a:schemeClr val="accent3">
                    <a:lumMod val="75000"/>
                  </a:schemeClr>
                </a:solidFill>
                <a:latin typeface="Consolas" panose="020B0609020204030204" pitchFamily="49" charset="0"/>
                <a:cs typeface="Consolas" panose="020B0609020204030204" pitchFamily="49" charset="0"/>
              </a:rPr>
              <a:t>10</a:t>
            </a:r>
            <a:endParaRPr lang="en-US" sz="2000" b="1" dirty="0">
              <a:latin typeface="Consolas" panose="020B0609020204030204" pitchFamily="49" charset="0"/>
              <a:cs typeface="Consolas" panose="020B0609020204030204" pitchFamily="49" charset="0"/>
            </a:endParaRPr>
          </a:p>
          <a:p>
            <a:r>
              <a:rPr lang="en-US" sz="2000" i="1" dirty="0">
                <a:latin typeface="Consolas" panose="020B0609020204030204" pitchFamily="49" charset="0"/>
                <a:cs typeface="Consolas" panose="020B0609020204030204" pitchFamily="49" charset="0"/>
              </a:rPr>
              <a:t>800C: </a:t>
            </a:r>
            <a:r>
              <a:rPr lang="en-US" sz="2000" b="1" dirty="0">
                <a:solidFill>
                  <a:srgbClr val="FF0000"/>
                </a:solidFill>
                <a:latin typeface="Consolas" panose="020B0609020204030204" pitchFamily="49" charset="0"/>
                <a:cs typeface="Consolas" panose="020B0609020204030204" pitchFamily="49" charset="0"/>
              </a:rPr>
              <a:t>syscall</a:t>
            </a:r>
          </a:p>
          <a:p>
            <a:r>
              <a:rPr lang="en-US" sz="2000" i="1" dirty="0">
                <a:latin typeface="Consolas" panose="020B0609020204030204" pitchFamily="49" charset="0"/>
                <a:cs typeface="Consolas" panose="020B0609020204030204" pitchFamily="49" charset="0"/>
              </a:rPr>
              <a:t>8010: </a:t>
            </a:r>
            <a:r>
              <a:rPr lang="en-US" sz="2000" b="1" dirty="0">
                <a:solidFill>
                  <a:srgbClr val="FF0000"/>
                </a:solidFill>
                <a:latin typeface="Consolas" panose="020B0609020204030204" pitchFamily="49" charset="0"/>
                <a:cs typeface="Consolas" panose="020B0609020204030204" pitchFamily="49" charset="0"/>
              </a:rPr>
              <a:t>li</a:t>
            </a:r>
            <a:r>
              <a:rPr lang="en-US" sz="2000" b="1" dirty="0">
                <a:latin typeface="Consolas" panose="020B0609020204030204" pitchFamily="49" charset="0"/>
                <a:cs typeface="Consolas" panose="020B0609020204030204" pitchFamily="49" charset="0"/>
              </a:rPr>
              <a:t>  v0, </a:t>
            </a:r>
            <a:r>
              <a:rPr lang="en-US" sz="2000" b="1" dirty="0">
                <a:solidFill>
                  <a:schemeClr val="accent3">
                    <a:lumMod val="75000"/>
                  </a:schemeClr>
                </a:solidFill>
                <a:latin typeface="Consolas" panose="020B0609020204030204" pitchFamily="49" charset="0"/>
                <a:cs typeface="Consolas" panose="020B0609020204030204" pitchFamily="49" charset="0"/>
              </a:rPr>
              <a:t>1</a:t>
            </a:r>
          </a:p>
          <a:p>
            <a:r>
              <a:rPr lang="en-US" sz="2000" i="1" dirty="0">
                <a:latin typeface="Consolas" panose="020B0609020204030204" pitchFamily="49" charset="0"/>
                <a:cs typeface="Consolas" panose="020B0609020204030204" pitchFamily="49" charset="0"/>
              </a:rPr>
              <a:t>8014: </a:t>
            </a:r>
            <a:r>
              <a:rPr lang="en-US" sz="2000" b="1" dirty="0">
                <a:solidFill>
                  <a:srgbClr val="FF0000"/>
                </a:solidFill>
                <a:latin typeface="Consolas" panose="020B0609020204030204" pitchFamily="49" charset="0"/>
                <a:cs typeface="Consolas" panose="020B0609020204030204" pitchFamily="49" charset="0"/>
              </a:rPr>
              <a:t>syscall</a:t>
            </a:r>
          </a:p>
          <a:p>
            <a:r>
              <a:rPr lang="en-US" sz="2000" i="1" dirty="0">
                <a:latin typeface="Consolas" panose="020B0609020204030204" pitchFamily="49" charset="0"/>
                <a:cs typeface="Consolas" panose="020B0609020204030204" pitchFamily="49" charset="0"/>
              </a:rPr>
              <a:t>8018: </a:t>
            </a:r>
            <a:r>
              <a:rPr lang="en-US" sz="2000" b="1" dirty="0" err="1">
                <a:solidFill>
                  <a:srgbClr val="FF0000"/>
                </a:solidFill>
                <a:latin typeface="Consolas" panose="020B0609020204030204" pitchFamily="49" charset="0"/>
                <a:cs typeface="Consolas" panose="020B0609020204030204" pitchFamily="49" charset="0"/>
              </a:rPr>
              <a:t>jr</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ra</a:t>
            </a:r>
            <a:endParaRPr lang="en-US" sz="2000" i="1" dirty="0">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C57D3B15-2CF2-8345-B47F-FB5A4A60C181}"/>
              </a:ext>
            </a:extLst>
          </p:cNvPr>
          <p:cNvSpPr txBox="1"/>
          <p:nvPr/>
        </p:nvSpPr>
        <p:spPr>
          <a:xfrm>
            <a:off x="1485900" y="2019299"/>
            <a:ext cx="2767222" cy="430887"/>
          </a:xfrm>
          <a:prstGeom prst="rect">
            <a:avLst/>
          </a:prstGeom>
          <a:noFill/>
        </p:spPr>
        <p:txBody>
          <a:bodyPr wrap="square" rtlCol="0">
            <a:spAutoFit/>
          </a:bodyPr>
          <a:lstStyle/>
          <a:p>
            <a:pPr algn="ctr"/>
            <a:r>
              <a:rPr lang="en-US" sz="2200" b="1" u="sng" dirty="0"/>
              <a:t>In the executable</a:t>
            </a:r>
          </a:p>
        </p:txBody>
      </p:sp>
      <p:sp>
        <p:nvSpPr>
          <p:cNvPr id="8" name="TextBox 7">
            <a:extLst>
              <a:ext uri="{FF2B5EF4-FFF2-40B4-BE49-F238E27FC236}">
                <a16:creationId xmlns:a16="http://schemas.microsoft.com/office/drawing/2014/main" id="{58998342-5C59-1343-8FAB-0D5B4C36B29B}"/>
              </a:ext>
            </a:extLst>
          </p:cNvPr>
          <p:cNvSpPr txBox="1"/>
          <p:nvPr/>
        </p:nvSpPr>
        <p:spPr>
          <a:xfrm>
            <a:off x="5919578" y="2019300"/>
            <a:ext cx="2767222" cy="430887"/>
          </a:xfrm>
          <a:prstGeom prst="rect">
            <a:avLst/>
          </a:prstGeom>
          <a:noFill/>
        </p:spPr>
        <p:txBody>
          <a:bodyPr wrap="square" rtlCol="0">
            <a:spAutoFit/>
          </a:bodyPr>
          <a:lstStyle/>
          <a:p>
            <a:pPr algn="ctr"/>
            <a:r>
              <a:rPr lang="en-US" sz="2200" b="1" u="sng" dirty="0"/>
              <a:t>After loading</a:t>
            </a:r>
          </a:p>
        </p:txBody>
      </p:sp>
      <p:cxnSp>
        <p:nvCxnSpPr>
          <p:cNvPr id="9" name="Straight Connector 8">
            <a:extLst>
              <a:ext uri="{FF2B5EF4-FFF2-40B4-BE49-F238E27FC236}">
                <a16:creationId xmlns:a16="http://schemas.microsoft.com/office/drawing/2014/main" id="{7AFD4ECB-0874-D442-B485-09801CD614BF}"/>
              </a:ext>
            </a:extLst>
          </p:cNvPr>
          <p:cNvCxnSpPr>
            <a:cxnSpLocks/>
          </p:cNvCxnSpPr>
          <p:nvPr/>
        </p:nvCxnSpPr>
        <p:spPr>
          <a:xfrm>
            <a:off x="5919578" y="2019299"/>
            <a:ext cx="0" cy="29718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398915C5-4F9B-4D42-A9F4-B4C6C2E4A1D5}"/>
              </a:ext>
            </a:extLst>
          </p:cNvPr>
          <p:cNvSpPr/>
          <p:nvPr/>
        </p:nvSpPr>
        <p:spPr>
          <a:xfrm>
            <a:off x="2855432" y="2756948"/>
            <a:ext cx="2983388" cy="923330"/>
          </a:xfrm>
          <a:prstGeom prst="rect">
            <a:avLst/>
          </a:prstGeom>
        </p:spPr>
        <p:txBody>
          <a:bodyPr wrap="square">
            <a:spAutoFit/>
          </a:bodyPr>
          <a:lstStyle/>
          <a:p>
            <a:r>
              <a:rPr lang="en-US" sz="1800" b="1" dirty="0" err="1">
                <a:latin typeface="Consolas" panose="020B0609020204030204" pitchFamily="49" charset="0"/>
                <a:cs typeface="Consolas" panose="020B0609020204030204" pitchFamily="49" charset="0"/>
              </a:rPr>
              <a:t>Reloc</a:t>
            </a:r>
            <a:r>
              <a:rPr lang="en-US" sz="1800" b="1" dirty="0">
                <a:latin typeface="Consolas" panose="020B0609020204030204" pitchFamily="49" charset="0"/>
                <a:cs typeface="Consolas" panose="020B0609020204030204" pitchFamily="49" charset="0"/>
              </a:rPr>
              <a:t> { </a:t>
            </a:r>
            <a:r>
              <a:rPr lang="en-US" sz="1800" b="1" dirty="0" err="1">
                <a:latin typeface="Consolas" panose="020B0609020204030204" pitchFamily="49" charset="0"/>
                <a:cs typeface="Consolas" panose="020B0609020204030204" pitchFamily="49" charset="0"/>
              </a:rPr>
              <a:t>addr</a:t>
            </a:r>
            <a:r>
              <a:rPr lang="en-US" sz="1800" b="1" dirty="0">
                <a:latin typeface="Consolas" panose="020B0609020204030204" pitchFamily="49" charset="0"/>
                <a:cs typeface="Consolas" panose="020B0609020204030204" pitchFamily="49" charset="0"/>
              </a:rPr>
              <a:t>: </a:t>
            </a:r>
            <a:r>
              <a:rPr lang="en-US" sz="1800" b="1" dirty="0">
                <a:solidFill>
                  <a:srgbClr val="0070C0"/>
                </a:solidFill>
                <a:latin typeface="Consolas" panose="020B0609020204030204" pitchFamily="49" charset="0"/>
                <a:cs typeface="Consolas" panose="020B0609020204030204" pitchFamily="49" charset="0"/>
              </a:rPr>
              <a:t>0x0004</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kind: </a:t>
            </a:r>
            <a:r>
              <a:rPr lang="en-US" sz="1800" b="1" dirty="0">
                <a:solidFill>
                  <a:srgbClr val="FF0000"/>
                </a:solidFill>
                <a:latin typeface="Consolas" panose="020B0609020204030204" pitchFamily="49" charset="0"/>
                <a:cs typeface="Consolas" panose="020B0609020204030204" pitchFamily="49" charset="0"/>
              </a:rPr>
              <a:t>Jump26</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target: </a:t>
            </a:r>
            <a:r>
              <a:rPr lang="en-US" sz="1800" b="1" dirty="0">
                <a:solidFill>
                  <a:schemeClr val="accent6">
                    <a:lumMod val="75000"/>
                  </a:schemeClr>
                </a:solidFill>
                <a:latin typeface="Consolas" panose="020B0609020204030204" pitchFamily="49" charset="0"/>
                <a:cs typeface="Consolas" panose="020B0609020204030204" pitchFamily="49" charset="0"/>
              </a:rPr>
              <a:t>"g"</a:t>
            </a:r>
            <a:r>
              <a:rPr lang="en-US" sz="1800" b="1" dirty="0">
                <a:latin typeface="Consolas" panose="020B0609020204030204" pitchFamily="49" charset="0"/>
                <a:cs typeface="Consolas" panose="020B0609020204030204" pitchFamily="49" charset="0"/>
              </a:rPr>
              <a:t>, }</a:t>
            </a:r>
          </a:p>
        </p:txBody>
      </p:sp>
      <p:sp>
        <p:nvSpPr>
          <p:cNvPr id="14" name="Rectangle 13">
            <a:extLst>
              <a:ext uri="{FF2B5EF4-FFF2-40B4-BE49-F238E27FC236}">
                <a16:creationId xmlns:a16="http://schemas.microsoft.com/office/drawing/2014/main" id="{3EDEB794-C912-C041-86BA-19C0A9460B4E}"/>
              </a:ext>
            </a:extLst>
          </p:cNvPr>
          <p:cNvSpPr/>
          <p:nvPr/>
        </p:nvSpPr>
        <p:spPr>
          <a:xfrm>
            <a:off x="2743200" y="3693435"/>
            <a:ext cx="2983388" cy="923330"/>
          </a:xfrm>
          <a:prstGeom prst="rect">
            <a:avLst/>
          </a:prstGeom>
        </p:spPr>
        <p:txBody>
          <a:bodyPr wrap="square">
            <a:spAutoFit/>
          </a:bodyPr>
          <a:lstStyle/>
          <a:p>
            <a:r>
              <a:rPr lang="en-US" sz="1800" b="1" dirty="0">
                <a:latin typeface="Consolas" panose="020B0609020204030204" pitchFamily="49" charset="0"/>
                <a:cs typeface="Consolas" panose="020B0609020204030204" pitchFamily="49" charset="0"/>
              </a:rPr>
              <a:t>Symbol { </a:t>
            </a:r>
            <a:r>
              <a:rPr lang="en-US" sz="1800" b="1" dirty="0" err="1">
                <a:latin typeface="Consolas" panose="020B0609020204030204" pitchFamily="49" charset="0"/>
                <a:cs typeface="Consolas" panose="020B0609020204030204" pitchFamily="49" charset="0"/>
              </a:rPr>
              <a:t>addr</a:t>
            </a:r>
            <a:r>
              <a:rPr lang="en-US" sz="1800" b="1" dirty="0">
                <a:latin typeface="Consolas" panose="020B0609020204030204" pitchFamily="49" charset="0"/>
                <a:cs typeface="Consolas" panose="020B0609020204030204" pitchFamily="49" charset="0"/>
              </a:rPr>
              <a:t>: </a:t>
            </a:r>
            <a:r>
              <a:rPr lang="en-US" sz="1800" b="1" dirty="0">
                <a:solidFill>
                  <a:srgbClr val="00B050"/>
                </a:solidFill>
                <a:latin typeface="Consolas" panose="020B0609020204030204" pitchFamily="49" charset="0"/>
                <a:cs typeface="Consolas" panose="020B0609020204030204" pitchFamily="49" charset="0"/>
              </a:rPr>
              <a:t>0x0010</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kind: </a:t>
            </a:r>
            <a:r>
              <a:rPr lang="en-US" sz="1800" b="1" dirty="0" err="1">
                <a:solidFill>
                  <a:srgbClr val="FF0000"/>
                </a:solidFill>
                <a:latin typeface="Consolas" panose="020B0609020204030204" pitchFamily="49" charset="0"/>
                <a:cs typeface="Consolas" panose="020B0609020204030204" pitchFamily="49" charset="0"/>
              </a:rPr>
              <a:t>Func</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name: </a:t>
            </a:r>
            <a:r>
              <a:rPr lang="en-US" sz="1800" b="1" dirty="0">
                <a:solidFill>
                  <a:schemeClr val="accent6">
                    <a:lumMod val="75000"/>
                  </a:schemeClr>
                </a:solidFill>
                <a:latin typeface="Consolas" panose="020B0609020204030204" pitchFamily="49" charset="0"/>
                <a:cs typeface="Consolas" panose="020B0609020204030204" pitchFamily="49" charset="0"/>
              </a:rPr>
              <a:t>"g"</a:t>
            </a:r>
            <a:r>
              <a:rPr lang="en-US" sz="1800" b="1" dirty="0">
                <a:latin typeface="Consolas" panose="020B0609020204030204" pitchFamily="49" charset="0"/>
                <a:cs typeface="Consolas" panose="020B0609020204030204" pitchFamily="49" charset="0"/>
              </a:rPr>
              <a:t>, }</a:t>
            </a:r>
          </a:p>
        </p:txBody>
      </p:sp>
      <p:sp>
        <p:nvSpPr>
          <p:cNvPr id="15" name="TextBox 14">
            <a:extLst>
              <a:ext uri="{FF2B5EF4-FFF2-40B4-BE49-F238E27FC236}">
                <a16:creationId xmlns:a16="http://schemas.microsoft.com/office/drawing/2014/main" id="{998BA7BF-7742-A141-8704-2490A78560B0}"/>
              </a:ext>
            </a:extLst>
          </p:cNvPr>
          <p:cNvSpPr txBox="1"/>
          <p:nvPr/>
        </p:nvSpPr>
        <p:spPr>
          <a:xfrm>
            <a:off x="192568" y="4836296"/>
            <a:ext cx="5815221" cy="430887"/>
          </a:xfrm>
          <a:prstGeom prst="rect">
            <a:avLst/>
          </a:prstGeom>
          <a:noFill/>
        </p:spPr>
        <p:txBody>
          <a:bodyPr wrap="square" rtlCol="0">
            <a:spAutoFit/>
          </a:bodyPr>
          <a:lstStyle/>
          <a:p>
            <a:pPr algn="ctr"/>
            <a:r>
              <a:rPr lang="en-US" sz="2200" dirty="0"/>
              <a:t>if this code is loaded at address </a:t>
            </a:r>
            <a:r>
              <a:rPr lang="en-US" sz="2200" b="1" dirty="0">
                <a:latin typeface="Consolas" panose="020B0609020204030204" pitchFamily="49" charset="0"/>
                <a:cs typeface="Consolas" panose="020B0609020204030204" pitchFamily="49" charset="0"/>
              </a:rPr>
              <a:t>0x8000</a:t>
            </a:r>
            <a:r>
              <a:rPr lang="en-US" sz="2200" dirty="0"/>
              <a:t>…</a:t>
            </a:r>
          </a:p>
        </p:txBody>
      </p:sp>
      <p:cxnSp>
        <p:nvCxnSpPr>
          <p:cNvPr id="11" name="Straight Arrow Connector 10">
            <a:extLst>
              <a:ext uri="{FF2B5EF4-FFF2-40B4-BE49-F238E27FC236}">
                <a16:creationId xmlns:a16="http://schemas.microsoft.com/office/drawing/2014/main" id="{767E8132-F52E-6948-B078-4D9FD4B278B3}"/>
              </a:ext>
            </a:extLst>
          </p:cNvPr>
          <p:cNvCxnSpPr/>
          <p:nvPr/>
        </p:nvCxnSpPr>
        <p:spPr>
          <a:xfrm flipH="1">
            <a:off x="1971675" y="2952750"/>
            <a:ext cx="874232"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9F2812E-DF83-F840-A221-B5609C097702}"/>
              </a:ext>
            </a:extLst>
          </p:cNvPr>
          <p:cNvCxnSpPr>
            <a:cxnSpLocks/>
          </p:cNvCxnSpPr>
          <p:nvPr/>
        </p:nvCxnSpPr>
        <p:spPr>
          <a:xfrm flipH="1">
            <a:off x="2419350" y="3886200"/>
            <a:ext cx="359882"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42501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3" grpId="0"/>
      <p:bldP spid="14" grpId="0"/>
      <p:bldP spid="1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D53D5-F14E-AD4E-9AE8-C31552EC8347}"/>
              </a:ext>
            </a:extLst>
          </p:cNvPr>
          <p:cNvSpPr>
            <a:spLocks noGrp="1"/>
          </p:cNvSpPr>
          <p:nvPr>
            <p:ph type="title"/>
          </p:nvPr>
        </p:nvSpPr>
        <p:spPr/>
        <p:txBody>
          <a:bodyPr/>
          <a:lstStyle/>
          <a:p>
            <a:r>
              <a:rPr lang="en-US" dirty="0"/>
              <a:t>Position-independent code</a:t>
            </a:r>
          </a:p>
        </p:txBody>
      </p:sp>
      <p:sp>
        <p:nvSpPr>
          <p:cNvPr id="3" name="Content Placeholder 2">
            <a:extLst>
              <a:ext uri="{FF2B5EF4-FFF2-40B4-BE49-F238E27FC236}">
                <a16:creationId xmlns:a16="http://schemas.microsoft.com/office/drawing/2014/main" id="{B3470DA1-E02B-2343-8172-857ECEC4C0AC}"/>
              </a:ext>
            </a:extLst>
          </p:cNvPr>
          <p:cNvSpPr>
            <a:spLocks noGrp="1"/>
          </p:cNvSpPr>
          <p:nvPr>
            <p:ph idx="1"/>
          </p:nvPr>
        </p:nvSpPr>
        <p:spPr>
          <a:xfrm>
            <a:off x="152400" y="495301"/>
            <a:ext cx="8991600" cy="2209799"/>
          </a:xfrm>
        </p:spPr>
        <p:txBody>
          <a:bodyPr>
            <a:normAutofit/>
          </a:bodyPr>
          <a:lstStyle/>
          <a:p>
            <a:r>
              <a:rPr lang="en-US" dirty="0"/>
              <a:t>compilers often have a flag to output </a:t>
            </a:r>
            <a:r>
              <a:rPr lang="en-US" b="1" dirty="0"/>
              <a:t>position-independent code,</a:t>
            </a:r>
            <a:r>
              <a:rPr lang="en-US" dirty="0"/>
              <a:t> which uses different instructions to </a:t>
            </a:r>
            <a:r>
              <a:rPr lang="en-US" b="1" dirty="0"/>
              <a:t>never use absolute addresses.</a:t>
            </a:r>
          </a:p>
          <a:p>
            <a:pPr lvl="1"/>
            <a:r>
              <a:rPr lang="en-US" dirty="0"/>
              <a:t>this avoids relocations entirely, making things faster to load, and it avoids </a:t>
            </a:r>
            <a:r>
              <a:rPr lang="en-US" b="1" dirty="0"/>
              <a:t>duplicating shared libraries in RAM.</a:t>
            </a:r>
          </a:p>
          <a:p>
            <a:r>
              <a:rPr lang="en-US" dirty="0"/>
              <a:t>to do this, the target ISA must be able to calculate addresses of code and data </a:t>
            </a:r>
            <a:r>
              <a:rPr lang="en-US" b="1" dirty="0"/>
              <a:t>based on the PC </a:t>
            </a:r>
            <a:r>
              <a:rPr lang="en-US" dirty="0"/>
              <a:t>("PC-relative addressing"):</a:t>
            </a:r>
          </a:p>
          <a:p>
            <a:endParaRPr lang="en-US" dirty="0"/>
          </a:p>
        </p:txBody>
      </p:sp>
      <p:sp>
        <p:nvSpPr>
          <p:cNvPr id="4" name="Slide Number Placeholder 3">
            <a:extLst>
              <a:ext uri="{FF2B5EF4-FFF2-40B4-BE49-F238E27FC236}">
                <a16:creationId xmlns:a16="http://schemas.microsoft.com/office/drawing/2014/main" id="{C645C3EF-03CA-6747-8099-0BD906A4993C}"/>
              </a:ext>
            </a:extLst>
          </p:cNvPr>
          <p:cNvSpPr>
            <a:spLocks noGrp="1"/>
          </p:cNvSpPr>
          <p:nvPr>
            <p:ph type="sldNum" sz="quarter" idx="12"/>
          </p:nvPr>
        </p:nvSpPr>
        <p:spPr/>
        <p:txBody>
          <a:bodyPr/>
          <a:lstStyle/>
          <a:p>
            <a:fld id="{3552B95B-556F-44BD-91A5-D80C1B9E2BB3}" type="slidenum">
              <a:rPr lang="en-US" smtClean="0"/>
              <a:pPr/>
              <a:t>27</a:t>
            </a:fld>
            <a:endParaRPr lang="en-US"/>
          </a:p>
        </p:txBody>
      </p:sp>
      <p:sp>
        <p:nvSpPr>
          <p:cNvPr id="6" name="Rectangle 5">
            <a:extLst>
              <a:ext uri="{FF2B5EF4-FFF2-40B4-BE49-F238E27FC236}">
                <a16:creationId xmlns:a16="http://schemas.microsoft.com/office/drawing/2014/main" id="{8D300E97-7AF1-9844-9E17-2DD2D91A9797}"/>
              </a:ext>
            </a:extLst>
          </p:cNvPr>
          <p:cNvSpPr/>
          <p:nvPr/>
        </p:nvSpPr>
        <p:spPr>
          <a:xfrm>
            <a:off x="5029200" y="2791480"/>
            <a:ext cx="1981200" cy="523220"/>
          </a:xfrm>
          <a:prstGeom prst="rect">
            <a:avLst/>
          </a:prstGeom>
        </p:spPr>
        <p:txBody>
          <a:bodyPr wrap="square">
            <a:spAutoFit/>
          </a:bodyPr>
          <a:lstStyle/>
          <a:p>
            <a:r>
              <a:rPr lang="en-US" sz="2800" b="1" dirty="0" err="1">
                <a:solidFill>
                  <a:srgbClr val="FF0000"/>
                </a:solidFill>
                <a:latin typeface="Consolas" panose="020B0609020204030204" pitchFamily="49" charset="0"/>
                <a:cs typeface="Consolas" panose="020B0609020204030204" pitchFamily="49" charset="0"/>
              </a:rPr>
              <a:t>bal</a:t>
            </a:r>
            <a:r>
              <a:rPr lang="en-US" sz="2800" b="1" dirty="0">
                <a:latin typeface="Consolas" panose="020B0609020204030204" pitchFamily="49" charset="0"/>
                <a:cs typeface="Consolas" panose="020B0609020204030204" pitchFamily="49" charset="0"/>
              </a:rPr>
              <a:t> </a:t>
            </a:r>
            <a:r>
              <a:rPr lang="en-US" sz="2800" b="1" dirty="0" err="1">
                <a:latin typeface="Consolas" panose="020B0609020204030204" pitchFamily="49" charset="0"/>
                <a:cs typeface="Consolas" panose="020B0609020204030204" pitchFamily="49" charset="0"/>
              </a:rPr>
              <a:t>func</a:t>
            </a:r>
            <a:endParaRPr lang="en-US" sz="2800" b="1" dirty="0">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766C2DF4-6F73-E14B-A88E-CFB41CA18820}"/>
              </a:ext>
            </a:extLst>
          </p:cNvPr>
          <p:cNvSpPr txBox="1"/>
          <p:nvPr/>
        </p:nvSpPr>
        <p:spPr>
          <a:xfrm>
            <a:off x="381000" y="2837647"/>
            <a:ext cx="4431610" cy="430887"/>
          </a:xfrm>
          <a:prstGeom prst="rect">
            <a:avLst/>
          </a:prstGeom>
          <a:noFill/>
        </p:spPr>
        <p:txBody>
          <a:bodyPr wrap="square" rtlCol="0">
            <a:spAutoFit/>
          </a:bodyPr>
          <a:lstStyle/>
          <a:p>
            <a:pPr algn="r"/>
            <a:r>
              <a:rPr lang="en-US" sz="2200" dirty="0"/>
              <a:t>like a </a:t>
            </a:r>
            <a:r>
              <a:rPr lang="en-US" sz="2200" i="1" dirty="0"/>
              <a:t>branch</a:t>
            </a:r>
            <a:r>
              <a:rPr lang="en-US" sz="2200" dirty="0"/>
              <a:t>-and-link instruction:</a:t>
            </a:r>
            <a:endParaRPr lang="en-US" sz="2200" i="1" dirty="0"/>
          </a:p>
        </p:txBody>
      </p:sp>
      <p:sp>
        <p:nvSpPr>
          <p:cNvPr id="8" name="Rectangle 7">
            <a:extLst>
              <a:ext uri="{FF2B5EF4-FFF2-40B4-BE49-F238E27FC236}">
                <a16:creationId xmlns:a16="http://schemas.microsoft.com/office/drawing/2014/main" id="{2CBE930C-2B76-2D47-A318-FD266B148D1E}"/>
              </a:ext>
            </a:extLst>
          </p:cNvPr>
          <p:cNvSpPr/>
          <p:nvPr/>
        </p:nvSpPr>
        <p:spPr>
          <a:xfrm>
            <a:off x="5029200" y="3647086"/>
            <a:ext cx="3429000" cy="523220"/>
          </a:xfrm>
          <a:prstGeom prst="rect">
            <a:avLst/>
          </a:prstGeom>
        </p:spPr>
        <p:txBody>
          <a:bodyPr wrap="square">
            <a:spAutoFit/>
          </a:bodyPr>
          <a:lstStyle/>
          <a:p>
            <a:r>
              <a:rPr lang="en-US" sz="2800" b="1" dirty="0" err="1">
                <a:solidFill>
                  <a:srgbClr val="FF0000"/>
                </a:solidFill>
                <a:latin typeface="Consolas" panose="020B0609020204030204" pitchFamily="49" charset="0"/>
                <a:cs typeface="Consolas" panose="020B0609020204030204" pitchFamily="49" charset="0"/>
              </a:rPr>
              <a:t>lw</a:t>
            </a:r>
            <a:r>
              <a:rPr lang="en-US" sz="2800" b="1" dirty="0">
                <a:latin typeface="Consolas" panose="020B0609020204030204" pitchFamily="49" charset="0"/>
                <a:cs typeface="Consolas" panose="020B0609020204030204" pitchFamily="49" charset="0"/>
              </a:rPr>
              <a:t> t0, </a:t>
            </a:r>
            <a:r>
              <a:rPr lang="en-US" sz="2800" b="1" dirty="0">
                <a:solidFill>
                  <a:schemeClr val="accent3">
                    <a:lumMod val="75000"/>
                  </a:schemeClr>
                </a:solidFill>
                <a:latin typeface="Consolas" panose="020B0609020204030204" pitchFamily="49" charset="0"/>
                <a:cs typeface="Consolas" panose="020B0609020204030204" pitchFamily="49" charset="0"/>
              </a:rPr>
              <a:t>0x38C</a:t>
            </a:r>
            <a:r>
              <a:rPr lang="en-US" sz="2800" b="1" dirty="0">
                <a:latin typeface="Consolas" panose="020B0609020204030204" pitchFamily="49" charset="0"/>
                <a:cs typeface="Consolas" panose="020B0609020204030204" pitchFamily="49" charset="0"/>
              </a:rPr>
              <a:t>(pc)</a:t>
            </a:r>
          </a:p>
        </p:txBody>
      </p:sp>
      <p:sp>
        <p:nvSpPr>
          <p:cNvPr id="9" name="TextBox 8">
            <a:extLst>
              <a:ext uri="{FF2B5EF4-FFF2-40B4-BE49-F238E27FC236}">
                <a16:creationId xmlns:a16="http://schemas.microsoft.com/office/drawing/2014/main" id="{A163B92D-9126-4946-9B53-6490B6B7573D}"/>
              </a:ext>
            </a:extLst>
          </p:cNvPr>
          <p:cNvSpPr txBox="1"/>
          <p:nvPr/>
        </p:nvSpPr>
        <p:spPr>
          <a:xfrm>
            <a:off x="381000" y="3523976"/>
            <a:ext cx="4431610" cy="769441"/>
          </a:xfrm>
          <a:prstGeom prst="rect">
            <a:avLst/>
          </a:prstGeom>
          <a:noFill/>
        </p:spPr>
        <p:txBody>
          <a:bodyPr wrap="square" rtlCol="0">
            <a:spAutoFit/>
          </a:bodyPr>
          <a:lstStyle/>
          <a:p>
            <a:pPr algn="r"/>
            <a:r>
              <a:rPr lang="en-US" sz="2200" dirty="0"/>
              <a:t>and load/store instructions which use the </a:t>
            </a:r>
            <a:r>
              <a:rPr lang="en-US" sz="2200" b="1" dirty="0"/>
              <a:t>pc</a:t>
            </a:r>
            <a:r>
              <a:rPr lang="en-US" sz="2200" dirty="0"/>
              <a:t> as the base register:</a:t>
            </a:r>
            <a:endParaRPr lang="en-US" sz="2200" i="1" dirty="0"/>
          </a:p>
        </p:txBody>
      </p:sp>
    </p:spTree>
    <p:extLst>
      <p:ext uri="{BB962C8B-B14F-4D97-AF65-F5344CB8AC3E}">
        <p14:creationId xmlns:p14="http://schemas.microsoft.com/office/powerpoint/2010/main" val="36318637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7A84A-99C8-2047-9735-6666113B5425}"/>
              </a:ext>
            </a:extLst>
          </p:cNvPr>
          <p:cNvSpPr>
            <a:spLocks noGrp="1"/>
          </p:cNvSpPr>
          <p:nvPr>
            <p:ph type="title"/>
          </p:nvPr>
        </p:nvSpPr>
        <p:spPr/>
        <p:txBody>
          <a:bodyPr/>
          <a:lstStyle/>
          <a:p>
            <a:r>
              <a:rPr lang="en-US" dirty="0"/>
              <a:t>Debugging info</a:t>
            </a:r>
          </a:p>
        </p:txBody>
      </p:sp>
      <p:sp>
        <p:nvSpPr>
          <p:cNvPr id="3" name="Content Placeholder 2">
            <a:extLst>
              <a:ext uri="{FF2B5EF4-FFF2-40B4-BE49-F238E27FC236}">
                <a16:creationId xmlns:a16="http://schemas.microsoft.com/office/drawing/2014/main" id="{380F947E-AE2F-BA47-AFCD-042CA6D65A7D}"/>
              </a:ext>
            </a:extLst>
          </p:cNvPr>
          <p:cNvSpPr>
            <a:spLocks noGrp="1"/>
          </p:cNvSpPr>
          <p:nvPr>
            <p:ph idx="1"/>
          </p:nvPr>
        </p:nvSpPr>
        <p:spPr/>
        <p:txBody>
          <a:bodyPr/>
          <a:lstStyle/>
          <a:p>
            <a:r>
              <a:rPr lang="en-US" dirty="0"/>
              <a:t>converting to the target language is a </a:t>
            </a:r>
            <a:r>
              <a:rPr lang="en-US" b="1" dirty="0"/>
              <a:t>lossy </a:t>
            </a:r>
            <a:r>
              <a:rPr lang="en-US" dirty="0"/>
              <a:t>operation.</a:t>
            </a:r>
          </a:p>
          <a:p>
            <a:pPr lvl="1"/>
            <a:r>
              <a:rPr lang="en-US" dirty="0"/>
              <a:t>a bunch of info about the source program is lost!</a:t>
            </a:r>
          </a:p>
          <a:p>
            <a:r>
              <a:rPr lang="en-US" dirty="0"/>
              <a:t>to make debugging possible, the compiler can also output info like:</a:t>
            </a:r>
          </a:p>
          <a:p>
            <a:pPr lvl="1"/>
            <a:r>
              <a:rPr lang="en-US" dirty="0"/>
              <a:t>what </a:t>
            </a:r>
            <a:r>
              <a:rPr lang="en-US" b="1" dirty="0"/>
              <a:t>source file and line </a:t>
            </a:r>
            <a:r>
              <a:rPr lang="en-US" dirty="0"/>
              <a:t>each instruction corresponds to</a:t>
            </a:r>
          </a:p>
          <a:p>
            <a:pPr lvl="1"/>
            <a:r>
              <a:rPr lang="en-US" dirty="0"/>
              <a:t>the </a:t>
            </a:r>
            <a:r>
              <a:rPr lang="en-US" b="1" dirty="0"/>
              <a:t>names</a:t>
            </a:r>
            <a:r>
              <a:rPr lang="en-US" dirty="0"/>
              <a:t> and </a:t>
            </a:r>
            <a:r>
              <a:rPr lang="en-US" b="1" dirty="0"/>
              <a:t>locations</a:t>
            </a:r>
            <a:r>
              <a:rPr lang="en-US" dirty="0"/>
              <a:t> of functions, </a:t>
            </a:r>
            <a:r>
              <a:rPr lang="en-US" dirty="0" err="1"/>
              <a:t>globals</a:t>
            </a:r>
            <a:r>
              <a:rPr lang="en-US" dirty="0"/>
              <a:t>, and locals</a:t>
            </a:r>
          </a:p>
          <a:p>
            <a:pPr lvl="1"/>
            <a:r>
              <a:rPr lang="en-US" dirty="0"/>
              <a:t>the </a:t>
            </a:r>
            <a:r>
              <a:rPr lang="en-US" b="1" dirty="0"/>
              <a:t>types</a:t>
            </a:r>
            <a:r>
              <a:rPr lang="en-US" dirty="0"/>
              <a:t> of storage locations</a:t>
            </a:r>
          </a:p>
          <a:p>
            <a:pPr lvl="1"/>
            <a:r>
              <a:rPr lang="en-US" dirty="0"/>
              <a:t>the </a:t>
            </a:r>
            <a:r>
              <a:rPr lang="en-US" b="1" dirty="0"/>
              <a:t>structure</a:t>
            </a:r>
            <a:r>
              <a:rPr lang="en-US" dirty="0"/>
              <a:t> of custom types (structs/classes)</a:t>
            </a:r>
          </a:p>
          <a:p>
            <a:pPr lvl="1"/>
            <a:r>
              <a:rPr lang="en-US" dirty="0"/>
              <a:t>the arrangement of </a:t>
            </a:r>
            <a:r>
              <a:rPr lang="en-US" b="1" dirty="0"/>
              <a:t>stack frames </a:t>
            </a:r>
            <a:r>
              <a:rPr lang="en-US" dirty="0"/>
              <a:t>for each function</a:t>
            </a:r>
          </a:p>
          <a:p>
            <a:r>
              <a:rPr lang="en-US" dirty="0"/>
              <a:t>this way, when you run your program in a debugger, you can:</a:t>
            </a:r>
          </a:p>
          <a:p>
            <a:pPr lvl="1"/>
            <a:r>
              <a:rPr lang="en-US" dirty="0"/>
              <a:t>step through it </a:t>
            </a:r>
            <a:r>
              <a:rPr lang="en-US" b="1" dirty="0"/>
              <a:t>line-by-line</a:t>
            </a:r>
          </a:p>
          <a:p>
            <a:pPr lvl="1"/>
            <a:r>
              <a:rPr lang="en-US" b="1" dirty="0"/>
              <a:t>inspect the contents</a:t>
            </a:r>
            <a:r>
              <a:rPr lang="en-US" dirty="0"/>
              <a:t> of variables, arrays, etc.</a:t>
            </a:r>
          </a:p>
          <a:p>
            <a:pPr lvl="1"/>
            <a:r>
              <a:rPr lang="en-US" dirty="0"/>
              <a:t>have the debugger display that stuff in a </a:t>
            </a:r>
            <a:r>
              <a:rPr lang="en-US" b="1" dirty="0"/>
              <a:t>human-readable way</a:t>
            </a:r>
          </a:p>
          <a:p>
            <a:r>
              <a:rPr lang="en-US" dirty="0"/>
              <a:t>this info is usually </a:t>
            </a:r>
            <a:r>
              <a:rPr lang="en-US" b="1" i="1" dirty="0"/>
              <a:t>HUGE,</a:t>
            </a:r>
            <a:r>
              <a:rPr lang="en-US" dirty="0"/>
              <a:t> so it's optional and typically removed in "release" versions.</a:t>
            </a:r>
          </a:p>
        </p:txBody>
      </p:sp>
      <p:sp>
        <p:nvSpPr>
          <p:cNvPr id="4" name="Slide Number Placeholder 3">
            <a:extLst>
              <a:ext uri="{FF2B5EF4-FFF2-40B4-BE49-F238E27FC236}">
                <a16:creationId xmlns:a16="http://schemas.microsoft.com/office/drawing/2014/main" id="{F8FED29B-406B-354C-8739-584CC4A7E08A}"/>
              </a:ext>
            </a:extLst>
          </p:cNvPr>
          <p:cNvSpPr>
            <a:spLocks noGrp="1"/>
          </p:cNvSpPr>
          <p:nvPr>
            <p:ph type="sldNum" sz="quarter" idx="12"/>
          </p:nvPr>
        </p:nvSpPr>
        <p:spPr/>
        <p:txBody>
          <a:bodyPr/>
          <a:lstStyle/>
          <a:p>
            <a:fld id="{3552B95B-556F-44BD-91A5-D80C1B9E2BB3}" type="slidenum">
              <a:rPr lang="en-US" smtClean="0"/>
              <a:pPr/>
              <a:t>28</a:t>
            </a:fld>
            <a:endParaRPr lang="en-US"/>
          </a:p>
        </p:txBody>
      </p:sp>
    </p:spTree>
    <p:extLst>
      <p:ext uri="{BB962C8B-B14F-4D97-AF65-F5344CB8AC3E}">
        <p14:creationId xmlns:p14="http://schemas.microsoft.com/office/powerpoint/2010/main" val="269140883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A1E79-48DC-B34B-BF93-6BDDBF3D5CC1}"/>
              </a:ext>
            </a:extLst>
          </p:cNvPr>
          <p:cNvSpPr>
            <a:spLocks noGrp="1"/>
          </p:cNvSpPr>
          <p:nvPr>
            <p:ph type="title"/>
          </p:nvPr>
        </p:nvSpPr>
        <p:spPr/>
        <p:txBody>
          <a:bodyPr/>
          <a:lstStyle/>
          <a:p>
            <a:r>
              <a:rPr lang="en-US" dirty="0"/>
              <a:t>Executable formats</a:t>
            </a:r>
          </a:p>
        </p:txBody>
      </p:sp>
      <p:sp>
        <p:nvSpPr>
          <p:cNvPr id="3" name="Content Placeholder 2">
            <a:extLst>
              <a:ext uri="{FF2B5EF4-FFF2-40B4-BE49-F238E27FC236}">
                <a16:creationId xmlns:a16="http://schemas.microsoft.com/office/drawing/2014/main" id="{5E9DBACB-3EC3-D74D-93B6-A6C1E0709DD5}"/>
              </a:ext>
            </a:extLst>
          </p:cNvPr>
          <p:cNvSpPr>
            <a:spLocks noGrp="1"/>
          </p:cNvSpPr>
          <p:nvPr>
            <p:ph idx="1"/>
          </p:nvPr>
        </p:nvSpPr>
        <p:spPr>
          <a:xfrm>
            <a:off x="152400" y="495301"/>
            <a:ext cx="8991600" cy="1523999"/>
          </a:xfrm>
        </p:spPr>
        <p:txBody>
          <a:bodyPr/>
          <a:lstStyle/>
          <a:p>
            <a:r>
              <a:rPr lang="en-US" dirty="0"/>
              <a:t>we can't dump a bunch of instructions out and expect them to run.</a:t>
            </a:r>
          </a:p>
          <a:p>
            <a:r>
              <a:rPr lang="en-US" dirty="0"/>
              <a:t>an </a:t>
            </a:r>
            <a:r>
              <a:rPr lang="en-US" b="1" dirty="0"/>
              <a:t>executable format </a:t>
            </a:r>
            <a:r>
              <a:rPr lang="en-US" dirty="0"/>
              <a:t>is like a seed, or an…………. </a:t>
            </a:r>
            <a:r>
              <a:rPr lang="en-US" i="1" dirty="0"/>
              <a:t>egg</a:t>
            </a:r>
          </a:p>
          <a:p>
            <a:pPr lvl="1"/>
            <a:r>
              <a:rPr lang="en-US" dirty="0"/>
              <a:t>it has the code </a:t>
            </a:r>
            <a:r>
              <a:rPr lang="en-US" i="1" dirty="0"/>
              <a:t>and</a:t>
            </a:r>
            <a:r>
              <a:rPr lang="en-US" dirty="0"/>
              <a:t> all the metadata needed to support it.</a:t>
            </a:r>
          </a:p>
          <a:p>
            <a:r>
              <a:rPr lang="en-US" dirty="0"/>
              <a:t>the OS ABIs define these formats, but they basically all look like this:</a:t>
            </a:r>
          </a:p>
        </p:txBody>
      </p:sp>
      <p:sp>
        <p:nvSpPr>
          <p:cNvPr id="4" name="Slide Number Placeholder 3">
            <a:extLst>
              <a:ext uri="{FF2B5EF4-FFF2-40B4-BE49-F238E27FC236}">
                <a16:creationId xmlns:a16="http://schemas.microsoft.com/office/drawing/2014/main" id="{DE12DCCF-EBA4-D742-B453-ADB67873D819}"/>
              </a:ext>
            </a:extLst>
          </p:cNvPr>
          <p:cNvSpPr>
            <a:spLocks noGrp="1"/>
          </p:cNvSpPr>
          <p:nvPr>
            <p:ph type="sldNum" sz="quarter" idx="12"/>
          </p:nvPr>
        </p:nvSpPr>
        <p:spPr/>
        <p:txBody>
          <a:bodyPr/>
          <a:lstStyle/>
          <a:p>
            <a:fld id="{3552B95B-556F-44BD-91A5-D80C1B9E2BB3}" type="slidenum">
              <a:rPr lang="en-US" smtClean="0"/>
              <a:pPr/>
              <a:t>29</a:t>
            </a:fld>
            <a:endParaRPr lang="en-US"/>
          </a:p>
        </p:txBody>
      </p:sp>
      <p:sp>
        <p:nvSpPr>
          <p:cNvPr id="5" name="Rectangle 4">
            <a:extLst>
              <a:ext uri="{FF2B5EF4-FFF2-40B4-BE49-F238E27FC236}">
                <a16:creationId xmlns:a16="http://schemas.microsoft.com/office/drawing/2014/main" id="{1B5E4237-15B3-474E-BF67-07FD489DE290}"/>
              </a:ext>
            </a:extLst>
          </p:cNvPr>
          <p:cNvSpPr/>
          <p:nvPr/>
        </p:nvSpPr>
        <p:spPr>
          <a:xfrm>
            <a:off x="457200" y="2019300"/>
            <a:ext cx="1524000" cy="4572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bg1"/>
                </a:solidFill>
                <a:latin typeface="Consolas" panose="020B0609020204030204" pitchFamily="49" charset="0"/>
                <a:cs typeface="Consolas" panose="020B0609020204030204" pitchFamily="49" charset="0"/>
              </a:rPr>
              <a:t>header</a:t>
            </a:r>
          </a:p>
        </p:txBody>
      </p:sp>
      <p:sp>
        <p:nvSpPr>
          <p:cNvPr id="6" name="Rectangle 5">
            <a:extLst>
              <a:ext uri="{FF2B5EF4-FFF2-40B4-BE49-F238E27FC236}">
                <a16:creationId xmlns:a16="http://schemas.microsoft.com/office/drawing/2014/main" id="{DA7FA76F-6792-7043-B287-D8EC64F8A804}"/>
              </a:ext>
            </a:extLst>
          </p:cNvPr>
          <p:cNvSpPr/>
          <p:nvPr/>
        </p:nvSpPr>
        <p:spPr>
          <a:xfrm>
            <a:off x="457200" y="2476500"/>
            <a:ext cx="1524000" cy="4572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bg1"/>
                </a:solidFill>
                <a:latin typeface="Consolas" panose="020B0609020204030204" pitchFamily="49" charset="0"/>
                <a:cs typeface="Consolas" panose="020B0609020204030204" pitchFamily="49" charset="0"/>
              </a:rPr>
              <a:t>symbols</a:t>
            </a:r>
          </a:p>
        </p:txBody>
      </p:sp>
      <p:sp>
        <p:nvSpPr>
          <p:cNvPr id="7" name="Rectangle 6">
            <a:extLst>
              <a:ext uri="{FF2B5EF4-FFF2-40B4-BE49-F238E27FC236}">
                <a16:creationId xmlns:a16="http://schemas.microsoft.com/office/drawing/2014/main" id="{7DA95E87-734C-7D45-8646-DD481FC41A77}"/>
              </a:ext>
            </a:extLst>
          </p:cNvPr>
          <p:cNvSpPr/>
          <p:nvPr/>
        </p:nvSpPr>
        <p:spPr>
          <a:xfrm>
            <a:off x="457200" y="2933700"/>
            <a:ext cx="152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err="1">
                <a:solidFill>
                  <a:schemeClr val="bg1"/>
                </a:solidFill>
                <a:latin typeface="Consolas" panose="020B0609020204030204" pitchFamily="49" charset="0"/>
                <a:cs typeface="Consolas" panose="020B0609020204030204" pitchFamily="49" charset="0"/>
              </a:rPr>
              <a:t>relocs</a:t>
            </a:r>
            <a:endParaRPr lang="en-US" sz="1800" b="1" dirty="0">
              <a:solidFill>
                <a:schemeClr val="bg1"/>
              </a:solidFill>
              <a:latin typeface="Consolas" panose="020B0609020204030204" pitchFamily="49" charset="0"/>
              <a:cs typeface="Consolas" panose="020B0609020204030204" pitchFamily="49" charset="0"/>
            </a:endParaRPr>
          </a:p>
        </p:txBody>
      </p:sp>
      <p:sp>
        <p:nvSpPr>
          <p:cNvPr id="9" name="Rectangle 8">
            <a:extLst>
              <a:ext uri="{FF2B5EF4-FFF2-40B4-BE49-F238E27FC236}">
                <a16:creationId xmlns:a16="http://schemas.microsoft.com/office/drawing/2014/main" id="{EAFDCCAC-DFF1-3244-9E8B-F9BD30517EA5}"/>
              </a:ext>
            </a:extLst>
          </p:cNvPr>
          <p:cNvSpPr/>
          <p:nvPr/>
        </p:nvSpPr>
        <p:spPr>
          <a:xfrm>
            <a:off x="457200" y="3390900"/>
            <a:ext cx="152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bg1"/>
                </a:solidFill>
                <a:latin typeface="Consolas" panose="020B0609020204030204" pitchFamily="49" charset="0"/>
                <a:cs typeface="Consolas" panose="020B0609020204030204" pitchFamily="49" charset="0"/>
              </a:rPr>
              <a:t>.text</a:t>
            </a:r>
          </a:p>
        </p:txBody>
      </p:sp>
      <p:sp>
        <p:nvSpPr>
          <p:cNvPr id="10" name="Rectangle 9">
            <a:extLst>
              <a:ext uri="{FF2B5EF4-FFF2-40B4-BE49-F238E27FC236}">
                <a16:creationId xmlns:a16="http://schemas.microsoft.com/office/drawing/2014/main" id="{9D481B37-61A6-3D4A-B6E4-6C0A5657FE45}"/>
              </a:ext>
            </a:extLst>
          </p:cNvPr>
          <p:cNvSpPr/>
          <p:nvPr/>
        </p:nvSpPr>
        <p:spPr>
          <a:xfrm>
            <a:off x="457200" y="3848100"/>
            <a:ext cx="1524000" cy="457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bg1"/>
                </a:solidFill>
                <a:latin typeface="Consolas" panose="020B0609020204030204" pitchFamily="49" charset="0"/>
                <a:cs typeface="Consolas" panose="020B0609020204030204" pitchFamily="49" charset="0"/>
              </a:rPr>
              <a:t>.data</a:t>
            </a:r>
          </a:p>
        </p:txBody>
      </p:sp>
      <p:sp>
        <p:nvSpPr>
          <p:cNvPr id="11" name="Rectangle 10">
            <a:extLst>
              <a:ext uri="{FF2B5EF4-FFF2-40B4-BE49-F238E27FC236}">
                <a16:creationId xmlns:a16="http://schemas.microsoft.com/office/drawing/2014/main" id="{66D589CA-9C6F-6F41-8D47-257184236949}"/>
              </a:ext>
            </a:extLst>
          </p:cNvPr>
          <p:cNvSpPr/>
          <p:nvPr/>
        </p:nvSpPr>
        <p:spPr>
          <a:xfrm>
            <a:off x="457200" y="4305300"/>
            <a:ext cx="1524000" cy="457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i="1" dirty="0">
                <a:solidFill>
                  <a:schemeClr val="tx1"/>
                </a:solidFill>
                <a:latin typeface="Consolas" panose="020B0609020204030204" pitchFamily="49" charset="0"/>
                <a:cs typeface="Consolas" panose="020B0609020204030204" pitchFamily="49" charset="0"/>
              </a:rPr>
              <a:t>.debug</a:t>
            </a:r>
          </a:p>
        </p:txBody>
      </p:sp>
      <p:sp>
        <p:nvSpPr>
          <p:cNvPr id="12" name="TextBox 11">
            <a:extLst>
              <a:ext uri="{FF2B5EF4-FFF2-40B4-BE49-F238E27FC236}">
                <a16:creationId xmlns:a16="http://schemas.microsoft.com/office/drawing/2014/main" id="{A1C3CF24-C149-8843-822C-155B1A619A94}"/>
              </a:ext>
            </a:extLst>
          </p:cNvPr>
          <p:cNvSpPr txBox="1"/>
          <p:nvPr/>
        </p:nvSpPr>
        <p:spPr>
          <a:xfrm>
            <a:off x="2133600" y="2019300"/>
            <a:ext cx="6553200" cy="430887"/>
          </a:xfrm>
          <a:prstGeom prst="rect">
            <a:avLst/>
          </a:prstGeom>
          <a:noFill/>
        </p:spPr>
        <p:txBody>
          <a:bodyPr wrap="square" rtlCol="0">
            <a:spAutoFit/>
          </a:bodyPr>
          <a:lstStyle/>
          <a:p>
            <a:r>
              <a:rPr lang="en-US" sz="2200" dirty="0"/>
              <a:t>a header that identifies the type of the file</a:t>
            </a:r>
            <a:endParaRPr lang="en-US" sz="2200" i="1" dirty="0"/>
          </a:p>
        </p:txBody>
      </p:sp>
      <p:sp>
        <p:nvSpPr>
          <p:cNvPr id="13" name="TextBox 12">
            <a:extLst>
              <a:ext uri="{FF2B5EF4-FFF2-40B4-BE49-F238E27FC236}">
                <a16:creationId xmlns:a16="http://schemas.microsoft.com/office/drawing/2014/main" id="{D03175D7-20A9-8543-BA85-A929F4C73C5F}"/>
              </a:ext>
            </a:extLst>
          </p:cNvPr>
          <p:cNvSpPr txBox="1"/>
          <p:nvPr/>
        </p:nvSpPr>
        <p:spPr>
          <a:xfrm>
            <a:off x="2143539" y="2476500"/>
            <a:ext cx="6553200" cy="430887"/>
          </a:xfrm>
          <a:prstGeom prst="rect">
            <a:avLst/>
          </a:prstGeom>
          <a:noFill/>
        </p:spPr>
        <p:txBody>
          <a:bodyPr wrap="square" rtlCol="0">
            <a:spAutoFit/>
          </a:bodyPr>
          <a:lstStyle/>
          <a:p>
            <a:r>
              <a:rPr lang="en-US" sz="2200" dirty="0"/>
              <a:t>a symbol table (names, kinds, addresses)</a:t>
            </a:r>
            <a:endParaRPr lang="en-US" sz="2200" i="1" dirty="0"/>
          </a:p>
        </p:txBody>
      </p:sp>
      <p:sp>
        <p:nvSpPr>
          <p:cNvPr id="14" name="TextBox 13">
            <a:extLst>
              <a:ext uri="{FF2B5EF4-FFF2-40B4-BE49-F238E27FC236}">
                <a16:creationId xmlns:a16="http://schemas.microsoft.com/office/drawing/2014/main" id="{58FB7A12-CE6B-8946-9E29-E6D13A3ECF15}"/>
              </a:ext>
            </a:extLst>
          </p:cNvPr>
          <p:cNvSpPr txBox="1"/>
          <p:nvPr/>
        </p:nvSpPr>
        <p:spPr>
          <a:xfrm>
            <a:off x="2153478" y="2933700"/>
            <a:ext cx="6553200" cy="430887"/>
          </a:xfrm>
          <a:prstGeom prst="rect">
            <a:avLst/>
          </a:prstGeom>
          <a:noFill/>
        </p:spPr>
        <p:txBody>
          <a:bodyPr wrap="square" rtlCol="0">
            <a:spAutoFit/>
          </a:bodyPr>
          <a:lstStyle/>
          <a:p>
            <a:r>
              <a:rPr lang="en-US" sz="2200" dirty="0"/>
              <a:t>relocation records</a:t>
            </a:r>
            <a:endParaRPr lang="en-US" sz="2200" i="1" dirty="0"/>
          </a:p>
        </p:txBody>
      </p:sp>
      <p:sp>
        <p:nvSpPr>
          <p:cNvPr id="15" name="TextBox 14">
            <a:extLst>
              <a:ext uri="{FF2B5EF4-FFF2-40B4-BE49-F238E27FC236}">
                <a16:creationId xmlns:a16="http://schemas.microsoft.com/office/drawing/2014/main" id="{4CD41420-5317-124A-936E-C2C2B309EF60}"/>
              </a:ext>
            </a:extLst>
          </p:cNvPr>
          <p:cNvSpPr txBox="1"/>
          <p:nvPr/>
        </p:nvSpPr>
        <p:spPr>
          <a:xfrm>
            <a:off x="2163417" y="3390900"/>
            <a:ext cx="6553200" cy="769441"/>
          </a:xfrm>
          <a:prstGeom prst="rect">
            <a:avLst/>
          </a:prstGeom>
          <a:noFill/>
        </p:spPr>
        <p:txBody>
          <a:bodyPr wrap="square" rtlCol="0">
            <a:spAutoFit/>
          </a:bodyPr>
          <a:lstStyle/>
          <a:p>
            <a:r>
              <a:rPr lang="en-US" sz="2200" dirty="0"/>
              <a:t>and then multiple </a:t>
            </a:r>
            <a:r>
              <a:rPr lang="en-US" sz="2200" b="1" dirty="0"/>
              <a:t>sections </a:t>
            </a:r>
            <a:r>
              <a:rPr lang="en-US" sz="2200" dirty="0"/>
              <a:t>for things like code (</a:t>
            </a:r>
            <a:r>
              <a:rPr lang="en-US" sz="2200" b="1" dirty="0">
                <a:latin typeface="Consolas" panose="020B0609020204030204" pitchFamily="49" charset="0"/>
                <a:cs typeface="Consolas" panose="020B0609020204030204" pitchFamily="49" charset="0"/>
              </a:rPr>
              <a:t>.text</a:t>
            </a:r>
            <a:r>
              <a:rPr lang="en-US" sz="2200" dirty="0"/>
              <a:t>), </a:t>
            </a:r>
            <a:r>
              <a:rPr lang="en-US" sz="2200" dirty="0" err="1"/>
              <a:t>globals</a:t>
            </a:r>
            <a:r>
              <a:rPr lang="en-US" sz="2200" dirty="0"/>
              <a:t> (</a:t>
            </a:r>
            <a:r>
              <a:rPr lang="en-US" sz="2200" b="1" dirty="0">
                <a:latin typeface="Consolas" panose="020B0609020204030204" pitchFamily="49" charset="0"/>
                <a:cs typeface="Consolas" panose="020B0609020204030204" pitchFamily="49" charset="0"/>
              </a:rPr>
              <a:t>.data</a:t>
            </a:r>
            <a:r>
              <a:rPr lang="en-US" sz="2200" dirty="0"/>
              <a:t>), constants (</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rodata</a:t>
            </a:r>
            <a:r>
              <a:rPr lang="en-US" sz="2200" dirty="0"/>
              <a:t>), etc.</a:t>
            </a:r>
            <a:endParaRPr lang="en-US" sz="2200" i="1" dirty="0"/>
          </a:p>
        </p:txBody>
      </p:sp>
      <p:sp>
        <p:nvSpPr>
          <p:cNvPr id="16" name="TextBox 15">
            <a:extLst>
              <a:ext uri="{FF2B5EF4-FFF2-40B4-BE49-F238E27FC236}">
                <a16:creationId xmlns:a16="http://schemas.microsoft.com/office/drawing/2014/main" id="{6E73F811-66F2-A345-A3AB-092D45B92D51}"/>
              </a:ext>
            </a:extLst>
          </p:cNvPr>
          <p:cNvSpPr txBox="1"/>
          <p:nvPr/>
        </p:nvSpPr>
        <p:spPr>
          <a:xfrm>
            <a:off x="2133600" y="4330393"/>
            <a:ext cx="6553200" cy="430887"/>
          </a:xfrm>
          <a:prstGeom prst="rect">
            <a:avLst/>
          </a:prstGeom>
          <a:noFill/>
        </p:spPr>
        <p:txBody>
          <a:bodyPr wrap="square" rtlCol="0">
            <a:spAutoFit/>
          </a:bodyPr>
          <a:lstStyle/>
          <a:p>
            <a:r>
              <a:rPr lang="en-US" sz="2200" i="1" dirty="0"/>
              <a:t>and optional debug info sections</a:t>
            </a:r>
          </a:p>
        </p:txBody>
      </p:sp>
    </p:spTree>
    <p:extLst>
      <p:ext uri="{BB962C8B-B14F-4D97-AF65-F5344CB8AC3E}">
        <p14:creationId xmlns:p14="http://schemas.microsoft.com/office/powerpoint/2010/main" val="365456377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500"/>
                                  </p:stCondLst>
                                  <p:childTnLst>
                                    <p:set>
                                      <p:cBhvr>
                                        <p:cTn id="29" dur="1" fill="hold">
                                          <p:stCondLst>
                                            <p:cond delay="0"/>
                                          </p:stCondLst>
                                        </p:cTn>
                                        <p:tgtEl>
                                          <p:spTgt spid="1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2" grpId="0"/>
      <p:bldP spid="13" grpId="0"/>
      <p:bldP spid="14" grpId="0"/>
      <p:bldP spid="15" grpId="0"/>
      <p:bldP spid="1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5482C-9983-DF47-835F-A1959C1C8B66}"/>
              </a:ext>
            </a:extLst>
          </p:cNvPr>
          <p:cNvSpPr>
            <a:spLocks noGrp="1"/>
          </p:cNvSpPr>
          <p:nvPr>
            <p:ph type="title"/>
          </p:nvPr>
        </p:nvSpPr>
        <p:spPr/>
        <p:txBody>
          <a:bodyPr/>
          <a:lstStyle/>
          <a:p>
            <a:r>
              <a:rPr lang="en-US" dirty="0"/>
              <a:t>Object files, executables, and libraries</a:t>
            </a:r>
          </a:p>
        </p:txBody>
      </p:sp>
      <p:sp>
        <p:nvSpPr>
          <p:cNvPr id="3" name="Content Placeholder 2">
            <a:extLst>
              <a:ext uri="{FF2B5EF4-FFF2-40B4-BE49-F238E27FC236}">
                <a16:creationId xmlns:a16="http://schemas.microsoft.com/office/drawing/2014/main" id="{9DACC8A1-4911-C541-BB99-255A8FB41CD9}"/>
              </a:ext>
            </a:extLst>
          </p:cNvPr>
          <p:cNvSpPr>
            <a:spLocks noGrp="1"/>
          </p:cNvSpPr>
          <p:nvPr>
            <p:ph idx="1"/>
          </p:nvPr>
        </p:nvSpPr>
        <p:spPr>
          <a:xfrm>
            <a:off x="152400" y="495301"/>
            <a:ext cx="8991600" cy="495301"/>
          </a:xfrm>
        </p:spPr>
        <p:txBody>
          <a:bodyPr/>
          <a:lstStyle/>
          <a:p>
            <a:r>
              <a:rPr lang="en-US" dirty="0"/>
              <a:t>typically this format is used to represent three kinds of files:</a:t>
            </a:r>
          </a:p>
        </p:txBody>
      </p:sp>
      <p:sp>
        <p:nvSpPr>
          <p:cNvPr id="4" name="Slide Number Placeholder 3">
            <a:extLst>
              <a:ext uri="{FF2B5EF4-FFF2-40B4-BE49-F238E27FC236}">
                <a16:creationId xmlns:a16="http://schemas.microsoft.com/office/drawing/2014/main" id="{657D5FFC-479B-D244-A6DF-DCCC24A9B36A}"/>
              </a:ext>
            </a:extLst>
          </p:cNvPr>
          <p:cNvSpPr>
            <a:spLocks noGrp="1"/>
          </p:cNvSpPr>
          <p:nvPr>
            <p:ph type="sldNum" sz="quarter" idx="12"/>
          </p:nvPr>
        </p:nvSpPr>
        <p:spPr/>
        <p:txBody>
          <a:bodyPr/>
          <a:lstStyle/>
          <a:p>
            <a:fld id="{3552B95B-556F-44BD-91A5-D80C1B9E2BB3}" type="slidenum">
              <a:rPr lang="en-US" smtClean="0"/>
              <a:pPr/>
              <a:t>30</a:t>
            </a:fld>
            <a:endParaRPr lang="en-US"/>
          </a:p>
        </p:txBody>
      </p:sp>
      <p:grpSp>
        <p:nvGrpSpPr>
          <p:cNvPr id="20" name="Group 19">
            <a:extLst>
              <a:ext uri="{FF2B5EF4-FFF2-40B4-BE49-F238E27FC236}">
                <a16:creationId xmlns:a16="http://schemas.microsoft.com/office/drawing/2014/main" id="{DFF54080-D306-CA4B-8A54-21A5E77EDB41}"/>
              </a:ext>
            </a:extLst>
          </p:cNvPr>
          <p:cNvGrpSpPr/>
          <p:nvPr/>
        </p:nvGrpSpPr>
        <p:grpSpPr>
          <a:xfrm>
            <a:off x="535419" y="1104900"/>
            <a:ext cx="2720397" cy="1939151"/>
            <a:chOff x="535419" y="1279398"/>
            <a:chExt cx="2720397" cy="1939151"/>
          </a:xfrm>
        </p:grpSpPr>
        <p:pic>
          <p:nvPicPr>
            <p:cNvPr id="9" name="Picture 8">
              <a:extLst>
                <a:ext uri="{FF2B5EF4-FFF2-40B4-BE49-F238E27FC236}">
                  <a16:creationId xmlns:a16="http://schemas.microsoft.com/office/drawing/2014/main" id="{90CAE2B3-23C9-F24F-A59C-BFB230B5B8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0703931">
              <a:off x="1416965" y="1279398"/>
              <a:ext cx="1181100" cy="1181100"/>
            </a:xfrm>
            <a:prstGeom prst="rect">
              <a:avLst/>
            </a:prstGeom>
          </p:spPr>
        </p:pic>
        <p:pic>
          <p:nvPicPr>
            <p:cNvPr id="10" name="Picture 9">
              <a:extLst>
                <a:ext uri="{FF2B5EF4-FFF2-40B4-BE49-F238E27FC236}">
                  <a16:creationId xmlns:a16="http://schemas.microsoft.com/office/drawing/2014/main" id="{48C85DCE-F3A6-9848-A239-567CF5812C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817545">
              <a:off x="2074716" y="2037449"/>
              <a:ext cx="1181100" cy="1181100"/>
            </a:xfrm>
            <a:prstGeom prst="rect">
              <a:avLst/>
            </a:prstGeom>
          </p:spPr>
        </p:pic>
        <p:pic>
          <p:nvPicPr>
            <p:cNvPr id="11" name="Picture 10">
              <a:extLst>
                <a:ext uri="{FF2B5EF4-FFF2-40B4-BE49-F238E27FC236}">
                  <a16:creationId xmlns:a16="http://schemas.microsoft.com/office/drawing/2014/main" id="{A2EDA49D-53C2-6D46-8F2F-8012DE0AB3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1107814" flipH="1">
              <a:off x="535419" y="1862938"/>
              <a:ext cx="1181100" cy="1181100"/>
            </a:xfrm>
            <a:prstGeom prst="rect">
              <a:avLst/>
            </a:prstGeom>
          </p:spPr>
        </p:pic>
      </p:grpSp>
      <p:sp>
        <p:nvSpPr>
          <p:cNvPr id="12" name="TextBox 11">
            <a:extLst>
              <a:ext uri="{FF2B5EF4-FFF2-40B4-BE49-F238E27FC236}">
                <a16:creationId xmlns:a16="http://schemas.microsoft.com/office/drawing/2014/main" id="{D105C797-C19E-CE4A-B01B-4EC656318828}"/>
              </a:ext>
            </a:extLst>
          </p:cNvPr>
          <p:cNvSpPr txBox="1"/>
          <p:nvPr/>
        </p:nvSpPr>
        <p:spPr>
          <a:xfrm>
            <a:off x="345834" y="3111252"/>
            <a:ext cx="3323362" cy="1446550"/>
          </a:xfrm>
          <a:prstGeom prst="rect">
            <a:avLst/>
          </a:prstGeom>
          <a:noFill/>
        </p:spPr>
        <p:txBody>
          <a:bodyPr wrap="square" rtlCol="0">
            <a:spAutoFit/>
          </a:bodyPr>
          <a:lstStyle/>
          <a:p>
            <a:pPr algn="ctr"/>
            <a:r>
              <a:rPr lang="en-US" sz="2200" b="1" dirty="0"/>
              <a:t>object files:</a:t>
            </a:r>
            <a:r>
              <a:rPr lang="en-US" sz="2200" dirty="0"/>
              <a:t> incomplete pieces which might correspond to a single source file or module.</a:t>
            </a:r>
            <a:endParaRPr lang="en-US" sz="2200" b="1" dirty="0"/>
          </a:p>
        </p:txBody>
      </p:sp>
      <p:sp>
        <p:nvSpPr>
          <p:cNvPr id="14" name="TextBox 13">
            <a:extLst>
              <a:ext uri="{FF2B5EF4-FFF2-40B4-BE49-F238E27FC236}">
                <a16:creationId xmlns:a16="http://schemas.microsoft.com/office/drawing/2014/main" id="{9104116B-329E-494C-8217-00F473118D6A}"/>
              </a:ext>
            </a:extLst>
          </p:cNvPr>
          <p:cNvSpPr txBox="1"/>
          <p:nvPr/>
        </p:nvSpPr>
        <p:spPr>
          <a:xfrm>
            <a:off x="477717" y="4598931"/>
            <a:ext cx="3059596" cy="769441"/>
          </a:xfrm>
          <a:prstGeom prst="rect">
            <a:avLst/>
          </a:prstGeom>
          <a:noFill/>
        </p:spPr>
        <p:txBody>
          <a:bodyPr wrap="square" rtlCol="0">
            <a:spAutoFit/>
          </a:bodyPr>
          <a:lstStyle/>
          <a:p>
            <a:pPr algn="ctr"/>
            <a:r>
              <a:rPr lang="en-US" sz="2200" dirty="0"/>
              <a:t>linking them together can produce…</a:t>
            </a:r>
          </a:p>
        </p:txBody>
      </p:sp>
      <p:sp>
        <p:nvSpPr>
          <p:cNvPr id="16" name="TextBox 15">
            <a:extLst>
              <a:ext uri="{FF2B5EF4-FFF2-40B4-BE49-F238E27FC236}">
                <a16:creationId xmlns:a16="http://schemas.microsoft.com/office/drawing/2014/main" id="{4C93B0D7-A517-6647-B166-C96DE141A9FB}"/>
              </a:ext>
            </a:extLst>
          </p:cNvPr>
          <p:cNvSpPr txBox="1"/>
          <p:nvPr/>
        </p:nvSpPr>
        <p:spPr>
          <a:xfrm>
            <a:off x="5867400" y="1147152"/>
            <a:ext cx="3059596" cy="1446550"/>
          </a:xfrm>
          <a:prstGeom prst="rect">
            <a:avLst/>
          </a:prstGeom>
          <a:noFill/>
        </p:spPr>
        <p:txBody>
          <a:bodyPr wrap="square" rtlCol="0">
            <a:spAutoFit/>
          </a:bodyPr>
          <a:lstStyle/>
          <a:p>
            <a:pPr algn="ctr"/>
            <a:r>
              <a:rPr lang="en-US" sz="2200" dirty="0"/>
              <a:t>an </a:t>
            </a:r>
            <a:r>
              <a:rPr lang="en-US" sz="2200" b="1" dirty="0"/>
              <a:t>executable, </a:t>
            </a:r>
            <a:r>
              <a:rPr lang="en-US" sz="2200" dirty="0"/>
              <a:t>which has an </a:t>
            </a:r>
            <a:r>
              <a:rPr lang="en-US" sz="2200" b="1" dirty="0"/>
              <a:t>entry point</a:t>
            </a:r>
            <a:r>
              <a:rPr lang="en-US" sz="2200" dirty="0"/>
              <a:t> (the first function to be run when loaded), or…</a:t>
            </a:r>
          </a:p>
        </p:txBody>
      </p:sp>
      <p:grpSp>
        <p:nvGrpSpPr>
          <p:cNvPr id="19" name="Group 18">
            <a:extLst>
              <a:ext uri="{FF2B5EF4-FFF2-40B4-BE49-F238E27FC236}">
                <a16:creationId xmlns:a16="http://schemas.microsoft.com/office/drawing/2014/main" id="{E8837D29-3D10-EB49-9563-691086735413}"/>
              </a:ext>
            </a:extLst>
          </p:cNvPr>
          <p:cNvGrpSpPr/>
          <p:nvPr/>
        </p:nvGrpSpPr>
        <p:grpSpPr>
          <a:xfrm>
            <a:off x="4207926" y="952969"/>
            <a:ext cx="1447801" cy="1695510"/>
            <a:chOff x="7391400" y="1104900"/>
            <a:chExt cx="1447801" cy="1695510"/>
          </a:xfrm>
        </p:grpSpPr>
        <p:sp>
          <p:nvSpPr>
            <p:cNvPr id="17" name="TextBox 16">
              <a:extLst>
                <a:ext uri="{FF2B5EF4-FFF2-40B4-BE49-F238E27FC236}">
                  <a16:creationId xmlns:a16="http://schemas.microsoft.com/office/drawing/2014/main" id="{91035DD2-6B40-BF40-BA74-2171AEF12884}"/>
                </a:ext>
              </a:extLst>
            </p:cNvPr>
            <p:cNvSpPr txBox="1"/>
            <p:nvPr/>
          </p:nvSpPr>
          <p:spPr>
            <a:xfrm>
              <a:off x="7391400" y="2400300"/>
              <a:ext cx="1447800" cy="400110"/>
            </a:xfrm>
            <a:prstGeom prst="rect">
              <a:avLst/>
            </a:prstGeom>
            <a:noFill/>
          </p:spPr>
          <p:txBody>
            <a:bodyPr wrap="square" rtlCol="0">
              <a:spAutoFit/>
            </a:bodyPr>
            <a:lstStyle/>
            <a:p>
              <a:pPr algn="ctr"/>
              <a:r>
                <a:rPr lang="en-US" sz="2000" b="1" dirty="0" err="1"/>
                <a:t>hello.exe</a:t>
              </a:r>
              <a:endParaRPr lang="en-US" sz="2000" b="1" dirty="0"/>
            </a:p>
          </p:txBody>
        </p:sp>
        <p:pic>
          <p:nvPicPr>
            <p:cNvPr id="18" name="Picture 2" descr="Image result for application icon">
              <a:extLst>
                <a:ext uri="{FF2B5EF4-FFF2-40B4-BE49-F238E27FC236}">
                  <a16:creationId xmlns:a16="http://schemas.microsoft.com/office/drawing/2014/main" id="{F01DDBAE-A70F-6644-BBBF-D94F03175494}"/>
                </a:ext>
              </a:extLst>
            </p:cNvPr>
            <p:cNvPicPr>
              <a:picLocks noChangeAspect="1" noChangeArrowheads="1"/>
            </p:cNvPicPr>
            <p:nvPr/>
          </p:nvPicPr>
          <p:blipFill>
            <a:blip r:embed="rId4"/>
            <a:srcRect/>
            <a:stretch>
              <a:fillRect/>
            </a:stretch>
          </p:blipFill>
          <p:spPr bwMode="auto">
            <a:xfrm>
              <a:off x="7391400" y="1104900"/>
              <a:ext cx="1447801" cy="1447801"/>
            </a:xfrm>
            <a:prstGeom prst="rect">
              <a:avLst/>
            </a:prstGeom>
            <a:noFill/>
          </p:spPr>
        </p:pic>
      </p:grpSp>
      <p:grpSp>
        <p:nvGrpSpPr>
          <p:cNvPr id="23" name="Group 22">
            <a:extLst>
              <a:ext uri="{FF2B5EF4-FFF2-40B4-BE49-F238E27FC236}">
                <a16:creationId xmlns:a16="http://schemas.microsoft.com/office/drawing/2014/main" id="{A7E2C153-C2E1-C341-8882-46CA7DCC75E2}"/>
              </a:ext>
            </a:extLst>
          </p:cNvPr>
          <p:cNvGrpSpPr/>
          <p:nvPr/>
        </p:nvGrpSpPr>
        <p:grpSpPr>
          <a:xfrm>
            <a:off x="4207926" y="3122257"/>
            <a:ext cx="1461052" cy="1746466"/>
            <a:chOff x="4207926" y="3122257"/>
            <a:chExt cx="1461052" cy="1746466"/>
          </a:xfrm>
        </p:grpSpPr>
        <p:pic>
          <p:nvPicPr>
            <p:cNvPr id="21" name="Picture 4" descr="ttp://icons.iconarchive.com/icons/pelfusion/flat-file-type/512/dll-icon.png">
              <a:extLst>
                <a:ext uri="{FF2B5EF4-FFF2-40B4-BE49-F238E27FC236}">
                  <a16:creationId xmlns:a16="http://schemas.microsoft.com/office/drawing/2014/main" id="{6BA946DD-41E8-5242-BD07-594B50C11E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07926" y="3122257"/>
              <a:ext cx="1272688" cy="1272688"/>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E69AC371-2337-F241-B637-7D509650A413}"/>
                </a:ext>
              </a:extLst>
            </p:cNvPr>
            <p:cNvSpPr txBox="1"/>
            <p:nvPr/>
          </p:nvSpPr>
          <p:spPr>
            <a:xfrm>
              <a:off x="4221178" y="4468613"/>
              <a:ext cx="1447800" cy="400110"/>
            </a:xfrm>
            <a:prstGeom prst="rect">
              <a:avLst/>
            </a:prstGeom>
            <a:noFill/>
          </p:spPr>
          <p:txBody>
            <a:bodyPr wrap="square" rtlCol="0">
              <a:spAutoFit/>
            </a:bodyPr>
            <a:lstStyle/>
            <a:p>
              <a:pPr algn="ctr"/>
              <a:r>
                <a:rPr lang="en-US" sz="2000" b="1" dirty="0" err="1"/>
                <a:t>hello.dll</a:t>
              </a:r>
              <a:endParaRPr lang="en-US" sz="2000" b="1" dirty="0"/>
            </a:p>
          </p:txBody>
        </p:sp>
      </p:grpSp>
      <p:sp>
        <p:nvSpPr>
          <p:cNvPr id="24" name="TextBox 23">
            <a:extLst>
              <a:ext uri="{FF2B5EF4-FFF2-40B4-BE49-F238E27FC236}">
                <a16:creationId xmlns:a16="http://schemas.microsoft.com/office/drawing/2014/main" id="{963025DA-FE99-EB42-8461-6E335FFCA0AF}"/>
              </a:ext>
            </a:extLst>
          </p:cNvPr>
          <p:cNvSpPr txBox="1"/>
          <p:nvPr/>
        </p:nvSpPr>
        <p:spPr>
          <a:xfrm>
            <a:off x="5867400" y="2970585"/>
            <a:ext cx="3059596" cy="1446550"/>
          </a:xfrm>
          <a:prstGeom prst="rect">
            <a:avLst/>
          </a:prstGeom>
          <a:noFill/>
        </p:spPr>
        <p:txBody>
          <a:bodyPr wrap="square" rtlCol="0">
            <a:spAutoFit/>
          </a:bodyPr>
          <a:lstStyle/>
          <a:p>
            <a:pPr algn="ctr"/>
            <a:r>
              <a:rPr lang="en-US" sz="2200" dirty="0"/>
              <a:t>a </a:t>
            </a:r>
            <a:r>
              <a:rPr lang="en-US" sz="2200" b="1" dirty="0"/>
              <a:t>library </a:t>
            </a:r>
            <a:r>
              <a:rPr lang="en-US" sz="2200" dirty="0"/>
              <a:t>(either static or dynamically linked), which… </a:t>
            </a:r>
            <a:r>
              <a:rPr lang="en-US" sz="2200" i="1" dirty="0"/>
              <a:t>doesn't</a:t>
            </a:r>
            <a:r>
              <a:rPr lang="en-US" sz="2200" dirty="0"/>
              <a:t> have an entry point.</a:t>
            </a:r>
          </a:p>
        </p:txBody>
      </p:sp>
      <p:sp>
        <p:nvSpPr>
          <p:cNvPr id="25" name="Right Arrow 24">
            <a:extLst>
              <a:ext uri="{FF2B5EF4-FFF2-40B4-BE49-F238E27FC236}">
                <a16:creationId xmlns:a16="http://schemas.microsoft.com/office/drawing/2014/main" id="{7C4DAC71-59F6-F04E-9DE1-CFBED255FF28}"/>
              </a:ext>
            </a:extLst>
          </p:cNvPr>
          <p:cNvSpPr/>
          <p:nvPr/>
        </p:nvSpPr>
        <p:spPr>
          <a:xfrm rot="20553875">
            <a:off x="3263941" y="1844901"/>
            <a:ext cx="791783" cy="430887"/>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Arrow 25">
            <a:extLst>
              <a:ext uri="{FF2B5EF4-FFF2-40B4-BE49-F238E27FC236}">
                <a16:creationId xmlns:a16="http://schemas.microsoft.com/office/drawing/2014/main" id="{C8011C0C-5D97-F644-A4CE-9034D261F358}"/>
              </a:ext>
            </a:extLst>
          </p:cNvPr>
          <p:cNvSpPr/>
          <p:nvPr/>
        </p:nvSpPr>
        <p:spPr>
          <a:xfrm rot="1728895">
            <a:off x="3229652" y="2666588"/>
            <a:ext cx="1209057" cy="430887"/>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3AF50A18-2E55-5E4B-A5C8-56424664A357}"/>
              </a:ext>
            </a:extLst>
          </p:cNvPr>
          <p:cNvSpPr txBox="1"/>
          <p:nvPr/>
        </p:nvSpPr>
        <p:spPr>
          <a:xfrm>
            <a:off x="5867400" y="4424169"/>
            <a:ext cx="3059596" cy="1107996"/>
          </a:xfrm>
          <a:prstGeom prst="rect">
            <a:avLst/>
          </a:prstGeom>
          <a:noFill/>
        </p:spPr>
        <p:txBody>
          <a:bodyPr wrap="square" rtlCol="0">
            <a:spAutoFit/>
          </a:bodyPr>
          <a:lstStyle/>
          <a:p>
            <a:pPr algn="ctr"/>
            <a:r>
              <a:rPr lang="en-US" sz="2200" dirty="0"/>
              <a:t>instead, it </a:t>
            </a:r>
            <a:r>
              <a:rPr lang="en-US" sz="2200" b="1" dirty="0"/>
              <a:t>exports </a:t>
            </a:r>
            <a:r>
              <a:rPr lang="en-US" sz="2200" dirty="0"/>
              <a:t>functions to be used by other files.</a:t>
            </a:r>
          </a:p>
        </p:txBody>
      </p:sp>
    </p:spTree>
    <p:extLst>
      <p:ext uri="{BB962C8B-B14F-4D97-AF65-F5344CB8AC3E}">
        <p14:creationId xmlns:p14="http://schemas.microsoft.com/office/powerpoint/2010/main" val="6572835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6" grpId="0"/>
      <p:bldP spid="24" grpId="0"/>
      <p:bldP spid="25" grpId="0" animBg="1"/>
      <p:bldP spid="26" grpId="0" animBg="1"/>
      <p:bldP spid="2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79ECB-C9B0-FD43-9595-4C9DDCFC0BB9}"/>
              </a:ext>
            </a:extLst>
          </p:cNvPr>
          <p:cNvSpPr>
            <a:spLocks noGrp="1"/>
          </p:cNvSpPr>
          <p:nvPr>
            <p:ph type="title"/>
          </p:nvPr>
        </p:nvSpPr>
        <p:spPr/>
        <p:txBody>
          <a:bodyPr/>
          <a:lstStyle/>
          <a:p>
            <a:r>
              <a:rPr lang="en-US" dirty="0"/>
              <a:t>So what will </a:t>
            </a:r>
            <a:r>
              <a:rPr lang="en-US" i="1" dirty="0"/>
              <a:t>we</a:t>
            </a:r>
            <a:r>
              <a:rPr lang="en-US" dirty="0"/>
              <a:t> do??</a:t>
            </a:r>
          </a:p>
        </p:txBody>
      </p:sp>
      <p:sp>
        <p:nvSpPr>
          <p:cNvPr id="3" name="Content Placeholder 2">
            <a:extLst>
              <a:ext uri="{FF2B5EF4-FFF2-40B4-BE49-F238E27FC236}">
                <a16:creationId xmlns:a16="http://schemas.microsoft.com/office/drawing/2014/main" id="{2581817B-3D3B-A94D-90E5-85F94065E0B8}"/>
              </a:ext>
            </a:extLst>
          </p:cNvPr>
          <p:cNvSpPr>
            <a:spLocks noGrp="1"/>
          </p:cNvSpPr>
          <p:nvPr>
            <p:ph idx="1"/>
          </p:nvPr>
        </p:nvSpPr>
        <p:spPr/>
        <p:txBody>
          <a:bodyPr/>
          <a:lstStyle/>
          <a:p>
            <a:r>
              <a:rPr lang="en-US" dirty="0"/>
              <a:t>well, this is a compilers course, not a linkers course…</a:t>
            </a:r>
          </a:p>
          <a:p>
            <a:r>
              <a:rPr lang="en-US" dirty="0"/>
              <a:t>rather than output </a:t>
            </a:r>
            <a:r>
              <a:rPr lang="en-US" i="1" dirty="0"/>
              <a:t>machine</a:t>
            </a:r>
            <a:r>
              <a:rPr lang="en-US" dirty="0"/>
              <a:t> code, our compiler will output </a:t>
            </a:r>
            <a:r>
              <a:rPr lang="en-US" b="1" dirty="0"/>
              <a:t>assembly language code. you know, just text.</a:t>
            </a:r>
          </a:p>
          <a:p>
            <a:pPr lvl="1"/>
            <a:r>
              <a:rPr lang="en-US" dirty="0"/>
              <a:t>see, MARS – the MIPS emulator – </a:t>
            </a:r>
            <a:r>
              <a:rPr lang="en-US" i="1" dirty="0"/>
              <a:t>has a linker built into it.</a:t>
            </a:r>
            <a:endParaRPr lang="en-US" dirty="0"/>
          </a:p>
          <a:p>
            <a:pPr lvl="1"/>
            <a:r>
              <a:rPr lang="en-US" dirty="0"/>
              <a:t>so we'll let it "finish the job" and do the linking for us.</a:t>
            </a:r>
          </a:p>
          <a:p>
            <a:r>
              <a:rPr lang="en-US" dirty="0"/>
              <a:t>this might sound like a cop-out, but </a:t>
            </a:r>
            <a:r>
              <a:rPr lang="en-US" b="1" dirty="0"/>
              <a:t>lots</a:t>
            </a:r>
            <a:r>
              <a:rPr lang="en-US" dirty="0"/>
              <a:t> of compilers work this way!</a:t>
            </a:r>
          </a:p>
          <a:p>
            <a:pPr lvl="1"/>
            <a:r>
              <a:rPr lang="en-US" dirty="0"/>
              <a:t>not just toy compilers. </a:t>
            </a:r>
            <a:r>
              <a:rPr lang="en-US" b="1" i="1" dirty="0" err="1"/>
              <a:t>gcc</a:t>
            </a:r>
            <a:r>
              <a:rPr lang="en-US" b="1" i="1" dirty="0"/>
              <a:t> </a:t>
            </a:r>
            <a:r>
              <a:rPr lang="en-US" i="1" dirty="0"/>
              <a:t>does this, </a:t>
            </a:r>
            <a:r>
              <a:rPr lang="en-US" dirty="0"/>
              <a:t>if you ask it to.</a:t>
            </a:r>
          </a:p>
          <a:p>
            <a:r>
              <a:rPr lang="en-US" dirty="0"/>
              <a:t>many compilers output object files full of machine code so they can skip the assembly step and just go straight to linking…</a:t>
            </a:r>
          </a:p>
          <a:p>
            <a:pPr lvl="1"/>
            <a:r>
              <a:rPr lang="en-US" dirty="0"/>
              <a:t>but that's a compilation speed optimization, not a requirement.</a:t>
            </a:r>
          </a:p>
        </p:txBody>
      </p:sp>
      <p:sp>
        <p:nvSpPr>
          <p:cNvPr id="4" name="Slide Number Placeholder 3">
            <a:extLst>
              <a:ext uri="{FF2B5EF4-FFF2-40B4-BE49-F238E27FC236}">
                <a16:creationId xmlns:a16="http://schemas.microsoft.com/office/drawing/2014/main" id="{B70FF981-EA33-6941-9CD3-59FF8A3354BF}"/>
              </a:ext>
            </a:extLst>
          </p:cNvPr>
          <p:cNvSpPr>
            <a:spLocks noGrp="1"/>
          </p:cNvSpPr>
          <p:nvPr>
            <p:ph type="sldNum" sz="quarter" idx="12"/>
          </p:nvPr>
        </p:nvSpPr>
        <p:spPr/>
        <p:txBody>
          <a:bodyPr/>
          <a:lstStyle/>
          <a:p>
            <a:fld id="{3552B95B-556F-44BD-91A5-D80C1B9E2BB3}" type="slidenum">
              <a:rPr lang="en-US" smtClean="0"/>
              <a:pPr/>
              <a:t>31</a:t>
            </a:fld>
            <a:endParaRPr lang="en-US"/>
          </a:p>
        </p:txBody>
      </p:sp>
    </p:spTree>
    <p:extLst>
      <p:ext uri="{BB962C8B-B14F-4D97-AF65-F5344CB8AC3E}">
        <p14:creationId xmlns:p14="http://schemas.microsoft.com/office/powerpoint/2010/main" val="3151382550"/>
      </p:ext>
    </p:extLst>
  </p:cSld>
  <p:clrMapOvr>
    <a:masterClrMapping/>
  </p:clrMapOvr>
  <p:transition/>
</p:sld>
</file>

<file path=ppt/theme/theme1.xml><?xml version="1.0" encoding="utf-8"?>
<a:theme xmlns:a="http://schemas.openxmlformats.org/drawingml/2006/main" name="02 - C - Basics">
  <a:themeElements>
    <a:clrScheme name="Custom 2">
      <a:dk1>
        <a:srgbClr val="000000"/>
      </a:dk1>
      <a:lt1>
        <a:srgbClr val="FFFFFF"/>
      </a:lt1>
      <a:dk2>
        <a:srgbClr val="3B481E"/>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Segoe WP Semibold"/>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lides_fall_2017" id="{93D034CE-FEB5-4D4D-96F7-6B7F8A5EB99A}" vid="{194AE869-5029-ED49-81EA-C574BDDBE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01 - Welcome and Review</Template>
  <TotalTime>20100</TotalTime>
  <Words>3787</Words>
  <Application>Microsoft Macintosh PowerPoint</Application>
  <PresentationFormat>On-screen Show (16:10)</PresentationFormat>
  <Paragraphs>524</Paragraphs>
  <Slides>31</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Arial</vt:lpstr>
      <vt:lpstr>Calibri</vt:lpstr>
      <vt:lpstr>Consolas</vt:lpstr>
      <vt:lpstr>Courier New</vt:lpstr>
      <vt:lpstr>Segoe UI</vt:lpstr>
      <vt:lpstr>Segoe WP Semibold</vt:lpstr>
      <vt:lpstr>Trebuchet MS</vt:lpstr>
      <vt:lpstr>Wingdings</vt:lpstr>
      <vt:lpstr>02 - C - Basics</vt:lpstr>
      <vt:lpstr>Backend and Runtime</vt:lpstr>
      <vt:lpstr>Class Announcements</vt:lpstr>
      <vt:lpstr>Welcome to the Backend!</vt:lpstr>
      <vt:lpstr>Through the looking glass</vt:lpstr>
      <vt:lpstr>What is the backend responsible for?</vt:lpstr>
      <vt:lpstr>Correctness</vt:lpstr>
      <vt:lpstr>It doesn't have to look pretty</vt:lpstr>
      <vt:lpstr>Output code quality</vt:lpstr>
      <vt:lpstr>Goals and non-goals</vt:lpstr>
      <vt:lpstr>Runtime</vt:lpstr>
      <vt:lpstr>From compile-time to runtime</vt:lpstr>
      <vt:lpstr>Does that mean we need a VM?</vt:lpstr>
      <vt:lpstr>Code generation (codegen)</vt:lpstr>
      <vt:lpstr>The ABI</vt:lpstr>
      <vt:lpstr>The runtime library</vt:lpstr>
      <vt:lpstr>Putting it all together</vt:lpstr>
      <vt:lpstr>Codegen</vt:lpstr>
      <vt:lpstr>How do you eat an elephant?</vt:lpstr>
      <vt:lpstr>Getting a flavor of it: codegen for a function</vt:lpstr>
      <vt:lpstr>Codegen for expressions</vt:lpstr>
      <vt:lpstr>Codegen for statements</vt:lpstr>
      <vt:lpstr>Linking and Executables</vt:lpstr>
      <vt:lpstr>Abunchafunctions</vt:lpstr>
      <vt:lpstr>Trying to do too much at once</vt:lpstr>
      <vt:lpstr>Symbolic linking</vt:lpstr>
      <vt:lpstr>Relocations</vt:lpstr>
      <vt:lpstr>Position-independent code</vt:lpstr>
      <vt:lpstr>Debugging info</vt:lpstr>
      <vt:lpstr>Executable formats</vt:lpstr>
      <vt:lpstr>Object files, executables, and libraries</vt:lpstr>
      <vt:lpstr>So what will we do??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Intro to Computer Architecture!</dc:title>
  <dc:creator>me</dc:creator>
  <cp:lastModifiedBy>Billingsley, Jarrett F</cp:lastModifiedBy>
  <cp:revision>888</cp:revision>
  <dcterms:created xsi:type="dcterms:W3CDTF">2017-01-05T04:29:56Z</dcterms:created>
  <dcterms:modified xsi:type="dcterms:W3CDTF">2022-06-29T05:16:18Z</dcterms:modified>
</cp:coreProperties>
</file>