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41"/>
  </p:notesMasterIdLst>
  <p:sldIdLst>
    <p:sldId id="256" r:id="rId2"/>
    <p:sldId id="519" r:id="rId3"/>
    <p:sldId id="549" r:id="rId4"/>
    <p:sldId id="550" r:id="rId5"/>
    <p:sldId id="559" r:id="rId6"/>
    <p:sldId id="557" r:id="rId7"/>
    <p:sldId id="561" r:id="rId8"/>
    <p:sldId id="560" r:id="rId9"/>
    <p:sldId id="562" r:id="rId10"/>
    <p:sldId id="551" r:id="rId11"/>
    <p:sldId id="563" r:id="rId12"/>
    <p:sldId id="564" r:id="rId13"/>
    <p:sldId id="565" r:id="rId14"/>
    <p:sldId id="566" r:id="rId15"/>
    <p:sldId id="567" r:id="rId16"/>
    <p:sldId id="568" r:id="rId17"/>
    <p:sldId id="553" r:id="rId18"/>
    <p:sldId id="555" r:id="rId19"/>
    <p:sldId id="584" r:id="rId20"/>
    <p:sldId id="569" r:id="rId21"/>
    <p:sldId id="570" r:id="rId22"/>
    <p:sldId id="571" r:id="rId23"/>
    <p:sldId id="572" r:id="rId24"/>
    <p:sldId id="573" r:id="rId25"/>
    <p:sldId id="574" r:id="rId26"/>
    <p:sldId id="575" r:id="rId27"/>
    <p:sldId id="576" r:id="rId28"/>
    <p:sldId id="577" r:id="rId29"/>
    <p:sldId id="578" r:id="rId30"/>
    <p:sldId id="579" r:id="rId31"/>
    <p:sldId id="580" r:id="rId32"/>
    <p:sldId id="581" r:id="rId33"/>
    <p:sldId id="582" r:id="rId34"/>
    <p:sldId id="593" r:id="rId35"/>
    <p:sldId id="585" r:id="rId36"/>
    <p:sldId id="590" r:id="rId37"/>
    <p:sldId id="591" r:id="rId38"/>
    <p:sldId id="592" r:id="rId39"/>
    <p:sldId id="594" r:id="rId40"/>
  </p:sldIdLst>
  <p:sldSz cx="9144000" cy="5715000" type="screen16x10"/>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12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84999D"/>
    <a:srgbClr val="B7D4D9"/>
    <a:srgbClr val="FFDF7F"/>
    <a:srgbClr val="6098C0"/>
    <a:srgbClr val="58B080"/>
    <a:srgbClr val="FF7F81"/>
    <a:srgbClr val="FF6567"/>
    <a:srgbClr val="FF3200"/>
    <a:srgbClr val="FF5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18" autoAdjust="0"/>
    <p:restoredTop sz="90423" autoAdjust="0"/>
  </p:normalViewPr>
  <p:slideViewPr>
    <p:cSldViewPr>
      <p:cViewPr varScale="1">
        <p:scale>
          <a:sx n="133" d="100"/>
          <a:sy n="133" d="100"/>
        </p:scale>
        <p:origin x="1304" y="192"/>
      </p:cViewPr>
      <p:guideLst>
        <p:guide orient="horz" pos="1800"/>
        <p:guide pos="1296"/>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093253-51AE-4C40-AB6B-AA3A7DF4D210}" type="datetimeFigureOut">
              <a:rPr lang="en-US" smtClean="0"/>
              <a:pPr/>
              <a:t>7/26/22</a:t>
            </a:fld>
            <a:endParaRPr lang="en-US"/>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9729AB-B77D-48AE-AA10-D1BD2B4D03EA}" type="slidenum">
              <a:rPr lang="en-US" smtClean="0"/>
              <a:pPr/>
              <a:t>‹#›</a:t>
            </a:fld>
            <a:endParaRPr lang="en-US"/>
          </a:p>
        </p:txBody>
      </p:sp>
    </p:spTree>
    <p:extLst>
      <p:ext uri="{BB962C8B-B14F-4D97-AF65-F5344CB8AC3E}">
        <p14:creationId xmlns:p14="http://schemas.microsoft.com/office/powerpoint/2010/main" val="2560305392"/>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99729AB-B77D-48AE-AA10-D1BD2B4D03E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4</a:t>
            </a:fld>
            <a:endParaRPr lang="en-US"/>
          </a:p>
        </p:txBody>
      </p:sp>
    </p:spTree>
    <p:extLst>
      <p:ext uri="{BB962C8B-B14F-4D97-AF65-F5344CB8AC3E}">
        <p14:creationId xmlns:p14="http://schemas.microsoft.com/office/powerpoint/2010/main" val="670869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this code’s CFG has three blocks. bb0 does “x = 5 * 5”, then “if a, go to bb1, else go to bb2”. bb1 does “f()”, then ”</a:t>
            </a:r>
            <a:r>
              <a:rPr lang="en-US" dirty="0" err="1"/>
              <a:t>goto</a:t>
            </a:r>
            <a:r>
              <a:rPr lang="en-US" dirty="0"/>
              <a:t> bb2”. bb2 does “t0 = x”, then returns. so, bb2 – the return block – has two predecessors, one from the “true” side of the if and one from the “false” side. the constant folding to “x = 25” is still straightforward, but since “t0 = x” happens in a different basic block from “x = 25”, it’s not obvious how we’ll do copy propagation like we did before.]</a:t>
            </a:r>
          </a:p>
        </p:txBody>
      </p:sp>
      <p:sp>
        <p:nvSpPr>
          <p:cNvPr id="4" name="Slide Number Placeholder 3"/>
          <p:cNvSpPr>
            <a:spLocks noGrp="1"/>
          </p:cNvSpPr>
          <p:nvPr>
            <p:ph type="sldNum" sz="quarter" idx="5"/>
          </p:nvPr>
        </p:nvSpPr>
        <p:spPr/>
        <p:txBody>
          <a:bodyPr/>
          <a:lstStyle/>
          <a:p>
            <a:fld id="{999729AB-B77D-48AE-AA10-D1BD2B4D03EA}" type="slidenum">
              <a:rPr lang="en-US" smtClean="0"/>
              <a:pPr/>
              <a:t>5</a:t>
            </a:fld>
            <a:endParaRPr lang="en-US"/>
          </a:p>
        </p:txBody>
      </p:sp>
    </p:spTree>
    <p:extLst>
      <p:ext uri="{BB962C8B-B14F-4D97-AF65-F5344CB8AC3E}">
        <p14:creationId xmlns:p14="http://schemas.microsoft.com/office/powerpoint/2010/main" val="1802342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the CFG for “x = 25; if a { f(); } return x;”. since x is only assigned a value once, and that value is a constant, it seems obvious that we can do the copy propagation for the “t0 = x” line.]</a:t>
            </a:r>
          </a:p>
          <a:p>
            <a:r>
              <a:rPr lang="en-US" dirty="0"/>
              <a:t>[example 2: the copy propagation has been done, so we have “t0 = 25”. now, “x” is unused.]</a:t>
            </a:r>
          </a:p>
          <a:p>
            <a:r>
              <a:rPr lang="en-US" dirty="0"/>
              <a:t>[example 3: ”x = 25” has been removed. done! but this example is too simple to show up the problems in this method of “just wing it.”]</a:t>
            </a:r>
          </a:p>
        </p:txBody>
      </p:sp>
      <p:sp>
        <p:nvSpPr>
          <p:cNvPr id="4" name="Slide Number Placeholder 3"/>
          <p:cNvSpPr>
            <a:spLocks noGrp="1"/>
          </p:cNvSpPr>
          <p:nvPr>
            <p:ph type="sldNum" sz="quarter" idx="5"/>
          </p:nvPr>
        </p:nvSpPr>
        <p:spPr/>
        <p:txBody>
          <a:bodyPr/>
          <a:lstStyle/>
          <a:p>
            <a:fld id="{999729AB-B77D-48AE-AA10-D1BD2B4D03EA}" type="slidenum">
              <a:rPr lang="en-US" smtClean="0"/>
              <a:pPr/>
              <a:t>6</a:t>
            </a:fld>
            <a:endParaRPr lang="en-US"/>
          </a:p>
        </p:txBody>
      </p:sp>
    </p:spTree>
    <p:extLst>
      <p:ext uri="{BB962C8B-B14F-4D97-AF65-F5344CB8AC3E}">
        <p14:creationId xmlns:p14="http://schemas.microsoft.com/office/powerpoint/2010/main" val="41125529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1: the CFG for the code “x = 25; if a { x = 10; } return x;”. depending on the control flow path we take, x might be 10 or 25 by the time we return it, so we can’t do any copy propagation; this is already as simple as it can be.]</a:t>
            </a:r>
          </a:p>
          <a:p>
            <a:r>
              <a:rPr lang="en-US" dirty="0"/>
              <a:t>[example 2: the CFG for the code “x = 25; if a { x = 10; } else { x = 10; } return x;”. Now, x is set to 25 at the beginning, but both control flow paths set it to 10, meaning that the return always returns 10. so, we </a:t>
            </a:r>
            <a:r>
              <a:rPr lang="en-US" i="1" dirty="0"/>
              <a:t>can</a:t>
            </a:r>
            <a:r>
              <a:rPr lang="en-US" i="0" dirty="0"/>
              <a:t> propagate here? how do we prove that it’s okay to do so?]</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7</a:t>
            </a:fld>
            <a:endParaRPr lang="en-US"/>
          </a:p>
        </p:txBody>
      </p:sp>
    </p:spTree>
    <p:extLst>
      <p:ext uri="{BB962C8B-B14F-4D97-AF65-F5344CB8AC3E}">
        <p14:creationId xmlns:p14="http://schemas.microsoft.com/office/powerpoint/2010/main" val="1996724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lang="en-US" dirty="0"/>
              <a:t>- dead store elimination would be able to remove the x = 0 (and SSA would make that </a:t>
            </a:r>
            <a:r>
              <a:rPr lang="en-US" i="1" dirty="0"/>
              <a:t>dead simple </a:t>
            </a:r>
            <a:r>
              <a:rPr lang="en-US" i="0" dirty="0"/>
              <a:t>ha ha)</a:t>
            </a:r>
            <a:endParaRPr lang="en-US" dirty="0"/>
          </a:p>
          <a:p>
            <a:r>
              <a:rPr lang="en-US" dirty="0"/>
              <a:t>- </a:t>
            </a:r>
            <a:r>
              <a:rPr lang="en-US" b="1" dirty="0"/>
              <a:t>loop-invariant code hoisting</a:t>
            </a:r>
            <a:r>
              <a:rPr lang="en-US" dirty="0"/>
              <a:t> would move the x = 5 out of the loop, probably into bb0</a:t>
            </a:r>
          </a:p>
          <a:p>
            <a:r>
              <a:rPr lang="en-US" dirty="0"/>
              <a:t>- some kind of empty loop detection would be able to remove the loop entirely</a:t>
            </a:r>
          </a:p>
          <a:p>
            <a:r>
              <a:rPr lang="en-US" dirty="0"/>
              <a:t>- the remaining BBs could be merged into a single BB</a:t>
            </a:r>
          </a:p>
          <a:p>
            <a:r>
              <a:rPr lang="en-US" dirty="0"/>
              <a:t>- and then copy prop/dead store </a:t>
            </a:r>
            <a:r>
              <a:rPr lang="en-US" dirty="0" err="1"/>
              <a:t>elim</a:t>
            </a:r>
            <a:r>
              <a:rPr lang="en-US" dirty="0"/>
              <a:t> would remove x entirely, leaving you with "return 5;" like we want</a:t>
            </a:r>
          </a:p>
          <a:p>
            <a:pPr marL="171450" indent="-171450">
              <a:buFontTx/>
              <a:buChar char="-"/>
            </a:pPr>
            <a:r>
              <a:rPr lang="en-US" dirty="0"/>
              <a:t>but WHEW what a journey</a:t>
            </a:r>
          </a:p>
          <a:p>
            <a:pPr marL="171450" indent="-171450">
              <a:buFontTx/>
              <a:buChar char="-"/>
            </a:pPr>
            <a:endParaRPr lang="en-US" dirty="0"/>
          </a:p>
          <a:p>
            <a:pPr marL="0" indent="0">
              <a:buFontTx/>
              <a:buNone/>
            </a:pPr>
            <a:r>
              <a:rPr lang="en-US" dirty="0"/>
              <a:t>[diagram: the CFG for the code “x = 0; for </a:t>
            </a:r>
            <a:r>
              <a:rPr lang="en-US" dirty="0" err="1"/>
              <a:t>i</a:t>
            </a:r>
            <a:r>
              <a:rPr lang="en-US" dirty="0"/>
              <a:t> in 0, 10 { x = 5; } return x;”. now the CFG has a loop in it! intuitively, we can tell that the loop is useless and this whole piece of code could be replaced with “return 5.” but how do we prove that formally or algorithmically? do we count the iterations of the loop as “multiple” assignments to x? how do we prove that the initial assignment to x is “dead”?]</a:t>
            </a:r>
          </a:p>
        </p:txBody>
      </p:sp>
      <p:sp>
        <p:nvSpPr>
          <p:cNvPr id="4" name="Slide Number Placeholder 3"/>
          <p:cNvSpPr>
            <a:spLocks noGrp="1"/>
          </p:cNvSpPr>
          <p:nvPr>
            <p:ph type="sldNum" sz="quarter" idx="5"/>
          </p:nvPr>
        </p:nvSpPr>
        <p:spPr/>
        <p:txBody>
          <a:bodyPr/>
          <a:lstStyle/>
          <a:p>
            <a:fld id="{999729AB-B77D-48AE-AA10-D1BD2B4D03EA}" type="slidenum">
              <a:rPr lang="en-US" smtClean="0"/>
              <a:pPr/>
              <a:t>8</a:t>
            </a:fld>
            <a:endParaRPr lang="en-US"/>
          </a:p>
        </p:txBody>
      </p:sp>
    </p:spTree>
    <p:extLst>
      <p:ext uri="{BB962C8B-B14F-4D97-AF65-F5344CB8AC3E}">
        <p14:creationId xmlns:p14="http://schemas.microsoft.com/office/powerpoint/2010/main" val="7339256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a small CFG with 4 blocks. 1 points to 2. 2 is a condition and points to 3 and 4. 3 points back up to 2 in a loop. we also have two sets, “unvisited” and “visited”, and all 4 blocks start in the unvisited set.]</a:t>
            </a:r>
          </a:p>
          <a:p>
            <a:r>
              <a:rPr lang="en-US" dirty="0"/>
              <a:t>[animation: the “</a:t>
            </a:r>
            <a:r>
              <a:rPr lang="en-US" dirty="0" err="1"/>
              <a:t>visit_node</a:t>
            </a:r>
            <a:r>
              <a:rPr lang="en-US" dirty="0"/>
              <a:t>” function is called on block 1. it sees that 1 is unvisited, and moves it into the visited set. then it visits its successor, 2. 2 is unvisited and moves into the visited set. then we visit 2’s successors, and let’s say 4 is the next thing that it visits. 4 is unvisited and moves into the visited set. 4 has no successors so we’re done with it, and we come back to 2’s successors. 2’s other successor is 3. 3 is unvisited and moves into the visited set. then we visit 3’s successor, but that’s 2, which has already been visited, so we just return without doing anything. we return from all the recursive visit calls, and now all the blocks have been placed into the visited set.]</a:t>
            </a:r>
          </a:p>
        </p:txBody>
      </p:sp>
      <p:sp>
        <p:nvSpPr>
          <p:cNvPr id="4" name="Slide Number Placeholder 3"/>
          <p:cNvSpPr>
            <a:spLocks noGrp="1"/>
          </p:cNvSpPr>
          <p:nvPr>
            <p:ph type="sldNum" sz="quarter" idx="5"/>
          </p:nvPr>
        </p:nvSpPr>
        <p:spPr/>
        <p:txBody>
          <a:bodyPr/>
          <a:lstStyle/>
          <a:p>
            <a:fld id="{999729AB-B77D-48AE-AA10-D1BD2B4D03EA}" type="slidenum">
              <a:rPr lang="en-US" smtClean="0"/>
              <a:pPr/>
              <a:t>11</a:t>
            </a:fld>
            <a:endParaRPr lang="en-US"/>
          </a:p>
        </p:txBody>
      </p:sp>
    </p:spTree>
    <p:extLst>
      <p:ext uri="{BB962C8B-B14F-4D97-AF65-F5344CB8AC3E}">
        <p14:creationId xmlns:p14="http://schemas.microsoft.com/office/powerpoint/2010/main" val="8342592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err="1"/>
              <a:t>teeeeeechnically</a:t>
            </a:r>
            <a:r>
              <a:rPr lang="en-US" dirty="0"/>
              <a:t> the upper bound is more like “the sum of the in-degrees of all the nodes multiplied by the number of sets” but </a:t>
            </a:r>
            <a:r>
              <a:rPr lang="en-US" dirty="0" err="1"/>
              <a:t>whateverrr</a:t>
            </a:r>
            <a:endParaRPr lang="en-US" dirty="0"/>
          </a:p>
          <a:p>
            <a:pPr marL="171450" indent="-171450">
              <a:buFontTx/>
              <a:buChar char="-"/>
            </a:pPr>
            <a:endParaRPr lang="en-US" dirty="0"/>
          </a:p>
          <a:p>
            <a:pPr marL="0" indent="0">
              <a:buFontTx/>
              <a:buNone/>
            </a:pPr>
            <a:r>
              <a:rPr lang="en-US" dirty="0"/>
              <a:t>[diagram: the “unvisited” and “visited” sets. blocks can move from “unvisited” to “visited”, but not the other way around. this is the “one direction” rule that helps prove that this algorithm will terminate.]</a:t>
            </a:r>
          </a:p>
        </p:txBody>
      </p:sp>
      <p:sp>
        <p:nvSpPr>
          <p:cNvPr id="4" name="Slide Number Placeholder 3"/>
          <p:cNvSpPr>
            <a:spLocks noGrp="1"/>
          </p:cNvSpPr>
          <p:nvPr>
            <p:ph type="sldNum" sz="quarter" idx="5"/>
          </p:nvPr>
        </p:nvSpPr>
        <p:spPr/>
        <p:txBody>
          <a:bodyPr/>
          <a:lstStyle/>
          <a:p>
            <a:fld id="{999729AB-B77D-48AE-AA10-D1BD2B4D03EA}" type="slidenum">
              <a:rPr lang="en-US" smtClean="0"/>
              <a:pPr/>
              <a:t>12</a:t>
            </a:fld>
            <a:endParaRPr lang="en-US"/>
          </a:p>
        </p:txBody>
      </p:sp>
    </p:spTree>
    <p:extLst>
      <p:ext uri="{BB962C8B-B14F-4D97-AF65-F5344CB8AC3E}">
        <p14:creationId xmlns:p14="http://schemas.microsoft.com/office/powerpoint/2010/main" val="2581753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we have the code “if true { f(); } else { g(); }”. its CFG is an “if” block pointing to the “f()” and “g()” blocks, which both point to the return block. but because the condition of the if is a constant, then the ”g()” block is never run and the “if” block is useless. so, we could remove those blocks from the CFG entirely.]</a:t>
            </a:r>
          </a:p>
        </p:txBody>
      </p:sp>
      <p:sp>
        <p:nvSpPr>
          <p:cNvPr id="4" name="Slide Number Placeholder 3"/>
          <p:cNvSpPr>
            <a:spLocks noGrp="1"/>
          </p:cNvSpPr>
          <p:nvPr>
            <p:ph type="sldNum" sz="quarter" idx="5"/>
          </p:nvPr>
        </p:nvSpPr>
        <p:spPr/>
        <p:txBody>
          <a:bodyPr/>
          <a:lstStyle/>
          <a:p>
            <a:fld id="{999729AB-B77D-48AE-AA10-D1BD2B4D03EA}" type="slidenum">
              <a:rPr lang="en-US" smtClean="0"/>
              <a:pPr/>
              <a:t>13</a:t>
            </a:fld>
            <a:endParaRPr lang="en-US"/>
          </a:p>
        </p:txBody>
      </p:sp>
    </p:spTree>
    <p:extLst>
      <p:ext uri="{BB962C8B-B14F-4D97-AF65-F5344CB8AC3E}">
        <p14:creationId xmlns:p14="http://schemas.microsoft.com/office/powerpoint/2010/main" val="14342688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this will still work as it always does for conditional terminators with non-constant conditions, and for non-conditional terminators (</a:t>
            </a:r>
            <a:r>
              <a:rPr lang="en-US" dirty="0" err="1"/>
              <a:t>goto</a:t>
            </a:r>
            <a:r>
              <a:rPr lang="en-US" dirty="0"/>
              <a:t>, return), cause it will do the "for" loop like normal.</a:t>
            </a:r>
          </a:p>
          <a:p>
            <a:pPr marL="171450" indent="-171450">
              <a:buFontTx/>
              <a:buChar char="-"/>
            </a:pPr>
            <a:endParaRPr lang="en-US" dirty="0"/>
          </a:p>
          <a:p>
            <a:pPr marL="0" indent="0">
              <a:buFontTx/>
              <a:buNone/>
            </a:pPr>
            <a:r>
              <a:rPr lang="en-US" dirty="0"/>
              <a:t>[diagram: the graph-visiting algorithm from before. but this time, instead of blindly visiting all its successors, it first checks if the block terminator is an “if” with a constant condition. if so, it only visits one of the successors. otherwise, it behaves as normal and visits all successors.]</a:t>
            </a:r>
          </a:p>
        </p:txBody>
      </p:sp>
      <p:sp>
        <p:nvSpPr>
          <p:cNvPr id="4" name="Slide Number Placeholder 3"/>
          <p:cNvSpPr>
            <a:spLocks noGrp="1"/>
          </p:cNvSpPr>
          <p:nvPr>
            <p:ph type="sldNum" sz="quarter" idx="5"/>
          </p:nvPr>
        </p:nvSpPr>
        <p:spPr/>
        <p:txBody>
          <a:bodyPr/>
          <a:lstStyle/>
          <a:p>
            <a:fld id="{999729AB-B77D-48AE-AA10-D1BD2B4D03EA}" type="slidenum">
              <a:rPr lang="en-US" smtClean="0"/>
              <a:pPr/>
              <a:t>14</a:t>
            </a:fld>
            <a:endParaRPr lang="en-US"/>
          </a:p>
        </p:txBody>
      </p:sp>
    </p:spTree>
    <p:extLst>
      <p:ext uri="{BB962C8B-B14F-4D97-AF65-F5344CB8AC3E}">
        <p14:creationId xmlns:p14="http://schemas.microsoft.com/office/powerpoint/2010/main" val="37703619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we'd remove the </a:t>
            </a:r>
            <a:r>
              <a:rPr lang="en-US" b="1" dirty="0"/>
              <a:t>else </a:t>
            </a:r>
            <a:r>
              <a:rPr lang="en-US" dirty="0"/>
              <a:t>node, and then convert the </a:t>
            </a:r>
            <a:r>
              <a:rPr lang="en-US" b="1" dirty="0"/>
              <a:t>if</a:t>
            </a:r>
            <a:r>
              <a:rPr lang="en-US" b="0" dirty="0"/>
              <a:t> node's terminator to a </a:t>
            </a:r>
            <a:r>
              <a:rPr lang="en-US" b="1" dirty="0" err="1"/>
              <a:t>goto</a:t>
            </a:r>
            <a:r>
              <a:rPr lang="en-US" b="0" dirty="0"/>
              <a:t> that goes to the </a:t>
            </a:r>
            <a:r>
              <a:rPr lang="en-US" b="1" dirty="0"/>
              <a:t>then </a:t>
            </a:r>
            <a:r>
              <a:rPr lang="en-US" b="0" dirty="0"/>
              <a:t>node.</a:t>
            </a:r>
          </a:p>
          <a:p>
            <a:r>
              <a:rPr lang="en-US" b="0" dirty="0"/>
              <a:t>- we might then have another optimization that detects "</a:t>
            </a:r>
            <a:r>
              <a:rPr lang="en-US" b="0" dirty="0" err="1"/>
              <a:t>goto</a:t>
            </a:r>
            <a:r>
              <a:rPr lang="en-US" b="0" dirty="0"/>
              <a:t> chains" and merges those into single BBs.</a:t>
            </a:r>
          </a:p>
          <a:p>
            <a:pPr marL="171450" indent="-171450">
              <a:buFontTx/>
              <a:buChar char="-"/>
            </a:pPr>
            <a:r>
              <a:rPr lang="en-US" b="0" dirty="0"/>
              <a:t>are we just garbage-collecting the CFG?? yeah basically</a:t>
            </a:r>
          </a:p>
          <a:p>
            <a:pPr marL="171450" indent="-171450">
              <a:buFontTx/>
              <a:buChar char="-"/>
            </a:pPr>
            <a:endParaRPr lang="en-US" b="0" dirty="0"/>
          </a:p>
          <a:p>
            <a:pPr marL="0" indent="0">
              <a:buFontTx/>
              <a:buNone/>
            </a:pPr>
            <a:r>
              <a:rPr lang="en-US" b="0" dirty="0"/>
              <a:t>[diagram: we run that algorithm from the previous slide on the CFG from two slides ago. the “if” block is visited. since the condition is a constant true, only the “f()” block is visited, as well as the return block (cause it’s the “f()” block’s successor). when we’re done, we notice the “g()” block was </a:t>
            </a:r>
            <a:r>
              <a:rPr lang="en-US" b="0" i="1" dirty="0"/>
              <a:t>not</a:t>
            </a:r>
            <a:r>
              <a:rPr lang="en-US" b="0" i="0" dirty="0"/>
              <a:t> visited, and is therefore dead code and can be removed.]</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15</a:t>
            </a:fld>
            <a:endParaRPr lang="en-US"/>
          </a:p>
        </p:txBody>
      </p:sp>
    </p:spTree>
    <p:extLst>
      <p:ext uri="{BB962C8B-B14F-4D97-AF65-F5344CB8AC3E}">
        <p14:creationId xmlns:p14="http://schemas.microsoft.com/office/powerpoint/2010/main" val="14944360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17</a:t>
            </a:fld>
            <a:endParaRPr lang="en-US"/>
          </a:p>
        </p:txBody>
      </p:sp>
    </p:spTree>
    <p:extLst>
      <p:ext uri="{BB962C8B-B14F-4D97-AF65-F5344CB8AC3E}">
        <p14:creationId xmlns:p14="http://schemas.microsoft.com/office/powerpoint/2010/main" val="32684129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t>- a def-use </a:t>
            </a:r>
            <a:r>
              <a:rPr lang="en-US" i="1" dirty="0"/>
              <a:t>chain</a:t>
            </a:r>
            <a:r>
              <a:rPr lang="en-US" i="0" dirty="0"/>
              <a:t> is a list of </a:t>
            </a:r>
            <a:r>
              <a:rPr lang="en-US" i="1" dirty="0"/>
              <a:t>all</a:t>
            </a:r>
            <a:r>
              <a:rPr lang="en-US" i="0" dirty="0"/>
              <a:t> def-uses for a single use. </a:t>
            </a:r>
          </a:p>
          <a:p>
            <a:r>
              <a:rPr lang="en-US" i="0" dirty="0"/>
              <a:t>	- the name "chain" makes me think of a linear thing, but a def-use "chain" is just a flat tree…</a:t>
            </a:r>
          </a:p>
          <a:p>
            <a:r>
              <a:rPr lang="en-US" i="0" dirty="0"/>
              <a:t>	- NAMING IS HARD I GUESS</a:t>
            </a:r>
          </a:p>
          <a:p>
            <a:r>
              <a:rPr lang="en-US" i="0" dirty="0"/>
              <a:t>- SSA makes it so there is only ever one def for each use, eliminating the second case, which can simplify many algorithms.</a:t>
            </a:r>
          </a:p>
          <a:p>
            <a:endParaRPr lang="en-US" i="0" dirty="0"/>
          </a:p>
          <a:p>
            <a:r>
              <a:rPr lang="en-US" i="0" dirty="0"/>
              <a:t>[diagram 1: in the code “x = 3; y = 5; z = a + b; f(x);”, there is a def-use of “x = 3” and “f(x)” .]</a:t>
            </a:r>
          </a:p>
          <a:p>
            <a:r>
              <a:rPr lang="en-US" i="0" dirty="0"/>
              <a:t>[diagram 2: a small piece of a CFG with 3 blocks. blocks 1 and 2 both point to block 3. block 1 sets x = 3; block 2 sets x = 5; and block 3 does “f(x)”. so there are two </a:t>
            </a:r>
            <a:r>
              <a:rPr lang="en-US" i="0" dirty="0" err="1"/>
              <a:t>defs</a:t>
            </a:r>
            <a:r>
              <a:rPr lang="en-US" i="0" dirty="0"/>
              <a:t> for the use of x in this CFG.]</a:t>
            </a:r>
          </a:p>
          <a:p>
            <a:endParaRPr lang="en-US" i="0"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18</a:t>
            </a:fld>
            <a:endParaRPr lang="en-US"/>
          </a:p>
        </p:txBody>
      </p:sp>
    </p:spTree>
    <p:extLst>
      <p:ext uri="{BB962C8B-B14F-4D97-AF65-F5344CB8AC3E}">
        <p14:creationId xmlns:p14="http://schemas.microsoft.com/office/powerpoint/2010/main" val="13911277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to prove that yes, this is a real thing, here's the GCCP algorithm in </a:t>
            </a:r>
            <a:r>
              <a:rPr lang="en-US" dirty="0" err="1"/>
              <a:t>rustc</a:t>
            </a:r>
            <a:r>
              <a:rPr lang="en-US" dirty="0"/>
              <a:t>: https://</a:t>
            </a:r>
            <a:r>
              <a:rPr lang="en-US" dirty="0" err="1"/>
              <a:t>github.com</a:t>
            </a:r>
            <a:r>
              <a:rPr lang="en-US" dirty="0"/>
              <a:t>/rust-</a:t>
            </a:r>
            <a:r>
              <a:rPr lang="en-US" dirty="0" err="1"/>
              <a:t>lang</a:t>
            </a:r>
            <a:r>
              <a:rPr lang="en-US" dirty="0"/>
              <a:t>/rust/blob/5782f01a5136b1f7539b23f67e832f0b994c215d/compiler/</a:t>
            </a:r>
            <a:r>
              <a:rPr lang="en-US" dirty="0" err="1"/>
              <a:t>rustc_mir</a:t>
            </a:r>
            <a:r>
              <a:rPr lang="en-US" dirty="0"/>
              <a:t>/</a:t>
            </a:r>
            <a:r>
              <a:rPr lang="en-US" dirty="0" err="1"/>
              <a:t>src</a:t>
            </a:r>
            <a:r>
              <a:rPr lang="en-US" dirty="0"/>
              <a:t>/transform/</a:t>
            </a:r>
            <a:r>
              <a:rPr lang="en-US" dirty="0" err="1"/>
              <a:t>const_prop.rs</a:t>
            </a:r>
            <a:endParaRPr lang="en-US" dirty="0"/>
          </a:p>
          <a:p>
            <a:r>
              <a:rPr lang="en-US" dirty="0"/>
              <a:t>- </a:t>
            </a:r>
            <a:r>
              <a:rPr lang="en-US" dirty="0" err="1"/>
              <a:t>rustc's</a:t>
            </a:r>
            <a:r>
              <a:rPr lang="en-US" dirty="0"/>
              <a:t> copy propagation – or rather </a:t>
            </a:r>
            <a:r>
              <a:rPr lang="en-US" i="1" dirty="0"/>
              <a:t>destination</a:t>
            </a:r>
            <a:r>
              <a:rPr lang="en-US" i="0" dirty="0"/>
              <a:t> propagation, which is like copy propagation but backwards – is here https://</a:t>
            </a:r>
            <a:r>
              <a:rPr lang="en-US" i="0" dirty="0" err="1"/>
              <a:t>github.com</a:t>
            </a:r>
            <a:r>
              <a:rPr lang="en-US" i="0" dirty="0"/>
              <a:t>/rust-</a:t>
            </a:r>
            <a:r>
              <a:rPr lang="en-US" i="0" dirty="0" err="1"/>
              <a:t>lang</a:t>
            </a:r>
            <a:r>
              <a:rPr lang="en-US" i="0" dirty="0"/>
              <a:t>/rust/blob/5782f01a5136b1f7539b23f67e832f0b994c215d/compiler/</a:t>
            </a:r>
            <a:r>
              <a:rPr lang="en-US" i="0" dirty="0" err="1"/>
              <a:t>rustc_mir</a:t>
            </a:r>
            <a:r>
              <a:rPr lang="en-US" i="0" dirty="0"/>
              <a:t>/</a:t>
            </a:r>
            <a:r>
              <a:rPr lang="en-US" i="0" dirty="0" err="1"/>
              <a:t>src</a:t>
            </a:r>
            <a:r>
              <a:rPr lang="en-US" i="0" dirty="0"/>
              <a:t>/transform/</a:t>
            </a:r>
            <a:r>
              <a:rPr lang="en-US" i="0" dirty="0" err="1"/>
              <a:t>dest_prop.rs</a:t>
            </a:r>
            <a:endParaRPr lang="en-US" i="0" dirty="0"/>
          </a:p>
          <a:p>
            <a:endParaRPr lang="en-US" dirty="0"/>
          </a:p>
          <a:p>
            <a:r>
              <a:rPr lang="en-US" dirty="0"/>
              <a:t>[diagram 1: the CFG for “x = 25; if a { f(); } return x;”. since there is only one def-use, and it sets x to a constant 25, we can replace x with 25 in the use.]</a:t>
            </a:r>
          </a:p>
          <a:p>
            <a:r>
              <a:rPr lang="en-US" dirty="0"/>
              <a:t>[diagram 2: the CFG for “x = 25; if a { x = 10; } return x;” now there are 2 def-uses, and they both set x to different values, so we cannot propagate.]</a:t>
            </a:r>
          </a:p>
          <a:p>
            <a:r>
              <a:rPr lang="en-US" dirty="0"/>
              <a:t>[diagram 3: the CFG for “x = 25; if a { x = 10; } else { x = 10; } return x;” again we have 2 def-uses, but since both </a:t>
            </a:r>
            <a:r>
              <a:rPr lang="en-US" dirty="0" err="1"/>
              <a:t>defs</a:t>
            </a:r>
            <a:r>
              <a:rPr lang="en-US" dirty="0"/>
              <a:t> set x to 10, we can propagate and replace x with 10 in the use.]</a:t>
            </a:r>
          </a:p>
        </p:txBody>
      </p:sp>
      <p:sp>
        <p:nvSpPr>
          <p:cNvPr id="4" name="Slide Number Placeholder 3"/>
          <p:cNvSpPr>
            <a:spLocks noGrp="1"/>
          </p:cNvSpPr>
          <p:nvPr>
            <p:ph type="sldNum" sz="quarter" idx="5"/>
          </p:nvPr>
        </p:nvSpPr>
        <p:spPr/>
        <p:txBody>
          <a:bodyPr/>
          <a:lstStyle/>
          <a:p>
            <a:fld id="{999729AB-B77D-48AE-AA10-D1BD2B4D03EA}" type="slidenum">
              <a:rPr lang="en-US" smtClean="0"/>
              <a:pPr/>
              <a:t>20</a:t>
            </a:fld>
            <a:endParaRPr lang="en-US"/>
          </a:p>
        </p:txBody>
      </p:sp>
    </p:spTree>
    <p:extLst>
      <p:ext uri="{BB962C8B-B14F-4D97-AF65-F5344CB8AC3E}">
        <p14:creationId xmlns:p14="http://schemas.microsoft.com/office/powerpoint/2010/main" val="13688784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we have a short piece of code “x = 4; y = 5; x = f(); x = 9;”. if we keep notes on what value is in x, we’ll make a note before each instruction, plus one more after the last instruction. before this code runs, we don’t know what’s in x, so we note down “x = ???”. after the line “x = 4”, we note down “x = 4”. after “y = 5”, that has no impact on x, so again we still know “x = 4”. after “x = f()”, we don’t know what f() will return, so we note down “x = ???” again. finally, after “x = 9”, we note down that ”x = 9”. so after running this whole piece of code, we know that x will be 9.]</a:t>
            </a:r>
          </a:p>
        </p:txBody>
      </p:sp>
      <p:sp>
        <p:nvSpPr>
          <p:cNvPr id="4" name="Slide Number Placeholder 3"/>
          <p:cNvSpPr>
            <a:spLocks noGrp="1"/>
          </p:cNvSpPr>
          <p:nvPr>
            <p:ph type="sldNum" sz="quarter" idx="5"/>
          </p:nvPr>
        </p:nvSpPr>
        <p:spPr/>
        <p:txBody>
          <a:bodyPr/>
          <a:lstStyle/>
          <a:p>
            <a:fld id="{999729AB-B77D-48AE-AA10-D1BD2B4D03EA}" type="slidenum">
              <a:rPr lang="en-US" smtClean="0"/>
              <a:pPr/>
              <a:t>21</a:t>
            </a:fld>
            <a:endParaRPr lang="en-US"/>
          </a:p>
        </p:txBody>
      </p:sp>
    </p:spTree>
    <p:extLst>
      <p:ext uri="{BB962C8B-B14F-4D97-AF65-F5344CB8AC3E}">
        <p14:creationId xmlns:p14="http://schemas.microsoft.com/office/powerpoint/2010/main" val="9306669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note that in a real algorithm, it would be tracking the state of </a:t>
            </a:r>
            <a:r>
              <a:rPr lang="en-US" b="1" dirty="0"/>
              <a:t>all </a:t>
            </a:r>
            <a:r>
              <a:rPr lang="en-US" b="0" dirty="0"/>
              <a:t>variables simultaneously, so the assignments to </a:t>
            </a:r>
            <a:r>
              <a:rPr lang="en-US" b="1" dirty="0"/>
              <a:t>y</a:t>
            </a:r>
            <a:r>
              <a:rPr lang="en-US" b="0" dirty="0"/>
              <a:t> here wouldn't be ignored. they just don’t have any effect on the state for x.</a:t>
            </a:r>
          </a:p>
          <a:p>
            <a:pPr marL="171450" indent="-171450">
              <a:buFontTx/>
              <a:buChar char="-"/>
            </a:pPr>
            <a:endParaRPr lang="en-US" b="0" dirty="0"/>
          </a:p>
          <a:p>
            <a:pPr marL="0" indent="0">
              <a:buFontTx/>
              <a:buNone/>
            </a:pPr>
            <a:r>
              <a:rPr lang="en-US" b="0" dirty="0"/>
              <a:t>[diagram: a basic block that contains the instructions from two slides ago. it has one predecessor and one successor. upon entry to the block, the in-state for x is ”x = ANY”. we run the transfer function repeatedly to all the instructions inside the block, which gives us the out-state for this block. that out-state becomes the in-state for the successor block.]</a:t>
            </a:r>
          </a:p>
        </p:txBody>
      </p:sp>
      <p:sp>
        <p:nvSpPr>
          <p:cNvPr id="4" name="Slide Number Placeholder 3"/>
          <p:cNvSpPr>
            <a:spLocks noGrp="1"/>
          </p:cNvSpPr>
          <p:nvPr>
            <p:ph type="sldNum" sz="quarter" idx="5"/>
          </p:nvPr>
        </p:nvSpPr>
        <p:spPr/>
        <p:txBody>
          <a:bodyPr/>
          <a:lstStyle/>
          <a:p>
            <a:fld id="{999729AB-B77D-48AE-AA10-D1BD2B4D03EA}" type="slidenum">
              <a:rPr lang="en-US" smtClean="0"/>
              <a:pPr/>
              <a:t>23</a:t>
            </a:fld>
            <a:endParaRPr lang="en-US"/>
          </a:p>
        </p:txBody>
      </p:sp>
    </p:spTree>
    <p:extLst>
      <p:ext uri="{BB962C8B-B14F-4D97-AF65-F5344CB8AC3E}">
        <p14:creationId xmlns:p14="http://schemas.microsoft.com/office/powerpoint/2010/main" val="8867978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[diagrams: there are three examples of CFGs all the same shape: two blue blocks with a common successor, the red block, meaning the red block has two predecessors.]</a:t>
            </a:r>
          </a:p>
          <a:p>
            <a:r>
              <a:rPr lang="en-US" dirty="0"/>
              <a:t>[diagram 1: the red block’s two predecessors’ out-states are CONST(5) and ANY. because of that, we don’t actually know for sure what value x will be upon entry to the red block, so we must assume that x = ANY.]</a:t>
            </a:r>
          </a:p>
          <a:p>
            <a:r>
              <a:rPr lang="en-US" dirty="0"/>
              <a:t>[diagram 2: the predecessors’ out-states are CONST(5) and CONST(3). so we know it will be a constant, but we don’t know which, so again we have to assume that x = ANY upon entry to the red block.]</a:t>
            </a:r>
          </a:p>
          <a:p>
            <a:r>
              <a:rPr lang="en-US" dirty="0"/>
              <a:t>[diagram 3: this time, the predecessors’ out-states are CONST(3) and CONST(3), meaning that we know for sure that upon entry to the red block, x = CONST(3).]</a:t>
            </a:r>
          </a:p>
        </p:txBody>
      </p:sp>
      <p:sp>
        <p:nvSpPr>
          <p:cNvPr id="4" name="Slide Number Placeholder 3"/>
          <p:cNvSpPr>
            <a:spLocks noGrp="1"/>
          </p:cNvSpPr>
          <p:nvPr>
            <p:ph type="sldNum" sz="quarter" idx="5"/>
          </p:nvPr>
        </p:nvSpPr>
        <p:spPr/>
        <p:txBody>
          <a:bodyPr/>
          <a:lstStyle/>
          <a:p>
            <a:fld id="{999729AB-B77D-48AE-AA10-D1BD2B4D03EA}" type="slidenum">
              <a:rPr lang="en-US" smtClean="0"/>
              <a:pPr/>
              <a:t>24</a:t>
            </a:fld>
            <a:endParaRPr lang="en-US"/>
          </a:p>
        </p:txBody>
      </p:sp>
    </p:spTree>
    <p:extLst>
      <p:ext uri="{BB962C8B-B14F-4D97-AF65-F5344CB8AC3E}">
        <p14:creationId xmlns:p14="http://schemas.microsoft.com/office/powerpoint/2010/main" val="303228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1: the CFG for “x = 25; if a { x = 10; } return x;” the red return block’s predecessors give it x = CONST(10) and x = CONST(25), so we have to assume x = ANY for the red block, and therefore we cannot propagate the constant. that’s correct.]</a:t>
            </a:r>
          </a:p>
          <a:p>
            <a:r>
              <a:rPr lang="en-US" dirty="0"/>
              <a:t>[diagram 2: the CFG for “x = 25; if a { x = 10; } else { x = 10; } return x;”. this time, the red return block’s predecessors give it x = CONST(10) and x = CONST(10), meaning we can assume x = CONST(10) for the return block, and propagate it into “t0 = x”, giving us “t0 = 10”.]</a:t>
            </a:r>
          </a:p>
        </p:txBody>
      </p:sp>
      <p:sp>
        <p:nvSpPr>
          <p:cNvPr id="4" name="Slide Number Placeholder 3"/>
          <p:cNvSpPr>
            <a:spLocks noGrp="1"/>
          </p:cNvSpPr>
          <p:nvPr>
            <p:ph type="sldNum" sz="quarter" idx="5"/>
          </p:nvPr>
        </p:nvSpPr>
        <p:spPr/>
        <p:txBody>
          <a:bodyPr/>
          <a:lstStyle/>
          <a:p>
            <a:fld id="{999729AB-B77D-48AE-AA10-D1BD2B4D03EA}" type="slidenum">
              <a:rPr lang="en-US" smtClean="0"/>
              <a:pPr/>
              <a:t>25</a:t>
            </a:fld>
            <a:endParaRPr lang="en-US"/>
          </a:p>
        </p:txBody>
      </p:sp>
    </p:spTree>
    <p:extLst>
      <p:ext uri="{BB962C8B-B14F-4D97-AF65-F5344CB8AC3E}">
        <p14:creationId xmlns:p14="http://schemas.microsoft.com/office/powerpoint/2010/main" val="1610679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the CFG for the code “x = 10; for </a:t>
            </a:r>
            <a:r>
              <a:rPr lang="en-US" dirty="0" err="1"/>
              <a:t>i</a:t>
            </a:r>
            <a:r>
              <a:rPr lang="en-US" dirty="0"/>
              <a:t> in 0, 10 { print(“ha”); } return x;”. this time, we quickly run into a problem. first we visit the “x = 10” block, which tells us x = CONST(10) going into the conditional block. but when we visit the conditional block, it has two predecessors, one from the start of the function which tells us x = CONST(10), and one from the end of the loop. but we haven’t come up with a value for that second predecessor’s out-state. and if we try to follow that backwards, we end up back at the conditional block. so the conditional block’s in-state depends on its own out-state. a small cartoon brown bear sits atop one of the blocks and holds his head in a daze.]</a:t>
            </a:r>
          </a:p>
        </p:txBody>
      </p:sp>
      <p:sp>
        <p:nvSpPr>
          <p:cNvPr id="4" name="Slide Number Placeholder 3"/>
          <p:cNvSpPr>
            <a:spLocks noGrp="1"/>
          </p:cNvSpPr>
          <p:nvPr>
            <p:ph type="sldNum" sz="quarter" idx="5"/>
          </p:nvPr>
        </p:nvSpPr>
        <p:spPr/>
        <p:txBody>
          <a:bodyPr/>
          <a:lstStyle/>
          <a:p>
            <a:fld id="{999729AB-B77D-48AE-AA10-D1BD2B4D03EA}" type="slidenum">
              <a:rPr lang="en-US" smtClean="0"/>
              <a:pPr/>
              <a:t>26</a:t>
            </a:fld>
            <a:endParaRPr lang="en-US"/>
          </a:p>
        </p:txBody>
      </p:sp>
    </p:spTree>
    <p:extLst>
      <p:ext uri="{BB962C8B-B14F-4D97-AF65-F5344CB8AC3E}">
        <p14:creationId xmlns:p14="http://schemas.microsoft.com/office/powerpoint/2010/main" val="32810676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first rule makes sense because it does not matter if some of the predecessors are unknown, because if you see an ANY, no other information can ever prove the value to be anything other than ANY. </a:t>
            </a:r>
          </a:p>
          <a:p>
            <a:pPr marL="171450" indent="-171450">
              <a:buFontTx/>
              <a:buChar char="-"/>
            </a:pPr>
            <a:r>
              <a:rPr lang="en-US" dirty="0"/>
              <a:t>then, if we don’t see any ANY values, we must be left with all UNK, all CONST, or some mixture of the two.</a:t>
            </a:r>
          </a:p>
        </p:txBody>
      </p:sp>
      <p:sp>
        <p:nvSpPr>
          <p:cNvPr id="4" name="Slide Number Placeholder 3"/>
          <p:cNvSpPr>
            <a:spLocks noGrp="1"/>
          </p:cNvSpPr>
          <p:nvPr>
            <p:ph type="sldNum" sz="quarter" idx="5"/>
          </p:nvPr>
        </p:nvSpPr>
        <p:spPr/>
        <p:txBody>
          <a:bodyPr/>
          <a:lstStyle/>
          <a:p>
            <a:fld id="{999729AB-B77D-48AE-AA10-D1BD2B4D03EA}" type="slidenum">
              <a:rPr lang="en-US" smtClean="0"/>
              <a:pPr/>
              <a:t>29</a:t>
            </a:fld>
            <a:endParaRPr lang="en-US"/>
          </a:p>
        </p:txBody>
      </p:sp>
    </p:spTree>
    <p:extLst>
      <p:ext uri="{BB962C8B-B14F-4D97-AF65-F5344CB8AC3E}">
        <p14:creationId xmlns:p14="http://schemas.microsoft.com/office/powerpoint/2010/main" val="3875694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oh boy, here we go. the the CFG for the code “x = 10; for </a:t>
            </a:r>
            <a:r>
              <a:rPr lang="en-US" dirty="0" err="1"/>
              <a:t>i</a:t>
            </a:r>
            <a:r>
              <a:rPr lang="en-US" dirty="0"/>
              <a:t> in 0, 10 { print(“ha”); } return x;”. we start out with “x = UNK” at every point in the CFG.</a:t>
            </a:r>
          </a:p>
          <a:p>
            <a:r>
              <a:rPr lang="en-US" dirty="0"/>
              <a:t>step 1: we visit the entry block which says “x = 10”, which makes the out-state “x = CONST(10)”.</a:t>
            </a:r>
          </a:p>
          <a:p>
            <a:r>
              <a:rPr lang="en-US" dirty="0"/>
              <a:t>step 2: we visit the conditional block. its two predecessors say x = CONST(10) and x = UNK. we run the join function on those, which tells us that x = CONST(10) for this block. nothing in the conditional block changes that, so the conditional block’s out-state is now x = CONST(10).</a:t>
            </a:r>
          </a:p>
          <a:p>
            <a:r>
              <a:rPr lang="en-US" dirty="0"/>
              <a:t>step 3: we visit the loop body block. its predecessor says x = CONST(10), and nothing in this block changes that, so its out-state changes from x = UNK to x = CONST(10). but that triggers the next step.</a:t>
            </a:r>
          </a:p>
          <a:p>
            <a:r>
              <a:rPr lang="en-US" dirty="0"/>
              <a:t>step 4: we revisit the conditional block </a:t>
            </a:r>
            <a:r>
              <a:rPr lang="en-US" i="1" dirty="0"/>
              <a:t>a second time!</a:t>
            </a:r>
            <a:r>
              <a:rPr lang="en-US" i="0" dirty="0"/>
              <a:t> this is because one of its predecessors’ out-states changed (the loop body block). now we run the join function on x = CONST(10) and x = CONST(10), which still leaves us with x = CONST(10), so nothing has to change.</a:t>
            </a:r>
          </a:p>
          <a:p>
            <a:r>
              <a:rPr lang="en-US" dirty="0"/>
              <a:t>done! no more changes occur, so we have reached equilibrium and the algorithm terminates.]</a:t>
            </a:r>
          </a:p>
        </p:txBody>
      </p:sp>
      <p:sp>
        <p:nvSpPr>
          <p:cNvPr id="4" name="Slide Number Placeholder 3"/>
          <p:cNvSpPr>
            <a:spLocks noGrp="1"/>
          </p:cNvSpPr>
          <p:nvPr>
            <p:ph type="sldNum" sz="quarter" idx="5"/>
          </p:nvPr>
        </p:nvSpPr>
        <p:spPr/>
        <p:txBody>
          <a:bodyPr/>
          <a:lstStyle/>
          <a:p>
            <a:fld id="{999729AB-B77D-48AE-AA10-D1BD2B4D03EA}" type="slidenum">
              <a:rPr lang="en-US" smtClean="0"/>
              <a:pPr/>
              <a:t>30</a:t>
            </a:fld>
            <a:endParaRPr lang="en-US"/>
          </a:p>
        </p:txBody>
      </p:sp>
    </p:spTree>
    <p:extLst>
      <p:ext uri="{BB962C8B-B14F-4D97-AF65-F5344CB8AC3E}">
        <p14:creationId xmlns:p14="http://schemas.microsoft.com/office/powerpoint/2010/main" val="9755468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the three states, UNK, CONST, and ANY. UNK can become CONST or ANY. CONST can become ANY. but there is only one direction through the finite number of states, and therefore our algorithm will be guaranteed to terminate.]</a:t>
            </a:r>
          </a:p>
        </p:txBody>
      </p:sp>
      <p:sp>
        <p:nvSpPr>
          <p:cNvPr id="4" name="Slide Number Placeholder 3"/>
          <p:cNvSpPr>
            <a:spLocks noGrp="1"/>
          </p:cNvSpPr>
          <p:nvPr>
            <p:ph type="sldNum" sz="quarter" idx="5"/>
          </p:nvPr>
        </p:nvSpPr>
        <p:spPr/>
        <p:txBody>
          <a:bodyPr/>
          <a:lstStyle/>
          <a:p>
            <a:fld id="{999729AB-B77D-48AE-AA10-D1BD2B4D03EA}" type="slidenum">
              <a:rPr lang="en-US" smtClean="0"/>
              <a:pPr/>
              <a:t>31</a:t>
            </a:fld>
            <a:endParaRPr lang="en-US"/>
          </a:p>
        </p:txBody>
      </p:sp>
    </p:spTree>
    <p:extLst>
      <p:ext uri="{BB962C8B-B14F-4D97-AF65-F5344CB8AC3E}">
        <p14:creationId xmlns:p14="http://schemas.microsoft.com/office/powerpoint/2010/main" val="15912320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lang="en-US" dirty="0"/>
              <a:t>[explanation: the the CFG for the code “x = 10; for </a:t>
            </a:r>
            <a:r>
              <a:rPr lang="en-US" dirty="0" err="1"/>
              <a:t>i</a:t>
            </a:r>
            <a:r>
              <a:rPr lang="en-US" dirty="0"/>
              <a:t> in 0, 10 { x = 20; } return x;”. we again start out with “x = UNK” at every point in the CFG.</a:t>
            </a:r>
          </a:p>
          <a:p>
            <a:r>
              <a:rPr lang="en-US" dirty="0"/>
              <a:t>step 1: we visit the entry block which says “x = 10”, which makes the out-state “x = CONST(10)”.</a:t>
            </a:r>
          </a:p>
          <a:p>
            <a:r>
              <a:rPr lang="en-US" dirty="0"/>
              <a:t>step 2: we visit the conditional block. its two predecessors say x = CONST(10) and x = UNK. we run the join function on those, which tells us that x = CONST(10) for this block. nothing in the conditional block changes that, so the conditional block’s out-state is now x = CONST(10).</a:t>
            </a:r>
          </a:p>
          <a:p>
            <a:r>
              <a:rPr lang="en-US" dirty="0"/>
              <a:t>step 3: we visit the loop body block. its predecessor says x = CONST(10), but this time, it contains “x = 20", so its out-state changes from x = UNK to x = CONST(20). this is where we diverge from the previous example.</a:t>
            </a:r>
          </a:p>
          <a:p>
            <a:r>
              <a:rPr lang="en-US" dirty="0"/>
              <a:t>step 4: we revisit the conditional block for the second time. but now, its predecessors say x = CONST(10) and x = CONST(20), meaning its in-state changes to x = ANY, as do its out-states.</a:t>
            </a:r>
          </a:p>
          <a:p>
            <a:r>
              <a:rPr lang="en-US" dirty="0"/>
              <a:t>now we’re done, and this time, the in-state of the block that contains “return x” says “x = ANY,” so we can’t do any propagation.]</a:t>
            </a:r>
          </a:p>
        </p:txBody>
      </p:sp>
      <p:sp>
        <p:nvSpPr>
          <p:cNvPr id="4" name="Slide Number Placeholder 3"/>
          <p:cNvSpPr>
            <a:spLocks noGrp="1"/>
          </p:cNvSpPr>
          <p:nvPr>
            <p:ph type="sldNum" sz="quarter" idx="5"/>
          </p:nvPr>
        </p:nvSpPr>
        <p:spPr/>
        <p:txBody>
          <a:bodyPr/>
          <a:lstStyle/>
          <a:p>
            <a:fld id="{999729AB-B77D-48AE-AA10-D1BD2B4D03EA}" type="slidenum">
              <a:rPr lang="en-US" smtClean="0"/>
              <a:pPr/>
              <a:t>32</a:t>
            </a:fld>
            <a:endParaRPr lang="en-US"/>
          </a:p>
        </p:txBody>
      </p:sp>
    </p:spTree>
    <p:extLst>
      <p:ext uri="{BB962C8B-B14F-4D97-AF65-F5344CB8AC3E}">
        <p14:creationId xmlns:p14="http://schemas.microsoft.com/office/powerpoint/2010/main" val="13306643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that last rule is more rigorously specified by saying the states form a </a:t>
            </a:r>
            <a:r>
              <a:rPr lang="en-US" i="1" dirty="0"/>
              <a:t>lattice, </a:t>
            </a:r>
            <a:r>
              <a:rPr lang="en-US" i="0" dirty="0"/>
              <a:t>but that's a little more mathematical rigor than I care about for your understanding.</a:t>
            </a:r>
          </a:p>
          <a:p>
            <a:pPr marL="528066" lvl="1" indent="-171450">
              <a:buFontTx/>
              <a:buChar char="-"/>
            </a:pPr>
            <a:r>
              <a:rPr lang="en-US" i="0" dirty="0"/>
              <a:t>https://</a:t>
            </a:r>
            <a:r>
              <a:rPr lang="en-US" i="0" dirty="0" err="1"/>
              <a:t>en.wikipedia.org</a:t>
            </a:r>
            <a:r>
              <a:rPr lang="en-US" i="0" dirty="0"/>
              <a:t>/wiki/Lattice_(order) if you’re curious</a:t>
            </a:r>
          </a:p>
        </p:txBody>
      </p:sp>
      <p:sp>
        <p:nvSpPr>
          <p:cNvPr id="4" name="Slide Number Placeholder 3"/>
          <p:cNvSpPr>
            <a:spLocks noGrp="1"/>
          </p:cNvSpPr>
          <p:nvPr>
            <p:ph type="sldNum" sz="quarter" idx="5"/>
          </p:nvPr>
        </p:nvSpPr>
        <p:spPr/>
        <p:txBody>
          <a:bodyPr/>
          <a:lstStyle/>
          <a:p>
            <a:fld id="{999729AB-B77D-48AE-AA10-D1BD2B4D03EA}" type="slidenum">
              <a:rPr lang="en-US" smtClean="0"/>
              <a:pPr/>
              <a:t>34</a:t>
            </a:fld>
            <a:endParaRPr lang="en-US"/>
          </a:p>
        </p:txBody>
      </p:sp>
    </p:spTree>
    <p:extLst>
      <p:ext uri="{BB962C8B-B14F-4D97-AF65-F5344CB8AC3E}">
        <p14:creationId xmlns:p14="http://schemas.microsoft.com/office/powerpoint/2010/main" val="8373398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lifetime = time from allocation to deallocation.</a:t>
            </a:r>
          </a:p>
          <a:p>
            <a:r>
              <a:rPr lang="en-US" dirty="0"/>
              <a:t>	- </a:t>
            </a:r>
            <a:r>
              <a:rPr lang="en-US" dirty="0" err="1"/>
              <a:t>arg</a:t>
            </a:r>
            <a:r>
              <a:rPr lang="en-US" dirty="0"/>
              <a:t> is allocated at the beginning of the function (by the caller) and deallocated at the end (in the epilogue)</a:t>
            </a:r>
          </a:p>
          <a:p>
            <a:r>
              <a:rPr lang="en-US" dirty="0"/>
              <a:t>	- ret is allocated by the prologue and deallocated by the epilogue</a:t>
            </a:r>
          </a:p>
          <a:p>
            <a:pPr marL="171450" indent="-171450">
              <a:buFontTx/>
              <a:buChar char="-"/>
            </a:pPr>
            <a:r>
              <a:rPr lang="en-US" dirty="0"/>
              <a:t>liveness is also distinct from its scope – notice for ‘</a:t>
            </a:r>
            <a:r>
              <a:rPr lang="en-US" dirty="0" err="1"/>
              <a:t>arg</a:t>
            </a:r>
            <a:r>
              <a:rPr lang="en-US" dirty="0"/>
              <a:t>’, the scope lasts until the end of the function, but the liveness only lasts until the “let ret = </a:t>
            </a:r>
            <a:r>
              <a:rPr lang="en-US" dirty="0" err="1"/>
              <a:t>arg</a:t>
            </a:r>
            <a:r>
              <a:rPr lang="en-US" dirty="0"/>
              <a:t> + 10” line.</a:t>
            </a:r>
          </a:p>
          <a:p>
            <a:pPr marL="171450" indent="-171450">
              <a:buFontTx/>
              <a:buChar char="-"/>
            </a:pPr>
            <a:endParaRPr lang="en-US" dirty="0"/>
          </a:p>
          <a:p>
            <a:pPr marL="0" indent="0">
              <a:buFontTx/>
              <a:buNone/>
            </a:pPr>
            <a:r>
              <a:rPr lang="en-US" dirty="0"/>
              <a:t>[diagram: a small function with one argument arg. it does “ret = </a:t>
            </a:r>
            <a:r>
              <a:rPr lang="en-US" dirty="0" err="1"/>
              <a:t>arg</a:t>
            </a:r>
            <a:r>
              <a:rPr lang="en-US" dirty="0"/>
              <a:t> + 10”, then prints ret, then returns ret. </a:t>
            </a:r>
            <a:r>
              <a:rPr lang="en-US" dirty="0" err="1"/>
              <a:t>arg’s</a:t>
            </a:r>
            <a:r>
              <a:rPr lang="en-US" dirty="0"/>
              <a:t> liveness starts at the beginning of the function and ends after the “ret = </a:t>
            </a:r>
            <a:r>
              <a:rPr lang="en-US" dirty="0" err="1"/>
              <a:t>arg</a:t>
            </a:r>
            <a:r>
              <a:rPr lang="en-US" dirty="0"/>
              <a:t> + 10” line because that is the last time it’s used. </a:t>
            </a:r>
            <a:r>
              <a:rPr lang="en-US" dirty="0" err="1"/>
              <a:t>ret’s</a:t>
            </a:r>
            <a:r>
              <a:rPr lang="en-US" dirty="0"/>
              <a:t> liveness starts at the “ret = </a:t>
            </a:r>
            <a:r>
              <a:rPr lang="en-US" dirty="0" err="1"/>
              <a:t>arg</a:t>
            </a:r>
            <a:r>
              <a:rPr lang="en-US" dirty="0"/>
              <a:t> + 10” line and ends at the “return ret”.]</a:t>
            </a:r>
          </a:p>
        </p:txBody>
      </p:sp>
      <p:sp>
        <p:nvSpPr>
          <p:cNvPr id="4" name="Slide Number Placeholder 3"/>
          <p:cNvSpPr>
            <a:spLocks noGrp="1"/>
          </p:cNvSpPr>
          <p:nvPr>
            <p:ph type="sldNum" sz="quarter" idx="5"/>
          </p:nvPr>
        </p:nvSpPr>
        <p:spPr/>
        <p:txBody>
          <a:bodyPr/>
          <a:lstStyle/>
          <a:p>
            <a:fld id="{999729AB-B77D-48AE-AA10-D1BD2B4D03EA}" type="slidenum">
              <a:rPr lang="en-US" smtClean="0"/>
              <a:pPr/>
              <a:t>36</a:t>
            </a:fld>
            <a:endParaRPr lang="en-US"/>
          </a:p>
        </p:txBody>
      </p:sp>
    </p:spTree>
    <p:extLst>
      <p:ext uri="{BB962C8B-B14F-4D97-AF65-F5344CB8AC3E}">
        <p14:creationId xmlns:p14="http://schemas.microsoft.com/office/powerpoint/2010/main" val="12508625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SSA rewrites the code so each variable is only assigned </a:t>
            </a:r>
            <a:r>
              <a:rPr lang="en-US" i="1" dirty="0"/>
              <a:t>once.</a:t>
            </a:r>
            <a:endParaRPr lang="en-US" i="0" dirty="0"/>
          </a:p>
          <a:p>
            <a:r>
              <a:rPr lang="en-US" i="0" dirty="0"/>
              <a:t>	- "Pruned" SSA uses variable liveness to reduce the number of phi functions (</a:t>
            </a:r>
            <a:r>
              <a:rPr lang="en-US" i="0" dirty="0" err="1"/>
              <a:t>ɸ</a:t>
            </a:r>
            <a:r>
              <a:rPr lang="en-US" i="0" dirty="0"/>
              <a:t>()) needed.</a:t>
            </a:r>
          </a:p>
          <a:p>
            <a:r>
              <a:rPr lang="en-US" i="0" dirty="0"/>
              <a:t>	- not all SSA algorithms require liveness though!</a:t>
            </a:r>
          </a:p>
          <a:p>
            <a:endParaRPr lang="en-US" i="0" dirty="0"/>
          </a:p>
          <a:p>
            <a:r>
              <a:rPr lang="en-US" i="0" dirty="0"/>
              <a:t>[diagram: the code “x = 10; print(x); print(“?”); x = 20; print(x);”. here, x has two disjoint liveness ranges. first is from “x = 10” to the first “print(x)”. then it is “dead” for the “print(“?”)” line. then it is “resurrected” on the “x = 20” line, and that liveness range lasts until the second “print(x)”.]</a:t>
            </a:r>
            <a:endParaRPr lang="en-US" i="1"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37</a:t>
            </a:fld>
            <a:endParaRPr lang="en-US"/>
          </a:p>
        </p:txBody>
      </p:sp>
    </p:spTree>
    <p:extLst>
      <p:ext uri="{BB962C8B-B14F-4D97-AF65-F5344CB8AC3E}">
        <p14:creationId xmlns:p14="http://schemas.microsoft.com/office/powerpoint/2010/main" val="11784130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liveness ranges of </a:t>
            </a:r>
            <a:r>
              <a:rPr lang="en-US" b="1" dirty="0"/>
              <a:t>l</a:t>
            </a:r>
            <a:r>
              <a:rPr lang="en-US" dirty="0"/>
              <a:t> and </a:t>
            </a:r>
            <a:r>
              <a:rPr lang="en-US" b="1" dirty="0" err="1"/>
              <a:t>val</a:t>
            </a:r>
            <a:r>
              <a:rPr lang="en-US" b="1" dirty="0"/>
              <a:t> </a:t>
            </a:r>
            <a:r>
              <a:rPr lang="en-US" b="0" dirty="0"/>
              <a:t>cover the loop because you keep accessing them on subsequent loop iterations</a:t>
            </a:r>
          </a:p>
          <a:p>
            <a:r>
              <a:rPr lang="en-US" b="0" dirty="0"/>
              <a:t>	- it looks a little weird when the ranges are put on the source code, but it makes more sense if you think about it as a CFG</a:t>
            </a:r>
          </a:p>
          <a:p>
            <a:r>
              <a:rPr lang="en-US" b="0" dirty="0"/>
              <a:t>	- remember that there is an edge connecting the bottom of the loop to the top – that's what keeps l and </a:t>
            </a:r>
            <a:r>
              <a:rPr lang="en-US" b="0" dirty="0" err="1"/>
              <a:t>val</a:t>
            </a:r>
            <a:r>
              <a:rPr lang="en-US" b="0" dirty="0"/>
              <a:t> live through the loop</a:t>
            </a:r>
          </a:p>
          <a:p>
            <a:r>
              <a:rPr lang="en-US" b="0" dirty="0"/>
              <a:t>- if you’ve taken/are in 1550 and learned about page replacement and working sets… </a:t>
            </a:r>
            <a:r>
              <a:rPr lang="en-US" b="0" dirty="0" err="1"/>
              <a:t>ooooh</a:t>
            </a:r>
            <a:r>
              <a:rPr lang="en-US" b="0" dirty="0"/>
              <a:t> there’s a nice connection! the live variables at any point are like the “working set”.</a:t>
            </a:r>
          </a:p>
          <a:p>
            <a:endParaRPr lang="en-US" b="0" dirty="0"/>
          </a:p>
          <a:p>
            <a:r>
              <a:rPr lang="en-US" b="0" dirty="0"/>
              <a:t>[diagram: a longer function with two arguments, l and </a:t>
            </a:r>
            <a:r>
              <a:rPr lang="en-US" b="0" dirty="0" err="1"/>
              <a:t>val</a:t>
            </a:r>
            <a:r>
              <a:rPr lang="en-US" b="0" dirty="0"/>
              <a:t>, and four locals, n, found, </a:t>
            </a:r>
            <a:r>
              <a:rPr lang="en-US" b="0" dirty="0" err="1"/>
              <a:t>i</a:t>
            </a:r>
            <a:r>
              <a:rPr lang="en-US" b="0" dirty="0"/>
              <a:t>, and obj. the liveness ranges of these variables are of varying lengths, and in many places they overlap, so multiple variables are live at the same time. this has important implications for register allocation, because it kind of tells us which variables we are “working with” at any given time.]</a:t>
            </a:r>
          </a:p>
        </p:txBody>
      </p:sp>
      <p:sp>
        <p:nvSpPr>
          <p:cNvPr id="4" name="Slide Number Placeholder 3"/>
          <p:cNvSpPr>
            <a:spLocks noGrp="1"/>
          </p:cNvSpPr>
          <p:nvPr>
            <p:ph type="sldNum" sz="quarter" idx="5"/>
          </p:nvPr>
        </p:nvSpPr>
        <p:spPr/>
        <p:txBody>
          <a:bodyPr/>
          <a:lstStyle/>
          <a:p>
            <a:fld id="{999729AB-B77D-48AE-AA10-D1BD2B4D03EA}" type="slidenum">
              <a:rPr lang="en-US" smtClean="0"/>
              <a:pPr/>
              <a:t>38</a:t>
            </a:fld>
            <a:endParaRPr lang="en-US"/>
          </a:p>
        </p:txBody>
      </p:sp>
    </p:spTree>
    <p:extLst>
      <p:ext uri="{BB962C8B-B14F-4D97-AF65-F5344CB8AC3E}">
        <p14:creationId xmlns:p14="http://schemas.microsoft.com/office/powerpoint/2010/main" val="10801146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a failed attempt at determining the liveness range of x by doing a forward analysis on a short piece of code. first we assume x is dead. then we see “x = 5”, a def, so it must be live after it, right? then we see a use of x in “print(x)”. so yeah, it’s definitely live between “x = 5” and “print(x)”. but is it live after the print? </a:t>
            </a:r>
            <a:r>
              <a:rPr lang="en-US" dirty="0" err="1"/>
              <a:t>uhh</a:t>
            </a:r>
            <a:r>
              <a:rPr lang="en-US" dirty="0"/>
              <a:t>… it’s not clear. so we assume it remains alive. a few lines later, we see another use of x in “z = x == y”. okay, good, so it is still alive, we guessed right. then the last line of code is ”print(z)”… we got to the end of the code, and we’re still assuming that x is live, but we messed up. the last use was in “z = x == y”, so it should be dead after that. this algorithm doesn’t work.]</a:t>
            </a:r>
          </a:p>
        </p:txBody>
      </p:sp>
      <p:sp>
        <p:nvSpPr>
          <p:cNvPr id="4" name="Slide Number Placeholder 3"/>
          <p:cNvSpPr>
            <a:spLocks noGrp="1"/>
          </p:cNvSpPr>
          <p:nvPr>
            <p:ph type="sldNum" sz="quarter" idx="5"/>
          </p:nvPr>
        </p:nvSpPr>
        <p:spPr/>
        <p:txBody>
          <a:bodyPr/>
          <a:lstStyle/>
          <a:p>
            <a:fld id="{999729AB-B77D-48AE-AA10-D1BD2B4D03EA}" type="slidenum">
              <a:rPr lang="en-US" smtClean="0"/>
              <a:pPr/>
              <a:t>39</a:t>
            </a:fld>
            <a:endParaRPr lang="en-US"/>
          </a:p>
        </p:txBody>
      </p:sp>
    </p:spTree>
    <p:extLst>
      <p:ext uri="{BB962C8B-B14F-4D97-AF65-F5344CB8AC3E}">
        <p14:creationId xmlns:p14="http://schemas.microsoft.com/office/powerpoint/2010/main" val="3206266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3" name="Subtitle 2"/>
          <p:cNvSpPr>
            <a:spLocks noGrp="1"/>
          </p:cNvSpPr>
          <p:nvPr>
            <p:ph type="subTitle" idx="1"/>
          </p:nvPr>
        </p:nvSpPr>
        <p:spPr>
          <a:xfrm>
            <a:off x="685800" y="3177645"/>
            <a:ext cx="7772400" cy="1460500"/>
          </a:xfrm>
          <a:noFill/>
        </p:spPr>
        <p:txBody>
          <a:bodyPr>
            <a:normAutofit/>
          </a:bodyPr>
          <a:lstStyle>
            <a:lvl1pPr marL="0" indent="0" algn="l">
              <a:buNone/>
              <a:defRPr sz="2400">
                <a:solidFill>
                  <a:schemeClr val="bg1"/>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no anim)">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279261"/>
            <a:ext cx="4041775"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4645028" y="1812396"/>
            <a:ext cx="4041775"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5296960"/>
            <a:ext cx="2133600" cy="304271"/>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cs-CZ"/>
              <a:t>CS447</a:t>
            </a:r>
            <a:endParaRPr lang="en-US"/>
          </a:p>
        </p:txBody>
      </p:sp>
      <p:sp>
        <p:nvSpPr>
          <p:cNvPr id="9" name="Slide Number Placeholder 8"/>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5296960"/>
            <a:ext cx="2133600" cy="304271"/>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cs-CZ"/>
              <a:t>CS447</a:t>
            </a:r>
            <a:endParaRPr lang="en-US"/>
          </a:p>
        </p:txBody>
      </p:sp>
      <p:sp>
        <p:nvSpPr>
          <p:cNvPr id="5" name="Slide Number Placeholder 4"/>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5296960"/>
            <a:ext cx="2133600" cy="304271"/>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cs-CZ"/>
              <a:t>CS447</a:t>
            </a:r>
            <a:endParaRPr lang="en-US"/>
          </a:p>
        </p:txBody>
      </p:sp>
      <p:sp>
        <p:nvSpPr>
          <p:cNvPr id="4" name="Slide Number Placeholder 3"/>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27541"/>
            <a:ext cx="3008313" cy="968376"/>
          </a:xfrm>
        </p:spPr>
        <p:txBody>
          <a:bodyPr anchor="b"/>
          <a:lstStyle>
            <a:lvl1pPr algn="l">
              <a:defRPr sz="1800" b="1"/>
            </a:lvl1pPr>
          </a:lstStyle>
          <a:p>
            <a:r>
              <a:rPr lang="en-US"/>
              <a:t>Click to edit Master title style</a:t>
            </a:r>
          </a:p>
        </p:txBody>
      </p:sp>
      <p:sp>
        <p:nvSpPr>
          <p:cNvPr id="3" name="Content Placeholder 2"/>
          <p:cNvSpPr>
            <a:spLocks noGrp="1"/>
          </p:cNvSpPr>
          <p:nvPr>
            <p:ph idx="1"/>
          </p:nvPr>
        </p:nvSpPr>
        <p:spPr>
          <a:xfrm>
            <a:off x="3575050" y="227544"/>
            <a:ext cx="5111750" cy="4877594"/>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195919"/>
            <a:ext cx="3008313" cy="39092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18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en-US" dirty="0"/>
              <a:t>Drag picture to placeholder or click icon to add</a:t>
            </a:r>
          </a:p>
        </p:txBody>
      </p:sp>
      <p:sp>
        <p:nvSpPr>
          <p:cNvPr id="4" name="Text Placeholder 3"/>
          <p:cNvSpPr>
            <a:spLocks noGrp="1"/>
          </p:cNvSpPr>
          <p:nvPr>
            <p:ph type="body" sz="half" idx="2"/>
          </p:nvPr>
        </p:nvSpPr>
        <p:spPr>
          <a:xfrm>
            <a:off x="1792288" y="4472783"/>
            <a:ext cx="5486400" cy="6707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7"/>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7"/>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Rectangle 8"/>
          <p:cNvSpPr/>
          <p:nvPr/>
        </p:nvSpPr>
        <p:spPr>
          <a:xfrm>
            <a:off x="0" y="5600700"/>
            <a:ext cx="9144000" cy="114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7" name="Rectangle 6"/>
          <p:cNvSpPr/>
          <p:nvPr/>
        </p:nvSpPr>
        <p:spPr>
          <a:xfrm>
            <a:off x="0" y="0"/>
            <a:ext cx="9144000" cy="495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2" name="Title Placeholder 1"/>
          <p:cNvSpPr>
            <a:spLocks noGrp="1"/>
          </p:cNvSpPr>
          <p:nvPr>
            <p:ph type="title"/>
          </p:nvPr>
        </p:nvSpPr>
        <p:spPr>
          <a:xfrm>
            <a:off x="152400" y="0"/>
            <a:ext cx="8991600" cy="4953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52400" y="495301"/>
            <a:ext cx="8991600" cy="4801659"/>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0" y="5296960"/>
            <a:ext cx="1219200" cy="304271"/>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cs-CZ"/>
              <a:t>CS447</a:t>
            </a:r>
            <a:endParaRPr lang="en-US" dirty="0"/>
          </a:p>
        </p:txBody>
      </p:sp>
      <p:sp>
        <p:nvSpPr>
          <p:cNvPr id="6" name="Slide Number Placeholder 5"/>
          <p:cNvSpPr>
            <a:spLocks noGrp="1"/>
          </p:cNvSpPr>
          <p:nvPr>
            <p:ph type="sldNum" sz="quarter" idx="4"/>
          </p:nvPr>
        </p:nvSpPr>
        <p:spPr>
          <a:xfrm>
            <a:off x="8458200" y="5296960"/>
            <a:ext cx="685800" cy="304271"/>
          </a:xfrm>
          <a:prstGeom prst="rect">
            <a:avLst/>
          </a:prstGeom>
        </p:spPr>
        <p:txBody>
          <a:bodyPr vert="horz" lIns="91440" tIns="45720" rIns="91440" bIns="45720" rtlCol="0" anchor="ctr"/>
          <a:lstStyle>
            <a:lvl1pPr algn="r">
              <a:defRPr sz="1200">
                <a:solidFill>
                  <a:schemeClr val="tx1">
                    <a:tint val="75000"/>
                  </a:schemeClr>
                </a:solidFill>
              </a:defRPr>
            </a:lvl1pPr>
          </a:lstStyle>
          <a:p>
            <a:fld id="{3552B95B-556F-44BD-91A5-D80C1B9E2BB3}" type="slidenum">
              <a:rPr lang="en-US" smtClean="0"/>
              <a:pPr/>
              <a:t>‹#›</a:t>
            </a:fld>
            <a:endParaRPr lang="en-US"/>
          </a:p>
        </p:txBody>
      </p:sp>
    </p:spTree>
    <p:extLst>
      <p:ext uri="{BB962C8B-B14F-4D97-AF65-F5344CB8AC3E}">
        <p14:creationId xmlns:p14="http://schemas.microsoft.com/office/powerpoint/2010/main" val="34903523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ransition/>
  <p:hf hdr="0" ftr="0" dt="0"/>
  <p:txStyles>
    <p:titleStyle>
      <a:lvl1pPr algn="l" defTabSz="822960" rtl="0" eaLnBrk="1" latinLnBrk="0" hangingPunct="1">
        <a:spcBef>
          <a:spcPct val="0"/>
        </a:spcBef>
        <a:buNone/>
        <a:defRPr sz="2800" b="1" kern="1200">
          <a:solidFill>
            <a:schemeClr val="bg1"/>
          </a:solidFill>
          <a:latin typeface="+mj-lt"/>
          <a:ea typeface="GulimChe" pitchFamily="49" charset="-127"/>
          <a:cs typeface="MoolBoran" pitchFamily="34" charset="0"/>
        </a:defRPr>
      </a:lvl1pPr>
    </p:titleStyle>
    <p:bodyStyle>
      <a:lvl1pPr marL="204312" indent="-204312" algn="l" defTabSz="822960" rtl="0" eaLnBrk="1" latinLnBrk="0" hangingPunct="1">
        <a:spcBef>
          <a:spcPts val="0"/>
        </a:spcBef>
        <a:buSzPct val="150000"/>
        <a:buFont typeface="Arial" pitchFamily="34" charset="0"/>
        <a:buChar char="•"/>
        <a:defRPr sz="2200" kern="1200">
          <a:solidFill>
            <a:schemeClr val="tx1"/>
          </a:solidFill>
          <a:latin typeface="+mn-lt"/>
          <a:ea typeface="+mn-ea"/>
          <a:cs typeface="+mn-cs"/>
        </a:defRPr>
      </a:lvl1pPr>
      <a:lvl2pPr marL="415767" indent="-207170" algn="l" defTabSz="822960" rtl="0" eaLnBrk="1" latinLnBrk="0" hangingPunct="1">
        <a:spcBef>
          <a:spcPts val="0"/>
        </a:spcBef>
        <a:buFont typeface="Courier New" pitchFamily="49" charset="0"/>
        <a:buChar char="o"/>
        <a:defRPr sz="2200" kern="1200">
          <a:solidFill>
            <a:schemeClr val="tx1"/>
          </a:solidFill>
          <a:latin typeface="+mn-lt"/>
          <a:ea typeface="+mn-ea"/>
          <a:cs typeface="+mn-cs"/>
        </a:defRPr>
      </a:lvl2pPr>
      <a:lvl3pPr marL="620078" indent="-205740" algn="l" defTabSz="822960" rtl="0" eaLnBrk="1" latinLnBrk="0" hangingPunct="1">
        <a:spcBef>
          <a:spcPts val="0"/>
        </a:spcBef>
        <a:buFont typeface="Wingdings" pitchFamily="2" charset="2"/>
        <a:buChar char="§"/>
        <a:defRPr sz="2200" kern="1200">
          <a:solidFill>
            <a:schemeClr val="tx1"/>
          </a:solidFill>
          <a:latin typeface="+mn-lt"/>
          <a:ea typeface="+mn-ea"/>
          <a:cs typeface="+mn-cs"/>
        </a:defRPr>
      </a:lvl3pPr>
      <a:lvl4pPr marL="821532"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4pPr>
      <a:lvl5pPr marL="1028700"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Global Optimization</a:t>
            </a:r>
            <a:endParaRPr lang="en-US" sz="2400" dirty="0"/>
          </a:p>
        </p:txBody>
      </p:sp>
      <p:sp>
        <p:nvSpPr>
          <p:cNvPr id="3" name="Subtitle 2"/>
          <p:cNvSpPr>
            <a:spLocks noGrp="1"/>
          </p:cNvSpPr>
          <p:nvPr>
            <p:ph type="subTitle" idx="1"/>
          </p:nvPr>
        </p:nvSpPr>
        <p:spPr/>
        <p:txBody>
          <a:bodyPr/>
          <a:lstStyle/>
          <a:p>
            <a:r>
              <a:rPr lang="en-US" dirty="0"/>
              <a:t>CS 1622</a:t>
            </a:r>
          </a:p>
          <a:p>
            <a:r>
              <a:rPr lang="en-US" dirty="0"/>
              <a:t>Jarrett Billingsley</a:t>
            </a:r>
          </a:p>
        </p:txBody>
      </p:sp>
    </p:spTree>
    <p:extLst>
      <p:ext uri="{BB962C8B-B14F-4D97-AF65-F5344CB8AC3E}">
        <p14:creationId xmlns:p14="http://schemas.microsoft.com/office/powerpoint/2010/main" val="361208656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017CE-A372-C744-8763-80C56E421E87}"/>
              </a:ext>
            </a:extLst>
          </p:cNvPr>
          <p:cNvSpPr>
            <a:spLocks noGrp="1"/>
          </p:cNvSpPr>
          <p:nvPr>
            <p:ph type="title"/>
          </p:nvPr>
        </p:nvSpPr>
        <p:spPr/>
        <p:txBody>
          <a:bodyPr/>
          <a:lstStyle/>
          <a:p>
            <a:r>
              <a:rPr lang="en-US" dirty="0"/>
              <a:t>Class Announcements</a:t>
            </a:r>
          </a:p>
        </p:txBody>
      </p:sp>
      <p:sp>
        <p:nvSpPr>
          <p:cNvPr id="3" name="Content Placeholder 2">
            <a:extLst>
              <a:ext uri="{FF2B5EF4-FFF2-40B4-BE49-F238E27FC236}">
                <a16:creationId xmlns:a16="http://schemas.microsoft.com/office/drawing/2014/main" id="{F4FEBBF7-1C6E-294A-B5C4-174BB20AAFA9}"/>
              </a:ext>
            </a:extLst>
          </p:cNvPr>
          <p:cNvSpPr>
            <a:spLocks noGrp="1"/>
          </p:cNvSpPr>
          <p:nvPr>
            <p:ph idx="1"/>
          </p:nvPr>
        </p:nvSpPr>
        <p:spPr/>
        <p:txBody>
          <a:bodyPr/>
          <a:lstStyle/>
          <a:p>
            <a:r>
              <a:rPr lang="en-US" b="1" dirty="0"/>
              <a:t>exam 1 grades </a:t>
            </a:r>
            <a:r>
              <a:rPr lang="en-US" dirty="0"/>
              <a:t>were posted on Monday, if you missed that</a:t>
            </a:r>
          </a:p>
          <a:p>
            <a:pPr lvl="1"/>
            <a:r>
              <a:rPr lang="en-US" dirty="0"/>
              <a:t>if you have questions about it, please ask me in private</a:t>
            </a:r>
          </a:p>
          <a:p>
            <a:r>
              <a:rPr lang="en-US" dirty="0"/>
              <a:t>don’t forget project 4 is due on Saturday (or late Sunday)!</a:t>
            </a:r>
          </a:p>
        </p:txBody>
      </p:sp>
      <p:sp>
        <p:nvSpPr>
          <p:cNvPr id="4" name="Slide Number Placeholder 3">
            <a:extLst>
              <a:ext uri="{FF2B5EF4-FFF2-40B4-BE49-F238E27FC236}">
                <a16:creationId xmlns:a16="http://schemas.microsoft.com/office/drawing/2014/main" id="{05CC32BD-B01F-C646-91E9-D5AAEE75AC36}"/>
              </a:ext>
            </a:extLst>
          </p:cNvPr>
          <p:cNvSpPr>
            <a:spLocks noGrp="1"/>
          </p:cNvSpPr>
          <p:nvPr>
            <p:ph type="sldNum" sz="quarter" idx="12"/>
          </p:nvPr>
        </p:nvSpPr>
        <p:spPr/>
        <p:txBody>
          <a:bodyPr/>
          <a:lstStyle/>
          <a:p>
            <a:fld id="{3552B95B-556F-44BD-91A5-D80C1B9E2BB3}" type="slidenum">
              <a:rPr lang="en-US" smtClean="0"/>
              <a:pPr/>
              <a:t>2</a:t>
            </a:fld>
            <a:endParaRPr lang="en-US"/>
          </a:p>
        </p:txBody>
      </p:sp>
    </p:spTree>
    <p:extLst>
      <p:ext uri="{BB962C8B-B14F-4D97-AF65-F5344CB8AC3E}">
        <p14:creationId xmlns:p14="http://schemas.microsoft.com/office/powerpoint/2010/main" val="243397440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5595B-6732-6240-9E8F-15A0E25257D8}"/>
              </a:ext>
            </a:extLst>
          </p:cNvPr>
          <p:cNvSpPr>
            <a:spLocks noGrp="1"/>
          </p:cNvSpPr>
          <p:nvPr>
            <p:ph type="ctrTitle"/>
          </p:nvPr>
        </p:nvSpPr>
        <p:spPr/>
        <p:txBody>
          <a:bodyPr/>
          <a:lstStyle/>
          <a:p>
            <a:r>
              <a:rPr lang="en-US" dirty="0"/>
              <a:t>From Local to Global</a:t>
            </a:r>
          </a:p>
        </p:txBody>
      </p:sp>
      <p:sp>
        <p:nvSpPr>
          <p:cNvPr id="3" name="Slide Number Placeholder 2">
            <a:extLst>
              <a:ext uri="{FF2B5EF4-FFF2-40B4-BE49-F238E27FC236}">
                <a16:creationId xmlns:a16="http://schemas.microsoft.com/office/drawing/2014/main" id="{12D501BB-E11D-2844-BEB9-8799EF5E4C4B}"/>
              </a:ext>
            </a:extLst>
          </p:cNvPr>
          <p:cNvSpPr>
            <a:spLocks noGrp="1"/>
          </p:cNvSpPr>
          <p:nvPr>
            <p:ph type="sldNum" sz="quarter" idx="12"/>
          </p:nvPr>
        </p:nvSpPr>
        <p:spPr/>
        <p:txBody>
          <a:bodyPr/>
          <a:lstStyle/>
          <a:p>
            <a:fld id="{3552B95B-556F-44BD-91A5-D80C1B9E2BB3}" type="slidenum">
              <a:rPr lang="en-US" smtClean="0"/>
              <a:pPr/>
              <a:t>3</a:t>
            </a:fld>
            <a:endParaRPr lang="en-US"/>
          </a:p>
        </p:txBody>
      </p:sp>
    </p:spTree>
    <p:extLst>
      <p:ext uri="{BB962C8B-B14F-4D97-AF65-F5344CB8AC3E}">
        <p14:creationId xmlns:p14="http://schemas.microsoft.com/office/powerpoint/2010/main" val="166858400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75DA8-5D1B-A044-8428-355DA0ED4E35}"/>
              </a:ext>
            </a:extLst>
          </p:cNvPr>
          <p:cNvSpPr>
            <a:spLocks noGrp="1"/>
          </p:cNvSpPr>
          <p:nvPr>
            <p:ph type="title"/>
          </p:nvPr>
        </p:nvSpPr>
        <p:spPr/>
        <p:txBody>
          <a:bodyPr/>
          <a:lstStyle/>
          <a:p>
            <a:r>
              <a:rPr lang="en-US" dirty="0"/>
              <a:t>Local optimization only gets  you so far</a:t>
            </a:r>
          </a:p>
        </p:txBody>
      </p:sp>
      <p:sp>
        <p:nvSpPr>
          <p:cNvPr id="3" name="Content Placeholder 2">
            <a:extLst>
              <a:ext uri="{FF2B5EF4-FFF2-40B4-BE49-F238E27FC236}">
                <a16:creationId xmlns:a16="http://schemas.microsoft.com/office/drawing/2014/main" id="{5F900D99-83B7-F24D-A14F-9CFB7487BE20}"/>
              </a:ext>
            </a:extLst>
          </p:cNvPr>
          <p:cNvSpPr>
            <a:spLocks noGrp="1"/>
          </p:cNvSpPr>
          <p:nvPr>
            <p:ph idx="1"/>
          </p:nvPr>
        </p:nvSpPr>
        <p:spPr>
          <a:xfrm>
            <a:off x="152400" y="495301"/>
            <a:ext cx="8991600" cy="838199"/>
          </a:xfrm>
        </p:spPr>
        <p:txBody>
          <a:bodyPr/>
          <a:lstStyle/>
          <a:p>
            <a:r>
              <a:rPr lang="en-US" dirty="0"/>
              <a:t>last time we saw that optimizations like </a:t>
            </a:r>
            <a:r>
              <a:rPr lang="en-US" b="1" dirty="0"/>
              <a:t>copy propagation </a:t>
            </a:r>
            <a:r>
              <a:rPr lang="en-US" dirty="0"/>
              <a:t>and </a:t>
            </a:r>
            <a:r>
              <a:rPr lang="en-US" b="1" dirty="0"/>
              <a:t>dead store elimination </a:t>
            </a:r>
            <a:r>
              <a:rPr lang="en-US" dirty="0"/>
              <a:t>could greatly simplify our code.</a:t>
            </a:r>
          </a:p>
        </p:txBody>
      </p:sp>
      <p:sp>
        <p:nvSpPr>
          <p:cNvPr id="4" name="Slide Number Placeholder 3">
            <a:extLst>
              <a:ext uri="{FF2B5EF4-FFF2-40B4-BE49-F238E27FC236}">
                <a16:creationId xmlns:a16="http://schemas.microsoft.com/office/drawing/2014/main" id="{FF40321E-FAF1-B24C-8D94-6F6900AA16DE}"/>
              </a:ext>
            </a:extLst>
          </p:cNvPr>
          <p:cNvSpPr>
            <a:spLocks noGrp="1"/>
          </p:cNvSpPr>
          <p:nvPr>
            <p:ph type="sldNum" sz="quarter" idx="12"/>
          </p:nvPr>
        </p:nvSpPr>
        <p:spPr/>
        <p:txBody>
          <a:bodyPr/>
          <a:lstStyle/>
          <a:p>
            <a:fld id="{3552B95B-556F-44BD-91A5-D80C1B9E2BB3}" type="slidenum">
              <a:rPr lang="en-US" smtClean="0"/>
              <a:pPr/>
              <a:t>4</a:t>
            </a:fld>
            <a:endParaRPr lang="en-US"/>
          </a:p>
        </p:txBody>
      </p:sp>
      <p:sp>
        <p:nvSpPr>
          <p:cNvPr id="5" name="TextBox 4">
            <a:extLst>
              <a:ext uri="{FF2B5EF4-FFF2-40B4-BE49-F238E27FC236}">
                <a16:creationId xmlns:a16="http://schemas.microsoft.com/office/drawing/2014/main" id="{F446F976-078C-D548-8053-CB3ABD2F04AD}"/>
              </a:ext>
            </a:extLst>
          </p:cNvPr>
          <p:cNvSpPr txBox="1"/>
          <p:nvPr/>
        </p:nvSpPr>
        <p:spPr>
          <a:xfrm>
            <a:off x="228600" y="1485900"/>
            <a:ext cx="2159566" cy="707886"/>
          </a:xfrm>
          <a:prstGeom prst="rect">
            <a:avLst/>
          </a:prstGeom>
          <a:noFill/>
        </p:spPr>
        <p:txBody>
          <a:bodyPr wrap="none" rtlCol="0">
            <a:spAutoFit/>
          </a:bodyPr>
          <a:lstStyle/>
          <a:p>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x = </a:t>
            </a:r>
            <a:r>
              <a:rPr lang="en-US" sz="2000" b="1" dirty="0">
                <a:solidFill>
                  <a:schemeClr val="accent3">
                    <a:lumMod val="75000"/>
                  </a:schemeClr>
                </a:solidFill>
                <a:latin typeface="Consolas" panose="020B0609020204030204" pitchFamily="49" charset="0"/>
                <a:cs typeface="Consolas" panose="020B0609020204030204" pitchFamily="49" charset="0"/>
              </a:rPr>
              <a:t>5</a:t>
            </a:r>
            <a:r>
              <a:rPr lang="en-US" sz="2000" b="1" dirty="0">
                <a:latin typeface="Consolas" panose="020B0609020204030204" pitchFamily="49" charset="0"/>
                <a:cs typeface="Consolas" panose="020B0609020204030204" pitchFamily="49" charset="0"/>
              </a:rPr>
              <a:t> * </a:t>
            </a:r>
            <a:r>
              <a:rPr lang="en-US" sz="2000" b="1" dirty="0">
                <a:solidFill>
                  <a:schemeClr val="accent3">
                    <a:lumMod val="75000"/>
                  </a:schemeClr>
                </a:solidFill>
                <a:latin typeface="Consolas" panose="020B0609020204030204" pitchFamily="49" charset="0"/>
                <a:cs typeface="Consolas" panose="020B0609020204030204" pitchFamily="49" charset="0"/>
              </a:rPr>
              <a:t>5</a:t>
            </a:r>
            <a:r>
              <a:rPr lang="en-US" sz="2000" b="1" dirty="0">
                <a:latin typeface="Consolas" panose="020B0609020204030204" pitchFamily="49" charset="0"/>
                <a:cs typeface="Consolas" panose="020B0609020204030204" pitchFamily="49" charset="0"/>
              </a:rPr>
              <a:t>;</a:t>
            </a:r>
          </a:p>
          <a:p>
            <a:r>
              <a:rPr lang="en-US" sz="2000" b="1" dirty="0">
                <a:solidFill>
                  <a:srgbClr val="FF0000"/>
                </a:solidFill>
                <a:latin typeface="Consolas" panose="020B0609020204030204" pitchFamily="49" charset="0"/>
                <a:cs typeface="Consolas" panose="020B0609020204030204" pitchFamily="49" charset="0"/>
              </a:rPr>
              <a:t>return</a:t>
            </a:r>
            <a:r>
              <a:rPr lang="en-US" sz="2000" b="1" dirty="0">
                <a:latin typeface="Consolas" panose="020B0609020204030204" pitchFamily="49" charset="0"/>
                <a:cs typeface="Consolas" panose="020B0609020204030204" pitchFamily="49" charset="0"/>
              </a:rPr>
              <a:t> x;</a:t>
            </a:r>
          </a:p>
        </p:txBody>
      </p:sp>
      <p:sp>
        <p:nvSpPr>
          <p:cNvPr id="6" name="TextBox 5">
            <a:extLst>
              <a:ext uri="{FF2B5EF4-FFF2-40B4-BE49-F238E27FC236}">
                <a16:creationId xmlns:a16="http://schemas.microsoft.com/office/drawing/2014/main" id="{912DD0E1-E67D-DD42-B56E-D3F09852878C}"/>
              </a:ext>
            </a:extLst>
          </p:cNvPr>
          <p:cNvSpPr txBox="1"/>
          <p:nvPr/>
        </p:nvSpPr>
        <p:spPr>
          <a:xfrm>
            <a:off x="3120258" y="1317859"/>
            <a:ext cx="1454244" cy="1015663"/>
          </a:xfrm>
          <a:prstGeom prst="rect">
            <a:avLst/>
          </a:prstGeom>
          <a:noFill/>
        </p:spPr>
        <p:txBody>
          <a:bodyPr wrap="none" rtlCol="0">
            <a:spAutoFit/>
          </a:bodyPr>
          <a:lstStyle/>
          <a:p>
            <a:r>
              <a:rPr lang="en-US" sz="2000" b="1" dirty="0">
                <a:latin typeface="Consolas" panose="020B0609020204030204" pitchFamily="49" charset="0"/>
                <a:cs typeface="Consolas" panose="020B0609020204030204" pitchFamily="49" charset="0"/>
              </a:rPr>
              <a:t>x = </a:t>
            </a:r>
            <a:r>
              <a:rPr lang="en-US" sz="2000" b="1" dirty="0">
                <a:solidFill>
                  <a:schemeClr val="accent3">
                    <a:lumMod val="75000"/>
                  </a:schemeClr>
                </a:solidFill>
                <a:latin typeface="Consolas" panose="020B0609020204030204" pitchFamily="49" charset="0"/>
                <a:cs typeface="Consolas" panose="020B0609020204030204" pitchFamily="49" charset="0"/>
              </a:rPr>
              <a:t>5</a:t>
            </a:r>
            <a:r>
              <a:rPr lang="en-US" sz="2000" b="1" dirty="0">
                <a:latin typeface="Consolas" panose="020B0609020204030204" pitchFamily="49" charset="0"/>
                <a:cs typeface="Consolas" panose="020B0609020204030204" pitchFamily="49" charset="0"/>
              </a:rPr>
              <a:t> * </a:t>
            </a:r>
            <a:r>
              <a:rPr lang="en-US" sz="2000" b="1" dirty="0">
                <a:solidFill>
                  <a:schemeClr val="accent3">
                    <a:lumMod val="75000"/>
                  </a:schemeClr>
                </a:solidFill>
                <a:latin typeface="Consolas" panose="020B0609020204030204" pitchFamily="49" charset="0"/>
                <a:cs typeface="Consolas" panose="020B0609020204030204" pitchFamily="49" charset="0"/>
              </a:rPr>
              <a:t>5</a:t>
            </a:r>
          </a:p>
          <a:p>
            <a:r>
              <a:rPr lang="en-US" sz="2000" b="1" dirty="0">
                <a:latin typeface="Consolas" panose="020B0609020204030204" pitchFamily="49" charset="0"/>
                <a:cs typeface="Consolas" panose="020B0609020204030204" pitchFamily="49" charset="0"/>
              </a:rPr>
              <a:t>$t0 = x</a:t>
            </a:r>
          </a:p>
          <a:p>
            <a:r>
              <a:rPr lang="en-US" sz="2000" b="1" dirty="0">
                <a:solidFill>
                  <a:srgbClr val="FF0000"/>
                </a:solidFill>
                <a:latin typeface="Consolas" panose="020B0609020204030204" pitchFamily="49" charset="0"/>
                <a:cs typeface="Consolas" panose="020B0609020204030204" pitchFamily="49" charset="0"/>
              </a:rPr>
              <a:t>return</a:t>
            </a:r>
          </a:p>
        </p:txBody>
      </p:sp>
      <p:sp>
        <p:nvSpPr>
          <p:cNvPr id="7" name="Down Arrow 6">
            <a:extLst>
              <a:ext uri="{FF2B5EF4-FFF2-40B4-BE49-F238E27FC236}">
                <a16:creationId xmlns:a16="http://schemas.microsoft.com/office/drawing/2014/main" id="{180B0870-9698-DD41-A3B1-023E5DDA33FF}"/>
              </a:ext>
            </a:extLst>
          </p:cNvPr>
          <p:cNvSpPr/>
          <p:nvPr/>
        </p:nvSpPr>
        <p:spPr>
          <a:xfrm rot="16200000">
            <a:off x="2487512" y="1579836"/>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449D787-C8AD-3544-B6C8-76BF5D9ABCBD}"/>
              </a:ext>
            </a:extLst>
          </p:cNvPr>
          <p:cNvSpPr txBox="1"/>
          <p:nvPr/>
        </p:nvSpPr>
        <p:spPr>
          <a:xfrm>
            <a:off x="5269697" y="1317859"/>
            <a:ext cx="1172116" cy="1015663"/>
          </a:xfrm>
          <a:prstGeom prst="rect">
            <a:avLst/>
          </a:prstGeom>
          <a:noFill/>
        </p:spPr>
        <p:txBody>
          <a:bodyPr wrap="none" rtlCol="0">
            <a:spAutoFit/>
          </a:bodyPr>
          <a:lstStyle/>
          <a:p>
            <a:r>
              <a:rPr lang="en-US" sz="2000" b="1" dirty="0">
                <a:latin typeface="Consolas" panose="020B0609020204030204" pitchFamily="49" charset="0"/>
                <a:cs typeface="Consolas" panose="020B0609020204030204" pitchFamily="49" charset="0"/>
              </a:rPr>
              <a:t>x = </a:t>
            </a:r>
            <a:r>
              <a:rPr lang="en-US" sz="2000" b="1" dirty="0">
                <a:solidFill>
                  <a:schemeClr val="accent3">
                    <a:lumMod val="75000"/>
                  </a:schemeClr>
                </a:solidFill>
                <a:latin typeface="Consolas" panose="020B0609020204030204" pitchFamily="49" charset="0"/>
                <a:cs typeface="Consolas" panose="020B0609020204030204" pitchFamily="49" charset="0"/>
              </a:rPr>
              <a:t>25</a:t>
            </a:r>
          </a:p>
          <a:p>
            <a:r>
              <a:rPr lang="en-US" sz="2000" b="1" dirty="0">
                <a:latin typeface="Consolas" panose="020B0609020204030204" pitchFamily="49" charset="0"/>
                <a:cs typeface="Consolas" panose="020B0609020204030204" pitchFamily="49" charset="0"/>
              </a:rPr>
              <a:t>$t0 = x</a:t>
            </a:r>
          </a:p>
          <a:p>
            <a:r>
              <a:rPr lang="en-US" sz="2000" b="1" dirty="0">
                <a:solidFill>
                  <a:srgbClr val="FF0000"/>
                </a:solidFill>
                <a:latin typeface="Consolas" panose="020B0609020204030204" pitchFamily="49" charset="0"/>
                <a:cs typeface="Consolas" panose="020B0609020204030204" pitchFamily="49" charset="0"/>
              </a:rPr>
              <a:t>return</a:t>
            </a:r>
          </a:p>
        </p:txBody>
      </p:sp>
      <p:sp>
        <p:nvSpPr>
          <p:cNvPr id="9" name="Down Arrow 8">
            <a:extLst>
              <a:ext uri="{FF2B5EF4-FFF2-40B4-BE49-F238E27FC236}">
                <a16:creationId xmlns:a16="http://schemas.microsoft.com/office/drawing/2014/main" id="{A6553711-CD0B-384E-8AA0-2BFFB672E260}"/>
              </a:ext>
            </a:extLst>
          </p:cNvPr>
          <p:cNvSpPr/>
          <p:nvPr/>
        </p:nvSpPr>
        <p:spPr>
          <a:xfrm rot="16200000">
            <a:off x="4636951" y="1579836"/>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09D40D7-9D4D-1C42-9AFD-F6488AC1D3FE}"/>
              </a:ext>
            </a:extLst>
          </p:cNvPr>
          <p:cNvSpPr txBox="1"/>
          <p:nvPr/>
        </p:nvSpPr>
        <p:spPr>
          <a:xfrm>
            <a:off x="7315200" y="1471747"/>
            <a:ext cx="1313180" cy="707886"/>
          </a:xfrm>
          <a:prstGeom prst="rect">
            <a:avLst/>
          </a:prstGeom>
          <a:noFill/>
        </p:spPr>
        <p:txBody>
          <a:bodyPr wrap="none" rtlCol="0">
            <a:spAutoFit/>
          </a:bodyPr>
          <a:lstStyle/>
          <a:p>
            <a:r>
              <a:rPr lang="en-US" sz="2000" b="1" dirty="0">
                <a:latin typeface="Consolas" panose="020B0609020204030204" pitchFamily="49" charset="0"/>
                <a:cs typeface="Consolas" panose="020B0609020204030204" pitchFamily="49" charset="0"/>
              </a:rPr>
              <a:t>$t0 = </a:t>
            </a:r>
            <a:r>
              <a:rPr lang="en-US" sz="2000" b="1" dirty="0">
                <a:solidFill>
                  <a:schemeClr val="accent3">
                    <a:lumMod val="75000"/>
                  </a:schemeClr>
                </a:solidFill>
                <a:latin typeface="Consolas" panose="020B0609020204030204" pitchFamily="49" charset="0"/>
                <a:cs typeface="Consolas" panose="020B0609020204030204" pitchFamily="49" charset="0"/>
              </a:rPr>
              <a:t>25</a:t>
            </a:r>
            <a:endParaRPr lang="en-US" sz="2000" b="1" dirty="0">
              <a:latin typeface="Consolas" panose="020B0609020204030204" pitchFamily="49" charset="0"/>
              <a:cs typeface="Consolas" panose="020B0609020204030204" pitchFamily="49" charset="0"/>
            </a:endParaRPr>
          </a:p>
          <a:p>
            <a:r>
              <a:rPr lang="en-US" sz="2000" b="1" dirty="0">
                <a:solidFill>
                  <a:srgbClr val="FF0000"/>
                </a:solidFill>
                <a:latin typeface="Consolas" panose="020B0609020204030204" pitchFamily="49" charset="0"/>
                <a:cs typeface="Consolas" panose="020B0609020204030204" pitchFamily="49" charset="0"/>
              </a:rPr>
              <a:t>return</a:t>
            </a:r>
          </a:p>
        </p:txBody>
      </p:sp>
      <p:sp>
        <p:nvSpPr>
          <p:cNvPr id="12" name="Down Arrow 11">
            <a:extLst>
              <a:ext uri="{FF2B5EF4-FFF2-40B4-BE49-F238E27FC236}">
                <a16:creationId xmlns:a16="http://schemas.microsoft.com/office/drawing/2014/main" id="{DFAD2F09-2F28-7B48-B85C-467C12A90BA1}"/>
              </a:ext>
            </a:extLst>
          </p:cNvPr>
          <p:cNvSpPr/>
          <p:nvPr/>
        </p:nvSpPr>
        <p:spPr>
          <a:xfrm rot="16200000">
            <a:off x="6683016" y="1579836"/>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C1875FC2-0D1B-A74F-9F29-3564A9559FC4}"/>
              </a:ext>
            </a:extLst>
          </p:cNvPr>
          <p:cNvSpPr txBox="1"/>
          <p:nvPr/>
        </p:nvSpPr>
        <p:spPr>
          <a:xfrm>
            <a:off x="838200" y="2386639"/>
            <a:ext cx="7602066" cy="769441"/>
          </a:xfrm>
          <a:prstGeom prst="rect">
            <a:avLst/>
          </a:prstGeom>
          <a:noFill/>
        </p:spPr>
        <p:txBody>
          <a:bodyPr wrap="square" rtlCol="0">
            <a:spAutoFit/>
          </a:bodyPr>
          <a:lstStyle/>
          <a:p>
            <a:pPr algn="ctr"/>
            <a:r>
              <a:rPr lang="en-US" sz="2200" dirty="0"/>
              <a:t>but local optimizations only work on a </a:t>
            </a:r>
            <a:r>
              <a:rPr lang="en-US" sz="2200" b="1" dirty="0"/>
              <a:t>single basic block, </a:t>
            </a:r>
            <a:r>
              <a:rPr lang="en-US" sz="2200" dirty="0"/>
              <a:t>which means they have two significant weaknesses:</a:t>
            </a:r>
            <a:endParaRPr lang="en-US" sz="2200" b="1" dirty="0"/>
          </a:p>
        </p:txBody>
      </p:sp>
      <p:sp>
        <p:nvSpPr>
          <p:cNvPr id="33" name="TextBox 32">
            <a:extLst>
              <a:ext uri="{FF2B5EF4-FFF2-40B4-BE49-F238E27FC236}">
                <a16:creationId xmlns:a16="http://schemas.microsoft.com/office/drawing/2014/main" id="{67E38F7C-EA2F-CD4F-8D38-0195DD74DA89}"/>
              </a:ext>
            </a:extLst>
          </p:cNvPr>
          <p:cNvSpPr txBox="1"/>
          <p:nvPr/>
        </p:nvSpPr>
        <p:spPr>
          <a:xfrm>
            <a:off x="590550" y="3348933"/>
            <a:ext cx="6877050" cy="769441"/>
          </a:xfrm>
          <a:prstGeom prst="rect">
            <a:avLst/>
          </a:prstGeom>
          <a:noFill/>
        </p:spPr>
        <p:txBody>
          <a:bodyPr wrap="square" rtlCol="0">
            <a:spAutoFit/>
          </a:bodyPr>
          <a:lstStyle/>
          <a:p>
            <a:r>
              <a:rPr lang="en-US" sz="2200" dirty="0"/>
              <a:t>1. real functions can have </a:t>
            </a:r>
            <a:r>
              <a:rPr lang="en-US" sz="2200" b="1" dirty="0"/>
              <a:t>many </a:t>
            </a:r>
            <a:r>
              <a:rPr lang="en-US" sz="2200" dirty="0"/>
              <a:t>BBs, and they </a:t>
            </a:r>
            <a:r>
              <a:rPr lang="en-US" sz="2200" b="1" dirty="0"/>
              <a:t>connect to </a:t>
            </a:r>
            <a:r>
              <a:rPr lang="en-US" sz="2200" b="1" i="1" dirty="0"/>
              <a:t>and affect</a:t>
            </a:r>
            <a:r>
              <a:rPr lang="en-US" sz="2200" b="1" i="1" dirty="0">
                <a:solidFill>
                  <a:srgbClr val="FF0000"/>
                </a:solidFill>
              </a:rPr>
              <a:t> </a:t>
            </a:r>
            <a:r>
              <a:rPr lang="en-US" sz="2200" b="1" dirty="0"/>
              <a:t>each other </a:t>
            </a:r>
            <a:r>
              <a:rPr lang="en-US" sz="2200" dirty="0"/>
              <a:t>in nontrivial ways.</a:t>
            </a:r>
            <a:endParaRPr lang="en-US" sz="2200" b="1" dirty="0"/>
          </a:p>
        </p:txBody>
      </p:sp>
      <p:sp>
        <p:nvSpPr>
          <p:cNvPr id="34" name="TextBox 33">
            <a:extLst>
              <a:ext uri="{FF2B5EF4-FFF2-40B4-BE49-F238E27FC236}">
                <a16:creationId xmlns:a16="http://schemas.microsoft.com/office/drawing/2014/main" id="{329DC417-274E-374E-975D-A6179F9F503D}"/>
              </a:ext>
            </a:extLst>
          </p:cNvPr>
          <p:cNvSpPr txBox="1"/>
          <p:nvPr/>
        </p:nvSpPr>
        <p:spPr>
          <a:xfrm>
            <a:off x="590550" y="4209219"/>
            <a:ext cx="7962900" cy="769441"/>
          </a:xfrm>
          <a:prstGeom prst="rect">
            <a:avLst/>
          </a:prstGeom>
          <a:noFill/>
        </p:spPr>
        <p:txBody>
          <a:bodyPr wrap="square" rtlCol="0">
            <a:spAutoFit/>
          </a:bodyPr>
          <a:lstStyle/>
          <a:p>
            <a:r>
              <a:rPr lang="en-US" sz="2200" dirty="0"/>
              <a:t>2. many of those BBs are </a:t>
            </a:r>
            <a:r>
              <a:rPr lang="en-US" sz="2200" b="1" dirty="0"/>
              <a:t>short, </a:t>
            </a:r>
            <a:r>
              <a:rPr lang="en-US" sz="2200" dirty="0"/>
              <a:t>only a few instructions long, meaning there just isn't much opportunity for optimization.</a:t>
            </a:r>
            <a:endParaRPr lang="en-US" sz="2200" b="1" dirty="0"/>
          </a:p>
        </p:txBody>
      </p:sp>
    </p:spTree>
    <p:extLst>
      <p:ext uri="{BB962C8B-B14F-4D97-AF65-F5344CB8AC3E}">
        <p14:creationId xmlns:p14="http://schemas.microsoft.com/office/powerpoint/2010/main" val="10972510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9" grpId="0" animBg="1"/>
      <p:bldP spid="11" grpId="0"/>
      <p:bldP spid="12" grpId="0" animBg="1"/>
      <p:bldP spid="32" grpId="0"/>
      <p:bldP spid="33" grpId="0"/>
      <p:bldP spid="3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4DDD6-0FB6-3B45-9D64-218E56501B24}"/>
              </a:ext>
            </a:extLst>
          </p:cNvPr>
          <p:cNvSpPr>
            <a:spLocks noGrp="1"/>
          </p:cNvSpPr>
          <p:nvPr>
            <p:ph type="title"/>
          </p:nvPr>
        </p:nvSpPr>
        <p:spPr/>
        <p:txBody>
          <a:bodyPr/>
          <a:lstStyle/>
          <a:p>
            <a:r>
              <a:rPr lang="en-US" dirty="0"/>
              <a:t>Stumbling </a:t>
            </a:r>
            <a:r>
              <a:rPr lang="en-US" sz="600" dirty="0"/>
              <a:t>basic </a:t>
            </a:r>
            <a:r>
              <a:rPr lang="en-US" dirty="0"/>
              <a:t>block</a:t>
            </a:r>
          </a:p>
        </p:txBody>
      </p:sp>
      <p:sp>
        <p:nvSpPr>
          <p:cNvPr id="3" name="Content Placeholder 2">
            <a:extLst>
              <a:ext uri="{FF2B5EF4-FFF2-40B4-BE49-F238E27FC236}">
                <a16:creationId xmlns:a16="http://schemas.microsoft.com/office/drawing/2014/main" id="{26949016-C0D2-F940-B0A1-1941D9DC985D}"/>
              </a:ext>
            </a:extLst>
          </p:cNvPr>
          <p:cNvSpPr>
            <a:spLocks noGrp="1"/>
          </p:cNvSpPr>
          <p:nvPr>
            <p:ph idx="1"/>
          </p:nvPr>
        </p:nvSpPr>
        <p:spPr>
          <a:xfrm>
            <a:off x="152400" y="495301"/>
            <a:ext cx="8991600" cy="495301"/>
          </a:xfrm>
        </p:spPr>
        <p:txBody>
          <a:bodyPr/>
          <a:lstStyle/>
          <a:p>
            <a:r>
              <a:rPr lang="en-US" dirty="0"/>
              <a:t>if we make that code just a little more complex… </a:t>
            </a:r>
            <a:r>
              <a:rPr lang="en-US" sz="1600" dirty="0"/>
              <a:t>(assume </a:t>
            </a:r>
            <a:r>
              <a:rPr lang="en-US" sz="1600" b="1" dirty="0">
                <a:latin typeface="Consolas" panose="020B0609020204030204" pitchFamily="49" charset="0"/>
                <a:cs typeface="Consolas" panose="020B0609020204030204" pitchFamily="49" charset="0"/>
              </a:rPr>
              <a:t>a</a:t>
            </a:r>
            <a:r>
              <a:rPr lang="en-US" sz="1600" dirty="0"/>
              <a:t> is an argument)</a:t>
            </a:r>
            <a:endParaRPr lang="en-US" dirty="0"/>
          </a:p>
        </p:txBody>
      </p:sp>
      <p:sp>
        <p:nvSpPr>
          <p:cNvPr id="4" name="Slide Number Placeholder 3">
            <a:extLst>
              <a:ext uri="{FF2B5EF4-FFF2-40B4-BE49-F238E27FC236}">
                <a16:creationId xmlns:a16="http://schemas.microsoft.com/office/drawing/2014/main" id="{95D182B9-6679-4E46-9244-128179A92D79}"/>
              </a:ext>
            </a:extLst>
          </p:cNvPr>
          <p:cNvSpPr>
            <a:spLocks noGrp="1"/>
          </p:cNvSpPr>
          <p:nvPr>
            <p:ph type="sldNum" sz="quarter" idx="12"/>
          </p:nvPr>
        </p:nvSpPr>
        <p:spPr/>
        <p:txBody>
          <a:bodyPr/>
          <a:lstStyle/>
          <a:p>
            <a:fld id="{3552B95B-556F-44BD-91A5-D80C1B9E2BB3}" type="slidenum">
              <a:rPr lang="en-US" smtClean="0"/>
              <a:pPr/>
              <a:t>5</a:t>
            </a:fld>
            <a:endParaRPr lang="en-US"/>
          </a:p>
        </p:txBody>
      </p:sp>
      <p:sp>
        <p:nvSpPr>
          <p:cNvPr id="5" name="TextBox 4">
            <a:extLst>
              <a:ext uri="{FF2B5EF4-FFF2-40B4-BE49-F238E27FC236}">
                <a16:creationId xmlns:a16="http://schemas.microsoft.com/office/drawing/2014/main" id="{B78D2ECD-7CAF-6B43-9928-675DD65DB947}"/>
              </a:ext>
            </a:extLst>
          </p:cNvPr>
          <p:cNvSpPr txBox="1"/>
          <p:nvPr/>
        </p:nvSpPr>
        <p:spPr>
          <a:xfrm>
            <a:off x="228600" y="1181100"/>
            <a:ext cx="2159566" cy="1015663"/>
          </a:xfrm>
          <a:prstGeom prst="rect">
            <a:avLst/>
          </a:prstGeom>
          <a:noFill/>
        </p:spPr>
        <p:txBody>
          <a:bodyPr wrap="none" rtlCol="0">
            <a:spAutoFit/>
          </a:bodyPr>
          <a:lstStyle/>
          <a:p>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x = </a:t>
            </a:r>
            <a:r>
              <a:rPr lang="en-US" sz="2000" b="1" dirty="0">
                <a:solidFill>
                  <a:schemeClr val="accent3">
                    <a:lumMod val="75000"/>
                  </a:schemeClr>
                </a:solidFill>
                <a:latin typeface="Consolas" panose="020B0609020204030204" pitchFamily="49" charset="0"/>
                <a:cs typeface="Consolas" panose="020B0609020204030204" pitchFamily="49" charset="0"/>
              </a:rPr>
              <a:t>5</a:t>
            </a:r>
            <a:r>
              <a:rPr lang="en-US" sz="2000" b="1" dirty="0">
                <a:latin typeface="Consolas" panose="020B0609020204030204" pitchFamily="49" charset="0"/>
                <a:cs typeface="Consolas" panose="020B0609020204030204" pitchFamily="49" charset="0"/>
              </a:rPr>
              <a:t> * </a:t>
            </a:r>
            <a:r>
              <a:rPr lang="en-US" sz="2000" b="1" dirty="0">
                <a:solidFill>
                  <a:schemeClr val="accent3">
                    <a:lumMod val="75000"/>
                  </a:schemeClr>
                </a:solidFill>
                <a:latin typeface="Consolas" panose="020B0609020204030204" pitchFamily="49" charset="0"/>
                <a:cs typeface="Consolas" panose="020B0609020204030204" pitchFamily="49" charset="0"/>
              </a:rPr>
              <a:t>5</a:t>
            </a:r>
            <a:r>
              <a:rPr lang="en-US" sz="2000" b="1" dirty="0">
                <a:latin typeface="Consolas" panose="020B0609020204030204" pitchFamily="49" charset="0"/>
                <a:cs typeface="Consolas" panose="020B0609020204030204" pitchFamily="49" charset="0"/>
              </a:rPr>
              <a:t>;</a:t>
            </a:r>
          </a:p>
          <a:p>
            <a:r>
              <a:rPr lang="en-US" sz="2000" b="1" dirty="0">
                <a:solidFill>
                  <a:srgbClr val="FF0000"/>
                </a:solidFill>
                <a:latin typeface="Consolas" panose="020B0609020204030204" pitchFamily="49" charset="0"/>
                <a:cs typeface="Consolas" panose="020B0609020204030204" pitchFamily="49" charset="0"/>
              </a:rPr>
              <a:t>if </a:t>
            </a:r>
            <a:r>
              <a:rPr lang="en-US" sz="2000" b="1" dirty="0">
                <a:latin typeface="Consolas" panose="020B0609020204030204" pitchFamily="49" charset="0"/>
                <a:cs typeface="Consolas" panose="020B0609020204030204" pitchFamily="49" charset="0"/>
              </a:rPr>
              <a:t>a { f(); }</a:t>
            </a:r>
            <a:endParaRPr lang="en-US" sz="2000" b="1" dirty="0">
              <a:solidFill>
                <a:srgbClr val="FF0000"/>
              </a:solidFill>
              <a:latin typeface="Consolas" panose="020B0609020204030204" pitchFamily="49" charset="0"/>
              <a:cs typeface="Consolas" panose="020B0609020204030204" pitchFamily="49" charset="0"/>
            </a:endParaRPr>
          </a:p>
          <a:p>
            <a:r>
              <a:rPr lang="en-US" sz="2000" b="1" dirty="0">
                <a:solidFill>
                  <a:srgbClr val="FF0000"/>
                </a:solidFill>
                <a:latin typeface="Consolas" panose="020B0609020204030204" pitchFamily="49" charset="0"/>
                <a:cs typeface="Consolas" panose="020B0609020204030204" pitchFamily="49" charset="0"/>
              </a:rPr>
              <a:t>return</a:t>
            </a:r>
            <a:r>
              <a:rPr lang="en-US" sz="2000" b="1" dirty="0">
                <a:latin typeface="Consolas" panose="020B0609020204030204" pitchFamily="49" charset="0"/>
                <a:cs typeface="Consolas" panose="020B0609020204030204" pitchFamily="49" charset="0"/>
              </a:rPr>
              <a:t> x;</a:t>
            </a:r>
          </a:p>
        </p:txBody>
      </p:sp>
      <p:sp>
        <p:nvSpPr>
          <p:cNvPr id="6" name="Down Arrow 5">
            <a:extLst>
              <a:ext uri="{FF2B5EF4-FFF2-40B4-BE49-F238E27FC236}">
                <a16:creationId xmlns:a16="http://schemas.microsoft.com/office/drawing/2014/main" id="{253E8BE2-E8C3-A047-B008-9C8E59F713C3}"/>
              </a:ext>
            </a:extLst>
          </p:cNvPr>
          <p:cNvSpPr/>
          <p:nvPr/>
        </p:nvSpPr>
        <p:spPr>
          <a:xfrm rot="16200000">
            <a:off x="2467894" y="1531950"/>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915714B8-A6E8-CF41-BBBE-4EF2079FEE3A}"/>
              </a:ext>
            </a:extLst>
          </p:cNvPr>
          <p:cNvGrpSpPr/>
          <p:nvPr/>
        </p:nvGrpSpPr>
        <p:grpSpPr>
          <a:xfrm>
            <a:off x="2927863" y="1181100"/>
            <a:ext cx="3307458" cy="2620797"/>
            <a:chOff x="2987155" y="1151103"/>
            <a:chExt cx="3307458" cy="2620797"/>
          </a:xfrm>
        </p:grpSpPr>
        <p:sp>
          <p:nvSpPr>
            <p:cNvPr id="8" name="TextBox 7">
              <a:extLst>
                <a:ext uri="{FF2B5EF4-FFF2-40B4-BE49-F238E27FC236}">
                  <a16:creationId xmlns:a16="http://schemas.microsoft.com/office/drawing/2014/main" id="{55C79206-E18C-4F4B-B153-A2AF5AD2E8E6}"/>
                </a:ext>
              </a:extLst>
            </p:cNvPr>
            <p:cNvSpPr txBox="1"/>
            <p:nvPr/>
          </p:nvSpPr>
          <p:spPr>
            <a:xfrm>
              <a:off x="3711855" y="1197828"/>
              <a:ext cx="2582758" cy="707886"/>
            </a:xfrm>
            <a:prstGeom prst="rect">
              <a:avLst/>
            </a:prstGeom>
            <a:solidFill>
              <a:schemeClr val="accent6">
                <a:lumMod val="40000"/>
                <a:lumOff val="60000"/>
              </a:schemeClr>
            </a:solidFill>
          </p:spPr>
          <p:txBody>
            <a:bodyPr wrap="none" rtlCol="0">
              <a:spAutoFit/>
            </a:bodyPr>
            <a:lstStyle/>
            <a:p>
              <a:r>
                <a:rPr lang="en-US" sz="2000" b="1" dirty="0">
                  <a:latin typeface="Consolas" panose="020B0609020204030204" pitchFamily="49" charset="0"/>
                  <a:cs typeface="Consolas" panose="020B0609020204030204" pitchFamily="49" charset="0"/>
                </a:rPr>
                <a:t>x = </a:t>
              </a:r>
              <a:r>
                <a:rPr lang="en-US" sz="2000" b="1" dirty="0">
                  <a:solidFill>
                    <a:schemeClr val="accent3">
                      <a:lumMod val="75000"/>
                    </a:schemeClr>
                  </a:solidFill>
                  <a:latin typeface="Consolas" panose="020B0609020204030204" pitchFamily="49" charset="0"/>
                  <a:cs typeface="Consolas" panose="020B0609020204030204" pitchFamily="49" charset="0"/>
                </a:rPr>
                <a:t>5</a:t>
              </a:r>
              <a:r>
                <a:rPr lang="en-US" sz="2000" b="1" dirty="0">
                  <a:latin typeface="Consolas" panose="020B0609020204030204" pitchFamily="49" charset="0"/>
                  <a:cs typeface="Consolas" panose="020B0609020204030204" pitchFamily="49" charset="0"/>
                </a:rPr>
                <a:t> * </a:t>
              </a:r>
              <a:r>
                <a:rPr lang="en-US" sz="2000" b="1" dirty="0">
                  <a:solidFill>
                    <a:schemeClr val="accent3">
                      <a:lumMod val="75000"/>
                    </a:schemeClr>
                  </a:solidFill>
                  <a:latin typeface="Consolas" panose="020B0609020204030204" pitchFamily="49" charset="0"/>
                  <a:cs typeface="Consolas" panose="020B0609020204030204" pitchFamily="49" charset="0"/>
                </a:rPr>
                <a:t>5</a:t>
              </a:r>
            </a:p>
            <a:p>
              <a:r>
                <a:rPr lang="en-US" sz="2000" b="1" dirty="0">
                  <a:solidFill>
                    <a:srgbClr val="FF0000"/>
                  </a:solidFill>
                  <a:latin typeface="Consolas" panose="020B0609020204030204" pitchFamily="49" charset="0"/>
                  <a:cs typeface="Consolas" panose="020B0609020204030204" pitchFamily="49" charset="0"/>
                </a:rPr>
                <a:t>if</a:t>
              </a:r>
              <a:r>
                <a:rPr lang="en-US" sz="2000" b="1" dirty="0">
                  <a:latin typeface="Consolas" panose="020B0609020204030204" pitchFamily="49" charset="0"/>
                  <a:cs typeface="Consolas" panose="020B0609020204030204" pitchFamily="49" charset="0"/>
                </a:rPr>
                <a:t> a bb1 </a:t>
              </a:r>
              <a:r>
                <a:rPr lang="en-US" sz="2000" b="1" dirty="0">
                  <a:solidFill>
                    <a:srgbClr val="FF0000"/>
                  </a:solidFill>
                  <a:latin typeface="Consolas" panose="020B0609020204030204" pitchFamily="49" charset="0"/>
                  <a:cs typeface="Consolas" panose="020B0609020204030204" pitchFamily="49" charset="0"/>
                </a:rPr>
                <a:t>else</a:t>
              </a:r>
              <a:r>
                <a:rPr lang="en-US" sz="2000" b="1" dirty="0">
                  <a:latin typeface="Consolas" panose="020B0609020204030204" pitchFamily="49" charset="0"/>
                  <a:cs typeface="Consolas" panose="020B0609020204030204" pitchFamily="49" charset="0"/>
                </a:rPr>
                <a:t> bb2</a:t>
              </a:r>
            </a:p>
          </p:txBody>
        </p:sp>
        <p:sp>
          <p:nvSpPr>
            <p:cNvPr id="9" name="TextBox 8">
              <a:extLst>
                <a:ext uri="{FF2B5EF4-FFF2-40B4-BE49-F238E27FC236}">
                  <a16:creationId xmlns:a16="http://schemas.microsoft.com/office/drawing/2014/main" id="{32F53930-3BEC-DE41-A1CF-6B487C415594}"/>
                </a:ext>
              </a:extLst>
            </p:cNvPr>
            <p:cNvSpPr txBox="1"/>
            <p:nvPr/>
          </p:nvSpPr>
          <p:spPr>
            <a:xfrm>
              <a:off x="5122497" y="3064014"/>
              <a:ext cx="1172116" cy="707886"/>
            </a:xfrm>
            <a:prstGeom prst="rect">
              <a:avLst/>
            </a:prstGeom>
            <a:solidFill>
              <a:schemeClr val="accent2">
                <a:lumMod val="40000"/>
                <a:lumOff val="60000"/>
              </a:schemeClr>
            </a:solidFill>
          </p:spPr>
          <p:txBody>
            <a:bodyPr wrap="none" rtlCol="0">
              <a:spAutoFit/>
            </a:bodyPr>
            <a:lstStyle/>
            <a:p>
              <a:r>
                <a:rPr lang="en-US" sz="2000" b="1" dirty="0">
                  <a:latin typeface="Consolas" panose="020B0609020204030204" pitchFamily="49" charset="0"/>
                  <a:cs typeface="Consolas" panose="020B0609020204030204" pitchFamily="49" charset="0"/>
                </a:rPr>
                <a:t>$t0 = x</a:t>
              </a:r>
            </a:p>
            <a:p>
              <a:r>
                <a:rPr lang="en-US" sz="2000" b="1" dirty="0">
                  <a:solidFill>
                    <a:srgbClr val="FF0000"/>
                  </a:solidFill>
                  <a:latin typeface="Consolas" panose="020B0609020204030204" pitchFamily="49" charset="0"/>
                  <a:cs typeface="Consolas" panose="020B0609020204030204" pitchFamily="49" charset="0"/>
                </a:rPr>
                <a:t>return</a:t>
              </a:r>
            </a:p>
          </p:txBody>
        </p:sp>
        <p:sp>
          <p:nvSpPr>
            <p:cNvPr id="10" name="TextBox 9">
              <a:extLst>
                <a:ext uri="{FF2B5EF4-FFF2-40B4-BE49-F238E27FC236}">
                  <a16:creationId xmlns:a16="http://schemas.microsoft.com/office/drawing/2014/main" id="{6DAAA5B5-0673-BC4B-AC4A-B5F8D2B20A62}"/>
                </a:ext>
              </a:extLst>
            </p:cNvPr>
            <p:cNvSpPr txBox="1"/>
            <p:nvPr/>
          </p:nvSpPr>
          <p:spPr>
            <a:xfrm>
              <a:off x="4391951" y="3068666"/>
              <a:ext cx="748924" cy="400110"/>
            </a:xfrm>
            <a:prstGeom prst="rect">
              <a:avLst/>
            </a:prstGeom>
            <a:noFill/>
          </p:spPr>
          <p:txBody>
            <a:bodyPr wrap="none" rtlCol="0">
              <a:spAutoFit/>
            </a:bodyPr>
            <a:lstStyle/>
            <a:p>
              <a:pPr algn="r"/>
              <a:r>
                <a:rPr lang="en-US" sz="2000" b="1" dirty="0">
                  <a:latin typeface="Consolas" panose="020B0609020204030204" pitchFamily="49" charset="0"/>
                  <a:cs typeface="Consolas" panose="020B0609020204030204" pitchFamily="49" charset="0"/>
                </a:rPr>
                <a:t>bb2:</a:t>
              </a:r>
            </a:p>
          </p:txBody>
        </p:sp>
        <p:sp>
          <p:nvSpPr>
            <p:cNvPr id="11" name="TextBox 10">
              <a:extLst>
                <a:ext uri="{FF2B5EF4-FFF2-40B4-BE49-F238E27FC236}">
                  <a16:creationId xmlns:a16="http://schemas.microsoft.com/office/drawing/2014/main" id="{2AF93591-B328-E54A-A3BD-230240A582BD}"/>
                </a:ext>
              </a:extLst>
            </p:cNvPr>
            <p:cNvSpPr txBox="1"/>
            <p:nvPr/>
          </p:nvSpPr>
          <p:spPr>
            <a:xfrm>
              <a:off x="2987155" y="1151103"/>
              <a:ext cx="748924" cy="400110"/>
            </a:xfrm>
            <a:prstGeom prst="rect">
              <a:avLst/>
            </a:prstGeom>
            <a:noFill/>
          </p:spPr>
          <p:txBody>
            <a:bodyPr wrap="none" rtlCol="0">
              <a:spAutoFit/>
            </a:bodyPr>
            <a:lstStyle/>
            <a:p>
              <a:pPr algn="r"/>
              <a:r>
                <a:rPr lang="en-US" sz="2000" b="1" dirty="0">
                  <a:latin typeface="Consolas" panose="020B0609020204030204" pitchFamily="49" charset="0"/>
                  <a:cs typeface="Consolas" panose="020B0609020204030204" pitchFamily="49" charset="0"/>
                </a:rPr>
                <a:t>bb0:</a:t>
              </a:r>
            </a:p>
          </p:txBody>
        </p:sp>
        <p:sp>
          <p:nvSpPr>
            <p:cNvPr id="12" name="TextBox 11">
              <a:extLst>
                <a:ext uri="{FF2B5EF4-FFF2-40B4-BE49-F238E27FC236}">
                  <a16:creationId xmlns:a16="http://schemas.microsoft.com/office/drawing/2014/main" id="{11E88B9C-CE5C-C94E-99E1-689AB0E60DF0}"/>
                </a:ext>
              </a:extLst>
            </p:cNvPr>
            <p:cNvSpPr txBox="1"/>
            <p:nvPr/>
          </p:nvSpPr>
          <p:spPr>
            <a:xfrm>
              <a:off x="3711856" y="2180506"/>
              <a:ext cx="1393544" cy="707886"/>
            </a:xfrm>
            <a:prstGeom prst="rect">
              <a:avLst/>
            </a:prstGeom>
            <a:solidFill>
              <a:schemeClr val="accent1">
                <a:lumMod val="40000"/>
                <a:lumOff val="60000"/>
              </a:schemeClr>
            </a:solidFill>
          </p:spPr>
          <p:txBody>
            <a:bodyPr wrap="square" rtlCol="0">
              <a:spAutoFit/>
            </a:bodyPr>
            <a:lstStyle/>
            <a:p>
              <a:r>
                <a:rPr lang="en-US" sz="2000" b="1" dirty="0">
                  <a:latin typeface="Consolas" panose="020B0609020204030204" pitchFamily="49" charset="0"/>
                  <a:cs typeface="Consolas" panose="020B0609020204030204" pitchFamily="49" charset="0"/>
                </a:rPr>
                <a:t>f()</a:t>
              </a:r>
            </a:p>
            <a:p>
              <a:r>
                <a:rPr lang="en-US" sz="2000" b="1" dirty="0" err="1">
                  <a:solidFill>
                    <a:srgbClr val="FF0000"/>
                  </a:solidFill>
                  <a:latin typeface="Consolas" panose="020B0609020204030204" pitchFamily="49" charset="0"/>
                  <a:cs typeface="Consolas" panose="020B0609020204030204" pitchFamily="49" charset="0"/>
                </a:rPr>
                <a:t>goto</a:t>
              </a:r>
              <a:r>
                <a:rPr lang="en-US" sz="2000" b="1" dirty="0">
                  <a:latin typeface="Consolas" panose="020B0609020204030204" pitchFamily="49" charset="0"/>
                  <a:cs typeface="Consolas" panose="020B0609020204030204" pitchFamily="49" charset="0"/>
                </a:rPr>
                <a:t> bb2</a:t>
              </a:r>
            </a:p>
          </p:txBody>
        </p:sp>
        <p:sp>
          <p:nvSpPr>
            <p:cNvPr id="13" name="TextBox 12">
              <a:extLst>
                <a:ext uri="{FF2B5EF4-FFF2-40B4-BE49-F238E27FC236}">
                  <a16:creationId xmlns:a16="http://schemas.microsoft.com/office/drawing/2014/main" id="{CE224D60-07B3-5E4E-AD05-2D9CA3F38EC1}"/>
                </a:ext>
              </a:extLst>
            </p:cNvPr>
            <p:cNvSpPr txBox="1"/>
            <p:nvPr/>
          </p:nvSpPr>
          <p:spPr>
            <a:xfrm>
              <a:off x="2987155" y="2133781"/>
              <a:ext cx="748924" cy="400110"/>
            </a:xfrm>
            <a:prstGeom prst="rect">
              <a:avLst/>
            </a:prstGeom>
            <a:noFill/>
          </p:spPr>
          <p:txBody>
            <a:bodyPr wrap="none" rtlCol="0">
              <a:spAutoFit/>
            </a:bodyPr>
            <a:lstStyle/>
            <a:p>
              <a:pPr algn="r"/>
              <a:r>
                <a:rPr lang="en-US" sz="2000" b="1" dirty="0">
                  <a:latin typeface="Consolas" panose="020B0609020204030204" pitchFamily="49" charset="0"/>
                  <a:cs typeface="Consolas" panose="020B0609020204030204" pitchFamily="49" charset="0"/>
                </a:rPr>
                <a:t>bb1:</a:t>
              </a:r>
            </a:p>
          </p:txBody>
        </p:sp>
        <p:cxnSp>
          <p:nvCxnSpPr>
            <p:cNvPr id="14" name="Straight Arrow Connector 13">
              <a:extLst>
                <a:ext uri="{FF2B5EF4-FFF2-40B4-BE49-F238E27FC236}">
                  <a16:creationId xmlns:a16="http://schemas.microsoft.com/office/drawing/2014/main" id="{985755D6-39C9-EF4E-91DE-A7CB2D63CE7C}"/>
                </a:ext>
              </a:extLst>
            </p:cNvPr>
            <p:cNvCxnSpPr/>
            <p:nvPr/>
          </p:nvCxnSpPr>
          <p:spPr>
            <a:xfrm>
              <a:off x="4679116" y="1913103"/>
              <a:ext cx="0" cy="267403"/>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8E69BDA-1F04-DE41-8B63-C33D8811D872}"/>
                </a:ext>
              </a:extLst>
            </p:cNvPr>
            <p:cNvCxnSpPr>
              <a:cxnSpLocks/>
            </p:cNvCxnSpPr>
            <p:nvPr/>
          </p:nvCxnSpPr>
          <p:spPr>
            <a:xfrm>
              <a:off x="5943600" y="1916044"/>
              <a:ext cx="0" cy="11479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26">
              <a:extLst>
                <a:ext uri="{FF2B5EF4-FFF2-40B4-BE49-F238E27FC236}">
                  <a16:creationId xmlns:a16="http://schemas.microsoft.com/office/drawing/2014/main" id="{080B55A6-54AF-BA4B-8438-F10190410BEC}"/>
                </a:ext>
              </a:extLst>
            </p:cNvPr>
            <p:cNvCxnSpPr>
              <a:cxnSpLocks/>
              <a:stCxn id="12" idx="2"/>
              <a:endCxn id="9" idx="1"/>
            </p:cNvCxnSpPr>
            <p:nvPr/>
          </p:nvCxnSpPr>
          <p:spPr>
            <a:xfrm rot="16200000" flipH="1">
              <a:off x="4500780" y="2796239"/>
              <a:ext cx="529565" cy="713869"/>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2" name="TextBox 21">
            <a:extLst>
              <a:ext uri="{FF2B5EF4-FFF2-40B4-BE49-F238E27FC236}">
                <a16:creationId xmlns:a16="http://schemas.microsoft.com/office/drawing/2014/main" id="{26BC4E0C-E0D4-2749-B96E-7CE169A6F1F0}"/>
              </a:ext>
            </a:extLst>
          </p:cNvPr>
          <p:cNvSpPr txBox="1"/>
          <p:nvPr/>
        </p:nvSpPr>
        <p:spPr>
          <a:xfrm>
            <a:off x="6398370" y="1235163"/>
            <a:ext cx="2477561" cy="769441"/>
          </a:xfrm>
          <a:prstGeom prst="rect">
            <a:avLst/>
          </a:prstGeom>
          <a:noFill/>
        </p:spPr>
        <p:txBody>
          <a:bodyPr wrap="square" rtlCol="0">
            <a:spAutoFit/>
          </a:bodyPr>
          <a:lstStyle/>
          <a:p>
            <a:pPr algn="ctr"/>
            <a:r>
              <a:rPr lang="en-US" sz="2200" dirty="0"/>
              <a:t>we can still </a:t>
            </a:r>
            <a:r>
              <a:rPr lang="en-US" sz="2200" dirty="0" err="1"/>
              <a:t>const</a:t>
            </a:r>
            <a:r>
              <a:rPr lang="en-US" sz="2200" dirty="0"/>
              <a:t>-fold up here…</a:t>
            </a:r>
            <a:endParaRPr lang="en-US" sz="2200" b="1" dirty="0"/>
          </a:p>
        </p:txBody>
      </p:sp>
      <p:sp>
        <p:nvSpPr>
          <p:cNvPr id="23" name="TextBox 22">
            <a:extLst>
              <a:ext uri="{FF2B5EF4-FFF2-40B4-BE49-F238E27FC236}">
                <a16:creationId xmlns:a16="http://schemas.microsoft.com/office/drawing/2014/main" id="{58277676-4594-754F-BFA4-C86192311E9F}"/>
              </a:ext>
            </a:extLst>
          </p:cNvPr>
          <p:cNvSpPr txBox="1"/>
          <p:nvPr/>
        </p:nvSpPr>
        <p:spPr>
          <a:xfrm>
            <a:off x="6381164" y="2823324"/>
            <a:ext cx="2610436" cy="1107996"/>
          </a:xfrm>
          <a:prstGeom prst="rect">
            <a:avLst/>
          </a:prstGeom>
          <a:noFill/>
        </p:spPr>
        <p:txBody>
          <a:bodyPr wrap="square" rtlCol="0">
            <a:spAutoFit/>
          </a:bodyPr>
          <a:lstStyle/>
          <a:p>
            <a:pPr algn="ctr"/>
            <a:r>
              <a:rPr lang="en-US" sz="2200" dirty="0"/>
              <a:t>but now the assignment to </a:t>
            </a:r>
            <a:r>
              <a:rPr lang="en-US" sz="2200" b="1" dirty="0">
                <a:latin typeface="Consolas" panose="020B0609020204030204" pitchFamily="49" charset="0"/>
                <a:cs typeface="Consolas" panose="020B0609020204030204" pitchFamily="49" charset="0"/>
              </a:rPr>
              <a:t>$t0</a:t>
            </a:r>
            <a:r>
              <a:rPr lang="en-US" sz="2200" dirty="0"/>
              <a:t> is in a different BB!</a:t>
            </a:r>
            <a:endParaRPr lang="en-US" sz="2200" b="1" dirty="0"/>
          </a:p>
        </p:txBody>
      </p:sp>
      <p:sp>
        <p:nvSpPr>
          <p:cNvPr id="24" name="TextBox 23">
            <a:extLst>
              <a:ext uri="{FF2B5EF4-FFF2-40B4-BE49-F238E27FC236}">
                <a16:creationId xmlns:a16="http://schemas.microsoft.com/office/drawing/2014/main" id="{03CC994F-BE6F-8146-809E-71C6E4F41E87}"/>
              </a:ext>
            </a:extLst>
          </p:cNvPr>
          <p:cNvSpPr txBox="1"/>
          <p:nvPr/>
        </p:nvSpPr>
        <p:spPr>
          <a:xfrm>
            <a:off x="963405" y="4077747"/>
            <a:ext cx="7485730" cy="769441"/>
          </a:xfrm>
          <a:prstGeom prst="rect">
            <a:avLst/>
          </a:prstGeom>
          <a:noFill/>
        </p:spPr>
        <p:txBody>
          <a:bodyPr wrap="square" rtlCol="0">
            <a:spAutoFit/>
          </a:bodyPr>
          <a:lstStyle/>
          <a:p>
            <a:pPr algn="ctr"/>
            <a:r>
              <a:rPr lang="en-US" sz="2200" dirty="0"/>
              <a:t>if we want our optimizations to be worthwhile at all, we're going to have to make them </a:t>
            </a:r>
            <a:r>
              <a:rPr lang="en-US" sz="2200" b="1" dirty="0"/>
              <a:t>operate on the whole CFG.</a:t>
            </a:r>
          </a:p>
        </p:txBody>
      </p:sp>
      <p:sp>
        <p:nvSpPr>
          <p:cNvPr id="25" name="TextBox 24">
            <a:extLst>
              <a:ext uri="{FF2B5EF4-FFF2-40B4-BE49-F238E27FC236}">
                <a16:creationId xmlns:a16="http://schemas.microsoft.com/office/drawing/2014/main" id="{C810EDAC-4A77-1F45-98F0-CDD0EDCDE304}"/>
              </a:ext>
            </a:extLst>
          </p:cNvPr>
          <p:cNvSpPr txBox="1"/>
          <p:nvPr/>
        </p:nvSpPr>
        <p:spPr>
          <a:xfrm>
            <a:off x="984760" y="4949867"/>
            <a:ext cx="7485730" cy="430887"/>
          </a:xfrm>
          <a:prstGeom prst="rect">
            <a:avLst/>
          </a:prstGeom>
          <a:noFill/>
        </p:spPr>
        <p:txBody>
          <a:bodyPr wrap="square" rtlCol="0">
            <a:spAutoFit/>
          </a:bodyPr>
          <a:lstStyle/>
          <a:p>
            <a:pPr algn="ctr"/>
            <a:r>
              <a:rPr lang="en-US" sz="2200" dirty="0"/>
              <a:t>intuitively, the above </a:t>
            </a:r>
            <a:r>
              <a:rPr lang="en-US" sz="2200" i="1" dirty="0"/>
              <a:t>should</a:t>
            </a:r>
            <a:r>
              <a:rPr lang="en-US" sz="2200" dirty="0"/>
              <a:t> be possible to optimize, no?</a:t>
            </a:r>
            <a:endParaRPr lang="en-US" sz="2200" b="1" dirty="0"/>
          </a:p>
        </p:txBody>
      </p:sp>
    </p:spTree>
    <p:extLst>
      <p:ext uri="{BB962C8B-B14F-4D97-AF65-F5344CB8AC3E}">
        <p14:creationId xmlns:p14="http://schemas.microsoft.com/office/powerpoint/2010/main" val="41035783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22" grpId="0"/>
      <p:bldP spid="23" grpId="0"/>
      <p:bldP spid="24" grpId="0"/>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D931F-FB3A-F342-BBA6-A4115090B46A}"/>
              </a:ext>
            </a:extLst>
          </p:cNvPr>
          <p:cNvSpPr>
            <a:spLocks noGrp="1"/>
          </p:cNvSpPr>
          <p:nvPr>
            <p:ph type="title"/>
          </p:nvPr>
        </p:nvSpPr>
        <p:spPr/>
        <p:txBody>
          <a:bodyPr/>
          <a:lstStyle/>
          <a:p>
            <a:r>
              <a:rPr lang="en-US" dirty="0"/>
              <a:t>Trying to intuit our way through it</a:t>
            </a:r>
          </a:p>
        </p:txBody>
      </p:sp>
      <p:sp>
        <p:nvSpPr>
          <p:cNvPr id="3" name="Content Placeholder 2">
            <a:extLst>
              <a:ext uri="{FF2B5EF4-FFF2-40B4-BE49-F238E27FC236}">
                <a16:creationId xmlns:a16="http://schemas.microsoft.com/office/drawing/2014/main" id="{64606F60-6C99-4C4B-B2D9-525C42F51218}"/>
              </a:ext>
            </a:extLst>
          </p:cNvPr>
          <p:cNvSpPr>
            <a:spLocks noGrp="1"/>
          </p:cNvSpPr>
          <p:nvPr>
            <p:ph idx="1"/>
          </p:nvPr>
        </p:nvSpPr>
        <p:spPr>
          <a:xfrm>
            <a:off x="152400" y="495301"/>
            <a:ext cx="8991600" cy="838199"/>
          </a:xfrm>
        </p:spPr>
        <p:txBody>
          <a:bodyPr/>
          <a:lstStyle/>
          <a:p>
            <a:r>
              <a:rPr lang="en-US" dirty="0"/>
              <a:t>we're going to use the same rules for copy prop/dead stores as before, but we'll look at </a:t>
            </a:r>
            <a:r>
              <a:rPr lang="en-US" i="1" dirty="0"/>
              <a:t>all</a:t>
            </a:r>
            <a:r>
              <a:rPr lang="en-US" dirty="0"/>
              <a:t> the BBs instead of just one at a time.</a:t>
            </a:r>
            <a:endParaRPr lang="en-US" b="1" dirty="0"/>
          </a:p>
        </p:txBody>
      </p:sp>
      <p:sp>
        <p:nvSpPr>
          <p:cNvPr id="4" name="Slide Number Placeholder 3">
            <a:extLst>
              <a:ext uri="{FF2B5EF4-FFF2-40B4-BE49-F238E27FC236}">
                <a16:creationId xmlns:a16="http://schemas.microsoft.com/office/drawing/2014/main" id="{0854BAB4-5B61-B540-A4C0-9EBC8B944802}"/>
              </a:ext>
            </a:extLst>
          </p:cNvPr>
          <p:cNvSpPr>
            <a:spLocks noGrp="1"/>
          </p:cNvSpPr>
          <p:nvPr>
            <p:ph type="sldNum" sz="quarter" idx="12"/>
          </p:nvPr>
        </p:nvSpPr>
        <p:spPr/>
        <p:txBody>
          <a:bodyPr/>
          <a:lstStyle/>
          <a:p>
            <a:fld id="{3552B95B-556F-44BD-91A5-D80C1B9E2BB3}" type="slidenum">
              <a:rPr lang="en-US" smtClean="0"/>
              <a:pPr/>
              <a:t>6</a:t>
            </a:fld>
            <a:endParaRPr lang="en-US"/>
          </a:p>
        </p:txBody>
      </p:sp>
      <p:grpSp>
        <p:nvGrpSpPr>
          <p:cNvPr id="39" name="Group 38">
            <a:extLst>
              <a:ext uri="{FF2B5EF4-FFF2-40B4-BE49-F238E27FC236}">
                <a16:creationId xmlns:a16="http://schemas.microsoft.com/office/drawing/2014/main" id="{50791707-2426-B343-A1C1-7C3B0183860B}"/>
              </a:ext>
            </a:extLst>
          </p:cNvPr>
          <p:cNvGrpSpPr/>
          <p:nvPr/>
        </p:nvGrpSpPr>
        <p:grpSpPr>
          <a:xfrm>
            <a:off x="76200" y="1409700"/>
            <a:ext cx="2701522" cy="2159990"/>
            <a:chOff x="228600" y="1409700"/>
            <a:chExt cx="2701522" cy="2159990"/>
          </a:xfrm>
        </p:grpSpPr>
        <p:sp>
          <p:nvSpPr>
            <p:cNvPr id="22" name="TextBox 21">
              <a:extLst>
                <a:ext uri="{FF2B5EF4-FFF2-40B4-BE49-F238E27FC236}">
                  <a16:creationId xmlns:a16="http://schemas.microsoft.com/office/drawing/2014/main" id="{CEE30585-8946-9B43-8501-CB9E890901EA}"/>
                </a:ext>
              </a:extLst>
            </p:cNvPr>
            <p:cNvSpPr txBox="1"/>
            <p:nvPr/>
          </p:nvSpPr>
          <p:spPr>
            <a:xfrm>
              <a:off x="837883" y="1456425"/>
              <a:ext cx="2092239" cy="584775"/>
            </a:xfrm>
            <a:prstGeom prst="rect">
              <a:avLst/>
            </a:prstGeom>
            <a:solidFill>
              <a:schemeClr val="accent6">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25</a:t>
              </a:r>
            </a:p>
            <a:p>
              <a:r>
                <a:rPr lang="en-US" sz="1600" b="1" dirty="0">
                  <a:solidFill>
                    <a:srgbClr val="FF0000"/>
                  </a:solidFill>
                  <a:latin typeface="Consolas" panose="020B0609020204030204" pitchFamily="49" charset="0"/>
                  <a:cs typeface="Consolas" panose="020B0609020204030204" pitchFamily="49" charset="0"/>
                </a:rPr>
                <a:t>if</a:t>
              </a:r>
              <a:r>
                <a:rPr lang="en-US" sz="1600" b="1" dirty="0">
                  <a:latin typeface="Consolas" panose="020B0609020204030204" pitchFamily="49" charset="0"/>
                  <a:cs typeface="Consolas" panose="020B0609020204030204" pitchFamily="49" charset="0"/>
                </a:rPr>
                <a:t> a bb1 </a:t>
              </a:r>
              <a:r>
                <a:rPr lang="en-US" sz="1600" b="1" dirty="0">
                  <a:solidFill>
                    <a:srgbClr val="FF0000"/>
                  </a:solidFill>
                  <a:latin typeface="Consolas" panose="020B0609020204030204" pitchFamily="49" charset="0"/>
                  <a:cs typeface="Consolas" panose="020B0609020204030204" pitchFamily="49" charset="0"/>
                </a:rPr>
                <a:t>else</a:t>
              </a:r>
              <a:r>
                <a:rPr lang="en-US" sz="1600" b="1" dirty="0">
                  <a:latin typeface="Consolas" panose="020B0609020204030204" pitchFamily="49" charset="0"/>
                  <a:cs typeface="Consolas" panose="020B0609020204030204" pitchFamily="49" charset="0"/>
                </a:rPr>
                <a:t> bb2</a:t>
              </a:r>
            </a:p>
          </p:txBody>
        </p:sp>
        <p:sp>
          <p:nvSpPr>
            <p:cNvPr id="23" name="TextBox 22">
              <a:extLst>
                <a:ext uri="{FF2B5EF4-FFF2-40B4-BE49-F238E27FC236}">
                  <a16:creationId xmlns:a16="http://schemas.microsoft.com/office/drawing/2014/main" id="{8F609904-34FB-6640-9C78-6F13936BBBE0}"/>
                </a:ext>
              </a:extLst>
            </p:cNvPr>
            <p:cNvSpPr txBox="1"/>
            <p:nvPr/>
          </p:nvSpPr>
          <p:spPr>
            <a:xfrm>
              <a:off x="1959985" y="2984915"/>
              <a:ext cx="970137" cy="584775"/>
            </a:xfrm>
            <a:prstGeom prst="rect">
              <a:avLst/>
            </a:prstGeom>
            <a:solidFill>
              <a:schemeClr val="accent2">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$t0 = x</a:t>
              </a:r>
            </a:p>
            <a:p>
              <a:r>
                <a:rPr lang="en-US" sz="1600" b="1" dirty="0">
                  <a:solidFill>
                    <a:srgbClr val="FF0000"/>
                  </a:solidFill>
                  <a:latin typeface="Consolas" panose="020B0609020204030204" pitchFamily="49" charset="0"/>
                  <a:cs typeface="Consolas" panose="020B0609020204030204" pitchFamily="49" charset="0"/>
                </a:rPr>
                <a:t>return</a:t>
              </a:r>
            </a:p>
          </p:txBody>
        </p:sp>
        <p:sp>
          <p:nvSpPr>
            <p:cNvPr id="24" name="TextBox 23">
              <a:extLst>
                <a:ext uri="{FF2B5EF4-FFF2-40B4-BE49-F238E27FC236}">
                  <a16:creationId xmlns:a16="http://schemas.microsoft.com/office/drawing/2014/main" id="{5875E7C0-DE91-2642-8596-EBC81D7F873F}"/>
                </a:ext>
              </a:extLst>
            </p:cNvPr>
            <p:cNvSpPr txBox="1"/>
            <p:nvPr/>
          </p:nvSpPr>
          <p:spPr>
            <a:xfrm>
              <a:off x="1344856" y="2951327"/>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bb2:</a:t>
              </a:r>
            </a:p>
          </p:txBody>
        </p:sp>
        <p:sp>
          <p:nvSpPr>
            <p:cNvPr id="25" name="TextBox 24">
              <a:extLst>
                <a:ext uri="{FF2B5EF4-FFF2-40B4-BE49-F238E27FC236}">
                  <a16:creationId xmlns:a16="http://schemas.microsoft.com/office/drawing/2014/main" id="{0D94959C-2E19-F044-93ED-2E67E075FEC4}"/>
                </a:ext>
              </a:extLst>
            </p:cNvPr>
            <p:cNvSpPr txBox="1"/>
            <p:nvPr/>
          </p:nvSpPr>
          <p:spPr>
            <a:xfrm>
              <a:off x="228600" y="1409700"/>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bb0:</a:t>
              </a:r>
            </a:p>
          </p:txBody>
        </p:sp>
        <p:sp>
          <p:nvSpPr>
            <p:cNvPr id="26" name="TextBox 25">
              <a:extLst>
                <a:ext uri="{FF2B5EF4-FFF2-40B4-BE49-F238E27FC236}">
                  <a16:creationId xmlns:a16="http://schemas.microsoft.com/office/drawing/2014/main" id="{F8F655B7-6D3D-3D49-9255-811AABB91BC9}"/>
                </a:ext>
              </a:extLst>
            </p:cNvPr>
            <p:cNvSpPr txBox="1"/>
            <p:nvPr/>
          </p:nvSpPr>
          <p:spPr>
            <a:xfrm>
              <a:off x="837884" y="2294625"/>
              <a:ext cx="1122096" cy="584775"/>
            </a:xfrm>
            <a:prstGeom prst="rect">
              <a:avLst/>
            </a:prstGeom>
            <a:solidFill>
              <a:schemeClr val="accent1">
                <a:lumMod val="40000"/>
                <a:lumOff val="60000"/>
              </a:schemeClr>
            </a:solidFill>
          </p:spPr>
          <p:txBody>
            <a:bodyPr wrap="square" rtlCol="0">
              <a:spAutoFit/>
            </a:bodyPr>
            <a:lstStyle/>
            <a:p>
              <a:r>
                <a:rPr lang="en-US" sz="1600" b="1" dirty="0">
                  <a:latin typeface="Consolas" panose="020B0609020204030204" pitchFamily="49" charset="0"/>
                  <a:cs typeface="Consolas" panose="020B0609020204030204" pitchFamily="49" charset="0"/>
                </a:rPr>
                <a:t>f()</a:t>
              </a:r>
            </a:p>
            <a:p>
              <a:r>
                <a:rPr lang="en-US" sz="1600" b="1" dirty="0" err="1">
                  <a:solidFill>
                    <a:srgbClr val="FF0000"/>
                  </a:solidFill>
                  <a:latin typeface="Consolas" panose="020B0609020204030204" pitchFamily="49" charset="0"/>
                  <a:cs typeface="Consolas" panose="020B0609020204030204" pitchFamily="49" charset="0"/>
                </a:rPr>
                <a:t>goto</a:t>
              </a:r>
              <a:r>
                <a:rPr lang="en-US" sz="1600" b="1" dirty="0">
                  <a:latin typeface="Consolas" panose="020B0609020204030204" pitchFamily="49" charset="0"/>
                  <a:cs typeface="Consolas" panose="020B0609020204030204" pitchFamily="49" charset="0"/>
                </a:rPr>
                <a:t> bb2</a:t>
              </a:r>
            </a:p>
          </p:txBody>
        </p:sp>
        <p:sp>
          <p:nvSpPr>
            <p:cNvPr id="27" name="TextBox 26">
              <a:extLst>
                <a:ext uri="{FF2B5EF4-FFF2-40B4-BE49-F238E27FC236}">
                  <a16:creationId xmlns:a16="http://schemas.microsoft.com/office/drawing/2014/main" id="{387B0990-4170-B444-AAB4-46A74D3EB046}"/>
                </a:ext>
              </a:extLst>
            </p:cNvPr>
            <p:cNvSpPr txBox="1"/>
            <p:nvPr/>
          </p:nvSpPr>
          <p:spPr>
            <a:xfrm>
              <a:off x="228600" y="2247900"/>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bb1:</a:t>
              </a:r>
            </a:p>
          </p:txBody>
        </p:sp>
        <p:cxnSp>
          <p:nvCxnSpPr>
            <p:cNvPr id="28" name="Straight Arrow Connector 27">
              <a:extLst>
                <a:ext uri="{FF2B5EF4-FFF2-40B4-BE49-F238E27FC236}">
                  <a16:creationId xmlns:a16="http://schemas.microsoft.com/office/drawing/2014/main" id="{461096E5-D8C2-CC41-81C5-EDCA882E8A17}"/>
                </a:ext>
              </a:extLst>
            </p:cNvPr>
            <p:cNvCxnSpPr>
              <a:cxnSpLocks/>
            </p:cNvCxnSpPr>
            <p:nvPr/>
          </p:nvCxnSpPr>
          <p:spPr>
            <a:xfrm>
              <a:off x="1633396" y="2040939"/>
              <a:ext cx="0" cy="25368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B812C6B-32EB-6845-B392-D68184D8CF3F}"/>
                </a:ext>
              </a:extLst>
            </p:cNvPr>
            <p:cNvCxnSpPr>
              <a:cxnSpLocks/>
            </p:cNvCxnSpPr>
            <p:nvPr/>
          </p:nvCxnSpPr>
          <p:spPr>
            <a:xfrm>
              <a:off x="2627176" y="2017325"/>
              <a:ext cx="0" cy="9675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6">
              <a:extLst>
                <a:ext uri="{FF2B5EF4-FFF2-40B4-BE49-F238E27FC236}">
                  <a16:creationId xmlns:a16="http://schemas.microsoft.com/office/drawing/2014/main" id="{279A12F4-9066-3647-A79D-7A38D53B5FD0}"/>
                </a:ext>
              </a:extLst>
            </p:cNvPr>
            <p:cNvCxnSpPr>
              <a:cxnSpLocks/>
              <a:endCxn id="23" idx="1"/>
            </p:cNvCxnSpPr>
            <p:nvPr/>
          </p:nvCxnSpPr>
          <p:spPr>
            <a:xfrm>
              <a:off x="1193319" y="2879399"/>
              <a:ext cx="766666" cy="397904"/>
            </a:xfrm>
            <a:prstGeom prst="bentConnector3">
              <a:avLst>
                <a:gd name="adj1" fmla="val -1299"/>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55F6664F-437A-0346-A545-CC974E8D2FC7}"/>
              </a:ext>
            </a:extLst>
          </p:cNvPr>
          <p:cNvGrpSpPr/>
          <p:nvPr/>
        </p:nvGrpSpPr>
        <p:grpSpPr>
          <a:xfrm>
            <a:off x="3124200" y="1409700"/>
            <a:ext cx="2813733" cy="2159990"/>
            <a:chOff x="228600" y="1409700"/>
            <a:chExt cx="2813733" cy="2159990"/>
          </a:xfrm>
        </p:grpSpPr>
        <p:sp>
          <p:nvSpPr>
            <p:cNvPr id="41" name="TextBox 40">
              <a:extLst>
                <a:ext uri="{FF2B5EF4-FFF2-40B4-BE49-F238E27FC236}">
                  <a16:creationId xmlns:a16="http://schemas.microsoft.com/office/drawing/2014/main" id="{7146C4B1-D5F2-534E-A38A-21F38A3BB80C}"/>
                </a:ext>
              </a:extLst>
            </p:cNvPr>
            <p:cNvSpPr txBox="1"/>
            <p:nvPr/>
          </p:nvSpPr>
          <p:spPr>
            <a:xfrm>
              <a:off x="837883" y="1456425"/>
              <a:ext cx="2092239" cy="584775"/>
            </a:xfrm>
            <a:prstGeom prst="rect">
              <a:avLst/>
            </a:prstGeom>
            <a:solidFill>
              <a:schemeClr val="accent6">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25</a:t>
              </a:r>
            </a:p>
            <a:p>
              <a:r>
                <a:rPr lang="en-US" sz="1600" b="1" dirty="0">
                  <a:solidFill>
                    <a:srgbClr val="FF0000"/>
                  </a:solidFill>
                  <a:latin typeface="Consolas" panose="020B0609020204030204" pitchFamily="49" charset="0"/>
                  <a:cs typeface="Consolas" panose="020B0609020204030204" pitchFamily="49" charset="0"/>
                </a:rPr>
                <a:t>if</a:t>
              </a:r>
              <a:r>
                <a:rPr lang="en-US" sz="1600" b="1" dirty="0">
                  <a:latin typeface="Consolas" panose="020B0609020204030204" pitchFamily="49" charset="0"/>
                  <a:cs typeface="Consolas" panose="020B0609020204030204" pitchFamily="49" charset="0"/>
                </a:rPr>
                <a:t> a bb1 </a:t>
              </a:r>
              <a:r>
                <a:rPr lang="en-US" sz="1600" b="1" dirty="0">
                  <a:solidFill>
                    <a:srgbClr val="FF0000"/>
                  </a:solidFill>
                  <a:latin typeface="Consolas" panose="020B0609020204030204" pitchFamily="49" charset="0"/>
                  <a:cs typeface="Consolas" panose="020B0609020204030204" pitchFamily="49" charset="0"/>
                </a:rPr>
                <a:t>else</a:t>
              </a:r>
              <a:r>
                <a:rPr lang="en-US" sz="1600" b="1" dirty="0">
                  <a:latin typeface="Consolas" panose="020B0609020204030204" pitchFamily="49" charset="0"/>
                  <a:cs typeface="Consolas" panose="020B0609020204030204" pitchFamily="49" charset="0"/>
                </a:rPr>
                <a:t> bb2</a:t>
              </a:r>
            </a:p>
          </p:txBody>
        </p:sp>
        <p:sp>
          <p:nvSpPr>
            <p:cNvPr id="42" name="TextBox 41">
              <a:extLst>
                <a:ext uri="{FF2B5EF4-FFF2-40B4-BE49-F238E27FC236}">
                  <a16:creationId xmlns:a16="http://schemas.microsoft.com/office/drawing/2014/main" id="{A567035E-1606-124F-A178-2F6BE999B637}"/>
                </a:ext>
              </a:extLst>
            </p:cNvPr>
            <p:cNvSpPr txBox="1"/>
            <p:nvPr/>
          </p:nvSpPr>
          <p:spPr>
            <a:xfrm>
              <a:off x="1959985" y="2984915"/>
              <a:ext cx="1082348" cy="584775"/>
            </a:xfrm>
            <a:prstGeom prst="rect">
              <a:avLst/>
            </a:prstGeom>
            <a:solidFill>
              <a:schemeClr val="accent2">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$t0 = </a:t>
              </a:r>
              <a:r>
                <a:rPr lang="en-US" sz="1600" b="1" dirty="0">
                  <a:solidFill>
                    <a:schemeClr val="accent3">
                      <a:lumMod val="75000"/>
                    </a:schemeClr>
                  </a:solidFill>
                  <a:latin typeface="Consolas" panose="020B0609020204030204" pitchFamily="49" charset="0"/>
                  <a:cs typeface="Consolas" panose="020B0609020204030204" pitchFamily="49" charset="0"/>
                </a:rPr>
                <a:t>25</a:t>
              </a:r>
            </a:p>
            <a:p>
              <a:r>
                <a:rPr lang="en-US" sz="1600" b="1" dirty="0">
                  <a:solidFill>
                    <a:srgbClr val="FF0000"/>
                  </a:solidFill>
                  <a:latin typeface="Consolas" panose="020B0609020204030204" pitchFamily="49" charset="0"/>
                  <a:cs typeface="Consolas" panose="020B0609020204030204" pitchFamily="49" charset="0"/>
                </a:rPr>
                <a:t>return</a:t>
              </a:r>
            </a:p>
          </p:txBody>
        </p:sp>
        <p:sp>
          <p:nvSpPr>
            <p:cNvPr id="43" name="TextBox 42">
              <a:extLst>
                <a:ext uri="{FF2B5EF4-FFF2-40B4-BE49-F238E27FC236}">
                  <a16:creationId xmlns:a16="http://schemas.microsoft.com/office/drawing/2014/main" id="{5B5E7E69-2A06-4A4B-9EA1-6F3122DB9836}"/>
                </a:ext>
              </a:extLst>
            </p:cNvPr>
            <p:cNvSpPr txBox="1"/>
            <p:nvPr/>
          </p:nvSpPr>
          <p:spPr>
            <a:xfrm>
              <a:off x="1344856" y="2951327"/>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bb2:</a:t>
              </a:r>
            </a:p>
          </p:txBody>
        </p:sp>
        <p:sp>
          <p:nvSpPr>
            <p:cNvPr id="44" name="TextBox 43">
              <a:extLst>
                <a:ext uri="{FF2B5EF4-FFF2-40B4-BE49-F238E27FC236}">
                  <a16:creationId xmlns:a16="http://schemas.microsoft.com/office/drawing/2014/main" id="{54F44294-B133-364A-8083-79C81C120AF8}"/>
                </a:ext>
              </a:extLst>
            </p:cNvPr>
            <p:cNvSpPr txBox="1"/>
            <p:nvPr/>
          </p:nvSpPr>
          <p:spPr>
            <a:xfrm>
              <a:off x="228600" y="1409700"/>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bb0:</a:t>
              </a:r>
            </a:p>
          </p:txBody>
        </p:sp>
        <p:sp>
          <p:nvSpPr>
            <p:cNvPr id="45" name="TextBox 44">
              <a:extLst>
                <a:ext uri="{FF2B5EF4-FFF2-40B4-BE49-F238E27FC236}">
                  <a16:creationId xmlns:a16="http://schemas.microsoft.com/office/drawing/2014/main" id="{BF567EA7-4BA4-4749-9DFE-556016865F86}"/>
                </a:ext>
              </a:extLst>
            </p:cNvPr>
            <p:cNvSpPr txBox="1"/>
            <p:nvPr/>
          </p:nvSpPr>
          <p:spPr>
            <a:xfrm>
              <a:off x="837884" y="2294625"/>
              <a:ext cx="1122096" cy="584775"/>
            </a:xfrm>
            <a:prstGeom prst="rect">
              <a:avLst/>
            </a:prstGeom>
            <a:solidFill>
              <a:schemeClr val="accent1">
                <a:lumMod val="40000"/>
                <a:lumOff val="60000"/>
              </a:schemeClr>
            </a:solidFill>
          </p:spPr>
          <p:txBody>
            <a:bodyPr wrap="square" rtlCol="0">
              <a:spAutoFit/>
            </a:bodyPr>
            <a:lstStyle/>
            <a:p>
              <a:r>
                <a:rPr lang="en-US" sz="1600" b="1" dirty="0">
                  <a:latin typeface="Consolas" panose="020B0609020204030204" pitchFamily="49" charset="0"/>
                  <a:cs typeface="Consolas" panose="020B0609020204030204" pitchFamily="49" charset="0"/>
                </a:rPr>
                <a:t>f()</a:t>
              </a:r>
            </a:p>
            <a:p>
              <a:r>
                <a:rPr lang="en-US" sz="1600" b="1" dirty="0" err="1">
                  <a:solidFill>
                    <a:srgbClr val="FF0000"/>
                  </a:solidFill>
                  <a:latin typeface="Consolas" panose="020B0609020204030204" pitchFamily="49" charset="0"/>
                  <a:cs typeface="Consolas" panose="020B0609020204030204" pitchFamily="49" charset="0"/>
                </a:rPr>
                <a:t>goto</a:t>
              </a:r>
              <a:r>
                <a:rPr lang="en-US" sz="1600" b="1" dirty="0">
                  <a:latin typeface="Consolas" panose="020B0609020204030204" pitchFamily="49" charset="0"/>
                  <a:cs typeface="Consolas" panose="020B0609020204030204" pitchFamily="49" charset="0"/>
                </a:rPr>
                <a:t> bb2</a:t>
              </a:r>
            </a:p>
          </p:txBody>
        </p:sp>
        <p:sp>
          <p:nvSpPr>
            <p:cNvPr id="46" name="TextBox 45">
              <a:extLst>
                <a:ext uri="{FF2B5EF4-FFF2-40B4-BE49-F238E27FC236}">
                  <a16:creationId xmlns:a16="http://schemas.microsoft.com/office/drawing/2014/main" id="{00109269-980B-EF42-B909-D10F1EAF032C}"/>
                </a:ext>
              </a:extLst>
            </p:cNvPr>
            <p:cNvSpPr txBox="1"/>
            <p:nvPr/>
          </p:nvSpPr>
          <p:spPr>
            <a:xfrm>
              <a:off x="228600" y="2247900"/>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bb1:</a:t>
              </a:r>
            </a:p>
          </p:txBody>
        </p:sp>
        <p:cxnSp>
          <p:nvCxnSpPr>
            <p:cNvPr id="47" name="Straight Arrow Connector 46">
              <a:extLst>
                <a:ext uri="{FF2B5EF4-FFF2-40B4-BE49-F238E27FC236}">
                  <a16:creationId xmlns:a16="http://schemas.microsoft.com/office/drawing/2014/main" id="{B4E144B5-96B8-3442-802A-FDBD3AA1D192}"/>
                </a:ext>
              </a:extLst>
            </p:cNvPr>
            <p:cNvCxnSpPr>
              <a:cxnSpLocks/>
            </p:cNvCxnSpPr>
            <p:nvPr/>
          </p:nvCxnSpPr>
          <p:spPr>
            <a:xfrm>
              <a:off x="1633396" y="2040939"/>
              <a:ext cx="0" cy="25368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6DA55F4-57FC-6840-86C8-C4C7D00E6EAC}"/>
                </a:ext>
              </a:extLst>
            </p:cNvPr>
            <p:cNvCxnSpPr>
              <a:cxnSpLocks/>
            </p:cNvCxnSpPr>
            <p:nvPr/>
          </p:nvCxnSpPr>
          <p:spPr>
            <a:xfrm>
              <a:off x="2627176" y="2017325"/>
              <a:ext cx="0" cy="9675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26">
              <a:extLst>
                <a:ext uri="{FF2B5EF4-FFF2-40B4-BE49-F238E27FC236}">
                  <a16:creationId xmlns:a16="http://schemas.microsoft.com/office/drawing/2014/main" id="{2E75C540-1363-6E4A-A476-9A808D614D77}"/>
                </a:ext>
              </a:extLst>
            </p:cNvPr>
            <p:cNvCxnSpPr>
              <a:cxnSpLocks/>
              <a:endCxn id="42" idx="1"/>
            </p:cNvCxnSpPr>
            <p:nvPr/>
          </p:nvCxnSpPr>
          <p:spPr>
            <a:xfrm>
              <a:off x="1193319" y="2879399"/>
              <a:ext cx="766666" cy="397904"/>
            </a:xfrm>
            <a:prstGeom prst="bentConnector3">
              <a:avLst>
                <a:gd name="adj1" fmla="val 1266"/>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C895819B-337A-5045-A6C2-9D84BB3CC83C}"/>
              </a:ext>
            </a:extLst>
          </p:cNvPr>
          <p:cNvGrpSpPr/>
          <p:nvPr/>
        </p:nvGrpSpPr>
        <p:grpSpPr>
          <a:xfrm>
            <a:off x="6180523" y="1409700"/>
            <a:ext cx="2813733" cy="1937644"/>
            <a:chOff x="228600" y="1409700"/>
            <a:chExt cx="2813733" cy="1937644"/>
          </a:xfrm>
        </p:grpSpPr>
        <p:sp>
          <p:nvSpPr>
            <p:cNvPr id="52" name="TextBox 51">
              <a:extLst>
                <a:ext uri="{FF2B5EF4-FFF2-40B4-BE49-F238E27FC236}">
                  <a16:creationId xmlns:a16="http://schemas.microsoft.com/office/drawing/2014/main" id="{E27181B0-9900-D54F-932D-F9AD0BB1DF46}"/>
                </a:ext>
              </a:extLst>
            </p:cNvPr>
            <p:cNvSpPr txBox="1"/>
            <p:nvPr/>
          </p:nvSpPr>
          <p:spPr>
            <a:xfrm>
              <a:off x="837883" y="1456425"/>
              <a:ext cx="2092239" cy="338554"/>
            </a:xfrm>
            <a:prstGeom prst="rect">
              <a:avLst/>
            </a:prstGeom>
            <a:solidFill>
              <a:schemeClr val="accent6">
                <a:lumMod val="40000"/>
                <a:lumOff val="60000"/>
              </a:schemeClr>
            </a:solidFill>
          </p:spPr>
          <p:txBody>
            <a:bodyPr wrap="none" rtlCol="0">
              <a:spAutoFit/>
            </a:bodyPr>
            <a:lstStyle/>
            <a:p>
              <a:r>
                <a:rPr lang="en-US" sz="1600" b="1" dirty="0">
                  <a:solidFill>
                    <a:srgbClr val="FF0000"/>
                  </a:solidFill>
                  <a:latin typeface="Consolas" panose="020B0609020204030204" pitchFamily="49" charset="0"/>
                  <a:cs typeface="Consolas" panose="020B0609020204030204" pitchFamily="49" charset="0"/>
                </a:rPr>
                <a:t>if</a:t>
              </a:r>
              <a:r>
                <a:rPr lang="en-US" sz="1600" b="1" dirty="0">
                  <a:latin typeface="Consolas" panose="020B0609020204030204" pitchFamily="49" charset="0"/>
                  <a:cs typeface="Consolas" panose="020B0609020204030204" pitchFamily="49" charset="0"/>
                </a:rPr>
                <a:t> a bb1 </a:t>
              </a:r>
              <a:r>
                <a:rPr lang="en-US" sz="1600" b="1" dirty="0">
                  <a:solidFill>
                    <a:srgbClr val="FF0000"/>
                  </a:solidFill>
                  <a:latin typeface="Consolas" panose="020B0609020204030204" pitchFamily="49" charset="0"/>
                  <a:cs typeface="Consolas" panose="020B0609020204030204" pitchFamily="49" charset="0"/>
                </a:rPr>
                <a:t>else</a:t>
              </a:r>
              <a:r>
                <a:rPr lang="en-US" sz="1600" b="1" dirty="0">
                  <a:latin typeface="Consolas" panose="020B0609020204030204" pitchFamily="49" charset="0"/>
                  <a:cs typeface="Consolas" panose="020B0609020204030204" pitchFamily="49" charset="0"/>
                </a:rPr>
                <a:t> bb2</a:t>
              </a:r>
            </a:p>
          </p:txBody>
        </p:sp>
        <p:sp>
          <p:nvSpPr>
            <p:cNvPr id="53" name="TextBox 52">
              <a:extLst>
                <a:ext uri="{FF2B5EF4-FFF2-40B4-BE49-F238E27FC236}">
                  <a16:creationId xmlns:a16="http://schemas.microsoft.com/office/drawing/2014/main" id="{DFDDE517-AA70-8649-96EE-D7C64CC61365}"/>
                </a:ext>
              </a:extLst>
            </p:cNvPr>
            <p:cNvSpPr txBox="1"/>
            <p:nvPr/>
          </p:nvSpPr>
          <p:spPr>
            <a:xfrm>
              <a:off x="1959985" y="2762569"/>
              <a:ext cx="1082348" cy="584775"/>
            </a:xfrm>
            <a:prstGeom prst="rect">
              <a:avLst/>
            </a:prstGeom>
            <a:solidFill>
              <a:schemeClr val="accent2">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$t0 = </a:t>
              </a:r>
              <a:r>
                <a:rPr lang="en-US" sz="1600" b="1" dirty="0">
                  <a:solidFill>
                    <a:schemeClr val="accent3">
                      <a:lumMod val="75000"/>
                    </a:schemeClr>
                  </a:solidFill>
                  <a:latin typeface="Consolas" panose="020B0609020204030204" pitchFamily="49" charset="0"/>
                  <a:cs typeface="Consolas" panose="020B0609020204030204" pitchFamily="49" charset="0"/>
                </a:rPr>
                <a:t>25</a:t>
              </a:r>
            </a:p>
            <a:p>
              <a:r>
                <a:rPr lang="en-US" sz="1600" b="1" dirty="0">
                  <a:solidFill>
                    <a:srgbClr val="FF0000"/>
                  </a:solidFill>
                  <a:latin typeface="Consolas" panose="020B0609020204030204" pitchFamily="49" charset="0"/>
                  <a:cs typeface="Consolas" panose="020B0609020204030204" pitchFamily="49" charset="0"/>
                </a:rPr>
                <a:t>return</a:t>
              </a:r>
            </a:p>
          </p:txBody>
        </p:sp>
        <p:sp>
          <p:nvSpPr>
            <p:cNvPr id="54" name="TextBox 53">
              <a:extLst>
                <a:ext uri="{FF2B5EF4-FFF2-40B4-BE49-F238E27FC236}">
                  <a16:creationId xmlns:a16="http://schemas.microsoft.com/office/drawing/2014/main" id="{0064AF41-50DE-EE49-991B-568B230F59C1}"/>
                </a:ext>
              </a:extLst>
            </p:cNvPr>
            <p:cNvSpPr txBox="1"/>
            <p:nvPr/>
          </p:nvSpPr>
          <p:spPr>
            <a:xfrm>
              <a:off x="1344856" y="2708533"/>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bb2:</a:t>
              </a:r>
            </a:p>
          </p:txBody>
        </p:sp>
        <p:sp>
          <p:nvSpPr>
            <p:cNvPr id="55" name="TextBox 54">
              <a:extLst>
                <a:ext uri="{FF2B5EF4-FFF2-40B4-BE49-F238E27FC236}">
                  <a16:creationId xmlns:a16="http://schemas.microsoft.com/office/drawing/2014/main" id="{A24EE231-6A2B-6540-BF49-FF935892EB17}"/>
                </a:ext>
              </a:extLst>
            </p:cNvPr>
            <p:cNvSpPr txBox="1"/>
            <p:nvPr/>
          </p:nvSpPr>
          <p:spPr>
            <a:xfrm>
              <a:off x="228600" y="1409700"/>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bb0:</a:t>
              </a:r>
            </a:p>
          </p:txBody>
        </p:sp>
        <p:sp>
          <p:nvSpPr>
            <p:cNvPr id="56" name="TextBox 55">
              <a:extLst>
                <a:ext uri="{FF2B5EF4-FFF2-40B4-BE49-F238E27FC236}">
                  <a16:creationId xmlns:a16="http://schemas.microsoft.com/office/drawing/2014/main" id="{57F5D9CC-5F8B-BF49-A8F2-CA265C952A67}"/>
                </a:ext>
              </a:extLst>
            </p:cNvPr>
            <p:cNvSpPr txBox="1"/>
            <p:nvPr/>
          </p:nvSpPr>
          <p:spPr>
            <a:xfrm>
              <a:off x="837884" y="2072279"/>
              <a:ext cx="1122096" cy="584775"/>
            </a:xfrm>
            <a:prstGeom prst="rect">
              <a:avLst/>
            </a:prstGeom>
            <a:solidFill>
              <a:schemeClr val="accent1">
                <a:lumMod val="40000"/>
                <a:lumOff val="60000"/>
              </a:schemeClr>
            </a:solidFill>
          </p:spPr>
          <p:txBody>
            <a:bodyPr wrap="square" rtlCol="0">
              <a:spAutoFit/>
            </a:bodyPr>
            <a:lstStyle/>
            <a:p>
              <a:r>
                <a:rPr lang="en-US" sz="1600" b="1" dirty="0">
                  <a:latin typeface="Consolas" panose="020B0609020204030204" pitchFamily="49" charset="0"/>
                  <a:cs typeface="Consolas" panose="020B0609020204030204" pitchFamily="49" charset="0"/>
                </a:rPr>
                <a:t>f()</a:t>
              </a:r>
            </a:p>
            <a:p>
              <a:r>
                <a:rPr lang="en-US" sz="1600" b="1" dirty="0" err="1">
                  <a:solidFill>
                    <a:srgbClr val="FF0000"/>
                  </a:solidFill>
                  <a:latin typeface="Consolas" panose="020B0609020204030204" pitchFamily="49" charset="0"/>
                  <a:cs typeface="Consolas" panose="020B0609020204030204" pitchFamily="49" charset="0"/>
                </a:rPr>
                <a:t>goto</a:t>
              </a:r>
              <a:r>
                <a:rPr lang="en-US" sz="1600" b="1" dirty="0">
                  <a:latin typeface="Consolas" panose="020B0609020204030204" pitchFamily="49" charset="0"/>
                  <a:cs typeface="Consolas" panose="020B0609020204030204" pitchFamily="49" charset="0"/>
                </a:rPr>
                <a:t> bb2</a:t>
              </a:r>
            </a:p>
          </p:txBody>
        </p:sp>
        <p:sp>
          <p:nvSpPr>
            <p:cNvPr id="57" name="TextBox 56">
              <a:extLst>
                <a:ext uri="{FF2B5EF4-FFF2-40B4-BE49-F238E27FC236}">
                  <a16:creationId xmlns:a16="http://schemas.microsoft.com/office/drawing/2014/main" id="{C579023A-A4D2-FF4D-B0A3-868563B9B89E}"/>
                </a:ext>
              </a:extLst>
            </p:cNvPr>
            <p:cNvSpPr txBox="1"/>
            <p:nvPr/>
          </p:nvSpPr>
          <p:spPr>
            <a:xfrm>
              <a:off x="228600" y="2025554"/>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bb1:</a:t>
              </a:r>
            </a:p>
          </p:txBody>
        </p:sp>
        <p:cxnSp>
          <p:nvCxnSpPr>
            <p:cNvPr id="58" name="Straight Arrow Connector 57">
              <a:extLst>
                <a:ext uri="{FF2B5EF4-FFF2-40B4-BE49-F238E27FC236}">
                  <a16:creationId xmlns:a16="http://schemas.microsoft.com/office/drawing/2014/main" id="{10FC21E8-2DD1-C846-8AB8-7C3A22CB7C3F}"/>
                </a:ext>
              </a:extLst>
            </p:cNvPr>
            <p:cNvCxnSpPr>
              <a:cxnSpLocks/>
            </p:cNvCxnSpPr>
            <p:nvPr/>
          </p:nvCxnSpPr>
          <p:spPr>
            <a:xfrm>
              <a:off x="1633396" y="1818593"/>
              <a:ext cx="0" cy="25368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9D25DEF6-B3EB-D942-AAE8-6B07551B0DEE}"/>
                </a:ext>
              </a:extLst>
            </p:cNvPr>
            <p:cNvCxnSpPr>
              <a:cxnSpLocks/>
            </p:cNvCxnSpPr>
            <p:nvPr/>
          </p:nvCxnSpPr>
          <p:spPr>
            <a:xfrm>
              <a:off x="2627176" y="1794979"/>
              <a:ext cx="0" cy="9675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26">
              <a:extLst>
                <a:ext uri="{FF2B5EF4-FFF2-40B4-BE49-F238E27FC236}">
                  <a16:creationId xmlns:a16="http://schemas.microsoft.com/office/drawing/2014/main" id="{99BB880C-A40B-0348-9D95-7045D1F2D4C1}"/>
                </a:ext>
              </a:extLst>
            </p:cNvPr>
            <p:cNvCxnSpPr>
              <a:cxnSpLocks/>
              <a:endCxn id="53" idx="1"/>
            </p:cNvCxnSpPr>
            <p:nvPr/>
          </p:nvCxnSpPr>
          <p:spPr>
            <a:xfrm>
              <a:off x="1193319" y="2657053"/>
              <a:ext cx="766666" cy="397904"/>
            </a:xfrm>
            <a:prstGeom prst="bentConnector3">
              <a:avLst>
                <a:gd name="adj1" fmla="val 1266"/>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61" name="Down Arrow 60">
            <a:extLst>
              <a:ext uri="{FF2B5EF4-FFF2-40B4-BE49-F238E27FC236}">
                <a16:creationId xmlns:a16="http://schemas.microsoft.com/office/drawing/2014/main" id="{3BF13D47-A334-6445-9B3B-4A8A396BD490}"/>
              </a:ext>
            </a:extLst>
          </p:cNvPr>
          <p:cNvSpPr/>
          <p:nvPr/>
        </p:nvSpPr>
        <p:spPr>
          <a:xfrm rot="16200000">
            <a:off x="3064005" y="2613392"/>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Down Arrow 61">
            <a:extLst>
              <a:ext uri="{FF2B5EF4-FFF2-40B4-BE49-F238E27FC236}">
                <a16:creationId xmlns:a16="http://schemas.microsoft.com/office/drawing/2014/main" id="{412329F4-1CD0-704A-BC36-BDEE85C153AC}"/>
              </a:ext>
            </a:extLst>
          </p:cNvPr>
          <p:cNvSpPr/>
          <p:nvPr/>
        </p:nvSpPr>
        <p:spPr>
          <a:xfrm rot="16200000">
            <a:off x="6120328" y="2613391"/>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403EA079-0DF9-C344-A2AA-AC2620FAE413}"/>
              </a:ext>
            </a:extLst>
          </p:cNvPr>
          <p:cNvSpPr txBox="1"/>
          <p:nvPr/>
        </p:nvSpPr>
        <p:spPr>
          <a:xfrm>
            <a:off x="75511" y="3667020"/>
            <a:ext cx="3048689" cy="1107996"/>
          </a:xfrm>
          <a:prstGeom prst="rect">
            <a:avLst/>
          </a:prstGeom>
          <a:noFill/>
        </p:spPr>
        <p:txBody>
          <a:bodyPr wrap="square" rtlCol="0">
            <a:spAutoFit/>
          </a:bodyPr>
          <a:lstStyle/>
          <a:p>
            <a:pPr algn="ctr"/>
            <a:r>
              <a:rPr lang="en-US" sz="2200" b="1" dirty="0">
                <a:latin typeface="Consolas" panose="020B0609020204030204" pitchFamily="49" charset="0"/>
                <a:cs typeface="Consolas" panose="020B0609020204030204" pitchFamily="49" charset="0"/>
              </a:rPr>
              <a:t>x</a:t>
            </a:r>
            <a:r>
              <a:rPr lang="en-US" sz="2200" dirty="0"/>
              <a:t> is only </a:t>
            </a:r>
            <a:r>
              <a:rPr lang="en-US" sz="2200" i="1" dirty="0"/>
              <a:t>assigned</a:t>
            </a:r>
            <a:r>
              <a:rPr lang="en-US" sz="2200" dirty="0"/>
              <a:t> once, so copy its RHS everywhere it's used.</a:t>
            </a:r>
            <a:endParaRPr lang="en-US" sz="2200" b="1" dirty="0"/>
          </a:p>
        </p:txBody>
      </p:sp>
      <p:sp>
        <p:nvSpPr>
          <p:cNvPr id="65" name="TextBox 64">
            <a:extLst>
              <a:ext uri="{FF2B5EF4-FFF2-40B4-BE49-F238E27FC236}">
                <a16:creationId xmlns:a16="http://schemas.microsoft.com/office/drawing/2014/main" id="{E885971C-9E42-5C4F-8BCE-18CC0D3AA7A2}"/>
              </a:ext>
            </a:extLst>
          </p:cNvPr>
          <p:cNvSpPr txBox="1"/>
          <p:nvPr/>
        </p:nvSpPr>
        <p:spPr>
          <a:xfrm>
            <a:off x="3539401" y="3666592"/>
            <a:ext cx="2480402" cy="769441"/>
          </a:xfrm>
          <a:prstGeom prst="rect">
            <a:avLst/>
          </a:prstGeom>
          <a:noFill/>
        </p:spPr>
        <p:txBody>
          <a:bodyPr wrap="square" rtlCol="0">
            <a:spAutoFit/>
          </a:bodyPr>
          <a:lstStyle/>
          <a:p>
            <a:pPr algn="ctr"/>
            <a:r>
              <a:rPr lang="en-US" sz="2200" dirty="0"/>
              <a:t>now </a:t>
            </a:r>
            <a:r>
              <a:rPr lang="en-US" sz="2200" b="1" dirty="0">
                <a:latin typeface="Consolas" panose="020B0609020204030204" pitchFamily="49" charset="0"/>
                <a:cs typeface="Consolas" panose="020B0609020204030204" pitchFamily="49" charset="0"/>
              </a:rPr>
              <a:t>x</a:t>
            </a:r>
            <a:r>
              <a:rPr lang="en-US" sz="2200" dirty="0"/>
              <a:t> is never </a:t>
            </a:r>
            <a:r>
              <a:rPr lang="en-US" sz="2200" i="1" dirty="0"/>
              <a:t>used</a:t>
            </a:r>
            <a:r>
              <a:rPr lang="en-US" sz="2200" dirty="0"/>
              <a:t>, so delete it.</a:t>
            </a:r>
            <a:endParaRPr lang="en-US" sz="2200" b="1" dirty="0"/>
          </a:p>
        </p:txBody>
      </p:sp>
      <p:sp>
        <p:nvSpPr>
          <p:cNvPr id="66" name="TextBox 65">
            <a:extLst>
              <a:ext uri="{FF2B5EF4-FFF2-40B4-BE49-F238E27FC236}">
                <a16:creationId xmlns:a16="http://schemas.microsoft.com/office/drawing/2014/main" id="{9C645D5E-1F71-FF4F-BE34-501641307FA7}"/>
              </a:ext>
            </a:extLst>
          </p:cNvPr>
          <p:cNvSpPr txBox="1"/>
          <p:nvPr/>
        </p:nvSpPr>
        <p:spPr>
          <a:xfrm>
            <a:off x="6497276" y="3666164"/>
            <a:ext cx="2480402" cy="769441"/>
          </a:xfrm>
          <a:prstGeom prst="rect">
            <a:avLst/>
          </a:prstGeom>
          <a:noFill/>
        </p:spPr>
        <p:txBody>
          <a:bodyPr wrap="square" rtlCol="0">
            <a:spAutoFit/>
          </a:bodyPr>
          <a:lstStyle/>
          <a:p>
            <a:pPr algn="ctr"/>
            <a:r>
              <a:rPr lang="en-US" sz="2200" dirty="0"/>
              <a:t>that wasn't so bad, was it?</a:t>
            </a:r>
            <a:endParaRPr lang="en-US" sz="2200" b="1" dirty="0"/>
          </a:p>
        </p:txBody>
      </p:sp>
      <p:sp>
        <p:nvSpPr>
          <p:cNvPr id="68" name="TextBox 67">
            <a:extLst>
              <a:ext uri="{FF2B5EF4-FFF2-40B4-BE49-F238E27FC236}">
                <a16:creationId xmlns:a16="http://schemas.microsoft.com/office/drawing/2014/main" id="{D48130E1-B09A-654D-B234-18874DA32AD5}"/>
              </a:ext>
            </a:extLst>
          </p:cNvPr>
          <p:cNvSpPr txBox="1"/>
          <p:nvPr/>
        </p:nvSpPr>
        <p:spPr>
          <a:xfrm>
            <a:off x="7514939" y="4741816"/>
            <a:ext cx="1421567" cy="430887"/>
          </a:xfrm>
          <a:prstGeom prst="rect">
            <a:avLst/>
          </a:prstGeom>
          <a:noFill/>
        </p:spPr>
        <p:txBody>
          <a:bodyPr wrap="square" rtlCol="0">
            <a:spAutoFit/>
          </a:bodyPr>
          <a:lstStyle/>
          <a:p>
            <a:pPr algn="ctr"/>
            <a:r>
              <a:rPr lang="en-US" sz="2200" dirty="0"/>
              <a:t>well…</a:t>
            </a:r>
            <a:endParaRPr lang="en-US" sz="2200" b="1" dirty="0"/>
          </a:p>
        </p:txBody>
      </p:sp>
    </p:spTree>
    <p:extLst>
      <p:ext uri="{BB962C8B-B14F-4D97-AF65-F5344CB8AC3E}">
        <p14:creationId xmlns:p14="http://schemas.microsoft.com/office/powerpoint/2010/main" val="36484385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2" grpId="0" animBg="1"/>
      <p:bldP spid="64" grpId="0"/>
      <p:bldP spid="65" grpId="0"/>
      <p:bldP spid="66" grpId="0"/>
      <p:bldP spid="6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6D30F-A15B-014B-9C08-27B5FBAF811E}"/>
              </a:ext>
            </a:extLst>
          </p:cNvPr>
          <p:cNvSpPr>
            <a:spLocks noGrp="1"/>
          </p:cNvSpPr>
          <p:nvPr>
            <p:ph type="title"/>
          </p:nvPr>
        </p:nvSpPr>
        <p:spPr/>
        <p:txBody>
          <a:bodyPr/>
          <a:lstStyle/>
          <a:p>
            <a:r>
              <a:rPr lang="en-US" dirty="0"/>
              <a:t>Intuit THIS</a:t>
            </a:r>
          </a:p>
        </p:txBody>
      </p:sp>
      <p:sp>
        <p:nvSpPr>
          <p:cNvPr id="3" name="Content Placeholder 2">
            <a:extLst>
              <a:ext uri="{FF2B5EF4-FFF2-40B4-BE49-F238E27FC236}">
                <a16:creationId xmlns:a16="http://schemas.microsoft.com/office/drawing/2014/main" id="{64FB9919-3B7E-0E40-AB9F-F2C164C08EEF}"/>
              </a:ext>
            </a:extLst>
          </p:cNvPr>
          <p:cNvSpPr>
            <a:spLocks noGrp="1"/>
          </p:cNvSpPr>
          <p:nvPr>
            <p:ph idx="1"/>
          </p:nvPr>
        </p:nvSpPr>
        <p:spPr>
          <a:xfrm>
            <a:off x="152400" y="495302"/>
            <a:ext cx="8991600" cy="495300"/>
          </a:xfrm>
        </p:spPr>
        <p:txBody>
          <a:bodyPr/>
          <a:lstStyle/>
          <a:p>
            <a:r>
              <a:rPr lang="en-US" dirty="0"/>
              <a:t>if </a:t>
            </a:r>
            <a:r>
              <a:rPr lang="en-US" b="1" dirty="0">
                <a:latin typeface="Consolas" panose="020B0609020204030204" pitchFamily="49" charset="0"/>
                <a:cs typeface="Consolas" panose="020B0609020204030204" pitchFamily="49" charset="0"/>
              </a:rPr>
              <a:t>x</a:t>
            </a:r>
            <a:r>
              <a:rPr lang="en-US" dirty="0"/>
              <a:t> </a:t>
            </a:r>
            <a:r>
              <a:rPr lang="en-US" i="1" dirty="0"/>
              <a:t>is </a:t>
            </a:r>
            <a:r>
              <a:rPr lang="en-US" dirty="0"/>
              <a:t>reassigned, does that </a:t>
            </a:r>
            <a:r>
              <a:rPr lang="en-US" i="1" dirty="0"/>
              <a:t>always</a:t>
            </a:r>
            <a:r>
              <a:rPr lang="en-US" dirty="0"/>
              <a:t> mean we can't propagate?</a:t>
            </a:r>
          </a:p>
        </p:txBody>
      </p:sp>
      <p:sp>
        <p:nvSpPr>
          <p:cNvPr id="4" name="Slide Number Placeholder 3">
            <a:extLst>
              <a:ext uri="{FF2B5EF4-FFF2-40B4-BE49-F238E27FC236}">
                <a16:creationId xmlns:a16="http://schemas.microsoft.com/office/drawing/2014/main" id="{18C33615-A80F-264C-9C55-2514D288B7EC}"/>
              </a:ext>
            </a:extLst>
          </p:cNvPr>
          <p:cNvSpPr>
            <a:spLocks noGrp="1"/>
          </p:cNvSpPr>
          <p:nvPr>
            <p:ph type="sldNum" sz="quarter" idx="12"/>
          </p:nvPr>
        </p:nvSpPr>
        <p:spPr/>
        <p:txBody>
          <a:bodyPr/>
          <a:lstStyle/>
          <a:p>
            <a:fld id="{3552B95B-556F-44BD-91A5-D80C1B9E2BB3}" type="slidenum">
              <a:rPr lang="en-US" smtClean="0"/>
              <a:pPr/>
              <a:t>7</a:t>
            </a:fld>
            <a:endParaRPr lang="en-US"/>
          </a:p>
        </p:txBody>
      </p:sp>
      <p:grpSp>
        <p:nvGrpSpPr>
          <p:cNvPr id="5" name="Group 4">
            <a:extLst>
              <a:ext uri="{FF2B5EF4-FFF2-40B4-BE49-F238E27FC236}">
                <a16:creationId xmlns:a16="http://schemas.microsoft.com/office/drawing/2014/main" id="{F7FE4B1E-EC4A-3747-B9DD-CCF0C419038C}"/>
              </a:ext>
            </a:extLst>
          </p:cNvPr>
          <p:cNvGrpSpPr/>
          <p:nvPr/>
        </p:nvGrpSpPr>
        <p:grpSpPr>
          <a:xfrm>
            <a:off x="346478" y="1181100"/>
            <a:ext cx="2701522" cy="2159990"/>
            <a:chOff x="228600" y="1409700"/>
            <a:chExt cx="2701522" cy="2159990"/>
          </a:xfrm>
        </p:grpSpPr>
        <p:sp>
          <p:nvSpPr>
            <p:cNvPr id="6" name="TextBox 5">
              <a:extLst>
                <a:ext uri="{FF2B5EF4-FFF2-40B4-BE49-F238E27FC236}">
                  <a16:creationId xmlns:a16="http://schemas.microsoft.com/office/drawing/2014/main" id="{1C073848-A431-3345-81D0-DD34333C08B4}"/>
                </a:ext>
              </a:extLst>
            </p:cNvPr>
            <p:cNvSpPr txBox="1"/>
            <p:nvPr/>
          </p:nvSpPr>
          <p:spPr>
            <a:xfrm>
              <a:off x="837883" y="1456425"/>
              <a:ext cx="2092239" cy="584775"/>
            </a:xfrm>
            <a:prstGeom prst="rect">
              <a:avLst/>
            </a:prstGeom>
            <a:solidFill>
              <a:schemeClr val="accent6">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25</a:t>
              </a:r>
            </a:p>
            <a:p>
              <a:r>
                <a:rPr lang="en-US" sz="1600" b="1" dirty="0">
                  <a:solidFill>
                    <a:srgbClr val="FF0000"/>
                  </a:solidFill>
                  <a:latin typeface="Consolas" panose="020B0609020204030204" pitchFamily="49" charset="0"/>
                  <a:cs typeface="Consolas" panose="020B0609020204030204" pitchFamily="49" charset="0"/>
                </a:rPr>
                <a:t>if</a:t>
              </a:r>
              <a:r>
                <a:rPr lang="en-US" sz="1600" b="1" dirty="0">
                  <a:latin typeface="Consolas" panose="020B0609020204030204" pitchFamily="49" charset="0"/>
                  <a:cs typeface="Consolas" panose="020B0609020204030204" pitchFamily="49" charset="0"/>
                </a:rPr>
                <a:t> a bb1 </a:t>
              </a:r>
              <a:r>
                <a:rPr lang="en-US" sz="1600" b="1" dirty="0">
                  <a:solidFill>
                    <a:srgbClr val="FF0000"/>
                  </a:solidFill>
                  <a:latin typeface="Consolas" panose="020B0609020204030204" pitchFamily="49" charset="0"/>
                  <a:cs typeface="Consolas" panose="020B0609020204030204" pitchFamily="49" charset="0"/>
                </a:rPr>
                <a:t>else</a:t>
              </a:r>
              <a:r>
                <a:rPr lang="en-US" sz="1600" b="1" dirty="0">
                  <a:latin typeface="Consolas" panose="020B0609020204030204" pitchFamily="49" charset="0"/>
                  <a:cs typeface="Consolas" panose="020B0609020204030204" pitchFamily="49" charset="0"/>
                </a:rPr>
                <a:t> bb2</a:t>
              </a:r>
            </a:p>
          </p:txBody>
        </p:sp>
        <p:sp>
          <p:nvSpPr>
            <p:cNvPr id="7" name="TextBox 6">
              <a:extLst>
                <a:ext uri="{FF2B5EF4-FFF2-40B4-BE49-F238E27FC236}">
                  <a16:creationId xmlns:a16="http://schemas.microsoft.com/office/drawing/2014/main" id="{595F7FC2-9091-E043-9B13-7F886817A2C3}"/>
                </a:ext>
              </a:extLst>
            </p:cNvPr>
            <p:cNvSpPr txBox="1"/>
            <p:nvPr/>
          </p:nvSpPr>
          <p:spPr>
            <a:xfrm>
              <a:off x="1959985" y="2984915"/>
              <a:ext cx="970137" cy="584775"/>
            </a:xfrm>
            <a:prstGeom prst="rect">
              <a:avLst/>
            </a:prstGeom>
            <a:solidFill>
              <a:schemeClr val="accent2">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$t0 = x</a:t>
              </a:r>
            </a:p>
            <a:p>
              <a:r>
                <a:rPr lang="en-US" sz="1600" b="1" dirty="0">
                  <a:solidFill>
                    <a:srgbClr val="FF0000"/>
                  </a:solidFill>
                  <a:latin typeface="Consolas" panose="020B0609020204030204" pitchFamily="49" charset="0"/>
                  <a:cs typeface="Consolas" panose="020B0609020204030204" pitchFamily="49" charset="0"/>
                </a:rPr>
                <a:t>return</a:t>
              </a:r>
            </a:p>
          </p:txBody>
        </p:sp>
        <p:sp>
          <p:nvSpPr>
            <p:cNvPr id="8" name="TextBox 7">
              <a:extLst>
                <a:ext uri="{FF2B5EF4-FFF2-40B4-BE49-F238E27FC236}">
                  <a16:creationId xmlns:a16="http://schemas.microsoft.com/office/drawing/2014/main" id="{5BBF4A40-E23C-434A-A8C5-A29F39C7DB73}"/>
                </a:ext>
              </a:extLst>
            </p:cNvPr>
            <p:cNvSpPr txBox="1"/>
            <p:nvPr/>
          </p:nvSpPr>
          <p:spPr>
            <a:xfrm>
              <a:off x="1344856" y="2951327"/>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bb2:</a:t>
              </a:r>
            </a:p>
          </p:txBody>
        </p:sp>
        <p:sp>
          <p:nvSpPr>
            <p:cNvPr id="9" name="TextBox 8">
              <a:extLst>
                <a:ext uri="{FF2B5EF4-FFF2-40B4-BE49-F238E27FC236}">
                  <a16:creationId xmlns:a16="http://schemas.microsoft.com/office/drawing/2014/main" id="{187C4CF1-1686-B640-BE15-044A93815FBE}"/>
                </a:ext>
              </a:extLst>
            </p:cNvPr>
            <p:cNvSpPr txBox="1"/>
            <p:nvPr/>
          </p:nvSpPr>
          <p:spPr>
            <a:xfrm>
              <a:off x="228600" y="1409700"/>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bb0:</a:t>
              </a:r>
            </a:p>
          </p:txBody>
        </p:sp>
        <p:sp>
          <p:nvSpPr>
            <p:cNvPr id="10" name="TextBox 9">
              <a:extLst>
                <a:ext uri="{FF2B5EF4-FFF2-40B4-BE49-F238E27FC236}">
                  <a16:creationId xmlns:a16="http://schemas.microsoft.com/office/drawing/2014/main" id="{3277695D-4447-FF42-B394-12A6CD313F2D}"/>
                </a:ext>
              </a:extLst>
            </p:cNvPr>
            <p:cNvSpPr txBox="1"/>
            <p:nvPr/>
          </p:nvSpPr>
          <p:spPr>
            <a:xfrm>
              <a:off x="837884" y="2294625"/>
              <a:ext cx="1122096" cy="584775"/>
            </a:xfrm>
            <a:prstGeom prst="rect">
              <a:avLst/>
            </a:prstGeom>
            <a:solidFill>
              <a:schemeClr val="accent1">
                <a:lumMod val="40000"/>
                <a:lumOff val="60000"/>
              </a:schemeClr>
            </a:solidFill>
          </p:spPr>
          <p:txBody>
            <a:bodyPr wrap="squar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10</a:t>
              </a:r>
            </a:p>
            <a:p>
              <a:r>
                <a:rPr lang="en-US" sz="1600" b="1" dirty="0" err="1">
                  <a:solidFill>
                    <a:srgbClr val="FF0000"/>
                  </a:solidFill>
                  <a:latin typeface="Consolas" panose="020B0609020204030204" pitchFamily="49" charset="0"/>
                  <a:cs typeface="Consolas" panose="020B0609020204030204" pitchFamily="49" charset="0"/>
                </a:rPr>
                <a:t>goto</a:t>
              </a:r>
              <a:r>
                <a:rPr lang="en-US" sz="1600" b="1" dirty="0">
                  <a:latin typeface="Consolas" panose="020B0609020204030204" pitchFamily="49" charset="0"/>
                  <a:cs typeface="Consolas" panose="020B0609020204030204" pitchFamily="49" charset="0"/>
                </a:rPr>
                <a:t> bb2</a:t>
              </a:r>
            </a:p>
          </p:txBody>
        </p:sp>
        <p:sp>
          <p:nvSpPr>
            <p:cNvPr id="11" name="TextBox 10">
              <a:extLst>
                <a:ext uri="{FF2B5EF4-FFF2-40B4-BE49-F238E27FC236}">
                  <a16:creationId xmlns:a16="http://schemas.microsoft.com/office/drawing/2014/main" id="{61682F7A-4954-6C42-8668-87B6BE57E0FE}"/>
                </a:ext>
              </a:extLst>
            </p:cNvPr>
            <p:cNvSpPr txBox="1"/>
            <p:nvPr/>
          </p:nvSpPr>
          <p:spPr>
            <a:xfrm>
              <a:off x="228600" y="2247900"/>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bb1:</a:t>
              </a:r>
            </a:p>
          </p:txBody>
        </p:sp>
        <p:cxnSp>
          <p:nvCxnSpPr>
            <p:cNvPr id="12" name="Straight Arrow Connector 11">
              <a:extLst>
                <a:ext uri="{FF2B5EF4-FFF2-40B4-BE49-F238E27FC236}">
                  <a16:creationId xmlns:a16="http://schemas.microsoft.com/office/drawing/2014/main" id="{7D536F91-AC4E-3B40-AFC3-095E7DF76B5C}"/>
                </a:ext>
              </a:extLst>
            </p:cNvPr>
            <p:cNvCxnSpPr>
              <a:cxnSpLocks/>
            </p:cNvCxnSpPr>
            <p:nvPr/>
          </p:nvCxnSpPr>
          <p:spPr>
            <a:xfrm>
              <a:off x="1633396" y="2040939"/>
              <a:ext cx="0" cy="25368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02218B2-3CCD-0840-8D89-B400B8198491}"/>
                </a:ext>
              </a:extLst>
            </p:cNvPr>
            <p:cNvCxnSpPr>
              <a:cxnSpLocks/>
            </p:cNvCxnSpPr>
            <p:nvPr/>
          </p:nvCxnSpPr>
          <p:spPr>
            <a:xfrm>
              <a:off x="2627176" y="2017325"/>
              <a:ext cx="0" cy="9675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26">
              <a:extLst>
                <a:ext uri="{FF2B5EF4-FFF2-40B4-BE49-F238E27FC236}">
                  <a16:creationId xmlns:a16="http://schemas.microsoft.com/office/drawing/2014/main" id="{6A318512-156B-564B-8BBC-762A105F4E6F}"/>
                </a:ext>
              </a:extLst>
            </p:cNvPr>
            <p:cNvCxnSpPr>
              <a:cxnSpLocks/>
              <a:endCxn id="7" idx="1"/>
            </p:cNvCxnSpPr>
            <p:nvPr/>
          </p:nvCxnSpPr>
          <p:spPr>
            <a:xfrm>
              <a:off x="1193319" y="2879399"/>
              <a:ext cx="766666" cy="397904"/>
            </a:xfrm>
            <a:prstGeom prst="bentConnector3">
              <a:avLst>
                <a:gd name="adj1" fmla="val -1299"/>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C55ED0AC-C5DB-4342-8119-43099437CA1F}"/>
              </a:ext>
            </a:extLst>
          </p:cNvPr>
          <p:cNvGrpSpPr/>
          <p:nvPr/>
        </p:nvGrpSpPr>
        <p:grpSpPr>
          <a:xfrm>
            <a:off x="4364622" y="1181100"/>
            <a:ext cx="3462760" cy="2448515"/>
            <a:chOff x="4593220" y="1181100"/>
            <a:chExt cx="3462760" cy="2448515"/>
          </a:xfrm>
        </p:grpSpPr>
        <p:sp>
          <p:nvSpPr>
            <p:cNvPr id="16" name="TextBox 15">
              <a:extLst>
                <a:ext uri="{FF2B5EF4-FFF2-40B4-BE49-F238E27FC236}">
                  <a16:creationId xmlns:a16="http://schemas.microsoft.com/office/drawing/2014/main" id="{0427943A-980B-2643-8CA5-6781593C1B60}"/>
                </a:ext>
              </a:extLst>
            </p:cNvPr>
            <p:cNvSpPr txBox="1"/>
            <p:nvPr/>
          </p:nvSpPr>
          <p:spPr>
            <a:xfrm>
              <a:off x="5446576" y="1227825"/>
              <a:ext cx="2092239" cy="584775"/>
            </a:xfrm>
            <a:prstGeom prst="rect">
              <a:avLst/>
            </a:prstGeom>
            <a:solidFill>
              <a:schemeClr val="accent6">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25</a:t>
              </a:r>
            </a:p>
            <a:p>
              <a:r>
                <a:rPr lang="en-US" sz="1600" b="1" dirty="0">
                  <a:solidFill>
                    <a:srgbClr val="FF0000"/>
                  </a:solidFill>
                  <a:latin typeface="Consolas" panose="020B0609020204030204" pitchFamily="49" charset="0"/>
                  <a:cs typeface="Consolas" panose="020B0609020204030204" pitchFamily="49" charset="0"/>
                </a:rPr>
                <a:t>if</a:t>
              </a:r>
              <a:r>
                <a:rPr lang="en-US" sz="1600" b="1" dirty="0">
                  <a:latin typeface="Consolas" panose="020B0609020204030204" pitchFamily="49" charset="0"/>
                  <a:cs typeface="Consolas" panose="020B0609020204030204" pitchFamily="49" charset="0"/>
                </a:rPr>
                <a:t> a bb1 </a:t>
              </a:r>
              <a:r>
                <a:rPr lang="en-US" sz="1600" b="1" dirty="0">
                  <a:solidFill>
                    <a:srgbClr val="FF0000"/>
                  </a:solidFill>
                  <a:latin typeface="Consolas" panose="020B0609020204030204" pitchFamily="49" charset="0"/>
                  <a:cs typeface="Consolas" panose="020B0609020204030204" pitchFamily="49" charset="0"/>
                </a:rPr>
                <a:t>else</a:t>
              </a:r>
              <a:r>
                <a:rPr lang="en-US" sz="1600" b="1" dirty="0">
                  <a:latin typeface="Consolas" panose="020B0609020204030204" pitchFamily="49" charset="0"/>
                  <a:cs typeface="Consolas" panose="020B0609020204030204" pitchFamily="49" charset="0"/>
                </a:rPr>
                <a:t> bb2</a:t>
              </a:r>
            </a:p>
          </p:txBody>
        </p:sp>
        <p:sp>
          <p:nvSpPr>
            <p:cNvPr id="17" name="TextBox 16">
              <a:extLst>
                <a:ext uri="{FF2B5EF4-FFF2-40B4-BE49-F238E27FC236}">
                  <a16:creationId xmlns:a16="http://schemas.microsoft.com/office/drawing/2014/main" id="{EDA694EE-0025-2D4D-8673-B8842A8AB3B7}"/>
                </a:ext>
              </a:extLst>
            </p:cNvPr>
            <p:cNvSpPr txBox="1"/>
            <p:nvPr/>
          </p:nvSpPr>
          <p:spPr>
            <a:xfrm>
              <a:off x="6103374" y="3044840"/>
              <a:ext cx="970137" cy="584775"/>
            </a:xfrm>
            <a:prstGeom prst="rect">
              <a:avLst/>
            </a:prstGeom>
            <a:solidFill>
              <a:schemeClr val="accent2">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$t0 = x</a:t>
              </a:r>
            </a:p>
            <a:p>
              <a:r>
                <a:rPr lang="en-US" sz="1600" b="1" dirty="0">
                  <a:solidFill>
                    <a:srgbClr val="FF0000"/>
                  </a:solidFill>
                  <a:latin typeface="Consolas" panose="020B0609020204030204" pitchFamily="49" charset="0"/>
                  <a:cs typeface="Consolas" panose="020B0609020204030204" pitchFamily="49" charset="0"/>
                </a:rPr>
                <a:t>return</a:t>
              </a:r>
            </a:p>
          </p:txBody>
        </p:sp>
        <p:sp>
          <p:nvSpPr>
            <p:cNvPr id="18" name="TextBox 17">
              <a:extLst>
                <a:ext uri="{FF2B5EF4-FFF2-40B4-BE49-F238E27FC236}">
                  <a16:creationId xmlns:a16="http://schemas.microsoft.com/office/drawing/2014/main" id="{6744592F-8DC0-9343-9A40-B5A471EBC65A}"/>
                </a:ext>
              </a:extLst>
            </p:cNvPr>
            <p:cNvSpPr txBox="1"/>
            <p:nvPr/>
          </p:nvSpPr>
          <p:spPr>
            <a:xfrm>
              <a:off x="5488245" y="3011252"/>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bb3:</a:t>
              </a:r>
            </a:p>
          </p:txBody>
        </p:sp>
        <p:sp>
          <p:nvSpPr>
            <p:cNvPr id="19" name="TextBox 18">
              <a:extLst>
                <a:ext uri="{FF2B5EF4-FFF2-40B4-BE49-F238E27FC236}">
                  <a16:creationId xmlns:a16="http://schemas.microsoft.com/office/drawing/2014/main" id="{15C9543F-C5CE-3B4F-B077-C4F381B23F01}"/>
                </a:ext>
              </a:extLst>
            </p:cNvPr>
            <p:cNvSpPr txBox="1"/>
            <p:nvPr/>
          </p:nvSpPr>
          <p:spPr>
            <a:xfrm>
              <a:off x="4837293" y="1181100"/>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bb0:</a:t>
              </a:r>
            </a:p>
          </p:txBody>
        </p:sp>
        <p:sp>
          <p:nvSpPr>
            <p:cNvPr id="20" name="TextBox 19">
              <a:extLst>
                <a:ext uri="{FF2B5EF4-FFF2-40B4-BE49-F238E27FC236}">
                  <a16:creationId xmlns:a16="http://schemas.microsoft.com/office/drawing/2014/main" id="{D3EE7562-3F0A-324F-8EA7-DC7A40D07D06}"/>
                </a:ext>
              </a:extLst>
            </p:cNvPr>
            <p:cNvSpPr txBox="1"/>
            <p:nvPr/>
          </p:nvSpPr>
          <p:spPr>
            <a:xfrm>
              <a:off x="5202504" y="2066025"/>
              <a:ext cx="1122096" cy="584775"/>
            </a:xfrm>
            <a:prstGeom prst="rect">
              <a:avLst/>
            </a:prstGeom>
            <a:solidFill>
              <a:schemeClr val="accent1">
                <a:lumMod val="40000"/>
                <a:lumOff val="60000"/>
              </a:schemeClr>
            </a:solidFill>
          </p:spPr>
          <p:txBody>
            <a:bodyPr wrap="squar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10</a:t>
              </a:r>
            </a:p>
            <a:p>
              <a:r>
                <a:rPr lang="en-US" sz="1600" b="1" dirty="0" err="1">
                  <a:solidFill>
                    <a:srgbClr val="FF0000"/>
                  </a:solidFill>
                  <a:latin typeface="Consolas" panose="020B0609020204030204" pitchFamily="49" charset="0"/>
                  <a:cs typeface="Consolas" panose="020B0609020204030204" pitchFamily="49" charset="0"/>
                </a:rPr>
                <a:t>goto</a:t>
              </a:r>
              <a:r>
                <a:rPr lang="en-US" sz="1600" b="1" dirty="0">
                  <a:latin typeface="Consolas" panose="020B0609020204030204" pitchFamily="49" charset="0"/>
                  <a:cs typeface="Consolas" panose="020B0609020204030204" pitchFamily="49" charset="0"/>
                </a:rPr>
                <a:t> bb3</a:t>
              </a:r>
            </a:p>
          </p:txBody>
        </p:sp>
        <p:sp>
          <p:nvSpPr>
            <p:cNvPr id="21" name="TextBox 20">
              <a:extLst>
                <a:ext uri="{FF2B5EF4-FFF2-40B4-BE49-F238E27FC236}">
                  <a16:creationId xmlns:a16="http://schemas.microsoft.com/office/drawing/2014/main" id="{4953D7DC-BD1E-F142-BB56-99A848451B11}"/>
                </a:ext>
              </a:extLst>
            </p:cNvPr>
            <p:cNvSpPr txBox="1"/>
            <p:nvPr/>
          </p:nvSpPr>
          <p:spPr>
            <a:xfrm>
              <a:off x="4593220" y="2019300"/>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bb1:</a:t>
              </a:r>
            </a:p>
          </p:txBody>
        </p:sp>
        <p:cxnSp>
          <p:nvCxnSpPr>
            <p:cNvPr id="22" name="Straight Arrow Connector 21">
              <a:extLst>
                <a:ext uri="{FF2B5EF4-FFF2-40B4-BE49-F238E27FC236}">
                  <a16:creationId xmlns:a16="http://schemas.microsoft.com/office/drawing/2014/main" id="{E4DF025B-EA3A-8044-A751-21E75CA84069}"/>
                </a:ext>
              </a:extLst>
            </p:cNvPr>
            <p:cNvCxnSpPr>
              <a:cxnSpLocks/>
            </p:cNvCxnSpPr>
            <p:nvPr/>
          </p:nvCxnSpPr>
          <p:spPr>
            <a:xfrm>
              <a:off x="6110525" y="1812339"/>
              <a:ext cx="0" cy="25368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61EF3C4-3DF3-7646-87DB-10FA15EE3F92}"/>
                </a:ext>
              </a:extLst>
            </p:cNvPr>
            <p:cNvCxnSpPr>
              <a:cxnSpLocks/>
            </p:cNvCxnSpPr>
            <p:nvPr/>
          </p:nvCxnSpPr>
          <p:spPr>
            <a:xfrm>
              <a:off x="7235869" y="1788725"/>
              <a:ext cx="0" cy="2773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1D1F1C61-F0A3-584D-86BA-1A4BE12C0324}"/>
                </a:ext>
              </a:extLst>
            </p:cNvPr>
            <p:cNvSpPr txBox="1"/>
            <p:nvPr/>
          </p:nvSpPr>
          <p:spPr>
            <a:xfrm>
              <a:off x="6933884" y="2066025"/>
              <a:ext cx="1122096" cy="584775"/>
            </a:xfrm>
            <a:prstGeom prst="rect">
              <a:avLst/>
            </a:prstGeom>
            <a:solidFill>
              <a:schemeClr val="accent1">
                <a:lumMod val="40000"/>
                <a:lumOff val="60000"/>
              </a:schemeClr>
            </a:solidFill>
          </p:spPr>
          <p:txBody>
            <a:bodyPr wrap="squar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10</a:t>
              </a:r>
            </a:p>
            <a:p>
              <a:r>
                <a:rPr lang="en-US" sz="1600" b="1" dirty="0" err="1">
                  <a:solidFill>
                    <a:srgbClr val="FF0000"/>
                  </a:solidFill>
                  <a:latin typeface="Consolas" panose="020B0609020204030204" pitchFamily="49" charset="0"/>
                  <a:cs typeface="Consolas" panose="020B0609020204030204" pitchFamily="49" charset="0"/>
                </a:rPr>
                <a:t>goto</a:t>
              </a:r>
              <a:r>
                <a:rPr lang="en-US" sz="1600" b="1" dirty="0">
                  <a:latin typeface="Consolas" panose="020B0609020204030204" pitchFamily="49" charset="0"/>
                  <a:cs typeface="Consolas" panose="020B0609020204030204" pitchFamily="49" charset="0"/>
                </a:rPr>
                <a:t> bb3</a:t>
              </a:r>
            </a:p>
          </p:txBody>
        </p:sp>
        <p:sp>
          <p:nvSpPr>
            <p:cNvPr id="27" name="TextBox 26">
              <a:extLst>
                <a:ext uri="{FF2B5EF4-FFF2-40B4-BE49-F238E27FC236}">
                  <a16:creationId xmlns:a16="http://schemas.microsoft.com/office/drawing/2014/main" id="{57F7F3EE-7714-7447-B51F-E5CD12CBB914}"/>
                </a:ext>
              </a:extLst>
            </p:cNvPr>
            <p:cNvSpPr txBox="1"/>
            <p:nvPr/>
          </p:nvSpPr>
          <p:spPr>
            <a:xfrm>
              <a:off x="6324600" y="2019300"/>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bb2:</a:t>
              </a:r>
            </a:p>
          </p:txBody>
        </p:sp>
        <p:cxnSp>
          <p:nvCxnSpPr>
            <p:cNvPr id="28" name="Straight Arrow Connector 27">
              <a:extLst>
                <a:ext uri="{FF2B5EF4-FFF2-40B4-BE49-F238E27FC236}">
                  <a16:creationId xmlns:a16="http://schemas.microsoft.com/office/drawing/2014/main" id="{A5B92E9F-E4D2-7B4F-9E00-2880E207D906}"/>
                </a:ext>
              </a:extLst>
            </p:cNvPr>
            <p:cNvCxnSpPr>
              <a:cxnSpLocks/>
            </p:cNvCxnSpPr>
            <p:nvPr/>
          </p:nvCxnSpPr>
          <p:spPr>
            <a:xfrm>
              <a:off x="6096002" y="2649220"/>
              <a:ext cx="157314" cy="39878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E03CC10-BCA7-9D4B-B17D-6CAFF111A3D1}"/>
                </a:ext>
              </a:extLst>
            </p:cNvPr>
            <p:cNvCxnSpPr>
              <a:cxnSpLocks/>
            </p:cNvCxnSpPr>
            <p:nvPr/>
          </p:nvCxnSpPr>
          <p:spPr>
            <a:xfrm flipH="1">
              <a:off x="6933884" y="2670160"/>
              <a:ext cx="212930" cy="37468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7" name="TextBox 36">
            <a:extLst>
              <a:ext uri="{FF2B5EF4-FFF2-40B4-BE49-F238E27FC236}">
                <a16:creationId xmlns:a16="http://schemas.microsoft.com/office/drawing/2014/main" id="{BDA5433F-C714-8743-852B-A4951BADC66F}"/>
              </a:ext>
            </a:extLst>
          </p:cNvPr>
          <p:cNvSpPr txBox="1"/>
          <p:nvPr/>
        </p:nvSpPr>
        <p:spPr>
          <a:xfrm>
            <a:off x="678325" y="3763900"/>
            <a:ext cx="2799065" cy="1446550"/>
          </a:xfrm>
          <a:prstGeom prst="rect">
            <a:avLst/>
          </a:prstGeom>
          <a:noFill/>
        </p:spPr>
        <p:txBody>
          <a:bodyPr wrap="square" rtlCol="0">
            <a:spAutoFit/>
          </a:bodyPr>
          <a:lstStyle/>
          <a:p>
            <a:pPr algn="ctr"/>
            <a:r>
              <a:rPr lang="en-US" sz="2200" dirty="0"/>
              <a:t>here, </a:t>
            </a:r>
            <a:r>
              <a:rPr lang="en-US" sz="2200" b="1" dirty="0">
                <a:latin typeface="Consolas" panose="020B0609020204030204" pitchFamily="49" charset="0"/>
                <a:cs typeface="Consolas" panose="020B0609020204030204" pitchFamily="49" charset="0"/>
              </a:rPr>
              <a:t>x</a:t>
            </a:r>
            <a:r>
              <a:rPr lang="en-US" sz="2200" dirty="0"/>
              <a:t> has different values on each path to </a:t>
            </a:r>
            <a:r>
              <a:rPr lang="en-US" sz="2200" b="1" dirty="0">
                <a:latin typeface="Consolas" panose="020B0609020204030204" pitchFamily="49" charset="0"/>
                <a:cs typeface="Consolas" panose="020B0609020204030204" pitchFamily="49" charset="0"/>
              </a:rPr>
              <a:t>bb2</a:t>
            </a:r>
            <a:r>
              <a:rPr lang="en-US" sz="2200" dirty="0"/>
              <a:t>, so we </a:t>
            </a:r>
            <a:r>
              <a:rPr lang="en-US" sz="2200" i="1" dirty="0"/>
              <a:t>can't</a:t>
            </a:r>
            <a:r>
              <a:rPr lang="en-US" sz="2200" dirty="0"/>
              <a:t> propagate.</a:t>
            </a:r>
            <a:endParaRPr lang="en-US" sz="2200" b="1" dirty="0"/>
          </a:p>
        </p:txBody>
      </p:sp>
      <p:sp>
        <p:nvSpPr>
          <p:cNvPr id="38" name="TextBox 37">
            <a:extLst>
              <a:ext uri="{FF2B5EF4-FFF2-40B4-BE49-F238E27FC236}">
                <a16:creationId xmlns:a16="http://schemas.microsoft.com/office/drawing/2014/main" id="{D1C4B3D2-0267-A145-B92A-4DCD89750A6D}"/>
              </a:ext>
            </a:extLst>
          </p:cNvPr>
          <p:cNvSpPr txBox="1"/>
          <p:nvPr/>
        </p:nvSpPr>
        <p:spPr>
          <a:xfrm>
            <a:off x="4128415" y="3772114"/>
            <a:ext cx="4728560" cy="1446550"/>
          </a:xfrm>
          <a:prstGeom prst="rect">
            <a:avLst/>
          </a:prstGeom>
          <a:noFill/>
        </p:spPr>
        <p:txBody>
          <a:bodyPr wrap="square" rtlCol="0">
            <a:spAutoFit/>
          </a:bodyPr>
          <a:lstStyle/>
          <a:p>
            <a:pPr algn="ctr"/>
            <a:r>
              <a:rPr lang="en-US" sz="2200" dirty="0"/>
              <a:t>but here, although </a:t>
            </a:r>
            <a:r>
              <a:rPr lang="en-US" sz="2200" b="1" dirty="0">
                <a:latin typeface="Consolas" panose="020B0609020204030204" pitchFamily="49" charset="0"/>
                <a:cs typeface="Consolas" panose="020B0609020204030204" pitchFamily="49" charset="0"/>
              </a:rPr>
              <a:t>x</a:t>
            </a:r>
            <a:r>
              <a:rPr lang="en-US" sz="2200" dirty="0"/>
              <a:t> is assigned in multiple places, it has </a:t>
            </a:r>
            <a:r>
              <a:rPr lang="en-US" sz="2200" i="1" dirty="0"/>
              <a:t>the same value</a:t>
            </a:r>
            <a:r>
              <a:rPr lang="en-US" sz="2200" dirty="0"/>
              <a:t> on both paths to </a:t>
            </a:r>
            <a:r>
              <a:rPr lang="en-US" sz="2200" b="1" dirty="0">
                <a:latin typeface="Consolas" panose="020B0609020204030204" pitchFamily="49" charset="0"/>
                <a:cs typeface="Consolas" panose="020B0609020204030204" pitchFamily="49" charset="0"/>
              </a:rPr>
              <a:t>bb3</a:t>
            </a:r>
            <a:r>
              <a:rPr lang="en-US" sz="2200" dirty="0"/>
              <a:t>, so… we </a:t>
            </a:r>
            <a:r>
              <a:rPr lang="en-US" sz="2200" i="1" dirty="0"/>
              <a:t>can</a:t>
            </a:r>
            <a:r>
              <a:rPr lang="en-US" sz="2200" dirty="0"/>
              <a:t> propagate it to </a:t>
            </a:r>
            <a:r>
              <a:rPr lang="en-US" sz="2200" b="1" dirty="0">
                <a:latin typeface="Consolas" panose="020B0609020204030204" pitchFamily="49" charset="0"/>
                <a:cs typeface="Consolas" panose="020B0609020204030204" pitchFamily="49" charset="0"/>
              </a:rPr>
              <a:t>$t0 = </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dirty="0"/>
              <a:t>???</a:t>
            </a:r>
            <a:endParaRPr lang="en-US" sz="2200" b="1" dirty="0"/>
          </a:p>
        </p:txBody>
      </p:sp>
    </p:spTree>
    <p:extLst>
      <p:ext uri="{BB962C8B-B14F-4D97-AF65-F5344CB8AC3E}">
        <p14:creationId xmlns:p14="http://schemas.microsoft.com/office/powerpoint/2010/main" val="280217746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5">
            <a:extLst>
              <a:ext uri="{FF2B5EF4-FFF2-40B4-BE49-F238E27FC236}">
                <a16:creationId xmlns:a16="http://schemas.microsoft.com/office/drawing/2014/main" id="{99ECC0A5-B0E7-4B42-8B76-6519265D3B5A}"/>
              </a:ext>
            </a:extLst>
          </p:cNvPr>
          <p:cNvSpPr txBox="1"/>
          <p:nvPr/>
        </p:nvSpPr>
        <p:spPr>
          <a:xfrm>
            <a:off x="323429" y="955846"/>
            <a:ext cx="2441694" cy="1631216"/>
          </a:xfrm>
          <a:prstGeom prst="rect">
            <a:avLst/>
          </a:prstGeom>
          <a:noFill/>
        </p:spPr>
        <p:txBody>
          <a:bodyPr wrap="none" rtlCol="0">
            <a:spAutoFit/>
          </a:bodyPr>
          <a:lstStyle/>
          <a:p>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x = </a:t>
            </a:r>
            <a:r>
              <a:rPr lang="en-US" sz="2000" b="1" dirty="0">
                <a:solidFill>
                  <a:schemeClr val="accent3">
                    <a:lumMod val="75000"/>
                  </a:schemeClr>
                </a:solidFill>
                <a:latin typeface="Consolas" panose="020B0609020204030204" pitchFamily="49" charset="0"/>
                <a:cs typeface="Consolas" panose="020B0609020204030204" pitchFamily="49" charset="0"/>
              </a:rPr>
              <a:t>0</a:t>
            </a:r>
            <a:r>
              <a:rPr lang="en-US" sz="2000" b="1" dirty="0">
                <a:latin typeface="Consolas" panose="020B0609020204030204" pitchFamily="49" charset="0"/>
                <a:cs typeface="Consolas" panose="020B0609020204030204" pitchFamily="49" charset="0"/>
              </a:rPr>
              <a:t>;</a:t>
            </a:r>
          </a:p>
          <a:p>
            <a:r>
              <a:rPr lang="en-US" sz="2000" b="1" dirty="0">
                <a:solidFill>
                  <a:srgbClr val="FF0000"/>
                </a:solidFill>
                <a:latin typeface="Consolas" panose="020B0609020204030204" pitchFamily="49" charset="0"/>
                <a:cs typeface="Consolas" panose="020B0609020204030204" pitchFamily="49" charset="0"/>
              </a:rPr>
              <a:t>for</a:t>
            </a:r>
            <a:r>
              <a:rPr lang="en-US" sz="2000" b="1" dirty="0">
                <a:latin typeface="Consolas" panose="020B0609020204030204" pitchFamily="49" charset="0"/>
                <a:cs typeface="Consolas" panose="020B0609020204030204" pitchFamily="49" charset="0"/>
              </a:rPr>
              <a:t> i </a:t>
            </a:r>
            <a:r>
              <a:rPr lang="en-US" sz="2000" b="1" dirty="0">
                <a:solidFill>
                  <a:srgbClr val="FF0000"/>
                </a:solidFill>
                <a:latin typeface="Consolas" panose="020B0609020204030204" pitchFamily="49" charset="0"/>
                <a:cs typeface="Consolas" panose="020B0609020204030204" pitchFamily="49" charset="0"/>
              </a:rPr>
              <a:t>in</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0</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10</a:t>
            </a:r>
            <a:r>
              <a:rPr lang="en-US" sz="2000" b="1" dirty="0">
                <a:latin typeface="Consolas" panose="020B0609020204030204" pitchFamily="49" charset="0"/>
                <a:cs typeface="Consolas" panose="020B0609020204030204" pitchFamily="49" charset="0"/>
              </a:rPr>
              <a:t> {</a:t>
            </a:r>
            <a:br>
              <a:rPr lang="en-US" sz="2000" b="1" dirty="0">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  x = </a:t>
            </a:r>
            <a:r>
              <a:rPr lang="en-US" sz="2000" b="1" dirty="0">
                <a:solidFill>
                  <a:schemeClr val="accent3">
                    <a:lumMod val="75000"/>
                  </a:schemeClr>
                </a:solidFill>
                <a:latin typeface="Consolas" panose="020B0609020204030204" pitchFamily="49" charset="0"/>
                <a:cs typeface="Consolas" panose="020B0609020204030204" pitchFamily="49" charset="0"/>
              </a:rPr>
              <a:t>5</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a:t>
            </a:r>
          </a:p>
          <a:p>
            <a:r>
              <a:rPr lang="en-US" sz="2000" b="1" dirty="0">
                <a:solidFill>
                  <a:srgbClr val="FF0000"/>
                </a:solidFill>
                <a:latin typeface="Consolas" panose="020B0609020204030204" pitchFamily="49" charset="0"/>
                <a:cs typeface="Consolas" panose="020B0609020204030204" pitchFamily="49" charset="0"/>
              </a:rPr>
              <a:t>return</a:t>
            </a:r>
            <a:r>
              <a:rPr lang="en-US" sz="2000" b="1" dirty="0">
                <a:latin typeface="Consolas" panose="020B0609020204030204" pitchFamily="49" charset="0"/>
                <a:cs typeface="Consolas" panose="020B0609020204030204" pitchFamily="49" charset="0"/>
              </a:rPr>
              <a:t> x;</a:t>
            </a:r>
          </a:p>
        </p:txBody>
      </p:sp>
      <p:sp>
        <p:nvSpPr>
          <p:cNvPr id="2" name="Title 1">
            <a:extLst>
              <a:ext uri="{FF2B5EF4-FFF2-40B4-BE49-F238E27FC236}">
                <a16:creationId xmlns:a16="http://schemas.microsoft.com/office/drawing/2014/main" id="{BC1B5411-EACD-0843-8AEF-5765B0D41A2F}"/>
              </a:ext>
            </a:extLst>
          </p:cNvPr>
          <p:cNvSpPr>
            <a:spLocks noGrp="1"/>
          </p:cNvSpPr>
          <p:nvPr>
            <p:ph type="title"/>
          </p:nvPr>
        </p:nvSpPr>
        <p:spPr>
          <a:xfrm>
            <a:off x="152400" y="0"/>
            <a:ext cx="8991600" cy="495300"/>
          </a:xfrm>
        </p:spPr>
        <p:txBody>
          <a:bodyPr/>
          <a:lstStyle/>
          <a:p>
            <a:r>
              <a:rPr lang="en-US" dirty="0"/>
              <a:t>False confidence</a:t>
            </a:r>
          </a:p>
        </p:txBody>
      </p:sp>
      <p:sp>
        <p:nvSpPr>
          <p:cNvPr id="3" name="Content Placeholder 2">
            <a:extLst>
              <a:ext uri="{FF2B5EF4-FFF2-40B4-BE49-F238E27FC236}">
                <a16:creationId xmlns:a16="http://schemas.microsoft.com/office/drawing/2014/main" id="{5AFDC327-0AD1-6146-A7E6-CEC4836ABFDB}"/>
              </a:ext>
            </a:extLst>
          </p:cNvPr>
          <p:cNvSpPr>
            <a:spLocks noGrp="1"/>
          </p:cNvSpPr>
          <p:nvPr>
            <p:ph idx="1"/>
          </p:nvPr>
        </p:nvSpPr>
        <p:spPr>
          <a:xfrm>
            <a:off x="152400" y="495301"/>
            <a:ext cx="8991600" cy="621453"/>
          </a:xfrm>
        </p:spPr>
        <p:txBody>
          <a:bodyPr/>
          <a:lstStyle/>
          <a:p>
            <a:r>
              <a:rPr lang="en-US" dirty="0"/>
              <a:t>it only gets worse.</a:t>
            </a:r>
          </a:p>
        </p:txBody>
      </p:sp>
      <p:sp>
        <p:nvSpPr>
          <p:cNvPr id="4" name="Slide Number Placeholder 3">
            <a:extLst>
              <a:ext uri="{FF2B5EF4-FFF2-40B4-BE49-F238E27FC236}">
                <a16:creationId xmlns:a16="http://schemas.microsoft.com/office/drawing/2014/main" id="{84512EA9-AF40-6A4F-82B9-6A5DFBF31B04}"/>
              </a:ext>
            </a:extLst>
          </p:cNvPr>
          <p:cNvSpPr>
            <a:spLocks noGrp="1"/>
          </p:cNvSpPr>
          <p:nvPr>
            <p:ph type="sldNum" sz="quarter" idx="12"/>
          </p:nvPr>
        </p:nvSpPr>
        <p:spPr/>
        <p:txBody>
          <a:bodyPr/>
          <a:lstStyle/>
          <a:p>
            <a:fld id="{3552B95B-556F-44BD-91A5-D80C1B9E2BB3}" type="slidenum">
              <a:rPr lang="en-US" smtClean="0"/>
              <a:pPr/>
              <a:t>8</a:t>
            </a:fld>
            <a:endParaRPr lang="en-US"/>
          </a:p>
        </p:txBody>
      </p:sp>
      <p:grpSp>
        <p:nvGrpSpPr>
          <p:cNvPr id="40" name="Group 39">
            <a:extLst>
              <a:ext uri="{FF2B5EF4-FFF2-40B4-BE49-F238E27FC236}">
                <a16:creationId xmlns:a16="http://schemas.microsoft.com/office/drawing/2014/main" id="{EB9BAC17-FCE5-1D45-B32E-E1B3AA5A6A72}"/>
              </a:ext>
            </a:extLst>
          </p:cNvPr>
          <p:cNvGrpSpPr/>
          <p:nvPr/>
        </p:nvGrpSpPr>
        <p:grpSpPr>
          <a:xfrm>
            <a:off x="3021257" y="4721829"/>
            <a:ext cx="1585266" cy="618363"/>
            <a:chOff x="3981513" y="4112229"/>
            <a:chExt cx="1585266" cy="618363"/>
          </a:xfrm>
        </p:grpSpPr>
        <p:sp>
          <p:nvSpPr>
            <p:cNvPr id="7" name="TextBox 6">
              <a:extLst>
                <a:ext uri="{FF2B5EF4-FFF2-40B4-BE49-F238E27FC236}">
                  <a16:creationId xmlns:a16="http://schemas.microsoft.com/office/drawing/2014/main" id="{72D94299-7D4C-3F44-8A82-8952BD437D4F}"/>
                </a:ext>
              </a:extLst>
            </p:cNvPr>
            <p:cNvSpPr txBox="1"/>
            <p:nvPr/>
          </p:nvSpPr>
          <p:spPr>
            <a:xfrm>
              <a:off x="4596642" y="4145817"/>
              <a:ext cx="970137" cy="584775"/>
            </a:xfrm>
            <a:prstGeom prst="rect">
              <a:avLst/>
            </a:prstGeom>
            <a:solidFill>
              <a:schemeClr val="accent2">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$t0 = x</a:t>
              </a:r>
            </a:p>
            <a:p>
              <a:r>
                <a:rPr lang="en-US" sz="1600" b="1" dirty="0">
                  <a:solidFill>
                    <a:srgbClr val="FF0000"/>
                  </a:solidFill>
                  <a:latin typeface="Consolas" panose="020B0609020204030204" pitchFamily="49" charset="0"/>
                  <a:cs typeface="Consolas" panose="020B0609020204030204" pitchFamily="49" charset="0"/>
                </a:rPr>
                <a:t>return</a:t>
              </a:r>
            </a:p>
          </p:txBody>
        </p:sp>
        <p:sp>
          <p:nvSpPr>
            <p:cNvPr id="8" name="TextBox 7">
              <a:extLst>
                <a:ext uri="{FF2B5EF4-FFF2-40B4-BE49-F238E27FC236}">
                  <a16:creationId xmlns:a16="http://schemas.microsoft.com/office/drawing/2014/main" id="{FDCE487E-4063-E94E-80C6-A8132FF54ADB}"/>
                </a:ext>
              </a:extLst>
            </p:cNvPr>
            <p:cNvSpPr txBox="1"/>
            <p:nvPr/>
          </p:nvSpPr>
          <p:spPr>
            <a:xfrm>
              <a:off x="3981513" y="4112229"/>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bb3:</a:t>
              </a:r>
            </a:p>
          </p:txBody>
        </p:sp>
      </p:grpSp>
      <p:grpSp>
        <p:nvGrpSpPr>
          <p:cNvPr id="38" name="Group 37">
            <a:extLst>
              <a:ext uri="{FF2B5EF4-FFF2-40B4-BE49-F238E27FC236}">
                <a16:creationId xmlns:a16="http://schemas.microsoft.com/office/drawing/2014/main" id="{5FD1DB49-062F-C347-AAE6-B316F845EE7A}"/>
              </a:ext>
            </a:extLst>
          </p:cNvPr>
          <p:cNvGrpSpPr/>
          <p:nvPr/>
        </p:nvGrpSpPr>
        <p:grpSpPr>
          <a:xfrm>
            <a:off x="1905001" y="2799202"/>
            <a:ext cx="2925943" cy="631500"/>
            <a:chOff x="2865257" y="2189602"/>
            <a:chExt cx="2925943" cy="631500"/>
          </a:xfrm>
        </p:grpSpPr>
        <p:sp>
          <p:nvSpPr>
            <p:cNvPr id="6" name="TextBox 5">
              <a:extLst>
                <a:ext uri="{FF2B5EF4-FFF2-40B4-BE49-F238E27FC236}">
                  <a16:creationId xmlns:a16="http://schemas.microsoft.com/office/drawing/2014/main" id="{97BD3F03-CCDB-034F-B4CB-D1E1F4C32212}"/>
                </a:ext>
              </a:extLst>
            </p:cNvPr>
            <p:cNvSpPr txBox="1"/>
            <p:nvPr/>
          </p:nvSpPr>
          <p:spPr>
            <a:xfrm>
              <a:off x="3474540" y="2236327"/>
              <a:ext cx="2316660" cy="584775"/>
            </a:xfrm>
            <a:prstGeom prst="rect">
              <a:avLst/>
            </a:prstGeom>
            <a:solidFill>
              <a:schemeClr val="accent6">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$t1 = i &lt; </a:t>
              </a:r>
              <a:r>
                <a:rPr lang="en-US" sz="1600" b="1" dirty="0">
                  <a:solidFill>
                    <a:schemeClr val="accent3">
                      <a:lumMod val="75000"/>
                    </a:schemeClr>
                  </a:solidFill>
                  <a:latin typeface="Consolas" panose="020B0609020204030204" pitchFamily="49" charset="0"/>
                  <a:cs typeface="Consolas" panose="020B0609020204030204" pitchFamily="49" charset="0"/>
                </a:rPr>
                <a:t>10</a:t>
              </a:r>
            </a:p>
            <a:p>
              <a:r>
                <a:rPr lang="en-US" sz="1600" b="1" dirty="0">
                  <a:solidFill>
                    <a:srgbClr val="FF0000"/>
                  </a:solidFill>
                  <a:latin typeface="Consolas" panose="020B0609020204030204" pitchFamily="49" charset="0"/>
                  <a:cs typeface="Consolas" panose="020B0609020204030204" pitchFamily="49" charset="0"/>
                </a:rPr>
                <a:t>if</a:t>
              </a:r>
              <a:r>
                <a:rPr lang="en-US" sz="1600" b="1" dirty="0">
                  <a:latin typeface="Consolas" panose="020B0609020204030204" pitchFamily="49" charset="0"/>
                  <a:cs typeface="Consolas" panose="020B0609020204030204" pitchFamily="49" charset="0"/>
                </a:rPr>
                <a:t> $t1 bb2 </a:t>
              </a:r>
              <a:r>
                <a:rPr lang="en-US" sz="1600" b="1" dirty="0">
                  <a:solidFill>
                    <a:srgbClr val="FF0000"/>
                  </a:solidFill>
                  <a:latin typeface="Consolas" panose="020B0609020204030204" pitchFamily="49" charset="0"/>
                  <a:cs typeface="Consolas" panose="020B0609020204030204" pitchFamily="49" charset="0"/>
                </a:rPr>
                <a:t>else</a:t>
              </a:r>
              <a:r>
                <a:rPr lang="en-US" sz="1600" b="1" dirty="0">
                  <a:latin typeface="Consolas" panose="020B0609020204030204" pitchFamily="49" charset="0"/>
                  <a:cs typeface="Consolas" panose="020B0609020204030204" pitchFamily="49" charset="0"/>
                </a:rPr>
                <a:t> bb3</a:t>
              </a:r>
            </a:p>
          </p:txBody>
        </p:sp>
        <p:sp>
          <p:nvSpPr>
            <p:cNvPr id="9" name="TextBox 8">
              <a:extLst>
                <a:ext uri="{FF2B5EF4-FFF2-40B4-BE49-F238E27FC236}">
                  <a16:creationId xmlns:a16="http://schemas.microsoft.com/office/drawing/2014/main" id="{FE2DBCD1-555D-E042-9022-36263D99507E}"/>
                </a:ext>
              </a:extLst>
            </p:cNvPr>
            <p:cNvSpPr txBox="1"/>
            <p:nvPr/>
          </p:nvSpPr>
          <p:spPr>
            <a:xfrm>
              <a:off x="2865257" y="2189602"/>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bb1:</a:t>
              </a:r>
            </a:p>
          </p:txBody>
        </p:sp>
      </p:grpSp>
      <p:grpSp>
        <p:nvGrpSpPr>
          <p:cNvPr id="39" name="Group 38">
            <a:extLst>
              <a:ext uri="{FF2B5EF4-FFF2-40B4-BE49-F238E27FC236}">
                <a16:creationId xmlns:a16="http://schemas.microsoft.com/office/drawing/2014/main" id="{7345A2DB-B04C-E74A-B13F-E9BC61102655}"/>
              </a:ext>
            </a:extLst>
          </p:cNvPr>
          <p:cNvGrpSpPr/>
          <p:nvPr/>
        </p:nvGrpSpPr>
        <p:grpSpPr>
          <a:xfrm>
            <a:off x="1905001" y="3637402"/>
            <a:ext cx="1981192" cy="893284"/>
            <a:chOff x="2865257" y="3027802"/>
            <a:chExt cx="1981192" cy="893284"/>
          </a:xfrm>
        </p:grpSpPr>
        <p:sp>
          <p:nvSpPr>
            <p:cNvPr id="10" name="TextBox 9">
              <a:extLst>
                <a:ext uri="{FF2B5EF4-FFF2-40B4-BE49-F238E27FC236}">
                  <a16:creationId xmlns:a16="http://schemas.microsoft.com/office/drawing/2014/main" id="{AF4C4ED3-D589-A949-905C-5B1831FA4A88}"/>
                </a:ext>
              </a:extLst>
            </p:cNvPr>
            <p:cNvSpPr txBox="1"/>
            <p:nvPr/>
          </p:nvSpPr>
          <p:spPr>
            <a:xfrm>
              <a:off x="3480082" y="3090089"/>
              <a:ext cx="1366367" cy="830997"/>
            </a:xfrm>
            <a:prstGeom prst="rect">
              <a:avLst/>
            </a:prstGeom>
            <a:solidFill>
              <a:schemeClr val="accent1">
                <a:lumMod val="40000"/>
                <a:lumOff val="60000"/>
              </a:schemeClr>
            </a:solidFill>
          </p:spPr>
          <p:txBody>
            <a:bodyPr wrap="squar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5</a:t>
              </a:r>
            </a:p>
            <a:p>
              <a:r>
                <a:rPr lang="en-US" sz="1600" b="1" dirty="0">
                  <a:latin typeface="Consolas" panose="020B0609020204030204" pitchFamily="49" charset="0"/>
                  <a:cs typeface="Consolas" panose="020B0609020204030204" pitchFamily="49" charset="0"/>
                </a:rPr>
                <a:t>i = i + </a:t>
              </a:r>
              <a:r>
                <a:rPr lang="en-US" sz="1600" b="1" dirty="0">
                  <a:solidFill>
                    <a:schemeClr val="accent3">
                      <a:lumMod val="75000"/>
                    </a:schemeClr>
                  </a:solidFill>
                  <a:latin typeface="Consolas" panose="020B0609020204030204" pitchFamily="49" charset="0"/>
                  <a:cs typeface="Consolas" panose="020B0609020204030204" pitchFamily="49" charset="0"/>
                </a:rPr>
                <a:t>1</a:t>
              </a:r>
            </a:p>
            <a:p>
              <a:r>
                <a:rPr lang="en-US" sz="1600" b="1" dirty="0" err="1">
                  <a:solidFill>
                    <a:srgbClr val="FF0000"/>
                  </a:solidFill>
                  <a:latin typeface="Consolas" panose="020B0609020204030204" pitchFamily="49" charset="0"/>
                  <a:cs typeface="Consolas" panose="020B0609020204030204" pitchFamily="49" charset="0"/>
                </a:rPr>
                <a:t>goto</a:t>
              </a:r>
              <a:r>
                <a:rPr lang="en-US" sz="1600" b="1" dirty="0">
                  <a:latin typeface="Consolas" panose="020B0609020204030204" pitchFamily="49" charset="0"/>
                  <a:cs typeface="Consolas" panose="020B0609020204030204" pitchFamily="49" charset="0"/>
                </a:rPr>
                <a:t> bb1</a:t>
              </a:r>
            </a:p>
          </p:txBody>
        </p:sp>
        <p:sp>
          <p:nvSpPr>
            <p:cNvPr id="11" name="TextBox 10">
              <a:extLst>
                <a:ext uri="{FF2B5EF4-FFF2-40B4-BE49-F238E27FC236}">
                  <a16:creationId xmlns:a16="http://schemas.microsoft.com/office/drawing/2014/main" id="{AF1B003D-A01F-5C40-B04E-054BF94FCF74}"/>
                </a:ext>
              </a:extLst>
            </p:cNvPr>
            <p:cNvSpPr txBox="1"/>
            <p:nvPr/>
          </p:nvSpPr>
          <p:spPr>
            <a:xfrm>
              <a:off x="2865257" y="3027802"/>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bb2:</a:t>
              </a:r>
            </a:p>
          </p:txBody>
        </p:sp>
      </p:grpSp>
      <p:cxnSp>
        <p:nvCxnSpPr>
          <p:cNvPr id="12" name="Straight Arrow Connector 11">
            <a:extLst>
              <a:ext uri="{FF2B5EF4-FFF2-40B4-BE49-F238E27FC236}">
                <a16:creationId xmlns:a16="http://schemas.microsoft.com/office/drawing/2014/main" id="{EFD5CFF5-7262-8045-87F3-F638B5F0E59C}"/>
              </a:ext>
            </a:extLst>
          </p:cNvPr>
          <p:cNvCxnSpPr>
            <a:cxnSpLocks/>
          </p:cNvCxnSpPr>
          <p:nvPr/>
        </p:nvCxnSpPr>
        <p:spPr>
          <a:xfrm>
            <a:off x="3309797" y="3430441"/>
            <a:ext cx="0" cy="25368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334AB4A-4E9C-B94A-905A-0B6E6ED5C693}"/>
              </a:ext>
            </a:extLst>
          </p:cNvPr>
          <p:cNvCxnSpPr>
            <a:cxnSpLocks/>
          </p:cNvCxnSpPr>
          <p:nvPr/>
        </p:nvCxnSpPr>
        <p:spPr>
          <a:xfrm>
            <a:off x="4303577" y="3406827"/>
            <a:ext cx="0" cy="13485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26">
            <a:extLst>
              <a:ext uri="{FF2B5EF4-FFF2-40B4-BE49-F238E27FC236}">
                <a16:creationId xmlns:a16="http://schemas.microsoft.com/office/drawing/2014/main" id="{35B755C4-384C-B34C-891C-456A40008FEB}"/>
              </a:ext>
            </a:extLst>
          </p:cNvPr>
          <p:cNvCxnSpPr>
            <a:cxnSpLocks/>
            <a:stCxn id="10" idx="1"/>
            <a:endCxn id="6" idx="1"/>
          </p:cNvCxnSpPr>
          <p:nvPr/>
        </p:nvCxnSpPr>
        <p:spPr>
          <a:xfrm rot="10800000">
            <a:off x="2514284" y="3138316"/>
            <a:ext cx="5542" cy="976873"/>
          </a:xfrm>
          <a:prstGeom prst="bentConnector3">
            <a:avLst>
              <a:gd name="adj1" fmla="val 11853645"/>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F7C309C1-2D52-D34B-B6F4-3842B9EAD0AD}"/>
              </a:ext>
            </a:extLst>
          </p:cNvPr>
          <p:cNvGrpSpPr/>
          <p:nvPr/>
        </p:nvGrpSpPr>
        <p:grpSpPr>
          <a:xfrm>
            <a:off x="1905000" y="1710253"/>
            <a:ext cx="1731380" cy="835244"/>
            <a:chOff x="2865256" y="1100653"/>
            <a:chExt cx="1731380" cy="835244"/>
          </a:xfrm>
        </p:grpSpPr>
        <p:sp>
          <p:nvSpPr>
            <p:cNvPr id="19" name="TextBox 18">
              <a:extLst>
                <a:ext uri="{FF2B5EF4-FFF2-40B4-BE49-F238E27FC236}">
                  <a16:creationId xmlns:a16="http://schemas.microsoft.com/office/drawing/2014/main" id="{3C53620F-FE3F-7949-B75A-54DD9CA24E8A}"/>
                </a:ext>
              </a:extLst>
            </p:cNvPr>
            <p:cNvSpPr txBox="1"/>
            <p:nvPr/>
          </p:nvSpPr>
          <p:spPr>
            <a:xfrm>
              <a:off x="3474540" y="1104900"/>
              <a:ext cx="1122096" cy="830997"/>
            </a:xfrm>
            <a:prstGeom prst="rect">
              <a:avLst/>
            </a:prstGeom>
            <a:solidFill>
              <a:schemeClr val="accent1">
                <a:lumMod val="40000"/>
                <a:lumOff val="60000"/>
              </a:schemeClr>
            </a:solidFill>
          </p:spPr>
          <p:txBody>
            <a:bodyPr wrap="squar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0</a:t>
              </a:r>
            </a:p>
            <a:p>
              <a:r>
                <a:rPr lang="en-US" sz="1600" b="1" dirty="0">
                  <a:latin typeface="Consolas" panose="020B0609020204030204" pitchFamily="49" charset="0"/>
                  <a:cs typeface="Consolas" panose="020B0609020204030204" pitchFamily="49" charset="0"/>
                </a:rPr>
                <a:t>i = </a:t>
              </a:r>
              <a:r>
                <a:rPr lang="en-US" sz="1600" b="1" dirty="0">
                  <a:solidFill>
                    <a:schemeClr val="accent3">
                      <a:lumMod val="75000"/>
                    </a:schemeClr>
                  </a:solidFill>
                  <a:latin typeface="Consolas" panose="020B0609020204030204" pitchFamily="49" charset="0"/>
                  <a:cs typeface="Consolas" panose="020B0609020204030204" pitchFamily="49" charset="0"/>
                </a:rPr>
                <a:t>0</a:t>
              </a:r>
            </a:p>
            <a:p>
              <a:r>
                <a:rPr lang="en-US" sz="1600" b="1" dirty="0" err="1">
                  <a:solidFill>
                    <a:srgbClr val="FF0000"/>
                  </a:solidFill>
                  <a:latin typeface="Consolas" panose="020B0609020204030204" pitchFamily="49" charset="0"/>
                  <a:cs typeface="Consolas" panose="020B0609020204030204" pitchFamily="49" charset="0"/>
                </a:rPr>
                <a:t>goto</a:t>
              </a:r>
              <a:r>
                <a:rPr lang="en-US" sz="1600" b="1" dirty="0">
                  <a:latin typeface="Consolas" panose="020B0609020204030204" pitchFamily="49" charset="0"/>
                  <a:cs typeface="Consolas" panose="020B0609020204030204" pitchFamily="49" charset="0"/>
                </a:rPr>
                <a:t> bb1</a:t>
              </a:r>
            </a:p>
          </p:txBody>
        </p:sp>
        <p:sp>
          <p:nvSpPr>
            <p:cNvPr id="20" name="TextBox 19">
              <a:extLst>
                <a:ext uri="{FF2B5EF4-FFF2-40B4-BE49-F238E27FC236}">
                  <a16:creationId xmlns:a16="http://schemas.microsoft.com/office/drawing/2014/main" id="{300E8201-1B77-2A4A-BE1D-2756F8D739F6}"/>
                </a:ext>
              </a:extLst>
            </p:cNvPr>
            <p:cNvSpPr txBox="1"/>
            <p:nvPr/>
          </p:nvSpPr>
          <p:spPr>
            <a:xfrm>
              <a:off x="2865256" y="1100653"/>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bb0:</a:t>
              </a:r>
            </a:p>
          </p:txBody>
        </p:sp>
      </p:grpSp>
      <p:cxnSp>
        <p:nvCxnSpPr>
          <p:cNvPr id="21" name="Straight Arrow Connector 20">
            <a:extLst>
              <a:ext uri="{FF2B5EF4-FFF2-40B4-BE49-F238E27FC236}">
                <a16:creationId xmlns:a16="http://schemas.microsoft.com/office/drawing/2014/main" id="{1A18A4B8-F6BB-F443-B605-4D23A19EC8F8}"/>
              </a:ext>
            </a:extLst>
          </p:cNvPr>
          <p:cNvCxnSpPr>
            <a:cxnSpLocks/>
          </p:cNvCxnSpPr>
          <p:nvPr/>
        </p:nvCxnSpPr>
        <p:spPr>
          <a:xfrm>
            <a:off x="3012666" y="2545777"/>
            <a:ext cx="0" cy="3001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E0375AED-7A2E-1240-9E45-2E59FAE4FCA8}"/>
              </a:ext>
            </a:extLst>
          </p:cNvPr>
          <p:cNvSpPr txBox="1"/>
          <p:nvPr/>
        </p:nvSpPr>
        <p:spPr>
          <a:xfrm>
            <a:off x="2934255" y="765621"/>
            <a:ext cx="5921676" cy="769441"/>
          </a:xfrm>
          <a:prstGeom prst="rect">
            <a:avLst/>
          </a:prstGeom>
          <a:noFill/>
        </p:spPr>
        <p:txBody>
          <a:bodyPr wrap="square" rtlCol="0">
            <a:spAutoFit/>
          </a:bodyPr>
          <a:lstStyle/>
          <a:p>
            <a:pPr algn="ctr"/>
            <a:r>
              <a:rPr lang="en-US" sz="2200" i="1" dirty="0"/>
              <a:t>intuitively, </a:t>
            </a:r>
            <a:r>
              <a:rPr lang="en-US" sz="2200" dirty="0"/>
              <a:t>we can simplify this whole function to </a:t>
            </a:r>
            <a:r>
              <a:rPr lang="en-US" sz="2200" b="1" dirty="0">
                <a:solidFill>
                  <a:srgbClr val="FF0000"/>
                </a:solidFill>
                <a:latin typeface="Consolas" panose="020B0609020204030204" pitchFamily="49" charset="0"/>
                <a:cs typeface="Consolas" panose="020B0609020204030204" pitchFamily="49" charset="0"/>
              </a:rPr>
              <a:t>return</a:t>
            </a:r>
            <a:r>
              <a:rPr lang="en-US" sz="2200" b="1" dirty="0">
                <a:latin typeface="Consolas" panose="020B0609020204030204" pitchFamily="49" charset="0"/>
                <a:cs typeface="Consolas" panose="020B0609020204030204" pitchFamily="49" charset="0"/>
              </a:rPr>
              <a:t> </a:t>
            </a:r>
            <a:r>
              <a:rPr lang="en-US" sz="2200" b="1" dirty="0">
                <a:solidFill>
                  <a:schemeClr val="accent3">
                    <a:lumMod val="75000"/>
                  </a:schemeClr>
                </a:solidFill>
                <a:latin typeface="Consolas" panose="020B0609020204030204" pitchFamily="49" charset="0"/>
                <a:cs typeface="Consolas" panose="020B0609020204030204" pitchFamily="49" charset="0"/>
              </a:rPr>
              <a:t>5</a:t>
            </a:r>
            <a:r>
              <a:rPr lang="en-US" sz="2200" b="1" dirty="0">
                <a:latin typeface="Consolas" panose="020B0609020204030204" pitchFamily="49" charset="0"/>
                <a:cs typeface="Consolas" panose="020B0609020204030204" pitchFamily="49" charset="0"/>
              </a:rPr>
              <a:t>;</a:t>
            </a:r>
            <a:r>
              <a:rPr lang="en-US" sz="2200" dirty="0"/>
              <a:t> but </a:t>
            </a:r>
            <a:r>
              <a:rPr lang="en-US" sz="2200" b="1" dirty="0"/>
              <a:t>how do you prove that?</a:t>
            </a:r>
            <a:endParaRPr lang="en-US" sz="2200" b="1" i="1" dirty="0">
              <a:latin typeface="Consolas" panose="020B0609020204030204" pitchFamily="49" charset="0"/>
              <a:cs typeface="Consolas" panose="020B0609020204030204" pitchFamily="49" charset="0"/>
            </a:endParaRPr>
          </a:p>
        </p:txBody>
      </p:sp>
      <p:sp>
        <p:nvSpPr>
          <p:cNvPr id="42" name="TextBox 41">
            <a:extLst>
              <a:ext uri="{FF2B5EF4-FFF2-40B4-BE49-F238E27FC236}">
                <a16:creationId xmlns:a16="http://schemas.microsoft.com/office/drawing/2014/main" id="{FB187F1B-C5F0-1C4A-BF31-10E438B3122D}"/>
              </a:ext>
            </a:extLst>
          </p:cNvPr>
          <p:cNvSpPr txBox="1"/>
          <p:nvPr/>
        </p:nvSpPr>
        <p:spPr>
          <a:xfrm>
            <a:off x="3886192" y="1633383"/>
            <a:ext cx="5257807" cy="646331"/>
          </a:xfrm>
          <a:prstGeom prst="rect">
            <a:avLst/>
          </a:prstGeom>
          <a:noFill/>
        </p:spPr>
        <p:txBody>
          <a:bodyPr wrap="square" rtlCol="0">
            <a:spAutoFit/>
          </a:bodyPr>
          <a:lstStyle/>
          <a:p>
            <a:pPr algn="ctr"/>
            <a:r>
              <a:rPr lang="en-US" sz="2200" b="1" dirty="0">
                <a:latin typeface="Consolas" panose="020B0609020204030204" pitchFamily="49" charset="0"/>
                <a:cs typeface="Consolas" panose="020B0609020204030204" pitchFamily="49" charset="0"/>
              </a:rPr>
              <a:t>x</a:t>
            </a:r>
            <a:r>
              <a:rPr lang="en-US" sz="2200" dirty="0"/>
              <a:t> is assigned twice, or maybe 11 times? </a:t>
            </a:r>
            <a:r>
              <a:rPr lang="en-US" sz="1400" dirty="0"/>
              <a:t>(do assignments in loops count as "once"?)</a:t>
            </a:r>
            <a:endParaRPr lang="en-US" sz="1400" b="1" dirty="0">
              <a:latin typeface="Consolas" panose="020B0609020204030204" pitchFamily="49" charset="0"/>
              <a:cs typeface="Consolas" panose="020B0609020204030204" pitchFamily="49" charset="0"/>
            </a:endParaRPr>
          </a:p>
        </p:txBody>
      </p:sp>
      <p:sp>
        <p:nvSpPr>
          <p:cNvPr id="46" name="TextBox 45">
            <a:extLst>
              <a:ext uri="{FF2B5EF4-FFF2-40B4-BE49-F238E27FC236}">
                <a16:creationId xmlns:a16="http://schemas.microsoft.com/office/drawing/2014/main" id="{2E81F6F5-E98A-3742-A9F9-68BE3E0BCBFB}"/>
              </a:ext>
            </a:extLst>
          </p:cNvPr>
          <p:cNvSpPr txBox="1"/>
          <p:nvPr/>
        </p:nvSpPr>
        <p:spPr>
          <a:xfrm>
            <a:off x="5485437" y="2472779"/>
            <a:ext cx="3305831" cy="769441"/>
          </a:xfrm>
          <a:prstGeom prst="rect">
            <a:avLst/>
          </a:prstGeom>
          <a:noFill/>
        </p:spPr>
        <p:txBody>
          <a:bodyPr wrap="square" rtlCol="0">
            <a:spAutoFit/>
          </a:bodyPr>
          <a:lstStyle/>
          <a:p>
            <a:pPr algn="ctr"/>
            <a:r>
              <a:rPr lang="en-US" sz="2200" dirty="0"/>
              <a:t>but the first assignment </a:t>
            </a:r>
            <a:r>
              <a:rPr lang="en-US" sz="2200" b="1" dirty="0">
                <a:latin typeface="Consolas" panose="020B0609020204030204" pitchFamily="49" charset="0"/>
                <a:cs typeface="Consolas" panose="020B0609020204030204" pitchFamily="49" charset="0"/>
              </a:rPr>
              <a:t>x = </a:t>
            </a:r>
            <a:r>
              <a:rPr lang="en-US" sz="2200" b="1" dirty="0">
                <a:solidFill>
                  <a:schemeClr val="accent3">
                    <a:lumMod val="75000"/>
                  </a:schemeClr>
                </a:solidFill>
                <a:latin typeface="Consolas" panose="020B0609020204030204" pitchFamily="49" charset="0"/>
                <a:cs typeface="Consolas" panose="020B0609020204030204" pitchFamily="49" charset="0"/>
              </a:rPr>
              <a:t>0</a:t>
            </a:r>
            <a:r>
              <a:rPr lang="en-US" sz="2200" dirty="0"/>
              <a:t> is never used…</a:t>
            </a:r>
            <a:endParaRPr lang="en-US" sz="2200" b="1" dirty="0">
              <a:latin typeface="Consolas" panose="020B0609020204030204" pitchFamily="49" charset="0"/>
              <a:cs typeface="Consolas" panose="020B0609020204030204" pitchFamily="49" charset="0"/>
            </a:endParaRPr>
          </a:p>
        </p:txBody>
      </p:sp>
      <p:sp>
        <p:nvSpPr>
          <p:cNvPr id="47" name="TextBox 46">
            <a:extLst>
              <a:ext uri="{FF2B5EF4-FFF2-40B4-BE49-F238E27FC236}">
                <a16:creationId xmlns:a16="http://schemas.microsoft.com/office/drawing/2014/main" id="{8E8E24D1-35EB-D74C-85AA-457C9A9D1F55}"/>
              </a:ext>
            </a:extLst>
          </p:cNvPr>
          <p:cNvSpPr txBox="1"/>
          <p:nvPr/>
        </p:nvSpPr>
        <p:spPr>
          <a:xfrm>
            <a:off x="5236038" y="3346481"/>
            <a:ext cx="3305831" cy="769441"/>
          </a:xfrm>
          <a:prstGeom prst="rect">
            <a:avLst/>
          </a:prstGeom>
          <a:noFill/>
        </p:spPr>
        <p:txBody>
          <a:bodyPr wrap="square" rtlCol="0">
            <a:spAutoFit/>
          </a:bodyPr>
          <a:lstStyle/>
          <a:p>
            <a:pPr algn="ctr"/>
            <a:r>
              <a:rPr lang="en-US" sz="2200" dirty="0"/>
              <a:t>and the assignment(s) in the loop are redundant…</a:t>
            </a:r>
            <a:endParaRPr lang="en-US" sz="2200" b="1" dirty="0">
              <a:latin typeface="Consolas" panose="020B0609020204030204" pitchFamily="49" charset="0"/>
              <a:cs typeface="Consolas" panose="020B0609020204030204" pitchFamily="49" charset="0"/>
            </a:endParaRPr>
          </a:p>
        </p:txBody>
      </p:sp>
      <p:sp>
        <p:nvSpPr>
          <p:cNvPr id="48" name="TextBox 47">
            <a:extLst>
              <a:ext uri="{FF2B5EF4-FFF2-40B4-BE49-F238E27FC236}">
                <a16:creationId xmlns:a16="http://schemas.microsoft.com/office/drawing/2014/main" id="{8043C34F-51EC-5540-9233-502E52DB0CA8}"/>
              </a:ext>
            </a:extLst>
          </p:cNvPr>
          <p:cNvSpPr txBox="1"/>
          <p:nvPr/>
        </p:nvSpPr>
        <p:spPr>
          <a:xfrm>
            <a:off x="5023907" y="4177458"/>
            <a:ext cx="3305831" cy="646331"/>
          </a:xfrm>
          <a:prstGeom prst="rect">
            <a:avLst/>
          </a:prstGeom>
          <a:noFill/>
        </p:spPr>
        <p:txBody>
          <a:bodyPr wrap="square" rtlCol="0">
            <a:spAutoFit/>
          </a:bodyPr>
          <a:lstStyle/>
          <a:p>
            <a:pPr algn="ctr"/>
            <a:r>
              <a:rPr lang="en-US" sz="1800" dirty="0"/>
              <a:t>(does that mean the whole loop can be removed?)</a:t>
            </a:r>
            <a:endParaRPr lang="en-US" sz="1800" b="1" dirty="0">
              <a:latin typeface="Consolas" panose="020B0609020204030204" pitchFamily="49" charset="0"/>
              <a:cs typeface="Consolas" panose="020B0609020204030204" pitchFamily="49" charset="0"/>
            </a:endParaRPr>
          </a:p>
        </p:txBody>
      </p:sp>
      <p:pic>
        <p:nvPicPr>
          <p:cNvPr id="49" name="Picture 48">
            <a:extLst>
              <a:ext uri="{FF2B5EF4-FFF2-40B4-BE49-F238E27FC236}">
                <a16:creationId xmlns:a16="http://schemas.microsoft.com/office/drawing/2014/main" id="{4EF11232-E06F-F546-9D58-ADFC278E96EC}"/>
              </a:ext>
            </a:extLst>
          </p:cNvPr>
          <p:cNvPicPr>
            <a:picLocks noChangeAspect="1"/>
          </p:cNvPicPr>
          <p:nvPr/>
        </p:nvPicPr>
        <p:blipFill rotWithShape="1">
          <a:blip r:embed="rId3">
            <a:extLst>
              <a:ext uri="{28A0092B-C50C-407E-A947-70E740481C1C}">
                <a14:useLocalDpi xmlns:a14="http://schemas.microsoft.com/office/drawing/2010/main" val="0"/>
              </a:ext>
            </a:extLst>
          </a:blip>
          <a:srcRect b="37624"/>
          <a:stretch/>
        </p:blipFill>
        <p:spPr>
          <a:xfrm>
            <a:off x="7064623" y="4932664"/>
            <a:ext cx="1089569" cy="679628"/>
          </a:xfrm>
          <a:prstGeom prst="rect">
            <a:avLst/>
          </a:prstGeom>
        </p:spPr>
      </p:pic>
    </p:spTree>
    <p:extLst>
      <p:ext uri="{BB962C8B-B14F-4D97-AF65-F5344CB8AC3E}">
        <p14:creationId xmlns:p14="http://schemas.microsoft.com/office/powerpoint/2010/main" val="12687501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P spid="42" grpId="0"/>
      <p:bldP spid="46" grpId="0"/>
      <p:bldP spid="47" grpId="0"/>
      <p:bldP spid="4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1CC59-3135-5B45-8313-C795D3F08BA1}"/>
              </a:ext>
            </a:extLst>
          </p:cNvPr>
          <p:cNvSpPr>
            <a:spLocks noGrp="1"/>
          </p:cNvSpPr>
          <p:nvPr>
            <p:ph type="title"/>
          </p:nvPr>
        </p:nvSpPr>
        <p:spPr/>
        <p:txBody>
          <a:bodyPr/>
          <a:lstStyle/>
          <a:p>
            <a:r>
              <a:rPr lang="en-US" dirty="0"/>
              <a:t>We need some RIGOR</a:t>
            </a:r>
          </a:p>
        </p:txBody>
      </p:sp>
      <p:sp>
        <p:nvSpPr>
          <p:cNvPr id="3" name="Content Placeholder 2">
            <a:extLst>
              <a:ext uri="{FF2B5EF4-FFF2-40B4-BE49-F238E27FC236}">
                <a16:creationId xmlns:a16="http://schemas.microsoft.com/office/drawing/2014/main" id="{6F413B9F-8ACA-8542-AF76-72B7AD665442}"/>
              </a:ext>
            </a:extLst>
          </p:cNvPr>
          <p:cNvSpPr>
            <a:spLocks noGrp="1"/>
          </p:cNvSpPr>
          <p:nvPr>
            <p:ph idx="1"/>
          </p:nvPr>
        </p:nvSpPr>
        <p:spPr/>
        <p:txBody>
          <a:bodyPr/>
          <a:lstStyle/>
          <a:p>
            <a:r>
              <a:rPr lang="en-US" dirty="0"/>
              <a:t>optimizations are basically </a:t>
            </a:r>
            <a:r>
              <a:rPr lang="en-US" b="1" dirty="0"/>
              <a:t>proofs.</a:t>
            </a:r>
          </a:p>
          <a:p>
            <a:pPr lvl="1"/>
            <a:r>
              <a:rPr lang="en-US" dirty="0"/>
              <a:t>if you can </a:t>
            </a:r>
            <a:r>
              <a:rPr lang="en-US" b="1" dirty="0"/>
              <a:t>prove </a:t>
            </a:r>
            <a:r>
              <a:rPr lang="en-US" dirty="0"/>
              <a:t>that a variable is never read, you can remove it.</a:t>
            </a:r>
          </a:p>
          <a:p>
            <a:pPr lvl="1"/>
            <a:r>
              <a:rPr lang="en-US" dirty="0"/>
              <a:t>if you can </a:t>
            </a:r>
            <a:r>
              <a:rPr lang="en-US" b="1" dirty="0"/>
              <a:t>prove </a:t>
            </a:r>
            <a:r>
              <a:rPr lang="en-US" dirty="0"/>
              <a:t>that a variable only ever holds a constant value, you can replace all uses of it with that constant.</a:t>
            </a:r>
          </a:p>
          <a:p>
            <a:r>
              <a:rPr lang="en-US" dirty="0"/>
              <a:t>what we need is some kind of framework to build these proofs from.</a:t>
            </a:r>
          </a:p>
          <a:p>
            <a:pPr lvl="1"/>
            <a:r>
              <a:rPr lang="en-US" dirty="0"/>
              <a:t>many optimizations have the same kind of "algorithmic shape."</a:t>
            </a:r>
          </a:p>
          <a:p>
            <a:pPr lvl="1"/>
            <a:r>
              <a:rPr lang="en-US" dirty="0"/>
              <a:t>most of them have repeated steps that stem from a common underlying reason.</a:t>
            </a:r>
          </a:p>
          <a:p>
            <a:r>
              <a:rPr lang="en-US" dirty="0"/>
              <a:t>so let's talk about </a:t>
            </a:r>
            <a:r>
              <a:rPr lang="en-US" b="1" dirty="0"/>
              <a:t>data flow analysis.</a:t>
            </a:r>
            <a:endParaRPr lang="en-US" dirty="0"/>
          </a:p>
        </p:txBody>
      </p:sp>
      <p:sp>
        <p:nvSpPr>
          <p:cNvPr id="4" name="Slide Number Placeholder 3">
            <a:extLst>
              <a:ext uri="{FF2B5EF4-FFF2-40B4-BE49-F238E27FC236}">
                <a16:creationId xmlns:a16="http://schemas.microsoft.com/office/drawing/2014/main" id="{B7F2F06E-C9DA-5F41-932D-5AAEF60A279F}"/>
              </a:ext>
            </a:extLst>
          </p:cNvPr>
          <p:cNvSpPr>
            <a:spLocks noGrp="1"/>
          </p:cNvSpPr>
          <p:nvPr>
            <p:ph type="sldNum" sz="quarter" idx="12"/>
          </p:nvPr>
        </p:nvSpPr>
        <p:spPr/>
        <p:txBody>
          <a:bodyPr/>
          <a:lstStyle/>
          <a:p>
            <a:fld id="{3552B95B-556F-44BD-91A5-D80C1B9E2BB3}" type="slidenum">
              <a:rPr lang="en-US" smtClean="0"/>
              <a:pPr/>
              <a:t>9</a:t>
            </a:fld>
            <a:endParaRPr lang="en-US"/>
          </a:p>
        </p:txBody>
      </p:sp>
    </p:spTree>
    <p:extLst>
      <p:ext uri="{BB962C8B-B14F-4D97-AF65-F5344CB8AC3E}">
        <p14:creationId xmlns:p14="http://schemas.microsoft.com/office/powerpoint/2010/main" val="236556239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B3936-14F7-B744-841D-332442FAF87A}"/>
              </a:ext>
            </a:extLst>
          </p:cNvPr>
          <p:cNvSpPr>
            <a:spLocks noGrp="1"/>
          </p:cNvSpPr>
          <p:nvPr>
            <p:ph type="ctrTitle"/>
          </p:nvPr>
        </p:nvSpPr>
        <p:spPr/>
        <p:txBody>
          <a:bodyPr/>
          <a:lstStyle/>
          <a:p>
            <a:r>
              <a:rPr lang="en-US" dirty="0"/>
              <a:t>Data Flow Analysis</a:t>
            </a:r>
          </a:p>
        </p:txBody>
      </p:sp>
      <p:sp>
        <p:nvSpPr>
          <p:cNvPr id="3" name="Slide Number Placeholder 2">
            <a:extLst>
              <a:ext uri="{FF2B5EF4-FFF2-40B4-BE49-F238E27FC236}">
                <a16:creationId xmlns:a16="http://schemas.microsoft.com/office/drawing/2014/main" id="{A9589B4B-45AB-DB47-ABC9-A0B32757B9E0}"/>
              </a:ext>
            </a:extLst>
          </p:cNvPr>
          <p:cNvSpPr>
            <a:spLocks noGrp="1"/>
          </p:cNvSpPr>
          <p:nvPr>
            <p:ph type="sldNum" sz="quarter" idx="12"/>
          </p:nvPr>
        </p:nvSpPr>
        <p:spPr/>
        <p:txBody>
          <a:bodyPr/>
          <a:lstStyle/>
          <a:p>
            <a:fld id="{3552B95B-556F-44BD-91A5-D80C1B9E2BB3}" type="slidenum">
              <a:rPr lang="en-US" smtClean="0"/>
              <a:pPr/>
              <a:t>10</a:t>
            </a:fld>
            <a:endParaRPr lang="en-US"/>
          </a:p>
        </p:txBody>
      </p:sp>
    </p:spTree>
    <p:extLst>
      <p:ext uri="{BB962C8B-B14F-4D97-AF65-F5344CB8AC3E}">
        <p14:creationId xmlns:p14="http://schemas.microsoft.com/office/powerpoint/2010/main" val="375583147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59702-8CFB-9441-9A64-4D3877B8B25A}"/>
              </a:ext>
            </a:extLst>
          </p:cNvPr>
          <p:cNvSpPr>
            <a:spLocks noGrp="1"/>
          </p:cNvSpPr>
          <p:nvPr>
            <p:ph type="title"/>
          </p:nvPr>
        </p:nvSpPr>
        <p:spPr/>
        <p:txBody>
          <a:bodyPr/>
          <a:lstStyle/>
          <a:p>
            <a:r>
              <a:rPr lang="en-US" dirty="0"/>
              <a:t>Coming for a visit </a:t>
            </a:r>
            <a:r>
              <a:rPr lang="en-US" sz="2000" dirty="0"/>
              <a:t>(animated)</a:t>
            </a:r>
            <a:endParaRPr lang="en-US" dirty="0"/>
          </a:p>
        </p:txBody>
      </p:sp>
      <p:sp>
        <p:nvSpPr>
          <p:cNvPr id="3" name="Content Placeholder 2">
            <a:extLst>
              <a:ext uri="{FF2B5EF4-FFF2-40B4-BE49-F238E27FC236}">
                <a16:creationId xmlns:a16="http://schemas.microsoft.com/office/drawing/2014/main" id="{7B739283-5E4B-0A45-97B6-B52D8C0D8023}"/>
              </a:ext>
            </a:extLst>
          </p:cNvPr>
          <p:cNvSpPr>
            <a:spLocks noGrp="1"/>
          </p:cNvSpPr>
          <p:nvPr>
            <p:ph idx="1"/>
          </p:nvPr>
        </p:nvSpPr>
        <p:spPr>
          <a:xfrm>
            <a:off x="152400" y="495302"/>
            <a:ext cx="8991600" cy="495300"/>
          </a:xfrm>
        </p:spPr>
        <p:txBody>
          <a:bodyPr/>
          <a:lstStyle/>
          <a:p>
            <a:r>
              <a:rPr lang="en-US" dirty="0"/>
              <a:t>remember this graph-visiting algorithm?</a:t>
            </a:r>
          </a:p>
        </p:txBody>
      </p:sp>
      <p:sp>
        <p:nvSpPr>
          <p:cNvPr id="4" name="Slide Number Placeholder 3">
            <a:extLst>
              <a:ext uri="{FF2B5EF4-FFF2-40B4-BE49-F238E27FC236}">
                <a16:creationId xmlns:a16="http://schemas.microsoft.com/office/drawing/2014/main" id="{A206AB96-F4DC-A04B-9C90-33EC7EC984F9}"/>
              </a:ext>
            </a:extLst>
          </p:cNvPr>
          <p:cNvSpPr>
            <a:spLocks noGrp="1"/>
          </p:cNvSpPr>
          <p:nvPr>
            <p:ph type="sldNum" sz="quarter" idx="12"/>
          </p:nvPr>
        </p:nvSpPr>
        <p:spPr/>
        <p:txBody>
          <a:bodyPr/>
          <a:lstStyle/>
          <a:p>
            <a:fld id="{3552B95B-556F-44BD-91A5-D80C1B9E2BB3}" type="slidenum">
              <a:rPr lang="en-US" smtClean="0"/>
              <a:pPr/>
              <a:t>11</a:t>
            </a:fld>
            <a:endParaRPr lang="en-US"/>
          </a:p>
        </p:txBody>
      </p:sp>
      <p:sp>
        <p:nvSpPr>
          <p:cNvPr id="5" name="Rectangle 4">
            <a:extLst>
              <a:ext uri="{FF2B5EF4-FFF2-40B4-BE49-F238E27FC236}">
                <a16:creationId xmlns:a16="http://schemas.microsoft.com/office/drawing/2014/main" id="{5CB7AFB4-FD10-AB4B-A798-97733D82FC2B}"/>
              </a:ext>
            </a:extLst>
          </p:cNvPr>
          <p:cNvSpPr/>
          <p:nvPr/>
        </p:nvSpPr>
        <p:spPr>
          <a:xfrm>
            <a:off x="304800" y="990602"/>
            <a:ext cx="3657600" cy="2031325"/>
          </a:xfrm>
          <a:prstGeom prst="rect">
            <a:avLst/>
          </a:prstGeom>
        </p:spPr>
        <p:txBody>
          <a:bodyPr wrap="square">
            <a:spAutoFit/>
          </a:bodyPr>
          <a:lstStyle/>
          <a:p>
            <a:r>
              <a:rPr lang="en-US" sz="1800" b="1" dirty="0" err="1">
                <a:solidFill>
                  <a:srgbClr val="FF0000"/>
                </a:solidFill>
                <a:latin typeface="Consolas" panose="020B0609020204030204" pitchFamily="49" charset="0"/>
                <a:cs typeface="Consolas" panose="020B0609020204030204" pitchFamily="49" charset="0"/>
              </a:rPr>
              <a:t>fn</a:t>
            </a:r>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visit_node</a:t>
            </a:r>
            <a:r>
              <a:rPr lang="en-US" sz="1800" b="1" dirty="0">
                <a:latin typeface="Consolas" panose="020B0609020204030204" pitchFamily="49" charset="0"/>
                <a:cs typeface="Consolas" panose="020B0609020204030204" pitchFamily="49" charset="0"/>
              </a:rPr>
              <a:t>(n, visited) {</a:t>
            </a:r>
            <a:br>
              <a:rPr lang="en-US" sz="1800" b="1" dirty="0">
                <a:latin typeface="Consolas" panose="020B0609020204030204" pitchFamily="49" charset="0"/>
                <a:cs typeface="Consolas" panose="020B0609020204030204" pitchFamily="49" charset="0"/>
              </a:rPr>
            </a:br>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if</a:t>
            </a:r>
            <a:r>
              <a:rPr lang="en-US" sz="1800" b="1" dirty="0">
                <a:latin typeface="Consolas" panose="020B0609020204030204" pitchFamily="49" charset="0"/>
                <a:cs typeface="Consolas" panose="020B0609020204030204" pitchFamily="49" charset="0"/>
              </a:rPr>
              <a:t> visited[n] { </a:t>
            </a:r>
            <a:r>
              <a:rPr lang="en-US" sz="1800" b="1" dirty="0">
                <a:solidFill>
                  <a:srgbClr val="FF0000"/>
                </a:solidFill>
                <a:latin typeface="Consolas" panose="020B0609020204030204" pitchFamily="49" charset="0"/>
                <a:cs typeface="Consolas" panose="020B0609020204030204" pitchFamily="49" charset="0"/>
              </a:rPr>
              <a:t>return</a:t>
            </a:r>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visited[n] = </a:t>
            </a:r>
            <a:r>
              <a:rPr lang="en-US" sz="1800" b="1" dirty="0">
                <a:solidFill>
                  <a:srgbClr val="FF0000"/>
                </a:solidFill>
                <a:latin typeface="Consolas" panose="020B0609020204030204" pitchFamily="49" charset="0"/>
                <a:cs typeface="Consolas" panose="020B0609020204030204" pitchFamily="49" charset="0"/>
              </a:rPr>
              <a:t>true</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for</a:t>
            </a:r>
            <a:r>
              <a:rPr lang="en-US" sz="1800" b="1" dirty="0">
                <a:latin typeface="Consolas" panose="020B0609020204030204" pitchFamily="49" charset="0"/>
                <a:cs typeface="Consolas" panose="020B0609020204030204" pitchFamily="49" charset="0"/>
              </a:rPr>
              <a:t> s </a:t>
            </a:r>
            <a:r>
              <a:rPr lang="en-US" sz="1800" b="1" dirty="0">
                <a:solidFill>
                  <a:srgbClr val="FF0000"/>
                </a:solidFill>
                <a:latin typeface="Consolas" panose="020B0609020204030204" pitchFamily="49" charset="0"/>
                <a:cs typeface="Consolas" panose="020B0609020204030204" pitchFamily="49" charset="0"/>
              </a:rPr>
              <a:t>in</a:t>
            </a:r>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n.successors</a:t>
            </a:r>
            <a:r>
              <a:rPr lang="en-US" sz="1800" b="1" dirty="0">
                <a:latin typeface="Consolas" panose="020B0609020204030204" pitchFamily="49" charset="0"/>
                <a:cs typeface="Consolas" panose="020B0609020204030204" pitchFamily="49" charset="0"/>
              </a:rPr>
              <a:t>() {</a:t>
            </a:r>
            <a:br>
              <a:rPr lang="en-US" sz="1800" b="1" dirty="0">
                <a:latin typeface="Consolas" panose="020B0609020204030204" pitchFamily="49" charset="0"/>
                <a:cs typeface="Consolas" panose="020B0609020204030204" pitchFamily="49" charset="0"/>
              </a:rPr>
            </a:br>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visit_node</a:t>
            </a:r>
            <a:r>
              <a:rPr lang="en-US" sz="1800" b="1" dirty="0">
                <a:latin typeface="Consolas" panose="020B0609020204030204" pitchFamily="49" charset="0"/>
                <a:cs typeface="Consolas" panose="020B0609020204030204" pitchFamily="49" charset="0"/>
              </a:rPr>
              <a:t>(s, visited);</a:t>
            </a:r>
          </a:p>
          <a:p>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19C48E00-B003-F24A-90B2-5A33BA66F944}"/>
              </a:ext>
            </a:extLst>
          </p:cNvPr>
          <p:cNvSpPr txBox="1"/>
          <p:nvPr/>
        </p:nvSpPr>
        <p:spPr>
          <a:xfrm>
            <a:off x="4023852" y="876300"/>
            <a:ext cx="4815348" cy="1107996"/>
          </a:xfrm>
          <a:prstGeom prst="rect">
            <a:avLst/>
          </a:prstGeom>
          <a:noFill/>
        </p:spPr>
        <p:txBody>
          <a:bodyPr wrap="square" rtlCol="0">
            <a:spAutoFit/>
          </a:bodyPr>
          <a:lstStyle/>
          <a:p>
            <a:pPr algn="ctr"/>
            <a:r>
              <a:rPr lang="en-US" sz="2200" dirty="0"/>
              <a:t>the </a:t>
            </a:r>
            <a:r>
              <a:rPr lang="en-US" sz="2200" b="1" dirty="0">
                <a:latin typeface="Consolas" panose="020B0609020204030204" pitchFamily="49" charset="0"/>
                <a:cs typeface="Consolas" panose="020B0609020204030204" pitchFamily="49" charset="0"/>
              </a:rPr>
              <a:t>visited</a:t>
            </a:r>
            <a:r>
              <a:rPr lang="en-US" sz="2200" b="1" dirty="0"/>
              <a:t> </a:t>
            </a:r>
            <a:r>
              <a:rPr lang="en-US" sz="2200" dirty="0"/>
              <a:t>set records which nodes have already been visited, and is necessary to prevent infinite loops.</a:t>
            </a:r>
            <a:endParaRPr lang="en-US" sz="2200" b="1" dirty="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AA44AE22-04BE-8E4D-90B7-6C310B8BB813}"/>
              </a:ext>
            </a:extLst>
          </p:cNvPr>
          <p:cNvSpPr txBox="1"/>
          <p:nvPr/>
        </p:nvSpPr>
        <p:spPr>
          <a:xfrm>
            <a:off x="4023852" y="1989416"/>
            <a:ext cx="4815348" cy="1107996"/>
          </a:xfrm>
          <a:prstGeom prst="rect">
            <a:avLst/>
          </a:prstGeom>
          <a:noFill/>
        </p:spPr>
        <p:txBody>
          <a:bodyPr wrap="square" rtlCol="0">
            <a:spAutoFit/>
          </a:bodyPr>
          <a:lstStyle/>
          <a:p>
            <a:pPr algn="ctr"/>
            <a:r>
              <a:rPr lang="en-US" sz="2200" dirty="0"/>
              <a:t>so you can imagine all the nodes starting in an "unvisited" set, and gradually being moved to </a:t>
            </a:r>
            <a:r>
              <a:rPr lang="en-US" sz="2200" b="1" dirty="0">
                <a:latin typeface="Consolas" panose="020B0609020204030204" pitchFamily="49" charset="0"/>
                <a:cs typeface="Consolas" panose="020B0609020204030204" pitchFamily="49" charset="0"/>
              </a:rPr>
              <a:t>visited</a:t>
            </a:r>
            <a:r>
              <a:rPr lang="en-US" sz="2200" dirty="0"/>
              <a:t>.</a:t>
            </a:r>
            <a:endParaRPr lang="en-US" sz="2200" b="1" dirty="0">
              <a:latin typeface="Consolas" panose="020B0609020204030204" pitchFamily="49" charset="0"/>
              <a:cs typeface="Consolas" panose="020B0609020204030204" pitchFamily="49" charset="0"/>
            </a:endParaRPr>
          </a:p>
        </p:txBody>
      </p:sp>
      <p:grpSp>
        <p:nvGrpSpPr>
          <p:cNvPr id="41" name="Group 40">
            <a:extLst>
              <a:ext uri="{FF2B5EF4-FFF2-40B4-BE49-F238E27FC236}">
                <a16:creationId xmlns:a16="http://schemas.microsoft.com/office/drawing/2014/main" id="{DCABCBCD-876E-F441-AE03-DDE9058C716A}"/>
              </a:ext>
            </a:extLst>
          </p:cNvPr>
          <p:cNvGrpSpPr/>
          <p:nvPr/>
        </p:nvGrpSpPr>
        <p:grpSpPr>
          <a:xfrm>
            <a:off x="2654300" y="3151575"/>
            <a:ext cx="622300" cy="2366722"/>
            <a:chOff x="749300" y="3151575"/>
            <a:chExt cx="622300" cy="2366722"/>
          </a:xfrm>
        </p:grpSpPr>
        <p:sp>
          <p:nvSpPr>
            <p:cNvPr id="9" name="Rounded Rectangle 8">
              <a:extLst>
                <a:ext uri="{FF2B5EF4-FFF2-40B4-BE49-F238E27FC236}">
                  <a16:creationId xmlns:a16="http://schemas.microsoft.com/office/drawing/2014/main" id="{1946A78E-F922-8B4D-B6F8-CB4CBB5D1800}"/>
                </a:ext>
              </a:extLst>
            </p:cNvPr>
            <p:cNvSpPr/>
            <p:nvPr/>
          </p:nvSpPr>
          <p:spPr>
            <a:xfrm>
              <a:off x="749300" y="3827359"/>
              <a:ext cx="609600" cy="442674"/>
            </a:xfrm>
            <a:prstGeom prst="roundRect">
              <a:avLst/>
            </a:prstGeom>
            <a:solidFill>
              <a:schemeClr val="accent6"/>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2</a:t>
              </a:r>
            </a:p>
          </p:txBody>
        </p:sp>
        <p:cxnSp>
          <p:nvCxnSpPr>
            <p:cNvPr id="10" name="Curved Connector 9">
              <a:extLst>
                <a:ext uri="{FF2B5EF4-FFF2-40B4-BE49-F238E27FC236}">
                  <a16:creationId xmlns:a16="http://schemas.microsoft.com/office/drawing/2014/main" id="{895D7AF1-A309-2F45-A453-1679354DEA84}"/>
                </a:ext>
              </a:extLst>
            </p:cNvPr>
            <p:cNvCxnSpPr>
              <a:cxnSpLocks/>
              <a:stCxn id="9" idx="3"/>
              <a:endCxn id="13" idx="3"/>
            </p:cNvCxnSpPr>
            <p:nvPr/>
          </p:nvCxnSpPr>
          <p:spPr>
            <a:xfrm>
              <a:off x="1358900" y="4048696"/>
              <a:ext cx="12700" cy="1248264"/>
            </a:xfrm>
            <a:prstGeom prst="curvedConnector3">
              <a:avLst>
                <a:gd name="adj1" fmla="val 180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urved Connector 128">
              <a:extLst>
                <a:ext uri="{FF2B5EF4-FFF2-40B4-BE49-F238E27FC236}">
                  <a16:creationId xmlns:a16="http://schemas.microsoft.com/office/drawing/2014/main" id="{BCB1A7D4-838F-B64B-9CE5-274943B16EE2}"/>
                </a:ext>
              </a:extLst>
            </p:cNvPr>
            <p:cNvCxnSpPr>
              <a:cxnSpLocks/>
              <a:stCxn id="9" idx="2"/>
              <a:endCxn id="16" idx="0"/>
            </p:cNvCxnSpPr>
            <p:nvPr/>
          </p:nvCxnSpPr>
          <p:spPr>
            <a:xfrm>
              <a:off x="1054100" y="4270033"/>
              <a:ext cx="0" cy="226629"/>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a:extLst>
                <a:ext uri="{FF2B5EF4-FFF2-40B4-BE49-F238E27FC236}">
                  <a16:creationId xmlns:a16="http://schemas.microsoft.com/office/drawing/2014/main" id="{D0759D76-DB08-0244-88A2-83EDAF58CA23}"/>
                </a:ext>
              </a:extLst>
            </p:cNvPr>
            <p:cNvSpPr/>
            <p:nvPr/>
          </p:nvSpPr>
          <p:spPr>
            <a:xfrm>
              <a:off x="749300" y="5075623"/>
              <a:ext cx="609600" cy="442674"/>
            </a:xfrm>
            <a:prstGeom prst="roundRect">
              <a:avLst/>
            </a:prstGeom>
            <a:solidFill>
              <a:schemeClr val="accent2"/>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4</a:t>
              </a:r>
            </a:p>
          </p:txBody>
        </p:sp>
        <p:sp>
          <p:nvSpPr>
            <p:cNvPr id="14" name="Rounded Rectangle 13">
              <a:extLst>
                <a:ext uri="{FF2B5EF4-FFF2-40B4-BE49-F238E27FC236}">
                  <a16:creationId xmlns:a16="http://schemas.microsoft.com/office/drawing/2014/main" id="{590DBBBC-1ECE-1145-9434-F1E29046EDFC}"/>
                </a:ext>
              </a:extLst>
            </p:cNvPr>
            <p:cNvSpPr/>
            <p:nvPr/>
          </p:nvSpPr>
          <p:spPr>
            <a:xfrm>
              <a:off x="749300" y="3151575"/>
              <a:ext cx="609600" cy="442674"/>
            </a:xfrm>
            <a:prstGeom prst="roundRect">
              <a:avLst/>
            </a:prstGeom>
            <a:solidFill>
              <a:schemeClr val="accent1"/>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1</a:t>
              </a:r>
            </a:p>
          </p:txBody>
        </p:sp>
        <p:cxnSp>
          <p:nvCxnSpPr>
            <p:cNvPr id="15" name="Curved Connector 12">
              <a:extLst>
                <a:ext uri="{FF2B5EF4-FFF2-40B4-BE49-F238E27FC236}">
                  <a16:creationId xmlns:a16="http://schemas.microsoft.com/office/drawing/2014/main" id="{D5117A69-89E0-284C-B857-8AF37B9F12FB}"/>
                </a:ext>
              </a:extLst>
            </p:cNvPr>
            <p:cNvCxnSpPr>
              <a:cxnSpLocks/>
              <a:stCxn id="14" idx="2"/>
              <a:endCxn id="9" idx="0"/>
            </p:cNvCxnSpPr>
            <p:nvPr/>
          </p:nvCxnSpPr>
          <p:spPr>
            <a:xfrm>
              <a:off x="1054100" y="3594249"/>
              <a:ext cx="0" cy="23311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ounded Rectangle 15">
              <a:extLst>
                <a:ext uri="{FF2B5EF4-FFF2-40B4-BE49-F238E27FC236}">
                  <a16:creationId xmlns:a16="http://schemas.microsoft.com/office/drawing/2014/main" id="{69EB363C-4D58-B34F-9F8D-B76FDCEF52EE}"/>
                </a:ext>
              </a:extLst>
            </p:cNvPr>
            <p:cNvSpPr/>
            <p:nvPr/>
          </p:nvSpPr>
          <p:spPr>
            <a:xfrm>
              <a:off x="749300" y="4496662"/>
              <a:ext cx="609600" cy="442674"/>
            </a:xfrm>
            <a:prstGeom prst="roundRect">
              <a:avLst/>
            </a:prstGeom>
            <a:solidFill>
              <a:schemeClr val="accent1"/>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3</a:t>
              </a:r>
            </a:p>
          </p:txBody>
        </p:sp>
        <p:cxnSp>
          <p:nvCxnSpPr>
            <p:cNvPr id="18" name="Curved Connector 17">
              <a:extLst>
                <a:ext uri="{FF2B5EF4-FFF2-40B4-BE49-F238E27FC236}">
                  <a16:creationId xmlns:a16="http://schemas.microsoft.com/office/drawing/2014/main" id="{03979580-D340-5046-9987-8EF3BE023403}"/>
                </a:ext>
              </a:extLst>
            </p:cNvPr>
            <p:cNvCxnSpPr>
              <a:cxnSpLocks/>
              <a:stCxn id="16" idx="1"/>
              <a:endCxn id="9" idx="1"/>
            </p:cNvCxnSpPr>
            <p:nvPr/>
          </p:nvCxnSpPr>
          <p:spPr>
            <a:xfrm rot="10800000">
              <a:off x="749300" y="4048697"/>
              <a:ext cx="12700" cy="669303"/>
            </a:xfrm>
            <a:prstGeom prst="curvedConnector3">
              <a:avLst>
                <a:gd name="adj1" fmla="val 180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1" name="Rounded Rectangle 30">
            <a:extLst>
              <a:ext uri="{FF2B5EF4-FFF2-40B4-BE49-F238E27FC236}">
                <a16:creationId xmlns:a16="http://schemas.microsoft.com/office/drawing/2014/main" id="{37106F81-AD18-7B42-B68E-AA6EAEA1A3C4}"/>
              </a:ext>
            </a:extLst>
          </p:cNvPr>
          <p:cNvSpPr/>
          <p:nvPr/>
        </p:nvSpPr>
        <p:spPr>
          <a:xfrm>
            <a:off x="3886200" y="3333986"/>
            <a:ext cx="2285990" cy="205119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b="1" dirty="0">
                <a:solidFill>
                  <a:srgbClr val="FF0000"/>
                </a:solidFill>
              </a:rPr>
              <a:t>Unvisited</a:t>
            </a:r>
          </a:p>
        </p:txBody>
      </p:sp>
      <p:sp>
        <p:nvSpPr>
          <p:cNvPr id="32" name="Rounded Rectangle 31">
            <a:extLst>
              <a:ext uri="{FF2B5EF4-FFF2-40B4-BE49-F238E27FC236}">
                <a16:creationId xmlns:a16="http://schemas.microsoft.com/office/drawing/2014/main" id="{4F830C1D-D8FC-F749-92B5-D5F6226DAB7F}"/>
              </a:ext>
            </a:extLst>
          </p:cNvPr>
          <p:cNvSpPr/>
          <p:nvPr/>
        </p:nvSpPr>
        <p:spPr>
          <a:xfrm>
            <a:off x="6476989" y="3333985"/>
            <a:ext cx="2285990" cy="2051197"/>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b="1" dirty="0">
                <a:solidFill>
                  <a:srgbClr val="00B050"/>
                </a:solidFill>
              </a:rPr>
              <a:t>Visited</a:t>
            </a:r>
          </a:p>
        </p:txBody>
      </p:sp>
      <p:sp>
        <p:nvSpPr>
          <p:cNvPr id="33" name="Rounded Rectangle 32">
            <a:extLst>
              <a:ext uri="{FF2B5EF4-FFF2-40B4-BE49-F238E27FC236}">
                <a16:creationId xmlns:a16="http://schemas.microsoft.com/office/drawing/2014/main" id="{C6F48AC5-8B30-7C40-ADAB-F58C957F6368}"/>
              </a:ext>
            </a:extLst>
          </p:cNvPr>
          <p:cNvSpPr/>
          <p:nvPr/>
        </p:nvSpPr>
        <p:spPr>
          <a:xfrm>
            <a:off x="5110314" y="4048696"/>
            <a:ext cx="609600" cy="442674"/>
          </a:xfrm>
          <a:prstGeom prst="roundRect">
            <a:avLst/>
          </a:prstGeom>
          <a:solidFill>
            <a:schemeClr val="accent6"/>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2</a:t>
            </a:r>
          </a:p>
        </p:txBody>
      </p:sp>
      <p:sp>
        <p:nvSpPr>
          <p:cNvPr id="34" name="Rounded Rectangle 33">
            <a:extLst>
              <a:ext uri="{FF2B5EF4-FFF2-40B4-BE49-F238E27FC236}">
                <a16:creationId xmlns:a16="http://schemas.microsoft.com/office/drawing/2014/main" id="{FA793DE0-9671-1C4B-AE19-DC72B640FFD2}"/>
              </a:ext>
            </a:extLst>
          </p:cNvPr>
          <p:cNvSpPr/>
          <p:nvPr/>
        </p:nvSpPr>
        <p:spPr>
          <a:xfrm>
            <a:off x="5230330" y="4717999"/>
            <a:ext cx="609600" cy="442674"/>
          </a:xfrm>
          <a:prstGeom prst="roundRect">
            <a:avLst/>
          </a:prstGeom>
          <a:solidFill>
            <a:schemeClr val="accent2"/>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4</a:t>
            </a:r>
          </a:p>
        </p:txBody>
      </p:sp>
      <p:sp>
        <p:nvSpPr>
          <p:cNvPr id="35" name="Rounded Rectangle 34">
            <a:extLst>
              <a:ext uri="{FF2B5EF4-FFF2-40B4-BE49-F238E27FC236}">
                <a16:creationId xmlns:a16="http://schemas.microsoft.com/office/drawing/2014/main" id="{237F06E8-D6D4-B849-9280-840237DBE260}"/>
              </a:ext>
            </a:extLst>
          </p:cNvPr>
          <p:cNvSpPr/>
          <p:nvPr/>
        </p:nvSpPr>
        <p:spPr>
          <a:xfrm>
            <a:off x="4190999" y="3927261"/>
            <a:ext cx="609600" cy="442674"/>
          </a:xfrm>
          <a:prstGeom prst="roundRect">
            <a:avLst/>
          </a:prstGeom>
          <a:solidFill>
            <a:schemeClr val="accent1"/>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1</a:t>
            </a:r>
          </a:p>
        </p:txBody>
      </p:sp>
      <p:sp>
        <p:nvSpPr>
          <p:cNvPr id="36" name="Rounded Rectangle 35">
            <a:extLst>
              <a:ext uri="{FF2B5EF4-FFF2-40B4-BE49-F238E27FC236}">
                <a16:creationId xmlns:a16="http://schemas.microsoft.com/office/drawing/2014/main" id="{58651B2A-E307-974A-B105-16E9EDE68EF3}"/>
              </a:ext>
            </a:extLst>
          </p:cNvPr>
          <p:cNvSpPr/>
          <p:nvPr/>
        </p:nvSpPr>
        <p:spPr>
          <a:xfrm>
            <a:off x="4315931" y="4608802"/>
            <a:ext cx="609600" cy="442674"/>
          </a:xfrm>
          <a:prstGeom prst="roundRect">
            <a:avLst/>
          </a:prstGeom>
          <a:solidFill>
            <a:schemeClr val="accent1"/>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3</a:t>
            </a:r>
          </a:p>
        </p:txBody>
      </p:sp>
      <p:sp>
        <p:nvSpPr>
          <p:cNvPr id="42" name="Right Arrow 41">
            <a:extLst>
              <a:ext uri="{FF2B5EF4-FFF2-40B4-BE49-F238E27FC236}">
                <a16:creationId xmlns:a16="http://schemas.microsoft.com/office/drawing/2014/main" id="{2E13BDAE-D866-ED40-B24D-C793495E1590}"/>
              </a:ext>
            </a:extLst>
          </p:cNvPr>
          <p:cNvSpPr/>
          <p:nvPr/>
        </p:nvSpPr>
        <p:spPr>
          <a:xfrm>
            <a:off x="977901" y="3051586"/>
            <a:ext cx="1371600" cy="642651"/>
          </a:xfrm>
          <a:prstGeom prst="righ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a:latin typeface="Consolas" panose="020B0609020204030204" pitchFamily="49" charset="0"/>
                <a:cs typeface="Consolas" panose="020B0609020204030204" pitchFamily="49" charset="0"/>
              </a:rPr>
              <a:t>visit_node</a:t>
            </a:r>
            <a:endParaRPr lang="en-US"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6595645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42" presetClass="path" presetSubtype="0" accel="50000" decel="50000" fill="hold" grpId="1" nodeType="clickEffect">
                                  <p:stCondLst>
                                    <p:cond delay="0"/>
                                  </p:stCondLst>
                                  <p:childTnLst>
                                    <p:animMotion origin="layout" path="M 3.33333E-6 -3.33333E-6 L 0.28472 0.00084 " pathEditMode="relative" rAng="0" ptsTypes="AA">
                                      <p:cBhvr>
                                        <p:cTn id="38" dur="300" fill="hold"/>
                                        <p:tgtEl>
                                          <p:spTgt spid="35"/>
                                        </p:tgtEl>
                                        <p:attrNameLst>
                                          <p:attrName>ppt_x</p:attrName>
                                          <p:attrName>ppt_y</p:attrName>
                                        </p:attrNameLst>
                                      </p:cBhvr>
                                      <p:rCtr x="14236" y="28"/>
                                    </p:animMotion>
                                  </p:childTnLst>
                                </p:cTn>
                              </p:par>
                            </p:childTnLst>
                          </p:cTn>
                        </p:par>
                      </p:childTnLst>
                    </p:cTn>
                  </p:par>
                  <p:par>
                    <p:cTn id="39" fill="hold">
                      <p:stCondLst>
                        <p:cond delay="indefinite"/>
                      </p:stCondLst>
                      <p:childTnLst>
                        <p:par>
                          <p:cTn id="40" fill="hold">
                            <p:stCondLst>
                              <p:cond delay="0"/>
                            </p:stCondLst>
                            <p:childTnLst>
                              <p:par>
                                <p:cTn id="41" presetID="42" presetClass="path" presetSubtype="0" accel="50000" decel="50000" fill="hold" grpId="1" nodeType="clickEffect">
                                  <p:stCondLst>
                                    <p:cond delay="0"/>
                                  </p:stCondLst>
                                  <p:childTnLst>
                                    <p:animMotion origin="layout" path="M -4.44444E-6 1.11022E-16 L -4.44444E-6 0.11833 " pathEditMode="relative" rAng="0" ptsTypes="AA">
                                      <p:cBhvr>
                                        <p:cTn id="42" dur="300" fill="hold"/>
                                        <p:tgtEl>
                                          <p:spTgt spid="42"/>
                                        </p:tgtEl>
                                        <p:attrNameLst>
                                          <p:attrName>ppt_x</p:attrName>
                                          <p:attrName>ppt_y</p:attrName>
                                        </p:attrNameLst>
                                      </p:cBhvr>
                                      <p:rCtr x="0" y="5917"/>
                                    </p:animMotion>
                                  </p:childTnLst>
                                </p:cTn>
                              </p:par>
                            </p:childTnLst>
                          </p:cTn>
                        </p:par>
                      </p:childTnLst>
                    </p:cTn>
                  </p:par>
                  <p:par>
                    <p:cTn id="43" fill="hold">
                      <p:stCondLst>
                        <p:cond delay="indefinite"/>
                      </p:stCondLst>
                      <p:childTnLst>
                        <p:par>
                          <p:cTn id="44" fill="hold">
                            <p:stCondLst>
                              <p:cond delay="0"/>
                            </p:stCondLst>
                            <p:childTnLst>
                              <p:par>
                                <p:cTn id="45" presetID="42" presetClass="path" presetSubtype="0" accel="50000" decel="50000" fill="hold" grpId="1" nodeType="clickEffect">
                                  <p:stCondLst>
                                    <p:cond delay="0"/>
                                  </p:stCondLst>
                                  <p:childTnLst>
                                    <p:animMotion origin="layout" path="M 2.5E-6 -4.44444E-6 L 0.2842 -0.02027 " pathEditMode="relative" rAng="0" ptsTypes="AA">
                                      <p:cBhvr>
                                        <p:cTn id="46" dur="300" fill="hold"/>
                                        <p:tgtEl>
                                          <p:spTgt spid="33"/>
                                        </p:tgtEl>
                                        <p:attrNameLst>
                                          <p:attrName>ppt_x</p:attrName>
                                          <p:attrName>ppt_y</p:attrName>
                                        </p:attrNameLst>
                                      </p:cBhvr>
                                      <p:rCtr x="14201" y="-1028"/>
                                    </p:animMotion>
                                  </p:childTnLst>
                                </p:cTn>
                              </p:par>
                            </p:childTnLst>
                          </p:cTn>
                        </p:par>
                      </p:childTnLst>
                    </p:cTn>
                  </p:par>
                  <p:par>
                    <p:cTn id="47" fill="hold">
                      <p:stCondLst>
                        <p:cond delay="indefinite"/>
                      </p:stCondLst>
                      <p:childTnLst>
                        <p:par>
                          <p:cTn id="48" fill="hold">
                            <p:stCondLst>
                              <p:cond delay="0"/>
                            </p:stCondLst>
                            <p:childTnLst>
                              <p:par>
                                <p:cTn id="49" presetID="42" presetClass="path" presetSubtype="0" accel="50000" decel="50000" fill="hold" grpId="2" nodeType="clickEffect">
                                  <p:stCondLst>
                                    <p:cond delay="0"/>
                                  </p:stCondLst>
                                  <p:childTnLst>
                                    <p:animMotion origin="layout" path="M -4.44444E-6 0.11833 L -4.44444E-6 0.33694 " pathEditMode="relative" rAng="0" ptsTypes="AA">
                                      <p:cBhvr>
                                        <p:cTn id="50" dur="300" fill="hold"/>
                                        <p:tgtEl>
                                          <p:spTgt spid="42"/>
                                        </p:tgtEl>
                                        <p:attrNameLst>
                                          <p:attrName>ppt_x</p:attrName>
                                          <p:attrName>ppt_y</p:attrName>
                                        </p:attrNameLst>
                                      </p:cBhvr>
                                      <p:rCtr x="0" y="10917"/>
                                    </p:animMotion>
                                  </p:childTnLst>
                                </p:cTn>
                              </p:par>
                            </p:childTnLst>
                          </p:cTn>
                        </p:par>
                      </p:childTnLst>
                    </p:cTn>
                  </p:par>
                  <p:par>
                    <p:cTn id="51" fill="hold">
                      <p:stCondLst>
                        <p:cond delay="indefinite"/>
                      </p:stCondLst>
                      <p:childTnLst>
                        <p:par>
                          <p:cTn id="52" fill="hold">
                            <p:stCondLst>
                              <p:cond delay="0"/>
                            </p:stCondLst>
                            <p:childTnLst>
                              <p:par>
                                <p:cTn id="53" presetID="42" presetClass="path" presetSubtype="0" accel="50000" decel="50000" fill="hold" grpId="1" nodeType="clickEffect">
                                  <p:stCondLst>
                                    <p:cond delay="0"/>
                                  </p:stCondLst>
                                  <p:childTnLst>
                                    <p:animMotion origin="layout" path="M -1.94444E-6 3.33333E-6 L 0.18021 -0.0175 " pathEditMode="relative" rAng="0" ptsTypes="AA">
                                      <p:cBhvr>
                                        <p:cTn id="54" dur="300" fill="hold"/>
                                        <p:tgtEl>
                                          <p:spTgt spid="34"/>
                                        </p:tgtEl>
                                        <p:attrNameLst>
                                          <p:attrName>ppt_x</p:attrName>
                                          <p:attrName>ppt_y</p:attrName>
                                        </p:attrNameLst>
                                      </p:cBhvr>
                                      <p:rCtr x="9010" y="-889"/>
                                    </p:animMotion>
                                  </p:childTnLst>
                                </p:cTn>
                              </p:par>
                            </p:childTnLst>
                          </p:cTn>
                        </p:par>
                      </p:childTnLst>
                    </p:cTn>
                  </p:par>
                  <p:par>
                    <p:cTn id="55" fill="hold">
                      <p:stCondLst>
                        <p:cond delay="indefinite"/>
                      </p:stCondLst>
                      <p:childTnLst>
                        <p:par>
                          <p:cTn id="56" fill="hold">
                            <p:stCondLst>
                              <p:cond delay="0"/>
                            </p:stCondLst>
                            <p:childTnLst>
                              <p:par>
                                <p:cTn id="57" presetID="42" presetClass="path" presetSubtype="0" accel="50000" decel="50000" fill="hold" grpId="3" nodeType="clickEffect">
                                  <p:stCondLst>
                                    <p:cond delay="0"/>
                                  </p:stCondLst>
                                  <p:childTnLst>
                                    <p:animMotion origin="layout" path="M -4.44444E-6 0.33694 L -4.44444E-6 0.11833 " pathEditMode="relative" rAng="0" ptsTypes="AA">
                                      <p:cBhvr>
                                        <p:cTn id="58" dur="300" fill="hold"/>
                                        <p:tgtEl>
                                          <p:spTgt spid="42"/>
                                        </p:tgtEl>
                                        <p:attrNameLst>
                                          <p:attrName>ppt_x</p:attrName>
                                          <p:attrName>ppt_y</p:attrName>
                                        </p:attrNameLst>
                                      </p:cBhvr>
                                      <p:rCtr x="0" y="-10944"/>
                                    </p:animMotion>
                                  </p:childTnLst>
                                </p:cTn>
                              </p:par>
                            </p:childTnLst>
                          </p:cTn>
                        </p:par>
                      </p:childTnLst>
                    </p:cTn>
                  </p:par>
                  <p:par>
                    <p:cTn id="59" fill="hold">
                      <p:stCondLst>
                        <p:cond delay="indefinite"/>
                      </p:stCondLst>
                      <p:childTnLst>
                        <p:par>
                          <p:cTn id="60" fill="hold">
                            <p:stCondLst>
                              <p:cond delay="0"/>
                            </p:stCondLst>
                            <p:childTnLst>
                              <p:par>
                                <p:cTn id="61" presetID="42" presetClass="path" presetSubtype="0" accel="50000" decel="50000" fill="hold" grpId="4" nodeType="clickEffect">
                                  <p:stCondLst>
                                    <p:cond delay="0"/>
                                  </p:stCondLst>
                                  <p:childTnLst>
                                    <p:animMotion origin="layout" path="M -4.44444E-6 0.11833 L -4.44444E-6 0.23556 " pathEditMode="relative" rAng="0" ptsTypes="AA">
                                      <p:cBhvr>
                                        <p:cTn id="62" dur="300" fill="hold"/>
                                        <p:tgtEl>
                                          <p:spTgt spid="42"/>
                                        </p:tgtEl>
                                        <p:attrNameLst>
                                          <p:attrName>ppt_x</p:attrName>
                                          <p:attrName>ppt_y</p:attrName>
                                        </p:attrNameLst>
                                      </p:cBhvr>
                                      <p:rCtr x="0" y="5861"/>
                                    </p:animMotion>
                                  </p:childTnLst>
                                </p:cTn>
                              </p:par>
                            </p:childTnLst>
                          </p:cTn>
                        </p:par>
                      </p:childTnLst>
                    </p:cTn>
                  </p:par>
                  <p:par>
                    <p:cTn id="63" fill="hold">
                      <p:stCondLst>
                        <p:cond delay="indefinite"/>
                      </p:stCondLst>
                      <p:childTnLst>
                        <p:par>
                          <p:cTn id="64" fill="hold">
                            <p:stCondLst>
                              <p:cond delay="0"/>
                            </p:stCondLst>
                            <p:childTnLst>
                              <p:par>
                                <p:cTn id="65" presetID="42" presetClass="path" presetSubtype="0" accel="50000" decel="50000" fill="hold" grpId="1" nodeType="clickEffect">
                                  <p:stCondLst>
                                    <p:cond delay="0"/>
                                  </p:stCondLst>
                                  <p:childTnLst>
                                    <p:animMotion origin="layout" path="M -1.94444E-6 1.11022E-16 L 0.38472 0.00167 " pathEditMode="relative" rAng="0" ptsTypes="AA">
                                      <p:cBhvr>
                                        <p:cTn id="66" dur="300" fill="hold"/>
                                        <p:tgtEl>
                                          <p:spTgt spid="36"/>
                                        </p:tgtEl>
                                        <p:attrNameLst>
                                          <p:attrName>ppt_x</p:attrName>
                                          <p:attrName>ppt_y</p:attrName>
                                        </p:attrNameLst>
                                      </p:cBhvr>
                                      <p:rCtr x="19236" y="83"/>
                                    </p:animMotion>
                                  </p:childTnLst>
                                </p:cTn>
                              </p:par>
                            </p:childTnLst>
                          </p:cTn>
                        </p:par>
                      </p:childTnLst>
                    </p:cTn>
                  </p:par>
                  <p:par>
                    <p:cTn id="67" fill="hold">
                      <p:stCondLst>
                        <p:cond delay="indefinite"/>
                      </p:stCondLst>
                      <p:childTnLst>
                        <p:par>
                          <p:cTn id="68" fill="hold">
                            <p:stCondLst>
                              <p:cond delay="0"/>
                            </p:stCondLst>
                            <p:childTnLst>
                              <p:par>
                                <p:cTn id="69" presetID="42" presetClass="path" presetSubtype="0" accel="50000" decel="50000" fill="hold" grpId="5" nodeType="clickEffect">
                                  <p:stCondLst>
                                    <p:cond delay="0"/>
                                  </p:stCondLst>
                                  <p:childTnLst>
                                    <p:animMotion origin="layout" path="M -4.44444E-6 0.23556 L -4.16667E-6 0.11834 " pathEditMode="relative" rAng="0" ptsTypes="AA">
                                      <p:cBhvr>
                                        <p:cTn id="70" dur="300" fill="hold"/>
                                        <p:tgtEl>
                                          <p:spTgt spid="42"/>
                                        </p:tgtEl>
                                        <p:attrNameLst>
                                          <p:attrName>ppt_x</p:attrName>
                                          <p:attrName>ppt_y</p:attrName>
                                        </p:attrNameLst>
                                      </p:cBhvr>
                                      <p:rCtr x="87" y="-575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31" grpId="0" animBg="1"/>
      <p:bldP spid="32" grpId="0" animBg="1"/>
      <p:bldP spid="33" grpId="0" animBg="1"/>
      <p:bldP spid="33" grpId="1" animBg="1"/>
      <p:bldP spid="34" grpId="0" animBg="1"/>
      <p:bldP spid="34" grpId="1" animBg="1"/>
      <p:bldP spid="35" grpId="0" animBg="1"/>
      <p:bldP spid="35" grpId="1" animBg="1"/>
      <p:bldP spid="36" grpId="0" animBg="1"/>
      <p:bldP spid="36" grpId="1" animBg="1"/>
      <p:bldP spid="42" grpId="0" animBg="1"/>
      <p:bldP spid="42" grpId="1" animBg="1"/>
      <p:bldP spid="42" grpId="2" animBg="1"/>
      <p:bldP spid="42" grpId="3" animBg="1"/>
      <p:bldP spid="42" grpId="4" animBg="1"/>
      <p:bldP spid="42" grpId="5"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90B2E-AA9B-1246-A912-1694DE5193B1}"/>
              </a:ext>
            </a:extLst>
          </p:cNvPr>
          <p:cNvSpPr>
            <a:spLocks noGrp="1"/>
          </p:cNvSpPr>
          <p:nvPr>
            <p:ph type="title"/>
          </p:nvPr>
        </p:nvSpPr>
        <p:spPr/>
        <p:txBody>
          <a:bodyPr/>
          <a:lstStyle/>
          <a:p>
            <a:r>
              <a:rPr lang="en-US" i="1" dirty="0"/>
              <a:t>Why</a:t>
            </a:r>
            <a:r>
              <a:rPr lang="en-US" dirty="0"/>
              <a:t> does it terminate?</a:t>
            </a:r>
            <a:endParaRPr lang="en-US" i="1" dirty="0"/>
          </a:p>
        </p:txBody>
      </p:sp>
      <p:sp>
        <p:nvSpPr>
          <p:cNvPr id="3" name="Content Placeholder 2">
            <a:extLst>
              <a:ext uri="{FF2B5EF4-FFF2-40B4-BE49-F238E27FC236}">
                <a16:creationId xmlns:a16="http://schemas.microsoft.com/office/drawing/2014/main" id="{F40B0A3F-84DD-514A-B147-47F65186FFDE}"/>
              </a:ext>
            </a:extLst>
          </p:cNvPr>
          <p:cNvSpPr>
            <a:spLocks noGrp="1"/>
          </p:cNvSpPr>
          <p:nvPr>
            <p:ph idx="1"/>
          </p:nvPr>
        </p:nvSpPr>
        <p:spPr>
          <a:xfrm>
            <a:off x="152400" y="495301"/>
            <a:ext cx="8991600" cy="863001"/>
          </a:xfrm>
        </p:spPr>
        <p:txBody>
          <a:bodyPr/>
          <a:lstStyle/>
          <a:p>
            <a:r>
              <a:rPr lang="en-US" dirty="0"/>
              <a:t>it might seem silly to ask, but </a:t>
            </a:r>
            <a:r>
              <a:rPr lang="en-US" b="1" dirty="0"/>
              <a:t>termination</a:t>
            </a:r>
            <a:r>
              <a:rPr lang="en-US" dirty="0"/>
              <a:t> is </a:t>
            </a:r>
            <a:r>
              <a:rPr lang="en-US" i="1" dirty="0"/>
              <a:t>crucial</a:t>
            </a:r>
            <a:r>
              <a:rPr lang="en-US" dirty="0"/>
              <a:t> to being able to specify optimizations that don't get our compiler stuck in a loop.</a:t>
            </a:r>
          </a:p>
        </p:txBody>
      </p:sp>
      <p:sp>
        <p:nvSpPr>
          <p:cNvPr id="4" name="Slide Number Placeholder 3">
            <a:extLst>
              <a:ext uri="{FF2B5EF4-FFF2-40B4-BE49-F238E27FC236}">
                <a16:creationId xmlns:a16="http://schemas.microsoft.com/office/drawing/2014/main" id="{773840D5-60B9-AC48-9F95-3AC3052B371C}"/>
              </a:ext>
            </a:extLst>
          </p:cNvPr>
          <p:cNvSpPr>
            <a:spLocks noGrp="1"/>
          </p:cNvSpPr>
          <p:nvPr>
            <p:ph type="sldNum" sz="quarter" idx="12"/>
          </p:nvPr>
        </p:nvSpPr>
        <p:spPr/>
        <p:txBody>
          <a:bodyPr/>
          <a:lstStyle/>
          <a:p>
            <a:fld id="{3552B95B-556F-44BD-91A5-D80C1B9E2BB3}" type="slidenum">
              <a:rPr lang="en-US" smtClean="0"/>
              <a:pPr/>
              <a:t>12</a:t>
            </a:fld>
            <a:endParaRPr lang="en-US"/>
          </a:p>
        </p:txBody>
      </p:sp>
      <p:sp>
        <p:nvSpPr>
          <p:cNvPr id="5" name="Rounded Rectangle 4">
            <a:extLst>
              <a:ext uri="{FF2B5EF4-FFF2-40B4-BE49-F238E27FC236}">
                <a16:creationId xmlns:a16="http://schemas.microsoft.com/office/drawing/2014/main" id="{0A36CCA5-F1F5-6B4A-8D31-4DBCFB7619D5}"/>
              </a:ext>
            </a:extLst>
          </p:cNvPr>
          <p:cNvSpPr/>
          <p:nvPr/>
        </p:nvSpPr>
        <p:spPr>
          <a:xfrm>
            <a:off x="2819399" y="2305757"/>
            <a:ext cx="1394964" cy="76200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0000"/>
                </a:solidFill>
              </a:rPr>
              <a:t>Unvisited</a:t>
            </a:r>
          </a:p>
        </p:txBody>
      </p:sp>
      <p:sp>
        <p:nvSpPr>
          <p:cNvPr id="6" name="Rounded Rectangle 5">
            <a:extLst>
              <a:ext uri="{FF2B5EF4-FFF2-40B4-BE49-F238E27FC236}">
                <a16:creationId xmlns:a16="http://schemas.microsoft.com/office/drawing/2014/main" id="{2674F064-4C15-AE49-83DE-31241CCA504A}"/>
              </a:ext>
            </a:extLst>
          </p:cNvPr>
          <p:cNvSpPr/>
          <p:nvPr/>
        </p:nvSpPr>
        <p:spPr>
          <a:xfrm>
            <a:off x="5308192" y="2305757"/>
            <a:ext cx="1168808" cy="762001"/>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B050"/>
                </a:solidFill>
              </a:rPr>
              <a:t>Visited</a:t>
            </a:r>
          </a:p>
        </p:txBody>
      </p:sp>
      <p:sp>
        <p:nvSpPr>
          <p:cNvPr id="7" name="TextBox 6">
            <a:extLst>
              <a:ext uri="{FF2B5EF4-FFF2-40B4-BE49-F238E27FC236}">
                <a16:creationId xmlns:a16="http://schemas.microsoft.com/office/drawing/2014/main" id="{F520533B-48E9-4A4F-B4D4-D8C2FE128FC3}"/>
              </a:ext>
            </a:extLst>
          </p:cNvPr>
          <p:cNvSpPr txBox="1"/>
          <p:nvPr/>
        </p:nvSpPr>
        <p:spPr>
          <a:xfrm>
            <a:off x="1955392" y="1333500"/>
            <a:ext cx="5486400" cy="769441"/>
          </a:xfrm>
          <a:prstGeom prst="rect">
            <a:avLst/>
          </a:prstGeom>
          <a:noFill/>
        </p:spPr>
        <p:txBody>
          <a:bodyPr wrap="square" rtlCol="0">
            <a:spAutoFit/>
          </a:bodyPr>
          <a:lstStyle/>
          <a:p>
            <a:pPr algn="ctr"/>
            <a:r>
              <a:rPr lang="en-US" sz="2200" b="1" dirty="0"/>
              <a:t>1. </a:t>
            </a:r>
            <a:r>
              <a:rPr lang="en-US" sz="2200" dirty="0"/>
              <a:t>every node is in one of a </a:t>
            </a:r>
            <a:r>
              <a:rPr lang="en-US" sz="2200" b="1" dirty="0"/>
              <a:t>finite number </a:t>
            </a:r>
            <a:r>
              <a:rPr lang="en-US" sz="2200" dirty="0"/>
              <a:t>of sets. (here, it's one of two sets.)</a:t>
            </a:r>
            <a:endParaRPr lang="en-US" sz="2200" b="1" dirty="0">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4AF6601A-6C5B-0B46-A7F3-D40C67C08A4B}"/>
              </a:ext>
            </a:extLst>
          </p:cNvPr>
          <p:cNvSpPr txBox="1"/>
          <p:nvPr/>
        </p:nvSpPr>
        <p:spPr>
          <a:xfrm>
            <a:off x="2057400" y="3278837"/>
            <a:ext cx="5181600" cy="769441"/>
          </a:xfrm>
          <a:prstGeom prst="rect">
            <a:avLst/>
          </a:prstGeom>
          <a:noFill/>
        </p:spPr>
        <p:txBody>
          <a:bodyPr wrap="square" rtlCol="0">
            <a:spAutoFit/>
          </a:bodyPr>
          <a:lstStyle/>
          <a:p>
            <a:pPr algn="ctr"/>
            <a:r>
              <a:rPr lang="en-US" sz="2200" b="1" dirty="0"/>
              <a:t>2. </a:t>
            </a:r>
            <a:r>
              <a:rPr lang="en-US" sz="2200" dirty="0"/>
              <a:t>nodes can move from one set to another, </a:t>
            </a:r>
            <a:r>
              <a:rPr lang="en-US" sz="2200" b="1" dirty="0"/>
              <a:t>but only in one direction.</a:t>
            </a:r>
            <a:endParaRPr lang="en-US" sz="2200" b="1" dirty="0">
              <a:latin typeface="Consolas" panose="020B0609020204030204" pitchFamily="49" charset="0"/>
              <a:cs typeface="Consolas" panose="020B0609020204030204" pitchFamily="49" charset="0"/>
            </a:endParaRPr>
          </a:p>
        </p:txBody>
      </p:sp>
      <p:cxnSp>
        <p:nvCxnSpPr>
          <p:cNvPr id="10" name="Straight Arrow Connector 9">
            <a:extLst>
              <a:ext uri="{FF2B5EF4-FFF2-40B4-BE49-F238E27FC236}">
                <a16:creationId xmlns:a16="http://schemas.microsoft.com/office/drawing/2014/main" id="{FC4E114B-4286-8144-9EE5-6E7C6B68C34A}"/>
              </a:ext>
            </a:extLst>
          </p:cNvPr>
          <p:cNvCxnSpPr/>
          <p:nvPr/>
        </p:nvCxnSpPr>
        <p:spPr>
          <a:xfrm>
            <a:off x="4214363" y="2552700"/>
            <a:ext cx="1093828" cy="0"/>
          </a:xfrm>
          <a:prstGeom prst="straightConnector1">
            <a:avLst/>
          </a:prstGeom>
          <a:ln w="76200">
            <a:solidFill>
              <a:srgbClr val="000000"/>
            </a:solidFill>
            <a:tailEnd type="triangle"/>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D9A8D16C-2680-7146-A4C5-B7897DC13F20}"/>
              </a:ext>
            </a:extLst>
          </p:cNvPr>
          <p:cNvGrpSpPr/>
          <p:nvPr/>
        </p:nvGrpSpPr>
        <p:grpSpPr>
          <a:xfrm>
            <a:off x="4214363" y="2597750"/>
            <a:ext cx="1093828" cy="519500"/>
            <a:chOff x="3985764" y="2597750"/>
            <a:chExt cx="1093828" cy="519500"/>
          </a:xfrm>
        </p:grpSpPr>
        <p:cxnSp>
          <p:nvCxnSpPr>
            <p:cNvPr id="11" name="Straight Arrow Connector 10">
              <a:extLst>
                <a:ext uri="{FF2B5EF4-FFF2-40B4-BE49-F238E27FC236}">
                  <a16:creationId xmlns:a16="http://schemas.microsoft.com/office/drawing/2014/main" id="{DD66F5ED-7216-5041-8A9E-132BB8556585}"/>
                </a:ext>
              </a:extLst>
            </p:cNvPr>
            <p:cNvCxnSpPr>
              <a:cxnSpLocks/>
            </p:cNvCxnSpPr>
            <p:nvPr/>
          </p:nvCxnSpPr>
          <p:spPr>
            <a:xfrm flipH="1">
              <a:off x="3985764" y="2857500"/>
              <a:ext cx="1093828" cy="0"/>
            </a:xfrm>
            <a:prstGeom prst="straightConnector1">
              <a:avLst/>
            </a:prstGeom>
            <a:ln w="762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13" name="Multiply 12">
              <a:extLst>
                <a:ext uri="{FF2B5EF4-FFF2-40B4-BE49-F238E27FC236}">
                  <a16:creationId xmlns:a16="http://schemas.microsoft.com/office/drawing/2014/main" id="{562CE6D7-5CD5-D741-B05D-B6B15D27F170}"/>
                </a:ext>
              </a:extLst>
            </p:cNvPr>
            <p:cNvSpPr/>
            <p:nvPr/>
          </p:nvSpPr>
          <p:spPr>
            <a:xfrm>
              <a:off x="4285218" y="2597750"/>
              <a:ext cx="519500" cy="519500"/>
            </a:xfrm>
            <a:prstGeom prst="mathMultiply">
              <a:avLst>
                <a:gd name="adj1" fmla="val 12164"/>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Box 14">
            <a:extLst>
              <a:ext uri="{FF2B5EF4-FFF2-40B4-BE49-F238E27FC236}">
                <a16:creationId xmlns:a16="http://schemas.microsoft.com/office/drawing/2014/main" id="{D9953B0A-67BE-D041-926A-5AB449FBE4EE}"/>
              </a:ext>
            </a:extLst>
          </p:cNvPr>
          <p:cNvSpPr txBox="1"/>
          <p:nvPr/>
        </p:nvSpPr>
        <p:spPr>
          <a:xfrm>
            <a:off x="6644164" y="1967614"/>
            <a:ext cx="2499836" cy="1446550"/>
          </a:xfrm>
          <a:prstGeom prst="rect">
            <a:avLst/>
          </a:prstGeom>
          <a:noFill/>
        </p:spPr>
        <p:txBody>
          <a:bodyPr wrap="square" rtlCol="0">
            <a:spAutoFit/>
          </a:bodyPr>
          <a:lstStyle/>
          <a:p>
            <a:pPr algn="ctr"/>
            <a:r>
              <a:rPr lang="en-US" sz="2200" b="1" dirty="0"/>
              <a:t>3. </a:t>
            </a:r>
            <a:r>
              <a:rPr lang="en-US" sz="2200" dirty="0"/>
              <a:t>once a node reaches the "last" set, </a:t>
            </a:r>
            <a:r>
              <a:rPr lang="en-US" sz="2200" b="1" dirty="0"/>
              <a:t>we don't look at it anymore.</a:t>
            </a:r>
            <a:endParaRPr lang="en-US" sz="2200" b="1" dirty="0">
              <a:latin typeface="Consolas" panose="020B0609020204030204" pitchFamily="49" charset="0"/>
              <a:cs typeface="Consolas" panose="020B0609020204030204" pitchFamily="49" charset="0"/>
            </a:endParaRPr>
          </a:p>
        </p:txBody>
      </p:sp>
      <p:sp>
        <p:nvSpPr>
          <p:cNvPr id="16" name="TextBox 15">
            <a:extLst>
              <a:ext uri="{FF2B5EF4-FFF2-40B4-BE49-F238E27FC236}">
                <a16:creationId xmlns:a16="http://schemas.microsoft.com/office/drawing/2014/main" id="{DE8CF569-3DCB-7249-8C85-A150E6AAD925}"/>
              </a:ext>
            </a:extLst>
          </p:cNvPr>
          <p:cNvSpPr txBox="1"/>
          <p:nvPr/>
        </p:nvSpPr>
        <p:spPr>
          <a:xfrm>
            <a:off x="31167" y="1967614"/>
            <a:ext cx="2499836" cy="1446550"/>
          </a:xfrm>
          <a:prstGeom prst="rect">
            <a:avLst/>
          </a:prstGeom>
          <a:noFill/>
        </p:spPr>
        <p:txBody>
          <a:bodyPr wrap="square" rtlCol="0">
            <a:spAutoFit/>
          </a:bodyPr>
          <a:lstStyle/>
          <a:p>
            <a:pPr algn="ctr"/>
            <a:r>
              <a:rPr lang="en-US" sz="2200" b="1" dirty="0"/>
              <a:t>4. </a:t>
            </a:r>
            <a:r>
              <a:rPr lang="en-US" sz="2200" dirty="0"/>
              <a:t>on every step, we move </a:t>
            </a:r>
            <a:r>
              <a:rPr lang="en-US" sz="2200" b="1" dirty="0"/>
              <a:t>at least one node </a:t>
            </a:r>
            <a:r>
              <a:rPr lang="en-US" sz="2200" dirty="0"/>
              <a:t>from one set to another.</a:t>
            </a:r>
            <a:endParaRPr lang="en-US" sz="2200" b="1" dirty="0">
              <a:latin typeface="Consolas" panose="020B0609020204030204" pitchFamily="49" charset="0"/>
              <a:cs typeface="Consolas" panose="020B0609020204030204" pitchFamily="49" charset="0"/>
            </a:endParaRPr>
          </a:p>
        </p:txBody>
      </p:sp>
      <p:sp>
        <p:nvSpPr>
          <p:cNvPr id="17" name="TextBox 16">
            <a:extLst>
              <a:ext uri="{FF2B5EF4-FFF2-40B4-BE49-F238E27FC236}">
                <a16:creationId xmlns:a16="http://schemas.microsoft.com/office/drawing/2014/main" id="{37CD6FF1-B217-6348-BDB2-F82BF2CF8530}"/>
              </a:ext>
            </a:extLst>
          </p:cNvPr>
          <p:cNvSpPr txBox="1"/>
          <p:nvPr/>
        </p:nvSpPr>
        <p:spPr>
          <a:xfrm>
            <a:off x="1546134" y="4188964"/>
            <a:ext cx="6454866" cy="1107996"/>
          </a:xfrm>
          <a:prstGeom prst="rect">
            <a:avLst/>
          </a:prstGeom>
          <a:noFill/>
        </p:spPr>
        <p:txBody>
          <a:bodyPr wrap="square" rtlCol="0">
            <a:spAutoFit/>
          </a:bodyPr>
          <a:lstStyle/>
          <a:p>
            <a:pPr algn="ctr"/>
            <a:r>
              <a:rPr lang="en-US" sz="2200" dirty="0"/>
              <a:t>therefore, the big-O upper bound on the number of steps in the algorithm is </a:t>
            </a:r>
            <a:r>
              <a:rPr lang="en-US" sz="2200" b="1" dirty="0"/>
              <a:t>the number of nodes </a:t>
            </a:r>
            <a:r>
              <a:rPr lang="en-US" sz="2200" dirty="0"/>
              <a:t>multiplied by </a:t>
            </a:r>
            <a:r>
              <a:rPr lang="en-US" sz="2200" b="1" dirty="0"/>
              <a:t>the number of sets</a:t>
            </a:r>
            <a:r>
              <a:rPr lang="en-US" sz="600" b="1" dirty="0"/>
              <a:t> minus one</a:t>
            </a:r>
            <a:r>
              <a:rPr lang="en-US" sz="2200" b="1" dirty="0"/>
              <a:t>.</a:t>
            </a:r>
            <a:endParaRPr lang="en-US" sz="22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5874317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400"/>
                                  </p:stCondLst>
                                  <p:childTnLst>
                                    <p:set>
                                      <p:cBhvr>
                                        <p:cTn id="17" dur="1" fill="hold">
                                          <p:stCondLst>
                                            <p:cond delay="0"/>
                                          </p:stCondLst>
                                        </p:cTn>
                                        <p:tgtEl>
                                          <p:spTgt spid="10"/>
                                        </p:tgtEl>
                                        <p:attrNameLst>
                                          <p:attrName>style.visibility</p:attrName>
                                        </p:attrNameLst>
                                      </p:cBhvr>
                                      <p:to>
                                        <p:strVal val="visible"/>
                                      </p:to>
                                    </p:set>
                                  </p:childTnLst>
                                </p:cTn>
                              </p:par>
                            </p:childTnLst>
                          </p:cTn>
                        </p:par>
                        <p:par>
                          <p:cTn id="18" fill="hold">
                            <p:stCondLst>
                              <p:cond delay="400"/>
                            </p:stCondLst>
                            <p:childTnLst>
                              <p:par>
                                <p:cTn id="19" presetID="1" presetClass="entr" presetSubtype="0" fill="hold" nodeType="afterEffect">
                                  <p:stCondLst>
                                    <p:cond delay="40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p:bldP spid="15" grpId="0"/>
      <p:bldP spid="16" grpId="0"/>
      <p:bldP spid="1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DFC72-17E3-DB44-B860-F483573398EB}"/>
              </a:ext>
            </a:extLst>
          </p:cNvPr>
          <p:cNvSpPr>
            <a:spLocks noGrp="1"/>
          </p:cNvSpPr>
          <p:nvPr>
            <p:ph type="title"/>
          </p:nvPr>
        </p:nvSpPr>
        <p:spPr/>
        <p:txBody>
          <a:bodyPr/>
          <a:lstStyle/>
          <a:p>
            <a:r>
              <a:rPr lang="en-US" dirty="0"/>
              <a:t>A simple control flow optimization</a:t>
            </a:r>
          </a:p>
        </p:txBody>
      </p:sp>
      <p:sp>
        <p:nvSpPr>
          <p:cNvPr id="3" name="Content Placeholder 2">
            <a:extLst>
              <a:ext uri="{FF2B5EF4-FFF2-40B4-BE49-F238E27FC236}">
                <a16:creationId xmlns:a16="http://schemas.microsoft.com/office/drawing/2014/main" id="{5E13B33E-1477-3D4A-92E7-258FF8681466}"/>
              </a:ext>
            </a:extLst>
          </p:cNvPr>
          <p:cNvSpPr>
            <a:spLocks noGrp="1"/>
          </p:cNvSpPr>
          <p:nvPr>
            <p:ph idx="1"/>
          </p:nvPr>
        </p:nvSpPr>
        <p:spPr>
          <a:xfrm>
            <a:off x="152400" y="495301"/>
            <a:ext cx="8991600" cy="495301"/>
          </a:xfrm>
        </p:spPr>
        <p:txBody>
          <a:bodyPr/>
          <a:lstStyle/>
          <a:p>
            <a:r>
              <a:rPr lang="en-US" dirty="0"/>
              <a:t>in this function, can we ever run the </a:t>
            </a:r>
            <a:r>
              <a:rPr lang="en-US" b="1" dirty="0"/>
              <a:t>else </a:t>
            </a:r>
            <a:r>
              <a:rPr lang="en-US" dirty="0"/>
              <a:t>code (g())?</a:t>
            </a:r>
          </a:p>
        </p:txBody>
      </p:sp>
      <p:sp>
        <p:nvSpPr>
          <p:cNvPr id="4" name="Slide Number Placeholder 3">
            <a:extLst>
              <a:ext uri="{FF2B5EF4-FFF2-40B4-BE49-F238E27FC236}">
                <a16:creationId xmlns:a16="http://schemas.microsoft.com/office/drawing/2014/main" id="{74CEFE7B-8A40-5F4A-BA3C-B3CFA641465F}"/>
              </a:ext>
            </a:extLst>
          </p:cNvPr>
          <p:cNvSpPr>
            <a:spLocks noGrp="1"/>
          </p:cNvSpPr>
          <p:nvPr>
            <p:ph type="sldNum" sz="quarter" idx="12"/>
          </p:nvPr>
        </p:nvSpPr>
        <p:spPr/>
        <p:txBody>
          <a:bodyPr/>
          <a:lstStyle/>
          <a:p>
            <a:fld id="{3552B95B-556F-44BD-91A5-D80C1B9E2BB3}" type="slidenum">
              <a:rPr lang="en-US" smtClean="0"/>
              <a:pPr/>
              <a:t>13</a:t>
            </a:fld>
            <a:endParaRPr lang="en-US"/>
          </a:p>
        </p:txBody>
      </p:sp>
      <p:sp>
        <p:nvSpPr>
          <p:cNvPr id="5" name="Rectangle 4">
            <a:extLst>
              <a:ext uri="{FF2B5EF4-FFF2-40B4-BE49-F238E27FC236}">
                <a16:creationId xmlns:a16="http://schemas.microsoft.com/office/drawing/2014/main" id="{CF682C48-6BD2-454C-AE1E-A92D0A5582E6}"/>
              </a:ext>
            </a:extLst>
          </p:cNvPr>
          <p:cNvSpPr/>
          <p:nvPr/>
        </p:nvSpPr>
        <p:spPr>
          <a:xfrm>
            <a:off x="419100" y="1054363"/>
            <a:ext cx="1524000" cy="1631216"/>
          </a:xfrm>
          <a:prstGeom prst="rect">
            <a:avLst/>
          </a:prstGeom>
        </p:spPr>
        <p:txBody>
          <a:bodyPr wrap="square">
            <a:spAutoFit/>
          </a:bodyPr>
          <a:lstStyle/>
          <a:p>
            <a:r>
              <a:rPr lang="en-US" sz="2000" b="1" dirty="0">
                <a:solidFill>
                  <a:srgbClr val="FF0000"/>
                </a:solidFill>
                <a:latin typeface="Consolas" panose="020B0609020204030204" pitchFamily="49" charset="0"/>
                <a:cs typeface="Consolas" panose="020B0609020204030204" pitchFamily="49" charset="0"/>
              </a:rPr>
              <a:t>if true </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f();</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else</a:t>
            </a:r>
            <a:r>
              <a:rPr lang="en-US" sz="2000" b="1" dirty="0">
                <a:latin typeface="Consolas" panose="020B0609020204030204" pitchFamily="49" charset="0"/>
                <a:cs typeface="Consolas" panose="020B0609020204030204" pitchFamily="49" charset="0"/>
              </a:rPr>
              <a:t> {</a:t>
            </a:r>
            <a:br>
              <a:rPr lang="en-US" sz="2000" b="1" dirty="0">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  g();</a:t>
            </a:r>
            <a:br>
              <a:rPr lang="en-US" sz="2000" b="1" dirty="0">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a:t>
            </a:r>
          </a:p>
        </p:txBody>
      </p:sp>
      <p:sp>
        <p:nvSpPr>
          <p:cNvPr id="6" name="Rectangle 5">
            <a:extLst>
              <a:ext uri="{FF2B5EF4-FFF2-40B4-BE49-F238E27FC236}">
                <a16:creationId xmlns:a16="http://schemas.microsoft.com/office/drawing/2014/main" id="{D4FEFAB0-B565-AF47-9F53-8819AAD263BE}"/>
              </a:ext>
            </a:extLst>
          </p:cNvPr>
          <p:cNvSpPr/>
          <p:nvPr/>
        </p:nvSpPr>
        <p:spPr>
          <a:xfrm>
            <a:off x="419100" y="3182334"/>
            <a:ext cx="4343400" cy="2246769"/>
          </a:xfrm>
          <a:prstGeom prst="rect">
            <a:avLst/>
          </a:prstGeom>
        </p:spPr>
        <p:txBody>
          <a:bodyPr wrap="square">
            <a:spAutoFit/>
          </a:bodyPr>
          <a:lstStyle/>
          <a:p>
            <a:r>
              <a:rPr lang="en-US" sz="2000" b="1" dirty="0" err="1">
                <a:solidFill>
                  <a:srgbClr val="FF0000"/>
                </a:solidFill>
                <a:latin typeface="Consolas" panose="020B0609020204030204" pitchFamily="49" charset="0"/>
                <a:cs typeface="Consolas" panose="020B0609020204030204" pitchFamily="49" charset="0"/>
              </a:rPr>
              <a:t>const</a:t>
            </a:r>
            <a:r>
              <a:rPr lang="en-US" sz="2000" b="1" dirty="0">
                <a:solidFill>
                  <a:srgbClr val="FF0000"/>
                </a:solidFill>
                <a:latin typeface="Consolas" panose="020B0609020204030204" pitchFamily="49" charset="0"/>
                <a:cs typeface="Consolas" panose="020B0609020204030204" pitchFamily="49" charset="0"/>
              </a:rPr>
              <a:t> </a:t>
            </a:r>
            <a:r>
              <a:rPr lang="en-US" sz="2000" b="1" dirty="0">
                <a:latin typeface="Consolas" panose="020B0609020204030204" pitchFamily="49" charset="0"/>
                <a:cs typeface="Consolas" panose="020B0609020204030204" pitchFamily="49" charset="0"/>
              </a:rPr>
              <a:t>FEATURE_ENABLED = </a:t>
            </a:r>
            <a:r>
              <a:rPr lang="en-US" sz="2000" b="1" dirty="0">
                <a:solidFill>
                  <a:srgbClr val="FF0000"/>
                </a:solidFill>
                <a:latin typeface="Consolas" panose="020B0609020204030204" pitchFamily="49" charset="0"/>
                <a:cs typeface="Consolas" panose="020B0609020204030204" pitchFamily="49" charset="0"/>
              </a:rPr>
              <a:t>true</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a:t>
            </a:r>
          </a:p>
          <a:p>
            <a:r>
              <a:rPr lang="en-US" sz="2000" b="1" dirty="0">
                <a:solidFill>
                  <a:srgbClr val="FF0000"/>
                </a:solidFill>
                <a:latin typeface="Consolas" panose="020B0609020204030204" pitchFamily="49" charset="0"/>
                <a:cs typeface="Consolas" panose="020B0609020204030204" pitchFamily="49" charset="0"/>
              </a:rPr>
              <a:t>if </a:t>
            </a:r>
            <a:r>
              <a:rPr lang="en-US" sz="2000" b="1" dirty="0">
                <a:latin typeface="Consolas" panose="020B0609020204030204" pitchFamily="49" charset="0"/>
                <a:cs typeface="Consolas" panose="020B0609020204030204" pitchFamily="49" charset="0"/>
              </a:rPr>
              <a:t>FEATURE_ENABLED</a:t>
            </a:r>
            <a:r>
              <a:rPr lang="en-US" sz="2000" b="1" dirty="0">
                <a:solidFill>
                  <a:srgbClr val="FF0000"/>
                </a:solidFill>
                <a:latin typeface="Consolas" panose="020B0609020204030204" pitchFamily="49" charset="0"/>
                <a:cs typeface="Consolas" panose="020B0609020204030204" pitchFamily="49" charset="0"/>
              </a:rPr>
              <a:t> </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f();</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else</a:t>
            </a:r>
            <a:r>
              <a:rPr lang="en-US" sz="2000" b="1" dirty="0">
                <a:latin typeface="Consolas" panose="020B0609020204030204" pitchFamily="49" charset="0"/>
                <a:cs typeface="Consolas" panose="020B0609020204030204" pitchFamily="49" charset="0"/>
              </a:rPr>
              <a:t> {</a:t>
            </a:r>
            <a:br>
              <a:rPr lang="en-US" sz="2000" b="1" dirty="0">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  g();</a:t>
            </a:r>
            <a:br>
              <a:rPr lang="en-US" sz="2000" b="1" dirty="0">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a:t>
            </a:r>
          </a:p>
        </p:txBody>
      </p:sp>
      <p:sp>
        <p:nvSpPr>
          <p:cNvPr id="7" name="TextBox 6">
            <a:extLst>
              <a:ext uri="{FF2B5EF4-FFF2-40B4-BE49-F238E27FC236}">
                <a16:creationId xmlns:a16="http://schemas.microsoft.com/office/drawing/2014/main" id="{ED268A23-C6FE-2345-B212-391175288944}"/>
              </a:ext>
            </a:extLst>
          </p:cNvPr>
          <p:cNvSpPr txBox="1"/>
          <p:nvPr/>
        </p:nvSpPr>
        <p:spPr>
          <a:xfrm>
            <a:off x="1853381" y="1364008"/>
            <a:ext cx="3009900" cy="769441"/>
          </a:xfrm>
          <a:prstGeom prst="rect">
            <a:avLst/>
          </a:prstGeom>
          <a:noFill/>
        </p:spPr>
        <p:txBody>
          <a:bodyPr wrap="square" rtlCol="0">
            <a:spAutoFit/>
          </a:bodyPr>
          <a:lstStyle/>
          <a:p>
            <a:pPr algn="ctr"/>
            <a:r>
              <a:rPr lang="en-US" sz="2200" b="1" dirty="0"/>
              <a:t>no. </a:t>
            </a:r>
            <a:r>
              <a:rPr lang="en-US" sz="2200" dirty="0"/>
              <a:t>what does that look like in the CFG?</a:t>
            </a:r>
            <a:endParaRPr lang="en-US" sz="2200" b="1" dirty="0">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558B08CF-6D12-5844-BA55-421153A2E9C7}"/>
              </a:ext>
            </a:extLst>
          </p:cNvPr>
          <p:cNvSpPr txBox="1"/>
          <p:nvPr/>
        </p:nvSpPr>
        <p:spPr>
          <a:xfrm>
            <a:off x="431930" y="2779134"/>
            <a:ext cx="3962400" cy="430887"/>
          </a:xfrm>
          <a:prstGeom prst="rect">
            <a:avLst/>
          </a:prstGeom>
          <a:noFill/>
        </p:spPr>
        <p:txBody>
          <a:bodyPr wrap="square" rtlCol="0">
            <a:spAutoFit/>
          </a:bodyPr>
          <a:lstStyle/>
          <a:p>
            <a:r>
              <a:rPr lang="en-US" sz="2200" dirty="0"/>
              <a:t>this can come up in real code:</a:t>
            </a:r>
            <a:endParaRPr lang="en-US" sz="2200" dirty="0">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6EC847EF-158D-404D-B4EF-015664D0001A}"/>
              </a:ext>
            </a:extLst>
          </p:cNvPr>
          <p:cNvSpPr txBox="1"/>
          <p:nvPr/>
        </p:nvSpPr>
        <p:spPr>
          <a:xfrm>
            <a:off x="3767855" y="3995159"/>
            <a:ext cx="3664974" cy="1107996"/>
          </a:xfrm>
          <a:prstGeom prst="rect">
            <a:avLst/>
          </a:prstGeom>
          <a:noFill/>
        </p:spPr>
        <p:txBody>
          <a:bodyPr wrap="square" rtlCol="0">
            <a:spAutoFit/>
          </a:bodyPr>
          <a:lstStyle/>
          <a:p>
            <a:pPr algn="ctr"/>
            <a:r>
              <a:rPr lang="en-US" sz="2200" dirty="0"/>
              <a:t>or, the condition may have become a constant due to other optimizations.</a:t>
            </a:r>
            <a:endParaRPr lang="en-US" sz="2200" dirty="0">
              <a:latin typeface="Consolas" panose="020B0609020204030204" pitchFamily="49" charset="0"/>
              <a:cs typeface="Consolas" panose="020B0609020204030204" pitchFamily="49" charset="0"/>
            </a:endParaRPr>
          </a:p>
        </p:txBody>
      </p:sp>
      <p:grpSp>
        <p:nvGrpSpPr>
          <p:cNvPr id="44" name="Group 43">
            <a:extLst>
              <a:ext uri="{FF2B5EF4-FFF2-40B4-BE49-F238E27FC236}">
                <a16:creationId xmlns:a16="http://schemas.microsoft.com/office/drawing/2014/main" id="{A5CB0F10-4A82-B14E-A1E5-9ABEF1BBF15A}"/>
              </a:ext>
            </a:extLst>
          </p:cNvPr>
          <p:cNvGrpSpPr/>
          <p:nvPr/>
        </p:nvGrpSpPr>
        <p:grpSpPr>
          <a:xfrm>
            <a:off x="4814660" y="1165843"/>
            <a:ext cx="1740298" cy="1949277"/>
            <a:chOff x="5334000" y="1289223"/>
            <a:chExt cx="1740298" cy="1949277"/>
          </a:xfrm>
        </p:grpSpPr>
        <p:sp>
          <p:nvSpPr>
            <p:cNvPr id="11" name="Rounded Rectangle 10">
              <a:extLst>
                <a:ext uri="{FF2B5EF4-FFF2-40B4-BE49-F238E27FC236}">
                  <a16:creationId xmlns:a16="http://schemas.microsoft.com/office/drawing/2014/main" id="{24F9AF96-2EA2-2D48-8055-5F8A009956E4}"/>
                </a:ext>
              </a:extLst>
            </p:cNvPr>
            <p:cNvSpPr/>
            <p:nvPr/>
          </p:nvSpPr>
          <p:spPr>
            <a:xfrm>
              <a:off x="5884605" y="1289223"/>
              <a:ext cx="609600" cy="442674"/>
            </a:xfrm>
            <a:prstGeom prst="roundRect">
              <a:avLst/>
            </a:prstGeom>
            <a:solidFill>
              <a:schemeClr val="accent6"/>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if</a:t>
              </a:r>
            </a:p>
          </p:txBody>
        </p:sp>
        <p:cxnSp>
          <p:nvCxnSpPr>
            <p:cNvPr id="12" name="Curved Connector 11">
              <a:extLst>
                <a:ext uri="{FF2B5EF4-FFF2-40B4-BE49-F238E27FC236}">
                  <a16:creationId xmlns:a16="http://schemas.microsoft.com/office/drawing/2014/main" id="{0A00DF80-C015-B946-B6B8-85FDFDBAEC43}"/>
                </a:ext>
              </a:extLst>
            </p:cNvPr>
            <p:cNvCxnSpPr>
              <a:cxnSpLocks/>
            </p:cNvCxnSpPr>
            <p:nvPr/>
          </p:nvCxnSpPr>
          <p:spPr>
            <a:xfrm>
              <a:off x="6371299" y="1744072"/>
              <a:ext cx="194190" cy="33320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urved Connector 128">
              <a:extLst>
                <a:ext uri="{FF2B5EF4-FFF2-40B4-BE49-F238E27FC236}">
                  <a16:creationId xmlns:a16="http://schemas.microsoft.com/office/drawing/2014/main" id="{E9F0D607-9442-5D4A-AE06-E43D770AF7FA}"/>
                </a:ext>
              </a:extLst>
            </p:cNvPr>
            <p:cNvCxnSpPr>
              <a:cxnSpLocks/>
            </p:cNvCxnSpPr>
            <p:nvPr/>
          </p:nvCxnSpPr>
          <p:spPr>
            <a:xfrm flipH="1">
              <a:off x="5812092" y="1731897"/>
              <a:ext cx="224907" cy="32468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 name="Rounded Rectangle 13">
              <a:extLst>
                <a:ext uri="{FF2B5EF4-FFF2-40B4-BE49-F238E27FC236}">
                  <a16:creationId xmlns:a16="http://schemas.microsoft.com/office/drawing/2014/main" id="{4EC99B4A-167A-254A-AF9A-121BECC11D9E}"/>
                </a:ext>
              </a:extLst>
            </p:cNvPr>
            <p:cNvSpPr/>
            <p:nvPr/>
          </p:nvSpPr>
          <p:spPr>
            <a:xfrm>
              <a:off x="5884605" y="2795826"/>
              <a:ext cx="609600" cy="442674"/>
            </a:xfrm>
            <a:prstGeom prst="roundRect">
              <a:avLst/>
            </a:prstGeom>
            <a:solidFill>
              <a:schemeClr val="accent2"/>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a:t>
              </a:r>
            </a:p>
          </p:txBody>
        </p:sp>
        <p:cxnSp>
          <p:nvCxnSpPr>
            <p:cNvPr id="16" name="Curved Connector 12">
              <a:extLst>
                <a:ext uri="{FF2B5EF4-FFF2-40B4-BE49-F238E27FC236}">
                  <a16:creationId xmlns:a16="http://schemas.microsoft.com/office/drawing/2014/main" id="{7907469F-9757-514B-957B-D1055F14DA63}"/>
                </a:ext>
              </a:extLst>
            </p:cNvPr>
            <p:cNvCxnSpPr>
              <a:cxnSpLocks/>
            </p:cNvCxnSpPr>
            <p:nvPr/>
          </p:nvCxnSpPr>
          <p:spPr>
            <a:xfrm flipH="1">
              <a:off x="6306163" y="2514583"/>
              <a:ext cx="259326" cy="28124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ounded Rectangle 16">
              <a:extLst>
                <a:ext uri="{FF2B5EF4-FFF2-40B4-BE49-F238E27FC236}">
                  <a16:creationId xmlns:a16="http://schemas.microsoft.com/office/drawing/2014/main" id="{4910849D-7473-734D-B84A-C211CC563338}"/>
                </a:ext>
              </a:extLst>
            </p:cNvPr>
            <p:cNvSpPr/>
            <p:nvPr/>
          </p:nvSpPr>
          <p:spPr>
            <a:xfrm>
              <a:off x="5334000" y="2052313"/>
              <a:ext cx="702999" cy="442674"/>
            </a:xfrm>
            <a:prstGeom prst="roundRect">
              <a:avLst/>
            </a:prstGeom>
            <a:solidFill>
              <a:schemeClr val="accent1"/>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f()</a:t>
              </a:r>
            </a:p>
          </p:txBody>
        </p:sp>
        <p:sp>
          <p:nvSpPr>
            <p:cNvPr id="20" name="Rounded Rectangle 19">
              <a:extLst>
                <a:ext uri="{FF2B5EF4-FFF2-40B4-BE49-F238E27FC236}">
                  <a16:creationId xmlns:a16="http://schemas.microsoft.com/office/drawing/2014/main" id="{D899261B-8EC4-6140-BCB2-C3F21F126652}"/>
                </a:ext>
              </a:extLst>
            </p:cNvPr>
            <p:cNvSpPr/>
            <p:nvPr/>
          </p:nvSpPr>
          <p:spPr>
            <a:xfrm>
              <a:off x="6371299" y="2056577"/>
              <a:ext cx="702999" cy="442674"/>
            </a:xfrm>
            <a:prstGeom prst="roundRect">
              <a:avLst/>
            </a:prstGeom>
            <a:solidFill>
              <a:schemeClr val="accent1"/>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g()</a:t>
              </a:r>
            </a:p>
          </p:txBody>
        </p:sp>
        <p:cxnSp>
          <p:nvCxnSpPr>
            <p:cNvPr id="30" name="Curved Connector 12">
              <a:extLst>
                <a:ext uri="{FF2B5EF4-FFF2-40B4-BE49-F238E27FC236}">
                  <a16:creationId xmlns:a16="http://schemas.microsoft.com/office/drawing/2014/main" id="{F05397C3-F010-4946-8279-EC083427A31B}"/>
                </a:ext>
              </a:extLst>
            </p:cNvPr>
            <p:cNvCxnSpPr>
              <a:cxnSpLocks/>
            </p:cNvCxnSpPr>
            <p:nvPr/>
          </p:nvCxnSpPr>
          <p:spPr>
            <a:xfrm>
              <a:off x="5812092" y="2494987"/>
              <a:ext cx="224907" cy="31250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urved Connector 12">
              <a:extLst>
                <a:ext uri="{FF2B5EF4-FFF2-40B4-BE49-F238E27FC236}">
                  <a16:creationId xmlns:a16="http://schemas.microsoft.com/office/drawing/2014/main" id="{BDBAD44C-DDE6-974F-83B9-3D5F1F63628B}"/>
                </a:ext>
              </a:extLst>
            </p:cNvPr>
            <p:cNvCxnSpPr>
              <a:cxnSpLocks/>
              <a:endCxn id="11" idx="1"/>
            </p:cNvCxnSpPr>
            <p:nvPr/>
          </p:nvCxnSpPr>
          <p:spPr>
            <a:xfrm>
              <a:off x="5427405" y="1510560"/>
              <a:ext cx="4572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3" name="Freeform 42">
            <a:extLst>
              <a:ext uri="{FF2B5EF4-FFF2-40B4-BE49-F238E27FC236}">
                <a16:creationId xmlns:a16="http://schemas.microsoft.com/office/drawing/2014/main" id="{014E9670-163F-0C45-91DC-44F322B4E947}"/>
              </a:ext>
            </a:extLst>
          </p:cNvPr>
          <p:cNvSpPr/>
          <p:nvPr/>
        </p:nvSpPr>
        <p:spPr>
          <a:xfrm>
            <a:off x="5201594" y="1007455"/>
            <a:ext cx="1454179" cy="1669508"/>
          </a:xfrm>
          <a:custGeom>
            <a:avLst/>
            <a:gdLst>
              <a:gd name="connsiteX0" fmla="*/ 603750 w 1676016"/>
              <a:gd name="connsiteY0" fmla="*/ 39357 h 1935941"/>
              <a:gd name="connsiteX1" fmla="*/ 72808 w 1676016"/>
              <a:gd name="connsiteY1" fmla="*/ 68854 h 1935941"/>
              <a:gd name="connsiteX2" fmla="*/ 53144 w 1676016"/>
              <a:gd name="connsiteY2" fmla="*/ 629293 h 1935941"/>
              <a:gd name="connsiteX3" fmla="*/ 525092 w 1676016"/>
              <a:gd name="connsiteY3" fmla="*/ 835770 h 1935941"/>
              <a:gd name="connsiteX4" fmla="*/ 623415 w 1676016"/>
              <a:gd name="connsiteY4" fmla="*/ 1317551 h 1935941"/>
              <a:gd name="connsiteX5" fmla="*/ 584086 w 1676016"/>
              <a:gd name="connsiteY5" fmla="*/ 1897654 h 1935941"/>
              <a:gd name="connsiteX6" fmla="*/ 1203518 w 1676016"/>
              <a:gd name="connsiteY6" fmla="*/ 1818996 h 1935941"/>
              <a:gd name="connsiteX7" fmla="*/ 1665634 w 1676016"/>
              <a:gd name="connsiteY7" fmla="*/ 1317551 h 1935941"/>
              <a:gd name="connsiteX8" fmla="*/ 1449325 w 1676016"/>
              <a:gd name="connsiteY8" fmla="*/ 344157 h 1935941"/>
              <a:gd name="connsiteX9" fmla="*/ 603750 w 1676016"/>
              <a:gd name="connsiteY9" fmla="*/ 39357 h 1935941"/>
              <a:gd name="connsiteX0" fmla="*/ 570102 w 1642368"/>
              <a:gd name="connsiteY0" fmla="*/ 2897 h 1899481"/>
              <a:gd name="connsiteX1" fmla="*/ 137482 w 1642368"/>
              <a:gd name="connsiteY1" fmla="*/ 179878 h 1899481"/>
              <a:gd name="connsiteX2" fmla="*/ 19496 w 1642368"/>
              <a:gd name="connsiteY2" fmla="*/ 592833 h 1899481"/>
              <a:gd name="connsiteX3" fmla="*/ 491444 w 1642368"/>
              <a:gd name="connsiteY3" fmla="*/ 799310 h 1899481"/>
              <a:gd name="connsiteX4" fmla="*/ 589767 w 1642368"/>
              <a:gd name="connsiteY4" fmla="*/ 1281091 h 1899481"/>
              <a:gd name="connsiteX5" fmla="*/ 550438 w 1642368"/>
              <a:gd name="connsiteY5" fmla="*/ 1861194 h 1899481"/>
              <a:gd name="connsiteX6" fmla="*/ 1169870 w 1642368"/>
              <a:gd name="connsiteY6" fmla="*/ 1782536 h 1899481"/>
              <a:gd name="connsiteX7" fmla="*/ 1631986 w 1642368"/>
              <a:gd name="connsiteY7" fmla="*/ 1281091 h 1899481"/>
              <a:gd name="connsiteX8" fmla="*/ 1415677 w 1642368"/>
              <a:gd name="connsiteY8" fmla="*/ 307697 h 1899481"/>
              <a:gd name="connsiteX9" fmla="*/ 570102 w 1642368"/>
              <a:gd name="connsiteY9" fmla="*/ 2897 h 1899481"/>
              <a:gd name="connsiteX0" fmla="*/ 586456 w 1658722"/>
              <a:gd name="connsiteY0" fmla="*/ 4338 h 1900922"/>
              <a:gd name="connsiteX1" fmla="*/ 94843 w 1658722"/>
              <a:gd name="connsiteY1" fmla="*/ 161654 h 1900922"/>
              <a:gd name="connsiteX2" fmla="*/ 35850 w 1658722"/>
              <a:gd name="connsiteY2" fmla="*/ 594274 h 1900922"/>
              <a:gd name="connsiteX3" fmla="*/ 507798 w 1658722"/>
              <a:gd name="connsiteY3" fmla="*/ 800751 h 1900922"/>
              <a:gd name="connsiteX4" fmla="*/ 606121 w 1658722"/>
              <a:gd name="connsiteY4" fmla="*/ 1282532 h 1900922"/>
              <a:gd name="connsiteX5" fmla="*/ 566792 w 1658722"/>
              <a:gd name="connsiteY5" fmla="*/ 1862635 h 1900922"/>
              <a:gd name="connsiteX6" fmla="*/ 1186224 w 1658722"/>
              <a:gd name="connsiteY6" fmla="*/ 1783977 h 1900922"/>
              <a:gd name="connsiteX7" fmla="*/ 1648340 w 1658722"/>
              <a:gd name="connsiteY7" fmla="*/ 1282532 h 1900922"/>
              <a:gd name="connsiteX8" fmla="*/ 1432031 w 1658722"/>
              <a:gd name="connsiteY8" fmla="*/ 309138 h 1900922"/>
              <a:gd name="connsiteX9" fmla="*/ 586456 w 1658722"/>
              <a:gd name="connsiteY9" fmla="*/ 4338 h 1900922"/>
              <a:gd name="connsiteX0" fmla="*/ 586456 w 1658842"/>
              <a:gd name="connsiteY0" fmla="*/ 11772 h 1819866"/>
              <a:gd name="connsiteX1" fmla="*/ 94843 w 1658842"/>
              <a:gd name="connsiteY1" fmla="*/ 80598 h 1819866"/>
              <a:gd name="connsiteX2" fmla="*/ 35850 w 1658842"/>
              <a:gd name="connsiteY2" fmla="*/ 513218 h 1819866"/>
              <a:gd name="connsiteX3" fmla="*/ 507798 w 1658842"/>
              <a:gd name="connsiteY3" fmla="*/ 719695 h 1819866"/>
              <a:gd name="connsiteX4" fmla="*/ 606121 w 1658842"/>
              <a:gd name="connsiteY4" fmla="*/ 1201476 h 1819866"/>
              <a:gd name="connsiteX5" fmla="*/ 566792 w 1658842"/>
              <a:gd name="connsiteY5" fmla="*/ 1781579 h 1819866"/>
              <a:gd name="connsiteX6" fmla="*/ 1186224 w 1658842"/>
              <a:gd name="connsiteY6" fmla="*/ 1702921 h 1819866"/>
              <a:gd name="connsiteX7" fmla="*/ 1648340 w 1658842"/>
              <a:gd name="connsiteY7" fmla="*/ 1201476 h 1819866"/>
              <a:gd name="connsiteX8" fmla="*/ 1432031 w 1658842"/>
              <a:gd name="connsiteY8" fmla="*/ 228082 h 1819866"/>
              <a:gd name="connsiteX9" fmla="*/ 586456 w 1658842"/>
              <a:gd name="connsiteY9" fmla="*/ 11772 h 1819866"/>
              <a:gd name="connsiteX0" fmla="*/ 577066 w 1649452"/>
              <a:gd name="connsiteY0" fmla="*/ 1160 h 1809254"/>
              <a:gd name="connsiteX1" fmla="*/ 114949 w 1649452"/>
              <a:gd name="connsiteY1" fmla="*/ 148645 h 1809254"/>
              <a:gd name="connsiteX2" fmla="*/ 26460 w 1649452"/>
              <a:gd name="connsiteY2" fmla="*/ 502606 h 1809254"/>
              <a:gd name="connsiteX3" fmla="*/ 498408 w 1649452"/>
              <a:gd name="connsiteY3" fmla="*/ 709083 h 1809254"/>
              <a:gd name="connsiteX4" fmla="*/ 596731 w 1649452"/>
              <a:gd name="connsiteY4" fmla="*/ 1190864 h 1809254"/>
              <a:gd name="connsiteX5" fmla="*/ 557402 w 1649452"/>
              <a:gd name="connsiteY5" fmla="*/ 1770967 h 1809254"/>
              <a:gd name="connsiteX6" fmla="*/ 1176834 w 1649452"/>
              <a:gd name="connsiteY6" fmla="*/ 1692309 h 1809254"/>
              <a:gd name="connsiteX7" fmla="*/ 1638950 w 1649452"/>
              <a:gd name="connsiteY7" fmla="*/ 1190864 h 1809254"/>
              <a:gd name="connsiteX8" fmla="*/ 1422641 w 1649452"/>
              <a:gd name="connsiteY8" fmla="*/ 217470 h 1809254"/>
              <a:gd name="connsiteX9" fmla="*/ 577066 w 1649452"/>
              <a:gd name="connsiteY9" fmla="*/ 1160 h 1809254"/>
              <a:gd name="connsiteX0" fmla="*/ 577066 w 1643302"/>
              <a:gd name="connsiteY0" fmla="*/ 2515 h 1810609"/>
              <a:gd name="connsiteX1" fmla="*/ 114949 w 1643302"/>
              <a:gd name="connsiteY1" fmla="*/ 150000 h 1810609"/>
              <a:gd name="connsiteX2" fmla="*/ 26460 w 1643302"/>
              <a:gd name="connsiteY2" fmla="*/ 503961 h 1810609"/>
              <a:gd name="connsiteX3" fmla="*/ 498408 w 1643302"/>
              <a:gd name="connsiteY3" fmla="*/ 710438 h 1810609"/>
              <a:gd name="connsiteX4" fmla="*/ 596731 w 1643302"/>
              <a:gd name="connsiteY4" fmla="*/ 1192219 h 1810609"/>
              <a:gd name="connsiteX5" fmla="*/ 557402 w 1643302"/>
              <a:gd name="connsiteY5" fmla="*/ 1772322 h 1810609"/>
              <a:gd name="connsiteX6" fmla="*/ 1176834 w 1643302"/>
              <a:gd name="connsiteY6" fmla="*/ 1693664 h 1810609"/>
              <a:gd name="connsiteX7" fmla="*/ 1638950 w 1643302"/>
              <a:gd name="connsiteY7" fmla="*/ 1192219 h 1810609"/>
              <a:gd name="connsiteX8" fmla="*/ 1245660 w 1643302"/>
              <a:gd name="connsiteY8" fmla="*/ 258154 h 1810609"/>
              <a:gd name="connsiteX9" fmla="*/ 577066 w 1643302"/>
              <a:gd name="connsiteY9" fmla="*/ 2515 h 1810609"/>
              <a:gd name="connsiteX0" fmla="*/ 573484 w 1639720"/>
              <a:gd name="connsiteY0" fmla="*/ 2515 h 1810609"/>
              <a:gd name="connsiteX1" fmla="*/ 111367 w 1639720"/>
              <a:gd name="connsiteY1" fmla="*/ 150000 h 1810609"/>
              <a:gd name="connsiteX2" fmla="*/ 22878 w 1639720"/>
              <a:gd name="connsiteY2" fmla="*/ 503961 h 1810609"/>
              <a:gd name="connsiteX3" fmla="*/ 445665 w 1639720"/>
              <a:gd name="connsiteY3" fmla="*/ 867755 h 1810609"/>
              <a:gd name="connsiteX4" fmla="*/ 593149 w 1639720"/>
              <a:gd name="connsiteY4" fmla="*/ 1192219 h 1810609"/>
              <a:gd name="connsiteX5" fmla="*/ 553820 w 1639720"/>
              <a:gd name="connsiteY5" fmla="*/ 1772322 h 1810609"/>
              <a:gd name="connsiteX6" fmla="*/ 1173252 w 1639720"/>
              <a:gd name="connsiteY6" fmla="*/ 1693664 h 1810609"/>
              <a:gd name="connsiteX7" fmla="*/ 1635368 w 1639720"/>
              <a:gd name="connsiteY7" fmla="*/ 1192219 h 1810609"/>
              <a:gd name="connsiteX8" fmla="*/ 1242078 w 1639720"/>
              <a:gd name="connsiteY8" fmla="*/ 258154 h 1810609"/>
              <a:gd name="connsiteX9" fmla="*/ 573484 w 1639720"/>
              <a:gd name="connsiteY9" fmla="*/ 2515 h 1810609"/>
              <a:gd name="connsiteX0" fmla="*/ 573484 w 1639720"/>
              <a:gd name="connsiteY0" fmla="*/ 2515 h 1803335"/>
              <a:gd name="connsiteX1" fmla="*/ 111367 w 1639720"/>
              <a:gd name="connsiteY1" fmla="*/ 150000 h 1803335"/>
              <a:gd name="connsiteX2" fmla="*/ 22878 w 1639720"/>
              <a:gd name="connsiteY2" fmla="*/ 503961 h 1803335"/>
              <a:gd name="connsiteX3" fmla="*/ 445665 w 1639720"/>
              <a:gd name="connsiteY3" fmla="*/ 867755 h 1803335"/>
              <a:gd name="connsiteX4" fmla="*/ 524323 w 1639720"/>
              <a:gd name="connsiteY4" fmla="*/ 1290541 h 1803335"/>
              <a:gd name="connsiteX5" fmla="*/ 553820 w 1639720"/>
              <a:gd name="connsiteY5" fmla="*/ 1772322 h 1803335"/>
              <a:gd name="connsiteX6" fmla="*/ 1173252 w 1639720"/>
              <a:gd name="connsiteY6" fmla="*/ 1693664 h 1803335"/>
              <a:gd name="connsiteX7" fmla="*/ 1635368 w 1639720"/>
              <a:gd name="connsiteY7" fmla="*/ 1192219 h 1803335"/>
              <a:gd name="connsiteX8" fmla="*/ 1242078 w 1639720"/>
              <a:gd name="connsiteY8" fmla="*/ 258154 h 1803335"/>
              <a:gd name="connsiteX9" fmla="*/ 573484 w 1639720"/>
              <a:gd name="connsiteY9" fmla="*/ 2515 h 1803335"/>
              <a:gd name="connsiteX0" fmla="*/ 590243 w 1656479"/>
              <a:gd name="connsiteY0" fmla="*/ 4238 h 1805058"/>
              <a:gd name="connsiteX1" fmla="*/ 128126 w 1656479"/>
              <a:gd name="connsiteY1" fmla="*/ 151723 h 1805058"/>
              <a:gd name="connsiteX2" fmla="*/ 19973 w 1656479"/>
              <a:gd name="connsiteY2" fmla="*/ 771155 h 1805058"/>
              <a:gd name="connsiteX3" fmla="*/ 462424 w 1656479"/>
              <a:gd name="connsiteY3" fmla="*/ 869478 h 1805058"/>
              <a:gd name="connsiteX4" fmla="*/ 541082 w 1656479"/>
              <a:gd name="connsiteY4" fmla="*/ 1292264 h 1805058"/>
              <a:gd name="connsiteX5" fmla="*/ 570579 w 1656479"/>
              <a:gd name="connsiteY5" fmla="*/ 1774045 h 1805058"/>
              <a:gd name="connsiteX6" fmla="*/ 1190011 w 1656479"/>
              <a:gd name="connsiteY6" fmla="*/ 1695387 h 1805058"/>
              <a:gd name="connsiteX7" fmla="*/ 1652127 w 1656479"/>
              <a:gd name="connsiteY7" fmla="*/ 1193942 h 1805058"/>
              <a:gd name="connsiteX8" fmla="*/ 1258837 w 1656479"/>
              <a:gd name="connsiteY8" fmla="*/ 259877 h 1805058"/>
              <a:gd name="connsiteX9" fmla="*/ 590243 w 1656479"/>
              <a:gd name="connsiteY9" fmla="*/ 4238 h 1805058"/>
              <a:gd name="connsiteX0" fmla="*/ 499174 w 1565410"/>
              <a:gd name="connsiteY0" fmla="*/ 4552 h 1805372"/>
              <a:gd name="connsiteX1" fmla="*/ 37057 w 1565410"/>
              <a:gd name="connsiteY1" fmla="*/ 152037 h 1805372"/>
              <a:gd name="connsiteX2" fmla="*/ 66556 w 1565410"/>
              <a:gd name="connsiteY2" fmla="*/ 800966 h 1805372"/>
              <a:gd name="connsiteX3" fmla="*/ 371355 w 1565410"/>
              <a:gd name="connsiteY3" fmla="*/ 869792 h 1805372"/>
              <a:gd name="connsiteX4" fmla="*/ 450013 w 1565410"/>
              <a:gd name="connsiteY4" fmla="*/ 1292578 h 1805372"/>
              <a:gd name="connsiteX5" fmla="*/ 479510 w 1565410"/>
              <a:gd name="connsiteY5" fmla="*/ 1774359 h 1805372"/>
              <a:gd name="connsiteX6" fmla="*/ 1098942 w 1565410"/>
              <a:gd name="connsiteY6" fmla="*/ 1695701 h 1805372"/>
              <a:gd name="connsiteX7" fmla="*/ 1561058 w 1565410"/>
              <a:gd name="connsiteY7" fmla="*/ 1194256 h 1805372"/>
              <a:gd name="connsiteX8" fmla="*/ 1167768 w 1565410"/>
              <a:gd name="connsiteY8" fmla="*/ 260191 h 1805372"/>
              <a:gd name="connsiteX9" fmla="*/ 499174 w 1565410"/>
              <a:gd name="connsiteY9" fmla="*/ 4552 h 1805372"/>
              <a:gd name="connsiteX0" fmla="*/ 438613 w 1504849"/>
              <a:gd name="connsiteY0" fmla="*/ 15662 h 1816482"/>
              <a:gd name="connsiteX1" fmla="*/ 133812 w 1504849"/>
              <a:gd name="connsiteY1" fmla="*/ 113986 h 1816482"/>
              <a:gd name="connsiteX2" fmla="*/ 5995 w 1504849"/>
              <a:gd name="connsiteY2" fmla="*/ 812076 h 1816482"/>
              <a:gd name="connsiteX3" fmla="*/ 310794 w 1504849"/>
              <a:gd name="connsiteY3" fmla="*/ 880902 h 1816482"/>
              <a:gd name="connsiteX4" fmla="*/ 389452 w 1504849"/>
              <a:gd name="connsiteY4" fmla="*/ 1303688 h 1816482"/>
              <a:gd name="connsiteX5" fmla="*/ 418949 w 1504849"/>
              <a:gd name="connsiteY5" fmla="*/ 1785469 h 1816482"/>
              <a:gd name="connsiteX6" fmla="*/ 1038381 w 1504849"/>
              <a:gd name="connsiteY6" fmla="*/ 1706811 h 1816482"/>
              <a:gd name="connsiteX7" fmla="*/ 1500497 w 1504849"/>
              <a:gd name="connsiteY7" fmla="*/ 1205366 h 1816482"/>
              <a:gd name="connsiteX8" fmla="*/ 1107207 w 1504849"/>
              <a:gd name="connsiteY8" fmla="*/ 271301 h 1816482"/>
              <a:gd name="connsiteX9" fmla="*/ 438613 w 1504849"/>
              <a:gd name="connsiteY9" fmla="*/ 15662 h 1816482"/>
              <a:gd name="connsiteX0" fmla="*/ 429251 w 1495487"/>
              <a:gd name="connsiteY0" fmla="*/ 16037 h 1816857"/>
              <a:gd name="connsiteX1" fmla="*/ 124450 w 1495487"/>
              <a:gd name="connsiteY1" fmla="*/ 114361 h 1816857"/>
              <a:gd name="connsiteX2" fmla="*/ 6466 w 1495487"/>
              <a:gd name="connsiteY2" fmla="*/ 822283 h 1816857"/>
              <a:gd name="connsiteX3" fmla="*/ 301432 w 1495487"/>
              <a:gd name="connsiteY3" fmla="*/ 881277 h 1816857"/>
              <a:gd name="connsiteX4" fmla="*/ 380090 w 1495487"/>
              <a:gd name="connsiteY4" fmla="*/ 1304063 h 1816857"/>
              <a:gd name="connsiteX5" fmla="*/ 409587 w 1495487"/>
              <a:gd name="connsiteY5" fmla="*/ 1785844 h 1816857"/>
              <a:gd name="connsiteX6" fmla="*/ 1029019 w 1495487"/>
              <a:gd name="connsiteY6" fmla="*/ 1707186 h 1816857"/>
              <a:gd name="connsiteX7" fmla="*/ 1491135 w 1495487"/>
              <a:gd name="connsiteY7" fmla="*/ 1205741 h 1816857"/>
              <a:gd name="connsiteX8" fmla="*/ 1097845 w 1495487"/>
              <a:gd name="connsiteY8" fmla="*/ 271676 h 1816857"/>
              <a:gd name="connsiteX9" fmla="*/ 429251 w 1495487"/>
              <a:gd name="connsiteY9" fmla="*/ 16037 h 1816857"/>
              <a:gd name="connsiteX0" fmla="*/ 698487 w 1498692"/>
              <a:gd name="connsiteY0" fmla="*/ 13928 h 1824580"/>
              <a:gd name="connsiteX1" fmla="*/ 128215 w 1498692"/>
              <a:gd name="connsiteY1" fmla="*/ 122084 h 1824580"/>
              <a:gd name="connsiteX2" fmla="*/ 10231 w 1498692"/>
              <a:gd name="connsiteY2" fmla="*/ 830006 h 1824580"/>
              <a:gd name="connsiteX3" fmla="*/ 305197 w 1498692"/>
              <a:gd name="connsiteY3" fmla="*/ 889000 h 1824580"/>
              <a:gd name="connsiteX4" fmla="*/ 383855 w 1498692"/>
              <a:gd name="connsiteY4" fmla="*/ 1311786 h 1824580"/>
              <a:gd name="connsiteX5" fmla="*/ 413352 w 1498692"/>
              <a:gd name="connsiteY5" fmla="*/ 1793567 h 1824580"/>
              <a:gd name="connsiteX6" fmla="*/ 1032784 w 1498692"/>
              <a:gd name="connsiteY6" fmla="*/ 1714909 h 1824580"/>
              <a:gd name="connsiteX7" fmla="*/ 1494900 w 1498692"/>
              <a:gd name="connsiteY7" fmla="*/ 1213464 h 1824580"/>
              <a:gd name="connsiteX8" fmla="*/ 1101610 w 1498692"/>
              <a:gd name="connsiteY8" fmla="*/ 279399 h 1824580"/>
              <a:gd name="connsiteX9" fmla="*/ 698487 w 1498692"/>
              <a:gd name="connsiteY9" fmla="*/ 13928 h 1824580"/>
              <a:gd name="connsiteX0" fmla="*/ 703928 w 1504133"/>
              <a:gd name="connsiteY0" fmla="*/ 13928 h 1824580"/>
              <a:gd name="connsiteX1" fmla="*/ 133656 w 1504133"/>
              <a:gd name="connsiteY1" fmla="*/ 122084 h 1824580"/>
              <a:gd name="connsiteX2" fmla="*/ 15672 w 1504133"/>
              <a:gd name="connsiteY2" fmla="*/ 830006 h 1824580"/>
              <a:gd name="connsiteX3" fmla="*/ 389296 w 1504133"/>
              <a:gd name="connsiteY3" fmla="*/ 918496 h 1824580"/>
              <a:gd name="connsiteX4" fmla="*/ 389296 w 1504133"/>
              <a:gd name="connsiteY4" fmla="*/ 1311786 h 1824580"/>
              <a:gd name="connsiteX5" fmla="*/ 418793 w 1504133"/>
              <a:gd name="connsiteY5" fmla="*/ 1793567 h 1824580"/>
              <a:gd name="connsiteX6" fmla="*/ 1038225 w 1504133"/>
              <a:gd name="connsiteY6" fmla="*/ 1714909 h 1824580"/>
              <a:gd name="connsiteX7" fmla="*/ 1500341 w 1504133"/>
              <a:gd name="connsiteY7" fmla="*/ 1213464 h 1824580"/>
              <a:gd name="connsiteX8" fmla="*/ 1107051 w 1504133"/>
              <a:gd name="connsiteY8" fmla="*/ 279399 h 1824580"/>
              <a:gd name="connsiteX9" fmla="*/ 703928 w 1504133"/>
              <a:gd name="connsiteY9" fmla="*/ 13928 h 1824580"/>
              <a:gd name="connsiteX0" fmla="*/ 703928 w 1504133"/>
              <a:gd name="connsiteY0" fmla="*/ 13928 h 1824580"/>
              <a:gd name="connsiteX1" fmla="*/ 133656 w 1504133"/>
              <a:gd name="connsiteY1" fmla="*/ 122084 h 1824580"/>
              <a:gd name="connsiteX2" fmla="*/ 15672 w 1504133"/>
              <a:gd name="connsiteY2" fmla="*/ 830006 h 1824580"/>
              <a:gd name="connsiteX3" fmla="*/ 389296 w 1504133"/>
              <a:gd name="connsiteY3" fmla="*/ 918496 h 1824580"/>
              <a:gd name="connsiteX4" fmla="*/ 389296 w 1504133"/>
              <a:gd name="connsiteY4" fmla="*/ 1311786 h 1824580"/>
              <a:gd name="connsiteX5" fmla="*/ 418793 w 1504133"/>
              <a:gd name="connsiteY5" fmla="*/ 1793567 h 1824580"/>
              <a:gd name="connsiteX6" fmla="*/ 1038225 w 1504133"/>
              <a:gd name="connsiteY6" fmla="*/ 1714909 h 1824580"/>
              <a:gd name="connsiteX7" fmla="*/ 1500341 w 1504133"/>
              <a:gd name="connsiteY7" fmla="*/ 1213464 h 1824580"/>
              <a:gd name="connsiteX8" fmla="*/ 1107051 w 1504133"/>
              <a:gd name="connsiteY8" fmla="*/ 279399 h 1824580"/>
              <a:gd name="connsiteX9" fmla="*/ 703928 w 1504133"/>
              <a:gd name="connsiteY9" fmla="*/ 13928 h 1824580"/>
              <a:gd name="connsiteX0" fmla="*/ 703241 w 1503446"/>
              <a:gd name="connsiteY0" fmla="*/ 13928 h 1824580"/>
              <a:gd name="connsiteX1" fmla="*/ 132969 w 1503446"/>
              <a:gd name="connsiteY1" fmla="*/ 122084 h 1824580"/>
              <a:gd name="connsiteX2" fmla="*/ 14985 w 1503446"/>
              <a:gd name="connsiteY2" fmla="*/ 830006 h 1824580"/>
              <a:gd name="connsiteX3" fmla="*/ 378777 w 1503446"/>
              <a:gd name="connsiteY3" fmla="*/ 928328 h 1824580"/>
              <a:gd name="connsiteX4" fmla="*/ 388609 w 1503446"/>
              <a:gd name="connsiteY4" fmla="*/ 1311786 h 1824580"/>
              <a:gd name="connsiteX5" fmla="*/ 418106 w 1503446"/>
              <a:gd name="connsiteY5" fmla="*/ 1793567 h 1824580"/>
              <a:gd name="connsiteX6" fmla="*/ 1037538 w 1503446"/>
              <a:gd name="connsiteY6" fmla="*/ 1714909 h 1824580"/>
              <a:gd name="connsiteX7" fmla="*/ 1499654 w 1503446"/>
              <a:gd name="connsiteY7" fmla="*/ 1213464 h 1824580"/>
              <a:gd name="connsiteX8" fmla="*/ 1106364 w 1503446"/>
              <a:gd name="connsiteY8" fmla="*/ 279399 h 1824580"/>
              <a:gd name="connsiteX9" fmla="*/ 703241 w 1503446"/>
              <a:gd name="connsiteY9" fmla="*/ 13928 h 1824580"/>
              <a:gd name="connsiteX0" fmla="*/ 703241 w 1503446"/>
              <a:gd name="connsiteY0" fmla="*/ 13928 h 1739569"/>
              <a:gd name="connsiteX1" fmla="*/ 132969 w 1503446"/>
              <a:gd name="connsiteY1" fmla="*/ 122084 h 1739569"/>
              <a:gd name="connsiteX2" fmla="*/ 14985 w 1503446"/>
              <a:gd name="connsiteY2" fmla="*/ 830006 h 1739569"/>
              <a:gd name="connsiteX3" fmla="*/ 378777 w 1503446"/>
              <a:gd name="connsiteY3" fmla="*/ 928328 h 1739569"/>
              <a:gd name="connsiteX4" fmla="*/ 388609 w 1503446"/>
              <a:gd name="connsiteY4" fmla="*/ 1311786 h 1739569"/>
              <a:gd name="connsiteX5" fmla="*/ 477100 w 1503446"/>
              <a:gd name="connsiteY5" fmla="*/ 1626418 h 1739569"/>
              <a:gd name="connsiteX6" fmla="*/ 1037538 w 1503446"/>
              <a:gd name="connsiteY6" fmla="*/ 1714909 h 1739569"/>
              <a:gd name="connsiteX7" fmla="*/ 1499654 w 1503446"/>
              <a:gd name="connsiteY7" fmla="*/ 1213464 h 1739569"/>
              <a:gd name="connsiteX8" fmla="*/ 1106364 w 1503446"/>
              <a:gd name="connsiteY8" fmla="*/ 279399 h 1739569"/>
              <a:gd name="connsiteX9" fmla="*/ 703241 w 1503446"/>
              <a:gd name="connsiteY9" fmla="*/ 13928 h 1739569"/>
              <a:gd name="connsiteX0" fmla="*/ 703241 w 1503446"/>
              <a:gd name="connsiteY0" fmla="*/ 13928 h 1638383"/>
              <a:gd name="connsiteX1" fmla="*/ 132969 w 1503446"/>
              <a:gd name="connsiteY1" fmla="*/ 122084 h 1638383"/>
              <a:gd name="connsiteX2" fmla="*/ 14985 w 1503446"/>
              <a:gd name="connsiteY2" fmla="*/ 830006 h 1638383"/>
              <a:gd name="connsiteX3" fmla="*/ 378777 w 1503446"/>
              <a:gd name="connsiteY3" fmla="*/ 928328 h 1638383"/>
              <a:gd name="connsiteX4" fmla="*/ 388609 w 1503446"/>
              <a:gd name="connsiteY4" fmla="*/ 1311786 h 1638383"/>
              <a:gd name="connsiteX5" fmla="*/ 477100 w 1503446"/>
              <a:gd name="connsiteY5" fmla="*/ 1626418 h 1638383"/>
              <a:gd name="connsiteX6" fmla="*/ 1175189 w 1503446"/>
              <a:gd name="connsiteY6" fmla="*/ 1537929 h 1638383"/>
              <a:gd name="connsiteX7" fmla="*/ 1499654 w 1503446"/>
              <a:gd name="connsiteY7" fmla="*/ 1213464 h 1638383"/>
              <a:gd name="connsiteX8" fmla="*/ 1106364 w 1503446"/>
              <a:gd name="connsiteY8" fmla="*/ 279399 h 1638383"/>
              <a:gd name="connsiteX9" fmla="*/ 703241 w 1503446"/>
              <a:gd name="connsiteY9" fmla="*/ 13928 h 1638383"/>
              <a:gd name="connsiteX0" fmla="*/ 703241 w 1503446"/>
              <a:gd name="connsiteY0" fmla="*/ 13928 h 1656276"/>
              <a:gd name="connsiteX1" fmla="*/ 132969 w 1503446"/>
              <a:gd name="connsiteY1" fmla="*/ 122084 h 1656276"/>
              <a:gd name="connsiteX2" fmla="*/ 14985 w 1503446"/>
              <a:gd name="connsiteY2" fmla="*/ 830006 h 1656276"/>
              <a:gd name="connsiteX3" fmla="*/ 378777 w 1503446"/>
              <a:gd name="connsiteY3" fmla="*/ 928328 h 1656276"/>
              <a:gd name="connsiteX4" fmla="*/ 388609 w 1503446"/>
              <a:gd name="connsiteY4" fmla="*/ 1311786 h 1656276"/>
              <a:gd name="connsiteX5" fmla="*/ 555758 w 1503446"/>
              <a:gd name="connsiteY5" fmla="*/ 1646083 h 1656276"/>
              <a:gd name="connsiteX6" fmla="*/ 1175189 w 1503446"/>
              <a:gd name="connsiteY6" fmla="*/ 1537929 h 1656276"/>
              <a:gd name="connsiteX7" fmla="*/ 1499654 w 1503446"/>
              <a:gd name="connsiteY7" fmla="*/ 1213464 h 1656276"/>
              <a:gd name="connsiteX8" fmla="*/ 1106364 w 1503446"/>
              <a:gd name="connsiteY8" fmla="*/ 279399 h 1656276"/>
              <a:gd name="connsiteX9" fmla="*/ 703241 w 1503446"/>
              <a:gd name="connsiteY9" fmla="*/ 13928 h 1656276"/>
              <a:gd name="connsiteX0" fmla="*/ 703241 w 1503446"/>
              <a:gd name="connsiteY0" fmla="*/ 13928 h 1655672"/>
              <a:gd name="connsiteX1" fmla="*/ 132969 w 1503446"/>
              <a:gd name="connsiteY1" fmla="*/ 122084 h 1655672"/>
              <a:gd name="connsiteX2" fmla="*/ 14985 w 1503446"/>
              <a:gd name="connsiteY2" fmla="*/ 830006 h 1655672"/>
              <a:gd name="connsiteX3" fmla="*/ 378777 w 1503446"/>
              <a:gd name="connsiteY3" fmla="*/ 928328 h 1655672"/>
              <a:gd name="connsiteX4" fmla="*/ 427938 w 1503446"/>
              <a:gd name="connsiteY4" fmla="*/ 1321618 h 1655672"/>
              <a:gd name="connsiteX5" fmla="*/ 555758 w 1503446"/>
              <a:gd name="connsiteY5" fmla="*/ 1646083 h 1655672"/>
              <a:gd name="connsiteX6" fmla="*/ 1175189 w 1503446"/>
              <a:gd name="connsiteY6" fmla="*/ 1537929 h 1655672"/>
              <a:gd name="connsiteX7" fmla="*/ 1499654 w 1503446"/>
              <a:gd name="connsiteY7" fmla="*/ 1213464 h 1655672"/>
              <a:gd name="connsiteX8" fmla="*/ 1106364 w 1503446"/>
              <a:gd name="connsiteY8" fmla="*/ 279399 h 1655672"/>
              <a:gd name="connsiteX9" fmla="*/ 703241 w 1503446"/>
              <a:gd name="connsiteY9" fmla="*/ 13928 h 1655672"/>
              <a:gd name="connsiteX0" fmla="*/ 703241 w 1483978"/>
              <a:gd name="connsiteY0" fmla="*/ 13928 h 1659374"/>
              <a:gd name="connsiteX1" fmla="*/ 132969 w 1483978"/>
              <a:gd name="connsiteY1" fmla="*/ 122084 h 1659374"/>
              <a:gd name="connsiteX2" fmla="*/ 14985 w 1483978"/>
              <a:gd name="connsiteY2" fmla="*/ 830006 h 1659374"/>
              <a:gd name="connsiteX3" fmla="*/ 378777 w 1483978"/>
              <a:gd name="connsiteY3" fmla="*/ 928328 h 1659374"/>
              <a:gd name="connsiteX4" fmla="*/ 427938 w 1483978"/>
              <a:gd name="connsiteY4" fmla="*/ 1321618 h 1659374"/>
              <a:gd name="connsiteX5" fmla="*/ 555758 w 1483978"/>
              <a:gd name="connsiteY5" fmla="*/ 1646083 h 1659374"/>
              <a:gd name="connsiteX6" fmla="*/ 1175189 w 1483978"/>
              <a:gd name="connsiteY6" fmla="*/ 1537929 h 1659374"/>
              <a:gd name="connsiteX7" fmla="*/ 1479990 w 1483978"/>
              <a:gd name="connsiteY7" fmla="*/ 1006987 h 1659374"/>
              <a:gd name="connsiteX8" fmla="*/ 1106364 w 1483978"/>
              <a:gd name="connsiteY8" fmla="*/ 279399 h 1659374"/>
              <a:gd name="connsiteX9" fmla="*/ 703241 w 1483978"/>
              <a:gd name="connsiteY9" fmla="*/ 13928 h 1659374"/>
              <a:gd name="connsiteX0" fmla="*/ 703241 w 1483978"/>
              <a:gd name="connsiteY0" fmla="*/ 13928 h 1667571"/>
              <a:gd name="connsiteX1" fmla="*/ 132969 w 1483978"/>
              <a:gd name="connsiteY1" fmla="*/ 122084 h 1667571"/>
              <a:gd name="connsiteX2" fmla="*/ 14985 w 1483978"/>
              <a:gd name="connsiteY2" fmla="*/ 830006 h 1667571"/>
              <a:gd name="connsiteX3" fmla="*/ 378777 w 1483978"/>
              <a:gd name="connsiteY3" fmla="*/ 928328 h 1667571"/>
              <a:gd name="connsiteX4" fmla="*/ 427938 w 1483978"/>
              <a:gd name="connsiteY4" fmla="*/ 1321618 h 1667571"/>
              <a:gd name="connsiteX5" fmla="*/ 555758 w 1483978"/>
              <a:gd name="connsiteY5" fmla="*/ 1646083 h 1667571"/>
              <a:gd name="connsiteX6" fmla="*/ 1362002 w 1483978"/>
              <a:gd name="connsiteY6" fmla="*/ 1567425 h 1667571"/>
              <a:gd name="connsiteX7" fmla="*/ 1479990 w 1483978"/>
              <a:gd name="connsiteY7" fmla="*/ 1006987 h 1667571"/>
              <a:gd name="connsiteX8" fmla="*/ 1106364 w 1483978"/>
              <a:gd name="connsiteY8" fmla="*/ 279399 h 1667571"/>
              <a:gd name="connsiteX9" fmla="*/ 703241 w 1483978"/>
              <a:gd name="connsiteY9" fmla="*/ 13928 h 1667571"/>
              <a:gd name="connsiteX0" fmla="*/ 703241 w 1437482"/>
              <a:gd name="connsiteY0" fmla="*/ 13928 h 1669508"/>
              <a:gd name="connsiteX1" fmla="*/ 132969 w 1437482"/>
              <a:gd name="connsiteY1" fmla="*/ 122084 h 1669508"/>
              <a:gd name="connsiteX2" fmla="*/ 14985 w 1437482"/>
              <a:gd name="connsiteY2" fmla="*/ 830006 h 1669508"/>
              <a:gd name="connsiteX3" fmla="*/ 378777 w 1437482"/>
              <a:gd name="connsiteY3" fmla="*/ 928328 h 1669508"/>
              <a:gd name="connsiteX4" fmla="*/ 427938 w 1437482"/>
              <a:gd name="connsiteY4" fmla="*/ 1321618 h 1669508"/>
              <a:gd name="connsiteX5" fmla="*/ 555758 w 1437482"/>
              <a:gd name="connsiteY5" fmla="*/ 1646083 h 1669508"/>
              <a:gd name="connsiteX6" fmla="*/ 1362002 w 1437482"/>
              <a:gd name="connsiteY6" fmla="*/ 1567425 h 1669508"/>
              <a:gd name="connsiteX7" fmla="*/ 1430828 w 1437482"/>
              <a:gd name="connsiteY7" fmla="*/ 957826 h 1669508"/>
              <a:gd name="connsiteX8" fmla="*/ 1106364 w 1437482"/>
              <a:gd name="connsiteY8" fmla="*/ 279399 h 1669508"/>
              <a:gd name="connsiteX9" fmla="*/ 703241 w 1437482"/>
              <a:gd name="connsiteY9" fmla="*/ 13928 h 1669508"/>
              <a:gd name="connsiteX0" fmla="*/ 703241 w 1437482"/>
              <a:gd name="connsiteY0" fmla="*/ 13928 h 1669508"/>
              <a:gd name="connsiteX1" fmla="*/ 132969 w 1437482"/>
              <a:gd name="connsiteY1" fmla="*/ 122084 h 1669508"/>
              <a:gd name="connsiteX2" fmla="*/ 14985 w 1437482"/>
              <a:gd name="connsiteY2" fmla="*/ 830006 h 1669508"/>
              <a:gd name="connsiteX3" fmla="*/ 378777 w 1437482"/>
              <a:gd name="connsiteY3" fmla="*/ 928328 h 1669508"/>
              <a:gd name="connsiteX4" fmla="*/ 427938 w 1437482"/>
              <a:gd name="connsiteY4" fmla="*/ 1321618 h 1669508"/>
              <a:gd name="connsiteX5" fmla="*/ 555758 w 1437482"/>
              <a:gd name="connsiteY5" fmla="*/ 1646083 h 1669508"/>
              <a:gd name="connsiteX6" fmla="*/ 1362002 w 1437482"/>
              <a:gd name="connsiteY6" fmla="*/ 1567425 h 1669508"/>
              <a:gd name="connsiteX7" fmla="*/ 1430828 w 1437482"/>
              <a:gd name="connsiteY7" fmla="*/ 957826 h 1669508"/>
              <a:gd name="connsiteX8" fmla="*/ 1106364 w 1437482"/>
              <a:gd name="connsiteY8" fmla="*/ 279399 h 1669508"/>
              <a:gd name="connsiteX9" fmla="*/ 703241 w 1437482"/>
              <a:gd name="connsiteY9" fmla="*/ 13928 h 1669508"/>
              <a:gd name="connsiteX0" fmla="*/ 703241 w 1454179"/>
              <a:gd name="connsiteY0" fmla="*/ 13928 h 1669508"/>
              <a:gd name="connsiteX1" fmla="*/ 132969 w 1454179"/>
              <a:gd name="connsiteY1" fmla="*/ 122084 h 1669508"/>
              <a:gd name="connsiteX2" fmla="*/ 14985 w 1454179"/>
              <a:gd name="connsiteY2" fmla="*/ 830006 h 1669508"/>
              <a:gd name="connsiteX3" fmla="*/ 378777 w 1454179"/>
              <a:gd name="connsiteY3" fmla="*/ 928328 h 1669508"/>
              <a:gd name="connsiteX4" fmla="*/ 427938 w 1454179"/>
              <a:gd name="connsiteY4" fmla="*/ 1321618 h 1669508"/>
              <a:gd name="connsiteX5" fmla="*/ 555758 w 1454179"/>
              <a:gd name="connsiteY5" fmla="*/ 1646083 h 1669508"/>
              <a:gd name="connsiteX6" fmla="*/ 1362002 w 1454179"/>
              <a:gd name="connsiteY6" fmla="*/ 1567425 h 1669508"/>
              <a:gd name="connsiteX7" fmla="*/ 1430828 w 1454179"/>
              <a:gd name="connsiteY7" fmla="*/ 957826 h 1669508"/>
              <a:gd name="connsiteX8" fmla="*/ 1106364 w 1454179"/>
              <a:gd name="connsiteY8" fmla="*/ 279399 h 1669508"/>
              <a:gd name="connsiteX9" fmla="*/ 703241 w 1454179"/>
              <a:gd name="connsiteY9" fmla="*/ 13928 h 1669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54179" h="1669508">
                <a:moveTo>
                  <a:pt x="703241" y="13928"/>
                </a:moveTo>
                <a:cubicBezTo>
                  <a:pt x="541009" y="-12291"/>
                  <a:pt x="247678" y="-13929"/>
                  <a:pt x="132969" y="122084"/>
                </a:cubicBezTo>
                <a:cubicBezTo>
                  <a:pt x="18260" y="258097"/>
                  <a:pt x="-25983" y="695632"/>
                  <a:pt x="14985" y="830006"/>
                </a:cubicBezTo>
                <a:cubicBezTo>
                  <a:pt x="55953" y="964380"/>
                  <a:pt x="309951" y="846393"/>
                  <a:pt x="378777" y="928328"/>
                </a:cubicBezTo>
                <a:cubicBezTo>
                  <a:pt x="447603" y="1010263"/>
                  <a:pt x="398441" y="1201992"/>
                  <a:pt x="427938" y="1321618"/>
                </a:cubicBezTo>
                <a:cubicBezTo>
                  <a:pt x="457435" y="1441244"/>
                  <a:pt x="400081" y="1605115"/>
                  <a:pt x="555758" y="1646083"/>
                </a:cubicBezTo>
                <a:cubicBezTo>
                  <a:pt x="711435" y="1687051"/>
                  <a:pt x="1216157" y="1682135"/>
                  <a:pt x="1362002" y="1567425"/>
                </a:cubicBezTo>
                <a:cubicBezTo>
                  <a:pt x="1507847" y="1452716"/>
                  <a:pt x="1439022" y="1311788"/>
                  <a:pt x="1430828" y="957826"/>
                </a:cubicBezTo>
                <a:cubicBezTo>
                  <a:pt x="1393138" y="613697"/>
                  <a:pt x="1227629" y="436715"/>
                  <a:pt x="1106364" y="279399"/>
                </a:cubicBezTo>
                <a:cubicBezTo>
                  <a:pt x="985099" y="122083"/>
                  <a:pt x="865474" y="40147"/>
                  <a:pt x="703241" y="13928"/>
                </a:cubicBezTo>
                <a:close/>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169AF4EA-A116-6044-B1C5-17E8A24F0CC8}"/>
              </a:ext>
            </a:extLst>
          </p:cNvPr>
          <p:cNvSpPr txBox="1"/>
          <p:nvPr/>
        </p:nvSpPr>
        <p:spPr>
          <a:xfrm>
            <a:off x="6550109" y="990602"/>
            <a:ext cx="2723540" cy="1107996"/>
          </a:xfrm>
          <a:prstGeom prst="rect">
            <a:avLst/>
          </a:prstGeom>
          <a:noFill/>
        </p:spPr>
        <p:txBody>
          <a:bodyPr wrap="square" rtlCol="0">
            <a:spAutoFit/>
          </a:bodyPr>
          <a:lstStyle/>
          <a:p>
            <a:pPr algn="ctr"/>
            <a:r>
              <a:rPr lang="en-US" sz="2200" dirty="0"/>
              <a:t>these nodes/edges are useless; we can remove them.</a:t>
            </a:r>
            <a:endParaRPr lang="en-US" sz="2200" dirty="0">
              <a:latin typeface="Consolas" panose="020B0609020204030204" pitchFamily="49" charset="0"/>
              <a:cs typeface="Consolas" panose="020B0609020204030204" pitchFamily="49" charset="0"/>
            </a:endParaRPr>
          </a:p>
        </p:txBody>
      </p:sp>
      <p:grpSp>
        <p:nvGrpSpPr>
          <p:cNvPr id="46" name="Group 45">
            <a:extLst>
              <a:ext uri="{FF2B5EF4-FFF2-40B4-BE49-F238E27FC236}">
                <a16:creationId xmlns:a16="http://schemas.microsoft.com/office/drawing/2014/main" id="{4C1D65B9-F5DE-CC44-B9DA-DCB77DD7077E}"/>
              </a:ext>
            </a:extLst>
          </p:cNvPr>
          <p:cNvGrpSpPr/>
          <p:nvPr/>
        </p:nvGrpSpPr>
        <p:grpSpPr>
          <a:xfrm>
            <a:off x="7106266" y="2397348"/>
            <a:ext cx="1160199" cy="1168376"/>
            <a:chOff x="5380705" y="2070124"/>
            <a:chExt cx="1160199" cy="1168376"/>
          </a:xfrm>
        </p:grpSpPr>
        <p:sp>
          <p:nvSpPr>
            <p:cNvPr id="50" name="Rounded Rectangle 49">
              <a:extLst>
                <a:ext uri="{FF2B5EF4-FFF2-40B4-BE49-F238E27FC236}">
                  <a16:creationId xmlns:a16="http://schemas.microsoft.com/office/drawing/2014/main" id="{BF0C0AC0-0AE8-1F4F-8411-40D875B70A80}"/>
                </a:ext>
              </a:extLst>
            </p:cNvPr>
            <p:cNvSpPr/>
            <p:nvPr/>
          </p:nvSpPr>
          <p:spPr>
            <a:xfrm>
              <a:off x="5884605" y="2795826"/>
              <a:ext cx="609600" cy="442674"/>
            </a:xfrm>
            <a:prstGeom prst="roundRect">
              <a:avLst/>
            </a:prstGeom>
            <a:solidFill>
              <a:schemeClr val="accent2"/>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a:t>
              </a:r>
            </a:p>
          </p:txBody>
        </p:sp>
        <p:sp>
          <p:nvSpPr>
            <p:cNvPr id="52" name="Rounded Rectangle 51">
              <a:extLst>
                <a:ext uri="{FF2B5EF4-FFF2-40B4-BE49-F238E27FC236}">
                  <a16:creationId xmlns:a16="http://schemas.microsoft.com/office/drawing/2014/main" id="{FF42CAB6-5295-B44A-BCBE-1D6F8E79042D}"/>
                </a:ext>
              </a:extLst>
            </p:cNvPr>
            <p:cNvSpPr/>
            <p:nvPr/>
          </p:nvSpPr>
          <p:spPr>
            <a:xfrm>
              <a:off x="5837905" y="2070124"/>
              <a:ext cx="702999" cy="442674"/>
            </a:xfrm>
            <a:prstGeom prst="roundRect">
              <a:avLst/>
            </a:prstGeom>
            <a:solidFill>
              <a:schemeClr val="accent1"/>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f()</a:t>
              </a:r>
            </a:p>
          </p:txBody>
        </p:sp>
        <p:cxnSp>
          <p:nvCxnSpPr>
            <p:cNvPr id="54" name="Curved Connector 12">
              <a:extLst>
                <a:ext uri="{FF2B5EF4-FFF2-40B4-BE49-F238E27FC236}">
                  <a16:creationId xmlns:a16="http://schemas.microsoft.com/office/drawing/2014/main" id="{6353F67B-1124-9245-AD76-B90C35644B2D}"/>
                </a:ext>
              </a:extLst>
            </p:cNvPr>
            <p:cNvCxnSpPr>
              <a:cxnSpLocks/>
              <a:stCxn id="52" idx="2"/>
              <a:endCxn id="50" idx="0"/>
            </p:cNvCxnSpPr>
            <p:nvPr/>
          </p:nvCxnSpPr>
          <p:spPr>
            <a:xfrm>
              <a:off x="6189405" y="2512798"/>
              <a:ext cx="0" cy="28302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urved Connector 12">
              <a:extLst>
                <a:ext uri="{FF2B5EF4-FFF2-40B4-BE49-F238E27FC236}">
                  <a16:creationId xmlns:a16="http://schemas.microsoft.com/office/drawing/2014/main" id="{3DA05BCD-ED76-914F-AA4D-C8AF337F5535}"/>
                </a:ext>
              </a:extLst>
            </p:cNvPr>
            <p:cNvCxnSpPr>
              <a:cxnSpLocks/>
            </p:cNvCxnSpPr>
            <p:nvPr/>
          </p:nvCxnSpPr>
          <p:spPr>
            <a:xfrm>
              <a:off x="5380705" y="2292432"/>
              <a:ext cx="4572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8" name="Down Arrow 57">
            <a:extLst>
              <a:ext uri="{FF2B5EF4-FFF2-40B4-BE49-F238E27FC236}">
                <a16:creationId xmlns:a16="http://schemas.microsoft.com/office/drawing/2014/main" id="{84B55BBD-ADE1-2A44-86DD-99A849F7D099}"/>
              </a:ext>
            </a:extLst>
          </p:cNvPr>
          <p:cNvSpPr/>
          <p:nvPr/>
        </p:nvSpPr>
        <p:spPr>
          <a:xfrm rot="16200000">
            <a:off x="6435901" y="2674728"/>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82007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43" grpId="0" animBg="1"/>
      <p:bldP spid="45" grpId="0"/>
      <p:bldP spid="5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669B8-D185-4146-B97D-7067339E58BA}"/>
              </a:ext>
            </a:extLst>
          </p:cNvPr>
          <p:cNvSpPr>
            <a:spLocks noGrp="1"/>
          </p:cNvSpPr>
          <p:nvPr>
            <p:ph type="title"/>
          </p:nvPr>
        </p:nvSpPr>
        <p:spPr/>
        <p:txBody>
          <a:bodyPr/>
          <a:lstStyle/>
          <a:p>
            <a:r>
              <a:rPr lang="en-US" dirty="0"/>
              <a:t>Tweaking the visitor algorithm</a:t>
            </a:r>
          </a:p>
        </p:txBody>
      </p:sp>
      <p:sp>
        <p:nvSpPr>
          <p:cNvPr id="3" name="Content Placeholder 2">
            <a:extLst>
              <a:ext uri="{FF2B5EF4-FFF2-40B4-BE49-F238E27FC236}">
                <a16:creationId xmlns:a16="http://schemas.microsoft.com/office/drawing/2014/main" id="{D82EE1F3-29AC-374B-A8F7-30E8F682EF42}"/>
              </a:ext>
            </a:extLst>
          </p:cNvPr>
          <p:cNvSpPr>
            <a:spLocks noGrp="1"/>
          </p:cNvSpPr>
          <p:nvPr>
            <p:ph idx="1"/>
          </p:nvPr>
        </p:nvSpPr>
        <p:spPr>
          <a:xfrm>
            <a:off x="152400" y="495301"/>
            <a:ext cx="8991600" cy="838199"/>
          </a:xfrm>
        </p:spPr>
        <p:txBody>
          <a:bodyPr/>
          <a:lstStyle/>
          <a:p>
            <a:r>
              <a:rPr lang="en-US" dirty="0"/>
              <a:t>we want to detect if a BB is </a:t>
            </a:r>
            <a:r>
              <a:rPr lang="en-US" b="1" dirty="0"/>
              <a:t>unreachable, </a:t>
            </a:r>
            <a:r>
              <a:rPr lang="en-US" dirty="0"/>
              <a:t>meaning it can never run.</a:t>
            </a:r>
          </a:p>
          <a:p>
            <a:r>
              <a:rPr lang="en-US" dirty="0"/>
              <a:t>we'll modify the visiting algorithm in a simple way to do this.</a:t>
            </a:r>
          </a:p>
        </p:txBody>
      </p:sp>
      <p:sp>
        <p:nvSpPr>
          <p:cNvPr id="4" name="Slide Number Placeholder 3">
            <a:extLst>
              <a:ext uri="{FF2B5EF4-FFF2-40B4-BE49-F238E27FC236}">
                <a16:creationId xmlns:a16="http://schemas.microsoft.com/office/drawing/2014/main" id="{BF198BFB-048C-5D41-9DF0-5670B24815B1}"/>
              </a:ext>
            </a:extLst>
          </p:cNvPr>
          <p:cNvSpPr>
            <a:spLocks noGrp="1"/>
          </p:cNvSpPr>
          <p:nvPr>
            <p:ph type="sldNum" sz="quarter" idx="12"/>
          </p:nvPr>
        </p:nvSpPr>
        <p:spPr/>
        <p:txBody>
          <a:bodyPr/>
          <a:lstStyle/>
          <a:p>
            <a:fld id="{3552B95B-556F-44BD-91A5-D80C1B9E2BB3}" type="slidenum">
              <a:rPr lang="en-US" smtClean="0"/>
              <a:pPr/>
              <a:t>14</a:t>
            </a:fld>
            <a:endParaRPr lang="en-US"/>
          </a:p>
        </p:txBody>
      </p:sp>
      <p:sp>
        <p:nvSpPr>
          <p:cNvPr id="14" name="Rectangle 13">
            <a:extLst>
              <a:ext uri="{FF2B5EF4-FFF2-40B4-BE49-F238E27FC236}">
                <a16:creationId xmlns:a16="http://schemas.microsoft.com/office/drawing/2014/main" id="{94D254ED-7C18-A544-BC9F-3F879F1D1429}"/>
              </a:ext>
            </a:extLst>
          </p:cNvPr>
          <p:cNvSpPr/>
          <p:nvPr/>
        </p:nvSpPr>
        <p:spPr>
          <a:xfrm>
            <a:off x="228600" y="1330070"/>
            <a:ext cx="5257800" cy="3970318"/>
          </a:xfrm>
          <a:prstGeom prst="rect">
            <a:avLst/>
          </a:prstGeom>
        </p:spPr>
        <p:txBody>
          <a:bodyPr wrap="square">
            <a:spAutoFit/>
          </a:bodyPr>
          <a:lstStyle/>
          <a:p>
            <a:r>
              <a:rPr lang="en-US" sz="1800" b="1" dirty="0" err="1">
                <a:solidFill>
                  <a:srgbClr val="FF0000"/>
                </a:solidFill>
                <a:latin typeface="Consolas" panose="020B0609020204030204" pitchFamily="49" charset="0"/>
                <a:cs typeface="Consolas" panose="020B0609020204030204" pitchFamily="49" charset="0"/>
              </a:rPr>
              <a:t>fn</a:t>
            </a:r>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visit_node</a:t>
            </a:r>
            <a:r>
              <a:rPr lang="en-US" sz="1800" b="1" dirty="0">
                <a:latin typeface="Consolas" panose="020B0609020204030204" pitchFamily="49" charset="0"/>
                <a:cs typeface="Consolas" panose="020B0609020204030204" pitchFamily="49" charset="0"/>
              </a:rPr>
              <a:t>(n, visited) {</a:t>
            </a:r>
            <a:br>
              <a:rPr lang="en-US" sz="1800" b="1" dirty="0">
                <a:latin typeface="Consolas" panose="020B0609020204030204" pitchFamily="49" charset="0"/>
                <a:cs typeface="Consolas" panose="020B0609020204030204" pitchFamily="49" charset="0"/>
              </a:rPr>
            </a:br>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if</a:t>
            </a:r>
            <a:r>
              <a:rPr lang="en-US" sz="1800" b="1" dirty="0">
                <a:latin typeface="Consolas" panose="020B0609020204030204" pitchFamily="49" charset="0"/>
                <a:cs typeface="Consolas" panose="020B0609020204030204" pitchFamily="49" charset="0"/>
              </a:rPr>
              <a:t> visited[n] { </a:t>
            </a:r>
            <a:r>
              <a:rPr lang="en-US" sz="1800" b="1" dirty="0">
                <a:solidFill>
                  <a:srgbClr val="FF0000"/>
                </a:solidFill>
                <a:latin typeface="Consolas" panose="020B0609020204030204" pitchFamily="49" charset="0"/>
                <a:cs typeface="Consolas" panose="020B0609020204030204" pitchFamily="49" charset="0"/>
              </a:rPr>
              <a:t>return</a:t>
            </a:r>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visited[n] = </a:t>
            </a:r>
            <a:r>
              <a:rPr lang="en-US" sz="1800" b="1" dirty="0">
                <a:solidFill>
                  <a:srgbClr val="FF0000"/>
                </a:solidFill>
                <a:latin typeface="Consolas" panose="020B0609020204030204" pitchFamily="49" charset="0"/>
                <a:cs typeface="Consolas" panose="020B0609020204030204" pitchFamily="49" charset="0"/>
              </a:rPr>
              <a:t>true</a:t>
            </a:r>
            <a:r>
              <a:rPr lang="en-US" sz="1800" b="1" dirty="0">
                <a:latin typeface="Consolas" panose="020B0609020204030204" pitchFamily="49" charset="0"/>
                <a:cs typeface="Consolas" panose="020B0609020204030204" pitchFamily="49" charset="0"/>
              </a:rPr>
              <a:t>;</a:t>
            </a:r>
          </a:p>
          <a:p>
            <a:endParaRPr lang="en-US" sz="1800" b="1" dirty="0">
              <a:latin typeface="Consolas" panose="020B0609020204030204" pitchFamily="49" charset="0"/>
              <a:cs typeface="Consolas" panose="020B0609020204030204" pitchFamily="49" charset="0"/>
            </a:endParaRPr>
          </a:p>
          <a:p>
            <a:endParaRPr lang="en-US" sz="1800" b="1" dirty="0">
              <a:latin typeface="Consolas" panose="020B0609020204030204" pitchFamily="49" charset="0"/>
              <a:cs typeface="Consolas" panose="020B0609020204030204" pitchFamily="49" charset="0"/>
            </a:endParaRPr>
          </a:p>
          <a:p>
            <a:endParaRPr lang="en-US" sz="1800" b="1" dirty="0">
              <a:latin typeface="Consolas" panose="020B0609020204030204" pitchFamily="49" charset="0"/>
              <a:cs typeface="Consolas" panose="020B0609020204030204" pitchFamily="49" charset="0"/>
            </a:endParaRPr>
          </a:p>
          <a:p>
            <a:endParaRPr lang="en-US" sz="1800" b="1" dirty="0">
              <a:latin typeface="Consolas" panose="020B0609020204030204" pitchFamily="49" charset="0"/>
              <a:cs typeface="Consolas" panose="020B0609020204030204" pitchFamily="49" charset="0"/>
            </a:endParaRPr>
          </a:p>
          <a:p>
            <a:endParaRPr lang="en-US" sz="1800" b="1" dirty="0">
              <a:latin typeface="Consolas" panose="020B0609020204030204" pitchFamily="49" charset="0"/>
              <a:cs typeface="Consolas" panose="020B0609020204030204" pitchFamily="49" charset="0"/>
            </a:endParaRPr>
          </a:p>
          <a:p>
            <a:endParaRPr lang="en-US" sz="1800" b="1" dirty="0">
              <a:latin typeface="Consolas" panose="020B0609020204030204" pitchFamily="49" charset="0"/>
              <a:cs typeface="Consolas" panose="020B0609020204030204" pitchFamily="49" charset="0"/>
            </a:endParaRP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for</a:t>
            </a:r>
            <a:r>
              <a:rPr lang="en-US" sz="1800" b="1" dirty="0">
                <a:latin typeface="Consolas" panose="020B0609020204030204" pitchFamily="49" charset="0"/>
                <a:cs typeface="Consolas" panose="020B0609020204030204" pitchFamily="49" charset="0"/>
              </a:rPr>
              <a:t> s </a:t>
            </a:r>
            <a:r>
              <a:rPr lang="en-US" sz="1800" b="1" dirty="0">
                <a:solidFill>
                  <a:srgbClr val="FF0000"/>
                </a:solidFill>
                <a:latin typeface="Consolas" panose="020B0609020204030204" pitchFamily="49" charset="0"/>
                <a:cs typeface="Consolas" panose="020B0609020204030204" pitchFamily="49" charset="0"/>
              </a:rPr>
              <a:t>in</a:t>
            </a:r>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n.successors</a:t>
            </a:r>
            <a:r>
              <a:rPr lang="en-US" sz="1800" b="1" dirty="0">
                <a:latin typeface="Consolas" panose="020B0609020204030204" pitchFamily="49" charset="0"/>
                <a:cs typeface="Consolas" panose="020B0609020204030204" pitchFamily="49" charset="0"/>
              </a:rPr>
              <a:t>() {</a:t>
            </a:r>
            <a:br>
              <a:rPr lang="en-US" sz="1800" b="1" dirty="0">
                <a:latin typeface="Consolas" panose="020B0609020204030204" pitchFamily="49" charset="0"/>
                <a:cs typeface="Consolas" panose="020B0609020204030204" pitchFamily="49" charset="0"/>
              </a:rPr>
            </a:br>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visit_node</a:t>
            </a:r>
            <a:r>
              <a:rPr lang="en-US" sz="1800" b="1" dirty="0">
                <a:latin typeface="Consolas" panose="020B0609020204030204" pitchFamily="49" charset="0"/>
                <a:cs typeface="Consolas" panose="020B0609020204030204" pitchFamily="49" charset="0"/>
              </a:rPr>
              <a:t>(s, visited);</a:t>
            </a:r>
          </a:p>
          <a:p>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a:t>
            </a:r>
          </a:p>
        </p:txBody>
      </p:sp>
      <p:sp>
        <p:nvSpPr>
          <p:cNvPr id="16" name="Rectangle 15">
            <a:extLst>
              <a:ext uri="{FF2B5EF4-FFF2-40B4-BE49-F238E27FC236}">
                <a16:creationId xmlns:a16="http://schemas.microsoft.com/office/drawing/2014/main" id="{3976FA86-8B9C-D840-B738-B303A47BCBE1}"/>
              </a:ext>
            </a:extLst>
          </p:cNvPr>
          <p:cNvSpPr/>
          <p:nvPr/>
        </p:nvSpPr>
        <p:spPr>
          <a:xfrm>
            <a:off x="457200" y="2192594"/>
            <a:ext cx="4724400" cy="171081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9CF48ED-42E6-1B46-B57E-98ABE0171687}"/>
              </a:ext>
            </a:extLst>
          </p:cNvPr>
          <p:cNvSpPr/>
          <p:nvPr/>
        </p:nvSpPr>
        <p:spPr>
          <a:xfrm>
            <a:off x="228600" y="1330070"/>
            <a:ext cx="5257800" cy="3693319"/>
          </a:xfrm>
          <a:prstGeom prst="rect">
            <a:avLst/>
          </a:prstGeom>
        </p:spPr>
        <p:txBody>
          <a:bodyPr wrap="square">
            <a:spAutoFit/>
          </a:bodyPr>
          <a:lstStyle/>
          <a:p>
            <a:endParaRPr lang="en-US" sz="1800" b="1" dirty="0">
              <a:solidFill>
                <a:srgbClr val="FF0000"/>
              </a:solidFill>
              <a:latin typeface="Consolas" panose="020B0609020204030204" pitchFamily="49" charset="0"/>
              <a:cs typeface="Consolas" panose="020B0609020204030204" pitchFamily="49" charset="0"/>
            </a:endParaRPr>
          </a:p>
          <a:p>
            <a:endParaRPr lang="en-US" sz="1800" b="1" dirty="0">
              <a:solidFill>
                <a:srgbClr val="FF0000"/>
              </a:solidFill>
              <a:latin typeface="Consolas" panose="020B0609020204030204" pitchFamily="49" charset="0"/>
              <a:cs typeface="Consolas" panose="020B0609020204030204" pitchFamily="49" charset="0"/>
            </a:endParaRPr>
          </a:p>
          <a:p>
            <a:endParaRPr lang="en-US" sz="1800" b="1" dirty="0">
              <a:solidFill>
                <a:srgbClr val="FF0000"/>
              </a:solidFill>
              <a:latin typeface="Consolas" panose="020B0609020204030204" pitchFamily="49" charset="0"/>
              <a:cs typeface="Consolas" panose="020B0609020204030204" pitchFamily="49" charset="0"/>
            </a:endParaRP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let</a:t>
            </a:r>
            <a:r>
              <a:rPr lang="en-US" sz="1800" b="1" dirty="0">
                <a:latin typeface="Consolas" panose="020B0609020204030204" pitchFamily="49" charset="0"/>
                <a:cs typeface="Consolas" panose="020B0609020204030204" pitchFamily="49" charset="0"/>
              </a:rPr>
              <a:t> t = </a:t>
            </a:r>
            <a:r>
              <a:rPr lang="en-US" sz="1800" b="1" dirty="0" err="1">
                <a:latin typeface="Consolas" panose="020B0609020204030204" pitchFamily="49" charset="0"/>
                <a:cs typeface="Consolas" panose="020B0609020204030204" pitchFamily="49" charset="0"/>
              </a:rPr>
              <a:t>n.terminator</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if</a:t>
            </a:r>
            <a:r>
              <a:rPr lang="en-US" sz="1800" b="1" dirty="0">
                <a:latin typeface="Consolas" panose="020B0609020204030204" pitchFamily="49" charset="0"/>
                <a:cs typeface="Consolas" panose="020B0609020204030204" pitchFamily="49" charset="0"/>
              </a:rPr>
              <a:t> </a:t>
            </a:r>
            <a:r>
              <a:rPr lang="en-US" sz="1800" i="1" dirty="0">
                <a:latin typeface="Consolas" panose="020B0609020204030204" pitchFamily="49" charset="0"/>
                <a:cs typeface="Consolas" panose="020B0609020204030204" pitchFamily="49" charset="0"/>
              </a:rPr>
              <a:t>t's condition is constant true</a:t>
            </a:r>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visit_node</a:t>
            </a:r>
            <a:r>
              <a:rPr lang="en-US" sz="1800" b="1" dirty="0">
                <a:latin typeface="Consolas" panose="020B0609020204030204" pitchFamily="49" charset="0"/>
                <a:cs typeface="Consolas" panose="020B0609020204030204" pitchFamily="49" charset="0"/>
              </a:rPr>
              <a:t>(</a:t>
            </a:r>
            <a:r>
              <a:rPr lang="en-US" sz="1800" b="1" dirty="0" err="1">
                <a:latin typeface="Consolas" panose="020B0609020204030204" pitchFamily="49" charset="0"/>
                <a:cs typeface="Consolas" panose="020B0609020204030204" pitchFamily="49" charset="0"/>
              </a:rPr>
              <a:t>t.true_side</a:t>
            </a:r>
            <a:r>
              <a:rPr lang="en-US" sz="1800" b="1" dirty="0">
                <a:latin typeface="Consolas" panose="020B0609020204030204" pitchFamily="49" charset="0"/>
                <a:cs typeface="Consolas" panose="020B0609020204030204" pitchFamily="49" charset="0"/>
              </a:rPr>
              <a:t>, visited);</a:t>
            </a:r>
          </a:p>
          <a:p>
            <a:r>
              <a:rPr lang="en-US" sz="1800" b="1" dirty="0">
                <a:latin typeface="Consolas" panose="020B0609020204030204" pitchFamily="49" charset="0"/>
                <a:cs typeface="Consolas" panose="020B0609020204030204" pitchFamily="49" charset="0"/>
              </a:rPr>
              <a:t>  } </a:t>
            </a:r>
            <a:r>
              <a:rPr lang="en-US" sz="1800" b="1" dirty="0">
                <a:solidFill>
                  <a:srgbClr val="FF0000"/>
                </a:solidFill>
                <a:latin typeface="Consolas" panose="020B0609020204030204" pitchFamily="49" charset="0"/>
                <a:cs typeface="Consolas" panose="020B0609020204030204" pitchFamily="49" charset="0"/>
              </a:rPr>
              <a:t>else if</a:t>
            </a:r>
            <a:r>
              <a:rPr lang="en-US" sz="1800" b="1" dirty="0">
                <a:latin typeface="Consolas" panose="020B0609020204030204" pitchFamily="49" charset="0"/>
                <a:cs typeface="Consolas" panose="020B0609020204030204" pitchFamily="49" charset="0"/>
              </a:rPr>
              <a:t> </a:t>
            </a:r>
            <a:r>
              <a:rPr lang="en-US" sz="1800" i="1" dirty="0">
                <a:latin typeface="Consolas" panose="020B0609020204030204" pitchFamily="49" charset="0"/>
                <a:cs typeface="Consolas" panose="020B0609020204030204" pitchFamily="49" charset="0"/>
              </a:rPr>
              <a:t>it's constant false</a:t>
            </a:r>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visit_node</a:t>
            </a:r>
            <a:r>
              <a:rPr lang="en-US" sz="1800" b="1" dirty="0">
                <a:latin typeface="Consolas" panose="020B0609020204030204" pitchFamily="49" charset="0"/>
                <a:cs typeface="Consolas" panose="020B0609020204030204" pitchFamily="49" charset="0"/>
              </a:rPr>
              <a:t>(</a:t>
            </a:r>
            <a:r>
              <a:rPr lang="en-US" sz="1800" b="1" dirty="0" err="1">
                <a:latin typeface="Consolas" panose="020B0609020204030204" pitchFamily="49" charset="0"/>
                <a:cs typeface="Consolas" panose="020B0609020204030204" pitchFamily="49" charset="0"/>
              </a:rPr>
              <a:t>t.false_side</a:t>
            </a:r>
            <a:r>
              <a:rPr lang="en-US" sz="1800" b="1" dirty="0">
                <a:latin typeface="Consolas" panose="020B0609020204030204" pitchFamily="49" charset="0"/>
                <a:cs typeface="Consolas" panose="020B0609020204030204" pitchFamily="49" charset="0"/>
              </a:rPr>
              <a:t>, visited);</a:t>
            </a:r>
          </a:p>
          <a:p>
            <a:r>
              <a:rPr lang="en-US" sz="1800" b="1" dirty="0">
                <a:latin typeface="Consolas" panose="020B0609020204030204" pitchFamily="49" charset="0"/>
                <a:cs typeface="Consolas" panose="020B0609020204030204" pitchFamily="49" charset="0"/>
              </a:rPr>
              <a:t>  } </a:t>
            </a:r>
            <a:r>
              <a:rPr lang="en-US" sz="1800" b="1" dirty="0">
                <a:solidFill>
                  <a:srgbClr val="FF0000"/>
                </a:solidFill>
                <a:latin typeface="Consolas" panose="020B0609020204030204" pitchFamily="49" charset="0"/>
                <a:cs typeface="Consolas" panose="020B0609020204030204" pitchFamily="49" charset="0"/>
              </a:rPr>
              <a:t>else</a:t>
            </a:r>
            <a:r>
              <a:rPr lang="en-US" sz="1800" b="1" dirty="0">
                <a:latin typeface="Consolas" panose="020B0609020204030204" pitchFamily="49" charset="0"/>
                <a:cs typeface="Consolas" panose="020B0609020204030204" pitchFamily="49" charset="0"/>
              </a:rPr>
              <a:t> {</a:t>
            </a:r>
          </a:p>
          <a:p>
            <a:endParaRPr lang="en-US" sz="1800" b="1" dirty="0">
              <a:latin typeface="Consolas" panose="020B0609020204030204" pitchFamily="49" charset="0"/>
              <a:cs typeface="Consolas" panose="020B0609020204030204" pitchFamily="49" charset="0"/>
            </a:endParaRPr>
          </a:p>
          <a:p>
            <a:endParaRPr lang="en-US" sz="1800" b="1" dirty="0">
              <a:latin typeface="Consolas" panose="020B0609020204030204" pitchFamily="49" charset="0"/>
              <a:cs typeface="Consolas" panose="020B0609020204030204" pitchFamily="49" charset="0"/>
            </a:endParaRPr>
          </a:p>
          <a:p>
            <a:endParaRPr lang="en-US" sz="1800" b="1" dirty="0">
              <a:latin typeface="Consolas" panose="020B0609020204030204" pitchFamily="49" charset="0"/>
              <a:cs typeface="Consolas" panose="020B0609020204030204" pitchFamily="49" charset="0"/>
            </a:endParaRPr>
          </a:p>
          <a:p>
            <a:r>
              <a:rPr lang="en-US" sz="1800" b="1" dirty="0">
                <a:latin typeface="Consolas" panose="020B0609020204030204" pitchFamily="49" charset="0"/>
                <a:cs typeface="Consolas" panose="020B0609020204030204" pitchFamily="49" charset="0"/>
              </a:rPr>
              <a:t>  }</a:t>
            </a:r>
          </a:p>
        </p:txBody>
      </p:sp>
      <p:sp>
        <p:nvSpPr>
          <p:cNvPr id="17" name="TextBox 16">
            <a:extLst>
              <a:ext uri="{FF2B5EF4-FFF2-40B4-BE49-F238E27FC236}">
                <a16:creationId xmlns:a16="http://schemas.microsoft.com/office/drawing/2014/main" id="{AEC591D2-0010-4E4E-8842-C293BE4E2961}"/>
              </a:ext>
            </a:extLst>
          </p:cNvPr>
          <p:cNvSpPr txBox="1"/>
          <p:nvPr/>
        </p:nvSpPr>
        <p:spPr>
          <a:xfrm>
            <a:off x="5181600" y="1469319"/>
            <a:ext cx="3886200" cy="1785104"/>
          </a:xfrm>
          <a:prstGeom prst="rect">
            <a:avLst/>
          </a:prstGeom>
          <a:noFill/>
        </p:spPr>
        <p:txBody>
          <a:bodyPr wrap="square" rtlCol="0">
            <a:spAutoFit/>
          </a:bodyPr>
          <a:lstStyle/>
          <a:p>
            <a:pPr algn="ctr"/>
            <a:r>
              <a:rPr lang="en-US" sz="2200" dirty="0"/>
              <a:t>I'm paraphrasing the "real code" but the idea is simple: </a:t>
            </a:r>
            <a:r>
              <a:rPr lang="en-US" sz="2200" b="1" dirty="0"/>
              <a:t>if the condition is constant, only recursively visit the BB that corresponds to it.</a:t>
            </a:r>
            <a:endParaRPr lang="en-US" sz="2200" dirty="0">
              <a:latin typeface="Consolas" panose="020B0609020204030204" pitchFamily="49" charset="0"/>
              <a:cs typeface="Consolas" panose="020B0609020204030204" pitchFamily="49" charset="0"/>
            </a:endParaRPr>
          </a:p>
        </p:txBody>
      </p:sp>
      <p:sp>
        <p:nvSpPr>
          <p:cNvPr id="18" name="TextBox 17">
            <a:extLst>
              <a:ext uri="{FF2B5EF4-FFF2-40B4-BE49-F238E27FC236}">
                <a16:creationId xmlns:a16="http://schemas.microsoft.com/office/drawing/2014/main" id="{13FB1884-704C-0E44-AB0D-D064B12CB57B}"/>
              </a:ext>
            </a:extLst>
          </p:cNvPr>
          <p:cNvSpPr txBox="1"/>
          <p:nvPr/>
        </p:nvSpPr>
        <p:spPr>
          <a:xfrm>
            <a:off x="5257800" y="3466116"/>
            <a:ext cx="3886200" cy="1446550"/>
          </a:xfrm>
          <a:prstGeom prst="rect">
            <a:avLst/>
          </a:prstGeom>
          <a:noFill/>
        </p:spPr>
        <p:txBody>
          <a:bodyPr wrap="square" rtlCol="0">
            <a:spAutoFit/>
          </a:bodyPr>
          <a:lstStyle/>
          <a:p>
            <a:pPr algn="ctr"/>
            <a:r>
              <a:rPr lang="en-US" sz="2200" dirty="0"/>
              <a:t>at the end of running this, </a:t>
            </a:r>
            <a:r>
              <a:rPr lang="en-US" sz="2200" b="1" dirty="0"/>
              <a:t>any nodes </a:t>
            </a:r>
            <a:r>
              <a:rPr lang="en-US" sz="2200" b="1" i="1" dirty="0"/>
              <a:t>not</a:t>
            </a:r>
            <a:r>
              <a:rPr lang="en-US" sz="2200" b="1" dirty="0"/>
              <a:t> in the visited set </a:t>
            </a:r>
            <a:r>
              <a:rPr lang="en-US" sz="2200" dirty="0"/>
              <a:t>are </a:t>
            </a:r>
            <a:r>
              <a:rPr lang="en-US" sz="2200" b="1" dirty="0"/>
              <a:t>unreachable</a:t>
            </a:r>
            <a:r>
              <a:rPr lang="en-US" sz="2200" dirty="0"/>
              <a:t> and can be removed from the CFG.</a:t>
            </a:r>
            <a:endParaRPr lang="en-US" sz="22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42352641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animBg="1"/>
      <p:bldP spid="15" grpId="0"/>
      <p:bldP spid="17" grpId="0"/>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048B3-CE71-9740-876B-A45311F58D20}"/>
              </a:ext>
            </a:extLst>
          </p:cNvPr>
          <p:cNvSpPr>
            <a:spLocks noGrp="1"/>
          </p:cNvSpPr>
          <p:nvPr>
            <p:ph type="title"/>
          </p:nvPr>
        </p:nvSpPr>
        <p:spPr/>
        <p:txBody>
          <a:bodyPr/>
          <a:lstStyle/>
          <a:p>
            <a:r>
              <a:rPr lang="en-US" dirty="0"/>
              <a:t>Running it on this CFG </a:t>
            </a:r>
            <a:r>
              <a:rPr lang="en-US" sz="2000" dirty="0"/>
              <a:t>(animated)</a:t>
            </a:r>
            <a:endParaRPr lang="en-US" dirty="0"/>
          </a:p>
        </p:txBody>
      </p:sp>
      <p:sp>
        <p:nvSpPr>
          <p:cNvPr id="3" name="Content Placeholder 2">
            <a:extLst>
              <a:ext uri="{FF2B5EF4-FFF2-40B4-BE49-F238E27FC236}">
                <a16:creationId xmlns:a16="http://schemas.microsoft.com/office/drawing/2014/main" id="{3FD0D014-2D53-EE4A-B7B2-56112D806AA9}"/>
              </a:ext>
            </a:extLst>
          </p:cNvPr>
          <p:cNvSpPr>
            <a:spLocks noGrp="1"/>
          </p:cNvSpPr>
          <p:nvPr>
            <p:ph idx="1"/>
          </p:nvPr>
        </p:nvSpPr>
        <p:spPr>
          <a:xfrm>
            <a:off x="152400" y="495302"/>
            <a:ext cx="8991600" cy="591040"/>
          </a:xfrm>
        </p:spPr>
        <p:txBody>
          <a:bodyPr/>
          <a:lstStyle/>
          <a:p>
            <a:r>
              <a:rPr lang="en-US" dirty="0"/>
              <a:t>we'll mark any visited node with a green circle.</a:t>
            </a:r>
          </a:p>
        </p:txBody>
      </p:sp>
      <p:sp>
        <p:nvSpPr>
          <p:cNvPr id="4" name="Slide Number Placeholder 3">
            <a:extLst>
              <a:ext uri="{FF2B5EF4-FFF2-40B4-BE49-F238E27FC236}">
                <a16:creationId xmlns:a16="http://schemas.microsoft.com/office/drawing/2014/main" id="{B0AF6310-FDBA-8B4B-93D0-D56B77117E24}"/>
              </a:ext>
            </a:extLst>
          </p:cNvPr>
          <p:cNvSpPr>
            <a:spLocks noGrp="1"/>
          </p:cNvSpPr>
          <p:nvPr>
            <p:ph type="sldNum" sz="quarter" idx="12"/>
          </p:nvPr>
        </p:nvSpPr>
        <p:spPr/>
        <p:txBody>
          <a:bodyPr/>
          <a:lstStyle/>
          <a:p>
            <a:fld id="{3552B95B-556F-44BD-91A5-D80C1B9E2BB3}" type="slidenum">
              <a:rPr lang="en-US" smtClean="0"/>
              <a:pPr/>
              <a:t>15</a:t>
            </a:fld>
            <a:endParaRPr lang="en-US"/>
          </a:p>
        </p:txBody>
      </p:sp>
      <p:sp>
        <p:nvSpPr>
          <p:cNvPr id="5" name="Rectangle 4">
            <a:extLst>
              <a:ext uri="{FF2B5EF4-FFF2-40B4-BE49-F238E27FC236}">
                <a16:creationId xmlns:a16="http://schemas.microsoft.com/office/drawing/2014/main" id="{601DD493-5C31-084A-AB17-FB2BAEC887A1}"/>
              </a:ext>
            </a:extLst>
          </p:cNvPr>
          <p:cNvSpPr/>
          <p:nvPr/>
        </p:nvSpPr>
        <p:spPr>
          <a:xfrm>
            <a:off x="488538" y="1254552"/>
            <a:ext cx="1524000" cy="1631216"/>
          </a:xfrm>
          <a:prstGeom prst="rect">
            <a:avLst/>
          </a:prstGeom>
        </p:spPr>
        <p:txBody>
          <a:bodyPr wrap="square">
            <a:spAutoFit/>
          </a:bodyPr>
          <a:lstStyle/>
          <a:p>
            <a:r>
              <a:rPr lang="en-US" sz="2000" b="1" dirty="0">
                <a:solidFill>
                  <a:srgbClr val="FF0000"/>
                </a:solidFill>
                <a:latin typeface="Consolas" panose="020B0609020204030204" pitchFamily="49" charset="0"/>
                <a:cs typeface="Consolas" panose="020B0609020204030204" pitchFamily="49" charset="0"/>
              </a:rPr>
              <a:t>if true </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f();</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else</a:t>
            </a:r>
            <a:r>
              <a:rPr lang="en-US" sz="2000" b="1" dirty="0">
                <a:latin typeface="Consolas" panose="020B0609020204030204" pitchFamily="49" charset="0"/>
                <a:cs typeface="Consolas" panose="020B0609020204030204" pitchFamily="49" charset="0"/>
              </a:rPr>
              <a:t> {</a:t>
            </a:r>
            <a:br>
              <a:rPr lang="en-US" sz="2000" b="1" dirty="0">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  g();</a:t>
            </a:r>
            <a:br>
              <a:rPr lang="en-US" sz="2000" b="1" dirty="0">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a:t>
            </a:r>
          </a:p>
        </p:txBody>
      </p:sp>
      <p:grpSp>
        <p:nvGrpSpPr>
          <p:cNvPr id="6" name="Group 5">
            <a:extLst>
              <a:ext uri="{FF2B5EF4-FFF2-40B4-BE49-F238E27FC236}">
                <a16:creationId xmlns:a16="http://schemas.microsoft.com/office/drawing/2014/main" id="{0609732F-9BBE-E849-80CA-0C5FD62A6BFF}"/>
              </a:ext>
            </a:extLst>
          </p:cNvPr>
          <p:cNvGrpSpPr/>
          <p:nvPr/>
        </p:nvGrpSpPr>
        <p:grpSpPr>
          <a:xfrm>
            <a:off x="2362200" y="1113325"/>
            <a:ext cx="1740298" cy="1949277"/>
            <a:chOff x="5334000" y="1289223"/>
            <a:chExt cx="1740298" cy="1949277"/>
          </a:xfrm>
        </p:grpSpPr>
        <p:sp>
          <p:nvSpPr>
            <p:cNvPr id="7" name="Rounded Rectangle 6">
              <a:extLst>
                <a:ext uri="{FF2B5EF4-FFF2-40B4-BE49-F238E27FC236}">
                  <a16:creationId xmlns:a16="http://schemas.microsoft.com/office/drawing/2014/main" id="{BC71D3B0-9A9D-F243-8A8A-A89AF11C68DA}"/>
                </a:ext>
              </a:extLst>
            </p:cNvPr>
            <p:cNvSpPr/>
            <p:nvPr/>
          </p:nvSpPr>
          <p:spPr>
            <a:xfrm>
              <a:off x="5884605" y="1289223"/>
              <a:ext cx="609600" cy="442674"/>
            </a:xfrm>
            <a:prstGeom prst="roundRect">
              <a:avLst/>
            </a:prstGeom>
            <a:solidFill>
              <a:schemeClr val="accent6"/>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if</a:t>
              </a:r>
            </a:p>
          </p:txBody>
        </p:sp>
        <p:cxnSp>
          <p:nvCxnSpPr>
            <p:cNvPr id="8" name="Curved Connector 11">
              <a:extLst>
                <a:ext uri="{FF2B5EF4-FFF2-40B4-BE49-F238E27FC236}">
                  <a16:creationId xmlns:a16="http://schemas.microsoft.com/office/drawing/2014/main" id="{179D8AF5-0FC4-AB46-9379-963230CD33F2}"/>
                </a:ext>
              </a:extLst>
            </p:cNvPr>
            <p:cNvCxnSpPr>
              <a:cxnSpLocks/>
            </p:cNvCxnSpPr>
            <p:nvPr/>
          </p:nvCxnSpPr>
          <p:spPr>
            <a:xfrm>
              <a:off x="6371299" y="1744072"/>
              <a:ext cx="194190" cy="33320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Curved Connector 128">
              <a:extLst>
                <a:ext uri="{FF2B5EF4-FFF2-40B4-BE49-F238E27FC236}">
                  <a16:creationId xmlns:a16="http://schemas.microsoft.com/office/drawing/2014/main" id="{DEDD3020-40A3-E649-8226-4D1BC8556ECB}"/>
                </a:ext>
              </a:extLst>
            </p:cNvPr>
            <p:cNvCxnSpPr>
              <a:cxnSpLocks/>
            </p:cNvCxnSpPr>
            <p:nvPr/>
          </p:nvCxnSpPr>
          <p:spPr>
            <a:xfrm flipH="1">
              <a:off x="5812092" y="1731897"/>
              <a:ext cx="224907" cy="32468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 name="Rounded Rectangle 9">
              <a:extLst>
                <a:ext uri="{FF2B5EF4-FFF2-40B4-BE49-F238E27FC236}">
                  <a16:creationId xmlns:a16="http://schemas.microsoft.com/office/drawing/2014/main" id="{3DF9FF3B-C081-B94C-BDC5-48298D73A989}"/>
                </a:ext>
              </a:extLst>
            </p:cNvPr>
            <p:cNvSpPr/>
            <p:nvPr/>
          </p:nvSpPr>
          <p:spPr>
            <a:xfrm>
              <a:off x="5884605" y="2795826"/>
              <a:ext cx="609600" cy="442674"/>
            </a:xfrm>
            <a:prstGeom prst="roundRect">
              <a:avLst/>
            </a:prstGeom>
            <a:solidFill>
              <a:schemeClr val="accent2"/>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a:t>
              </a:r>
            </a:p>
          </p:txBody>
        </p:sp>
        <p:cxnSp>
          <p:nvCxnSpPr>
            <p:cNvPr id="11" name="Curved Connector 12">
              <a:extLst>
                <a:ext uri="{FF2B5EF4-FFF2-40B4-BE49-F238E27FC236}">
                  <a16:creationId xmlns:a16="http://schemas.microsoft.com/office/drawing/2014/main" id="{AB4EBD2E-58D7-FA4B-B436-1399FC578738}"/>
                </a:ext>
              </a:extLst>
            </p:cNvPr>
            <p:cNvCxnSpPr>
              <a:cxnSpLocks/>
            </p:cNvCxnSpPr>
            <p:nvPr/>
          </p:nvCxnSpPr>
          <p:spPr>
            <a:xfrm flipH="1">
              <a:off x="6306163" y="2514583"/>
              <a:ext cx="259326" cy="28124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ounded Rectangle 11">
              <a:extLst>
                <a:ext uri="{FF2B5EF4-FFF2-40B4-BE49-F238E27FC236}">
                  <a16:creationId xmlns:a16="http://schemas.microsoft.com/office/drawing/2014/main" id="{82CF4114-EEFC-0A4B-8D33-B587F3797948}"/>
                </a:ext>
              </a:extLst>
            </p:cNvPr>
            <p:cNvSpPr/>
            <p:nvPr/>
          </p:nvSpPr>
          <p:spPr>
            <a:xfrm>
              <a:off x="5334000" y="2052313"/>
              <a:ext cx="702999" cy="442674"/>
            </a:xfrm>
            <a:prstGeom prst="roundRect">
              <a:avLst/>
            </a:prstGeom>
            <a:solidFill>
              <a:schemeClr val="accent1"/>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f()</a:t>
              </a:r>
            </a:p>
          </p:txBody>
        </p:sp>
        <p:sp>
          <p:nvSpPr>
            <p:cNvPr id="13" name="Rounded Rectangle 12">
              <a:extLst>
                <a:ext uri="{FF2B5EF4-FFF2-40B4-BE49-F238E27FC236}">
                  <a16:creationId xmlns:a16="http://schemas.microsoft.com/office/drawing/2014/main" id="{1B3BA623-7A73-EA4A-8A26-3AA6C923D95D}"/>
                </a:ext>
              </a:extLst>
            </p:cNvPr>
            <p:cNvSpPr/>
            <p:nvPr/>
          </p:nvSpPr>
          <p:spPr>
            <a:xfrm>
              <a:off x="6371299" y="2056577"/>
              <a:ext cx="702999" cy="442674"/>
            </a:xfrm>
            <a:prstGeom prst="roundRect">
              <a:avLst/>
            </a:prstGeom>
            <a:solidFill>
              <a:schemeClr val="accent1"/>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g()</a:t>
              </a:r>
            </a:p>
          </p:txBody>
        </p:sp>
        <p:cxnSp>
          <p:nvCxnSpPr>
            <p:cNvPr id="14" name="Curved Connector 12">
              <a:extLst>
                <a:ext uri="{FF2B5EF4-FFF2-40B4-BE49-F238E27FC236}">
                  <a16:creationId xmlns:a16="http://schemas.microsoft.com/office/drawing/2014/main" id="{54544FB1-CD79-AE49-9AE0-6352CC40A22A}"/>
                </a:ext>
              </a:extLst>
            </p:cNvPr>
            <p:cNvCxnSpPr>
              <a:cxnSpLocks/>
            </p:cNvCxnSpPr>
            <p:nvPr/>
          </p:nvCxnSpPr>
          <p:spPr>
            <a:xfrm>
              <a:off x="5812092" y="2494987"/>
              <a:ext cx="224907" cy="31250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urved Connector 12">
              <a:extLst>
                <a:ext uri="{FF2B5EF4-FFF2-40B4-BE49-F238E27FC236}">
                  <a16:creationId xmlns:a16="http://schemas.microsoft.com/office/drawing/2014/main" id="{A3335AE7-6949-644B-85E1-0305920E3BD6}"/>
                </a:ext>
              </a:extLst>
            </p:cNvPr>
            <p:cNvCxnSpPr>
              <a:cxnSpLocks/>
              <a:endCxn id="7" idx="1"/>
            </p:cNvCxnSpPr>
            <p:nvPr/>
          </p:nvCxnSpPr>
          <p:spPr>
            <a:xfrm>
              <a:off x="5427405" y="1510560"/>
              <a:ext cx="4572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Oval 17">
            <a:extLst>
              <a:ext uri="{FF2B5EF4-FFF2-40B4-BE49-F238E27FC236}">
                <a16:creationId xmlns:a16="http://schemas.microsoft.com/office/drawing/2014/main" id="{325DB55F-A989-CB4B-A7DC-45D19016A26A}"/>
              </a:ext>
            </a:extLst>
          </p:cNvPr>
          <p:cNvSpPr/>
          <p:nvPr/>
        </p:nvSpPr>
        <p:spPr>
          <a:xfrm>
            <a:off x="2840292" y="1024607"/>
            <a:ext cx="221337" cy="221337"/>
          </a:xfrm>
          <a:prstGeom prst="ellipse">
            <a:avLst/>
          </a:prstGeom>
          <a:solidFill>
            <a:srgbClr val="00B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CE75B1E-E4DF-764E-9FB8-71B067E0A62A}"/>
              </a:ext>
            </a:extLst>
          </p:cNvPr>
          <p:cNvSpPr/>
          <p:nvPr/>
        </p:nvSpPr>
        <p:spPr>
          <a:xfrm>
            <a:off x="2251531" y="1790714"/>
            <a:ext cx="221337" cy="221337"/>
          </a:xfrm>
          <a:prstGeom prst="ellipse">
            <a:avLst/>
          </a:prstGeom>
          <a:solidFill>
            <a:srgbClr val="00B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AA6CDB4-6A6F-544D-81D8-7A9D5E91A8F6}"/>
              </a:ext>
            </a:extLst>
          </p:cNvPr>
          <p:cNvSpPr/>
          <p:nvPr/>
        </p:nvSpPr>
        <p:spPr>
          <a:xfrm>
            <a:off x="2802136" y="2515092"/>
            <a:ext cx="221337" cy="221337"/>
          </a:xfrm>
          <a:prstGeom prst="ellipse">
            <a:avLst/>
          </a:prstGeom>
          <a:solidFill>
            <a:srgbClr val="00B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E0F8AA7-ECE2-3B40-8E2B-A35EC4A5539F}"/>
              </a:ext>
            </a:extLst>
          </p:cNvPr>
          <p:cNvSpPr txBox="1"/>
          <p:nvPr/>
        </p:nvSpPr>
        <p:spPr>
          <a:xfrm>
            <a:off x="4572000" y="1181100"/>
            <a:ext cx="4343400" cy="1107996"/>
          </a:xfrm>
          <a:prstGeom prst="rect">
            <a:avLst/>
          </a:prstGeom>
          <a:noFill/>
        </p:spPr>
        <p:txBody>
          <a:bodyPr wrap="square" rtlCol="0">
            <a:spAutoFit/>
          </a:bodyPr>
          <a:lstStyle/>
          <a:p>
            <a:pPr algn="ctr"/>
            <a:r>
              <a:rPr lang="en-US" sz="2200" dirty="0"/>
              <a:t>done. now we can see that the </a:t>
            </a:r>
            <a:r>
              <a:rPr lang="en-US" sz="2200" b="1" dirty="0">
                <a:latin typeface="Consolas" panose="020B0609020204030204" pitchFamily="49" charset="0"/>
                <a:cs typeface="Consolas" panose="020B0609020204030204" pitchFamily="49" charset="0"/>
              </a:rPr>
              <a:t>else</a:t>
            </a:r>
            <a:r>
              <a:rPr lang="en-US" sz="2200" dirty="0"/>
              <a:t> node (</a:t>
            </a:r>
            <a:r>
              <a:rPr lang="en-US" sz="2200" b="1" dirty="0">
                <a:latin typeface="Consolas" panose="020B0609020204030204" pitchFamily="49" charset="0"/>
                <a:cs typeface="Consolas" panose="020B0609020204030204" pitchFamily="49" charset="0"/>
              </a:rPr>
              <a:t>g()</a:t>
            </a:r>
            <a:r>
              <a:rPr lang="en-US" sz="2200" dirty="0"/>
              <a:t>) was </a:t>
            </a:r>
            <a:r>
              <a:rPr lang="en-US" sz="2200" b="1" dirty="0"/>
              <a:t>not visited, </a:t>
            </a:r>
            <a:r>
              <a:rPr lang="en-US" sz="2200" dirty="0"/>
              <a:t>and is therefore </a:t>
            </a:r>
            <a:r>
              <a:rPr lang="en-US" sz="2200" b="1" dirty="0"/>
              <a:t>not reachable.</a:t>
            </a:r>
            <a:endParaRPr lang="en-US" sz="2200" dirty="0">
              <a:latin typeface="Consolas" panose="020B0609020204030204" pitchFamily="49" charset="0"/>
              <a:cs typeface="Consolas" panose="020B0609020204030204" pitchFamily="49" charset="0"/>
            </a:endParaRPr>
          </a:p>
        </p:txBody>
      </p:sp>
      <p:sp>
        <p:nvSpPr>
          <p:cNvPr id="22" name="Multiply 21">
            <a:extLst>
              <a:ext uri="{FF2B5EF4-FFF2-40B4-BE49-F238E27FC236}">
                <a16:creationId xmlns:a16="http://schemas.microsoft.com/office/drawing/2014/main" id="{BF237AE4-0970-3C47-9F14-9A2E2AA04F00}"/>
              </a:ext>
            </a:extLst>
          </p:cNvPr>
          <p:cNvSpPr/>
          <p:nvPr/>
        </p:nvSpPr>
        <p:spPr>
          <a:xfrm>
            <a:off x="3246479" y="1591571"/>
            <a:ext cx="1009037" cy="1009037"/>
          </a:xfrm>
          <a:prstGeom prst="mathMultiply">
            <a:avLst>
              <a:gd name="adj1" fmla="val 1280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C5162A0-257E-FB4C-81D1-C91D417FBCAC}"/>
              </a:ext>
            </a:extLst>
          </p:cNvPr>
          <p:cNvSpPr txBox="1"/>
          <p:nvPr/>
        </p:nvSpPr>
        <p:spPr>
          <a:xfrm>
            <a:off x="4572000" y="2341664"/>
            <a:ext cx="4343400" cy="584775"/>
          </a:xfrm>
          <a:prstGeom prst="rect">
            <a:avLst/>
          </a:prstGeom>
          <a:noFill/>
        </p:spPr>
        <p:txBody>
          <a:bodyPr wrap="square" rtlCol="0">
            <a:spAutoFit/>
          </a:bodyPr>
          <a:lstStyle/>
          <a:p>
            <a:pPr algn="ctr"/>
            <a:r>
              <a:rPr lang="en-US" sz="1600" dirty="0"/>
              <a:t>(how we remove it from the CFG is a separate issue, but it's not super complicated.)</a:t>
            </a:r>
            <a:endParaRPr lang="en-US" sz="1600" dirty="0">
              <a:latin typeface="Consolas" panose="020B0609020204030204" pitchFamily="49" charset="0"/>
              <a:cs typeface="Consolas" panose="020B0609020204030204" pitchFamily="49" charset="0"/>
            </a:endParaRPr>
          </a:p>
        </p:txBody>
      </p:sp>
      <p:sp>
        <p:nvSpPr>
          <p:cNvPr id="24" name="TextBox 23">
            <a:extLst>
              <a:ext uri="{FF2B5EF4-FFF2-40B4-BE49-F238E27FC236}">
                <a16:creationId xmlns:a16="http://schemas.microsoft.com/office/drawing/2014/main" id="{E6C828D6-E3CE-8F43-A969-8F6860A0BD5F}"/>
              </a:ext>
            </a:extLst>
          </p:cNvPr>
          <p:cNvSpPr txBox="1"/>
          <p:nvPr/>
        </p:nvSpPr>
        <p:spPr>
          <a:xfrm>
            <a:off x="1028700" y="3316795"/>
            <a:ext cx="7086600" cy="1107996"/>
          </a:xfrm>
          <a:prstGeom prst="rect">
            <a:avLst/>
          </a:prstGeom>
          <a:noFill/>
        </p:spPr>
        <p:txBody>
          <a:bodyPr wrap="square" rtlCol="0">
            <a:spAutoFit/>
          </a:bodyPr>
          <a:lstStyle/>
          <a:p>
            <a:pPr algn="ctr"/>
            <a:r>
              <a:rPr lang="en-US" sz="2200" dirty="0"/>
              <a:t>do you remember another algorithm that worked like this? you start at a </a:t>
            </a:r>
            <a:r>
              <a:rPr lang="en-US" sz="2200" b="1" dirty="0"/>
              <a:t>root </a:t>
            </a:r>
            <a:r>
              <a:rPr lang="en-US" sz="2200" dirty="0"/>
              <a:t>and </a:t>
            </a:r>
            <a:r>
              <a:rPr lang="en-US" sz="2200" b="1" dirty="0"/>
              <a:t>mark </a:t>
            </a:r>
            <a:r>
              <a:rPr lang="en-US" sz="2200" dirty="0"/>
              <a:t>reachable things, then </a:t>
            </a:r>
            <a:r>
              <a:rPr lang="en-US" sz="2200" b="1" dirty="0"/>
              <a:t>sweep away </a:t>
            </a:r>
            <a:r>
              <a:rPr lang="en-US" sz="2200" dirty="0"/>
              <a:t>anything that isn't reachable…</a:t>
            </a:r>
            <a:endParaRPr lang="en-US" sz="2200" dirty="0">
              <a:latin typeface="Consolas" panose="020B0609020204030204" pitchFamily="49" charset="0"/>
              <a:cs typeface="Consolas" panose="020B0609020204030204" pitchFamily="49" charset="0"/>
            </a:endParaRPr>
          </a:p>
        </p:txBody>
      </p:sp>
      <p:sp>
        <p:nvSpPr>
          <p:cNvPr id="26" name="TextBox 25">
            <a:extLst>
              <a:ext uri="{FF2B5EF4-FFF2-40B4-BE49-F238E27FC236}">
                <a16:creationId xmlns:a16="http://schemas.microsoft.com/office/drawing/2014/main" id="{B5C56A5F-06DF-5A41-A230-7FF5FF6FAFD5}"/>
              </a:ext>
            </a:extLst>
          </p:cNvPr>
          <p:cNvSpPr txBox="1"/>
          <p:nvPr/>
        </p:nvSpPr>
        <p:spPr>
          <a:xfrm>
            <a:off x="7840666" y="4088662"/>
            <a:ext cx="549268" cy="430887"/>
          </a:xfrm>
          <a:prstGeom prst="rect">
            <a:avLst/>
          </a:prstGeom>
          <a:noFill/>
        </p:spPr>
        <p:txBody>
          <a:bodyPr wrap="square" rtlCol="0">
            <a:spAutoFit/>
          </a:bodyPr>
          <a:lstStyle/>
          <a:p>
            <a:pPr algn="ctr"/>
            <a:r>
              <a:rPr lang="en-US" sz="2200" dirty="0"/>
              <a:t>;o</a:t>
            </a:r>
            <a:endParaRPr lang="en-US" sz="22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8495589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8" grpId="0" animBg="1"/>
      <p:bldP spid="19" grpId="0" animBg="1"/>
      <p:bldP spid="20" grpId="0" animBg="1"/>
      <p:bldP spid="21" grpId="0"/>
      <p:bldP spid="22" grpId="0" animBg="1"/>
      <p:bldP spid="23" grpId="0"/>
      <p:bldP spid="24" grpId="0"/>
      <p:bldP spid="2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640E-2985-1A4D-965A-0A6F50E8A246}"/>
              </a:ext>
            </a:extLst>
          </p:cNvPr>
          <p:cNvSpPr>
            <a:spLocks noGrp="1"/>
          </p:cNvSpPr>
          <p:nvPr>
            <p:ph type="title"/>
          </p:nvPr>
        </p:nvSpPr>
        <p:spPr/>
        <p:txBody>
          <a:bodyPr/>
          <a:lstStyle/>
          <a:p>
            <a:r>
              <a:rPr lang="en-US" dirty="0"/>
              <a:t>Forward analysis</a:t>
            </a:r>
          </a:p>
        </p:txBody>
      </p:sp>
      <p:sp>
        <p:nvSpPr>
          <p:cNvPr id="3" name="Content Placeholder 2">
            <a:extLst>
              <a:ext uri="{FF2B5EF4-FFF2-40B4-BE49-F238E27FC236}">
                <a16:creationId xmlns:a16="http://schemas.microsoft.com/office/drawing/2014/main" id="{897148F1-AEA1-B643-9E3A-35F72E556375}"/>
              </a:ext>
            </a:extLst>
          </p:cNvPr>
          <p:cNvSpPr>
            <a:spLocks noGrp="1"/>
          </p:cNvSpPr>
          <p:nvPr>
            <p:ph idx="1"/>
          </p:nvPr>
        </p:nvSpPr>
        <p:spPr/>
        <p:txBody>
          <a:bodyPr/>
          <a:lstStyle/>
          <a:p>
            <a:r>
              <a:rPr lang="en-US" dirty="0"/>
              <a:t>the way this (and most optimizations) works is by </a:t>
            </a:r>
            <a:r>
              <a:rPr lang="en-US" b="1" dirty="0"/>
              <a:t>transferring some kind of "knowledge" </a:t>
            </a:r>
            <a:r>
              <a:rPr lang="en-US" dirty="0"/>
              <a:t>from BB to BB by following edges.</a:t>
            </a:r>
          </a:p>
          <a:p>
            <a:pPr lvl="1"/>
            <a:r>
              <a:rPr lang="en-US" dirty="0"/>
              <a:t>here, that knowledge is the reachability of a node.</a:t>
            </a:r>
          </a:p>
          <a:p>
            <a:pPr lvl="1"/>
            <a:r>
              <a:rPr lang="en-US" dirty="0"/>
              <a:t>when we enter </a:t>
            </a:r>
            <a:r>
              <a:rPr lang="en-US" b="1" dirty="0" err="1">
                <a:latin typeface="Consolas" panose="020B0609020204030204" pitchFamily="49" charset="0"/>
                <a:cs typeface="Consolas" panose="020B0609020204030204" pitchFamily="49" charset="0"/>
              </a:rPr>
              <a:t>visit_node</a:t>
            </a:r>
            <a:r>
              <a:rPr lang="en-US" dirty="0"/>
              <a:t>, we know that </a:t>
            </a:r>
            <a:r>
              <a:rPr lang="en-US" b="1" dirty="0">
                <a:latin typeface="Consolas" panose="020B0609020204030204" pitchFamily="49" charset="0"/>
                <a:cs typeface="Consolas" panose="020B0609020204030204" pitchFamily="49" charset="0"/>
              </a:rPr>
              <a:t>n</a:t>
            </a:r>
            <a:r>
              <a:rPr lang="en-US" dirty="0"/>
              <a:t> is reachable…</a:t>
            </a:r>
          </a:p>
          <a:p>
            <a:pPr lvl="1"/>
            <a:r>
              <a:rPr lang="en-US" dirty="0"/>
              <a:t>…and that reachability is </a:t>
            </a:r>
            <a:r>
              <a:rPr lang="en-US" b="1" dirty="0"/>
              <a:t>transferred </a:t>
            </a:r>
            <a:r>
              <a:rPr lang="en-US" dirty="0"/>
              <a:t>to its successors.</a:t>
            </a:r>
          </a:p>
          <a:p>
            <a:r>
              <a:rPr lang="en-US" dirty="0"/>
              <a:t>a </a:t>
            </a:r>
            <a:r>
              <a:rPr lang="en-US" b="1" dirty="0"/>
              <a:t>forward </a:t>
            </a:r>
            <a:r>
              <a:rPr lang="en-US" dirty="0"/>
              <a:t>analysis spreads this knowledge forward </a:t>
            </a:r>
            <a:r>
              <a:rPr lang="en-US" i="1" dirty="0"/>
              <a:t>with</a:t>
            </a:r>
            <a:r>
              <a:rPr lang="en-US" dirty="0"/>
              <a:t> the edges: </a:t>
            </a:r>
            <a:r>
              <a:rPr lang="en-US" i="1" dirty="0"/>
              <a:t>from </a:t>
            </a:r>
            <a:r>
              <a:rPr lang="en-US" dirty="0"/>
              <a:t>the </a:t>
            </a:r>
            <a:r>
              <a:rPr lang="en-US" b="1" dirty="0"/>
              <a:t>predecessors</a:t>
            </a:r>
            <a:r>
              <a:rPr lang="en-US" dirty="0"/>
              <a:t> </a:t>
            </a:r>
            <a:r>
              <a:rPr lang="en-US" i="1" dirty="0"/>
              <a:t>to </a:t>
            </a:r>
            <a:r>
              <a:rPr lang="en-US" dirty="0"/>
              <a:t>the </a:t>
            </a:r>
            <a:r>
              <a:rPr lang="en-US" b="1" dirty="0"/>
              <a:t>successors.</a:t>
            </a:r>
          </a:p>
          <a:p>
            <a:pPr lvl="1"/>
            <a:r>
              <a:rPr lang="en-US" dirty="0"/>
              <a:t>a </a:t>
            </a:r>
            <a:r>
              <a:rPr lang="en-US" b="1" dirty="0"/>
              <a:t>backward </a:t>
            </a:r>
            <a:r>
              <a:rPr lang="en-US" dirty="0"/>
              <a:t>analysis does the opposite – from successors to predecessors – but we won't see one of those until next time.</a:t>
            </a:r>
          </a:p>
          <a:p>
            <a:r>
              <a:rPr lang="en-US" dirty="0"/>
              <a:t>so: let's use this new knowledge to solve the problems we encountered before!</a:t>
            </a:r>
          </a:p>
        </p:txBody>
      </p:sp>
      <p:sp>
        <p:nvSpPr>
          <p:cNvPr id="4" name="Slide Number Placeholder 3">
            <a:extLst>
              <a:ext uri="{FF2B5EF4-FFF2-40B4-BE49-F238E27FC236}">
                <a16:creationId xmlns:a16="http://schemas.microsoft.com/office/drawing/2014/main" id="{6486C2C4-4724-6945-B896-31A951443D7E}"/>
              </a:ext>
            </a:extLst>
          </p:cNvPr>
          <p:cNvSpPr>
            <a:spLocks noGrp="1"/>
          </p:cNvSpPr>
          <p:nvPr>
            <p:ph type="sldNum" sz="quarter" idx="12"/>
          </p:nvPr>
        </p:nvSpPr>
        <p:spPr/>
        <p:txBody>
          <a:bodyPr/>
          <a:lstStyle/>
          <a:p>
            <a:fld id="{3552B95B-556F-44BD-91A5-D80C1B9E2BB3}" type="slidenum">
              <a:rPr lang="en-US" smtClean="0"/>
              <a:pPr/>
              <a:t>16</a:t>
            </a:fld>
            <a:endParaRPr lang="en-US"/>
          </a:p>
        </p:txBody>
      </p:sp>
    </p:spTree>
    <p:extLst>
      <p:ext uri="{BB962C8B-B14F-4D97-AF65-F5344CB8AC3E}">
        <p14:creationId xmlns:p14="http://schemas.microsoft.com/office/powerpoint/2010/main" val="286703153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B5AA9-3EE1-4F47-8845-31100F7D7C49}"/>
              </a:ext>
            </a:extLst>
          </p:cNvPr>
          <p:cNvSpPr>
            <a:spLocks noGrp="1"/>
          </p:cNvSpPr>
          <p:nvPr>
            <p:ph type="ctrTitle"/>
          </p:nvPr>
        </p:nvSpPr>
        <p:spPr/>
        <p:txBody>
          <a:bodyPr/>
          <a:lstStyle/>
          <a:p>
            <a:r>
              <a:rPr lang="en-US" dirty="0"/>
              <a:t>Global Constant Copy Propagation (GCCP)</a:t>
            </a:r>
          </a:p>
        </p:txBody>
      </p:sp>
      <p:sp>
        <p:nvSpPr>
          <p:cNvPr id="3" name="Slide Number Placeholder 2">
            <a:extLst>
              <a:ext uri="{FF2B5EF4-FFF2-40B4-BE49-F238E27FC236}">
                <a16:creationId xmlns:a16="http://schemas.microsoft.com/office/drawing/2014/main" id="{16702366-8211-F44C-A20A-9CF800E96A40}"/>
              </a:ext>
            </a:extLst>
          </p:cNvPr>
          <p:cNvSpPr>
            <a:spLocks noGrp="1"/>
          </p:cNvSpPr>
          <p:nvPr>
            <p:ph type="sldNum" sz="quarter" idx="12"/>
          </p:nvPr>
        </p:nvSpPr>
        <p:spPr/>
        <p:txBody>
          <a:bodyPr/>
          <a:lstStyle/>
          <a:p>
            <a:fld id="{3552B95B-556F-44BD-91A5-D80C1B9E2BB3}" type="slidenum">
              <a:rPr lang="en-US" smtClean="0"/>
              <a:pPr/>
              <a:t>17</a:t>
            </a:fld>
            <a:endParaRPr lang="en-US"/>
          </a:p>
        </p:txBody>
      </p:sp>
    </p:spTree>
    <p:extLst>
      <p:ext uri="{BB962C8B-B14F-4D97-AF65-F5344CB8AC3E}">
        <p14:creationId xmlns:p14="http://schemas.microsoft.com/office/powerpoint/2010/main" val="293677080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1832F-98ED-6641-8588-31A48779C351}"/>
              </a:ext>
            </a:extLst>
          </p:cNvPr>
          <p:cNvSpPr>
            <a:spLocks noGrp="1"/>
          </p:cNvSpPr>
          <p:nvPr>
            <p:ph type="title"/>
          </p:nvPr>
        </p:nvSpPr>
        <p:spPr/>
        <p:txBody>
          <a:bodyPr/>
          <a:lstStyle/>
          <a:p>
            <a:r>
              <a:rPr lang="en-US" dirty="0" err="1"/>
              <a:t>Defs</a:t>
            </a:r>
            <a:r>
              <a:rPr lang="en-US" dirty="0"/>
              <a:t> and Uses</a:t>
            </a:r>
          </a:p>
        </p:txBody>
      </p:sp>
      <p:sp>
        <p:nvSpPr>
          <p:cNvPr id="3" name="Content Placeholder 2">
            <a:extLst>
              <a:ext uri="{FF2B5EF4-FFF2-40B4-BE49-F238E27FC236}">
                <a16:creationId xmlns:a16="http://schemas.microsoft.com/office/drawing/2014/main" id="{87C386AB-74BC-3349-941D-6AD7CB2C0AD9}"/>
              </a:ext>
            </a:extLst>
          </p:cNvPr>
          <p:cNvSpPr>
            <a:spLocks noGrp="1"/>
          </p:cNvSpPr>
          <p:nvPr>
            <p:ph idx="1"/>
          </p:nvPr>
        </p:nvSpPr>
        <p:spPr>
          <a:xfrm>
            <a:off x="152400" y="495301"/>
            <a:ext cx="8991600" cy="2209799"/>
          </a:xfrm>
        </p:spPr>
        <p:txBody>
          <a:bodyPr/>
          <a:lstStyle/>
          <a:p>
            <a:r>
              <a:rPr lang="en-US" dirty="0"/>
              <a:t>a </a:t>
            </a:r>
            <a:r>
              <a:rPr lang="en-US" b="1" dirty="0"/>
              <a:t>def </a:t>
            </a:r>
            <a:r>
              <a:rPr lang="en-US" dirty="0"/>
              <a:t>of a variable is when you assign it (it appears on ='s LHS).</a:t>
            </a:r>
          </a:p>
          <a:p>
            <a:pPr lvl="1"/>
            <a:r>
              <a:rPr lang="en-US" dirty="0" err="1"/>
              <a:t>defs</a:t>
            </a:r>
            <a:r>
              <a:rPr lang="en-US" dirty="0"/>
              <a:t> of </a:t>
            </a:r>
            <a:r>
              <a:rPr lang="en-US" b="1" dirty="0">
                <a:latin typeface="Consolas" panose="020B0609020204030204" pitchFamily="49" charset="0"/>
                <a:cs typeface="Consolas" panose="020B0609020204030204" pitchFamily="49" charset="0"/>
              </a:rPr>
              <a:t>x</a:t>
            </a:r>
            <a:r>
              <a:rPr lang="en-US" dirty="0"/>
              <a:t>:   </a:t>
            </a:r>
            <a:r>
              <a:rPr lang="en-US" b="1" dirty="0">
                <a:highlight>
                  <a:srgbClr val="FFFF00"/>
                </a:highlight>
                <a:latin typeface="Consolas" panose="020B0609020204030204" pitchFamily="49" charset="0"/>
                <a:cs typeface="Consolas" panose="020B0609020204030204" pitchFamily="49" charset="0"/>
              </a:rPr>
              <a:t>x</a:t>
            </a:r>
            <a:r>
              <a:rPr lang="en-US" b="1" dirty="0">
                <a:latin typeface="Consolas" panose="020B0609020204030204" pitchFamily="49" charset="0"/>
                <a:cs typeface="Consolas" panose="020B0609020204030204" pitchFamily="49" charset="0"/>
              </a:rPr>
              <a:t> = </a:t>
            </a:r>
            <a:r>
              <a:rPr lang="en-US" b="1" dirty="0">
                <a:solidFill>
                  <a:schemeClr val="accent3">
                    <a:lumMod val="75000"/>
                  </a:schemeClr>
                </a:solidFill>
                <a:latin typeface="Consolas" panose="020B0609020204030204" pitchFamily="49" charset="0"/>
                <a:cs typeface="Consolas" panose="020B0609020204030204" pitchFamily="49" charset="0"/>
              </a:rPr>
              <a:t>0</a:t>
            </a:r>
            <a:r>
              <a:rPr lang="en-US" dirty="0"/>
              <a:t>,   </a:t>
            </a:r>
            <a:r>
              <a:rPr lang="en-US" b="1" dirty="0">
                <a:highlight>
                  <a:srgbClr val="FFFF00"/>
                </a:highlight>
                <a:latin typeface="Consolas" panose="020B0609020204030204" pitchFamily="49" charset="0"/>
                <a:cs typeface="Consolas" panose="020B0609020204030204" pitchFamily="49" charset="0"/>
              </a:rPr>
              <a:t>x</a:t>
            </a:r>
            <a:r>
              <a:rPr lang="en-US" b="1" dirty="0">
                <a:latin typeface="Consolas" panose="020B0609020204030204" pitchFamily="49" charset="0"/>
                <a:cs typeface="Consolas" panose="020B0609020204030204" pitchFamily="49" charset="0"/>
              </a:rPr>
              <a:t> = y</a:t>
            </a:r>
          </a:p>
          <a:p>
            <a:r>
              <a:rPr lang="en-US" dirty="0"/>
              <a:t>a </a:t>
            </a:r>
            <a:r>
              <a:rPr lang="en-US" b="1" dirty="0"/>
              <a:t>use </a:t>
            </a:r>
            <a:r>
              <a:rPr lang="en-US" dirty="0"/>
              <a:t>of a variable is when you get its value.</a:t>
            </a:r>
          </a:p>
          <a:p>
            <a:pPr lvl="1"/>
            <a:r>
              <a:rPr lang="en-US" dirty="0"/>
              <a:t>uses of </a:t>
            </a:r>
            <a:r>
              <a:rPr lang="en-US" b="1" dirty="0">
                <a:latin typeface="Consolas" panose="020B0609020204030204" pitchFamily="49" charset="0"/>
                <a:cs typeface="Consolas" panose="020B0609020204030204" pitchFamily="49" charset="0"/>
              </a:rPr>
              <a:t>x</a:t>
            </a:r>
            <a:r>
              <a:rPr lang="en-US" dirty="0"/>
              <a:t>:   </a:t>
            </a:r>
            <a:r>
              <a:rPr lang="en-US" b="1" dirty="0">
                <a:latin typeface="Consolas" panose="020B0609020204030204" pitchFamily="49" charset="0"/>
                <a:cs typeface="Consolas" panose="020B0609020204030204" pitchFamily="49" charset="0"/>
              </a:rPr>
              <a:t>z = </a:t>
            </a:r>
            <a:r>
              <a:rPr lang="en-US" b="1" dirty="0">
                <a:highlight>
                  <a:srgbClr val="FFFF00"/>
                </a:highlight>
                <a:latin typeface="Consolas" panose="020B0609020204030204" pitchFamily="49" charset="0"/>
                <a:cs typeface="Consolas" panose="020B0609020204030204" pitchFamily="49" charset="0"/>
              </a:rPr>
              <a:t>x</a:t>
            </a:r>
            <a:r>
              <a:rPr lang="en-US" dirty="0"/>
              <a:t>,   </a:t>
            </a:r>
            <a:r>
              <a:rPr lang="en-US" b="1" dirty="0">
                <a:solidFill>
                  <a:srgbClr val="FF0000"/>
                </a:solidFill>
                <a:latin typeface="Consolas" panose="020B0609020204030204" pitchFamily="49" charset="0"/>
                <a:cs typeface="Consolas" panose="020B0609020204030204" pitchFamily="49" charset="0"/>
              </a:rPr>
              <a:t>if</a:t>
            </a:r>
            <a:r>
              <a:rPr lang="en-US" b="1" dirty="0">
                <a:latin typeface="Consolas" panose="020B0609020204030204" pitchFamily="49" charset="0"/>
                <a:cs typeface="Consolas" panose="020B0609020204030204" pitchFamily="49" charset="0"/>
              </a:rPr>
              <a:t> </a:t>
            </a:r>
            <a:r>
              <a:rPr lang="en-US" b="1" dirty="0">
                <a:highlight>
                  <a:srgbClr val="FFFF00"/>
                </a:highlight>
                <a:latin typeface="Consolas" panose="020B0609020204030204" pitchFamily="49" charset="0"/>
                <a:cs typeface="Consolas" panose="020B0609020204030204" pitchFamily="49" charset="0"/>
              </a:rPr>
              <a:t>x</a:t>
            </a:r>
            <a:r>
              <a:rPr lang="en-US" dirty="0"/>
              <a:t>,   </a:t>
            </a:r>
            <a:r>
              <a:rPr lang="en-US" b="1" dirty="0">
                <a:latin typeface="Consolas" panose="020B0609020204030204" pitchFamily="49" charset="0"/>
                <a:cs typeface="Consolas" panose="020B0609020204030204" pitchFamily="49" charset="0"/>
              </a:rPr>
              <a:t>f(</a:t>
            </a:r>
            <a:r>
              <a:rPr lang="en-US" b="1" dirty="0">
                <a:highlight>
                  <a:srgbClr val="FFFF00"/>
                </a:highlight>
                <a:latin typeface="Consolas" panose="020B0609020204030204" pitchFamily="49" charset="0"/>
                <a:cs typeface="Consolas" panose="020B0609020204030204" pitchFamily="49" charset="0"/>
              </a:rPr>
              <a:t>x</a:t>
            </a:r>
            <a:r>
              <a:rPr lang="en-US" b="1" dirty="0">
                <a:latin typeface="Consolas" panose="020B0609020204030204" pitchFamily="49" charset="0"/>
                <a:cs typeface="Consolas" panose="020B0609020204030204" pitchFamily="49" charset="0"/>
              </a:rPr>
              <a:t>)</a:t>
            </a:r>
          </a:p>
          <a:p>
            <a:r>
              <a:rPr lang="en-US" dirty="0"/>
              <a:t>we'll use </a:t>
            </a:r>
            <a:r>
              <a:rPr lang="en-US" b="1" dirty="0"/>
              <a:t>def-use </a:t>
            </a:r>
            <a:r>
              <a:rPr lang="en-US" dirty="0"/>
              <a:t>to mean a pair of def and use, where the def sets the value that the use gets.</a:t>
            </a:r>
          </a:p>
        </p:txBody>
      </p:sp>
      <p:sp>
        <p:nvSpPr>
          <p:cNvPr id="4" name="Slide Number Placeholder 3">
            <a:extLst>
              <a:ext uri="{FF2B5EF4-FFF2-40B4-BE49-F238E27FC236}">
                <a16:creationId xmlns:a16="http://schemas.microsoft.com/office/drawing/2014/main" id="{E5B82132-5EDE-1545-9839-956C87AC0074}"/>
              </a:ext>
            </a:extLst>
          </p:cNvPr>
          <p:cNvSpPr>
            <a:spLocks noGrp="1"/>
          </p:cNvSpPr>
          <p:nvPr>
            <p:ph type="sldNum" sz="quarter" idx="12"/>
          </p:nvPr>
        </p:nvSpPr>
        <p:spPr/>
        <p:txBody>
          <a:bodyPr/>
          <a:lstStyle/>
          <a:p>
            <a:fld id="{3552B95B-556F-44BD-91A5-D80C1B9E2BB3}" type="slidenum">
              <a:rPr lang="en-US" smtClean="0"/>
              <a:pPr/>
              <a:t>18</a:t>
            </a:fld>
            <a:endParaRPr lang="en-US"/>
          </a:p>
        </p:txBody>
      </p:sp>
      <p:grpSp>
        <p:nvGrpSpPr>
          <p:cNvPr id="47" name="Group 46">
            <a:extLst>
              <a:ext uri="{FF2B5EF4-FFF2-40B4-BE49-F238E27FC236}">
                <a16:creationId xmlns:a16="http://schemas.microsoft.com/office/drawing/2014/main" id="{8AD11658-5382-7745-8EAF-390A849ACD4C}"/>
              </a:ext>
            </a:extLst>
          </p:cNvPr>
          <p:cNvGrpSpPr/>
          <p:nvPr/>
        </p:nvGrpSpPr>
        <p:grpSpPr>
          <a:xfrm>
            <a:off x="4812902" y="2960998"/>
            <a:ext cx="2349898" cy="1186187"/>
            <a:chOff x="4812902" y="2960998"/>
            <a:chExt cx="2349898" cy="1186187"/>
          </a:xfrm>
        </p:grpSpPr>
        <p:sp>
          <p:nvSpPr>
            <p:cNvPr id="10" name="Rounded Rectangle 9">
              <a:extLst>
                <a:ext uri="{FF2B5EF4-FFF2-40B4-BE49-F238E27FC236}">
                  <a16:creationId xmlns:a16="http://schemas.microsoft.com/office/drawing/2014/main" id="{F751923E-A7C6-9F4D-AC02-13B000A0CA94}"/>
                </a:ext>
              </a:extLst>
            </p:cNvPr>
            <p:cNvSpPr/>
            <p:nvPr/>
          </p:nvSpPr>
          <p:spPr>
            <a:xfrm>
              <a:off x="5481503" y="3704511"/>
              <a:ext cx="983208" cy="442674"/>
            </a:xfrm>
            <a:prstGeom prst="roundRect">
              <a:avLst/>
            </a:prstGeom>
            <a:solidFill>
              <a:schemeClr val="accent1"/>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f(x)</a:t>
              </a:r>
            </a:p>
          </p:txBody>
        </p:sp>
        <p:cxnSp>
          <p:nvCxnSpPr>
            <p:cNvPr id="11" name="Curved Connector 12">
              <a:extLst>
                <a:ext uri="{FF2B5EF4-FFF2-40B4-BE49-F238E27FC236}">
                  <a16:creationId xmlns:a16="http://schemas.microsoft.com/office/drawing/2014/main" id="{2586F473-3A9F-C04C-A239-E008F5A36970}"/>
                </a:ext>
              </a:extLst>
            </p:cNvPr>
            <p:cNvCxnSpPr>
              <a:cxnSpLocks/>
            </p:cNvCxnSpPr>
            <p:nvPr/>
          </p:nvCxnSpPr>
          <p:spPr>
            <a:xfrm flipH="1">
              <a:off x="6089865" y="3423268"/>
              <a:ext cx="259326" cy="28124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ounded Rectangle 11">
              <a:extLst>
                <a:ext uri="{FF2B5EF4-FFF2-40B4-BE49-F238E27FC236}">
                  <a16:creationId xmlns:a16="http://schemas.microsoft.com/office/drawing/2014/main" id="{D7CB1103-F17F-3042-8471-363D94FE09FB}"/>
                </a:ext>
              </a:extLst>
            </p:cNvPr>
            <p:cNvSpPr/>
            <p:nvPr/>
          </p:nvSpPr>
          <p:spPr>
            <a:xfrm>
              <a:off x="4812902" y="2960998"/>
              <a:ext cx="1007799" cy="442674"/>
            </a:xfrm>
            <a:prstGeom prst="roundRect">
              <a:avLst/>
            </a:prstGeom>
            <a:solidFill>
              <a:schemeClr val="accent1"/>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x = 3</a:t>
              </a:r>
            </a:p>
          </p:txBody>
        </p:sp>
        <p:sp>
          <p:nvSpPr>
            <p:cNvPr id="13" name="Rounded Rectangle 12">
              <a:extLst>
                <a:ext uri="{FF2B5EF4-FFF2-40B4-BE49-F238E27FC236}">
                  <a16:creationId xmlns:a16="http://schemas.microsoft.com/office/drawing/2014/main" id="{ED89A22E-ADE6-3447-8314-384AAB04D14B}"/>
                </a:ext>
              </a:extLst>
            </p:cNvPr>
            <p:cNvSpPr/>
            <p:nvPr/>
          </p:nvSpPr>
          <p:spPr>
            <a:xfrm>
              <a:off x="6155001" y="2965262"/>
              <a:ext cx="1007799" cy="442674"/>
            </a:xfrm>
            <a:prstGeom prst="roundRect">
              <a:avLst/>
            </a:prstGeom>
            <a:solidFill>
              <a:schemeClr val="accent1"/>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x = 5</a:t>
              </a:r>
            </a:p>
          </p:txBody>
        </p:sp>
        <p:cxnSp>
          <p:nvCxnSpPr>
            <p:cNvPr id="14" name="Curved Connector 12">
              <a:extLst>
                <a:ext uri="{FF2B5EF4-FFF2-40B4-BE49-F238E27FC236}">
                  <a16:creationId xmlns:a16="http://schemas.microsoft.com/office/drawing/2014/main" id="{36B9019F-5B58-5642-9F60-987EDF7D1BB0}"/>
                </a:ext>
              </a:extLst>
            </p:cNvPr>
            <p:cNvCxnSpPr>
              <a:cxnSpLocks/>
            </p:cNvCxnSpPr>
            <p:nvPr/>
          </p:nvCxnSpPr>
          <p:spPr>
            <a:xfrm>
              <a:off x="5595794" y="3403672"/>
              <a:ext cx="224907" cy="31250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1" name="Rectangle 20">
            <a:extLst>
              <a:ext uri="{FF2B5EF4-FFF2-40B4-BE49-F238E27FC236}">
                <a16:creationId xmlns:a16="http://schemas.microsoft.com/office/drawing/2014/main" id="{B2E4228B-233F-FC4E-A839-326C823C6A7C}"/>
              </a:ext>
            </a:extLst>
          </p:cNvPr>
          <p:cNvSpPr/>
          <p:nvPr/>
        </p:nvSpPr>
        <p:spPr>
          <a:xfrm>
            <a:off x="1857059" y="2836649"/>
            <a:ext cx="1676400" cy="1446550"/>
          </a:xfrm>
          <a:prstGeom prst="rect">
            <a:avLst/>
          </a:prstGeom>
        </p:spPr>
        <p:txBody>
          <a:bodyPr wrap="square">
            <a:spAutoFit/>
          </a:bodyPr>
          <a:lstStyle/>
          <a:p>
            <a:r>
              <a:rPr lang="en-US" sz="2200" b="1" dirty="0">
                <a:latin typeface="Consolas" panose="020B0609020204030204" pitchFamily="49" charset="0"/>
                <a:cs typeface="Consolas" panose="020B0609020204030204" pitchFamily="49" charset="0"/>
              </a:rPr>
              <a:t>x = </a:t>
            </a:r>
            <a:r>
              <a:rPr lang="en-US" sz="2200" b="1" dirty="0">
                <a:solidFill>
                  <a:schemeClr val="accent3">
                    <a:lumMod val="75000"/>
                  </a:schemeClr>
                </a:solidFill>
                <a:latin typeface="Consolas" panose="020B0609020204030204" pitchFamily="49" charset="0"/>
                <a:cs typeface="Consolas" panose="020B0609020204030204" pitchFamily="49" charset="0"/>
              </a:rPr>
              <a:t>3</a:t>
            </a:r>
          </a:p>
          <a:p>
            <a:r>
              <a:rPr lang="en-US" sz="2200" b="1" dirty="0">
                <a:latin typeface="Consolas" panose="020B0609020204030204" pitchFamily="49" charset="0"/>
                <a:cs typeface="Consolas" panose="020B0609020204030204" pitchFamily="49" charset="0"/>
              </a:rPr>
              <a:t>y = </a:t>
            </a:r>
            <a:r>
              <a:rPr lang="en-US" sz="2200" b="1" dirty="0">
                <a:solidFill>
                  <a:schemeClr val="accent3">
                    <a:lumMod val="75000"/>
                  </a:schemeClr>
                </a:solidFill>
                <a:latin typeface="Consolas" panose="020B0609020204030204" pitchFamily="49" charset="0"/>
                <a:cs typeface="Consolas" panose="020B0609020204030204" pitchFamily="49" charset="0"/>
              </a:rPr>
              <a:t>5</a:t>
            </a:r>
          </a:p>
          <a:p>
            <a:r>
              <a:rPr lang="en-US" sz="2200" b="1" dirty="0">
                <a:latin typeface="Consolas" panose="020B0609020204030204" pitchFamily="49" charset="0"/>
                <a:cs typeface="Consolas" panose="020B0609020204030204" pitchFamily="49" charset="0"/>
              </a:rPr>
              <a:t>z = a + b</a:t>
            </a:r>
          </a:p>
          <a:p>
            <a:r>
              <a:rPr lang="en-US" sz="2200" b="1" dirty="0">
                <a:latin typeface="Consolas" panose="020B0609020204030204" pitchFamily="49" charset="0"/>
                <a:cs typeface="Consolas" panose="020B0609020204030204" pitchFamily="49" charset="0"/>
              </a:rPr>
              <a:t>f(x)</a:t>
            </a:r>
          </a:p>
        </p:txBody>
      </p:sp>
      <p:grpSp>
        <p:nvGrpSpPr>
          <p:cNvPr id="28" name="Group 27">
            <a:extLst>
              <a:ext uri="{FF2B5EF4-FFF2-40B4-BE49-F238E27FC236}">
                <a16:creationId xmlns:a16="http://schemas.microsoft.com/office/drawing/2014/main" id="{DDD56B69-B9F6-8D4B-B292-A1871AECAFA6}"/>
              </a:ext>
            </a:extLst>
          </p:cNvPr>
          <p:cNvGrpSpPr/>
          <p:nvPr/>
        </p:nvGrpSpPr>
        <p:grpSpPr>
          <a:xfrm>
            <a:off x="1817730" y="2856314"/>
            <a:ext cx="711567" cy="1409657"/>
            <a:chOff x="1817730" y="2856314"/>
            <a:chExt cx="711567" cy="1409657"/>
          </a:xfrm>
        </p:grpSpPr>
        <p:sp>
          <p:nvSpPr>
            <p:cNvPr id="22" name="Oval 21">
              <a:extLst>
                <a:ext uri="{FF2B5EF4-FFF2-40B4-BE49-F238E27FC236}">
                  <a16:creationId xmlns:a16="http://schemas.microsoft.com/office/drawing/2014/main" id="{6024A8A2-A83F-AB47-AB09-CFD529BEA61D}"/>
                </a:ext>
              </a:extLst>
            </p:cNvPr>
            <p:cNvSpPr/>
            <p:nvPr/>
          </p:nvSpPr>
          <p:spPr>
            <a:xfrm>
              <a:off x="1817730" y="2856314"/>
              <a:ext cx="401851" cy="40185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E7150490-F515-4141-B464-7861E461EA07}"/>
                </a:ext>
              </a:extLst>
            </p:cNvPr>
            <p:cNvSpPr/>
            <p:nvPr/>
          </p:nvSpPr>
          <p:spPr>
            <a:xfrm>
              <a:off x="2127446" y="3864120"/>
              <a:ext cx="401851" cy="40185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Curved Connector 24">
              <a:extLst>
                <a:ext uri="{FF2B5EF4-FFF2-40B4-BE49-F238E27FC236}">
                  <a16:creationId xmlns:a16="http://schemas.microsoft.com/office/drawing/2014/main" id="{89502FCF-3CBB-FC4F-9D48-AFDA81A33E4C}"/>
                </a:ext>
              </a:extLst>
            </p:cNvPr>
            <p:cNvCxnSpPr>
              <a:cxnSpLocks/>
              <a:stCxn id="22" idx="2"/>
              <a:endCxn id="23" idx="2"/>
            </p:cNvCxnSpPr>
            <p:nvPr/>
          </p:nvCxnSpPr>
          <p:spPr>
            <a:xfrm rot="10800000" flipH="1" flipV="1">
              <a:off x="1817730" y="3057240"/>
              <a:ext cx="309716" cy="1007806"/>
            </a:xfrm>
            <a:prstGeom prst="curvedConnector3">
              <a:avLst>
                <a:gd name="adj1" fmla="val -45239"/>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79B02B3F-D346-194A-B135-FEA6EDDFC207}"/>
              </a:ext>
            </a:extLst>
          </p:cNvPr>
          <p:cNvGrpSpPr/>
          <p:nvPr/>
        </p:nvGrpSpPr>
        <p:grpSpPr>
          <a:xfrm>
            <a:off x="4827662" y="2999682"/>
            <a:ext cx="1399825" cy="1134354"/>
            <a:chOff x="1817730" y="2856314"/>
            <a:chExt cx="1399825" cy="1134354"/>
          </a:xfrm>
        </p:grpSpPr>
        <p:sp>
          <p:nvSpPr>
            <p:cNvPr id="30" name="Oval 29">
              <a:extLst>
                <a:ext uri="{FF2B5EF4-FFF2-40B4-BE49-F238E27FC236}">
                  <a16:creationId xmlns:a16="http://schemas.microsoft.com/office/drawing/2014/main" id="{716D721A-0E12-C444-8541-C34856084AFB}"/>
                </a:ext>
              </a:extLst>
            </p:cNvPr>
            <p:cNvSpPr/>
            <p:nvPr/>
          </p:nvSpPr>
          <p:spPr>
            <a:xfrm>
              <a:off x="1817730" y="2856314"/>
              <a:ext cx="401851" cy="40185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648BF35-176A-7547-AC9F-575B2812A3FB}"/>
                </a:ext>
              </a:extLst>
            </p:cNvPr>
            <p:cNvSpPr/>
            <p:nvPr/>
          </p:nvSpPr>
          <p:spPr>
            <a:xfrm>
              <a:off x="2815704" y="3588817"/>
              <a:ext cx="401851" cy="40185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Curved Connector 31">
              <a:extLst>
                <a:ext uri="{FF2B5EF4-FFF2-40B4-BE49-F238E27FC236}">
                  <a16:creationId xmlns:a16="http://schemas.microsoft.com/office/drawing/2014/main" id="{3FDFC93A-0E41-0543-B0EB-4AEEA917C9CF}"/>
                </a:ext>
              </a:extLst>
            </p:cNvPr>
            <p:cNvCxnSpPr>
              <a:cxnSpLocks/>
              <a:stCxn id="30" idx="4"/>
              <a:endCxn id="38" idx="1"/>
            </p:cNvCxnSpPr>
            <p:nvPr/>
          </p:nvCxnSpPr>
          <p:spPr>
            <a:xfrm rot="16200000" flipH="1">
              <a:off x="2255530" y="3021290"/>
              <a:ext cx="382176" cy="855925"/>
            </a:xfrm>
            <a:prstGeom prst="curved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1FD72954-F782-524F-8796-0043F32D707F}"/>
              </a:ext>
            </a:extLst>
          </p:cNvPr>
          <p:cNvGrpSpPr/>
          <p:nvPr/>
        </p:nvGrpSpPr>
        <p:grpSpPr>
          <a:xfrm>
            <a:off x="5825663" y="3001070"/>
            <a:ext cx="745957" cy="1125640"/>
            <a:chOff x="480566" y="2581011"/>
            <a:chExt cx="745957" cy="1125640"/>
          </a:xfrm>
        </p:grpSpPr>
        <p:sp>
          <p:nvSpPr>
            <p:cNvPr id="37" name="Oval 36">
              <a:extLst>
                <a:ext uri="{FF2B5EF4-FFF2-40B4-BE49-F238E27FC236}">
                  <a16:creationId xmlns:a16="http://schemas.microsoft.com/office/drawing/2014/main" id="{FAA55F2A-3726-EA42-80C8-9D6B1A0E0470}"/>
                </a:ext>
              </a:extLst>
            </p:cNvPr>
            <p:cNvSpPr/>
            <p:nvPr/>
          </p:nvSpPr>
          <p:spPr>
            <a:xfrm>
              <a:off x="824672" y="2581011"/>
              <a:ext cx="401851" cy="401851"/>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A669931E-A10E-5E45-8C18-C175CC0F12A9}"/>
                </a:ext>
              </a:extLst>
            </p:cNvPr>
            <p:cNvSpPr/>
            <p:nvPr/>
          </p:nvSpPr>
          <p:spPr>
            <a:xfrm>
              <a:off x="480566" y="3304800"/>
              <a:ext cx="401851" cy="401851"/>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Curved Connector 38">
              <a:extLst>
                <a:ext uri="{FF2B5EF4-FFF2-40B4-BE49-F238E27FC236}">
                  <a16:creationId xmlns:a16="http://schemas.microsoft.com/office/drawing/2014/main" id="{EDA14458-9199-904A-A19C-9FEF52C27C8B}"/>
                </a:ext>
              </a:extLst>
            </p:cNvPr>
            <p:cNvCxnSpPr>
              <a:cxnSpLocks/>
              <a:stCxn id="37" idx="4"/>
              <a:endCxn id="38" idx="7"/>
            </p:cNvCxnSpPr>
            <p:nvPr/>
          </p:nvCxnSpPr>
          <p:spPr>
            <a:xfrm rot="5400000">
              <a:off x="734189" y="3072241"/>
              <a:ext cx="380788" cy="202031"/>
            </a:xfrm>
            <a:prstGeom prst="curvedConnector3">
              <a:avLst>
                <a:gd name="adj1" fmla="val 50000"/>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E34F90F3-96A4-8344-9356-E86E330337FF}"/>
              </a:ext>
            </a:extLst>
          </p:cNvPr>
          <p:cNvSpPr txBox="1"/>
          <p:nvPr/>
        </p:nvSpPr>
        <p:spPr>
          <a:xfrm>
            <a:off x="1075433" y="4414748"/>
            <a:ext cx="2458026" cy="430887"/>
          </a:xfrm>
          <a:prstGeom prst="rect">
            <a:avLst/>
          </a:prstGeom>
          <a:noFill/>
        </p:spPr>
        <p:txBody>
          <a:bodyPr wrap="square" rtlCol="0">
            <a:spAutoFit/>
          </a:bodyPr>
          <a:lstStyle/>
          <a:p>
            <a:pPr algn="ctr"/>
            <a:r>
              <a:rPr lang="en-US" sz="2200" dirty="0"/>
              <a:t>here's a def-use.</a:t>
            </a:r>
            <a:endParaRPr lang="en-US" sz="2200" dirty="0">
              <a:latin typeface="Consolas" panose="020B0609020204030204" pitchFamily="49" charset="0"/>
              <a:cs typeface="Consolas" panose="020B0609020204030204" pitchFamily="49" charset="0"/>
            </a:endParaRPr>
          </a:p>
        </p:txBody>
      </p:sp>
      <p:sp>
        <p:nvSpPr>
          <p:cNvPr id="46" name="TextBox 45">
            <a:extLst>
              <a:ext uri="{FF2B5EF4-FFF2-40B4-BE49-F238E27FC236}">
                <a16:creationId xmlns:a16="http://schemas.microsoft.com/office/drawing/2014/main" id="{22A4D6C5-81CD-AE4B-A2B1-0D3F9AD9D6F6}"/>
              </a:ext>
            </a:extLst>
          </p:cNvPr>
          <p:cNvSpPr txBox="1"/>
          <p:nvPr/>
        </p:nvSpPr>
        <p:spPr>
          <a:xfrm>
            <a:off x="4493350" y="4417271"/>
            <a:ext cx="3126650" cy="769441"/>
          </a:xfrm>
          <a:prstGeom prst="rect">
            <a:avLst/>
          </a:prstGeom>
          <a:noFill/>
        </p:spPr>
        <p:txBody>
          <a:bodyPr wrap="square" rtlCol="0">
            <a:spAutoFit/>
          </a:bodyPr>
          <a:lstStyle/>
          <a:p>
            <a:pPr algn="ctr"/>
            <a:r>
              <a:rPr lang="en-US" sz="2200" dirty="0"/>
              <a:t>there can be multiple </a:t>
            </a:r>
            <a:r>
              <a:rPr lang="en-US" sz="2200" dirty="0" err="1"/>
              <a:t>defs</a:t>
            </a:r>
            <a:r>
              <a:rPr lang="en-US" sz="2200" dirty="0"/>
              <a:t> for one use, too.</a:t>
            </a:r>
            <a:endParaRPr lang="en-US" sz="22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6011441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600"/>
                                  </p:stCondLst>
                                  <p:childTnLst>
                                    <p:set>
                                      <p:cBhvr>
                                        <p:cTn id="21" dur="1" fill="hold">
                                          <p:stCondLst>
                                            <p:cond delay="0"/>
                                          </p:stCondLst>
                                        </p:cTn>
                                        <p:tgtEl>
                                          <p:spTgt spid="29"/>
                                        </p:tgtEl>
                                        <p:attrNameLst>
                                          <p:attrName>style.visibility</p:attrName>
                                        </p:attrNameLst>
                                      </p:cBhvr>
                                      <p:to>
                                        <p:strVal val="visible"/>
                                      </p:to>
                                    </p:set>
                                  </p:childTnLst>
                                </p:cTn>
                              </p:par>
                            </p:childTnLst>
                          </p:cTn>
                        </p:par>
                        <p:par>
                          <p:cTn id="22" fill="hold">
                            <p:stCondLst>
                              <p:cond delay="600"/>
                            </p:stCondLst>
                            <p:childTnLst>
                              <p:par>
                                <p:cTn id="23" presetID="1" presetClass="entr" presetSubtype="0" fill="hold" nodeType="afterEffect">
                                  <p:stCondLst>
                                    <p:cond delay="600"/>
                                  </p:stCondLst>
                                  <p:childTnLst>
                                    <p:set>
                                      <p:cBhvr>
                                        <p:cTn id="2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45" grpId="0"/>
      <p:bldP spid="4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786D0-234E-0D4D-8896-99AC76553988}"/>
              </a:ext>
            </a:extLst>
          </p:cNvPr>
          <p:cNvSpPr>
            <a:spLocks noGrp="1"/>
          </p:cNvSpPr>
          <p:nvPr>
            <p:ph type="title"/>
          </p:nvPr>
        </p:nvSpPr>
        <p:spPr/>
        <p:txBody>
          <a:bodyPr/>
          <a:lstStyle/>
          <a:p>
            <a:r>
              <a:rPr lang="en-US" dirty="0"/>
              <a:t>What is Global Constant Copy Propagation?</a:t>
            </a:r>
          </a:p>
        </p:txBody>
      </p:sp>
      <p:sp>
        <p:nvSpPr>
          <p:cNvPr id="3" name="Content Placeholder 2">
            <a:extLst>
              <a:ext uri="{FF2B5EF4-FFF2-40B4-BE49-F238E27FC236}">
                <a16:creationId xmlns:a16="http://schemas.microsoft.com/office/drawing/2014/main" id="{BD04F804-A9CD-E340-9493-95FA1A567498}"/>
              </a:ext>
            </a:extLst>
          </p:cNvPr>
          <p:cNvSpPr>
            <a:spLocks noGrp="1"/>
          </p:cNvSpPr>
          <p:nvPr>
            <p:ph idx="1"/>
          </p:nvPr>
        </p:nvSpPr>
        <p:spPr/>
        <p:txBody>
          <a:bodyPr/>
          <a:lstStyle/>
          <a:p>
            <a:r>
              <a:rPr lang="en-US" dirty="0"/>
              <a:t>remember that </a:t>
            </a:r>
            <a:r>
              <a:rPr lang="en-US" b="1" dirty="0"/>
              <a:t>copy propagation </a:t>
            </a:r>
            <a:r>
              <a:rPr lang="en-US" dirty="0"/>
              <a:t>said that if we have an instruction of the form ”</a:t>
            </a:r>
            <a:r>
              <a:rPr lang="en-US" b="1" dirty="0">
                <a:latin typeface="Consolas" panose="020B0609020204030204" pitchFamily="49" charset="0"/>
                <a:cs typeface="Consolas" panose="020B0609020204030204" pitchFamily="49" charset="0"/>
              </a:rPr>
              <a:t>x = y</a:t>
            </a:r>
            <a:r>
              <a:rPr lang="en-US" dirty="0"/>
              <a:t>”, and </a:t>
            </a:r>
            <a:r>
              <a:rPr lang="en-US" b="1" dirty="0">
                <a:latin typeface="Consolas" panose="020B0609020204030204" pitchFamily="49" charset="0"/>
                <a:cs typeface="Consolas" panose="020B0609020204030204" pitchFamily="49" charset="0"/>
              </a:rPr>
              <a:t>x</a:t>
            </a:r>
            <a:r>
              <a:rPr lang="en-US" dirty="0"/>
              <a:t> is never reassigned, then we can replace all uses of </a:t>
            </a:r>
            <a:r>
              <a:rPr lang="en-US" b="1" dirty="0">
                <a:latin typeface="Consolas" panose="020B0609020204030204" pitchFamily="49" charset="0"/>
                <a:cs typeface="Consolas" panose="020B0609020204030204" pitchFamily="49" charset="0"/>
              </a:rPr>
              <a:t>x</a:t>
            </a:r>
            <a:r>
              <a:rPr lang="en-US" dirty="0"/>
              <a:t> with </a:t>
            </a:r>
            <a:r>
              <a:rPr lang="en-US" b="1" dirty="0">
                <a:latin typeface="Consolas" panose="020B0609020204030204" pitchFamily="49" charset="0"/>
                <a:cs typeface="Consolas" panose="020B0609020204030204" pitchFamily="49" charset="0"/>
              </a:rPr>
              <a:t>y</a:t>
            </a:r>
            <a:r>
              <a:rPr lang="en-US" dirty="0"/>
              <a:t>.</a:t>
            </a:r>
          </a:p>
          <a:p>
            <a:r>
              <a:rPr lang="en-US" b="1" dirty="0"/>
              <a:t>constant copy propagation </a:t>
            </a:r>
            <a:r>
              <a:rPr lang="en-US" dirty="0"/>
              <a:t>is the same thing, but only in the cases where the RHS of ”</a:t>
            </a:r>
            <a:r>
              <a:rPr lang="en-US" b="1" dirty="0">
                <a:latin typeface="Consolas" panose="020B0609020204030204" pitchFamily="49" charset="0"/>
                <a:cs typeface="Consolas" panose="020B0609020204030204" pitchFamily="49" charset="0"/>
              </a:rPr>
              <a:t>x = y</a:t>
            </a:r>
            <a:r>
              <a:rPr lang="en-US" dirty="0"/>
              <a:t>” is a constant.</a:t>
            </a:r>
          </a:p>
          <a:p>
            <a:pPr lvl="1"/>
            <a:r>
              <a:rPr lang="en-US" dirty="0"/>
              <a:t>and </a:t>
            </a:r>
            <a:r>
              <a:rPr lang="en-US" b="1" dirty="0"/>
              <a:t>global constant copy propagation </a:t>
            </a:r>
            <a:r>
              <a:rPr lang="en-US" dirty="0"/>
              <a:t>is that, but applied to the entire CFG instead of just one BB!</a:t>
            </a:r>
          </a:p>
          <a:p>
            <a:r>
              <a:rPr lang="en-US" dirty="0"/>
              <a:t>for the purposes of this example, we will </a:t>
            </a:r>
            <a:r>
              <a:rPr lang="en-US" i="1" dirty="0"/>
              <a:t>not</a:t>
            </a:r>
            <a:r>
              <a:rPr lang="en-US" dirty="0"/>
              <a:t> be using SSA, so variables </a:t>
            </a:r>
            <a:r>
              <a:rPr lang="en-US" b="1" dirty="0"/>
              <a:t>can be reassigned.</a:t>
            </a:r>
            <a:r>
              <a:rPr lang="en-US" dirty="0"/>
              <a:t> </a:t>
            </a:r>
          </a:p>
          <a:p>
            <a:pPr lvl="1"/>
            <a:r>
              <a:rPr lang="en-US" dirty="0"/>
              <a:t>essentially SSA makes it so every use has exactly one def, which simplifies some things…</a:t>
            </a:r>
          </a:p>
          <a:p>
            <a:pPr lvl="1"/>
            <a:r>
              <a:rPr lang="en-US" dirty="0"/>
              <a:t>but the details of SSA are too much for this course, so we’ll stick with non-SSA for these global optimizations.</a:t>
            </a:r>
          </a:p>
        </p:txBody>
      </p:sp>
      <p:sp>
        <p:nvSpPr>
          <p:cNvPr id="4" name="Slide Number Placeholder 3">
            <a:extLst>
              <a:ext uri="{FF2B5EF4-FFF2-40B4-BE49-F238E27FC236}">
                <a16:creationId xmlns:a16="http://schemas.microsoft.com/office/drawing/2014/main" id="{470371BF-F029-9B46-9975-74D587A02F90}"/>
              </a:ext>
            </a:extLst>
          </p:cNvPr>
          <p:cNvSpPr>
            <a:spLocks noGrp="1"/>
          </p:cNvSpPr>
          <p:nvPr>
            <p:ph type="sldNum" sz="quarter" idx="12"/>
          </p:nvPr>
        </p:nvSpPr>
        <p:spPr/>
        <p:txBody>
          <a:bodyPr/>
          <a:lstStyle/>
          <a:p>
            <a:fld id="{3552B95B-556F-44BD-91A5-D80C1B9E2BB3}" type="slidenum">
              <a:rPr lang="en-US" smtClean="0"/>
              <a:pPr/>
              <a:t>19</a:t>
            </a:fld>
            <a:endParaRPr lang="en-US"/>
          </a:p>
        </p:txBody>
      </p:sp>
    </p:spTree>
    <p:extLst>
      <p:ext uri="{BB962C8B-B14F-4D97-AF65-F5344CB8AC3E}">
        <p14:creationId xmlns:p14="http://schemas.microsoft.com/office/powerpoint/2010/main" val="24574871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93316-2CF7-5943-9DF7-E3B48C412709}"/>
              </a:ext>
            </a:extLst>
          </p:cNvPr>
          <p:cNvSpPr>
            <a:spLocks noGrp="1"/>
          </p:cNvSpPr>
          <p:nvPr>
            <p:ph type="title"/>
          </p:nvPr>
        </p:nvSpPr>
        <p:spPr/>
        <p:txBody>
          <a:bodyPr/>
          <a:lstStyle/>
          <a:p>
            <a:r>
              <a:rPr lang="en-US" dirty="0"/>
              <a:t>Global Constant Copy Propagation</a:t>
            </a:r>
          </a:p>
        </p:txBody>
      </p:sp>
      <p:sp>
        <p:nvSpPr>
          <p:cNvPr id="3" name="Content Placeholder 2">
            <a:extLst>
              <a:ext uri="{FF2B5EF4-FFF2-40B4-BE49-F238E27FC236}">
                <a16:creationId xmlns:a16="http://schemas.microsoft.com/office/drawing/2014/main" id="{F04A06EE-109D-7F48-BEDC-CEDB3F90C9D5}"/>
              </a:ext>
            </a:extLst>
          </p:cNvPr>
          <p:cNvSpPr>
            <a:spLocks noGrp="1"/>
          </p:cNvSpPr>
          <p:nvPr>
            <p:ph idx="1"/>
          </p:nvPr>
        </p:nvSpPr>
        <p:spPr>
          <a:xfrm>
            <a:off x="152400" y="495301"/>
            <a:ext cx="8991600" cy="1142999"/>
          </a:xfrm>
        </p:spPr>
        <p:txBody>
          <a:bodyPr/>
          <a:lstStyle/>
          <a:p>
            <a:r>
              <a:rPr lang="en-US" i="1" dirty="0"/>
              <a:t>if </a:t>
            </a:r>
            <a:r>
              <a:rPr lang="en-US" dirty="0"/>
              <a:t>we are looking at a use of </a:t>
            </a:r>
            <a:r>
              <a:rPr lang="en-US" b="1" dirty="0"/>
              <a:t>x…</a:t>
            </a:r>
          </a:p>
          <a:p>
            <a:r>
              <a:rPr lang="en-US" i="1" dirty="0"/>
              <a:t>and,</a:t>
            </a:r>
            <a:r>
              <a:rPr lang="en-US" b="1" i="1" dirty="0"/>
              <a:t> </a:t>
            </a:r>
            <a:r>
              <a:rPr lang="en-US" b="1" dirty="0"/>
              <a:t>every</a:t>
            </a:r>
            <a:r>
              <a:rPr lang="en-US" dirty="0"/>
              <a:t> def for that use of </a:t>
            </a:r>
            <a:r>
              <a:rPr lang="en-US" b="1" dirty="0">
                <a:latin typeface="Consolas" panose="020B0609020204030204" pitchFamily="49" charset="0"/>
                <a:cs typeface="Consolas" panose="020B0609020204030204" pitchFamily="49" charset="0"/>
              </a:rPr>
              <a:t>x</a:t>
            </a:r>
            <a:r>
              <a:rPr lang="en-US" dirty="0"/>
              <a:t> set it to some constant </a:t>
            </a:r>
            <a:r>
              <a:rPr lang="en-US" b="1" dirty="0">
                <a:latin typeface="Consolas" panose="020B0609020204030204" pitchFamily="49" charset="0"/>
                <a:cs typeface="Consolas" panose="020B0609020204030204" pitchFamily="49" charset="0"/>
              </a:rPr>
              <a:t>C</a:t>
            </a:r>
            <a:r>
              <a:rPr lang="en-US" dirty="0"/>
              <a:t>…</a:t>
            </a:r>
          </a:p>
          <a:p>
            <a:r>
              <a:rPr lang="en-US" i="1" dirty="0"/>
              <a:t>then, </a:t>
            </a:r>
            <a:r>
              <a:rPr lang="en-US" dirty="0"/>
              <a:t>we can replace that use of </a:t>
            </a:r>
            <a:r>
              <a:rPr lang="en-US" b="1" dirty="0">
                <a:latin typeface="Consolas" panose="020B0609020204030204" pitchFamily="49" charset="0"/>
                <a:cs typeface="Consolas" panose="020B0609020204030204" pitchFamily="49" charset="0"/>
              </a:rPr>
              <a:t>x</a:t>
            </a:r>
            <a:r>
              <a:rPr lang="en-US" dirty="0"/>
              <a:t> with that constant </a:t>
            </a:r>
            <a:r>
              <a:rPr lang="en-US" b="1" dirty="0">
                <a:latin typeface="Consolas" panose="020B0609020204030204" pitchFamily="49" charset="0"/>
                <a:cs typeface="Consolas" panose="020B0609020204030204" pitchFamily="49" charset="0"/>
              </a:rPr>
              <a:t>C</a:t>
            </a:r>
            <a:r>
              <a:rPr lang="en-US" dirty="0"/>
              <a:t>.</a:t>
            </a:r>
          </a:p>
        </p:txBody>
      </p:sp>
      <p:sp>
        <p:nvSpPr>
          <p:cNvPr id="4" name="Slide Number Placeholder 3">
            <a:extLst>
              <a:ext uri="{FF2B5EF4-FFF2-40B4-BE49-F238E27FC236}">
                <a16:creationId xmlns:a16="http://schemas.microsoft.com/office/drawing/2014/main" id="{266CF23A-3184-5041-984A-6DB742565F39}"/>
              </a:ext>
            </a:extLst>
          </p:cNvPr>
          <p:cNvSpPr>
            <a:spLocks noGrp="1"/>
          </p:cNvSpPr>
          <p:nvPr>
            <p:ph type="sldNum" sz="quarter" idx="12"/>
          </p:nvPr>
        </p:nvSpPr>
        <p:spPr/>
        <p:txBody>
          <a:bodyPr/>
          <a:lstStyle/>
          <a:p>
            <a:fld id="{3552B95B-556F-44BD-91A5-D80C1B9E2BB3}" type="slidenum">
              <a:rPr lang="en-US" smtClean="0"/>
              <a:pPr/>
              <a:t>20</a:t>
            </a:fld>
            <a:endParaRPr lang="en-US"/>
          </a:p>
        </p:txBody>
      </p:sp>
      <p:grpSp>
        <p:nvGrpSpPr>
          <p:cNvPr id="5" name="Group 4">
            <a:extLst>
              <a:ext uri="{FF2B5EF4-FFF2-40B4-BE49-F238E27FC236}">
                <a16:creationId xmlns:a16="http://schemas.microsoft.com/office/drawing/2014/main" id="{173517BE-FAB5-8A46-A6FA-4777412CEFA3}"/>
              </a:ext>
            </a:extLst>
          </p:cNvPr>
          <p:cNvGrpSpPr/>
          <p:nvPr/>
        </p:nvGrpSpPr>
        <p:grpSpPr>
          <a:xfrm>
            <a:off x="152400" y="1780585"/>
            <a:ext cx="2701522" cy="2159990"/>
            <a:chOff x="228600" y="1409700"/>
            <a:chExt cx="2701522" cy="2159990"/>
          </a:xfrm>
        </p:grpSpPr>
        <p:sp>
          <p:nvSpPr>
            <p:cNvPr id="6" name="TextBox 5">
              <a:extLst>
                <a:ext uri="{FF2B5EF4-FFF2-40B4-BE49-F238E27FC236}">
                  <a16:creationId xmlns:a16="http://schemas.microsoft.com/office/drawing/2014/main" id="{5EA14ABD-DF94-9E46-ACD4-AFD036F6C363}"/>
                </a:ext>
              </a:extLst>
            </p:cNvPr>
            <p:cNvSpPr txBox="1"/>
            <p:nvPr/>
          </p:nvSpPr>
          <p:spPr>
            <a:xfrm>
              <a:off x="837883" y="1456425"/>
              <a:ext cx="2092239" cy="584775"/>
            </a:xfrm>
            <a:prstGeom prst="rect">
              <a:avLst/>
            </a:prstGeom>
            <a:solidFill>
              <a:schemeClr val="accent6">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25</a:t>
              </a:r>
            </a:p>
            <a:p>
              <a:r>
                <a:rPr lang="en-US" sz="1600" b="1" dirty="0">
                  <a:solidFill>
                    <a:srgbClr val="FF0000"/>
                  </a:solidFill>
                  <a:latin typeface="Consolas" panose="020B0609020204030204" pitchFamily="49" charset="0"/>
                  <a:cs typeface="Consolas" panose="020B0609020204030204" pitchFamily="49" charset="0"/>
                </a:rPr>
                <a:t>if</a:t>
              </a:r>
              <a:r>
                <a:rPr lang="en-US" sz="1600" b="1" dirty="0">
                  <a:latin typeface="Consolas" panose="020B0609020204030204" pitchFamily="49" charset="0"/>
                  <a:cs typeface="Consolas" panose="020B0609020204030204" pitchFamily="49" charset="0"/>
                </a:rPr>
                <a:t> a bb1 </a:t>
              </a:r>
              <a:r>
                <a:rPr lang="en-US" sz="1600" b="1" dirty="0">
                  <a:solidFill>
                    <a:srgbClr val="FF0000"/>
                  </a:solidFill>
                  <a:latin typeface="Consolas" panose="020B0609020204030204" pitchFamily="49" charset="0"/>
                  <a:cs typeface="Consolas" panose="020B0609020204030204" pitchFamily="49" charset="0"/>
                </a:rPr>
                <a:t>else</a:t>
              </a:r>
              <a:r>
                <a:rPr lang="en-US" sz="1600" b="1" dirty="0">
                  <a:latin typeface="Consolas" panose="020B0609020204030204" pitchFamily="49" charset="0"/>
                  <a:cs typeface="Consolas" panose="020B0609020204030204" pitchFamily="49" charset="0"/>
                </a:rPr>
                <a:t> bb2</a:t>
              </a:r>
            </a:p>
          </p:txBody>
        </p:sp>
        <p:sp>
          <p:nvSpPr>
            <p:cNvPr id="7" name="TextBox 6">
              <a:extLst>
                <a:ext uri="{FF2B5EF4-FFF2-40B4-BE49-F238E27FC236}">
                  <a16:creationId xmlns:a16="http://schemas.microsoft.com/office/drawing/2014/main" id="{5867CD5C-7266-3E46-AA5B-E2688CE8B25A}"/>
                </a:ext>
              </a:extLst>
            </p:cNvPr>
            <p:cNvSpPr txBox="1"/>
            <p:nvPr/>
          </p:nvSpPr>
          <p:spPr>
            <a:xfrm>
              <a:off x="1959985" y="2984915"/>
              <a:ext cx="970137" cy="584775"/>
            </a:xfrm>
            <a:prstGeom prst="rect">
              <a:avLst/>
            </a:prstGeom>
            <a:solidFill>
              <a:schemeClr val="accent2">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$t0 = x</a:t>
              </a:r>
            </a:p>
            <a:p>
              <a:r>
                <a:rPr lang="en-US" sz="1600" b="1" dirty="0">
                  <a:solidFill>
                    <a:srgbClr val="FF0000"/>
                  </a:solidFill>
                  <a:latin typeface="Consolas" panose="020B0609020204030204" pitchFamily="49" charset="0"/>
                  <a:cs typeface="Consolas" panose="020B0609020204030204" pitchFamily="49" charset="0"/>
                </a:rPr>
                <a:t>return</a:t>
              </a:r>
            </a:p>
          </p:txBody>
        </p:sp>
        <p:sp>
          <p:nvSpPr>
            <p:cNvPr id="8" name="TextBox 7">
              <a:extLst>
                <a:ext uri="{FF2B5EF4-FFF2-40B4-BE49-F238E27FC236}">
                  <a16:creationId xmlns:a16="http://schemas.microsoft.com/office/drawing/2014/main" id="{0FDC6CF4-4AB4-BB48-9E93-D689FE459B96}"/>
                </a:ext>
              </a:extLst>
            </p:cNvPr>
            <p:cNvSpPr txBox="1"/>
            <p:nvPr/>
          </p:nvSpPr>
          <p:spPr>
            <a:xfrm>
              <a:off x="1344856" y="2951327"/>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bb2:</a:t>
              </a:r>
            </a:p>
          </p:txBody>
        </p:sp>
        <p:sp>
          <p:nvSpPr>
            <p:cNvPr id="9" name="TextBox 8">
              <a:extLst>
                <a:ext uri="{FF2B5EF4-FFF2-40B4-BE49-F238E27FC236}">
                  <a16:creationId xmlns:a16="http://schemas.microsoft.com/office/drawing/2014/main" id="{DD1B1E2C-3AB9-A342-82A5-75B80801FA1B}"/>
                </a:ext>
              </a:extLst>
            </p:cNvPr>
            <p:cNvSpPr txBox="1"/>
            <p:nvPr/>
          </p:nvSpPr>
          <p:spPr>
            <a:xfrm>
              <a:off x="228600" y="1409700"/>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bb0:</a:t>
              </a:r>
            </a:p>
          </p:txBody>
        </p:sp>
        <p:sp>
          <p:nvSpPr>
            <p:cNvPr id="10" name="TextBox 9">
              <a:extLst>
                <a:ext uri="{FF2B5EF4-FFF2-40B4-BE49-F238E27FC236}">
                  <a16:creationId xmlns:a16="http://schemas.microsoft.com/office/drawing/2014/main" id="{552B306C-DCA2-6A4C-8324-66C951EF312F}"/>
                </a:ext>
              </a:extLst>
            </p:cNvPr>
            <p:cNvSpPr txBox="1"/>
            <p:nvPr/>
          </p:nvSpPr>
          <p:spPr>
            <a:xfrm>
              <a:off x="837884" y="2294625"/>
              <a:ext cx="1122096" cy="584775"/>
            </a:xfrm>
            <a:prstGeom prst="rect">
              <a:avLst/>
            </a:prstGeom>
            <a:solidFill>
              <a:schemeClr val="accent1">
                <a:lumMod val="40000"/>
                <a:lumOff val="60000"/>
              </a:schemeClr>
            </a:solidFill>
          </p:spPr>
          <p:txBody>
            <a:bodyPr wrap="square" rtlCol="0">
              <a:spAutoFit/>
            </a:bodyPr>
            <a:lstStyle/>
            <a:p>
              <a:r>
                <a:rPr lang="en-US" sz="1600" b="1" dirty="0">
                  <a:latin typeface="Consolas" panose="020B0609020204030204" pitchFamily="49" charset="0"/>
                  <a:cs typeface="Consolas" panose="020B0609020204030204" pitchFamily="49" charset="0"/>
                </a:rPr>
                <a:t>f()</a:t>
              </a:r>
            </a:p>
            <a:p>
              <a:r>
                <a:rPr lang="en-US" sz="1600" b="1" dirty="0" err="1">
                  <a:solidFill>
                    <a:srgbClr val="FF0000"/>
                  </a:solidFill>
                  <a:latin typeface="Consolas" panose="020B0609020204030204" pitchFamily="49" charset="0"/>
                  <a:cs typeface="Consolas" panose="020B0609020204030204" pitchFamily="49" charset="0"/>
                </a:rPr>
                <a:t>goto</a:t>
              </a:r>
              <a:r>
                <a:rPr lang="en-US" sz="1600" b="1" dirty="0">
                  <a:latin typeface="Consolas" panose="020B0609020204030204" pitchFamily="49" charset="0"/>
                  <a:cs typeface="Consolas" panose="020B0609020204030204" pitchFamily="49" charset="0"/>
                </a:rPr>
                <a:t> bb2</a:t>
              </a:r>
            </a:p>
          </p:txBody>
        </p:sp>
        <p:sp>
          <p:nvSpPr>
            <p:cNvPr id="11" name="TextBox 10">
              <a:extLst>
                <a:ext uri="{FF2B5EF4-FFF2-40B4-BE49-F238E27FC236}">
                  <a16:creationId xmlns:a16="http://schemas.microsoft.com/office/drawing/2014/main" id="{8CA011FB-EBBF-0142-9275-FFCA4AFE2F81}"/>
                </a:ext>
              </a:extLst>
            </p:cNvPr>
            <p:cNvSpPr txBox="1"/>
            <p:nvPr/>
          </p:nvSpPr>
          <p:spPr>
            <a:xfrm>
              <a:off x="228600" y="2247900"/>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bb1:</a:t>
              </a:r>
            </a:p>
          </p:txBody>
        </p:sp>
        <p:cxnSp>
          <p:nvCxnSpPr>
            <p:cNvPr id="12" name="Straight Arrow Connector 11">
              <a:extLst>
                <a:ext uri="{FF2B5EF4-FFF2-40B4-BE49-F238E27FC236}">
                  <a16:creationId xmlns:a16="http://schemas.microsoft.com/office/drawing/2014/main" id="{7848FF1F-2A45-434B-8D14-9464F15B14E7}"/>
                </a:ext>
              </a:extLst>
            </p:cNvPr>
            <p:cNvCxnSpPr>
              <a:cxnSpLocks/>
            </p:cNvCxnSpPr>
            <p:nvPr/>
          </p:nvCxnSpPr>
          <p:spPr>
            <a:xfrm>
              <a:off x="1633396" y="2040939"/>
              <a:ext cx="0" cy="25368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BE087F8-89A9-6240-9A77-36487F18864B}"/>
                </a:ext>
              </a:extLst>
            </p:cNvPr>
            <p:cNvCxnSpPr>
              <a:cxnSpLocks/>
            </p:cNvCxnSpPr>
            <p:nvPr/>
          </p:nvCxnSpPr>
          <p:spPr>
            <a:xfrm>
              <a:off x="2627176" y="2017325"/>
              <a:ext cx="0" cy="9675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26">
              <a:extLst>
                <a:ext uri="{FF2B5EF4-FFF2-40B4-BE49-F238E27FC236}">
                  <a16:creationId xmlns:a16="http://schemas.microsoft.com/office/drawing/2014/main" id="{D8BE8B8B-7F0C-C84A-ADA4-56693E894449}"/>
                </a:ext>
              </a:extLst>
            </p:cNvPr>
            <p:cNvCxnSpPr>
              <a:cxnSpLocks/>
              <a:endCxn id="7" idx="1"/>
            </p:cNvCxnSpPr>
            <p:nvPr/>
          </p:nvCxnSpPr>
          <p:spPr>
            <a:xfrm>
              <a:off x="1193319" y="2879399"/>
              <a:ext cx="766666" cy="397904"/>
            </a:xfrm>
            <a:prstGeom prst="bentConnector3">
              <a:avLst>
                <a:gd name="adj1" fmla="val -1299"/>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4DEC5E47-560A-4448-88DF-C17307389D64}"/>
              </a:ext>
            </a:extLst>
          </p:cNvPr>
          <p:cNvGrpSpPr/>
          <p:nvPr/>
        </p:nvGrpSpPr>
        <p:grpSpPr>
          <a:xfrm>
            <a:off x="2938391" y="1780585"/>
            <a:ext cx="2701522" cy="2159990"/>
            <a:chOff x="228600" y="1409700"/>
            <a:chExt cx="2701522" cy="2159990"/>
          </a:xfrm>
        </p:grpSpPr>
        <p:sp>
          <p:nvSpPr>
            <p:cNvPr id="16" name="TextBox 15">
              <a:extLst>
                <a:ext uri="{FF2B5EF4-FFF2-40B4-BE49-F238E27FC236}">
                  <a16:creationId xmlns:a16="http://schemas.microsoft.com/office/drawing/2014/main" id="{4BC0F6DF-6A23-2043-82B3-40F6E0847E92}"/>
                </a:ext>
              </a:extLst>
            </p:cNvPr>
            <p:cNvSpPr txBox="1"/>
            <p:nvPr/>
          </p:nvSpPr>
          <p:spPr>
            <a:xfrm>
              <a:off x="837883" y="1456425"/>
              <a:ext cx="2092239" cy="584775"/>
            </a:xfrm>
            <a:prstGeom prst="rect">
              <a:avLst/>
            </a:prstGeom>
            <a:solidFill>
              <a:schemeClr val="accent6">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25</a:t>
              </a:r>
            </a:p>
            <a:p>
              <a:r>
                <a:rPr lang="en-US" sz="1600" b="1" dirty="0">
                  <a:solidFill>
                    <a:srgbClr val="FF0000"/>
                  </a:solidFill>
                  <a:latin typeface="Consolas" panose="020B0609020204030204" pitchFamily="49" charset="0"/>
                  <a:cs typeface="Consolas" panose="020B0609020204030204" pitchFamily="49" charset="0"/>
                </a:rPr>
                <a:t>if</a:t>
              </a:r>
              <a:r>
                <a:rPr lang="en-US" sz="1600" b="1" dirty="0">
                  <a:latin typeface="Consolas" panose="020B0609020204030204" pitchFamily="49" charset="0"/>
                  <a:cs typeface="Consolas" panose="020B0609020204030204" pitchFamily="49" charset="0"/>
                </a:rPr>
                <a:t> a bb1 </a:t>
              </a:r>
              <a:r>
                <a:rPr lang="en-US" sz="1600" b="1" dirty="0">
                  <a:solidFill>
                    <a:srgbClr val="FF0000"/>
                  </a:solidFill>
                  <a:latin typeface="Consolas" panose="020B0609020204030204" pitchFamily="49" charset="0"/>
                  <a:cs typeface="Consolas" panose="020B0609020204030204" pitchFamily="49" charset="0"/>
                </a:rPr>
                <a:t>else</a:t>
              </a:r>
              <a:r>
                <a:rPr lang="en-US" sz="1600" b="1" dirty="0">
                  <a:latin typeface="Consolas" panose="020B0609020204030204" pitchFamily="49" charset="0"/>
                  <a:cs typeface="Consolas" panose="020B0609020204030204" pitchFamily="49" charset="0"/>
                </a:rPr>
                <a:t> bb2</a:t>
              </a:r>
            </a:p>
          </p:txBody>
        </p:sp>
        <p:sp>
          <p:nvSpPr>
            <p:cNvPr id="17" name="TextBox 16">
              <a:extLst>
                <a:ext uri="{FF2B5EF4-FFF2-40B4-BE49-F238E27FC236}">
                  <a16:creationId xmlns:a16="http://schemas.microsoft.com/office/drawing/2014/main" id="{94F60DB9-C10F-2349-976A-D0D461454FE4}"/>
                </a:ext>
              </a:extLst>
            </p:cNvPr>
            <p:cNvSpPr txBox="1"/>
            <p:nvPr/>
          </p:nvSpPr>
          <p:spPr>
            <a:xfrm>
              <a:off x="1959985" y="2984915"/>
              <a:ext cx="970137" cy="584775"/>
            </a:xfrm>
            <a:prstGeom prst="rect">
              <a:avLst/>
            </a:prstGeom>
            <a:solidFill>
              <a:schemeClr val="accent2">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$t0 = x</a:t>
              </a:r>
            </a:p>
            <a:p>
              <a:r>
                <a:rPr lang="en-US" sz="1600" b="1" dirty="0">
                  <a:solidFill>
                    <a:srgbClr val="FF0000"/>
                  </a:solidFill>
                  <a:latin typeface="Consolas" panose="020B0609020204030204" pitchFamily="49" charset="0"/>
                  <a:cs typeface="Consolas" panose="020B0609020204030204" pitchFamily="49" charset="0"/>
                </a:rPr>
                <a:t>return</a:t>
              </a:r>
            </a:p>
          </p:txBody>
        </p:sp>
        <p:sp>
          <p:nvSpPr>
            <p:cNvPr id="18" name="TextBox 17">
              <a:extLst>
                <a:ext uri="{FF2B5EF4-FFF2-40B4-BE49-F238E27FC236}">
                  <a16:creationId xmlns:a16="http://schemas.microsoft.com/office/drawing/2014/main" id="{6C8FF85B-931B-BC41-B77E-F0C131268D12}"/>
                </a:ext>
              </a:extLst>
            </p:cNvPr>
            <p:cNvSpPr txBox="1"/>
            <p:nvPr/>
          </p:nvSpPr>
          <p:spPr>
            <a:xfrm>
              <a:off x="1344856" y="2951327"/>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bb2:</a:t>
              </a:r>
            </a:p>
          </p:txBody>
        </p:sp>
        <p:sp>
          <p:nvSpPr>
            <p:cNvPr id="19" name="TextBox 18">
              <a:extLst>
                <a:ext uri="{FF2B5EF4-FFF2-40B4-BE49-F238E27FC236}">
                  <a16:creationId xmlns:a16="http://schemas.microsoft.com/office/drawing/2014/main" id="{C4ECE616-C523-3047-B5AB-70580366DFAA}"/>
                </a:ext>
              </a:extLst>
            </p:cNvPr>
            <p:cNvSpPr txBox="1"/>
            <p:nvPr/>
          </p:nvSpPr>
          <p:spPr>
            <a:xfrm>
              <a:off x="228600" y="1409700"/>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bb0:</a:t>
              </a:r>
            </a:p>
          </p:txBody>
        </p:sp>
        <p:sp>
          <p:nvSpPr>
            <p:cNvPr id="20" name="TextBox 19">
              <a:extLst>
                <a:ext uri="{FF2B5EF4-FFF2-40B4-BE49-F238E27FC236}">
                  <a16:creationId xmlns:a16="http://schemas.microsoft.com/office/drawing/2014/main" id="{E89AA999-7D94-DD42-9BD4-2D830E2DCBA7}"/>
                </a:ext>
              </a:extLst>
            </p:cNvPr>
            <p:cNvSpPr txBox="1"/>
            <p:nvPr/>
          </p:nvSpPr>
          <p:spPr>
            <a:xfrm>
              <a:off x="837884" y="2294625"/>
              <a:ext cx="1122096" cy="584775"/>
            </a:xfrm>
            <a:prstGeom prst="rect">
              <a:avLst/>
            </a:prstGeom>
            <a:solidFill>
              <a:schemeClr val="accent1">
                <a:lumMod val="40000"/>
                <a:lumOff val="60000"/>
              </a:schemeClr>
            </a:solidFill>
          </p:spPr>
          <p:txBody>
            <a:bodyPr wrap="squar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10</a:t>
              </a:r>
            </a:p>
            <a:p>
              <a:r>
                <a:rPr lang="en-US" sz="1600" b="1" dirty="0" err="1">
                  <a:solidFill>
                    <a:srgbClr val="FF0000"/>
                  </a:solidFill>
                  <a:latin typeface="Consolas" panose="020B0609020204030204" pitchFamily="49" charset="0"/>
                  <a:cs typeface="Consolas" panose="020B0609020204030204" pitchFamily="49" charset="0"/>
                </a:rPr>
                <a:t>goto</a:t>
              </a:r>
              <a:r>
                <a:rPr lang="en-US" sz="1600" b="1" dirty="0">
                  <a:latin typeface="Consolas" panose="020B0609020204030204" pitchFamily="49" charset="0"/>
                  <a:cs typeface="Consolas" panose="020B0609020204030204" pitchFamily="49" charset="0"/>
                </a:rPr>
                <a:t> bb2</a:t>
              </a:r>
            </a:p>
          </p:txBody>
        </p:sp>
        <p:sp>
          <p:nvSpPr>
            <p:cNvPr id="21" name="TextBox 20">
              <a:extLst>
                <a:ext uri="{FF2B5EF4-FFF2-40B4-BE49-F238E27FC236}">
                  <a16:creationId xmlns:a16="http://schemas.microsoft.com/office/drawing/2014/main" id="{6EE161CD-3639-8A49-8D02-E0903D08AA0F}"/>
                </a:ext>
              </a:extLst>
            </p:cNvPr>
            <p:cNvSpPr txBox="1"/>
            <p:nvPr/>
          </p:nvSpPr>
          <p:spPr>
            <a:xfrm>
              <a:off x="228600" y="2247900"/>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bb1:</a:t>
              </a:r>
            </a:p>
          </p:txBody>
        </p:sp>
        <p:cxnSp>
          <p:nvCxnSpPr>
            <p:cNvPr id="22" name="Straight Arrow Connector 21">
              <a:extLst>
                <a:ext uri="{FF2B5EF4-FFF2-40B4-BE49-F238E27FC236}">
                  <a16:creationId xmlns:a16="http://schemas.microsoft.com/office/drawing/2014/main" id="{1291C5B6-ECAA-784E-B2CB-1EF8F434F154}"/>
                </a:ext>
              </a:extLst>
            </p:cNvPr>
            <p:cNvCxnSpPr>
              <a:cxnSpLocks/>
            </p:cNvCxnSpPr>
            <p:nvPr/>
          </p:nvCxnSpPr>
          <p:spPr>
            <a:xfrm>
              <a:off x="1633396" y="2040939"/>
              <a:ext cx="0" cy="25368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17BA497-D6B7-DF49-8909-7712F1469F32}"/>
                </a:ext>
              </a:extLst>
            </p:cNvPr>
            <p:cNvCxnSpPr>
              <a:cxnSpLocks/>
            </p:cNvCxnSpPr>
            <p:nvPr/>
          </p:nvCxnSpPr>
          <p:spPr>
            <a:xfrm>
              <a:off x="2627176" y="2017325"/>
              <a:ext cx="0" cy="9675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6">
              <a:extLst>
                <a:ext uri="{FF2B5EF4-FFF2-40B4-BE49-F238E27FC236}">
                  <a16:creationId xmlns:a16="http://schemas.microsoft.com/office/drawing/2014/main" id="{9D253B6C-765D-174C-A09C-32E16C08D720}"/>
                </a:ext>
              </a:extLst>
            </p:cNvPr>
            <p:cNvCxnSpPr>
              <a:cxnSpLocks/>
              <a:endCxn id="17" idx="1"/>
            </p:cNvCxnSpPr>
            <p:nvPr/>
          </p:nvCxnSpPr>
          <p:spPr>
            <a:xfrm>
              <a:off x="1193319" y="2879399"/>
              <a:ext cx="766666" cy="397904"/>
            </a:xfrm>
            <a:prstGeom prst="bentConnector3">
              <a:avLst>
                <a:gd name="adj1" fmla="val -1299"/>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03BFFD84-1B91-7D4F-9268-CA24D882D191}"/>
              </a:ext>
            </a:extLst>
          </p:cNvPr>
          <p:cNvGrpSpPr/>
          <p:nvPr/>
        </p:nvGrpSpPr>
        <p:grpSpPr>
          <a:xfrm>
            <a:off x="5605880" y="1780585"/>
            <a:ext cx="3462760" cy="2448515"/>
            <a:chOff x="4593220" y="1181100"/>
            <a:chExt cx="3462760" cy="2448515"/>
          </a:xfrm>
        </p:grpSpPr>
        <p:sp>
          <p:nvSpPr>
            <p:cNvPr id="26" name="TextBox 25">
              <a:extLst>
                <a:ext uri="{FF2B5EF4-FFF2-40B4-BE49-F238E27FC236}">
                  <a16:creationId xmlns:a16="http://schemas.microsoft.com/office/drawing/2014/main" id="{B3AE29F9-1739-5149-A55B-9E37E5A2DBE3}"/>
                </a:ext>
              </a:extLst>
            </p:cNvPr>
            <p:cNvSpPr txBox="1"/>
            <p:nvPr/>
          </p:nvSpPr>
          <p:spPr>
            <a:xfrm>
              <a:off x="5446576" y="1227825"/>
              <a:ext cx="2092239" cy="584775"/>
            </a:xfrm>
            <a:prstGeom prst="rect">
              <a:avLst/>
            </a:prstGeom>
            <a:solidFill>
              <a:schemeClr val="accent6">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25</a:t>
              </a:r>
            </a:p>
            <a:p>
              <a:r>
                <a:rPr lang="en-US" sz="1600" b="1" dirty="0">
                  <a:solidFill>
                    <a:srgbClr val="FF0000"/>
                  </a:solidFill>
                  <a:latin typeface="Consolas" panose="020B0609020204030204" pitchFamily="49" charset="0"/>
                  <a:cs typeface="Consolas" panose="020B0609020204030204" pitchFamily="49" charset="0"/>
                </a:rPr>
                <a:t>if</a:t>
              </a:r>
              <a:r>
                <a:rPr lang="en-US" sz="1600" b="1" dirty="0">
                  <a:latin typeface="Consolas" panose="020B0609020204030204" pitchFamily="49" charset="0"/>
                  <a:cs typeface="Consolas" panose="020B0609020204030204" pitchFamily="49" charset="0"/>
                </a:rPr>
                <a:t> a bb1 </a:t>
              </a:r>
              <a:r>
                <a:rPr lang="en-US" sz="1600" b="1" dirty="0">
                  <a:solidFill>
                    <a:srgbClr val="FF0000"/>
                  </a:solidFill>
                  <a:latin typeface="Consolas" panose="020B0609020204030204" pitchFamily="49" charset="0"/>
                  <a:cs typeface="Consolas" panose="020B0609020204030204" pitchFamily="49" charset="0"/>
                </a:rPr>
                <a:t>else</a:t>
              </a:r>
              <a:r>
                <a:rPr lang="en-US" sz="1600" b="1" dirty="0">
                  <a:latin typeface="Consolas" panose="020B0609020204030204" pitchFamily="49" charset="0"/>
                  <a:cs typeface="Consolas" panose="020B0609020204030204" pitchFamily="49" charset="0"/>
                </a:rPr>
                <a:t> bb2</a:t>
              </a:r>
            </a:p>
          </p:txBody>
        </p:sp>
        <p:sp>
          <p:nvSpPr>
            <p:cNvPr id="27" name="TextBox 26">
              <a:extLst>
                <a:ext uri="{FF2B5EF4-FFF2-40B4-BE49-F238E27FC236}">
                  <a16:creationId xmlns:a16="http://schemas.microsoft.com/office/drawing/2014/main" id="{FBA70097-066D-9B4B-9FF2-91935717EE3C}"/>
                </a:ext>
              </a:extLst>
            </p:cNvPr>
            <p:cNvSpPr txBox="1"/>
            <p:nvPr/>
          </p:nvSpPr>
          <p:spPr>
            <a:xfrm>
              <a:off x="6103374" y="3044840"/>
              <a:ext cx="970137" cy="584775"/>
            </a:xfrm>
            <a:prstGeom prst="rect">
              <a:avLst/>
            </a:prstGeom>
            <a:solidFill>
              <a:schemeClr val="accent2">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$t0 = x</a:t>
              </a:r>
            </a:p>
            <a:p>
              <a:r>
                <a:rPr lang="en-US" sz="1600" b="1" dirty="0">
                  <a:solidFill>
                    <a:srgbClr val="FF0000"/>
                  </a:solidFill>
                  <a:latin typeface="Consolas" panose="020B0609020204030204" pitchFamily="49" charset="0"/>
                  <a:cs typeface="Consolas" panose="020B0609020204030204" pitchFamily="49" charset="0"/>
                </a:rPr>
                <a:t>return</a:t>
              </a:r>
            </a:p>
          </p:txBody>
        </p:sp>
        <p:sp>
          <p:nvSpPr>
            <p:cNvPr id="28" name="TextBox 27">
              <a:extLst>
                <a:ext uri="{FF2B5EF4-FFF2-40B4-BE49-F238E27FC236}">
                  <a16:creationId xmlns:a16="http://schemas.microsoft.com/office/drawing/2014/main" id="{C2E24989-725B-2F48-9181-AD19B46D2863}"/>
                </a:ext>
              </a:extLst>
            </p:cNvPr>
            <p:cNvSpPr txBox="1"/>
            <p:nvPr/>
          </p:nvSpPr>
          <p:spPr>
            <a:xfrm>
              <a:off x="5488245" y="3011252"/>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bb3:</a:t>
              </a:r>
            </a:p>
          </p:txBody>
        </p:sp>
        <p:sp>
          <p:nvSpPr>
            <p:cNvPr id="29" name="TextBox 28">
              <a:extLst>
                <a:ext uri="{FF2B5EF4-FFF2-40B4-BE49-F238E27FC236}">
                  <a16:creationId xmlns:a16="http://schemas.microsoft.com/office/drawing/2014/main" id="{FB04A668-3FBF-3644-849D-C67198BAA843}"/>
                </a:ext>
              </a:extLst>
            </p:cNvPr>
            <p:cNvSpPr txBox="1"/>
            <p:nvPr/>
          </p:nvSpPr>
          <p:spPr>
            <a:xfrm>
              <a:off x="4837293" y="1181100"/>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bb0:</a:t>
              </a:r>
            </a:p>
          </p:txBody>
        </p:sp>
        <p:sp>
          <p:nvSpPr>
            <p:cNvPr id="30" name="TextBox 29">
              <a:extLst>
                <a:ext uri="{FF2B5EF4-FFF2-40B4-BE49-F238E27FC236}">
                  <a16:creationId xmlns:a16="http://schemas.microsoft.com/office/drawing/2014/main" id="{E2F797BE-6E7C-3D48-ADFE-8DEF9190C175}"/>
                </a:ext>
              </a:extLst>
            </p:cNvPr>
            <p:cNvSpPr txBox="1"/>
            <p:nvPr/>
          </p:nvSpPr>
          <p:spPr>
            <a:xfrm>
              <a:off x="5202504" y="2066025"/>
              <a:ext cx="1122096" cy="584775"/>
            </a:xfrm>
            <a:prstGeom prst="rect">
              <a:avLst/>
            </a:prstGeom>
            <a:solidFill>
              <a:schemeClr val="accent1">
                <a:lumMod val="40000"/>
                <a:lumOff val="60000"/>
              </a:schemeClr>
            </a:solidFill>
          </p:spPr>
          <p:txBody>
            <a:bodyPr wrap="squar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10</a:t>
              </a:r>
            </a:p>
            <a:p>
              <a:r>
                <a:rPr lang="en-US" sz="1600" b="1" dirty="0" err="1">
                  <a:solidFill>
                    <a:srgbClr val="FF0000"/>
                  </a:solidFill>
                  <a:latin typeface="Consolas" panose="020B0609020204030204" pitchFamily="49" charset="0"/>
                  <a:cs typeface="Consolas" panose="020B0609020204030204" pitchFamily="49" charset="0"/>
                </a:rPr>
                <a:t>goto</a:t>
              </a:r>
              <a:r>
                <a:rPr lang="en-US" sz="1600" b="1" dirty="0">
                  <a:latin typeface="Consolas" panose="020B0609020204030204" pitchFamily="49" charset="0"/>
                  <a:cs typeface="Consolas" panose="020B0609020204030204" pitchFamily="49" charset="0"/>
                </a:rPr>
                <a:t> bb3</a:t>
              </a:r>
            </a:p>
          </p:txBody>
        </p:sp>
        <p:sp>
          <p:nvSpPr>
            <p:cNvPr id="31" name="TextBox 30">
              <a:extLst>
                <a:ext uri="{FF2B5EF4-FFF2-40B4-BE49-F238E27FC236}">
                  <a16:creationId xmlns:a16="http://schemas.microsoft.com/office/drawing/2014/main" id="{35CB2955-0071-0142-BD45-0E8081CD2060}"/>
                </a:ext>
              </a:extLst>
            </p:cNvPr>
            <p:cNvSpPr txBox="1"/>
            <p:nvPr/>
          </p:nvSpPr>
          <p:spPr>
            <a:xfrm>
              <a:off x="4593220" y="2019300"/>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bb1:</a:t>
              </a:r>
            </a:p>
          </p:txBody>
        </p:sp>
        <p:cxnSp>
          <p:nvCxnSpPr>
            <p:cNvPr id="32" name="Straight Arrow Connector 31">
              <a:extLst>
                <a:ext uri="{FF2B5EF4-FFF2-40B4-BE49-F238E27FC236}">
                  <a16:creationId xmlns:a16="http://schemas.microsoft.com/office/drawing/2014/main" id="{D0D42D95-58E4-CC42-8E1A-7EF5F054F580}"/>
                </a:ext>
              </a:extLst>
            </p:cNvPr>
            <p:cNvCxnSpPr>
              <a:cxnSpLocks/>
            </p:cNvCxnSpPr>
            <p:nvPr/>
          </p:nvCxnSpPr>
          <p:spPr>
            <a:xfrm>
              <a:off x="6110525" y="1812339"/>
              <a:ext cx="0" cy="25368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5EFC2549-0A35-964A-B872-ED2D4E0FE25E}"/>
                </a:ext>
              </a:extLst>
            </p:cNvPr>
            <p:cNvCxnSpPr>
              <a:cxnSpLocks/>
            </p:cNvCxnSpPr>
            <p:nvPr/>
          </p:nvCxnSpPr>
          <p:spPr>
            <a:xfrm>
              <a:off x="7235869" y="1788725"/>
              <a:ext cx="0" cy="2773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B1E7D06C-FB2E-C74E-B57F-1ED06DFF5D7F}"/>
                </a:ext>
              </a:extLst>
            </p:cNvPr>
            <p:cNvSpPr txBox="1"/>
            <p:nvPr/>
          </p:nvSpPr>
          <p:spPr>
            <a:xfrm>
              <a:off x="6933884" y="2066025"/>
              <a:ext cx="1122096" cy="584775"/>
            </a:xfrm>
            <a:prstGeom prst="rect">
              <a:avLst/>
            </a:prstGeom>
            <a:solidFill>
              <a:schemeClr val="accent1">
                <a:lumMod val="40000"/>
                <a:lumOff val="60000"/>
              </a:schemeClr>
            </a:solidFill>
          </p:spPr>
          <p:txBody>
            <a:bodyPr wrap="squar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10</a:t>
              </a:r>
            </a:p>
            <a:p>
              <a:r>
                <a:rPr lang="en-US" sz="1600" b="1" dirty="0" err="1">
                  <a:solidFill>
                    <a:srgbClr val="FF0000"/>
                  </a:solidFill>
                  <a:latin typeface="Consolas" panose="020B0609020204030204" pitchFamily="49" charset="0"/>
                  <a:cs typeface="Consolas" panose="020B0609020204030204" pitchFamily="49" charset="0"/>
                </a:rPr>
                <a:t>goto</a:t>
              </a:r>
              <a:r>
                <a:rPr lang="en-US" sz="1600" b="1" dirty="0">
                  <a:latin typeface="Consolas" panose="020B0609020204030204" pitchFamily="49" charset="0"/>
                  <a:cs typeface="Consolas" panose="020B0609020204030204" pitchFamily="49" charset="0"/>
                </a:rPr>
                <a:t> bb3</a:t>
              </a:r>
            </a:p>
          </p:txBody>
        </p:sp>
        <p:sp>
          <p:nvSpPr>
            <p:cNvPr id="35" name="TextBox 34">
              <a:extLst>
                <a:ext uri="{FF2B5EF4-FFF2-40B4-BE49-F238E27FC236}">
                  <a16:creationId xmlns:a16="http://schemas.microsoft.com/office/drawing/2014/main" id="{20A7907E-0AF8-6F4D-A865-E377BC0A0512}"/>
                </a:ext>
              </a:extLst>
            </p:cNvPr>
            <p:cNvSpPr txBox="1"/>
            <p:nvPr/>
          </p:nvSpPr>
          <p:spPr>
            <a:xfrm>
              <a:off x="6324600" y="2019300"/>
              <a:ext cx="633507" cy="338554"/>
            </a:xfrm>
            <a:prstGeom prst="rect">
              <a:avLst/>
            </a:prstGeom>
            <a:noFill/>
          </p:spPr>
          <p:txBody>
            <a:bodyPr wrap="none" rtlCol="0">
              <a:spAutoFit/>
            </a:bodyPr>
            <a:lstStyle/>
            <a:p>
              <a:pPr algn="r"/>
              <a:r>
                <a:rPr lang="en-US" sz="1600" b="1" dirty="0">
                  <a:latin typeface="Consolas" panose="020B0609020204030204" pitchFamily="49" charset="0"/>
                  <a:cs typeface="Consolas" panose="020B0609020204030204" pitchFamily="49" charset="0"/>
                </a:rPr>
                <a:t>bb2:</a:t>
              </a:r>
            </a:p>
          </p:txBody>
        </p:sp>
        <p:cxnSp>
          <p:nvCxnSpPr>
            <p:cNvPr id="36" name="Straight Arrow Connector 35">
              <a:extLst>
                <a:ext uri="{FF2B5EF4-FFF2-40B4-BE49-F238E27FC236}">
                  <a16:creationId xmlns:a16="http://schemas.microsoft.com/office/drawing/2014/main" id="{4C7A3F87-EB0D-C645-93B6-26D344718C95}"/>
                </a:ext>
              </a:extLst>
            </p:cNvPr>
            <p:cNvCxnSpPr>
              <a:cxnSpLocks/>
            </p:cNvCxnSpPr>
            <p:nvPr/>
          </p:nvCxnSpPr>
          <p:spPr>
            <a:xfrm>
              <a:off x="6096002" y="2649220"/>
              <a:ext cx="157314" cy="39878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E88E822-0811-A448-BD3E-5F4B4CF19173}"/>
                </a:ext>
              </a:extLst>
            </p:cNvPr>
            <p:cNvCxnSpPr>
              <a:cxnSpLocks/>
            </p:cNvCxnSpPr>
            <p:nvPr/>
          </p:nvCxnSpPr>
          <p:spPr>
            <a:xfrm flipH="1">
              <a:off x="6933884" y="2670160"/>
              <a:ext cx="212930" cy="37468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0" name="Freeform 39">
            <a:extLst>
              <a:ext uri="{FF2B5EF4-FFF2-40B4-BE49-F238E27FC236}">
                <a16:creationId xmlns:a16="http://schemas.microsoft.com/office/drawing/2014/main" id="{B977E0CC-26D5-E248-83FF-899714AC78A5}"/>
              </a:ext>
            </a:extLst>
          </p:cNvPr>
          <p:cNvSpPr/>
          <p:nvPr/>
        </p:nvSpPr>
        <p:spPr>
          <a:xfrm>
            <a:off x="1543665" y="1950403"/>
            <a:ext cx="1169728" cy="1451558"/>
          </a:xfrm>
          <a:custGeom>
            <a:avLst/>
            <a:gdLst>
              <a:gd name="connsiteX0" fmla="*/ 0 w 1690838"/>
              <a:gd name="connsiteY0" fmla="*/ 45545 h 1451558"/>
              <a:gd name="connsiteX1" fmla="*/ 1179871 w 1690838"/>
              <a:gd name="connsiteY1" fmla="*/ 35713 h 1451558"/>
              <a:gd name="connsiteX2" fmla="*/ 1632155 w 1690838"/>
              <a:gd name="connsiteY2" fmla="*/ 438836 h 1451558"/>
              <a:gd name="connsiteX3" fmla="*/ 1671484 w 1690838"/>
              <a:gd name="connsiteY3" fmla="*/ 1451558 h 1451558"/>
            </a:gdLst>
            <a:ahLst/>
            <a:cxnLst>
              <a:cxn ang="0">
                <a:pos x="connsiteX0" y="connsiteY0"/>
              </a:cxn>
              <a:cxn ang="0">
                <a:pos x="connsiteX1" y="connsiteY1"/>
              </a:cxn>
              <a:cxn ang="0">
                <a:pos x="connsiteX2" y="connsiteY2"/>
              </a:cxn>
              <a:cxn ang="0">
                <a:pos x="connsiteX3" y="connsiteY3"/>
              </a:cxn>
            </a:cxnLst>
            <a:rect l="l" t="t" r="r" b="b"/>
            <a:pathLst>
              <a:path w="1690838" h="1451558">
                <a:moveTo>
                  <a:pt x="0" y="45545"/>
                </a:moveTo>
                <a:cubicBezTo>
                  <a:pt x="453922" y="7855"/>
                  <a:pt x="907845" y="-29835"/>
                  <a:pt x="1179871" y="35713"/>
                </a:cubicBezTo>
                <a:cubicBezTo>
                  <a:pt x="1451897" y="101261"/>
                  <a:pt x="1550220" y="202862"/>
                  <a:pt x="1632155" y="438836"/>
                </a:cubicBezTo>
                <a:cubicBezTo>
                  <a:pt x="1714090" y="674810"/>
                  <a:pt x="1692787" y="1063184"/>
                  <a:pt x="1671484" y="1451558"/>
                </a:cubicBezTo>
              </a:path>
            </a:pathLst>
          </a:custGeom>
          <a:noFill/>
          <a:ln w="76200">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8BB706A1-AEF6-544D-8CE0-8959A56BCF48}"/>
              </a:ext>
            </a:extLst>
          </p:cNvPr>
          <p:cNvSpPr txBox="1"/>
          <p:nvPr/>
        </p:nvSpPr>
        <p:spPr>
          <a:xfrm>
            <a:off x="395896" y="4264104"/>
            <a:ext cx="2458026" cy="1107996"/>
          </a:xfrm>
          <a:prstGeom prst="rect">
            <a:avLst/>
          </a:prstGeom>
          <a:noFill/>
        </p:spPr>
        <p:txBody>
          <a:bodyPr wrap="square" rtlCol="0">
            <a:spAutoFit/>
          </a:bodyPr>
          <a:lstStyle/>
          <a:p>
            <a:pPr algn="ctr"/>
            <a:r>
              <a:rPr lang="en-US" sz="2200" dirty="0"/>
              <a:t>1 def-use, sets x to 25; we </a:t>
            </a:r>
            <a:r>
              <a:rPr lang="en-US" sz="2200" b="1" dirty="0">
                <a:solidFill>
                  <a:srgbClr val="00B050"/>
                </a:solidFill>
              </a:rPr>
              <a:t>can</a:t>
            </a:r>
            <a:r>
              <a:rPr lang="en-US" sz="2200" dirty="0"/>
              <a:t> replace x with 25.</a:t>
            </a:r>
            <a:endParaRPr lang="en-US" sz="2200" dirty="0">
              <a:latin typeface="Consolas" panose="020B0609020204030204" pitchFamily="49" charset="0"/>
              <a:cs typeface="Consolas" panose="020B0609020204030204" pitchFamily="49" charset="0"/>
            </a:endParaRPr>
          </a:p>
        </p:txBody>
      </p:sp>
      <p:sp>
        <p:nvSpPr>
          <p:cNvPr id="42" name="TextBox 41">
            <a:extLst>
              <a:ext uri="{FF2B5EF4-FFF2-40B4-BE49-F238E27FC236}">
                <a16:creationId xmlns:a16="http://schemas.microsoft.com/office/drawing/2014/main" id="{D3D0DD09-7A6C-5748-927F-A666C1E549C4}"/>
              </a:ext>
            </a:extLst>
          </p:cNvPr>
          <p:cNvSpPr txBox="1"/>
          <p:nvPr/>
        </p:nvSpPr>
        <p:spPr>
          <a:xfrm>
            <a:off x="3342987" y="4230516"/>
            <a:ext cx="2458026" cy="1107996"/>
          </a:xfrm>
          <a:prstGeom prst="rect">
            <a:avLst/>
          </a:prstGeom>
          <a:noFill/>
        </p:spPr>
        <p:txBody>
          <a:bodyPr wrap="square" rtlCol="0">
            <a:spAutoFit/>
          </a:bodyPr>
          <a:lstStyle/>
          <a:p>
            <a:pPr algn="ctr"/>
            <a:r>
              <a:rPr lang="en-US" sz="2200" dirty="0"/>
              <a:t>2 def-uses; set x to </a:t>
            </a:r>
            <a:r>
              <a:rPr lang="en-US" sz="2200" b="1" dirty="0">
                <a:solidFill>
                  <a:srgbClr val="FF0000"/>
                </a:solidFill>
              </a:rPr>
              <a:t>different values;</a:t>
            </a:r>
            <a:r>
              <a:rPr lang="en-US" sz="2200" b="1" dirty="0"/>
              <a:t> </a:t>
            </a:r>
            <a:r>
              <a:rPr lang="en-US" sz="2200" dirty="0"/>
              <a:t>no good.</a:t>
            </a:r>
            <a:endParaRPr lang="en-US" sz="2200" b="1" dirty="0">
              <a:latin typeface="Consolas" panose="020B0609020204030204" pitchFamily="49" charset="0"/>
              <a:cs typeface="Consolas" panose="020B0609020204030204" pitchFamily="49" charset="0"/>
            </a:endParaRPr>
          </a:p>
        </p:txBody>
      </p:sp>
      <p:sp>
        <p:nvSpPr>
          <p:cNvPr id="45" name="Freeform 44">
            <a:extLst>
              <a:ext uri="{FF2B5EF4-FFF2-40B4-BE49-F238E27FC236}">
                <a16:creationId xmlns:a16="http://schemas.microsoft.com/office/drawing/2014/main" id="{7F9AA90D-99AF-0843-A5BB-136FDB267C48}"/>
              </a:ext>
            </a:extLst>
          </p:cNvPr>
          <p:cNvSpPr/>
          <p:nvPr/>
        </p:nvSpPr>
        <p:spPr>
          <a:xfrm>
            <a:off x="4355691" y="1950403"/>
            <a:ext cx="1169728" cy="1451558"/>
          </a:xfrm>
          <a:custGeom>
            <a:avLst/>
            <a:gdLst>
              <a:gd name="connsiteX0" fmla="*/ 0 w 1690838"/>
              <a:gd name="connsiteY0" fmla="*/ 45545 h 1451558"/>
              <a:gd name="connsiteX1" fmla="*/ 1179871 w 1690838"/>
              <a:gd name="connsiteY1" fmla="*/ 35713 h 1451558"/>
              <a:gd name="connsiteX2" fmla="*/ 1632155 w 1690838"/>
              <a:gd name="connsiteY2" fmla="*/ 438836 h 1451558"/>
              <a:gd name="connsiteX3" fmla="*/ 1671484 w 1690838"/>
              <a:gd name="connsiteY3" fmla="*/ 1451558 h 1451558"/>
            </a:gdLst>
            <a:ahLst/>
            <a:cxnLst>
              <a:cxn ang="0">
                <a:pos x="connsiteX0" y="connsiteY0"/>
              </a:cxn>
              <a:cxn ang="0">
                <a:pos x="connsiteX1" y="connsiteY1"/>
              </a:cxn>
              <a:cxn ang="0">
                <a:pos x="connsiteX2" y="connsiteY2"/>
              </a:cxn>
              <a:cxn ang="0">
                <a:pos x="connsiteX3" y="connsiteY3"/>
              </a:cxn>
            </a:cxnLst>
            <a:rect l="l" t="t" r="r" b="b"/>
            <a:pathLst>
              <a:path w="1690838" h="1451558">
                <a:moveTo>
                  <a:pt x="0" y="45545"/>
                </a:moveTo>
                <a:cubicBezTo>
                  <a:pt x="453922" y="7855"/>
                  <a:pt x="907845" y="-29835"/>
                  <a:pt x="1179871" y="35713"/>
                </a:cubicBezTo>
                <a:cubicBezTo>
                  <a:pt x="1451897" y="101261"/>
                  <a:pt x="1550220" y="202862"/>
                  <a:pt x="1632155" y="438836"/>
                </a:cubicBezTo>
                <a:cubicBezTo>
                  <a:pt x="1714090" y="674810"/>
                  <a:pt x="1692787" y="1063184"/>
                  <a:pt x="1671484" y="1451558"/>
                </a:cubicBezTo>
              </a:path>
            </a:pathLst>
          </a:custGeom>
          <a:noFill/>
          <a:ln w="76200">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a:extLst>
              <a:ext uri="{FF2B5EF4-FFF2-40B4-BE49-F238E27FC236}">
                <a16:creationId xmlns:a16="http://schemas.microsoft.com/office/drawing/2014/main" id="{8494B0AC-B34E-9F4A-B7C3-0EF7016B5B7A}"/>
              </a:ext>
            </a:extLst>
          </p:cNvPr>
          <p:cNvSpPr/>
          <p:nvPr/>
        </p:nvSpPr>
        <p:spPr>
          <a:xfrm rot="16200000" flipH="1">
            <a:off x="4167608" y="2441343"/>
            <a:ext cx="584776" cy="1595600"/>
          </a:xfrm>
          <a:custGeom>
            <a:avLst/>
            <a:gdLst>
              <a:gd name="connsiteX0" fmla="*/ 0 w 1690838"/>
              <a:gd name="connsiteY0" fmla="*/ 45545 h 1451558"/>
              <a:gd name="connsiteX1" fmla="*/ 1179871 w 1690838"/>
              <a:gd name="connsiteY1" fmla="*/ 35713 h 1451558"/>
              <a:gd name="connsiteX2" fmla="*/ 1632155 w 1690838"/>
              <a:gd name="connsiteY2" fmla="*/ 438836 h 1451558"/>
              <a:gd name="connsiteX3" fmla="*/ 1671484 w 1690838"/>
              <a:gd name="connsiteY3" fmla="*/ 1451558 h 1451558"/>
            </a:gdLst>
            <a:ahLst/>
            <a:cxnLst>
              <a:cxn ang="0">
                <a:pos x="connsiteX0" y="connsiteY0"/>
              </a:cxn>
              <a:cxn ang="0">
                <a:pos x="connsiteX1" y="connsiteY1"/>
              </a:cxn>
              <a:cxn ang="0">
                <a:pos x="connsiteX2" y="connsiteY2"/>
              </a:cxn>
              <a:cxn ang="0">
                <a:pos x="connsiteX3" y="connsiteY3"/>
              </a:cxn>
            </a:cxnLst>
            <a:rect l="l" t="t" r="r" b="b"/>
            <a:pathLst>
              <a:path w="1690838" h="1451558">
                <a:moveTo>
                  <a:pt x="0" y="45545"/>
                </a:moveTo>
                <a:cubicBezTo>
                  <a:pt x="453922" y="7855"/>
                  <a:pt x="907845" y="-29835"/>
                  <a:pt x="1179871" y="35713"/>
                </a:cubicBezTo>
                <a:cubicBezTo>
                  <a:pt x="1451897" y="101261"/>
                  <a:pt x="1550220" y="202862"/>
                  <a:pt x="1632155" y="438836"/>
                </a:cubicBezTo>
                <a:cubicBezTo>
                  <a:pt x="1714090" y="674810"/>
                  <a:pt x="1692787" y="1063184"/>
                  <a:pt x="1671484" y="1451558"/>
                </a:cubicBezTo>
              </a:path>
            </a:pathLst>
          </a:custGeom>
          <a:noFill/>
          <a:ln w="76200">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6CD76E25-09BC-6448-B1BF-6A6611E1AB52}"/>
              </a:ext>
            </a:extLst>
          </p:cNvPr>
          <p:cNvSpPr txBox="1"/>
          <p:nvPr/>
        </p:nvSpPr>
        <p:spPr>
          <a:xfrm>
            <a:off x="6019800" y="4264104"/>
            <a:ext cx="3067370" cy="1107996"/>
          </a:xfrm>
          <a:prstGeom prst="rect">
            <a:avLst/>
          </a:prstGeom>
          <a:noFill/>
        </p:spPr>
        <p:txBody>
          <a:bodyPr wrap="square" rtlCol="0">
            <a:spAutoFit/>
          </a:bodyPr>
          <a:lstStyle/>
          <a:p>
            <a:pPr algn="ctr"/>
            <a:r>
              <a:rPr lang="en-US" sz="2200" dirty="0"/>
              <a:t>2 def-uses; both set x to </a:t>
            </a:r>
            <a:r>
              <a:rPr lang="en-US" sz="2200" b="1" dirty="0">
                <a:solidFill>
                  <a:srgbClr val="00B050"/>
                </a:solidFill>
              </a:rPr>
              <a:t>same value;</a:t>
            </a:r>
            <a:r>
              <a:rPr lang="en-US" sz="2200" b="1" dirty="0"/>
              <a:t> </a:t>
            </a:r>
            <a:r>
              <a:rPr lang="en-US" sz="2200" dirty="0"/>
              <a:t>we </a:t>
            </a:r>
            <a:r>
              <a:rPr lang="en-US" sz="2200" b="1" dirty="0">
                <a:solidFill>
                  <a:srgbClr val="00B050"/>
                </a:solidFill>
              </a:rPr>
              <a:t>can</a:t>
            </a:r>
            <a:r>
              <a:rPr lang="en-US" sz="2200" dirty="0"/>
              <a:t> replace x with 10.</a:t>
            </a:r>
            <a:endParaRPr lang="en-US" sz="2200" b="1" dirty="0">
              <a:latin typeface="Consolas" panose="020B0609020204030204" pitchFamily="49" charset="0"/>
              <a:cs typeface="Consolas" panose="020B0609020204030204" pitchFamily="49" charset="0"/>
            </a:endParaRPr>
          </a:p>
        </p:txBody>
      </p:sp>
      <p:sp>
        <p:nvSpPr>
          <p:cNvPr id="54" name="Freeform 53">
            <a:extLst>
              <a:ext uri="{FF2B5EF4-FFF2-40B4-BE49-F238E27FC236}">
                <a16:creationId xmlns:a16="http://schemas.microsoft.com/office/drawing/2014/main" id="{69959699-366A-2844-A7A5-C87985344200}"/>
              </a:ext>
            </a:extLst>
          </p:cNvPr>
          <p:cNvSpPr/>
          <p:nvPr/>
        </p:nvSpPr>
        <p:spPr>
          <a:xfrm rot="16200000" flipH="1">
            <a:off x="6634191" y="2652125"/>
            <a:ext cx="889376" cy="1455869"/>
          </a:xfrm>
          <a:custGeom>
            <a:avLst/>
            <a:gdLst>
              <a:gd name="connsiteX0" fmla="*/ 0 w 1690838"/>
              <a:gd name="connsiteY0" fmla="*/ 45545 h 1451558"/>
              <a:gd name="connsiteX1" fmla="*/ 1179871 w 1690838"/>
              <a:gd name="connsiteY1" fmla="*/ 35713 h 1451558"/>
              <a:gd name="connsiteX2" fmla="*/ 1632155 w 1690838"/>
              <a:gd name="connsiteY2" fmla="*/ 438836 h 1451558"/>
              <a:gd name="connsiteX3" fmla="*/ 1671484 w 1690838"/>
              <a:gd name="connsiteY3" fmla="*/ 1451558 h 1451558"/>
            </a:gdLst>
            <a:ahLst/>
            <a:cxnLst>
              <a:cxn ang="0">
                <a:pos x="connsiteX0" y="connsiteY0"/>
              </a:cxn>
              <a:cxn ang="0">
                <a:pos x="connsiteX1" y="connsiteY1"/>
              </a:cxn>
              <a:cxn ang="0">
                <a:pos x="connsiteX2" y="connsiteY2"/>
              </a:cxn>
              <a:cxn ang="0">
                <a:pos x="connsiteX3" y="connsiteY3"/>
              </a:cxn>
            </a:cxnLst>
            <a:rect l="l" t="t" r="r" b="b"/>
            <a:pathLst>
              <a:path w="1690838" h="1451558">
                <a:moveTo>
                  <a:pt x="0" y="45545"/>
                </a:moveTo>
                <a:cubicBezTo>
                  <a:pt x="453922" y="7855"/>
                  <a:pt x="907845" y="-29835"/>
                  <a:pt x="1179871" y="35713"/>
                </a:cubicBezTo>
                <a:cubicBezTo>
                  <a:pt x="1451897" y="101261"/>
                  <a:pt x="1550220" y="202862"/>
                  <a:pt x="1632155" y="438836"/>
                </a:cubicBezTo>
                <a:cubicBezTo>
                  <a:pt x="1714090" y="674810"/>
                  <a:pt x="1692787" y="1063184"/>
                  <a:pt x="1671484" y="1451558"/>
                </a:cubicBezTo>
              </a:path>
            </a:pathLst>
          </a:custGeom>
          <a:noFill/>
          <a:ln w="76200">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a:extLst>
              <a:ext uri="{FF2B5EF4-FFF2-40B4-BE49-F238E27FC236}">
                <a16:creationId xmlns:a16="http://schemas.microsoft.com/office/drawing/2014/main" id="{D8893D48-431F-6E4D-BEE5-30E000A51D50}"/>
              </a:ext>
            </a:extLst>
          </p:cNvPr>
          <p:cNvSpPr/>
          <p:nvPr/>
        </p:nvSpPr>
        <p:spPr>
          <a:xfrm rot="16200000" flipH="1" flipV="1">
            <a:off x="7935972" y="3108482"/>
            <a:ext cx="851806" cy="580812"/>
          </a:xfrm>
          <a:custGeom>
            <a:avLst/>
            <a:gdLst>
              <a:gd name="connsiteX0" fmla="*/ 0 w 1690838"/>
              <a:gd name="connsiteY0" fmla="*/ 45545 h 1451558"/>
              <a:gd name="connsiteX1" fmla="*/ 1179871 w 1690838"/>
              <a:gd name="connsiteY1" fmla="*/ 35713 h 1451558"/>
              <a:gd name="connsiteX2" fmla="*/ 1632155 w 1690838"/>
              <a:gd name="connsiteY2" fmla="*/ 438836 h 1451558"/>
              <a:gd name="connsiteX3" fmla="*/ 1671484 w 1690838"/>
              <a:gd name="connsiteY3" fmla="*/ 1451558 h 1451558"/>
            </a:gdLst>
            <a:ahLst/>
            <a:cxnLst>
              <a:cxn ang="0">
                <a:pos x="connsiteX0" y="connsiteY0"/>
              </a:cxn>
              <a:cxn ang="0">
                <a:pos x="connsiteX1" y="connsiteY1"/>
              </a:cxn>
              <a:cxn ang="0">
                <a:pos x="connsiteX2" y="connsiteY2"/>
              </a:cxn>
              <a:cxn ang="0">
                <a:pos x="connsiteX3" y="connsiteY3"/>
              </a:cxn>
            </a:cxnLst>
            <a:rect l="l" t="t" r="r" b="b"/>
            <a:pathLst>
              <a:path w="1690838" h="1451558">
                <a:moveTo>
                  <a:pt x="0" y="45545"/>
                </a:moveTo>
                <a:cubicBezTo>
                  <a:pt x="453922" y="7855"/>
                  <a:pt x="907845" y="-29835"/>
                  <a:pt x="1179871" y="35713"/>
                </a:cubicBezTo>
                <a:cubicBezTo>
                  <a:pt x="1451897" y="101261"/>
                  <a:pt x="1550220" y="202862"/>
                  <a:pt x="1632155" y="438836"/>
                </a:cubicBezTo>
                <a:cubicBezTo>
                  <a:pt x="1714090" y="674810"/>
                  <a:pt x="1692787" y="1063184"/>
                  <a:pt x="1671484" y="1451558"/>
                </a:cubicBezTo>
              </a:path>
            </a:pathLst>
          </a:custGeom>
          <a:noFill/>
          <a:ln w="76200">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5947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p:bldP spid="42" grpId="0"/>
      <p:bldP spid="45" grpId="0" animBg="1"/>
      <p:bldP spid="46" grpId="0" animBg="1"/>
      <p:bldP spid="53" grpId="0"/>
      <p:bldP spid="54" grpId="0" animBg="1"/>
      <p:bldP spid="5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D5989-35E3-274E-92B9-2DB77FDA7F67}"/>
              </a:ext>
            </a:extLst>
          </p:cNvPr>
          <p:cNvSpPr>
            <a:spLocks noGrp="1"/>
          </p:cNvSpPr>
          <p:nvPr>
            <p:ph type="title"/>
          </p:nvPr>
        </p:nvSpPr>
        <p:spPr/>
        <p:txBody>
          <a:bodyPr/>
          <a:lstStyle/>
          <a:p>
            <a:r>
              <a:rPr lang="en-US" dirty="0"/>
              <a:t>From the bottom up </a:t>
            </a:r>
            <a:r>
              <a:rPr lang="en-US" sz="2000" dirty="0"/>
              <a:t>(animated)</a:t>
            </a:r>
            <a:endParaRPr lang="en-US" dirty="0"/>
          </a:p>
        </p:txBody>
      </p:sp>
      <p:sp>
        <p:nvSpPr>
          <p:cNvPr id="3" name="Content Placeholder 2">
            <a:extLst>
              <a:ext uri="{FF2B5EF4-FFF2-40B4-BE49-F238E27FC236}">
                <a16:creationId xmlns:a16="http://schemas.microsoft.com/office/drawing/2014/main" id="{BB38F8F8-047A-7843-8C00-313967D4E8B2}"/>
              </a:ext>
            </a:extLst>
          </p:cNvPr>
          <p:cNvSpPr>
            <a:spLocks noGrp="1"/>
          </p:cNvSpPr>
          <p:nvPr>
            <p:ph idx="1"/>
          </p:nvPr>
        </p:nvSpPr>
        <p:spPr>
          <a:xfrm>
            <a:off x="152400" y="495301"/>
            <a:ext cx="8991600" cy="1142999"/>
          </a:xfrm>
        </p:spPr>
        <p:txBody>
          <a:bodyPr/>
          <a:lstStyle/>
          <a:p>
            <a:r>
              <a:rPr lang="en-US" dirty="0"/>
              <a:t>that's cool and all, but how do we start implementing this?</a:t>
            </a:r>
          </a:p>
          <a:p>
            <a:r>
              <a:rPr lang="en-US" dirty="0"/>
              <a:t>let's start by looking at the </a:t>
            </a:r>
            <a:r>
              <a:rPr lang="en-US" b="1" dirty="0"/>
              <a:t>instructions </a:t>
            </a:r>
            <a:r>
              <a:rPr lang="en-US" dirty="0"/>
              <a:t>within a basic block. we'll focus on the variable </a:t>
            </a:r>
            <a:r>
              <a:rPr lang="en-US" b="1" dirty="0">
                <a:latin typeface="Consolas" panose="020B0609020204030204" pitchFamily="49" charset="0"/>
                <a:cs typeface="Consolas" panose="020B0609020204030204" pitchFamily="49" charset="0"/>
              </a:rPr>
              <a:t>x</a:t>
            </a:r>
            <a:r>
              <a:rPr lang="en-US" dirty="0"/>
              <a:t> right now.</a:t>
            </a:r>
          </a:p>
        </p:txBody>
      </p:sp>
      <p:sp>
        <p:nvSpPr>
          <p:cNvPr id="4" name="Slide Number Placeholder 3">
            <a:extLst>
              <a:ext uri="{FF2B5EF4-FFF2-40B4-BE49-F238E27FC236}">
                <a16:creationId xmlns:a16="http://schemas.microsoft.com/office/drawing/2014/main" id="{6C0F58A2-647D-354F-BC4C-AC5A992A9848}"/>
              </a:ext>
            </a:extLst>
          </p:cNvPr>
          <p:cNvSpPr>
            <a:spLocks noGrp="1"/>
          </p:cNvSpPr>
          <p:nvPr>
            <p:ph type="sldNum" sz="quarter" idx="12"/>
          </p:nvPr>
        </p:nvSpPr>
        <p:spPr/>
        <p:txBody>
          <a:bodyPr/>
          <a:lstStyle/>
          <a:p>
            <a:fld id="{3552B95B-556F-44BD-91A5-D80C1B9E2BB3}" type="slidenum">
              <a:rPr lang="en-US" smtClean="0"/>
              <a:pPr/>
              <a:t>21</a:t>
            </a:fld>
            <a:endParaRPr lang="en-US"/>
          </a:p>
        </p:txBody>
      </p:sp>
      <p:sp>
        <p:nvSpPr>
          <p:cNvPr id="5" name="TextBox 4">
            <a:extLst>
              <a:ext uri="{FF2B5EF4-FFF2-40B4-BE49-F238E27FC236}">
                <a16:creationId xmlns:a16="http://schemas.microsoft.com/office/drawing/2014/main" id="{C8F9CAF0-CE6A-4742-97D7-A528FF887D78}"/>
              </a:ext>
            </a:extLst>
          </p:cNvPr>
          <p:cNvSpPr txBox="1"/>
          <p:nvPr/>
        </p:nvSpPr>
        <p:spPr>
          <a:xfrm>
            <a:off x="2938807" y="2585978"/>
            <a:ext cx="1172116" cy="2246769"/>
          </a:xfrm>
          <a:prstGeom prst="rect">
            <a:avLst/>
          </a:prstGeom>
          <a:noFill/>
        </p:spPr>
        <p:txBody>
          <a:bodyPr wrap="none" rtlCol="0">
            <a:spAutoFit/>
          </a:bodyPr>
          <a:lstStyle/>
          <a:p>
            <a:r>
              <a:rPr lang="en-US" sz="2000" b="1" dirty="0">
                <a:latin typeface="Consolas" panose="020B0609020204030204" pitchFamily="49" charset="0"/>
                <a:cs typeface="Consolas" panose="020B0609020204030204" pitchFamily="49" charset="0"/>
              </a:rPr>
              <a:t>x = </a:t>
            </a:r>
            <a:r>
              <a:rPr lang="en-US" sz="2000" b="1" dirty="0">
                <a:solidFill>
                  <a:schemeClr val="accent3">
                    <a:lumMod val="75000"/>
                  </a:schemeClr>
                </a:solidFill>
                <a:latin typeface="Consolas" panose="020B0609020204030204" pitchFamily="49" charset="0"/>
                <a:cs typeface="Consolas" panose="020B0609020204030204" pitchFamily="49" charset="0"/>
              </a:rPr>
              <a:t>4</a:t>
            </a:r>
          </a:p>
          <a:p>
            <a:endParaRPr lang="en-US" sz="2000" b="1" dirty="0">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y = </a:t>
            </a:r>
            <a:r>
              <a:rPr lang="en-US" sz="2000" b="1" dirty="0">
                <a:solidFill>
                  <a:schemeClr val="accent3">
                    <a:lumMod val="75000"/>
                  </a:schemeClr>
                </a:solidFill>
                <a:latin typeface="Consolas" panose="020B0609020204030204" pitchFamily="49" charset="0"/>
                <a:cs typeface="Consolas" panose="020B0609020204030204" pitchFamily="49" charset="0"/>
              </a:rPr>
              <a:t>5</a:t>
            </a:r>
          </a:p>
          <a:p>
            <a:endParaRPr lang="en-US" sz="2000" b="1" dirty="0">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x = f()</a:t>
            </a:r>
            <a:endParaRPr lang="en-US" sz="2000" b="1" dirty="0">
              <a:solidFill>
                <a:schemeClr val="accent3">
                  <a:lumMod val="75000"/>
                </a:schemeClr>
              </a:solidFill>
              <a:latin typeface="Consolas" panose="020B0609020204030204" pitchFamily="49" charset="0"/>
              <a:cs typeface="Consolas" panose="020B0609020204030204" pitchFamily="49" charset="0"/>
            </a:endParaRPr>
          </a:p>
          <a:p>
            <a:endParaRPr lang="en-US" sz="2000" b="1" dirty="0">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x = </a:t>
            </a:r>
            <a:r>
              <a:rPr lang="en-US" sz="2000" b="1" dirty="0">
                <a:solidFill>
                  <a:schemeClr val="accent3">
                    <a:lumMod val="75000"/>
                  </a:schemeClr>
                </a:solidFill>
                <a:latin typeface="Consolas" panose="020B0609020204030204" pitchFamily="49" charset="0"/>
                <a:cs typeface="Consolas" panose="020B0609020204030204" pitchFamily="49" charset="0"/>
              </a:rPr>
              <a:t>9</a:t>
            </a:r>
          </a:p>
        </p:txBody>
      </p:sp>
      <p:sp>
        <p:nvSpPr>
          <p:cNvPr id="6" name="TextBox 5">
            <a:extLst>
              <a:ext uri="{FF2B5EF4-FFF2-40B4-BE49-F238E27FC236}">
                <a16:creationId xmlns:a16="http://schemas.microsoft.com/office/drawing/2014/main" id="{5CCB6DCC-2F6C-0F49-BF2B-D4B885BDC6BF}"/>
              </a:ext>
            </a:extLst>
          </p:cNvPr>
          <p:cNvSpPr txBox="1"/>
          <p:nvPr/>
        </p:nvSpPr>
        <p:spPr>
          <a:xfrm>
            <a:off x="4158007" y="2281178"/>
            <a:ext cx="1172116" cy="2862322"/>
          </a:xfrm>
          <a:prstGeom prst="rect">
            <a:avLst/>
          </a:prstGeom>
          <a:noFill/>
        </p:spPr>
        <p:txBody>
          <a:bodyPr wrap="none" rtlCol="0">
            <a:spAutoFit/>
          </a:bodyPr>
          <a:lstStyle/>
          <a:p>
            <a:r>
              <a:rPr lang="en-US" sz="2000" i="1" dirty="0">
                <a:solidFill>
                  <a:schemeClr val="tx1">
                    <a:lumMod val="50000"/>
                    <a:lumOff val="50000"/>
                  </a:schemeClr>
                </a:solidFill>
                <a:latin typeface="Consolas" panose="020B0609020204030204" pitchFamily="49" charset="0"/>
                <a:cs typeface="Consolas" panose="020B0609020204030204" pitchFamily="49" charset="0"/>
              </a:rPr>
              <a:t>x = ???</a:t>
            </a:r>
          </a:p>
          <a:p>
            <a:endParaRPr lang="en-US" sz="2000" i="1" dirty="0">
              <a:solidFill>
                <a:schemeClr val="tx1">
                  <a:lumMod val="50000"/>
                  <a:lumOff val="50000"/>
                </a:schemeClr>
              </a:solidFill>
              <a:latin typeface="Consolas" panose="020B0609020204030204" pitchFamily="49" charset="0"/>
              <a:cs typeface="Consolas" panose="020B0609020204030204" pitchFamily="49" charset="0"/>
            </a:endParaRPr>
          </a:p>
          <a:p>
            <a:r>
              <a:rPr lang="en-US" sz="2000" i="1" dirty="0">
                <a:solidFill>
                  <a:schemeClr val="tx1">
                    <a:lumMod val="50000"/>
                    <a:lumOff val="50000"/>
                  </a:schemeClr>
                </a:solidFill>
                <a:latin typeface="Consolas" panose="020B0609020204030204" pitchFamily="49" charset="0"/>
                <a:cs typeface="Consolas" panose="020B0609020204030204" pitchFamily="49" charset="0"/>
              </a:rPr>
              <a:t>x = </a:t>
            </a:r>
            <a:r>
              <a:rPr lang="en-US" sz="2000" i="1" dirty="0">
                <a:solidFill>
                  <a:schemeClr val="accent3">
                    <a:lumMod val="75000"/>
                  </a:schemeClr>
                </a:solidFill>
                <a:latin typeface="Consolas" panose="020B0609020204030204" pitchFamily="49" charset="0"/>
                <a:cs typeface="Consolas" panose="020B0609020204030204" pitchFamily="49" charset="0"/>
              </a:rPr>
              <a:t>4</a:t>
            </a:r>
          </a:p>
          <a:p>
            <a:endParaRPr lang="en-US" sz="2000" i="1" dirty="0">
              <a:solidFill>
                <a:schemeClr val="tx1">
                  <a:lumMod val="50000"/>
                  <a:lumOff val="50000"/>
                </a:schemeClr>
              </a:solidFill>
              <a:latin typeface="Consolas" panose="020B0609020204030204" pitchFamily="49" charset="0"/>
              <a:cs typeface="Consolas" panose="020B0609020204030204" pitchFamily="49" charset="0"/>
            </a:endParaRPr>
          </a:p>
          <a:p>
            <a:r>
              <a:rPr lang="en-US" sz="2000" i="1" dirty="0">
                <a:solidFill>
                  <a:schemeClr val="tx1">
                    <a:lumMod val="50000"/>
                    <a:lumOff val="50000"/>
                  </a:schemeClr>
                </a:solidFill>
                <a:latin typeface="Consolas" panose="020B0609020204030204" pitchFamily="49" charset="0"/>
                <a:cs typeface="Consolas" panose="020B0609020204030204" pitchFamily="49" charset="0"/>
              </a:rPr>
              <a:t>x = </a:t>
            </a:r>
            <a:r>
              <a:rPr lang="en-US" sz="2000" i="1" dirty="0">
                <a:solidFill>
                  <a:schemeClr val="accent3">
                    <a:lumMod val="75000"/>
                  </a:schemeClr>
                </a:solidFill>
                <a:latin typeface="Consolas" panose="020B0609020204030204" pitchFamily="49" charset="0"/>
                <a:cs typeface="Consolas" panose="020B0609020204030204" pitchFamily="49" charset="0"/>
              </a:rPr>
              <a:t>4</a:t>
            </a:r>
          </a:p>
          <a:p>
            <a:endParaRPr lang="en-US" sz="2000" i="1" dirty="0">
              <a:solidFill>
                <a:schemeClr val="tx1">
                  <a:lumMod val="50000"/>
                  <a:lumOff val="50000"/>
                </a:schemeClr>
              </a:solidFill>
              <a:latin typeface="Consolas" panose="020B0609020204030204" pitchFamily="49" charset="0"/>
              <a:cs typeface="Consolas" panose="020B0609020204030204" pitchFamily="49" charset="0"/>
            </a:endParaRPr>
          </a:p>
          <a:p>
            <a:r>
              <a:rPr lang="en-US" sz="2000" i="1" dirty="0">
                <a:solidFill>
                  <a:schemeClr val="tx1">
                    <a:lumMod val="50000"/>
                    <a:lumOff val="50000"/>
                  </a:schemeClr>
                </a:solidFill>
                <a:latin typeface="Consolas" panose="020B0609020204030204" pitchFamily="49" charset="0"/>
                <a:cs typeface="Consolas" panose="020B0609020204030204" pitchFamily="49" charset="0"/>
              </a:rPr>
              <a:t>x = ???</a:t>
            </a:r>
          </a:p>
          <a:p>
            <a:endParaRPr lang="en-US" sz="2000" i="1" dirty="0">
              <a:solidFill>
                <a:schemeClr val="tx1">
                  <a:lumMod val="50000"/>
                  <a:lumOff val="50000"/>
                </a:schemeClr>
              </a:solidFill>
              <a:latin typeface="Consolas" panose="020B0609020204030204" pitchFamily="49" charset="0"/>
              <a:cs typeface="Consolas" panose="020B0609020204030204" pitchFamily="49" charset="0"/>
            </a:endParaRPr>
          </a:p>
          <a:p>
            <a:r>
              <a:rPr lang="en-US" sz="2000" i="1" dirty="0">
                <a:solidFill>
                  <a:schemeClr val="tx1">
                    <a:lumMod val="50000"/>
                    <a:lumOff val="50000"/>
                  </a:schemeClr>
                </a:solidFill>
                <a:latin typeface="Consolas" panose="020B0609020204030204" pitchFamily="49" charset="0"/>
                <a:cs typeface="Consolas" panose="020B0609020204030204" pitchFamily="49" charset="0"/>
              </a:rPr>
              <a:t>x = </a:t>
            </a:r>
            <a:r>
              <a:rPr lang="en-US" sz="2000" i="1" dirty="0">
                <a:solidFill>
                  <a:schemeClr val="accent3">
                    <a:lumMod val="75000"/>
                  </a:schemeClr>
                </a:solidFill>
                <a:latin typeface="Consolas" panose="020B0609020204030204" pitchFamily="49" charset="0"/>
                <a:cs typeface="Consolas" panose="020B0609020204030204" pitchFamily="49" charset="0"/>
              </a:rPr>
              <a:t>9</a:t>
            </a:r>
          </a:p>
        </p:txBody>
      </p:sp>
      <p:sp>
        <p:nvSpPr>
          <p:cNvPr id="7" name="TextBox 6">
            <a:extLst>
              <a:ext uri="{FF2B5EF4-FFF2-40B4-BE49-F238E27FC236}">
                <a16:creationId xmlns:a16="http://schemas.microsoft.com/office/drawing/2014/main" id="{03462F28-FFF4-5F43-BAF9-4805B277885D}"/>
              </a:ext>
            </a:extLst>
          </p:cNvPr>
          <p:cNvSpPr txBox="1"/>
          <p:nvPr/>
        </p:nvSpPr>
        <p:spPr>
          <a:xfrm>
            <a:off x="228600" y="1805636"/>
            <a:ext cx="2590800" cy="1107996"/>
          </a:xfrm>
          <a:prstGeom prst="rect">
            <a:avLst/>
          </a:prstGeom>
          <a:noFill/>
        </p:spPr>
        <p:txBody>
          <a:bodyPr wrap="square" rtlCol="0">
            <a:spAutoFit/>
          </a:bodyPr>
          <a:lstStyle/>
          <a:p>
            <a:pPr algn="ctr"/>
            <a:r>
              <a:rPr lang="en-US" sz="2200" dirty="0"/>
              <a:t>before this code runs, we don't know what's in </a:t>
            </a:r>
            <a:r>
              <a:rPr lang="en-US" sz="2200" b="1" dirty="0">
                <a:latin typeface="Consolas" panose="020B0609020204030204" pitchFamily="49" charset="0"/>
                <a:cs typeface="Consolas" panose="020B0609020204030204" pitchFamily="49" charset="0"/>
              </a:rPr>
              <a:t>x</a:t>
            </a:r>
            <a:r>
              <a:rPr lang="en-US" sz="2200" dirty="0"/>
              <a:t>.</a:t>
            </a:r>
            <a:endParaRPr lang="en-US" sz="2200" dirty="0">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14E6998A-0D30-9348-9327-881FF11659AE}"/>
              </a:ext>
            </a:extLst>
          </p:cNvPr>
          <p:cNvSpPr txBox="1"/>
          <p:nvPr/>
        </p:nvSpPr>
        <p:spPr>
          <a:xfrm>
            <a:off x="3975265" y="1807616"/>
            <a:ext cx="1537600" cy="400110"/>
          </a:xfrm>
          <a:prstGeom prst="rect">
            <a:avLst/>
          </a:prstGeom>
          <a:noFill/>
        </p:spPr>
        <p:txBody>
          <a:bodyPr wrap="none" rtlCol="0">
            <a:spAutoFit/>
          </a:bodyPr>
          <a:lstStyle/>
          <a:p>
            <a:r>
              <a:rPr lang="en-US" sz="2000" b="1" u="sng" dirty="0"/>
              <a:t>Knowledge</a:t>
            </a:r>
          </a:p>
        </p:txBody>
      </p:sp>
      <p:sp>
        <p:nvSpPr>
          <p:cNvPr id="9" name="TextBox 8">
            <a:extLst>
              <a:ext uri="{FF2B5EF4-FFF2-40B4-BE49-F238E27FC236}">
                <a16:creationId xmlns:a16="http://schemas.microsoft.com/office/drawing/2014/main" id="{C87CC02E-7FC7-5547-80FE-367A718B2692}"/>
              </a:ext>
            </a:extLst>
          </p:cNvPr>
          <p:cNvSpPr txBox="1"/>
          <p:nvPr/>
        </p:nvSpPr>
        <p:spPr>
          <a:xfrm>
            <a:off x="349564" y="3155364"/>
            <a:ext cx="2348871" cy="1107996"/>
          </a:xfrm>
          <a:prstGeom prst="rect">
            <a:avLst/>
          </a:prstGeom>
          <a:noFill/>
        </p:spPr>
        <p:txBody>
          <a:bodyPr wrap="square" rtlCol="0">
            <a:spAutoFit/>
          </a:bodyPr>
          <a:lstStyle/>
          <a:p>
            <a:pPr algn="ctr"/>
            <a:r>
              <a:rPr lang="en-US" sz="2200" dirty="0"/>
              <a:t>but each line </a:t>
            </a:r>
            <a:r>
              <a:rPr lang="en-US" sz="2200" b="1" dirty="0"/>
              <a:t>changes what we know.</a:t>
            </a:r>
            <a:endParaRPr lang="en-US" sz="2200" dirty="0">
              <a:latin typeface="Consolas" panose="020B0609020204030204" pitchFamily="49" charset="0"/>
              <a:cs typeface="Consolas" panose="020B0609020204030204" pitchFamily="49" charset="0"/>
            </a:endParaRPr>
          </a:p>
        </p:txBody>
      </p:sp>
      <p:sp>
        <p:nvSpPr>
          <p:cNvPr id="10" name="TextBox 9">
            <a:extLst>
              <a:ext uri="{FF2B5EF4-FFF2-40B4-BE49-F238E27FC236}">
                <a16:creationId xmlns:a16="http://schemas.microsoft.com/office/drawing/2014/main" id="{D9B47BF3-C94B-724E-BD3E-12CAEF68E8D7}"/>
              </a:ext>
            </a:extLst>
          </p:cNvPr>
          <p:cNvSpPr txBox="1"/>
          <p:nvPr/>
        </p:nvSpPr>
        <p:spPr>
          <a:xfrm>
            <a:off x="5449530" y="2585978"/>
            <a:ext cx="3505200" cy="1446550"/>
          </a:xfrm>
          <a:prstGeom prst="rect">
            <a:avLst/>
          </a:prstGeom>
          <a:noFill/>
        </p:spPr>
        <p:txBody>
          <a:bodyPr wrap="square" rtlCol="0">
            <a:spAutoFit/>
          </a:bodyPr>
          <a:lstStyle/>
          <a:p>
            <a:pPr algn="ctr"/>
            <a:r>
              <a:rPr lang="en-US" sz="2200" dirty="0"/>
              <a:t>the </a:t>
            </a:r>
            <a:r>
              <a:rPr lang="en-US" sz="2200" b="1" dirty="0"/>
              <a:t>change in knowledge </a:t>
            </a:r>
            <a:r>
              <a:rPr lang="en-US" sz="2200" dirty="0"/>
              <a:t>from one step to the next is formally known as the </a:t>
            </a:r>
            <a:r>
              <a:rPr lang="en-US" sz="2200" b="1" dirty="0"/>
              <a:t>transfer function.</a:t>
            </a:r>
            <a:endParaRPr lang="en-US" sz="2200" dirty="0">
              <a:latin typeface="Consolas" panose="020B0609020204030204" pitchFamily="49" charset="0"/>
              <a:cs typeface="Consolas" panose="020B0609020204030204" pitchFamily="49" charset="0"/>
            </a:endParaRPr>
          </a:p>
        </p:txBody>
      </p:sp>
      <p:sp>
        <p:nvSpPr>
          <p:cNvPr id="11" name="TextBox 10">
            <a:extLst>
              <a:ext uri="{FF2B5EF4-FFF2-40B4-BE49-F238E27FC236}">
                <a16:creationId xmlns:a16="http://schemas.microsoft.com/office/drawing/2014/main" id="{BF951D19-320A-F344-B27E-EFCF09296739}"/>
              </a:ext>
            </a:extLst>
          </p:cNvPr>
          <p:cNvSpPr txBox="1"/>
          <p:nvPr/>
        </p:nvSpPr>
        <p:spPr>
          <a:xfrm>
            <a:off x="5638800" y="4267047"/>
            <a:ext cx="3126660" cy="769441"/>
          </a:xfrm>
          <a:prstGeom prst="rect">
            <a:avLst/>
          </a:prstGeom>
          <a:noFill/>
        </p:spPr>
        <p:txBody>
          <a:bodyPr wrap="square" rtlCol="0">
            <a:spAutoFit/>
          </a:bodyPr>
          <a:lstStyle/>
          <a:p>
            <a:pPr algn="ctr"/>
            <a:r>
              <a:rPr lang="en-US" sz="2200" dirty="0"/>
              <a:t>so let's be a bit more rigorous about this.</a:t>
            </a:r>
            <a:endParaRPr lang="en-US" sz="22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6406990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uiExpand="1" build="p" bldLvl="5"/>
      <p:bldP spid="7" grpId="0"/>
      <p:bldP spid="8" grpId="0"/>
      <p:bldP spid="9" grpId="0"/>
      <p:bldP spid="10" grpId="0"/>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FED6A-F72C-C349-BACB-472B4C04332E}"/>
              </a:ext>
            </a:extLst>
          </p:cNvPr>
          <p:cNvSpPr>
            <a:spLocks noGrp="1"/>
          </p:cNvSpPr>
          <p:nvPr>
            <p:ph type="title"/>
          </p:nvPr>
        </p:nvSpPr>
        <p:spPr/>
        <p:txBody>
          <a:bodyPr/>
          <a:lstStyle/>
          <a:p>
            <a:r>
              <a:rPr lang="en-US" dirty="0"/>
              <a:t>Our states and transfer function</a:t>
            </a:r>
          </a:p>
        </p:txBody>
      </p:sp>
      <p:sp>
        <p:nvSpPr>
          <p:cNvPr id="3" name="Content Placeholder 2">
            <a:extLst>
              <a:ext uri="{FF2B5EF4-FFF2-40B4-BE49-F238E27FC236}">
                <a16:creationId xmlns:a16="http://schemas.microsoft.com/office/drawing/2014/main" id="{82042A45-BEFB-154C-A7E9-BB331DC3B274}"/>
              </a:ext>
            </a:extLst>
          </p:cNvPr>
          <p:cNvSpPr>
            <a:spLocks noGrp="1"/>
          </p:cNvSpPr>
          <p:nvPr>
            <p:ph idx="1"/>
          </p:nvPr>
        </p:nvSpPr>
        <p:spPr/>
        <p:txBody>
          <a:bodyPr/>
          <a:lstStyle/>
          <a:p>
            <a:r>
              <a:rPr lang="en-US" dirty="0"/>
              <a:t>the "knowledge" is properly called the </a:t>
            </a:r>
            <a:r>
              <a:rPr lang="en-US" b="1" dirty="0"/>
              <a:t>state, </a:t>
            </a:r>
            <a:r>
              <a:rPr lang="en-US" dirty="0"/>
              <a:t>and we have two states:</a:t>
            </a:r>
          </a:p>
          <a:p>
            <a:pPr lvl="1"/>
            <a:r>
              <a:rPr lang="en-US" b="1" dirty="0">
                <a:latin typeface="Consolas" panose="020B0609020204030204" pitchFamily="49" charset="0"/>
                <a:cs typeface="Consolas" panose="020B0609020204030204" pitchFamily="49" charset="0"/>
              </a:rPr>
              <a:t>x = ANY</a:t>
            </a:r>
            <a:r>
              <a:rPr lang="en-US" dirty="0"/>
              <a:t>, meaning that </a:t>
            </a:r>
            <a:r>
              <a:rPr lang="en-US" b="1" dirty="0">
                <a:latin typeface="Consolas" panose="020B0609020204030204" pitchFamily="49" charset="0"/>
                <a:cs typeface="Consolas" panose="020B0609020204030204" pitchFamily="49" charset="0"/>
              </a:rPr>
              <a:t>x</a:t>
            </a:r>
            <a:r>
              <a:rPr lang="en-US" dirty="0"/>
              <a:t> could be one of several values; and</a:t>
            </a:r>
          </a:p>
          <a:p>
            <a:pPr lvl="1"/>
            <a:r>
              <a:rPr lang="en-US" b="1" dirty="0">
                <a:latin typeface="Consolas" panose="020B0609020204030204" pitchFamily="49" charset="0"/>
                <a:cs typeface="Consolas" panose="020B0609020204030204" pitchFamily="49" charset="0"/>
              </a:rPr>
              <a:t>x = CONST(c)</a:t>
            </a:r>
            <a:r>
              <a:rPr lang="en-US" dirty="0"/>
              <a:t>, meaning </a:t>
            </a:r>
            <a:r>
              <a:rPr lang="en-US" b="1" dirty="0">
                <a:latin typeface="Consolas" panose="020B0609020204030204" pitchFamily="49" charset="0"/>
                <a:cs typeface="Consolas" panose="020B0609020204030204" pitchFamily="49" charset="0"/>
              </a:rPr>
              <a:t>x</a:t>
            </a:r>
            <a:r>
              <a:rPr lang="en-US" dirty="0"/>
              <a:t> holds a constant </a:t>
            </a:r>
            <a:r>
              <a:rPr lang="en-US" b="1" dirty="0">
                <a:latin typeface="Consolas" panose="020B0609020204030204" pitchFamily="49" charset="0"/>
                <a:cs typeface="Consolas" panose="020B0609020204030204" pitchFamily="49" charset="0"/>
              </a:rPr>
              <a:t>c</a:t>
            </a:r>
            <a:r>
              <a:rPr lang="en-US" dirty="0"/>
              <a:t>. (e.g. </a:t>
            </a:r>
            <a:r>
              <a:rPr lang="en-US" b="1" dirty="0">
                <a:latin typeface="Consolas" panose="020B0609020204030204" pitchFamily="49" charset="0"/>
                <a:cs typeface="Consolas" panose="020B0609020204030204" pitchFamily="49" charset="0"/>
              </a:rPr>
              <a:t>CONST(</a:t>
            </a:r>
            <a:r>
              <a:rPr lang="en-US" b="1" dirty="0">
                <a:solidFill>
                  <a:schemeClr val="accent3">
                    <a:lumMod val="75000"/>
                  </a:schemeClr>
                </a:solidFill>
                <a:latin typeface="Consolas" panose="020B0609020204030204" pitchFamily="49" charset="0"/>
                <a:cs typeface="Consolas" panose="020B0609020204030204" pitchFamily="49" charset="0"/>
              </a:rPr>
              <a:t>7</a:t>
            </a:r>
            <a:r>
              <a:rPr lang="en-US" b="1" dirty="0">
                <a:latin typeface="Consolas" panose="020B0609020204030204" pitchFamily="49" charset="0"/>
                <a:cs typeface="Consolas" panose="020B0609020204030204" pitchFamily="49" charset="0"/>
              </a:rPr>
              <a:t>)</a:t>
            </a:r>
            <a:r>
              <a:rPr lang="en-US" dirty="0"/>
              <a:t>)</a:t>
            </a:r>
          </a:p>
          <a:p>
            <a:r>
              <a:rPr lang="en-US" dirty="0"/>
              <a:t>each instruction has an </a:t>
            </a:r>
            <a:r>
              <a:rPr lang="en-US" b="1" i="1" dirty="0"/>
              <a:t>in</a:t>
            </a:r>
            <a:r>
              <a:rPr lang="en-US" b="1" dirty="0"/>
              <a:t>-state</a:t>
            </a:r>
            <a:r>
              <a:rPr lang="en-US" dirty="0"/>
              <a:t> and an </a:t>
            </a:r>
            <a:r>
              <a:rPr lang="en-US" b="1" i="1" dirty="0"/>
              <a:t>out-</a:t>
            </a:r>
            <a:r>
              <a:rPr lang="en-US" b="1" dirty="0"/>
              <a:t>state</a:t>
            </a:r>
            <a:r>
              <a:rPr lang="en-US" dirty="0"/>
              <a:t>…</a:t>
            </a:r>
          </a:p>
          <a:p>
            <a:pPr lvl="1"/>
            <a:r>
              <a:rPr lang="en-US" dirty="0"/>
              <a:t>and the out-state of one instruction is the in-state of the next.</a:t>
            </a:r>
          </a:p>
          <a:p>
            <a:r>
              <a:rPr lang="en-US" dirty="0"/>
              <a:t>the </a:t>
            </a:r>
            <a:r>
              <a:rPr lang="en-US" b="1" dirty="0"/>
              <a:t>transfer function </a:t>
            </a:r>
            <a:r>
              <a:rPr lang="en-US" dirty="0"/>
              <a:t>takes an instruction and its in-state, and produces its out-state.</a:t>
            </a:r>
          </a:p>
          <a:p>
            <a:r>
              <a:rPr lang="en-US" dirty="0"/>
              <a:t>the transfer function here is simple:</a:t>
            </a:r>
          </a:p>
          <a:p>
            <a:pPr lvl="1"/>
            <a:r>
              <a:rPr lang="en-US" dirty="0"/>
              <a:t>if the instruction is of the form </a:t>
            </a:r>
            <a:r>
              <a:rPr lang="en-US" b="1" dirty="0">
                <a:latin typeface="Consolas" panose="020B0609020204030204" pitchFamily="49" charset="0"/>
                <a:cs typeface="Consolas" panose="020B0609020204030204" pitchFamily="49" charset="0"/>
              </a:rPr>
              <a:t>x = c</a:t>
            </a:r>
            <a:r>
              <a:rPr lang="en-US" dirty="0"/>
              <a:t> for some constant </a:t>
            </a:r>
            <a:r>
              <a:rPr lang="en-US" b="1" dirty="0">
                <a:latin typeface="Consolas" panose="020B0609020204030204" pitchFamily="49" charset="0"/>
                <a:cs typeface="Consolas" panose="020B0609020204030204" pitchFamily="49" charset="0"/>
              </a:rPr>
              <a:t>c</a:t>
            </a:r>
            <a:r>
              <a:rPr lang="en-US" dirty="0"/>
              <a:t>,</a:t>
            </a:r>
          </a:p>
          <a:p>
            <a:pPr lvl="2"/>
            <a:r>
              <a:rPr lang="en-US" dirty="0"/>
              <a:t>then the out-state is </a:t>
            </a:r>
            <a:r>
              <a:rPr lang="en-US" b="1" dirty="0">
                <a:latin typeface="Consolas" panose="020B0609020204030204" pitchFamily="49" charset="0"/>
                <a:cs typeface="Consolas" panose="020B0609020204030204" pitchFamily="49" charset="0"/>
              </a:rPr>
              <a:t>CONST(c)</a:t>
            </a:r>
            <a:r>
              <a:rPr lang="en-US" dirty="0"/>
              <a:t>.</a:t>
            </a:r>
          </a:p>
          <a:p>
            <a:pPr lvl="1"/>
            <a:r>
              <a:rPr lang="en-US" dirty="0"/>
              <a:t>else, if the instruction is of the form </a:t>
            </a:r>
            <a:r>
              <a:rPr lang="en-US" b="1" dirty="0">
                <a:latin typeface="Consolas" panose="020B0609020204030204" pitchFamily="49" charset="0"/>
                <a:cs typeface="Consolas" panose="020B0609020204030204" pitchFamily="49" charset="0"/>
              </a:rPr>
              <a:t>x = …</a:t>
            </a:r>
            <a:r>
              <a:rPr lang="en-US" dirty="0"/>
              <a:t> for </a:t>
            </a:r>
            <a:r>
              <a:rPr lang="en-US" i="1" dirty="0"/>
              <a:t>any other</a:t>
            </a:r>
            <a:r>
              <a:rPr lang="en-US" dirty="0"/>
              <a:t> RHS,</a:t>
            </a:r>
          </a:p>
          <a:p>
            <a:pPr lvl="2"/>
            <a:r>
              <a:rPr lang="en-US" dirty="0"/>
              <a:t>then the out-state is </a:t>
            </a:r>
            <a:r>
              <a:rPr lang="en-US" b="1" dirty="0">
                <a:latin typeface="Consolas" panose="020B0609020204030204" pitchFamily="49" charset="0"/>
                <a:cs typeface="Consolas" panose="020B0609020204030204" pitchFamily="49" charset="0"/>
              </a:rPr>
              <a:t>ANY</a:t>
            </a:r>
            <a:r>
              <a:rPr lang="en-US" dirty="0"/>
              <a:t>.</a:t>
            </a:r>
          </a:p>
          <a:p>
            <a:pPr lvl="1"/>
            <a:r>
              <a:rPr lang="en-US" dirty="0"/>
              <a:t>else, the out-state is </a:t>
            </a:r>
            <a:r>
              <a:rPr lang="en-US" b="1" dirty="0"/>
              <a:t>the in-state,</a:t>
            </a:r>
            <a:r>
              <a:rPr lang="en-US" dirty="0"/>
              <a:t> unmodified.</a:t>
            </a:r>
          </a:p>
        </p:txBody>
      </p:sp>
      <p:sp>
        <p:nvSpPr>
          <p:cNvPr id="4" name="Slide Number Placeholder 3">
            <a:extLst>
              <a:ext uri="{FF2B5EF4-FFF2-40B4-BE49-F238E27FC236}">
                <a16:creationId xmlns:a16="http://schemas.microsoft.com/office/drawing/2014/main" id="{FF3AD19C-7F23-0A48-9D5F-FB3D31CD3B5B}"/>
              </a:ext>
            </a:extLst>
          </p:cNvPr>
          <p:cNvSpPr>
            <a:spLocks noGrp="1"/>
          </p:cNvSpPr>
          <p:nvPr>
            <p:ph type="sldNum" sz="quarter" idx="12"/>
          </p:nvPr>
        </p:nvSpPr>
        <p:spPr/>
        <p:txBody>
          <a:bodyPr/>
          <a:lstStyle/>
          <a:p>
            <a:fld id="{3552B95B-556F-44BD-91A5-D80C1B9E2BB3}" type="slidenum">
              <a:rPr lang="en-US" smtClean="0"/>
              <a:pPr/>
              <a:t>22</a:t>
            </a:fld>
            <a:endParaRPr lang="en-US"/>
          </a:p>
        </p:txBody>
      </p:sp>
    </p:spTree>
    <p:extLst>
      <p:ext uri="{BB962C8B-B14F-4D97-AF65-F5344CB8AC3E}">
        <p14:creationId xmlns:p14="http://schemas.microsoft.com/office/powerpoint/2010/main" val="199145361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E5DDB-A08F-D94B-915C-9023562275E1}"/>
              </a:ext>
            </a:extLst>
          </p:cNvPr>
          <p:cNvSpPr>
            <a:spLocks noGrp="1"/>
          </p:cNvSpPr>
          <p:nvPr>
            <p:ph type="title"/>
          </p:nvPr>
        </p:nvSpPr>
        <p:spPr/>
        <p:txBody>
          <a:bodyPr/>
          <a:lstStyle/>
          <a:p>
            <a:r>
              <a:rPr lang="en-US" dirty="0"/>
              <a:t>Lather, rinse, repeat</a:t>
            </a:r>
          </a:p>
        </p:txBody>
      </p:sp>
      <p:sp>
        <p:nvSpPr>
          <p:cNvPr id="3" name="Content Placeholder 2">
            <a:extLst>
              <a:ext uri="{FF2B5EF4-FFF2-40B4-BE49-F238E27FC236}">
                <a16:creationId xmlns:a16="http://schemas.microsoft.com/office/drawing/2014/main" id="{F9040469-D919-D04B-B07B-BABB373BE08B}"/>
              </a:ext>
            </a:extLst>
          </p:cNvPr>
          <p:cNvSpPr>
            <a:spLocks noGrp="1"/>
          </p:cNvSpPr>
          <p:nvPr>
            <p:ph idx="1"/>
          </p:nvPr>
        </p:nvSpPr>
        <p:spPr>
          <a:xfrm>
            <a:off x="152400" y="495301"/>
            <a:ext cx="8991600" cy="838199"/>
          </a:xfrm>
        </p:spPr>
        <p:txBody>
          <a:bodyPr/>
          <a:lstStyle/>
          <a:p>
            <a:r>
              <a:rPr lang="en-US" dirty="0"/>
              <a:t>we can use this transfer function to compute the out-state for </a:t>
            </a:r>
            <a:r>
              <a:rPr lang="en-US" b="1" dirty="0"/>
              <a:t>a basic block as a whole, </a:t>
            </a:r>
            <a:r>
              <a:rPr lang="en-US" dirty="0"/>
              <a:t>as well.</a:t>
            </a:r>
            <a:endParaRPr lang="en-US" b="1" dirty="0"/>
          </a:p>
        </p:txBody>
      </p:sp>
      <p:sp>
        <p:nvSpPr>
          <p:cNvPr id="4" name="Slide Number Placeholder 3">
            <a:extLst>
              <a:ext uri="{FF2B5EF4-FFF2-40B4-BE49-F238E27FC236}">
                <a16:creationId xmlns:a16="http://schemas.microsoft.com/office/drawing/2014/main" id="{3EF778C4-5184-3448-8617-2E2121184CBD}"/>
              </a:ext>
            </a:extLst>
          </p:cNvPr>
          <p:cNvSpPr>
            <a:spLocks noGrp="1"/>
          </p:cNvSpPr>
          <p:nvPr>
            <p:ph type="sldNum" sz="quarter" idx="12"/>
          </p:nvPr>
        </p:nvSpPr>
        <p:spPr/>
        <p:txBody>
          <a:bodyPr/>
          <a:lstStyle/>
          <a:p>
            <a:fld id="{3552B95B-556F-44BD-91A5-D80C1B9E2BB3}" type="slidenum">
              <a:rPr lang="en-US" smtClean="0"/>
              <a:pPr/>
              <a:t>23</a:t>
            </a:fld>
            <a:endParaRPr lang="en-US"/>
          </a:p>
        </p:txBody>
      </p:sp>
      <p:sp>
        <p:nvSpPr>
          <p:cNvPr id="5" name="Rectangle 4">
            <a:extLst>
              <a:ext uri="{FF2B5EF4-FFF2-40B4-BE49-F238E27FC236}">
                <a16:creationId xmlns:a16="http://schemas.microsoft.com/office/drawing/2014/main" id="{8C851D6C-04F7-DA43-AA4B-2B559E0571A5}"/>
              </a:ext>
            </a:extLst>
          </p:cNvPr>
          <p:cNvSpPr/>
          <p:nvPr/>
        </p:nvSpPr>
        <p:spPr>
          <a:xfrm>
            <a:off x="2349910" y="1875044"/>
            <a:ext cx="1447800" cy="1938992"/>
          </a:xfrm>
          <a:prstGeom prst="rect">
            <a:avLst/>
          </a:prstGeom>
          <a:solidFill>
            <a:schemeClr val="accent1">
              <a:lumMod val="40000"/>
              <a:lumOff val="60000"/>
            </a:schemeClr>
          </a:solidFill>
        </p:spPr>
        <p:txBody>
          <a:bodyPr wrap="square">
            <a:spAutoFit/>
          </a:bodyPr>
          <a:lstStyle/>
          <a:p>
            <a:r>
              <a:rPr lang="en-US" sz="2000" b="1" dirty="0">
                <a:latin typeface="Consolas" panose="020B0609020204030204" pitchFamily="49" charset="0"/>
                <a:cs typeface="Consolas" panose="020B0609020204030204" pitchFamily="49" charset="0"/>
              </a:rPr>
              <a:t>x = </a:t>
            </a:r>
            <a:r>
              <a:rPr lang="en-US" sz="2000" b="1" dirty="0">
                <a:solidFill>
                  <a:schemeClr val="accent3">
                    <a:lumMod val="75000"/>
                  </a:schemeClr>
                </a:solidFill>
                <a:latin typeface="Consolas" panose="020B0609020204030204" pitchFamily="49" charset="0"/>
                <a:cs typeface="Consolas" panose="020B0609020204030204" pitchFamily="49" charset="0"/>
              </a:rPr>
              <a:t>4</a:t>
            </a:r>
            <a:endParaRPr lang="en-US" sz="2000" b="1" dirty="0">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y = </a:t>
            </a:r>
            <a:r>
              <a:rPr lang="en-US" sz="2000" b="1" dirty="0">
                <a:solidFill>
                  <a:schemeClr val="accent3">
                    <a:lumMod val="75000"/>
                  </a:schemeClr>
                </a:solidFill>
                <a:latin typeface="Consolas" panose="020B0609020204030204" pitchFamily="49" charset="0"/>
                <a:cs typeface="Consolas" panose="020B0609020204030204" pitchFamily="49" charset="0"/>
              </a:rPr>
              <a:t>5</a:t>
            </a:r>
            <a:endParaRPr lang="en-US" sz="2000" b="1" dirty="0">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x = f()</a:t>
            </a:r>
          </a:p>
          <a:p>
            <a:r>
              <a:rPr lang="en-US" sz="2000" b="1" dirty="0">
                <a:latin typeface="Consolas" panose="020B0609020204030204" pitchFamily="49" charset="0"/>
                <a:cs typeface="Consolas" panose="020B0609020204030204" pitchFamily="49" charset="0"/>
              </a:rPr>
              <a:t>x = </a:t>
            </a:r>
            <a:r>
              <a:rPr lang="en-US" sz="2000" b="1" dirty="0">
                <a:solidFill>
                  <a:schemeClr val="accent3">
                    <a:lumMod val="75000"/>
                  </a:schemeClr>
                </a:solidFill>
                <a:latin typeface="Consolas" panose="020B0609020204030204" pitchFamily="49" charset="0"/>
                <a:cs typeface="Consolas" panose="020B0609020204030204" pitchFamily="49" charset="0"/>
              </a:rPr>
              <a:t>9</a:t>
            </a:r>
          </a:p>
          <a:p>
            <a:r>
              <a:rPr lang="en-US" sz="2000" b="1" dirty="0">
                <a:latin typeface="Consolas" panose="020B0609020204030204" pitchFamily="49" charset="0"/>
                <a:cs typeface="Consolas" panose="020B0609020204030204" pitchFamily="49" charset="0"/>
              </a:rPr>
              <a:t>y = g()</a:t>
            </a:r>
          </a:p>
          <a:p>
            <a:r>
              <a:rPr lang="en-US" sz="2000" b="1" dirty="0" err="1">
                <a:solidFill>
                  <a:srgbClr val="FF0000"/>
                </a:solidFill>
                <a:latin typeface="Consolas" panose="020B0609020204030204" pitchFamily="49" charset="0"/>
                <a:cs typeface="Consolas" panose="020B0609020204030204" pitchFamily="49" charset="0"/>
              </a:rPr>
              <a:t>goto</a:t>
            </a:r>
            <a:r>
              <a:rPr lang="en-US" sz="2000" b="1" dirty="0">
                <a:latin typeface="Consolas" panose="020B0609020204030204" pitchFamily="49" charset="0"/>
                <a:cs typeface="Consolas" panose="020B0609020204030204" pitchFamily="49" charset="0"/>
              </a:rPr>
              <a:t> bb7</a:t>
            </a:r>
          </a:p>
        </p:txBody>
      </p:sp>
      <p:sp>
        <p:nvSpPr>
          <p:cNvPr id="6" name="Rectangle 5">
            <a:extLst>
              <a:ext uri="{FF2B5EF4-FFF2-40B4-BE49-F238E27FC236}">
                <a16:creationId xmlns:a16="http://schemas.microsoft.com/office/drawing/2014/main" id="{224AFCA3-CA9A-794E-B1C2-ED4CC4878238}"/>
              </a:ext>
            </a:extLst>
          </p:cNvPr>
          <p:cNvSpPr/>
          <p:nvPr/>
        </p:nvSpPr>
        <p:spPr>
          <a:xfrm>
            <a:off x="2349910" y="4434227"/>
            <a:ext cx="1447800" cy="707886"/>
          </a:xfrm>
          <a:prstGeom prst="rect">
            <a:avLst/>
          </a:prstGeom>
          <a:solidFill>
            <a:schemeClr val="accent2">
              <a:lumMod val="40000"/>
              <a:lumOff val="60000"/>
            </a:schemeClr>
          </a:solidFill>
        </p:spPr>
        <p:txBody>
          <a:bodyPr wrap="square">
            <a:spAutoFit/>
          </a:bodyPr>
          <a:lstStyle/>
          <a:p>
            <a:r>
              <a:rPr lang="en-US" sz="2000" b="1" dirty="0">
                <a:latin typeface="Consolas" panose="020B0609020204030204" pitchFamily="49" charset="0"/>
                <a:cs typeface="Consolas" panose="020B0609020204030204" pitchFamily="49" charset="0"/>
              </a:rPr>
              <a:t>$t0 = x</a:t>
            </a:r>
          </a:p>
          <a:p>
            <a:r>
              <a:rPr lang="en-US" sz="2000" b="1" dirty="0">
                <a:solidFill>
                  <a:srgbClr val="FF0000"/>
                </a:solidFill>
                <a:latin typeface="Consolas" panose="020B0609020204030204" pitchFamily="49" charset="0"/>
                <a:cs typeface="Consolas" panose="020B0609020204030204" pitchFamily="49" charset="0"/>
              </a:rPr>
              <a:t>return</a:t>
            </a:r>
            <a:endParaRPr lang="en-US" sz="2000" b="1" dirty="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E4E54959-778F-AF46-B3F1-6A1AE7B69824}"/>
              </a:ext>
            </a:extLst>
          </p:cNvPr>
          <p:cNvSpPr txBox="1"/>
          <p:nvPr/>
        </p:nvSpPr>
        <p:spPr>
          <a:xfrm>
            <a:off x="2730910" y="1333500"/>
            <a:ext cx="4458930" cy="430887"/>
          </a:xfrm>
          <a:prstGeom prst="rect">
            <a:avLst/>
          </a:prstGeom>
          <a:noFill/>
        </p:spPr>
        <p:txBody>
          <a:bodyPr wrap="square" rtlCol="0">
            <a:spAutoFit/>
          </a:bodyPr>
          <a:lstStyle/>
          <a:p>
            <a:pPr algn="ctr"/>
            <a:r>
              <a:rPr lang="en-US" sz="2200" dirty="0"/>
              <a:t>there is some in-state for this BB.</a:t>
            </a:r>
            <a:endParaRPr lang="en-US" sz="2200" dirty="0">
              <a:latin typeface="Consolas" panose="020B0609020204030204" pitchFamily="49" charset="0"/>
              <a:cs typeface="Consolas" panose="020B0609020204030204" pitchFamily="49" charset="0"/>
            </a:endParaRPr>
          </a:p>
        </p:txBody>
      </p:sp>
      <p:sp>
        <p:nvSpPr>
          <p:cNvPr id="10" name="TextBox 9">
            <a:extLst>
              <a:ext uri="{FF2B5EF4-FFF2-40B4-BE49-F238E27FC236}">
                <a16:creationId xmlns:a16="http://schemas.microsoft.com/office/drawing/2014/main" id="{9CD2592B-AFF5-6E48-B5F1-D761030478BE}"/>
              </a:ext>
            </a:extLst>
          </p:cNvPr>
          <p:cNvSpPr txBox="1"/>
          <p:nvPr/>
        </p:nvSpPr>
        <p:spPr>
          <a:xfrm>
            <a:off x="3797710" y="2013426"/>
            <a:ext cx="4800600" cy="769441"/>
          </a:xfrm>
          <a:prstGeom prst="rect">
            <a:avLst/>
          </a:prstGeom>
          <a:noFill/>
        </p:spPr>
        <p:txBody>
          <a:bodyPr wrap="square" rtlCol="0">
            <a:spAutoFit/>
          </a:bodyPr>
          <a:lstStyle/>
          <a:p>
            <a:pPr algn="ctr"/>
            <a:r>
              <a:rPr lang="en-US" sz="2200" dirty="0"/>
              <a:t>we repeatedly apply the transfer function to the instructions inside…</a:t>
            </a:r>
            <a:endParaRPr lang="en-US" sz="2200" dirty="0">
              <a:latin typeface="Consolas" panose="020B0609020204030204" pitchFamily="49" charset="0"/>
              <a:cs typeface="Consolas" panose="020B0609020204030204" pitchFamily="49" charset="0"/>
            </a:endParaRPr>
          </a:p>
        </p:txBody>
      </p:sp>
      <p:sp>
        <p:nvSpPr>
          <p:cNvPr id="11" name="TextBox 10">
            <a:extLst>
              <a:ext uri="{FF2B5EF4-FFF2-40B4-BE49-F238E27FC236}">
                <a16:creationId xmlns:a16="http://schemas.microsoft.com/office/drawing/2014/main" id="{D36630AA-260C-064A-87B5-3C43DA123EA6}"/>
              </a:ext>
            </a:extLst>
          </p:cNvPr>
          <p:cNvSpPr txBox="1"/>
          <p:nvPr/>
        </p:nvSpPr>
        <p:spPr>
          <a:xfrm>
            <a:off x="3810000" y="3028487"/>
            <a:ext cx="4800600" cy="430887"/>
          </a:xfrm>
          <a:prstGeom prst="rect">
            <a:avLst/>
          </a:prstGeom>
          <a:noFill/>
        </p:spPr>
        <p:txBody>
          <a:bodyPr wrap="square" rtlCol="0">
            <a:spAutoFit/>
          </a:bodyPr>
          <a:lstStyle/>
          <a:p>
            <a:pPr algn="ctr"/>
            <a:r>
              <a:rPr lang="en-US" sz="2200" dirty="0"/>
              <a:t>and that gives us the BB's out-state. </a:t>
            </a:r>
            <a:endParaRPr lang="en-US" sz="2200" dirty="0">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DCA1C044-AA2E-914B-B7AA-A068990C89CD}"/>
              </a:ext>
            </a:extLst>
          </p:cNvPr>
          <p:cNvSpPr txBox="1"/>
          <p:nvPr/>
        </p:nvSpPr>
        <p:spPr>
          <a:xfrm>
            <a:off x="4140610" y="3704994"/>
            <a:ext cx="4800600" cy="769441"/>
          </a:xfrm>
          <a:prstGeom prst="rect">
            <a:avLst/>
          </a:prstGeom>
          <a:noFill/>
        </p:spPr>
        <p:txBody>
          <a:bodyPr wrap="square" rtlCol="0">
            <a:spAutoFit/>
          </a:bodyPr>
          <a:lstStyle/>
          <a:p>
            <a:pPr algn="ctr"/>
            <a:r>
              <a:rPr lang="en-US" sz="2200" dirty="0"/>
              <a:t>and as you might imagine, that can become the in-state for the </a:t>
            </a:r>
            <a:r>
              <a:rPr lang="en-US" sz="2200" b="1" dirty="0"/>
              <a:t>next</a:t>
            </a:r>
            <a:r>
              <a:rPr lang="en-US" sz="2200" dirty="0"/>
              <a:t> BB!</a:t>
            </a:r>
            <a:endParaRPr lang="en-US" sz="2200" dirty="0">
              <a:latin typeface="Consolas" panose="020B0609020204030204" pitchFamily="49" charset="0"/>
              <a:cs typeface="Consolas" panose="020B0609020204030204" pitchFamily="49" charset="0"/>
            </a:endParaRPr>
          </a:p>
        </p:txBody>
      </p:sp>
      <p:grpSp>
        <p:nvGrpSpPr>
          <p:cNvPr id="33" name="Group 32">
            <a:extLst>
              <a:ext uri="{FF2B5EF4-FFF2-40B4-BE49-F238E27FC236}">
                <a16:creationId xmlns:a16="http://schemas.microsoft.com/office/drawing/2014/main" id="{1A3F44D4-F7C7-5A42-A147-B2D651FD7594}"/>
              </a:ext>
            </a:extLst>
          </p:cNvPr>
          <p:cNvGrpSpPr/>
          <p:nvPr/>
        </p:nvGrpSpPr>
        <p:grpSpPr>
          <a:xfrm>
            <a:off x="1354983" y="1397218"/>
            <a:ext cx="1147327" cy="477826"/>
            <a:chOff x="1354983" y="1397218"/>
            <a:chExt cx="1147327" cy="477826"/>
          </a:xfrm>
        </p:grpSpPr>
        <p:cxnSp>
          <p:nvCxnSpPr>
            <p:cNvPr id="9" name="Straight Arrow Connector 8">
              <a:extLst>
                <a:ext uri="{FF2B5EF4-FFF2-40B4-BE49-F238E27FC236}">
                  <a16:creationId xmlns:a16="http://schemas.microsoft.com/office/drawing/2014/main" id="{012078B4-7584-CC45-9FF5-51212E2DACFA}"/>
                </a:ext>
              </a:extLst>
            </p:cNvPr>
            <p:cNvCxnSpPr/>
            <p:nvPr/>
          </p:nvCxnSpPr>
          <p:spPr>
            <a:xfrm>
              <a:off x="2502310" y="1408313"/>
              <a:ext cx="0" cy="46673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D91DA35-E6EF-7D40-921D-DA7A78115988}"/>
                </a:ext>
              </a:extLst>
            </p:cNvPr>
            <p:cNvSpPr txBox="1"/>
            <p:nvPr/>
          </p:nvSpPr>
          <p:spPr>
            <a:xfrm>
              <a:off x="1354983" y="1397218"/>
              <a:ext cx="1071127" cy="369332"/>
            </a:xfrm>
            <a:prstGeom prst="rect">
              <a:avLst/>
            </a:prstGeom>
            <a:noFill/>
          </p:spPr>
          <p:txBody>
            <a:bodyPr wrap="none" rtlCol="0">
              <a:spAutoFit/>
            </a:bodyPr>
            <a:lstStyle/>
            <a:p>
              <a:pPr algn="r"/>
              <a:r>
                <a:rPr lang="en-US" sz="1800" i="1" dirty="0">
                  <a:latin typeface="Consolas" panose="020B0609020204030204" pitchFamily="49" charset="0"/>
                  <a:cs typeface="Consolas" panose="020B0609020204030204" pitchFamily="49" charset="0"/>
                </a:rPr>
                <a:t>x = ANY</a:t>
              </a:r>
            </a:p>
          </p:txBody>
        </p:sp>
      </p:grpSp>
      <p:grpSp>
        <p:nvGrpSpPr>
          <p:cNvPr id="34" name="Group 33">
            <a:extLst>
              <a:ext uri="{FF2B5EF4-FFF2-40B4-BE49-F238E27FC236}">
                <a16:creationId xmlns:a16="http://schemas.microsoft.com/office/drawing/2014/main" id="{3E20C733-292C-474D-928A-EB780444FED5}"/>
              </a:ext>
            </a:extLst>
          </p:cNvPr>
          <p:cNvGrpSpPr/>
          <p:nvPr/>
        </p:nvGrpSpPr>
        <p:grpSpPr>
          <a:xfrm>
            <a:off x="395515" y="1943100"/>
            <a:ext cx="2119085" cy="485453"/>
            <a:chOff x="395515" y="2047273"/>
            <a:chExt cx="2119085" cy="485453"/>
          </a:xfrm>
        </p:grpSpPr>
        <p:sp>
          <p:nvSpPr>
            <p:cNvPr id="16" name="Arc 15">
              <a:extLst>
                <a:ext uri="{FF2B5EF4-FFF2-40B4-BE49-F238E27FC236}">
                  <a16:creationId xmlns:a16="http://schemas.microsoft.com/office/drawing/2014/main" id="{D70737F9-6943-E84B-90CD-1A1723D3A1AC}"/>
                </a:ext>
              </a:extLst>
            </p:cNvPr>
            <p:cNvSpPr/>
            <p:nvPr/>
          </p:nvSpPr>
          <p:spPr>
            <a:xfrm flipH="1">
              <a:off x="2185220" y="2047273"/>
              <a:ext cx="329380" cy="294502"/>
            </a:xfrm>
            <a:prstGeom prst="arc">
              <a:avLst>
                <a:gd name="adj1" fmla="val 16200000"/>
                <a:gd name="adj2" fmla="val 5439158"/>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TextBox 23">
              <a:extLst>
                <a:ext uri="{FF2B5EF4-FFF2-40B4-BE49-F238E27FC236}">
                  <a16:creationId xmlns:a16="http://schemas.microsoft.com/office/drawing/2014/main" id="{DB414510-B216-6943-B0E2-5EF38C305018}"/>
                </a:ext>
              </a:extLst>
            </p:cNvPr>
            <p:cNvSpPr txBox="1"/>
            <p:nvPr/>
          </p:nvSpPr>
          <p:spPr>
            <a:xfrm>
              <a:off x="395515" y="2163394"/>
              <a:ext cx="1704313" cy="369332"/>
            </a:xfrm>
            <a:prstGeom prst="rect">
              <a:avLst/>
            </a:prstGeom>
            <a:noFill/>
          </p:spPr>
          <p:txBody>
            <a:bodyPr wrap="none" rtlCol="0">
              <a:spAutoFit/>
            </a:bodyPr>
            <a:lstStyle/>
            <a:p>
              <a:pPr algn="r"/>
              <a:r>
                <a:rPr lang="en-US" sz="1800" i="1" dirty="0">
                  <a:latin typeface="Consolas" panose="020B0609020204030204" pitchFamily="49" charset="0"/>
                  <a:cs typeface="Consolas" panose="020B0609020204030204" pitchFamily="49" charset="0"/>
                </a:rPr>
                <a:t>x = CONST(4)</a:t>
              </a:r>
            </a:p>
          </p:txBody>
        </p:sp>
      </p:grpSp>
      <p:grpSp>
        <p:nvGrpSpPr>
          <p:cNvPr id="35" name="Group 34">
            <a:extLst>
              <a:ext uri="{FF2B5EF4-FFF2-40B4-BE49-F238E27FC236}">
                <a16:creationId xmlns:a16="http://schemas.microsoft.com/office/drawing/2014/main" id="{F5CC8FCB-1FA9-3A48-9A7C-4698256775AA}"/>
              </a:ext>
            </a:extLst>
          </p:cNvPr>
          <p:cNvGrpSpPr/>
          <p:nvPr/>
        </p:nvGrpSpPr>
        <p:grpSpPr>
          <a:xfrm>
            <a:off x="395515" y="2270022"/>
            <a:ext cx="2119085" cy="481283"/>
            <a:chOff x="395515" y="2374195"/>
            <a:chExt cx="2119085" cy="481283"/>
          </a:xfrm>
        </p:grpSpPr>
        <p:sp>
          <p:nvSpPr>
            <p:cNvPr id="20" name="Arc 19">
              <a:extLst>
                <a:ext uri="{FF2B5EF4-FFF2-40B4-BE49-F238E27FC236}">
                  <a16:creationId xmlns:a16="http://schemas.microsoft.com/office/drawing/2014/main" id="{C17E0F7E-58FC-2A45-BCC3-807F45BC4AD8}"/>
                </a:ext>
              </a:extLst>
            </p:cNvPr>
            <p:cNvSpPr/>
            <p:nvPr/>
          </p:nvSpPr>
          <p:spPr>
            <a:xfrm flipH="1">
              <a:off x="2185220" y="2374195"/>
              <a:ext cx="329380" cy="294502"/>
            </a:xfrm>
            <a:prstGeom prst="arc">
              <a:avLst>
                <a:gd name="adj1" fmla="val 16200000"/>
                <a:gd name="adj2" fmla="val 5289868"/>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D1436A74-8023-7240-99B5-B2A032639DDF}"/>
                </a:ext>
              </a:extLst>
            </p:cNvPr>
            <p:cNvSpPr txBox="1"/>
            <p:nvPr/>
          </p:nvSpPr>
          <p:spPr>
            <a:xfrm>
              <a:off x="395515" y="2486146"/>
              <a:ext cx="1704313" cy="369332"/>
            </a:xfrm>
            <a:prstGeom prst="rect">
              <a:avLst/>
            </a:prstGeom>
            <a:noFill/>
          </p:spPr>
          <p:txBody>
            <a:bodyPr wrap="none" rtlCol="0">
              <a:spAutoFit/>
            </a:bodyPr>
            <a:lstStyle/>
            <a:p>
              <a:pPr algn="r"/>
              <a:r>
                <a:rPr lang="en-US" sz="1800" i="1" dirty="0">
                  <a:latin typeface="Consolas" panose="020B0609020204030204" pitchFamily="49" charset="0"/>
                  <a:cs typeface="Consolas" panose="020B0609020204030204" pitchFamily="49" charset="0"/>
                </a:rPr>
                <a:t>x = CONST(4)</a:t>
              </a:r>
            </a:p>
          </p:txBody>
        </p:sp>
      </p:grpSp>
      <p:grpSp>
        <p:nvGrpSpPr>
          <p:cNvPr id="36" name="Group 35">
            <a:extLst>
              <a:ext uri="{FF2B5EF4-FFF2-40B4-BE49-F238E27FC236}">
                <a16:creationId xmlns:a16="http://schemas.microsoft.com/office/drawing/2014/main" id="{1A3CF55A-5594-B541-BFAA-717E7F2BC98B}"/>
              </a:ext>
            </a:extLst>
          </p:cNvPr>
          <p:cNvGrpSpPr/>
          <p:nvPr/>
        </p:nvGrpSpPr>
        <p:grpSpPr>
          <a:xfrm>
            <a:off x="1028701" y="2596944"/>
            <a:ext cx="1485899" cy="484487"/>
            <a:chOff x="1028701" y="2701117"/>
            <a:chExt cx="1485899" cy="484487"/>
          </a:xfrm>
        </p:grpSpPr>
        <p:sp>
          <p:nvSpPr>
            <p:cNvPr id="21" name="Arc 20">
              <a:extLst>
                <a:ext uri="{FF2B5EF4-FFF2-40B4-BE49-F238E27FC236}">
                  <a16:creationId xmlns:a16="http://schemas.microsoft.com/office/drawing/2014/main" id="{45D76FB5-9B64-1D4F-BAE3-555151C29EDA}"/>
                </a:ext>
              </a:extLst>
            </p:cNvPr>
            <p:cNvSpPr/>
            <p:nvPr/>
          </p:nvSpPr>
          <p:spPr>
            <a:xfrm flipH="1">
              <a:off x="2185220" y="2701117"/>
              <a:ext cx="329380" cy="294502"/>
            </a:xfrm>
            <a:prstGeom prst="arc">
              <a:avLst>
                <a:gd name="adj1" fmla="val 16200000"/>
                <a:gd name="adj2" fmla="val 5289868"/>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a:extLst>
                <a:ext uri="{FF2B5EF4-FFF2-40B4-BE49-F238E27FC236}">
                  <a16:creationId xmlns:a16="http://schemas.microsoft.com/office/drawing/2014/main" id="{94EC2894-9F0D-3140-A00D-B2441A460F4A}"/>
                </a:ext>
              </a:extLst>
            </p:cNvPr>
            <p:cNvSpPr txBox="1"/>
            <p:nvPr/>
          </p:nvSpPr>
          <p:spPr>
            <a:xfrm>
              <a:off x="1028701" y="2816272"/>
              <a:ext cx="1071127" cy="369332"/>
            </a:xfrm>
            <a:prstGeom prst="rect">
              <a:avLst/>
            </a:prstGeom>
            <a:noFill/>
          </p:spPr>
          <p:txBody>
            <a:bodyPr wrap="none" rtlCol="0">
              <a:spAutoFit/>
            </a:bodyPr>
            <a:lstStyle/>
            <a:p>
              <a:pPr algn="r"/>
              <a:r>
                <a:rPr lang="en-US" sz="1800" i="1" dirty="0">
                  <a:latin typeface="Consolas" panose="020B0609020204030204" pitchFamily="49" charset="0"/>
                  <a:cs typeface="Consolas" panose="020B0609020204030204" pitchFamily="49" charset="0"/>
                </a:rPr>
                <a:t>x = ANY</a:t>
              </a:r>
            </a:p>
          </p:txBody>
        </p:sp>
      </p:grpSp>
      <p:grpSp>
        <p:nvGrpSpPr>
          <p:cNvPr id="37" name="Group 36">
            <a:extLst>
              <a:ext uri="{FF2B5EF4-FFF2-40B4-BE49-F238E27FC236}">
                <a16:creationId xmlns:a16="http://schemas.microsoft.com/office/drawing/2014/main" id="{78A270E0-B410-7B4F-A806-03B7386B929D}"/>
              </a:ext>
            </a:extLst>
          </p:cNvPr>
          <p:cNvGrpSpPr/>
          <p:nvPr/>
        </p:nvGrpSpPr>
        <p:grpSpPr>
          <a:xfrm>
            <a:off x="395515" y="2923866"/>
            <a:ext cx="2119085" cy="466536"/>
            <a:chOff x="395515" y="3028039"/>
            <a:chExt cx="2119085" cy="466536"/>
          </a:xfrm>
        </p:grpSpPr>
        <p:sp>
          <p:nvSpPr>
            <p:cNvPr id="22" name="Arc 21">
              <a:extLst>
                <a:ext uri="{FF2B5EF4-FFF2-40B4-BE49-F238E27FC236}">
                  <a16:creationId xmlns:a16="http://schemas.microsoft.com/office/drawing/2014/main" id="{EB6E0E9B-45B0-A441-B66C-D6ADF2F5E577}"/>
                </a:ext>
              </a:extLst>
            </p:cNvPr>
            <p:cNvSpPr/>
            <p:nvPr/>
          </p:nvSpPr>
          <p:spPr>
            <a:xfrm flipH="1">
              <a:off x="2185220" y="3028039"/>
              <a:ext cx="329380" cy="294502"/>
            </a:xfrm>
            <a:prstGeom prst="arc">
              <a:avLst>
                <a:gd name="adj1" fmla="val 16200000"/>
                <a:gd name="adj2" fmla="val 5289868"/>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9AD1F820-8505-D941-8137-328FC579FB3E}"/>
                </a:ext>
              </a:extLst>
            </p:cNvPr>
            <p:cNvSpPr txBox="1"/>
            <p:nvPr/>
          </p:nvSpPr>
          <p:spPr>
            <a:xfrm>
              <a:off x="395515" y="3125243"/>
              <a:ext cx="1704313" cy="369332"/>
            </a:xfrm>
            <a:prstGeom prst="rect">
              <a:avLst/>
            </a:prstGeom>
            <a:noFill/>
          </p:spPr>
          <p:txBody>
            <a:bodyPr wrap="none" rtlCol="0">
              <a:spAutoFit/>
            </a:bodyPr>
            <a:lstStyle/>
            <a:p>
              <a:pPr algn="r"/>
              <a:r>
                <a:rPr lang="en-US" sz="1800" i="1" dirty="0">
                  <a:latin typeface="Consolas" panose="020B0609020204030204" pitchFamily="49" charset="0"/>
                  <a:cs typeface="Consolas" panose="020B0609020204030204" pitchFamily="49" charset="0"/>
                </a:rPr>
                <a:t>x = CONST(9)</a:t>
              </a:r>
            </a:p>
          </p:txBody>
        </p:sp>
      </p:grpSp>
      <p:grpSp>
        <p:nvGrpSpPr>
          <p:cNvPr id="38" name="Group 37">
            <a:extLst>
              <a:ext uri="{FF2B5EF4-FFF2-40B4-BE49-F238E27FC236}">
                <a16:creationId xmlns:a16="http://schemas.microsoft.com/office/drawing/2014/main" id="{2AEB31FC-F6F2-8F42-A1CA-5F94A3845E0F}"/>
              </a:ext>
            </a:extLst>
          </p:cNvPr>
          <p:cNvGrpSpPr/>
          <p:nvPr/>
        </p:nvGrpSpPr>
        <p:grpSpPr>
          <a:xfrm>
            <a:off x="395515" y="3250788"/>
            <a:ext cx="2119085" cy="459075"/>
            <a:chOff x="395515" y="3354961"/>
            <a:chExt cx="2119085" cy="459075"/>
          </a:xfrm>
        </p:grpSpPr>
        <p:sp>
          <p:nvSpPr>
            <p:cNvPr id="23" name="Arc 22">
              <a:extLst>
                <a:ext uri="{FF2B5EF4-FFF2-40B4-BE49-F238E27FC236}">
                  <a16:creationId xmlns:a16="http://schemas.microsoft.com/office/drawing/2014/main" id="{4B484891-9D8B-4A49-A5EA-F46A0EC8693A}"/>
                </a:ext>
              </a:extLst>
            </p:cNvPr>
            <p:cNvSpPr/>
            <p:nvPr/>
          </p:nvSpPr>
          <p:spPr>
            <a:xfrm flipH="1">
              <a:off x="2185220" y="3354961"/>
              <a:ext cx="329380" cy="294502"/>
            </a:xfrm>
            <a:prstGeom prst="arc">
              <a:avLst>
                <a:gd name="adj1" fmla="val 16200000"/>
                <a:gd name="adj2" fmla="val 5289868"/>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TextBox 29">
              <a:extLst>
                <a:ext uri="{FF2B5EF4-FFF2-40B4-BE49-F238E27FC236}">
                  <a16:creationId xmlns:a16="http://schemas.microsoft.com/office/drawing/2014/main" id="{AD2543AF-B1BF-FE4F-926E-9117BAF1B18F}"/>
                </a:ext>
              </a:extLst>
            </p:cNvPr>
            <p:cNvSpPr txBox="1"/>
            <p:nvPr/>
          </p:nvSpPr>
          <p:spPr>
            <a:xfrm>
              <a:off x="395515" y="3444704"/>
              <a:ext cx="1704313" cy="369332"/>
            </a:xfrm>
            <a:prstGeom prst="rect">
              <a:avLst/>
            </a:prstGeom>
            <a:noFill/>
          </p:spPr>
          <p:txBody>
            <a:bodyPr wrap="none" rtlCol="0">
              <a:spAutoFit/>
            </a:bodyPr>
            <a:lstStyle/>
            <a:p>
              <a:pPr algn="r"/>
              <a:r>
                <a:rPr lang="en-US" sz="1800" i="1" dirty="0">
                  <a:latin typeface="Consolas" panose="020B0609020204030204" pitchFamily="49" charset="0"/>
                  <a:cs typeface="Consolas" panose="020B0609020204030204" pitchFamily="49" charset="0"/>
                </a:rPr>
                <a:t>x = CONST(9)</a:t>
              </a:r>
            </a:p>
          </p:txBody>
        </p:sp>
      </p:grpSp>
      <p:grpSp>
        <p:nvGrpSpPr>
          <p:cNvPr id="39" name="Group 38">
            <a:extLst>
              <a:ext uri="{FF2B5EF4-FFF2-40B4-BE49-F238E27FC236}">
                <a16:creationId xmlns:a16="http://schemas.microsoft.com/office/drawing/2014/main" id="{083E944F-DA2D-F74C-9283-5EF8E6E0C8CE}"/>
              </a:ext>
            </a:extLst>
          </p:cNvPr>
          <p:cNvGrpSpPr/>
          <p:nvPr/>
        </p:nvGrpSpPr>
        <p:grpSpPr>
          <a:xfrm>
            <a:off x="797997" y="3814036"/>
            <a:ext cx="1726436" cy="620191"/>
            <a:chOff x="797997" y="3814036"/>
            <a:chExt cx="1726436" cy="620191"/>
          </a:xfrm>
        </p:grpSpPr>
        <p:cxnSp>
          <p:nvCxnSpPr>
            <p:cNvPr id="13" name="Straight Arrow Connector 12">
              <a:extLst>
                <a:ext uri="{FF2B5EF4-FFF2-40B4-BE49-F238E27FC236}">
                  <a16:creationId xmlns:a16="http://schemas.microsoft.com/office/drawing/2014/main" id="{CC940F8D-B589-E74D-B6DF-A627C736374E}"/>
                </a:ext>
              </a:extLst>
            </p:cNvPr>
            <p:cNvCxnSpPr>
              <a:cxnSpLocks/>
            </p:cNvCxnSpPr>
            <p:nvPr/>
          </p:nvCxnSpPr>
          <p:spPr>
            <a:xfrm>
              <a:off x="2524433" y="3814036"/>
              <a:ext cx="0" cy="62019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277177DC-8393-DC43-B2BB-695A7F588536}"/>
                </a:ext>
              </a:extLst>
            </p:cNvPr>
            <p:cNvSpPr txBox="1"/>
            <p:nvPr/>
          </p:nvSpPr>
          <p:spPr>
            <a:xfrm>
              <a:off x="797997" y="3986265"/>
              <a:ext cx="1704313" cy="369332"/>
            </a:xfrm>
            <a:prstGeom prst="rect">
              <a:avLst/>
            </a:prstGeom>
            <a:noFill/>
          </p:spPr>
          <p:txBody>
            <a:bodyPr wrap="none" rtlCol="0">
              <a:spAutoFit/>
            </a:bodyPr>
            <a:lstStyle/>
            <a:p>
              <a:pPr algn="r"/>
              <a:r>
                <a:rPr lang="en-US" sz="1800" i="1" dirty="0">
                  <a:latin typeface="Consolas" panose="020B0609020204030204" pitchFamily="49" charset="0"/>
                  <a:cs typeface="Consolas" panose="020B0609020204030204" pitchFamily="49" charset="0"/>
                </a:rPr>
                <a:t>x = CONST(9)</a:t>
              </a:r>
            </a:p>
          </p:txBody>
        </p:sp>
      </p:grpSp>
      <p:sp>
        <p:nvSpPr>
          <p:cNvPr id="32" name="TextBox 31">
            <a:extLst>
              <a:ext uri="{FF2B5EF4-FFF2-40B4-BE49-F238E27FC236}">
                <a16:creationId xmlns:a16="http://schemas.microsoft.com/office/drawing/2014/main" id="{452E5AA1-EBBC-864C-BD8B-6AB522D113F6}"/>
              </a:ext>
            </a:extLst>
          </p:cNvPr>
          <p:cNvSpPr txBox="1"/>
          <p:nvPr/>
        </p:nvSpPr>
        <p:spPr>
          <a:xfrm>
            <a:off x="4938252" y="4620453"/>
            <a:ext cx="4000500" cy="769441"/>
          </a:xfrm>
          <a:prstGeom prst="rect">
            <a:avLst/>
          </a:prstGeom>
          <a:noFill/>
        </p:spPr>
        <p:txBody>
          <a:bodyPr wrap="square" rtlCol="0">
            <a:spAutoFit/>
          </a:bodyPr>
          <a:lstStyle/>
          <a:p>
            <a:pPr algn="ctr"/>
            <a:r>
              <a:rPr lang="en-US" sz="2200" dirty="0"/>
              <a:t>…but wait, BBs can have </a:t>
            </a:r>
            <a:r>
              <a:rPr lang="en-US" sz="2200" b="1" dirty="0"/>
              <a:t>multiple predecessors.</a:t>
            </a:r>
            <a:endParaRPr lang="en-US" sz="22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41648229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400"/>
                                  </p:stCondLst>
                                  <p:childTnLst>
                                    <p:set>
                                      <p:cBhvr>
                                        <p:cTn id="19" dur="1" fill="hold">
                                          <p:stCondLst>
                                            <p:cond delay="0"/>
                                          </p:stCondLst>
                                        </p:cTn>
                                        <p:tgtEl>
                                          <p:spTgt spid="34"/>
                                        </p:tgtEl>
                                        <p:attrNameLst>
                                          <p:attrName>style.visibility</p:attrName>
                                        </p:attrNameLst>
                                      </p:cBhvr>
                                      <p:to>
                                        <p:strVal val="visible"/>
                                      </p:to>
                                    </p:set>
                                  </p:childTnLst>
                                </p:cTn>
                              </p:par>
                            </p:childTnLst>
                          </p:cTn>
                        </p:par>
                        <p:par>
                          <p:cTn id="20" fill="hold">
                            <p:stCondLst>
                              <p:cond delay="400"/>
                            </p:stCondLst>
                            <p:childTnLst>
                              <p:par>
                                <p:cTn id="21" presetID="1" presetClass="entr" presetSubtype="0" fill="hold" nodeType="afterEffect">
                                  <p:stCondLst>
                                    <p:cond delay="400"/>
                                  </p:stCondLst>
                                  <p:childTnLst>
                                    <p:set>
                                      <p:cBhvr>
                                        <p:cTn id="22" dur="1" fill="hold">
                                          <p:stCondLst>
                                            <p:cond delay="0"/>
                                          </p:stCondLst>
                                        </p:cTn>
                                        <p:tgtEl>
                                          <p:spTgt spid="35"/>
                                        </p:tgtEl>
                                        <p:attrNameLst>
                                          <p:attrName>style.visibility</p:attrName>
                                        </p:attrNameLst>
                                      </p:cBhvr>
                                      <p:to>
                                        <p:strVal val="visible"/>
                                      </p:to>
                                    </p:set>
                                  </p:childTnLst>
                                </p:cTn>
                              </p:par>
                            </p:childTnLst>
                          </p:cTn>
                        </p:par>
                        <p:par>
                          <p:cTn id="23" fill="hold">
                            <p:stCondLst>
                              <p:cond delay="800"/>
                            </p:stCondLst>
                            <p:childTnLst>
                              <p:par>
                                <p:cTn id="24" presetID="1" presetClass="entr" presetSubtype="0" fill="hold" nodeType="afterEffect">
                                  <p:stCondLst>
                                    <p:cond delay="400"/>
                                  </p:stCondLst>
                                  <p:childTnLst>
                                    <p:set>
                                      <p:cBhvr>
                                        <p:cTn id="25" dur="1" fill="hold">
                                          <p:stCondLst>
                                            <p:cond delay="0"/>
                                          </p:stCondLst>
                                        </p:cTn>
                                        <p:tgtEl>
                                          <p:spTgt spid="36"/>
                                        </p:tgtEl>
                                        <p:attrNameLst>
                                          <p:attrName>style.visibility</p:attrName>
                                        </p:attrNameLst>
                                      </p:cBhvr>
                                      <p:to>
                                        <p:strVal val="visible"/>
                                      </p:to>
                                    </p:set>
                                  </p:childTnLst>
                                </p:cTn>
                              </p:par>
                            </p:childTnLst>
                          </p:cTn>
                        </p:par>
                        <p:par>
                          <p:cTn id="26" fill="hold">
                            <p:stCondLst>
                              <p:cond delay="1200"/>
                            </p:stCondLst>
                            <p:childTnLst>
                              <p:par>
                                <p:cTn id="27" presetID="1" presetClass="entr" presetSubtype="0" fill="hold" nodeType="afterEffect">
                                  <p:stCondLst>
                                    <p:cond delay="400"/>
                                  </p:stCondLst>
                                  <p:childTnLst>
                                    <p:set>
                                      <p:cBhvr>
                                        <p:cTn id="28" dur="1" fill="hold">
                                          <p:stCondLst>
                                            <p:cond delay="0"/>
                                          </p:stCondLst>
                                        </p:cTn>
                                        <p:tgtEl>
                                          <p:spTgt spid="37"/>
                                        </p:tgtEl>
                                        <p:attrNameLst>
                                          <p:attrName>style.visibility</p:attrName>
                                        </p:attrNameLst>
                                      </p:cBhvr>
                                      <p:to>
                                        <p:strVal val="visible"/>
                                      </p:to>
                                    </p:set>
                                  </p:childTnLst>
                                </p:cTn>
                              </p:par>
                            </p:childTnLst>
                          </p:cTn>
                        </p:par>
                        <p:par>
                          <p:cTn id="29" fill="hold">
                            <p:stCondLst>
                              <p:cond delay="1600"/>
                            </p:stCondLst>
                            <p:childTnLst>
                              <p:par>
                                <p:cTn id="30" presetID="1" presetClass="entr" presetSubtype="0" fill="hold" nodeType="afterEffect">
                                  <p:stCondLst>
                                    <p:cond delay="400"/>
                                  </p:stCondLst>
                                  <p:childTnLst>
                                    <p:set>
                                      <p:cBhvr>
                                        <p:cTn id="31" dur="1" fill="hold">
                                          <p:stCondLst>
                                            <p:cond delay="0"/>
                                          </p:stCondLst>
                                        </p:cTn>
                                        <p:tgtEl>
                                          <p:spTgt spid="3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3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10" grpId="0"/>
      <p:bldP spid="11" grpId="0"/>
      <p:bldP spid="12" grpId="0"/>
      <p:bldP spid="3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F6901-27FE-104A-8B3D-D3D82B845C60}"/>
              </a:ext>
            </a:extLst>
          </p:cNvPr>
          <p:cNvSpPr>
            <a:spLocks noGrp="1"/>
          </p:cNvSpPr>
          <p:nvPr>
            <p:ph type="title"/>
          </p:nvPr>
        </p:nvSpPr>
        <p:spPr/>
        <p:txBody>
          <a:bodyPr/>
          <a:lstStyle/>
          <a:p>
            <a:r>
              <a:rPr lang="en-US" dirty="0"/>
              <a:t>The join function</a:t>
            </a:r>
          </a:p>
        </p:txBody>
      </p:sp>
      <p:sp>
        <p:nvSpPr>
          <p:cNvPr id="3" name="Content Placeholder 2">
            <a:extLst>
              <a:ext uri="{FF2B5EF4-FFF2-40B4-BE49-F238E27FC236}">
                <a16:creationId xmlns:a16="http://schemas.microsoft.com/office/drawing/2014/main" id="{093860A0-525B-C346-999C-EC84D63D67A9}"/>
              </a:ext>
            </a:extLst>
          </p:cNvPr>
          <p:cNvSpPr>
            <a:spLocks noGrp="1"/>
          </p:cNvSpPr>
          <p:nvPr>
            <p:ph idx="1"/>
          </p:nvPr>
        </p:nvSpPr>
        <p:spPr>
          <a:xfrm>
            <a:off x="152400" y="495301"/>
            <a:ext cx="8991600" cy="1160814"/>
          </a:xfrm>
        </p:spPr>
        <p:txBody>
          <a:bodyPr/>
          <a:lstStyle/>
          <a:p>
            <a:r>
              <a:rPr lang="en-US" dirty="0"/>
              <a:t>a BB's predecessors may all be feeding </a:t>
            </a:r>
            <a:r>
              <a:rPr lang="en-US" b="1" dirty="0"/>
              <a:t>different states </a:t>
            </a:r>
            <a:r>
              <a:rPr lang="en-US" dirty="0"/>
              <a:t>into it.</a:t>
            </a:r>
          </a:p>
          <a:p>
            <a:r>
              <a:rPr lang="en-US" dirty="0"/>
              <a:t>the </a:t>
            </a:r>
            <a:r>
              <a:rPr lang="en-US" b="1" dirty="0"/>
              <a:t>join function </a:t>
            </a:r>
            <a:r>
              <a:rPr lang="en-US" dirty="0"/>
              <a:t>combines those states to produce a BB's in-state.</a:t>
            </a:r>
          </a:p>
          <a:p>
            <a:r>
              <a:rPr lang="en-US" dirty="0"/>
              <a:t>let's look at some examples. the labels are the state for </a:t>
            </a:r>
            <a:r>
              <a:rPr lang="en-US" b="1" dirty="0">
                <a:latin typeface="Consolas" panose="020B0609020204030204" pitchFamily="49" charset="0"/>
                <a:cs typeface="Consolas" panose="020B0609020204030204" pitchFamily="49" charset="0"/>
              </a:rPr>
              <a:t>x</a:t>
            </a:r>
            <a:r>
              <a:rPr lang="en-US" dirty="0"/>
              <a:t>.</a:t>
            </a:r>
          </a:p>
        </p:txBody>
      </p:sp>
      <p:sp>
        <p:nvSpPr>
          <p:cNvPr id="4" name="Slide Number Placeholder 3">
            <a:extLst>
              <a:ext uri="{FF2B5EF4-FFF2-40B4-BE49-F238E27FC236}">
                <a16:creationId xmlns:a16="http://schemas.microsoft.com/office/drawing/2014/main" id="{D0467BF6-9D17-4842-8B37-523D1C66129D}"/>
              </a:ext>
            </a:extLst>
          </p:cNvPr>
          <p:cNvSpPr>
            <a:spLocks noGrp="1"/>
          </p:cNvSpPr>
          <p:nvPr>
            <p:ph type="sldNum" sz="quarter" idx="12"/>
          </p:nvPr>
        </p:nvSpPr>
        <p:spPr/>
        <p:txBody>
          <a:bodyPr/>
          <a:lstStyle/>
          <a:p>
            <a:fld id="{3552B95B-556F-44BD-91A5-D80C1B9E2BB3}" type="slidenum">
              <a:rPr lang="en-US" smtClean="0"/>
              <a:pPr/>
              <a:t>24</a:t>
            </a:fld>
            <a:endParaRPr lang="en-US"/>
          </a:p>
        </p:txBody>
      </p:sp>
      <p:grpSp>
        <p:nvGrpSpPr>
          <p:cNvPr id="34" name="Group 33">
            <a:extLst>
              <a:ext uri="{FF2B5EF4-FFF2-40B4-BE49-F238E27FC236}">
                <a16:creationId xmlns:a16="http://schemas.microsoft.com/office/drawing/2014/main" id="{B8F8703D-F536-454A-9317-4F38C4D9CBFB}"/>
              </a:ext>
            </a:extLst>
          </p:cNvPr>
          <p:cNvGrpSpPr/>
          <p:nvPr/>
        </p:nvGrpSpPr>
        <p:grpSpPr>
          <a:xfrm>
            <a:off x="568900" y="1790700"/>
            <a:ext cx="2344595" cy="1520711"/>
            <a:chOff x="627206" y="1790700"/>
            <a:chExt cx="2344595" cy="1520711"/>
          </a:xfrm>
        </p:grpSpPr>
        <p:cxnSp>
          <p:nvCxnSpPr>
            <p:cNvPr id="10" name="Curved Connector 12">
              <a:extLst>
                <a:ext uri="{FF2B5EF4-FFF2-40B4-BE49-F238E27FC236}">
                  <a16:creationId xmlns:a16="http://schemas.microsoft.com/office/drawing/2014/main" id="{2AE5B2C0-E8F5-2149-A16C-BDB17AF5B1CB}"/>
                </a:ext>
              </a:extLst>
            </p:cNvPr>
            <p:cNvCxnSpPr>
              <a:cxnSpLocks/>
            </p:cNvCxnSpPr>
            <p:nvPr/>
          </p:nvCxnSpPr>
          <p:spPr>
            <a:xfrm flipH="1">
              <a:off x="1702206" y="2233374"/>
              <a:ext cx="426473" cy="63536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ounded Rectangle 10">
              <a:extLst>
                <a:ext uri="{FF2B5EF4-FFF2-40B4-BE49-F238E27FC236}">
                  <a16:creationId xmlns:a16="http://schemas.microsoft.com/office/drawing/2014/main" id="{DEC63C31-2672-AE48-8EAD-570C58581EC1}"/>
                </a:ext>
              </a:extLst>
            </p:cNvPr>
            <p:cNvSpPr/>
            <p:nvPr/>
          </p:nvSpPr>
          <p:spPr>
            <a:xfrm>
              <a:off x="627206" y="1790700"/>
              <a:ext cx="964385" cy="442674"/>
            </a:xfrm>
            <a:prstGeom prst="roundRect">
              <a:avLst/>
            </a:prstGeom>
            <a:solidFill>
              <a:schemeClr val="accent1"/>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x = 5</a:t>
              </a:r>
            </a:p>
          </p:txBody>
        </p:sp>
        <p:sp>
          <p:nvSpPr>
            <p:cNvPr id="12" name="Rounded Rectangle 11">
              <a:extLst>
                <a:ext uri="{FF2B5EF4-FFF2-40B4-BE49-F238E27FC236}">
                  <a16:creationId xmlns:a16="http://schemas.microsoft.com/office/drawing/2014/main" id="{1E4B2D1A-EA97-124B-9E81-1D4BC9AFA1A3}"/>
                </a:ext>
              </a:extLst>
            </p:cNvPr>
            <p:cNvSpPr/>
            <p:nvPr/>
          </p:nvSpPr>
          <p:spPr>
            <a:xfrm>
              <a:off x="1734163" y="1790700"/>
              <a:ext cx="1237638" cy="442674"/>
            </a:xfrm>
            <a:prstGeom prst="roundRect">
              <a:avLst/>
            </a:prstGeom>
            <a:solidFill>
              <a:schemeClr val="accent1"/>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x = f()</a:t>
              </a:r>
            </a:p>
          </p:txBody>
        </p:sp>
        <p:cxnSp>
          <p:nvCxnSpPr>
            <p:cNvPr id="13" name="Curved Connector 12">
              <a:extLst>
                <a:ext uri="{FF2B5EF4-FFF2-40B4-BE49-F238E27FC236}">
                  <a16:creationId xmlns:a16="http://schemas.microsoft.com/office/drawing/2014/main" id="{5CAC9B2D-9FA1-4947-81D9-BEE7D4035B83}"/>
                </a:ext>
              </a:extLst>
            </p:cNvPr>
            <p:cNvCxnSpPr>
              <a:cxnSpLocks/>
            </p:cNvCxnSpPr>
            <p:nvPr/>
          </p:nvCxnSpPr>
          <p:spPr>
            <a:xfrm>
              <a:off x="1197075" y="2233374"/>
              <a:ext cx="419098" cy="63536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1612F50A-D914-6F46-B7D0-B5A4F62F7008}"/>
                </a:ext>
              </a:extLst>
            </p:cNvPr>
            <p:cNvSpPr/>
            <p:nvPr/>
          </p:nvSpPr>
          <p:spPr>
            <a:xfrm>
              <a:off x="1307690" y="2868737"/>
              <a:ext cx="702999" cy="442674"/>
            </a:xfrm>
            <a:prstGeom prst="roundRect">
              <a:avLst/>
            </a:prstGeom>
            <a:solidFill>
              <a:schemeClr val="accent2"/>
            </a:solidFill>
            <a:ln w="19050">
              <a:solidFill>
                <a:schemeClr val="tx1"/>
              </a:solidFill>
            </a:ln>
          </p:spPr>
          <p:txBody>
            <a:bodyPr wrap="square">
              <a:spAutoFit/>
            </a:bodyPr>
            <a:lstStyle/>
            <a:p>
              <a:pPr algn="ctr"/>
              <a:endParaRPr lang="en-US" sz="2000" b="1" dirty="0">
                <a:solidFill>
                  <a:schemeClr val="bg1"/>
                </a:solidFill>
                <a:latin typeface="Consolas" panose="020B0609020204030204" pitchFamily="49" charset="0"/>
                <a:cs typeface="Consolas" panose="020B0609020204030204" pitchFamily="49" charset="0"/>
              </a:endParaRPr>
            </a:p>
          </p:txBody>
        </p:sp>
      </p:grpSp>
      <p:sp>
        <p:nvSpPr>
          <p:cNvPr id="31" name="TextBox 30">
            <a:extLst>
              <a:ext uri="{FF2B5EF4-FFF2-40B4-BE49-F238E27FC236}">
                <a16:creationId xmlns:a16="http://schemas.microsoft.com/office/drawing/2014/main" id="{630BD77A-F080-9F49-BE91-729A41603006}"/>
              </a:ext>
            </a:extLst>
          </p:cNvPr>
          <p:cNvSpPr txBox="1"/>
          <p:nvPr/>
        </p:nvSpPr>
        <p:spPr>
          <a:xfrm>
            <a:off x="76200" y="2416952"/>
            <a:ext cx="1197765" cy="369332"/>
          </a:xfrm>
          <a:prstGeom prst="rect">
            <a:avLst/>
          </a:prstGeom>
          <a:noFill/>
        </p:spPr>
        <p:txBody>
          <a:bodyPr wrap="none" rtlCol="0">
            <a:spAutoFit/>
          </a:bodyPr>
          <a:lstStyle/>
          <a:p>
            <a:pPr algn="r"/>
            <a:r>
              <a:rPr lang="en-US" sz="1800" i="1" dirty="0">
                <a:latin typeface="Consolas" panose="020B0609020204030204" pitchFamily="49" charset="0"/>
                <a:cs typeface="Consolas" panose="020B0609020204030204" pitchFamily="49" charset="0"/>
              </a:rPr>
              <a:t>CONST(5)</a:t>
            </a:r>
          </a:p>
        </p:txBody>
      </p:sp>
      <p:sp>
        <p:nvSpPr>
          <p:cNvPr id="32" name="TextBox 31">
            <a:extLst>
              <a:ext uri="{FF2B5EF4-FFF2-40B4-BE49-F238E27FC236}">
                <a16:creationId xmlns:a16="http://schemas.microsoft.com/office/drawing/2014/main" id="{7A83BD1D-0F69-4144-8496-758F15526A80}"/>
              </a:ext>
            </a:extLst>
          </p:cNvPr>
          <p:cNvSpPr txBox="1"/>
          <p:nvPr/>
        </p:nvSpPr>
        <p:spPr>
          <a:xfrm>
            <a:off x="1921273" y="2416952"/>
            <a:ext cx="564578"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ANY</a:t>
            </a:r>
          </a:p>
        </p:txBody>
      </p:sp>
      <p:sp>
        <p:nvSpPr>
          <p:cNvPr id="33" name="TextBox 32">
            <a:extLst>
              <a:ext uri="{FF2B5EF4-FFF2-40B4-BE49-F238E27FC236}">
                <a16:creationId xmlns:a16="http://schemas.microsoft.com/office/drawing/2014/main" id="{AE7C0DDE-69A1-F44C-9B00-48D9B38BAC04}"/>
              </a:ext>
            </a:extLst>
          </p:cNvPr>
          <p:cNvSpPr txBox="1"/>
          <p:nvPr/>
        </p:nvSpPr>
        <p:spPr>
          <a:xfrm>
            <a:off x="288271" y="3371084"/>
            <a:ext cx="2625224" cy="769441"/>
          </a:xfrm>
          <a:prstGeom prst="rect">
            <a:avLst/>
          </a:prstGeom>
          <a:noFill/>
        </p:spPr>
        <p:txBody>
          <a:bodyPr wrap="square" rtlCol="0">
            <a:spAutoFit/>
          </a:bodyPr>
          <a:lstStyle/>
          <a:p>
            <a:pPr algn="ctr"/>
            <a:r>
              <a:rPr lang="en-US" sz="2200" dirty="0"/>
              <a:t>so, </a:t>
            </a:r>
            <a:r>
              <a:rPr lang="en-US" sz="2200" dirty="0">
                <a:solidFill>
                  <a:srgbClr val="FF0000"/>
                </a:solidFill>
              </a:rPr>
              <a:t>red</a:t>
            </a:r>
            <a:r>
              <a:rPr lang="en-US" sz="2200" dirty="0"/>
              <a:t>'s in-state must be </a:t>
            </a:r>
            <a:r>
              <a:rPr lang="en-US" sz="2200" b="1" dirty="0">
                <a:latin typeface="Consolas" panose="020B0609020204030204" pitchFamily="49" charset="0"/>
                <a:cs typeface="Consolas" panose="020B0609020204030204" pitchFamily="49" charset="0"/>
              </a:rPr>
              <a:t>x = ANY</a:t>
            </a:r>
            <a:r>
              <a:rPr lang="en-US" sz="2200" dirty="0"/>
              <a:t>.</a:t>
            </a:r>
            <a:endParaRPr lang="en-US" sz="2200" dirty="0">
              <a:latin typeface="Consolas" panose="020B0609020204030204" pitchFamily="49" charset="0"/>
              <a:cs typeface="Consolas" panose="020B0609020204030204" pitchFamily="49" charset="0"/>
            </a:endParaRPr>
          </a:p>
        </p:txBody>
      </p:sp>
      <p:grpSp>
        <p:nvGrpSpPr>
          <p:cNvPr id="35" name="Group 34">
            <a:extLst>
              <a:ext uri="{FF2B5EF4-FFF2-40B4-BE49-F238E27FC236}">
                <a16:creationId xmlns:a16="http://schemas.microsoft.com/office/drawing/2014/main" id="{15A4DBA7-490D-9D4A-A862-516D5D0CD9D8}"/>
              </a:ext>
            </a:extLst>
          </p:cNvPr>
          <p:cNvGrpSpPr/>
          <p:nvPr/>
        </p:nvGrpSpPr>
        <p:grpSpPr>
          <a:xfrm>
            <a:off x="3391944" y="1790700"/>
            <a:ext cx="2064055" cy="1520711"/>
            <a:chOff x="630850" y="1790700"/>
            <a:chExt cx="2064055" cy="1520711"/>
          </a:xfrm>
        </p:grpSpPr>
        <p:cxnSp>
          <p:nvCxnSpPr>
            <p:cNvPr id="36" name="Curved Connector 12">
              <a:extLst>
                <a:ext uri="{FF2B5EF4-FFF2-40B4-BE49-F238E27FC236}">
                  <a16:creationId xmlns:a16="http://schemas.microsoft.com/office/drawing/2014/main" id="{9C4EBDA6-6FEF-6847-8860-EFA1D0819C22}"/>
                </a:ext>
              </a:extLst>
            </p:cNvPr>
            <p:cNvCxnSpPr>
              <a:cxnSpLocks/>
            </p:cNvCxnSpPr>
            <p:nvPr/>
          </p:nvCxnSpPr>
          <p:spPr>
            <a:xfrm flipH="1">
              <a:off x="1702206" y="2233374"/>
              <a:ext cx="426473" cy="63536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Rounded Rectangle 36">
              <a:extLst>
                <a:ext uri="{FF2B5EF4-FFF2-40B4-BE49-F238E27FC236}">
                  <a16:creationId xmlns:a16="http://schemas.microsoft.com/office/drawing/2014/main" id="{1602D851-C3E0-934B-B67F-65398C7DC700}"/>
                </a:ext>
              </a:extLst>
            </p:cNvPr>
            <p:cNvSpPr/>
            <p:nvPr/>
          </p:nvSpPr>
          <p:spPr>
            <a:xfrm>
              <a:off x="630850" y="1790700"/>
              <a:ext cx="960742" cy="442674"/>
            </a:xfrm>
            <a:prstGeom prst="roundRect">
              <a:avLst/>
            </a:prstGeom>
            <a:solidFill>
              <a:schemeClr val="accent1"/>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x = 5</a:t>
              </a:r>
            </a:p>
          </p:txBody>
        </p:sp>
        <p:sp>
          <p:nvSpPr>
            <p:cNvPr id="38" name="Rounded Rectangle 37">
              <a:extLst>
                <a:ext uri="{FF2B5EF4-FFF2-40B4-BE49-F238E27FC236}">
                  <a16:creationId xmlns:a16="http://schemas.microsoft.com/office/drawing/2014/main" id="{3FF840B6-CD52-2145-BD4B-B9E2E81ED814}"/>
                </a:ext>
              </a:extLst>
            </p:cNvPr>
            <p:cNvSpPr/>
            <p:nvPr/>
          </p:nvSpPr>
          <p:spPr>
            <a:xfrm>
              <a:off x="1734163" y="1790700"/>
              <a:ext cx="960742" cy="442674"/>
            </a:xfrm>
            <a:prstGeom prst="roundRect">
              <a:avLst/>
            </a:prstGeom>
            <a:solidFill>
              <a:schemeClr val="accent1"/>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x = 3</a:t>
              </a:r>
            </a:p>
          </p:txBody>
        </p:sp>
        <p:cxnSp>
          <p:nvCxnSpPr>
            <p:cNvPr id="39" name="Curved Connector 12">
              <a:extLst>
                <a:ext uri="{FF2B5EF4-FFF2-40B4-BE49-F238E27FC236}">
                  <a16:creationId xmlns:a16="http://schemas.microsoft.com/office/drawing/2014/main" id="{BFA3508B-6853-9E4D-ABAC-CACAEE9F4840}"/>
                </a:ext>
              </a:extLst>
            </p:cNvPr>
            <p:cNvCxnSpPr>
              <a:cxnSpLocks/>
            </p:cNvCxnSpPr>
            <p:nvPr/>
          </p:nvCxnSpPr>
          <p:spPr>
            <a:xfrm>
              <a:off x="1197075" y="2233374"/>
              <a:ext cx="419098" cy="63536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Rounded Rectangle 39">
              <a:extLst>
                <a:ext uri="{FF2B5EF4-FFF2-40B4-BE49-F238E27FC236}">
                  <a16:creationId xmlns:a16="http://schemas.microsoft.com/office/drawing/2014/main" id="{76CAB9D7-BA3D-8B41-97B8-3A0646B0A815}"/>
                </a:ext>
              </a:extLst>
            </p:cNvPr>
            <p:cNvSpPr/>
            <p:nvPr/>
          </p:nvSpPr>
          <p:spPr>
            <a:xfrm>
              <a:off x="1307690" y="2868737"/>
              <a:ext cx="702999" cy="442674"/>
            </a:xfrm>
            <a:prstGeom prst="roundRect">
              <a:avLst/>
            </a:prstGeom>
            <a:solidFill>
              <a:schemeClr val="accent2"/>
            </a:solidFill>
            <a:ln w="19050">
              <a:solidFill>
                <a:schemeClr val="tx1"/>
              </a:solidFill>
            </a:ln>
          </p:spPr>
          <p:txBody>
            <a:bodyPr wrap="square">
              <a:spAutoFit/>
            </a:bodyPr>
            <a:lstStyle/>
            <a:p>
              <a:pPr algn="ctr"/>
              <a:endParaRPr lang="en-US" sz="2000" b="1" dirty="0">
                <a:solidFill>
                  <a:schemeClr val="bg1"/>
                </a:solidFill>
                <a:latin typeface="Consolas" panose="020B0609020204030204" pitchFamily="49" charset="0"/>
                <a:cs typeface="Consolas" panose="020B0609020204030204" pitchFamily="49" charset="0"/>
              </a:endParaRPr>
            </a:p>
          </p:txBody>
        </p:sp>
      </p:grpSp>
      <p:sp>
        <p:nvSpPr>
          <p:cNvPr id="41" name="TextBox 40">
            <a:extLst>
              <a:ext uri="{FF2B5EF4-FFF2-40B4-BE49-F238E27FC236}">
                <a16:creationId xmlns:a16="http://schemas.microsoft.com/office/drawing/2014/main" id="{E613279E-8A8D-8742-A195-22D1405F2D74}"/>
              </a:ext>
            </a:extLst>
          </p:cNvPr>
          <p:cNvSpPr txBox="1"/>
          <p:nvPr/>
        </p:nvSpPr>
        <p:spPr>
          <a:xfrm>
            <a:off x="2895600" y="2416952"/>
            <a:ext cx="1197765" cy="369332"/>
          </a:xfrm>
          <a:prstGeom prst="rect">
            <a:avLst/>
          </a:prstGeom>
          <a:noFill/>
        </p:spPr>
        <p:txBody>
          <a:bodyPr wrap="none" rtlCol="0">
            <a:spAutoFit/>
          </a:bodyPr>
          <a:lstStyle/>
          <a:p>
            <a:pPr algn="r"/>
            <a:r>
              <a:rPr lang="en-US" sz="1800" i="1" dirty="0">
                <a:latin typeface="Consolas" panose="020B0609020204030204" pitchFamily="49" charset="0"/>
                <a:cs typeface="Consolas" panose="020B0609020204030204" pitchFamily="49" charset="0"/>
              </a:rPr>
              <a:t>CONST(5)</a:t>
            </a:r>
          </a:p>
        </p:txBody>
      </p:sp>
      <p:sp>
        <p:nvSpPr>
          <p:cNvPr id="42" name="TextBox 41">
            <a:extLst>
              <a:ext uri="{FF2B5EF4-FFF2-40B4-BE49-F238E27FC236}">
                <a16:creationId xmlns:a16="http://schemas.microsoft.com/office/drawing/2014/main" id="{F9E891A0-6408-3546-ADB5-D128B3C0E87F}"/>
              </a:ext>
            </a:extLst>
          </p:cNvPr>
          <p:cNvSpPr txBox="1"/>
          <p:nvPr/>
        </p:nvSpPr>
        <p:spPr>
          <a:xfrm>
            <a:off x="4692665" y="2414866"/>
            <a:ext cx="1197764"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CONST(3)</a:t>
            </a:r>
          </a:p>
        </p:txBody>
      </p:sp>
      <p:sp>
        <p:nvSpPr>
          <p:cNvPr id="43" name="TextBox 42">
            <a:extLst>
              <a:ext uri="{FF2B5EF4-FFF2-40B4-BE49-F238E27FC236}">
                <a16:creationId xmlns:a16="http://schemas.microsoft.com/office/drawing/2014/main" id="{514B91C0-8729-C940-B42B-A7B101334604}"/>
              </a:ext>
            </a:extLst>
          </p:cNvPr>
          <p:cNvSpPr txBox="1"/>
          <p:nvPr/>
        </p:nvSpPr>
        <p:spPr>
          <a:xfrm>
            <a:off x="3107671" y="3371084"/>
            <a:ext cx="2625224" cy="769441"/>
          </a:xfrm>
          <a:prstGeom prst="rect">
            <a:avLst/>
          </a:prstGeom>
          <a:noFill/>
        </p:spPr>
        <p:txBody>
          <a:bodyPr wrap="square" rtlCol="0">
            <a:spAutoFit/>
          </a:bodyPr>
          <a:lstStyle/>
          <a:p>
            <a:pPr algn="ctr"/>
            <a:r>
              <a:rPr lang="en-US" sz="2200" dirty="0"/>
              <a:t>still, </a:t>
            </a:r>
            <a:r>
              <a:rPr lang="en-US" sz="2200" dirty="0">
                <a:solidFill>
                  <a:srgbClr val="FF0000"/>
                </a:solidFill>
              </a:rPr>
              <a:t>red</a:t>
            </a:r>
            <a:r>
              <a:rPr lang="en-US" sz="2200" dirty="0"/>
              <a:t>'s in-state must be </a:t>
            </a:r>
            <a:r>
              <a:rPr lang="en-US" sz="2200" b="1" dirty="0">
                <a:latin typeface="Consolas" panose="020B0609020204030204" pitchFamily="49" charset="0"/>
                <a:cs typeface="Consolas" panose="020B0609020204030204" pitchFamily="49" charset="0"/>
              </a:rPr>
              <a:t>x = ANY</a:t>
            </a:r>
            <a:r>
              <a:rPr lang="en-US" sz="2200" dirty="0"/>
              <a:t>.</a:t>
            </a:r>
            <a:endParaRPr lang="en-US" sz="2200" dirty="0">
              <a:latin typeface="Consolas" panose="020B0609020204030204" pitchFamily="49" charset="0"/>
              <a:cs typeface="Consolas" panose="020B0609020204030204" pitchFamily="49" charset="0"/>
            </a:endParaRPr>
          </a:p>
        </p:txBody>
      </p:sp>
      <p:grpSp>
        <p:nvGrpSpPr>
          <p:cNvPr id="44" name="Group 43">
            <a:extLst>
              <a:ext uri="{FF2B5EF4-FFF2-40B4-BE49-F238E27FC236}">
                <a16:creationId xmlns:a16="http://schemas.microsoft.com/office/drawing/2014/main" id="{86AC2F67-1154-9841-AAD3-CBAF0A8775A2}"/>
              </a:ext>
            </a:extLst>
          </p:cNvPr>
          <p:cNvGrpSpPr/>
          <p:nvPr/>
        </p:nvGrpSpPr>
        <p:grpSpPr>
          <a:xfrm>
            <a:off x="6395561" y="1790700"/>
            <a:ext cx="2064055" cy="1520711"/>
            <a:chOff x="630850" y="1790700"/>
            <a:chExt cx="2064055" cy="1520711"/>
          </a:xfrm>
        </p:grpSpPr>
        <p:cxnSp>
          <p:nvCxnSpPr>
            <p:cNvPr id="45" name="Curved Connector 12">
              <a:extLst>
                <a:ext uri="{FF2B5EF4-FFF2-40B4-BE49-F238E27FC236}">
                  <a16:creationId xmlns:a16="http://schemas.microsoft.com/office/drawing/2014/main" id="{12B0E253-BBD7-5D44-BDCE-D2CC31E63A16}"/>
                </a:ext>
              </a:extLst>
            </p:cNvPr>
            <p:cNvCxnSpPr>
              <a:cxnSpLocks/>
            </p:cNvCxnSpPr>
            <p:nvPr/>
          </p:nvCxnSpPr>
          <p:spPr>
            <a:xfrm flipH="1">
              <a:off x="1702206" y="2233374"/>
              <a:ext cx="426473" cy="63536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F7FA6E94-8855-CB4C-9055-FD4781A15D61}"/>
                </a:ext>
              </a:extLst>
            </p:cNvPr>
            <p:cNvSpPr/>
            <p:nvPr/>
          </p:nvSpPr>
          <p:spPr>
            <a:xfrm>
              <a:off x="630850" y="1790700"/>
              <a:ext cx="960742" cy="442674"/>
            </a:xfrm>
            <a:prstGeom prst="roundRect">
              <a:avLst/>
            </a:prstGeom>
            <a:solidFill>
              <a:schemeClr val="accent1"/>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x = 3</a:t>
              </a:r>
            </a:p>
          </p:txBody>
        </p:sp>
        <p:sp>
          <p:nvSpPr>
            <p:cNvPr id="47" name="Rounded Rectangle 46">
              <a:extLst>
                <a:ext uri="{FF2B5EF4-FFF2-40B4-BE49-F238E27FC236}">
                  <a16:creationId xmlns:a16="http://schemas.microsoft.com/office/drawing/2014/main" id="{F9A580F0-1766-8846-BEB5-58D5C4B3227E}"/>
                </a:ext>
              </a:extLst>
            </p:cNvPr>
            <p:cNvSpPr/>
            <p:nvPr/>
          </p:nvSpPr>
          <p:spPr>
            <a:xfrm>
              <a:off x="1734163" y="1790700"/>
              <a:ext cx="960742" cy="442674"/>
            </a:xfrm>
            <a:prstGeom prst="roundRect">
              <a:avLst/>
            </a:prstGeom>
            <a:solidFill>
              <a:schemeClr val="accent1"/>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x = 3</a:t>
              </a:r>
            </a:p>
          </p:txBody>
        </p:sp>
        <p:cxnSp>
          <p:nvCxnSpPr>
            <p:cNvPr id="48" name="Curved Connector 12">
              <a:extLst>
                <a:ext uri="{FF2B5EF4-FFF2-40B4-BE49-F238E27FC236}">
                  <a16:creationId xmlns:a16="http://schemas.microsoft.com/office/drawing/2014/main" id="{A14D738D-8999-DA46-B3BC-84BB319F9957}"/>
                </a:ext>
              </a:extLst>
            </p:cNvPr>
            <p:cNvCxnSpPr>
              <a:cxnSpLocks/>
            </p:cNvCxnSpPr>
            <p:nvPr/>
          </p:nvCxnSpPr>
          <p:spPr>
            <a:xfrm>
              <a:off x="1197075" y="2233374"/>
              <a:ext cx="419098" cy="63536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Rounded Rectangle 48">
              <a:extLst>
                <a:ext uri="{FF2B5EF4-FFF2-40B4-BE49-F238E27FC236}">
                  <a16:creationId xmlns:a16="http://schemas.microsoft.com/office/drawing/2014/main" id="{C7341C5C-A0E7-6E4D-9009-E3BBD8E325A0}"/>
                </a:ext>
              </a:extLst>
            </p:cNvPr>
            <p:cNvSpPr/>
            <p:nvPr/>
          </p:nvSpPr>
          <p:spPr>
            <a:xfrm>
              <a:off x="1307690" y="2868737"/>
              <a:ext cx="702999" cy="442674"/>
            </a:xfrm>
            <a:prstGeom prst="roundRect">
              <a:avLst/>
            </a:prstGeom>
            <a:solidFill>
              <a:schemeClr val="accent2"/>
            </a:solidFill>
            <a:ln w="19050">
              <a:solidFill>
                <a:schemeClr val="tx1"/>
              </a:solidFill>
            </a:ln>
          </p:spPr>
          <p:txBody>
            <a:bodyPr wrap="square">
              <a:spAutoFit/>
            </a:bodyPr>
            <a:lstStyle/>
            <a:p>
              <a:pPr algn="ctr"/>
              <a:endParaRPr lang="en-US" sz="2000" b="1" dirty="0">
                <a:solidFill>
                  <a:schemeClr val="bg1"/>
                </a:solidFill>
                <a:latin typeface="Consolas" panose="020B0609020204030204" pitchFamily="49" charset="0"/>
                <a:cs typeface="Consolas" panose="020B0609020204030204" pitchFamily="49" charset="0"/>
              </a:endParaRPr>
            </a:p>
          </p:txBody>
        </p:sp>
      </p:grpSp>
      <p:sp>
        <p:nvSpPr>
          <p:cNvPr id="50" name="TextBox 49">
            <a:extLst>
              <a:ext uri="{FF2B5EF4-FFF2-40B4-BE49-F238E27FC236}">
                <a16:creationId xmlns:a16="http://schemas.microsoft.com/office/drawing/2014/main" id="{0B6A3D5E-E32C-804A-BDC5-1D3D049644B2}"/>
              </a:ext>
            </a:extLst>
          </p:cNvPr>
          <p:cNvSpPr txBox="1"/>
          <p:nvPr/>
        </p:nvSpPr>
        <p:spPr>
          <a:xfrm>
            <a:off x="5899217" y="2416952"/>
            <a:ext cx="1197765" cy="369332"/>
          </a:xfrm>
          <a:prstGeom prst="rect">
            <a:avLst/>
          </a:prstGeom>
          <a:noFill/>
        </p:spPr>
        <p:txBody>
          <a:bodyPr wrap="none" rtlCol="0">
            <a:spAutoFit/>
          </a:bodyPr>
          <a:lstStyle/>
          <a:p>
            <a:pPr algn="r"/>
            <a:r>
              <a:rPr lang="en-US" sz="1800" i="1" dirty="0">
                <a:latin typeface="Consolas" panose="020B0609020204030204" pitchFamily="49" charset="0"/>
                <a:cs typeface="Consolas" panose="020B0609020204030204" pitchFamily="49" charset="0"/>
              </a:rPr>
              <a:t>CONST(3)</a:t>
            </a:r>
          </a:p>
        </p:txBody>
      </p:sp>
      <p:sp>
        <p:nvSpPr>
          <p:cNvPr id="51" name="TextBox 50">
            <a:extLst>
              <a:ext uri="{FF2B5EF4-FFF2-40B4-BE49-F238E27FC236}">
                <a16:creationId xmlns:a16="http://schemas.microsoft.com/office/drawing/2014/main" id="{0C0A0FDE-096A-6843-8D12-2BB77BC7DD99}"/>
              </a:ext>
            </a:extLst>
          </p:cNvPr>
          <p:cNvSpPr txBox="1"/>
          <p:nvPr/>
        </p:nvSpPr>
        <p:spPr>
          <a:xfrm>
            <a:off x="7696282" y="2414866"/>
            <a:ext cx="1197764"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CONST(3)</a:t>
            </a:r>
          </a:p>
        </p:txBody>
      </p:sp>
      <p:sp>
        <p:nvSpPr>
          <p:cNvPr id="52" name="TextBox 51">
            <a:extLst>
              <a:ext uri="{FF2B5EF4-FFF2-40B4-BE49-F238E27FC236}">
                <a16:creationId xmlns:a16="http://schemas.microsoft.com/office/drawing/2014/main" id="{EDC5CA62-3563-D14A-8DAC-4989C3A0881E}"/>
              </a:ext>
            </a:extLst>
          </p:cNvPr>
          <p:cNvSpPr txBox="1"/>
          <p:nvPr/>
        </p:nvSpPr>
        <p:spPr>
          <a:xfrm>
            <a:off x="5942234" y="3371084"/>
            <a:ext cx="3049366" cy="769441"/>
          </a:xfrm>
          <a:prstGeom prst="rect">
            <a:avLst/>
          </a:prstGeom>
          <a:noFill/>
        </p:spPr>
        <p:txBody>
          <a:bodyPr wrap="square" rtlCol="0">
            <a:spAutoFit/>
          </a:bodyPr>
          <a:lstStyle/>
          <a:p>
            <a:pPr algn="ctr"/>
            <a:r>
              <a:rPr lang="en-US" sz="2200" dirty="0"/>
              <a:t>success! </a:t>
            </a:r>
            <a:r>
              <a:rPr lang="en-US" sz="2200" dirty="0">
                <a:solidFill>
                  <a:srgbClr val="FF0000"/>
                </a:solidFill>
              </a:rPr>
              <a:t>red</a:t>
            </a:r>
            <a:r>
              <a:rPr lang="en-US" sz="2200" dirty="0"/>
              <a:t>'s in-state is </a:t>
            </a:r>
            <a:r>
              <a:rPr lang="en-US" sz="2200" b="1" dirty="0">
                <a:latin typeface="Consolas" panose="020B0609020204030204" pitchFamily="49" charset="0"/>
                <a:cs typeface="Consolas" panose="020B0609020204030204" pitchFamily="49" charset="0"/>
              </a:rPr>
              <a:t>x = CONST(3)</a:t>
            </a:r>
            <a:r>
              <a:rPr lang="en-US" sz="2200" dirty="0"/>
              <a:t>.</a:t>
            </a:r>
            <a:endParaRPr lang="en-US" sz="2200" dirty="0">
              <a:latin typeface="Consolas" panose="020B0609020204030204" pitchFamily="49" charset="0"/>
              <a:cs typeface="Consolas" panose="020B0609020204030204" pitchFamily="49" charset="0"/>
            </a:endParaRPr>
          </a:p>
        </p:txBody>
      </p:sp>
      <p:sp>
        <p:nvSpPr>
          <p:cNvPr id="53" name="TextBox 52">
            <a:extLst>
              <a:ext uri="{FF2B5EF4-FFF2-40B4-BE49-F238E27FC236}">
                <a16:creationId xmlns:a16="http://schemas.microsoft.com/office/drawing/2014/main" id="{0BC23229-EA41-2E47-9245-D73F6BE792B7}"/>
              </a:ext>
            </a:extLst>
          </p:cNvPr>
          <p:cNvSpPr txBox="1"/>
          <p:nvPr/>
        </p:nvSpPr>
        <p:spPr>
          <a:xfrm>
            <a:off x="457200" y="4340604"/>
            <a:ext cx="8294604" cy="769441"/>
          </a:xfrm>
          <a:prstGeom prst="rect">
            <a:avLst/>
          </a:prstGeom>
          <a:noFill/>
        </p:spPr>
        <p:txBody>
          <a:bodyPr wrap="square" rtlCol="0">
            <a:spAutoFit/>
          </a:bodyPr>
          <a:lstStyle/>
          <a:p>
            <a:pPr algn="ctr"/>
            <a:r>
              <a:rPr lang="en-US" sz="2200" dirty="0"/>
              <a:t>so: if </a:t>
            </a:r>
            <a:r>
              <a:rPr lang="en-US" sz="2200" b="1" dirty="0"/>
              <a:t>all </a:t>
            </a:r>
            <a:r>
              <a:rPr lang="en-US" sz="2200" dirty="0"/>
              <a:t>the predecessors say </a:t>
            </a:r>
            <a:r>
              <a:rPr lang="en-US" sz="2200" b="1" dirty="0">
                <a:latin typeface="Consolas" panose="020B0609020204030204" pitchFamily="49" charset="0"/>
                <a:cs typeface="Consolas" panose="020B0609020204030204" pitchFamily="49" charset="0"/>
              </a:rPr>
              <a:t>CONST(c)</a:t>
            </a:r>
            <a:r>
              <a:rPr lang="en-US" sz="2200" dirty="0"/>
              <a:t> for the </a:t>
            </a:r>
            <a:r>
              <a:rPr lang="en-US" sz="2200" i="1" dirty="0"/>
              <a:t>same</a:t>
            </a:r>
            <a:r>
              <a:rPr lang="en-US" sz="2200" dirty="0"/>
              <a:t> constant </a:t>
            </a:r>
            <a:r>
              <a:rPr lang="en-US" sz="2200" b="1" dirty="0">
                <a:latin typeface="Consolas" panose="020B0609020204030204" pitchFamily="49" charset="0"/>
                <a:cs typeface="Consolas" panose="020B0609020204030204" pitchFamily="49" charset="0"/>
              </a:rPr>
              <a:t>c</a:t>
            </a:r>
            <a:r>
              <a:rPr lang="en-US" sz="2200" dirty="0"/>
              <a:t>, then the in-state is </a:t>
            </a:r>
            <a:r>
              <a:rPr lang="en-US" sz="2200" b="1" dirty="0">
                <a:latin typeface="Consolas" panose="020B0609020204030204" pitchFamily="49" charset="0"/>
                <a:cs typeface="Consolas" panose="020B0609020204030204" pitchFamily="49" charset="0"/>
              </a:rPr>
              <a:t>CONST(c)</a:t>
            </a:r>
            <a:r>
              <a:rPr lang="en-US" sz="2200" dirty="0"/>
              <a:t>; otherwise, it's </a:t>
            </a:r>
            <a:r>
              <a:rPr lang="en-US" sz="2200" b="1" dirty="0">
                <a:latin typeface="Consolas" panose="020B0609020204030204" pitchFamily="49" charset="0"/>
                <a:cs typeface="Consolas" panose="020B0609020204030204" pitchFamily="49" charset="0"/>
              </a:rPr>
              <a:t>ANY</a:t>
            </a:r>
            <a:r>
              <a:rPr lang="en-US" sz="2200" dirty="0"/>
              <a:t>.</a:t>
            </a:r>
            <a:endParaRPr lang="en-US" sz="22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7528064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41" grpId="0"/>
      <p:bldP spid="42" grpId="0"/>
      <p:bldP spid="43" grpId="0"/>
      <p:bldP spid="50" grpId="0"/>
      <p:bldP spid="51" grpId="0"/>
      <p:bldP spid="52" grpId="0"/>
      <p:bldP spid="5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84219-5E6E-9C4E-BA0F-04CAB704A06B}"/>
              </a:ext>
            </a:extLst>
          </p:cNvPr>
          <p:cNvSpPr>
            <a:spLocks noGrp="1"/>
          </p:cNvSpPr>
          <p:nvPr>
            <p:ph type="title"/>
          </p:nvPr>
        </p:nvSpPr>
        <p:spPr/>
        <p:txBody>
          <a:bodyPr/>
          <a:lstStyle/>
          <a:p>
            <a:r>
              <a:rPr lang="en-US" dirty="0"/>
              <a:t>Let's try it out!</a:t>
            </a:r>
          </a:p>
        </p:txBody>
      </p:sp>
      <p:sp>
        <p:nvSpPr>
          <p:cNvPr id="3" name="Content Placeholder 2">
            <a:extLst>
              <a:ext uri="{FF2B5EF4-FFF2-40B4-BE49-F238E27FC236}">
                <a16:creationId xmlns:a16="http://schemas.microsoft.com/office/drawing/2014/main" id="{5816ED72-7711-1847-9889-317FA0F5F228}"/>
              </a:ext>
            </a:extLst>
          </p:cNvPr>
          <p:cNvSpPr>
            <a:spLocks noGrp="1"/>
          </p:cNvSpPr>
          <p:nvPr>
            <p:ph idx="1"/>
          </p:nvPr>
        </p:nvSpPr>
        <p:spPr>
          <a:xfrm>
            <a:off x="152400" y="495302"/>
            <a:ext cx="8991600" cy="811882"/>
          </a:xfrm>
        </p:spPr>
        <p:txBody>
          <a:bodyPr/>
          <a:lstStyle/>
          <a:p>
            <a:r>
              <a:rPr lang="en-US" dirty="0"/>
              <a:t>here are two functions from before. let's </a:t>
            </a:r>
            <a:r>
              <a:rPr lang="en-US" b="1" dirty="0"/>
              <a:t>annotate the edges with the state for </a:t>
            </a:r>
            <a:r>
              <a:rPr lang="en-US" b="1" dirty="0">
                <a:latin typeface="Consolas" panose="020B0609020204030204" pitchFamily="49" charset="0"/>
                <a:cs typeface="Consolas" panose="020B0609020204030204" pitchFamily="49" charset="0"/>
              </a:rPr>
              <a:t>x</a:t>
            </a:r>
            <a:r>
              <a:rPr lang="en-US" b="1" dirty="0"/>
              <a:t>.</a:t>
            </a:r>
          </a:p>
        </p:txBody>
      </p:sp>
      <p:sp>
        <p:nvSpPr>
          <p:cNvPr id="4" name="Slide Number Placeholder 3">
            <a:extLst>
              <a:ext uri="{FF2B5EF4-FFF2-40B4-BE49-F238E27FC236}">
                <a16:creationId xmlns:a16="http://schemas.microsoft.com/office/drawing/2014/main" id="{5DBDF48A-2A2E-3945-A404-4CB86A2F22BB}"/>
              </a:ext>
            </a:extLst>
          </p:cNvPr>
          <p:cNvSpPr>
            <a:spLocks noGrp="1"/>
          </p:cNvSpPr>
          <p:nvPr>
            <p:ph type="sldNum" sz="quarter" idx="12"/>
          </p:nvPr>
        </p:nvSpPr>
        <p:spPr/>
        <p:txBody>
          <a:bodyPr/>
          <a:lstStyle/>
          <a:p>
            <a:fld id="{3552B95B-556F-44BD-91A5-D80C1B9E2BB3}" type="slidenum">
              <a:rPr lang="en-US" smtClean="0"/>
              <a:pPr/>
              <a:t>25</a:t>
            </a:fld>
            <a:endParaRPr lang="en-US"/>
          </a:p>
        </p:txBody>
      </p:sp>
      <p:grpSp>
        <p:nvGrpSpPr>
          <p:cNvPr id="5" name="Group 4">
            <a:extLst>
              <a:ext uri="{FF2B5EF4-FFF2-40B4-BE49-F238E27FC236}">
                <a16:creationId xmlns:a16="http://schemas.microsoft.com/office/drawing/2014/main" id="{B67AE421-9CFC-5843-AD3D-F2522801E2CD}"/>
              </a:ext>
            </a:extLst>
          </p:cNvPr>
          <p:cNvGrpSpPr/>
          <p:nvPr/>
        </p:nvGrpSpPr>
        <p:grpSpPr>
          <a:xfrm>
            <a:off x="1220553" y="1490231"/>
            <a:ext cx="2092239" cy="2113265"/>
            <a:chOff x="837883" y="1456425"/>
            <a:chExt cx="2092239" cy="2113265"/>
          </a:xfrm>
        </p:grpSpPr>
        <p:sp>
          <p:nvSpPr>
            <p:cNvPr id="6" name="TextBox 5">
              <a:extLst>
                <a:ext uri="{FF2B5EF4-FFF2-40B4-BE49-F238E27FC236}">
                  <a16:creationId xmlns:a16="http://schemas.microsoft.com/office/drawing/2014/main" id="{E0D9CD3E-4ECB-4B45-9A41-F54A4886A76D}"/>
                </a:ext>
              </a:extLst>
            </p:cNvPr>
            <p:cNvSpPr txBox="1"/>
            <p:nvPr/>
          </p:nvSpPr>
          <p:spPr>
            <a:xfrm>
              <a:off x="837883" y="1456425"/>
              <a:ext cx="2092239" cy="584775"/>
            </a:xfrm>
            <a:prstGeom prst="rect">
              <a:avLst/>
            </a:prstGeom>
            <a:solidFill>
              <a:schemeClr val="accent6">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25</a:t>
              </a:r>
            </a:p>
            <a:p>
              <a:r>
                <a:rPr lang="en-US" sz="1600" b="1" dirty="0">
                  <a:solidFill>
                    <a:srgbClr val="FF0000"/>
                  </a:solidFill>
                  <a:latin typeface="Consolas" panose="020B0609020204030204" pitchFamily="49" charset="0"/>
                  <a:cs typeface="Consolas" panose="020B0609020204030204" pitchFamily="49" charset="0"/>
                </a:rPr>
                <a:t>if</a:t>
              </a:r>
              <a:r>
                <a:rPr lang="en-US" sz="1600" b="1" dirty="0">
                  <a:latin typeface="Consolas" panose="020B0609020204030204" pitchFamily="49" charset="0"/>
                  <a:cs typeface="Consolas" panose="020B0609020204030204" pitchFamily="49" charset="0"/>
                </a:rPr>
                <a:t> a bb1 </a:t>
              </a:r>
              <a:r>
                <a:rPr lang="en-US" sz="1600" b="1" dirty="0">
                  <a:solidFill>
                    <a:srgbClr val="FF0000"/>
                  </a:solidFill>
                  <a:latin typeface="Consolas" panose="020B0609020204030204" pitchFamily="49" charset="0"/>
                  <a:cs typeface="Consolas" panose="020B0609020204030204" pitchFamily="49" charset="0"/>
                </a:rPr>
                <a:t>else</a:t>
              </a:r>
              <a:r>
                <a:rPr lang="en-US" sz="1600" b="1" dirty="0">
                  <a:latin typeface="Consolas" panose="020B0609020204030204" pitchFamily="49" charset="0"/>
                  <a:cs typeface="Consolas" panose="020B0609020204030204" pitchFamily="49" charset="0"/>
                </a:rPr>
                <a:t> bb2</a:t>
              </a:r>
            </a:p>
          </p:txBody>
        </p:sp>
        <p:sp>
          <p:nvSpPr>
            <p:cNvPr id="7" name="TextBox 6">
              <a:extLst>
                <a:ext uri="{FF2B5EF4-FFF2-40B4-BE49-F238E27FC236}">
                  <a16:creationId xmlns:a16="http://schemas.microsoft.com/office/drawing/2014/main" id="{DADE71EF-A3D7-694A-9AD2-27699740C379}"/>
                </a:ext>
              </a:extLst>
            </p:cNvPr>
            <p:cNvSpPr txBox="1"/>
            <p:nvPr/>
          </p:nvSpPr>
          <p:spPr>
            <a:xfrm>
              <a:off x="1959985" y="2984915"/>
              <a:ext cx="970137" cy="584775"/>
            </a:xfrm>
            <a:prstGeom prst="rect">
              <a:avLst/>
            </a:prstGeom>
            <a:solidFill>
              <a:schemeClr val="accent2">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$t0 = x</a:t>
              </a:r>
            </a:p>
            <a:p>
              <a:r>
                <a:rPr lang="en-US" sz="1600" b="1" dirty="0">
                  <a:solidFill>
                    <a:srgbClr val="FF0000"/>
                  </a:solidFill>
                  <a:latin typeface="Consolas" panose="020B0609020204030204" pitchFamily="49" charset="0"/>
                  <a:cs typeface="Consolas" panose="020B0609020204030204" pitchFamily="49" charset="0"/>
                </a:rPr>
                <a:t>return</a:t>
              </a:r>
            </a:p>
          </p:txBody>
        </p:sp>
        <p:sp>
          <p:nvSpPr>
            <p:cNvPr id="10" name="TextBox 9">
              <a:extLst>
                <a:ext uri="{FF2B5EF4-FFF2-40B4-BE49-F238E27FC236}">
                  <a16:creationId xmlns:a16="http://schemas.microsoft.com/office/drawing/2014/main" id="{0043DEED-0565-0C40-9C6A-DB6E11502D12}"/>
                </a:ext>
              </a:extLst>
            </p:cNvPr>
            <p:cNvSpPr txBox="1"/>
            <p:nvPr/>
          </p:nvSpPr>
          <p:spPr>
            <a:xfrm>
              <a:off x="837884" y="2514531"/>
              <a:ext cx="1122096" cy="338554"/>
            </a:xfrm>
            <a:prstGeom prst="rect">
              <a:avLst/>
            </a:prstGeom>
            <a:solidFill>
              <a:schemeClr val="accent1">
                <a:lumMod val="40000"/>
                <a:lumOff val="60000"/>
              </a:schemeClr>
            </a:solidFill>
          </p:spPr>
          <p:txBody>
            <a:bodyPr wrap="squar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10</a:t>
              </a:r>
            </a:p>
          </p:txBody>
        </p:sp>
        <p:cxnSp>
          <p:nvCxnSpPr>
            <p:cNvPr id="12" name="Straight Arrow Connector 11">
              <a:extLst>
                <a:ext uri="{FF2B5EF4-FFF2-40B4-BE49-F238E27FC236}">
                  <a16:creationId xmlns:a16="http://schemas.microsoft.com/office/drawing/2014/main" id="{650DB1C1-5936-CC4A-8E6E-037313769898}"/>
                </a:ext>
              </a:extLst>
            </p:cNvPr>
            <p:cNvCxnSpPr>
              <a:cxnSpLocks/>
            </p:cNvCxnSpPr>
            <p:nvPr/>
          </p:nvCxnSpPr>
          <p:spPr>
            <a:xfrm>
              <a:off x="1633396" y="2040939"/>
              <a:ext cx="0" cy="472119"/>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229E791-F1C7-AA4A-9291-6045919058F5}"/>
                </a:ext>
              </a:extLst>
            </p:cNvPr>
            <p:cNvCxnSpPr>
              <a:cxnSpLocks/>
            </p:cNvCxnSpPr>
            <p:nvPr/>
          </p:nvCxnSpPr>
          <p:spPr>
            <a:xfrm>
              <a:off x="2627176" y="2040939"/>
              <a:ext cx="0" cy="94397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26">
              <a:extLst>
                <a:ext uri="{FF2B5EF4-FFF2-40B4-BE49-F238E27FC236}">
                  <a16:creationId xmlns:a16="http://schemas.microsoft.com/office/drawing/2014/main" id="{3C16E553-929D-DE4E-A730-A57AA2BF4BE4}"/>
                </a:ext>
              </a:extLst>
            </p:cNvPr>
            <p:cNvCxnSpPr>
              <a:cxnSpLocks/>
              <a:stCxn id="10" idx="2"/>
              <a:endCxn id="7" idx="1"/>
            </p:cNvCxnSpPr>
            <p:nvPr/>
          </p:nvCxnSpPr>
          <p:spPr>
            <a:xfrm rot="16200000" flipH="1">
              <a:off x="1467349" y="2784667"/>
              <a:ext cx="424218" cy="561053"/>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D7CF59CF-1DA8-2F4C-9AFC-C798E498BCAD}"/>
              </a:ext>
            </a:extLst>
          </p:cNvPr>
          <p:cNvGrpSpPr/>
          <p:nvPr/>
        </p:nvGrpSpPr>
        <p:grpSpPr>
          <a:xfrm>
            <a:off x="5278233" y="1370110"/>
            <a:ext cx="2853476" cy="2401790"/>
            <a:chOff x="5202504" y="1227825"/>
            <a:chExt cx="2853476" cy="2401790"/>
          </a:xfrm>
        </p:grpSpPr>
        <p:sp>
          <p:nvSpPr>
            <p:cNvPr id="16" name="TextBox 15">
              <a:extLst>
                <a:ext uri="{FF2B5EF4-FFF2-40B4-BE49-F238E27FC236}">
                  <a16:creationId xmlns:a16="http://schemas.microsoft.com/office/drawing/2014/main" id="{AD599EC6-5971-C445-82AA-124927BA7144}"/>
                </a:ext>
              </a:extLst>
            </p:cNvPr>
            <p:cNvSpPr txBox="1"/>
            <p:nvPr/>
          </p:nvSpPr>
          <p:spPr>
            <a:xfrm>
              <a:off x="5446576" y="1227825"/>
              <a:ext cx="2092239" cy="584775"/>
            </a:xfrm>
            <a:prstGeom prst="rect">
              <a:avLst/>
            </a:prstGeom>
            <a:solidFill>
              <a:schemeClr val="accent6">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25</a:t>
              </a:r>
            </a:p>
            <a:p>
              <a:r>
                <a:rPr lang="en-US" sz="1600" b="1" dirty="0">
                  <a:solidFill>
                    <a:srgbClr val="FF0000"/>
                  </a:solidFill>
                  <a:latin typeface="Consolas" panose="020B0609020204030204" pitchFamily="49" charset="0"/>
                  <a:cs typeface="Consolas" panose="020B0609020204030204" pitchFamily="49" charset="0"/>
                </a:rPr>
                <a:t>if</a:t>
              </a:r>
              <a:r>
                <a:rPr lang="en-US" sz="1600" b="1" dirty="0">
                  <a:latin typeface="Consolas" panose="020B0609020204030204" pitchFamily="49" charset="0"/>
                  <a:cs typeface="Consolas" panose="020B0609020204030204" pitchFamily="49" charset="0"/>
                </a:rPr>
                <a:t> a bb1 </a:t>
              </a:r>
              <a:r>
                <a:rPr lang="en-US" sz="1600" b="1" dirty="0">
                  <a:solidFill>
                    <a:srgbClr val="FF0000"/>
                  </a:solidFill>
                  <a:latin typeface="Consolas" panose="020B0609020204030204" pitchFamily="49" charset="0"/>
                  <a:cs typeface="Consolas" panose="020B0609020204030204" pitchFamily="49" charset="0"/>
                </a:rPr>
                <a:t>else</a:t>
              </a:r>
              <a:r>
                <a:rPr lang="en-US" sz="1600" b="1" dirty="0">
                  <a:latin typeface="Consolas" panose="020B0609020204030204" pitchFamily="49" charset="0"/>
                  <a:cs typeface="Consolas" panose="020B0609020204030204" pitchFamily="49" charset="0"/>
                </a:rPr>
                <a:t> bb2</a:t>
              </a:r>
            </a:p>
          </p:txBody>
        </p:sp>
        <p:sp>
          <p:nvSpPr>
            <p:cNvPr id="17" name="TextBox 16">
              <a:extLst>
                <a:ext uri="{FF2B5EF4-FFF2-40B4-BE49-F238E27FC236}">
                  <a16:creationId xmlns:a16="http://schemas.microsoft.com/office/drawing/2014/main" id="{DBB62BC6-18B9-5141-88A2-A9068F3E263F}"/>
                </a:ext>
              </a:extLst>
            </p:cNvPr>
            <p:cNvSpPr txBox="1"/>
            <p:nvPr/>
          </p:nvSpPr>
          <p:spPr>
            <a:xfrm>
              <a:off x="6103374" y="3044840"/>
              <a:ext cx="970137" cy="584775"/>
            </a:xfrm>
            <a:prstGeom prst="rect">
              <a:avLst/>
            </a:prstGeom>
            <a:solidFill>
              <a:schemeClr val="accent2">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$t0 = x</a:t>
              </a:r>
            </a:p>
            <a:p>
              <a:r>
                <a:rPr lang="en-US" sz="1600" b="1" dirty="0">
                  <a:solidFill>
                    <a:srgbClr val="FF0000"/>
                  </a:solidFill>
                  <a:latin typeface="Consolas" panose="020B0609020204030204" pitchFamily="49" charset="0"/>
                  <a:cs typeface="Consolas" panose="020B0609020204030204" pitchFamily="49" charset="0"/>
                </a:rPr>
                <a:t>return</a:t>
              </a:r>
            </a:p>
          </p:txBody>
        </p:sp>
        <p:sp>
          <p:nvSpPr>
            <p:cNvPr id="20" name="TextBox 19">
              <a:extLst>
                <a:ext uri="{FF2B5EF4-FFF2-40B4-BE49-F238E27FC236}">
                  <a16:creationId xmlns:a16="http://schemas.microsoft.com/office/drawing/2014/main" id="{9F743ED6-8368-4042-9C5B-401185DE1FA7}"/>
                </a:ext>
              </a:extLst>
            </p:cNvPr>
            <p:cNvSpPr txBox="1"/>
            <p:nvPr/>
          </p:nvSpPr>
          <p:spPr>
            <a:xfrm>
              <a:off x="5202504" y="2244491"/>
              <a:ext cx="1122096" cy="338554"/>
            </a:xfrm>
            <a:prstGeom prst="rect">
              <a:avLst/>
            </a:prstGeom>
            <a:solidFill>
              <a:schemeClr val="accent1">
                <a:lumMod val="40000"/>
                <a:lumOff val="60000"/>
              </a:schemeClr>
            </a:solidFill>
          </p:spPr>
          <p:txBody>
            <a:bodyPr wrap="squar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10</a:t>
              </a:r>
            </a:p>
          </p:txBody>
        </p:sp>
        <p:cxnSp>
          <p:nvCxnSpPr>
            <p:cNvPr id="22" name="Straight Arrow Connector 21">
              <a:extLst>
                <a:ext uri="{FF2B5EF4-FFF2-40B4-BE49-F238E27FC236}">
                  <a16:creationId xmlns:a16="http://schemas.microsoft.com/office/drawing/2014/main" id="{88D91C47-AF47-1B49-8569-C190C6564482}"/>
                </a:ext>
              </a:extLst>
            </p:cNvPr>
            <p:cNvCxnSpPr>
              <a:cxnSpLocks/>
            </p:cNvCxnSpPr>
            <p:nvPr/>
          </p:nvCxnSpPr>
          <p:spPr>
            <a:xfrm>
              <a:off x="6110525" y="1812339"/>
              <a:ext cx="0" cy="432152"/>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CA792B1-83CD-874D-9775-B17008D0D383}"/>
                </a:ext>
              </a:extLst>
            </p:cNvPr>
            <p:cNvCxnSpPr>
              <a:cxnSpLocks/>
            </p:cNvCxnSpPr>
            <p:nvPr/>
          </p:nvCxnSpPr>
          <p:spPr>
            <a:xfrm>
              <a:off x="7235869" y="1812339"/>
              <a:ext cx="0" cy="43215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22991F22-C1A4-1447-A469-22BD4A642DD3}"/>
                </a:ext>
              </a:extLst>
            </p:cNvPr>
            <p:cNvSpPr txBox="1"/>
            <p:nvPr/>
          </p:nvSpPr>
          <p:spPr>
            <a:xfrm>
              <a:off x="6933884" y="2244491"/>
              <a:ext cx="1122096" cy="338554"/>
            </a:xfrm>
            <a:prstGeom prst="rect">
              <a:avLst/>
            </a:prstGeom>
            <a:solidFill>
              <a:schemeClr val="accent1">
                <a:lumMod val="40000"/>
                <a:lumOff val="60000"/>
              </a:schemeClr>
            </a:solidFill>
          </p:spPr>
          <p:txBody>
            <a:bodyPr wrap="squar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10</a:t>
              </a:r>
            </a:p>
          </p:txBody>
        </p:sp>
        <p:cxnSp>
          <p:nvCxnSpPr>
            <p:cNvPr id="26" name="Straight Arrow Connector 25">
              <a:extLst>
                <a:ext uri="{FF2B5EF4-FFF2-40B4-BE49-F238E27FC236}">
                  <a16:creationId xmlns:a16="http://schemas.microsoft.com/office/drawing/2014/main" id="{2E4D427A-EEF6-1347-A3F1-7AB8648A78B8}"/>
                </a:ext>
              </a:extLst>
            </p:cNvPr>
            <p:cNvCxnSpPr>
              <a:cxnSpLocks/>
            </p:cNvCxnSpPr>
            <p:nvPr/>
          </p:nvCxnSpPr>
          <p:spPr>
            <a:xfrm>
              <a:off x="6110525" y="2583045"/>
              <a:ext cx="142791" cy="46495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8905FCE-B42F-304B-B3C9-147289A504DB}"/>
                </a:ext>
              </a:extLst>
            </p:cNvPr>
            <p:cNvCxnSpPr>
              <a:cxnSpLocks/>
            </p:cNvCxnSpPr>
            <p:nvPr/>
          </p:nvCxnSpPr>
          <p:spPr>
            <a:xfrm flipH="1">
              <a:off x="6933884" y="2583045"/>
              <a:ext cx="227453" cy="46179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5" name="TextBox 34">
            <a:extLst>
              <a:ext uri="{FF2B5EF4-FFF2-40B4-BE49-F238E27FC236}">
                <a16:creationId xmlns:a16="http://schemas.microsoft.com/office/drawing/2014/main" id="{391EE6A0-8EAE-5342-A2F1-997B941F8627}"/>
              </a:ext>
            </a:extLst>
          </p:cNvPr>
          <p:cNvSpPr txBox="1"/>
          <p:nvPr/>
        </p:nvSpPr>
        <p:spPr>
          <a:xfrm>
            <a:off x="630927" y="2120856"/>
            <a:ext cx="1324402" cy="369332"/>
          </a:xfrm>
          <a:prstGeom prst="rect">
            <a:avLst/>
          </a:prstGeom>
          <a:noFill/>
        </p:spPr>
        <p:txBody>
          <a:bodyPr wrap="none" rtlCol="0">
            <a:spAutoFit/>
          </a:bodyPr>
          <a:lstStyle/>
          <a:p>
            <a:pPr algn="r"/>
            <a:r>
              <a:rPr lang="en-US" sz="1800" i="1" dirty="0">
                <a:latin typeface="Consolas" panose="020B0609020204030204" pitchFamily="49" charset="0"/>
                <a:cs typeface="Consolas" panose="020B0609020204030204" pitchFamily="49" charset="0"/>
              </a:rPr>
              <a:t>CONST(25)</a:t>
            </a:r>
          </a:p>
        </p:txBody>
      </p:sp>
      <p:sp>
        <p:nvSpPr>
          <p:cNvPr id="36" name="TextBox 35">
            <a:extLst>
              <a:ext uri="{FF2B5EF4-FFF2-40B4-BE49-F238E27FC236}">
                <a16:creationId xmlns:a16="http://schemas.microsoft.com/office/drawing/2014/main" id="{01212EC4-77B5-7B4B-9FE7-D7BE2A0029AD}"/>
              </a:ext>
            </a:extLst>
          </p:cNvPr>
          <p:cNvSpPr txBox="1"/>
          <p:nvPr/>
        </p:nvSpPr>
        <p:spPr>
          <a:xfrm>
            <a:off x="2991981" y="2586895"/>
            <a:ext cx="1324402" cy="369332"/>
          </a:xfrm>
          <a:prstGeom prst="rect">
            <a:avLst/>
          </a:prstGeom>
          <a:noFill/>
        </p:spPr>
        <p:txBody>
          <a:bodyPr wrap="none" rtlCol="0">
            <a:spAutoFit/>
          </a:bodyPr>
          <a:lstStyle/>
          <a:p>
            <a:pPr algn="r"/>
            <a:r>
              <a:rPr lang="en-US" sz="1800" i="1" dirty="0">
                <a:latin typeface="Consolas" panose="020B0609020204030204" pitchFamily="49" charset="0"/>
                <a:cs typeface="Consolas" panose="020B0609020204030204" pitchFamily="49" charset="0"/>
              </a:rPr>
              <a:t>CONST(25)</a:t>
            </a:r>
          </a:p>
        </p:txBody>
      </p:sp>
      <p:sp>
        <p:nvSpPr>
          <p:cNvPr id="38" name="TextBox 37">
            <a:extLst>
              <a:ext uri="{FF2B5EF4-FFF2-40B4-BE49-F238E27FC236}">
                <a16:creationId xmlns:a16="http://schemas.microsoft.com/office/drawing/2014/main" id="{D4CB65CA-0E59-754B-8DE5-66FB9D89A1FD}"/>
              </a:ext>
            </a:extLst>
          </p:cNvPr>
          <p:cNvSpPr txBox="1"/>
          <p:nvPr/>
        </p:nvSpPr>
        <p:spPr>
          <a:xfrm>
            <a:off x="1013263" y="3305913"/>
            <a:ext cx="1324402" cy="369332"/>
          </a:xfrm>
          <a:prstGeom prst="rect">
            <a:avLst/>
          </a:prstGeom>
          <a:noFill/>
        </p:spPr>
        <p:txBody>
          <a:bodyPr wrap="none" rtlCol="0">
            <a:spAutoFit/>
          </a:bodyPr>
          <a:lstStyle/>
          <a:p>
            <a:pPr algn="r"/>
            <a:r>
              <a:rPr lang="en-US" sz="1800" i="1" dirty="0">
                <a:latin typeface="Consolas" panose="020B0609020204030204" pitchFamily="49" charset="0"/>
                <a:cs typeface="Consolas" panose="020B0609020204030204" pitchFamily="49" charset="0"/>
              </a:rPr>
              <a:t>CONST(10)</a:t>
            </a:r>
          </a:p>
        </p:txBody>
      </p:sp>
      <p:sp>
        <p:nvSpPr>
          <p:cNvPr id="39" name="TextBox 38">
            <a:extLst>
              <a:ext uri="{FF2B5EF4-FFF2-40B4-BE49-F238E27FC236}">
                <a16:creationId xmlns:a16="http://schemas.microsoft.com/office/drawing/2014/main" id="{34C689F2-9796-DA4B-91B7-5AB41AC5D9EA}"/>
              </a:ext>
            </a:extLst>
          </p:cNvPr>
          <p:cNvSpPr txBox="1"/>
          <p:nvPr/>
        </p:nvSpPr>
        <p:spPr>
          <a:xfrm>
            <a:off x="954060" y="3729181"/>
            <a:ext cx="2625224" cy="769441"/>
          </a:xfrm>
          <a:prstGeom prst="rect">
            <a:avLst/>
          </a:prstGeom>
          <a:noFill/>
        </p:spPr>
        <p:txBody>
          <a:bodyPr wrap="square" rtlCol="0">
            <a:spAutoFit/>
          </a:bodyPr>
          <a:lstStyle/>
          <a:p>
            <a:pPr algn="ctr"/>
            <a:r>
              <a:rPr lang="en-US" sz="2200" dirty="0"/>
              <a:t>so, </a:t>
            </a:r>
            <a:r>
              <a:rPr lang="en-US" sz="2200" dirty="0">
                <a:solidFill>
                  <a:srgbClr val="FF0000"/>
                </a:solidFill>
              </a:rPr>
              <a:t>red</a:t>
            </a:r>
            <a:r>
              <a:rPr lang="en-US" sz="2200" dirty="0"/>
              <a:t>'s in-state must be </a:t>
            </a:r>
            <a:r>
              <a:rPr lang="en-US" sz="2200" b="1" dirty="0">
                <a:latin typeface="Consolas" panose="020B0609020204030204" pitchFamily="49" charset="0"/>
                <a:cs typeface="Consolas" panose="020B0609020204030204" pitchFamily="49" charset="0"/>
              </a:rPr>
              <a:t>x = ANY</a:t>
            </a:r>
            <a:r>
              <a:rPr lang="en-US" sz="2200" dirty="0"/>
              <a:t>.</a:t>
            </a:r>
            <a:endParaRPr lang="en-US" sz="2200" dirty="0">
              <a:latin typeface="Consolas" panose="020B0609020204030204" pitchFamily="49" charset="0"/>
              <a:cs typeface="Consolas" panose="020B0609020204030204" pitchFamily="49" charset="0"/>
            </a:endParaRPr>
          </a:p>
        </p:txBody>
      </p:sp>
      <p:sp>
        <p:nvSpPr>
          <p:cNvPr id="40" name="TextBox 39">
            <a:extLst>
              <a:ext uri="{FF2B5EF4-FFF2-40B4-BE49-F238E27FC236}">
                <a16:creationId xmlns:a16="http://schemas.microsoft.com/office/drawing/2014/main" id="{2DAB54B5-829B-3A45-8211-9C061EE385EF}"/>
              </a:ext>
            </a:extLst>
          </p:cNvPr>
          <p:cNvSpPr txBox="1"/>
          <p:nvPr/>
        </p:nvSpPr>
        <p:spPr>
          <a:xfrm>
            <a:off x="4850536" y="1993526"/>
            <a:ext cx="1324402" cy="369332"/>
          </a:xfrm>
          <a:prstGeom prst="rect">
            <a:avLst/>
          </a:prstGeom>
          <a:noFill/>
        </p:spPr>
        <p:txBody>
          <a:bodyPr wrap="none" rtlCol="0">
            <a:spAutoFit/>
          </a:bodyPr>
          <a:lstStyle/>
          <a:p>
            <a:pPr algn="r"/>
            <a:r>
              <a:rPr lang="en-US" sz="1800" i="1" dirty="0">
                <a:latin typeface="Consolas" panose="020B0609020204030204" pitchFamily="49" charset="0"/>
                <a:cs typeface="Consolas" panose="020B0609020204030204" pitchFamily="49" charset="0"/>
              </a:rPr>
              <a:t>CONST(25)</a:t>
            </a:r>
          </a:p>
        </p:txBody>
      </p:sp>
      <p:sp>
        <p:nvSpPr>
          <p:cNvPr id="41" name="TextBox 40">
            <a:extLst>
              <a:ext uri="{FF2B5EF4-FFF2-40B4-BE49-F238E27FC236}">
                <a16:creationId xmlns:a16="http://schemas.microsoft.com/office/drawing/2014/main" id="{88B126CF-DDF2-3949-A702-5C572F66B7FC}"/>
              </a:ext>
            </a:extLst>
          </p:cNvPr>
          <p:cNvSpPr txBox="1"/>
          <p:nvPr/>
        </p:nvSpPr>
        <p:spPr>
          <a:xfrm>
            <a:off x="7362398" y="1957740"/>
            <a:ext cx="1324402" cy="369332"/>
          </a:xfrm>
          <a:prstGeom prst="rect">
            <a:avLst/>
          </a:prstGeom>
          <a:noFill/>
        </p:spPr>
        <p:txBody>
          <a:bodyPr wrap="none" rtlCol="0">
            <a:spAutoFit/>
          </a:bodyPr>
          <a:lstStyle/>
          <a:p>
            <a:pPr algn="r"/>
            <a:r>
              <a:rPr lang="en-US" sz="1800" i="1" dirty="0">
                <a:latin typeface="Consolas" panose="020B0609020204030204" pitchFamily="49" charset="0"/>
                <a:cs typeface="Consolas" panose="020B0609020204030204" pitchFamily="49" charset="0"/>
              </a:rPr>
              <a:t>CONST(25)</a:t>
            </a:r>
          </a:p>
        </p:txBody>
      </p:sp>
      <p:sp>
        <p:nvSpPr>
          <p:cNvPr id="42" name="TextBox 41">
            <a:extLst>
              <a:ext uri="{FF2B5EF4-FFF2-40B4-BE49-F238E27FC236}">
                <a16:creationId xmlns:a16="http://schemas.microsoft.com/office/drawing/2014/main" id="{8FB5356D-2223-4349-B76B-30E6FF172C6A}"/>
              </a:ext>
            </a:extLst>
          </p:cNvPr>
          <p:cNvSpPr txBox="1"/>
          <p:nvPr/>
        </p:nvSpPr>
        <p:spPr>
          <a:xfrm>
            <a:off x="4932878" y="2777765"/>
            <a:ext cx="1324402" cy="369332"/>
          </a:xfrm>
          <a:prstGeom prst="rect">
            <a:avLst/>
          </a:prstGeom>
          <a:noFill/>
        </p:spPr>
        <p:txBody>
          <a:bodyPr wrap="none" rtlCol="0">
            <a:spAutoFit/>
          </a:bodyPr>
          <a:lstStyle/>
          <a:p>
            <a:pPr algn="r"/>
            <a:r>
              <a:rPr lang="en-US" sz="1800" i="1" dirty="0">
                <a:latin typeface="Consolas" panose="020B0609020204030204" pitchFamily="49" charset="0"/>
                <a:cs typeface="Consolas" panose="020B0609020204030204" pitchFamily="49" charset="0"/>
              </a:rPr>
              <a:t>CONST(10)</a:t>
            </a:r>
          </a:p>
        </p:txBody>
      </p:sp>
      <p:sp>
        <p:nvSpPr>
          <p:cNvPr id="43" name="TextBox 42">
            <a:extLst>
              <a:ext uri="{FF2B5EF4-FFF2-40B4-BE49-F238E27FC236}">
                <a16:creationId xmlns:a16="http://schemas.microsoft.com/office/drawing/2014/main" id="{185B85D5-2474-6845-A46B-CF85B29603FB}"/>
              </a:ext>
            </a:extLst>
          </p:cNvPr>
          <p:cNvSpPr txBox="1"/>
          <p:nvPr/>
        </p:nvSpPr>
        <p:spPr>
          <a:xfrm>
            <a:off x="7133171" y="2782766"/>
            <a:ext cx="1324402" cy="369332"/>
          </a:xfrm>
          <a:prstGeom prst="rect">
            <a:avLst/>
          </a:prstGeom>
          <a:noFill/>
        </p:spPr>
        <p:txBody>
          <a:bodyPr wrap="none" rtlCol="0">
            <a:spAutoFit/>
          </a:bodyPr>
          <a:lstStyle/>
          <a:p>
            <a:pPr algn="r"/>
            <a:r>
              <a:rPr lang="en-US" sz="1800" i="1" dirty="0">
                <a:latin typeface="Consolas" panose="020B0609020204030204" pitchFamily="49" charset="0"/>
                <a:cs typeface="Consolas" panose="020B0609020204030204" pitchFamily="49" charset="0"/>
              </a:rPr>
              <a:t>CONST(10)</a:t>
            </a:r>
          </a:p>
        </p:txBody>
      </p:sp>
      <p:sp>
        <p:nvSpPr>
          <p:cNvPr id="44" name="TextBox 43">
            <a:extLst>
              <a:ext uri="{FF2B5EF4-FFF2-40B4-BE49-F238E27FC236}">
                <a16:creationId xmlns:a16="http://schemas.microsoft.com/office/drawing/2014/main" id="{31B4D3E7-FA02-D742-90C8-0FAC8B487312}"/>
              </a:ext>
            </a:extLst>
          </p:cNvPr>
          <p:cNvSpPr txBox="1"/>
          <p:nvPr/>
        </p:nvSpPr>
        <p:spPr>
          <a:xfrm>
            <a:off x="5493479" y="3771900"/>
            <a:ext cx="2625224" cy="769441"/>
          </a:xfrm>
          <a:prstGeom prst="rect">
            <a:avLst/>
          </a:prstGeom>
          <a:noFill/>
        </p:spPr>
        <p:txBody>
          <a:bodyPr wrap="square" rtlCol="0">
            <a:spAutoFit/>
          </a:bodyPr>
          <a:lstStyle/>
          <a:p>
            <a:pPr algn="ctr"/>
            <a:r>
              <a:rPr lang="en-US" sz="2200" dirty="0"/>
              <a:t>so, </a:t>
            </a:r>
            <a:r>
              <a:rPr lang="en-US" sz="2200" dirty="0">
                <a:solidFill>
                  <a:srgbClr val="FF0000"/>
                </a:solidFill>
              </a:rPr>
              <a:t>red</a:t>
            </a:r>
            <a:r>
              <a:rPr lang="en-US" sz="2200" dirty="0"/>
              <a:t>'s in-state is </a:t>
            </a:r>
            <a:r>
              <a:rPr lang="en-US" sz="2200" b="1" dirty="0">
                <a:latin typeface="Consolas" panose="020B0609020204030204" pitchFamily="49" charset="0"/>
                <a:cs typeface="Consolas" panose="020B0609020204030204" pitchFamily="49" charset="0"/>
              </a:rPr>
              <a:t>x = CONST(</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a:t>
            </a:r>
            <a:r>
              <a:rPr lang="en-US" sz="2200" dirty="0"/>
              <a:t>!</a:t>
            </a:r>
            <a:endParaRPr lang="en-US" sz="2200" dirty="0">
              <a:latin typeface="Consolas" panose="020B0609020204030204" pitchFamily="49" charset="0"/>
              <a:cs typeface="Consolas" panose="020B0609020204030204" pitchFamily="49" charset="0"/>
            </a:endParaRPr>
          </a:p>
        </p:txBody>
      </p:sp>
      <p:sp>
        <p:nvSpPr>
          <p:cNvPr id="47" name="TextBox 46">
            <a:extLst>
              <a:ext uri="{FF2B5EF4-FFF2-40B4-BE49-F238E27FC236}">
                <a16:creationId xmlns:a16="http://schemas.microsoft.com/office/drawing/2014/main" id="{B61A6FA2-0A99-D841-A273-EC956DD3A918}"/>
              </a:ext>
            </a:extLst>
          </p:cNvPr>
          <p:cNvSpPr txBox="1"/>
          <p:nvPr/>
        </p:nvSpPr>
        <p:spPr>
          <a:xfrm>
            <a:off x="3312792" y="4679654"/>
            <a:ext cx="2625224" cy="769441"/>
          </a:xfrm>
          <a:prstGeom prst="rect">
            <a:avLst/>
          </a:prstGeom>
          <a:noFill/>
        </p:spPr>
        <p:txBody>
          <a:bodyPr wrap="square" rtlCol="0">
            <a:spAutoFit/>
          </a:bodyPr>
          <a:lstStyle/>
          <a:p>
            <a:pPr algn="ctr"/>
            <a:r>
              <a:rPr lang="en-US" sz="2200" dirty="0"/>
              <a:t>problem solved! ............right?</a:t>
            </a:r>
            <a:endParaRPr lang="en-US" sz="22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3667387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8" grpId="0"/>
      <p:bldP spid="39" grpId="0"/>
      <p:bldP spid="40" grpId="0"/>
      <p:bldP spid="41" grpId="0"/>
      <p:bldP spid="42" grpId="0"/>
      <p:bldP spid="43" grpId="0"/>
      <p:bldP spid="44" grpId="0"/>
      <p:bldP spid="4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9B6D9-D5C7-9A44-91BA-112E5B7F3DC1}"/>
              </a:ext>
            </a:extLst>
          </p:cNvPr>
          <p:cNvSpPr>
            <a:spLocks noGrp="1"/>
          </p:cNvSpPr>
          <p:nvPr>
            <p:ph type="title"/>
          </p:nvPr>
        </p:nvSpPr>
        <p:spPr/>
        <p:txBody>
          <a:bodyPr/>
          <a:lstStyle/>
          <a:p>
            <a:r>
              <a:rPr lang="en-US" dirty="0"/>
              <a:t>The catch</a:t>
            </a:r>
          </a:p>
        </p:txBody>
      </p:sp>
      <p:sp>
        <p:nvSpPr>
          <p:cNvPr id="3" name="Content Placeholder 2">
            <a:extLst>
              <a:ext uri="{FF2B5EF4-FFF2-40B4-BE49-F238E27FC236}">
                <a16:creationId xmlns:a16="http://schemas.microsoft.com/office/drawing/2014/main" id="{ABDAF6FD-3048-0946-A202-B47E2DE4D7AC}"/>
              </a:ext>
            </a:extLst>
          </p:cNvPr>
          <p:cNvSpPr>
            <a:spLocks noGrp="1"/>
          </p:cNvSpPr>
          <p:nvPr>
            <p:ph idx="1"/>
          </p:nvPr>
        </p:nvSpPr>
        <p:spPr>
          <a:xfrm>
            <a:off x="152400" y="495302"/>
            <a:ext cx="8991600" cy="495300"/>
          </a:xfrm>
        </p:spPr>
        <p:txBody>
          <a:bodyPr/>
          <a:lstStyle/>
          <a:p>
            <a:r>
              <a:rPr lang="en-US" dirty="0"/>
              <a:t>let's try it on this CFG! again, we're annotating the </a:t>
            </a:r>
            <a:r>
              <a:rPr lang="en-US" b="1" dirty="0"/>
              <a:t>state for </a:t>
            </a:r>
            <a:r>
              <a:rPr lang="en-US" b="1" dirty="0">
                <a:latin typeface="Consolas" panose="020B0609020204030204" pitchFamily="49" charset="0"/>
                <a:cs typeface="Consolas" panose="020B0609020204030204" pitchFamily="49" charset="0"/>
              </a:rPr>
              <a:t>x</a:t>
            </a:r>
            <a:r>
              <a:rPr lang="en-US" b="1" dirty="0"/>
              <a:t>.</a:t>
            </a:r>
            <a:endParaRPr lang="en-US" dirty="0"/>
          </a:p>
        </p:txBody>
      </p:sp>
      <p:sp>
        <p:nvSpPr>
          <p:cNvPr id="4" name="Slide Number Placeholder 3">
            <a:extLst>
              <a:ext uri="{FF2B5EF4-FFF2-40B4-BE49-F238E27FC236}">
                <a16:creationId xmlns:a16="http://schemas.microsoft.com/office/drawing/2014/main" id="{75DA8D93-1A6D-C143-90CC-8CC35692174D}"/>
              </a:ext>
            </a:extLst>
          </p:cNvPr>
          <p:cNvSpPr>
            <a:spLocks noGrp="1"/>
          </p:cNvSpPr>
          <p:nvPr>
            <p:ph type="sldNum" sz="quarter" idx="12"/>
          </p:nvPr>
        </p:nvSpPr>
        <p:spPr/>
        <p:txBody>
          <a:bodyPr/>
          <a:lstStyle/>
          <a:p>
            <a:fld id="{3552B95B-556F-44BD-91A5-D80C1B9E2BB3}" type="slidenum">
              <a:rPr lang="en-US" smtClean="0"/>
              <a:pPr/>
              <a:t>26</a:t>
            </a:fld>
            <a:endParaRPr lang="en-US"/>
          </a:p>
        </p:txBody>
      </p:sp>
      <p:grpSp>
        <p:nvGrpSpPr>
          <p:cNvPr id="26" name="Group 25">
            <a:extLst>
              <a:ext uri="{FF2B5EF4-FFF2-40B4-BE49-F238E27FC236}">
                <a16:creationId xmlns:a16="http://schemas.microsoft.com/office/drawing/2014/main" id="{22579755-F334-EE4B-A398-D22E0881BF59}"/>
              </a:ext>
            </a:extLst>
          </p:cNvPr>
          <p:cNvGrpSpPr/>
          <p:nvPr/>
        </p:nvGrpSpPr>
        <p:grpSpPr>
          <a:xfrm>
            <a:off x="5608140" y="1181100"/>
            <a:ext cx="2316660" cy="3625692"/>
            <a:chOff x="6370140" y="1145571"/>
            <a:chExt cx="2316660" cy="3625692"/>
          </a:xfrm>
        </p:grpSpPr>
        <p:sp>
          <p:nvSpPr>
            <p:cNvPr id="6" name="TextBox 5">
              <a:extLst>
                <a:ext uri="{FF2B5EF4-FFF2-40B4-BE49-F238E27FC236}">
                  <a16:creationId xmlns:a16="http://schemas.microsoft.com/office/drawing/2014/main" id="{91C65D81-88DE-6542-B3FE-651BE7228846}"/>
                </a:ext>
              </a:extLst>
            </p:cNvPr>
            <p:cNvSpPr txBox="1"/>
            <p:nvPr/>
          </p:nvSpPr>
          <p:spPr>
            <a:xfrm>
              <a:off x="7492242" y="4186488"/>
              <a:ext cx="970137" cy="584775"/>
            </a:xfrm>
            <a:prstGeom prst="rect">
              <a:avLst/>
            </a:prstGeom>
            <a:solidFill>
              <a:schemeClr val="accent2">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$t0 = x</a:t>
              </a:r>
            </a:p>
            <a:p>
              <a:r>
                <a:rPr lang="en-US" sz="1600" b="1" dirty="0">
                  <a:solidFill>
                    <a:srgbClr val="FF0000"/>
                  </a:solidFill>
                  <a:latin typeface="Consolas" panose="020B0609020204030204" pitchFamily="49" charset="0"/>
                  <a:cs typeface="Consolas" panose="020B0609020204030204" pitchFamily="49" charset="0"/>
                </a:rPr>
                <a:t>return</a:t>
              </a:r>
            </a:p>
          </p:txBody>
        </p:sp>
        <p:sp>
          <p:nvSpPr>
            <p:cNvPr id="9" name="TextBox 8">
              <a:extLst>
                <a:ext uri="{FF2B5EF4-FFF2-40B4-BE49-F238E27FC236}">
                  <a16:creationId xmlns:a16="http://schemas.microsoft.com/office/drawing/2014/main" id="{DABD3D83-9D28-0342-8251-1712B65F589D}"/>
                </a:ext>
              </a:extLst>
            </p:cNvPr>
            <p:cNvSpPr txBox="1"/>
            <p:nvPr/>
          </p:nvSpPr>
          <p:spPr>
            <a:xfrm>
              <a:off x="6370140" y="2276998"/>
              <a:ext cx="2316660" cy="584775"/>
            </a:xfrm>
            <a:prstGeom prst="rect">
              <a:avLst/>
            </a:prstGeom>
            <a:solidFill>
              <a:schemeClr val="accent6">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$t1 = i &lt; </a:t>
              </a:r>
              <a:r>
                <a:rPr lang="en-US" sz="1600" b="1" dirty="0">
                  <a:solidFill>
                    <a:schemeClr val="accent3">
                      <a:lumMod val="75000"/>
                    </a:schemeClr>
                  </a:solidFill>
                  <a:latin typeface="Consolas" panose="020B0609020204030204" pitchFamily="49" charset="0"/>
                  <a:cs typeface="Consolas" panose="020B0609020204030204" pitchFamily="49" charset="0"/>
                </a:rPr>
                <a:t>10</a:t>
              </a:r>
            </a:p>
            <a:p>
              <a:r>
                <a:rPr lang="en-US" sz="1600" b="1" dirty="0">
                  <a:solidFill>
                    <a:srgbClr val="FF0000"/>
                  </a:solidFill>
                  <a:latin typeface="Consolas" panose="020B0609020204030204" pitchFamily="49" charset="0"/>
                  <a:cs typeface="Consolas" panose="020B0609020204030204" pitchFamily="49" charset="0"/>
                </a:rPr>
                <a:t>if</a:t>
              </a:r>
              <a:r>
                <a:rPr lang="en-US" sz="1600" b="1" dirty="0">
                  <a:latin typeface="Consolas" panose="020B0609020204030204" pitchFamily="49" charset="0"/>
                  <a:cs typeface="Consolas" panose="020B0609020204030204" pitchFamily="49" charset="0"/>
                </a:rPr>
                <a:t> $t1 bb2 </a:t>
              </a:r>
              <a:r>
                <a:rPr lang="en-US" sz="1600" b="1" dirty="0">
                  <a:solidFill>
                    <a:srgbClr val="FF0000"/>
                  </a:solidFill>
                  <a:latin typeface="Consolas" panose="020B0609020204030204" pitchFamily="49" charset="0"/>
                  <a:cs typeface="Consolas" panose="020B0609020204030204" pitchFamily="49" charset="0"/>
                </a:rPr>
                <a:t>else</a:t>
              </a:r>
              <a:r>
                <a:rPr lang="en-US" sz="1600" b="1" dirty="0">
                  <a:latin typeface="Consolas" panose="020B0609020204030204" pitchFamily="49" charset="0"/>
                  <a:cs typeface="Consolas" panose="020B0609020204030204" pitchFamily="49" charset="0"/>
                </a:rPr>
                <a:t> bb3</a:t>
              </a:r>
            </a:p>
          </p:txBody>
        </p:sp>
        <p:sp>
          <p:nvSpPr>
            <p:cNvPr id="12" name="TextBox 11">
              <a:extLst>
                <a:ext uri="{FF2B5EF4-FFF2-40B4-BE49-F238E27FC236}">
                  <a16:creationId xmlns:a16="http://schemas.microsoft.com/office/drawing/2014/main" id="{D50CBA77-E8F3-3F46-9829-EBA8D9E95715}"/>
                </a:ext>
              </a:extLst>
            </p:cNvPr>
            <p:cNvSpPr txBox="1"/>
            <p:nvPr/>
          </p:nvSpPr>
          <p:spPr>
            <a:xfrm>
              <a:off x="6375687" y="3407324"/>
              <a:ext cx="1480801" cy="584775"/>
            </a:xfrm>
            <a:prstGeom prst="rect">
              <a:avLst/>
            </a:prstGeom>
            <a:solidFill>
              <a:schemeClr val="accent1">
                <a:lumMod val="40000"/>
                <a:lumOff val="60000"/>
              </a:schemeClr>
            </a:solidFill>
          </p:spPr>
          <p:txBody>
            <a:bodyPr wrap="square" rtlCol="0">
              <a:spAutoFit/>
            </a:bodyPr>
            <a:lstStyle/>
            <a:p>
              <a:r>
                <a:rPr lang="en-US" sz="1600" b="1" dirty="0">
                  <a:latin typeface="Consolas" panose="020B0609020204030204" pitchFamily="49" charset="0"/>
                  <a:cs typeface="Consolas" panose="020B0609020204030204" pitchFamily="49" charset="0"/>
                </a:rPr>
                <a:t>print(</a:t>
              </a:r>
              <a:r>
                <a:rPr lang="en-US" sz="1600" b="1" dirty="0">
                  <a:solidFill>
                    <a:schemeClr val="accent6">
                      <a:lumMod val="75000"/>
                    </a:schemeClr>
                  </a:solidFill>
                  <a:latin typeface="Consolas" panose="020B0609020204030204" pitchFamily="49" charset="0"/>
                  <a:cs typeface="Consolas" panose="020B0609020204030204" pitchFamily="49" charset="0"/>
                </a:rPr>
                <a:t>"ha"</a:t>
              </a:r>
              <a:r>
                <a:rPr lang="en-US" sz="1600" b="1" dirty="0">
                  <a:latin typeface="Consolas" panose="020B0609020204030204" pitchFamily="49" charset="0"/>
                  <a:cs typeface="Consolas" panose="020B0609020204030204" pitchFamily="49" charset="0"/>
                </a:rPr>
                <a:t>)</a:t>
              </a:r>
              <a:endParaRPr lang="en-US" sz="1600" b="1" dirty="0">
                <a:solidFill>
                  <a:schemeClr val="accent3">
                    <a:lumMod val="75000"/>
                  </a:schemeClr>
                </a:solidFill>
                <a:latin typeface="Consolas" panose="020B0609020204030204" pitchFamily="49" charset="0"/>
                <a:cs typeface="Consolas" panose="020B0609020204030204" pitchFamily="49" charset="0"/>
              </a:endParaRPr>
            </a:p>
            <a:p>
              <a:r>
                <a:rPr lang="en-US" sz="1600" b="1" dirty="0">
                  <a:latin typeface="Consolas" panose="020B0609020204030204" pitchFamily="49" charset="0"/>
                  <a:cs typeface="Consolas" panose="020B0609020204030204" pitchFamily="49" charset="0"/>
                </a:rPr>
                <a:t>i = i + </a:t>
              </a:r>
              <a:r>
                <a:rPr lang="en-US" sz="1600" b="1" dirty="0">
                  <a:solidFill>
                    <a:schemeClr val="accent3">
                      <a:lumMod val="75000"/>
                    </a:schemeClr>
                  </a:solidFill>
                  <a:latin typeface="Consolas" panose="020B0609020204030204" pitchFamily="49" charset="0"/>
                  <a:cs typeface="Consolas" panose="020B0609020204030204" pitchFamily="49" charset="0"/>
                </a:rPr>
                <a:t>1</a:t>
              </a:r>
            </a:p>
          </p:txBody>
        </p:sp>
        <p:cxnSp>
          <p:nvCxnSpPr>
            <p:cNvPr id="14" name="Straight Arrow Connector 13">
              <a:extLst>
                <a:ext uri="{FF2B5EF4-FFF2-40B4-BE49-F238E27FC236}">
                  <a16:creationId xmlns:a16="http://schemas.microsoft.com/office/drawing/2014/main" id="{C4C92067-9675-0B41-B3B1-5CD05A048A1A}"/>
                </a:ext>
              </a:extLst>
            </p:cNvPr>
            <p:cNvCxnSpPr>
              <a:cxnSpLocks/>
            </p:cNvCxnSpPr>
            <p:nvPr/>
          </p:nvCxnSpPr>
          <p:spPr>
            <a:xfrm>
              <a:off x="7165653" y="2861512"/>
              <a:ext cx="0" cy="545812"/>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6D61E77-CA89-D24F-BFE1-77A45E9B7714}"/>
                </a:ext>
              </a:extLst>
            </p:cNvPr>
            <p:cNvCxnSpPr>
              <a:cxnSpLocks/>
            </p:cNvCxnSpPr>
            <p:nvPr/>
          </p:nvCxnSpPr>
          <p:spPr>
            <a:xfrm>
              <a:off x="8159433" y="2837898"/>
              <a:ext cx="0" cy="13485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26">
              <a:extLst>
                <a:ext uri="{FF2B5EF4-FFF2-40B4-BE49-F238E27FC236}">
                  <a16:creationId xmlns:a16="http://schemas.microsoft.com/office/drawing/2014/main" id="{DD4439C3-D315-9A43-88ED-FEF7239741ED}"/>
                </a:ext>
              </a:extLst>
            </p:cNvPr>
            <p:cNvCxnSpPr>
              <a:cxnSpLocks/>
              <a:stCxn id="12" idx="1"/>
              <a:endCxn id="9" idx="1"/>
            </p:cNvCxnSpPr>
            <p:nvPr/>
          </p:nvCxnSpPr>
          <p:spPr>
            <a:xfrm rot="10800000">
              <a:off x="6370141" y="2569386"/>
              <a:ext cx="5547" cy="1130326"/>
            </a:xfrm>
            <a:prstGeom prst="bentConnector3">
              <a:avLst>
                <a:gd name="adj1" fmla="val 422114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9380993-D09E-D740-BC1B-978B77FE30C0}"/>
                </a:ext>
              </a:extLst>
            </p:cNvPr>
            <p:cNvSpPr txBox="1"/>
            <p:nvPr/>
          </p:nvSpPr>
          <p:spPr>
            <a:xfrm>
              <a:off x="6370140" y="1145571"/>
              <a:ext cx="1122096" cy="584775"/>
            </a:xfrm>
            <a:prstGeom prst="rect">
              <a:avLst/>
            </a:prstGeom>
            <a:solidFill>
              <a:schemeClr val="accent1">
                <a:lumMod val="40000"/>
                <a:lumOff val="60000"/>
              </a:schemeClr>
            </a:solidFill>
          </p:spPr>
          <p:txBody>
            <a:bodyPr wrap="squar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10</a:t>
              </a:r>
            </a:p>
            <a:p>
              <a:r>
                <a:rPr lang="en-US" sz="1600" b="1" dirty="0">
                  <a:latin typeface="Consolas" panose="020B0609020204030204" pitchFamily="49" charset="0"/>
                  <a:cs typeface="Consolas" panose="020B0609020204030204" pitchFamily="49" charset="0"/>
                </a:rPr>
                <a:t>i = </a:t>
              </a:r>
              <a:r>
                <a:rPr lang="en-US" sz="1600" b="1" dirty="0">
                  <a:solidFill>
                    <a:schemeClr val="accent3">
                      <a:lumMod val="75000"/>
                    </a:schemeClr>
                  </a:solidFill>
                  <a:latin typeface="Consolas" panose="020B0609020204030204" pitchFamily="49" charset="0"/>
                  <a:cs typeface="Consolas" panose="020B0609020204030204" pitchFamily="49" charset="0"/>
                </a:rPr>
                <a:t>0</a:t>
              </a:r>
            </a:p>
          </p:txBody>
        </p:sp>
        <p:cxnSp>
          <p:nvCxnSpPr>
            <p:cNvPr id="20" name="Straight Arrow Connector 19">
              <a:extLst>
                <a:ext uri="{FF2B5EF4-FFF2-40B4-BE49-F238E27FC236}">
                  <a16:creationId xmlns:a16="http://schemas.microsoft.com/office/drawing/2014/main" id="{5BF402C3-761B-4440-A8AA-FA7DB94AF12D}"/>
                </a:ext>
              </a:extLst>
            </p:cNvPr>
            <p:cNvCxnSpPr>
              <a:cxnSpLocks/>
            </p:cNvCxnSpPr>
            <p:nvPr/>
          </p:nvCxnSpPr>
          <p:spPr>
            <a:xfrm>
              <a:off x="6868522" y="1730346"/>
              <a:ext cx="0" cy="5466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5" name="TextBox 24">
            <a:extLst>
              <a:ext uri="{FF2B5EF4-FFF2-40B4-BE49-F238E27FC236}">
                <a16:creationId xmlns:a16="http://schemas.microsoft.com/office/drawing/2014/main" id="{6943BC34-6D46-1248-A6B9-59260F1D5884}"/>
              </a:ext>
            </a:extLst>
          </p:cNvPr>
          <p:cNvSpPr txBox="1"/>
          <p:nvPr/>
        </p:nvSpPr>
        <p:spPr>
          <a:xfrm>
            <a:off x="6104269" y="1815512"/>
            <a:ext cx="1324402" cy="369332"/>
          </a:xfrm>
          <a:prstGeom prst="rect">
            <a:avLst/>
          </a:prstGeom>
          <a:noFill/>
        </p:spPr>
        <p:txBody>
          <a:bodyPr wrap="none" rtlCol="0">
            <a:spAutoFit/>
          </a:bodyPr>
          <a:lstStyle/>
          <a:p>
            <a:pPr algn="r"/>
            <a:r>
              <a:rPr lang="en-US" sz="1800" i="1" dirty="0">
                <a:latin typeface="Consolas" panose="020B0609020204030204" pitchFamily="49" charset="0"/>
                <a:cs typeface="Consolas" panose="020B0609020204030204" pitchFamily="49" charset="0"/>
              </a:rPr>
              <a:t>CONST(10)</a:t>
            </a:r>
          </a:p>
        </p:txBody>
      </p:sp>
      <p:sp>
        <p:nvSpPr>
          <p:cNvPr id="27" name="TextBox 26">
            <a:extLst>
              <a:ext uri="{FF2B5EF4-FFF2-40B4-BE49-F238E27FC236}">
                <a16:creationId xmlns:a16="http://schemas.microsoft.com/office/drawing/2014/main" id="{3AEF74D2-B58A-C04D-B5F3-F0652DBC6EEC}"/>
              </a:ext>
            </a:extLst>
          </p:cNvPr>
          <p:cNvSpPr txBox="1"/>
          <p:nvPr/>
        </p:nvSpPr>
        <p:spPr>
          <a:xfrm>
            <a:off x="979511" y="2027714"/>
            <a:ext cx="4325684" cy="1107996"/>
          </a:xfrm>
          <a:prstGeom prst="rect">
            <a:avLst/>
          </a:prstGeom>
          <a:noFill/>
        </p:spPr>
        <p:txBody>
          <a:bodyPr wrap="square" rtlCol="0">
            <a:spAutoFit/>
          </a:bodyPr>
          <a:lstStyle/>
          <a:p>
            <a:pPr algn="ctr"/>
            <a:r>
              <a:rPr lang="en-US" sz="2200" dirty="0"/>
              <a:t>wait, there's nothing on this edge. </a:t>
            </a:r>
            <a:r>
              <a:rPr lang="en-US" sz="2200" b="1" dirty="0"/>
              <a:t>then how do we compute the in-state for the </a:t>
            </a:r>
            <a:r>
              <a:rPr lang="en-US" sz="2200" b="1" dirty="0">
                <a:solidFill>
                  <a:schemeClr val="accent6">
                    <a:lumMod val="75000"/>
                  </a:schemeClr>
                </a:solidFill>
              </a:rPr>
              <a:t>orange</a:t>
            </a:r>
            <a:r>
              <a:rPr lang="en-US" sz="2200" b="1" dirty="0"/>
              <a:t> BB?</a:t>
            </a:r>
            <a:endParaRPr lang="en-US" sz="2200" dirty="0">
              <a:latin typeface="Consolas" panose="020B0609020204030204" pitchFamily="49" charset="0"/>
              <a:cs typeface="Consolas" panose="020B0609020204030204" pitchFamily="49" charset="0"/>
            </a:endParaRPr>
          </a:p>
        </p:txBody>
      </p:sp>
      <p:pic>
        <p:nvPicPr>
          <p:cNvPr id="28" name="Picture 27">
            <a:extLst>
              <a:ext uri="{FF2B5EF4-FFF2-40B4-BE49-F238E27FC236}">
                <a16:creationId xmlns:a16="http://schemas.microsoft.com/office/drawing/2014/main" id="{55E2D13E-043C-9F4F-90F1-9AD98CE493CE}"/>
              </a:ext>
            </a:extLst>
          </p:cNvPr>
          <p:cNvPicPr>
            <a:picLocks noChangeAspect="1"/>
          </p:cNvPicPr>
          <p:nvPr/>
        </p:nvPicPr>
        <p:blipFill rotWithShape="1">
          <a:blip r:embed="rId3">
            <a:extLst>
              <a:ext uri="{28A0092B-C50C-407E-A947-70E740481C1C}">
                <a14:useLocalDpi xmlns:a14="http://schemas.microsoft.com/office/drawing/2010/main" val="0"/>
              </a:ext>
            </a:extLst>
          </a:blip>
          <a:srcRect b="37624"/>
          <a:stretch/>
        </p:blipFill>
        <p:spPr>
          <a:xfrm>
            <a:off x="5624167" y="3054844"/>
            <a:ext cx="667559" cy="416396"/>
          </a:xfrm>
          <a:prstGeom prst="rect">
            <a:avLst/>
          </a:prstGeom>
        </p:spPr>
      </p:pic>
      <p:sp>
        <p:nvSpPr>
          <p:cNvPr id="29" name="TextBox 28">
            <a:extLst>
              <a:ext uri="{FF2B5EF4-FFF2-40B4-BE49-F238E27FC236}">
                <a16:creationId xmlns:a16="http://schemas.microsoft.com/office/drawing/2014/main" id="{DC3AE84C-6148-854A-929B-39056B6C0BDC}"/>
              </a:ext>
            </a:extLst>
          </p:cNvPr>
          <p:cNvSpPr txBox="1"/>
          <p:nvPr/>
        </p:nvSpPr>
        <p:spPr>
          <a:xfrm>
            <a:off x="1113157" y="3308404"/>
            <a:ext cx="3804150" cy="1107996"/>
          </a:xfrm>
          <a:prstGeom prst="rect">
            <a:avLst/>
          </a:prstGeom>
          <a:noFill/>
        </p:spPr>
        <p:txBody>
          <a:bodyPr wrap="square" rtlCol="0">
            <a:spAutoFit/>
          </a:bodyPr>
          <a:lstStyle/>
          <a:p>
            <a:pPr algn="ctr"/>
            <a:r>
              <a:rPr lang="en-US" sz="2200" dirty="0"/>
              <a:t>and if we try to follow it backwards, we end up back at the same orange BB!</a:t>
            </a:r>
            <a:endParaRPr lang="en-US" sz="2200" dirty="0">
              <a:latin typeface="Consolas" panose="020B0609020204030204" pitchFamily="49" charset="0"/>
              <a:cs typeface="Consolas" panose="020B0609020204030204" pitchFamily="49" charset="0"/>
            </a:endParaRPr>
          </a:p>
        </p:txBody>
      </p:sp>
      <p:sp>
        <p:nvSpPr>
          <p:cNvPr id="31" name="TextBox 30">
            <a:extLst>
              <a:ext uri="{FF2B5EF4-FFF2-40B4-BE49-F238E27FC236}">
                <a16:creationId xmlns:a16="http://schemas.microsoft.com/office/drawing/2014/main" id="{D5CFC863-658D-6F4D-A2AD-6AE1B76BD608}"/>
              </a:ext>
            </a:extLst>
          </p:cNvPr>
          <p:cNvSpPr txBox="1"/>
          <p:nvPr/>
        </p:nvSpPr>
        <p:spPr>
          <a:xfrm>
            <a:off x="2048487" y="4612163"/>
            <a:ext cx="4636056" cy="769441"/>
          </a:xfrm>
          <a:prstGeom prst="rect">
            <a:avLst/>
          </a:prstGeom>
          <a:noFill/>
        </p:spPr>
        <p:txBody>
          <a:bodyPr wrap="square" rtlCol="0">
            <a:spAutoFit/>
          </a:bodyPr>
          <a:lstStyle/>
          <a:p>
            <a:pPr algn="ctr"/>
            <a:r>
              <a:rPr lang="en-US" sz="2200" dirty="0"/>
              <a:t>IT KEEPS HAPPENING! I TOLD YOU ABOUT CYCLIC GRAPHS BRO!!</a:t>
            </a:r>
            <a:endParaRPr lang="en-US" sz="22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4204345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7" grpId="0"/>
      <p:bldP spid="29" grpId="0"/>
      <p:bldP spid="3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3124E-5816-B141-83F1-62A80E89D7F0}"/>
              </a:ext>
            </a:extLst>
          </p:cNvPr>
          <p:cNvSpPr>
            <a:spLocks noGrp="1"/>
          </p:cNvSpPr>
          <p:nvPr>
            <p:ph type="ctrTitle"/>
          </p:nvPr>
        </p:nvSpPr>
        <p:spPr/>
        <p:txBody>
          <a:bodyPr/>
          <a:lstStyle/>
          <a:p>
            <a:r>
              <a:rPr lang="en-US" dirty="0"/>
              <a:t>Fixing it</a:t>
            </a:r>
          </a:p>
        </p:txBody>
      </p:sp>
      <p:sp>
        <p:nvSpPr>
          <p:cNvPr id="3" name="Slide Number Placeholder 2">
            <a:extLst>
              <a:ext uri="{FF2B5EF4-FFF2-40B4-BE49-F238E27FC236}">
                <a16:creationId xmlns:a16="http://schemas.microsoft.com/office/drawing/2014/main" id="{6BBDB023-8427-8343-B4C8-DB8753229663}"/>
              </a:ext>
            </a:extLst>
          </p:cNvPr>
          <p:cNvSpPr>
            <a:spLocks noGrp="1"/>
          </p:cNvSpPr>
          <p:nvPr>
            <p:ph type="sldNum" sz="quarter" idx="12"/>
          </p:nvPr>
        </p:nvSpPr>
        <p:spPr/>
        <p:txBody>
          <a:bodyPr/>
          <a:lstStyle/>
          <a:p>
            <a:fld id="{3552B95B-556F-44BD-91A5-D80C1B9E2BB3}" type="slidenum">
              <a:rPr lang="en-US" smtClean="0"/>
              <a:pPr/>
              <a:t>27</a:t>
            </a:fld>
            <a:endParaRPr lang="en-US"/>
          </a:p>
        </p:txBody>
      </p:sp>
    </p:spTree>
    <p:extLst>
      <p:ext uri="{BB962C8B-B14F-4D97-AF65-F5344CB8AC3E}">
        <p14:creationId xmlns:p14="http://schemas.microsoft.com/office/powerpoint/2010/main" val="121889993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55C28-4632-B34F-90E5-5EBC5A6C3323}"/>
              </a:ext>
            </a:extLst>
          </p:cNvPr>
          <p:cNvSpPr>
            <a:spLocks noGrp="1"/>
          </p:cNvSpPr>
          <p:nvPr>
            <p:ph type="title"/>
          </p:nvPr>
        </p:nvSpPr>
        <p:spPr/>
        <p:txBody>
          <a:bodyPr/>
          <a:lstStyle/>
          <a:p>
            <a:r>
              <a:rPr lang="en-US" dirty="0"/>
              <a:t>Oh yeah, we forgot a state</a:t>
            </a:r>
          </a:p>
        </p:txBody>
      </p:sp>
      <p:sp>
        <p:nvSpPr>
          <p:cNvPr id="3" name="Content Placeholder 2">
            <a:extLst>
              <a:ext uri="{FF2B5EF4-FFF2-40B4-BE49-F238E27FC236}">
                <a16:creationId xmlns:a16="http://schemas.microsoft.com/office/drawing/2014/main" id="{680C6A0C-796F-B04A-8E93-EA610EA1366E}"/>
              </a:ext>
            </a:extLst>
          </p:cNvPr>
          <p:cNvSpPr>
            <a:spLocks noGrp="1"/>
          </p:cNvSpPr>
          <p:nvPr>
            <p:ph idx="1"/>
          </p:nvPr>
        </p:nvSpPr>
        <p:spPr/>
        <p:txBody>
          <a:bodyPr>
            <a:normAutofit/>
          </a:bodyPr>
          <a:lstStyle/>
          <a:p>
            <a:r>
              <a:rPr lang="en-US" dirty="0"/>
              <a:t>we need </a:t>
            </a:r>
            <a:r>
              <a:rPr lang="en-US" b="1" dirty="0"/>
              <a:t>one more state </a:t>
            </a:r>
            <a:r>
              <a:rPr lang="en-US" dirty="0"/>
              <a:t>to indicate that we haven't visited that instruction/BB, </a:t>
            </a:r>
            <a:r>
              <a:rPr lang="en-US" b="1" dirty="0">
                <a:latin typeface="Consolas" panose="020B0609020204030204" pitchFamily="49" charset="0"/>
                <a:cs typeface="Consolas" panose="020B0609020204030204" pitchFamily="49" charset="0"/>
              </a:rPr>
              <a:t>UNK</a:t>
            </a:r>
            <a:r>
              <a:rPr lang="en-US" dirty="0"/>
              <a:t> for "unknown." </a:t>
            </a:r>
          </a:p>
          <a:p>
            <a:r>
              <a:rPr lang="en-US" dirty="0"/>
              <a:t>it will be the initial value: </a:t>
            </a:r>
            <a:r>
              <a:rPr lang="en-US" b="1" dirty="0"/>
              <a:t>every</a:t>
            </a:r>
            <a:r>
              <a:rPr lang="en-US" dirty="0"/>
              <a:t> instruction/BB's in-state and out-state will be set to </a:t>
            </a:r>
            <a:r>
              <a:rPr lang="en-US" b="1" dirty="0">
                <a:latin typeface="Consolas" panose="020B0609020204030204" pitchFamily="49" charset="0"/>
                <a:cs typeface="Consolas" panose="020B0609020204030204" pitchFamily="49" charset="0"/>
              </a:rPr>
              <a:t>UNK</a:t>
            </a:r>
            <a:r>
              <a:rPr lang="en-US" dirty="0"/>
              <a:t> before the algorithm begins.</a:t>
            </a:r>
          </a:p>
          <a:p>
            <a:r>
              <a:rPr lang="en-US" dirty="0"/>
              <a:t>our transfer function isn't going to have to change, fortunately.</a:t>
            </a:r>
          </a:p>
          <a:p>
            <a:pPr lvl="1"/>
            <a:r>
              <a:rPr lang="en-US" dirty="0"/>
              <a:t>it implicitly handles </a:t>
            </a:r>
            <a:r>
              <a:rPr lang="en-US" b="1" dirty="0">
                <a:latin typeface="Consolas" panose="020B0609020204030204" pitchFamily="49" charset="0"/>
                <a:cs typeface="Consolas" panose="020B0609020204030204" pitchFamily="49" charset="0"/>
              </a:rPr>
              <a:t>UNK</a:t>
            </a:r>
            <a:r>
              <a:rPr lang="en-US" dirty="0"/>
              <a:t> in the "else" case: unknown in, unknown out!</a:t>
            </a:r>
          </a:p>
          <a:p>
            <a:r>
              <a:rPr lang="en-US" dirty="0"/>
              <a:t>but there's the other function…</a:t>
            </a:r>
          </a:p>
        </p:txBody>
      </p:sp>
      <p:sp>
        <p:nvSpPr>
          <p:cNvPr id="4" name="Slide Number Placeholder 3">
            <a:extLst>
              <a:ext uri="{FF2B5EF4-FFF2-40B4-BE49-F238E27FC236}">
                <a16:creationId xmlns:a16="http://schemas.microsoft.com/office/drawing/2014/main" id="{31853589-3409-E543-B99E-D5232EAF1848}"/>
              </a:ext>
            </a:extLst>
          </p:cNvPr>
          <p:cNvSpPr>
            <a:spLocks noGrp="1"/>
          </p:cNvSpPr>
          <p:nvPr>
            <p:ph type="sldNum" sz="quarter" idx="12"/>
          </p:nvPr>
        </p:nvSpPr>
        <p:spPr/>
        <p:txBody>
          <a:bodyPr/>
          <a:lstStyle/>
          <a:p>
            <a:fld id="{3552B95B-556F-44BD-91A5-D80C1B9E2BB3}" type="slidenum">
              <a:rPr lang="en-US" smtClean="0"/>
              <a:pPr/>
              <a:t>28</a:t>
            </a:fld>
            <a:endParaRPr lang="en-US"/>
          </a:p>
        </p:txBody>
      </p:sp>
    </p:spTree>
    <p:extLst>
      <p:ext uri="{BB962C8B-B14F-4D97-AF65-F5344CB8AC3E}">
        <p14:creationId xmlns:p14="http://schemas.microsoft.com/office/powerpoint/2010/main" val="198696401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0AB70-6909-2E46-953E-07D688393521}"/>
              </a:ext>
            </a:extLst>
          </p:cNvPr>
          <p:cNvSpPr>
            <a:spLocks noGrp="1"/>
          </p:cNvSpPr>
          <p:nvPr>
            <p:ph type="title"/>
          </p:nvPr>
        </p:nvSpPr>
        <p:spPr/>
        <p:txBody>
          <a:bodyPr/>
          <a:lstStyle/>
          <a:p>
            <a:r>
              <a:rPr lang="en-US" dirty="0"/>
              <a:t>The new, improved join function</a:t>
            </a:r>
          </a:p>
        </p:txBody>
      </p:sp>
      <p:sp>
        <p:nvSpPr>
          <p:cNvPr id="3" name="Content Placeholder 2">
            <a:extLst>
              <a:ext uri="{FF2B5EF4-FFF2-40B4-BE49-F238E27FC236}">
                <a16:creationId xmlns:a16="http://schemas.microsoft.com/office/drawing/2014/main" id="{6B2F11E2-183A-DE42-93EA-D2D529A95F8E}"/>
              </a:ext>
            </a:extLst>
          </p:cNvPr>
          <p:cNvSpPr>
            <a:spLocks noGrp="1"/>
          </p:cNvSpPr>
          <p:nvPr>
            <p:ph idx="1"/>
          </p:nvPr>
        </p:nvSpPr>
        <p:spPr>
          <a:xfrm>
            <a:off x="152400" y="495301"/>
            <a:ext cx="8991600" cy="609599"/>
          </a:xfrm>
        </p:spPr>
        <p:txBody>
          <a:bodyPr/>
          <a:lstStyle/>
          <a:p>
            <a:r>
              <a:rPr lang="en-US" dirty="0"/>
              <a:t>here's where things get a bit weird, but it will all work out.</a:t>
            </a:r>
          </a:p>
        </p:txBody>
      </p:sp>
      <p:sp>
        <p:nvSpPr>
          <p:cNvPr id="4" name="Slide Number Placeholder 3">
            <a:extLst>
              <a:ext uri="{FF2B5EF4-FFF2-40B4-BE49-F238E27FC236}">
                <a16:creationId xmlns:a16="http://schemas.microsoft.com/office/drawing/2014/main" id="{94BDEEB7-C340-BA49-9AF6-7FB56225C1E0}"/>
              </a:ext>
            </a:extLst>
          </p:cNvPr>
          <p:cNvSpPr>
            <a:spLocks noGrp="1"/>
          </p:cNvSpPr>
          <p:nvPr>
            <p:ph type="sldNum" sz="quarter" idx="12"/>
          </p:nvPr>
        </p:nvSpPr>
        <p:spPr/>
        <p:txBody>
          <a:bodyPr/>
          <a:lstStyle/>
          <a:p>
            <a:fld id="{3552B95B-556F-44BD-91A5-D80C1B9E2BB3}" type="slidenum">
              <a:rPr lang="en-US" smtClean="0"/>
              <a:pPr/>
              <a:t>29</a:t>
            </a:fld>
            <a:endParaRPr lang="en-US"/>
          </a:p>
        </p:txBody>
      </p:sp>
      <p:sp>
        <p:nvSpPr>
          <p:cNvPr id="5" name="TextBox 4">
            <a:extLst>
              <a:ext uri="{FF2B5EF4-FFF2-40B4-BE49-F238E27FC236}">
                <a16:creationId xmlns:a16="http://schemas.microsoft.com/office/drawing/2014/main" id="{C442BAD0-E17C-F346-88D3-072CEC57A8C3}"/>
              </a:ext>
            </a:extLst>
          </p:cNvPr>
          <p:cNvSpPr txBox="1"/>
          <p:nvPr/>
        </p:nvSpPr>
        <p:spPr>
          <a:xfrm>
            <a:off x="4343400" y="1138084"/>
            <a:ext cx="2337499" cy="1200329"/>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p1: x = CONST(10)</a:t>
            </a:r>
          </a:p>
          <a:p>
            <a:r>
              <a:rPr lang="en-US" sz="1800" i="1" dirty="0">
                <a:latin typeface="Consolas" panose="020B0609020204030204" pitchFamily="49" charset="0"/>
                <a:cs typeface="Consolas" panose="020B0609020204030204" pitchFamily="49" charset="0"/>
              </a:rPr>
              <a:t>p2: x = CONST(4)</a:t>
            </a:r>
          </a:p>
          <a:p>
            <a:r>
              <a:rPr lang="en-US" sz="1800" i="1" dirty="0">
                <a:latin typeface="Consolas" panose="020B0609020204030204" pitchFamily="49" charset="0"/>
                <a:cs typeface="Consolas" panose="020B0609020204030204" pitchFamily="49" charset="0"/>
              </a:rPr>
              <a:t>p3: </a:t>
            </a:r>
            <a:r>
              <a:rPr lang="en-US" sz="1800" b="1" i="1" dirty="0">
                <a:solidFill>
                  <a:srgbClr val="FF0000"/>
                </a:solidFill>
                <a:latin typeface="Consolas" panose="020B0609020204030204" pitchFamily="49" charset="0"/>
                <a:cs typeface="Consolas" panose="020B0609020204030204" pitchFamily="49" charset="0"/>
              </a:rPr>
              <a:t>x = ANY</a:t>
            </a:r>
          </a:p>
          <a:p>
            <a:r>
              <a:rPr lang="en-US" sz="1800" i="1" dirty="0">
                <a:latin typeface="Consolas" panose="020B0609020204030204" pitchFamily="49" charset="0"/>
                <a:cs typeface="Consolas" panose="020B0609020204030204" pitchFamily="49" charset="0"/>
              </a:rPr>
              <a:t>p4: x = UNK</a:t>
            </a:r>
          </a:p>
        </p:txBody>
      </p:sp>
      <p:sp>
        <p:nvSpPr>
          <p:cNvPr id="6" name="TextBox 5">
            <a:extLst>
              <a:ext uri="{FF2B5EF4-FFF2-40B4-BE49-F238E27FC236}">
                <a16:creationId xmlns:a16="http://schemas.microsoft.com/office/drawing/2014/main" id="{4390F897-8E5A-EA47-9FDD-431E2EF4713E}"/>
              </a:ext>
            </a:extLst>
          </p:cNvPr>
          <p:cNvSpPr txBox="1"/>
          <p:nvPr/>
        </p:nvSpPr>
        <p:spPr>
          <a:xfrm>
            <a:off x="61746" y="1447466"/>
            <a:ext cx="4281654" cy="769441"/>
          </a:xfrm>
          <a:prstGeom prst="rect">
            <a:avLst/>
          </a:prstGeom>
          <a:noFill/>
        </p:spPr>
        <p:txBody>
          <a:bodyPr wrap="square" rtlCol="0">
            <a:spAutoFit/>
          </a:bodyPr>
          <a:lstStyle/>
          <a:p>
            <a:pPr algn="ctr"/>
            <a:r>
              <a:rPr lang="en-US" sz="2200" dirty="0"/>
              <a:t>if </a:t>
            </a:r>
            <a:r>
              <a:rPr lang="en-US" sz="2200" b="1" dirty="0"/>
              <a:t>any</a:t>
            </a:r>
            <a:r>
              <a:rPr lang="en-US" sz="2200" dirty="0"/>
              <a:t> predecessor says </a:t>
            </a:r>
            <a:r>
              <a:rPr lang="en-US" sz="2200" b="1" dirty="0">
                <a:latin typeface="Consolas" panose="020B0609020204030204" pitchFamily="49" charset="0"/>
                <a:cs typeface="Consolas" panose="020B0609020204030204" pitchFamily="49" charset="0"/>
              </a:rPr>
              <a:t>x = ANY</a:t>
            </a:r>
            <a:r>
              <a:rPr lang="en-US" sz="2200" dirty="0"/>
              <a:t>, then the output is </a:t>
            </a:r>
            <a:r>
              <a:rPr lang="en-US" sz="2200" b="1" dirty="0">
                <a:latin typeface="Consolas" panose="020B0609020204030204" pitchFamily="49" charset="0"/>
                <a:cs typeface="Consolas" panose="020B0609020204030204" pitchFamily="49" charset="0"/>
              </a:rPr>
              <a:t>x = ANY</a:t>
            </a:r>
            <a:r>
              <a:rPr lang="en-US" sz="2200" dirty="0"/>
              <a:t>.</a:t>
            </a:r>
            <a:endParaRPr lang="en-US" sz="2200" dirty="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8704FACD-6C24-5E4A-8F81-79DCBE7B3B6D}"/>
              </a:ext>
            </a:extLst>
          </p:cNvPr>
          <p:cNvSpPr txBox="1"/>
          <p:nvPr/>
        </p:nvSpPr>
        <p:spPr>
          <a:xfrm>
            <a:off x="4343400" y="2628900"/>
            <a:ext cx="1577676" cy="1200329"/>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p1: x = UNK</a:t>
            </a:r>
          </a:p>
          <a:p>
            <a:r>
              <a:rPr lang="en-US" sz="1800" i="1" dirty="0">
                <a:latin typeface="Consolas" panose="020B0609020204030204" pitchFamily="49" charset="0"/>
                <a:cs typeface="Consolas" panose="020B0609020204030204" pitchFamily="49" charset="0"/>
              </a:rPr>
              <a:t>p2: x = UNK</a:t>
            </a:r>
          </a:p>
          <a:p>
            <a:r>
              <a:rPr lang="en-US" sz="1800" i="1" dirty="0">
                <a:latin typeface="Consolas" panose="020B0609020204030204" pitchFamily="49" charset="0"/>
                <a:cs typeface="Consolas" panose="020B0609020204030204" pitchFamily="49" charset="0"/>
              </a:rPr>
              <a:t>p3: x = UNK</a:t>
            </a:r>
          </a:p>
          <a:p>
            <a:r>
              <a:rPr lang="en-US" sz="1800" i="1" dirty="0">
                <a:latin typeface="Consolas" panose="020B0609020204030204" pitchFamily="49" charset="0"/>
                <a:cs typeface="Consolas" panose="020B0609020204030204" pitchFamily="49" charset="0"/>
              </a:rPr>
              <a:t>p4: x = UNK</a:t>
            </a:r>
          </a:p>
        </p:txBody>
      </p:sp>
      <p:sp>
        <p:nvSpPr>
          <p:cNvPr id="8" name="TextBox 7">
            <a:extLst>
              <a:ext uri="{FF2B5EF4-FFF2-40B4-BE49-F238E27FC236}">
                <a16:creationId xmlns:a16="http://schemas.microsoft.com/office/drawing/2014/main" id="{B3B74A92-C83D-474D-B98F-1ABA5DD81E4C}"/>
              </a:ext>
            </a:extLst>
          </p:cNvPr>
          <p:cNvSpPr txBox="1"/>
          <p:nvPr/>
        </p:nvSpPr>
        <p:spPr>
          <a:xfrm>
            <a:off x="113145" y="2841487"/>
            <a:ext cx="4178856" cy="769441"/>
          </a:xfrm>
          <a:prstGeom prst="rect">
            <a:avLst/>
          </a:prstGeom>
          <a:noFill/>
        </p:spPr>
        <p:txBody>
          <a:bodyPr wrap="square" rtlCol="0">
            <a:spAutoFit/>
          </a:bodyPr>
          <a:lstStyle/>
          <a:p>
            <a:pPr algn="ctr"/>
            <a:r>
              <a:rPr lang="en-US" sz="2200" dirty="0"/>
              <a:t>if </a:t>
            </a:r>
            <a:r>
              <a:rPr lang="en-US" sz="2200" b="1" dirty="0"/>
              <a:t>all</a:t>
            </a:r>
            <a:r>
              <a:rPr lang="en-US" sz="2200" dirty="0"/>
              <a:t> predecessors say </a:t>
            </a:r>
            <a:r>
              <a:rPr lang="en-US" sz="2200" b="1" dirty="0">
                <a:latin typeface="Consolas" panose="020B0609020204030204" pitchFamily="49" charset="0"/>
                <a:cs typeface="Consolas" panose="020B0609020204030204" pitchFamily="49" charset="0"/>
              </a:rPr>
              <a:t>x = UNK</a:t>
            </a:r>
            <a:r>
              <a:rPr lang="en-US" sz="2200" dirty="0"/>
              <a:t>, then the output is </a:t>
            </a:r>
            <a:r>
              <a:rPr lang="en-US" sz="2200" b="1" dirty="0">
                <a:latin typeface="Consolas" panose="020B0609020204030204" pitchFamily="49" charset="0"/>
                <a:cs typeface="Consolas" panose="020B0609020204030204" pitchFamily="49" charset="0"/>
              </a:rPr>
              <a:t>x = UNK</a:t>
            </a:r>
            <a:r>
              <a:rPr lang="en-US" sz="2200" dirty="0"/>
              <a:t>.</a:t>
            </a:r>
            <a:endParaRPr lang="en-US" sz="2200" dirty="0">
              <a:latin typeface="Consolas" panose="020B0609020204030204" pitchFamily="49" charset="0"/>
              <a:cs typeface="Consolas" panose="020B0609020204030204" pitchFamily="49" charset="0"/>
            </a:endParaRPr>
          </a:p>
        </p:txBody>
      </p:sp>
      <p:sp>
        <p:nvSpPr>
          <p:cNvPr id="9" name="Down Arrow 8">
            <a:extLst>
              <a:ext uri="{FF2B5EF4-FFF2-40B4-BE49-F238E27FC236}">
                <a16:creationId xmlns:a16="http://schemas.microsoft.com/office/drawing/2014/main" id="{26F8D3BD-E5C6-0747-95DD-AF9DFCB997ED}"/>
              </a:ext>
            </a:extLst>
          </p:cNvPr>
          <p:cNvSpPr/>
          <p:nvPr/>
        </p:nvSpPr>
        <p:spPr>
          <a:xfrm rot="16200000">
            <a:off x="6678617" y="1449748"/>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3E79C68-29DB-3E42-AD4A-A71A6C0F4BC0}"/>
              </a:ext>
            </a:extLst>
          </p:cNvPr>
          <p:cNvSpPr txBox="1"/>
          <p:nvPr/>
        </p:nvSpPr>
        <p:spPr>
          <a:xfrm>
            <a:off x="7364449" y="1529500"/>
            <a:ext cx="1071127"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x = ANY</a:t>
            </a:r>
          </a:p>
        </p:txBody>
      </p:sp>
      <p:sp>
        <p:nvSpPr>
          <p:cNvPr id="11" name="Down Arrow 10">
            <a:extLst>
              <a:ext uri="{FF2B5EF4-FFF2-40B4-BE49-F238E27FC236}">
                <a16:creationId xmlns:a16="http://schemas.microsoft.com/office/drawing/2014/main" id="{48CAA206-7269-564E-953C-0EC81424C3EF}"/>
              </a:ext>
            </a:extLst>
          </p:cNvPr>
          <p:cNvSpPr/>
          <p:nvPr/>
        </p:nvSpPr>
        <p:spPr>
          <a:xfrm rot="16200000">
            <a:off x="6678617" y="2878677"/>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F2C1B66-46F3-E748-ADFC-DB3CDA68771F}"/>
              </a:ext>
            </a:extLst>
          </p:cNvPr>
          <p:cNvSpPr txBox="1"/>
          <p:nvPr/>
        </p:nvSpPr>
        <p:spPr>
          <a:xfrm>
            <a:off x="7364449" y="2958429"/>
            <a:ext cx="1071127"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x = UNK</a:t>
            </a:r>
          </a:p>
        </p:txBody>
      </p:sp>
      <p:sp>
        <p:nvSpPr>
          <p:cNvPr id="17" name="TextBox 16">
            <a:extLst>
              <a:ext uri="{FF2B5EF4-FFF2-40B4-BE49-F238E27FC236}">
                <a16:creationId xmlns:a16="http://schemas.microsoft.com/office/drawing/2014/main" id="{690DBAB4-3D66-704C-829D-5469B2A8D7D2}"/>
              </a:ext>
            </a:extLst>
          </p:cNvPr>
          <p:cNvSpPr txBox="1"/>
          <p:nvPr/>
        </p:nvSpPr>
        <p:spPr>
          <a:xfrm>
            <a:off x="4343400" y="4095136"/>
            <a:ext cx="2210862" cy="1200329"/>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p1: x = UNK</a:t>
            </a:r>
          </a:p>
          <a:p>
            <a:r>
              <a:rPr lang="en-US" sz="1800" i="1" dirty="0">
                <a:latin typeface="Consolas" panose="020B0609020204030204" pitchFamily="49" charset="0"/>
                <a:cs typeface="Consolas" panose="020B0609020204030204" pitchFamily="49" charset="0"/>
              </a:rPr>
              <a:t>p2: </a:t>
            </a:r>
            <a:r>
              <a:rPr lang="en-US" sz="1800" b="1" i="1" dirty="0">
                <a:solidFill>
                  <a:srgbClr val="00B050"/>
                </a:solidFill>
                <a:latin typeface="Consolas" panose="020B0609020204030204" pitchFamily="49" charset="0"/>
                <a:cs typeface="Consolas" panose="020B0609020204030204" pitchFamily="49" charset="0"/>
              </a:rPr>
              <a:t>x = CONST(3)</a:t>
            </a:r>
          </a:p>
          <a:p>
            <a:r>
              <a:rPr lang="en-US" sz="1800" i="1" dirty="0">
                <a:latin typeface="Consolas" panose="020B0609020204030204" pitchFamily="49" charset="0"/>
                <a:cs typeface="Consolas" panose="020B0609020204030204" pitchFamily="49" charset="0"/>
              </a:rPr>
              <a:t>p3: x = UNK</a:t>
            </a:r>
          </a:p>
          <a:p>
            <a:r>
              <a:rPr lang="en-US" sz="1800" i="1" dirty="0">
                <a:latin typeface="Consolas" panose="020B0609020204030204" pitchFamily="49" charset="0"/>
                <a:cs typeface="Consolas" panose="020B0609020204030204" pitchFamily="49" charset="0"/>
              </a:rPr>
              <a:t>p4: </a:t>
            </a:r>
            <a:r>
              <a:rPr lang="en-US" sz="1800" b="1" i="1" dirty="0">
                <a:solidFill>
                  <a:srgbClr val="00B050"/>
                </a:solidFill>
                <a:latin typeface="Consolas" panose="020B0609020204030204" pitchFamily="49" charset="0"/>
                <a:cs typeface="Consolas" panose="020B0609020204030204" pitchFamily="49" charset="0"/>
              </a:rPr>
              <a:t>x = CONST(3)</a:t>
            </a:r>
          </a:p>
        </p:txBody>
      </p:sp>
      <p:sp>
        <p:nvSpPr>
          <p:cNvPr id="18" name="TextBox 17">
            <a:extLst>
              <a:ext uri="{FF2B5EF4-FFF2-40B4-BE49-F238E27FC236}">
                <a16:creationId xmlns:a16="http://schemas.microsoft.com/office/drawing/2014/main" id="{3A5DB022-C4AF-F742-B438-32DF44B593AB}"/>
              </a:ext>
            </a:extLst>
          </p:cNvPr>
          <p:cNvSpPr txBox="1"/>
          <p:nvPr/>
        </p:nvSpPr>
        <p:spPr>
          <a:xfrm>
            <a:off x="113145" y="3972025"/>
            <a:ext cx="4178856" cy="1446550"/>
          </a:xfrm>
          <a:prstGeom prst="rect">
            <a:avLst/>
          </a:prstGeom>
          <a:noFill/>
        </p:spPr>
        <p:txBody>
          <a:bodyPr wrap="square" rtlCol="0">
            <a:spAutoFit/>
          </a:bodyPr>
          <a:lstStyle/>
          <a:p>
            <a:pPr algn="ctr"/>
            <a:r>
              <a:rPr lang="en-US" sz="2200" dirty="0"/>
              <a:t>if the predecessors are </a:t>
            </a:r>
            <a:r>
              <a:rPr lang="en-US" sz="2200" b="1" dirty="0">
                <a:solidFill>
                  <a:srgbClr val="FF0000"/>
                </a:solidFill>
              </a:rPr>
              <a:t>a mix</a:t>
            </a:r>
            <a:r>
              <a:rPr lang="en-US" sz="2200" dirty="0">
                <a:solidFill>
                  <a:srgbClr val="FF0000"/>
                </a:solidFill>
              </a:rPr>
              <a:t> of </a:t>
            </a:r>
            <a:r>
              <a:rPr lang="en-US" sz="2200" b="1" dirty="0">
                <a:solidFill>
                  <a:srgbClr val="FF0000"/>
                </a:solidFill>
                <a:latin typeface="Consolas" panose="020B0609020204030204" pitchFamily="49" charset="0"/>
                <a:cs typeface="Consolas" panose="020B0609020204030204" pitchFamily="49" charset="0"/>
              </a:rPr>
              <a:t>x = UNK</a:t>
            </a:r>
            <a:r>
              <a:rPr lang="en-US" sz="2200" dirty="0">
                <a:solidFill>
                  <a:srgbClr val="FF0000"/>
                </a:solidFill>
              </a:rPr>
              <a:t> and </a:t>
            </a:r>
            <a:r>
              <a:rPr lang="en-US" sz="2200" b="1" dirty="0">
                <a:solidFill>
                  <a:srgbClr val="FF0000"/>
                </a:solidFill>
                <a:latin typeface="Consolas" panose="020B0609020204030204" pitchFamily="49" charset="0"/>
                <a:cs typeface="Consolas" panose="020B0609020204030204" pitchFamily="49" charset="0"/>
              </a:rPr>
              <a:t>x = CONST</a:t>
            </a:r>
            <a:r>
              <a:rPr lang="en-US" sz="2200" dirty="0">
                <a:solidFill>
                  <a:srgbClr val="FF0000"/>
                </a:solidFill>
              </a:rPr>
              <a:t>,</a:t>
            </a:r>
            <a:r>
              <a:rPr lang="en-US" sz="2200" dirty="0"/>
              <a:t> then </a:t>
            </a:r>
            <a:r>
              <a:rPr lang="en-US" sz="2200" dirty="0">
                <a:solidFill>
                  <a:srgbClr val="FF0000"/>
                </a:solidFill>
              </a:rPr>
              <a:t>ignore the </a:t>
            </a:r>
            <a:r>
              <a:rPr lang="en-US" sz="2200" b="1" dirty="0">
                <a:solidFill>
                  <a:srgbClr val="FF0000"/>
                </a:solidFill>
                <a:latin typeface="Consolas" panose="020B0609020204030204" pitchFamily="49" charset="0"/>
                <a:cs typeface="Consolas" panose="020B0609020204030204" pitchFamily="49" charset="0"/>
              </a:rPr>
              <a:t>UNK</a:t>
            </a:r>
            <a:r>
              <a:rPr lang="en-US" sz="2200" dirty="0">
                <a:solidFill>
                  <a:srgbClr val="FF0000"/>
                </a:solidFill>
              </a:rPr>
              <a:t>s,</a:t>
            </a:r>
            <a:r>
              <a:rPr lang="en-US" sz="2200" dirty="0"/>
              <a:t> and the output is </a:t>
            </a:r>
            <a:r>
              <a:rPr lang="en-US" sz="2200" b="1" dirty="0">
                <a:latin typeface="Consolas" panose="020B0609020204030204" pitchFamily="49" charset="0"/>
                <a:cs typeface="Consolas" panose="020B0609020204030204" pitchFamily="49" charset="0"/>
              </a:rPr>
              <a:t>CONST</a:t>
            </a:r>
            <a:r>
              <a:rPr lang="en-US" sz="2200" dirty="0"/>
              <a:t> or </a:t>
            </a:r>
            <a:r>
              <a:rPr lang="en-US" sz="2200" b="1" dirty="0">
                <a:latin typeface="Consolas" panose="020B0609020204030204" pitchFamily="49" charset="0"/>
                <a:cs typeface="Consolas" panose="020B0609020204030204" pitchFamily="49" charset="0"/>
              </a:rPr>
              <a:t>ANY</a:t>
            </a:r>
            <a:r>
              <a:rPr lang="en-US" sz="2200" dirty="0"/>
              <a:t> like before.</a:t>
            </a:r>
            <a:endParaRPr lang="en-US" sz="2200" dirty="0">
              <a:latin typeface="Consolas" panose="020B0609020204030204" pitchFamily="49" charset="0"/>
              <a:cs typeface="Consolas" panose="020B0609020204030204" pitchFamily="49" charset="0"/>
            </a:endParaRPr>
          </a:p>
        </p:txBody>
      </p:sp>
      <p:sp>
        <p:nvSpPr>
          <p:cNvPr id="19" name="Down Arrow 18">
            <a:extLst>
              <a:ext uri="{FF2B5EF4-FFF2-40B4-BE49-F238E27FC236}">
                <a16:creationId xmlns:a16="http://schemas.microsoft.com/office/drawing/2014/main" id="{456ECF37-A1B3-694A-BF51-2623BD6C2707}"/>
              </a:ext>
            </a:extLst>
          </p:cNvPr>
          <p:cNvSpPr/>
          <p:nvPr/>
        </p:nvSpPr>
        <p:spPr>
          <a:xfrm rot="16200000">
            <a:off x="6678617" y="4344913"/>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7B77B75-DDF9-4345-B2BB-D174B0A2F1F5}"/>
              </a:ext>
            </a:extLst>
          </p:cNvPr>
          <p:cNvSpPr txBox="1"/>
          <p:nvPr/>
        </p:nvSpPr>
        <p:spPr>
          <a:xfrm>
            <a:off x="7364449" y="4424665"/>
            <a:ext cx="1704313"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x = CONST(3)</a:t>
            </a:r>
          </a:p>
        </p:txBody>
      </p:sp>
    </p:spTree>
    <p:extLst>
      <p:ext uri="{BB962C8B-B14F-4D97-AF65-F5344CB8AC3E}">
        <p14:creationId xmlns:p14="http://schemas.microsoft.com/office/powerpoint/2010/main" val="264268127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animBg="1"/>
      <p:bldP spid="10" grpId="0"/>
      <p:bldP spid="11" grpId="0" animBg="1"/>
      <p:bldP spid="12" grpId="0"/>
      <p:bldP spid="17" grpId="0"/>
      <p:bldP spid="18" grpId="0"/>
      <p:bldP spid="19" grpId="0" animBg="1"/>
      <p:bldP spid="2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2AC8F-7B17-FB40-9C16-E3A52B677429}"/>
              </a:ext>
            </a:extLst>
          </p:cNvPr>
          <p:cNvSpPr>
            <a:spLocks noGrp="1"/>
          </p:cNvSpPr>
          <p:nvPr>
            <p:ph type="title"/>
          </p:nvPr>
        </p:nvSpPr>
        <p:spPr/>
        <p:txBody>
          <a:bodyPr/>
          <a:lstStyle/>
          <a:p>
            <a:r>
              <a:rPr lang="en-US" dirty="0"/>
              <a:t>Let's watch it go </a:t>
            </a:r>
            <a:r>
              <a:rPr lang="en-US" sz="2000" dirty="0"/>
              <a:t>(animated, important, you have to watch this)</a:t>
            </a:r>
            <a:endParaRPr lang="en-US" dirty="0"/>
          </a:p>
        </p:txBody>
      </p:sp>
      <p:sp>
        <p:nvSpPr>
          <p:cNvPr id="3" name="Content Placeholder 2">
            <a:extLst>
              <a:ext uri="{FF2B5EF4-FFF2-40B4-BE49-F238E27FC236}">
                <a16:creationId xmlns:a16="http://schemas.microsoft.com/office/drawing/2014/main" id="{BE24BA31-9A21-DF4F-B178-0562F1AE56BC}"/>
              </a:ext>
            </a:extLst>
          </p:cNvPr>
          <p:cNvSpPr>
            <a:spLocks noGrp="1"/>
          </p:cNvSpPr>
          <p:nvPr>
            <p:ph idx="1"/>
          </p:nvPr>
        </p:nvSpPr>
        <p:spPr>
          <a:xfrm>
            <a:off x="152400" y="495301"/>
            <a:ext cx="8991600" cy="838199"/>
          </a:xfrm>
        </p:spPr>
        <p:txBody>
          <a:bodyPr/>
          <a:lstStyle/>
          <a:p>
            <a:r>
              <a:rPr lang="en-US" dirty="0"/>
              <a:t>if these rules seem strange, wait till you see how it behaves.</a:t>
            </a:r>
          </a:p>
          <a:p>
            <a:r>
              <a:rPr lang="en-US" dirty="0"/>
              <a:t>notice that x starts off as </a:t>
            </a:r>
            <a:r>
              <a:rPr lang="en-US" b="1" dirty="0">
                <a:latin typeface="Consolas" panose="020B0609020204030204" pitchFamily="49" charset="0"/>
                <a:cs typeface="Consolas" panose="020B0609020204030204" pitchFamily="49" charset="0"/>
              </a:rPr>
              <a:t>UNK</a:t>
            </a:r>
            <a:r>
              <a:rPr lang="en-US" dirty="0"/>
              <a:t> everywhere.</a:t>
            </a:r>
          </a:p>
        </p:txBody>
      </p:sp>
      <p:sp>
        <p:nvSpPr>
          <p:cNvPr id="4" name="Slide Number Placeholder 3">
            <a:extLst>
              <a:ext uri="{FF2B5EF4-FFF2-40B4-BE49-F238E27FC236}">
                <a16:creationId xmlns:a16="http://schemas.microsoft.com/office/drawing/2014/main" id="{9C538147-6C28-5C44-8DD4-87487965C41E}"/>
              </a:ext>
            </a:extLst>
          </p:cNvPr>
          <p:cNvSpPr>
            <a:spLocks noGrp="1"/>
          </p:cNvSpPr>
          <p:nvPr>
            <p:ph type="sldNum" sz="quarter" idx="12"/>
          </p:nvPr>
        </p:nvSpPr>
        <p:spPr>
          <a:xfrm>
            <a:off x="8458200" y="5296960"/>
            <a:ext cx="685800" cy="304271"/>
          </a:xfrm>
        </p:spPr>
        <p:txBody>
          <a:bodyPr/>
          <a:lstStyle/>
          <a:p>
            <a:fld id="{3552B95B-556F-44BD-91A5-D80C1B9E2BB3}" type="slidenum">
              <a:rPr lang="en-US" smtClean="0"/>
              <a:pPr/>
              <a:t>30</a:t>
            </a:fld>
            <a:endParaRPr lang="en-US"/>
          </a:p>
        </p:txBody>
      </p:sp>
      <p:grpSp>
        <p:nvGrpSpPr>
          <p:cNvPr id="5" name="Group 4">
            <a:extLst>
              <a:ext uri="{FF2B5EF4-FFF2-40B4-BE49-F238E27FC236}">
                <a16:creationId xmlns:a16="http://schemas.microsoft.com/office/drawing/2014/main" id="{20DB97CC-1B6E-724F-8EFD-F43E04607FD4}"/>
              </a:ext>
            </a:extLst>
          </p:cNvPr>
          <p:cNvGrpSpPr/>
          <p:nvPr/>
        </p:nvGrpSpPr>
        <p:grpSpPr>
          <a:xfrm>
            <a:off x="4981359" y="1594008"/>
            <a:ext cx="2843419" cy="3625692"/>
            <a:chOff x="5843381" y="1145571"/>
            <a:chExt cx="2843419" cy="3625692"/>
          </a:xfrm>
        </p:grpSpPr>
        <p:sp>
          <p:nvSpPr>
            <p:cNvPr id="6" name="TextBox 5">
              <a:extLst>
                <a:ext uri="{FF2B5EF4-FFF2-40B4-BE49-F238E27FC236}">
                  <a16:creationId xmlns:a16="http://schemas.microsoft.com/office/drawing/2014/main" id="{0BEBC426-061A-4A40-91B3-94C86D7EE736}"/>
                </a:ext>
              </a:extLst>
            </p:cNvPr>
            <p:cNvSpPr txBox="1"/>
            <p:nvPr/>
          </p:nvSpPr>
          <p:spPr>
            <a:xfrm>
              <a:off x="7492242" y="4186488"/>
              <a:ext cx="970137" cy="584775"/>
            </a:xfrm>
            <a:prstGeom prst="rect">
              <a:avLst/>
            </a:prstGeom>
            <a:solidFill>
              <a:schemeClr val="accent2">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$t0 = x</a:t>
              </a:r>
            </a:p>
            <a:p>
              <a:r>
                <a:rPr lang="en-US" sz="1600" b="1" dirty="0">
                  <a:solidFill>
                    <a:srgbClr val="FF0000"/>
                  </a:solidFill>
                  <a:latin typeface="Consolas" panose="020B0609020204030204" pitchFamily="49" charset="0"/>
                  <a:cs typeface="Consolas" panose="020B0609020204030204" pitchFamily="49" charset="0"/>
                </a:rPr>
                <a:t>return</a:t>
              </a:r>
            </a:p>
          </p:txBody>
        </p:sp>
        <p:sp>
          <p:nvSpPr>
            <p:cNvPr id="7" name="TextBox 6">
              <a:extLst>
                <a:ext uri="{FF2B5EF4-FFF2-40B4-BE49-F238E27FC236}">
                  <a16:creationId xmlns:a16="http://schemas.microsoft.com/office/drawing/2014/main" id="{89310FB9-726F-F94E-BDC8-A1EA360FE875}"/>
                </a:ext>
              </a:extLst>
            </p:cNvPr>
            <p:cNvSpPr txBox="1"/>
            <p:nvPr/>
          </p:nvSpPr>
          <p:spPr>
            <a:xfrm>
              <a:off x="6370140" y="2276998"/>
              <a:ext cx="2316660" cy="584775"/>
            </a:xfrm>
            <a:prstGeom prst="rect">
              <a:avLst/>
            </a:prstGeom>
            <a:solidFill>
              <a:schemeClr val="accent6">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$t1 = i &lt; </a:t>
              </a:r>
              <a:r>
                <a:rPr lang="en-US" sz="1600" b="1" dirty="0">
                  <a:solidFill>
                    <a:schemeClr val="accent3">
                      <a:lumMod val="75000"/>
                    </a:schemeClr>
                  </a:solidFill>
                  <a:latin typeface="Consolas" panose="020B0609020204030204" pitchFamily="49" charset="0"/>
                  <a:cs typeface="Consolas" panose="020B0609020204030204" pitchFamily="49" charset="0"/>
                </a:rPr>
                <a:t>10</a:t>
              </a:r>
            </a:p>
            <a:p>
              <a:r>
                <a:rPr lang="en-US" sz="1600" b="1" dirty="0">
                  <a:solidFill>
                    <a:srgbClr val="FF0000"/>
                  </a:solidFill>
                  <a:latin typeface="Consolas" panose="020B0609020204030204" pitchFamily="49" charset="0"/>
                  <a:cs typeface="Consolas" panose="020B0609020204030204" pitchFamily="49" charset="0"/>
                </a:rPr>
                <a:t>if</a:t>
              </a:r>
              <a:r>
                <a:rPr lang="en-US" sz="1600" b="1" dirty="0">
                  <a:latin typeface="Consolas" panose="020B0609020204030204" pitchFamily="49" charset="0"/>
                  <a:cs typeface="Consolas" panose="020B0609020204030204" pitchFamily="49" charset="0"/>
                </a:rPr>
                <a:t> $t1 bb2 </a:t>
              </a:r>
              <a:r>
                <a:rPr lang="en-US" sz="1600" b="1" dirty="0">
                  <a:solidFill>
                    <a:srgbClr val="FF0000"/>
                  </a:solidFill>
                  <a:latin typeface="Consolas" panose="020B0609020204030204" pitchFamily="49" charset="0"/>
                  <a:cs typeface="Consolas" panose="020B0609020204030204" pitchFamily="49" charset="0"/>
                </a:rPr>
                <a:t>else</a:t>
              </a:r>
              <a:r>
                <a:rPr lang="en-US" sz="1600" b="1" dirty="0">
                  <a:latin typeface="Consolas" panose="020B0609020204030204" pitchFamily="49" charset="0"/>
                  <a:cs typeface="Consolas" panose="020B0609020204030204" pitchFamily="49" charset="0"/>
                </a:rPr>
                <a:t> bb3</a:t>
              </a:r>
            </a:p>
          </p:txBody>
        </p:sp>
        <p:sp>
          <p:nvSpPr>
            <p:cNvPr id="8" name="TextBox 7">
              <a:extLst>
                <a:ext uri="{FF2B5EF4-FFF2-40B4-BE49-F238E27FC236}">
                  <a16:creationId xmlns:a16="http://schemas.microsoft.com/office/drawing/2014/main" id="{3AFB18FB-BDE5-8C4C-9817-97894EAFC0BF}"/>
                </a:ext>
              </a:extLst>
            </p:cNvPr>
            <p:cNvSpPr txBox="1"/>
            <p:nvPr/>
          </p:nvSpPr>
          <p:spPr>
            <a:xfrm>
              <a:off x="6375687" y="3407324"/>
              <a:ext cx="1480801" cy="584775"/>
            </a:xfrm>
            <a:prstGeom prst="rect">
              <a:avLst/>
            </a:prstGeom>
            <a:solidFill>
              <a:schemeClr val="accent1">
                <a:lumMod val="40000"/>
                <a:lumOff val="60000"/>
              </a:schemeClr>
            </a:solidFill>
          </p:spPr>
          <p:txBody>
            <a:bodyPr wrap="square" rtlCol="0">
              <a:spAutoFit/>
            </a:bodyPr>
            <a:lstStyle/>
            <a:p>
              <a:r>
                <a:rPr lang="en-US" sz="1600" b="1" dirty="0">
                  <a:latin typeface="Consolas" panose="020B0609020204030204" pitchFamily="49" charset="0"/>
                  <a:cs typeface="Consolas" panose="020B0609020204030204" pitchFamily="49" charset="0"/>
                </a:rPr>
                <a:t>print(</a:t>
              </a:r>
              <a:r>
                <a:rPr lang="en-US" sz="1600" b="1" dirty="0">
                  <a:solidFill>
                    <a:schemeClr val="accent6">
                      <a:lumMod val="75000"/>
                    </a:schemeClr>
                  </a:solidFill>
                  <a:latin typeface="Consolas" panose="020B0609020204030204" pitchFamily="49" charset="0"/>
                  <a:cs typeface="Consolas" panose="020B0609020204030204" pitchFamily="49" charset="0"/>
                </a:rPr>
                <a:t>"ha"</a:t>
              </a:r>
              <a:r>
                <a:rPr lang="en-US" sz="1600" b="1" dirty="0">
                  <a:latin typeface="Consolas" panose="020B0609020204030204" pitchFamily="49" charset="0"/>
                  <a:cs typeface="Consolas" panose="020B0609020204030204" pitchFamily="49" charset="0"/>
                </a:rPr>
                <a:t>)</a:t>
              </a:r>
              <a:endParaRPr lang="en-US" sz="1600" b="1" dirty="0">
                <a:solidFill>
                  <a:schemeClr val="accent3">
                    <a:lumMod val="75000"/>
                  </a:schemeClr>
                </a:solidFill>
                <a:latin typeface="Consolas" panose="020B0609020204030204" pitchFamily="49" charset="0"/>
                <a:cs typeface="Consolas" panose="020B0609020204030204" pitchFamily="49" charset="0"/>
              </a:endParaRPr>
            </a:p>
            <a:p>
              <a:r>
                <a:rPr lang="en-US" sz="1600" b="1" dirty="0">
                  <a:latin typeface="Consolas" panose="020B0609020204030204" pitchFamily="49" charset="0"/>
                  <a:cs typeface="Consolas" panose="020B0609020204030204" pitchFamily="49" charset="0"/>
                </a:rPr>
                <a:t>i = i + </a:t>
              </a:r>
              <a:r>
                <a:rPr lang="en-US" sz="1600" b="1" dirty="0">
                  <a:solidFill>
                    <a:schemeClr val="accent3">
                      <a:lumMod val="75000"/>
                    </a:schemeClr>
                  </a:solidFill>
                  <a:latin typeface="Consolas" panose="020B0609020204030204" pitchFamily="49" charset="0"/>
                  <a:cs typeface="Consolas" panose="020B0609020204030204" pitchFamily="49" charset="0"/>
                </a:rPr>
                <a:t>1</a:t>
              </a:r>
            </a:p>
          </p:txBody>
        </p:sp>
        <p:cxnSp>
          <p:nvCxnSpPr>
            <p:cNvPr id="9" name="Straight Arrow Connector 8">
              <a:extLst>
                <a:ext uri="{FF2B5EF4-FFF2-40B4-BE49-F238E27FC236}">
                  <a16:creationId xmlns:a16="http://schemas.microsoft.com/office/drawing/2014/main" id="{1E23F11C-9E4E-C440-8F1B-AA11A3FEB6B1}"/>
                </a:ext>
              </a:extLst>
            </p:cNvPr>
            <p:cNvCxnSpPr>
              <a:cxnSpLocks/>
            </p:cNvCxnSpPr>
            <p:nvPr/>
          </p:nvCxnSpPr>
          <p:spPr>
            <a:xfrm>
              <a:off x="6751140" y="2861512"/>
              <a:ext cx="0" cy="545812"/>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83B3DE7-B8C6-6943-9651-7122D28AA004}"/>
                </a:ext>
              </a:extLst>
            </p:cNvPr>
            <p:cNvCxnSpPr>
              <a:cxnSpLocks/>
            </p:cNvCxnSpPr>
            <p:nvPr/>
          </p:nvCxnSpPr>
          <p:spPr>
            <a:xfrm>
              <a:off x="8159433" y="2837898"/>
              <a:ext cx="0" cy="13485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26">
              <a:extLst>
                <a:ext uri="{FF2B5EF4-FFF2-40B4-BE49-F238E27FC236}">
                  <a16:creationId xmlns:a16="http://schemas.microsoft.com/office/drawing/2014/main" id="{CC914042-2433-0447-880C-C09C95FE88A5}"/>
                </a:ext>
              </a:extLst>
            </p:cNvPr>
            <p:cNvCxnSpPr>
              <a:cxnSpLocks/>
              <a:stCxn id="8" idx="1"/>
              <a:endCxn id="7" idx="1"/>
            </p:cNvCxnSpPr>
            <p:nvPr/>
          </p:nvCxnSpPr>
          <p:spPr>
            <a:xfrm rot="10800000">
              <a:off x="6370141" y="2569386"/>
              <a:ext cx="5547" cy="1130326"/>
            </a:xfrm>
            <a:prstGeom prst="bentConnector3">
              <a:avLst>
                <a:gd name="adj1" fmla="val 422114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EE24084-7C98-8747-A5D7-194C97D84A99}"/>
                </a:ext>
              </a:extLst>
            </p:cNvPr>
            <p:cNvSpPr txBox="1"/>
            <p:nvPr/>
          </p:nvSpPr>
          <p:spPr>
            <a:xfrm>
              <a:off x="6370140" y="1145571"/>
              <a:ext cx="1122096" cy="584775"/>
            </a:xfrm>
            <a:prstGeom prst="rect">
              <a:avLst/>
            </a:prstGeom>
            <a:solidFill>
              <a:schemeClr val="accent1">
                <a:lumMod val="40000"/>
                <a:lumOff val="60000"/>
              </a:schemeClr>
            </a:solidFill>
          </p:spPr>
          <p:txBody>
            <a:bodyPr wrap="squar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10</a:t>
              </a:r>
            </a:p>
            <a:p>
              <a:r>
                <a:rPr lang="en-US" sz="1600" b="1" dirty="0">
                  <a:latin typeface="Consolas" panose="020B0609020204030204" pitchFamily="49" charset="0"/>
                  <a:cs typeface="Consolas" panose="020B0609020204030204" pitchFamily="49" charset="0"/>
                </a:rPr>
                <a:t>i = </a:t>
              </a:r>
              <a:r>
                <a:rPr lang="en-US" sz="1600" b="1" dirty="0">
                  <a:solidFill>
                    <a:schemeClr val="accent3">
                      <a:lumMod val="75000"/>
                    </a:schemeClr>
                  </a:solidFill>
                  <a:latin typeface="Consolas" panose="020B0609020204030204" pitchFamily="49" charset="0"/>
                  <a:cs typeface="Consolas" panose="020B0609020204030204" pitchFamily="49" charset="0"/>
                </a:rPr>
                <a:t>0</a:t>
              </a:r>
            </a:p>
          </p:txBody>
        </p:sp>
        <p:cxnSp>
          <p:nvCxnSpPr>
            <p:cNvPr id="13" name="Straight Arrow Connector 12">
              <a:extLst>
                <a:ext uri="{FF2B5EF4-FFF2-40B4-BE49-F238E27FC236}">
                  <a16:creationId xmlns:a16="http://schemas.microsoft.com/office/drawing/2014/main" id="{AAFDA197-5896-7C4A-9DD7-1EF21ABAE481}"/>
                </a:ext>
              </a:extLst>
            </p:cNvPr>
            <p:cNvCxnSpPr>
              <a:cxnSpLocks/>
            </p:cNvCxnSpPr>
            <p:nvPr/>
          </p:nvCxnSpPr>
          <p:spPr>
            <a:xfrm>
              <a:off x="6868522" y="1730346"/>
              <a:ext cx="0" cy="5466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C120BFA-2B76-1745-90C2-590DF6F384A4}"/>
                </a:ext>
              </a:extLst>
            </p:cNvPr>
            <p:cNvCxnSpPr>
              <a:cxnSpLocks/>
            </p:cNvCxnSpPr>
            <p:nvPr/>
          </p:nvCxnSpPr>
          <p:spPr>
            <a:xfrm>
              <a:off x="5843381" y="1453926"/>
              <a:ext cx="52675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41C79502-2FF2-D747-9001-4EF9E049AB27}"/>
              </a:ext>
            </a:extLst>
          </p:cNvPr>
          <p:cNvSpPr txBox="1"/>
          <p:nvPr/>
        </p:nvSpPr>
        <p:spPr>
          <a:xfrm>
            <a:off x="6101870" y="2278260"/>
            <a:ext cx="564578"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UNK</a:t>
            </a:r>
          </a:p>
        </p:txBody>
      </p:sp>
      <p:sp>
        <p:nvSpPr>
          <p:cNvPr id="15" name="TextBox 14">
            <a:extLst>
              <a:ext uri="{FF2B5EF4-FFF2-40B4-BE49-F238E27FC236}">
                <a16:creationId xmlns:a16="http://schemas.microsoft.com/office/drawing/2014/main" id="{A5E71D76-65D1-184B-B338-9D6F37569A82}"/>
              </a:ext>
            </a:extLst>
          </p:cNvPr>
          <p:cNvSpPr txBox="1"/>
          <p:nvPr/>
        </p:nvSpPr>
        <p:spPr>
          <a:xfrm>
            <a:off x="4698463" y="3368671"/>
            <a:ext cx="564578"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UNK</a:t>
            </a:r>
          </a:p>
        </p:txBody>
      </p:sp>
      <p:sp>
        <p:nvSpPr>
          <p:cNvPr id="16" name="TextBox 15">
            <a:extLst>
              <a:ext uri="{FF2B5EF4-FFF2-40B4-BE49-F238E27FC236}">
                <a16:creationId xmlns:a16="http://schemas.microsoft.com/office/drawing/2014/main" id="{CFFDA107-8A11-524B-B4BA-559A8C275D2A}"/>
              </a:ext>
            </a:extLst>
          </p:cNvPr>
          <p:cNvSpPr txBox="1"/>
          <p:nvPr/>
        </p:nvSpPr>
        <p:spPr>
          <a:xfrm>
            <a:off x="5935523" y="3368671"/>
            <a:ext cx="564578"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UNK</a:t>
            </a:r>
          </a:p>
        </p:txBody>
      </p:sp>
      <p:sp>
        <p:nvSpPr>
          <p:cNvPr id="17" name="TextBox 16">
            <a:extLst>
              <a:ext uri="{FF2B5EF4-FFF2-40B4-BE49-F238E27FC236}">
                <a16:creationId xmlns:a16="http://schemas.microsoft.com/office/drawing/2014/main" id="{1C09537E-96DA-8844-BC17-A8A964720E27}"/>
              </a:ext>
            </a:extLst>
          </p:cNvPr>
          <p:cNvSpPr txBox="1"/>
          <p:nvPr/>
        </p:nvSpPr>
        <p:spPr>
          <a:xfrm>
            <a:off x="7286198" y="3399651"/>
            <a:ext cx="564578"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UNK</a:t>
            </a:r>
          </a:p>
        </p:txBody>
      </p:sp>
      <p:sp>
        <p:nvSpPr>
          <p:cNvPr id="18" name="TextBox 17">
            <a:extLst>
              <a:ext uri="{FF2B5EF4-FFF2-40B4-BE49-F238E27FC236}">
                <a16:creationId xmlns:a16="http://schemas.microsoft.com/office/drawing/2014/main" id="{3AE0946D-256D-F74A-8485-3187AA6B082B}"/>
              </a:ext>
            </a:extLst>
          </p:cNvPr>
          <p:cNvSpPr txBox="1"/>
          <p:nvPr/>
        </p:nvSpPr>
        <p:spPr>
          <a:xfrm>
            <a:off x="4943540" y="1515822"/>
            <a:ext cx="564578"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UNK</a:t>
            </a:r>
          </a:p>
        </p:txBody>
      </p:sp>
      <p:sp>
        <p:nvSpPr>
          <p:cNvPr id="22" name="TextBox 21">
            <a:extLst>
              <a:ext uri="{FF2B5EF4-FFF2-40B4-BE49-F238E27FC236}">
                <a16:creationId xmlns:a16="http://schemas.microsoft.com/office/drawing/2014/main" id="{9D7194FA-754B-3A41-AFF0-3E126F103D5F}"/>
              </a:ext>
            </a:extLst>
          </p:cNvPr>
          <p:cNvSpPr txBox="1"/>
          <p:nvPr/>
        </p:nvSpPr>
        <p:spPr>
          <a:xfrm>
            <a:off x="6101870" y="2278260"/>
            <a:ext cx="1324402"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CONST(10)</a:t>
            </a:r>
          </a:p>
        </p:txBody>
      </p:sp>
      <p:sp>
        <p:nvSpPr>
          <p:cNvPr id="24" name="TextBox 23">
            <a:extLst>
              <a:ext uri="{FF2B5EF4-FFF2-40B4-BE49-F238E27FC236}">
                <a16:creationId xmlns:a16="http://schemas.microsoft.com/office/drawing/2014/main" id="{61626198-E8A3-9847-85B3-613ED7B0279A}"/>
              </a:ext>
            </a:extLst>
          </p:cNvPr>
          <p:cNvSpPr txBox="1"/>
          <p:nvPr/>
        </p:nvSpPr>
        <p:spPr>
          <a:xfrm>
            <a:off x="5933818" y="3368671"/>
            <a:ext cx="1324402"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CONST(10)</a:t>
            </a:r>
          </a:p>
        </p:txBody>
      </p:sp>
      <p:sp>
        <p:nvSpPr>
          <p:cNvPr id="25" name="TextBox 24">
            <a:extLst>
              <a:ext uri="{FF2B5EF4-FFF2-40B4-BE49-F238E27FC236}">
                <a16:creationId xmlns:a16="http://schemas.microsoft.com/office/drawing/2014/main" id="{DA83DDA4-3381-334F-BFCA-6CDFD3E1E558}"/>
              </a:ext>
            </a:extLst>
          </p:cNvPr>
          <p:cNvSpPr txBox="1"/>
          <p:nvPr/>
        </p:nvSpPr>
        <p:spPr>
          <a:xfrm>
            <a:off x="7286198" y="3388053"/>
            <a:ext cx="1324402"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CONST(10)</a:t>
            </a:r>
          </a:p>
        </p:txBody>
      </p:sp>
      <p:sp>
        <p:nvSpPr>
          <p:cNvPr id="26" name="TextBox 25">
            <a:extLst>
              <a:ext uri="{FF2B5EF4-FFF2-40B4-BE49-F238E27FC236}">
                <a16:creationId xmlns:a16="http://schemas.microsoft.com/office/drawing/2014/main" id="{46CD4B17-5C3A-144A-ADCF-1964D524E5CD}"/>
              </a:ext>
            </a:extLst>
          </p:cNvPr>
          <p:cNvSpPr txBox="1"/>
          <p:nvPr/>
        </p:nvSpPr>
        <p:spPr>
          <a:xfrm>
            <a:off x="2362249" y="2363569"/>
            <a:ext cx="2849201" cy="646331"/>
          </a:xfrm>
          <a:prstGeom prst="rect">
            <a:avLst/>
          </a:prstGeom>
          <a:noFill/>
        </p:spPr>
        <p:txBody>
          <a:bodyPr wrap="square" rtlCol="0">
            <a:spAutoFit/>
          </a:bodyPr>
          <a:lstStyle/>
          <a:p>
            <a:pPr algn="ctr"/>
            <a:r>
              <a:rPr lang="en-US" sz="1800" dirty="0">
                <a:latin typeface="Consolas" panose="020B0609020204030204" pitchFamily="49" charset="0"/>
                <a:cs typeface="Consolas" panose="020B0609020204030204" pitchFamily="49" charset="0"/>
              </a:rPr>
              <a:t>join(CONST(10), UNK) </a:t>
            </a:r>
          </a:p>
          <a:p>
            <a:pPr algn="ctr"/>
            <a:r>
              <a:rPr lang="en-US" sz="1800" dirty="0">
                <a:latin typeface="Consolas" panose="020B0609020204030204" pitchFamily="49" charset="0"/>
                <a:cs typeface="Consolas" panose="020B0609020204030204" pitchFamily="49" charset="0"/>
              </a:rPr>
              <a:t>= CONST(10)</a:t>
            </a:r>
          </a:p>
        </p:txBody>
      </p:sp>
      <p:sp>
        <p:nvSpPr>
          <p:cNvPr id="27" name="TextBox 26">
            <a:extLst>
              <a:ext uri="{FF2B5EF4-FFF2-40B4-BE49-F238E27FC236}">
                <a16:creationId xmlns:a16="http://schemas.microsoft.com/office/drawing/2014/main" id="{089D00D4-5AD0-6F46-990B-DC1A3716B841}"/>
              </a:ext>
            </a:extLst>
          </p:cNvPr>
          <p:cNvSpPr txBox="1"/>
          <p:nvPr/>
        </p:nvSpPr>
        <p:spPr>
          <a:xfrm>
            <a:off x="3997314" y="3352637"/>
            <a:ext cx="1324402"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CONST(10)</a:t>
            </a:r>
          </a:p>
        </p:txBody>
      </p:sp>
      <p:sp>
        <p:nvSpPr>
          <p:cNvPr id="28" name="TextBox 27">
            <a:extLst>
              <a:ext uri="{FF2B5EF4-FFF2-40B4-BE49-F238E27FC236}">
                <a16:creationId xmlns:a16="http://schemas.microsoft.com/office/drawing/2014/main" id="{23E44EB9-B680-2149-9726-B0D92D9ABCB2}"/>
              </a:ext>
            </a:extLst>
          </p:cNvPr>
          <p:cNvSpPr txBox="1"/>
          <p:nvPr/>
        </p:nvSpPr>
        <p:spPr>
          <a:xfrm>
            <a:off x="2011097" y="2363569"/>
            <a:ext cx="3551503" cy="646331"/>
          </a:xfrm>
          <a:prstGeom prst="rect">
            <a:avLst/>
          </a:prstGeom>
          <a:noFill/>
        </p:spPr>
        <p:txBody>
          <a:bodyPr wrap="square" rtlCol="0">
            <a:spAutoFit/>
          </a:bodyPr>
          <a:lstStyle/>
          <a:p>
            <a:pPr algn="ctr"/>
            <a:r>
              <a:rPr lang="en-US" sz="1800" dirty="0">
                <a:latin typeface="Consolas" panose="020B0609020204030204" pitchFamily="49" charset="0"/>
                <a:cs typeface="Consolas" panose="020B0609020204030204" pitchFamily="49" charset="0"/>
              </a:rPr>
              <a:t>join(CONST(10), CONST(10)) </a:t>
            </a:r>
          </a:p>
          <a:p>
            <a:pPr algn="ctr"/>
            <a:r>
              <a:rPr lang="en-US" sz="1800" dirty="0">
                <a:latin typeface="Consolas" panose="020B0609020204030204" pitchFamily="49" charset="0"/>
                <a:cs typeface="Consolas" panose="020B0609020204030204" pitchFamily="49" charset="0"/>
              </a:rPr>
              <a:t>= CONST(10)</a:t>
            </a:r>
          </a:p>
        </p:txBody>
      </p:sp>
      <p:sp>
        <p:nvSpPr>
          <p:cNvPr id="29" name="TextBox 28">
            <a:extLst>
              <a:ext uri="{FF2B5EF4-FFF2-40B4-BE49-F238E27FC236}">
                <a16:creationId xmlns:a16="http://schemas.microsoft.com/office/drawing/2014/main" id="{0642E4E9-06CA-6040-98EB-E91FC723CCF5}"/>
              </a:ext>
            </a:extLst>
          </p:cNvPr>
          <p:cNvSpPr txBox="1"/>
          <p:nvPr/>
        </p:nvSpPr>
        <p:spPr>
          <a:xfrm>
            <a:off x="630924" y="1603297"/>
            <a:ext cx="4137040" cy="769441"/>
          </a:xfrm>
          <a:prstGeom prst="rect">
            <a:avLst/>
          </a:prstGeom>
          <a:noFill/>
        </p:spPr>
        <p:txBody>
          <a:bodyPr wrap="square" rtlCol="0">
            <a:spAutoFit/>
          </a:bodyPr>
          <a:lstStyle/>
          <a:p>
            <a:pPr algn="ctr"/>
            <a:r>
              <a:rPr lang="en-US" sz="2200" dirty="0"/>
              <a:t>guess what: we are visiting this</a:t>
            </a:r>
            <a:r>
              <a:rPr lang="en-US" sz="2200" dirty="0">
                <a:solidFill>
                  <a:schemeClr val="accent6">
                    <a:lumMod val="75000"/>
                  </a:schemeClr>
                </a:solidFill>
              </a:rPr>
              <a:t> </a:t>
            </a:r>
            <a:r>
              <a:rPr lang="en-US" sz="2200" b="1" dirty="0">
                <a:solidFill>
                  <a:schemeClr val="accent6">
                    <a:lumMod val="75000"/>
                  </a:schemeClr>
                </a:solidFill>
              </a:rPr>
              <a:t>orange BB </a:t>
            </a:r>
            <a:r>
              <a:rPr lang="en-US" sz="2200" b="1" i="1" dirty="0"/>
              <a:t>a second time!</a:t>
            </a:r>
            <a:endParaRPr lang="en-US" sz="2200" b="1" dirty="0">
              <a:latin typeface="Consolas" panose="020B0609020204030204" pitchFamily="49" charset="0"/>
              <a:cs typeface="Consolas" panose="020B0609020204030204" pitchFamily="49" charset="0"/>
            </a:endParaRPr>
          </a:p>
        </p:txBody>
      </p:sp>
      <p:sp>
        <p:nvSpPr>
          <p:cNvPr id="30" name="TextBox 29">
            <a:extLst>
              <a:ext uri="{FF2B5EF4-FFF2-40B4-BE49-F238E27FC236}">
                <a16:creationId xmlns:a16="http://schemas.microsoft.com/office/drawing/2014/main" id="{7878F517-9B5B-8446-BA4D-9CED608AE036}"/>
              </a:ext>
            </a:extLst>
          </p:cNvPr>
          <p:cNvSpPr txBox="1"/>
          <p:nvPr/>
        </p:nvSpPr>
        <p:spPr>
          <a:xfrm>
            <a:off x="1051201" y="4148148"/>
            <a:ext cx="3941743" cy="1107996"/>
          </a:xfrm>
          <a:prstGeom prst="rect">
            <a:avLst/>
          </a:prstGeom>
          <a:noFill/>
        </p:spPr>
        <p:txBody>
          <a:bodyPr wrap="square" rtlCol="0">
            <a:spAutoFit/>
          </a:bodyPr>
          <a:lstStyle/>
          <a:p>
            <a:pPr algn="ctr"/>
            <a:r>
              <a:rPr lang="en-US" sz="2200" dirty="0"/>
              <a:t>but no more changes occur. we have reached </a:t>
            </a:r>
            <a:r>
              <a:rPr lang="en-US" sz="2200" b="1" dirty="0"/>
              <a:t>equilibrium: </a:t>
            </a:r>
            <a:r>
              <a:rPr lang="en-US" sz="2200" dirty="0"/>
              <a:t>the algorithm is done.</a:t>
            </a:r>
            <a:endParaRPr lang="en-US" sz="2200" b="1" dirty="0">
              <a:solidFill>
                <a:schemeClr val="accent6">
                  <a:lumMod val="75000"/>
                </a:schemeClr>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0843353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xit" presetSubtype="0" fill="hold" grpId="1" nodeType="withEffect">
                                  <p:stCondLst>
                                    <p:cond delay="0"/>
                                  </p:stCondLst>
                                  <p:childTnLst>
                                    <p:set>
                                      <p:cBhvr>
                                        <p:cTn id="22" dur="1" fill="hold">
                                          <p:stCondLst>
                                            <p:cond delay="0"/>
                                          </p:stCondLst>
                                        </p:cTn>
                                        <p:tgtEl>
                                          <p:spTgt spid="1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16"/>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xit" presetSubtype="0" fill="hold" grpId="1" nodeType="withEffect">
                                  <p:stCondLst>
                                    <p:cond delay="0"/>
                                  </p:stCondLst>
                                  <p:childTnLst>
                                    <p:set>
                                      <p:cBhvr>
                                        <p:cTn id="36" dur="1" fill="hold">
                                          <p:stCondLst>
                                            <p:cond delay="0"/>
                                          </p:stCondLst>
                                        </p:cTn>
                                        <p:tgtEl>
                                          <p:spTgt spid="17"/>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26"/>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15"/>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5" grpId="0"/>
      <p:bldP spid="15" grpId="1"/>
      <p:bldP spid="16" grpId="0"/>
      <p:bldP spid="16" grpId="1"/>
      <p:bldP spid="17" grpId="0"/>
      <p:bldP spid="17" grpId="1"/>
      <p:bldP spid="18" grpId="0"/>
      <p:bldP spid="22" grpId="0"/>
      <p:bldP spid="24" grpId="0"/>
      <p:bldP spid="25" grpId="0"/>
      <p:bldP spid="26" grpId="0"/>
      <p:bldP spid="26" grpId="1"/>
      <p:bldP spid="27" grpId="0"/>
      <p:bldP spid="28" grpId="0"/>
      <p:bldP spid="29" grpId="0"/>
      <p:bldP spid="3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6D437-6544-DE45-A5F6-64F702C514EE}"/>
              </a:ext>
            </a:extLst>
          </p:cNvPr>
          <p:cNvSpPr>
            <a:spLocks noGrp="1"/>
          </p:cNvSpPr>
          <p:nvPr>
            <p:ph type="title"/>
          </p:nvPr>
        </p:nvSpPr>
        <p:spPr/>
        <p:txBody>
          <a:bodyPr/>
          <a:lstStyle/>
          <a:p>
            <a:r>
              <a:rPr lang="en-US" dirty="0"/>
              <a:t>Sometimes one visit is not enough</a:t>
            </a:r>
          </a:p>
        </p:txBody>
      </p:sp>
      <p:sp>
        <p:nvSpPr>
          <p:cNvPr id="3" name="Content Placeholder 2">
            <a:extLst>
              <a:ext uri="{FF2B5EF4-FFF2-40B4-BE49-F238E27FC236}">
                <a16:creationId xmlns:a16="http://schemas.microsoft.com/office/drawing/2014/main" id="{F4DE8C8F-39BA-7C4C-BF6A-BEE28468C877}"/>
              </a:ext>
            </a:extLst>
          </p:cNvPr>
          <p:cNvSpPr>
            <a:spLocks noGrp="1"/>
          </p:cNvSpPr>
          <p:nvPr>
            <p:ph idx="1"/>
          </p:nvPr>
        </p:nvSpPr>
        <p:spPr>
          <a:xfrm>
            <a:off x="152400" y="495302"/>
            <a:ext cx="8991600" cy="1584516"/>
          </a:xfrm>
        </p:spPr>
        <p:txBody>
          <a:bodyPr/>
          <a:lstStyle/>
          <a:p>
            <a:r>
              <a:rPr lang="en-US" dirty="0"/>
              <a:t>because each visit to a BB might move it from one set (</a:t>
            </a:r>
            <a:r>
              <a:rPr lang="en-US" b="1" dirty="0">
                <a:latin typeface="Consolas" panose="020B0609020204030204" pitchFamily="49" charset="0"/>
                <a:cs typeface="Consolas" panose="020B0609020204030204" pitchFamily="49" charset="0"/>
              </a:rPr>
              <a:t>UNK</a:t>
            </a:r>
            <a:r>
              <a:rPr lang="en-US" dirty="0"/>
              <a:t>) to another (say, </a:t>
            </a:r>
            <a:r>
              <a:rPr lang="en-US" b="1" dirty="0">
                <a:latin typeface="Consolas" panose="020B0609020204030204" pitchFamily="49" charset="0"/>
                <a:cs typeface="Consolas" panose="020B0609020204030204" pitchFamily="49" charset="0"/>
              </a:rPr>
              <a:t>CONST(</a:t>
            </a:r>
            <a:r>
              <a:rPr lang="en-US" b="1" dirty="0">
                <a:solidFill>
                  <a:schemeClr val="accent3">
                    <a:lumMod val="75000"/>
                  </a:schemeClr>
                </a:solidFill>
                <a:latin typeface="Consolas" panose="020B0609020204030204" pitchFamily="49" charset="0"/>
                <a:cs typeface="Consolas" panose="020B0609020204030204" pitchFamily="49" charset="0"/>
              </a:rPr>
              <a:t>10</a:t>
            </a:r>
            <a:r>
              <a:rPr lang="en-US" b="1" dirty="0">
                <a:latin typeface="Consolas" panose="020B0609020204030204" pitchFamily="49" charset="0"/>
                <a:cs typeface="Consolas" panose="020B0609020204030204" pitchFamily="49" charset="0"/>
              </a:rPr>
              <a:t>)</a:t>
            </a:r>
            <a:r>
              <a:rPr lang="en-US" dirty="0"/>
              <a:t>)… and because we have </a:t>
            </a:r>
            <a:r>
              <a:rPr lang="en-US" b="1" dirty="0"/>
              <a:t>three sets…</a:t>
            </a:r>
          </a:p>
          <a:p>
            <a:pPr lvl="1"/>
            <a:r>
              <a:rPr lang="en-US" dirty="0"/>
              <a:t>then we may have to visit a BB </a:t>
            </a:r>
            <a:r>
              <a:rPr lang="en-US" b="1" dirty="0"/>
              <a:t>more than one time!</a:t>
            </a:r>
          </a:p>
          <a:p>
            <a:r>
              <a:rPr lang="en-US" dirty="0"/>
              <a:t>we're not risking an infinite loop though. why?</a:t>
            </a:r>
          </a:p>
        </p:txBody>
      </p:sp>
      <p:sp>
        <p:nvSpPr>
          <p:cNvPr id="4" name="Slide Number Placeholder 3">
            <a:extLst>
              <a:ext uri="{FF2B5EF4-FFF2-40B4-BE49-F238E27FC236}">
                <a16:creationId xmlns:a16="http://schemas.microsoft.com/office/drawing/2014/main" id="{97FE7D5F-9C5D-5043-8EDC-898A9F463E54}"/>
              </a:ext>
            </a:extLst>
          </p:cNvPr>
          <p:cNvSpPr>
            <a:spLocks noGrp="1"/>
          </p:cNvSpPr>
          <p:nvPr>
            <p:ph type="sldNum" sz="quarter" idx="12"/>
          </p:nvPr>
        </p:nvSpPr>
        <p:spPr/>
        <p:txBody>
          <a:bodyPr/>
          <a:lstStyle/>
          <a:p>
            <a:fld id="{3552B95B-556F-44BD-91A5-D80C1B9E2BB3}" type="slidenum">
              <a:rPr lang="en-US" smtClean="0"/>
              <a:pPr/>
              <a:t>31</a:t>
            </a:fld>
            <a:endParaRPr lang="en-US"/>
          </a:p>
        </p:txBody>
      </p:sp>
      <p:grpSp>
        <p:nvGrpSpPr>
          <p:cNvPr id="21" name="Group 20">
            <a:extLst>
              <a:ext uri="{FF2B5EF4-FFF2-40B4-BE49-F238E27FC236}">
                <a16:creationId xmlns:a16="http://schemas.microsoft.com/office/drawing/2014/main" id="{E8254084-5154-EB4A-BBF3-026665659B91}"/>
              </a:ext>
            </a:extLst>
          </p:cNvPr>
          <p:cNvGrpSpPr/>
          <p:nvPr/>
        </p:nvGrpSpPr>
        <p:grpSpPr>
          <a:xfrm>
            <a:off x="591165" y="2600044"/>
            <a:ext cx="3710436" cy="1745225"/>
            <a:chOff x="838200" y="2814485"/>
            <a:chExt cx="3710436" cy="1745225"/>
          </a:xfrm>
        </p:grpSpPr>
        <p:sp>
          <p:nvSpPr>
            <p:cNvPr id="5" name="Rounded Rectangle 4">
              <a:extLst>
                <a:ext uri="{FF2B5EF4-FFF2-40B4-BE49-F238E27FC236}">
                  <a16:creationId xmlns:a16="http://schemas.microsoft.com/office/drawing/2014/main" id="{5F053D43-751D-D74E-B8C5-0EC29CF462DF}"/>
                </a:ext>
              </a:extLst>
            </p:cNvPr>
            <p:cNvSpPr/>
            <p:nvPr/>
          </p:nvSpPr>
          <p:spPr>
            <a:xfrm>
              <a:off x="838200" y="3797709"/>
              <a:ext cx="891036" cy="76200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0000"/>
                  </a:solidFill>
                </a:rPr>
                <a:t>UNK</a:t>
              </a:r>
            </a:p>
          </p:txBody>
        </p:sp>
        <p:sp>
          <p:nvSpPr>
            <p:cNvPr id="6" name="Rounded Rectangle 5">
              <a:extLst>
                <a:ext uri="{FF2B5EF4-FFF2-40B4-BE49-F238E27FC236}">
                  <a16:creationId xmlns:a16="http://schemas.microsoft.com/office/drawing/2014/main" id="{70ACBD25-F524-C34A-9D78-FD00D83CF8F9}"/>
                </a:ext>
              </a:extLst>
            </p:cNvPr>
            <p:cNvSpPr/>
            <p:nvPr/>
          </p:nvSpPr>
          <p:spPr>
            <a:xfrm>
              <a:off x="2057400" y="2814485"/>
              <a:ext cx="1168808" cy="762001"/>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B050"/>
                  </a:solidFill>
                </a:rPr>
                <a:t>CONST</a:t>
              </a:r>
            </a:p>
          </p:txBody>
        </p:sp>
        <p:sp>
          <p:nvSpPr>
            <p:cNvPr id="7" name="Rounded Rectangle 6">
              <a:extLst>
                <a:ext uri="{FF2B5EF4-FFF2-40B4-BE49-F238E27FC236}">
                  <a16:creationId xmlns:a16="http://schemas.microsoft.com/office/drawing/2014/main" id="{5879DA99-967B-8C4D-BB92-CD04275F0080}"/>
                </a:ext>
              </a:extLst>
            </p:cNvPr>
            <p:cNvSpPr/>
            <p:nvPr/>
          </p:nvSpPr>
          <p:spPr>
            <a:xfrm>
              <a:off x="3657600" y="3797708"/>
              <a:ext cx="891036" cy="762001"/>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accent6">
                      <a:lumMod val="75000"/>
                    </a:schemeClr>
                  </a:solidFill>
                </a:rPr>
                <a:t>ANY</a:t>
              </a:r>
            </a:p>
          </p:txBody>
        </p:sp>
        <p:cxnSp>
          <p:nvCxnSpPr>
            <p:cNvPr id="8" name="Straight Arrow Connector 7">
              <a:extLst>
                <a:ext uri="{FF2B5EF4-FFF2-40B4-BE49-F238E27FC236}">
                  <a16:creationId xmlns:a16="http://schemas.microsoft.com/office/drawing/2014/main" id="{85355AF7-B4D0-2E46-84AE-12E0E15891B2}"/>
                </a:ext>
              </a:extLst>
            </p:cNvPr>
            <p:cNvCxnSpPr>
              <a:cxnSpLocks/>
            </p:cNvCxnSpPr>
            <p:nvPr/>
          </p:nvCxnSpPr>
          <p:spPr>
            <a:xfrm flipV="1">
              <a:off x="1676400" y="3467100"/>
              <a:ext cx="381000" cy="381000"/>
            </a:xfrm>
            <a:prstGeom prst="straightConnector1">
              <a:avLst/>
            </a:prstGeom>
            <a:ln w="381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C16F677-7F16-6841-AB0D-3CBDD2BEB7ED}"/>
                </a:ext>
              </a:extLst>
            </p:cNvPr>
            <p:cNvCxnSpPr>
              <a:cxnSpLocks/>
              <a:stCxn id="5" idx="3"/>
              <a:endCxn id="7" idx="1"/>
            </p:cNvCxnSpPr>
            <p:nvPr/>
          </p:nvCxnSpPr>
          <p:spPr>
            <a:xfrm flipV="1">
              <a:off x="1729236" y="4178709"/>
              <a:ext cx="1928364" cy="1"/>
            </a:xfrm>
            <a:prstGeom prst="straightConnector1">
              <a:avLst/>
            </a:prstGeom>
            <a:ln w="381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FE99FC6-22B9-5547-A2C8-D05E4EAEF173}"/>
                </a:ext>
              </a:extLst>
            </p:cNvPr>
            <p:cNvCxnSpPr>
              <a:cxnSpLocks/>
            </p:cNvCxnSpPr>
            <p:nvPr/>
          </p:nvCxnSpPr>
          <p:spPr>
            <a:xfrm>
              <a:off x="3212690" y="3519948"/>
              <a:ext cx="444910" cy="328152"/>
            </a:xfrm>
            <a:prstGeom prst="straightConnector1">
              <a:avLst/>
            </a:prstGeom>
            <a:ln w="38100">
              <a:solidFill>
                <a:srgbClr val="000000"/>
              </a:solidFill>
              <a:tailEnd type="triangle"/>
            </a:ln>
          </p:spPr>
          <p:style>
            <a:lnRef idx="1">
              <a:schemeClr val="accent1"/>
            </a:lnRef>
            <a:fillRef idx="0">
              <a:schemeClr val="accent1"/>
            </a:fillRef>
            <a:effectRef idx="0">
              <a:schemeClr val="accent1"/>
            </a:effectRef>
            <a:fontRef idx="minor">
              <a:schemeClr val="tx1"/>
            </a:fontRef>
          </p:style>
        </p:cxnSp>
      </p:grpSp>
      <p:sp>
        <p:nvSpPr>
          <p:cNvPr id="22" name="TextBox 21">
            <a:extLst>
              <a:ext uri="{FF2B5EF4-FFF2-40B4-BE49-F238E27FC236}">
                <a16:creationId xmlns:a16="http://schemas.microsoft.com/office/drawing/2014/main" id="{963DBBC8-96E8-5348-AA97-54E95311AC27}"/>
              </a:ext>
            </a:extLst>
          </p:cNvPr>
          <p:cNvSpPr txBox="1"/>
          <p:nvPr/>
        </p:nvSpPr>
        <p:spPr>
          <a:xfrm>
            <a:off x="3604752" y="2330040"/>
            <a:ext cx="4787068" cy="1107996"/>
          </a:xfrm>
          <a:prstGeom prst="rect">
            <a:avLst/>
          </a:prstGeom>
          <a:noFill/>
        </p:spPr>
        <p:txBody>
          <a:bodyPr wrap="square" rtlCol="0">
            <a:spAutoFit/>
          </a:bodyPr>
          <a:lstStyle/>
          <a:p>
            <a:pPr algn="ctr"/>
            <a:r>
              <a:rPr lang="en-US" sz="2200" dirty="0"/>
              <a:t>we have a finite number of states (3), and the transitions between them are </a:t>
            </a:r>
            <a:r>
              <a:rPr lang="en-US" sz="2200" b="1" dirty="0"/>
              <a:t>unidirectional.</a:t>
            </a:r>
            <a:endParaRPr lang="en-US" sz="2200" b="1" dirty="0">
              <a:solidFill>
                <a:schemeClr val="accent6">
                  <a:lumMod val="75000"/>
                </a:schemeClr>
              </a:solidFill>
              <a:latin typeface="Consolas" panose="020B0609020204030204" pitchFamily="49" charset="0"/>
              <a:cs typeface="Consolas" panose="020B0609020204030204" pitchFamily="49" charset="0"/>
            </a:endParaRPr>
          </a:p>
        </p:txBody>
      </p:sp>
      <p:sp>
        <p:nvSpPr>
          <p:cNvPr id="23" name="TextBox 22">
            <a:extLst>
              <a:ext uri="{FF2B5EF4-FFF2-40B4-BE49-F238E27FC236}">
                <a16:creationId xmlns:a16="http://schemas.microsoft.com/office/drawing/2014/main" id="{48268FC5-E7BB-AF46-B3E2-2B99E5AD968C}"/>
              </a:ext>
            </a:extLst>
          </p:cNvPr>
          <p:cNvSpPr txBox="1"/>
          <p:nvPr/>
        </p:nvSpPr>
        <p:spPr>
          <a:xfrm>
            <a:off x="4426987" y="3688259"/>
            <a:ext cx="4230304" cy="769441"/>
          </a:xfrm>
          <a:prstGeom prst="rect">
            <a:avLst/>
          </a:prstGeom>
          <a:noFill/>
        </p:spPr>
        <p:txBody>
          <a:bodyPr wrap="square" rtlCol="0">
            <a:spAutoFit/>
          </a:bodyPr>
          <a:lstStyle/>
          <a:p>
            <a:pPr algn="ctr"/>
            <a:r>
              <a:rPr lang="en-US" sz="2200" dirty="0"/>
              <a:t>that's all we need to prove to guarantee termination. nice.</a:t>
            </a:r>
            <a:endParaRPr lang="en-US" sz="2200" b="1" dirty="0">
              <a:solidFill>
                <a:schemeClr val="accent6">
                  <a:lumMod val="75000"/>
                </a:schemeClr>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8734236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2AC8F-7B17-FB40-9C16-E3A52B677429}"/>
              </a:ext>
            </a:extLst>
          </p:cNvPr>
          <p:cNvSpPr>
            <a:spLocks noGrp="1"/>
          </p:cNvSpPr>
          <p:nvPr>
            <p:ph type="title"/>
          </p:nvPr>
        </p:nvSpPr>
        <p:spPr/>
        <p:txBody>
          <a:bodyPr/>
          <a:lstStyle/>
          <a:p>
            <a:r>
              <a:rPr lang="en-US" dirty="0"/>
              <a:t>Shortcomings </a:t>
            </a:r>
            <a:r>
              <a:rPr lang="en-US" sz="2000" dirty="0"/>
              <a:t>(animated)</a:t>
            </a:r>
            <a:endParaRPr lang="en-US" dirty="0"/>
          </a:p>
        </p:txBody>
      </p:sp>
      <p:sp>
        <p:nvSpPr>
          <p:cNvPr id="3" name="Content Placeholder 2">
            <a:extLst>
              <a:ext uri="{FF2B5EF4-FFF2-40B4-BE49-F238E27FC236}">
                <a16:creationId xmlns:a16="http://schemas.microsoft.com/office/drawing/2014/main" id="{BE24BA31-9A21-DF4F-B178-0562F1AE56BC}"/>
              </a:ext>
            </a:extLst>
          </p:cNvPr>
          <p:cNvSpPr>
            <a:spLocks noGrp="1"/>
          </p:cNvSpPr>
          <p:nvPr>
            <p:ph idx="1"/>
          </p:nvPr>
        </p:nvSpPr>
        <p:spPr>
          <a:xfrm>
            <a:off x="152400" y="495301"/>
            <a:ext cx="8991600" cy="523221"/>
          </a:xfrm>
        </p:spPr>
        <p:txBody>
          <a:bodyPr/>
          <a:lstStyle/>
          <a:p>
            <a:r>
              <a:rPr lang="en-US" dirty="0"/>
              <a:t>now let's see what happens when we reassign </a:t>
            </a:r>
            <a:r>
              <a:rPr lang="en-US" b="1" dirty="0">
                <a:latin typeface="Consolas" panose="020B0609020204030204" pitchFamily="49" charset="0"/>
                <a:cs typeface="Consolas" panose="020B0609020204030204" pitchFamily="49" charset="0"/>
              </a:rPr>
              <a:t>x</a:t>
            </a:r>
            <a:r>
              <a:rPr lang="en-US" dirty="0"/>
              <a:t> in the loop.</a:t>
            </a:r>
          </a:p>
        </p:txBody>
      </p:sp>
      <p:sp>
        <p:nvSpPr>
          <p:cNvPr id="4" name="Slide Number Placeholder 3">
            <a:extLst>
              <a:ext uri="{FF2B5EF4-FFF2-40B4-BE49-F238E27FC236}">
                <a16:creationId xmlns:a16="http://schemas.microsoft.com/office/drawing/2014/main" id="{9C538147-6C28-5C44-8DD4-87487965C41E}"/>
              </a:ext>
            </a:extLst>
          </p:cNvPr>
          <p:cNvSpPr>
            <a:spLocks noGrp="1"/>
          </p:cNvSpPr>
          <p:nvPr>
            <p:ph type="sldNum" sz="quarter" idx="12"/>
          </p:nvPr>
        </p:nvSpPr>
        <p:spPr>
          <a:xfrm>
            <a:off x="8458200" y="5296960"/>
            <a:ext cx="685800" cy="304271"/>
          </a:xfrm>
        </p:spPr>
        <p:txBody>
          <a:bodyPr/>
          <a:lstStyle/>
          <a:p>
            <a:fld id="{3552B95B-556F-44BD-91A5-D80C1B9E2BB3}" type="slidenum">
              <a:rPr lang="en-US" smtClean="0"/>
              <a:pPr/>
              <a:t>32</a:t>
            </a:fld>
            <a:endParaRPr lang="en-US"/>
          </a:p>
        </p:txBody>
      </p:sp>
      <p:grpSp>
        <p:nvGrpSpPr>
          <p:cNvPr id="5" name="Group 4">
            <a:extLst>
              <a:ext uri="{FF2B5EF4-FFF2-40B4-BE49-F238E27FC236}">
                <a16:creationId xmlns:a16="http://schemas.microsoft.com/office/drawing/2014/main" id="{20DB97CC-1B6E-724F-8EFD-F43E04607FD4}"/>
              </a:ext>
            </a:extLst>
          </p:cNvPr>
          <p:cNvGrpSpPr/>
          <p:nvPr/>
        </p:nvGrpSpPr>
        <p:grpSpPr>
          <a:xfrm>
            <a:off x="5484862" y="1106886"/>
            <a:ext cx="2843419" cy="3625692"/>
            <a:chOff x="5843381" y="1145571"/>
            <a:chExt cx="2843419" cy="3625692"/>
          </a:xfrm>
        </p:grpSpPr>
        <p:sp>
          <p:nvSpPr>
            <p:cNvPr id="6" name="TextBox 5">
              <a:extLst>
                <a:ext uri="{FF2B5EF4-FFF2-40B4-BE49-F238E27FC236}">
                  <a16:creationId xmlns:a16="http://schemas.microsoft.com/office/drawing/2014/main" id="{0BEBC426-061A-4A40-91B3-94C86D7EE736}"/>
                </a:ext>
              </a:extLst>
            </p:cNvPr>
            <p:cNvSpPr txBox="1"/>
            <p:nvPr/>
          </p:nvSpPr>
          <p:spPr>
            <a:xfrm>
              <a:off x="7492242" y="4186488"/>
              <a:ext cx="970137" cy="584775"/>
            </a:xfrm>
            <a:prstGeom prst="rect">
              <a:avLst/>
            </a:prstGeom>
            <a:solidFill>
              <a:schemeClr val="accent2">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$t0 = x</a:t>
              </a:r>
            </a:p>
            <a:p>
              <a:r>
                <a:rPr lang="en-US" sz="1600" b="1" dirty="0">
                  <a:solidFill>
                    <a:srgbClr val="FF0000"/>
                  </a:solidFill>
                  <a:latin typeface="Consolas" panose="020B0609020204030204" pitchFamily="49" charset="0"/>
                  <a:cs typeface="Consolas" panose="020B0609020204030204" pitchFamily="49" charset="0"/>
                </a:rPr>
                <a:t>return</a:t>
              </a:r>
            </a:p>
          </p:txBody>
        </p:sp>
        <p:sp>
          <p:nvSpPr>
            <p:cNvPr id="7" name="TextBox 6">
              <a:extLst>
                <a:ext uri="{FF2B5EF4-FFF2-40B4-BE49-F238E27FC236}">
                  <a16:creationId xmlns:a16="http://schemas.microsoft.com/office/drawing/2014/main" id="{89310FB9-726F-F94E-BDC8-A1EA360FE875}"/>
                </a:ext>
              </a:extLst>
            </p:cNvPr>
            <p:cNvSpPr txBox="1"/>
            <p:nvPr/>
          </p:nvSpPr>
          <p:spPr>
            <a:xfrm>
              <a:off x="6370140" y="2276998"/>
              <a:ext cx="2316660" cy="584775"/>
            </a:xfrm>
            <a:prstGeom prst="rect">
              <a:avLst/>
            </a:prstGeom>
            <a:solidFill>
              <a:schemeClr val="accent6">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$t1 = i &lt; </a:t>
              </a:r>
              <a:r>
                <a:rPr lang="en-US" sz="1600" b="1" dirty="0">
                  <a:solidFill>
                    <a:schemeClr val="accent3">
                      <a:lumMod val="75000"/>
                    </a:schemeClr>
                  </a:solidFill>
                  <a:latin typeface="Consolas" panose="020B0609020204030204" pitchFamily="49" charset="0"/>
                  <a:cs typeface="Consolas" panose="020B0609020204030204" pitchFamily="49" charset="0"/>
                </a:rPr>
                <a:t>10</a:t>
              </a:r>
            </a:p>
            <a:p>
              <a:r>
                <a:rPr lang="en-US" sz="1600" b="1" dirty="0">
                  <a:solidFill>
                    <a:srgbClr val="FF0000"/>
                  </a:solidFill>
                  <a:latin typeface="Consolas" panose="020B0609020204030204" pitchFamily="49" charset="0"/>
                  <a:cs typeface="Consolas" panose="020B0609020204030204" pitchFamily="49" charset="0"/>
                </a:rPr>
                <a:t>if</a:t>
              </a:r>
              <a:r>
                <a:rPr lang="en-US" sz="1600" b="1" dirty="0">
                  <a:latin typeface="Consolas" panose="020B0609020204030204" pitchFamily="49" charset="0"/>
                  <a:cs typeface="Consolas" panose="020B0609020204030204" pitchFamily="49" charset="0"/>
                </a:rPr>
                <a:t> $t1 bb2 </a:t>
              </a:r>
              <a:r>
                <a:rPr lang="en-US" sz="1600" b="1" dirty="0">
                  <a:solidFill>
                    <a:srgbClr val="FF0000"/>
                  </a:solidFill>
                  <a:latin typeface="Consolas" panose="020B0609020204030204" pitchFamily="49" charset="0"/>
                  <a:cs typeface="Consolas" panose="020B0609020204030204" pitchFamily="49" charset="0"/>
                </a:rPr>
                <a:t>else</a:t>
              </a:r>
              <a:r>
                <a:rPr lang="en-US" sz="1600" b="1" dirty="0">
                  <a:latin typeface="Consolas" panose="020B0609020204030204" pitchFamily="49" charset="0"/>
                  <a:cs typeface="Consolas" panose="020B0609020204030204" pitchFamily="49" charset="0"/>
                </a:rPr>
                <a:t> bb3</a:t>
              </a:r>
            </a:p>
          </p:txBody>
        </p:sp>
        <p:sp>
          <p:nvSpPr>
            <p:cNvPr id="8" name="TextBox 7">
              <a:extLst>
                <a:ext uri="{FF2B5EF4-FFF2-40B4-BE49-F238E27FC236}">
                  <a16:creationId xmlns:a16="http://schemas.microsoft.com/office/drawing/2014/main" id="{3AFB18FB-BDE5-8C4C-9817-97894EAFC0BF}"/>
                </a:ext>
              </a:extLst>
            </p:cNvPr>
            <p:cNvSpPr txBox="1"/>
            <p:nvPr/>
          </p:nvSpPr>
          <p:spPr>
            <a:xfrm>
              <a:off x="6375687" y="3407324"/>
              <a:ext cx="1480801" cy="584775"/>
            </a:xfrm>
            <a:prstGeom prst="rect">
              <a:avLst/>
            </a:prstGeom>
            <a:solidFill>
              <a:schemeClr val="accent1">
                <a:lumMod val="40000"/>
                <a:lumOff val="60000"/>
              </a:schemeClr>
            </a:solidFill>
          </p:spPr>
          <p:txBody>
            <a:bodyPr wrap="squar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20</a:t>
              </a:r>
            </a:p>
            <a:p>
              <a:r>
                <a:rPr lang="en-US" sz="1600" b="1" dirty="0">
                  <a:latin typeface="Consolas" panose="020B0609020204030204" pitchFamily="49" charset="0"/>
                  <a:cs typeface="Consolas" panose="020B0609020204030204" pitchFamily="49" charset="0"/>
                </a:rPr>
                <a:t>i = i + </a:t>
              </a:r>
              <a:r>
                <a:rPr lang="en-US" sz="1600" b="1" dirty="0">
                  <a:solidFill>
                    <a:schemeClr val="accent3">
                      <a:lumMod val="75000"/>
                    </a:schemeClr>
                  </a:solidFill>
                  <a:latin typeface="Consolas" panose="020B0609020204030204" pitchFamily="49" charset="0"/>
                  <a:cs typeface="Consolas" panose="020B0609020204030204" pitchFamily="49" charset="0"/>
                </a:rPr>
                <a:t>1</a:t>
              </a:r>
            </a:p>
          </p:txBody>
        </p:sp>
        <p:cxnSp>
          <p:nvCxnSpPr>
            <p:cNvPr id="9" name="Straight Arrow Connector 8">
              <a:extLst>
                <a:ext uri="{FF2B5EF4-FFF2-40B4-BE49-F238E27FC236}">
                  <a16:creationId xmlns:a16="http://schemas.microsoft.com/office/drawing/2014/main" id="{1E23F11C-9E4E-C440-8F1B-AA11A3FEB6B1}"/>
                </a:ext>
              </a:extLst>
            </p:cNvPr>
            <p:cNvCxnSpPr>
              <a:cxnSpLocks/>
            </p:cNvCxnSpPr>
            <p:nvPr/>
          </p:nvCxnSpPr>
          <p:spPr>
            <a:xfrm>
              <a:off x="6751140" y="2861512"/>
              <a:ext cx="0" cy="545812"/>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83B3DE7-B8C6-6943-9651-7122D28AA004}"/>
                </a:ext>
              </a:extLst>
            </p:cNvPr>
            <p:cNvCxnSpPr>
              <a:cxnSpLocks/>
            </p:cNvCxnSpPr>
            <p:nvPr/>
          </p:nvCxnSpPr>
          <p:spPr>
            <a:xfrm>
              <a:off x="8159433" y="2837898"/>
              <a:ext cx="0" cy="13485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26">
              <a:extLst>
                <a:ext uri="{FF2B5EF4-FFF2-40B4-BE49-F238E27FC236}">
                  <a16:creationId xmlns:a16="http://schemas.microsoft.com/office/drawing/2014/main" id="{CC914042-2433-0447-880C-C09C95FE88A5}"/>
                </a:ext>
              </a:extLst>
            </p:cNvPr>
            <p:cNvCxnSpPr>
              <a:cxnSpLocks/>
              <a:stCxn id="8" idx="1"/>
              <a:endCxn id="7" idx="1"/>
            </p:cNvCxnSpPr>
            <p:nvPr/>
          </p:nvCxnSpPr>
          <p:spPr>
            <a:xfrm rot="10800000">
              <a:off x="6370141" y="2569386"/>
              <a:ext cx="5547" cy="1130326"/>
            </a:xfrm>
            <a:prstGeom prst="bentConnector3">
              <a:avLst>
                <a:gd name="adj1" fmla="val 422114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EE24084-7C98-8747-A5D7-194C97D84A99}"/>
                </a:ext>
              </a:extLst>
            </p:cNvPr>
            <p:cNvSpPr txBox="1"/>
            <p:nvPr/>
          </p:nvSpPr>
          <p:spPr>
            <a:xfrm>
              <a:off x="6370140" y="1145571"/>
              <a:ext cx="1122096" cy="584775"/>
            </a:xfrm>
            <a:prstGeom prst="rect">
              <a:avLst/>
            </a:prstGeom>
            <a:solidFill>
              <a:schemeClr val="accent1">
                <a:lumMod val="40000"/>
                <a:lumOff val="60000"/>
              </a:schemeClr>
            </a:solidFill>
          </p:spPr>
          <p:txBody>
            <a:bodyPr wrap="square" rtlCol="0">
              <a:spAutoFit/>
            </a:bodyPr>
            <a:lstStyle/>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10</a:t>
              </a:r>
            </a:p>
            <a:p>
              <a:r>
                <a:rPr lang="en-US" sz="1600" b="1" dirty="0">
                  <a:latin typeface="Consolas" panose="020B0609020204030204" pitchFamily="49" charset="0"/>
                  <a:cs typeface="Consolas" panose="020B0609020204030204" pitchFamily="49" charset="0"/>
                </a:rPr>
                <a:t>i = </a:t>
              </a:r>
              <a:r>
                <a:rPr lang="en-US" sz="1600" b="1" dirty="0">
                  <a:solidFill>
                    <a:schemeClr val="accent3">
                      <a:lumMod val="75000"/>
                    </a:schemeClr>
                  </a:solidFill>
                  <a:latin typeface="Consolas" panose="020B0609020204030204" pitchFamily="49" charset="0"/>
                  <a:cs typeface="Consolas" panose="020B0609020204030204" pitchFamily="49" charset="0"/>
                </a:rPr>
                <a:t>0</a:t>
              </a:r>
            </a:p>
          </p:txBody>
        </p:sp>
        <p:cxnSp>
          <p:nvCxnSpPr>
            <p:cNvPr id="13" name="Straight Arrow Connector 12">
              <a:extLst>
                <a:ext uri="{FF2B5EF4-FFF2-40B4-BE49-F238E27FC236}">
                  <a16:creationId xmlns:a16="http://schemas.microsoft.com/office/drawing/2014/main" id="{AAFDA197-5896-7C4A-9DD7-1EF21ABAE481}"/>
                </a:ext>
              </a:extLst>
            </p:cNvPr>
            <p:cNvCxnSpPr>
              <a:cxnSpLocks/>
            </p:cNvCxnSpPr>
            <p:nvPr/>
          </p:nvCxnSpPr>
          <p:spPr>
            <a:xfrm>
              <a:off x="6868522" y="1730346"/>
              <a:ext cx="0" cy="5466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C120BFA-2B76-1745-90C2-590DF6F384A4}"/>
                </a:ext>
              </a:extLst>
            </p:cNvPr>
            <p:cNvCxnSpPr>
              <a:cxnSpLocks/>
            </p:cNvCxnSpPr>
            <p:nvPr/>
          </p:nvCxnSpPr>
          <p:spPr>
            <a:xfrm>
              <a:off x="5843381" y="1453926"/>
              <a:ext cx="52675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41C79502-2FF2-D747-9001-4EF9E049AB27}"/>
              </a:ext>
            </a:extLst>
          </p:cNvPr>
          <p:cNvSpPr txBox="1"/>
          <p:nvPr/>
        </p:nvSpPr>
        <p:spPr>
          <a:xfrm>
            <a:off x="6605373" y="1791138"/>
            <a:ext cx="564578"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UNK</a:t>
            </a:r>
          </a:p>
        </p:txBody>
      </p:sp>
      <p:sp>
        <p:nvSpPr>
          <p:cNvPr id="15" name="TextBox 14">
            <a:extLst>
              <a:ext uri="{FF2B5EF4-FFF2-40B4-BE49-F238E27FC236}">
                <a16:creationId xmlns:a16="http://schemas.microsoft.com/office/drawing/2014/main" id="{A5E71D76-65D1-184B-B338-9D6F37569A82}"/>
              </a:ext>
            </a:extLst>
          </p:cNvPr>
          <p:cNvSpPr txBox="1"/>
          <p:nvPr/>
        </p:nvSpPr>
        <p:spPr>
          <a:xfrm>
            <a:off x="5201966" y="2881549"/>
            <a:ext cx="564578"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UNK</a:t>
            </a:r>
          </a:p>
        </p:txBody>
      </p:sp>
      <p:sp>
        <p:nvSpPr>
          <p:cNvPr id="16" name="TextBox 15">
            <a:extLst>
              <a:ext uri="{FF2B5EF4-FFF2-40B4-BE49-F238E27FC236}">
                <a16:creationId xmlns:a16="http://schemas.microsoft.com/office/drawing/2014/main" id="{CFFDA107-8A11-524B-B4BA-559A8C275D2A}"/>
              </a:ext>
            </a:extLst>
          </p:cNvPr>
          <p:cNvSpPr txBox="1"/>
          <p:nvPr/>
        </p:nvSpPr>
        <p:spPr>
          <a:xfrm>
            <a:off x="6439026" y="2881549"/>
            <a:ext cx="564578"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UNK</a:t>
            </a:r>
          </a:p>
        </p:txBody>
      </p:sp>
      <p:sp>
        <p:nvSpPr>
          <p:cNvPr id="17" name="TextBox 16">
            <a:extLst>
              <a:ext uri="{FF2B5EF4-FFF2-40B4-BE49-F238E27FC236}">
                <a16:creationId xmlns:a16="http://schemas.microsoft.com/office/drawing/2014/main" id="{1C09537E-96DA-8844-BC17-A8A964720E27}"/>
              </a:ext>
            </a:extLst>
          </p:cNvPr>
          <p:cNvSpPr txBox="1"/>
          <p:nvPr/>
        </p:nvSpPr>
        <p:spPr>
          <a:xfrm>
            <a:off x="7789701" y="2912529"/>
            <a:ext cx="564578"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UNK</a:t>
            </a:r>
          </a:p>
        </p:txBody>
      </p:sp>
      <p:sp>
        <p:nvSpPr>
          <p:cNvPr id="18" name="TextBox 17">
            <a:extLst>
              <a:ext uri="{FF2B5EF4-FFF2-40B4-BE49-F238E27FC236}">
                <a16:creationId xmlns:a16="http://schemas.microsoft.com/office/drawing/2014/main" id="{3AE0946D-256D-F74A-8485-3187AA6B082B}"/>
              </a:ext>
            </a:extLst>
          </p:cNvPr>
          <p:cNvSpPr txBox="1"/>
          <p:nvPr/>
        </p:nvSpPr>
        <p:spPr>
          <a:xfrm>
            <a:off x="5447043" y="1028700"/>
            <a:ext cx="564578"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UNK</a:t>
            </a:r>
          </a:p>
        </p:txBody>
      </p:sp>
      <p:sp>
        <p:nvSpPr>
          <p:cNvPr id="22" name="TextBox 21">
            <a:extLst>
              <a:ext uri="{FF2B5EF4-FFF2-40B4-BE49-F238E27FC236}">
                <a16:creationId xmlns:a16="http://schemas.microsoft.com/office/drawing/2014/main" id="{9D7194FA-754B-3A41-AFF0-3E126F103D5F}"/>
              </a:ext>
            </a:extLst>
          </p:cNvPr>
          <p:cNvSpPr txBox="1"/>
          <p:nvPr/>
        </p:nvSpPr>
        <p:spPr>
          <a:xfrm>
            <a:off x="6605373" y="1791138"/>
            <a:ext cx="1324402"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CONST(10)</a:t>
            </a:r>
          </a:p>
        </p:txBody>
      </p:sp>
      <p:sp>
        <p:nvSpPr>
          <p:cNvPr id="24" name="TextBox 23">
            <a:extLst>
              <a:ext uri="{FF2B5EF4-FFF2-40B4-BE49-F238E27FC236}">
                <a16:creationId xmlns:a16="http://schemas.microsoft.com/office/drawing/2014/main" id="{61626198-E8A3-9847-85B3-613ED7B0279A}"/>
              </a:ext>
            </a:extLst>
          </p:cNvPr>
          <p:cNvSpPr txBox="1"/>
          <p:nvPr/>
        </p:nvSpPr>
        <p:spPr>
          <a:xfrm>
            <a:off x="6437321" y="2881549"/>
            <a:ext cx="1324402"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CONST(10)</a:t>
            </a:r>
          </a:p>
        </p:txBody>
      </p:sp>
      <p:sp>
        <p:nvSpPr>
          <p:cNvPr id="25" name="TextBox 24">
            <a:extLst>
              <a:ext uri="{FF2B5EF4-FFF2-40B4-BE49-F238E27FC236}">
                <a16:creationId xmlns:a16="http://schemas.microsoft.com/office/drawing/2014/main" id="{DA83DDA4-3381-334F-BFCA-6CDFD3E1E558}"/>
              </a:ext>
            </a:extLst>
          </p:cNvPr>
          <p:cNvSpPr txBox="1"/>
          <p:nvPr/>
        </p:nvSpPr>
        <p:spPr>
          <a:xfrm>
            <a:off x="7789701" y="2900931"/>
            <a:ext cx="1324402"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CONST(10)</a:t>
            </a:r>
          </a:p>
        </p:txBody>
      </p:sp>
      <p:sp>
        <p:nvSpPr>
          <p:cNvPr id="26" name="TextBox 25">
            <a:extLst>
              <a:ext uri="{FF2B5EF4-FFF2-40B4-BE49-F238E27FC236}">
                <a16:creationId xmlns:a16="http://schemas.microsoft.com/office/drawing/2014/main" id="{46CD4B17-5C3A-144A-ADCF-1964D524E5CD}"/>
              </a:ext>
            </a:extLst>
          </p:cNvPr>
          <p:cNvSpPr txBox="1"/>
          <p:nvPr/>
        </p:nvSpPr>
        <p:spPr>
          <a:xfrm>
            <a:off x="2865752" y="1876447"/>
            <a:ext cx="2849201" cy="646331"/>
          </a:xfrm>
          <a:prstGeom prst="rect">
            <a:avLst/>
          </a:prstGeom>
          <a:noFill/>
        </p:spPr>
        <p:txBody>
          <a:bodyPr wrap="square" rtlCol="0">
            <a:spAutoFit/>
          </a:bodyPr>
          <a:lstStyle/>
          <a:p>
            <a:pPr algn="ctr"/>
            <a:r>
              <a:rPr lang="en-US" sz="1800" dirty="0">
                <a:latin typeface="Consolas" panose="020B0609020204030204" pitchFamily="49" charset="0"/>
                <a:cs typeface="Consolas" panose="020B0609020204030204" pitchFamily="49" charset="0"/>
              </a:rPr>
              <a:t>join(CONST(10), UNK) </a:t>
            </a:r>
          </a:p>
          <a:p>
            <a:pPr algn="ctr"/>
            <a:r>
              <a:rPr lang="en-US" sz="1800" dirty="0">
                <a:latin typeface="Consolas" panose="020B0609020204030204" pitchFamily="49" charset="0"/>
                <a:cs typeface="Consolas" panose="020B0609020204030204" pitchFamily="49" charset="0"/>
              </a:rPr>
              <a:t>= CONST(10)</a:t>
            </a:r>
          </a:p>
        </p:txBody>
      </p:sp>
      <p:sp>
        <p:nvSpPr>
          <p:cNvPr id="27" name="TextBox 26">
            <a:extLst>
              <a:ext uri="{FF2B5EF4-FFF2-40B4-BE49-F238E27FC236}">
                <a16:creationId xmlns:a16="http://schemas.microsoft.com/office/drawing/2014/main" id="{089D00D4-5AD0-6F46-990B-DC1A3716B841}"/>
              </a:ext>
            </a:extLst>
          </p:cNvPr>
          <p:cNvSpPr txBox="1"/>
          <p:nvPr/>
        </p:nvSpPr>
        <p:spPr>
          <a:xfrm>
            <a:off x="4500817" y="2865515"/>
            <a:ext cx="1324402"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CONST(20)</a:t>
            </a:r>
          </a:p>
        </p:txBody>
      </p:sp>
      <p:sp>
        <p:nvSpPr>
          <p:cNvPr id="28" name="TextBox 27">
            <a:extLst>
              <a:ext uri="{FF2B5EF4-FFF2-40B4-BE49-F238E27FC236}">
                <a16:creationId xmlns:a16="http://schemas.microsoft.com/office/drawing/2014/main" id="{23E44EB9-B680-2149-9726-B0D92D9ABCB2}"/>
              </a:ext>
            </a:extLst>
          </p:cNvPr>
          <p:cNvSpPr txBox="1"/>
          <p:nvPr/>
        </p:nvSpPr>
        <p:spPr>
          <a:xfrm>
            <a:off x="2514600" y="1876447"/>
            <a:ext cx="3551503" cy="646331"/>
          </a:xfrm>
          <a:prstGeom prst="rect">
            <a:avLst/>
          </a:prstGeom>
          <a:noFill/>
        </p:spPr>
        <p:txBody>
          <a:bodyPr wrap="square" rtlCol="0">
            <a:spAutoFit/>
          </a:bodyPr>
          <a:lstStyle/>
          <a:p>
            <a:pPr algn="ctr"/>
            <a:r>
              <a:rPr lang="en-US" sz="1800" dirty="0">
                <a:latin typeface="Consolas" panose="020B0609020204030204" pitchFamily="49" charset="0"/>
                <a:cs typeface="Consolas" panose="020B0609020204030204" pitchFamily="49" charset="0"/>
              </a:rPr>
              <a:t>join(CONST(10), CONST(20)) </a:t>
            </a:r>
          </a:p>
          <a:p>
            <a:pPr algn="ctr"/>
            <a:r>
              <a:rPr lang="en-US" sz="1800" dirty="0">
                <a:latin typeface="Consolas" panose="020B0609020204030204" pitchFamily="49" charset="0"/>
                <a:cs typeface="Consolas" panose="020B0609020204030204" pitchFamily="49" charset="0"/>
              </a:rPr>
              <a:t>= ANY</a:t>
            </a:r>
          </a:p>
        </p:txBody>
      </p:sp>
      <p:sp>
        <p:nvSpPr>
          <p:cNvPr id="31" name="TextBox 30">
            <a:extLst>
              <a:ext uri="{FF2B5EF4-FFF2-40B4-BE49-F238E27FC236}">
                <a16:creationId xmlns:a16="http://schemas.microsoft.com/office/drawing/2014/main" id="{31D858B9-C9F4-E94C-9D28-EB93ECFE8DE0}"/>
              </a:ext>
            </a:extLst>
          </p:cNvPr>
          <p:cNvSpPr txBox="1"/>
          <p:nvPr/>
        </p:nvSpPr>
        <p:spPr>
          <a:xfrm>
            <a:off x="6448534" y="2893147"/>
            <a:ext cx="564578"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ANY</a:t>
            </a:r>
          </a:p>
        </p:txBody>
      </p:sp>
      <p:sp>
        <p:nvSpPr>
          <p:cNvPr id="32" name="TextBox 31">
            <a:extLst>
              <a:ext uri="{FF2B5EF4-FFF2-40B4-BE49-F238E27FC236}">
                <a16:creationId xmlns:a16="http://schemas.microsoft.com/office/drawing/2014/main" id="{029D75A9-6386-BB45-B991-4F003C55C596}"/>
              </a:ext>
            </a:extLst>
          </p:cNvPr>
          <p:cNvSpPr txBox="1"/>
          <p:nvPr/>
        </p:nvSpPr>
        <p:spPr>
          <a:xfrm>
            <a:off x="7800914" y="2912529"/>
            <a:ext cx="564578"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ANY</a:t>
            </a:r>
          </a:p>
        </p:txBody>
      </p:sp>
      <p:sp>
        <p:nvSpPr>
          <p:cNvPr id="33" name="TextBox 32">
            <a:extLst>
              <a:ext uri="{FF2B5EF4-FFF2-40B4-BE49-F238E27FC236}">
                <a16:creationId xmlns:a16="http://schemas.microsoft.com/office/drawing/2014/main" id="{EB8DA9B1-EF31-6844-82B1-A1825474898F}"/>
              </a:ext>
            </a:extLst>
          </p:cNvPr>
          <p:cNvSpPr txBox="1"/>
          <p:nvPr/>
        </p:nvSpPr>
        <p:spPr>
          <a:xfrm>
            <a:off x="217313" y="2710089"/>
            <a:ext cx="4455971" cy="1446550"/>
          </a:xfrm>
          <a:prstGeom prst="rect">
            <a:avLst/>
          </a:prstGeom>
          <a:noFill/>
        </p:spPr>
        <p:txBody>
          <a:bodyPr wrap="square" rtlCol="0">
            <a:spAutoFit/>
          </a:bodyPr>
          <a:lstStyle/>
          <a:p>
            <a:pPr algn="ctr"/>
            <a:r>
              <a:rPr lang="en-US" sz="2200" b="1" dirty="0"/>
              <a:t>what happened?</a:t>
            </a:r>
            <a:r>
              <a:rPr lang="en-US" sz="2200" dirty="0"/>
              <a:t> well, it determined that at the start of the </a:t>
            </a:r>
            <a:r>
              <a:rPr lang="en-US" sz="2200" dirty="0">
                <a:solidFill>
                  <a:schemeClr val="accent6">
                    <a:lumMod val="75000"/>
                  </a:schemeClr>
                </a:solidFill>
              </a:rPr>
              <a:t>orange BB</a:t>
            </a:r>
            <a:r>
              <a:rPr lang="en-US" sz="2200" dirty="0"/>
              <a:t>, </a:t>
            </a:r>
            <a:r>
              <a:rPr lang="en-US" sz="2200" b="1" dirty="0">
                <a:latin typeface="Consolas" panose="020B0609020204030204" pitchFamily="49" charset="0"/>
                <a:cs typeface="Consolas" panose="020B0609020204030204" pitchFamily="49" charset="0"/>
              </a:rPr>
              <a:t>x</a:t>
            </a:r>
            <a:r>
              <a:rPr lang="en-US" sz="2200" dirty="0"/>
              <a:t> </a:t>
            </a:r>
            <a:r>
              <a:rPr lang="en-US" sz="2200" i="1" dirty="0"/>
              <a:t>could</a:t>
            </a:r>
            <a:r>
              <a:rPr lang="en-US" sz="2200" dirty="0"/>
              <a:t> be 10 or 20. so it assumes it's </a:t>
            </a:r>
            <a:r>
              <a:rPr lang="en-US" sz="2200" b="1" dirty="0">
                <a:latin typeface="Consolas" panose="020B0609020204030204" pitchFamily="49" charset="0"/>
                <a:cs typeface="Consolas" panose="020B0609020204030204" pitchFamily="49" charset="0"/>
              </a:rPr>
              <a:t>ANY</a:t>
            </a:r>
            <a:r>
              <a:rPr lang="en-US" sz="2200" dirty="0"/>
              <a:t> from then on.</a:t>
            </a:r>
            <a:endParaRPr lang="en-US" sz="2200" b="1" dirty="0">
              <a:solidFill>
                <a:schemeClr val="accent6">
                  <a:lumMod val="75000"/>
                </a:schemeClr>
              </a:solidFill>
              <a:latin typeface="Consolas" panose="020B0609020204030204" pitchFamily="49" charset="0"/>
              <a:cs typeface="Consolas" panose="020B0609020204030204" pitchFamily="49" charset="0"/>
            </a:endParaRPr>
          </a:p>
        </p:txBody>
      </p:sp>
      <p:sp>
        <p:nvSpPr>
          <p:cNvPr id="34" name="TextBox 33">
            <a:extLst>
              <a:ext uri="{FF2B5EF4-FFF2-40B4-BE49-F238E27FC236}">
                <a16:creationId xmlns:a16="http://schemas.microsoft.com/office/drawing/2014/main" id="{DA51ECA7-B112-0D4B-8469-087C07F1D963}"/>
              </a:ext>
            </a:extLst>
          </p:cNvPr>
          <p:cNvSpPr txBox="1"/>
          <p:nvPr/>
        </p:nvSpPr>
        <p:spPr>
          <a:xfrm>
            <a:off x="965216" y="4265966"/>
            <a:ext cx="5027662" cy="1107996"/>
          </a:xfrm>
          <a:prstGeom prst="rect">
            <a:avLst/>
          </a:prstGeom>
          <a:noFill/>
        </p:spPr>
        <p:txBody>
          <a:bodyPr wrap="square" rtlCol="0">
            <a:spAutoFit/>
          </a:bodyPr>
          <a:lstStyle/>
          <a:p>
            <a:pPr algn="ctr"/>
            <a:r>
              <a:rPr lang="en-US" sz="2200" dirty="0"/>
              <a:t>the algorithm doesn't know that this loop always runs. it doesn't know anything about loops at all!</a:t>
            </a:r>
            <a:endParaRPr lang="en-US" sz="2200" b="1" dirty="0">
              <a:solidFill>
                <a:schemeClr val="accent6">
                  <a:lumMod val="75000"/>
                </a:schemeClr>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9461195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xit" presetSubtype="0" fill="hold" grpId="1" nodeType="withEffect">
                                  <p:stCondLst>
                                    <p:cond delay="0"/>
                                  </p:stCondLst>
                                  <p:childTnLst>
                                    <p:set>
                                      <p:cBhvr>
                                        <p:cTn id="22" dur="1" fill="hold">
                                          <p:stCondLst>
                                            <p:cond delay="0"/>
                                          </p:stCondLst>
                                        </p:cTn>
                                        <p:tgtEl>
                                          <p:spTgt spid="1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16"/>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xit" presetSubtype="0" fill="hold" grpId="1" nodeType="withEffect">
                                  <p:stCondLst>
                                    <p:cond delay="0"/>
                                  </p:stCondLst>
                                  <p:childTnLst>
                                    <p:set>
                                      <p:cBhvr>
                                        <p:cTn id="36" dur="1" fill="hold">
                                          <p:stCondLst>
                                            <p:cond delay="0"/>
                                          </p:stCondLst>
                                        </p:cTn>
                                        <p:tgtEl>
                                          <p:spTgt spid="17"/>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26"/>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15"/>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par>
                                <p:cTn id="55" presetID="1" presetClass="exit" presetSubtype="0" fill="hold" grpId="1" nodeType="withEffect">
                                  <p:stCondLst>
                                    <p:cond delay="0"/>
                                  </p:stCondLst>
                                  <p:childTnLst>
                                    <p:set>
                                      <p:cBhvr>
                                        <p:cTn id="56" dur="1" fill="hold">
                                          <p:stCondLst>
                                            <p:cond delay="0"/>
                                          </p:stCondLst>
                                        </p:cTn>
                                        <p:tgtEl>
                                          <p:spTgt spid="24"/>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25"/>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28"/>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5" grpId="0"/>
      <p:bldP spid="15" grpId="1"/>
      <p:bldP spid="16" grpId="0"/>
      <p:bldP spid="16" grpId="1"/>
      <p:bldP spid="17" grpId="0"/>
      <p:bldP spid="17" grpId="1"/>
      <p:bldP spid="18" grpId="0"/>
      <p:bldP spid="22" grpId="0"/>
      <p:bldP spid="24" grpId="0"/>
      <p:bldP spid="24" grpId="1"/>
      <p:bldP spid="25" grpId="0"/>
      <p:bldP spid="25" grpId="1"/>
      <p:bldP spid="26" grpId="0"/>
      <p:bldP spid="26" grpId="1"/>
      <p:bldP spid="27" grpId="0"/>
      <p:bldP spid="28" grpId="0"/>
      <p:bldP spid="28" grpId="1"/>
      <p:bldP spid="31" grpId="0"/>
      <p:bldP spid="32" grpId="0"/>
      <p:bldP spid="33" grpId="0"/>
      <p:bldP spid="3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178C0-6BCD-DF48-89C4-3E7ABC5488CA}"/>
              </a:ext>
            </a:extLst>
          </p:cNvPr>
          <p:cNvSpPr>
            <a:spLocks noGrp="1"/>
          </p:cNvSpPr>
          <p:nvPr>
            <p:ph type="title"/>
          </p:nvPr>
        </p:nvSpPr>
        <p:spPr/>
        <p:txBody>
          <a:bodyPr/>
          <a:lstStyle/>
          <a:p>
            <a:r>
              <a:rPr lang="en-US" dirty="0"/>
              <a:t>It never hurts to </a:t>
            </a:r>
            <a:r>
              <a:rPr lang="en-US" i="1" dirty="0"/>
              <a:t>not</a:t>
            </a:r>
            <a:r>
              <a:rPr lang="en-US" dirty="0"/>
              <a:t> optimize</a:t>
            </a:r>
          </a:p>
        </p:txBody>
      </p:sp>
      <p:sp>
        <p:nvSpPr>
          <p:cNvPr id="3" name="Content Placeholder 2">
            <a:extLst>
              <a:ext uri="{FF2B5EF4-FFF2-40B4-BE49-F238E27FC236}">
                <a16:creationId xmlns:a16="http://schemas.microsoft.com/office/drawing/2014/main" id="{64A03773-0765-B44E-BD2B-3EAF3740B28C}"/>
              </a:ext>
            </a:extLst>
          </p:cNvPr>
          <p:cNvSpPr>
            <a:spLocks noGrp="1"/>
          </p:cNvSpPr>
          <p:nvPr>
            <p:ph idx="1"/>
          </p:nvPr>
        </p:nvSpPr>
        <p:spPr/>
        <p:txBody>
          <a:bodyPr/>
          <a:lstStyle/>
          <a:p>
            <a:r>
              <a:rPr lang="en-US" dirty="0"/>
              <a:t>the example on the previous slide is an example of the algorithm being a little cautious.</a:t>
            </a:r>
          </a:p>
          <a:p>
            <a:pPr lvl="1"/>
            <a:r>
              <a:rPr lang="en-US" dirty="0"/>
              <a:t>yeah, </a:t>
            </a:r>
            <a:r>
              <a:rPr lang="en-US" i="1" dirty="0"/>
              <a:t>we</a:t>
            </a:r>
            <a:r>
              <a:rPr lang="en-US" dirty="0"/>
              <a:t> can see that </a:t>
            </a:r>
            <a:r>
              <a:rPr lang="en-US" b="1" dirty="0">
                <a:latin typeface="Consolas" panose="020B0609020204030204" pitchFamily="49" charset="0"/>
                <a:cs typeface="Consolas" panose="020B0609020204030204" pitchFamily="49" charset="0"/>
              </a:rPr>
              <a:t>x = </a:t>
            </a:r>
            <a:r>
              <a:rPr lang="en-US" b="1" dirty="0">
                <a:solidFill>
                  <a:schemeClr val="accent3">
                    <a:lumMod val="75000"/>
                  </a:schemeClr>
                </a:solidFill>
                <a:latin typeface="Consolas" panose="020B0609020204030204" pitchFamily="49" charset="0"/>
                <a:cs typeface="Consolas" panose="020B0609020204030204" pitchFamily="49" charset="0"/>
              </a:rPr>
              <a:t>20</a:t>
            </a:r>
            <a:r>
              <a:rPr lang="en-US" dirty="0"/>
              <a:t> at the </a:t>
            </a:r>
            <a:r>
              <a:rPr lang="en-US" b="1" dirty="0">
                <a:solidFill>
                  <a:srgbClr val="FF0000"/>
                </a:solidFill>
                <a:latin typeface="Consolas" panose="020B0609020204030204" pitchFamily="49" charset="0"/>
                <a:cs typeface="Consolas" panose="020B0609020204030204" pitchFamily="49" charset="0"/>
              </a:rPr>
              <a:t>return</a:t>
            </a:r>
            <a:r>
              <a:rPr lang="en-US" dirty="0"/>
              <a:t>, but </a:t>
            </a:r>
            <a:r>
              <a:rPr lang="en-US" b="1" dirty="0"/>
              <a:t>that wouldn't be true if the loop never ran!</a:t>
            </a:r>
          </a:p>
          <a:p>
            <a:pPr lvl="1"/>
            <a:r>
              <a:rPr lang="en-US" dirty="0"/>
              <a:t>consider a slight modification where the loop upper bound is an argument – in that case, the loop may run 0 times.</a:t>
            </a:r>
          </a:p>
          <a:p>
            <a:r>
              <a:rPr lang="en-US" dirty="0"/>
              <a:t>what you </a:t>
            </a:r>
            <a:r>
              <a:rPr lang="en-US" i="1" dirty="0"/>
              <a:t>don't</a:t>
            </a:r>
            <a:r>
              <a:rPr lang="en-US" dirty="0"/>
              <a:t> want is for your algorithm to </a:t>
            </a:r>
            <a:r>
              <a:rPr lang="en-US" b="1" dirty="0"/>
              <a:t>optimize in a situation where it shouldn't.</a:t>
            </a:r>
          </a:p>
          <a:p>
            <a:pPr lvl="1"/>
            <a:r>
              <a:rPr lang="en-US" dirty="0"/>
              <a:t>cause that's a broken proof, and you'll get a broken program.</a:t>
            </a:r>
          </a:p>
          <a:p>
            <a:r>
              <a:rPr lang="en-US" dirty="0"/>
              <a:t>sometimes an optimization pass won't find anything to do.</a:t>
            </a:r>
          </a:p>
          <a:p>
            <a:pPr lvl="1"/>
            <a:r>
              <a:rPr lang="en-US" dirty="0"/>
              <a:t>that's okay. there's no judgment. it can't know until it tries.</a:t>
            </a:r>
          </a:p>
          <a:p>
            <a:r>
              <a:rPr lang="en-US" dirty="0"/>
              <a:t>and if it doesn't optimize anything, you'll still have a correct program.</a:t>
            </a:r>
          </a:p>
        </p:txBody>
      </p:sp>
      <p:sp>
        <p:nvSpPr>
          <p:cNvPr id="4" name="Slide Number Placeholder 3">
            <a:extLst>
              <a:ext uri="{FF2B5EF4-FFF2-40B4-BE49-F238E27FC236}">
                <a16:creationId xmlns:a16="http://schemas.microsoft.com/office/drawing/2014/main" id="{BB3D27AA-2884-B547-9364-D28943528F53}"/>
              </a:ext>
            </a:extLst>
          </p:cNvPr>
          <p:cNvSpPr>
            <a:spLocks noGrp="1"/>
          </p:cNvSpPr>
          <p:nvPr>
            <p:ph type="sldNum" sz="quarter" idx="12"/>
          </p:nvPr>
        </p:nvSpPr>
        <p:spPr/>
        <p:txBody>
          <a:bodyPr/>
          <a:lstStyle/>
          <a:p>
            <a:fld id="{3552B95B-556F-44BD-91A5-D80C1B9E2BB3}" type="slidenum">
              <a:rPr lang="en-US" smtClean="0"/>
              <a:pPr/>
              <a:t>33</a:t>
            </a:fld>
            <a:endParaRPr lang="en-US"/>
          </a:p>
        </p:txBody>
      </p:sp>
    </p:spTree>
    <p:extLst>
      <p:ext uri="{BB962C8B-B14F-4D97-AF65-F5344CB8AC3E}">
        <p14:creationId xmlns:p14="http://schemas.microsoft.com/office/powerpoint/2010/main" val="282185115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4BF08-158C-E74C-BC22-DE5B56E90141}"/>
              </a:ext>
            </a:extLst>
          </p:cNvPr>
          <p:cNvSpPr>
            <a:spLocks noGrp="1"/>
          </p:cNvSpPr>
          <p:nvPr>
            <p:ph type="title"/>
          </p:nvPr>
        </p:nvSpPr>
        <p:spPr/>
        <p:txBody>
          <a:bodyPr/>
          <a:lstStyle/>
          <a:p>
            <a:r>
              <a:rPr lang="en-US" dirty="0"/>
              <a:t>Summing it up</a:t>
            </a:r>
          </a:p>
        </p:txBody>
      </p:sp>
      <p:sp>
        <p:nvSpPr>
          <p:cNvPr id="3" name="Content Placeholder 2">
            <a:extLst>
              <a:ext uri="{FF2B5EF4-FFF2-40B4-BE49-F238E27FC236}">
                <a16:creationId xmlns:a16="http://schemas.microsoft.com/office/drawing/2014/main" id="{853DE104-C6B8-CF49-9C29-7FC59992469D}"/>
              </a:ext>
            </a:extLst>
          </p:cNvPr>
          <p:cNvSpPr>
            <a:spLocks noGrp="1"/>
          </p:cNvSpPr>
          <p:nvPr>
            <p:ph idx="1"/>
          </p:nvPr>
        </p:nvSpPr>
        <p:spPr>
          <a:xfrm>
            <a:off x="152400" y="495301"/>
            <a:ext cx="8991600" cy="495301"/>
          </a:xfrm>
        </p:spPr>
        <p:txBody>
          <a:bodyPr/>
          <a:lstStyle/>
          <a:p>
            <a:r>
              <a:rPr lang="en-US" dirty="0"/>
              <a:t>to recap how dataflow analysis works:</a:t>
            </a:r>
          </a:p>
        </p:txBody>
      </p:sp>
      <p:sp>
        <p:nvSpPr>
          <p:cNvPr id="4" name="Slide Number Placeholder 3">
            <a:extLst>
              <a:ext uri="{FF2B5EF4-FFF2-40B4-BE49-F238E27FC236}">
                <a16:creationId xmlns:a16="http://schemas.microsoft.com/office/drawing/2014/main" id="{9F0DB29F-EAFE-2C44-A689-40854F40F550}"/>
              </a:ext>
            </a:extLst>
          </p:cNvPr>
          <p:cNvSpPr>
            <a:spLocks noGrp="1"/>
          </p:cNvSpPr>
          <p:nvPr>
            <p:ph type="sldNum" sz="quarter" idx="12"/>
          </p:nvPr>
        </p:nvSpPr>
        <p:spPr/>
        <p:txBody>
          <a:bodyPr/>
          <a:lstStyle/>
          <a:p>
            <a:fld id="{3552B95B-556F-44BD-91A5-D80C1B9E2BB3}" type="slidenum">
              <a:rPr lang="en-US" smtClean="0"/>
              <a:pPr/>
              <a:t>34</a:t>
            </a:fld>
            <a:endParaRPr lang="en-US"/>
          </a:p>
        </p:txBody>
      </p:sp>
      <p:sp>
        <p:nvSpPr>
          <p:cNvPr id="5" name="TextBox 4">
            <a:extLst>
              <a:ext uri="{FF2B5EF4-FFF2-40B4-BE49-F238E27FC236}">
                <a16:creationId xmlns:a16="http://schemas.microsoft.com/office/drawing/2014/main" id="{7A7AA717-9B13-7D43-8AB0-7698C157C5E4}"/>
              </a:ext>
            </a:extLst>
          </p:cNvPr>
          <p:cNvSpPr txBox="1"/>
          <p:nvPr/>
        </p:nvSpPr>
        <p:spPr>
          <a:xfrm>
            <a:off x="3879440" y="2460956"/>
            <a:ext cx="1122096" cy="1569660"/>
          </a:xfrm>
          <a:prstGeom prst="rect">
            <a:avLst/>
          </a:prstGeom>
          <a:solidFill>
            <a:schemeClr val="accent1">
              <a:lumMod val="40000"/>
              <a:lumOff val="60000"/>
            </a:schemeClr>
          </a:solidFill>
        </p:spPr>
        <p:txBody>
          <a:bodyPr wrap="square" rtlCol="0">
            <a:spAutoFit/>
          </a:bodyPr>
          <a:lstStyle/>
          <a:p>
            <a:r>
              <a:rPr lang="en-US" sz="1600" b="1" dirty="0">
                <a:latin typeface="Consolas" panose="020B0609020204030204" pitchFamily="49" charset="0"/>
                <a:cs typeface="Consolas" panose="020B0609020204030204" pitchFamily="49" charset="0"/>
              </a:rPr>
              <a:t>inst1</a:t>
            </a:r>
          </a:p>
          <a:p>
            <a:r>
              <a:rPr lang="en-US" sz="1600" b="1" dirty="0">
                <a:latin typeface="Consolas" panose="020B0609020204030204" pitchFamily="49" charset="0"/>
                <a:cs typeface="Consolas" panose="020B0609020204030204" pitchFamily="49" charset="0"/>
              </a:rPr>
              <a:t>inst2</a:t>
            </a:r>
          </a:p>
          <a:p>
            <a:r>
              <a:rPr lang="en-US" sz="1600" b="1" dirty="0">
                <a:latin typeface="Consolas" panose="020B0609020204030204" pitchFamily="49" charset="0"/>
                <a:cs typeface="Consolas" panose="020B0609020204030204" pitchFamily="49" charset="0"/>
              </a:rPr>
              <a:t>inst3</a:t>
            </a:r>
          </a:p>
          <a:p>
            <a:r>
              <a:rPr lang="en-US" sz="1600" b="1" dirty="0">
                <a:latin typeface="Consolas" panose="020B0609020204030204" pitchFamily="49" charset="0"/>
                <a:cs typeface="Consolas" panose="020B0609020204030204" pitchFamily="49" charset="0"/>
              </a:rPr>
              <a:t>inst4</a:t>
            </a:r>
          </a:p>
          <a:p>
            <a:r>
              <a:rPr lang="en-US" sz="1600" b="1" dirty="0">
                <a:latin typeface="Consolas" panose="020B0609020204030204" pitchFamily="49" charset="0"/>
                <a:cs typeface="Consolas" panose="020B0609020204030204" pitchFamily="49" charset="0"/>
              </a:rPr>
              <a:t>inst5</a:t>
            </a:r>
          </a:p>
          <a:p>
            <a:r>
              <a:rPr lang="en-US" sz="1600" b="1" dirty="0" err="1">
                <a:solidFill>
                  <a:srgbClr val="FF0000"/>
                </a:solidFill>
                <a:latin typeface="Consolas" panose="020B0609020204030204" pitchFamily="49" charset="0"/>
                <a:cs typeface="Consolas" panose="020B0609020204030204" pitchFamily="49" charset="0"/>
              </a:rPr>
              <a:t>goto</a:t>
            </a:r>
            <a:r>
              <a:rPr lang="en-US" sz="1600" b="1" dirty="0">
                <a:latin typeface="Consolas" panose="020B0609020204030204" pitchFamily="49" charset="0"/>
                <a:cs typeface="Consolas" panose="020B0609020204030204" pitchFamily="49" charset="0"/>
              </a:rPr>
              <a:t> bb2</a:t>
            </a:r>
          </a:p>
        </p:txBody>
      </p:sp>
      <p:sp>
        <p:nvSpPr>
          <p:cNvPr id="6" name="TextBox 5">
            <a:extLst>
              <a:ext uri="{FF2B5EF4-FFF2-40B4-BE49-F238E27FC236}">
                <a16:creationId xmlns:a16="http://schemas.microsoft.com/office/drawing/2014/main" id="{09B0A28A-F558-6642-895B-F3FE709A36B5}"/>
              </a:ext>
            </a:extLst>
          </p:cNvPr>
          <p:cNvSpPr txBox="1"/>
          <p:nvPr/>
        </p:nvSpPr>
        <p:spPr>
          <a:xfrm>
            <a:off x="3003140" y="1556079"/>
            <a:ext cx="2209800" cy="338554"/>
          </a:xfrm>
          <a:prstGeom prst="rect">
            <a:avLst/>
          </a:prstGeom>
          <a:solidFill>
            <a:schemeClr val="accent3">
              <a:lumMod val="40000"/>
              <a:lumOff val="60000"/>
            </a:schemeClr>
          </a:solidFill>
        </p:spPr>
        <p:txBody>
          <a:bodyPr wrap="square" rtlCol="0">
            <a:spAutoFit/>
          </a:bodyPr>
          <a:lstStyle/>
          <a:p>
            <a:pPr algn="ctr"/>
            <a:r>
              <a:rPr lang="en-US" sz="1600" i="1" dirty="0">
                <a:latin typeface="Consolas" panose="020B0609020204030204" pitchFamily="49" charset="0"/>
                <a:cs typeface="Consolas" panose="020B0609020204030204" pitchFamily="49" charset="0"/>
              </a:rPr>
              <a:t>join(p1, p2, p3)</a:t>
            </a:r>
          </a:p>
        </p:txBody>
      </p:sp>
      <p:cxnSp>
        <p:nvCxnSpPr>
          <p:cNvPr id="8" name="Straight Arrow Connector 7">
            <a:extLst>
              <a:ext uri="{FF2B5EF4-FFF2-40B4-BE49-F238E27FC236}">
                <a16:creationId xmlns:a16="http://schemas.microsoft.com/office/drawing/2014/main" id="{DBB438E9-D802-014C-B988-E67D29268864}"/>
              </a:ext>
            </a:extLst>
          </p:cNvPr>
          <p:cNvCxnSpPr>
            <a:cxnSpLocks/>
          </p:cNvCxnSpPr>
          <p:nvPr/>
        </p:nvCxnSpPr>
        <p:spPr>
          <a:xfrm>
            <a:off x="4108040" y="1894633"/>
            <a:ext cx="0" cy="5663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Arc 10">
            <a:extLst>
              <a:ext uri="{FF2B5EF4-FFF2-40B4-BE49-F238E27FC236}">
                <a16:creationId xmlns:a16="http://schemas.microsoft.com/office/drawing/2014/main" id="{5A89D304-AD4B-3C46-9134-A299CE482034}"/>
              </a:ext>
            </a:extLst>
          </p:cNvPr>
          <p:cNvSpPr/>
          <p:nvPr/>
        </p:nvSpPr>
        <p:spPr>
          <a:xfrm flipH="1">
            <a:off x="3714749" y="2509394"/>
            <a:ext cx="355805" cy="204309"/>
          </a:xfrm>
          <a:prstGeom prst="arc">
            <a:avLst>
              <a:gd name="adj1" fmla="val 16200000"/>
              <a:gd name="adj2" fmla="val 5439158"/>
            </a:avLst>
          </a:prstGeom>
          <a:ln w="38100">
            <a:solidFill>
              <a:srgbClr val="00B05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Arc 14">
            <a:extLst>
              <a:ext uri="{FF2B5EF4-FFF2-40B4-BE49-F238E27FC236}">
                <a16:creationId xmlns:a16="http://schemas.microsoft.com/office/drawing/2014/main" id="{622F15CE-36AE-C844-9E2B-9E2565DA4401}"/>
              </a:ext>
            </a:extLst>
          </p:cNvPr>
          <p:cNvSpPr/>
          <p:nvPr/>
        </p:nvSpPr>
        <p:spPr>
          <a:xfrm flipH="1">
            <a:off x="3714749" y="2758207"/>
            <a:ext cx="355805" cy="204309"/>
          </a:xfrm>
          <a:prstGeom prst="arc">
            <a:avLst>
              <a:gd name="adj1" fmla="val 16200000"/>
              <a:gd name="adj2" fmla="val 5439158"/>
            </a:avLst>
          </a:prstGeom>
          <a:ln w="38100">
            <a:solidFill>
              <a:srgbClr val="00B05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146A6F38-5D06-E641-BBB7-7E0ACF901F40}"/>
              </a:ext>
            </a:extLst>
          </p:cNvPr>
          <p:cNvSpPr/>
          <p:nvPr/>
        </p:nvSpPr>
        <p:spPr>
          <a:xfrm flipH="1">
            <a:off x="3714749" y="3007020"/>
            <a:ext cx="355805" cy="204309"/>
          </a:xfrm>
          <a:prstGeom prst="arc">
            <a:avLst>
              <a:gd name="adj1" fmla="val 16200000"/>
              <a:gd name="adj2" fmla="val 5439158"/>
            </a:avLst>
          </a:prstGeom>
          <a:ln w="38100">
            <a:solidFill>
              <a:srgbClr val="00B05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Arc 17">
            <a:extLst>
              <a:ext uri="{FF2B5EF4-FFF2-40B4-BE49-F238E27FC236}">
                <a16:creationId xmlns:a16="http://schemas.microsoft.com/office/drawing/2014/main" id="{AF2C4756-A0A6-E842-9BBD-EDA1F7263ACA}"/>
              </a:ext>
            </a:extLst>
          </p:cNvPr>
          <p:cNvSpPr/>
          <p:nvPr/>
        </p:nvSpPr>
        <p:spPr>
          <a:xfrm flipH="1">
            <a:off x="3714749" y="3255833"/>
            <a:ext cx="355805" cy="204309"/>
          </a:xfrm>
          <a:prstGeom prst="arc">
            <a:avLst>
              <a:gd name="adj1" fmla="val 16200000"/>
              <a:gd name="adj2" fmla="val 5439158"/>
            </a:avLst>
          </a:prstGeom>
          <a:ln w="38100">
            <a:solidFill>
              <a:srgbClr val="00B05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Arc 18">
            <a:extLst>
              <a:ext uri="{FF2B5EF4-FFF2-40B4-BE49-F238E27FC236}">
                <a16:creationId xmlns:a16="http://schemas.microsoft.com/office/drawing/2014/main" id="{D1DBAB36-591B-A54F-91F6-5D32DA64C7CA}"/>
              </a:ext>
            </a:extLst>
          </p:cNvPr>
          <p:cNvSpPr/>
          <p:nvPr/>
        </p:nvSpPr>
        <p:spPr>
          <a:xfrm flipH="1">
            <a:off x="3714749" y="3504646"/>
            <a:ext cx="355805" cy="204309"/>
          </a:xfrm>
          <a:prstGeom prst="arc">
            <a:avLst>
              <a:gd name="adj1" fmla="val 16200000"/>
              <a:gd name="adj2" fmla="val 5439158"/>
            </a:avLst>
          </a:prstGeom>
          <a:ln w="38100">
            <a:solidFill>
              <a:srgbClr val="00B05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Arc 20">
            <a:extLst>
              <a:ext uri="{FF2B5EF4-FFF2-40B4-BE49-F238E27FC236}">
                <a16:creationId xmlns:a16="http://schemas.microsoft.com/office/drawing/2014/main" id="{9F963869-AFFD-5944-A1EE-8312FF7CA835}"/>
              </a:ext>
            </a:extLst>
          </p:cNvPr>
          <p:cNvSpPr/>
          <p:nvPr/>
        </p:nvSpPr>
        <p:spPr>
          <a:xfrm flipH="1">
            <a:off x="3315877" y="2476162"/>
            <a:ext cx="1141806" cy="1569661"/>
          </a:xfrm>
          <a:prstGeom prst="arc">
            <a:avLst>
              <a:gd name="adj1" fmla="val 16200000"/>
              <a:gd name="adj2" fmla="val 5439158"/>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1207620E-D4BE-3E49-8F17-B5F8C3F98AA8}"/>
              </a:ext>
            </a:extLst>
          </p:cNvPr>
          <p:cNvCxnSpPr>
            <a:cxnSpLocks/>
          </p:cNvCxnSpPr>
          <p:nvPr/>
        </p:nvCxnSpPr>
        <p:spPr>
          <a:xfrm>
            <a:off x="4098515" y="4030616"/>
            <a:ext cx="0" cy="5663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4587971-9B4A-C741-976B-0103F7312C8D}"/>
              </a:ext>
            </a:extLst>
          </p:cNvPr>
          <p:cNvCxnSpPr>
            <a:cxnSpLocks/>
          </p:cNvCxnSpPr>
          <p:nvPr/>
        </p:nvCxnSpPr>
        <p:spPr>
          <a:xfrm>
            <a:off x="3315877" y="1161212"/>
            <a:ext cx="398873" cy="39486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81C6475-F134-034F-AF16-494DB0A3AE3E}"/>
              </a:ext>
            </a:extLst>
          </p:cNvPr>
          <p:cNvCxnSpPr>
            <a:cxnSpLocks/>
          </p:cNvCxnSpPr>
          <p:nvPr/>
        </p:nvCxnSpPr>
        <p:spPr>
          <a:xfrm>
            <a:off x="4108040" y="1133056"/>
            <a:ext cx="0" cy="4230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4EAD4CC-4966-F741-80F2-CD3A052B294C}"/>
              </a:ext>
            </a:extLst>
          </p:cNvPr>
          <p:cNvCxnSpPr>
            <a:cxnSpLocks/>
          </p:cNvCxnSpPr>
          <p:nvPr/>
        </p:nvCxnSpPr>
        <p:spPr>
          <a:xfrm flipH="1">
            <a:off x="4565240" y="1104900"/>
            <a:ext cx="334963" cy="45117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34D289A-92BE-7147-A4CE-0B9E5209AF99}"/>
              </a:ext>
            </a:extLst>
          </p:cNvPr>
          <p:cNvSpPr txBox="1"/>
          <p:nvPr/>
        </p:nvSpPr>
        <p:spPr>
          <a:xfrm>
            <a:off x="4221072" y="1993128"/>
            <a:ext cx="1010918" cy="369332"/>
          </a:xfrm>
          <a:prstGeom prst="rect">
            <a:avLst/>
          </a:prstGeom>
          <a:noFill/>
        </p:spPr>
        <p:txBody>
          <a:bodyPr wrap="none" rtlCol="0">
            <a:spAutoFit/>
          </a:bodyPr>
          <a:lstStyle/>
          <a:p>
            <a:r>
              <a:rPr lang="en-US" sz="1800" b="1" dirty="0"/>
              <a:t>in-state</a:t>
            </a:r>
          </a:p>
        </p:txBody>
      </p:sp>
      <p:sp>
        <p:nvSpPr>
          <p:cNvPr id="34" name="TextBox 33">
            <a:extLst>
              <a:ext uri="{FF2B5EF4-FFF2-40B4-BE49-F238E27FC236}">
                <a16:creationId xmlns:a16="http://schemas.microsoft.com/office/drawing/2014/main" id="{C4C9565F-766B-1B41-9542-938004683F68}"/>
              </a:ext>
            </a:extLst>
          </p:cNvPr>
          <p:cNvSpPr txBox="1"/>
          <p:nvPr/>
        </p:nvSpPr>
        <p:spPr>
          <a:xfrm>
            <a:off x="4221072" y="4105700"/>
            <a:ext cx="1165640" cy="369332"/>
          </a:xfrm>
          <a:prstGeom prst="rect">
            <a:avLst/>
          </a:prstGeom>
          <a:noFill/>
        </p:spPr>
        <p:txBody>
          <a:bodyPr wrap="none" rtlCol="0">
            <a:spAutoFit/>
          </a:bodyPr>
          <a:lstStyle/>
          <a:p>
            <a:r>
              <a:rPr lang="en-US" sz="1800" b="1" dirty="0"/>
              <a:t>out-state</a:t>
            </a:r>
          </a:p>
        </p:txBody>
      </p:sp>
      <p:sp>
        <p:nvSpPr>
          <p:cNvPr id="35" name="TextBox 34">
            <a:extLst>
              <a:ext uri="{FF2B5EF4-FFF2-40B4-BE49-F238E27FC236}">
                <a16:creationId xmlns:a16="http://schemas.microsoft.com/office/drawing/2014/main" id="{65E5500A-A692-3E4D-8BAA-13066B947B0D}"/>
              </a:ext>
            </a:extLst>
          </p:cNvPr>
          <p:cNvSpPr txBox="1"/>
          <p:nvPr/>
        </p:nvSpPr>
        <p:spPr>
          <a:xfrm>
            <a:off x="5231990" y="1083854"/>
            <a:ext cx="3683410" cy="1446550"/>
          </a:xfrm>
          <a:prstGeom prst="rect">
            <a:avLst/>
          </a:prstGeom>
          <a:noFill/>
        </p:spPr>
        <p:txBody>
          <a:bodyPr wrap="square" rtlCol="0">
            <a:spAutoFit/>
          </a:bodyPr>
          <a:lstStyle/>
          <a:p>
            <a:pPr algn="ctr"/>
            <a:r>
              <a:rPr lang="en-US" sz="2200" dirty="0"/>
              <a:t>state flows </a:t>
            </a:r>
            <a:r>
              <a:rPr lang="en-US" sz="2200" b="1" dirty="0"/>
              <a:t>from a BB's predecessors </a:t>
            </a:r>
            <a:r>
              <a:rPr lang="en-US" sz="2200" dirty="0"/>
              <a:t>into its join function, which computes the </a:t>
            </a:r>
            <a:r>
              <a:rPr lang="en-US" sz="2200" b="1" dirty="0"/>
              <a:t>in-state </a:t>
            </a:r>
            <a:r>
              <a:rPr lang="en-US" sz="2200" dirty="0"/>
              <a:t>for the BB.</a:t>
            </a:r>
            <a:endParaRPr lang="en-US" sz="2200" b="1" dirty="0"/>
          </a:p>
        </p:txBody>
      </p:sp>
      <p:sp>
        <p:nvSpPr>
          <p:cNvPr id="36" name="TextBox 35">
            <a:extLst>
              <a:ext uri="{FF2B5EF4-FFF2-40B4-BE49-F238E27FC236}">
                <a16:creationId xmlns:a16="http://schemas.microsoft.com/office/drawing/2014/main" id="{4D66E56E-9DB4-7147-A8A4-B4A047EB3281}"/>
              </a:ext>
            </a:extLst>
          </p:cNvPr>
          <p:cNvSpPr txBox="1"/>
          <p:nvPr/>
        </p:nvSpPr>
        <p:spPr>
          <a:xfrm>
            <a:off x="339511" y="2314879"/>
            <a:ext cx="3016072" cy="1785104"/>
          </a:xfrm>
          <a:prstGeom prst="rect">
            <a:avLst/>
          </a:prstGeom>
          <a:noFill/>
        </p:spPr>
        <p:txBody>
          <a:bodyPr wrap="square" rtlCol="0">
            <a:spAutoFit/>
          </a:bodyPr>
          <a:lstStyle/>
          <a:p>
            <a:pPr algn="ctr"/>
            <a:r>
              <a:rPr lang="en-US" sz="2200" dirty="0"/>
              <a:t>the </a:t>
            </a:r>
            <a:r>
              <a:rPr lang="en-US" sz="2200" b="1" dirty="0"/>
              <a:t>transfer function </a:t>
            </a:r>
            <a:r>
              <a:rPr lang="en-US" sz="2200" dirty="0"/>
              <a:t>is </a:t>
            </a:r>
            <a:r>
              <a:rPr lang="en-US" sz="2200" b="1" dirty="0">
                <a:solidFill>
                  <a:srgbClr val="00B050"/>
                </a:solidFill>
              </a:rPr>
              <a:t>repeatedly applied </a:t>
            </a:r>
            <a:r>
              <a:rPr lang="en-US" sz="2200" dirty="0"/>
              <a:t>to its instructions, which computes the BB's </a:t>
            </a:r>
            <a:r>
              <a:rPr lang="en-US" sz="2200" b="1" dirty="0"/>
              <a:t>out-state.</a:t>
            </a:r>
          </a:p>
        </p:txBody>
      </p:sp>
      <p:sp>
        <p:nvSpPr>
          <p:cNvPr id="38" name="TextBox 37">
            <a:extLst>
              <a:ext uri="{FF2B5EF4-FFF2-40B4-BE49-F238E27FC236}">
                <a16:creationId xmlns:a16="http://schemas.microsoft.com/office/drawing/2014/main" id="{830EA821-FE58-CB4A-BCF6-AB6583DC1123}"/>
              </a:ext>
            </a:extLst>
          </p:cNvPr>
          <p:cNvSpPr txBox="1"/>
          <p:nvPr/>
        </p:nvSpPr>
        <p:spPr>
          <a:xfrm>
            <a:off x="5503339" y="3144760"/>
            <a:ext cx="3405233" cy="1446550"/>
          </a:xfrm>
          <a:prstGeom prst="rect">
            <a:avLst/>
          </a:prstGeom>
          <a:noFill/>
        </p:spPr>
        <p:txBody>
          <a:bodyPr wrap="square" rtlCol="0">
            <a:spAutoFit/>
          </a:bodyPr>
          <a:lstStyle/>
          <a:p>
            <a:pPr algn="ctr"/>
            <a:r>
              <a:rPr lang="en-US" sz="2200" dirty="0"/>
              <a:t>this is repeated for </a:t>
            </a:r>
            <a:r>
              <a:rPr lang="en-US" sz="2200" b="1" dirty="0"/>
              <a:t>every BB </a:t>
            </a:r>
            <a:r>
              <a:rPr lang="en-US" sz="2200" dirty="0"/>
              <a:t>until the in- and out-states reach </a:t>
            </a:r>
            <a:r>
              <a:rPr lang="en-US" sz="2200" b="1" dirty="0"/>
              <a:t>equilibrium: </a:t>
            </a:r>
            <a:r>
              <a:rPr lang="en-US" sz="2200" dirty="0"/>
              <a:t>they stop changing.</a:t>
            </a:r>
            <a:endParaRPr lang="en-US" sz="2200" b="1" dirty="0"/>
          </a:p>
        </p:txBody>
      </p:sp>
      <p:sp>
        <p:nvSpPr>
          <p:cNvPr id="39" name="TextBox 38">
            <a:extLst>
              <a:ext uri="{FF2B5EF4-FFF2-40B4-BE49-F238E27FC236}">
                <a16:creationId xmlns:a16="http://schemas.microsoft.com/office/drawing/2014/main" id="{89BE2CE1-BE8D-B046-A95B-27C519BEBFBB}"/>
              </a:ext>
            </a:extLst>
          </p:cNvPr>
          <p:cNvSpPr txBox="1"/>
          <p:nvPr/>
        </p:nvSpPr>
        <p:spPr>
          <a:xfrm>
            <a:off x="556711" y="4730432"/>
            <a:ext cx="8017058" cy="769441"/>
          </a:xfrm>
          <a:prstGeom prst="rect">
            <a:avLst/>
          </a:prstGeom>
          <a:noFill/>
        </p:spPr>
        <p:txBody>
          <a:bodyPr wrap="square" rtlCol="0">
            <a:spAutoFit/>
          </a:bodyPr>
          <a:lstStyle/>
          <a:p>
            <a:pPr algn="ctr"/>
            <a:r>
              <a:rPr lang="en-US" sz="2200" dirty="0"/>
              <a:t>as long as there are a </a:t>
            </a:r>
            <a:r>
              <a:rPr lang="en-US" sz="2200" b="1" dirty="0"/>
              <a:t>finite number of states, </a:t>
            </a:r>
            <a:r>
              <a:rPr lang="en-US" sz="2200" dirty="0"/>
              <a:t>and they change </a:t>
            </a:r>
            <a:r>
              <a:rPr lang="en-US" sz="2200" b="1" dirty="0"/>
              <a:t>monotonically, </a:t>
            </a:r>
            <a:r>
              <a:rPr lang="en-US" sz="2200" dirty="0"/>
              <a:t>this algorithm will terminate.</a:t>
            </a:r>
            <a:endParaRPr lang="en-US" sz="2200" b="1" dirty="0"/>
          </a:p>
        </p:txBody>
      </p:sp>
      <p:sp>
        <p:nvSpPr>
          <p:cNvPr id="25" name="Arc 24">
            <a:extLst>
              <a:ext uri="{FF2B5EF4-FFF2-40B4-BE49-F238E27FC236}">
                <a16:creationId xmlns:a16="http://schemas.microsoft.com/office/drawing/2014/main" id="{48A4C512-7183-6C42-B263-F442041E0CF4}"/>
              </a:ext>
            </a:extLst>
          </p:cNvPr>
          <p:cNvSpPr/>
          <p:nvPr/>
        </p:nvSpPr>
        <p:spPr>
          <a:xfrm flipH="1">
            <a:off x="3720894" y="3753459"/>
            <a:ext cx="355805" cy="204309"/>
          </a:xfrm>
          <a:prstGeom prst="arc">
            <a:avLst>
              <a:gd name="adj1" fmla="val 16200000"/>
              <a:gd name="adj2" fmla="val 5439158"/>
            </a:avLst>
          </a:prstGeom>
          <a:ln w="38100">
            <a:solidFill>
              <a:srgbClr val="00B05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2876500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400"/>
                                  </p:stCondLst>
                                  <p:childTnLst>
                                    <p:set>
                                      <p:cBhvr>
                                        <p:cTn id="16" dur="1" fill="hold">
                                          <p:stCondLst>
                                            <p:cond delay="0"/>
                                          </p:stCondLst>
                                        </p:cTn>
                                        <p:tgtEl>
                                          <p:spTgt spid="24"/>
                                        </p:tgtEl>
                                        <p:attrNameLst>
                                          <p:attrName>style.visibility</p:attrName>
                                        </p:attrNameLst>
                                      </p:cBhvr>
                                      <p:to>
                                        <p:strVal val="visible"/>
                                      </p:to>
                                    </p:set>
                                  </p:childTnLst>
                                </p:cTn>
                              </p:par>
                            </p:childTnLst>
                          </p:cTn>
                        </p:par>
                        <p:par>
                          <p:cTn id="17" fill="hold">
                            <p:stCondLst>
                              <p:cond delay="400"/>
                            </p:stCondLst>
                            <p:childTnLst>
                              <p:par>
                                <p:cTn id="18" presetID="1" presetClass="entr" presetSubtype="0" fill="hold" nodeType="afterEffect">
                                  <p:stCondLst>
                                    <p:cond delay="400"/>
                                  </p:stCondLst>
                                  <p:childTnLst>
                                    <p:set>
                                      <p:cBhvr>
                                        <p:cTn id="19" dur="1" fill="hold">
                                          <p:stCondLst>
                                            <p:cond delay="0"/>
                                          </p:stCondLst>
                                        </p:cTn>
                                        <p:tgtEl>
                                          <p:spTgt spid="29"/>
                                        </p:tgtEl>
                                        <p:attrNameLst>
                                          <p:attrName>style.visibility</p:attrName>
                                        </p:attrNameLst>
                                      </p:cBhvr>
                                      <p:to>
                                        <p:strVal val="visible"/>
                                      </p:to>
                                    </p:set>
                                  </p:childTnLst>
                                </p:cTn>
                              </p:par>
                            </p:childTnLst>
                          </p:cTn>
                        </p:par>
                        <p:par>
                          <p:cTn id="20" fill="hold">
                            <p:stCondLst>
                              <p:cond delay="800"/>
                            </p:stCondLst>
                            <p:childTnLst>
                              <p:par>
                                <p:cTn id="21" presetID="1" presetClass="entr" presetSubtype="0" fill="hold" nodeType="afterEffect">
                                  <p:stCondLst>
                                    <p:cond delay="400"/>
                                  </p:stCondLst>
                                  <p:childTnLst>
                                    <p:set>
                                      <p:cBhvr>
                                        <p:cTn id="22" dur="1" fill="hold">
                                          <p:stCondLst>
                                            <p:cond delay="0"/>
                                          </p:stCondLst>
                                        </p:cTn>
                                        <p:tgtEl>
                                          <p:spTgt spid="31"/>
                                        </p:tgtEl>
                                        <p:attrNameLst>
                                          <p:attrName>style.visibility</p:attrName>
                                        </p:attrNameLst>
                                      </p:cBhvr>
                                      <p:to>
                                        <p:strVal val="visible"/>
                                      </p:to>
                                    </p:set>
                                  </p:childTnLst>
                                </p:cTn>
                              </p:par>
                            </p:childTnLst>
                          </p:cTn>
                        </p:par>
                        <p:par>
                          <p:cTn id="23" fill="hold">
                            <p:stCondLst>
                              <p:cond delay="1200"/>
                            </p:stCondLst>
                            <p:childTnLst>
                              <p:par>
                                <p:cTn id="24" presetID="1" presetClass="entr" presetSubtype="0" fill="hold" nodeType="afterEffect">
                                  <p:stCondLst>
                                    <p:cond delay="400"/>
                                  </p:stCondLst>
                                  <p:childTnLst>
                                    <p:set>
                                      <p:cBhvr>
                                        <p:cTn id="25" dur="1" fill="hold">
                                          <p:stCondLst>
                                            <p:cond delay="0"/>
                                          </p:stCondLst>
                                        </p:cTn>
                                        <p:tgtEl>
                                          <p:spTgt spid="8"/>
                                        </p:tgtEl>
                                        <p:attrNameLst>
                                          <p:attrName>style.visibility</p:attrName>
                                        </p:attrNameLst>
                                      </p:cBhvr>
                                      <p:to>
                                        <p:strVal val="visible"/>
                                      </p:to>
                                    </p:set>
                                  </p:childTnLst>
                                </p:cTn>
                              </p:par>
                              <p:par>
                                <p:cTn id="26" presetID="1" presetClass="entr" presetSubtype="0" fill="hold" grpId="0" nodeType="withEffect">
                                  <p:stCondLst>
                                    <p:cond delay="400"/>
                                  </p:stCondLst>
                                  <p:childTnLst>
                                    <p:set>
                                      <p:cBhvr>
                                        <p:cTn id="27" dur="1" fill="hold">
                                          <p:stCondLst>
                                            <p:cond delay="0"/>
                                          </p:stCondLst>
                                        </p:cTn>
                                        <p:tgtEl>
                                          <p:spTgt spid="3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6"/>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0" nodeType="afterEffect">
                                  <p:stCondLst>
                                    <p:cond delay="300"/>
                                  </p:stCondLst>
                                  <p:childTnLst>
                                    <p:set>
                                      <p:cBhvr>
                                        <p:cTn id="34" dur="1" fill="hold">
                                          <p:stCondLst>
                                            <p:cond delay="0"/>
                                          </p:stCondLst>
                                        </p:cTn>
                                        <p:tgtEl>
                                          <p:spTgt spid="11"/>
                                        </p:tgtEl>
                                        <p:attrNameLst>
                                          <p:attrName>style.visibility</p:attrName>
                                        </p:attrNameLst>
                                      </p:cBhvr>
                                      <p:to>
                                        <p:strVal val="visible"/>
                                      </p:to>
                                    </p:set>
                                  </p:childTnLst>
                                </p:cTn>
                              </p:par>
                            </p:childTnLst>
                          </p:cTn>
                        </p:par>
                        <p:par>
                          <p:cTn id="35" fill="hold">
                            <p:stCondLst>
                              <p:cond delay="300"/>
                            </p:stCondLst>
                            <p:childTnLst>
                              <p:par>
                                <p:cTn id="36" presetID="1" presetClass="entr" presetSubtype="0" fill="hold" grpId="0" nodeType="afterEffect">
                                  <p:stCondLst>
                                    <p:cond delay="300"/>
                                  </p:stCondLst>
                                  <p:childTnLst>
                                    <p:set>
                                      <p:cBhvr>
                                        <p:cTn id="37" dur="1" fill="hold">
                                          <p:stCondLst>
                                            <p:cond delay="0"/>
                                          </p:stCondLst>
                                        </p:cTn>
                                        <p:tgtEl>
                                          <p:spTgt spid="15"/>
                                        </p:tgtEl>
                                        <p:attrNameLst>
                                          <p:attrName>style.visibility</p:attrName>
                                        </p:attrNameLst>
                                      </p:cBhvr>
                                      <p:to>
                                        <p:strVal val="visible"/>
                                      </p:to>
                                    </p:set>
                                  </p:childTnLst>
                                </p:cTn>
                              </p:par>
                            </p:childTnLst>
                          </p:cTn>
                        </p:par>
                        <p:par>
                          <p:cTn id="38" fill="hold">
                            <p:stCondLst>
                              <p:cond delay="600"/>
                            </p:stCondLst>
                            <p:childTnLst>
                              <p:par>
                                <p:cTn id="39" presetID="1" presetClass="entr" presetSubtype="0" fill="hold" grpId="0" nodeType="afterEffect">
                                  <p:stCondLst>
                                    <p:cond delay="300"/>
                                  </p:stCondLst>
                                  <p:childTnLst>
                                    <p:set>
                                      <p:cBhvr>
                                        <p:cTn id="40" dur="1" fill="hold">
                                          <p:stCondLst>
                                            <p:cond delay="0"/>
                                          </p:stCondLst>
                                        </p:cTn>
                                        <p:tgtEl>
                                          <p:spTgt spid="17"/>
                                        </p:tgtEl>
                                        <p:attrNameLst>
                                          <p:attrName>style.visibility</p:attrName>
                                        </p:attrNameLst>
                                      </p:cBhvr>
                                      <p:to>
                                        <p:strVal val="visible"/>
                                      </p:to>
                                    </p:set>
                                  </p:childTnLst>
                                </p:cTn>
                              </p:par>
                            </p:childTnLst>
                          </p:cTn>
                        </p:par>
                        <p:par>
                          <p:cTn id="41" fill="hold">
                            <p:stCondLst>
                              <p:cond delay="900"/>
                            </p:stCondLst>
                            <p:childTnLst>
                              <p:par>
                                <p:cTn id="42" presetID="1" presetClass="entr" presetSubtype="0" fill="hold" grpId="0" nodeType="afterEffect">
                                  <p:stCondLst>
                                    <p:cond delay="300"/>
                                  </p:stCondLst>
                                  <p:childTnLst>
                                    <p:set>
                                      <p:cBhvr>
                                        <p:cTn id="43" dur="1" fill="hold">
                                          <p:stCondLst>
                                            <p:cond delay="0"/>
                                          </p:stCondLst>
                                        </p:cTn>
                                        <p:tgtEl>
                                          <p:spTgt spid="18"/>
                                        </p:tgtEl>
                                        <p:attrNameLst>
                                          <p:attrName>style.visibility</p:attrName>
                                        </p:attrNameLst>
                                      </p:cBhvr>
                                      <p:to>
                                        <p:strVal val="visible"/>
                                      </p:to>
                                    </p:set>
                                  </p:childTnLst>
                                </p:cTn>
                              </p:par>
                            </p:childTnLst>
                          </p:cTn>
                        </p:par>
                        <p:par>
                          <p:cTn id="44" fill="hold">
                            <p:stCondLst>
                              <p:cond delay="1200"/>
                            </p:stCondLst>
                            <p:childTnLst>
                              <p:par>
                                <p:cTn id="45" presetID="1" presetClass="entr" presetSubtype="0" fill="hold" grpId="0" nodeType="afterEffect">
                                  <p:stCondLst>
                                    <p:cond delay="300"/>
                                  </p:stCondLst>
                                  <p:childTnLst>
                                    <p:set>
                                      <p:cBhvr>
                                        <p:cTn id="46" dur="1" fill="hold">
                                          <p:stCondLst>
                                            <p:cond delay="0"/>
                                          </p:stCondLst>
                                        </p:cTn>
                                        <p:tgtEl>
                                          <p:spTgt spid="19"/>
                                        </p:tgtEl>
                                        <p:attrNameLst>
                                          <p:attrName>style.visibility</p:attrName>
                                        </p:attrNameLst>
                                      </p:cBhvr>
                                      <p:to>
                                        <p:strVal val="visible"/>
                                      </p:to>
                                    </p:set>
                                  </p:childTnLst>
                                </p:cTn>
                              </p:par>
                            </p:childTnLst>
                          </p:cTn>
                        </p:par>
                        <p:par>
                          <p:cTn id="47" fill="hold">
                            <p:stCondLst>
                              <p:cond delay="1500"/>
                            </p:stCondLst>
                            <p:childTnLst>
                              <p:par>
                                <p:cTn id="48" presetID="1" presetClass="entr" presetSubtype="0" fill="hold" grpId="0" nodeType="afterEffect">
                                  <p:stCondLst>
                                    <p:cond delay="300"/>
                                  </p:stCondLst>
                                  <p:childTnLst>
                                    <p:set>
                                      <p:cBhvr>
                                        <p:cTn id="49" dur="1" fill="hold">
                                          <p:stCondLst>
                                            <p:cond delay="0"/>
                                          </p:stCondLst>
                                        </p:cTn>
                                        <p:tgtEl>
                                          <p:spTgt spid="25"/>
                                        </p:tgtEl>
                                        <p:attrNameLst>
                                          <p:attrName>style.visibility</p:attrName>
                                        </p:attrNameLst>
                                      </p:cBhvr>
                                      <p:to>
                                        <p:strVal val="visible"/>
                                      </p:to>
                                    </p:set>
                                  </p:childTnLst>
                                </p:cTn>
                              </p:par>
                            </p:childTnLst>
                          </p:cTn>
                        </p:par>
                        <p:par>
                          <p:cTn id="50" fill="hold">
                            <p:stCondLst>
                              <p:cond delay="1800"/>
                            </p:stCondLst>
                            <p:childTnLst>
                              <p:par>
                                <p:cTn id="51" presetID="1" presetClass="entr" presetSubtype="0" fill="hold" grpId="0" nodeType="afterEffect">
                                  <p:stCondLst>
                                    <p:cond delay="300"/>
                                  </p:stCondLst>
                                  <p:childTnLst>
                                    <p:set>
                                      <p:cBhvr>
                                        <p:cTn id="52" dur="1" fill="hold">
                                          <p:stCondLst>
                                            <p:cond delay="0"/>
                                          </p:stCondLst>
                                        </p:cTn>
                                        <p:tgtEl>
                                          <p:spTgt spid="21"/>
                                        </p:tgtEl>
                                        <p:attrNameLst>
                                          <p:attrName>style.visibility</p:attrName>
                                        </p:attrNameLst>
                                      </p:cBhvr>
                                      <p:to>
                                        <p:strVal val="visible"/>
                                      </p:to>
                                    </p:set>
                                  </p:childTnLst>
                                </p:cTn>
                              </p:par>
                            </p:childTnLst>
                          </p:cTn>
                        </p:par>
                        <p:par>
                          <p:cTn id="53" fill="hold">
                            <p:stCondLst>
                              <p:cond delay="2100"/>
                            </p:stCondLst>
                            <p:childTnLst>
                              <p:par>
                                <p:cTn id="54" presetID="1" presetClass="entr" presetSubtype="0" fill="hold" nodeType="afterEffect">
                                  <p:stCondLst>
                                    <p:cond delay="300"/>
                                  </p:stCondLst>
                                  <p:childTnLst>
                                    <p:set>
                                      <p:cBhvr>
                                        <p:cTn id="55" dur="1" fill="hold">
                                          <p:stCondLst>
                                            <p:cond delay="0"/>
                                          </p:stCondLst>
                                        </p:cTn>
                                        <p:tgtEl>
                                          <p:spTgt spid="22"/>
                                        </p:tgtEl>
                                        <p:attrNameLst>
                                          <p:attrName>style.visibility</p:attrName>
                                        </p:attrNameLst>
                                      </p:cBhvr>
                                      <p:to>
                                        <p:strVal val="visible"/>
                                      </p:to>
                                    </p:set>
                                  </p:childTnLst>
                                </p:cTn>
                              </p:par>
                            </p:childTnLst>
                          </p:cTn>
                        </p:par>
                        <p:par>
                          <p:cTn id="56" fill="hold">
                            <p:stCondLst>
                              <p:cond delay="2400"/>
                            </p:stCondLst>
                            <p:childTnLst>
                              <p:par>
                                <p:cTn id="57" presetID="1" presetClass="entr" presetSubtype="0" fill="hold" grpId="0" nodeType="after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1" grpId="0" animBg="1"/>
      <p:bldP spid="15" grpId="0" animBg="1"/>
      <p:bldP spid="17" grpId="0" animBg="1"/>
      <p:bldP spid="18" grpId="0" animBg="1"/>
      <p:bldP spid="19" grpId="0" animBg="1"/>
      <p:bldP spid="21" grpId="0" animBg="1"/>
      <p:bldP spid="33" grpId="0"/>
      <p:bldP spid="34" grpId="0"/>
      <p:bldP spid="35" grpId="0"/>
      <p:bldP spid="36" grpId="0"/>
      <p:bldP spid="38" grpId="0"/>
      <p:bldP spid="39" grpId="0"/>
      <p:bldP spid="2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FBC25-7382-AE45-B4D6-FB1D01AEA266}"/>
              </a:ext>
            </a:extLst>
          </p:cNvPr>
          <p:cNvSpPr>
            <a:spLocks noGrp="1"/>
          </p:cNvSpPr>
          <p:nvPr>
            <p:ph type="ctrTitle"/>
          </p:nvPr>
        </p:nvSpPr>
        <p:spPr/>
        <p:txBody>
          <a:bodyPr/>
          <a:lstStyle/>
          <a:p>
            <a:r>
              <a:rPr lang="en-US" dirty="0"/>
              <a:t>Liveness </a:t>
            </a:r>
            <a:br>
              <a:rPr lang="en-US" dirty="0"/>
            </a:br>
            <a:r>
              <a:rPr lang="en-US" sz="1050" dirty="0"/>
              <a:t>time check ≤ 87</a:t>
            </a:r>
          </a:p>
        </p:txBody>
      </p:sp>
      <p:sp>
        <p:nvSpPr>
          <p:cNvPr id="3" name="Slide Number Placeholder 2">
            <a:extLst>
              <a:ext uri="{FF2B5EF4-FFF2-40B4-BE49-F238E27FC236}">
                <a16:creationId xmlns:a16="http://schemas.microsoft.com/office/drawing/2014/main" id="{AA09C7A3-169D-EE4F-9435-366E6148C473}"/>
              </a:ext>
            </a:extLst>
          </p:cNvPr>
          <p:cNvSpPr>
            <a:spLocks noGrp="1"/>
          </p:cNvSpPr>
          <p:nvPr>
            <p:ph type="sldNum" sz="quarter" idx="12"/>
          </p:nvPr>
        </p:nvSpPr>
        <p:spPr/>
        <p:txBody>
          <a:bodyPr/>
          <a:lstStyle/>
          <a:p>
            <a:fld id="{3552B95B-556F-44BD-91A5-D80C1B9E2BB3}" type="slidenum">
              <a:rPr lang="en-US" smtClean="0"/>
              <a:pPr/>
              <a:t>35</a:t>
            </a:fld>
            <a:endParaRPr lang="en-US"/>
          </a:p>
        </p:txBody>
      </p:sp>
    </p:spTree>
    <p:extLst>
      <p:ext uri="{BB962C8B-B14F-4D97-AF65-F5344CB8AC3E}">
        <p14:creationId xmlns:p14="http://schemas.microsoft.com/office/powerpoint/2010/main" val="1831628222"/>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265D5-D6C2-1143-AC9C-92DB086ECAA6}"/>
              </a:ext>
            </a:extLst>
          </p:cNvPr>
          <p:cNvSpPr>
            <a:spLocks noGrp="1"/>
          </p:cNvSpPr>
          <p:nvPr>
            <p:ph type="title"/>
          </p:nvPr>
        </p:nvSpPr>
        <p:spPr/>
        <p:txBody>
          <a:bodyPr/>
          <a:lstStyle/>
          <a:p>
            <a:r>
              <a:rPr lang="en-US" dirty="0"/>
              <a:t>Liveness</a:t>
            </a:r>
          </a:p>
        </p:txBody>
      </p:sp>
      <p:sp>
        <p:nvSpPr>
          <p:cNvPr id="3" name="Content Placeholder 2">
            <a:extLst>
              <a:ext uri="{FF2B5EF4-FFF2-40B4-BE49-F238E27FC236}">
                <a16:creationId xmlns:a16="http://schemas.microsoft.com/office/drawing/2014/main" id="{07B326A2-6379-F648-9A34-DFB16A636AB8}"/>
              </a:ext>
            </a:extLst>
          </p:cNvPr>
          <p:cNvSpPr>
            <a:spLocks noGrp="1"/>
          </p:cNvSpPr>
          <p:nvPr>
            <p:ph idx="1"/>
          </p:nvPr>
        </p:nvSpPr>
        <p:spPr>
          <a:xfrm>
            <a:off x="152400" y="495301"/>
            <a:ext cx="8991600" cy="1142999"/>
          </a:xfrm>
        </p:spPr>
        <p:txBody>
          <a:bodyPr/>
          <a:lstStyle/>
          <a:p>
            <a:r>
              <a:rPr lang="en-US" dirty="0"/>
              <a:t>a local variable is </a:t>
            </a:r>
            <a:r>
              <a:rPr lang="en-US" b="1" dirty="0"/>
              <a:t>live </a:t>
            </a:r>
            <a:r>
              <a:rPr lang="en-US" dirty="0"/>
              <a:t>if its value will be </a:t>
            </a:r>
            <a:r>
              <a:rPr lang="en-US" b="1" dirty="0"/>
              <a:t>use</a:t>
            </a:r>
            <a:r>
              <a:rPr lang="en-US" dirty="0"/>
              <a:t>d in the future.</a:t>
            </a:r>
          </a:p>
          <a:p>
            <a:pPr lvl="1"/>
            <a:r>
              <a:rPr lang="en-US" dirty="0">
                <a:solidFill>
                  <a:srgbClr val="FF0000"/>
                </a:solidFill>
              </a:rPr>
              <a:t>this is </a:t>
            </a:r>
            <a:r>
              <a:rPr lang="en-US" i="1" dirty="0">
                <a:solidFill>
                  <a:srgbClr val="FF0000"/>
                </a:solidFill>
              </a:rPr>
              <a:t>not</a:t>
            </a:r>
            <a:r>
              <a:rPr lang="en-US" dirty="0">
                <a:solidFill>
                  <a:srgbClr val="FF0000"/>
                </a:solidFill>
              </a:rPr>
              <a:t> its </a:t>
            </a:r>
            <a:r>
              <a:rPr lang="en-US" b="1" dirty="0">
                <a:solidFill>
                  <a:srgbClr val="FF0000"/>
                </a:solidFill>
              </a:rPr>
              <a:t>lifetime;</a:t>
            </a:r>
            <a:r>
              <a:rPr lang="en-US" b="1" dirty="0"/>
              <a:t> </a:t>
            </a:r>
            <a:r>
              <a:rPr lang="en-US" dirty="0"/>
              <a:t>liveness can be – and often is – </a:t>
            </a:r>
            <a:r>
              <a:rPr lang="en-US" b="1" dirty="0"/>
              <a:t>shorter!</a:t>
            </a:r>
          </a:p>
          <a:p>
            <a:r>
              <a:rPr lang="en-US" dirty="0"/>
              <a:t>it lasts from a </a:t>
            </a:r>
            <a:r>
              <a:rPr lang="en-US" b="1" dirty="0"/>
              <a:t>def </a:t>
            </a:r>
            <a:r>
              <a:rPr lang="en-US" dirty="0"/>
              <a:t>until the </a:t>
            </a:r>
            <a:r>
              <a:rPr lang="en-US" b="1" dirty="0"/>
              <a:t>last use </a:t>
            </a:r>
            <a:r>
              <a:rPr lang="en-US" dirty="0"/>
              <a:t>of that def.</a:t>
            </a:r>
          </a:p>
        </p:txBody>
      </p:sp>
      <p:sp>
        <p:nvSpPr>
          <p:cNvPr id="4" name="Slide Number Placeholder 3">
            <a:extLst>
              <a:ext uri="{FF2B5EF4-FFF2-40B4-BE49-F238E27FC236}">
                <a16:creationId xmlns:a16="http://schemas.microsoft.com/office/drawing/2014/main" id="{1139B4BD-7806-D14A-A829-B6DA259EE4E0}"/>
              </a:ext>
            </a:extLst>
          </p:cNvPr>
          <p:cNvSpPr>
            <a:spLocks noGrp="1"/>
          </p:cNvSpPr>
          <p:nvPr>
            <p:ph type="sldNum" sz="quarter" idx="12"/>
          </p:nvPr>
        </p:nvSpPr>
        <p:spPr/>
        <p:txBody>
          <a:bodyPr/>
          <a:lstStyle/>
          <a:p>
            <a:fld id="{3552B95B-556F-44BD-91A5-D80C1B9E2BB3}" type="slidenum">
              <a:rPr lang="en-US" smtClean="0"/>
              <a:pPr/>
              <a:t>36</a:t>
            </a:fld>
            <a:endParaRPr lang="en-US"/>
          </a:p>
        </p:txBody>
      </p:sp>
      <p:sp>
        <p:nvSpPr>
          <p:cNvPr id="6" name="Rectangle 5">
            <a:extLst>
              <a:ext uri="{FF2B5EF4-FFF2-40B4-BE49-F238E27FC236}">
                <a16:creationId xmlns:a16="http://schemas.microsoft.com/office/drawing/2014/main" id="{20589AFA-6BF5-F24B-BE0F-7D7E5556CB60}"/>
              </a:ext>
            </a:extLst>
          </p:cNvPr>
          <p:cNvSpPr/>
          <p:nvPr/>
        </p:nvSpPr>
        <p:spPr>
          <a:xfrm>
            <a:off x="4953000" y="2427249"/>
            <a:ext cx="3962400" cy="2351221"/>
          </a:xfrm>
          <a:prstGeom prst="rect">
            <a:avLst/>
          </a:prstGeom>
        </p:spPr>
        <p:txBody>
          <a:bodyPr wrap="square">
            <a:spAutoFit/>
          </a:bodyPr>
          <a:lstStyle/>
          <a:p>
            <a:pPr>
              <a:lnSpc>
                <a:spcPct val="150000"/>
              </a:lnSpc>
            </a:pPr>
            <a:r>
              <a:rPr lang="en-US" sz="2000" b="1" dirty="0" err="1">
                <a:solidFill>
                  <a:srgbClr val="FF0000"/>
                </a:solidFill>
                <a:latin typeface="Consolas" panose="020B0609020204030204" pitchFamily="49" charset="0"/>
                <a:cs typeface="Consolas" panose="020B0609020204030204" pitchFamily="49" charset="0"/>
              </a:rPr>
              <a:t>fn</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lifey</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arg</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a:t>
            </a:r>
          </a:p>
          <a:p>
            <a:pPr>
              <a:lnSpc>
                <a:spcPct val="150000"/>
              </a:lnSpc>
            </a:pP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ret = </a:t>
            </a:r>
            <a:r>
              <a:rPr lang="en-US" sz="2000" b="1" dirty="0" err="1">
                <a:latin typeface="Consolas" panose="020B0609020204030204" pitchFamily="49" charset="0"/>
                <a:cs typeface="Consolas" panose="020B0609020204030204" pitchFamily="49" charset="0"/>
              </a:rPr>
              <a:t>arg</a:t>
            </a:r>
            <a:r>
              <a:rPr lang="en-US" sz="2000" b="1" dirty="0">
                <a:latin typeface="Consolas" panose="020B0609020204030204" pitchFamily="49" charset="0"/>
                <a:cs typeface="Consolas" panose="020B0609020204030204" pitchFamily="49" charset="0"/>
              </a:rPr>
              <a:t> + </a:t>
            </a:r>
            <a:r>
              <a:rPr lang="en-US" sz="2000" b="1" dirty="0">
                <a:solidFill>
                  <a:schemeClr val="accent3">
                    <a:lumMod val="75000"/>
                  </a:schemeClr>
                </a:solidFill>
                <a:latin typeface="Consolas" panose="020B0609020204030204" pitchFamily="49" charset="0"/>
                <a:cs typeface="Consolas" panose="020B0609020204030204" pitchFamily="49" charset="0"/>
              </a:rPr>
              <a:t>10</a:t>
            </a:r>
            <a:r>
              <a:rPr lang="en-US" sz="2000" b="1" dirty="0">
                <a:latin typeface="Consolas" panose="020B0609020204030204" pitchFamily="49" charset="0"/>
                <a:cs typeface="Consolas" panose="020B0609020204030204" pitchFamily="49" charset="0"/>
              </a:rPr>
              <a:t>;</a:t>
            </a:r>
          </a:p>
          <a:p>
            <a:pPr>
              <a:lnSpc>
                <a:spcPct val="150000"/>
              </a:lnSpc>
            </a:pP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(ret);</a:t>
            </a:r>
          </a:p>
          <a:p>
            <a:pPr>
              <a:lnSpc>
                <a:spcPct val="150000"/>
              </a:lnSpc>
            </a:pP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return</a:t>
            </a:r>
            <a:r>
              <a:rPr lang="en-US" sz="2000" b="1" dirty="0">
                <a:latin typeface="Consolas" panose="020B0609020204030204" pitchFamily="49" charset="0"/>
                <a:cs typeface="Consolas" panose="020B0609020204030204" pitchFamily="49" charset="0"/>
              </a:rPr>
              <a:t> ret;</a:t>
            </a:r>
          </a:p>
          <a:p>
            <a:pPr>
              <a:lnSpc>
                <a:spcPct val="150000"/>
              </a:lnSpc>
            </a:pPr>
            <a:r>
              <a:rPr lang="en-US" sz="2000" b="1" dirty="0">
                <a:latin typeface="Consolas" panose="020B0609020204030204" pitchFamily="49" charset="0"/>
                <a:cs typeface="Consolas" panose="020B0609020204030204" pitchFamily="49" charset="0"/>
              </a:rPr>
              <a:t>}</a:t>
            </a:r>
          </a:p>
        </p:txBody>
      </p:sp>
      <p:sp>
        <p:nvSpPr>
          <p:cNvPr id="7" name="TextBox 6">
            <a:extLst>
              <a:ext uri="{FF2B5EF4-FFF2-40B4-BE49-F238E27FC236}">
                <a16:creationId xmlns:a16="http://schemas.microsoft.com/office/drawing/2014/main" id="{9C3FCE4B-835B-7A4C-8337-FAD05813DBF6}"/>
              </a:ext>
            </a:extLst>
          </p:cNvPr>
          <p:cNvSpPr txBox="1"/>
          <p:nvPr/>
        </p:nvSpPr>
        <p:spPr>
          <a:xfrm>
            <a:off x="4860876" y="1638300"/>
            <a:ext cx="3736911" cy="769441"/>
          </a:xfrm>
          <a:prstGeom prst="rect">
            <a:avLst/>
          </a:prstGeom>
          <a:noFill/>
        </p:spPr>
        <p:txBody>
          <a:bodyPr wrap="square" rtlCol="0">
            <a:spAutoFit/>
          </a:bodyPr>
          <a:lstStyle/>
          <a:p>
            <a:pPr algn="ctr"/>
            <a:r>
              <a:rPr lang="en-US" sz="2200" dirty="0"/>
              <a:t>arguments are "</a:t>
            </a:r>
            <a:r>
              <a:rPr lang="en-US" sz="2200" b="1" dirty="0" err="1"/>
              <a:t>def</a:t>
            </a:r>
            <a:r>
              <a:rPr lang="en-US" sz="2200" dirty="0" err="1"/>
              <a:t>'ed</a:t>
            </a:r>
            <a:r>
              <a:rPr lang="en-US" sz="2200" dirty="0"/>
              <a:t>" at the start of the function.</a:t>
            </a:r>
            <a:endParaRPr lang="en-US" sz="2200" b="1" dirty="0"/>
          </a:p>
        </p:txBody>
      </p:sp>
      <p:cxnSp>
        <p:nvCxnSpPr>
          <p:cNvPr id="9" name="Straight Connector 8">
            <a:extLst>
              <a:ext uri="{FF2B5EF4-FFF2-40B4-BE49-F238E27FC236}">
                <a16:creationId xmlns:a16="http://schemas.microsoft.com/office/drawing/2014/main" id="{FAC759AA-6EB3-F04C-ACCD-BD1B02E43FF5}"/>
              </a:ext>
            </a:extLst>
          </p:cNvPr>
          <p:cNvCxnSpPr>
            <a:cxnSpLocks/>
          </p:cNvCxnSpPr>
          <p:nvPr/>
        </p:nvCxnSpPr>
        <p:spPr>
          <a:xfrm>
            <a:off x="4794026" y="2794482"/>
            <a:ext cx="0" cy="366758"/>
          </a:xfrm>
          <a:prstGeom prst="line">
            <a:avLst/>
          </a:prstGeom>
          <a:ln w="38100">
            <a:solidFill>
              <a:srgbClr val="FF000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A406F19-C261-A443-8DC4-50CD91E999F9}"/>
              </a:ext>
            </a:extLst>
          </p:cNvPr>
          <p:cNvCxnSpPr>
            <a:cxnSpLocks/>
          </p:cNvCxnSpPr>
          <p:nvPr/>
        </p:nvCxnSpPr>
        <p:spPr>
          <a:xfrm>
            <a:off x="4591050" y="3167045"/>
            <a:ext cx="0" cy="926927"/>
          </a:xfrm>
          <a:prstGeom prst="line">
            <a:avLst/>
          </a:prstGeom>
          <a:ln w="38100">
            <a:solidFill>
              <a:srgbClr val="0070C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64FB115-7960-344E-95D2-18259BD93699}"/>
              </a:ext>
            </a:extLst>
          </p:cNvPr>
          <p:cNvSpPr txBox="1"/>
          <p:nvPr/>
        </p:nvSpPr>
        <p:spPr>
          <a:xfrm>
            <a:off x="175128" y="2319472"/>
            <a:ext cx="4190995" cy="769441"/>
          </a:xfrm>
          <a:prstGeom prst="rect">
            <a:avLst/>
          </a:prstGeom>
          <a:noFill/>
        </p:spPr>
        <p:txBody>
          <a:bodyPr wrap="square" rtlCol="0">
            <a:spAutoFit/>
          </a:bodyPr>
          <a:lstStyle/>
          <a:p>
            <a:pPr algn="ctr"/>
            <a:r>
              <a:rPr lang="en-US" sz="2200" b="1" dirty="0" err="1">
                <a:latin typeface="Consolas" panose="020B0609020204030204" pitchFamily="49" charset="0"/>
                <a:cs typeface="Consolas" panose="020B0609020204030204" pitchFamily="49" charset="0"/>
              </a:rPr>
              <a:t>arg</a:t>
            </a:r>
            <a:r>
              <a:rPr lang="en-US" sz="2200" dirty="0"/>
              <a:t> is only used once on the first line, so it's dead after that.</a:t>
            </a:r>
            <a:endParaRPr lang="en-US" sz="2200" b="1" dirty="0"/>
          </a:p>
        </p:txBody>
      </p:sp>
      <p:sp>
        <p:nvSpPr>
          <p:cNvPr id="18" name="TextBox 17">
            <a:extLst>
              <a:ext uri="{FF2B5EF4-FFF2-40B4-BE49-F238E27FC236}">
                <a16:creationId xmlns:a16="http://schemas.microsoft.com/office/drawing/2014/main" id="{19C655F6-C8CE-C64D-B29F-89E4D44B2A82}"/>
              </a:ext>
            </a:extLst>
          </p:cNvPr>
          <p:cNvSpPr txBox="1"/>
          <p:nvPr/>
        </p:nvSpPr>
        <p:spPr>
          <a:xfrm>
            <a:off x="4552614" y="2358568"/>
            <a:ext cx="482824" cy="308418"/>
          </a:xfrm>
          <a:prstGeom prst="rect">
            <a:avLst/>
          </a:prstGeom>
          <a:noFill/>
        </p:spPr>
        <p:txBody>
          <a:bodyPr wrap="none" rtlCol="0">
            <a:spAutoFit/>
          </a:bodyPr>
          <a:lstStyle/>
          <a:p>
            <a:r>
              <a:rPr lang="en-US" b="1" dirty="0" err="1">
                <a:solidFill>
                  <a:srgbClr val="FF0000"/>
                </a:solidFill>
                <a:latin typeface="Consolas" panose="020B0609020204030204" pitchFamily="49" charset="0"/>
                <a:cs typeface="Consolas" panose="020B0609020204030204" pitchFamily="49" charset="0"/>
              </a:rPr>
              <a:t>arg</a:t>
            </a:r>
            <a:endParaRPr lang="en-US" b="1" dirty="0">
              <a:solidFill>
                <a:srgbClr val="FF0000"/>
              </a:solidFill>
              <a:latin typeface="Consolas" panose="020B0609020204030204" pitchFamily="49" charset="0"/>
              <a:cs typeface="Consolas" panose="020B0609020204030204" pitchFamily="49" charset="0"/>
            </a:endParaRPr>
          </a:p>
        </p:txBody>
      </p:sp>
      <p:sp>
        <p:nvSpPr>
          <p:cNvPr id="19" name="TextBox 18">
            <a:extLst>
              <a:ext uri="{FF2B5EF4-FFF2-40B4-BE49-F238E27FC236}">
                <a16:creationId xmlns:a16="http://schemas.microsoft.com/office/drawing/2014/main" id="{F4F5A82B-B261-F943-95EE-C780623500AB}"/>
              </a:ext>
            </a:extLst>
          </p:cNvPr>
          <p:cNvSpPr txBox="1"/>
          <p:nvPr/>
        </p:nvSpPr>
        <p:spPr>
          <a:xfrm>
            <a:off x="4343400" y="2794482"/>
            <a:ext cx="482824" cy="308418"/>
          </a:xfrm>
          <a:prstGeom prst="rect">
            <a:avLst/>
          </a:prstGeom>
          <a:noFill/>
        </p:spPr>
        <p:txBody>
          <a:bodyPr wrap="none" rtlCol="0">
            <a:spAutoFit/>
          </a:bodyPr>
          <a:lstStyle/>
          <a:p>
            <a:r>
              <a:rPr lang="en-US" b="1" dirty="0">
                <a:solidFill>
                  <a:srgbClr val="0070C0"/>
                </a:solidFill>
                <a:latin typeface="Consolas" panose="020B0609020204030204" pitchFamily="49" charset="0"/>
                <a:cs typeface="Consolas" panose="020B0609020204030204" pitchFamily="49" charset="0"/>
              </a:rPr>
              <a:t>ret</a:t>
            </a:r>
          </a:p>
        </p:txBody>
      </p:sp>
      <p:sp>
        <p:nvSpPr>
          <p:cNvPr id="20" name="TextBox 19">
            <a:extLst>
              <a:ext uri="{FF2B5EF4-FFF2-40B4-BE49-F238E27FC236}">
                <a16:creationId xmlns:a16="http://schemas.microsoft.com/office/drawing/2014/main" id="{4F105EEF-35B4-F74A-9560-4527C9A64BC3}"/>
              </a:ext>
            </a:extLst>
          </p:cNvPr>
          <p:cNvSpPr txBox="1"/>
          <p:nvPr/>
        </p:nvSpPr>
        <p:spPr>
          <a:xfrm>
            <a:off x="207780" y="3177800"/>
            <a:ext cx="4190995" cy="1107996"/>
          </a:xfrm>
          <a:prstGeom prst="rect">
            <a:avLst/>
          </a:prstGeom>
          <a:noFill/>
        </p:spPr>
        <p:txBody>
          <a:bodyPr wrap="square" rtlCol="0">
            <a:spAutoFit/>
          </a:bodyPr>
          <a:lstStyle/>
          <a:p>
            <a:pPr algn="ctr"/>
            <a:r>
              <a:rPr lang="en-US" sz="2200" b="1" dirty="0">
                <a:latin typeface="Consolas" panose="020B0609020204030204" pitchFamily="49" charset="0"/>
                <a:cs typeface="Consolas" panose="020B0609020204030204" pitchFamily="49" charset="0"/>
              </a:rPr>
              <a:t>ret</a:t>
            </a:r>
            <a:r>
              <a:rPr lang="en-US" sz="2200" dirty="0"/>
              <a:t> becomes live when we declare it, and lives until its </a:t>
            </a:r>
            <a:r>
              <a:rPr lang="en-US" sz="2200" b="1" dirty="0"/>
              <a:t>last</a:t>
            </a:r>
            <a:r>
              <a:rPr lang="en-US" sz="2200" dirty="0"/>
              <a:t> use in the </a:t>
            </a:r>
            <a:r>
              <a:rPr lang="en-US" sz="2200" b="1" dirty="0">
                <a:solidFill>
                  <a:srgbClr val="FF0000"/>
                </a:solidFill>
                <a:latin typeface="Consolas" panose="020B0609020204030204" pitchFamily="49" charset="0"/>
                <a:cs typeface="Consolas" panose="020B0609020204030204" pitchFamily="49" charset="0"/>
              </a:rPr>
              <a:t>return</a:t>
            </a:r>
            <a:r>
              <a:rPr lang="en-US" sz="2200" dirty="0"/>
              <a:t> statement.</a:t>
            </a:r>
            <a:endParaRPr lang="en-US" sz="2200" b="1" dirty="0"/>
          </a:p>
        </p:txBody>
      </p:sp>
      <p:sp>
        <p:nvSpPr>
          <p:cNvPr id="26" name="TextBox 25">
            <a:extLst>
              <a:ext uri="{FF2B5EF4-FFF2-40B4-BE49-F238E27FC236}">
                <a16:creationId xmlns:a16="http://schemas.microsoft.com/office/drawing/2014/main" id="{F0601A86-AB0A-F548-AE13-9E3A076BFE60}"/>
              </a:ext>
            </a:extLst>
          </p:cNvPr>
          <p:cNvSpPr txBox="1"/>
          <p:nvPr/>
        </p:nvSpPr>
        <p:spPr>
          <a:xfrm>
            <a:off x="3048010" y="4679654"/>
            <a:ext cx="3200379" cy="769441"/>
          </a:xfrm>
          <a:prstGeom prst="rect">
            <a:avLst/>
          </a:prstGeom>
          <a:noFill/>
        </p:spPr>
        <p:txBody>
          <a:bodyPr wrap="square" rtlCol="0">
            <a:spAutoFit/>
          </a:bodyPr>
          <a:lstStyle/>
          <a:p>
            <a:pPr algn="ctr"/>
            <a:r>
              <a:rPr lang="en-US" sz="2200" dirty="0"/>
              <a:t>these lines are the locals' </a:t>
            </a:r>
            <a:r>
              <a:rPr lang="en-US" sz="2200" b="1" dirty="0"/>
              <a:t>liveness ranges.</a:t>
            </a:r>
          </a:p>
        </p:txBody>
      </p:sp>
    </p:spTree>
    <p:extLst>
      <p:ext uri="{BB962C8B-B14F-4D97-AF65-F5344CB8AC3E}">
        <p14:creationId xmlns:p14="http://schemas.microsoft.com/office/powerpoint/2010/main" val="42705629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7" grpId="0"/>
      <p:bldP spid="18" grpId="0"/>
      <p:bldP spid="19" grpId="0"/>
      <p:bldP spid="20" grpId="0"/>
      <p:bldP spid="2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B4C7F-493D-6D4E-97D6-1799139D9A9A}"/>
              </a:ext>
            </a:extLst>
          </p:cNvPr>
          <p:cNvSpPr>
            <a:spLocks noGrp="1"/>
          </p:cNvSpPr>
          <p:nvPr>
            <p:ph type="title"/>
          </p:nvPr>
        </p:nvSpPr>
        <p:spPr/>
        <p:txBody>
          <a:bodyPr/>
          <a:lstStyle/>
          <a:p>
            <a:r>
              <a:rPr lang="en-US" dirty="0"/>
              <a:t>One local, many ranges</a:t>
            </a:r>
          </a:p>
        </p:txBody>
      </p:sp>
      <p:sp>
        <p:nvSpPr>
          <p:cNvPr id="3" name="Content Placeholder 2">
            <a:extLst>
              <a:ext uri="{FF2B5EF4-FFF2-40B4-BE49-F238E27FC236}">
                <a16:creationId xmlns:a16="http://schemas.microsoft.com/office/drawing/2014/main" id="{349507F9-1E5C-9640-ABFC-2F8CA45A46C4}"/>
              </a:ext>
            </a:extLst>
          </p:cNvPr>
          <p:cNvSpPr>
            <a:spLocks noGrp="1"/>
          </p:cNvSpPr>
          <p:nvPr>
            <p:ph idx="1"/>
          </p:nvPr>
        </p:nvSpPr>
        <p:spPr>
          <a:xfrm>
            <a:off x="152400" y="495302"/>
            <a:ext cx="8991600" cy="495300"/>
          </a:xfrm>
        </p:spPr>
        <p:txBody>
          <a:bodyPr/>
          <a:lstStyle/>
          <a:p>
            <a:r>
              <a:rPr lang="en-US" dirty="0"/>
              <a:t>sometimes, a local can be live and dead </a:t>
            </a:r>
            <a:r>
              <a:rPr lang="en-US" b="1" dirty="0"/>
              <a:t>multiple times!</a:t>
            </a:r>
            <a:endParaRPr lang="en-US" dirty="0"/>
          </a:p>
        </p:txBody>
      </p:sp>
      <p:sp>
        <p:nvSpPr>
          <p:cNvPr id="4" name="Slide Number Placeholder 3">
            <a:extLst>
              <a:ext uri="{FF2B5EF4-FFF2-40B4-BE49-F238E27FC236}">
                <a16:creationId xmlns:a16="http://schemas.microsoft.com/office/drawing/2014/main" id="{5962A6A8-316A-EF42-ABAD-BFCC1EDE3AF9}"/>
              </a:ext>
            </a:extLst>
          </p:cNvPr>
          <p:cNvSpPr>
            <a:spLocks noGrp="1"/>
          </p:cNvSpPr>
          <p:nvPr>
            <p:ph type="sldNum" sz="quarter" idx="12"/>
          </p:nvPr>
        </p:nvSpPr>
        <p:spPr/>
        <p:txBody>
          <a:bodyPr/>
          <a:lstStyle/>
          <a:p>
            <a:fld id="{3552B95B-556F-44BD-91A5-D80C1B9E2BB3}" type="slidenum">
              <a:rPr lang="en-US" smtClean="0"/>
              <a:pPr/>
              <a:t>37</a:t>
            </a:fld>
            <a:endParaRPr lang="en-US"/>
          </a:p>
        </p:txBody>
      </p:sp>
      <p:sp>
        <p:nvSpPr>
          <p:cNvPr id="5" name="Rectangle 4">
            <a:extLst>
              <a:ext uri="{FF2B5EF4-FFF2-40B4-BE49-F238E27FC236}">
                <a16:creationId xmlns:a16="http://schemas.microsoft.com/office/drawing/2014/main" id="{A353EE4B-2EF7-8246-AA9A-38F150204671}"/>
              </a:ext>
            </a:extLst>
          </p:cNvPr>
          <p:cNvSpPr/>
          <p:nvPr/>
        </p:nvSpPr>
        <p:spPr>
          <a:xfrm>
            <a:off x="6172200" y="990602"/>
            <a:ext cx="2362200" cy="2351221"/>
          </a:xfrm>
          <a:prstGeom prst="rect">
            <a:avLst/>
          </a:prstGeom>
        </p:spPr>
        <p:txBody>
          <a:bodyPr wrap="square">
            <a:spAutoFit/>
          </a:bodyPr>
          <a:lstStyle/>
          <a:p>
            <a:pPr>
              <a:lnSpc>
                <a:spcPct val="150000"/>
              </a:lnSpc>
            </a:pPr>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x = </a:t>
            </a:r>
            <a:r>
              <a:rPr lang="en-US" sz="2000" b="1" dirty="0">
                <a:solidFill>
                  <a:schemeClr val="accent3">
                    <a:lumMod val="75000"/>
                  </a:schemeClr>
                </a:solidFill>
                <a:latin typeface="Consolas" panose="020B0609020204030204" pitchFamily="49" charset="0"/>
                <a:cs typeface="Consolas" panose="020B0609020204030204" pitchFamily="49" charset="0"/>
              </a:rPr>
              <a:t>10</a:t>
            </a:r>
            <a:r>
              <a:rPr lang="en-US" sz="2000" b="1" dirty="0">
                <a:latin typeface="Consolas" panose="020B0609020204030204" pitchFamily="49" charset="0"/>
                <a:cs typeface="Consolas" panose="020B0609020204030204" pitchFamily="49" charset="0"/>
              </a:rPr>
              <a:t>;</a:t>
            </a:r>
          </a:p>
          <a:p>
            <a:pPr>
              <a:lnSpc>
                <a:spcPct val="150000"/>
              </a:lnSpc>
            </a:pPr>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(x);</a:t>
            </a:r>
          </a:p>
          <a:p>
            <a:pPr>
              <a:lnSpc>
                <a:spcPct val="150000"/>
              </a:lnSpc>
            </a:pPr>
            <a:r>
              <a:rPr lang="en-US" sz="2000" b="1" dirty="0" err="1">
                <a:latin typeface="Consolas" panose="020B0609020204030204" pitchFamily="49" charset="0"/>
                <a:cs typeface="Consolas" panose="020B0609020204030204" pitchFamily="49" charset="0"/>
              </a:rPr>
              <a:t>println_s</a:t>
            </a:r>
            <a:r>
              <a:rPr lang="en-US" sz="2000" b="1" dirty="0">
                <a:latin typeface="Consolas" panose="020B0609020204030204" pitchFamily="49" charset="0"/>
                <a:cs typeface="Consolas" panose="020B0609020204030204" pitchFamily="49" charset="0"/>
              </a:rPr>
              <a:t>(</a:t>
            </a:r>
            <a:r>
              <a:rPr lang="en-US" sz="2000" b="1" dirty="0">
                <a:solidFill>
                  <a:schemeClr val="accent6">
                    <a:lumMod val="75000"/>
                  </a:schemeClr>
                </a:solidFill>
                <a:latin typeface="Consolas" panose="020B0609020204030204" pitchFamily="49" charset="0"/>
                <a:cs typeface="Consolas" panose="020B0609020204030204" pitchFamily="49" charset="0"/>
              </a:rPr>
              <a:t>"?"</a:t>
            </a:r>
            <a:r>
              <a:rPr lang="en-US" sz="2000" b="1" dirty="0">
                <a:latin typeface="Consolas" panose="020B0609020204030204" pitchFamily="49" charset="0"/>
                <a:cs typeface="Consolas" panose="020B0609020204030204" pitchFamily="49" charset="0"/>
              </a:rPr>
              <a:t>);</a:t>
            </a:r>
          </a:p>
          <a:p>
            <a:pPr>
              <a:lnSpc>
                <a:spcPct val="150000"/>
              </a:lnSpc>
            </a:pPr>
            <a:r>
              <a:rPr lang="en-US" sz="2000" b="1" dirty="0">
                <a:latin typeface="Consolas" panose="020B0609020204030204" pitchFamily="49" charset="0"/>
                <a:cs typeface="Consolas" panose="020B0609020204030204" pitchFamily="49" charset="0"/>
              </a:rPr>
              <a:t>x = </a:t>
            </a:r>
            <a:r>
              <a:rPr lang="en-US" sz="2000" b="1" dirty="0">
                <a:solidFill>
                  <a:schemeClr val="accent3">
                    <a:lumMod val="75000"/>
                  </a:schemeClr>
                </a:solidFill>
                <a:latin typeface="Consolas" panose="020B0609020204030204" pitchFamily="49" charset="0"/>
                <a:cs typeface="Consolas" panose="020B0609020204030204" pitchFamily="49" charset="0"/>
              </a:rPr>
              <a:t>20</a:t>
            </a:r>
            <a:r>
              <a:rPr lang="en-US" sz="2000" b="1" dirty="0">
                <a:latin typeface="Consolas" panose="020B0609020204030204" pitchFamily="49" charset="0"/>
                <a:cs typeface="Consolas" panose="020B0609020204030204" pitchFamily="49" charset="0"/>
              </a:rPr>
              <a:t>;</a:t>
            </a:r>
          </a:p>
          <a:p>
            <a:pPr>
              <a:lnSpc>
                <a:spcPct val="150000"/>
              </a:lnSpc>
            </a:pPr>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(x);</a:t>
            </a:r>
          </a:p>
        </p:txBody>
      </p:sp>
      <p:grpSp>
        <p:nvGrpSpPr>
          <p:cNvPr id="14" name="Group 13">
            <a:extLst>
              <a:ext uri="{FF2B5EF4-FFF2-40B4-BE49-F238E27FC236}">
                <a16:creationId xmlns:a16="http://schemas.microsoft.com/office/drawing/2014/main" id="{41822370-4DE1-6D46-8D37-6F911804D559}"/>
              </a:ext>
            </a:extLst>
          </p:cNvPr>
          <p:cNvGrpSpPr/>
          <p:nvPr/>
        </p:nvGrpSpPr>
        <p:grpSpPr>
          <a:xfrm>
            <a:off x="5947736" y="932362"/>
            <a:ext cx="284052" cy="829763"/>
            <a:chOff x="5947736" y="932362"/>
            <a:chExt cx="284052" cy="829763"/>
          </a:xfrm>
        </p:grpSpPr>
        <p:cxnSp>
          <p:nvCxnSpPr>
            <p:cNvPr id="6" name="Straight Connector 5">
              <a:extLst>
                <a:ext uri="{FF2B5EF4-FFF2-40B4-BE49-F238E27FC236}">
                  <a16:creationId xmlns:a16="http://schemas.microsoft.com/office/drawing/2014/main" id="{ECFFE793-0AEA-5C49-B2ED-6B1D5C0235BD}"/>
                </a:ext>
              </a:extLst>
            </p:cNvPr>
            <p:cNvCxnSpPr>
              <a:cxnSpLocks/>
            </p:cNvCxnSpPr>
            <p:nvPr/>
          </p:nvCxnSpPr>
          <p:spPr>
            <a:xfrm>
              <a:off x="6096000" y="1304925"/>
              <a:ext cx="0" cy="457200"/>
            </a:xfrm>
            <a:prstGeom prst="line">
              <a:avLst/>
            </a:prstGeom>
            <a:ln w="38100">
              <a:solidFill>
                <a:srgbClr val="FF000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79817119-469B-554E-A026-99FFE6CDD366}"/>
                </a:ext>
              </a:extLst>
            </p:cNvPr>
            <p:cNvSpPr txBox="1"/>
            <p:nvPr/>
          </p:nvSpPr>
          <p:spPr>
            <a:xfrm>
              <a:off x="5947736" y="932362"/>
              <a:ext cx="284052" cy="308418"/>
            </a:xfrm>
            <a:prstGeom prst="rect">
              <a:avLst/>
            </a:prstGeom>
            <a:noFill/>
          </p:spPr>
          <p:txBody>
            <a:bodyPr wrap="none" rtlCol="0">
              <a:spAutoFit/>
            </a:bodyPr>
            <a:lstStyle/>
            <a:p>
              <a:pPr algn="ctr"/>
              <a:r>
                <a:rPr lang="en-US" b="1" dirty="0">
                  <a:solidFill>
                    <a:srgbClr val="FF0000"/>
                  </a:solidFill>
                  <a:latin typeface="Consolas" panose="020B0609020204030204" pitchFamily="49" charset="0"/>
                  <a:cs typeface="Consolas" panose="020B0609020204030204" pitchFamily="49" charset="0"/>
                </a:rPr>
                <a:t>x</a:t>
              </a:r>
            </a:p>
          </p:txBody>
        </p:sp>
      </p:grpSp>
      <p:cxnSp>
        <p:nvCxnSpPr>
          <p:cNvPr id="9" name="Straight Connector 8">
            <a:extLst>
              <a:ext uri="{FF2B5EF4-FFF2-40B4-BE49-F238E27FC236}">
                <a16:creationId xmlns:a16="http://schemas.microsoft.com/office/drawing/2014/main" id="{61968DDF-91DC-6B43-9143-BD3BFB92A11E}"/>
              </a:ext>
            </a:extLst>
          </p:cNvPr>
          <p:cNvCxnSpPr>
            <a:cxnSpLocks/>
          </p:cNvCxnSpPr>
          <p:nvPr/>
        </p:nvCxnSpPr>
        <p:spPr>
          <a:xfrm>
            <a:off x="6096000" y="2676525"/>
            <a:ext cx="0" cy="457200"/>
          </a:xfrm>
          <a:prstGeom prst="line">
            <a:avLst/>
          </a:prstGeom>
          <a:ln w="38100">
            <a:solidFill>
              <a:srgbClr val="FF000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7B0129E-950C-5E48-BD99-02E80790C91A}"/>
              </a:ext>
            </a:extLst>
          </p:cNvPr>
          <p:cNvSpPr txBox="1"/>
          <p:nvPr/>
        </p:nvSpPr>
        <p:spPr>
          <a:xfrm>
            <a:off x="1644509" y="1281382"/>
            <a:ext cx="4190995" cy="430887"/>
          </a:xfrm>
          <a:prstGeom prst="rect">
            <a:avLst/>
          </a:prstGeom>
          <a:noFill/>
        </p:spPr>
        <p:txBody>
          <a:bodyPr wrap="square" rtlCol="0">
            <a:spAutoFit/>
          </a:bodyPr>
          <a:lstStyle/>
          <a:p>
            <a:pPr algn="r"/>
            <a:r>
              <a:rPr lang="en-US" sz="2200" b="1" dirty="0">
                <a:latin typeface="Consolas" panose="020B0609020204030204" pitchFamily="49" charset="0"/>
                <a:cs typeface="Consolas" panose="020B0609020204030204" pitchFamily="49" charset="0"/>
              </a:rPr>
              <a:t>x</a:t>
            </a:r>
            <a:r>
              <a:rPr lang="en-US" sz="2200" dirty="0"/>
              <a:t> is live </a:t>
            </a:r>
            <a:r>
              <a:rPr lang="en-US" sz="2200" i="1" dirty="0"/>
              <a:t>twice </a:t>
            </a:r>
            <a:r>
              <a:rPr lang="en-US" sz="2200" dirty="0"/>
              <a:t>in this code…</a:t>
            </a:r>
            <a:endParaRPr lang="en-US" sz="2200" b="1" dirty="0"/>
          </a:p>
        </p:txBody>
      </p:sp>
      <p:sp>
        <p:nvSpPr>
          <p:cNvPr id="12" name="TextBox 11">
            <a:extLst>
              <a:ext uri="{FF2B5EF4-FFF2-40B4-BE49-F238E27FC236}">
                <a16:creationId xmlns:a16="http://schemas.microsoft.com/office/drawing/2014/main" id="{0F79BCDE-EC97-D149-B0A7-E93FE3E2CB60}"/>
              </a:ext>
            </a:extLst>
          </p:cNvPr>
          <p:cNvSpPr txBox="1"/>
          <p:nvPr/>
        </p:nvSpPr>
        <p:spPr>
          <a:xfrm>
            <a:off x="670379" y="1950769"/>
            <a:ext cx="5109009" cy="430887"/>
          </a:xfrm>
          <a:prstGeom prst="rect">
            <a:avLst/>
          </a:prstGeom>
          <a:noFill/>
        </p:spPr>
        <p:txBody>
          <a:bodyPr wrap="square" rtlCol="0">
            <a:spAutoFit/>
          </a:bodyPr>
          <a:lstStyle/>
          <a:p>
            <a:pPr algn="r"/>
            <a:r>
              <a:rPr lang="en-US" sz="2200" dirty="0"/>
              <a:t>with a sort of "dead zone" in between.</a:t>
            </a:r>
            <a:endParaRPr lang="en-US" sz="2200" b="1" dirty="0"/>
          </a:p>
        </p:txBody>
      </p:sp>
      <p:cxnSp>
        <p:nvCxnSpPr>
          <p:cNvPr id="15" name="Straight Connector 14">
            <a:extLst>
              <a:ext uri="{FF2B5EF4-FFF2-40B4-BE49-F238E27FC236}">
                <a16:creationId xmlns:a16="http://schemas.microsoft.com/office/drawing/2014/main" id="{3E2BBAE9-2192-4249-BFE9-A81556DC66C9}"/>
              </a:ext>
            </a:extLst>
          </p:cNvPr>
          <p:cNvCxnSpPr>
            <a:cxnSpLocks/>
          </p:cNvCxnSpPr>
          <p:nvPr/>
        </p:nvCxnSpPr>
        <p:spPr>
          <a:xfrm>
            <a:off x="5951872" y="1762125"/>
            <a:ext cx="0" cy="914400"/>
          </a:xfrm>
          <a:prstGeom prst="line">
            <a:avLst/>
          </a:prstGeom>
          <a:ln w="38100">
            <a:solidFill>
              <a:schemeClr val="tx1">
                <a:lumMod val="50000"/>
                <a:lumOff val="50000"/>
              </a:schemeClr>
            </a:solidFill>
            <a:prstDash val="sys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7191311-0839-174F-9D66-A8059636882A}"/>
              </a:ext>
            </a:extLst>
          </p:cNvPr>
          <p:cNvSpPr txBox="1"/>
          <p:nvPr/>
        </p:nvSpPr>
        <p:spPr>
          <a:xfrm>
            <a:off x="457204" y="2579727"/>
            <a:ext cx="5169782" cy="1107996"/>
          </a:xfrm>
          <a:prstGeom prst="rect">
            <a:avLst/>
          </a:prstGeom>
          <a:noFill/>
        </p:spPr>
        <p:txBody>
          <a:bodyPr wrap="square" rtlCol="0">
            <a:spAutoFit/>
          </a:bodyPr>
          <a:lstStyle/>
          <a:p>
            <a:pPr algn="ctr"/>
            <a:r>
              <a:rPr lang="en-US" sz="2200" dirty="0"/>
              <a:t>this seems weird, but it's telling us something useful: </a:t>
            </a:r>
            <a:r>
              <a:rPr lang="en-US" sz="2200" b="1" dirty="0">
                <a:latin typeface="Consolas" panose="020B0609020204030204" pitchFamily="49" charset="0"/>
                <a:cs typeface="Consolas" panose="020B0609020204030204" pitchFamily="49" charset="0"/>
              </a:rPr>
              <a:t>x</a:t>
            </a:r>
            <a:r>
              <a:rPr lang="en-US" sz="2200" b="1" dirty="0"/>
              <a:t> is behaving like </a:t>
            </a:r>
            <a:r>
              <a:rPr lang="en-US" sz="2200" b="1" i="1" dirty="0"/>
              <a:t>two different variables</a:t>
            </a:r>
            <a:r>
              <a:rPr lang="en-US" sz="2200" b="1" dirty="0"/>
              <a:t> in this code.</a:t>
            </a:r>
          </a:p>
        </p:txBody>
      </p:sp>
      <p:sp>
        <p:nvSpPr>
          <p:cNvPr id="21" name="TextBox 20">
            <a:extLst>
              <a:ext uri="{FF2B5EF4-FFF2-40B4-BE49-F238E27FC236}">
                <a16:creationId xmlns:a16="http://schemas.microsoft.com/office/drawing/2014/main" id="{42102B03-9F2A-3743-AE36-4A1D263E43D9}"/>
              </a:ext>
            </a:extLst>
          </p:cNvPr>
          <p:cNvSpPr txBox="1"/>
          <p:nvPr/>
        </p:nvSpPr>
        <p:spPr>
          <a:xfrm>
            <a:off x="512067" y="3717751"/>
            <a:ext cx="5060056" cy="338554"/>
          </a:xfrm>
          <a:prstGeom prst="rect">
            <a:avLst/>
          </a:prstGeom>
          <a:noFill/>
        </p:spPr>
        <p:txBody>
          <a:bodyPr wrap="square" rtlCol="0">
            <a:spAutoFit/>
          </a:bodyPr>
          <a:lstStyle/>
          <a:p>
            <a:pPr algn="ctr"/>
            <a:r>
              <a:rPr lang="en-US" sz="1600" dirty="0"/>
              <a:t>(remember SSA? this feels like a step towards it…)</a:t>
            </a:r>
            <a:endParaRPr lang="en-US" sz="1600" b="1" dirty="0"/>
          </a:p>
        </p:txBody>
      </p:sp>
      <p:sp>
        <p:nvSpPr>
          <p:cNvPr id="22" name="TextBox 21">
            <a:extLst>
              <a:ext uri="{FF2B5EF4-FFF2-40B4-BE49-F238E27FC236}">
                <a16:creationId xmlns:a16="http://schemas.microsoft.com/office/drawing/2014/main" id="{A8F1D7FD-AB0F-E445-B8EF-BDF8B133FC5E}"/>
              </a:ext>
            </a:extLst>
          </p:cNvPr>
          <p:cNvSpPr txBox="1"/>
          <p:nvPr/>
        </p:nvSpPr>
        <p:spPr>
          <a:xfrm>
            <a:off x="556093" y="4266417"/>
            <a:ext cx="8245007" cy="769441"/>
          </a:xfrm>
          <a:prstGeom prst="rect">
            <a:avLst/>
          </a:prstGeom>
          <a:noFill/>
        </p:spPr>
        <p:txBody>
          <a:bodyPr wrap="square" rtlCol="0">
            <a:spAutoFit/>
          </a:bodyPr>
          <a:lstStyle/>
          <a:p>
            <a:pPr algn="ctr"/>
            <a:r>
              <a:rPr lang="en-US" sz="2200" dirty="0"/>
              <a:t>liveness is the basis for a lot of other optimizations (and error checking!), and we'll see other examples along the way.</a:t>
            </a:r>
            <a:endParaRPr lang="en-US" sz="2200" b="1" dirty="0"/>
          </a:p>
        </p:txBody>
      </p:sp>
    </p:spTree>
    <p:extLst>
      <p:ext uri="{BB962C8B-B14F-4D97-AF65-F5344CB8AC3E}">
        <p14:creationId xmlns:p14="http://schemas.microsoft.com/office/powerpoint/2010/main" val="2007073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300"/>
                                  </p:stCondLst>
                                  <p:childTnLst>
                                    <p:set>
                                      <p:cBhvr>
                                        <p:cTn id="13" dur="1" fill="hold">
                                          <p:stCondLst>
                                            <p:cond delay="0"/>
                                          </p:stCondLst>
                                        </p:cTn>
                                        <p:tgtEl>
                                          <p:spTgt spid="14"/>
                                        </p:tgtEl>
                                        <p:attrNameLst>
                                          <p:attrName>style.visibility</p:attrName>
                                        </p:attrNameLst>
                                      </p:cBhvr>
                                      <p:to>
                                        <p:strVal val="visible"/>
                                      </p:to>
                                    </p:set>
                                  </p:childTnLst>
                                </p:cTn>
                              </p:par>
                            </p:childTnLst>
                          </p:cTn>
                        </p:par>
                        <p:par>
                          <p:cTn id="14" fill="hold">
                            <p:stCondLst>
                              <p:cond delay="300"/>
                            </p:stCondLst>
                            <p:childTnLst>
                              <p:par>
                                <p:cTn id="15" presetID="1" presetClass="entr" presetSubtype="0" fill="hold" nodeType="afterEffect">
                                  <p:stCondLst>
                                    <p:cond delay="30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12" grpId="0"/>
      <p:bldP spid="20" grpId="0"/>
      <p:bldP spid="21" grpId="0"/>
      <p:bldP spid="2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3DDF3-289E-A54C-9EBC-B800128F34AB}"/>
              </a:ext>
            </a:extLst>
          </p:cNvPr>
          <p:cNvSpPr>
            <a:spLocks noGrp="1"/>
          </p:cNvSpPr>
          <p:nvPr>
            <p:ph type="title"/>
          </p:nvPr>
        </p:nvSpPr>
        <p:spPr/>
        <p:txBody>
          <a:bodyPr/>
          <a:lstStyle/>
          <a:p>
            <a:r>
              <a:rPr lang="en-US" dirty="0"/>
              <a:t>Two perspectives</a:t>
            </a:r>
          </a:p>
        </p:txBody>
      </p:sp>
      <p:sp>
        <p:nvSpPr>
          <p:cNvPr id="3" name="Content Placeholder 2">
            <a:extLst>
              <a:ext uri="{FF2B5EF4-FFF2-40B4-BE49-F238E27FC236}">
                <a16:creationId xmlns:a16="http://schemas.microsoft.com/office/drawing/2014/main" id="{06D2345F-2670-8D4A-AE38-B3FA5E3FAEBE}"/>
              </a:ext>
            </a:extLst>
          </p:cNvPr>
          <p:cNvSpPr>
            <a:spLocks noGrp="1"/>
          </p:cNvSpPr>
          <p:nvPr>
            <p:ph idx="1"/>
          </p:nvPr>
        </p:nvSpPr>
        <p:spPr>
          <a:xfrm>
            <a:off x="152400" y="495301"/>
            <a:ext cx="8991600" cy="1219199"/>
          </a:xfrm>
        </p:spPr>
        <p:txBody>
          <a:bodyPr/>
          <a:lstStyle/>
          <a:p>
            <a:r>
              <a:rPr lang="en-US" dirty="0"/>
              <a:t>we already saw that we can view liveness as a </a:t>
            </a:r>
            <a:r>
              <a:rPr lang="en-US" b="1" dirty="0"/>
              <a:t>set of ranges</a:t>
            </a:r>
            <a:r>
              <a:rPr lang="en-US" dirty="0"/>
              <a:t> of instructions (and basic blocks) during which a variable is live.</a:t>
            </a:r>
          </a:p>
          <a:p>
            <a:r>
              <a:rPr lang="en-US" dirty="0"/>
              <a:t>but another view becomes useful when you have </a:t>
            </a:r>
            <a:r>
              <a:rPr lang="en-US" b="1" dirty="0"/>
              <a:t>multiple variables.</a:t>
            </a:r>
            <a:endParaRPr lang="en-US" dirty="0"/>
          </a:p>
        </p:txBody>
      </p:sp>
      <p:sp>
        <p:nvSpPr>
          <p:cNvPr id="4" name="Slide Number Placeholder 3">
            <a:extLst>
              <a:ext uri="{FF2B5EF4-FFF2-40B4-BE49-F238E27FC236}">
                <a16:creationId xmlns:a16="http://schemas.microsoft.com/office/drawing/2014/main" id="{F0D5140E-7C2E-8848-8D5B-5BF1B1F1012A}"/>
              </a:ext>
            </a:extLst>
          </p:cNvPr>
          <p:cNvSpPr>
            <a:spLocks noGrp="1"/>
          </p:cNvSpPr>
          <p:nvPr>
            <p:ph type="sldNum" sz="quarter" idx="12"/>
          </p:nvPr>
        </p:nvSpPr>
        <p:spPr/>
        <p:txBody>
          <a:bodyPr/>
          <a:lstStyle/>
          <a:p>
            <a:fld id="{3552B95B-556F-44BD-91A5-D80C1B9E2BB3}" type="slidenum">
              <a:rPr lang="en-US" smtClean="0"/>
              <a:pPr/>
              <a:t>38</a:t>
            </a:fld>
            <a:endParaRPr lang="en-US"/>
          </a:p>
        </p:txBody>
      </p:sp>
      <p:sp>
        <p:nvSpPr>
          <p:cNvPr id="5" name="Rectangle 4">
            <a:extLst>
              <a:ext uri="{FF2B5EF4-FFF2-40B4-BE49-F238E27FC236}">
                <a16:creationId xmlns:a16="http://schemas.microsoft.com/office/drawing/2014/main" id="{1EE3F96E-02C9-DA45-998B-9B525A881F89}"/>
              </a:ext>
            </a:extLst>
          </p:cNvPr>
          <p:cNvSpPr/>
          <p:nvPr/>
        </p:nvSpPr>
        <p:spPr>
          <a:xfrm>
            <a:off x="4689054" y="1877403"/>
            <a:ext cx="4378746" cy="3139321"/>
          </a:xfrm>
          <a:prstGeom prst="rect">
            <a:avLst/>
          </a:prstGeom>
        </p:spPr>
        <p:txBody>
          <a:bodyPr wrap="square">
            <a:spAutoFit/>
          </a:bodyPr>
          <a:lstStyle/>
          <a:p>
            <a:r>
              <a:rPr lang="en-US" sz="1800" b="1" dirty="0" err="1">
                <a:solidFill>
                  <a:srgbClr val="FF0000"/>
                </a:solidFill>
                <a:latin typeface="Consolas" panose="020B0609020204030204" pitchFamily="49" charset="0"/>
                <a:cs typeface="Consolas" panose="020B0609020204030204" pitchFamily="49" charset="0"/>
              </a:rPr>
              <a:t>fn</a:t>
            </a:r>
            <a:r>
              <a:rPr lang="en-US" sz="1800" b="1" dirty="0">
                <a:latin typeface="Consolas" panose="020B0609020204030204" pitchFamily="49" charset="0"/>
                <a:cs typeface="Consolas" panose="020B0609020204030204" pitchFamily="49" charset="0"/>
              </a:rPr>
              <a:t> has(l: List, </a:t>
            </a:r>
            <a:r>
              <a:rPr lang="en-US" sz="1800" b="1" dirty="0" err="1">
                <a:latin typeface="Consolas" panose="020B0609020204030204" pitchFamily="49" charset="0"/>
                <a:cs typeface="Consolas" panose="020B0609020204030204" pitchFamily="49" charset="0"/>
              </a:rPr>
              <a:t>val</a:t>
            </a:r>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int</a:t>
            </a:r>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bool</a:t>
            </a:r>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let</a:t>
            </a:r>
            <a:r>
              <a:rPr lang="en-US" sz="1800" b="1" dirty="0">
                <a:latin typeface="Consolas" panose="020B0609020204030204" pitchFamily="49" charset="0"/>
                <a:cs typeface="Consolas" panose="020B0609020204030204" pitchFamily="49" charset="0"/>
              </a:rPr>
              <a:t> n = </a:t>
            </a:r>
            <a:r>
              <a:rPr lang="en-US" sz="1800" b="1" dirty="0" err="1">
                <a:latin typeface="Consolas" panose="020B0609020204030204" pitchFamily="49" charset="0"/>
                <a:cs typeface="Consolas" panose="020B0609020204030204" pitchFamily="49" charset="0"/>
              </a:rPr>
              <a:t>l.length</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let</a:t>
            </a:r>
            <a:r>
              <a:rPr lang="en-US" sz="1800" b="1" dirty="0">
                <a:latin typeface="Consolas" panose="020B0609020204030204" pitchFamily="49" charset="0"/>
                <a:cs typeface="Consolas" panose="020B0609020204030204" pitchFamily="49" charset="0"/>
              </a:rPr>
              <a:t> found = </a:t>
            </a:r>
            <a:r>
              <a:rPr lang="en-US" sz="1800" b="1" dirty="0">
                <a:solidFill>
                  <a:srgbClr val="FF0000"/>
                </a:solidFill>
                <a:latin typeface="Consolas" panose="020B0609020204030204" pitchFamily="49" charset="0"/>
                <a:cs typeface="Consolas" panose="020B0609020204030204" pitchFamily="49" charset="0"/>
              </a:rPr>
              <a:t>false</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for</a:t>
            </a:r>
            <a:r>
              <a:rPr lang="en-US" sz="1800" b="1" dirty="0">
                <a:latin typeface="Consolas" panose="020B0609020204030204" pitchFamily="49" charset="0"/>
                <a:cs typeface="Consolas" panose="020B0609020204030204" pitchFamily="49" charset="0"/>
              </a:rPr>
              <a:t> i </a:t>
            </a:r>
            <a:r>
              <a:rPr lang="en-US" sz="1800" b="1" dirty="0">
                <a:solidFill>
                  <a:srgbClr val="FF0000"/>
                </a:solidFill>
                <a:latin typeface="Consolas" panose="020B0609020204030204" pitchFamily="49" charset="0"/>
                <a:cs typeface="Consolas" panose="020B0609020204030204" pitchFamily="49" charset="0"/>
              </a:rPr>
              <a:t>in</a:t>
            </a:r>
            <a:r>
              <a:rPr lang="en-US" sz="1800" b="1" dirty="0">
                <a:latin typeface="Consolas" panose="020B0609020204030204" pitchFamily="49" charset="0"/>
                <a:cs typeface="Consolas" panose="020B0609020204030204" pitchFamily="49" charset="0"/>
              </a:rPr>
              <a:t> </a:t>
            </a:r>
            <a:r>
              <a:rPr lang="en-US" sz="1800" b="1" dirty="0">
                <a:solidFill>
                  <a:schemeClr val="accent3">
                    <a:lumMod val="75000"/>
                  </a:schemeClr>
                </a:solidFill>
                <a:latin typeface="Consolas" panose="020B0609020204030204" pitchFamily="49" charset="0"/>
                <a:cs typeface="Consolas" panose="020B0609020204030204" pitchFamily="49" charset="0"/>
              </a:rPr>
              <a:t>0</a:t>
            </a:r>
            <a:r>
              <a:rPr lang="en-US" sz="1800" b="1" dirty="0">
                <a:latin typeface="Consolas" panose="020B0609020204030204" pitchFamily="49" charset="0"/>
                <a:cs typeface="Consolas" panose="020B0609020204030204" pitchFamily="49" charset="0"/>
              </a:rPr>
              <a:t>, n {</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let</a:t>
            </a:r>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obj</a:t>
            </a:r>
            <a:r>
              <a:rPr lang="en-US" sz="1800" b="1" dirty="0">
                <a:latin typeface="Consolas" panose="020B0609020204030204" pitchFamily="49" charset="0"/>
                <a:cs typeface="Consolas" panose="020B0609020204030204" pitchFamily="49" charset="0"/>
              </a:rPr>
              <a:t> = </a:t>
            </a:r>
            <a:r>
              <a:rPr lang="en-US" sz="1800" b="1" dirty="0" err="1">
                <a:latin typeface="Consolas" panose="020B0609020204030204" pitchFamily="49" charset="0"/>
                <a:cs typeface="Consolas" panose="020B0609020204030204" pitchFamily="49" charset="0"/>
              </a:rPr>
              <a:t>l.get</a:t>
            </a:r>
            <a:r>
              <a:rPr lang="en-US" sz="1800" b="1" dirty="0">
                <a:latin typeface="Consolas" panose="020B0609020204030204" pitchFamily="49" charset="0"/>
                <a:cs typeface="Consolas" panose="020B0609020204030204" pitchFamily="49" charset="0"/>
              </a:rPr>
              <a:t>(i);</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if</a:t>
            </a:r>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obj.value</a:t>
            </a:r>
            <a:r>
              <a:rPr lang="en-US" sz="1800" b="1" dirty="0">
                <a:latin typeface="Consolas" panose="020B0609020204030204" pitchFamily="49" charset="0"/>
                <a:cs typeface="Consolas" panose="020B0609020204030204" pitchFamily="49" charset="0"/>
              </a:rPr>
              <a:t>() == </a:t>
            </a:r>
            <a:r>
              <a:rPr lang="en-US" sz="1800" b="1" dirty="0" err="1">
                <a:latin typeface="Consolas" panose="020B0609020204030204" pitchFamily="49" charset="0"/>
                <a:cs typeface="Consolas" panose="020B0609020204030204" pitchFamily="49" charset="0"/>
              </a:rPr>
              <a:t>val</a:t>
            </a:r>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found = </a:t>
            </a:r>
            <a:r>
              <a:rPr lang="en-US" sz="1800" b="1" dirty="0">
                <a:solidFill>
                  <a:srgbClr val="FF0000"/>
                </a:solidFill>
                <a:latin typeface="Consolas" panose="020B0609020204030204" pitchFamily="49" charset="0"/>
                <a:cs typeface="Consolas" panose="020B0609020204030204" pitchFamily="49" charset="0"/>
              </a:rPr>
              <a:t>true</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return</a:t>
            </a:r>
            <a:r>
              <a:rPr lang="en-US" sz="1800" b="1" dirty="0">
                <a:latin typeface="Consolas" panose="020B0609020204030204" pitchFamily="49" charset="0"/>
                <a:cs typeface="Consolas" panose="020B0609020204030204" pitchFamily="49" charset="0"/>
              </a:rPr>
              <a:t> found;</a:t>
            </a:r>
          </a:p>
          <a:p>
            <a:r>
              <a:rPr lang="en-US" sz="1800" b="1" dirty="0">
                <a:latin typeface="Consolas" panose="020B0609020204030204" pitchFamily="49" charset="0"/>
                <a:cs typeface="Consolas" panose="020B0609020204030204" pitchFamily="49" charset="0"/>
              </a:rPr>
              <a:t>}</a:t>
            </a:r>
          </a:p>
        </p:txBody>
      </p:sp>
      <p:grpSp>
        <p:nvGrpSpPr>
          <p:cNvPr id="37" name="Group 36">
            <a:extLst>
              <a:ext uri="{FF2B5EF4-FFF2-40B4-BE49-F238E27FC236}">
                <a16:creationId xmlns:a16="http://schemas.microsoft.com/office/drawing/2014/main" id="{616E26F9-DCEC-6249-965F-4EFFE3EE4DF0}"/>
              </a:ext>
            </a:extLst>
          </p:cNvPr>
          <p:cNvGrpSpPr/>
          <p:nvPr/>
        </p:nvGrpSpPr>
        <p:grpSpPr>
          <a:xfrm>
            <a:off x="4392818" y="1760872"/>
            <a:ext cx="308418" cy="2478731"/>
            <a:chOff x="4392818" y="1887648"/>
            <a:chExt cx="308418" cy="2478731"/>
          </a:xfrm>
        </p:grpSpPr>
        <p:cxnSp>
          <p:nvCxnSpPr>
            <p:cNvPr id="7" name="Straight Connector 6">
              <a:extLst>
                <a:ext uri="{FF2B5EF4-FFF2-40B4-BE49-F238E27FC236}">
                  <a16:creationId xmlns:a16="http://schemas.microsoft.com/office/drawing/2014/main" id="{6949232F-C6BE-214C-B657-430565014466}"/>
                </a:ext>
              </a:extLst>
            </p:cNvPr>
            <p:cNvCxnSpPr>
              <a:cxnSpLocks/>
            </p:cNvCxnSpPr>
            <p:nvPr/>
          </p:nvCxnSpPr>
          <p:spPr>
            <a:xfrm>
              <a:off x="4553265" y="2224342"/>
              <a:ext cx="0" cy="2142037"/>
            </a:xfrm>
            <a:prstGeom prst="line">
              <a:avLst/>
            </a:prstGeom>
            <a:ln w="38100">
              <a:solidFill>
                <a:srgbClr val="FF000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7301143-F111-CD48-B333-98822B70A5A8}"/>
                </a:ext>
              </a:extLst>
            </p:cNvPr>
            <p:cNvSpPr txBox="1"/>
            <p:nvPr/>
          </p:nvSpPr>
          <p:spPr>
            <a:xfrm rot="16200000">
              <a:off x="4405001" y="1875465"/>
              <a:ext cx="284052" cy="308418"/>
            </a:xfrm>
            <a:prstGeom prst="rect">
              <a:avLst/>
            </a:prstGeom>
            <a:noFill/>
          </p:spPr>
          <p:txBody>
            <a:bodyPr wrap="none" rtlCol="0">
              <a:spAutoFit/>
            </a:bodyPr>
            <a:lstStyle/>
            <a:p>
              <a:r>
                <a:rPr lang="en-US" b="1" dirty="0">
                  <a:solidFill>
                    <a:srgbClr val="FF0000"/>
                  </a:solidFill>
                  <a:latin typeface="Consolas" panose="020B0609020204030204" pitchFamily="49" charset="0"/>
                  <a:cs typeface="Consolas" panose="020B0609020204030204" pitchFamily="49" charset="0"/>
                </a:rPr>
                <a:t>l</a:t>
              </a:r>
            </a:p>
          </p:txBody>
        </p:sp>
      </p:grpSp>
      <p:grpSp>
        <p:nvGrpSpPr>
          <p:cNvPr id="36" name="Group 35">
            <a:extLst>
              <a:ext uri="{FF2B5EF4-FFF2-40B4-BE49-F238E27FC236}">
                <a16:creationId xmlns:a16="http://schemas.microsoft.com/office/drawing/2014/main" id="{36086206-5BDA-1B4F-A98A-9F9963A796FC}"/>
              </a:ext>
            </a:extLst>
          </p:cNvPr>
          <p:cNvGrpSpPr/>
          <p:nvPr/>
        </p:nvGrpSpPr>
        <p:grpSpPr>
          <a:xfrm>
            <a:off x="4187382" y="1562100"/>
            <a:ext cx="308418" cy="2677503"/>
            <a:chOff x="4187382" y="1688876"/>
            <a:chExt cx="308418" cy="2677503"/>
          </a:xfrm>
        </p:grpSpPr>
        <p:cxnSp>
          <p:nvCxnSpPr>
            <p:cNvPr id="11" name="Straight Connector 10">
              <a:extLst>
                <a:ext uri="{FF2B5EF4-FFF2-40B4-BE49-F238E27FC236}">
                  <a16:creationId xmlns:a16="http://schemas.microsoft.com/office/drawing/2014/main" id="{F9349596-42F7-CE43-B9D4-937060CB284F}"/>
                </a:ext>
              </a:extLst>
            </p:cNvPr>
            <p:cNvCxnSpPr>
              <a:cxnSpLocks/>
            </p:cNvCxnSpPr>
            <p:nvPr/>
          </p:nvCxnSpPr>
          <p:spPr>
            <a:xfrm>
              <a:off x="4347829" y="2224342"/>
              <a:ext cx="0" cy="2142037"/>
            </a:xfrm>
            <a:prstGeom prst="line">
              <a:avLst/>
            </a:prstGeom>
            <a:ln w="38100">
              <a:solidFill>
                <a:schemeClr val="accent6">
                  <a:lumMod val="75000"/>
                </a:schemeClr>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6406D1B-6696-A54C-B67C-D6773818E451}"/>
                </a:ext>
              </a:extLst>
            </p:cNvPr>
            <p:cNvSpPr txBox="1"/>
            <p:nvPr/>
          </p:nvSpPr>
          <p:spPr>
            <a:xfrm rot="16200000">
              <a:off x="4100179" y="1776079"/>
              <a:ext cx="482824" cy="308418"/>
            </a:xfrm>
            <a:prstGeom prst="rect">
              <a:avLst/>
            </a:prstGeom>
            <a:noFill/>
          </p:spPr>
          <p:txBody>
            <a:bodyPr wrap="none" rtlCol="0">
              <a:spAutoFit/>
            </a:bodyPr>
            <a:lstStyle/>
            <a:p>
              <a:r>
                <a:rPr lang="en-US" b="1" dirty="0" err="1">
                  <a:solidFill>
                    <a:schemeClr val="accent6">
                      <a:lumMod val="75000"/>
                    </a:schemeClr>
                  </a:solidFill>
                  <a:latin typeface="Consolas" panose="020B0609020204030204" pitchFamily="49" charset="0"/>
                  <a:cs typeface="Consolas" panose="020B0609020204030204" pitchFamily="49" charset="0"/>
                </a:rPr>
                <a:t>val</a:t>
              </a:r>
              <a:endParaRPr lang="en-US" b="1" dirty="0">
                <a:solidFill>
                  <a:schemeClr val="accent6">
                    <a:lumMod val="75000"/>
                  </a:schemeClr>
                </a:solidFill>
                <a:latin typeface="Consolas" panose="020B0609020204030204" pitchFamily="49" charset="0"/>
                <a:cs typeface="Consolas" panose="020B0609020204030204" pitchFamily="49" charset="0"/>
              </a:endParaRPr>
            </a:p>
          </p:txBody>
        </p:sp>
      </p:grpSp>
      <p:grpSp>
        <p:nvGrpSpPr>
          <p:cNvPr id="35" name="Group 34">
            <a:extLst>
              <a:ext uri="{FF2B5EF4-FFF2-40B4-BE49-F238E27FC236}">
                <a16:creationId xmlns:a16="http://schemas.microsoft.com/office/drawing/2014/main" id="{D3B39704-4AC7-2846-8610-39EB5D6B39B2}"/>
              </a:ext>
            </a:extLst>
          </p:cNvPr>
          <p:cNvGrpSpPr/>
          <p:nvPr/>
        </p:nvGrpSpPr>
        <p:grpSpPr>
          <a:xfrm>
            <a:off x="3942784" y="1955540"/>
            <a:ext cx="308418" cy="912463"/>
            <a:chOff x="3942784" y="2082316"/>
            <a:chExt cx="308418" cy="912463"/>
          </a:xfrm>
        </p:grpSpPr>
        <p:cxnSp>
          <p:nvCxnSpPr>
            <p:cNvPr id="14" name="Straight Connector 13">
              <a:extLst>
                <a:ext uri="{FF2B5EF4-FFF2-40B4-BE49-F238E27FC236}">
                  <a16:creationId xmlns:a16="http://schemas.microsoft.com/office/drawing/2014/main" id="{6CC07EE3-EE27-664E-8B84-5EB9916D73C4}"/>
                </a:ext>
              </a:extLst>
            </p:cNvPr>
            <p:cNvCxnSpPr>
              <a:cxnSpLocks/>
            </p:cNvCxnSpPr>
            <p:nvPr/>
          </p:nvCxnSpPr>
          <p:spPr>
            <a:xfrm>
              <a:off x="4122847" y="2461379"/>
              <a:ext cx="0" cy="533400"/>
            </a:xfrm>
            <a:prstGeom prst="line">
              <a:avLst/>
            </a:prstGeom>
            <a:ln w="38100">
              <a:solidFill>
                <a:srgbClr val="FFC00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1D7F4CC-E489-5B49-821B-BCB6F65AEAA9}"/>
                </a:ext>
              </a:extLst>
            </p:cNvPr>
            <p:cNvSpPr txBox="1"/>
            <p:nvPr/>
          </p:nvSpPr>
          <p:spPr>
            <a:xfrm rot="16200000">
              <a:off x="3954967" y="2070133"/>
              <a:ext cx="284052" cy="308418"/>
            </a:xfrm>
            <a:prstGeom prst="rect">
              <a:avLst/>
            </a:prstGeom>
            <a:noFill/>
          </p:spPr>
          <p:txBody>
            <a:bodyPr wrap="square" rtlCol="0">
              <a:spAutoFit/>
            </a:bodyPr>
            <a:lstStyle/>
            <a:p>
              <a:r>
                <a:rPr lang="en-US" b="1" dirty="0">
                  <a:solidFill>
                    <a:srgbClr val="FFC000"/>
                  </a:solidFill>
                  <a:latin typeface="Consolas" panose="020B0609020204030204" pitchFamily="49" charset="0"/>
                  <a:cs typeface="Consolas" panose="020B0609020204030204" pitchFamily="49" charset="0"/>
                </a:rPr>
                <a:t>n</a:t>
              </a:r>
            </a:p>
          </p:txBody>
        </p:sp>
      </p:grpSp>
      <p:grpSp>
        <p:nvGrpSpPr>
          <p:cNvPr id="34" name="Group 33">
            <a:extLst>
              <a:ext uri="{FF2B5EF4-FFF2-40B4-BE49-F238E27FC236}">
                <a16:creationId xmlns:a16="http://schemas.microsoft.com/office/drawing/2014/main" id="{B4A078B6-E092-944A-8A45-DF5609A7D014}"/>
              </a:ext>
            </a:extLst>
          </p:cNvPr>
          <p:cNvGrpSpPr/>
          <p:nvPr/>
        </p:nvGrpSpPr>
        <p:grpSpPr>
          <a:xfrm>
            <a:off x="3756849" y="1776982"/>
            <a:ext cx="308418" cy="2706342"/>
            <a:chOff x="3756849" y="1903758"/>
            <a:chExt cx="308418" cy="2706342"/>
          </a:xfrm>
        </p:grpSpPr>
        <p:cxnSp>
          <p:nvCxnSpPr>
            <p:cNvPr id="19" name="Straight Connector 18">
              <a:extLst>
                <a:ext uri="{FF2B5EF4-FFF2-40B4-BE49-F238E27FC236}">
                  <a16:creationId xmlns:a16="http://schemas.microsoft.com/office/drawing/2014/main" id="{1820E9A6-1C2D-5B4C-8A56-355005F012CB}"/>
                </a:ext>
              </a:extLst>
            </p:cNvPr>
            <p:cNvCxnSpPr>
              <a:cxnSpLocks/>
            </p:cNvCxnSpPr>
            <p:nvPr/>
          </p:nvCxnSpPr>
          <p:spPr>
            <a:xfrm>
              <a:off x="3918835" y="2698416"/>
              <a:ext cx="0" cy="1911684"/>
            </a:xfrm>
            <a:prstGeom prst="line">
              <a:avLst/>
            </a:prstGeom>
            <a:ln w="38100">
              <a:solidFill>
                <a:srgbClr val="00B05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744DAB7-6D60-C24A-9B84-CF4E549BDF3A}"/>
                </a:ext>
              </a:extLst>
            </p:cNvPr>
            <p:cNvSpPr txBox="1"/>
            <p:nvPr/>
          </p:nvSpPr>
          <p:spPr>
            <a:xfrm rot="16200000">
              <a:off x="3570259" y="2090348"/>
              <a:ext cx="681597" cy="308418"/>
            </a:xfrm>
            <a:prstGeom prst="rect">
              <a:avLst/>
            </a:prstGeom>
            <a:noFill/>
          </p:spPr>
          <p:txBody>
            <a:bodyPr wrap="none" rtlCol="0">
              <a:spAutoFit/>
            </a:bodyPr>
            <a:lstStyle/>
            <a:p>
              <a:r>
                <a:rPr lang="en-US" b="1" dirty="0">
                  <a:solidFill>
                    <a:srgbClr val="00B050"/>
                  </a:solidFill>
                  <a:latin typeface="Consolas" panose="020B0609020204030204" pitchFamily="49" charset="0"/>
                  <a:cs typeface="Consolas" panose="020B0609020204030204" pitchFamily="49" charset="0"/>
                </a:rPr>
                <a:t>found</a:t>
              </a:r>
            </a:p>
          </p:txBody>
        </p:sp>
      </p:grpSp>
      <p:grpSp>
        <p:nvGrpSpPr>
          <p:cNvPr id="33" name="Group 32">
            <a:extLst>
              <a:ext uri="{FF2B5EF4-FFF2-40B4-BE49-F238E27FC236}">
                <a16:creationId xmlns:a16="http://schemas.microsoft.com/office/drawing/2014/main" id="{D64E555C-9FE7-C143-99B1-EACD6BC27857}"/>
              </a:ext>
            </a:extLst>
          </p:cNvPr>
          <p:cNvGrpSpPr/>
          <p:nvPr/>
        </p:nvGrpSpPr>
        <p:grpSpPr>
          <a:xfrm>
            <a:off x="3518939" y="2459277"/>
            <a:ext cx="308418" cy="1780326"/>
            <a:chOff x="3518939" y="2586053"/>
            <a:chExt cx="308418" cy="1780326"/>
          </a:xfrm>
        </p:grpSpPr>
        <p:cxnSp>
          <p:nvCxnSpPr>
            <p:cNvPr id="21" name="Straight Connector 20">
              <a:extLst>
                <a:ext uri="{FF2B5EF4-FFF2-40B4-BE49-F238E27FC236}">
                  <a16:creationId xmlns:a16="http://schemas.microsoft.com/office/drawing/2014/main" id="{189F7673-831B-2A45-996E-16F778DC997D}"/>
                </a:ext>
              </a:extLst>
            </p:cNvPr>
            <p:cNvCxnSpPr>
              <a:cxnSpLocks/>
            </p:cNvCxnSpPr>
            <p:nvPr/>
          </p:nvCxnSpPr>
          <p:spPr>
            <a:xfrm>
              <a:off x="3680926" y="2994779"/>
              <a:ext cx="0" cy="1371600"/>
            </a:xfrm>
            <a:prstGeom prst="line">
              <a:avLst/>
            </a:prstGeom>
            <a:ln w="38100">
              <a:solidFill>
                <a:srgbClr val="0070C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DA2A881-67FA-F04F-8175-E83206D34643}"/>
                </a:ext>
              </a:extLst>
            </p:cNvPr>
            <p:cNvSpPr txBox="1"/>
            <p:nvPr/>
          </p:nvSpPr>
          <p:spPr>
            <a:xfrm rot="16200000">
              <a:off x="3531122" y="2573870"/>
              <a:ext cx="284052" cy="308418"/>
            </a:xfrm>
            <a:prstGeom prst="rect">
              <a:avLst/>
            </a:prstGeom>
            <a:noFill/>
          </p:spPr>
          <p:txBody>
            <a:bodyPr wrap="none" rtlCol="0">
              <a:spAutoFit/>
            </a:bodyPr>
            <a:lstStyle/>
            <a:p>
              <a:r>
                <a:rPr lang="en-US" b="1" dirty="0">
                  <a:solidFill>
                    <a:srgbClr val="0070C0"/>
                  </a:solidFill>
                  <a:latin typeface="Consolas" panose="020B0609020204030204" pitchFamily="49" charset="0"/>
                  <a:cs typeface="Consolas" panose="020B0609020204030204" pitchFamily="49" charset="0"/>
                </a:rPr>
                <a:t>i</a:t>
              </a:r>
            </a:p>
          </p:txBody>
        </p:sp>
      </p:grpSp>
      <p:grpSp>
        <p:nvGrpSpPr>
          <p:cNvPr id="32" name="Group 31">
            <a:extLst>
              <a:ext uri="{FF2B5EF4-FFF2-40B4-BE49-F238E27FC236}">
                <a16:creationId xmlns:a16="http://schemas.microsoft.com/office/drawing/2014/main" id="{FD500742-9143-6646-9CE3-2CA1813C846E}"/>
              </a:ext>
            </a:extLst>
          </p:cNvPr>
          <p:cNvGrpSpPr/>
          <p:nvPr/>
        </p:nvGrpSpPr>
        <p:grpSpPr>
          <a:xfrm>
            <a:off x="3285472" y="2506457"/>
            <a:ext cx="308418" cy="986267"/>
            <a:chOff x="3285472" y="2633233"/>
            <a:chExt cx="308418" cy="986267"/>
          </a:xfrm>
        </p:grpSpPr>
        <p:cxnSp>
          <p:nvCxnSpPr>
            <p:cNvPr id="25" name="Straight Connector 24">
              <a:extLst>
                <a:ext uri="{FF2B5EF4-FFF2-40B4-BE49-F238E27FC236}">
                  <a16:creationId xmlns:a16="http://schemas.microsoft.com/office/drawing/2014/main" id="{2DD64D1F-EBC7-3C40-97BE-A57BFBD74631}"/>
                </a:ext>
              </a:extLst>
            </p:cNvPr>
            <p:cNvCxnSpPr>
              <a:cxnSpLocks/>
            </p:cNvCxnSpPr>
            <p:nvPr/>
          </p:nvCxnSpPr>
          <p:spPr>
            <a:xfrm>
              <a:off x="3465534" y="3261643"/>
              <a:ext cx="0" cy="357857"/>
            </a:xfrm>
            <a:prstGeom prst="line">
              <a:avLst/>
            </a:prstGeom>
            <a:ln w="38100">
              <a:solidFill>
                <a:srgbClr val="7030A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DDBF57BF-3619-2945-B08D-DAF0940E6A23}"/>
                </a:ext>
              </a:extLst>
            </p:cNvPr>
            <p:cNvSpPr txBox="1"/>
            <p:nvPr/>
          </p:nvSpPr>
          <p:spPr>
            <a:xfrm rot="16200000">
              <a:off x="3172981" y="2745724"/>
              <a:ext cx="533399" cy="308418"/>
            </a:xfrm>
            <a:prstGeom prst="rect">
              <a:avLst/>
            </a:prstGeom>
            <a:noFill/>
          </p:spPr>
          <p:txBody>
            <a:bodyPr wrap="square" rtlCol="0">
              <a:spAutoFit/>
            </a:bodyPr>
            <a:lstStyle/>
            <a:p>
              <a:r>
                <a:rPr lang="en-US" b="1" dirty="0" err="1">
                  <a:solidFill>
                    <a:srgbClr val="7030A0"/>
                  </a:solidFill>
                  <a:latin typeface="Consolas" panose="020B0609020204030204" pitchFamily="49" charset="0"/>
                  <a:cs typeface="Consolas" panose="020B0609020204030204" pitchFamily="49" charset="0"/>
                </a:rPr>
                <a:t>obj</a:t>
              </a:r>
              <a:endParaRPr lang="en-US" b="1" dirty="0">
                <a:solidFill>
                  <a:srgbClr val="7030A0"/>
                </a:solidFill>
                <a:latin typeface="Consolas" panose="020B0609020204030204" pitchFamily="49" charset="0"/>
                <a:cs typeface="Consolas" panose="020B0609020204030204" pitchFamily="49" charset="0"/>
              </a:endParaRPr>
            </a:p>
          </p:txBody>
        </p:sp>
      </p:grpSp>
      <p:sp>
        <p:nvSpPr>
          <p:cNvPr id="38" name="TextBox 37">
            <a:extLst>
              <a:ext uri="{FF2B5EF4-FFF2-40B4-BE49-F238E27FC236}">
                <a16:creationId xmlns:a16="http://schemas.microsoft.com/office/drawing/2014/main" id="{DFE47897-FE25-3B46-A726-DB5BF2FC6FAC}"/>
              </a:ext>
            </a:extLst>
          </p:cNvPr>
          <p:cNvSpPr txBox="1"/>
          <p:nvPr/>
        </p:nvSpPr>
        <p:spPr>
          <a:xfrm>
            <a:off x="543956" y="1760872"/>
            <a:ext cx="2692420" cy="1446550"/>
          </a:xfrm>
          <a:prstGeom prst="rect">
            <a:avLst/>
          </a:prstGeom>
          <a:noFill/>
        </p:spPr>
        <p:txBody>
          <a:bodyPr wrap="square" rtlCol="0">
            <a:spAutoFit/>
          </a:bodyPr>
          <a:lstStyle/>
          <a:p>
            <a:pPr algn="ctr"/>
            <a:r>
              <a:rPr lang="en-US" sz="2200" dirty="0"/>
              <a:t>now we can answer: at any point in this function, </a:t>
            </a:r>
            <a:r>
              <a:rPr lang="en-US" sz="2200" b="1" i="1" dirty="0"/>
              <a:t>which</a:t>
            </a:r>
            <a:r>
              <a:rPr lang="en-US" sz="2200" b="1" dirty="0"/>
              <a:t> variables are live?</a:t>
            </a:r>
          </a:p>
        </p:txBody>
      </p:sp>
      <p:sp>
        <p:nvSpPr>
          <p:cNvPr id="39" name="TextBox 38">
            <a:extLst>
              <a:ext uri="{FF2B5EF4-FFF2-40B4-BE49-F238E27FC236}">
                <a16:creationId xmlns:a16="http://schemas.microsoft.com/office/drawing/2014/main" id="{391E0146-F228-8D4A-AE91-1C645C83D636}"/>
              </a:ext>
            </a:extLst>
          </p:cNvPr>
          <p:cNvSpPr txBox="1"/>
          <p:nvPr/>
        </p:nvSpPr>
        <p:spPr>
          <a:xfrm>
            <a:off x="152401" y="3277226"/>
            <a:ext cx="3323088" cy="1785104"/>
          </a:xfrm>
          <a:prstGeom prst="rect">
            <a:avLst/>
          </a:prstGeom>
          <a:noFill/>
        </p:spPr>
        <p:txBody>
          <a:bodyPr wrap="square" rtlCol="0">
            <a:spAutoFit/>
          </a:bodyPr>
          <a:lstStyle/>
          <a:p>
            <a:pPr algn="ctr"/>
            <a:r>
              <a:rPr lang="en-US" sz="2200" dirty="0"/>
              <a:t>this is </a:t>
            </a:r>
            <a:r>
              <a:rPr lang="en-US" sz="2200" i="1" dirty="0"/>
              <a:t>very </a:t>
            </a:r>
            <a:r>
              <a:rPr lang="en-US" sz="2200" dirty="0"/>
              <a:t>relevant to register allocation, since we're trying to map these variables onto the limited CPU registers.</a:t>
            </a:r>
            <a:endParaRPr lang="en-US" sz="2200" b="1" dirty="0"/>
          </a:p>
        </p:txBody>
      </p:sp>
    </p:spTree>
    <p:extLst>
      <p:ext uri="{BB962C8B-B14F-4D97-AF65-F5344CB8AC3E}">
        <p14:creationId xmlns:p14="http://schemas.microsoft.com/office/powerpoint/2010/main" val="12589743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8" grpId="0"/>
      <p:bldP spid="3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05D75-2603-3449-A48F-2EC70E2549BD}"/>
              </a:ext>
            </a:extLst>
          </p:cNvPr>
          <p:cNvSpPr>
            <a:spLocks noGrp="1"/>
          </p:cNvSpPr>
          <p:nvPr>
            <p:ph type="title"/>
          </p:nvPr>
        </p:nvSpPr>
        <p:spPr/>
        <p:txBody>
          <a:bodyPr/>
          <a:lstStyle/>
          <a:p>
            <a:r>
              <a:rPr lang="en-US" dirty="0"/>
              <a:t>Trying (and failing) to determine liveness</a:t>
            </a:r>
          </a:p>
        </p:txBody>
      </p:sp>
      <p:sp>
        <p:nvSpPr>
          <p:cNvPr id="3" name="Content Placeholder 2">
            <a:extLst>
              <a:ext uri="{FF2B5EF4-FFF2-40B4-BE49-F238E27FC236}">
                <a16:creationId xmlns:a16="http://schemas.microsoft.com/office/drawing/2014/main" id="{921A0765-98FC-E74F-8B0D-5755E8F23500}"/>
              </a:ext>
            </a:extLst>
          </p:cNvPr>
          <p:cNvSpPr>
            <a:spLocks noGrp="1"/>
          </p:cNvSpPr>
          <p:nvPr>
            <p:ph idx="1"/>
          </p:nvPr>
        </p:nvSpPr>
        <p:spPr>
          <a:xfrm>
            <a:off x="152400" y="495302"/>
            <a:ext cx="8991600" cy="862096"/>
          </a:xfrm>
        </p:spPr>
        <p:txBody>
          <a:bodyPr>
            <a:normAutofit/>
          </a:bodyPr>
          <a:lstStyle/>
          <a:p>
            <a:r>
              <a:rPr lang="en-US" dirty="0"/>
              <a:t>below, the </a:t>
            </a:r>
            <a:r>
              <a:rPr lang="en-US" b="1" dirty="0">
                <a:solidFill>
                  <a:srgbClr val="00B050"/>
                </a:solidFill>
              </a:rPr>
              <a:t>O</a:t>
            </a:r>
            <a:r>
              <a:rPr lang="en-US" dirty="0"/>
              <a:t> and </a:t>
            </a:r>
            <a:r>
              <a:rPr lang="en-US" b="1" dirty="0">
                <a:solidFill>
                  <a:srgbClr val="FF0000"/>
                </a:solidFill>
              </a:rPr>
              <a:t>X</a:t>
            </a:r>
            <a:r>
              <a:rPr lang="en-US" dirty="0"/>
              <a:t> say whether x is alive </a:t>
            </a:r>
            <a:r>
              <a:rPr lang="en-US" b="1" dirty="0">
                <a:solidFill>
                  <a:srgbClr val="00B050"/>
                </a:solidFill>
              </a:rPr>
              <a:t>O</a:t>
            </a:r>
            <a:r>
              <a:rPr lang="en-US" dirty="0"/>
              <a:t> or dead </a:t>
            </a:r>
            <a:r>
              <a:rPr lang="en-US" b="1" dirty="0">
                <a:solidFill>
                  <a:srgbClr val="FF0000"/>
                </a:solidFill>
              </a:rPr>
              <a:t>X</a:t>
            </a:r>
            <a:r>
              <a:rPr lang="en-US" dirty="0"/>
              <a:t>.</a:t>
            </a:r>
          </a:p>
          <a:p>
            <a:pPr lvl="1"/>
            <a:r>
              <a:rPr lang="en-US" dirty="0"/>
              <a:t>the state is tracked </a:t>
            </a:r>
            <a:r>
              <a:rPr lang="en-US" i="1" dirty="0"/>
              <a:t>between </a:t>
            </a:r>
            <a:r>
              <a:rPr lang="en-US" dirty="0"/>
              <a:t>instructions, hence the misalignment.</a:t>
            </a:r>
          </a:p>
        </p:txBody>
      </p:sp>
      <p:sp>
        <p:nvSpPr>
          <p:cNvPr id="4" name="Slide Number Placeholder 3">
            <a:extLst>
              <a:ext uri="{FF2B5EF4-FFF2-40B4-BE49-F238E27FC236}">
                <a16:creationId xmlns:a16="http://schemas.microsoft.com/office/drawing/2014/main" id="{CB2D69DF-4E36-6845-B482-07FC4E0416D9}"/>
              </a:ext>
            </a:extLst>
          </p:cNvPr>
          <p:cNvSpPr>
            <a:spLocks noGrp="1"/>
          </p:cNvSpPr>
          <p:nvPr>
            <p:ph type="sldNum" sz="quarter" idx="12"/>
          </p:nvPr>
        </p:nvSpPr>
        <p:spPr/>
        <p:txBody>
          <a:bodyPr/>
          <a:lstStyle/>
          <a:p>
            <a:fld id="{3552B95B-556F-44BD-91A5-D80C1B9E2BB3}" type="slidenum">
              <a:rPr lang="en-US" smtClean="0"/>
              <a:pPr/>
              <a:t>39</a:t>
            </a:fld>
            <a:endParaRPr lang="en-US"/>
          </a:p>
        </p:txBody>
      </p:sp>
      <p:sp>
        <p:nvSpPr>
          <p:cNvPr id="5" name="Rectangle 4">
            <a:extLst>
              <a:ext uri="{FF2B5EF4-FFF2-40B4-BE49-F238E27FC236}">
                <a16:creationId xmlns:a16="http://schemas.microsoft.com/office/drawing/2014/main" id="{ED392053-C4A3-3C49-BD7E-C3E2E1970E62}"/>
              </a:ext>
            </a:extLst>
          </p:cNvPr>
          <p:cNvSpPr/>
          <p:nvPr/>
        </p:nvSpPr>
        <p:spPr>
          <a:xfrm>
            <a:off x="6781800" y="1690726"/>
            <a:ext cx="2057400" cy="2812886"/>
          </a:xfrm>
          <a:prstGeom prst="rect">
            <a:avLst/>
          </a:prstGeom>
        </p:spPr>
        <p:txBody>
          <a:bodyPr wrap="square">
            <a:spAutoFit/>
          </a:bodyPr>
          <a:lstStyle/>
          <a:p>
            <a:pPr>
              <a:lnSpc>
                <a:spcPct val="150000"/>
              </a:lnSpc>
            </a:pPr>
            <a:r>
              <a:rPr lang="en-US" sz="2000" b="1" dirty="0">
                <a:latin typeface="Consolas" panose="020B0609020204030204" pitchFamily="49" charset="0"/>
                <a:cs typeface="Consolas" panose="020B0609020204030204" pitchFamily="49" charset="0"/>
              </a:rPr>
              <a:t>x = </a:t>
            </a:r>
            <a:r>
              <a:rPr lang="en-US" sz="2000" b="1" dirty="0">
                <a:solidFill>
                  <a:schemeClr val="accent3">
                    <a:lumMod val="75000"/>
                  </a:schemeClr>
                </a:solidFill>
                <a:latin typeface="Consolas" panose="020B0609020204030204" pitchFamily="49" charset="0"/>
                <a:cs typeface="Consolas" panose="020B0609020204030204" pitchFamily="49" charset="0"/>
              </a:rPr>
              <a:t>5</a:t>
            </a:r>
          </a:p>
          <a:p>
            <a:pPr>
              <a:lnSpc>
                <a:spcPct val="150000"/>
              </a:lnSpc>
            </a:pPr>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(x)</a:t>
            </a:r>
          </a:p>
          <a:p>
            <a:pPr>
              <a:lnSpc>
                <a:spcPct val="150000"/>
              </a:lnSpc>
            </a:pPr>
            <a:r>
              <a:rPr lang="en-US" sz="2000" b="1" dirty="0">
                <a:latin typeface="Consolas" panose="020B0609020204030204" pitchFamily="49" charset="0"/>
                <a:cs typeface="Consolas" panose="020B0609020204030204" pitchFamily="49" charset="0"/>
              </a:rPr>
              <a:t>y = </a:t>
            </a:r>
            <a:r>
              <a:rPr lang="en-US" sz="2000" b="1" dirty="0">
                <a:solidFill>
                  <a:schemeClr val="accent3">
                    <a:lumMod val="75000"/>
                  </a:schemeClr>
                </a:solidFill>
                <a:latin typeface="Consolas" panose="020B0609020204030204" pitchFamily="49" charset="0"/>
                <a:cs typeface="Consolas" panose="020B0609020204030204" pitchFamily="49" charset="0"/>
              </a:rPr>
              <a:t>10</a:t>
            </a:r>
          </a:p>
          <a:p>
            <a:pPr>
              <a:lnSpc>
                <a:spcPct val="150000"/>
              </a:lnSpc>
            </a:pPr>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(y)</a:t>
            </a:r>
          </a:p>
          <a:p>
            <a:pPr>
              <a:lnSpc>
                <a:spcPct val="150000"/>
              </a:lnSpc>
            </a:pPr>
            <a:r>
              <a:rPr lang="en-US" sz="2000" b="1" dirty="0">
                <a:latin typeface="Consolas" panose="020B0609020204030204" pitchFamily="49" charset="0"/>
                <a:cs typeface="Consolas" panose="020B0609020204030204" pitchFamily="49" charset="0"/>
              </a:rPr>
              <a:t>z = x == y</a:t>
            </a:r>
          </a:p>
          <a:p>
            <a:pPr>
              <a:lnSpc>
                <a:spcPct val="150000"/>
              </a:lnSpc>
            </a:pPr>
            <a:r>
              <a:rPr lang="en-US" sz="2000" b="1" dirty="0" err="1">
                <a:latin typeface="Consolas" panose="020B0609020204030204" pitchFamily="49" charset="0"/>
                <a:cs typeface="Consolas" panose="020B0609020204030204" pitchFamily="49" charset="0"/>
              </a:rPr>
              <a:t>println_b</a:t>
            </a:r>
            <a:r>
              <a:rPr lang="en-US" sz="2000" b="1" dirty="0">
                <a:latin typeface="Consolas" panose="020B0609020204030204" pitchFamily="49" charset="0"/>
                <a:cs typeface="Consolas" panose="020B0609020204030204" pitchFamily="49" charset="0"/>
              </a:rPr>
              <a:t>(z)</a:t>
            </a:r>
          </a:p>
        </p:txBody>
      </p:sp>
      <p:sp>
        <p:nvSpPr>
          <p:cNvPr id="7" name="TextBox 6">
            <a:extLst>
              <a:ext uri="{FF2B5EF4-FFF2-40B4-BE49-F238E27FC236}">
                <a16:creationId xmlns:a16="http://schemas.microsoft.com/office/drawing/2014/main" id="{E68002EB-CEA7-A84E-8742-BB18120D916F}"/>
              </a:ext>
            </a:extLst>
          </p:cNvPr>
          <p:cNvSpPr txBox="1"/>
          <p:nvPr/>
        </p:nvSpPr>
        <p:spPr>
          <a:xfrm>
            <a:off x="1560831" y="1767872"/>
            <a:ext cx="4763769" cy="430887"/>
          </a:xfrm>
          <a:prstGeom prst="rect">
            <a:avLst/>
          </a:prstGeom>
          <a:noFill/>
        </p:spPr>
        <p:txBody>
          <a:bodyPr wrap="square" rtlCol="0">
            <a:spAutoFit/>
          </a:bodyPr>
          <a:lstStyle/>
          <a:p>
            <a:pPr algn="r"/>
            <a:r>
              <a:rPr lang="en-US" sz="2200" dirty="0"/>
              <a:t>this def seems to make </a:t>
            </a:r>
            <a:r>
              <a:rPr lang="en-US" sz="2200" b="1" dirty="0">
                <a:latin typeface="Consolas" panose="020B0609020204030204" pitchFamily="49" charset="0"/>
                <a:cs typeface="Consolas" panose="020B0609020204030204" pitchFamily="49" charset="0"/>
              </a:rPr>
              <a:t>x</a:t>
            </a:r>
            <a:r>
              <a:rPr lang="en-US" sz="2200" dirty="0"/>
              <a:t> live.</a:t>
            </a:r>
            <a:endParaRPr lang="en-US" sz="2200" b="1" dirty="0"/>
          </a:p>
        </p:txBody>
      </p:sp>
      <p:sp>
        <p:nvSpPr>
          <p:cNvPr id="9" name="TextBox 8">
            <a:extLst>
              <a:ext uri="{FF2B5EF4-FFF2-40B4-BE49-F238E27FC236}">
                <a16:creationId xmlns:a16="http://schemas.microsoft.com/office/drawing/2014/main" id="{42D40CF8-5C59-C942-BBC6-487463FA3861}"/>
              </a:ext>
            </a:extLst>
          </p:cNvPr>
          <p:cNvSpPr txBox="1"/>
          <p:nvPr/>
        </p:nvSpPr>
        <p:spPr>
          <a:xfrm>
            <a:off x="189230" y="2194670"/>
            <a:ext cx="6135369" cy="430887"/>
          </a:xfrm>
          <a:prstGeom prst="rect">
            <a:avLst/>
          </a:prstGeom>
          <a:noFill/>
        </p:spPr>
        <p:txBody>
          <a:bodyPr wrap="square" rtlCol="0">
            <a:spAutoFit/>
          </a:bodyPr>
          <a:lstStyle/>
          <a:p>
            <a:pPr algn="r"/>
            <a:r>
              <a:rPr lang="en-US" sz="2200" dirty="0"/>
              <a:t>here's a use of </a:t>
            </a:r>
            <a:r>
              <a:rPr lang="en-US" sz="2200" b="1" dirty="0">
                <a:latin typeface="Consolas" panose="020B0609020204030204" pitchFamily="49" charset="0"/>
                <a:cs typeface="Consolas" panose="020B0609020204030204" pitchFamily="49" charset="0"/>
              </a:rPr>
              <a:t>x</a:t>
            </a:r>
            <a:r>
              <a:rPr lang="en-US" sz="2200" dirty="0"/>
              <a:t>. but </a:t>
            </a:r>
            <a:r>
              <a:rPr lang="en-US" sz="2200" b="1" dirty="0"/>
              <a:t>is </a:t>
            </a:r>
            <a:r>
              <a:rPr lang="en-US" sz="2200" b="1" dirty="0">
                <a:latin typeface="Consolas" panose="020B0609020204030204" pitchFamily="49" charset="0"/>
                <a:cs typeface="Consolas" panose="020B0609020204030204" pitchFamily="49" charset="0"/>
              </a:rPr>
              <a:t>x</a:t>
            </a:r>
            <a:r>
              <a:rPr lang="en-US" sz="2200" b="1" dirty="0"/>
              <a:t> used again after this? </a:t>
            </a:r>
          </a:p>
        </p:txBody>
      </p:sp>
      <p:sp>
        <p:nvSpPr>
          <p:cNvPr id="19" name="TextBox 18">
            <a:extLst>
              <a:ext uri="{FF2B5EF4-FFF2-40B4-BE49-F238E27FC236}">
                <a16:creationId xmlns:a16="http://schemas.microsoft.com/office/drawing/2014/main" id="{7A6F3E69-59FA-E049-A830-BD07C948D0FA}"/>
              </a:ext>
            </a:extLst>
          </p:cNvPr>
          <p:cNvSpPr txBox="1"/>
          <p:nvPr/>
        </p:nvSpPr>
        <p:spPr>
          <a:xfrm>
            <a:off x="1560830" y="1409700"/>
            <a:ext cx="4763769" cy="430887"/>
          </a:xfrm>
          <a:prstGeom prst="rect">
            <a:avLst/>
          </a:prstGeom>
          <a:noFill/>
        </p:spPr>
        <p:txBody>
          <a:bodyPr wrap="square" rtlCol="0">
            <a:spAutoFit/>
          </a:bodyPr>
          <a:lstStyle/>
          <a:p>
            <a:pPr algn="r"/>
            <a:r>
              <a:rPr lang="en-US" sz="2200" dirty="0"/>
              <a:t>let's assume by default that it's dead.</a:t>
            </a:r>
            <a:endParaRPr lang="en-US" sz="2200" b="1" dirty="0"/>
          </a:p>
        </p:txBody>
      </p:sp>
      <p:sp>
        <p:nvSpPr>
          <p:cNvPr id="20" name="Multiply 19">
            <a:extLst>
              <a:ext uri="{FF2B5EF4-FFF2-40B4-BE49-F238E27FC236}">
                <a16:creationId xmlns:a16="http://schemas.microsoft.com/office/drawing/2014/main" id="{033FB509-2427-824F-BCF2-E8879FB990F1}"/>
              </a:ext>
            </a:extLst>
          </p:cNvPr>
          <p:cNvSpPr/>
          <p:nvPr/>
        </p:nvSpPr>
        <p:spPr>
          <a:xfrm>
            <a:off x="6432444" y="1559024"/>
            <a:ext cx="377929" cy="377929"/>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onut 20">
            <a:extLst>
              <a:ext uri="{FF2B5EF4-FFF2-40B4-BE49-F238E27FC236}">
                <a16:creationId xmlns:a16="http://schemas.microsoft.com/office/drawing/2014/main" id="{2CEE2D1E-E2C0-9744-99BE-E0AB70A1B968}"/>
              </a:ext>
            </a:extLst>
          </p:cNvPr>
          <p:cNvSpPr/>
          <p:nvPr/>
        </p:nvSpPr>
        <p:spPr>
          <a:xfrm>
            <a:off x="6469008" y="2088519"/>
            <a:ext cx="304800" cy="304800"/>
          </a:xfrm>
          <a:prstGeom prst="donu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Donut 21">
            <a:extLst>
              <a:ext uri="{FF2B5EF4-FFF2-40B4-BE49-F238E27FC236}">
                <a16:creationId xmlns:a16="http://schemas.microsoft.com/office/drawing/2014/main" id="{A0CDD909-7948-CA4F-9557-1911B0E5790F}"/>
              </a:ext>
            </a:extLst>
          </p:cNvPr>
          <p:cNvSpPr/>
          <p:nvPr/>
        </p:nvSpPr>
        <p:spPr>
          <a:xfrm>
            <a:off x="6469008" y="2579390"/>
            <a:ext cx="304800" cy="304800"/>
          </a:xfrm>
          <a:prstGeom prst="donu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Donut 22">
            <a:extLst>
              <a:ext uri="{FF2B5EF4-FFF2-40B4-BE49-F238E27FC236}">
                <a16:creationId xmlns:a16="http://schemas.microsoft.com/office/drawing/2014/main" id="{5E6D7566-79BF-A04C-A6C0-92591376572C}"/>
              </a:ext>
            </a:extLst>
          </p:cNvPr>
          <p:cNvSpPr/>
          <p:nvPr/>
        </p:nvSpPr>
        <p:spPr>
          <a:xfrm>
            <a:off x="6469008" y="3029726"/>
            <a:ext cx="304800" cy="304800"/>
          </a:xfrm>
          <a:prstGeom prst="donu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 name="Donut 23">
            <a:extLst>
              <a:ext uri="{FF2B5EF4-FFF2-40B4-BE49-F238E27FC236}">
                <a16:creationId xmlns:a16="http://schemas.microsoft.com/office/drawing/2014/main" id="{43BFD42A-BBC8-9545-9029-E577D0DC36EC}"/>
              </a:ext>
            </a:extLst>
          </p:cNvPr>
          <p:cNvSpPr/>
          <p:nvPr/>
        </p:nvSpPr>
        <p:spPr>
          <a:xfrm>
            <a:off x="6469008" y="3480062"/>
            <a:ext cx="304800" cy="304800"/>
          </a:xfrm>
          <a:prstGeom prst="donu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Donut 24">
            <a:extLst>
              <a:ext uri="{FF2B5EF4-FFF2-40B4-BE49-F238E27FC236}">
                <a16:creationId xmlns:a16="http://schemas.microsoft.com/office/drawing/2014/main" id="{B61B359A-EEE7-4843-8AFB-5270E8A066A4}"/>
              </a:ext>
            </a:extLst>
          </p:cNvPr>
          <p:cNvSpPr/>
          <p:nvPr/>
        </p:nvSpPr>
        <p:spPr>
          <a:xfrm>
            <a:off x="6469008" y="3930398"/>
            <a:ext cx="304800" cy="304800"/>
          </a:xfrm>
          <a:prstGeom prst="donu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TextBox 25">
            <a:extLst>
              <a:ext uri="{FF2B5EF4-FFF2-40B4-BE49-F238E27FC236}">
                <a16:creationId xmlns:a16="http://schemas.microsoft.com/office/drawing/2014/main" id="{9A0E0710-E2F4-2944-BC9D-AFD8490CDB0A}"/>
              </a:ext>
            </a:extLst>
          </p:cNvPr>
          <p:cNvSpPr txBox="1"/>
          <p:nvPr/>
        </p:nvSpPr>
        <p:spPr>
          <a:xfrm>
            <a:off x="1560829" y="2592960"/>
            <a:ext cx="4763769" cy="430887"/>
          </a:xfrm>
          <a:prstGeom prst="rect">
            <a:avLst/>
          </a:prstGeom>
          <a:noFill/>
        </p:spPr>
        <p:txBody>
          <a:bodyPr wrap="square" rtlCol="0">
            <a:spAutoFit/>
          </a:bodyPr>
          <a:lstStyle/>
          <a:p>
            <a:pPr algn="r"/>
            <a:r>
              <a:rPr lang="en-US" sz="2200" dirty="0"/>
              <a:t>let's </a:t>
            </a:r>
            <a:r>
              <a:rPr lang="en-US" sz="2200" i="1" dirty="0"/>
              <a:t>assume</a:t>
            </a:r>
            <a:r>
              <a:rPr lang="en-US" sz="2200" dirty="0"/>
              <a:t> it'll be used again…</a:t>
            </a:r>
            <a:endParaRPr lang="en-US" sz="2200" b="1" dirty="0"/>
          </a:p>
        </p:txBody>
      </p:sp>
      <p:sp>
        <p:nvSpPr>
          <p:cNvPr id="27" name="TextBox 26">
            <a:extLst>
              <a:ext uri="{FF2B5EF4-FFF2-40B4-BE49-F238E27FC236}">
                <a16:creationId xmlns:a16="http://schemas.microsoft.com/office/drawing/2014/main" id="{C279CD7A-A155-6344-A5B2-8ECAB0138FD2}"/>
              </a:ext>
            </a:extLst>
          </p:cNvPr>
          <p:cNvSpPr txBox="1"/>
          <p:nvPr/>
        </p:nvSpPr>
        <p:spPr>
          <a:xfrm>
            <a:off x="1560829" y="3569418"/>
            <a:ext cx="4763769" cy="430887"/>
          </a:xfrm>
          <a:prstGeom prst="rect">
            <a:avLst/>
          </a:prstGeom>
          <a:noFill/>
        </p:spPr>
        <p:txBody>
          <a:bodyPr wrap="square" rtlCol="0">
            <a:spAutoFit/>
          </a:bodyPr>
          <a:lstStyle/>
          <a:p>
            <a:pPr algn="r"/>
            <a:r>
              <a:rPr lang="en-US" sz="2200" dirty="0"/>
              <a:t>another use. let's keep assuming.</a:t>
            </a:r>
            <a:endParaRPr lang="en-US" sz="2200" b="1" dirty="0"/>
          </a:p>
        </p:txBody>
      </p:sp>
      <p:sp>
        <p:nvSpPr>
          <p:cNvPr id="28" name="TextBox 27">
            <a:extLst>
              <a:ext uri="{FF2B5EF4-FFF2-40B4-BE49-F238E27FC236}">
                <a16:creationId xmlns:a16="http://schemas.microsoft.com/office/drawing/2014/main" id="{8A8C3817-46AE-F44E-BF28-C817FA9246BA}"/>
              </a:ext>
            </a:extLst>
          </p:cNvPr>
          <p:cNvSpPr txBox="1"/>
          <p:nvPr/>
        </p:nvSpPr>
        <p:spPr>
          <a:xfrm>
            <a:off x="1447801" y="4679654"/>
            <a:ext cx="4876798" cy="769441"/>
          </a:xfrm>
          <a:prstGeom prst="rect">
            <a:avLst/>
          </a:prstGeom>
          <a:noFill/>
        </p:spPr>
        <p:txBody>
          <a:bodyPr wrap="square" rtlCol="0">
            <a:spAutoFit/>
          </a:bodyPr>
          <a:lstStyle/>
          <a:p>
            <a:pPr algn="r"/>
            <a:r>
              <a:rPr lang="en-US" sz="2200" dirty="0"/>
              <a:t>uh oh. it's the end. clearly, </a:t>
            </a:r>
            <a:r>
              <a:rPr lang="en-US" sz="2200" b="1" dirty="0">
                <a:latin typeface="Consolas" panose="020B0609020204030204" pitchFamily="49" charset="0"/>
                <a:cs typeface="Consolas" panose="020B0609020204030204" pitchFamily="49" charset="0"/>
              </a:rPr>
              <a:t>x</a:t>
            </a:r>
            <a:r>
              <a:rPr lang="en-US" sz="2200" dirty="0"/>
              <a:t>'s last use was in </a:t>
            </a:r>
            <a:r>
              <a:rPr lang="en-US" sz="2200" b="1" dirty="0">
                <a:latin typeface="Consolas" panose="020B0609020204030204" pitchFamily="49" charset="0"/>
                <a:cs typeface="Consolas" panose="020B0609020204030204" pitchFamily="49" charset="0"/>
              </a:rPr>
              <a:t>x == y</a:t>
            </a:r>
            <a:r>
              <a:rPr lang="en-US" sz="2200" dirty="0"/>
              <a:t>. so this is wrong…</a:t>
            </a:r>
            <a:endParaRPr lang="en-US" sz="2200" b="1" dirty="0"/>
          </a:p>
        </p:txBody>
      </p:sp>
      <p:sp>
        <p:nvSpPr>
          <p:cNvPr id="29" name="Donut 28">
            <a:extLst>
              <a:ext uri="{FF2B5EF4-FFF2-40B4-BE49-F238E27FC236}">
                <a16:creationId xmlns:a16="http://schemas.microsoft.com/office/drawing/2014/main" id="{7614B1BE-A9A3-1541-B531-747529218FB6}"/>
              </a:ext>
            </a:extLst>
          </p:cNvPr>
          <p:cNvSpPr/>
          <p:nvPr/>
        </p:nvSpPr>
        <p:spPr>
          <a:xfrm>
            <a:off x="6469008" y="4386764"/>
            <a:ext cx="304800" cy="304800"/>
          </a:xfrm>
          <a:prstGeom prst="donu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628739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9" grpId="0"/>
      <p:bldP spid="20" grpId="0" animBg="1"/>
      <p:bldP spid="21" grpId="0" animBg="1"/>
      <p:bldP spid="22" grpId="0" animBg="1"/>
      <p:bldP spid="23" grpId="0" animBg="1"/>
      <p:bldP spid="24" grpId="0" animBg="1"/>
      <p:bldP spid="25" grpId="0" animBg="1"/>
      <p:bldP spid="26" grpId="0"/>
      <p:bldP spid="27" grpId="0"/>
      <p:bldP spid="28" grpId="0"/>
      <p:bldP spid="29" grpId="0" animBg="1"/>
    </p:bldLst>
  </p:timing>
</p:sld>
</file>

<file path=ppt/theme/theme1.xml><?xml version="1.0" encoding="utf-8"?>
<a:theme xmlns:a="http://schemas.openxmlformats.org/drawingml/2006/main" name="02 - C - Basics">
  <a:themeElements>
    <a:clrScheme name="Custom 2">
      <a:dk1>
        <a:srgbClr val="000000"/>
      </a:dk1>
      <a:lt1>
        <a:srgbClr val="FFFFFF"/>
      </a:lt1>
      <a:dk2>
        <a:srgbClr val="3B481E"/>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Segoe WP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lides_fall_2017" id="{93D034CE-FEB5-4D4D-96F7-6B7F8A5EB99A}" vid="{194AE869-5029-ED49-81EA-C574BDDBE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01 - Welcome and Review</Template>
  <TotalTime>28990</TotalTime>
  <Words>7365</Words>
  <Application>Microsoft Macintosh PowerPoint</Application>
  <PresentationFormat>On-screen Show (16:10)</PresentationFormat>
  <Paragraphs>740</Paragraphs>
  <Slides>39</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39</vt:i4>
      </vt:variant>
    </vt:vector>
  </HeadingPairs>
  <TitlesOfParts>
    <vt:vector size="48" baseType="lpstr">
      <vt:lpstr>Arial</vt:lpstr>
      <vt:lpstr>Calibri</vt:lpstr>
      <vt:lpstr>Consolas</vt:lpstr>
      <vt:lpstr>Courier New</vt:lpstr>
      <vt:lpstr>Segoe UI</vt:lpstr>
      <vt:lpstr>Segoe WP Semibold</vt:lpstr>
      <vt:lpstr>Trebuchet MS</vt:lpstr>
      <vt:lpstr>Wingdings</vt:lpstr>
      <vt:lpstr>02 - C - Basics</vt:lpstr>
      <vt:lpstr>Global Optimization</vt:lpstr>
      <vt:lpstr>Class Announcements</vt:lpstr>
      <vt:lpstr>From Local to Global</vt:lpstr>
      <vt:lpstr>Local optimization only gets  you so far</vt:lpstr>
      <vt:lpstr>Stumbling basic block</vt:lpstr>
      <vt:lpstr>Trying to intuit our way through it</vt:lpstr>
      <vt:lpstr>Intuit THIS</vt:lpstr>
      <vt:lpstr>False confidence</vt:lpstr>
      <vt:lpstr>We need some RIGOR</vt:lpstr>
      <vt:lpstr>Data Flow Analysis</vt:lpstr>
      <vt:lpstr>Coming for a visit (animated)</vt:lpstr>
      <vt:lpstr>Why does it terminate?</vt:lpstr>
      <vt:lpstr>A simple control flow optimization</vt:lpstr>
      <vt:lpstr>Tweaking the visitor algorithm</vt:lpstr>
      <vt:lpstr>Running it on this CFG (animated)</vt:lpstr>
      <vt:lpstr>Forward analysis</vt:lpstr>
      <vt:lpstr>Global Constant Copy Propagation (GCCP)</vt:lpstr>
      <vt:lpstr>Defs and Uses</vt:lpstr>
      <vt:lpstr>What is Global Constant Copy Propagation?</vt:lpstr>
      <vt:lpstr>Global Constant Copy Propagation</vt:lpstr>
      <vt:lpstr>From the bottom up (animated)</vt:lpstr>
      <vt:lpstr>Our states and transfer function</vt:lpstr>
      <vt:lpstr>Lather, rinse, repeat</vt:lpstr>
      <vt:lpstr>The join function</vt:lpstr>
      <vt:lpstr>Let's try it out!</vt:lpstr>
      <vt:lpstr>The catch</vt:lpstr>
      <vt:lpstr>Fixing it</vt:lpstr>
      <vt:lpstr>Oh yeah, we forgot a state</vt:lpstr>
      <vt:lpstr>The new, improved join function</vt:lpstr>
      <vt:lpstr>Let's watch it go (animated, important, you have to watch this)</vt:lpstr>
      <vt:lpstr>Sometimes one visit is not enough</vt:lpstr>
      <vt:lpstr>Shortcomings (animated)</vt:lpstr>
      <vt:lpstr>It never hurts to not optimize</vt:lpstr>
      <vt:lpstr>Summing it up</vt:lpstr>
      <vt:lpstr>Liveness  time check ≤ 87</vt:lpstr>
      <vt:lpstr>Liveness</vt:lpstr>
      <vt:lpstr>One local, many ranges</vt:lpstr>
      <vt:lpstr>Two perspectives</vt:lpstr>
      <vt:lpstr>Trying (and failing) to determine liveness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Intro to Computer Architecture!</dc:title>
  <dc:creator>me</dc:creator>
  <cp:lastModifiedBy>Billingsley, Jarrett F</cp:lastModifiedBy>
  <cp:revision>1390</cp:revision>
  <dcterms:created xsi:type="dcterms:W3CDTF">2017-01-05T04:29:56Z</dcterms:created>
  <dcterms:modified xsi:type="dcterms:W3CDTF">2022-07-27T03:01:56Z</dcterms:modified>
</cp:coreProperties>
</file>