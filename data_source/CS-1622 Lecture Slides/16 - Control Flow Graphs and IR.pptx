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5"/>
  </p:notesMasterIdLst>
  <p:sldIdLst>
    <p:sldId id="256" r:id="rId2"/>
    <p:sldId id="519" r:id="rId3"/>
    <p:sldId id="527" r:id="rId4"/>
    <p:sldId id="532" r:id="rId5"/>
    <p:sldId id="529" r:id="rId6"/>
    <p:sldId id="528" r:id="rId7"/>
    <p:sldId id="530" r:id="rId8"/>
    <p:sldId id="531" r:id="rId9"/>
    <p:sldId id="533" r:id="rId10"/>
    <p:sldId id="534" r:id="rId11"/>
    <p:sldId id="602" r:id="rId12"/>
    <p:sldId id="604" r:id="rId13"/>
    <p:sldId id="599" r:id="rId14"/>
    <p:sldId id="605" r:id="rId15"/>
    <p:sldId id="606" r:id="rId16"/>
    <p:sldId id="611" r:id="rId17"/>
    <p:sldId id="607" r:id="rId18"/>
    <p:sldId id="609" r:id="rId19"/>
    <p:sldId id="614" r:id="rId20"/>
    <p:sldId id="650" r:id="rId21"/>
    <p:sldId id="652" r:id="rId22"/>
    <p:sldId id="610" r:id="rId23"/>
    <p:sldId id="612" r:id="rId24"/>
    <p:sldId id="613" r:id="rId25"/>
    <p:sldId id="616" r:id="rId26"/>
    <p:sldId id="617" r:id="rId27"/>
    <p:sldId id="647" r:id="rId28"/>
    <p:sldId id="648" r:id="rId29"/>
    <p:sldId id="649" r:id="rId30"/>
    <p:sldId id="615" r:id="rId31"/>
    <p:sldId id="645" r:id="rId32"/>
    <p:sldId id="654" r:id="rId33"/>
    <p:sldId id="655" r:id="rId34"/>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99D"/>
    <a:srgbClr val="B7D4D9"/>
    <a:srgbClr val="FFDF7F"/>
    <a:srgbClr val="6098C0"/>
    <a:srgbClr val="58B080"/>
    <a:srgbClr val="FF7F81"/>
    <a:srgbClr val="000000"/>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07" autoAdjust="0"/>
    <p:restoredTop sz="89155" autoAdjust="0"/>
  </p:normalViewPr>
  <p:slideViewPr>
    <p:cSldViewPr>
      <p:cViewPr varScale="1">
        <p:scale>
          <a:sx n="131" d="100"/>
          <a:sy n="131" d="100"/>
        </p:scale>
        <p:origin x="1304" y="176"/>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7/20/22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notice that my compiler saves/restores s0, even though s0 is not actually required for this code to work.</a:t>
            </a:r>
          </a:p>
          <a:p>
            <a:r>
              <a:rPr lang="en-US" dirty="0"/>
              <a:t>	- that is, I could have used t0 to put the immediate 5 on the stack, thus avoiding saving the s reg.</a:t>
            </a:r>
          </a:p>
          <a:p>
            <a:r>
              <a:rPr lang="en-US" dirty="0"/>
              <a:t>	- but like we talked about before, using a t register is an optimization/privilege.</a:t>
            </a:r>
          </a:p>
          <a:p>
            <a:r>
              <a:rPr lang="en-US" dirty="0"/>
              <a:t>- the "real" MIPS ABI uses registers to pass the first four arguments. </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4184456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a bit like how in the old "epicycle" model of planetary orbits, you can add more and more epicycles to get closer to reality…</a:t>
            </a:r>
          </a:p>
          <a:p>
            <a:r>
              <a:rPr lang="en-US" dirty="0"/>
              <a:t>	- but it never really solves the problem. it just lets you get arbitrarily close to a solution, without a good understanding of why.</a:t>
            </a:r>
          </a:p>
          <a:p>
            <a:r>
              <a:rPr lang="en-US" dirty="0"/>
              <a:t>	- the </a:t>
            </a:r>
            <a:r>
              <a:rPr lang="en-US" i="1" dirty="0"/>
              <a:t>actual</a:t>
            </a:r>
            <a:r>
              <a:rPr lang="en-US" dirty="0"/>
              <a:t> solution is an entirely different way of looking at the problem: general relativity.</a:t>
            </a:r>
          </a:p>
          <a:p>
            <a:r>
              <a:rPr lang="en-US" dirty="0"/>
              <a:t>- fun side note: that old epicycle model is actually a form of Fourier analysis (decomposing complex oscillations into a sum of sines) but they didn't know that that's what they were doing ;o</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2252122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syntaaaaaaaax</a:t>
            </a:r>
            <a:r>
              <a:rPr lang="en-US" dirty="0"/>
              <a:t>!</a:t>
            </a:r>
          </a:p>
          <a:p>
            <a:pPr marL="171450" indent="-171450">
              <a:buFontTx/>
              <a:buChar char="-"/>
            </a:pPr>
            <a:endParaRPr lang="en-US" dirty="0"/>
          </a:p>
          <a:p>
            <a:pPr marL="0" indent="0">
              <a:buFontTx/>
              <a:buNone/>
            </a:pPr>
            <a:r>
              <a:rPr lang="en-US" dirty="0"/>
              <a:t>[diagrams: the ASTs of two pieces of code that look almost identical, and the ASTs do too. the first piece of code assigns x, then tests if x &lt; 10, and if so prints “hi”, then prints “done” after the if. the second piece of code assigns x, then has a while loop that loops while x &lt; 10, prints “hi” in the loop, and prints “done” after it. except for the “if” versus “while”, the code looks the same and so do the two ASTs.]</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1015630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you'd really have to jump around in the AST and do a bunch of recursive visits</a:t>
            </a:r>
          </a:p>
          <a:p>
            <a:r>
              <a:rPr lang="en-US" dirty="0"/>
              <a:t>- it seems like even a straightforward analysis would be pretty inefficient, difficult to write, and difficult to validate…</a:t>
            </a:r>
          </a:p>
          <a:p>
            <a:r>
              <a:rPr lang="en-US" dirty="0"/>
              <a:t>- "Sufficiently Smart Compiler" is a sort of a meme in CS; there have been many programming languages and ISAs whose performance rely on a "sufficiently smart compiler," a compiler that is complex enough to "figure everything out" correctly. a lot of the time, such a compiler is prohibitively difficult or impossible to create, meaning "sufficiently smart compiler" becomes a meaningless hand-wave or marketing buzz.</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2978110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the same two nearly-identical pieces of code, but now represented as flowcharts. in the “if” version, “x = 0” is its own node, which leads to the conditional node that tests if ”x &lt; 10”. if true, we go to the “print hi” node. if false - and also after printing hi – we go to the “print done” node. the “while” version is almost the same, except after printing hi, we go back to the conditional test of “x &lt; 10.” so, the flowcharts for these two pieces of code look quite different, as one has an obvious loop and the other does not.]</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2655720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Rust, borrow/lifetime checking is done on this graph structure, not on the AST… at least since Rust 2018.</a:t>
            </a:r>
          </a:p>
          <a:p>
            <a:r>
              <a:rPr lang="en-US" dirty="0"/>
              <a:t>	- in Rust 2015 and earlier, borrow/lifetime analysis was done on the AST, and </a:t>
            </a:r>
            <a:r>
              <a:rPr lang="en-US" i="1" dirty="0"/>
              <a:t>boy did it suck</a:t>
            </a:r>
          </a:p>
          <a:p>
            <a:r>
              <a:rPr lang="en-US" i="0" dirty="0"/>
              <a:t>	- the compiler was really, really stupid about a lot of things that seemed like they should work</a:t>
            </a:r>
          </a:p>
          <a:p>
            <a:r>
              <a:rPr lang="en-US" i="0" dirty="0"/>
              <a:t>	- the "non-lexical lifetime" analysis they added in Rust 2018 made it like a new language, it's so much better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381382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peeked at the Java 7 compiler source; there are 50 kinds of AST node.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605365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current, suboptimal situation where we have the AST go into the </a:t>
            </a:r>
            <a:r>
              <a:rPr lang="en-US" dirty="0" err="1"/>
              <a:t>codegen</a:t>
            </a:r>
            <a:r>
              <a:rPr lang="en-US" dirty="0"/>
              <a:t> algorithm, which is purpose-built to output MIPS code. simple, but inflexible.]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646052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if statements, while loops, and for loops can be thought of as being composed of multiple simpler operations that are common to all control flow (e.g. conditional and unconditional versions of “go to” which can take us to other steps of the program). furthermore, some steps are not even visible in the AST – the example here is a “for” loop, which increments its loop counter variable once per loop, but that’s not visible in the source or AST!]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1872719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same way the AST is an abstract representation of the program's </a:t>
            </a:r>
            <a:r>
              <a:rPr lang="en-US" i="1" dirty="0"/>
              <a:t>source code</a:t>
            </a:r>
            <a:r>
              <a:rPr lang="en-US" dirty="0"/>
              <a:t>…</a:t>
            </a:r>
          </a:p>
          <a:p>
            <a:r>
              <a:rPr lang="en-US" dirty="0"/>
              <a:t>	- the IR is an abstract representation of the program's </a:t>
            </a:r>
            <a:r>
              <a:rPr lang="en-US" i="1" dirty="0"/>
              <a:t>behavior</a:t>
            </a:r>
            <a:r>
              <a:rPr lang="en-US" dirty="0"/>
              <a:t>.</a:t>
            </a:r>
          </a:p>
          <a:p>
            <a:endParaRPr lang="en-US" dirty="0"/>
          </a:p>
          <a:p>
            <a:r>
              <a:rPr lang="en-US" dirty="0"/>
              <a:t>[diagram: the frontend of the compiler does the </a:t>
            </a:r>
            <a:r>
              <a:rPr lang="en-US" dirty="0" err="1"/>
              <a:t>lexing</a:t>
            </a:r>
            <a:r>
              <a:rPr lang="en-US" dirty="0"/>
              <a:t>, parsing, and semantic analyses. but now, instead of it outputting the AST directly to the backend, the last step of the frontend is a </a:t>
            </a:r>
            <a:r>
              <a:rPr lang="en-US" i="1" dirty="0"/>
              <a:t>lowering pass</a:t>
            </a:r>
            <a:r>
              <a:rPr lang="en-US" i="0" dirty="0"/>
              <a:t> which takes the AST and outputs an intermediate representation, or IR. the IR is then sent to the backend or backends plural. now each backend only has to worry about converting the much simpler IR to the target language – MIPS or x86 or ARM or whatever; and the lowering pass only has to convert the source language AST to the still-relatively-high-level IR, which is much easier than going all the way to a real machine language.]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2541914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951335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and blocks with 0 successors seem to be the end of the function, huh!</a:t>
            </a:r>
          </a:p>
          <a:p>
            <a:pPr marL="171450" indent="-171450">
              <a:buFontTx/>
              <a:buChar char="-"/>
            </a:pPr>
            <a:endParaRPr lang="en-US" dirty="0"/>
          </a:p>
          <a:p>
            <a:pPr marL="0" indent="0">
              <a:buFontTx/>
              <a:buNone/>
            </a:pPr>
            <a:r>
              <a:rPr lang="en-US" dirty="0"/>
              <a:t>[diagram 1: the CFG of a simple function that just calls print. it is a single basic block, and that basic block is both the entry point and the block that returns from the function.]</a:t>
            </a:r>
          </a:p>
          <a:p>
            <a:pPr marL="0" indent="0">
              <a:buFontTx/>
              <a:buNone/>
            </a:pPr>
            <a:r>
              <a:rPr lang="en-US" dirty="0"/>
              <a:t>[diagram 2: the CFG of a function that has an if-else statement, which has 4 basic blocks. it starts with one basic block that performs the conditional test. depending on the result of the test, it can go to one of two successor blocks, one for the “true” side and one for the “false” (or “else”) side. then, those two blocks both go to a fourth block which returns from the function.]</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2607519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1715422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internally they're </a:t>
            </a:r>
            <a:r>
              <a:rPr lang="en-US" i="1" dirty="0"/>
              <a:t>all</a:t>
            </a:r>
            <a:r>
              <a:rPr lang="en-US" i="0" dirty="0"/>
              <a:t> accessed by index, but using the Real Name makes the code easier for humans to read.</a:t>
            </a:r>
          </a:p>
          <a:p>
            <a:pPr marL="171450" indent="-171450">
              <a:buFontTx/>
              <a:buChar char="-"/>
            </a:pPr>
            <a:endParaRPr lang="en-US" i="0" dirty="0"/>
          </a:p>
          <a:p>
            <a:pPr marL="0" indent="0">
              <a:buFontTx/>
              <a:buNone/>
            </a:pPr>
            <a:r>
              <a:rPr lang="en-US" i="0" dirty="0"/>
              <a:t>[diagram: a simple function that has two arguments, a and b, and a local x. it sets x to “(a + b) * 3”. when converted into IR code, this requires a single temporary variable $t3 to hold the result of adding ”a” and “b” before the multiplication. so, this function has a table of 5 locals. local 1 is a, type </a:t>
            </a:r>
            <a:r>
              <a:rPr lang="en-US" i="0" dirty="0" err="1"/>
              <a:t>int</a:t>
            </a:r>
            <a:r>
              <a:rPr lang="en-US" i="0" dirty="0"/>
              <a:t>; local 2 is b, type </a:t>
            </a:r>
            <a:r>
              <a:rPr lang="en-US" i="0" dirty="0" err="1"/>
              <a:t>int</a:t>
            </a:r>
            <a:r>
              <a:rPr lang="en-US" i="0" dirty="0"/>
              <a:t>; local 3 is the temporary $t3, type </a:t>
            </a:r>
            <a:r>
              <a:rPr lang="en-US" i="0" dirty="0" err="1"/>
              <a:t>int</a:t>
            </a:r>
            <a:r>
              <a:rPr lang="en-US" i="0" dirty="0"/>
              <a:t>; and local 4 is x, type int. local 0 (a.k.a. $t0) is of type void, but we’ll come back to that.]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1364446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set of places consists of Locals, Global variables, and Fields. these are what can appear on the left side of an assignment. the set of constants consists of </a:t>
            </a:r>
            <a:r>
              <a:rPr lang="en-US" dirty="0" err="1"/>
              <a:t>Int</a:t>
            </a:r>
            <a:r>
              <a:rPr lang="en-US" dirty="0"/>
              <a:t> literals, String literals, Bool literals, and Function addresses. they’re constants in the typical sense. finally, the set of sources contains those two sets, places and constants. a source is something you can “get a value from,” and you can definitely get a value from all those things.]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12479634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&amp;</a:t>
            </a:r>
            <a:r>
              <a:rPr lang="en-US" dirty="0" err="1"/>
              <a:t>println_s</a:t>
            </a:r>
            <a:r>
              <a:rPr lang="en-US" dirty="0"/>
              <a:t> is one of those "function address" constants from the last slide.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835545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basic blocks always end with a single control flow instruction, the terminator. there are 3 kinds of terminators in our IR. the “return” terminator returns from the function. there’s just one of these blocks per function. the “</a:t>
            </a:r>
            <a:r>
              <a:rPr lang="en-US" dirty="0" err="1"/>
              <a:t>goto</a:t>
            </a:r>
            <a:r>
              <a:rPr lang="en-US" dirty="0"/>
              <a:t>” terminator unconditionally goes to another block. the “conditional” terminator checks the value of a </a:t>
            </a:r>
            <a:r>
              <a:rPr lang="en-US" dirty="0" err="1"/>
              <a:t>boolean</a:t>
            </a:r>
            <a:r>
              <a:rPr lang="en-US" dirty="0"/>
              <a:t> local, and based on that value, goes to one of two other blocks.]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2392641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first time I taught this, I didn't have this "one way out" rule and it made those analyses a lot more annoying to write. not impossible, just… annoying.</a:t>
            </a:r>
          </a:p>
          <a:p>
            <a:pPr marL="171450" indent="-171450">
              <a:buFontTx/>
              <a:buChar char="-"/>
            </a:pPr>
            <a:endParaRPr lang="en-US" dirty="0"/>
          </a:p>
          <a:p>
            <a:pPr marL="0" indent="0">
              <a:buFontTx/>
              <a:buNone/>
            </a:pPr>
            <a:r>
              <a:rPr lang="en-US" dirty="0"/>
              <a:t>[diagram: the CFG of this more complex function. it has 6 blocks. block 0 (bb0) is the entry point of the function and it does the “if x” check. when false, it goes to the “print not x” block. the “print not x” block unconditionally goes to the one and only return block. when the “if x” check is true, it goes to the “if y” check. when that’s true, it goes to the return block. when that’s false, it goes to the “print just x” block. that then unconditionally goes to the “print done” block, which finally unconditionally goes to the return block. so bb0 is the one way in, and the return block is the one way out that all paths eventually end on.]</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550228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 function that takes a bool and uses an if-else to decide one of two values to return. it has two locals: local 1 is its argument x, and local 0 is the return value, and now has type </a:t>
            </a:r>
            <a:r>
              <a:rPr lang="en-US" dirty="0" err="1"/>
              <a:t>int</a:t>
            </a:r>
            <a:r>
              <a:rPr lang="en-US" dirty="0"/>
              <a:t> (the same type as the return type of the function). the CFG is the same sort of diamond shape we saw with an if-else before, but what’s interesting is how the value is returned. “return 5” in the source code becomes “$t0 = 0” followed by unconditionally going to the return block. similarly “return 10” becomes “$t0 = 10”. ]</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1528218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 in, we could have bb0 end with a return terminator. </a:t>
            </a:r>
          </a:p>
          <a:p>
            <a:pPr marL="171450" indent="-171450">
              <a:buFontTx/>
              <a:buChar char="-"/>
            </a:pPr>
            <a:r>
              <a:rPr lang="en-US" dirty="0"/>
              <a:t>either way works, but "always making a return BB" is easier to implement.</a:t>
            </a:r>
          </a:p>
          <a:p>
            <a:pPr marL="171450" indent="-171450">
              <a:buFontTx/>
              <a:buChar char="-"/>
            </a:pPr>
            <a:endParaRPr lang="en-US" dirty="0"/>
          </a:p>
          <a:p>
            <a:pPr marL="0" indent="0">
              <a:buFontTx/>
              <a:buNone/>
            </a:pPr>
            <a:r>
              <a:rPr lang="en-US" dirty="0"/>
              <a:t>[diagram: we have this function that takes an argument </a:t>
            </a:r>
            <a:r>
              <a:rPr lang="en-US" dirty="0" err="1"/>
              <a:t>vy</a:t>
            </a:r>
            <a:r>
              <a:rPr lang="en-US" dirty="0"/>
              <a:t> and returns an int. it has no control flow in it. we start by initializing the locals table so local 0 (the return value) is an </a:t>
            </a:r>
            <a:r>
              <a:rPr lang="en-US" dirty="0" err="1"/>
              <a:t>int</a:t>
            </a:r>
            <a:r>
              <a:rPr lang="en-US" dirty="0"/>
              <a:t> and local 1 is </a:t>
            </a:r>
            <a:r>
              <a:rPr lang="en-US" dirty="0" err="1"/>
              <a:t>vy</a:t>
            </a:r>
            <a:r>
              <a:rPr lang="en-US" dirty="0"/>
              <a:t>, also an int. we also start by creating bb0, the entry block, with nothing in it. then, we do something like </a:t>
            </a:r>
            <a:r>
              <a:rPr lang="en-US" dirty="0" err="1"/>
              <a:t>codegen</a:t>
            </a:r>
            <a:r>
              <a:rPr lang="en-US" dirty="0"/>
              <a:t> but output IR instructions into the block. finally, to implement “return ret”, we do ”$t0 = ret”, then unconditionally go to basic block 1, which has no instructions, just a “return” terminator. it seems a little spurious to have a second block, but it’s easier to implement this way.]</a:t>
            </a:r>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4087931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 piece of a function. it prints a message, then sets </a:t>
            </a:r>
            <a:r>
              <a:rPr lang="en-US" dirty="0" err="1"/>
              <a:t>i</a:t>
            </a:r>
            <a:r>
              <a:rPr lang="en-US" dirty="0"/>
              <a:t> = 10, then does ”while </a:t>
            </a:r>
            <a:r>
              <a:rPr lang="en-US" dirty="0" err="1"/>
              <a:t>i</a:t>
            </a:r>
            <a:r>
              <a:rPr lang="en-US" dirty="0"/>
              <a:t> &gt; 0”. the while loop prints </a:t>
            </a:r>
            <a:r>
              <a:rPr lang="en-US" dirty="0" err="1"/>
              <a:t>i</a:t>
            </a:r>
            <a:r>
              <a:rPr lang="en-US" dirty="0"/>
              <a:t> and then decrements it by 2. we start with bb0, into which we generate the print and the “</a:t>
            </a:r>
            <a:r>
              <a:rPr lang="en-US" dirty="0" err="1"/>
              <a:t>i</a:t>
            </a:r>
            <a:r>
              <a:rPr lang="en-US" dirty="0"/>
              <a:t> = 10”. the while loop tells us that we need to start a new block, because the first thing the while loop does is tests a condition, and we need to be able to come back to that condition later. so the loop itself gets two blocks: one to test the condition, and one for the body. when the condition is true, it goes to the body block. the body block just unconditionally comes back to the condition. when the condition is false, it goes to another block, which will contain whatever comes after the while loop.]</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431924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would breaks and continues look?</a:t>
            </a:r>
          </a:p>
          <a:p>
            <a:r>
              <a:rPr lang="en-US" dirty="0"/>
              <a:t>- what about Rust's match? </a:t>
            </a:r>
          </a:p>
          <a:p>
            <a:r>
              <a:rPr lang="en-US" dirty="0"/>
              <a:t>- what about switch-case?</a:t>
            </a:r>
          </a:p>
          <a:p>
            <a:r>
              <a:rPr lang="en-US" dirty="0"/>
              <a:t>	- what if you forget a break…? oh no</a:t>
            </a:r>
          </a:p>
          <a:p>
            <a:pPr marL="171450" indent="-171450">
              <a:buFontTx/>
              <a:buChar char="-"/>
            </a:pPr>
            <a:r>
              <a:rPr lang="en-US" dirty="0"/>
              <a:t>what about try-catch-finally and throw? oh god…</a:t>
            </a:r>
          </a:p>
          <a:p>
            <a:pPr marL="171450" indent="-171450">
              <a:buFontTx/>
              <a:buChar char="-"/>
            </a:pPr>
            <a:endParaRPr lang="en-US" dirty="0"/>
          </a:p>
          <a:p>
            <a:pPr marL="0" indent="0">
              <a:buFontTx/>
              <a:buNone/>
            </a:pPr>
            <a:r>
              <a:rPr lang="en-US" dirty="0"/>
              <a:t>[diagram: a simple if looks like a “detour” – a conditional block where, when the condition is true, we run the body; but if the condition is false, and after the body runs, we go to the “next” block. </a:t>
            </a:r>
            <a:br>
              <a:rPr lang="en-US" dirty="0"/>
            </a:br>
            <a:r>
              <a:rPr lang="en-US" dirty="0"/>
              <a:t>a while loop looks almost the same, except after running the body, we come back to the condition.</a:t>
            </a:r>
            <a:br>
              <a:rPr lang="en-US" dirty="0"/>
            </a:br>
            <a:r>
              <a:rPr lang="en-US" dirty="0"/>
              <a:t>an infinite loop is a block that unconditionally goes to itself.</a:t>
            </a:r>
            <a:br>
              <a:rPr lang="en-US" dirty="0"/>
            </a:br>
            <a:r>
              <a:rPr lang="en-US" dirty="0"/>
              <a:t>an if-else if-else chain “branches out” into several paths, where each condition is checked in turn, but eventually one of the paths is chosen; and all the paths then merge back into a single block that is “after” the if-else if-else.</a:t>
            </a:r>
          </a:p>
          <a:p>
            <a:pPr marL="0" indent="0">
              <a:buFontTx/>
              <a:buNone/>
            </a:pPr>
            <a:r>
              <a:rPr lang="en-US" dirty="0"/>
              <a:t>finally a C-style for loop (like “for(</a:t>
            </a:r>
            <a:r>
              <a:rPr lang="en-US" dirty="0" err="1"/>
              <a:t>i</a:t>
            </a:r>
            <a:r>
              <a:rPr lang="en-US" dirty="0"/>
              <a:t> = 0; </a:t>
            </a:r>
            <a:r>
              <a:rPr lang="en-US" dirty="0" err="1"/>
              <a:t>i</a:t>
            </a:r>
            <a:r>
              <a:rPr lang="en-US" dirty="0"/>
              <a:t> &lt; 10; </a:t>
            </a:r>
            <a:r>
              <a:rPr lang="en-US" dirty="0" err="1"/>
              <a:t>i</a:t>
            </a:r>
            <a:r>
              <a:rPr lang="en-US" dirty="0"/>
              <a:t>++)”) has a block that initializes the counter; that unconditionally goes to the condition-checking block; when the condition is true, we go to the body block, which then goes to the increment block, which then comes back to the condition block; and finally when the condition is false, we go to the “block after the loop.”]</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2466958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remember reference cycles in reference counting? yeah…</a:t>
            </a:r>
          </a:p>
          <a:p>
            <a:r>
              <a:rPr lang="en-US" dirty="0"/>
              <a:t>	- also infinitely-sized types (trying to put an S inside of an S)</a:t>
            </a:r>
          </a:p>
          <a:p>
            <a:r>
              <a:rPr lang="en-US" dirty="0"/>
              <a:t>	- also the halting problem</a:t>
            </a:r>
          </a:p>
          <a:p>
            <a:r>
              <a:rPr lang="en-US" dirty="0"/>
              <a:t>	- and all kinds of difficult-to-solve problems</a:t>
            </a:r>
          </a:p>
          <a:p>
            <a:r>
              <a:rPr lang="en-US" dirty="0"/>
              <a:t>- it's an entirely unfounded assumption but I have this </a:t>
            </a:r>
            <a:r>
              <a:rPr lang="en-US" i="1" dirty="0"/>
              <a:t>gut feeling</a:t>
            </a:r>
            <a:r>
              <a:rPr lang="en-US" i="0" dirty="0"/>
              <a:t> that self-referential cycles are somehow responsible for NP-hard problems</a:t>
            </a:r>
          </a:p>
          <a:p>
            <a:r>
              <a:rPr lang="en-US" i="0" dirty="0"/>
              <a:t>	- and that an eventual proof of P≠NP is </a:t>
            </a:r>
            <a:r>
              <a:rPr lang="en-US" i="0" dirty="0" err="1"/>
              <a:t>gonna</a:t>
            </a:r>
            <a:r>
              <a:rPr lang="en-US" i="0" dirty="0"/>
              <a:t> involve them somehow</a:t>
            </a:r>
          </a:p>
          <a:p>
            <a:r>
              <a:rPr lang="en-US" i="0" dirty="0"/>
              <a:t>	- IDK LOL</a:t>
            </a:r>
          </a:p>
          <a:p>
            <a:endParaRPr lang="en-US" i="0" dirty="0"/>
          </a:p>
          <a:p>
            <a:r>
              <a:rPr lang="en-US" i="0" dirty="0"/>
              <a:t>[diagram: a piece of a CFG with 6 blocks. the first three point at the fourth. the fourth points at two more. the fifth points to itself. the sixth is a return block and points at nothing. the fourth block has three predecessors – the blocks that are pointing to it. the fourth block has two successors – the blocks it points to. the fifth block is an infinite loop, so it is its own successor and its own predecessor. it’s also an example of a back edge, which indicates a loop is present.]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1741776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[attempting to visit a graph using the same simple recursive algorithm that we used for trees won’t work. this algorithm prints the block number, then recursively visits all its successors. we have a graph where 1 points to 2, which points back to 1. so, the algorithm will get stuck in an infinite recursion, visiting 1 and 2 and 1 and 2 over and over.]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32</a:t>
            </a:fld>
            <a:endParaRPr lang="en-US"/>
          </a:p>
        </p:txBody>
      </p:sp>
    </p:spTree>
    <p:extLst>
      <p:ext uri="{BB962C8B-B14F-4D97-AF65-F5344CB8AC3E}">
        <p14:creationId xmlns:p14="http://schemas.microsoft.com/office/powerpoint/2010/main" val="2128126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33</a:t>
            </a:fld>
            <a:endParaRPr lang="en-US"/>
          </a:p>
        </p:txBody>
      </p:sp>
    </p:spTree>
    <p:extLst>
      <p:ext uri="{BB962C8B-B14F-4D97-AF65-F5344CB8AC3E}">
        <p14:creationId xmlns:p14="http://schemas.microsoft.com/office/powerpoint/2010/main" val="4101587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 Flow Graphs and IR</a:t>
            </a:r>
            <a:endParaRPr lang="en-US" sz="2400" dirty="0"/>
          </a:p>
        </p:txBody>
      </p:sp>
      <p:sp>
        <p:nvSpPr>
          <p:cNvPr id="3" name="Subtitle 2"/>
          <p:cNvSpPr>
            <a:spLocks noGrp="1"/>
          </p:cNvSpPr>
          <p:nvPr>
            <p:ph type="subTitle" idx="1"/>
          </p:nvPr>
        </p:nvSpPr>
        <p:spPr/>
        <p:txBody>
          <a:bodyPr/>
          <a:lstStyle/>
          <a:p>
            <a:r>
              <a:rPr lang="en-US"/>
              <a:t>CS </a:t>
            </a:r>
            <a:r>
              <a:rPr lang="en-US" dirty="0"/>
              <a:t>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today: a second definition for </a:t>
            </a:r>
            <a:r>
              <a:rPr lang="en-US" b="1" dirty="0"/>
              <a:t>CFG</a:t>
            </a:r>
            <a:r>
              <a:rPr lang="en-US" dirty="0"/>
              <a:t> in the </a:t>
            </a:r>
            <a:r>
              <a:rPr lang="en-US" i="1" dirty="0"/>
              <a:t>same course</a:t>
            </a:r>
            <a:endParaRPr lang="en-US" dirty="0"/>
          </a:p>
          <a:p>
            <a:pPr lvl="1"/>
            <a:r>
              <a:rPr lang="en-US" dirty="0"/>
              <a:t>naming is hard, ok</a:t>
            </a:r>
          </a:p>
          <a:p>
            <a:pPr lvl="1"/>
            <a:r>
              <a:rPr lang="en-US" dirty="0"/>
              <a:t>at least IR is new ;O</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We have a problem</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0507-7ADF-0043-B575-9A3023F80E93}"/>
              </a:ext>
            </a:extLst>
          </p:cNvPr>
          <p:cNvSpPr>
            <a:spLocks noGrp="1"/>
          </p:cNvSpPr>
          <p:nvPr>
            <p:ph type="title"/>
          </p:nvPr>
        </p:nvSpPr>
        <p:spPr>
          <a:xfrm>
            <a:off x="152400" y="0"/>
            <a:ext cx="8991600" cy="495300"/>
          </a:xfrm>
        </p:spPr>
        <p:txBody>
          <a:bodyPr/>
          <a:lstStyle/>
          <a:p>
            <a:r>
              <a:rPr lang="en-US" dirty="0"/>
              <a:t>Our compiler is producing terrible code. Oh no!</a:t>
            </a:r>
          </a:p>
        </p:txBody>
      </p:sp>
      <p:sp>
        <p:nvSpPr>
          <p:cNvPr id="3" name="Content Placeholder 2">
            <a:extLst>
              <a:ext uri="{FF2B5EF4-FFF2-40B4-BE49-F238E27FC236}">
                <a16:creationId xmlns:a16="http://schemas.microsoft.com/office/drawing/2014/main" id="{52050546-7382-C44E-B03C-68A630BFB6AE}"/>
              </a:ext>
            </a:extLst>
          </p:cNvPr>
          <p:cNvSpPr>
            <a:spLocks noGrp="1"/>
          </p:cNvSpPr>
          <p:nvPr>
            <p:ph idx="1"/>
          </p:nvPr>
        </p:nvSpPr>
        <p:spPr>
          <a:xfrm>
            <a:off x="152400" y="495301"/>
            <a:ext cx="8991600" cy="495301"/>
          </a:xfrm>
        </p:spPr>
        <p:txBody>
          <a:bodyPr/>
          <a:lstStyle/>
          <a:p>
            <a:r>
              <a:rPr lang="en-US" dirty="0"/>
              <a:t>this is what my code generator produces for this tiny function.</a:t>
            </a:r>
          </a:p>
        </p:txBody>
      </p:sp>
      <p:sp>
        <p:nvSpPr>
          <p:cNvPr id="4" name="Slide Number Placeholder 3">
            <a:extLst>
              <a:ext uri="{FF2B5EF4-FFF2-40B4-BE49-F238E27FC236}">
                <a16:creationId xmlns:a16="http://schemas.microsoft.com/office/drawing/2014/main" id="{17209E1B-AD76-B14D-8E2D-25E0694ED9C3}"/>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1FFC5D87-F340-134D-A244-890ADEB84583}"/>
              </a:ext>
            </a:extLst>
          </p:cNvPr>
          <p:cNvSpPr txBox="1"/>
          <p:nvPr/>
        </p:nvSpPr>
        <p:spPr>
          <a:xfrm>
            <a:off x="457200" y="918380"/>
            <a:ext cx="2084225" cy="923330"/>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main()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5</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9B79796-0186-E046-BE8E-5C41B0B971AF}"/>
              </a:ext>
            </a:extLst>
          </p:cNvPr>
          <p:cNvSpPr txBox="1"/>
          <p:nvPr/>
        </p:nvSpPr>
        <p:spPr>
          <a:xfrm>
            <a:off x="457200" y="1841710"/>
            <a:ext cx="2204450" cy="3785652"/>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main:</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sw</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-4</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sw</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ra</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-8</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move</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endParaRPr lang="en-US" sz="1600" b="1" dirty="0">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addi</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-12</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sw</a:t>
            </a:r>
            <a:r>
              <a:rPr lang="en-US" sz="1600" b="1" dirty="0">
                <a:latin typeface="Consolas" panose="020B0609020204030204" pitchFamily="49" charset="0"/>
                <a:cs typeface="Consolas" panose="020B0609020204030204" pitchFamily="49" charset="0"/>
              </a:rPr>
              <a:t>   s0, </a:t>
            </a:r>
            <a:r>
              <a:rPr lang="en-US" sz="1600" b="1" dirty="0">
                <a:solidFill>
                  <a:schemeClr val="accent3">
                    <a:lumMod val="75000"/>
                  </a:schemeClr>
                </a:solidFill>
                <a:latin typeface="Consolas" panose="020B0609020204030204" pitchFamily="49" charset="0"/>
                <a:cs typeface="Consolas" panose="020B0609020204030204" pitchFamily="49" charset="0"/>
              </a:rPr>
              <a:t>-12</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a:t>
            </a:r>
          </a:p>
          <a:p>
            <a:r>
              <a:rPr lang="en-US" sz="1600" b="1" dirty="0">
                <a:solidFill>
                  <a:srgbClr val="FF0000"/>
                </a:solidFill>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addi</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-4</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li</a:t>
            </a:r>
            <a:r>
              <a:rPr lang="en-US" sz="1600" b="1" dirty="0">
                <a:latin typeface="Consolas" panose="020B0609020204030204" pitchFamily="49" charset="0"/>
                <a:cs typeface="Consolas" panose="020B0609020204030204" pitchFamily="49" charset="0"/>
              </a:rPr>
              <a:t>   s0, </a:t>
            </a:r>
            <a:r>
              <a:rPr lang="en-US" sz="1600" b="1" dirty="0">
                <a:solidFill>
                  <a:schemeClr val="accent3">
                    <a:lumMod val="75000"/>
                  </a:schemeClr>
                </a:solidFill>
                <a:latin typeface="Consolas" panose="020B0609020204030204" pitchFamily="49" charset="0"/>
                <a:cs typeface="Consolas" panose="020B0609020204030204" pitchFamily="49" charset="0"/>
              </a:rPr>
              <a:t>5</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sw</a:t>
            </a:r>
            <a:r>
              <a:rPr lang="en-US" sz="1600" b="1" dirty="0">
                <a:latin typeface="Consolas" panose="020B0609020204030204" pitchFamily="49" charset="0"/>
                <a:cs typeface="Consolas" panose="020B0609020204030204" pitchFamily="49" charset="0"/>
              </a:rPr>
              <a:t>   s0,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jal</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println_i</a:t>
            </a:r>
            <a:endParaRPr lang="en-US" sz="1600" b="1" dirty="0">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lw</a:t>
            </a:r>
            <a:r>
              <a:rPr lang="en-US" sz="1600" b="1" dirty="0">
                <a:latin typeface="Consolas" panose="020B0609020204030204" pitchFamily="49" charset="0"/>
                <a:cs typeface="Consolas" panose="020B0609020204030204" pitchFamily="49" charset="0"/>
              </a:rPr>
              <a:t>   s0, </a:t>
            </a:r>
            <a:r>
              <a:rPr lang="en-US" sz="1600" b="1" dirty="0">
                <a:solidFill>
                  <a:schemeClr val="accent3">
                    <a:lumMod val="75000"/>
                  </a:schemeClr>
                </a:solidFill>
                <a:latin typeface="Consolas" panose="020B0609020204030204" pitchFamily="49" charset="0"/>
                <a:cs typeface="Consolas" panose="020B0609020204030204" pitchFamily="49" charset="0"/>
              </a:rPr>
              <a:t>-12</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lw</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ra</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-8</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lw</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-4</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fp</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addi</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sp</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12</a:t>
            </a:r>
          </a:p>
          <a:p>
            <a:r>
              <a:rPr lang="en-US" sz="1600" b="1" dirty="0">
                <a:latin typeface="Consolas" panose="020B0609020204030204" pitchFamily="49" charset="0"/>
                <a:cs typeface="Consolas" panose="020B0609020204030204" pitchFamily="49" charset="0"/>
              </a:rPr>
              <a:t>  </a:t>
            </a:r>
            <a:r>
              <a:rPr lang="en-US" sz="1600" b="1" dirty="0" err="1">
                <a:solidFill>
                  <a:srgbClr val="FF0000"/>
                </a:solidFill>
                <a:latin typeface="Consolas" panose="020B0609020204030204" pitchFamily="49" charset="0"/>
                <a:cs typeface="Consolas" panose="020B0609020204030204" pitchFamily="49" charset="0"/>
              </a:rPr>
              <a:t>jr</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ra</a:t>
            </a:r>
            <a:endParaRPr lang="en-US" sz="16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70E9C5D4-C4FD-E642-B7A4-571E5D0BBE39}"/>
              </a:ext>
            </a:extLst>
          </p:cNvPr>
          <p:cNvSpPr txBox="1"/>
          <p:nvPr/>
        </p:nvSpPr>
        <p:spPr>
          <a:xfrm>
            <a:off x="4648200" y="1910165"/>
            <a:ext cx="2582758" cy="2554545"/>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main:</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a0,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b="1" dirty="0">
              <a:latin typeface="Consolas" panose="020B0609020204030204" pitchFamily="49" charset="0"/>
              <a:cs typeface="Consolas" panose="020B0609020204030204" pitchFamily="49" charset="0"/>
            </a:endParaRPr>
          </a:p>
        </p:txBody>
      </p:sp>
      <p:sp>
        <p:nvSpPr>
          <p:cNvPr id="9" name="Down Arrow 8">
            <a:extLst>
              <a:ext uri="{FF2B5EF4-FFF2-40B4-BE49-F238E27FC236}">
                <a16:creationId xmlns:a16="http://schemas.microsoft.com/office/drawing/2014/main" id="{3BD3D974-939B-5C4A-AD23-EE0E8641BAAE}"/>
              </a:ext>
            </a:extLst>
          </p:cNvPr>
          <p:cNvSpPr/>
          <p:nvPr/>
        </p:nvSpPr>
        <p:spPr>
          <a:xfrm>
            <a:off x="1219200" y="1638300"/>
            <a:ext cx="457200" cy="4572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13E9400-0CFB-FC41-B2E6-BBD6873D0385}"/>
              </a:ext>
            </a:extLst>
          </p:cNvPr>
          <p:cNvSpPr txBox="1"/>
          <p:nvPr/>
        </p:nvSpPr>
        <p:spPr>
          <a:xfrm>
            <a:off x="2817042" y="1055530"/>
            <a:ext cx="5840575" cy="769441"/>
          </a:xfrm>
          <a:prstGeom prst="rect">
            <a:avLst/>
          </a:prstGeom>
          <a:noFill/>
        </p:spPr>
        <p:txBody>
          <a:bodyPr wrap="square" rtlCol="0">
            <a:spAutoFit/>
          </a:bodyPr>
          <a:lstStyle/>
          <a:p>
            <a:pPr algn="ctr"/>
            <a:r>
              <a:rPr lang="en-US" sz="2200" dirty="0"/>
              <a:t>it's </a:t>
            </a:r>
            <a:r>
              <a:rPr lang="en-US" sz="2200" i="1" dirty="0"/>
              <a:t>a little</a:t>
            </a:r>
            <a:r>
              <a:rPr lang="en-US" sz="2200" dirty="0"/>
              <a:t> excessive. a better compiler might produce this (using the </a:t>
            </a:r>
            <a:r>
              <a:rPr lang="en-US" sz="2200" i="1" dirty="0"/>
              <a:t>real</a:t>
            </a:r>
            <a:r>
              <a:rPr lang="en-US" sz="2200" dirty="0"/>
              <a:t> MIPS ABI):</a:t>
            </a:r>
          </a:p>
        </p:txBody>
      </p:sp>
      <p:sp>
        <p:nvSpPr>
          <p:cNvPr id="11" name="TextBox 10">
            <a:extLst>
              <a:ext uri="{FF2B5EF4-FFF2-40B4-BE49-F238E27FC236}">
                <a16:creationId xmlns:a16="http://schemas.microsoft.com/office/drawing/2014/main" id="{4C47558C-61B7-C24A-90E5-9072D938062A}"/>
              </a:ext>
            </a:extLst>
          </p:cNvPr>
          <p:cNvSpPr txBox="1"/>
          <p:nvPr/>
        </p:nvSpPr>
        <p:spPr>
          <a:xfrm>
            <a:off x="3574505" y="4648932"/>
            <a:ext cx="4730148" cy="430887"/>
          </a:xfrm>
          <a:prstGeom prst="rect">
            <a:avLst/>
          </a:prstGeom>
          <a:noFill/>
        </p:spPr>
        <p:txBody>
          <a:bodyPr wrap="square" rtlCol="0">
            <a:spAutoFit/>
          </a:bodyPr>
          <a:lstStyle/>
          <a:p>
            <a:pPr algn="ctr"/>
            <a:r>
              <a:rPr lang="en-US" sz="2200" dirty="0"/>
              <a:t>so… how do we get closer to that?</a:t>
            </a:r>
          </a:p>
        </p:txBody>
      </p:sp>
    </p:spTree>
    <p:extLst>
      <p:ext uri="{BB962C8B-B14F-4D97-AF65-F5344CB8AC3E}">
        <p14:creationId xmlns:p14="http://schemas.microsoft.com/office/powerpoint/2010/main" val="11959260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animBg="1"/>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7557-8D7F-DC46-9F59-2BDCF26ACC7B}"/>
              </a:ext>
            </a:extLst>
          </p:cNvPr>
          <p:cNvSpPr>
            <a:spLocks noGrp="1"/>
          </p:cNvSpPr>
          <p:nvPr>
            <p:ph type="title"/>
          </p:nvPr>
        </p:nvSpPr>
        <p:spPr/>
        <p:txBody>
          <a:bodyPr/>
          <a:lstStyle/>
          <a:p>
            <a:r>
              <a:rPr lang="en-US" dirty="0"/>
              <a:t>Something is holding us back</a:t>
            </a:r>
          </a:p>
        </p:txBody>
      </p:sp>
      <p:sp>
        <p:nvSpPr>
          <p:cNvPr id="3" name="Content Placeholder 2">
            <a:extLst>
              <a:ext uri="{FF2B5EF4-FFF2-40B4-BE49-F238E27FC236}">
                <a16:creationId xmlns:a16="http://schemas.microsoft.com/office/drawing/2014/main" id="{03DD1B83-AB27-AD4D-BC3A-10F2404F46FD}"/>
              </a:ext>
            </a:extLst>
          </p:cNvPr>
          <p:cNvSpPr>
            <a:spLocks noGrp="1"/>
          </p:cNvSpPr>
          <p:nvPr>
            <p:ph idx="1"/>
          </p:nvPr>
        </p:nvSpPr>
        <p:spPr/>
        <p:txBody>
          <a:bodyPr/>
          <a:lstStyle/>
          <a:p>
            <a:r>
              <a:rPr lang="en-US" dirty="0"/>
              <a:t>there's a limit on the quality of code we can produce by going directly from the AST to machine/assembly code.</a:t>
            </a:r>
          </a:p>
          <a:p>
            <a:pPr lvl="1"/>
            <a:r>
              <a:rPr lang="en-US" dirty="0"/>
              <a:t>we could tweak and </a:t>
            </a:r>
            <a:r>
              <a:rPr lang="en-US" dirty="0" err="1"/>
              <a:t>bodge</a:t>
            </a:r>
            <a:r>
              <a:rPr lang="en-US" dirty="0"/>
              <a:t> and kludge improvements on what we have, and we'll </a:t>
            </a:r>
            <a:r>
              <a:rPr lang="en-US" b="1" dirty="0"/>
              <a:t>asymptotically</a:t>
            </a:r>
            <a:r>
              <a:rPr lang="en-US" dirty="0"/>
              <a:t> approach "good code" without ever really getting there.</a:t>
            </a:r>
          </a:p>
          <a:p>
            <a:r>
              <a:rPr lang="en-US" dirty="0"/>
              <a:t>generating good code requires certain kinds of analyses to extract </a:t>
            </a:r>
            <a:r>
              <a:rPr lang="en-US" b="1" dirty="0"/>
              <a:t>more information</a:t>
            </a:r>
            <a:r>
              <a:rPr lang="en-US" dirty="0"/>
              <a:t> about the program being compiled.</a:t>
            </a:r>
          </a:p>
          <a:p>
            <a:pPr lvl="1"/>
            <a:r>
              <a:rPr lang="en-US" b="1" dirty="0"/>
              <a:t>control flow analysis</a:t>
            </a:r>
            <a:r>
              <a:rPr lang="en-US" dirty="0"/>
              <a:t> determines the sequence in which pieces of code are run (i.e. "this runs before that; this </a:t>
            </a:r>
            <a:r>
              <a:rPr lang="en-US" i="1" dirty="0"/>
              <a:t>may</a:t>
            </a:r>
            <a:r>
              <a:rPr lang="en-US" dirty="0"/>
              <a:t> run before that").</a:t>
            </a:r>
          </a:p>
          <a:p>
            <a:pPr lvl="1"/>
            <a:r>
              <a:rPr lang="en-US" b="1" dirty="0"/>
              <a:t>data flow analysis </a:t>
            </a:r>
            <a:r>
              <a:rPr lang="en-US" dirty="0"/>
              <a:t>determines how </a:t>
            </a:r>
            <a:r>
              <a:rPr lang="en-US" i="1" dirty="0"/>
              <a:t>values</a:t>
            </a:r>
            <a:r>
              <a:rPr lang="en-US" dirty="0"/>
              <a:t> are computed, copied, moved, reused, saved in variables, passed to functions, and so on.</a:t>
            </a:r>
          </a:p>
          <a:p>
            <a:r>
              <a:rPr lang="en-US" dirty="0"/>
              <a:t>unfortunately, the AST is </a:t>
            </a:r>
            <a:r>
              <a:rPr lang="en-US" b="1" dirty="0"/>
              <a:t>not a good fit</a:t>
            </a:r>
            <a:r>
              <a:rPr lang="en-US" dirty="0"/>
              <a:t> for doing these analyses.</a:t>
            </a:r>
          </a:p>
        </p:txBody>
      </p:sp>
      <p:sp>
        <p:nvSpPr>
          <p:cNvPr id="4" name="Slide Number Placeholder 3">
            <a:extLst>
              <a:ext uri="{FF2B5EF4-FFF2-40B4-BE49-F238E27FC236}">
                <a16:creationId xmlns:a16="http://schemas.microsoft.com/office/drawing/2014/main" id="{20621133-E5D3-4241-87D4-9658E2504785}"/>
              </a:ext>
            </a:extLst>
          </p:cNvPr>
          <p:cNvSpPr>
            <a:spLocks noGrp="1"/>
          </p:cNvSpPr>
          <p:nvPr>
            <p:ph type="sldNum" sz="quarter" idx="12"/>
          </p:nvPr>
        </p:nvSpPr>
        <p:spPr/>
        <p:txBody>
          <a:bodyPr/>
          <a:lstStyle/>
          <a:p>
            <a:fld id="{3552B95B-556F-44BD-91A5-D80C1B9E2BB3}" type="slidenum">
              <a:rPr lang="en-US" smtClean="0"/>
              <a:pPr/>
              <a:t>5</a:t>
            </a:fld>
            <a:endParaRPr lang="en-US"/>
          </a:p>
        </p:txBody>
      </p:sp>
    </p:spTree>
    <p:extLst>
      <p:ext uri="{BB962C8B-B14F-4D97-AF65-F5344CB8AC3E}">
        <p14:creationId xmlns:p14="http://schemas.microsoft.com/office/powerpoint/2010/main" val="349173972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B4DD-99F4-A448-B95E-1C986E782163}"/>
              </a:ext>
            </a:extLst>
          </p:cNvPr>
          <p:cNvSpPr>
            <a:spLocks noGrp="1"/>
          </p:cNvSpPr>
          <p:nvPr>
            <p:ph type="title"/>
          </p:nvPr>
        </p:nvSpPr>
        <p:spPr/>
        <p:txBody>
          <a:bodyPr/>
          <a:lstStyle/>
          <a:p>
            <a:r>
              <a:rPr lang="en-US" dirty="0"/>
              <a:t>What's the S in AST stand for, again?</a:t>
            </a:r>
          </a:p>
        </p:txBody>
      </p:sp>
      <p:sp>
        <p:nvSpPr>
          <p:cNvPr id="3" name="Content Placeholder 2">
            <a:extLst>
              <a:ext uri="{FF2B5EF4-FFF2-40B4-BE49-F238E27FC236}">
                <a16:creationId xmlns:a16="http://schemas.microsoft.com/office/drawing/2014/main" id="{F989E684-EEA1-A244-811C-BCDBE64AD9F8}"/>
              </a:ext>
            </a:extLst>
          </p:cNvPr>
          <p:cNvSpPr>
            <a:spLocks noGrp="1"/>
          </p:cNvSpPr>
          <p:nvPr>
            <p:ph idx="1"/>
          </p:nvPr>
        </p:nvSpPr>
        <p:spPr>
          <a:xfrm>
            <a:off x="152400" y="495302"/>
            <a:ext cx="8991600" cy="495300"/>
          </a:xfrm>
        </p:spPr>
        <p:txBody>
          <a:bodyPr/>
          <a:lstStyle/>
          <a:p>
            <a:r>
              <a:rPr lang="en-US" dirty="0"/>
              <a:t>consider these pieces of code and their ASTs.</a:t>
            </a:r>
          </a:p>
        </p:txBody>
      </p:sp>
      <p:sp>
        <p:nvSpPr>
          <p:cNvPr id="4" name="Slide Number Placeholder 3">
            <a:extLst>
              <a:ext uri="{FF2B5EF4-FFF2-40B4-BE49-F238E27FC236}">
                <a16:creationId xmlns:a16="http://schemas.microsoft.com/office/drawing/2014/main" id="{BA4244AF-BA47-BC4C-A83F-897C47D8DCA4}"/>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5" name="TextBox 4">
            <a:extLst>
              <a:ext uri="{FF2B5EF4-FFF2-40B4-BE49-F238E27FC236}">
                <a16:creationId xmlns:a16="http://schemas.microsoft.com/office/drawing/2014/main" id="{06F9C91B-022B-204E-A063-92E9E96D7E3E}"/>
              </a:ext>
            </a:extLst>
          </p:cNvPr>
          <p:cNvSpPr txBox="1"/>
          <p:nvPr/>
        </p:nvSpPr>
        <p:spPr>
          <a:xfrm>
            <a:off x="533400" y="876300"/>
            <a:ext cx="2590774" cy="1477328"/>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let </a:t>
            </a:r>
            <a:r>
              <a:rPr lang="en-US" sz="1800" b="1" dirty="0">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a:t>
            </a:r>
          </a:p>
          <a:p>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88E9026C-307D-0246-9477-B32215908099}"/>
              </a:ext>
            </a:extLst>
          </p:cNvPr>
          <p:cNvSpPr txBox="1"/>
          <p:nvPr/>
        </p:nvSpPr>
        <p:spPr>
          <a:xfrm>
            <a:off x="5722920" y="876300"/>
            <a:ext cx="2590774" cy="1477328"/>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let </a:t>
            </a:r>
            <a:r>
              <a:rPr lang="en-US" sz="1800" b="1" dirty="0">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a:t>
            </a:r>
          </a:p>
          <a:p>
            <a:r>
              <a:rPr lang="en-US" sz="1800" b="1" dirty="0">
                <a:solidFill>
                  <a:srgbClr val="FF0000"/>
                </a:solidFill>
                <a:latin typeface="Consolas" panose="020B0609020204030204" pitchFamily="49" charset="0"/>
                <a:cs typeface="Consolas" panose="020B0609020204030204" pitchFamily="49" charset="0"/>
              </a:rPr>
              <a:t>while</a:t>
            </a:r>
            <a:r>
              <a:rPr lang="en-US" sz="1800" b="1" dirty="0">
                <a:latin typeface="Consolas" panose="020B0609020204030204" pitchFamily="49" charset="0"/>
                <a:cs typeface="Consolas" panose="020B0609020204030204" pitchFamily="49" charset="0"/>
              </a:rPr>
              <a:t> 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latin typeface="Consolas" panose="020B0609020204030204" pitchFamily="49" charset="0"/>
                <a:cs typeface="Consolas" panose="020B0609020204030204" pitchFamily="49" charset="0"/>
              </a:rPr>
              <a:t>);</a:t>
            </a:r>
          </a:p>
        </p:txBody>
      </p:sp>
      <p:grpSp>
        <p:nvGrpSpPr>
          <p:cNvPr id="66" name="Group 65">
            <a:extLst>
              <a:ext uri="{FF2B5EF4-FFF2-40B4-BE49-F238E27FC236}">
                <a16:creationId xmlns:a16="http://schemas.microsoft.com/office/drawing/2014/main" id="{14EBC586-37AA-F94B-B23B-D7B4F4D13D61}"/>
              </a:ext>
            </a:extLst>
          </p:cNvPr>
          <p:cNvGrpSpPr/>
          <p:nvPr/>
        </p:nvGrpSpPr>
        <p:grpSpPr>
          <a:xfrm>
            <a:off x="98412" y="2476500"/>
            <a:ext cx="3557025" cy="2362200"/>
            <a:chOff x="35505" y="2476500"/>
            <a:chExt cx="3969650" cy="2636222"/>
          </a:xfrm>
        </p:grpSpPr>
        <p:sp>
          <p:nvSpPr>
            <p:cNvPr id="11" name="TextBox 10">
              <a:extLst>
                <a:ext uri="{FF2B5EF4-FFF2-40B4-BE49-F238E27FC236}">
                  <a16:creationId xmlns:a16="http://schemas.microsoft.com/office/drawing/2014/main" id="{C42DB57A-8361-5540-A73E-16F95ABE7D8C}"/>
                </a:ext>
              </a:extLst>
            </p:cNvPr>
            <p:cNvSpPr txBox="1"/>
            <p:nvPr/>
          </p:nvSpPr>
          <p:spPr>
            <a:xfrm>
              <a:off x="683676" y="2661166"/>
              <a:ext cx="52129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Let</a:t>
              </a:r>
            </a:p>
          </p:txBody>
        </p:sp>
        <p:sp>
          <p:nvSpPr>
            <p:cNvPr id="13" name="TextBox 12">
              <a:extLst>
                <a:ext uri="{FF2B5EF4-FFF2-40B4-BE49-F238E27FC236}">
                  <a16:creationId xmlns:a16="http://schemas.microsoft.com/office/drawing/2014/main" id="{4A9C9B36-C902-6A49-B27A-256B62EA5587}"/>
                </a:ext>
              </a:extLst>
            </p:cNvPr>
            <p:cNvSpPr txBox="1"/>
            <p:nvPr/>
          </p:nvSpPr>
          <p:spPr>
            <a:xfrm>
              <a:off x="1445676" y="2476500"/>
              <a:ext cx="74571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a:solidFill>
                    <a:srgbClr val="0070C0"/>
                  </a:solidFill>
                  <a:latin typeface="Consolas" panose="020B0609020204030204" pitchFamily="49" charset="0"/>
                  <a:cs typeface="Consolas" panose="020B0609020204030204" pitchFamily="49" charset="0"/>
                </a:rPr>
                <a:t>x</a:t>
              </a:r>
              <a:r>
                <a:rPr lang="en-US" sz="1600" b="1" dirty="0">
                  <a:latin typeface="Consolas" panose="020B0609020204030204" pitchFamily="49" charset="0"/>
                  <a:cs typeface="Consolas" panose="020B0609020204030204" pitchFamily="49" charset="0"/>
                </a:rPr>
                <a:t>)</a:t>
              </a:r>
            </a:p>
          </p:txBody>
        </p:sp>
        <p:sp>
          <p:nvSpPr>
            <p:cNvPr id="14" name="TextBox 13">
              <a:extLst>
                <a:ext uri="{FF2B5EF4-FFF2-40B4-BE49-F238E27FC236}">
                  <a16:creationId xmlns:a16="http://schemas.microsoft.com/office/drawing/2014/main" id="{672DA0A7-EDAF-084E-A6C1-8BD7A1656B00}"/>
                </a:ext>
              </a:extLst>
            </p:cNvPr>
            <p:cNvSpPr txBox="1"/>
            <p:nvPr/>
          </p:nvSpPr>
          <p:spPr>
            <a:xfrm>
              <a:off x="1445676" y="2790112"/>
              <a:ext cx="1194558" cy="338554"/>
            </a:xfrm>
            <a:prstGeom prst="rect">
              <a:avLst/>
            </a:prstGeom>
            <a:noFill/>
          </p:spPr>
          <p:txBody>
            <a:bodyPr wrap="none" rtlCol="0">
              <a:spAutoFit/>
            </a:bodyPr>
            <a:lstStyle/>
            <a:p>
              <a:r>
                <a:rPr lang="en-US" sz="1600" b="1" dirty="0" err="1">
                  <a:latin typeface="Consolas" panose="020B0609020204030204" pitchFamily="49" charset="0"/>
                  <a:cs typeface="Consolas" panose="020B0609020204030204" pitchFamily="49" charset="0"/>
                </a:rPr>
                <a:t>IntLit</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p>
          </p:txBody>
        </p:sp>
        <p:sp>
          <p:nvSpPr>
            <p:cNvPr id="17" name="TextBox 16">
              <a:extLst>
                <a:ext uri="{FF2B5EF4-FFF2-40B4-BE49-F238E27FC236}">
                  <a16:creationId xmlns:a16="http://schemas.microsoft.com/office/drawing/2014/main" id="{AE085523-E2D7-6B40-9D0D-D72BDFD7FC90}"/>
                </a:ext>
              </a:extLst>
            </p:cNvPr>
            <p:cNvSpPr txBox="1"/>
            <p:nvPr/>
          </p:nvSpPr>
          <p:spPr>
            <a:xfrm>
              <a:off x="683676" y="3621406"/>
              <a:ext cx="409086"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If</a:t>
              </a:r>
            </a:p>
          </p:txBody>
        </p:sp>
        <p:sp>
          <p:nvSpPr>
            <p:cNvPr id="18" name="TextBox 17">
              <a:extLst>
                <a:ext uri="{FF2B5EF4-FFF2-40B4-BE49-F238E27FC236}">
                  <a16:creationId xmlns:a16="http://schemas.microsoft.com/office/drawing/2014/main" id="{FD04EAF3-F030-A14D-B8F5-FDB7D356F212}"/>
                </a:ext>
              </a:extLst>
            </p:cNvPr>
            <p:cNvSpPr txBox="1"/>
            <p:nvPr/>
          </p:nvSpPr>
          <p:spPr>
            <a:xfrm>
              <a:off x="1476838" y="3337022"/>
              <a:ext cx="296876"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&lt;</a:t>
              </a:r>
            </a:p>
          </p:txBody>
        </p:sp>
        <p:sp>
          <p:nvSpPr>
            <p:cNvPr id="19" name="TextBox 18">
              <a:extLst>
                <a:ext uri="{FF2B5EF4-FFF2-40B4-BE49-F238E27FC236}">
                  <a16:creationId xmlns:a16="http://schemas.microsoft.com/office/drawing/2014/main" id="{0A205B00-2E67-8C4C-918D-E565D9F7890F}"/>
                </a:ext>
              </a:extLst>
            </p:cNvPr>
            <p:cNvSpPr txBox="1"/>
            <p:nvPr/>
          </p:nvSpPr>
          <p:spPr>
            <a:xfrm>
              <a:off x="1981422" y="3179920"/>
              <a:ext cx="74571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a:solidFill>
                    <a:srgbClr val="0070C0"/>
                  </a:solidFill>
                  <a:latin typeface="Consolas" panose="020B0609020204030204" pitchFamily="49" charset="0"/>
                  <a:cs typeface="Consolas" panose="020B0609020204030204" pitchFamily="49" charset="0"/>
                </a:rPr>
                <a:t>x</a:t>
              </a:r>
              <a:r>
                <a:rPr lang="en-US" sz="1600" b="1" dirty="0">
                  <a:latin typeface="Consolas" panose="020B0609020204030204" pitchFamily="49" charset="0"/>
                  <a:cs typeface="Consolas" panose="020B0609020204030204" pitchFamily="49" charset="0"/>
                </a:rPr>
                <a:t>)</a:t>
              </a:r>
            </a:p>
          </p:txBody>
        </p:sp>
        <p:sp>
          <p:nvSpPr>
            <p:cNvPr id="20" name="TextBox 19">
              <a:extLst>
                <a:ext uri="{FF2B5EF4-FFF2-40B4-BE49-F238E27FC236}">
                  <a16:creationId xmlns:a16="http://schemas.microsoft.com/office/drawing/2014/main" id="{49930917-7F38-9D4B-8197-C98E2F22CBB0}"/>
                </a:ext>
              </a:extLst>
            </p:cNvPr>
            <p:cNvSpPr txBox="1"/>
            <p:nvPr/>
          </p:nvSpPr>
          <p:spPr>
            <a:xfrm>
              <a:off x="1981422" y="3478768"/>
              <a:ext cx="1306768" cy="338554"/>
            </a:xfrm>
            <a:prstGeom prst="rect">
              <a:avLst/>
            </a:prstGeom>
            <a:noFill/>
          </p:spPr>
          <p:txBody>
            <a:bodyPr wrap="none" rtlCol="0">
              <a:spAutoFit/>
            </a:bodyPr>
            <a:lstStyle/>
            <a:p>
              <a:r>
                <a:rPr lang="en-US" sz="1600" b="1" dirty="0" err="1">
                  <a:latin typeface="Consolas" panose="020B0609020204030204" pitchFamily="49" charset="0"/>
                  <a:cs typeface="Consolas" panose="020B0609020204030204" pitchFamily="49" charset="0"/>
                </a:rPr>
                <a:t>IntLit</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p>
          </p:txBody>
        </p:sp>
        <p:sp>
          <p:nvSpPr>
            <p:cNvPr id="21" name="TextBox 20">
              <a:extLst>
                <a:ext uri="{FF2B5EF4-FFF2-40B4-BE49-F238E27FC236}">
                  <a16:creationId xmlns:a16="http://schemas.microsoft.com/office/drawing/2014/main" id="{4374E1F1-31FE-A441-970C-8EAC350C08AD}"/>
                </a:ext>
              </a:extLst>
            </p:cNvPr>
            <p:cNvSpPr txBox="1"/>
            <p:nvPr/>
          </p:nvSpPr>
          <p:spPr>
            <a:xfrm>
              <a:off x="1406992" y="3935968"/>
              <a:ext cx="63350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Call</a:t>
              </a:r>
            </a:p>
          </p:txBody>
        </p:sp>
        <p:sp>
          <p:nvSpPr>
            <p:cNvPr id="22" name="TextBox 21">
              <a:extLst>
                <a:ext uri="{FF2B5EF4-FFF2-40B4-BE49-F238E27FC236}">
                  <a16:creationId xmlns:a16="http://schemas.microsoft.com/office/drawing/2014/main" id="{276686C5-ED83-874E-A1A8-CF71B2B4145F}"/>
                </a:ext>
              </a:extLst>
            </p:cNvPr>
            <p:cNvSpPr txBox="1"/>
            <p:nvPr/>
          </p:nvSpPr>
          <p:spPr>
            <a:xfrm>
              <a:off x="2283850" y="3816669"/>
              <a:ext cx="164339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err="1">
                  <a:solidFill>
                    <a:srgbClr val="0070C0"/>
                  </a:solidFill>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p>
          </p:txBody>
        </p:sp>
        <p:sp>
          <p:nvSpPr>
            <p:cNvPr id="23" name="TextBox 22">
              <a:extLst>
                <a:ext uri="{FF2B5EF4-FFF2-40B4-BE49-F238E27FC236}">
                  <a16:creationId xmlns:a16="http://schemas.microsoft.com/office/drawing/2014/main" id="{62670269-5423-E749-A870-5D88CFB97E80}"/>
                </a:ext>
              </a:extLst>
            </p:cNvPr>
            <p:cNvSpPr txBox="1"/>
            <p:nvPr/>
          </p:nvSpPr>
          <p:spPr>
            <a:xfrm>
              <a:off x="2249546" y="4088368"/>
              <a:ext cx="175560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StrLit</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"hi"</a:t>
              </a:r>
              <a:r>
                <a:rPr lang="en-US" sz="1600" b="1" dirty="0">
                  <a:latin typeface="Consolas" panose="020B0609020204030204" pitchFamily="49" charset="0"/>
                  <a:cs typeface="Consolas" panose="020B0609020204030204" pitchFamily="49" charset="0"/>
                </a:rPr>
                <a:t>)]</a:t>
              </a:r>
            </a:p>
          </p:txBody>
        </p:sp>
        <p:sp>
          <p:nvSpPr>
            <p:cNvPr id="24" name="TextBox 23">
              <a:extLst>
                <a:ext uri="{FF2B5EF4-FFF2-40B4-BE49-F238E27FC236}">
                  <a16:creationId xmlns:a16="http://schemas.microsoft.com/office/drawing/2014/main" id="{37FA5B86-E373-9542-9642-BE4AF9A3E6D0}"/>
                </a:ext>
              </a:extLst>
            </p:cNvPr>
            <p:cNvSpPr txBox="1"/>
            <p:nvPr/>
          </p:nvSpPr>
          <p:spPr>
            <a:xfrm>
              <a:off x="683676" y="4636177"/>
              <a:ext cx="63350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Call</a:t>
              </a:r>
            </a:p>
          </p:txBody>
        </p:sp>
        <p:sp>
          <p:nvSpPr>
            <p:cNvPr id="25" name="TextBox 24">
              <a:extLst>
                <a:ext uri="{FF2B5EF4-FFF2-40B4-BE49-F238E27FC236}">
                  <a16:creationId xmlns:a16="http://schemas.microsoft.com/office/drawing/2014/main" id="{4FA60A6E-4EC6-A74F-BFDA-089E9804ED83}"/>
                </a:ext>
              </a:extLst>
            </p:cNvPr>
            <p:cNvSpPr txBox="1"/>
            <p:nvPr/>
          </p:nvSpPr>
          <p:spPr>
            <a:xfrm>
              <a:off x="1521850" y="4461036"/>
              <a:ext cx="164339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err="1">
                  <a:solidFill>
                    <a:srgbClr val="0070C0"/>
                  </a:solidFill>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p>
          </p:txBody>
        </p:sp>
        <p:sp>
          <p:nvSpPr>
            <p:cNvPr id="26" name="TextBox 25">
              <a:extLst>
                <a:ext uri="{FF2B5EF4-FFF2-40B4-BE49-F238E27FC236}">
                  <a16:creationId xmlns:a16="http://schemas.microsoft.com/office/drawing/2014/main" id="{EB69A37E-4015-AD42-9A43-DC27DA4D79C1}"/>
                </a:ext>
              </a:extLst>
            </p:cNvPr>
            <p:cNvSpPr txBox="1"/>
            <p:nvPr/>
          </p:nvSpPr>
          <p:spPr>
            <a:xfrm>
              <a:off x="1487546" y="4774168"/>
              <a:ext cx="209223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StrLit</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"done."</a:t>
              </a:r>
              <a:r>
                <a:rPr lang="en-US" sz="1600" b="1" dirty="0">
                  <a:latin typeface="Consolas" panose="020B0609020204030204" pitchFamily="49" charset="0"/>
                  <a:cs typeface="Consolas" panose="020B0609020204030204" pitchFamily="49" charset="0"/>
                </a:rPr>
                <a:t>)]</a:t>
              </a:r>
            </a:p>
          </p:txBody>
        </p:sp>
        <p:sp>
          <p:nvSpPr>
            <p:cNvPr id="27" name="TextBox 26">
              <a:extLst>
                <a:ext uri="{FF2B5EF4-FFF2-40B4-BE49-F238E27FC236}">
                  <a16:creationId xmlns:a16="http://schemas.microsoft.com/office/drawing/2014/main" id="{21FAC8E3-851B-ED4D-A8E1-229C0DC52BF5}"/>
                </a:ext>
              </a:extLst>
            </p:cNvPr>
            <p:cNvSpPr txBox="1"/>
            <p:nvPr/>
          </p:nvSpPr>
          <p:spPr>
            <a:xfrm>
              <a:off x="35505" y="3621406"/>
              <a:ext cx="409086"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p>
          </p:txBody>
        </p:sp>
        <p:cxnSp>
          <p:nvCxnSpPr>
            <p:cNvPr id="29" name="Straight Connector 28">
              <a:extLst>
                <a:ext uri="{FF2B5EF4-FFF2-40B4-BE49-F238E27FC236}">
                  <a16:creationId xmlns:a16="http://schemas.microsoft.com/office/drawing/2014/main" id="{6FC036C0-E078-1444-8B98-B14DEE325316}"/>
                </a:ext>
              </a:extLst>
            </p:cNvPr>
            <p:cNvCxnSpPr>
              <a:cxnSpLocks/>
            </p:cNvCxnSpPr>
            <p:nvPr/>
          </p:nvCxnSpPr>
          <p:spPr>
            <a:xfrm flipV="1">
              <a:off x="381000" y="2895600"/>
              <a:ext cx="323850" cy="725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709C61-F83C-0343-9C0C-4CA15108CA0F}"/>
                </a:ext>
              </a:extLst>
            </p:cNvPr>
            <p:cNvCxnSpPr>
              <a:cxnSpLocks/>
              <a:stCxn id="27" idx="3"/>
              <a:endCxn id="17" idx="1"/>
            </p:cNvCxnSpPr>
            <p:nvPr/>
          </p:nvCxnSpPr>
          <p:spPr>
            <a:xfrm>
              <a:off x="444591" y="3790683"/>
              <a:ext cx="2390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791E4B8-3A0C-0F49-8134-EF8FA8350756}"/>
                </a:ext>
              </a:extLst>
            </p:cNvPr>
            <p:cNvCxnSpPr>
              <a:cxnSpLocks/>
            </p:cNvCxnSpPr>
            <p:nvPr/>
          </p:nvCxnSpPr>
          <p:spPr>
            <a:xfrm>
              <a:off x="381000" y="3943350"/>
              <a:ext cx="361950" cy="771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A336F7F-858F-834B-9926-33C42CD6196A}"/>
                </a:ext>
              </a:extLst>
            </p:cNvPr>
            <p:cNvCxnSpPr>
              <a:cxnSpLocks/>
              <a:endCxn id="13" idx="1"/>
            </p:cNvCxnSpPr>
            <p:nvPr/>
          </p:nvCxnSpPr>
          <p:spPr>
            <a:xfrm flipV="1">
              <a:off x="1162050" y="2645777"/>
              <a:ext cx="283626" cy="106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0BBF01A-D971-524E-A25C-F03DFA5757DD}"/>
                </a:ext>
              </a:extLst>
            </p:cNvPr>
            <p:cNvCxnSpPr>
              <a:cxnSpLocks/>
              <a:endCxn id="14" idx="1"/>
            </p:cNvCxnSpPr>
            <p:nvPr/>
          </p:nvCxnSpPr>
          <p:spPr>
            <a:xfrm>
              <a:off x="1181100" y="2916081"/>
              <a:ext cx="264576" cy="433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E05BE38-E99E-8E42-B257-A67E1A9397E3}"/>
                </a:ext>
              </a:extLst>
            </p:cNvPr>
            <p:cNvCxnSpPr>
              <a:cxnSpLocks/>
            </p:cNvCxnSpPr>
            <p:nvPr/>
          </p:nvCxnSpPr>
          <p:spPr>
            <a:xfrm flipV="1">
              <a:off x="1752600" y="3331488"/>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9075DCB-C295-854A-9363-11298C0A2AF1}"/>
                </a:ext>
              </a:extLst>
            </p:cNvPr>
            <p:cNvCxnSpPr>
              <a:cxnSpLocks/>
            </p:cNvCxnSpPr>
            <p:nvPr/>
          </p:nvCxnSpPr>
          <p:spPr>
            <a:xfrm>
              <a:off x="1762125" y="3603901"/>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8977819-28B3-C14B-AE76-0043FFB220EF}"/>
                </a:ext>
              </a:extLst>
            </p:cNvPr>
            <p:cNvCxnSpPr>
              <a:cxnSpLocks/>
            </p:cNvCxnSpPr>
            <p:nvPr/>
          </p:nvCxnSpPr>
          <p:spPr>
            <a:xfrm flipV="1">
              <a:off x="2054396" y="3964189"/>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5E6295A-B9D2-BE47-A008-9D369BBBA642}"/>
                </a:ext>
              </a:extLst>
            </p:cNvPr>
            <p:cNvCxnSpPr>
              <a:cxnSpLocks/>
            </p:cNvCxnSpPr>
            <p:nvPr/>
          </p:nvCxnSpPr>
          <p:spPr>
            <a:xfrm>
              <a:off x="2063921" y="4236602"/>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2ED4C3E-8A1E-964D-B136-D991B1781B9B}"/>
                </a:ext>
              </a:extLst>
            </p:cNvPr>
            <p:cNvCxnSpPr>
              <a:cxnSpLocks/>
            </p:cNvCxnSpPr>
            <p:nvPr/>
          </p:nvCxnSpPr>
          <p:spPr>
            <a:xfrm flipV="1">
              <a:off x="1294305" y="4631833"/>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5271C4D-9ADC-B44E-B8F0-19013D5A1382}"/>
                </a:ext>
              </a:extLst>
            </p:cNvPr>
            <p:cNvCxnSpPr>
              <a:cxnSpLocks/>
            </p:cNvCxnSpPr>
            <p:nvPr/>
          </p:nvCxnSpPr>
          <p:spPr>
            <a:xfrm>
              <a:off x="1303830" y="4904246"/>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45CE9D8-5D8F-0B4A-9415-E676414C514A}"/>
                </a:ext>
              </a:extLst>
            </p:cNvPr>
            <p:cNvCxnSpPr>
              <a:cxnSpLocks/>
            </p:cNvCxnSpPr>
            <p:nvPr/>
          </p:nvCxnSpPr>
          <p:spPr>
            <a:xfrm flipV="1">
              <a:off x="1075158" y="3561872"/>
              <a:ext cx="371475" cy="180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680A7F9-921C-874B-AB71-54BD775DE09C}"/>
                </a:ext>
              </a:extLst>
            </p:cNvPr>
            <p:cNvCxnSpPr>
              <a:cxnSpLocks/>
            </p:cNvCxnSpPr>
            <p:nvPr/>
          </p:nvCxnSpPr>
          <p:spPr>
            <a:xfrm>
              <a:off x="1076325" y="3914776"/>
              <a:ext cx="323850" cy="190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A0AD1D1E-A2A6-7F41-9E12-3B8C82ECCA9F}"/>
              </a:ext>
            </a:extLst>
          </p:cNvPr>
          <p:cNvGrpSpPr/>
          <p:nvPr/>
        </p:nvGrpSpPr>
        <p:grpSpPr>
          <a:xfrm>
            <a:off x="5434575" y="2496505"/>
            <a:ext cx="3557025" cy="2362200"/>
            <a:chOff x="35505" y="2476500"/>
            <a:chExt cx="3969650" cy="2636222"/>
          </a:xfrm>
        </p:grpSpPr>
        <p:sp>
          <p:nvSpPr>
            <p:cNvPr id="68" name="TextBox 67">
              <a:extLst>
                <a:ext uri="{FF2B5EF4-FFF2-40B4-BE49-F238E27FC236}">
                  <a16:creationId xmlns:a16="http://schemas.microsoft.com/office/drawing/2014/main" id="{800E79E9-DF94-E74E-8442-212A8D6499FA}"/>
                </a:ext>
              </a:extLst>
            </p:cNvPr>
            <p:cNvSpPr txBox="1"/>
            <p:nvPr/>
          </p:nvSpPr>
          <p:spPr>
            <a:xfrm>
              <a:off x="683676" y="2661166"/>
              <a:ext cx="52129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Let</a:t>
              </a:r>
            </a:p>
          </p:txBody>
        </p:sp>
        <p:sp>
          <p:nvSpPr>
            <p:cNvPr id="69" name="TextBox 68">
              <a:extLst>
                <a:ext uri="{FF2B5EF4-FFF2-40B4-BE49-F238E27FC236}">
                  <a16:creationId xmlns:a16="http://schemas.microsoft.com/office/drawing/2014/main" id="{4764ABDB-3F2A-BF4C-99C1-8F9F8B8E17E8}"/>
                </a:ext>
              </a:extLst>
            </p:cNvPr>
            <p:cNvSpPr txBox="1"/>
            <p:nvPr/>
          </p:nvSpPr>
          <p:spPr>
            <a:xfrm>
              <a:off x="1445676" y="2476500"/>
              <a:ext cx="74571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a:solidFill>
                    <a:srgbClr val="0070C0"/>
                  </a:solidFill>
                  <a:latin typeface="Consolas" panose="020B0609020204030204" pitchFamily="49" charset="0"/>
                  <a:cs typeface="Consolas" panose="020B0609020204030204" pitchFamily="49" charset="0"/>
                </a:rPr>
                <a:t>x</a:t>
              </a:r>
              <a:r>
                <a:rPr lang="en-US" sz="1600" b="1" dirty="0">
                  <a:latin typeface="Consolas" panose="020B0609020204030204" pitchFamily="49" charset="0"/>
                  <a:cs typeface="Consolas" panose="020B0609020204030204" pitchFamily="49" charset="0"/>
                </a:rPr>
                <a:t>)</a:t>
              </a:r>
            </a:p>
          </p:txBody>
        </p:sp>
        <p:sp>
          <p:nvSpPr>
            <p:cNvPr id="70" name="TextBox 69">
              <a:extLst>
                <a:ext uri="{FF2B5EF4-FFF2-40B4-BE49-F238E27FC236}">
                  <a16:creationId xmlns:a16="http://schemas.microsoft.com/office/drawing/2014/main" id="{435CE3B9-51D3-D84C-B0CE-EE5685B6EB18}"/>
                </a:ext>
              </a:extLst>
            </p:cNvPr>
            <p:cNvSpPr txBox="1"/>
            <p:nvPr/>
          </p:nvSpPr>
          <p:spPr>
            <a:xfrm>
              <a:off x="1445676" y="2790112"/>
              <a:ext cx="1194558" cy="338554"/>
            </a:xfrm>
            <a:prstGeom prst="rect">
              <a:avLst/>
            </a:prstGeom>
            <a:noFill/>
          </p:spPr>
          <p:txBody>
            <a:bodyPr wrap="none" rtlCol="0">
              <a:spAutoFit/>
            </a:bodyPr>
            <a:lstStyle/>
            <a:p>
              <a:r>
                <a:rPr lang="en-US" sz="1600" b="1" dirty="0" err="1">
                  <a:latin typeface="Consolas" panose="020B0609020204030204" pitchFamily="49" charset="0"/>
                  <a:cs typeface="Consolas" panose="020B0609020204030204" pitchFamily="49" charset="0"/>
                </a:rPr>
                <a:t>IntLit</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p>
          </p:txBody>
        </p:sp>
        <p:sp>
          <p:nvSpPr>
            <p:cNvPr id="71" name="TextBox 70">
              <a:extLst>
                <a:ext uri="{FF2B5EF4-FFF2-40B4-BE49-F238E27FC236}">
                  <a16:creationId xmlns:a16="http://schemas.microsoft.com/office/drawing/2014/main" id="{FE19CCCE-AB34-F04B-A8CA-257D3CE3FECD}"/>
                </a:ext>
              </a:extLst>
            </p:cNvPr>
            <p:cNvSpPr txBox="1"/>
            <p:nvPr/>
          </p:nvSpPr>
          <p:spPr>
            <a:xfrm>
              <a:off x="683676" y="3621406"/>
              <a:ext cx="74571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While</a:t>
              </a:r>
            </a:p>
          </p:txBody>
        </p:sp>
        <p:sp>
          <p:nvSpPr>
            <p:cNvPr id="72" name="TextBox 71">
              <a:extLst>
                <a:ext uri="{FF2B5EF4-FFF2-40B4-BE49-F238E27FC236}">
                  <a16:creationId xmlns:a16="http://schemas.microsoft.com/office/drawing/2014/main" id="{7AE28D18-A392-E84F-A15C-BD382421C346}"/>
                </a:ext>
              </a:extLst>
            </p:cNvPr>
            <p:cNvSpPr txBox="1"/>
            <p:nvPr/>
          </p:nvSpPr>
          <p:spPr>
            <a:xfrm>
              <a:off x="1476838" y="3337022"/>
              <a:ext cx="296876"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&lt;</a:t>
              </a:r>
            </a:p>
          </p:txBody>
        </p:sp>
        <p:sp>
          <p:nvSpPr>
            <p:cNvPr id="73" name="TextBox 72">
              <a:extLst>
                <a:ext uri="{FF2B5EF4-FFF2-40B4-BE49-F238E27FC236}">
                  <a16:creationId xmlns:a16="http://schemas.microsoft.com/office/drawing/2014/main" id="{129C91AC-C0E4-174A-B51C-E6F004EA3948}"/>
                </a:ext>
              </a:extLst>
            </p:cNvPr>
            <p:cNvSpPr txBox="1"/>
            <p:nvPr/>
          </p:nvSpPr>
          <p:spPr>
            <a:xfrm>
              <a:off x="1981422" y="3179920"/>
              <a:ext cx="74571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a:solidFill>
                    <a:srgbClr val="0070C0"/>
                  </a:solidFill>
                  <a:latin typeface="Consolas" panose="020B0609020204030204" pitchFamily="49" charset="0"/>
                  <a:cs typeface="Consolas" panose="020B0609020204030204" pitchFamily="49" charset="0"/>
                </a:rPr>
                <a:t>x</a:t>
              </a:r>
              <a:r>
                <a:rPr lang="en-US" sz="1600" b="1" dirty="0">
                  <a:latin typeface="Consolas" panose="020B0609020204030204" pitchFamily="49" charset="0"/>
                  <a:cs typeface="Consolas" panose="020B0609020204030204" pitchFamily="49" charset="0"/>
                </a:rPr>
                <a:t>)</a:t>
              </a:r>
            </a:p>
          </p:txBody>
        </p:sp>
        <p:sp>
          <p:nvSpPr>
            <p:cNvPr id="74" name="TextBox 73">
              <a:extLst>
                <a:ext uri="{FF2B5EF4-FFF2-40B4-BE49-F238E27FC236}">
                  <a16:creationId xmlns:a16="http://schemas.microsoft.com/office/drawing/2014/main" id="{77965B97-47EF-2248-948D-46001C98C766}"/>
                </a:ext>
              </a:extLst>
            </p:cNvPr>
            <p:cNvSpPr txBox="1"/>
            <p:nvPr/>
          </p:nvSpPr>
          <p:spPr>
            <a:xfrm>
              <a:off x="1981422" y="3478768"/>
              <a:ext cx="1306768" cy="338554"/>
            </a:xfrm>
            <a:prstGeom prst="rect">
              <a:avLst/>
            </a:prstGeom>
            <a:noFill/>
          </p:spPr>
          <p:txBody>
            <a:bodyPr wrap="none" rtlCol="0">
              <a:spAutoFit/>
            </a:bodyPr>
            <a:lstStyle/>
            <a:p>
              <a:r>
                <a:rPr lang="en-US" sz="1600" b="1" dirty="0" err="1">
                  <a:latin typeface="Consolas" panose="020B0609020204030204" pitchFamily="49" charset="0"/>
                  <a:cs typeface="Consolas" panose="020B0609020204030204" pitchFamily="49" charset="0"/>
                </a:rPr>
                <a:t>IntLit</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p>
          </p:txBody>
        </p:sp>
        <p:sp>
          <p:nvSpPr>
            <p:cNvPr id="75" name="TextBox 74">
              <a:extLst>
                <a:ext uri="{FF2B5EF4-FFF2-40B4-BE49-F238E27FC236}">
                  <a16:creationId xmlns:a16="http://schemas.microsoft.com/office/drawing/2014/main" id="{513338FA-7446-0F4D-8CAB-385C10E0ED45}"/>
                </a:ext>
              </a:extLst>
            </p:cNvPr>
            <p:cNvSpPr txBox="1"/>
            <p:nvPr/>
          </p:nvSpPr>
          <p:spPr>
            <a:xfrm>
              <a:off x="1406992" y="3935968"/>
              <a:ext cx="63350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Call</a:t>
              </a:r>
            </a:p>
          </p:txBody>
        </p:sp>
        <p:sp>
          <p:nvSpPr>
            <p:cNvPr id="76" name="TextBox 75">
              <a:extLst>
                <a:ext uri="{FF2B5EF4-FFF2-40B4-BE49-F238E27FC236}">
                  <a16:creationId xmlns:a16="http://schemas.microsoft.com/office/drawing/2014/main" id="{430E2774-31B6-274B-BCA1-917D30A604D3}"/>
                </a:ext>
              </a:extLst>
            </p:cNvPr>
            <p:cNvSpPr txBox="1"/>
            <p:nvPr/>
          </p:nvSpPr>
          <p:spPr>
            <a:xfrm>
              <a:off x="2283850" y="3816669"/>
              <a:ext cx="164339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err="1">
                  <a:solidFill>
                    <a:srgbClr val="0070C0"/>
                  </a:solidFill>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p>
          </p:txBody>
        </p:sp>
        <p:sp>
          <p:nvSpPr>
            <p:cNvPr id="77" name="TextBox 76">
              <a:extLst>
                <a:ext uri="{FF2B5EF4-FFF2-40B4-BE49-F238E27FC236}">
                  <a16:creationId xmlns:a16="http://schemas.microsoft.com/office/drawing/2014/main" id="{0176F6C7-56A0-754B-900D-0C3B6EA038B0}"/>
                </a:ext>
              </a:extLst>
            </p:cNvPr>
            <p:cNvSpPr txBox="1"/>
            <p:nvPr/>
          </p:nvSpPr>
          <p:spPr>
            <a:xfrm>
              <a:off x="2249546" y="4088368"/>
              <a:ext cx="175560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StrLit</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"hi"</a:t>
              </a:r>
              <a:r>
                <a:rPr lang="en-US" sz="1600" b="1" dirty="0">
                  <a:latin typeface="Consolas" panose="020B0609020204030204" pitchFamily="49" charset="0"/>
                  <a:cs typeface="Consolas" panose="020B0609020204030204" pitchFamily="49" charset="0"/>
                </a:rPr>
                <a:t>)]</a:t>
              </a:r>
            </a:p>
          </p:txBody>
        </p:sp>
        <p:sp>
          <p:nvSpPr>
            <p:cNvPr id="78" name="TextBox 77">
              <a:extLst>
                <a:ext uri="{FF2B5EF4-FFF2-40B4-BE49-F238E27FC236}">
                  <a16:creationId xmlns:a16="http://schemas.microsoft.com/office/drawing/2014/main" id="{65DA6BD5-CA80-4648-8A95-8051A0F7CF3E}"/>
                </a:ext>
              </a:extLst>
            </p:cNvPr>
            <p:cNvSpPr txBox="1"/>
            <p:nvPr/>
          </p:nvSpPr>
          <p:spPr>
            <a:xfrm>
              <a:off x="683676" y="4636177"/>
              <a:ext cx="633507"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Call</a:t>
              </a:r>
            </a:p>
          </p:txBody>
        </p:sp>
        <p:sp>
          <p:nvSpPr>
            <p:cNvPr id="79" name="TextBox 78">
              <a:extLst>
                <a:ext uri="{FF2B5EF4-FFF2-40B4-BE49-F238E27FC236}">
                  <a16:creationId xmlns:a16="http://schemas.microsoft.com/office/drawing/2014/main" id="{A2A58F57-7C5A-5E47-9771-A7509AB2789B}"/>
                </a:ext>
              </a:extLst>
            </p:cNvPr>
            <p:cNvSpPr txBox="1"/>
            <p:nvPr/>
          </p:nvSpPr>
          <p:spPr>
            <a:xfrm>
              <a:off x="1521850" y="4461036"/>
              <a:ext cx="164339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Id(</a:t>
              </a:r>
              <a:r>
                <a:rPr lang="en-US" sz="1600" b="1" dirty="0" err="1">
                  <a:solidFill>
                    <a:srgbClr val="0070C0"/>
                  </a:solidFill>
                  <a:latin typeface="Consolas" panose="020B0609020204030204" pitchFamily="49" charset="0"/>
                  <a:cs typeface="Consolas" panose="020B0609020204030204" pitchFamily="49" charset="0"/>
                </a:rPr>
                <a:t>println_s</a:t>
              </a:r>
              <a:r>
                <a:rPr lang="en-US" sz="1600" b="1" dirty="0">
                  <a:latin typeface="Consolas" panose="020B0609020204030204" pitchFamily="49" charset="0"/>
                  <a:cs typeface="Consolas" panose="020B0609020204030204" pitchFamily="49" charset="0"/>
                </a:rPr>
                <a:t>)</a:t>
              </a:r>
            </a:p>
          </p:txBody>
        </p:sp>
        <p:sp>
          <p:nvSpPr>
            <p:cNvPr id="80" name="TextBox 79">
              <a:extLst>
                <a:ext uri="{FF2B5EF4-FFF2-40B4-BE49-F238E27FC236}">
                  <a16:creationId xmlns:a16="http://schemas.microsoft.com/office/drawing/2014/main" id="{B99B46EE-FE26-D848-BB2B-7DEAF1F2985A}"/>
                </a:ext>
              </a:extLst>
            </p:cNvPr>
            <p:cNvSpPr txBox="1"/>
            <p:nvPr/>
          </p:nvSpPr>
          <p:spPr>
            <a:xfrm>
              <a:off x="1487546" y="4774168"/>
              <a:ext cx="2092239"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StrLit</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"done."</a:t>
              </a:r>
              <a:r>
                <a:rPr lang="en-US" sz="1600" b="1" dirty="0">
                  <a:latin typeface="Consolas" panose="020B0609020204030204" pitchFamily="49" charset="0"/>
                  <a:cs typeface="Consolas" panose="020B0609020204030204" pitchFamily="49" charset="0"/>
                </a:rPr>
                <a:t>)]</a:t>
              </a:r>
            </a:p>
          </p:txBody>
        </p:sp>
        <p:sp>
          <p:nvSpPr>
            <p:cNvPr id="81" name="TextBox 80">
              <a:extLst>
                <a:ext uri="{FF2B5EF4-FFF2-40B4-BE49-F238E27FC236}">
                  <a16:creationId xmlns:a16="http://schemas.microsoft.com/office/drawing/2014/main" id="{893BB002-28C6-B847-8BCF-133888F412B6}"/>
                </a:ext>
              </a:extLst>
            </p:cNvPr>
            <p:cNvSpPr txBox="1"/>
            <p:nvPr/>
          </p:nvSpPr>
          <p:spPr>
            <a:xfrm>
              <a:off x="35505" y="3621406"/>
              <a:ext cx="409086" cy="338554"/>
            </a:xfrm>
            <a:prstGeom prst="rect">
              <a:avLst/>
            </a:prstGeom>
            <a:noFill/>
          </p:spPr>
          <p:txBody>
            <a:bodyPr wrap="none" rtlCol="0">
              <a:spAutoFit/>
            </a:bodyPr>
            <a:lstStyle/>
            <a:p>
              <a:r>
                <a:rPr lang="en-US" sz="1600" b="1" dirty="0">
                  <a:latin typeface="Consolas" panose="020B0609020204030204" pitchFamily="49" charset="0"/>
                  <a:cs typeface="Consolas" panose="020B0609020204030204" pitchFamily="49" charset="0"/>
                </a:rPr>
                <a:t>{}</a:t>
              </a:r>
            </a:p>
          </p:txBody>
        </p:sp>
        <p:cxnSp>
          <p:nvCxnSpPr>
            <p:cNvPr id="82" name="Straight Connector 81">
              <a:extLst>
                <a:ext uri="{FF2B5EF4-FFF2-40B4-BE49-F238E27FC236}">
                  <a16:creationId xmlns:a16="http://schemas.microsoft.com/office/drawing/2014/main" id="{89A1CA58-BB2D-D44F-92FF-7B63C98A7A9B}"/>
                </a:ext>
              </a:extLst>
            </p:cNvPr>
            <p:cNvCxnSpPr>
              <a:cxnSpLocks/>
            </p:cNvCxnSpPr>
            <p:nvPr/>
          </p:nvCxnSpPr>
          <p:spPr>
            <a:xfrm flipV="1">
              <a:off x="381000" y="2895600"/>
              <a:ext cx="323850" cy="725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2392618-3842-2143-BBBB-8FCE584D53AC}"/>
                </a:ext>
              </a:extLst>
            </p:cNvPr>
            <p:cNvCxnSpPr>
              <a:cxnSpLocks/>
              <a:stCxn id="81" idx="3"/>
              <a:endCxn id="71" idx="1"/>
            </p:cNvCxnSpPr>
            <p:nvPr/>
          </p:nvCxnSpPr>
          <p:spPr>
            <a:xfrm>
              <a:off x="444591" y="3790683"/>
              <a:ext cx="2390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7BF9621-23B0-8144-A273-C5E6BCF24F0A}"/>
                </a:ext>
              </a:extLst>
            </p:cNvPr>
            <p:cNvCxnSpPr>
              <a:cxnSpLocks/>
            </p:cNvCxnSpPr>
            <p:nvPr/>
          </p:nvCxnSpPr>
          <p:spPr>
            <a:xfrm>
              <a:off x="381000" y="3943350"/>
              <a:ext cx="361950" cy="771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E26B02C-E9DE-9C4F-BFBB-8646AD7608F6}"/>
                </a:ext>
              </a:extLst>
            </p:cNvPr>
            <p:cNvCxnSpPr>
              <a:cxnSpLocks/>
              <a:endCxn id="69" idx="1"/>
            </p:cNvCxnSpPr>
            <p:nvPr/>
          </p:nvCxnSpPr>
          <p:spPr>
            <a:xfrm flipV="1">
              <a:off x="1162050" y="2645777"/>
              <a:ext cx="283626" cy="106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D45A461-E996-804D-96A6-0E1B09856CC2}"/>
                </a:ext>
              </a:extLst>
            </p:cNvPr>
            <p:cNvCxnSpPr>
              <a:cxnSpLocks/>
              <a:endCxn id="70" idx="1"/>
            </p:cNvCxnSpPr>
            <p:nvPr/>
          </p:nvCxnSpPr>
          <p:spPr>
            <a:xfrm>
              <a:off x="1181100" y="2916081"/>
              <a:ext cx="264576" cy="433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EE576F7-91CE-874A-92C0-5DDC15BCE34F}"/>
                </a:ext>
              </a:extLst>
            </p:cNvPr>
            <p:cNvCxnSpPr>
              <a:cxnSpLocks/>
            </p:cNvCxnSpPr>
            <p:nvPr/>
          </p:nvCxnSpPr>
          <p:spPr>
            <a:xfrm flipV="1">
              <a:off x="1752600" y="3331488"/>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185E81F-226E-0949-ABB5-105427AD03D7}"/>
                </a:ext>
              </a:extLst>
            </p:cNvPr>
            <p:cNvCxnSpPr>
              <a:cxnSpLocks/>
            </p:cNvCxnSpPr>
            <p:nvPr/>
          </p:nvCxnSpPr>
          <p:spPr>
            <a:xfrm>
              <a:off x="1762125" y="3603901"/>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49F2EE9-4574-5541-859A-B2F6175D110D}"/>
                </a:ext>
              </a:extLst>
            </p:cNvPr>
            <p:cNvCxnSpPr>
              <a:cxnSpLocks/>
            </p:cNvCxnSpPr>
            <p:nvPr/>
          </p:nvCxnSpPr>
          <p:spPr>
            <a:xfrm flipV="1">
              <a:off x="2054396" y="3964189"/>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B2A8E78-57B1-C04B-8C44-E1E93B7EB576}"/>
                </a:ext>
              </a:extLst>
            </p:cNvPr>
            <p:cNvCxnSpPr>
              <a:cxnSpLocks/>
            </p:cNvCxnSpPr>
            <p:nvPr/>
          </p:nvCxnSpPr>
          <p:spPr>
            <a:xfrm>
              <a:off x="2063921" y="4236602"/>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AF80AE4-9F61-1A4F-91F3-C6ED097F2AA2}"/>
                </a:ext>
              </a:extLst>
            </p:cNvPr>
            <p:cNvCxnSpPr>
              <a:cxnSpLocks/>
            </p:cNvCxnSpPr>
            <p:nvPr/>
          </p:nvCxnSpPr>
          <p:spPr>
            <a:xfrm flipV="1">
              <a:off x="1294305" y="4631833"/>
              <a:ext cx="272973" cy="139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7D111FB-9359-FC4F-94B4-D96D5A6A3379}"/>
                </a:ext>
              </a:extLst>
            </p:cNvPr>
            <p:cNvCxnSpPr>
              <a:cxnSpLocks/>
            </p:cNvCxnSpPr>
            <p:nvPr/>
          </p:nvCxnSpPr>
          <p:spPr>
            <a:xfrm>
              <a:off x="1303830" y="4904246"/>
              <a:ext cx="263448" cy="96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26D20B8-DBAE-6B45-ADCE-619207EA5DCA}"/>
                </a:ext>
              </a:extLst>
            </p:cNvPr>
            <p:cNvCxnSpPr>
              <a:cxnSpLocks/>
            </p:cNvCxnSpPr>
            <p:nvPr/>
          </p:nvCxnSpPr>
          <p:spPr>
            <a:xfrm flipV="1">
              <a:off x="1317144" y="3523295"/>
              <a:ext cx="190500" cy="161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EC59D4C-28F6-764F-95BA-724DF86D6C16}"/>
                </a:ext>
              </a:extLst>
            </p:cNvPr>
            <p:cNvCxnSpPr>
              <a:cxnSpLocks/>
            </p:cNvCxnSpPr>
            <p:nvPr/>
          </p:nvCxnSpPr>
          <p:spPr>
            <a:xfrm>
              <a:off x="1288569" y="3970970"/>
              <a:ext cx="111606" cy="1343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TextBox 99">
            <a:extLst>
              <a:ext uri="{FF2B5EF4-FFF2-40B4-BE49-F238E27FC236}">
                <a16:creationId xmlns:a16="http://schemas.microsoft.com/office/drawing/2014/main" id="{33DD1A9A-B9F4-594F-9A4C-8B751183E76E}"/>
              </a:ext>
            </a:extLst>
          </p:cNvPr>
          <p:cNvSpPr txBox="1"/>
          <p:nvPr/>
        </p:nvSpPr>
        <p:spPr>
          <a:xfrm>
            <a:off x="3307937" y="952500"/>
            <a:ext cx="2271820" cy="1107996"/>
          </a:xfrm>
          <a:prstGeom prst="rect">
            <a:avLst/>
          </a:prstGeom>
          <a:noFill/>
        </p:spPr>
        <p:txBody>
          <a:bodyPr wrap="square" rtlCol="0">
            <a:spAutoFit/>
          </a:bodyPr>
          <a:lstStyle/>
          <a:p>
            <a:pPr algn="ctr"/>
            <a:r>
              <a:rPr lang="en-US" sz="2200" dirty="0"/>
              <a:t>do these two pieces of code  </a:t>
            </a:r>
            <a:r>
              <a:rPr lang="en-US" sz="2200" i="1" dirty="0"/>
              <a:t>behave</a:t>
            </a:r>
            <a:r>
              <a:rPr lang="en-US" sz="2200" b="1" i="1" dirty="0"/>
              <a:t> </a:t>
            </a:r>
            <a:r>
              <a:rPr lang="en-US" sz="2200" dirty="0"/>
              <a:t>similarly?</a:t>
            </a:r>
          </a:p>
        </p:txBody>
      </p:sp>
      <p:sp>
        <p:nvSpPr>
          <p:cNvPr id="101" name="TextBox 100">
            <a:extLst>
              <a:ext uri="{FF2B5EF4-FFF2-40B4-BE49-F238E27FC236}">
                <a16:creationId xmlns:a16="http://schemas.microsoft.com/office/drawing/2014/main" id="{8E629270-101B-EC44-8322-866AAA60AF91}"/>
              </a:ext>
            </a:extLst>
          </p:cNvPr>
          <p:cNvSpPr txBox="1"/>
          <p:nvPr/>
        </p:nvSpPr>
        <p:spPr>
          <a:xfrm>
            <a:off x="3182564" y="2223521"/>
            <a:ext cx="2540356" cy="1107996"/>
          </a:xfrm>
          <a:prstGeom prst="rect">
            <a:avLst/>
          </a:prstGeom>
          <a:noFill/>
        </p:spPr>
        <p:txBody>
          <a:bodyPr wrap="square" rtlCol="0">
            <a:spAutoFit/>
          </a:bodyPr>
          <a:lstStyle/>
          <a:p>
            <a:pPr algn="ctr"/>
            <a:r>
              <a:rPr lang="en-US" sz="2200" b="1" dirty="0">
                <a:solidFill>
                  <a:srgbClr val="FF0000"/>
                </a:solidFill>
              </a:rPr>
              <a:t>not at all.</a:t>
            </a:r>
            <a:r>
              <a:rPr lang="en-US" sz="2200" dirty="0"/>
              <a:t> is it easy to tell that by </a:t>
            </a:r>
            <a:r>
              <a:rPr lang="en-US" sz="2200" i="1" dirty="0"/>
              <a:t>looking at the AST?</a:t>
            </a:r>
          </a:p>
        </p:txBody>
      </p:sp>
      <p:sp>
        <p:nvSpPr>
          <p:cNvPr id="103" name="TextBox 102">
            <a:extLst>
              <a:ext uri="{FF2B5EF4-FFF2-40B4-BE49-F238E27FC236}">
                <a16:creationId xmlns:a16="http://schemas.microsoft.com/office/drawing/2014/main" id="{2E704A7F-2B21-1A49-85DE-E3CF17DD8A5A}"/>
              </a:ext>
            </a:extLst>
          </p:cNvPr>
          <p:cNvSpPr txBox="1"/>
          <p:nvPr/>
        </p:nvSpPr>
        <p:spPr>
          <a:xfrm>
            <a:off x="3675665" y="3353377"/>
            <a:ext cx="1912995" cy="430887"/>
          </a:xfrm>
          <a:prstGeom prst="rect">
            <a:avLst/>
          </a:prstGeom>
          <a:noFill/>
        </p:spPr>
        <p:txBody>
          <a:bodyPr wrap="square" rtlCol="0">
            <a:spAutoFit/>
          </a:bodyPr>
          <a:lstStyle/>
          <a:p>
            <a:pPr algn="ctr"/>
            <a:r>
              <a:rPr lang="en-US" sz="2200" b="1" dirty="0">
                <a:solidFill>
                  <a:srgbClr val="FF0000"/>
                </a:solidFill>
              </a:rPr>
              <a:t>not really…</a:t>
            </a:r>
            <a:endParaRPr lang="en-US" sz="2200" dirty="0"/>
          </a:p>
        </p:txBody>
      </p:sp>
    </p:spTree>
    <p:extLst>
      <p:ext uri="{BB962C8B-B14F-4D97-AF65-F5344CB8AC3E}">
        <p14:creationId xmlns:p14="http://schemas.microsoft.com/office/powerpoint/2010/main" val="25393466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0" grpId="0"/>
      <p:bldP spid="101"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B8D3D-84C5-0744-92F6-141CD9AA80A2}"/>
              </a:ext>
            </a:extLst>
          </p:cNvPr>
          <p:cNvSpPr>
            <a:spLocks noGrp="1"/>
          </p:cNvSpPr>
          <p:nvPr>
            <p:ph type="title"/>
          </p:nvPr>
        </p:nvSpPr>
        <p:spPr/>
        <p:txBody>
          <a:bodyPr/>
          <a:lstStyle/>
          <a:p>
            <a:r>
              <a:rPr lang="en-US" dirty="0"/>
              <a:t>Sufficiently Smart Compilers</a:t>
            </a:r>
          </a:p>
        </p:txBody>
      </p:sp>
      <p:sp>
        <p:nvSpPr>
          <p:cNvPr id="3" name="Content Placeholder 2">
            <a:extLst>
              <a:ext uri="{FF2B5EF4-FFF2-40B4-BE49-F238E27FC236}">
                <a16:creationId xmlns:a16="http://schemas.microsoft.com/office/drawing/2014/main" id="{183CBED3-2CCB-6B4E-895C-B7186B18BD7F}"/>
              </a:ext>
            </a:extLst>
          </p:cNvPr>
          <p:cNvSpPr>
            <a:spLocks noGrp="1"/>
          </p:cNvSpPr>
          <p:nvPr>
            <p:ph idx="1"/>
          </p:nvPr>
        </p:nvSpPr>
        <p:spPr>
          <a:xfrm>
            <a:off x="152400" y="495302"/>
            <a:ext cx="8991600" cy="495300"/>
          </a:xfrm>
        </p:spPr>
        <p:txBody>
          <a:bodyPr>
            <a:normAutofit/>
          </a:bodyPr>
          <a:lstStyle/>
          <a:p>
            <a:r>
              <a:rPr lang="en-US" dirty="0"/>
              <a:t>there's a </a:t>
            </a:r>
            <a:r>
              <a:rPr lang="en-US" sz="1400" dirty="0"/>
              <a:t>(possible) </a:t>
            </a:r>
            <a:r>
              <a:rPr lang="en-US" dirty="0"/>
              <a:t>mistake in this code that we humans can see easily.</a:t>
            </a:r>
          </a:p>
        </p:txBody>
      </p:sp>
      <p:sp>
        <p:nvSpPr>
          <p:cNvPr id="4" name="Slide Number Placeholder 3">
            <a:extLst>
              <a:ext uri="{FF2B5EF4-FFF2-40B4-BE49-F238E27FC236}">
                <a16:creationId xmlns:a16="http://schemas.microsoft.com/office/drawing/2014/main" id="{8F151BFF-90A4-A748-B01D-FCD82E69E6C0}"/>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2B1D915A-8D10-1142-B65E-338C66A1E62F}"/>
              </a:ext>
            </a:extLst>
          </p:cNvPr>
          <p:cNvSpPr txBox="1"/>
          <p:nvPr/>
        </p:nvSpPr>
        <p:spPr>
          <a:xfrm>
            <a:off x="457200" y="1017263"/>
            <a:ext cx="2864887" cy="163121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 </a:t>
            </a:r>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while</a:t>
            </a:r>
            <a:r>
              <a:rPr lang="en-US" sz="2000" b="1" dirty="0">
                <a:latin typeface="Consolas" panose="020B0609020204030204" pitchFamily="49" charset="0"/>
                <a:cs typeface="Consolas" panose="020B0609020204030204" pitchFamily="49" charset="0"/>
              </a:rPr>
              <a:t> x &lt;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"hi!"</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"done."</a:t>
            </a:r>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0FEE7268-ABB0-EC49-889C-C066CBDA7E5C}"/>
              </a:ext>
            </a:extLst>
          </p:cNvPr>
          <p:cNvSpPr txBox="1"/>
          <p:nvPr/>
        </p:nvSpPr>
        <p:spPr>
          <a:xfrm>
            <a:off x="3200400" y="1257113"/>
            <a:ext cx="5074064" cy="430887"/>
          </a:xfrm>
          <a:prstGeom prst="rect">
            <a:avLst/>
          </a:prstGeom>
          <a:noFill/>
        </p:spPr>
        <p:txBody>
          <a:bodyPr wrap="square" rtlCol="0">
            <a:spAutoFit/>
          </a:bodyPr>
          <a:lstStyle/>
          <a:p>
            <a:pPr algn="ctr"/>
            <a:r>
              <a:rPr lang="en-US" sz="2200" dirty="0"/>
              <a:t>this loop </a:t>
            </a:r>
            <a:r>
              <a:rPr lang="en-US" sz="2200" b="1" dirty="0"/>
              <a:t>never terminates, </a:t>
            </a:r>
            <a:r>
              <a:rPr lang="en-US" sz="2200" dirty="0"/>
              <a:t>does it?</a:t>
            </a:r>
          </a:p>
        </p:txBody>
      </p:sp>
      <p:sp>
        <p:nvSpPr>
          <p:cNvPr id="7" name="TextBox 6">
            <a:extLst>
              <a:ext uri="{FF2B5EF4-FFF2-40B4-BE49-F238E27FC236}">
                <a16:creationId xmlns:a16="http://schemas.microsoft.com/office/drawing/2014/main" id="{26F96F33-BB37-8B41-A044-73B204B3F669}"/>
              </a:ext>
            </a:extLst>
          </p:cNvPr>
          <p:cNvSpPr txBox="1"/>
          <p:nvPr/>
        </p:nvSpPr>
        <p:spPr>
          <a:xfrm>
            <a:off x="3612736" y="1983099"/>
            <a:ext cx="5074064" cy="430887"/>
          </a:xfrm>
          <a:prstGeom prst="rect">
            <a:avLst/>
          </a:prstGeom>
          <a:noFill/>
        </p:spPr>
        <p:txBody>
          <a:bodyPr wrap="square" rtlCol="0">
            <a:spAutoFit/>
          </a:bodyPr>
          <a:lstStyle/>
          <a:p>
            <a:pPr algn="ctr"/>
            <a:r>
              <a:rPr lang="en-US" sz="2200" dirty="0"/>
              <a:t>think about </a:t>
            </a:r>
            <a:r>
              <a:rPr lang="en-US" sz="2200" i="1" dirty="0"/>
              <a:t>how</a:t>
            </a:r>
            <a:r>
              <a:rPr lang="en-US" sz="2200" dirty="0"/>
              <a:t> you determined that.</a:t>
            </a:r>
          </a:p>
        </p:txBody>
      </p:sp>
      <p:cxnSp>
        <p:nvCxnSpPr>
          <p:cNvPr id="9" name="Straight Arrow Connector 8">
            <a:extLst>
              <a:ext uri="{FF2B5EF4-FFF2-40B4-BE49-F238E27FC236}">
                <a16:creationId xmlns:a16="http://schemas.microsoft.com/office/drawing/2014/main" id="{BE555A09-A06A-B144-BF1C-D463B4A89216}"/>
              </a:ext>
            </a:extLst>
          </p:cNvPr>
          <p:cNvCxnSpPr>
            <a:cxnSpLocks/>
          </p:cNvCxnSpPr>
          <p:nvPr/>
        </p:nvCxnSpPr>
        <p:spPr>
          <a:xfrm flipH="1" flipV="1">
            <a:off x="2697713" y="1470562"/>
            <a:ext cx="640718"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392E4B7-0963-934A-84DF-CF3788A3C0B6}"/>
              </a:ext>
            </a:extLst>
          </p:cNvPr>
          <p:cNvSpPr txBox="1"/>
          <p:nvPr/>
        </p:nvSpPr>
        <p:spPr>
          <a:xfrm>
            <a:off x="723900" y="2842536"/>
            <a:ext cx="7848600" cy="1446550"/>
          </a:xfrm>
          <a:prstGeom prst="rect">
            <a:avLst/>
          </a:prstGeom>
          <a:noFill/>
        </p:spPr>
        <p:txBody>
          <a:bodyPr wrap="square" rtlCol="0">
            <a:spAutoFit/>
          </a:bodyPr>
          <a:lstStyle/>
          <a:p>
            <a:r>
              <a:rPr lang="en-US" sz="2200" dirty="0"/>
              <a:t>1. </a:t>
            </a:r>
            <a:r>
              <a:rPr lang="en-US" sz="2200" b="1" dirty="0">
                <a:latin typeface="Consolas" panose="020B0609020204030204" pitchFamily="49" charset="0"/>
                <a:cs typeface="Consolas" panose="020B0609020204030204" pitchFamily="49" charset="0"/>
              </a:rPr>
              <a:t>x</a:t>
            </a:r>
            <a:r>
              <a:rPr lang="en-US" sz="2200" dirty="0"/>
              <a:t> is assigned a </a:t>
            </a:r>
            <a:r>
              <a:rPr lang="en-US" sz="2200" b="1" dirty="0"/>
              <a:t>constant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t>. </a:t>
            </a:r>
          </a:p>
          <a:p>
            <a:r>
              <a:rPr lang="en-US" sz="2200" dirty="0"/>
              <a:t>2. </a:t>
            </a:r>
            <a:r>
              <a:rPr lang="en-US" sz="2200" b="1" dirty="0">
                <a:latin typeface="Consolas" panose="020B0609020204030204" pitchFamily="49" charset="0"/>
                <a:cs typeface="Consolas" panose="020B0609020204030204" pitchFamily="49" charset="0"/>
              </a:rPr>
              <a:t>x</a:t>
            </a:r>
            <a:r>
              <a:rPr lang="en-US" sz="2200" dirty="0"/>
              <a:t> is </a:t>
            </a:r>
            <a:r>
              <a:rPr lang="en-US" sz="2200" i="1" dirty="0"/>
              <a:t>never assigned anywhere else, </a:t>
            </a:r>
            <a:r>
              <a:rPr lang="en-US" sz="2200" dirty="0"/>
              <a:t>not even in the loop.</a:t>
            </a:r>
          </a:p>
          <a:p>
            <a:r>
              <a:rPr lang="en-US" sz="2200" dirty="0"/>
              <a:t>3. so, </a:t>
            </a:r>
            <a:r>
              <a:rPr lang="en-US" sz="2200" b="1" dirty="0">
                <a:latin typeface="Consolas" panose="020B0609020204030204" pitchFamily="49" charset="0"/>
                <a:cs typeface="Consolas" panose="020B0609020204030204" pitchFamily="49" charset="0"/>
              </a:rPr>
              <a:t>x</a:t>
            </a:r>
            <a:r>
              <a:rPr lang="en-US" sz="2200" dirty="0"/>
              <a:t> can </a:t>
            </a:r>
            <a:r>
              <a:rPr lang="en-US" sz="2200" i="1" dirty="0"/>
              <a:t>only </a:t>
            </a:r>
            <a:r>
              <a:rPr lang="en-US" sz="2200" dirty="0"/>
              <a:t>be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dirty="0"/>
              <a:t> in the loop condition…</a:t>
            </a:r>
          </a:p>
          <a:p>
            <a:r>
              <a:rPr lang="en-US" sz="2200" dirty="0"/>
              <a:t>4. and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&lt;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dirty="0"/>
              <a:t>, meaning the condition is </a:t>
            </a:r>
            <a:r>
              <a:rPr lang="en-US" sz="2200" b="1" dirty="0"/>
              <a:t>tautologically true.</a:t>
            </a:r>
            <a:endParaRPr lang="en-US" sz="2200" dirty="0"/>
          </a:p>
        </p:txBody>
      </p:sp>
      <p:sp>
        <p:nvSpPr>
          <p:cNvPr id="15" name="TextBox 14">
            <a:extLst>
              <a:ext uri="{FF2B5EF4-FFF2-40B4-BE49-F238E27FC236}">
                <a16:creationId xmlns:a16="http://schemas.microsoft.com/office/drawing/2014/main" id="{F41479B0-D5CF-F64C-932E-3845E9A1B532}"/>
              </a:ext>
            </a:extLst>
          </p:cNvPr>
          <p:cNvSpPr txBox="1"/>
          <p:nvPr/>
        </p:nvSpPr>
        <p:spPr>
          <a:xfrm>
            <a:off x="685800" y="4373203"/>
            <a:ext cx="7772400" cy="430887"/>
          </a:xfrm>
          <a:prstGeom prst="rect">
            <a:avLst/>
          </a:prstGeom>
          <a:noFill/>
        </p:spPr>
        <p:txBody>
          <a:bodyPr wrap="square" rtlCol="0">
            <a:spAutoFit/>
          </a:bodyPr>
          <a:lstStyle/>
          <a:p>
            <a:pPr algn="ctr"/>
            <a:r>
              <a:rPr lang="en-US" sz="2200" i="1" dirty="0"/>
              <a:t>just</a:t>
            </a:r>
            <a:r>
              <a:rPr lang="en-US" sz="2200" dirty="0"/>
              <a:t> looking at the AST, how would you prove these things?</a:t>
            </a:r>
            <a:endParaRPr lang="en-US" sz="2200" i="1" dirty="0"/>
          </a:p>
        </p:txBody>
      </p:sp>
      <p:sp>
        <p:nvSpPr>
          <p:cNvPr id="16" name="TextBox 15">
            <a:extLst>
              <a:ext uri="{FF2B5EF4-FFF2-40B4-BE49-F238E27FC236}">
                <a16:creationId xmlns:a16="http://schemas.microsoft.com/office/drawing/2014/main" id="{3DA99992-9989-3C4D-9BDC-E71AB90C9050}"/>
              </a:ext>
            </a:extLst>
          </p:cNvPr>
          <p:cNvSpPr txBox="1"/>
          <p:nvPr/>
        </p:nvSpPr>
        <p:spPr>
          <a:xfrm>
            <a:off x="685800" y="4844682"/>
            <a:ext cx="7772400" cy="430887"/>
          </a:xfrm>
          <a:prstGeom prst="rect">
            <a:avLst/>
          </a:prstGeom>
          <a:noFill/>
        </p:spPr>
        <p:txBody>
          <a:bodyPr wrap="square" rtlCol="0">
            <a:spAutoFit/>
          </a:bodyPr>
          <a:lstStyle/>
          <a:p>
            <a:pPr algn="ctr"/>
            <a:r>
              <a:rPr lang="en-US" sz="2200" dirty="0"/>
              <a:t>what if the control flow were a lot more complex?</a:t>
            </a:r>
          </a:p>
        </p:txBody>
      </p:sp>
    </p:spTree>
    <p:extLst>
      <p:ext uri="{BB962C8B-B14F-4D97-AF65-F5344CB8AC3E}">
        <p14:creationId xmlns:p14="http://schemas.microsoft.com/office/powerpoint/2010/main" val="27986245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2" grpId="0" build="p" bldLvl="5"/>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BB43-7845-9D42-9F2A-7A02230160A8}"/>
              </a:ext>
            </a:extLst>
          </p:cNvPr>
          <p:cNvSpPr>
            <a:spLocks noGrp="1"/>
          </p:cNvSpPr>
          <p:nvPr>
            <p:ph type="title"/>
          </p:nvPr>
        </p:nvSpPr>
        <p:spPr/>
        <p:txBody>
          <a:bodyPr/>
          <a:lstStyle/>
          <a:p>
            <a:r>
              <a:rPr lang="en-US" dirty="0"/>
              <a:t>Program </a:t>
            </a:r>
            <a:r>
              <a:rPr lang="en-US" i="1" dirty="0"/>
              <a:t>execution</a:t>
            </a:r>
            <a:r>
              <a:rPr lang="en-US" dirty="0"/>
              <a:t> is not a tree.</a:t>
            </a:r>
          </a:p>
        </p:txBody>
      </p:sp>
      <p:sp>
        <p:nvSpPr>
          <p:cNvPr id="3" name="Content Placeholder 2">
            <a:extLst>
              <a:ext uri="{FF2B5EF4-FFF2-40B4-BE49-F238E27FC236}">
                <a16:creationId xmlns:a16="http://schemas.microsoft.com/office/drawing/2014/main" id="{410D18A0-481A-194C-AA2C-7DB4A3695D7C}"/>
              </a:ext>
            </a:extLst>
          </p:cNvPr>
          <p:cNvSpPr>
            <a:spLocks noGrp="1"/>
          </p:cNvSpPr>
          <p:nvPr>
            <p:ph idx="1"/>
          </p:nvPr>
        </p:nvSpPr>
        <p:spPr>
          <a:xfrm>
            <a:off x="152400" y="495301"/>
            <a:ext cx="8991600" cy="838199"/>
          </a:xfrm>
        </p:spPr>
        <p:txBody>
          <a:bodyPr>
            <a:normAutofit/>
          </a:bodyPr>
          <a:lstStyle/>
          <a:p>
            <a:r>
              <a:rPr lang="en-US" dirty="0"/>
              <a:t>the AST models </a:t>
            </a:r>
            <a:r>
              <a:rPr lang="en-US" b="1" i="1" dirty="0"/>
              <a:t>what the programmer typed.</a:t>
            </a:r>
            <a:r>
              <a:rPr lang="en-US" b="1" dirty="0"/>
              <a:t> </a:t>
            </a:r>
            <a:r>
              <a:rPr lang="en-US" dirty="0"/>
              <a:t>there's another way of representing programs that models </a:t>
            </a:r>
            <a:r>
              <a:rPr lang="en-US" b="1" dirty="0"/>
              <a:t>how the program executes.</a:t>
            </a:r>
            <a:endParaRPr lang="en-US" dirty="0"/>
          </a:p>
        </p:txBody>
      </p:sp>
      <p:sp>
        <p:nvSpPr>
          <p:cNvPr id="4" name="Slide Number Placeholder 3">
            <a:extLst>
              <a:ext uri="{FF2B5EF4-FFF2-40B4-BE49-F238E27FC236}">
                <a16:creationId xmlns:a16="http://schemas.microsoft.com/office/drawing/2014/main" id="{6D0A981A-7CE2-FD46-AF19-5550D7066649}"/>
              </a:ext>
            </a:extLst>
          </p:cNvPr>
          <p:cNvSpPr>
            <a:spLocks noGrp="1"/>
          </p:cNvSpPr>
          <p:nvPr>
            <p:ph type="sldNum" sz="quarter" idx="12"/>
          </p:nvPr>
        </p:nvSpPr>
        <p:spPr/>
        <p:txBody>
          <a:bodyPr/>
          <a:lstStyle/>
          <a:p>
            <a:fld id="{3552B95B-556F-44BD-91A5-D80C1B9E2BB3}" type="slidenum">
              <a:rPr lang="en-US" smtClean="0"/>
              <a:pPr/>
              <a:t>8</a:t>
            </a:fld>
            <a:endParaRPr lang="en-US"/>
          </a:p>
        </p:txBody>
      </p:sp>
      <p:sp>
        <p:nvSpPr>
          <p:cNvPr id="5" name="TextBox 4">
            <a:extLst>
              <a:ext uri="{FF2B5EF4-FFF2-40B4-BE49-F238E27FC236}">
                <a16:creationId xmlns:a16="http://schemas.microsoft.com/office/drawing/2014/main" id="{3A35A031-1828-8A4C-809E-068E5906D72A}"/>
              </a:ext>
            </a:extLst>
          </p:cNvPr>
          <p:cNvSpPr txBox="1"/>
          <p:nvPr/>
        </p:nvSpPr>
        <p:spPr>
          <a:xfrm>
            <a:off x="457200" y="1333500"/>
            <a:ext cx="2590774" cy="1477328"/>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let </a:t>
            </a:r>
            <a:r>
              <a:rPr lang="en-US" sz="1800" b="1" dirty="0">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a:t>
            </a:r>
          </a:p>
          <a:p>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A90FAA1-CE2B-2541-8BBC-85568E967178}"/>
              </a:ext>
            </a:extLst>
          </p:cNvPr>
          <p:cNvSpPr txBox="1"/>
          <p:nvPr/>
        </p:nvSpPr>
        <p:spPr>
          <a:xfrm>
            <a:off x="6020636" y="1333500"/>
            <a:ext cx="2590774" cy="1477328"/>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let </a:t>
            </a:r>
            <a:r>
              <a:rPr lang="en-US" sz="1800" b="1" dirty="0">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a:t>
            </a:r>
          </a:p>
          <a:p>
            <a:r>
              <a:rPr lang="en-US" sz="1800" b="1" dirty="0">
                <a:solidFill>
                  <a:srgbClr val="FF0000"/>
                </a:solidFill>
                <a:latin typeface="Consolas" panose="020B0609020204030204" pitchFamily="49" charset="0"/>
                <a:cs typeface="Consolas" panose="020B0609020204030204" pitchFamily="49" charset="0"/>
              </a:rPr>
              <a:t>while</a:t>
            </a:r>
            <a:r>
              <a:rPr lang="en-US" sz="1800" b="1" dirty="0">
                <a:latin typeface="Consolas" panose="020B0609020204030204" pitchFamily="49" charset="0"/>
                <a:cs typeface="Consolas" panose="020B0609020204030204" pitchFamily="49" charset="0"/>
              </a:rPr>
              <a:t> 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a:t>
            </a:r>
            <a:br>
              <a:rPr lang="en-US" sz="1800" b="1" dirty="0">
                <a:latin typeface="Consolas" panose="020B0609020204030204" pitchFamily="49" charset="0"/>
                <a:cs typeface="Consolas" panose="020B0609020204030204" pitchFamily="49" charset="0"/>
              </a:rPr>
            </a:br>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latin typeface="Consolas" panose="020B0609020204030204" pitchFamily="49" charset="0"/>
                <a:cs typeface="Consolas" panose="020B0609020204030204" pitchFamily="49" charset="0"/>
              </a:rPr>
              <a:t>);</a:t>
            </a:r>
          </a:p>
        </p:txBody>
      </p:sp>
      <p:grpSp>
        <p:nvGrpSpPr>
          <p:cNvPr id="30" name="Group 29">
            <a:extLst>
              <a:ext uri="{FF2B5EF4-FFF2-40B4-BE49-F238E27FC236}">
                <a16:creationId xmlns:a16="http://schemas.microsoft.com/office/drawing/2014/main" id="{565BCA45-AD49-574B-B6EB-FD8565216BB7}"/>
              </a:ext>
            </a:extLst>
          </p:cNvPr>
          <p:cNvGrpSpPr/>
          <p:nvPr/>
        </p:nvGrpSpPr>
        <p:grpSpPr>
          <a:xfrm>
            <a:off x="342901" y="2953466"/>
            <a:ext cx="3351143" cy="2205624"/>
            <a:chOff x="839857" y="3014076"/>
            <a:chExt cx="3351143" cy="2205624"/>
          </a:xfrm>
        </p:grpSpPr>
        <p:sp>
          <p:nvSpPr>
            <p:cNvPr id="7" name="Rounded Rectangle 6">
              <a:extLst>
                <a:ext uri="{FF2B5EF4-FFF2-40B4-BE49-F238E27FC236}">
                  <a16:creationId xmlns:a16="http://schemas.microsoft.com/office/drawing/2014/main" id="{2BF61A4C-0054-344C-B068-1D394ED4EB0E}"/>
                </a:ext>
              </a:extLst>
            </p:cNvPr>
            <p:cNvSpPr/>
            <p:nvPr/>
          </p:nvSpPr>
          <p:spPr>
            <a:xfrm>
              <a:off x="1219200" y="3014076"/>
              <a:ext cx="992257"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8" name="Diamond 7">
              <a:extLst>
                <a:ext uri="{FF2B5EF4-FFF2-40B4-BE49-F238E27FC236}">
                  <a16:creationId xmlns:a16="http://schemas.microsoft.com/office/drawing/2014/main" id="{0F3DA6FA-B88B-0440-9D20-FDA9E963EF80}"/>
                </a:ext>
              </a:extLst>
            </p:cNvPr>
            <p:cNvSpPr/>
            <p:nvPr/>
          </p:nvSpPr>
          <p:spPr>
            <a:xfrm>
              <a:off x="991428" y="3773988"/>
              <a:ext cx="1447800" cy="685800"/>
            </a:xfrm>
            <a:prstGeom prst="diamond">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solidFill>
                    <a:schemeClr val="tx1"/>
                  </a:solidFill>
                  <a:latin typeface="Consolas" panose="020B0609020204030204" pitchFamily="49" charset="0"/>
                  <a:cs typeface="Consolas" panose="020B0609020204030204" pitchFamily="49" charset="0"/>
                </a:rPr>
                <a:t>?</a:t>
              </a:r>
            </a:p>
          </p:txBody>
        </p:sp>
        <p:sp>
          <p:nvSpPr>
            <p:cNvPr id="9" name="Rounded Rectangle 8">
              <a:extLst>
                <a:ext uri="{FF2B5EF4-FFF2-40B4-BE49-F238E27FC236}">
                  <a16:creationId xmlns:a16="http://schemas.microsoft.com/office/drawing/2014/main" id="{5502879E-6D73-D644-9591-10FBEABABBA3}"/>
                </a:ext>
              </a:extLst>
            </p:cNvPr>
            <p:cNvSpPr/>
            <p:nvPr/>
          </p:nvSpPr>
          <p:spPr>
            <a:xfrm>
              <a:off x="839857" y="4762500"/>
              <a:ext cx="1750942"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solidFill>
                    <a:schemeClr val="tx1"/>
                  </a:solidFill>
                  <a:latin typeface="Consolas" panose="020B0609020204030204" pitchFamily="49" charset="0"/>
                  <a:cs typeface="Consolas" panose="020B0609020204030204" pitchFamily="49" charset="0"/>
                </a:rPr>
                <a:t>)</a:t>
              </a:r>
            </a:p>
          </p:txBody>
        </p:sp>
        <p:sp>
          <p:nvSpPr>
            <p:cNvPr id="11" name="Rounded Rectangle 10">
              <a:extLst>
                <a:ext uri="{FF2B5EF4-FFF2-40B4-BE49-F238E27FC236}">
                  <a16:creationId xmlns:a16="http://schemas.microsoft.com/office/drawing/2014/main" id="{1BA2C9D8-6445-4F41-AF9A-3B16D08254A6}"/>
                </a:ext>
              </a:extLst>
            </p:cNvPr>
            <p:cNvSpPr/>
            <p:nvPr/>
          </p:nvSpPr>
          <p:spPr>
            <a:xfrm>
              <a:off x="2821056" y="3888288"/>
              <a:ext cx="1369944"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solidFill>
                    <a:schemeClr val="tx1"/>
                  </a:solidFill>
                  <a:latin typeface="Consolas" panose="020B0609020204030204" pitchFamily="49" charset="0"/>
                  <a:cs typeface="Consolas" panose="020B0609020204030204" pitchFamily="49" charset="0"/>
                </a:rPr>
                <a:t>)</a:t>
              </a:r>
            </a:p>
          </p:txBody>
        </p:sp>
        <p:cxnSp>
          <p:nvCxnSpPr>
            <p:cNvPr id="13" name="Straight Arrow Connector 12">
              <a:extLst>
                <a:ext uri="{FF2B5EF4-FFF2-40B4-BE49-F238E27FC236}">
                  <a16:creationId xmlns:a16="http://schemas.microsoft.com/office/drawing/2014/main" id="{17F5C9BE-4D60-2843-93EE-063EFBCDAA0C}"/>
                </a:ext>
              </a:extLst>
            </p:cNvPr>
            <p:cNvCxnSpPr>
              <a:stCxn id="7" idx="2"/>
              <a:endCxn id="8" idx="0"/>
            </p:cNvCxnSpPr>
            <p:nvPr/>
          </p:nvCxnSpPr>
          <p:spPr>
            <a:xfrm flipH="1">
              <a:off x="1715328" y="3471276"/>
              <a:ext cx="1" cy="3027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A988830-252F-A449-B6BC-647594B201F6}"/>
                </a:ext>
              </a:extLst>
            </p:cNvPr>
            <p:cNvCxnSpPr>
              <a:cxnSpLocks/>
              <a:stCxn id="8" idx="2"/>
              <a:endCxn id="9" idx="0"/>
            </p:cNvCxnSpPr>
            <p:nvPr/>
          </p:nvCxnSpPr>
          <p:spPr>
            <a:xfrm>
              <a:off x="1715328" y="4459788"/>
              <a:ext cx="0" cy="3027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5B8A947-3763-974A-85B6-CEADA8A531A7}"/>
                </a:ext>
              </a:extLst>
            </p:cNvPr>
            <p:cNvCxnSpPr>
              <a:cxnSpLocks/>
            </p:cNvCxnSpPr>
            <p:nvPr/>
          </p:nvCxnSpPr>
          <p:spPr>
            <a:xfrm rot="5400000">
              <a:off x="2476716" y="3773773"/>
              <a:ext cx="417012" cy="1560443"/>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A89D3ED-CE25-6544-93A7-AC5EB21695A7}"/>
                </a:ext>
              </a:extLst>
            </p:cNvPr>
            <p:cNvCxnSpPr>
              <a:cxnSpLocks/>
              <a:stCxn id="8" idx="3"/>
              <a:endCxn id="11" idx="1"/>
            </p:cNvCxnSpPr>
            <p:nvPr/>
          </p:nvCxnSpPr>
          <p:spPr>
            <a:xfrm>
              <a:off x="2439228" y="4116888"/>
              <a:ext cx="3818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799258E2-6C36-5645-9009-95CE02006B5D}"/>
              </a:ext>
            </a:extLst>
          </p:cNvPr>
          <p:cNvGrpSpPr/>
          <p:nvPr/>
        </p:nvGrpSpPr>
        <p:grpSpPr>
          <a:xfrm>
            <a:off x="5640457" y="2953466"/>
            <a:ext cx="3351143" cy="2205624"/>
            <a:chOff x="5449957" y="3088904"/>
            <a:chExt cx="3351143" cy="2205624"/>
          </a:xfrm>
        </p:grpSpPr>
        <p:sp>
          <p:nvSpPr>
            <p:cNvPr id="32" name="Rounded Rectangle 31">
              <a:extLst>
                <a:ext uri="{FF2B5EF4-FFF2-40B4-BE49-F238E27FC236}">
                  <a16:creationId xmlns:a16="http://schemas.microsoft.com/office/drawing/2014/main" id="{FE4FBCC3-5742-C34A-AA1C-2AA553C7B75F}"/>
                </a:ext>
              </a:extLst>
            </p:cNvPr>
            <p:cNvSpPr/>
            <p:nvPr/>
          </p:nvSpPr>
          <p:spPr>
            <a:xfrm>
              <a:off x="5829300" y="3088904"/>
              <a:ext cx="992257"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33" name="Diamond 32">
              <a:extLst>
                <a:ext uri="{FF2B5EF4-FFF2-40B4-BE49-F238E27FC236}">
                  <a16:creationId xmlns:a16="http://schemas.microsoft.com/office/drawing/2014/main" id="{2F06B82D-E943-0142-BC7B-D5A753089DFA}"/>
                </a:ext>
              </a:extLst>
            </p:cNvPr>
            <p:cNvSpPr/>
            <p:nvPr/>
          </p:nvSpPr>
          <p:spPr>
            <a:xfrm>
              <a:off x="5601528" y="3848816"/>
              <a:ext cx="1447800" cy="685800"/>
            </a:xfrm>
            <a:prstGeom prst="diamond">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solidFill>
                    <a:schemeClr val="tx1"/>
                  </a:solidFill>
                  <a:latin typeface="Consolas" panose="020B0609020204030204" pitchFamily="49" charset="0"/>
                  <a:cs typeface="Consolas" panose="020B0609020204030204" pitchFamily="49" charset="0"/>
                </a:rPr>
                <a:t>?</a:t>
              </a:r>
            </a:p>
          </p:txBody>
        </p:sp>
        <p:sp>
          <p:nvSpPr>
            <p:cNvPr id="34" name="Rounded Rectangle 33">
              <a:extLst>
                <a:ext uri="{FF2B5EF4-FFF2-40B4-BE49-F238E27FC236}">
                  <a16:creationId xmlns:a16="http://schemas.microsoft.com/office/drawing/2014/main" id="{3BA9EB32-59A5-444B-9342-D95AF18FA334}"/>
                </a:ext>
              </a:extLst>
            </p:cNvPr>
            <p:cNvSpPr/>
            <p:nvPr/>
          </p:nvSpPr>
          <p:spPr>
            <a:xfrm>
              <a:off x="5449957" y="4837328"/>
              <a:ext cx="1750942"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solidFill>
                    <a:schemeClr val="tx1"/>
                  </a:solidFill>
                  <a:latin typeface="Consolas" panose="020B0609020204030204" pitchFamily="49" charset="0"/>
                  <a:cs typeface="Consolas" panose="020B0609020204030204" pitchFamily="49" charset="0"/>
                </a:rPr>
                <a:t>)</a:t>
              </a:r>
            </a:p>
          </p:txBody>
        </p:sp>
        <p:cxnSp>
          <p:nvCxnSpPr>
            <p:cNvPr id="36" name="Straight Arrow Connector 35">
              <a:extLst>
                <a:ext uri="{FF2B5EF4-FFF2-40B4-BE49-F238E27FC236}">
                  <a16:creationId xmlns:a16="http://schemas.microsoft.com/office/drawing/2014/main" id="{346FEB9D-B394-5048-94D7-2048377CC850}"/>
                </a:ext>
              </a:extLst>
            </p:cNvPr>
            <p:cNvCxnSpPr>
              <a:stCxn id="32" idx="2"/>
              <a:endCxn id="33" idx="0"/>
            </p:cNvCxnSpPr>
            <p:nvPr/>
          </p:nvCxnSpPr>
          <p:spPr>
            <a:xfrm flipH="1">
              <a:off x="6325428" y="3546104"/>
              <a:ext cx="1" cy="3027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8860779-066D-C74D-9B47-590715AB324C}"/>
                </a:ext>
              </a:extLst>
            </p:cNvPr>
            <p:cNvCxnSpPr>
              <a:cxnSpLocks/>
              <a:stCxn id="33" idx="2"/>
              <a:endCxn id="34" idx="0"/>
            </p:cNvCxnSpPr>
            <p:nvPr/>
          </p:nvCxnSpPr>
          <p:spPr>
            <a:xfrm>
              <a:off x="6325428" y="4534616"/>
              <a:ext cx="0" cy="3027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16">
              <a:extLst>
                <a:ext uri="{FF2B5EF4-FFF2-40B4-BE49-F238E27FC236}">
                  <a16:creationId xmlns:a16="http://schemas.microsoft.com/office/drawing/2014/main" id="{763F086B-EE2F-C44B-AD84-C80026A827A7}"/>
                </a:ext>
              </a:extLst>
            </p:cNvPr>
            <p:cNvCxnSpPr>
              <a:cxnSpLocks/>
            </p:cNvCxnSpPr>
            <p:nvPr/>
          </p:nvCxnSpPr>
          <p:spPr>
            <a:xfrm rot="16200000" flipV="1">
              <a:off x="7253610" y="3219602"/>
              <a:ext cx="118872" cy="1554480"/>
            </a:xfrm>
            <a:prstGeom prst="bentConnector3">
              <a:avLst>
                <a:gd name="adj1" fmla="val 3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04DE820-DF5E-5441-B277-88FB55148157}"/>
                </a:ext>
              </a:extLst>
            </p:cNvPr>
            <p:cNvCxnSpPr>
              <a:cxnSpLocks/>
              <a:stCxn id="33" idx="3"/>
              <a:endCxn id="35" idx="1"/>
            </p:cNvCxnSpPr>
            <p:nvPr/>
          </p:nvCxnSpPr>
          <p:spPr>
            <a:xfrm>
              <a:off x="7049328" y="4191716"/>
              <a:ext cx="3818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a:extLst>
                <a:ext uri="{FF2B5EF4-FFF2-40B4-BE49-F238E27FC236}">
                  <a16:creationId xmlns:a16="http://schemas.microsoft.com/office/drawing/2014/main" id="{3A58F27A-3839-8C47-8456-482285B5C61A}"/>
                </a:ext>
              </a:extLst>
            </p:cNvPr>
            <p:cNvSpPr/>
            <p:nvPr/>
          </p:nvSpPr>
          <p:spPr>
            <a:xfrm>
              <a:off x="7431156" y="3963116"/>
              <a:ext cx="1369944"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solidFill>
                    <a:schemeClr val="tx1"/>
                  </a:solidFill>
                  <a:latin typeface="Consolas" panose="020B0609020204030204" pitchFamily="49" charset="0"/>
                  <a:cs typeface="Consolas" panose="020B0609020204030204" pitchFamily="49" charset="0"/>
                </a:rPr>
                <a:t>)</a:t>
              </a:r>
            </a:p>
          </p:txBody>
        </p:sp>
      </p:grpSp>
      <p:sp>
        <p:nvSpPr>
          <p:cNvPr id="43" name="TextBox 42">
            <a:extLst>
              <a:ext uri="{FF2B5EF4-FFF2-40B4-BE49-F238E27FC236}">
                <a16:creationId xmlns:a16="http://schemas.microsoft.com/office/drawing/2014/main" id="{317865AD-5E31-7346-9FD0-8D4C52881A79}"/>
              </a:ext>
            </a:extLst>
          </p:cNvPr>
          <p:cNvSpPr txBox="1"/>
          <p:nvPr/>
        </p:nvSpPr>
        <p:spPr>
          <a:xfrm>
            <a:off x="3097422" y="1776918"/>
            <a:ext cx="2792881" cy="1785104"/>
          </a:xfrm>
          <a:prstGeom prst="rect">
            <a:avLst/>
          </a:prstGeom>
          <a:noFill/>
        </p:spPr>
        <p:txBody>
          <a:bodyPr wrap="square" rtlCol="0">
            <a:spAutoFit/>
          </a:bodyPr>
          <a:lstStyle/>
          <a:p>
            <a:pPr algn="ctr"/>
            <a:r>
              <a:rPr lang="en-US" sz="2200" b="1" dirty="0"/>
              <a:t>flowcharts</a:t>
            </a:r>
            <a:r>
              <a:rPr lang="en-US" sz="2200" dirty="0"/>
              <a:t> make it immediately obvious that the </a:t>
            </a:r>
            <a:r>
              <a:rPr lang="en-US" sz="2200" b="1" dirty="0"/>
              <a:t>structure</a:t>
            </a:r>
            <a:r>
              <a:rPr lang="en-US" sz="2200" dirty="0"/>
              <a:t> of these two programs is different.</a:t>
            </a:r>
          </a:p>
        </p:txBody>
      </p:sp>
    </p:spTree>
    <p:extLst>
      <p:ext uri="{BB962C8B-B14F-4D97-AF65-F5344CB8AC3E}">
        <p14:creationId xmlns:p14="http://schemas.microsoft.com/office/powerpoint/2010/main" val="42053533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2A3B-E0B0-5040-9483-BE7E2BEFDDB9}"/>
              </a:ext>
            </a:extLst>
          </p:cNvPr>
          <p:cNvSpPr>
            <a:spLocks noGrp="1"/>
          </p:cNvSpPr>
          <p:nvPr>
            <p:ph type="title"/>
          </p:nvPr>
        </p:nvSpPr>
        <p:spPr/>
        <p:txBody>
          <a:bodyPr/>
          <a:lstStyle/>
          <a:p>
            <a:r>
              <a:rPr lang="en-US" dirty="0"/>
              <a:t>Sufficiently Simple Algorithms</a:t>
            </a:r>
          </a:p>
        </p:txBody>
      </p:sp>
      <p:sp>
        <p:nvSpPr>
          <p:cNvPr id="3" name="Content Placeholder 2">
            <a:extLst>
              <a:ext uri="{FF2B5EF4-FFF2-40B4-BE49-F238E27FC236}">
                <a16:creationId xmlns:a16="http://schemas.microsoft.com/office/drawing/2014/main" id="{ECEB5BD2-1D7D-3F49-B054-0D2C58CDB451}"/>
              </a:ext>
            </a:extLst>
          </p:cNvPr>
          <p:cNvSpPr>
            <a:spLocks noGrp="1"/>
          </p:cNvSpPr>
          <p:nvPr>
            <p:ph idx="1"/>
          </p:nvPr>
        </p:nvSpPr>
        <p:spPr>
          <a:xfrm>
            <a:off x="152400" y="495301"/>
            <a:ext cx="8991600" cy="495301"/>
          </a:xfrm>
        </p:spPr>
        <p:txBody>
          <a:bodyPr/>
          <a:lstStyle/>
          <a:p>
            <a:r>
              <a:rPr lang="en-US" dirty="0"/>
              <a:t>a flowchart makes it easier to detect the problem here.</a:t>
            </a:r>
          </a:p>
        </p:txBody>
      </p:sp>
      <p:sp>
        <p:nvSpPr>
          <p:cNvPr id="4" name="Slide Number Placeholder 3">
            <a:extLst>
              <a:ext uri="{FF2B5EF4-FFF2-40B4-BE49-F238E27FC236}">
                <a16:creationId xmlns:a16="http://schemas.microsoft.com/office/drawing/2014/main" id="{B7062C29-BC14-E347-85A2-72F148315B90}"/>
              </a:ext>
            </a:extLst>
          </p:cNvPr>
          <p:cNvSpPr>
            <a:spLocks noGrp="1"/>
          </p:cNvSpPr>
          <p:nvPr>
            <p:ph type="sldNum" sz="quarter" idx="12"/>
          </p:nvPr>
        </p:nvSpPr>
        <p:spPr/>
        <p:txBody>
          <a:bodyPr/>
          <a:lstStyle/>
          <a:p>
            <a:fld id="{3552B95B-556F-44BD-91A5-D80C1B9E2BB3}" type="slidenum">
              <a:rPr lang="en-US" smtClean="0"/>
              <a:pPr/>
              <a:t>9</a:t>
            </a:fld>
            <a:endParaRPr lang="en-US"/>
          </a:p>
        </p:txBody>
      </p:sp>
      <p:grpSp>
        <p:nvGrpSpPr>
          <p:cNvPr id="5" name="Group 4">
            <a:extLst>
              <a:ext uri="{FF2B5EF4-FFF2-40B4-BE49-F238E27FC236}">
                <a16:creationId xmlns:a16="http://schemas.microsoft.com/office/drawing/2014/main" id="{D16B24F2-F0CC-2A46-BFFB-6D5E19731074}"/>
              </a:ext>
            </a:extLst>
          </p:cNvPr>
          <p:cNvGrpSpPr/>
          <p:nvPr/>
        </p:nvGrpSpPr>
        <p:grpSpPr>
          <a:xfrm>
            <a:off x="322213" y="1104900"/>
            <a:ext cx="3351143" cy="2205624"/>
            <a:chOff x="5449957" y="3088904"/>
            <a:chExt cx="3351143" cy="2205624"/>
          </a:xfrm>
        </p:grpSpPr>
        <p:sp>
          <p:nvSpPr>
            <p:cNvPr id="6" name="Rounded Rectangle 5">
              <a:extLst>
                <a:ext uri="{FF2B5EF4-FFF2-40B4-BE49-F238E27FC236}">
                  <a16:creationId xmlns:a16="http://schemas.microsoft.com/office/drawing/2014/main" id="{70B754AE-4BC6-7242-8C59-405D82B710F1}"/>
                </a:ext>
              </a:extLst>
            </p:cNvPr>
            <p:cNvSpPr/>
            <p:nvPr/>
          </p:nvSpPr>
          <p:spPr>
            <a:xfrm>
              <a:off x="5829300" y="3088904"/>
              <a:ext cx="992257"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x = </a:t>
              </a:r>
              <a:r>
                <a:rPr lang="en-US" sz="18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7" name="Diamond 6">
              <a:extLst>
                <a:ext uri="{FF2B5EF4-FFF2-40B4-BE49-F238E27FC236}">
                  <a16:creationId xmlns:a16="http://schemas.microsoft.com/office/drawing/2014/main" id="{47BBE556-5FE1-5441-B1B0-F51DBCFD706B}"/>
                </a:ext>
              </a:extLst>
            </p:cNvPr>
            <p:cNvSpPr/>
            <p:nvPr/>
          </p:nvSpPr>
          <p:spPr>
            <a:xfrm>
              <a:off x="5601528" y="3848816"/>
              <a:ext cx="1447800" cy="685800"/>
            </a:xfrm>
            <a:prstGeom prst="diamond">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800" b="1" dirty="0">
                  <a:solidFill>
                    <a:schemeClr val="tx1"/>
                  </a:solidFill>
                  <a:latin typeface="Consolas" panose="020B0609020204030204" pitchFamily="49" charset="0"/>
                  <a:cs typeface="Consolas" panose="020B0609020204030204" pitchFamily="49" charset="0"/>
                </a:rPr>
                <a:t>x &lt;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solidFill>
                    <a:schemeClr val="tx1"/>
                  </a:solidFill>
                  <a:latin typeface="Consolas" panose="020B0609020204030204" pitchFamily="49" charset="0"/>
                  <a:cs typeface="Consolas" panose="020B0609020204030204" pitchFamily="49" charset="0"/>
                </a:rPr>
                <a:t>?</a:t>
              </a:r>
            </a:p>
          </p:txBody>
        </p:sp>
        <p:sp>
          <p:nvSpPr>
            <p:cNvPr id="8" name="Rounded Rectangle 7">
              <a:extLst>
                <a:ext uri="{FF2B5EF4-FFF2-40B4-BE49-F238E27FC236}">
                  <a16:creationId xmlns:a16="http://schemas.microsoft.com/office/drawing/2014/main" id="{E405DD9C-6FDE-774C-BD2B-BC82E3D7FA31}"/>
                </a:ext>
              </a:extLst>
            </p:cNvPr>
            <p:cNvSpPr/>
            <p:nvPr/>
          </p:nvSpPr>
          <p:spPr>
            <a:xfrm>
              <a:off x="5449957" y="4837328"/>
              <a:ext cx="1750942"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solidFill>
                    <a:schemeClr val="tx1"/>
                  </a:solidFill>
                  <a:latin typeface="Consolas" panose="020B0609020204030204" pitchFamily="49" charset="0"/>
                  <a:cs typeface="Consolas" panose="020B0609020204030204" pitchFamily="49" charset="0"/>
                </a:rPr>
                <a:t>)</a:t>
              </a:r>
            </a:p>
          </p:txBody>
        </p:sp>
        <p:cxnSp>
          <p:nvCxnSpPr>
            <p:cNvPr id="9" name="Straight Arrow Connector 8">
              <a:extLst>
                <a:ext uri="{FF2B5EF4-FFF2-40B4-BE49-F238E27FC236}">
                  <a16:creationId xmlns:a16="http://schemas.microsoft.com/office/drawing/2014/main" id="{33153A8B-2FD5-5643-A8D3-F701EB3B8F3A}"/>
                </a:ext>
              </a:extLst>
            </p:cNvPr>
            <p:cNvCxnSpPr>
              <a:stCxn id="6" idx="2"/>
              <a:endCxn id="7" idx="0"/>
            </p:cNvCxnSpPr>
            <p:nvPr/>
          </p:nvCxnSpPr>
          <p:spPr>
            <a:xfrm flipH="1">
              <a:off x="6325428" y="3546104"/>
              <a:ext cx="1" cy="3027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E002087-D568-834D-AEEA-18A04FEF501F}"/>
                </a:ext>
              </a:extLst>
            </p:cNvPr>
            <p:cNvCxnSpPr>
              <a:cxnSpLocks/>
              <a:stCxn id="7" idx="2"/>
              <a:endCxn id="8" idx="0"/>
            </p:cNvCxnSpPr>
            <p:nvPr/>
          </p:nvCxnSpPr>
          <p:spPr>
            <a:xfrm>
              <a:off x="6325428" y="4534616"/>
              <a:ext cx="0" cy="3027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6">
              <a:extLst>
                <a:ext uri="{FF2B5EF4-FFF2-40B4-BE49-F238E27FC236}">
                  <a16:creationId xmlns:a16="http://schemas.microsoft.com/office/drawing/2014/main" id="{15A3AE8D-8B67-264D-AE8B-7B37AD7B5DDA}"/>
                </a:ext>
              </a:extLst>
            </p:cNvPr>
            <p:cNvCxnSpPr>
              <a:cxnSpLocks/>
            </p:cNvCxnSpPr>
            <p:nvPr/>
          </p:nvCxnSpPr>
          <p:spPr>
            <a:xfrm rot="16200000" flipV="1">
              <a:off x="7253610" y="3219602"/>
              <a:ext cx="118872" cy="1554480"/>
            </a:xfrm>
            <a:prstGeom prst="bentConnector3">
              <a:avLst>
                <a:gd name="adj1" fmla="val 3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6031F6E-559D-7040-AAF3-A335ABDBD02E}"/>
                </a:ext>
              </a:extLst>
            </p:cNvPr>
            <p:cNvCxnSpPr>
              <a:cxnSpLocks/>
              <a:stCxn id="7" idx="3"/>
              <a:endCxn id="13" idx="1"/>
            </p:cNvCxnSpPr>
            <p:nvPr/>
          </p:nvCxnSpPr>
          <p:spPr>
            <a:xfrm>
              <a:off x="7049328" y="4191716"/>
              <a:ext cx="38182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382A6D6F-48E6-0743-AFB4-31C03541DF33}"/>
                </a:ext>
              </a:extLst>
            </p:cNvPr>
            <p:cNvSpPr/>
            <p:nvPr/>
          </p:nvSpPr>
          <p:spPr>
            <a:xfrm>
              <a:off x="7431156" y="3963116"/>
              <a:ext cx="1369944" cy="45720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Consolas" panose="020B0609020204030204" pitchFamily="49" charset="0"/>
                  <a:cs typeface="Consolas" panose="020B0609020204030204" pitchFamily="49" charset="0"/>
                </a:rPr>
                <a:t>p(</a:t>
              </a:r>
              <a:r>
                <a:rPr lang="en-US" sz="1800" b="1" dirty="0">
                  <a:solidFill>
                    <a:schemeClr val="accent6">
                      <a:lumMod val="75000"/>
                    </a:schemeClr>
                  </a:solidFill>
                  <a:latin typeface="Consolas" panose="020B0609020204030204" pitchFamily="49" charset="0"/>
                  <a:cs typeface="Consolas" panose="020B0609020204030204" pitchFamily="49" charset="0"/>
                </a:rPr>
                <a:t>"hi!"</a:t>
              </a:r>
              <a:r>
                <a:rPr lang="en-US" sz="1800" b="1" dirty="0">
                  <a:solidFill>
                    <a:schemeClr val="tx1"/>
                  </a:solidFill>
                  <a:latin typeface="Consolas" panose="020B0609020204030204" pitchFamily="49" charset="0"/>
                  <a:cs typeface="Consolas" panose="020B0609020204030204" pitchFamily="49" charset="0"/>
                </a:rPr>
                <a:t>)</a:t>
              </a:r>
            </a:p>
          </p:txBody>
        </p:sp>
      </p:grpSp>
      <p:cxnSp>
        <p:nvCxnSpPr>
          <p:cNvPr id="15" name="Straight Arrow Connector 14">
            <a:extLst>
              <a:ext uri="{FF2B5EF4-FFF2-40B4-BE49-F238E27FC236}">
                <a16:creationId xmlns:a16="http://schemas.microsoft.com/office/drawing/2014/main" id="{951F407F-AC37-FC4E-A7E9-EE6A3E9DB3F7}"/>
              </a:ext>
            </a:extLst>
          </p:cNvPr>
          <p:cNvCxnSpPr/>
          <p:nvPr/>
        </p:nvCxnSpPr>
        <p:spPr>
          <a:xfrm>
            <a:off x="808289" y="1153026"/>
            <a:ext cx="0" cy="967374"/>
          </a:xfrm>
          <a:prstGeom prst="straightConnector1">
            <a:avLst/>
          </a:prstGeom>
          <a:ln w="57150" cmpd="sng">
            <a:solidFill>
              <a:srgbClr val="7030A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 name="Freeform 15">
            <a:extLst>
              <a:ext uri="{FF2B5EF4-FFF2-40B4-BE49-F238E27FC236}">
                <a16:creationId xmlns:a16="http://schemas.microsoft.com/office/drawing/2014/main" id="{4A5CB664-7C91-9A4B-AFA2-DDACFDD78969}"/>
              </a:ext>
            </a:extLst>
          </p:cNvPr>
          <p:cNvSpPr/>
          <p:nvPr/>
        </p:nvSpPr>
        <p:spPr>
          <a:xfrm>
            <a:off x="1284200" y="1186315"/>
            <a:ext cx="2449600" cy="1378270"/>
          </a:xfrm>
          <a:custGeom>
            <a:avLst/>
            <a:gdLst>
              <a:gd name="connsiteX0" fmla="*/ 327259 w 2446279"/>
              <a:gd name="connsiteY0" fmla="*/ 0 h 1459732"/>
              <a:gd name="connsiteX1" fmla="*/ 346510 w 2446279"/>
              <a:gd name="connsiteY1" fmla="*/ 1193532 h 1459732"/>
              <a:gd name="connsiteX2" fmla="*/ 2233061 w 2446279"/>
              <a:gd name="connsiteY2" fmla="*/ 1405288 h 1459732"/>
              <a:gd name="connsiteX3" fmla="*/ 2194560 w 2446279"/>
              <a:gd name="connsiteY3" fmla="*/ 433137 h 1459732"/>
              <a:gd name="connsiteX4" fmla="*/ 375386 w 2446279"/>
              <a:gd name="connsiteY4" fmla="*/ 404261 h 1459732"/>
              <a:gd name="connsiteX5" fmla="*/ 0 w 2446279"/>
              <a:gd name="connsiteY5" fmla="*/ 827772 h 1459732"/>
              <a:gd name="connsiteX0" fmla="*/ 327259 w 2441843"/>
              <a:gd name="connsiteY0" fmla="*/ 0 h 1481999"/>
              <a:gd name="connsiteX1" fmla="*/ 413887 w 2441843"/>
              <a:gd name="connsiteY1" fmla="*/ 1260909 h 1481999"/>
              <a:gd name="connsiteX2" fmla="*/ 2233061 w 2441843"/>
              <a:gd name="connsiteY2" fmla="*/ 1405288 h 1481999"/>
              <a:gd name="connsiteX3" fmla="*/ 2194560 w 2441843"/>
              <a:gd name="connsiteY3" fmla="*/ 433137 h 1481999"/>
              <a:gd name="connsiteX4" fmla="*/ 375386 w 2441843"/>
              <a:gd name="connsiteY4" fmla="*/ 404261 h 1481999"/>
              <a:gd name="connsiteX5" fmla="*/ 0 w 2441843"/>
              <a:gd name="connsiteY5" fmla="*/ 827772 h 1481999"/>
              <a:gd name="connsiteX0" fmla="*/ 327259 w 2441843"/>
              <a:gd name="connsiteY0" fmla="*/ 0 h 1548479"/>
              <a:gd name="connsiteX1" fmla="*/ 413887 w 2441843"/>
              <a:gd name="connsiteY1" fmla="*/ 1260909 h 1548479"/>
              <a:gd name="connsiteX2" fmla="*/ 2233061 w 2441843"/>
              <a:gd name="connsiteY2" fmla="*/ 1405288 h 1548479"/>
              <a:gd name="connsiteX3" fmla="*/ 2194560 w 2441843"/>
              <a:gd name="connsiteY3" fmla="*/ 433137 h 1548479"/>
              <a:gd name="connsiteX4" fmla="*/ 375386 w 2441843"/>
              <a:gd name="connsiteY4" fmla="*/ 404261 h 1548479"/>
              <a:gd name="connsiteX5" fmla="*/ 0 w 2441843"/>
              <a:gd name="connsiteY5" fmla="*/ 827772 h 1548479"/>
              <a:gd name="connsiteX0" fmla="*/ 327259 w 2441843"/>
              <a:gd name="connsiteY0" fmla="*/ 0 h 1548479"/>
              <a:gd name="connsiteX1" fmla="*/ 413887 w 2441843"/>
              <a:gd name="connsiteY1" fmla="*/ 1260909 h 1548479"/>
              <a:gd name="connsiteX2" fmla="*/ 2233061 w 2441843"/>
              <a:gd name="connsiteY2" fmla="*/ 1405288 h 1548479"/>
              <a:gd name="connsiteX3" fmla="*/ 2194560 w 2441843"/>
              <a:gd name="connsiteY3" fmla="*/ 433137 h 1548479"/>
              <a:gd name="connsiteX4" fmla="*/ 375386 w 2441843"/>
              <a:gd name="connsiteY4" fmla="*/ 404261 h 1548479"/>
              <a:gd name="connsiteX5" fmla="*/ 0 w 2441843"/>
              <a:gd name="connsiteY5" fmla="*/ 827772 h 1548479"/>
              <a:gd name="connsiteX0" fmla="*/ 327259 w 2441843"/>
              <a:gd name="connsiteY0" fmla="*/ 0 h 1552132"/>
              <a:gd name="connsiteX1" fmla="*/ 413887 w 2441843"/>
              <a:gd name="connsiteY1" fmla="*/ 1260909 h 1552132"/>
              <a:gd name="connsiteX2" fmla="*/ 2233061 w 2441843"/>
              <a:gd name="connsiteY2" fmla="*/ 1405288 h 1552132"/>
              <a:gd name="connsiteX3" fmla="*/ 2194560 w 2441843"/>
              <a:gd name="connsiteY3" fmla="*/ 433137 h 1552132"/>
              <a:gd name="connsiteX4" fmla="*/ 375386 w 2441843"/>
              <a:gd name="connsiteY4" fmla="*/ 404261 h 1552132"/>
              <a:gd name="connsiteX5" fmla="*/ 0 w 2441843"/>
              <a:gd name="connsiteY5" fmla="*/ 827772 h 1552132"/>
              <a:gd name="connsiteX0" fmla="*/ 327259 w 2446279"/>
              <a:gd name="connsiteY0" fmla="*/ 0 h 1502191"/>
              <a:gd name="connsiteX1" fmla="*/ 346510 w 2446279"/>
              <a:gd name="connsiteY1" fmla="*/ 1164656 h 1502191"/>
              <a:gd name="connsiteX2" fmla="*/ 2233061 w 2446279"/>
              <a:gd name="connsiteY2" fmla="*/ 1405288 h 1502191"/>
              <a:gd name="connsiteX3" fmla="*/ 2194560 w 2446279"/>
              <a:gd name="connsiteY3" fmla="*/ 433137 h 1502191"/>
              <a:gd name="connsiteX4" fmla="*/ 375386 w 2446279"/>
              <a:gd name="connsiteY4" fmla="*/ 404261 h 1502191"/>
              <a:gd name="connsiteX5" fmla="*/ 0 w 2446279"/>
              <a:gd name="connsiteY5" fmla="*/ 827772 h 1502191"/>
              <a:gd name="connsiteX0" fmla="*/ 327259 w 2446279"/>
              <a:gd name="connsiteY0" fmla="*/ 0 h 1462603"/>
              <a:gd name="connsiteX1" fmla="*/ 346510 w 2446279"/>
              <a:gd name="connsiteY1" fmla="*/ 1164656 h 1462603"/>
              <a:gd name="connsiteX2" fmla="*/ 2233061 w 2446279"/>
              <a:gd name="connsiteY2" fmla="*/ 1405288 h 1462603"/>
              <a:gd name="connsiteX3" fmla="*/ 2194560 w 2446279"/>
              <a:gd name="connsiteY3" fmla="*/ 433137 h 1462603"/>
              <a:gd name="connsiteX4" fmla="*/ 375386 w 2446279"/>
              <a:gd name="connsiteY4" fmla="*/ 404261 h 1462603"/>
              <a:gd name="connsiteX5" fmla="*/ 0 w 2446279"/>
              <a:gd name="connsiteY5" fmla="*/ 827772 h 1462603"/>
              <a:gd name="connsiteX0" fmla="*/ 327259 w 2446279"/>
              <a:gd name="connsiteY0" fmla="*/ 0 h 1418292"/>
              <a:gd name="connsiteX1" fmla="*/ 346510 w 2446279"/>
              <a:gd name="connsiteY1" fmla="*/ 1164656 h 1418292"/>
              <a:gd name="connsiteX2" fmla="*/ 2233061 w 2446279"/>
              <a:gd name="connsiteY2" fmla="*/ 1405288 h 1418292"/>
              <a:gd name="connsiteX3" fmla="*/ 2194560 w 2446279"/>
              <a:gd name="connsiteY3" fmla="*/ 433137 h 1418292"/>
              <a:gd name="connsiteX4" fmla="*/ 375386 w 2446279"/>
              <a:gd name="connsiteY4" fmla="*/ 404261 h 1418292"/>
              <a:gd name="connsiteX5" fmla="*/ 0 w 2446279"/>
              <a:gd name="connsiteY5" fmla="*/ 827772 h 1418292"/>
              <a:gd name="connsiteX0" fmla="*/ 327259 w 2373036"/>
              <a:gd name="connsiteY0" fmla="*/ 0 h 1418292"/>
              <a:gd name="connsiteX1" fmla="*/ 346510 w 2373036"/>
              <a:gd name="connsiteY1" fmla="*/ 1164656 h 1418292"/>
              <a:gd name="connsiteX2" fmla="*/ 2233061 w 2373036"/>
              <a:gd name="connsiteY2" fmla="*/ 1405288 h 1418292"/>
              <a:gd name="connsiteX3" fmla="*/ 2194560 w 2373036"/>
              <a:gd name="connsiteY3" fmla="*/ 433137 h 1418292"/>
              <a:gd name="connsiteX4" fmla="*/ 375386 w 2373036"/>
              <a:gd name="connsiteY4" fmla="*/ 404261 h 1418292"/>
              <a:gd name="connsiteX5" fmla="*/ 0 w 2373036"/>
              <a:gd name="connsiteY5" fmla="*/ 827772 h 1418292"/>
              <a:gd name="connsiteX0" fmla="*/ 327259 w 2391074"/>
              <a:gd name="connsiteY0" fmla="*/ 0 h 1418292"/>
              <a:gd name="connsiteX1" fmla="*/ 346510 w 2391074"/>
              <a:gd name="connsiteY1" fmla="*/ 1164656 h 1418292"/>
              <a:gd name="connsiteX2" fmla="*/ 2233061 w 2391074"/>
              <a:gd name="connsiteY2" fmla="*/ 1405288 h 1418292"/>
              <a:gd name="connsiteX3" fmla="*/ 2223436 w 2391074"/>
              <a:gd name="connsiteY3" fmla="*/ 510139 h 1418292"/>
              <a:gd name="connsiteX4" fmla="*/ 375386 w 2391074"/>
              <a:gd name="connsiteY4" fmla="*/ 404261 h 1418292"/>
              <a:gd name="connsiteX5" fmla="*/ 0 w 2391074"/>
              <a:gd name="connsiteY5" fmla="*/ 827772 h 1418292"/>
              <a:gd name="connsiteX0" fmla="*/ 327259 w 2311895"/>
              <a:gd name="connsiteY0" fmla="*/ 0 h 1418292"/>
              <a:gd name="connsiteX1" fmla="*/ 346510 w 2311895"/>
              <a:gd name="connsiteY1" fmla="*/ 1164656 h 1418292"/>
              <a:gd name="connsiteX2" fmla="*/ 2233061 w 2311895"/>
              <a:gd name="connsiteY2" fmla="*/ 1405288 h 1418292"/>
              <a:gd name="connsiteX3" fmla="*/ 2223436 w 2311895"/>
              <a:gd name="connsiteY3" fmla="*/ 510139 h 1418292"/>
              <a:gd name="connsiteX4" fmla="*/ 375386 w 2311895"/>
              <a:gd name="connsiteY4" fmla="*/ 404261 h 1418292"/>
              <a:gd name="connsiteX5" fmla="*/ 0 w 2311895"/>
              <a:gd name="connsiteY5" fmla="*/ 827772 h 1418292"/>
              <a:gd name="connsiteX0" fmla="*/ 327259 w 2311895"/>
              <a:gd name="connsiteY0" fmla="*/ 0 h 1418292"/>
              <a:gd name="connsiteX1" fmla="*/ 346510 w 2311895"/>
              <a:gd name="connsiteY1" fmla="*/ 1164656 h 1418292"/>
              <a:gd name="connsiteX2" fmla="*/ 2233061 w 2311895"/>
              <a:gd name="connsiteY2" fmla="*/ 1405288 h 1418292"/>
              <a:gd name="connsiteX3" fmla="*/ 2223436 w 2311895"/>
              <a:gd name="connsiteY3" fmla="*/ 510139 h 1418292"/>
              <a:gd name="connsiteX4" fmla="*/ 375386 w 2311895"/>
              <a:gd name="connsiteY4" fmla="*/ 404261 h 1418292"/>
              <a:gd name="connsiteX5" fmla="*/ 0 w 2311895"/>
              <a:gd name="connsiteY5" fmla="*/ 827772 h 1418292"/>
              <a:gd name="connsiteX0" fmla="*/ 327259 w 2453933"/>
              <a:gd name="connsiteY0" fmla="*/ 0 h 1418292"/>
              <a:gd name="connsiteX1" fmla="*/ 346510 w 2453933"/>
              <a:gd name="connsiteY1" fmla="*/ 1164656 h 1418292"/>
              <a:gd name="connsiteX2" fmla="*/ 2233061 w 2453933"/>
              <a:gd name="connsiteY2" fmla="*/ 1405288 h 1418292"/>
              <a:gd name="connsiteX3" fmla="*/ 2223436 w 2453933"/>
              <a:gd name="connsiteY3" fmla="*/ 510139 h 1418292"/>
              <a:gd name="connsiteX4" fmla="*/ 375386 w 2453933"/>
              <a:gd name="connsiteY4" fmla="*/ 404261 h 1418292"/>
              <a:gd name="connsiteX5" fmla="*/ 0 w 2453933"/>
              <a:gd name="connsiteY5" fmla="*/ 827772 h 1418292"/>
              <a:gd name="connsiteX0" fmla="*/ 327259 w 2445500"/>
              <a:gd name="connsiteY0" fmla="*/ 0 h 1418292"/>
              <a:gd name="connsiteX1" fmla="*/ 346510 w 2445500"/>
              <a:gd name="connsiteY1" fmla="*/ 1164656 h 1418292"/>
              <a:gd name="connsiteX2" fmla="*/ 2233061 w 2445500"/>
              <a:gd name="connsiteY2" fmla="*/ 1405288 h 1418292"/>
              <a:gd name="connsiteX3" fmla="*/ 2223436 w 2445500"/>
              <a:gd name="connsiteY3" fmla="*/ 510139 h 1418292"/>
              <a:gd name="connsiteX4" fmla="*/ 375386 w 2445500"/>
              <a:gd name="connsiteY4" fmla="*/ 404261 h 1418292"/>
              <a:gd name="connsiteX5" fmla="*/ 0 w 2445500"/>
              <a:gd name="connsiteY5" fmla="*/ 827772 h 1418292"/>
              <a:gd name="connsiteX0" fmla="*/ 327259 w 2445500"/>
              <a:gd name="connsiteY0" fmla="*/ 0 h 1588417"/>
              <a:gd name="connsiteX1" fmla="*/ 346510 w 2445500"/>
              <a:gd name="connsiteY1" fmla="*/ 1164656 h 1588417"/>
              <a:gd name="connsiteX2" fmla="*/ 2233061 w 2445500"/>
              <a:gd name="connsiteY2" fmla="*/ 1405288 h 1588417"/>
              <a:gd name="connsiteX3" fmla="*/ 2223436 w 2445500"/>
              <a:gd name="connsiteY3" fmla="*/ 510139 h 1588417"/>
              <a:gd name="connsiteX4" fmla="*/ 375386 w 2445500"/>
              <a:gd name="connsiteY4" fmla="*/ 404261 h 1588417"/>
              <a:gd name="connsiteX5" fmla="*/ 0 w 2445500"/>
              <a:gd name="connsiteY5" fmla="*/ 827772 h 1588417"/>
              <a:gd name="connsiteX0" fmla="*/ 327259 w 2461803"/>
              <a:gd name="connsiteY0" fmla="*/ 0 h 1447715"/>
              <a:gd name="connsiteX1" fmla="*/ 346510 w 2461803"/>
              <a:gd name="connsiteY1" fmla="*/ 1164656 h 1447715"/>
              <a:gd name="connsiteX2" fmla="*/ 2233061 w 2461803"/>
              <a:gd name="connsiteY2" fmla="*/ 1405288 h 1447715"/>
              <a:gd name="connsiteX3" fmla="*/ 2223436 w 2461803"/>
              <a:gd name="connsiteY3" fmla="*/ 510139 h 1447715"/>
              <a:gd name="connsiteX4" fmla="*/ 375386 w 2461803"/>
              <a:gd name="connsiteY4" fmla="*/ 404261 h 1447715"/>
              <a:gd name="connsiteX5" fmla="*/ 0 w 2461803"/>
              <a:gd name="connsiteY5" fmla="*/ 827772 h 1447715"/>
              <a:gd name="connsiteX0" fmla="*/ 327259 w 2412827"/>
              <a:gd name="connsiteY0" fmla="*/ 0 h 1456903"/>
              <a:gd name="connsiteX1" fmla="*/ 346510 w 2412827"/>
              <a:gd name="connsiteY1" fmla="*/ 1164656 h 1456903"/>
              <a:gd name="connsiteX2" fmla="*/ 2233061 w 2412827"/>
              <a:gd name="connsiteY2" fmla="*/ 1405288 h 1456903"/>
              <a:gd name="connsiteX3" fmla="*/ 2040556 w 2412827"/>
              <a:gd name="connsiteY3" fmla="*/ 481264 h 1456903"/>
              <a:gd name="connsiteX4" fmla="*/ 375386 w 2412827"/>
              <a:gd name="connsiteY4" fmla="*/ 404261 h 1456903"/>
              <a:gd name="connsiteX5" fmla="*/ 0 w 2412827"/>
              <a:gd name="connsiteY5" fmla="*/ 827772 h 1456903"/>
              <a:gd name="connsiteX0" fmla="*/ 327259 w 2460260"/>
              <a:gd name="connsiteY0" fmla="*/ 0 h 1459734"/>
              <a:gd name="connsiteX1" fmla="*/ 346510 w 2460260"/>
              <a:gd name="connsiteY1" fmla="*/ 1164656 h 1459734"/>
              <a:gd name="connsiteX2" fmla="*/ 2233061 w 2460260"/>
              <a:gd name="connsiteY2" fmla="*/ 1405288 h 1459734"/>
              <a:gd name="connsiteX3" fmla="*/ 2136808 w 2460260"/>
              <a:gd name="connsiteY3" fmla="*/ 442763 h 1459734"/>
              <a:gd name="connsiteX4" fmla="*/ 375386 w 2460260"/>
              <a:gd name="connsiteY4" fmla="*/ 404261 h 1459734"/>
              <a:gd name="connsiteX5" fmla="*/ 0 w 2460260"/>
              <a:gd name="connsiteY5" fmla="*/ 827772 h 1459734"/>
              <a:gd name="connsiteX0" fmla="*/ 327259 w 2492652"/>
              <a:gd name="connsiteY0" fmla="*/ 0 h 1453367"/>
              <a:gd name="connsiteX1" fmla="*/ 346510 w 2492652"/>
              <a:gd name="connsiteY1" fmla="*/ 1164656 h 1453367"/>
              <a:gd name="connsiteX2" fmla="*/ 2233061 w 2492652"/>
              <a:gd name="connsiteY2" fmla="*/ 1405288 h 1453367"/>
              <a:gd name="connsiteX3" fmla="*/ 2194560 w 2492652"/>
              <a:gd name="connsiteY3" fmla="*/ 529390 h 1453367"/>
              <a:gd name="connsiteX4" fmla="*/ 375386 w 2492652"/>
              <a:gd name="connsiteY4" fmla="*/ 404261 h 1453367"/>
              <a:gd name="connsiteX5" fmla="*/ 0 w 2492652"/>
              <a:gd name="connsiteY5" fmla="*/ 827772 h 1453367"/>
              <a:gd name="connsiteX0" fmla="*/ 335016 w 2500409"/>
              <a:gd name="connsiteY0" fmla="*/ 0 h 1453367"/>
              <a:gd name="connsiteX1" fmla="*/ 354267 w 2500409"/>
              <a:gd name="connsiteY1" fmla="*/ 1164656 h 1453367"/>
              <a:gd name="connsiteX2" fmla="*/ 2240818 w 2500409"/>
              <a:gd name="connsiteY2" fmla="*/ 1405288 h 1453367"/>
              <a:gd name="connsiteX3" fmla="*/ 2202317 w 2500409"/>
              <a:gd name="connsiteY3" fmla="*/ 529390 h 1453367"/>
              <a:gd name="connsiteX4" fmla="*/ 383143 w 2500409"/>
              <a:gd name="connsiteY4" fmla="*/ 404261 h 1453367"/>
              <a:gd name="connsiteX5" fmla="*/ 7757 w 2500409"/>
              <a:gd name="connsiteY5" fmla="*/ 827772 h 1453367"/>
              <a:gd name="connsiteX0" fmla="*/ 335016 w 2500409"/>
              <a:gd name="connsiteY0" fmla="*/ 0 h 1453367"/>
              <a:gd name="connsiteX1" fmla="*/ 354267 w 2500409"/>
              <a:gd name="connsiteY1" fmla="*/ 1164656 h 1453367"/>
              <a:gd name="connsiteX2" fmla="*/ 2240818 w 2500409"/>
              <a:gd name="connsiteY2" fmla="*/ 1405288 h 1453367"/>
              <a:gd name="connsiteX3" fmla="*/ 2202317 w 2500409"/>
              <a:gd name="connsiteY3" fmla="*/ 529390 h 1453367"/>
              <a:gd name="connsiteX4" fmla="*/ 383143 w 2500409"/>
              <a:gd name="connsiteY4" fmla="*/ 404261 h 1453367"/>
              <a:gd name="connsiteX5" fmla="*/ 7757 w 2500409"/>
              <a:gd name="connsiteY5" fmla="*/ 827772 h 1453367"/>
              <a:gd name="connsiteX0" fmla="*/ 335016 w 2500409"/>
              <a:gd name="connsiteY0" fmla="*/ 0 h 1446779"/>
              <a:gd name="connsiteX1" fmla="*/ 354267 w 2500409"/>
              <a:gd name="connsiteY1" fmla="*/ 1164656 h 1446779"/>
              <a:gd name="connsiteX2" fmla="*/ 2240818 w 2500409"/>
              <a:gd name="connsiteY2" fmla="*/ 1405288 h 1446779"/>
              <a:gd name="connsiteX3" fmla="*/ 2202317 w 2500409"/>
              <a:gd name="connsiteY3" fmla="*/ 529390 h 1446779"/>
              <a:gd name="connsiteX4" fmla="*/ 383143 w 2500409"/>
              <a:gd name="connsiteY4" fmla="*/ 404261 h 1446779"/>
              <a:gd name="connsiteX5" fmla="*/ 7757 w 2500409"/>
              <a:gd name="connsiteY5" fmla="*/ 827772 h 1446779"/>
              <a:gd name="connsiteX0" fmla="*/ 335016 w 2500409"/>
              <a:gd name="connsiteY0" fmla="*/ 0 h 1470128"/>
              <a:gd name="connsiteX1" fmla="*/ 354267 w 2500409"/>
              <a:gd name="connsiteY1" fmla="*/ 1241658 h 1470128"/>
              <a:gd name="connsiteX2" fmla="*/ 2240818 w 2500409"/>
              <a:gd name="connsiteY2" fmla="*/ 1405288 h 1470128"/>
              <a:gd name="connsiteX3" fmla="*/ 2202317 w 2500409"/>
              <a:gd name="connsiteY3" fmla="*/ 529390 h 1470128"/>
              <a:gd name="connsiteX4" fmla="*/ 383143 w 2500409"/>
              <a:gd name="connsiteY4" fmla="*/ 404261 h 1470128"/>
              <a:gd name="connsiteX5" fmla="*/ 7757 w 2500409"/>
              <a:gd name="connsiteY5" fmla="*/ 827772 h 1470128"/>
              <a:gd name="connsiteX0" fmla="*/ 335016 w 2454036"/>
              <a:gd name="connsiteY0" fmla="*/ 0 h 1385522"/>
              <a:gd name="connsiteX1" fmla="*/ 354267 w 2454036"/>
              <a:gd name="connsiteY1" fmla="*/ 1241658 h 1385522"/>
              <a:gd name="connsiteX2" fmla="*/ 2240818 w 2454036"/>
              <a:gd name="connsiteY2" fmla="*/ 1280159 h 1385522"/>
              <a:gd name="connsiteX3" fmla="*/ 2202317 w 2454036"/>
              <a:gd name="connsiteY3" fmla="*/ 529390 h 1385522"/>
              <a:gd name="connsiteX4" fmla="*/ 383143 w 2454036"/>
              <a:gd name="connsiteY4" fmla="*/ 404261 h 1385522"/>
              <a:gd name="connsiteX5" fmla="*/ 7757 w 2454036"/>
              <a:gd name="connsiteY5" fmla="*/ 827772 h 1385522"/>
              <a:gd name="connsiteX0" fmla="*/ 335016 w 2454036"/>
              <a:gd name="connsiteY0" fmla="*/ 0 h 1396816"/>
              <a:gd name="connsiteX1" fmla="*/ 354267 w 2454036"/>
              <a:gd name="connsiteY1" fmla="*/ 1241658 h 1396816"/>
              <a:gd name="connsiteX2" fmla="*/ 2240818 w 2454036"/>
              <a:gd name="connsiteY2" fmla="*/ 1280159 h 1396816"/>
              <a:gd name="connsiteX3" fmla="*/ 2202317 w 2454036"/>
              <a:gd name="connsiteY3" fmla="*/ 529390 h 1396816"/>
              <a:gd name="connsiteX4" fmla="*/ 383143 w 2454036"/>
              <a:gd name="connsiteY4" fmla="*/ 404261 h 1396816"/>
              <a:gd name="connsiteX5" fmla="*/ 7757 w 2454036"/>
              <a:gd name="connsiteY5" fmla="*/ 827772 h 1396816"/>
              <a:gd name="connsiteX0" fmla="*/ 335016 w 2454036"/>
              <a:gd name="connsiteY0" fmla="*/ 0 h 1400653"/>
              <a:gd name="connsiteX1" fmla="*/ 354267 w 2454036"/>
              <a:gd name="connsiteY1" fmla="*/ 1241658 h 1400653"/>
              <a:gd name="connsiteX2" fmla="*/ 2240818 w 2454036"/>
              <a:gd name="connsiteY2" fmla="*/ 1280159 h 1400653"/>
              <a:gd name="connsiteX3" fmla="*/ 2202317 w 2454036"/>
              <a:gd name="connsiteY3" fmla="*/ 529390 h 1400653"/>
              <a:gd name="connsiteX4" fmla="*/ 383143 w 2454036"/>
              <a:gd name="connsiteY4" fmla="*/ 404261 h 1400653"/>
              <a:gd name="connsiteX5" fmla="*/ 7757 w 2454036"/>
              <a:gd name="connsiteY5" fmla="*/ 827772 h 1400653"/>
              <a:gd name="connsiteX0" fmla="*/ 335016 w 2449600"/>
              <a:gd name="connsiteY0" fmla="*/ 0 h 1378270"/>
              <a:gd name="connsiteX1" fmla="*/ 421644 w 2449600"/>
              <a:gd name="connsiteY1" fmla="*/ 1203157 h 1378270"/>
              <a:gd name="connsiteX2" fmla="*/ 2240818 w 2449600"/>
              <a:gd name="connsiteY2" fmla="*/ 1280159 h 1378270"/>
              <a:gd name="connsiteX3" fmla="*/ 2202317 w 2449600"/>
              <a:gd name="connsiteY3" fmla="*/ 529390 h 1378270"/>
              <a:gd name="connsiteX4" fmla="*/ 383143 w 2449600"/>
              <a:gd name="connsiteY4" fmla="*/ 404261 h 1378270"/>
              <a:gd name="connsiteX5" fmla="*/ 7757 w 2449600"/>
              <a:gd name="connsiteY5" fmla="*/ 827772 h 13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9600" h="1378270">
                <a:moveTo>
                  <a:pt x="335016" y="0"/>
                </a:moveTo>
                <a:cubicBezTo>
                  <a:pt x="339828" y="527785"/>
                  <a:pt x="325391" y="951296"/>
                  <a:pt x="421644" y="1203157"/>
                </a:cubicBezTo>
                <a:cubicBezTo>
                  <a:pt x="517897" y="1455018"/>
                  <a:pt x="1944039" y="1392453"/>
                  <a:pt x="2240818" y="1280159"/>
                </a:cubicBezTo>
                <a:cubicBezTo>
                  <a:pt x="2537597" y="1167865"/>
                  <a:pt x="2511930" y="675373"/>
                  <a:pt x="2202317" y="529390"/>
                </a:cubicBezTo>
                <a:cubicBezTo>
                  <a:pt x="1892705" y="383407"/>
                  <a:pt x="864406" y="364156"/>
                  <a:pt x="383143" y="404261"/>
                </a:cubicBezTo>
                <a:cubicBezTo>
                  <a:pt x="-98120" y="444366"/>
                  <a:pt x="12570" y="648903"/>
                  <a:pt x="7757" y="827772"/>
                </a:cubicBezTo>
              </a:path>
            </a:pathLst>
          </a:custGeom>
          <a:noFill/>
          <a:ln w="57150" cmpd="sng">
            <a:solidFill>
              <a:srgbClr val="7030A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8DE6DB9-6D58-FA47-9455-0190BE0F1697}"/>
              </a:ext>
            </a:extLst>
          </p:cNvPr>
          <p:cNvSpPr txBox="1"/>
          <p:nvPr/>
        </p:nvSpPr>
        <p:spPr>
          <a:xfrm>
            <a:off x="3770180" y="963667"/>
            <a:ext cx="4648201" cy="769441"/>
          </a:xfrm>
          <a:prstGeom prst="rect">
            <a:avLst/>
          </a:prstGeom>
          <a:noFill/>
        </p:spPr>
        <p:txBody>
          <a:bodyPr wrap="square" rtlCol="0">
            <a:spAutoFit/>
          </a:bodyPr>
          <a:lstStyle/>
          <a:p>
            <a:pPr algn="ctr"/>
            <a:r>
              <a:rPr lang="en-US" sz="2200" dirty="0"/>
              <a:t>if we consider </a:t>
            </a:r>
            <a:r>
              <a:rPr lang="en-US" sz="2200" b="1" dirty="0"/>
              <a:t>all possible paths </a:t>
            </a:r>
            <a:r>
              <a:rPr lang="en-US" sz="2200" dirty="0"/>
              <a:t>that take us to the condition…</a:t>
            </a:r>
          </a:p>
        </p:txBody>
      </p:sp>
      <p:sp>
        <p:nvSpPr>
          <p:cNvPr id="18" name="TextBox 17">
            <a:extLst>
              <a:ext uri="{FF2B5EF4-FFF2-40B4-BE49-F238E27FC236}">
                <a16:creationId xmlns:a16="http://schemas.microsoft.com/office/drawing/2014/main" id="{3B7C96C9-D29D-1245-A337-37F1226F3583}"/>
              </a:ext>
            </a:extLst>
          </p:cNvPr>
          <p:cNvSpPr txBox="1"/>
          <p:nvPr/>
        </p:nvSpPr>
        <p:spPr>
          <a:xfrm>
            <a:off x="4022015" y="1979112"/>
            <a:ext cx="5045782" cy="769441"/>
          </a:xfrm>
          <a:prstGeom prst="rect">
            <a:avLst/>
          </a:prstGeom>
          <a:noFill/>
        </p:spPr>
        <p:txBody>
          <a:bodyPr wrap="square" rtlCol="0">
            <a:spAutoFit/>
          </a:bodyPr>
          <a:lstStyle/>
          <a:p>
            <a:pPr algn="ctr"/>
            <a:r>
              <a:rPr lang="en-US" sz="2200" dirty="0"/>
              <a:t>then we can see that the </a:t>
            </a:r>
            <a:r>
              <a:rPr lang="en-US" sz="2200" b="1" dirty="0"/>
              <a:t>only possible value </a:t>
            </a:r>
            <a:r>
              <a:rPr lang="en-US" sz="2200" dirty="0"/>
              <a:t>for </a:t>
            </a:r>
            <a:r>
              <a:rPr lang="en-US" sz="2200" b="1" dirty="0">
                <a:latin typeface="Consolas" panose="020B0609020204030204" pitchFamily="49" charset="0"/>
                <a:cs typeface="Consolas" panose="020B0609020204030204" pitchFamily="49" charset="0"/>
              </a:rPr>
              <a:t>x</a:t>
            </a:r>
            <a:r>
              <a:rPr lang="en-US" sz="2200" b="1" dirty="0"/>
              <a:t> </a:t>
            </a:r>
            <a:r>
              <a:rPr lang="en-US" sz="2200" dirty="0"/>
              <a:t>is the constant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dirty="0"/>
              <a:t>.</a:t>
            </a:r>
          </a:p>
        </p:txBody>
      </p:sp>
      <p:sp>
        <p:nvSpPr>
          <p:cNvPr id="19" name="TextBox 18">
            <a:extLst>
              <a:ext uri="{FF2B5EF4-FFF2-40B4-BE49-F238E27FC236}">
                <a16:creationId xmlns:a16="http://schemas.microsoft.com/office/drawing/2014/main" id="{FED69240-5E5A-3E42-A207-C8BF27A62F3A}"/>
              </a:ext>
            </a:extLst>
          </p:cNvPr>
          <p:cNvSpPr txBox="1"/>
          <p:nvPr/>
        </p:nvSpPr>
        <p:spPr>
          <a:xfrm>
            <a:off x="2819401" y="2897683"/>
            <a:ext cx="5257800" cy="1107996"/>
          </a:xfrm>
          <a:prstGeom prst="rect">
            <a:avLst/>
          </a:prstGeom>
          <a:noFill/>
        </p:spPr>
        <p:txBody>
          <a:bodyPr wrap="square" rtlCol="0">
            <a:spAutoFit/>
          </a:bodyPr>
          <a:lstStyle/>
          <a:p>
            <a:pPr algn="ctr"/>
            <a:r>
              <a:rPr lang="en-US" sz="2200" dirty="0"/>
              <a:t>we could give an error (or warning) about the condition, or tell them that this last piece of code is </a:t>
            </a:r>
            <a:r>
              <a:rPr lang="en-US" sz="2200" b="1" dirty="0"/>
              <a:t>unreachable.</a:t>
            </a:r>
            <a:endParaRPr lang="en-US" sz="2200" dirty="0"/>
          </a:p>
        </p:txBody>
      </p:sp>
      <p:cxnSp>
        <p:nvCxnSpPr>
          <p:cNvPr id="20" name="Straight Arrow Connector 19">
            <a:extLst>
              <a:ext uri="{FF2B5EF4-FFF2-40B4-BE49-F238E27FC236}">
                <a16:creationId xmlns:a16="http://schemas.microsoft.com/office/drawing/2014/main" id="{373E9CFC-DD9A-E546-BADB-E122A7139501}"/>
              </a:ext>
            </a:extLst>
          </p:cNvPr>
          <p:cNvCxnSpPr>
            <a:cxnSpLocks/>
          </p:cNvCxnSpPr>
          <p:nvPr/>
        </p:nvCxnSpPr>
        <p:spPr>
          <a:xfrm flipH="1" flipV="1">
            <a:off x="2088682" y="3291840"/>
            <a:ext cx="943276" cy="4235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4382E83-3C6B-8447-9C62-4B95E936D668}"/>
              </a:ext>
            </a:extLst>
          </p:cNvPr>
          <p:cNvSpPr txBox="1"/>
          <p:nvPr/>
        </p:nvSpPr>
        <p:spPr>
          <a:xfrm>
            <a:off x="579210" y="4211393"/>
            <a:ext cx="7985580" cy="769441"/>
          </a:xfrm>
          <a:prstGeom prst="rect">
            <a:avLst/>
          </a:prstGeom>
          <a:noFill/>
        </p:spPr>
        <p:txBody>
          <a:bodyPr wrap="square" rtlCol="0">
            <a:spAutoFit/>
          </a:bodyPr>
          <a:lstStyle/>
          <a:p>
            <a:pPr algn="ctr"/>
            <a:r>
              <a:rPr lang="en-US" sz="2200" dirty="0"/>
              <a:t>this sort of algorithm is crucial for detecting subtle bugs, doing certain kinds of semantic analysis, and generating better code.</a:t>
            </a:r>
          </a:p>
        </p:txBody>
      </p:sp>
    </p:spTree>
    <p:extLst>
      <p:ext uri="{BB962C8B-B14F-4D97-AF65-F5344CB8AC3E}">
        <p14:creationId xmlns:p14="http://schemas.microsoft.com/office/powerpoint/2010/main" val="38011743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BF6D-C290-D347-8E54-52DD3A325917}"/>
              </a:ext>
            </a:extLst>
          </p:cNvPr>
          <p:cNvSpPr>
            <a:spLocks noGrp="1"/>
          </p:cNvSpPr>
          <p:nvPr>
            <p:ph type="ctrTitle"/>
          </p:nvPr>
        </p:nvSpPr>
        <p:spPr>
          <a:xfrm>
            <a:off x="685800" y="1714501"/>
            <a:ext cx="8077200" cy="1225021"/>
          </a:xfrm>
        </p:spPr>
        <p:txBody>
          <a:bodyPr/>
          <a:lstStyle/>
          <a:p>
            <a:r>
              <a:rPr lang="en-US" dirty="0"/>
              <a:t>Intermediate Representation (IR)</a:t>
            </a:r>
          </a:p>
        </p:txBody>
      </p:sp>
      <p:sp>
        <p:nvSpPr>
          <p:cNvPr id="3" name="Slide Number Placeholder 2">
            <a:extLst>
              <a:ext uri="{FF2B5EF4-FFF2-40B4-BE49-F238E27FC236}">
                <a16:creationId xmlns:a16="http://schemas.microsoft.com/office/drawing/2014/main" id="{967CF398-403B-8947-B222-7616E24018C5}"/>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107060291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D293-F59E-4545-B713-590B41F18CB8}"/>
              </a:ext>
            </a:extLst>
          </p:cNvPr>
          <p:cNvSpPr>
            <a:spLocks noGrp="1"/>
          </p:cNvSpPr>
          <p:nvPr>
            <p:ph type="title"/>
          </p:nvPr>
        </p:nvSpPr>
        <p:spPr/>
        <p:txBody>
          <a:bodyPr/>
          <a:lstStyle/>
          <a:p>
            <a:r>
              <a:rPr lang="en-US" dirty="0"/>
              <a:t>Real languages are a lot bigger.</a:t>
            </a:r>
          </a:p>
        </p:txBody>
      </p:sp>
      <p:sp>
        <p:nvSpPr>
          <p:cNvPr id="3" name="Content Placeholder 2">
            <a:extLst>
              <a:ext uri="{FF2B5EF4-FFF2-40B4-BE49-F238E27FC236}">
                <a16:creationId xmlns:a16="http://schemas.microsoft.com/office/drawing/2014/main" id="{6664EF2A-E980-124F-9D2A-BF5EF69DCDE9}"/>
              </a:ext>
            </a:extLst>
          </p:cNvPr>
          <p:cNvSpPr>
            <a:spLocks noGrp="1"/>
          </p:cNvSpPr>
          <p:nvPr>
            <p:ph idx="1"/>
          </p:nvPr>
        </p:nvSpPr>
        <p:spPr>
          <a:xfrm>
            <a:off x="152400" y="495301"/>
            <a:ext cx="8991600" cy="838199"/>
          </a:xfrm>
        </p:spPr>
        <p:txBody>
          <a:bodyPr/>
          <a:lstStyle/>
          <a:p>
            <a:r>
              <a:rPr lang="en-US" dirty="0"/>
              <a:t>the </a:t>
            </a:r>
            <a:r>
              <a:rPr lang="en-US" b="1" dirty="0"/>
              <a:t>AST </a:t>
            </a:r>
            <a:r>
              <a:rPr lang="en-US" dirty="0"/>
              <a:t>is an abstract representation of the </a:t>
            </a:r>
            <a:r>
              <a:rPr lang="en-US" i="1" dirty="0"/>
              <a:t>source </a:t>
            </a:r>
            <a:r>
              <a:rPr lang="en-US" dirty="0"/>
              <a:t>language.</a:t>
            </a:r>
          </a:p>
          <a:p>
            <a:r>
              <a:rPr lang="en-US" dirty="0"/>
              <a:t>but the source language can be… complicated.</a:t>
            </a:r>
          </a:p>
        </p:txBody>
      </p:sp>
      <p:sp>
        <p:nvSpPr>
          <p:cNvPr id="4" name="Slide Number Placeholder 3">
            <a:extLst>
              <a:ext uri="{FF2B5EF4-FFF2-40B4-BE49-F238E27FC236}">
                <a16:creationId xmlns:a16="http://schemas.microsoft.com/office/drawing/2014/main" id="{935603B6-E1D5-C24E-AAB8-90D4DF88D95D}"/>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5" name="Rectangle 4">
            <a:extLst>
              <a:ext uri="{FF2B5EF4-FFF2-40B4-BE49-F238E27FC236}">
                <a16:creationId xmlns:a16="http://schemas.microsoft.com/office/drawing/2014/main" id="{18B9D7D4-4409-B342-A874-51C4DC75BAED}"/>
              </a:ext>
            </a:extLst>
          </p:cNvPr>
          <p:cNvSpPr/>
          <p:nvPr/>
        </p:nvSpPr>
        <p:spPr>
          <a:xfrm rot="21198754">
            <a:off x="627529" y="1456577"/>
            <a:ext cx="3913646" cy="430887"/>
          </a:xfrm>
          <a:prstGeom prst="rect">
            <a:avLst/>
          </a:prstGeom>
        </p:spPr>
        <p:txBody>
          <a:bodyPr wrap="square">
            <a:spAutoFit/>
          </a:bodyPr>
          <a:lstStyle/>
          <a:p>
            <a:pPr algn="ctr"/>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cond</a:t>
            </a:r>
            <a:r>
              <a:rPr lang="en-US" sz="2200" b="1" dirty="0">
                <a:latin typeface="Consolas" panose="020B0609020204030204" pitchFamily="49" charset="0"/>
                <a:cs typeface="Consolas" panose="020B0609020204030204" pitchFamily="49" charset="0"/>
              </a:rPr>
              <a:t>){ … }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 … }</a:t>
            </a:r>
          </a:p>
        </p:txBody>
      </p:sp>
      <p:sp>
        <p:nvSpPr>
          <p:cNvPr id="6" name="Rectangle 5">
            <a:extLst>
              <a:ext uri="{FF2B5EF4-FFF2-40B4-BE49-F238E27FC236}">
                <a16:creationId xmlns:a16="http://schemas.microsoft.com/office/drawing/2014/main" id="{011FE1D9-BC68-9044-A84F-49752D41D05B}"/>
              </a:ext>
            </a:extLst>
          </p:cNvPr>
          <p:cNvSpPr/>
          <p:nvPr/>
        </p:nvSpPr>
        <p:spPr>
          <a:xfrm rot="1124029">
            <a:off x="4769838" y="1869592"/>
            <a:ext cx="3539748" cy="430887"/>
          </a:xfrm>
          <a:prstGeom prst="rect">
            <a:avLst/>
          </a:prstGeom>
        </p:spPr>
        <p:txBody>
          <a:bodyPr wrap="square">
            <a:spAutoFit/>
          </a:bodyPr>
          <a:lstStyle/>
          <a:p>
            <a:pPr algn="ctr"/>
            <a:r>
              <a:rPr lang="en-US" sz="2200" b="1" dirty="0">
                <a:solidFill>
                  <a:srgbClr val="FF0000"/>
                </a:solidFill>
                <a:latin typeface="Consolas" panose="020B0609020204030204" pitchFamily="49" charset="0"/>
                <a:cs typeface="Consolas" panose="020B0609020204030204" pitchFamily="49" charset="0"/>
              </a:rPr>
              <a:t>switch</a:t>
            </a:r>
            <a:r>
              <a:rPr lang="en-US" sz="2200" b="1" dirty="0">
                <a:latin typeface="Consolas" panose="020B0609020204030204" pitchFamily="49" charset="0"/>
                <a:cs typeface="Consolas" panose="020B0609020204030204" pitchFamily="49" charset="0"/>
              </a:rPr>
              <a:t>(x){ </a:t>
            </a:r>
            <a:r>
              <a:rPr lang="en-US" sz="2200" b="1" dirty="0">
                <a:solidFill>
                  <a:srgbClr val="FF0000"/>
                </a:solidFill>
                <a:latin typeface="Consolas" panose="020B0609020204030204" pitchFamily="49" charset="0"/>
                <a:cs typeface="Consolas" panose="020B0609020204030204" pitchFamily="49" charset="0"/>
              </a:rPr>
              <a:t>case</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a:t>
            </a:r>
          </a:p>
        </p:txBody>
      </p:sp>
      <p:sp>
        <p:nvSpPr>
          <p:cNvPr id="7" name="Rectangle 6">
            <a:extLst>
              <a:ext uri="{FF2B5EF4-FFF2-40B4-BE49-F238E27FC236}">
                <a16:creationId xmlns:a16="http://schemas.microsoft.com/office/drawing/2014/main" id="{A3BA8AB6-56A5-6D41-B836-BA509825AE54}"/>
              </a:ext>
            </a:extLst>
          </p:cNvPr>
          <p:cNvSpPr/>
          <p:nvPr/>
        </p:nvSpPr>
        <p:spPr>
          <a:xfrm rot="240551">
            <a:off x="2372505" y="1999544"/>
            <a:ext cx="2438400" cy="430887"/>
          </a:xfrm>
          <a:prstGeom prst="rect">
            <a:avLst/>
          </a:prstGeom>
        </p:spPr>
        <p:txBody>
          <a:bodyPr wrap="square">
            <a:spAutoFit/>
          </a:bodyPr>
          <a:lstStyle/>
          <a:p>
            <a:pPr algn="ctr"/>
            <a:r>
              <a:rPr lang="en-US" sz="2200" b="1" dirty="0">
                <a:solidFill>
                  <a:srgbClr val="FF0000"/>
                </a:solidFill>
                <a:latin typeface="Consolas" panose="020B0609020204030204" pitchFamily="49" charset="0"/>
                <a:cs typeface="Consolas" panose="020B0609020204030204" pitchFamily="49" charset="0"/>
              </a:rPr>
              <a:t>class </a:t>
            </a:r>
            <a:r>
              <a:rPr lang="en-US" sz="2200" b="1" dirty="0">
                <a:latin typeface="Consolas" panose="020B0609020204030204" pitchFamily="49" charset="0"/>
                <a:cs typeface="Consolas" panose="020B0609020204030204" pitchFamily="49" charset="0"/>
              </a:rPr>
              <a:t>A { … }</a:t>
            </a:r>
          </a:p>
        </p:txBody>
      </p:sp>
      <p:sp>
        <p:nvSpPr>
          <p:cNvPr id="8" name="Rectangle 7">
            <a:extLst>
              <a:ext uri="{FF2B5EF4-FFF2-40B4-BE49-F238E27FC236}">
                <a16:creationId xmlns:a16="http://schemas.microsoft.com/office/drawing/2014/main" id="{41703CCA-C38F-054C-A353-86D7E6847A69}"/>
              </a:ext>
            </a:extLst>
          </p:cNvPr>
          <p:cNvSpPr/>
          <p:nvPr/>
        </p:nvSpPr>
        <p:spPr>
          <a:xfrm rot="21193187">
            <a:off x="3135659" y="2633297"/>
            <a:ext cx="3996948" cy="430887"/>
          </a:xfrm>
          <a:prstGeom prst="rect">
            <a:avLst/>
          </a:prstGeom>
        </p:spPr>
        <p:txBody>
          <a:bodyPr wrap="square">
            <a:spAutoFit/>
          </a:bodyPr>
          <a:lstStyle/>
          <a:p>
            <a:pPr algn="ctr"/>
            <a:r>
              <a:rPr lang="en-US" sz="2200" b="1" dirty="0">
                <a:solidFill>
                  <a:srgbClr val="FF0000"/>
                </a:solidFill>
                <a:latin typeface="Consolas" panose="020B0609020204030204" pitchFamily="49" charset="0"/>
                <a:cs typeface="Consolas" panose="020B0609020204030204" pitchFamily="49" charset="0"/>
              </a:rPr>
              <a:t>try</a:t>
            </a:r>
            <a:r>
              <a:rPr lang="en-US" sz="2200" b="1" dirty="0">
                <a:latin typeface="Consolas" panose="020B0609020204030204" pitchFamily="49" charset="0"/>
                <a:cs typeface="Consolas" panose="020B0609020204030204" pitchFamily="49" charset="0"/>
              </a:rPr>
              <a:t> { … } </a:t>
            </a:r>
            <a:r>
              <a:rPr lang="en-US" sz="2200" b="1" dirty="0">
                <a:solidFill>
                  <a:srgbClr val="FF0000"/>
                </a:solidFill>
                <a:latin typeface="Consolas" panose="020B0609020204030204" pitchFamily="49" charset="0"/>
                <a:cs typeface="Consolas" panose="020B0609020204030204" pitchFamily="49" charset="0"/>
              </a:rPr>
              <a:t>catch</a:t>
            </a:r>
            <a:r>
              <a:rPr lang="en-US" sz="2200" b="1" dirty="0">
                <a:latin typeface="Consolas" panose="020B0609020204030204" pitchFamily="49" charset="0"/>
                <a:cs typeface="Consolas" panose="020B0609020204030204" pitchFamily="49" charset="0"/>
              </a:rPr>
              <a:t>(e) { … }</a:t>
            </a:r>
          </a:p>
        </p:txBody>
      </p:sp>
      <p:sp>
        <p:nvSpPr>
          <p:cNvPr id="9" name="Rectangle 8">
            <a:extLst>
              <a:ext uri="{FF2B5EF4-FFF2-40B4-BE49-F238E27FC236}">
                <a16:creationId xmlns:a16="http://schemas.microsoft.com/office/drawing/2014/main" id="{D1137B79-697D-024D-A2A8-057A55A8F326}"/>
              </a:ext>
            </a:extLst>
          </p:cNvPr>
          <p:cNvSpPr/>
          <p:nvPr/>
        </p:nvSpPr>
        <p:spPr>
          <a:xfrm rot="568982">
            <a:off x="591219" y="2407095"/>
            <a:ext cx="2590802" cy="430887"/>
          </a:xfrm>
          <a:prstGeom prst="rect">
            <a:avLst/>
          </a:prstGeom>
        </p:spPr>
        <p:txBody>
          <a:bodyPr wrap="square">
            <a:spAutoFit/>
          </a:bodyPr>
          <a:lstStyle/>
          <a:p>
            <a:pPr algn="ct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 }</a:t>
            </a:r>
          </a:p>
        </p:txBody>
      </p:sp>
      <p:sp>
        <p:nvSpPr>
          <p:cNvPr id="10" name="Rectangle 9">
            <a:extLst>
              <a:ext uri="{FF2B5EF4-FFF2-40B4-BE49-F238E27FC236}">
                <a16:creationId xmlns:a16="http://schemas.microsoft.com/office/drawing/2014/main" id="{2858731A-2D02-A248-B73D-830F8F0EF4EA}"/>
              </a:ext>
            </a:extLst>
          </p:cNvPr>
          <p:cNvSpPr/>
          <p:nvPr/>
        </p:nvSpPr>
        <p:spPr>
          <a:xfrm rot="21232287">
            <a:off x="381000" y="3125739"/>
            <a:ext cx="2625354" cy="430887"/>
          </a:xfrm>
          <a:prstGeom prst="rect">
            <a:avLst/>
          </a:prstGeom>
        </p:spPr>
        <p:txBody>
          <a:bodyPr wrap="square">
            <a:spAutoFit/>
          </a:bodyPr>
          <a:lstStyle/>
          <a:p>
            <a:pPr algn="ctr"/>
            <a:r>
              <a:rPr lang="en-US" sz="2200" b="1" dirty="0" err="1">
                <a:latin typeface="Consolas" panose="020B0609020204030204" pitchFamily="49" charset="0"/>
                <a:cs typeface="Consolas" panose="020B0609020204030204" pitchFamily="49" charset="0"/>
              </a:rPr>
              <a:t>A.f</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].m();</a:t>
            </a:r>
          </a:p>
        </p:txBody>
      </p:sp>
      <p:sp>
        <p:nvSpPr>
          <p:cNvPr id="11" name="Rectangle 10">
            <a:extLst>
              <a:ext uri="{FF2B5EF4-FFF2-40B4-BE49-F238E27FC236}">
                <a16:creationId xmlns:a16="http://schemas.microsoft.com/office/drawing/2014/main" id="{7F5C6900-47E6-7741-870C-6AA57B02A7D9}"/>
              </a:ext>
            </a:extLst>
          </p:cNvPr>
          <p:cNvSpPr/>
          <p:nvPr/>
        </p:nvSpPr>
        <p:spPr>
          <a:xfrm rot="20730958">
            <a:off x="4936039" y="3009968"/>
            <a:ext cx="2625354" cy="430887"/>
          </a:xfrm>
          <a:prstGeom prst="rect">
            <a:avLst/>
          </a:prstGeom>
        </p:spPr>
        <p:txBody>
          <a:bodyPr wrap="square">
            <a:spAutoFit/>
          </a:bodyPr>
          <a:lstStyle/>
          <a:p>
            <a:pPr algn="ctr"/>
            <a:r>
              <a:rPr lang="en-US" sz="2200" b="1" dirty="0">
                <a:latin typeface="Consolas" panose="020B0609020204030204" pitchFamily="49" charset="0"/>
                <a:cs typeface="Consolas" panose="020B0609020204030204" pitchFamily="49" charset="0"/>
              </a:rPr>
              <a:t>(x, y) -&gt; x + y</a:t>
            </a:r>
          </a:p>
        </p:txBody>
      </p:sp>
      <p:sp>
        <p:nvSpPr>
          <p:cNvPr id="12" name="Rectangle 11">
            <a:extLst>
              <a:ext uri="{FF2B5EF4-FFF2-40B4-BE49-F238E27FC236}">
                <a16:creationId xmlns:a16="http://schemas.microsoft.com/office/drawing/2014/main" id="{F7C67E08-BCE9-BB4E-9AA1-7E52C79FC6C6}"/>
              </a:ext>
            </a:extLst>
          </p:cNvPr>
          <p:cNvSpPr/>
          <p:nvPr/>
        </p:nvSpPr>
        <p:spPr>
          <a:xfrm rot="660224">
            <a:off x="2660187" y="3520146"/>
            <a:ext cx="2625354" cy="430887"/>
          </a:xfrm>
          <a:prstGeom prst="rect">
            <a:avLst/>
          </a:prstGeom>
        </p:spPr>
        <p:txBody>
          <a:bodyPr wrap="square">
            <a:spAutoFit/>
          </a:bodyPr>
          <a:lstStyle/>
          <a:p>
            <a:pPr algn="ctr"/>
            <a:r>
              <a:rPr lang="en-US" sz="2200" b="1" dirty="0">
                <a:latin typeface="Consolas" panose="020B0609020204030204" pitchFamily="49" charset="0"/>
                <a:cs typeface="Consolas" panose="020B0609020204030204" pitchFamily="49" charset="0"/>
              </a:rPr>
              <a:t>@Override</a:t>
            </a:r>
          </a:p>
        </p:txBody>
      </p:sp>
      <p:sp>
        <p:nvSpPr>
          <p:cNvPr id="13" name="Rectangle 12">
            <a:extLst>
              <a:ext uri="{FF2B5EF4-FFF2-40B4-BE49-F238E27FC236}">
                <a16:creationId xmlns:a16="http://schemas.microsoft.com/office/drawing/2014/main" id="{1E2F6E31-A030-484E-94A4-6FFAE4EC77CC}"/>
              </a:ext>
            </a:extLst>
          </p:cNvPr>
          <p:cNvSpPr/>
          <p:nvPr/>
        </p:nvSpPr>
        <p:spPr>
          <a:xfrm rot="20581354">
            <a:off x="355353" y="4194784"/>
            <a:ext cx="3352800" cy="430887"/>
          </a:xfrm>
          <a:prstGeom prst="rect">
            <a:avLst/>
          </a:prstGeom>
        </p:spPr>
        <p:txBody>
          <a:bodyPr wrap="square">
            <a:spAutoFit/>
          </a:bodyPr>
          <a:lstStyle/>
          <a:p>
            <a:pPr algn="ctr"/>
            <a:r>
              <a:rPr lang="en-US" sz="2200" b="1" dirty="0" err="1">
                <a:latin typeface="Consolas" panose="020B0609020204030204" pitchFamily="49" charset="0"/>
                <a:cs typeface="Consolas" panose="020B0609020204030204" pitchFamily="49" charset="0"/>
              </a:rPr>
              <a:t>ArrayList</a:t>
            </a:r>
            <a:r>
              <a:rPr lang="en-US" sz="2200" b="1" dirty="0">
                <a:latin typeface="Consolas" panose="020B0609020204030204" pitchFamily="49" charset="0"/>
                <a:cs typeface="Consolas" panose="020B0609020204030204" pitchFamily="49" charset="0"/>
              </a:rPr>
              <a:t>&lt;Integer&gt;</a:t>
            </a:r>
          </a:p>
        </p:txBody>
      </p:sp>
      <p:sp>
        <p:nvSpPr>
          <p:cNvPr id="14" name="TextBox 13">
            <a:extLst>
              <a:ext uri="{FF2B5EF4-FFF2-40B4-BE49-F238E27FC236}">
                <a16:creationId xmlns:a16="http://schemas.microsoft.com/office/drawing/2014/main" id="{69972ED3-6DCF-464E-ADB2-A879835CD9B6}"/>
              </a:ext>
            </a:extLst>
          </p:cNvPr>
          <p:cNvSpPr txBox="1"/>
          <p:nvPr/>
        </p:nvSpPr>
        <p:spPr>
          <a:xfrm>
            <a:off x="5196928" y="3822450"/>
            <a:ext cx="3767138" cy="430887"/>
          </a:xfrm>
          <a:prstGeom prst="rect">
            <a:avLst/>
          </a:prstGeom>
          <a:noFill/>
        </p:spPr>
        <p:txBody>
          <a:bodyPr wrap="square" rtlCol="0">
            <a:spAutoFit/>
          </a:bodyPr>
          <a:lstStyle/>
          <a:p>
            <a:pPr algn="ctr"/>
            <a:r>
              <a:rPr lang="en-US" sz="2200" b="1" i="1" dirty="0" err="1"/>
              <a:t>shhhHHHHHHHHHH</a:t>
            </a:r>
            <a:endParaRPr lang="en-US" sz="2200" b="1" i="1" dirty="0"/>
          </a:p>
        </p:txBody>
      </p:sp>
      <p:sp>
        <p:nvSpPr>
          <p:cNvPr id="15" name="TextBox 14">
            <a:extLst>
              <a:ext uri="{FF2B5EF4-FFF2-40B4-BE49-F238E27FC236}">
                <a16:creationId xmlns:a16="http://schemas.microsoft.com/office/drawing/2014/main" id="{A800019E-53C9-4F41-BD57-4F7AF89D1B80}"/>
              </a:ext>
            </a:extLst>
          </p:cNvPr>
          <p:cNvSpPr txBox="1"/>
          <p:nvPr/>
        </p:nvSpPr>
        <p:spPr>
          <a:xfrm>
            <a:off x="3934866" y="4448847"/>
            <a:ext cx="5029200" cy="769441"/>
          </a:xfrm>
          <a:prstGeom prst="rect">
            <a:avLst/>
          </a:prstGeom>
          <a:noFill/>
        </p:spPr>
        <p:txBody>
          <a:bodyPr wrap="square" rtlCol="0">
            <a:spAutoFit/>
          </a:bodyPr>
          <a:lstStyle/>
          <a:p>
            <a:pPr algn="ctr"/>
            <a:r>
              <a:rPr lang="en-US" sz="2200" dirty="0"/>
              <a:t>there are so many pieces of syntax! so many kinds of AST nodes! </a:t>
            </a:r>
            <a:r>
              <a:rPr lang="en-US" sz="2200" dirty="0" err="1"/>
              <a:t>aaaHHH</a:t>
            </a:r>
            <a:endParaRPr lang="en-US" sz="2200" b="1" dirty="0"/>
          </a:p>
        </p:txBody>
      </p:sp>
    </p:spTree>
    <p:extLst>
      <p:ext uri="{BB962C8B-B14F-4D97-AF65-F5344CB8AC3E}">
        <p14:creationId xmlns:p14="http://schemas.microsoft.com/office/powerpoint/2010/main" val="2163772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99B7-8CF7-EE43-80EF-28CDD76EE879}"/>
              </a:ext>
            </a:extLst>
          </p:cNvPr>
          <p:cNvSpPr>
            <a:spLocks noGrp="1"/>
          </p:cNvSpPr>
          <p:nvPr>
            <p:ph type="title"/>
          </p:nvPr>
        </p:nvSpPr>
        <p:spPr/>
        <p:txBody>
          <a:bodyPr/>
          <a:lstStyle/>
          <a:p>
            <a:r>
              <a:rPr lang="en-US" dirty="0"/>
              <a:t>Tight coupling is bad.</a:t>
            </a:r>
          </a:p>
        </p:txBody>
      </p:sp>
      <p:sp>
        <p:nvSpPr>
          <p:cNvPr id="3" name="Content Placeholder 2">
            <a:extLst>
              <a:ext uri="{FF2B5EF4-FFF2-40B4-BE49-F238E27FC236}">
                <a16:creationId xmlns:a16="http://schemas.microsoft.com/office/drawing/2014/main" id="{09E663AD-9713-854A-81AD-A450535B23D2}"/>
              </a:ext>
            </a:extLst>
          </p:cNvPr>
          <p:cNvSpPr>
            <a:spLocks noGrp="1"/>
          </p:cNvSpPr>
          <p:nvPr>
            <p:ph idx="1"/>
          </p:nvPr>
        </p:nvSpPr>
        <p:spPr>
          <a:xfrm>
            <a:off x="152400" y="495301"/>
            <a:ext cx="8991600" cy="914399"/>
          </a:xfrm>
        </p:spPr>
        <p:txBody>
          <a:bodyPr/>
          <a:lstStyle/>
          <a:p>
            <a:r>
              <a:rPr lang="en-US" dirty="0"/>
              <a:t>a </a:t>
            </a:r>
            <a:r>
              <a:rPr lang="en-US" dirty="0" err="1"/>
              <a:t>codegen</a:t>
            </a:r>
            <a:r>
              <a:rPr lang="en-US" dirty="0"/>
              <a:t> algorithm that goes directly from source AST to target machine code is also </a:t>
            </a:r>
            <a:r>
              <a:rPr lang="en-US" b="1" dirty="0"/>
              <a:t>not very flexible.</a:t>
            </a:r>
            <a:endParaRPr lang="en-US" dirty="0"/>
          </a:p>
        </p:txBody>
      </p:sp>
      <p:sp>
        <p:nvSpPr>
          <p:cNvPr id="4" name="Slide Number Placeholder 3">
            <a:extLst>
              <a:ext uri="{FF2B5EF4-FFF2-40B4-BE49-F238E27FC236}">
                <a16:creationId xmlns:a16="http://schemas.microsoft.com/office/drawing/2014/main" id="{A8741EF0-A96E-FA42-8BB5-114FA5E9BA43}"/>
              </a:ext>
            </a:extLst>
          </p:cNvPr>
          <p:cNvSpPr>
            <a:spLocks noGrp="1"/>
          </p:cNvSpPr>
          <p:nvPr>
            <p:ph type="sldNum" sz="quarter" idx="12"/>
          </p:nvPr>
        </p:nvSpPr>
        <p:spPr/>
        <p:txBody>
          <a:bodyPr/>
          <a:lstStyle/>
          <a:p>
            <a:fld id="{3552B95B-556F-44BD-91A5-D80C1B9E2BB3}" type="slidenum">
              <a:rPr lang="en-US" smtClean="0"/>
              <a:pPr/>
              <a:t>12</a:t>
            </a:fld>
            <a:endParaRPr lang="en-US"/>
          </a:p>
        </p:txBody>
      </p:sp>
      <p:grpSp>
        <p:nvGrpSpPr>
          <p:cNvPr id="13" name="Group 12">
            <a:extLst>
              <a:ext uri="{FF2B5EF4-FFF2-40B4-BE49-F238E27FC236}">
                <a16:creationId xmlns:a16="http://schemas.microsoft.com/office/drawing/2014/main" id="{54D17B56-6CBE-5B43-A047-57FF5B0C3040}"/>
              </a:ext>
            </a:extLst>
          </p:cNvPr>
          <p:cNvGrpSpPr/>
          <p:nvPr/>
        </p:nvGrpSpPr>
        <p:grpSpPr>
          <a:xfrm>
            <a:off x="1066800" y="1409700"/>
            <a:ext cx="7010399" cy="1219200"/>
            <a:chOff x="685799" y="1409700"/>
            <a:chExt cx="7010399" cy="1219200"/>
          </a:xfrm>
        </p:grpSpPr>
        <p:sp>
          <p:nvSpPr>
            <p:cNvPr id="5" name="Rounded Rectangle 4">
              <a:extLst>
                <a:ext uri="{FF2B5EF4-FFF2-40B4-BE49-F238E27FC236}">
                  <a16:creationId xmlns:a16="http://schemas.microsoft.com/office/drawing/2014/main" id="{0454012D-B244-D842-87D5-08E18B3ED8D3}"/>
                </a:ext>
              </a:extLst>
            </p:cNvPr>
            <p:cNvSpPr/>
            <p:nvPr/>
          </p:nvSpPr>
          <p:spPr>
            <a:xfrm>
              <a:off x="3158218" y="1409700"/>
              <a:ext cx="1915885" cy="121920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t>Codegen</a:t>
              </a:r>
              <a:endParaRPr lang="en-US" sz="2800" b="1" dirty="0"/>
            </a:p>
          </p:txBody>
        </p:sp>
        <p:sp>
          <p:nvSpPr>
            <p:cNvPr id="6" name="Right Arrow 5">
              <a:extLst>
                <a:ext uri="{FF2B5EF4-FFF2-40B4-BE49-F238E27FC236}">
                  <a16:creationId xmlns:a16="http://schemas.microsoft.com/office/drawing/2014/main" id="{DF0BBBAF-08C6-7A4B-84A3-AEC9235CF947}"/>
                </a:ext>
              </a:extLst>
            </p:cNvPr>
            <p:cNvSpPr/>
            <p:nvPr/>
          </p:nvSpPr>
          <p:spPr>
            <a:xfrm>
              <a:off x="2657475" y="1704998"/>
              <a:ext cx="500743" cy="62860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ight Arrow 6">
              <a:extLst>
                <a:ext uri="{FF2B5EF4-FFF2-40B4-BE49-F238E27FC236}">
                  <a16:creationId xmlns:a16="http://schemas.microsoft.com/office/drawing/2014/main" id="{3684C487-BB20-4742-8592-7BCCF80ADC31}"/>
                </a:ext>
              </a:extLst>
            </p:cNvPr>
            <p:cNvSpPr/>
            <p:nvPr/>
          </p:nvSpPr>
          <p:spPr>
            <a:xfrm>
              <a:off x="5074103" y="1704998"/>
              <a:ext cx="500743" cy="62860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TextBox 7">
              <a:extLst>
                <a:ext uri="{FF2B5EF4-FFF2-40B4-BE49-F238E27FC236}">
                  <a16:creationId xmlns:a16="http://schemas.microsoft.com/office/drawing/2014/main" id="{7F1DD767-D2B6-C343-B116-B043ED268478}"/>
                </a:ext>
              </a:extLst>
            </p:cNvPr>
            <p:cNvSpPr txBox="1"/>
            <p:nvPr/>
          </p:nvSpPr>
          <p:spPr>
            <a:xfrm>
              <a:off x="685799" y="1757689"/>
              <a:ext cx="1971675" cy="523220"/>
            </a:xfrm>
            <a:prstGeom prst="rect">
              <a:avLst/>
            </a:prstGeom>
            <a:noFill/>
          </p:spPr>
          <p:txBody>
            <a:bodyPr wrap="square" rtlCol="0">
              <a:spAutoFit/>
            </a:bodyPr>
            <a:lstStyle/>
            <a:p>
              <a:pPr algn="r"/>
              <a:r>
                <a:rPr lang="en-US" sz="2800" b="1" dirty="0"/>
                <a:t>Truss AST</a:t>
              </a:r>
            </a:p>
          </p:txBody>
        </p:sp>
        <p:sp>
          <p:nvSpPr>
            <p:cNvPr id="11" name="TextBox 10">
              <a:extLst>
                <a:ext uri="{FF2B5EF4-FFF2-40B4-BE49-F238E27FC236}">
                  <a16:creationId xmlns:a16="http://schemas.microsoft.com/office/drawing/2014/main" id="{040459E9-DED4-4D41-A4D2-F8D6B87B0109}"/>
                </a:ext>
              </a:extLst>
            </p:cNvPr>
            <p:cNvSpPr txBox="1"/>
            <p:nvPr/>
          </p:nvSpPr>
          <p:spPr>
            <a:xfrm>
              <a:off x="5574845" y="1704998"/>
              <a:ext cx="2121353" cy="523220"/>
            </a:xfrm>
            <a:prstGeom prst="rect">
              <a:avLst/>
            </a:prstGeom>
            <a:noFill/>
          </p:spPr>
          <p:txBody>
            <a:bodyPr wrap="square" rtlCol="0">
              <a:spAutoFit/>
            </a:bodyPr>
            <a:lstStyle/>
            <a:p>
              <a:r>
                <a:rPr lang="en-US" sz="2800" b="1" dirty="0"/>
                <a:t>MIPS Code</a:t>
              </a:r>
            </a:p>
          </p:txBody>
        </p:sp>
      </p:grpSp>
      <p:sp>
        <p:nvSpPr>
          <p:cNvPr id="14" name="TextBox 13">
            <a:extLst>
              <a:ext uri="{FF2B5EF4-FFF2-40B4-BE49-F238E27FC236}">
                <a16:creationId xmlns:a16="http://schemas.microsoft.com/office/drawing/2014/main" id="{89D212FF-C90A-AE4D-B7E0-A69CB59DB7FD}"/>
              </a:ext>
            </a:extLst>
          </p:cNvPr>
          <p:cNvSpPr txBox="1"/>
          <p:nvPr/>
        </p:nvSpPr>
        <p:spPr>
          <a:xfrm>
            <a:off x="171450" y="2701380"/>
            <a:ext cx="4248150" cy="1107996"/>
          </a:xfrm>
          <a:prstGeom prst="rect">
            <a:avLst/>
          </a:prstGeom>
          <a:noFill/>
        </p:spPr>
        <p:txBody>
          <a:bodyPr wrap="square" rtlCol="0">
            <a:spAutoFit/>
          </a:bodyPr>
          <a:lstStyle/>
          <a:p>
            <a:pPr algn="ctr"/>
            <a:r>
              <a:rPr lang="en-US" sz="2200" dirty="0"/>
              <a:t>what if you want to modify the source language? or change the AST representation?</a:t>
            </a:r>
            <a:endParaRPr lang="en-US" sz="2200" b="1" dirty="0"/>
          </a:p>
        </p:txBody>
      </p:sp>
      <p:sp>
        <p:nvSpPr>
          <p:cNvPr id="15" name="TextBox 14">
            <a:extLst>
              <a:ext uri="{FF2B5EF4-FFF2-40B4-BE49-F238E27FC236}">
                <a16:creationId xmlns:a16="http://schemas.microsoft.com/office/drawing/2014/main" id="{A1BCBD23-EF2E-D349-B997-CAEB9692A169}"/>
              </a:ext>
            </a:extLst>
          </p:cNvPr>
          <p:cNvSpPr txBox="1"/>
          <p:nvPr/>
        </p:nvSpPr>
        <p:spPr>
          <a:xfrm>
            <a:off x="4895850" y="2707185"/>
            <a:ext cx="4248150" cy="769441"/>
          </a:xfrm>
          <a:prstGeom prst="rect">
            <a:avLst/>
          </a:prstGeom>
          <a:noFill/>
        </p:spPr>
        <p:txBody>
          <a:bodyPr wrap="square" rtlCol="0">
            <a:spAutoFit/>
          </a:bodyPr>
          <a:lstStyle/>
          <a:p>
            <a:pPr algn="ctr"/>
            <a:r>
              <a:rPr lang="en-US" sz="2200" dirty="0"/>
              <a:t>what if you want to output a different target language?</a:t>
            </a:r>
            <a:endParaRPr lang="en-US" sz="2200" b="1" dirty="0"/>
          </a:p>
        </p:txBody>
      </p:sp>
      <p:sp>
        <p:nvSpPr>
          <p:cNvPr id="17" name="TextBox 16">
            <a:extLst>
              <a:ext uri="{FF2B5EF4-FFF2-40B4-BE49-F238E27FC236}">
                <a16:creationId xmlns:a16="http://schemas.microsoft.com/office/drawing/2014/main" id="{3409CA6C-F0D1-9F44-BC18-C11461BB6691}"/>
              </a:ext>
            </a:extLst>
          </p:cNvPr>
          <p:cNvSpPr txBox="1"/>
          <p:nvPr/>
        </p:nvSpPr>
        <p:spPr>
          <a:xfrm>
            <a:off x="533400" y="4076700"/>
            <a:ext cx="8077200" cy="769441"/>
          </a:xfrm>
          <a:prstGeom prst="rect">
            <a:avLst/>
          </a:prstGeom>
          <a:noFill/>
        </p:spPr>
        <p:txBody>
          <a:bodyPr wrap="square" rtlCol="0">
            <a:spAutoFit/>
          </a:bodyPr>
          <a:lstStyle/>
          <a:p>
            <a:pPr algn="ctr"/>
            <a:r>
              <a:rPr lang="en-US" sz="2200" dirty="0"/>
              <a:t>this algorithm </a:t>
            </a:r>
            <a:r>
              <a:rPr lang="en-US" sz="2200" b="1" dirty="0"/>
              <a:t>tightly couples </a:t>
            </a:r>
            <a:r>
              <a:rPr lang="en-US" sz="2200" dirty="0"/>
              <a:t>the input and output: if you want to change either of them, you have to change the algorithm.</a:t>
            </a:r>
            <a:endParaRPr lang="en-US" sz="2200" b="1" dirty="0"/>
          </a:p>
        </p:txBody>
      </p:sp>
    </p:spTree>
    <p:extLst>
      <p:ext uri="{BB962C8B-B14F-4D97-AF65-F5344CB8AC3E}">
        <p14:creationId xmlns:p14="http://schemas.microsoft.com/office/powerpoint/2010/main" val="32492029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5BE3-3D98-1947-8E22-E93FA37797D3}"/>
              </a:ext>
            </a:extLst>
          </p:cNvPr>
          <p:cNvSpPr>
            <a:spLocks noGrp="1"/>
          </p:cNvSpPr>
          <p:nvPr>
            <p:ph type="title"/>
          </p:nvPr>
        </p:nvSpPr>
        <p:spPr/>
        <p:txBody>
          <a:bodyPr/>
          <a:lstStyle/>
          <a:p>
            <a:r>
              <a:rPr lang="en-US" dirty="0"/>
              <a:t>Hidden complexity</a:t>
            </a:r>
          </a:p>
        </p:txBody>
      </p:sp>
      <p:sp>
        <p:nvSpPr>
          <p:cNvPr id="3" name="Content Placeholder 2">
            <a:extLst>
              <a:ext uri="{FF2B5EF4-FFF2-40B4-BE49-F238E27FC236}">
                <a16:creationId xmlns:a16="http://schemas.microsoft.com/office/drawing/2014/main" id="{9AEDD4A5-F94A-1D4A-967C-295295F2A85F}"/>
              </a:ext>
            </a:extLst>
          </p:cNvPr>
          <p:cNvSpPr>
            <a:spLocks noGrp="1"/>
          </p:cNvSpPr>
          <p:nvPr>
            <p:ph idx="1"/>
          </p:nvPr>
        </p:nvSpPr>
        <p:spPr>
          <a:xfrm>
            <a:off x="152400" y="495302"/>
            <a:ext cx="8991600" cy="776704"/>
          </a:xfrm>
        </p:spPr>
        <p:txBody>
          <a:bodyPr>
            <a:normAutofit/>
          </a:bodyPr>
          <a:lstStyle/>
          <a:p>
            <a:r>
              <a:rPr lang="en-US" dirty="0"/>
              <a:t>the AST can also </a:t>
            </a:r>
            <a:r>
              <a:rPr lang="en-US" b="1" dirty="0"/>
              <a:t>hide operations and control flow </a:t>
            </a:r>
            <a:r>
              <a:rPr lang="en-US" dirty="0"/>
              <a:t>that we have to know about to be able to analyze the code properly.</a:t>
            </a:r>
          </a:p>
        </p:txBody>
      </p:sp>
      <p:sp>
        <p:nvSpPr>
          <p:cNvPr id="4" name="Slide Number Placeholder 3">
            <a:extLst>
              <a:ext uri="{FF2B5EF4-FFF2-40B4-BE49-F238E27FC236}">
                <a16:creationId xmlns:a16="http://schemas.microsoft.com/office/drawing/2014/main" id="{DF317896-93F5-CC44-A775-0C0F93B1E6F0}"/>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Rectangle 4">
            <a:extLst>
              <a:ext uri="{FF2B5EF4-FFF2-40B4-BE49-F238E27FC236}">
                <a16:creationId xmlns:a16="http://schemas.microsoft.com/office/drawing/2014/main" id="{CCAC7250-F487-4847-A65A-8BA295D99C19}"/>
              </a:ext>
            </a:extLst>
          </p:cNvPr>
          <p:cNvSpPr/>
          <p:nvPr/>
        </p:nvSpPr>
        <p:spPr>
          <a:xfrm>
            <a:off x="822511" y="1512213"/>
            <a:ext cx="3539749" cy="430887"/>
          </a:xfrm>
          <a:prstGeom prst="rect">
            <a:avLst/>
          </a:prstGeom>
        </p:spPr>
        <p:txBody>
          <a:bodyPr wrap="square">
            <a:spAutoFit/>
          </a:bodyPr>
          <a:lstStyle/>
          <a:p>
            <a:pPr algn="r"/>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a:t>
            </a:r>
            <a:r>
              <a:rPr lang="en-US" sz="2200" i="1" dirty="0" err="1">
                <a:latin typeface="Consolas" panose="020B0609020204030204" pitchFamily="49" charset="0"/>
                <a:cs typeface="Consolas" panose="020B0609020204030204" pitchFamily="49" charset="0"/>
              </a:rPr>
              <a:t>cond</a:t>
            </a:r>
            <a:r>
              <a:rPr lang="en-US" sz="2200" b="1" dirty="0">
                <a:latin typeface="Consolas" panose="020B0609020204030204" pitchFamily="49" charset="0"/>
                <a:cs typeface="Consolas" panose="020B0609020204030204" pitchFamily="49" charset="0"/>
              </a:rPr>
              <a:t> { </a:t>
            </a:r>
            <a:r>
              <a:rPr lang="en-US" sz="2200" i="1" dirty="0">
                <a:latin typeface="Consolas" panose="020B0609020204030204" pitchFamily="49" charset="0"/>
                <a:cs typeface="Consolas" panose="020B0609020204030204" pitchFamily="49" charset="0"/>
              </a:rPr>
              <a:t>code</a:t>
            </a:r>
            <a:r>
              <a:rPr lang="en-US" sz="2200" b="1" dirty="0">
                <a:latin typeface="Consolas" panose="020B0609020204030204" pitchFamily="49" charset="0"/>
                <a:cs typeface="Consolas" panose="020B0609020204030204" pitchFamily="49" charset="0"/>
              </a:rPr>
              <a:t> }</a:t>
            </a:r>
          </a:p>
        </p:txBody>
      </p:sp>
      <p:sp>
        <p:nvSpPr>
          <p:cNvPr id="6" name="Right Arrow 5">
            <a:extLst>
              <a:ext uri="{FF2B5EF4-FFF2-40B4-BE49-F238E27FC236}">
                <a16:creationId xmlns:a16="http://schemas.microsoft.com/office/drawing/2014/main" id="{FEFEA751-CBBD-4842-B1CC-7A3CAE7DF103}"/>
              </a:ext>
            </a:extLst>
          </p:cNvPr>
          <p:cNvSpPr/>
          <p:nvPr/>
        </p:nvSpPr>
        <p:spPr>
          <a:xfrm>
            <a:off x="4476560" y="1512213"/>
            <a:ext cx="502023"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01F8266-2431-BB48-9BAF-B3FE78C1B24F}"/>
              </a:ext>
            </a:extLst>
          </p:cNvPr>
          <p:cNvSpPr/>
          <p:nvPr/>
        </p:nvSpPr>
        <p:spPr>
          <a:xfrm>
            <a:off x="5048061" y="1316943"/>
            <a:ext cx="3273428" cy="923330"/>
          </a:xfrm>
          <a:prstGeom prst="rect">
            <a:avLst/>
          </a:prstGeom>
        </p:spPr>
        <p:txBody>
          <a:bodyPr wrap="square">
            <a:spAutoFit/>
          </a:bodyPr>
          <a:lstStyle/>
          <a:p>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i="1" dirty="0">
                <a:latin typeface="Consolas" panose="020B0609020204030204" pitchFamily="49" charset="0"/>
                <a:cs typeface="Consolas" panose="020B0609020204030204" pitchFamily="49" charset="0"/>
              </a:rPr>
              <a:t>&lt;</a:t>
            </a:r>
            <a:r>
              <a:rPr lang="en-US" sz="1800" i="1" dirty="0" err="1">
                <a:latin typeface="Consolas" panose="020B0609020204030204" pitchFamily="49" charset="0"/>
                <a:cs typeface="Consolas" panose="020B0609020204030204" pitchFamily="49" charset="0"/>
              </a:rPr>
              <a:t>cond</a:t>
            </a:r>
            <a:r>
              <a:rPr lang="en-US" sz="1800" i="1" dirty="0">
                <a:latin typeface="Consolas" panose="020B0609020204030204" pitchFamily="49" charset="0"/>
                <a:cs typeface="Consolas" panose="020B0609020204030204" pitchFamily="49" charset="0"/>
              </a:rPr>
              <a:t>&gt;</a:t>
            </a:r>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goto</a:t>
            </a:r>
            <a:r>
              <a:rPr lang="en-US" sz="1800" b="1" dirty="0">
                <a:latin typeface="Consolas" panose="020B0609020204030204" pitchFamily="49" charset="0"/>
                <a:cs typeface="Consolas" panose="020B0609020204030204" pitchFamily="49" charset="0"/>
              </a:rPr>
              <a:t> end</a:t>
            </a:r>
          </a:p>
          <a:p>
            <a:r>
              <a:rPr lang="en-US" sz="1800" i="1" dirty="0">
                <a:latin typeface="Consolas" panose="020B0609020204030204" pitchFamily="49" charset="0"/>
                <a:cs typeface="Consolas" panose="020B0609020204030204" pitchFamily="49" charset="0"/>
              </a:rPr>
              <a:t>&lt;code&gt;</a:t>
            </a:r>
          </a:p>
          <a:p>
            <a:r>
              <a:rPr lang="en-US" sz="1800" b="1" dirty="0">
                <a:latin typeface="Consolas" panose="020B0609020204030204" pitchFamily="49" charset="0"/>
                <a:cs typeface="Consolas" panose="020B0609020204030204" pitchFamily="49" charset="0"/>
              </a:rPr>
              <a:t>end:</a:t>
            </a:r>
          </a:p>
        </p:txBody>
      </p:sp>
      <p:sp>
        <p:nvSpPr>
          <p:cNvPr id="8" name="Rectangle 7">
            <a:extLst>
              <a:ext uri="{FF2B5EF4-FFF2-40B4-BE49-F238E27FC236}">
                <a16:creationId xmlns:a16="http://schemas.microsoft.com/office/drawing/2014/main" id="{FF42C826-8F70-404A-9B00-FA93737FE4BF}"/>
              </a:ext>
            </a:extLst>
          </p:cNvPr>
          <p:cNvSpPr/>
          <p:nvPr/>
        </p:nvSpPr>
        <p:spPr>
          <a:xfrm>
            <a:off x="600075" y="2807613"/>
            <a:ext cx="3762185" cy="430887"/>
          </a:xfrm>
          <a:prstGeom prst="rect">
            <a:avLst/>
          </a:prstGeom>
        </p:spPr>
        <p:txBody>
          <a:bodyPr wrap="square">
            <a:spAutoFit/>
          </a:bodyPr>
          <a:lstStyle/>
          <a:p>
            <a:pPr algn="r"/>
            <a:r>
              <a:rPr lang="en-US" sz="2200" b="1" dirty="0">
                <a:solidFill>
                  <a:srgbClr val="FF0000"/>
                </a:solidFill>
                <a:latin typeface="Consolas" panose="020B0609020204030204" pitchFamily="49" charset="0"/>
                <a:cs typeface="Consolas" panose="020B0609020204030204" pitchFamily="49" charset="0"/>
              </a:rPr>
              <a:t>while</a:t>
            </a:r>
            <a:r>
              <a:rPr lang="en-US" sz="2200" b="1" dirty="0">
                <a:latin typeface="Consolas" panose="020B0609020204030204" pitchFamily="49" charset="0"/>
                <a:cs typeface="Consolas" panose="020B0609020204030204" pitchFamily="49" charset="0"/>
              </a:rPr>
              <a:t> </a:t>
            </a:r>
            <a:r>
              <a:rPr lang="en-US" sz="2200" i="1" dirty="0" err="1">
                <a:latin typeface="Consolas" panose="020B0609020204030204" pitchFamily="49" charset="0"/>
                <a:cs typeface="Consolas" panose="020B0609020204030204" pitchFamily="49" charset="0"/>
              </a:rPr>
              <a:t>cond</a:t>
            </a:r>
            <a:r>
              <a:rPr lang="en-US" sz="2200" b="1" dirty="0">
                <a:latin typeface="Consolas" panose="020B0609020204030204" pitchFamily="49" charset="0"/>
                <a:cs typeface="Consolas" panose="020B0609020204030204" pitchFamily="49" charset="0"/>
              </a:rPr>
              <a:t> { </a:t>
            </a:r>
            <a:r>
              <a:rPr lang="en-US" sz="2200" i="1" dirty="0">
                <a:latin typeface="Consolas" panose="020B0609020204030204" pitchFamily="49" charset="0"/>
                <a:cs typeface="Consolas" panose="020B0609020204030204" pitchFamily="49" charset="0"/>
              </a:rPr>
              <a:t>code</a:t>
            </a:r>
            <a:r>
              <a:rPr lang="en-US" sz="2200" b="1" dirty="0">
                <a:latin typeface="Consolas" panose="020B0609020204030204" pitchFamily="49" charset="0"/>
                <a:cs typeface="Consolas" panose="020B0609020204030204" pitchFamily="49" charset="0"/>
              </a:rPr>
              <a:t> }</a:t>
            </a:r>
          </a:p>
        </p:txBody>
      </p:sp>
      <p:sp>
        <p:nvSpPr>
          <p:cNvPr id="9" name="Right Arrow 8">
            <a:extLst>
              <a:ext uri="{FF2B5EF4-FFF2-40B4-BE49-F238E27FC236}">
                <a16:creationId xmlns:a16="http://schemas.microsoft.com/office/drawing/2014/main" id="{4239AEC5-25BC-7749-9070-06635E3BAB61}"/>
              </a:ext>
            </a:extLst>
          </p:cNvPr>
          <p:cNvSpPr/>
          <p:nvPr/>
        </p:nvSpPr>
        <p:spPr>
          <a:xfrm>
            <a:off x="4476560" y="2807613"/>
            <a:ext cx="502023"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93767A6-2C87-BD4F-985D-80BAB5BD1478}"/>
              </a:ext>
            </a:extLst>
          </p:cNvPr>
          <p:cNvSpPr/>
          <p:nvPr/>
        </p:nvSpPr>
        <p:spPr>
          <a:xfrm>
            <a:off x="5076318" y="2496085"/>
            <a:ext cx="3762185" cy="1200329"/>
          </a:xfrm>
          <a:prstGeom prst="rect">
            <a:avLst/>
          </a:prstGeom>
        </p:spPr>
        <p:txBody>
          <a:bodyPr wrap="square">
            <a:spAutoFit/>
          </a:bodyPr>
          <a:lstStyle/>
          <a:p>
            <a:r>
              <a:rPr lang="en-US" sz="1800" b="1" dirty="0">
                <a:latin typeface="Consolas" panose="020B0609020204030204" pitchFamily="49" charset="0"/>
                <a:cs typeface="Consolas" panose="020B0609020204030204" pitchFamily="49" charset="0"/>
              </a:rPr>
              <a:t>top: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i="1" dirty="0">
                <a:latin typeface="Consolas" panose="020B0609020204030204" pitchFamily="49" charset="0"/>
                <a:cs typeface="Consolas" panose="020B0609020204030204" pitchFamily="49" charset="0"/>
              </a:rPr>
              <a:t>&lt;</a:t>
            </a:r>
            <a:r>
              <a:rPr lang="en-US" sz="1800" i="1" dirty="0" err="1">
                <a:latin typeface="Consolas" panose="020B0609020204030204" pitchFamily="49" charset="0"/>
                <a:cs typeface="Consolas" panose="020B0609020204030204" pitchFamily="49" charset="0"/>
              </a:rPr>
              <a:t>cond</a:t>
            </a:r>
            <a:r>
              <a:rPr lang="en-US" sz="1800" i="1" dirty="0">
                <a:latin typeface="Consolas" panose="020B0609020204030204" pitchFamily="49" charset="0"/>
                <a:cs typeface="Consolas" panose="020B0609020204030204" pitchFamily="49" charset="0"/>
              </a:rPr>
              <a:t>&gt;</a:t>
            </a:r>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goto</a:t>
            </a:r>
            <a:r>
              <a:rPr lang="en-US" sz="1800" b="1" dirty="0">
                <a:latin typeface="Consolas" panose="020B0609020204030204" pitchFamily="49" charset="0"/>
                <a:cs typeface="Consolas" panose="020B0609020204030204" pitchFamily="49" charset="0"/>
              </a:rPr>
              <a:t> end</a:t>
            </a:r>
            <a:endParaRPr lang="en-US" sz="1800" i="1" dirty="0">
              <a:latin typeface="Consolas" panose="020B0609020204030204" pitchFamily="49" charset="0"/>
              <a:cs typeface="Consolas" panose="020B0609020204030204" pitchFamily="49" charset="0"/>
            </a:endParaRPr>
          </a:p>
          <a:p>
            <a:r>
              <a:rPr lang="en-US" sz="1800" i="1" dirty="0">
                <a:latin typeface="Consolas" panose="020B0609020204030204" pitchFamily="49" charset="0"/>
                <a:cs typeface="Consolas" panose="020B0609020204030204" pitchFamily="49" charset="0"/>
              </a:rPr>
              <a:t>&lt;code&gt;</a:t>
            </a:r>
          </a:p>
          <a:p>
            <a:r>
              <a:rPr lang="en-US" sz="1800" b="1" dirty="0" err="1">
                <a:solidFill>
                  <a:srgbClr val="FF0000"/>
                </a:solidFill>
                <a:latin typeface="Consolas" panose="020B0609020204030204" pitchFamily="49" charset="0"/>
                <a:cs typeface="Consolas" panose="020B0609020204030204" pitchFamily="49" charset="0"/>
              </a:rPr>
              <a:t>goto</a:t>
            </a:r>
            <a:r>
              <a:rPr lang="en-US" sz="1800" b="1" dirty="0">
                <a:latin typeface="Consolas" panose="020B0609020204030204" pitchFamily="49" charset="0"/>
                <a:cs typeface="Consolas" panose="020B0609020204030204" pitchFamily="49" charset="0"/>
              </a:rPr>
              <a:t> top</a:t>
            </a:r>
          </a:p>
          <a:p>
            <a:r>
              <a:rPr lang="en-US" sz="1800" b="1" dirty="0">
                <a:latin typeface="Consolas" panose="020B0609020204030204" pitchFamily="49" charset="0"/>
                <a:cs typeface="Consolas" panose="020B0609020204030204" pitchFamily="49" charset="0"/>
              </a:rPr>
              <a:t>end:</a:t>
            </a:r>
          </a:p>
        </p:txBody>
      </p:sp>
      <p:sp>
        <p:nvSpPr>
          <p:cNvPr id="11" name="Rectangle 10">
            <a:extLst>
              <a:ext uri="{FF2B5EF4-FFF2-40B4-BE49-F238E27FC236}">
                <a16:creationId xmlns:a16="http://schemas.microsoft.com/office/drawing/2014/main" id="{FCE5AC16-6CA1-784B-9801-1FE17CF0C86E}"/>
              </a:ext>
            </a:extLst>
          </p:cNvPr>
          <p:cNvSpPr/>
          <p:nvPr/>
        </p:nvSpPr>
        <p:spPr>
          <a:xfrm>
            <a:off x="76201" y="4440847"/>
            <a:ext cx="4286060" cy="430887"/>
          </a:xfrm>
          <a:prstGeom prst="rect">
            <a:avLst/>
          </a:prstGeom>
        </p:spPr>
        <p:txBody>
          <a:bodyPr wrap="square">
            <a:spAutoFit/>
          </a:bodyPr>
          <a:lstStyle/>
          <a:p>
            <a:pPr algn="r"/>
            <a:r>
              <a:rPr lang="en-US" sz="2200" b="1" dirty="0">
                <a:solidFill>
                  <a:srgbClr val="FF0000"/>
                </a:solidFill>
                <a:latin typeface="Consolas" panose="020B0609020204030204" pitchFamily="49" charset="0"/>
                <a:cs typeface="Consolas" panose="020B0609020204030204" pitchFamily="49" charset="0"/>
              </a:rPr>
              <a:t>for</a:t>
            </a:r>
            <a:r>
              <a:rPr lang="en-US" sz="2200" b="1" dirty="0">
                <a:latin typeface="Consolas" panose="020B0609020204030204" pitchFamily="49" charset="0"/>
                <a:cs typeface="Consolas" panose="020B0609020204030204" pitchFamily="49" charset="0"/>
              </a:rPr>
              <a:t> </a:t>
            </a:r>
            <a:r>
              <a:rPr lang="en-US" sz="2200" i="1" dirty="0">
                <a:latin typeface="Consolas" panose="020B0609020204030204" pitchFamily="49" charset="0"/>
                <a:cs typeface="Consolas" panose="020B0609020204030204" pitchFamily="49" charset="0"/>
              </a:rPr>
              <a:t>i </a:t>
            </a:r>
            <a:r>
              <a:rPr lang="en-US" sz="2200" b="1" dirty="0">
                <a:solidFill>
                  <a:srgbClr val="FF0000"/>
                </a:solidFill>
                <a:latin typeface="Consolas" panose="020B0609020204030204" pitchFamily="49" charset="0"/>
                <a:cs typeface="Consolas" panose="020B0609020204030204" pitchFamily="49" charset="0"/>
              </a:rPr>
              <a:t>in</a:t>
            </a:r>
            <a:r>
              <a:rPr lang="en-US" sz="2200" b="1" dirty="0">
                <a:latin typeface="Consolas" panose="020B0609020204030204" pitchFamily="49" charset="0"/>
                <a:cs typeface="Consolas" panose="020B0609020204030204" pitchFamily="49" charset="0"/>
              </a:rPr>
              <a:t> </a:t>
            </a:r>
            <a:r>
              <a:rPr lang="en-US" sz="2200" i="1" dirty="0">
                <a:latin typeface="Consolas" panose="020B0609020204030204" pitchFamily="49" charset="0"/>
                <a:cs typeface="Consolas" panose="020B0609020204030204" pitchFamily="49" charset="0"/>
              </a:rPr>
              <a:t>lo, hi</a:t>
            </a:r>
            <a:r>
              <a:rPr lang="en-US" sz="2200" b="1" dirty="0">
                <a:latin typeface="Consolas" panose="020B0609020204030204" pitchFamily="49" charset="0"/>
                <a:cs typeface="Consolas" panose="020B0609020204030204" pitchFamily="49" charset="0"/>
              </a:rPr>
              <a:t> { </a:t>
            </a:r>
            <a:r>
              <a:rPr lang="en-US" sz="2200" i="1" dirty="0">
                <a:latin typeface="Consolas" panose="020B0609020204030204" pitchFamily="49" charset="0"/>
                <a:cs typeface="Consolas" panose="020B0609020204030204" pitchFamily="49" charset="0"/>
              </a:rPr>
              <a:t>code</a:t>
            </a:r>
            <a:r>
              <a:rPr lang="en-US" sz="2200" b="1" dirty="0">
                <a:latin typeface="Consolas" panose="020B0609020204030204" pitchFamily="49" charset="0"/>
                <a:cs typeface="Consolas" panose="020B0609020204030204" pitchFamily="49" charset="0"/>
              </a:rPr>
              <a:t> }</a:t>
            </a:r>
          </a:p>
        </p:txBody>
      </p:sp>
      <p:sp>
        <p:nvSpPr>
          <p:cNvPr id="12" name="Right Arrow 11">
            <a:extLst>
              <a:ext uri="{FF2B5EF4-FFF2-40B4-BE49-F238E27FC236}">
                <a16:creationId xmlns:a16="http://schemas.microsoft.com/office/drawing/2014/main" id="{1655403B-1D4D-1947-9C52-809E6EA2C0A5}"/>
              </a:ext>
            </a:extLst>
          </p:cNvPr>
          <p:cNvSpPr/>
          <p:nvPr/>
        </p:nvSpPr>
        <p:spPr>
          <a:xfrm>
            <a:off x="4476560" y="4440847"/>
            <a:ext cx="502023"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905A3D-C7C9-9A45-9141-D4D811415EEF}"/>
              </a:ext>
            </a:extLst>
          </p:cNvPr>
          <p:cNvSpPr/>
          <p:nvPr/>
        </p:nvSpPr>
        <p:spPr>
          <a:xfrm>
            <a:off x="5057586" y="3838622"/>
            <a:ext cx="3949703" cy="1754326"/>
          </a:xfrm>
          <a:prstGeom prst="rect">
            <a:avLst/>
          </a:prstGeom>
        </p:spPr>
        <p:txBody>
          <a:bodyPr wrap="square">
            <a:spAutoFit/>
          </a:bodyPr>
          <a:lstStyle/>
          <a:p>
            <a:r>
              <a:rPr lang="en-US" sz="1800" i="1" dirty="0">
                <a:latin typeface="Consolas" panose="020B0609020204030204" pitchFamily="49" charset="0"/>
                <a:cs typeface="Consolas" panose="020B0609020204030204" pitchFamily="49" charset="0"/>
              </a:rPr>
              <a:t>i</a:t>
            </a:r>
            <a:r>
              <a:rPr lang="en-US" sz="1800" b="1" dirty="0">
                <a:latin typeface="Consolas" panose="020B0609020204030204" pitchFamily="49" charset="0"/>
                <a:cs typeface="Consolas" panose="020B0609020204030204" pitchFamily="49" charset="0"/>
              </a:rPr>
              <a:t> = </a:t>
            </a:r>
            <a:r>
              <a:rPr lang="en-US" sz="1800" i="1" dirty="0">
                <a:latin typeface="Consolas" panose="020B0609020204030204" pitchFamily="49" charset="0"/>
                <a:cs typeface="Consolas" panose="020B0609020204030204" pitchFamily="49" charset="0"/>
              </a:rPr>
              <a:t>&lt;lo&gt;</a:t>
            </a:r>
          </a:p>
          <a:p>
            <a:r>
              <a:rPr lang="en-US" sz="1800" b="1" dirty="0">
                <a:latin typeface="Consolas" panose="020B0609020204030204" pitchFamily="49" charset="0"/>
                <a:cs typeface="Consolas" panose="020B0609020204030204" pitchFamily="49" charset="0"/>
              </a:rPr>
              <a:t>top: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a:t>
            </a:r>
            <a:r>
              <a:rPr lang="en-US" sz="1800" i="1" dirty="0">
                <a:latin typeface="Consolas" panose="020B0609020204030204" pitchFamily="49" charset="0"/>
                <a:cs typeface="Consolas" panose="020B0609020204030204" pitchFamily="49" charset="0"/>
              </a:rPr>
              <a:t>i</a:t>
            </a:r>
            <a:r>
              <a:rPr lang="en-US" sz="1800" b="1" dirty="0">
                <a:latin typeface="Consolas" panose="020B0609020204030204" pitchFamily="49" charset="0"/>
                <a:cs typeface="Consolas" panose="020B0609020204030204" pitchFamily="49" charset="0"/>
              </a:rPr>
              <a:t> &gt;= </a:t>
            </a:r>
            <a:r>
              <a:rPr lang="en-US" sz="1800" i="1" dirty="0">
                <a:latin typeface="Consolas" panose="020B0609020204030204" pitchFamily="49" charset="0"/>
                <a:cs typeface="Consolas" panose="020B0609020204030204" pitchFamily="49" charset="0"/>
              </a:rPr>
              <a:t>&lt;hi&gt;</a:t>
            </a:r>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goto</a:t>
            </a:r>
            <a:r>
              <a:rPr lang="en-US" sz="1800" b="1" dirty="0">
                <a:latin typeface="Consolas" panose="020B0609020204030204" pitchFamily="49" charset="0"/>
                <a:cs typeface="Consolas" panose="020B0609020204030204" pitchFamily="49" charset="0"/>
              </a:rPr>
              <a:t> end</a:t>
            </a:r>
            <a:endParaRPr lang="en-US" sz="1800" i="1" dirty="0">
              <a:latin typeface="Consolas" panose="020B0609020204030204" pitchFamily="49" charset="0"/>
              <a:cs typeface="Consolas" panose="020B0609020204030204" pitchFamily="49" charset="0"/>
            </a:endParaRPr>
          </a:p>
          <a:p>
            <a:r>
              <a:rPr lang="en-US" sz="1800" i="1" dirty="0">
                <a:latin typeface="Consolas" panose="020B0609020204030204" pitchFamily="49" charset="0"/>
                <a:cs typeface="Consolas" panose="020B0609020204030204" pitchFamily="49" charset="0"/>
              </a:rPr>
              <a:t>&lt;code&gt;</a:t>
            </a:r>
          </a:p>
          <a:p>
            <a:r>
              <a:rPr lang="en-US" sz="1800" i="1" dirty="0">
                <a:highlight>
                  <a:srgbClr val="FFFF00"/>
                </a:highlight>
                <a:latin typeface="Consolas" panose="020B0609020204030204" pitchFamily="49" charset="0"/>
                <a:cs typeface="Consolas" panose="020B0609020204030204" pitchFamily="49" charset="0"/>
              </a:rPr>
              <a:t>i</a:t>
            </a:r>
            <a:r>
              <a:rPr lang="en-US" sz="1800" b="1" dirty="0">
                <a:highlight>
                  <a:srgbClr val="FFFF00"/>
                </a:highlight>
                <a:latin typeface="Consolas" panose="020B0609020204030204" pitchFamily="49" charset="0"/>
                <a:cs typeface="Consolas" panose="020B0609020204030204" pitchFamily="49" charset="0"/>
              </a:rPr>
              <a:t> += 1</a:t>
            </a:r>
          </a:p>
          <a:p>
            <a:r>
              <a:rPr lang="en-US" sz="1800" b="1" dirty="0" err="1">
                <a:solidFill>
                  <a:srgbClr val="FF0000"/>
                </a:solidFill>
                <a:latin typeface="Consolas" panose="020B0609020204030204" pitchFamily="49" charset="0"/>
                <a:cs typeface="Consolas" panose="020B0609020204030204" pitchFamily="49" charset="0"/>
              </a:rPr>
              <a:t>goto</a:t>
            </a:r>
            <a:r>
              <a:rPr lang="en-US" sz="1800" b="1" dirty="0">
                <a:latin typeface="Consolas" panose="020B0609020204030204" pitchFamily="49" charset="0"/>
                <a:cs typeface="Consolas" panose="020B0609020204030204" pitchFamily="49" charset="0"/>
              </a:rPr>
              <a:t> top</a:t>
            </a:r>
          </a:p>
          <a:p>
            <a:r>
              <a:rPr lang="en-US" sz="1800" b="1" dirty="0">
                <a:latin typeface="Consolas" panose="020B0609020204030204" pitchFamily="49" charset="0"/>
                <a:cs typeface="Consolas" panose="020B0609020204030204" pitchFamily="49" charset="0"/>
              </a:rPr>
              <a:t>end:</a:t>
            </a:r>
          </a:p>
        </p:txBody>
      </p:sp>
    </p:spTree>
    <p:extLst>
      <p:ext uri="{BB962C8B-B14F-4D97-AF65-F5344CB8AC3E}">
        <p14:creationId xmlns:p14="http://schemas.microsoft.com/office/powerpoint/2010/main" val="20964892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animBg="1"/>
      <p:bldP spid="10" grpId="0"/>
      <p:bldP spid="11" grpId="0"/>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561B-B983-4148-B2D7-EB64BC99D7B0}"/>
              </a:ext>
            </a:extLst>
          </p:cNvPr>
          <p:cNvSpPr>
            <a:spLocks noGrp="1"/>
          </p:cNvSpPr>
          <p:nvPr>
            <p:ph type="title"/>
          </p:nvPr>
        </p:nvSpPr>
        <p:spPr/>
        <p:txBody>
          <a:bodyPr/>
          <a:lstStyle/>
          <a:p>
            <a:r>
              <a:rPr lang="en-US" dirty="0"/>
              <a:t>So instead…</a:t>
            </a:r>
          </a:p>
        </p:txBody>
      </p:sp>
      <p:sp>
        <p:nvSpPr>
          <p:cNvPr id="3" name="Content Placeholder 2">
            <a:extLst>
              <a:ext uri="{FF2B5EF4-FFF2-40B4-BE49-F238E27FC236}">
                <a16:creationId xmlns:a16="http://schemas.microsoft.com/office/drawing/2014/main" id="{0DE64907-7A13-334F-B47B-F690C72A7A6B}"/>
              </a:ext>
            </a:extLst>
          </p:cNvPr>
          <p:cNvSpPr>
            <a:spLocks noGrp="1"/>
          </p:cNvSpPr>
          <p:nvPr>
            <p:ph idx="1"/>
          </p:nvPr>
        </p:nvSpPr>
        <p:spPr>
          <a:xfrm>
            <a:off x="152400" y="495302"/>
            <a:ext cx="8991600" cy="870408"/>
          </a:xfrm>
        </p:spPr>
        <p:txBody>
          <a:bodyPr>
            <a:normAutofit/>
          </a:bodyPr>
          <a:lstStyle/>
          <a:p>
            <a:r>
              <a:rPr lang="en-US" dirty="0"/>
              <a:t>an </a:t>
            </a:r>
            <a:r>
              <a:rPr lang="en-US" b="1" dirty="0"/>
              <a:t>intermediate representation (IR) </a:t>
            </a:r>
            <a:r>
              <a:rPr lang="en-US" dirty="0"/>
              <a:t>is essentially a </a:t>
            </a:r>
            <a:r>
              <a:rPr lang="en-US" b="1" dirty="0"/>
              <a:t>third language</a:t>
            </a:r>
            <a:r>
              <a:rPr lang="en-US" dirty="0"/>
              <a:t> that acts as a bridge between the source and target languages.</a:t>
            </a:r>
          </a:p>
        </p:txBody>
      </p:sp>
      <p:sp>
        <p:nvSpPr>
          <p:cNvPr id="4" name="Slide Number Placeholder 3">
            <a:extLst>
              <a:ext uri="{FF2B5EF4-FFF2-40B4-BE49-F238E27FC236}">
                <a16:creationId xmlns:a16="http://schemas.microsoft.com/office/drawing/2014/main" id="{E8659E3E-2A66-B14B-85A6-18E46EF6FEB4}"/>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6" name="Rounded Rectangle 5">
            <a:extLst>
              <a:ext uri="{FF2B5EF4-FFF2-40B4-BE49-F238E27FC236}">
                <a16:creationId xmlns:a16="http://schemas.microsoft.com/office/drawing/2014/main" id="{ADA90D7D-53DC-804C-880F-2CA1C2EF167F}"/>
              </a:ext>
            </a:extLst>
          </p:cNvPr>
          <p:cNvSpPr/>
          <p:nvPr/>
        </p:nvSpPr>
        <p:spPr>
          <a:xfrm>
            <a:off x="4047929" y="1870374"/>
            <a:ext cx="1615200" cy="73395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Codegen</a:t>
            </a:r>
            <a:endParaRPr lang="en-US" sz="2400" b="1" dirty="0"/>
          </a:p>
        </p:txBody>
      </p:sp>
      <p:sp>
        <p:nvSpPr>
          <p:cNvPr id="7" name="Right Arrow 6">
            <a:extLst>
              <a:ext uri="{FF2B5EF4-FFF2-40B4-BE49-F238E27FC236}">
                <a16:creationId xmlns:a16="http://schemas.microsoft.com/office/drawing/2014/main" id="{C07181F4-B4C3-5A4F-B5ED-4330A1FB051F}"/>
              </a:ext>
            </a:extLst>
          </p:cNvPr>
          <p:cNvSpPr/>
          <p:nvPr/>
        </p:nvSpPr>
        <p:spPr>
          <a:xfrm>
            <a:off x="3016620" y="1912609"/>
            <a:ext cx="762860" cy="52994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extBox 8">
            <a:extLst>
              <a:ext uri="{FF2B5EF4-FFF2-40B4-BE49-F238E27FC236}">
                <a16:creationId xmlns:a16="http://schemas.microsoft.com/office/drawing/2014/main" id="{20E6A20F-D006-844D-892E-1E58D1F880FF}"/>
              </a:ext>
            </a:extLst>
          </p:cNvPr>
          <p:cNvSpPr txBox="1"/>
          <p:nvPr/>
        </p:nvSpPr>
        <p:spPr>
          <a:xfrm>
            <a:off x="3126835" y="2449468"/>
            <a:ext cx="513928" cy="461665"/>
          </a:xfrm>
          <a:prstGeom prst="rect">
            <a:avLst/>
          </a:prstGeom>
          <a:noFill/>
        </p:spPr>
        <p:txBody>
          <a:bodyPr wrap="square" rtlCol="0">
            <a:spAutoFit/>
          </a:bodyPr>
          <a:lstStyle/>
          <a:p>
            <a:pPr algn="ctr"/>
            <a:r>
              <a:rPr lang="en-US" sz="2400" b="1" dirty="0"/>
              <a:t>IR</a:t>
            </a:r>
          </a:p>
        </p:txBody>
      </p:sp>
      <p:sp>
        <p:nvSpPr>
          <p:cNvPr id="11" name="Rectangle 10">
            <a:extLst>
              <a:ext uri="{FF2B5EF4-FFF2-40B4-BE49-F238E27FC236}">
                <a16:creationId xmlns:a16="http://schemas.microsoft.com/office/drawing/2014/main" id="{B69DE391-032C-A244-8401-6239A60C7687}"/>
              </a:ext>
            </a:extLst>
          </p:cNvPr>
          <p:cNvSpPr/>
          <p:nvPr/>
        </p:nvSpPr>
        <p:spPr>
          <a:xfrm>
            <a:off x="-76200" y="1476375"/>
            <a:ext cx="3048001" cy="1862987"/>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Frontend</a:t>
            </a:r>
          </a:p>
        </p:txBody>
      </p:sp>
      <p:sp>
        <p:nvSpPr>
          <p:cNvPr id="12" name="Rectangle 11">
            <a:extLst>
              <a:ext uri="{FF2B5EF4-FFF2-40B4-BE49-F238E27FC236}">
                <a16:creationId xmlns:a16="http://schemas.microsoft.com/office/drawing/2014/main" id="{1E7A0948-C770-3A45-B6C9-315FC631B837}"/>
              </a:ext>
            </a:extLst>
          </p:cNvPr>
          <p:cNvSpPr/>
          <p:nvPr/>
        </p:nvSpPr>
        <p:spPr>
          <a:xfrm>
            <a:off x="3841441" y="1485900"/>
            <a:ext cx="2028177" cy="1330291"/>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MIPS Backend</a:t>
            </a:r>
          </a:p>
        </p:txBody>
      </p:sp>
      <p:sp>
        <p:nvSpPr>
          <p:cNvPr id="13" name="Rounded Rectangle 12">
            <a:extLst>
              <a:ext uri="{FF2B5EF4-FFF2-40B4-BE49-F238E27FC236}">
                <a16:creationId xmlns:a16="http://schemas.microsoft.com/office/drawing/2014/main" id="{67EA1DB8-B2A7-BA43-BD3A-9F90D5A80F39}"/>
              </a:ext>
            </a:extLst>
          </p:cNvPr>
          <p:cNvSpPr/>
          <p:nvPr/>
        </p:nvSpPr>
        <p:spPr>
          <a:xfrm>
            <a:off x="-139148" y="2006965"/>
            <a:ext cx="1686995" cy="1027855"/>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Semantic</a:t>
            </a:r>
          </a:p>
        </p:txBody>
      </p:sp>
      <p:sp>
        <p:nvSpPr>
          <p:cNvPr id="14" name="Right Arrow 13">
            <a:extLst>
              <a:ext uri="{FF2B5EF4-FFF2-40B4-BE49-F238E27FC236}">
                <a16:creationId xmlns:a16="http://schemas.microsoft.com/office/drawing/2014/main" id="{F0FBC3B1-D069-6F46-BBD3-F0D12FB57365}"/>
              </a:ext>
            </a:extLst>
          </p:cNvPr>
          <p:cNvSpPr/>
          <p:nvPr/>
        </p:nvSpPr>
        <p:spPr>
          <a:xfrm>
            <a:off x="1547847" y="2269230"/>
            <a:ext cx="762860" cy="52994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extBox 14">
            <a:extLst>
              <a:ext uri="{FF2B5EF4-FFF2-40B4-BE49-F238E27FC236}">
                <a16:creationId xmlns:a16="http://schemas.microsoft.com/office/drawing/2014/main" id="{D4B862A0-AC83-F840-BFEB-BE147967ADE1}"/>
              </a:ext>
            </a:extLst>
          </p:cNvPr>
          <p:cNvSpPr txBox="1"/>
          <p:nvPr/>
        </p:nvSpPr>
        <p:spPr>
          <a:xfrm>
            <a:off x="1510427" y="2816191"/>
            <a:ext cx="762859" cy="461665"/>
          </a:xfrm>
          <a:prstGeom prst="rect">
            <a:avLst/>
          </a:prstGeom>
          <a:noFill/>
        </p:spPr>
        <p:txBody>
          <a:bodyPr wrap="square" rtlCol="0">
            <a:spAutoFit/>
          </a:bodyPr>
          <a:lstStyle/>
          <a:p>
            <a:pPr algn="ctr"/>
            <a:r>
              <a:rPr lang="en-US" sz="2400" b="1" dirty="0"/>
              <a:t>AST</a:t>
            </a:r>
          </a:p>
        </p:txBody>
      </p:sp>
      <p:sp>
        <p:nvSpPr>
          <p:cNvPr id="16" name="Rounded Rectangle 15">
            <a:extLst>
              <a:ext uri="{FF2B5EF4-FFF2-40B4-BE49-F238E27FC236}">
                <a16:creationId xmlns:a16="http://schemas.microsoft.com/office/drawing/2014/main" id="{BF22B931-CF02-D44F-82FC-EAE1FB628A14}"/>
              </a:ext>
            </a:extLst>
          </p:cNvPr>
          <p:cNvSpPr/>
          <p:nvPr/>
        </p:nvSpPr>
        <p:spPr>
          <a:xfrm rot="16200000">
            <a:off x="1789630" y="2158096"/>
            <a:ext cx="1615206" cy="577265"/>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Lowering</a:t>
            </a:r>
          </a:p>
        </p:txBody>
      </p:sp>
      <p:sp>
        <p:nvSpPr>
          <p:cNvPr id="17" name="Right Arrow 16">
            <a:extLst>
              <a:ext uri="{FF2B5EF4-FFF2-40B4-BE49-F238E27FC236}">
                <a16:creationId xmlns:a16="http://schemas.microsoft.com/office/drawing/2014/main" id="{1E10869A-7FBB-EC45-84CB-110E8EC1A0F7}"/>
              </a:ext>
            </a:extLst>
          </p:cNvPr>
          <p:cNvSpPr/>
          <p:nvPr/>
        </p:nvSpPr>
        <p:spPr>
          <a:xfrm>
            <a:off x="5928371" y="1913802"/>
            <a:ext cx="762860" cy="52994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8" name="TextBox 17">
            <a:extLst>
              <a:ext uri="{FF2B5EF4-FFF2-40B4-BE49-F238E27FC236}">
                <a16:creationId xmlns:a16="http://schemas.microsoft.com/office/drawing/2014/main" id="{20149A84-9BC6-BA44-BD77-39FD7375A73D}"/>
              </a:ext>
            </a:extLst>
          </p:cNvPr>
          <p:cNvSpPr txBox="1"/>
          <p:nvPr/>
        </p:nvSpPr>
        <p:spPr>
          <a:xfrm>
            <a:off x="6669104" y="1946750"/>
            <a:ext cx="1790700" cy="461665"/>
          </a:xfrm>
          <a:prstGeom prst="rect">
            <a:avLst/>
          </a:prstGeom>
          <a:noFill/>
        </p:spPr>
        <p:txBody>
          <a:bodyPr wrap="square" rtlCol="0">
            <a:spAutoFit/>
          </a:bodyPr>
          <a:lstStyle/>
          <a:p>
            <a:r>
              <a:rPr lang="en-US" sz="2400" b="1" dirty="0"/>
              <a:t>MIPS code</a:t>
            </a:r>
          </a:p>
        </p:txBody>
      </p:sp>
      <p:sp>
        <p:nvSpPr>
          <p:cNvPr id="19" name="TextBox 18">
            <a:extLst>
              <a:ext uri="{FF2B5EF4-FFF2-40B4-BE49-F238E27FC236}">
                <a16:creationId xmlns:a16="http://schemas.microsoft.com/office/drawing/2014/main" id="{EC7BDFAF-2000-C84C-8F62-E638C58120D8}"/>
              </a:ext>
            </a:extLst>
          </p:cNvPr>
          <p:cNvSpPr txBox="1"/>
          <p:nvPr/>
        </p:nvSpPr>
        <p:spPr>
          <a:xfrm>
            <a:off x="914400" y="4444158"/>
            <a:ext cx="7315200" cy="1107996"/>
          </a:xfrm>
          <a:prstGeom prst="rect">
            <a:avLst/>
          </a:prstGeom>
          <a:noFill/>
        </p:spPr>
        <p:txBody>
          <a:bodyPr wrap="square" rtlCol="0">
            <a:spAutoFit/>
          </a:bodyPr>
          <a:lstStyle/>
          <a:p>
            <a:pPr algn="ctr"/>
            <a:r>
              <a:rPr lang="en-US" sz="2200" dirty="0"/>
              <a:t>now we can work on the frontend and backend parts </a:t>
            </a:r>
            <a:r>
              <a:rPr lang="en-US" sz="2200" b="1" dirty="0"/>
              <a:t>in isolation</a:t>
            </a:r>
            <a:r>
              <a:rPr lang="en-US" sz="2200" dirty="0"/>
              <a:t>, </a:t>
            </a:r>
            <a:r>
              <a:rPr lang="en-US" sz="2200" b="1" dirty="0"/>
              <a:t>swap out</a:t>
            </a:r>
            <a:r>
              <a:rPr lang="en-US" sz="2200" dirty="0"/>
              <a:t> the backend, </a:t>
            </a:r>
            <a:r>
              <a:rPr lang="en-US" sz="2200" b="1" dirty="0"/>
              <a:t>change the AST</a:t>
            </a:r>
            <a:r>
              <a:rPr lang="en-US" sz="2200" dirty="0"/>
              <a:t> without having to change the </a:t>
            </a:r>
            <a:r>
              <a:rPr lang="en-US" sz="2200" dirty="0" err="1"/>
              <a:t>codegen</a:t>
            </a:r>
            <a:r>
              <a:rPr lang="en-US" sz="2200" dirty="0"/>
              <a:t>, </a:t>
            </a:r>
            <a:r>
              <a:rPr lang="en-US" sz="2200" dirty="0" err="1"/>
              <a:t>etc</a:t>
            </a:r>
            <a:r>
              <a:rPr lang="en-US" sz="2200" dirty="0"/>
              <a:t>…</a:t>
            </a:r>
            <a:endParaRPr lang="en-US" sz="2200" b="1" dirty="0"/>
          </a:p>
        </p:txBody>
      </p:sp>
      <p:sp>
        <p:nvSpPr>
          <p:cNvPr id="27" name="Rounded Rectangle 26">
            <a:extLst>
              <a:ext uri="{FF2B5EF4-FFF2-40B4-BE49-F238E27FC236}">
                <a16:creationId xmlns:a16="http://schemas.microsoft.com/office/drawing/2014/main" id="{B1C7A8E3-5849-B24D-90BC-0425E6272214}"/>
              </a:ext>
            </a:extLst>
          </p:cNvPr>
          <p:cNvSpPr/>
          <p:nvPr/>
        </p:nvSpPr>
        <p:spPr>
          <a:xfrm>
            <a:off x="4057554" y="3302032"/>
            <a:ext cx="1615200" cy="73395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Codegen</a:t>
            </a:r>
            <a:endParaRPr lang="en-US" sz="2400" b="1" dirty="0"/>
          </a:p>
        </p:txBody>
      </p:sp>
      <p:sp>
        <p:nvSpPr>
          <p:cNvPr id="28" name="Right Arrow 27">
            <a:extLst>
              <a:ext uri="{FF2B5EF4-FFF2-40B4-BE49-F238E27FC236}">
                <a16:creationId xmlns:a16="http://schemas.microsoft.com/office/drawing/2014/main" id="{3BCC64F8-2562-6F41-8CA1-C999B0FA58D2}"/>
              </a:ext>
            </a:extLst>
          </p:cNvPr>
          <p:cNvSpPr/>
          <p:nvPr/>
        </p:nvSpPr>
        <p:spPr>
          <a:xfrm>
            <a:off x="3026245" y="2855707"/>
            <a:ext cx="762860" cy="52994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2414BADD-EA28-FA4E-A631-4C9F6C4E7361}"/>
              </a:ext>
            </a:extLst>
          </p:cNvPr>
          <p:cNvSpPr/>
          <p:nvPr/>
        </p:nvSpPr>
        <p:spPr>
          <a:xfrm>
            <a:off x="3851066" y="2917558"/>
            <a:ext cx="2028177" cy="1330291"/>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x86 Backend</a:t>
            </a:r>
          </a:p>
        </p:txBody>
      </p:sp>
      <p:sp>
        <p:nvSpPr>
          <p:cNvPr id="31" name="Right Arrow 30">
            <a:extLst>
              <a:ext uri="{FF2B5EF4-FFF2-40B4-BE49-F238E27FC236}">
                <a16:creationId xmlns:a16="http://schemas.microsoft.com/office/drawing/2014/main" id="{DADA4F97-E6E0-B349-B33C-F0CDB74E121F}"/>
              </a:ext>
            </a:extLst>
          </p:cNvPr>
          <p:cNvSpPr/>
          <p:nvPr/>
        </p:nvSpPr>
        <p:spPr>
          <a:xfrm>
            <a:off x="5937996" y="3345460"/>
            <a:ext cx="762860" cy="52994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2" name="TextBox 31">
            <a:extLst>
              <a:ext uri="{FF2B5EF4-FFF2-40B4-BE49-F238E27FC236}">
                <a16:creationId xmlns:a16="http://schemas.microsoft.com/office/drawing/2014/main" id="{467EF4DD-2250-BC49-A833-35AC2478F61F}"/>
              </a:ext>
            </a:extLst>
          </p:cNvPr>
          <p:cNvSpPr txBox="1"/>
          <p:nvPr/>
        </p:nvSpPr>
        <p:spPr>
          <a:xfrm>
            <a:off x="6669104" y="3351870"/>
            <a:ext cx="1781075" cy="461665"/>
          </a:xfrm>
          <a:prstGeom prst="rect">
            <a:avLst/>
          </a:prstGeom>
          <a:noFill/>
        </p:spPr>
        <p:txBody>
          <a:bodyPr wrap="square" rtlCol="0">
            <a:spAutoFit/>
          </a:bodyPr>
          <a:lstStyle/>
          <a:p>
            <a:r>
              <a:rPr lang="en-US" sz="2400" b="1" dirty="0"/>
              <a:t>x86 code</a:t>
            </a:r>
          </a:p>
        </p:txBody>
      </p:sp>
    </p:spTree>
    <p:extLst>
      <p:ext uri="{BB962C8B-B14F-4D97-AF65-F5344CB8AC3E}">
        <p14:creationId xmlns:p14="http://schemas.microsoft.com/office/powerpoint/2010/main" val="1509680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1" grpId="0" animBg="1"/>
      <p:bldP spid="12" grpId="0" animBg="1"/>
      <p:bldP spid="13" grpId="0" animBg="1"/>
      <p:bldP spid="14" grpId="0" animBg="1"/>
      <p:bldP spid="15" grpId="0"/>
      <p:bldP spid="16" grpId="0" animBg="1"/>
      <p:bldP spid="17" grpId="0" animBg="1"/>
      <p:bldP spid="18" grpId="0"/>
      <p:bldP spid="19" grpId="0"/>
      <p:bldP spid="27" grpId="0" animBg="1"/>
      <p:bldP spid="28" grpId="0" animBg="1"/>
      <p:bldP spid="30" grpId="0" animBg="1"/>
      <p:bldP spid="31" grpId="0"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A255D-3676-B245-A1B0-68F96468300E}"/>
              </a:ext>
            </a:extLst>
          </p:cNvPr>
          <p:cNvSpPr>
            <a:spLocks noGrp="1"/>
          </p:cNvSpPr>
          <p:nvPr>
            <p:ph type="title"/>
          </p:nvPr>
        </p:nvSpPr>
        <p:spPr/>
        <p:txBody>
          <a:bodyPr/>
          <a:lstStyle/>
          <a:p>
            <a:r>
              <a:rPr lang="en-US" dirty="0"/>
              <a:t>IR Goals</a:t>
            </a:r>
          </a:p>
        </p:txBody>
      </p:sp>
      <p:sp>
        <p:nvSpPr>
          <p:cNvPr id="3" name="Content Placeholder 2">
            <a:extLst>
              <a:ext uri="{FF2B5EF4-FFF2-40B4-BE49-F238E27FC236}">
                <a16:creationId xmlns:a16="http://schemas.microsoft.com/office/drawing/2014/main" id="{24C68221-C828-934B-A87A-5BDFDF35140A}"/>
              </a:ext>
            </a:extLst>
          </p:cNvPr>
          <p:cNvSpPr>
            <a:spLocks noGrp="1"/>
          </p:cNvSpPr>
          <p:nvPr>
            <p:ph idx="1"/>
          </p:nvPr>
        </p:nvSpPr>
        <p:spPr/>
        <p:txBody>
          <a:bodyPr/>
          <a:lstStyle/>
          <a:p>
            <a:r>
              <a:rPr lang="en-US" dirty="0"/>
              <a:t>we want a language with a </a:t>
            </a:r>
            <a:r>
              <a:rPr lang="en-US" b="1" dirty="0"/>
              <a:t>small number </a:t>
            </a:r>
            <a:r>
              <a:rPr lang="en-US" dirty="0"/>
              <a:t>of </a:t>
            </a:r>
            <a:r>
              <a:rPr lang="en-US" b="1" dirty="0"/>
              <a:t>simple </a:t>
            </a:r>
            <a:r>
              <a:rPr lang="en-US" dirty="0"/>
              <a:t>operations</a:t>
            </a:r>
          </a:p>
          <a:p>
            <a:pPr lvl="1"/>
            <a:r>
              <a:rPr lang="en-US" dirty="0"/>
              <a:t>…which can be </a:t>
            </a:r>
            <a:r>
              <a:rPr lang="en-US" b="1" dirty="0"/>
              <a:t>efficiently implemented </a:t>
            </a:r>
            <a:r>
              <a:rPr lang="en-US" dirty="0"/>
              <a:t>on most/all targets</a:t>
            </a:r>
          </a:p>
          <a:p>
            <a:r>
              <a:rPr lang="en-US" dirty="0"/>
              <a:t>so, something </a:t>
            </a:r>
            <a:r>
              <a:rPr lang="en-US" i="1" dirty="0"/>
              <a:t>similar to</a:t>
            </a:r>
            <a:r>
              <a:rPr lang="en-US" dirty="0"/>
              <a:t> assembly language…</a:t>
            </a:r>
          </a:p>
          <a:p>
            <a:pPr lvl="1"/>
            <a:r>
              <a:rPr lang="en-US" dirty="0"/>
              <a:t>but </a:t>
            </a:r>
            <a:r>
              <a:rPr lang="en-US" i="1" dirty="0"/>
              <a:t>without </a:t>
            </a:r>
            <a:r>
              <a:rPr lang="en-US" dirty="0"/>
              <a:t>being tied to a particular ISA.</a:t>
            </a:r>
          </a:p>
          <a:p>
            <a:r>
              <a:rPr lang="en-US" dirty="0"/>
              <a:t>a representation amenable to </a:t>
            </a:r>
            <a:r>
              <a:rPr lang="en-US" b="1" dirty="0"/>
              <a:t>optimization </a:t>
            </a:r>
            <a:r>
              <a:rPr lang="en-US" dirty="0"/>
              <a:t>would also be nice…</a:t>
            </a:r>
          </a:p>
          <a:p>
            <a:pPr lvl="1"/>
            <a:r>
              <a:rPr lang="en-US" dirty="0"/>
              <a:t>optimization rewrites code to do the same thing, but faster.</a:t>
            </a:r>
          </a:p>
          <a:p>
            <a:pPr lvl="1"/>
            <a:r>
              <a:rPr lang="en-US" dirty="0"/>
              <a:t>simple code is easier to optimize, so we've got that covered.</a:t>
            </a:r>
          </a:p>
          <a:p>
            <a:r>
              <a:rPr lang="en-US" dirty="0"/>
              <a:t>finally, we'll want to represent control flow as a </a:t>
            </a:r>
            <a:r>
              <a:rPr lang="en-US" b="1" dirty="0"/>
              <a:t>graph,</a:t>
            </a:r>
          </a:p>
          <a:p>
            <a:pPr lvl="1"/>
            <a:r>
              <a:rPr lang="en-US" dirty="0"/>
              <a:t>as this enables lots of analyses for optimization and </a:t>
            </a:r>
            <a:r>
              <a:rPr lang="en-US" dirty="0" err="1"/>
              <a:t>codegen</a:t>
            </a:r>
            <a:r>
              <a:rPr lang="en-US" dirty="0"/>
              <a:t> that a linear or tree structure would not.</a:t>
            </a:r>
          </a:p>
          <a:p>
            <a:r>
              <a:rPr lang="en-US" dirty="0"/>
              <a:t>the IR we'll be discussing is based on </a:t>
            </a:r>
            <a:r>
              <a:rPr lang="en-US" dirty="0" err="1"/>
              <a:t>rustc's</a:t>
            </a:r>
            <a:r>
              <a:rPr lang="en-US" dirty="0"/>
              <a:t> MIR,</a:t>
            </a:r>
          </a:p>
          <a:p>
            <a:pPr lvl="1"/>
            <a:r>
              <a:rPr lang="en-US" dirty="0"/>
              <a:t>but lots of IRs are similar in their goals and structure.</a:t>
            </a:r>
          </a:p>
        </p:txBody>
      </p:sp>
      <p:sp>
        <p:nvSpPr>
          <p:cNvPr id="4" name="Slide Number Placeholder 3">
            <a:extLst>
              <a:ext uri="{FF2B5EF4-FFF2-40B4-BE49-F238E27FC236}">
                <a16:creationId xmlns:a16="http://schemas.microsoft.com/office/drawing/2014/main" id="{A872334F-FD3E-AC41-8F35-0B93467182D2}"/>
              </a:ext>
            </a:extLst>
          </p:cNvPr>
          <p:cNvSpPr>
            <a:spLocks noGrp="1"/>
          </p:cNvSpPr>
          <p:nvPr>
            <p:ph type="sldNum" sz="quarter" idx="12"/>
          </p:nvPr>
        </p:nvSpPr>
        <p:spPr/>
        <p:txBody>
          <a:bodyPr/>
          <a:lstStyle/>
          <a:p>
            <a:fld id="{3552B95B-556F-44BD-91A5-D80C1B9E2BB3}" type="slidenum">
              <a:rPr lang="en-US" smtClean="0"/>
              <a:pPr/>
              <a:t>15</a:t>
            </a:fld>
            <a:endParaRPr lang="en-US"/>
          </a:p>
        </p:txBody>
      </p:sp>
    </p:spTree>
    <p:extLst>
      <p:ext uri="{BB962C8B-B14F-4D97-AF65-F5344CB8AC3E}">
        <p14:creationId xmlns:p14="http://schemas.microsoft.com/office/powerpoint/2010/main" val="24080661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74D32-368A-6E4A-93C8-2701BD867DB5}"/>
              </a:ext>
            </a:extLst>
          </p:cNvPr>
          <p:cNvSpPr>
            <a:spLocks noGrp="1"/>
          </p:cNvSpPr>
          <p:nvPr>
            <p:ph type="ctrTitle"/>
          </p:nvPr>
        </p:nvSpPr>
        <p:spPr/>
        <p:txBody>
          <a:bodyPr/>
          <a:lstStyle/>
          <a:p>
            <a:r>
              <a:rPr lang="en-US" dirty="0"/>
              <a:t>Our IR</a:t>
            </a:r>
          </a:p>
        </p:txBody>
      </p:sp>
      <p:sp>
        <p:nvSpPr>
          <p:cNvPr id="3" name="Slide Number Placeholder 2">
            <a:extLst>
              <a:ext uri="{FF2B5EF4-FFF2-40B4-BE49-F238E27FC236}">
                <a16:creationId xmlns:a16="http://schemas.microsoft.com/office/drawing/2014/main" id="{3D043689-E7CA-4146-AA69-25C87A0C1E69}"/>
              </a:ext>
            </a:extLst>
          </p:cNvPr>
          <p:cNvSpPr>
            <a:spLocks noGrp="1"/>
          </p:cNvSpPr>
          <p:nvPr>
            <p:ph type="sldNum" sz="quarter" idx="12"/>
          </p:nvPr>
        </p:nvSpPr>
        <p:spPr/>
        <p:txBody>
          <a:bodyPr/>
          <a:lstStyle/>
          <a:p>
            <a:fld id="{3552B95B-556F-44BD-91A5-D80C1B9E2BB3}" type="slidenum">
              <a:rPr lang="en-US" smtClean="0"/>
              <a:pPr/>
              <a:t>16</a:t>
            </a:fld>
            <a:endParaRPr lang="en-US"/>
          </a:p>
        </p:txBody>
      </p:sp>
    </p:spTree>
    <p:extLst>
      <p:ext uri="{BB962C8B-B14F-4D97-AF65-F5344CB8AC3E}">
        <p14:creationId xmlns:p14="http://schemas.microsoft.com/office/powerpoint/2010/main" val="242723302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2BA0-C326-D54D-BB26-20A72F488590}"/>
              </a:ext>
            </a:extLst>
          </p:cNvPr>
          <p:cNvSpPr>
            <a:spLocks noGrp="1"/>
          </p:cNvSpPr>
          <p:nvPr>
            <p:ph type="title"/>
          </p:nvPr>
        </p:nvSpPr>
        <p:spPr/>
        <p:txBody>
          <a:bodyPr/>
          <a:lstStyle/>
          <a:p>
            <a:r>
              <a:rPr lang="en-US" dirty="0"/>
              <a:t>The big picture </a:t>
            </a:r>
          </a:p>
        </p:txBody>
      </p:sp>
      <p:sp>
        <p:nvSpPr>
          <p:cNvPr id="3" name="Content Placeholder 2">
            <a:extLst>
              <a:ext uri="{FF2B5EF4-FFF2-40B4-BE49-F238E27FC236}">
                <a16:creationId xmlns:a16="http://schemas.microsoft.com/office/drawing/2014/main" id="{ACFA44D6-A899-464F-B1DC-5D6996FDF16C}"/>
              </a:ext>
            </a:extLst>
          </p:cNvPr>
          <p:cNvSpPr>
            <a:spLocks noGrp="1"/>
          </p:cNvSpPr>
          <p:nvPr>
            <p:ph idx="1"/>
          </p:nvPr>
        </p:nvSpPr>
        <p:spPr>
          <a:xfrm>
            <a:off x="152400" y="495301"/>
            <a:ext cx="8991600" cy="838199"/>
          </a:xfrm>
        </p:spPr>
        <p:txBody>
          <a:bodyPr/>
          <a:lstStyle/>
          <a:p>
            <a:r>
              <a:rPr lang="en-US" dirty="0"/>
              <a:t>each function in the source language will be represented by a </a:t>
            </a:r>
            <a:r>
              <a:rPr lang="en-US" b="1" dirty="0"/>
              <a:t>CFG</a:t>
            </a:r>
            <a:r>
              <a:rPr lang="en-US" dirty="0"/>
              <a:t>.</a:t>
            </a:r>
          </a:p>
          <a:p>
            <a:pPr lvl="1"/>
            <a:r>
              <a:rPr lang="en-US" dirty="0"/>
              <a:t>this is a </a:t>
            </a:r>
            <a:r>
              <a:rPr lang="en-US" b="1" dirty="0"/>
              <a:t>control flow graph: </a:t>
            </a:r>
            <a:r>
              <a:rPr lang="en-US" dirty="0"/>
              <a:t>essentially, a flowchart.</a:t>
            </a:r>
          </a:p>
        </p:txBody>
      </p:sp>
      <p:sp>
        <p:nvSpPr>
          <p:cNvPr id="4" name="Slide Number Placeholder 3">
            <a:extLst>
              <a:ext uri="{FF2B5EF4-FFF2-40B4-BE49-F238E27FC236}">
                <a16:creationId xmlns:a16="http://schemas.microsoft.com/office/drawing/2014/main" id="{5255A36D-FFE4-7B4F-A5E6-DC712EB956D3}"/>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218D2267-B4DE-8E4A-81BA-1A6049FCD590}"/>
              </a:ext>
            </a:extLst>
          </p:cNvPr>
          <p:cNvSpPr txBox="1"/>
          <p:nvPr/>
        </p:nvSpPr>
        <p:spPr>
          <a:xfrm>
            <a:off x="381000" y="1409700"/>
            <a:ext cx="2084225" cy="923330"/>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main()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5</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p:txBody>
      </p:sp>
      <p:grpSp>
        <p:nvGrpSpPr>
          <p:cNvPr id="46" name="Group 45">
            <a:extLst>
              <a:ext uri="{FF2B5EF4-FFF2-40B4-BE49-F238E27FC236}">
                <a16:creationId xmlns:a16="http://schemas.microsoft.com/office/drawing/2014/main" id="{4C6731EF-597C-7146-B108-0156811CEA9F}"/>
              </a:ext>
            </a:extLst>
          </p:cNvPr>
          <p:cNvGrpSpPr/>
          <p:nvPr/>
        </p:nvGrpSpPr>
        <p:grpSpPr>
          <a:xfrm>
            <a:off x="3048000" y="1638300"/>
            <a:ext cx="1066800" cy="442674"/>
            <a:chOff x="3048000" y="1638300"/>
            <a:chExt cx="1066800" cy="442674"/>
          </a:xfrm>
        </p:grpSpPr>
        <p:sp>
          <p:nvSpPr>
            <p:cNvPr id="6" name="Rounded Rectangle 5">
              <a:extLst>
                <a:ext uri="{FF2B5EF4-FFF2-40B4-BE49-F238E27FC236}">
                  <a16:creationId xmlns:a16="http://schemas.microsoft.com/office/drawing/2014/main" id="{37E93DA9-001F-3F4F-9833-25B2C8E6F8FA}"/>
                </a:ext>
              </a:extLst>
            </p:cNvPr>
            <p:cNvSpPr/>
            <p:nvPr/>
          </p:nvSpPr>
          <p:spPr>
            <a:xfrm>
              <a:off x="3505200" y="1638300"/>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7" name="Straight Arrow Connector 6">
              <a:extLst>
                <a:ext uri="{FF2B5EF4-FFF2-40B4-BE49-F238E27FC236}">
                  <a16:creationId xmlns:a16="http://schemas.microsoft.com/office/drawing/2014/main" id="{B483C129-79B5-0C42-99C8-941D063034D9}"/>
                </a:ext>
              </a:extLst>
            </p:cNvPr>
            <p:cNvCxnSpPr>
              <a:cxnSpLocks/>
              <a:endCxn id="6" idx="1"/>
            </p:cNvCxnSpPr>
            <p:nvPr/>
          </p:nvCxnSpPr>
          <p:spPr>
            <a:xfrm>
              <a:off x="3048000" y="1859637"/>
              <a:ext cx="4572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3B779575-E03F-2149-8765-CAADE150FEFA}"/>
              </a:ext>
            </a:extLst>
          </p:cNvPr>
          <p:cNvSpPr txBox="1"/>
          <p:nvPr/>
        </p:nvSpPr>
        <p:spPr>
          <a:xfrm>
            <a:off x="381000" y="2839700"/>
            <a:ext cx="2590774" cy="2031325"/>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test(x: </a:t>
            </a:r>
            <a:r>
              <a:rPr lang="en-US" sz="1800" b="1" dirty="0">
                <a:solidFill>
                  <a:srgbClr val="FF0000"/>
                </a:solidFill>
                <a:latin typeface="Consolas" panose="020B0609020204030204" pitchFamily="49" charset="0"/>
                <a:cs typeface="Consolas" panose="020B0609020204030204" pitchFamily="49" charset="0"/>
              </a:rPr>
              <a:t>bool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x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"y"</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else</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"n"</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a:t>
            </a:r>
          </a:p>
        </p:txBody>
      </p:sp>
      <p:grpSp>
        <p:nvGrpSpPr>
          <p:cNvPr id="47" name="Group 46">
            <a:extLst>
              <a:ext uri="{FF2B5EF4-FFF2-40B4-BE49-F238E27FC236}">
                <a16:creationId xmlns:a16="http://schemas.microsoft.com/office/drawing/2014/main" id="{DA02C812-7FCC-0A4F-B92F-C6CDFB95115C}"/>
              </a:ext>
            </a:extLst>
          </p:cNvPr>
          <p:cNvGrpSpPr/>
          <p:nvPr/>
        </p:nvGrpSpPr>
        <p:grpSpPr>
          <a:xfrm>
            <a:off x="3048000" y="2781300"/>
            <a:ext cx="1523999" cy="2215287"/>
            <a:chOff x="3048000" y="2781300"/>
            <a:chExt cx="1523999" cy="2215287"/>
          </a:xfrm>
        </p:grpSpPr>
        <p:cxnSp>
          <p:nvCxnSpPr>
            <p:cNvPr id="15" name="Straight Arrow Connector 14">
              <a:extLst>
                <a:ext uri="{FF2B5EF4-FFF2-40B4-BE49-F238E27FC236}">
                  <a16:creationId xmlns:a16="http://schemas.microsoft.com/office/drawing/2014/main" id="{746ABA12-F7CD-7C46-BB70-11DFA170A7B1}"/>
                </a:ext>
              </a:extLst>
            </p:cNvPr>
            <p:cNvCxnSpPr>
              <a:cxnSpLocks/>
              <a:endCxn id="16" idx="1"/>
            </p:cNvCxnSpPr>
            <p:nvPr/>
          </p:nvCxnSpPr>
          <p:spPr>
            <a:xfrm>
              <a:off x="3048000" y="3002637"/>
              <a:ext cx="4571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A9690DD1-2957-6B4B-85D9-7CC9D6EA111A}"/>
                </a:ext>
              </a:extLst>
            </p:cNvPr>
            <p:cNvSpPr/>
            <p:nvPr/>
          </p:nvSpPr>
          <p:spPr>
            <a:xfrm>
              <a:off x="3505199" y="2781300"/>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7" name="Straight Arrow Connector 16">
              <a:extLst>
                <a:ext uri="{FF2B5EF4-FFF2-40B4-BE49-F238E27FC236}">
                  <a16:creationId xmlns:a16="http://schemas.microsoft.com/office/drawing/2014/main" id="{A9F21F62-4625-864D-A5D4-ACF649B6A233}"/>
                </a:ext>
              </a:extLst>
            </p:cNvPr>
            <p:cNvCxnSpPr>
              <a:cxnSpLocks/>
              <a:stCxn id="16" idx="2"/>
              <a:endCxn id="22" idx="0"/>
            </p:cNvCxnSpPr>
            <p:nvPr/>
          </p:nvCxnSpPr>
          <p:spPr>
            <a:xfrm>
              <a:off x="3809999" y="3223974"/>
              <a:ext cx="457200" cy="4426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57F9033-0956-294E-8DF7-64B197C60684}"/>
                </a:ext>
              </a:extLst>
            </p:cNvPr>
            <p:cNvCxnSpPr>
              <a:cxnSpLocks/>
              <a:stCxn id="16" idx="2"/>
              <a:endCxn id="19" idx="0"/>
            </p:cNvCxnSpPr>
            <p:nvPr/>
          </p:nvCxnSpPr>
          <p:spPr>
            <a:xfrm flipH="1">
              <a:off x="3352800" y="3223974"/>
              <a:ext cx="457199" cy="442674"/>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99CD5EF8-DA6B-1A4A-B528-5DA511DC27F0}"/>
                </a:ext>
              </a:extLst>
            </p:cNvPr>
            <p:cNvSpPr/>
            <p:nvPr/>
          </p:nvSpPr>
          <p:spPr>
            <a:xfrm>
              <a:off x="3048000" y="3666648"/>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22" name="Rounded Rectangle 21">
              <a:extLst>
                <a:ext uri="{FF2B5EF4-FFF2-40B4-BE49-F238E27FC236}">
                  <a16:creationId xmlns:a16="http://schemas.microsoft.com/office/drawing/2014/main" id="{36BCC0CD-A489-1241-8275-691BC97991B1}"/>
                </a:ext>
              </a:extLst>
            </p:cNvPr>
            <p:cNvSpPr/>
            <p:nvPr/>
          </p:nvSpPr>
          <p:spPr>
            <a:xfrm>
              <a:off x="3962399" y="3666648"/>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23" name="Straight Arrow Connector 22">
              <a:extLst>
                <a:ext uri="{FF2B5EF4-FFF2-40B4-BE49-F238E27FC236}">
                  <a16:creationId xmlns:a16="http://schemas.microsoft.com/office/drawing/2014/main" id="{ACA95DCF-6F4F-7640-AB08-504722F75482}"/>
                </a:ext>
              </a:extLst>
            </p:cNvPr>
            <p:cNvCxnSpPr>
              <a:cxnSpLocks/>
              <a:stCxn id="19" idx="2"/>
              <a:endCxn id="24" idx="0"/>
            </p:cNvCxnSpPr>
            <p:nvPr/>
          </p:nvCxnSpPr>
          <p:spPr>
            <a:xfrm>
              <a:off x="3352800" y="4109322"/>
              <a:ext cx="464418" cy="444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8E0AD226-2E25-604C-91DB-41BE0E0F7526}"/>
                </a:ext>
              </a:extLst>
            </p:cNvPr>
            <p:cNvSpPr/>
            <p:nvPr/>
          </p:nvSpPr>
          <p:spPr>
            <a:xfrm>
              <a:off x="3512418" y="4553913"/>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27" name="Straight Arrow Connector 26">
              <a:extLst>
                <a:ext uri="{FF2B5EF4-FFF2-40B4-BE49-F238E27FC236}">
                  <a16:creationId xmlns:a16="http://schemas.microsoft.com/office/drawing/2014/main" id="{2F893841-5EF1-D54B-84BA-32EFCAF5526E}"/>
                </a:ext>
              </a:extLst>
            </p:cNvPr>
            <p:cNvCxnSpPr>
              <a:cxnSpLocks/>
              <a:stCxn id="22" idx="2"/>
              <a:endCxn id="24" idx="0"/>
            </p:cNvCxnSpPr>
            <p:nvPr/>
          </p:nvCxnSpPr>
          <p:spPr>
            <a:xfrm flipH="1">
              <a:off x="3817218" y="4109322"/>
              <a:ext cx="449981" cy="4445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27966BB5-8674-4D46-87FF-6C37B93CA4F1}"/>
              </a:ext>
            </a:extLst>
          </p:cNvPr>
          <p:cNvSpPr txBox="1"/>
          <p:nvPr/>
        </p:nvSpPr>
        <p:spPr>
          <a:xfrm>
            <a:off x="4760364" y="1305639"/>
            <a:ext cx="3836826" cy="1107996"/>
          </a:xfrm>
          <a:prstGeom prst="rect">
            <a:avLst/>
          </a:prstGeom>
          <a:noFill/>
        </p:spPr>
        <p:txBody>
          <a:bodyPr wrap="square" rtlCol="0">
            <a:spAutoFit/>
          </a:bodyPr>
          <a:lstStyle/>
          <a:p>
            <a:pPr algn="ctr"/>
            <a:r>
              <a:rPr lang="en-US" sz="2200" dirty="0"/>
              <a:t>each node in the CFG is called a </a:t>
            </a:r>
            <a:r>
              <a:rPr lang="en-US" sz="2200" b="1" dirty="0"/>
              <a:t>basic block. </a:t>
            </a:r>
            <a:r>
              <a:rPr lang="en-US" sz="2200" dirty="0"/>
              <a:t>this function only has one.</a:t>
            </a:r>
          </a:p>
        </p:txBody>
      </p:sp>
      <p:sp>
        <p:nvSpPr>
          <p:cNvPr id="44" name="TextBox 43">
            <a:extLst>
              <a:ext uri="{FF2B5EF4-FFF2-40B4-BE49-F238E27FC236}">
                <a16:creationId xmlns:a16="http://schemas.microsoft.com/office/drawing/2014/main" id="{3165699D-6CC4-3C4F-956E-AA18631BAFB9}"/>
              </a:ext>
            </a:extLst>
          </p:cNvPr>
          <p:cNvSpPr txBox="1"/>
          <p:nvPr/>
        </p:nvSpPr>
        <p:spPr>
          <a:xfrm>
            <a:off x="4876798" y="2747301"/>
            <a:ext cx="4191002" cy="1107996"/>
          </a:xfrm>
          <a:prstGeom prst="rect">
            <a:avLst/>
          </a:prstGeom>
          <a:noFill/>
        </p:spPr>
        <p:txBody>
          <a:bodyPr wrap="square" rtlCol="0">
            <a:spAutoFit/>
          </a:bodyPr>
          <a:lstStyle/>
          <a:p>
            <a:pPr algn="ctr"/>
            <a:r>
              <a:rPr lang="en-US" sz="2200" dirty="0"/>
              <a:t>basic blocks can have 0, 1, or 2 </a:t>
            </a:r>
            <a:r>
              <a:rPr lang="en-US" sz="2200" b="1" dirty="0"/>
              <a:t>successors: </a:t>
            </a:r>
            <a:r>
              <a:rPr lang="en-US" sz="2200" dirty="0"/>
              <a:t>what will be run after the basic block completes.</a:t>
            </a:r>
          </a:p>
        </p:txBody>
      </p:sp>
      <p:sp>
        <p:nvSpPr>
          <p:cNvPr id="45" name="TextBox 44">
            <a:extLst>
              <a:ext uri="{FF2B5EF4-FFF2-40B4-BE49-F238E27FC236}">
                <a16:creationId xmlns:a16="http://schemas.microsoft.com/office/drawing/2014/main" id="{E0E7D650-C218-C646-A3FE-9CBCBE8F9C40}"/>
              </a:ext>
            </a:extLst>
          </p:cNvPr>
          <p:cNvSpPr txBox="1"/>
          <p:nvPr/>
        </p:nvSpPr>
        <p:spPr>
          <a:xfrm>
            <a:off x="5334000" y="4109322"/>
            <a:ext cx="3276598" cy="646331"/>
          </a:xfrm>
          <a:prstGeom prst="rect">
            <a:avLst/>
          </a:prstGeom>
          <a:noFill/>
        </p:spPr>
        <p:txBody>
          <a:bodyPr wrap="square" rtlCol="0">
            <a:spAutoFit/>
          </a:bodyPr>
          <a:lstStyle/>
          <a:p>
            <a:pPr algn="ctr"/>
            <a:r>
              <a:rPr lang="en-US" sz="1800" dirty="0"/>
              <a:t>blocks with 2 successors are clearly making decisions…</a:t>
            </a:r>
          </a:p>
        </p:txBody>
      </p:sp>
    </p:spTree>
    <p:extLst>
      <p:ext uri="{BB962C8B-B14F-4D97-AF65-F5344CB8AC3E}">
        <p14:creationId xmlns:p14="http://schemas.microsoft.com/office/powerpoint/2010/main" val="31881414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43" grpId="0"/>
      <p:bldP spid="44" grpId="0"/>
      <p:bldP spid="4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4CB37-EEFF-F043-9108-22BE419C76EA}"/>
              </a:ext>
            </a:extLst>
          </p:cNvPr>
          <p:cNvSpPr>
            <a:spLocks noGrp="1"/>
          </p:cNvSpPr>
          <p:nvPr>
            <p:ph type="title"/>
          </p:nvPr>
        </p:nvSpPr>
        <p:spPr/>
        <p:txBody>
          <a:bodyPr/>
          <a:lstStyle/>
          <a:p>
            <a:r>
              <a:rPr lang="en-US" dirty="0"/>
              <a:t>The little picture</a:t>
            </a:r>
          </a:p>
        </p:txBody>
      </p:sp>
      <p:sp>
        <p:nvSpPr>
          <p:cNvPr id="3" name="Content Placeholder 2">
            <a:extLst>
              <a:ext uri="{FF2B5EF4-FFF2-40B4-BE49-F238E27FC236}">
                <a16:creationId xmlns:a16="http://schemas.microsoft.com/office/drawing/2014/main" id="{54D6EA03-8E52-084D-9230-F816841B1BBE}"/>
              </a:ext>
            </a:extLst>
          </p:cNvPr>
          <p:cNvSpPr>
            <a:spLocks noGrp="1"/>
          </p:cNvSpPr>
          <p:nvPr>
            <p:ph idx="1"/>
          </p:nvPr>
        </p:nvSpPr>
        <p:spPr>
          <a:xfrm>
            <a:off x="152400" y="495301"/>
            <a:ext cx="8991600" cy="914399"/>
          </a:xfrm>
        </p:spPr>
        <p:txBody>
          <a:bodyPr/>
          <a:lstStyle/>
          <a:p>
            <a:r>
              <a:rPr lang="en-US" dirty="0"/>
              <a:t>each basic block will contain </a:t>
            </a:r>
            <a:r>
              <a:rPr lang="en-US" b="1" dirty="0"/>
              <a:t>instructions </a:t>
            </a:r>
            <a:r>
              <a:rPr lang="en-US" dirty="0"/>
              <a:t>in a simple language.</a:t>
            </a:r>
          </a:p>
          <a:p>
            <a:pPr lvl="1"/>
            <a:r>
              <a:rPr lang="en-US" dirty="0"/>
              <a:t>basically, each line only does </a:t>
            </a:r>
            <a:r>
              <a:rPr lang="en-US" b="1" dirty="0"/>
              <a:t>one </a:t>
            </a:r>
            <a:r>
              <a:rPr lang="en-US" dirty="0"/>
              <a:t>thing.</a:t>
            </a:r>
          </a:p>
        </p:txBody>
      </p:sp>
      <p:sp>
        <p:nvSpPr>
          <p:cNvPr id="4" name="Slide Number Placeholder 3">
            <a:extLst>
              <a:ext uri="{FF2B5EF4-FFF2-40B4-BE49-F238E27FC236}">
                <a16:creationId xmlns:a16="http://schemas.microsoft.com/office/drawing/2014/main" id="{C7665038-4473-204F-BC0D-88C64DB200C3}"/>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6" name="Rectangle 5">
            <a:extLst>
              <a:ext uri="{FF2B5EF4-FFF2-40B4-BE49-F238E27FC236}">
                <a16:creationId xmlns:a16="http://schemas.microsoft.com/office/drawing/2014/main" id="{0F03C804-C611-7C48-9FC0-CD0B48BD2D81}"/>
              </a:ext>
            </a:extLst>
          </p:cNvPr>
          <p:cNvSpPr/>
          <p:nvPr/>
        </p:nvSpPr>
        <p:spPr>
          <a:xfrm>
            <a:off x="381000" y="1400175"/>
            <a:ext cx="4267200" cy="461665"/>
          </a:xfrm>
          <a:prstGeom prst="rect">
            <a:avLst/>
          </a:prstGeom>
        </p:spPr>
        <p:txBody>
          <a:bodyPr wrap="square">
            <a:spAutoFit/>
          </a:bodyPr>
          <a:lstStyle/>
          <a:p>
            <a:r>
              <a:rPr lang="en-US" sz="2400" b="1" dirty="0">
                <a:latin typeface="Consolas" panose="020B0609020204030204" pitchFamily="49" charset="0"/>
                <a:cs typeface="Consolas" panose="020B0609020204030204" pitchFamily="49" charset="0"/>
              </a:rPr>
              <a:t>d = (x + y) * (-z / w)</a:t>
            </a:r>
          </a:p>
        </p:txBody>
      </p:sp>
      <p:sp>
        <p:nvSpPr>
          <p:cNvPr id="7" name="Right Arrow 6">
            <a:extLst>
              <a:ext uri="{FF2B5EF4-FFF2-40B4-BE49-F238E27FC236}">
                <a16:creationId xmlns:a16="http://schemas.microsoft.com/office/drawing/2014/main" id="{783E2C23-6E4E-AF4B-AD30-3CEA144EB6B5}"/>
              </a:ext>
            </a:extLst>
          </p:cNvPr>
          <p:cNvSpPr/>
          <p:nvPr/>
        </p:nvSpPr>
        <p:spPr>
          <a:xfrm rot="5400000">
            <a:off x="1063438" y="1994557"/>
            <a:ext cx="502023" cy="43088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22EC665-A46E-F94F-A4F7-B238782E1A8A}"/>
              </a:ext>
            </a:extLst>
          </p:cNvPr>
          <p:cNvSpPr/>
          <p:nvPr/>
        </p:nvSpPr>
        <p:spPr>
          <a:xfrm>
            <a:off x="596444" y="2521960"/>
            <a:ext cx="2823028" cy="1569660"/>
          </a:xfrm>
          <a:prstGeom prst="rect">
            <a:avLst/>
          </a:prstGeom>
        </p:spPr>
        <p:txBody>
          <a:bodyPr wrap="square">
            <a:spAutoFit/>
          </a:bodyPr>
          <a:lstStyle/>
          <a:p>
            <a:r>
              <a:rPr lang="en-US" sz="2400" b="1" dirty="0">
                <a:solidFill>
                  <a:schemeClr val="accent3">
                    <a:lumMod val="75000"/>
                  </a:schemeClr>
                </a:solidFill>
                <a:latin typeface="Consolas" panose="020B0609020204030204" pitchFamily="49" charset="0"/>
                <a:cs typeface="Consolas" panose="020B0609020204030204" pitchFamily="49" charset="0"/>
              </a:rPr>
              <a:t>$t1</a:t>
            </a:r>
            <a:r>
              <a:rPr lang="en-US" sz="2400" b="1" dirty="0">
                <a:latin typeface="Consolas" panose="020B0609020204030204" pitchFamily="49" charset="0"/>
                <a:cs typeface="Consolas" panose="020B0609020204030204" pitchFamily="49" charset="0"/>
              </a:rPr>
              <a:t> = </a:t>
            </a:r>
            <a:r>
              <a:rPr lang="en-US" sz="2400" b="1" dirty="0">
                <a:solidFill>
                  <a:srgbClr val="0070C0"/>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y</a:t>
            </a:r>
          </a:p>
          <a:p>
            <a:r>
              <a:rPr lang="en-US" sz="2400" b="1" dirty="0">
                <a:solidFill>
                  <a:schemeClr val="accent3">
                    <a:lumMod val="75000"/>
                  </a:schemeClr>
                </a:solidFill>
                <a:latin typeface="Consolas" panose="020B0609020204030204" pitchFamily="49" charset="0"/>
                <a:cs typeface="Consolas" panose="020B0609020204030204" pitchFamily="49" charset="0"/>
              </a:rPr>
              <a:t>$t2</a:t>
            </a:r>
            <a:r>
              <a:rPr lang="en-US" sz="2400" b="1" dirty="0">
                <a:latin typeface="Consolas" panose="020B0609020204030204" pitchFamily="49" charset="0"/>
                <a:cs typeface="Consolas" panose="020B0609020204030204" pitchFamily="49" charset="0"/>
              </a:rPr>
              <a:t> = </a:t>
            </a:r>
            <a:r>
              <a:rPr lang="en-US" sz="2400" b="1" dirty="0">
                <a:solidFill>
                  <a:srgbClr val="FF0000"/>
                </a:solidFill>
                <a:latin typeface="Consolas" panose="020B0609020204030204" pitchFamily="49" charset="0"/>
                <a:cs typeface="Consolas" panose="020B0609020204030204" pitchFamily="49" charset="0"/>
              </a:rPr>
              <a:t>-</a:t>
            </a:r>
            <a:r>
              <a:rPr lang="en-US" sz="2400" b="1" dirty="0">
                <a:solidFill>
                  <a:srgbClr val="0070C0"/>
                </a:solidFill>
                <a:latin typeface="Consolas" panose="020B0609020204030204" pitchFamily="49" charset="0"/>
                <a:cs typeface="Consolas" panose="020B0609020204030204" pitchFamily="49" charset="0"/>
              </a:rPr>
              <a:t>z</a:t>
            </a:r>
          </a:p>
          <a:p>
            <a:r>
              <a:rPr lang="en-US" sz="2400" b="1" dirty="0">
                <a:solidFill>
                  <a:schemeClr val="accent3">
                    <a:lumMod val="75000"/>
                  </a:schemeClr>
                </a:solidFill>
                <a:latin typeface="Consolas" panose="020B0609020204030204" pitchFamily="49" charset="0"/>
                <a:cs typeface="Consolas" panose="020B0609020204030204" pitchFamily="49" charset="0"/>
              </a:rPr>
              <a:t>$t3</a:t>
            </a:r>
            <a:r>
              <a:rPr lang="en-US" sz="2400" b="1" dirty="0">
                <a:latin typeface="Consolas" panose="020B0609020204030204" pitchFamily="49" charset="0"/>
                <a:cs typeface="Consolas" panose="020B0609020204030204" pitchFamily="49" charset="0"/>
              </a:rPr>
              <a:t> = </a:t>
            </a:r>
            <a:r>
              <a:rPr lang="en-US" sz="2400" b="1" dirty="0">
                <a:solidFill>
                  <a:srgbClr val="0070C0"/>
                </a:solidFill>
                <a:latin typeface="Consolas" panose="020B0609020204030204" pitchFamily="49" charset="0"/>
                <a:cs typeface="Consolas" panose="020B0609020204030204" pitchFamily="49" charset="0"/>
              </a:rPr>
              <a:t>$t2</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w</a:t>
            </a:r>
          </a:p>
          <a:p>
            <a:r>
              <a:rPr lang="en-US" sz="2400" b="1" dirty="0">
                <a:solidFill>
                  <a:schemeClr val="accent3">
                    <a:lumMod val="75000"/>
                  </a:schemeClr>
                </a:solidFill>
                <a:latin typeface="Consolas" panose="020B0609020204030204" pitchFamily="49" charset="0"/>
                <a:cs typeface="Consolas" panose="020B0609020204030204" pitchFamily="49" charset="0"/>
              </a:rPr>
              <a:t>d</a:t>
            </a:r>
            <a:r>
              <a:rPr lang="en-US" sz="2400" b="1" dirty="0">
                <a:solidFill>
                  <a:srgbClr val="0070C0"/>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$t1</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$t3</a:t>
            </a:r>
            <a:endParaRPr lang="en-US" sz="24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D954A2C3-D2E1-7342-BD3D-CD5F75E8AA60}"/>
              </a:ext>
            </a:extLst>
          </p:cNvPr>
          <p:cNvSpPr txBox="1"/>
          <p:nvPr/>
        </p:nvSpPr>
        <p:spPr>
          <a:xfrm>
            <a:off x="579879" y="4314825"/>
            <a:ext cx="2667000" cy="769441"/>
          </a:xfrm>
          <a:prstGeom prst="rect">
            <a:avLst/>
          </a:prstGeom>
          <a:noFill/>
        </p:spPr>
        <p:txBody>
          <a:bodyPr wrap="square" rtlCol="0">
            <a:spAutoFit/>
          </a:bodyPr>
          <a:lstStyle/>
          <a:p>
            <a:pPr algn="ctr"/>
            <a:r>
              <a:rPr lang="en-US" sz="2200" b="1" dirty="0">
                <a:solidFill>
                  <a:schemeClr val="accent3">
                    <a:lumMod val="75000"/>
                  </a:schemeClr>
                </a:solidFill>
              </a:rPr>
              <a:t>destination</a:t>
            </a:r>
            <a:r>
              <a:rPr lang="en-US" sz="2200" b="1" dirty="0"/>
              <a:t>, </a:t>
            </a:r>
            <a:r>
              <a:rPr lang="en-US" sz="2200" b="1" dirty="0">
                <a:solidFill>
                  <a:srgbClr val="0070C0"/>
                </a:solidFill>
              </a:rPr>
              <a:t>source</a:t>
            </a:r>
            <a:r>
              <a:rPr lang="en-US" sz="2200" b="1" dirty="0"/>
              <a:t>, </a:t>
            </a:r>
            <a:r>
              <a:rPr lang="en-US" sz="2200" b="1" dirty="0">
                <a:solidFill>
                  <a:srgbClr val="FF0000"/>
                </a:solidFill>
              </a:rPr>
              <a:t>operation</a:t>
            </a:r>
          </a:p>
        </p:txBody>
      </p:sp>
      <p:sp>
        <p:nvSpPr>
          <p:cNvPr id="10" name="TextBox 9">
            <a:extLst>
              <a:ext uri="{FF2B5EF4-FFF2-40B4-BE49-F238E27FC236}">
                <a16:creationId xmlns:a16="http://schemas.microsoft.com/office/drawing/2014/main" id="{BB76273B-0B07-3B45-BE3F-82C4AC731CE9}"/>
              </a:ext>
            </a:extLst>
          </p:cNvPr>
          <p:cNvSpPr txBox="1"/>
          <p:nvPr/>
        </p:nvSpPr>
        <p:spPr>
          <a:xfrm>
            <a:off x="4081461" y="2008042"/>
            <a:ext cx="4248150" cy="430887"/>
          </a:xfrm>
          <a:prstGeom prst="rect">
            <a:avLst/>
          </a:prstGeom>
          <a:noFill/>
        </p:spPr>
        <p:txBody>
          <a:bodyPr wrap="square" rtlCol="0">
            <a:spAutoFit/>
          </a:bodyPr>
          <a:lstStyle/>
          <a:p>
            <a:pPr algn="ctr"/>
            <a:r>
              <a:rPr lang="en-US" sz="2200" dirty="0"/>
              <a:t>if this reminds you of </a:t>
            </a:r>
            <a:r>
              <a:rPr lang="en-US" sz="2200" dirty="0" err="1"/>
              <a:t>asm</a:t>
            </a:r>
            <a:r>
              <a:rPr lang="en-US" sz="2200" dirty="0"/>
              <a:t>, good.</a:t>
            </a:r>
            <a:endParaRPr lang="en-US" sz="2200" b="1" dirty="0"/>
          </a:p>
        </p:txBody>
      </p:sp>
      <p:sp>
        <p:nvSpPr>
          <p:cNvPr id="11" name="Rectangle 10">
            <a:extLst>
              <a:ext uri="{FF2B5EF4-FFF2-40B4-BE49-F238E27FC236}">
                <a16:creationId xmlns:a16="http://schemas.microsoft.com/office/drawing/2014/main" id="{70D9F44F-C0B9-3E4D-B65A-4E9D565C91A2}"/>
              </a:ext>
            </a:extLst>
          </p:cNvPr>
          <p:cNvSpPr/>
          <p:nvPr/>
        </p:nvSpPr>
        <p:spPr>
          <a:xfrm>
            <a:off x="4757736" y="2521960"/>
            <a:ext cx="3471864" cy="1569660"/>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add</a:t>
            </a:r>
            <a:r>
              <a:rPr lang="en-US" sz="2400" b="1" dirty="0">
                <a:solidFill>
                  <a:schemeClr val="accent3">
                    <a:lumMod val="75000"/>
                  </a:schemeClr>
                </a:solidFill>
                <a:latin typeface="Consolas" panose="020B0609020204030204" pitchFamily="49" charset="0"/>
                <a:cs typeface="Consolas" panose="020B0609020204030204" pitchFamily="49" charset="0"/>
              </a:rPr>
              <a:t>  $t1</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y</a:t>
            </a:r>
          </a:p>
          <a:p>
            <a:r>
              <a:rPr lang="en-US" sz="2400" b="1" dirty="0">
                <a:solidFill>
                  <a:srgbClr val="FF0000"/>
                </a:solidFill>
                <a:latin typeface="Consolas" panose="020B0609020204030204" pitchFamily="49" charset="0"/>
                <a:cs typeface="Consolas" panose="020B0609020204030204" pitchFamily="49" charset="0"/>
              </a:rPr>
              <a:t>neg</a:t>
            </a:r>
            <a:r>
              <a:rPr lang="en-US" sz="2400" b="1" dirty="0">
                <a:solidFill>
                  <a:schemeClr val="accent3">
                    <a:lumMod val="75000"/>
                  </a:schemeClr>
                </a:solidFill>
                <a:latin typeface="Consolas" panose="020B0609020204030204" pitchFamily="49" charset="0"/>
                <a:cs typeface="Consolas" panose="020B0609020204030204" pitchFamily="49" charset="0"/>
              </a:rPr>
              <a:t>  $t2</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z</a:t>
            </a:r>
          </a:p>
          <a:p>
            <a:r>
              <a:rPr lang="en-US" sz="2400" b="1" dirty="0">
                <a:solidFill>
                  <a:srgbClr val="FF0000"/>
                </a:solidFill>
                <a:latin typeface="Consolas" panose="020B0609020204030204" pitchFamily="49" charset="0"/>
                <a:cs typeface="Consolas" panose="020B0609020204030204" pitchFamily="49" charset="0"/>
              </a:rPr>
              <a:t>div</a:t>
            </a:r>
            <a:r>
              <a:rPr lang="en-US" sz="2400" b="1" dirty="0">
                <a:solidFill>
                  <a:schemeClr val="accent3">
                    <a:lumMod val="75000"/>
                  </a:schemeClr>
                </a:solidFill>
                <a:latin typeface="Consolas" panose="020B0609020204030204" pitchFamily="49" charset="0"/>
                <a:cs typeface="Consolas" panose="020B0609020204030204" pitchFamily="49" charset="0"/>
              </a:rPr>
              <a:t>  $t3</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$t2</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w</a:t>
            </a:r>
          </a:p>
          <a:p>
            <a:r>
              <a:rPr lang="en-US" sz="2400" b="1" dirty="0" err="1">
                <a:solidFill>
                  <a:srgbClr val="FF0000"/>
                </a:solidFill>
                <a:latin typeface="Consolas" panose="020B0609020204030204" pitchFamily="49" charset="0"/>
                <a:cs typeface="Consolas" panose="020B0609020204030204" pitchFamily="49" charset="0"/>
              </a:rPr>
              <a:t>mul</a:t>
            </a:r>
            <a:r>
              <a:rPr lang="en-US" sz="2400" b="1" dirty="0">
                <a:solidFill>
                  <a:schemeClr val="accent3">
                    <a:lumMod val="75000"/>
                  </a:schemeClr>
                </a:solidFill>
                <a:latin typeface="Consolas" panose="020B0609020204030204" pitchFamily="49" charset="0"/>
                <a:cs typeface="Consolas" panose="020B0609020204030204" pitchFamily="49" charset="0"/>
              </a:rPr>
              <a:t>  d</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$t1</a:t>
            </a:r>
            <a:r>
              <a:rPr lang="en-US" sz="2400" b="1" dirty="0">
                <a:latin typeface="Consolas" panose="020B0609020204030204" pitchFamily="49" charset="0"/>
                <a:cs typeface="Consolas" panose="020B0609020204030204" pitchFamily="49" charset="0"/>
              </a:rPr>
              <a:t>, </a:t>
            </a:r>
            <a:r>
              <a:rPr lang="en-US" sz="2400" b="1" dirty="0">
                <a:solidFill>
                  <a:srgbClr val="0070C0"/>
                </a:solidFill>
                <a:latin typeface="Consolas" panose="020B0609020204030204" pitchFamily="49" charset="0"/>
                <a:cs typeface="Consolas" panose="020B0609020204030204" pitchFamily="49" charset="0"/>
              </a:rPr>
              <a:t>$t3</a:t>
            </a:r>
            <a:endParaRPr lang="en-US" sz="2400" b="1"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5EAFF079-10D5-0A43-8492-D93CCDC69BB8}"/>
              </a:ext>
            </a:extLst>
          </p:cNvPr>
          <p:cNvSpPr txBox="1"/>
          <p:nvPr/>
        </p:nvSpPr>
        <p:spPr>
          <a:xfrm>
            <a:off x="3419472" y="4314825"/>
            <a:ext cx="5572128" cy="769441"/>
          </a:xfrm>
          <a:prstGeom prst="rect">
            <a:avLst/>
          </a:prstGeom>
          <a:noFill/>
        </p:spPr>
        <p:txBody>
          <a:bodyPr wrap="square" rtlCol="0">
            <a:spAutoFit/>
          </a:bodyPr>
          <a:lstStyle/>
          <a:p>
            <a:pPr algn="ctr"/>
            <a:r>
              <a:rPr lang="en-US" sz="2200" dirty="0"/>
              <a:t>it's kind of like </a:t>
            </a:r>
            <a:r>
              <a:rPr lang="en-US" sz="2200" dirty="0" err="1"/>
              <a:t>asm</a:t>
            </a:r>
            <a:r>
              <a:rPr lang="en-US" sz="2200" dirty="0"/>
              <a:t> </a:t>
            </a:r>
            <a:r>
              <a:rPr lang="en-US" sz="2200" b="1" dirty="0"/>
              <a:t>without loads/stores, </a:t>
            </a:r>
            <a:r>
              <a:rPr lang="en-US" sz="2200" dirty="0"/>
              <a:t>and with</a:t>
            </a:r>
            <a:r>
              <a:rPr lang="en-US" sz="2200" b="1" dirty="0"/>
              <a:t> infinite temporary registers.</a:t>
            </a:r>
          </a:p>
        </p:txBody>
      </p:sp>
    </p:spTree>
    <p:extLst>
      <p:ext uri="{BB962C8B-B14F-4D97-AF65-F5344CB8AC3E}">
        <p14:creationId xmlns:p14="http://schemas.microsoft.com/office/powerpoint/2010/main" val="1687176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p:bldP spid="10"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C2443-110C-844C-89C5-C32E7F8874BF}"/>
              </a:ext>
            </a:extLst>
          </p:cNvPr>
          <p:cNvSpPr>
            <a:spLocks noGrp="1"/>
          </p:cNvSpPr>
          <p:nvPr>
            <p:ph type="title"/>
          </p:nvPr>
        </p:nvSpPr>
        <p:spPr/>
        <p:txBody>
          <a:bodyPr/>
          <a:lstStyle/>
          <a:p>
            <a:r>
              <a:rPr lang="en-US" dirty="0"/>
              <a:t>Locals/temporaries</a:t>
            </a:r>
          </a:p>
        </p:txBody>
      </p:sp>
      <p:sp>
        <p:nvSpPr>
          <p:cNvPr id="3" name="Content Placeholder 2">
            <a:extLst>
              <a:ext uri="{FF2B5EF4-FFF2-40B4-BE49-F238E27FC236}">
                <a16:creationId xmlns:a16="http://schemas.microsoft.com/office/drawing/2014/main" id="{A630E43B-0B18-AF4F-A071-68A439241888}"/>
              </a:ext>
            </a:extLst>
          </p:cNvPr>
          <p:cNvSpPr>
            <a:spLocks noGrp="1"/>
          </p:cNvSpPr>
          <p:nvPr>
            <p:ph idx="1"/>
          </p:nvPr>
        </p:nvSpPr>
        <p:spPr>
          <a:xfrm>
            <a:off x="152400" y="495301"/>
            <a:ext cx="8991600" cy="1219199"/>
          </a:xfrm>
        </p:spPr>
        <p:txBody>
          <a:bodyPr/>
          <a:lstStyle/>
          <a:p>
            <a:r>
              <a:rPr lang="en-US" dirty="0"/>
              <a:t>each function has a list of </a:t>
            </a:r>
            <a:r>
              <a:rPr lang="en-US" b="1" dirty="0"/>
              <a:t>locals: </a:t>
            </a:r>
            <a:r>
              <a:rPr lang="en-US" dirty="0"/>
              <a:t>places where values can be stored.</a:t>
            </a:r>
          </a:p>
          <a:p>
            <a:r>
              <a:rPr lang="en-US" dirty="0"/>
              <a:t>some of these are </a:t>
            </a:r>
            <a:r>
              <a:rPr lang="en-US" b="1" dirty="0"/>
              <a:t>local variables</a:t>
            </a:r>
            <a:r>
              <a:rPr lang="en-US" dirty="0"/>
              <a:t> that the user declared; others are </a:t>
            </a:r>
            <a:r>
              <a:rPr lang="en-US" b="1" dirty="0"/>
              <a:t>temporaries </a:t>
            </a:r>
            <a:r>
              <a:rPr lang="en-US" dirty="0"/>
              <a:t>created by the code generation.</a:t>
            </a:r>
          </a:p>
        </p:txBody>
      </p:sp>
      <p:sp>
        <p:nvSpPr>
          <p:cNvPr id="4" name="Slide Number Placeholder 3">
            <a:extLst>
              <a:ext uri="{FF2B5EF4-FFF2-40B4-BE49-F238E27FC236}">
                <a16:creationId xmlns:a16="http://schemas.microsoft.com/office/drawing/2014/main" id="{34C55C1A-9E08-3843-B28D-746E410153AA}"/>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F9FB0AF2-9742-9D41-A54C-FC0ED0A9B90A}"/>
              </a:ext>
            </a:extLst>
          </p:cNvPr>
          <p:cNvSpPr txBox="1"/>
          <p:nvPr/>
        </p:nvSpPr>
        <p:spPr>
          <a:xfrm>
            <a:off x="402907" y="1599584"/>
            <a:ext cx="3711272" cy="1323439"/>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r>
              <a:rPr lang="en-US" sz="2000" b="1" dirty="0">
                <a:latin typeface="Consolas" panose="020B0609020204030204" pitchFamily="49" charset="0"/>
                <a:cs typeface="Consolas" panose="020B0609020204030204" pitchFamily="49" charset="0"/>
              </a:rPr>
              <a:t>(a: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b: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 + b) * </a:t>
            </a:r>
            <a:r>
              <a:rPr lang="en-US" sz="2000" b="1" dirty="0">
                <a:solidFill>
                  <a:schemeClr val="accent3">
                    <a:lumMod val="75000"/>
                  </a:schemeClr>
                </a:solidFill>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D508662E-2594-1E41-9208-2EAF59CF32F1}"/>
              </a:ext>
            </a:extLst>
          </p:cNvPr>
          <p:cNvSpPr/>
          <p:nvPr/>
        </p:nvSpPr>
        <p:spPr>
          <a:xfrm>
            <a:off x="3200400" y="3135987"/>
            <a:ext cx="1981200" cy="1323439"/>
          </a:xfrm>
          <a:prstGeom prst="rect">
            <a:avLst/>
          </a:prstGeom>
          <a:solidFill>
            <a:schemeClr val="accent2">
              <a:lumMod val="20000"/>
              <a:lumOff val="80000"/>
            </a:schemeClr>
          </a:solidFill>
        </p:spPr>
        <p:txBody>
          <a:bodyPr wrap="square">
            <a:spAutoFit/>
          </a:bodyPr>
          <a:lstStyle/>
          <a:p>
            <a:r>
              <a:rPr lang="en-US" sz="2000" b="1" dirty="0">
                <a:latin typeface="Consolas" panose="020B0609020204030204" pitchFamily="49" charset="0"/>
                <a:cs typeface="Consolas" panose="020B0609020204030204" pitchFamily="49" charset="0"/>
              </a:rPr>
              <a:t>$t3 = a + b</a:t>
            </a:r>
          </a:p>
          <a:p>
            <a:r>
              <a:rPr lang="en-US" sz="2000" b="1" dirty="0">
                <a:latin typeface="Consolas" panose="020B0609020204030204" pitchFamily="49" charset="0"/>
                <a:cs typeface="Consolas" panose="020B0609020204030204" pitchFamily="49" charset="0"/>
              </a:rPr>
              <a:t>x = $t3 * </a:t>
            </a:r>
            <a:r>
              <a:rPr lang="en-US" sz="2000" b="1" dirty="0">
                <a:solidFill>
                  <a:schemeClr val="accent3">
                    <a:lumMod val="75000"/>
                  </a:schemeClr>
                </a:solidFill>
                <a:latin typeface="Consolas" panose="020B0609020204030204" pitchFamily="49" charset="0"/>
                <a:cs typeface="Consolas" panose="020B0609020204030204" pitchFamily="49" charset="0"/>
              </a:rPr>
              <a:t>3</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solidFill>
                  <a:srgbClr val="FF0000"/>
                </a:solidFill>
                <a:latin typeface="Consolas" panose="020B0609020204030204" pitchFamily="49" charset="0"/>
                <a:cs typeface="Consolas" panose="020B0609020204030204" pitchFamily="49" charset="0"/>
              </a:rPr>
              <a:t>return</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graphicFrame>
        <p:nvGraphicFramePr>
          <p:cNvPr id="9" name="Table 8">
            <a:extLst>
              <a:ext uri="{FF2B5EF4-FFF2-40B4-BE49-F238E27FC236}">
                <a16:creationId xmlns:a16="http://schemas.microsoft.com/office/drawing/2014/main" id="{BE2A548C-111D-0D42-8CDF-B050FC90C58B}"/>
              </a:ext>
            </a:extLst>
          </p:cNvPr>
          <p:cNvGraphicFramePr>
            <a:graphicFrameLocks noGrp="1"/>
          </p:cNvGraphicFramePr>
          <p:nvPr>
            <p:extLst>
              <p:ext uri="{D42A27DB-BD31-4B8C-83A1-F6EECF244321}">
                <p14:modId xmlns:p14="http://schemas.microsoft.com/office/powerpoint/2010/main" val="1481503965"/>
              </p:ext>
            </p:extLst>
          </p:nvPr>
        </p:nvGraphicFramePr>
        <p:xfrm>
          <a:off x="518325" y="3135987"/>
          <a:ext cx="2413635" cy="2377440"/>
        </p:xfrm>
        <a:graphic>
          <a:graphicData uri="http://schemas.openxmlformats.org/drawingml/2006/table">
            <a:tbl>
              <a:tblPr firstRow="1" bandRow="1">
                <a:tableStyleId>{00A15C55-8517-42AA-B614-E9B94910E393}</a:tableStyleId>
              </a:tblPr>
              <a:tblGrid>
                <a:gridCol w="630555">
                  <a:extLst>
                    <a:ext uri="{9D8B030D-6E8A-4147-A177-3AD203B41FA5}">
                      <a16:colId xmlns:a16="http://schemas.microsoft.com/office/drawing/2014/main" val="2454857836"/>
                    </a:ext>
                  </a:extLst>
                </a:gridCol>
                <a:gridCol w="960755">
                  <a:extLst>
                    <a:ext uri="{9D8B030D-6E8A-4147-A177-3AD203B41FA5}">
                      <a16:colId xmlns:a16="http://schemas.microsoft.com/office/drawing/2014/main" val="3989194009"/>
                    </a:ext>
                  </a:extLst>
                </a:gridCol>
                <a:gridCol w="822325">
                  <a:extLst>
                    <a:ext uri="{9D8B030D-6E8A-4147-A177-3AD203B41FA5}">
                      <a16:colId xmlns:a16="http://schemas.microsoft.com/office/drawing/2014/main" val="2906240056"/>
                    </a:ext>
                  </a:extLst>
                </a:gridCol>
              </a:tblGrid>
              <a:tr h="370840">
                <a:tc>
                  <a:txBody>
                    <a:bodyPr/>
                    <a:lstStyle/>
                    <a:p>
                      <a:pPr algn="ctr"/>
                      <a:r>
                        <a:rPr lang="en-US" sz="2000" dirty="0" err="1"/>
                        <a:t>Idx</a:t>
                      </a:r>
                      <a:endParaRPr lang="en-US" sz="2000" dirty="0"/>
                    </a:p>
                  </a:txBody>
                  <a:tcPr/>
                </a:tc>
                <a:tc>
                  <a:txBody>
                    <a:bodyPr/>
                    <a:lstStyle/>
                    <a:p>
                      <a:pPr algn="ctr"/>
                      <a:r>
                        <a:rPr lang="en-US" sz="2000" dirty="0"/>
                        <a:t>Name</a:t>
                      </a:r>
                    </a:p>
                  </a:txBody>
                  <a:tcPr/>
                </a:tc>
                <a:tc>
                  <a:txBody>
                    <a:bodyPr/>
                    <a:lstStyle/>
                    <a:p>
                      <a:pPr algn="ctr"/>
                      <a:r>
                        <a:rPr lang="en-US" sz="2000" dirty="0"/>
                        <a:t>Type</a:t>
                      </a:r>
                    </a:p>
                  </a:txBody>
                  <a:tcPr/>
                </a:tc>
                <a:extLst>
                  <a:ext uri="{0D108BD9-81ED-4DB2-BD59-A6C34878D82A}">
                    <a16:rowId xmlns:a16="http://schemas.microsoft.com/office/drawing/2014/main" val="2612782844"/>
                  </a:ext>
                </a:extLst>
              </a:tr>
              <a:tr h="370840">
                <a:tc>
                  <a:txBody>
                    <a:bodyPr/>
                    <a:lstStyle/>
                    <a:p>
                      <a:pPr algn="ctr"/>
                      <a:r>
                        <a:rPr lang="en-US" sz="2000" b="1" dirty="0">
                          <a:latin typeface="Consolas" panose="020B0609020204030204" pitchFamily="49" charset="0"/>
                          <a:cs typeface="Consolas" panose="020B0609020204030204" pitchFamily="49" charset="0"/>
                        </a:rPr>
                        <a:t>0</a:t>
                      </a:r>
                    </a:p>
                  </a:txBody>
                  <a:tcPr/>
                </a:tc>
                <a:tc>
                  <a:txBody>
                    <a:bodyPr/>
                    <a:lstStyle/>
                    <a:p>
                      <a:pPr algn="ct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3826624652"/>
                  </a:ext>
                </a:extLst>
              </a:tr>
              <a:tr h="370840">
                <a:tc>
                  <a:txBody>
                    <a:bodyPr/>
                    <a:lstStyle/>
                    <a:p>
                      <a:pPr algn="ctr"/>
                      <a:r>
                        <a:rPr lang="en-US" sz="2000" b="1" dirty="0">
                          <a:latin typeface="Consolas" panose="020B0609020204030204" pitchFamily="49" charset="0"/>
                          <a:cs typeface="Consolas" panose="020B0609020204030204" pitchFamily="49" charset="0"/>
                        </a:rPr>
                        <a:t>1</a:t>
                      </a:r>
                    </a:p>
                  </a:txBody>
                  <a:tcPr/>
                </a:tc>
                <a:tc>
                  <a:txBody>
                    <a:bodyPr/>
                    <a:lstStyle/>
                    <a:p>
                      <a:pPr algn="ctr"/>
                      <a:r>
                        <a:rPr lang="en-US" sz="2000" b="1" dirty="0">
                          <a:latin typeface="Consolas" panose="020B0609020204030204" pitchFamily="49" charset="0"/>
                          <a:cs typeface="Consolas" panose="020B0609020204030204" pitchFamily="49" charset="0"/>
                        </a:rPr>
                        <a:t>a</a:t>
                      </a: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4121413789"/>
                  </a:ext>
                </a:extLst>
              </a:tr>
              <a:tr h="370840">
                <a:tc>
                  <a:txBody>
                    <a:bodyPr/>
                    <a:lstStyle/>
                    <a:p>
                      <a:pPr algn="ctr"/>
                      <a:r>
                        <a:rPr lang="en-US" sz="2000" b="1" dirty="0">
                          <a:latin typeface="Consolas" panose="020B0609020204030204" pitchFamily="49" charset="0"/>
                          <a:cs typeface="Consolas" panose="020B0609020204030204" pitchFamily="49" charset="0"/>
                        </a:rPr>
                        <a:t>2</a:t>
                      </a:r>
                    </a:p>
                  </a:txBody>
                  <a:tcPr/>
                </a:tc>
                <a:tc>
                  <a:txBody>
                    <a:bodyPr/>
                    <a:lstStyle/>
                    <a:p>
                      <a:pPr algn="ctr"/>
                      <a:r>
                        <a:rPr lang="en-US" sz="2000" b="1" dirty="0">
                          <a:latin typeface="Consolas" panose="020B0609020204030204" pitchFamily="49" charset="0"/>
                          <a:cs typeface="Consolas" panose="020B0609020204030204" pitchFamily="49" charset="0"/>
                        </a:rPr>
                        <a:t>b</a:t>
                      </a: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3153555852"/>
                  </a:ext>
                </a:extLst>
              </a:tr>
              <a:tr h="370840">
                <a:tc>
                  <a:txBody>
                    <a:bodyPr/>
                    <a:lstStyle/>
                    <a:p>
                      <a:pPr algn="ctr"/>
                      <a:r>
                        <a:rPr lang="en-US" sz="2000" b="1" dirty="0">
                          <a:latin typeface="Consolas" panose="020B0609020204030204" pitchFamily="49" charset="0"/>
                          <a:cs typeface="Consolas" panose="020B0609020204030204" pitchFamily="49" charset="0"/>
                        </a:rPr>
                        <a:t>3</a:t>
                      </a:r>
                    </a:p>
                  </a:txBody>
                  <a:tcPr/>
                </a:tc>
                <a:tc>
                  <a:txBody>
                    <a:bodyPr/>
                    <a:lstStyle/>
                    <a:p>
                      <a:pPr algn="ct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1530179920"/>
                  </a:ext>
                </a:extLst>
              </a:tr>
              <a:tr h="370840">
                <a:tc>
                  <a:txBody>
                    <a:bodyPr/>
                    <a:lstStyle/>
                    <a:p>
                      <a:pPr algn="ctr"/>
                      <a:r>
                        <a:rPr lang="en-US" sz="2000" b="1" dirty="0">
                          <a:latin typeface="Consolas" panose="020B0609020204030204" pitchFamily="49" charset="0"/>
                          <a:cs typeface="Consolas" panose="020B0609020204030204" pitchFamily="49" charset="0"/>
                        </a:rPr>
                        <a:t>4</a:t>
                      </a:r>
                    </a:p>
                  </a:txBody>
                  <a:tcPr/>
                </a:tc>
                <a:tc>
                  <a:txBody>
                    <a:bodyPr/>
                    <a:lstStyle/>
                    <a:p>
                      <a:pPr algn="ctr"/>
                      <a:r>
                        <a:rPr lang="en-US" sz="2000" b="1" dirty="0">
                          <a:latin typeface="Consolas" panose="020B0609020204030204" pitchFamily="49" charset="0"/>
                          <a:cs typeface="Consolas" panose="020B0609020204030204" pitchFamily="49" charset="0"/>
                        </a:rPr>
                        <a:t>x</a:t>
                      </a: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4056491665"/>
                  </a:ext>
                </a:extLst>
              </a:tr>
            </a:tbl>
          </a:graphicData>
        </a:graphic>
      </p:graphicFrame>
      <p:sp>
        <p:nvSpPr>
          <p:cNvPr id="10" name="TextBox 9">
            <a:extLst>
              <a:ext uri="{FF2B5EF4-FFF2-40B4-BE49-F238E27FC236}">
                <a16:creationId xmlns:a16="http://schemas.microsoft.com/office/drawing/2014/main" id="{1CBFB83D-2EDB-A742-A67F-207A61F59933}"/>
              </a:ext>
            </a:extLst>
          </p:cNvPr>
          <p:cNvSpPr txBox="1"/>
          <p:nvPr/>
        </p:nvSpPr>
        <p:spPr>
          <a:xfrm>
            <a:off x="3727653" y="2637165"/>
            <a:ext cx="861134" cy="430887"/>
          </a:xfrm>
          <a:prstGeom prst="rect">
            <a:avLst/>
          </a:prstGeom>
          <a:noFill/>
        </p:spPr>
        <p:txBody>
          <a:bodyPr wrap="none" rtlCol="0">
            <a:spAutoFit/>
          </a:bodyPr>
          <a:lstStyle/>
          <a:p>
            <a:pPr algn="ctr"/>
            <a:r>
              <a:rPr lang="en-US" sz="2200" b="1" u="sng" dirty="0"/>
              <a:t>Code</a:t>
            </a:r>
          </a:p>
        </p:txBody>
      </p:sp>
      <p:sp>
        <p:nvSpPr>
          <p:cNvPr id="11" name="TextBox 10">
            <a:extLst>
              <a:ext uri="{FF2B5EF4-FFF2-40B4-BE49-F238E27FC236}">
                <a16:creationId xmlns:a16="http://schemas.microsoft.com/office/drawing/2014/main" id="{F69E41BC-1DDE-904C-BB66-A7F7B11A41C3}"/>
              </a:ext>
            </a:extLst>
          </p:cNvPr>
          <p:cNvSpPr txBox="1"/>
          <p:nvPr/>
        </p:nvSpPr>
        <p:spPr>
          <a:xfrm>
            <a:off x="1228853" y="2642056"/>
            <a:ext cx="992579" cy="430887"/>
          </a:xfrm>
          <a:prstGeom prst="rect">
            <a:avLst/>
          </a:prstGeom>
          <a:noFill/>
        </p:spPr>
        <p:txBody>
          <a:bodyPr wrap="none" rtlCol="0">
            <a:spAutoFit/>
          </a:bodyPr>
          <a:lstStyle/>
          <a:p>
            <a:pPr algn="ctr"/>
            <a:r>
              <a:rPr lang="en-US" sz="2200" b="1" u="sng" dirty="0"/>
              <a:t>Locals</a:t>
            </a:r>
          </a:p>
        </p:txBody>
      </p:sp>
      <p:sp>
        <p:nvSpPr>
          <p:cNvPr id="12" name="TextBox 11">
            <a:extLst>
              <a:ext uri="{FF2B5EF4-FFF2-40B4-BE49-F238E27FC236}">
                <a16:creationId xmlns:a16="http://schemas.microsoft.com/office/drawing/2014/main" id="{0CC46CDC-4D14-5B41-B1C2-844319525540}"/>
              </a:ext>
            </a:extLst>
          </p:cNvPr>
          <p:cNvSpPr txBox="1"/>
          <p:nvPr/>
        </p:nvSpPr>
        <p:spPr>
          <a:xfrm>
            <a:off x="4202260" y="1714500"/>
            <a:ext cx="4598840" cy="769441"/>
          </a:xfrm>
          <a:prstGeom prst="rect">
            <a:avLst/>
          </a:prstGeom>
          <a:noFill/>
        </p:spPr>
        <p:txBody>
          <a:bodyPr wrap="square" rtlCol="0">
            <a:spAutoFit/>
          </a:bodyPr>
          <a:lstStyle/>
          <a:p>
            <a:pPr algn="ctr"/>
            <a:r>
              <a:rPr lang="en-US" sz="2200" dirty="0"/>
              <a:t>each local has a </a:t>
            </a:r>
            <a:r>
              <a:rPr lang="en-US" sz="2200" b="1" dirty="0"/>
              <a:t>type </a:t>
            </a:r>
            <a:r>
              <a:rPr lang="en-US" sz="2200" dirty="0"/>
              <a:t>and optionally a </a:t>
            </a:r>
            <a:r>
              <a:rPr lang="en-US" sz="2200" b="1" dirty="0"/>
              <a:t>name </a:t>
            </a:r>
            <a:r>
              <a:rPr lang="en-US" sz="2200" dirty="0"/>
              <a:t>(from the code).</a:t>
            </a:r>
          </a:p>
        </p:txBody>
      </p:sp>
      <p:sp>
        <p:nvSpPr>
          <p:cNvPr id="13" name="TextBox 12">
            <a:extLst>
              <a:ext uri="{FF2B5EF4-FFF2-40B4-BE49-F238E27FC236}">
                <a16:creationId xmlns:a16="http://schemas.microsoft.com/office/drawing/2014/main" id="{6F6D54EB-235D-224E-81C0-2D5F9D8C887B}"/>
              </a:ext>
            </a:extLst>
          </p:cNvPr>
          <p:cNvSpPr txBox="1"/>
          <p:nvPr/>
        </p:nvSpPr>
        <p:spPr>
          <a:xfrm>
            <a:off x="5486400" y="2707757"/>
            <a:ext cx="3611402" cy="1107996"/>
          </a:xfrm>
          <a:prstGeom prst="rect">
            <a:avLst/>
          </a:prstGeom>
          <a:noFill/>
        </p:spPr>
        <p:txBody>
          <a:bodyPr wrap="square" rtlCol="0">
            <a:spAutoFit/>
          </a:bodyPr>
          <a:lstStyle/>
          <a:p>
            <a:pPr algn="ctr"/>
            <a:r>
              <a:rPr lang="en-US" sz="2200" dirty="0"/>
              <a:t>if a local has no name, it's referred to by its index in the code (like </a:t>
            </a:r>
            <a:r>
              <a:rPr lang="en-US" sz="2200" b="1" dirty="0">
                <a:latin typeface="Consolas" panose="020B0609020204030204" pitchFamily="49" charset="0"/>
                <a:cs typeface="Consolas" panose="020B0609020204030204" pitchFamily="49" charset="0"/>
              </a:rPr>
              <a:t>$t3</a:t>
            </a:r>
            <a:r>
              <a:rPr lang="en-US" sz="2200" dirty="0"/>
              <a:t>).</a:t>
            </a:r>
          </a:p>
        </p:txBody>
      </p:sp>
      <p:sp>
        <p:nvSpPr>
          <p:cNvPr id="14" name="TextBox 13">
            <a:extLst>
              <a:ext uri="{FF2B5EF4-FFF2-40B4-BE49-F238E27FC236}">
                <a16:creationId xmlns:a16="http://schemas.microsoft.com/office/drawing/2014/main" id="{05D20B2F-67C3-E74C-A591-4427FF222D79}"/>
              </a:ext>
            </a:extLst>
          </p:cNvPr>
          <p:cNvSpPr txBox="1"/>
          <p:nvPr/>
        </p:nvSpPr>
        <p:spPr>
          <a:xfrm>
            <a:off x="6275507" y="4001541"/>
            <a:ext cx="2362200" cy="646331"/>
          </a:xfrm>
          <a:prstGeom prst="rect">
            <a:avLst/>
          </a:prstGeom>
          <a:noFill/>
        </p:spPr>
        <p:txBody>
          <a:bodyPr wrap="square" rtlCol="0">
            <a:spAutoFit/>
          </a:bodyPr>
          <a:lstStyle/>
          <a:p>
            <a:pPr algn="ctr"/>
            <a:r>
              <a:rPr lang="en-US" sz="1800" dirty="0"/>
              <a:t>we'll come back to </a:t>
            </a:r>
            <a:r>
              <a:rPr lang="en-US" sz="1800" b="1" dirty="0">
                <a:latin typeface="Consolas" panose="020B0609020204030204" pitchFamily="49" charset="0"/>
                <a:cs typeface="Consolas" panose="020B0609020204030204" pitchFamily="49" charset="0"/>
              </a:rPr>
              <a:t>$t0</a:t>
            </a:r>
            <a:r>
              <a:rPr lang="en-US" sz="1800" dirty="0"/>
              <a:t> shortly…</a:t>
            </a:r>
          </a:p>
        </p:txBody>
      </p:sp>
    </p:spTree>
    <p:extLst>
      <p:ext uri="{BB962C8B-B14F-4D97-AF65-F5344CB8AC3E}">
        <p14:creationId xmlns:p14="http://schemas.microsoft.com/office/powerpoint/2010/main" val="3090877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E148-F9EF-B44F-BEDE-F6BB1790A87A}"/>
              </a:ext>
            </a:extLst>
          </p:cNvPr>
          <p:cNvSpPr>
            <a:spLocks noGrp="1"/>
          </p:cNvSpPr>
          <p:nvPr>
            <p:ph type="title"/>
          </p:nvPr>
        </p:nvSpPr>
        <p:spPr/>
        <p:txBody>
          <a:bodyPr/>
          <a:lstStyle/>
          <a:p>
            <a:r>
              <a:rPr lang="en-US" dirty="0"/>
              <a:t>Places, Constants, and Sources</a:t>
            </a:r>
          </a:p>
        </p:txBody>
      </p:sp>
      <p:sp>
        <p:nvSpPr>
          <p:cNvPr id="3" name="Content Placeholder 2">
            <a:extLst>
              <a:ext uri="{FF2B5EF4-FFF2-40B4-BE49-F238E27FC236}">
                <a16:creationId xmlns:a16="http://schemas.microsoft.com/office/drawing/2014/main" id="{70F4E3D0-A863-C448-A4CB-58737664AEE5}"/>
              </a:ext>
            </a:extLst>
          </p:cNvPr>
          <p:cNvSpPr>
            <a:spLocks noGrp="1"/>
          </p:cNvSpPr>
          <p:nvPr>
            <p:ph idx="1"/>
          </p:nvPr>
        </p:nvSpPr>
        <p:spPr>
          <a:xfrm>
            <a:off x="152400" y="495302"/>
            <a:ext cx="8991600" cy="495300"/>
          </a:xfrm>
        </p:spPr>
        <p:txBody>
          <a:bodyPr/>
          <a:lstStyle/>
          <a:p>
            <a:r>
              <a:rPr lang="en-US" dirty="0"/>
              <a:t>the operands of instructions are a little freer than in assembly.</a:t>
            </a:r>
          </a:p>
        </p:txBody>
      </p:sp>
      <p:sp>
        <p:nvSpPr>
          <p:cNvPr id="4" name="Slide Number Placeholder 3">
            <a:extLst>
              <a:ext uri="{FF2B5EF4-FFF2-40B4-BE49-F238E27FC236}">
                <a16:creationId xmlns:a16="http://schemas.microsoft.com/office/drawing/2014/main" id="{3CB5CD77-37DA-8C47-B024-B71EA2D24F42}"/>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6" name="Rounded Rectangle 5">
            <a:extLst>
              <a:ext uri="{FF2B5EF4-FFF2-40B4-BE49-F238E27FC236}">
                <a16:creationId xmlns:a16="http://schemas.microsoft.com/office/drawing/2014/main" id="{F5479E28-6233-0F48-A9E3-8994B456101E}"/>
              </a:ext>
            </a:extLst>
          </p:cNvPr>
          <p:cNvSpPr/>
          <p:nvPr/>
        </p:nvSpPr>
        <p:spPr>
          <a:xfrm>
            <a:off x="1524000" y="952500"/>
            <a:ext cx="6096000" cy="2588750"/>
          </a:xfrm>
          <a:prstGeom prst="roundRect">
            <a:avLst>
              <a:gd name="adj" fmla="val 7371"/>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solidFill>
                  <a:srgbClr val="7030A0"/>
                </a:solidFill>
              </a:rPr>
              <a:t>Sources</a:t>
            </a:r>
          </a:p>
        </p:txBody>
      </p:sp>
      <p:sp>
        <p:nvSpPr>
          <p:cNvPr id="8" name="Rounded Rectangle 7">
            <a:extLst>
              <a:ext uri="{FF2B5EF4-FFF2-40B4-BE49-F238E27FC236}">
                <a16:creationId xmlns:a16="http://schemas.microsoft.com/office/drawing/2014/main" id="{1EE3C12A-DDC9-C441-A4F0-EC66E84BBFDD}"/>
              </a:ext>
            </a:extLst>
          </p:cNvPr>
          <p:cNvSpPr/>
          <p:nvPr/>
        </p:nvSpPr>
        <p:spPr>
          <a:xfrm>
            <a:off x="1676400" y="1488315"/>
            <a:ext cx="2773456" cy="190053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solidFill>
                  <a:srgbClr val="FF0000"/>
                </a:solidFill>
              </a:rPr>
              <a:t>Places</a:t>
            </a:r>
          </a:p>
        </p:txBody>
      </p:sp>
      <p:sp>
        <p:nvSpPr>
          <p:cNvPr id="10" name="Rounded Rectangle 9">
            <a:extLst>
              <a:ext uri="{FF2B5EF4-FFF2-40B4-BE49-F238E27FC236}">
                <a16:creationId xmlns:a16="http://schemas.microsoft.com/office/drawing/2014/main" id="{94D7E43B-326A-554F-8EA6-EA1FD1CC0E86}"/>
              </a:ext>
            </a:extLst>
          </p:cNvPr>
          <p:cNvSpPr/>
          <p:nvPr/>
        </p:nvSpPr>
        <p:spPr>
          <a:xfrm>
            <a:off x="4648200" y="1488315"/>
            <a:ext cx="2773456" cy="1900535"/>
          </a:xfrm>
          <a:prstGeom prst="roundRect">
            <a:avLst>
              <a:gd name="adj" fmla="val 7551"/>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a:solidFill>
                  <a:srgbClr val="00B050"/>
                </a:solidFill>
              </a:rPr>
              <a:t>Constants</a:t>
            </a:r>
          </a:p>
        </p:txBody>
      </p:sp>
      <p:sp>
        <p:nvSpPr>
          <p:cNvPr id="12" name="TextBox 11">
            <a:extLst>
              <a:ext uri="{FF2B5EF4-FFF2-40B4-BE49-F238E27FC236}">
                <a16:creationId xmlns:a16="http://schemas.microsoft.com/office/drawing/2014/main" id="{59914445-69BA-1946-9FDD-D15292940485}"/>
              </a:ext>
            </a:extLst>
          </p:cNvPr>
          <p:cNvSpPr txBox="1"/>
          <p:nvPr/>
        </p:nvSpPr>
        <p:spPr>
          <a:xfrm>
            <a:off x="1786339" y="2023683"/>
            <a:ext cx="1882247" cy="400110"/>
          </a:xfrm>
          <a:prstGeom prst="rect">
            <a:avLst/>
          </a:prstGeom>
          <a:noFill/>
        </p:spPr>
        <p:txBody>
          <a:bodyPr wrap="none" rtlCol="0">
            <a:spAutoFit/>
          </a:bodyPr>
          <a:lstStyle/>
          <a:p>
            <a:pPr algn="ctr"/>
            <a:r>
              <a:rPr lang="en-US" sz="2000" b="1" dirty="0"/>
              <a:t>Locals (</a:t>
            </a:r>
            <a:r>
              <a:rPr lang="en-US" sz="2000" b="1" dirty="0">
                <a:latin typeface="Consolas" panose="020B0609020204030204" pitchFamily="49" charset="0"/>
                <a:cs typeface="Consolas" panose="020B0609020204030204" pitchFamily="49" charset="0"/>
              </a:rPr>
              <a:t>x</a:t>
            </a:r>
            <a:r>
              <a:rPr lang="en-US" sz="2000" b="1" dirty="0"/>
              <a:t>, </a:t>
            </a:r>
            <a:r>
              <a:rPr lang="en-US" sz="2000" b="1" dirty="0">
                <a:latin typeface="Consolas" panose="020B0609020204030204" pitchFamily="49" charset="0"/>
                <a:cs typeface="Consolas" panose="020B0609020204030204" pitchFamily="49" charset="0"/>
              </a:rPr>
              <a:t>$t1</a:t>
            </a:r>
            <a:r>
              <a:rPr lang="en-US" sz="2000" b="1" dirty="0"/>
              <a:t>)</a:t>
            </a:r>
          </a:p>
        </p:txBody>
      </p:sp>
      <p:sp>
        <p:nvSpPr>
          <p:cNvPr id="13" name="TextBox 12">
            <a:extLst>
              <a:ext uri="{FF2B5EF4-FFF2-40B4-BE49-F238E27FC236}">
                <a16:creationId xmlns:a16="http://schemas.microsoft.com/office/drawing/2014/main" id="{C2EFE8A1-7D80-EF40-A2DC-44449781B796}"/>
              </a:ext>
            </a:extLst>
          </p:cNvPr>
          <p:cNvSpPr txBox="1"/>
          <p:nvPr/>
        </p:nvSpPr>
        <p:spPr>
          <a:xfrm>
            <a:off x="2286000" y="2436350"/>
            <a:ext cx="2102884" cy="400110"/>
          </a:xfrm>
          <a:prstGeom prst="rect">
            <a:avLst/>
          </a:prstGeom>
          <a:noFill/>
        </p:spPr>
        <p:txBody>
          <a:bodyPr wrap="none" rtlCol="0">
            <a:spAutoFit/>
          </a:bodyPr>
          <a:lstStyle/>
          <a:p>
            <a:pPr algn="ctr"/>
            <a:r>
              <a:rPr lang="en-US" sz="2000" b="1" dirty="0"/>
              <a:t>Global variables</a:t>
            </a:r>
          </a:p>
        </p:txBody>
      </p:sp>
      <p:sp>
        <p:nvSpPr>
          <p:cNvPr id="14" name="TextBox 13">
            <a:extLst>
              <a:ext uri="{FF2B5EF4-FFF2-40B4-BE49-F238E27FC236}">
                <a16:creationId xmlns:a16="http://schemas.microsoft.com/office/drawing/2014/main" id="{5CECF5CF-32FC-C14B-B67F-9F1210A698EF}"/>
              </a:ext>
            </a:extLst>
          </p:cNvPr>
          <p:cNvSpPr txBox="1"/>
          <p:nvPr/>
        </p:nvSpPr>
        <p:spPr>
          <a:xfrm>
            <a:off x="2057400" y="2905073"/>
            <a:ext cx="1555234" cy="400110"/>
          </a:xfrm>
          <a:prstGeom prst="rect">
            <a:avLst/>
          </a:prstGeom>
          <a:noFill/>
        </p:spPr>
        <p:txBody>
          <a:bodyPr wrap="none" rtlCol="0">
            <a:spAutoFit/>
          </a:bodyPr>
          <a:lstStyle/>
          <a:p>
            <a:pPr algn="ctr"/>
            <a:r>
              <a:rPr lang="en-US" sz="2000" b="1" dirty="0"/>
              <a:t>Fields (</a:t>
            </a:r>
            <a:r>
              <a:rPr lang="en-US" sz="2000" b="1" dirty="0" err="1">
                <a:latin typeface="Consolas" panose="020B0609020204030204" pitchFamily="49" charset="0"/>
                <a:cs typeface="Consolas" panose="020B0609020204030204" pitchFamily="49" charset="0"/>
              </a:rPr>
              <a:t>x.y</a:t>
            </a:r>
            <a:r>
              <a:rPr lang="en-US" sz="2000" b="1" dirty="0"/>
              <a:t>)</a:t>
            </a:r>
          </a:p>
        </p:txBody>
      </p:sp>
      <p:sp>
        <p:nvSpPr>
          <p:cNvPr id="15" name="TextBox 14">
            <a:extLst>
              <a:ext uri="{FF2B5EF4-FFF2-40B4-BE49-F238E27FC236}">
                <a16:creationId xmlns:a16="http://schemas.microsoft.com/office/drawing/2014/main" id="{0833DE7B-13C7-3B4F-8C57-6245A9A839E2}"/>
              </a:ext>
            </a:extLst>
          </p:cNvPr>
          <p:cNvSpPr txBox="1"/>
          <p:nvPr/>
        </p:nvSpPr>
        <p:spPr>
          <a:xfrm>
            <a:off x="4888079" y="1938818"/>
            <a:ext cx="1458028" cy="400110"/>
          </a:xfrm>
          <a:prstGeom prst="rect">
            <a:avLst/>
          </a:prstGeom>
          <a:noFill/>
        </p:spPr>
        <p:txBody>
          <a:bodyPr wrap="none" rtlCol="0">
            <a:spAutoFit/>
          </a:bodyPr>
          <a:lstStyle/>
          <a:p>
            <a:pPr algn="ctr"/>
            <a:r>
              <a:rPr lang="en-US" sz="2000" b="1" dirty="0"/>
              <a:t>Int Literals</a:t>
            </a:r>
          </a:p>
        </p:txBody>
      </p:sp>
      <p:sp>
        <p:nvSpPr>
          <p:cNvPr id="16" name="TextBox 15">
            <a:extLst>
              <a:ext uri="{FF2B5EF4-FFF2-40B4-BE49-F238E27FC236}">
                <a16:creationId xmlns:a16="http://schemas.microsoft.com/office/drawing/2014/main" id="{11041E1D-C559-F041-9A1B-3D740375FDCD}"/>
              </a:ext>
            </a:extLst>
          </p:cNvPr>
          <p:cNvSpPr txBox="1"/>
          <p:nvPr/>
        </p:nvSpPr>
        <p:spPr>
          <a:xfrm>
            <a:off x="4779945" y="2863581"/>
            <a:ext cx="2522422" cy="400110"/>
          </a:xfrm>
          <a:prstGeom prst="rect">
            <a:avLst/>
          </a:prstGeom>
          <a:noFill/>
        </p:spPr>
        <p:txBody>
          <a:bodyPr wrap="none" rtlCol="0">
            <a:spAutoFit/>
          </a:bodyPr>
          <a:lstStyle/>
          <a:p>
            <a:pPr algn="ctr"/>
            <a:r>
              <a:rPr lang="en-US" sz="2000" b="1" dirty="0"/>
              <a:t>Function Addresses</a:t>
            </a:r>
          </a:p>
        </p:txBody>
      </p:sp>
      <p:sp>
        <p:nvSpPr>
          <p:cNvPr id="17" name="TextBox 16">
            <a:extLst>
              <a:ext uri="{FF2B5EF4-FFF2-40B4-BE49-F238E27FC236}">
                <a16:creationId xmlns:a16="http://schemas.microsoft.com/office/drawing/2014/main" id="{55F328CD-0BFA-AE44-AC74-EDF5E7DC1311}"/>
              </a:ext>
            </a:extLst>
          </p:cNvPr>
          <p:cNvSpPr txBox="1"/>
          <p:nvPr/>
        </p:nvSpPr>
        <p:spPr>
          <a:xfrm>
            <a:off x="5421815" y="2240437"/>
            <a:ext cx="1848583" cy="400110"/>
          </a:xfrm>
          <a:prstGeom prst="rect">
            <a:avLst/>
          </a:prstGeom>
          <a:noFill/>
        </p:spPr>
        <p:txBody>
          <a:bodyPr wrap="none" rtlCol="0">
            <a:spAutoFit/>
          </a:bodyPr>
          <a:lstStyle/>
          <a:p>
            <a:pPr algn="ctr"/>
            <a:r>
              <a:rPr lang="en-US" sz="2000" b="1" dirty="0"/>
              <a:t>String Literals</a:t>
            </a:r>
          </a:p>
        </p:txBody>
      </p:sp>
      <p:sp>
        <p:nvSpPr>
          <p:cNvPr id="18" name="TextBox 17">
            <a:extLst>
              <a:ext uri="{FF2B5EF4-FFF2-40B4-BE49-F238E27FC236}">
                <a16:creationId xmlns:a16="http://schemas.microsoft.com/office/drawing/2014/main" id="{C91733A6-C844-474C-8E01-EE0CE1913556}"/>
              </a:ext>
            </a:extLst>
          </p:cNvPr>
          <p:cNvSpPr txBox="1"/>
          <p:nvPr/>
        </p:nvSpPr>
        <p:spPr>
          <a:xfrm>
            <a:off x="5068177" y="2569801"/>
            <a:ext cx="1672830" cy="400110"/>
          </a:xfrm>
          <a:prstGeom prst="rect">
            <a:avLst/>
          </a:prstGeom>
          <a:noFill/>
        </p:spPr>
        <p:txBody>
          <a:bodyPr wrap="none" rtlCol="0">
            <a:spAutoFit/>
          </a:bodyPr>
          <a:lstStyle/>
          <a:p>
            <a:pPr algn="ctr"/>
            <a:r>
              <a:rPr lang="en-US" sz="2000" b="1" dirty="0"/>
              <a:t>Bool Literals</a:t>
            </a:r>
          </a:p>
        </p:txBody>
      </p:sp>
      <p:sp>
        <p:nvSpPr>
          <p:cNvPr id="19" name="TextBox 18">
            <a:extLst>
              <a:ext uri="{FF2B5EF4-FFF2-40B4-BE49-F238E27FC236}">
                <a16:creationId xmlns:a16="http://schemas.microsoft.com/office/drawing/2014/main" id="{1FDBDCF1-B552-B941-AEE0-70D0DB0F4168}"/>
              </a:ext>
            </a:extLst>
          </p:cNvPr>
          <p:cNvSpPr txBox="1"/>
          <p:nvPr/>
        </p:nvSpPr>
        <p:spPr>
          <a:xfrm>
            <a:off x="155713" y="3582405"/>
            <a:ext cx="3891588" cy="769441"/>
          </a:xfrm>
          <a:prstGeom prst="rect">
            <a:avLst/>
          </a:prstGeom>
          <a:noFill/>
        </p:spPr>
        <p:txBody>
          <a:bodyPr wrap="square" rtlCol="0">
            <a:spAutoFit/>
          </a:bodyPr>
          <a:lstStyle/>
          <a:p>
            <a:pPr algn="ctr"/>
            <a:r>
              <a:rPr lang="en-US" sz="2200" dirty="0"/>
              <a:t>a </a:t>
            </a:r>
            <a:r>
              <a:rPr lang="en-US" sz="2200" b="1" dirty="0"/>
              <a:t>place </a:t>
            </a:r>
            <a:r>
              <a:rPr lang="en-US" sz="2200" dirty="0"/>
              <a:t>is what can appear on the </a:t>
            </a:r>
            <a:r>
              <a:rPr lang="en-US" sz="2200" b="1" dirty="0"/>
              <a:t>LHS of an assignment.</a:t>
            </a:r>
          </a:p>
        </p:txBody>
      </p:sp>
      <p:sp>
        <p:nvSpPr>
          <p:cNvPr id="20" name="TextBox 19">
            <a:extLst>
              <a:ext uri="{FF2B5EF4-FFF2-40B4-BE49-F238E27FC236}">
                <a16:creationId xmlns:a16="http://schemas.microsoft.com/office/drawing/2014/main" id="{F9694EA2-69A9-1940-9FDC-87C07F82F085}"/>
              </a:ext>
            </a:extLst>
          </p:cNvPr>
          <p:cNvSpPr txBox="1"/>
          <p:nvPr/>
        </p:nvSpPr>
        <p:spPr>
          <a:xfrm>
            <a:off x="4642813" y="3584285"/>
            <a:ext cx="4196388" cy="1107996"/>
          </a:xfrm>
          <a:prstGeom prst="rect">
            <a:avLst/>
          </a:prstGeom>
          <a:noFill/>
        </p:spPr>
        <p:txBody>
          <a:bodyPr wrap="square" rtlCol="0">
            <a:spAutoFit/>
          </a:bodyPr>
          <a:lstStyle/>
          <a:p>
            <a:pPr algn="ctr"/>
            <a:r>
              <a:rPr lang="en-US" sz="2200" dirty="0"/>
              <a:t>a </a:t>
            </a:r>
            <a:r>
              <a:rPr lang="en-US" sz="2200" b="1" dirty="0"/>
              <a:t>constant </a:t>
            </a:r>
            <a:r>
              <a:rPr lang="en-US" sz="2200" dirty="0"/>
              <a:t>is just what it sounds like. </a:t>
            </a:r>
            <a:r>
              <a:rPr lang="en-US" sz="2200" b="1" dirty="0"/>
              <a:t>function addresses </a:t>
            </a:r>
            <a:r>
              <a:rPr lang="en-US" sz="2200" dirty="0"/>
              <a:t>are used in function calls.</a:t>
            </a:r>
          </a:p>
        </p:txBody>
      </p:sp>
      <p:sp>
        <p:nvSpPr>
          <p:cNvPr id="21" name="TextBox 20">
            <a:extLst>
              <a:ext uri="{FF2B5EF4-FFF2-40B4-BE49-F238E27FC236}">
                <a16:creationId xmlns:a16="http://schemas.microsoft.com/office/drawing/2014/main" id="{16DF9B28-C82C-0E4A-B1A4-3D4ED5A14273}"/>
              </a:ext>
            </a:extLst>
          </p:cNvPr>
          <p:cNvSpPr txBox="1"/>
          <p:nvPr/>
        </p:nvSpPr>
        <p:spPr>
          <a:xfrm>
            <a:off x="579365" y="4755131"/>
            <a:ext cx="8259835" cy="769441"/>
          </a:xfrm>
          <a:prstGeom prst="rect">
            <a:avLst/>
          </a:prstGeom>
          <a:noFill/>
        </p:spPr>
        <p:txBody>
          <a:bodyPr wrap="square" rtlCol="0">
            <a:spAutoFit/>
          </a:bodyPr>
          <a:lstStyle/>
          <a:p>
            <a:pPr algn="ctr"/>
            <a:r>
              <a:rPr lang="en-US" sz="2200" dirty="0"/>
              <a:t>both places and constants can be used as </a:t>
            </a:r>
            <a:r>
              <a:rPr lang="en-US" sz="2200" b="1" dirty="0"/>
              <a:t>sources, </a:t>
            </a:r>
            <a:r>
              <a:rPr lang="en-US" sz="2200" dirty="0"/>
              <a:t>which are the operands on the RHS of assignments, arguments, etc.</a:t>
            </a:r>
          </a:p>
        </p:txBody>
      </p:sp>
    </p:spTree>
    <p:extLst>
      <p:ext uri="{BB962C8B-B14F-4D97-AF65-F5344CB8AC3E}">
        <p14:creationId xmlns:p14="http://schemas.microsoft.com/office/powerpoint/2010/main" val="36154493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200"/>
                                  </p:stCondLst>
                                  <p:childTnLst>
                                    <p:set>
                                      <p:cBhvr>
                                        <p:cTn id="11" dur="1" fill="hold">
                                          <p:stCondLst>
                                            <p:cond delay="0"/>
                                          </p:stCondLst>
                                        </p:cTn>
                                        <p:tgtEl>
                                          <p:spTgt spid="12"/>
                                        </p:tgtEl>
                                        <p:attrNameLst>
                                          <p:attrName>style.visibility</p:attrName>
                                        </p:attrNameLst>
                                      </p:cBhvr>
                                      <p:to>
                                        <p:strVal val="visible"/>
                                      </p:to>
                                    </p:set>
                                  </p:childTnLst>
                                </p:cTn>
                              </p:par>
                            </p:childTnLst>
                          </p:cTn>
                        </p:par>
                        <p:par>
                          <p:cTn id="12" fill="hold">
                            <p:stCondLst>
                              <p:cond delay="200"/>
                            </p:stCondLst>
                            <p:childTnLst>
                              <p:par>
                                <p:cTn id="13" presetID="1" presetClass="entr" presetSubtype="0" fill="hold" grpId="0" nodeType="afterEffect">
                                  <p:stCondLst>
                                    <p:cond delay="200"/>
                                  </p:stCondLst>
                                  <p:childTnLst>
                                    <p:set>
                                      <p:cBhvr>
                                        <p:cTn id="14" dur="1" fill="hold">
                                          <p:stCondLst>
                                            <p:cond delay="0"/>
                                          </p:stCondLst>
                                        </p:cTn>
                                        <p:tgtEl>
                                          <p:spTgt spid="13"/>
                                        </p:tgtEl>
                                        <p:attrNameLst>
                                          <p:attrName>style.visibility</p:attrName>
                                        </p:attrNameLst>
                                      </p:cBhvr>
                                      <p:to>
                                        <p:strVal val="visible"/>
                                      </p:to>
                                    </p:set>
                                  </p:childTnLst>
                                </p:cTn>
                              </p:par>
                            </p:childTnLst>
                          </p:cTn>
                        </p:par>
                        <p:par>
                          <p:cTn id="15" fill="hold">
                            <p:stCondLst>
                              <p:cond delay="400"/>
                            </p:stCondLst>
                            <p:childTnLst>
                              <p:par>
                                <p:cTn id="16" presetID="1" presetClass="entr" presetSubtype="0" fill="hold" grpId="0" nodeType="afterEffect">
                                  <p:stCondLst>
                                    <p:cond delay="20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200"/>
                                  </p:stCondLst>
                                  <p:childTnLst>
                                    <p:set>
                                      <p:cBhvr>
                                        <p:cTn id="26" dur="1" fill="hold">
                                          <p:stCondLst>
                                            <p:cond delay="0"/>
                                          </p:stCondLst>
                                        </p:cTn>
                                        <p:tgtEl>
                                          <p:spTgt spid="15"/>
                                        </p:tgtEl>
                                        <p:attrNameLst>
                                          <p:attrName>style.visibility</p:attrName>
                                        </p:attrNameLst>
                                      </p:cBhvr>
                                      <p:to>
                                        <p:strVal val="visible"/>
                                      </p:to>
                                    </p:set>
                                  </p:childTnLst>
                                </p:cTn>
                              </p:par>
                            </p:childTnLst>
                          </p:cTn>
                        </p:par>
                        <p:par>
                          <p:cTn id="27" fill="hold">
                            <p:stCondLst>
                              <p:cond delay="200"/>
                            </p:stCondLst>
                            <p:childTnLst>
                              <p:par>
                                <p:cTn id="28" presetID="1" presetClass="entr" presetSubtype="0" fill="hold" grpId="0" nodeType="afterEffect">
                                  <p:stCondLst>
                                    <p:cond delay="200"/>
                                  </p:stCondLst>
                                  <p:childTnLst>
                                    <p:set>
                                      <p:cBhvr>
                                        <p:cTn id="29" dur="1" fill="hold">
                                          <p:stCondLst>
                                            <p:cond delay="0"/>
                                          </p:stCondLst>
                                        </p:cTn>
                                        <p:tgtEl>
                                          <p:spTgt spid="17"/>
                                        </p:tgtEl>
                                        <p:attrNameLst>
                                          <p:attrName>style.visibility</p:attrName>
                                        </p:attrNameLst>
                                      </p:cBhvr>
                                      <p:to>
                                        <p:strVal val="visible"/>
                                      </p:to>
                                    </p:set>
                                  </p:childTnLst>
                                </p:cTn>
                              </p:par>
                            </p:childTnLst>
                          </p:cTn>
                        </p:par>
                        <p:par>
                          <p:cTn id="30" fill="hold">
                            <p:stCondLst>
                              <p:cond delay="400"/>
                            </p:stCondLst>
                            <p:childTnLst>
                              <p:par>
                                <p:cTn id="31" presetID="1" presetClass="entr" presetSubtype="0" fill="hold" grpId="0" nodeType="afterEffect">
                                  <p:stCondLst>
                                    <p:cond delay="200"/>
                                  </p:stCondLst>
                                  <p:childTnLst>
                                    <p:set>
                                      <p:cBhvr>
                                        <p:cTn id="32" dur="1" fill="hold">
                                          <p:stCondLst>
                                            <p:cond delay="0"/>
                                          </p:stCondLst>
                                        </p:cTn>
                                        <p:tgtEl>
                                          <p:spTgt spid="18"/>
                                        </p:tgtEl>
                                        <p:attrNameLst>
                                          <p:attrName>style.visibility</p:attrName>
                                        </p:attrNameLst>
                                      </p:cBhvr>
                                      <p:to>
                                        <p:strVal val="visible"/>
                                      </p:to>
                                    </p:set>
                                  </p:childTnLst>
                                </p:cTn>
                              </p:par>
                            </p:childTnLst>
                          </p:cTn>
                        </p:par>
                        <p:par>
                          <p:cTn id="33" fill="hold">
                            <p:stCondLst>
                              <p:cond delay="600"/>
                            </p:stCondLst>
                            <p:childTnLst>
                              <p:par>
                                <p:cTn id="34" presetID="1" presetClass="entr" presetSubtype="0" fill="hold" grpId="0" nodeType="afterEffect">
                                  <p:stCondLst>
                                    <p:cond delay="20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p:bldP spid="13" grpId="0"/>
      <p:bldP spid="14" grpId="0"/>
      <p:bldP spid="15" grpId="0"/>
      <p:bldP spid="16" grpId="0"/>
      <p:bldP spid="17" grpId="0"/>
      <p:bldP spid="18"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DD079-DC37-8C4C-8BE0-ACC6732AFACF}"/>
              </a:ext>
            </a:extLst>
          </p:cNvPr>
          <p:cNvSpPr>
            <a:spLocks noGrp="1"/>
          </p:cNvSpPr>
          <p:nvPr>
            <p:ph type="title"/>
          </p:nvPr>
        </p:nvSpPr>
        <p:spPr/>
        <p:txBody>
          <a:bodyPr/>
          <a:lstStyle/>
          <a:p>
            <a:r>
              <a:rPr lang="en-US" dirty="0"/>
              <a:t>Instruction examples</a:t>
            </a:r>
          </a:p>
        </p:txBody>
      </p:sp>
      <p:sp>
        <p:nvSpPr>
          <p:cNvPr id="3" name="Content Placeholder 2">
            <a:extLst>
              <a:ext uri="{FF2B5EF4-FFF2-40B4-BE49-F238E27FC236}">
                <a16:creationId xmlns:a16="http://schemas.microsoft.com/office/drawing/2014/main" id="{8460D226-963A-B949-A2E8-1DDB8FC5400E}"/>
              </a:ext>
            </a:extLst>
          </p:cNvPr>
          <p:cNvSpPr>
            <a:spLocks noGrp="1"/>
          </p:cNvSpPr>
          <p:nvPr>
            <p:ph idx="1"/>
          </p:nvPr>
        </p:nvSpPr>
        <p:spPr>
          <a:xfrm>
            <a:off x="152400" y="495301"/>
            <a:ext cx="8991600" cy="495301"/>
          </a:xfrm>
        </p:spPr>
        <p:txBody>
          <a:bodyPr/>
          <a:lstStyle/>
          <a:p>
            <a:r>
              <a:rPr lang="en-US" dirty="0"/>
              <a:t>here are some examples of valid instructions in this IR language.</a:t>
            </a:r>
          </a:p>
        </p:txBody>
      </p:sp>
      <p:sp>
        <p:nvSpPr>
          <p:cNvPr id="4" name="Slide Number Placeholder 3">
            <a:extLst>
              <a:ext uri="{FF2B5EF4-FFF2-40B4-BE49-F238E27FC236}">
                <a16:creationId xmlns:a16="http://schemas.microsoft.com/office/drawing/2014/main" id="{7F8219EA-9B7E-2C42-9506-0C537512594F}"/>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21</a:t>
            </a:fld>
            <a:endParaRPr lang="en-US"/>
          </a:p>
        </p:txBody>
      </p:sp>
      <p:sp>
        <p:nvSpPr>
          <p:cNvPr id="5" name="TextBox 4">
            <a:extLst>
              <a:ext uri="{FF2B5EF4-FFF2-40B4-BE49-F238E27FC236}">
                <a16:creationId xmlns:a16="http://schemas.microsoft.com/office/drawing/2014/main" id="{994562F5-418C-CD48-9AFB-DA20609F29BC}"/>
              </a:ext>
            </a:extLst>
          </p:cNvPr>
          <p:cNvSpPr txBox="1"/>
          <p:nvPr/>
        </p:nvSpPr>
        <p:spPr>
          <a:xfrm>
            <a:off x="467129" y="1134274"/>
            <a:ext cx="962123"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1</a:t>
            </a:r>
          </a:p>
        </p:txBody>
      </p:sp>
      <p:sp>
        <p:nvSpPr>
          <p:cNvPr id="6" name="TextBox 5">
            <a:extLst>
              <a:ext uri="{FF2B5EF4-FFF2-40B4-BE49-F238E27FC236}">
                <a16:creationId xmlns:a16="http://schemas.microsoft.com/office/drawing/2014/main" id="{FF5A31C5-ED85-474E-A05B-5D822E753042}"/>
              </a:ext>
            </a:extLst>
          </p:cNvPr>
          <p:cNvSpPr txBox="1"/>
          <p:nvPr/>
        </p:nvSpPr>
        <p:spPr>
          <a:xfrm>
            <a:off x="2930387" y="1134273"/>
            <a:ext cx="5600700" cy="430887"/>
          </a:xfrm>
          <a:prstGeom prst="rect">
            <a:avLst/>
          </a:prstGeom>
          <a:noFill/>
        </p:spPr>
        <p:txBody>
          <a:bodyPr wrap="square" rtlCol="0">
            <a:spAutoFit/>
          </a:bodyPr>
          <a:lstStyle/>
          <a:p>
            <a:r>
              <a:rPr lang="en-US" sz="2200" dirty="0"/>
              <a:t>simple assignment of a constant to a local.</a:t>
            </a:r>
          </a:p>
        </p:txBody>
      </p:sp>
      <p:sp>
        <p:nvSpPr>
          <p:cNvPr id="7" name="TextBox 6">
            <a:extLst>
              <a:ext uri="{FF2B5EF4-FFF2-40B4-BE49-F238E27FC236}">
                <a16:creationId xmlns:a16="http://schemas.microsoft.com/office/drawing/2014/main" id="{93310535-1B47-EA41-8AE9-E158513F3C7E}"/>
              </a:ext>
            </a:extLst>
          </p:cNvPr>
          <p:cNvSpPr txBox="1"/>
          <p:nvPr/>
        </p:nvSpPr>
        <p:spPr>
          <a:xfrm>
            <a:off x="467129" y="1565160"/>
            <a:ext cx="1895071"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$t5.y = </a:t>
            </a:r>
            <a:r>
              <a:rPr lang="en-US" sz="2200" b="1" dirty="0" err="1">
                <a:latin typeface="Consolas" panose="020B0609020204030204" pitchFamily="49" charset="0"/>
                <a:cs typeface="Consolas" panose="020B0609020204030204" pitchFamily="49" charset="0"/>
              </a:rPr>
              <a:t>x.y</a:t>
            </a:r>
            <a:endParaRPr lang="en-US" sz="2200" b="1" dirty="0">
              <a:solidFill>
                <a:schemeClr val="accent3">
                  <a:lumMod val="75000"/>
                </a:schemeClr>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053B2873-6169-3341-9504-33DC11A77BFB}"/>
              </a:ext>
            </a:extLst>
          </p:cNvPr>
          <p:cNvSpPr txBox="1"/>
          <p:nvPr/>
        </p:nvSpPr>
        <p:spPr>
          <a:xfrm>
            <a:off x="2933700" y="1580069"/>
            <a:ext cx="5600700" cy="769441"/>
          </a:xfrm>
          <a:prstGeom prst="rect">
            <a:avLst/>
          </a:prstGeom>
          <a:noFill/>
        </p:spPr>
        <p:txBody>
          <a:bodyPr wrap="square" rtlCol="0">
            <a:spAutoFit/>
          </a:bodyPr>
          <a:lstStyle/>
          <a:p>
            <a:r>
              <a:rPr lang="en-US" sz="2200" dirty="0"/>
              <a:t>field access can happen on either (or both) side(s) of an assignment.</a:t>
            </a:r>
          </a:p>
        </p:txBody>
      </p:sp>
      <p:sp>
        <p:nvSpPr>
          <p:cNvPr id="10" name="TextBox 9">
            <a:extLst>
              <a:ext uri="{FF2B5EF4-FFF2-40B4-BE49-F238E27FC236}">
                <a16:creationId xmlns:a16="http://schemas.microsoft.com/office/drawing/2014/main" id="{78F6B30E-4136-534F-8799-2B9E2452DCC9}"/>
              </a:ext>
            </a:extLst>
          </p:cNvPr>
          <p:cNvSpPr txBox="1"/>
          <p:nvPr/>
        </p:nvSpPr>
        <p:spPr>
          <a:xfrm>
            <a:off x="463816" y="3171829"/>
            <a:ext cx="2517036"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$t0 = f(</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$t1)</a:t>
            </a:r>
            <a:endParaRPr lang="en-US" sz="2200" b="1" dirty="0">
              <a:solidFill>
                <a:schemeClr val="accent3">
                  <a:lumMod val="75000"/>
                </a:schemeClr>
              </a:solidFill>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D2CD1859-4E81-F24C-B2E7-AAFE5B2BA54B}"/>
              </a:ext>
            </a:extLst>
          </p:cNvPr>
          <p:cNvSpPr txBox="1"/>
          <p:nvPr/>
        </p:nvSpPr>
        <p:spPr>
          <a:xfrm>
            <a:off x="2930387" y="3186738"/>
            <a:ext cx="5600700" cy="769441"/>
          </a:xfrm>
          <a:prstGeom prst="rect">
            <a:avLst/>
          </a:prstGeom>
          <a:noFill/>
        </p:spPr>
        <p:txBody>
          <a:bodyPr wrap="square" rtlCol="0">
            <a:spAutoFit/>
          </a:bodyPr>
          <a:lstStyle/>
          <a:p>
            <a:r>
              <a:rPr lang="en-US" sz="2200" dirty="0"/>
              <a:t>function calls can take any number of arguments, which are all sources.</a:t>
            </a:r>
          </a:p>
        </p:txBody>
      </p:sp>
      <p:sp>
        <p:nvSpPr>
          <p:cNvPr id="12" name="TextBox 11">
            <a:extLst>
              <a:ext uri="{FF2B5EF4-FFF2-40B4-BE49-F238E27FC236}">
                <a16:creationId xmlns:a16="http://schemas.microsoft.com/office/drawing/2014/main" id="{AC7EC935-EF3A-7048-8046-C7A497585927}"/>
              </a:ext>
            </a:extLst>
          </p:cNvPr>
          <p:cNvSpPr txBox="1"/>
          <p:nvPr/>
        </p:nvSpPr>
        <p:spPr>
          <a:xfrm>
            <a:off x="463816" y="3983744"/>
            <a:ext cx="2361544"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p = &amp;</a:t>
            </a:r>
            <a:r>
              <a:rPr lang="en-US" sz="2200" b="1" dirty="0" err="1">
                <a:latin typeface="Consolas" panose="020B0609020204030204" pitchFamily="49" charset="0"/>
                <a:cs typeface="Consolas" panose="020B0609020204030204" pitchFamily="49" charset="0"/>
              </a:rPr>
              <a:t>println_s</a:t>
            </a:r>
            <a:endParaRPr lang="en-US" sz="2200" b="1" dirty="0">
              <a:solidFill>
                <a:schemeClr val="accent3">
                  <a:lumMod val="75000"/>
                </a:schemeClr>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EFBDBDB2-DD14-C84B-812C-69E6866DE25C}"/>
              </a:ext>
            </a:extLst>
          </p:cNvPr>
          <p:cNvSpPr txBox="1"/>
          <p:nvPr/>
        </p:nvSpPr>
        <p:spPr>
          <a:xfrm>
            <a:off x="2930387" y="3998653"/>
            <a:ext cx="5600700" cy="430887"/>
          </a:xfrm>
          <a:prstGeom prst="rect">
            <a:avLst/>
          </a:prstGeom>
          <a:noFill/>
        </p:spPr>
        <p:txBody>
          <a:bodyPr wrap="square" rtlCol="0">
            <a:spAutoFit/>
          </a:bodyPr>
          <a:lstStyle/>
          <a:p>
            <a:r>
              <a:rPr lang="en-US" sz="2200" dirty="0"/>
              <a:t>a function's address can be put in a place…</a:t>
            </a:r>
          </a:p>
        </p:txBody>
      </p:sp>
      <p:sp>
        <p:nvSpPr>
          <p:cNvPr id="14" name="TextBox 13">
            <a:extLst>
              <a:ext uri="{FF2B5EF4-FFF2-40B4-BE49-F238E27FC236}">
                <a16:creationId xmlns:a16="http://schemas.microsoft.com/office/drawing/2014/main" id="{890A6350-D2C2-394B-B606-B3C3990A4554}"/>
              </a:ext>
            </a:extLst>
          </p:cNvPr>
          <p:cNvSpPr txBox="1"/>
          <p:nvPr/>
        </p:nvSpPr>
        <p:spPr>
          <a:xfrm>
            <a:off x="463816" y="4469104"/>
            <a:ext cx="1273105"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p(</a:t>
            </a:r>
            <a:r>
              <a:rPr lang="en-US" sz="2200" b="1" dirty="0">
                <a:solidFill>
                  <a:schemeClr val="accent6">
                    <a:lumMod val="75000"/>
                  </a:schemeClr>
                </a:solidFill>
                <a:latin typeface="Consolas" panose="020B0609020204030204" pitchFamily="49" charset="0"/>
                <a:cs typeface="Consolas" panose="020B0609020204030204" pitchFamily="49" charset="0"/>
              </a:rPr>
              <a:t>"hi"</a:t>
            </a:r>
            <a:r>
              <a:rPr lang="en-US" sz="2200" b="1" dirty="0">
                <a:latin typeface="Consolas" panose="020B0609020204030204" pitchFamily="49" charset="0"/>
                <a:cs typeface="Consolas" panose="020B0609020204030204" pitchFamily="49" charset="0"/>
              </a:rPr>
              <a:t>)</a:t>
            </a:r>
            <a:endParaRPr lang="en-US" sz="2200" b="1" dirty="0">
              <a:solidFill>
                <a:schemeClr val="accent3">
                  <a:lumMod val="75000"/>
                </a:schemeClr>
              </a:solidFill>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4B4EA4EE-980F-0A43-BA16-89D5E0483093}"/>
              </a:ext>
            </a:extLst>
          </p:cNvPr>
          <p:cNvSpPr txBox="1"/>
          <p:nvPr/>
        </p:nvSpPr>
        <p:spPr>
          <a:xfrm>
            <a:off x="2930387" y="4484013"/>
            <a:ext cx="5600700" cy="430887"/>
          </a:xfrm>
          <a:prstGeom prst="rect">
            <a:avLst/>
          </a:prstGeom>
          <a:noFill/>
        </p:spPr>
        <p:txBody>
          <a:bodyPr wrap="square" rtlCol="0">
            <a:spAutoFit/>
          </a:bodyPr>
          <a:lstStyle/>
          <a:p>
            <a:r>
              <a:rPr lang="en-US" sz="2200" dirty="0"/>
              <a:t>…and then that place can be called.</a:t>
            </a:r>
          </a:p>
        </p:txBody>
      </p:sp>
      <p:sp>
        <p:nvSpPr>
          <p:cNvPr id="16" name="TextBox 15">
            <a:extLst>
              <a:ext uri="{FF2B5EF4-FFF2-40B4-BE49-F238E27FC236}">
                <a16:creationId xmlns:a16="http://schemas.microsoft.com/office/drawing/2014/main" id="{1B37251E-5A5A-FF42-A180-A20C729D7D18}"/>
              </a:ext>
            </a:extLst>
          </p:cNvPr>
          <p:cNvSpPr txBox="1"/>
          <p:nvPr/>
        </p:nvSpPr>
        <p:spPr>
          <a:xfrm>
            <a:off x="463816" y="2384898"/>
            <a:ext cx="2517036" cy="430887"/>
          </a:xfrm>
          <a:prstGeom prst="rect">
            <a:avLst/>
          </a:prstGeom>
          <a:noFill/>
        </p:spPr>
        <p:txBody>
          <a:bodyPr wrap="none" rtlCol="0">
            <a:spAutoFit/>
          </a:bodyPr>
          <a:lstStyle/>
          <a:p>
            <a:r>
              <a:rPr lang="en-US" sz="2200" b="1" dirty="0" err="1">
                <a:latin typeface="Consolas" panose="020B0609020204030204" pitchFamily="49" charset="0"/>
                <a:cs typeface="Consolas" panose="020B0609020204030204" pitchFamily="49" charset="0"/>
              </a:rPr>
              <a:t>x.y</a:t>
            </a:r>
            <a:r>
              <a:rPr lang="en-US" sz="2200" b="1" dirty="0">
                <a:latin typeface="Consolas" panose="020B0609020204030204" pitchFamily="49" charset="0"/>
                <a:cs typeface="Consolas" panose="020B0609020204030204" pitchFamily="49" charset="0"/>
              </a:rPr>
              <a:t> = </a:t>
            </a:r>
            <a:r>
              <a:rPr lang="en-US" sz="2200" b="1" dirty="0" err="1">
                <a:latin typeface="Consolas" panose="020B0609020204030204" pitchFamily="49" charset="0"/>
                <a:cs typeface="Consolas" panose="020B0609020204030204" pitchFamily="49" charset="0"/>
              </a:rPr>
              <a:t>a.b.c</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a:t>
            </a:r>
          </a:p>
        </p:txBody>
      </p:sp>
      <p:sp>
        <p:nvSpPr>
          <p:cNvPr id="17" name="TextBox 16">
            <a:extLst>
              <a:ext uri="{FF2B5EF4-FFF2-40B4-BE49-F238E27FC236}">
                <a16:creationId xmlns:a16="http://schemas.microsoft.com/office/drawing/2014/main" id="{6E371012-9BAE-EE46-8817-65F35CCF835F}"/>
              </a:ext>
            </a:extLst>
          </p:cNvPr>
          <p:cNvSpPr txBox="1"/>
          <p:nvPr/>
        </p:nvSpPr>
        <p:spPr>
          <a:xfrm>
            <a:off x="2930387" y="2399807"/>
            <a:ext cx="5600700" cy="769441"/>
          </a:xfrm>
          <a:prstGeom prst="rect">
            <a:avLst/>
          </a:prstGeom>
          <a:noFill/>
        </p:spPr>
        <p:txBody>
          <a:bodyPr wrap="square" rtlCol="0">
            <a:spAutoFit/>
          </a:bodyPr>
          <a:lstStyle/>
          <a:p>
            <a:r>
              <a:rPr lang="en-US" sz="2200" dirty="0"/>
              <a:t>this is still just one instruction. field access doesn't count as an "operation;" </a:t>
            </a:r>
            <a:r>
              <a:rPr lang="en-US" sz="2200" b="1" dirty="0">
                <a:latin typeface="Consolas" panose="020B0609020204030204" pitchFamily="49" charset="0"/>
                <a:cs typeface="Consolas" panose="020B0609020204030204" pitchFamily="49" charset="0"/>
              </a:rPr>
              <a:t>+</a:t>
            </a:r>
            <a:r>
              <a:rPr lang="en-US" sz="2200" dirty="0"/>
              <a:t> does.</a:t>
            </a:r>
          </a:p>
        </p:txBody>
      </p:sp>
    </p:spTree>
    <p:extLst>
      <p:ext uri="{BB962C8B-B14F-4D97-AF65-F5344CB8AC3E}">
        <p14:creationId xmlns:p14="http://schemas.microsoft.com/office/powerpoint/2010/main" val="1582224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AC00-4CC0-D248-B18B-23F24CBBC06A}"/>
              </a:ext>
            </a:extLst>
          </p:cNvPr>
          <p:cNvSpPr>
            <a:spLocks noGrp="1"/>
          </p:cNvSpPr>
          <p:nvPr>
            <p:ph type="title"/>
          </p:nvPr>
        </p:nvSpPr>
        <p:spPr/>
        <p:txBody>
          <a:bodyPr/>
          <a:lstStyle/>
          <a:p>
            <a:r>
              <a:rPr lang="en-US" dirty="0"/>
              <a:t>Terminators</a:t>
            </a:r>
          </a:p>
        </p:txBody>
      </p:sp>
      <p:sp>
        <p:nvSpPr>
          <p:cNvPr id="3" name="Content Placeholder 2">
            <a:extLst>
              <a:ext uri="{FF2B5EF4-FFF2-40B4-BE49-F238E27FC236}">
                <a16:creationId xmlns:a16="http://schemas.microsoft.com/office/drawing/2014/main" id="{2B257893-9086-B64A-9A56-95210B4502D5}"/>
              </a:ext>
            </a:extLst>
          </p:cNvPr>
          <p:cNvSpPr>
            <a:spLocks noGrp="1"/>
          </p:cNvSpPr>
          <p:nvPr>
            <p:ph idx="1"/>
          </p:nvPr>
        </p:nvSpPr>
        <p:spPr>
          <a:xfrm>
            <a:off x="152400" y="495301"/>
            <a:ext cx="8991600" cy="838199"/>
          </a:xfrm>
        </p:spPr>
        <p:txBody>
          <a:bodyPr/>
          <a:lstStyle/>
          <a:p>
            <a:r>
              <a:rPr lang="en-US" dirty="0"/>
              <a:t>a basic block (BB) contains 0 or more regular instructions, and ends with a </a:t>
            </a:r>
            <a:r>
              <a:rPr lang="en-US" b="1" dirty="0"/>
              <a:t>terminator, </a:t>
            </a:r>
            <a:r>
              <a:rPr lang="en-US" dirty="0"/>
              <a:t>which is a </a:t>
            </a:r>
            <a:r>
              <a:rPr lang="en-US" b="1" dirty="0"/>
              <a:t>control flow</a:t>
            </a:r>
            <a:r>
              <a:rPr lang="en-US" dirty="0"/>
              <a:t> instruction.</a:t>
            </a:r>
          </a:p>
        </p:txBody>
      </p:sp>
      <p:sp>
        <p:nvSpPr>
          <p:cNvPr id="4" name="Slide Number Placeholder 3">
            <a:extLst>
              <a:ext uri="{FF2B5EF4-FFF2-40B4-BE49-F238E27FC236}">
                <a16:creationId xmlns:a16="http://schemas.microsoft.com/office/drawing/2014/main" id="{5C701BA5-9F3C-3D44-AC8B-8D7349B7E711}"/>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Rectangle 4">
            <a:extLst>
              <a:ext uri="{FF2B5EF4-FFF2-40B4-BE49-F238E27FC236}">
                <a16:creationId xmlns:a16="http://schemas.microsoft.com/office/drawing/2014/main" id="{5DF20E55-E296-B147-A155-9FD24870EE69}"/>
              </a:ext>
            </a:extLst>
          </p:cNvPr>
          <p:cNvSpPr/>
          <p:nvPr/>
        </p:nvSpPr>
        <p:spPr>
          <a:xfrm>
            <a:off x="5715000" y="2350773"/>
            <a:ext cx="1302127" cy="707886"/>
          </a:xfrm>
          <a:prstGeom prst="rect">
            <a:avLst/>
          </a:prstGeom>
          <a:solidFill>
            <a:schemeClr val="accent1">
              <a:lumMod val="20000"/>
              <a:lumOff val="80000"/>
            </a:schemeClr>
          </a:solidFill>
        </p:spPr>
        <p:txBody>
          <a:bodyPr wrap="square">
            <a:spAutoFit/>
          </a:bodyPr>
          <a:lstStyle/>
          <a:p>
            <a:r>
              <a:rPr lang="en-US" sz="2000" b="1" dirty="0">
                <a:latin typeface="Consolas" panose="020B0609020204030204" pitchFamily="49" charset="0"/>
                <a:cs typeface="Consolas" panose="020B0609020204030204" pitchFamily="49" charset="0"/>
              </a:rPr>
              <a:t>...</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solidFill>
                  <a:schemeClr val="accent3">
                    <a:lumMod val="75000"/>
                  </a:schemeClr>
                </a:solidFill>
                <a:latin typeface="Consolas" panose="020B0609020204030204" pitchFamily="49" charset="0"/>
                <a:cs typeface="Consolas" panose="020B0609020204030204" pitchFamily="49" charset="0"/>
              </a:rPr>
              <a:t> bb7</a:t>
            </a:r>
          </a:p>
        </p:txBody>
      </p:sp>
      <p:sp>
        <p:nvSpPr>
          <p:cNvPr id="6" name="Rectangle 5">
            <a:extLst>
              <a:ext uri="{FF2B5EF4-FFF2-40B4-BE49-F238E27FC236}">
                <a16:creationId xmlns:a16="http://schemas.microsoft.com/office/drawing/2014/main" id="{FE13F88B-C87F-CC42-8A6A-87AB1D9C35AB}"/>
              </a:ext>
            </a:extLst>
          </p:cNvPr>
          <p:cNvSpPr/>
          <p:nvPr/>
        </p:nvSpPr>
        <p:spPr>
          <a:xfrm>
            <a:off x="1950377" y="2352590"/>
            <a:ext cx="1073527" cy="707886"/>
          </a:xfrm>
          <a:prstGeom prst="rect">
            <a:avLst/>
          </a:prstGeom>
          <a:solidFill>
            <a:schemeClr val="accent2">
              <a:lumMod val="20000"/>
              <a:lumOff val="80000"/>
            </a:schemeClr>
          </a:solidFill>
        </p:spPr>
        <p:txBody>
          <a:bodyPr wrap="square">
            <a:spAutoFit/>
          </a:bodyPr>
          <a:lstStyle/>
          <a:p>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return</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C5C2A02-5E6C-A84D-A2DF-76DB00A2BF01}"/>
              </a:ext>
            </a:extLst>
          </p:cNvPr>
          <p:cNvSpPr/>
          <p:nvPr/>
        </p:nvSpPr>
        <p:spPr>
          <a:xfrm>
            <a:off x="2896446" y="4341904"/>
            <a:ext cx="3002314" cy="707886"/>
          </a:xfrm>
          <a:prstGeom prst="rect">
            <a:avLst/>
          </a:prstGeom>
          <a:solidFill>
            <a:schemeClr val="accent6">
              <a:lumMod val="40000"/>
              <a:lumOff val="60000"/>
            </a:schemeClr>
          </a:solidFill>
        </p:spPr>
        <p:txBody>
          <a:bodyPr wrap="square">
            <a:spAutoFit/>
          </a:bodyPr>
          <a:lstStyle/>
          <a:p>
            <a:r>
              <a:rPr lang="en-US" sz="2000" b="1" dirty="0">
                <a:latin typeface="Consolas" panose="020B0609020204030204" pitchFamily="49" charset="0"/>
                <a:cs typeface="Consolas" panose="020B0609020204030204" pitchFamily="49" charset="0"/>
              </a:rPr>
              <a:t>...</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$t4 </a:t>
            </a:r>
            <a:r>
              <a:rPr lang="en-US" sz="2000" b="1" dirty="0">
                <a:solidFill>
                  <a:schemeClr val="accent3">
                    <a:lumMod val="75000"/>
                  </a:schemeClr>
                </a:solidFill>
                <a:latin typeface="Consolas" panose="020B0609020204030204" pitchFamily="49" charset="0"/>
                <a:cs typeface="Consolas" panose="020B0609020204030204" pitchFamily="49" charset="0"/>
              </a:rPr>
              <a:t>bb9</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bb12</a:t>
            </a:r>
          </a:p>
        </p:txBody>
      </p:sp>
      <p:sp>
        <p:nvSpPr>
          <p:cNvPr id="8" name="TextBox 7">
            <a:extLst>
              <a:ext uri="{FF2B5EF4-FFF2-40B4-BE49-F238E27FC236}">
                <a16:creationId xmlns:a16="http://schemas.microsoft.com/office/drawing/2014/main" id="{683311C3-A1C7-AA48-8BC0-197912956D39}"/>
              </a:ext>
            </a:extLst>
          </p:cNvPr>
          <p:cNvSpPr txBox="1"/>
          <p:nvPr/>
        </p:nvSpPr>
        <p:spPr>
          <a:xfrm>
            <a:off x="783282" y="1438863"/>
            <a:ext cx="3407718" cy="769441"/>
          </a:xfrm>
          <a:prstGeom prst="rect">
            <a:avLst/>
          </a:prstGeom>
          <a:noFill/>
        </p:spPr>
        <p:txBody>
          <a:bodyPr wrap="square" rtlCol="0">
            <a:spAutoFit/>
          </a:bodyPr>
          <a:lstStyle/>
          <a:p>
            <a:pPr algn="ctr"/>
            <a:r>
              <a:rPr lang="en-US" sz="2200" dirty="0"/>
              <a:t>a </a:t>
            </a:r>
            <a:r>
              <a:rPr lang="en-US" sz="2200" b="1" dirty="0"/>
              <a:t>return </a:t>
            </a:r>
            <a:r>
              <a:rPr lang="en-US" sz="2200" dirty="0"/>
              <a:t>terminator</a:t>
            </a:r>
            <a:r>
              <a:rPr lang="en-US" sz="2200" b="1" dirty="0"/>
              <a:t> </a:t>
            </a:r>
            <a:r>
              <a:rPr lang="en-US" sz="2200" dirty="0"/>
              <a:t>returns from the function. </a:t>
            </a:r>
          </a:p>
        </p:txBody>
      </p:sp>
      <p:sp>
        <p:nvSpPr>
          <p:cNvPr id="9" name="TextBox 8">
            <a:extLst>
              <a:ext uri="{FF2B5EF4-FFF2-40B4-BE49-F238E27FC236}">
                <a16:creationId xmlns:a16="http://schemas.microsoft.com/office/drawing/2014/main" id="{F66B08DE-ECDB-644E-A5E1-2EA400AB7E3C}"/>
              </a:ext>
            </a:extLst>
          </p:cNvPr>
          <p:cNvSpPr txBox="1"/>
          <p:nvPr/>
        </p:nvSpPr>
        <p:spPr>
          <a:xfrm>
            <a:off x="4600383" y="1244594"/>
            <a:ext cx="3760335" cy="1107996"/>
          </a:xfrm>
          <a:prstGeom prst="rect">
            <a:avLst/>
          </a:prstGeom>
          <a:noFill/>
        </p:spPr>
        <p:txBody>
          <a:bodyPr wrap="square" rtlCol="0">
            <a:spAutoFit/>
          </a:bodyPr>
          <a:lstStyle/>
          <a:p>
            <a:pPr algn="ctr"/>
            <a:r>
              <a:rPr lang="en-US" sz="2200" dirty="0"/>
              <a:t>a </a:t>
            </a:r>
            <a:r>
              <a:rPr lang="en-US" sz="2200" b="1" dirty="0" err="1"/>
              <a:t>goto</a:t>
            </a:r>
            <a:r>
              <a:rPr lang="en-US" sz="2200" b="1" dirty="0"/>
              <a:t> </a:t>
            </a:r>
            <a:r>
              <a:rPr lang="en-US" sz="2200" dirty="0"/>
              <a:t>terminator </a:t>
            </a:r>
            <a:r>
              <a:rPr lang="en-US" sz="2200" b="1" dirty="0"/>
              <a:t>unconditionally</a:t>
            </a:r>
            <a:r>
              <a:rPr lang="en-US" sz="2200" dirty="0"/>
              <a:t> goes to another BB.</a:t>
            </a:r>
          </a:p>
        </p:txBody>
      </p:sp>
      <p:sp>
        <p:nvSpPr>
          <p:cNvPr id="10" name="TextBox 9">
            <a:extLst>
              <a:ext uri="{FF2B5EF4-FFF2-40B4-BE49-F238E27FC236}">
                <a16:creationId xmlns:a16="http://schemas.microsoft.com/office/drawing/2014/main" id="{96D759B1-889A-5948-B039-9FAED6D48358}"/>
              </a:ext>
            </a:extLst>
          </p:cNvPr>
          <p:cNvSpPr txBox="1"/>
          <p:nvPr/>
        </p:nvSpPr>
        <p:spPr>
          <a:xfrm>
            <a:off x="1524000" y="3467100"/>
            <a:ext cx="5747206" cy="769441"/>
          </a:xfrm>
          <a:prstGeom prst="rect">
            <a:avLst/>
          </a:prstGeom>
          <a:noFill/>
        </p:spPr>
        <p:txBody>
          <a:bodyPr wrap="square" rtlCol="0">
            <a:spAutoFit/>
          </a:bodyPr>
          <a:lstStyle/>
          <a:p>
            <a:pPr algn="ctr"/>
            <a:r>
              <a:rPr lang="en-US" sz="2200" dirty="0"/>
              <a:t>and a </a:t>
            </a:r>
            <a:r>
              <a:rPr lang="en-US" sz="2200" b="1" dirty="0"/>
              <a:t>conditional </a:t>
            </a:r>
            <a:r>
              <a:rPr lang="en-US" sz="2200" dirty="0"/>
              <a:t>terminator</a:t>
            </a:r>
            <a:r>
              <a:rPr lang="en-US" sz="2200" b="1" dirty="0"/>
              <a:t> </a:t>
            </a:r>
            <a:r>
              <a:rPr lang="en-US" sz="2200" dirty="0"/>
              <a:t>goes to </a:t>
            </a:r>
            <a:r>
              <a:rPr lang="en-US" sz="2200" b="1" dirty="0"/>
              <a:t>one of two BBs,</a:t>
            </a:r>
            <a:r>
              <a:rPr lang="en-US" sz="2200" dirty="0"/>
              <a:t> based on the condition.</a:t>
            </a:r>
          </a:p>
        </p:txBody>
      </p:sp>
    </p:spTree>
    <p:extLst>
      <p:ext uri="{BB962C8B-B14F-4D97-AF65-F5344CB8AC3E}">
        <p14:creationId xmlns:p14="http://schemas.microsoft.com/office/powerpoint/2010/main" val="39593381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A1BF-9131-164D-AFC8-91D4BFB6F618}"/>
              </a:ext>
            </a:extLst>
          </p:cNvPr>
          <p:cNvSpPr>
            <a:spLocks noGrp="1"/>
          </p:cNvSpPr>
          <p:nvPr>
            <p:ph type="title"/>
          </p:nvPr>
        </p:nvSpPr>
        <p:spPr/>
        <p:txBody>
          <a:bodyPr/>
          <a:lstStyle/>
          <a:p>
            <a:r>
              <a:rPr lang="en-US" dirty="0"/>
              <a:t>One way in, one way out</a:t>
            </a:r>
          </a:p>
        </p:txBody>
      </p:sp>
      <p:sp>
        <p:nvSpPr>
          <p:cNvPr id="3" name="Content Placeholder 2">
            <a:extLst>
              <a:ext uri="{FF2B5EF4-FFF2-40B4-BE49-F238E27FC236}">
                <a16:creationId xmlns:a16="http://schemas.microsoft.com/office/drawing/2014/main" id="{AE72BFBD-7750-F349-8A7D-2556FA720705}"/>
              </a:ext>
            </a:extLst>
          </p:cNvPr>
          <p:cNvSpPr>
            <a:spLocks noGrp="1"/>
          </p:cNvSpPr>
          <p:nvPr>
            <p:ph idx="1"/>
          </p:nvPr>
        </p:nvSpPr>
        <p:spPr>
          <a:xfrm>
            <a:off x="152400" y="495301"/>
            <a:ext cx="8991600" cy="1142999"/>
          </a:xfrm>
        </p:spPr>
        <p:txBody>
          <a:bodyPr/>
          <a:lstStyle/>
          <a:p>
            <a:r>
              <a:rPr lang="en-US" dirty="0"/>
              <a:t>every function has at least one BB, its </a:t>
            </a:r>
            <a:r>
              <a:rPr lang="en-US" b="1" dirty="0"/>
              <a:t>entry point. </a:t>
            </a:r>
            <a:r>
              <a:rPr lang="en-US" dirty="0"/>
              <a:t>it's named </a:t>
            </a:r>
            <a:r>
              <a:rPr lang="en-US" dirty="0">
                <a:latin typeface="Consolas" panose="020B0609020204030204" pitchFamily="49" charset="0"/>
                <a:cs typeface="Consolas" panose="020B0609020204030204" pitchFamily="49" charset="0"/>
              </a:rPr>
              <a:t>bb0</a:t>
            </a:r>
            <a:r>
              <a:rPr lang="en-US" dirty="0"/>
              <a:t>.</a:t>
            </a:r>
          </a:p>
          <a:p>
            <a:r>
              <a:rPr lang="en-US" dirty="0"/>
              <a:t>we will also ensure every function has </a:t>
            </a:r>
            <a:r>
              <a:rPr lang="en-US" b="1" i="1" dirty="0">
                <a:solidFill>
                  <a:srgbClr val="FF0000"/>
                </a:solidFill>
              </a:rPr>
              <a:t>exactly</a:t>
            </a:r>
            <a:r>
              <a:rPr lang="en-US" b="1" dirty="0">
                <a:solidFill>
                  <a:srgbClr val="FF0000"/>
                </a:solidFill>
              </a:rPr>
              <a:t> one BB</a:t>
            </a:r>
            <a:r>
              <a:rPr lang="en-US" b="1" dirty="0"/>
              <a:t> with a return.</a:t>
            </a:r>
          </a:p>
          <a:p>
            <a:pPr lvl="1"/>
            <a:r>
              <a:rPr lang="en-US" dirty="0"/>
              <a:t>all </a:t>
            </a:r>
            <a:r>
              <a:rPr lang="en-US" b="1" dirty="0">
                <a:solidFill>
                  <a:srgbClr val="FF0000"/>
                </a:solidFill>
                <a:latin typeface="Consolas" panose="020B0609020204030204" pitchFamily="49" charset="0"/>
                <a:cs typeface="Consolas" panose="020B0609020204030204" pitchFamily="49" charset="0"/>
              </a:rPr>
              <a:t>return</a:t>
            </a:r>
            <a:r>
              <a:rPr lang="en-US" b="1" dirty="0"/>
              <a:t> </a:t>
            </a:r>
            <a:r>
              <a:rPr lang="en-US" dirty="0"/>
              <a:t>statements will jump (</a:t>
            </a:r>
            <a:r>
              <a:rPr lang="en-US" b="1" dirty="0" err="1">
                <a:solidFill>
                  <a:srgbClr val="FF0000"/>
                </a:solidFill>
                <a:latin typeface="Consolas" panose="020B0609020204030204" pitchFamily="49" charset="0"/>
                <a:cs typeface="Consolas" panose="020B0609020204030204" pitchFamily="49" charset="0"/>
              </a:rPr>
              <a:t>goto</a:t>
            </a:r>
            <a:r>
              <a:rPr lang="en-US" dirty="0"/>
              <a:t>) to it.</a:t>
            </a:r>
          </a:p>
        </p:txBody>
      </p:sp>
      <p:sp>
        <p:nvSpPr>
          <p:cNvPr id="4" name="Slide Number Placeholder 3">
            <a:extLst>
              <a:ext uri="{FF2B5EF4-FFF2-40B4-BE49-F238E27FC236}">
                <a16:creationId xmlns:a16="http://schemas.microsoft.com/office/drawing/2014/main" id="{9973F625-4C69-0047-BA5A-345347271882}"/>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27" name="TextBox 26">
            <a:extLst>
              <a:ext uri="{FF2B5EF4-FFF2-40B4-BE49-F238E27FC236}">
                <a16:creationId xmlns:a16="http://schemas.microsoft.com/office/drawing/2014/main" id="{0629AB00-2664-E84C-B345-C36E03B17694}"/>
              </a:ext>
            </a:extLst>
          </p:cNvPr>
          <p:cNvSpPr txBox="1"/>
          <p:nvPr/>
        </p:nvSpPr>
        <p:spPr>
          <a:xfrm>
            <a:off x="381000" y="1640305"/>
            <a:ext cx="3223959" cy="3416320"/>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f(x: </a:t>
            </a:r>
            <a:r>
              <a:rPr lang="en-US" sz="1800" b="1" dirty="0">
                <a:solidFill>
                  <a:srgbClr val="FF0000"/>
                </a:solidFill>
                <a:latin typeface="Consolas" panose="020B0609020204030204" pitchFamily="49" charset="0"/>
                <a:cs typeface="Consolas" panose="020B0609020204030204" pitchFamily="49" charset="0"/>
              </a:rPr>
              <a:t>bool</a:t>
            </a:r>
            <a:r>
              <a:rPr lang="en-US" sz="1800" b="1" dirty="0">
                <a:latin typeface="Consolas" panose="020B0609020204030204" pitchFamily="49" charset="0"/>
                <a:cs typeface="Consolas" panose="020B0609020204030204" pitchFamily="49" charset="0"/>
              </a:rPr>
              <a:t>, y:</a:t>
            </a:r>
            <a:r>
              <a:rPr lang="en-US" sz="1800" b="1" dirty="0">
                <a:solidFill>
                  <a:srgbClr val="FF0000"/>
                </a:solidFill>
                <a:latin typeface="Consolas" panose="020B0609020204030204" pitchFamily="49" charset="0"/>
                <a:cs typeface="Consolas" panose="020B0609020204030204" pitchFamily="49" charset="0"/>
              </a:rPr>
              <a:t> bool</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x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y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"just x"</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else</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"not x"</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return</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println_s</a:t>
            </a:r>
            <a:r>
              <a:rPr lang="en-US" sz="1800" b="1" dirty="0">
                <a:latin typeface="Consolas" panose="020B0609020204030204" pitchFamily="49" charset="0"/>
                <a:cs typeface="Consolas" panose="020B0609020204030204" pitchFamily="49" charset="0"/>
              </a:rPr>
              <a:t>(</a:t>
            </a:r>
            <a:r>
              <a:rPr lang="en-US" sz="1800" b="1" dirty="0">
                <a:solidFill>
                  <a:schemeClr val="accent6">
                    <a:lumMod val="75000"/>
                  </a:schemeClr>
                </a:solidFill>
                <a:latin typeface="Consolas" panose="020B0609020204030204" pitchFamily="49" charset="0"/>
                <a:cs typeface="Consolas" panose="020B0609020204030204" pitchFamily="49" charset="0"/>
              </a:rPr>
              <a:t>"done"</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a:t>
            </a:r>
          </a:p>
        </p:txBody>
      </p:sp>
      <p:cxnSp>
        <p:nvCxnSpPr>
          <p:cNvPr id="39" name="Straight Arrow Connector 38">
            <a:extLst>
              <a:ext uri="{FF2B5EF4-FFF2-40B4-BE49-F238E27FC236}">
                <a16:creationId xmlns:a16="http://schemas.microsoft.com/office/drawing/2014/main" id="{55AEA4FB-6718-744E-B29D-3B36C1F12DC3}"/>
              </a:ext>
            </a:extLst>
          </p:cNvPr>
          <p:cNvCxnSpPr>
            <a:cxnSpLocks/>
            <a:endCxn id="40" idx="1"/>
          </p:cNvCxnSpPr>
          <p:nvPr/>
        </p:nvCxnSpPr>
        <p:spPr>
          <a:xfrm>
            <a:off x="3610657" y="2159762"/>
            <a:ext cx="53339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a:extLst>
              <a:ext uri="{FF2B5EF4-FFF2-40B4-BE49-F238E27FC236}">
                <a16:creationId xmlns:a16="http://schemas.microsoft.com/office/drawing/2014/main" id="{A07F4C21-236E-9A40-A69D-DD6E449F23FB}"/>
              </a:ext>
            </a:extLst>
          </p:cNvPr>
          <p:cNvSpPr/>
          <p:nvPr/>
        </p:nvSpPr>
        <p:spPr>
          <a:xfrm>
            <a:off x="4144056" y="1955450"/>
            <a:ext cx="609600" cy="408623"/>
          </a:xfrm>
          <a:prstGeom prst="roundRect">
            <a:avLst/>
          </a:prstGeom>
          <a:solidFill>
            <a:schemeClr val="accent6"/>
          </a:solidFill>
          <a:ln w="19050">
            <a:solidFill>
              <a:schemeClr val="tx1"/>
            </a:solidFill>
          </a:ln>
        </p:spPr>
        <p:txBody>
          <a:bodyPr wrap="square">
            <a:spAutoFit/>
          </a:bodyPr>
          <a:lstStyle/>
          <a:p>
            <a:r>
              <a:rPr lang="en-US" sz="1800" b="1" dirty="0">
                <a:latin typeface="Consolas" panose="020B0609020204030204" pitchFamily="49" charset="0"/>
                <a:cs typeface="Consolas" panose="020B0609020204030204" pitchFamily="49" charset="0"/>
              </a:rPr>
              <a:t>bb0</a:t>
            </a:r>
          </a:p>
        </p:txBody>
      </p:sp>
      <p:cxnSp>
        <p:nvCxnSpPr>
          <p:cNvPr id="41" name="Straight Arrow Connector 40">
            <a:extLst>
              <a:ext uri="{FF2B5EF4-FFF2-40B4-BE49-F238E27FC236}">
                <a16:creationId xmlns:a16="http://schemas.microsoft.com/office/drawing/2014/main" id="{BBD58AFE-FD4E-D145-A7C7-A2B892AFCBAA}"/>
              </a:ext>
            </a:extLst>
          </p:cNvPr>
          <p:cNvCxnSpPr>
            <a:cxnSpLocks/>
            <a:stCxn id="52" idx="2"/>
            <a:endCxn id="44" idx="0"/>
          </p:cNvCxnSpPr>
          <p:nvPr/>
        </p:nvCxnSpPr>
        <p:spPr>
          <a:xfrm rot="16200000" flipH="1">
            <a:off x="5020559" y="2962264"/>
            <a:ext cx="271578" cy="506857"/>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F995AC1-1C6A-424B-87C1-73554CC8126B}"/>
              </a:ext>
            </a:extLst>
          </p:cNvPr>
          <p:cNvCxnSpPr>
            <a:cxnSpLocks/>
            <a:stCxn id="40" idx="2"/>
            <a:endCxn id="52" idx="0"/>
          </p:cNvCxnSpPr>
          <p:nvPr/>
        </p:nvCxnSpPr>
        <p:spPr>
          <a:xfrm rot="16200000" flipH="1">
            <a:off x="4522284" y="2290645"/>
            <a:ext cx="307208" cy="454064"/>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a:extLst>
              <a:ext uri="{FF2B5EF4-FFF2-40B4-BE49-F238E27FC236}">
                <a16:creationId xmlns:a16="http://schemas.microsoft.com/office/drawing/2014/main" id="{DE3A55E3-71B8-294B-ABEF-A343FDED344D}"/>
              </a:ext>
            </a:extLst>
          </p:cNvPr>
          <p:cNvSpPr/>
          <p:nvPr/>
        </p:nvSpPr>
        <p:spPr>
          <a:xfrm>
            <a:off x="4375472" y="4141168"/>
            <a:ext cx="901480" cy="408623"/>
          </a:xfrm>
          <a:prstGeom prst="roundRect">
            <a:avLst/>
          </a:prstGeom>
          <a:solidFill>
            <a:schemeClr val="accent1"/>
          </a:solidFill>
          <a:ln w="19050">
            <a:solidFill>
              <a:schemeClr val="tx1"/>
            </a:solidFill>
          </a:ln>
        </p:spPr>
        <p:txBody>
          <a:bodyPr wrap="square">
            <a:spAutoFit/>
          </a:bodyPr>
          <a:lstStyle/>
          <a:p>
            <a:pPr algn="ctr"/>
            <a:r>
              <a:rPr lang="en-US" sz="1800" b="1" dirty="0">
                <a:solidFill>
                  <a:schemeClr val="bg1"/>
                </a:solidFill>
                <a:latin typeface="Consolas" panose="020B0609020204030204" pitchFamily="49" charset="0"/>
                <a:cs typeface="Consolas" panose="020B0609020204030204" pitchFamily="49" charset="0"/>
              </a:rPr>
              <a:t>done</a:t>
            </a:r>
          </a:p>
        </p:txBody>
      </p:sp>
      <p:sp>
        <p:nvSpPr>
          <p:cNvPr id="44" name="Rounded Rectangle 43">
            <a:extLst>
              <a:ext uri="{FF2B5EF4-FFF2-40B4-BE49-F238E27FC236}">
                <a16:creationId xmlns:a16="http://schemas.microsoft.com/office/drawing/2014/main" id="{B29D892E-9707-8349-8CF6-5506CA948650}"/>
              </a:ext>
            </a:extLst>
          </p:cNvPr>
          <p:cNvSpPr/>
          <p:nvPr/>
        </p:nvSpPr>
        <p:spPr>
          <a:xfrm>
            <a:off x="4902920" y="3351482"/>
            <a:ext cx="1013714" cy="408623"/>
          </a:xfrm>
          <a:prstGeom prst="roundRect">
            <a:avLst/>
          </a:prstGeom>
          <a:solidFill>
            <a:schemeClr val="accent1"/>
          </a:solidFill>
          <a:ln w="19050">
            <a:solidFill>
              <a:schemeClr val="tx1"/>
            </a:solidFill>
          </a:ln>
        </p:spPr>
        <p:txBody>
          <a:bodyPr wrap="square">
            <a:spAutoFit/>
          </a:bodyPr>
          <a:lstStyle/>
          <a:p>
            <a:pPr algn="ctr"/>
            <a:r>
              <a:rPr lang="en-US" sz="1800" b="1" dirty="0">
                <a:solidFill>
                  <a:schemeClr val="bg1"/>
                </a:solidFill>
                <a:latin typeface="Consolas" panose="020B0609020204030204" pitchFamily="49" charset="0"/>
                <a:cs typeface="Consolas" panose="020B0609020204030204" pitchFamily="49" charset="0"/>
              </a:rPr>
              <a:t>just x</a:t>
            </a:r>
          </a:p>
        </p:txBody>
      </p:sp>
      <p:cxnSp>
        <p:nvCxnSpPr>
          <p:cNvPr id="45" name="Straight Arrow Connector 44">
            <a:extLst>
              <a:ext uri="{FF2B5EF4-FFF2-40B4-BE49-F238E27FC236}">
                <a16:creationId xmlns:a16="http://schemas.microsoft.com/office/drawing/2014/main" id="{0C962110-5F50-BB4B-BFBE-E379AAADE14E}"/>
              </a:ext>
            </a:extLst>
          </p:cNvPr>
          <p:cNvCxnSpPr>
            <a:cxnSpLocks/>
            <a:stCxn id="43" idx="2"/>
            <a:endCxn id="46" idx="3"/>
          </p:cNvCxnSpPr>
          <p:nvPr/>
        </p:nvCxnSpPr>
        <p:spPr>
          <a:xfrm rot="5400000">
            <a:off x="4414433" y="4458582"/>
            <a:ext cx="320570" cy="502989"/>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a:extLst>
              <a:ext uri="{FF2B5EF4-FFF2-40B4-BE49-F238E27FC236}">
                <a16:creationId xmlns:a16="http://schemas.microsoft.com/office/drawing/2014/main" id="{42E8BDED-6612-B045-A2A5-D01C695B1D35}"/>
              </a:ext>
            </a:extLst>
          </p:cNvPr>
          <p:cNvSpPr/>
          <p:nvPr/>
        </p:nvSpPr>
        <p:spPr>
          <a:xfrm>
            <a:off x="3713623" y="4666049"/>
            <a:ext cx="609600" cy="408623"/>
          </a:xfrm>
          <a:prstGeom prst="roundRect">
            <a:avLst/>
          </a:prstGeom>
          <a:solidFill>
            <a:schemeClr val="accent2"/>
          </a:solidFill>
          <a:ln w="19050">
            <a:solidFill>
              <a:schemeClr val="tx1"/>
            </a:solidFill>
          </a:ln>
        </p:spPr>
        <p:txBody>
          <a:bodyPr wrap="square">
            <a:spAutoFit/>
          </a:bodyPr>
          <a:lstStyle/>
          <a:p>
            <a:endParaRPr lang="en-US" sz="1800" b="1" dirty="0">
              <a:solidFill>
                <a:schemeClr val="bg1"/>
              </a:solidFill>
              <a:latin typeface="Consolas" panose="020B0609020204030204" pitchFamily="49" charset="0"/>
              <a:cs typeface="Consolas" panose="020B0609020204030204" pitchFamily="49" charset="0"/>
            </a:endParaRPr>
          </a:p>
        </p:txBody>
      </p:sp>
      <p:cxnSp>
        <p:nvCxnSpPr>
          <p:cNvPr id="47" name="Straight Arrow Connector 46">
            <a:extLst>
              <a:ext uri="{FF2B5EF4-FFF2-40B4-BE49-F238E27FC236}">
                <a16:creationId xmlns:a16="http://schemas.microsoft.com/office/drawing/2014/main" id="{F2191EC7-EFFA-E14A-BC83-9954D6DA52F6}"/>
              </a:ext>
            </a:extLst>
          </p:cNvPr>
          <p:cNvCxnSpPr>
            <a:cxnSpLocks/>
            <a:stCxn id="44" idx="2"/>
            <a:endCxn id="43" idx="0"/>
          </p:cNvCxnSpPr>
          <p:nvPr/>
        </p:nvCxnSpPr>
        <p:spPr>
          <a:xfrm rot="5400000">
            <a:off x="4927464" y="3658854"/>
            <a:ext cx="381063" cy="583565"/>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ounded Rectangle 51">
            <a:extLst>
              <a:ext uri="{FF2B5EF4-FFF2-40B4-BE49-F238E27FC236}">
                <a16:creationId xmlns:a16="http://schemas.microsoft.com/office/drawing/2014/main" id="{38E11C80-E4CA-8C48-B177-347E501FF806}"/>
              </a:ext>
            </a:extLst>
          </p:cNvPr>
          <p:cNvSpPr/>
          <p:nvPr/>
        </p:nvSpPr>
        <p:spPr>
          <a:xfrm>
            <a:off x="4598120" y="2671281"/>
            <a:ext cx="609600" cy="408623"/>
          </a:xfrm>
          <a:prstGeom prst="roundRect">
            <a:avLst/>
          </a:prstGeom>
          <a:solidFill>
            <a:schemeClr val="accent6"/>
          </a:solidFill>
          <a:ln w="19050">
            <a:solidFill>
              <a:schemeClr val="tx1"/>
            </a:solidFill>
          </a:ln>
        </p:spPr>
        <p:txBody>
          <a:bodyPr wrap="square">
            <a:spAutoFit/>
          </a:bodyPr>
          <a:lstStyle/>
          <a:p>
            <a:endParaRPr lang="en-US" sz="1800" b="1" dirty="0">
              <a:latin typeface="Consolas" panose="020B0609020204030204" pitchFamily="49" charset="0"/>
              <a:cs typeface="Consolas" panose="020B0609020204030204" pitchFamily="49" charset="0"/>
            </a:endParaRPr>
          </a:p>
        </p:txBody>
      </p:sp>
      <p:cxnSp>
        <p:nvCxnSpPr>
          <p:cNvPr id="70" name="Straight Arrow Connector 40">
            <a:extLst>
              <a:ext uri="{FF2B5EF4-FFF2-40B4-BE49-F238E27FC236}">
                <a16:creationId xmlns:a16="http://schemas.microsoft.com/office/drawing/2014/main" id="{D622CEAD-E274-DA41-B019-7F28BEB266F2}"/>
              </a:ext>
            </a:extLst>
          </p:cNvPr>
          <p:cNvCxnSpPr>
            <a:cxnSpLocks/>
            <a:stCxn id="40" idx="2"/>
            <a:endCxn id="73" idx="0"/>
          </p:cNvCxnSpPr>
          <p:nvPr/>
        </p:nvCxnSpPr>
        <p:spPr>
          <a:xfrm rot="5400000">
            <a:off x="4084706" y="2307391"/>
            <a:ext cx="307469" cy="420832"/>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7EBA56F1-4B0B-554E-B6AA-E74A66C7BA0E}"/>
              </a:ext>
            </a:extLst>
          </p:cNvPr>
          <p:cNvSpPr/>
          <p:nvPr/>
        </p:nvSpPr>
        <p:spPr>
          <a:xfrm>
            <a:off x="3588917" y="2671542"/>
            <a:ext cx="878214" cy="408623"/>
          </a:xfrm>
          <a:prstGeom prst="roundRect">
            <a:avLst/>
          </a:prstGeom>
          <a:solidFill>
            <a:schemeClr val="accent1"/>
          </a:solidFill>
          <a:ln w="19050">
            <a:solidFill>
              <a:schemeClr val="tx1"/>
            </a:solidFill>
          </a:ln>
        </p:spPr>
        <p:txBody>
          <a:bodyPr wrap="square">
            <a:spAutoFit/>
          </a:bodyPr>
          <a:lstStyle/>
          <a:p>
            <a:pPr algn="ctr"/>
            <a:r>
              <a:rPr lang="en-US" sz="1800" b="1" dirty="0">
                <a:solidFill>
                  <a:schemeClr val="bg1"/>
                </a:solidFill>
                <a:latin typeface="Consolas" panose="020B0609020204030204" pitchFamily="49" charset="0"/>
                <a:cs typeface="Consolas" panose="020B0609020204030204" pitchFamily="49" charset="0"/>
              </a:rPr>
              <a:t>not x</a:t>
            </a:r>
          </a:p>
        </p:txBody>
      </p:sp>
      <p:cxnSp>
        <p:nvCxnSpPr>
          <p:cNvPr id="76" name="Straight Arrow Connector 46">
            <a:extLst>
              <a:ext uri="{FF2B5EF4-FFF2-40B4-BE49-F238E27FC236}">
                <a16:creationId xmlns:a16="http://schemas.microsoft.com/office/drawing/2014/main" id="{36C74E6A-C31B-D64F-9ECD-5ABC50CACF0D}"/>
              </a:ext>
            </a:extLst>
          </p:cNvPr>
          <p:cNvCxnSpPr>
            <a:cxnSpLocks/>
            <a:stCxn id="73" idx="2"/>
            <a:endCxn id="46" idx="0"/>
          </p:cNvCxnSpPr>
          <p:nvPr/>
        </p:nvCxnSpPr>
        <p:spPr>
          <a:xfrm flipH="1">
            <a:off x="4018423" y="3080165"/>
            <a:ext cx="9601" cy="158588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41">
            <a:extLst>
              <a:ext uri="{FF2B5EF4-FFF2-40B4-BE49-F238E27FC236}">
                <a16:creationId xmlns:a16="http://schemas.microsoft.com/office/drawing/2014/main" id="{F6DCB9F4-BDA4-7849-8442-3F6BBBD23407}"/>
              </a:ext>
            </a:extLst>
          </p:cNvPr>
          <p:cNvCxnSpPr>
            <a:cxnSpLocks/>
            <a:stCxn id="52" idx="2"/>
            <a:endCxn id="46" idx="0"/>
          </p:cNvCxnSpPr>
          <p:nvPr/>
        </p:nvCxnSpPr>
        <p:spPr>
          <a:xfrm rot="5400000">
            <a:off x="3667600" y="3430728"/>
            <a:ext cx="1586145" cy="884497"/>
          </a:xfrm>
          <a:prstGeom prst="curvedConnector3">
            <a:avLst>
              <a:gd name="adj1" fmla="val 31188"/>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729DC05-65B7-EA40-ACE3-FC91BB34E4CE}"/>
              </a:ext>
            </a:extLst>
          </p:cNvPr>
          <p:cNvSpPr txBox="1"/>
          <p:nvPr/>
        </p:nvSpPr>
        <p:spPr>
          <a:xfrm>
            <a:off x="5623560" y="1601355"/>
            <a:ext cx="3352800" cy="1446550"/>
          </a:xfrm>
          <a:prstGeom prst="rect">
            <a:avLst/>
          </a:prstGeom>
          <a:noFill/>
        </p:spPr>
        <p:txBody>
          <a:bodyPr wrap="square" rtlCol="0">
            <a:spAutoFit/>
          </a:bodyPr>
          <a:lstStyle/>
          <a:p>
            <a:pPr algn="ctr"/>
            <a:r>
              <a:rPr lang="en-US" sz="2200" dirty="0"/>
              <a:t>notice how both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t>s </a:t>
            </a:r>
            <a:r>
              <a:rPr lang="en-US" sz="2200" dirty="0"/>
              <a:t>become arrows to the red BB (which has a return terminator).</a:t>
            </a:r>
            <a:endParaRPr lang="en-US" sz="2200" b="1" dirty="0"/>
          </a:p>
        </p:txBody>
      </p:sp>
      <p:sp>
        <p:nvSpPr>
          <p:cNvPr id="48" name="TextBox 47">
            <a:extLst>
              <a:ext uri="{FF2B5EF4-FFF2-40B4-BE49-F238E27FC236}">
                <a16:creationId xmlns:a16="http://schemas.microsoft.com/office/drawing/2014/main" id="{18F4ABE6-C65A-A54B-BD2B-44E494AF27FA}"/>
              </a:ext>
            </a:extLst>
          </p:cNvPr>
          <p:cNvSpPr txBox="1"/>
          <p:nvPr/>
        </p:nvSpPr>
        <p:spPr>
          <a:xfrm>
            <a:off x="5925463" y="3426173"/>
            <a:ext cx="3171880" cy="1785104"/>
          </a:xfrm>
          <a:prstGeom prst="rect">
            <a:avLst/>
          </a:prstGeom>
          <a:noFill/>
        </p:spPr>
        <p:txBody>
          <a:bodyPr wrap="square" rtlCol="0">
            <a:spAutoFit/>
          </a:bodyPr>
          <a:lstStyle/>
          <a:p>
            <a:pPr algn="ctr"/>
            <a:r>
              <a:rPr lang="en-US" sz="2200" dirty="0"/>
              <a:t>this is going to make certain analyses much easier, since some of them start at the </a:t>
            </a:r>
            <a:r>
              <a:rPr lang="en-US" sz="2200" i="1" dirty="0"/>
              <a:t>end</a:t>
            </a:r>
            <a:r>
              <a:rPr lang="en-US" sz="2200" dirty="0"/>
              <a:t> and go backwards.</a:t>
            </a:r>
            <a:endParaRPr lang="en-US" sz="2200" b="1" dirty="0"/>
          </a:p>
        </p:txBody>
      </p:sp>
    </p:spTree>
    <p:extLst>
      <p:ext uri="{BB962C8B-B14F-4D97-AF65-F5344CB8AC3E}">
        <p14:creationId xmlns:p14="http://schemas.microsoft.com/office/powerpoint/2010/main" val="24614009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0" grpId="0" animBg="1"/>
      <p:bldP spid="43" grpId="0" animBg="1"/>
      <p:bldP spid="44" grpId="0" animBg="1"/>
      <p:bldP spid="46" grpId="0" animBg="1"/>
      <p:bldP spid="52" grpId="0" animBg="1"/>
      <p:bldP spid="73" grpId="0" animBg="1"/>
      <p:bldP spid="38" grpId="0"/>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98077-CE56-2640-9CB0-AAC7F97E1E51}"/>
              </a:ext>
            </a:extLst>
          </p:cNvPr>
          <p:cNvSpPr>
            <a:spLocks noGrp="1"/>
          </p:cNvSpPr>
          <p:nvPr>
            <p:ph type="title"/>
          </p:nvPr>
        </p:nvSpPr>
        <p:spPr/>
        <p:txBody>
          <a:bodyPr/>
          <a:lstStyle/>
          <a:p>
            <a:r>
              <a:rPr lang="en-US" dirty="0"/>
              <a:t>Return values</a:t>
            </a:r>
          </a:p>
        </p:txBody>
      </p:sp>
      <p:sp>
        <p:nvSpPr>
          <p:cNvPr id="3" name="Content Placeholder 2">
            <a:extLst>
              <a:ext uri="{FF2B5EF4-FFF2-40B4-BE49-F238E27FC236}">
                <a16:creationId xmlns:a16="http://schemas.microsoft.com/office/drawing/2014/main" id="{7403E214-7B41-614C-8CD8-EEFC4738452E}"/>
              </a:ext>
            </a:extLst>
          </p:cNvPr>
          <p:cNvSpPr>
            <a:spLocks noGrp="1"/>
          </p:cNvSpPr>
          <p:nvPr>
            <p:ph idx="1"/>
          </p:nvPr>
        </p:nvSpPr>
        <p:spPr>
          <a:xfrm>
            <a:off x="152400" y="495301"/>
            <a:ext cx="8991600" cy="1219199"/>
          </a:xfrm>
        </p:spPr>
        <p:txBody>
          <a:bodyPr/>
          <a:lstStyle/>
          <a:p>
            <a:r>
              <a:rPr lang="en-US" dirty="0"/>
              <a:t>there is a special temporary, </a:t>
            </a:r>
            <a:r>
              <a:rPr lang="en-US" b="1" dirty="0">
                <a:latin typeface="Consolas" panose="020B0609020204030204" pitchFamily="49" charset="0"/>
                <a:cs typeface="Consolas" panose="020B0609020204030204" pitchFamily="49" charset="0"/>
              </a:rPr>
              <a:t>$t0</a:t>
            </a:r>
            <a:r>
              <a:rPr lang="en-US" b="1" dirty="0"/>
              <a:t>, </a:t>
            </a:r>
            <a:r>
              <a:rPr lang="en-US" dirty="0"/>
              <a:t>which is used for the return value.</a:t>
            </a:r>
          </a:p>
          <a:p>
            <a:r>
              <a:rPr lang="en-US" dirty="0"/>
              <a:t>similar to the </a:t>
            </a:r>
            <a:r>
              <a:rPr lang="en-US" b="1" dirty="0">
                <a:latin typeface="Consolas" panose="020B0609020204030204" pitchFamily="49" charset="0"/>
                <a:cs typeface="Consolas" panose="020B0609020204030204" pitchFamily="49" charset="0"/>
              </a:rPr>
              <a:t>$v0</a:t>
            </a:r>
            <a:r>
              <a:rPr lang="en-US" dirty="0"/>
              <a:t> register in MIPS, a value is returned by assigning something into it before you get to the </a:t>
            </a:r>
            <a:r>
              <a:rPr lang="en-US" b="1" dirty="0">
                <a:solidFill>
                  <a:srgbClr val="FF0000"/>
                </a:solidFill>
                <a:latin typeface="Consolas" panose="020B0609020204030204" pitchFamily="49" charset="0"/>
                <a:cs typeface="Consolas" panose="020B0609020204030204" pitchFamily="49" charset="0"/>
              </a:rPr>
              <a:t>return</a:t>
            </a:r>
            <a:r>
              <a:rPr lang="en-US" dirty="0"/>
              <a:t> terminator.</a:t>
            </a:r>
          </a:p>
        </p:txBody>
      </p:sp>
      <p:sp>
        <p:nvSpPr>
          <p:cNvPr id="4" name="Slide Number Placeholder 3">
            <a:extLst>
              <a:ext uri="{FF2B5EF4-FFF2-40B4-BE49-F238E27FC236}">
                <a16:creationId xmlns:a16="http://schemas.microsoft.com/office/drawing/2014/main" id="{D26FF1B8-4D9D-BC48-8C7C-DD69524338E6}"/>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TextBox 4">
            <a:extLst>
              <a:ext uri="{FF2B5EF4-FFF2-40B4-BE49-F238E27FC236}">
                <a16:creationId xmlns:a16="http://schemas.microsoft.com/office/drawing/2014/main" id="{51FD72FF-F12B-2C40-9951-12C1C90A3262}"/>
              </a:ext>
            </a:extLst>
          </p:cNvPr>
          <p:cNvSpPr txBox="1"/>
          <p:nvPr/>
        </p:nvSpPr>
        <p:spPr>
          <a:xfrm>
            <a:off x="381000" y="1640305"/>
            <a:ext cx="2970685" cy="2031325"/>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ret(x: </a:t>
            </a:r>
            <a:r>
              <a:rPr lang="en-US" sz="1800" b="1" dirty="0">
                <a:solidFill>
                  <a:srgbClr val="FF0000"/>
                </a:solidFill>
                <a:latin typeface="Consolas" panose="020B0609020204030204" pitchFamily="49" charset="0"/>
                <a:cs typeface="Consolas" panose="020B0609020204030204" pitchFamily="49" charset="0"/>
              </a:rPr>
              <a:t>bool</a:t>
            </a:r>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int</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if</a:t>
            </a:r>
            <a:r>
              <a:rPr lang="en-US" sz="1800" b="1" dirty="0">
                <a:latin typeface="Consolas" panose="020B0609020204030204" pitchFamily="49" charset="0"/>
                <a:cs typeface="Consolas" panose="020B0609020204030204" pitchFamily="49" charset="0"/>
              </a:rPr>
              <a:t> x {</a:t>
            </a:r>
          </a:p>
          <a:p>
            <a:r>
              <a:rPr lang="en-US" sz="1800" b="1" dirty="0">
                <a:solidFill>
                  <a:srgbClr val="FF0000"/>
                </a:solidFill>
                <a:latin typeface="Consolas" panose="020B0609020204030204" pitchFamily="49" charset="0"/>
                <a:cs typeface="Consolas" panose="020B0609020204030204" pitchFamily="49" charset="0"/>
              </a:rPr>
              <a:t>    return </a:t>
            </a:r>
            <a:r>
              <a:rPr lang="en-US" sz="1800" b="1" dirty="0">
                <a:solidFill>
                  <a:schemeClr val="accent3">
                    <a:lumMod val="75000"/>
                  </a:schemeClr>
                </a:solidFill>
                <a:latin typeface="Consolas" panose="020B0609020204030204" pitchFamily="49" charset="0"/>
                <a:cs typeface="Consolas" panose="020B0609020204030204" pitchFamily="49" charset="0"/>
              </a:rPr>
              <a:t>5</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 </a:t>
            </a:r>
            <a:r>
              <a:rPr lang="en-US" sz="1800" b="1" dirty="0">
                <a:solidFill>
                  <a:srgbClr val="FF0000"/>
                </a:solidFill>
                <a:latin typeface="Consolas" panose="020B0609020204030204" pitchFamily="49" charset="0"/>
                <a:cs typeface="Consolas" panose="020B0609020204030204" pitchFamily="49" charset="0"/>
              </a:rPr>
              <a:t>else</a:t>
            </a:r>
            <a:r>
              <a:rPr lang="en-US" sz="1800" b="1" dirty="0">
                <a:latin typeface="Consolas" panose="020B0609020204030204" pitchFamily="49" charset="0"/>
                <a:cs typeface="Consolas" panose="020B0609020204030204" pitchFamily="49" charset="0"/>
              </a:rPr>
              <a:t> {</a:t>
            </a:r>
          </a:p>
          <a:p>
            <a:r>
              <a:rPr lang="en-US" sz="1800" b="1" dirty="0">
                <a:solidFill>
                  <a:srgbClr val="FF0000"/>
                </a:solidFill>
                <a:latin typeface="Consolas" panose="020B0609020204030204" pitchFamily="49" charset="0"/>
                <a:cs typeface="Consolas" panose="020B0609020204030204" pitchFamily="49" charset="0"/>
              </a:rPr>
              <a:t>    return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647DB002-56B5-6C46-861C-077AC5CC30F5}"/>
              </a:ext>
            </a:extLst>
          </p:cNvPr>
          <p:cNvGraphicFramePr>
            <a:graphicFrameLocks noGrp="1"/>
          </p:cNvGraphicFramePr>
          <p:nvPr>
            <p:extLst>
              <p:ext uri="{D42A27DB-BD31-4B8C-83A1-F6EECF244321}">
                <p14:modId xmlns:p14="http://schemas.microsoft.com/office/powerpoint/2010/main" val="2901621853"/>
              </p:ext>
            </p:extLst>
          </p:nvPr>
        </p:nvGraphicFramePr>
        <p:xfrm>
          <a:off x="518325" y="3878580"/>
          <a:ext cx="2413635" cy="1188720"/>
        </p:xfrm>
        <a:graphic>
          <a:graphicData uri="http://schemas.openxmlformats.org/drawingml/2006/table">
            <a:tbl>
              <a:tblPr firstRow="1" bandRow="1">
                <a:tableStyleId>{00A15C55-8517-42AA-B614-E9B94910E393}</a:tableStyleId>
              </a:tblPr>
              <a:tblGrid>
                <a:gridCol w="630555">
                  <a:extLst>
                    <a:ext uri="{9D8B030D-6E8A-4147-A177-3AD203B41FA5}">
                      <a16:colId xmlns:a16="http://schemas.microsoft.com/office/drawing/2014/main" val="2454857836"/>
                    </a:ext>
                  </a:extLst>
                </a:gridCol>
                <a:gridCol w="960755">
                  <a:extLst>
                    <a:ext uri="{9D8B030D-6E8A-4147-A177-3AD203B41FA5}">
                      <a16:colId xmlns:a16="http://schemas.microsoft.com/office/drawing/2014/main" val="3989194009"/>
                    </a:ext>
                  </a:extLst>
                </a:gridCol>
                <a:gridCol w="822325">
                  <a:extLst>
                    <a:ext uri="{9D8B030D-6E8A-4147-A177-3AD203B41FA5}">
                      <a16:colId xmlns:a16="http://schemas.microsoft.com/office/drawing/2014/main" val="2906240056"/>
                    </a:ext>
                  </a:extLst>
                </a:gridCol>
              </a:tblGrid>
              <a:tr h="370840">
                <a:tc>
                  <a:txBody>
                    <a:bodyPr/>
                    <a:lstStyle/>
                    <a:p>
                      <a:pPr algn="ctr"/>
                      <a:r>
                        <a:rPr lang="en-US" sz="2000" dirty="0" err="1"/>
                        <a:t>Idx</a:t>
                      </a:r>
                      <a:endParaRPr lang="en-US" sz="2000" dirty="0"/>
                    </a:p>
                  </a:txBody>
                  <a:tcPr/>
                </a:tc>
                <a:tc>
                  <a:txBody>
                    <a:bodyPr/>
                    <a:lstStyle/>
                    <a:p>
                      <a:pPr algn="ctr"/>
                      <a:r>
                        <a:rPr lang="en-US" sz="2000" dirty="0"/>
                        <a:t>Name</a:t>
                      </a:r>
                    </a:p>
                  </a:txBody>
                  <a:tcPr/>
                </a:tc>
                <a:tc>
                  <a:txBody>
                    <a:bodyPr/>
                    <a:lstStyle/>
                    <a:p>
                      <a:pPr algn="ctr"/>
                      <a:r>
                        <a:rPr lang="en-US" sz="2000" dirty="0"/>
                        <a:t>Type</a:t>
                      </a:r>
                    </a:p>
                  </a:txBody>
                  <a:tcPr/>
                </a:tc>
                <a:extLst>
                  <a:ext uri="{0D108BD9-81ED-4DB2-BD59-A6C34878D82A}">
                    <a16:rowId xmlns:a16="http://schemas.microsoft.com/office/drawing/2014/main" val="2612782844"/>
                  </a:ext>
                </a:extLst>
              </a:tr>
              <a:tr h="370840">
                <a:tc>
                  <a:txBody>
                    <a:bodyPr/>
                    <a:lstStyle/>
                    <a:p>
                      <a:pPr algn="ctr"/>
                      <a:r>
                        <a:rPr lang="en-US" sz="2000" b="1" dirty="0">
                          <a:latin typeface="Consolas" panose="020B0609020204030204" pitchFamily="49" charset="0"/>
                          <a:cs typeface="Consolas" panose="020B0609020204030204" pitchFamily="49" charset="0"/>
                        </a:rPr>
                        <a:t>0</a:t>
                      </a:r>
                    </a:p>
                  </a:txBody>
                  <a:tcPr/>
                </a:tc>
                <a:tc>
                  <a:txBody>
                    <a:bodyPr/>
                    <a:lstStyle/>
                    <a:p>
                      <a:pPr algn="ct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826624652"/>
                  </a:ext>
                </a:extLst>
              </a:tr>
              <a:tr h="370840">
                <a:tc>
                  <a:txBody>
                    <a:bodyPr/>
                    <a:lstStyle/>
                    <a:p>
                      <a:pPr algn="ctr"/>
                      <a:r>
                        <a:rPr lang="en-US" sz="2000" b="1" dirty="0">
                          <a:latin typeface="Consolas" panose="020B0609020204030204" pitchFamily="49" charset="0"/>
                          <a:cs typeface="Consolas" panose="020B0609020204030204" pitchFamily="49" charset="0"/>
                        </a:rPr>
                        <a:t>1</a:t>
                      </a:r>
                    </a:p>
                  </a:txBody>
                  <a:tcPr/>
                </a:tc>
                <a:tc>
                  <a:txBody>
                    <a:bodyPr/>
                    <a:lstStyle/>
                    <a:p>
                      <a:pPr algn="ctr"/>
                      <a:r>
                        <a:rPr lang="en-US" sz="2000" b="1" dirty="0">
                          <a:latin typeface="Consolas" panose="020B0609020204030204" pitchFamily="49" charset="0"/>
                          <a:cs typeface="Consolas" panose="020B0609020204030204" pitchFamily="49" charset="0"/>
                        </a:rPr>
                        <a:t>x</a:t>
                      </a: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bool</a:t>
                      </a:r>
                    </a:p>
                  </a:txBody>
                  <a:tcPr/>
                </a:tc>
                <a:extLst>
                  <a:ext uri="{0D108BD9-81ED-4DB2-BD59-A6C34878D82A}">
                    <a16:rowId xmlns:a16="http://schemas.microsoft.com/office/drawing/2014/main" val="4121413789"/>
                  </a:ext>
                </a:extLst>
              </a:tr>
            </a:tbl>
          </a:graphicData>
        </a:graphic>
      </p:graphicFrame>
      <p:sp>
        <p:nvSpPr>
          <p:cNvPr id="7" name="TextBox 6">
            <a:extLst>
              <a:ext uri="{FF2B5EF4-FFF2-40B4-BE49-F238E27FC236}">
                <a16:creationId xmlns:a16="http://schemas.microsoft.com/office/drawing/2014/main" id="{57998480-DF1C-D14C-86AB-600A27E403F9}"/>
              </a:ext>
            </a:extLst>
          </p:cNvPr>
          <p:cNvSpPr txBox="1"/>
          <p:nvPr/>
        </p:nvSpPr>
        <p:spPr>
          <a:xfrm>
            <a:off x="1228853" y="3384649"/>
            <a:ext cx="992579" cy="430887"/>
          </a:xfrm>
          <a:prstGeom prst="rect">
            <a:avLst/>
          </a:prstGeom>
          <a:noFill/>
        </p:spPr>
        <p:txBody>
          <a:bodyPr wrap="none" rtlCol="0">
            <a:spAutoFit/>
          </a:bodyPr>
          <a:lstStyle/>
          <a:p>
            <a:pPr algn="ctr"/>
            <a:r>
              <a:rPr lang="en-US" sz="2200" b="1" u="sng" dirty="0"/>
              <a:t>Locals</a:t>
            </a:r>
          </a:p>
        </p:txBody>
      </p:sp>
      <p:sp>
        <p:nvSpPr>
          <p:cNvPr id="8" name="Rectangle 7">
            <a:extLst>
              <a:ext uri="{FF2B5EF4-FFF2-40B4-BE49-F238E27FC236}">
                <a16:creationId xmlns:a16="http://schemas.microsoft.com/office/drawing/2014/main" id="{AD3DC5EE-4358-1E47-9AF2-FBACAE329A6D}"/>
              </a:ext>
            </a:extLst>
          </p:cNvPr>
          <p:cNvSpPr/>
          <p:nvPr/>
        </p:nvSpPr>
        <p:spPr>
          <a:xfrm>
            <a:off x="5544385" y="3587355"/>
            <a:ext cx="1104343" cy="400110"/>
          </a:xfrm>
          <a:prstGeom prst="rect">
            <a:avLst/>
          </a:prstGeom>
          <a:solidFill>
            <a:schemeClr val="accent2">
              <a:lumMod val="20000"/>
              <a:lumOff val="80000"/>
            </a:schemeClr>
          </a:solidFill>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return</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5196D475-3043-0E42-8750-01CEA329CEFA}"/>
              </a:ext>
            </a:extLst>
          </p:cNvPr>
          <p:cNvSpPr/>
          <p:nvPr/>
        </p:nvSpPr>
        <p:spPr>
          <a:xfrm>
            <a:off x="4114800" y="2658709"/>
            <a:ext cx="1302127" cy="707886"/>
          </a:xfrm>
          <a:prstGeom prst="rect">
            <a:avLst/>
          </a:prstGeom>
          <a:solidFill>
            <a:schemeClr val="accent1">
              <a:lumMod val="20000"/>
              <a:lumOff val="80000"/>
            </a:schemeClr>
          </a:solidFill>
        </p:spPr>
        <p:txBody>
          <a:bodyPr wrap="square">
            <a:spAutoFit/>
          </a:bodyPr>
          <a:lstStyle/>
          <a:p>
            <a:r>
              <a:rPr lang="en-US" sz="2000" b="1" dirty="0">
                <a:latin typeface="Consolas" panose="020B0609020204030204" pitchFamily="49" charset="0"/>
                <a:cs typeface="Consolas" panose="020B0609020204030204" pitchFamily="49" charset="0"/>
              </a:rPr>
              <a:t>$t0 =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solidFill>
                  <a:schemeClr val="accent3">
                    <a:lumMod val="75000"/>
                  </a:schemeClr>
                </a:solidFill>
                <a:latin typeface="Consolas" panose="020B0609020204030204" pitchFamily="49" charset="0"/>
                <a:cs typeface="Consolas" panose="020B0609020204030204" pitchFamily="49" charset="0"/>
              </a:rPr>
              <a:t> bb3</a:t>
            </a:r>
          </a:p>
        </p:txBody>
      </p:sp>
      <p:sp>
        <p:nvSpPr>
          <p:cNvPr id="11" name="Rectangle 10">
            <a:extLst>
              <a:ext uri="{FF2B5EF4-FFF2-40B4-BE49-F238E27FC236}">
                <a16:creationId xmlns:a16="http://schemas.microsoft.com/office/drawing/2014/main" id="{A40B7E7E-4595-6A45-8308-F0A5A9ED80CD}"/>
              </a:ext>
            </a:extLst>
          </p:cNvPr>
          <p:cNvSpPr/>
          <p:nvPr/>
        </p:nvSpPr>
        <p:spPr>
          <a:xfrm>
            <a:off x="4781913" y="1714500"/>
            <a:ext cx="2661388" cy="400110"/>
          </a:xfrm>
          <a:prstGeom prst="rect">
            <a:avLst/>
          </a:prstGeom>
          <a:solidFill>
            <a:schemeClr val="accent6">
              <a:lumMod val="40000"/>
              <a:lumOff val="60000"/>
            </a:schemeClr>
          </a:solidFill>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 </a:t>
            </a:r>
            <a:r>
              <a:rPr lang="en-US" sz="2000" b="1" dirty="0">
                <a:solidFill>
                  <a:schemeClr val="accent3">
                    <a:lumMod val="75000"/>
                  </a:schemeClr>
                </a:solidFill>
                <a:latin typeface="Consolas" panose="020B0609020204030204" pitchFamily="49" charset="0"/>
                <a:cs typeface="Consolas" panose="020B0609020204030204" pitchFamily="49" charset="0"/>
              </a:rPr>
              <a:t>bb1</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bb2</a:t>
            </a:r>
          </a:p>
        </p:txBody>
      </p:sp>
      <p:sp>
        <p:nvSpPr>
          <p:cNvPr id="12" name="Rectangle 11">
            <a:extLst>
              <a:ext uri="{FF2B5EF4-FFF2-40B4-BE49-F238E27FC236}">
                <a16:creationId xmlns:a16="http://schemas.microsoft.com/office/drawing/2014/main" id="{72451CF3-64CA-AE48-AAAB-4F4B6D823EAC}"/>
              </a:ext>
            </a:extLst>
          </p:cNvPr>
          <p:cNvSpPr/>
          <p:nvPr/>
        </p:nvSpPr>
        <p:spPr>
          <a:xfrm>
            <a:off x="6776188" y="2674565"/>
            <a:ext cx="1302127" cy="707886"/>
          </a:xfrm>
          <a:prstGeom prst="rect">
            <a:avLst/>
          </a:prstGeom>
          <a:solidFill>
            <a:schemeClr val="accent1">
              <a:lumMod val="20000"/>
              <a:lumOff val="80000"/>
            </a:schemeClr>
          </a:solidFill>
        </p:spPr>
        <p:txBody>
          <a:bodyPr wrap="square">
            <a:spAutoFit/>
          </a:bodyPr>
          <a:lstStyle/>
          <a:p>
            <a:r>
              <a:rPr lang="en-US" sz="2000" b="1" dirty="0">
                <a:latin typeface="Consolas" panose="020B0609020204030204" pitchFamily="49" charset="0"/>
                <a:cs typeface="Consolas" panose="020B0609020204030204" pitchFamily="49" charset="0"/>
              </a:rPr>
              <a:t>$t0 =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solidFill>
                  <a:schemeClr val="accent3">
                    <a:lumMod val="75000"/>
                  </a:schemeClr>
                </a:solidFill>
                <a:latin typeface="Consolas" panose="020B0609020204030204" pitchFamily="49" charset="0"/>
                <a:cs typeface="Consolas" panose="020B0609020204030204" pitchFamily="49" charset="0"/>
              </a:rPr>
              <a:t> bb3</a:t>
            </a:r>
          </a:p>
        </p:txBody>
      </p:sp>
      <p:cxnSp>
        <p:nvCxnSpPr>
          <p:cNvPr id="13" name="Straight Arrow Connector 41">
            <a:extLst>
              <a:ext uri="{FF2B5EF4-FFF2-40B4-BE49-F238E27FC236}">
                <a16:creationId xmlns:a16="http://schemas.microsoft.com/office/drawing/2014/main" id="{36FF96A5-4346-0D49-85C7-21533A6881F0}"/>
              </a:ext>
            </a:extLst>
          </p:cNvPr>
          <p:cNvCxnSpPr>
            <a:cxnSpLocks/>
            <a:stCxn id="11" idx="2"/>
            <a:endCxn id="10" idx="0"/>
          </p:cNvCxnSpPr>
          <p:nvPr/>
        </p:nvCxnSpPr>
        <p:spPr>
          <a:xfrm rot="5400000">
            <a:off x="5167187" y="1713288"/>
            <a:ext cx="544099" cy="1346743"/>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44">
            <a:extLst>
              <a:ext uri="{FF2B5EF4-FFF2-40B4-BE49-F238E27FC236}">
                <a16:creationId xmlns:a16="http://schemas.microsoft.com/office/drawing/2014/main" id="{8E15B8AB-66EC-114A-AD29-B38FD0FEFC31}"/>
              </a:ext>
            </a:extLst>
          </p:cNvPr>
          <p:cNvCxnSpPr>
            <a:cxnSpLocks/>
            <a:stCxn id="12" idx="2"/>
            <a:endCxn id="8" idx="3"/>
          </p:cNvCxnSpPr>
          <p:nvPr/>
        </p:nvCxnSpPr>
        <p:spPr>
          <a:xfrm rot="5400000">
            <a:off x="6835511" y="3195668"/>
            <a:ext cx="404959" cy="778524"/>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46">
            <a:extLst>
              <a:ext uri="{FF2B5EF4-FFF2-40B4-BE49-F238E27FC236}">
                <a16:creationId xmlns:a16="http://schemas.microsoft.com/office/drawing/2014/main" id="{1B105AE1-A625-654C-9CE2-1B081D8C4236}"/>
              </a:ext>
            </a:extLst>
          </p:cNvPr>
          <p:cNvCxnSpPr>
            <a:cxnSpLocks/>
            <a:stCxn id="10" idx="2"/>
            <a:endCxn id="8" idx="1"/>
          </p:cNvCxnSpPr>
          <p:nvPr/>
        </p:nvCxnSpPr>
        <p:spPr>
          <a:xfrm rot="16200000" flipH="1">
            <a:off x="4944717" y="3187741"/>
            <a:ext cx="420815" cy="778521"/>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40">
            <a:extLst>
              <a:ext uri="{FF2B5EF4-FFF2-40B4-BE49-F238E27FC236}">
                <a16:creationId xmlns:a16="http://schemas.microsoft.com/office/drawing/2014/main" id="{10DB64F0-AF62-894A-AEC8-35A9E0C65DE3}"/>
              </a:ext>
            </a:extLst>
          </p:cNvPr>
          <p:cNvCxnSpPr>
            <a:cxnSpLocks/>
            <a:stCxn id="11" idx="2"/>
            <a:endCxn id="12" idx="0"/>
          </p:cNvCxnSpPr>
          <p:nvPr/>
        </p:nvCxnSpPr>
        <p:spPr>
          <a:xfrm rot="16200000" flipH="1">
            <a:off x="6489952" y="1737264"/>
            <a:ext cx="559955" cy="131464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405A47F-BF58-5840-A0C8-35CEC850852A}"/>
              </a:ext>
            </a:extLst>
          </p:cNvPr>
          <p:cNvSpPr txBox="1"/>
          <p:nvPr/>
        </p:nvSpPr>
        <p:spPr>
          <a:xfrm>
            <a:off x="4114800" y="1714500"/>
            <a:ext cx="748923"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bb0:</a:t>
            </a:r>
          </a:p>
        </p:txBody>
      </p:sp>
      <p:sp>
        <p:nvSpPr>
          <p:cNvPr id="34" name="TextBox 33">
            <a:extLst>
              <a:ext uri="{FF2B5EF4-FFF2-40B4-BE49-F238E27FC236}">
                <a16:creationId xmlns:a16="http://schemas.microsoft.com/office/drawing/2014/main" id="{A8D5CEC1-6CEF-D44A-BB0D-DA4761F08F54}"/>
              </a:ext>
            </a:extLst>
          </p:cNvPr>
          <p:cNvSpPr txBox="1"/>
          <p:nvPr/>
        </p:nvSpPr>
        <p:spPr>
          <a:xfrm>
            <a:off x="3441376" y="2590504"/>
            <a:ext cx="748923"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bb1:</a:t>
            </a:r>
          </a:p>
        </p:txBody>
      </p:sp>
      <p:sp>
        <p:nvSpPr>
          <p:cNvPr id="35" name="TextBox 34">
            <a:extLst>
              <a:ext uri="{FF2B5EF4-FFF2-40B4-BE49-F238E27FC236}">
                <a16:creationId xmlns:a16="http://schemas.microsoft.com/office/drawing/2014/main" id="{34A7CF66-8D74-224A-86BE-8658FEFADAB7}"/>
              </a:ext>
            </a:extLst>
          </p:cNvPr>
          <p:cNvSpPr txBox="1"/>
          <p:nvPr/>
        </p:nvSpPr>
        <p:spPr>
          <a:xfrm>
            <a:off x="6109077" y="2678867"/>
            <a:ext cx="748923"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bb2:</a:t>
            </a:r>
          </a:p>
        </p:txBody>
      </p:sp>
      <p:sp>
        <p:nvSpPr>
          <p:cNvPr id="36" name="TextBox 35">
            <a:extLst>
              <a:ext uri="{FF2B5EF4-FFF2-40B4-BE49-F238E27FC236}">
                <a16:creationId xmlns:a16="http://schemas.microsoft.com/office/drawing/2014/main" id="{89A68561-C3AA-014F-9544-89B517CAB573}"/>
              </a:ext>
            </a:extLst>
          </p:cNvPr>
          <p:cNvSpPr txBox="1"/>
          <p:nvPr/>
        </p:nvSpPr>
        <p:spPr>
          <a:xfrm>
            <a:off x="5550688" y="3221446"/>
            <a:ext cx="748923"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bb3:</a:t>
            </a:r>
          </a:p>
        </p:txBody>
      </p:sp>
      <p:sp>
        <p:nvSpPr>
          <p:cNvPr id="37" name="TextBox 36">
            <a:extLst>
              <a:ext uri="{FF2B5EF4-FFF2-40B4-BE49-F238E27FC236}">
                <a16:creationId xmlns:a16="http://schemas.microsoft.com/office/drawing/2014/main" id="{21650036-A38A-C74E-A507-88D1EEFA06E4}"/>
              </a:ext>
            </a:extLst>
          </p:cNvPr>
          <p:cNvSpPr txBox="1"/>
          <p:nvPr/>
        </p:nvSpPr>
        <p:spPr>
          <a:xfrm>
            <a:off x="3236248" y="4077472"/>
            <a:ext cx="5745658" cy="1446550"/>
          </a:xfrm>
          <a:prstGeom prst="rect">
            <a:avLst/>
          </a:prstGeom>
          <a:noFill/>
        </p:spPr>
        <p:txBody>
          <a:bodyPr wrap="square" rtlCol="0">
            <a:spAutoFit/>
          </a:bodyPr>
          <a:lstStyle/>
          <a:p>
            <a:pPr algn="ctr"/>
            <a:r>
              <a:rPr lang="en-US" sz="2200" dirty="0"/>
              <a:t>the special parsing rule about </a:t>
            </a:r>
            <a:r>
              <a:rPr lang="en-US" sz="2200" b="1" dirty="0"/>
              <a:t>returning statements</a:t>
            </a:r>
            <a:r>
              <a:rPr lang="en-US" sz="2200" dirty="0"/>
              <a:t> (remember that?) along with the typechecking pass will ensure that this location is always assigned a value.</a:t>
            </a:r>
            <a:endParaRPr lang="en-US" sz="2200" b="1" dirty="0"/>
          </a:p>
        </p:txBody>
      </p:sp>
    </p:spTree>
    <p:extLst>
      <p:ext uri="{BB962C8B-B14F-4D97-AF65-F5344CB8AC3E}">
        <p14:creationId xmlns:p14="http://schemas.microsoft.com/office/powerpoint/2010/main" val="15915028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10" grpId="0" animBg="1"/>
      <p:bldP spid="11" grpId="0" animBg="1"/>
      <p:bldP spid="12" grpId="0" animBg="1"/>
      <p:bldP spid="33" grpId="0"/>
      <p:bldP spid="34" grpId="0"/>
      <p:bldP spid="35" grpId="0"/>
      <p:bldP spid="36" grpId="0"/>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DD5BC-83BA-8B4D-A6BE-D1976249C6F8}"/>
              </a:ext>
            </a:extLst>
          </p:cNvPr>
          <p:cNvSpPr>
            <a:spLocks noGrp="1"/>
          </p:cNvSpPr>
          <p:nvPr>
            <p:ph type="ctrTitle"/>
          </p:nvPr>
        </p:nvSpPr>
        <p:spPr/>
        <p:txBody>
          <a:bodyPr/>
          <a:lstStyle/>
          <a:p>
            <a:r>
              <a:rPr lang="en-US" dirty="0" err="1"/>
              <a:t>Codegen</a:t>
            </a:r>
            <a:r>
              <a:rPr lang="en-US" dirty="0"/>
              <a:t>, but different</a:t>
            </a:r>
          </a:p>
        </p:txBody>
      </p:sp>
      <p:sp>
        <p:nvSpPr>
          <p:cNvPr id="3" name="Slide Number Placeholder 2">
            <a:extLst>
              <a:ext uri="{FF2B5EF4-FFF2-40B4-BE49-F238E27FC236}">
                <a16:creationId xmlns:a16="http://schemas.microsoft.com/office/drawing/2014/main" id="{FE2789F7-7C1D-6D4A-B253-B3645E3C13A4}"/>
              </a:ext>
            </a:extLst>
          </p:cNvPr>
          <p:cNvSpPr>
            <a:spLocks noGrp="1"/>
          </p:cNvSpPr>
          <p:nvPr>
            <p:ph type="sldNum" sz="quarter" idx="12"/>
          </p:nvPr>
        </p:nvSpPr>
        <p:spPr/>
        <p:txBody>
          <a:bodyPr/>
          <a:lstStyle/>
          <a:p>
            <a:fld id="{3552B95B-556F-44BD-91A5-D80C1B9E2BB3}" type="slidenum">
              <a:rPr lang="en-US" smtClean="0"/>
              <a:pPr/>
              <a:t>25</a:t>
            </a:fld>
            <a:endParaRPr lang="en-US"/>
          </a:p>
        </p:txBody>
      </p:sp>
    </p:spTree>
    <p:extLst>
      <p:ext uri="{BB962C8B-B14F-4D97-AF65-F5344CB8AC3E}">
        <p14:creationId xmlns:p14="http://schemas.microsoft.com/office/powerpoint/2010/main" val="391808743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E4CB-0B7B-F243-9E42-007F0E674355}"/>
              </a:ext>
            </a:extLst>
          </p:cNvPr>
          <p:cNvSpPr>
            <a:spLocks noGrp="1"/>
          </p:cNvSpPr>
          <p:nvPr>
            <p:ph type="title"/>
          </p:nvPr>
        </p:nvSpPr>
        <p:spPr/>
        <p:txBody>
          <a:bodyPr/>
          <a:lstStyle/>
          <a:p>
            <a:r>
              <a:rPr lang="en-US" dirty="0"/>
              <a:t>Lowering</a:t>
            </a:r>
          </a:p>
        </p:txBody>
      </p:sp>
      <p:sp>
        <p:nvSpPr>
          <p:cNvPr id="3" name="Content Placeholder 2">
            <a:extLst>
              <a:ext uri="{FF2B5EF4-FFF2-40B4-BE49-F238E27FC236}">
                <a16:creationId xmlns:a16="http://schemas.microsoft.com/office/drawing/2014/main" id="{BE8E6812-A634-5946-AC2B-71CA3820792E}"/>
              </a:ext>
            </a:extLst>
          </p:cNvPr>
          <p:cNvSpPr>
            <a:spLocks noGrp="1"/>
          </p:cNvSpPr>
          <p:nvPr>
            <p:ph idx="1"/>
          </p:nvPr>
        </p:nvSpPr>
        <p:spPr/>
        <p:txBody>
          <a:bodyPr/>
          <a:lstStyle/>
          <a:p>
            <a:r>
              <a:rPr lang="en-US" b="1" dirty="0"/>
              <a:t>lowering </a:t>
            </a:r>
            <a:r>
              <a:rPr lang="en-US" dirty="0"/>
              <a:t>is the process of converting the high-level, </a:t>
            </a:r>
            <a:r>
              <a:rPr lang="en-US" i="1" dirty="0"/>
              <a:t>abstract</a:t>
            </a:r>
            <a:r>
              <a:rPr lang="en-US" dirty="0"/>
              <a:t> syntax tree into the mid-level IR that we just looked at.</a:t>
            </a:r>
          </a:p>
          <a:p>
            <a:r>
              <a:rPr lang="en-US" dirty="0"/>
              <a:t>it's a kind of code generation, so there are some similarities with what we talked about before. but in many ways it's a lot simpler:</a:t>
            </a:r>
          </a:p>
          <a:p>
            <a:pPr lvl="1"/>
            <a:r>
              <a:rPr lang="en-US" dirty="0"/>
              <a:t>there are </a:t>
            </a:r>
            <a:r>
              <a:rPr lang="en-US" b="1" dirty="0"/>
              <a:t>infinite </a:t>
            </a:r>
            <a:r>
              <a:rPr lang="en-US" dirty="0"/>
              <a:t>temporary locations, so there's no need for complex register allocation algorithms.</a:t>
            </a:r>
          </a:p>
          <a:p>
            <a:pPr lvl="1"/>
            <a:r>
              <a:rPr lang="en-US" dirty="0"/>
              <a:t>it also means there's no need for </a:t>
            </a:r>
            <a:r>
              <a:rPr lang="en-US" b="1" dirty="0"/>
              <a:t>stack frames, loads, stores etc.</a:t>
            </a:r>
          </a:p>
          <a:p>
            <a:pPr lvl="1"/>
            <a:r>
              <a:rPr lang="en-US" dirty="0"/>
              <a:t>all locations are </a:t>
            </a:r>
            <a:r>
              <a:rPr lang="en-US" b="1" dirty="0"/>
              <a:t>typed, </a:t>
            </a:r>
            <a:r>
              <a:rPr lang="en-US" dirty="0"/>
              <a:t>so some implementation details are left out (e.g. </a:t>
            </a:r>
            <a:r>
              <a:rPr lang="en-US" b="1" dirty="0">
                <a:latin typeface="Consolas" panose="020B0609020204030204" pitchFamily="49" charset="0"/>
                <a:cs typeface="Consolas" panose="020B0609020204030204" pitchFamily="49" charset="0"/>
              </a:rPr>
              <a:t>a + b</a:t>
            </a:r>
            <a:r>
              <a:rPr lang="en-US" dirty="0"/>
              <a:t> can mean addition or string concatenation, like in the source language)</a:t>
            </a:r>
          </a:p>
          <a:p>
            <a:r>
              <a:rPr lang="en-US" dirty="0"/>
              <a:t>so all we have to do is:</a:t>
            </a:r>
          </a:p>
          <a:p>
            <a:pPr lvl="1"/>
            <a:r>
              <a:rPr lang="en-US" dirty="0"/>
              <a:t>convert complex operations into sequences of simpler ones</a:t>
            </a:r>
          </a:p>
          <a:p>
            <a:pPr lvl="1"/>
            <a:r>
              <a:rPr lang="en-US" dirty="0"/>
              <a:t>build the CFG according to the control flow statements</a:t>
            </a:r>
          </a:p>
        </p:txBody>
      </p:sp>
      <p:sp>
        <p:nvSpPr>
          <p:cNvPr id="4" name="Slide Number Placeholder 3">
            <a:extLst>
              <a:ext uri="{FF2B5EF4-FFF2-40B4-BE49-F238E27FC236}">
                <a16:creationId xmlns:a16="http://schemas.microsoft.com/office/drawing/2014/main" id="{4838689D-EF15-C240-9921-005D04AEFE9F}"/>
              </a:ext>
            </a:extLst>
          </p:cNvPr>
          <p:cNvSpPr>
            <a:spLocks noGrp="1"/>
          </p:cNvSpPr>
          <p:nvPr>
            <p:ph type="sldNum" sz="quarter" idx="12"/>
          </p:nvPr>
        </p:nvSpPr>
        <p:spPr/>
        <p:txBody>
          <a:bodyPr/>
          <a:lstStyle/>
          <a:p>
            <a:fld id="{3552B95B-556F-44BD-91A5-D80C1B9E2BB3}" type="slidenum">
              <a:rPr lang="en-US" smtClean="0"/>
              <a:pPr/>
              <a:t>26</a:t>
            </a:fld>
            <a:endParaRPr lang="en-US"/>
          </a:p>
        </p:txBody>
      </p:sp>
    </p:spTree>
    <p:extLst>
      <p:ext uri="{BB962C8B-B14F-4D97-AF65-F5344CB8AC3E}">
        <p14:creationId xmlns:p14="http://schemas.microsoft.com/office/powerpoint/2010/main" val="178226458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CF40FD4-1931-E84B-AD50-554B8F76BB10}"/>
              </a:ext>
            </a:extLst>
          </p:cNvPr>
          <p:cNvSpPr/>
          <p:nvPr/>
        </p:nvSpPr>
        <p:spPr>
          <a:xfrm>
            <a:off x="4957140" y="1896656"/>
            <a:ext cx="3041652" cy="1631216"/>
          </a:xfrm>
          <a:prstGeom prst="rect">
            <a:avLst/>
          </a:prstGeom>
          <a:solidFill>
            <a:schemeClr val="accent1">
              <a:lumMod val="20000"/>
              <a:lumOff val="80000"/>
            </a:schemeClr>
          </a:solidFill>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2" name="Title 1">
            <a:extLst>
              <a:ext uri="{FF2B5EF4-FFF2-40B4-BE49-F238E27FC236}">
                <a16:creationId xmlns:a16="http://schemas.microsoft.com/office/drawing/2014/main" id="{2D8DEEB1-B434-2D40-8DDC-D97F4B9A8C6A}"/>
              </a:ext>
            </a:extLst>
          </p:cNvPr>
          <p:cNvSpPr>
            <a:spLocks noGrp="1"/>
          </p:cNvSpPr>
          <p:nvPr>
            <p:ph type="title"/>
          </p:nvPr>
        </p:nvSpPr>
        <p:spPr/>
        <p:txBody>
          <a:bodyPr/>
          <a:lstStyle/>
          <a:p>
            <a:r>
              <a:rPr lang="en-US" dirty="0"/>
              <a:t>Building the CFG: straight-line code </a:t>
            </a:r>
            <a:r>
              <a:rPr lang="en-US" sz="2000" dirty="0"/>
              <a:t>(animated)</a:t>
            </a:r>
            <a:endParaRPr lang="en-US" dirty="0"/>
          </a:p>
        </p:txBody>
      </p:sp>
      <p:sp>
        <p:nvSpPr>
          <p:cNvPr id="3" name="Content Placeholder 2">
            <a:extLst>
              <a:ext uri="{FF2B5EF4-FFF2-40B4-BE49-F238E27FC236}">
                <a16:creationId xmlns:a16="http://schemas.microsoft.com/office/drawing/2014/main" id="{DD2E15DF-357A-F642-8423-541FFEA7AB89}"/>
              </a:ext>
            </a:extLst>
          </p:cNvPr>
          <p:cNvSpPr>
            <a:spLocks noGrp="1"/>
          </p:cNvSpPr>
          <p:nvPr>
            <p:ph idx="1"/>
          </p:nvPr>
        </p:nvSpPr>
        <p:spPr>
          <a:xfrm>
            <a:off x="152400" y="495301"/>
            <a:ext cx="8991600" cy="495301"/>
          </a:xfrm>
        </p:spPr>
        <p:txBody>
          <a:bodyPr/>
          <a:lstStyle/>
          <a:p>
            <a:r>
              <a:rPr lang="en-US" dirty="0"/>
              <a:t>if a function has no control flow, it's super simple.</a:t>
            </a:r>
          </a:p>
        </p:txBody>
      </p:sp>
      <p:sp>
        <p:nvSpPr>
          <p:cNvPr id="4" name="Slide Number Placeholder 3">
            <a:extLst>
              <a:ext uri="{FF2B5EF4-FFF2-40B4-BE49-F238E27FC236}">
                <a16:creationId xmlns:a16="http://schemas.microsoft.com/office/drawing/2014/main" id="{CC3740F0-FDDA-F948-A865-5E9795752B97}"/>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6" name="Rectangle 5">
            <a:extLst>
              <a:ext uri="{FF2B5EF4-FFF2-40B4-BE49-F238E27FC236}">
                <a16:creationId xmlns:a16="http://schemas.microsoft.com/office/drawing/2014/main" id="{E14BCB11-A93D-F94D-BF82-703B92D78D3E}"/>
              </a:ext>
            </a:extLst>
          </p:cNvPr>
          <p:cNvSpPr/>
          <p:nvPr/>
        </p:nvSpPr>
        <p:spPr>
          <a:xfrm>
            <a:off x="304799" y="1028700"/>
            <a:ext cx="4682623" cy="1631216"/>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do_gravity</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vy</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p>
          <a:p>
            <a:r>
              <a:rPr lang="en-US" sz="2000" b="1" dirty="0">
                <a:solidFill>
                  <a:srgbClr val="FF0000"/>
                </a:solidFill>
                <a:latin typeface="Consolas" panose="020B0609020204030204" pitchFamily="49" charset="0"/>
                <a:cs typeface="Consolas" panose="020B0609020204030204" pitchFamily="49" charset="0"/>
              </a:rPr>
              <a:t>  let</a:t>
            </a:r>
            <a:r>
              <a:rPr lang="en-US" sz="2000" b="1" dirty="0">
                <a:latin typeface="Consolas" panose="020B0609020204030204" pitchFamily="49" charset="0"/>
                <a:cs typeface="Consolas" panose="020B0609020204030204" pitchFamily="49" charset="0"/>
              </a:rPr>
              <a:t> ret = min(</a:t>
            </a:r>
            <a:r>
              <a:rPr lang="en-US" sz="2000" b="1" dirty="0" err="1">
                <a:latin typeface="Consolas" panose="020B0609020204030204" pitchFamily="49" charset="0"/>
                <a:cs typeface="Consolas" panose="020B0609020204030204" pitchFamily="49" charset="0"/>
              </a:rPr>
              <a:t>vy</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98</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800</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(ret);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ret;</a:t>
            </a:r>
          </a:p>
          <a:p>
            <a:r>
              <a:rPr lang="en-US" sz="2000" b="1"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A0BD175B-713C-204A-B6BF-9E54F37260F1}"/>
              </a:ext>
            </a:extLst>
          </p:cNvPr>
          <p:cNvSpPr/>
          <p:nvPr/>
        </p:nvSpPr>
        <p:spPr>
          <a:xfrm>
            <a:off x="4953000" y="1917348"/>
            <a:ext cx="3048000" cy="1631216"/>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$t2 = </a:t>
            </a:r>
            <a:r>
              <a:rPr lang="en-US" sz="2000" b="1" dirty="0" err="1">
                <a:latin typeface="Consolas" panose="020B0609020204030204" pitchFamily="49" charset="0"/>
                <a:cs typeface="Consolas" panose="020B0609020204030204" pitchFamily="49" charset="0"/>
              </a:rPr>
              <a:t>vy</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98</a:t>
            </a:r>
          </a:p>
          <a:p>
            <a:r>
              <a:rPr lang="en-US" sz="2000" b="1" dirty="0">
                <a:latin typeface="Consolas" panose="020B0609020204030204" pitchFamily="49" charset="0"/>
                <a:cs typeface="Consolas" panose="020B0609020204030204" pitchFamily="49" charset="0"/>
              </a:rPr>
              <a:t>ret = min($t2, </a:t>
            </a:r>
            <a:r>
              <a:rPr lang="en-US" sz="2000" b="1" dirty="0">
                <a:solidFill>
                  <a:schemeClr val="accent3">
                    <a:lumMod val="75000"/>
                  </a:schemeClr>
                </a:solidFill>
                <a:latin typeface="Consolas" panose="020B0609020204030204" pitchFamily="49" charset="0"/>
                <a:cs typeface="Consolas" panose="020B0609020204030204" pitchFamily="49" charset="0"/>
              </a:rPr>
              <a:t>800</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(ret)</a:t>
            </a:r>
          </a:p>
          <a:p>
            <a:r>
              <a:rPr lang="en-US" sz="2000" b="1" dirty="0">
                <a:latin typeface="Consolas" panose="020B0609020204030204" pitchFamily="49" charset="0"/>
                <a:cs typeface="Consolas" panose="020B0609020204030204" pitchFamily="49" charset="0"/>
              </a:rPr>
              <a:t>$t0 = ret</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solidFill>
                  <a:srgbClr val="FF0000"/>
                </a:solidFill>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bb1</a:t>
            </a:r>
          </a:p>
        </p:txBody>
      </p:sp>
      <p:sp>
        <p:nvSpPr>
          <p:cNvPr id="12" name="TextBox 11">
            <a:extLst>
              <a:ext uri="{FF2B5EF4-FFF2-40B4-BE49-F238E27FC236}">
                <a16:creationId xmlns:a16="http://schemas.microsoft.com/office/drawing/2014/main" id="{F78AB377-2915-E64F-A8EB-D52FA22AE3F2}"/>
              </a:ext>
            </a:extLst>
          </p:cNvPr>
          <p:cNvSpPr txBox="1"/>
          <p:nvPr/>
        </p:nvSpPr>
        <p:spPr>
          <a:xfrm>
            <a:off x="4694116" y="1047278"/>
            <a:ext cx="4173158" cy="769441"/>
          </a:xfrm>
          <a:prstGeom prst="rect">
            <a:avLst/>
          </a:prstGeom>
          <a:noFill/>
        </p:spPr>
        <p:txBody>
          <a:bodyPr wrap="square" rtlCol="0">
            <a:spAutoFit/>
          </a:bodyPr>
          <a:lstStyle/>
          <a:p>
            <a:pPr algn="ctr"/>
            <a:r>
              <a:rPr lang="en-US" sz="2200" dirty="0"/>
              <a:t>you start with an empty BB, and generate IR instructions into it.</a:t>
            </a:r>
          </a:p>
        </p:txBody>
      </p:sp>
      <p:sp>
        <p:nvSpPr>
          <p:cNvPr id="13" name="TextBox 12">
            <a:extLst>
              <a:ext uri="{FF2B5EF4-FFF2-40B4-BE49-F238E27FC236}">
                <a16:creationId xmlns:a16="http://schemas.microsoft.com/office/drawing/2014/main" id="{39B55D1D-576E-A34F-BA57-D39FD0281A35}"/>
              </a:ext>
            </a:extLst>
          </p:cNvPr>
          <p:cNvSpPr txBox="1"/>
          <p:nvPr/>
        </p:nvSpPr>
        <p:spPr>
          <a:xfrm>
            <a:off x="3210983" y="4599252"/>
            <a:ext cx="5971666" cy="769441"/>
          </a:xfrm>
          <a:prstGeom prst="rect">
            <a:avLst/>
          </a:prstGeom>
          <a:noFill/>
        </p:spPr>
        <p:txBody>
          <a:bodyPr wrap="square" rtlCol="0">
            <a:spAutoFit/>
          </a:bodyPr>
          <a:lstStyle/>
          <a:p>
            <a:pPr algn="ctr"/>
            <a:r>
              <a:rPr lang="en-US" sz="2200" dirty="0"/>
              <a:t>we can make a new BB for the </a:t>
            </a:r>
            <a:r>
              <a:rPr lang="en-US" sz="2200" b="1" dirty="0"/>
              <a:t>return</a:t>
            </a:r>
            <a:r>
              <a:rPr lang="en-US" sz="2200" dirty="0"/>
              <a:t> like here, or special-case it if we want a simpler CFG.</a:t>
            </a:r>
          </a:p>
        </p:txBody>
      </p:sp>
      <p:sp>
        <p:nvSpPr>
          <p:cNvPr id="10" name="TextBox 9">
            <a:extLst>
              <a:ext uri="{FF2B5EF4-FFF2-40B4-BE49-F238E27FC236}">
                <a16:creationId xmlns:a16="http://schemas.microsoft.com/office/drawing/2014/main" id="{AD7FAF00-0858-EC4A-8333-685A556997AE}"/>
              </a:ext>
            </a:extLst>
          </p:cNvPr>
          <p:cNvSpPr txBox="1"/>
          <p:nvPr/>
        </p:nvSpPr>
        <p:spPr>
          <a:xfrm>
            <a:off x="4222200" y="1889759"/>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bb0:</a:t>
            </a:r>
          </a:p>
        </p:txBody>
      </p:sp>
      <p:cxnSp>
        <p:nvCxnSpPr>
          <p:cNvPr id="15" name="Straight Arrow Connector 14">
            <a:extLst>
              <a:ext uri="{FF2B5EF4-FFF2-40B4-BE49-F238E27FC236}">
                <a16:creationId xmlns:a16="http://schemas.microsoft.com/office/drawing/2014/main" id="{6C049391-C93C-EC47-9031-B793BD305403}"/>
              </a:ext>
            </a:extLst>
          </p:cNvPr>
          <p:cNvCxnSpPr>
            <a:cxnSpLocks/>
          </p:cNvCxnSpPr>
          <p:nvPr/>
        </p:nvCxnSpPr>
        <p:spPr>
          <a:xfrm>
            <a:off x="3584806" y="2079388"/>
            <a:ext cx="5909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D67B1AD9-6C7B-6A46-9724-1B677EF3AE24}"/>
              </a:ext>
            </a:extLst>
          </p:cNvPr>
          <p:cNvGraphicFramePr>
            <a:graphicFrameLocks noGrp="1"/>
          </p:cNvGraphicFramePr>
          <p:nvPr>
            <p:extLst>
              <p:ext uri="{D42A27DB-BD31-4B8C-83A1-F6EECF244321}">
                <p14:modId xmlns:p14="http://schemas.microsoft.com/office/powerpoint/2010/main" val="3585054011"/>
              </p:ext>
            </p:extLst>
          </p:nvPr>
        </p:nvGraphicFramePr>
        <p:xfrm>
          <a:off x="634365" y="2857500"/>
          <a:ext cx="2413635" cy="1188720"/>
        </p:xfrm>
        <a:graphic>
          <a:graphicData uri="http://schemas.openxmlformats.org/drawingml/2006/table">
            <a:tbl>
              <a:tblPr firstRow="1" bandRow="1">
                <a:tableStyleId>{00A15C55-8517-42AA-B614-E9B94910E393}</a:tableStyleId>
              </a:tblPr>
              <a:tblGrid>
                <a:gridCol w="630555">
                  <a:extLst>
                    <a:ext uri="{9D8B030D-6E8A-4147-A177-3AD203B41FA5}">
                      <a16:colId xmlns:a16="http://schemas.microsoft.com/office/drawing/2014/main" val="2454857836"/>
                    </a:ext>
                  </a:extLst>
                </a:gridCol>
                <a:gridCol w="960755">
                  <a:extLst>
                    <a:ext uri="{9D8B030D-6E8A-4147-A177-3AD203B41FA5}">
                      <a16:colId xmlns:a16="http://schemas.microsoft.com/office/drawing/2014/main" val="3989194009"/>
                    </a:ext>
                  </a:extLst>
                </a:gridCol>
                <a:gridCol w="822325">
                  <a:extLst>
                    <a:ext uri="{9D8B030D-6E8A-4147-A177-3AD203B41FA5}">
                      <a16:colId xmlns:a16="http://schemas.microsoft.com/office/drawing/2014/main" val="2906240056"/>
                    </a:ext>
                  </a:extLst>
                </a:gridCol>
              </a:tblGrid>
              <a:tr h="370840">
                <a:tc>
                  <a:txBody>
                    <a:bodyPr/>
                    <a:lstStyle/>
                    <a:p>
                      <a:pPr algn="ctr"/>
                      <a:r>
                        <a:rPr lang="en-US" sz="2000" dirty="0" err="1"/>
                        <a:t>Idx</a:t>
                      </a:r>
                      <a:endParaRPr lang="en-US" sz="2000" dirty="0"/>
                    </a:p>
                  </a:txBody>
                  <a:tcPr/>
                </a:tc>
                <a:tc>
                  <a:txBody>
                    <a:bodyPr/>
                    <a:lstStyle/>
                    <a:p>
                      <a:pPr algn="ctr"/>
                      <a:r>
                        <a:rPr lang="en-US" sz="2000" dirty="0"/>
                        <a:t>Name</a:t>
                      </a:r>
                    </a:p>
                  </a:txBody>
                  <a:tcPr/>
                </a:tc>
                <a:tc>
                  <a:txBody>
                    <a:bodyPr/>
                    <a:lstStyle/>
                    <a:p>
                      <a:pPr algn="ctr"/>
                      <a:r>
                        <a:rPr lang="en-US" sz="2000" dirty="0"/>
                        <a:t>Type</a:t>
                      </a:r>
                    </a:p>
                  </a:txBody>
                  <a:tcPr/>
                </a:tc>
                <a:extLst>
                  <a:ext uri="{0D108BD9-81ED-4DB2-BD59-A6C34878D82A}">
                    <a16:rowId xmlns:a16="http://schemas.microsoft.com/office/drawing/2014/main" val="2612782844"/>
                  </a:ext>
                </a:extLst>
              </a:tr>
              <a:tr h="370840">
                <a:tc>
                  <a:txBody>
                    <a:bodyPr/>
                    <a:lstStyle/>
                    <a:p>
                      <a:pPr algn="ctr"/>
                      <a:r>
                        <a:rPr lang="en-US" sz="2000" b="1" dirty="0">
                          <a:latin typeface="Consolas" panose="020B0609020204030204" pitchFamily="49" charset="0"/>
                          <a:cs typeface="Consolas" panose="020B0609020204030204" pitchFamily="49" charset="0"/>
                        </a:rPr>
                        <a:t>0</a:t>
                      </a:r>
                    </a:p>
                  </a:txBody>
                  <a:tcPr/>
                </a:tc>
                <a:tc>
                  <a:txBody>
                    <a:bodyPr/>
                    <a:lstStyle/>
                    <a:p>
                      <a:pPr algn="ct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826624652"/>
                  </a:ext>
                </a:extLst>
              </a:tr>
              <a:tr h="370840">
                <a:tc>
                  <a:txBody>
                    <a:bodyPr/>
                    <a:lstStyle/>
                    <a:p>
                      <a:pPr algn="ctr"/>
                      <a:r>
                        <a:rPr lang="en-US" sz="2000" b="1" dirty="0">
                          <a:latin typeface="Consolas" panose="020B0609020204030204" pitchFamily="49" charset="0"/>
                          <a:cs typeface="Consolas" panose="020B0609020204030204" pitchFamily="49" charset="0"/>
                        </a:rPr>
                        <a:t>1</a:t>
                      </a:r>
                    </a:p>
                  </a:txBody>
                  <a:tcPr/>
                </a:tc>
                <a:tc>
                  <a:txBody>
                    <a:bodyPr/>
                    <a:lstStyle/>
                    <a:p>
                      <a:pPr algn="ctr"/>
                      <a:r>
                        <a:rPr lang="en-US" sz="2000" b="1" dirty="0" err="1">
                          <a:latin typeface="Consolas" panose="020B0609020204030204" pitchFamily="49" charset="0"/>
                          <a:cs typeface="Consolas" panose="020B0609020204030204" pitchFamily="49" charset="0"/>
                        </a:rPr>
                        <a:t>vy</a:t>
                      </a: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4121413789"/>
                  </a:ext>
                </a:extLst>
              </a:tr>
            </a:tbl>
          </a:graphicData>
        </a:graphic>
      </p:graphicFrame>
      <p:sp>
        <p:nvSpPr>
          <p:cNvPr id="17" name="TextBox 16">
            <a:extLst>
              <a:ext uri="{FF2B5EF4-FFF2-40B4-BE49-F238E27FC236}">
                <a16:creationId xmlns:a16="http://schemas.microsoft.com/office/drawing/2014/main" id="{BF402810-C0A6-F948-958F-6D334059BECA}"/>
              </a:ext>
            </a:extLst>
          </p:cNvPr>
          <p:cNvSpPr txBox="1"/>
          <p:nvPr/>
        </p:nvSpPr>
        <p:spPr>
          <a:xfrm>
            <a:off x="1344893" y="2363569"/>
            <a:ext cx="992579" cy="430887"/>
          </a:xfrm>
          <a:prstGeom prst="rect">
            <a:avLst/>
          </a:prstGeom>
          <a:noFill/>
        </p:spPr>
        <p:txBody>
          <a:bodyPr wrap="none" rtlCol="0">
            <a:spAutoFit/>
          </a:bodyPr>
          <a:lstStyle/>
          <a:p>
            <a:pPr algn="ctr"/>
            <a:r>
              <a:rPr lang="en-US" sz="2200" b="1" u="sng" dirty="0"/>
              <a:t>Locals</a:t>
            </a:r>
          </a:p>
        </p:txBody>
      </p:sp>
      <p:graphicFrame>
        <p:nvGraphicFramePr>
          <p:cNvPr id="18" name="Table 17">
            <a:extLst>
              <a:ext uri="{FF2B5EF4-FFF2-40B4-BE49-F238E27FC236}">
                <a16:creationId xmlns:a16="http://schemas.microsoft.com/office/drawing/2014/main" id="{9CC15891-3274-D744-A175-7013D6F6652B}"/>
              </a:ext>
            </a:extLst>
          </p:cNvPr>
          <p:cNvGraphicFramePr>
            <a:graphicFrameLocks noGrp="1"/>
          </p:cNvGraphicFramePr>
          <p:nvPr>
            <p:extLst>
              <p:ext uri="{D42A27DB-BD31-4B8C-83A1-F6EECF244321}">
                <p14:modId xmlns:p14="http://schemas.microsoft.com/office/powerpoint/2010/main" val="1598559066"/>
              </p:ext>
            </p:extLst>
          </p:nvPr>
        </p:nvGraphicFramePr>
        <p:xfrm>
          <a:off x="634365" y="4046220"/>
          <a:ext cx="2413635" cy="396240"/>
        </p:xfrm>
        <a:graphic>
          <a:graphicData uri="http://schemas.openxmlformats.org/drawingml/2006/table">
            <a:tbl>
              <a:tblPr bandRow="1">
                <a:tableStyleId>{00A15C55-8517-42AA-B614-E9B94910E393}</a:tableStyleId>
              </a:tblPr>
              <a:tblGrid>
                <a:gridCol w="630555">
                  <a:extLst>
                    <a:ext uri="{9D8B030D-6E8A-4147-A177-3AD203B41FA5}">
                      <a16:colId xmlns:a16="http://schemas.microsoft.com/office/drawing/2014/main" val="2454857836"/>
                    </a:ext>
                  </a:extLst>
                </a:gridCol>
                <a:gridCol w="960755">
                  <a:extLst>
                    <a:ext uri="{9D8B030D-6E8A-4147-A177-3AD203B41FA5}">
                      <a16:colId xmlns:a16="http://schemas.microsoft.com/office/drawing/2014/main" val="3989194009"/>
                    </a:ext>
                  </a:extLst>
                </a:gridCol>
                <a:gridCol w="822325">
                  <a:extLst>
                    <a:ext uri="{9D8B030D-6E8A-4147-A177-3AD203B41FA5}">
                      <a16:colId xmlns:a16="http://schemas.microsoft.com/office/drawing/2014/main" val="2906240056"/>
                    </a:ext>
                  </a:extLst>
                </a:gridCol>
              </a:tblGrid>
              <a:tr h="370840">
                <a:tc>
                  <a:txBody>
                    <a:bodyPr/>
                    <a:lstStyle/>
                    <a:p>
                      <a:pPr algn="ctr"/>
                      <a:r>
                        <a:rPr lang="en-US" sz="2000" b="1" dirty="0">
                          <a:latin typeface="Consolas" panose="020B0609020204030204" pitchFamily="49" charset="0"/>
                          <a:cs typeface="Consolas" panose="020B0609020204030204" pitchFamily="49" charset="0"/>
                        </a:rPr>
                        <a:t>2</a:t>
                      </a:r>
                    </a:p>
                  </a:txBody>
                  <a:tcPr/>
                </a:tc>
                <a:tc>
                  <a:txBody>
                    <a:bodyPr/>
                    <a:lstStyle/>
                    <a:p>
                      <a:pPr algn="ctr"/>
                      <a:endParaRPr lang="en-US" sz="2000" b="1" dirty="0">
                        <a:latin typeface="Consolas" panose="020B0609020204030204" pitchFamily="49" charset="0"/>
                        <a:cs typeface="Consolas" panose="020B0609020204030204" pitchFamily="49" charset="0"/>
                      </a:endParaRP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3153555852"/>
                  </a:ext>
                </a:extLst>
              </a:tr>
            </a:tbl>
          </a:graphicData>
        </a:graphic>
      </p:graphicFrame>
      <p:sp>
        <p:nvSpPr>
          <p:cNvPr id="20" name="Rectangle 19">
            <a:extLst>
              <a:ext uri="{FF2B5EF4-FFF2-40B4-BE49-F238E27FC236}">
                <a16:creationId xmlns:a16="http://schemas.microsoft.com/office/drawing/2014/main" id="{12511F8F-152B-F14C-AFB2-4DE8CA14C92D}"/>
              </a:ext>
            </a:extLst>
          </p:cNvPr>
          <p:cNvSpPr/>
          <p:nvPr/>
        </p:nvSpPr>
        <p:spPr>
          <a:xfrm>
            <a:off x="4953000" y="4057590"/>
            <a:ext cx="1104343" cy="400110"/>
          </a:xfrm>
          <a:prstGeom prst="rect">
            <a:avLst/>
          </a:prstGeom>
          <a:solidFill>
            <a:schemeClr val="accent2">
              <a:lumMod val="20000"/>
              <a:lumOff val="80000"/>
            </a:schemeClr>
          </a:solidFill>
        </p:spPr>
        <p:txBody>
          <a:bodyPr wrap="square">
            <a:spAutoFit/>
          </a:bodyPr>
          <a:lstStyle/>
          <a:p>
            <a:r>
              <a:rPr lang="en-US" sz="2000" b="1" dirty="0">
                <a:solidFill>
                  <a:srgbClr val="FF0000"/>
                </a:solidFill>
                <a:latin typeface="Consolas" panose="020B0609020204030204" pitchFamily="49" charset="0"/>
                <a:cs typeface="Consolas" panose="020B0609020204030204" pitchFamily="49" charset="0"/>
              </a:rPr>
              <a:t>return</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21" name="TextBox 20">
            <a:extLst>
              <a:ext uri="{FF2B5EF4-FFF2-40B4-BE49-F238E27FC236}">
                <a16:creationId xmlns:a16="http://schemas.microsoft.com/office/drawing/2014/main" id="{36C37253-E222-184B-9BC9-74E8B7C6CADF}"/>
              </a:ext>
            </a:extLst>
          </p:cNvPr>
          <p:cNvSpPr txBox="1"/>
          <p:nvPr/>
        </p:nvSpPr>
        <p:spPr>
          <a:xfrm>
            <a:off x="4232646" y="4027977"/>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bb1:</a:t>
            </a:r>
          </a:p>
        </p:txBody>
      </p:sp>
      <p:cxnSp>
        <p:nvCxnSpPr>
          <p:cNvPr id="22" name="Straight Arrow Connector 21">
            <a:extLst>
              <a:ext uri="{FF2B5EF4-FFF2-40B4-BE49-F238E27FC236}">
                <a16:creationId xmlns:a16="http://schemas.microsoft.com/office/drawing/2014/main" id="{4238A639-CB7B-8D47-8CA6-F021DF1C9E30}"/>
              </a:ext>
            </a:extLst>
          </p:cNvPr>
          <p:cNvCxnSpPr>
            <a:cxnSpLocks/>
          </p:cNvCxnSpPr>
          <p:nvPr/>
        </p:nvCxnSpPr>
        <p:spPr>
          <a:xfrm flipH="1">
            <a:off x="5254157" y="3534769"/>
            <a:ext cx="1" cy="5057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23">
            <a:extLst>
              <a:ext uri="{FF2B5EF4-FFF2-40B4-BE49-F238E27FC236}">
                <a16:creationId xmlns:a16="http://schemas.microsoft.com/office/drawing/2014/main" id="{D9DF668B-F376-0C47-954F-1BFD64224C5C}"/>
              </a:ext>
            </a:extLst>
          </p:cNvPr>
          <p:cNvGraphicFramePr>
            <a:graphicFrameLocks noGrp="1"/>
          </p:cNvGraphicFramePr>
          <p:nvPr>
            <p:extLst>
              <p:ext uri="{D42A27DB-BD31-4B8C-83A1-F6EECF244321}">
                <p14:modId xmlns:p14="http://schemas.microsoft.com/office/powerpoint/2010/main" val="1953716797"/>
              </p:ext>
            </p:extLst>
          </p:nvPr>
        </p:nvGraphicFramePr>
        <p:xfrm>
          <a:off x="634364" y="4439783"/>
          <a:ext cx="2413635" cy="396240"/>
        </p:xfrm>
        <a:graphic>
          <a:graphicData uri="http://schemas.openxmlformats.org/drawingml/2006/table">
            <a:tbl>
              <a:tblPr>
                <a:tableStyleId>{00A15C55-8517-42AA-B614-E9B94910E393}</a:tableStyleId>
              </a:tblPr>
              <a:tblGrid>
                <a:gridCol w="630555">
                  <a:extLst>
                    <a:ext uri="{9D8B030D-6E8A-4147-A177-3AD203B41FA5}">
                      <a16:colId xmlns:a16="http://schemas.microsoft.com/office/drawing/2014/main" val="2454857836"/>
                    </a:ext>
                  </a:extLst>
                </a:gridCol>
                <a:gridCol w="960755">
                  <a:extLst>
                    <a:ext uri="{9D8B030D-6E8A-4147-A177-3AD203B41FA5}">
                      <a16:colId xmlns:a16="http://schemas.microsoft.com/office/drawing/2014/main" val="3989194009"/>
                    </a:ext>
                  </a:extLst>
                </a:gridCol>
                <a:gridCol w="822325">
                  <a:extLst>
                    <a:ext uri="{9D8B030D-6E8A-4147-A177-3AD203B41FA5}">
                      <a16:colId xmlns:a16="http://schemas.microsoft.com/office/drawing/2014/main" val="2906240056"/>
                    </a:ext>
                  </a:extLst>
                </a:gridCol>
              </a:tblGrid>
              <a:tr h="370840">
                <a:tc>
                  <a:txBody>
                    <a:bodyPr/>
                    <a:lstStyle/>
                    <a:p>
                      <a:pPr algn="ctr"/>
                      <a:r>
                        <a:rPr lang="en-US" sz="2000" b="1" dirty="0">
                          <a:latin typeface="Consolas" panose="020B0609020204030204" pitchFamily="49" charset="0"/>
                          <a:cs typeface="Consolas" panose="020B0609020204030204" pitchFamily="49" charset="0"/>
                        </a:rPr>
                        <a:t>3</a:t>
                      </a:r>
                    </a:p>
                  </a:txBody>
                  <a:tcPr/>
                </a:tc>
                <a:tc>
                  <a:txBody>
                    <a:bodyPr/>
                    <a:lstStyle/>
                    <a:p>
                      <a:pPr algn="ctr"/>
                      <a:r>
                        <a:rPr lang="en-US" sz="2000" b="1" dirty="0">
                          <a:latin typeface="Consolas" panose="020B0609020204030204" pitchFamily="49" charset="0"/>
                          <a:cs typeface="Consolas" panose="020B0609020204030204" pitchFamily="49" charset="0"/>
                        </a:rPr>
                        <a:t>ret</a:t>
                      </a:r>
                    </a:p>
                  </a:txBody>
                  <a:tcPr/>
                </a:tc>
                <a:tc>
                  <a:txBody>
                    <a:bodyPr/>
                    <a:lstStyle/>
                    <a:p>
                      <a:pPr algn="ctr"/>
                      <a:r>
                        <a:rPr lang="en-US" sz="2000" b="1" dirty="0">
                          <a:solidFill>
                            <a:srgbClr val="FF0000"/>
                          </a:solidFill>
                          <a:latin typeface="Consolas" panose="020B0609020204030204" pitchFamily="49" charset="0"/>
                          <a:cs typeface="Consolas" panose="020B0609020204030204" pitchFamily="49" charset="0"/>
                        </a:rPr>
                        <a:t>int</a:t>
                      </a:r>
                    </a:p>
                  </a:txBody>
                  <a:tcPr/>
                </a:tc>
                <a:extLst>
                  <a:ext uri="{0D108BD9-81ED-4DB2-BD59-A6C34878D82A}">
                    <a16:rowId xmlns:a16="http://schemas.microsoft.com/office/drawing/2014/main" val="1530179920"/>
                  </a:ext>
                </a:extLst>
              </a:tr>
            </a:tbl>
          </a:graphicData>
        </a:graphic>
      </p:graphicFrame>
    </p:spTree>
    <p:extLst>
      <p:ext uri="{BB962C8B-B14F-4D97-AF65-F5344CB8AC3E}">
        <p14:creationId xmlns:p14="http://schemas.microsoft.com/office/powerpoint/2010/main" val="23600389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p:bldP spid="7" grpId="0" uiExpand="1" build="p" bldLvl="5"/>
      <p:bldP spid="12" grpId="0"/>
      <p:bldP spid="13" grpId="0"/>
      <p:bldP spid="10" grpId="0"/>
      <p:bldP spid="17" grpId="0"/>
      <p:bldP spid="20" grpId="0" animBg="1"/>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585E-F6D2-7042-B91C-1E2BE44590EC}"/>
              </a:ext>
            </a:extLst>
          </p:cNvPr>
          <p:cNvSpPr>
            <a:spLocks noGrp="1"/>
          </p:cNvSpPr>
          <p:nvPr>
            <p:ph type="title"/>
          </p:nvPr>
        </p:nvSpPr>
        <p:spPr/>
        <p:txBody>
          <a:bodyPr/>
          <a:lstStyle/>
          <a:p>
            <a:r>
              <a:rPr lang="en-US" dirty="0"/>
              <a:t>Building the CFG: a while loop </a:t>
            </a:r>
            <a:r>
              <a:rPr lang="en-US" sz="2000" dirty="0"/>
              <a:t>(animated)</a:t>
            </a:r>
            <a:endParaRPr lang="en-US" dirty="0"/>
          </a:p>
        </p:txBody>
      </p:sp>
      <p:sp>
        <p:nvSpPr>
          <p:cNvPr id="3" name="Content Placeholder 2">
            <a:extLst>
              <a:ext uri="{FF2B5EF4-FFF2-40B4-BE49-F238E27FC236}">
                <a16:creationId xmlns:a16="http://schemas.microsoft.com/office/drawing/2014/main" id="{E2E59EFB-1A6B-BC49-936C-59653715BE0E}"/>
              </a:ext>
            </a:extLst>
          </p:cNvPr>
          <p:cNvSpPr>
            <a:spLocks noGrp="1"/>
          </p:cNvSpPr>
          <p:nvPr>
            <p:ph idx="1"/>
          </p:nvPr>
        </p:nvSpPr>
        <p:spPr>
          <a:xfrm>
            <a:off x="152400" y="495302"/>
            <a:ext cx="8991600" cy="495300"/>
          </a:xfrm>
        </p:spPr>
        <p:txBody>
          <a:bodyPr/>
          <a:lstStyle/>
          <a:p>
            <a:r>
              <a:rPr lang="en-US" dirty="0"/>
              <a:t>control flow structures tell us exactly where BBs need to begin/end.</a:t>
            </a:r>
          </a:p>
        </p:txBody>
      </p:sp>
      <p:sp>
        <p:nvSpPr>
          <p:cNvPr id="4" name="Slide Number Placeholder 3">
            <a:extLst>
              <a:ext uri="{FF2B5EF4-FFF2-40B4-BE49-F238E27FC236}">
                <a16:creationId xmlns:a16="http://schemas.microsoft.com/office/drawing/2014/main" id="{17CF1AF1-E731-0643-9FD3-EC90FC84B140}"/>
              </a:ext>
            </a:extLst>
          </p:cNvPr>
          <p:cNvSpPr>
            <a:spLocks noGrp="1"/>
          </p:cNvSpPr>
          <p:nvPr>
            <p:ph type="sldNum" sz="quarter" idx="12"/>
          </p:nvPr>
        </p:nvSpPr>
        <p:spPr/>
        <p:txBody>
          <a:bodyPr/>
          <a:lstStyle/>
          <a:p>
            <a:fld id="{3552B95B-556F-44BD-91A5-D80C1B9E2BB3}" type="slidenum">
              <a:rPr lang="en-US" smtClean="0"/>
              <a:pPr/>
              <a:t>28</a:t>
            </a:fld>
            <a:endParaRPr lang="en-US"/>
          </a:p>
        </p:txBody>
      </p:sp>
      <p:sp>
        <p:nvSpPr>
          <p:cNvPr id="5" name="Rectangle 4">
            <a:extLst>
              <a:ext uri="{FF2B5EF4-FFF2-40B4-BE49-F238E27FC236}">
                <a16:creationId xmlns:a16="http://schemas.microsoft.com/office/drawing/2014/main" id="{6E89FA4F-802D-F347-BE5A-C13F32364168}"/>
              </a:ext>
            </a:extLst>
          </p:cNvPr>
          <p:cNvSpPr/>
          <p:nvPr/>
        </p:nvSpPr>
        <p:spPr>
          <a:xfrm>
            <a:off x="438209" y="867666"/>
            <a:ext cx="2971800" cy="1938992"/>
          </a:xfrm>
          <a:prstGeom prst="rect">
            <a:avLst/>
          </a:prstGeom>
        </p:spPr>
        <p:txBody>
          <a:bodyPr wrap="square">
            <a:spAutoFit/>
          </a:bodyPr>
          <a:lstStyle/>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err="1">
                <a:solidFill>
                  <a:schemeClr val="accent6">
                    <a:lumMod val="75000"/>
                  </a:schemeClr>
                </a:solidFill>
                <a:latin typeface="Consolas" panose="020B0609020204030204" pitchFamily="49" charset="0"/>
                <a:cs typeface="Consolas" panose="020B0609020204030204" pitchFamily="49" charset="0"/>
              </a:rPr>
              <a:t>nums</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i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while</a:t>
            </a:r>
            <a:r>
              <a:rPr lang="en-US" sz="2000" b="1" dirty="0">
                <a:latin typeface="Consolas" panose="020B0609020204030204" pitchFamily="49" charset="0"/>
                <a:cs typeface="Consolas" panose="020B0609020204030204" pitchFamily="49" charset="0"/>
              </a:rPr>
              <a:t> i &gt; </a:t>
            </a:r>
            <a:r>
              <a:rPr lang="en-US" sz="2000" b="1" dirty="0">
                <a:solidFill>
                  <a:schemeClr val="accent3">
                    <a:lumMod val="75000"/>
                  </a:schemeClr>
                </a:solidFill>
                <a:latin typeface="Consolas" panose="020B0609020204030204" pitchFamily="49" charset="0"/>
                <a:cs typeface="Consolas" panose="020B0609020204030204" pitchFamily="49" charset="0"/>
              </a:rPr>
              <a:t>0</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(i);</a:t>
            </a:r>
          </a:p>
          <a:p>
            <a:r>
              <a:rPr lang="en-US" sz="2000" b="1" dirty="0">
                <a:latin typeface="Consolas" panose="020B0609020204030204" pitchFamily="49" charset="0"/>
                <a:cs typeface="Consolas" panose="020B0609020204030204" pitchFamily="49" charset="0"/>
              </a:rPr>
              <a:t>  i = i – </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912CC73C-A9A0-C74A-8AD7-8F4BBB551545}"/>
              </a:ext>
            </a:extLst>
          </p:cNvPr>
          <p:cNvSpPr/>
          <p:nvPr/>
        </p:nvSpPr>
        <p:spPr>
          <a:xfrm>
            <a:off x="4551234" y="1150825"/>
            <a:ext cx="2889252" cy="1015663"/>
          </a:xfrm>
          <a:prstGeom prst="rect">
            <a:avLst/>
          </a:prstGeom>
          <a:solidFill>
            <a:schemeClr val="accent1">
              <a:lumMod val="20000"/>
              <a:lumOff val="80000"/>
            </a:schemeClr>
          </a:solidFill>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740A9051-831C-B942-B822-FF1CB7F5EE68}"/>
              </a:ext>
            </a:extLst>
          </p:cNvPr>
          <p:cNvSpPr/>
          <p:nvPr/>
        </p:nvSpPr>
        <p:spPr>
          <a:xfrm>
            <a:off x="4547918" y="1150547"/>
            <a:ext cx="2889252" cy="1015663"/>
          </a:xfrm>
          <a:prstGeom prst="rect">
            <a:avLst/>
          </a:prstGeom>
        </p:spPr>
        <p:txBody>
          <a:bodyPr wrap="square">
            <a:spAutoFit/>
          </a:bodyPr>
          <a:lstStyle/>
          <a:p>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err="1">
                <a:solidFill>
                  <a:schemeClr val="accent6">
                    <a:lumMod val="75000"/>
                  </a:schemeClr>
                </a:solidFill>
                <a:latin typeface="Consolas" panose="020B0609020204030204" pitchFamily="49" charset="0"/>
                <a:cs typeface="Consolas" panose="020B0609020204030204" pitchFamily="49" charset="0"/>
              </a:rPr>
              <a:t>nums</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i =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latin typeface="Consolas" panose="020B0609020204030204" pitchFamily="49" charset="0"/>
                <a:cs typeface="Consolas" panose="020B0609020204030204" pitchFamily="49" charset="0"/>
              </a:rPr>
              <a:t> bb1</a:t>
            </a:r>
          </a:p>
        </p:txBody>
      </p:sp>
      <p:sp>
        <p:nvSpPr>
          <p:cNvPr id="9" name="TextBox 8">
            <a:extLst>
              <a:ext uri="{FF2B5EF4-FFF2-40B4-BE49-F238E27FC236}">
                <a16:creationId xmlns:a16="http://schemas.microsoft.com/office/drawing/2014/main" id="{EC74883A-FA76-F647-9BF7-B7BB9EFE1D35}"/>
              </a:ext>
            </a:extLst>
          </p:cNvPr>
          <p:cNvSpPr txBox="1"/>
          <p:nvPr/>
        </p:nvSpPr>
        <p:spPr>
          <a:xfrm>
            <a:off x="3913994" y="1065145"/>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bb0:</a:t>
            </a:r>
          </a:p>
        </p:txBody>
      </p:sp>
      <p:cxnSp>
        <p:nvCxnSpPr>
          <p:cNvPr id="10" name="Straight Arrow Connector 9">
            <a:extLst>
              <a:ext uri="{FF2B5EF4-FFF2-40B4-BE49-F238E27FC236}">
                <a16:creationId xmlns:a16="http://schemas.microsoft.com/office/drawing/2014/main" id="{9CA7A210-EB10-6146-A913-501F39CB8C84}"/>
              </a:ext>
            </a:extLst>
          </p:cNvPr>
          <p:cNvCxnSpPr>
            <a:cxnSpLocks/>
          </p:cNvCxnSpPr>
          <p:nvPr/>
        </p:nvCxnSpPr>
        <p:spPr>
          <a:xfrm>
            <a:off x="3276600" y="1254774"/>
            <a:ext cx="5909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BEE09C9-44FD-CE41-A1BB-5784CCE62D7D}"/>
              </a:ext>
            </a:extLst>
          </p:cNvPr>
          <p:cNvCxnSpPr>
            <a:cxnSpLocks/>
          </p:cNvCxnSpPr>
          <p:nvPr/>
        </p:nvCxnSpPr>
        <p:spPr>
          <a:xfrm>
            <a:off x="5084634" y="2166488"/>
            <a:ext cx="0" cy="3100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4ED9053-828C-BB41-AACB-76396E956A0A}"/>
              </a:ext>
            </a:extLst>
          </p:cNvPr>
          <p:cNvSpPr txBox="1"/>
          <p:nvPr/>
        </p:nvSpPr>
        <p:spPr>
          <a:xfrm>
            <a:off x="196938" y="2922537"/>
            <a:ext cx="3338661" cy="1446550"/>
          </a:xfrm>
          <a:prstGeom prst="rect">
            <a:avLst/>
          </a:prstGeom>
          <a:noFill/>
        </p:spPr>
        <p:txBody>
          <a:bodyPr wrap="square" rtlCol="0">
            <a:spAutoFit/>
          </a:bodyPr>
          <a:lstStyle/>
          <a:p>
            <a:pPr algn="ctr"/>
            <a:r>
              <a:rPr lang="en-US" sz="2200" dirty="0"/>
              <a:t>the loop needs a new BB. when we start a new BB, the previous one must </a:t>
            </a:r>
            <a:r>
              <a:rPr lang="en-US" sz="2200" b="1" dirty="0" err="1"/>
              <a:t>goto</a:t>
            </a:r>
            <a:r>
              <a:rPr lang="en-US" sz="2200" dirty="0"/>
              <a:t> the new one.</a:t>
            </a:r>
          </a:p>
        </p:txBody>
      </p:sp>
      <p:sp>
        <p:nvSpPr>
          <p:cNvPr id="12" name="Rectangle 11">
            <a:extLst>
              <a:ext uri="{FF2B5EF4-FFF2-40B4-BE49-F238E27FC236}">
                <a16:creationId xmlns:a16="http://schemas.microsoft.com/office/drawing/2014/main" id="{557A3FE4-DA54-5248-83D6-CD93A056F082}"/>
              </a:ext>
            </a:extLst>
          </p:cNvPr>
          <p:cNvSpPr/>
          <p:nvPr/>
        </p:nvSpPr>
        <p:spPr>
          <a:xfrm>
            <a:off x="4547920" y="2474265"/>
            <a:ext cx="3549488" cy="707886"/>
          </a:xfrm>
          <a:prstGeom prst="rect">
            <a:avLst/>
          </a:prstGeom>
          <a:solidFill>
            <a:schemeClr val="accent6">
              <a:lumMod val="40000"/>
              <a:lumOff val="60000"/>
            </a:schemeClr>
          </a:solidFill>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FCBAD143-9348-F54D-A4FC-297FC4749B07}"/>
              </a:ext>
            </a:extLst>
          </p:cNvPr>
          <p:cNvSpPr/>
          <p:nvPr/>
        </p:nvSpPr>
        <p:spPr>
          <a:xfrm>
            <a:off x="4551235" y="2474265"/>
            <a:ext cx="3546658" cy="707886"/>
          </a:xfrm>
          <a:prstGeom prst="rect">
            <a:avLst/>
          </a:prstGeom>
        </p:spPr>
        <p:txBody>
          <a:bodyPr wrap="square">
            <a:spAutoFit/>
          </a:bodyPr>
          <a:lstStyle/>
          <a:p>
            <a:r>
              <a:rPr lang="en-US" sz="2000" b="1" dirty="0">
                <a:latin typeface="Consolas" panose="020B0609020204030204" pitchFamily="49" charset="0"/>
                <a:cs typeface="Consolas" panose="020B0609020204030204" pitchFamily="49" charset="0"/>
              </a:rPr>
              <a:t>$t2 = i &gt; </a:t>
            </a:r>
            <a:r>
              <a:rPr lang="en-US" sz="2000" b="1" dirty="0">
                <a:solidFill>
                  <a:schemeClr val="accent3">
                    <a:lumMod val="75000"/>
                  </a:schemeClr>
                </a:solidFill>
                <a:latin typeface="Consolas" panose="020B0609020204030204" pitchFamily="49" charset="0"/>
                <a:cs typeface="Consolas" panose="020B0609020204030204" pitchFamily="49" charset="0"/>
              </a:rPr>
              <a:t>0</a:t>
            </a:r>
          </a:p>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$t2 </a:t>
            </a:r>
            <a:r>
              <a:rPr lang="en-US" sz="2000" b="1" dirty="0">
                <a:solidFill>
                  <a:srgbClr val="FF0000"/>
                </a:solidFill>
                <a:latin typeface="Consolas" panose="020B0609020204030204" pitchFamily="49" charset="0"/>
                <a:cs typeface="Consolas" panose="020B0609020204030204" pitchFamily="49" charset="0"/>
              </a:rPr>
              <a:t>then </a:t>
            </a:r>
            <a:r>
              <a:rPr lang="en-US" sz="2000" b="1" dirty="0">
                <a:latin typeface="Consolas" panose="020B0609020204030204" pitchFamily="49" charset="0"/>
                <a:cs typeface="Consolas" panose="020B0609020204030204" pitchFamily="49" charset="0"/>
              </a:rPr>
              <a:t>bb2</a:t>
            </a:r>
            <a:r>
              <a:rPr lang="en-US" sz="2000" b="1" dirty="0">
                <a:solidFill>
                  <a:schemeClr val="bg1">
                    <a:lumMod val="50000"/>
                  </a:schemeClr>
                </a:solidFill>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else </a:t>
            </a:r>
            <a:r>
              <a:rPr lang="en-US" sz="2000" b="1" dirty="0">
                <a:latin typeface="Consolas" panose="020B0609020204030204" pitchFamily="49" charset="0"/>
                <a:cs typeface="Consolas" panose="020B0609020204030204" pitchFamily="49" charset="0"/>
              </a:rPr>
              <a:t>bb</a:t>
            </a:r>
            <a:r>
              <a:rPr lang="en-US" sz="2000" b="1" dirty="0">
                <a:solidFill>
                  <a:schemeClr val="bg1">
                    <a:lumMod val="50000"/>
                  </a:schemeClr>
                </a:solidFill>
                <a:latin typeface="Consolas" panose="020B0609020204030204" pitchFamily="49" charset="0"/>
                <a:cs typeface="Consolas" panose="020B0609020204030204" pitchFamily="49" charset="0"/>
              </a:rPr>
              <a:t>_</a:t>
            </a:r>
          </a:p>
        </p:txBody>
      </p:sp>
      <p:sp>
        <p:nvSpPr>
          <p:cNvPr id="21" name="TextBox 20">
            <a:extLst>
              <a:ext uri="{FF2B5EF4-FFF2-40B4-BE49-F238E27FC236}">
                <a16:creationId xmlns:a16="http://schemas.microsoft.com/office/drawing/2014/main" id="{69A8DF56-42F0-2947-A10F-326B8C827D92}"/>
              </a:ext>
            </a:extLst>
          </p:cNvPr>
          <p:cNvSpPr txBox="1"/>
          <p:nvPr/>
        </p:nvSpPr>
        <p:spPr>
          <a:xfrm>
            <a:off x="3853095" y="2470003"/>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bb1:</a:t>
            </a:r>
          </a:p>
        </p:txBody>
      </p:sp>
      <p:sp>
        <p:nvSpPr>
          <p:cNvPr id="24" name="Rectangle 23">
            <a:extLst>
              <a:ext uri="{FF2B5EF4-FFF2-40B4-BE49-F238E27FC236}">
                <a16:creationId xmlns:a16="http://schemas.microsoft.com/office/drawing/2014/main" id="{674EA386-BD29-8947-A31F-746C775F0D7E}"/>
              </a:ext>
            </a:extLst>
          </p:cNvPr>
          <p:cNvSpPr/>
          <p:nvPr/>
        </p:nvSpPr>
        <p:spPr>
          <a:xfrm>
            <a:off x="4520801" y="3488055"/>
            <a:ext cx="2032152" cy="1015663"/>
          </a:xfrm>
          <a:prstGeom prst="rect">
            <a:avLst/>
          </a:prstGeom>
          <a:solidFill>
            <a:schemeClr val="accent1">
              <a:lumMod val="20000"/>
              <a:lumOff val="80000"/>
            </a:schemeClr>
          </a:solidFill>
        </p:spPr>
        <p:txBody>
          <a:bodyPr wrap="square">
            <a:spAutoFit/>
          </a:bodyPr>
          <a:lstStyle/>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(i)</a:t>
            </a:r>
          </a:p>
          <a:p>
            <a:r>
              <a:rPr lang="en-US" sz="2000" b="1" dirty="0">
                <a:latin typeface="Consolas" panose="020B0609020204030204" pitchFamily="49" charset="0"/>
                <a:cs typeface="Consolas" panose="020B0609020204030204" pitchFamily="49" charset="0"/>
              </a:rPr>
              <a:t>i = i - </a:t>
            </a:r>
            <a:r>
              <a:rPr lang="en-US" sz="2000" b="1" dirty="0">
                <a:solidFill>
                  <a:schemeClr val="accent3">
                    <a:lumMod val="75000"/>
                  </a:schemeClr>
                </a:solidFill>
                <a:latin typeface="Consolas" panose="020B0609020204030204" pitchFamily="49" charset="0"/>
                <a:cs typeface="Consolas" panose="020B0609020204030204" pitchFamily="49" charset="0"/>
              </a:rPr>
              <a:t>2</a:t>
            </a:r>
          </a:p>
          <a:p>
            <a:r>
              <a:rPr lang="en-US" sz="2000" b="1" dirty="0" err="1">
                <a:solidFill>
                  <a:srgbClr val="FF0000"/>
                </a:solidFill>
                <a:latin typeface="Consolas" panose="020B0609020204030204" pitchFamily="49" charset="0"/>
                <a:cs typeface="Consolas" panose="020B0609020204030204" pitchFamily="49" charset="0"/>
              </a:rPr>
              <a:t>goto</a:t>
            </a:r>
            <a:r>
              <a:rPr lang="en-US" sz="2000" b="1" dirty="0">
                <a:latin typeface="Consolas" panose="020B0609020204030204" pitchFamily="49" charset="0"/>
                <a:cs typeface="Consolas" panose="020B0609020204030204" pitchFamily="49" charset="0"/>
              </a:rPr>
              <a:t> bb1</a:t>
            </a:r>
          </a:p>
        </p:txBody>
      </p:sp>
      <p:sp>
        <p:nvSpPr>
          <p:cNvPr id="25" name="TextBox 24">
            <a:extLst>
              <a:ext uri="{FF2B5EF4-FFF2-40B4-BE49-F238E27FC236}">
                <a16:creationId xmlns:a16="http://schemas.microsoft.com/office/drawing/2014/main" id="{F941C28D-8EF8-3940-B56C-865916F22315}"/>
              </a:ext>
            </a:extLst>
          </p:cNvPr>
          <p:cNvSpPr txBox="1"/>
          <p:nvPr/>
        </p:nvSpPr>
        <p:spPr>
          <a:xfrm>
            <a:off x="3863034" y="3406483"/>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bb2:</a:t>
            </a:r>
          </a:p>
        </p:txBody>
      </p:sp>
      <p:cxnSp>
        <p:nvCxnSpPr>
          <p:cNvPr id="26" name="Straight Arrow Connector 25">
            <a:extLst>
              <a:ext uri="{FF2B5EF4-FFF2-40B4-BE49-F238E27FC236}">
                <a16:creationId xmlns:a16="http://schemas.microsoft.com/office/drawing/2014/main" id="{5229D392-7E50-E344-9944-1958DA17DB69}"/>
              </a:ext>
            </a:extLst>
          </p:cNvPr>
          <p:cNvCxnSpPr>
            <a:cxnSpLocks/>
          </p:cNvCxnSpPr>
          <p:nvPr/>
        </p:nvCxnSpPr>
        <p:spPr>
          <a:xfrm>
            <a:off x="5084634" y="3182151"/>
            <a:ext cx="0" cy="31001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3E76E7AA-5A51-094A-AF69-A07CC84A794C}"/>
              </a:ext>
            </a:extLst>
          </p:cNvPr>
          <p:cNvCxnSpPr>
            <a:cxnSpLocks/>
            <a:stCxn id="24" idx="2"/>
            <a:endCxn id="12" idx="1"/>
          </p:cNvCxnSpPr>
          <p:nvPr/>
        </p:nvCxnSpPr>
        <p:spPr>
          <a:xfrm rot="5400000" flipH="1">
            <a:off x="4204644" y="3171485"/>
            <a:ext cx="1675510" cy="988957"/>
          </a:xfrm>
          <a:prstGeom prst="curvedConnector4">
            <a:avLst>
              <a:gd name="adj1" fmla="val -13644"/>
              <a:gd name="adj2" fmla="val 18113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9DDD23A-17B6-DA46-960E-3D5207DAC9B6}"/>
              </a:ext>
            </a:extLst>
          </p:cNvPr>
          <p:cNvCxnSpPr>
            <a:cxnSpLocks/>
          </p:cNvCxnSpPr>
          <p:nvPr/>
        </p:nvCxnSpPr>
        <p:spPr>
          <a:xfrm>
            <a:off x="6837234" y="3182150"/>
            <a:ext cx="0" cy="17007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DA37CEF-1DEF-E449-9EAD-0C4F0228F4F4}"/>
              </a:ext>
            </a:extLst>
          </p:cNvPr>
          <p:cNvSpPr/>
          <p:nvPr/>
        </p:nvSpPr>
        <p:spPr>
          <a:xfrm>
            <a:off x="4500273" y="4882875"/>
            <a:ext cx="3327559" cy="400110"/>
          </a:xfrm>
          <a:prstGeom prst="rect">
            <a:avLst/>
          </a:prstGeom>
          <a:solidFill>
            <a:schemeClr val="accent4">
              <a:lumMod val="40000"/>
              <a:lumOff val="60000"/>
            </a:schemeClr>
          </a:solidFill>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39" name="TextBox 38">
            <a:extLst>
              <a:ext uri="{FF2B5EF4-FFF2-40B4-BE49-F238E27FC236}">
                <a16:creationId xmlns:a16="http://schemas.microsoft.com/office/drawing/2014/main" id="{FB2A7411-1CBD-5E44-95C0-389FA5F6E26D}"/>
              </a:ext>
            </a:extLst>
          </p:cNvPr>
          <p:cNvSpPr txBox="1"/>
          <p:nvPr/>
        </p:nvSpPr>
        <p:spPr>
          <a:xfrm>
            <a:off x="3863034" y="4797195"/>
            <a:ext cx="748924" cy="400110"/>
          </a:xfrm>
          <a:prstGeom prst="rect">
            <a:avLst/>
          </a:prstGeom>
          <a:noFill/>
        </p:spPr>
        <p:txBody>
          <a:bodyPr wrap="none" rtlCol="0">
            <a:spAutoFit/>
          </a:bodyPr>
          <a:lstStyle/>
          <a:p>
            <a:pPr algn="r"/>
            <a:r>
              <a:rPr lang="en-US" sz="2000" b="1" dirty="0">
                <a:latin typeface="Consolas" panose="020B0609020204030204" pitchFamily="49" charset="0"/>
                <a:cs typeface="Consolas" panose="020B0609020204030204" pitchFamily="49" charset="0"/>
              </a:rPr>
              <a:t>bb3:</a:t>
            </a:r>
          </a:p>
        </p:txBody>
      </p:sp>
      <p:sp>
        <p:nvSpPr>
          <p:cNvPr id="41" name="TextBox 40">
            <a:extLst>
              <a:ext uri="{FF2B5EF4-FFF2-40B4-BE49-F238E27FC236}">
                <a16:creationId xmlns:a16="http://schemas.microsoft.com/office/drawing/2014/main" id="{A4ACEA53-C138-F744-9807-629F90697E9E}"/>
              </a:ext>
            </a:extLst>
          </p:cNvPr>
          <p:cNvSpPr txBox="1"/>
          <p:nvPr/>
        </p:nvSpPr>
        <p:spPr>
          <a:xfrm>
            <a:off x="7765754" y="2782040"/>
            <a:ext cx="332142"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3</a:t>
            </a:r>
          </a:p>
        </p:txBody>
      </p:sp>
      <p:sp>
        <p:nvSpPr>
          <p:cNvPr id="42" name="TextBox 41">
            <a:extLst>
              <a:ext uri="{FF2B5EF4-FFF2-40B4-BE49-F238E27FC236}">
                <a16:creationId xmlns:a16="http://schemas.microsoft.com/office/drawing/2014/main" id="{A2E523BD-FEBC-B34E-AFFA-94B3C1E4FAC8}"/>
              </a:ext>
            </a:extLst>
          </p:cNvPr>
          <p:cNvSpPr txBox="1"/>
          <p:nvPr/>
        </p:nvSpPr>
        <p:spPr>
          <a:xfrm>
            <a:off x="152621" y="4516248"/>
            <a:ext cx="3338661" cy="769441"/>
          </a:xfrm>
          <a:prstGeom prst="rect">
            <a:avLst/>
          </a:prstGeom>
          <a:noFill/>
        </p:spPr>
        <p:txBody>
          <a:bodyPr wrap="square" rtlCol="0">
            <a:spAutoFit/>
          </a:bodyPr>
          <a:lstStyle/>
          <a:p>
            <a:pPr algn="ctr"/>
            <a:r>
              <a:rPr lang="en-US" sz="2200" dirty="0"/>
              <a:t>done with the body; make a new BB after it.</a:t>
            </a:r>
          </a:p>
        </p:txBody>
      </p:sp>
    </p:spTree>
    <p:extLst>
      <p:ext uri="{BB962C8B-B14F-4D97-AF65-F5344CB8AC3E}">
        <p14:creationId xmlns:p14="http://schemas.microsoft.com/office/powerpoint/2010/main" val="3340183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xEl>
                                              <p:pRg st="1" end="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xEl>
                                              <p:pRg st="2" end="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uiExpand="1" build="p" bldLvl="5"/>
      <p:bldP spid="9" grpId="0"/>
      <p:bldP spid="11" grpId="0"/>
      <p:bldP spid="12" grpId="0" animBg="1"/>
      <p:bldP spid="13" grpId="0" build="p" bldLvl="5"/>
      <p:bldP spid="21" grpId="0"/>
      <p:bldP spid="24" grpId="0" uiExpand="1" build="p" bldLvl="5" animBg="1"/>
      <p:bldP spid="25" grpId="0"/>
      <p:bldP spid="37" grpId="0" animBg="1"/>
      <p:bldP spid="39" grpId="0"/>
      <p:bldP spid="41" grpId="0"/>
      <p:bldP spid="4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B19C6-E8B1-0C4B-9864-0AFEB0C15F67}"/>
              </a:ext>
            </a:extLst>
          </p:cNvPr>
          <p:cNvSpPr>
            <a:spLocks noGrp="1"/>
          </p:cNvSpPr>
          <p:nvPr>
            <p:ph type="title"/>
          </p:nvPr>
        </p:nvSpPr>
        <p:spPr/>
        <p:txBody>
          <a:bodyPr/>
          <a:lstStyle/>
          <a:p>
            <a:r>
              <a:rPr lang="en-US" dirty="0"/>
              <a:t>The shape of control flow</a:t>
            </a:r>
          </a:p>
        </p:txBody>
      </p:sp>
      <p:sp>
        <p:nvSpPr>
          <p:cNvPr id="3" name="Content Placeholder 2">
            <a:extLst>
              <a:ext uri="{FF2B5EF4-FFF2-40B4-BE49-F238E27FC236}">
                <a16:creationId xmlns:a16="http://schemas.microsoft.com/office/drawing/2014/main" id="{B65BD528-463C-BC46-9C42-560B95164AFE}"/>
              </a:ext>
            </a:extLst>
          </p:cNvPr>
          <p:cNvSpPr>
            <a:spLocks noGrp="1"/>
          </p:cNvSpPr>
          <p:nvPr>
            <p:ph idx="1"/>
          </p:nvPr>
        </p:nvSpPr>
        <p:spPr>
          <a:xfrm>
            <a:off x="152400" y="495302"/>
            <a:ext cx="8991600" cy="495300"/>
          </a:xfrm>
        </p:spPr>
        <p:txBody>
          <a:bodyPr/>
          <a:lstStyle/>
          <a:p>
            <a:r>
              <a:rPr lang="en-US" dirty="0"/>
              <a:t>what kind of control flow statement would make each CFG?</a:t>
            </a:r>
          </a:p>
        </p:txBody>
      </p:sp>
      <p:sp>
        <p:nvSpPr>
          <p:cNvPr id="4" name="Slide Number Placeholder 3">
            <a:extLst>
              <a:ext uri="{FF2B5EF4-FFF2-40B4-BE49-F238E27FC236}">
                <a16:creationId xmlns:a16="http://schemas.microsoft.com/office/drawing/2014/main" id="{8CF979E1-DE2C-A14E-8EE8-C43F09E7C6DA}"/>
              </a:ext>
            </a:extLst>
          </p:cNvPr>
          <p:cNvSpPr>
            <a:spLocks noGrp="1"/>
          </p:cNvSpPr>
          <p:nvPr>
            <p:ph type="sldNum" sz="quarter" idx="12"/>
          </p:nvPr>
        </p:nvSpPr>
        <p:spPr/>
        <p:txBody>
          <a:bodyPr/>
          <a:lstStyle/>
          <a:p>
            <a:fld id="{3552B95B-556F-44BD-91A5-D80C1B9E2BB3}" type="slidenum">
              <a:rPr lang="en-US" smtClean="0"/>
              <a:pPr/>
              <a:t>29</a:t>
            </a:fld>
            <a:endParaRPr lang="en-US"/>
          </a:p>
        </p:txBody>
      </p:sp>
      <p:grpSp>
        <p:nvGrpSpPr>
          <p:cNvPr id="115" name="Group 114">
            <a:extLst>
              <a:ext uri="{FF2B5EF4-FFF2-40B4-BE49-F238E27FC236}">
                <a16:creationId xmlns:a16="http://schemas.microsoft.com/office/drawing/2014/main" id="{9386B129-E011-2146-BF4F-911B575E5BA7}"/>
              </a:ext>
            </a:extLst>
          </p:cNvPr>
          <p:cNvGrpSpPr/>
          <p:nvPr/>
        </p:nvGrpSpPr>
        <p:grpSpPr>
          <a:xfrm>
            <a:off x="533400" y="1181100"/>
            <a:ext cx="1054802" cy="1770673"/>
            <a:chOff x="533400" y="1181100"/>
            <a:chExt cx="1054802" cy="1770673"/>
          </a:xfrm>
        </p:grpSpPr>
        <p:sp>
          <p:nvSpPr>
            <p:cNvPr id="6" name="Rounded Rectangle 5">
              <a:extLst>
                <a:ext uri="{FF2B5EF4-FFF2-40B4-BE49-F238E27FC236}">
                  <a16:creationId xmlns:a16="http://schemas.microsoft.com/office/drawing/2014/main" id="{BA3D02D1-4923-A542-BEAE-44BFD4F70D2A}"/>
                </a:ext>
              </a:extLst>
            </p:cNvPr>
            <p:cNvSpPr/>
            <p:nvPr/>
          </p:nvSpPr>
          <p:spPr>
            <a:xfrm>
              <a:off x="533676" y="1181100"/>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8" name="Rounded Rectangle 7">
              <a:extLst>
                <a:ext uri="{FF2B5EF4-FFF2-40B4-BE49-F238E27FC236}">
                  <a16:creationId xmlns:a16="http://schemas.microsoft.com/office/drawing/2014/main" id="{9A08B64C-8C76-3E45-803D-F7FEB1B5BD06}"/>
                </a:ext>
              </a:extLst>
            </p:cNvPr>
            <p:cNvSpPr/>
            <p:nvPr/>
          </p:nvSpPr>
          <p:spPr>
            <a:xfrm>
              <a:off x="978602" y="185585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0" name="Rounded Rectangle 9">
              <a:extLst>
                <a:ext uri="{FF2B5EF4-FFF2-40B4-BE49-F238E27FC236}">
                  <a16:creationId xmlns:a16="http://schemas.microsoft.com/office/drawing/2014/main" id="{765D0D18-EBED-4844-A675-BBB03AFF9CEE}"/>
                </a:ext>
              </a:extLst>
            </p:cNvPr>
            <p:cNvSpPr/>
            <p:nvPr/>
          </p:nvSpPr>
          <p:spPr>
            <a:xfrm>
              <a:off x="533400" y="2509099"/>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1" name="Curved Connector 10">
              <a:extLst>
                <a:ext uri="{FF2B5EF4-FFF2-40B4-BE49-F238E27FC236}">
                  <a16:creationId xmlns:a16="http://schemas.microsoft.com/office/drawing/2014/main" id="{4F94620D-091F-7E4D-8C1D-80945B5B150B}"/>
                </a:ext>
              </a:extLst>
            </p:cNvPr>
            <p:cNvCxnSpPr>
              <a:cxnSpLocks/>
              <a:stCxn id="6" idx="2"/>
              <a:endCxn id="8" idx="0"/>
            </p:cNvCxnSpPr>
            <p:nvPr/>
          </p:nvCxnSpPr>
          <p:spPr>
            <a:xfrm rot="16200000" flipH="1">
              <a:off x="944901" y="1517349"/>
              <a:ext cx="232076" cy="444926"/>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FB36C7C4-3F32-934D-9C31-D16C3D3A3CF8}"/>
                </a:ext>
              </a:extLst>
            </p:cNvPr>
            <p:cNvCxnSpPr>
              <a:cxnSpLocks/>
              <a:stCxn id="8" idx="2"/>
              <a:endCxn id="10" idx="0"/>
            </p:cNvCxnSpPr>
            <p:nvPr/>
          </p:nvCxnSpPr>
          <p:spPr>
            <a:xfrm rot="5400000">
              <a:off x="955514" y="2181210"/>
              <a:ext cx="210575" cy="445202"/>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a:extLst>
                <a:ext uri="{FF2B5EF4-FFF2-40B4-BE49-F238E27FC236}">
                  <a16:creationId xmlns:a16="http://schemas.microsoft.com/office/drawing/2014/main" id="{00CF963C-40DA-C846-AE58-F943F84AC37B}"/>
                </a:ext>
              </a:extLst>
            </p:cNvPr>
            <p:cNvCxnSpPr>
              <a:cxnSpLocks/>
              <a:stCxn id="6" idx="2"/>
              <a:endCxn id="10" idx="0"/>
            </p:cNvCxnSpPr>
            <p:nvPr/>
          </p:nvCxnSpPr>
          <p:spPr>
            <a:xfrm flipH="1">
              <a:off x="838200" y="1623774"/>
              <a:ext cx="276" cy="88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499DE975-EAA6-D24E-8454-C1AC7665D9EE}"/>
              </a:ext>
            </a:extLst>
          </p:cNvPr>
          <p:cNvGrpSpPr/>
          <p:nvPr/>
        </p:nvGrpSpPr>
        <p:grpSpPr>
          <a:xfrm>
            <a:off x="1552093" y="3007872"/>
            <a:ext cx="1054802" cy="1770673"/>
            <a:chOff x="2407328" y="1181099"/>
            <a:chExt cx="1054802" cy="1770673"/>
          </a:xfrm>
        </p:grpSpPr>
        <p:sp>
          <p:nvSpPr>
            <p:cNvPr id="52" name="Rounded Rectangle 51">
              <a:extLst>
                <a:ext uri="{FF2B5EF4-FFF2-40B4-BE49-F238E27FC236}">
                  <a16:creationId xmlns:a16="http://schemas.microsoft.com/office/drawing/2014/main" id="{DEB9C37A-5EEE-6E43-8D27-CACA9E8496CE}"/>
                </a:ext>
              </a:extLst>
            </p:cNvPr>
            <p:cNvSpPr/>
            <p:nvPr/>
          </p:nvSpPr>
          <p:spPr>
            <a:xfrm>
              <a:off x="2407604" y="1181099"/>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53" name="Rounded Rectangle 52">
              <a:extLst>
                <a:ext uri="{FF2B5EF4-FFF2-40B4-BE49-F238E27FC236}">
                  <a16:creationId xmlns:a16="http://schemas.microsoft.com/office/drawing/2014/main" id="{83453DC4-547C-F648-BC9A-879635AD7C76}"/>
                </a:ext>
              </a:extLst>
            </p:cNvPr>
            <p:cNvSpPr/>
            <p:nvPr/>
          </p:nvSpPr>
          <p:spPr>
            <a:xfrm>
              <a:off x="2852530" y="1855849"/>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54" name="Rounded Rectangle 53">
              <a:extLst>
                <a:ext uri="{FF2B5EF4-FFF2-40B4-BE49-F238E27FC236}">
                  <a16:creationId xmlns:a16="http://schemas.microsoft.com/office/drawing/2014/main" id="{4A9E6A1F-8E78-9B48-88C3-77CECAED9C15}"/>
                </a:ext>
              </a:extLst>
            </p:cNvPr>
            <p:cNvSpPr/>
            <p:nvPr/>
          </p:nvSpPr>
          <p:spPr>
            <a:xfrm>
              <a:off x="2407328" y="2509098"/>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55" name="Curved Connector 54">
              <a:extLst>
                <a:ext uri="{FF2B5EF4-FFF2-40B4-BE49-F238E27FC236}">
                  <a16:creationId xmlns:a16="http://schemas.microsoft.com/office/drawing/2014/main" id="{E0B0E930-8972-984E-BBF1-E0E499C6F949}"/>
                </a:ext>
              </a:extLst>
            </p:cNvPr>
            <p:cNvCxnSpPr>
              <a:cxnSpLocks/>
              <a:stCxn id="52" idx="2"/>
              <a:endCxn id="53" idx="0"/>
            </p:cNvCxnSpPr>
            <p:nvPr/>
          </p:nvCxnSpPr>
          <p:spPr>
            <a:xfrm rot="16200000" flipH="1">
              <a:off x="2818829" y="1517348"/>
              <a:ext cx="232076" cy="444926"/>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urved Connector 55">
              <a:extLst>
                <a:ext uri="{FF2B5EF4-FFF2-40B4-BE49-F238E27FC236}">
                  <a16:creationId xmlns:a16="http://schemas.microsoft.com/office/drawing/2014/main" id="{1A47A7E6-4A21-2646-94EA-B5AF4DBA639F}"/>
                </a:ext>
              </a:extLst>
            </p:cNvPr>
            <p:cNvCxnSpPr>
              <a:cxnSpLocks/>
              <a:stCxn id="53" idx="3"/>
              <a:endCxn id="52" idx="3"/>
            </p:cNvCxnSpPr>
            <p:nvPr/>
          </p:nvCxnSpPr>
          <p:spPr>
            <a:xfrm flipH="1" flipV="1">
              <a:off x="3017204" y="1402436"/>
              <a:ext cx="444926" cy="674750"/>
            </a:xfrm>
            <a:prstGeom prst="curvedConnector3">
              <a:avLst>
                <a:gd name="adj1" fmla="val -5137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urved Connector 12">
              <a:extLst>
                <a:ext uri="{FF2B5EF4-FFF2-40B4-BE49-F238E27FC236}">
                  <a16:creationId xmlns:a16="http://schemas.microsoft.com/office/drawing/2014/main" id="{84F899D5-2503-804B-82A4-C86C336379FF}"/>
                </a:ext>
              </a:extLst>
            </p:cNvPr>
            <p:cNvCxnSpPr>
              <a:cxnSpLocks/>
              <a:stCxn id="52" idx="2"/>
              <a:endCxn id="54" idx="0"/>
            </p:cNvCxnSpPr>
            <p:nvPr/>
          </p:nvCxnSpPr>
          <p:spPr>
            <a:xfrm flipH="1">
              <a:off x="2712128" y="1623773"/>
              <a:ext cx="276" cy="88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9" name="Rectangle 58">
            <a:extLst>
              <a:ext uri="{FF2B5EF4-FFF2-40B4-BE49-F238E27FC236}">
                <a16:creationId xmlns:a16="http://schemas.microsoft.com/office/drawing/2014/main" id="{303E7406-CDDB-714B-9AC3-AAA66D53CA9C}"/>
              </a:ext>
            </a:extLst>
          </p:cNvPr>
          <p:cNvSpPr/>
          <p:nvPr/>
        </p:nvSpPr>
        <p:spPr>
          <a:xfrm>
            <a:off x="485561" y="3139389"/>
            <a:ext cx="705278" cy="400110"/>
          </a:xfrm>
          <a:prstGeom prst="rect">
            <a:avLst/>
          </a:prstGeom>
        </p:spPr>
        <p:txBody>
          <a:bodyPr wrap="square">
            <a:spAutoFit/>
          </a:bodyPr>
          <a:lstStyle/>
          <a:p>
            <a:pPr algn="ctr"/>
            <a:r>
              <a:rPr lang="en-US" sz="2000" b="1" dirty="0">
                <a:solidFill>
                  <a:srgbClr val="FF0000"/>
                </a:solidFill>
                <a:latin typeface="Consolas" panose="020B0609020204030204" pitchFamily="49" charset="0"/>
                <a:cs typeface="Consolas" panose="020B0609020204030204" pitchFamily="49" charset="0"/>
              </a:rPr>
              <a:t>if</a:t>
            </a:r>
            <a:endParaRPr lang="en-US" sz="2000" b="1" dirty="0">
              <a:latin typeface="Consolas" panose="020B0609020204030204" pitchFamily="49" charset="0"/>
              <a:cs typeface="Consolas" panose="020B0609020204030204" pitchFamily="49" charset="0"/>
            </a:endParaRPr>
          </a:p>
        </p:txBody>
      </p:sp>
      <p:sp>
        <p:nvSpPr>
          <p:cNvPr id="60" name="Rectangle 59">
            <a:extLst>
              <a:ext uri="{FF2B5EF4-FFF2-40B4-BE49-F238E27FC236}">
                <a16:creationId xmlns:a16="http://schemas.microsoft.com/office/drawing/2014/main" id="{EA3DBAD4-DC32-B443-ACDC-78254FE6219D}"/>
              </a:ext>
            </a:extLst>
          </p:cNvPr>
          <p:cNvSpPr/>
          <p:nvPr/>
        </p:nvSpPr>
        <p:spPr>
          <a:xfrm>
            <a:off x="1497025" y="4966162"/>
            <a:ext cx="1000540" cy="400110"/>
          </a:xfrm>
          <a:prstGeom prst="rect">
            <a:avLst/>
          </a:prstGeom>
        </p:spPr>
        <p:txBody>
          <a:bodyPr wrap="square">
            <a:spAutoFit/>
          </a:bodyPr>
          <a:lstStyle/>
          <a:p>
            <a:pPr algn="ctr"/>
            <a:r>
              <a:rPr lang="en-US" sz="2000" b="1" dirty="0">
                <a:solidFill>
                  <a:srgbClr val="FF0000"/>
                </a:solidFill>
                <a:latin typeface="Consolas" panose="020B0609020204030204" pitchFamily="49" charset="0"/>
                <a:cs typeface="Consolas" panose="020B0609020204030204" pitchFamily="49" charset="0"/>
              </a:rPr>
              <a:t>while</a:t>
            </a:r>
            <a:endParaRPr lang="en-US" sz="2000" b="1" dirty="0">
              <a:latin typeface="Consolas" panose="020B0609020204030204" pitchFamily="49" charset="0"/>
              <a:cs typeface="Consolas" panose="020B0609020204030204" pitchFamily="49" charset="0"/>
            </a:endParaRPr>
          </a:p>
        </p:txBody>
      </p:sp>
      <p:sp>
        <p:nvSpPr>
          <p:cNvPr id="72" name="Rectangle 71">
            <a:extLst>
              <a:ext uri="{FF2B5EF4-FFF2-40B4-BE49-F238E27FC236}">
                <a16:creationId xmlns:a16="http://schemas.microsoft.com/office/drawing/2014/main" id="{30DAF996-CBD1-9E45-80EA-BA1512DBB3AA}"/>
              </a:ext>
            </a:extLst>
          </p:cNvPr>
          <p:cNvSpPr/>
          <p:nvPr/>
        </p:nvSpPr>
        <p:spPr>
          <a:xfrm>
            <a:off x="3111424" y="3935761"/>
            <a:ext cx="2981884" cy="400110"/>
          </a:xfrm>
          <a:prstGeom prst="rect">
            <a:avLst/>
          </a:prstGeom>
        </p:spPr>
        <p:txBody>
          <a:bodyPr wrap="square">
            <a:spAutoFit/>
          </a:bodyPr>
          <a:lstStyle/>
          <a:p>
            <a:pPr algn="ctr"/>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else if</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else</a:t>
            </a:r>
            <a:endParaRPr lang="en-US" sz="2000" b="1" dirty="0">
              <a:latin typeface="Consolas" panose="020B0609020204030204" pitchFamily="49" charset="0"/>
              <a:cs typeface="Consolas" panose="020B0609020204030204" pitchFamily="49" charset="0"/>
            </a:endParaRPr>
          </a:p>
        </p:txBody>
      </p:sp>
      <p:grpSp>
        <p:nvGrpSpPr>
          <p:cNvPr id="118" name="Group 117">
            <a:extLst>
              <a:ext uri="{FF2B5EF4-FFF2-40B4-BE49-F238E27FC236}">
                <a16:creationId xmlns:a16="http://schemas.microsoft.com/office/drawing/2014/main" id="{5F6E02B6-178A-A94C-889E-242702D87A29}"/>
              </a:ext>
            </a:extLst>
          </p:cNvPr>
          <p:cNvGrpSpPr/>
          <p:nvPr/>
        </p:nvGrpSpPr>
        <p:grpSpPr>
          <a:xfrm>
            <a:off x="3599491" y="1031414"/>
            <a:ext cx="2178624" cy="2802711"/>
            <a:chOff x="6441916" y="1149099"/>
            <a:chExt cx="2178624" cy="2802711"/>
          </a:xfrm>
        </p:grpSpPr>
        <p:sp>
          <p:nvSpPr>
            <p:cNvPr id="64" name="Rounded Rectangle 63">
              <a:extLst>
                <a:ext uri="{FF2B5EF4-FFF2-40B4-BE49-F238E27FC236}">
                  <a16:creationId xmlns:a16="http://schemas.microsoft.com/office/drawing/2014/main" id="{FFD85EB5-5724-5146-B239-E53F59FA149D}"/>
                </a:ext>
              </a:extLst>
            </p:cNvPr>
            <p:cNvSpPr/>
            <p:nvPr/>
          </p:nvSpPr>
          <p:spPr>
            <a:xfrm>
              <a:off x="6441916" y="1149099"/>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65" name="Curved Connector 64">
              <a:extLst>
                <a:ext uri="{FF2B5EF4-FFF2-40B4-BE49-F238E27FC236}">
                  <a16:creationId xmlns:a16="http://schemas.microsoft.com/office/drawing/2014/main" id="{03251342-6AF0-CA4C-999D-49A2D0D9B62B}"/>
                </a:ext>
              </a:extLst>
            </p:cNvPr>
            <p:cNvCxnSpPr>
              <a:cxnSpLocks/>
              <a:stCxn id="64" idx="2"/>
              <a:endCxn id="67" idx="0"/>
            </p:cNvCxnSpPr>
            <p:nvPr/>
          </p:nvCxnSpPr>
          <p:spPr>
            <a:xfrm rot="16200000" flipH="1">
              <a:off x="7015529" y="1322959"/>
              <a:ext cx="248925" cy="786551"/>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Rounded Rectangle 65">
              <a:extLst>
                <a:ext uri="{FF2B5EF4-FFF2-40B4-BE49-F238E27FC236}">
                  <a16:creationId xmlns:a16="http://schemas.microsoft.com/office/drawing/2014/main" id="{ADB384B6-4A6B-314D-AC87-5DBF2E178DFE}"/>
                </a:ext>
              </a:extLst>
            </p:cNvPr>
            <p:cNvSpPr/>
            <p:nvPr/>
          </p:nvSpPr>
          <p:spPr>
            <a:xfrm>
              <a:off x="6441916" y="1855849"/>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67" name="Rounded Rectangle 66">
              <a:extLst>
                <a:ext uri="{FF2B5EF4-FFF2-40B4-BE49-F238E27FC236}">
                  <a16:creationId xmlns:a16="http://schemas.microsoft.com/office/drawing/2014/main" id="{5FC54138-F0C2-7545-A7C9-F577EBB3041E}"/>
                </a:ext>
              </a:extLst>
            </p:cNvPr>
            <p:cNvSpPr/>
            <p:nvPr/>
          </p:nvSpPr>
          <p:spPr>
            <a:xfrm>
              <a:off x="7228467" y="1840698"/>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68" name="Rounded Rectangle 67">
              <a:extLst>
                <a:ext uri="{FF2B5EF4-FFF2-40B4-BE49-F238E27FC236}">
                  <a16:creationId xmlns:a16="http://schemas.microsoft.com/office/drawing/2014/main" id="{08F2D317-0DA7-FA41-B043-7DAC12D6D8E9}"/>
                </a:ext>
              </a:extLst>
            </p:cNvPr>
            <p:cNvSpPr/>
            <p:nvPr/>
          </p:nvSpPr>
          <p:spPr>
            <a:xfrm>
              <a:off x="6835191" y="3509136"/>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69" name="Curved Connector 68">
              <a:extLst>
                <a:ext uri="{FF2B5EF4-FFF2-40B4-BE49-F238E27FC236}">
                  <a16:creationId xmlns:a16="http://schemas.microsoft.com/office/drawing/2014/main" id="{65C0541B-0E8B-4E45-ACD9-6A4AFD3BC61A}"/>
                </a:ext>
              </a:extLst>
            </p:cNvPr>
            <p:cNvCxnSpPr>
              <a:cxnSpLocks/>
              <a:stCxn id="64" idx="2"/>
              <a:endCxn id="66" idx="0"/>
            </p:cNvCxnSpPr>
            <p:nvPr/>
          </p:nvCxnSpPr>
          <p:spPr>
            <a:xfrm rot="5400000">
              <a:off x="6614678" y="1723811"/>
              <a:ext cx="264076" cy="12700"/>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a:extLst>
                <a:ext uri="{FF2B5EF4-FFF2-40B4-BE49-F238E27FC236}">
                  <a16:creationId xmlns:a16="http://schemas.microsoft.com/office/drawing/2014/main" id="{B678945B-5ECF-9346-AFD2-FDD2B98CF9D0}"/>
                </a:ext>
              </a:extLst>
            </p:cNvPr>
            <p:cNvCxnSpPr>
              <a:cxnSpLocks/>
              <a:stCxn id="66" idx="2"/>
              <a:endCxn id="68" idx="0"/>
            </p:cNvCxnSpPr>
            <p:nvPr/>
          </p:nvCxnSpPr>
          <p:spPr>
            <a:xfrm rot="16200000" flipH="1">
              <a:off x="6338047" y="2707191"/>
              <a:ext cx="1210613" cy="393275"/>
            </a:xfrm>
            <a:prstGeom prst="curvedConnector3">
              <a:avLst>
                <a:gd name="adj1" fmla="val 4917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urved Connector 86">
              <a:extLst>
                <a:ext uri="{FF2B5EF4-FFF2-40B4-BE49-F238E27FC236}">
                  <a16:creationId xmlns:a16="http://schemas.microsoft.com/office/drawing/2014/main" id="{50940FF2-7132-3649-A06E-ADC80FE7E840}"/>
                </a:ext>
              </a:extLst>
            </p:cNvPr>
            <p:cNvCxnSpPr>
              <a:cxnSpLocks/>
              <a:stCxn id="67" idx="2"/>
              <a:endCxn id="90" idx="0"/>
            </p:cNvCxnSpPr>
            <p:nvPr/>
          </p:nvCxnSpPr>
          <p:spPr>
            <a:xfrm rot="16200000" flipH="1">
              <a:off x="7791641" y="2024997"/>
              <a:ext cx="265725" cy="782473"/>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urved Connector 87">
              <a:extLst>
                <a:ext uri="{FF2B5EF4-FFF2-40B4-BE49-F238E27FC236}">
                  <a16:creationId xmlns:a16="http://schemas.microsoft.com/office/drawing/2014/main" id="{7C0C6494-1D5D-D447-AAAE-68261C9125B7}"/>
                </a:ext>
              </a:extLst>
            </p:cNvPr>
            <p:cNvCxnSpPr>
              <a:cxnSpLocks/>
              <a:stCxn id="67" idx="2"/>
              <a:endCxn id="89" idx="0"/>
            </p:cNvCxnSpPr>
            <p:nvPr/>
          </p:nvCxnSpPr>
          <p:spPr>
            <a:xfrm rot="5400000">
              <a:off x="7390790" y="2421771"/>
              <a:ext cx="280876" cy="4078"/>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9" name="Rounded Rectangle 88">
              <a:extLst>
                <a:ext uri="{FF2B5EF4-FFF2-40B4-BE49-F238E27FC236}">
                  <a16:creationId xmlns:a16="http://schemas.microsoft.com/office/drawing/2014/main" id="{E69603AB-DFA4-284C-ADC5-F718587A9831}"/>
                </a:ext>
              </a:extLst>
            </p:cNvPr>
            <p:cNvSpPr/>
            <p:nvPr/>
          </p:nvSpPr>
          <p:spPr>
            <a:xfrm>
              <a:off x="7224389" y="2564248"/>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90" name="Rounded Rectangle 89">
              <a:extLst>
                <a:ext uri="{FF2B5EF4-FFF2-40B4-BE49-F238E27FC236}">
                  <a16:creationId xmlns:a16="http://schemas.microsoft.com/office/drawing/2014/main" id="{0486B91E-C193-D641-ABD5-1A8C7D958926}"/>
                </a:ext>
              </a:extLst>
            </p:cNvPr>
            <p:cNvSpPr/>
            <p:nvPr/>
          </p:nvSpPr>
          <p:spPr>
            <a:xfrm>
              <a:off x="8010940" y="2549097"/>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91" name="Curved Connector 90">
              <a:extLst>
                <a:ext uri="{FF2B5EF4-FFF2-40B4-BE49-F238E27FC236}">
                  <a16:creationId xmlns:a16="http://schemas.microsoft.com/office/drawing/2014/main" id="{1A94307B-24BA-FE4F-9F90-C525C46DCFD1}"/>
                </a:ext>
              </a:extLst>
            </p:cNvPr>
            <p:cNvCxnSpPr>
              <a:cxnSpLocks/>
              <a:stCxn id="89" idx="2"/>
              <a:endCxn id="68" idx="0"/>
            </p:cNvCxnSpPr>
            <p:nvPr/>
          </p:nvCxnSpPr>
          <p:spPr>
            <a:xfrm rot="5400000">
              <a:off x="7083483" y="3063430"/>
              <a:ext cx="502214" cy="38919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urved Connector 93">
              <a:extLst>
                <a:ext uri="{FF2B5EF4-FFF2-40B4-BE49-F238E27FC236}">
                  <a16:creationId xmlns:a16="http://schemas.microsoft.com/office/drawing/2014/main" id="{F0C08D73-A23A-0142-9F67-B0EB34C02247}"/>
                </a:ext>
              </a:extLst>
            </p:cNvPr>
            <p:cNvCxnSpPr>
              <a:cxnSpLocks/>
              <a:stCxn id="90" idx="2"/>
              <a:endCxn id="68" idx="0"/>
            </p:cNvCxnSpPr>
            <p:nvPr/>
          </p:nvCxnSpPr>
          <p:spPr>
            <a:xfrm rot="5400000">
              <a:off x="7469184" y="2662579"/>
              <a:ext cx="517365" cy="1175749"/>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58A4E401-BB82-EC4F-8E21-9579A8C5CECA}"/>
              </a:ext>
            </a:extLst>
          </p:cNvPr>
          <p:cNvGrpSpPr/>
          <p:nvPr/>
        </p:nvGrpSpPr>
        <p:grpSpPr>
          <a:xfrm>
            <a:off x="2417288" y="1406826"/>
            <a:ext cx="609600" cy="449024"/>
            <a:chOff x="4222329" y="3703320"/>
            <a:chExt cx="609600" cy="449024"/>
          </a:xfrm>
        </p:grpSpPr>
        <p:sp>
          <p:nvSpPr>
            <p:cNvPr id="112" name="Rounded Rectangle 111">
              <a:extLst>
                <a:ext uri="{FF2B5EF4-FFF2-40B4-BE49-F238E27FC236}">
                  <a16:creationId xmlns:a16="http://schemas.microsoft.com/office/drawing/2014/main" id="{B2A6E00E-9A09-8D4D-A083-D3875A09BE2B}"/>
                </a:ext>
              </a:extLst>
            </p:cNvPr>
            <p:cNvSpPr/>
            <p:nvPr/>
          </p:nvSpPr>
          <p:spPr>
            <a:xfrm>
              <a:off x="4222329" y="370332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13" name="Curved Connector 112">
              <a:extLst>
                <a:ext uri="{FF2B5EF4-FFF2-40B4-BE49-F238E27FC236}">
                  <a16:creationId xmlns:a16="http://schemas.microsoft.com/office/drawing/2014/main" id="{EA54A2C2-DB0F-2247-BC8B-659D4FF870E7}"/>
                </a:ext>
              </a:extLst>
            </p:cNvPr>
            <p:cNvCxnSpPr>
              <a:cxnSpLocks/>
            </p:cNvCxnSpPr>
            <p:nvPr/>
          </p:nvCxnSpPr>
          <p:spPr>
            <a:xfrm rot="5400000" flipH="1">
              <a:off x="4305792" y="3924657"/>
              <a:ext cx="442674" cy="12700"/>
            </a:xfrm>
            <a:prstGeom prst="curvedConnector5">
              <a:avLst>
                <a:gd name="adj1" fmla="val -51641"/>
                <a:gd name="adj2" fmla="val 4200000"/>
                <a:gd name="adj3" fmla="val 15164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4" name="Rectangle 113">
            <a:extLst>
              <a:ext uri="{FF2B5EF4-FFF2-40B4-BE49-F238E27FC236}">
                <a16:creationId xmlns:a16="http://schemas.microsoft.com/office/drawing/2014/main" id="{DD5EF631-E958-BC47-8615-EEB8A5A12928}"/>
              </a:ext>
            </a:extLst>
          </p:cNvPr>
          <p:cNvSpPr/>
          <p:nvPr/>
        </p:nvSpPr>
        <p:spPr>
          <a:xfrm>
            <a:off x="1762560" y="2117080"/>
            <a:ext cx="1804958" cy="400110"/>
          </a:xfrm>
          <a:prstGeom prst="rect">
            <a:avLst/>
          </a:prstGeom>
        </p:spPr>
        <p:txBody>
          <a:bodyPr wrap="square">
            <a:spAutoFit/>
          </a:bodyPr>
          <a:lstStyle/>
          <a:p>
            <a:pPr algn="ctr"/>
            <a:r>
              <a:rPr lang="en-US" sz="2000" b="1" dirty="0">
                <a:solidFill>
                  <a:srgbClr val="FF0000"/>
                </a:solidFill>
                <a:latin typeface="Consolas" panose="020B0609020204030204" pitchFamily="49" charset="0"/>
                <a:cs typeface="Consolas" panose="020B0609020204030204" pitchFamily="49" charset="0"/>
              </a:rPr>
              <a:t>while true</a:t>
            </a:r>
            <a:endParaRPr lang="en-US" sz="2000" b="1" dirty="0">
              <a:latin typeface="Consolas" panose="020B0609020204030204" pitchFamily="49" charset="0"/>
              <a:cs typeface="Consolas" panose="020B0609020204030204" pitchFamily="49" charset="0"/>
            </a:endParaRPr>
          </a:p>
        </p:txBody>
      </p:sp>
      <p:grpSp>
        <p:nvGrpSpPr>
          <p:cNvPr id="159" name="Group 158">
            <a:extLst>
              <a:ext uri="{FF2B5EF4-FFF2-40B4-BE49-F238E27FC236}">
                <a16:creationId xmlns:a16="http://schemas.microsoft.com/office/drawing/2014/main" id="{618CE530-BE35-3545-A166-EC94EBBF8AEC}"/>
              </a:ext>
            </a:extLst>
          </p:cNvPr>
          <p:cNvGrpSpPr/>
          <p:nvPr/>
        </p:nvGrpSpPr>
        <p:grpSpPr>
          <a:xfrm>
            <a:off x="7024181" y="1181100"/>
            <a:ext cx="622300" cy="3369073"/>
            <a:chOff x="7024181" y="1181100"/>
            <a:chExt cx="622300" cy="3369073"/>
          </a:xfrm>
        </p:grpSpPr>
        <p:sp>
          <p:nvSpPr>
            <p:cNvPr id="124" name="Rounded Rectangle 123">
              <a:extLst>
                <a:ext uri="{FF2B5EF4-FFF2-40B4-BE49-F238E27FC236}">
                  <a16:creationId xmlns:a16="http://schemas.microsoft.com/office/drawing/2014/main" id="{DF1C4BA2-E290-F04F-92C7-324B916753A6}"/>
                </a:ext>
              </a:extLst>
            </p:cNvPr>
            <p:cNvSpPr/>
            <p:nvPr/>
          </p:nvSpPr>
          <p:spPr>
            <a:xfrm>
              <a:off x="7024181" y="1930870"/>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25" name="Curved Connector 124">
              <a:extLst>
                <a:ext uri="{FF2B5EF4-FFF2-40B4-BE49-F238E27FC236}">
                  <a16:creationId xmlns:a16="http://schemas.microsoft.com/office/drawing/2014/main" id="{40039B4D-E488-FB48-8080-FECBA1011255}"/>
                </a:ext>
              </a:extLst>
            </p:cNvPr>
            <p:cNvCxnSpPr>
              <a:cxnSpLocks/>
              <a:stCxn id="124" idx="3"/>
              <a:endCxn id="134" idx="3"/>
            </p:cNvCxnSpPr>
            <p:nvPr/>
          </p:nvCxnSpPr>
          <p:spPr>
            <a:xfrm>
              <a:off x="7633781" y="2152207"/>
              <a:ext cx="12700" cy="2176629"/>
            </a:xfrm>
            <a:prstGeom prst="curvedConnector3">
              <a:avLst>
                <a:gd name="adj1" fmla="val 354315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6" name="Rounded Rectangle 125">
              <a:extLst>
                <a:ext uri="{FF2B5EF4-FFF2-40B4-BE49-F238E27FC236}">
                  <a16:creationId xmlns:a16="http://schemas.microsoft.com/office/drawing/2014/main" id="{4D59D821-CDE6-E74F-B4D3-7F1338A893C0}"/>
                </a:ext>
              </a:extLst>
            </p:cNvPr>
            <p:cNvSpPr/>
            <p:nvPr/>
          </p:nvSpPr>
          <p:spPr>
            <a:xfrm>
              <a:off x="7024181" y="263762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29" name="Curved Connector 128">
              <a:extLst>
                <a:ext uri="{FF2B5EF4-FFF2-40B4-BE49-F238E27FC236}">
                  <a16:creationId xmlns:a16="http://schemas.microsoft.com/office/drawing/2014/main" id="{BD1F11BF-7E7C-7C44-9859-B8414589E99B}"/>
                </a:ext>
              </a:extLst>
            </p:cNvPr>
            <p:cNvCxnSpPr>
              <a:cxnSpLocks/>
              <a:stCxn id="124" idx="2"/>
              <a:endCxn id="126" idx="0"/>
            </p:cNvCxnSpPr>
            <p:nvPr/>
          </p:nvCxnSpPr>
          <p:spPr>
            <a:xfrm>
              <a:off x="7328981" y="2373544"/>
              <a:ext cx="0" cy="26407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4" name="Rounded Rectangle 133">
              <a:extLst>
                <a:ext uri="{FF2B5EF4-FFF2-40B4-BE49-F238E27FC236}">
                  <a16:creationId xmlns:a16="http://schemas.microsoft.com/office/drawing/2014/main" id="{947AF0B7-020D-524E-BAB5-538EDA45444D}"/>
                </a:ext>
              </a:extLst>
            </p:cNvPr>
            <p:cNvSpPr/>
            <p:nvPr/>
          </p:nvSpPr>
          <p:spPr>
            <a:xfrm>
              <a:off x="7024181" y="4107499"/>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37" name="Rounded Rectangle 136">
              <a:extLst>
                <a:ext uri="{FF2B5EF4-FFF2-40B4-BE49-F238E27FC236}">
                  <a16:creationId xmlns:a16="http://schemas.microsoft.com/office/drawing/2014/main" id="{F2B91D4E-43F6-3449-8693-164AE8B8E678}"/>
                </a:ext>
              </a:extLst>
            </p:cNvPr>
            <p:cNvSpPr/>
            <p:nvPr/>
          </p:nvSpPr>
          <p:spPr>
            <a:xfrm>
              <a:off x="7024181" y="118110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41" name="Curved Connector 12">
              <a:extLst>
                <a:ext uri="{FF2B5EF4-FFF2-40B4-BE49-F238E27FC236}">
                  <a16:creationId xmlns:a16="http://schemas.microsoft.com/office/drawing/2014/main" id="{74451371-E405-7B47-ABF6-6CDABEFBC16F}"/>
                </a:ext>
              </a:extLst>
            </p:cNvPr>
            <p:cNvCxnSpPr>
              <a:cxnSpLocks/>
              <a:stCxn id="137" idx="2"/>
              <a:endCxn id="124" idx="0"/>
            </p:cNvCxnSpPr>
            <p:nvPr/>
          </p:nvCxnSpPr>
          <p:spPr>
            <a:xfrm>
              <a:off x="7328981" y="1623774"/>
              <a:ext cx="0" cy="3070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Rounded Rectangle 150">
              <a:extLst>
                <a:ext uri="{FF2B5EF4-FFF2-40B4-BE49-F238E27FC236}">
                  <a16:creationId xmlns:a16="http://schemas.microsoft.com/office/drawing/2014/main" id="{B7D85839-CB1B-1B47-BFC8-1480CE8566C4}"/>
                </a:ext>
              </a:extLst>
            </p:cNvPr>
            <p:cNvSpPr/>
            <p:nvPr/>
          </p:nvSpPr>
          <p:spPr>
            <a:xfrm>
              <a:off x="7024181" y="3345247"/>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52" name="Curved Connector 12">
              <a:extLst>
                <a:ext uri="{FF2B5EF4-FFF2-40B4-BE49-F238E27FC236}">
                  <a16:creationId xmlns:a16="http://schemas.microsoft.com/office/drawing/2014/main" id="{B85F639E-3893-4648-ACBF-CBA32C580559}"/>
                </a:ext>
              </a:extLst>
            </p:cNvPr>
            <p:cNvCxnSpPr>
              <a:cxnSpLocks/>
              <a:stCxn id="126" idx="2"/>
              <a:endCxn id="151" idx="0"/>
            </p:cNvCxnSpPr>
            <p:nvPr/>
          </p:nvCxnSpPr>
          <p:spPr>
            <a:xfrm>
              <a:off x="7328981" y="3080294"/>
              <a:ext cx="0" cy="264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Curved Connector 154">
              <a:extLst>
                <a:ext uri="{FF2B5EF4-FFF2-40B4-BE49-F238E27FC236}">
                  <a16:creationId xmlns:a16="http://schemas.microsoft.com/office/drawing/2014/main" id="{AE179F7C-AC81-464B-960D-C1C24C80ED1A}"/>
                </a:ext>
              </a:extLst>
            </p:cNvPr>
            <p:cNvCxnSpPr>
              <a:cxnSpLocks/>
              <a:stCxn id="151" idx="1"/>
              <a:endCxn id="124" idx="1"/>
            </p:cNvCxnSpPr>
            <p:nvPr/>
          </p:nvCxnSpPr>
          <p:spPr>
            <a:xfrm rot="10800000">
              <a:off x="7024181" y="2152208"/>
              <a:ext cx="12700" cy="1414377"/>
            </a:xfrm>
            <a:prstGeom prst="curvedConnector3">
              <a:avLst>
                <a:gd name="adj1" fmla="val 414947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60" name="Rectangle 159">
            <a:extLst>
              <a:ext uri="{FF2B5EF4-FFF2-40B4-BE49-F238E27FC236}">
                <a16:creationId xmlns:a16="http://schemas.microsoft.com/office/drawing/2014/main" id="{FE09F974-AF9F-0A4D-9B8B-3C9D6E7FB597}"/>
              </a:ext>
            </a:extLst>
          </p:cNvPr>
          <p:cNvSpPr/>
          <p:nvPr/>
        </p:nvSpPr>
        <p:spPr>
          <a:xfrm>
            <a:off x="5586019" y="4658386"/>
            <a:ext cx="3485923" cy="400110"/>
          </a:xfrm>
          <a:prstGeom prst="rect">
            <a:avLst/>
          </a:prstGeom>
        </p:spPr>
        <p:txBody>
          <a:bodyPr wrap="square">
            <a:spAutoFit/>
          </a:bodyPr>
          <a:lstStyle/>
          <a:p>
            <a:pPr algn="ctr"/>
            <a:r>
              <a:rPr lang="en-US" sz="2000" b="1" dirty="0">
                <a:solidFill>
                  <a:srgbClr val="FF0000"/>
                </a:solidFill>
                <a:latin typeface="Consolas" panose="020B0609020204030204" pitchFamily="49" charset="0"/>
                <a:cs typeface="Consolas" panose="020B0609020204030204" pitchFamily="49" charset="0"/>
              </a:rPr>
              <a:t>for</a:t>
            </a:r>
            <a:r>
              <a:rPr lang="en-US" sz="2000" b="1" dirty="0">
                <a:latin typeface="Consolas" panose="020B0609020204030204" pitchFamily="49" charset="0"/>
                <a:cs typeface="Consolas" panose="020B0609020204030204" pitchFamily="49" charset="0"/>
              </a:rPr>
              <a:t>(i=a; i&lt;b; i++){…}</a:t>
            </a:r>
          </a:p>
        </p:txBody>
      </p:sp>
    </p:spTree>
    <p:extLst>
      <p:ext uri="{BB962C8B-B14F-4D97-AF65-F5344CB8AC3E}">
        <p14:creationId xmlns:p14="http://schemas.microsoft.com/office/powerpoint/2010/main" val="3141316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72" grpId="0"/>
      <p:bldP spid="114" grpId="0"/>
      <p:bldP spid="16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7A154-64DA-A649-AB1A-8A064CF5B3CF}"/>
              </a:ext>
            </a:extLst>
          </p:cNvPr>
          <p:cNvSpPr>
            <a:spLocks noGrp="1"/>
          </p:cNvSpPr>
          <p:nvPr>
            <p:ph type="ctrTitle"/>
          </p:nvPr>
        </p:nvSpPr>
        <p:spPr/>
        <p:txBody>
          <a:bodyPr/>
          <a:lstStyle/>
          <a:p>
            <a:r>
              <a:rPr lang="en-US" dirty="0"/>
              <a:t>Some graph-related stuff</a:t>
            </a:r>
          </a:p>
        </p:txBody>
      </p:sp>
      <p:sp>
        <p:nvSpPr>
          <p:cNvPr id="3" name="Slide Number Placeholder 2">
            <a:extLst>
              <a:ext uri="{FF2B5EF4-FFF2-40B4-BE49-F238E27FC236}">
                <a16:creationId xmlns:a16="http://schemas.microsoft.com/office/drawing/2014/main" id="{EE614D98-F94F-974C-9079-E12DAB5D223A}"/>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45283890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5E9C2-4932-044B-84F3-FEE69FC6DE73}"/>
              </a:ext>
            </a:extLst>
          </p:cNvPr>
          <p:cNvSpPr>
            <a:spLocks noGrp="1"/>
          </p:cNvSpPr>
          <p:nvPr>
            <p:ph type="title"/>
          </p:nvPr>
        </p:nvSpPr>
        <p:spPr/>
        <p:txBody>
          <a:bodyPr/>
          <a:lstStyle/>
          <a:p>
            <a:r>
              <a:rPr lang="en-US" dirty="0"/>
              <a:t>How they connect </a:t>
            </a:r>
            <a:r>
              <a:rPr lang="en-US" sz="2000" dirty="0"/>
              <a:t>(animated)</a:t>
            </a:r>
            <a:endParaRPr lang="en-US" dirty="0"/>
          </a:p>
        </p:txBody>
      </p:sp>
      <p:sp>
        <p:nvSpPr>
          <p:cNvPr id="3" name="Content Placeholder 2">
            <a:extLst>
              <a:ext uri="{FF2B5EF4-FFF2-40B4-BE49-F238E27FC236}">
                <a16:creationId xmlns:a16="http://schemas.microsoft.com/office/drawing/2014/main" id="{EBBE2668-96F6-3E4E-8613-E58AB4B2B76A}"/>
              </a:ext>
            </a:extLst>
          </p:cNvPr>
          <p:cNvSpPr>
            <a:spLocks noGrp="1"/>
          </p:cNvSpPr>
          <p:nvPr>
            <p:ph idx="1"/>
          </p:nvPr>
        </p:nvSpPr>
        <p:spPr>
          <a:xfrm>
            <a:off x="152400" y="495302"/>
            <a:ext cx="8991600" cy="495300"/>
          </a:xfrm>
        </p:spPr>
        <p:txBody>
          <a:bodyPr/>
          <a:lstStyle/>
          <a:p>
            <a:r>
              <a:rPr lang="en-US" dirty="0"/>
              <a:t>graphs always have all sorts of vocabulary, huh?</a:t>
            </a:r>
          </a:p>
        </p:txBody>
      </p:sp>
      <p:sp>
        <p:nvSpPr>
          <p:cNvPr id="4" name="Slide Number Placeholder 3">
            <a:extLst>
              <a:ext uri="{FF2B5EF4-FFF2-40B4-BE49-F238E27FC236}">
                <a16:creationId xmlns:a16="http://schemas.microsoft.com/office/drawing/2014/main" id="{D91268D3-6FB5-AA4C-BEA4-A550D1DD48F0}"/>
              </a:ext>
            </a:extLst>
          </p:cNvPr>
          <p:cNvSpPr>
            <a:spLocks noGrp="1"/>
          </p:cNvSpPr>
          <p:nvPr>
            <p:ph type="sldNum" sz="quarter" idx="12"/>
          </p:nvPr>
        </p:nvSpPr>
        <p:spPr/>
        <p:txBody>
          <a:bodyPr/>
          <a:lstStyle/>
          <a:p>
            <a:fld id="{3552B95B-556F-44BD-91A5-D80C1B9E2BB3}" type="slidenum">
              <a:rPr lang="en-US" smtClean="0"/>
              <a:pPr/>
              <a:t>31</a:t>
            </a:fld>
            <a:endParaRPr lang="en-US"/>
          </a:p>
        </p:txBody>
      </p:sp>
      <p:sp>
        <p:nvSpPr>
          <p:cNvPr id="5" name="Rounded Rectangle 4">
            <a:extLst>
              <a:ext uri="{FF2B5EF4-FFF2-40B4-BE49-F238E27FC236}">
                <a16:creationId xmlns:a16="http://schemas.microsoft.com/office/drawing/2014/main" id="{C230DDA6-FE72-BB4E-BEB0-FC9C246939A9}"/>
              </a:ext>
            </a:extLst>
          </p:cNvPr>
          <p:cNvSpPr/>
          <p:nvPr/>
        </p:nvSpPr>
        <p:spPr>
          <a:xfrm>
            <a:off x="4889136" y="2433473"/>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8" name="Rounded Rectangle 7">
            <a:extLst>
              <a:ext uri="{FF2B5EF4-FFF2-40B4-BE49-F238E27FC236}">
                <a16:creationId xmlns:a16="http://schemas.microsoft.com/office/drawing/2014/main" id="{457D9E99-3477-F644-8150-154C46EA4442}"/>
              </a:ext>
            </a:extLst>
          </p:cNvPr>
          <p:cNvSpPr/>
          <p:nvPr/>
        </p:nvSpPr>
        <p:spPr>
          <a:xfrm>
            <a:off x="4267200" y="1168915"/>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0" name="Rounded Rectangle 9">
            <a:extLst>
              <a:ext uri="{FF2B5EF4-FFF2-40B4-BE49-F238E27FC236}">
                <a16:creationId xmlns:a16="http://schemas.microsoft.com/office/drawing/2014/main" id="{7653BB17-22A1-E845-BC37-8FEB60C655E9}"/>
              </a:ext>
            </a:extLst>
          </p:cNvPr>
          <p:cNvSpPr/>
          <p:nvPr/>
        </p:nvSpPr>
        <p:spPr>
          <a:xfrm>
            <a:off x="5225729" y="1150258"/>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1" name="Rounded Rectangle 10">
            <a:extLst>
              <a:ext uri="{FF2B5EF4-FFF2-40B4-BE49-F238E27FC236}">
                <a16:creationId xmlns:a16="http://schemas.microsoft.com/office/drawing/2014/main" id="{29CD39E9-2CF3-CF4F-AE23-3C71798D8819}"/>
              </a:ext>
            </a:extLst>
          </p:cNvPr>
          <p:cNvSpPr/>
          <p:nvPr/>
        </p:nvSpPr>
        <p:spPr>
          <a:xfrm>
            <a:off x="6322214" y="1412146"/>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2" name="Straight Arrow Connector 11">
            <a:extLst>
              <a:ext uri="{FF2B5EF4-FFF2-40B4-BE49-F238E27FC236}">
                <a16:creationId xmlns:a16="http://schemas.microsoft.com/office/drawing/2014/main" id="{4D559C62-80FB-DD44-B839-A59E13926DD5}"/>
              </a:ext>
            </a:extLst>
          </p:cNvPr>
          <p:cNvCxnSpPr>
            <a:cxnSpLocks/>
          </p:cNvCxnSpPr>
          <p:nvPr/>
        </p:nvCxnSpPr>
        <p:spPr>
          <a:xfrm rot="16200000" flipH="1">
            <a:off x="4472026" y="1711563"/>
            <a:ext cx="821884" cy="621936"/>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C694965-C3F9-0E43-96C4-9CF550BDD47A}"/>
              </a:ext>
            </a:extLst>
          </p:cNvPr>
          <p:cNvCxnSpPr>
            <a:cxnSpLocks/>
          </p:cNvCxnSpPr>
          <p:nvPr/>
        </p:nvCxnSpPr>
        <p:spPr>
          <a:xfrm rot="5400000">
            <a:off x="5621149" y="1427607"/>
            <a:ext cx="578653" cy="143307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EBCD35A-86AD-5142-9A4D-9F5BC2024201}"/>
              </a:ext>
            </a:extLst>
          </p:cNvPr>
          <p:cNvSpPr txBox="1"/>
          <p:nvPr/>
        </p:nvSpPr>
        <p:spPr>
          <a:xfrm>
            <a:off x="384632" y="3095547"/>
            <a:ext cx="3604274" cy="769441"/>
          </a:xfrm>
          <a:prstGeom prst="rect">
            <a:avLst/>
          </a:prstGeom>
          <a:noFill/>
        </p:spPr>
        <p:txBody>
          <a:bodyPr wrap="square" rtlCol="0">
            <a:spAutoFit/>
          </a:bodyPr>
          <a:lstStyle/>
          <a:p>
            <a:pPr algn="ctr"/>
            <a:r>
              <a:rPr lang="en-US" sz="2200" dirty="0"/>
              <a:t>a BB's </a:t>
            </a:r>
            <a:r>
              <a:rPr lang="en-US" sz="2200" b="1" dirty="0"/>
              <a:t>successors </a:t>
            </a:r>
            <a:r>
              <a:rPr lang="en-US" sz="2200" dirty="0"/>
              <a:t>are the BBs which it </a:t>
            </a:r>
            <a:r>
              <a:rPr lang="en-US" sz="2200" b="1" dirty="0"/>
              <a:t>points to.</a:t>
            </a:r>
          </a:p>
        </p:txBody>
      </p:sp>
      <p:cxnSp>
        <p:nvCxnSpPr>
          <p:cNvPr id="27" name="Straight Arrow Connector 26">
            <a:extLst>
              <a:ext uri="{FF2B5EF4-FFF2-40B4-BE49-F238E27FC236}">
                <a16:creationId xmlns:a16="http://schemas.microsoft.com/office/drawing/2014/main" id="{516B3165-FA50-9540-9921-9A5D7F60CB86}"/>
              </a:ext>
            </a:extLst>
          </p:cNvPr>
          <p:cNvCxnSpPr>
            <a:cxnSpLocks/>
          </p:cNvCxnSpPr>
          <p:nvPr/>
        </p:nvCxnSpPr>
        <p:spPr>
          <a:xfrm>
            <a:off x="5193936" y="2876147"/>
            <a:ext cx="178900" cy="11219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81185F6-5AE4-664F-9340-29C5B053A265}"/>
              </a:ext>
            </a:extLst>
          </p:cNvPr>
          <p:cNvCxnSpPr>
            <a:cxnSpLocks/>
          </p:cNvCxnSpPr>
          <p:nvPr/>
        </p:nvCxnSpPr>
        <p:spPr>
          <a:xfrm flipH="1">
            <a:off x="4527129" y="2876147"/>
            <a:ext cx="666807" cy="82717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Rounded Rectangle 29">
            <a:extLst>
              <a:ext uri="{FF2B5EF4-FFF2-40B4-BE49-F238E27FC236}">
                <a16:creationId xmlns:a16="http://schemas.microsoft.com/office/drawing/2014/main" id="{C8AEBF13-1992-4A45-8665-E9876E7D7722}"/>
              </a:ext>
            </a:extLst>
          </p:cNvPr>
          <p:cNvSpPr/>
          <p:nvPr/>
        </p:nvSpPr>
        <p:spPr>
          <a:xfrm>
            <a:off x="4222329" y="370332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32" name="Rounded Rectangle 31">
            <a:extLst>
              <a:ext uri="{FF2B5EF4-FFF2-40B4-BE49-F238E27FC236}">
                <a16:creationId xmlns:a16="http://schemas.microsoft.com/office/drawing/2014/main" id="{D9A87D11-F5B4-1C4D-AD42-98A482F2AF5E}"/>
              </a:ext>
            </a:extLst>
          </p:cNvPr>
          <p:cNvSpPr/>
          <p:nvPr/>
        </p:nvSpPr>
        <p:spPr>
          <a:xfrm>
            <a:off x="5068036" y="3998118"/>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33" name="TextBox 32">
            <a:extLst>
              <a:ext uri="{FF2B5EF4-FFF2-40B4-BE49-F238E27FC236}">
                <a16:creationId xmlns:a16="http://schemas.microsoft.com/office/drawing/2014/main" id="{B1543F1A-FB12-AD47-B3A9-D82E219252DF}"/>
              </a:ext>
            </a:extLst>
          </p:cNvPr>
          <p:cNvSpPr txBox="1"/>
          <p:nvPr/>
        </p:nvSpPr>
        <p:spPr>
          <a:xfrm>
            <a:off x="284753" y="3998118"/>
            <a:ext cx="3639126" cy="1107996"/>
          </a:xfrm>
          <a:prstGeom prst="rect">
            <a:avLst/>
          </a:prstGeom>
          <a:noFill/>
        </p:spPr>
        <p:txBody>
          <a:bodyPr wrap="square" rtlCol="0">
            <a:spAutoFit/>
          </a:bodyPr>
          <a:lstStyle/>
          <a:p>
            <a:pPr algn="ctr"/>
            <a:r>
              <a:rPr lang="en-US" sz="2200" dirty="0"/>
              <a:t>a BB can be its own successor, in which case it is </a:t>
            </a:r>
            <a:r>
              <a:rPr lang="en-US" sz="2200" i="1" dirty="0"/>
              <a:t>also</a:t>
            </a:r>
            <a:r>
              <a:rPr lang="en-US" sz="2200" dirty="0"/>
              <a:t> its own predecessor!</a:t>
            </a:r>
          </a:p>
        </p:txBody>
      </p:sp>
      <p:cxnSp>
        <p:nvCxnSpPr>
          <p:cNvPr id="34" name="Curved Connector 33">
            <a:extLst>
              <a:ext uri="{FF2B5EF4-FFF2-40B4-BE49-F238E27FC236}">
                <a16:creationId xmlns:a16="http://schemas.microsoft.com/office/drawing/2014/main" id="{7EF90FAD-11B9-A34D-90DA-B37BCE31E7B5}"/>
              </a:ext>
            </a:extLst>
          </p:cNvPr>
          <p:cNvCxnSpPr>
            <a:cxnSpLocks/>
          </p:cNvCxnSpPr>
          <p:nvPr/>
        </p:nvCxnSpPr>
        <p:spPr>
          <a:xfrm rot="5400000" flipH="1">
            <a:off x="4305792" y="3924657"/>
            <a:ext cx="442674" cy="12700"/>
          </a:xfrm>
          <a:prstGeom prst="curvedConnector5">
            <a:avLst>
              <a:gd name="adj1" fmla="val -51641"/>
              <a:gd name="adj2" fmla="val 4200000"/>
              <a:gd name="adj3" fmla="val 15164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01EB384-A360-A443-86FE-8C402F83F798}"/>
              </a:ext>
            </a:extLst>
          </p:cNvPr>
          <p:cNvSpPr txBox="1"/>
          <p:nvPr/>
        </p:nvSpPr>
        <p:spPr>
          <a:xfrm>
            <a:off x="105352" y="1088994"/>
            <a:ext cx="3918406" cy="769441"/>
          </a:xfrm>
          <a:prstGeom prst="rect">
            <a:avLst/>
          </a:prstGeom>
          <a:noFill/>
        </p:spPr>
        <p:txBody>
          <a:bodyPr wrap="square" rtlCol="0">
            <a:spAutoFit/>
          </a:bodyPr>
          <a:lstStyle/>
          <a:p>
            <a:pPr algn="ctr"/>
            <a:r>
              <a:rPr lang="en-US" sz="2200" dirty="0"/>
              <a:t>a BB's </a:t>
            </a:r>
            <a:r>
              <a:rPr lang="en-US" sz="2200" b="1" dirty="0"/>
              <a:t>predecessors </a:t>
            </a:r>
            <a:r>
              <a:rPr lang="en-US" sz="2200" dirty="0"/>
              <a:t>are all the BBs that </a:t>
            </a:r>
            <a:r>
              <a:rPr lang="en-US" sz="2200" b="1" dirty="0"/>
              <a:t>point to it.</a:t>
            </a:r>
          </a:p>
        </p:txBody>
      </p:sp>
      <p:cxnSp>
        <p:nvCxnSpPr>
          <p:cNvPr id="13" name="Straight Arrow Connector 12">
            <a:extLst>
              <a:ext uri="{FF2B5EF4-FFF2-40B4-BE49-F238E27FC236}">
                <a16:creationId xmlns:a16="http://schemas.microsoft.com/office/drawing/2014/main" id="{FA1B9AE3-A3C4-E346-B9F2-A1E0F9CAC4D5}"/>
              </a:ext>
            </a:extLst>
          </p:cNvPr>
          <p:cNvCxnSpPr>
            <a:cxnSpLocks/>
          </p:cNvCxnSpPr>
          <p:nvPr/>
        </p:nvCxnSpPr>
        <p:spPr>
          <a:xfrm flipH="1">
            <a:off x="5193936" y="1592932"/>
            <a:ext cx="336593" cy="84054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716C2A82-763A-684F-BDFF-1AC04A3028E7}"/>
              </a:ext>
            </a:extLst>
          </p:cNvPr>
          <p:cNvSpPr txBox="1"/>
          <p:nvPr/>
        </p:nvSpPr>
        <p:spPr>
          <a:xfrm>
            <a:off x="5498736" y="3016351"/>
            <a:ext cx="3467801" cy="769441"/>
          </a:xfrm>
          <a:prstGeom prst="rect">
            <a:avLst/>
          </a:prstGeom>
          <a:noFill/>
        </p:spPr>
        <p:txBody>
          <a:bodyPr wrap="square" rtlCol="0">
            <a:spAutoFit/>
          </a:bodyPr>
          <a:lstStyle/>
          <a:p>
            <a:pPr algn="ctr"/>
            <a:r>
              <a:rPr lang="en-US" sz="2200" dirty="0"/>
              <a:t>a </a:t>
            </a:r>
            <a:r>
              <a:rPr lang="en-US" sz="2200" b="1" dirty="0"/>
              <a:t>back edge </a:t>
            </a:r>
            <a:r>
              <a:rPr lang="en-US" sz="2200" dirty="0"/>
              <a:t>is one that goes back to an earlier BB.</a:t>
            </a:r>
            <a:endParaRPr lang="en-US" sz="2200" i="1" dirty="0"/>
          </a:p>
        </p:txBody>
      </p:sp>
      <p:sp>
        <p:nvSpPr>
          <p:cNvPr id="65" name="TextBox 64">
            <a:extLst>
              <a:ext uri="{FF2B5EF4-FFF2-40B4-BE49-F238E27FC236}">
                <a16:creationId xmlns:a16="http://schemas.microsoft.com/office/drawing/2014/main" id="{38F1BBE3-2B1E-6E46-93A4-B86B7A75964F}"/>
              </a:ext>
            </a:extLst>
          </p:cNvPr>
          <p:cNvSpPr txBox="1"/>
          <p:nvPr/>
        </p:nvSpPr>
        <p:spPr>
          <a:xfrm>
            <a:off x="5671219" y="4393325"/>
            <a:ext cx="3454477" cy="1107996"/>
          </a:xfrm>
          <a:prstGeom prst="rect">
            <a:avLst/>
          </a:prstGeom>
          <a:noFill/>
        </p:spPr>
        <p:txBody>
          <a:bodyPr wrap="square" rtlCol="0">
            <a:spAutoFit/>
          </a:bodyPr>
          <a:lstStyle/>
          <a:p>
            <a:pPr algn="ctr"/>
            <a:r>
              <a:rPr lang="en-US" sz="2200" dirty="0"/>
              <a:t>remember: </a:t>
            </a:r>
            <a:r>
              <a:rPr lang="en-US" sz="2200" b="1" dirty="0">
                <a:solidFill>
                  <a:srgbClr val="FF0000"/>
                </a:solidFill>
              </a:rPr>
              <a:t>whenever you see cyclic graphs, </a:t>
            </a:r>
            <a:r>
              <a:rPr lang="en-US" sz="2200" b="1" i="1" dirty="0">
                <a:solidFill>
                  <a:srgbClr val="FF0000"/>
                </a:solidFill>
              </a:rPr>
              <a:t>things are </a:t>
            </a:r>
            <a:r>
              <a:rPr lang="en-US" sz="2200" b="1" i="1" dirty="0" err="1">
                <a:solidFill>
                  <a:srgbClr val="FF0000"/>
                </a:solidFill>
              </a:rPr>
              <a:t>gonna</a:t>
            </a:r>
            <a:r>
              <a:rPr lang="en-US" sz="2200" b="1" i="1" dirty="0">
                <a:solidFill>
                  <a:srgbClr val="FF0000"/>
                </a:solidFill>
              </a:rPr>
              <a:t> get weird.</a:t>
            </a:r>
            <a:endParaRPr lang="en-US" sz="2200" i="1" dirty="0"/>
          </a:p>
        </p:txBody>
      </p:sp>
    </p:spTree>
    <p:extLst>
      <p:ext uri="{BB962C8B-B14F-4D97-AF65-F5344CB8AC3E}">
        <p14:creationId xmlns:p14="http://schemas.microsoft.com/office/powerpoint/2010/main" val="16336095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50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grpId="0" nodeType="afterEffect">
                                  <p:stCondLst>
                                    <p:cond delay="50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1500"/>
                            </p:stCondLst>
                            <p:childTnLst>
                              <p:par>
                                <p:cTn id="27" presetID="1" presetClass="entr" presetSubtype="0"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500"/>
                                  </p:stCondLst>
                                  <p:childTnLst>
                                    <p:set>
                                      <p:cBhvr>
                                        <p:cTn id="35" dur="1" fill="hold">
                                          <p:stCondLst>
                                            <p:cond delay="0"/>
                                          </p:stCondLst>
                                        </p:cTn>
                                        <p:tgtEl>
                                          <p:spTgt spid="28"/>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nodeType="afterEffect">
                                  <p:stCondLst>
                                    <p:cond delay="500"/>
                                  </p:stCondLst>
                                  <p:childTnLst>
                                    <p:set>
                                      <p:cBhvr>
                                        <p:cTn id="41" dur="1" fill="hold">
                                          <p:stCondLst>
                                            <p:cond delay="0"/>
                                          </p:stCondLst>
                                        </p:cTn>
                                        <p:tgtEl>
                                          <p:spTgt spid="27"/>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grpId="0" nodeType="after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11" grpId="0" animBg="1"/>
      <p:bldP spid="25" grpId="0"/>
      <p:bldP spid="30" grpId="0" animBg="1"/>
      <p:bldP spid="32" grpId="0" animBg="1"/>
      <p:bldP spid="33" grpId="0"/>
      <p:bldP spid="40" grpId="0"/>
      <p:bldP spid="59" grpId="0"/>
      <p:bldP spid="6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8EA5B-D16F-6049-8153-C312B7167087}"/>
              </a:ext>
            </a:extLst>
          </p:cNvPr>
          <p:cNvSpPr>
            <a:spLocks noGrp="1"/>
          </p:cNvSpPr>
          <p:nvPr>
            <p:ph type="title"/>
          </p:nvPr>
        </p:nvSpPr>
        <p:spPr/>
        <p:txBody>
          <a:bodyPr/>
          <a:lstStyle/>
          <a:p>
            <a:r>
              <a:rPr lang="en-US" dirty="0"/>
              <a:t>Visiting arbitrary graphs</a:t>
            </a:r>
          </a:p>
        </p:txBody>
      </p:sp>
      <p:sp>
        <p:nvSpPr>
          <p:cNvPr id="3" name="Content Placeholder 2">
            <a:extLst>
              <a:ext uri="{FF2B5EF4-FFF2-40B4-BE49-F238E27FC236}">
                <a16:creationId xmlns:a16="http://schemas.microsoft.com/office/drawing/2014/main" id="{8947FA40-C0A4-2C46-A141-14B1527A948E}"/>
              </a:ext>
            </a:extLst>
          </p:cNvPr>
          <p:cNvSpPr>
            <a:spLocks noGrp="1"/>
          </p:cNvSpPr>
          <p:nvPr>
            <p:ph idx="1"/>
          </p:nvPr>
        </p:nvSpPr>
        <p:spPr>
          <a:xfrm>
            <a:off x="152400" y="495301"/>
            <a:ext cx="8991600" cy="838199"/>
          </a:xfrm>
        </p:spPr>
        <p:txBody>
          <a:bodyPr/>
          <a:lstStyle/>
          <a:p>
            <a:r>
              <a:rPr lang="en-US" dirty="0"/>
              <a:t>visiting a </a:t>
            </a:r>
            <a:r>
              <a:rPr lang="en-US" b="1" dirty="0"/>
              <a:t>tree</a:t>
            </a:r>
            <a:r>
              <a:rPr lang="en-US" dirty="0"/>
              <a:t> is easy: just recurse for each child node.</a:t>
            </a:r>
          </a:p>
          <a:p>
            <a:r>
              <a:rPr lang="en-US" dirty="0"/>
              <a:t>but doing that for an </a:t>
            </a:r>
            <a:r>
              <a:rPr lang="en-US" i="1" dirty="0"/>
              <a:t>arbitrary</a:t>
            </a:r>
            <a:r>
              <a:rPr lang="en-US" dirty="0"/>
              <a:t> graph will get you into trouble.</a:t>
            </a:r>
          </a:p>
        </p:txBody>
      </p:sp>
      <p:sp>
        <p:nvSpPr>
          <p:cNvPr id="4" name="Slide Number Placeholder 3">
            <a:extLst>
              <a:ext uri="{FF2B5EF4-FFF2-40B4-BE49-F238E27FC236}">
                <a16:creationId xmlns:a16="http://schemas.microsoft.com/office/drawing/2014/main" id="{3482112B-AE83-584A-9859-E6EAF6B2D82A}"/>
              </a:ext>
            </a:extLst>
          </p:cNvPr>
          <p:cNvSpPr>
            <a:spLocks noGrp="1"/>
          </p:cNvSpPr>
          <p:nvPr>
            <p:ph type="sldNum" sz="quarter" idx="12"/>
          </p:nvPr>
        </p:nvSpPr>
        <p:spPr/>
        <p:txBody>
          <a:bodyPr/>
          <a:lstStyle/>
          <a:p>
            <a:fld id="{3552B95B-556F-44BD-91A5-D80C1B9E2BB3}" type="slidenum">
              <a:rPr lang="en-US" smtClean="0"/>
              <a:pPr/>
              <a:t>32</a:t>
            </a:fld>
            <a:endParaRPr lang="en-US"/>
          </a:p>
        </p:txBody>
      </p:sp>
      <p:grpSp>
        <p:nvGrpSpPr>
          <p:cNvPr id="5" name="Group 4">
            <a:extLst>
              <a:ext uri="{FF2B5EF4-FFF2-40B4-BE49-F238E27FC236}">
                <a16:creationId xmlns:a16="http://schemas.microsoft.com/office/drawing/2014/main" id="{7E932FC6-F245-B748-BC27-01362CFF1366}"/>
              </a:ext>
            </a:extLst>
          </p:cNvPr>
          <p:cNvGrpSpPr/>
          <p:nvPr/>
        </p:nvGrpSpPr>
        <p:grpSpPr>
          <a:xfrm>
            <a:off x="685800" y="1464784"/>
            <a:ext cx="1054802" cy="1770673"/>
            <a:chOff x="2407328" y="1181099"/>
            <a:chExt cx="1054802" cy="1770673"/>
          </a:xfrm>
        </p:grpSpPr>
        <p:sp>
          <p:nvSpPr>
            <p:cNvPr id="6" name="Rounded Rectangle 5">
              <a:extLst>
                <a:ext uri="{FF2B5EF4-FFF2-40B4-BE49-F238E27FC236}">
                  <a16:creationId xmlns:a16="http://schemas.microsoft.com/office/drawing/2014/main" id="{5ADFE527-6BFA-3B4A-B636-F24FCC77257E}"/>
                </a:ext>
              </a:extLst>
            </p:cNvPr>
            <p:cNvSpPr/>
            <p:nvPr/>
          </p:nvSpPr>
          <p:spPr>
            <a:xfrm>
              <a:off x="2407604" y="1181099"/>
              <a:ext cx="609600" cy="442674"/>
            </a:xfrm>
            <a:prstGeom prst="roundRect">
              <a:avLst/>
            </a:prstGeom>
            <a:solidFill>
              <a:schemeClr val="accent6"/>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1</a:t>
              </a:r>
            </a:p>
          </p:txBody>
        </p:sp>
        <p:sp>
          <p:nvSpPr>
            <p:cNvPr id="7" name="Rounded Rectangle 6">
              <a:extLst>
                <a:ext uri="{FF2B5EF4-FFF2-40B4-BE49-F238E27FC236}">
                  <a16:creationId xmlns:a16="http://schemas.microsoft.com/office/drawing/2014/main" id="{E49798DA-B588-2542-AA0D-53D6C1635952}"/>
                </a:ext>
              </a:extLst>
            </p:cNvPr>
            <p:cNvSpPr/>
            <p:nvPr/>
          </p:nvSpPr>
          <p:spPr>
            <a:xfrm>
              <a:off x="2852530" y="1855849"/>
              <a:ext cx="609600" cy="442674"/>
            </a:xfrm>
            <a:prstGeom prst="roundRect">
              <a:avLst/>
            </a:prstGeom>
            <a:solidFill>
              <a:schemeClr val="accent1"/>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2</a:t>
              </a:r>
            </a:p>
          </p:txBody>
        </p:sp>
        <p:sp>
          <p:nvSpPr>
            <p:cNvPr id="8" name="Rounded Rectangle 7">
              <a:extLst>
                <a:ext uri="{FF2B5EF4-FFF2-40B4-BE49-F238E27FC236}">
                  <a16:creationId xmlns:a16="http://schemas.microsoft.com/office/drawing/2014/main" id="{9A0D2555-D516-3145-8EB1-3CE5A2D8F19D}"/>
                </a:ext>
              </a:extLst>
            </p:cNvPr>
            <p:cNvSpPr/>
            <p:nvPr/>
          </p:nvSpPr>
          <p:spPr>
            <a:xfrm>
              <a:off x="2407328" y="2509098"/>
              <a:ext cx="609600" cy="442674"/>
            </a:xfrm>
            <a:prstGeom prst="roundRect">
              <a:avLst/>
            </a:prstGeom>
            <a:solidFill>
              <a:schemeClr val="accent2"/>
            </a:solidFill>
            <a:ln w="19050">
              <a:solidFill>
                <a:schemeClr val="tx1"/>
              </a:solidFill>
            </a:ln>
          </p:spPr>
          <p:txBody>
            <a:bodyPr wrap="square">
              <a:spAutoFit/>
            </a:bodyPr>
            <a:lstStyle/>
            <a:p>
              <a:pPr algn="ctr"/>
              <a:r>
                <a:rPr lang="en-US" sz="2000" b="1" dirty="0">
                  <a:solidFill>
                    <a:schemeClr val="bg1"/>
                  </a:solidFill>
                  <a:latin typeface="Consolas" panose="020B0609020204030204" pitchFamily="49" charset="0"/>
                  <a:cs typeface="Consolas" panose="020B0609020204030204" pitchFamily="49" charset="0"/>
                </a:rPr>
                <a:t>3</a:t>
              </a:r>
            </a:p>
          </p:txBody>
        </p:sp>
        <p:cxnSp>
          <p:nvCxnSpPr>
            <p:cNvPr id="9" name="Curved Connector 8">
              <a:extLst>
                <a:ext uri="{FF2B5EF4-FFF2-40B4-BE49-F238E27FC236}">
                  <a16:creationId xmlns:a16="http://schemas.microsoft.com/office/drawing/2014/main" id="{FF710499-8449-0D42-B1C0-D269A45E16B8}"/>
                </a:ext>
              </a:extLst>
            </p:cNvPr>
            <p:cNvCxnSpPr>
              <a:cxnSpLocks/>
              <a:stCxn id="6" idx="2"/>
              <a:endCxn id="7" idx="0"/>
            </p:cNvCxnSpPr>
            <p:nvPr/>
          </p:nvCxnSpPr>
          <p:spPr>
            <a:xfrm rot="16200000" flipH="1">
              <a:off x="2818829" y="1517348"/>
              <a:ext cx="232076" cy="444926"/>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E1B10A84-F941-4242-9E77-014B2830558D}"/>
                </a:ext>
              </a:extLst>
            </p:cNvPr>
            <p:cNvCxnSpPr>
              <a:cxnSpLocks/>
              <a:stCxn id="7" idx="3"/>
              <a:endCxn id="6" idx="3"/>
            </p:cNvCxnSpPr>
            <p:nvPr/>
          </p:nvCxnSpPr>
          <p:spPr>
            <a:xfrm flipH="1" flipV="1">
              <a:off x="3017204" y="1402436"/>
              <a:ext cx="444926" cy="674750"/>
            </a:xfrm>
            <a:prstGeom prst="curvedConnector3">
              <a:avLst>
                <a:gd name="adj1" fmla="val -5137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2">
              <a:extLst>
                <a:ext uri="{FF2B5EF4-FFF2-40B4-BE49-F238E27FC236}">
                  <a16:creationId xmlns:a16="http://schemas.microsoft.com/office/drawing/2014/main" id="{06326415-0396-DC41-AB94-5FE4C7BCDBBD}"/>
                </a:ext>
              </a:extLst>
            </p:cNvPr>
            <p:cNvCxnSpPr>
              <a:cxnSpLocks/>
              <a:stCxn id="6" idx="2"/>
              <a:endCxn id="8" idx="0"/>
            </p:cNvCxnSpPr>
            <p:nvPr/>
          </p:nvCxnSpPr>
          <p:spPr>
            <a:xfrm flipH="1">
              <a:off x="2712128" y="1623773"/>
              <a:ext cx="276" cy="88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282BA042-0211-144D-B1D5-1F9EA517ECD2}"/>
              </a:ext>
            </a:extLst>
          </p:cNvPr>
          <p:cNvSpPr/>
          <p:nvPr/>
        </p:nvSpPr>
        <p:spPr>
          <a:xfrm>
            <a:off x="2134156" y="1380625"/>
            <a:ext cx="4037772" cy="1938992"/>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visit_node</a:t>
            </a:r>
            <a:r>
              <a:rPr lang="en-US" sz="2000" b="1" dirty="0">
                <a:latin typeface="Consolas" panose="020B0609020204030204" pitchFamily="49" charset="0"/>
                <a:cs typeface="Consolas" panose="020B0609020204030204" pitchFamily="49" charset="0"/>
              </a:rPr>
              <a:t>(n) {</a:t>
            </a:r>
          </a:p>
          <a:p>
            <a:r>
              <a:rPr lang="en-US" sz="2000" b="1" dirty="0">
                <a:latin typeface="Consolas" panose="020B0609020204030204" pitchFamily="49" charset="0"/>
                <a:cs typeface="Consolas" panose="020B0609020204030204" pitchFamily="49" charset="0"/>
              </a:rPr>
              <a:t>  print(n's number);</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for</a:t>
            </a:r>
            <a:r>
              <a:rPr lang="en-US" sz="2000" b="1" dirty="0">
                <a:latin typeface="Consolas" panose="020B0609020204030204" pitchFamily="49" charset="0"/>
                <a:cs typeface="Consolas" panose="020B0609020204030204" pitchFamily="49" charset="0"/>
              </a:rPr>
              <a:t> s </a:t>
            </a:r>
            <a:r>
              <a:rPr lang="en-US" sz="2000" b="1" dirty="0">
                <a:solidFill>
                  <a:srgbClr val="FF0000"/>
                </a:solidFill>
                <a:latin typeface="Consolas" panose="020B0609020204030204" pitchFamily="49" charset="0"/>
                <a:cs typeface="Consolas" panose="020B0609020204030204" pitchFamily="49" charset="0"/>
              </a:rPr>
              <a:t>in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n.successors</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visit_node</a:t>
            </a:r>
            <a:r>
              <a:rPr lang="en-US" sz="2000" b="1" dirty="0">
                <a:latin typeface="Consolas" panose="020B0609020204030204" pitchFamily="49" charset="0"/>
                <a:cs typeface="Consolas" panose="020B0609020204030204" pitchFamily="49" charset="0"/>
              </a:rPr>
              <a:t>(s);</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p:txBody>
      </p:sp>
      <p:sp>
        <p:nvSpPr>
          <p:cNvPr id="14" name="TextBox 13">
            <a:extLst>
              <a:ext uri="{FF2B5EF4-FFF2-40B4-BE49-F238E27FC236}">
                <a16:creationId xmlns:a16="http://schemas.microsoft.com/office/drawing/2014/main" id="{DAF7EF06-55B5-B34F-8D73-E00EC4288FD3}"/>
              </a:ext>
            </a:extLst>
          </p:cNvPr>
          <p:cNvSpPr txBox="1"/>
          <p:nvPr/>
        </p:nvSpPr>
        <p:spPr>
          <a:xfrm>
            <a:off x="6254674" y="1749504"/>
            <a:ext cx="2575310" cy="1107996"/>
          </a:xfrm>
          <a:prstGeom prst="rect">
            <a:avLst/>
          </a:prstGeom>
          <a:noFill/>
        </p:spPr>
        <p:txBody>
          <a:bodyPr wrap="square" rtlCol="0">
            <a:spAutoFit/>
          </a:bodyPr>
          <a:lstStyle/>
          <a:p>
            <a:pPr algn="ctr"/>
            <a:r>
              <a:rPr lang="en-US" sz="2200" dirty="0"/>
              <a:t>if we run this code on this graph, </a:t>
            </a:r>
            <a:r>
              <a:rPr lang="en-US" sz="2200" b="1" dirty="0"/>
              <a:t>what happens?</a:t>
            </a:r>
          </a:p>
        </p:txBody>
      </p:sp>
      <p:sp>
        <p:nvSpPr>
          <p:cNvPr id="15" name="TextBox 14">
            <a:extLst>
              <a:ext uri="{FF2B5EF4-FFF2-40B4-BE49-F238E27FC236}">
                <a16:creationId xmlns:a16="http://schemas.microsoft.com/office/drawing/2014/main" id="{CB7667FF-C59A-9B41-BEFB-92AD7688DC79}"/>
              </a:ext>
            </a:extLst>
          </p:cNvPr>
          <p:cNvSpPr txBox="1"/>
          <p:nvPr/>
        </p:nvSpPr>
        <p:spPr>
          <a:xfrm>
            <a:off x="960330" y="3467100"/>
            <a:ext cx="2575310" cy="430887"/>
          </a:xfrm>
          <a:prstGeom prst="rect">
            <a:avLst/>
          </a:prstGeom>
          <a:noFill/>
        </p:spPr>
        <p:txBody>
          <a:bodyPr wrap="square" rtlCol="0">
            <a:spAutoFit/>
          </a:bodyPr>
          <a:lstStyle/>
          <a:p>
            <a:pPr algn="ctr"/>
            <a:r>
              <a:rPr lang="en-US" sz="2200" dirty="0"/>
              <a:t>we'll visit node 1…</a:t>
            </a:r>
            <a:endParaRPr lang="en-US" sz="2200" b="1" dirty="0"/>
          </a:p>
        </p:txBody>
      </p:sp>
      <p:sp>
        <p:nvSpPr>
          <p:cNvPr id="17" name="TextBox 16">
            <a:extLst>
              <a:ext uri="{FF2B5EF4-FFF2-40B4-BE49-F238E27FC236}">
                <a16:creationId xmlns:a16="http://schemas.microsoft.com/office/drawing/2014/main" id="{FEA8BC73-A9FB-5A45-8921-63FF20C56D5A}"/>
              </a:ext>
            </a:extLst>
          </p:cNvPr>
          <p:cNvSpPr txBox="1"/>
          <p:nvPr/>
        </p:nvSpPr>
        <p:spPr>
          <a:xfrm>
            <a:off x="3311594" y="3467100"/>
            <a:ext cx="1315143" cy="430887"/>
          </a:xfrm>
          <a:prstGeom prst="rect">
            <a:avLst/>
          </a:prstGeom>
          <a:noFill/>
        </p:spPr>
        <p:txBody>
          <a:bodyPr wrap="square" rtlCol="0">
            <a:spAutoFit/>
          </a:bodyPr>
          <a:lstStyle/>
          <a:p>
            <a:pPr algn="ctr"/>
            <a:r>
              <a:rPr lang="en-US" sz="2200" dirty="0"/>
              <a:t>then 2…</a:t>
            </a:r>
            <a:endParaRPr lang="en-US" sz="2200" b="1" dirty="0"/>
          </a:p>
        </p:txBody>
      </p:sp>
      <p:sp>
        <p:nvSpPr>
          <p:cNvPr id="18" name="TextBox 17">
            <a:extLst>
              <a:ext uri="{FF2B5EF4-FFF2-40B4-BE49-F238E27FC236}">
                <a16:creationId xmlns:a16="http://schemas.microsoft.com/office/drawing/2014/main" id="{4E5824A6-8AED-8B44-A898-74273993B4A5}"/>
              </a:ext>
            </a:extLst>
          </p:cNvPr>
          <p:cNvSpPr txBox="1"/>
          <p:nvPr/>
        </p:nvSpPr>
        <p:spPr>
          <a:xfrm>
            <a:off x="4421811" y="3467100"/>
            <a:ext cx="1315143" cy="430887"/>
          </a:xfrm>
          <a:prstGeom prst="rect">
            <a:avLst/>
          </a:prstGeom>
          <a:noFill/>
        </p:spPr>
        <p:txBody>
          <a:bodyPr wrap="square" rtlCol="0">
            <a:spAutoFit/>
          </a:bodyPr>
          <a:lstStyle/>
          <a:p>
            <a:pPr algn="ctr"/>
            <a:r>
              <a:rPr lang="en-US" sz="2200" dirty="0"/>
              <a:t>then 1…</a:t>
            </a:r>
            <a:endParaRPr lang="en-US" sz="2200" b="1" dirty="0"/>
          </a:p>
        </p:txBody>
      </p:sp>
      <p:sp>
        <p:nvSpPr>
          <p:cNvPr id="19" name="TextBox 18">
            <a:extLst>
              <a:ext uri="{FF2B5EF4-FFF2-40B4-BE49-F238E27FC236}">
                <a16:creationId xmlns:a16="http://schemas.microsoft.com/office/drawing/2014/main" id="{3667C71A-B0E5-8E41-A2D3-8B7DF7054C97}"/>
              </a:ext>
            </a:extLst>
          </p:cNvPr>
          <p:cNvSpPr txBox="1"/>
          <p:nvPr/>
        </p:nvSpPr>
        <p:spPr>
          <a:xfrm>
            <a:off x="5562600" y="3467100"/>
            <a:ext cx="1315143" cy="430887"/>
          </a:xfrm>
          <a:prstGeom prst="rect">
            <a:avLst/>
          </a:prstGeom>
          <a:noFill/>
        </p:spPr>
        <p:txBody>
          <a:bodyPr wrap="square" rtlCol="0">
            <a:spAutoFit/>
          </a:bodyPr>
          <a:lstStyle/>
          <a:p>
            <a:pPr algn="ctr"/>
            <a:r>
              <a:rPr lang="en-US" sz="2200" b="1" dirty="0"/>
              <a:t>then 2…</a:t>
            </a:r>
          </a:p>
        </p:txBody>
      </p:sp>
      <p:sp>
        <p:nvSpPr>
          <p:cNvPr id="20" name="TextBox 19">
            <a:extLst>
              <a:ext uri="{FF2B5EF4-FFF2-40B4-BE49-F238E27FC236}">
                <a16:creationId xmlns:a16="http://schemas.microsoft.com/office/drawing/2014/main" id="{A2EED6F8-290C-1347-A5F1-E4EB81449FE4}"/>
              </a:ext>
            </a:extLst>
          </p:cNvPr>
          <p:cNvSpPr txBox="1"/>
          <p:nvPr/>
        </p:nvSpPr>
        <p:spPr>
          <a:xfrm>
            <a:off x="6715160" y="3467100"/>
            <a:ext cx="1315143" cy="430887"/>
          </a:xfrm>
          <a:prstGeom prst="rect">
            <a:avLst/>
          </a:prstGeom>
          <a:noFill/>
        </p:spPr>
        <p:txBody>
          <a:bodyPr wrap="square" rtlCol="0">
            <a:spAutoFit/>
          </a:bodyPr>
          <a:lstStyle/>
          <a:p>
            <a:pPr algn="ctr"/>
            <a:r>
              <a:rPr lang="en-US" sz="2200" b="1" dirty="0"/>
              <a:t>then 1…</a:t>
            </a:r>
          </a:p>
        </p:txBody>
      </p:sp>
      <p:sp>
        <p:nvSpPr>
          <p:cNvPr id="21" name="TextBox 20">
            <a:extLst>
              <a:ext uri="{FF2B5EF4-FFF2-40B4-BE49-F238E27FC236}">
                <a16:creationId xmlns:a16="http://schemas.microsoft.com/office/drawing/2014/main" id="{47579805-79E6-3F4A-8301-186F05C6B9EF}"/>
              </a:ext>
            </a:extLst>
          </p:cNvPr>
          <p:cNvSpPr txBox="1"/>
          <p:nvPr/>
        </p:nvSpPr>
        <p:spPr>
          <a:xfrm>
            <a:off x="1328579" y="4111703"/>
            <a:ext cx="6596316" cy="1107996"/>
          </a:xfrm>
          <a:prstGeom prst="rect">
            <a:avLst/>
          </a:prstGeom>
          <a:noFill/>
        </p:spPr>
        <p:txBody>
          <a:bodyPr wrap="square" rtlCol="0">
            <a:spAutoFit/>
          </a:bodyPr>
          <a:lstStyle/>
          <a:p>
            <a:pPr algn="ctr"/>
            <a:r>
              <a:rPr lang="en-US" sz="2200" dirty="0"/>
              <a:t>clearly this isn't sufficient. </a:t>
            </a:r>
            <a:r>
              <a:rPr lang="en-US" sz="2200" b="1" dirty="0"/>
              <a:t>when visiting an arbitrary graph, </a:t>
            </a:r>
            <a:r>
              <a:rPr lang="en-US" sz="2200" dirty="0"/>
              <a:t>you </a:t>
            </a:r>
            <a:r>
              <a:rPr lang="en-US" sz="2200" b="1" dirty="0"/>
              <a:t>must </a:t>
            </a:r>
            <a:r>
              <a:rPr lang="en-US" sz="2200" b="1" dirty="0">
                <a:solidFill>
                  <a:srgbClr val="FF0000"/>
                </a:solidFill>
              </a:rPr>
              <a:t>manually keep track of which nodes have already been visited.</a:t>
            </a:r>
          </a:p>
        </p:txBody>
      </p:sp>
    </p:spTree>
    <p:extLst>
      <p:ext uri="{BB962C8B-B14F-4D97-AF65-F5344CB8AC3E}">
        <p14:creationId xmlns:p14="http://schemas.microsoft.com/office/powerpoint/2010/main" val="24403072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P spid="19" grpId="0"/>
      <p:bldP spid="20"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20A8-91DB-DD49-A952-B0C9D297EBE4}"/>
              </a:ext>
            </a:extLst>
          </p:cNvPr>
          <p:cNvSpPr>
            <a:spLocks noGrp="1"/>
          </p:cNvSpPr>
          <p:nvPr>
            <p:ph type="title"/>
          </p:nvPr>
        </p:nvSpPr>
        <p:spPr/>
        <p:txBody>
          <a:bodyPr/>
          <a:lstStyle/>
          <a:p>
            <a:r>
              <a:rPr lang="en-US" dirty="0" err="1"/>
              <a:t>Postorder</a:t>
            </a:r>
            <a:r>
              <a:rPr lang="en-US" dirty="0"/>
              <a:t> using depth-first traversal</a:t>
            </a:r>
          </a:p>
        </p:txBody>
      </p:sp>
      <p:sp>
        <p:nvSpPr>
          <p:cNvPr id="3" name="Content Placeholder 2">
            <a:extLst>
              <a:ext uri="{FF2B5EF4-FFF2-40B4-BE49-F238E27FC236}">
                <a16:creationId xmlns:a16="http://schemas.microsoft.com/office/drawing/2014/main" id="{F8D506DA-74D5-B64D-8EBA-766C0966811E}"/>
              </a:ext>
            </a:extLst>
          </p:cNvPr>
          <p:cNvSpPr>
            <a:spLocks noGrp="1"/>
          </p:cNvSpPr>
          <p:nvPr>
            <p:ph idx="1"/>
          </p:nvPr>
        </p:nvSpPr>
        <p:spPr>
          <a:xfrm>
            <a:off x="152400" y="495301"/>
            <a:ext cx="8991600" cy="1219199"/>
          </a:xfrm>
        </p:spPr>
        <p:txBody>
          <a:bodyPr/>
          <a:lstStyle/>
          <a:p>
            <a:r>
              <a:rPr lang="en-US" dirty="0"/>
              <a:t>a really common way to visit CFGs is using </a:t>
            </a:r>
            <a:r>
              <a:rPr lang="en-US" b="1" dirty="0" err="1"/>
              <a:t>postorder</a:t>
            </a:r>
            <a:r>
              <a:rPr lang="en-US" b="1" dirty="0"/>
              <a:t>: </a:t>
            </a:r>
            <a:r>
              <a:rPr lang="en-US" dirty="0"/>
              <a:t>each node is visited </a:t>
            </a:r>
            <a:r>
              <a:rPr lang="en-US" b="1" dirty="0"/>
              <a:t>after all its successors have been visited.</a:t>
            </a:r>
            <a:endParaRPr lang="en-US" dirty="0"/>
          </a:p>
        </p:txBody>
      </p:sp>
      <p:sp>
        <p:nvSpPr>
          <p:cNvPr id="4" name="Slide Number Placeholder 3">
            <a:extLst>
              <a:ext uri="{FF2B5EF4-FFF2-40B4-BE49-F238E27FC236}">
                <a16:creationId xmlns:a16="http://schemas.microsoft.com/office/drawing/2014/main" id="{1865B09F-EDD4-DC4B-96AE-3BB11D7D01CC}"/>
              </a:ext>
            </a:extLst>
          </p:cNvPr>
          <p:cNvSpPr>
            <a:spLocks noGrp="1"/>
          </p:cNvSpPr>
          <p:nvPr>
            <p:ph type="sldNum" sz="quarter" idx="12"/>
          </p:nvPr>
        </p:nvSpPr>
        <p:spPr/>
        <p:txBody>
          <a:bodyPr/>
          <a:lstStyle/>
          <a:p>
            <a:fld id="{3552B95B-556F-44BD-91A5-D80C1B9E2BB3}" type="slidenum">
              <a:rPr lang="en-US" smtClean="0"/>
              <a:pPr/>
              <a:t>33</a:t>
            </a:fld>
            <a:endParaRPr lang="en-US"/>
          </a:p>
        </p:txBody>
      </p:sp>
      <p:sp>
        <p:nvSpPr>
          <p:cNvPr id="5" name="Rectangle 4">
            <a:extLst>
              <a:ext uri="{FF2B5EF4-FFF2-40B4-BE49-F238E27FC236}">
                <a16:creationId xmlns:a16="http://schemas.microsoft.com/office/drawing/2014/main" id="{A7866A31-E531-8442-A88E-B39FEF43B146}"/>
              </a:ext>
            </a:extLst>
          </p:cNvPr>
          <p:cNvSpPr/>
          <p:nvPr/>
        </p:nvSpPr>
        <p:spPr>
          <a:xfrm>
            <a:off x="381000" y="1333500"/>
            <a:ext cx="4037772" cy="2554545"/>
          </a:xfrm>
          <a:prstGeom prst="rect">
            <a:avLst/>
          </a:prstGeom>
        </p:spPr>
        <p:txBody>
          <a:bodyPr wrap="square">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visit_node</a:t>
            </a:r>
            <a:r>
              <a:rPr lang="en-US" sz="2000" b="1" dirty="0">
                <a:latin typeface="Consolas" panose="020B0609020204030204" pitchFamily="49" charset="0"/>
                <a:cs typeface="Consolas" panose="020B0609020204030204" pitchFamily="49" charset="0"/>
              </a:rPr>
              <a:t>(n, visited)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visited[n] {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visited[n] = </a:t>
            </a:r>
            <a:r>
              <a:rPr lang="en-US" sz="2000" b="1" dirty="0">
                <a:solidFill>
                  <a:srgbClr val="FF0000"/>
                </a:solidFill>
                <a:latin typeface="Consolas" panose="020B0609020204030204" pitchFamily="49" charset="0"/>
                <a:cs typeface="Consolas" panose="020B0609020204030204" pitchFamily="49" charset="0"/>
              </a:rPr>
              <a:t>true</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for</a:t>
            </a:r>
            <a:r>
              <a:rPr lang="en-US" sz="2000" b="1" dirty="0">
                <a:latin typeface="Consolas" panose="020B0609020204030204" pitchFamily="49" charset="0"/>
                <a:cs typeface="Consolas" panose="020B0609020204030204" pitchFamily="49" charset="0"/>
              </a:rPr>
              <a:t> s </a:t>
            </a:r>
            <a:r>
              <a:rPr lang="en-US" sz="2000" b="1" dirty="0">
                <a:solidFill>
                  <a:srgbClr val="FF0000"/>
                </a:solidFill>
                <a:latin typeface="Consolas" panose="020B0609020204030204" pitchFamily="49" charset="0"/>
                <a:cs typeface="Consolas" panose="020B0609020204030204" pitchFamily="49" charset="0"/>
              </a:rPr>
              <a:t>in</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n.successors</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visit_node</a:t>
            </a:r>
            <a:r>
              <a:rPr lang="en-US" sz="2000" b="1" dirty="0">
                <a:latin typeface="Consolas" panose="020B0609020204030204" pitchFamily="49" charset="0"/>
                <a:cs typeface="Consolas" panose="020B0609020204030204" pitchFamily="49" charset="0"/>
              </a:rPr>
              <a:t>(s, visited);</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i="1" dirty="0">
                <a:latin typeface="Consolas" panose="020B0609020204030204" pitchFamily="49" charset="0"/>
                <a:cs typeface="Consolas" panose="020B0609020204030204" pitchFamily="49" charset="0"/>
              </a:rPr>
              <a:t>actually "visit" n here!</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2AD7A884-7ED7-7A43-B64F-16705BD8375D}"/>
              </a:ext>
            </a:extLst>
          </p:cNvPr>
          <p:cNvSpPr txBox="1"/>
          <p:nvPr/>
        </p:nvSpPr>
        <p:spPr>
          <a:xfrm>
            <a:off x="4418772" y="1602044"/>
            <a:ext cx="3953184" cy="769441"/>
          </a:xfrm>
          <a:prstGeom prst="rect">
            <a:avLst/>
          </a:prstGeom>
          <a:noFill/>
        </p:spPr>
        <p:txBody>
          <a:bodyPr wrap="square" rtlCol="0">
            <a:spAutoFit/>
          </a:bodyPr>
          <a:lstStyle/>
          <a:p>
            <a:pPr algn="ctr"/>
            <a:r>
              <a:rPr lang="en-US" sz="2200" dirty="0"/>
              <a:t>this bit is what prevents us from looping infinitely.</a:t>
            </a:r>
            <a:endParaRPr lang="en-US" sz="2200" b="1" dirty="0"/>
          </a:p>
        </p:txBody>
      </p:sp>
      <p:sp>
        <p:nvSpPr>
          <p:cNvPr id="7" name="TextBox 6">
            <a:extLst>
              <a:ext uri="{FF2B5EF4-FFF2-40B4-BE49-F238E27FC236}">
                <a16:creationId xmlns:a16="http://schemas.microsoft.com/office/drawing/2014/main" id="{85441AB6-27C6-7843-950F-E909E514CAC3}"/>
              </a:ext>
            </a:extLst>
          </p:cNvPr>
          <p:cNvSpPr txBox="1"/>
          <p:nvPr/>
        </p:nvSpPr>
        <p:spPr>
          <a:xfrm>
            <a:off x="4598666" y="3086377"/>
            <a:ext cx="4333356" cy="1107996"/>
          </a:xfrm>
          <a:prstGeom prst="rect">
            <a:avLst/>
          </a:prstGeom>
          <a:noFill/>
        </p:spPr>
        <p:txBody>
          <a:bodyPr wrap="square" rtlCol="0">
            <a:spAutoFit/>
          </a:bodyPr>
          <a:lstStyle/>
          <a:p>
            <a:pPr algn="ctr"/>
            <a:r>
              <a:rPr lang="en-US" sz="2200" dirty="0"/>
              <a:t>and this is where we do whatever work is needed to "visit" </a:t>
            </a:r>
            <a:r>
              <a:rPr lang="en-US" sz="2200" b="1" dirty="0">
                <a:latin typeface="Consolas" panose="020B0609020204030204" pitchFamily="49" charset="0"/>
                <a:cs typeface="Consolas" panose="020B0609020204030204" pitchFamily="49" charset="0"/>
              </a:rPr>
              <a:t>n</a:t>
            </a:r>
            <a:r>
              <a:rPr lang="en-US" sz="2200" dirty="0"/>
              <a:t>, </a:t>
            </a:r>
            <a:r>
              <a:rPr lang="en-US" sz="2200" i="1" dirty="0"/>
              <a:t>after</a:t>
            </a:r>
            <a:r>
              <a:rPr lang="en-US" sz="2200" dirty="0"/>
              <a:t> we've visited its successors.</a:t>
            </a:r>
            <a:endParaRPr lang="en-US" sz="2200" b="1" dirty="0"/>
          </a:p>
        </p:txBody>
      </p:sp>
      <p:sp>
        <p:nvSpPr>
          <p:cNvPr id="8" name="Right Brace 7">
            <a:extLst>
              <a:ext uri="{FF2B5EF4-FFF2-40B4-BE49-F238E27FC236}">
                <a16:creationId xmlns:a16="http://schemas.microsoft.com/office/drawing/2014/main" id="{742AE297-7057-5443-8C9E-49CB7508F94A}"/>
              </a:ext>
            </a:extLst>
          </p:cNvPr>
          <p:cNvSpPr/>
          <p:nvPr/>
        </p:nvSpPr>
        <p:spPr>
          <a:xfrm>
            <a:off x="4343400" y="1754452"/>
            <a:ext cx="228600" cy="533392"/>
          </a:xfrm>
          <a:prstGeom prst="rightBrace">
            <a:avLst>
              <a:gd name="adj1" fmla="val 37806"/>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9FE72503-A0F9-8D49-AA38-CBA8D0B78954}"/>
              </a:ext>
            </a:extLst>
          </p:cNvPr>
          <p:cNvCxnSpPr/>
          <p:nvPr/>
        </p:nvCxnSpPr>
        <p:spPr>
          <a:xfrm flipH="1">
            <a:off x="4228686" y="3354644"/>
            <a:ext cx="38602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6A4DB53-FF00-704B-849F-6E4E32892301}"/>
              </a:ext>
            </a:extLst>
          </p:cNvPr>
          <p:cNvSpPr txBox="1"/>
          <p:nvPr/>
        </p:nvSpPr>
        <p:spPr>
          <a:xfrm>
            <a:off x="1015051" y="4381500"/>
            <a:ext cx="6885298" cy="769441"/>
          </a:xfrm>
          <a:prstGeom prst="rect">
            <a:avLst/>
          </a:prstGeom>
          <a:noFill/>
        </p:spPr>
        <p:txBody>
          <a:bodyPr wrap="square" rtlCol="0">
            <a:spAutoFit/>
          </a:bodyPr>
          <a:lstStyle/>
          <a:p>
            <a:pPr algn="ctr"/>
            <a:r>
              <a:rPr lang="en-US" sz="2200" dirty="0"/>
              <a:t>if we say, printed out the node's name/number there, this would print out the </a:t>
            </a:r>
            <a:r>
              <a:rPr lang="en-US" sz="2200" dirty="0" err="1"/>
              <a:t>postorder</a:t>
            </a:r>
            <a:r>
              <a:rPr lang="en-US" sz="2200" dirty="0"/>
              <a:t> of the graph.</a:t>
            </a:r>
            <a:endParaRPr lang="en-US" sz="2200" b="1" dirty="0"/>
          </a:p>
        </p:txBody>
      </p:sp>
    </p:spTree>
    <p:extLst>
      <p:ext uri="{BB962C8B-B14F-4D97-AF65-F5344CB8AC3E}">
        <p14:creationId xmlns:p14="http://schemas.microsoft.com/office/powerpoint/2010/main" val="40385368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11" grpId="0"/>
    </p:bldLst>
  </p:timing>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26992</TotalTime>
  <Words>4988</Words>
  <Application>Microsoft Macintosh PowerPoint</Application>
  <PresentationFormat>On-screen Show (16:10)</PresentationFormat>
  <Paragraphs>584</Paragraphs>
  <Slides>33</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Consolas</vt:lpstr>
      <vt:lpstr>Courier New</vt:lpstr>
      <vt:lpstr>Segoe UI</vt:lpstr>
      <vt:lpstr>Segoe WP Semibold</vt:lpstr>
      <vt:lpstr>Trebuchet MS</vt:lpstr>
      <vt:lpstr>Wingdings</vt:lpstr>
      <vt:lpstr>02 - C - Basics</vt:lpstr>
      <vt:lpstr>Control Flow Graphs and IR</vt:lpstr>
      <vt:lpstr>Class Announcements</vt:lpstr>
      <vt:lpstr>We have a problem</vt:lpstr>
      <vt:lpstr>Our compiler is producing terrible code. Oh no!</vt:lpstr>
      <vt:lpstr>Something is holding us back</vt:lpstr>
      <vt:lpstr>What's the S in AST stand for, again?</vt:lpstr>
      <vt:lpstr>Sufficiently Smart Compilers</vt:lpstr>
      <vt:lpstr>Program execution is not a tree.</vt:lpstr>
      <vt:lpstr>Sufficiently Simple Algorithms</vt:lpstr>
      <vt:lpstr>Intermediate Representation (IR)</vt:lpstr>
      <vt:lpstr>Real languages are a lot bigger.</vt:lpstr>
      <vt:lpstr>Tight coupling is bad.</vt:lpstr>
      <vt:lpstr>Hidden complexity</vt:lpstr>
      <vt:lpstr>So instead…</vt:lpstr>
      <vt:lpstr>IR Goals</vt:lpstr>
      <vt:lpstr>Our IR</vt:lpstr>
      <vt:lpstr>The big picture </vt:lpstr>
      <vt:lpstr>The little picture</vt:lpstr>
      <vt:lpstr>Locals/temporaries</vt:lpstr>
      <vt:lpstr>Places, Constants, and Sources</vt:lpstr>
      <vt:lpstr>Instruction examples</vt:lpstr>
      <vt:lpstr>Terminators</vt:lpstr>
      <vt:lpstr>One way in, one way out</vt:lpstr>
      <vt:lpstr>Return values</vt:lpstr>
      <vt:lpstr>Codegen, but different</vt:lpstr>
      <vt:lpstr>Lowering</vt:lpstr>
      <vt:lpstr>Building the CFG: straight-line code (animated)</vt:lpstr>
      <vt:lpstr>Building the CFG: a while loop (animated)</vt:lpstr>
      <vt:lpstr>The shape of control flow</vt:lpstr>
      <vt:lpstr>Some graph-related stuff</vt:lpstr>
      <vt:lpstr>How they connect (animated)</vt:lpstr>
      <vt:lpstr>Visiting arbitrary graphs</vt:lpstr>
      <vt:lpstr>Postorder using depth-first traversal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1226</cp:revision>
  <dcterms:created xsi:type="dcterms:W3CDTF">2017-01-05T04:29:56Z</dcterms:created>
  <dcterms:modified xsi:type="dcterms:W3CDTF">2022-07-20T14:16:35Z</dcterms:modified>
</cp:coreProperties>
</file>